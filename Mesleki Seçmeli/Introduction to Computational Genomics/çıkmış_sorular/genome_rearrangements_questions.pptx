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5" r:id="rId9"/>
    <p:sldId id="263" r:id="rId10"/>
    <p:sldId id="264" r:id="rId11"/>
    <p:sldId id="267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  <p:sldId id="279" r:id="rId2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tul Boz" userId="ae5bb0c82d51c5cf" providerId="LiveId" clId="{A2E9F834-30AD-4255-BE00-662E5BADCD49}"/>
    <pc:docChg chg="modSld">
      <pc:chgData name="Betul Boz" userId="ae5bb0c82d51c5cf" providerId="LiveId" clId="{A2E9F834-30AD-4255-BE00-662E5BADCD49}" dt="2022-11-01T12:20:25.672" v="1" actId="20577"/>
      <pc:docMkLst>
        <pc:docMk/>
      </pc:docMkLst>
      <pc:sldChg chg="modSp mod">
        <pc:chgData name="Betul Boz" userId="ae5bb0c82d51c5cf" providerId="LiveId" clId="{A2E9F834-30AD-4255-BE00-662E5BADCD49}" dt="2022-11-01T12:20:25.672" v="1" actId="20577"/>
        <pc:sldMkLst>
          <pc:docMk/>
          <pc:sldMk cId="1391358436" sldId="257"/>
        </pc:sldMkLst>
        <pc:spChg chg="mod">
          <ac:chgData name="Betul Boz" userId="ae5bb0c82d51c5cf" providerId="LiveId" clId="{A2E9F834-30AD-4255-BE00-662E5BADCD49}" dt="2022-11-01T12:20:25.672" v="1" actId="20577"/>
          <ac:spMkLst>
            <pc:docMk/>
            <pc:sldMk cId="1391358436" sldId="257"/>
            <ac:spMk id="1638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1.11.2022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3FDB7A-2877-490B-90AD-E6AAC406E72E}" type="slidenum">
              <a:rPr kumimoji="0" lang="en-US" altLang="tr-T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12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tr-T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 altLang="tr-T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54245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41034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9556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26726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79162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103351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699241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4958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2139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1540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7654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7296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81047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betul.demiroz@marmara.edu.t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90714" y="1366838"/>
            <a:ext cx="8428037" cy="1720850"/>
          </a:xfrm>
        </p:spPr>
        <p:txBody>
          <a:bodyPr/>
          <a:lstStyle/>
          <a:p>
            <a:pPr algn="ctr" eaLnBrk="1" hangingPunct="1"/>
            <a:r>
              <a:rPr lang="tr-TR" sz="4000" dirty="0"/>
              <a:t>CSE4065 </a:t>
            </a:r>
            <a:r>
              <a:rPr lang="tr-TR" sz="4000"/>
              <a:t>– Fall 2022</a:t>
            </a:r>
            <a:br>
              <a:rPr lang="tr-TR" sz="4000" dirty="0"/>
            </a:br>
            <a:r>
              <a:rPr lang="tr-TR" sz="4000" dirty="0" err="1"/>
              <a:t>Computational</a:t>
            </a:r>
            <a:r>
              <a:rPr lang="tr-TR" sz="4000" dirty="0"/>
              <a:t> </a:t>
            </a:r>
            <a:r>
              <a:rPr lang="tr-TR" sz="4000" dirty="0" err="1"/>
              <a:t>Genomics</a:t>
            </a:r>
            <a:br>
              <a:rPr lang="tr-TR" sz="4000" dirty="0"/>
            </a:br>
            <a:r>
              <a:rPr lang="tr-TR" altLang="tr-TR" sz="4000" dirty="0" err="1">
                <a:ea typeface="ＭＳ Ｐゴシック" panose="020B0600070205080204" pitchFamily="34" charset="-128"/>
              </a:rPr>
              <a:t>Genome</a:t>
            </a:r>
            <a:r>
              <a:rPr lang="tr-TR" altLang="tr-TR" sz="4000" dirty="0">
                <a:ea typeface="ＭＳ Ｐゴシック" panose="020B0600070205080204" pitchFamily="34" charset="-128"/>
              </a:rPr>
              <a:t> </a:t>
            </a:r>
            <a:r>
              <a:rPr lang="tr-TR" altLang="tr-TR" sz="4000" dirty="0" err="1">
                <a:ea typeface="ＭＳ Ｐゴシック" panose="020B0600070205080204" pitchFamily="34" charset="-128"/>
              </a:rPr>
              <a:t>Rearrangements</a:t>
            </a:r>
            <a:endParaRPr lang="en-US" altLang="tr-TR" sz="4000" dirty="0">
              <a:ea typeface="ＭＳ Ｐゴシック" panose="020B0600070205080204" pitchFamily="34" charset="-128"/>
            </a:endParaRPr>
          </a:p>
        </p:txBody>
      </p:sp>
      <p:sp>
        <p:nvSpPr>
          <p:cNvPr id="1638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3581401"/>
            <a:ext cx="7848600" cy="2900363"/>
          </a:xfrm>
        </p:spPr>
        <p:txBody>
          <a:bodyPr/>
          <a:lstStyle/>
          <a:p>
            <a:pPr eaLnBrk="1" hangingPunct="1"/>
            <a:endParaRPr lang="en-US" altLang="tr-TR" i="1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tr-TR" dirty="0">
              <a:ea typeface="ＭＳ Ｐゴシック" panose="020B0600070205080204" pitchFamily="34" charset="-128"/>
            </a:endParaRPr>
          </a:p>
          <a:p>
            <a:r>
              <a:rPr lang="tr-TR" dirty="0"/>
              <a:t>Betül Boz</a:t>
            </a:r>
            <a:endParaRPr lang="en-US" dirty="0"/>
          </a:p>
          <a:p>
            <a:endParaRPr lang="tr-TR" dirty="0">
              <a:hlinkClick r:id="rId3"/>
            </a:endParaRPr>
          </a:p>
          <a:p>
            <a:r>
              <a:rPr lang="tr-TR" dirty="0">
                <a:hlinkClick r:id="rId3"/>
              </a:rPr>
              <a:t>betul.demiroz@marmara.edu.tr</a:t>
            </a:r>
            <a:endParaRPr lang="tr-TR" dirty="0"/>
          </a:p>
          <a:p>
            <a:endParaRPr lang="en-US" dirty="0"/>
          </a:p>
          <a:p>
            <a:pPr eaLnBrk="1" hangingPunct="1"/>
            <a:endParaRPr lang="en-US" altLang="tr-TR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tr-TR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135843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19573440-A1F1-48E9-BBDA-8C9D49E9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Greedy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: Simple </a:t>
            </a:r>
            <a:r>
              <a:rPr lang="tr-TR" dirty="0" err="1"/>
              <a:t>Reversal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 – Q1 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3FF2F2-CC3B-4870-A2D8-E2CE6A95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the number of steps required by </a:t>
            </a:r>
            <a:r>
              <a:rPr lang="en-US" b="1" dirty="0" err="1"/>
              <a:t>GreedySorting</a:t>
            </a:r>
            <a:r>
              <a:rPr lang="en-US" dirty="0"/>
              <a:t> to sort the following permutation (i.e., to transform it into the identity permutation.)</a:t>
            </a:r>
          </a:p>
          <a:p>
            <a:endParaRPr lang="tr-TR" dirty="0"/>
          </a:p>
          <a:p>
            <a:r>
              <a:rPr lang="en-US" dirty="0"/>
              <a:t>+1 −7 +6 −10 +9 −8 +2 −3 +5 +4 </a:t>
            </a:r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74B789E-854E-4708-BEF9-17A73BBD21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290955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160638B-9BBA-4047-B244-353154A5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Answer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CF4A6C-E33D-491F-BC5E-EDCCBAB50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+1 −7 +6 −10 +9 −8 +2 −3 +5 +4 </a:t>
            </a:r>
            <a:endParaRPr lang="tr-TR" dirty="0"/>
          </a:p>
          <a:p>
            <a:r>
              <a:rPr lang="en-US" dirty="0"/>
              <a:t>+1 </a:t>
            </a:r>
            <a:r>
              <a:rPr lang="tr-TR" dirty="0"/>
              <a:t>-</a:t>
            </a:r>
            <a:r>
              <a:rPr lang="en-US" dirty="0"/>
              <a:t>2 +8 -9 +10 -6 +7 -3 +5 +4</a:t>
            </a:r>
            <a:endParaRPr lang="tr-TR" dirty="0"/>
          </a:p>
          <a:p>
            <a:r>
              <a:rPr lang="en-US" dirty="0"/>
              <a:t>+1 +2 +8 -9 +10 -6 +7 -3 +5 +4</a:t>
            </a:r>
          </a:p>
          <a:p>
            <a:r>
              <a:rPr lang="en-US" dirty="0"/>
              <a:t>+1 +2 +3 -7 +6 -10 +9 -8 +5 +4</a:t>
            </a:r>
          </a:p>
          <a:p>
            <a:r>
              <a:rPr lang="en-US" dirty="0"/>
              <a:t>+1 +2 +3 -4 -5 +8 -9 +10 -6 +7 </a:t>
            </a:r>
          </a:p>
          <a:p>
            <a:r>
              <a:rPr lang="en-US" dirty="0"/>
              <a:t>+1 +2 +3</a:t>
            </a:r>
            <a:r>
              <a:rPr lang="tr-TR" dirty="0"/>
              <a:t> +4 </a:t>
            </a:r>
            <a:r>
              <a:rPr lang="en-US" dirty="0"/>
              <a:t>-5 +8 -9 +10 -6 +7 </a:t>
            </a:r>
          </a:p>
          <a:p>
            <a:r>
              <a:rPr lang="en-US" dirty="0"/>
              <a:t>+1 +2 +3</a:t>
            </a:r>
            <a:r>
              <a:rPr lang="tr-TR" dirty="0"/>
              <a:t> +4 +</a:t>
            </a:r>
            <a:r>
              <a:rPr lang="en-US" dirty="0"/>
              <a:t>5</a:t>
            </a:r>
            <a:r>
              <a:rPr lang="tr-TR" dirty="0"/>
              <a:t> </a:t>
            </a:r>
            <a:r>
              <a:rPr lang="en-US" dirty="0"/>
              <a:t>+8 -9 +10 -6 +7</a:t>
            </a:r>
          </a:p>
          <a:p>
            <a:r>
              <a:rPr lang="en-US" dirty="0"/>
              <a:t>+1 +2 +3</a:t>
            </a:r>
            <a:r>
              <a:rPr lang="tr-TR" dirty="0"/>
              <a:t> +4 +</a:t>
            </a:r>
            <a:r>
              <a:rPr lang="en-US" dirty="0"/>
              <a:t>5 </a:t>
            </a:r>
            <a:r>
              <a:rPr lang="tr-TR" dirty="0"/>
              <a:t>+</a:t>
            </a:r>
            <a:r>
              <a:rPr lang="en-US" dirty="0"/>
              <a:t>6 -10 +9 -8 +7</a:t>
            </a:r>
          </a:p>
          <a:p>
            <a:r>
              <a:rPr lang="en-US" dirty="0"/>
              <a:t>+1 +2 +3</a:t>
            </a:r>
            <a:r>
              <a:rPr lang="tr-TR" dirty="0"/>
              <a:t> +4 +</a:t>
            </a:r>
            <a:r>
              <a:rPr lang="en-US" dirty="0"/>
              <a:t>5 </a:t>
            </a:r>
            <a:r>
              <a:rPr lang="tr-TR" dirty="0"/>
              <a:t>+</a:t>
            </a:r>
            <a:r>
              <a:rPr lang="en-US" dirty="0"/>
              <a:t>6 -7 +8 -9 +10</a:t>
            </a:r>
          </a:p>
          <a:p>
            <a:r>
              <a:rPr lang="en-US" dirty="0"/>
              <a:t>+1 +2 +3</a:t>
            </a:r>
            <a:r>
              <a:rPr lang="tr-TR" dirty="0"/>
              <a:t> +4 +</a:t>
            </a:r>
            <a:r>
              <a:rPr lang="en-US" dirty="0"/>
              <a:t>5 </a:t>
            </a:r>
            <a:r>
              <a:rPr lang="tr-TR" dirty="0"/>
              <a:t>+</a:t>
            </a:r>
            <a:r>
              <a:rPr lang="en-US" dirty="0"/>
              <a:t>6 </a:t>
            </a:r>
            <a:r>
              <a:rPr lang="tr-TR" dirty="0"/>
              <a:t>+</a:t>
            </a:r>
            <a:r>
              <a:rPr lang="en-US" dirty="0"/>
              <a:t>7 </a:t>
            </a:r>
            <a:r>
              <a:rPr lang="tr-TR" dirty="0"/>
              <a:t>+</a:t>
            </a:r>
            <a:r>
              <a:rPr lang="en-US" dirty="0"/>
              <a:t>8 -9 +10</a:t>
            </a:r>
          </a:p>
          <a:p>
            <a:r>
              <a:rPr lang="en-US" dirty="0"/>
              <a:t>+1 +2 +3</a:t>
            </a:r>
            <a:r>
              <a:rPr lang="tr-TR" dirty="0"/>
              <a:t> +4 +</a:t>
            </a:r>
            <a:r>
              <a:rPr lang="en-US" dirty="0"/>
              <a:t>5 </a:t>
            </a:r>
            <a:r>
              <a:rPr lang="tr-TR" dirty="0"/>
              <a:t>+</a:t>
            </a:r>
            <a:r>
              <a:rPr lang="en-US" dirty="0"/>
              <a:t>6 </a:t>
            </a:r>
            <a:r>
              <a:rPr lang="tr-TR" dirty="0"/>
              <a:t>+</a:t>
            </a:r>
            <a:r>
              <a:rPr lang="en-US" dirty="0"/>
              <a:t>7 </a:t>
            </a:r>
            <a:r>
              <a:rPr lang="tr-TR" dirty="0"/>
              <a:t>+</a:t>
            </a:r>
            <a:r>
              <a:rPr lang="en-US" dirty="0"/>
              <a:t>8 </a:t>
            </a:r>
            <a:r>
              <a:rPr lang="tr-TR" dirty="0"/>
              <a:t>+</a:t>
            </a:r>
            <a:r>
              <a:rPr lang="en-US" dirty="0"/>
              <a:t>9 +10</a:t>
            </a:r>
          </a:p>
          <a:p>
            <a:r>
              <a:rPr lang="en-US" dirty="0"/>
              <a:t>+1 +2 +3</a:t>
            </a:r>
            <a:r>
              <a:rPr lang="tr-TR" dirty="0"/>
              <a:t> +4 +</a:t>
            </a:r>
            <a:r>
              <a:rPr lang="en-US" dirty="0"/>
              <a:t>5 </a:t>
            </a:r>
            <a:r>
              <a:rPr lang="tr-TR" dirty="0"/>
              <a:t>+</a:t>
            </a:r>
            <a:r>
              <a:rPr lang="en-US" dirty="0"/>
              <a:t>6 </a:t>
            </a:r>
            <a:r>
              <a:rPr lang="tr-TR" dirty="0"/>
              <a:t>+</a:t>
            </a:r>
            <a:r>
              <a:rPr lang="en-US" dirty="0"/>
              <a:t>7 </a:t>
            </a:r>
            <a:r>
              <a:rPr lang="tr-TR" dirty="0"/>
              <a:t>+</a:t>
            </a:r>
            <a:r>
              <a:rPr lang="en-US" dirty="0"/>
              <a:t>8 </a:t>
            </a:r>
            <a:r>
              <a:rPr lang="tr-TR" dirty="0"/>
              <a:t>+</a:t>
            </a:r>
            <a:r>
              <a:rPr lang="en-US" dirty="0"/>
              <a:t>9 +10</a:t>
            </a:r>
          </a:p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6F8AF43-0901-4A0E-98CA-406AC5BA80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4553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19573440-A1F1-48E9-BBDA-8C9D49E9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Greedy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: Simple </a:t>
            </a:r>
            <a:r>
              <a:rPr lang="tr-TR" dirty="0" err="1"/>
              <a:t>Reversal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 – Q2 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3FF2F2-CC3B-4870-A2D8-E2CE6A95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the number of steps required by </a:t>
            </a:r>
            <a:r>
              <a:rPr lang="en-US" b="1" dirty="0" err="1"/>
              <a:t>GreedySorting</a:t>
            </a:r>
            <a:r>
              <a:rPr lang="en-US" dirty="0"/>
              <a:t> to sort the following permutation (i.e., to transform it into the identity permutation.)</a:t>
            </a:r>
          </a:p>
          <a:p>
            <a:endParaRPr lang="tr-TR" dirty="0"/>
          </a:p>
          <a:p>
            <a:r>
              <a:rPr lang="en-US" dirty="0"/>
              <a:t>-6 -8 -10 +4 -5 -2 +7 -3 +1 -9</a:t>
            </a:r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74B789E-854E-4708-BEF9-17A73BBD21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72218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6F1258A-BD03-42D6-85F1-C84A86E6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Answer</a:t>
            </a:r>
            <a:r>
              <a:rPr lang="tr-TR" dirty="0"/>
              <a:t> – Q2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BC2BD00-1BFA-431C-9B5D-0ABD34636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85496"/>
            <a:ext cx="11480800" cy="5708072"/>
          </a:xfrm>
        </p:spPr>
        <p:txBody>
          <a:bodyPr/>
          <a:lstStyle/>
          <a:p>
            <a:r>
              <a:rPr lang="en-US" dirty="0"/>
              <a:t>-6 -8 -10 +4 -5 -2 +7 -3 </a:t>
            </a:r>
            <a:r>
              <a:rPr lang="en-US" b="1" dirty="0"/>
              <a:t>+1 </a:t>
            </a:r>
            <a:r>
              <a:rPr lang="en-US" dirty="0"/>
              <a:t>-9</a:t>
            </a:r>
            <a:endParaRPr lang="tr-TR" dirty="0"/>
          </a:p>
          <a:p>
            <a:r>
              <a:rPr lang="tr-TR" b="1" dirty="0"/>
              <a:t>-1 </a:t>
            </a:r>
            <a:r>
              <a:rPr lang="tr-TR" dirty="0"/>
              <a:t>+3 -7 +2 +5 -4 +10 +8 +6 -9</a:t>
            </a:r>
          </a:p>
          <a:p>
            <a:r>
              <a:rPr lang="tr-TR" dirty="0"/>
              <a:t>1 +3 -7 </a:t>
            </a:r>
            <a:r>
              <a:rPr lang="tr-TR" b="1" dirty="0"/>
              <a:t>+2 </a:t>
            </a:r>
            <a:r>
              <a:rPr lang="tr-TR" dirty="0"/>
              <a:t>+5 -4 +10 +8 +6 -9</a:t>
            </a:r>
          </a:p>
          <a:p>
            <a:r>
              <a:rPr lang="tr-TR" dirty="0"/>
              <a:t>1 </a:t>
            </a:r>
            <a:r>
              <a:rPr lang="tr-TR" b="1" dirty="0"/>
              <a:t>-2</a:t>
            </a:r>
            <a:r>
              <a:rPr lang="tr-TR" dirty="0"/>
              <a:t> +7 -3 +5 -4 +10 +8 +6 -9</a:t>
            </a:r>
          </a:p>
          <a:p>
            <a:r>
              <a:rPr lang="tr-TR" dirty="0"/>
              <a:t>1 2 +7 </a:t>
            </a:r>
            <a:r>
              <a:rPr lang="tr-TR" b="1" dirty="0"/>
              <a:t>-3 </a:t>
            </a:r>
            <a:r>
              <a:rPr lang="tr-TR" dirty="0"/>
              <a:t>+5 -4 +10 +8 +6 -9</a:t>
            </a:r>
          </a:p>
          <a:p>
            <a:r>
              <a:rPr lang="tr-TR" dirty="0"/>
              <a:t>1 2 3 -7 +5 </a:t>
            </a:r>
            <a:r>
              <a:rPr lang="tr-TR" b="1" dirty="0"/>
              <a:t>-4 </a:t>
            </a:r>
            <a:r>
              <a:rPr lang="tr-TR" dirty="0"/>
              <a:t>+10 +8 +6 -9</a:t>
            </a:r>
          </a:p>
          <a:p>
            <a:r>
              <a:rPr lang="tr-TR" dirty="0"/>
              <a:t>1 2 3 4 </a:t>
            </a:r>
            <a:r>
              <a:rPr lang="tr-TR" b="1" dirty="0"/>
              <a:t>-5</a:t>
            </a:r>
            <a:r>
              <a:rPr lang="tr-TR" dirty="0"/>
              <a:t> +7 +10 +8 +6 -9</a:t>
            </a:r>
          </a:p>
          <a:p>
            <a:r>
              <a:rPr lang="tr-TR" dirty="0"/>
              <a:t>1 2 3 4 5 +7 +10 +8 </a:t>
            </a:r>
            <a:r>
              <a:rPr lang="tr-TR" b="1" dirty="0"/>
              <a:t>+6</a:t>
            </a:r>
            <a:r>
              <a:rPr lang="tr-TR" dirty="0"/>
              <a:t> -9</a:t>
            </a:r>
          </a:p>
          <a:p>
            <a:r>
              <a:rPr lang="tr-TR" dirty="0"/>
              <a:t>1 2 3 4 5 </a:t>
            </a:r>
            <a:r>
              <a:rPr lang="tr-TR" b="1" dirty="0"/>
              <a:t>-6</a:t>
            </a:r>
            <a:r>
              <a:rPr lang="tr-TR" dirty="0"/>
              <a:t> -8 -10 -7 -9</a:t>
            </a:r>
          </a:p>
          <a:p>
            <a:r>
              <a:rPr lang="tr-TR" dirty="0"/>
              <a:t>1 2 3 4 5 6 -8 -10 </a:t>
            </a:r>
            <a:r>
              <a:rPr lang="tr-TR" b="1" dirty="0"/>
              <a:t>-7</a:t>
            </a:r>
            <a:r>
              <a:rPr lang="tr-TR" dirty="0"/>
              <a:t> -9</a:t>
            </a:r>
          </a:p>
          <a:p>
            <a:r>
              <a:rPr lang="tr-TR" dirty="0"/>
              <a:t>1 2 3 4 5 6 7 +10 </a:t>
            </a:r>
            <a:r>
              <a:rPr lang="tr-TR" b="1" dirty="0"/>
              <a:t>+8</a:t>
            </a:r>
            <a:r>
              <a:rPr lang="tr-TR" dirty="0"/>
              <a:t> -9</a:t>
            </a:r>
          </a:p>
          <a:p>
            <a:r>
              <a:rPr lang="tr-TR" dirty="0"/>
              <a:t>1 2 3 4 5 6 7 </a:t>
            </a:r>
            <a:r>
              <a:rPr lang="tr-TR" b="1" dirty="0"/>
              <a:t>-8</a:t>
            </a:r>
            <a:r>
              <a:rPr lang="tr-TR" dirty="0"/>
              <a:t> -10 -9</a:t>
            </a:r>
          </a:p>
          <a:p>
            <a:r>
              <a:rPr lang="tr-TR" dirty="0"/>
              <a:t>1 2 3 4 5 6 7 8 -10 </a:t>
            </a:r>
            <a:r>
              <a:rPr lang="tr-TR" b="1" dirty="0"/>
              <a:t>-9</a:t>
            </a:r>
          </a:p>
          <a:p>
            <a:r>
              <a:rPr lang="tr-TR" dirty="0"/>
              <a:t>1 2 3 4 5 6 7 8 9 10</a:t>
            </a:r>
            <a:endParaRPr lang="tr-TR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55CEEA8-E820-4A05-8824-02956D1EA4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66136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BF30AFD-FCC9-4348-882A-D9DB3319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Greedy</a:t>
            </a:r>
            <a:r>
              <a:rPr lang="tr-TR" dirty="0"/>
              <a:t> Break Point </a:t>
            </a:r>
            <a:r>
              <a:rPr lang="tr-TR" dirty="0" err="1"/>
              <a:t>Reversal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: Q3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D86770-27A9-4846-9565-6C9416B6B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Apply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greedy</a:t>
            </a:r>
            <a:r>
              <a:rPr lang="tr-TR" dirty="0"/>
              <a:t> break </a:t>
            </a:r>
            <a:r>
              <a:rPr lang="tr-TR" dirty="0" err="1"/>
              <a:t>point</a:t>
            </a:r>
            <a:r>
              <a:rPr lang="tr-TR" dirty="0"/>
              <a:t> </a:t>
            </a:r>
            <a:r>
              <a:rPr lang="tr-TR" dirty="0" err="1"/>
              <a:t>reversal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given</a:t>
            </a:r>
            <a:r>
              <a:rPr lang="tr-TR" dirty="0"/>
              <a:t> </a:t>
            </a:r>
            <a:r>
              <a:rPr lang="tr-TR" dirty="0" err="1"/>
              <a:t>permutation</a:t>
            </a:r>
            <a:endParaRPr lang="tr-TR" dirty="0"/>
          </a:p>
          <a:p>
            <a:endParaRPr lang="tr-TR" dirty="0"/>
          </a:p>
          <a:p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dirty="0"/>
              <a:t>  = 2  3  1  4  6  5</a:t>
            </a:r>
          </a:p>
          <a:p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i="1" dirty="0"/>
              <a:t> </a:t>
            </a:r>
            <a:r>
              <a:rPr lang="en-US" altLang="en-US" dirty="0"/>
              <a:t>= 1  9  3  4  7  8  2  6  5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82204FD-167F-4D81-8781-257AB8BCA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026626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A5972B8-F656-40BF-9C56-7C947A4E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Answer</a:t>
            </a:r>
            <a:r>
              <a:rPr lang="tr-TR" dirty="0"/>
              <a:t> – Q3.a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8BBEEF-6EE7-432D-B0D8-FAE401DB9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en-US" dirty="0"/>
              <a:t>0 | </a:t>
            </a:r>
            <a:r>
              <a:rPr lang="en-US" altLang="en-US" dirty="0"/>
              <a:t>2  3 </a:t>
            </a:r>
            <a:r>
              <a:rPr lang="tr-TR" altLang="en-US" b="1" dirty="0"/>
              <a:t>|</a:t>
            </a:r>
            <a:r>
              <a:rPr lang="en-US" altLang="en-US" dirty="0"/>
              <a:t> 1  </a:t>
            </a:r>
            <a:r>
              <a:rPr lang="tr-TR" altLang="en-US" dirty="0"/>
              <a:t>| </a:t>
            </a:r>
            <a:r>
              <a:rPr lang="en-US" altLang="en-US" dirty="0"/>
              <a:t>4  </a:t>
            </a:r>
            <a:r>
              <a:rPr lang="tr-TR" altLang="en-US" dirty="0"/>
              <a:t>| </a:t>
            </a:r>
            <a:r>
              <a:rPr lang="en-US" altLang="en-US" dirty="0"/>
              <a:t>6  5</a:t>
            </a:r>
            <a:r>
              <a:rPr lang="tr-TR" altLang="en-US" dirty="0"/>
              <a:t> | 7       </a:t>
            </a:r>
            <a:r>
              <a:rPr lang="tr-TR" dirty="0"/>
              <a:t>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5</a:t>
            </a:r>
          </a:p>
          <a:p>
            <a:r>
              <a:rPr lang="tr-TR" altLang="en-US" dirty="0"/>
              <a:t>0 1 </a:t>
            </a:r>
            <a:r>
              <a:rPr lang="tr-TR" altLang="en-US" b="1" dirty="0"/>
              <a:t>| 3 2 |</a:t>
            </a:r>
            <a:r>
              <a:rPr lang="tr-TR" altLang="en-US" dirty="0"/>
              <a:t> 4 | 6 5 | 7		</a:t>
            </a:r>
            <a:r>
              <a:rPr lang="tr-TR" dirty="0"/>
              <a:t>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4</a:t>
            </a:r>
          </a:p>
          <a:p>
            <a:r>
              <a:rPr lang="tr-TR" dirty="0"/>
              <a:t>0 1 2 3 4 </a:t>
            </a:r>
            <a:r>
              <a:rPr lang="tr-TR" b="1" dirty="0"/>
              <a:t>| 6 5 | </a:t>
            </a:r>
            <a:r>
              <a:rPr lang="tr-TR" dirty="0"/>
              <a:t>7		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2</a:t>
            </a:r>
          </a:p>
          <a:p>
            <a:r>
              <a:rPr lang="tr-TR" dirty="0"/>
              <a:t>0 1 2 3 4 5 6 7			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0</a:t>
            </a:r>
          </a:p>
          <a:p>
            <a:endParaRPr lang="tr-TR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0AF2138-4143-45FF-9C3C-A109E94F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85602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7755753-76E8-4240-8760-CE14774BE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Answer</a:t>
            </a:r>
            <a:r>
              <a:rPr lang="tr-TR" dirty="0"/>
              <a:t> – Q3.b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1D6842-4886-48FD-B218-F113DB22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0 </a:t>
            </a:r>
            <a:r>
              <a:rPr lang="en-US" altLang="en-US" dirty="0"/>
              <a:t>1 </a:t>
            </a:r>
            <a:r>
              <a:rPr lang="tr-TR" altLang="en-US" dirty="0"/>
              <a:t>|</a:t>
            </a:r>
            <a:r>
              <a:rPr lang="en-US" altLang="en-US" dirty="0"/>
              <a:t> 9 </a:t>
            </a:r>
            <a:r>
              <a:rPr lang="tr-TR" altLang="en-US" dirty="0"/>
              <a:t>|</a:t>
            </a:r>
            <a:r>
              <a:rPr lang="en-US" altLang="en-US" dirty="0"/>
              <a:t> 3  </a:t>
            </a:r>
            <a:r>
              <a:rPr lang="en-US" altLang="en-US" b="1" dirty="0"/>
              <a:t>4 </a:t>
            </a:r>
            <a:r>
              <a:rPr lang="tr-TR" altLang="en-US" b="1" dirty="0"/>
              <a:t>|</a:t>
            </a:r>
            <a:r>
              <a:rPr lang="en-US" altLang="en-US" b="1" dirty="0"/>
              <a:t> 7</a:t>
            </a:r>
            <a:r>
              <a:rPr lang="en-US" altLang="en-US" dirty="0"/>
              <a:t>  8 </a:t>
            </a:r>
            <a:r>
              <a:rPr lang="tr-TR" altLang="en-US" dirty="0"/>
              <a:t>|</a:t>
            </a:r>
            <a:r>
              <a:rPr lang="en-US" altLang="en-US" dirty="0"/>
              <a:t> 2 </a:t>
            </a:r>
            <a:r>
              <a:rPr lang="tr-TR" altLang="en-US" dirty="0"/>
              <a:t>|</a:t>
            </a:r>
            <a:r>
              <a:rPr lang="en-US" altLang="en-US" dirty="0"/>
              <a:t> 6  5</a:t>
            </a:r>
            <a:r>
              <a:rPr lang="tr-TR" dirty="0"/>
              <a:t> | 10     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6</a:t>
            </a:r>
          </a:p>
          <a:p>
            <a:r>
              <a:rPr lang="tr-TR" dirty="0"/>
              <a:t>0 1 | 9 8 7 </a:t>
            </a:r>
            <a:r>
              <a:rPr lang="tr-TR" b="1" dirty="0"/>
              <a:t>|</a:t>
            </a:r>
            <a:r>
              <a:rPr lang="tr-TR" dirty="0"/>
              <a:t> 4 3 2 | 6 5 | 10             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4</a:t>
            </a:r>
          </a:p>
          <a:p>
            <a:r>
              <a:rPr lang="tr-TR" dirty="0"/>
              <a:t>0 1 2 3 4 | 7 8 9 </a:t>
            </a:r>
            <a:r>
              <a:rPr lang="tr-TR" b="1" dirty="0"/>
              <a:t>|</a:t>
            </a:r>
            <a:r>
              <a:rPr lang="tr-TR" dirty="0"/>
              <a:t> 6 5 | 10		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3</a:t>
            </a:r>
          </a:p>
          <a:p>
            <a:r>
              <a:rPr lang="tr-TR" dirty="0"/>
              <a:t>0 1 2 3 4 5 6 </a:t>
            </a:r>
            <a:r>
              <a:rPr lang="tr-TR" b="1" dirty="0"/>
              <a:t>| 9 8 7 |</a:t>
            </a:r>
            <a:r>
              <a:rPr lang="tr-TR" dirty="0"/>
              <a:t> 10		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2</a:t>
            </a:r>
          </a:p>
          <a:p>
            <a:r>
              <a:rPr lang="tr-TR" dirty="0"/>
              <a:t>0 1 2 3 4 5 6 7 8 9 10			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0</a:t>
            </a: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AB48CB7-A137-4777-9563-171C67BD9B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99403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BF30AFD-FCC9-4348-882A-D9DB3319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Improved</a:t>
            </a:r>
            <a:r>
              <a:rPr lang="tr-TR" dirty="0"/>
              <a:t> </a:t>
            </a:r>
            <a:r>
              <a:rPr lang="tr-TR" dirty="0" err="1"/>
              <a:t>Greedy</a:t>
            </a:r>
            <a:r>
              <a:rPr lang="tr-TR" dirty="0"/>
              <a:t> Break Point </a:t>
            </a:r>
            <a:r>
              <a:rPr lang="tr-TR" dirty="0" err="1"/>
              <a:t>Reversal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: Q4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D86770-27A9-4846-9565-6C9416B6B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Apply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improved</a:t>
            </a:r>
            <a:r>
              <a:rPr lang="tr-TR" dirty="0"/>
              <a:t> </a:t>
            </a:r>
            <a:r>
              <a:rPr lang="tr-TR" dirty="0" err="1"/>
              <a:t>greedy</a:t>
            </a:r>
            <a:r>
              <a:rPr lang="tr-TR" dirty="0"/>
              <a:t> break </a:t>
            </a:r>
            <a:r>
              <a:rPr lang="tr-TR" dirty="0" err="1"/>
              <a:t>point</a:t>
            </a:r>
            <a:r>
              <a:rPr lang="tr-TR" dirty="0"/>
              <a:t> </a:t>
            </a:r>
            <a:r>
              <a:rPr lang="tr-TR" dirty="0" err="1"/>
              <a:t>reversal</a:t>
            </a:r>
            <a:r>
              <a:rPr lang="tr-TR" dirty="0"/>
              <a:t> </a:t>
            </a:r>
            <a:r>
              <a:rPr lang="tr-TR" dirty="0" err="1"/>
              <a:t>sort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given</a:t>
            </a:r>
            <a:r>
              <a:rPr lang="tr-TR" dirty="0"/>
              <a:t> </a:t>
            </a:r>
            <a:r>
              <a:rPr lang="tr-TR" dirty="0" err="1"/>
              <a:t>permutation</a:t>
            </a:r>
            <a:endParaRPr lang="tr-TR" dirty="0"/>
          </a:p>
          <a:p>
            <a:endParaRPr lang="tr-TR" dirty="0"/>
          </a:p>
          <a:p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dirty="0"/>
              <a:t>  = 1 4 6 5 7 8 3 2 </a:t>
            </a:r>
            <a:endParaRPr lang="tr-TR" altLang="en-US" dirty="0"/>
          </a:p>
          <a:p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dirty="0"/>
              <a:t>  = 1  9  4  3  7  8  2  5  6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82204FD-167F-4D81-8781-257AB8BCA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988471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F019C5F-2A63-42F6-8CDF-1ED7F9F6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6023"/>
            <a:ext cx="11480800" cy="1066800"/>
          </a:xfrm>
        </p:spPr>
        <p:txBody>
          <a:bodyPr/>
          <a:lstStyle/>
          <a:p>
            <a:r>
              <a:rPr lang="tr-TR" dirty="0" err="1"/>
              <a:t>Answer</a:t>
            </a:r>
            <a:r>
              <a:rPr lang="tr-TR" dirty="0"/>
              <a:t> – Q4.a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5D98FD-F565-46AA-A0FD-5DCBA42FA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en-US" dirty="0"/>
              <a:t>0 </a:t>
            </a:r>
            <a:r>
              <a:rPr lang="en-US" altLang="en-US" b="1" dirty="0"/>
              <a:t>1</a:t>
            </a:r>
            <a:r>
              <a:rPr lang="en-US" altLang="en-US" dirty="0"/>
              <a:t> </a:t>
            </a:r>
            <a:r>
              <a:rPr lang="tr-TR" altLang="en-US" dirty="0"/>
              <a:t>| </a:t>
            </a:r>
            <a:r>
              <a:rPr lang="en-US" altLang="en-US" dirty="0"/>
              <a:t>4 </a:t>
            </a:r>
            <a:r>
              <a:rPr lang="tr-TR" altLang="en-US" dirty="0"/>
              <a:t>| </a:t>
            </a:r>
            <a:r>
              <a:rPr lang="en-US" altLang="en-US" dirty="0"/>
              <a:t>6 5 </a:t>
            </a:r>
            <a:r>
              <a:rPr lang="tr-TR" altLang="en-US" dirty="0"/>
              <a:t>| </a:t>
            </a:r>
            <a:r>
              <a:rPr lang="en-US" altLang="en-US" dirty="0"/>
              <a:t>7 8 </a:t>
            </a:r>
            <a:r>
              <a:rPr lang="tr-TR" altLang="en-US" dirty="0"/>
              <a:t>| </a:t>
            </a:r>
            <a:r>
              <a:rPr lang="en-US" altLang="en-US" dirty="0"/>
              <a:t>3 </a:t>
            </a:r>
            <a:r>
              <a:rPr lang="en-US" altLang="en-US" b="1" dirty="0"/>
              <a:t>2</a:t>
            </a:r>
            <a:r>
              <a:rPr lang="tr-TR" altLang="en-US" dirty="0"/>
              <a:t> | 9		</a:t>
            </a:r>
            <a:r>
              <a:rPr lang="tr-TR" dirty="0"/>
              <a:t> 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5</a:t>
            </a:r>
            <a:endParaRPr lang="tr-TR" altLang="en-US" dirty="0"/>
          </a:p>
          <a:p>
            <a:r>
              <a:rPr lang="tr-TR" dirty="0"/>
              <a:t>0 1 2 3 | 8 </a:t>
            </a:r>
            <a:r>
              <a:rPr lang="tr-TR" b="1" dirty="0"/>
              <a:t>7</a:t>
            </a:r>
            <a:r>
              <a:rPr lang="tr-TR" dirty="0"/>
              <a:t> | 5 </a:t>
            </a:r>
            <a:r>
              <a:rPr lang="tr-TR" b="1" dirty="0"/>
              <a:t>6</a:t>
            </a:r>
            <a:r>
              <a:rPr lang="tr-TR" dirty="0"/>
              <a:t> | 4 | 9		 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4</a:t>
            </a:r>
          </a:p>
          <a:p>
            <a:r>
              <a:rPr lang="tr-TR" dirty="0"/>
              <a:t>0 1 2 </a:t>
            </a:r>
            <a:r>
              <a:rPr lang="tr-TR" b="1" dirty="0"/>
              <a:t>3</a:t>
            </a:r>
            <a:r>
              <a:rPr lang="tr-TR" dirty="0"/>
              <a:t> | 8 7 6 5 </a:t>
            </a:r>
            <a:r>
              <a:rPr lang="tr-TR" b="1" dirty="0"/>
              <a:t>4</a:t>
            </a:r>
            <a:r>
              <a:rPr lang="tr-TR" dirty="0"/>
              <a:t> | 9			 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2</a:t>
            </a:r>
          </a:p>
          <a:p>
            <a:r>
              <a:rPr lang="tr-TR" dirty="0"/>
              <a:t>0 1 2 3 4 5 6 7 8 9			 b(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tr-TR" dirty="0"/>
              <a:t>) = 0</a:t>
            </a: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2574BEE-0B87-47BA-B2C5-A06B07213A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7204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47A7AEC-176E-41D6-8D79-9AF47FB2D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3349"/>
            <a:ext cx="11480800" cy="1066800"/>
          </a:xfrm>
        </p:spPr>
        <p:txBody>
          <a:bodyPr/>
          <a:lstStyle/>
          <a:p>
            <a:r>
              <a:rPr lang="tr-TR" dirty="0" err="1"/>
              <a:t>Answer</a:t>
            </a:r>
            <a:r>
              <a:rPr lang="tr-TR" dirty="0"/>
              <a:t> – 4.b 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826AA8-CC9F-4BAE-AB23-401AD7E17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en-US" dirty="0">
                <a:latin typeface="Symbol" panose="05050102010706020507" pitchFamily="18" charset="2"/>
              </a:rPr>
              <a:t>0 </a:t>
            </a:r>
            <a:r>
              <a:rPr lang="en-US" altLang="en-US" b="1" dirty="0"/>
              <a:t>1</a:t>
            </a:r>
            <a:r>
              <a:rPr lang="en-US" altLang="en-US" dirty="0"/>
              <a:t>  </a:t>
            </a:r>
            <a:r>
              <a:rPr lang="tr-TR" altLang="en-US" dirty="0"/>
              <a:t>| </a:t>
            </a:r>
            <a:r>
              <a:rPr lang="en-US" altLang="en-US" dirty="0"/>
              <a:t>9  </a:t>
            </a:r>
            <a:r>
              <a:rPr lang="tr-TR" altLang="en-US" dirty="0"/>
              <a:t>| </a:t>
            </a:r>
            <a:r>
              <a:rPr lang="en-US" altLang="en-US" dirty="0"/>
              <a:t>4  3 </a:t>
            </a:r>
            <a:r>
              <a:rPr lang="tr-TR" altLang="en-US" dirty="0"/>
              <a:t>|</a:t>
            </a:r>
            <a:r>
              <a:rPr lang="en-US" altLang="en-US" dirty="0"/>
              <a:t> 7  8 </a:t>
            </a:r>
            <a:r>
              <a:rPr lang="tr-TR" altLang="en-US" dirty="0"/>
              <a:t>|</a:t>
            </a:r>
            <a:r>
              <a:rPr lang="en-US" altLang="en-US" dirty="0"/>
              <a:t> </a:t>
            </a:r>
            <a:r>
              <a:rPr lang="en-US" altLang="en-US" b="1" dirty="0"/>
              <a:t>2</a:t>
            </a:r>
            <a:r>
              <a:rPr lang="en-US" altLang="en-US" dirty="0"/>
              <a:t> </a:t>
            </a:r>
            <a:r>
              <a:rPr lang="tr-TR" altLang="en-US" dirty="0"/>
              <a:t>|</a:t>
            </a:r>
            <a:r>
              <a:rPr lang="en-US" altLang="en-US" dirty="0"/>
              <a:t> 5  6</a:t>
            </a:r>
            <a:r>
              <a:rPr lang="tr-TR" altLang="en-US" dirty="0"/>
              <a:t> | 10</a:t>
            </a:r>
          </a:p>
          <a:p>
            <a:r>
              <a:rPr lang="tr-TR" altLang="en-US" dirty="0"/>
              <a:t>0 1 2 | 8 </a:t>
            </a:r>
            <a:r>
              <a:rPr lang="tr-TR" altLang="en-US" b="1" dirty="0"/>
              <a:t>7</a:t>
            </a:r>
            <a:r>
              <a:rPr lang="tr-TR" altLang="en-US" dirty="0"/>
              <a:t> | 3 4 | 9 | 5 </a:t>
            </a:r>
            <a:r>
              <a:rPr lang="tr-TR" altLang="en-US" b="1" dirty="0"/>
              <a:t>6</a:t>
            </a:r>
            <a:r>
              <a:rPr lang="tr-TR" altLang="en-US" dirty="0"/>
              <a:t> | 10</a:t>
            </a:r>
          </a:p>
          <a:p>
            <a:r>
              <a:rPr lang="tr-TR" altLang="en-US" dirty="0"/>
              <a:t>0 1 </a:t>
            </a:r>
            <a:r>
              <a:rPr lang="tr-TR" altLang="en-US" b="1" dirty="0"/>
              <a:t>2</a:t>
            </a:r>
            <a:r>
              <a:rPr lang="tr-TR" altLang="en-US" dirty="0"/>
              <a:t> | 8 7 6 5 | 9 | 4 </a:t>
            </a:r>
            <a:r>
              <a:rPr lang="tr-TR" altLang="en-US" b="1" dirty="0"/>
              <a:t>3</a:t>
            </a:r>
            <a:r>
              <a:rPr lang="tr-TR" altLang="en-US" dirty="0"/>
              <a:t> |10</a:t>
            </a:r>
          </a:p>
          <a:p>
            <a:r>
              <a:rPr lang="tr-TR" altLang="en-US" dirty="0"/>
              <a:t>0 1 2 3 4 | </a:t>
            </a:r>
            <a:r>
              <a:rPr lang="tr-TR" altLang="en-US" b="1" dirty="0"/>
              <a:t>9</a:t>
            </a:r>
            <a:r>
              <a:rPr lang="tr-TR" altLang="en-US" dirty="0"/>
              <a:t> | 5 6 7 </a:t>
            </a:r>
            <a:r>
              <a:rPr lang="tr-TR" altLang="en-US" b="1" dirty="0"/>
              <a:t>8</a:t>
            </a:r>
            <a:r>
              <a:rPr lang="tr-TR" altLang="en-US" dirty="0"/>
              <a:t> | 10</a:t>
            </a:r>
          </a:p>
          <a:p>
            <a:r>
              <a:rPr lang="tr-TR" altLang="en-US" dirty="0"/>
              <a:t>0 1 2 3 </a:t>
            </a:r>
            <a:r>
              <a:rPr lang="tr-TR" altLang="en-US" b="1" dirty="0"/>
              <a:t>4</a:t>
            </a:r>
            <a:r>
              <a:rPr lang="tr-TR" altLang="en-US" dirty="0"/>
              <a:t> | 9 8 7 6 </a:t>
            </a:r>
            <a:r>
              <a:rPr lang="tr-TR" altLang="en-US" b="1" dirty="0"/>
              <a:t>5</a:t>
            </a:r>
            <a:r>
              <a:rPr lang="tr-TR" altLang="en-US" dirty="0"/>
              <a:t> | 10</a:t>
            </a:r>
          </a:p>
          <a:p>
            <a:r>
              <a:rPr lang="tr-TR" altLang="en-US" dirty="0"/>
              <a:t>0 1 2 3 4 5 6 7 8 9 10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8D42C9D-0A25-4D37-88B8-429FB67EB9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7052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F683-44CA-4CDC-92B7-5442DCB5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Q5) </a:t>
            </a:r>
            <a:r>
              <a:rPr lang="tr-TR" dirty="0" err="1"/>
              <a:t>Transform</a:t>
            </a:r>
            <a:r>
              <a:rPr lang="tr-TR" dirty="0"/>
              <a:t> P </a:t>
            </a:r>
            <a:r>
              <a:rPr lang="tr-TR" dirty="0" err="1"/>
              <a:t>into</a:t>
            </a:r>
            <a:r>
              <a:rPr lang="tr-TR" dirty="0"/>
              <a:t> 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2A232-57FB-4715-97D0-ADAB495E7A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/>
              <a:t>P = +a +b -c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3760D-84BA-4B78-8F18-53389509DA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dirty="0"/>
              <a:t>Q = +a -b +c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3B178-F2A7-405D-A476-6CED2886FD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9" name="Picture 8" descr="A picture containing red, air&#10;&#10;Description automatically generated">
            <a:extLst>
              <a:ext uri="{FF2B5EF4-FFF2-40B4-BE49-F238E27FC236}">
                <a16:creationId xmlns:a16="http://schemas.microsoft.com/office/drawing/2014/main" id="{3C03A67B-4E5A-4A77-AE8B-844BE184B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90" y="2308487"/>
            <a:ext cx="3084125" cy="3217636"/>
          </a:xfrm>
          <a:prstGeom prst="rect">
            <a:avLst/>
          </a:prstGeom>
        </p:spPr>
      </p:pic>
      <p:pic>
        <p:nvPicPr>
          <p:cNvPr id="11" name="Picture 10" descr="Shape, arrow&#10;&#10;Description automatically generated">
            <a:extLst>
              <a:ext uri="{FF2B5EF4-FFF2-40B4-BE49-F238E27FC236}">
                <a16:creationId xmlns:a16="http://schemas.microsoft.com/office/drawing/2014/main" id="{C2249D80-4930-412C-BFBD-20133037F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756" y="2158721"/>
            <a:ext cx="3233752" cy="3327679"/>
          </a:xfrm>
          <a:prstGeom prst="rect">
            <a:avLst/>
          </a:prstGeom>
        </p:spPr>
      </p:pic>
      <p:pic>
        <p:nvPicPr>
          <p:cNvPr id="13" name="Picture 12" descr="Shape, arrow&#10;&#10;Description automatically generated">
            <a:extLst>
              <a:ext uri="{FF2B5EF4-FFF2-40B4-BE49-F238E27FC236}">
                <a16:creationId xmlns:a16="http://schemas.microsoft.com/office/drawing/2014/main" id="{863F1EB5-1231-4884-A072-41BA926230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898" y="2202683"/>
            <a:ext cx="3063189" cy="319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400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9DD7-13F0-4F09-B4D3-E1BB7ECE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BreakpointGraph</a:t>
            </a:r>
            <a:r>
              <a:rPr lang="tr-TR" dirty="0"/>
              <a:t>(P,Q)</a:t>
            </a:r>
            <a:endParaRPr lang="en-US" dirty="0"/>
          </a:p>
        </p:txBody>
      </p:sp>
      <p:pic>
        <p:nvPicPr>
          <p:cNvPr id="7" name="Content Placeholder 6" descr="Chart, radar chart&#10;&#10;Description automatically generated">
            <a:extLst>
              <a:ext uri="{FF2B5EF4-FFF2-40B4-BE49-F238E27FC236}">
                <a16:creationId xmlns:a16="http://schemas.microsoft.com/office/drawing/2014/main" id="{B6B5CB29-B692-4145-AF8C-16E6928A9F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67" y="1835141"/>
            <a:ext cx="3550154" cy="3625422"/>
          </a:xfrm>
        </p:spPr>
      </p:pic>
      <p:pic>
        <p:nvPicPr>
          <p:cNvPr id="9" name="Content Placeholder 8" descr="Chart, shape&#10;&#10;Description automatically generated">
            <a:extLst>
              <a:ext uri="{FF2B5EF4-FFF2-40B4-BE49-F238E27FC236}">
                <a16:creationId xmlns:a16="http://schemas.microsoft.com/office/drawing/2014/main" id="{0D39C80A-7D18-4B97-A1B5-3FAF3D9387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591" y="1947109"/>
            <a:ext cx="3612190" cy="3625422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CD7C-48E2-4A8F-A5FC-0FFBBC7FB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E5952DA3-8F81-4428-9D9B-3B761EA77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522" y="2295846"/>
            <a:ext cx="3566545" cy="327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638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9DD7-13F0-4F09-B4D3-E1BB7ECE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G(P, Q) </a:t>
            </a:r>
            <a:r>
              <a:rPr lang="tr-TR" dirty="0" err="1"/>
              <a:t>to</a:t>
            </a:r>
            <a:r>
              <a:rPr lang="tr-TR" dirty="0"/>
              <a:t> G(Q, Q)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CD7C-48E2-4A8F-A5FC-0FFBBC7FB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8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BDEF6A2D-BF1E-46C5-A4B0-FE9D31E9EF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06" y="1614767"/>
            <a:ext cx="4504393" cy="4138311"/>
          </a:xfrm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4ECFE413-F38D-4436-97CC-92923B54F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391" y="1708553"/>
            <a:ext cx="4415494" cy="405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0693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9DD7-13F0-4F09-B4D3-E1BB7ECE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G(P, Q) </a:t>
            </a:r>
            <a:r>
              <a:rPr lang="tr-TR" dirty="0" err="1"/>
              <a:t>to</a:t>
            </a:r>
            <a:r>
              <a:rPr lang="tr-TR" dirty="0"/>
              <a:t> G(Q, Q)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CD7C-48E2-4A8F-A5FC-0FFBBC7FB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8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BDEF6A2D-BF1E-46C5-A4B0-FE9D31E9EF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06" y="1614767"/>
            <a:ext cx="4504393" cy="4138311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02BD07-42B5-4BA5-893D-B02CBFB99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228" y="1687393"/>
            <a:ext cx="4419463" cy="405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1293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F683-44CA-4CDC-92B7-5442DCB5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Q6) </a:t>
            </a:r>
            <a:r>
              <a:rPr lang="tr-TR" dirty="0" err="1"/>
              <a:t>Transform</a:t>
            </a:r>
            <a:r>
              <a:rPr lang="tr-TR" dirty="0"/>
              <a:t> P </a:t>
            </a:r>
            <a:r>
              <a:rPr lang="tr-TR" dirty="0" err="1"/>
              <a:t>into</a:t>
            </a:r>
            <a:r>
              <a:rPr lang="tr-TR" dirty="0"/>
              <a:t> 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2A232-57FB-4715-97D0-ADAB495E7A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/>
              <a:t>P = +a +b –e +c -d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3760D-84BA-4B78-8F18-53389509DA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dirty="0"/>
              <a:t>Q = (+a +b) (+e +d +c)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3B178-F2A7-405D-A476-6CED2886FD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14" name="Picture 13" descr="A group of people flying kites&#10;&#10;Description automatically generated with low confidence">
            <a:extLst>
              <a:ext uri="{FF2B5EF4-FFF2-40B4-BE49-F238E27FC236}">
                <a16:creationId xmlns:a16="http://schemas.microsoft.com/office/drawing/2014/main" id="{E84DC22A-4F20-4CDE-A0B8-349E7B57D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55" y="2559102"/>
            <a:ext cx="3766676" cy="3326415"/>
          </a:xfrm>
          <a:prstGeom prst="rect">
            <a:avLst/>
          </a:prstGeom>
        </p:spPr>
      </p:pic>
      <p:pic>
        <p:nvPicPr>
          <p:cNvPr id="16" name="Picture 15" descr="A picture containing earphone, necklet&#10;&#10;Description automatically generated">
            <a:extLst>
              <a:ext uri="{FF2B5EF4-FFF2-40B4-BE49-F238E27FC236}">
                <a16:creationId xmlns:a16="http://schemas.microsoft.com/office/drawing/2014/main" id="{F12A5DEC-C85B-41B4-9302-0FB715E55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879" y="2585553"/>
            <a:ext cx="5619084" cy="304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5498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F683-44CA-4CDC-92B7-5442DCB5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Q6) </a:t>
            </a:r>
            <a:r>
              <a:rPr lang="tr-TR" dirty="0" err="1"/>
              <a:t>Transform</a:t>
            </a:r>
            <a:r>
              <a:rPr lang="tr-TR" dirty="0"/>
              <a:t> P </a:t>
            </a:r>
            <a:r>
              <a:rPr lang="tr-TR" dirty="0" err="1"/>
              <a:t>into</a:t>
            </a:r>
            <a:r>
              <a:rPr lang="tr-TR" dirty="0"/>
              <a:t> 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2A232-57FB-4715-97D0-ADAB495E7A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r-TR" dirty="0"/>
              <a:t>Q = (+a +b) (+e +d +c)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Chart, scatter chart&#10;&#10;Description automatically generated">
            <a:extLst>
              <a:ext uri="{FF2B5EF4-FFF2-40B4-BE49-F238E27FC236}">
                <a16:creationId xmlns:a16="http://schemas.microsoft.com/office/drawing/2014/main" id="{6DBCB2E1-F02C-4BC0-9C65-76B49E22FF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785" y="2266180"/>
            <a:ext cx="3789484" cy="334655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3B178-F2A7-405D-A476-6CED2886FD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8" name="Picture 7" descr="A picture containing earphone, necklet&#10;&#10;Description automatically generated">
            <a:extLst>
              <a:ext uri="{FF2B5EF4-FFF2-40B4-BE49-F238E27FC236}">
                <a16:creationId xmlns:a16="http://schemas.microsoft.com/office/drawing/2014/main" id="{3C426D50-51E3-4C9C-A99C-61C5BF716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53" y="2606376"/>
            <a:ext cx="5619084" cy="304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8051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586B-F6FB-418C-92E0-85CB0795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BreakpointGraph</a:t>
            </a:r>
            <a:r>
              <a:rPr lang="tr-TR" dirty="0"/>
              <a:t>(P,Q)</a:t>
            </a:r>
            <a:endParaRPr lang="en-US" dirty="0"/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023E2F38-5700-4519-ACC0-C232EE1A63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44" y="1649978"/>
            <a:ext cx="4796548" cy="4417872"/>
          </a:xfrm>
        </p:spPr>
      </p:pic>
      <p:pic>
        <p:nvPicPr>
          <p:cNvPr id="9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8669A2B0-FC51-427B-9398-F40AE7ACCD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723" y="1444408"/>
            <a:ext cx="4686300" cy="44746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1387B-4743-40AF-8C38-B2B5D80A4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212563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9DD7-13F0-4F09-B4D3-E1BB7ECE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G(P, Q) </a:t>
            </a:r>
            <a:r>
              <a:rPr lang="tr-TR" dirty="0" err="1"/>
              <a:t>to</a:t>
            </a:r>
            <a:r>
              <a:rPr lang="tr-TR" dirty="0"/>
              <a:t> G(Q, Q)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CD7C-48E2-4A8F-A5FC-0FFBBC7FB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6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9E1B25F7-DACE-494E-A06E-4C358201E3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6" y="1219200"/>
            <a:ext cx="4686300" cy="4474663"/>
          </a:xfr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B7E61743-90D8-4D21-818D-4FE945B8C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241" y="1316665"/>
            <a:ext cx="4727470" cy="455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3131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9DD7-13F0-4F09-B4D3-E1BB7ECE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G(P, Q) </a:t>
            </a:r>
            <a:r>
              <a:rPr lang="tr-TR" dirty="0" err="1"/>
              <a:t>to</a:t>
            </a:r>
            <a:r>
              <a:rPr lang="tr-TR" dirty="0"/>
              <a:t> G(Q, Q)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CD7C-48E2-4A8F-A5FC-0FFBBC7FB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6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9E1B25F7-DACE-494E-A06E-4C358201E3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6" y="1219200"/>
            <a:ext cx="4686300" cy="4474663"/>
          </a:xfr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8AD96A0-A2ED-46B1-80A0-25880C003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991" y="1364952"/>
            <a:ext cx="4686300" cy="447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6185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9DD7-13F0-4F09-B4D3-E1BB7ECE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G(P, Q) </a:t>
            </a:r>
            <a:r>
              <a:rPr lang="tr-TR" dirty="0" err="1"/>
              <a:t>to</a:t>
            </a:r>
            <a:r>
              <a:rPr lang="tr-TR" dirty="0"/>
              <a:t> G(Q, Q)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CD7C-48E2-4A8F-A5FC-0FFBBC7FB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6" name="Content Placeholder 8" descr="Diagram&#10;&#10;Description automatically generated">
            <a:extLst>
              <a:ext uri="{FF2B5EF4-FFF2-40B4-BE49-F238E27FC236}">
                <a16:creationId xmlns:a16="http://schemas.microsoft.com/office/drawing/2014/main" id="{9E1B25F7-DACE-494E-A06E-4C358201E3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6" y="1219200"/>
            <a:ext cx="4686300" cy="4474663"/>
          </a:xfr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593C45DF-0B91-4189-89B3-C1C070BBF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214" y="1505989"/>
            <a:ext cx="4385947" cy="418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818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1220</Words>
  <Application>Microsoft Office PowerPoint</Application>
  <PresentationFormat>Widescreen</PresentationFormat>
  <Paragraphs>113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Garamond</vt:lpstr>
      <vt:lpstr>Symbol</vt:lpstr>
      <vt:lpstr>Tahoma</vt:lpstr>
      <vt:lpstr>Wingdings</vt:lpstr>
      <vt:lpstr>Edge</vt:lpstr>
      <vt:lpstr>CSE4065 – Fall 2022 Computational Genomics Genome Rearrangements</vt:lpstr>
      <vt:lpstr>Greedy Algorithm: Simple Reversal Sort – Q1 </vt:lpstr>
      <vt:lpstr>Answer</vt:lpstr>
      <vt:lpstr>Greedy Algorithm: Simple Reversal Sort – Q2 </vt:lpstr>
      <vt:lpstr>Answer – Q2</vt:lpstr>
      <vt:lpstr>Greedy Break Point Reversal Sort: Q3</vt:lpstr>
      <vt:lpstr>Answer – Q3.a</vt:lpstr>
      <vt:lpstr>Answer – Q3.b</vt:lpstr>
      <vt:lpstr>Improved Greedy Break Point Reversal Sort: Q4</vt:lpstr>
      <vt:lpstr>Answer – Q4.a</vt:lpstr>
      <vt:lpstr>Answer – 4.b </vt:lpstr>
      <vt:lpstr>Q5) Transform P into Q</vt:lpstr>
      <vt:lpstr>BreakpointGraph(P,Q)</vt:lpstr>
      <vt:lpstr>G(P, Q) to G(Q, Q)</vt:lpstr>
      <vt:lpstr>G(P, Q) to G(Q, Q)</vt:lpstr>
      <vt:lpstr>Q6) Transform P into Q</vt:lpstr>
      <vt:lpstr>Q6) Transform P into Q</vt:lpstr>
      <vt:lpstr>BreakpointGraph(P,Q)</vt:lpstr>
      <vt:lpstr>G(P, Q) to G(Q, Q)</vt:lpstr>
      <vt:lpstr>G(P, Q) to G(Q, Q)</vt:lpstr>
      <vt:lpstr>G(P, Q) to G(Q, Q)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CSE4094 – Spring 2018 Computational Genomics Lecture 5: Sequence Allignment</dc:title>
  <dc:creator/>
  <cp:lastModifiedBy/>
  <cp:revision>209</cp:revision>
  <dcterms:created xsi:type="dcterms:W3CDTF">2017-11-02T19:26:23Z</dcterms:created>
  <dcterms:modified xsi:type="dcterms:W3CDTF">2022-11-01T12:20:28Z</dcterms:modified>
  <dc:description/>
</cp:coreProperties>
</file>