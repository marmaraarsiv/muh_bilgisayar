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handoutMasterIdLst>
    <p:handoutMasterId r:id="rId13"/>
  </p:handoutMasterIdLst>
  <p:sldIdLst>
    <p:sldId id="256" r:id="rId2"/>
    <p:sldId id="258" r:id="rId3"/>
    <p:sldId id="263" r:id="rId4"/>
    <p:sldId id="260" r:id="rId5"/>
    <p:sldId id="259" r:id="rId6"/>
    <p:sldId id="264" r:id="rId7"/>
    <p:sldId id="267" r:id="rId8"/>
    <p:sldId id="261" r:id="rId9"/>
    <p:sldId id="268" r:id="rId10"/>
    <p:sldId id="269" r:id="rId11"/>
    <p:sldId id="266" r:id="rId12"/>
  </p:sldIdLst>
  <p:sldSz cx="12192000" cy="6858000"/>
  <p:notesSz cx="7315200" cy="96012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05" autoAdjust="0"/>
    <p:restoredTop sz="94712"/>
  </p:normalViewPr>
  <p:slideViewPr>
    <p:cSldViewPr snapToGrid="0" snapToObjects="1">
      <p:cViewPr varScale="1">
        <p:scale>
          <a:sx n="74" d="100"/>
          <a:sy n="74" d="100"/>
        </p:scale>
        <p:origin x="72" y="2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handoutMaster" Target="handoutMasters/handout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1727"/>
          </a:xfrm>
          <a:prstGeom prst="rect">
            <a:avLst/>
          </a:prstGeom>
        </p:spPr>
        <p:txBody>
          <a:bodyPr vert="horz" lIns="94412" tIns="47206" rIns="94412" bIns="47206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143587" y="0"/>
            <a:ext cx="3169920" cy="481727"/>
          </a:xfrm>
          <a:prstGeom prst="rect">
            <a:avLst/>
          </a:prstGeom>
        </p:spPr>
        <p:txBody>
          <a:bodyPr vert="horz" lIns="94412" tIns="47206" rIns="94412" bIns="47206" rtlCol="0"/>
          <a:lstStyle>
            <a:lvl1pPr algn="r">
              <a:defRPr sz="1200"/>
            </a:lvl1pPr>
          </a:lstStyle>
          <a:p>
            <a:fld id="{F9B903A3-7240-488D-850C-4F6A70BA7B1E}" type="datetimeFigureOut">
              <a:rPr lang="en-US" smtClean="0"/>
              <a:t>6/22/2023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119474"/>
            <a:ext cx="3169920" cy="481726"/>
          </a:xfrm>
          <a:prstGeom prst="rect">
            <a:avLst/>
          </a:prstGeom>
        </p:spPr>
        <p:txBody>
          <a:bodyPr vert="horz" lIns="94412" tIns="47206" rIns="94412" bIns="47206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143587" y="9119474"/>
            <a:ext cx="3169920" cy="481726"/>
          </a:xfrm>
          <a:prstGeom prst="rect">
            <a:avLst/>
          </a:prstGeom>
        </p:spPr>
        <p:txBody>
          <a:bodyPr vert="horz" lIns="94412" tIns="47206" rIns="94412" bIns="47206" rtlCol="0" anchor="b"/>
          <a:lstStyle>
            <a:lvl1pPr algn="r">
              <a:defRPr sz="1200"/>
            </a:lvl1pPr>
          </a:lstStyle>
          <a:p>
            <a:fld id="{FD30F001-2EFE-47B4-BA4A-D23264AA06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080614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60A79E-4E57-334B-A2F8-4A710CD60D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0A44845-7FCC-E845-81BD-B195138979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tr-T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679CBC-A144-8442-9105-BA838C6EEA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7C792-3FB8-B84F-8A06-3F30645F4F2E}" type="datetimeFigureOut">
              <a:rPr lang="tr-TR" smtClean="0"/>
              <a:t>22.06.2023</a:t>
            </a:fld>
            <a:endParaRPr lang="tr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609E10-CA85-7747-AC32-B8F3C4A27A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F1448F-8347-6247-959C-C854D013FD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4B8B9-1140-BE42-995C-B46DAC8ED5E4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6968077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D63F82-5E19-3A42-B73A-E03E96B767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B76680-1F5D-5C4D-8DC8-2511C1551A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C5E715-81CD-4A41-BACE-D7D5A24A61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7C792-3FB8-B84F-8A06-3F30645F4F2E}" type="datetimeFigureOut">
              <a:rPr lang="tr-TR" smtClean="0"/>
              <a:t>22.06.2023</a:t>
            </a:fld>
            <a:endParaRPr lang="tr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4F40D0-B587-FC4D-93FA-18DBFAEA61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C624F1-2AFE-6A4C-AB79-C81C199CB1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4B8B9-1140-BE42-995C-B46DAC8ED5E4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3396725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A6E41E-BC4F-9640-B946-9EA6C0B403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E98760-521B-EE49-AE0F-7BBCAD6CAD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DFA587-F26F-0649-8B29-334A81A48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7C792-3FB8-B84F-8A06-3F30645F4F2E}" type="datetimeFigureOut">
              <a:rPr lang="tr-TR" smtClean="0"/>
              <a:t>22.06.2023</a:t>
            </a:fld>
            <a:endParaRPr lang="tr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A47C8F-9EB9-8C4B-A5CA-380DC7AD5F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0DAA73-698A-B34B-BF5D-843FD74004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4B8B9-1140-BE42-995C-B46DAC8ED5E4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1084170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F44D71-0DE0-344B-A90F-B46CC34548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5AA61A-751D-374E-93CA-DF06A6A935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D17967-42EF-944A-B570-76AFAE6B38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BBCF83-535F-CD4A-A17F-621323AF6A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7C792-3FB8-B84F-8A06-3F30645F4F2E}" type="datetimeFigureOut">
              <a:rPr lang="tr-TR" smtClean="0"/>
              <a:t>22.06.2023</a:t>
            </a:fld>
            <a:endParaRPr lang="tr-T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538CAD-CC8A-D14F-AC24-17B93549C9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931FEE-E176-6442-81B5-2059FBBF06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4B8B9-1140-BE42-995C-B46DAC8ED5E4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7160132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19F90D-ADA0-A94A-AD20-EBB4FFA36B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D6A1CD-E161-BE4B-B244-7065E0F4E9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05800E-559A-4440-A518-EE5B78D3BA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897E268-9F90-6D4E-92A4-68AB3FF8D5D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DC4BCED-0470-7744-A950-ACB8BF50E7C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0D1FE84-DC18-104B-9CB0-FA23414825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7C792-3FB8-B84F-8A06-3F30645F4F2E}" type="datetimeFigureOut">
              <a:rPr lang="tr-TR" smtClean="0"/>
              <a:t>22.06.2023</a:t>
            </a:fld>
            <a:endParaRPr lang="tr-T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39B30F5-B86E-6145-97BE-4C9420E9A9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8CE2B5D-9393-CF45-AE89-EDB027D4F9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4B8B9-1140-BE42-995C-B46DAC8ED5E4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6024221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60EA29-1C13-5743-AF49-0EBDCC84AE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BB3CBF5-2647-3A44-9956-405CE55124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7C792-3FB8-B84F-8A06-3F30645F4F2E}" type="datetimeFigureOut">
              <a:rPr lang="tr-TR" smtClean="0"/>
              <a:t>22.06.2023</a:t>
            </a:fld>
            <a:endParaRPr lang="tr-T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476F95D-DBFF-EA46-9D29-EEFF4A4FA9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C01015-B040-E342-8F37-2DF6E7BA62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4B8B9-1140-BE42-995C-B46DAC8ED5E4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0394425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5DC3CDE-9278-D04F-BD1A-05E840A885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7C792-3FB8-B84F-8A06-3F30645F4F2E}" type="datetimeFigureOut">
              <a:rPr lang="tr-TR" smtClean="0"/>
              <a:t>22.06.2023</a:t>
            </a:fld>
            <a:endParaRPr lang="tr-T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3AAA663-5E10-554D-8C41-FB4FC67783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2A8812-C74A-6844-81B4-9ADD118F3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4B8B9-1140-BE42-995C-B46DAC8ED5E4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9126681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6D8969-3044-FE43-AABA-6A09006F3D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25215C-08EF-CC4F-B8E3-DB92AE224F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8214CC-B89C-8947-913B-E076E36AF1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A27C77-8173-D441-A0F5-A8E0877885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7C792-3FB8-B84F-8A06-3F30645F4F2E}" type="datetimeFigureOut">
              <a:rPr lang="tr-TR" smtClean="0"/>
              <a:t>22.06.2023</a:t>
            </a:fld>
            <a:endParaRPr lang="tr-T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18E3FA-997D-AA41-A335-6D6F0AF24E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B92927-A04B-BE42-9BAC-EB1941A821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4B8B9-1140-BE42-995C-B46DAC8ED5E4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9820427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B33D59-B140-6B41-A570-399CA5C30F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B730A7-4B0C-E04C-88BB-1F5783F977F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CD580AB-4FC2-D046-9061-CD0C0C5523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515A85-4A63-824C-A52B-C7300CCCFB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7C792-3FB8-B84F-8A06-3F30645F4F2E}" type="datetimeFigureOut">
              <a:rPr lang="tr-TR" smtClean="0"/>
              <a:t>22.06.2023</a:t>
            </a:fld>
            <a:endParaRPr lang="tr-T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C0A2CB-A8E4-C340-817B-404832502D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FB3F95-D0DE-9549-8AD9-EDDF9DF17F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4B8B9-1140-BE42-995C-B46DAC8ED5E4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9887448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1CAFA5-0794-F041-81F2-E756850660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B6EC8EC-92A5-964B-B6AC-35D8CCDC4D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FD23F7-7DA0-0146-A8BC-40B870D91F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7C792-3FB8-B84F-8A06-3F30645F4F2E}" type="datetimeFigureOut">
              <a:rPr lang="tr-TR" smtClean="0"/>
              <a:t>22.06.2023</a:t>
            </a:fld>
            <a:endParaRPr lang="tr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57D786-1B06-DC4C-931F-F0B8C6E6EF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A3A622-7192-EC42-925B-DBF448792C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4B8B9-1140-BE42-995C-B46DAC8ED5E4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2709707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3268C3A-A9E9-584C-ABD2-3C211051CE8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B30921-49F2-1542-BB59-4B59AD83B0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613990-96CC-9944-8656-6D18B2345A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7C792-3FB8-B84F-8A06-3F30645F4F2E}" type="datetimeFigureOut">
              <a:rPr lang="tr-TR" smtClean="0"/>
              <a:t>22.06.2023</a:t>
            </a:fld>
            <a:endParaRPr lang="tr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A6191A-4C93-564F-90DA-9AD4658FF5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F8268C-F6C6-EF42-B9C4-5876CF5466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4B8B9-1140-BE42-995C-B46DAC8ED5E4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9308210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87FD02E-307B-E842-B39B-60ABE4E01A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6751BD-46DA-7D47-B8FF-0A283C3436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1D1DCD-6BE7-4544-B22A-F5A70699DCF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27C792-3FB8-B84F-8A06-3F30645F4F2E}" type="datetimeFigureOut">
              <a:rPr lang="tr-TR" smtClean="0"/>
              <a:t>22.06.2023</a:t>
            </a:fld>
            <a:endParaRPr lang="tr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947FCB-D6FA-D649-B0FE-797FA58ED4D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5C6590-3037-B84B-A16A-233B1F72492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C4B8B9-1140-BE42-995C-B46DAC8ED5E4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4377124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D1FEB0-6A14-0841-87D7-8E8E728CC31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tr-TR" dirty="0"/>
              <a:t>CSE40</a:t>
            </a:r>
            <a:r>
              <a:rPr lang="en-US" dirty="0"/>
              <a:t>78</a:t>
            </a:r>
            <a:r>
              <a:rPr lang="tr-TR" dirty="0"/>
              <a:t> Introduction to NLP </a:t>
            </a:r>
            <a:br>
              <a:rPr lang="tr-TR" dirty="0"/>
            </a:br>
            <a:r>
              <a:rPr lang="tr-TR" dirty="0"/>
              <a:t>Spring 202</a:t>
            </a:r>
            <a:r>
              <a:rPr lang="en-US" dirty="0"/>
              <a:t>3</a:t>
            </a:r>
            <a:endParaRPr lang="tr-TR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D22A5DA-2BE2-7548-B1C5-639FE7A06BB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FINAL</a:t>
            </a:r>
            <a:r>
              <a:rPr lang="tr-TR" dirty="0" smtClean="0"/>
              <a:t> </a:t>
            </a:r>
            <a:r>
              <a:rPr lang="tr-TR" dirty="0"/>
              <a:t>EXAM</a:t>
            </a:r>
          </a:p>
        </p:txBody>
      </p:sp>
    </p:spTree>
    <p:extLst>
      <p:ext uri="{BB962C8B-B14F-4D97-AF65-F5344CB8AC3E}">
        <p14:creationId xmlns:p14="http://schemas.microsoft.com/office/powerpoint/2010/main" val="40722168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sz="7200" b="1" dirty="0"/>
              <a:t>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78820"/>
            <a:ext cx="10515600" cy="4598143"/>
          </a:xfrm>
        </p:spPr>
        <p:txBody>
          <a:bodyPr>
            <a:noAutofit/>
          </a:bodyPr>
          <a:lstStyle/>
          <a:p>
            <a:r>
              <a:rPr lang="tr-TR" sz="3600" b="1" dirty="0"/>
              <a:t>Session 1</a:t>
            </a:r>
          </a:p>
          <a:p>
            <a:pPr lvl="1"/>
            <a:r>
              <a:rPr lang="tr-TR" sz="3200" dirty="0"/>
              <a:t>Start 15:</a:t>
            </a:r>
            <a:r>
              <a:rPr lang="en-US" sz="3200" dirty="0"/>
              <a:t>0</a:t>
            </a:r>
            <a:r>
              <a:rPr lang="tr-TR" sz="3200" dirty="0"/>
              <a:t>0</a:t>
            </a:r>
          </a:p>
          <a:p>
            <a:pPr lvl="1"/>
            <a:r>
              <a:rPr lang="tr-TR" sz="3200" dirty="0" err="1"/>
              <a:t>End</a:t>
            </a:r>
            <a:r>
              <a:rPr lang="tr-TR" sz="3200" dirty="0"/>
              <a:t> 1</a:t>
            </a:r>
            <a:r>
              <a:rPr lang="en-US" sz="3200" dirty="0"/>
              <a:t>5</a:t>
            </a:r>
            <a:r>
              <a:rPr lang="tr-TR" sz="3200" dirty="0"/>
              <a:t>:</a:t>
            </a:r>
            <a:r>
              <a:rPr lang="en-US" sz="3200" dirty="0"/>
              <a:t>50</a:t>
            </a:r>
            <a:endParaRPr lang="tr-TR" sz="3200" dirty="0"/>
          </a:p>
          <a:p>
            <a:pPr lvl="1"/>
            <a:r>
              <a:rPr lang="tr-TR" sz="3200" dirty="0"/>
              <a:t>Upload to ues.marmara.edu.tr in 1</a:t>
            </a:r>
            <a:r>
              <a:rPr lang="en-US" sz="3200" dirty="0"/>
              <a:t>0</a:t>
            </a:r>
            <a:r>
              <a:rPr lang="tr-TR" sz="3200" dirty="0"/>
              <a:t> minutes </a:t>
            </a:r>
            <a:r>
              <a:rPr lang="tr-TR" sz="3200" dirty="0" err="1"/>
              <a:t>by</a:t>
            </a:r>
            <a:r>
              <a:rPr lang="tr-TR" sz="3200" dirty="0"/>
              <a:t> 1</a:t>
            </a:r>
            <a:r>
              <a:rPr lang="en-US" sz="3200" dirty="0"/>
              <a:t>6</a:t>
            </a:r>
            <a:r>
              <a:rPr lang="tr-TR" sz="3200" dirty="0"/>
              <a:t>:</a:t>
            </a:r>
            <a:r>
              <a:rPr lang="en-US" sz="3200" dirty="0"/>
              <a:t>00</a:t>
            </a:r>
            <a:endParaRPr lang="tr-TR" sz="3200" dirty="0"/>
          </a:p>
          <a:p>
            <a:r>
              <a:rPr lang="tr-TR" sz="3600" b="1" dirty="0"/>
              <a:t>Session 2</a:t>
            </a:r>
          </a:p>
          <a:p>
            <a:pPr lvl="1"/>
            <a:r>
              <a:rPr lang="tr-TR" sz="3200" dirty="0"/>
              <a:t>Start 16:</a:t>
            </a:r>
            <a:r>
              <a:rPr lang="en-US" sz="3200" dirty="0"/>
              <a:t>00</a:t>
            </a:r>
            <a:endParaRPr lang="tr-TR" sz="3200" dirty="0"/>
          </a:p>
          <a:p>
            <a:pPr lvl="1"/>
            <a:r>
              <a:rPr lang="tr-TR" sz="3200" dirty="0" err="1"/>
              <a:t>End</a:t>
            </a:r>
            <a:r>
              <a:rPr lang="tr-TR" sz="3200" dirty="0"/>
              <a:t> 1</a:t>
            </a:r>
            <a:r>
              <a:rPr lang="en-US" sz="3200" dirty="0"/>
              <a:t>6</a:t>
            </a:r>
            <a:r>
              <a:rPr lang="tr-TR" sz="3200" dirty="0"/>
              <a:t>:</a:t>
            </a:r>
            <a:r>
              <a:rPr lang="en-US" sz="3200" dirty="0"/>
              <a:t>4</a:t>
            </a:r>
            <a:r>
              <a:rPr lang="tr-TR" sz="3200" dirty="0"/>
              <a:t>5</a:t>
            </a:r>
          </a:p>
          <a:p>
            <a:pPr lvl="1"/>
            <a:r>
              <a:rPr lang="tr-TR" sz="3200" dirty="0"/>
              <a:t>Upload to ues.marmara.edu.tr in 1</a:t>
            </a:r>
            <a:r>
              <a:rPr lang="en-US" sz="3200" dirty="0"/>
              <a:t>0</a:t>
            </a:r>
            <a:r>
              <a:rPr lang="tr-TR" sz="3200" dirty="0"/>
              <a:t> minutes </a:t>
            </a:r>
            <a:r>
              <a:rPr lang="tr-TR" sz="3200" dirty="0" err="1"/>
              <a:t>by</a:t>
            </a:r>
            <a:r>
              <a:rPr lang="tr-TR" sz="3200" dirty="0"/>
              <a:t> 1</a:t>
            </a:r>
            <a:r>
              <a:rPr lang="en-US" sz="3200" dirty="0"/>
              <a:t>6</a:t>
            </a:r>
            <a:r>
              <a:rPr lang="tr-TR" sz="3200" dirty="0"/>
              <a:t>:</a:t>
            </a:r>
            <a:r>
              <a:rPr lang="en-US" sz="3200" dirty="0"/>
              <a:t>55</a:t>
            </a:r>
            <a:endParaRPr lang="tr-TR" sz="3200" dirty="0"/>
          </a:p>
          <a:p>
            <a:r>
              <a:rPr lang="tr-TR" sz="3600" dirty="0"/>
              <a:t>Each question is 25 points. </a:t>
            </a:r>
          </a:p>
          <a:p>
            <a:pPr marL="0" indent="0">
              <a:buNone/>
            </a:pPr>
            <a:endParaRPr lang="tr-TR" sz="3600" dirty="0"/>
          </a:p>
        </p:txBody>
      </p:sp>
    </p:spTree>
    <p:extLst>
      <p:ext uri="{BB962C8B-B14F-4D97-AF65-F5344CB8AC3E}">
        <p14:creationId xmlns:p14="http://schemas.microsoft.com/office/powerpoint/2010/main" val="10171535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Ethical 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1600" y="1231900"/>
            <a:ext cx="11893550" cy="5467350"/>
          </a:xfrm>
        </p:spPr>
        <p:txBody>
          <a:bodyPr>
            <a:normAutofit/>
          </a:bodyPr>
          <a:lstStyle/>
          <a:p>
            <a:r>
              <a:rPr lang="en-US" sz="3600" dirty="0"/>
              <a:t>You need to write your full name, your number, class code and date – time on the top of all of your answer papers. </a:t>
            </a:r>
          </a:p>
          <a:p>
            <a:r>
              <a:rPr lang="en-US" sz="3600" dirty="0"/>
              <a:t>In the first page, after writing </a:t>
            </a:r>
            <a:r>
              <a:rPr lang="tr-TR" sz="3600" dirty="0"/>
              <a:t>your name and number</a:t>
            </a:r>
            <a:r>
              <a:rPr lang="en-US" sz="3600" dirty="0"/>
              <a:t> please write the following statement and sign: </a:t>
            </a:r>
            <a:r>
              <a:rPr lang="en-US" sz="3600" i="1" dirty="0"/>
              <a:t>“</a:t>
            </a:r>
            <a:r>
              <a:rPr lang="en-US" sz="3600" b="1" i="1" dirty="0"/>
              <a:t>I am aware that any forms of cheating in this exam will result in a zero grade and a disciplinary investigation. I accept all rules and regulations regarding online exams. I give permission for the processing of my personal data as stated in the Clarification Text provided on the Faculty of Engineering website</a:t>
            </a:r>
            <a:r>
              <a:rPr lang="en-US" sz="3600" i="1" dirty="0"/>
              <a:t>”</a:t>
            </a:r>
            <a:endParaRPr lang="tr-TR" sz="3600" dirty="0"/>
          </a:p>
        </p:txBody>
      </p:sp>
    </p:spTree>
    <p:extLst>
      <p:ext uri="{BB962C8B-B14F-4D97-AF65-F5344CB8AC3E}">
        <p14:creationId xmlns:p14="http://schemas.microsoft.com/office/powerpoint/2010/main" val="10888371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tr-TR" sz="11500" b="1" dirty="0"/>
              <a:t>SESSION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tr-TR" sz="6000" dirty="0"/>
              <a:t>Start </a:t>
            </a:r>
            <a:r>
              <a:rPr lang="tr-TR" sz="6000" b="1" dirty="0"/>
              <a:t>15:10</a:t>
            </a:r>
          </a:p>
          <a:p>
            <a:r>
              <a:rPr lang="tr-TR" sz="6000" dirty="0"/>
              <a:t>End </a:t>
            </a:r>
            <a:r>
              <a:rPr lang="tr-TR" sz="6000" b="1" dirty="0"/>
              <a:t>16:00</a:t>
            </a:r>
          </a:p>
          <a:p>
            <a:r>
              <a:rPr lang="tr-TR" sz="6000" dirty="0"/>
              <a:t>Upload to ues.marmara.edu.tr in </a:t>
            </a:r>
            <a:r>
              <a:rPr lang="tr-TR" sz="6000" dirty="0" smtClean="0"/>
              <a:t>1</a:t>
            </a:r>
            <a:r>
              <a:rPr lang="en-US" sz="6000" dirty="0" smtClean="0"/>
              <a:t>0</a:t>
            </a:r>
            <a:r>
              <a:rPr lang="tr-TR" sz="6000" dirty="0" smtClean="0"/>
              <a:t> </a:t>
            </a:r>
            <a:r>
              <a:rPr lang="tr-TR" sz="6000" dirty="0"/>
              <a:t>minutes </a:t>
            </a:r>
            <a:r>
              <a:rPr lang="tr-TR" sz="6000" dirty="0" err="1"/>
              <a:t>by</a:t>
            </a:r>
            <a:r>
              <a:rPr lang="tr-TR" sz="6000" dirty="0"/>
              <a:t> </a:t>
            </a:r>
            <a:r>
              <a:rPr lang="tr-TR" sz="6000" b="1" dirty="0" smtClean="0"/>
              <a:t>16:1</a:t>
            </a:r>
            <a:r>
              <a:rPr lang="en-US" sz="6000" b="1" dirty="0" smtClean="0"/>
              <a:t>0</a:t>
            </a:r>
            <a:endParaRPr lang="tr-TR" sz="6000" b="1" dirty="0"/>
          </a:p>
        </p:txBody>
      </p:sp>
    </p:spTree>
    <p:extLst>
      <p:ext uri="{BB962C8B-B14F-4D97-AF65-F5344CB8AC3E}">
        <p14:creationId xmlns:p14="http://schemas.microsoft.com/office/powerpoint/2010/main" val="28286991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1568" y="217088"/>
            <a:ext cx="11952985" cy="6532368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sz="7200" b="1" dirty="0" smtClean="0"/>
              <a:t>1) A </a:t>
            </a:r>
            <a:r>
              <a:rPr lang="en-US" sz="7200" b="1" dirty="0"/>
              <a:t>logistic regression model is trained and weight vector w is [-3, -1.1, 0.2, -0.8, 0.3, -1.2, 0.3, -0.3, 4.3, 1, 0.1] for </a:t>
            </a:r>
            <a:r>
              <a:rPr lang="en-US" sz="7200" b="1" dirty="0" smtClean="0"/>
              <a:t>vocabulary [pathetic, worst, part, boxing, scenes, no, plot, twists, great, satire, film</a:t>
            </a:r>
            <a:r>
              <a:rPr lang="en-US" sz="7200" b="1" dirty="0"/>
              <a:t>] and b=0.1. </a:t>
            </a:r>
            <a:r>
              <a:rPr lang="en-US" sz="7200" b="1" dirty="0" smtClean="0"/>
              <a:t>Classify given documents </a:t>
            </a:r>
            <a:r>
              <a:rPr lang="en-US" sz="7200" b="1" dirty="0"/>
              <a:t>using this model (p&gt;0.5 is positive). Show your calculations.</a:t>
            </a:r>
          </a:p>
          <a:p>
            <a:pPr marL="0" indent="0">
              <a:buNone/>
            </a:pPr>
            <a:r>
              <a:rPr lang="en-US" sz="7200" b="1" dirty="0" smtClean="0"/>
              <a:t>D1-“</a:t>
            </a:r>
            <a:r>
              <a:rPr lang="en-US" sz="7200" b="1" dirty="0"/>
              <a:t>it was pathetic the worst part was </a:t>
            </a:r>
            <a:r>
              <a:rPr lang="en-US" sz="7200" b="1" dirty="0" smtClean="0"/>
              <a:t>boxing </a:t>
            </a:r>
            <a:r>
              <a:rPr lang="en-US" sz="7200" b="1" dirty="0"/>
              <a:t>scenes”           </a:t>
            </a:r>
            <a:endParaRPr lang="en-US" sz="7200" b="1" dirty="0" smtClean="0"/>
          </a:p>
          <a:p>
            <a:pPr marL="0" indent="0">
              <a:buNone/>
            </a:pPr>
            <a:r>
              <a:rPr lang="en-US" sz="7200" b="1" dirty="0" smtClean="0"/>
              <a:t>D2- </a:t>
            </a:r>
            <a:r>
              <a:rPr lang="en-US" sz="7200" b="1" dirty="0"/>
              <a:t>“it is no pathetic, actually it is great”         </a:t>
            </a:r>
            <a:endParaRPr lang="en-US" sz="7200" b="1" dirty="0" smtClean="0"/>
          </a:p>
          <a:p>
            <a:pPr marL="0" indent="0">
              <a:buNone/>
            </a:pPr>
            <a:r>
              <a:rPr lang="en-US" sz="7200" b="1" dirty="0" smtClean="0"/>
              <a:t>D3- </a:t>
            </a:r>
            <a:r>
              <a:rPr lang="en-US" sz="7200" b="1" dirty="0"/>
              <a:t>“no plot twists or great scenes”      </a:t>
            </a:r>
            <a:endParaRPr lang="en-US" sz="7200" b="1" dirty="0" smtClean="0"/>
          </a:p>
          <a:p>
            <a:pPr marL="0" indent="0">
              <a:buNone/>
            </a:pPr>
            <a:r>
              <a:rPr lang="en-US" sz="7200" b="1" dirty="0" smtClean="0"/>
              <a:t>2) Explain key differences </a:t>
            </a:r>
            <a:r>
              <a:rPr lang="en-US" sz="7200" b="1" dirty="0"/>
              <a:t>between the attention mechanism in LSTM and </a:t>
            </a:r>
            <a:r>
              <a:rPr lang="en-US" sz="7200" b="1" dirty="0" smtClean="0"/>
              <a:t>Transformers (self-attention).</a:t>
            </a:r>
            <a:endParaRPr lang="en-US" sz="7200" b="1" dirty="0"/>
          </a:p>
          <a:p>
            <a:pPr marL="0" indent="0">
              <a:buNone/>
            </a:pPr>
            <a:endParaRPr lang="en-US" sz="7200" b="1" dirty="0"/>
          </a:p>
          <a:p>
            <a:pPr marL="0" indent="0">
              <a:buNone/>
            </a:pPr>
            <a:endParaRPr lang="tr-TR" sz="7200" b="1" dirty="0"/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solidFill>
            <a:srgbClr val="34354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Söhne"/>
              </a:rPr>
              <a:t>explain the difference between the attention mechanism in LSTM and transformers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Söhne"/>
              </a:rPr>
              <a:t/>
            </a:r>
            <a:br>
              <a:rPr kumimoji="0" lang="en-US" altLang="en-US" sz="1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Söhne"/>
              </a:rPr>
            </a:b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22218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9550" y="95250"/>
            <a:ext cx="11144250" cy="661670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 smtClean="0">
                <a:solidFill>
                  <a:srgbClr val="FF0000"/>
                </a:solidFill>
              </a:rPr>
              <a:t>Q1)</a:t>
            </a:r>
            <a:r>
              <a:rPr lang="en-US" sz="2200" dirty="0" smtClean="0">
                <a:solidFill>
                  <a:srgbClr val="FF0000"/>
                </a:solidFill>
              </a:rPr>
              <a:t>V=["</a:t>
            </a:r>
            <a:r>
              <a:rPr lang="en-US" sz="2200" dirty="0">
                <a:solidFill>
                  <a:srgbClr val="FF0000"/>
                </a:solidFill>
              </a:rPr>
              <a:t>pathetic", "worst", "part", "boxing", "scenes", "no", "plot", "twists", "great", "satire", "film"]</a:t>
            </a:r>
            <a:endParaRPr lang="en-US" sz="2200" dirty="0" smtClean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dirty="0" smtClean="0">
                <a:solidFill>
                  <a:srgbClr val="FF0000"/>
                </a:solidFill>
              </a:rPr>
              <a:t>w </a:t>
            </a:r>
            <a:r>
              <a:rPr lang="en-US" dirty="0">
                <a:solidFill>
                  <a:srgbClr val="FF0000"/>
                </a:solidFill>
              </a:rPr>
              <a:t>= </a:t>
            </a:r>
            <a:r>
              <a:rPr lang="en-US" dirty="0" smtClean="0">
                <a:solidFill>
                  <a:srgbClr val="FF0000"/>
                </a:solidFill>
              </a:rPr>
              <a:t>[       -</a:t>
            </a:r>
            <a:r>
              <a:rPr lang="en-US" dirty="0">
                <a:solidFill>
                  <a:srgbClr val="FF0000"/>
                </a:solidFill>
              </a:rPr>
              <a:t>3, </a:t>
            </a:r>
            <a:r>
              <a:rPr lang="en-US" dirty="0" smtClean="0">
                <a:solidFill>
                  <a:srgbClr val="FF0000"/>
                </a:solidFill>
              </a:rPr>
              <a:t>         -</a:t>
            </a:r>
            <a:r>
              <a:rPr lang="en-US" dirty="0">
                <a:solidFill>
                  <a:srgbClr val="FF0000"/>
                </a:solidFill>
              </a:rPr>
              <a:t>1.1, </a:t>
            </a:r>
            <a:r>
              <a:rPr lang="en-US" dirty="0" smtClean="0">
                <a:solidFill>
                  <a:srgbClr val="FF0000"/>
                </a:solidFill>
              </a:rPr>
              <a:t>    0.2</a:t>
            </a:r>
            <a:r>
              <a:rPr lang="en-US" dirty="0">
                <a:solidFill>
                  <a:srgbClr val="FF0000"/>
                </a:solidFill>
              </a:rPr>
              <a:t>, </a:t>
            </a:r>
            <a:r>
              <a:rPr lang="en-US" dirty="0" smtClean="0">
                <a:solidFill>
                  <a:srgbClr val="FF0000"/>
                </a:solidFill>
              </a:rPr>
              <a:t> -</a:t>
            </a:r>
            <a:r>
              <a:rPr lang="en-US" dirty="0">
                <a:solidFill>
                  <a:srgbClr val="FF0000"/>
                </a:solidFill>
              </a:rPr>
              <a:t>0.8, </a:t>
            </a:r>
            <a:r>
              <a:rPr lang="en-US" dirty="0" smtClean="0">
                <a:solidFill>
                  <a:srgbClr val="FF0000"/>
                </a:solidFill>
              </a:rPr>
              <a:t>      0.3</a:t>
            </a:r>
            <a:r>
              <a:rPr lang="en-US" dirty="0">
                <a:solidFill>
                  <a:srgbClr val="FF0000"/>
                </a:solidFill>
              </a:rPr>
              <a:t>, </a:t>
            </a:r>
            <a:r>
              <a:rPr lang="en-US" dirty="0" smtClean="0">
                <a:solidFill>
                  <a:srgbClr val="FF0000"/>
                </a:solidFill>
              </a:rPr>
              <a:t> -</a:t>
            </a:r>
            <a:r>
              <a:rPr lang="en-US" dirty="0">
                <a:solidFill>
                  <a:srgbClr val="FF0000"/>
                </a:solidFill>
              </a:rPr>
              <a:t>1.2, </a:t>
            </a:r>
            <a:r>
              <a:rPr lang="en-US" dirty="0" smtClean="0">
                <a:solidFill>
                  <a:srgbClr val="FF0000"/>
                </a:solidFill>
              </a:rPr>
              <a:t> 0.3</a:t>
            </a:r>
            <a:r>
              <a:rPr lang="en-US" dirty="0">
                <a:solidFill>
                  <a:srgbClr val="FF0000"/>
                </a:solidFill>
              </a:rPr>
              <a:t>, </a:t>
            </a:r>
            <a:r>
              <a:rPr lang="en-US" dirty="0" smtClean="0">
                <a:solidFill>
                  <a:srgbClr val="FF0000"/>
                </a:solidFill>
              </a:rPr>
              <a:t> -</a:t>
            </a:r>
            <a:r>
              <a:rPr lang="en-US" dirty="0">
                <a:solidFill>
                  <a:srgbClr val="FF0000"/>
                </a:solidFill>
              </a:rPr>
              <a:t>0.3, </a:t>
            </a:r>
            <a:r>
              <a:rPr lang="en-US" dirty="0" smtClean="0">
                <a:solidFill>
                  <a:srgbClr val="FF0000"/>
                </a:solidFill>
              </a:rPr>
              <a:t>    4.3</a:t>
            </a:r>
            <a:r>
              <a:rPr lang="en-US" dirty="0">
                <a:solidFill>
                  <a:srgbClr val="FF0000"/>
                </a:solidFill>
              </a:rPr>
              <a:t>, </a:t>
            </a:r>
            <a:r>
              <a:rPr lang="en-US" dirty="0" smtClean="0">
                <a:solidFill>
                  <a:srgbClr val="FF0000"/>
                </a:solidFill>
              </a:rPr>
              <a:t>     1</a:t>
            </a:r>
            <a:r>
              <a:rPr lang="en-US" dirty="0">
                <a:solidFill>
                  <a:srgbClr val="FF0000"/>
                </a:solidFill>
              </a:rPr>
              <a:t>, </a:t>
            </a:r>
            <a:r>
              <a:rPr lang="en-US" dirty="0" smtClean="0">
                <a:solidFill>
                  <a:srgbClr val="FF0000"/>
                </a:solidFill>
              </a:rPr>
              <a:t>   0.1</a:t>
            </a:r>
            <a:r>
              <a:rPr lang="en-US" dirty="0" smtClean="0">
                <a:solidFill>
                  <a:srgbClr val="FF0000"/>
                </a:solidFill>
              </a:rPr>
              <a:t>] </a:t>
            </a:r>
            <a:r>
              <a:rPr lang="en-US" dirty="0" smtClean="0">
                <a:solidFill>
                  <a:srgbClr val="FF0000"/>
                </a:solidFill>
              </a:rPr>
              <a:t>b=0.1  </a:t>
            </a:r>
            <a:endParaRPr lang="en-US" dirty="0" smtClean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D1:  “it was </a:t>
            </a:r>
            <a:r>
              <a:rPr lang="en-US" u="sng" dirty="0">
                <a:solidFill>
                  <a:srgbClr val="FF0000"/>
                </a:solidFill>
              </a:rPr>
              <a:t>pathetic</a:t>
            </a:r>
            <a:r>
              <a:rPr lang="en-US" dirty="0">
                <a:solidFill>
                  <a:srgbClr val="FF0000"/>
                </a:solidFill>
              </a:rPr>
              <a:t> the </a:t>
            </a:r>
            <a:r>
              <a:rPr lang="en-US" u="sng" dirty="0">
                <a:solidFill>
                  <a:srgbClr val="FF0000"/>
                </a:solidFill>
              </a:rPr>
              <a:t>worst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u="sng" dirty="0">
                <a:solidFill>
                  <a:srgbClr val="FF0000"/>
                </a:solidFill>
              </a:rPr>
              <a:t>part</a:t>
            </a:r>
            <a:r>
              <a:rPr lang="en-US" dirty="0">
                <a:solidFill>
                  <a:srgbClr val="FF0000"/>
                </a:solidFill>
              </a:rPr>
              <a:t> was </a:t>
            </a:r>
            <a:r>
              <a:rPr lang="en-US" u="sng" dirty="0">
                <a:solidFill>
                  <a:srgbClr val="FF0000"/>
                </a:solidFill>
              </a:rPr>
              <a:t>boxing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u="sng" dirty="0">
                <a:solidFill>
                  <a:srgbClr val="FF0000"/>
                </a:solidFill>
              </a:rPr>
              <a:t>scenes</a:t>
            </a:r>
            <a:r>
              <a:rPr lang="en-US" dirty="0" smtClean="0">
                <a:solidFill>
                  <a:srgbClr val="FF0000"/>
                </a:solidFill>
              </a:rPr>
              <a:t>” </a:t>
            </a:r>
            <a:r>
              <a:rPr lang="en-US" b="1" dirty="0" smtClean="0">
                <a:solidFill>
                  <a:srgbClr val="FF0000"/>
                </a:solidFill>
              </a:rPr>
              <a:t>x </a:t>
            </a:r>
            <a:r>
              <a:rPr lang="en-US" b="1" dirty="0">
                <a:solidFill>
                  <a:srgbClr val="FF0000"/>
                </a:solidFill>
              </a:rPr>
              <a:t>= [</a:t>
            </a:r>
            <a:r>
              <a:rPr lang="en-US" b="1" dirty="0" smtClean="0">
                <a:solidFill>
                  <a:srgbClr val="FF0000"/>
                </a:solidFill>
              </a:rPr>
              <a:t>1,1,1,1,1,0,0,0,0,0,0</a:t>
            </a:r>
            <a:r>
              <a:rPr lang="en-US" b="1" dirty="0">
                <a:solidFill>
                  <a:srgbClr val="FF0000"/>
                </a:solidFill>
              </a:rPr>
              <a:t>]</a:t>
            </a:r>
          </a:p>
          <a:p>
            <a:pPr marL="0" indent="0">
              <a:buNone/>
            </a:pPr>
            <a:r>
              <a:rPr lang="en-US" dirty="0" smtClean="0">
                <a:solidFill>
                  <a:srgbClr val="FF0000"/>
                </a:solidFill>
              </a:rPr>
              <a:t>y </a:t>
            </a:r>
            <a:r>
              <a:rPr lang="en-US" dirty="0">
                <a:solidFill>
                  <a:srgbClr val="FF0000"/>
                </a:solidFill>
              </a:rPr>
              <a:t>= </a:t>
            </a:r>
            <a:r>
              <a:rPr lang="en-US" b="1" dirty="0">
                <a:solidFill>
                  <a:srgbClr val="FF0000"/>
                </a:solidFill>
              </a:rPr>
              <a:t>(-3 * 1) + (-1.1 * 1) + (0.2 * 1) + (-0.8 * 1) + (0.3 * 1) </a:t>
            </a:r>
            <a:r>
              <a:rPr lang="en-US" dirty="0">
                <a:solidFill>
                  <a:srgbClr val="FF0000"/>
                </a:solidFill>
              </a:rPr>
              <a:t>+ (-1.2 * 0) + (0.3 * 0) + (-0.3 * 0) + (4.3 * 0) + (1 * 0) + (0.1 * 0) + 0.1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  = -3 - 1.1 + 0.2 - 0.8 + </a:t>
            </a:r>
            <a:r>
              <a:rPr lang="en-US" dirty="0" smtClean="0">
                <a:solidFill>
                  <a:srgbClr val="FF0000"/>
                </a:solidFill>
              </a:rPr>
              <a:t>0.3 + 0.1   </a:t>
            </a:r>
            <a:r>
              <a:rPr lang="en-US" dirty="0">
                <a:solidFill>
                  <a:srgbClr val="FF0000"/>
                </a:solidFill>
              </a:rPr>
              <a:t>= -</a:t>
            </a:r>
            <a:r>
              <a:rPr lang="en-US" dirty="0" smtClean="0">
                <a:solidFill>
                  <a:srgbClr val="FF0000"/>
                </a:solidFill>
              </a:rPr>
              <a:t>4.3</a:t>
            </a:r>
            <a:endParaRPr lang="en-US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dirty="0" smtClean="0">
                <a:solidFill>
                  <a:srgbClr val="FF0000"/>
                </a:solidFill>
              </a:rPr>
              <a:t>p </a:t>
            </a:r>
            <a:r>
              <a:rPr lang="en-US" dirty="0">
                <a:solidFill>
                  <a:srgbClr val="FF0000"/>
                </a:solidFill>
              </a:rPr>
              <a:t>= 1 / (1 + e^(-y)) = 1 / (1 + e^(-(-</a:t>
            </a:r>
            <a:r>
              <a:rPr lang="en-US" dirty="0" smtClean="0">
                <a:solidFill>
                  <a:srgbClr val="FF0000"/>
                </a:solidFill>
              </a:rPr>
              <a:t>4.3)))  </a:t>
            </a:r>
            <a:r>
              <a:rPr lang="en-US" dirty="0">
                <a:solidFill>
                  <a:srgbClr val="FF0000"/>
                </a:solidFill>
              </a:rPr>
              <a:t>≈ </a:t>
            </a:r>
            <a:r>
              <a:rPr lang="en-US" b="1" dirty="0" smtClean="0">
                <a:solidFill>
                  <a:srgbClr val="FF0000"/>
                </a:solidFill>
              </a:rPr>
              <a:t>0.0134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smtClean="0">
                <a:solidFill>
                  <a:srgbClr val="FF0000"/>
                </a:solidFill>
              </a:rPr>
              <a:t>&lt; 0.5</a:t>
            </a:r>
            <a:r>
              <a:rPr lang="en-US" b="1" dirty="0" smtClean="0">
                <a:solidFill>
                  <a:srgbClr val="FF0000"/>
                </a:solidFill>
              </a:rPr>
              <a:t>  Negative</a:t>
            </a:r>
            <a:r>
              <a:rPr lang="en-US" dirty="0">
                <a:solidFill>
                  <a:srgbClr val="FF0000"/>
                </a:solidFill>
              </a:rPr>
              <a:t>.</a:t>
            </a:r>
          </a:p>
          <a:p>
            <a:pPr marL="0" indent="0">
              <a:buNone/>
            </a:pPr>
            <a:r>
              <a:rPr lang="en-US" dirty="0" smtClean="0">
                <a:solidFill>
                  <a:srgbClr val="FF0000"/>
                </a:solidFill>
              </a:rPr>
              <a:t>D2: </a:t>
            </a:r>
            <a:r>
              <a:rPr lang="en-US" dirty="0">
                <a:solidFill>
                  <a:srgbClr val="FF0000"/>
                </a:solidFill>
              </a:rPr>
              <a:t>"it is </a:t>
            </a:r>
            <a:r>
              <a:rPr lang="en-US" u="sng" dirty="0" smtClean="0">
                <a:solidFill>
                  <a:srgbClr val="FF0000"/>
                </a:solidFill>
              </a:rPr>
              <a:t>no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u="sng" dirty="0">
                <a:solidFill>
                  <a:srgbClr val="FF0000"/>
                </a:solidFill>
              </a:rPr>
              <a:t>pathetic</a:t>
            </a:r>
            <a:r>
              <a:rPr lang="en-US" dirty="0">
                <a:solidFill>
                  <a:srgbClr val="FF0000"/>
                </a:solidFill>
              </a:rPr>
              <a:t>, actually it is </a:t>
            </a:r>
            <a:r>
              <a:rPr lang="en-US" u="sng" dirty="0" smtClean="0">
                <a:solidFill>
                  <a:srgbClr val="FF0000"/>
                </a:solidFill>
              </a:rPr>
              <a:t>great</a:t>
            </a:r>
            <a:r>
              <a:rPr lang="en-US" dirty="0" smtClean="0">
                <a:solidFill>
                  <a:srgbClr val="FF0000"/>
                </a:solidFill>
              </a:rPr>
              <a:t>“ </a:t>
            </a:r>
            <a:r>
              <a:rPr lang="en-US" b="1" dirty="0" smtClean="0">
                <a:solidFill>
                  <a:srgbClr val="FF0000"/>
                </a:solidFill>
              </a:rPr>
              <a:t>x = [1, </a:t>
            </a:r>
            <a:r>
              <a:rPr lang="en-US" b="1" dirty="0">
                <a:solidFill>
                  <a:srgbClr val="FF0000"/>
                </a:solidFill>
              </a:rPr>
              <a:t>0, 0, 0, 0, </a:t>
            </a:r>
            <a:r>
              <a:rPr lang="en-US" b="1" dirty="0">
                <a:solidFill>
                  <a:srgbClr val="FF0000"/>
                </a:solidFill>
              </a:rPr>
              <a:t>1</a:t>
            </a:r>
            <a:r>
              <a:rPr lang="en-US" b="1" dirty="0" smtClean="0">
                <a:solidFill>
                  <a:srgbClr val="FF0000"/>
                </a:solidFill>
              </a:rPr>
              <a:t>, </a:t>
            </a:r>
            <a:r>
              <a:rPr lang="en-US" b="1" dirty="0">
                <a:solidFill>
                  <a:srgbClr val="FF0000"/>
                </a:solidFill>
              </a:rPr>
              <a:t>0, 0, 1, 0, 0]</a:t>
            </a:r>
          </a:p>
          <a:p>
            <a:pPr marL="0" indent="0">
              <a:buNone/>
            </a:pPr>
            <a:r>
              <a:rPr lang="en-US" dirty="0" smtClean="0">
                <a:solidFill>
                  <a:srgbClr val="FF0000"/>
                </a:solidFill>
              </a:rPr>
              <a:t>y </a:t>
            </a:r>
            <a:r>
              <a:rPr lang="en-US" dirty="0">
                <a:solidFill>
                  <a:srgbClr val="FF0000"/>
                </a:solidFill>
              </a:rPr>
              <a:t>= </a:t>
            </a:r>
            <a:r>
              <a:rPr lang="en-US" b="1" dirty="0">
                <a:solidFill>
                  <a:srgbClr val="FF0000"/>
                </a:solidFill>
              </a:rPr>
              <a:t>(-3 * </a:t>
            </a:r>
            <a:r>
              <a:rPr lang="en-US" b="1" dirty="0" smtClean="0">
                <a:solidFill>
                  <a:srgbClr val="FF0000"/>
                </a:solidFill>
              </a:rPr>
              <a:t>1)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>
                <a:solidFill>
                  <a:srgbClr val="FF0000"/>
                </a:solidFill>
              </a:rPr>
              <a:t>+ (-1.1 * 0) + (0.2 * 0) + (-0.8 * 0) + (0.3 * 0) +</a:t>
            </a:r>
            <a:r>
              <a:rPr lang="en-US" b="1" dirty="0">
                <a:solidFill>
                  <a:srgbClr val="FF0000"/>
                </a:solidFill>
              </a:rPr>
              <a:t> (-1.2 * </a:t>
            </a:r>
            <a:r>
              <a:rPr lang="en-US" b="1" dirty="0">
                <a:solidFill>
                  <a:srgbClr val="FF0000"/>
                </a:solidFill>
              </a:rPr>
              <a:t>1</a:t>
            </a:r>
            <a:r>
              <a:rPr lang="en-US" b="1" dirty="0" smtClean="0">
                <a:solidFill>
                  <a:srgbClr val="FF0000"/>
                </a:solidFill>
              </a:rPr>
              <a:t>)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>
                <a:solidFill>
                  <a:srgbClr val="FF0000"/>
                </a:solidFill>
              </a:rPr>
              <a:t>+ (0.3 * 0) + (-0.3 * 0) + </a:t>
            </a:r>
            <a:r>
              <a:rPr lang="en-US" b="1" dirty="0">
                <a:solidFill>
                  <a:srgbClr val="FF0000"/>
                </a:solidFill>
              </a:rPr>
              <a:t>(4.3 * 1)</a:t>
            </a:r>
            <a:r>
              <a:rPr lang="en-US" dirty="0">
                <a:solidFill>
                  <a:srgbClr val="FF0000"/>
                </a:solidFill>
              </a:rPr>
              <a:t> + (1 * 0) + (0.1 * 0) + </a:t>
            </a:r>
            <a:r>
              <a:rPr lang="en-US" dirty="0" smtClean="0">
                <a:solidFill>
                  <a:srgbClr val="FF0000"/>
                </a:solidFill>
              </a:rPr>
              <a:t>0.1   </a:t>
            </a:r>
            <a:r>
              <a:rPr lang="en-US" dirty="0">
                <a:solidFill>
                  <a:srgbClr val="FF0000"/>
                </a:solidFill>
              </a:rPr>
              <a:t>= </a:t>
            </a:r>
            <a:r>
              <a:rPr lang="en-US" dirty="0" smtClean="0">
                <a:solidFill>
                  <a:srgbClr val="FF0000"/>
                </a:solidFill>
              </a:rPr>
              <a:t>-3 </a:t>
            </a:r>
            <a:r>
              <a:rPr lang="en-US" dirty="0" smtClean="0">
                <a:solidFill>
                  <a:srgbClr val="FF0000"/>
                </a:solidFill>
              </a:rPr>
              <a:t>- 1.2 + 4.3 + 0.1   </a:t>
            </a:r>
            <a:r>
              <a:rPr lang="en-US" dirty="0">
                <a:solidFill>
                  <a:srgbClr val="FF0000"/>
                </a:solidFill>
              </a:rPr>
              <a:t>= </a:t>
            </a:r>
            <a:r>
              <a:rPr lang="en-US" dirty="0" smtClean="0">
                <a:solidFill>
                  <a:srgbClr val="FF0000"/>
                </a:solidFill>
              </a:rPr>
              <a:t>0.2</a:t>
            </a:r>
            <a:endParaRPr lang="en-US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dirty="0" smtClean="0">
                <a:solidFill>
                  <a:srgbClr val="FF0000"/>
                </a:solidFill>
              </a:rPr>
              <a:t>p </a:t>
            </a:r>
            <a:r>
              <a:rPr lang="en-US" dirty="0">
                <a:solidFill>
                  <a:srgbClr val="FF0000"/>
                </a:solidFill>
              </a:rPr>
              <a:t>= 1 / (1 + e^(-y)) = 1 / (1 + e</a:t>
            </a:r>
            <a:r>
              <a:rPr lang="en-US" dirty="0" smtClean="0">
                <a:solidFill>
                  <a:srgbClr val="FF0000"/>
                </a:solidFill>
              </a:rPr>
              <a:t>^(-</a:t>
            </a:r>
            <a:r>
              <a:rPr lang="en-US" dirty="0" smtClean="0">
                <a:solidFill>
                  <a:srgbClr val="FF0000"/>
                </a:solidFill>
              </a:rPr>
              <a:t>0.2</a:t>
            </a:r>
            <a:r>
              <a:rPr lang="en-US" dirty="0" smtClean="0">
                <a:solidFill>
                  <a:srgbClr val="FF0000"/>
                </a:solidFill>
              </a:rPr>
              <a:t>))   </a:t>
            </a:r>
            <a:r>
              <a:rPr lang="en-US" dirty="0">
                <a:solidFill>
                  <a:srgbClr val="FF0000"/>
                </a:solidFill>
              </a:rPr>
              <a:t>≈ </a:t>
            </a:r>
            <a:r>
              <a:rPr lang="en-US" b="1" dirty="0" smtClean="0">
                <a:solidFill>
                  <a:srgbClr val="FF0000"/>
                </a:solidFill>
              </a:rPr>
              <a:t>0.549</a:t>
            </a:r>
            <a:r>
              <a:rPr lang="en-US" dirty="0" smtClean="0">
                <a:solidFill>
                  <a:srgbClr val="FF0000"/>
                </a:solidFill>
              </a:rPr>
              <a:t>  </a:t>
            </a:r>
            <a:r>
              <a:rPr lang="en-US" dirty="0">
                <a:solidFill>
                  <a:srgbClr val="FF0000"/>
                </a:solidFill>
              </a:rPr>
              <a:t>&gt;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smtClean="0">
                <a:solidFill>
                  <a:srgbClr val="FF0000"/>
                </a:solidFill>
              </a:rPr>
              <a:t>0.5 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b="1" dirty="0" smtClean="0">
                <a:solidFill>
                  <a:srgbClr val="FF0000"/>
                </a:solidFill>
              </a:rPr>
              <a:t>Positive.</a:t>
            </a:r>
            <a:endParaRPr lang="en-US" b="1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D3: "</a:t>
            </a:r>
            <a:r>
              <a:rPr lang="en-US" u="sng" dirty="0">
                <a:solidFill>
                  <a:srgbClr val="FF0000"/>
                </a:solidFill>
              </a:rPr>
              <a:t>no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u="sng" dirty="0">
                <a:solidFill>
                  <a:srgbClr val="FF0000"/>
                </a:solidFill>
              </a:rPr>
              <a:t>plot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u="sng" dirty="0">
                <a:solidFill>
                  <a:srgbClr val="FF0000"/>
                </a:solidFill>
              </a:rPr>
              <a:t>twists</a:t>
            </a:r>
            <a:r>
              <a:rPr lang="en-US" dirty="0">
                <a:solidFill>
                  <a:srgbClr val="FF0000"/>
                </a:solidFill>
              </a:rPr>
              <a:t> or </a:t>
            </a:r>
            <a:r>
              <a:rPr lang="en-US" u="sng" dirty="0">
                <a:solidFill>
                  <a:srgbClr val="FF0000"/>
                </a:solidFill>
              </a:rPr>
              <a:t>great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u="sng" dirty="0" smtClean="0">
                <a:solidFill>
                  <a:srgbClr val="FF0000"/>
                </a:solidFill>
              </a:rPr>
              <a:t>scenes</a:t>
            </a:r>
            <a:r>
              <a:rPr lang="en-US" dirty="0" smtClean="0">
                <a:solidFill>
                  <a:srgbClr val="FF0000"/>
                </a:solidFill>
              </a:rPr>
              <a:t>“  </a:t>
            </a:r>
            <a:r>
              <a:rPr lang="en-US" b="1" dirty="0" smtClean="0">
                <a:solidFill>
                  <a:srgbClr val="FF0000"/>
                </a:solidFill>
              </a:rPr>
              <a:t>x </a:t>
            </a:r>
            <a:r>
              <a:rPr lang="en-US" b="1" dirty="0">
                <a:solidFill>
                  <a:srgbClr val="FF0000"/>
                </a:solidFill>
              </a:rPr>
              <a:t>= [0, 0, 0, 0, 1, 1, 1, 1, 1, 0, 0]</a:t>
            </a:r>
          </a:p>
          <a:p>
            <a:pPr marL="0" indent="0">
              <a:buNone/>
            </a:pPr>
            <a:r>
              <a:rPr lang="en-US" dirty="0" smtClean="0">
                <a:solidFill>
                  <a:srgbClr val="FF0000"/>
                </a:solidFill>
              </a:rPr>
              <a:t>Y = </a:t>
            </a:r>
            <a:r>
              <a:rPr lang="en-US" dirty="0">
                <a:solidFill>
                  <a:srgbClr val="FF0000"/>
                </a:solidFill>
              </a:rPr>
              <a:t>(-3 * 0) + (-1.1 * 0) + (0.2 * 0) + (-0.8 * 0) + </a:t>
            </a:r>
            <a:r>
              <a:rPr lang="en-US" b="1" dirty="0">
                <a:solidFill>
                  <a:srgbClr val="FF0000"/>
                </a:solidFill>
              </a:rPr>
              <a:t>(0.3 * 1)</a:t>
            </a:r>
            <a:r>
              <a:rPr lang="en-US" dirty="0">
                <a:solidFill>
                  <a:srgbClr val="FF0000"/>
                </a:solidFill>
              </a:rPr>
              <a:t> + </a:t>
            </a:r>
            <a:r>
              <a:rPr lang="en-US" b="1" dirty="0">
                <a:solidFill>
                  <a:srgbClr val="FF0000"/>
                </a:solidFill>
              </a:rPr>
              <a:t>(-1.2 * 1)</a:t>
            </a:r>
            <a:r>
              <a:rPr lang="en-US" dirty="0">
                <a:solidFill>
                  <a:srgbClr val="FF0000"/>
                </a:solidFill>
              </a:rPr>
              <a:t> + </a:t>
            </a:r>
            <a:r>
              <a:rPr lang="en-US" b="1" dirty="0">
                <a:solidFill>
                  <a:srgbClr val="FF0000"/>
                </a:solidFill>
              </a:rPr>
              <a:t>(0.3 * 1) </a:t>
            </a:r>
            <a:r>
              <a:rPr lang="en-US" dirty="0">
                <a:solidFill>
                  <a:srgbClr val="FF0000"/>
                </a:solidFill>
              </a:rPr>
              <a:t>+ </a:t>
            </a:r>
            <a:r>
              <a:rPr lang="en-US" b="1" dirty="0">
                <a:solidFill>
                  <a:srgbClr val="FF0000"/>
                </a:solidFill>
              </a:rPr>
              <a:t>(-0.3 * 1) </a:t>
            </a:r>
            <a:r>
              <a:rPr lang="en-US" dirty="0">
                <a:solidFill>
                  <a:srgbClr val="FF0000"/>
                </a:solidFill>
              </a:rPr>
              <a:t>+ </a:t>
            </a:r>
            <a:r>
              <a:rPr lang="en-US" b="1" dirty="0">
                <a:solidFill>
                  <a:srgbClr val="FF0000"/>
                </a:solidFill>
              </a:rPr>
              <a:t>(4.3 * 1) </a:t>
            </a:r>
            <a:r>
              <a:rPr lang="en-US" dirty="0">
                <a:solidFill>
                  <a:srgbClr val="FF0000"/>
                </a:solidFill>
              </a:rPr>
              <a:t>+ (1 * 0) + (0.1 * 0</a:t>
            </a:r>
            <a:r>
              <a:rPr lang="en-US" dirty="0" smtClean="0">
                <a:solidFill>
                  <a:srgbClr val="FF0000"/>
                </a:solidFill>
              </a:rPr>
              <a:t>) +0.1 = 0.3+(-</a:t>
            </a:r>
            <a:r>
              <a:rPr lang="en-US" dirty="0">
                <a:solidFill>
                  <a:srgbClr val="FF0000"/>
                </a:solidFill>
              </a:rPr>
              <a:t>1.2</a:t>
            </a:r>
            <a:r>
              <a:rPr lang="en-US" dirty="0" smtClean="0">
                <a:solidFill>
                  <a:srgbClr val="FF0000"/>
                </a:solidFill>
              </a:rPr>
              <a:t>)+0.3+(-</a:t>
            </a:r>
            <a:r>
              <a:rPr lang="en-US" dirty="0">
                <a:solidFill>
                  <a:srgbClr val="FF0000"/>
                </a:solidFill>
              </a:rPr>
              <a:t>0.3</a:t>
            </a:r>
            <a:r>
              <a:rPr lang="en-US" dirty="0" smtClean="0">
                <a:solidFill>
                  <a:srgbClr val="FF0000"/>
                </a:solidFill>
              </a:rPr>
              <a:t>)+4.3+0.1 = 3.5</a:t>
            </a:r>
          </a:p>
          <a:p>
            <a:pPr marL="0" indent="0">
              <a:buNone/>
            </a:pPr>
            <a:r>
              <a:rPr lang="en-US" dirty="0" smtClean="0">
                <a:solidFill>
                  <a:srgbClr val="FF0000"/>
                </a:solidFill>
              </a:rPr>
              <a:t>1/(</a:t>
            </a:r>
            <a:r>
              <a:rPr lang="en-US" dirty="0">
                <a:solidFill>
                  <a:srgbClr val="FF0000"/>
                </a:solidFill>
              </a:rPr>
              <a:t>1 + e^-</a:t>
            </a:r>
            <a:r>
              <a:rPr lang="en-US" dirty="0" smtClean="0">
                <a:solidFill>
                  <a:srgbClr val="FF0000"/>
                </a:solidFill>
              </a:rPr>
              <a:t>3.5) ≈ </a:t>
            </a:r>
            <a:r>
              <a:rPr lang="en-US" dirty="0">
                <a:solidFill>
                  <a:srgbClr val="FF0000"/>
                </a:solidFill>
              </a:rPr>
              <a:t>1 / (1 + </a:t>
            </a:r>
            <a:r>
              <a:rPr lang="en-US" dirty="0" smtClean="0">
                <a:solidFill>
                  <a:srgbClr val="FF0000"/>
                </a:solidFill>
              </a:rPr>
              <a:t>0.00316) ≈ 1/1.00316 ≈ </a:t>
            </a:r>
            <a:r>
              <a:rPr lang="en-US" b="1" dirty="0" smtClean="0">
                <a:solidFill>
                  <a:srgbClr val="FF0000"/>
                </a:solidFill>
              </a:rPr>
              <a:t>0.997 </a:t>
            </a:r>
            <a:r>
              <a:rPr lang="en-US" dirty="0" smtClean="0">
                <a:solidFill>
                  <a:srgbClr val="FF0000"/>
                </a:solidFill>
              </a:rPr>
              <a:t>&gt; 0.5</a:t>
            </a:r>
            <a:r>
              <a:rPr lang="en-US" b="1" dirty="0" smtClean="0">
                <a:solidFill>
                  <a:srgbClr val="FF0000"/>
                </a:solidFill>
              </a:rPr>
              <a:t>  Positive</a:t>
            </a:r>
            <a:endParaRPr 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419653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9550" y="95250"/>
            <a:ext cx="11144250" cy="66167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smtClean="0">
                <a:solidFill>
                  <a:srgbClr val="FF0000"/>
                </a:solidFill>
              </a:rPr>
              <a:t>Q2)</a:t>
            </a:r>
          </a:p>
          <a:p>
            <a:pPr marL="0" indent="0">
              <a:buNone/>
            </a:pPr>
            <a:r>
              <a:rPr lang="en-US" dirty="0" smtClean="0">
                <a:solidFill>
                  <a:srgbClr val="FF0000"/>
                </a:solidFill>
              </a:rPr>
              <a:t>The </a:t>
            </a:r>
            <a:r>
              <a:rPr lang="en-US" dirty="0">
                <a:solidFill>
                  <a:srgbClr val="FF0000"/>
                </a:solidFill>
              </a:rPr>
              <a:t>key differences between the attention mechanism in LSTM and Transformers (self-attention) can be summarized as follows. </a:t>
            </a:r>
            <a:endParaRPr lang="en-US" dirty="0" smtClean="0">
              <a:solidFill>
                <a:srgbClr val="FF0000"/>
              </a:solidFill>
            </a:endParaRPr>
          </a:p>
          <a:p>
            <a:r>
              <a:rPr lang="en-US" dirty="0" smtClean="0">
                <a:solidFill>
                  <a:srgbClr val="FF0000"/>
                </a:solidFill>
              </a:rPr>
              <a:t>In </a:t>
            </a:r>
            <a:r>
              <a:rPr lang="en-US" dirty="0">
                <a:solidFill>
                  <a:srgbClr val="FF0000"/>
                </a:solidFill>
              </a:rPr>
              <a:t>LSTM, attention operates sequentially and attends to previous time steps, capturing local dependencies within the input sequence. </a:t>
            </a:r>
            <a:endParaRPr lang="en-US" dirty="0" smtClean="0">
              <a:solidFill>
                <a:srgbClr val="FF0000"/>
              </a:solidFill>
            </a:endParaRPr>
          </a:p>
          <a:p>
            <a:r>
              <a:rPr lang="en-US" dirty="0" smtClean="0">
                <a:solidFill>
                  <a:srgbClr val="FF0000"/>
                </a:solidFill>
              </a:rPr>
              <a:t>It </a:t>
            </a:r>
            <a:r>
              <a:rPr lang="en-US" dirty="0">
                <a:solidFill>
                  <a:srgbClr val="FF0000"/>
                </a:solidFill>
              </a:rPr>
              <a:t>relies on hidden states and recurrent connections. </a:t>
            </a:r>
            <a:endParaRPr lang="en-US" dirty="0" smtClean="0">
              <a:solidFill>
                <a:srgbClr val="FF0000"/>
              </a:solidFill>
            </a:endParaRPr>
          </a:p>
          <a:p>
            <a:r>
              <a:rPr lang="en-US" dirty="0" smtClean="0">
                <a:solidFill>
                  <a:srgbClr val="FF0000"/>
                </a:solidFill>
              </a:rPr>
              <a:t>On </a:t>
            </a:r>
            <a:r>
              <a:rPr lang="en-US" dirty="0">
                <a:solidFill>
                  <a:srgbClr val="FF0000"/>
                </a:solidFill>
              </a:rPr>
              <a:t>the other hand, Transformers utilize self-attention, which is parallel and attends to all positions in the sequence simultaneously. </a:t>
            </a:r>
            <a:endParaRPr lang="en-US" dirty="0" smtClean="0">
              <a:solidFill>
                <a:srgbClr val="FF0000"/>
              </a:solidFill>
            </a:endParaRPr>
          </a:p>
          <a:p>
            <a:r>
              <a:rPr lang="en-US" dirty="0" smtClean="0">
                <a:solidFill>
                  <a:srgbClr val="FF0000"/>
                </a:solidFill>
              </a:rPr>
              <a:t>It </a:t>
            </a:r>
            <a:r>
              <a:rPr lang="en-US" dirty="0">
                <a:solidFill>
                  <a:srgbClr val="FF0000"/>
                </a:solidFill>
              </a:rPr>
              <a:t>captures both local and global dependencies efficiently, without the need for recurrent connections or sequential processing. </a:t>
            </a:r>
            <a:endParaRPr lang="en-US" dirty="0" smtClean="0">
              <a:solidFill>
                <a:srgbClr val="FF0000"/>
              </a:solidFill>
            </a:endParaRPr>
          </a:p>
          <a:p>
            <a:r>
              <a:rPr lang="en-US" dirty="0" smtClean="0">
                <a:solidFill>
                  <a:srgbClr val="FF0000"/>
                </a:solidFill>
              </a:rPr>
              <a:t>Transformers </a:t>
            </a:r>
            <a:r>
              <a:rPr lang="en-US" dirty="0">
                <a:solidFill>
                  <a:srgbClr val="FF0000"/>
                </a:solidFill>
              </a:rPr>
              <a:t>allow for a more comprehensive understanding of context and enable the modeling of long-range dependencies in a parallelized manner.</a:t>
            </a:r>
          </a:p>
        </p:txBody>
      </p:sp>
    </p:spTree>
    <p:extLst>
      <p:ext uri="{BB962C8B-B14F-4D97-AF65-F5344CB8AC3E}">
        <p14:creationId xmlns:p14="http://schemas.microsoft.com/office/powerpoint/2010/main" val="42885712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tr-TR" sz="11500" b="1" dirty="0"/>
              <a:t>SESSION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tr-TR" sz="6000" dirty="0"/>
              <a:t>Start </a:t>
            </a:r>
            <a:r>
              <a:rPr lang="tr-TR" sz="6000" b="1" dirty="0"/>
              <a:t>16:15</a:t>
            </a:r>
          </a:p>
          <a:p>
            <a:r>
              <a:rPr lang="tr-TR" sz="6000" dirty="0"/>
              <a:t>End </a:t>
            </a:r>
            <a:r>
              <a:rPr lang="tr-TR" sz="6000" b="1" dirty="0"/>
              <a:t>17:05</a:t>
            </a:r>
          </a:p>
          <a:p>
            <a:r>
              <a:rPr lang="tr-TR" sz="6000" dirty="0"/>
              <a:t>Upload to ues.marmara.edu.tr in 15 minutes by </a:t>
            </a:r>
            <a:r>
              <a:rPr lang="tr-TR" sz="6000" b="1" dirty="0"/>
              <a:t>17:20</a:t>
            </a:r>
          </a:p>
        </p:txBody>
      </p:sp>
    </p:spTree>
    <p:extLst>
      <p:ext uri="{BB962C8B-B14F-4D97-AF65-F5344CB8AC3E}">
        <p14:creationId xmlns:p14="http://schemas.microsoft.com/office/powerpoint/2010/main" val="12591731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1568" y="217088"/>
            <a:ext cx="11952985" cy="6996512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sz="6700" b="1" dirty="0" smtClean="0"/>
              <a:t>	 +</a:t>
            </a:r>
            <a:r>
              <a:rPr lang="en-US" sz="8400" b="1" dirty="0" smtClean="0"/>
              <a:t>       	</a:t>
            </a:r>
            <a:r>
              <a:rPr lang="en-US" sz="8400" b="1" dirty="0"/>
              <a:t>*</a:t>
            </a:r>
            <a:r>
              <a:rPr lang="en-US" sz="8400" b="1" dirty="0" smtClean="0"/>
              <a:t>       	-</a:t>
            </a:r>
            <a:endParaRPr lang="en-US" sz="8400" b="1" dirty="0"/>
          </a:p>
          <a:p>
            <a:pPr marL="0" indent="0">
              <a:buNone/>
            </a:pPr>
            <a:r>
              <a:rPr lang="en-US" sz="8400" b="1" dirty="0" smtClean="0"/>
              <a:t>+</a:t>
            </a:r>
            <a:r>
              <a:rPr lang="en-US" sz="8400" b="1" dirty="0"/>
              <a:t>	</a:t>
            </a:r>
            <a:r>
              <a:rPr lang="en-US" sz="8400" b="1" dirty="0" smtClean="0"/>
              <a:t>50      	10      	20</a:t>
            </a:r>
            <a:endParaRPr lang="en-US" sz="8400" b="1" dirty="0"/>
          </a:p>
          <a:p>
            <a:pPr marL="0" indent="0">
              <a:buNone/>
            </a:pPr>
            <a:r>
              <a:rPr lang="en-US" sz="8400" b="1" dirty="0" smtClean="0"/>
              <a:t>*	5       	150     	5</a:t>
            </a:r>
            <a:endParaRPr lang="en-US" sz="8400" b="1" dirty="0"/>
          </a:p>
          <a:p>
            <a:pPr marL="0" indent="0">
              <a:buNone/>
            </a:pPr>
            <a:r>
              <a:rPr lang="en-US" sz="8400" b="1" dirty="0" smtClean="0"/>
              <a:t>-	10      	10      	200</a:t>
            </a:r>
          </a:p>
          <a:p>
            <a:pPr marL="0" indent="0">
              <a:buNone/>
            </a:pPr>
            <a:r>
              <a:rPr lang="en-US" sz="8000" b="1" dirty="0"/>
              <a:t>3</a:t>
            </a:r>
            <a:r>
              <a:rPr lang="en-US" sz="8000" b="1" dirty="0" smtClean="0"/>
              <a:t>) Calculate </a:t>
            </a:r>
            <a:r>
              <a:rPr lang="en-US" sz="8000" b="1" dirty="0"/>
              <a:t>the </a:t>
            </a:r>
            <a:r>
              <a:rPr lang="en-US" sz="8000" b="1" dirty="0" smtClean="0"/>
              <a:t>Precision, </a:t>
            </a:r>
            <a:r>
              <a:rPr lang="en-US" sz="8000" b="1" dirty="0"/>
              <a:t>R</a:t>
            </a:r>
            <a:r>
              <a:rPr lang="en-US" sz="8000" b="1" dirty="0" smtClean="0"/>
              <a:t>ecall</a:t>
            </a:r>
            <a:r>
              <a:rPr lang="en-US" sz="8000" b="1" dirty="0"/>
              <a:t>, and F1 scores for each class (A, B, C) and their </a:t>
            </a:r>
            <a:r>
              <a:rPr lang="en-US" sz="8000" b="1" dirty="0" smtClean="0"/>
              <a:t>micro averages of precision and recall. </a:t>
            </a:r>
            <a:endParaRPr lang="en-US" sz="6100" b="1" dirty="0" smtClean="0"/>
          </a:p>
          <a:p>
            <a:pPr marL="0" indent="0">
              <a:buNone/>
            </a:pPr>
            <a:r>
              <a:rPr lang="en-US" sz="5900" b="1" i="1" dirty="0" smtClean="0"/>
              <a:t>rows </a:t>
            </a:r>
            <a:r>
              <a:rPr lang="en-US" sz="5900" b="1" i="1" dirty="0"/>
              <a:t>show actual class labels, </a:t>
            </a:r>
            <a:r>
              <a:rPr lang="en-US" sz="5900" b="1" i="1" dirty="0" smtClean="0"/>
              <a:t>P=TP/(</a:t>
            </a:r>
            <a:r>
              <a:rPr lang="en-US" sz="5900" b="1" i="1" dirty="0"/>
              <a:t>TP+FP), </a:t>
            </a:r>
            <a:r>
              <a:rPr lang="en-US" sz="5900" b="1" i="1" dirty="0" smtClean="0"/>
              <a:t>R=TP</a:t>
            </a:r>
            <a:r>
              <a:rPr lang="en-US" sz="5900" b="1" i="1" dirty="0"/>
              <a:t>/(</a:t>
            </a:r>
            <a:r>
              <a:rPr lang="en-US" sz="5900" b="1" i="1" dirty="0" smtClean="0"/>
              <a:t>TP+FN)</a:t>
            </a:r>
          </a:p>
          <a:p>
            <a:pPr marL="0" indent="0">
              <a:buNone/>
            </a:pPr>
            <a:r>
              <a:rPr lang="en-US" sz="8000" b="1" dirty="0" smtClean="0"/>
              <a:t>4)Assume row vectors represent input vectors x1,x2, x3. Calculate the output y3 of a casual (left-to-right) self-attention layer.</a:t>
            </a:r>
            <a:endParaRPr lang="tr-TR" sz="8000" b="1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97503" y="287307"/>
            <a:ext cx="2925997" cy="373003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2774" y="831002"/>
            <a:ext cx="4564397" cy="1213698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66149" y="2135341"/>
            <a:ext cx="1867065" cy="790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60769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2192000" cy="6857999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sz="3400" b="1" dirty="0" smtClean="0">
                <a:solidFill>
                  <a:srgbClr val="FF0000"/>
                </a:solidFill>
              </a:rPr>
              <a:t>Q3) Precision 	A </a:t>
            </a:r>
            <a:r>
              <a:rPr lang="en-US" sz="3400" b="1" dirty="0">
                <a:solidFill>
                  <a:srgbClr val="FF0000"/>
                </a:solidFill>
              </a:rPr>
              <a:t>= 50 / (50 + 5 + 10) = 0.769 </a:t>
            </a:r>
            <a:r>
              <a:rPr lang="en-US" sz="3400" b="1" dirty="0" smtClean="0">
                <a:solidFill>
                  <a:srgbClr val="FF0000"/>
                </a:solidFill>
              </a:rPr>
              <a:t> </a:t>
            </a:r>
          </a:p>
          <a:p>
            <a:pPr marL="0" indent="0">
              <a:buNone/>
            </a:pPr>
            <a:r>
              <a:rPr lang="en-US" sz="3400" b="1" dirty="0" smtClean="0">
                <a:solidFill>
                  <a:srgbClr val="FF0000"/>
                </a:solidFill>
              </a:rPr>
              <a:t>		B </a:t>
            </a:r>
            <a:r>
              <a:rPr lang="en-US" sz="3400" b="1" dirty="0">
                <a:solidFill>
                  <a:srgbClr val="FF0000"/>
                </a:solidFill>
              </a:rPr>
              <a:t>= 150 / (10 + 150 + 10) = 0.882 </a:t>
            </a:r>
            <a:endParaRPr lang="en-US" sz="3400" b="1" dirty="0" smtClean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sz="3400" b="1" dirty="0" smtClean="0">
                <a:solidFill>
                  <a:srgbClr val="FF0000"/>
                </a:solidFill>
              </a:rPr>
              <a:t>		C </a:t>
            </a:r>
            <a:r>
              <a:rPr lang="en-US" sz="3400" b="1" dirty="0">
                <a:solidFill>
                  <a:srgbClr val="FF0000"/>
                </a:solidFill>
              </a:rPr>
              <a:t>= 200 / (20 + 5 + 200) = </a:t>
            </a:r>
            <a:r>
              <a:rPr lang="en-US" sz="3400" b="1" dirty="0" smtClean="0">
                <a:solidFill>
                  <a:srgbClr val="FF0000"/>
                </a:solidFill>
              </a:rPr>
              <a:t>0.888</a:t>
            </a:r>
          </a:p>
          <a:p>
            <a:pPr marL="0" indent="0">
              <a:buNone/>
            </a:pPr>
            <a:r>
              <a:rPr lang="en-US" sz="1100" b="1" dirty="0" smtClean="0">
                <a:solidFill>
                  <a:srgbClr val="FF0000"/>
                </a:solidFill>
              </a:rPr>
              <a:t>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</a:t>
            </a:r>
          </a:p>
          <a:p>
            <a:pPr marL="0" indent="0">
              <a:buNone/>
            </a:pPr>
            <a:r>
              <a:rPr lang="en-US" sz="3400" b="1" dirty="0" smtClean="0">
                <a:solidFill>
                  <a:srgbClr val="FF0000"/>
                </a:solidFill>
              </a:rPr>
              <a:t>        Recall 	A </a:t>
            </a:r>
            <a:r>
              <a:rPr lang="en-US" sz="3400" b="1" dirty="0">
                <a:solidFill>
                  <a:srgbClr val="FF0000"/>
                </a:solidFill>
              </a:rPr>
              <a:t>= 50 / (50 + 10 + 20) = 0.625 </a:t>
            </a:r>
            <a:endParaRPr lang="en-US" sz="3400" b="1" dirty="0" smtClean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sz="3400" b="1" dirty="0" smtClean="0">
                <a:solidFill>
                  <a:srgbClr val="FF0000"/>
                </a:solidFill>
              </a:rPr>
              <a:t>		B </a:t>
            </a:r>
            <a:r>
              <a:rPr lang="en-US" sz="3400" b="1" dirty="0">
                <a:solidFill>
                  <a:srgbClr val="FF0000"/>
                </a:solidFill>
              </a:rPr>
              <a:t>= 150 / (5 + 150 + 5) = 0.938 </a:t>
            </a:r>
            <a:endParaRPr lang="en-US" sz="3400" b="1" dirty="0" smtClean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sz="3400" b="1" dirty="0" smtClean="0">
                <a:solidFill>
                  <a:srgbClr val="FF0000"/>
                </a:solidFill>
              </a:rPr>
              <a:t>		C </a:t>
            </a:r>
            <a:r>
              <a:rPr lang="en-US" sz="3400" b="1" dirty="0">
                <a:solidFill>
                  <a:srgbClr val="FF0000"/>
                </a:solidFill>
              </a:rPr>
              <a:t>= 200 / (10 + 10 + 200) = </a:t>
            </a:r>
            <a:r>
              <a:rPr lang="en-US" sz="3400" b="1" dirty="0" smtClean="0">
                <a:solidFill>
                  <a:srgbClr val="FF0000"/>
                </a:solidFill>
              </a:rPr>
              <a:t>0.909</a:t>
            </a:r>
          </a:p>
          <a:p>
            <a:pPr marL="0" indent="0">
              <a:buNone/>
            </a:pPr>
            <a:r>
              <a:rPr lang="en-US" sz="1100" b="1" dirty="0">
                <a:solidFill>
                  <a:srgbClr val="FF0000"/>
                </a:solidFill>
              </a:rPr>
              <a:t>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</a:t>
            </a:r>
          </a:p>
          <a:p>
            <a:pPr marL="0" indent="0">
              <a:buNone/>
            </a:pPr>
            <a:r>
              <a:rPr lang="en-US" sz="3400" b="1" dirty="0" smtClean="0">
                <a:solidFill>
                  <a:srgbClr val="FF0000"/>
                </a:solidFill>
              </a:rPr>
              <a:t>F1	A </a:t>
            </a:r>
            <a:r>
              <a:rPr lang="en-US" sz="3400" b="1" dirty="0">
                <a:solidFill>
                  <a:srgbClr val="FF0000"/>
                </a:solidFill>
              </a:rPr>
              <a:t>= 2 * </a:t>
            </a:r>
            <a:r>
              <a:rPr lang="en-US" sz="3400" b="1" dirty="0" smtClean="0">
                <a:solidFill>
                  <a:srgbClr val="FF0000"/>
                </a:solidFill>
              </a:rPr>
              <a:t>(50/65 </a:t>
            </a:r>
            <a:r>
              <a:rPr lang="en-US" sz="3400" b="1" dirty="0">
                <a:solidFill>
                  <a:srgbClr val="FF0000"/>
                </a:solidFill>
              </a:rPr>
              <a:t>* </a:t>
            </a:r>
            <a:r>
              <a:rPr lang="en-US" sz="3400" b="1" dirty="0" smtClean="0">
                <a:solidFill>
                  <a:srgbClr val="FF0000"/>
                </a:solidFill>
              </a:rPr>
              <a:t>50/80) </a:t>
            </a:r>
            <a:r>
              <a:rPr lang="en-US" sz="3400" b="1" dirty="0">
                <a:solidFill>
                  <a:srgbClr val="FF0000"/>
                </a:solidFill>
              </a:rPr>
              <a:t>/ </a:t>
            </a:r>
            <a:r>
              <a:rPr lang="en-US" sz="3400" b="1" dirty="0" smtClean="0">
                <a:solidFill>
                  <a:srgbClr val="FF0000"/>
                </a:solidFill>
              </a:rPr>
              <a:t>(50/65 </a:t>
            </a:r>
            <a:r>
              <a:rPr lang="en-US" sz="3400" b="1" dirty="0">
                <a:solidFill>
                  <a:srgbClr val="FF0000"/>
                </a:solidFill>
              </a:rPr>
              <a:t>+ </a:t>
            </a:r>
            <a:r>
              <a:rPr lang="en-US" sz="3400" b="1" dirty="0" smtClean="0">
                <a:solidFill>
                  <a:srgbClr val="FF0000"/>
                </a:solidFill>
              </a:rPr>
              <a:t>50/80) </a:t>
            </a:r>
            <a:r>
              <a:rPr lang="en-US" sz="3400" b="1" dirty="0">
                <a:solidFill>
                  <a:srgbClr val="FF0000"/>
                </a:solidFill>
              </a:rPr>
              <a:t>= 0.689 </a:t>
            </a:r>
            <a:endParaRPr lang="en-US" sz="3400" b="1" dirty="0" smtClean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sz="3400" b="1" dirty="0" smtClean="0">
                <a:solidFill>
                  <a:srgbClr val="FF0000"/>
                </a:solidFill>
              </a:rPr>
              <a:t>	B </a:t>
            </a:r>
            <a:r>
              <a:rPr lang="en-US" sz="3400" b="1" dirty="0">
                <a:solidFill>
                  <a:srgbClr val="FF0000"/>
                </a:solidFill>
              </a:rPr>
              <a:t>= 2 * </a:t>
            </a:r>
            <a:r>
              <a:rPr lang="en-US" sz="3400" b="1" dirty="0" smtClean="0">
                <a:solidFill>
                  <a:srgbClr val="FF0000"/>
                </a:solidFill>
              </a:rPr>
              <a:t>(150/170 </a:t>
            </a:r>
            <a:r>
              <a:rPr lang="en-US" sz="3400" b="1" dirty="0">
                <a:solidFill>
                  <a:srgbClr val="FF0000"/>
                </a:solidFill>
              </a:rPr>
              <a:t>* </a:t>
            </a:r>
            <a:r>
              <a:rPr lang="en-US" sz="3400" b="1" dirty="0" smtClean="0">
                <a:solidFill>
                  <a:srgbClr val="FF0000"/>
                </a:solidFill>
              </a:rPr>
              <a:t>150/160) </a:t>
            </a:r>
            <a:r>
              <a:rPr lang="en-US" sz="3400" b="1" dirty="0">
                <a:solidFill>
                  <a:srgbClr val="FF0000"/>
                </a:solidFill>
              </a:rPr>
              <a:t>/ </a:t>
            </a:r>
            <a:r>
              <a:rPr lang="en-US" sz="3400" b="1" dirty="0" smtClean="0">
                <a:solidFill>
                  <a:srgbClr val="FF0000"/>
                </a:solidFill>
              </a:rPr>
              <a:t>(150/170 </a:t>
            </a:r>
            <a:r>
              <a:rPr lang="en-US" sz="3400" b="1" dirty="0">
                <a:solidFill>
                  <a:srgbClr val="FF0000"/>
                </a:solidFill>
              </a:rPr>
              <a:t>+ </a:t>
            </a:r>
            <a:r>
              <a:rPr lang="en-US" sz="3400" b="1" dirty="0" smtClean="0">
                <a:solidFill>
                  <a:srgbClr val="FF0000"/>
                </a:solidFill>
              </a:rPr>
              <a:t>150/160) </a:t>
            </a:r>
            <a:r>
              <a:rPr lang="en-US" sz="3400" b="1" dirty="0">
                <a:solidFill>
                  <a:srgbClr val="FF0000"/>
                </a:solidFill>
              </a:rPr>
              <a:t>= 0.909 </a:t>
            </a:r>
            <a:endParaRPr lang="en-US" sz="3400" b="1" dirty="0" smtClean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sz="3400" b="1" dirty="0" smtClean="0">
                <a:solidFill>
                  <a:srgbClr val="FF0000"/>
                </a:solidFill>
              </a:rPr>
              <a:t>	C </a:t>
            </a:r>
            <a:r>
              <a:rPr lang="en-US" sz="3400" b="1" dirty="0">
                <a:solidFill>
                  <a:srgbClr val="FF0000"/>
                </a:solidFill>
              </a:rPr>
              <a:t>= 2 * </a:t>
            </a:r>
            <a:r>
              <a:rPr lang="en-US" sz="3400" b="1" dirty="0" smtClean="0">
                <a:solidFill>
                  <a:srgbClr val="FF0000"/>
                </a:solidFill>
              </a:rPr>
              <a:t>(200/225 </a:t>
            </a:r>
            <a:r>
              <a:rPr lang="en-US" sz="3400" b="1" dirty="0">
                <a:solidFill>
                  <a:srgbClr val="FF0000"/>
                </a:solidFill>
              </a:rPr>
              <a:t>* </a:t>
            </a:r>
            <a:r>
              <a:rPr lang="en-US" sz="3400" b="1" dirty="0" smtClean="0">
                <a:solidFill>
                  <a:srgbClr val="FF0000"/>
                </a:solidFill>
              </a:rPr>
              <a:t>200/220) </a:t>
            </a:r>
            <a:r>
              <a:rPr lang="en-US" sz="3400" b="1" dirty="0">
                <a:solidFill>
                  <a:srgbClr val="FF0000"/>
                </a:solidFill>
              </a:rPr>
              <a:t>/ </a:t>
            </a:r>
            <a:r>
              <a:rPr lang="en-US" sz="3400" b="1" dirty="0" smtClean="0">
                <a:solidFill>
                  <a:srgbClr val="FF0000"/>
                </a:solidFill>
              </a:rPr>
              <a:t>(200/225 </a:t>
            </a:r>
            <a:r>
              <a:rPr lang="en-US" sz="3400" b="1" dirty="0">
                <a:solidFill>
                  <a:srgbClr val="FF0000"/>
                </a:solidFill>
              </a:rPr>
              <a:t>+ </a:t>
            </a:r>
            <a:r>
              <a:rPr lang="en-US" sz="3400" b="1" dirty="0" smtClean="0">
                <a:solidFill>
                  <a:srgbClr val="FF0000"/>
                </a:solidFill>
              </a:rPr>
              <a:t>200/220) </a:t>
            </a:r>
            <a:r>
              <a:rPr lang="en-US" sz="3400" b="1" dirty="0">
                <a:solidFill>
                  <a:srgbClr val="FF0000"/>
                </a:solidFill>
              </a:rPr>
              <a:t>= 0.898</a:t>
            </a:r>
          </a:p>
          <a:p>
            <a:pPr marL="0" indent="0">
              <a:buNone/>
            </a:pPr>
            <a:endParaRPr lang="en-US" sz="3400" b="1" dirty="0" smtClean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sz="3400" b="1" dirty="0" smtClean="0">
                <a:solidFill>
                  <a:srgbClr val="FF0000"/>
                </a:solidFill>
              </a:rPr>
              <a:t>Total </a:t>
            </a:r>
            <a:r>
              <a:rPr lang="en-US" sz="3400" b="1" dirty="0">
                <a:solidFill>
                  <a:srgbClr val="FF0000"/>
                </a:solidFill>
              </a:rPr>
              <a:t>TP = 50 + 150 + 200 = 400 </a:t>
            </a:r>
            <a:endParaRPr lang="en-US" sz="3400" b="1" dirty="0" smtClean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sz="3400" b="1" dirty="0" smtClean="0">
                <a:solidFill>
                  <a:srgbClr val="FF0000"/>
                </a:solidFill>
              </a:rPr>
              <a:t>Total </a:t>
            </a:r>
            <a:r>
              <a:rPr lang="en-US" sz="3400" b="1" dirty="0">
                <a:solidFill>
                  <a:srgbClr val="FF0000"/>
                </a:solidFill>
              </a:rPr>
              <a:t>FP = 10 + 5 + 10 </a:t>
            </a:r>
            <a:r>
              <a:rPr lang="en-US" sz="3400" b="1" dirty="0" smtClean="0">
                <a:solidFill>
                  <a:srgbClr val="FF0000"/>
                </a:solidFill>
              </a:rPr>
              <a:t>+ 10 + 20 + 5 = 60 </a:t>
            </a:r>
          </a:p>
          <a:p>
            <a:pPr marL="0" indent="0">
              <a:buNone/>
            </a:pPr>
            <a:r>
              <a:rPr lang="en-US" sz="3400" b="1" dirty="0" smtClean="0">
                <a:solidFill>
                  <a:srgbClr val="FF0000"/>
                </a:solidFill>
              </a:rPr>
              <a:t>Total </a:t>
            </a:r>
            <a:r>
              <a:rPr lang="en-US" sz="3400" b="1" dirty="0">
                <a:solidFill>
                  <a:srgbClr val="FF0000"/>
                </a:solidFill>
              </a:rPr>
              <a:t>FN = </a:t>
            </a:r>
            <a:r>
              <a:rPr lang="en-US" sz="3400" b="1" dirty="0" smtClean="0">
                <a:solidFill>
                  <a:srgbClr val="FF0000"/>
                </a:solidFill>
              </a:rPr>
              <a:t>10 + 20 </a:t>
            </a:r>
            <a:r>
              <a:rPr lang="en-US" sz="3400" b="1" dirty="0">
                <a:solidFill>
                  <a:srgbClr val="FF0000"/>
                </a:solidFill>
              </a:rPr>
              <a:t>+ 5 + </a:t>
            </a:r>
            <a:r>
              <a:rPr lang="en-US" sz="3400" b="1" dirty="0" smtClean="0">
                <a:solidFill>
                  <a:srgbClr val="FF0000"/>
                </a:solidFill>
              </a:rPr>
              <a:t>5 + 10 + 10 </a:t>
            </a:r>
            <a:r>
              <a:rPr lang="en-US" sz="3400" b="1" dirty="0">
                <a:solidFill>
                  <a:srgbClr val="FF0000"/>
                </a:solidFill>
              </a:rPr>
              <a:t>= </a:t>
            </a:r>
            <a:r>
              <a:rPr lang="en-US" sz="3400" b="1" dirty="0" smtClean="0">
                <a:solidFill>
                  <a:srgbClr val="FF0000"/>
                </a:solidFill>
              </a:rPr>
              <a:t>60</a:t>
            </a:r>
            <a:endParaRPr lang="en-US" sz="3400" b="1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sz="3400" b="1" dirty="0">
                <a:solidFill>
                  <a:srgbClr val="FF0000"/>
                </a:solidFill>
              </a:rPr>
              <a:t>Micro </a:t>
            </a:r>
            <a:r>
              <a:rPr lang="en-US" sz="3400" b="1" dirty="0" err="1">
                <a:solidFill>
                  <a:srgbClr val="FF0000"/>
                </a:solidFill>
              </a:rPr>
              <a:t>Avg</a:t>
            </a:r>
            <a:r>
              <a:rPr lang="en-US" sz="3400" b="1" dirty="0">
                <a:solidFill>
                  <a:srgbClr val="FF0000"/>
                </a:solidFill>
              </a:rPr>
              <a:t> P = 400 / (400 + </a:t>
            </a:r>
            <a:r>
              <a:rPr lang="en-US" sz="3400" b="1" dirty="0" smtClean="0">
                <a:solidFill>
                  <a:srgbClr val="FF0000"/>
                </a:solidFill>
              </a:rPr>
              <a:t>60) </a:t>
            </a:r>
            <a:r>
              <a:rPr lang="en-US" sz="3400" b="1" dirty="0">
                <a:solidFill>
                  <a:srgbClr val="FF0000"/>
                </a:solidFill>
              </a:rPr>
              <a:t>= </a:t>
            </a:r>
            <a:r>
              <a:rPr lang="en-US" sz="3400" b="1" dirty="0" smtClean="0">
                <a:solidFill>
                  <a:srgbClr val="FF0000"/>
                </a:solidFill>
              </a:rPr>
              <a:t>0.89  </a:t>
            </a:r>
            <a:r>
              <a:rPr lang="en-US" sz="3400" b="1" dirty="0">
                <a:solidFill>
                  <a:srgbClr val="FF0000"/>
                </a:solidFill>
              </a:rPr>
              <a:t>= Micro </a:t>
            </a:r>
            <a:r>
              <a:rPr lang="en-US" sz="3400" b="1" dirty="0" err="1">
                <a:solidFill>
                  <a:srgbClr val="FF0000"/>
                </a:solidFill>
              </a:rPr>
              <a:t>Avg</a:t>
            </a:r>
            <a:r>
              <a:rPr lang="en-US" sz="3400" b="1" dirty="0">
                <a:solidFill>
                  <a:srgbClr val="FF0000"/>
                </a:solidFill>
              </a:rPr>
              <a:t> </a:t>
            </a:r>
            <a:r>
              <a:rPr lang="en-US" sz="3400" b="1" dirty="0" smtClean="0">
                <a:solidFill>
                  <a:srgbClr val="FF0000"/>
                </a:solidFill>
              </a:rPr>
              <a:t>R </a:t>
            </a:r>
            <a:r>
              <a:rPr lang="en-US" dirty="0" smtClean="0">
                <a:solidFill>
                  <a:srgbClr val="FF0000"/>
                </a:solidFill>
              </a:rPr>
              <a:t>(because total FP = total FN)</a:t>
            </a:r>
            <a:endParaRPr lang="en-US" sz="3400" dirty="0" smtClean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976813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9550" y="95250"/>
            <a:ext cx="11144250" cy="608171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4000" dirty="0" smtClean="0">
                <a:solidFill>
                  <a:srgbClr val="FF0000"/>
                </a:solidFill>
              </a:rPr>
              <a:t>Q4) x1=[50, 10, 20] 	x2=[5,150,5] 	x3=[10,10,200]</a:t>
            </a:r>
          </a:p>
          <a:p>
            <a:pPr marL="0" indent="0">
              <a:buNone/>
            </a:pPr>
            <a:r>
              <a:rPr lang="en-US" sz="4000" dirty="0" smtClean="0">
                <a:solidFill>
                  <a:srgbClr val="FF0000"/>
                </a:solidFill>
              </a:rPr>
              <a:t>Score(x1,x3)= </a:t>
            </a:r>
            <a:r>
              <a:rPr lang="en-US" sz="4000" dirty="0" smtClean="0">
                <a:solidFill>
                  <a:srgbClr val="FF0000"/>
                </a:solidFill>
              </a:rPr>
              <a:t>50*5 + 10*150 + 20*5 = 1850 </a:t>
            </a:r>
          </a:p>
          <a:p>
            <a:pPr marL="0" indent="0">
              <a:buNone/>
            </a:pPr>
            <a:r>
              <a:rPr lang="en-US" sz="4000" dirty="0" smtClean="0">
                <a:solidFill>
                  <a:srgbClr val="FF0000"/>
                </a:solidFill>
              </a:rPr>
              <a:t>Score(x2,x3</a:t>
            </a:r>
            <a:r>
              <a:rPr lang="en-US" sz="4000" dirty="0" smtClean="0">
                <a:solidFill>
                  <a:srgbClr val="FF0000"/>
                </a:solidFill>
              </a:rPr>
              <a:t>)= </a:t>
            </a:r>
            <a:r>
              <a:rPr lang="en-US" sz="4000" dirty="0" smtClean="0">
                <a:solidFill>
                  <a:srgbClr val="FF0000"/>
                </a:solidFill>
              </a:rPr>
              <a:t>5*10 </a:t>
            </a:r>
            <a:r>
              <a:rPr lang="en-US" sz="4000" dirty="0">
                <a:solidFill>
                  <a:srgbClr val="FF0000"/>
                </a:solidFill>
              </a:rPr>
              <a:t>+ </a:t>
            </a:r>
            <a:r>
              <a:rPr lang="en-US" sz="4000" dirty="0" smtClean="0">
                <a:solidFill>
                  <a:srgbClr val="FF0000"/>
                </a:solidFill>
              </a:rPr>
              <a:t>150*10 </a:t>
            </a:r>
            <a:r>
              <a:rPr lang="en-US" sz="4000" dirty="0">
                <a:solidFill>
                  <a:srgbClr val="FF0000"/>
                </a:solidFill>
              </a:rPr>
              <a:t>+ </a:t>
            </a:r>
            <a:r>
              <a:rPr lang="en-US" sz="4000" dirty="0">
                <a:solidFill>
                  <a:srgbClr val="FF0000"/>
                </a:solidFill>
              </a:rPr>
              <a:t>5</a:t>
            </a:r>
            <a:r>
              <a:rPr lang="en-US" sz="4000" dirty="0" smtClean="0">
                <a:solidFill>
                  <a:srgbClr val="FF0000"/>
                </a:solidFill>
              </a:rPr>
              <a:t>*200 </a:t>
            </a:r>
            <a:r>
              <a:rPr lang="en-US" sz="4000" dirty="0">
                <a:solidFill>
                  <a:srgbClr val="FF0000"/>
                </a:solidFill>
              </a:rPr>
              <a:t>= </a:t>
            </a:r>
            <a:r>
              <a:rPr lang="en-US" sz="4000" dirty="0" smtClean="0">
                <a:solidFill>
                  <a:srgbClr val="FF0000"/>
                </a:solidFill>
              </a:rPr>
              <a:t>2250</a:t>
            </a:r>
            <a:endParaRPr lang="en-US" sz="4000" dirty="0" smtClean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sz="4000" dirty="0" smtClean="0">
                <a:solidFill>
                  <a:srgbClr val="FF0000"/>
                </a:solidFill>
              </a:rPr>
              <a:t>Score(x3,x3)= 10*10 </a:t>
            </a:r>
            <a:r>
              <a:rPr lang="en-US" sz="4000" dirty="0">
                <a:solidFill>
                  <a:srgbClr val="FF0000"/>
                </a:solidFill>
              </a:rPr>
              <a:t>+ </a:t>
            </a:r>
            <a:r>
              <a:rPr lang="en-US" sz="4000" dirty="0" smtClean="0">
                <a:solidFill>
                  <a:srgbClr val="FF0000"/>
                </a:solidFill>
              </a:rPr>
              <a:t>10*10 </a:t>
            </a:r>
            <a:r>
              <a:rPr lang="en-US" sz="4000" dirty="0">
                <a:solidFill>
                  <a:srgbClr val="FF0000"/>
                </a:solidFill>
              </a:rPr>
              <a:t>+ </a:t>
            </a:r>
            <a:r>
              <a:rPr lang="en-US" sz="4000" dirty="0" smtClean="0">
                <a:solidFill>
                  <a:srgbClr val="FF0000"/>
                </a:solidFill>
              </a:rPr>
              <a:t>200*200 </a:t>
            </a:r>
            <a:r>
              <a:rPr lang="en-US" sz="4000" dirty="0">
                <a:solidFill>
                  <a:srgbClr val="FF0000"/>
                </a:solidFill>
              </a:rPr>
              <a:t>= </a:t>
            </a:r>
            <a:r>
              <a:rPr lang="en-US" sz="4000" dirty="0" smtClean="0">
                <a:solidFill>
                  <a:srgbClr val="FF0000"/>
                </a:solidFill>
              </a:rPr>
              <a:t>40200</a:t>
            </a:r>
          </a:p>
          <a:p>
            <a:pPr marL="0" indent="0">
              <a:buNone/>
            </a:pPr>
            <a:r>
              <a:rPr lang="en-US" sz="4000" dirty="0" err="1" smtClean="0">
                <a:solidFill>
                  <a:srgbClr val="FF0000"/>
                </a:solidFill>
              </a:rPr>
              <a:t>Softmax</a:t>
            </a:r>
            <a:r>
              <a:rPr lang="en-US" sz="4000" dirty="0" smtClean="0">
                <a:solidFill>
                  <a:srgbClr val="FF0000"/>
                </a:solidFill>
              </a:rPr>
              <a:t>(1850, </a:t>
            </a:r>
            <a:r>
              <a:rPr lang="en-US" sz="4000" dirty="0" smtClean="0">
                <a:solidFill>
                  <a:srgbClr val="FF0000"/>
                </a:solidFill>
              </a:rPr>
              <a:t>2250</a:t>
            </a:r>
            <a:r>
              <a:rPr lang="en-US" sz="4000" dirty="0" smtClean="0">
                <a:solidFill>
                  <a:srgbClr val="FF0000"/>
                </a:solidFill>
              </a:rPr>
              <a:t>, </a:t>
            </a:r>
            <a:r>
              <a:rPr lang="en-US" sz="4000" dirty="0" smtClean="0">
                <a:solidFill>
                  <a:srgbClr val="FF0000"/>
                </a:solidFill>
              </a:rPr>
              <a:t>40200) can be approximated to [0,0,1] as 40200 is much larger than </a:t>
            </a:r>
            <a:r>
              <a:rPr lang="en-US" sz="4000" dirty="0" smtClean="0">
                <a:solidFill>
                  <a:srgbClr val="FF0000"/>
                </a:solidFill>
              </a:rPr>
              <a:t>2250 </a:t>
            </a:r>
            <a:r>
              <a:rPr lang="en-US" sz="4000" dirty="0" smtClean="0">
                <a:solidFill>
                  <a:srgbClr val="FF0000"/>
                </a:solidFill>
              </a:rPr>
              <a:t>and 4600</a:t>
            </a:r>
          </a:p>
          <a:p>
            <a:pPr marL="0" indent="0">
              <a:buNone/>
            </a:pPr>
            <a:r>
              <a:rPr lang="en-US" sz="4000" dirty="0" smtClean="0">
                <a:solidFill>
                  <a:srgbClr val="FF0000"/>
                </a:solidFill>
              </a:rPr>
              <a:t>y3 = 0*[50, 10,20] + 0*[5, </a:t>
            </a:r>
            <a:r>
              <a:rPr lang="en-US" sz="4000" dirty="0" smtClean="0">
                <a:solidFill>
                  <a:srgbClr val="FF0000"/>
                </a:solidFill>
              </a:rPr>
              <a:t>150, </a:t>
            </a:r>
            <a:r>
              <a:rPr lang="en-US" sz="4000" dirty="0" smtClean="0">
                <a:solidFill>
                  <a:srgbClr val="FF0000"/>
                </a:solidFill>
              </a:rPr>
              <a:t>5] + 1*[10, 10, 200]</a:t>
            </a:r>
          </a:p>
          <a:p>
            <a:pPr marL="0" indent="0">
              <a:buNone/>
            </a:pPr>
            <a:r>
              <a:rPr lang="en-US" sz="4000" dirty="0" smtClean="0">
                <a:solidFill>
                  <a:srgbClr val="FF0000"/>
                </a:solidFill>
              </a:rPr>
              <a:t>And similarly y3 can be approximated as x3</a:t>
            </a:r>
          </a:p>
          <a:p>
            <a:pPr marL="0" indent="0">
              <a:buNone/>
            </a:pPr>
            <a:endParaRPr lang="en-US" sz="4000" dirty="0" smtClean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US" sz="4000" dirty="0">
              <a:solidFill>
                <a:srgbClr val="FF0000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56881" y="907432"/>
            <a:ext cx="1867065" cy="790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78559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9885</TotalTime>
  <Words>945</Words>
  <Application>Microsoft Office PowerPoint</Application>
  <PresentationFormat>Widescreen</PresentationFormat>
  <Paragraphs>79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Light</vt:lpstr>
      <vt:lpstr>Söhne</vt:lpstr>
      <vt:lpstr>Office Theme</vt:lpstr>
      <vt:lpstr>CSE4078 Introduction to NLP  Spring 2023</vt:lpstr>
      <vt:lpstr>PLAN</vt:lpstr>
      <vt:lpstr>Ethical Code</vt:lpstr>
      <vt:lpstr>SESSION 1</vt:lpstr>
      <vt:lpstr>PowerPoint Presentation</vt:lpstr>
      <vt:lpstr>PowerPoint Presentation</vt:lpstr>
      <vt:lpstr>PowerPoint Presentation</vt:lpstr>
      <vt:lpstr>SESSION 2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/>
  <cp:revision>82</cp:revision>
  <cp:lastPrinted>2023-06-22T10:39:48Z</cp:lastPrinted>
  <dcterms:created xsi:type="dcterms:W3CDTF">2021-01-18T19:35:43Z</dcterms:created>
  <dcterms:modified xsi:type="dcterms:W3CDTF">2023-06-22T10:41:05Z</dcterms:modified>
  <dc:description/>
</cp:coreProperties>
</file>