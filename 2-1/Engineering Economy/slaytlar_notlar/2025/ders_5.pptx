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notesMasterIdLst>
    <p:notesMasterId r:id="rId49"/>
  </p:notesMasterIdLst>
  <p:sldIdLst>
    <p:sldId id="256" r:id="rId2"/>
    <p:sldId id="367" r:id="rId3"/>
    <p:sldId id="368" r:id="rId4"/>
    <p:sldId id="369" r:id="rId5"/>
    <p:sldId id="370" r:id="rId6"/>
    <p:sldId id="371" r:id="rId7"/>
    <p:sldId id="372" r:id="rId8"/>
    <p:sldId id="373" r:id="rId9"/>
    <p:sldId id="374" r:id="rId10"/>
    <p:sldId id="378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8" r:id="rId25"/>
    <p:sldId id="346" r:id="rId26"/>
    <p:sldId id="347" r:id="rId27"/>
    <p:sldId id="349" r:id="rId28"/>
    <p:sldId id="350" r:id="rId29"/>
    <p:sldId id="375" r:id="rId30"/>
    <p:sldId id="376" r:id="rId31"/>
    <p:sldId id="377" r:id="rId32"/>
    <p:sldId id="353" r:id="rId33"/>
    <p:sldId id="354" r:id="rId34"/>
    <p:sldId id="355" r:id="rId35"/>
    <p:sldId id="351" r:id="rId36"/>
    <p:sldId id="352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620FB-B8DF-4D2B-BC54-D29B39519E0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9EA3B-84DF-430A-987E-E22F814E2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4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 smtClean="0"/>
              <a:t>Throughput</a:t>
            </a:r>
            <a:r>
              <a:rPr lang="tr-TR" dirty="0" smtClean="0"/>
              <a:t>: iş/zaman, üretilen iş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9EA3B-84DF-430A-987E-E22F814E27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2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7780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45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7101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4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5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85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946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983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9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00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792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964916"/>
            <a:ext cx="9144000" cy="1959952"/>
          </a:xfrm>
        </p:spPr>
        <p:txBody>
          <a:bodyPr anchor="ctr">
            <a:normAutofit fontScale="90000"/>
          </a:bodyPr>
          <a:lstStyle/>
          <a:p>
            <a:r>
              <a:rPr lang="tr-TR" dirty="0" smtClean="0"/>
              <a:t>ENGINEERING ECONOMY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905504" y="2924868"/>
            <a:ext cx="9144000" cy="1038087"/>
          </a:xfrm>
        </p:spPr>
        <p:txBody>
          <a:bodyPr anchor="ctr">
            <a:normAutofit/>
          </a:bodyPr>
          <a:lstStyle/>
          <a:p>
            <a:r>
              <a:rPr lang="tr-TR" sz="2800" dirty="0" smtClean="0"/>
              <a:t>LECTURE </a:t>
            </a:r>
            <a:r>
              <a:rPr lang="tr-TR" sz="2800" dirty="0" smtClean="0"/>
              <a:t>5</a:t>
            </a:r>
            <a:endParaRPr lang="tr-TR" sz="2800" dirty="0" smtClean="0"/>
          </a:p>
        </p:txBody>
      </p:sp>
      <p:sp>
        <p:nvSpPr>
          <p:cNvPr id="4" name="Alt Başlık 2"/>
          <p:cNvSpPr txBox="1">
            <a:spLocks/>
          </p:cNvSpPr>
          <p:nvPr/>
        </p:nvSpPr>
        <p:spPr>
          <a:xfrm>
            <a:off x="199835" y="6316021"/>
            <a:ext cx="8853331" cy="466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r-TR" sz="2000" dirty="0" smtClean="0"/>
              <a:t>PROF.DR. YASEMİN ASU ÇIRPICI, MU, DEPT. OF ECONOMICS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5544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11799" y="212155"/>
            <a:ext cx="9456474" cy="643040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Interest as Iteration</a:t>
            </a:r>
            <a:endParaRPr 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75" y="1118331"/>
            <a:ext cx="6162097" cy="314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18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91" y="128579"/>
            <a:ext cx="5087060" cy="5525271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335" y="128579"/>
            <a:ext cx="5620534" cy="5868219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827049" y="5946889"/>
            <a:ext cx="10606789" cy="848616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final amount</a:t>
            </a:r>
            <a:r>
              <a:rPr lang="en-US" sz="2400" dirty="0"/>
              <a:t> after 8 years, with ₺5000 compounded quarterly at 9% nominal annual interest, is</a:t>
            </a:r>
            <a:r>
              <a:rPr lang="en-US" sz="2400" dirty="0" smtClean="0"/>
              <a:t>:</a:t>
            </a:r>
            <a:r>
              <a:rPr lang="tr-TR" sz="2400" dirty="0" smtClean="0"/>
              <a:t> </a:t>
            </a:r>
            <a:r>
              <a:rPr lang="en-US" sz="2400" b="1" dirty="0" smtClean="0"/>
              <a:t>₺</a:t>
            </a:r>
            <a:r>
              <a:rPr lang="en-US" sz="2400" b="1" dirty="0"/>
              <a:t>10,190.52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673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76894" y="310831"/>
            <a:ext cx="10055112" cy="656196"/>
          </a:xfrm>
        </p:spPr>
        <p:txBody>
          <a:bodyPr>
            <a:normAutofit/>
          </a:bodyPr>
          <a:lstStyle/>
          <a:p>
            <a:r>
              <a:rPr lang="en-US" sz="3600" dirty="0"/>
              <a:t>Effective Interest Rate as System Performance</a:t>
            </a:r>
            <a:endParaRPr lang="en-US" sz="36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123" y="1522526"/>
            <a:ext cx="6088863" cy="31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29522" y="5341674"/>
            <a:ext cx="9601200" cy="122303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04" y="203783"/>
            <a:ext cx="8573696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7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15041" y="430887"/>
            <a:ext cx="10686640" cy="4542396"/>
          </a:xfrm>
        </p:spPr>
        <p:txBody>
          <a:bodyPr>
            <a:normAutofit/>
          </a:bodyPr>
          <a:lstStyle/>
          <a:p>
            <a:r>
              <a:rPr lang="en-US" sz="2400" dirty="0"/>
              <a:t>Here are the calculated </a:t>
            </a:r>
            <a:r>
              <a:rPr lang="en-US" sz="2400" b="1" dirty="0"/>
              <a:t>effective annual rates</a:t>
            </a:r>
            <a:r>
              <a:rPr lang="en-US" sz="2400" dirty="0"/>
              <a:t> for each compounding frequency (nominal rate = 9%):</a:t>
            </a:r>
          </a:p>
          <a:p>
            <a:pPr lvl="0"/>
            <a:r>
              <a:rPr lang="en-US" sz="2400" dirty="0"/>
              <a:t>Compounded </a:t>
            </a:r>
            <a:r>
              <a:rPr lang="en-US" sz="2400" b="1" dirty="0"/>
              <a:t>1x/year</a:t>
            </a:r>
            <a:r>
              <a:rPr lang="en-US" sz="2400" dirty="0"/>
              <a:t> → 9.00%</a:t>
            </a:r>
          </a:p>
          <a:p>
            <a:pPr lvl="0"/>
            <a:r>
              <a:rPr lang="en-US" sz="2400" dirty="0"/>
              <a:t>Compounded </a:t>
            </a:r>
            <a:r>
              <a:rPr lang="en-US" sz="2400" b="1" dirty="0"/>
              <a:t>2x/year</a:t>
            </a:r>
            <a:r>
              <a:rPr lang="en-US" sz="2400" dirty="0"/>
              <a:t> → 9.20%</a:t>
            </a:r>
          </a:p>
          <a:p>
            <a:pPr lvl="0"/>
            <a:r>
              <a:rPr lang="en-US" sz="2400" dirty="0"/>
              <a:t>Compounded </a:t>
            </a:r>
            <a:r>
              <a:rPr lang="en-US" sz="2400" b="1" dirty="0"/>
              <a:t>4x/year</a:t>
            </a:r>
            <a:r>
              <a:rPr lang="en-US" sz="2400" dirty="0"/>
              <a:t> → 9.31%</a:t>
            </a:r>
          </a:p>
          <a:p>
            <a:pPr lvl="0"/>
            <a:r>
              <a:rPr lang="en-US" sz="2400" dirty="0"/>
              <a:t>Compounded </a:t>
            </a:r>
            <a:r>
              <a:rPr lang="en-US" sz="2400" b="1" dirty="0"/>
              <a:t>12x/year</a:t>
            </a:r>
            <a:r>
              <a:rPr lang="en-US" sz="2400" dirty="0"/>
              <a:t> → 9.38%</a:t>
            </a:r>
          </a:p>
          <a:p>
            <a:pPr lvl="0"/>
            <a:r>
              <a:rPr lang="en-US" sz="2400" dirty="0"/>
              <a:t>Compounded </a:t>
            </a:r>
            <a:r>
              <a:rPr lang="en-US" sz="2400" b="1" dirty="0"/>
              <a:t>365x/year</a:t>
            </a:r>
            <a:r>
              <a:rPr lang="en-US" sz="2400" dirty="0"/>
              <a:t> → 9.42%</a:t>
            </a:r>
          </a:p>
          <a:p>
            <a:r>
              <a:rPr lang="en-US" sz="2400" dirty="0"/>
              <a:t>As compounding becomes more frequent, the </a:t>
            </a:r>
            <a:r>
              <a:rPr lang="en-US" sz="2400" b="1" dirty="0"/>
              <a:t>effective rate increases slightly</a:t>
            </a:r>
            <a:r>
              <a:rPr lang="en-US" sz="2400" dirty="0"/>
              <a:t>, approaching the continuous compounding limit of about </a:t>
            </a:r>
            <a:r>
              <a:rPr lang="en-US" sz="2400" b="1" dirty="0"/>
              <a:t>9.417%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56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8798634" y="740720"/>
                <a:ext cx="3141194" cy="5187747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 smtClean="0"/>
                  <a:t>The curve flattens as m increases, showing that </a:t>
                </a:r>
                <a:r>
                  <a:rPr lang="en-US" sz="2400" b="1" dirty="0"/>
                  <a:t>more frequent compounding yields diminishing returns</a:t>
                </a:r>
                <a:r>
                  <a:rPr lang="en-US" sz="2400" dirty="0"/>
                  <a:t> — it approaches a limit, which is the continuously compounded </a:t>
                </a:r>
                <a:r>
                  <a:rPr lang="en-US" sz="2400" dirty="0" smtClean="0"/>
                  <a:t>rate</a:t>
                </a:r>
                <a:endParaRPr lang="tr-TR" sz="2400" dirty="0" smtClean="0"/>
              </a:p>
              <a:p>
                <a:pPr marL="0" indent="0">
                  <a:buNone/>
                </a:pPr>
                <a:endParaRPr lang="tr-TR" sz="24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0.09</m:t>
                          </m:r>
                        </m:sup>
                      </m:sSup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≈9.42%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98634" y="740720"/>
                <a:ext cx="3141194" cy="5187747"/>
              </a:xfrm>
              <a:blipFill rotWithShape="0">
                <a:blip r:embed="rId2"/>
                <a:stretch>
                  <a:fillRect l="-2519" t="-1410" r="-4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85" y="509164"/>
            <a:ext cx="8276392" cy="565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6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83472" y="292740"/>
            <a:ext cx="10811629" cy="713758"/>
          </a:xfrm>
        </p:spPr>
        <p:txBody>
          <a:bodyPr>
            <a:normAutofit/>
          </a:bodyPr>
          <a:lstStyle/>
          <a:p>
            <a:r>
              <a:rPr lang="en-US" sz="2400" dirty="0"/>
              <a:t>Plot how the effective rate changes as compounding frequency increases.</a:t>
            </a:r>
          </a:p>
          <a:p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160" y="943589"/>
            <a:ext cx="7576402" cy="577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09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844682" y="361814"/>
            <a:ext cx="3154352" cy="5848212"/>
          </a:xfrm>
        </p:spPr>
        <p:txBody>
          <a:bodyPr>
            <a:normAutofit/>
          </a:bodyPr>
          <a:lstStyle/>
          <a:p>
            <a:r>
              <a:rPr lang="tr-TR" sz="2400" dirty="0" err="1" smtClean="0"/>
              <a:t>Graph</a:t>
            </a:r>
            <a:r>
              <a:rPr lang="en-US" sz="2400" dirty="0" smtClean="0"/>
              <a:t> </a:t>
            </a:r>
            <a:r>
              <a:rPr lang="en-US" sz="2400" dirty="0"/>
              <a:t>visually shows how increasing compounding frequency — from </a:t>
            </a:r>
            <a:r>
              <a:rPr lang="en-US" sz="2400" b="1" dirty="0"/>
              <a:t>annual</a:t>
            </a:r>
            <a:r>
              <a:rPr lang="en-US" sz="2400" dirty="0"/>
              <a:t>, </a:t>
            </a:r>
            <a:r>
              <a:rPr lang="en-US" sz="2400" b="1" dirty="0"/>
              <a:t>semiannual</a:t>
            </a:r>
            <a:r>
              <a:rPr lang="en-US" sz="2400" dirty="0"/>
              <a:t>, </a:t>
            </a:r>
            <a:r>
              <a:rPr lang="en-US" sz="2400" b="1" dirty="0"/>
              <a:t>quarterly</a:t>
            </a:r>
            <a:r>
              <a:rPr lang="en-US" sz="2400" dirty="0"/>
              <a:t>, </a:t>
            </a:r>
            <a:r>
              <a:rPr lang="en-US" sz="2400" b="1" dirty="0"/>
              <a:t>monthly</a:t>
            </a:r>
            <a:r>
              <a:rPr lang="en-US" sz="2400" dirty="0"/>
              <a:t>, to </a:t>
            </a:r>
            <a:r>
              <a:rPr lang="en-US" sz="2400" b="1" dirty="0"/>
              <a:t>daily</a:t>
            </a:r>
            <a:r>
              <a:rPr lang="en-US" sz="2400" dirty="0"/>
              <a:t> — gradually increases the effective rate, approaching the continuous compounding limit around </a:t>
            </a:r>
            <a:r>
              <a:rPr lang="en-US" sz="2400" b="1" dirty="0"/>
              <a:t>9.42%</a:t>
            </a:r>
            <a:r>
              <a:rPr lang="en-US" sz="2400" dirty="0"/>
              <a:t>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38" y="430316"/>
            <a:ext cx="8438677" cy="571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6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201" y="529057"/>
            <a:ext cx="7657278" cy="532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5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34776" y="468712"/>
            <a:ext cx="10574807" cy="1254833"/>
          </a:xfrm>
        </p:spPr>
        <p:txBody>
          <a:bodyPr>
            <a:normAutofit/>
          </a:bodyPr>
          <a:lstStyle/>
          <a:p>
            <a:r>
              <a:rPr lang="en-US" sz="3600" b="1" dirty="0"/>
              <a:t>Calculations Involving Uniform Series and </a:t>
            </a:r>
            <a:r>
              <a:rPr lang="en-US" sz="3600" b="1" dirty="0" smtClean="0"/>
              <a:t>Randomly</a:t>
            </a:r>
            <a:r>
              <a:rPr lang="tr-TR" sz="3600" b="1" dirty="0" smtClean="0"/>
              <a:t> </a:t>
            </a:r>
            <a:r>
              <a:rPr lang="en-US" sz="3600" b="1" dirty="0" smtClean="0"/>
              <a:t>Placed </a:t>
            </a:r>
            <a:r>
              <a:rPr lang="en-US" sz="3600" b="1" dirty="0"/>
              <a:t>Single Amounts</a:t>
            </a:r>
            <a:endParaRPr lang="en-US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9257" y="1950501"/>
            <a:ext cx="10660326" cy="2233372"/>
          </a:xfrm>
        </p:spPr>
        <p:txBody>
          <a:bodyPr>
            <a:normAutofit/>
          </a:bodyPr>
          <a:lstStyle/>
          <a:p>
            <a:r>
              <a:rPr lang="en-US" sz="2400" dirty="0"/>
              <a:t>In most of the equivalence computations, the frequency of cash </a:t>
            </a:r>
            <a:r>
              <a:rPr lang="en-US" sz="2400" dirty="0" smtClean="0"/>
              <a:t>flows</a:t>
            </a:r>
            <a:r>
              <a:rPr lang="tr-TR" sz="2400" dirty="0" smtClean="0"/>
              <a:t> </a:t>
            </a:r>
            <a:r>
              <a:rPr lang="en-US" sz="2400" dirty="0" smtClean="0"/>
              <a:t>does </a:t>
            </a:r>
            <a:r>
              <a:rPr lang="en-US" sz="2400" dirty="0"/>
              <a:t>not equal the frequency of interest compounding. </a:t>
            </a:r>
            <a:endParaRPr lang="tr-TR" sz="2400" dirty="0" smtClean="0"/>
          </a:p>
          <a:p>
            <a:r>
              <a:rPr lang="en-US" sz="2400" dirty="0" smtClean="0"/>
              <a:t>To correctly</a:t>
            </a:r>
            <a:r>
              <a:rPr lang="tr-TR" sz="2400" dirty="0" smtClean="0"/>
              <a:t> </a:t>
            </a:r>
            <a:r>
              <a:rPr lang="en-US" sz="2400" dirty="0" smtClean="0"/>
              <a:t>perform </a:t>
            </a:r>
            <a:r>
              <a:rPr lang="en-US" sz="2400" dirty="0"/>
              <a:t>any equivalence computation, it is essential that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compounding </a:t>
            </a:r>
            <a:r>
              <a:rPr lang="en-US" sz="2400" dirty="0"/>
              <a:t>period and payment period be placed on the same </a:t>
            </a:r>
            <a:r>
              <a:rPr lang="en-US" sz="2400" dirty="0" smtClean="0"/>
              <a:t>time</a:t>
            </a:r>
            <a:r>
              <a:rPr lang="tr-TR" sz="2400" dirty="0" smtClean="0"/>
              <a:t> </a:t>
            </a:r>
            <a:r>
              <a:rPr lang="en-US" sz="2400" dirty="0" smtClean="0"/>
              <a:t>basis</a:t>
            </a:r>
            <a:r>
              <a:rPr lang="en-US" sz="2400" dirty="0"/>
              <a:t>, and the interest rate be adjusted accordingly.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754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26" y="269715"/>
            <a:ext cx="7766842" cy="595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22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95306" y="601926"/>
            <a:ext cx="10495865" cy="4022702"/>
          </a:xfrm>
        </p:spPr>
        <p:txBody>
          <a:bodyPr>
            <a:normAutofit/>
          </a:bodyPr>
          <a:lstStyle/>
          <a:p>
            <a:r>
              <a:rPr lang="en-US" sz="2400" dirty="0"/>
              <a:t>When only single-amount cash flows are involved, there are </a:t>
            </a:r>
            <a:r>
              <a:rPr lang="en-US" sz="2400" dirty="0" smtClean="0"/>
              <a:t>two</a:t>
            </a:r>
            <a:r>
              <a:rPr lang="tr-TR" sz="2400" dirty="0" smtClean="0"/>
              <a:t> </a:t>
            </a:r>
            <a:r>
              <a:rPr lang="en-US" sz="2400" dirty="0" smtClean="0"/>
              <a:t>correct </a:t>
            </a:r>
            <a:r>
              <a:rPr lang="en-US" sz="2400" dirty="0"/>
              <a:t>ways to determine 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n</a:t>
            </a:r>
            <a:r>
              <a:rPr lang="en-US" sz="2400" dirty="0"/>
              <a:t>, </a:t>
            </a:r>
            <a:r>
              <a:rPr lang="en-US" sz="2400" i="1" dirty="0"/>
              <a:t>P</a:t>
            </a:r>
            <a:r>
              <a:rPr lang="en-US" sz="2400" dirty="0"/>
              <a:t>/</a:t>
            </a:r>
            <a:r>
              <a:rPr lang="en-US" sz="2400" i="1" dirty="0"/>
              <a:t>F </a:t>
            </a:r>
            <a:r>
              <a:rPr lang="en-US" sz="2400" dirty="0"/>
              <a:t>and </a:t>
            </a:r>
            <a:r>
              <a:rPr lang="en-US" sz="2400" i="1" dirty="0"/>
              <a:t>F</a:t>
            </a:r>
            <a:r>
              <a:rPr lang="en-US" sz="2400" dirty="0"/>
              <a:t>/</a:t>
            </a:r>
            <a:r>
              <a:rPr lang="en-US" sz="2400" i="1" dirty="0"/>
              <a:t>P </a:t>
            </a:r>
            <a:r>
              <a:rPr lang="en-US" sz="2400" dirty="0"/>
              <a:t>factors.</a:t>
            </a:r>
          </a:p>
          <a:p>
            <a:r>
              <a:rPr lang="en-US" sz="2400" b="1" dirty="0"/>
              <a:t>1 </a:t>
            </a:r>
            <a:r>
              <a:rPr lang="en-US" sz="2400" dirty="0"/>
              <a:t>Determine the effective interest rate over the compounding </a:t>
            </a:r>
            <a:r>
              <a:rPr lang="en-US" sz="2400" dirty="0" smtClean="0"/>
              <a:t>period</a:t>
            </a:r>
            <a:r>
              <a:rPr lang="tr-TR" sz="2400" dirty="0" smtClean="0"/>
              <a:t> </a:t>
            </a:r>
            <a:r>
              <a:rPr lang="en-US" sz="2400" dirty="0" smtClean="0"/>
              <a:t>CP</a:t>
            </a:r>
            <a:r>
              <a:rPr lang="en-US" sz="2400" dirty="0"/>
              <a:t>, and set </a:t>
            </a:r>
            <a:r>
              <a:rPr lang="en-US" sz="2400" i="1" dirty="0"/>
              <a:t>n </a:t>
            </a:r>
            <a:r>
              <a:rPr lang="en-US" sz="2400" dirty="0"/>
              <a:t>equal to the number of compounding </a:t>
            </a:r>
            <a:r>
              <a:rPr lang="en-US" sz="2400" dirty="0" smtClean="0"/>
              <a:t>periods</a:t>
            </a:r>
            <a:r>
              <a:rPr lang="tr-TR" sz="2400" dirty="0" smtClean="0"/>
              <a:t> </a:t>
            </a:r>
            <a:r>
              <a:rPr lang="en-US" sz="2400" dirty="0" smtClean="0"/>
              <a:t>between </a:t>
            </a:r>
            <a:r>
              <a:rPr lang="en-US" sz="2400" i="1" dirty="0"/>
              <a:t>P </a:t>
            </a:r>
            <a:r>
              <a:rPr lang="en-US" sz="2400" dirty="0"/>
              <a:t>and </a:t>
            </a:r>
            <a:r>
              <a:rPr lang="en-US" sz="2400" i="1" dirty="0"/>
              <a:t>F</a:t>
            </a:r>
            <a:r>
              <a:rPr lang="en-US" sz="2400" dirty="0"/>
              <a:t>.</a:t>
            </a:r>
          </a:p>
          <a:p>
            <a:r>
              <a:rPr lang="en-US" sz="2400" b="1" dirty="0"/>
              <a:t>2 </a:t>
            </a:r>
            <a:r>
              <a:rPr lang="en-US" sz="2400" dirty="0"/>
              <a:t>Determine the effective interest rate over the time period </a:t>
            </a:r>
            <a:r>
              <a:rPr lang="en-US" sz="2400" i="1" dirty="0"/>
              <a:t>t </a:t>
            </a:r>
            <a:r>
              <a:rPr lang="en-US" sz="2400" dirty="0"/>
              <a:t>of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nominal </a:t>
            </a:r>
            <a:r>
              <a:rPr lang="en-US" sz="2400" dirty="0"/>
              <a:t>rate, and set </a:t>
            </a:r>
            <a:r>
              <a:rPr lang="en-US" sz="2400" i="1" dirty="0"/>
              <a:t>n </a:t>
            </a:r>
            <a:r>
              <a:rPr lang="en-US" sz="2400" dirty="0"/>
              <a:t>equal to the number of time </a:t>
            </a:r>
            <a:r>
              <a:rPr lang="en-US" sz="2400" dirty="0" smtClean="0"/>
              <a:t>periods</a:t>
            </a:r>
            <a:r>
              <a:rPr lang="tr-TR" sz="2400" dirty="0" smtClean="0"/>
              <a:t> </a:t>
            </a:r>
            <a:r>
              <a:rPr lang="en-US" sz="2400" dirty="0" smtClean="0"/>
              <a:t>between </a:t>
            </a:r>
            <a:r>
              <a:rPr lang="en-US" sz="2400" i="1" dirty="0"/>
              <a:t>P </a:t>
            </a:r>
            <a:r>
              <a:rPr lang="en-US" sz="2400" dirty="0"/>
              <a:t>and </a:t>
            </a:r>
            <a:r>
              <a:rPr lang="en-US" sz="2400" i="1" dirty="0"/>
              <a:t>F</a:t>
            </a:r>
            <a:r>
              <a:rPr lang="en-US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3536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61091" y="396350"/>
            <a:ext cx="9324906" cy="550942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220296" y="1365021"/>
            <a:ext cx="10732687" cy="1272924"/>
          </a:xfrm>
        </p:spPr>
        <p:txBody>
          <a:bodyPr>
            <a:normAutofit/>
          </a:bodyPr>
          <a:lstStyle/>
          <a:p>
            <a:r>
              <a:rPr lang="en-US" sz="2400" dirty="0"/>
              <a:t>Find the future amount equivalence of three cash flows at the end </a:t>
            </a:r>
            <a:r>
              <a:rPr lang="en-US" sz="2400" dirty="0" smtClean="0"/>
              <a:t>of</a:t>
            </a:r>
            <a:r>
              <a:rPr lang="tr-TR" sz="2400" dirty="0" smtClean="0"/>
              <a:t> </a:t>
            </a:r>
            <a:r>
              <a:rPr lang="en-US" sz="2400" dirty="0" smtClean="0"/>
              <a:t>year </a:t>
            </a:r>
            <a:r>
              <a:rPr lang="en-US" sz="2400" dirty="0"/>
              <a:t>10 at an interest rate of 12% per year, compounded semiannually.</a:t>
            </a:r>
            <a:endParaRPr lang="en-US" sz="24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211" y="2547747"/>
            <a:ext cx="7411144" cy="349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13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76" y="393693"/>
            <a:ext cx="11230020" cy="557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8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68992" y="641396"/>
            <a:ext cx="10890571" cy="3003047"/>
          </a:xfrm>
        </p:spPr>
        <p:txBody>
          <a:bodyPr>
            <a:normAutofit/>
          </a:bodyPr>
          <a:lstStyle/>
          <a:p>
            <a:r>
              <a:rPr lang="en-US" sz="2400" dirty="0"/>
              <a:t>When uniform or gradient series are included in the cash </a:t>
            </a:r>
            <a:r>
              <a:rPr lang="en-US" sz="2400" dirty="0" smtClean="0"/>
              <a:t>flow</a:t>
            </a:r>
            <a:r>
              <a:rPr lang="tr-TR" sz="2400" dirty="0" smtClean="0"/>
              <a:t> </a:t>
            </a:r>
            <a:r>
              <a:rPr lang="en-US" sz="2400" dirty="0" smtClean="0"/>
              <a:t>sequence</a:t>
            </a:r>
            <a:r>
              <a:rPr lang="en-US" sz="2400" dirty="0"/>
              <a:t>, we need to determine the effective interest rate over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frequency </a:t>
            </a:r>
            <a:r>
              <a:rPr lang="en-US" sz="2400" dirty="0"/>
              <a:t>of the cash flows.</a:t>
            </a:r>
          </a:p>
          <a:p>
            <a:r>
              <a:rPr lang="en-US" sz="2400" b="1" dirty="0" smtClean="0"/>
              <a:t>1</a:t>
            </a:r>
            <a:r>
              <a:rPr lang="tr-TR" sz="2400" b="1" dirty="0" smtClean="0"/>
              <a:t>)</a:t>
            </a:r>
            <a:r>
              <a:rPr lang="en-US" sz="2400" b="1" dirty="0" smtClean="0"/>
              <a:t> </a:t>
            </a:r>
            <a:r>
              <a:rPr lang="en-US" sz="2400" dirty="0"/>
              <a:t>Find the effective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per payment period</a:t>
            </a:r>
          </a:p>
          <a:p>
            <a:r>
              <a:rPr lang="en-US" sz="2400" b="1" dirty="0" smtClean="0"/>
              <a:t>2</a:t>
            </a:r>
            <a:r>
              <a:rPr lang="tr-TR" sz="2400" b="1" dirty="0" smtClean="0"/>
              <a:t>)</a:t>
            </a:r>
            <a:r>
              <a:rPr lang="en-US" sz="2400" b="1" dirty="0" smtClean="0"/>
              <a:t> </a:t>
            </a:r>
            <a:r>
              <a:rPr lang="en-US" sz="2400" dirty="0"/>
              <a:t>Determine </a:t>
            </a:r>
            <a:r>
              <a:rPr lang="en-US" sz="2400" i="1" dirty="0"/>
              <a:t>n </a:t>
            </a:r>
            <a:r>
              <a:rPr lang="en-US" sz="2400" dirty="0"/>
              <a:t>as the total number of payment periods.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830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01885" y="218733"/>
            <a:ext cx="8923623" cy="60357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7934" y="1174247"/>
            <a:ext cx="10653747" cy="1707100"/>
          </a:xfrm>
        </p:spPr>
        <p:txBody>
          <a:bodyPr>
            <a:normAutofit/>
          </a:bodyPr>
          <a:lstStyle/>
          <a:p>
            <a:r>
              <a:rPr lang="en-US" sz="2400" dirty="0"/>
              <a:t>For the past 7 years, a quality manager has paid $500 every 6 </a:t>
            </a:r>
            <a:r>
              <a:rPr lang="en-US" sz="2400" dirty="0" smtClean="0"/>
              <a:t>months</a:t>
            </a:r>
            <a:r>
              <a:rPr lang="tr-TR" sz="2400" dirty="0" smtClean="0"/>
              <a:t> </a:t>
            </a:r>
            <a:r>
              <a:rPr lang="en-US" sz="2400" dirty="0" smtClean="0"/>
              <a:t>for </a:t>
            </a:r>
            <a:r>
              <a:rPr lang="en-US" sz="2400" dirty="0"/>
              <a:t>the software maintenance contract of a LAN. What is the </a:t>
            </a:r>
            <a:r>
              <a:rPr lang="en-US" sz="2400" dirty="0" smtClean="0"/>
              <a:t>equivalent</a:t>
            </a:r>
            <a:r>
              <a:rPr lang="tr-TR" sz="2400" dirty="0" smtClean="0"/>
              <a:t> </a:t>
            </a:r>
            <a:r>
              <a:rPr lang="en-US" sz="2400" dirty="0" smtClean="0"/>
              <a:t>amount </a:t>
            </a:r>
            <a:r>
              <a:rPr lang="en-US" sz="2400" dirty="0"/>
              <a:t>after the last payment, if these funds are taken from a pool </a:t>
            </a:r>
            <a:r>
              <a:rPr lang="en-US" sz="2400" dirty="0" smtClean="0"/>
              <a:t>that</a:t>
            </a:r>
            <a:r>
              <a:rPr lang="tr-TR" sz="2400" dirty="0" smtClean="0"/>
              <a:t> </a:t>
            </a:r>
            <a:r>
              <a:rPr lang="en-US" sz="2400" dirty="0" smtClean="0"/>
              <a:t>has </a:t>
            </a:r>
            <a:r>
              <a:rPr lang="en-US" sz="2400" dirty="0"/>
              <a:t>been returning 20% per year, compounded quarterly.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994" y="3103890"/>
            <a:ext cx="8263625" cy="286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11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127" y="335499"/>
            <a:ext cx="10409727" cy="595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72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34777" y="323987"/>
            <a:ext cx="9213073" cy="781187"/>
          </a:xfrm>
        </p:spPr>
        <p:txBody>
          <a:bodyPr/>
          <a:lstStyle/>
          <a:p>
            <a:r>
              <a:rPr lang="en-US" dirty="0"/>
              <a:t>timing mismatch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9256" y="1253189"/>
            <a:ext cx="10995826" cy="3680624"/>
          </a:xfrm>
        </p:spPr>
        <p:txBody>
          <a:bodyPr>
            <a:normAutofit/>
          </a:bodyPr>
          <a:lstStyle/>
          <a:p>
            <a:r>
              <a:rPr lang="en-US" sz="2400" dirty="0"/>
              <a:t>In real-world projects, </a:t>
            </a:r>
            <a:r>
              <a:rPr lang="en-US" sz="2400" b="1" dirty="0"/>
              <a:t>cash flows (payments or receipts)</a:t>
            </a:r>
            <a:r>
              <a:rPr lang="en-US" sz="2400" dirty="0"/>
              <a:t> often occur </a:t>
            </a:r>
            <a:r>
              <a:rPr lang="en-US" sz="2400" i="1" dirty="0"/>
              <a:t>between</a:t>
            </a:r>
            <a:r>
              <a:rPr lang="en-US" sz="2400" dirty="0"/>
              <a:t> compounding points.</a:t>
            </a:r>
          </a:p>
          <a:p>
            <a:r>
              <a:rPr lang="en-US" sz="2400" dirty="0"/>
              <a:t>For example, if interest compounds </a:t>
            </a:r>
            <a:r>
              <a:rPr lang="en-US" sz="2400" b="1" dirty="0"/>
              <a:t>quarterly (every 3 months)</a:t>
            </a:r>
            <a:r>
              <a:rPr lang="en-US" sz="2400" dirty="0"/>
              <a:t> but a payment happens </a:t>
            </a:r>
            <a:r>
              <a:rPr lang="en-US" sz="2400" b="1" dirty="0"/>
              <a:t>every month</a:t>
            </a:r>
            <a:r>
              <a:rPr lang="en-US" sz="2400" dirty="0"/>
              <a:t>, then there’s a mismatch — cash flows don’t align with compounding periods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r>
              <a:rPr lang="en-US" sz="2400" dirty="0"/>
              <a:t>When this happens, we must decide how to treat money that flows between compounding points. </a:t>
            </a:r>
          </a:p>
        </p:txBody>
      </p:sp>
    </p:spTree>
    <p:extLst>
      <p:ext uri="{BB962C8B-B14F-4D97-AF65-F5344CB8AC3E}">
        <p14:creationId xmlns:p14="http://schemas.microsoft.com/office/powerpoint/2010/main" val="122760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9257" y="536141"/>
            <a:ext cx="9022300" cy="608504"/>
          </a:xfrm>
        </p:spPr>
        <p:txBody>
          <a:bodyPr>
            <a:normAutofit/>
          </a:bodyPr>
          <a:lstStyle/>
          <a:p>
            <a:r>
              <a:rPr lang="en-US" sz="2400" dirty="0"/>
              <a:t>There are two main approaches:</a:t>
            </a:r>
          </a:p>
          <a:p>
            <a:endParaRPr lang="en-US" sz="2400" dirty="0"/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184197"/>
              </p:ext>
            </p:extLst>
          </p:nvPr>
        </p:nvGraphicFramePr>
        <p:xfrm>
          <a:off x="1213718" y="1618676"/>
          <a:ext cx="10640589" cy="3953304"/>
        </p:xfrm>
        <a:graphic>
          <a:graphicData uri="http://schemas.openxmlformats.org/drawingml/2006/table">
            <a:tbl>
              <a:tblPr/>
              <a:tblGrid>
                <a:gridCol w="3546863"/>
                <a:gridCol w="3546863"/>
                <a:gridCol w="3546863"/>
              </a:tblGrid>
              <a:tr h="478584">
                <a:tc>
                  <a:txBody>
                    <a:bodyPr/>
                    <a:lstStyle/>
                    <a:p>
                      <a:r>
                        <a:rPr lang="en-US" sz="2400" b="1" dirty="0"/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12936">
                <a:tc>
                  <a:txBody>
                    <a:bodyPr/>
                    <a:lstStyle/>
                    <a:p>
                      <a:r>
                        <a:rPr lang="en-US" sz="2400" b="1"/>
                        <a:t>With inter-period compounding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Assume money earns interest for the fractional part of the period (e.g., 1.5 months out of 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More precise, but complicated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48567">
                <a:tc>
                  <a:txBody>
                    <a:bodyPr/>
                    <a:lstStyle/>
                    <a:p>
                      <a:r>
                        <a:rPr lang="en-US" sz="2400" b="1"/>
                        <a:t>No inter-period compounding (simplified)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Assume no interest is earned (or lost) between compounding points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Easier, commonly used in engineering economics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440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82150" y="391414"/>
            <a:ext cx="10877413" cy="4976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/>
              <a:t> </a:t>
            </a:r>
            <a:r>
              <a:rPr lang="tr-TR" sz="2400" b="1" dirty="0" smtClean="0"/>
              <a:t>  </a:t>
            </a:r>
            <a:r>
              <a:rPr lang="en-US" sz="2400" b="1" dirty="0" smtClean="0"/>
              <a:t>“</a:t>
            </a:r>
            <a:r>
              <a:rPr lang="en-US" sz="2400" b="1" dirty="0"/>
              <a:t>No inter-period interest” policy</a:t>
            </a:r>
          </a:p>
          <a:p>
            <a:r>
              <a:rPr lang="en-US" sz="2400" dirty="0"/>
              <a:t>This is the </a:t>
            </a:r>
            <a:r>
              <a:rPr lang="en-US" sz="2400" b="1" dirty="0"/>
              <a:t>simplification rule</a:t>
            </a:r>
            <a:r>
              <a:rPr lang="en-US" sz="2400" dirty="0"/>
              <a:t> you mentioned. It assumes:</a:t>
            </a:r>
          </a:p>
          <a:p>
            <a:r>
              <a:rPr lang="en-US" sz="2400" b="1" dirty="0"/>
              <a:t>Deposits (outflows)</a:t>
            </a:r>
            <a:r>
              <a:rPr lang="en-US" sz="2400" dirty="0"/>
              <a:t> occur </a:t>
            </a:r>
            <a:r>
              <a:rPr lang="en-US" sz="2400" b="1" dirty="0"/>
              <a:t>at the end</a:t>
            </a:r>
            <a:r>
              <a:rPr lang="en-US" sz="2400" dirty="0"/>
              <a:t> of the compounding period (so they don’t start earning until next period).</a:t>
            </a:r>
          </a:p>
          <a:p>
            <a:r>
              <a:rPr lang="en-US" sz="2400" b="1" dirty="0"/>
              <a:t>Withdrawals (inflows)</a:t>
            </a:r>
            <a:r>
              <a:rPr lang="en-US" sz="2400" dirty="0"/>
              <a:t> occur </a:t>
            </a:r>
            <a:r>
              <a:rPr lang="en-US" sz="2400" b="1" dirty="0"/>
              <a:t>at the beginning</a:t>
            </a:r>
            <a:r>
              <a:rPr lang="en-US" sz="2400" dirty="0"/>
              <a:t> of the compounding period (so they were available right before interest is calculated).</a:t>
            </a:r>
          </a:p>
          <a:p>
            <a:r>
              <a:rPr lang="en-US" sz="2400" dirty="0"/>
              <a:t>This convention avoids fractional compounding — it aligns all transactions exactly with compounding points.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3467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983474" y="601925"/>
                <a:ext cx="10337983" cy="528575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tr-TR" sz="2400" b="1" dirty="0" smtClean="0"/>
                  <a:t>     </a:t>
                </a:r>
                <a:r>
                  <a:rPr lang="en-US" sz="2400" b="1" dirty="0" smtClean="0"/>
                  <a:t>Forcing </a:t>
                </a:r>
                <a:r>
                  <a:rPr lang="en-US" sz="2400" b="1" dirty="0"/>
                  <a:t>Payment Period = Compounding Period</a:t>
                </a:r>
              </a:p>
              <a:p>
                <a:r>
                  <a:rPr lang="en-US" sz="2400" dirty="0"/>
                  <a:t>If payment period (PP) ≠ compounding period (CP), we adjust the data so that:</a:t>
                </a:r>
              </a:p>
              <a:p>
                <a:pPr marL="0" indent="0">
                  <a:buNone/>
                </a:pPr>
                <a:r>
                  <a:rPr lang="tr-TR" sz="2400" dirty="0" smtClean="0"/>
                  <a:t>                                             </a:t>
                </a:r>
                <a:r>
                  <a:rPr lang="en-US" sz="2400" dirty="0" smtClean="0"/>
                  <a:t>PP=CP </a:t>
                </a:r>
                <a:endParaRPr lang="tr-TR" sz="2400" dirty="0" smtClean="0"/>
              </a:p>
              <a:p>
                <a:r>
                  <a:rPr lang="en-US" sz="2400" dirty="0" smtClean="0"/>
                  <a:t>That </a:t>
                </a:r>
                <a:r>
                  <a:rPr lang="en-US" sz="2400" dirty="0"/>
                  <a:t>means:</a:t>
                </a:r>
              </a:p>
              <a:p>
                <a:r>
                  <a:rPr lang="en-US" sz="2400" dirty="0"/>
                  <a:t>We shift or group cash flows to the nearest compounding point.</a:t>
                </a:r>
              </a:p>
              <a:p>
                <a:r>
                  <a:rPr lang="en-US" sz="2400" dirty="0"/>
                  <a:t>Then we apply interest formulas normally.</a:t>
                </a:r>
              </a:p>
              <a:p>
                <a:r>
                  <a:rPr lang="en-US" sz="2400" dirty="0"/>
                  <a:t>This allows consistent use of equivalence formulas like</a:t>
                </a:r>
                <a:r>
                  <a:rPr lang="en-US" sz="2400" dirty="0" smtClean="0"/>
                  <a:t>:</a:t>
                </a:r>
                <a:endParaRPr lang="tr-TR" sz="2400" dirty="0" smtClean="0"/>
              </a:p>
              <a:p>
                <a:endParaRPr lang="tr-TR" sz="2400" dirty="0" smtClean="0"/>
              </a:p>
              <a:p>
                <a:pPr marL="0" indent="0">
                  <a:buNone/>
                </a:pPr>
                <a:r>
                  <a:rPr lang="tr-TR" sz="2400" b="0" dirty="0" smtClean="0"/>
                  <a:t>                         </a:t>
                </a:r>
                <a14:m>
                  <m:oMath xmlns:m="http://schemas.openxmlformats.org/officeDocument/2006/math"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tr-TR" sz="2800" dirty="0" smtClean="0"/>
                  <a:t> </a:t>
                </a:r>
                <a:r>
                  <a:rPr lang="tr-TR" sz="2400" dirty="0" smtClean="0"/>
                  <a:t>or</a:t>
                </a:r>
                <a:r>
                  <a:rPr lang="tr-TR" sz="2800" dirty="0" smtClean="0"/>
                  <a:t> </a:t>
                </a:r>
                <a14:m>
                  <m:oMath xmlns:m="http://schemas.openxmlformats.org/officeDocument/2006/math"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tr-T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𝐹</m:t>
                    </m:r>
                    <m:sSup>
                      <m:sSupPr>
                        <m:ctrlPr>
                          <a:rPr lang="tr-T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tr-TR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74" y="601925"/>
                <a:ext cx="10337983" cy="5285759"/>
              </a:xfrm>
              <a:blipFill rotWithShape="0">
                <a:blip r:embed="rId2"/>
                <a:stretch>
                  <a:fillRect l="-767" t="-1384" r="-10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703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57159" y="192419"/>
            <a:ext cx="8989407" cy="550942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9256" y="1161091"/>
            <a:ext cx="10666905" cy="1608423"/>
          </a:xfrm>
        </p:spPr>
        <p:txBody>
          <a:bodyPr>
            <a:normAutofit/>
          </a:bodyPr>
          <a:lstStyle/>
          <a:p>
            <a:r>
              <a:rPr lang="en-US" sz="2400" dirty="0"/>
              <a:t>The cash flow diagram of a project from the project perspective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given</a:t>
            </a:r>
            <a:r>
              <a:rPr lang="en-US" sz="2400" dirty="0"/>
              <a:t>. The applicable interest rate is 12% per year, </a:t>
            </a:r>
            <a:r>
              <a:rPr lang="en-US" sz="2400" dirty="0" smtClean="0"/>
              <a:t>compounded</a:t>
            </a:r>
            <a:r>
              <a:rPr lang="tr-TR" sz="2400" dirty="0" smtClean="0"/>
              <a:t> </a:t>
            </a:r>
            <a:r>
              <a:rPr lang="en-US" sz="2400" dirty="0" smtClean="0"/>
              <a:t>quarterly</a:t>
            </a:r>
            <a:r>
              <a:rPr lang="en-US" sz="2400" dirty="0"/>
              <a:t>. Find the value of future worth, </a:t>
            </a:r>
            <a:r>
              <a:rPr lang="en-US" sz="2400" i="1" dirty="0"/>
              <a:t>F </a:t>
            </a:r>
            <a:r>
              <a:rPr lang="en-US" sz="2400" dirty="0"/>
              <a:t>at the end of year 1.</a:t>
            </a:r>
            <a:endParaRPr lang="en-US" sz="24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46" y="2624392"/>
            <a:ext cx="9398777" cy="369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85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70316" y="562454"/>
            <a:ext cx="10883991" cy="3371439"/>
          </a:xfrm>
        </p:spPr>
        <p:txBody>
          <a:bodyPr>
            <a:normAutofit/>
          </a:bodyPr>
          <a:lstStyle/>
          <a:p>
            <a:r>
              <a:rPr lang="en-US" sz="2400" dirty="0"/>
              <a:t>If your compounding is </a:t>
            </a:r>
            <a:r>
              <a:rPr lang="en-US" sz="2400" b="1" dirty="0"/>
              <a:t>quarterly</a:t>
            </a:r>
            <a:r>
              <a:rPr lang="en-US" sz="2400" dirty="0"/>
              <a:t> but your cash flows are </a:t>
            </a:r>
            <a:r>
              <a:rPr lang="en-US" sz="2400" b="1" dirty="0"/>
              <a:t>monthly</a:t>
            </a:r>
            <a:r>
              <a:rPr lang="en-US" sz="2400" dirty="0"/>
              <a:t>, using the “no inter-period interest” policy means:</a:t>
            </a:r>
          </a:p>
          <a:p>
            <a:r>
              <a:rPr lang="en-US" sz="2400" dirty="0"/>
              <a:t>Combine or shift cash flows into </a:t>
            </a:r>
            <a:r>
              <a:rPr lang="en-US" sz="2400" b="1" dirty="0"/>
              <a:t>quarters</a:t>
            </a:r>
            <a:r>
              <a:rPr lang="en-US" sz="2400" dirty="0"/>
              <a:t> (months 3, 6, 9, 12).</a:t>
            </a:r>
          </a:p>
          <a:p>
            <a:r>
              <a:rPr lang="en-US" sz="2400" dirty="0"/>
              <a:t>Treat all </a:t>
            </a:r>
            <a:r>
              <a:rPr lang="en-US" sz="2400" b="1" dirty="0"/>
              <a:t>receipts/payments within a quarter</a:t>
            </a:r>
            <a:r>
              <a:rPr lang="en-US" sz="2400" dirty="0"/>
              <a:t> as if they happen at that quarter’s end (for deposits) or beginning (for withdrawals).</a:t>
            </a:r>
          </a:p>
          <a:p>
            <a:r>
              <a:rPr lang="en-US" sz="2400" dirty="0"/>
              <a:t>Then calculate future worth using </a:t>
            </a:r>
            <a:r>
              <a:rPr lang="en-US" sz="2400" b="1" dirty="0"/>
              <a:t>quarterly compounding</a:t>
            </a:r>
            <a:r>
              <a:rPr lang="en-US" sz="2400" dirty="0"/>
              <a:t> only.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2012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629" y="282476"/>
            <a:ext cx="7486241" cy="294507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630" y="3375233"/>
            <a:ext cx="7671085" cy="30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92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018" y="243906"/>
            <a:ext cx="7066559" cy="2788744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65" y="3340271"/>
            <a:ext cx="11014463" cy="291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2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47934" y="277938"/>
            <a:ext cx="9074927" cy="629883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7933" y="1338707"/>
            <a:ext cx="10811629" cy="3917448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An engineering firm bought a new machine for 3 million dollars. They estimate a cost of $200,000 per year for all materials, operating and maintenance costs. The expected life of the machine is 10 years. We want to find the constant revenue requirement for each 6-month period that is necessary to recover the initial investment, interest and annual costs. </a:t>
            </a:r>
          </a:p>
          <a:p>
            <a:pPr lvl="0"/>
            <a:r>
              <a:rPr lang="en-US" sz="2400" dirty="0"/>
              <a:t>Find the </a:t>
            </a:r>
            <a:r>
              <a:rPr lang="en-US" sz="2400" b="1" dirty="0"/>
              <a:t>semiannual revenue requirement (A)</a:t>
            </a:r>
            <a:r>
              <a:rPr lang="en-US" sz="2400" dirty="0"/>
              <a:t> that covers both the initial investment and annual costs for two cases:</a:t>
            </a:r>
          </a:p>
          <a:p>
            <a:pPr lvl="0"/>
            <a:r>
              <a:rPr lang="en-US" sz="2400" dirty="0"/>
              <a:t>1</a:t>
            </a:r>
            <a:r>
              <a:rPr lang="tr-TR" sz="2400" dirty="0"/>
              <a:t>)</a:t>
            </a:r>
            <a:r>
              <a:rPr lang="en-US" sz="2400" dirty="0"/>
              <a:t> 8% per year compounded semiannually </a:t>
            </a:r>
          </a:p>
          <a:p>
            <a:pPr lvl="0"/>
            <a:r>
              <a:rPr lang="en-US" sz="2400" dirty="0"/>
              <a:t>2</a:t>
            </a:r>
            <a:r>
              <a:rPr lang="tr-TR" sz="2400" dirty="0"/>
              <a:t>)</a:t>
            </a:r>
            <a:r>
              <a:rPr lang="en-US" sz="2400" dirty="0"/>
              <a:t> 8% per year compounded monthly</a:t>
            </a:r>
          </a:p>
        </p:txBody>
      </p:sp>
    </p:spTree>
    <p:extLst>
      <p:ext uri="{BB962C8B-B14F-4D97-AF65-F5344CB8AC3E}">
        <p14:creationId xmlns:p14="http://schemas.microsoft.com/office/powerpoint/2010/main" val="2904408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55836" y="5437060"/>
            <a:ext cx="10712952" cy="1016367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30" y="303153"/>
            <a:ext cx="11349963" cy="399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43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64" y="352720"/>
            <a:ext cx="10151690" cy="539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3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57" y="319587"/>
            <a:ext cx="10397219" cy="498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6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7933" y="5453507"/>
            <a:ext cx="10430081" cy="1322263"/>
          </a:xfrm>
        </p:spPr>
        <p:txBody>
          <a:bodyPr>
            <a:normAutofit/>
          </a:bodyPr>
          <a:lstStyle/>
          <a:p>
            <a:r>
              <a:rPr lang="en-US" dirty="0"/>
              <a:t>Breakdown:</a:t>
            </a:r>
          </a:p>
          <a:p>
            <a:r>
              <a:rPr lang="en-US" dirty="0"/>
              <a:t>Capital recovery part: $</a:t>
            </a:r>
            <a:r>
              <a:rPr lang="en-US" dirty="0" smtClean="0"/>
              <a:t>222,062.01</a:t>
            </a:r>
            <a:r>
              <a:rPr lang="tr-TR" dirty="0" smtClean="0"/>
              <a:t>   </a:t>
            </a:r>
            <a:endParaRPr lang="en-US" dirty="0"/>
          </a:p>
          <a:p>
            <a:r>
              <a:rPr lang="en-US" dirty="0"/>
              <a:t>O&amp;M coverage part: $</a:t>
            </a:r>
            <a:r>
              <a:rPr lang="en-US" dirty="0" smtClean="0"/>
              <a:t>98,006.90</a:t>
            </a:r>
            <a:r>
              <a:rPr lang="tr-TR" dirty="0" smtClean="0"/>
              <a:t>  </a:t>
            </a:r>
            <a:endParaRPr lang="en-US" dirty="0"/>
          </a:p>
          <a:p>
            <a:endParaRPr lang="en-US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96" y="90007"/>
            <a:ext cx="8678965" cy="50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07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779541" y="172683"/>
            <a:ext cx="11357639" cy="860129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Relations: Single Amounts with PP ≥ CP</a:t>
            </a:r>
            <a:endParaRPr lang="en-US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37424" y="1032812"/>
            <a:ext cx="10772158" cy="3338547"/>
          </a:xfrm>
        </p:spPr>
        <p:txBody>
          <a:bodyPr>
            <a:normAutofit/>
          </a:bodyPr>
          <a:lstStyle/>
          <a:p>
            <a:r>
              <a:rPr lang="en-US" sz="2400" dirty="0"/>
              <a:t>When only single-amount cash flows are involved, there are many correct combinations of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i="1" dirty="0" smtClean="0"/>
              <a:t>n </a:t>
            </a:r>
            <a:r>
              <a:rPr lang="en-US" sz="2400" dirty="0"/>
              <a:t>that can be used to calculate </a:t>
            </a:r>
            <a:r>
              <a:rPr lang="en-US" sz="2400" i="1" dirty="0"/>
              <a:t>P </a:t>
            </a:r>
            <a:r>
              <a:rPr lang="en-US" sz="2400" dirty="0"/>
              <a:t>or </a:t>
            </a:r>
            <a:r>
              <a:rPr lang="en-US" sz="2400" i="1" dirty="0"/>
              <a:t>F</a:t>
            </a:r>
            <a:r>
              <a:rPr lang="en-US" sz="2400" dirty="0"/>
              <a:t>, because of the following two requirements: </a:t>
            </a:r>
            <a:endParaRPr lang="tr-TR" sz="2400" dirty="0" smtClean="0"/>
          </a:p>
          <a:p>
            <a:r>
              <a:rPr lang="en-US" sz="2400" dirty="0" smtClean="0"/>
              <a:t>(</a:t>
            </a:r>
            <a:r>
              <a:rPr lang="en-US" sz="2400" dirty="0"/>
              <a:t>1)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must </a:t>
            </a:r>
            <a:r>
              <a:rPr lang="en-US" sz="2400" dirty="0" smtClean="0"/>
              <a:t>be</a:t>
            </a:r>
            <a:r>
              <a:rPr lang="tr-TR" sz="2400" dirty="0" smtClean="0"/>
              <a:t> </a:t>
            </a:r>
            <a:r>
              <a:rPr lang="en-US" sz="2400" dirty="0" smtClean="0"/>
              <a:t>expressed </a:t>
            </a:r>
            <a:r>
              <a:rPr lang="en-US" sz="2400" dirty="0"/>
              <a:t>as an effective rate, and </a:t>
            </a:r>
            <a:endParaRPr lang="tr-TR" sz="2400" dirty="0" smtClean="0"/>
          </a:p>
          <a:p>
            <a:r>
              <a:rPr lang="en-US" sz="2400" dirty="0" smtClean="0"/>
              <a:t>(</a:t>
            </a:r>
            <a:r>
              <a:rPr lang="en-US" sz="2400" dirty="0"/>
              <a:t>2) the time period of </a:t>
            </a:r>
            <a:r>
              <a:rPr lang="en-US" sz="2400" i="1" dirty="0"/>
              <a:t>n </a:t>
            </a:r>
            <a:r>
              <a:rPr lang="en-US" sz="2400" dirty="0"/>
              <a:t>must be exactly the same as that of </a:t>
            </a:r>
            <a:r>
              <a:rPr lang="en-US" sz="2400" i="1" dirty="0" err="1"/>
              <a:t>i</a:t>
            </a:r>
            <a:r>
              <a:rPr lang="en-US" sz="2400" dirty="0"/>
              <a:t>.</a:t>
            </a:r>
          </a:p>
          <a:p>
            <a:r>
              <a:rPr lang="en-US" sz="2400" dirty="0"/>
              <a:t>These two requirements are fulfilled in two equally correct ways to determine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and </a:t>
            </a:r>
            <a:r>
              <a:rPr lang="en-US" sz="2400" i="1" dirty="0"/>
              <a:t>n </a:t>
            </a:r>
            <a:r>
              <a:rPr lang="en-US" sz="2400" dirty="0"/>
              <a:t>for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F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i="1" dirty="0" smtClean="0"/>
              <a:t>F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/>
              <a:t>factors.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9045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56518" y="3197112"/>
            <a:ext cx="11297335" cy="2716885"/>
          </a:xfrm>
        </p:spPr>
        <p:txBody>
          <a:bodyPr>
            <a:noAutofit/>
          </a:bodyPr>
          <a:lstStyle/>
          <a:p>
            <a:r>
              <a:rPr lang="en-US" sz="2400" dirty="0"/>
              <a:t>For example, assume that the stated interest rate is a nominal 15% per year, compounded monthly.</a:t>
            </a:r>
          </a:p>
          <a:p>
            <a:r>
              <a:rPr lang="en-US" sz="2400" dirty="0"/>
              <a:t>Here CP is 1 month. To find </a:t>
            </a:r>
            <a:r>
              <a:rPr lang="en-US" sz="2400" i="1" dirty="0"/>
              <a:t>P </a:t>
            </a:r>
            <a:r>
              <a:rPr lang="en-US" sz="2400" dirty="0"/>
              <a:t>or </a:t>
            </a:r>
            <a:r>
              <a:rPr lang="en-US" sz="2400" i="1" dirty="0"/>
              <a:t>F </a:t>
            </a:r>
            <a:r>
              <a:rPr lang="en-US" sz="2400" dirty="0"/>
              <a:t>over a 2-year span, calculate the effective monthly rate </a:t>
            </a:r>
            <a:r>
              <a:rPr lang="en-US" sz="2400" dirty="0" smtClean="0"/>
              <a:t>of</a:t>
            </a:r>
            <a:r>
              <a:rPr lang="tr-TR" sz="2400" dirty="0" smtClean="0"/>
              <a:t> </a:t>
            </a:r>
            <a:r>
              <a:rPr lang="en-US" sz="2400" dirty="0" smtClean="0"/>
              <a:t>15</a:t>
            </a:r>
            <a:r>
              <a:rPr lang="en-US" sz="2400" dirty="0"/>
              <a:t>%∕12 = 1.25% and the total months of 2(12) = 24. </a:t>
            </a:r>
            <a:endParaRPr lang="tr-TR" sz="2400" dirty="0" smtClean="0"/>
          </a:p>
          <a:p>
            <a:r>
              <a:rPr lang="en-US" sz="2400" dirty="0" smtClean="0"/>
              <a:t>Then </a:t>
            </a:r>
            <a:r>
              <a:rPr lang="en-US" sz="2400" dirty="0"/>
              <a:t>1.25% and 24 are used in the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F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i="1" dirty="0" smtClean="0"/>
              <a:t>F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/>
              <a:t>factors.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38" y="337120"/>
            <a:ext cx="11211816" cy="240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84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9785" y="2012996"/>
            <a:ext cx="10877415" cy="4150980"/>
          </a:xfrm>
        </p:spPr>
        <p:txBody>
          <a:bodyPr>
            <a:noAutofit/>
          </a:bodyPr>
          <a:lstStyle/>
          <a:p>
            <a:r>
              <a:rPr lang="en-US" sz="2400" dirty="0"/>
              <a:t>For an interest rate of 15% per year, compounded monthly, and </a:t>
            </a:r>
            <a:r>
              <a:rPr lang="en-US" sz="2400" dirty="0" smtClean="0"/>
              <a:t>a</a:t>
            </a:r>
            <a:r>
              <a:rPr lang="tr-TR" sz="2400" dirty="0" smtClean="0"/>
              <a:t> </a:t>
            </a:r>
            <a:r>
              <a:rPr lang="en-US" sz="2400" dirty="0" smtClean="0"/>
              <a:t>2-year </a:t>
            </a:r>
            <a:r>
              <a:rPr lang="en-US" sz="2400" dirty="0"/>
              <a:t>time span between </a:t>
            </a:r>
            <a:r>
              <a:rPr lang="en-US" sz="2400" i="1" dirty="0"/>
              <a:t>P </a:t>
            </a:r>
            <a:r>
              <a:rPr lang="en-US" sz="2400" dirty="0"/>
              <a:t>and </a:t>
            </a:r>
            <a:r>
              <a:rPr lang="en-US" sz="2400" i="1" dirty="0"/>
              <a:t>F</a:t>
            </a:r>
            <a:r>
              <a:rPr lang="en-US" sz="2400" dirty="0"/>
              <a:t>, if a time period </a:t>
            </a:r>
            <a:r>
              <a:rPr lang="en-US" sz="2400" i="1" dirty="0"/>
              <a:t>t </a:t>
            </a:r>
            <a:r>
              <a:rPr lang="en-US" sz="2400" dirty="0"/>
              <a:t>of 1 year is used, the effective yearly rate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i="1" dirty="0"/>
              <a:t>n </a:t>
            </a:r>
            <a:r>
              <a:rPr lang="en-US" sz="2400" dirty="0"/>
              <a:t>values </a:t>
            </a:r>
            <a:r>
              <a:rPr lang="en-US" sz="2400" dirty="0" smtClean="0"/>
              <a:t>are</a:t>
            </a:r>
            <a:endParaRPr lang="tr-TR" sz="2400" dirty="0" smtClean="0"/>
          </a:p>
          <a:p>
            <a:endParaRPr lang="tr-TR" sz="2400" dirty="0" smtClean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 smtClean="0"/>
          </a:p>
          <a:p>
            <a:r>
              <a:rPr lang="en-US" sz="2400" dirty="0" smtClean="0"/>
              <a:t>The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F </a:t>
            </a:r>
            <a:r>
              <a:rPr lang="en-US" sz="2400" dirty="0"/>
              <a:t>factor is the same by both methods: (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F</a:t>
            </a:r>
            <a:r>
              <a:rPr lang="en-US" sz="2400" dirty="0"/>
              <a:t>,1.25%,24) = </a:t>
            </a:r>
            <a:r>
              <a:rPr lang="en-US" sz="2400" dirty="0" smtClean="0"/>
              <a:t>0.7422, </a:t>
            </a:r>
            <a:r>
              <a:rPr lang="en-US" sz="2400" dirty="0"/>
              <a:t>and (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F</a:t>
            </a:r>
            <a:r>
              <a:rPr lang="en-US" sz="2400" dirty="0"/>
              <a:t>,16.076%,2) = </a:t>
            </a:r>
            <a:r>
              <a:rPr lang="en-US" sz="2400" dirty="0" smtClean="0"/>
              <a:t>0.7422.</a:t>
            </a:r>
            <a:endParaRPr lang="en-US" sz="24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91" y="571953"/>
            <a:ext cx="11349960" cy="934614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601" y="3512111"/>
            <a:ext cx="6404083" cy="132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56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29523" y="258203"/>
            <a:ext cx="9239387" cy="610148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37423" y="1161089"/>
            <a:ext cx="10883993" cy="2609111"/>
          </a:xfrm>
        </p:spPr>
        <p:txBody>
          <a:bodyPr>
            <a:noAutofit/>
          </a:bodyPr>
          <a:lstStyle/>
          <a:p>
            <a:r>
              <a:rPr lang="en-US" sz="2400" dirty="0"/>
              <a:t>Over the past 10 years, </a:t>
            </a:r>
            <a:r>
              <a:rPr lang="en-US" sz="2400" dirty="0" err="1"/>
              <a:t>Gentrack</a:t>
            </a:r>
            <a:r>
              <a:rPr lang="en-US" sz="2400" dirty="0"/>
              <a:t> has placed varying sums of money into a special </a:t>
            </a:r>
            <a:r>
              <a:rPr lang="en-US" sz="2400" dirty="0" smtClean="0"/>
              <a:t>capital</a:t>
            </a:r>
            <a:r>
              <a:rPr lang="tr-TR" sz="2400" dirty="0" smtClean="0"/>
              <a:t> </a:t>
            </a:r>
            <a:r>
              <a:rPr lang="en-US" sz="2400" dirty="0" smtClean="0"/>
              <a:t>accumulation</a:t>
            </a:r>
            <a:r>
              <a:rPr lang="tr-TR" sz="2400" dirty="0" smtClean="0"/>
              <a:t> </a:t>
            </a:r>
            <a:r>
              <a:rPr lang="en-US" sz="2400" dirty="0" smtClean="0"/>
              <a:t>fund</a:t>
            </a:r>
            <a:r>
              <a:rPr lang="en-US" sz="2400" dirty="0"/>
              <a:t>. The company sells compost produced by garbage-to-compost plants </a:t>
            </a:r>
            <a:r>
              <a:rPr lang="en-US" sz="2400" dirty="0" smtClean="0"/>
              <a:t>in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United States and Vietnam. Figure </a:t>
            </a:r>
            <a:r>
              <a:rPr lang="en-US" sz="2400" dirty="0" smtClean="0"/>
              <a:t>is </a:t>
            </a:r>
            <a:r>
              <a:rPr lang="en-US" sz="2400" dirty="0"/>
              <a:t>the cash flow diagram in $1000 units. </a:t>
            </a:r>
            <a:endParaRPr lang="tr-TR" sz="2400" dirty="0" smtClean="0"/>
          </a:p>
          <a:p>
            <a:r>
              <a:rPr lang="en-US" sz="2400" dirty="0" smtClean="0"/>
              <a:t>Find the</a:t>
            </a:r>
            <a:r>
              <a:rPr lang="tr-TR" sz="2400" dirty="0" smtClean="0"/>
              <a:t> </a:t>
            </a:r>
            <a:r>
              <a:rPr lang="en-US" sz="2400" dirty="0" smtClean="0"/>
              <a:t>amount </a:t>
            </a:r>
            <a:r>
              <a:rPr lang="en-US" sz="2400" dirty="0"/>
              <a:t>in the account now (after 10 years) at an interest rate of 12% per year, compounded semiannually.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209" y="3770200"/>
            <a:ext cx="6345583" cy="260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87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08463" y="654552"/>
            <a:ext cx="10673482" cy="4450300"/>
          </a:xfrm>
        </p:spPr>
        <p:txBody>
          <a:bodyPr>
            <a:normAutofit/>
          </a:bodyPr>
          <a:lstStyle/>
          <a:p>
            <a:r>
              <a:rPr lang="en-US" sz="2400" i="1" dirty="0"/>
              <a:t>Method 1: </a:t>
            </a:r>
            <a:r>
              <a:rPr lang="en-US" sz="2400" dirty="0"/>
              <a:t>Use the semiannual CP to express the effective semiannual rate of 6% per </a:t>
            </a:r>
            <a:r>
              <a:rPr lang="en-US" sz="2400" dirty="0" smtClean="0"/>
              <a:t>6-month</a:t>
            </a:r>
            <a:r>
              <a:rPr lang="tr-TR" sz="2400" dirty="0" smtClean="0"/>
              <a:t> </a:t>
            </a:r>
            <a:r>
              <a:rPr lang="en-US" sz="2400" dirty="0" smtClean="0"/>
              <a:t>period</a:t>
            </a:r>
            <a:r>
              <a:rPr lang="en-US" sz="2400" dirty="0"/>
              <a:t>. There are </a:t>
            </a:r>
            <a:r>
              <a:rPr lang="en-US" sz="2400" i="1" dirty="0"/>
              <a:t>n </a:t>
            </a:r>
            <a:r>
              <a:rPr lang="en-US" sz="2400" dirty="0"/>
              <a:t>= (2)(number of years) semiannual periods for each cash flow.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66" y="2121831"/>
            <a:ext cx="9328049" cy="21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76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9256" y="667710"/>
            <a:ext cx="10837943" cy="1055835"/>
          </a:xfrm>
        </p:spPr>
        <p:txBody>
          <a:bodyPr>
            <a:normAutofit/>
          </a:bodyPr>
          <a:lstStyle/>
          <a:p>
            <a:r>
              <a:rPr lang="en-US" sz="2400" i="1" dirty="0"/>
              <a:t>Method 2: </a:t>
            </a:r>
            <a:r>
              <a:rPr lang="en-US" sz="2400" dirty="0"/>
              <a:t>Express the effective annual rate, based on semiannual compounding.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974" y="1723545"/>
            <a:ext cx="6488919" cy="1115777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74" y="3187301"/>
            <a:ext cx="10709662" cy="199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28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102" y="210509"/>
            <a:ext cx="10525467" cy="628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89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57159" y="264781"/>
            <a:ext cx="11041874" cy="1031167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Equivalence Relations: Single </a:t>
            </a:r>
            <a:r>
              <a:rPr lang="en-US" sz="3600" b="1" dirty="0" smtClean="0"/>
              <a:t>Amounts</a:t>
            </a:r>
            <a:r>
              <a:rPr lang="tr-TR" sz="3600" b="1" dirty="0" smtClean="0"/>
              <a:t> </a:t>
            </a:r>
            <a:r>
              <a:rPr lang="en-US" sz="3600" b="1" dirty="0" smtClean="0"/>
              <a:t>and </a:t>
            </a:r>
            <a:r>
              <a:rPr lang="en-US" sz="3600" b="1" dirty="0"/>
              <a:t>Series with PP &lt; CP</a:t>
            </a:r>
            <a:endParaRPr lang="en-US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57158" y="1404492"/>
            <a:ext cx="10864257" cy="5029200"/>
          </a:xfrm>
        </p:spPr>
        <p:txBody>
          <a:bodyPr>
            <a:normAutofit/>
          </a:bodyPr>
          <a:lstStyle/>
          <a:p>
            <a:r>
              <a:rPr lang="en-US" sz="2400" dirty="0"/>
              <a:t>If a person deposits money each month into a savings account where interest is compounded </a:t>
            </a:r>
            <a:r>
              <a:rPr lang="en-US" sz="2400" dirty="0" smtClean="0"/>
              <a:t>quarterly,</a:t>
            </a:r>
            <a:r>
              <a:rPr lang="tr-TR" sz="2400" dirty="0" smtClean="0"/>
              <a:t> </a:t>
            </a:r>
            <a:r>
              <a:rPr lang="en-US" sz="2400" dirty="0" smtClean="0"/>
              <a:t>do </a:t>
            </a:r>
            <a:r>
              <a:rPr lang="en-US" sz="2400" dirty="0"/>
              <a:t>all the monthly deposits earn interest before the next quarterly compounding time? </a:t>
            </a:r>
            <a:endParaRPr lang="tr-TR" sz="2400" dirty="0" smtClean="0"/>
          </a:p>
          <a:p>
            <a:r>
              <a:rPr lang="en-US" sz="2400" dirty="0" smtClean="0"/>
              <a:t>If a</a:t>
            </a:r>
            <a:r>
              <a:rPr lang="tr-TR" sz="2400" dirty="0" smtClean="0"/>
              <a:t> </a:t>
            </a:r>
            <a:r>
              <a:rPr lang="en-US" sz="2400" dirty="0" smtClean="0"/>
              <a:t>person's </a:t>
            </a:r>
            <a:r>
              <a:rPr lang="en-US" sz="2400" dirty="0"/>
              <a:t>credit card payment is due with interest on the 15th of the month, and if the full </a:t>
            </a:r>
            <a:r>
              <a:rPr lang="en-US" sz="2400" dirty="0" smtClean="0"/>
              <a:t>payment</a:t>
            </a:r>
            <a:r>
              <a:rPr lang="tr-TR" sz="2400" dirty="0" smtClean="0"/>
              <a:t> </a:t>
            </a:r>
            <a:r>
              <a:rPr lang="en-US" sz="2400" dirty="0" smtClean="0"/>
              <a:t>is </a:t>
            </a:r>
            <a:r>
              <a:rPr lang="en-US" sz="2400" dirty="0"/>
              <a:t>made on the 1st, does the financial institution reduce the interest owed, based on early </a:t>
            </a:r>
            <a:r>
              <a:rPr lang="en-US" sz="2400" dirty="0" smtClean="0"/>
              <a:t>payment?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usual answers are no. </a:t>
            </a:r>
            <a:endParaRPr lang="tr-TR" sz="2400" dirty="0" smtClean="0"/>
          </a:p>
          <a:p>
            <a:r>
              <a:rPr lang="en-US" sz="2400" dirty="0" smtClean="0"/>
              <a:t>However</a:t>
            </a:r>
            <a:r>
              <a:rPr lang="en-US" sz="2400" dirty="0"/>
              <a:t>, if a monthly payment on a $10 million, quarterly </a:t>
            </a:r>
            <a:r>
              <a:rPr lang="en-US" sz="2400" dirty="0" smtClean="0"/>
              <a:t>compounded,</a:t>
            </a:r>
            <a:r>
              <a:rPr lang="tr-TR" sz="2400" dirty="0" smtClean="0"/>
              <a:t> </a:t>
            </a:r>
            <a:r>
              <a:rPr lang="en-US" sz="2400" dirty="0" smtClean="0"/>
              <a:t>bank </a:t>
            </a:r>
            <a:r>
              <a:rPr lang="en-US" sz="2400" dirty="0"/>
              <a:t>loan were made early by a large corporation, the corporate financial officer would likely </a:t>
            </a:r>
            <a:r>
              <a:rPr lang="en-US" sz="2400" dirty="0" smtClean="0"/>
              <a:t>insist</a:t>
            </a:r>
            <a:r>
              <a:rPr lang="tr-TR" sz="2400" dirty="0" smtClean="0"/>
              <a:t> </a:t>
            </a:r>
            <a:r>
              <a:rPr lang="en-US" sz="2400" dirty="0" smtClean="0"/>
              <a:t>that </a:t>
            </a:r>
            <a:r>
              <a:rPr lang="en-US" sz="2400" dirty="0"/>
              <a:t>the bank reduce the amount of interest due, based on early payment. </a:t>
            </a:r>
            <a:endParaRPr lang="tr-TR" sz="2400" dirty="0" smtClean="0"/>
          </a:p>
          <a:p>
            <a:r>
              <a:rPr lang="en-US" sz="2400" dirty="0" smtClean="0"/>
              <a:t>These </a:t>
            </a:r>
            <a:r>
              <a:rPr lang="en-US" sz="2400" dirty="0"/>
              <a:t>are examples of </a:t>
            </a:r>
            <a:r>
              <a:rPr lang="en-US" sz="2400" dirty="0" smtClean="0"/>
              <a:t>PP</a:t>
            </a:r>
            <a:r>
              <a:rPr lang="tr-TR" sz="2400" dirty="0" smtClean="0"/>
              <a:t> </a:t>
            </a:r>
            <a:r>
              <a:rPr lang="en-US" sz="2400" dirty="0" smtClean="0"/>
              <a:t>&lt; </a:t>
            </a:r>
            <a:r>
              <a:rPr lang="en-US" sz="2400" dirty="0"/>
              <a:t>CP.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85274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50581" y="299317"/>
            <a:ext cx="11173442" cy="6213317"/>
          </a:xfrm>
        </p:spPr>
        <p:txBody>
          <a:bodyPr>
            <a:normAutofit/>
          </a:bodyPr>
          <a:lstStyle/>
          <a:p>
            <a:r>
              <a:rPr lang="en-US" sz="2400" dirty="0"/>
              <a:t>The timing of cash flow transactions between compounding points introduces the question </a:t>
            </a:r>
            <a:r>
              <a:rPr lang="en-US" sz="2400" dirty="0" smtClean="0"/>
              <a:t>of</a:t>
            </a:r>
            <a:r>
              <a:rPr lang="tr-TR" sz="2400" dirty="0" smtClean="0"/>
              <a:t> </a:t>
            </a:r>
            <a:r>
              <a:rPr lang="en-US" sz="2400" dirty="0" smtClean="0"/>
              <a:t>how </a:t>
            </a:r>
            <a:r>
              <a:rPr lang="en-US" sz="2400" b="1" dirty="0" err="1"/>
              <a:t>interperiod</a:t>
            </a:r>
            <a:r>
              <a:rPr lang="en-US" sz="2400" b="1" dirty="0"/>
              <a:t> compounding </a:t>
            </a:r>
            <a:r>
              <a:rPr lang="en-US" sz="2400" dirty="0"/>
              <a:t>is handled. </a:t>
            </a:r>
            <a:endParaRPr lang="tr-TR" sz="2400" dirty="0" smtClean="0"/>
          </a:p>
          <a:p>
            <a:r>
              <a:rPr lang="en-US" sz="2400" dirty="0" smtClean="0"/>
              <a:t>Fundamentally</a:t>
            </a:r>
            <a:r>
              <a:rPr lang="en-US" sz="2400" dirty="0"/>
              <a:t>, there are two policies, one of </a:t>
            </a:r>
            <a:r>
              <a:rPr lang="en-US" sz="2400" dirty="0" smtClean="0"/>
              <a:t>which</a:t>
            </a:r>
            <a:r>
              <a:rPr lang="tr-TR" sz="2400" dirty="0" smtClean="0"/>
              <a:t> </a:t>
            </a:r>
            <a:r>
              <a:rPr lang="en-US" sz="2400" dirty="0" smtClean="0"/>
              <a:t>must </a:t>
            </a:r>
            <a:r>
              <a:rPr lang="en-US" sz="2400" dirty="0"/>
              <a:t>be applied: </a:t>
            </a:r>
            <a:r>
              <a:rPr lang="en-US" sz="2400" dirty="0" err="1"/>
              <a:t>interperiod</a:t>
            </a:r>
            <a:r>
              <a:rPr lang="en-US" sz="2400" dirty="0"/>
              <a:t> cash flows earn </a:t>
            </a:r>
            <a:r>
              <a:rPr lang="en-US" sz="2400" i="1" dirty="0"/>
              <a:t>no interest </a:t>
            </a:r>
            <a:r>
              <a:rPr lang="en-US" sz="2400" dirty="0"/>
              <a:t>or they earn </a:t>
            </a:r>
            <a:r>
              <a:rPr lang="en-US" sz="2400" i="1" dirty="0"/>
              <a:t>compound interest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endParaRPr lang="tr-TR" sz="2400" dirty="0"/>
          </a:p>
          <a:p>
            <a:r>
              <a:rPr lang="en-US" sz="2400" dirty="0"/>
              <a:t>For a no-</a:t>
            </a:r>
            <a:r>
              <a:rPr lang="en-US" sz="2400" dirty="0" err="1"/>
              <a:t>interperiod</a:t>
            </a:r>
            <a:r>
              <a:rPr lang="en-US" sz="2400" dirty="0"/>
              <a:t>-interest policy, negative cash flows (deposits or payments, depending on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perspective </a:t>
            </a:r>
            <a:r>
              <a:rPr lang="en-US" sz="2400" dirty="0"/>
              <a:t>used for cash flows) are all regarded as </a:t>
            </a:r>
            <a:r>
              <a:rPr lang="en-US" sz="2400" i="1" dirty="0"/>
              <a:t>made at the end of the compounding </a:t>
            </a:r>
            <a:r>
              <a:rPr lang="en-US" sz="2400" i="1" dirty="0" smtClean="0"/>
              <a:t>period,</a:t>
            </a:r>
            <a:r>
              <a:rPr lang="tr-TR" sz="2400" i="1" dirty="0" smtClean="0"/>
              <a:t> </a:t>
            </a:r>
            <a:r>
              <a:rPr lang="en-US" sz="2400" dirty="0" smtClean="0"/>
              <a:t>and </a:t>
            </a:r>
            <a:r>
              <a:rPr lang="en-US" sz="2400" dirty="0"/>
              <a:t>positive cash flows (receipts or withdrawals) are all regarded as </a:t>
            </a:r>
            <a:r>
              <a:rPr lang="en-US" sz="2400" i="1" dirty="0"/>
              <a:t>made at the beginning</a:t>
            </a:r>
            <a:r>
              <a:rPr lang="en-US" sz="2400" i="1" dirty="0" smtClean="0"/>
              <a:t>.</a:t>
            </a:r>
            <a:endParaRPr lang="tr-TR" sz="2400" i="1" dirty="0" smtClean="0"/>
          </a:p>
          <a:p>
            <a:endParaRPr lang="tr-TR" sz="2400" i="1" dirty="0"/>
          </a:p>
          <a:p>
            <a:r>
              <a:rPr lang="en-US" sz="2400" dirty="0"/>
              <a:t>As an illustration, when interest is compounded quarterly, all monthly deposits are moved to the </a:t>
            </a:r>
            <a:r>
              <a:rPr lang="en-US" sz="2400" dirty="0" smtClean="0"/>
              <a:t>end</a:t>
            </a:r>
            <a:r>
              <a:rPr lang="tr-TR" sz="2400" dirty="0" smtClean="0"/>
              <a:t> </a:t>
            </a:r>
            <a:r>
              <a:rPr lang="en-US" sz="2400" dirty="0" smtClean="0"/>
              <a:t>of </a:t>
            </a:r>
            <a:r>
              <a:rPr lang="en-US" sz="2400" dirty="0"/>
              <a:t>the quarter (no </a:t>
            </a:r>
            <a:r>
              <a:rPr lang="en-US" sz="2400" dirty="0" err="1"/>
              <a:t>interperiod</a:t>
            </a:r>
            <a:r>
              <a:rPr lang="en-US" sz="2400" dirty="0"/>
              <a:t> interest is earned) and all withdrawals are moved to the beginning (</a:t>
            </a:r>
            <a:r>
              <a:rPr lang="en-US" sz="2400" dirty="0" smtClean="0"/>
              <a:t>no</a:t>
            </a:r>
            <a:r>
              <a:rPr lang="tr-TR" sz="2400" dirty="0" smtClean="0"/>
              <a:t> </a:t>
            </a:r>
            <a:r>
              <a:rPr lang="en-US" sz="2400" dirty="0" smtClean="0"/>
              <a:t>interest </a:t>
            </a:r>
            <a:r>
              <a:rPr lang="en-US" sz="2400" dirty="0"/>
              <a:t>is paid for the entire quarter).</a:t>
            </a:r>
            <a:endParaRPr lang="tr-TR" sz="2400" i="1" dirty="0" smtClean="0"/>
          </a:p>
          <a:p>
            <a:endParaRPr lang="tr-TR" sz="2400" i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56642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28199" y="264781"/>
            <a:ext cx="8752584" cy="636462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44002" y="1108463"/>
            <a:ext cx="10634013" cy="3595106"/>
          </a:xfrm>
        </p:spPr>
        <p:txBody>
          <a:bodyPr>
            <a:normAutofit/>
          </a:bodyPr>
          <a:lstStyle/>
          <a:p>
            <a:r>
              <a:rPr lang="en-US" sz="2400" dirty="0"/>
              <a:t>Last year, </a:t>
            </a:r>
            <a:r>
              <a:rPr lang="en-US" sz="2400" dirty="0" err="1"/>
              <a:t>AllStar</a:t>
            </a:r>
            <a:r>
              <a:rPr lang="en-US" sz="2400" dirty="0"/>
              <a:t> Venture Capital invested in a new company called Clean Air Now (CAN), which makes filtration systems for coal power plants. </a:t>
            </a:r>
            <a:r>
              <a:rPr lang="en-US" sz="2400" dirty="0" err="1"/>
              <a:t>AllStar</a:t>
            </a:r>
            <a:r>
              <a:rPr lang="en-US" sz="2400" dirty="0"/>
              <a:t> paid money to CAN during the first year and also received some unexpected payments back. The annual interest rate is </a:t>
            </a:r>
            <a:r>
              <a:rPr lang="en-US" sz="2400" b="1" dirty="0"/>
              <a:t>12% compounded quarterly</a:t>
            </a:r>
            <a:r>
              <a:rPr lang="en-US" sz="2400" dirty="0"/>
              <a:t>, and </a:t>
            </a:r>
            <a:r>
              <a:rPr lang="en-US" sz="2400" dirty="0" err="1"/>
              <a:t>AllStar</a:t>
            </a:r>
            <a:r>
              <a:rPr lang="en-US" sz="2400" dirty="0"/>
              <a:t> does </a:t>
            </a:r>
            <a:r>
              <a:rPr lang="en-US" sz="2400" b="1" dirty="0"/>
              <a:t>not use </a:t>
            </a:r>
            <a:r>
              <a:rPr lang="en-US" sz="2400" b="1" dirty="0" err="1"/>
              <a:t>interperiod</a:t>
            </a:r>
            <a:r>
              <a:rPr lang="en-US" sz="2400" b="1" dirty="0"/>
              <a:t> interest</a:t>
            </a:r>
            <a:r>
              <a:rPr lang="en-US" sz="2400" dirty="0"/>
              <a:t> (interest is only applied at quarter ends).</a:t>
            </a:r>
          </a:p>
          <a:p>
            <a:r>
              <a:rPr lang="en-US" sz="2400" dirty="0"/>
              <a:t>Based on the cash flow diagram (in $1,000 units) showing these payments and receipts, </a:t>
            </a:r>
            <a:r>
              <a:rPr lang="en-US" sz="2400" b="1" dirty="0"/>
              <a:t>how much money has </a:t>
            </a:r>
            <a:r>
              <a:rPr lang="en-US" sz="2400" b="1" dirty="0" err="1"/>
              <a:t>AllStar</a:t>
            </a:r>
            <a:r>
              <a:rPr lang="en-US" sz="2400" b="1" dirty="0"/>
              <a:t> lost (is “in the red”) by the end of the first year?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4095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240" y="101949"/>
            <a:ext cx="8409410" cy="301062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73" y="3234678"/>
            <a:ext cx="8185744" cy="345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371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202531" y="5959568"/>
            <a:ext cx="10502445" cy="572906"/>
          </a:xfrm>
        </p:spPr>
        <p:txBody>
          <a:bodyPr>
            <a:noAutofit/>
          </a:bodyPr>
          <a:lstStyle/>
          <a:p>
            <a:r>
              <a:rPr lang="en-US" sz="2400" dirty="0" err="1"/>
              <a:t>AllStar</a:t>
            </a:r>
            <a:r>
              <a:rPr lang="en-US" sz="2400" dirty="0"/>
              <a:t> has a net investment of $262,111 in CAN at the end of the year.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531" y="4006017"/>
            <a:ext cx="10126598" cy="1716967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29" y="631177"/>
            <a:ext cx="6650780" cy="2644822"/>
          </a:xfrm>
          <a:prstGeom prst="rect">
            <a:avLst/>
          </a:prstGeom>
        </p:spPr>
      </p:pic>
      <p:sp>
        <p:nvSpPr>
          <p:cNvPr id="6" name="İçerik Yer Tutucusu 2"/>
          <p:cNvSpPr txBox="1">
            <a:spLocks/>
          </p:cNvSpPr>
          <p:nvPr/>
        </p:nvSpPr>
        <p:spPr>
          <a:xfrm>
            <a:off x="7582721" y="137743"/>
            <a:ext cx="4455784" cy="3631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All negative</a:t>
            </a:r>
            <a:r>
              <a:rPr lang="tr-TR" sz="2400" dirty="0" smtClean="0"/>
              <a:t> </a:t>
            </a:r>
            <a:r>
              <a:rPr lang="en-US" sz="2400" dirty="0" smtClean="0"/>
              <a:t>cash flows (payments to CAN) are moved to the end of the respective quarter, and all</a:t>
            </a:r>
            <a:r>
              <a:rPr lang="tr-TR" sz="2400" dirty="0" smtClean="0"/>
              <a:t> </a:t>
            </a:r>
            <a:r>
              <a:rPr lang="en-US" sz="2400" dirty="0" smtClean="0"/>
              <a:t>positive cash flows (receipts) are moved to the beginning of the respective quarter. Calculate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i="1" dirty="0" smtClean="0"/>
              <a:t>F </a:t>
            </a:r>
            <a:r>
              <a:rPr lang="en-US" sz="2400" dirty="0" smtClean="0"/>
              <a:t>value at 12%∕4 = 3% per quarter.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11106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37425" y="245046"/>
            <a:ext cx="10831364" cy="794344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Effective Interest Rate for </a:t>
            </a:r>
            <a:r>
              <a:rPr lang="en-US" sz="3600" b="1" dirty="0" smtClean="0"/>
              <a:t>Continuous</a:t>
            </a:r>
            <a:r>
              <a:rPr lang="tr-TR" sz="3600" b="1" dirty="0" smtClean="0"/>
              <a:t> </a:t>
            </a:r>
            <a:r>
              <a:rPr lang="en-US" sz="3600" b="1" dirty="0" smtClean="0"/>
              <a:t>Compounding</a:t>
            </a:r>
            <a:endParaRPr lang="en-US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15042" y="1115041"/>
            <a:ext cx="10824786" cy="5298916"/>
          </a:xfrm>
        </p:spPr>
        <p:txBody>
          <a:bodyPr>
            <a:normAutofit/>
          </a:bodyPr>
          <a:lstStyle/>
          <a:p>
            <a:r>
              <a:rPr lang="en-US" sz="2400" dirty="0"/>
              <a:t>If we allow compounding to occur more and more frequently, the compounding period </a:t>
            </a:r>
            <a:r>
              <a:rPr lang="en-US" sz="2400" dirty="0" smtClean="0"/>
              <a:t>becomes</a:t>
            </a:r>
            <a:r>
              <a:rPr lang="tr-TR" sz="2400" dirty="0" smtClean="0"/>
              <a:t> </a:t>
            </a:r>
            <a:r>
              <a:rPr lang="en-US" sz="2400" dirty="0" smtClean="0"/>
              <a:t>shorter </a:t>
            </a:r>
            <a:r>
              <a:rPr lang="en-US" sz="2400" dirty="0"/>
              <a:t>and shorter and </a:t>
            </a:r>
            <a:r>
              <a:rPr lang="en-US" sz="2400" i="1" dirty="0"/>
              <a:t>m</a:t>
            </a:r>
            <a:r>
              <a:rPr lang="en-US" sz="2400" dirty="0"/>
              <a:t>, the number of compounding periods per payment period, increases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r>
              <a:rPr lang="en-US" sz="2400" b="1" dirty="0"/>
              <a:t>Continuous compounding </a:t>
            </a:r>
            <a:r>
              <a:rPr lang="en-US" sz="2400" dirty="0"/>
              <a:t>is present when the duration of CP, the compounding </a:t>
            </a:r>
            <a:r>
              <a:rPr lang="en-US" sz="2400" dirty="0" smtClean="0"/>
              <a:t>period,</a:t>
            </a:r>
            <a:r>
              <a:rPr lang="tr-TR" sz="2400" dirty="0" smtClean="0"/>
              <a:t> </a:t>
            </a:r>
            <a:r>
              <a:rPr lang="en-US" sz="2400" dirty="0" smtClean="0"/>
              <a:t>Becomes</a:t>
            </a:r>
            <a:r>
              <a:rPr lang="tr-TR" sz="2400" dirty="0" smtClean="0"/>
              <a:t> </a:t>
            </a:r>
            <a:r>
              <a:rPr lang="en-US" sz="2400" dirty="0" smtClean="0"/>
              <a:t>infinitely </a:t>
            </a:r>
            <a:r>
              <a:rPr lang="en-US" sz="2400" dirty="0"/>
              <a:t>small and </a:t>
            </a:r>
            <a:r>
              <a:rPr lang="en-US" sz="2400" i="1" dirty="0"/>
              <a:t>m</a:t>
            </a:r>
            <a:r>
              <a:rPr lang="en-US" sz="2400" dirty="0"/>
              <a:t>, the number of times interest is compounded per period, </a:t>
            </a:r>
            <a:r>
              <a:rPr lang="en-US" sz="2400" dirty="0" smtClean="0"/>
              <a:t>becomes</a:t>
            </a:r>
            <a:r>
              <a:rPr lang="tr-TR" sz="2400" dirty="0" smtClean="0"/>
              <a:t> </a:t>
            </a:r>
            <a:r>
              <a:rPr lang="en-US" sz="2400" dirty="0" smtClean="0"/>
              <a:t>infinite</a:t>
            </a:r>
            <a:r>
              <a:rPr lang="en-US" sz="2400" dirty="0"/>
              <a:t>. Businesses with large numbers of cash flows each day consider the interest to be </a:t>
            </a:r>
            <a:r>
              <a:rPr lang="en-US" sz="2400" dirty="0" smtClean="0"/>
              <a:t>continuously</a:t>
            </a:r>
            <a:r>
              <a:rPr lang="tr-TR" sz="2400" dirty="0" smtClean="0"/>
              <a:t> </a:t>
            </a:r>
            <a:r>
              <a:rPr lang="en-US" sz="2400" dirty="0" smtClean="0"/>
              <a:t>compounded </a:t>
            </a:r>
            <a:r>
              <a:rPr lang="en-US" sz="2400" dirty="0"/>
              <a:t>for all transactions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r>
              <a:rPr lang="en-US" sz="2400" dirty="0"/>
              <a:t>As </a:t>
            </a:r>
            <a:r>
              <a:rPr lang="en-US" sz="2400" i="1" dirty="0"/>
              <a:t>m </a:t>
            </a:r>
            <a:r>
              <a:rPr lang="en-US" sz="2400" dirty="0"/>
              <a:t>approaches infinity, the effective interest rate </a:t>
            </a:r>
            <a:r>
              <a:rPr lang="en-US" sz="2400" dirty="0" smtClean="0"/>
              <a:t>must </a:t>
            </a:r>
            <a:r>
              <a:rPr lang="en-US" sz="2400" dirty="0"/>
              <a:t>be written in a </a:t>
            </a:r>
            <a:r>
              <a:rPr lang="en-US" sz="2400" dirty="0" smtClean="0"/>
              <a:t>new</a:t>
            </a:r>
            <a:r>
              <a:rPr lang="tr-TR" sz="2400" dirty="0" smtClean="0"/>
              <a:t> </a:t>
            </a:r>
            <a:r>
              <a:rPr lang="en-US" sz="2400" dirty="0" smtClean="0"/>
              <a:t>form</a:t>
            </a:r>
            <a:r>
              <a:rPr lang="en-US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37074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87403" y="3572081"/>
            <a:ext cx="10476129" cy="1151223"/>
          </a:xfrm>
        </p:spPr>
        <p:txBody>
          <a:bodyPr>
            <a:normAutofit/>
          </a:bodyPr>
          <a:lstStyle/>
          <a:p>
            <a:r>
              <a:rPr lang="tr-TR" sz="2400" dirty="0" err="1" smtClean="0"/>
              <a:t>This</a:t>
            </a:r>
            <a:r>
              <a:rPr lang="tr-TR" sz="2400" dirty="0" smtClean="0"/>
              <a:t> e</a:t>
            </a:r>
            <a:r>
              <a:rPr lang="en-US" sz="2400" dirty="0" err="1" smtClean="0"/>
              <a:t>quation</a:t>
            </a:r>
            <a:r>
              <a:rPr lang="en-US" sz="2400" dirty="0" smtClean="0"/>
              <a:t> is </a:t>
            </a:r>
            <a:r>
              <a:rPr lang="en-US" sz="2400" dirty="0"/>
              <a:t>used to compute the </a:t>
            </a:r>
            <a:r>
              <a:rPr lang="en-US" sz="2400" b="1" dirty="0"/>
              <a:t>effective continuous interest rate, </a:t>
            </a:r>
            <a:r>
              <a:rPr lang="en-US" sz="2400" dirty="0"/>
              <a:t>when the time </a:t>
            </a:r>
            <a:r>
              <a:rPr lang="en-US" sz="2400" dirty="0" smtClean="0"/>
              <a:t>periods</a:t>
            </a:r>
            <a:r>
              <a:rPr lang="tr-TR" sz="2400" dirty="0" smtClean="0"/>
              <a:t> </a:t>
            </a:r>
            <a:r>
              <a:rPr lang="en-US" sz="2400" dirty="0" smtClean="0"/>
              <a:t>on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and </a:t>
            </a:r>
            <a:r>
              <a:rPr lang="en-US" sz="2400" i="1" dirty="0"/>
              <a:t>r </a:t>
            </a:r>
            <a:r>
              <a:rPr lang="en-US" sz="2400" dirty="0"/>
              <a:t>are the same.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52" y="280076"/>
            <a:ext cx="7220958" cy="1771897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751" y="2583177"/>
            <a:ext cx="1790950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17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09787" y="291095"/>
            <a:ext cx="9074927" cy="583835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9787" y="1167669"/>
            <a:ext cx="10686638" cy="2246529"/>
          </a:xfrm>
        </p:spPr>
        <p:txBody>
          <a:bodyPr>
            <a:normAutofit/>
          </a:bodyPr>
          <a:lstStyle/>
          <a:p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) For an interest rate of 18% per year, compounded continuously, calculate the </a:t>
            </a:r>
            <a:r>
              <a:rPr lang="en-US" sz="2400" dirty="0" smtClean="0"/>
              <a:t>effective</a:t>
            </a:r>
            <a:r>
              <a:rPr lang="tr-TR" sz="2400" dirty="0" smtClean="0"/>
              <a:t> </a:t>
            </a:r>
            <a:r>
              <a:rPr lang="en-US" sz="2400" dirty="0" smtClean="0"/>
              <a:t>monthly </a:t>
            </a:r>
            <a:r>
              <a:rPr lang="en-US" sz="2400" dirty="0"/>
              <a:t>and annual interest rates.</a:t>
            </a:r>
          </a:p>
          <a:p>
            <a:r>
              <a:rPr lang="en-US" sz="2400" dirty="0"/>
              <a:t>(</a:t>
            </a:r>
            <a:r>
              <a:rPr lang="en-US" sz="2400" i="1" dirty="0"/>
              <a:t>b</a:t>
            </a:r>
            <a:r>
              <a:rPr lang="en-US" sz="2400" dirty="0"/>
              <a:t>) An investor requires an effective return of at least 15%. What is the minimum </a:t>
            </a:r>
            <a:r>
              <a:rPr lang="en-US" sz="2400" dirty="0" smtClean="0"/>
              <a:t>annual</a:t>
            </a:r>
            <a:r>
              <a:rPr lang="tr-TR" sz="2400" dirty="0" smtClean="0"/>
              <a:t> </a:t>
            </a:r>
            <a:r>
              <a:rPr lang="en-US" sz="2400" dirty="0" smtClean="0"/>
              <a:t>nominal </a:t>
            </a:r>
            <a:r>
              <a:rPr lang="en-US" sz="2400" dirty="0"/>
              <a:t>rate that is acceptable for continuous compounding?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355" y="3414198"/>
            <a:ext cx="9995502" cy="293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847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99277" y="4407540"/>
            <a:ext cx="11160285" cy="2078780"/>
          </a:xfrm>
        </p:spPr>
        <p:txBody>
          <a:bodyPr>
            <a:normAutofit/>
          </a:bodyPr>
          <a:lstStyle/>
          <a:p>
            <a:r>
              <a:rPr lang="en-US" sz="2400" dirty="0"/>
              <a:t>Therefore, a rate of 13.976% per year, compounded continuously, will generate an </a:t>
            </a:r>
            <a:r>
              <a:rPr lang="en-US" sz="2400" dirty="0" smtClean="0"/>
              <a:t>effective</a:t>
            </a:r>
            <a:r>
              <a:rPr lang="tr-TR" sz="2400" dirty="0" smtClean="0"/>
              <a:t> </a:t>
            </a:r>
            <a:r>
              <a:rPr lang="en-US" sz="2400" dirty="0" smtClean="0"/>
              <a:t>15</a:t>
            </a:r>
            <a:r>
              <a:rPr lang="en-US" sz="2400" dirty="0"/>
              <a:t>% per year return. </a:t>
            </a:r>
            <a:endParaRPr lang="tr-TR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general formula to find the nominal rate, given the </a:t>
            </a:r>
            <a:r>
              <a:rPr lang="en-US" sz="2400" dirty="0" smtClean="0"/>
              <a:t>effective</a:t>
            </a:r>
            <a:r>
              <a:rPr lang="tr-TR" sz="2400" dirty="0" smtClean="0"/>
              <a:t> </a:t>
            </a:r>
            <a:r>
              <a:rPr lang="en-US" sz="2400" dirty="0" smtClean="0"/>
              <a:t>continuous </a:t>
            </a:r>
            <a:r>
              <a:rPr lang="en-US" sz="2400" dirty="0"/>
              <a:t>rate </a:t>
            </a:r>
            <a:r>
              <a:rPr lang="en-US" sz="2400" i="1" dirty="0" err="1"/>
              <a:t>i</a:t>
            </a:r>
            <a:r>
              <a:rPr lang="en-US" sz="2400" dirty="0"/>
              <a:t>, is </a:t>
            </a:r>
            <a:r>
              <a:rPr lang="en-US" sz="2400" i="1" dirty="0"/>
              <a:t>r </a:t>
            </a:r>
            <a:r>
              <a:rPr lang="en-US" sz="2400" dirty="0"/>
              <a:t>= ln(1 + </a:t>
            </a:r>
            <a:r>
              <a:rPr lang="en-US" sz="2400" i="1" dirty="0" err="1"/>
              <a:t>i</a:t>
            </a:r>
            <a:r>
              <a:rPr lang="en-US" sz="2400" dirty="0"/>
              <a:t>).</a:t>
            </a:r>
            <a:endParaRPr lang="en-US" sz="24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53" y="452520"/>
            <a:ext cx="6725787" cy="327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3093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Gri Tonlamalı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Kırpma</Template>
  <TotalTime>6936</TotalTime>
  <Words>2052</Words>
  <Application>Microsoft Office PowerPoint</Application>
  <PresentationFormat>Geniş ekran</PresentationFormat>
  <Paragraphs>120</Paragraphs>
  <Slides>47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47</vt:i4>
      </vt:variant>
    </vt:vector>
  </HeadingPairs>
  <TitlesOfParts>
    <vt:vector size="52" baseType="lpstr">
      <vt:lpstr>Arial</vt:lpstr>
      <vt:lpstr>Calibri</vt:lpstr>
      <vt:lpstr>Cambria Math</vt:lpstr>
      <vt:lpstr>Franklin Gothic Book</vt:lpstr>
      <vt:lpstr>Crop</vt:lpstr>
      <vt:lpstr>ENGINEERING ECONOMY</vt:lpstr>
      <vt:lpstr>Compound Interest as Iteration</vt:lpstr>
      <vt:lpstr>PowerPoint Sunusu</vt:lpstr>
      <vt:lpstr>Effective Interest Rate as System Performance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Calculations Involving Uniform Series and Randomly Placed Single Amounts</vt:lpstr>
      <vt:lpstr>PowerPoint Sunusu</vt:lpstr>
      <vt:lpstr>PowerPoint Sunusu</vt:lpstr>
      <vt:lpstr>EXAMPLE</vt:lpstr>
      <vt:lpstr>PowerPoint Sunusu</vt:lpstr>
      <vt:lpstr>PowerPoint Sunusu</vt:lpstr>
      <vt:lpstr>EXAMPLE</vt:lpstr>
      <vt:lpstr>PowerPoint Sunusu</vt:lpstr>
      <vt:lpstr>timing mismatch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PowerPoint Sunusu</vt:lpstr>
      <vt:lpstr>Equivalence Relations: Single Amounts with PP ≥ CP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Equivalence Relations: Single Amounts and Series with PP &lt; CP</vt:lpstr>
      <vt:lpstr>PowerPoint Sunusu</vt:lpstr>
      <vt:lpstr>EXAMPLE</vt:lpstr>
      <vt:lpstr>PowerPoint Sunusu</vt:lpstr>
      <vt:lpstr>PowerPoint Sunusu</vt:lpstr>
      <vt:lpstr>Effective Interest Rate for Continuous Compounding</vt:lpstr>
      <vt:lpstr>PowerPoint Sunusu</vt:lpstr>
      <vt:lpstr>EXAMPLE</vt:lpstr>
      <vt:lpstr>PowerPoint Sunusu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ECONOMY</dc:title>
  <dc:creator>y</dc:creator>
  <cp:lastModifiedBy>y</cp:lastModifiedBy>
  <cp:revision>177</cp:revision>
  <dcterms:created xsi:type="dcterms:W3CDTF">2025-10-01T18:37:48Z</dcterms:created>
  <dcterms:modified xsi:type="dcterms:W3CDTF">2025-10-30T00:19:21Z</dcterms:modified>
</cp:coreProperties>
</file>