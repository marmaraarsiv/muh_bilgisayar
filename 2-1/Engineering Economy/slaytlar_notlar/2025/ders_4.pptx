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32" r:id="rId1"/>
  </p:sldMasterIdLst>
  <p:notesMasterIdLst>
    <p:notesMasterId r:id="rId55"/>
  </p:notesMasterIdLst>
  <p:sldIdLst>
    <p:sldId id="256" r:id="rId2"/>
    <p:sldId id="333" r:id="rId3"/>
    <p:sldId id="282" r:id="rId4"/>
    <p:sldId id="284" r:id="rId5"/>
    <p:sldId id="334" r:id="rId6"/>
    <p:sldId id="335" r:id="rId7"/>
    <p:sldId id="285" r:id="rId8"/>
    <p:sldId id="336" r:id="rId9"/>
    <p:sldId id="337" r:id="rId10"/>
    <p:sldId id="338" r:id="rId11"/>
    <p:sldId id="339" r:id="rId12"/>
    <p:sldId id="340" r:id="rId13"/>
    <p:sldId id="341" r:id="rId14"/>
    <p:sldId id="342" r:id="rId15"/>
    <p:sldId id="343" r:id="rId16"/>
    <p:sldId id="344" r:id="rId17"/>
    <p:sldId id="345" r:id="rId18"/>
    <p:sldId id="346" r:id="rId19"/>
    <p:sldId id="347" r:id="rId20"/>
    <p:sldId id="348" r:id="rId21"/>
    <p:sldId id="349" r:id="rId22"/>
    <p:sldId id="350" r:id="rId23"/>
    <p:sldId id="351" r:id="rId24"/>
    <p:sldId id="352" r:id="rId25"/>
    <p:sldId id="353" r:id="rId26"/>
    <p:sldId id="354" r:id="rId27"/>
    <p:sldId id="355" r:id="rId28"/>
    <p:sldId id="356" r:id="rId29"/>
    <p:sldId id="357" r:id="rId30"/>
    <p:sldId id="358" r:id="rId31"/>
    <p:sldId id="359" r:id="rId32"/>
    <p:sldId id="360" r:id="rId33"/>
    <p:sldId id="361" r:id="rId34"/>
    <p:sldId id="362" r:id="rId35"/>
    <p:sldId id="363" r:id="rId36"/>
    <p:sldId id="364" r:id="rId37"/>
    <p:sldId id="365" r:id="rId38"/>
    <p:sldId id="366" r:id="rId39"/>
    <p:sldId id="377" r:id="rId40"/>
    <p:sldId id="378" r:id="rId41"/>
    <p:sldId id="379" r:id="rId42"/>
    <p:sldId id="374" r:id="rId43"/>
    <p:sldId id="375" r:id="rId44"/>
    <p:sldId id="376" r:id="rId45"/>
    <p:sldId id="367" r:id="rId46"/>
    <p:sldId id="368" r:id="rId47"/>
    <p:sldId id="369" r:id="rId48"/>
    <p:sldId id="370" r:id="rId49"/>
    <p:sldId id="371" r:id="rId50"/>
    <p:sldId id="372" r:id="rId51"/>
    <p:sldId id="373" r:id="rId52"/>
    <p:sldId id="380" r:id="rId53"/>
    <p:sldId id="381" r:id="rId5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7" autoAdjust="0"/>
    <p:restoredTop sz="94660"/>
  </p:normalViewPr>
  <p:slideViewPr>
    <p:cSldViewPr snapToGrid="0">
      <p:cViewPr varScale="1">
        <p:scale>
          <a:sx n="58" d="100"/>
          <a:sy n="58" d="100"/>
        </p:scale>
        <p:origin x="922" y="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0620FB-B8DF-4D2B-BC54-D29B39519E01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4" name="Slayt Görüntüsü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F9EA3B-84DF-430A-987E-E22F814E27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6443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F9EA3B-84DF-430A-987E-E22F814E2762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0344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Başlık Slaydı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 smtClean="0"/>
              <a:t>Asıl alt başlık stilini düzenlemek için tıklatın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3677802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24533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Bölüm Üstbilgisi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1671017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82407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09516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56067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38537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0994669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tr-TR" smtClean="0"/>
              <a:t>Resim eklemek için simgeyi tıklatın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969839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5978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30045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467926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1368">
          <p15:clr>
            <a:srgbClr val="F26B43"/>
          </p15:clr>
        </p15:guide>
        <p15:guide id="2" orient="horz" pos="1440">
          <p15:clr>
            <a:srgbClr val="F26B43"/>
          </p15:clr>
        </p15:guide>
        <p15:guide id="3" orient="horz" pos="3696">
          <p15:clr>
            <a:srgbClr val="F26B43"/>
          </p15:clr>
        </p15:guide>
        <p15:guide id="4" orient="horz" pos="432">
          <p15:clr>
            <a:srgbClr val="F26B43"/>
          </p15:clr>
        </p15:guide>
        <p15:guide id="5" orient="horz" pos="1512">
          <p15:clr>
            <a:srgbClr val="F26B43"/>
          </p15:clr>
        </p15:guide>
        <p15:guide id="6" pos="6912">
          <p15:clr>
            <a:srgbClr val="F26B43"/>
          </p15:clr>
        </p15:guide>
        <p15:guide id="7" pos="936">
          <p15:clr>
            <a:srgbClr val="F26B43"/>
          </p15:clr>
        </p15:guide>
        <p15:guide id="8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ctrTitle"/>
          </p:nvPr>
        </p:nvSpPr>
        <p:spPr>
          <a:xfrm>
            <a:off x="1524000" y="964916"/>
            <a:ext cx="9144000" cy="1959952"/>
          </a:xfrm>
        </p:spPr>
        <p:txBody>
          <a:bodyPr anchor="ctr">
            <a:normAutofit fontScale="90000"/>
          </a:bodyPr>
          <a:lstStyle/>
          <a:p>
            <a:r>
              <a:rPr lang="tr-TR" dirty="0" smtClean="0"/>
              <a:t>ENGINEERING ECONOMY</a:t>
            </a:r>
            <a:endParaRPr lang="en-US" dirty="0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905504" y="2924868"/>
            <a:ext cx="9144000" cy="1038087"/>
          </a:xfrm>
        </p:spPr>
        <p:txBody>
          <a:bodyPr anchor="ctr">
            <a:normAutofit/>
          </a:bodyPr>
          <a:lstStyle/>
          <a:p>
            <a:r>
              <a:rPr lang="tr-TR" sz="2800" dirty="0" smtClean="0"/>
              <a:t>LECTURE 4</a:t>
            </a:r>
          </a:p>
        </p:txBody>
      </p:sp>
      <p:sp>
        <p:nvSpPr>
          <p:cNvPr id="4" name="Alt Başlık 2"/>
          <p:cNvSpPr txBox="1">
            <a:spLocks/>
          </p:cNvSpPr>
          <p:nvPr/>
        </p:nvSpPr>
        <p:spPr>
          <a:xfrm>
            <a:off x="199835" y="6316021"/>
            <a:ext cx="8853331" cy="4662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tr-TR" sz="2000" dirty="0" smtClean="0"/>
              <a:t>PROF.DR. YASEMİN ASU ÇIRPICI, MU, DEPT. OF ECONOMICS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955449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1134776" y="468712"/>
            <a:ext cx="10660326" cy="1465343"/>
          </a:xfrm>
        </p:spPr>
        <p:txBody>
          <a:bodyPr>
            <a:normAutofit/>
          </a:bodyPr>
          <a:lstStyle/>
          <a:p>
            <a:r>
              <a:rPr lang="en-US" b="1" dirty="0"/>
              <a:t>Calculations Involving Uniform Series and </a:t>
            </a:r>
            <a:r>
              <a:rPr lang="en-US" b="1" dirty="0" smtClean="0"/>
              <a:t>Randomly</a:t>
            </a:r>
            <a:r>
              <a:rPr lang="tr-TR" b="1" dirty="0" smtClean="0"/>
              <a:t> </a:t>
            </a:r>
            <a:r>
              <a:rPr lang="en-US" b="1" dirty="0" smtClean="0"/>
              <a:t>Placed </a:t>
            </a:r>
            <a:r>
              <a:rPr lang="en-US" b="1" dirty="0"/>
              <a:t>Single Amounts</a:t>
            </a:r>
            <a:endParaRPr lang="en-US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134776" y="2187324"/>
            <a:ext cx="10660326" cy="2233372"/>
          </a:xfrm>
        </p:spPr>
        <p:txBody>
          <a:bodyPr>
            <a:normAutofit/>
          </a:bodyPr>
          <a:lstStyle/>
          <a:p>
            <a:r>
              <a:rPr lang="en-US" sz="2400" dirty="0"/>
              <a:t>When a cash flow includes both a uniform series and randomly placed single amounts, the </a:t>
            </a:r>
            <a:r>
              <a:rPr lang="en-US" sz="2400" dirty="0" smtClean="0"/>
              <a:t>procedures</a:t>
            </a:r>
            <a:r>
              <a:rPr lang="tr-TR" sz="2400" dirty="0" smtClean="0"/>
              <a:t> </a:t>
            </a:r>
            <a:r>
              <a:rPr lang="en-US" sz="2400" dirty="0" smtClean="0"/>
              <a:t>of </a:t>
            </a:r>
            <a:r>
              <a:rPr lang="tr-TR" sz="2400" dirty="0" err="1" smtClean="0"/>
              <a:t>previous</a:t>
            </a:r>
            <a:r>
              <a:rPr lang="tr-TR" sz="2400" dirty="0" smtClean="0"/>
              <a:t> </a:t>
            </a:r>
            <a:r>
              <a:rPr lang="tr-TR" sz="2400" dirty="0" err="1" smtClean="0"/>
              <a:t>lectures</a:t>
            </a:r>
            <a:r>
              <a:rPr lang="en-US" sz="2400" dirty="0" smtClean="0"/>
              <a:t> </a:t>
            </a:r>
            <a:r>
              <a:rPr lang="en-US" sz="2400" dirty="0"/>
              <a:t>are applied to the uniform series and the single-amount formulas are </a:t>
            </a:r>
            <a:r>
              <a:rPr lang="en-US" sz="2400" dirty="0" smtClean="0"/>
              <a:t>applied</a:t>
            </a:r>
            <a:r>
              <a:rPr lang="tr-TR" sz="2400" dirty="0" smtClean="0"/>
              <a:t> </a:t>
            </a:r>
            <a:r>
              <a:rPr lang="en-US" sz="2400" dirty="0" smtClean="0"/>
              <a:t>to </a:t>
            </a:r>
            <a:r>
              <a:rPr lang="en-US" sz="2400" dirty="0"/>
              <a:t>the one-time cash flows.</a:t>
            </a:r>
          </a:p>
        </p:txBody>
      </p:sp>
    </p:spTree>
    <p:extLst>
      <p:ext uri="{BB962C8B-B14F-4D97-AF65-F5344CB8AC3E}">
        <p14:creationId xmlns:p14="http://schemas.microsoft.com/office/powerpoint/2010/main" val="2567548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923483" y="134739"/>
            <a:ext cx="9007748" cy="616160"/>
          </a:xfrm>
        </p:spPr>
        <p:txBody>
          <a:bodyPr>
            <a:normAutofit fontScale="90000"/>
          </a:bodyPr>
          <a:lstStyle/>
          <a:p>
            <a:r>
              <a:rPr lang="tr-TR" dirty="0" smtClean="0"/>
              <a:t>EXAMPLE</a:t>
            </a:r>
            <a:endParaRPr lang="en-US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875038" y="868983"/>
            <a:ext cx="11084525" cy="2900450"/>
          </a:xfrm>
        </p:spPr>
        <p:txBody>
          <a:bodyPr>
            <a:noAutofit/>
          </a:bodyPr>
          <a:lstStyle/>
          <a:p>
            <a:r>
              <a:rPr lang="en-US" sz="2400" dirty="0"/>
              <a:t>An engineering company in Wyoming that owns 50 hectares of valuable land has decided </a:t>
            </a:r>
            <a:r>
              <a:rPr lang="en-US" sz="2400" dirty="0" smtClean="0"/>
              <a:t>to</a:t>
            </a:r>
            <a:r>
              <a:rPr lang="tr-TR" sz="2400" dirty="0" smtClean="0"/>
              <a:t> </a:t>
            </a:r>
            <a:r>
              <a:rPr lang="en-US" sz="2400" dirty="0" smtClean="0"/>
              <a:t>lease </a:t>
            </a:r>
            <a:r>
              <a:rPr lang="en-US" sz="2400" dirty="0"/>
              <a:t>the mineral rights to a mining company. The primary objective is to obtain </a:t>
            </a:r>
            <a:r>
              <a:rPr lang="en-US" sz="2400" dirty="0" smtClean="0"/>
              <a:t>long-term</a:t>
            </a:r>
            <a:r>
              <a:rPr lang="tr-TR" sz="2400" dirty="0" smtClean="0"/>
              <a:t> </a:t>
            </a:r>
            <a:r>
              <a:rPr lang="en-US" sz="2400" dirty="0" smtClean="0"/>
              <a:t>income </a:t>
            </a:r>
            <a:r>
              <a:rPr lang="en-US" sz="2400" dirty="0"/>
              <a:t>to finance ongoing projects 6 and 16 years from the present time. The </a:t>
            </a:r>
            <a:r>
              <a:rPr lang="en-US" sz="2400" dirty="0" smtClean="0"/>
              <a:t>engineering</a:t>
            </a:r>
            <a:r>
              <a:rPr lang="tr-TR" sz="2400" dirty="0" smtClean="0"/>
              <a:t> </a:t>
            </a:r>
            <a:r>
              <a:rPr lang="en-US" sz="2400" dirty="0" smtClean="0"/>
              <a:t>company </a:t>
            </a:r>
            <a:r>
              <a:rPr lang="en-US" sz="2400" dirty="0"/>
              <a:t>makes a proposal to the mining company that it pay $20,000 per year for 20 </a:t>
            </a:r>
            <a:r>
              <a:rPr lang="en-US" sz="2400" dirty="0" smtClean="0"/>
              <a:t>years</a:t>
            </a:r>
            <a:r>
              <a:rPr lang="tr-TR" sz="2400" dirty="0" smtClean="0"/>
              <a:t> </a:t>
            </a:r>
            <a:r>
              <a:rPr lang="en-US" sz="2400" dirty="0" smtClean="0"/>
              <a:t>beginning </a:t>
            </a:r>
            <a:r>
              <a:rPr lang="en-US" sz="2400" dirty="0"/>
              <a:t>1 year from now, plus $10,000 six years from now and $15,000 sixteen years </a:t>
            </a:r>
            <a:r>
              <a:rPr lang="en-US" sz="2400" dirty="0" smtClean="0"/>
              <a:t>from</a:t>
            </a:r>
            <a:r>
              <a:rPr lang="tr-TR" sz="2400" dirty="0" smtClean="0"/>
              <a:t> </a:t>
            </a:r>
            <a:r>
              <a:rPr lang="en-US" sz="2400" dirty="0" smtClean="0"/>
              <a:t>now</a:t>
            </a:r>
            <a:r>
              <a:rPr lang="en-US" sz="2400" dirty="0"/>
              <a:t>. If the mining company wants to pay off its lease immediately, how much should it </a:t>
            </a:r>
            <a:r>
              <a:rPr lang="en-US" sz="2400" dirty="0" smtClean="0"/>
              <a:t>pay</a:t>
            </a:r>
            <a:r>
              <a:rPr lang="tr-TR" sz="2400" dirty="0" smtClean="0"/>
              <a:t> </a:t>
            </a:r>
            <a:r>
              <a:rPr lang="en-US" sz="2400" dirty="0" smtClean="0"/>
              <a:t>now </a:t>
            </a:r>
            <a:r>
              <a:rPr lang="en-US" sz="2400" dirty="0"/>
              <a:t>if the investment is to make 16% per year?</a:t>
            </a:r>
          </a:p>
        </p:txBody>
      </p:sp>
    </p:spTree>
    <p:extLst>
      <p:ext uri="{BB962C8B-B14F-4D97-AF65-F5344CB8AC3E}">
        <p14:creationId xmlns:p14="http://schemas.microsoft.com/office/powerpoint/2010/main" val="61451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909064" y="270172"/>
            <a:ext cx="10695264" cy="984258"/>
          </a:xfrm>
        </p:spPr>
        <p:txBody>
          <a:bodyPr>
            <a:noAutofit/>
          </a:bodyPr>
          <a:lstStyle/>
          <a:p>
            <a:r>
              <a:rPr lang="en-US" sz="2400" dirty="0"/>
              <a:t>Find the </a:t>
            </a:r>
            <a:r>
              <a:rPr lang="en-US" sz="2400" dirty="0" smtClean="0"/>
              <a:t>present</a:t>
            </a:r>
            <a:r>
              <a:rPr lang="tr-TR" sz="2400" dirty="0" smtClean="0"/>
              <a:t> </a:t>
            </a:r>
            <a:r>
              <a:rPr lang="en-US" sz="2400" dirty="0" smtClean="0"/>
              <a:t>worth </a:t>
            </a:r>
            <a:r>
              <a:rPr lang="en-US" sz="2400" dirty="0"/>
              <a:t>of the 20-year uniform series and add it to the present worth of the two one-time </a:t>
            </a:r>
            <a:r>
              <a:rPr lang="en-US" sz="2400" dirty="0" smtClean="0"/>
              <a:t>amounts</a:t>
            </a:r>
            <a:r>
              <a:rPr lang="tr-TR" sz="2400" dirty="0" smtClean="0"/>
              <a:t> </a:t>
            </a:r>
            <a:r>
              <a:rPr lang="en-US" sz="2400" dirty="0" smtClean="0"/>
              <a:t>to </a:t>
            </a:r>
            <a:r>
              <a:rPr lang="en-US" sz="2400" dirty="0"/>
              <a:t>determine </a:t>
            </a:r>
            <a:r>
              <a:rPr lang="en-US" sz="2400" i="1" dirty="0"/>
              <a:t>P</a:t>
            </a:r>
            <a:r>
              <a:rPr lang="en-US" sz="2400" i="1" baseline="-25000" dirty="0"/>
              <a:t>T</a:t>
            </a:r>
            <a:r>
              <a:rPr lang="en-US" sz="2400" dirty="0"/>
              <a:t>'.</a:t>
            </a:r>
          </a:p>
        </p:txBody>
      </p:sp>
      <p:pic>
        <p:nvPicPr>
          <p:cNvPr id="6" name="Resi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3299" y="5111431"/>
            <a:ext cx="10206461" cy="1168476"/>
          </a:xfrm>
          <a:prstGeom prst="rect">
            <a:avLst/>
          </a:prstGeom>
        </p:spPr>
      </p:pic>
      <p:pic>
        <p:nvPicPr>
          <p:cNvPr id="7" name="Resi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0733" y="1355154"/>
            <a:ext cx="7450530" cy="3554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22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101884" y="384838"/>
            <a:ext cx="10923462" cy="2450460"/>
          </a:xfrm>
        </p:spPr>
        <p:txBody>
          <a:bodyPr>
            <a:normAutofit/>
          </a:bodyPr>
          <a:lstStyle/>
          <a:p>
            <a:r>
              <a:rPr lang="en-US" sz="2400" dirty="0"/>
              <a:t>When you calculate the </a:t>
            </a:r>
            <a:r>
              <a:rPr lang="en-US" sz="2400" i="1" dirty="0"/>
              <a:t>A </a:t>
            </a:r>
            <a:r>
              <a:rPr lang="en-US" sz="2400" dirty="0"/>
              <a:t>value for a cash flow series that includes randomly placed </a:t>
            </a:r>
            <a:r>
              <a:rPr lang="en-US" sz="2400" dirty="0" smtClean="0"/>
              <a:t>single</a:t>
            </a:r>
            <a:r>
              <a:rPr lang="tr-TR" sz="2400" dirty="0" smtClean="0"/>
              <a:t> </a:t>
            </a:r>
            <a:r>
              <a:rPr lang="en-US" sz="2400" dirty="0" smtClean="0"/>
              <a:t>amounts </a:t>
            </a:r>
            <a:r>
              <a:rPr lang="en-US" sz="2400" dirty="0"/>
              <a:t>and uniform series, </a:t>
            </a:r>
            <a:r>
              <a:rPr lang="en-US" sz="2400" b="1" dirty="0"/>
              <a:t>first convert everything to a present worth or a future worth</a:t>
            </a:r>
            <a:r>
              <a:rPr lang="en-US" sz="2400" b="1" i="1" dirty="0"/>
              <a:t>.</a:t>
            </a:r>
          </a:p>
          <a:p>
            <a:r>
              <a:rPr lang="en-US" sz="2400" dirty="0"/>
              <a:t>Then you obtain the </a:t>
            </a:r>
            <a:r>
              <a:rPr lang="en-US" sz="2400" i="1" dirty="0"/>
              <a:t>A </a:t>
            </a:r>
            <a:r>
              <a:rPr lang="en-US" sz="2400" dirty="0"/>
              <a:t>value by multiplying </a:t>
            </a:r>
            <a:r>
              <a:rPr lang="en-US" sz="2400" i="1" dirty="0"/>
              <a:t>P </a:t>
            </a:r>
            <a:r>
              <a:rPr lang="en-US" sz="2400" dirty="0"/>
              <a:t>or </a:t>
            </a:r>
            <a:r>
              <a:rPr lang="en-US" sz="2400" i="1" dirty="0"/>
              <a:t>F </a:t>
            </a:r>
            <a:r>
              <a:rPr lang="en-US" sz="2400" dirty="0"/>
              <a:t>by the appropriate </a:t>
            </a:r>
            <a:r>
              <a:rPr lang="en-US" sz="2400" i="1" dirty="0"/>
              <a:t>A</a:t>
            </a:r>
            <a:r>
              <a:rPr lang="en-US" sz="2400" dirty="0"/>
              <a:t>∕</a:t>
            </a:r>
            <a:r>
              <a:rPr lang="en-US" sz="2400" i="1" dirty="0"/>
              <a:t>P </a:t>
            </a:r>
            <a:r>
              <a:rPr lang="en-US" sz="2400" dirty="0"/>
              <a:t>or </a:t>
            </a:r>
            <a:r>
              <a:rPr lang="en-US" sz="2400" i="1" dirty="0"/>
              <a:t>A</a:t>
            </a:r>
            <a:r>
              <a:rPr lang="en-US" sz="2400" dirty="0"/>
              <a:t>∕</a:t>
            </a:r>
            <a:r>
              <a:rPr lang="en-US" sz="2400" i="1" dirty="0"/>
              <a:t>F </a:t>
            </a:r>
            <a:r>
              <a:rPr lang="en-US" sz="2400" dirty="0"/>
              <a:t>factor.</a:t>
            </a:r>
          </a:p>
        </p:txBody>
      </p:sp>
      <p:sp>
        <p:nvSpPr>
          <p:cNvPr id="4" name="İçerik Yer Tutucusu 2"/>
          <p:cNvSpPr txBox="1">
            <a:spLocks/>
          </p:cNvSpPr>
          <p:nvPr/>
        </p:nvSpPr>
        <p:spPr>
          <a:xfrm>
            <a:off x="1379273" y="3050194"/>
            <a:ext cx="10923462" cy="24504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i="1" dirty="0" smtClean="0"/>
              <a:t>A </a:t>
            </a:r>
            <a:r>
              <a:rPr lang="en-US" sz="2400" dirty="0" smtClean="0"/>
              <a:t>value by multiplying </a:t>
            </a:r>
            <a:r>
              <a:rPr lang="en-US" sz="2400" i="1" dirty="0" smtClean="0"/>
              <a:t>P </a:t>
            </a:r>
            <a:r>
              <a:rPr lang="en-US" sz="2400" dirty="0" smtClean="0"/>
              <a:t>or </a:t>
            </a:r>
            <a:r>
              <a:rPr lang="en-US" sz="2400" i="1" dirty="0" smtClean="0"/>
              <a:t>F </a:t>
            </a:r>
            <a:r>
              <a:rPr lang="en-US" sz="2400" dirty="0" smtClean="0"/>
              <a:t>by the appropriate </a:t>
            </a:r>
            <a:r>
              <a:rPr lang="en-US" sz="2400" i="1" dirty="0" smtClean="0"/>
              <a:t>A</a:t>
            </a:r>
            <a:r>
              <a:rPr lang="en-US" sz="2400" dirty="0" smtClean="0"/>
              <a:t>∕</a:t>
            </a:r>
            <a:r>
              <a:rPr lang="en-US" sz="2400" i="1" dirty="0" smtClean="0"/>
              <a:t>P </a:t>
            </a:r>
            <a:r>
              <a:rPr lang="en-US" sz="2400" dirty="0" smtClean="0"/>
              <a:t>or </a:t>
            </a:r>
            <a:r>
              <a:rPr lang="en-US" sz="2400" i="1" dirty="0" smtClean="0"/>
              <a:t>A</a:t>
            </a:r>
            <a:r>
              <a:rPr lang="en-US" sz="2400" dirty="0" smtClean="0"/>
              <a:t>∕</a:t>
            </a:r>
            <a:r>
              <a:rPr lang="en-US" sz="2400" i="1" dirty="0" smtClean="0"/>
              <a:t>F </a:t>
            </a:r>
            <a:r>
              <a:rPr lang="en-US" sz="2400" dirty="0" smtClean="0"/>
              <a:t>factor.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1636607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65062" y="218733"/>
            <a:ext cx="8292095" cy="643040"/>
          </a:xfrm>
        </p:spPr>
        <p:txBody>
          <a:bodyPr>
            <a:normAutofit fontScale="90000"/>
          </a:bodyPr>
          <a:lstStyle/>
          <a:p>
            <a:r>
              <a:rPr lang="tr-TR" dirty="0" smtClean="0"/>
              <a:t>EXAMPLE:</a:t>
            </a:r>
            <a:endParaRPr lang="en-US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865062" y="993340"/>
            <a:ext cx="11061609" cy="5506136"/>
          </a:xfrm>
        </p:spPr>
        <p:txBody>
          <a:bodyPr>
            <a:noAutofit/>
          </a:bodyPr>
          <a:lstStyle/>
          <a:p>
            <a:r>
              <a:rPr lang="en-US" sz="2400" dirty="0"/>
              <a:t>A design-build-operate engineering company in Texas that owns a sizable amount of </a:t>
            </a:r>
            <a:r>
              <a:rPr lang="en-US" sz="2400" dirty="0" smtClean="0"/>
              <a:t>land</a:t>
            </a:r>
            <a:r>
              <a:rPr lang="tr-TR" sz="2400" dirty="0" smtClean="0"/>
              <a:t> </a:t>
            </a:r>
            <a:r>
              <a:rPr lang="en-US" sz="2400" dirty="0" smtClean="0"/>
              <a:t>plans </a:t>
            </a:r>
            <a:r>
              <a:rPr lang="en-US" sz="2400" dirty="0"/>
              <a:t>to lease the drilling rights (oil and gas only) to a mining and exploration company. </a:t>
            </a:r>
            <a:r>
              <a:rPr lang="en-US" sz="2400" dirty="0" smtClean="0"/>
              <a:t>The</a:t>
            </a:r>
            <a:r>
              <a:rPr lang="tr-TR" sz="2400" dirty="0" smtClean="0"/>
              <a:t> </a:t>
            </a:r>
            <a:r>
              <a:rPr lang="en-US" sz="2400" dirty="0" smtClean="0"/>
              <a:t>contract </a:t>
            </a:r>
            <a:r>
              <a:rPr lang="en-US" sz="2400" dirty="0"/>
              <a:t>calls for the mining company to pay $20,000 per year for 20 years beginning 3 </a:t>
            </a:r>
            <a:r>
              <a:rPr lang="en-US" sz="2400" dirty="0" smtClean="0"/>
              <a:t>years</a:t>
            </a:r>
            <a:r>
              <a:rPr lang="tr-TR" sz="2400" dirty="0" smtClean="0"/>
              <a:t> </a:t>
            </a:r>
            <a:r>
              <a:rPr lang="en-US" sz="2400" dirty="0" smtClean="0"/>
              <a:t>from </a:t>
            </a:r>
            <a:r>
              <a:rPr lang="en-US" sz="2400" dirty="0"/>
              <a:t>now (i.e., beginning at the end of year 3 and continuing through year 22) plus $10,000 </a:t>
            </a:r>
            <a:r>
              <a:rPr lang="en-US" sz="2400" dirty="0" smtClean="0"/>
              <a:t>six</a:t>
            </a:r>
            <a:r>
              <a:rPr lang="tr-TR" sz="2400" dirty="0" smtClean="0"/>
              <a:t> </a:t>
            </a:r>
            <a:r>
              <a:rPr lang="en-US" sz="2400" dirty="0" smtClean="0"/>
              <a:t>years </a:t>
            </a:r>
            <a:r>
              <a:rPr lang="en-US" sz="2400" dirty="0"/>
              <a:t>from now and $15,000 sixteen years from now. Utilize engineering economy relations </a:t>
            </a:r>
            <a:r>
              <a:rPr lang="en-US" sz="2400" dirty="0" smtClean="0"/>
              <a:t>to </a:t>
            </a:r>
            <a:r>
              <a:rPr lang="en-US" sz="2400" dirty="0"/>
              <a:t>determine the five </a:t>
            </a:r>
            <a:r>
              <a:rPr lang="en-US" sz="2400" i="1" dirty="0"/>
              <a:t>equivalent values </a:t>
            </a:r>
            <a:r>
              <a:rPr lang="en-US" sz="2400" dirty="0"/>
              <a:t>listed below at 16% per year.</a:t>
            </a:r>
          </a:p>
          <a:p>
            <a:pPr marL="809625" indent="177800">
              <a:buNone/>
            </a:pPr>
            <a:r>
              <a:rPr lang="en-US" sz="2400" b="1" dirty="0" smtClean="0"/>
              <a:t>1</a:t>
            </a:r>
            <a:r>
              <a:rPr lang="en-US" sz="2400" b="1" dirty="0"/>
              <a:t>. </a:t>
            </a:r>
            <a:r>
              <a:rPr lang="en-US" sz="2400" dirty="0"/>
              <a:t>Total present worth </a:t>
            </a:r>
            <a:r>
              <a:rPr lang="en-US" sz="2400" i="1" dirty="0"/>
              <a:t>P</a:t>
            </a:r>
            <a:r>
              <a:rPr lang="en-US" sz="2400" i="1" baseline="-25000" dirty="0"/>
              <a:t>T</a:t>
            </a:r>
            <a:r>
              <a:rPr lang="en-US" sz="2400" i="1" dirty="0"/>
              <a:t> </a:t>
            </a:r>
            <a:r>
              <a:rPr lang="en-US" sz="2400" dirty="0"/>
              <a:t>in year 0</a:t>
            </a:r>
          </a:p>
          <a:p>
            <a:pPr marL="809625" indent="177800">
              <a:buNone/>
            </a:pPr>
            <a:r>
              <a:rPr lang="en-US" sz="2400" b="1" dirty="0"/>
              <a:t>2. </a:t>
            </a:r>
            <a:r>
              <a:rPr lang="en-US" sz="2400" dirty="0"/>
              <a:t>Future worth </a:t>
            </a:r>
            <a:r>
              <a:rPr lang="en-US" sz="2400" i="1" dirty="0"/>
              <a:t>F </a:t>
            </a:r>
            <a:r>
              <a:rPr lang="en-US" sz="2400" dirty="0"/>
              <a:t>in year 22</a:t>
            </a:r>
          </a:p>
          <a:p>
            <a:pPr marL="809625" indent="177800">
              <a:buNone/>
            </a:pPr>
            <a:r>
              <a:rPr lang="en-US" sz="2400" b="1" dirty="0"/>
              <a:t>3. </a:t>
            </a:r>
            <a:r>
              <a:rPr lang="en-US" sz="2400" dirty="0"/>
              <a:t>Annual series over all 22 years</a:t>
            </a:r>
          </a:p>
          <a:p>
            <a:pPr marL="809625" indent="177800">
              <a:buNone/>
            </a:pPr>
            <a:r>
              <a:rPr lang="en-US" sz="2400" b="1" dirty="0"/>
              <a:t>4. </a:t>
            </a:r>
            <a:r>
              <a:rPr lang="en-US" sz="2400" dirty="0"/>
              <a:t>Annual series over the first 10 years</a:t>
            </a:r>
          </a:p>
          <a:p>
            <a:pPr marL="809625" indent="177800">
              <a:buNone/>
            </a:pPr>
            <a:r>
              <a:rPr lang="en-US" sz="2400" b="1" dirty="0"/>
              <a:t>5. </a:t>
            </a:r>
            <a:r>
              <a:rPr lang="en-US" sz="2400" dirty="0"/>
              <a:t>Annual series over the last 12 years</a:t>
            </a:r>
          </a:p>
        </p:txBody>
      </p:sp>
    </p:spTree>
    <p:extLst>
      <p:ext uri="{BB962C8B-B14F-4D97-AF65-F5344CB8AC3E}">
        <p14:creationId xmlns:p14="http://schemas.microsoft.com/office/powerpoint/2010/main" val="1144891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831458" y="4644363"/>
            <a:ext cx="11121526" cy="1756437"/>
          </a:xfrm>
        </p:spPr>
        <p:txBody>
          <a:bodyPr>
            <a:normAutofit/>
          </a:bodyPr>
          <a:lstStyle/>
          <a:p>
            <a:r>
              <a:rPr lang="en-US" sz="2400" b="1" dirty="0"/>
              <a:t>1. </a:t>
            </a:r>
            <a:r>
              <a:rPr lang="en-US" sz="2400" b="1" i="1" dirty="0"/>
              <a:t>P</a:t>
            </a:r>
            <a:r>
              <a:rPr lang="en-US" sz="2400" b="1" i="1" baseline="-25000" dirty="0"/>
              <a:t>T</a:t>
            </a:r>
            <a:r>
              <a:rPr lang="en-US" sz="2400" b="1" i="1" dirty="0"/>
              <a:t> </a:t>
            </a:r>
            <a:r>
              <a:rPr lang="en-US" sz="2400" b="1" dirty="0"/>
              <a:t>in year 0: </a:t>
            </a:r>
            <a:r>
              <a:rPr lang="en-US" sz="2400" dirty="0"/>
              <a:t>First determine </a:t>
            </a:r>
            <a:r>
              <a:rPr lang="en-US" sz="2400" i="1" dirty="0" smtClean="0"/>
              <a:t>P'</a:t>
            </a:r>
            <a:r>
              <a:rPr lang="en-US" sz="2400" i="1" baseline="-25000" dirty="0" smtClean="0"/>
              <a:t>A</a:t>
            </a:r>
            <a:r>
              <a:rPr lang="en-US" sz="2400" i="1" dirty="0" smtClean="0"/>
              <a:t> </a:t>
            </a:r>
            <a:r>
              <a:rPr lang="en-US" sz="2400" dirty="0"/>
              <a:t>of the series in year 2. Then </a:t>
            </a:r>
            <a:r>
              <a:rPr lang="en-US" sz="2400" i="1" dirty="0"/>
              <a:t>P</a:t>
            </a:r>
            <a:r>
              <a:rPr lang="en-US" sz="2400" i="1" baseline="-25000" dirty="0"/>
              <a:t>T</a:t>
            </a:r>
            <a:r>
              <a:rPr lang="en-US" sz="2400" i="1" dirty="0"/>
              <a:t> </a:t>
            </a:r>
            <a:r>
              <a:rPr lang="en-US" sz="2400" dirty="0"/>
              <a:t>is the sum of </a:t>
            </a:r>
            <a:r>
              <a:rPr lang="en-US" sz="2400" dirty="0" smtClean="0"/>
              <a:t>three</a:t>
            </a:r>
            <a:r>
              <a:rPr lang="tr-TR" sz="2400" dirty="0" smtClean="0"/>
              <a:t> </a:t>
            </a:r>
            <a:r>
              <a:rPr lang="en-US" sz="2400" i="1" dirty="0" smtClean="0"/>
              <a:t>P </a:t>
            </a:r>
            <a:r>
              <a:rPr lang="en-US" sz="2400" dirty="0" smtClean="0"/>
              <a:t>values:</a:t>
            </a:r>
            <a:r>
              <a:rPr lang="tr-TR" sz="2400" dirty="0" smtClean="0"/>
              <a:t> </a:t>
            </a:r>
            <a:r>
              <a:rPr lang="en-US" sz="2400" dirty="0" smtClean="0"/>
              <a:t>the </a:t>
            </a:r>
            <a:r>
              <a:rPr lang="en-US" sz="2400" dirty="0"/>
              <a:t>series present worth value moved back to </a:t>
            </a:r>
            <a:r>
              <a:rPr lang="en-US" sz="2400" i="1" dirty="0"/>
              <a:t>t </a:t>
            </a:r>
            <a:r>
              <a:rPr lang="en-US" sz="2400" dirty="0"/>
              <a:t>= 0 with the </a:t>
            </a:r>
            <a:r>
              <a:rPr lang="en-US" sz="2400" i="1" dirty="0"/>
              <a:t>P</a:t>
            </a:r>
            <a:r>
              <a:rPr lang="en-US" sz="2400" dirty="0"/>
              <a:t>∕</a:t>
            </a:r>
            <a:r>
              <a:rPr lang="en-US" sz="2400" i="1" dirty="0"/>
              <a:t>F </a:t>
            </a:r>
            <a:r>
              <a:rPr lang="en-US" sz="2400" dirty="0"/>
              <a:t>factor, and </a:t>
            </a:r>
            <a:r>
              <a:rPr lang="en-US" sz="2400" dirty="0" smtClean="0"/>
              <a:t>the</a:t>
            </a:r>
            <a:r>
              <a:rPr lang="tr-TR" sz="2400" dirty="0" smtClean="0"/>
              <a:t> </a:t>
            </a:r>
            <a:r>
              <a:rPr lang="en-US" sz="2400" dirty="0" smtClean="0"/>
              <a:t>two </a:t>
            </a:r>
            <a:r>
              <a:rPr lang="en-US" sz="2400" i="1" dirty="0"/>
              <a:t>P </a:t>
            </a:r>
            <a:r>
              <a:rPr lang="en-US" sz="2400" dirty="0"/>
              <a:t>values at </a:t>
            </a:r>
            <a:r>
              <a:rPr lang="en-US" sz="2400" i="1" dirty="0"/>
              <a:t>t </a:t>
            </a:r>
            <a:r>
              <a:rPr lang="en-US" sz="2400" dirty="0"/>
              <a:t>= 0 for the two single amounts in years 6 and 16.</a:t>
            </a:r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5868" y="284599"/>
            <a:ext cx="8407994" cy="3946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5046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950580" y="3381308"/>
            <a:ext cx="11114237" cy="1756436"/>
          </a:xfrm>
        </p:spPr>
        <p:txBody>
          <a:bodyPr>
            <a:noAutofit/>
          </a:bodyPr>
          <a:lstStyle/>
          <a:p>
            <a:r>
              <a:rPr lang="en-US" sz="2400" b="1" dirty="0"/>
              <a:t>2. </a:t>
            </a:r>
            <a:r>
              <a:rPr lang="en-US" sz="2400" b="1" i="1" dirty="0"/>
              <a:t>F </a:t>
            </a:r>
            <a:r>
              <a:rPr lang="en-US" sz="2400" b="1" dirty="0"/>
              <a:t>in year 22: </a:t>
            </a:r>
            <a:r>
              <a:rPr lang="en-US" sz="2400" dirty="0"/>
              <a:t>To determine </a:t>
            </a:r>
            <a:r>
              <a:rPr lang="en-US" sz="2400" i="1" dirty="0"/>
              <a:t>F </a:t>
            </a:r>
            <a:r>
              <a:rPr lang="en-US" sz="2400" dirty="0"/>
              <a:t>in year 22 from the original cash </a:t>
            </a:r>
            <a:r>
              <a:rPr lang="en-US" sz="2400" dirty="0" smtClean="0"/>
              <a:t>flows, find</a:t>
            </a:r>
            <a:r>
              <a:rPr lang="tr-TR" sz="2400" dirty="0" smtClean="0"/>
              <a:t> </a:t>
            </a:r>
            <a:r>
              <a:rPr lang="en-US" sz="2400" i="1" dirty="0" smtClean="0"/>
              <a:t>F </a:t>
            </a:r>
            <a:r>
              <a:rPr lang="en-US" sz="2400" dirty="0"/>
              <a:t>for the 20-year series and add the two </a:t>
            </a:r>
            <a:r>
              <a:rPr lang="en-US" sz="2400" i="1" dirty="0"/>
              <a:t>F </a:t>
            </a:r>
            <a:r>
              <a:rPr lang="en-US" sz="2400" dirty="0"/>
              <a:t>values for the two single amounts. Be sure </a:t>
            </a:r>
            <a:r>
              <a:rPr lang="en-US" sz="2400" dirty="0" smtClean="0"/>
              <a:t>to</a:t>
            </a:r>
            <a:r>
              <a:rPr lang="tr-TR" sz="2400" dirty="0" smtClean="0"/>
              <a:t> </a:t>
            </a:r>
            <a:r>
              <a:rPr lang="en-US" sz="2400" dirty="0" smtClean="0"/>
              <a:t>carefully </a:t>
            </a:r>
            <a:r>
              <a:rPr lang="en-US" sz="2400" dirty="0"/>
              <a:t>determine the </a:t>
            </a:r>
            <a:r>
              <a:rPr lang="en-US" sz="2400" i="1" dirty="0"/>
              <a:t>n </a:t>
            </a:r>
            <a:r>
              <a:rPr lang="en-US" sz="2400" dirty="0"/>
              <a:t>values for the single amounts: </a:t>
            </a:r>
            <a:r>
              <a:rPr lang="en-US" sz="2400" i="1" dirty="0"/>
              <a:t>n </a:t>
            </a:r>
            <a:r>
              <a:rPr lang="en-US" sz="2400" dirty="0"/>
              <a:t>= 22 − 6 = 16 for the $</a:t>
            </a:r>
            <a:r>
              <a:rPr lang="en-US" sz="2400" dirty="0" smtClean="0"/>
              <a:t>10,000</a:t>
            </a:r>
            <a:r>
              <a:rPr lang="tr-TR" sz="2400" dirty="0" smtClean="0"/>
              <a:t> </a:t>
            </a:r>
            <a:r>
              <a:rPr lang="en-US" sz="2400" dirty="0" smtClean="0"/>
              <a:t>amount </a:t>
            </a:r>
            <a:r>
              <a:rPr lang="en-US" sz="2400" dirty="0"/>
              <a:t>and </a:t>
            </a:r>
            <a:r>
              <a:rPr lang="en-US" sz="2400" i="1" dirty="0"/>
              <a:t>n </a:t>
            </a:r>
            <a:r>
              <a:rPr lang="en-US" sz="2400" dirty="0"/>
              <a:t>= 22 − 16 = 6 for the $15,000 amount.</a:t>
            </a:r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1828" y="5300294"/>
            <a:ext cx="9951268" cy="1242822"/>
          </a:xfrm>
          <a:prstGeom prst="rect">
            <a:avLst/>
          </a:prstGeom>
        </p:spPr>
      </p:pic>
      <p:pic>
        <p:nvPicPr>
          <p:cNvPr id="5" name="Resi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9200" y="254163"/>
            <a:ext cx="9803174" cy="2964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1416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049256" y="348656"/>
            <a:ext cx="10930042" cy="973606"/>
          </a:xfrm>
        </p:spPr>
        <p:txBody>
          <a:bodyPr>
            <a:normAutofit/>
          </a:bodyPr>
          <a:lstStyle/>
          <a:p>
            <a:r>
              <a:rPr lang="en-US" sz="2400" b="1" dirty="0"/>
              <a:t>3. </a:t>
            </a:r>
            <a:r>
              <a:rPr lang="en-US" sz="2400" b="1" i="1" dirty="0"/>
              <a:t>A </a:t>
            </a:r>
            <a:r>
              <a:rPr lang="en-US" sz="2400" b="1" dirty="0"/>
              <a:t>over 22 years: </a:t>
            </a:r>
            <a:r>
              <a:rPr lang="en-US" sz="2400" dirty="0"/>
              <a:t>Multiply </a:t>
            </a:r>
            <a:r>
              <a:rPr lang="en-US" sz="2400" i="1" dirty="0"/>
              <a:t>P</a:t>
            </a:r>
            <a:r>
              <a:rPr lang="en-US" sz="2400" i="1" baseline="-25000" dirty="0"/>
              <a:t>T</a:t>
            </a:r>
            <a:r>
              <a:rPr lang="en-US" sz="2400" i="1" dirty="0"/>
              <a:t> </a:t>
            </a:r>
            <a:r>
              <a:rPr lang="en-US" sz="2400" dirty="0"/>
              <a:t>= $93,625 </a:t>
            </a:r>
            <a:r>
              <a:rPr lang="en-US" sz="2400" dirty="0" smtClean="0"/>
              <a:t>by </a:t>
            </a:r>
            <a:r>
              <a:rPr lang="en-US" sz="2400" dirty="0"/>
              <a:t>the </a:t>
            </a:r>
            <a:r>
              <a:rPr lang="en-US" sz="2400" i="1" dirty="0"/>
              <a:t>A</a:t>
            </a:r>
            <a:r>
              <a:rPr lang="en-US" sz="2400" dirty="0"/>
              <a:t>∕</a:t>
            </a:r>
            <a:r>
              <a:rPr lang="en-US" sz="2400" i="1" dirty="0"/>
              <a:t>P </a:t>
            </a:r>
            <a:r>
              <a:rPr lang="en-US" sz="2400" dirty="0" smtClean="0"/>
              <a:t>factor</a:t>
            </a:r>
            <a:r>
              <a:rPr lang="tr-TR" sz="2400" dirty="0" smtClean="0"/>
              <a:t> </a:t>
            </a:r>
            <a:r>
              <a:rPr lang="en-US" sz="2400" dirty="0" smtClean="0"/>
              <a:t>to </a:t>
            </a:r>
            <a:r>
              <a:rPr lang="en-US" sz="2400" dirty="0"/>
              <a:t>determine an equivalent 22-year </a:t>
            </a:r>
            <a:r>
              <a:rPr lang="en-US" sz="2400" i="1" dirty="0"/>
              <a:t>A </a:t>
            </a:r>
            <a:r>
              <a:rPr lang="en-US" sz="2400" dirty="0"/>
              <a:t>series, referred to as </a:t>
            </a:r>
            <a:r>
              <a:rPr lang="en-US" sz="2400" i="1" dirty="0"/>
              <a:t>A</a:t>
            </a:r>
            <a:r>
              <a:rPr lang="en-US" sz="2400" baseline="-25000" dirty="0"/>
              <a:t>1–22</a:t>
            </a:r>
            <a:r>
              <a:rPr lang="en-US" sz="2400" dirty="0"/>
              <a:t> here.</a:t>
            </a:r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4172" y="1425111"/>
            <a:ext cx="8478433" cy="600159"/>
          </a:xfrm>
          <a:prstGeom prst="rect">
            <a:avLst/>
          </a:prstGeom>
        </p:spPr>
      </p:pic>
      <p:sp>
        <p:nvSpPr>
          <p:cNvPr id="5" name="İçerik Yer Tutucusu 2"/>
          <p:cNvSpPr txBox="1">
            <a:spLocks/>
          </p:cNvSpPr>
          <p:nvPr/>
        </p:nvSpPr>
        <p:spPr>
          <a:xfrm>
            <a:off x="1049256" y="2290385"/>
            <a:ext cx="10930042" cy="5185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sz="2400" dirty="0" smtClean="0"/>
              <a:t>OR</a:t>
            </a:r>
            <a:endParaRPr lang="en-US" sz="2400" dirty="0"/>
          </a:p>
        </p:txBody>
      </p:sp>
      <p:pic>
        <p:nvPicPr>
          <p:cNvPr id="7" name="Resi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4885" y="2740945"/>
            <a:ext cx="5210902" cy="504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1979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996628" y="179822"/>
            <a:ext cx="10739267" cy="2595185"/>
          </a:xfrm>
        </p:spPr>
        <p:txBody>
          <a:bodyPr>
            <a:noAutofit/>
          </a:bodyPr>
          <a:lstStyle/>
          <a:p>
            <a:r>
              <a:rPr lang="en-US" sz="2400" b="1" dirty="0"/>
              <a:t>4. </a:t>
            </a:r>
            <a:r>
              <a:rPr lang="en-US" sz="2400" b="1" i="1" dirty="0"/>
              <a:t>A </a:t>
            </a:r>
            <a:r>
              <a:rPr lang="en-US" sz="2400" b="1" dirty="0"/>
              <a:t>over years 1 to 10: </a:t>
            </a:r>
            <a:r>
              <a:rPr lang="en-US" sz="2400" dirty="0" smtClean="0"/>
              <a:t>The </a:t>
            </a:r>
            <a:r>
              <a:rPr lang="en-US" sz="2400" dirty="0"/>
              <a:t>equivalent </a:t>
            </a:r>
            <a:r>
              <a:rPr lang="en-US" sz="2400" i="1" dirty="0"/>
              <a:t>A </a:t>
            </a:r>
            <a:r>
              <a:rPr lang="en-US" sz="2400" dirty="0"/>
              <a:t>series is calculated for a number of </a:t>
            </a:r>
            <a:r>
              <a:rPr lang="en-US" sz="2400" dirty="0" smtClean="0"/>
              <a:t>years</a:t>
            </a:r>
            <a:r>
              <a:rPr lang="tr-TR" sz="2400" dirty="0" smtClean="0"/>
              <a:t> </a:t>
            </a:r>
            <a:r>
              <a:rPr lang="en-US" sz="2400" dirty="0" smtClean="0"/>
              <a:t>different </a:t>
            </a:r>
            <a:r>
              <a:rPr lang="en-US" sz="2400" dirty="0"/>
              <a:t>from that covered by the original cash flows. </a:t>
            </a:r>
            <a:endParaRPr lang="tr-TR" sz="2400" dirty="0" smtClean="0"/>
          </a:p>
          <a:p>
            <a:r>
              <a:rPr lang="en-US" sz="2400" dirty="0" smtClean="0"/>
              <a:t>This </a:t>
            </a:r>
            <a:r>
              <a:rPr lang="en-US" sz="2400" dirty="0"/>
              <a:t>occurs when a defined </a:t>
            </a:r>
            <a:r>
              <a:rPr lang="en-US" sz="2400" i="1" dirty="0" smtClean="0"/>
              <a:t>study</a:t>
            </a:r>
            <a:r>
              <a:rPr lang="tr-TR" sz="2400" i="1" dirty="0" smtClean="0"/>
              <a:t> </a:t>
            </a:r>
            <a:r>
              <a:rPr lang="en-US" sz="2400" i="1" dirty="0" smtClean="0"/>
              <a:t>period </a:t>
            </a:r>
            <a:r>
              <a:rPr lang="en-US" sz="2400" dirty="0"/>
              <a:t>or </a:t>
            </a:r>
            <a:r>
              <a:rPr lang="en-US" sz="2400" i="1" dirty="0"/>
              <a:t>planning horizon </a:t>
            </a:r>
            <a:r>
              <a:rPr lang="en-US" sz="2400" dirty="0"/>
              <a:t>is preset for the analysis</a:t>
            </a:r>
            <a:r>
              <a:rPr lang="en-US" sz="2400" dirty="0" smtClean="0"/>
              <a:t>. </a:t>
            </a:r>
            <a:endParaRPr lang="tr-TR" sz="2400" dirty="0" smtClean="0"/>
          </a:p>
          <a:p>
            <a:r>
              <a:rPr lang="en-US" sz="2400" dirty="0" smtClean="0"/>
              <a:t>To </a:t>
            </a:r>
            <a:r>
              <a:rPr lang="en-US" sz="2400" dirty="0"/>
              <a:t>determine the equivalent </a:t>
            </a:r>
            <a:r>
              <a:rPr lang="en-US" sz="2400" i="1" dirty="0"/>
              <a:t>A </a:t>
            </a:r>
            <a:r>
              <a:rPr lang="en-US" sz="2400" dirty="0"/>
              <a:t>series for years 1 through 10 only (call it </a:t>
            </a:r>
            <a:r>
              <a:rPr lang="en-US" sz="2400" i="1" dirty="0"/>
              <a:t>A</a:t>
            </a:r>
            <a:r>
              <a:rPr lang="en-US" sz="2400" baseline="-25000" dirty="0"/>
              <a:t>1–10</a:t>
            </a:r>
            <a:r>
              <a:rPr lang="en-US" sz="2400" dirty="0" smtClean="0"/>
              <a:t>),</a:t>
            </a:r>
            <a:r>
              <a:rPr lang="tr-TR" sz="2400" dirty="0" smtClean="0"/>
              <a:t> </a:t>
            </a:r>
            <a:r>
              <a:rPr lang="en-US" sz="2400" dirty="0" smtClean="0"/>
              <a:t>the </a:t>
            </a:r>
            <a:r>
              <a:rPr lang="en-US" sz="2400" i="1" dirty="0"/>
              <a:t>P</a:t>
            </a:r>
            <a:r>
              <a:rPr lang="en-US" sz="2400" i="1" baseline="-25000" dirty="0"/>
              <a:t>T</a:t>
            </a:r>
            <a:r>
              <a:rPr lang="en-US" sz="2400" i="1" dirty="0"/>
              <a:t> value must be used </a:t>
            </a:r>
            <a:r>
              <a:rPr lang="en-US" sz="2400" dirty="0"/>
              <a:t>with the </a:t>
            </a:r>
            <a:r>
              <a:rPr lang="en-US" sz="2400" i="1" dirty="0"/>
              <a:t>A</a:t>
            </a:r>
            <a:r>
              <a:rPr lang="en-US" sz="2400" dirty="0"/>
              <a:t>∕</a:t>
            </a:r>
            <a:r>
              <a:rPr lang="en-US" sz="2400" i="1" dirty="0"/>
              <a:t>P </a:t>
            </a:r>
            <a:r>
              <a:rPr lang="en-US" sz="2400" dirty="0"/>
              <a:t>factor for </a:t>
            </a:r>
            <a:r>
              <a:rPr lang="en-US" sz="2400" i="1" dirty="0"/>
              <a:t>n </a:t>
            </a:r>
            <a:r>
              <a:rPr lang="en-US" sz="2400" dirty="0"/>
              <a:t>= 10. </a:t>
            </a:r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7716" y="2874143"/>
            <a:ext cx="7807072" cy="688596"/>
          </a:xfrm>
          <a:prstGeom prst="rect">
            <a:avLst/>
          </a:prstGeom>
        </p:spPr>
      </p:pic>
      <p:sp>
        <p:nvSpPr>
          <p:cNvPr id="5" name="İçerik Yer Tutucusu 2"/>
          <p:cNvSpPr txBox="1">
            <a:spLocks/>
          </p:cNvSpPr>
          <p:nvPr/>
        </p:nvSpPr>
        <p:spPr>
          <a:xfrm>
            <a:off x="901240" y="3947049"/>
            <a:ext cx="11110950" cy="12499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/>
              <a:t>5. </a:t>
            </a:r>
            <a:r>
              <a:rPr lang="en-US" sz="2400" b="1" i="1" dirty="0"/>
              <a:t>A </a:t>
            </a:r>
            <a:r>
              <a:rPr lang="en-US" sz="2400" b="1" dirty="0"/>
              <a:t>over years 11 to 22: </a:t>
            </a:r>
            <a:r>
              <a:rPr lang="en-US" sz="2400" dirty="0"/>
              <a:t>For the equivalent 12-year series for years 11 through 22 (call </a:t>
            </a:r>
            <a:r>
              <a:rPr lang="en-US" sz="2400" dirty="0" smtClean="0"/>
              <a:t>it</a:t>
            </a:r>
            <a:r>
              <a:rPr lang="tr-TR" sz="2400" dirty="0" smtClean="0"/>
              <a:t> </a:t>
            </a:r>
            <a:r>
              <a:rPr lang="en-US" sz="2400" i="1" dirty="0" smtClean="0"/>
              <a:t>A</a:t>
            </a:r>
            <a:r>
              <a:rPr lang="en-US" sz="2400" baseline="-25000" dirty="0" smtClean="0"/>
              <a:t>11–22</a:t>
            </a:r>
            <a:r>
              <a:rPr lang="en-US" sz="2400" dirty="0"/>
              <a:t>), the </a:t>
            </a:r>
            <a:r>
              <a:rPr lang="en-US" sz="2400" i="1" dirty="0"/>
              <a:t>F value must be used </a:t>
            </a:r>
            <a:r>
              <a:rPr lang="en-US" sz="2400" dirty="0"/>
              <a:t>with the </a:t>
            </a:r>
            <a:r>
              <a:rPr lang="en-US" sz="2400" i="1" dirty="0"/>
              <a:t>A</a:t>
            </a:r>
            <a:r>
              <a:rPr lang="en-US" sz="2400" dirty="0"/>
              <a:t>∕</a:t>
            </a:r>
            <a:r>
              <a:rPr lang="en-US" sz="2400" i="1" dirty="0"/>
              <a:t>F </a:t>
            </a:r>
            <a:r>
              <a:rPr lang="en-US" sz="2400" dirty="0"/>
              <a:t>factor for 12 years. </a:t>
            </a:r>
          </a:p>
        </p:txBody>
      </p:sp>
      <p:pic>
        <p:nvPicPr>
          <p:cNvPr id="6" name="Resim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5361" y="5343581"/>
            <a:ext cx="8783276" cy="657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6666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963737" y="126635"/>
            <a:ext cx="9114397" cy="649619"/>
          </a:xfrm>
        </p:spPr>
        <p:txBody>
          <a:bodyPr>
            <a:normAutofit fontScale="90000"/>
          </a:bodyPr>
          <a:lstStyle/>
          <a:p>
            <a:r>
              <a:rPr lang="tr-TR" dirty="0" smtClean="0"/>
              <a:t>EXAMPLE</a:t>
            </a:r>
            <a:endParaRPr lang="en-US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016364" y="832169"/>
            <a:ext cx="10831365" cy="4391093"/>
          </a:xfrm>
        </p:spPr>
        <p:txBody>
          <a:bodyPr>
            <a:normAutofit/>
          </a:bodyPr>
          <a:lstStyle/>
          <a:p>
            <a:r>
              <a:rPr lang="en-US" sz="2400" dirty="0"/>
              <a:t>Fujitsu, Inc. has tracked the average inspection cost on a robotics manufacturing line </a:t>
            </a:r>
            <a:r>
              <a:rPr lang="en-US" sz="2400" dirty="0" smtClean="0"/>
              <a:t>for</a:t>
            </a:r>
            <a:r>
              <a:rPr lang="tr-TR" sz="2400" dirty="0" smtClean="0"/>
              <a:t> </a:t>
            </a:r>
            <a:r>
              <a:rPr lang="en-US" sz="2400" dirty="0" smtClean="0"/>
              <a:t>8 </a:t>
            </a:r>
            <a:r>
              <a:rPr lang="en-US" sz="2400" dirty="0"/>
              <a:t>years. Cost averages were steady at $100 per completed unit for the first 4 years, but </a:t>
            </a:r>
            <a:r>
              <a:rPr lang="en-US" sz="2400" dirty="0" smtClean="0"/>
              <a:t>have</a:t>
            </a:r>
            <a:r>
              <a:rPr lang="tr-TR" sz="2400" dirty="0" smtClean="0"/>
              <a:t> </a:t>
            </a:r>
            <a:r>
              <a:rPr lang="en-US" sz="2400" dirty="0" smtClean="0"/>
              <a:t>increased </a:t>
            </a:r>
            <a:r>
              <a:rPr lang="en-US" sz="2400" dirty="0"/>
              <a:t>consistently by $50 per unit for each of the last 4 years. </a:t>
            </a:r>
            <a:endParaRPr lang="tr-TR" sz="2400" dirty="0" smtClean="0"/>
          </a:p>
          <a:p>
            <a:r>
              <a:rPr lang="en-US" sz="2400" dirty="0" smtClean="0"/>
              <a:t>Analyze </a:t>
            </a:r>
            <a:r>
              <a:rPr lang="en-US" sz="2400" dirty="0"/>
              <a:t>the gradient </a:t>
            </a:r>
            <a:r>
              <a:rPr lang="en-US" sz="2400" dirty="0" smtClean="0"/>
              <a:t>increase,</a:t>
            </a:r>
            <a:r>
              <a:rPr lang="tr-TR" sz="2400" dirty="0" smtClean="0"/>
              <a:t> </a:t>
            </a:r>
            <a:r>
              <a:rPr lang="en-US" sz="2400" dirty="0" smtClean="0"/>
              <a:t>using </a:t>
            </a:r>
            <a:r>
              <a:rPr lang="en-US" sz="2400" dirty="0"/>
              <a:t>the </a:t>
            </a:r>
            <a:r>
              <a:rPr lang="en-US" sz="2400" i="1" dirty="0"/>
              <a:t>P</a:t>
            </a:r>
            <a:r>
              <a:rPr lang="en-US" sz="2400" dirty="0"/>
              <a:t>∕</a:t>
            </a:r>
            <a:r>
              <a:rPr lang="en-US" sz="2400" i="1" dirty="0"/>
              <a:t>G </a:t>
            </a:r>
            <a:r>
              <a:rPr lang="en-US" sz="2400" dirty="0"/>
              <a:t>factor. Where is the present worth located for the gradient? </a:t>
            </a:r>
            <a:endParaRPr lang="tr-TR" sz="2400" dirty="0" smtClean="0"/>
          </a:p>
          <a:p>
            <a:r>
              <a:rPr lang="en-US" sz="2400" dirty="0" smtClean="0"/>
              <a:t>What </a:t>
            </a:r>
            <a:r>
              <a:rPr lang="en-US" sz="2400" dirty="0"/>
              <a:t>is </a:t>
            </a:r>
            <a:r>
              <a:rPr lang="en-US" sz="2400" dirty="0" smtClean="0"/>
              <a:t>the</a:t>
            </a:r>
            <a:r>
              <a:rPr lang="tr-TR" sz="2400" dirty="0" smtClean="0"/>
              <a:t> </a:t>
            </a:r>
            <a:r>
              <a:rPr lang="en-US" sz="2400" dirty="0" smtClean="0"/>
              <a:t>general </a:t>
            </a:r>
            <a:r>
              <a:rPr lang="en-US" sz="2400" dirty="0"/>
              <a:t>relation used to calculate total present worth in year 0?</a:t>
            </a:r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3525" y="4081623"/>
            <a:ext cx="9395622" cy="2395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8663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858483" y="213797"/>
            <a:ext cx="11035296" cy="2305736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The cash flow diagram </a:t>
            </a:r>
            <a:r>
              <a:rPr lang="en-US" sz="2400" dirty="0" smtClean="0"/>
              <a:t>shows </a:t>
            </a:r>
            <a:r>
              <a:rPr lang="en-US" sz="2400" dirty="0"/>
              <a:t>the base amount </a:t>
            </a:r>
            <a:r>
              <a:rPr lang="en-US" sz="2400" i="1" dirty="0"/>
              <a:t>A </a:t>
            </a:r>
            <a:r>
              <a:rPr lang="en-US" sz="2400" dirty="0"/>
              <a:t>= $100 and the </a:t>
            </a:r>
            <a:r>
              <a:rPr lang="en-US" sz="2400" dirty="0" smtClean="0"/>
              <a:t>arithmetic</a:t>
            </a:r>
            <a:r>
              <a:rPr lang="tr-TR" sz="2400" dirty="0" smtClean="0"/>
              <a:t> </a:t>
            </a:r>
            <a:r>
              <a:rPr lang="en-US" sz="2400" dirty="0" smtClean="0"/>
              <a:t>gradient </a:t>
            </a:r>
            <a:r>
              <a:rPr lang="en-US" sz="2400" i="1" dirty="0"/>
              <a:t>G </a:t>
            </a:r>
            <a:r>
              <a:rPr lang="en-US" sz="2400" dirty="0"/>
              <a:t>= $50 starting between periods 4 and 5. </a:t>
            </a:r>
            <a:endParaRPr lang="tr-TR" sz="2400" dirty="0" smtClean="0"/>
          </a:p>
          <a:p>
            <a:r>
              <a:rPr lang="en-US" sz="2400" dirty="0" smtClean="0"/>
              <a:t>Figure </a:t>
            </a:r>
            <a:r>
              <a:rPr lang="tr-TR" sz="2400" dirty="0" err="1" smtClean="0"/>
              <a:t>below</a:t>
            </a:r>
            <a:r>
              <a:rPr lang="tr-TR" sz="2400" dirty="0" smtClean="0"/>
              <a:t> </a:t>
            </a:r>
            <a:r>
              <a:rPr lang="en-US" sz="2400" dirty="0" smtClean="0"/>
              <a:t>partitions </a:t>
            </a:r>
            <a:r>
              <a:rPr lang="en-US" sz="2400" dirty="0"/>
              <a:t>these </a:t>
            </a:r>
            <a:r>
              <a:rPr lang="en-US" sz="2400" dirty="0" smtClean="0"/>
              <a:t>two</a:t>
            </a:r>
            <a:r>
              <a:rPr lang="tr-TR" sz="2400" dirty="0" smtClean="0"/>
              <a:t> </a:t>
            </a:r>
            <a:r>
              <a:rPr lang="en-US" sz="2400" dirty="0" smtClean="0"/>
              <a:t>series</a:t>
            </a:r>
            <a:r>
              <a:rPr lang="en-US" sz="2400" dirty="0"/>
              <a:t>. Gradient year 2 is placed in actual year 5 of the entire </a:t>
            </a:r>
            <a:r>
              <a:rPr lang="en-US" sz="2400" dirty="0" smtClean="0"/>
              <a:t>sequence. </a:t>
            </a:r>
            <a:r>
              <a:rPr lang="en-US" sz="2400" dirty="0"/>
              <a:t>It </a:t>
            </a:r>
            <a:r>
              <a:rPr lang="en-US" sz="2400" dirty="0" smtClean="0"/>
              <a:t>is</a:t>
            </a:r>
            <a:r>
              <a:rPr lang="tr-TR" sz="2400" dirty="0" smtClean="0"/>
              <a:t> </a:t>
            </a:r>
            <a:r>
              <a:rPr lang="en-US" sz="2400" dirty="0" smtClean="0"/>
              <a:t>clear </a:t>
            </a:r>
            <a:r>
              <a:rPr lang="en-US" sz="2400" dirty="0"/>
              <a:t>that </a:t>
            </a:r>
            <a:r>
              <a:rPr lang="en-US" sz="2400" i="1" dirty="0"/>
              <a:t>n </a:t>
            </a:r>
            <a:r>
              <a:rPr lang="en-US" sz="2400" dirty="0"/>
              <a:t>= 5 for the </a:t>
            </a:r>
            <a:r>
              <a:rPr lang="en-US" sz="2400" i="1" dirty="0"/>
              <a:t>P</a:t>
            </a:r>
            <a:r>
              <a:rPr lang="en-US" sz="2400" dirty="0"/>
              <a:t>∕</a:t>
            </a:r>
            <a:r>
              <a:rPr lang="en-US" sz="2400" i="1" dirty="0"/>
              <a:t>G </a:t>
            </a:r>
            <a:r>
              <a:rPr lang="en-US" sz="2400" dirty="0"/>
              <a:t>factor. The </a:t>
            </a:r>
            <a:r>
              <a:rPr lang="en-US" sz="2400" i="1" dirty="0"/>
              <a:t>P</a:t>
            </a:r>
            <a:r>
              <a:rPr lang="en-US" sz="2400" i="1" baseline="-25000" dirty="0"/>
              <a:t>G</a:t>
            </a:r>
            <a:r>
              <a:rPr lang="en-US" sz="2400" i="1" dirty="0"/>
              <a:t> </a:t>
            </a:r>
            <a:r>
              <a:rPr lang="en-US" sz="2400" dirty="0"/>
              <a:t>= ? arrow is correctly placed in gradient year </a:t>
            </a:r>
            <a:r>
              <a:rPr lang="en-US" sz="2400" dirty="0" smtClean="0"/>
              <a:t>0,</a:t>
            </a:r>
            <a:r>
              <a:rPr lang="tr-TR" sz="2400" dirty="0" smtClean="0"/>
              <a:t> </a:t>
            </a:r>
            <a:r>
              <a:rPr lang="en-US" sz="2400" dirty="0" smtClean="0"/>
              <a:t>which </a:t>
            </a:r>
            <a:r>
              <a:rPr lang="en-US" sz="2400" dirty="0"/>
              <a:t>is year 3 in the cash flow series.</a:t>
            </a:r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0043" y="2473484"/>
            <a:ext cx="7191695" cy="4103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2473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009787" y="476935"/>
            <a:ext cx="10811630" cy="937425"/>
          </a:xfrm>
        </p:spPr>
        <p:txBody>
          <a:bodyPr>
            <a:normAutofit/>
          </a:bodyPr>
          <a:lstStyle/>
          <a:p>
            <a:r>
              <a:rPr lang="en-US" sz="2400" dirty="0"/>
              <a:t>The uniform series </a:t>
            </a:r>
            <a:r>
              <a:rPr lang="en-US" sz="2400" i="1" dirty="0"/>
              <a:t>A </a:t>
            </a:r>
            <a:r>
              <a:rPr lang="en-US" sz="2400" dirty="0"/>
              <a:t>= $</a:t>
            </a:r>
            <a:r>
              <a:rPr lang="en-US" sz="2400" dirty="0" smtClean="0"/>
              <a:t>100</a:t>
            </a:r>
            <a:r>
              <a:rPr lang="tr-TR" sz="2400" dirty="0" smtClean="0"/>
              <a:t> </a:t>
            </a:r>
            <a:r>
              <a:rPr lang="en-US" sz="2400" dirty="0" smtClean="0"/>
              <a:t>occurs</a:t>
            </a:r>
            <a:r>
              <a:rPr lang="tr-TR" sz="2400" dirty="0" smtClean="0"/>
              <a:t> </a:t>
            </a:r>
            <a:r>
              <a:rPr lang="en-US" sz="2400" dirty="0" smtClean="0"/>
              <a:t>for </a:t>
            </a:r>
            <a:r>
              <a:rPr lang="en-US" sz="2400" dirty="0"/>
              <a:t>all 8 years, and the </a:t>
            </a:r>
            <a:r>
              <a:rPr lang="en-US" sz="2400" i="1" dirty="0"/>
              <a:t>G </a:t>
            </a:r>
            <a:r>
              <a:rPr lang="en-US" sz="2400" dirty="0"/>
              <a:t>= $50 gradient present worth </a:t>
            </a:r>
            <a:r>
              <a:rPr lang="en-US" sz="2400" i="1" dirty="0"/>
              <a:t>PG </a:t>
            </a:r>
            <a:r>
              <a:rPr lang="en-US" sz="2400" dirty="0"/>
              <a:t>appears in year 3.</a:t>
            </a:r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2208" y="1611805"/>
            <a:ext cx="8135485" cy="647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646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815723" y="4572000"/>
            <a:ext cx="11222781" cy="2111672"/>
          </a:xfrm>
        </p:spPr>
        <p:txBody>
          <a:bodyPr>
            <a:noAutofit/>
          </a:bodyPr>
          <a:lstStyle/>
          <a:p>
            <a:r>
              <a:rPr lang="en-US" sz="2400" dirty="0"/>
              <a:t>To find the equivalent annual series in years 1 through 10 for the gradient </a:t>
            </a:r>
            <a:r>
              <a:rPr lang="en-US" sz="2400" dirty="0" smtClean="0"/>
              <a:t>series</a:t>
            </a:r>
            <a:r>
              <a:rPr lang="tr-TR" sz="2400" dirty="0" smtClean="0"/>
              <a:t> </a:t>
            </a:r>
            <a:r>
              <a:rPr lang="en-US" sz="2400" dirty="0" smtClean="0"/>
              <a:t>only</a:t>
            </a:r>
            <a:r>
              <a:rPr lang="en-US" sz="2400" dirty="0"/>
              <a:t>, first find the present worth </a:t>
            </a:r>
            <a:r>
              <a:rPr lang="en-US" sz="2400" i="1" dirty="0"/>
              <a:t>PG </a:t>
            </a:r>
            <a:r>
              <a:rPr lang="en-US" sz="2400" dirty="0"/>
              <a:t>of the gradient in actual year 5, take this present worth </a:t>
            </a:r>
            <a:r>
              <a:rPr lang="en-US" sz="2400" dirty="0" smtClean="0"/>
              <a:t>back</a:t>
            </a:r>
            <a:r>
              <a:rPr lang="tr-TR" sz="2400" dirty="0" smtClean="0"/>
              <a:t> </a:t>
            </a:r>
            <a:r>
              <a:rPr lang="en-US" sz="2400" dirty="0" smtClean="0"/>
              <a:t>to </a:t>
            </a:r>
            <a:r>
              <a:rPr lang="en-US" sz="2400" dirty="0"/>
              <a:t>year 0, and annualize the present worth for 10 years with the </a:t>
            </a:r>
            <a:r>
              <a:rPr lang="en-US" sz="2400" i="1" dirty="0"/>
              <a:t>A</a:t>
            </a:r>
            <a:r>
              <a:rPr lang="en-US" sz="2400" dirty="0"/>
              <a:t>∕</a:t>
            </a:r>
            <a:r>
              <a:rPr lang="en-US" sz="2400" i="1" dirty="0"/>
              <a:t>P </a:t>
            </a:r>
            <a:r>
              <a:rPr lang="en-US" sz="2400" dirty="0"/>
              <a:t>factor. If you apply the </a:t>
            </a:r>
            <a:r>
              <a:rPr lang="en-US" sz="2400" dirty="0" smtClean="0"/>
              <a:t>annual</a:t>
            </a:r>
            <a:r>
              <a:rPr lang="tr-TR" sz="2400" dirty="0" smtClean="0"/>
              <a:t> </a:t>
            </a:r>
            <a:r>
              <a:rPr lang="en-US" sz="2400" dirty="0" smtClean="0"/>
              <a:t>series </a:t>
            </a:r>
            <a:r>
              <a:rPr lang="en-US" sz="2400" dirty="0"/>
              <a:t>gradient factor (</a:t>
            </a:r>
            <a:r>
              <a:rPr lang="en-US" sz="2400" i="1" dirty="0"/>
              <a:t>A</a:t>
            </a:r>
            <a:r>
              <a:rPr lang="en-US" sz="2400" dirty="0"/>
              <a:t>∕</a:t>
            </a:r>
            <a:r>
              <a:rPr lang="en-US" sz="2400" i="1" dirty="0"/>
              <a:t>G</a:t>
            </a:r>
            <a:r>
              <a:rPr lang="en-US" sz="2400" dirty="0"/>
              <a:t>,</a:t>
            </a:r>
            <a:r>
              <a:rPr lang="en-US" sz="2400" i="1" dirty="0"/>
              <a:t>i</a:t>
            </a:r>
            <a:r>
              <a:rPr lang="en-US" sz="2400" dirty="0"/>
              <a:t>,5) directly, the gradient is converted into an equivalent </a:t>
            </a:r>
            <a:r>
              <a:rPr lang="en-US" sz="2400" dirty="0" smtClean="0"/>
              <a:t>annual</a:t>
            </a:r>
            <a:r>
              <a:rPr lang="tr-TR" sz="2400" dirty="0" smtClean="0"/>
              <a:t> </a:t>
            </a:r>
            <a:r>
              <a:rPr lang="en-US" sz="2400" dirty="0" smtClean="0"/>
              <a:t>series </a:t>
            </a:r>
            <a:r>
              <a:rPr lang="en-US" sz="2400" dirty="0"/>
              <a:t>over years 6 through 10 only, not years 1 through 10, as requested.</a:t>
            </a:r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782" y="93974"/>
            <a:ext cx="11301722" cy="1085024"/>
          </a:xfrm>
          <a:prstGeom prst="rect">
            <a:avLst/>
          </a:prstGeom>
        </p:spPr>
      </p:pic>
      <p:pic>
        <p:nvPicPr>
          <p:cNvPr id="6" name="Resim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6316" y="1208648"/>
            <a:ext cx="6830193" cy="3363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704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950581" y="297673"/>
            <a:ext cx="8870996" cy="675932"/>
          </a:xfrm>
        </p:spPr>
        <p:txBody>
          <a:bodyPr>
            <a:normAutofit fontScale="90000"/>
          </a:bodyPr>
          <a:lstStyle/>
          <a:p>
            <a:r>
              <a:rPr lang="tr-TR" dirty="0" smtClean="0"/>
              <a:t>EXAMPLE</a:t>
            </a:r>
            <a:endParaRPr lang="en-US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950580" y="1187405"/>
            <a:ext cx="10903727" cy="1174247"/>
          </a:xfrm>
        </p:spPr>
        <p:txBody>
          <a:bodyPr>
            <a:normAutofit/>
          </a:bodyPr>
          <a:lstStyle/>
          <a:p>
            <a:r>
              <a:rPr lang="en-US" sz="2400" dirty="0"/>
              <a:t>Set up the engineering economy relations to compute the equivalent annual series in years </a:t>
            </a:r>
            <a:r>
              <a:rPr lang="en-US" sz="2400" dirty="0" smtClean="0"/>
              <a:t>1</a:t>
            </a:r>
            <a:r>
              <a:rPr lang="tr-TR" sz="2400" dirty="0" smtClean="0"/>
              <a:t> </a:t>
            </a:r>
            <a:r>
              <a:rPr lang="en-US" sz="2400" dirty="0" smtClean="0"/>
              <a:t>through </a:t>
            </a:r>
            <a:r>
              <a:rPr lang="en-US" sz="2400" dirty="0"/>
              <a:t>7 for the cash flow estimates in </a:t>
            </a:r>
            <a:r>
              <a:rPr lang="en-US" sz="2400" dirty="0" smtClean="0"/>
              <a:t>Figure</a:t>
            </a:r>
            <a:r>
              <a:rPr lang="tr-TR" sz="2400" dirty="0" smtClean="0"/>
              <a:t> </a:t>
            </a:r>
            <a:r>
              <a:rPr lang="tr-TR" sz="2400" dirty="0" err="1" smtClean="0"/>
              <a:t>below</a:t>
            </a:r>
            <a:endParaRPr lang="en-US" sz="2400" dirty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4483" y="2139825"/>
            <a:ext cx="6591197" cy="2836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330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654" y="278882"/>
            <a:ext cx="10841821" cy="4865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704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1463697" y="323988"/>
            <a:ext cx="10081424" cy="952226"/>
          </a:xfrm>
        </p:spPr>
        <p:txBody>
          <a:bodyPr>
            <a:normAutofit/>
          </a:bodyPr>
          <a:lstStyle/>
          <a:p>
            <a:r>
              <a:rPr lang="en-US" dirty="0"/>
              <a:t>Nominal </a:t>
            </a:r>
            <a:r>
              <a:rPr lang="en-US" dirty="0" smtClean="0"/>
              <a:t>and</a:t>
            </a:r>
            <a:r>
              <a:rPr lang="tr-TR" dirty="0" smtClean="0"/>
              <a:t> </a:t>
            </a:r>
            <a:r>
              <a:rPr lang="en-US" dirty="0" smtClean="0"/>
              <a:t>Effective</a:t>
            </a:r>
            <a:r>
              <a:rPr lang="tr-TR" dirty="0" smtClean="0"/>
              <a:t> </a:t>
            </a:r>
            <a:r>
              <a:rPr lang="en-US" dirty="0" smtClean="0"/>
              <a:t>Interest </a:t>
            </a:r>
            <a:r>
              <a:rPr lang="en-US" dirty="0"/>
              <a:t>Rates</a:t>
            </a:r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252" y="1276214"/>
            <a:ext cx="11290757" cy="1960811"/>
          </a:xfrm>
          <a:prstGeom prst="rect">
            <a:avLst/>
          </a:prstGeom>
        </p:spPr>
      </p:pic>
      <p:pic>
        <p:nvPicPr>
          <p:cNvPr id="5" name="Resi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976" y="3338953"/>
            <a:ext cx="11161093" cy="2417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670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753228" y="259846"/>
            <a:ext cx="11008981" cy="6305414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Effective interest </a:t>
            </a:r>
            <a:r>
              <a:rPr lang="en-US" sz="2400" dirty="0"/>
              <a:t>rate is the actual rate that applies for a </a:t>
            </a:r>
            <a:r>
              <a:rPr lang="en-US" sz="2400" dirty="0" smtClean="0"/>
              <a:t>stated</a:t>
            </a:r>
            <a:r>
              <a:rPr lang="tr-TR" sz="2400" dirty="0" smtClean="0"/>
              <a:t> </a:t>
            </a:r>
            <a:r>
              <a:rPr lang="en-US" sz="2400" dirty="0" smtClean="0"/>
              <a:t>period </a:t>
            </a:r>
            <a:r>
              <a:rPr lang="en-US" sz="2400" dirty="0"/>
              <a:t>of time. (The actual amount of interest that will </a:t>
            </a:r>
            <a:r>
              <a:rPr lang="en-US" sz="2400" dirty="0" smtClean="0"/>
              <a:t>accumulate</a:t>
            </a:r>
            <a:r>
              <a:rPr lang="tr-TR" sz="2400" dirty="0" smtClean="0"/>
              <a:t> </a:t>
            </a:r>
            <a:r>
              <a:rPr lang="en-US" sz="2400" dirty="0" smtClean="0"/>
              <a:t>in </a:t>
            </a:r>
            <a:r>
              <a:rPr lang="en-US" sz="2400" dirty="0"/>
              <a:t>a stated period of time.)</a:t>
            </a:r>
          </a:p>
          <a:p>
            <a:r>
              <a:rPr lang="en-US" sz="2400" dirty="0"/>
              <a:t>The compounding of interest during the time period of </a:t>
            </a:r>
            <a:r>
              <a:rPr lang="en-US" sz="2400" dirty="0" smtClean="0"/>
              <a:t>the</a:t>
            </a:r>
            <a:r>
              <a:rPr lang="tr-TR" sz="2400" dirty="0" smtClean="0"/>
              <a:t> </a:t>
            </a:r>
            <a:r>
              <a:rPr lang="en-US" sz="2400" dirty="0" smtClean="0"/>
              <a:t>corresponding </a:t>
            </a:r>
            <a:r>
              <a:rPr lang="en-US" sz="2400" dirty="0"/>
              <a:t>nominal rate is accounted for by the </a:t>
            </a:r>
            <a:r>
              <a:rPr lang="en-US" sz="2400" dirty="0" smtClean="0"/>
              <a:t>effective</a:t>
            </a:r>
            <a:r>
              <a:rPr lang="tr-TR" sz="2400" dirty="0" smtClean="0"/>
              <a:t> </a:t>
            </a:r>
            <a:r>
              <a:rPr lang="en-US" sz="2400" dirty="0" smtClean="0"/>
              <a:t>interest </a:t>
            </a:r>
            <a:r>
              <a:rPr lang="en-US" sz="2400" dirty="0"/>
              <a:t>rate.</a:t>
            </a:r>
          </a:p>
          <a:p>
            <a:r>
              <a:rPr lang="en-US" sz="2400" dirty="0"/>
              <a:t>Effective interest rate is commonly expressed on an annual </a:t>
            </a:r>
            <a:r>
              <a:rPr lang="en-US" sz="2400" dirty="0" smtClean="0"/>
              <a:t>basis</a:t>
            </a:r>
            <a:r>
              <a:rPr lang="tr-TR" sz="2400" dirty="0" smtClean="0"/>
              <a:t> </a:t>
            </a:r>
            <a:r>
              <a:rPr lang="en-US" sz="2400" dirty="0" smtClean="0"/>
              <a:t>as </a:t>
            </a:r>
            <a:r>
              <a:rPr lang="en-US" sz="2400" dirty="0"/>
              <a:t>the effective rate, </a:t>
            </a:r>
            <a:r>
              <a:rPr lang="en-US" sz="2400" i="1" dirty="0" err="1"/>
              <a:t>i</a:t>
            </a:r>
            <a:r>
              <a:rPr lang="en-US" sz="2400" i="1" baseline="-25000" dirty="0" err="1"/>
              <a:t>a</a:t>
            </a:r>
            <a:r>
              <a:rPr lang="en-US" sz="2400" dirty="0"/>
              <a:t>, but any time basis can be used.</a:t>
            </a:r>
          </a:p>
          <a:p>
            <a:r>
              <a:rPr lang="en-US" sz="2400" dirty="0"/>
              <a:t>Effective rate has the compounding frequency attached to </a:t>
            </a:r>
            <a:r>
              <a:rPr lang="en-US" sz="2400" dirty="0" smtClean="0"/>
              <a:t>the</a:t>
            </a:r>
            <a:r>
              <a:rPr lang="tr-TR" sz="2400" dirty="0" smtClean="0"/>
              <a:t> </a:t>
            </a:r>
            <a:r>
              <a:rPr lang="en-US" sz="2400" dirty="0" smtClean="0"/>
              <a:t>nominal </a:t>
            </a:r>
            <a:r>
              <a:rPr lang="en-US" sz="2400" dirty="0"/>
              <a:t>rate statement (4% per year, compounded monthly)</a:t>
            </a:r>
          </a:p>
          <a:p>
            <a:r>
              <a:rPr lang="en-US" sz="2400" dirty="0"/>
              <a:t>If compounding frequency is not stated, it is assumed to be </a:t>
            </a:r>
            <a:r>
              <a:rPr lang="en-US" sz="2400" dirty="0" smtClean="0"/>
              <a:t>the</a:t>
            </a:r>
            <a:r>
              <a:rPr lang="tr-TR" sz="2400" dirty="0" smtClean="0"/>
              <a:t> </a:t>
            </a:r>
            <a:r>
              <a:rPr lang="en-US" sz="2400" dirty="0" smtClean="0"/>
              <a:t>same </a:t>
            </a:r>
            <a:r>
              <a:rPr lang="en-US" sz="2400" dirty="0"/>
              <a:t>as the time period of </a:t>
            </a:r>
            <a:r>
              <a:rPr lang="en-US" sz="2400" i="1" dirty="0"/>
              <a:t>r </a:t>
            </a:r>
            <a:r>
              <a:rPr lang="en-US" sz="2400" dirty="0"/>
              <a:t>, i.e. compounding 1 time during </a:t>
            </a:r>
            <a:r>
              <a:rPr lang="en-US" sz="2400" dirty="0" smtClean="0"/>
              <a:t>the</a:t>
            </a:r>
            <a:r>
              <a:rPr lang="tr-TR" sz="2400" dirty="0" smtClean="0"/>
              <a:t> </a:t>
            </a:r>
            <a:r>
              <a:rPr lang="en-US" sz="2400" dirty="0" smtClean="0"/>
              <a:t>time </a:t>
            </a:r>
            <a:r>
              <a:rPr lang="en-US" sz="2400" dirty="0"/>
              <a:t>period</a:t>
            </a:r>
          </a:p>
          <a:p>
            <a:r>
              <a:rPr lang="en-US" sz="2400" dirty="0"/>
              <a:t>All the interest formulas, factors, tabulated values must have </a:t>
            </a:r>
            <a:r>
              <a:rPr lang="en-US" sz="2400" dirty="0" smtClean="0"/>
              <a:t>the</a:t>
            </a:r>
            <a:r>
              <a:rPr lang="tr-TR" sz="2400" dirty="0" smtClean="0"/>
              <a:t> </a:t>
            </a:r>
            <a:r>
              <a:rPr lang="en-US" sz="2400" dirty="0" smtClean="0"/>
              <a:t>effective </a:t>
            </a:r>
            <a:r>
              <a:rPr lang="en-US" sz="2400" dirty="0"/>
              <a:t>interest rate to properly account for the time value </a:t>
            </a:r>
            <a:r>
              <a:rPr lang="en-US" sz="2400" dirty="0" smtClean="0"/>
              <a:t>of</a:t>
            </a:r>
            <a:r>
              <a:rPr lang="tr-TR" sz="2400" dirty="0" smtClean="0"/>
              <a:t> </a:t>
            </a:r>
            <a:r>
              <a:rPr lang="en-US" sz="2400" dirty="0" smtClean="0"/>
              <a:t>money</a:t>
            </a:r>
            <a:r>
              <a:rPr lang="en-US" sz="2400" dirty="0"/>
              <a:t>.</a:t>
            </a:r>
          </a:p>
          <a:p>
            <a:r>
              <a:rPr lang="en-US" sz="2400" dirty="0"/>
              <a:t>Therefore, we should know how to calculate the effective </a:t>
            </a:r>
            <a:r>
              <a:rPr lang="en-US" sz="2400" dirty="0" smtClean="0"/>
              <a:t>interest</a:t>
            </a:r>
            <a:r>
              <a:rPr lang="tr-TR" sz="2400" dirty="0" smtClean="0"/>
              <a:t> </a:t>
            </a:r>
            <a:r>
              <a:rPr lang="en-US" sz="2400" dirty="0" smtClean="0"/>
              <a:t>rate </a:t>
            </a:r>
            <a:r>
              <a:rPr lang="en-US" sz="2400" dirty="0"/>
              <a:t>value for any nominal or effective rate statement.</a:t>
            </a:r>
          </a:p>
        </p:txBody>
      </p:sp>
    </p:spTree>
    <p:extLst>
      <p:ext uri="{BB962C8B-B14F-4D97-AF65-F5344CB8AC3E}">
        <p14:creationId xmlns:p14="http://schemas.microsoft.com/office/powerpoint/2010/main" val="1575171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944001" y="292739"/>
            <a:ext cx="10837944" cy="6193581"/>
          </a:xfrm>
        </p:spPr>
        <p:txBody>
          <a:bodyPr>
            <a:normAutofit/>
          </a:bodyPr>
          <a:lstStyle/>
          <a:p>
            <a:r>
              <a:rPr lang="en-US" sz="2400" u="sng" dirty="0"/>
              <a:t>Annual Percentage Rate </a:t>
            </a:r>
            <a:r>
              <a:rPr lang="en-US" sz="2400" dirty="0"/>
              <a:t>(APR) and </a:t>
            </a:r>
            <a:r>
              <a:rPr lang="en-US" sz="2400" u="sng" dirty="0"/>
              <a:t>Annual Percentage </a:t>
            </a:r>
            <a:r>
              <a:rPr lang="en-US" sz="2400" u="sng" dirty="0" smtClean="0"/>
              <a:t>Yield</a:t>
            </a:r>
            <a:r>
              <a:rPr lang="tr-TR" sz="2400" u="sng" dirty="0" smtClean="0"/>
              <a:t> </a:t>
            </a:r>
            <a:r>
              <a:rPr lang="en-US" sz="2400" dirty="0" smtClean="0"/>
              <a:t>(APY</a:t>
            </a:r>
            <a:r>
              <a:rPr lang="en-US" sz="2400" dirty="0"/>
              <a:t>) can be used as instead of nominal and effective </a:t>
            </a:r>
            <a:r>
              <a:rPr lang="en-US" sz="2400" dirty="0" smtClean="0"/>
              <a:t>interest</a:t>
            </a:r>
            <a:r>
              <a:rPr lang="tr-TR" sz="2400" dirty="0" smtClean="0"/>
              <a:t> </a:t>
            </a:r>
            <a:r>
              <a:rPr lang="en-US" sz="2400" dirty="0" smtClean="0"/>
              <a:t>rates </a:t>
            </a:r>
            <a:r>
              <a:rPr lang="en-US" sz="2400" dirty="0"/>
              <a:t>in practice</a:t>
            </a:r>
            <a:r>
              <a:rPr lang="en-US" sz="2400" dirty="0" smtClean="0"/>
              <a:t>.</a:t>
            </a:r>
            <a:endParaRPr lang="tr-TR" sz="2400" dirty="0" smtClean="0"/>
          </a:p>
          <a:p>
            <a:r>
              <a:rPr lang="en-US" sz="2400" dirty="0"/>
              <a:t>There are always three time-based units associated with an </a:t>
            </a:r>
            <a:r>
              <a:rPr lang="en-US" sz="2400" dirty="0" smtClean="0"/>
              <a:t>interest</a:t>
            </a:r>
            <a:r>
              <a:rPr lang="tr-TR" sz="2400" dirty="0" smtClean="0"/>
              <a:t> </a:t>
            </a:r>
            <a:r>
              <a:rPr lang="en-US" sz="2400" dirty="0" smtClean="0"/>
              <a:t>rate </a:t>
            </a:r>
            <a:r>
              <a:rPr lang="en-US" sz="2400" dirty="0"/>
              <a:t>statement.</a:t>
            </a:r>
          </a:p>
          <a:p>
            <a:r>
              <a:rPr lang="en-US" sz="2400" dirty="0">
                <a:solidFill>
                  <a:srgbClr val="0070C0"/>
                </a:solidFill>
              </a:rPr>
              <a:t>Time Period- </a:t>
            </a:r>
            <a:r>
              <a:rPr lang="en-US" sz="2400" dirty="0"/>
              <a:t>The period over which the interest is expressed. It </a:t>
            </a:r>
            <a:r>
              <a:rPr lang="en-US" sz="2400" dirty="0" smtClean="0"/>
              <a:t>is</a:t>
            </a:r>
            <a:r>
              <a:rPr lang="tr-TR" sz="2400" dirty="0" smtClean="0"/>
              <a:t> </a:t>
            </a:r>
            <a:r>
              <a:rPr lang="en-US" sz="2400" dirty="0" smtClean="0"/>
              <a:t>the </a:t>
            </a:r>
            <a:r>
              <a:rPr lang="en-US" sz="2400" i="1" dirty="0"/>
              <a:t>t </a:t>
            </a:r>
            <a:r>
              <a:rPr lang="en-US" sz="2400" dirty="0"/>
              <a:t>in the statement of </a:t>
            </a:r>
            <a:r>
              <a:rPr lang="en-US" sz="2400" i="1" dirty="0"/>
              <a:t>r</a:t>
            </a:r>
            <a:r>
              <a:rPr lang="en-US" sz="2400" dirty="0"/>
              <a:t>% </a:t>
            </a:r>
            <a:r>
              <a:rPr lang="en-US" sz="2400" i="1" dirty="0"/>
              <a:t>per time period t </a:t>
            </a:r>
            <a:r>
              <a:rPr lang="en-US" sz="2400" dirty="0"/>
              <a:t>(1% per month)</a:t>
            </a:r>
          </a:p>
          <a:p>
            <a:r>
              <a:rPr lang="en-US" sz="2400" dirty="0">
                <a:solidFill>
                  <a:srgbClr val="0070C0"/>
                </a:solidFill>
              </a:rPr>
              <a:t>Compounding Period-</a:t>
            </a:r>
            <a:r>
              <a:rPr lang="en-US" sz="2400" dirty="0"/>
              <a:t> the shortest time period over which </a:t>
            </a:r>
            <a:r>
              <a:rPr lang="en-US" sz="2400" dirty="0" smtClean="0"/>
              <a:t>interest</a:t>
            </a:r>
            <a:r>
              <a:rPr lang="tr-TR" sz="2400" dirty="0" smtClean="0"/>
              <a:t> </a:t>
            </a:r>
            <a:r>
              <a:rPr lang="en-US" sz="2400" dirty="0" smtClean="0"/>
              <a:t>is </a:t>
            </a:r>
            <a:r>
              <a:rPr lang="en-US" sz="2400" dirty="0"/>
              <a:t>charged or earned. (8% per year compounded </a:t>
            </a:r>
            <a:r>
              <a:rPr lang="en-US" sz="2400" dirty="0" smtClean="0"/>
              <a:t>monthly,</a:t>
            </a:r>
            <a:r>
              <a:rPr lang="tr-TR" sz="2400" dirty="0" smtClean="0"/>
              <a:t> </a:t>
            </a:r>
            <a:r>
              <a:rPr lang="en-US" sz="2400" dirty="0" smtClean="0"/>
              <a:t>therefore </a:t>
            </a:r>
            <a:r>
              <a:rPr lang="en-US" sz="2400" dirty="0"/>
              <a:t>CP is month)</a:t>
            </a:r>
          </a:p>
          <a:p>
            <a:r>
              <a:rPr lang="en-US" sz="2400" dirty="0">
                <a:solidFill>
                  <a:srgbClr val="0070C0"/>
                </a:solidFill>
              </a:rPr>
              <a:t>Compounding frequency- </a:t>
            </a:r>
            <a:r>
              <a:rPr lang="en-US" sz="2400" dirty="0"/>
              <a:t>the number of times that </a:t>
            </a:r>
            <a:r>
              <a:rPr lang="en-US" sz="2400" i="1" dirty="0" smtClean="0"/>
              <a:t>m</a:t>
            </a:r>
            <a:r>
              <a:rPr lang="tr-TR" sz="2400" i="1" dirty="0" smtClean="0"/>
              <a:t> </a:t>
            </a:r>
            <a:r>
              <a:rPr lang="en-US" sz="2400" dirty="0" smtClean="0"/>
              <a:t>compounding </a:t>
            </a:r>
            <a:r>
              <a:rPr lang="en-US" sz="2400" dirty="0"/>
              <a:t>occurs within the time period </a:t>
            </a:r>
            <a:r>
              <a:rPr lang="en-US" sz="2400" i="1" dirty="0"/>
              <a:t>t</a:t>
            </a:r>
            <a:r>
              <a:rPr lang="en-US" sz="2400" dirty="0"/>
              <a:t>. If the </a:t>
            </a:r>
            <a:r>
              <a:rPr lang="en-US" sz="2400" dirty="0" smtClean="0"/>
              <a:t>compounding</a:t>
            </a:r>
            <a:r>
              <a:rPr lang="tr-TR" sz="2400" dirty="0" smtClean="0"/>
              <a:t> </a:t>
            </a:r>
            <a:r>
              <a:rPr lang="en-US" sz="2400" dirty="0" smtClean="0"/>
              <a:t>period </a:t>
            </a:r>
            <a:r>
              <a:rPr lang="en-US" sz="2400" dirty="0"/>
              <a:t>(CP) and the time period </a:t>
            </a:r>
            <a:r>
              <a:rPr lang="en-US" sz="2400" i="1" dirty="0"/>
              <a:t>t </a:t>
            </a:r>
            <a:r>
              <a:rPr lang="en-US" sz="2400" dirty="0"/>
              <a:t>are the same, the </a:t>
            </a:r>
            <a:r>
              <a:rPr lang="en-US" sz="2400" dirty="0" smtClean="0"/>
              <a:t>compounding</a:t>
            </a:r>
            <a:r>
              <a:rPr lang="tr-TR" sz="2400" dirty="0" smtClean="0"/>
              <a:t> </a:t>
            </a:r>
            <a:r>
              <a:rPr lang="en-US" sz="2400" dirty="0" smtClean="0"/>
              <a:t>frequency </a:t>
            </a:r>
            <a:r>
              <a:rPr lang="en-US" sz="2400" dirty="0"/>
              <a:t>is 1 (1% per month compounded monthly.)</a:t>
            </a:r>
          </a:p>
        </p:txBody>
      </p:sp>
    </p:spTree>
    <p:extLst>
      <p:ext uri="{BB962C8B-B14F-4D97-AF65-F5344CB8AC3E}">
        <p14:creationId xmlns:p14="http://schemas.microsoft.com/office/powerpoint/2010/main" val="3051763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987859" y="3263907"/>
            <a:ext cx="10887280" cy="1309104"/>
          </a:xfrm>
        </p:spPr>
        <p:txBody>
          <a:bodyPr>
            <a:noAutofit/>
          </a:bodyPr>
          <a:lstStyle/>
          <a:p>
            <a:r>
              <a:rPr lang="en-US" sz="2400" dirty="0"/>
              <a:t>So far all the interest rates used have </a:t>
            </a:r>
            <a:r>
              <a:rPr lang="en-US" sz="2400" i="1" dirty="0"/>
              <a:t>t </a:t>
            </a:r>
            <a:r>
              <a:rPr lang="en-US" sz="2400" dirty="0"/>
              <a:t>and </a:t>
            </a:r>
            <a:r>
              <a:rPr lang="en-US" sz="2400" i="1" dirty="0"/>
              <a:t>m </a:t>
            </a:r>
            <a:r>
              <a:rPr lang="en-US" sz="2400" dirty="0"/>
              <a:t>as 1 year (8% per year</a:t>
            </a:r>
            <a:r>
              <a:rPr lang="en-US" sz="2400" dirty="0" smtClean="0"/>
              <a:t>).</a:t>
            </a:r>
            <a:r>
              <a:rPr lang="tr-TR" sz="2400" dirty="0" smtClean="0"/>
              <a:t> </a:t>
            </a:r>
            <a:r>
              <a:rPr lang="en-US" sz="2400" dirty="0" smtClean="0"/>
              <a:t>The </a:t>
            </a:r>
            <a:r>
              <a:rPr lang="en-US" sz="2400" dirty="0"/>
              <a:t>effective and nominal rates were the same. It is common </a:t>
            </a:r>
            <a:r>
              <a:rPr lang="en-US" sz="2400" dirty="0" smtClean="0"/>
              <a:t>practice</a:t>
            </a:r>
            <a:r>
              <a:rPr lang="tr-TR" sz="2400" dirty="0" smtClean="0"/>
              <a:t> </a:t>
            </a:r>
            <a:r>
              <a:rPr lang="en-US" sz="2400" dirty="0" smtClean="0"/>
              <a:t>to </a:t>
            </a:r>
            <a:r>
              <a:rPr lang="en-US" sz="2400" dirty="0"/>
              <a:t>express the rates on the same time basis as the </a:t>
            </a:r>
            <a:r>
              <a:rPr lang="en-US" sz="2400" dirty="0" smtClean="0"/>
              <a:t>compounding</a:t>
            </a:r>
            <a:r>
              <a:rPr lang="tr-TR" sz="2400" dirty="0" smtClean="0"/>
              <a:t> </a:t>
            </a:r>
            <a:r>
              <a:rPr lang="en-US" sz="2400" dirty="0" smtClean="0"/>
              <a:t>period</a:t>
            </a:r>
            <a:r>
              <a:rPr lang="en-US" sz="2400" dirty="0"/>
              <a:t>.</a:t>
            </a:r>
          </a:p>
        </p:txBody>
      </p:sp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557" y="199299"/>
            <a:ext cx="11007884" cy="2756207"/>
          </a:xfrm>
          <a:prstGeom prst="rect">
            <a:avLst/>
          </a:prstGeom>
        </p:spPr>
      </p:pic>
      <p:pic>
        <p:nvPicPr>
          <p:cNvPr id="8" name="Resim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272" y="4817788"/>
            <a:ext cx="9554908" cy="1143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2508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970316" y="2973444"/>
            <a:ext cx="10910306" cy="2348496"/>
          </a:xfrm>
        </p:spPr>
        <p:txBody>
          <a:bodyPr>
            <a:normAutofit/>
          </a:bodyPr>
          <a:lstStyle/>
          <a:p>
            <a:r>
              <a:rPr lang="en-US" sz="2400" dirty="0"/>
              <a:t>NOTE: Changing the basic time period </a:t>
            </a:r>
            <a:r>
              <a:rPr lang="en-US" sz="2400" i="1" dirty="0"/>
              <a:t>t </a:t>
            </a:r>
            <a:r>
              <a:rPr lang="en-US" sz="2400" dirty="0"/>
              <a:t>does not alter </a:t>
            </a:r>
            <a:r>
              <a:rPr lang="en-US" sz="2400" dirty="0" smtClean="0"/>
              <a:t>the</a:t>
            </a:r>
            <a:r>
              <a:rPr lang="tr-TR" sz="2400" dirty="0" smtClean="0"/>
              <a:t> </a:t>
            </a:r>
            <a:r>
              <a:rPr lang="en-US" sz="2400" dirty="0" smtClean="0"/>
              <a:t>compounding </a:t>
            </a:r>
            <a:r>
              <a:rPr lang="en-US" sz="2400" dirty="0"/>
              <a:t>period, month in the previous example. </a:t>
            </a:r>
            <a:endParaRPr lang="tr-TR" sz="2400" dirty="0" smtClean="0"/>
          </a:p>
          <a:p>
            <a:r>
              <a:rPr lang="en-US" sz="2400" dirty="0" smtClean="0"/>
              <a:t>Whenever time</a:t>
            </a:r>
            <a:r>
              <a:rPr lang="tr-TR" sz="2400" dirty="0" smtClean="0"/>
              <a:t> </a:t>
            </a:r>
            <a:r>
              <a:rPr lang="en-US" sz="2400" dirty="0" smtClean="0"/>
              <a:t>period </a:t>
            </a:r>
            <a:r>
              <a:rPr lang="en-US" sz="2400" dirty="0"/>
              <a:t>= compounding period, stated nominal rate is an effective </a:t>
            </a:r>
            <a:r>
              <a:rPr lang="en-US" sz="2400" dirty="0" smtClean="0"/>
              <a:t>rate.</a:t>
            </a:r>
            <a:r>
              <a:rPr lang="tr-TR" sz="2400" dirty="0" smtClean="0"/>
              <a:t> </a:t>
            </a:r>
            <a:r>
              <a:rPr lang="en-US" sz="2400" dirty="0" smtClean="0"/>
              <a:t>Therefore</a:t>
            </a:r>
            <a:r>
              <a:rPr lang="en-US" sz="2400" dirty="0"/>
              <a:t>, </a:t>
            </a:r>
            <a:r>
              <a:rPr lang="en-US" sz="2400" i="1" dirty="0" err="1"/>
              <a:t>i</a:t>
            </a:r>
            <a:r>
              <a:rPr lang="en-US" sz="2400" i="1" baseline="-25000" dirty="0" err="1"/>
              <a:t>cp</a:t>
            </a:r>
            <a:r>
              <a:rPr lang="en-US" sz="2400" i="1" dirty="0"/>
              <a:t> </a:t>
            </a:r>
            <a:r>
              <a:rPr lang="en-US" sz="2400" dirty="0"/>
              <a:t>is the effective rate per CP too.</a:t>
            </a:r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880" y="321479"/>
            <a:ext cx="11250237" cy="2092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74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135" y="564207"/>
            <a:ext cx="11165767" cy="5054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8740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1029522" y="310830"/>
            <a:ext cx="8923623" cy="636462"/>
          </a:xfrm>
        </p:spPr>
        <p:txBody>
          <a:bodyPr>
            <a:normAutofit fontScale="90000"/>
          </a:bodyPr>
          <a:lstStyle/>
          <a:p>
            <a:r>
              <a:rPr lang="tr-TR" dirty="0" smtClean="0"/>
              <a:t>EXAMPLE</a:t>
            </a:r>
            <a:endParaRPr lang="en-US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029521" y="1207140"/>
            <a:ext cx="10791895" cy="3364860"/>
          </a:xfrm>
        </p:spPr>
        <p:txBody>
          <a:bodyPr>
            <a:normAutofit/>
          </a:bodyPr>
          <a:lstStyle/>
          <a:p>
            <a:r>
              <a:rPr lang="en-US" sz="2400" dirty="0"/>
              <a:t>Three different bank loan rates for electric generation equipment are listed below. </a:t>
            </a:r>
            <a:r>
              <a:rPr lang="en-US" sz="2400" dirty="0" smtClean="0"/>
              <a:t>Determine</a:t>
            </a:r>
            <a:r>
              <a:rPr lang="tr-TR" sz="2400" dirty="0" smtClean="0"/>
              <a:t> </a:t>
            </a:r>
            <a:r>
              <a:rPr lang="en-US" sz="2400" dirty="0" smtClean="0"/>
              <a:t>the </a:t>
            </a:r>
            <a:r>
              <a:rPr lang="en-US" sz="2400" dirty="0"/>
              <a:t>effective rate on the basis of the compounding period for each rate.</a:t>
            </a:r>
          </a:p>
          <a:p>
            <a:pPr marL="0" indent="625475">
              <a:buNone/>
            </a:pPr>
            <a:r>
              <a:rPr lang="en-US" sz="2400" dirty="0"/>
              <a:t>(</a:t>
            </a:r>
            <a:r>
              <a:rPr lang="en-US" sz="2400" i="1" dirty="0"/>
              <a:t>a</a:t>
            </a:r>
            <a:r>
              <a:rPr lang="en-US" sz="2400" dirty="0"/>
              <a:t>) 9% per year, compounded quarterly.</a:t>
            </a:r>
          </a:p>
          <a:p>
            <a:pPr marL="0" indent="625475">
              <a:buNone/>
            </a:pPr>
            <a:r>
              <a:rPr lang="en-US" sz="2400" dirty="0"/>
              <a:t>(</a:t>
            </a:r>
            <a:r>
              <a:rPr lang="en-US" sz="2400" i="1" dirty="0"/>
              <a:t>b</a:t>
            </a:r>
            <a:r>
              <a:rPr lang="en-US" sz="2400" dirty="0"/>
              <a:t>) 9% per year, compounded monthly.</a:t>
            </a:r>
          </a:p>
          <a:p>
            <a:pPr marL="0" indent="625475">
              <a:buNone/>
            </a:pPr>
            <a:r>
              <a:rPr lang="en-US" sz="2400" dirty="0"/>
              <a:t>(</a:t>
            </a:r>
            <a:r>
              <a:rPr lang="en-US" sz="2400" i="1" dirty="0"/>
              <a:t>c</a:t>
            </a:r>
            <a:r>
              <a:rPr lang="en-US" sz="2400" dirty="0"/>
              <a:t>) 4.5% per 6 months, compounded weekly.</a:t>
            </a:r>
          </a:p>
        </p:txBody>
      </p:sp>
    </p:spTree>
    <p:extLst>
      <p:ext uri="{BB962C8B-B14F-4D97-AF65-F5344CB8AC3E}">
        <p14:creationId xmlns:p14="http://schemas.microsoft.com/office/powerpoint/2010/main" val="3999226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903" y="705078"/>
            <a:ext cx="11276734" cy="5051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3396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1075571" y="350301"/>
            <a:ext cx="8897309" cy="682511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The Credit Card Offer Case:</a:t>
            </a:r>
            <a:endParaRPr lang="en-US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970316" y="1161089"/>
            <a:ext cx="10982668" cy="5325229"/>
          </a:xfrm>
        </p:spPr>
        <p:txBody>
          <a:bodyPr>
            <a:normAutofit/>
          </a:bodyPr>
          <a:lstStyle/>
          <a:p>
            <a:r>
              <a:rPr lang="en-US" sz="2400" dirty="0" smtClean="0"/>
              <a:t>Today</a:t>
            </a:r>
            <a:r>
              <a:rPr lang="en-US" sz="2400" dirty="0"/>
              <a:t>, </a:t>
            </a:r>
            <a:r>
              <a:rPr lang="en-US" sz="2400" dirty="0" smtClean="0"/>
              <a:t>Dave</a:t>
            </a:r>
            <a:r>
              <a:rPr lang="tr-TR" sz="2400" dirty="0" smtClean="0"/>
              <a:t> </a:t>
            </a:r>
            <a:r>
              <a:rPr lang="en-US" sz="2400" dirty="0" smtClean="0"/>
              <a:t>received </a:t>
            </a:r>
            <a:r>
              <a:rPr lang="en-US" sz="2400" dirty="0"/>
              <a:t>a special offer of a new </a:t>
            </a:r>
            <a:r>
              <a:rPr lang="en-US" sz="2400" dirty="0" smtClean="0"/>
              <a:t>credit</a:t>
            </a:r>
            <a:r>
              <a:rPr lang="tr-TR" sz="2400" dirty="0" smtClean="0"/>
              <a:t> </a:t>
            </a:r>
            <a:r>
              <a:rPr lang="en-US" sz="2400" dirty="0" smtClean="0"/>
              <a:t>card </a:t>
            </a:r>
            <a:r>
              <a:rPr lang="en-US" sz="2400" dirty="0"/>
              <a:t>from Chase Bank linked with the </a:t>
            </a:r>
            <a:r>
              <a:rPr lang="en-US" sz="2400" dirty="0" err="1" smtClean="0"/>
              <a:t>majör</a:t>
            </a:r>
            <a:r>
              <a:rPr lang="tr-TR" sz="2400" dirty="0" smtClean="0"/>
              <a:t> </a:t>
            </a:r>
            <a:r>
              <a:rPr lang="en-US" sz="2400" dirty="0" smtClean="0"/>
              <a:t>airline </a:t>
            </a:r>
            <a:r>
              <a:rPr lang="en-US" sz="2400" dirty="0"/>
              <a:t>that he flies frequently. </a:t>
            </a:r>
            <a:endParaRPr lang="tr-TR" sz="2400" dirty="0" smtClean="0"/>
          </a:p>
          <a:p>
            <a:r>
              <a:rPr lang="en-US" sz="2400" dirty="0" smtClean="0"/>
              <a:t>It offers</a:t>
            </a:r>
            <a:r>
              <a:rPr lang="tr-TR" sz="2400" dirty="0" smtClean="0"/>
              <a:t> </a:t>
            </a:r>
            <a:r>
              <a:rPr lang="en-US" sz="2400" dirty="0" smtClean="0"/>
              <a:t>a </a:t>
            </a:r>
            <a:r>
              <a:rPr lang="en-US" sz="2400" dirty="0"/>
              <a:t>generous bonus package for </a:t>
            </a:r>
            <a:r>
              <a:rPr lang="en-US" sz="2400" dirty="0" smtClean="0"/>
              <a:t>signing</a:t>
            </a:r>
            <a:r>
              <a:rPr lang="tr-TR" sz="2400" dirty="0" smtClean="0"/>
              <a:t> </a:t>
            </a:r>
            <a:r>
              <a:rPr lang="en-US" sz="2400" dirty="0" smtClean="0"/>
              <a:t>up </a:t>
            </a:r>
            <a:r>
              <a:rPr lang="en-US" sz="2400" dirty="0"/>
              <a:t>by a specific date about 60 days </a:t>
            </a:r>
            <a:r>
              <a:rPr lang="en-US" sz="2400" dirty="0" smtClean="0"/>
              <a:t>from</a:t>
            </a:r>
            <a:r>
              <a:rPr lang="tr-TR" sz="2400" dirty="0" smtClean="0"/>
              <a:t> </a:t>
            </a:r>
            <a:r>
              <a:rPr lang="en-US" sz="2400" dirty="0" smtClean="0"/>
              <a:t>now</a:t>
            </a:r>
            <a:r>
              <a:rPr lang="en-US" sz="2400" dirty="0"/>
              <a:t>. </a:t>
            </a:r>
            <a:endParaRPr lang="tr-TR" sz="2400" dirty="0" smtClean="0"/>
          </a:p>
          <a:p>
            <a:r>
              <a:rPr lang="en-US" sz="2400" dirty="0" smtClean="0"/>
              <a:t>The </a:t>
            </a:r>
            <a:r>
              <a:rPr lang="en-US" sz="2400" dirty="0"/>
              <a:t>bonus package includes </a:t>
            </a:r>
            <a:r>
              <a:rPr lang="en-US" sz="2400" dirty="0" smtClean="0"/>
              <a:t>extra</a:t>
            </a:r>
            <a:r>
              <a:rPr lang="tr-TR" sz="2400" dirty="0" smtClean="0"/>
              <a:t> </a:t>
            </a:r>
            <a:r>
              <a:rPr lang="en-US" sz="2400" dirty="0" smtClean="0"/>
              <a:t>airline </a:t>
            </a:r>
            <a:r>
              <a:rPr lang="en-US" sz="2400" dirty="0"/>
              <a:t>points (once the first purchase </a:t>
            </a:r>
            <a:r>
              <a:rPr lang="en-US" sz="2400" dirty="0" smtClean="0"/>
              <a:t>is</a:t>
            </a:r>
            <a:r>
              <a:rPr lang="tr-TR" sz="2400" dirty="0" smtClean="0"/>
              <a:t> </a:t>
            </a:r>
            <a:r>
              <a:rPr lang="en-US" sz="2400" dirty="0" smtClean="0"/>
              <a:t>made</a:t>
            </a:r>
            <a:r>
              <a:rPr lang="en-US" sz="2400" dirty="0"/>
              <a:t>), priority airport check-in </a:t>
            </a:r>
            <a:r>
              <a:rPr lang="en-US" sz="2400" dirty="0" smtClean="0"/>
              <a:t>services</a:t>
            </a:r>
            <a:r>
              <a:rPr lang="tr-TR" sz="2400" dirty="0" smtClean="0"/>
              <a:t> </a:t>
            </a:r>
            <a:r>
              <a:rPr lang="en-US" sz="2400" dirty="0" smtClean="0"/>
              <a:t>(for </a:t>
            </a:r>
            <a:r>
              <a:rPr lang="en-US" sz="2400" dirty="0"/>
              <a:t>1 year), several free </a:t>
            </a:r>
            <a:r>
              <a:rPr lang="en-US" sz="2400" dirty="0" smtClean="0"/>
              <a:t>checked-bag</a:t>
            </a:r>
            <a:r>
              <a:rPr lang="tr-TR" sz="2400" dirty="0" smtClean="0"/>
              <a:t> </a:t>
            </a:r>
            <a:r>
              <a:rPr lang="en-US" sz="2400" dirty="0" smtClean="0"/>
              <a:t>allowances </a:t>
            </a:r>
            <a:r>
              <a:rPr lang="en-US" sz="2400" dirty="0"/>
              <a:t>(for up to 10 check-ins), </a:t>
            </a:r>
            <a:r>
              <a:rPr lang="en-US" sz="2400" dirty="0" smtClean="0"/>
              <a:t>extra</a:t>
            </a:r>
            <a:r>
              <a:rPr lang="tr-TR" sz="2400" dirty="0" smtClean="0"/>
              <a:t> </a:t>
            </a:r>
            <a:r>
              <a:rPr lang="en-US" sz="2400" dirty="0" smtClean="0"/>
              <a:t>frequent-flyer </a:t>
            </a:r>
            <a:r>
              <a:rPr lang="en-US" sz="2400" dirty="0"/>
              <a:t>points on the airline, </a:t>
            </a:r>
            <a:r>
              <a:rPr lang="en-US" sz="2400" dirty="0" smtClean="0"/>
              <a:t>Access</a:t>
            </a:r>
            <a:r>
              <a:rPr lang="tr-TR" sz="2400" dirty="0" smtClean="0"/>
              <a:t> </a:t>
            </a:r>
            <a:r>
              <a:rPr lang="en-US" sz="2400" dirty="0" smtClean="0"/>
              <a:t>to </a:t>
            </a:r>
            <a:r>
              <a:rPr lang="en-US" sz="2400" dirty="0"/>
              <a:t>airline lounges (provided he uses </a:t>
            </a:r>
            <a:r>
              <a:rPr lang="en-US" sz="2400" dirty="0" smtClean="0"/>
              <a:t>the</a:t>
            </a:r>
            <a:r>
              <a:rPr lang="tr-TR" sz="2400" dirty="0" smtClean="0"/>
              <a:t> </a:t>
            </a:r>
            <a:r>
              <a:rPr lang="en-US" sz="2400" dirty="0" smtClean="0"/>
              <a:t>card </a:t>
            </a:r>
            <a:r>
              <a:rPr lang="en-US" sz="2400" dirty="0"/>
              <a:t>on a set time basis), plus </a:t>
            </a:r>
            <a:r>
              <a:rPr lang="en-US" sz="2400" dirty="0" smtClean="0"/>
              <a:t>several</a:t>
            </a:r>
            <a:r>
              <a:rPr lang="tr-TR" sz="2400" dirty="0" smtClean="0"/>
              <a:t> </a:t>
            </a:r>
            <a:r>
              <a:rPr lang="en-US" sz="2400" dirty="0" smtClean="0"/>
              <a:t>other </a:t>
            </a:r>
            <a:r>
              <a:rPr lang="en-US" sz="2400" dirty="0"/>
              <a:t>rewards (rental car discounts, </a:t>
            </a:r>
            <a:r>
              <a:rPr lang="en-US" sz="2400" dirty="0" smtClean="0"/>
              <a:t>cruise</a:t>
            </a:r>
            <a:r>
              <a:rPr lang="tr-TR" sz="2400" dirty="0" smtClean="0"/>
              <a:t> </a:t>
            </a:r>
            <a:r>
              <a:rPr lang="en-US" sz="2400" dirty="0" smtClean="0"/>
              <a:t>trip </a:t>
            </a:r>
            <a:r>
              <a:rPr lang="en-US" sz="2400" dirty="0"/>
              <a:t>amenities, and floral order discounts).</a:t>
            </a:r>
          </a:p>
        </p:txBody>
      </p:sp>
    </p:spTree>
    <p:extLst>
      <p:ext uri="{BB962C8B-B14F-4D97-AF65-F5344CB8AC3E}">
        <p14:creationId xmlns:p14="http://schemas.microsoft.com/office/powerpoint/2010/main" val="4216834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917687" y="266426"/>
            <a:ext cx="11008983" cy="6055433"/>
          </a:xfrm>
        </p:spPr>
        <p:txBody>
          <a:bodyPr>
            <a:normAutofit/>
          </a:bodyPr>
          <a:lstStyle/>
          <a:p>
            <a:r>
              <a:rPr lang="en-US" sz="2400" dirty="0"/>
              <a:t>The annual fee of $85 for </a:t>
            </a:r>
            <a:r>
              <a:rPr lang="en-US" sz="2400" dirty="0" smtClean="0"/>
              <a:t>membership</a:t>
            </a:r>
            <a:r>
              <a:rPr lang="tr-TR" sz="2400" dirty="0" smtClean="0"/>
              <a:t> </a:t>
            </a:r>
            <a:r>
              <a:rPr lang="en-US" sz="2400" dirty="0" smtClean="0"/>
              <a:t>does </a:t>
            </a:r>
            <a:r>
              <a:rPr lang="en-US" sz="2400" dirty="0"/>
              <a:t>not start until the second year, </a:t>
            </a:r>
            <a:r>
              <a:rPr lang="en-US" sz="2400" dirty="0" smtClean="0"/>
              <a:t>and</a:t>
            </a:r>
            <a:r>
              <a:rPr lang="tr-TR" sz="2400" dirty="0" smtClean="0"/>
              <a:t> </a:t>
            </a:r>
            <a:r>
              <a:rPr lang="en-US" sz="2400" dirty="0" smtClean="0"/>
              <a:t>balance </a:t>
            </a:r>
            <a:r>
              <a:rPr lang="en-US" sz="2400" dirty="0"/>
              <a:t>transfers from other credit </a:t>
            </a:r>
            <a:r>
              <a:rPr lang="en-US" sz="2400" dirty="0" smtClean="0"/>
              <a:t>cards</a:t>
            </a:r>
            <a:r>
              <a:rPr lang="tr-TR" sz="2400" dirty="0" smtClean="0"/>
              <a:t> </a:t>
            </a:r>
            <a:r>
              <a:rPr lang="en-US" sz="2400" dirty="0" smtClean="0"/>
              <a:t>have </a:t>
            </a:r>
            <a:r>
              <a:rPr lang="en-US" sz="2400" dirty="0"/>
              <a:t>a low transfer fee, provided they </a:t>
            </a:r>
            <a:r>
              <a:rPr lang="en-US" sz="2400" dirty="0" smtClean="0"/>
              <a:t>are</a:t>
            </a:r>
            <a:r>
              <a:rPr lang="tr-TR" sz="2400" dirty="0" smtClean="0"/>
              <a:t> </a:t>
            </a:r>
            <a:r>
              <a:rPr lang="en-US" sz="2400" dirty="0" smtClean="0"/>
              <a:t>made </a:t>
            </a:r>
            <a:r>
              <a:rPr lang="en-US" sz="2400" dirty="0"/>
              <a:t>at the time of initial </a:t>
            </a:r>
            <a:r>
              <a:rPr lang="en-US" sz="2400" dirty="0" smtClean="0"/>
              <a:t>membership.</a:t>
            </a:r>
            <a:r>
              <a:rPr lang="tr-TR" sz="2400" dirty="0" smtClean="0"/>
              <a:t> </a:t>
            </a:r>
          </a:p>
          <a:p>
            <a:r>
              <a:rPr lang="en-US" sz="2400" dirty="0" smtClean="0"/>
              <a:t>Dave </a:t>
            </a:r>
            <a:r>
              <a:rPr lang="en-US" sz="2400" dirty="0"/>
              <a:t>has a credit card currently with </a:t>
            </a:r>
            <a:r>
              <a:rPr lang="en-US" sz="2400" dirty="0" smtClean="0"/>
              <a:t>a</a:t>
            </a:r>
            <a:r>
              <a:rPr lang="tr-TR" sz="2400" dirty="0" smtClean="0"/>
              <a:t> </a:t>
            </a:r>
            <a:r>
              <a:rPr lang="en-US" sz="2400" dirty="0" smtClean="0"/>
              <a:t>bank </a:t>
            </a:r>
            <a:r>
              <a:rPr lang="en-US" sz="2400" dirty="0"/>
              <a:t>that he is planning to leave due to </a:t>
            </a:r>
            <a:r>
              <a:rPr lang="en-US" sz="2400" dirty="0" smtClean="0"/>
              <a:t>its</a:t>
            </a:r>
            <a:r>
              <a:rPr lang="tr-TR" sz="2400" dirty="0" smtClean="0"/>
              <a:t> </a:t>
            </a:r>
            <a:r>
              <a:rPr lang="en-US" sz="2400" dirty="0" smtClean="0"/>
              <a:t>poor </a:t>
            </a:r>
            <a:r>
              <a:rPr lang="en-US" sz="2400" dirty="0"/>
              <a:t>customer service and high </a:t>
            </a:r>
            <a:r>
              <a:rPr lang="en-US" sz="2400" dirty="0" smtClean="0"/>
              <a:t>monthly</a:t>
            </a:r>
            <a:r>
              <a:rPr lang="tr-TR" sz="2400" dirty="0" smtClean="0"/>
              <a:t> </a:t>
            </a:r>
            <a:r>
              <a:rPr lang="en-US" sz="2400" dirty="0" smtClean="0"/>
              <a:t>fees</a:t>
            </a:r>
            <a:r>
              <a:rPr lang="en-US" sz="2400" dirty="0"/>
              <a:t>. </a:t>
            </a:r>
            <a:endParaRPr lang="tr-TR" sz="2400" dirty="0" smtClean="0"/>
          </a:p>
          <a:p>
            <a:r>
              <a:rPr lang="en-US" sz="2400" dirty="0" smtClean="0"/>
              <a:t>If </a:t>
            </a:r>
            <a:r>
              <a:rPr lang="en-US" sz="2400" dirty="0"/>
              <a:t>he enrolls, he will transfer the $</a:t>
            </a:r>
            <a:r>
              <a:rPr lang="en-US" sz="2400" dirty="0" smtClean="0"/>
              <a:t>1000</a:t>
            </a:r>
            <a:r>
              <a:rPr lang="tr-TR" sz="2400" dirty="0" smtClean="0"/>
              <a:t> </a:t>
            </a:r>
            <a:r>
              <a:rPr lang="en-US" sz="2400" dirty="0" smtClean="0"/>
              <a:t>balance </a:t>
            </a:r>
            <a:r>
              <a:rPr lang="en-US" sz="2400" dirty="0"/>
              <a:t>on the current card to the </a:t>
            </a:r>
            <a:r>
              <a:rPr lang="en-US" sz="2400" dirty="0" smtClean="0"/>
              <a:t>new</a:t>
            </a:r>
            <a:r>
              <a:rPr lang="tr-TR" sz="2400" dirty="0" smtClean="0"/>
              <a:t> </a:t>
            </a:r>
            <a:r>
              <a:rPr lang="en-US" sz="2400" dirty="0" smtClean="0"/>
              <a:t>Chase </a:t>
            </a:r>
            <a:r>
              <a:rPr lang="en-US" sz="2400" dirty="0"/>
              <a:t>Bank card</a:t>
            </a:r>
            <a:r>
              <a:rPr lang="en-US" sz="2400" dirty="0" smtClean="0"/>
              <a:t>.</a:t>
            </a:r>
            <a:r>
              <a:rPr lang="tr-TR" sz="2400" dirty="0" smtClean="0"/>
              <a:t> </a:t>
            </a:r>
            <a:r>
              <a:rPr lang="en-US" sz="2400" dirty="0" smtClean="0"/>
              <a:t>I</a:t>
            </a:r>
            <a:endParaRPr lang="tr-TR" sz="2400" dirty="0" smtClean="0"/>
          </a:p>
          <a:p>
            <a:r>
              <a:rPr lang="en-US" sz="2400" dirty="0" smtClean="0"/>
              <a:t>n </a:t>
            </a:r>
            <a:r>
              <a:rPr lang="en-US" sz="2400" dirty="0"/>
              <a:t>the page that accompanies the </a:t>
            </a:r>
            <a:r>
              <a:rPr lang="en-US" sz="2400" dirty="0" smtClean="0"/>
              <a:t>offer</a:t>
            </a:r>
            <a:r>
              <a:rPr lang="tr-TR" sz="2400" dirty="0" smtClean="0"/>
              <a:t> </a:t>
            </a:r>
            <a:r>
              <a:rPr lang="en-US" sz="2400" dirty="0" smtClean="0"/>
              <a:t>letter</a:t>
            </a:r>
            <a:r>
              <a:rPr lang="en-US" sz="2400" dirty="0"/>
              <a:t>, “pricing information” is included. </a:t>
            </a:r>
            <a:r>
              <a:rPr lang="en-US" sz="2400" dirty="0" smtClean="0"/>
              <a:t>This</a:t>
            </a:r>
            <a:r>
              <a:rPr lang="tr-TR" sz="2400" dirty="0" smtClean="0"/>
              <a:t> </a:t>
            </a:r>
            <a:r>
              <a:rPr lang="en-US" sz="2400" dirty="0" smtClean="0"/>
              <a:t>includes </a:t>
            </a:r>
            <a:r>
              <a:rPr lang="en-US" sz="2400" dirty="0"/>
              <a:t>interest rates, interest charges, </a:t>
            </a:r>
            <a:r>
              <a:rPr lang="en-US" sz="2400" dirty="0" smtClean="0"/>
              <a:t>and</a:t>
            </a:r>
            <a:r>
              <a:rPr lang="tr-TR" sz="2400" dirty="0" smtClean="0"/>
              <a:t> </a:t>
            </a:r>
            <a:r>
              <a:rPr lang="en-US" sz="2400" dirty="0" smtClean="0"/>
              <a:t>fees</a:t>
            </a:r>
            <a:r>
              <a:rPr lang="en-US" sz="2400" dirty="0"/>
              <a:t>. A summary of several of these </a:t>
            </a:r>
            <a:r>
              <a:rPr lang="en-US" sz="2400" dirty="0" smtClean="0"/>
              <a:t>rates</a:t>
            </a:r>
            <a:r>
              <a:rPr lang="tr-TR" sz="2400" dirty="0" smtClean="0"/>
              <a:t> </a:t>
            </a:r>
            <a:r>
              <a:rPr lang="en-US" sz="2400" dirty="0" smtClean="0"/>
              <a:t>and </a:t>
            </a:r>
            <a:r>
              <a:rPr lang="en-US" sz="2400" dirty="0"/>
              <a:t>fees follows.</a:t>
            </a:r>
          </a:p>
        </p:txBody>
      </p:sp>
    </p:spTree>
    <p:extLst>
      <p:ext uri="{BB962C8B-B14F-4D97-AF65-F5344CB8AC3E}">
        <p14:creationId xmlns:p14="http://schemas.microsoft.com/office/powerpoint/2010/main" val="155861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6428211" y="550393"/>
            <a:ext cx="5169540" cy="4963416"/>
          </a:xfrm>
        </p:spPr>
        <p:txBody>
          <a:bodyPr>
            <a:normAutofit/>
          </a:bodyPr>
          <a:lstStyle/>
          <a:p>
            <a:r>
              <a:rPr lang="en-US" sz="2400" b="1" dirty="0" smtClean="0"/>
              <a:t>14.24</a:t>
            </a:r>
            <a:r>
              <a:rPr lang="en-US" sz="2400" b="1" dirty="0"/>
              <a:t>% per year </a:t>
            </a:r>
            <a:r>
              <a:rPr lang="en-US" sz="2400" dirty="0"/>
              <a:t>(sum of the current </a:t>
            </a:r>
            <a:r>
              <a:rPr lang="en-US" sz="2400" dirty="0" smtClean="0"/>
              <a:t>U.S.</a:t>
            </a:r>
            <a:r>
              <a:rPr lang="tr-TR" sz="2400" dirty="0" smtClean="0"/>
              <a:t> </a:t>
            </a:r>
            <a:r>
              <a:rPr lang="en-US" sz="2400" dirty="0" smtClean="0"/>
              <a:t>Government</a:t>
            </a:r>
            <a:r>
              <a:rPr lang="tr-TR" sz="2400" dirty="0" smtClean="0"/>
              <a:t> </a:t>
            </a:r>
            <a:r>
              <a:rPr lang="en-US" sz="2400" dirty="0" smtClean="0"/>
              <a:t>prime </a:t>
            </a:r>
            <a:r>
              <a:rPr lang="en-US" sz="2400" dirty="0"/>
              <a:t>rate of 3.25% and 10.99</a:t>
            </a:r>
            <a:r>
              <a:rPr lang="en-US" sz="2400" dirty="0" smtClean="0"/>
              <a:t>%,</a:t>
            </a:r>
            <a:r>
              <a:rPr lang="tr-TR" sz="2400" dirty="0" smtClean="0"/>
              <a:t> </a:t>
            </a:r>
            <a:r>
              <a:rPr lang="en-US" sz="2400" dirty="0" smtClean="0"/>
              <a:t>which </a:t>
            </a:r>
            <a:r>
              <a:rPr lang="en-US" sz="2400" dirty="0"/>
              <a:t>is the APR added to determine the </a:t>
            </a:r>
            <a:r>
              <a:rPr lang="en-US" sz="2400" dirty="0" smtClean="0"/>
              <a:t>balance</a:t>
            </a:r>
            <a:r>
              <a:rPr lang="tr-TR" sz="2400" dirty="0" smtClean="0"/>
              <a:t> </a:t>
            </a:r>
            <a:r>
              <a:rPr lang="en-US" sz="2400" dirty="0" smtClean="0"/>
              <a:t>transfer </a:t>
            </a:r>
            <a:r>
              <a:rPr lang="en-US" sz="2400" dirty="0"/>
              <a:t>APR for Chase Bank</a:t>
            </a:r>
            <a:r>
              <a:rPr lang="en-US" sz="2400" dirty="0" smtClean="0"/>
              <a:t>)</a:t>
            </a:r>
            <a:endParaRPr lang="tr-TR" sz="2400" dirty="0" smtClean="0"/>
          </a:p>
          <a:p>
            <a:r>
              <a:rPr lang="en-US" sz="2400" b="1" dirty="0" smtClean="0"/>
              <a:t>19.24</a:t>
            </a:r>
            <a:r>
              <a:rPr lang="en-US" sz="2400" b="1" dirty="0"/>
              <a:t>% per </a:t>
            </a:r>
            <a:r>
              <a:rPr lang="en-US" sz="2400" b="1" dirty="0" smtClean="0"/>
              <a:t>year</a:t>
            </a:r>
            <a:endParaRPr lang="tr-TR" sz="2400" b="1" dirty="0" smtClean="0"/>
          </a:p>
          <a:p>
            <a:endParaRPr lang="en-US" sz="2400" b="1" dirty="0"/>
          </a:p>
          <a:p>
            <a:r>
              <a:rPr lang="en-US" sz="2400" b="1" dirty="0"/>
              <a:t>29.99% per year (maximum penalty APR)</a:t>
            </a:r>
            <a:endParaRPr lang="en-US" sz="2400" dirty="0"/>
          </a:p>
        </p:txBody>
      </p:sp>
      <p:sp>
        <p:nvSpPr>
          <p:cNvPr id="4" name="İçerik Yer Tutucusu 2"/>
          <p:cNvSpPr txBox="1">
            <a:spLocks/>
          </p:cNvSpPr>
          <p:nvPr/>
        </p:nvSpPr>
        <p:spPr>
          <a:xfrm>
            <a:off x="925363" y="550393"/>
            <a:ext cx="5304397" cy="63076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 smtClean="0"/>
              <a:t>APR (annual percentage rate) for purchases</a:t>
            </a:r>
            <a:r>
              <a:rPr lang="tr-TR" sz="2400" dirty="0" smtClean="0"/>
              <a:t> </a:t>
            </a:r>
            <a:r>
              <a:rPr lang="en-US" sz="2400" dirty="0" smtClean="0"/>
              <a:t>and balance transfers</a:t>
            </a:r>
            <a:endParaRPr lang="tr-TR" sz="2400" dirty="0" smtClean="0"/>
          </a:p>
          <a:p>
            <a:endParaRPr lang="tr-TR" sz="2400" dirty="0"/>
          </a:p>
          <a:p>
            <a:endParaRPr lang="tr-TR" sz="2400" dirty="0" smtClean="0"/>
          </a:p>
          <a:p>
            <a:endParaRPr lang="en-US" sz="2400" dirty="0" smtClean="0"/>
          </a:p>
          <a:p>
            <a:r>
              <a:rPr lang="en-US" sz="2400" dirty="0" smtClean="0"/>
              <a:t>APR for cash and overdraft advances</a:t>
            </a:r>
            <a:endParaRPr lang="en-US" sz="2400" b="1" dirty="0" smtClean="0"/>
          </a:p>
          <a:p>
            <a:r>
              <a:rPr lang="en-US" sz="2400" dirty="0" smtClean="0"/>
              <a:t>Penalty APR for late minimum payment,</a:t>
            </a:r>
            <a:r>
              <a:rPr lang="tr-TR" sz="2400" dirty="0" smtClean="0"/>
              <a:t> </a:t>
            </a:r>
            <a:r>
              <a:rPr lang="en-US" sz="2400" dirty="0" smtClean="0"/>
              <a:t>exceeding credit limit, and returned</a:t>
            </a:r>
            <a:r>
              <a:rPr lang="tr-TR" sz="2400" dirty="0" smtClean="0"/>
              <a:t> </a:t>
            </a:r>
            <a:r>
              <a:rPr lang="en-US" sz="2400" dirty="0" smtClean="0"/>
              <a:t>unpaid payments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558706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4673965" y="1062415"/>
            <a:ext cx="7232970" cy="5193660"/>
          </a:xfrm>
        </p:spPr>
        <p:txBody>
          <a:bodyPr>
            <a:normAutofit/>
          </a:bodyPr>
          <a:lstStyle/>
          <a:p>
            <a:r>
              <a:rPr lang="en-US" sz="2400" dirty="0" smtClean="0"/>
              <a:t>$</a:t>
            </a:r>
            <a:r>
              <a:rPr lang="en-US" sz="2400" dirty="0"/>
              <a:t>85; free the first year</a:t>
            </a:r>
          </a:p>
          <a:p>
            <a:r>
              <a:rPr lang="en-US" sz="2400" dirty="0" smtClean="0"/>
              <a:t>$</a:t>
            </a:r>
            <a:r>
              <a:rPr lang="en-US" sz="2400" dirty="0"/>
              <a:t>5 or 3% of each transfer, whichever is greater</a:t>
            </a:r>
          </a:p>
          <a:p>
            <a:r>
              <a:rPr lang="en-US" sz="2400" dirty="0" smtClean="0"/>
              <a:t>$</a:t>
            </a:r>
            <a:r>
              <a:rPr lang="en-US" sz="2400" dirty="0"/>
              <a:t>10 or 3% of each advance, whichever is greater</a:t>
            </a:r>
          </a:p>
          <a:p>
            <a:r>
              <a:rPr lang="en-US" sz="2400" dirty="0" smtClean="0"/>
              <a:t>$</a:t>
            </a:r>
            <a:r>
              <a:rPr lang="en-US" sz="2400" dirty="0"/>
              <a:t>39 each occurrence, if balance exceeds $250</a:t>
            </a:r>
          </a:p>
          <a:p>
            <a:r>
              <a:rPr lang="en-US" sz="2400" dirty="0" smtClean="0"/>
              <a:t>$</a:t>
            </a:r>
            <a:r>
              <a:rPr lang="en-US" sz="2400" dirty="0"/>
              <a:t>39 each occurrence</a:t>
            </a:r>
          </a:p>
          <a:p>
            <a:r>
              <a:rPr lang="en-US" sz="2400" dirty="0" smtClean="0"/>
              <a:t>$</a:t>
            </a:r>
            <a:r>
              <a:rPr lang="en-US" sz="2400" dirty="0"/>
              <a:t>39 each </a:t>
            </a:r>
            <a:r>
              <a:rPr lang="en-US" sz="2400" dirty="0" smtClean="0"/>
              <a:t>occurrence</a:t>
            </a:r>
            <a:endParaRPr lang="en-US" sz="2400" dirty="0"/>
          </a:p>
        </p:txBody>
      </p:sp>
      <p:sp>
        <p:nvSpPr>
          <p:cNvPr id="4" name="İçerik Yer Tutucusu 2"/>
          <p:cNvSpPr txBox="1">
            <a:spLocks/>
          </p:cNvSpPr>
          <p:nvPr/>
        </p:nvSpPr>
        <p:spPr>
          <a:xfrm>
            <a:off x="1037197" y="247787"/>
            <a:ext cx="4038052" cy="42123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 smtClean="0"/>
              <a:t>Fees are listed as follows:</a:t>
            </a:r>
          </a:p>
          <a:p>
            <a:r>
              <a:rPr lang="en-US" sz="2400" dirty="0" smtClean="0"/>
              <a:t>Annual membership </a:t>
            </a:r>
            <a:endParaRPr lang="tr-TR" sz="2400" dirty="0" smtClean="0"/>
          </a:p>
          <a:p>
            <a:r>
              <a:rPr lang="en-US" sz="2400" dirty="0" smtClean="0"/>
              <a:t>Balance transfers </a:t>
            </a:r>
            <a:endParaRPr lang="tr-TR" sz="2400" dirty="0" smtClean="0"/>
          </a:p>
          <a:p>
            <a:r>
              <a:rPr lang="en-US" sz="2400" dirty="0" smtClean="0"/>
              <a:t>Cash advances </a:t>
            </a:r>
          </a:p>
          <a:p>
            <a:r>
              <a:rPr lang="en-US" sz="2400" dirty="0" smtClean="0"/>
              <a:t>Late payment</a:t>
            </a:r>
          </a:p>
          <a:p>
            <a:r>
              <a:rPr lang="en-US" sz="2400" dirty="0" smtClean="0"/>
              <a:t>Over the credit limit</a:t>
            </a:r>
          </a:p>
          <a:p>
            <a:r>
              <a:rPr lang="en-US" sz="2400" dirty="0" smtClean="0"/>
              <a:t>Returned check or payment</a:t>
            </a:r>
            <a:endParaRPr lang="en-US" sz="2400" dirty="0"/>
          </a:p>
        </p:txBody>
      </p:sp>
      <p:sp>
        <p:nvSpPr>
          <p:cNvPr id="5" name="İçerik Yer Tutucusu 2"/>
          <p:cNvSpPr txBox="1">
            <a:spLocks/>
          </p:cNvSpPr>
          <p:nvPr/>
        </p:nvSpPr>
        <p:spPr>
          <a:xfrm>
            <a:off x="799276" y="4532531"/>
            <a:ext cx="11107659" cy="22596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All APR rates are variable, based on a current 3.25% prime rate with 10.99% added to </a:t>
            </a:r>
            <a:r>
              <a:rPr lang="en-US" sz="2400" dirty="0" smtClean="0"/>
              <a:t>determine</a:t>
            </a:r>
            <a:r>
              <a:rPr lang="tr-TR" sz="2400" dirty="0" smtClean="0"/>
              <a:t> </a:t>
            </a:r>
            <a:r>
              <a:rPr lang="en-US" sz="2400" dirty="0" err="1" smtClean="0"/>
              <a:t>purchase</a:t>
            </a:r>
            <a:r>
              <a:rPr lang="en-US" sz="2400" dirty="0" err="1"/>
              <a:t>∕balance</a:t>
            </a:r>
            <a:r>
              <a:rPr lang="en-US" sz="2400" dirty="0"/>
              <a:t> transfer APR; with 15.99% added to determine </a:t>
            </a:r>
            <a:r>
              <a:rPr lang="en-US" sz="2400" dirty="0" err="1"/>
              <a:t>cash∕overdraft</a:t>
            </a:r>
            <a:r>
              <a:rPr lang="en-US" sz="2400" dirty="0"/>
              <a:t> APR; and with </a:t>
            </a:r>
            <a:r>
              <a:rPr lang="en-US" sz="2400" dirty="0" smtClean="0"/>
              <a:t>26.99%</a:t>
            </a:r>
            <a:r>
              <a:rPr lang="tr-TR" sz="2400" dirty="0" smtClean="0"/>
              <a:t> </a:t>
            </a:r>
            <a:r>
              <a:rPr lang="en-US" sz="2400" dirty="0" smtClean="0"/>
              <a:t>added </a:t>
            </a:r>
            <a:r>
              <a:rPr lang="en-US" sz="2400" dirty="0"/>
              <a:t>to determine penalty APR</a:t>
            </a:r>
            <a:r>
              <a:rPr lang="en-US" sz="2400" dirty="0" smtClean="0"/>
              <a:t>.</a:t>
            </a:r>
            <a:r>
              <a:rPr lang="tr-TR" sz="2400" dirty="0" smtClean="0"/>
              <a:t> </a:t>
            </a:r>
            <a:r>
              <a:rPr lang="en-US" sz="2400" dirty="0" smtClean="0"/>
              <a:t>†</a:t>
            </a:r>
            <a:r>
              <a:rPr lang="en-US" sz="2400" dirty="0"/>
              <a:t>The penalty APR applies indefinitely to future transactions. If no minimum payment is received </a:t>
            </a:r>
            <a:r>
              <a:rPr lang="en-US" sz="2400" dirty="0" smtClean="0"/>
              <a:t>within</a:t>
            </a:r>
            <a:r>
              <a:rPr lang="tr-TR" sz="2400" dirty="0" smtClean="0"/>
              <a:t> </a:t>
            </a:r>
            <a:r>
              <a:rPr lang="en-US" sz="2400" dirty="0" smtClean="0"/>
              <a:t>60 </a:t>
            </a:r>
            <a:r>
              <a:rPr lang="en-US" sz="2400" dirty="0"/>
              <a:t>days, the penalty APR applies to all outstanding balances and all future transactions on </a:t>
            </a:r>
            <a:r>
              <a:rPr lang="en-US" sz="2400" dirty="0" smtClean="0"/>
              <a:t>the</a:t>
            </a:r>
            <a:r>
              <a:rPr lang="tr-TR" sz="2400" dirty="0" smtClean="0"/>
              <a:t> </a:t>
            </a:r>
            <a:r>
              <a:rPr lang="en-US" sz="2400" dirty="0" smtClean="0"/>
              <a:t>account</a:t>
            </a:r>
            <a:r>
              <a:rPr lang="en-US" sz="2400" dirty="0"/>
              <a:t>.</a:t>
            </a:r>
            <a:endParaRPr lang="en-US" sz="2400" b="1" dirty="0" smtClean="0"/>
          </a:p>
        </p:txBody>
      </p:sp>
    </p:spTree>
    <p:extLst>
      <p:ext uri="{BB962C8B-B14F-4D97-AF65-F5344CB8AC3E}">
        <p14:creationId xmlns:p14="http://schemas.microsoft.com/office/powerpoint/2010/main" val="1959763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812434" y="167748"/>
            <a:ext cx="11186599" cy="6476453"/>
          </a:xfrm>
        </p:spPr>
        <p:txBody>
          <a:bodyPr>
            <a:normAutofit lnSpcReduction="10000"/>
          </a:bodyPr>
          <a:lstStyle/>
          <a:p>
            <a:r>
              <a:rPr lang="en-US" sz="2400" dirty="0" smtClean="0"/>
              <a:t>The</a:t>
            </a:r>
            <a:r>
              <a:rPr lang="tr-TR" sz="2400" dirty="0" smtClean="0"/>
              <a:t> </a:t>
            </a:r>
            <a:r>
              <a:rPr lang="en-US" sz="2400" dirty="0" smtClean="0"/>
              <a:t>balance </a:t>
            </a:r>
            <a:r>
              <a:rPr lang="en-US" sz="2400" dirty="0"/>
              <a:t>transfer APR interest rate of 14.24% is an annual rate, with no compounding period </a:t>
            </a:r>
            <a:r>
              <a:rPr lang="en-US" sz="2400" dirty="0" smtClean="0"/>
              <a:t>mentioned.</a:t>
            </a:r>
            <a:r>
              <a:rPr lang="tr-TR" sz="2400" dirty="0" smtClean="0"/>
              <a:t> </a:t>
            </a:r>
            <a:r>
              <a:rPr lang="en-US" sz="2400" dirty="0" smtClean="0"/>
              <a:t>Therefore</a:t>
            </a:r>
            <a:r>
              <a:rPr lang="en-US" sz="2400" dirty="0"/>
              <a:t>, we should conclude that the CP is 1 year, the same as the annual </a:t>
            </a:r>
            <a:r>
              <a:rPr lang="en-US" sz="2400" dirty="0" smtClean="0"/>
              <a:t>interest</a:t>
            </a:r>
            <a:r>
              <a:rPr lang="tr-TR" sz="2400" dirty="0" smtClean="0"/>
              <a:t> </a:t>
            </a:r>
            <a:r>
              <a:rPr lang="en-US" sz="2400" dirty="0" smtClean="0"/>
              <a:t>period </a:t>
            </a:r>
            <a:r>
              <a:rPr lang="en-US" sz="2400" dirty="0"/>
              <a:t>of the APR. However, as Dave and we all know, credit card payments are required monthly.</a:t>
            </a:r>
          </a:p>
          <a:p>
            <a:r>
              <a:rPr lang="en-US" sz="2400" dirty="0"/>
              <a:t>(</a:t>
            </a:r>
            <a:r>
              <a:rPr lang="en-US" sz="2400" i="1" dirty="0"/>
              <a:t>a</a:t>
            </a:r>
            <a:r>
              <a:rPr lang="en-US" sz="2400" dirty="0"/>
              <a:t>) </a:t>
            </a:r>
            <a:r>
              <a:rPr lang="tr-TR" sz="2400" dirty="0" smtClean="0"/>
              <a:t>D</a:t>
            </a:r>
            <a:r>
              <a:rPr lang="en-US" sz="2400" dirty="0" err="1" smtClean="0"/>
              <a:t>etermine</a:t>
            </a:r>
            <a:r>
              <a:rPr lang="en-US" sz="2400" dirty="0" smtClean="0"/>
              <a:t> </a:t>
            </a:r>
            <a:r>
              <a:rPr lang="en-US" sz="2400" dirty="0"/>
              <a:t>the effective interest rates for </a:t>
            </a:r>
            <a:r>
              <a:rPr lang="en-US" sz="2400" i="1" dirty="0"/>
              <a:t>compounding periods of 1 year </a:t>
            </a:r>
            <a:r>
              <a:rPr lang="en-US" sz="2400" i="1" dirty="0" smtClean="0"/>
              <a:t>and</a:t>
            </a:r>
            <a:r>
              <a:rPr lang="tr-TR" sz="2400" i="1" dirty="0" smtClean="0"/>
              <a:t> </a:t>
            </a:r>
            <a:r>
              <a:rPr lang="en-US" sz="2400" i="1" dirty="0" smtClean="0"/>
              <a:t>1 </a:t>
            </a:r>
            <a:r>
              <a:rPr lang="en-US" sz="2400" i="1" dirty="0"/>
              <a:t>month </a:t>
            </a:r>
            <a:r>
              <a:rPr lang="en-US" sz="2400" dirty="0"/>
              <a:t>so Dave knows some effective rates he might be paying when he transfers </a:t>
            </a:r>
            <a:r>
              <a:rPr lang="en-US" sz="2400" dirty="0" smtClean="0"/>
              <a:t>the</a:t>
            </a:r>
            <a:r>
              <a:rPr lang="tr-TR" sz="2400" dirty="0" smtClean="0"/>
              <a:t> </a:t>
            </a:r>
            <a:r>
              <a:rPr lang="en-US" sz="2400" dirty="0" smtClean="0"/>
              <a:t>$1000 </a:t>
            </a:r>
            <a:r>
              <a:rPr lang="en-US" sz="2400" dirty="0"/>
              <a:t>balance from his current card.</a:t>
            </a:r>
          </a:p>
          <a:p>
            <a:r>
              <a:rPr lang="en-US" sz="2400" dirty="0"/>
              <a:t>(</a:t>
            </a:r>
            <a:r>
              <a:rPr lang="en-US" sz="2400" i="1" dirty="0"/>
              <a:t>b</a:t>
            </a:r>
            <a:r>
              <a:rPr lang="en-US" sz="2400" dirty="0"/>
              <a:t>) </a:t>
            </a:r>
            <a:r>
              <a:rPr lang="tr-TR" sz="2400" dirty="0" smtClean="0"/>
              <a:t>A</a:t>
            </a:r>
            <a:r>
              <a:rPr lang="en-US" sz="2400" dirty="0" err="1" smtClean="0"/>
              <a:t>ssume</a:t>
            </a:r>
            <a:r>
              <a:rPr lang="en-US" sz="2400" dirty="0" smtClean="0"/>
              <a:t> </a:t>
            </a:r>
            <a:r>
              <a:rPr lang="en-US" sz="2400" dirty="0"/>
              <a:t>that immediately after he accepts the card and completes the $1000 </a:t>
            </a:r>
            <a:r>
              <a:rPr lang="en-US" sz="2400" dirty="0" smtClean="0"/>
              <a:t>transfer,</a:t>
            </a:r>
            <a:r>
              <a:rPr lang="tr-TR" sz="2400" dirty="0" smtClean="0"/>
              <a:t> </a:t>
            </a:r>
            <a:r>
              <a:rPr lang="en-US" sz="2400" dirty="0" smtClean="0"/>
              <a:t>Dave </a:t>
            </a:r>
            <a:r>
              <a:rPr lang="en-US" sz="2400" dirty="0"/>
              <a:t>gets a bill that is due 1 month later. What is the amount of the total balance he </a:t>
            </a:r>
            <a:r>
              <a:rPr lang="en-US" sz="2400" dirty="0" smtClean="0"/>
              <a:t>owes?</a:t>
            </a:r>
            <a:r>
              <a:rPr lang="tr-TR" sz="2400" dirty="0" smtClean="0"/>
              <a:t> </a:t>
            </a:r>
          </a:p>
          <a:p>
            <a:r>
              <a:rPr lang="en-US" sz="2400" dirty="0" smtClean="0"/>
              <a:t>Now</a:t>
            </a:r>
            <a:r>
              <a:rPr lang="en-US" sz="2400" dirty="0"/>
              <a:t>, Dave looks a little closer at the fine print of the “pricing information” sheet and </a:t>
            </a:r>
            <a:r>
              <a:rPr lang="en-US" sz="2400" dirty="0" smtClean="0"/>
              <a:t>discovers</a:t>
            </a:r>
            <a:r>
              <a:rPr lang="tr-TR" sz="2400" dirty="0" smtClean="0"/>
              <a:t> </a:t>
            </a:r>
            <a:r>
              <a:rPr lang="en-US" sz="2400" dirty="0" smtClean="0"/>
              <a:t>a </a:t>
            </a:r>
            <a:r>
              <a:rPr lang="en-US" sz="2400" dirty="0"/>
              <a:t>small-print statement that Chase Bank uses the daily balance method (including new </a:t>
            </a:r>
            <a:r>
              <a:rPr lang="en-US" sz="2400" dirty="0" smtClean="0"/>
              <a:t>transactions)</a:t>
            </a:r>
            <a:r>
              <a:rPr lang="tr-TR" sz="2400" dirty="0" smtClean="0"/>
              <a:t> </a:t>
            </a:r>
            <a:r>
              <a:rPr lang="en-US" sz="2400" dirty="0" smtClean="0"/>
              <a:t>to </a:t>
            </a:r>
            <a:r>
              <a:rPr lang="en-US" sz="2400" dirty="0"/>
              <a:t>determine the balance used to calculate the interest due at payment time.</a:t>
            </a:r>
          </a:p>
          <a:p>
            <a:r>
              <a:rPr lang="en-US" sz="2400" dirty="0"/>
              <a:t>(</a:t>
            </a:r>
            <a:r>
              <a:rPr lang="en-US" sz="2400" i="1" dirty="0"/>
              <a:t>c</a:t>
            </a:r>
            <a:r>
              <a:rPr lang="en-US" sz="2400" dirty="0"/>
              <a:t>) We will reserve the implication of this new finding until later, but for now help Dave </a:t>
            </a:r>
            <a:r>
              <a:rPr lang="en-US" sz="2400" dirty="0" smtClean="0"/>
              <a:t>by</a:t>
            </a:r>
            <a:r>
              <a:rPr lang="tr-TR" sz="2400" dirty="0" smtClean="0"/>
              <a:t> </a:t>
            </a:r>
            <a:r>
              <a:rPr lang="en-US" sz="2400" dirty="0" smtClean="0"/>
              <a:t>determining </a:t>
            </a:r>
            <a:r>
              <a:rPr lang="en-US" sz="2400" dirty="0"/>
              <a:t>the </a:t>
            </a:r>
            <a:r>
              <a:rPr lang="en-US" sz="2400" i="1" dirty="0"/>
              <a:t>effective daily interest rate </a:t>
            </a:r>
            <a:r>
              <a:rPr lang="en-US" sz="2400" dirty="0"/>
              <a:t>that may be used to calculate interest due </a:t>
            </a:r>
            <a:r>
              <a:rPr lang="en-US" sz="2400" dirty="0" smtClean="0"/>
              <a:t>at</a:t>
            </a:r>
            <a:r>
              <a:rPr lang="tr-TR" sz="2400" dirty="0" smtClean="0"/>
              <a:t> </a:t>
            </a:r>
            <a:r>
              <a:rPr lang="en-US" sz="2400" dirty="0" smtClean="0"/>
              <a:t>the </a:t>
            </a:r>
            <a:r>
              <a:rPr lang="en-US" sz="2400" dirty="0"/>
              <a:t>end of 1 month, provided the CP is 1 day.</a:t>
            </a:r>
          </a:p>
        </p:txBody>
      </p:sp>
    </p:spTree>
    <p:extLst>
      <p:ext uri="{BB962C8B-B14F-4D97-AF65-F5344CB8AC3E}">
        <p14:creationId xmlns:p14="http://schemas.microsoft.com/office/powerpoint/2010/main" val="3487630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851904" y="131568"/>
            <a:ext cx="11206335" cy="6446850"/>
          </a:xfrm>
        </p:spPr>
        <p:txBody>
          <a:bodyPr>
            <a:noAutofit/>
          </a:bodyPr>
          <a:lstStyle/>
          <a:p>
            <a:r>
              <a:rPr lang="en-US" sz="2400" dirty="0"/>
              <a:t>(</a:t>
            </a:r>
            <a:r>
              <a:rPr lang="en-US" sz="2400" i="1" dirty="0"/>
              <a:t>a</a:t>
            </a:r>
            <a:r>
              <a:rPr lang="en-US" sz="2400" dirty="0"/>
              <a:t>) The interest period is 1 </a:t>
            </a:r>
            <a:r>
              <a:rPr lang="en-US" sz="2400" dirty="0" smtClean="0"/>
              <a:t>year</a:t>
            </a:r>
            <a:endParaRPr lang="en-US" sz="2400" dirty="0"/>
          </a:p>
          <a:p>
            <a:pPr marL="0" indent="447675">
              <a:buNone/>
            </a:pPr>
            <a:r>
              <a:rPr lang="en-US" sz="2400" dirty="0"/>
              <a:t>CP of year: </a:t>
            </a:r>
            <a:r>
              <a:rPr lang="tr-TR" sz="2400" dirty="0" smtClean="0"/>
              <a:t>         </a:t>
            </a:r>
            <a:r>
              <a:rPr lang="en-US" sz="2400" dirty="0" smtClean="0"/>
              <a:t>Effective </a:t>
            </a:r>
            <a:r>
              <a:rPr lang="en-US" sz="2400" dirty="0"/>
              <a:t>rate per year = 14.24∕1 = 14.24%</a:t>
            </a:r>
          </a:p>
          <a:p>
            <a:pPr marL="0" indent="447675">
              <a:buNone/>
            </a:pPr>
            <a:r>
              <a:rPr lang="en-US" sz="2400" dirty="0"/>
              <a:t>CP of month: </a:t>
            </a:r>
            <a:r>
              <a:rPr lang="tr-TR" sz="2400" dirty="0" smtClean="0"/>
              <a:t>      </a:t>
            </a:r>
            <a:r>
              <a:rPr lang="en-US" sz="2400" dirty="0" smtClean="0"/>
              <a:t>Effective </a:t>
            </a:r>
            <a:r>
              <a:rPr lang="en-US" sz="2400" dirty="0"/>
              <a:t>rate per month = 14.24∕12 = 1.187</a:t>
            </a:r>
            <a:r>
              <a:rPr lang="en-US" sz="2400" dirty="0" smtClean="0"/>
              <a:t>%</a:t>
            </a:r>
            <a:endParaRPr lang="tr-TR" sz="2400" dirty="0" smtClean="0"/>
          </a:p>
          <a:p>
            <a:pPr marL="0" indent="44767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400" dirty="0"/>
          </a:p>
          <a:p>
            <a:r>
              <a:rPr lang="en-US" sz="2400" dirty="0"/>
              <a:t>(</a:t>
            </a:r>
            <a:r>
              <a:rPr lang="en-US" sz="2400" i="1" dirty="0"/>
              <a:t>b</a:t>
            </a:r>
            <a:r>
              <a:rPr lang="en-US" sz="2400" dirty="0"/>
              <a:t>) The interest will be at the monthly effective rate, plus the balance transfer fee of 3%.</a:t>
            </a:r>
          </a:p>
          <a:p>
            <a:pPr marL="0" indent="0">
              <a:buNone/>
            </a:pPr>
            <a:r>
              <a:rPr lang="tr-TR" sz="2400" dirty="0" smtClean="0"/>
              <a:t>                   </a:t>
            </a:r>
            <a:r>
              <a:rPr lang="en-US" sz="2400" dirty="0" smtClean="0"/>
              <a:t>Amount </a:t>
            </a:r>
            <a:r>
              <a:rPr lang="en-US" sz="2400" dirty="0"/>
              <a:t>owed after 1 month = 1000 + 1000(0.01187) + 0.03(1000)</a:t>
            </a:r>
          </a:p>
          <a:p>
            <a:pPr marL="0" indent="0">
              <a:buNone/>
            </a:pPr>
            <a:r>
              <a:rPr lang="tr-TR" sz="2400" dirty="0" smtClean="0"/>
              <a:t>                                                              </a:t>
            </a:r>
            <a:r>
              <a:rPr lang="en-US" sz="2400" dirty="0" smtClean="0"/>
              <a:t>= </a:t>
            </a:r>
            <a:r>
              <a:rPr lang="en-US" sz="2400" dirty="0"/>
              <a:t>1000 + 11.87 + 30</a:t>
            </a:r>
          </a:p>
          <a:p>
            <a:pPr marL="0" indent="0">
              <a:buNone/>
            </a:pPr>
            <a:r>
              <a:rPr lang="tr-TR" sz="2400" dirty="0" smtClean="0"/>
              <a:t>                                                              </a:t>
            </a:r>
            <a:r>
              <a:rPr lang="en-US" sz="2400" dirty="0" smtClean="0"/>
              <a:t>= </a:t>
            </a:r>
            <a:r>
              <a:rPr lang="en-US" sz="2400" dirty="0"/>
              <a:t>$</a:t>
            </a:r>
            <a:r>
              <a:rPr lang="en-US" sz="2400" dirty="0" smtClean="0"/>
              <a:t>1041.87</a:t>
            </a:r>
            <a:endParaRPr lang="tr-TR" sz="2400" dirty="0" smtClean="0"/>
          </a:p>
          <a:p>
            <a:pPr marL="0" indent="0">
              <a:buNone/>
            </a:pPr>
            <a:r>
              <a:rPr lang="tr-TR" sz="1600" dirty="0"/>
              <a:t> </a:t>
            </a:r>
            <a:r>
              <a:rPr lang="tr-TR" sz="1600" dirty="0" smtClean="0"/>
              <a:t>    </a:t>
            </a:r>
            <a:r>
              <a:rPr lang="en-US" sz="2400" dirty="0" smtClean="0"/>
              <a:t>Including </a:t>
            </a:r>
            <a:r>
              <a:rPr lang="en-US" sz="2400" dirty="0"/>
              <a:t>the $30 fee, this represents an interest rate of (41.87∕1000)(100%) = </a:t>
            </a:r>
            <a:r>
              <a:rPr lang="en-US" sz="2400" dirty="0" smtClean="0"/>
              <a:t>4.187%</a:t>
            </a:r>
            <a:r>
              <a:rPr lang="tr-TR" sz="2400" dirty="0" smtClean="0"/>
              <a:t> </a:t>
            </a:r>
            <a:r>
              <a:rPr lang="en-US" sz="2400" dirty="0" smtClean="0"/>
              <a:t>for </a:t>
            </a:r>
            <a:r>
              <a:rPr lang="en-US" sz="2400" dirty="0"/>
              <a:t>only the 1-month period</a:t>
            </a:r>
            <a:r>
              <a:rPr lang="en-US" sz="2400" dirty="0" smtClean="0"/>
              <a:t>.</a:t>
            </a:r>
            <a:endParaRPr lang="tr-TR" sz="2400" dirty="0" smtClean="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/>
          </a:p>
          <a:p>
            <a:r>
              <a:rPr lang="en-US" sz="2400" dirty="0"/>
              <a:t>(</a:t>
            </a:r>
            <a:r>
              <a:rPr lang="en-US" sz="2400" i="1" dirty="0"/>
              <a:t>c</a:t>
            </a:r>
            <a:r>
              <a:rPr lang="en-US" sz="2400" dirty="0"/>
              <a:t>) </a:t>
            </a:r>
            <a:r>
              <a:rPr lang="en-US" sz="2400" dirty="0" smtClean="0"/>
              <a:t>now </a:t>
            </a:r>
            <a:r>
              <a:rPr lang="en-US" sz="2400" i="1" dirty="0" smtClean="0"/>
              <a:t>m </a:t>
            </a:r>
            <a:r>
              <a:rPr lang="en-US" sz="2400" dirty="0"/>
              <a:t>= 365 compounding periods per year.</a:t>
            </a:r>
          </a:p>
          <a:p>
            <a:pPr marL="0" indent="0">
              <a:buNone/>
            </a:pPr>
            <a:r>
              <a:rPr lang="tr-TR" sz="2400" dirty="0" smtClean="0"/>
              <a:t>           </a:t>
            </a:r>
            <a:r>
              <a:rPr lang="en-US" sz="2400" dirty="0" smtClean="0"/>
              <a:t>CP </a:t>
            </a:r>
            <a:r>
              <a:rPr lang="en-US" sz="2400" dirty="0"/>
              <a:t>of day: </a:t>
            </a:r>
            <a:r>
              <a:rPr lang="tr-TR" sz="2400" dirty="0" smtClean="0"/>
              <a:t>         </a:t>
            </a:r>
            <a:r>
              <a:rPr lang="en-US" sz="2400" dirty="0" smtClean="0"/>
              <a:t>Effective </a:t>
            </a:r>
            <a:r>
              <a:rPr lang="en-US" sz="2400" dirty="0"/>
              <a:t>rate per day = 14.24∕365 = 0.039%</a:t>
            </a:r>
          </a:p>
        </p:txBody>
      </p:sp>
    </p:spTree>
    <p:extLst>
      <p:ext uri="{BB962C8B-B14F-4D97-AF65-F5344CB8AC3E}">
        <p14:creationId xmlns:p14="http://schemas.microsoft.com/office/powerpoint/2010/main" val="111213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161090" y="450621"/>
            <a:ext cx="10699795" cy="5555474"/>
          </a:xfrm>
        </p:spPr>
        <p:txBody>
          <a:bodyPr>
            <a:normAutofit/>
          </a:bodyPr>
          <a:lstStyle/>
          <a:p>
            <a:r>
              <a:rPr lang="en-US" sz="2400" dirty="0"/>
              <a:t>For the Effective Annual Interest rate, time period </a:t>
            </a:r>
            <a:r>
              <a:rPr lang="en-US" sz="2400" i="1" dirty="0"/>
              <a:t>t </a:t>
            </a:r>
            <a:r>
              <a:rPr lang="en-US" sz="2400" dirty="0"/>
              <a:t>is year, and </a:t>
            </a:r>
            <a:r>
              <a:rPr lang="en-US" sz="2400" dirty="0" smtClean="0"/>
              <a:t>the</a:t>
            </a:r>
            <a:r>
              <a:rPr lang="tr-TR" sz="2400" dirty="0" smtClean="0"/>
              <a:t> </a:t>
            </a:r>
            <a:r>
              <a:rPr lang="en-US" sz="2400" dirty="0" smtClean="0"/>
              <a:t>compounding </a:t>
            </a:r>
            <a:r>
              <a:rPr lang="en-US" sz="2400" dirty="0"/>
              <a:t>period can be any time unit less than a year.</a:t>
            </a:r>
          </a:p>
          <a:p>
            <a:r>
              <a:rPr lang="en-US" sz="2400" dirty="0"/>
              <a:t>Effective interest rate at any point during the year includes </a:t>
            </a:r>
            <a:r>
              <a:rPr lang="en-US" sz="2400" dirty="0" smtClean="0"/>
              <a:t>the</a:t>
            </a:r>
            <a:r>
              <a:rPr lang="tr-TR" sz="2400" dirty="0" smtClean="0"/>
              <a:t> </a:t>
            </a:r>
            <a:r>
              <a:rPr lang="en-US" sz="2400" dirty="0" smtClean="0"/>
              <a:t>interest </a:t>
            </a:r>
            <a:r>
              <a:rPr lang="en-US" sz="2400" dirty="0"/>
              <a:t>rate of all previous compounding periods during the year.</a:t>
            </a:r>
          </a:p>
          <a:p>
            <a:r>
              <a:rPr lang="en-US" sz="2400" dirty="0"/>
              <a:t>Derivation of the effective annual interest rate formula </a:t>
            </a:r>
            <a:r>
              <a:rPr lang="en-US" sz="2400" dirty="0" smtClean="0"/>
              <a:t>directly</a:t>
            </a:r>
            <a:r>
              <a:rPr lang="tr-TR" sz="2400" dirty="0" smtClean="0"/>
              <a:t> </a:t>
            </a:r>
            <a:r>
              <a:rPr lang="en-US" sz="2400" dirty="0" smtClean="0"/>
              <a:t>parallels </a:t>
            </a:r>
            <a:r>
              <a:rPr lang="en-US" sz="2400" dirty="0"/>
              <a:t>the logic of the future worth relation </a:t>
            </a:r>
            <a:r>
              <a:rPr lang="en-US" sz="2400" i="1" dirty="0"/>
              <a:t>F </a:t>
            </a:r>
            <a:r>
              <a:rPr lang="en-US" sz="2400" dirty="0"/>
              <a:t>= </a:t>
            </a:r>
            <a:r>
              <a:rPr lang="en-US" sz="2400" i="1" dirty="0"/>
              <a:t>P</a:t>
            </a:r>
            <a:r>
              <a:rPr lang="en-US" sz="2400" dirty="0"/>
              <a:t>(1 + </a:t>
            </a:r>
            <a:r>
              <a:rPr lang="en-US" sz="2400" i="1" dirty="0" err="1"/>
              <a:t>i</a:t>
            </a:r>
            <a:r>
              <a:rPr lang="en-US" sz="2400" dirty="0"/>
              <a:t>)</a:t>
            </a:r>
            <a:r>
              <a:rPr lang="en-US" sz="2400" i="1" dirty="0"/>
              <a:t>n</a:t>
            </a:r>
            <a:r>
              <a:rPr lang="en-US" sz="2400" dirty="0"/>
              <a:t>.</a:t>
            </a:r>
          </a:p>
          <a:p>
            <a:r>
              <a:rPr lang="en-US" sz="2400" dirty="0"/>
              <a:t>Rewrite the formula as </a:t>
            </a:r>
            <a:r>
              <a:rPr lang="en-US" sz="2400" i="1" dirty="0"/>
              <a:t>F </a:t>
            </a:r>
            <a:r>
              <a:rPr lang="en-US" sz="2400" dirty="0"/>
              <a:t>= </a:t>
            </a:r>
            <a:r>
              <a:rPr lang="en-US" sz="2400" i="1" dirty="0"/>
              <a:t>P</a:t>
            </a:r>
            <a:r>
              <a:rPr lang="en-US" sz="2400" dirty="0"/>
              <a:t>(1 + </a:t>
            </a:r>
            <a:r>
              <a:rPr lang="en-US" sz="2400" i="1" dirty="0" err="1"/>
              <a:t>i</a:t>
            </a:r>
            <a:r>
              <a:rPr lang="en-US" sz="2400" i="1" baseline="-25000" dirty="0" err="1"/>
              <a:t>a</a:t>
            </a:r>
            <a:r>
              <a:rPr lang="en-US" sz="2400" dirty="0"/>
              <a:t>), since interest can </a:t>
            </a:r>
            <a:r>
              <a:rPr lang="en-US" sz="2400" dirty="0" smtClean="0"/>
              <a:t>be</a:t>
            </a:r>
            <a:r>
              <a:rPr lang="tr-TR" sz="2400" dirty="0" smtClean="0"/>
              <a:t> </a:t>
            </a:r>
            <a:r>
              <a:rPr lang="en-US" sz="2400" dirty="0" smtClean="0"/>
              <a:t>compounded </a:t>
            </a:r>
            <a:r>
              <a:rPr lang="en-US" sz="2400" dirty="0"/>
              <a:t>many times a year.</a:t>
            </a:r>
          </a:p>
          <a:p>
            <a:r>
              <a:rPr lang="en-US" sz="2400" dirty="0"/>
              <a:t>The rate </a:t>
            </a:r>
            <a:r>
              <a:rPr lang="en-US" sz="2400" i="1" dirty="0" err="1"/>
              <a:t>i</a:t>
            </a:r>
            <a:r>
              <a:rPr lang="en-US" sz="2400" i="1" baseline="-25000" dirty="0" err="1"/>
              <a:t>cp</a:t>
            </a:r>
            <a:r>
              <a:rPr lang="en-US" sz="2400" i="1" dirty="0"/>
              <a:t> </a:t>
            </a:r>
            <a:r>
              <a:rPr lang="en-US" sz="2400" dirty="0"/>
              <a:t>per CP must be compounded through all m years </a:t>
            </a:r>
            <a:r>
              <a:rPr lang="en-US" sz="2400" dirty="0" smtClean="0"/>
              <a:t>to</a:t>
            </a:r>
            <a:r>
              <a:rPr lang="tr-TR" sz="2400" dirty="0" smtClean="0"/>
              <a:t> </a:t>
            </a:r>
            <a:r>
              <a:rPr lang="en-US" sz="2400" dirty="0" smtClean="0"/>
              <a:t>find </a:t>
            </a:r>
            <a:r>
              <a:rPr lang="en-US" sz="2400" dirty="0"/>
              <a:t>the total effect of compounding by the end of year.</a:t>
            </a:r>
          </a:p>
        </p:txBody>
      </p:sp>
    </p:spTree>
    <p:extLst>
      <p:ext uri="{BB962C8B-B14F-4D97-AF65-F5344CB8AC3E}">
        <p14:creationId xmlns:p14="http://schemas.microsoft.com/office/powerpoint/2010/main" val="3763353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075571" y="259847"/>
            <a:ext cx="10160366" cy="2193903"/>
          </a:xfrm>
        </p:spPr>
        <p:txBody>
          <a:bodyPr>
            <a:normAutofit/>
          </a:bodyPr>
          <a:lstStyle/>
          <a:p>
            <a:r>
              <a:rPr lang="en-US" sz="2400" i="1" dirty="0"/>
              <a:t>r </a:t>
            </a:r>
            <a:r>
              <a:rPr lang="en-US" sz="2400" dirty="0"/>
              <a:t>: nominal interest rate per year</a:t>
            </a:r>
          </a:p>
          <a:p>
            <a:r>
              <a:rPr lang="en-US" sz="2400" i="1" dirty="0"/>
              <a:t>m</a:t>
            </a:r>
            <a:r>
              <a:rPr lang="en-US" sz="2400" dirty="0"/>
              <a:t>: compounding occurs within the time period </a:t>
            </a:r>
            <a:r>
              <a:rPr lang="en-US" sz="2400" i="1" dirty="0"/>
              <a:t>t </a:t>
            </a:r>
            <a:r>
              <a:rPr lang="en-US" sz="2400" dirty="0"/>
              <a:t>(1 year).</a:t>
            </a:r>
          </a:p>
          <a:p>
            <a:r>
              <a:rPr lang="en-US" sz="2400" i="1" dirty="0" err="1"/>
              <a:t>i</a:t>
            </a:r>
            <a:r>
              <a:rPr lang="en-US" sz="2400" i="1" baseline="-25000" dirty="0" err="1"/>
              <a:t>cp</a:t>
            </a:r>
            <a:r>
              <a:rPr lang="en-US" sz="2400" dirty="0"/>
              <a:t>: effective interest rate per compounding period (</a:t>
            </a:r>
            <a:r>
              <a:rPr lang="en-US" sz="2400" i="1" dirty="0"/>
              <a:t>r</a:t>
            </a:r>
            <a:r>
              <a:rPr lang="en-US" sz="2400" dirty="0"/>
              <a:t>/</a:t>
            </a:r>
            <a:r>
              <a:rPr lang="en-US" sz="2400" i="1" dirty="0"/>
              <a:t>m</a:t>
            </a:r>
            <a:r>
              <a:rPr lang="en-US" sz="2400" dirty="0"/>
              <a:t>)</a:t>
            </a:r>
          </a:p>
          <a:p>
            <a:r>
              <a:rPr lang="en-US" sz="2400" i="1" dirty="0" err="1"/>
              <a:t>i</a:t>
            </a:r>
            <a:r>
              <a:rPr lang="en-US" sz="2400" i="1" baseline="-25000" dirty="0" err="1"/>
              <a:t>a</a:t>
            </a:r>
            <a:r>
              <a:rPr lang="en-US" sz="2400" dirty="0"/>
              <a:t>: effective interest rate per year</a:t>
            </a:r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0212" y="2368230"/>
            <a:ext cx="5915892" cy="3756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2731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371600" y="4098354"/>
            <a:ext cx="9601200" cy="1769046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9050" y="238647"/>
            <a:ext cx="6506300" cy="2291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529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1075571" y="238468"/>
            <a:ext cx="8660486" cy="689089"/>
          </a:xfrm>
        </p:spPr>
        <p:txBody>
          <a:bodyPr/>
          <a:lstStyle/>
          <a:p>
            <a:r>
              <a:rPr lang="tr-TR" dirty="0" smtClean="0"/>
              <a:t>EXAMPLE</a:t>
            </a:r>
            <a:endParaRPr lang="en-US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858483" y="1095307"/>
            <a:ext cx="11094501" cy="1786040"/>
          </a:xfrm>
        </p:spPr>
        <p:txBody>
          <a:bodyPr>
            <a:normAutofit/>
          </a:bodyPr>
          <a:lstStyle/>
          <a:p>
            <a:r>
              <a:rPr lang="en-US" sz="2400" dirty="0"/>
              <a:t>Kelso obtained a new credit card from a national bank, MBNA, with </a:t>
            </a:r>
            <a:r>
              <a:rPr lang="en-US" sz="2400" dirty="0" smtClean="0"/>
              <a:t>a</a:t>
            </a:r>
            <a:r>
              <a:rPr lang="tr-TR" sz="2400" dirty="0" smtClean="0"/>
              <a:t> </a:t>
            </a:r>
            <a:r>
              <a:rPr lang="en-US" sz="2400" dirty="0" smtClean="0"/>
              <a:t>stated </a:t>
            </a:r>
            <a:r>
              <a:rPr lang="en-US" sz="2400" dirty="0"/>
              <a:t>rate of 18% per year, compounded monthly. For a $</a:t>
            </a:r>
            <a:r>
              <a:rPr lang="en-US" sz="2400" dirty="0" smtClean="0"/>
              <a:t>1,000</a:t>
            </a:r>
            <a:r>
              <a:rPr lang="tr-TR" sz="2400" dirty="0" smtClean="0"/>
              <a:t> </a:t>
            </a:r>
            <a:r>
              <a:rPr lang="en-US" sz="2400" dirty="0" smtClean="0"/>
              <a:t>balance </a:t>
            </a:r>
            <a:r>
              <a:rPr lang="en-US" sz="2400" dirty="0"/>
              <a:t>at the beginning of the year, find the effective annual rate </a:t>
            </a:r>
            <a:r>
              <a:rPr lang="en-US" sz="2400" dirty="0" smtClean="0"/>
              <a:t>and</a:t>
            </a:r>
            <a:r>
              <a:rPr lang="tr-TR" sz="2400" dirty="0" smtClean="0"/>
              <a:t> </a:t>
            </a:r>
            <a:r>
              <a:rPr lang="en-US" sz="2400" dirty="0" smtClean="0"/>
              <a:t>the </a:t>
            </a:r>
            <a:r>
              <a:rPr lang="en-US" sz="2400" dirty="0"/>
              <a:t>total amount owed to MBNA after 1 year, provided no </a:t>
            </a:r>
            <a:r>
              <a:rPr lang="en-US" sz="2400" dirty="0" smtClean="0"/>
              <a:t>payments</a:t>
            </a:r>
            <a:r>
              <a:rPr lang="tr-TR" sz="2400" dirty="0" smtClean="0"/>
              <a:t> </a:t>
            </a:r>
            <a:r>
              <a:rPr lang="en-US" sz="2400" dirty="0" smtClean="0"/>
              <a:t>are </a:t>
            </a:r>
            <a:r>
              <a:rPr lang="en-US" sz="2400" dirty="0"/>
              <a:t>made during the year.</a:t>
            </a:r>
          </a:p>
        </p:txBody>
      </p:sp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6827" y="3049097"/>
            <a:ext cx="7924886" cy="1247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2205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5739" y="601511"/>
            <a:ext cx="8814264" cy="4687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604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0429" y="111833"/>
            <a:ext cx="10056814" cy="6455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8451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165" y="255913"/>
            <a:ext cx="11249217" cy="5855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6383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950581" y="230244"/>
            <a:ext cx="10883992" cy="5571920"/>
          </a:xfrm>
        </p:spPr>
        <p:txBody>
          <a:bodyPr>
            <a:normAutofit/>
          </a:bodyPr>
          <a:lstStyle/>
          <a:p>
            <a:r>
              <a:rPr lang="en-US" sz="2400" dirty="0"/>
              <a:t>Now, we need to introduce the </a:t>
            </a:r>
            <a:r>
              <a:rPr lang="en-US" sz="2400" dirty="0">
                <a:solidFill>
                  <a:srgbClr val="FF0000"/>
                </a:solidFill>
              </a:rPr>
              <a:t>payment period</a:t>
            </a:r>
            <a:r>
              <a:rPr lang="en-US" sz="2400" dirty="0"/>
              <a:t>, the frequency </a:t>
            </a:r>
            <a:r>
              <a:rPr lang="en-US" sz="2400" dirty="0" smtClean="0"/>
              <a:t>of</a:t>
            </a:r>
            <a:r>
              <a:rPr lang="tr-TR" sz="2400" dirty="0" smtClean="0"/>
              <a:t> </a:t>
            </a:r>
            <a:r>
              <a:rPr lang="en-US" sz="2400" dirty="0" smtClean="0"/>
              <a:t>payments </a:t>
            </a:r>
            <a:r>
              <a:rPr lang="en-US" sz="2400" dirty="0"/>
              <a:t>or receipts. Most of the time the compounding period </a:t>
            </a:r>
            <a:r>
              <a:rPr lang="en-US" sz="2400" dirty="0" smtClean="0"/>
              <a:t>and</a:t>
            </a:r>
            <a:r>
              <a:rPr lang="tr-TR" sz="2400" dirty="0" smtClean="0"/>
              <a:t> </a:t>
            </a:r>
            <a:r>
              <a:rPr lang="en-US" sz="2400" dirty="0" smtClean="0"/>
              <a:t>payment </a:t>
            </a:r>
            <a:r>
              <a:rPr lang="en-US" sz="2400" dirty="0"/>
              <a:t>period are not the same.</a:t>
            </a:r>
          </a:p>
          <a:p>
            <a:r>
              <a:rPr lang="en-US" sz="2400" dirty="0"/>
              <a:t>A company deposits money into an account each month that </a:t>
            </a:r>
            <a:r>
              <a:rPr lang="en-US" sz="2400" dirty="0" smtClean="0"/>
              <a:t>pays</a:t>
            </a:r>
            <a:r>
              <a:rPr lang="tr-TR" sz="2400" dirty="0" smtClean="0"/>
              <a:t> </a:t>
            </a:r>
            <a:r>
              <a:rPr lang="en-US" sz="2400" dirty="0" smtClean="0"/>
              <a:t>a </a:t>
            </a:r>
            <a:r>
              <a:rPr lang="en-US" sz="2400" dirty="0"/>
              <a:t>nominal interest rate of 12% per year, </a:t>
            </a:r>
            <a:r>
              <a:rPr lang="en-US" sz="2400" dirty="0" smtClean="0"/>
              <a:t>compounded</a:t>
            </a:r>
            <a:r>
              <a:rPr lang="tr-TR" sz="2400" dirty="0" smtClean="0"/>
              <a:t> </a:t>
            </a:r>
            <a:r>
              <a:rPr lang="en-US" sz="2400" dirty="0" smtClean="0"/>
              <a:t>semiannually</a:t>
            </a:r>
            <a:r>
              <a:rPr lang="en-US" sz="2400" dirty="0"/>
              <a:t>.</a:t>
            </a:r>
          </a:p>
          <a:p>
            <a:pPr marL="895350" indent="-269875">
              <a:buFont typeface="Arial" panose="020B0604020202020204" pitchFamily="34" charset="0"/>
              <a:buChar char="•"/>
            </a:pPr>
            <a:r>
              <a:rPr lang="en-US" sz="2400" dirty="0"/>
              <a:t>Compounding period = 6 months</a:t>
            </a:r>
          </a:p>
          <a:p>
            <a:pPr marL="895350" indent="-269875">
              <a:buFont typeface="Arial" panose="020B0604020202020204" pitchFamily="34" charset="0"/>
              <a:buChar char="•"/>
            </a:pPr>
            <a:r>
              <a:rPr lang="en-US" sz="2400" dirty="0"/>
              <a:t>Payment period = 1 month</a:t>
            </a:r>
          </a:p>
          <a:p>
            <a:r>
              <a:rPr lang="en-US" sz="2400" dirty="0"/>
              <a:t>To evaluate cash flows occurring more frequently than </a:t>
            </a:r>
            <a:r>
              <a:rPr lang="en-US" sz="2400" dirty="0" smtClean="0"/>
              <a:t>annually,</a:t>
            </a:r>
            <a:r>
              <a:rPr lang="tr-TR" sz="2400" dirty="0" smtClean="0"/>
              <a:t> </a:t>
            </a:r>
            <a:r>
              <a:rPr lang="en-US" sz="2400" dirty="0" smtClean="0"/>
              <a:t>effective </a:t>
            </a:r>
            <a:r>
              <a:rPr lang="en-US" sz="2400" dirty="0"/>
              <a:t>interest rate over the payment period must be calculated.</a:t>
            </a:r>
          </a:p>
          <a:p>
            <a:r>
              <a:rPr lang="en-US" sz="2400" dirty="0"/>
              <a:t>Let </a:t>
            </a:r>
            <a:r>
              <a:rPr lang="en-US" sz="2400" i="1" dirty="0"/>
              <a:t>r </a:t>
            </a:r>
            <a:r>
              <a:rPr lang="en-US" sz="2400" dirty="0"/>
              <a:t>: nominal interest rate per payment period</a:t>
            </a:r>
          </a:p>
          <a:p>
            <a:r>
              <a:rPr lang="en-US" sz="2400" dirty="0"/>
              <a:t>Let </a:t>
            </a:r>
            <a:r>
              <a:rPr lang="en-US" sz="2400" i="1" dirty="0"/>
              <a:t>m</a:t>
            </a:r>
            <a:r>
              <a:rPr lang="en-US" sz="2400" dirty="0"/>
              <a:t>: number of compounding periods per payment period</a:t>
            </a:r>
          </a:p>
          <a:p>
            <a:r>
              <a:rPr lang="en-US" sz="2400" dirty="0" smtClean="0"/>
              <a:t>Effective</a:t>
            </a:r>
            <a:r>
              <a:rPr lang="tr-TR" sz="2400" dirty="0" smtClean="0"/>
              <a:t> </a:t>
            </a:r>
            <a:r>
              <a:rPr lang="tr-TR" sz="2400" dirty="0" err="1" smtClean="0"/>
              <a:t>interest</a:t>
            </a:r>
            <a:r>
              <a:rPr lang="tr-TR" sz="2400" dirty="0" smtClean="0"/>
              <a:t>:</a:t>
            </a:r>
            <a:endParaRPr lang="en-US" sz="2400" dirty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6659" y="5302031"/>
            <a:ext cx="4315427" cy="1000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847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1062413" y="389771"/>
            <a:ext cx="10476129" cy="675932"/>
          </a:xfrm>
        </p:spPr>
        <p:txBody>
          <a:bodyPr>
            <a:normAutofit fontScale="90000"/>
          </a:bodyPr>
          <a:lstStyle/>
          <a:p>
            <a:r>
              <a:rPr lang="en-US" dirty="0"/>
              <a:t>Meaning of the Effective Interest Rate (EIR)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062413" y="1272924"/>
            <a:ext cx="10778736" cy="3871398"/>
          </a:xfrm>
        </p:spPr>
        <p:txBody>
          <a:bodyPr>
            <a:normAutofit/>
          </a:bodyPr>
          <a:lstStyle/>
          <a:p>
            <a:r>
              <a:rPr lang="en-US" sz="2400" dirty="0"/>
              <a:t>The </a:t>
            </a:r>
            <a:r>
              <a:rPr lang="en-US" sz="2400" b="1" dirty="0"/>
              <a:t>Effective Interest Rate (EIR)</a:t>
            </a:r>
            <a:r>
              <a:rPr lang="en-US" sz="2400" dirty="0"/>
              <a:t> — sometimes called the </a:t>
            </a:r>
            <a:r>
              <a:rPr lang="en-US" sz="2400" b="1" dirty="0"/>
              <a:t>Effective Annual Rate (EAR)</a:t>
            </a:r>
            <a:r>
              <a:rPr lang="en-US" sz="2400" dirty="0"/>
              <a:t> — tells you the </a:t>
            </a:r>
            <a:r>
              <a:rPr lang="en-US" sz="2400" b="1" dirty="0"/>
              <a:t>true annual return or cost</a:t>
            </a:r>
            <a:r>
              <a:rPr lang="en-US" sz="2400" dirty="0"/>
              <a:t> of money </a:t>
            </a:r>
            <a:r>
              <a:rPr lang="en-US" sz="2400" b="1" dirty="0"/>
              <a:t>after accounting for compounding</a:t>
            </a:r>
            <a:r>
              <a:rPr lang="en-US" sz="2400" dirty="0"/>
              <a:t>.</a:t>
            </a:r>
          </a:p>
          <a:p>
            <a:r>
              <a:rPr lang="en-US" sz="2400" dirty="0"/>
              <a:t>In other words</a:t>
            </a:r>
            <a:r>
              <a:rPr lang="en-US" sz="2400" dirty="0" smtClean="0"/>
              <a:t>:</a:t>
            </a:r>
            <a:endParaRPr lang="tr-TR" sz="2400" dirty="0" smtClean="0"/>
          </a:p>
          <a:p>
            <a:r>
              <a:rPr lang="en-US" sz="2400" dirty="0"/>
              <a:t>It shows how much your money actually grows (or how much you really pay) in one year, given that interest is added to the principal more than once a year.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932554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042679" y="365102"/>
            <a:ext cx="10897148" cy="3989810"/>
          </a:xfrm>
        </p:spPr>
        <p:txBody>
          <a:bodyPr>
            <a:normAutofit/>
          </a:bodyPr>
          <a:lstStyle/>
          <a:p>
            <a:r>
              <a:rPr lang="en-US" sz="2400" b="1" dirty="0"/>
              <a:t>Why do we need it?</a:t>
            </a:r>
          </a:p>
          <a:p>
            <a:r>
              <a:rPr lang="en-US" sz="2400" dirty="0"/>
              <a:t>Banks, loans, and investments often quote a </a:t>
            </a:r>
            <a:r>
              <a:rPr lang="en-US" sz="2400" b="1" dirty="0"/>
              <a:t>nominal rate (r)</a:t>
            </a:r>
            <a:r>
              <a:rPr lang="en-US" sz="2400" dirty="0"/>
              <a:t> — like </a:t>
            </a:r>
            <a:r>
              <a:rPr lang="en-US" sz="2400" i="1" dirty="0"/>
              <a:t>12% per year, compounded monthly</a:t>
            </a:r>
            <a:r>
              <a:rPr lang="en-US" sz="2400" dirty="0"/>
              <a:t>.</a:t>
            </a:r>
            <a:br>
              <a:rPr lang="en-US" sz="2400" dirty="0"/>
            </a:br>
            <a:r>
              <a:rPr lang="en-US" sz="2400" dirty="0"/>
              <a:t>That means interest is applied </a:t>
            </a:r>
            <a:r>
              <a:rPr lang="en-US" sz="2400" b="1" dirty="0"/>
              <a:t>12 times a year</a:t>
            </a:r>
            <a:r>
              <a:rPr lang="en-US" sz="2400" dirty="0"/>
              <a:t>, not just once.</a:t>
            </a:r>
          </a:p>
          <a:p>
            <a:r>
              <a:rPr lang="en-US" sz="2400" dirty="0"/>
              <a:t>However, because interest earns more interest each period (compounding), the </a:t>
            </a:r>
            <a:r>
              <a:rPr lang="en-US" sz="2400" b="1" dirty="0"/>
              <a:t>actual annual return</a:t>
            </a:r>
            <a:r>
              <a:rPr lang="en-US" sz="2400" dirty="0"/>
              <a:t> is </a:t>
            </a:r>
            <a:r>
              <a:rPr lang="en-US" sz="2400" b="1" dirty="0"/>
              <a:t>higher than 12%</a:t>
            </a:r>
            <a:r>
              <a:rPr lang="en-US" sz="2400" dirty="0"/>
              <a:t>.</a:t>
            </a:r>
          </a:p>
          <a:p>
            <a:r>
              <a:rPr lang="en-US" sz="2400" dirty="0"/>
              <a:t>So the </a:t>
            </a:r>
            <a:r>
              <a:rPr lang="en-US" sz="2400" b="1" dirty="0"/>
              <a:t>effective rate (</a:t>
            </a:r>
            <a:r>
              <a:rPr lang="en-US" sz="2400" b="1" dirty="0" err="1"/>
              <a:t>i</a:t>
            </a:r>
            <a:r>
              <a:rPr lang="en-US" sz="2400" b="1" dirty="0"/>
              <a:t>)</a:t>
            </a:r>
            <a:r>
              <a:rPr lang="en-US" sz="2400" dirty="0"/>
              <a:t> translates that compounding effect into </a:t>
            </a:r>
            <a:r>
              <a:rPr lang="en-US" sz="2400" b="1" dirty="0"/>
              <a:t>a single, once-per-year rate</a:t>
            </a:r>
            <a:r>
              <a:rPr lang="en-US" sz="2400" dirty="0"/>
              <a:t> — the </a:t>
            </a:r>
            <a:r>
              <a:rPr lang="en-US" sz="2400" i="1" dirty="0"/>
              <a:t>true equivalent</a:t>
            </a:r>
            <a:r>
              <a:rPr lang="en-US" sz="2400" dirty="0"/>
              <a:t>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060956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223585" y="630429"/>
            <a:ext cx="10357718" cy="792699"/>
          </a:xfrm>
        </p:spPr>
        <p:txBody>
          <a:bodyPr>
            <a:normAutofit/>
          </a:bodyPr>
          <a:lstStyle/>
          <a:p>
            <a:r>
              <a:rPr lang="en-US" sz="2400" dirty="0"/>
              <a:t>Imagine two investments:</a:t>
            </a:r>
          </a:p>
        </p:txBody>
      </p:sp>
      <p:graphicFrame>
        <p:nvGraphicFramePr>
          <p:cNvPr id="5" name="Tablo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0698127"/>
              </p:ext>
            </p:extLst>
          </p:nvPr>
        </p:nvGraphicFramePr>
        <p:xfrm>
          <a:off x="1312394" y="1920897"/>
          <a:ext cx="9601200" cy="1371600"/>
        </p:xfrm>
        <a:graphic>
          <a:graphicData uri="http://schemas.openxmlformats.org/drawingml/2006/table">
            <a:tbl>
              <a:tblPr/>
              <a:tblGrid>
                <a:gridCol w="1858403"/>
                <a:gridCol w="2942197"/>
                <a:gridCol w="2400300"/>
                <a:gridCol w="2400300"/>
              </a:tblGrid>
              <a:tr h="0">
                <a:tc>
                  <a:txBody>
                    <a:bodyPr/>
                    <a:lstStyle/>
                    <a:p>
                      <a:r>
                        <a:rPr lang="en-US" b="1" dirty="0"/>
                        <a:t>Investment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Quoted rate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Compounding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Actual gain after 1 year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12% per year (annual)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Once per year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12.00%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12% per year (monthly)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 times per year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12.68%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İçerik Yer Tutucusu 2"/>
          <p:cNvSpPr txBox="1">
            <a:spLocks/>
          </p:cNvSpPr>
          <p:nvPr/>
        </p:nvSpPr>
        <p:spPr>
          <a:xfrm>
            <a:off x="1223585" y="4115898"/>
            <a:ext cx="10587963" cy="15810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Both </a:t>
            </a:r>
            <a:r>
              <a:rPr lang="en-US" sz="2400" i="1" dirty="0"/>
              <a:t>sound</a:t>
            </a:r>
            <a:r>
              <a:rPr lang="en-US" sz="2400" dirty="0"/>
              <a:t> like 12</a:t>
            </a:r>
            <a:r>
              <a:rPr lang="en-US" sz="2400" dirty="0" smtClean="0"/>
              <a:t>%,</a:t>
            </a:r>
            <a:endParaRPr lang="tr-TR" sz="2400" dirty="0" smtClean="0"/>
          </a:p>
          <a:p>
            <a:r>
              <a:rPr lang="en-US" sz="2400" dirty="0" smtClean="0"/>
              <a:t>but </a:t>
            </a:r>
            <a:r>
              <a:rPr lang="en-US" sz="2400" dirty="0"/>
              <a:t>B actually gives you </a:t>
            </a:r>
            <a:r>
              <a:rPr lang="en-US" sz="2400" b="1" dirty="0"/>
              <a:t>more money</a:t>
            </a:r>
            <a:r>
              <a:rPr lang="en-US" sz="2400" dirty="0"/>
              <a:t> because it compounds interest </a:t>
            </a:r>
            <a:r>
              <a:rPr lang="en-US" sz="2400" b="1" dirty="0"/>
              <a:t>every month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78505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1088728" y="277938"/>
            <a:ext cx="8903888" cy="616727"/>
          </a:xfrm>
        </p:spPr>
        <p:txBody>
          <a:bodyPr>
            <a:normAutofit fontScale="90000"/>
          </a:bodyPr>
          <a:lstStyle/>
          <a:p>
            <a:r>
              <a:rPr lang="tr-TR" dirty="0" smtClean="0"/>
              <a:t>EXAMPLE</a:t>
            </a:r>
            <a:endParaRPr lang="en-US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088728" y="1095306"/>
            <a:ext cx="10897148" cy="1483434"/>
          </a:xfrm>
        </p:spPr>
        <p:txBody>
          <a:bodyPr>
            <a:normAutofit/>
          </a:bodyPr>
          <a:lstStyle/>
          <a:p>
            <a:r>
              <a:rPr lang="en-US" sz="2400" dirty="0"/>
              <a:t>A bank offers a </a:t>
            </a:r>
            <a:r>
              <a:rPr lang="en-US" sz="2400" b="1" dirty="0"/>
              <a:t>nominal annual interest rate</a:t>
            </a:r>
            <a:r>
              <a:rPr lang="en-US" sz="2400" dirty="0"/>
              <a:t> </a:t>
            </a:r>
            <a:r>
              <a:rPr lang="en-US" sz="2400" dirty="0" smtClean="0"/>
              <a:t>of</a:t>
            </a:r>
            <a:r>
              <a:rPr lang="tr-TR" sz="2400" dirty="0" smtClean="0"/>
              <a:t>        </a:t>
            </a:r>
          </a:p>
          <a:p>
            <a:pPr marL="0" indent="0">
              <a:buNone/>
            </a:pPr>
            <a:r>
              <a:rPr lang="tr-TR" sz="2400" dirty="0"/>
              <a:t> </a:t>
            </a:r>
            <a:r>
              <a:rPr lang="tr-TR" sz="2400" dirty="0" smtClean="0"/>
              <a:t>                </a:t>
            </a:r>
            <a:r>
              <a:rPr lang="en-US" sz="2400" dirty="0" smtClean="0"/>
              <a:t>r=12</a:t>
            </a:r>
            <a:r>
              <a:rPr lang="en-US" sz="2400" dirty="0"/>
              <a:t>% per year, compounded monthly</a:t>
            </a:r>
            <a:r>
              <a:rPr lang="en-US" sz="2400" dirty="0" smtClean="0"/>
              <a:t>.</a:t>
            </a:r>
            <a:r>
              <a:rPr lang="tr-TR" sz="2400" dirty="0" smtClean="0"/>
              <a:t> </a:t>
            </a:r>
          </a:p>
          <a:p>
            <a:r>
              <a:rPr lang="en-US" sz="2400" dirty="0" smtClean="0"/>
              <a:t>Find </a:t>
            </a:r>
            <a:r>
              <a:rPr lang="en-US" sz="2400" dirty="0"/>
              <a:t>the </a:t>
            </a:r>
            <a:r>
              <a:rPr lang="en-US" sz="2400" b="1" dirty="0"/>
              <a:t>effective annual interest rate </a:t>
            </a:r>
            <a:r>
              <a:rPr lang="en-US" sz="2400" b="1" dirty="0" err="1" smtClean="0"/>
              <a:t>i</a:t>
            </a:r>
            <a:r>
              <a:rPr lang="en-US" sz="2400" b="1" dirty="0" smtClean="0"/>
              <a:t>.</a:t>
            </a:r>
            <a:endParaRPr lang="en-US" sz="2400" dirty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280" y="3017702"/>
            <a:ext cx="6754262" cy="2688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341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055835" y="5104852"/>
            <a:ext cx="10601121" cy="1144646"/>
          </a:xfrm>
        </p:spPr>
        <p:txBody>
          <a:bodyPr>
            <a:normAutofit/>
          </a:bodyPr>
          <a:lstStyle/>
          <a:p>
            <a:r>
              <a:rPr lang="en-US" sz="2400" dirty="0"/>
              <a:t>Although the nominal rate </a:t>
            </a:r>
            <a:r>
              <a:rPr lang="en-US" sz="2400" dirty="0" smtClean="0"/>
              <a:t>r </a:t>
            </a:r>
            <a:r>
              <a:rPr lang="en-US" sz="2400" dirty="0"/>
              <a:t>is 12%, the </a:t>
            </a:r>
            <a:r>
              <a:rPr lang="en-US" sz="2400" b="1" dirty="0"/>
              <a:t>effective annual rate </a:t>
            </a:r>
            <a:r>
              <a:rPr lang="en-US" sz="2400" b="1" dirty="0" err="1" smtClean="0"/>
              <a:t>i</a:t>
            </a:r>
            <a:r>
              <a:rPr lang="en-US" sz="2400" dirty="0" smtClean="0"/>
              <a:t> </a:t>
            </a:r>
            <a:r>
              <a:rPr lang="en-US" sz="2400" dirty="0"/>
              <a:t>is </a:t>
            </a:r>
            <a:r>
              <a:rPr lang="en-US" sz="2400" b="1" dirty="0"/>
              <a:t>12.68</a:t>
            </a:r>
            <a:r>
              <a:rPr lang="en-US" sz="2400" b="1" dirty="0" smtClean="0"/>
              <a:t>%</a:t>
            </a:r>
            <a:r>
              <a:rPr lang="en-US" sz="2400" dirty="0" smtClean="0"/>
              <a:t>,</a:t>
            </a:r>
            <a:r>
              <a:rPr lang="tr-TR" sz="2400" dirty="0" smtClean="0"/>
              <a:t> </a:t>
            </a:r>
            <a:r>
              <a:rPr lang="en-US" sz="2400" dirty="0" smtClean="0"/>
              <a:t>because </a:t>
            </a:r>
            <a:r>
              <a:rPr lang="en-US" sz="2400" dirty="0"/>
              <a:t>interest is compounded monthly.</a:t>
            </a:r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2431" y="446051"/>
            <a:ext cx="8175500" cy="4066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5719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983473" y="197353"/>
            <a:ext cx="9476211" cy="506538"/>
          </a:xfrm>
        </p:spPr>
        <p:txBody>
          <a:bodyPr>
            <a:normAutofit/>
          </a:bodyPr>
          <a:lstStyle/>
          <a:p>
            <a:r>
              <a:rPr lang="en-US" sz="2400" b="1" dirty="0"/>
              <a:t>Comparison of Compounding Frequencies</a:t>
            </a:r>
          </a:p>
        </p:txBody>
      </p:sp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256" y="956006"/>
            <a:ext cx="10264393" cy="5260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2993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193" y="0"/>
            <a:ext cx="10944053" cy="6579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80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1095306" y="389771"/>
            <a:ext cx="9338063" cy="675932"/>
          </a:xfrm>
        </p:spPr>
        <p:txBody>
          <a:bodyPr>
            <a:normAutofit fontScale="90000"/>
          </a:bodyPr>
          <a:lstStyle/>
          <a:p>
            <a:r>
              <a:rPr lang="tr-TR" dirty="0" smtClean="0"/>
              <a:t>EXAMPLE</a:t>
            </a:r>
            <a:endParaRPr lang="en-US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009786" y="1272924"/>
            <a:ext cx="10870835" cy="3641154"/>
          </a:xfrm>
        </p:spPr>
        <p:txBody>
          <a:bodyPr>
            <a:normAutofit/>
          </a:bodyPr>
          <a:lstStyle/>
          <a:p>
            <a:r>
              <a:rPr lang="en-US" sz="2400" dirty="0"/>
              <a:t>Three suppliers place their bids for the procurement of a major part </a:t>
            </a:r>
            <a:r>
              <a:rPr lang="en-US" sz="2400" dirty="0" smtClean="0"/>
              <a:t>for</a:t>
            </a:r>
            <a:r>
              <a:rPr lang="tr-TR" sz="2400" dirty="0" smtClean="0"/>
              <a:t> </a:t>
            </a:r>
            <a:r>
              <a:rPr lang="en-US" sz="2400" dirty="0" smtClean="0"/>
              <a:t>a </a:t>
            </a:r>
            <a:r>
              <a:rPr lang="en-US" sz="2400" dirty="0"/>
              <a:t>motor company. The motor company will make </a:t>
            </a:r>
            <a:r>
              <a:rPr lang="en-US" sz="2400" dirty="0" smtClean="0"/>
              <a:t>semiannual</a:t>
            </a:r>
            <a:r>
              <a:rPr lang="tr-TR" sz="2400" dirty="0"/>
              <a:t> (</a:t>
            </a:r>
            <a:r>
              <a:rPr lang="tr-TR" sz="2400" dirty="0" err="1"/>
              <a:t>every</a:t>
            </a:r>
            <a:r>
              <a:rPr lang="tr-TR" sz="2400" dirty="0"/>
              <a:t> 6 </a:t>
            </a:r>
            <a:r>
              <a:rPr lang="tr-TR" sz="2400" dirty="0" err="1"/>
              <a:t>months</a:t>
            </a:r>
            <a:r>
              <a:rPr lang="tr-TR" sz="2400" dirty="0" smtClean="0"/>
              <a:t>) </a:t>
            </a:r>
            <a:r>
              <a:rPr lang="en-US" sz="2400" dirty="0" smtClean="0"/>
              <a:t>payments</a:t>
            </a:r>
            <a:r>
              <a:rPr lang="en-US" sz="2400" dirty="0"/>
              <a:t>. The bids by the suppliers are given as:</a:t>
            </a:r>
          </a:p>
          <a:p>
            <a:pPr marL="1079500" indent="-361950">
              <a:buFont typeface="+mj-lt"/>
              <a:buAutoNum type="alphaLcParenR"/>
            </a:pPr>
            <a:r>
              <a:rPr lang="en-US" sz="2400" dirty="0" smtClean="0"/>
              <a:t>9</a:t>
            </a:r>
            <a:r>
              <a:rPr lang="en-US" sz="2400" dirty="0"/>
              <a:t>% per year, compounded quarterly,</a:t>
            </a:r>
          </a:p>
          <a:p>
            <a:pPr marL="1079500" indent="-361950">
              <a:buFont typeface="+mj-lt"/>
              <a:buAutoNum type="alphaLcParenR"/>
            </a:pPr>
            <a:r>
              <a:rPr lang="en-US" sz="2400" dirty="0" smtClean="0"/>
              <a:t>9</a:t>
            </a:r>
            <a:r>
              <a:rPr lang="en-US" sz="2400" dirty="0"/>
              <a:t>% per year, compounded monthly,</a:t>
            </a:r>
          </a:p>
          <a:p>
            <a:pPr marL="1079500" indent="-361950">
              <a:buFont typeface="+mj-lt"/>
              <a:buAutoNum type="alphaLcParenR"/>
            </a:pPr>
            <a:r>
              <a:rPr lang="en-US" sz="2400" dirty="0" smtClean="0"/>
              <a:t>3% per quarter, compounded quarterly.</a:t>
            </a:r>
            <a:endParaRPr lang="tr-TR" sz="2400" dirty="0" smtClean="0"/>
          </a:p>
          <a:p>
            <a:pPr marL="361950" indent="0">
              <a:buNone/>
            </a:pPr>
            <a:r>
              <a:rPr lang="en-US" sz="2400" dirty="0" smtClean="0"/>
              <a:t>Determine </a:t>
            </a:r>
            <a:r>
              <a:rPr lang="en-US" sz="2400" dirty="0"/>
              <a:t>the effective rate for each bid on the basis of </a:t>
            </a:r>
            <a:r>
              <a:rPr lang="en-US" sz="2400" dirty="0" smtClean="0"/>
              <a:t>semiannual</a:t>
            </a:r>
            <a:r>
              <a:rPr lang="tr-TR" sz="2400" dirty="0" smtClean="0"/>
              <a:t> </a:t>
            </a:r>
            <a:r>
              <a:rPr lang="en-US" sz="2400" dirty="0" smtClean="0"/>
              <a:t>payments</a:t>
            </a:r>
            <a:r>
              <a:rPr lang="en-US" sz="2400" dirty="0"/>
              <a:t>.</a:t>
            </a:r>
            <a:endParaRPr lang="tr-TR" sz="2400" dirty="0" smtClean="0"/>
          </a:p>
        </p:txBody>
      </p:sp>
    </p:spTree>
    <p:extLst>
      <p:ext uri="{BB962C8B-B14F-4D97-AF65-F5344CB8AC3E}">
        <p14:creationId xmlns:p14="http://schemas.microsoft.com/office/powerpoint/2010/main" val="1282767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Resi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7271" y="263438"/>
            <a:ext cx="8842523" cy="4065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677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1712" y="1308289"/>
            <a:ext cx="6481065" cy="4073813"/>
          </a:xfrm>
          <a:prstGeom prst="rect">
            <a:avLst/>
          </a:prstGeom>
        </p:spPr>
      </p:pic>
      <p:sp>
        <p:nvSpPr>
          <p:cNvPr id="5" name="İçerik Yer Tutucusu 2"/>
          <p:cNvSpPr>
            <a:spLocks noGrp="1"/>
          </p:cNvSpPr>
          <p:nvPr>
            <p:ph idx="1"/>
          </p:nvPr>
        </p:nvSpPr>
        <p:spPr>
          <a:xfrm>
            <a:off x="1036100" y="417730"/>
            <a:ext cx="9588043" cy="720337"/>
          </a:xfrm>
        </p:spPr>
        <p:txBody>
          <a:bodyPr>
            <a:normAutofit/>
          </a:bodyPr>
          <a:lstStyle/>
          <a:p>
            <a:r>
              <a:rPr lang="en-US" sz="2400" dirty="0"/>
              <a:t>9% per year, compounded quarterly</a:t>
            </a:r>
          </a:p>
        </p:txBody>
      </p:sp>
    </p:spTree>
    <p:extLst>
      <p:ext uri="{BB962C8B-B14F-4D97-AF65-F5344CB8AC3E}">
        <p14:creationId xmlns:p14="http://schemas.microsoft.com/office/powerpoint/2010/main" val="4172751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036100" y="417730"/>
            <a:ext cx="9588043" cy="720337"/>
          </a:xfrm>
        </p:spPr>
        <p:txBody>
          <a:bodyPr>
            <a:normAutofit/>
          </a:bodyPr>
          <a:lstStyle/>
          <a:p>
            <a:r>
              <a:rPr lang="en-US" sz="2400" dirty="0"/>
              <a:t>9% per year, compounded monthly</a:t>
            </a:r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8529" y="1614526"/>
            <a:ext cx="6223183" cy="4001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005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088728" y="621661"/>
            <a:ext cx="9699876" cy="779542"/>
          </a:xfrm>
        </p:spPr>
        <p:txBody>
          <a:bodyPr>
            <a:normAutofit/>
          </a:bodyPr>
          <a:lstStyle/>
          <a:p>
            <a:r>
              <a:rPr lang="en-US" sz="2400" dirty="0"/>
              <a:t>3% per quarter, compounded quarterly</a:t>
            </a:r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934" y="1894245"/>
            <a:ext cx="10303994" cy="2983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118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815670" y="4664098"/>
            <a:ext cx="10456394" cy="1138066"/>
          </a:xfrm>
        </p:spPr>
        <p:txBody>
          <a:bodyPr>
            <a:normAutofit/>
          </a:bodyPr>
          <a:lstStyle/>
          <a:p>
            <a:r>
              <a:rPr lang="en-US" sz="2400" dirty="0"/>
              <a:t>Therefore, </a:t>
            </a:r>
            <a:r>
              <a:rPr lang="en-US" sz="2400" b="1" dirty="0"/>
              <a:t>Supplier 1</a:t>
            </a:r>
            <a:r>
              <a:rPr lang="en-US" sz="2400" dirty="0"/>
              <a:t> provides the most favorable financing terms for the motor company</a:t>
            </a:r>
            <a:r>
              <a:rPr lang="en-US" sz="2400" dirty="0" smtClean="0"/>
              <a:t>.</a:t>
            </a:r>
            <a:endParaRPr lang="tr-TR" sz="2400" dirty="0" smtClean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670" y="686224"/>
            <a:ext cx="11218448" cy="3425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1942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827766" y="18822"/>
            <a:ext cx="11183363" cy="1132226"/>
          </a:xfrm>
        </p:spPr>
        <p:txBody>
          <a:bodyPr>
            <a:normAutofit/>
          </a:bodyPr>
          <a:lstStyle/>
          <a:p>
            <a:r>
              <a:rPr lang="en-US" sz="2400" dirty="0"/>
              <a:t>Allowing more and more frequent compounding, increases the </a:t>
            </a:r>
            <a:r>
              <a:rPr lang="en-US" sz="2400" dirty="0" smtClean="0"/>
              <a:t>number</a:t>
            </a:r>
            <a:r>
              <a:rPr lang="tr-TR" sz="2400" dirty="0" smtClean="0"/>
              <a:t> </a:t>
            </a:r>
            <a:r>
              <a:rPr lang="en-US" sz="2400" dirty="0" smtClean="0"/>
              <a:t>of </a:t>
            </a:r>
            <a:r>
              <a:rPr lang="en-US" sz="2400" dirty="0"/>
              <a:t>compounding periods per time period, </a:t>
            </a:r>
            <a:r>
              <a:rPr lang="en-US" sz="2400" i="1" dirty="0"/>
              <a:t>m</a:t>
            </a:r>
            <a:r>
              <a:rPr lang="en-US" sz="2400" dirty="0"/>
              <a:t>. As </a:t>
            </a:r>
            <a:r>
              <a:rPr lang="en-US" sz="2400" i="1" dirty="0"/>
              <a:t>m </a:t>
            </a:r>
            <a:r>
              <a:rPr lang="en-US" sz="2400" dirty="0"/>
              <a:t>approaches </a:t>
            </a:r>
            <a:r>
              <a:rPr lang="en-US" sz="2400" dirty="0" smtClean="0"/>
              <a:t>infinity,</a:t>
            </a:r>
            <a:r>
              <a:rPr lang="tr-TR" sz="2400" dirty="0" smtClean="0"/>
              <a:t> </a:t>
            </a:r>
            <a:r>
              <a:rPr lang="en-US" sz="2400" dirty="0" smtClean="0"/>
              <a:t>the </a:t>
            </a:r>
            <a:r>
              <a:rPr lang="en-US" sz="2400" dirty="0"/>
              <a:t>effective interest rate must be written in a new form. </a:t>
            </a:r>
            <a:endParaRPr lang="tr-TR" sz="2400" dirty="0" smtClean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7135" y="1230165"/>
            <a:ext cx="8764626" cy="4024573"/>
          </a:xfrm>
          <a:prstGeom prst="rect">
            <a:avLst/>
          </a:prstGeom>
        </p:spPr>
      </p:pic>
      <p:sp>
        <p:nvSpPr>
          <p:cNvPr id="5" name="İçerik Yer Tutucusu 2"/>
          <p:cNvSpPr txBox="1">
            <a:spLocks/>
          </p:cNvSpPr>
          <p:nvPr/>
        </p:nvSpPr>
        <p:spPr>
          <a:xfrm>
            <a:off x="916575" y="5307542"/>
            <a:ext cx="11005747" cy="154263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dirty="0" smtClean="0"/>
              <a:t>Therefore, </a:t>
            </a:r>
            <a:r>
              <a:rPr lang="en-US" sz="2200" b="1" dirty="0" smtClean="0"/>
              <a:t>Supplier 1</a:t>
            </a:r>
            <a:r>
              <a:rPr lang="en-US" sz="2200" dirty="0" smtClean="0"/>
              <a:t> provides the most favorable financing terms for the motor company.</a:t>
            </a:r>
            <a:endParaRPr lang="tr-TR" sz="2200" dirty="0" smtClean="0"/>
          </a:p>
          <a:p>
            <a:r>
              <a:rPr lang="en-US" sz="2200" dirty="0" smtClean="0"/>
              <a:t>This formula compute the effective continuous interest rate when the</a:t>
            </a:r>
            <a:r>
              <a:rPr lang="tr-TR" sz="2200" dirty="0" smtClean="0"/>
              <a:t> </a:t>
            </a:r>
            <a:r>
              <a:rPr lang="en-US" sz="2200" dirty="0" smtClean="0"/>
              <a:t>time periods on </a:t>
            </a:r>
            <a:r>
              <a:rPr lang="en-US" sz="2200" i="1" dirty="0" err="1" smtClean="0"/>
              <a:t>i</a:t>
            </a:r>
            <a:r>
              <a:rPr lang="en-US" sz="2200" i="1" dirty="0" smtClean="0"/>
              <a:t> </a:t>
            </a:r>
            <a:r>
              <a:rPr lang="en-US" sz="2200" dirty="0" smtClean="0"/>
              <a:t>and </a:t>
            </a:r>
            <a:r>
              <a:rPr lang="en-US" sz="2200" i="1" dirty="0" smtClean="0"/>
              <a:t>r </a:t>
            </a:r>
            <a:r>
              <a:rPr lang="en-US" sz="2200" dirty="0" smtClean="0"/>
              <a:t>are the same.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871245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125" y="129069"/>
            <a:ext cx="10176856" cy="6728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879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rop">
  <a:themeElements>
    <a:clrScheme name="Gri Tonlamalı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Kırpma</Template>
  <TotalTime>6355</TotalTime>
  <Words>3115</Words>
  <Application>Microsoft Office PowerPoint</Application>
  <PresentationFormat>Geniş ekran</PresentationFormat>
  <Paragraphs>168</Paragraphs>
  <Slides>53</Slides>
  <Notes>1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53</vt:i4>
      </vt:variant>
    </vt:vector>
  </HeadingPairs>
  <TitlesOfParts>
    <vt:vector size="57" baseType="lpstr">
      <vt:lpstr>Arial</vt:lpstr>
      <vt:lpstr>Calibri</vt:lpstr>
      <vt:lpstr>Franklin Gothic Book</vt:lpstr>
      <vt:lpstr>Crop</vt:lpstr>
      <vt:lpstr>ENGINEERING ECONOMY</vt:lpstr>
      <vt:lpstr>Calculations Involving Uniform Series and Randomly Placed Single Amounts</vt:lpstr>
      <vt:lpstr>EXAMPLE</vt:lpstr>
      <vt:lpstr>PowerPoint Sunusu</vt:lpstr>
      <vt:lpstr>PowerPoint Sunusu</vt:lpstr>
      <vt:lpstr>EXAMPLE:</vt:lpstr>
      <vt:lpstr>PowerPoint Sunusu</vt:lpstr>
      <vt:lpstr>PowerPoint Sunusu</vt:lpstr>
      <vt:lpstr>PowerPoint Sunusu</vt:lpstr>
      <vt:lpstr>PowerPoint Sunusu</vt:lpstr>
      <vt:lpstr>EXAMPLE</vt:lpstr>
      <vt:lpstr>PowerPoint Sunusu</vt:lpstr>
      <vt:lpstr>PowerPoint Sunusu</vt:lpstr>
      <vt:lpstr>PowerPoint Sunusu</vt:lpstr>
      <vt:lpstr>EXAMPLE</vt:lpstr>
      <vt:lpstr>PowerPoint Sunusu</vt:lpstr>
      <vt:lpstr>Nominal and Effective Interest Rates</vt:lpstr>
      <vt:lpstr>PowerPoint Sunusu</vt:lpstr>
      <vt:lpstr>PowerPoint Sunusu</vt:lpstr>
      <vt:lpstr>PowerPoint Sunusu</vt:lpstr>
      <vt:lpstr>PowerPoint Sunusu</vt:lpstr>
      <vt:lpstr>PowerPoint Sunusu</vt:lpstr>
      <vt:lpstr>EXAMPLE</vt:lpstr>
      <vt:lpstr>PowerPoint Sunusu</vt:lpstr>
      <vt:lpstr>The Credit Card Offer Case: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EXAMPLE</vt:lpstr>
      <vt:lpstr>PowerPoint Sunusu</vt:lpstr>
      <vt:lpstr>PowerPoint Sunusu</vt:lpstr>
      <vt:lpstr>PowerPoint Sunusu</vt:lpstr>
      <vt:lpstr>PowerPoint Sunusu</vt:lpstr>
      <vt:lpstr>Meaning of the Effective Interest Rate (EIR)</vt:lpstr>
      <vt:lpstr>PowerPoint Sunusu</vt:lpstr>
      <vt:lpstr>PowerPoint Sunusu</vt:lpstr>
      <vt:lpstr>EXAMPLE</vt:lpstr>
      <vt:lpstr>PowerPoint Sunusu</vt:lpstr>
      <vt:lpstr>PowerPoint Sunusu</vt:lpstr>
      <vt:lpstr>PowerPoint Sunusu</vt:lpstr>
      <vt:lpstr>EXAMPLE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ENGINEERING ECONOMY</dc:title>
  <dc:creator>y</dc:creator>
  <cp:lastModifiedBy>y</cp:lastModifiedBy>
  <cp:revision>153</cp:revision>
  <dcterms:created xsi:type="dcterms:W3CDTF">2025-10-01T18:37:48Z</dcterms:created>
  <dcterms:modified xsi:type="dcterms:W3CDTF">2025-10-29T14:35:20Z</dcterms:modified>
</cp:coreProperties>
</file>