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32" r:id="rId1"/>
  </p:sldMasterIdLst>
  <p:notesMasterIdLst>
    <p:notesMasterId r:id="rId54"/>
  </p:notesMasterIdLst>
  <p:sldIdLst>
    <p:sldId id="256" r:id="rId2"/>
    <p:sldId id="281" r:id="rId3"/>
    <p:sldId id="283" r:id="rId4"/>
    <p:sldId id="282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296" r:id="rId18"/>
    <p:sldId id="297" r:id="rId19"/>
    <p:sldId id="298" r:id="rId20"/>
    <p:sldId id="299" r:id="rId21"/>
    <p:sldId id="300" r:id="rId22"/>
    <p:sldId id="301" r:id="rId23"/>
    <p:sldId id="302" r:id="rId24"/>
    <p:sldId id="303" r:id="rId25"/>
    <p:sldId id="304" r:id="rId26"/>
    <p:sldId id="305" r:id="rId27"/>
    <p:sldId id="306" r:id="rId28"/>
    <p:sldId id="307" r:id="rId29"/>
    <p:sldId id="308" r:id="rId30"/>
    <p:sldId id="309" r:id="rId31"/>
    <p:sldId id="310" r:id="rId32"/>
    <p:sldId id="311" r:id="rId33"/>
    <p:sldId id="312" r:id="rId34"/>
    <p:sldId id="313" r:id="rId35"/>
    <p:sldId id="314" r:id="rId36"/>
    <p:sldId id="315" r:id="rId37"/>
    <p:sldId id="317" r:id="rId38"/>
    <p:sldId id="316" r:id="rId39"/>
    <p:sldId id="318" r:id="rId40"/>
    <p:sldId id="319" r:id="rId41"/>
    <p:sldId id="320" r:id="rId42"/>
    <p:sldId id="321" r:id="rId43"/>
    <p:sldId id="322" r:id="rId44"/>
    <p:sldId id="323" r:id="rId45"/>
    <p:sldId id="324" r:id="rId46"/>
    <p:sldId id="325" r:id="rId47"/>
    <p:sldId id="326" r:id="rId48"/>
    <p:sldId id="327" r:id="rId49"/>
    <p:sldId id="328" r:id="rId50"/>
    <p:sldId id="330" r:id="rId51"/>
    <p:sldId id="331" r:id="rId52"/>
    <p:sldId id="332" r:id="rId5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58" d="100"/>
          <a:sy n="58" d="100"/>
        </p:scale>
        <p:origin x="922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0620FB-B8DF-4D2B-BC54-D29B39519E0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9EA3B-84DF-430A-987E-E22F814E2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644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Salvage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kurtarma</a:t>
            </a:r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F9EA3B-84DF-430A-987E-E22F814E276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255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tıklatın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677802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453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bilgisi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671017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40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951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606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853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99466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69839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978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004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67926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368">
          <p15:clr>
            <a:srgbClr val="F26B43"/>
          </p15:clr>
        </p15:guide>
        <p15:guide id="2" orient="horz" pos="1440">
          <p15:clr>
            <a:srgbClr val="F26B43"/>
          </p15:clr>
        </p15:guide>
        <p15:guide id="3" orient="horz" pos="3696">
          <p15:clr>
            <a:srgbClr val="F26B43"/>
          </p15:clr>
        </p15:guide>
        <p15:guide id="4" orient="horz" pos="432">
          <p15:clr>
            <a:srgbClr val="F26B43"/>
          </p15:clr>
        </p15:guide>
        <p15:guide id="5" orient="horz" pos="1512">
          <p15:clr>
            <a:srgbClr val="F26B43"/>
          </p15:clr>
        </p15:guide>
        <p15:guide id="6" pos="6912">
          <p15:clr>
            <a:srgbClr val="F26B43"/>
          </p15:clr>
        </p15:guide>
        <p15:guide id="7" pos="936">
          <p15:clr>
            <a:srgbClr val="F26B43"/>
          </p15:clr>
        </p15:guide>
        <p15:guide id="8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964916"/>
            <a:ext cx="9144000" cy="1959952"/>
          </a:xfrm>
        </p:spPr>
        <p:txBody>
          <a:bodyPr anchor="ctr">
            <a:normAutofit fontScale="90000"/>
          </a:bodyPr>
          <a:lstStyle/>
          <a:p>
            <a:r>
              <a:rPr lang="tr-TR" dirty="0" smtClean="0"/>
              <a:t>ENGINEERING ECONOMY</a:t>
            </a:r>
            <a:endParaRPr lang="en-US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905504" y="2924868"/>
            <a:ext cx="9144000" cy="1038087"/>
          </a:xfrm>
        </p:spPr>
        <p:txBody>
          <a:bodyPr anchor="ctr">
            <a:normAutofit/>
          </a:bodyPr>
          <a:lstStyle/>
          <a:p>
            <a:r>
              <a:rPr lang="tr-TR" sz="2800" dirty="0" smtClean="0"/>
              <a:t>LECTURE 3</a:t>
            </a:r>
          </a:p>
        </p:txBody>
      </p:sp>
      <p:sp>
        <p:nvSpPr>
          <p:cNvPr id="4" name="Alt Başlık 2"/>
          <p:cNvSpPr txBox="1">
            <a:spLocks/>
          </p:cNvSpPr>
          <p:nvPr/>
        </p:nvSpPr>
        <p:spPr>
          <a:xfrm>
            <a:off x="199835" y="6316021"/>
            <a:ext cx="8853331" cy="4662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tr-TR" sz="2000" dirty="0" smtClean="0"/>
              <a:t>PROF.DR. YASEMİN ASU ÇIRPICI, MU, DEPT. OF ECONOMICS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55449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69" y="1534011"/>
            <a:ext cx="11231989" cy="238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655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507" y="572658"/>
            <a:ext cx="11169153" cy="2653619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11" y="3504179"/>
            <a:ext cx="11312747" cy="2636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572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923483" y="134739"/>
            <a:ext cx="9007748" cy="616160"/>
          </a:xfrm>
        </p:spPr>
        <p:txBody>
          <a:bodyPr>
            <a:normAutofit fontScale="90000"/>
          </a:bodyPr>
          <a:lstStyle/>
          <a:p>
            <a:r>
              <a:rPr lang="tr-TR" dirty="0" smtClean="0"/>
              <a:t>EXAMPLE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75038" y="868983"/>
            <a:ext cx="11084525" cy="2900450"/>
          </a:xfrm>
        </p:spPr>
        <p:txBody>
          <a:bodyPr>
            <a:noAutofit/>
          </a:bodyPr>
          <a:lstStyle/>
          <a:p>
            <a:r>
              <a:rPr lang="en-US" sz="2400" dirty="0"/>
              <a:t>How much money should you be willing to pay now for a guaranteed $600 per year for 9 </a:t>
            </a:r>
            <a:r>
              <a:rPr lang="en-US" sz="2400" dirty="0" smtClean="0"/>
              <a:t>years</a:t>
            </a:r>
            <a:r>
              <a:rPr lang="tr-TR" sz="2400" dirty="0" smtClean="0"/>
              <a:t> </a:t>
            </a:r>
            <a:r>
              <a:rPr lang="en-US" sz="2400" dirty="0" smtClean="0"/>
              <a:t>starting </a:t>
            </a:r>
            <a:r>
              <a:rPr lang="en-US" sz="2400" dirty="0"/>
              <a:t>next year, at a rate of return of 16% per year?</a:t>
            </a:r>
          </a:p>
          <a:p>
            <a:r>
              <a:rPr lang="en-US" sz="2400" b="1" dirty="0"/>
              <a:t>Solution</a:t>
            </a:r>
          </a:p>
          <a:p>
            <a:r>
              <a:rPr lang="en-US" sz="2400" dirty="0"/>
              <a:t>The cash flows follow the pattern of </a:t>
            </a:r>
            <a:r>
              <a:rPr lang="tr-TR" sz="2400" dirty="0" err="1" smtClean="0"/>
              <a:t>the</a:t>
            </a:r>
            <a:r>
              <a:rPr lang="tr-TR" sz="2400" dirty="0" smtClean="0"/>
              <a:t> </a:t>
            </a:r>
            <a:r>
              <a:rPr lang="en-US" sz="2400" dirty="0" smtClean="0"/>
              <a:t>Figure, </a:t>
            </a:r>
            <a:r>
              <a:rPr lang="en-US" sz="2400" dirty="0"/>
              <a:t>with </a:t>
            </a:r>
            <a:r>
              <a:rPr lang="en-US" sz="2400" i="1" dirty="0"/>
              <a:t>A </a:t>
            </a:r>
            <a:r>
              <a:rPr lang="en-US" sz="2400" dirty="0"/>
              <a:t>= $600, </a:t>
            </a:r>
            <a:r>
              <a:rPr lang="en-US" sz="2400" i="1" dirty="0" err="1"/>
              <a:t>i</a:t>
            </a:r>
            <a:r>
              <a:rPr lang="en-US" sz="2400" i="1" dirty="0"/>
              <a:t> </a:t>
            </a:r>
            <a:r>
              <a:rPr lang="en-US" sz="2400" dirty="0"/>
              <a:t>= 16%, and </a:t>
            </a:r>
            <a:r>
              <a:rPr lang="en-US" sz="2400" i="1" dirty="0"/>
              <a:t>n </a:t>
            </a:r>
            <a:r>
              <a:rPr lang="en-US" sz="2400" dirty="0"/>
              <a:t>= 9. The </a:t>
            </a:r>
            <a:r>
              <a:rPr lang="en-US" sz="2400" dirty="0" smtClean="0"/>
              <a:t>present</a:t>
            </a:r>
            <a:r>
              <a:rPr lang="tr-TR" sz="2400" dirty="0" smtClean="0"/>
              <a:t> </a:t>
            </a:r>
            <a:r>
              <a:rPr lang="en-US" sz="2400" dirty="0" smtClean="0"/>
              <a:t>worth </a:t>
            </a:r>
            <a:r>
              <a:rPr lang="en-US" sz="2400" dirty="0"/>
              <a:t>is</a:t>
            </a:r>
          </a:p>
          <a:p>
            <a:pPr marL="0" indent="0">
              <a:buNone/>
            </a:pPr>
            <a:r>
              <a:rPr lang="tr-TR" sz="2400" i="1" dirty="0" smtClean="0"/>
              <a:t>                    </a:t>
            </a:r>
            <a:r>
              <a:rPr lang="en-US" sz="2400" i="1" dirty="0" smtClean="0"/>
              <a:t>P </a:t>
            </a:r>
            <a:r>
              <a:rPr lang="en-US" sz="2400" dirty="0"/>
              <a:t>= 600(</a:t>
            </a:r>
            <a:r>
              <a:rPr lang="en-US" sz="2400" i="1" dirty="0"/>
              <a:t>P</a:t>
            </a:r>
            <a:r>
              <a:rPr lang="en-US" sz="2400" dirty="0"/>
              <a:t>∕</a:t>
            </a:r>
            <a:r>
              <a:rPr lang="en-US" sz="2400" i="1" dirty="0"/>
              <a:t>A</a:t>
            </a:r>
            <a:r>
              <a:rPr lang="en-US" sz="2400" dirty="0"/>
              <a:t>,16%,9) = 600(4.6065) = $</a:t>
            </a:r>
            <a:r>
              <a:rPr lang="en-US" sz="2400" dirty="0" smtClean="0"/>
              <a:t>2763.90</a:t>
            </a:r>
            <a:endParaRPr lang="en-US" sz="24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4698" y="3887517"/>
            <a:ext cx="5613477" cy="2519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51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074874" y="255850"/>
            <a:ext cx="8287128" cy="604049"/>
          </a:xfrm>
        </p:spPr>
        <p:txBody>
          <a:bodyPr>
            <a:normAutofit fontScale="90000"/>
          </a:bodyPr>
          <a:lstStyle/>
          <a:p>
            <a:r>
              <a:rPr lang="tr-TR" dirty="0" smtClean="0"/>
              <a:t>EXAMPLE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14318" y="923483"/>
            <a:ext cx="10915272" cy="3612184"/>
          </a:xfrm>
        </p:spPr>
        <p:txBody>
          <a:bodyPr>
            <a:noAutofit/>
          </a:bodyPr>
          <a:lstStyle/>
          <a:p>
            <a:r>
              <a:rPr lang="en-US" sz="2400" dirty="0"/>
              <a:t>The president of Ford Motor Company wants to know the equivalent future worth of a $1 </a:t>
            </a:r>
            <a:r>
              <a:rPr lang="en-US" sz="2400" dirty="0" smtClean="0"/>
              <a:t>million</a:t>
            </a:r>
            <a:r>
              <a:rPr lang="tr-TR" sz="2400" dirty="0" smtClean="0"/>
              <a:t> </a:t>
            </a:r>
            <a:r>
              <a:rPr lang="en-US" sz="2400" dirty="0" smtClean="0"/>
              <a:t>capital </a:t>
            </a:r>
            <a:r>
              <a:rPr lang="en-US" sz="2400" dirty="0"/>
              <a:t>investment each year for 8 years, starting 1 year from now. Ford capital earns at </a:t>
            </a:r>
            <a:r>
              <a:rPr lang="en-US" sz="2400" dirty="0" smtClean="0"/>
              <a:t>a</a:t>
            </a:r>
            <a:r>
              <a:rPr lang="tr-TR" sz="2400" dirty="0" smtClean="0"/>
              <a:t> </a:t>
            </a:r>
            <a:r>
              <a:rPr lang="en-US" sz="2400" dirty="0" smtClean="0"/>
              <a:t>rate </a:t>
            </a:r>
            <a:r>
              <a:rPr lang="en-US" sz="2400" dirty="0"/>
              <a:t>of 14% per year.</a:t>
            </a:r>
          </a:p>
          <a:p>
            <a:r>
              <a:rPr lang="en-US" sz="2400" b="1" dirty="0"/>
              <a:t>Solution</a:t>
            </a:r>
          </a:p>
          <a:p>
            <a:r>
              <a:rPr lang="en-US" sz="2400" dirty="0"/>
              <a:t>The cash flow diagram </a:t>
            </a:r>
            <a:r>
              <a:rPr lang="en-US" sz="2400" dirty="0" smtClean="0"/>
              <a:t>shows </a:t>
            </a:r>
            <a:r>
              <a:rPr lang="en-US" sz="2400" dirty="0"/>
              <a:t>the annual investments starting at the end of year </a:t>
            </a:r>
            <a:r>
              <a:rPr lang="en-US" sz="2400" dirty="0" smtClean="0"/>
              <a:t>1</a:t>
            </a:r>
            <a:r>
              <a:rPr lang="tr-TR" sz="2400" dirty="0" smtClean="0"/>
              <a:t> </a:t>
            </a:r>
            <a:r>
              <a:rPr lang="en-US" sz="2400" dirty="0" smtClean="0"/>
              <a:t>and </a:t>
            </a:r>
            <a:r>
              <a:rPr lang="en-US" sz="2400" dirty="0"/>
              <a:t>ending in the year the future worth is desired. In $1000 units, the </a:t>
            </a:r>
            <a:r>
              <a:rPr lang="en-US" sz="2400" i="1" dirty="0"/>
              <a:t>F </a:t>
            </a:r>
            <a:r>
              <a:rPr lang="en-US" sz="2400" dirty="0"/>
              <a:t>value in year 8 is </a:t>
            </a:r>
            <a:r>
              <a:rPr lang="en-US" sz="2400" dirty="0" smtClean="0"/>
              <a:t>found</a:t>
            </a:r>
            <a:r>
              <a:rPr lang="tr-TR" sz="2400" dirty="0" smtClean="0"/>
              <a:t> </a:t>
            </a:r>
            <a:r>
              <a:rPr lang="en-US" sz="2400" dirty="0" smtClean="0"/>
              <a:t>by </a:t>
            </a:r>
            <a:r>
              <a:rPr lang="en-US" sz="2400" dirty="0"/>
              <a:t>using the </a:t>
            </a:r>
            <a:r>
              <a:rPr lang="en-US" sz="2400" i="1" dirty="0"/>
              <a:t>F</a:t>
            </a:r>
            <a:r>
              <a:rPr lang="en-US" sz="2400" dirty="0"/>
              <a:t>∕</a:t>
            </a:r>
            <a:r>
              <a:rPr lang="en-US" sz="2400" i="1" dirty="0"/>
              <a:t>A </a:t>
            </a:r>
            <a:r>
              <a:rPr lang="en-US" sz="2400" dirty="0"/>
              <a:t>factor.</a:t>
            </a:r>
          </a:p>
          <a:p>
            <a:r>
              <a:rPr lang="en-US" sz="2400" i="1" dirty="0"/>
              <a:t>F </a:t>
            </a:r>
            <a:r>
              <a:rPr lang="en-US" sz="2400" dirty="0"/>
              <a:t>= 1000(</a:t>
            </a:r>
            <a:r>
              <a:rPr lang="en-US" sz="2400" i="1" dirty="0"/>
              <a:t>F</a:t>
            </a:r>
            <a:r>
              <a:rPr lang="en-US" sz="2400" dirty="0"/>
              <a:t>∕</a:t>
            </a:r>
            <a:r>
              <a:rPr lang="en-US" sz="2400" i="1" dirty="0"/>
              <a:t>A,</a:t>
            </a:r>
            <a:r>
              <a:rPr lang="en-US" sz="2400" dirty="0"/>
              <a:t>14%,8) = 1000(13.2328) = $13,232.80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631" y="4285465"/>
            <a:ext cx="5084006" cy="2363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22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086986" y="485965"/>
            <a:ext cx="8947192" cy="597993"/>
          </a:xfrm>
        </p:spPr>
        <p:txBody>
          <a:bodyPr>
            <a:normAutofit fontScale="90000"/>
          </a:bodyPr>
          <a:lstStyle/>
          <a:p>
            <a:r>
              <a:rPr lang="tr-TR" dirty="0" smtClean="0"/>
              <a:t>EXAMPLE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977983" y="1401877"/>
            <a:ext cx="10897105" cy="4762753"/>
          </a:xfrm>
        </p:spPr>
        <p:txBody>
          <a:bodyPr>
            <a:normAutofit/>
          </a:bodyPr>
          <a:lstStyle/>
          <a:p>
            <a:r>
              <a:rPr lang="tr-TR" sz="2400" dirty="0" err="1" smtClean="0"/>
              <a:t>Suppose</a:t>
            </a:r>
            <a:r>
              <a:rPr lang="tr-TR" sz="2400" dirty="0" smtClean="0"/>
              <a:t> </a:t>
            </a:r>
            <a:r>
              <a:rPr lang="en-US" sz="2400" dirty="0" smtClean="0"/>
              <a:t>HBNA projected</a:t>
            </a:r>
            <a:r>
              <a:rPr lang="tr-TR" sz="2400" dirty="0" smtClean="0"/>
              <a:t> </a:t>
            </a:r>
            <a:r>
              <a:rPr lang="tr-TR" sz="2400" dirty="0" err="1" smtClean="0"/>
              <a:t>that</a:t>
            </a:r>
            <a:r>
              <a:rPr lang="tr-TR" sz="2400" dirty="0" smtClean="0"/>
              <a:t> </a:t>
            </a:r>
            <a:r>
              <a:rPr lang="en-US" sz="2400" dirty="0" smtClean="0"/>
              <a:t>$</a:t>
            </a:r>
            <a:r>
              <a:rPr lang="en-US" sz="2400" dirty="0"/>
              <a:t>200 million investment can generate $50 million per year in revenue for 5 years </a:t>
            </a:r>
            <a:r>
              <a:rPr lang="en-US" sz="2400" dirty="0" smtClean="0"/>
              <a:t>starting</a:t>
            </a:r>
            <a:r>
              <a:rPr lang="tr-TR" sz="2400" dirty="0" smtClean="0"/>
              <a:t> </a:t>
            </a:r>
            <a:r>
              <a:rPr lang="en-US" sz="2400" dirty="0" smtClean="0"/>
              <a:t>1 </a:t>
            </a:r>
            <a:r>
              <a:rPr lang="en-US" sz="2400" dirty="0"/>
              <a:t>year after start-up. </a:t>
            </a:r>
            <a:r>
              <a:rPr lang="tr-TR" sz="2400" dirty="0" err="1" smtClean="0"/>
              <a:t>If</a:t>
            </a:r>
            <a:r>
              <a:rPr lang="en-US" sz="2400" dirty="0" smtClean="0"/>
              <a:t> </a:t>
            </a:r>
            <a:r>
              <a:rPr lang="en-US" sz="2400" dirty="0"/>
              <a:t>10% per year time value of money </a:t>
            </a:r>
            <a:r>
              <a:rPr lang="tr-TR" sz="2400" dirty="0" smtClean="0"/>
              <a:t>is </a:t>
            </a:r>
            <a:r>
              <a:rPr lang="tr-TR" sz="2400" dirty="0" err="1" smtClean="0"/>
              <a:t>given</a:t>
            </a:r>
            <a:r>
              <a:rPr lang="tr-TR" sz="2400" dirty="0" smtClean="0"/>
              <a:t>:</a:t>
            </a:r>
          </a:p>
          <a:p>
            <a:r>
              <a:rPr lang="en-US" sz="2400" dirty="0" smtClean="0"/>
              <a:t>(</a:t>
            </a:r>
            <a:r>
              <a:rPr lang="en-US" sz="2400" i="1" dirty="0"/>
              <a:t>a</a:t>
            </a:r>
            <a:r>
              <a:rPr lang="en-US" sz="2400" dirty="0"/>
              <a:t>) What is the equivalent future worth of the estimated revenues after 5 years at 10% per year?</a:t>
            </a:r>
          </a:p>
          <a:p>
            <a:r>
              <a:rPr lang="en-US" sz="2400" dirty="0"/>
              <a:t>(</a:t>
            </a:r>
            <a:r>
              <a:rPr lang="en-US" sz="2400" i="1" dirty="0"/>
              <a:t>b</a:t>
            </a:r>
            <a:r>
              <a:rPr lang="en-US" sz="2400" dirty="0"/>
              <a:t>) Assume that, due to the economic downturn, the president predicts that the </a:t>
            </a:r>
            <a:r>
              <a:rPr lang="en-US" sz="2400" dirty="0" smtClean="0"/>
              <a:t>Corporation</a:t>
            </a:r>
            <a:r>
              <a:rPr lang="tr-TR" sz="2400" dirty="0" smtClean="0"/>
              <a:t> </a:t>
            </a:r>
            <a:r>
              <a:rPr lang="en-US" sz="2400" dirty="0" smtClean="0"/>
              <a:t>will </a:t>
            </a:r>
            <a:r>
              <a:rPr lang="en-US" sz="2400" dirty="0"/>
              <a:t>earn only 4.5% per year on its money, not the previously anticipated 10% per </a:t>
            </a:r>
            <a:r>
              <a:rPr lang="en-US" sz="2400" dirty="0" smtClean="0"/>
              <a:t>year.</a:t>
            </a:r>
            <a:r>
              <a:rPr lang="tr-TR" sz="2400" dirty="0" smtClean="0"/>
              <a:t> </a:t>
            </a:r>
            <a:r>
              <a:rPr lang="en-US" sz="2400" dirty="0" smtClean="0"/>
              <a:t>What </a:t>
            </a:r>
            <a:r>
              <a:rPr lang="en-US" sz="2400" dirty="0"/>
              <a:t>is the required amount of the annual revenue series over the 5-year period to </a:t>
            </a:r>
            <a:r>
              <a:rPr lang="en-US" sz="2400" dirty="0" smtClean="0"/>
              <a:t>be</a:t>
            </a:r>
            <a:r>
              <a:rPr lang="tr-TR" sz="2400" dirty="0" smtClean="0"/>
              <a:t> </a:t>
            </a:r>
            <a:r>
              <a:rPr lang="en-US" sz="2400" dirty="0" smtClean="0"/>
              <a:t>economically</a:t>
            </a:r>
            <a:r>
              <a:rPr lang="tr-TR" sz="2400" dirty="0" smtClean="0"/>
              <a:t> </a:t>
            </a:r>
            <a:r>
              <a:rPr lang="en-US" sz="2400" dirty="0" smtClean="0"/>
              <a:t>equivalent </a:t>
            </a:r>
            <a:r>
              <a:rPr lang="en-US" sz="2400" dirty="0"/>
              <a:t>to the amount calculated in (</a:t>
            </a:r>
            <a:r>
              <a:rPr lang="en-US" sz="2400" i="1" dirty="0"/>
              <a:t>a</a:t>
            </a:r>
            <a:r>
              <a:rPr lang="en-US" sz="2400" dirty="0" smtClean="0"/>
              <a:t>)?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45046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23319" y="529868"/>
            <a:ext cx="10576157" cy="3569793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Solution</a:t>
            </a:r>
            <a:endParaRPr lang="tr-TR" sz="2400" b="1" dirty="0" smtClean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i="1" dirty="0" smtClean="0"/>
              <a:t>a</a:t>
            </a:r>
            <a:r>
              <a:rPr lang="en-US" sz="2400" dirty="0" smtClean="0"/>
              <a:t>)</a:t>
            </a:r>
            <a:r>
              <a:rPr lang="tr-TR" sz="2400" dirty="0" smtClean="0"/>
              <a:t> </a:t>
            </a:r>
            <a:r>
              <a:rPr lang="tr-TR" sz="2400" dirty="0" err="1" smtClean="0"/>
              <a:t>Find</a:t>
            </a:r>
            <a:r>
              <a:rPr lang="tr-TR" sz="2400" dirty="0" smtClean="0"/>
              <a:t> </a:t>
            </a:r>
            <a:r>
              <a:rPr lang="en-US" sz="2400" i="1" dirty="0" smtClean="0"/>
              <a:t>F</a:t>
            </a:r>
            <a:r>
              <a:rPr lang="en-US" sz="2400" dirty="0"/>
              <a:t>∕</a:t>
            </a:r>
            <a:r>
              <a:rPr lang="en-US" sz="2400" i="1" dirty="0"/>
              <a:t>A </a:t>
            </a:r>
            <a:r>
              <a:rPr lang="en-US" sz="2400" dirty="0" smtClean="0"/>
              <a:t>factor</a:t>
            </a:r>
            <a:r>
              <a:rPr lang="tr-TR" sz="2400" dirty="0" smtClean="0"/>
              <a:t>. </a:t>
            </a:r>
            <a:r>
              <a:rPr lang="tr-TR" sz="2400" i="1" dirty="0" smtClean="0"/>
              <a:t>P</a:t>
            </a:r>
            <a:r>
              <a:rPr lang="en-US" sz="2400" i="1" dirty="0" smtClean="0"/>
              <a:t> </a:t>
            </a:r>
            <a:r>
              <a:rPr lang="en-US" sz="2400" dirty="0"/>
              <a:t>= </a:t>
            </a:r>
            <a:r>
              <a:rPr lang="en-US" sz="2400" dirty="0" smtClean="0"/>
              <a:t>$</a:t>
            </a:r>
            <a:r>
              <a:rPr lang="tr-TR" sz="2400" dirty="0" smtClean="0"/>
              <a:t>20</a:t>
            </a:r>
            <a:r>
              <a:rPr lang="en-US" sz="2400" dirty="0" smtClean="0"/>
              <a:t>0 million</a:t>
            </a:r>
            <a:r>
              <a:rPr lang="tr-TR" sz="2400" dirty="0" smtClean="0"/>
              <a:t>,</a:t>
            </a:r>
            <a:r>
              <a:rPr lang="en-US" sz="2400" dirty="0" smtClean="0"/>
              <a:t> </a:t>
            </a:r>
            <a:r>
              <a:rPr lang="en-US" sz="2400" i="1" dirty="0" smtClean="0"/>
              <a:t>A </a:t>
            </a:r>
            <a:r>
              <a:rPr lang="en-US" sz="2400" dirty="0"/>
              <a:t>= $50 </a:t>
            </a:r>
            <a:r>
              <a:rPr lang="en-US" sz="2400" dirty="0" smtClean="0"/>
              <a:t>million</a:t>
            </a:r>
            <a:r>
              <a:rPr lang="tr-TR" sz="2400" dirty="0" smtClean="0"/>
              <a:t>, </a:t>
            </a:r>
            <a:r>
              <a:rPr lang="en-US" sz="2400" i="1" dirty="0"/>
              <a:t>n </a:t>
            </a:r>
            <a:r>
              <a:rPr lang="en-US" sz="2400" dirty="0"/>
              <a:t>= </a:t>
            </a:r>
            <a:r>
              <a:rPr lang="en-US" sz="2400" dirty="0" smtClean="0"/>
              <a:t>5</a:t>
            </a:r>
            <a:r>
              <a:rPr lang="tr-TR" sz="2400" dirty="0" smtClean="0"/>
              <a:t>, </a:t>
            </a:r>
            <a:r>
              <a:rPr lang="tr-TR" sz="2400" i="1" dirty="0" smtClean="0"/>
              <a:t>i</a:t>
            </a:r>
            <a:r>
              <a:rPr lang="en-US" sz="2400" i="1" dirty="0" smtClean="0"/>
              <a:t> </a:t>
            </a:r>
            <a:r>
              <a:rPr lang="en-US" sz="2400" dirty="0"/>
              <a:t>= </a:t>
            </a:r>
            <a:r>
              <a:rPr lang="tr-TR" sz="2400" dirty="0" smtClean="0"/>
              <a:t>0.1</a:t>
            </a:r>
          </a:p>
          <a:p>
            <a:pPr marL="0" indent="0">
              <a:buNone/>
            </a:pPr>
            <a:r>
              <a:rPr lang="tr-TR" sz="2400" i="1" dirty="0" smtClean="0"/>
              <a:t>                   </a:t>
            </a:r>
            <a:r>
              <a:rPr lang="en-US" sz="2400" i="1" dirty="0" smtClean="0"/>
              <a:t>F </a:t>
            </a:r>
            <a:r>
              <a:rPr lang="en-US" sz="2400" dirty="0"/>
              <a:t>= 50(</a:t>
            </a:r>
            <a:r>
              <a:rPr lang="en-US" sz="2400" i="1" dirty="0"/>
              <a:t>F</a:t>
            </a:r>
            <a:r>
              <a:rPr lang="en-US" sz="2400" dirty="0"/>
              <a:t>∕</a:t>
            </a:r>
            <a:r>
              <a:rPr lang="en-US" sz="2400" i="1" dirty="0"/>
              <a:t>A</a:t>
            </a:r>
            <a:r>
              <a:rPr lang="en-US" sz="2400" dirty="0"/>
              <a:t>,10%,5) = 50(6.1051)</a:t>
            </a:r>
          </a:p>
          <a:p>
            <a:pPr marL="0" indent="0">
              <a:buNone/>
            </a:pPr>
            <a:r>
              <a:rPr lang="tr-TR" sz="2400" dirty="0" smtClean="0"/>
              <a:t>                     </a:t>
            </a:r>
            <a:r>
              <a:rPr lang="en-US" sz="2400" dirty="0" smtClean="0"/>
              <a:t>= </a:t>
            </a:r>
            <a:r>
              <a:rPr lang="en-US" sz="2400" dirty="0"/>
              <a:t>$</a:t>
            </a:r>
            <a:r>
              <a:rPr lang="en-US" sz="2400" dirty="0" smtClean="0"/>
              <a:t>305.255</a:t>
            </a:r>
            <a:endParaRPr lang="tr-TR" sz="2400" dirty="0" smtClean="0"/>
          </a:p>
          <a:p>
            <a:endParaRPr lang="tr-TR" sz="2400" dirty="0" smtClean="0"/>
          </a:p>
          <a:p>
            <a:pPr marL="0" indent="0">
              <a:buNone/>
            </a:pPr>
            <a:r>
              <a:rPr lang="en-US" sz="2400" dirty="0" smtClean="0"/>
              <a:t>(</a:t>
            </a:r>
            <a:r>
              <a:rPr lang="tr-TR" sz="2400" i="1" dirty="0" smtClean="0"/>
              <a:t>b</a:t>
            </a:r>
            <a:r>
              <a:rPr lang="en-US" sz="2400" dirty="0" smtClean="0"/>
              <a:t>)</a:t>
            </a:r>
            <a:r>
              <a:rPr lang="tr-TR" sz="2400" dirty="0" smtClean="0"/>
              <a:t> </a:t>
            </a:r>
            <a:r>
              <a:rPr lang="en-US" sz="2400" dirty="0" smtClean="0"/>
              <a:t>The </a:t>
            </a:r>
            <a:r>
              <a:rPr lang="en-US" sz="2400" i="1" dirty="0"/>
              <a:t>A</a:t>
            </a:r>
            <a:r>
              <a:rPr lang="en-US" sz="2400" dirty="0"/>
              <a:t>∕</a:t>
            </a:r>
            <a:r>
              <a:rPr lang="en-US" sz="2400" i="1" dirty="0"/>
              <a:t>F </a:t>
            </a:r>
            <a:r>
              <a:rPr lang="en-US" sz="2400" dirty="0"/>
              <a:t>factor will determine the required </a:t>
            </a:r>
            <a:r>
              <a:rPr lang="en-US" sz="2400" i="1" dirty="0"/>
              <a:t>A </a:t>
            </a:r>
            <a:r>
              <a:rPr lang="en-US" sz="2400" dirty="0"/>
              <a:t>for 5 years</a:t>
            </a:r>
            <a:r>
              <a:rPr lang="en-US" sz="2400" dirty="0" smtClean="0"/>
              <a:t>.</a:t>
            </a:r>
            <a:r>
              <a:rPr lang="tr-TR" sz="2400" dirty="0" smtClean="0"/>
              <a:t> </a:t>
            </a:r>
            <a:r>
              <a:rPr lang="tr-TR" sz="2400" i="1" dirty="0"/>
              <a:t>i</a:t>
            </a:r>
            <a:r>
              <a:rPr lang="en-US" sz="2400" i="1" dirty="0"/>
              <a:t> </a:t>
            </a:r>
            <a:r>
              <a:rPr lang="en-US" sz="2400" dirty="0"/>
              <a:t>= </a:t>
            </a:r>
            <a:r>
              <a:rPr lang="tr-TR" sz="2400" dirty="0" smtClean="0"/>
              <a:t>0.045</a:t>
            </a:r>
            <a:r>
              <a:rPr lang="en-US" sz="2400" dirty="0" smtClean="0"/>
              <a:t> </a:t>
            </a:r>
            <a:endParaRPr lang="tr-TR" sz="2400" dirty="0" smtClean="0"/>
          </a:p>
          <a:p>
            <a:endParaRPr lang="tr-TR" sz="2400" dirty="0" smtClean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177" y="4438777"/>
            <a:ext cx="9907603" cy="1096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924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929538" y="274018"/>
            <a:ext cx="10703325" cy="846274"/>
          </a:xfrm>
        </p:spPr>
        <p:txBody>
          <a:bodyPr anchor="ctr">
            <a:normAutofit fontScale="90000"/>
          </a:bodyPr>
          <a:lstStyle/>
          <a:p>
            <a:r>
              <a:rPr lang="en-US" b="1" dirty="0"/>
              <a:t>Arithmetic Gradient Factors (P∕G and A∕G)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47541" y="1202043"/>
            <a:ext cx="10703325" cy="2340500"/>
          </a:xfrm>
        </p:spPr>
        <p:txBody>
          <a:bodyPr>
            <a:normAutofit/>
          </a:bodyPr>
          <a:lstStyle/>
          <a:p>
            <a:r>
              <a:rPr lang="en-US" sz="2400" dirty="0"/>
              <a:t>An </a:t>
            </a:r>
            <a:r>
              <a:rPr lang="en-US" sz="2400" dirty="0">
                <a:solidFill>
                  <a:srgbClr val="00B0F0"/>
                </a:solidFill>
              </a:rPr>
              <a:t>arithmetic gradient </a:t>
            </a:r>
            <a:r>
              <a:rPr lang="en-US" sz="2400" dirty="0"/>
              <a:t>is a cash flow that either increases </a:t>
            </a:r>
            <a:r>
              <a:rPr lang="en-US" sz="2400" dirty="0" smtClean="0"/>
              <a:t>or</a:t>
            </a:r>
            <a:r>
              <a:rPr lang="tr-TR" sz="2400" dirty="0" smtClean="0"/>
              <a:t> </a:t>
            </a:r>
            <a:r>
              <a:rPr lang="en-US" sz="2400" dirty="0" smtClean="0"/>
              <a:t>decreases </a:t>
            </a:r>
            <a:r>
              <a:rPr lang="en-US" sz="2400" dirty="0"/>
              <a:t>by a constant amount.</a:t>
            </a:r>
          </a:p>
          <a:p>
            <a:r>
              <a:rPr lang="en-US" sz="2400" dirty="0"/>
              <a:t>The cash flow, changes by the same amount each period.</a:t>
            </a:r>
          </a:p>
          <a:p>
            <a:r>
              <a:rPr lang="en-US" sz="2400" dirty="0"/>
              <a:t>The amount of decrease or the increase is the </a:t>
            </a:r>
            <a:r>
              <a:rPr lang="en-US" sz="2400" dirty="0">
                <a:solidFill>
                  <a:srgbClr val="00B0F0"/>
                </a:solidFill>
              </a:rPr>
              <a:t>gradien</a:t>
            </a:r>
            <a:r>
              <a:rPr lang="en-US" sz="2400" dirty="0"/>
              <a:t>t or </a:t>
            </a:r>
            <a:r>
              <a:rPr lang="en-US" sz="2400" i="1" dirty="0">
                <a:solidFill>
                  <a:srgbClr val="00B0F0"/>
                </a:solidFill>
              </a:rPr>
              <a:t>G</a:t>
            </a:r>
            <a:r>
              <a:rPr lang="en-US" sz="2400" dirty="0"/>
              <a:t>.</a:t>
            </a:r>
          </a:p>
          <a:p>
            <a:r>
              <a:rPr lang="en-US" sz="2400" dirty="0"/>
              <a:t>Therefore, it is composed of base amount and gradient part.</a:t>
            </a:r>
          </a:p>
        </p:txBody>
      </p:sp>
    </p:spTree>
    <p:extLst>
      <p:ext uri="{BB962C8B-B14F-4D97-AF65-F5344CB8AC3E}">
        <p14:creationId xmlns:p14="http://schemas.microsoft.com/office/powerpoint/2010/main" val="1051567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80929" y="366365"/>
            <a:ext cx="10751770" cy="6022323"/>
          </a:xfrm>
        </p:spPr>
        <p:txBody>
          <a:bodyPr>
            <a:normAutofit/>
          </a:bodyPr>
          <a:lstStyle/>
          <a:p>
            <a:r>
              <a:rPr lang="en-US" sz="2400" dirty="0"/>
              <a:t>Formulas previously developed for an </a:t>
            </a:r>
            <a:r>
              <a:rPr lang="en-US" sz="2400" i="1" dirty="0"/>
              <a:t>A </a:t>
            </a:r>
            <a:r>
              <a:rPr lang="en-US" sz="2400" dirty="0"/>
              <a:t>series have year-end amounts of equal value. </a:t>
            </a:r>
            <a:endParaRPr lang="tr-TR" sz="2400" dirty="0" smtClean="0"/>
          </a:p>
          <a:p>
            <a:r>
              <a:rPr lang="en-US" sz="2400" dirty="0" smtClean="0"/>
              <a:t>In the</a:t>
            </a:r>
            <a:r>
              <a:rPr lang="tr-TR" sz="2400" dirty="0" smtClean="0"/>
              <a:t> </a:t>
            </a:r>
            <a:r>
              <a:rPr lang="en-US" sz="2400" dirty="0" smtClean="0"/>
              <a:t>case </a:t>
            </a:r>
            <a:r>
              <a:rPr lang="en-US" sz="2400" dirty="0"/>
              <a:t>of a gradient, each year-end cash flow is different, so new formulas must be derived. </a:t>
            </a:r>
            <a:endParaRPr lang="tr-TR" sz="2400" dirty="0" smtClean="0"/>
          </a:p>
          <a:p>
            <a:r>
              <a:rPr lang="en-US" sz="2400" dirty="0" smtClean="0"/>
              <a:t>First,</a:t>
            </a:r>
            <a:r>
              <a:rPr lang="tr-TR" sz="2400" dirty="0" smtClean="0"/>
              <a:t> </a:t>
            </a:r>
            <a:r>
              <a:rPr lang="en-US" sz="2400" dirty="0" smtClean="0"/>
              <a:t>assume </a:t>
            </a:r>
            <a:r>
              <a:rPr lang="en-US" sz="2400" dirty="0"/>
              <a:t>that the cash flow at the end of year 1 is the </a:t>
            </a:r>
            <a:r>
              <a:rPr lang="en-US" sz="2400" b="1" dirty="0"/>
              <a:t>base amount </a:t>
            </a:r>
            <a:r>
              <a:rPr lang="en-US" sz="2400" dirty="0"/>
              <a:t>of the cash flow series </a:t>
            </a:r>
            <a:r>
              <a:rPr lang="en-US" sz="2400" dirty="0" smtClean="0"/>
              <a:t>and,</a:t>
            </a:r>
            <a:r>
              <a:rPr lang="tr-TR" sz="2400" dirty="0" smtClean="0"/>
              <a:t> </a:t>
            </a:r>
            <a:r>
              <a:rPr lang="en-US" sz="2400" dirty="0" smtClean="0"/>
              <a:t>therefore</a:t>
            </a:r>
            <a:r>
              <a:rPr lang="en-US" sz="2400" dirty="0"/>
              <a:t>, not part of the gradient series. </a:t>
            </a:r>
            <a:endParaRPr lang="tr-TR" sz="2400" dirty="0" smtClean="0"/>
          </a:p>
          <a:p>
            <a:r>
              <a:rPr lang="en-US" sz="2400" dirty="0" smtClean="0"/>
              <a:t>This </a:t>
            </a:r>
            <a:r>
              <a:rPr lang="en-US" sz="2400" dirty="0"/>
              <a:t>is convenient because in actual applications, </a:t>
            </a:r>
            <a:r>
              <a:rPr lang="en-US" sz="2400" dirty="0" smtClean="0"/>
              <a:t>the</a:t>
            </a:r>
            <a:r>
              <a:rPr lang="tr-TR" sz="2400" dirty="0" smtClean="0"/>
              <a:t> </a:t>
            </a:r>
            <a:r>
              <a:rPr lang="en-US" sz="2400" dirty="0" smtClean="0"/>
              <a:t>base </a:t>
            </a:r>
            <a:r>
              <a:rPr lang="en-US" sz="2400" dirty="0"/>
              <a:t>amount is usually significantly different in size compared to the gradient. </a:t>
            </a:r>
            <a:endParaRPr lang="tr-TR" sz="2400" dirty="0" smtClean="0"/>
          </a:p>
          <a:p>
            <a:r>
              <a:rPr lang="en-US" sz="2400" dirty="0" smtClean="0"/>
              <a:t>For </a:t>
            </a:r>
            <a:r>
              <a:rPr lang="en-US" sz="2400" dirty="0"/>
              <a:t>example, </a:t>
            </a:r>
            <a:r>
              <a:rPr lang="en-US" sz="2400" dirty="0" smtClean="0"/>
              <a:t>if</a:t>
            </a:r>
            <a:r>
              <a:rPr lang="tr-TR" sz="2400" dirty="0" smtClean="0"/>
              <a:t> </a:t>
            </a:r>
            <a:r>
              <a:rPr lang="en-US" sz="2400" dirty="0" smtClean="0"/>
              <a:t>you </a:t>
            </a:r>
            <a:r>
              <a:rPr lang="en-US" sz="2400" dirty="0"/>
              <a:t>purchase a used car with a 1-year warranty, you might expect to pay the gasoline and </a:t>
            </a:r>
            <a:r>
              <a:rPr lang="en-US" sz="2400" dirty="0" smtClean="0"/>
              <a:t>insurance</a:t>
            </a:r>
            <a:r>
              <a:rPr lang="tr-TR" sz="2400" dirty="0" smtClean="0"/>
              <a:t> </a:t>
            </a:r>
            <a:r>
              <a:rPr lang="en-US" sz="2400" dirty="0" smtClean="0"/>
              <a:t>costs </a:t>
            </a:r>
            <a:r>
              <a:rPr lang="en-US" sz="2400" dirty="0"/>
              <a:t>during the first year of operation. </a:t>
            </a:r>
            <a:endParaRPr lang="tr-TR" sz="2400" dirty="0" smtClean="0"/>
          </a:p>
          <a:p>
            <a:r>
              <a:rPr lang="en-US" sz="2400" dirty="0" smtClean="0"/>
              <a:t>Assume </a:t>
            </a:r>
            <a:r>
              <a:rPr lang="en-US" sz="2400" dirty="0"/>
              <a:t>these cost $2500; that is, $2500 is the </a:t>
            </a:r>
            <a:r>
              <a:rPr lang="en-US" sz="2400" dirty="0" smtClean="0"/>
              <a:t>base</a:t>
            </a:r>
            <a:r>
              <a:rPr lang="tr-TR" sz="2400" dirty="0" smtClean="0"/>
              <a:t> </a:t>
            </a:r>
            <a:r>
              <a:rPr lang="en-US" sz="2400" dirty="0" smtClean="0"/>
              <a:t>amount</a:t>
            </a:r>
            <a:r>
              <a:rPr lang="en-US" sz="2400" dirty="0"/>
              <a:t>. </a:t>
            </a:r>
            <a:endParaRPr lang="tr-TR" sz="2400" dirty="0" smtClean="0"/>
          </a:p>
          <a:p>
            <a:r>
              <a:rPr lang="en-US" sz="2400" dirty="0" smtClean="0"/>
              <a:t>After </a:t>
            </a:r>
            <a:r>
              <a:rPr lang="en-US" sz="2400" dirty="0"/>
              <a:t>the first year, you absorb the cost of repairs, which can be expected to </a:t>
            </a:r>
            <a:r>
              <a:rPr lang="en-US" sz="2400" dirty="0" smtClean="0"/>
              <a:t>increase</a:t>
            </a:r>
            <a:r>
              <a:rPr lang="tr-TR" sz="2400" dirty="0" smtClean="0"/>
              <a:t> </a:t>
            </a:r>
            <a:r>
              <a:rPr lang="en-US" sz="2400" dirty="0"/>
              <a:t>each year. </a:t>
            </a:r>
            <a:endParaRPr lang="tr-TR" sz="2400" dirty="0" smtClean="0"/>
          </a:p>
        </p:txBody>
      </p:sp>
    </p:spTree>
    <p:extLst>
      <p:ext uri="{BB962C8B-B14F-4D97-AF65-F5344CB8AC3E}">
        <p14:creationId xmlns:p14="http://schemas.microsoft.com/office/powerpoint/2010/main" val="4028775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99259" y="390588"/>
            <a:ext cx="10860771" cy="2631171"/>
          </a:xfrm>
        </p:spPr>
        <p:txBody>
          <a:bodyPr>
            <a:normAutofit/>
          </a:bodyPr>
          <a:lstStyle/>
          <a:p>
            <a:r>
              <a:rPr lang="en-US" sz="2400" dirty="0"/>
              <a:t>If you estimate that total costs will increase by $200 each year, the amount the second</a:t>
            </a:r>
            <a:r>
              <a:rPr lang="tr-TR" sz="2400" dirty="0"/>
              <a:t> </a:t>
            </a:r>
            <a:r>
              <a:rPr lang="en-US" sz="2400" dirty="0"/>
              <a:t>year is $2700, the third $2900, and so on to year </a:t>
            </a:r>
            <a:r>
              <a:rPr lang="en-US" sz="2400" i="1" dirty="0"/>
              <a:t>n</a:t>
            </a:r>
            <a:r>
              <a:rPr lang="en-US" sz="2400" dirty="0"/>
              <a:t>, when the total cost is 2500 + (</a:t>
            </a:r>
            <a:r>
              <a:rPr lang="en-US" sz="2400" i="1" dirty="0"/>
              <a:t>n </a:t>
            </a:r>
            <a:r>
              <a:rPr lang="en-US" sz="2400" dirty="0"/>
              <a:t>− 1)200. </a:t>
            </a:r>
            <a:endParaRPr lang="tr-TR" sz="2400" dirty="0" smtClean="0"/>
          </a:p>
          <a:p>
            <a:r>
              <a:rPr lang="en-US" sz="2400" dirty="0" smtClean="0"/>
              <a:t>The</a:t>
            </a:r>
            <a:r>
              <a:rPr lang="tr-TR" sz="2400" dirty="0" smtClean="0"/>
              <a:t> </a:t>
            </a:r>
            <a:r>
              <a:rPr lang="en-US" sz="2400" dirty="0"/>
              <a:t>cash flow diagram is shown in </a:t>
            </a:r>
            <a:r>
              <a:rPr lang="tr-TR" sz="2400" dirty="0" err="1" smtClean="0"/>
              <a:t>the</a:t>
            </a:r>
            <a:r>
              <a:rPr lang="tr-TR" sz="2400" dirty="0" smtClean="0"/>
              <a:t> </a:t>
            </a:r>
            <a:r>
              <a:rPr lang="en-US" sz="2400" dirty="0" smtClean="0"/>
              <a:t>Figure. </a:t>
            </a:r>
            <a:endParaRPr lang="tr-TR" sz="2400" dirty="0" smtClean="0"/>
          </a:p>
          <a:p>
            <a:r>
              <a:rPr lang="en-US" sz="2400" dirty="0" smtClean="0"/>
              <a:t>Note </a:t>
            </a:r>
            <a:r>
              <a:rPr lang="en-US" sz="2400" dirty="0"/>
              <a:t>that the gradient ($200) is first observed between</a:t>
            </a:r>
            <a:r>
              <a:rPr lang="tr-TR" sz="2400" dirty="0"/>
              <a:t> </a:t>
            </a:r>
            <a:r>
              <a:rPr lang="en-US" sz="2400" dirty="0"/>
              <a:t>year 1 and year 2, and the base amount ($2500 in year 1) is not equal to the gradient.</a:t>
            </a:r>
          </a:p>
          <a:p>
            <a:endParaRPr lang="en-US" sz="24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451" y="3021759"/>
            <a:ext cx="7444386" cy="3600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326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90268" y="4168520"/>
            <a:ext cx="11017210" cy="2027324"/>
          </a:xfrm>
        </p:spPr>
        <p:txBody>
          <a:bodyPr>
            <a:normAutofit/>
          </a:bodyPr>
          <a:lstStyle/>
          <a:p>
            <a:r>
              <a:rPr lang="en-US" sz="2400" dirty="0"/>
              <a:t>It is important to realize that the base amount defines a uniform cash flow series of the size </a:t>
            </a:r>
            <a:r>
              <a:rPr lang="en-US" sz="2400" i="1" dirty="0"/>
              <a:t>A </a:t>
            </a:r>
            <a:r>
              <a:rPr lang="en-US" sz="2400" dirty="0" smtClean="0"/>
              <a:t>that</a:t>
            </a:r>
            <a:r>
              <a:rPr lang="tr-TR" sz="2400" dirty="0" smtClean="0"/>
              <a:t> </a:t>
            </a:r>
            <a:r>
              <a:rPr lang="en-US" sz="2400" dirty="0" smtClean="0"/>
              <a:t>occurs </a:t>
            </a:r>
            <a:r>
              <a:rPr lang="en-US" sz="2400" dirty="0"/>
              <a:t>each time period. </a:t>
            </a:r>
            <a:endParaRPr lang="tr-TR" sz="2400" dirty="0" smtClean="0"/>
          </a:p>
          <a:p>
            <a:r>
              <a:rPr lang="en-US" sz="2400" dirty="0" smtClean="0"/>
              <a:t>We </a:t>
            </a:r>
            <a:r>
              <a:rPr lang="en-US" sz="2400" dirty="0"/>
              <a:t>will use this fact when calculating equivalent amounts that </a:t>
            </a:r>
            <a:r>
              <a:rPr lang="en-US" sz="2400" dirty="0" smtClean="0"/>
              <a:t>involve</a:t>
            </a:r>
            <a:r>
              <a:rPr lang="tr-TR" sz="2400" dirty="0" smtClean="0"/>
              <a:t> </a:t>
            </a:r>
            <a:r>
              <a:rPr lang="en-US" sz="2400" dirty="0" smtClean="0"/>
              <a:t>arithmetic </a:t>
            </a:r>
            <a:r>
              <a:rPr lang="en-US" sz="2400" dirty="0"/>
              <a:t>gradients. </a:t>
            </a:r>
          </a:p>
        </p:txBody>
      </p:sp>
      <p:sp>
        <p:nvSpPr>
          <p:cNvPr id="4" name="İçerik Yer Tutucusu 2"/>
          <p:cNvSpPr txBox="1">
            <a:spLocks/>
          </p:cNvSpPr>
          <p:nvPr/>
        </p:nvSpPr>
        <p:spPr>
          <a:xfrm>
            <a:off x="1000186" y="760617"/>
            <a:ext cx="10727547" cy="1862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Define</a:t>
            </a:r>
            <a:r>
              <a:rPr lang="tr-TR" sz="2400" dirty="0" smtClean="0"/>
              <a:t> </a:t>
            </a:r>
            <a:r>
              <a:rPr lang="en-US" sz="2400" dirty="0" smtClean="0"/>
              <a:t>the symbols </a:t>
            </a:r>
            <a:r>
              <a:rPr lang="en-US" sz="2400" i="1" dirty="0" smtClean="0"/>
              <a:t>G </a:t>
            </a:r>
            <a:r>
              <a:rPr lang="en-US" sz="2400" dirty="0" smtClean="0"/>
              <a:t>for gradient and </a:t>
            </a:r>
            <a:r>
              <a:rPr lang="en-US" sz="2400" i="1" dirty="0" err="1" smtClean="0"/>
              <a:t>CFn</a:t>
            </a:r>
            <a:r>
              <a:rPr lang="en-US" sz="2400" i="1" dirty="0" smtClean="0"/>
              <a:t> </a:t>
            </a:r>
            <a:r>
              <a:rPr lang="en-US" sz="2400" dirty="0" smtClean="0"/>
              <a:t>for cash flow in year </a:t>
            </a:r>
            <a:r>
              <a:rPr lang="en-US" sz="2400" i="1" dirty="0" smtClean="0"/>
              <a:t>n </a:t>
            </a:r>
            <a:r>
              <a:rPr lang="en-US" sz="2400" dirty="0" smtClean="0"/>
              <a:t>as follows</a:t>
            </a:r>
            <a:r>
              <a:rPr lang="tr-TR" sz="2400" dirty="0" smtClean="0"/>
              <a:t>:</a:t>
            </a:r>
          </a:p>
          <a:p>
            <a:r>
              <a:rPr lang="en-US" sz="2400" i="1" dirty="0" smtClean="0"/>
              <a:t>G </a:t>
            </a:r>
            <a:r>
              <a:rPr lang="en-US" sz="2400" dirty="0" smtClean="0"/>
              <a:t>= constant arithmetic change in cash flows from one time period to the next; </a:t>
            </a:r>
            <a:r>
              <a:rPr lang="en-US" sz="2400" i="1" dirty="0" smtClean="0"/>
              <a:t>G </a:t>
            </a:r>
            <a:r>
              <a:rPr lang="en-US" sz="2400" dirty="0" smtClean="0"/>
              <a:t>may be positive</a:t>
            </a:r>
            <a:r>
              <a:rPr lang="tr-TR" sz="2400" dirty="0" smtClean="0"/>
              <a:t> </a:t>
            </a:r>
            <a:r>
              <a:rPr lang="en-US" sz="2400" dirty="0" smtClean="0"/>
              <a:t>or negative.</a:t>
            </a:r>
            <a:endParaRPr lang="en-US" sz="2400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825" y="2852001"/>
            <a:ext cx="5301206" cy="78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716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44594" y="493534"/>
            <a:ext cx="10648826" cy="1050651"/>
          </a:xfrm>
        </p:spPr>
        <p:txBody>
          <a:bodyPr>
            <a:normAutofit/>
          </a:bodyPr>
          <a:lstStyle/>
          <a:p>
            <a:r>
              <a:rPr lang="en-US" sz="2400" dirty="0"/>
              <a:t>If the base amount is ignored, a generalized arithmetic (increasing) gradient</a:t>
            </a:r>
            <a:r>
              <a:rPr lang="tr-TR" sz="2400" dirty="0"/>
              <a:t> </a:t>
            </a:r>
            <a:r>
              <a:rPr lang="en-US" sz="2400" dirty="0"/>
              <a:t>cash flow diagram is as shown </a:t>
            </a:r>
            <a:r>
              <a:rPr lang="tr-TR" sz="2400" dirty="0"/>
              <a:t>as</a:t>
            </a:r>
            <a:r>
              <a:rPr lang="tr-TR" sz="2400" dirty="0" smtClean="0"/>
              <a:t>:</a:t>
            </a:r>
            <a:endParaRPr lang="en-US" sz="24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125" y="1840215"/>
            <a:ext cx="7577610" cy="3149211"/>
          </a:xfrm>
          <a:prstGeom prst="rect">
            <a:avLst/>
          </a:prstGeom>
        </p:spPr>
      </p:pic>
      <p:sp>
        <p:nvSpPr>
          <p:cNvPr id="5" name="İçerik Yer Tutucusu 2"/>
          <p:cNvSpPr txBox="1">
            <a:spLocks/>
          </p:cNvSpPr>
          <p:nvPr/>
        </p:nvSpPr>
        <p:spPr>
          <a:xfrm>
            <a:off x="1124326" y="5607102"/>
            <a:ext cx="10799208" cy="884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Note that the gradient begins between years 1</a:t>
            </a:r>
            <a:r>
              <a:rPr lang="tr-TR" sz="2400" dirty="0" smtClean="0"/>
              <a:t> </a:t>
            </a:r>
            <a:r>
              <a:rPr lang="en-US" sz="2400" dirty="0" smtClean="0"/>
              <a:t>and 2. This is called a </a:t>
            </a:r>
            <a:r>
              <a:rPr lang="en-US" sz="2400" b="1" dirty="0" smtClean="0"/>
              <a:t>conventional gradient.</a:t>
            </a:r>
            <a:endParaRPr lang="en-US" sz="2400" dirty="0" smtClean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96449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953760" y="492020"/>
            <a:ext cx="9207584" cy="604049"/>
          </a:xfrm>
        </p:spPr>
        <p:txBody>
          <a:bodyPr>
            <a:normAutofit fontScale="90000"/>
          </a:bodyPr>
          <a:lstStyle/>
          <a:p>
            <a:r>
              <a:rPr lang="tr-TR" dirty="0" smtClean="0"/>
              <a:t>EXAMPLE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953760" y="1601712"/>
            <a:ext cx="10933440" cy="2564561"/>
          </a:xfrm>
        </p:spPr>
        <p:txBody>
          <a:bodyPr>
            <a:normAutofit/>
          </a:bodyPr>
          <a:lstStyle/>
          <a:p>
            <a:r>
              <a:rPr lang="en-US" sz="2400" dirty="0"/>
              <a:t>A local university has initiated a logo-licensing program with the clothier </a:t>
            </a:r>
            <a:r>
              <a:rPr lang="en-US" sz="2400" dirty="0" err="1"/>
              <a:t>Holister</a:t>
            </a:r>
            <a:r>
              <a:rPr lang="en-US" sz="2400" dirty="0"/>
              <a:t>, Inc. </a:t>
            </a:r>
            <a:r>
              <a:rPr lang="en-US" sz="2400" dirty="0" smtClean="0"/>
              <a:t>Estimated</a:t>
            </a:r>
            <a:r>
              <a:rPr lang="tr-TR" sz="2400" dirty="0" smtClean="0"/>
              <a:t> </a:t>
            </a:r>
            <a:r>
              <a:rPr lang="en-US" sz="2400" dirty="0" smtClean="0"/>
              <a:t>fees </a:t>
            </a:r>
            <a:r>
              <a:rPr lang="en-US" sz="2400" dirty="0"/>
              <a:t>(revenues) are $80,000 for the first year with uniform increases to a total of $</a:t>
            </a:r>
            <a:r>
              <a:rPr lang="en-US" sz="2400" dirty="0" smtClean="0"/>
              <a:t>200,000</a:t>
            </a:r>
            <a:r>
              <a:rPr lang="tr-TR" sz="2400" dirty="0" smtClean="0"/>
              <a:t> </a:t>
            </a:r>
            <a:r>
              <a:rPr lang="en-US" sz="2400" dirty="0" smtClean="0"/>
              <a:t>by </a:t>
            </a:r>
            <a:r>
              <a:rPr lang="en-US" sz="2400" dirty="0"/>
              <a:t>the end of year 9. </a:t>
            </a:r>
            <a:endParaRPr lang="tr-TR" sz="2400" dirty="0" smtClean="0"/>
          </a:p>
          <a:p>
            <a:r>
              <a:rPr lang="en-US" sz="2400" dirty="0" smtClean="0"/>
              <a:t>Determine </a:t>
            </a:r>
            <a:r>
              <a:rPr lang="en-US" sz="2400" dirty="0"/>
              <a:t>the gradient and construct a cash flow diagram that </a:t>
            </a:r>
            <a:r>
              <a:rPr lang="en-US" sz="2400" dirty="0" smtClean="0"/>
              <a:t>identifies</a:t>
            </a:r>
            <a:r>
              <a:rPr lang="tr-TR" sz="2400" dirty="0" smtClean="0"/>
              <a:t> </a:t>
            </a:r>
            <a:r>
              <a:rPr lang="en-US" sz="2400" dirty="0" smtClean="0"/>
              <a:t>the </a:t>
            </a:r>
            <a:r>
              <a:rPr lang="en-US" sz="2400" dirty="0"/>
              <a:t>base amount and the gradient series.</a:t>
            </a:r>
          </a:p>
        </p:txBody>
      </p:sp>
    </p:spTree>
    <p:extLst>
      <p:ext uri="{BB962C8B-B14F-4D97-AF65-F5344CB8AC3E}">
        <p14:creationId xmlns:p14="http://schemas.microsoft.com/office/powerpoint/2010/main" val="82507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875" y="575286"/>
            <a:ext cx="10640397" cy="446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91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329209" y="5250231"/>
            <a:ext cx="10503489" cy="1253516"/>
          </a:xfrm>
        </p:spPr>
        <p:txBody>
          <a:bodyPr>
            <a:normAutofit/>
          </a:bodyPr>
          <a:lstStyle/>
          <a:p>
            <a:r>
              <a:rPr lang="en-US" sz="2400" dirty="0"/>
              <a:t>The cash flow </a:t>
            </a:r>
            <a:r>
              <a:rPr lang="en-US" sz="2400" dirty="0" smtClean="0"/>
              <a:t>diagram </a:t>
            </a:r>
            <a:r>
              <a:rPr lang="en-US" sz="2400" dirty="0"/>
              <a:t>shows the base amount of $80,000 in years 1 through </a:t>
            </a:r>
            <a:r>
              <a:rPr lang="en-US" sz="2400" dirty="0" smtClean="0"/>
              <a:t>9</a:t>
            </a:r>
            <a:r>
              <a:rPr lang="tr-TR" sz="2400" dirty="0" smtClean="0"/>
              <a:t> </a:t>
            </a:r>
            <a:r>
              <a:rPr lang="en-US" sz="2400" dirty="0" smtClean="0"/>
              <a:t>and </a:t>
            </a:r>
            <a:r>
              <a:rPr lang="en-US" sz="2400" dirty="0"/>
              <a:t>the $15,000 gradient starting in year 2 and continuing through year 9.</a:t>
            </a:r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035" y="308612"/>
            <a:ext cx="9681788" cy="442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190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68982" y="281586"/>
            <a:ext cx="11175664" cy="6300883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The </a:t>
            </a:r>
            <a:r>
              <a:rPr lang="en-US" sz="2400" b="1" dirty="0"/>
              <a:t>total present worth </a:t>
            </a:r>
            <a:r>
              <a:rPr lang="en-US" sz="2400" b="1" i="1" dirty="0"/>
              <a:t>P</a:t>
            </a:r>
            <a:r>
              <a:rPr lang="en-US" sz="2400" i="1" dirty="0"/>
              <a:t>T </a:t>
            </a:r>
            <a:r>
              <a:rPr lang="en-US" sz="2400" dirty="0"/>
              <a:t>for a series that includes a base amount </a:t>
            </a:r>
            <a:r>
              <a:rPr lang="en-US" sz="2400" i="1" dirty="0"/>
              <a:t>A </a:t>
            </a:r>
            <a:r>
              <a:rPr lang="en-US" sz="2400" dirty="0"/>
              <a:t>and conventional </a:t>
            </a:r>
            <a:r>
              <a:rPr lang="en-US" sz="2400" dirty="0" smtClean="0"/>
              <a:t>arithmetic</a:t>
            </a:r>
            <a:r>
              <a:rPr lang="tr-TR" sz="2400" dirty="0" smtClean="0"/>
              <a:t> </a:t>
            </a:r>
            <a:r>
              <a:rPr lang="en-US" sz="2400" dirty="0" smtClean="0"/>
              <a:t>gradient </a:t>
            </a:r>
            <a:r>
              <a:rPr lang="en-US" sz="2400" dirty="0"/>
              <a:t>must consider the present worth of both the uniform series defined by </a:t>
            </a:r>
            <a:r>
              <a:rPr lang="en-US" sz="2400" i="1" dirty="0"/>
              <a:t>A </a:t>
            </a:r>
            <a:r>
              <a:rPr lang="en-US" sz="2400" dirty="0"/>
              <a:t>and </a:t>
            </a:r>
            <a:r>
              <a:rPr lang="en-US" sz="2400" dirty="0" smtClean="0"/>
              <a:t>the</a:t>
            </a:r>
            <a:r>
              <a:rPr lang="tr-TR" sz="2400" dirty="0" smtClean="0"/>
              <a:t> </a:t>
            </a:r>
            <a:r>
              <a:rPr lang="en-US" sz="2400" dirty="0" smtClean="0"/>
              <a:t>arithmetic </a:t>
            </a:r>
            <a:r>
              <a:rPr lang="en-US" sz="2400" dirty="0"/>
              <a:t>gradient series. The addition of the two results in </a:t>
            </a:r>
            <a:r>
              <a:rPr lang="en-US" sz="2400" i="1" dirty="0"/>
              <a:t>P</a:t>
            </a:r>
            <a:r>
              <a:rPr lang="en-US" sz="2400" i="1" baseline="-25000" dirty="0"/>
              <a:t>T</a:t>
            </a:r>
            <a:r>
              <a:rPr lang="en-US" sz="2400" i="1" dirty="0"/>
              <a:t> </a:t>
            </a:r>
            <a:r>
              <a:rPr lang="en-US" sz="2400" dirty="0" smtClean="0"/>
              <a:t>.</a:t>
            </a:r>
            <a:endParaRPr lang="tr-TR" sz="2400" dirty="0" smtClean="0"/>
          </a:p>
          <a:p>
            <a:pPr marL="0" indent="0">
              <a:buNone/>
            </a:pPr>
            <a:r>
              <a:rPr lang="tr-TR" sz="2400" b="1" i="1" dirty="0" smtClean="0"/>
              <a:t>                            </a:t>
            </a:r>
            <a:r>
              <a:rPr lang="en-US" sz="2400" b="1" i="1" dirty="0" smtClean="0"/>
              <a:t>P</a:t>
            </a:r>
            <a:r>
              <a:rPr lang="en-US" sz="2400" b="1" i="1" baseline="-25000" dirty="0" smtClean="0"/>
              <a:t>T</a:t>
            </a:r>
            <a:r>
              <a:rPr lang="en-US" sz="2400" b="1" i="1" dirty="0" smtClean="0"/>
              <a:t> </a:t>
            </a:r>
            <a:r>
              <a:rPr lang="en-US" sz="2400" dirty="0"/>
              <a:t>= </a:t>
            </a:r>
            <a:r>
              <a:rPr lang="en-US" sz="2400" b="1" i="1" dirty="0"/>
              <a:t>P</a:t>
            </a:r>
            <a:r>
              <a:rPr lang="en-US" sz="2400" b="1" i="1" baseline="-25000" dirty="0"/>
              <a:t>A</a:t>
            </a:r>
            <a:r>
              <a:rPr lang="en-US" sz="2400" b="1" i="1" dirty="0"/>
              <a:t> </a:t>
            </a:r>
            <a:r>
              <a:rPr lang="en-US" sz="2400" dirty="0"/>
              <a:t>± </a:t>
            </a:r>
            <a:r>
              <a:rPr lang="en-US" sz="2400" b="1" i="1" dirty="0" smtClean="0"/>
              <a:t>P</a:t>
            </a:r>
            <a:r>
              <a:rPr lang="en-US" sz="2400" b="1" i="1" baseline="-25000" dirty="0" smtClean="0"/>
              <a:t>G</a:t>
            </a:r>
            <a:r>
              <a:rPr lang="tr-TR" sz="2400" b="1" i="1" baseline="-25000" dirty="0" smtClean="0"/>
              <a:t>  </a:t>
            </a:r>
            <a:r>
              <a:rPr lang="tr-TR" sz="2400" b="1" i="1" dirty="0" smtClean="0"/>
              <a:t>   </a:t>
            </a:r>
          </a:p>
          <a:p>
            <a:r>
              <a:rPr lang="en-US" sz="2400" dirty="0"/>
              <a:t>where </a:t>
            </a:r>
            <a:r>
              <a:rPr lang="en-US" sz="2400" i="1" dirty="0"/>
              <a:t>P</a:t>
            </a:r>
            <a:r>
              <a:rPr lang="en-US" sz="2400" i="1" baseline="-25000" dirty="0"/>
              <a:t>A</a:t>
            </a:r>
            <a:r>
              <a:rPr lang="en-US" sz="2400" i="1" dirty="0"/>
              <a:t> </a:t>
            </a:r>
            <a:r>
              <a:rPr lang="en-US" sz="2400" dirty="0"/>
              <a:t>is the present worth of the uniform series only, </a:t>
            </a:r>
            <a:r>
              <a:rPr lang="en-US" sz="2400" i="1" dirty="0"/>
              <a:t>P</a:t>
            </a:r>
            <a:r>
              <a:rPr lang="en-US" sz="2400" i="1" baseline="-25000" dirty="0"/>
              <a:t>G</a:t>
            </a:r>
            <a:r>
              <a:rPr lang="en-US" sz="2400" i="1" dirty="0"/>
              <a:t> </a:t>
            </a:r>
            <a:r>
              <a:rPr lang="en-US" sz="2400" dirty="0"/>
              <a:t>is the present worth of the </a:t>
            </a:r>
            <a:r>
              <a:rPr lang="en-US" sz="2400" dirty="0" smtClean="0"/>
              <a:t>gradient</a:t>
            </a:r>
            <a:r>
              <a:rPr lang="tr-TR" sz="2400" dirty="0" smtClean="0"/>
              <a:t> </a:t>
            </a:r>
            <a:r>
              <a:rPr lang="en-US" sz="2400" dirty="0" smtClean="0"/>
              <a:t>series </a:t>
            </a:r>
            <a:r>
              <a:rPr lang="en-US" sz="2400" dirty="0"/>
              <a:t>only, and the + or − sign is used for an increasing (+</a:t>
            </a:r>
            <a:r>
              <a:rPr lang="en-US" sz="2400" i="1" dirty="0"/>
              <a:t>G</a:t>
            </a:r>
            <a:r>
              <a:rPr lang="en-US" sz="2400" dirty="0"/>
              <a:t>) or decreasing (−</a:t>
            </a:r>
            <a:r>
              <a:rPr lang="en-US" sz="2400" i="1" dirty="0"/>
              <a:t>G</a:t>
            </a:r>
            <a:r>
              <a:rPr lang="en-US" sz="2400" dirty="0"/>
              <a:t>) gradient, respectively.</a:t>
            </a:r>
          </a:p>
          <a:p>
            <a:r>
              <a:rPr lang="en-US" sz="2400" dirty="0"/>
              <a:t>The corresponding equivalent annual worth </a:t>
            </a:r>
            <a:r>
              <a:rPr lang="en-US" sz="2400" i="1" dirty="0"/>
              <a:t>A</a:t>
            </a:r>
            <a:r>
              <a:rPr lang="en-US" sz="2400" i="1" baseline="-25000" dirty="0"/>
              <a:t>T</a:t>
            </a:r>
            <a:r>
              <a:rPr lang="en-US" sz="2400" i="1" dirty="0"/>
              <a:t> </a:t>
            </a:r>
            <a:r>
              <a:rPr lang="en-US" sz="2400" dirty="0"/>
              <a:t>is the sum of the base amount series </a:t>
            </a:r>
            <a:r>
              <a:rPr lang="en-US" sz="2400" dirty="0" smtClean="0"/>
              <a:t>annual</a:t>
            </a:r>
            <a:r>
              <a:rPr lang="tr-TR" sz="2400" dirty="0" smtClean="0"/>
              <a:t> </a:t>
            </a:r>
            <a:r>
              <a:rPr lang="en-US" sz="2400" dirty="0" smtClean="0"/>
              <a:t>worth </a:t>
            </a:r>
            <a:r>
              <a:rPr lang="en-US" sz="2400" i="1" dirty="0"/>
              <a:t>A</a:t>
            </a:r>
            <a:r>
              <a:rPr lang="en-US" sz="2400" i="1" baseline="-25000" dirty="0"/>
              <a:t>A</a:t>
            </a:r>
            <a:r>
              <a:rPr lang="en-US" sz="2400" i="1" dirty="0"/>
              <a:t> </a:t>
            </a:r>
            <a:r>
              <a:rPr lang="en-US" sz="2400" dirty="0"/>
              <a:t>and gradient series annual worth </a:t>
            </a:r>
            <a:r>
              <a:rPr lang="en-US" sz="2400" i="1" dirty="0"/>
              <a:t>A</a:t>
            </a:r>
            <a:r>
              <a:rPr lang="en-US" sz="2400" i="1" baseline="-25000" dirty="0"/>
              <a:t>G</a:t>
            </a:r>
            <a:r>
              <a:rPr lang="en-US" sz="2400" dirty="0"/>
              <a:t>, that is</a:t>
            </a:r>
            <a:r>
              <a:rPr lang="en-US" sz="2400" dirty="0" smtClean="0"/>
              <a:t>,</a:t>
            </a:r>
            <a:endParaRPr lang="tr-TR" sz="2400" dirty="0" smtClean="0"/>
          </a:p>
          <a:p>
            <a:pPr marL="0" indent="0">
              <a:buNone/>
            </a:pPr>
            <a:r>
              <a:rPr lang="tr-TR" sz="2400" b="1" i="1" dirty="0" smtClean="0"/>
              <a:t>                           A</a:t>
            </a:r>
            <a:r>
              <a:rPr lang="en-US" sz="2400" b="1" i="1" baseline="-25000" dirty="0" smtClean="0"/>
              <a:t>T</a:t>
            </a:r>
            <a:r>
              <a:rPr lang="en-US" sz="2400" b="1" i="1" dirty="0" smtClean="0"/>
              <a:t> </a:t>
            </a:r>
            <a:r>
              <a:rPr lang="en-US" sz="2400" dirty="0"/>
              <a:t>= </a:t>
            </a:r>
            <a:r>
              <a:rPr lang="tr-TR" sz="2400" b="1" i="1" dirty="0" smtClean="0"/>
              <a:t>A</a:t>
            </a:r>
            <a:r>
              <a:rPr lang="en-US" sz="2400" b="1" i="1" baseline="-25000" dirty="0" smtClean="0"/>
              <a:t>A</a:t>
            </a:r>
            <a:r>
              <a:rPr lang="en-US" sz="2400" b="1" i="1" dirty="0" smtClean="0"/>
              <a:t> </a:t>
            </a:r>
            <a:r>
              <a:rPr lang="en-US" sz="2400" dirty="0"/>
              <a:t>± </a:t>
            </a:r>
            <a:r>
              <a:rPr lang="tr-TR" sz="2400" b="1" i="1" dirty="0" smtClean="0"/>
              <a:t>A</a:t>
            </a:r>
            <a:r>
              <a:rPr lang="en-US" sz="2400" b="1" i="1" baseline="-25000" dirty="0" smtClean="0"/>
              <a:t>G</a:t>
            </a:r>
            <a:r>
              <a:rPr lang="tr-TR" sz="2400" b="1" i="1" baseline="-25000" dirty="0" smtClean="0"/>
              <a:t>  </a:t>
            </a:r>
            <a:r>
              <a:rPr lang="tr-TR" sz="2400" b="1" i="1" dirty="0" smtClean="0"/>
              <a:t>   </a:t>
            </a:r>
            <a:endParaRPr lang="tr-TR" sz="2400" b="1" i="1" dirty="0"/>
          </a:p>
          <a:p>
            <a:r>
              <a:rPr lang="en-US" sz="2400" dirty="0"/>
              <a:t>Three factors are derived for arithmetic gradients: the </a:t>
            </a:r>
            <a:r>
              <a:rPr lang="en-US" sz="2400" i="1" dirty="0"/>
              <a:t>P</a:t>
            </a:r>
            <a:r>
              <a:rPr lang="en-US" sz="2400" dirty="0"/>
              <a:t>∕</a:t>
            </a:r>
            <a:r>
              <a:rPr lang="en-US" sz="2400" i="1" dirty="0"/>
              <a:t>G </a:t>
            </a:r>
            <a:r>
              <a:rPr lang="en-US" sz="2400" dirty="0"/>
              <a:t>factor for present worth, the </a:t>
            </a:r>
            <a:r>
              <a:rPr lang="en-US" sz="2400" i="1" dirty="0"/>
              <a:t>A</a:t>
            </a:r>
            <a:r>
              <a:rPr lang="en-US" sz="2400" dirty="0"/>
              <a:t>∕</a:t>
            </a:r>
            <a:r>
              <a:rPr lang="en-US" sz="2400" i="1" dirty="0" smtClean="0"/>
              <a:t>G</a:t>
            </a:r>
            <a:r>
              <a:rPr lang="tr-TR" sz="2400" i="1" dirty="0" smtClean="0"/>
              <a:t> </a:t>
            </a:r>
            <a:r>
              <a:rPr lang="en-US" sz="2400" dirty="0" smtClean="0"/>
              <a:t>factor </a:t>
            </a:r>
            <a:r>
              <a:rPr lang="en-US" sz="2400" dirty="0"/>
              <a:t>for annual series, and the </a:t>
            </a:r>
            <a:r>
              <a:rPr lang="en-US" sz="2400" i="1" dirty="0"/>
              <a:t>F</a:t>
            </a:r>
            <a:r>
              <a:rPr lang="en-US" sz="2400" dirty="0"/>
              <a:t>∕</a:t>
            </a:r>
            <a:r>
              <a:rPr lang="en-US" sz="2400" i="1" dirty="0"/>
              <a:t>G </a:t>
            </a:r>
            <a:r>
              <a:rPr lang="en-US" sz="2400" dirty="0"/>
              <a:t>factor for future worth. There are several ways to </a:t>
            </a:r>
            <a:r>
              <a:rPr lang="en-US" sz="2400" dirty="0" smtClean="0"/>
              <a:t>derive</a:t>
            </a:r>
            <a:r>
              <a:rPr lang="tr-TR" sz="2400" dirty="0" smtClean="0"/>
              <a:t> </a:t>
            </a:r>
            <a:r>
              <a:rPr lang="en-US" sz="2400" dirty="0" smtClean="0"/>
              <a:t>them</a:t>
            </a:r>
            <a:r>
              <a:rPr lang="en-US" sz="2400" dirty="0"/>
              <a:t>. We use the single-payment present worth factor (</a:t>
            </a:r>
            <a:r>
              <a:rPr lang="en-US" sz="2400" i="1" dirty="0" err="1"/>
              <a:t>P</a:t>
            </a:r>
            <a:r>
              <a:rPr lang="en-US" sz="2400" dirty="0" err="1"/>
              <a:t>∕</a:t>
            </a:r>
            <a:r>
              <a:rPr lang="en-US" sz="2400" i="1" dirty="0" err="1"/>
              <a:t>F</a:t>
            </a:r>
            <a:r>
              <a:rPr lang="en-US" sz="2400" dirty="0" err="1"/>
              <a:t>,</a:t>
            </a:r>
            <a:r>
              <a:rPr lang="en-US" sz="2400" i="1" dirty="0" err="1"/>
              <a:t>i</a:t>
            </a:r>
            <a:r>
              <a:rPr lang="en-US" sz="2400" dirty="0" err="1"/>
              <a:t>,</a:t>
            </a:r>
            <a:r>
              <a:rPr lang="en-US" sz="2400" i="1" dirty="0" err="1"/>
              <a:t>n</a:t>
            </a:r>
            <a:r>
              <a:rPr lang="en-US" sz="2400" dirty="0"/>
              <a:t>), but the same result can be </a:t>
            </a:r>
            <a:r>
              <a:rPr lang="en-US" sz="2400" dirty="0" smtClean="0"/>
              <a:t>obtained</a:t>
            </a:r>
            <a:r>
              <a:rPr lang="tr-TR" sz="2400" dirty="0" smtClean="0"/>
              <a:t> </a:t>
            </a:r>
            <a:r>
              <a:rPr lang="en-US" sz="2400" dirty="0" smtClean="0"/>
              <a:t>by </a:t>
            </a:r>
            <a:r>
              <a:rPr lang="en-US" sz="2400" dirty="0"/>
              <a:t>using the </a:t>
            </a:r>
            <a:r>
              <a:rPr lang="en-US" sz="2400" i="1" dirty="0"/>
              <a:t>F</a:t>
            </a:r>
            <a:r>
              <a:rPr lang="en-US" sz="2400" dirty="0"/>
              <a:t>∕</a:t>
            </a:r>
            <a:r>
              <a:rPr lang="en-US" sz="2400" i="1" dirty="0"/>
              <a:t>P</a:t>
            </a:r>
            <a:r>
              <a:rPr lang="en-US" sz="2400" dirty="0"/>
              <a:t>, </a:t>
            </a:r>
            <a:r>
              <a:rPr lang="en-US" sz="2400" i="1" dirty="0"/>
              <a:t>F</a:t>
            </a:r>
            <a:r>
              <a:rPr lang="en-US" sz="2400" dirty="0"/>
              <a:t>∕</a:t>
            </a:r>
            <a:r>
              <a:rPr lang="en-US" sz="2400" i="1" dirty="0"/>
              <a:t>A</a:t>
            </a:r>
            <a:r>
              <a:rPr lang="en-US" sz="2400" dirty="0"/>
              <a:t>, or </a:t>
            </a:r>
            <a:r>
              <a:rPr lang="en-US" sz="2400" i="1" dirty="0"/>
              <a:t>P</a:t>
            </a:r>
            <a:r>
              <a:rPr lang="en-US" sz="2400" dirty="0"/>
              <a:t>∕</a:t>
            </a:r>
            <a:r>
              <a:rPr lang="en-US" sz="2400" i="1" dirty="0"/>
              <a:t>A </a:t>
            </a:r>
            <a:r>
              <a:rPr lang="en-US" sz="2400" dirty="0"/>
              <a:t>factor.</a:t>
            </a:r>
            <a:endParaRPr lang="tr-TR" sz="2400" b="1" i="1" baseline="-25000" dirty="0" smtClean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93744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413990" y="5825514"/>
            <a:ext cx="9601200" cy="592947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420" y="392968"/>
            <a:ext cx="8601437" cy="1393249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420" y="1954498"/>
            <a:ext cx="10820800" cy="2950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247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886" y="297943"/>
            <a:ext cx="11318947" cy="4655562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062" y="5104916"/>
            <a:ext cx="5929669" cy="139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681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91594" y="3052036"/>
            <a:ext cx="10819829" cy="3318486"/>
          </a:xfrm>
        </p:spPr>
        <p:txBody>
          <a:bodyPr>
            <a:noAutofit/>
          </a:bodyPr>
          <a:lstStyle/>
          <a:p>
            <a:r>
              <a:rPr lang="en-US" sz="2400" dirty="0"/>
              <a:t>is the arithmetic-gradient present worth factor </a:t>
            </a:r>
            <a:r>
              <a:rPr lang="en-US" sz="2400" dirty="0" smtClean="0"/>
              <a:t>or</a:t>
            </a:r>
            <a:r>
              <a:rPr lang="tr-TR" sz="2400" dirty="0" smtClean="0"/>
              <a:t> </a:t>
            </a:r>
            <a:r>
              <a:rPr lang="en-US" sz="2400" i="1" dirty="0" smtClean="0"/>
              <a:t>P</a:t>
            </a:r>
            <a:r>
              <a:rPr lang="en-US" sz="2400" dirty="0" smtClean="0"/>
              <a:t>/</a:t>
            </a:r>
            <a:r>
              <a:rPr lang="en-US" sz="2400" i="1" dirty="0" smtClean="0"/>
              <a:t>G </a:t>
            </a:r>
            <a:r>
              <a:rPr lang="en-US" sz="2400" dirty="0"/>
              <a:t>factor that converts the arithmetic gradient (without base </a:t>
            </a:r>
            <a:r>
              <a:rPr lang="en-US" sz="2400" dirty="0" smtClean="0"/>
              <a:t>amount)</a:t>
            </a:r>
            <a:r>
              <a:rPr lang="tr-TR" sz="2400" dirty="0" smtClean="0"/>
              <a:t> </a:t>
            </a:r>
            <a:r>
              <a:rPr lang="en-US" sz="2400" dirty="0" smtClean="0"/>
              <a:t>for </a:t>
            </a:r>
            <a:r>
              <a:rPr lang="en-US" sz="2400" dirty="0"/>
              <a:t>n years to the present worth at year 0. The standard notation </a:t>
            </a:r>
            <a:r>
              <a:rPr lang="en-US" sz="2400" dirty="0" smtClean="0"/>
              <a:t>is</a:t>
            </a:r>
            <a:r>
              <a:rPr lang="tr-TR" sz="2400" dirty="0" smtClean="0"/>
              <a:t> </a:t>
            </a:r>
            <a:r>
              <a:rPr lang="en-US" sz="2400" dirty="0" smtClean="0"/>
              <a:t>(</a:t>
            </a:r>
            <a:r>
              <a:rPr lang="en-US" sz="2400" i="1" dirty="0" smtClean="0"/>
              <a:t>P</a:t>
            </a:r>
            <a:r>
              <a:rPr lang="en-US" sz="2400" dirty="0" smtClean="0"/>
              <a:t>/</a:t>
            </a:r>
            <a:r>
              <a:rPr lang="en-US" sz="2400" i="1" dirty="0" smtClean="0"/>
              <a:t>G</a:t>
            </a:r>
            <a:r>
              <a:rPr lang="en-US" sz="2400" dirty="0"/>
              <a:t>, </a:t>
            </a:r>
            <a:r>
              <a:rPr lang="en-US" sz="2400" i="1" dirty="0" err="1"/>
              <a:t>i</a:t>
            </a:r>
            <a:r>
              <a:rPr lang="en-US" sz="2400" dirty="0"/>
              <a:t>%, </a:t>
            </a:r>
            <a:r>
              <a:rPr lang="en-US" sz="2400" i="1" dirty="0"/>
              <a:t>n</a:t>
            </a:r>
            <a:r>
              <a:rPr lang="en-US" sz="2400" dirty="0" smtClean="0"/>
              <a:t>).</a:t>
            </a:r>
            <a:endParaRPr lang="tr-TR" sz="2400" dirty="0" smtClean="0"/>
          </a:p>
          <a:p>
            <a:r>
              <a:rPr lang="en-US" sz="2400" dirty="0"/>
              <a:t>The equivalent uniform annual series </a:t>
            </a:r>
            <a:r>
              <a:rPr lang="en-US" sz="2400" i="1" dirty="0"/>
              <a:t>A </a:t>
            </a:r>
            <a:r>
              <a:rPr lang="en-US" sz="2400" dirty="0"/>
              <a:t>for an arithmetic gradient </a:t>
            </a:r>
            <a:r>
              <a:rPr lang="en-US" sz="2400" i="1" dirty="0"/>
              <a:t>G </a:t>
            </a:r>
            <a:r>
              <a:rPr lang="en-US" sz="2400" dirty="0" smtClean="0"/>
              <a:t>is</a:t>
            </a:r>
            <a:r>
              <a:rPr lang="tr-TR" sz="2400" dirty="0" smtClean="0"/>
              <a:t> </a:t>
            </a:r>
            <a:r>
              <a:rPr lang="en-US" sz="2400" dirty="0" smtClean="0"/>
              <a:t>found </a:t>
            </a:r>
            <a:r>
              <a:rPr lang="en-US" sz="2400" dirty="0"/>
              <a:t>by multiplying (</a:t>
            </a:r>
            <a:r>
              <a:rPr lang="en-US" sz="2400" i="1" dirty="0"/>
              <a:t>P</a:t>
            </a:r>
            <a:r>
              <a:rPr lang="en-US" sz="2400" dirty="0"/>
              <a:t>/</a:t>
            </a:r>
            <a:r>
              <a:rPr lang="en-US" sz="2400" i="1" dirty="0"/>
              <a:t>G</a:t>
            </a:r>
            <a:r>
              <a:rPr lang="en-US" sz="2400" dirty="0"/>
              <a:t>, </a:t>
            </a:r>
            <a:r>
              <a:rPr lang="en-US" sz="2400" i="1" dirty="0" err="1"/>
              <a:t>i</a:t>
            </a:r>
            <a:r>
              <a:rPr lang="en-US" sz="2400" dirty="0"/>
              <a:t>%, </a:t>
            </a:r>
            <a:r>
              <a:rPr lang="en-US" sz="2400" i="1" dirty="0"/>
              <a:t>n</a:t>
            </a:r>
            <a:r>
              <a:rPr lang="en-US" sz="2400" dirty="0"/>
              <a:t>) by (A/P,</a:t>
            </a:r>
            <a:r>
              <a:rPr lang="en-US" sz="2400" dirty="0" err="1"/>
              <a:t>i</a:t>
            </a:r>
            <a:r>
              <a:rPr lang="en-US" sz="2400" dirty="0"/>
              <a:t>%,n)</a:t>
            </a:r>
          </a:p>
          <a:p>
            <a:pPr marL="0" indent="0">
              <a:buNone/>
            </a:pPr>
            <a:r>
              <a:rPr lang="tr-TR" sz="2400" i="1" dirty="0" smtClean="0"/>
              <a:t>                      </a:t>
            </a:r>
            <a:r>
              <a:rPr lang="pt-BR" sz="2400" i="1" dirty="0" smtClean="0"/>
              <a:t>A </a:t>
            </a:r>
            <a:r>
              <a:rPr lang="pt-BR" sz="2400" dirty="0"/>
              <a:t>= </a:t>
            </a:r>
            <a:r>
              <a:rPr lang="pt-BR" sz="2400" i="1" dirty="0"/>
              <a:t>G</a:t>
            </a:r>
            <a:r>
              <a:rPr lang="pt-BR" sz="2400" dirty="0"/>
              <a:t>(</a:t>
            </a:r>
            <a:r>
              <a:rPr lang="pt-BR" sz="2400" i="1" dirty="0"/>
              <a:t>P</a:t>
            </a:r>
            <a:r>
              <a:rPr lang="pt-BR" sz="2400" dirty="0"/>
              <a:t>/</a:t>
            </a:r>
            <a:r>
              <a:rPr lang="pt-BR" sz="2400" i="1" dirty="0"/>
              <a:t>G</a:t>
            </a:r>
            <a:r>
              <a:rPr lang="pt-BR" sz="2400" dirty="0"/>
              <a:t>, </a:t>
            </a:r>
            <a:r>
              <a:rPr lang="pt-BR" sz="2400" i="1" dirty="0"/>
              <a:t>i</a:t>
            </a:r>
            <a:r>
              <a:rPr lang="pt-BR" sz="2400" dirty="0"/>
              <a:t>%, </a:t>
            </a:r>
            <a:r>
              <a:rPr lang="pt-BR" sz="2400" i="1" dirty="0"/>
              <a:t>n</a:t>
            </a:r>
            <a:r>
              <a:rPr lang="pt-BR" sz="2400" dirty="0"/>
              <a:t>)(</a:t>
            </a:r>
            <a:r>
              <a:rPr lang="pt-BR" sz="2400" i="1" dirty="0"/>
              <a:t>A</a:t>
            </a:r>
            <a:r>
              <a:rPr lang="pt-BR" sz="2400" dirty="0"/>
              <a:t>/</a:t>
            </a:r>
            <a:r>
              <a:rPr lang="pt-BR" sz="2400" i="1" dirty="0"/>
              <a:t>P</a:t>
            </a:r>
            <a:r>
              <a:rPr lang="pt-BR" sz="2400" dirty="0"/>
              <a:t>, </a:t>
            </a:r>
            <a:r>
              <a:rPr lang="pt-BR" sz="2400" i="1" dirty="0"/>
              <a:t>i</a:t>
            </a:r>
            <a:r>
              <a:rPr lang="pt-BR" sz="2400" dirty="0"/>
              <a:t>%, </a:t>
            </a:r>
            <a:r>
              <a:rPr lang="pt-BR" sz="2400" i="1" dirty="0"/>
              <a:t>n</a:t>
            </a:r>
            <a:r>
              <a:rPr lang="pt-BR" sz="2400" dirty="0"/>
              <a:t>)</a:t>
            </a:r>
          </a:p>
          <a:p>
            <a:pPr marL="0" indent="0">
              <a:buNone/>
            </a:pPr>
            <a:r>
              <a:rPr lang="tr-TR" sz="2400" dirty="0" smtClean="0"/>
              <a:t>                         </a:t>
            </a:r>
            <a:r>
              <a:rPr lang="en-US" sz="2400" dirty="0" smtClean="0"/>
              <a:t>= </a:t>
            </a:r>
            <a:r>
              <a:rPr lang="en-US" sz="2400" i="1" dirty="0"/>
              <a:t>G</a:t>
            </a:r>
            <a:r>
              <a:rPr lang="en-US" sz="2400" dirty="0"/>
              <a:t>(</a:t>
            </a:r>
            <a:r>
              <a:rPr lang="en-US" sz="2400" i="1" dirty="0"/>
              <a:t>A</a:t>
            </a:r>
            <a:r>
              <a:rPr lang="en-US" sz="2400" dirty="0"/>
              <a:t>/</a:t>
            </a:r>
            <a:r>
              <a:rPr lang="en-US" sz="2400" i="1" dirty="0"/>
              <a:t>G</a:t>
            </a:r>
            <a:r>
              <a:rPr lang="en-US" sz="2400" dirty="0"/>
              <a:t>, </a:t>
            </a:r>
            <a:r>
              <a:rPr lang="en-US" sz="2400" i="1" dirty="0" err="1"/>
              <a:t>i</a:t>
            </a:r>
            <a:r>
              <a:rPr lang="en-US" sz="2400" dirty="0"/>
              <a:t>%, </a:t>
            </a:r>
            <a:r>
              <a:rPr lang="en-US" sz="2400" i="1" dirty="0"/>
              <a:t>n</a:t>
            </a:r>
            <a:r>
              <a:rPr lang="en-US" sz="2400" dirty="0"/>
              <a:t>)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7888" y="109022"/>
            <a:ext cx="4948624" cy="1167397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8297" y="1500481"/>
            <a:ext cx="4031719" cy="994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875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74874" y="3636405"/>
            <a:ext cx="10618546" cy="1020374"/>
          </a:xfrm>
        </p:spPr>
        <p:txBody>
          <a:bodyPr>
            <a:normAutofit/>
          </a:bodyPr>
          <a:lstStyle/>
          <a:p>
            <a:r>
              <a:rPr lang="en-US" sz="2400" dirty="0"/>
              <a:t>is the arithmetic-gradient uniform-series factor and </a:t>
            </a:r>
            <a:r>
              <a:rPr lang="en-US" sz="2400" dirty="0" smtClean="0"/>
              <a:t>is</a:t>
            </a:r>
            <a:r>
              <a:rPr lang="tr-TR" sz="2400" dirty="0" smtClean="0"/>
              <a:t> </a:t>
            </a:r>
            <a:r>
              <a:rPr lang="en-US" sz="2400" dirty="0" smtClean="0"/>
              <a:t>identified </a:t>
            </a:r>
            <a:r>
              <a:rPr lang="en-US" sz="2400" dirty="0"/>
              <a:t>by (</a:t>
            </a:r>
            <a:r>
              <a:rPr lang="en-US" sz="2400" i="1" dirty="0"/>
              <a:t>A</a:t>
            </a:r>
            <a:r>
              <a:rPr lang="en-US" sz="2400" dirty="0"/>
              <a:t>/</a:t>
            </a:r>
            <a:r>
              <a:rPr lang="en-US" sz="2400" i="1" dirty="0"/>
              <a:t>G</a:t>
            </a:r>
            <a:r>
              <a:rPr lang="en-US" sz="2400" dirty="0"/>
              <a:t>, </a:t>
            </a:r>
            <a:r>
              <a:rPr lang="en-US" sz="2400" i="1" dirty="0" err="1"/>
              <a:t>i</a:t>
            </a:r>
            <a:r>
              <a:rPr lang="en-US" sz="2400" dirty="0"/>
              <a:t>%, </a:t>
            </a:r>
            <a:r>
              <a:rPr lang="en-US" sz="2400" i="1" dirty="0"/>
              <a:t>n</a:t>
            </a:r>
            <a:r>
              <a:rPr lang="en-US" sz="2400" dirty="0"/>
              <a:t>). </a:t>
            </a:r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792" y="207066"/>
            <a:ext cx="6711656" cy="1793852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1607" y="2363037"/>
            <a:ext cx="2989166" cy="968788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9562" y="4843114"/>
            <a:ext cx="4677428" cy="13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483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50815" y="475367"/>
            <a:ext cx="10951608" cy="1280765"/>
          </a:xfrm>
        </p:spPr>
        <p:txBody>
          <a:bodyPr>
            <a:normAutofit/>
          </a:bodyPr>
          <a:lstStyle/>
          <a:p>
            <a:r>
              <a:rPr lang="en-US" sz="2400" dirty="0"/>
              <a:t>An </a:t>
            </a:r>
            <a:r>
              <a:rPr lang="en-US" sz="2400" i="1" dirty="0"/>
              <a:t>F</a:t>
            </a:r>
            <a:r>
              <a:rPr lang="en-US" sz="2400" dirty="0"/>
              <a:t>/</a:t>
            </a:r>
            <a:r>
              <a:rPr lang="en-US" sz="2400" i="1" dirty="0"/>
              <a:t>G </a:t>
            </a:r>
            <a:r>
              <a:rPr lang="en-US" sz="2400" dirty="0"/>
              <a:t>factor (arithmetic-gradient future worth factor)can be found </a:t>
            </a:r>
            <a:r>
              <a:rPr lang="en-US" sz="2400" dirty="0" smtClean="0"/>
              <a:t>by</a:t>
            </a:r>
            <a:r>
              <a:rPr lang="tr-TR" sz="2400" dirty="0" smtClean="0"/>
              <a:t> </a:t>
            </a:r>
            <a:r>
              <a:rPr lang="en-US" sz="2400" dirty="0" smtClean="0"/>
              <a:t>multiplying </a:t>
            </a:r>
            <a:r>
              <a:rPr lang="en-US" sz="2400" i="1" dirty="0"/>
              <a:t>P</a:t>
            </a:r>
            <a:r>
              <a:rPr lang="en-US" sz="2400" dirty="0"/>
              <a:t>/</a:t>
            </a:r>
            <a:r>
              <a:rPr lang="en-US" sz="2400" i="1" dirty="0"/>
              <a:t>G </a:t>
            </a:r>
            <a:r>
              <a:rPr lang="en-US" sz="2400" dirty="0"/>
              <a:t>and </a:t>
            </a:r>
            <a:r>
              <a:rPr lang="en-US" sz="2400" i="1" dirty="0"/>
              <a:t>F</a:t>
            </a:r>
            <a:r>
              <a:rPr lang="en-US" sz="2400" dirty="0"/>
              <a:t>/</a:t>
            </a:r>
            <a:r>
              <a:rPr lang="en-US" sz="2400" i="1" dirty="0"/>
              <a:t>P </a:t>
            </a:r>
            <a:r>
              <a:rPr lang="en-US" sz="2400" dirty="0"/>
              <a:t>factors. The resulting (</a:t>
            </a:r>
            <a:r>
              <a:rPr lang="en-US" sz="2400" i="1" dirty="0"/>
              <a:t>F</a:t>
            </a:r>
            <a:r>
              <a:rPr lang="en-US" sz="2400" dirty="0"/>
              <a:t>/</a:t>
            </a:r>
            <a:r>
              <a:rPr lang="en-US" sz="2400" i="1" dirty="0"/>
              <a:t>G</a:t>
            </a:r>
            <a:r>
              <a:rPr lang="en-US" sz="2400" dirty="0"/>
              <a:t>, </a:t>
            </a:r>
            <a:r>
              <a:rPr lang="en-US" sz="2400" i="1" dirty="0" err="1"/>
              <a:t>i</a:t>
            </a:r>
            <a:r>
              <a:rPr lang="en-US" sz="2400" dirty="0"/>
              <a:t>%, </a:t>
            </a:r>
            <a:r>
              <a:rPr lang="en-US" sz="2400" i="1" dirty="0"/>
              <a:t>n</a:t>
            </a:r>
            <a:r>
              <a:rPr lang="en-US" sz="2400" dirty="0"/>
              <a:t>) is</a:t>
            </a:r>
            <a:r>
              <a:rPr lang="en-US" sz="2400" dirty="0" smtClean="0"/>
              <a:t>:</a:t>
            </a:r>
            <a:endParaRPr lang="en-US" sz="24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020" y="1695575"/>
            <a:ext cx="6286580" cy="2855544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0466" y="4903619"/>
            <a:ext cx="5524418" cy="143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760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44597" y="366366"/>
            <a:ext cx="10436876" cy="4060299"/>
          </a:xfrm>
        </p:spPr>
        <p:txBody>
          <a:bodyPr>
            <a:noAutofit/>
          </a:bodyPr>
          <a:lstStyle/>
          <a:p>
            <a:r>
              <a:rPr lang="en-US" sz="2400" dirty="0"/>
              <a:t>The total present worth </a:t>
            </a:r>
            <a:r>
              <a:rPr lang="en-US" sz="2400" i="1" dirty="0"/>
              <a:t>P</a:t>
            </a:r>
            <a:r>
              <a:rPr lang="en-US" sz="2400" i="1" baseline="-25000" dirty="0"/>
              <a:t>T</a:t>
            </a:r>
            <a:r>
              <a:rPr lang="en-US" sz="2400" i="1" dirty="0"/>
              <a:t> </a:t>
            </a:r>
            <a:r>
              <a:rPr lang="en-US" sz="2400" dirty="0"/>
              <a:t>of a gradient series must consider </a:t>
            </a:r>
            <a:r>
              <a:rPr lang="en-US" sz="2400" dirty="0" smtClean="0"/>
              <a:t>the</a:t>
            </a:r>
            <a:r>
              <a:rPr lang="tr-TR" sz="2400" dirty="0" smtClean="0"/>
              <a:t> </a:t>
            </a:r>
            <a:r>
              <a:rPr lang="en-US" sz="2400" dirty="0" smtClean="0"/>
              <a:t>base </a:t>
            </a:r>
            <a:r>
              <a:rPr lang="en-US" sz="2400" dirty="0"/>
              <a:t>and the gradient separately.</a:t>
            </a:r>
          </a:p>
          <a:p>
            <a:r>
              <a:rPr lang="en-US" sz="2400" dirty="0"/>
              <a:t>Let </a:t>
            </a:r>
            <a:r>
              <a:rPr lang="en-US" sz="2400" i="1" dirty="0"/>
              <a:t>P</a:t>
            </a:r>
            <a:r>
              <a:rPr lang="en-US" sz="2400" i="1" baseline="-25000" dirty="0"/>
              <a:t>A</a:t>
            </a:r>
            <a:r>
              <a:rPr lang="en-US" sz="2400" i="1" dirty="0"/>
              <a:t> </a:t>
            </a:r>
            <a:r>
              <a:rPr lang="en-US" sz="2400" dirty="0"/>
              <a:t>be the present worth of the base amount; uniform </a:t>
            </a:r>
            <a:r>
              <a:rPr lang="en-US" sz="2400" dirty="0" smtClean="0"/>
              <a:t>series</a:t>
            </a:r>
            <a:r>
              <a:rPr lang="tr-TR" sz="2400" dirty="0" smtClean="0"/>
              <a:t> </a:t>
            </a:r>
            <a:r>
              <a:rPr lang="en-US" sz="2400" dirty="0" smtClean="0"/>
              <a:t>amount </a:t>
            </a:r>
            <a:r>
              <a:rPr lang="en-US" sz="2400" i="1" dirty="0"/>
              <a:t>A </a:t>
            </a:r>
            <a:r>
              <a:rPr lang="en-US" sz="2400" dirty="0"/>
              <a:t>starting from the end of period 1 extending </a:t>
            </a:r>
            <a:r>
              <a:rPr lang="en-US" sz="2400" dirty="0" smtClean="0"/>
              <a:t>through</a:t>
            </a:r>
            <a:r>
              <a:rPr lang="tr-TR" sz="2400" dirty="0" smtClean="0"/>
              <a:t> </a:t>
            </a:r>
            <a:r>
              <a:rPr lang="en-US" sz="2400" dirty="0" smtClean="0"/>
              <a:t>period </a:t>
            </a:r>
            <a:r>
              <a:rPr lang="en-US" sz="2400" i="1" dirty="0"/>
              <a:t>n</a:t>
            </a:r>
            <a:r>
              <a:rPr lang="en-US" sz="2400" dirty="0"/>
              <a:t>.</a:t>
            </a:r>
          </a:p>
          <a:p>
            <a:r>
              <a:rPr lang="en-US" sz="2400" dirty="0"/>
              <a:t>Let </a:t>
            </a:r>
            <a:r>
              <a:rPr lang="en-US" sz="2400" i="1" dirty="0"/>
              <a:t>P</a:t>
            </a:r>
            <a:r>
              <a:rPr lang="en-US" sz="2400" i="1" baseline="-25000" dirty="0"/>
              <a:t>G</a:t>
            </a:r>
            <a:r>
              <a:rPr lang="en-US" sz="2400" i="1" dirty="0"/>
              <a:t> </a:t>
            </a:r>
            <a:r>
              <a:rPr lang="en-US" sz="2400" dirty="0"/>
              <a:t>be the present worth of an increasing gradient and −</a:t>
            </a:r>
            <a:r>
              <a:rPr lang="en-US" sz="2400" i="1" dirty="0"/>
              <a:t>P</a:t>
            </a:r>
            <a:r>
              <a:rPr lang="en-US" sz="2400" i="1" baseline="-25000" dirty="0"/>
              <a:t>G</a:t>
            </a:r>
            <a:r>
              <a:rPr lang="en-US" sz="2400" i="1" dirty="0"/>
              <a:t> </a:t>
            </a:r>
            <a:r>
              <a:rPr lang="en-US" sz="2400" dirty="0" smtClean="0"/>
              <a:t>be</a:t>
            </a:r>
            <a:r>
              <a:rPr lang="tr-TR" sz="2400" dirty="0" smtClean="0"/>
              <a:t> </a:t>
            </a:r>
            <a:r>
              <a:rPr lang="en-US" sz="2400" dirty="0" smtClean="0"/>
              <a:t>the </a:t>
            </a:r>
            <a:r>
              <a:rPr lang="en-US" sz="2400" dirty="0"/>
              <a:t>present worth of an decreasing gradient.</a:t>
            </a:r>
          </a:p>
          <a:p>
            <a:r>
              <a:rPr lang="en-US" sz="2400" dirty="0"/>
              <a:t>Therefore: </a:t>
            </a:r>
            <a:r>
              <a:rPr lang="en-US" sz="2400" i="1" dirty="0"/>
              <a:t>P</a:t>
            </a:r>
            <a:r>
              <a:rPr lang="en-US" sz="2400" i="1" baseline="-25000" dirty="0"/>
              <a:t>T</a:t>
            </a:r>
            <a:r>
              <a:rPr lang="en-US" sz="2400" i="1" dirty="0"/>
              <a:t> </a:t>
            </a:r>
            <a:r>
              <a:rPr lang="en-US" sz="2400" dirty="0"/>
              <a:t>= </a:t>
            </a:r>
            <a:r>
              <a:rPr lang="en-US" sz="2400" i="1" dirty="0"/>
              <a:t>P</a:t>
            </a:r>
            <a:r>
              <a:rPr lang="en-US" sz="2400" i="1" baseline="-25000" dirty="0"/>
              <a:t>A</a:t>
            </a:r>
            <a:r>
              <a:rPr lang="en-US" sz="2400" i="1" dirty="0"/>
              <a:t> </a:t>
            </a:r>
            <a:r>
              <a:rPr lang="en-US" sz="2400" dirty="0"/>
              <a:t>+ </a:t>
            </a:r>
            <a:r>
              <a:rPr lang="en-US" sz="2400" i="1" dirty="0"/>
              <a:t>P</a:t>
            </a:r>
            <a:r>
              <a:rPr lang="en-US" sz="2400" i="1" baseline="-25000" dirty="0"/>
              <a:t>G</a:t>
            </a:r>
            <a:r>
              <a:rPr lang="en-US" sz="2400" i="1" dirty="0"/>
              <a:t> </a:t>
            </a:r>
            <a:r>
              <a:rPr lang="en-US" sz="2400" dirty="0"/>
              <a:t>and </a:t>
            </a:r>
            <a:r>
              <a:rPr lang="en-US" sz="2400" i="1" dirty="0"/>
              <a:t>P</a:t>
            </a:r>
            <a:r>
              <a:rPr lang="en-US" sz="2400" i="1" baseline="-25000" dirty="0"/>
              <a:t>T</a:t>
            </a:r>
            <a:r>
              <a:rPr lang="en-US" sz="2400" i="1" dirty="0"/>
              <a:t> </a:t>
            </a:r>
            <a:r>
              <a:rPr lang="en-US" sz="2400" dirty="0"/>
              <a:t>= </a:t>
            </a:r>
            <a:r>
              <a:rPr lang="en-US" sz="2400" i="1" dirty="0"/>
              <a:t>P</a:t>
            </a:r>
            <a:r>
              <a:rPr lang="en-US" sz="2400" i="1" baseline="-25000" dirty="0"/>
              <a:t>A</a:t>
            </a:r>
            <a:r>
              <a:rPr lang="en-US" sz="2400" i="1" dirty="0"/>
              <a:t> </a:t>
            </a:r>
            <a:r>
              <a:rPr lang="en-US" sz="2400" dirty="0"/>
              <a:t>− </a:t>
            </a:r>
            <a:r>
              <a:rPr lang="en-US" sz="2400" i="1" dirty="0"/>
              <a:t>P</a:t>
            </a:r>
            <a:r>
              <a:rPr lang="en-US" sz="2400" i="1" baseline="-25000" dirty="0"/>
              <a:t>G</a:t>
            </a:r>
            <a:r>
              <a:rPr lang="en-US" sz="2400" i="1" dirty="0"/>
              <a:t> </a:t>
            </a:r>
            <a:r>
              <a:rPr lang="en-US" sz="2400" dirty="0"/>
              <a:t>for increasing </a:t>
            </a:r>
            <a:r>
              <a:rPr lang="en-US" sz="2400" dirty="0" smtClean="0"/>
              <a:t>and</a:t>
            </a:r>
            <a:r>
              <a:rPr lang="tr-TR" sz="2400" dirty="0" smtClean="0"/>
              <a:t> </a:t>
            </a:r>
            <a:r>
              <a:rPr lang="en-US" sz="2400" dirty="0" smtClean="0"/>
              <a:t>decreasing </a:t>
            </a:r>
            <a:r>
              <a:rPr lang="en-US" sz="2400" dirty="0"/>
              <a:t>gradient series, respectively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07796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038540" y="274017"/>
            <a:ext cx="9728368" cy="585882"/>
          </a:xfrm>
        </p:spPr>
        <p:txBody>
          <a:bodyPr>
            <a:normAutofit fontScale="90000"/>
          </a:bodyPr>
          <a:lstStyle/>
          <a:p>
            <a:r>
              <a:rPr lang="tr-TR" dirty="0" smtClean="0"/>
              <a:t>EXAMPLE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38540" y="1153597"/>
            <a:ext cx="10788104" cy="4139024"/>
          </a:xfrm>
        </p:spPr>
        <p:txBody>
          <a:bodyPr>
            <a:noAutofit/>
          </a:bodyPr>
          <a:lstStyle/>
          <a:p>
            <a:r>
              <a:rPr lang="en-US" sz="2400" dirty="0"/>
              <a:t>Three counties in Florida agreed to pool tax resources </a:t>
            </a:r>
            <a:r>
              <a:rPr lang="en-US" sz="2400" dirty="0" smtClean="0"/>
              <a:t>already</a:t>
            </a:r>
            <a:r>
              <a:rPr lang="tr-TR" sz="2400" dirty="0" smtClean="0"/>
              <a:t> </a:t>
            </a:r>
            <a:r>
              <a:rPr lang="en-US" sz="2400" dirty="0" smtClean="0"/>
              <a:t>designated </a:t>
            </a:r>
            <a:r>
              <a:rPr lang="en-US" sz="2400" dirty="0"/>
              <a:t>for county-maintained bridge refurbishment. At a </a:t>
            </a:r>
            <a:r>
              <a:rPr lang="en-US" sz="2400" dirty="0" smtClean="0"/>
              <a:t>recent</a:t>
            </a:r>
            <a:r>
              <a:rPr lang="tr-TR" sz="2400" dirty="0" smtClean="0"/>
              <a:t> </a:t>
            </a:r>
            <a:r>
              <a:rPr lang="en-US" sz="2400" dirty="0" smtClean="0"/>
              <a:t>meeting</a:t>
            </a:r>
            <a:r>
              <a:rPr lang="en-US" sz="2400" dirty="0"/>
              <a:t>, the county engineers estimated that a total of $500,000 </a:t>
            </a:r>
            <a:r>
              <a:rPr lang="en-US" sz="2400" dirty="0" smtClean="0"/>
              <a:t>will</a:t>
            </a:r>
            <a:r>
              <a:rPr lang="tr-TR" sz="2400" dirty="0" smtClean="0"/>
              <a:t> </a:t>
            </a:r>
            <a:r>
              <a:rPr lang="en-US" sz="2400" dirty="0" smtClean="0"/>
              <a:t>be </a:t>
            </a:r>
            <a:r>
              <a:rPr lang="en-US" sz="2400" dirty="0"/>
              <a:t>deposited at the end of next year into an account for the repair </a:t>
            </a:r>
            <a:r>
              <a:rPr lang="en-US" sz="2400" dirty="0" smtClean="0"/>
              <a:t>of</a:t>
            </a:r>
            <a:r>
              <a:rPr lang="tr-TR" sz="2400" dirty="0" smtClean="0"/>
              <a:t> </a:t>
            </a:r>
            <a:r>
              <a:rPr lang="en-US" sz="2400" dirty="0" smtClean="0"/>
              <a:t>old </a:t>
            </a:r>
            <a:r>
              <a:rPr lang="en-US" sz="2400" dirty="0"/>
              <a:t>bridges throughout the three-county area. </a:t>
            </a:r>
            <a:endParaRPr lang="tr-TR" sz="2400" dirty="0" smtClean="0"/>
          </a:p>
          <a:p>
            <a:r>
              <a:rPr lang="en-US" sz="2400" dirty="0" smtClean="0"/>
              <a:t>Further</a:t>
            </a:r>
            <a:r>
              <a:rPr lang="en-US" sz="2400" dirty="0"/>
              <a:t>, they </a:t>
            </a:r>
            <a:r>
              <a:rPr lang="en-US" sz="2400" dirty="0" smtClean="0"/>
              <a:t>estimate</a:t>
            </a:r>
            <a:r>
              <a:rPr lang="tr-TR" sz="2400" dirty="0" smtClean="0"/>
              <a:t> </a:t>
            </a:r>
            <a:r>
              <a:rPr lang="en-US" sz="2400" dirty="0" smtClean="0"/>
              <a:t>the </a:t>
            </a:r>
            <a:r>
              <a:rPr lang="en-US" sz="2400" dirty="0"/>
              <a:t>deposits will increase by $100,000 per year for only 9 </a:t>
            </a:r>
            <a:r>
              <a:rPr lang="en-US" sz="2400" dirty="0" smtClean="0"/>
              <a:t>years</a:t>
            </a:r>
            <a:r>
              <a:rPr lang="tr-TR" sz="2400" dirty="0" smtClean="0"/>
              <a:t> </a:t>
            </a:r>
            <a:r>
              <a:rPr lang="en-US" sz="2400" dirty="0" smtClean="0"/>
              <a:t>thereafter</a:t>
            </a:r>
            <a:r>
              <a:rPr lang="en-US" sz="2400" dirty="0"/>
              <a:t>, then cease. </a:t>
            </a:r>
            <a:endParaRPr lang="tr-TR" sz="2400" dirty="0" smtClean="0"/>
          </a:p>
          <a:p>
            <a:r>
              <a:rPr lang="en-US" sz="2400" dirty="0" smtClean="0"/>
              <a:t>Determine </a:t>
            </a:r>
            <a:r>
              <a:rPr lang="en-US" sz="2400" dirty="0"/>
              <a:t>the equivalent (</a:t>
            </a:r>
            <a:r>
              <a:rPr lang="en-US" sz="2400" i="1" dirty="0"/>
              <a:t>a</a:t>
            </a:r>
            <a:r>
              <a:rPr lang="en-US" sz="2400" dirty="0"/>
              <a:t>) present worth, and (</a:t>
            </a:r>
            <a:r>
              <a:rPr lang="en-US" sz="2400" i="1" dirty="0"/>
              <a:t>b</a:t>
            </a:r>
            <a:r>
              <a:rPr lang="en-US" sz="2400" dirty="0"/>
              <a:t>) annual series amounts, if public funds earn at a </a:t>
            </a:r>
            <a:r>
              <a:rPr lang="en-US" sz="2400" dirty="0" smtClean="0"/>
              <a:t>rate</a:t>
            </a:r>
            <a:r>
              <a:rPr lang="tr-TR" sz="2400" dirty="0" smtClean="0"/>
              <a:t> </a:t>
            </a:r>
            <a:r>
              <a:rPr lang="en-US" sz="2400" dirty="0" smtClean="0"/>
              <a:t>of </a:t>
            </a:r>
            <a:r>
              <a:rPr lang="en-US" sz="2400" dirty="0"/>
              <a:t>5% per year.</a:t>
            </a:r>
          </a:p>
        </p:txBody>
      </p:sp>
    </p:spTree>
    <p:extLst>
      <p:ext uri="{BB962C8B-B14F-4D97-AF65-F5344CB8AC3E}">
        <p14:creationId xmlns:p14="http://schemas.microsoft.com/office/powerpoint/2010/main" val="63567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359489" y="5825514"/>
            <a:ext cx="9601200" cy="568725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922" y="296938"/>
            <a:ext cx="10997295" cy="5377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601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662270" y="5141228"/>
            <a:ext cx="9601200" cy="1440735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314" y="204109"/>
            <a:ext cx="10861111" cy="5821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918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02368" y="2579256"/>
            <a:ext cx="11218056" cy="3275153"/>
          </a:xfrm>
        </p:spPr>
        <p:txBody>
          <a:bodyPr>
            <a:noAutofit/>
          </a:bodyPr>
          <a:lstStyle/>
          <a:p>
            <a:r>
              <a:rPr lang="en-US" sz="2400" b="1" dirty="0" smtClean="0"/>
              <a:t>Comment</a:t>
            </a:r>
            <a:endParaRPr lang="en-US" sz="2400" b="1" dirty="0"/>
          </a:p>
          <a:p>
            <a:r>
              <a:rPr lang="en-US" sz="2400" i="1" dirty="0"/>
              <a:t>Remember: </a:t>
            </a:r>
            <a:r>
              <a:rPr lang="en-US" sz="2400" dirty="0"/>
              <a:t>The </a:t>
            </a:r>
            <a:r>
              <a:rPr lang="en-US" sz="2400" i="1" dirty="0"/>
              <a:t>P</a:t>
            </a:r>
            <a:r>
              <a:rPr lang="en-US" sz="2400" dirty="0"/>
              <a:t>∕</a:t>
            </a:r>
            <a:r>
              <a:rPr lang="en-US" sz="2400" i="1" dirty="0"/>
              <a:t>G </a:t>
            </a:r>
            <a:r>
              <a:rPr lang="en-US" sz="2400" dirty="0"/>
              <a:t>and </a:t>
            </a:r>
            <a:r>
              <a:rPr lang="en-US" sz="2400" i="1" dirty="0"/>
              <a:t>A</a:t>
            </a:r>
            <a:r>
              <a:rPr lang="en-US" sz="2400" dirty="0"/>
              <a:t>∕</a:t>
            </a:r>
            <a:r>
              <a:rPr lang="en-US" sz="2400" i="1" dirty="0"/>
              <a:t>G </a:t>
            </a:r>
            <a:r>
              <a:rPr lang="en-US" sz="2400" dirty="0"/>
              <a:t>factors determine the present worth and annual series of </a:t>
            </a:r>
            <a:r>
              <a:rPr lang="en-US" sz="2400" dirty="0" smtClean="0"/>
              <a:t>the</a:t>
            </a:r>
            <a:r>
              <a:rPr lang="tr-TR" sz="2400" dirty="0" smtClean="0"/>
              <a:t> </a:t>
            </a:r>
            <a:r>
              <a:rPr lang="en-US" sz="2400" i="1" dirty="0" smtClean="0"/>
              <a:t>gradient </a:t>
            </a:r>
            <a:r>
              <a:rPr lang="en-US" sz="2400" i="1" dirty="0"/>
              <a:t>only. </a:t>
            </a:r>
            <a:endParaRPr lang="tr-TR" sz="2400" i="1" dirty="0" smtClean="0"/>
          </a:p>
          <a:p>
            <a:r>
              <a:rPr lang="en-US" sz="2400" dirty="0" smtClean="0"/>
              <a:t>Any </a:t>
            </a:r>
            <a:r>
              <a:rPr lang="en-US" sz="2400" dirty="0"/>
              <a:t>other cash flows must be considered separately.</a:t>
            </a:r>
          </a:p>
          <a:p>
            <a:r>
              <a:rPr lang="en-US" sz="2400" dirty="0"/>
              <a:t>If the present worth is already calculated [as in part </a:t>
            </a:r>
            <a:r>
              <a:rPr lang="en-US" sz="2400" i="1" dirty="0"/>
              <a:t>(a</a:t>
            </a:r>
            <a:r>
              <a:rPr lang="en-US" sz="2400" dirty="0"/>
              <a:t>)], </a:t>
            </a:r>
            <a:r>
              <a:rPr lang="en-US" sz="2400" i="1" dirty="0"/>
              <a:t>PT </a:t>
            </a:r>
            <a:r>
              <a:rPr lang="en-US" sz="2400" dirty="0"/>
              <a:t>can be multiplied by an </a:t>
            </a:r>
            <a:r>
              <a:rPr lang="en-US" sz="2400" i="1" dirty="0"/>
              <a:t>A</a:t>
            </a:r>
            <a:r>
              <a:rPr lang="en-US" sz="2400" dirty="0"/>
              <a:t>∕</a:t>
            </a:r>
            <a:r>
              <a:rPr lang="en-US" sz="2400" i="1" dirty="0" smtClean="0"/>
              <a:t>P</a:t>
            </a:r>
            <a:r>
              <a:rPr lang="tr-TR" sz="2400" i="1" dirty="0" smtClean="0"/>
              <a:t> </a:t>
            </a:r>
            <a:r>
              <a:rPr lang="en-US" sz="2400" dirty="0" smtClean="0"/>
              <a:t>factor </a:t>
            </a:r>
            <a:r>
              <a:rPr lang="en-US" sz="2400" dirty="0"/>
              <a:t>to get </a:t>
            </a:r>
            <a:r>
              <a:rPr lang="en-US" sz="2400" i="1" dirty="0"/>
              <a:t>AT</a:t>
            </a:r>
            <a:r>
              <a:rPr lang="en-US" sz="2400" dirty="0"/>
              <a:t>. In this case, considering round-off error,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3149" y="1303604"/>
            <a:ext cx="6388688" cy="1110507"/>
          </a:xfrm>
          <a:prstGeom prst="rect">
            <a:avLst/>
          </a:prstGeom>
        </p:spPr>
      </p:pic>
      <p:sp>
        <p:nvSpPr>
          <p:cNvPr id="5" name="İçerik Yer Tutucusu 2"/>
          <p:cNvSpPr txBox="1">
            <a:spLocks/>
          </p:cNvSpPr>
          <p:nvPr/>
        </p:nvSpPr>
        <p:spPr>
          <a:xfrm>
            <a:off x="991103" y="143319"/>
            <a:ext cx="10550925" cy="995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2400" i="1" dirty="0" smtClean="0"/>
              <a:t>(b)</a:t>
            </a:r>
            <a:r>
              <a:rPr lang="tr-TR" sz="2400" dirty="0" smtClean="0"/>
              <a:t> </a:t>
            </a:r>
            <a:r>
              <a:rPr lang="en-US" sz="2400" dirty="0" smtClean="0"/>
              <a:t>consider the gradient and the base amount separately</a:t>
            </a:r>
            <a:r>
              <a:rPr lang="tr-TR" sz="2400" dirty="0" smtClean="0"/>
              <a:t>.</a:t>
            </a:r>
          </a:p>
          <a:p>
            <a:r>
              <a:rPr lang="en-US" sz="2400" dirty="0" smtClean="0"/>
              <a:t>The</a:t>
            </a:r>
            <a:r>
              <a:rPr lang="tr-TR" sz="2400" dirty="0" smtClean="0"/>
              <a:t> </a:t>
            </a:r>
            <a:r>
              <a:rPr lang="en-US" sz="2400" dirty="0" smtClean="0"/>
              <a:t>total annual series </a:t>
            </a:r>
            <a:r>
              <a:rPr lang="en-US" sz="2400" i="1" dirty="0" smtClean="0"/>
              <a:t>A</a:t>
            </a:r>
            <a:r>
              <a:rPr lang="en-US" sz="2400" i="1" baseline="-25000" dirty="0" smtClean="0"/>
              <a:t>T</a:t>
            </a:r>
            <a:r>
              <a:rPr lang="en-US" sz="2400" i="1" dirty="0" smtClean="0"/>
              <a:t> </a:t>
            </a:r>
            <a:r>
              <a:rPr lang="tr-TR" sz="2400" i="1" dirty="0" smtClean="0"/>
              <a:t>(</a:t>
            </a:r>
            <a:r>
              <a:rPr lang="en-US" sz="2400" dirty="0" smtClean="0"/>
              <a:t>occur</a:t>
            </a:r>
            <a:r>
              <a:rPr lang="tr-TR" sz="2400" dirty="0" err="1" smtClean="0"/>
              <a:t>ing</a:t>
            </a:r>
            <a:r>
              <a:rPr lang="en-US" sz="2400" dirty="0" smtClean="0"/>
              <a:t> in years 1 through 10. </a:t>
            </a:r>
            <a:r>
              <a:rPr lang="tr-TR" sz="2400" dirty="0" smtClean="0"/>
              <a:t>) </a:t>
            </a:r>
            <a:r>
              <a:rPr lang="en-US" sz="2400" dirty="0" smtClean="0"/>
              <a:t>is found by</a:t>
            </a:r>
            <a:endParaRPr lang="tr-TR" sz="2400" dirty="0" smtClean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6539" y="5336445"/>
            <a:ext cx="6041908" cy="1157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703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020373" y="280073"/>
            <a:ext cx="9074360" cy="658550"/>
          </a:xfrm>
        </p:spPr>
        <p:txBody>
          <a:bodyPr>
            <a:normAutofit fontScale="90000"/>
          </a:bodyPr>
          <a:lstStyle/>
          <a:p>
            <a:r>
              <a:rPr lang="tr-TR" dirty="0" smtClean="0"/>
              <a:t>EXAMPLE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923483" y="1008262"/>
            <a:ext cx="11012162" cy="5586319"/>
          </a:xfrm>
        </p:spPr>
        <p:txBody>
          <a:bodyPr>
            <a:noAutofit/>
          </a:bodyPr>
          <a:lstStyle/>
          <a:p>
            <a:r>
              <a:rPr lang="en-US" sz="2400" dirty="0"/>
              <a:t>The announcement of the HBNA steel plant states that the $200 million (M) investment </a:t>
            </a:r>
            <a:r>
              <a:rPr lang="en-US" sz="2400" dirty="0" smtClean="0"/>
              <a:t>is</a:t>
            </a:r>
            <a:r>
              <a:rPr lang="tr-TR" sz="2400" dirty="0" smtClean="0"/>
              <a:t> </a:t>
            </a:r>
            <a:r>
              <a:rPr lang="en-US" sz="2400" dirty="0" smtClean="0"/>
              <a:t>planned </a:t>
            </a:r>
            <a:r>
              <a:rPr lang="en-US" sz="2400" dirty="0"/>
              <a:t>for 2020. Most large investment commitments are actually spread out over </a:t>
            </a:r>
            <a:r>
              <a:rPr lang="en-US" sz="2400" dirty="0" smtClean="0"/>
              <a:t>several</a:t>
            </a:r>
            <a:r>
              <a:rPr lang="tr-TR" sz="2400" dirty="0" smtClean="0"/>
              <a:t> </a:t>
            </a:r>
            <a:r>
              <a:rPr lang="en-US" sz="2400" dirty="0" smtClean="0"/>
              <a:t>years </a:t>
            </a:r>
            <a:r>
              <a:rPr lang="en-US" sz="2400" dirty="0"/>
              <a:t>as the plant is constructed and production is initiated. Further investigation may </a:t>
            </a:r>
            <a:r>
              <a:rPr lang="en-US" sz="2400" dirty="0" smtClean="0"/>
              <a:t>determine,</a:t>
            </a:r>
            <a:r>
              <a:rPr lang="tr-TR" sz="2400" dirty="0" smtClean="0"/>
              <a:t> </a:t>
            </a:r>
            <a:r>
              <a:rPr lang="en-US" sz="2400" dirty="0" smtClean="0"/>
              <a:t>for </a:t>
            </a:r>
            <a:r>
              <a:rPr lang="en-US" sz="2400" dirty="0"/>
              <a:t>example, that the $200 M is a present worth in the year 2020 of anticipated </a:t>
            </a:r>
            <a:r>
              <a:rPr lang="en-US" sz="2400" dirty="0" smtClean="0"/>
              <a:t>investments</a:t>
            </a:r>
            <a:r>
              <a:rPr lang="tr-TR" sz="2400" dirty="0" smtClean="0"/>
              <a:t> </a:t>
            </a:r>
            <a:r>
              <a:rPr lang="en-US" sz="2400" dirty="0" smtClean="0"/>
              <a:t>during </a:t>
            </a:r>
            <a:r>
              <a:rPr lang="en-US" sz="2400" dirty="0"/>
              <a:t>the next 4 years (2021 through 2024). Assume the amount planned for 2021 </a:t>
            </a:r>
            <a:r>
              <a:rPr lang="en-US" sz="2400" dirty="0" smtClean="0"/>
              <a:t>is</a:t>
            </a:r>
            <a:r>
              <a:rPr lang="tr-TR" sz="2400" dirty="0" smtClean="0"/>
              <a:t> </a:t>
            </a:r>
            <a:r>
              <a:rPr lang="en-US" sz="2400" dirty="0" smtClean="0"/>
              <a:t>$100 </a:t>
            </a:r>
            <a:r>
              <a:rPr lang="en-US" sz="2400" dirty="0"/>
              <a:t>M with constant decreases of $25 M each year thereafter</a:t>
            </a:r>
            <a:r>
              <a:rPr lang="en-US" sz="2400" dirty="0" smtClean="0"/>
              <a:t>. </a:t>
            </a:r>
            <a:r>
              <a:rPr lang="tr-TR" sz="2400" dirty="0" smtClean="0"/>
              <a:t>A</a:t>
            </a:r>
            <a:r>
              <a:rPr lang="en-US" sz="2400" dirty="0" err="1" smtClean="0"/>
              <a:t>ssume</a:t>
            </a:r>
            <a:r>
              <a:rPr lang="en-US" sz="2400" dirty="0" smtClean="0"/>
              <a:t> </a:t>
            </a:r>
            <a:r>
              <a:rPr lang="en-US" sz="2400" dirty="0"/>
              <a:t>the </a:t>
            </a:r>
            <a:r>
              <a:rPr lang="en-US" sz="2400" dirty="0" smtClean="0"/>
              <a:t>time</a:t>
            </a:r>
            <a:r>
              <a:rPr lang="tr-TR" sz="2400" dirty="0" smtClean="0"/>
              <a:t> </a:t>
            </a:r>
            <a:r>
              <a:rPr lang="en-US" sz="2400" dirty="0" smtClean="0"/>
              <a:t>value </a:t>
            </a:r>
            <a:r>
              <a:rPr lang="en-US" sz="2400" dirty="0"/>
              <a:t>of money for investment capital is 10% per year to answer the following questions </a:t>
            </a:r>
            <a:endParaRPr lang="tr-TR" sz="2400" dirty="0" smtClean="0"/>
          </a:p>
          <a:p>
            <a:r>
              <a:rPr lang="en-US" sz="2400" dirty="0" smtClean="0"/>
              <a:t>(</a:t>
            </a:r>
            <a:r>
              <a:rPr lang="en-US" sz="2400" i="1" dirty="0"/>
              <a:t>a</a:t>
            </a:r>
            <a:r>
              <a:rPr lang="en-US" sz="2400" dirty="0"/>
              <a:t>) In equivalent present worth values, does the planned decreasing investment series </a:t>
            </a:r>
            <a:r>
              <a:rPr lang="en-US" sz="2400" dirty="0" smtClean="0"/>
              <a:t>equal</a:t>
            </a:r>
            <a:r>
              <a:rPr lang="tr-TR" sz="2400" dirty="0" smtClean="0"/>
              <a:t> </a:t>
            </a:r>
            <a:r>
              <a:rPr lang="en-US" sz="2400" dirty="0" smtClean="0"/>
              <a:t>the </a:t>
            </a:r>
            <a:r>
              <a:rPr lang="en-US" sz="2400" dirty="0"/>
              <a:t>announced $200 M in 2020? Use both tabulated factors and spreadsheet functions</a:t>
            </a:r>
            <a:r>
              <a:rPr lang="en-US" sz="2400" dirty="0" smtClean="0"/>
              <a:t>.</a:t>
            </a:r>
            <a:r>
              <a:rPr lang="tr-TR" sz="2400" dirty="0" smtClean="0"/>
              <a:t> </a:t>
            </a:r>
          </a:p>
          <a:p>
            <a:r>
              <a:rPr lang="en-US" sz="2400" dirty="0" smtClean="0"/>
              <a:t>(</a:t>
            </a:r>
            <a:r>
              <a:rPr lang="en-US" sz="2400" i="1" dirty="0"/>
              <a:t>b</a:t>
            </a:r>
            <a:r>
              <a:rPr lang="en-US" sz="2400" dirty="0"/>
              <a:t>) Given the planned investment series, what is the equivalent annual amount that will be </a:t>
            </a:r>
            <a:r>
              <a:rPr lang="en-US" sz="2400" dirty="0" smtClean="0"/>
              <a:t>invested</a:t>
            </a:r>
            <a:r>
              <a:rPr lang="tr-TR" sz="2400" dirty="0" smtClean="0"/>
              <a:t> </a:t>
            </a:r>
            <a:r>
              <a:rPr lang="en-US" sz="2400" dirty="0" smtClean="0"/>
              <a:t>from </a:t>
            </a:r>
            <a:r>
              <a:rPr lang="en-US" sz="2400" dirty="0"/>
              <a:t>2021 to 2024? </a:t>
            </a:r>
            <a:endParaRPr lang="tr-TR" sz="2400" dirty="0" smtClean="0"/>
          </a:p>
        </p:txBody>
      </p:sp>
    </p:spTree>
    <p:extLst>
      <p:ext uri="{BB962C8B-B14F-4D97-AF65-F5344CB8AC3E}">
        <p14:creationId xmlns:p14="http://schemas.microsoft.com/office/powerpoint/2010/main" val="288721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948837" y="276864"/>
            <a:ext cx="4859641" cy="3035565"/>
          </a:xfrm>
        </p:spPr>
        <p:txBody>
          <a:bodyPr>
            <a:normAutofit/>
          </a:bodyPr>
          <a:lstStyle/>
          <a:p>
            <a:r>
              <a:rPr lang="en-US" sz="2400" dirty="0"/>
              <a:t>(</a:t>
            </a:r>
            <a:r>
              <a:rPr lang="en-US" sz="2400" i="1" dirty="0"/>
              <a:t>a</a:t>
            </a:r>
            <a:r>
              <a:rPr lang="en-US" sz="2400" dirty="0"/>
              <a:t>) The investment series is a decreasing arithmetic gradient with a base amount of $100 </a:t>
            </a:r>
            <a:r>
              <a:rPr lang="en-US" sz="2400" dirty="0" smtClean="0"/>
              <a:t>M</a:t>
            </a:r>
            <a:r>
              <a:rPr lang="tr-TR" sz="2400" dirty="0" smtClean="0"/>
              <a:t> </a:t>
            </a:r>
            <a:r>
              <a:rPr lang="en-US" sz="2400" dirty="0" smtClean="0"/>
              <a:t>in </a:t>
            </a:r>
            <a:r>
              <a:rPr lang="en-US" sz="2400" dirty="0"/>
              <a:t>year 1 (2021) and </a:t>
            </a:r>
            <a:r>
              <a:rPr lang="en-US" sz="2400" i="1" dirty="0"/>
              <a:t>G </a:t>
            </a:r>
            <a:r>
              <a:rPr lang="en-US" sz="2400" dirty="0"/>
              <a:t>= $−25 M through year 4 (2024</a:t>
            </a:r>
            <a:r>
              <a:rPr lang="en-US" sz="2400" dirty="0" smtClean="0"/>
              <a:t>).</a:t>
            </a:r>
            <a:endParaRPr lang="tr-TR" sz="2400" dirty="0" smtClean="0"/>
          </a:p>
          <a:p>
            <a:r>
              <a:rPr lang="tr-TR" sz="2400" dirty="0" smtClean="0"/>
              <a:t>S</a:t>
            </a:r>
            <a:r>
              <a:rPr lang="en-US" sz="2400" dirty="0" err="1" smtClean="0"/>
              <a:t>haded</a:t>
            </a:r>
            <a:r>
              <a:rPr lang="en-US" sz="2400" dirty="0" smtClean="0"/>
              <a:t> </a:t>
            </a:r>
            <a:r>
              <a:rPr lang="en-US" sz="2400" dirty="0"/>
              <a:t>area </a:t>
            </a:r>
            <a:r>
              <a:rPr lang="en-US" sz="2400" dirty="0" smtClean="0"/>
              <a:t>show</a:t>
            </a:r>
            <a:r>
              <a:rPr lang="tr-TR" sz="2400" dirty="0" smtClean="0"/>
              <a:t>s</a:t>
            </a:r>
            <a:r>
              <a:rPr lang="en-US" sz="2400" dirty="0" smtClean="0"/>
              <a:t> </a:t>
            </a:r>
            <a:r>
              <a:rPr lang="en-US" sz="2400" dirty="0"/>
              <a:t>the constantly declining investment each year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179" y="70770"/>
            <a:ext cx="5655957" cy="3681392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622" y="3907631"/>
            <a:ext cx="6785335" cy="1646391"/>
          </a:xfrm>
          <a:prstGeom prst="rect">
            <a:avLst/>
          </a:prstGeom>
        </p:spPr>
      </p:pic>
      <p:sp>
        <p:nvSpPr>
          <p:cNvPr id="6" name="İçerik Yer Tutucusu 2"/>
          <p:cNvSpPr txBox="1">
            <a:spLocks/>
          </p:cNvSpPr>
          <p:nvPr/>
        </p:nvSpPr>
        <p:spPr>
          <a:xfrm>
            <a:off x="908346" y="5709491"/>
            <a:ext cx="10900132" cy="9395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In present worth terms, the planned series will exceed the equivalent of $200 M in </a:t>
            </a:r>
            <a:r>
              <a:rPr lang="en-US" sz="2400" dirty="0" smtClean="0"/>
              <a:t>2020</a:t>
            </a:r>
            <a:r>
              <a:rPr lang="tr-TR" sz="2400" dirty="0" smtClean="0"/>
              <a:t> </a:t>
            </a:r>
            <a:r>
              <a:rPr lang="en-US" sz="2400" dirty="0" smtClean="0"/>
              <a:t>by </a:t>
            </a:r>
            <a:r>
              <a:rPr lang="en-US" sz="2400" dirty="0"/>
              <a:t>approximately $7.5 M.</a:t>
            </a:r>
          </a:p>
        </p:txBody>
      </p:sp>
    </p:spTree>
    <p:extLst>
      <p:ext uri="{BB962C8B-B14F-4D97-AF65-F5344CB8AC3E}">
        <p14:creationId xmlns:p14="http://schemas.microsoft.com/office/powerpoint/2010/main" val="1070004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47542" y="460016"/>
            <a:ext cx="10551934" cy="781997"/>
          </a:xfrm>
        </p:spPr>
        <p:txBody>
          <a:bodyPr>
            <a:normAutofit/>
          </a:bodyPr>
          <a:lstStyle/>
          <a:p>
            <a:r>
              <a:rPr lang="en-US" sz="2400" dirty="0"/>
              <a:t>(</a:t>
            </a:r>
            <a:r>
              <a:rPr lang="en-US" sz="2400" i="1" dirty="0"/>
              <a:t>b</a:t>
            </a:r>
            <a:r>
              <a:rPr lang="en-US" sz="2400" dirty="0"/>
              <a:t>) </a:t>
            </a:r>
            <a:r>
              <a:rPr lang="en-US" sz="2400" dirty="0" smtClean="0"/>
              <a:t>There </a:t>
            </a:r>
            <a:r>
              <a:rPr lang="en-US" sz="2400" dirty="0"/>
              <a:t>are two equally correct ways to find </a:t>
            </a:r>
            <a:r>
              <a:rPr lang="en-US" sz="2400" i="1" dirty="0"/>
              <a:t>A</a:t>
            </a:r>
            <a:r>
              <a:rPr lang="en-US" sz="2400" i="1" baseline="-25000" dirty="0"/>
              <a:t>T</a:t>
            </a:r>
            <a:r>
              <a:rPr lang="en-US" sz="2400" dirty="0"/>
              <a:t>. </a:t>
            </a:r>
            <a:endParaRPr lang="tr-TR" sz="2400" dirty="0" smtClean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499" y="2902682"/>
            <a:ext cx="7436152" cy="1251162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9615" y="5147180"/>
            <a:ext cx="7288900" cy="1282975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3549" y="1771560"/>
            <a:ext cx="2492737" cy="734225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4230" y="4522122"/>
            <a:ext cx="1237269" cy="516161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4230" y="1453352"/>
            <a:ext cx="628533" cy="43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490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050652" y="328517"/>
            <a:ext cx="9395309" cy="65249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Geometric Gradient Series Factors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05150" y="1329208"/>
            <a:ext cx="10382377" cy="3757519"/>
          </a:xfrm>
        </p:spPr>
        <p:txBody>
          <a:bodyPr>
            <a:normAutofit/>
          </a:bodyPr>
          <a:lstStyle/>
          <a:p>
            <a:r>
              <a:rPr lang="en-US" sz="2400" dirty="0"/>
              <a:t>Cash flow series that increase or decrease from period to </a:t>
            </a:r>
            <a:r>
              <a:rPr lang="en-US" sz="2400" dirty="0" smtClean="0"/>
              <a:t>period</a:t>
            </a:r>
            <a:r>
              <a:rPr lang="tr-TR" sz="2400" dirty="0" smtClean="0"/>
              <a:t> </a:t>
            </a:r>
            <a:r>
              <a:rPr lang="en-US" sz="2400" dirty="0" smtClean="0"/>
              <a:t>by </a:t>
            </a:r>
            <a:r>
              <a:rPr lang="en-US" sz="2400" dirty="0"/>
              <a:t>constant percentage.</a:t>
            </a:r>
          </a:p>
          <a:p>
            <a:r>
              <a:rPr lang="en-US" sz="2400" i="1" dirty="0"/>
              <a:t>g </a:t>
            </a:r>
            <a:r>
              <a:rPr lang="en-US" sz="2400" dirty="0"/>
              <a:t>is the constant rate of change in decimal form, by </a:t>
            </a:r>
            <a:r>
              <a:rPr lang="en-US" sz="2400" dirty="0" smtClean="0"/>
              <a:t>which</a:t>
            </a:r>
            <a:r>
              <a:rPr lang="tr-TR" sz="2400" dirty="0" smtClean="0"/>
              <a:t> </a:t>
            </a:r>
            <a:r>
              <a:rPr lang="en-US" sz="2400" dirty="0" smtClean="0"/>
              <a:t>amounts </a:t>
            </a:r>
            <a:r>
              <a:rPr lang="en-US" sz="2400" dirty="0"/>
              <a:t>change</a:t>
            </a:r>
          </a:p>
          <a:p>
            <a:r>
              <a:rPr lang="en-US" sz="2400" dirty="0"/>
              <a:t>The series starts at the end of year 1, with amount </a:t>
            </a:r>
            <a:r>
              <a:rPr lang="en-US" sz="2400" i="1" dirty="0"/>
              <a:t>A</a:t>
            </a:r>
            <a:r>
              <a:rPr lang="en-US" sz="2400" dirty="0"/>
              <a:t>1, which </a:t>
            </a:r>
            <a:r>
              <a:rPr lang="en-US" sz="2400" dirty="0" smtClean="0"/>
              <a:t>is</a:t>
            </a:r>
            <a:r>
              <a:rPr lang="tr-TR" sz="2400" dirty="0" smtClean="0"/>
              <a:t> </a:t>
            </a:r>
            <a:r>
              <a:rPr lang="en-US" sz="2400" dirty="0" smtClean="0"/>
              <a:t>not </a:t>
            </a:r>
            <a:r>
              <a:rPr lang="en-US" sz="2400" dirty="0"/>
              <a:t>considered as a base amount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179" y="4014178"/>
            <a:ext cx="11077764" cy="214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159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99260" y="266446"/>
            <a:ext cx="10951605" cy="1949914"/>
          </a:xfrm>
        </p:spPr>
        <p:txBody>
          <a:bodyPr>
            <a:normAutofit/>
          </a:bodyPr>
          <a:lstStyle/>
          <a:p>
            <a:r>
              <a:rPr lang="en-US" sz="2400" dirty="0"/>
              <a:t>Note that the initial cash flow </a:t>
            </a:r>
            <a:r>
              <a:rPr lang="en-US" sz="2400" b="1" i="1" dirty="0"/>
              <a:t>A</a:t>
            </a:r>
            <a:r>
              <a:rPr lang="en-US" sz="2400" b="1" baseline="-25000" dirty="0"/>
              <a:t>1</a:t>
            </a:r>
            <a:r>
              <a:rPr lang="en-US" sz="2400" b="1" dirty="0"/>
              <a:t> is not considered separately </a:t>
            </a:r>
            <a:r>
              <a:rPr lang="en-US" sz="2400" dirty="0"/>
              <a:t>when working with </a:t>
            </a:r>
            <a:r>
              <a:rPr lang="en-US" sz="2400" dirty="0" smtClean="0"/>
              <a:t>geometric</a:t>
            </a:r>
            <a:r>
              <a:rPr lang="tr-TR" sz="2400" dirty="0" smtClean="0"/>
              <a:t> </a:t>
            </a:r>
            <a:r>
              <a:rPr lang="en-US" sz="2400" dirty="0" smtClean="0"/>
              <a:t>gradients.</a:t>
            </a:r>
            <a:endParaRPr lang="tr-TR" sz="2400" dirty="0" smtClean="0"/>
          </a:p>
          <a:p>
            <a:r>
              <a:rPr lang="en-US" sz="2400" dirty="0"/>
              <a:t>Figure </a:t>
            </a:r>
            <a:r>
              <a:rPr lang="en-US" sz="2400" dirty="0" smtClean="0"/>
              <a:t>shows </a:t>
            </a:r>
            <a:r>
              <a:rPr lang="en-US" sz="2400" dirty="0"/>
              <a:t>increasing and decreasing geometric gradients starting at an amount </a:t>
            </a:r>
            <a:r>
              <a:rPr lang="en-US" sz="2400" i="1" dirty="0"/>
              <a:t>A</a:t>
            </a:r>
            <a:r>
              <a:rPr lang="en-US" sz="2400" baseline="-25000" dirty="0"/>
              <a:t>1</a:t>
            </a:r>
            <a:r>
              <a:rPr lang="en-US" sz="2400" dirty="0"/>
              <a:t> </a:t>
            </a:r>
            <a:r>
              <a:rPr lang="en-US" sz="2400" dirty="0" smtClean="0"/>
              <a:t>in</a:t>
            </a:r>
            <a:r>
              <a:rPr lang="tr-TR" sz="2400" dirty="0" smtClean="0"/>
              <a:t> </a:t>
            </a:r>
            <a:r>
              <a:rPr lang="en-US" sz="2400" dirty="0" smtClean="0"/>
              <a:t>time </a:t>
            </a:r>
            <a:r>
              <a:rPr lang="en-US" sz="2400" dirty="0"/>
              <a:t>period 1 with present worth </a:t>
            </a:r>
            <a:r>
              <a:rPr lang="en-US" sz="2400" i="1" dirty="0" err="1"/>
              <a:t>Pg</a:t>
            </a:r>
            <a:r>
              <a:rPr lang="en-US" sz="2400" i="1" dirty="0"/>
              <a:t> </a:t>
            </a:r>
            <a:r>
              <a:rPr lang="en-US" sz="2400" dirty="0"/>
              <a:t>located at time 0.</a:t>
            </a:r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432" y="2319079"/>
            <a:ext cx="11301956" cy="380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597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14319" y="342142"/>
            <a:ext cx="10267318" cy="729705"/>
          </a:xfrm>
        </p:spPr>
        <p:txBody>
          <a:bodyPr>
            <a:noAutofit/>
          </a:bodyPr>
          <a:lstStyle/>
          <a:p>
            <a:r>
              <a:rPr lang="en-US" sz="2400" dirty="0"/>
              <a:t>The total present worth </a:t>
            </a:r>
            <a:r>
              <a:rPr lang="en-US" sz="2400" i="1" dirty="0" err="1"/>
              <a:t>Pg</a:t>
            </a:r>
            <a:r>
              <a:rPr lang="en-US" sz="2400" i="1" dirty="0"/>
              <a:t> </a:t>
            </a:r>
            <a:r>
              <a:rPr lang="en-US" sz="2400" dirty="0"/>
              <a:t>for the entire cash flow series can </a:t>
            </a:r>
            <a:r>
              <a:rPr lang="en-US" sz="2400" dirty="0" smtClean="0"/>
              <a:t>be</a:t>
            </a:r>
            <a:r>
              <a:rPr lang="tr-TR" sz="2400" dirty="0" smtClean="0"/>
              <a:t> </a:t>
            </a:r>
            <a:r>
              <a:rPr lang="en-US" sz="2400" dirty="0" smtClean="0"/>
              <a:t>derived </a:t>
            </a:r>
            <a:r>
              <a:rPr lang="en-US" sz="2400" dirty="0"/>
              <a:t>as: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182" y="1418443"/>
            <a:ext cx="9781860" cy="315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697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067" y="820313"/>
            <a:ext cx="11229154" cy="3288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913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178" y="68517"/>
            <a:ext cx="10311710" cy="5008373"/>
          </a:xfrm>
          <a:prstGeom prst="rect">
            <a:avLst/>
          </a:prstGeom>
        </p:spPr>
      </p:pic>
      <p:sp>
        <p:nvSpPr>
          <p:cNvPr id="5" name="İçerik Yer Tutucusu 2"/>
          <p:cNvSpPr txBox="1">
            <a:spLocks/>
          </p:cNvSpPr>
          <p:nvPr/>
        </p:nvSpPr>
        <p:spPr>
          <a:xfrm>
            <a:off x="672174" y="5205822"/>
            <a:ext cx="11184747" cy="16007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These two factors, depending on the case whether </a:t>
            </a:r>
            <a:r>
              <a:rPr lang="en-US" sz="2400" i="1" dirty="0" smtClean="0"/>
              <a:t>g </a:t>
            </a:r>
            <a:r>
              <a:rPr lang="en-US" sz="2400" dirty="0" smtClean="0"/>
              <a:t>= </a:t>
            </a:r>
            <a:r>
              <a:rPr lang="en-US" sz="2400" i="1" dirty="0" err="1" smtClean="0"/>
              <a:t>i</a:t>
            </a:r>
            <a:r>
              <a:rPr lang="en-US" sz="2400" i="1" dirty="0" smtClean="0"/>
              <a:t> </a:t>
            </a:r>
            <a:r>
              <a:rPr lang="en-US" sz="2400" dirty="0" smtClean="0"/>
              <a:t>or not, will</a:t>
            </a:r>
            <a:r>
              <a:rPr lang="tr-TR" sz="2400" dirty="0" smtClean="0"/>
              <a:t> </a:t>
            </a:r>
            <a:r>
              <a:rPr lang="en-US" sz="2400" dirty="0" smtClean="0"/>
              <a:t>transform the geometric-gradient series starting at the end of period 1</a:t>
            </a:r>
            <a:r>
              <a:rPr lang="tr-TR" sz="2400" dirty="0" smtClean="0"/>
              <a:t> </a:t>
            </a:r>
            <a:r>
              <a:rPr lang="en-US" sz="2400" dirty="0" smtClean="0"/>
              <a:t>with amount </a:t>
            </a:r>
            <a:r>
              <a:rPr lang="en-US" sz="2400" i="1" dirty="0" smtClean="0"/>
              <a:t>A</a:t>
            </a:r>
            <a:r>
              <a:rPr lang="en-US" sz="2400" dirty="0" smtClean="0"/>
              <a:t>1 that is changing with constant rate </a:t>
            </a:r>
            <a:r>
              <a:rPr lang="en-US" sz="2400" i="1" dirty="0" smtClean="0"/>
              <a:t>g </a:t>
            </a:r>
            <a:r>
              <a:rPr lang="en-US" sz="2400" dirty="0" smtClean="0"/>
              <a:t>to the </a:t>
            </a:r>
            <a:r>
              <a:rPr lang="en-US" sz="2400" dirty="0" err="1" smtClean="0"/>
              <a:t>the</a:t>
            </a:r>
            <a:r>
              <a:rPr lang="en-US" sz="2400" dirty="0" smtClean="0"/>
              <a:t> present</a:t>
            </a:r>
            <a:r>
              <a:rPr lang="tr-TR" sz="2400" dirty="0" smtClean="0"/>
              <a:t> </a:t>
            </a:r>
            <a:r>
              <a:rPr lang="en-US" sz="2400" dirty="0" smtClean="0"/>
              <a:t>worth </a:t>
            </a:r>
            <a:r>
              <a:rPr lang="en-US" sz="2400" i="1" dirty="0" err="1" smtClean="0"/>
              <a:t>Pg</a:t>
            </a:r>
            <a:r>
              <a:rPr lang="en-US" sz="2400" i="1" dirty="0" smtClean="0"/>
              <a:t> </a:t>
            </a:r>
            <a:r>
              <a:rPr lang="en-US" sz="2400" dirty="0" smtClean="0"/>
              <a:t>at time 0. The standard notation for the factor is (</a:t>
            </a:r>
            <a:r>
              <a:rPr lang="en-US" sz="2400" i="1" dirty="0" smtClean="0"/>
              <a:t>P</a:t>
            </a:r>
            <a:r>
              <a:rPr lang="en-US" sz="2400" dirty="0" smtClean="0"/>
              <a:t>/</a:t>
            </a:r>
            <a:r>
              <a:rPr lang="en-US" sz="2400" i="1" dirty="0" smtClean="0"/>
              <a:t>A</a:t>
            </a:r>
            <a:r>
              <a:rPr lang="en-US" sz="2400" dirty="0" smtClean="0"/>
              <a:t>, </a:t>
            </a:r>
            <a:r>
              <a:rPr lang="en-US" sz="2400" i="1" dirty="0" smtClean="0"/>
              <a:t>g</a:t>
            </a:r>
            <a:r>
              <a:rPr lang="en-US" sz="2400" dirty="0" smtClean="0"/>
              <a:t>, </a:t>
            </a:r>
            <a:r>
              <a:rPr lang="en-US" sz="2400" i="1" dirty="0" err="1" smtClean="0"/>
              <a:t>i</a:t>
            </a:r>
            <a:r>
              <a:rPr lang="en-US" sz="2400" dirty="0" smtClean="0"/>
              <a:t>, </a:t>
            </a:r>
            <a:r>
              <a:rPr lang="en-US" sz="2400" i="1" dirty="0" smtClean="0"/>
              <a:t>n</a:t>
            </a:r>
            <a:r>
              <a:rPr lang="en-US" sz="2400" dirty="0" smtClean="0"/>
              <a:t>).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56159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967386" y="4017911"/>
            <a:ext cx="10993994" cy="2619059"/>
          </a:xfrm>
        </p:spPr>
        <p:txBody>
          <a:bodyPr>
            <a:noAutofit/>
          </a:bodyPr>
          <a:lstStyle/>
          <a:p>
            <a:r>
              <a:rPr lang="en-US" sz="2400" dirty="0"/>
              <a:t>These two factors, depending on the case whether </a:t>
            </a:r>
            <a:r>
              <a:rPr lang="en-US" sz="2400" i="1" dirty="0"/>
              <a:t>g </a:t>
            </a:r>
            <a:r>
              <a:rPr lang="en-US" sz="2400" dirty="0"/>
              <a:t>= </a:t>
            </a:r>
            <a:r>
              <a:rPr lang="en-US" sz="2400" i="1" dirty="0" err="1"/>
              <a:t>i</a:t>
            </a:r>
            <a:r>
              <a:rPr lang="en-US" sz="2400" i="1" dirty="0"/>
              <a:t> </a:t>
            </a:r>
            <a:r>
              <a:rPr lang="en-US" sz="2400" dirty="0"/>
              <a:t>or not, </a:t>
            </a:r>
            <a:r>
              <a:rPr lang="en-US" sz="2400" dirty="0" smtClean="0"/>
              <a:t>will</a:t>
            </a:r>
            <a:r>
              <a:rPr lang="tr-TR" sz="2400" dirty="0" smtClean="0"/>
              <a:t> </a:t>
            </a:r>
            <a:r>
              <a:rPr lang="en-US" sz="2400" dirty="0" smtClean="0"/>
              <a:t>transform </a:t>
            </a:r>
            <a:r>
              <a:rPr lang="en-US" sz="2400" dirty="0"/>
              <a:t>the geometric-gradient series starting at the end of period </a:t>
            </a:r>
            <a:r>
              <a:rPr lang="en-US" sz="2400" dirty="0" smtClean="0"/>
              <a:t>1</a:t>
            </a:r>
            <a:r>
              <a:rPr lang="tr-TR" sz="2400" dirty="0" smtClean="0"/>
              <a:t> </a:t>
            </a:r>
            <a:r>
              <a:rPr lang="en-US" sz="2400" dirty="0" smtClean="0"/>
              <a:t>with </a:t>
            </a:r>
            <a:r>
              <a:rPr lang="en-US" sz="2400" dirty="0"/>
              <a:t>amount </a:t>
            </a:r>
            <a:r>
              <a:rPr lang="en-US" sz="2400" i="1" dirty="0"/>
              <a:t>A</a:t>
            </a:r>
            <a:r>
              <a:rPr lang="en-US" sz="2400" dirty="0"/>
              <a:t>1 that is changing with constant rate </a:t>
            </a:r>
            <a:r>
              <a:rPr lang="en-US" sz="2400" i="1" dirty="0"/>
              <a:t>g </a:t>
            </a:r>
            <a:r>
              <a:rPr lang="en-US" sz="2400" dirty="0"/>
              <a:t>to the </a:t>
            </a:r>
            <a:r>
              <a:rPr lang="en-US" sz="2400" dirty="0" err="1"/>
              <a:t>the</a:t>
            </a:r>
            <a:r>
              <a:rPr lang="en-US" sz="2400" dirty="0"/>
              <a:t> </a:t>
            </a:r>
            <a:r>
              <a:rPr lang="en-US" sz="2400" dirty="0" smtClean="0"/>
              <a:t>present</a:t>
            </a:r>
            <a:r>
              <a:rPr lang="tr-TR" sz="2400" dirty="0" smtClean="0"/>
              <a:t> </a:t>
            </a:r>
            <a:r>
              <a:rPr lang="en-US" sz="2400" dirty="0" smtClean="0"/>
              <a:t>worth </a:t>
            </a:r>
            <a:r>
              <a:rPr lang="en-US" sz="2400" i="1" dirty="0" err="1"/>
              <a:t>Pg</a:t>
            </a:r>
            <a:r>
              <a:rPr lang="en-US" sz="2400" i="1" dirty="0"/>
              <a:t> </a:t>
            </a:r>
            <a:r>
              <a:rPr lang="en-US" sz="2400" dirty="0"/>
              <a:t>at time 0. The standard notation for the factor is (</a:t>
            </a:r>
            <a:r>
              <a:rPr lang="en-US" sz="2400" i="1" dirty="0"/>
              <a:t>P</a:t>
            </a:r>
            <a:r>
              <a:rPr lang="en-US" sz="2400" dirty="0"/>
              <a:t>/</a:t>
            </a:r>
            <a:r>
              <a:rPr lang="en-US" sz="2400" i="1" dirty="0"/>
              <a:t>A</a:t>
            </a:r>
            <a:r>
              <a:rPr lang="en-US" sz="2400" dirty="0"/>
              <a:t>, </a:t>
            </a:r>
            <a:r>
              <a:rPr lang="en-US" sz="2400" i="1" dirty="0"/>
              <a:t>g</a:t>
            </a:r>
            <a:r>
              <a:rPr lang="en-US" sz="2400" dirty="0"/>
              <a:t>, </a:t>
            </a:r>
            <a:r>
              <a:rPr lang="en-US" sz="2400" i="1" dirty="0" err="1"/>
              <a:t>i</a:t>
            </a:r>
            <a:r>
              <a:rPr lang="en-US" sz="2400" dirty="0"/>
              <a:t>, </a:t>
            </a:r>
            <a:r>
              <a:rPr lang="en-US" sz="2400" i="1" dirty="0"/>
              <a:t>n</a:t>
            </a:r>
            <a:r>
              <a:rPr lang="en-US" sz="2400" dirty="0" smtClean="0"/>
              <a:t>).</a:t>
            </a:r>
            <a:endParaRPr lang="tr-TR" sz="2400" dirty="0" smtClean="0"/>
          </a:p>
          <a:p>
            <a:r>
              <a:rPr lang="en-US" sz="2400" dirty="0"/>
              <a:t>It is possible to derive factors for the equivalent </a:t>
            </a:r>
            <a:r>
              <a:rPr lang="en-US" sz="2400" i="1" dirty="0"/>
              <a:t>A </a:t>
            </a:r>
            <a:r>
              <a:rPr lang="en-US" sz="2400" dirty="0"/>
              <a:t>and </a:t>
            </a:r>
            <a:r>
              <a:rPr lang="en-US" sz="2400" i="1" dirty="0"/>
              <a:t>F </a:t>
            </a:r>
            <a:r>
              <a:rPr lang="en-US" sz="2400" dirty="0"/>
              <a:t>values; however, it is easier to </a:t>
            </a:r>
            <a:r>
              <a:rPr lang="en-US" sz="2400" dirty="0" smtClean="0"/>
              <a:t>determine</a:t>
            </a:r>
            <a:r>
              <a:rPr lang="tr-TR" sz="2400" dirty="0" smtClean="0"/>
              <a:t> </a:t>
            </a:r>
            <a:r>
              <a:rPr lang="en-US" sz="2400" dirty="0" smtClean="0"/>
              <a:t>the </a:t>
            </a:r>
            <a:r>
              <a:rPr lang="en-US" sz="2400" i="1" dirty="0" err="1"/>
              <a:t>Pg</a:t>
            </a:r>
            <a:r>
              <a:rPr lang="en-US" sz="2400" i="1" dirty="0"/>
              <a:t> </a:t>
            </a:r>
            <a:r>
              <a:rPr lang="en-US" sz="2400" dirty="0"/>
              <a:t>amount and then multiply by the </a:t>
            </a:r>
            <a:r>
              <a:rPr lang="en-US" sz="2400" i="1" dirty="0"/>
              <a:t>A</a:t>
            </a:r>
            <a:r>
              <a:rPr lang="en-US" sz="2400" dirty="0"/>
              <a:t>∕</a:t>
            </a:r>
            <a:r>
              <a:rPr lang="en-US" sz="2400" i="1" dirty="0"/>
              <a:t>P </a:t>
            </a:r>
            <a:r>
              <a:rPr lang="en-US" sz="2400" dirty="0"/>
              <a:t>or </a:t>
            </a:r>
            <a:r>
              <a:rPr lang="en-US" sz="2400" i="1" dirty="0"/>
              <a:t>F</a:t>
            </a:r>
            <a:r>
              <a:rPr lang="en-US" sz="2400" dirty="0"/>
              <a:t>∕</a:t>
            </a:r>
            <a:r>
              <a:rPr lang="en-US" sz="2400" i="1" dirty="0"/>
              <a:t>P </a:t>
            </a:r>
            <a:r>
              <a:rPr lang="en-US" sz="2400" dirty="0"/>
              <a:t>factor.</a:t>
            </a:r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706" y="209996"/>
            <a:ext cx="6243355" cy="3415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072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054834" y="486313"/>
            <a:ext cx="9601200" cy="664605"/>
          </a:xfrm>
        </p:spPr>
        <p:txBody>
          <a:bodyPr>
            <a:normAutofit fontScale="90000"/>
          </a:bodyPr>
          <a:lstStyle/>
          <a:p>
            <a:r>
              <a:rPr lang="tr-TR" dirty="0" smtClean="0"/>
              <a:t>EXAMPLE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936422" y="1244779"/>
            <a:ext cx="10977091" cy="2978565"/>
          </a:xfrm>
        </p:spPr>
        <p:txBody>
          <a:bodyPr>
            <a:normAutofit/>
          </a:bodyPr>
          <a:lstStyle/>
          <a:p>
            <a:r>
              <a:rPr lang="en-US" sz="2400" dirty="0"/>
              <a:t>A coal-fired power plant has upgraded an emission control valve. The modification costs </a:t>
            </a:r>
            <a:r>
              <a:rPr lang="en-US" sz="2400" dirty="0" smtClean="0"/>
              <a:t>only</a:t>
            </a:r>
            <a:r>
              <a:rPr lang="tr-TR" sz="2400" dirty="0" smtClean="0"/>
              <a:t> </a:t>
            </a:r>
            <a:r>
              <a:rPr lang="en-US" sz="2400" dirty="0" smtClean="0"/>
              <a:t>$8000 </a:t>
            </a:r>
            <a:r>
              <a:rPr lang="en-US" sz="2400" dirty="0"/>
              <a:t>and is expected to last 6 years with a $200 salvage value. </a:t>
            </a:r>
            <a:endParaRPr lang="tr-TR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maintenance cost is </a:t>
            </a:r>
            <a:r>
              <a:rPr lang="en-US" sz="2400" dirty="0" smtClean="0"/>
              <a:t>expected</a:t>
            </a:r>
            <a:r>
              <a:rPr lang="tr-TR" sz="2400" dirty="0" smtClean="0"/>
              <a:t> </a:t>
            </a:r>
            <a:r>
              <a:rPr lang="en-US" sz="2400" dirty="0" smtClean="0"/>
              <a:t>to </a:t>
            </a:r>
            <a:r>
              <a:rPr lang="en-US" sz="2400" dirty="0"/>
              <a:t>be high at $1700 the first year, increasing by 11% per year thereafter. </a:t>
            </a:r>
            <a:endParaRPr lang="tr-TR" sz="2400" dirty="0" smtClean="0"/>
          </a:p>
          <a:p>
            <a:r>
              <a:rPr lang="en-US" sz="2400" dirty="0" smtClean="0"/>
              <a:t>Determine the</a:t>
            </a:r>
            <a:r>
              <a:rPr lang="tr-TR" sz="2400" dirty="0" smtClean="0"/>
              <a:t> </a:t>
            </a:r>
            <a:r>
              <a:rPr lang="en-US" sz="2400" dirty="0" smtClean="0"/>
              <a:t>equivalent </a:t>
            </a:r>
            <a:r>
              <a:rPr lang="en-US" sz="2400" dirty="0"/>
              <a:t>present worth of the modification and maintenance </a:t>
            </a:r>
            <a:r>
              <a:rPr lang="en-US" sz="2400" dirty="0" smtClean="0"/>
              <a:t>cost</a:t>
            </a:r>
            <a:r>
              <a:rPr lang="tr-TR" sz="2400" dirty="0" smtClean="0"/>
              <a:t> </a:t>
            </a:r>
            <a:r>
              <a:rPr lang="en-US" sz="2400" dirty="0" smtClean="0"/>
              <a:t>at </a:t>
            </a:r>
            <a:r>
              <a:rPr lang="en-US" sz="2400" dirty="0"/>
              <a:t>8% per year</a:t>
            </a:r>
            <a:r>
              <a:rPr lang="en-US" sz="2400" dirty="0" smtClean="0"/>
              <a:t>.</a:t>
            </a:r>
            <a:endParaRPr lang="tr-TR" sz="2400" dirty="0" smtClean="0"/>
          </a:p>
        </p:txBody>
      </p:sp>
    </p:spTree>
    <p:extLst>
      <p:ext uri="{BB962C8B-B14F-4D97-AF65-F5344CB8AC3E}">
        <p14:creationId xmlns:p14="http://schemas.microsoft.com/office/powerpoint/2010/main" val="2106449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9094661" y="1078860"/>
            <a:ext cx="2864902" cy="383521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The </a:t>
            </a:r>
            <a:r>
              <a:rPr lang="en-US" sz="2400" dirty="0"/>
              <a:t>cash flow diagram shows the salvage value as a positive cash flow and all</a:t>
            </a:r>
            <a:r>
              <a:rPr lang="tr-TR" sz="2400" dirty="0"/>
              <a:t> </a:t>
            </a:r>
            <a:r>
              <a:rPr lang="en-US" sz="2400" dirty="0"/>
              <a:t>costs as negative. </a:t>
            </a:r>
            <a:endParaRPr lang="tr-TR" sz="2400" dirty="0"/>
          </a:p>
          <a:p>
            <a:endParaRPr lang="en-US" sz="24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136" y="309186"/>
            <a:ext cx="7985335" cy="594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597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49257" y="463778"/>
            <a:ext cx="10423503" cy="1022944"/>
          </a:xfrm>
        </p:spPr>
        <p:txBody>
          <a:bodyPr>
            <a:noAutofit/>
          </a:bodyPr>
          <a:lstStyle/>
          <a:p>
            <a:r>
              <a:rPr lang="tr-TR" sz="2400" dirty="0" smtClean="0"/>
              <a:t>F</a:t>
            </a:r>
            <a:r>
              <a:rPr lang="en-US" sz="2400" dirty="0" smtClean="0"/>
              <a:t>or </a:t>
            </a:r>
            <a:r>
              <a:rPr lang="en-US" sz="2400" i="1" dirty="0"/>
              <a:t>g </a:t>
            </a:r>
            <a:r>
              <a:rPr lang="en-US" sz="2400" dirty="0"/>
              <a:t>≠ </a:t>
            </a:r>
            <a:r>
              <a:rPr lang="en-US" sz="2400" i="1" dirty="0" err="1"/>
              <a:t>i</a:t>
            </a:r>
            <a:r>
              <a:rPr lang="en-US" sz="2400" i="1" dirty="0"/>
              <a:t> </a:t>
            </a:r>
            <a:r>
              <a:rPr lang="en-US" sz="2400" dirty="0"/>
              <a:t>to calculate </a:t>
            </a:r>
            <a:r>
              <a:rPr lang="en-US" sz="2400" i="1" dirty="0"/>
              <a:t>Pg</a:t>
            </a:r>
            <a:r>
              <a:rPr lang="en-US" sz="2400" dirty="0"/>
              <a:t>. Total </a:t>
            </a:r>
            <a:r>
              <a:rPr lang="en-US" sz="2400" i="1" dirty="0"/>
              <a:t>P</a:t>
            </a:r>
            <a:r>
              <a:rPr lang="en-US" sz="2400" i="1" baseline="-25000" dirty="0"/>
              <a:t>T</a:t>
            </a:r>
            <a:r>
              <a:rPr lang="en-US" sz="2400" i="1" dirty="0"/>
              <a:t> </a:t>
            </a:r>
            <a:r>
              <a:rPr lang="en-US" sz="2400" dirty="0"/>
              <a:t>is the sum of three</a:t>
            </a:r>
            <a:r>
              <a:rPr lang="tr-TR" sz="2400" dirty="0"/>
              <a:t> </a:t>
            </a:r>
            <a:r>
              <a:rPr lang="en-US" sz="2400" dirty="0"/>
              <a:t>present worth components.</a:t>
            </a:r>
          </a:p>
          <a:p>
            <a:endParaRPr lang="en-US" sz="24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673" y="1595339"/>
            <a:ext cx="7892703" cy="2445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56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026" y="526733"/>
            <a:ext cx="11080247" cy="520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53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198" y="394941"/>
            <a:ext cx="11285125" cy="560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592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753" y="374970"/>
            <a:ext cx="10519185" cy="6056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47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812" y="217087"/>
            <a:ext cx="9706866" cy="6365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163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67669" y="1835378"/>
            <a:ext cx="10706374" cy="2555716"/>
          </a:xfrm>
        </p:spPr>
        <p:txBody>
          <a:bodyPr>
            <a:normAutofit/>
          </a:bodyPr>
          <a:lstStyle/>
          <a:p>
            <a:r>
              <a:rPr lang="en-US" sz="2400" dirty="0"/>
              <a:t>Most estimated cash flow series do not fit exactly the series for </a:t>
            </a:r>
            <a:r>
              <a:rPr lang="en-US" sz="2400" dirty="0" smtClean="0"/>
              <a:t>which</a:t>
            </a:r>
            <a:r>
              <a:rPr lang="tr-TR" sz="2400" dirty="0" smtClean="0"/>
              <a:t> </a:t>
            </a:r>
            <a:r>
              <a:rPr lang="en-US" sz="2400" dirty="0" smtClean="0"/>
              <a:t>the </a:t>
            </a:r>
            <a:r>
              <a:rPr lang="en-US" sz="2400" dirty="0"/>
              <a:t>factors are derived so far. </a:t>
            </a:r>
            <a:endParaRPr lang="tr-TR" sz="2400" dirty="0" smtClean="0"/>
          </a:p>
          <a:p>
            <a:r>
              <a:rPr lang="en-US" sz="2400" dirty="0" smtClean="0"/>
              <a:t>Therefore</a:t>
            </a:r>
            <a:r>
              <a:rPr lang="en-US" sz="2400" dirty="0"/>
              <a:t>, we need to combine or </a:t>
            </a:r>
            <a:r>
              <a:rPr lang="en-US" sz="2400" dirty="0" smtClean="0"/>
              <a:t>shift</a:t>
            </a:r>
            <a:r>
              <a:rPr lang="tr-TR" sz="2400" dirty="0" smtClean="0"/>
              <a:t> </a:t>
            </a:r>
            <a:r>
              <a:rPr lang="en-US" sz="2400" dirty="0" smtClean="0"/>
              <a:t>the </a:t>
            </a:r>
            <a:r>
              <a:rPr lang="en-US" sz="2400" dirty="0"/>
              <a:t>given series. </a:t>
            </a:r>
            <a:endParaRPr lang="tr-TR" sz="2400" dirty="0" smtClean="0"/>
          </a:p>
          <a:p>
            <a:r>
              <a:rPr lang="en-US" sz="2400" dirty="0" smtClean="0"/>
              <a:t>Renumbering </a:t>
            </a:r>
            <a:r>
              <a:rPr lang="en-US" sz="2400" dirty="0"/>
              <a:t>the cash flow diagram is a </a:t>
            </a:r>
            <a:r>
              <a:rPr lang="en-US" sz="2400" dirty="0" smtClean="0"/>
              <a:t>good</a:t>
            </a:r>
            <a:r>
              <a:rPr lang="tr-TR" sz="2400" dirty="0" smtClean="0"/>
              <a:t> </a:t>
            </a:r>
            <a:r>
              <a:rPr lang="en-US" sz="2400" dirty="0" smtClean="0"/>
              <a:t>practice</a:t>
            </a:r>
            <a:r>
              <a:rPr lang="en-US" sz="2400" dirty="0"/>
              <a:t>.</a:t>
            </a:r>
          </a:p>
        </p:txBody>
      </p:sp>
      <p:sp>
        <p:nvSpPr>
          <p:cNvPr id="5" name="İçerik Yer Tutucusu 2"/>
          <p:cNvSpPr txBox="1">
            <a:spLocks/>
          </p:cNvSpPr>
          <p:nvPr/>
        </p:nvSpPr>
        <p:spPr>
          <a:xfrm>
            <a:off x="1247707" y="655648"/>
            <a:ext cx="8264686" cy="936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r-TR" sz="4000" b="1" dirty="0" smtClean="0"/>
              <a:t>SHIFTED SERIES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830840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755" y="340037"/>
            <a:ext cx="11138098" cy="5896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462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773" y="276294"/>
            <a:ext cx="7671157" cy="6288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240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215" y="370305"/>
            <a:ext cx="10810972" cy="5984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775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442" y="203931"/>
            <a:ext cx="8093079" cy="644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200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56" y="313577"/>
            <a:ext cx="10856581" cy="436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620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115" y="581437"/>
            <a:ext cx="8411749" cy="39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276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036" y="324682"/>
            <a:ext cx="11187219" cy="44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7840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46" y="287289"/>
            <a:ext cx="11330227" cy="4176434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146" y="4709180"/>
            <a:ext cx="6008358" cy="125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4911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302" y="314828"/>
            <a:ext cx="11323649" cy="3597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394410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Gri Tonlamalı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Kırpma</Template>
  <TotalTime>5690</TotalTime>
  <Words>2267</Words>
  <Application>Microsoft Office PowerPoint</Application>
  <PresentationFormat>Geniş ekran</PresentationFormat>
  <Paragraphs>105</Paragraphs>
  <Slides>52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52</vt:i4>
      </vt:variant>
    </vt:vector>
  </HeadingPairs>
  <TitlesOfParts>
    <vt:vector size="56" baseType="lpstr">
      <vt:lpstr>Arial</vt:lpstr>
      <vt:lpstr>Calibri</vt:lpstr>
      <vt:lpstr>Franklin Gothic Book</vt:lpstr>
      <vt:lpstr>Crop</vt:lpstr>
      <vt:lpstr>ENGINEERING ECONOMY</vt:lpstr>
      <vt:lpstr>PowerPoint Sunusu</vt:lpstr>
      <vt:lpstr>PowerPoint Sunusu</vt:lpstr>
      <vt:lpstr>EXAMPLE</vt:lpstr>
      <vt:lpstr>EXAMPLE</vt:lpstr>
      <vt:lpstr>EXAMPLE</vt:lpstr>
      <vt:lpstr>PowerPoint Sunusu</vt:lpstr>
      <vt:lpstr>Arithmetic Gradient Factors (P∕G and A∕G)</vt:lpstr>
      <vt:lpstr>PowerPoint Sunusu</vt:lpstr>
      <vt:lpstr>PowerPoint Sunusu</vt:lpstr>
      <vt:lpstr>PowerPoint Sunusu</vt:lpstr>
      <vt:lpstr>PowerPoint Sunusu</vt:lpstr>
      <vt:lpstr>EXAMPLE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EXAMPLE</vt:lpstr>
      <vt:lpstr>PowerPoint Sunusu</vt:lpstr>
      <vt:lpstr>PowerPoint Sunusu</vt:lpstr>
      <vt:lpstr>PowerPoint Sunusu</vt:lpstr>
      <vt:lpstr>EXAMPLE</vt:lpstr>
      <vt:lpstr>PowerPoint Sunusu</vt:lpstr>
      <vt:lpstr>PowerPoint Sunusu</vt:lpstr>
      <vt:lpstr>Geometric Gradient Series Factors</vt:lpstr>
      <vt:lpstr>PowerPoint Sunusu</vt:lpstr>
      <vt:lpstr>PowerPoint Sunusu</vt:lpstr>
      <vt:lpstr>PowerPoint Sunusu</vt:lpstr>
      <vt:lpstr>PowerPoint Sunusu</vt:lpstr>
      <vt:lpstr>PowerPoint Sunusu</vt:lpstr>
      <vt:lpstr>EXAMPLE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ENGINEERING ECONOMY</dc:title>
  <dc:creator>y</dc:creator>
  <cp:lastModifiedBy>y</cp:lastModifiedBy>
  <cp:revision>110</cp:revision>
  <dcterms:created xsi:type="dcterms:W3CDTF">2025-10-01T18:37:48Z</dcterms:created>
  <dcterms:modified xsi:type="dcterms:W3CDTF">2025-10-29T11:56:58Z</dcterms:modified>
</cp:coreProperties>
</file>