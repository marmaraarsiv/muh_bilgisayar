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sldIdLst>
    <p:sldId id="256" r:id="rId2"/>
    <p:sldId id="258" r:id="rId3"/>
    <p:sldId id="257" r:id="rId4"/>
    <p:sldId id="261" r:id="rId5"/>
    <p:sldId id="259" r:id="rId6"/>
    <p:sldId id="262" r:id="rId7"/>
    <p:sldId id="263" r:id="rId8"/>
    <p:sldId id="260"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1" r:id="rId25"/>
    <p:sldId id="282" r:id="rId26"/>
    <p:sldId id="283" r:id="rId27"/>
    <p:sldId id="284" r:id="rId28"/>
    <p:sldId id="273" r:id="rId29"/>
    <p:sldId id="27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3" d="100"/>
          <a:sy n="63" d="100"/>
        </p:scale>
        <p:origin x="73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764DE79-268F-4C1A-8933-263129D2AF90}" type="datetimeFigureOut">
              <a:rPr lang="en-US" smtClean="0"/>
              <a:t>10/8/2025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8F63A3B-78C7-47BE-AE5E-E10140E04643}" type="slidenum">
              <a:rPr lang="en-US" smtClean="0"/>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6778024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52453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764DE79-268F-4C1A-8933-263129D2AF90}" type="datetimeFigureOut">
              <a:rPr lang="en-US" smtClean="0"/>
              <a:t>10/8/2025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671017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824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0951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15606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13853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764DE79-268F-4C1A-8933-263129D2AF90}" type="datetimeFigureOut">
              <a:rPr lang="en-US" smtClean="0"/>
              <a:t>10/8/2025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946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düzenlemek için tıklatın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764DE79-268F-4C1A-8933-263129D2AF90}" type="datetimeFigureOut">
              <a:rPr lang="en-US" smtClean="0"/>
              <a:t>10/8/2025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9839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8597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300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764DE79-268F-4C1A-8933-263129D2AF90}" type="datetimeFigureOut">
              <a:rPr lang="en-US" smtClean="0"/>
              <a:t>10/8/2025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8F63A3B-78C7-47BE-AE5E-E10140E04643}" type="slidenum">
              <a:rPr lang="en-US" smtClean="0"/>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679260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964916"/>
            <a:ext cx="9144000" cy="1959952"/>
          </a:xfrm>
        </p:spPr>
        <p:txBody>
          <a:bodyPr anchor="ctr">
            <a:normAutofit fontScale="90000"/>
          </a:bodyPr>
          <a:lstStyle/>
          <a:p>
            <a:r>
              <a:rPr lang="tr-TR" dirty="0" smtClean="0"/>
              <a:t>ENGINEERING ECONOMY</a:t>
            </a:r>
            <a:endParaRPr lang="en-US" dirty="0"/>
          </a:p>
        </p:txBody>
      </p:sp>
      <p:sp>
        <p:nvSpPr>
          <p:cNvPr id="3" name="Alt Başlık 2"/>
          <p:cNvSpPr>
            <a:spLocks noGrp="1"/>
          </p:cNvSpPr>
          <p:nvPr>
            <p:ph type="subTitle" idx="1"/>
          </p:nvPr>
        </p:nvSpPr>
        <p:spPr>
          <a:xfrm>
            <a:off x="1905504" y="2924868"/>
            <a:ext cx="9144000" cy="1038087"/>
          </a:xfrm>
        </p:spPr>
        <p:txBody>
          <a:bodyPr anchor="ctr">
            <a:normAutofit/>
          </a:bodyPr>
          <a:lstStyle/>
          <a:p>
            <a:r>
              <a:rPr lang="tr-TR" sz="2800" dirty="0" smtClean="0"/>
              <a:t>LECTURE </a:t>
            </a:r>
            <a:r>
              <a:rPr lang="tr-TR" sz="2800" dirty="0" smtClean="0"/>
              <a:t>2</a:t>
            </a:r>
            <a:endParaRPr lang="tr-TR" sz="2800" dirty="0" smtClean="0"/>
          </a:p>
        </p:txBody>
      </p:sp>
      <p:sp>
        <p:nvSpPr>
          <p:cNvPr id="4" name="Alt Başlık 2"/>
          <p:cNvSpPr txBox="1">
            <a:spLocks/>
          </p:cNvSpPr>
          <p:nvPr/>
        </p:nvSpPr>
        <p:spPr>
          <a:xfrm>
            <a:off x="199835" y="6316021"/>
            <a:ext cx="8853331" cy="46628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tr-TR" sz="2000" dirty="0" smtClean="0"/>
              <a:t>PROF.DR. YASEMİN ASU ÇIRPICI, MU, DEPT. OF ECONOMICS</a:t>
            </a:r>
            <a:endParaRPr lang="en-US" sz="2000" dirty="0"/>
          </a:p>
        </p:txBody>
      </p:sp>
    </p:spTree>
    <p:extLst>
      <p:ext uri="{BB962C8B-B14F-4D97-AF65-F5344CB8AC3E}">
        <p14:creationId xmlns:p14="http://schemas.microsoft.com/office/powerpoint/2010/main" val="3955449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2649" y="98404"/>
            <a:ext cx="9601200" cy="731217"/>
          </a:xfrm>
        </p:spPr>
        <p:txBody>
          <a:bodyPr>
            <a:normAutofit/>
          </a:bodyPr>
          <a:lstStyle/>
          <a:p>
            <a:r>
              <a:rPr lang="en-US" sz="4000" b="1" dirty="0"/>
              <a:t>Terminology and Symbols</a:t>
            </a:r>
            <a:endParaRPr lang="en-US" sz="4000" dirty="0"/>
          </a:p>
        </p:txBody>
      </p:sp>
      <p:sp>
        <p:nvSpPr>
          <p:cNvPr id="3" name="İçerik Yer Tutucusu 2"/>
          <p:cNvSpPr>
            <a:spLocks noGrp="1"/>
          </p:cNvSpPr>
          <p:nvPr>
            <p:ph idx="1"/>
          </p:nvPr>
        </p:nvSpPr>
        <p:spPr>
          <a:xfrm>
            <a:off x="832649" y="908344"/>
            <a:ext cx="10987940" cy="5831571"/>
          </a:xfrm>
        </p:spPr>
        <p:txBody>
          <a:bodyPr>
            <a:normAutofit fontScale="92500" lnSpcReduction="10000"/>
          </a:bodyPr>
          <a:lstStyle/>
          <a:p>
            <a:r>
              <a:rPr lang="en-US" sz="2400" i="1" dirty="0">
                <a:solidFill>
                  <a:srgbClr val="FF0000"/>
                </a:solidFill>
              </a:rPr>
              <a:t>P</a:t>
            </a:r>
            <a:r>
              <a:rPr lang="en-US" sz="2400" dirty="0">
                <a:solidFill>
                  <a:srgbClr val="FF0000"/>
                </a:solidFill>
              </a:rPr>
              <a:t>:</a:t>
            </a:r>
            <a:r>
              <a:rPr lang="en-US" sz="2400" dirty="0"/>
              <a:t> value or amount of money at present or time 0.</a:t>
            </a:r>
          </a:p>
          <a:p>
            <a:pPr marL="714375" indent="-84138"/>
            <a:r>
              <a:rPr lang="tr-TR" sz="2400" dirty="0" smtClean="0"/>
              <a:t> </a:t>
            </a:r>
            <a:r>
              <a:rPr lang="en-US" sz="2400" dirty="0" smtClean="0"/>
              <a:t>Present </a:t>
            </a:r>
            <a:r>
              <a:rPr lang="en-US" sz="2400" dirty="0"/>
              <a:t>Worth (PW)</a:t>
            </a:r>
          </a:p>
          <a:p>
            <a:pPr marL="714375" indent="-84138"/>
            <a:r>
              <a:rPr lang="tr-TR" sz="2400" dirty="0" smtClean="0"/>
              <a:t> </a:t>
            </a:r>
            <a:r>
              <a:rPr lang="en-US" sz="2400" dirty="0" smtClean="0"/>
              <a:t>Present </a:t>
            </a:r>
            <a:r>
              <a:rPr lang="en-US" sz="2400" dirty="0"/>
              <a:t>Value (PV)</a:t>
            </a:r>
          </a:p>
          <a:p>
            <a:pPr marL="714375" indent="-84138"/>
            <a:r>
              <a:rPr lang="tr-TR" sz="2400" dirty="0" smtClean="0"/>
              <a:t> </a:t>
            </a:r>
            <a:r>
              <a:rPr lang="en-US" sz="2400" dirty="0" smtClean="0"/>
              <a:t>Net </a:t>
            </a:r>
            <a:r>
              <a:rPr lang="en-US" sz="2400" dirty="0"/>
              <a:t>Present Value (NPV)</a:t>
            </a:r>
          </a:p>
          <a:p>
            <a:r>
              <a:rPr lang="en-US" sz="2400" i="1" dirty="0">
                <a:solidFill>
                  <a:srgbClr val="FF0000"/>
                </a:solidFill>
              </a:rPr>
              <a:t>F</a:t>
            </a:r>
            <a:r>
              <a:rPr lang="en-US" sz="2400" dirty="0">
                <a:solidFill>
                  <a:srgbClr val="FF0000"/>
                </a:solidFill>
              </a:rPr>
              <a:t>:</a:t>
            </a:r>
            <a:r>
              <a:rPr lang="en-US" sz="2400" dirty="0"/>
              <a:t> value or amount of money at some future time.</a:t>
            </a:r>
          </a:p>
          <a:p>
            <a:pPr marL="630238" indent="0"/>
            <a:r>
              <a:rPr lang="tr-TR" sz="2400" dirty="0" smtClean="0"/>
              <a:t> </a:t>
            </a:r>
            <a:r>
              <a:rPr lang="en-US" sz="2400" dirty="0" smtClean="0"/>
              <a:t>Future </a:t>
            </a:r>
            <a:r>
              <a:rPr lang="en-US" sz="2400" dirty="0"/>
              <a:t>Worth (FW)</a:t>
            </a:r>
          </a:p>
          <a:p>
            <a:pPr marL="630238" indent="0"/>
            <a:r>
              <a:rPr lang="tr-TR" sz="2400" dirty="0" smtClean="0"/>
              <a:t> </a:t>
            </a:r>
            <a:r>
              <a:rPr lang="en-US" sz="2400" dirty="0" smtClean="0"/>
              <a:t>Future </a:t>
            </a:r>
            <a:r>
              <a:rPr lang="en-US" sz="2400" dirty="0"/>
              <a:t>Value (FV)</a:t>
            </a:r>
          </a:p>
          <a:p>
            <a:r>
              <a:rPr lang="en-US" sz="2400" i="1" dirty="0">
                <a:solidFill>
                  <a:srgbClr val="FF0000"/>
                </a:solidFill>
              </a:rPr>
              <a:t>A</a:t>
            </a:r>
            <a:r>
              <a:rPr lang="en-US" sz="2400" dirty="0">
                <a:solidFill>
                  <a:srgbClr val="FF0000"/>
                </a:solidFill>
              </a:rPr>
              <a:t>:</a:t>
            </a:r>
            <a:r>
              <a:rPr lang="en-US" sz="2400" dirty="0"/>
              <a:t> series of consecutive, equal, end-of-period amounts of money.</a:t>
            </a:r>
          </a:p>
          <a:p>
            <a:r>
              <a:rPr lang="en-US" sz="2400" i="1" dirty="0">
                <a:solidFill>
                  <a:srgbClr val="FF0000"/>
                </a:solidFill>
              </a:rPr>
              <a:t>n</a:t>
            </a:r>
            <a:r>
              <a:rPr lang="en-US" sz="2400" dirty="0">
                <a:solidFill>
                  <a:srgbClr val="FF0000"/>
                </a:solidFill>
              </a:rPr>
              <a:t>:</a:t>
            </a:r>
            <a:r>
              <a:rPr lang="en-US" sz="2400" dirty="0"/>
              <a:t> number of interest periods</a:t>
            </a:r>
          </a:p>
          <a:p>
            <a:r>
              <a:rPr lang="en-US" sz="2400" i="1" dirty="0">
                <a:solidFill>
                  <a:srgbClr val="FF0000"/>
                </a:solidFill>
              </a:rPr>
              <a:t>i</a:t>
            </a:r>
            <a:r>
              <a:rPr lang="en-US" sz="2400" dirty="0">
                <a:solidFill>
                  <a:srgbClr val="FF0000"/>
                </a:solidFill>
              </a:rPr>
              <a:t>:</a:t>
            </a:r>
            <a:r>
              <a:rPr lang="en-US" sz="2400" dirty="0"/>
              <a:t> interest rate or rate of return per time period</a:t>
            </a:r>
          </a:p>
          <a:p>
            <a:pPr marL="630238" indent="-92075"/>
            <a:r>
              <a:rPr lang="tr-TR" sz="2400" dirty="0" smtClean="0"/>
              <a:t> </a:t>
            </a:r>
            <a:r>
              <a:rPr lang="en-US" sz="2400" dirty="0" smtClean="0"/>
              <a:t>compound </a:t>
            </a:r>
            <a:r>
              <a:rPr lang="en-US" sz="2400" dirty="0"/>
              <a:t>unless otherwise stated</a:t>
            </a:r>
          </a:p>
          <a:p>
            <a:pPr marL="630238" indent="-92075"/>
            <a:r>
              <a:rPr lang="tr-TR" sz="2400" dirty="0" smtClean="0"/>
              <a:t> </a:t>
            </a:r>
            <a:r>
              <a:rPr lang="en-US" sz="2400" dirty="0" smtClean="0"/>
              <a:t>expressed </a:t>
            </a:r>
            <a:r>
              <a:rPr lang="en-US" sz="2400" dirty="0"/>
              <a:t>as percent per interest period</a:t>
            </a:r>
          </a:p>
          <a:p>
            <a:r>
              <a:rPr lang="en-US" sz="2400" i="1" dirty="0">
                <a:solidFill>
                  <a:srgbClr val="FF0000"/>
                </a:solidFill>
              </a:rPr>
              <a:t>t</a:t>
            </a:r>
            <a:r>
              <a:rPr lang="en-US" sz="2400" dirty="0">
                <a:solidFill>
                  <a:srgbClr val="FF0000"/>
                </a:solidFill>
              </a:rPr>
              <a:t>:</a:t>
            </a:r>
            <a:r>
              <a:rPr lang="en-US" sz="2400" dirty="0"/>
              <a:t> time stated in periods</a:t>
            </a:r>
          </a:p>
          <a:p>
            <a:pPr marL="0" indent="0">
              <a:buNone/>
            </a:pPr>
            <a:endParaRPr lang="en-US" sz="2400" dirty="0"/>
          </a:p>
        </p:txBody>
      </p:sp>
    </p:spTree>
    <p:extLst>
      <p:ext uri="{BB962C8B-B14F-4D97-AF65-F5344CB8AC3E}">
        <p14:creationId xmlns:p14="http://schemas.microsoft.com/office/powerpoint/2010/main" val="2740924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İçerik Yer Tutucusu 2"/>
              <p:cNvSpPr>
                <a:spLocks noGrp="1"/>
              </p:cNvSpPr>
              <p:nvPr>
                <p:ph idx="1"/>
              </p:nvPr>
            </p:nvSpPr>
            <p:spPr>
              <a:xfrm>
                <a:off x="852329" y="284615"/>
                <a:ext cx="11143873" cy="6164630"/>
              </a:xfrm>
            </p:spPr>
            <p:txBody>
              <a:bodyPr>
                <a:noAutofit/>
              </a:bodyPr>
              <a:lstStyle/>
              <a:p>
                <a:r>
                  <a:rPr lang="en-US" sz="2400" b="1" dirty="0" smtClean="0"/>
                  <a:t>Cash Flows</a:t>
                </a:r>
                <a:r>
                  <a:rPr lang="en-US" sz="2400" dirty="0" smtClean="0"/>
                  <a:t>: The estimated inflows (revenues) and outflows</a:t>
                </a:r>
                <a:r>
                  <a:rPr lang="tr-TR" sz="2400" dirty="0" smtClean="0"/>
                  <a:t> </a:t>
                </a:r>
                <a:r>
                  <a:rPr lang="en-US" sz="2400" dirty="0" smtClean="0"/>
                  <a:t>(costs</a:t>
                </a:r>
                <a:r>
                  <a:rPr lang="en-US" sz="2400" dirty="0"/>
                  <a:t>) of money</a:t>
                </a:r>
              </a:p>
              <a:p>
                <a:pPr marL="0" indent="0">
                  <a:buNone/>
                </a:pPr>
                <a:r>
                  <a:rPr lang="tr-TR" sz="2400" dirty="0" smtClean="0"/>
                  <a:t>       </a:t>
                </a:r>
                <a:r>
                  <a:rPr lang="en-US" sz="2400" dirty="0" smtClean="0"/>
                  <a:t>+ </a:t>
                </a:r>
                <a:r>
                  <a:rPr lang="en-US" sz="2400" dirty="0"/>
                  <a:t>: inflows (revenues, salvage values, tax savings, . . . )</a:t>
                </a:r>
              </a:p>
              <a:p>
                <a:pPr marL="0" indent="0">
                  <a:buNone/>
                </a:pPr>
                <a:r>
                  <a:rPr lang="tr-TR" sz="2400" dirty="0" smtClean="0"/>
                  <a:t>       </a:t>
                </a:r>
                <a:r>
                  <a:rPr lang="en-US" sz="2400" dirty="0" smtClean="0"/>
                  <a:t>− </a:t>
                </a:r>
                <a:r>
                  <a:rPr lang="en-US" sz="2400" dirty="0"/>
                  <a:t>: outflows (First cost of assets, operating costs, . . . </a:t>
                </a:r>
                <a:r>
                  <a:rPr lang="en-US" sz="2400" dirty="0" smtClean="0"/>
                  <a:t>)</a:t>
                </a:r>
                <a:endParaRPr lang="tr-TR" sz="2400" dirty="0" smtClean="0"/>
              </a:p>
              <a:p>
                <a:pPr marL="0" indent="0">
                  <a:buNone/>
                </a:pPr>
                <a:endParaRPr lang="en-US" sz="2400" dirty="0"/>
              </a:p>
              <a:p>
                <a:r>
                  <a:rPr lang="en-US" sz="2400" b="1" dirty="0"/>
                  <a:t>Net Cash flow </a:t>
                </a:r>
                <a:r>
                  <a:rPr lang="en-US" sz="2400" dirty="0"/>
                  <a:t>= Cash Inflows - Cash </a:t>
                </a:r>
                <a:r>
                  <a:rPr lang="en-US" sz="2400" dirty="0" smtClean="0"/>
                  <a:t>Outflows</a:t>
                </a:r>
                <a:endParaRPr lang="tr-TR" sz="2400" dirty="0" smtClean="0"/>
              </a:p>
              <a:p>
                <a:pPr marL="0" indent="0">
                  <a:buNone/>
                </a:pPr>
                <a:endParaRPr lang="tr-TR" sz="2400" dirty="0" smtClean="0"/>
              </a:p>
              <a:p>
                <a:pPr marL="0" indent="0">
                  <a:buNone/>
                </a:pPr>
                <a14:m>
                  <m:oMathPara xmlns:m="http://schemas.openxmlformats.org/officeDocument/2006/math">
                    <m:oMathParaPr>
                      <m:jc m:val="centerGroup"/>
                    </m:oMathParaPr>
                    <m:oMath xmlns:m="http://schemas.openxmlformats.org/officeDocument/2006/math">
                      <m:r>
                        <a:rPr lang="tr-TR" sz="2400" b="0" i="1" smtClean="0">
                          <a:latin typeface="Cambria Math" panose="02040503050406030204" pitchFamily="18" charset="0"/>
                        </a:rPr>
                        <m:t>𝑁𝐶𝐹</m:t>
                      </m:r>
                      <m:r>
                        <a:rPr lang="tr-TR" sz="2400" b="0" i="1" smtClean="0">
                          <a:latin typeface="Cambria Math" panose="02040503050406030204" pitchFamily="18" charset="0"/>
                        </a:rPr>
                        <m:t>=</m:t>
                      </m:r>
                      <m:r>
                        <a:rPr lang="tr-TR" sz="2400" b="0" i="1" smtClean="0">
                          <a:latin typeface="Cambria Math" panose="02040503050406030204" pitchFamily="18" charset="0"/>
                        </a:rPr>
                        <m:t>𝑅</m:t>
                      </m:r>
                      <m:r>
                        <a:rPr lang="tr-TR" sz="2400" b="0" i="1" smtClean="0">
                          <a:latin typeface="Cambria Math" panose="02040503050406030204" pitchFamily="18" charset="0"/>
                        </a:rPr>
                        <m:t>−</m:t>
                      </m:r>
                      <m:r>
                        <a:rPr lang="tr-TR" sz="2400" b="0" i="1" smtClean="0">
                          <a:latin typeface="Cambria Math" panose="02040503050406030204" pitchFamily="18" charset="0"/>
                        </a:rPr>
                        <m:t>𝐷</m:t>
                      </m:r>
                    </m:oMath>
                  </m:oMathPara>
                </a14:m>
                <a:endParaRPr lang="tr-TR" sz="2400" dirty="0" smtClean="0"/>
              </a:p>
              <a:p>
                <a:pPr marL="0" indent="0">
                  <a:buNone/>
                </a:pPr>
                <a:r>
                  <a:rPr lang="tr-TR" dirty="0" smtClean="0"/>
                  <a:t>                                                                    </a:t>
                </a:r>
                <a:r>
                  <a:rPr lang="tr-TR" dirty="0" err="1" smtClean="0"/>
                  <a:t>Reciepts</a:t>
                </a:r>
                <a:r>
                  <a:rPr lang="tr-TR" dirty="0"/>
                  <a:t> </a:t>
                </a:r>
                <a:r>
                  <a:rPr lang="tr-TR" dirty="0" smtClean="0"/>
                  <a:t>- </a:t>
                </a:r>
                <a:r>
                  <a:rPr lang="tr-TR" dirty="0" err="1" smtClean="0"/>
                  <a:t>Dispersement</a:t>
                </a:r>
                <a:endParaRPr lang="tr-TR" dirty="0" smtClean="0"/>
              </a:p>
              <a:p>
                <a:pPr marL="0" indent="0">
                  <a:buNone/>
                </a:pPr>
                <a:endParaRPr lang="en-US" sz="2400" dirty="0"/>
              </a:p>
              <a:p>
                <a:r>
                  <a:rPr lang="en-US" sz="2400" b="1" dirty="0"/>
                  <a:t>End-of-period convention</a:t>
                </a:r>
                <a:r>
                  <a:rPr lang="en-US" sz="2400" dirty="0"/>
                  <a:t>: All cash flows occur at the end of </a:t>
                </a:r>
                <a:r>
                  <a:rPr lang="en-US" sz="2400" dirty="0" smtClean="0"/>
                  <a:t>the</a:t>
                </a:r>
                <a:r>
                  <a:rPr lang="tr-TR" sz="2400" dirty="0" smtClean="0"/>
                  <a:t> </a:t>
                </a:r>
                <a:r>
                  <a:rPr lang="en-US" sz="2400" dirty="0" smtClean="0"/>
                  <a:t>interest </a:t>
                </a:r>
                <a:r>
                  <a:rPr lang="en-US" sz="2400" dirty="0"/>
                  <a:t>period</a:t>
                </a:r>
                <a:r>
                  <a:rPr lang="en-US" sz="2400" dirty="0" smtClean="0"/>
                  <a:t>.</a:t>
                </a:r>
                <a:endParaRPr lang="tr-TR" sz="2400" dirty="0" smtClean="0"/>
              </a:p>
              <a:p>
                <a:r>
                  <a:rPr lang="en-US" sz="2400" dirty="0"/>
                  <a:t>Remember, end of the </a:t>
                </a:r>
                <a:r>
                  <a:rPr lang="en-US" sz="2400" dirty="0" smtClean="0"/>
                  <a:t>period</a:t>
                </a:r>
                <a:r>
                  <a:rPr lang="tr-TR" sz="2400" dirty="0" smtClean="0"/>
                  <a:t> </a:t>
                </a:r>
                <a:r>
                  <a:rPr lang="en-US" sz="2400" dirty="0" smtClean="0"/>
                  <a:t>means </a:t>
                </a:r>
                <a:r>
                  <a:rPr lang="en-US" sz="2400" dirty="0"/>
                  <a:t>end of interest period, not end of calendar year.</a:t>
                </a:r>
              </a:p>
            </p:txBody>
          </p:sp>
        </mc:Choice>
        <mc:Fallback>
          <p:sp>
            <p:nvSpPr>
              <p:cNvPr id="3" name="İçerik Yer Tutucusu 2"/>
              <p:cNvSpPr>
                <a:spLocks noGrp="1" noRot="1" noChangeAspect="1" noMove="1" noResize="1" noEditPoints="1" noAdjustHandles="1" noChangeArrowheads="1" noChangeShapeType="1" noTextEdit="1"/>
              </p:cNvSpPr>
              <p:nvPr>
                <p:ph idx="1"/>
              </p:nvPr>
            </p:nvSpPr>
            <p:spPr>
              <a:xfrm>
                <a:off x="852329" y="284615"/>
                <a:ext cx="11143873" cy="6164630"/>
              </a:xfrm>
              <a:blipFill rotWithShape="0">
                <a:blip r:embed="rId2"/>
                <a:stretch>
                  <a:fillRect l="-766" t="-1187" r="-602"/>
                </a:stretch>
              </a:blipFill>
            </p:spPr>
            <p:txBody>
              <a:bodyPr/>
              <a:lstStyle/>
              <a:p>
                <a:r>
                  <a:rPr lang="en-US">
                    <a:noFill/>
                  </a:rPr>
                  <a:t> </a:t>
                </a:r>
              </a:p>
            </p:txBody>
          </p:sp>
        </mc:Fallback>
      </mc:AlternateContent>
    </p:spTree>
    <p:extLst>
      <p:ext uri="{BB962C8B-B14F-4D97-AF65-F5344CB8AC3E}">
        <p14:creationId xmlns:p14="http://schemas.microsoft.com/office/powerpoint/2010/main" val="64804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18941" y="587398"/>
            <a:ext cx="11095427" cy="4154160"/>
          </a:xfrm>
        </p:spPr>
        <p:txBody>
          <a:bodyPr>
            <a:noAutofit/>
          </a:bodyPr>
          <a:lstStyle/>
          <a:p>
            <a:r>
              <a:rPr lang="en-US" sz="2400" b="1" dirty="0" smtClean="0"/>
              <a:t>Cash </a:t>
            </a:r>
            <a:r>
              <a:rPr lang="en-US" sz="2400" b="1" dirty="0"/>
              <a:t>Flow Diagram</a:t>
            </a:r>
            <a:r>
              <a:rPr lang="en-US" sz="2400" dirty="0"/>
              <a:t>: Graphical representation of cash flows </a:t>
            </a:r>
            <a:r>
              <a:rPr lang="en-US" sz="2400" dirty="0" smtClean="0"/>
              <a:t>drawn</a:t>
            </a:r>
            <a:r>
              <a:rPr lang="tr-TR" sz="2400" dirty="0" smtClean="0"/>
              <a:t> </a:t>
            </a:r>
            <a:r>
              <a:rPr lang="en-US" sz="2400" dirty="0" smtClean="0"/>
              <a:t>on </a:t>
            </a:r>
            <a:r>
              <a:rPr lang="en-US" sz="2400" dirty="0"/>
              <a:t>a time scale</a:t>
            </a:r>
          </a:p>
          <a:p>
            <a:r>
              <a:rPr lang="tr-TR" sz="2400" dirty="0" smtClean="0"/>
              <a:t>       </a:t>
            </a:r>
            <a:r>
              <a:rPr lang="en-US" sz="2400" dirty="0" smtClean="0"/>
              <a:t>includes </a:t>
            </a:r>
            <a:r>
              <a:rPr lang="en-US" sz="2400" dirty="0"/>
              <a:t>what is known, what is estimated, what is needed</a:t>
            </a:r>
          </a:p>
          <a:p>
            <a:r>
              <a:rPr lang="tr-TR" sz="2400" dirty="0" smtClean="0"/>
              <a:t>       </a:t>
            </a:r>
            <a:r>
              <a:rPr lang="en-US" sz="2400" dirty="0" smtClean="0"/>
              <a:t>time </a:t>
            </a:r>
            <a:r>
              <a:rPr lang="en-US" sz="2400" i="1" dirty="0"/>
              <a:t>t </a:t>
            </a:r>
            <a:r>
              <a:rPr lang="en-US" sz="2400" dirty="0"/>
              <a:t>= 0: the present, </a:t>
            </a:r>
            <a:r>
              <a:rPr lang="en-US" sz="2400" i="1" dirty="0"/>
              <a:t>t </a:t>
            </a:r>
            <a:r>
              <a:rPr lang="en-US" sz="2400" dirty="0"/>
              <a:t>= 1 is the end of time period 1</a:t>
            </a:r>
          </a:p>
          <a:p>
            <a:r>
              <a:rPr lang="tr-TR" sz="2400" dirty="0" smtClean="0"/>
              <a:t>       </a:t>
            </a:r>
            <a:r>
              <a:rPr lang="en-US" sz="2400" dirty="0" smtClean="0"/>
              <a:t>Vertical </a:t>
            </a:r>
            <a:r>
              <a:rPr lang="en-US" sz="2400" dirty="0"/>
              <a:t>arrow pointing up indicates cash inflow (+).</a:t>
            </a:r>
          </a:p>
          <a:p>
            <a:r>
              <a:rPr lang="tr-TR" sz="2400" dirty="0" smtClean="0"/>
              <a:t>       </a:t>
            </a:r>
            <a:r>
              <a:rPr lang="en-US" sz="2400" dirty="0" smtClean="0"/>
              <a:t>Vertical </a:t>
            </a:r>
            <a:r>
              <a:rPr lang="en-US" sz="2400" dirty="0"/>
              <a:t>arrow pointing down indicates cash outflow flow (−)</a:t>
            </a:r>
          </a:p>
          <a:p>
            <a:r>
              <a:rPr lang="en-US" sz="2400" dirty="0"/>
              <a:t>The perspective must be determined before placing signs on </a:t>
            </a:r>
            <a:r>
              <a:rPr lang="en-US" sz="2400" dirty="0" smtClean="0"/>
              <a:t>the</a:t>
            </a:r>
            <a:r>
              <a:rPr lang="tr-TR" sz="2400" dirty="0" smtClean="0"/>
              <a:t> </a:t>
            </a:r>
            <a:r>
              <a:rPr lang="en-US" sz="2400" dirty="0" smtClean="0"/>
              <a:t>cash </a:t>
            </a:r>
            <a:r>
              <a:rPr lang="en-US" sz="2400" dirty="0"/>
              <a:t>flows</a:t>
            </a:r>
            <a:endParaRPr lang="en-US" sz="2400" dirty="0"/>
          </a:p>
        </p:txBody>
      </p:sp>
    </p:spTree>
    <p:extLst>
      <p:ext uri="{BB962C8B-B14F-4D97-AF65-F5344CB8AC3E}">
        <p14:creationId xmlns:p14="http://schemas.microsoft.com/office/powerpoint/2010/main" val="352831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2452530" y="339116"/>
            <a:ext cx="7382658" cy="2979369"/>
          </a:xfrm>
          <a:prstGeom prst="rect">
            <a:avLst/>
          </a:prstGeom>
        </p:spPr>
      </p:pic>
      <p:pic>
        <p:nvPicPr>
          <p:cNvPr id="5" name="Resim 4"/>
          <p:cNvPicPr>
            <a:picLocks noChangeAspect="1"/>
          </p:cNvPicPr>
          <p:nvPr/>
        </p:nvPicPr>
        <p:blipFill>
          <a:blip r:embed="rId3"/>
          <a:stretch>
            <a:fillRect/>
          </a:stretch>
        </p:blipFill>
        <p:spPr>
          <a:xfrm>
            <a:off x="3197839" y="3463819"/>
            <a:ext cx="6067210" cy="3149617"/>
          </a:xfrm>
          <a:prstGeom prst="rect">
            <a:avLst/>
          </a:prstGeom>
        </p:spPr>
      </p:pic>
    </p:spTree>
    <p:extLst>
      <p:ext uri="{BB962C8B-B14F-4D97-AF65-F5344CB8AC3E}">
        <p14:creationId xmlns:p14="http://schemas.microsoft.com/office/powerpoint/2010/main" val="152215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75039" y="445089"/>
            <a:ext cx="11199886" cy="2734116"/>
          </a:xfrm>
        </p:spPr>
        <p:txBody>
          <a:bodyPr>
            <a:normAutofit/>
          </a:bodyPr>
          <a:lstStyle/>
          <a:p>
            <a:r>
              <a:rPr lang="en-US" sz="2400" dirty="0"/>
              <a:t>Assume you borrow $</a:t>
            </a:r>
            <a:r>
              <a:rPr lang="en-US" sz="2400" dirty="0" smtClean="0"/>
              <a:t>8500</a:t>
            </a:r>
            <a:r>
              <a:rPr lang="tr-TR" sz="2400" dirty="0" smtClean="0"/>
              <a:t> </a:t>
            </a:r>
            <a:r>
              <a:rPr lang="en-US" sz="2400" dirty="0" smtClean="0"/>
              <a:t>from </a:t>
            </a:r>
            <a:r>
              <a:rPr lang="en-US" sz="2400" dirty="0"/>
              <a:t>a bank today to purchase an $8000 used car for cash next week, and you plan to spend the </a:t>
            </a:r>
            <a:r>
              <a:rPr lang="en-US" sz="2400" dirty="0" smtClean="0"/>
              <a:t>remaining</a:t>
            </a:r>
            <a:r>
              <a:rPr lang="tr-TR" sz="2400" dirty="0" smtClean="0"/>
              <a:t> </a:t>
            </a:r>
            <a:r>
              <a:rPr lang="en-US" sz="2400" dirty="0" smtClean="0"/>
              <a:t>$500 </a:t>
            </a:r>
            <a:r>
              <a:rPr lang="en-US" sz="2400" dirty="0"/>
              <a:t>on a new paint job for the car 2 weeks from now. </a:t>
            </a:r>
            <a:endParaRPr lang="tr-TR" sz="2400" dirty="0" smtClean="0"/>
          </a:p>
          <a:p>
            <a:r>
              <a:rPr lang="en-US" sz="2400" dirty="0" smtClean="0"/>
              <a:t>There </a:t>
            </a:r>
            <a:r>
              <a:rPr lang="en-US" sz="2400" dirty="0"/>
              <a:t>are several perspectives </a:t>
            </a:r>
            <a:r>
              <a:rPr lang="en-US" sz="2400" dirty="0" smtClean="0"/>
              <a:t>possible</a:t>
            </a:r>
            <a:r>
              <a:rPr lang="tr-TR" sz="2400" dirty="0" smtClean="0"/>
              <a:t> </a:t>
            </a:r>
            <a:r>
              <a:rPr lang="en-US" sz="2400" dirty="0" smtClean="0"/>
              <a:t>when </a:t>
            </a:r>
            <a:r>
              <a:rPr lang="en-US" sz="2400" dirty="0"/>
              <a:t>developing the cash flow diagram—those of the borrower (that’s you), the banker, the car </a:t>
            </a:r>
            <a:r>
              <a:rPr lang="en-US" sz="2400" dirty="0" smtClean="0"/>
              <a:t>dealer,</a:t>
            </a:r>
            <a:r>
              <a:rPr lang="tr-TR" sz="2400" dirty="0" smtClean="0"/>
              <a:t> </a:t>
            </a:r>
            <a:r>
              <a:rPr lang="en-US" sz="2400" dirty="0" smtClean="0"/>
              <a:t>or </a:t>
            </a:r>
            <a:r>
              <a:rPr lang="en-US" sz="2400" dirty="0"/>
              <a:t>the paint shop owner. The cash flow signs and amounts for these perspectives are as follows.</a:t>
            </a:r>
            <a:endParaRPr lang="en-US" sz="2400" dirty="0"/>
          </a:p>
        </p:txBody>
      </p:sp>
      <p:pic>
        <p:nvPicPr>
          <p:cNvPr id="5" name="Resim 4"/>
          <p:cNvPicPr>
            <a:picLocks noChangeAspect="1"/>
          </p:cNvPicPr>
          <p:nvPr/>
        </p:nvPicPr>
        <p:blipFill>
          <a:blip r:embed="rId2"/>
          <a:stretch>
            <a:fillRect/>
          </a:stretch>
        </p:blipFill>
        <p:spPr>
          <a:xfrm>
            <a:off x="2319305" y="3514944"/>
            <a:ext cx="8770569" cy="2786318"/>
          </a:xfrm>
          <a:prstGeom prst="rect">
            <a:avLst/>
          </a:prstGeom>
        </p:spPr>
      </p:pic>
    </p:spTree>
    <p:extLst>
      <p:ext uri="{BB962C8B-B14F-4D97-AF65-F5344CB8AC3E}">
        <p14:creationId xmlns:p14="http://schemas.microsoft.com/office/powerpoint/2010/main" val="225172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93206" y="239197"/>
            <a:ext cx="11000050" cy="2770452"/>
          </a:xfrm>
        </p:spPr>
        <p:txBody>
          <a:bodyPr>
            <a:normAutofit/>
          </a:bodyPr>
          <a:lstStyle/>
          <a:p>
            <a:r>
              <a:rPr lang="en-US" sz="2400" i="1" dirty="0"/>
              <a:t>One, and only one, of the perspectives is selected to develop the diagram. </a:t>
            </a:r>
            <a:endParaRPr lang="tr-TR" sz="2400" i="1" dirty="0" smtClean="0"/>
          </a:p>
          <a:p>
            <a:r>
              <a:rPr lang="en-US" sz="2400" dirty="0" smtClean="0"/>
              <a:t>For </a:t>
            </a:r>
            <a:r>
              <a:rPr lang="en-US" sz="2400" dirty="0"/>
              <a:t>your </a:t>
            </a:r>
            <a:r>
              <a:rPr lang="en-US" sz="2400" dirty="0" smtClean="0"/>
              <a:t>perspective,</a:t>
            </a:r>
            <a:r>
              <a:rPr lang="tr-TR" sz="2400" dirty="0" smtClean="0"/>
              <a:t> </a:t>
            </a:r>
            <a:r>
              <a:rPr lang="en-US" sz="2400" dirty="0" smtClean="0"/>
              <a:t>all </a:t>
            </a:r>
            <a:r>
              <a:rPr lang="en-US" sz="2400" dirty="0"/>
              <a:t>three cash flows are involved and the diagram appears as shown in Figure </a:t>
            </a:r>
            <a:r>
              <a:rPr lang="en-US" sz="2400" dirty="0" smtClean="0"/>
              <a:t>with </a:t>
            </a:r>
            <a:r>
              <a:rPr lang="en-US" sz="2400" dirty="0"/>
              <a:t>a time </a:t>
            </a:r>
            <a:r>
              <a:rPr lang="en-US" sz="2400" dirty="0" smtClean="0"/>
              <a:t>scale</a:t>
            </a:r>
            <a:r>
              <a:rPr lang="tr-TR" sz="2400" dirty="0" smtClean="0"/>
              <a:t> </a:t>
            </a:r>
            <a:r>
              <a:rPr lang="en-US" sz="2400" dirty="0" smtClean="0"/>
              <a:t>of </a:t>
            </a:r>
            <a:r>
              <a:rPr lang="en-US" sz="2400" dirty="0"/>
              <a:t>weeks. </a:t>
            </a:r>
            <a:endParaRPr lang="tr-TR" sz="2400" dirty="0" smtClean="0"/>
          </a:p>
          <a:p>
            <a:r>
              <a:rPr lang="en-US" sz="2400" dirty="0" smtClean="0"/>
              <a:t>Applying </a:t>
            </a:r>
            <a:r>
              <a:rPr lang="en-US" sz="2400" dirty="0"/>
              <a:t>the end-of-period convention, you have a receipt of +$8500 now (time 0) </a:t>
            </a:r>
            <a:r>
              <a:rPr lang="en-US" sz="2400" dirty="0" smtClean="0"/>
              <a:t>and</a:t>
            </a:r>
            <a:r>
              <a:rPr lang="tr-TR" sz="2400" dirty="0" smtClean="0"/>
              <a:t> </a:t>
            </a:r>
            <a:r>
              <a:rPr lang="en-US" sz="2400" dirty="0" smtClean="0"/>
              <a:t>cash </a:t>
            </a:r>
            <a:r>
              <a:rPr lang="en-US" sz="2400" dirty="0"/>
              <a:t>outflows of −$8000 at the end of week 1, followed by −$500 at the end of week 2.</a:t>
            </a:r>
            <a:endParaRPr lang="en-US" sz="2400" dirty="0"/>
          </a:p>
        </p:txBody>
      </p:sp>
      <p:pic>
        <p:nvPicPr>
          <p:cNvPr id="4" name="Resim 3"/>
          <p:cNvPicPr>
            <a:picLocks noChangeAspect="1"/>
          </p:cNvPicPr>
          <p:nvPr/>
        </p:nvPicPr>
        <p:blipFill>
          <a:blip r:embed="rId2"/>
          <a:stretch>
            <a:fillRect/>
          </a:stretch>
        </p:blipFill>
        <p:spPr>
          <a:xfrm>
            <a:off x="5825514" y="2485511"/>
            <a:ext cx="4167997" cy="4172654"/>
          </a:xfrm>
          <a:prstGeom prst="rect">
            <a:avLst/>
          </a:prstGeom>
        </p:spPr>
      </p:pic>
    </p:spTree>
    <p:extLst>
      <p:ext uri="{BB962C8B-B14F-4D97-AF65-F5344CB8AC3E}">
        <p14:creationId xmlns:p14="http://schemas.microsoft.com/office/powerpoint/2010/main" val="2399988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08261" y="312274"/>
            <a:ext cx="8559632" cy="767551"/>
          </a:xfrm>
        </p:spPr>
        <p:txBody>
          <a:bodyPr/>
          <a:lstStyle/>
          <a:p>
            <a:r>
              <a:rPr lang="tr-TR" dirty="0" smtClean="0"/>
              <a:t>EXAMPLE</a:t>
            </a:r>
            <a:endParaRPr lang="en-US" dirty="0"/>
          </a:p>
        </p:txBody>
      </p:sp>
      <p:sp>
        <p:nvSpPr>
          <p:cNvPr id="3" name="İçerik Yer Tutucusu 2"/>
          <p:cNvSpPr>
            <a:spLocks noGrp="1"/>
          </p:cNvSpPr>
          <p:nvPr>
            <p:ph idx="1"/>
          </p:nvPr>
        </p:nvSpPr>
        <p:spPr>
          <a:xfrm>
            <a:off x="875034" y="1289039"/>
            <a:ext cx="11211999" cy="1187714"/>
          </a:xfrm>
        </p:spPr>
        <p:txBody>
          <a:bodyPr>
            <a:normAutofit/>
          </a:bodyPr>
          <a:lstStyle/>
          <a:p>
            <a:r>
              <a:rPr lang="en-US" sz="2400" dirty="0"/>
              <a:t>321 Credit Union loaned money to an engineer. The loan is for $</a:t>
            </a:r>
            <a:r>
              <a:rPr lang="en-US" sz="2400" dirty="0" smtClean="0"/>
              <a:t>1,000</a:t>
            </a:r>
            <a:r>
              <a:rPr lang="tr-TR" sz="2400" dirty="0" smtClean="0"/>
              <a:t> </a:t>
            </a:r>
            <a:r>
              <a:rPr lang="en-US" sz="2400" dirty="0" smtClean="0"/>
              <a:t>for </a:t>
            </a:r>
            <a:r>
              <a:rPr lang="en-US" sz="2400" dirty="0"/>
              <a:t>3 years at 5% per year. How much money will the engineer repay </a:t>
            </a:r>
            <a:r>
              <a:rPr lang="en-US" sz="2400" dirty="0" smtClean="0"/>
              <a:t>at</a:t>
            </a:r>
            <a:r>
              <a:rPr lang="tr-TR" sz="2400" dirty="0" smtClean="0"/>
              <a:t> </a:t>
            </a:r>
            <a:r>
              <a:rPr lang="en-US" sz="2400" dirty="0" smtClean="0"/>
              <a:t>the </a:t>
            </a:r>
            <a:r>
              <a:rPr lang="en-US" sz="2400" dirty="0"/>
              <a:t>end of 3 years? Construct the cash flow diagram?</a:t>
            </a:r>
            <a:endParaRPr lang="en-US" sz="2400" dirty="0"/>
          </a:p>
        </p:txBody>
      </p:sp>
      <p:pic>
        <p:nvPicPr>
          <p:cNvPr id="5" name="Resim 4"/>
          <p:cNvPicPr>
            <a:picLocks noChangeAspect="1"/>
          </p:cNvPicPr>
          <p:nvPr/>
        </p:nvPicPr>
        <p:blipFill>
          <a:blip r:embed="rId2"/>
          <a:stretch>
            <a:fillRect/>
          </a:stretch>
        </p:blipFill>
        <p:spPr>
          <a:xfrm>
            <a:off x="6481034" y="2948630"/>
            <a:ext cx="4838204" cy="2882942"/>
          </a:xfrm>
          <a:prstGeom prst="rect">
            <a:avLst/>
          </a:prstGeom>
        </p:spPr>
      </p:pic>
      <p:pic>
        <p:nvPicPr>
          <p:cNvPr id="6" name="Resim 5"/>
          <p:cNvPicPr>
            <a:picLocks noChangeAspect="1"/>
          </p:cNvPicPr>
          <p:nvPr/>
        </p:nvPicPr>
        <p:blipFill>
          <a:blip r:embed="rId3"/>
          <a:stretch>
            <a:fillRect/>
          </a:stretch>
        </p:blipFill>
        <p:spPr>
          <a:xfrm>
            <a:off x="1298930" y="3003593"/>
            <a:ext cx="4876009" cy="2827979"/>
          </a:xfrm>
          <a:prstGeom prst="rect">
            <a:avLst/>
          </a:prstGeom>
        </p:spPr>
      </p:pic>
    </p:spTree>
    <p:extLst>
      <p:ext uri="{BB962C8B-B14F-4D97-AF65-F5344CB8AC3E}">
        <p14:creationId xmlns:p14="http://schemas.microsoft.com/office/powerpoint/2010/main" val="5138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96151" y="334574"/>
            <a:ext cx="9140972" cy="749384"/>
          </a:xfrm>
        </p:spPr>
        <p:txBody>
          <a:bodyPr/>
          <a:lstStyle/>
          <a:p>
            <a:r>
              <a:rPr lang="tr-TR" dirty="0" smtClean="0"/>
              <a:t>EXAMPLE</a:t>
            </a:r>
            <a:endParaRPr lang="en-US" dirty="0"/>
          </a:p>
        </p:txBody>
      </p:sp>
      <p:sp>
        <p:nvSpPr>
          <p:cNvPr id="3" name="İçerik Yer Tutucusu 2"/>
          <p:cNvSpPr>
            <a:spLocks noGrp="1"/>
          </p:cNvSpPr>
          <p:nvPr>
            <p:ph idx="1"/>
          </p:nvPr>
        </p:nvSpPr>
        <p:spPr>
          <a:xfrm>
            <a:off x="923482" y="1177819"/>
            <a:ext cx="11036385" cy="2703840"/>
          </a:xfrm>
        </p:spPr>
        <p:txBody>
          <a:bodyPr>
            <a:noAutofit/>
          </a:bodyPr>
          <a:lstStyle/>
          <a:p>
            <a:r>
              <a:rPr lang="en-US" sz="2400" dirty="0"/>
              <a:t>Each year Exxon-Mobil expends large amounts of funds for mechanical safety features </a:t>
            </a:r>
            <a:r>
              <a:rPr lang="en-US" sz="2400" dirty="0" smtClean="0"/>
              <a:t>throughout</a:t>
            </a:r>
            <a:r>
              <a:rPr lang="tr-TR" sz="2400" dirty="0" smtClean="0"/>
              <a:t> </a:t>
            </a:r>
            <a:r>
              <a:rPr lang="en-US" sz="2400" dirty="0" smtClean="0"/>
              <a:t>its </a:t>
            </a:r>
            <a:r>
              <a:rPr lang="en-US" sz="2400" dirty="0"/>
              <a:t>worldwide operations. Carla Ramos, a lead engineer for Mexico and Central </a:t>
            </a:r>
            <a:r>
              <a:rPr lang="en-US" sz="2400" dirty="0" smtClean="0"/>
              <a:t>American</a:t>
            </a:r>
            <a:r>
              <a:rPr lang="tr-TR" sz="2400" dirty="0" smtClean="0"/>
              <a:t> </a:t>
            </a:r>
            <a:r>
              <a:rPr lang="en-US" sz="2400" dirty="0" smtClean="0"/>
              <a:t>operations</a:t>
            </a:r>
            <a:r>
              <a:rPr lang="en-US" sz="2400" dirty="0"/>
              <a:t>, plans expenditures of $1 million </a:t>
            </a:r>
            <a:r>
              <a:rPr lang="en-US" sz="2400" i="1" dirty="0"/>
              <a:t>now </a:t>
            </a:r>
            <a:r>
              <a:rPr lang="en-US" sz="2400" dirty="0"/>
              <a:t>and each of the next 4 years just for the </a:t>
            </a:r>
            <a:r>
              <a:rPr lang="en-US" sz="2400" dirty="0" smtClean="0"/>
              <a:t>improvement</a:t>
            </a:r>
            <a:r>
              <a:rPr lang="tr-TR" sz="2400" dirty="0" smtClean="0"/>
              <a:t> </a:t>
            </a:r>
            <a:r>
              <a:rPr lang="en-US" sz="2400" dirty="0" smtClean="0"/>
              <a:t>of </a:t>
            </a:r>
            <a:r>
              <a:rPr lang="en-US" sz="2400" dirty="0"/>
              <a:t>field-based pressure-release valves. Construct the cash flow diagram to find </a:t>
            </a:r>
            <a:r>
              <a:rPr lang="en-US" sz="2400" dirty="0" smtClean="0"/>
              <a:t>the</a:t>
            </a:r>
            <a:r>
              <a:rPr lang="tr-TR" sz="2400" dirty="0" smtClean="0"/>
              <a:t> </a:t>
            </a:r>
            <a:r>
              <a:rPr lang="en-US" sz="2400" dirty="0" smtClean="0"/>
              <a:t>equivalent </a:t>
            </a:r>
            <a:r>
              <a:rPr lang="en-US" sz="2400" dirty="0"/>
              <a:t>value of these expenditures at the end of year 4, using a cost of capital estimate </a:t>
            </a:r>
            <a:r>
              <a:rPr lang="en-US" sz="2400" dirty="0" smtClean="0"/>
              <a:t>for</a:t>
            </a:r>
            <a:r>
              <a:rPr lang="tr-TR" sz="2400" dirty="0" smtClean="0"/>
              <a:t> </a:t>
            </a:r>
            <a:r>
              <a:rPr lang="en-US" sz="2400" dirty="0" smtClean="0"/>
              <a:t>safety-related </a:t>
            </a:r>
            <a:r>
              <a:rPr lang="en-US" sz="2400" dirty="0"/>
              <a:t>funds of 12% per year.</a:t>
            </a:r>
            <a:endParaRPr lang="en-US" sz="2400" dirty="0"/>
          </a:p>
        </p:txBody>
      </p:sp>
      <p:pic>
        <p:nvPicPr>
          <p:cNvPr id="4" name="Resim 3"/>
          <p:cNvPicPr>
            <a:picLocks noChangeAspect="1"/>
          </p:cNvPicPr>
          <p:nvPr/>
        </p:nvPicPr>
        <p:blipFill>
          <a:blip r:embed="rId2"/>
          <a:stretch>
            <a:fillRect/>
          </a:stretch>
        </p:blipFill>
        <p:spPr>
          <a:xfrm>
            <a:off x="2186082" y="3975520"/>
            <a:ext cx="8713755" cy="2465173"/>
          </a:xfrm>
          <a:prstGeom prst="rect">
            <a:avLst/>
          </a:prstGeom>
        </p:spPr>
      </p:pic>
    </p:spTree>
    <p:extLst>
      <p:ext uri="{BB962C8B-B14F-4D97-AF65-F5344CB8AC3E}">
        <p14:creationId xmlns:p14="http://schemas.microsoft.com/office/powerpoint/2010/main" val="258286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50651" y="304295"/>
            <a:ext cx="8965359" cy="646438"/>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1050651" y="1117263"/>
            <a:ext cx="10812327" cy="2086166"/>
          </a:xfrm>
        </p:spPr>
        <p:txBody>
          <a:bodyPr>
            <a:normAutofit/>
          </a:bodyPr>
          <a:lstStyle/>
          <a:p>
            <a:r>
              <a:rPr lang="en-US" sz="2400" dirty="0"/>
              <a:t>An electrical engineer wants to deposit an amount </a:t>
            </a:r>
            <a:r>
              <a:rPr lang="en-US" sz="2400" i="1" dirty="0"/>
              <a:t>P </a:t>
            </a:r>
            <a:r>
              <a:rPr lang="en-US" sz="2400" dirty="0"/>
              <a:t>now such that she can withdraw an </a:t>
            </a:r>
            <a:r>
              <a:rPr lang="en-US" sz="2400" dirty="0" smtClean="0"/>
              <a:t>equal</a:t>
            </a:r>
            <a:r>
              <a:rPr lang="tr-TR" sz="2400" dirty="0" smtClean="0"/>
              <a:t> </a:t>
            </a:r>
            <a:r>
              <a:rPr lang="en-US" sz="2400" dirty="0" smtClean="0"/>
              <a:t>annual </a:t>
            </a:r>
            <a:r>
              <a:rPr lang="en-US" sz="2400" dirty="0"/>
              <a:t>amount of </a:t>
            </a:r>
            <a:r>
              <a:rPr lang="en-US" sz="2400" i="1" dirty="0"/>
              <a:t>A</a:t>
            </a:r>
            <a:r>
              <a:rPr lang="en-US" sz="2400" dirty="0"/>
              <a:t>1 = $2000 per year for the first 5 years, starting 1 year after the deposit, </a:t>
            </a:r>
            <a:r>
              <a:rPr lang="en-US" sz="2400" dirty="0" smtClean="0"/>
              <a:t>and</a:t>
            </a:r>
            <a:r>
              <a:rPr lang="tr-TR" sz="2400" dirty="0" smtClean="0"/>
              <a:t> </a:t>
            </a:r>
            <a:r>
              <a:rPr lang="en-US" sz="2400" dirty="0" smtClean="0"/>
              <a:t>a </a:t>
            </a:r>
            <a:r>
              <a:rPr lang="en-US" sz="2400" dirty="0"/>
              <a:t>different annual withdrawal of </a:t>
            </a:r>
            <a:r>
              <a:rPr lang="en-US" sz="2400" i="1" dirty="0"/>
              <a:t>A</a:t>
            </a:r>
            <a:r>
              <a:rPr lang="en-US" sz="2400" dirty="0"/>
              <a:t>2 = $3000 per year for the following 3 years. How would </a:t>
            </a:r>
            <a:r>
              <a:rPr lang="en-US" sz="2400" dirty="0" smtClean="0"/>
              <a:t>the</a:t>
            </a:r>
            <a:r>
              <a:rPr lang="tr-TR" sz="2400" dirty="0" smtClean="0"/>
              <a:t> </a:t>
            </a:r>
            <a:r>
              <a:rPr lang="en-US" sz="2400" dirty="0" smtClean="0"/>
              <a:t>cash </a:t>
            </a:r>
            <a:r>
              <a:rPr lang="en-US" sz="2400" dirty="0"/>
              <a:t>flow diagram appear if </a:t>
            </a:r>
            <a:r>
              <a:rPr lang="en-US" sz="2400" i="1" dirty="0" err="1"/>
              <a:t>i</a:t>
            </a:r>
            <a:r>
              <a:rPr lang="en-US" sz="2400" i="1" dirty="0"/>
              <a:t> </a:t>
            </a:r>
            <a:r>
              <a:rPr lang="en-US" sz="2400" dirty="0"/>
              <a:t>= 8.5% per year?</a:t>
            </a:r>
            <a:endParaRPr lang="en-US" sz="2400" dirty="0"/>
          </a:p>
        </p:txBody>
      </p:sp>
      <p:pic>
        <p:nvPicPr>
          <p:cNvPr id="4" name="Resim 3"/>
          <p:cNvPicPr>
            <a:picLocks noChangeAspect="1"/>
          </p:cNvPicPr>
          <p:nvPr/>
        </p:nvPicPr>
        <p:blipFill>
          <a:blip r:embed="rId2"/>
          <a:stretch>
            <a:fillRect/>
          </a:stretch>
        </p:blipFill>
        <p:spPr>
          <a:xfrm>
            <a:off x="2128447" y="3203429"/>
            <a:ext cx="8979594" cy="3215538"/>
          </a:xfrm>
          <a:prstGeom prst="rect">
            <a:avLst/>
          </a:prstGeom>
        </p:spPr>
      </p:pic>
    </p:spTree>
    <p:extLst>
      <p:ext uri="{BB962C8B-B14F-4D97-AF65-F5344CB8AC3E}">
        <p14:creationId xmlns:p14="http://schemas.microsoft.com/office/powerpoint/2010/main" val="2954659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65872" y="152904"/>
            <a:ext cx="7923791" cy="573771"/>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893204" y="805399"/>
            <a:ext cx="11226127" cy="2101304"/>
          </a:xfrm>
        </p:spPr>
        <p:txBody>
          <a:bodyPr>
            <a:noAutofit/>
          </a:bodyPr>
          <a:lstStyle/>
          <a:p>
            <a:r>
              <a:rPr lang="en-US" sz="2400" dirty="0"/>
              <a:t>A rental company spent $2500 on a new air compressor 7 years ago. The annual rental </a:t>
            </a:r>
            <a:r>
              <a:rPr lang="en-US" sz="2400" dirty="0" smtClean="0"/>
              <a:t>income</a:t>
            </a:r>
            <a:r>
              <a:rPr lang="tr-TR" sz="2400" dirty="0" smtClean="0"/>
              <a:t> </a:t>
            </a:r>
            <a:r>
              <a:rPr lang="en-US" sz="2400" dirty="0" smtClean="0"/>
              <a:t>from </a:t>
            </a:r>
            <a:r>
              <a:rPr lang="en-US" sz="2400" dirty="0"/>
              <a:t>the compressor has been $750. The $100 spent on maintenance the first year has </a:t>
            </a:r>
            <a:r>
              <a:rPr lang="en-US" sz="2400" dirty="0" smtClean="0"/>
              <a:t>increased</a:t>
            </a:r>
            <a:r>
              <a:rPr lang="tr-TR" sz="2400" dirty="0" smtClean="0"/>
              <a:t> </a:t>
            </a:r>
            <a:r>
              <a:rPr lang="en-US" sz="2400" dirty="0" smtClean="0"/>
              <a:t>each </a:t>
            </a:r>
            <a:r>
              <a:rPr lang="en-US" sz="2400" dirty="0"/>
              <a:t>year by $25. The company plans to sell the compressor at the end of next year </a:t>
            </a:r>
            <a:r>
              <a:rPr lang="en-US" sz="2400" dirty="0" smtClean="0"/>
              <a:t>for</a:t>
            </a:r>
            <a:r>
              <a:rPr lang="tr-TR" sz="2400" dirty="0" smtClean="0"/>
              <a:t> </a:t>
            </a:r>
            <a:r>
              <a:rPr lang="en-US" sz="2400" dirty="0"/>
              <a:t>$150. Construct the cash flow diagram from the company’s perspective and indicate where </a:t>
            </a:r>
            <a:r>
              <a:rPr lang="en-US" sz="2400" dirty="0" smtClean="0"/>
              <a:t>the</a:t>
            </a:r>
            <a:r>
              <a:rPr lang="tr-TR" sz="2400" dirty="0" smtClean="0"/>
              <a:t> </a:t>
            </a:r>
            <a:r>
              <a:rPr lang="en-US" sz="2400" dirty="0" smtClean="0"/>
              <a:t>present </a:t>
            </a:r>
            <a:r>
              <a:rPr lang="en-US" sz="2400" dirty="0"/>
              <a:t>worth now is located.</a:t>
            </a:r>
            <a:endParaRPr lang="en-US" sz="2400" dirty="0"/>
          </a:p>
        </p:txBody>
      </p:sp>
      <p:pic>
        <p:nvPicPr>
          <p:cNvPr id="4" name="Resim 3"/>
          <p:cNvPicPr>
            <a:picLocks noChangeAspect="1"/>
          </p:cNvPicPr>
          <p:nvPr/>
        </p:nvPicPr>
        <p:blipFill>
          <a:blip r:embed="rId2"/>
          <a:stretch>
            <a:fillRect/>
          </a:stretch>
        </p:blipFill>
        <p:spPr>
          <a:xfrm>
            <a:off x="3102713" y="3169887"/>
            <a:ext cx="6807108" cy="3488278"/>
          </a:xfrm>
          <a:prstGeom prst="rect">
            <a:avLst/>
          </a:prstGeom>
        </p:spPr>
      </p:pic>
    </p:spTree>
    <p:extLst>
      <p:ext uri="{BB962C8B-B14F-4D97-AF65-F5344CB8AC3E}">
        <p14:creationId xmlns:p14="http://schemas.microsoft.com/office/powerpoint/2010/main" val="369614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2408959" y="1090926"/>
            <a:ext cx="7463499" cy="4310694"/>
          </a:xfrm>
          <a:prstGeom prst="rect">
            <a:avLst/>
          </a:prstGeom>
        </p:spPr>
      </p:pic>
    </p:spTree>
    <p:extLst>
      <p:ext uri="{BB962C8B-B14F-4D97-AF65-F5344CB8AC3E}">
        <p14:creationId xmlns:p14="http://schemas.microsoft.com/office/powerpoint/2010/main" val="1282566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80930" y="352741"/>
            <a:ext cx="9249974" cy="749384"/>
          </a:xfrm>
        </p:spPr>
        <p:txBody>
          <a:bodyPr>
            <a:normAutofit/>
          </a:bodyPr>
          <a:lstStyle/>
          <a:p>
            <a:r>
              <a:rPr lang="en-US" b="1" dirty="0"/>
              <a:t>Economic equivalence</a:t>
            </a:r>
            <a:endParaRPr lang="en-US" dirty="0"/>
          </a:p>
        </p:txBody>
      </p:sp>
      <p:sp>
        <p:nvSpPr>
          <p:cNvPr id="3" name="İçerik Yer Tutucusu 2"/>
          <p:cNvSpPr>
            <a:spLocks noGrp="1"/>
          </p:cNvSpPr>
          <p:nvPr>
            <p:ph idx="1"/>
          </p:nvPr>
        </p:nvSpPr>
        <p:spPr>
          <a:xfrm>
            <a:off x="920456" y="1344348"/>
            <a:ext cx="11093912" cy="3996717"/>
          </a:xfrm>
        </p:spPr>
        <p:txBody>
          <a:bodyPr>
            <a:normAutofit lnSpcReduction="10000"/>
          </a:bodyPr>
          <a:lstStyle/>
          <a:p>
            <a:r>
              <a:rPr lang="en-US" sz="2400" b="1" dirty="0"/>
              <a:t>Economic equivalence </a:t>
            </a:r>
            <a:r>
              <a:rPr lang="en-US" sz="2400" dirty="0"/>
              <a:t>is a combination of </a:t>
            </a:r>
            <a:r>
              <a:rPr lang="en-US" sz="2400" b="1" dirty="0"/>
              <a:t>interest rate </a:t>
            </a:r>
            <a:r>
              <a:rPr lang="en-US" sz="2400" dirty="0"/>
              <a:t>and </a:t>
            </a:r>
            <a:r>
              <a:rPr lang="en-US" sz="2400" b="1" dirty="0"/>
              <a:t>time value of money </a:t>
            </a:r>
            <a:r>
              <a:rPr lang="en-US" sz="2400" dirty="0"/>
              <a:t>to </a:t>
            </a:r>
            <a:r>
              <a:rPr lang="en-US" sz="2400" dirty="0" smtClean="0"/>
              <a:t>determine</a:t>
            </a:r>
            <a:r>
              <a:rPr lang="tr-TR" sz="2400" dirty="0" smtClean="0"/>
              <a:t> </a:t>
            </a:r>
            <a:r>
              <a:rPr lang="en-US" sz="2400" dirty="0" smtClean="0"/>
              <a:t>the </a:t>
            </a:r>
            <a:r>
              <a:rPr lang="en-US" sz="2400" dirty="0"/>
              <a:t>different amounts of money at different points in time that are equal in </a:t>
            </a:r>
            <a:r>
              <a:rPr lang="en-US" sz="2400" dirty="0" smtClean="0"/>
              <a:t>economic</a:t>
            </a:r>
            <a:r>
              <a:rPr lang="tr-TR" sz="2400" dirty="0" smtClean="0"/>
              <a:t> </a:t>
            </a:r>
            <a:r>
              <a:rPr lang="en-US" sz="2400" dirty="0" smtClean="0"/>
              <a:t>Economic </a:t>
            </a:r>
            <a:r>
              <a:rPr lang="en-US" sz="2400" dirty="0"/>
              <a:t>equivalence value</a:t>
            </a:r>
            <a:r>
              <a:rPr lang="en-US" sz="2400" dirty="0" smtClean="0"/>
              <a:t>.</a:t>
            </a:r>
            <a:endParaRPr lang="tr-TR" sz="2400" dirty="0" smtClean="0"/>
          </a:p>
          <a:p>
            <a:endParaRPr lang="tr-TR" sz="2400" dirty="0" smtClean="0"/>
          </a:p>
          <a:p>
            <a:r>
              <a:rPr lang="en-US" sz="2400" dirty="0"/>
              <a:t>As an illustration, if the interest rate is 6% per year, $100 today (present time) is equivalent </a:t>
            </a:r>
            <a:r>
              <a:rPr lang="en-US" sz="2400" dirty="0" smtClean="0"/>
              <a:t>to</a:t>
            </a:r>
            <a:r>
              <a:rPr lang="tr-TR" sz="2400" dirty="0" smtClean="0"/>
              <a:t> </a:t>
            </a:r>
            <a:r>
              <a:rPr lang="en-US" sz="2400" dirty="0" smtClean="0"/>
              <a:t>$106 </a:t>
            </a:r>
            <a:r>
              <a:rPr lang="en-US" sz="2400" dirty="0"/>
              <a:t>one year from today.</a:t>
            </a:r>
          </a:p>
          <a:p>
            <a:pPr marL="0" indent="0">
              <a:buNone/>
            </a:pPr>
            <a:r>
              <a:rPr lang="tr-TR" sz="2400" dirty="0" smtClean="0"/>
              <a:t>          </a:t>
            </a:r>
            <a:r>
              <a:rPr lang="en-US" sz="2400" dirty="0" smtClean="0"/>
              <a:t>Amount </a:t>
            </a:r>
            <a:r>
              <a:rPr lang="en-US" sz="2400" dirty="0"/>
              <a:t>accrued = 100 + 100(0.06) = 100(1 + 0.06) = $106</a:t>
            </a:r>
          </a:p>
          <a:p>
            <a:r>
              <a:rPr lang="en-US" sz="2400" dirty="0"/>
              <a:t>If someone offered you a gift of $100 today or $106 one year from today, it would make no </a:t>
            </a:r>
            <a:r>
              <a:rPr lang="en-US" sz="2400" dirty="0" smtClean="0"/>
              <a:t>difference</a:t>
            </a:r>
            <a:r>
              <a:rPr lang="tr-TR" sz="2400" dirty="0" smtClean="0"/>
              <a:t> </a:t>
            </a:r>
            <a:r>
              <a:rPr lang="en-US" sz="2400" dirty="0" smtClean="0"/>
              <a:t>which </a:t>
            </a:r>
            <a:r>
              <a:rPr lang="en-US" sz="2400" dirty="0"/>
              <a:t>offer you accepted from an economic perspective</a:t>
            </a:r>
            <a:r>
              <a:rPr lang="en-US" sz="2400" dirty="0" smtClean="0"/>
              <a:t>.</a:t>
            </a:r>
            <a:r>
              <a:rPr lang="en-US" sz="2400" dirty="0"/>
              <a:t> In either case you have $106 </a:t>
            </a:r>
            <a:r>
              <a:rPr lang="en-US" sz="2400" dirty="0" smtClean="0"/>
              <a:t>one</a:t>
            </a:r>
            <a:r>
              <a:rPr lang="tr-TR" sz="2400" dirty="0" smtClean="0"/>
              <a:t> </a:t>
            </a:r>
            <a:r>
              <a:rPr lang="en-US" sz="2400" dirty="0" smtClean="0"/>
              <a:t>year </a:t>
            </a:r>
            <a:r>
              <a:rPr lang="en-US" sz="2400" dirty="0"/>
              <a:t>from today.</a:t>
            </a:r>
            <a:endParaRPr lang="en-US" sz="2400" dirty="0"/>
          </a:p>
        </p:txBody>
      </p:sp>
    </p:spTree>
    <p:extLst>
      <p:ext uri="{BB962C8B-B14F-4D97-AF65-F5344CB8AC3E}">
        <p14:creationId xmlns:p14="http://schemas.microsoft.com/office/powerpoint/2010/main" val="2521734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50650" y="281587"/>
            <a:ext cx="10794160" cy="3653248"/>
          </a:xfrm>
        </p:spPr>
        <p:txBody>
          <a:bodyPr>
            <a:noAutofit/>
          </a:bodyPr>
          <a:lstStyle/>
          <a:p>
            <a:r>
              <a:rPr lang="en-US" sz="2400" dirty="0"/>
              <a:t>In addition to future equivalence, we can apply the same logic to determine equivalence </a:t>
            </a:r>
            <a:r>
              <a:rPr lang="en-US" sz="2400" dirty="0" smtClean="0"/>
              <a:t>for</a:t>
            </a:r>
            <a:r>
              <a:rPr lang="tr-TR" sz="2400" dirty="0" smtClean="0"/>
              <a:t> </a:t>
            </a:r>
            <a:r>
              <a:rPr lang="en-US" sz="2400" dirty="0" smtClean="0"/>
              <a:t>previous </a:t>
            </a:r>
            <a:r>
              <a:rPr lang="en-US" sz="2400" dirty="0"/>
              <a:t>years. </a:t>
            </a:r>
            <a:endParaRPr lang="tr-TR" sz="2400" dirty="0" smtClean="0"/>
          </a:p>
          <a:p>
            <a:r>
              <a:rPr lang="en-US" sz="2400" dirty="0" smtClean="0"/>
              <a:t>A </a:t>
            </a:r>
            <a:r>
              <a:rPr lang="en-US" sz="2400" dirty="0"/>
              <a:t>total of $100 now is equivalent to $100∕1.06 = $94.34 one year ago at an </a:t>
            </a:r>
            <a:r>
              <a:rPr lang="en-US" sz="2400" dirty="0" smtClean="0"/>
              <a:t>interest</a:t>
            </a:r>
            <a:r>
              <a:rPr lang="tr-TR" sz="2400" dirty="0" smtClean="0"/>
              <a:t> </a:t>
            </a:r>
            <a:r>
              <a:rPr lang="en-US" sz="2400" dirty="0" smtClean="0"/>
              <a:t>rate </a:t>
            </a:r>
            <a:r>
              <a:rPr lang="en-US" sz="2400" dirty="0"/>
              <a:t>of 6% per year. </a:t>
            </a:r>
            <a:endParaRPr lang="tr-TR" sz="2400" dirty="0" smtClean="0"/>
          </a:p>
          <a:p>
            <a:r>
              <a:rPr lang="en-US" sz="2400" dirty="0" smtClean="0"/>
              <a:t>From </a:t>
            </a:r>
            <a:r>
              <a:rPr lang="en-US" sz="2400" dirty="0"/>
              <a:t>these illustrations, we can state the following: $94.34 last year, $</a:t>
            </a:r>
            <a:r>
              <a:rPr lang="en-US" sz="2400" dirty="0" smtClean="0"/>
              <a:t>100</a:t>
            </a:r>
            <a:r>
              <a:rPr lang="tr-TR" sz="2400" dirty="0" smtClean="0"/>
              <a:t> </a:t>
            </a:r>
            <a:r>
              <a:rPr lang="en-US" sz="2400" dirty="0" smtClean="0"/>
              <a:t>now</a:t>
            </a:r>
            <a:r>
              <a:rPr lang="en-US" sz="2400" dirty="0"/>
              <a:t>, and $106 one year from now are equivalent at an interest rate of 6% per year. </a:t>
            </a:r>
            <a:endParaRPr lang="tr-TR" sz="2400" dirty="0" smtClean="0"/>
          </a:p>
          <a:p>
            <a:r>
              <a:rPr lang="en-US" sz="2400" dirty="0" smtClean="0"/>
              <a:t>The </a:t>
            </a:r>
            <a:r>
              <a:rPr lang="en-US" sz="2400" dirty="0"/>
              <a:t>fact </a:t>
            </a:r>
            <a:r>
              <a:rPr lang="en-US" sz="2400" dirty="0" smtClean="0"/>
              <a:t>that</a:t>
            </a:r>
            <a:r>
              <a:rPr lang="tr-TR" sz="2400" dirty="0" smtClean="0"/>
              <a:t> </a:t>
            </a:r>
            <a:r>
              <a:rPr lang="en-US" sz="2400" dirty="0" smtClean="0"/>
              <a:t>these </a:t>
            </a:r>
            <a:r>
              <a:rPr lang="en-US" sz="2400" dirty="0"/>
              <a:t>sums are equivalent can be verified by computing the two interest rates for 1-year </a:t>
            </a:r>
            <a:r>
              <a:rPr lang="en-US" sz="2400" dirty="0" smtClean="0"/>
              <a:t>interest</a:t>
            </a:r>
            <a:r>
              <a:rPr lang="tr-TR" sz="2400" dirty="0" smtClean="0"/>
              <a:t> </a:t>
            </a:r>
            <a:r>
              <a:rPr lang="en-US" sz="2400" dirty="0" smtClean="0"/>
              <a:t>periods</a:t>
            </a:r>
            <a:r>
              <a:rPr lang="en-US" sz="2400" dirty="0"/>
              <a:t>.</a:t>
            </a:r>
            <a:endParaRPr lang="en-US" sz="2400" dirty="0"/>
          </a:p>
        </p:txBody>
      </p:sp>
      <p:pic>
        <p:nvPicPr>
          <p:cNvPr id="4" name="Resim 3"/>
          <p:cNvPicPr>
            <a:picLocks noChangeAspect="1"/>
          </p:cNvPicPr>
          <p:nvPr/>
        </p:nvPicPr>
        <p:blipFill>
          <a:blip r:embed="rId2"/>
          <a:stretch>
            <a:fillRect/>
          </a:stretch>
        </p:blipFill>
        <p:spPr>
          <a:xfrm>
            <a:off x="4650721" y="4098335"/>
            <a:ext cx="4707783" cy="2504698"/>
          </a:xfrm>
          <a:prstGeom prst="rect">
            <a:avLst/>
          </a:prstGeom>
        </p:spPr>
      </p:pic>
    </p:spTree>
    <p:extLst>
      <p:ext uri="{BB962C8B-B14F-4D97-AF65-F5344CB8AC3E}">
        <p14:creationId xmlns:p14="http://schemas.microsoft.com/office/powerpoint/2010/main" val="4190637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75039" y="189239"/>
            <a:ext cx="8456686" cy="628272"/>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875039" y="971928"/>
            <a:ext cx="11036384" cy="5725598"/>
          </a:xfrm>
        </p:spPr>
        <p:txBody>
          <a:bodyPr>
            <a:noAutofit/>
          </a:bodyPr>
          <a:lstStyle/>
          <a:p>
            <a:r>
              <a:rPr lang="en-US" sz="2400" dirty="0"/>
              <a:t>Manufacturers make backup batteries for computer systems available to </a:t>
            </a:r>
            <a:r>
              <a:rPr lang="en-US" sz="2400" dirty="0" err="1"/>
              <a:t>Batteries+Bulbs</a:t>
            </a:r>
            <a:r>
              <a:rPr lang="en-US" sz="2400" dirty="0"/>
              <a:t> </a:t>
            </a:r>
            <a:r>
              <a:rPr lang="en-US" sz="2400" dirty="0" smtClean="0"/>
              <a:t>dealers</a:t>
            </a:r>
            <a:r>
              <a:rPr lang="tr-TR" sz="2400" dirty="0" smtClean="0"/>
              <a:t> </a:t>
            </a:r>
            <a:r>
              <a:rPr lang="en-US" sz="2400" dirty="0" smtClean="0"/>
              <a:t>through </a:t>
            </a:r>
            <a:r>
              <a:rPr lang="en-US" sz="2400" dirty="0"/>
              <a:t>privately owned distributorships. In general, batteries are stored throughout </a:t>
            </a:r>
            <a:r>
              <a:rPr lang="en-US" sz="2400" dirty="0" smtClean="0"/>
              <a:t>the</a:t>
            </a:r>
            <a:r>
              <a:rPr lang="tr-TR" sz="2400" dirty="0" smtClean="0"/>
              <a:t> </a:t>
            </a:r>
            <a:r>
              <a:rPr lang="en-US" sz="2400" dirty="0" smtClean="0"/>
              <a:t>year</a:t>
            </a:r>
            <a:r>
              <a:rPr lang="en-US" sz="2400" dirty="0"/>
              <a:t>, and a 5% cost increase is added each year to cover the inventory carrying charge for </a:t>
            </a:r>
            <a:r>
              <a:rPr lang="en-US" sz="2400" dirty="0" smtClean="0"/>
              <a:t>the</a:t>
            </a:r>
            <a:r>
              <a:rPr lang="tr-TR" sz="2400" dirty="0" smtClean="0"/>
              <a:t> </a:t>
            </a:r>
            <a:r>
              <a:rPr lang="en-US" sz="2400" dirty="0" smtClean="0"/>
              <a:t>distributorship </a:t>
            </a:r>
            <a:r>
              <a:rPr lang="en-US" sz="2400" dirty="0"/>
              <a:t>owner. Assume you own the City Center </a:t>
            </a:r>
            <a:r>
              <a:rPr lang="en-US" sz="2400" dirty="0" err="1"/>
              <a:t>Batteries+Bulbs</a:t>
            </a:r>
            <a:r>
              <a:rPr lang="en-US" sz="2400" dirty="0"/>
              <a:t> outlet. Make </a:t>
            </a:r>
            <a:r>
              <a:rPr lang="en-US" sz="2400" dirty="0" smtClean="0"/>
              <a:t>the</a:t>
            </a:r>
            <a:r>
              <a:rPr lang="tr-TR" sz="2400" dirty="0" smtClean="0"/>
              <a:t> </a:t>
            </a:r>
            <a:r>
              <a:rPr lang="en-US" sz="2400" dirty="0" smtClean="0"/>
              <a:t>calculations </a:t>
            </a:r>
            <a:r>
              <a:rPr lang="en-US" sz="2400" dirty="0"/>
              <a:t>necessary to show which of the following statements are true and which are </a:t>
            </a:r>
            <a:r>
              <a:rPr lang="en-US" sz="2400" dirty="0" smtClean="0"/>
              <a:t>false</a:t>
            </a:r>
            <a:r>
              <a:rPr lang="tr-TR" sz="2400" dirty="0" smtClean="0"/>
              <a:t> </a:t>
            </a:r>
            <a:r>
              <a:rPr lang="en-US" sz="2400" dirty="0" smtClean="0"/>
              <a:t>about </a:t>
            </a:r>
            <a:r>
              <a:rPr lang="en-US" sz="2400" dirty="0"/>
              <a:t>battery costs.</a:t>
            </a:r>
          </a:p>
          <a:p>
            <a:pPr marL="0" indent="0">
              <a:buNone/>
            </a:pPr>
            <a:r>
              <a:rPr lang="tr-TR" sz="2400" dirty="0" smtClean="0"/>
              <a:t>    </a:t>
            </a:r>
            <a:r>
              <a:rPr lang="en-US" sz="2400" dirty="0" smtClean="0"/>
              <a:t>(</a:t>
            </a:r>
            <a:r>
              <a:rPr lang="en-US" sz="2400" i="1" dirty="0"/>
              <a:t>a</a:t>
            </a:r>
            <a:r>
              <a:rPr lang="en-US" sz="2400" dirty="0"/>
              <a:t>) The amount of $98 now is equivalent to a cost of $105.60 one year from now.</a:t>
            </a:r>
          </a:p>
          <a:p>
            <a:pPr marL="0" indent="0">
              <a:buNone/>
            </a:pPr>
            <a:r>
              <a:rPr lang="tr-TR" sz="2400" dirty="0" smtClean="0"/>
              <a:t>   </a:t>
            </a:r>
            <a:r>
              <a:rPr lang="en-US" sz="2400" dirty="0" smtClean="0"/>
              <a:t>(</a:t>
            </a:r>
            <a:r>
              <a:rPr lang="en-US" sz="2400" i="1" dirty="0"/>
              <a:t>b</a:t>
            </a:r>
            <a:r>
              <a:rPr lang="en-US" sz="2400" dirty="0"/>
              <a:t>) A truck battery cost of $200 one year ago is equivalent to $205 now.</a:t>
            </a:r>
          </a:p>
          <a:p>
            <a:pPr marL="0" indent="0">
              <a:buNone/>
            </a:pPr>
            <a:r>
              <a:rPr lang="tr-TR" sz="2400" i="1" dirty="0" smtClean="0"/>
              <a:t>   </a:t>
            </a:r>
            <a:r>
              <a:rPr lang="en-US" sz="2400" i="1" dirty="0" smtClean="0"/>
              <a:t>(</a:t>
            </a:r>
            <a:r>
              <a:rPr lang="en-US" sz="2400" i="1" dirty="0"/>
              <a:t>c</a:t>
            </a:r>
            <a:r>
              <a:rPr lang="en-US" sz="2400" dirty="0"/>
              <a:t>) A $38 cost now is equivalent to $39.90 one year from now.</a:t>
            </a:r>
          </a:p>
          <a:p>
            <a:pPr marL="0" indent="0">
              <a:buNone/>
            </a:pPr>
            <a:r>
              <a:rPr lang="tr-TR" sz="2400" dirty="0" smtClean="0"/>
              <a:t>   </a:t>
            </a:r>
            <a:r>
              <a:rPr lang="en-US" sz="2400" dirty="0" smtClean="0"/>
              <a:t>(</a:t>
            </a:r>
            <a:r>
              <a:rPr lang="en-US" sz="2400" i="1" dirty="0"/>
              <a:t>d</a:t>
            </a:r>
            <a:r>
              <a:rPr lang="en-US" sz="2400" dirty="0"/>
              <a:t>) A $3000 cost now is equivalent to $2887.14 one year earlier.</a:t>
            </a:r>
          </a:p>
          <a:p>
            <a:pPr marL="0" indent="0">
              <a:buNone/>
            </a:pPr>
            <a:r>
              <a:rPr lang="tr-TR" sz="2400" dirty="0" smtClean="0"/>
              <a:t>   </a:t>
            </a:r>
            <a:r>
              <a:rPr lang="en-US" sz="2400" dirty="0" smtClean="0"/>
              <a:t>(</a:t>
            </a:r>
            <a:r>
              <a:rPr lang="en-US" sz="2400" i="1" dirty="0"/>
              <a:t>e</a:t>
            </a:r>
            <a:r>
              <a:rPr lang="en-US" sz="2400" dirty="0"/>
              <a:t>) The carrying charge accumulated in 1 year on an investment of $20,000 worth of </a:t>
            </a:r>
            <a:r>
              <a:rPr lang="en-US" sz="2400" dirty="0" smtClean="0"/>
              <a:t>batteries</a:t>
            </a:r>
            <a:r>
              <a:rPr lang="tr-TR" sz="2400" dirty="0" smtClean="0"/>
              <a:t> </a:t>
            </a:r>
            <a:r>
              <a:rPr lang="en-US" sz="2400" dirty="0" smtClean="0"/>
              <a:t>is </a:t>
            </a:r>
            <a:r>
              <a:rPr lang="en-US" sz="2400" dirty="0"/>
              <a:t>$1000.</a:t>
            </a:r>
            <a:endParaRPr lang="en-US" sz="2400" dirty="0"/>
          </a:p>
        </p:txBody>
      </p:sp>
    </p:spTree>
    <p:extLst>
      <p:ext uri="{BB962C8B-B14F-4D97-AF65-F5344CB8AC3E}">
        <p14:creationId xmlns:p14="http://schemas.microsoft.com/office/powerpoint/2010/main" val="1403895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08427" y="99918"/>
            <a:ext cx="11314942" cy="6530996"/>
          </a:xfrm>
        </p:spPr>
        <p:txBody>
          <a:bodyPr>
            <a:noAutofit/>
          </a:bodyPr>
          <a:lstStyle/>
          <a:p>
            <a:endParaRPr lang="tr-TR" sz="2400" dirty="0" smtClean="0"/>
          </a:p>
          <a:p>
            <a:pPr marL="0" indent="0">
              <a:buNone/>
            </a:pPr>
            <a:r>
              <a:rPr lang="tr-TR" sz="2400" dirty="0"/>
              <a:t> </a:t>
            </a:r>
            <a:r>
              <a:rPr lang="tr-TR" sz="2400" dirty="0" smtClean="0"/>
              <a:t>  </a:t>
            </a:r>
            <a:r>
              <a:rPr lang="en-US" sz="2400" dirty="0" smtClean="0"/>
              <a:t>(</a:t>
            </a:r>
            <a:r>
              <a:rPr lang="en-US" sz="2400" i="1" dirty="0"/>
              <a:t>a</a:t>
            </a:r>
            <a:r>
              <a:rPr lang="en-US" sz="2400" dirty="0"/>
              <a:t>) The amount of $98 now is equivalent to a cost of $105.60 one year from now</a:t>
            </a:r>
            <a:r>
              <a:rPr lang="en-US" sz="2400" dirty="0" smtClean="0"/>
              <a:t>.</a:t>
            </a:r>
            <a:endParaRPr lang="tr-TR" sz="2400" dirty="0" smtClean="0"/>
          </a:p>
          <a:p>
            <a:pPr marL="0" indent="0">
              <a:buNone/>
            </a:pPr>
            <a:r>
              <a:rPr lang="tr-TR" sz="2400" dirty="0" smtClean="0"/>
              <a:t>        </a:t>
            </a:r>
            <a:r>
              <a:rPr lang="en-US" sz="2400" dirty="0" smtClean="0"/>
              <a:t>Total </a:t>
            </a:r>
            <a:r>
              <a:rPr lang="en-US" sz="2400" dirty="0"/>
              <a:t>amount accrued = 98(1.05) = $102.90 ≠ $105.60; therefore, it is false. </a:t>
            </a:r>
            <a:endParaRPr lang="tr-TR" sz="2400" dirty="0" smtClean="0"/>
          </a:p>
          <a:p>
            <a:pPr marL="0" indent="0">
              <a:buNone/>
            </a:pPr>
            <a:r>
              <a:rPr lang="tr-TR" sz="2400" dirty="0" smtClean="0"/>
              <a:t>        </a:t>
            </a:r>
            <a:r>
              <a:rPr lang="en-US" sz="2400" dirty="0" smtClean="0"/>
              <a:t>Another way</a:t>
            </a:r>
            <a:r>
              <a:rPr lang="tr-TR" sz="2400" dirty="0" smtClean="0"/>
              <a:t> </a:t>
            </a:r>
            <a:r>
              <a:rPr lang="en-US" sz="2400" dirty="0" smtClean="0"/>
              <a:t>to </a:t>
            </a:r>
            <a:r>
              <a:rPr lang="en-US" sz="2400" dirty="0"/>
              <a:t>solve this is as follows: Required original cost is 105.60∕1.05 = $100.57 ≠ $98.</a:t>
            </a:r>
            <a:endParaRPr lang="tr-TR" sz="2400" dirty="0"/>
          </a:p>
          <a:p>
            <a:pPr marL="0" indent="0">
              <a:buNone/>
            </a:pPr>
            <a:endParaRPr lang="tr-TR" sz="2400" dirty="0" smtClean="0"/>
          </a:p>
          <a:p>
            <a:pPr marL="0" indent="0">
              <a:buNone/>
            </a:pPr>
            <a:r>
              <a:rPr lang="tr-TR" sz="2400" dirty="0" smtClean="0"/>
              <a:t>   </a:t>
            </a:r>
            <a:r>
              <a:rPr lang="en-US" sz="2400" dirty="0"/>
              <a:t>(</a:t>
            </a:r>
            <a:r>
              <a:rPr lang="en-US" sz="2400" i="1" dirty="0"/>
              <a:t>b</a:t>
            </a:r>
            <a:r>
              <a:rPr lang="en-US" sz="2400" dirty="0"/>
              <a:t>) A truck battery cost of $200 one year ago is equivalent to $205 now</a:t>
            </a:r>
            <a:r>
              <a:rPr lang="en-US" sz="2400" dirty="0" smtClean="0"/>
              <a:t>.</a:t>
            </a:r>
            <a:endParaRPr lang="tr-TR" sz="2400" dirty="0" smtClean="0"/>
          </a:p>
          <a:p>
            <a:pPr marL="0" indent="0">
              <a:buNone/>
            </a:pPr>
            <a:r>
              <a:rPr lang="tr-TR" sz="2400" dirty="0"/>
              <a:t> </a:t>
            </a:r>
            <a:r>
              <a:rPr lang="tr-TR" sz="2400" dirty="0" smtClean="0"/>
              <a:t>       </a:t>
            </a:r>
            <a:r>
              <a:rPr lang="en-US" sz="2400" dirty="0" smtClean="0"/>
              <a:t>Equivalent </a:t>
            </a:r>
            <a:r>
              <a:rPr lang="en-US" sz="2400" dirty="0"/>
              <a:t>cost 1 year ago is 205.00∕1.05 = $195.24 ≠ $200; therefore, it is false.</a:t>
            </a:r>
            <a:endParaRPr lang="tr-TR" sz="2400" dirty="0"/>
          </a:p>
          <a:p>
            <a:pPr marL="0" indent="0">
              <a:buNone/>
            </a:pPr>
            <a:endParaRPr lang="tr-TR" sz="2400" dirty="0" smtClean="0"/>
          </a:p>
          <a:p>
            <a:pPr marL="0" indent="0">
              <a:buNone/>
            </a:pPr>
            <a:r>
              <a:rPr lang="tr-TR" sz="2400" i="1" dirty="0" smtClean="0"/>
              <a:t>   </a:t>
            </a:r>
            <a:r>
              <a:rPr lang="en-US" sz="2400" i="1" dirty="0"/>
              <a:t>(c</a:t>
            </a:r>
            <a:r>
              <a:rPr lang="en-US" sz="2400" dirty="0"/>
              <a:t>) A $38 cost now is equivalent to $39.90 one year from now</a:t>
            </a:r>
            <a:r>
              <a:rPr lang="en-US" sz="2400" dirty="0" smtClean="0"/>
              <a:t>.</a:t>
            </a:r>
            <a:endParaRPr lang="tr-TR" sz="2400" dirty="0" smtClean="0"/>
          </a:p>
          <a:p>
            <a:pPr marL="0" indent="0">
              <a:buNone/>
            </a:pPr>
            <a:r>
              <a:rPr lang="tr-TR" sz="2400" dirty="0" smtClean="0"/>
              <a:t>       </a:t>
            </a:r>
            <a:r>
              <a:rPr lang="en-US" sz="2400" dirty="0" smtClean="0"/>
              <a:t>The </a:t>
            </a:r>
            <a:r>
              <a:rPr lang="en-US" sz="2400" dirty="0"/>
              <a:t>cost 1 year from now is $38(1.05) = $39.90; true.</a:t>
            </a:r>
            <a:endParaRPr lang="tr-TR" sz="2400" dirty="0"/>
          </a:p>
          <a:p>
            <a:pPr marL="0" indent="0">
              <a:buNone/>
            </a:pPr>
            <a:endParaRPr lang="en-US" sz="2400" dirty="0"/>
          </a:p>
        </p:txBody>
      </p:sp>
    </p:spTree>
    <p:extLst>
      <p:ext uri="{BB962C8B-B14F-4D97-AF65-F5344CB8AC3E}">
        <p14:creationId xmlns:p14="http://schemas.microsoft.com/office/powerpoint/2010/main" val="2277149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62763" y="408756"/>
            <a:ext cx="10745713" cy="3872574"/>
          </a:xfrm>
        </p:spPr>
        <p:txBody>
          <a:bodyPr>
            <a:normAutofit/>
          </a:bodyPr>
          <a:lstStyle/>
          <a:p>
            <a:pPr marL="0" indent="0">
              <a:buNone/>
            </a:pPr>
            <a:r>
              <a:rPr lang="tr-TR" sz="2400" dirty="0" smtClean="0"/>
              <a:t>  </a:t>
            </a:r>
            <a:endParaRPr lang="en-US" sz="2400" dirty="0" smtClean="0"/>
          </a:p>
          <a:p>
            <a:pPr marL="0" indent="0">
              <a:buNone/>
            </a:pPr>
            <a:r>
              <a:rPr lang="tr-TR" sz="2400" dirty="0" smtClean="0"/>
              <a:t>   </a:t>
            </a:r>
            <a:r>
              <a:rPr lang="en-US" sz="2400" dirty="0" smtClean="0"/>
              <a:t>(</a:t>
            </a:r>
            <a:r>
              <a:rPr lang="en-US" sz="2400" i="1" dirty="0" smtClean="0"/>
              <a:t>d</a:t>
            </a:r>
            <a:r>
              <a:rPr lang="en-US" sz="2400" dirty="0" smtClean="0"/>
              <a:t>) A $3000 cost now is equivalent to $2887.14 one year earlier.</a:t>
            </a:r>
            <a:endParaRPr lang="tr-TR" sz="2400" dirty="0" smtClean="0"/>
          </a:p>
          <a:p>
            <a:pPr marL="0" indent="0">
              <a:buNone/>
            </a:pPr>
            <a:r>
              <a:rPr lang="tr-TR" sz="2400" dirty="0" smtClean="0"/>
              <a:t>        </a:t>
            </a:r>
            <a:r>
              <a:rPr lang="en-US" sz="2400" dirty="0" smtClean="0"/>
              <a:t>Cost </a:t>
            </a:r>
            <a:r>
              <a:rPr lang="en-US" sz="2400" dirty="0"/>
              <a:t>now is 2887.14(1.05) = $3031.50 ≠ $3000; false.</a:t>
            </a:r>
            <a:endParaRPr lang="tr-TR" sz="2400" dirty="0"/>
          </a:p>
          <a:p>
            <a:pPr marL="0" indent="0">
              <a:buNone/>
            </a:pPr>
            <a:endParaRPr lang="en-US" sz="2400" dirty="0" smtClean="0"/>
          </a:p>
          <a:p>
            <a:pPr marL="0" indent="0">
              <a:buNone/>
            </a:pPr>
            <a:r>
              <a:rPr lang="tr-TR" sz="2400" dirty="0" smtClean="0"/>
              <a:t>   </a:t>
            </a:r>
            <a:r>
              <a:rPr lang="en-US" sz="2400" dirty="0"/>
              <a:t>(</a:t>
            </a:r>
            <a:r>
              <a:rPr lang="en-US" sz="2400" i="1" dirty="0"/>
              <a:t>e</a:t>
            </a:r>
            <a:r>
              <a:rPr lang="en-US" sz="2400" dirty="0"/>
              <a:t>) The carrying charge accumulated in 1 year on an investment of $20,000 worth of batteries</a:t>
            </a:r>
            <a:r>
              <a:rPr lang="tr-TR" sz="2400" dirty="0"/>
              <a:t> </a:t>
            </a:r>
            <a:r>
              <a:rPr lang="en-US" sz="2400" dirty="0"/>
              <a:t>is $1000</a:t>
            </a:r>
            <a:r>
              <a:rPr lang="en-US" sz="2400" dirty="0" smtClean="0"/>
              <a:t>.</a:t>
            </a:r>
            <a:endParaRPr lang="tr-TR" sz="2400" dirty="0"/>
          </a:p>
          <a:p>
            <a:pPr marL="0" indent="0">
              <a:buNone/>
            </a:pPr>
            <a:r>
              <a:rPr lang="tr-TR" sz="2400" dirty="0"/>
              <a:t> </a:t>
            </a:r>
            <a:r>
              <a:rPr lang="tr-TR" sz="2400" dirty="0" smtClean="0"/>
              <a:t>        </a:t>
            </a:r>
            <a:r>
              <a:rPr lang="en-US" sz="2400" dirty="0" smtClean="0"/>
              <a:t>The </a:t>
            </a:r>
            <a:r>
              <a:rPr lang="en-US" sz="2400" dirty="0"/>
              <a:t>charge is 5% per year interest, or $20,000(0.05) = $1000; true.</a:t>
            </a:r>
            <a:endParaRPr lang="en-US" sz="2400" dirty="0"/>
          </a:p>
        </p:txBody>
      </p:sp>
    </p:spTree>
    <p:extLst>
      <p:ext uri="{BB962C8B-B14F-4D97-AF65-F5344CB8AC3E}">
        <p14:creationId xmlns:p14="http://schemas.microsoft.com/office/powerpoint/2010/main" val="2767559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17428" y="292184"/>
            <a:ext cx="9177306" cy="670661"/>
          </a:xfrm>
        </p:spPr>
        <p:txBody>
          <a:bodyPr>
            <a:normAutofit fontScale="90000"/>
          </a:bodyPr>
          <a:lstStyle/>
          <a:p>
            <a:r>
              <a:rPr lang="tr-TR" dirty="0" err="1" smtClean="0"/>
              <a:t>Future</a:t>
            </a:r>
            <a:r>
              <a:rPr lang="tr-TR" dirty="0" smtClean="0"/>
              <a:t> Value</a:t>
            </a:r>
            <a:endParaRPr lang="en-US" dirty="0"/>
          </a:p>
        </p:txBody>
      </p:sp>
      <p:sp>
        <p:nvSpPr>
          <p:cNvPr id="3" name="İçerik Yer Tutucusu 2"/>
          <p:cNvSpPr>
            <a:spLocks noGrp="1"/>
          </p:cNvSpPr>
          <p:nvPr>
            <p:ph idx="1"/>
          </p:nvPr>
        </p:nvSpPr>
        <p:spPr>
          <a:xfrm>
            <a:off x="1111208" y="1123319"/>
            <a:ext cx="10618546" cy="1262599"/>
          </a:xfrm>
        </p:spPr>
        <p:txBody>
          <a:bodyPr>
            <a:normAutofit/>
          </a:bodyPr>
          <a:lstStyle/>
          <a:p>
            <a:r>
              <a:rPr lang="en-US" sz="2400" dirty="0"/>
              <a:t>The most fundamental factor in engineering economy is the one </a:t>
            </a:r>
            <a:r>
              <a:rPr lang="en-US" sz="2400" dirty="0" smtClean="0"/>
              <a:t>that</a:t>
            </a:r>
            <a:r>
              <a:rPr lang="tr-TR" sz="2400" dirty="0" smtClean="0"/>
              <a:t> </a:t>
            </a:r>
            <a:r>
              <a:rPr lang="en-US" sz="2400" dirty="0" smtClean="0"/>
              <a:t>determines </a:t>
            </a:r>
            <a:r>
              <a:rPr lang="en-US" sz="2400" dirty="0"/>
              <a:t>the amount of money </a:t>
            </a:r>
            <a:r>
              <a:rPr lang="en-US" sz="2400" i="1" dirty="0"/>
              <a:t>F </a:t>
            </a:r>
            <a:r>
              <a:rPr lang="en-US" sz="2400" dirty="0"/>
              <a:t>accumulated after </a:t>
            </a:r>
            <a:r>
              <a:rPr lang="en-US" sz="2400" i="1" dirty="0"/>
              <a:t>n </a:t>
            </a:r>
            <a:r>
              <a:rPr lang="en-US" sz="2400" dirty="0"/>
              <a:t>periods from </a:t>
            </a:r>
            <a:r>
              <a:rPr lang="en-US" sz="2400" dirty="0" smtClean="0"/>
              <a:t>a</a:t>
            </a:r>
            <a:r>
              <a:rPr lang="tr-TR" sz="2400" dirty="0" smtClean="0"/>
              <a:t> </a:t>
            </a:r>
            <a:r>
              <a:rPr lang="en-US" sz="2400" dirty="0" smtClean="0"/>
              <a:t>single </a:t>
            </a:r>
            <a:r>
              <a:rPr lang="en-US" sz="2400" dirty="0"/>
              <a:t>present worth </a:t>
            </a:r>
            <a:r>
              <a:rPr lang="en-US" sz="2400" i="1" dirty="0"/>
              <a:t>P</a:t>
            </a:r>
            <a:r>
              <a:rPr lang="en-US" sz="2400" dirty="0"/>
              <a:t>, with interest compounded one time per period.</a:t>
            </a:r>
            <a:endParaRPr lang="en-US" sz="2400" dirty="0"/>
          </a:p>
        </p:txBody>
      </p:sp>
      <p:pic>
        <p:nvPicPr>
          <p:cNvPr id="4" name="Resim 3"/>
          <p:cNvPicPr>
            <a:picLocks noChangeAspect="1"/>
          </p:cNvPicPr>
          <p:nvPr/>
        </p:nvPicPr>
        <p:blipFill>
          <a:blip r:embed="rId2"/>
          <a:stretch>
            <a:fillRect/>
          </a:stretch>
        </p:blipFill>
        <p:spPr>
          <a:xfrm>
            <a:off x="1276215" y="2823041"/>
            <a:ext cx="10288532" cy="3250756"/>
          </a:xfrm>
          <a:prstGeom prst="rect">
            <a:avLst/>
          </a:prstGeom>
        </p:spPr>
      </p:pic>
    </p:spTree>
    <p:extLst>
      <p:ext uri="{BB962C8B-B14F-4D97-AF65-F5344CB8AC3E}">
        <p14:creationId xmlns:p14="http://schemas.microsoft.com/office/powerpoint/2010/main" val="1660595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914399" y="236163"/>
            <a:ext cx="10799205" cy="3306823"/>
          </a:xfrm>
          <a:prstGeom prst="rect">
            <a:avLst/>
          </a:prstGeom>
        </p:spPr>
      </p:pic>
      <p:pic>
        <p:nvPicPr>
          <p:cNvPr id="6" name="Resim 5"/>
          <p:cNvPicPr>
            <a:picLocks noChangeAspect="1"/>
          </p:cNvPicPr>
          <p:nvPr/>
        </p:nvPicPr>
        <p:blipFill>
          <a:blip r:embed="rId3"/>
          <a:stretch>
            <a:fillRect/>
          </a:stretch>
        </p:blipFill>
        <p:spPr>
          <a:xfrm>
            <a:off x="914399" y="3542986"/>
            <a:ext cx="10653293" cy="3238152"/>
          </a:xfrm>
          <a:prstGeom prst="rect">
            <a:avLst/>
          </a:prstGeom>
        </p:spPr>
      </p:pic>
    </p:spTree>
    <p:extLst>
      <p:ext uri="{BB962C8B-B14F-4D97-AF65-F5344CB8AC3E}">
        <p14:creationId xmlns:p14="http://schemas.microsoft.com/office/powerpoint/2010/main" val="3085749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108179" y="4899004"/>
            <a:ext cx="10653368" cy="1374628"/>
          </a:xfrm>
        </p:spPr>
        <p:txBody>
          <a:bodyPr>
            <a:normAutofit/>
          </a:bodyPr>
          <a:lstStyle/>
          <a:p>
            <a:r>
              <a:rPr lang="en-US" sz="2400" dirty="0"/>
              <a:t>The factor (1 + </a:t>
            </a:r>
            <a:r>
              <a:rPr lang="en-US" sz="2400" i="1" dirty="0" err="1"/>
              <a:t>i</a:t>
            </a:r>
            <a:r>
              <a:rPr lang="en-US" sz="2400" dirty="0"/>
              <a:t>)</a:t>
            </a:r>
            <a:r>
              <a:rPr lang="en-US" sz="2400" i="1" baseline="30000" dirty="0"/>
              <a:t>n</a:t>
            </a:r>
            <a:r>
              <a:rPr lang="en-US" sz="2400" i="1" dirty="0"/>
              <a:t> </a:t>
            </a:r>
            <a:r>
              <a:rPr lang="en-US" sz="2400" dirty="0"/>
              <a:t>is called the single payment compound </a:t>
            </a:r>
            <a:r>
              <a:rPr lang="en-US" sz="2400" dirty="0" smtClean="0"/>
              <a:t>amount</a:t>
            </a:r>
            <a:r>
              <a:rPr lang="tr-TR" sz="2400" dirty="0" smtClean="0"/>
              <a:t> </a:t>
            </a:r>
            <a:r>
              <a:rPr lang="en-US" sz="2400" dirty="0" smtClean="0"/>
              <a:t>factor</a:t>
            </a:r>
            <a:r>
              <a:rPr lang="en-US" sz="2400" dirty="0"/>
              <a:t>, or simply </a:t>
            </a:r>
            <a:r>
              <a:rPr lang="en-US" sz="2400" i="1" dirty="0">
                <a:solidFill>
                  <a:srgbClr val="FF0000"/>
                </a:solidFill>
              </a:rPr>
              <a:t>F</a:t>
            </a:r>
            <a:r>
              <a:rPr lang="en-US" sz="2400" dirty="0">
                <a:solidFill>
                  <a:srgbClr val="FF0000"/>
                </a:solidFill>
              </a:rPr>
              <a:t>/</a:t>
            </a:r>
            <a:r>
              <a:rPr lang="en-US" sz="2400" i="1" dirty="0">
                <a:solidFill>
                  <a:srgbClr val="FF0000"/>
                </a:solidFill>
              </a:rPr>
              <a:t>P </a:t>
            </a:r>
            <a:r>
              <a:rPr lang="en-US" sz="2400" dirty="0">
                <a:solidFill>
                  <a:srgbClr val="FF0000"/>
                </a:solidFill>
              </a:rPr>
              <a:t>factor</a:t>
            </a:r>
            <a:r>
              <a:rPr lang="en-US" sz="2400" dirty="0"/>
              <a:t>.</a:t>
            </a:r>
            <a:endParaRPr lang="en-US" sz="2400" dirty="0"/>
          </a:p>
        </p:txBody>
      </p:sp>
      <p:pic>
        <p:nvPicPr>
          <p:cNvPr id="4" name="Resim 3"/>
          <p:cNvPicPr>
            <a:picLocks noChangeAspect="1"/>
          </p:cNvPicPr>
          <p:nvPr/>
        </p:nvPicPr>
        <p:blipFill>
          <a:blip r:embed="rId2"/>
          <a:stretch>
            <a:fillRect/>
          </a:stretch>
        </p:blipFill>
        <p:spPr>
          <a:xfrm>
            <a:off x="1108179" y="618638"/>
            <a:ext cx="10345033" cy="3453844"/>
          </a:xfrm>
          <a:prstGeom prst="rect">
            <a:avLst/>
          </a:prstGeom>
        </p:spPr>
      </p:pic>
    </p:spTree>
    <p:extLst>
      <p:ext uri="{BB962C8B-B14F-4D97-AF65-F5344CB8AC3E}">
        <p14:creationId xmlns:p14="http://schemas.microsoft.com/office/powerpoint/2010/main" val="3094225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20374" y="572257"/>
            <a:ext cx="10763880" cy="1044596"/>
          </a:xfrm>
        </p:spPr>
        <p:txBody>
          <a:bodyPr>
            <a:normAutofit/>
          </a:bodyPr>
          <a:lstStyle/>
          <a:p>
            <a:r>
              <a:rPr lang="en-US" sz="2400" dirty="0"/>
              <a:t>This conversion factor yields the future amount </a:t>
            </a:r>
            <a:r>
              <a:rPr lang="en-US" sz="2400" i="1" dirty="0"/>
              <a:t>F </a:t>
            </a:r>
            <a:r>
              <a:rPr lang="en-US" sz="2400" dirty="0"/>
              <a:t>of an </a:t>
            </a:r>
            <a:r>
              <a:rPr lang="en-US" sz="2400" dirty="0" smtClean="0"/>
              <a:t>initial</a:t>
            </a:r>
            <a:r>
              <a:rPr lang="tr-TR" sz="2400" dirty="0" smtClean="0"/>
              <a:t> </a:t>
            </a:r>
            <a:r>
              <a:rPr lang="en-US" sz="2400" dirty="0" smtClean="0"/>
              <a:t>amount </a:t>
            </a:r>
            <a:r>
              <a:rPr lang="en-US" sz="2400" i="1" dirty="0"/>
              <a:t>P </a:t>
            </a:r>
            <a:r>
              <a:rPr lang="en-US" sz="2400" dirty="0"/>
              <a:t>after </a:t>
            </a:r>
            <a:r>
              <a:rPr lang="en-US" sz="2400" i="1" dirty="0"/>
              <a:t>n </a:t>
            </a:r>
            <a:r>
              <a:rPr lang="en-US" sz="2400" dirty="0"/>
              <a:t>years at interest rate </a:t>
            </a:r>
            <a:r>
              <a:rPr lang="en-US" sz="2400" i="1" dirty="0" err="1"/>
              <a:t>i</a:t>
            </a:r>
            <a:r>
              <a:rPr lang="en-US" sz="2400" dirty="0"/>
              <a:t>, when it is multiplied by </a:t>
            </a:r>
            <a:r>
              <a:rPr lang="en-US" sz="2400" i="1" dirty="0"/>
              <a:t>P</a:t>
            </a:r>
            <a:r>
              <a:rPr lang="en-US" sz="2400" dirty="0"/>
              <a:t>.</a:t>
            </a:r>
            <a:endParaRPr lang="en-US" sz="2400" dirty="0"/>
          </a:p>
        </p:txBody>
      </p:sp>
      <p:pic>
        <p:nvPicPr>
          <p:cNvPr id="4" name="Resim 3"/>
          <p:cNvPicPr>
            <a:picLocks noChangeAspect="1"/>
          </p:cNvPicPr>
          <p:nvPr/>
        </p:nvPicPr>
        <p:blipFill>
          <a:blip r:embed="rId2"/>
          <a:stretch>
            <a:fillRect/>
          </a:stretch>
        </p:blipFill>
        <p:spPr>
          <a:xfrm>
            <a:off x="2831394" y="1875168"/>
            <a:ext cx="7301242" cy="3829235"/>
          </a:xfrm>
          <a:prstGeom prst="rect">
            <a:avLst/>
          </a:prstGeom>
        </p:spPr>
      </p:pic>
    </p:spTree>
    <p:extLst>
      <p:ext uri="{BB962C8B-B14F-4D97-AF65-F5344CB8AC3E}">
        <p14:creationId xmlns:p14="http://schemas.microsoft.com/office/powerpoint/2010/main" val="3340061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İçerik Yer Tutucusu 2"/>
              <p:cNvSpPr>
                <a:spLocks noGrp="1"/>
              </p:cNvSpPr>
              <p:nvPr>
                <p:ph idx="1"/>
              </p:nvPr>
            </p:nvSpPr>
            <p:spPr>
              <a:xfrm>
                <a:off x="1111207" y="342143"/>
                <a:ext cx="10721491" cy="3781740"/>
              </a:xfrm>
            </p:spPr>
            <p:txBody>
              <a:bodyPr>
                <a:normAutofit/>
              </a:bodyPr>
              <a:lstStyle/>
              <a:p>
                <a:r>
                  <a:rPr lang="en-US" sz="2400" dirty="0" smtClean="0"/>
                  <a:t>Reverse the situation to determine </a:t>
                </a:r>
                <a:r>
                  <a:rPr lang="en-US" sz="2400" i="1" dirty="0"/>
                  <a:t>P </a:t>
                </a:r>
                <a:r>
                  <a:rPr lang="en-US" sz="2400" dirty="0"/>
                  <a:t>value for stated amount </a:t>
                </a:r>
                <a:r>
                  <a:rPr lang="en-US" sz="2400" i="1" dirty="0" smtClean="0"/>
                  <a:t>F</a:t>
                </a:r>
                <a:r>
                  <a:rPr lang="tr-TR" sz="2400" i="1" dirty="0" smtClean="0"/>
                  <a:t> </a:t>
                </a:r>
                <a:r>
                  <a:rPr lang="en-US" sz="2400" dirty="0" smtClean="0"/>
                  <a:t>that </a:t>
                </a:r>
                <a:r>
                  <a:rPr lang="en-US" sz="2400" dirty="0"/>
                  <a:t>occurs </a:t>
                </a:r>
                <a:r>
                  <a:rPr lang="en-US" sz="2400" i="1" dirty="0"/>
                  <a:t>n </a:t>
                </a:r>
                <a:r>
                  <a:rPr lang="en-US" sz="2400" dirty="0"/>
                  <a:t>periods in the </a:t>
                </a:r>
                <a:r>
                  <a:rPr lang="en-US" sz="2400" dirty="0" smtClean="0"/>
                  <a:t>future</a:t>
                </a:r>
                <a:r>
                  <a:rPr lang="tr-TR" sz="2400" dirty="0" smtClean="0"/>
                  <a:t> </a:t>
                </a:r>
              </a:p>
              <a:p>
                <a14:m>
                  <m:oMath xmlns:m="http://schemas.openxmlformats.org/officeDocument/2006/math">
                    <m:f>
                      <m:fPr>
                        <m:ctrlPr>
                          <a:rPr lang="tr-TR" sz="2400" i="1" smtClean="0">
                            <a:latin typeface="Cambria Math" panose="02040503050406030204" pitchFamily="18" charset="0"/>
                          </a:rPr>
                        </m:ctrlPr>
                      </m:fPr>
                      <m:num>
                        <m:r>
                          <a:rPr lang="tr-TR" sz="2400" b="0" i="1" smtClean="0">
                            <a:latin typeface="Cambria Math" panose="02040503050406030204" pitchFamily="18" charset="0"/>
                          </a:rPr>
                          <m:t>1</m:t>
                        </m:r>
                      </m:num>
                      <m:den>
                        <m:sSup>
                          <m:sSupPr>
                            <m:ctrlPr>
                              <a:rPr lang="tr-TR" sz="2400" i="1" smtClean="0">
                                <a:latin typeface="Cambria Math" panose="02040503050406030204" pitchFamily="18" charset="0"/>
                              </a:rPr>
                            </m:ctrlPr>
                          </m:sSupPr>
                          <m:e>
                            <m:r>
                              <a:rPr lang="tr-TR" sz="2400" b="0" i="1" smtClean="0">
                                <a:latin typeface="Cambria Math" panose="02040503050406030204" pitchFamily="18" charset="0"/>
                              </a:rPr>
                              <m:t>(1+</m:t>
                            </m:r>
                            <m:r>
                              <a:rPr lang="tr-TR" sz="2400" b="0" i="1" smtClean="0">
                                <a:latin typeface="Cambria Math" panose="02040503050406030204" pitchFamily="18" charset="0"/>
                              </a:rPr>
                              <m:t>𝑛</m:t>
                            </m:r>
                            <m:r>
                              <a:rPr lang="tr-TR" sz="2400" b="0" i="1" smtClean="0">
                                <a:latin typeface="Cambria Math" panose="02040503050406030204" pitchFamily="18" charset="0"/>
                              </a:rPr>
                              <m:t>)</m:t>
                            </m:r>
                          </m:e>
                          <m:sup>
                            <m:r>
                              <a:rPr lang="tr-TR" sz="2400" b="0" i="1" smtClean="0">
                                <a:latin typeface="Cambria Math" panose="02040503050406030204" pitchFamily="18" charset="0"/>
                              </a:rPr>
                              <m:t>𝑛</m:t>
                            </m:r>
                          </m:sup>
                        </m:sSup>
                      </m:den>
                    </m:f>
                  </m:oMath>
                </a14:m>
                <a:r>
                  <a:rPr lang="en-US" sz="2400" i="1" dirty="0" smtClean="0"/>
                  <a:t> </a:t>
                </a:r>
                <a:r>
                  <a:rPr lang="en-US" sz="2400" dirty="0"/>
                  <a:t>is the single payment </a:t>
                </a:r>
                <a:r>
                  <a:rPr lang="en-US" sz="2400" dirty="0">
                    <a:solidFill>
                      <a:srgbClr val="FF0000"/>
                    </a:solidFill>
                  </a:rPr>
                  <a:t>present worth factor or the </a:t>
                </a:r>
                <a:r>
                  <a:rPr lang="en-US" sz="2400" i="1" dirty="0">
                    <a:solidFill>
                      <a:srgbClr val="FF0000"/>
                    </a:solidFill>
                  </a:rPr>
                  <a:t>P</a:t>
                </a:r>
                <a:r>
                  <a:rPr lang="en-US" sz="2400" dirty="0">
                    <a:solidFill>
                      <a:srgbClr val="FF0000"/>
                    </a:solidFill>
                  </a:rPr>
                  <a:t>/</a:t>
                </a:r>
                <a:r>
                  <a:rPr lang="en-US" sz="2400" i="1" dirty="0">
                    <a:solidFill>
                      <a:srgbClr val="FF0000"/>
                    </a:solidFill>
                  </a:rPr>
                  <a:t>F</a:t>
                </a:r>
              </a:p>
              <a:p>
                <a:r>
                  <a:rPr lang="en-US" sz="2400" dirty="0"/>
                  <a:t>This factor yields the present amount </a:t>
                </a:r>
                <a:r>
                  <a:rPr lang="en-US" sz="2400" i="1" dirty="0"/>
                  <a:t>P </a:t>
                </a:r>
                <a:r>
                  <a:rPr lang="en-US" sz="2400" dirty="0"/>
                  <a:t>of an given future </a:t>
                </a:r>
                <a:r>
                  <a:rPr lang="en-US" sz="2400" dirty="0" smtClean="0"/>
                  <a:t>amount</a:t>
                </a:r>
                <a:r>
                  <a:rPr lang="tr-TR" sz="2400" dirty="0" smtClean="0"/>
                  <a:t> </a:t>
                </a:r>
                <a:r>
                  <a:rPr lang="en-US" sz="2400" i="1" dirty="0" smtClean="0"/>
                  <a:t>F </a:t>
                </a:r>
                <a:r>
                  <a:rPr lang="en-US" sz="2400" dirty="0"/>
                  <a:t>after </a:t>
                </a:r>
                <a:r>
                  <a:rPr lang="en-US" sz="2400" i="1" dirty="0"/>
                  <a:t>n </a:t>
                </a:r>
                <a:r>
                  <a:rPr lang="en-US" sz="2400" dirty="0"/>
                  <a:t>years at interest rate </a:t>
                </a:r>
                <a:r>
                  <a:rPr lang="en-US" sz="2400" i="1" dirty="0" err="1"/>
                  <a:t>i</a:t>
                </a:r>
                <a:r>
                  <a:rPr lang="en-US" sz="2400" dirty="0"/>
                  <a:t>, when it is multiplied by </a:t>
                </a:r>
                <a:r>
                  <a:rPr lang="en-US" sz="2400" i="1" dirty="0"/>
                  <a:t>F</a:t>
                </a:r>
                <a:r>
                  <a:rPr lang="en-US" sz="2400" dirty="0"/>
                  <a:t>.</a:t>
                </a:r>
                <a:endParaRPr lang="en-US" sz="2400"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xfrm>
                <a:off x="1111207" y="342143"/>
                <a:ext cx="10721491" cy="3781740"/>
              </a:xfrm>
              <a:blipFill rotWithShape="0">
                <a:blip r:embed="rId2"/>
                <a:stretch>
                  <a:fillRect l="-739" t="-1935" r="-1080"/>
                </a:stretch>
              </a:blipFill>
            </p:spPr>
            <p:txBody>
              <a:bodyPr/>
              <a:lstStyle/>
              <a:p>
                <a:r>
                  <a:rPr lang="en-US">
                    <a:noFill/>
                  </a:rPr>
                  <a:t> </a:t>
                </a:r>
              </a:p>
            </p:txBody>
          </p:sp>
        </mc:Fallback>
      </mc:AlternateContent>
      <p:pic>
        <p:nvPicPr>
          <p:cNvPr id="4" name="Resim 3"/>
          <p:cNvPicPr>
            <a:picLocks noChangeAspect="1"/>
          </p:cNvPicPr>
          <p:nvPr/>
        </p:nvPicPr>
        <p:blipFill>
          <a:blip r:embed="rId3"/>
          <a:stretch>
            <a:fillRect/>
          </a:stretch>
        </p:blipFill>
        <p:spPr>
          <a:xfrm>
            <a:off x="3276094" y="2843220"/>
            <a:ext cx="6718463" cy="3470540"/>
          </a:xfrm>
          <a:prstGeom prst="rect">
            <a:avLst/>
          </a:prstGeom>
        </p:spPr>
      </p:pic>
    </p:spTree>
    <p:extLst>
      <p:ext uri="{BB962C8B-B14F-4D97-AF65-F5344CB8AC3E}">
        <p14:creationId xmlns:p14="http://schemas.microsoft.com/office/powerpoint/2010/main" val="403429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29539" y="426922"/>
            <a:ext cx="10775992" cy="6288771"/>
          </a:xfrm>
        </p:spPr>
        <p:txBody>
          <a:bodyPr>
            <a:noAutofit/>
          </a:bodyPr>
          <a:lstStyle/>
          <a:p>
            <a:r>
              <a:rPr lang="en-US" sz="2400" dirty="0"/>
              <a:t>The two factors derived so far are for single payments.</a:t>
            </a:r>
          </a:p>
          <a:p>
            <a:r>
              <a:rPr lang="en-US" sz="2400" dirty="0"/>
              <a:t>A standard notation is developed for all factors.</a:t>
            </a:r>
          </a:p>
          <a:p>
            <a:pPr marL="987425" indent="-273050"/>
            <a:r>
              <a:rPr lang="en-US" sz="2400" dirty="0"/>
              <a:t>includes: two cash flow symbols, interest rate and number </a:t>
            </a:r>
            <a:r>
              <a:rPr lang="en-US" sz="2400" dirty="0" smtClean="0"/>
              <a:t>of</a:t>
            </a:r>
            <a:r>
              <a:rPr lang="tr-TR" sz="2400" dirty="0" smtClean="0"/>
              <a:t> </a:t>
            </a:r>
            <a:r>
              <a:rPr lang="en-US" sz="2400" dirty="0" smtClean="0"/>
              <a:t>periods</a:t>
            </a:r>
            <a:endParaRPr lang="en-US" sz="2400" dirty="0"/>
          </a:p>
          <a:p>
            <a:pPr marL="987425" indent="-273050"/>
            <a:r>
              <a:rPr lang="en-US" sz="2400" dirty="0"/>
              <a:t>general form is (</a:t>
            </a:r>
            <a:r>
              <a:rPr lang="en-US" sz="2400" i="1" dirty="0"/>
              <a:t>X</a:t>
            </a:r>
            <a:r>
              <a:rPr lang="en-US" sz="2400" dirty="0"/>
              <a:t>/</a:t>
            </a:r>
            <a:r>
              <a:rPr lang="en-US" sz="2400" i="1" dirty="0"/>
              <a:t>Y</a:t>
            </a:r>
            <a:r>
              <a:rPr lang="en-US" sz="2400" dirty="0"/>
              <a:t>, </a:t>
            </a:r>
            <a:r>
              <a:rPr lang="en-US" sz="2400" i="1" dirty="0" err="1"/>
              <a:t>i</a:t>
            </a:r>
            <a:r>
              <a:rPr lang="en-US" sz="2400" dirty="0"/>
              <a:t>, </a:t>
            </a:r>
            <a:r>
              <a:rPr lang="en-US" sz="2400" i="1" dirty="0"/>
              <a:t>n</a:t>
            </a:r>
            <a:r>
              <a:rPr lang="en-US" sz="2400" dirty="0"/>
              <a:t>)</a:t>
            </a:r>
          </a:p>
          <a:p>
            <a:pPr marL="987425" indent="-273050"/>
            <a:r>
              <a:rPr lang="en-US" sz="2400" i="1" dirty="0"/>
              <a:t>X </a:t>
            </a:r>
            <a:r>
              <a:rPr lang="en-US" sz="2400" dirty="0"/>
              <a:t>is the cash flow that is sought</a:t>
            </a:r>
          </a:p>
          <a:p>
            <a:pPr marL="987425" indent="-273050"/>
            <a:r>
              <a:rPr lang="en-US" sz="2400" i="1" dirty="0"/>
              <a:t>Y </a:t>
            </a:r>
            <a:r>
              <a:rPr lang="en-US" sz="2400" dirty="0"/>
              <a:t>is the cash flow that is given</a:t>
            </a:r>
          </a:p>
          <a:p>
            <a:pPr marL="987425" indent="-273050"/>
            <a:r>
              <a:rPr lang="en-US" sz="2400" i="1" dirty="0" err="1"/>
              <a:t>i</a:t>
            </a:r>
            <a:r>
              <a:rPr lang="en-US" sz="2400" i="1" dirty="0"/>
              <a:t> </a:t>
            </a:r>
            <a:r>
              <a:rPr lang="en-US" sz="2400" dirty="0"/>
              <a:t>is the interest rate in percent</a:t>
            </a:r>
          </a:p>
          <a:p>
            <a:pPr marL="987425" indent="-273050"/>
            <a:r>
              <a:rPr lang="en-US" sz="2400" i="1" dirty="0"/>
              <a:t>n </a:t>
            </a:r>
            <a:r>
              <a:rPr lang="en-US" sz="2400" dirty="0"/>
              <a:t>is the time periods involved</a:t>
            </a:r>
          </a:p>
          <a:p>
            <a:r>
              <a:rPr lang="en-US" sz="2400" dirty="0"/>
              <a:t>(</a:t>
            </a:r>
            <a:r>
              <a:rPr lang="en-US" sz="2400" i="1" dirty="0"/>
              <a:t>F</a:t>
            </a:r>
            <a:r>
              <a:rPr lang="en-US" sz="2400" dirty="0"/>
              <a:t>/</a:t>
            </a:r>
            <a:r>
              <a:rPr lang="en-US" sz="2400" i="1" dirty="0"/>
              <a:t>P</a:t>
            </a:r>
            <a:r>
              <a:rPr lang="en-US" sz="2400" dirty="0"/>
              <a:t>, 8%, 20) represents the factor to calculate future value </a:t>
            </a:r>
            <a:r>
              <a:rPr lang="en-US" sz="2400" i="1" dirty="0" smtClean="0"/>
              <a:t>F</a:t>
            </a:r>
            <a:r>
              <a:rPr lang="tr-TR" sz="2400" i="1" dirty="0" smtClean="0"/>
              <a:t> </a:t>
            </a:r>
            <a:r>
              <a:rPr lang="en-US" sz="2400" dirty="0" smtClean="0"/>
              <a:t>accumulated </a:t>
            </a:r>
            <a:r>
              <a:rPr lang="en-US" sz="2400" dirty="0"/>
              <a:t>in 20 periods at 8% interest rate for an initial 1 </a:t>
            </a:r>
            <a:r>
              <a:rPr lang="en-US" sz="2400" dirty="0" smtClean="0"/>
              <a:t>dollar</a:t>
            </a:r>
            <a:r>
              <a:rPr lang="tr-TR" sz="2400" dirty="0" smtClean="0"/>
              <a:t> </a:t>
            </a:r>
            <a:r>
              <a:rPr lang="en-US" sz="2400" dirty="0" smtClean="0"/>
              <a:t>invested </a:t>
            </a:r>
            <a:r>
              <a:rPr lang="en-US" sz="2400" dirty="0"/>
              <a:t>at time zero</a:t>
            </a:r>
            <a:r>
              <a:rPr lang="en-US" sz="2400" dirty="0" smtClean="0"/>
              <a:t>.</a:t>
            </a:r>
            <a:endParaRPr lang="tr-TR" sz="2400" dirty="0" smtClean="0"/>
          </a:p>
          <a:p>
            <a:r>
              <a:rPr lang="en-US" sz="2400" i="1" dirty="0"/>
              <a:t>P</a:t>
            </a:r>
            <a:r>
              <a:rPr lang="en-US" sz="2400" dirty="0"/>
              <a:t>∗(</a:t>
            </a:r>
            <a:r>
              <a:rPr lang="en-US" sz="2400" i="1" dirty="0"/>
              <a:t>F</a:t>
            </a:r>
            <a:r>
              <a:rPr lang="en-US" sz="2400" dirty="0"/>
              <a:t>/</a:t>
            </a:r>
            <a:r>
              <a:rPr lang="en-US" sz="2400" i="1" dirty="0"/>
              <a:t>P</a:t>
            </a:r>
            <a:r>
              <a:rPr lang="en-US" sz="2400" dirty="0"/>
              <a:t>, 8%, 20) gives you the future </a:t>
            </a:r>
            <a:r>
              <a:rPr lang="en-US" sz="2400" i="1" dirty="0"/>
              <a:t>F </a:t>
            </a:r>
            <a:r>
              <a:rPr lang="en-US" sz="2400" dirty="0"/>
              <a:t>value.</a:t>
            </a:r>
            <a:endParaRPr lang="en-US" sz="2400" dirty="0"/>
          </a:p>
        </p:txBody>
      </p:sp>
    </p:spTree>
    <p:extLst>
      <p:ext uri="{BB962C8B-B14F-4D97-AF65-F5344CB8AC3E}">
        <p14:creationId xmlns:p14="http://schemas.microsoft.com/office/powerpoint/2010/main" val="3517563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81094" y="3376013"/>
            <a:ext cx="11024273" cy="1868162"/>
          </a:xfrm>
        </p:spPr>
        <p:txBody>
          <a:bodyPr>
            <a:normAutofit/>
          </a:bodyPr>
          <a:lstStyle/>
          <a:p>
            <a:r>
              <a:rPr lang="en-US" sz="2400" dirty="0"/>
              <a:t>Tables of factors are available from 0.25 to 50% interest rates </a:t>
            </a:r>
            <a:r>
              <a:rPr lang="en-US" sz="2400" dirty="0" smtClean="0"/>
              <a:t>and</a:t>
            </a:r>
            <a:r>
              <a:rPr lang="tr-TR" sz="2400" dirty="0" smtClean="0"/>
              <a:t> </a:t>
            </a:r>
            <a:r>
              <a:rPr lang="en-US" sz="2400" dirty="0" smtClean="0"/>
              <a:t>time </a:t>
            </a:r>
            <a:r>
              <a:rPr lang="en-US" sz="2400" dirty="0"/>
              <a:t>periods 1 to large </a:t>
            </a:r>
            <a:r>
              <a:rPr lang="en-US" sz="2400" i="1" dirty="0"/>
              <a:t>n </a:t>
            </a:r>
            <a:r>
              <a:rPr lang="en-US" sz="2400" dirty="0"/>
              <a:t>values.</a:t>
            </a:r>
          </a:p>
          <a:p>
            <a:r>
              <a:rPr lang="en-US" sz="2400" dirty="0"/>
              <a:t>For a given interest rate, the factor value is found at </a:t>
            </a:r>
            <a:r>
              <a:rPr lang="en-US" sz="2400" dirty="0" smtClean="0"/>
              <a:t>the</a:t>
            </a:r>
            <a:r>
              <a:rPr lang="tr-TR" sz="2400" dirty="0" smtClean="0"/>
              <a:t> </a:t>
            </a:r>
            <a:r>
              <a:rPr lang="en-US" sz="2400" dirty="0" smtClean="0"/>
              <a:t>intersection </a:t>
            </a:r>
            <a:r>
              <a:rPr lang="en-US" sz="2400" dirty="0"/>
              <a:t>of the factor name and </a:t>
            </a:r>
            <a:r>
              <a:rPr lang="en-US" sz="2400" i="1" dirty="0"/>
              <a:t>n</a:t>
            </a:r>
            <a:r>
              <a:rPr lang="en-US" sz="2400" dirty="0"/>
              <a:t>.</a:t>
            </a:r>
            <a:endParaRPr lang="en-US" sz="2400" dirty="0"/>
          </a:p>
        </p:txBody>
      </p:sp>
      <p:pic>
        <p:nvPicPr>
          <p:cNvPr id="4" name="Resim 3"/>
          <p:cNvPicPr>
            <a:picLocks noChangeAspect="1"/>
          </p:cNvPicPr>
          <p:nvPr/>
        </p:nvPicPr>
        <p:blipFill>
          <a:blip r:embed="rId2"/>
          <a:stretch>
            <a:fillRect/>
          </a:stretch>
        </p:blipFill>
        <p:spPr>
          <a:xfrm>
            <a:off x="2802438" y="5489171"/>
            <a:ext cx="7315430" cy="633070"/>
          </a:xfrm>
          <a:prstGeom prst="rect">
            <a:avLst/>
          </a:prstGeom>
        </p:spPr>
      </p:pic>
      <p:pic>
        <p:nvPicPr>
          <p:cNvPr id="5" name="Resim 4"/>
          <p:cNvPicPr>
            <a:picLocks noChangeAspect="1"/>
          </p:cNvPicPr>
          <p:nvPr/>
        </p:nvPicPr>
        <p:blipFill>
          <a:blip r:embed="rId3"/>
          <a:stretch>
            <a:fillRect/>
          </a:stretch>
        </p:blipFill>
        <p:spPr>
          <a:xfrm>
            <a:off x="777235" y="540670"/>
            <a:ext cx="11231989" cy="2384198"/>
          </a:xfrm>
          <a:prstGeom prst="rect">
            <a:avLst/>
          </a:prstGeom>
        </p:spPr>
      </p:pic>
    </p:spTree>
    <p:extLst>
      <p:ext uri="{BB962C8B-B14F-4D97-AF65-F5344CB8AC3E}">
        <p14:creationId xmlns:p14="http://schemas.microsoft.com/office/powerpoint/2010/main" val="1068655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26429" y="243739"/>
            <a:ext cx="8795801" cy="652494"/>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923483" y="1099097"/>
            <a:ext cx="10915271" cy="1395822"/>
          </a:xfrm>
        </p:spPr>
        <p:txBody>
          <a:bodyPr>
            <a:normAutofit/>
          </a:bodyPr>
          <a:lstStyle/>
          <a:p>
            <a:r>
              <a:rPr lang="en-US" sz="2400" dirty="0"/>
              <a:t>An industrial engineer receives a bonus of $12,000, and decides </a:t>
            </a:r>
            <a:r>
              <a:rPr lang="en-US" sz="2400" dirty="0" smtClean="0"/>
              <a:t>to</a:t>
            </a:r>
            <a:r>
              <a:rPr lang="tr-TR" sz="2400" dirty="0" smtClean="0"/>
              <a:t> </a:t>
            </a:r>
            <a:r>
              <a:rPr lang="en-US" sz="2400" dirty="0" smtClean="0"/>
              <a:t>invest </a:t>
            </a:r>
            <a:r>
              <a:rPr lang="en-US" sz="2400" dirty="0"/>
              <a:t>the whole amount to the bank for 20 years at 8% per each </a:t>
            </a:r>
            <a:r>
              <a:rPr lang="en-US" sz="2400" dirty="0" smtClean="0"/>
              <a:t>year.</a:t>
            </a:r>
            <a:r>
              <a:rPr lang="tr-TR" sz="2400" dirty="0" smtClean="0"/>
              <a:t> </a:t>
            </a:r>
            <a:r>
              <a:rPr lang="en-US" sz="2400" dirty="0" smtClean="0"/>
              <a:t>Find </a:t>
            </a:r>
            <a:r>
              <a:rPr lang="en-US" sz="2400" dirty="0"/>
              <a:t>the amount </a:t>
            </a:r>
            <a:r>
              <a:rPr lang="en-US" sz="2400" dirty="0" err="1"/>
              <a:t>amount</a:t>
            </a:r>
            <a:r>
              <a:rPr lang="en-US" sz="2400" dirty="0"/>
              <a:t> of money he will get 20 years later.</a:t>
            </a:r>
            <a:endParaRPr lang="en-US" sz="2400" dirty="0"/>
          </a:p>
        </p:txBody>
      </p:sp>
      <p:pic>
        <p:nvPicPr>
          <p:cNvPr id="4" name="Resim 3"/>
          <p:cNvPicPr>
            <a:picLocks noChangeAspect="1"/>
          </p:cNvPicPr>
          <p:nvPr/>
        </p:nvPicPr>
        <p:blipFill>
          <a:blip r:embed="rId2"/>
          <a:stretch>
            <a:fillRect/>
          </a:stretch>
        </p:blipFill>
        <p:spPr>
          <a:xfrm>
            <a:off x="2825432" y="2579698"/>
            <a:ext cx="8171590" cy="1822183"/>
          </a:xfrm>
          <a:prstGeom prst="rect">
            <a:avLst/>
          </a:prstGeom>
        </p:spPr>
      </p:pic>
      <p:pic>
        <p:nvPicPr>
          <p:cNvPr id="5" name="Resim 4"/>
          <p:cNvPicPr>
            <a:picLocks noChangeAspect="1"/>
          </p:cNvPicPr>
          <p:nvPr/>
        </p:nvPicPr>
        <p:blipFill>
          <a:blip r:embed="rId3"/>
          <a:stretch>
            <a:fillRect/>
          </a:stretch>
        </p:blipFill>
        <p:spPr>
          <a:xfrm>
            <a:off x="2842529" y="4574693"/>
            <a:ext cx="8137396" cy="1830472"/>
          </a:xfrm>
          <a:prstGeom prst="rect">
            <a:avLst/>
          </a:prstGeom>
        </p:spPr>
      </p:pic>
    </p:spTree>
    <p:extLst>
      <p:ext uri="{BB962C8B-B14F-4D97-AF65-F5344CB8AC3E}">
        <p14:creationId xmlns:p14="http://schemas.microsoft.com/office/powerpoint/2010/main" val="2839275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05317" y="261906"/>
            <a:ext cx="8704967" cy="664605"/>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905316" y="926511"/>
            <a:ext cx="11054551" cy="2337473"/>
          </a:xfrm>
        </p:spPr>
        <p:txBody>
          <a:bodyPr>
            <a:normAutofit/>
          </a:bodyPr>
          <a:lstStyle/>
          <a:p>
            <a:r>
              <a:rPr lang="en-US" sz="2400" dirty="0"/>
              <a:t>Foreman family decided to start investing to their son Eric’s </a:t>
            </a:r>
            <a:r>
              <a:rPr lang="en-US" sz="2400" dirty="0" smtClean="0"/>
              <a:t>college</a:t>
            </a:r>
            <a:r>
              <a:rPr lang="tr-TR" sz="2400" dirty="0" smtClean="0"/>
              <a:t> </a:t>
            </a:r>
            <a:r>
              <a:rPr lang="en-US" sz="2400" dirty="0" smtClean="0"/>
              <a:t>fund</a:t>
            </a:r>
            <a:r>
              <a:rPr lang="en-US" sz="2400" dirty="0"/>
              <a:t>. They started it by depositing $1,000 on January 1, 2008 to </a:t>
            </a:r>
            <a:r>
              <a:rPr lang="en-US" sz="2400" dirty="0" smtClean="0"/>
              <a:t>the</a:t>
            </a:r>
            <a:r>
              <a:rPr lang="tr-TR" sz="2400" dirty="0" smtClean="0"/>
              <a:t> </a:t>
            </a:r>
            <a:r>
              <a:rPr lang="en-US" sz="2400" dirty="0" smtClean="0"/>
              <a:t>Washington </a:t>
            </a:r>
            <a:r>
              <a:rPr lang="en-US" sz="2400" dirty="0"/>
              <a:t>Mutual Bank. They plan to deposit $2,000 on June </a:t>
            </a:r>
            <a:r>
              <a:rPr lang="en-US" sz="2400" dirty="0" smtClean="0"/>
              <a:t>31,</a:t>
            </a:r>
            <a:r>
              <a:rPr lang="tr-TR" sz="2400" dirty="0" smtClean="0"/>
              <a:t> </a:t>
            </a:r>
            <a:r>
              <a:rPr lang="en-US" sz="2400" dirty="0" smtClean="0"/>
              <a:t>2010 </a:t>
            </a:r>
            <a:r>
              <a:rPr lang="en-US" sz="2400" dirty="0"/>
              <a:t>and $3,000 on June 31, 2013. If they manage to invest </a:t>
            </a:r>
            <a:r>
              <a:rPr lang="en-US" sz="2400" dirty="0" smtClean="0"/>
              <a:t>according</a:t>
            </a:r>
            <a:r>
              <a:rPr lang="tr-TR" sz="2400" dirty="0" smtClean="0"/>
              <a:t> </a:t>
            </a:r>
            <a:r>
              <a:rPr lang="en-US" sz="2400" dirty="0" smtClean="0"/>
              <a:t>to </a:t>
            </a:r>
            <a:r>
              <a:rPr lang="en-US" sz="2400" dirty="0"/>
              <a:t>that plan, how much money will they have on </a:t>
            </a:r>
            <a:r>
              <a:rPr lang="en-US" sz="2400" dirty="0" err="1"/>
              <a:t>on</a:t>
            </a:r>
            <a:r>
              <a:rPr lang="en-US" sz="2400" dirty="0"/>
              <a:t> January 1, 2018 </a:t>
            </a:r>
            <a:r>
              <a:rPr lang="en-US" sz="2400" dirty="0" smtClean="0"/>
              <a:t>if</a:t>
            </a:r>
            <a:r>
              <a:rPr lang="tr-TR" sz="2400" dirty="0" smtClean="0"/>
              <a:t> </a:t>
            </a:r>
            <a:r>
              <a:rPr lang="en-US" sz="2400" dirty="0" smtClean="0"/>
              <a:t>the </a:t>
            </a:r>
            <a:r>
              <a:rPr lang="en-US" sz="2400" dirty="0"/>
              <a:t>interest is taken as 8% per each year.</a:t>
            </a:r>
            <a:endParaRPr lang="en-US" sz="2400" dirty="0"/>
          </a:p>
        </p:txBody>
      </p:sp>
      <p:pic>
        <p:nvPicPr>
          <p:cNvPr id="4" name="Resim 3"/>
          <p:cNvPicPr>
            <a:picLocks noChangeAspect="1"/>
          </p:cNvPicPr>
          <p:nvPr/>
        </p:nvPicPr>
        <p:blipFill>
          <a:blip r:embed="rId2"/>
          <a:stretch>
            <a:fillRect/>
          </a:stretch>
        </p:blipFill>
        <p:spPr>
          <a:xfrm>
            <a:off x="3348762" y="3384362"/>
            <a:ext cx="6487597" cy="2741362"/>
          </a:xfrm>
          <a:prstGeom prst="rect">
            <a:avLst/>
          </a:prstGeom>
        </p:spPr>
      </p:pic>
    </p:spTree>
    <p:extLst>
      <p:ext uri="{BB962C8B-B14F-4D97-AF65-F5344CB8AC3E}">
        <p14:creationId xmlns:p14="http://schemas.microsoft.com/office/powerpoint/2010/main" val="851163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3153057" y="187563"/>
            <a:ext cx="6292624" cy="3439409"/>
          </a:xfrm>
          <a:prstGeom prst="rect">
            <a:avLst/>
          </a:prstGeom>
        </p:spPr>
      </p:pic>
      <p:pic>
        <p:nvPicPr>
          <p:cNvPr id="5" name="Resim 4"/>
          <p:cNvPicPr>
            <a:picLocks noChangeAspect="1"/>
          </p:cNvPicPr>
          <p:nvPr/>
        </p:nvPicPr>
        <p:blipFill>
          <a:blip r:embed="rId3"/>
          <a:stretch>
            <a:fillRect/>
          </a:stretch>
        </p:blipFill>
        <p:spPr>
          <a:xfrm>
            <a:off x="1335407" y="3932640"/>
            <a:ext cx="5896344" cy="798648"/>
          </a:xfrm>
          <a:prstGeom prst="rect">
            <a:avLst/>
          </a:prstGeom>
        </p:spPr>
      </p:pic>
      <p:pic>
        <p:nvPicPr>
          <p:cNvPr id="6" name="Resim 5"/>
          <p:cNvPicPr>
            <a:picLocks noChangeAspect="1"/>
          </p:cNvPicPr>
          <p:nvPr/>
        </p:nvPicPr>
        <p:blipFill>
          <a:blip r:embed="rId4"/>
          <a:stretch>
            <a:fillRect/>
          </a:stretch>
        </p:blipFill>
        <p:spPr>
          <a:xfrm>
            <a:off x="1335407" y="5404779"/>
            <a:ext cx="7450346" cy="1095669"/>
          </a:xfrm>
          <a:prstGeom prst="rect">
            <a:avLst/>
          </a:prstGeom>
        </p:spPr>
      </p:pic>
      <p:pic>
        <p:nvPicPr>
          <p:cNvPr id="7" name="Resim 6"/>
          <p:cNvPicPr>
            <a:picLocks noChangeAspect="1"/>
          </p:cNvPicPr>
          <p:nvPr/>
        </p:nvPicPr>
        <p:blipFill>
          <a:blip r:embed="rId5"/>
          <a:stretch>
            <a:fillRect/>
          </a:stretch>
        </p:blipFill>
        <p:spPr>
          <a:xfrm>
            <a:off x="5885868" y="4898681"/>
            <a:ext cx="413501" cy="338704"/>
          </a:xfrm>
          <a:prstGeom prst="rect">
            <a:avLst/>
          </a:prstGeom>
        </p:spPr>
      </p:pic>
    </p:spTree>
    <p:extLst>
      <p:ext uri="{BB962C8B-B14F-4D97-AF65-F5344CB8AC3E}">
        <p14:creationId xmlns:p14="http://schemas.microsoft.com/office/powerpoint/2010/main" val="2737477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84039" y="195294"/>
            <a:ext cx="8450630" cy="604049"/>
          </a:xfrm>
        </p:spPr>
        <p:txBody>
          <a:bodyPr>
            <a:normAutofit fontScale="90000"/>
          </a:bodyPr>
          <a:lstStyle/>
          <a:p>
            <a:r>
              <a:rPr lang="tr-TR" dirty="0" smtClean="0"/>
              <a:t>EXAMPLE</a:t>
            </a:r>
            <a:endParaRPr lang="en-US" dirty="0"/>
          </a:p>
        </p:txBody>
      </p:sp>
      <p:sp>
        <p:nvSpPr>
          <p:cNvPr id="3" name="İçerik Yer Tutucusu 2"/>
          <p:cNvSpPr>
            <a:spLocks noGrp="1"/>
          </p:cNvSpPr>
          <p:nvPr>
            <p:ph idx="1"/>
          </p:nvPr>
        </p:nvSpPr>
        <p:spPr>
          <a:xfrm>
            <a:off x="881092" y="1014317"/>
            <a:ext cx="11139331" cy="5525762"/>
          </a:xfrm>
        </p:spPr>
        <p:txBody>
          <a:bodyPr>
            <a:normAutofit fontScale="92500"/>
          </a:bodyPr>
          <a:lstStyle/>
          <a:p>
            <a:r>
              <a:rPr lang="en-US" sz="2400" dirty="0"/>
              <a:t>Howard owns a small electronics repair shop. He wants to borrow $10,000 now and repay </a:t>
            </a:r>
            <a:r>
              <a:rPr lang="en-US" sz="2400" dirty="0" smtClean="0"/>
              <a:t>it</a:t>
            </a:r>
            <a:r>
              <a:rPr lang="tr-TR" sz="2400" dirty="0" smtClean="0"/>
              <a:t> </a:t>
            </a:r>
            <a:r>
              <a:rPr lang="en-US" sz="2400" dirty="0" smtClean="0"/>
              <a:t>over </a:t>
            </a:r>
            <a:r>
              <a:rPr lang="en-US" sz="2400" dirty="0"/>
              <a:t>the next 1 or 2 years. He believes that new diagnostic test equipment will allow him </a:t>
            </a:r>
            <a:r>
              <a:rPr lang="en-US" sz="2400" dirty="0" smtClean="0"/>
              <a:t>to</a:t>
            </a:r>
            <a:r>
              <a:rPr lang="tr-TR" sz="2400" dirty="0" smtClean="0"/>
              <a:t> </a:t>
            </a:r>
            <a:r>
              <a:rPr lang="en-US" sz="2400" dirty="0" smtClean="0"/>
              <a:t>work </a:t>
            </a:r>
            <a:r>
              <a:rPr lang="en-US" sz="2400" dirty="0"/>
              <a:t>on a wider variety of electronic items and increase his annual revenue. Howard </a:t>
            </a:r>
            <a:r>
              <a:rPr lang="en-US" sz="2400" dirty="0" smtClean="0"/>
              <a:t>received</a:t>
            </a:r>
            <a:r>
              <a:rPr lang="tr-TR" sz="2400" dirty="0" smtClean="0"/>
              <a:t> </a:t>
            </a:r>
            <a:r>
              <a:rPr lang="en-US" sz="2400" dirty="0" smtClean="0"/>
              <a:t>2-year </a:t>
            </a:r>
            <a:r>
              <a:rPr lang="en-US" sz="2400" dirty="0"/>
              <a:t>repayment options from banks A and B</a:t>
            </a:r>
            <a:r>
              <a:rPr lang="en-US" sz="2400" dirty="0" smtClean="0"/>
              <a:t>.</a:t>
            </a:r>
            <a:endParaRPr lang="tr-TR" sz="2400" dirty="0" smtClean="0"/>
          </a:p>
          <a:p>
            <a:pPr marL="0" indent="0">
              <a:buNone/>
            </a:pPr>
            <a:r>
              <a:rPr lang="tr-TR" sz="2400" b="1" dirty="0" smtClean="0"/>
              <a:t>                          </a:t>
            </a:r>
            <a:r>
              <a:rPr lang="en-US" sz="2400" b="1" dirty="0" smtClean="0"/>
              <a:t>Amount </a:t>
            </a:r>
            <a:r>
              <a:rPr lang="en-US" sz="2400" b="1" dirty="0"/>
              <a:t>to Pay, $ per year</a:t>
            </a:r>
            <a:endParaRPr lang="en-US" sz="2400" dirty="0"/>
          </a:p>
          <a:p>
            <a:pPr marL="0" indent="0">
              <a:buNone/>
            </a:pPr>
            <a:r>
              <a:rPr lang="tr-TR" sz="2400" b="1" dirty="0" smtClean="0"/>
              <a:t>                          </a:t>
            </a:r>
            <a:r>
              <a:rPr lang="en-US" sz="2400" b="1" dirty="0" smtClean="0"/>
              <a:t>Year            </a:t>
            </a:r>
            <a:r>
              <a:rPr lang="tr-TR" sz="2400" b="1" dirty="0" smtClean="0"/>
              <a:t>  </a:t>
            </a:r>
            <a:r>
              <a:rPr lang="en-US" sz="2400" b="1" dirty="0" smtClean="0"/>
              <a:t>  </a:t>
            </a:r>
            <a:r>
              <a:rPr lang="en-US" sz="2400" b="1" dirty="0"/>
              <a:t>Bank A           </a:t>
            </a:r>
            <a:r>
              <a:rPr lang="en-US" sz="2400" b="1" dirty="0" smtClean="0"/>
              <a:t>   </a:t>
            </a:r>
            <a:r>
              <a:rPr lang="en-US" sz="2400" b="1" dirty="0"/>
              <a:t>Bank B</a:t>
            </a:r>
            <a:endParaRPr lang="en-US" sz="2400" dirty="0"/>
          </a:p>
          <a:p>
            <a:pPr marL="0" indent="0">
              <a:buNone/>
            </a:pPr>
            <a:r>
              <a:rPr lang="tr-TR" sz="2400" dirty="0" smtClean="0"/>
              <a:t>                            </a:t>
            </a:r>
            <a:r>
              <a:rPr lang="en-US" sz="2400" dirty="0" smtClean="0"/>
              <a:t>1                </a:t>
            </a:r>
            <a:r>
              <a:rPr lang="en-US" sz="2400" dirty="0"/>
              <a:t>−5,378.05       </a:t>
            </a:r>
            <a:r>
              <a:rPr lang="en-US" sz="2400" dirty="0" smtClean="0"/>
              <a:t>  </a:t>
            </a:r>
            <a:r>
              <a:rPr lang="en-US" sz="2400" dirty="0"/>
              <a:t>−5,000.00</a:t>
            </a:r>
          </a:p>
          <a:p>
            <a:pPr marL="0" indent="0">
              <a:buNone/>
            </a:pPr>
            <a:r>
              <a:rPr lang="tr-TR" sz="2400" dirty="0" smtClean="0"/>
              <a:t>                            </a:t>
            </a:r>
            <a:r>
              <a:rPr lang="en-US" sz="2400" dirty="0" smtClean="0"/>
              <a:t>2           </a:t>
            </a:r>
            <a:r>
              <a:rPr lang="tr-TR" sz="2400" dirty="0" smtClean="0"/>
              <a:t>   </a:t>
            </a:r>
            <a:r>
              <a:rPr lang="en-US" sz="2400" dirty="0" smtClean="0"/>
              <a:t> </a:t>
            </a:r>
            <a:r>
              <a:rPr lang="tr-TR" sz="2400" dirty="0" smtClean="0"/>
              <a:t> </a:t>
            </a:r>
            <a:r>
              <a:rPr lang="en-US" sz="2400" dirty="0" smtClean="0"/>
              <a:t>−</a:t>
            </a:r>
            <a:r>
              <a:rPr lang="en-US" sz="2400" dirty="0"/>
              <a:t>5,378.05       </a:t>
            </a:r>
            <a:r>
              <a:rPr lang="en-US" sz="2400" dirty="0" smtClean="0"/>
              <a:t>  </a:t>
            </a:r>
            <a:r>
              <a:rPr lang="en-US" sz="2400" dirty="0"/>
              <a:t>−5,775.00</a:t>
            </a:r>
          </a:p>
          <a:p>
            <a:pPr marL="0" indent="0">
              <a:buNone/>
            </a:pPr>
            <a:r>
              <a:rPr lang="tr-TR" sz="2400" dirty="0" smtClean="0"/>
              <a:t>                       </a:t>
            </a:r>
            <a:r>
              <a:rPr lang="en-US" sz="2400" dirty="0" smtClean="0"/>
              <a:t>Total </a:t>
            </a:r>
            <a:r>
              <a:rPr lang="en-US" sz="2400" dirty="0"/>
              <a:t>paid   </a:t>
            </a:r>
            <a:r>
              <a:rPr lang="tr-TR" sz="2400" dirty="0" smtClean="0"/>
              <a:t>     </a:t>
            </a:r>
            <a:r>
              <a:rPr lang="en-US" sz="2400" dirty="0" smtClean="0"/>
              <a:t>−</a:t>
            </a:r>
            <a:r>
              <a:rPr lang="en-US" sz="2400" dirty="0"/>
              <a:t>10,756.10     </a:t>
            </a:r>
            <a:r>
              <a:rPr lang="en-US" sz="2400" dirty="0" smtClean="0"/>
              <a:t>  </a:t>
            </a:r>
            <a:r>
              <a:rPr lang="en-US" sz="2400" dirty="0"/>
              <a:t>−10,775.00</a:t>
            </a:r>
          </a:p>
          <a:p>
            <a:r>
              <a:rPr lang="en-US" sz="2400" dirty="0"/>
              <a:t>After reviewing these plans, Howard decided that he wants to repay the $10,000 after </a:t>
            </a:r>
            <a:r>
              <a:rPr lang="en-US" sz="2400" dirty="0" smtClean="0"/>
              <a:t>only</a:t>
            </a:r>
            <a:r>
              <a:rPr lang="tr-TR" sz="2400" dirty="0" smtClean="0"/>
              <a:t> </a:t>
            </a:r>
            <a:r>
              <a:rPr lang="en-US" sz="2400" dirty="0" smtClean="0"/>
              <a:t>1 </a:t>
            </a:r>
            <a:r>
              <a:rPr lang="en-US" sz="2400" dirty="0"/>
              <a:t>year based on the expected increased revenue. During a family conversation, </a:t>
            </a:r>
            <a:r>
              <a:rPr lang="en-US" sz="2400" dirty="0" smtClean="0"/>
              <a:t>Howard’s</a:t>
            </a:r>
            <a:r>
              <a:rPr lang="tr-TR" sz="2400" dirty="0" smtClean="0"/>
              <a:t> </a:t>
            </a:r>
            <a:r>
              <a:rPr lang="en-US" sz="2400" dirty="0" smtClean="0"/>
              <a:t>brother-in-law </a:t>
            </a:r>
            <a:r>
              <a:rPr lang="en-US" sz="2400" dirty="0"/>
              <a:t>offered to lend him the $10,000 now and take $10,600 after exactly 1 </a:t>
            </a:r>
            <a:r>
              <a:rPr lang="en-US" sz="2400" dirty="0" smtClean="0"/>
              <a:t>year.</a:t>
            </a:r>
            <a:r>
              <a:rPr lang="tr-TR" sz="2400" dirty="0" smtClean="0"/>
              <a:t> </a:t>
            </a:r>
            <a:r>
              <a:rPr lang="en-US" sz="2400" dirty="0" smtClean="0"/>
              <a:t>Now </a:t>
            </a:r>
            <a:r>
              <a:rPr lang="en-US" sz="2400" dirty="0"/>
              <a:t>Howard has three options and wonders which one to take. Which one is </a:t>
            </a:r>
            <a:r>
              <a:rPr lang="en-US" sz="2400" dirty="0" smtClean="0"/>
              <a:t>economically</a:t>
            </a:r>
            <a:r>
              <a:rPr lang="tr-TR" sz="2400" dirty="0" smtClean="0"/>
              <a:t> </a:t>
            </a:r>
            <a:r>
              <a:rPr lang="en-US" sz="2400" dirty="0" smtClean="0"/>
              <a:t>the </a:t>
            </a:r>
            <a:r>
              <a:rPr lang="en-US" sz="2400" dirty="0"/>
              <a:t>best?</a:t>
            </a:r>
          </a:p>
          <a:p>
            <a:endParaRPr lang="en-US" sz="2400" dirty="0"/>
          </a:p>
        </p:txBody>
      </p:sp>
    </p:spTree>
    <p:extLst>
      <p:ext uri="{BB962C8B-B14F-4D97-AF65-F5344CB8AC3E}">
        <p14:creationId xmlns:p14="http://schemas.microsoft.com/office/powerpoint/2010/main" val="3619169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35593" y="233141"/>
            <a:ext cx="10957661" cy="6107102"/>
          </a:xfrm>
        </p:spPr>
        <p:txBody>
          <a:bodyPr>
            <a:normAutofit/>
          </a:bodyPr>
          <a:lstStyle/>
          <a:p>
            <a:r>
              <a:rPr lang="en-US" sz="2400" dirty="0"/>
              <a:t>The repayment plans for both banks are economically equivalent at the interest rate of 5% </a:t>
            </a:r>
            <a:r>
              <a:rPr lang="en-US" sz="2400" dirty="0" smtClean="0"/>
              <a:t>per</a:t>
            </a:r>
            <a:r>
              <a:rPr lang="tr-TR" sz="2400" dirty="0" smtClean="0"/>
              <a:t> </a:t>
            </a:r>
            <a:r>
              <a:rPr lang="en-US" sz="2400" dirty="0" smtClean="0"/>
              <a:t>year</a:t>
            </a:r>
            <a:r>
              <a:rPr lang="en-US" sz="2400" dirty="0"/>
              <a:t>. </a:t>
            </a:r>
            <a:endParaRPr lang="tr-TR" sz="2400" dirty="0" smtClean="0"/>
          </a:p>
          <a:p>
            <a:r>
              <a:rPr lang="en-US" sz="2400" dirty="0" smtClean="0"/>
              <a:t>Therefore,</a:t>
            </a:r>
            <a:r>
              <a:rPr lang="tr-TR" sz="2400" dirty="0" smtClean="0"/>
              <a:t> </a:t>
            </a:r>
            <a:r>
              <a:rPr lang="en-US" sz="2400" dirty="0" smtClean="0"/>
              <a:t>Howard </a:t>
            </a:r>
            <a:r>
              <a:rPr lang="en-US" sz="2400" dirty="0"/>
              <a:t>can choose either plan even though the bank B plan requires a slightly larger sum </a:t>
            </a:r>
            <a:r>
              <a:rPr lang="en-US" sz="2400" dirty="0" smtClean="0"/>
              <a:t>of</a:t>
            </a:r>
            <a:r>
              <a:rPr lang="tr-TR" sz="2400" dirty="0" smtClean="0"/>
              <a:t> </a:t>
            </a:r>
            <a:r>
              <a:rPr lang="en-US" sz="2400" dirty="0" smtClean="0"/>
              <a:t>money </a:t>
            </a:r>
            <a:r>
              <a:rPr lang="en-US" sz="2400" dirty="0"/>
              <a:t>over the 2 years.</a:t>
            </a:r>
          </a:p>
          <a:p>
            <a:r>
              <a:rPr lang="en-US" sz="2400" dirty="0"/>
              <a:t>The brother-in-law repayment plan requires a total of $600 in interest 1 year later plus </a:t>
            </a:r>
            <a:r>
              <a:rPr lang="en-US" sz="2400" dirty="0" smtClean="0"/>
              <a:t>the</a:t>
            </a:r>
            <a:r>
              <a:rPr lang="tr-TR" sz="2400" dirty="0" smtClean="0"/>
              <a:t> </a:t>
            </a:r>
            <a:r>
              <a:rPr lang="en-US" sz="2400" dirty="0" smtClean="0"/>
              <a:t>principal </a:t>
            </a:r>
            <a:r>
              <a:rPr lang="en-US" sz="2400" dirty="0"/>
              <a:t>of $10,000, which makes the interest rate 6% per year. </a:t>
            </a:r>
            <a:endParaRPr lang="tr-TR" sz="2400" dirty="0" smtClean="0"/>
          </a:p>
          <a:p>
            <a:r>
              <a:rPr lang="en-US" sz="2400" dirty="0" smtClean="0"/>
              <a:t>Given </a:t>
            </a:r>
            <a:r>
              <a:rPr lang="en-US" sz="2400" dirty="0"/>
              <a:t>the two 5% per year options from the banks, this 6% plan should not be chosen as it is not economically better </a:t>
            </a:r>
            <a:r>
              <a:rPr lang="en-US" sz="2400" dirty="0" smtClean="0"/>
              <a:t>than</a:t>
            </a:r>
            <a:r>
              <a:rPr lang="tr-TR" sz="2400" dirty="0" smtClean="0"/>
              <a:t> </a:t>
            </a:r>
            <a:r>
              <a:rPr lang="en-US" sz="2400" dirty="0" smtClean="0"/>
              <a:t>the </a:t>
            </a:r>
            <a:r>
              <a:rPr lang="en-US" sz="2400" dirty="0"/>
              <a:t>other two. </a:t>
            </a:r>
            <a:endParaRPr lang="tr-TR" sz="2400" dirty="0" smtClean="0"/>
          </a:p>
          <a:p>
            <a:r>
              <a:rPr lang="en-US" sz="2400" dirty="0" smtClean="0"/>
              <a:t>Even </a:t>
            </a:r>
            <a:r>
              <a:rPr lang="en-US" sz="2400" dirty="0"/>
              <a:t>though the sum of money repaid is smaller, the timing of the cash </a:t>
            </a:r>
            <a:r>
              <a:rPr lang="en-US" sz="2400" dirty="0" smtClean="0"/>
              <a:t>flows</a:t>
            </a:r>
            <a:r>
              <a:rPr lang="tr-TR" sz="2400" dirty="0" smtClean="0"/>
              <a:t> </a:t>
            </a:r>
            <a:r>
              <a:rPr lang="en-US" sz="2400" dirty="0" smtClean="0"/>
              <a:t>and </a:t>
            </a:r>
            <a:r>
              <a:rPr lang="en-US" sz="2400" dirty="0"/>
              <a:t>the interest rate make it less desirable. </a:t>
            </a:r>
            <a:endParaRPr lang="tr-TR" sz="2400" dirty="0" smtClean="0"/>
          </a:p>
          <a:p>
            <a:r>
              <a:rPr lang="en-US" sz="2400" dirty="0" smtClean="0"/>
              <a:t>The </a:t>
            </a:r>
            <a:r>
              <a:rPr lang="en-US" sz="2400" dirty="0"/>
              <a:t>point here is that cash flows themselves, </a:t>
            </a:r>
            <a:r>
              <a:rPr lang="en-US" sz="2400" dirty="0" smtClean="0"/>
              <a:t>or</a:t>
            </a:r>
            <a:r>
              <a:rPr lang="tr-TR" sz="2400" dirty="0" smtClean="0"/>
              <a:t> </a:t>
            </a:r>
            <a:r>
              <a:rPr lang="en-US" sz="2400" dirty="0" smtClean="0"/>
              <a:t>their </a:t>
            </a:r>
            <a:r>
              <a:rPr lang="en-US" sz="2400" dirty="0"/>
              <a:t>sums, cannot be relied upon as the primary basis for an economic decision. </a:t>
            </a:r>
            <a:endParaRPr lang="tr-TR" sz="2400" dirty="0" smtClean="0"/>
          </a:p>
          <a:p>
            <a:r>
              <a:rPr lang="en-US" sz="2400" dirty="0" smtClean="0"/>
              <a:t>The interest</a:t>
            </a:r>
            <a:r>
              <a:rPr lang="tr-TR" sz="2400" dirty="0" smtClean="0"/>
              <a:t> </a:t>
            </a:r>
            <a:r>
              <a:rPr lang="en-US" sz="2400" dirty="0" smtClean="0"/>
              <a:t>rate</a:t>
            </a:r>
            <a:r>
              <a:rPr lang="en-US" sz="2400" dirty="0"/>
              <a:t>, timing, and economic equivalence must be considered.</a:t>
            </a:r>
            <a:endParaRPr lang="en-US" sz="2400" dirty="0"/>
          </a:p>
        </p:txBody>
      </p:sp>
    </p:spTree>
    <p:extLst>
      <p:ext uri="{BB962C8B-B14F-4D97-AF65-F5344CB8AC3E}">
        <p14:creationId xmlns:p14="http://schemas.microsoft.com/office/powerpoint/2010/main" val="3910599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38540" y="408755"/>
            <a:ext cx="10987939" cy="5204814"/>
          </a:xfrm>
        </p:spPr>
        <p:txBody>
          <a:bodyPr>
            <a:noAutofit/>
          </a:bodyPr>
          <a:lstStyle/>
          <a:p>
            <a:r>
              <a:rPr lang="en-US" sz="2400" b="1" dirty="0"/>
              <a:t>Key Idea: The Time Value of Money</a:t>
            </a:r>
          </a:p>
          <a:p>
            <a:r>
              <a:rPr lang="en-US" sz="2400" dirty="0"/>
              <a:t>A dollar today is worth more than a dollar in the future. To compare loans fairly, we must consider both the timing and the interest rate of payments. This is done by converting all payments to their 'present value' (PV).</a:t>
            </a:r>
          </a:p>
          <a:p>
            <a:pPr marL="0" indent="0">
              <a:buNone/>
            </a:pPr>
            <a:r>
              <a:rPr lang="en-US" sz="2400" b="1" dirty="0"/>
              <a:t>Step 1: Understanding the Bank Offers</a:t>
            </a:r>
          </a:p>
          <a:p>
            <a:r>
              <a:rPr lang="en-US" sz="2400" dirty="0"/>
              <a:t>The two bank plans are economically equivalent at a 5% interest rate. That means when we discount their payments at 5%, both have a present value of $10,000 — exactly the amount Howard is borrowing.</a:t>
            </a:r>
          </a:p>
          <a:p>
            <a:pPr marL="0" indent="0">
              <a:buNone/>
            </a:pPr>
            <a:r>
              <a:rPr lang="en-US" sz="2400" b="1" dirty="0"/>
              <a:t>Step 2: The Brother-in-Law’s Offer</a:t>
            </a:r>
          </a:p>
          <a:p>
            <a:r>
              <a:rPr lang="en-US" sz="2400" dirty="0"/>
              <a:t>The brother-in-law wants $10,600 after 1 year for a $10,000 loan. This means an interest rate of:</a:t>
            </a:r>
          </a:p>
          <a:p>
            <a:pPr lvl="0"/>
            <a:r>
              <a:rPr lang="en-US" sz="2400" dirty="0"/>
              <a:t>Interest rate = (10,600 − 10,000) / 10,000 = 6% per </a:t>
            </a:r>
            <a:r>
              <a:rPr lang="en-US" sz="2400" dirty="0" smtClean="0"/>
              <a:t>year</a:t>
            </a:r>
            <a:endParaRPr lang="en-US" sz="2400" dirty="0"/>
          </a:p>
        </p:txBody>
      </p:sp>
    </p:spTree>
    <p:extLst>
      <p:ext uri="{BB962C8B-B14F-4D97-AF65-F5344CB8AC3E}">
        <p14:creationId xmlns:p14="http://schemas.microsoft.com/office/powerpoint/2010/main" val="1420541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704" y="342142"/>
            <a:ext cx="11042439" cy="6288771"/>
          </a:xfrm>
        </p:spPr>
        <p:txBody>
          <a:bodyPr>
            <a:noAutofit/>
          </a:bodyPr>
          <a:lstStyle/>
          <a:p>
            <a:pPr marL="0" indent="0">
              <a:buNone/>
            </a:pPr>
            <a:r>
              <a:rPr lang="en-US" sz="2400" b="1" dirty="0" smtClean="0"/>
              <a:t>Step </a:t>
            </a:r>
            <a:r>
              <a:rPr lang="en-US" sz="2400" b="1" dirty="0"/>
              <a:t>3: Comparing the Plans</a:t>
            </a:r>
          </a:p>
          <a:p>
            <a:r>
              <a:rPr lang="en-US" sz="2400" dirty="0"/>
              <a:t>At a 5% discount rate, we can compare the present values:</a:t>
            </a:r>
          </a:p>
          <a:p>
            <a:pPr lvl="0"/>
            <a:r>
              <a:rPr lang="en-US" sz="2400" dirty="0"/>
              <a:t>PV (Bank A) = 5,378.05 / 1.05 + 5,378.05 / (1.05)² = 10,000</a:t>
            </a:r>
          </a:p>
          <a:p>
            <a:pPr lvl="0"/>
            <a:r>
              <a:rPr lang="en-US" sz="2400" dirty="0"/>
              <a:t>PV (Brother-in-law) = 10,600 / 1.05 = 10,095</a:t>
            </a:r>
          </a:p>
          <a:p>
            <a:r>
              <a:rPr lang="en-US" sz="2400" dirty="0"/>
              <a:t>The brother-in-law’s offer has a higher present value, meaning it costs more economically, even though the total repayment amount looks smaller</a:t>
            </a:r>
            <a:r>
              <a:rPr lang="en-US" sz="2400" dirty="0" smtClean="0"/>
              <a:t>.</a:t>
            </a:r>
            <a:endParaRPr lang="tr-TR" sz="2400" dirty="0" smtClean="0"/>
          </a:p>
          <a:p>
            <a:endParaRPr lang="tr-TR" sz="2400" dirty="0"/>
          </a:p>
          <a:p>
            <a:pPr marL="0" indent="0">
              <a:buNone/>
            </a:pPr>
            <a:r>
              <a:rPr lang="en-US" sz="2400" b="1" dirty="0"/>
              <a:t>Conclusion</a:t>
            </a:r>
          </a:p>
          <a:p>
            <a:r>
              <a:rPr lang="en-US" sz="2400" dirty="0"/>
              <a:t>Even though the brother-in-law’s total payback ($10,600) looks smaller than the banks’ totals, the earlier repayment and higher interest rate make it more expensive in economic terms. The key lesson is: never judge a loan by the total amount repaid — always consider when the payments occur and what the interest rate is</a:t>
            </a:r>
            <a:r>
              <a:rPr lang="en-US" sz="2400" dirty="0" smtClean="0"/>
              <a:t>.</a:t>
            </a:r>
            <a:endParaRPr lang="en-US" sz="2400" dirty="0"/>
          </a:p>
          <a:p>
            <a:endParaRPr lang="en-US" sz="2400" dirty="0"/>
          </a:p>
        </p:txBody>
      </p:sp>
    </p:spTree>
    <p:extLst>
      <p:ext uri="{BB962C8B-B14F-4D97-AF65-F5344CB8AC3E}">
        <p14:creationId xmlns:p14="http://schemas.microsoft.com/office/powerpoint/2010/main" val="3298602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90095" y="370907"/>
            <a:ext cx="10067484" cy="694884"/>
          </a:xfrm>
        </p:spPr>
        <p:txBody>
          <a:bodyPr>
            <a:normAutofit/>
          </a:bodyPr>
          <a:lstStyle/>
          <a:p>
            <a:r>
              <a:rPr lang="en-US" sz="4000" b="1" dirty="0"/>
              <a:t>Uniform</a:t>
            </a:r>
            <a:r>
              <a:rPr lang="en-US" sz="4000" dirty="0"/>
              <a:t>-Series Factors : (P/A and A/P)</a:t>
            </a:r>
          </a:p>
        </p:txBody>
      </p:sp>
      <p:sp>
        <p:nvSpPr>
          <p:cNvPr id="3" name="İçerik Yer Tutucusu 2"/>
          <p:cNvSpPr>
            <a:spLocks noGrp="1"/>
          </p:cNvSpPr>
          <p:nvPr>
            <p:ph idx="1"/>
          </p:nvPr>
        </p:nvSpPr>
        <p:spPr>
          <a:xfrm>
            <a:off x="1080929" y="1232320"/>
            <a:ext cx="10818381" cy="1280766"/>
          </a:xfrm>
        </p:spPr>
        <p:txBody>
          <a:bodyPr>
            <a:normAutofit/>
          </a:bodyPr>
          <a:lstStyle/>
          <a:p>
            <a:r>
              <a:rPr lang="en-US" sz="2400" dirty="0"/>
              <a:t>The equivalent present worth </a:t>
            </a:r>
            <a:r>
              <a:rPr lang="en-US" sz="2400" i="1" dirty="0"/>
              <a:t>P </a:t>
            </a:r>
            <a:r>
              <a:rPr lang="en-US" sz="2400" dirty="0"/>
              <a:t>of a uniform series </a:t>
            </a:r>
            <a:r>
              <a:rPr lang="en-US" sz="2400" i="1" dirty="0"/>
              <a:t>A </a:t>
            </a:r>
            <a:r>
              <a:rPr lang="en-US" sz="2400" dirty="0"/>
              <a:t>of </a:t>
            </a:r>
            <a:r>
              <a:rPr lang="en-US" sz="2400" dirty="0" smtClean="0"/>
              <a:t>end-of-period</a:t>
            </a:r>
            <a:r>
              <a:rPr lang="tr-TR" sz="2400" dirty="0" smtClean="0"/>
              <a:t> </a:t>
            </a:r>
            <a:r>
              <a:rPr lang="en-US" sz="2400" dirty="0" smtClean="0"/>
              <a:t>cash </a:t>
            </a:r>
            <a:r>
              <a:rPr lang="en-US" sz="2400" dirty="0"/>
              <a:t>flows can be determined by considering each </a:t>
            </a:r>
            <a:r>
              <a:rPr lang="en-US" sz="2400" i="1" dirty="0"/>
              <a:t>A </a:t>
            </a:r>
            <a:r>
              <a:rPr lang="en-US" sz="2400" dirty="0"/>
              <a:t>value as a </a:t>
            </a:r>
            <a:r>
              <a:rPr lang="en-US" sz="2400" dirty="0" smtClean="0"/>
              <a:t>future</a:t>
            </a:r>
            <a:r>
              <a:rPr lang="tr-TR" sz="2400" dirty="0" smtClean="0"/>
              <a:t> </a:t>
            </a:r>
            <a:r>
              <a:rPr lang="en-US" sz="2400" dirty="0" smtClean="0"/>
              <a:t>worth </a:t>
            </a:r>
            <a:r>
              <a:rPr lang="en-US" sz="2400" i="1" dirty="0"/>
              <a:t>F </a:t>
            </a:r>
            <a:r>
              <a:rPr lang="en-US" sz="2400" dirty="0"/>
              <a:t>and calculating its present worth with the </a:t>
            </a:r>
            <a:r>
              <a:rPr lang="en-US" sz="2400" i="1" dirty="0"/>
              <a:t>P</a:t>
            </a:r>
            <a:r>
              <a:rPr lang="en-US" sz="2400" dirty="0"/>
              <a:t>/</a:t>
            </a:r>
            <a:r>
              <a:rPr lang="en-US" sz="2400" i="1" dirty="0"/>
              <a:t>F </a:t>
            </a:r>
            <a:r>
              <a:rPr lang="en-US" sz="2400" dirty="0"/>
              <a:t>factor.</a:t>
            </a:r>
            <a:endParaRPr lang="en-US" sz="2400" dirty="0"/>
          </a:p>
        </p:txBody>
      </p:sp>
      <p:pic>
        <p:nvPicPr>
          <p:cNvPr id="4" name="Resim 3"/>
          <p:cNvPicPr>
            <a:picLocks noChangeAspect="1"/>
          </p:cNvPicPr>
          <p:nvPr/>
        </p:nvPicPr>
        <p:blipFill>
          <a:blip r:embed="rId2"/>
          <a:stretch>
            <a:fillRect/>
          </a:stretch>
        </p:blipFill>
        <p:spPr>
          <a:xfrm>
            <a:off x="3379041" y="2778775"/>
            <a:ext cx="5721261" cy="3072094"/>
          </a:xfrm>
          <a:prstGeom prst="rect">
            <a:avLst/>
          </a:prstGeom>
        </p:spPr>
      </p:pic>
    </p:spTree>
    <p:extLst>
      <p:ext uri="{BB962C8B-B14F-4D97-AF65-F5344CB8AC3E}">
        <p14:creationId xmlns:p14="http://schemas.microsoft.com/office/powerpoint/2010/main" val="1554296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274710" y="5183618"/>
            <a:ext cx="9601200" cy="1434679"/>
          </a:xfrm>
        </p:spPr>
        <p:txBody>
          <a:bodyPr/>
          <a:lstStyle/>
          <a:p>
            <a:endParaRPr lang="en-US" dirty="0"/>
          </a:p>
        </p:txBody>
      </p:sp>
      <p:pic>
        <p:nvPicPr>
          <p:cNvPr id="4" name="Resim 3"/>
          <p:cNvPicPr>
            <a:picLocks noChangeAspect="1"/>
          </p:cNvPicPr>
          <p:nvPr/>
        </p:nvPicPr>
        <p:blipFill>
          <a:blip r:embed="rId2"/>
          <a:stretch>
            <a:fillRect/>
          </a:stretch>
        </p:blipFill>
        <p:spPr>
          <a:xfrm>
            <a:off x="1017346" y="429792"/>
            <a:ext cx="10817372" cy="1969436"/>
          </a:xfrm>
          <a:prstGeom prst="rect">
            <a:avLst/>
          </a:prstGeom>
        </p:spPr>
      </p:pic>
    </p:spTree>
    <p:extLst>
      <p:ext uri="{BB962C8B-B14F-4D97-AF65-F5344CB8AC3E}">
        <p14:creationId xmlns:p14="http://schemas.microsoft.com/office/powerpoint/2010/main" val="3234016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053680" y="591936"/>
            <a:ext cx="10587258" cy="4780046"/>
          </a:xfrm>
          <a:prstGeom prst="rect">
            <a:avLst/>
          </a:prstGeom>
        </p:spPr>
      </p:pic>
    </p:spTree>
    <p:extLst>
      <p:ext uri="{BB962C8B-B14F-4D97-AF65-F5344CB8AC3E}">
        <p14:creationId xmlns:p14="http://schemas.microsoft.com/office/powerpoint/2010/main" val="3256714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90095" y="2443447"/>
            <a:ext cx="10703325" cy="1928718"/>
          </a:xfrm>
        </p:spPr>
        <p:txBody>
          <a:bodyPr>
            <a:normAutofit/>
          </a:bodyPr>
          <a:lstStyle/>
          <a:p>
            <a:r>
              <a:rPr lang="en-US" sz="2400" dirty="0"/>
              <a:t>is the uniform series present worth factor</a:t>
            </a:r>
            <a:r>
              <a:rPr lang="en-US" sz="2400" dirty="0" smtClean="0"/>
              <a:t>,</a:t>
            </a:r>
            <a:r>
              <a:rPr lang="tr-TR" sz="2400" dirty="0" smtClean="0"/>
              <a:t> </a:t>
            </a:r>
            <a:r>
              <a:rPr lang="en-US" sz="2400" i="1" dirty="0" smtClean="0"/>
              <a:t>P</a:t>
            </a:r>
            <a:r>
              <a:rPr lang="en-US" sz="2400" dirty="0" smtClean="0"/>
              <a:t>/</a:t>
            </a:r>
            <a:r>
              <a:rPr lang="en-US" sz="2400" i="1" dirty="0" smtClean="0"/>
              <a:t>A </a:t>
            </a:r>
            <a:r>
              <a:rPr lang="en-US" sz="2400" dirty="0"/>
              <a:t>factor used </a:t>
            </a:r>
            <a:r>
              <a:rPr lang="en-US" sz="2400" dirty="0" smtClean="0"/>
              <a:t>to</a:t>
            </a:r>
            <a:r>
              <a:rPr lang="tr-TR" sz="2400" dirty="0" smtClean="0"/>
              <a:t> </a:t>
            </a:r>
            <a:r>
              <a:rPr lang="en-US" sz="2400" dirty="0" smtClean="0"/>
              <a:t>calculate </a:t>
            </a:r>
            <a:r>
              <a:rPr lang="en-US" sz="2400" dirty="0"/>
              <a:t>the equivalent present worth </a:t>
            </a:r>
            <a:r>
              <a:rPr lang="en-US" sz="2400" i="1" dirty="0"/>
              <a:t>P </a:t>
            </a:r>
            <a:r>
              <a:rPr lang="en-US" sz="2400" dirty="0"/>
              <a:t>in year 0 for a </a:t>
            </a:r>
            <a:r>
              <a:rPr lang="en-US" sz="2400" dirty="0" smtClean="0"/>
              <a:t>uniform</a:t>
            </a:r>
            <a:r>
              <a:rPr lang="tr-TR" sz="2400" dirty="0" smtClean="0"/>
              <a:t> </a:t>
            </a:r>
            <a:r>
              <a:rPr lang="en-US" sz="2400" dirty="0" smtClean="0"/>
              <a:t>end-of-period </a:t>
            </a:r>
            <a:r>
              <a:rPr lang="en-US" sz="2400" dirty="0"/>
              <a:t>series of </a:t>
            </a:r>
            <a:r>
              <a:rPr lang="en-US" sz="2400" i="1" dirty="0"/>
              <a:t>A </a:t>
            </a:r>
            <a:r>
              <a:rPr lang="en-US" sz="2400" dirty="0"/>
              <a:t>values beginning at the end of period 1 </a:t>
            </a:r>
            <a:r>
              <a:rPr lang="en-US" sz="2400" dirty="0" smtClean="0"/>
              <a:t>and</a:t>
            </a:r>
            <a:r>
              <a:rPr lang="tr-TR" sz="2400" dirty="0" smtClean="0"/>
              <a:t> </a:t>
            </a:r>
            <a:r>
              <a:rPr lang="en-US" sz="2400" dirty="0" smtClean="0"/>
              <a:t>extending </a:t>
            </a:r>
            <a:r>
              <a:rPr lang="en-US" sz="2400" dirty="0"/>
              <a:t>for </a:t>
            </a:r>
            <a:r>
              <a:rPr lang="en-US" sz="2400" i="1" dirty="0"/>
              <a:t>n </a:t>
            </a:r>
            <a:r>
              <a:rPr lang="en-US" sz="2400" dirty="0"/>
              <a:t>periods.</a:t>
            </a:r>
            <a:endParaRPr lang="en-US" sz="2400" dirty="0"/>
          </a:p>
        </p:txBody>
      </p:sp>
      <p:pic>
        <p:nvPicPr>
          <p:cNvPr id="6" name="Resim 5"/>
          <p:cNvPicPr>
            <a:picLocks noChangeAspect="1"/>
          </p:cNvPicPr>
          <p:nvPr/>
        </p:nvPicPr>
        <p:blipFill>
          <a:blip r:embed="rId2"/>
          <a:stretch>
            <a:fillRect/>
          </a:stretch>
        </p:blipFill>
        <p:spPr>
          <a:xfrm>
            <a:off x="1299931" y="708964"/>
            <a:ext cx="2410161" cy="1152686"/>
          </a:xfrm>
          <a:prstGeom prst="rect">
            <a:avLst/>
          </a:prstGeom>
        </p:spPr>
      </p:pic>
    </p:spTree>
    <p:extLst>
      <p:ext uri="{BB962C8B-B14F-4D97-AF65-F5344CB8AC3E}">
        <p14:creationId xmlns:p14="http://schemas.microsoft.com/office/powerpoint/2010/main" val="518006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59816" y="529868"/>
            <a:ext cx="10854716" cy="1220209"/>
          </a:xfrm>
        </p:spPr>
        <p:txBody>
          <a:bodyPr>
            <a:normAutofit/>
          </a:bodyPr>
          <a:lstStyle/>
          <a:p>
            <a:r>
              <a:rPr lang="en-US" sz="2400" dirty="0"/>
              <a:t>To reverse the situation, the present worth </a:t>
            </a:r>
            <a:r>
              <a:rPr lang="en-US" sz="2400" i="1" dirty="0"/>
              <a:t>P </a:t>
            </a:r>
            <a:r>
              <a:rPr lang="en-US" sz="2400" dirty="0"/>
              <a:t>is known and </a:t>
            </a:r>
            <a:r>
              <a:rPr lang="en-US" sz="2400" dirty="0" smtClean="0"/>
              <a:t>the</a:t>
            </a:r>
            <a:r>
              <a:rPr lang="tr-TR" sz="2400" dirty="0" smtClean="0"/>
              <a:t> </a:t>
            </a:r>
            <a:r>
              <a:rPr lang="en-US" sz="2400" dirty="0" smtClean="0"/>
              <a:t>equivalent </a:t>
            </a:r>
            <a:r>
              <a:rPr lang="en-US" sz="2400" dirty="0"/>
              <a:t>uniform-series amount </a:t>
            </a:r>
            <a:r>
              <a:rPr lang="en-US" sz="2400" i="1" dirty="0"/>
              <a:t>A </a:t>
            </a:r>
            <a:r>
              <a:rPr lang="en-US" sz="2400" dirty="0"/>
              <a:t>is sought. The first </a:t>
            </a:r>
            <a:r>
              <a:rPr lang="en-US" sz="2400" i="1" dirty="0"/>
              <a:t>A </a:t>
            </a:r>
            <a:r>
              <a:rPr lang="en-US" sz="2400" dirty="0"/>
              <a:t>value </a:t>
            </a:r>
            <a:r>
              <a:rPr lang="en-US" sz="2400" dirty="0" smtClean="0"/>
              <a:t>occurs</a:t>
            </a:r>
            <a:r>
              <a:rPr lang="tr-TR" sz="2400" dirty="0" smtClean="0"/>
              <a:t> </a:t>
            </a:r>
            <a:r>
              <a:rPr lang="en-US" sz="2400" dirty="0" smtClean="0"/>
              <a:t>at </a:t>
            </a:r>
            <a:r>
              <a:rPr lang="en-US" sz="2400" dirty="0"/>
              <a:t>the end of period 1. Then we have:</a:t>
            </a:r>
            <a:endParaRPr lang="en-US" sz="2400" dirty="0"/>
          </a:p>
        </p:txBody>
      </p:sp>
      <p:sp>
        <p:nvSpPr>
          <p:cNvPr id="4" name="İçerik Yer Tutucusu 2"/>
          <p:cNvSpPr txBox="1">
            <a:spLocks/>
          </p:cNvSpPr>
          <p:nvPr/>
        </p:nvSpPr>
        <p:spPr>
          <a:xfrm>
            <a:off x="905316" y="5036265"/>
            <a:ext cx="10854716" cy="1243422"/>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400" dirty="0"/>
              <a:t>is the capital recovery factor or </a:t>
            </a:r>
            <a:r>
              <a:rPr lang="en-US" sz="2400" i="1" dirty="0"/>
              <a:t>A</a:t>
            </a:r>
            <a:r>
              <a:rPr lang="en-US" sz="2400" dirty="0"/>
              <a:t>/</a:t>
            </a:r>
            <a:r>
              <a:rPr lang="en-US" sz="2400" i="1" dirty="0"/>
              <a:t>P </a:t>
            </a:r>
            <a:r>
              <a:rPr lang="en-US" sz="2400" dirty="0"/>
              <a:t>factor. It calculates </a:t>
            </a:r>
            <a:r>
              <a:rPr lang="en-US" sz="2400" dirty="0" smtClean="0"/>
              <a:t>the</a:t>
            </a:r>
            <a:r>
              <a:rPr lang="tr-TR" sz="2400" dirty="0" smtClean="0"/>
              <a:t> </a:t>
            </a:r>
            <a:r>
              <a:rPr lang="en-US" sz="2400" dirty="0" smtClean="0"/>
              <a:t>equivalent </a:t>
            </a:r>
            <a:r>
              <a:rPr lang="en-US" sz="2400" dirty="0"/>
              <a:t>uniform annual worth </a:t>
            </a:r>
            <a:r>
              <a:rPr lang="en-US" sz="2400" i="1" dirty="0"/>
              <a:t>A </a:t>
            </a:r>
            <a:r>
              <a:rPr lang="en-US" sz="2400" dirty="0"/>
              <a:t>over </a:t>
            </a:r>
            <a:r>
              <a:rPr lang="en-US" sz="2400" i="1" dirty="0"/>
              <a:t>n </a:t>
            </a:r>
            <a:r>
              <a:rPr lang="en-US" sz="2400" dirty="0"/>
              <a:t>years starting from the </a:t>
            </a:r>
            <a:r>
              <a:rPr lang="en-US" sz="2400" dirty="0" smtClean="0"/>
              <a:t>end</a:t>
            </a:r>
            <a:r>
              <a:rPr lang="tr-TR" sz="2400" dirty="0" smtClean="0"/>
              <a:t> </a:t>
            </a:r>
            <a:r>
              <a:rPr lang="en-US" sz="2400" dirty="0" smtClean="0"/>
              <a:t>of </a:t>
            </a:r>
            <a:r>
              <a:rPr lang="en-US" sz="2400" dirty="0"/>
              <a:t>year 1 for a given </a:t>
            </a:r>
            <a:r>
              <a:rPr lang="en-US" sz="2400" i="1" dirty="0"/>
              <a:t>P </a:t>
            </a:r>
            <a:r>
              <a:rPr lang="en-US" sz="2400" dirty="0"/>
              <a:t>in year 0.</a:t>
            </a:r>
            <a:endParaRPr lang="en-US" sz="2400" dirty="0"/>
          </a:p>
        </p:txBody>
      </p:sp>
      <p:pic>
        <p:nvPicPr>
          <p:cNvPr id="6" name="Resim 5"/>
          <p:cNvPicPr>
            <a:picLocks noChangeAspect="1"/>
          </p:cNvPicPr>
          <p:nvPr/>
        </p:nvPicPr>
        <p:blipFill>
          <a:blip r:embed="rId2"/>
          <a:stretch>
            <a:fillRect/>
          </a:stretch>
        </p:blipFill>
        <p:spPr>
          <a:xfrm>
            <a:off x="4220773" y="1971237"/>
            <a:ext cx="3856090" cy="1122659"/>
          </a:xfrm>
          <a:prstGeom prst="rect">
            <a:avLst/>
          </a:prstGeom>
        </p:spPr>
      </p:pic>
      <p:pic>
        <p:nvPicPr>
          <p:cNvPr id="7" name="Resim 6"/>
          <p:cNvPicPr>
            <a:picLocks noChangeAspect="1"/>
          </p:cNvPicPr>
          <p:nvPr/>
        </p:nvPicPr>
        <p:blipFill>
          <a:blip r:embed="rId3"/>
          <a:stretch>
            <a:fillRect/>
          </a:stretch>
        </p:blipFill>
        <p:spPr>
          <a:xfrm>
            <a:off x="4924684" y="3382489"/>
            <a:ext cx="2448267" cy="1219370"/>
          </a:xfrm>
          <a:prstGeom prst="rect">
            <a:avLst/>
          </a:prstGeom>
        </p:spPr>
      </p:pic>
    </p:spTree>
    <p:extLst>
      <p:ext uri="{BB962C8B-B14F-4D97-AF65-F5344CB8AC3E}">
        <p14:creationId xmlns:p14="http://schemas.microsoft.com/office/powerpoint/2010/main" val="1727674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99260" y="487477"/>
            <a:ext cx="10987940" cy="2540337"/>
          </a:xfrm>
        </p:spPr>
        <p:txBody>
          <a:bodyPr>
            <a:normAutofit/>
          </a:bodyPr>
          <a:lstStyle/>
          <a:p>
            <a:r>
              <a:rPr lang="en-US" sz="2400" dirty="0"/>
              <a:t>These formulas are derived with the present worth </a:t>
            </a:r>
            <a:r>
              <a:rPr lang="en-US" sz="2400" i="1" dirty="0"/>
              <a:t>P </a:t>
            </a:r>
            <a:r>
              <a:rPr lang="en-US" sz="2400" dirty="0"/>
              <a:t>and the </a:t>
            </a:r>
            <a:r>
              <a:rPr lang="en-US" sz="2400" dirty="0" smtClean="0"/>
              <a:t>first</a:t>
            </a:r>
            <a:r>
              <a:rPr lang="tr-TR" sz="2400" dirty="0" smtClean="0"/>
              <a:t> </a:t>
            </a:r>
            <a:r>
              <a:rPr lang="en-US" sz="2400" dirty="0" smtClean="0"/>
              <a:t>uniform </a:t>
            </a:r>
            <a:r>
              <a:rPr lang="en-US" sz="2400" dirty="0"/>
              <a:t>annual amount </a:t>
            </a:r>
            <a:r>
              <a:rPr lang="en-US" sz="2400" i="1" dirty="0"/>
              <a:t>A </a:t>
            </a:r>
            <a:r>
              <a:rPr lang="en-US" sz="2400" dirty="0"/>
              <a:t>one period apart. Therefore, the </a:t>
            </a:r>
            <a:r>
              <a:rPr lang="en-US" sz="2400" dirty="0" smtClean="0"/>
              <a:t>present</a:t>
            </a:r>
            <a:r>
              <a:rPr lang="tr-TR" sz="2400" dirty="0" smtClean="0"/>
              <a:t> </a:t>
            </a:r>
            <a:r>
              <a:rPr lang="en-US" sz="2400" dirty="0" smtClean="0"/>
              <a:t>worth </a:t>
            </a:r>
            <a:r>
              <a:rPr lang="en-US" sz="2400" i="1" dirty="0"/>
              <a:t>P </a:t>
            </a:r>
            <a:r>
              <a:rPr lang="en-US" sz="2400" dirty="0"/>
              <a:t>must always be located one period prior to the first </a:t>
            </a:r>
            <a:r>
              <a:rPr lang="en-US" sz="2400" i="1" dirty="0"/>
              <a:t>A</a:t>
            </a:r>
            <a:r>
              <a:rPr lang="en-US" sz="2400" dirty="0" smtClean="0"/>
              <a:t>.</a:t>
            </a:r>
            <a:endParaRPr lang="tr-TR" sz="2400" dirty="0" smtClean="0"/>
          </a:p>
          <a:p>
            <a:r>
              <a:rPr lang="en-US" sz="2400" dirty="0"/>
              <a:t>Standard notations for these two factors are: (</a:t>
            </a:r>
            <a:r>
              <a:rPr lang="en-US" sz="2400" i="1" dirty="0"/>
              <a:t>P</a:t>
            </a:r>
            <a:r>
              <a:rPr lang="en-US" sz="2400" dirty="0"/>
              <a:t>/</a:t>
            </a:r>
            <a:r>
              <a:rPr lang="en-US" sz="2400" i="1" dirty="0"/>
              <a:t>A</a:t>
            </a:r>
            <a:r>
              <a:rPr lang="en-US" sz="2400" dirty="0"/>
              <a:t>, </a:t>
            </a:r>
            <a:r>
              <a:rPr lang="en-US" sz="2400" i="1" dirty="0" err="1"/>
              <a:t>i</a:t>
            </a:r>
            <a:r>
              <a:rPr lang="en-US" sz="2400" dirty="0"/>
              <a:t>%, </a:t>
            </a:r>
            <a:r>
              <a:rPr lang="en-US" sz="2400" i="1" dirty="0"/>
              <a:t>n</a:t>
            </a:r>
            <a:r>
              <a:rPr lang="en-US" sz="2400" dirty="0"/>
              <a:t>) </a:t>
            </a:r>
            <a:r>
              <a:rPr lang="en-US" sz="2400" dirty="0" smtClean="0"/>
              <a:t>and</a:t>
            </a:r>
            <a:r>
              <a:rPr lang="tr-TR" sz="2400" dirty="0" smtClean="0"/>
              <a:t> </a:t>
            </a:r>
            <a:r>
              <a:rPr lang="en-US" sz="2400" dirty="0" smtClean="0"/>
              <a:t>(</a:t>
            </a:r>
            <a:r>
              <a:rPr lang="en-US" sz="2400" i="1" dirty="0" smtClean="0"/>
              <a:t>A</a:t>
            </a:r>
            <a:r>
              <a:rPr lang="en-US" sz="2400" dirty="0" smtClean="0"/>
              <a:t>/</a:t>
            </a:r>
            <a:r>
              <a:rPr lang="en-US" sz="2400" i="1" dirty="0" smtClean="0"/>
              <a:t>P</a:t>
            </a:r>
            <a:r>
              <a:rPr lang="en-US" sz="2400" dirty="0"/>
              <a:t>, </a:t>
            </a:r>
            <a:r>
              <a:rPr lang="en-US" sz="2400" i="1" dirty="0" err="1"/>
              <a:t>i</a:t>
            </a:r>
            <a:r>
              <a:rPr lang="en-US" sz="2400" dirty="0"/>
              <a:t>%, </a:t>
            </a:r>
            <a:r>
              <a:rPr lang="en-US" sz="2400" i="1" dirty="0"/>
              <a:t>n</a:t>
            </a:r>
            <a:r>
              <a:rPr lang="en-US" sz="2400" dirty="0" smtClean="0"/>
              <a:t>).</a:t>
            </a:r>
            <a:endParaRPr lang="tr-TR" sz="2400" dirty="0" smtClean="0"/>
          </a:p>
          <a:p>
            <a:r>
              <a:rPr lang="en-US" sz="2400" dirty="0"/>
              <a:t>This time, the cash flow diagram we are dealing with is:</a:t>
            </a:r>
            <a:endParaRPr lang="en-US" sz="2400" dirty="0"/>
          </a:p>
        </p:txBody>
      </p:sp>
      <p:pic>
        <p:nvPicPr>
          <p:cNvPr id="4" name="Resim 3"/>
          <p:cNvPicPr>
            <a:picLocks noChangeAspect="1"/>
          </p:cNvPicPr>
          <p:nvPr/>
        </p:nvPicPr>
        <p:blipFill>
          <a:blip r:embed="rId2"/>
          <a:stretch>
            <a:fillRect/>
          </a:stretch>
        </p:blipFill>
        <p:spPr>
          <a:xfrm>
            <a:off x="1171763" y="3242689"/>
            <a:ext cx="4820627" cy="2491197"/>
          </a:xfrm>
          <a:prstGeom prst="rect">
            <a:avLst/>
          </a:prstGeom>
        </p:spPr>
      </p:pic>
      <p:pic>
        <p:nvPicPr>
          <p:cNvPr id="5" name="Resim 4"/>
          <p:cNvPicPr>
            <a:picLocks noChangeAspect="1"/>
          </p:cNvPicPr>
          <p:nvPr/>
        </p:nvPicPr>
        <p:blipFill>
          <a:blip r:embed="rId3"/>
          <a:stretch>
            <a:fillRect/>
          </a:stretch>
        </p:blipFill>
        <p:spPr>
          <a:xfrm>
            <a:off x="6720446" y="2854335"/>
            <a:ext cx="4166194" cy="3267907"/>
          </a:xfrm>
          <a:prstGeom prst="rect">
            <a:avLst/>
          </a:prstGeom>
        </p:spPr>
      </p:pic>
    </p:spTree>
    <p:extLst>
      <p:ext uri="{BB962C8B-B14F-4D97-AF65-F5344CB8AC3E}">
        <p14:creationId xmlns:p14="http://schemas.microsoft.com/office/powerpoint/2010/main" val="18954605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962844" y="735359"/>
            <a:ext cx="11065653" cy="1273094"/>
          </a:xfrm>
          <a:prstGeom prst="rect">
            <a:avLst/>
          </a:prstGeom>
        </p:spPr>
      </p:pic>
      <p:pic>
        <p:nvPicPr>
          <p:cNvPr id="5" name="Resim 4"/>
          <p:cNvPicPr>
            <a:picLocks noChangeAspect="1"/>
          </p:cNvPicPr>
          <p:nvPr/>
        </p:nvPicPr>
        <p:blipFill>
          <a:blip r:embed="rId3"/>
          <a:stretch>
            <a:fillRect/>
          </a:stretch>
        </p:blipFill>
        <p:spPr>
          <a:xfrm>
            <a:off x="1041567" y="2429237"/>
            <a:ext cx="11065653" cy="1572969"/>
          </a:xfrm>
          <a:prstGeom prst="rect">
            <a:avLst/>
          </a:prstGeom>
        </p:spPr>
      </p:pic>
      <p:pic>
        <p:nvPicPr>
          <p:cNvPr id="6" name="Resim 5"/>
          <p:cNvPicPr>
            <a:picLocks noChangeAspect="1"/>
          </p:cNvPicPr>
          <p:nvPr/>
        </p:nvPicPr>
        <p:blipFill>
          <a:blip r:embed="rId4"/>
          <a:stretch>
            <a:fillRect/>
          </a:stretch>
        </p:blipFill>
        <p:spPr>
          <a:xfrm>
            <a:off x="1041567" y="4494901"/>
            <a:ext cx="10918301" cy="1041019"/>
          </a:xfrm>
          <a:prstGeom prst="rect">
            <a:avLst/>
          </a:prstGeom>
        </p:spPr>
      </p:pic>
    </p:spTree>
    <p:extLst>
      <p:ext uri="{BB962C8B-B14F-4D97-AF65-F5344CB8AC3E}">
        <p14:creationId xmlns:p14="http://schemas.microsoft.com/office/powerpoint/2010/main" val="1253742650"/>
      </p:ext>
    </p:extLst>
  </p:cSld>
  <p:clrMapOvr>
    <a:masterClrMapping/>
  </p:clrMapOvr>
</p:sld>
</file>

<file path=ppt/theme/theme1.xml><?xml version="1.0" encoding="utf-8"?>
<a:theme xmlns:a="http://schemas.openxmlformats.org/drawingml/2006/main" name="Crop">
  <a:themeElements>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Kırpma</Template>
  <TotalTime>734</TotalTime>
  <Words>2644</Words>
  <Application>Microsoft Office PowerPoint</Application>
  <PresentationFormat>Geniş ekran</PresentationFormat>
  <Paragraphs>141</Paragraphs>
  <Slides>38</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38</vt:i4>
      </vt:variant>
    </vt:vector>
  </HeadingPairs>
  <TitlesOfParts>
    <vt:vector size="42" baseType="lpstr">
      <vt:lpstr>Arial</vt:lpstr>
      <vt:lpstr>Cambria Math</vt:lpstr>
      <vt:lpstr>Franklin Gothic Book</vt:lpstr>
      <vt:lpstr>Crop</vt:lpstr>
      <vt:lpstr>ENGINEERING ECONOMY</vt:lpstr>
      <vt:lpstr>Terminology and Symbols</vt:lpstr>
      <vt:lpstr>PowerPoint Sunusu</vt:lpstr>
      <vt:lpstr>PowerPoint Sunusu</vt:lpstr>
      <vt:lpstr>PowerPoint Sunusu</vt:lpstr>
      <vt:lpstr>PowerPoint Sunusu</vt:lpstr>
      <vt:lpstr>PowerPoint Sunusu</vt:lpstr>
      <vt:lpstr>EXAMPLE</vt:lpstr>
      <vt:lpstr>EXAMPLE</vt:lpstr>
      <vt:lpstr>EXAMPLE</vt:lpstr>
      <vt:lpstr>EXAMPLE</vt:lpstr>
      <vt:lpstr>PowerPoint Sunusu</vt:lpstr>
      <vt:lpstr>Economic equivalence</vt:lpstr>
      <vt:lpstr>PowerPoint Sunusu</vt:lpstr>
      <vt:lpstr>EXAMPLE</vt:lpstr>
      <vt:lpstr>PowerPoint Sunusu</vt:lpstr>
      <vt:lpstr>PowerPoint Sunusu</vt:lpstr>
      <vt:lpstr>Future Value</vt:lpstr>
      <vt:lpstr>PowerPoint Sunusu</vt:lpstr>
      <vt:lpstr>PowerPoint Sunusu</vt:lpstr>
      <vt:lpstr>PowerPoint Sunusu</vt:lpstr>
      <vt:lpstr>PowerPoint Sunusu</vt:lpstr>
      <vt:lpstr>PowerPoint Sunusu</vt:lpstr>
      <vt:lpstr>PowerPoint Sunusu</vt:lpstr>
      <vt:lpstr>EXAMPLE</vt:lpstr>
      <vt:lpstr>EXAMPLE</vt:lpstr>
      <vt:lpstr>PowerPoint Sunusu</vt:lpstr>
      <vt:lpstr>EXAMPLE</vt:lpstr>
      <vt:lpstr>PowerPoint Sunusu</vt:lpstr>
      <vt:lpstr>PowerPoint Sunusu</vt:lpstr>
      <vt:lpstr>PowerPoint Sunusu</vt:lpstr>
      <vt:lpstr>Uniform-Series Factors : (P/A and A/P)</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ECONOMY</dc:title>
  <dc:creator>y</dc:creator>
  <cp:lastModifiedBy>y</cp:lastModifiedBy>
  <cp:revision>70</cp:revision>
  <dcterms:created xsi:type="dcterms:W3CDTF">2025-10-01T18:37:48Z</dcterms:created>
  <dcterms:modified xsi:type="dcterms:W3CDTF">2025-10-08T21:27:29Z</dcterms:modified>
</cp:coreProperties>
</file>