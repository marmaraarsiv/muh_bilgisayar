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sldIdLst>
    <p:sldId id="256" r:id="rId2"/>
    <p:sldId id="257" r:id="rId3"/>
    <p:sldId id="268" r:id="rId4"/>
    <p:sldId id="272" r:id="rId5"/>
    <p:sldId id="269" r:id="rId6"/>
    <p:sldId id="270" r:id="rId7"/>
    <p:sldId id="271" r:id="rId8"/>
    <p:sldId id="273" r:id="rId9"/>
    <p:sldId id="274" r:id="rId10"/>
    <p:sldId id="258" r:id="rId11"/>
    <p:sldId id="259" r:id="rId12"/>
    <p:sldId id="260" r:id="rId13"/>
    <p:sldId id="261" r:id="rId14"/>
    <p:sldId id="262" r:id="rId15"/>
    <p:sldId id="263" r:id="rId16"/>
    <p:sldId id="264" r:id="rId17"/>
    <p:sldId id="265" r:id="rId18"/>
    <p:sldId id="266" r:id="rId19"/>
    <p:sldId id="267"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63" d="100"/>
          <a:sy n="63" d="100"/>
        </p:scale>
        <p:origin x="73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764DE79-268F-4C1A-8933-263129D2AF90}" type="datetimeFigureOut">
              <a:rPr lang="en-US" smtClean="0"/>
              <a:t>10/1/2025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8F63A3B-78C7-47BE-AE5E-E10140E04643}" type="slidenum">
              <a:rPr lang="en-US" smtClean="0"/>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6778024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52453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764DE79-268F-4C1A-8933-263129D2AF90}" type="datetimeFigureOut">
              <a:rPr lang="en-US" smtClean="0"/>
              <a:t>10/1/2025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671017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824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0951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15606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13853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764DE79-268F-4C1A-8933-263129D2AF90}" type="datetimeFigureOut">
              <a:rPr lang="en-US" smtClean="0"/>
              <a:t>10/1/2025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946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764DE79-268F-4C1A-8933-263129D2AF90}" type="datetimeFigureOut">
              <a:rPr lang="en-US" smtClean="0"/>
              <a:t>10/1/2025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9839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8597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300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764DE79-268F-4C1A-8933-263129D2AF90}" type="datetimeFigureOut">
              <a:rPr lang="en-US" smtClean="0"/>
              <a:t>10/1/2025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8F63A3B-78C7-47BE-AE5E-E10140E04643}" type="slidenum">
              <a:rPr lang="en-US" smtClean="0"/>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679260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4294967295" orient="horz" pos="1368">
          <p15:clr>
            <a:srgbClr val="F26B43"/>
          </p15:clr>
        </p15:guide>
        <p15:guide id="4294967295" orient="horz" pos="1440">
          <p15:clr>
            <a:srgbClr val="F26B43"/>
          </p15:clr>
        </p15:guide>
        <p15:guide id="4294967295" orient="horz" pos="3696">
          <p15:clr>
            <a:srgbClr val="F26B43"/>
          </p15:clr>
        </p15:guide>
        <p15:guide id="4294967295" orient="horz" pos="432">
          <p15:clr>
            <a:srgbClr val="F26B43"/>
          </p15:clr>
        </p15:guide>
        <p15:guide id="4294967295" orient="horz" pos="1512">
          <p15:clr>
            <a:srgbClr val="F26B43"/>
          </p15:clr>
        </p15:guide>
        <p15:guide id="4294967295" pos="6912">
          <p15:clr>
            <a:srgbClr val="F26B43"/>
          </p15:clr>
        </p15:guide>
        <p15:guide id="4294967295" pos="936">
          <p15:clr>
            <a:srgbClr val="F26B43"/>
          </p15:clr>
        </p15:guide>
        <p15:guide id="4294967295"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964916"/>
            <a:ext cx="9144000" cy="1959952"/>
          </a:xfrm>
        </p:spPr>
        <p:txBody>
          <a:bodyPr anchor="ctr">
            <a:normAutofit fontScale="90000"/>
          </a:bodyPr>
          <a:lstStyle/>
          <a:p>
            <a:r>
              <a:rPr lang="tr-TR" dirty="0" smtClean="0"/>
              <a:t>ENGINEERING ECONOMY</a:t>
            </a:r>
            <a:endParaRPr lang="en-US" dirty="0"/>
          </a:p>
        </p:txBody>
      </p:sp>
      <p:sp>
        <p:nvSpPr>
          <p:cNvPr id="3" name="Alt Başlık 2"/>
          <p:cNvSpPr>
            <a:spLocks noGrp="1"/>
          </p:cNvSpPr>
          <p:nvPr>
            <p:ph type="subTitle" idx="1"/>
          </p:nvPr>
        </p:nvSpPr>
        <p:spPr>
          <a:xfrm>
            <a:off x="1905504" y="2924868"/>
            <a:ext cx="9144000" cy="1038087"/>
          </a:xfrm>
        </p:spPr>
        <p:txBody>
          <a:bodyPr anchor="ctr">
            <a:normAutofit/>
          </a:bodyPr>
          <a:lstStyle/>
          <a:p>
            <a:r>
              <a:rPr lang="tr-TR" sz="2800" dirty="0" smtClean="0"/>
              <a:t>LECTURE 1</a:t>
            </a:r>
          </a:p>
        </p:txBody>
      </p:sp>
      <p:sp>
        <p:nvSpPr>
          <p:cNvPr id="4" name="Alt Başlık 2"/>
          <p:cNvSpPr txBox="1">
            <a:spLocks/>
          </p:cNvSpPr>
          <p:nvPr/>
        </p:nvSpPr>
        <p:spPr>
          <a:xfrm>
            <a:off x="199835" y="6316021"/>
            <a:ext cx="8853331" cy="46628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2000" dirty="0" smtClean="0"/>
              <a:t>PROF.DR. YASEMİN ASU ÇIRPICI, MU, DEPT. OF ECONOMICS</a:t>
            </a:r>
            <a:endParaRPr lang="en-US" sz="2000" dirty="0"/>
          </a:p>
        </p:txBody>
      </p:sp>
    </p:spTree>
    <p:extLst>
      <p:ext uri="{BB962C8B-B14F-4D97-AF65-F5344CB8AC3E}">
        <p14:creationId xmlns:p14="http://schemas.microsoft.com/office/powerpoint/2010/main" val="3955449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31979" y="298514"/>
            <a:ext cx="10515600" cy="1082170"/>
          </a:xfrm>
        </p:spPr>
        <p:txBody>
          <a:bodyPr anchor="ctr"/>
          <a:lstStyle/>
          <a:p>
            <a:r>
              <a:rPr lang="en-US" b="1" u="sng" dirty="0"/>
              <a:t>Engineering Economy:</a:t>
            </a:r>
            <a:endParaRPr lang="en-US" dirty="0"/>
          </a:p>
        </p:txBody>
      </p:sp>
      <p:sp>
        <p:nvSpPr>
          <p:cNvPr id="3" name="İçerik Yer Tutucusu 2"/>
          <p:cNvSpPr>
            <a:spLocks noGrp="1"/>
          </p:cNvSpPr>
          <p:nvPr>
            <p:ph idx="1"/>
          </p:nvPr>
        </p:nvSpPr>
        <p:spPr>
          <a:xfrm>
            <a:off x="396138" y="1708854"/>
            <a:ext cx="11460783" cy="3995549"/>
          </a:xfrm>
        </p:spPr>
        <p:txBody>
          <a:bodyPr>
            <a:normAutofit lnSpcReduction="10000"/>
          </a:bodyPr>
          <a:lstStyle/>
          <a:p>
            <a:pPr algn="just"/>
            <a:r>
              <a:rPr lang="en-US" sz="2400" dirty="0"/>
              <a:t>Engineering </a:t>
            </a:r>
            <a:r>
              <a:rPr lang="en-US" sz="2400" dirty="0" smtClean="0"/>
              <a:t>Economy</a:t>
            </a:r>
            <a:r>
              <a:rPr lang="tr-TR" sz="2400" dirty="0" smtClean="0"/>
              <a:t> is </a:t>
            </a:r>
            <a:r>
              <a:rPr lang="en-US" sz="2400" dirty="0"/>
              <a:t>A collection of mathematical techniques that simplify economic comparison and assist people in making decisions.</a:t>
            </a:r>
          </a:p>
          <a:p>
            <a:pPr algn="just"/>
            <a:r>
              <a:rPr lang="en-US" sz="2400" dirty="0"/>
              <a:t>Fundamentally, engineering economy involves formulating, estimating and evaluating the economic outcomes when alternatives to accomplish a defined purpose are available.</a:t>
            </a:r>
          </a:p>
          <a:p>
            <a:pPr algn="just"/>
            <a:r>
              <a:rPr lang="en-US" sz="2400" dirty="0"/>
              <a:t>The need for engineering economy is primarily motivated by the work that engineers do in performing analyses, synthesizing, and coming to a conclusion as they work on projects of all sizes. </a:t>
            </a:r>
            <a:endParaRPr lang="tr-TR" sz="2400" dirty="0" smtClean="0"/>
          </a:p>
          <a:p>
            <a:pPr algn="just"/>
            <a:r>
              <a:rPr lang="en-US" sz="2400" dirty="0" smtClean="0"/>
              <a:t>In </a:t>
            </a:r>
            <a:r>
              <a:rPr lang="en-US" sz="2400" dirty="0"/>
              <a:t>other words, engineering economy is at the heart of making decisions. These decisions involve the fundamental elements of </a:t>
            </a:r>
            <a:r>
              <a:rPr lang="en-US" sz="2400" b="1" dirty="0"/>
              <a:t>cash flows of money</a:t>
            </a:r>
            <a:r>
              <a:rPr lang="en-US" sz="2400" dirty="0"/>
              <a:t>, </a:t>
            </a:r>
            <a:r>
              <a:rPr lang="en-US" sz="2400" b="1" dirty="0"/>
              <a:t>time</a:t>
            </a:r>
            <a:r>
              <a:rPr lang="en-US" sz="2400" dirty="0"/>
              <a:t>, and </a:t>
            </a:r>
            <a:r>
              <a:rPr lang="en-US" sz="2400" b="1" dirty="0"/>
              <a:t>interest rates</a:t>
            </a:r>
            <a:r>
              <a:rPr lang="en-US" sz="2400" dirty="0"/>
              <a:t>.</a:t>
            </a:r>
          </a:p>
          <a:p>
            <a:pPr algn="just"/>
            <a:endParaRPr lang="en-US" sz="2400" dirty="0"/>
          </a:p>
        </p:txBody>
      </p:sp>
    </p:spTree>
    <p:extLst>
      <p:ext uri="{BB962C8B-B14F-4D97-AF65-F5344CB8AC3E}">
        <p14:creationId xmlns:p14="http://schemas.microsoft.com/office/powerpoint/2010/main" val="6480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56707" y="352741"/>
            <a:ext cx="10230985" cy="834163"/>
          </a:xfrm>
        </p:spPr>
        <p:txBody>
          <a:bodyPr/>
          <a:lstStyle/>
          <a:p>
            <a:r>
              <a:rPr lang="tr-TR" dirty="0" smtClean="0"/>
              <a:t>S</a:t>
            </a:r>
            <a:r>
              <a:rPr lang="en-US" dirty="0" err="1" smtClean="0"/>
              <a:t>teps</a:t>
            </a:r>
            <a:r>
              <a:rPr lang="en-US" dirty="0" smtClean="0"/>
              <a:t> </a:t>
            </a:r>
            <a:r>
              <a:rPr lang="en-US" dirty="0"/>
              <a:t>in an </a:t>
            </a:r>
            <a:r>
              <a:rPr lang="tr-TR" dirty="0" smtClean="0"/>
              <a:t>E</a:t>
            </a:r>
            <a:r>
              <a:rPr lang="en-US" dirty="0" err="1" smtClean="0"/>
              <a:t>ngineering</a:t>
            </a:r>
            <a:r>
              <a:rPr lang="en-US" dirty="0" smtClean="0"/>
              <a:t> </a:t>
            </a:r>
            <a:r>
              <a:rPr lang="tr-TR" dirty="0" smtClean="0"/>
              <a:t>E</a:t>
            </a:r>
            <a:r>
              <a:rPr lang="en-US" dirty="0" smtClean="0"/>
              <a:t>co</a:t>
            </a:r>
            <a:r>
              <a:rPr lang="tr-TR" dirty="0" err="1" smtClean="0"/>
              <a:t>nomy</a:t>
            </a:r>
            <a:r>
              <a:rPr lang="tr-TR" dirty="0" smtClean="0"/>
              <a:t> </a:t>
            </a:r>
            <a:r>
              <a:rPr lang="tr-TR" dirty="0" err="1" smtClean="0"/>
              <a:t>Study</a:t>
            </a:r>
            <a:endParaRPr lang="en-US" dirty="0"/>
          </a:p>
        </p:txBody>
      </p:sp>
      <p:sp>
        <p:nvSpPr>
          <p:cNvPr id="3" name="İçerik Yer Tutucusu 2"/>
          <p:cNvSpPr>
            <a:spLocks noGrp="1"/>
          </p:cNvSpPr>
          <p:nvPr>
            <p:ph idx="1"/>
          </p:nvPr>
        </p:nvSpPr>
        <p:spPr>
          <a:xfrm>
            <a:off x="1002206" y="1323153"/>
            <a:ext cx="10884994" cy="4992867"/>
          </a:xfrm>
        </p:spPr>
        <p:txBody>
          <a:bodyPr>
            <a:normAutofit/>
          </a:bodyPr>
          <a:lstStyle/>
          <a:p>
            <a:r>
              <a:rPr lang="en-US" sz="2400" dirty="0"/>
              <a:t>The steps in an engineering economy study are as </a:t>
            </a:r>
            <a:r>
              <a:rPr lang="en-US" sz="2400" dirty="0" smtClean="0"/>
              <a:t>follows:</a:t>
            </a:r>
          </a:p>
          <a:p>
            <a:pPr marL="0" indent="357188">
              <a:buNone/>
            </a:pPr>
            <a:r>
              <a:rPr lang="en-US" sz="2400" dirty="0" smtClean="0"/>
              <a:t>1. Identify and understand the problem; identify the objective of the project.</a:t>
            </a:r>
          </a:p>
          <a:p>
            <a:pPr marL="0" indent="357188">
              <a:buNone/>
            </a:pPr>
            <a:r>
              <a:rPr lang="en-US" sz="2400" dirty="0" smtClean="0"/>
              <a:t>2</a:t>
            </a:r>
            <a:r>
              <a:rPr lang="en-US" sz="2400" dirty="0"/>
              <a:t>. Collect relevant, available data and define viable solution alternatives.</a:t>
            </a:r>
          </a:p>
          <a:p>
            <a:pPr marL="0" indent="357188">
              <a:buNone/>
            </a:pPr>
            <a:r>
              <a:rPr lang="en-US" sz="2400" dirty="0"/>
              <a:t>3. Make realistic cash flow estimates.</a:t>
            </a:r>
          </a:p>
          <a:p>
            <a:pPr marL="0" indent="357188">
              <a:buNone/>
            </a:pPr>
            <a:r>
              <a:rPr lang="en-US" sz="2400" dirty="0"/>
              <a:t>4. Identify an economic measure of worth criterion for decision making.</a:t>
            </a:r>
          </a:p>
          <a:p>
            <a:pPr marL="714375" indent="-357188">
              <a:buNone/>
            </a:pPr>
            <a:r>
              <a:rPr lang="en-US" sz="2400" dirty="0"/>
              <a:t>5. Evaluate each alternative; consider noneconomic factors; use sensitivity analysis as needed.</a:t>
            </a:r>
          </a:p>
          <a:p>
            <a:pPr marL="0" indent="357188">
              <a:buNone/>
            </a:pPr>
            <a:r>
              <a:rPr lang="en-US" sz="2400" dirty="0"/>
              <a:t>6. Select the best alternative.</a:t>
            </a:r>
          </a:p>
          <a:p>
            <a:pPr marL="0" indent="357188">
              <a:buNone/>
            </a:pPr>
            <a:r>
              <a:rPr lang="en-US" sz="2400" dirty="0"/>
              <a:t>7. Implement the solution and monitor the results.</a:t>
            </a:r>
          </a:p>
          <a:p>
            <a:endParaRPr lang="en-US" sz="2400" dirty="0"/>
          </a:p>
        </p:txBody>
      </p:sp>
    </p:spTree>
    <p:extLst>
      <p:ext uri="{BB962C8B-B14F-4D97-AF65-F5344CB8AC3E}">
        <p14:creationId xmlns:p14="http://schemas.microsoft.com/office/powerpoint/2010/main" val="1270312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7258" y="78723"/>
            <a:ext cx="5625680" cy="6727804"/>
          </a:xfrm>
          <a:prstGeom prst="rect">
            <a:avLst/>
          </a:prstGeom>
          <a:noFill/>
          <a:ln>
            <a:noFill/>
          </a:ln>
        </p:spPr>
      </p:pic>
    </p:spTree>
    <p:extLst>
      <p:ext uri="{BB962C8B-B14F-4D97-AF65-F5344CB8AC3E}">
        <p14:creationId xmlns:p14="http://schemas.microsoft.com/office/powerpoint/2010/main" val="339006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02206" y="330032"/>
            <a:ext cx="10915272" cy="6040490"/>
          </a:xfrm>
        </p:spPr>
        <p:txBody>
          <a:bodyPr>
            <a:noAutofit/>
          </a:bodyPr>
          <a:lstStyle/>
          <a:p>
            <a:r>
              <a:rPr lang="en-US" sz="2400" dirty="0"/>
              <a:t>Descriptions of several of the elements in the steps are important to understand.</a:t>
            </a:r>
          </a:p>
          <a:p>
            <a:r>
              <a:rPr lang="en-US" sz="2400" u="sng" dirty="0"/>
              <a:t>Problem Description and Objective Statement</a:t>
            </a:r>
            <a:r>
              <a:rPr lang="en-US" sz="2400" dirty="0"/>
              <a:t>: A clear, short description of the problem and main goals is essential for finding other possible solutions. </a:t>
            </a:r>
          </a:p>
          <a:p>
            <a:r>
              <a:rPr lang="en-US" sz="2400" dirty="0"/>
              <a:t>Ex: </a:t>
            </a:r>
          </a:p>
          <a:p>
            <a:r>
              <a:rPr lang="en-US" sz="2400" dirty="0"/>
              <a:t>Problem Description: A coal-fueled power plant must be shut down by 2025 due to the production of excessive sulfur dioxide. </a:t>
            </a:r>
          </a:p>
          <a:p>
            <a:r>
              <a:rPr lang="en-US" sz="2400" dirty="0"/>
              <a:t>Objectives: Generate the forecasted electricity needed for 2025 and beyond, plus to not exceed all the projected emission allowances in these future years.</a:t>
            </a:r>
          </a:p>
          <a:p>
            <a:endParaRPr lang="en-US" sz="2400" dirty="0"/>
          </a:p>
        </p:txBody>
      </p:sp>
    </p:spTree>
    <p:extLst>
      <p:ext uri="{BB962C8B-B14F-4D97-AF65-F5344CB8AC3E}">
        <p14:creationId xmlns:p14="http://schemas.microsoft.com/office/powerpoint/2010/main" val="24363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77983" y="408755"/>
            <a:ext cx="10872883" cy="5943600"/>
          </a:xfrm>
        </p:spPr>
        <p:txBody>
          <a:bodyPr>
            <a:normAutofit/>
          </a:bodyPr>
          <a:lstStyle/>
          <a:p>
            <a:r>
              <a:rPr lang="en-US" sz="2400" u="sng" dirty="0"/>
              <a:t>Alternatives:</a:t>
            </a:r>
            <a:r>
              <a:rPr lang="en-US" sz="2400" dirty="0"/>
              <a:t> These are stand-alone descriptions of viable solutions to problems that can meet the objectives. Words, pictures, graphs, equipment and service descriptions, simulations, etc. define each alternative. The best estimates for parameters are also part of the alternative. </a:t>
            </a:r>
          </a:p>
          <a:p>
            <a:pPr marL="0" indent="0">
              <a:buNone/>
            </a:pPr>
            <a:r>
              <a:rPr lang="en-US" sz="2400" dirty="0"/>
              <a:t>Some parameters include </a:t>
            </a:r>
            <a:endParaRPr lang="tr-TR" sz="2400" dirty="0" smtClean="0"/>
          </a:p>
          <a:p>
            <a:r>
              <a:rPr lang="en-US" sz="2400" dirty="0" smtClean="0"/>
              <a:t>equipment </a:t>
            </a:r>
            <a:r>
              <a:rPr lang="en-US" sz="2400" dirty="0"/>
              <a:t>first cost, </a:t>
            </a:r>
            <a:endParaRPr lang="tr-TR" sz="2400" dirty="0" smtClean="0"/>
          </a:p>
          <a:p>
            <a:r>
              <a:rPr lang="en-US" sz="2400" dirty="0" smtClean="0"/>
              <a:t>expected </a:t>
            </a:r>
            <a:r>
              <a:rPr lang="en-US" sz="2400" dirty="0"/>
              <a:t>life, </a:t>
            </a:r>
            <a:endParaRPr lang="tr-TR" sz="2400" dirty="0" smtClean="0"/>
          </a:p>
          <a:p>
            <a:r>
              <a:rPr lang="en-US" sz="2400" dirty="0" smtClean="0"/>
              <a:t>salvage </a:t>
            </a:r>
            <a:r>
              <a:rPr lang="en-US" sz="2400" dirty="0"/>
              <a:t>value (estimated trade-in, resale, or market value), and </a:t>
            </a:r>
            <a:endParaRPr lang="tr-TR" sz="2400" dirty="0" smtClean="0"/>
          </a:p>
          <a:p>
            <a:r>
              <a:rPr lang="en-US" sz="2400" dirty="0" smtClean="0"/>
              <a:t>annual </a:t>
            </a:r>
            <a:r>
              <a:rPr lang="en-US" sz="2400" dirty="0"/>
              <a:t>operating cost (AOC), which can also be termed maintenance and operating (M&amp;O) cost, and </a:t>
            </a:r>
            <a:endParaRPr lang="tr-TR" sz="2400" dirty="0" smtClean="0"/>
          </a:p>
          <a:p>
            <a:r>
              <a:rPr lang="en-US" sz="2400" dirty="0" smtClean="0"/>
              <a:t>subcontract </a:t>
            </a:r>
            <a:r>
              <a:rPr lang="en-US" sz="2400" dirty="0"/>
              <a:t>cost for specific services. </a:t>
            </a:r>
            <a:r>
              <a:rPr lang="en-US" sz="2400" dirty="0" smtClean="0"/>
              <a:t>If </a:t>
            </a:r>
            <a:r>
              <a:rPr lang="en-US" sz="2400" dirty="0"/>
              <a:t>changes in income (revenue) may occur, this parameter must be estimated.</a:t>
            </a:r>
          </a:p>
          <a:p>
            <a:r>
              <a:rPr lang="en-US" sz="2400" dirty="0"/>
              <a:t>Detailing all viable alternatives at this stage is crucial. </a:t>
            </a:r>
          </a:p>
          <a:p>
            <a:endParaRPr lang="en-US" sz="2400" dirty="0"/>
          </a:p>
        </p:txBody>
      </p:sp>
    </p:spTree>
    <p:extLst>
      <p:ext uri="{BB962C8B-B14F-4D97-AF65-F5344CB8AC3E}">
        <p14:creationId xmlns:p14="http://schemas.microsoft.com/office/powerpoint/2010/main" val="1826131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35594" y="384531"/>
            <a:ext cx="10897106" cy="4217747"/>
          </a:xfrm>
        </p:spPr>
        <p:txBody>
          <a:bodyPr>
            <a:normAutofit/>
          </a:bodyPr>
          <a:lstStyle/>
          <a:p>
            <a:pPr algn="just"/>
            <a:r>
              <a:rPr lang="en-US" sz="2400" u="sng" dirty="0"/>
              <a:t>Cash Flows</a:t>
            </a:r>
            <a:r>
              <a:rPr lang="en-US" sz="2400" dirty="0"/>
              <a:t>: All cash flows are estimated for each alternative. </a:t>
            </a:r>
            <a:endParaRPr lang="tr-TR" sz="2400" dirty="0" smtClean="0"/>
          </a:p>
          <a:p>
            <a:pPr algn="just"/>
            <a:r>
              <a:rPr lang="en-US" sz="2400" dirty="0" smtClean="0"/>
              <a:t>Since </a:t>
            </a:r>
            <a:r>
              <a:rPr lang="en-US" sz="2400" dirty="0"/>
              <a:t>these are future expenditures and revenues, the results of step 3 usually prove to be inaccurate when an alternative is actually in place and operating. </a:t>
            </a:r>
            <a:endParaRPr lang="tr-TR" sz="2400" dirty="0" smtClean="0"/>
          </a:p>
          <a:p>
            <a:pPr algn="just"/>
            <a:r>
              <a:rPr lang="en-US" sz="2400" dirty="0" smtClean="0"/>
              <a:t>When </a:t>
            </a:r>
            <a:r>
              <a:rPr lang="en-US" sz="2400" dirty="0"/>
              <a:t>cash flow estimates for specific parameters are expected to vary significantly from a point estimate made now, risk and sensitivity analyses (step 5) are needed to improve the chances of selecting the best alternative. </a:t>
            </a:r>
            <a:endParaRPr lang="tr-TR" sz="2400" dirty="0" smtClean="0"/>
          </a:p>
          <a:p>
            <a:pPr algn="just"/>
            <a:r>
              <a:rPr lang="en-US" sz="2400" dirty="0" smtClean="0"/>
              <a:t>Sizable </a:t>
            </a:r>
            <a:r>
              <a:rPr lang="en-US" sz="2400" dirty="0"/>
              <a:t>variation is usually expected in estimates of revenues, AOC, salvage values, and subcontractor costs.</a:t>
            </a:r>
          </a:p>
          <a:p>
            <a:pPr algn="just"/>
            <a:endParaRPr lang="en-US" sz="2400" dirty="0"/>
          </a:p>
        </p:txBody>
      </p:sp>
    </p:spTree>
    <p:extLst>
      <p:ext uri="{BB962C8B-B14F-4D97-AF65-F5344CB8AC3E}">
        <p14:creationId xmlns:p14="http://schemas.microsoft.com/office/powerpoint/2010/main" val="402160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75038" y="211947"/>
            <a:ext cx="10975827" cy="6552191"/>
          </a:xfrm>
        </p:spPr>
        <p:txBody>
          <a:bodyPr>
            <a:noAutofit/>
          </a:bodyPr>
          <a:lstStyle/>
          <a:p>
            <a:pPr algn="just"/>
            <a:r>
              <a:rPr lang="en-US" sz="2400" u="sng" dirty="0"/>
              <a:t>Selection of the Best Alternative:</a:t>
            </a:r>
            <a:r>
              <a:rPr lang="en-US" sz="2400" dirty="0"/>
              <a:t> The measure of worth is a primary basis for selecting the best economic alternative. For example, if alternative A has a rate of return (ROR) of 15.2% per year and alternative B will result in an ROR of 16.9% per year, B is better economically. </a:t>
            </a:r>
          </a:p>
          <a:p>
            <a:pPr algn="just"/>
            <a:r>
              <a:rPr lang="en-US" sz="2400" dirty="0"/>
              <a:t>However, there can always be noneconomic or intangible factors that must be considered and that may alter the decision. There are many possible noneconomic factors; some typical ones are:</a:t>
            </a:r>
          </a:p>
          <a:p>
            <a:pPr marL="987425" indent="-182563" algn="just">
              <a:buNone/>
            </a:pPr>
            <a:r>
              <a:rPr lang="en-US" sz="2400" dirty="0"/>
              <a:t>• Market pressures, such as need for an increased international presence</a:t>
            </a:r>
          </a:p>
          <a:p>
            <a:pPr marL="987425" indent="-182563" algn="just">
              <a:buNone/>
            </a:pPr>
            <a:r>
              <a:rPr lang="en-US" sz="2400" dirty="0"/>
              <a:t>• Availability of certain resources, e.g., skilled labor force, water, power, tax incentives</a:t>
            </a:r>
          </a:p>
          <a:p>
            <a:pPr marL="987425" indent="-182563" algn="just">
              <a:buNone/>
            </a:pPr>
            <a:r>
              <a:rPr lang="en-US" sz="2400" dirty="0"/>
              <a:t>• Government laws that dictate safety, environmental, legal, or other aspects</a:t>
            </a:r>
          </a:p>
          <a:p>
            <a:pPr marL="987425" indent="-182563" algn="just">
              <a:buNone/>
            </a:pPr>
            <a:r>
              <a:rPr lang="en-US" sz="2400" dirty="0"/>
              <a:t>• Corporate management’s or the board of director’s interest in a particular alternative</a:t>
            </a:r>
          </a:p>
          <a:p>
            <a:pPr marL="987425" indent="-182563" algn="just">
              <a:buNone/>
            </a:pPr>
            <a:r>
              <a:rPr lang="en-US" sz="2400" dirty="0"/>
              <a:t>• Goodwill offered by an alternative toward a group, for example, employees, union, county, etc.</a:t>
            </a:r>
          </a:p>
          <a:p>
            <a:pPr algn="just"/>
            <a:endParaRPr lang="en-US" sz="2400" dirty="0"/>
          </a:p>
        </p:txBody>
      </p:sp>
    </p:spTree>
    <p:extLst>
      <p:ext uri="{BB962C8B-B14F-4D97-AF65-F5344CB8AC3E}">
        <p14:creationId xmlns:p14="http://schemas.microsoft.com/office/powerpoint/2010/main" val="203941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99259" y="408754"/>
            <a:ext cx="11066663" cy="5985991"/>
          </a:xfrm>
        </p:spPr>
        <p:txBody>
          <a:bodyPr>
            <a:normAutofit/>
          </a:bodyPr>
          <a:lstStyle/>
          <a:p>
            <a:r>
              <a:rPr lang="en-US" sz="2400" dirty="0"/>
              <a:t>Whether we are aware of it or not, we use criteria every day to choose between alternatives.</a:t>
            </a:r>
          </a:p>
          <a:p>
            <a:r>
              <a:rPr lang="en-US" sz="2400" dirty="0"/>
              <a:t>For example, when you drive to campus or work, you decide to take the “best” route. </a:t>
            </a:r>
            <a:endParaRPr lang="tr-TR" sz="2400" dirty="0" smtClean="0"/>
          </a:p>
          <a:p>
            <a:r>
              <a:rPr lang="en-US" sz="2400" dirty="0" smtClean="0"/>
              <a:t>But </a:t>
            </a:r>
            <a:r>
              <a:rPr lang="en-US" sz="2400" dirty="0"/>
              <a:t>how did you define best? </a:t>
            </a:r>
            <a:endParaRPr lang="tr-TR" sz="2400" dirty="0" smtClean="0"/>
          </a:p>
          <a:p>
            <a:r>
              <a:rPr lang="en-US" sz="2400" dirty="0" smtClean="0"/>
              <a:t>Was </a:t>
            </a:r>
            <a:r>
              <a:rPr lang="en-US" sz="2400" dirty="0"/>
              <a:t>the best route the safest, shortest, fastest, cheapest, most scenic, or what? </a:t>
            </a:r>
            <a:endParaRPr lang="tr-TR" sz="2400" dirty="0" smtClean="0"/>
          </a:p>
          <a:p>
            <a:r>
              <a:rPr lang="en-US" sz="2400" dirty="0" smtClean="0"/>
              <a:t>Obviously</a:t>
            </a:r>
            <a:r>
              <a:rPr lang="en-US" sz="2400" dirty="0"/>
              <a:t>, depending upon which criterion or combination of criteria is used to identify the best, a different route might be selected each time. </a:t>
            </a:r>
            <a:endParaRPr lang="tr-TR" sz="2400" dirty="0" smtClean="0"/>
          </a:p>
          <a:p>
            <a:r>
              <a:rPr lang="en-US" sz="2400" dirty="0"/>
              <a:t>In economic analysis, money (such as dollars or other currency) is usually used as the common measure for evaluating alternatives</a:t>
            </a:r>
            <a:r>
              <a:rPr lang="en-US" sz="2400" dirty="0" smtClean="0"/>
              <a:t>.</a:t>
            </a:r>
            <a:endParaRPr lang="tr-TR" sz="2400" dirty="0" smtClean="0"/>
          </a:p>
          <a:p>
            <a:r>
              <a:rPr lang="en-US" sz="2400" dirty="0" smtClean="0"/>
              <a:t>Thus</a:t>
            </a:r>
            <a:r>
              <a:rPr lang="en-US" sz="2400" dirty="0"/>
              <a:t>, when there are several ways of accomplishing a stated objective, the alternative with the lowest overall cost or highest overall net income is selected.</a:t>
            </a:r>
          </a:p>
          <a:p>
            <a:endParaRPr lang="en-US" sz="2400" dirty="0"/>
          </a:p>
        </p:txBody>
      </p:sp>
    </p:spTree>
    <p:extLst>
      <p:ext uri="{BB962C8B-B14F-4D97-AF65-F5344CB8AC3E}">
        <p14:creationId xmlns:p14="http://schemas.microsoft.com/office/powerpoint/2010/main" val="227215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17428" y="0"/>
            <a:ext cx="9601200" cy="773607"/>
          </a:xfrm>
        </p:spPr>
        <p:txBody>
          <a:bodyPr/>
          <a:lstStyle/>
          <a:p>
            <a:r>
              <a:rPr lang="en-US" b="1" dirty="0"/>
              <a:t>Financial literacy</a:t>
            </a:r>
            <a:r>
              <a:rPr lang="en-US" dirty="0"/>
              <a:t> </a:t>
            </a:r>
            <a:endParaRPr lang="en-US" dirty="0"/>
          </a:p>
        </p:txBody>
      </p:sp>
      <p:sp>
        <p:nvSpPr>
          <p:cNvPr id="3" name="İçerik Yer Tutucusu 2"/>
          <p:cNvSpPr>
            <a:spLocks noGrp="1"/>
          </p:cNvSpPr>
          <p:nvPr>
            <p:ph idx="1"/>
          </p:nvPr>
        </p:nvSpPr>
        <p:spPr>
          <a:xfrm>
            <a:off x="817511" y="877052"/>
            <a:ext cx="11281636" cy="2532267"/>
          </a:xfrm>
        </p:spPr>
        <p:txBody>
          <a:bodyPr>
            <a:normAutofit/>
          </a:bodyPr>
          <a:lstStyle/>
          <a:p>
            <a:r>
              <a:rPr lang="en-US" sz="2400" dirty="0"/>
              <a:t>To be financially literate is very important as an engineer and as a person. </a:t>
            </a:r>
            <a:endParaRPr lang="tr-TR" sz="2400" dirty="0" smtClean="0"/>
          </a:p>
          <a:p>
            <a:r>
              <a:rPr lang="en-US" sz="2400" dirty="0" smtClean="0"/>
              <a:t>Unfortunately </a:t>
            </a:r>
            <a:r>
              <a:rPr lang="en-US" sz="2400" dirty="0"/>
              <a:t>many people do not have the fundamental understanding of concepts such as financial risk and diversification, inflation, numeracy, and compound interest.</a:t>
            </a:r>
          </a:p>
          <a:p>
            <a:r>
              <a:rPr lang="en-US" sz="2400" b="1" dirty="0" smtClean="0"/>
              <a:t>Financial </a:t>
            </a:r>
            <a:r>
              <a:rPr lang="en-US" sz="2400" b="1" dirty="0"/>
              <a:t>literacy</a:t>
            </a:r>
            <a:r>
              <a:rPr lang="en-US" sz="2400" dirty="0"/>
              <a:t> is the set of skills needed to handle money wisely, invest effectively, and plan for a comfortable future</a:t>
            </a:r>
            <a:r>
              <a:rPr lang="en-US" sz="2400" dirty="0" smtClean="0"/>
              <a:t>.</a:t>
            </a:r>
            <a:endParaRPr lang="en-US" sz="2400" dirty="0"/>
          </a:p>
        </p:txBody>
      </p:sp>
      <p:pic>
        <p:nvPicPr>
          <p:cNvPr id="4" name="Resim 3"/>
          <p:cNvPicPr>
            <a:picLocks noChangeAspect="1"/>
          </p:cNvPicPr>
          <p:nvPr/>
        </p:nvPicPr>
        <p:blipFill>
          <a:blip r:embed="rId2"/>
          <a:stretch>
            <a:fillRect/>
          </a:stretch>
        </p:blipFill>
        <p:spPr>
          <a:xfrm>
            <a:off x="1336889" y="3680968"/>
            <a:ext cx="4446237" cy="2891418"/>
          </a:xfrm>
          <a:prstGeom prst="rect">
            <a:avLst/>
          </a:prstGeom>
        </p:spPr>
      </p:pic>
      <p:sp>
        <p:nvSpPr>
          <p:cNvPr id="5" name="İçerik Yer Tutucusu 2"/>
          <p:cNvSpPr txBox="1">
            <a:spLocks/>
          </p:cNvSpPr>
          <p:nvPr/>
        </p:nvSpPr>
        <p:spPr>
          <a:xfrm>
            <a:off x="6216103" y="3972493"/>
            <a:ext cx="4744586" cy="2391974"/>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dirty="0" smtClean="0"/>
              <a:t>It is the ability to understand and effectively use various financial skills, including personal financial management, budgeting, and investing. </a:t>
            </a:r>
            <a:endParaRPr lang="en-US" sz="2400" dirty="0"/>
          </a:p>
        </p:txBody>
      </p:sp>
    </p:spTree>
    <p:extLst>
      <p:ext uri="{BB962C8B-B14F-4D97-AF65-F5344CB8AC3E}">
        <p14:creationId xmlns:p14="http://schemas.microsoft.com/office/powerpoint/2010/main" val="2159780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887458" y="702450"/>
            <a:ext cx="4036075" cy="5377401"/>
          </a:xfrm>
        </p:spPr>
        <p:txBody>
          <a:bodyPr>
            <a:noAutofit/>
          </a:bodyPr>
          <a:lstStyle/>
          <a:p>
            <a:r>
              <a:rPr lang="en-US" sz="2400" dirty="0"/>
              <a:t>As our latest PISA report on financial literacy </a:t>
            </a:r>
            <a:r>
              <a:rPr lang="en-US" sz="2400" dirty="0" smtClean="0"/>
              <a:t>shows</a:t>
            </a:r>
            <a:r>
              <a:rPr lang="en-US" sz="2400" dirty="0"/>
              <a:t>, </a:t>
            </a:r>
            <a:endParaRPr lang="tr-TR" sz="2400" dirty="0" smtClean="0"/>
          </a:p>
          <a:p>
            <a:r>
              <a:rPr lang="en-US" sz="2400" dirty="0" smtClean="0"/>
              <a:t>more </a:t>
            </a:r>
            <a:r>
              <a:rPr lang="en-US" sz="2400" dirty="0"/>
              <a:t>than two thirds of 15-year-olds are active users of financial products and services. </a:t>
            </a:r>
            <a:endParaRPr lang="tr-TR" sz="2400" dirty="0" smtClean="0"/>
          </a:p>
          <a:p>
            <a:r>
              <a:rPr lang="en-US" sz="2400" dirty="0" smtClean="0"/>
              <a:t>Over </a:t>
            </a:r>
            <a:r>
              <a:rPr lang="en-US" sz="2400" dirty="0"/>
              <a:t>60% have a bank account and/or a payment card, and </a:t>
            </a:r>
            <a:endParaRPr lang="tr-TR" sz="2400" dirty="0" smtClean="0"/>
          </a:p>
          <a:p>
            <a:r>
              <a:rPr lang="en-US" sz="2400" dirty="0" smtClean="0"/>
              <a:t>close </a:t>
            </a:r>
            <a:r>
              <a:rPr lang="en-US" sz="2400" dirty="0"/>
              <a:t>to 90% have bought something online during the last 12 months.</a:t>
            </a:r>
            <a:endParaRPr lang="en-US" sz="2400" dirty="0"/>
          </a:p>
        </p:txBody>
      </p:sp>
      <p:pic>
        <p:nvPicPr>
          <p:cNvPr id="4" name="Resim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4760" y="423894"/>
            <a:ext cx="6924611" cy="5655957"/>
          </a:xfrm>
          <a:prstGeom prst="rect">
            <a:avLst/>
          </a:prstGeom>
          <a:noFill/>
        </p:spPr>
      </p:pic>
    </p:spTree>
    <p:extLst>
      <p:ext uri="{BB962C8B-B14F-4D97-AF65-F5344CB8AC3E}">
        <p14:creationId xmlns:p14="http://schemas.microsoft.com/office/powerpoint/2010/main" val="115583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68981" y="342141"/>
            <a:ext cx="11066664" cy="6385662"/>
          </a:xfrm>
        </p:spPr>
        <p:txBody>
          <a:bodyPr>
            <a:normAutofit/>
          </a:bodyPr>
          <a:lstStyle/>
          <a:p>
            <a:pPr algn="just"/>
            <a:r>
              <a:rPr lang="en-US" sz="2400" dirty="0"/>
              <a:t>However, their levels of financial literacy remain low: one-fifth of students, on average, do not have basic proficiency in financial literacy, meaning that they are not able to apply their knowledge to real life situations involving financial issues and decisions. </a:t>
            </a:r>
            <a:endParaRPr lang="tr-TR" sz="2400" dirty="0" smtClean="0"/>
          </a:p>
          <a:p>
            <a:pPr algn="just"/>
            <a:r>
              <a:rPr lang="en-US" sz="2400" dirty="0" smtClean="0"/>
              <a:t>The </a:t>
            </a:r>
            <a:r>
              <a:rPr lang="en-US" sz="2400" dirty="0"/>
              <a:t>fact is many young people simply do not have the knowledge and skills needed to safely navigate the complexities of digital finance</a:t>
            </a:r>
            <a:r>
              <a:rPr lang="en-US" sz="2400" dirty="0" smtClean="0"/>
              <a:t>.</a:t>
            </a:r>
            <a:endParaRPr lang="tr-TR" sz="2400" dirty="0" smtClean="0"/>
          </a:p>
          <a:p>
            <a:pPr algn="just"/>
            <a:r>
              <a:rPr lang="en-US" sz="2400" dirty="0"/>
              <a:t>Policy makers </a:t>
            </a:r>
            <a:r>
              <a:rPr lang="en-US" sz="2400" dirty="0" err="1" smtClean="0"/>
              <a:t>recogni</a:t>
            </a:r>
            <a:r>
              <a:rPr lang="tr-TR" sz="2400" dirty="0" smtClean="0"/>
              <a:t>z</a:t>
            </a:r>
            <a:r>
              <a:rPr lang="en-US" sz="2400" dirty="0" smtClean="0"/>
              <a:t>e </a:t>
            </a:r>
            <a:r>
              <a:rPr lang="en-US" sz="2400" dirty="0"/>
              <a:t>that young people need to be financially literate to perform common tasks in their day-today lives, such as using a payment card, choosing amongst mobile phone plans or understanding the implications of in-app purchases. </a:t>
            </a:r>
            <a:endParaRPr lang="tr-TR" sz="2400" dirty="0" smtClean="0"/>
          </a:p>
          <a:p>
            <a:pPr algn="just"/>
            <a:r>
              <a:rPr lang="en-US" sz="2400" dirty="0" smtClean="0"/>
              <a:t>Students </a:t>
            </a:r>
            <a:r>
              <a:rPr lang="en-US" sz="2400" dirty="0"/>
              <a:t>also need basic financial skills to make important decisions about their future, such as understanding different options for funding their education or choosing between different career and education paths. </a:t>
            </a:r>
            <a:endParaRPr lang="tr-TR" sz="2400" dirty="0" smtClean="0"/>
          </a:p>
          <a:p>
            <a:pPr algn="just"/>
            <a:r>
              <a:rPr lang="en-US" sz="2400" dirty="0" smtClean="0"/>
              <a:t>As </a:t>
            </a:r>
            <a:r>
              <a:rPr lang="en-US" sz="2400" dirty="0"/>
              <a:t>students become increasingly independent from their families, it is likely that the number and complexity of financial decisions will also increase </a:t>
            </a:r>
          </a:p>
        </p:txBody>
      </p:sp>
    </p:spTree>
    <p:extLst>
      <p:ext uri="{BB962C8B-B14F-4D97-AF65-F5344CB8AC3E}">
        <p14:creationId xmlns:p14="http://schemas.microsoft.com/office/powerpoint/2010/main" val="3058765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400257" y="133224"/>
            <a:ext cx="10075159" cy="6550884"/>
          </a:xfrm>
          <a:prstGeom prst="rect">
            <a:avLst/>
          </a:prstGeom>
        </p:spPr>
      </p:pic>
    </p:spTree>
    <p:extLst>
      <p:ext uri="{BB962C8B-B14F-4D97-AF65-F5344CB8AC3E}">
        <p14:creationId xmlns:p14="http://schemas.microsoft.com/office/powerpoint/2010/main" val="852317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17427" y="195295"/>
            <a:ext cx="9601200" cy="664605"/>
          </a:xfrm>
        </p:spPr>
        <p:txBody>
          <a:bodyPr>
            <a:normAutofit fontScale="90000"/>
          </a:bodyPr>
          <a:lstStyle/>
          <a:p>
            <a:r>
              <a:rPr lang="en-US" b="1" dirty="0"/>
              <a:t>Benefits of Financial Literacy </a:t>
            </a:r>
            <a:endParaRPr lang="en-US" dirty="0"/>
          </a:p>
        </p:txBody>
      </p:sp>
      <p:sp>
        <p:nvSpPr>
          <p:cNvPr id="3" name="İçerik Yer Tutucusu 2"/>
          <p:cNvSpPr>
            <a:spLocks noGrp="1"/>
          </p:cNvSpPr>
          <p:nvPr>
            <p:ph idx="1"/>
          </p:nvPr>
        </p:nvSpPr>
        <p:spPr>
          <a:xfrm>
            <a:off x="917427" y="1056706"/>
            <a:ext cx="11187776" cy="5671098"/>
          </a:xfrm>
        </p:spPr>
        <p:txBody>
          <a:bodyPr>
            <a:normAutofit fontScale="92500" lnSpcReduction="10000"/>
          </a:bodyPr>
          <a:lstStyle/>
          <a:p>
            <a:r>
              <a:rPr lang="en-US" sz="2400" dirty="0"/>
              <a:t>Broadly speaking, the benefit of financial literacy is that it empowers individuals to make </a:t>
            </a:r>
            <a:r>
              <a:rPr lang="en-US" sz="2400" u="sng" dirty="0"/>
              <a:t>smarter decisions </a:t>
            </a:r>
            <a:r>
              <a:rPr lang="en-US" sz="2400" dirty="0"/>
              <a:t>about their finances. In addition:</a:t>
            </a:r>
          </a:p>
          <a:p>
            <a:r>
              <a:rPr lang="en-US" sz="2400" dirty="0" smtClean="0"/>
              <a:t>Financial </a:t>
            </a:r>
            <a:r>
              <a:rPr lang="en-US" sz="2400" dirty="0"/>
              <a:t>literacy can </a:t>
            </a:r>
            <a:r>
              <a:rPr lang="en-US" sz="2400" u="sng" dirty="0"/>
              <a:t>prevent devastating financial mistakes</a:t>
            </a:r>
            <a:r>
              <a:rPr lang="en-US" sz="2400" dirty="0"/>
              <a:t>: Naive financial decisions can have devastating effects. The payments on a floating-rate loan can rise unexpectedly. An early withdrawal from an IRA will cost you at tax time. Financially literate people don't make these mistakes.</a:t>
            </a:r>
          </a:p>
          <a:p>
            <a:r>
              <a:rPr lang="en-US" sz="2400" dirty="0"/>
              <a:t>Financial literacy </a:t>
            </a:r>
            <a:r>
              <a:rPr lang="en-US" sz="2400" u="sng" dirty="0"/>
              <a:t>prepares people for financial emergencies</a:t>
            </a:r>
            <a:r>
              <a:rPr lang="en-US" sz="2400" dirty="0"/>
              <a:t>: Losing a job or having a major unexpected expense is never easy, but the blow is cushioned for those who have an emergency fund.</a:t>
            </a:r>
          </a:p>
          <a:p>
            <a:r>
              <a:rPr lang="en-US" sz="2400" dirty="0"/>
              <a:t>Financial literacy can </a:t>
            </a:r>
            <a:r>
              <a:rPr lang="en-US" sz="2400" u="sng" dirty="0"/>
              <a:t>help individuals reach their goals</a:t>
            </a:r>
            <a:r>
              <a:rPr lang="en-US" sz="2400" dirty="0"/>
              <a:t>: By understanding how to budget and save money, people define their immediate necessities and focus their minds ahead to important financial goals.</a:t>
            </a:r>
          </a:p>
          <a:p>
            <a:r>
              <a:rPr lang="en-US" sz="2400" dirty="0"/>
              <a:t>Financial literacy </a:t>
            </a:r>
            <a:r>
              <a:rPr lang="en-US" sz="2400" u="sng" dirty="0"/>
              <a:t>fosters confidence</a:t>
            </a:r>
            <a:r>
              <a:rPr lang="en-US" sz="2400" dirty="0"/>
              <a:t>: Imagine having to make a life-changing decision without all the necessary information. With knowledge about finances, individuals can approach major life choices with greater confidence. They'll be more likely to achieve the outcome they desire and less likely to be surprised or hurt by unforeseen outcomes.</a:t>
            </a:r>
          </a:p>
          <a:p>
            <a:endParaRPr lang="en-US" sz="2400" dirty="0"/>
          </a:p>
        </p:txBody>
      </p:sp>
    </p:spTree>
    <p:extLst>
      <p:ext uri="{BB962C8B-B14F-4D97-AF65-F5344CB8AC3E}">
        <p14:creationId xmlns:p14="http://schemas.microsoft.com/office/powerpoint/2010/main" val="3631706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44596" y="582854"/>
            <a:ext cx="10146207" cy="434491"/>
          </a:xfrm>
        </p:spPr>
        <p:txBody>
          <a:bodyPr>
            <a:normAutofit fontScale="90000"/>
          </a:bodyPr>
          <a:lstStyle/>
          <a:p>
            <a:r>
              <a:rPr lang="en-US" sz="3600" b="1" dirty="0"/>
              <a:t>What Are Some Popular Personal Budget Rules?</a:t>
            </a:r>
            <a:endParaRPr lang="en-US" sz="3600" dirty="0"/>
          </a:p>
        </p:txBody>
      </p:sp>
      <p:sp>
        <p:nvSpPr>
          <p:cNvPr id="3" name="İçerik Yer Tutucusu 2"/>
          <p:cNvSpPr>
            <a:spLocks noGrp="1"/>
          </p:cNvSpPr>
          <p:nvPr>
            <p:ph idx="1"/>
          </p:nvPr>
        </p:nvSpPr>
        <p:spPr>
          <a:xfrm>
            <a:off x="1044596" y="1347376"/>
            <a:ext cx="10430822" cy="4581083"/>
          </a:xfrm>
        </p:spPr>
        <p:txBody>
          <a:bodyPr>
            <a:normAutofit/>
          </a:bodyPr>
          <a:lstStyle/>
          <a:p>
            <a:pPr algn="just"/>
            <a:r>
              <a:rPr lang="en-US" sz="2400" dirty="0"/>
              <a:t>Two commonly used personal budgeting methods are the 50/20/30 and 70/20/10 rules, and their simplicity is what makes them popular.</a:t>
            </a:r>
          </a:p>
          <a:p>
            <a:pPr algn="just"/>
            <a:endParaRPr lang="en-US" sz="2400" dirty="0"/>
          </a:p>
          <a:p>
            <a:pPr algn="just"/>
            <a:r>
              <a:rPr lang="en-US" sz="2400" dirty="0"/>
              <a:t>The first entails dividing your after-tax pay into three areas: needs (50%), savings (20%), and wants (30%).</a:t>
            </a:r>
          </a:p>
          <a:p>
            <a:pPr algn="just"/>
            <a:endParaRPr lang="en-US" sz="2400" dirty="0"/>
          </a:p>
          <a:p>
            <a:pPr algn="just"/>
            <a:r>
              <a:rPr lang="en-US" sz="2400" dirty="0"/>
              <a:t>The 70/20/10 rule follows a similar blueprint, recommending that your after-tax, take-home income be divided into segments devoted to expenses (70%), savings or reducing debt (20%), and investments and charitable donations (10%).</a:t>
            </a:r>
          </a:p>
          <a:p>
            <a:pPr algn="just"/>
            <a:endParaRPr lang="en-US" sz="2400" dirty="0"/>
          </a:p>
        </p:txBody>
      </p:sp>
    </p:spTree>
    <p:extLst>
      <p:ext uri="{BB962C8B-B14F-4D97-AF65-F5344CB8AC3E}">
        <p14:creationId xmlns:p14="http://schemas.microsoft.com/office/powerpoint/2010/main" val="3012367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1486" y="334573"/>
            <a:ext cx="9147028" cy="652495"/>
          </a:xfrm>
        </p:spPr>
        <p:txBody>
          <a:bodyPr>
            <a:normAutofit fontScale="90000"/>
          </a:bodyPr>
          <a:lstStyle/>
          <a:p>
            <a:r>
              <a:rPr lang="en-US" sz="3200" b="1" dirty="0"/>
              <a:t>What Are the Principles of Financial Literacy?</a:t>
            </a:r>
            <a:r>
              <a:rPr lang="en-US" sz="3200" dirty="0"/>
              <a:t/>
            </a:r>
            <a:br>
              <a:rPr lang="en-US" sz="3200" dirty="0"/>
            </a:br>
            <a:endParaRPr lang="en-US" sz="3200" dirty="0"/>
          </a:p>
        </p:txBody>
      </p:sp>
      <p:sp>
        <p:nvSpPr>
          <p:cNvPr id="3" name="İçerik Yer Tutucusu 2"/>
          <p:cNvSpPr>
            <a:spLocks noGrp="1"/>
          </p:cNvSpPr>
          <p:nvPr>
            <p:ph idx="1"/>
          </p:nvPr>
        </p:nvSpPr>
        <p:spPr>
          <a:xfrm>
            <a:off x="1214153" y="1413990"/>
            <a:ext cx="9601200" cy="3581400"/>
          </a:xfrm>
        </p:spPr>
        <p:txBody>
          <a:bodyPr>
            <a:normAutofit/>
          </a:bodyPr>
          <a:lstStyle/>
          <a:p>
            <a:r>
              <a:rPr lang="en-US" sz="2400" dirty="0"/>
              <a:t>There are five broad principles of financial literacy. </a:t>
            </a:r>
            <a:endParaRPr lang="tr-TR" sz="2400" dirty="0" smtClean="0"/>
          </a:p>
          <a:p>
            <a:r>
              <a:rPr lang="en-US" sz="2400" dirty="0" smtClean="0"/>
              <a:t>financial </a:t>
            </a:r>
            <a:r>
              <a:rPr lang="en-US" sz="2400" dirty="0"/>
              <a:t>literacy is to teach individuals </a:t>
            </a:r>
            <a:r>
              <a:rPr lang="en-US" sz="2400" dirty="0" smtClean="0"/>
              <a:t>about</a:t>
            </a:r>
            <a:r>
              <a:rPr lang="tr-TR" sz="2400" dirty="0" smtClean="0"/>
              <a:t>:</a:t>
            </a:r>
            <a:r>
              <a:rPr lang="en-US" sz="2400" dirty="0" smtClean="0"/>
              <a:t> </a:t>
            </a:r>
            <a:endParaRPr lang="tr-TR" sz="2400" dirty="0" smtClean="0"/>
          </a:p>
          <a:p>
            <a:r>
              <a:rPr lang="en-US" sz="2400" dirty="0" smtClean="0"/>
              <a:t>earning</a:t>
            </a:r>
            <a:r>
              <a:rPr lang="en-US" sz="2400" dirty="0"/>
              <a:t>, </a:t>
            </a:r>
            <a:endParaRPr lang="tr-TR" sz="2400" dirty="0" smtClean="0"/>
          </a:p>
          <a:p>
            <a:r>
              <a:rPr lang="en-US" sz="2400" dirty="0" smtClean="0"/>
              <a:t>spending</a:t>
            </a:r>
            <a:r>
              <a:rPr lang="en-US" sz="2400" dirty="0"/>
              <a:t>, </a:t>
            </a:r>
            <a:endParaRPr lang="tr-TR" sz="2400" dirty="0" smtClean="0"/>
          </a:p>
          <a:p>
            <a:r>
              <a:rPr lang="en-US" sz="2400" dirty="0" smtClean="0"/>
              <a:t>saving</a:t>
            </a:r>
            <a:r>
              <a:rPr lang="en-US" sz="2400" dirty="0"/>
              <a:t>, </a:t>
            </a:r>
            <a:endParaRPr lang="tr-TR" sz="2400" dirty="0" smtClean="0"/>
          </a:p>
          <a:p>
            <a:r>
              <a:rPr lang="en-US" sz="2400" dirty="0" smtClean="0"/>
              <a:t>borrowing</a:t>
            </a:r>
            <a:r>
              <a:rPr lang="en-US" sz="2400" dirty="0"/>
              <a:t>, and </a:t>
            </a:r>
            <a:endParaRPr lang="tr-TR" sz="2400" dirty="0" smtClean="0"/>
          </a:p>
          <a:p>
            <a:r>
              <a:rPr lang="en-US" sz="2400" dirty="0" smtClean="0"/>
              <a:t>protecting </a:t>
            </a:r>
            <a:r>
              <a:rPr lang="en-US" sz="2400" dirty="0"/>
              <a:t>their money.</a:t>
            </a:r>
          </a:p>
          <a:p>
            <a:endParaRPr lang="en-US" sz="2400" dirty="0"/>
          </a:p>
        </p:txBody>
      </p:sp>
    </p:spTree>
    <p:extLst>
      <p:ext uri="{BB962C8B-B14F-4D97-AF65-F5344CB8AC3E}">
        <p14:creationId xmlns:p14="http://schemas.microsoft.com/office/powerpoint/2010/main" val="2945336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47542" y="346684"/>
            <a:ext cx="6688442" cy="616161"/>
          </a:xfrm>
        </p:spPr>
        <p:txBody>
          <a:bodyPr>
            <a:normAutofit/>
          </a:bodyPr>
          <a:lstStyle/>
          <a:p>
            <a:r>
              <a:rPr lang="en-US" sz="3600" b="1" dirty="0"/>
              <a:t>The time value of money</a:t>
            </a:r>
            <a:endParaRPr lang="en-US" sz="3600" dirty="0"/>
          </a:p>
        </p:txBody>
      </p:sp>
      <p:sp>
        <p:nvSpPr>
          <p:cNvPr id="3" name="İçerik Yer Tutucusu 2"/>
          <p:cNvSpPr>
            <a:spLocks noGrp="1"/>
          </p:cNvSpPr>
          <p:nvPr>
            <p:ph idx="1"/>
          </p:nvPr>
        </p:nvSpPr>
        <p:spPr>
          <a:xfrm>
            <a:off x="6213074" y="1581025"/>
            <a:ext cx="5468233" cy="2522168"/>
          </a:xfrm>
        </p:spPr>
        <p:txBody>
          <a:bodyPr>
            <a:normAutofit/>
          </a:bodyPr>
          <a:lstStyle/>
          <a:p>
            <a:pPr algn="just"/>
            <a:r>
              <a:rPr lang="en-US" sz="2400" dirty="0"/>
              <a:t>It is a well-known fact that money makes money. </a:t>
            </a:r>
            <a:endParaRPr lang="tr-TR" sz="2400" dirty="0" smtClean="0"/>
          </a:p>
          <a:p>
            <a:pPr algn="just"/>
            <a:r>
              <a:rPr lang="en-US" sz="2400" dirty="0" smtClean="0"/>
              <a:t>The </a:t>
            </a:r>
            <a:r>
              <a:rPr lang="en-US" sz="2400" dirty="0"/>
              <a:t>time value of money explains the change in the amount of money over time for funds that are owned (invested) or owed (borrowed).</a:t>
            </a:r>
          </a:p>
          <a:p>
            <a:pPr algn="just"/>
            <a:endParaRPr lang="en-US" sz="2400" dirty="0"/>
          </a:p>
        </p:txBody>
      </p:sp>
      <p:pic>
        <p:nvPicPr>
          <p:cNvPr id="4" name="Resim 3"/>
          <p:cNvPicPr>
            <a:picLocks noChangeAspect="1"/>
          </p:cNvPicPr>
          <p:nvPr/>
        </p:nvPicPr>
        <p:blipFill>
          <a:blip r:embed="rId2"/>
          <a:stretch>
            <a:fillRect/>
          </a:stretch>
        </p:blipFill>
        <p:spPr>
          <a:xfrm>
            <a:off x="1260347" y="1553774"/>
            <a:ext cx="4584466" cy="2576670"/>
          </a:xfrm>
          <a:prstGeom prst="rect">
            <a:avLst/>
          </a:prstGeom>
        </p:spPr>
      </p:pic>
      <p:sp>
        <p:nvSpPr>
          <p:cNvPr id="5" name="İçerik Yer Tutucusu 2"/>
          <p:cNvSpPr txBox="1">
            <a:spLocks/>
          </p:cNvSpPr>
          <p:nvPr/>
        </p:nvSpPr>
        <p:spPr>
          <a:xfrm>
            <a:off x="1147542" y="4721373"/>
            <a:ext cx="10457064" cy="138270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a:r>
              <a:rPr lang="en-US" sz="2400" dirty="0" smtClean="0"/>
              <a:t>In general the </a:t>
            </a:r>
            <a:r>
              <a:rPr lang="en-US" sz="2400" dirty="0"/>
              <a:t>time value of money means that </a:t>
            </a:r>
            <a:r>
              <a:rPr lang="en-US" sz="2400" b="1" dirty="0"/>
              <a:t>a sum of money today is worth more than the same sum in the future</a:t>
            </a:r>
            <a:r>
              <a:rPr lang="en-US" sz="2400" dirty="0"/>
              <a:t>, because money today can be invested to earn interest or returns.. </a:t>
            </a:r>
            <a:endParaRPr lang="tr-TR" sz="2400" dirty="0" smtClean="0"/>
          </a:p>
        </p:txBody>
      </p:sp>
    </p:spTree>
    <p:extLst>
      <p:ext uri="{BB962C8B-B14F-4D97-AF65-F5344CB8AC3E}">
        <p14:creationId xmlns:p14="http://schemas.microsoft.com/office/powerpoint/2010/main" val="1268659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02206" y="608591"/>
            <a:ext cx="10884993" cy="3793852"/>
          </a:xfrm>
        </p:spPr>
        <p:txBody>
          <a:bodyPr>
            <a:normAutofit/>
          </a:bodyPr>
          <a:lstStyle/>
          <a:p>
            <a:r>
              <a:rPr lang="en-US" sz="2400" dirty="0" smtClean="0"/>
              <a:t>If </a:t>
            </a:r>
            <a:r>
              <a:rPr lang="en-US" sz="2400" dirty="0"/>
              <a:t>we decide to invest capital (money) in a project today, we inherently expect to have more money in the future than we invested</a:t>
            </a:r>
            <a:r>
              <a:rPr lang="en-US" sz="2400" dirty="0" smtClean="0"/>
              <a:t>.</a:t>
            </a:r>
            <a:endParaRPr lang="tr-TR" sz="2400" dirty="0" smtClean="0"/>
          </a:p>
          <a:p>
            <a:r>
              <a:rPr lang="en-US" sz="2400" dirty="0" smtClean="0"/>
              <a:t>If </a:t>
            </a:r>
            <a:r>
              <a:rPr lang="en-US" sz="2400" dirty="0"/>
              <a:t>we borrow money today, in one form or another, we expect to return the original amount plus some additional amount of money. </a:t>
            </a:r>
            <a:endParaRPr lang="tr-TR" sz="2400" dirty="0" smtClean="0"/>
          </a:p>
          <a:p>
            <a:r>
              <a:rPr lang="en-US" sz="2400" dirty="0" smtClean="0"/>
              <a:t>An </a:t>
            </a:r>
            <a:r>
              <a:rPr lang="en-US" sz="2400" dirty="0"/>
              <a:t>engineering economic analysis can be performed on future estimated amounts or on past cash flows to determine if a specific measure of worth, e.g., rate of return, was achieved.</a:t>
            </a:r>
            <a:endParaRPr lang="en-US" sz="2400" dirty="0"/>
          </a:p>
        </p:txBody>
      </p:sp>
    </p:spTree>
    <p:extLst>
      <p:ext uri="{BB962C8B-B14F-4D97-AF65-F5344CB8AC3E}">
        <p14:creationId xmlns:p14="http://schemas.microsoft.com/office/powerpoint/2010/main" val="6443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371600" y="685800"/>
            <a:ext cx="9601200" cy="767551"/>
          </a:xfrm>
        </p:spPr>
        <p:txBody>
          <a:bodyPr/>
          <a:lstStyle/>
          <a:p>
            <a:r>
              <a:rPr lang="tr-TR" dirty="0" smtClean="0"/>
              <a:t>EXAMPLE</a:t>
            </a:r>
            <a:endParaRPr lang="en-US" dirty="0"/>
          </a:p>
        </p:txBody>
      </p:sp>
      <p:sp>
        <p:nvSpPr>
          <p:cNvPr id="3" name="İçerik Yer Tutucusu 2"/>
          <p:cNvSpPr>
            <a:spLocks noGrp="1"/>
          </p:cNvSpPr>
          <p:nvPr>
            <p:ph idx="1"/>
          </p:nvPr>
        </p:nvSpPr>
        <p:spPr>
          <a:xfrm>
            <a:off x="1329211" y="1771271"/>
            <a:ext cx="9601200" cy="3581400"/>
          </a:xfrm>
        </p:spPr>
        <p:txBody>
          <a:bodyPr>
            <a:normAutofit/>
          </a:bodyPr>
          <a:lstStyle/>
          <a:p>
            <a:r>
              <a:rPr lang="en-US" sz="2400" b="1" dirty="0"/>
              <a:t>Which would you rather have?</a:t>
            </a:r>
            <a:endParaRPr lang="en-US" sz="2400" dirty="0"/>
          </a:p>
          <a:p>
            <a:r>
              <a:rPr lang="en-US" sz="2400" b="1" dirty="0"/>
              <a:t>$100 in your hand right now</a:t>
            </a:r>
            <a:endParaRPr lang="en-US" sz="2400" dirty="0"/>
          </a:p>
          <a:p>
            <a:r>
              <a:rPr lang="en-US" sz="2400" b="1" dirty="0"/>
              <a:t>A guaranteed $100, but only one year from today</a:t>
            </a:r>
            <a:endParaRPr lang="en-US" sz="2400" dirty="0"/>
          </a:p>
          <a:p>
            <a:endParaRPr lang="en-US" sz="2400" dirty="0"/>
          </a:p>
        </p:txBody>
      </p:sp>
    </p:spTree>
    <p:extLst>
      <p:ext uri="{BB962C8B-B14F-4D97-AF65-F5344CB8AC3E}">
        <p14:creationId xmlns:p14="http://schemas.microsoft.com/office/powerpoint/2010/main" val="502582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83875" y="401185"/>
            <a:ext cx="9601200" cy="779662"/>
          </a:xfrm>
        </p:spPr>
        <p:txBody>
          <a:bodyPr/>
          <a:lstStyle/>
          <a:p>
            <a:r>
              <a:rPr lang="en-US" dirty="0"/>
              <a:t>Interest Rate and Rate of Return</a:t>
            </a:r>
            <a:endParaRPr lang="en-US" dirty="0"/>
          </a:p>
        </p:txBody>
      </p:sp>
      <p:sp>
        <p:nvSpPr>
          <p:cNvPr id="3" name="İçerik Yer Tutucusu 2"/>
          <p:cNvSpPr>
            <a:spLocks noGrp="1"/>
          </p:cNvSpPr>
          <p:nvPr>
            <p:ph idx="1"/>
          </p:nvPr>
        </p:nvSpPr>
        <p:spPr>
          <a:xfrm>
            <a:off x="1099097" y="1341321"/>
            <a:ext cx="10515600" cy="4090577"/>
          </a:xfrm>
        </p:spPr>
        <p:txBody>
          <a:bodyPr>
            <a:normAutofit lnSpcReduction="10000"/>
          </a:bodyPr>
          <a:lstStyle/>
          <a:p>
            <a:pPr algn="just"/>
            <a:r>
              <a:rPr lang="en-US" sz="2400" dirty="0"/>
              <a:t>Interest refers to the cost of borrowing money or the reward for lending money. </a:t>
            </a:r>
          </a:p>
          <a:p>
            <a:pPr algn="just"/>
            <a:r>
              <a:rPr lang="en-US" sz="2400" dirty="0"/>
              <a:t>In the financial world, money itself is a commodity, and like other goods that are bought and sold, money costs money</a:t>
            </a:r>
            <a:r>
              <a:rPr lang="en-US" sz="2400" dirty="0" smtClean="0"/>
              <a:t>.</a:t>
            </a:r>
            <a:endParaRPr lang="tr-TR" sz="2400" dirty="0" smtClean="0"/>
          </a:p>
          <a:p>
            <a:pPr algn="just"/>
            <a:r>
              <a:rPr lang="en-US" sz="2400" dirty="0"/>
              <a:t>There are always two perspectives to an amount of interest—interest paid and interest earned. </a:t>
            </a:r>
            <a:endParaRPr lang="tr-TR" sz="2400" dirty="0" smtClean="0"/>
          </a:p>
          <a:p>
            <a:pPr algn="just"/>
            <a:r>
              <a:rPr lang="en-US" sz="2400" dirty="0" smtClean="0"/>
              <a:t>Interest </a:t>
            </a:r>
            <a:r>
              <a:rPr lang="en-US" sz="2400" dirty="0"/>
              <a:t>is paid when a person or organization borrowed money (obtained a loan) and repays a larger amount over time. </a:t>
            </a:r>
            <a:endParaRPr lang="tr-TR" sz="2400" dirty="0" smtClean="0"/>
          </a:p>
          <a:p>
            <a:pPr algn="just"/>
            <a:r>
              <a:rPr lang="en-US" sz="2400" dirty="0" smtClean="0"/>
              <a:t>Interest </a:t>
            </a:r>
            <a:r>
              <a:rPr lang="en-US" sz="2400" dirty="0"/>
              <a:t>is earned when a person or organization saved, invested, or lent money and obtains a return of a larger amount over time.</a:t>
            </a:r>
          </a:p>
          <a:p>
            <a:pPr algn="just"/>
            <a:endParaRPr lang="en-US" sz="2400" dirty="0"/>
          </a:p>
          <a:p>
            <a:pPr algn="just"/>
            <a:endParaRPr lang="en-US" sz="2400" dirty="0"/>
          </a:p>
        </p:txBody>
      </p:sp>
    </p:spTree>
    <p:extLst>
      <p:ext uri="{BB962C8B-B14F-4D97-AF65-F5344CB8AC3E}">
        <p14:creationId xmlns:p14="http://schemas.microsoft.com/office/powerpoint/2010/main" val="2527568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99261" y="245254"/>
            <a:ext cx="11095932" cy="2231499"/>
          </a:xfrm>
        </p:spPr>
        <p:txBody>
          <a:bodyPr>
            <a:normAutofit/>
          </a:bodyPr>
          <a:lstStyle/>
          <a:p>
            <a:r>
              <a:rPr lang="en-US" sz="2400" b="1" dirty="0"/>
              <a:t>Interest</a:t>
            </a:r>
            <a:r>
              <a:rPr lang="en-US" sz="2400" dirty="0"/>
              <a:t> paid on borrowed funds (a loan) is determined using the original amount, also called the principal</a:t>
            </a:r>
            <a:r>
              <a:rPr lang="en-US" sz="2400" dirty="0" smtClean="0"/>
              <a:t>,</a:t>
            </a:r>
          </a:p>
          <a:p>
            <a:pPr marL="0" indent="0">
              <a:buNone/>
            </a:pPr>
            <a:r>
              <a:rPr lang="en-US" sz="2400" dirty="0" smtClean="0"/>
              <a:t>                                     Interest = amount owed now − principal </a:t>
            </a:r>
          </a:p>
          <a:p>
            <a:r>
              <a:rPr lang="en-US" sz="2400" dirty="0" smtClean="0"/>
              <a:t>When </a:t>
            </a:r>
            <a:r>
              <a:rPr lang="en-US" sz="2400" dirty="0"/>
              <a:t>interest paid over a specific time unit is expressed as a percentage of the principal, the result is called the </a:t>
            </a:r>
            <a:r>
              <a:rPr lang="en-US" sz="2400" b="1" dirty="0"/>
              <a:t>interest rate</a:t>
            </a:r>
            <a:r>
              <a:rPr lang="en-US" sz="2400" dirty="0"/>
              <a:t>.</a:t>
            </a:r>
          </a:p>
          <a:p>
            <a:endParaRPr lang="en-US" sz="2400" dirty="0"/>
          </a:p>
        </p:txBody>
      </p:sp>
      <p:pic>
        <p:nvPicPr>
          <p:cNvPr id="7" name="Resim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8068" y="2768685"/>
            <a:ext cx="5753265" cy="852582"/>
          </a:xfrm>
          <a:prstGeom prst="rect">
            <a:avLst/>
          </a:prstGeom>
          <a:noFill/>
          <a:ln>
            <a:noFill/>
          </a:ln>
        </p:spPr>
      </p:pic>
      <p:sp>
        <p:nvSpPr>
          <p:cNvPr id="8" name="İçerik Yer Tutucusu 2"/>
          <p:cNvSpPr txBox="1">
            <a:spLocks/>
          </p:cNvSpPr>
          <p:nvPr/>
        </p:nvSpPr>
        <p:spPr>
          <a:xfrm>
            <a:off x="856872" y="3913199"/>
            <a:ext cx="11138321" cy="2475489"/>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dirty="0"/>
              <a:t>The time unit of the rate is called the interest period. </a:t>
            </a:r>
            <a:endParaRPr lang="tr-TR" sz="2400" dirty="0" smtClean="0"/>
          </a:p>
          <a:p>
            <a:r>
              <a:rPr lang="en-US" sz="2400" dirty="0" smtClean="0"/>
              <a:t>By </a:t>
            </a:r>
            <a:r>
              <a:rPr lang="en-US" sz="2400" dirty="0"/>
              <a:t>far the most common interest period used to state an interest rate is 1 </a:t>
            </a:r>
            <a:r>
              <a:rPr lang="en-US" sz="2400" dirty="0" smtClean="0"/>
              <a:t>year.</a:t>
            </a:r>
            <a:endParaRPr lang="tr-TR" sz="2400" dirty="0" smtClean="0"/>
          </a:p>
          <a:p>
            <a:r>
              <a:rPr lang="en-US" sz="2400" dirty="0" smtClean="0"/>
              <a:t>Shorter </a:t>
            </a:r>
            <a:r>
              <a:rPr lang="en-US" sz="2400" dirty="0"/>
              <a:t>time periods can be used, such as 1% per month. </a:t>
            </a:r>
            <a:endParaRPr lang="tr-TR" sz="2400" dirty="0" smtClean="0"/>
          </a:p>
          <a:p>
            <a:r>
              <a:rPr lang="en-US" sz="2400" dirty="0" smtClean="0"/>
              <a:t>Thus</a:t>
            </a:r>
            <a:r>
              <a:rPr lang="en-US" sz="2400" dirty="0"/>
              <a:t>, the interest period of the interest rate should always be included. If only the rate is stated, for example, 8.5%, a 1-year interest period is assumed.</a:t>
            </a:r>
          </a:p>
        </p:txBody>
      </p:sp>
    </p:spTree>
    <p:extLst>
      <p:ext uri="{BB962C8B-B14F-4D97-AF65-F5344CB8AC3E}">
        <p14:creationId xmlns:p14="http://schemas.microsoft.com/office/powerpoint/2010/main" val="1186338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17264" y="316407"/>
            <a:ext cx="9601200" cy="737273"/>
          </a:xfrm>
        </p:spPr>
        <p:txBody>
          <a:bodyPr/>
          <a:lstStyle/>
          <a:p>
            <a:r>
              <a:rPr lang="tr-TR" dirty="0" smtClean="0"/>
              <a:t>EXAMPLE</a:t>
            </a:r>
            <a:endParaRPr lang="en-US" dirty="0"/>
          </a:p>
        </p:txBody>
      </p:sp>
      <p:sp>
        <p:nvSpPr>
          <p:cNvPr id="3" name="İçerik Yer Tutucusu 2"/>
          <p:cNvSpPr>
            <a:spLocks noGrp="1"/>
          </p:cNvSpPr>
          <p:nvPr>
            <p:ph idx="1"/>
          </p:nvPr>
        </p:nvSpPr>
        <p:spPr>
          <a:xfrm>
            <a:off x="1117263" y="1274710"/>
            <a:ext cx="10854715" cy="1256543"/>
          </a:xfrm>
        </p:spPr>
        <p:txBody>
          <a:bodyPr>
            <a:normAutofit/>
          </a:bodyPr>
          <a:lstStyle/>
          <a:p>
            <a:r>
              <a:rPr lang="en-US" sz="2400" dirty="0"/>
              <a:t>An employee at LaserKinetics.com borrows $10,000 on May 1 and must repay a total of $10,700 exactly 1 year later. Determine the interest amount and the interest rate paid.</a:t>
            </a:r>
          </a:p>
          <a:p>
            <a:endParaRPr lang="en-US" sz="2400" dirty="0"/>
          </a:p>
        </p:txBody>
      </p:sp>
      <p:pic>
        <p:nvPicPr>
          <p:cNvPr id="6" name="Resim 5"/>
          <p:cNvPicPr>
            <a:picLocks noChangeAspect="1"/>
          </p:cNvPicPr>
          <p:nvPr/>
        </p:nvPicPr>
        <p:blipFill>
          <a:blip r:embed="rId2"/>
          <a:stretch>
            <a:fillRect/>
          </a:stretch>
        </p:blipFill>
        <p:spPr>
          <a:xfrm>
            <a:off x="1535311" y="2706163"/>
            <a:ext cx="8141584" cy="3408795"/>
          </a:xfrm>
          <a:prstGeom prst="rect">
            <a:avLst/>
          </a:prstGeom>
        </p:spPr>
      </p:pic>
    </p:spTree>
    <p:extLst>
      <p:ext uri="{BB962C8B-B14F-4D97-AF65-F5344CB8AC3E}">
        <p14:creationId xmlns:p14="http://schemas.microsoft.com/office/powerpoint/2010/main" val="1490765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90094" y="177126"/>
            <a:ext cx="9722313" cy="828107"/>
          </a:xfrm>
        </p:spPr>
        <p:txBody>
          <a:bodyPr>
            <a:normAutofit/>
          </a:bodyPr>
          <a:lstStyle/>
          <a:p>
            <a:r>
              <a:rPr lang="tr-TR" dirty="0" smtClean="0"/>
              <a:t>EXAMPLE</a:t>
            </a:r>
            <a:endParaRPr lang="en-US" dirty="0"/>
          </a:p>
        </p:txBody>
      </p:sp>
      <p:sp>
        <p:nvSpPr>
          <p:cNvPr id="3" name="İçerik Yer Tutucusu 2"/>
          <p:cNvSpPr>
            <a:spLocks noGrp="1"/>
          </p:cNvSpPr>
          <p:nvPr>
            <p:ph idx="1"/>
          </p:nvPr>
        </p:nvSpPr>
        <p:spPr>
          <a:xfrm>
            <a:off x="990094" y="947706"/>
            <a:ext cx="11051522" cy="5483372"/>
          </a:xfrm>
        </p:spPr>
        <p:txBody>
          <a:bodyPr>
            <a:normAutofit/>
          </a:bodyPr>
          <a:lstStyle/>
          <a:p>
            <a:r>
              <a:rPr lang="en-US" sz="2400" dirty="0"/>
              <a:t>Stereophonics, Inc. plans to borrow $20,000 from a bank for 1 year at 9% interest for new recording equipment. </a:t>
            </a:r>
            <a:endParaRPr lang="tr-TR" sz="2400" dirty="0" smtClean="0"/>
          </a:p>
          <a:p>
            <a:pPr marL="0" indent="0">
              <a:buNone/>
            </a:pPr>
            <a:r>
              <a:rPr lang="tr-TR" sz="2400" dirty="0" smtClean="0"/>
              <a:t>     </a:t>
            </a:r>
            <a:r>
              <a:rPr lang="en-US" sz="2400" dirty="0" smtClean="0"/>
              <a:t>(</a:t>
            </a:r>
            <a:r>
              <a:rPr lang="en-US" sz="2400" dirty="0"/>
              <a:t>a) Compute the interest and the total amount due after 1 year. </a:t>
            </a:r>
            <a:endParaRPr lang="tr-TR" sz="2400" dirty="0" smtClean="0"/>
          </a:p>
          <a:p>
            <a:pPr marL="538163" indent="-538163">
              <a:buNone/>
            </a:pPr>
            <a:r>
              <a:rPr lang="tr-TR" sz="2400" dirty="0" smtClean="0"/>
              <a:t>     </a:t>
            </a:r>
            <a:r>
              <a:rPr lang="en-US" sz="2400" dirty="0" smtClean="0"/>
              <a:t>(</a:t>
            </a:r>
            <a:r>
              <a:rPr lang="en-US" sz="2400" dirty="0"/>
              <a:t>b) Construct a column graph that shows the original loan amount and total amount due after 1 year used to compute the loan interest rate of 9% per year</a:t>
            </a:r>
            <a:r>
              <a:rPr lang="en-US" sz="2400" dirty="0" smtClean="0"/>
              <a:t>.</a:t>
            </a:r>
            <a:endParaRPr lang="tr-TR" sz="2400" dirty="0" smtClean="0"/>
          </a:p>
          <a:p>
            <a:pPr marL="0" indent="0">
              <a:buNone/>
            </a:pPr>
            <a:r>
              <a:rPr lang="en-US" sz="2400" b="1" dirty="0"/>
              <a:t>Solution</a:t>
            </a:r>
          </a:p>
          <a:p>
            <a:pPr marL="0" indent="0">
              <a:buNone/>
            </a:pPr>
            <a:r>
              <a:rPr lang="en-US" sz="2400" dirty="0"/>
              <a:t>(a) Compute the total interest accrued by solving Equation for interest accrued.</a:t>
            </a:r>
          </a:p>
          <a:p>
            <a:pPr marL="0" indent="0">
              <a:buNone/>
            </a:pPr>
            <a:r>
              <a:rPr lang="en-US" sz="2400" dirty="0"/>
              <a:t>                   Interest = $20,000(0.09) = $1800</a:t>
            </a:r>
          </a:p>
          <a:p>
            <a:pPr marL="0" indent="0">
              <a:buNone/>
            </a:pPr>
            <a:r>
              <a:rPr lang="tr-TR" sz="2400" dirty="0" smtClean="0"/>
              <a:t>      </a:t>
            </a:r>
            <a:r>
              <a:rPr lang="en-US" sz="2400" dirty="0" smtClean="0"/>
              <a:t>The </a:t>
            </a:r>
            <a:r>
              <a:rPr lang="en-US" sz="2400" dirty="0"/>
              <a:t>total amount due is the sum of principal and interest.</a:t>
            </a:r>
          </a:p>
          <a:p>
            <a:pPr marL="0" indent="0">
              <a:buNone/>
            </a:pPr>
            <a:r>
              <a:rPr lang="en-US" sz="2400" dirty="0"/>
              <a:t>                  Total due = $20,000 + 1800 = $21,800</a:t>
            </a:r>
          </a:p>
          <a:p>
            <a:endParaRPr lang="en-US" sz="2400" dirty="0"/>
          </a:p>
          <a:p>
            <a:endParaRPr lang="en-US" sz="2400" dirty="0"/>
          </a:p>
        </p:txBody>
      </p:sp>
    </p:spTree>
    <p:extLst>
      <p:ext uri="{BB962C8B-B14F-4D97-AF65-F5344CB8AC3E}">
        <p14:creationId xmlns:p14="http://schemas.microsoft.com/office/powerpoint/2010/main" val="2449412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53760" y="190753"/>
            <a:ext cx="10691213" cy="566201"/>
          </a:xfrm>
        </p:spPr>
        <p:txBody>
          <a:bodyPr>
            <a:normAutofit/>
          </a:bodyPr>
          <a:lstStyle/>
          <a:p>
            <a:pPr marL="0" indent="0">
              <a:buNone/>
            </a:pPr>
            <a:r>
              <a:rPr lang="tr-TR" sz="2400" dirty="0" smtClean="0"/>
              <a:t>  </a:t>
            </a:r>
            <a:r>
              <a:rPr lang="en-US" sz="2400" dirty="0" smtClean="0"/>
              <a:t>(</a:t>
            </a:r>
            <a:r>
              <a:rPr lang="en-US" sz="2400" dirty="0"/>
              <a:t>b) </a:t>
            </a:r>
            <a:r>
              <a:rPr lang="en-US" sz="2400" dirty="0" smtClean="0"/>
              <a:t>$</a:t>
            </a:r>
            <a:r>
              <a:rPr lang="en-US" sz="2400" dirty="0"/>
              <a:t>1800 interest, $20,000 original loan principal, 1-year interest period.</a:t>
            </a:r>
          </a:p>
          <a:p>
            <a:endParaRPr lang="en-US" sz="2400" dirty="0"/>
          </a:p>
        </p:txBody>
      </p:sp>
      <p:pic>
        <p:nvPicPr>
          <p:cNvPr id="4" name="Resim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9826" y="756954"/>
            <a:ext cx="6140407" cy="4644667"/>
          </a:xfrm>
          <a:prstGeom prst="rect">
            <a:avLst/>
          </a:prstGeom>
          <a:noFill/>
          <a:ln>
            <a:noFill/>
          </a:ln>
        </p:spPr>
      </p:pic>
      <p:sp>
        <p:nvSpPr>
          <p:cNvPr id="5" name="İçerik Yer Tutucusu 2"/>
          <p:cNvSpPr txBox="1">
            <a:spLocks/>
          </p:cNvSpPr>
          <p:nvPr/>
        </p:nvSpPr>
        <p:spPr>
          <a:xfrm>
            <a:off x="844758" y="5571179"/>
            <a:ext cx="11139332" cy="1097079"/>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dirty="0" smtClean="0"/>
              <a:t>(</a:t>
            </a:r>
            <a:r>
              <a:rPr lang="en-US" sz="2400" dirty="0"/>
              <a:t>Note that in part (a), the total amount due may also be computed as</a:t>
            </a:r>
          </a:p>
          <a:p>
            <a:pPr marL="0" indent="0">
              <a:buNone/>
            </a:pPr>
            <a:r>
              <a:rPr lang="en-US" sz="2400" dirty="0"/>
              <a:t>              Total due = principal(1 + interest rate) = $20,000(1.09) = $</a:t>
            </a:r>
            <a:r>
              <a:rPr lang="en-US" sz="2400" dirty="0" smtClean="0"/>
              <a:t>21,800</a:t>
            </a:r>
          </a:p>
          <a:p>
            <a:endParaRPr lang="en-US" sz="2400" dirty="0"/>
          </a:p>
        </p:txBody>
      </p:sp>
    </p:spTree>
    <p:extLst>
      <p:ext uri="{BB962C8B-B14F-4D97-AF65-F5344CB8AC3E}">
        <p14:creationId xmlns:p14="http://schemas.microsoft.com/office/powerpoint/2010/main" val="3254771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62927" y="75697"/>
            <a:ext cx="11000050" cy="2225444"/>
          </a:xfrm>
        </p:spPr>
        <p:txBody>
          <a:bodyPr>
            <a:normAutofit/>
          </a:bodyPr>
          <a:lstStyle/>
          <a:p>
            <a:r>
              <a:rPr lang="en-US" sz="2400" dirty="0"/>
              <a:t>From the perspective of a saver, a lender, or an investor, interest earned is the final amount minus the initial amount, or principal.</a:t>
            </a:r>
          </a:p>
          <a:p>
            <a:pPr marL="0" indent="0">
              <a:buNone/>
            </a:pPr>
            <a:r>
              <a:rPr lang="en-US" sz="2400" dirty="0"/>
              <a:t>     </a:t>
            </a:r>
            <a:r>
              <a:rPr lang="en-US" sz="2400" dirty="0" smtClean="0"/>
              <a:t>        </a:t>
            </a:r>
            <a:r>
              <a:rPr lang="en-US" sz="2400" dirty="0"/>
              <a:t>Interest earned = total amount now − principal </a:t>
            </a:r>
          </a:p>
          <a:p>
            <a:r>
              <a:rPr lang="en-US" sz="2400" dirty="0"/>
              <a:t>Interest earned over a specific period of time is expressed as a percentage of the original amount and is called </a:t>
            </a:r>
            <a:r>
              <a:rPr lang="en-US" sz="2400" b="1" dirty="0"/>
              <a:t>rate of return (ROR).</a:t>
            </a:r>
            <a:endParaRPr lang="en-US" sz="2400" dirty="0"/>
          </a:p>
          <a:p>
            <a:endParaRPr lang="en-US" sz="2400" dirty="0"/>
          </a:p>
        </p:txBody>
      </p:sp>
      <p:pic>
        <p:nvPicPr>
          <p:cNvPr id="4" name="Resim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3706" y="2369695"/>
            <a:ext cx="6134352" cy="1100181"/>
          </a:xfrm>
          <a:prstGeom prst="rect">
            <a:avLst/>
          </a:prstGeom>
          <a:noFill/>
          <a:ln>
            <a:noFill/>
          </a:ln>
        </p:spPr>
      </p:pic>
      <p:sp>
        <p:nvSpPr>
          <p:cNvPr id="5" name="İçerik Yer Tutucusu 2"/>
          <p:cNvSpPr txBox="1">
            <a:spLocks/>
          </p:cNvSpPr>
          <p:nvPr/>
        </p:nvSpPr>
        <p:spPr>
          <a:xfrm>
            <a:off x="862926" y="3683764"/>
            <a:ext cx="11187776" cy="294715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dirty="0"/>
              <a:t>The time unit for rate of return is called the interest period, just as for the borrower’s perspective. Again, the most common period is 1 year.</a:t>
            </a:r>
          </a:p>
          <a:p>
            <a:r>
              <a:rPr lang="en-US" sz="2400" dirty="0"/>
              <a:t>The term return on investment (ROI) is used equivalently with ROR in different industries and settings, especially where large capital funds are committed to engineering-oriented programs</a:t>
            </a:r>
            <a:r>
              <a:rPr lang="en-US" sz="2400" dirty="0" smtClean="0"/>
              <a:t>.</a:t>
            </a:r>
            <a:endParaRPr lang="tr-TR" sz="2400" dirty="0" smtClean="0"/>
          </a:p>
          <a:p>
            <a:r>
              <a:rPr lang="en-US" sz="2400" dirty="0"/>
              <a:t>The term </a:t>
            </a:r>
            <a:r>
              <a:rPr lang="en-US" sz="2400" i="1" dirty="0"/>
              <a:t>interest rate paid</a:t>
            </a:r>
            <a:r>
              <a:rPr lang="en-US" sz="2400" dirty="0"/>
              <a:t> is more appropriate for the borrower’s perspective, while the term </a:t>
            </a:r>
            <a:r>
              <a:rPr lang="en-US" sz="2400" i="1" dirty="0"/>
              <a:t>rate of return earned</a:t>
            </a:r>
            <a:r>
              <a:rPr lang="en-US" sz="2400" dirty="0"/>
              <a:t> applies for the investor’s perspective.</a:t>
            </a:r>
          </a:p>
          <a:p>
            <a:endParaRPr lang="en-US" sz="2400" dirty="0"/>
          </a:p>
        </p:txBody>
      </p:sp>
    </p:spTree>
    <p:extLst>
      <p:ext uri="{BB962C8B-B14F-4D97-AF65-F5344CB8AC3E}">
        <p14:creationId xmlns:p14="http://schemas.microsoft.com/office/powerpoint/2010/main" val="3282424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41651" y="97493"/>
            <a:ext cx="9601200" cy="713050"/>
          </a:xfrm>
        </p:spPr>
        <p:txBody>
          <a:bodyPr/>
          <a:lstStyle/>
          <a:p>
            <a:r>
              <a:rPr lang="tr-TR" dirty="0" smtClean="0"/>
              <a:t>EXAMPLE</a:t>
            </a:r>
            <a:endParaRPr lang="en-US" dirty="0"/>
          </a:p>
        </p:txBody>
      </p:sp>
      <p:sp>
        <p:nvSpPr>
          <p:cNvPr id="3" name="İçerik Yer Tutucusu 2"/>
          <p:cNvSpPr>
            <a:spLocks noGrp="1"/>
          </p:cNvSpPr>
          <p:nvPr>
            <p:ph idx="1"/>
          </p:nvPr>
        </p:nvSpPr>
        <p:spPr>
          <a:xfrm>
            <a:off x="893204" y="816142"/>
            <a:ext cx="11123183" cy="1380227"/>
          </a:xfrm>
        </p:spPr>
        <p:txBody>
          <a:bodyPr>
            <a:normAutofit/>
          </a:bodyPr>
          <a:lstStyle/>
          <a:p>
            <a:r>
              <a:rPr lang="en-US" sz="2400" dirty="0"/>
              <a:t>(a) Calculate the amount deposited 1 year ago to have $1000 now at an interest rate of 5% per year.</a:t>
            </a:r>
          </a:p>
          <a:p>
            <a:r>
              <a:rPr lang="en-US" sz="2400" dirty="0"/>
              <a:t>(b) Calculate the amount of interest earned during this time period.</a:t>
            </a:r>
          </a:p>
          <a:p>
            <a:endParaRPr lang="en-US" sz="2400" dirty="0"/>
          </a:p>
        </p:txBody>
      </p:sp>
      <p:pic>
        <p:nvPicPr>
          <p:cNvPr id="4" name="Resim 3"/>
          <p:cNvPicPr>
            <a:picLocks noChangeAspect="1"/>
          </p:cNvPicPr>
          <p:nvPr/>
        </p:nvPicPr>
        <p:blipFill>
          <a:blip r:embed="rId2"/>
          <a:stretch>
            <a:fillRect/>
          </a:stretch>
        </p:blipFill>
        <p:spPr>
          <a:xfrm>
            <a:off x="1527069" y="2215448"/>
            <a:ext cx="9585012" cy="4563829"/>
          </a:xfrm>
          <a:prstGeom prst="rect">
            <a:avLst/>
          </a:prstGeom>
        </p:spPr>
      </p:pic>
    </p:spTree>
    <p:extLst>
      <p:ext uri="{BB962C8B-B14F-4D97-AF65-F5344CB8AC3E}">
        <p14:creationId xmlns:p14="http://schemas.microsoft.com/office/powerpoint/2010/main" val="1508404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32485" y="455686"/>
            <a:ext cx="9601200" cy="713050"/>
          </a:xfrm>
        </p:spPr>
        <p:txBody>
          <a:bodyPr/>
          <a:lstStyle/>
          <a:p>
            <a:r>
              <a:rPr lang="tr-TR" dirty="0" smtClean="0"/>
              <a:t>S</a:t>
            </a:r>
            <a:r>
              <a:rPr lang="en-US" dirty="0" err="1" smtClean="0"/>
              <a:t>imple</a:t>
            </a:r>
            <a:r>
              <a:rPr lang="en-US" dirty="0" smtClean="0"/>
              <a:t> </a:t>
            </a:r>
            <a:r>
              <a:rPr lang="en-US" dirty="0"/>
              <a:t>interest </a:t>
            </a:r>
            <a:r>
              <a:rPr lang="en-US" dirty="0" smtClean="0"/>
              <a:t>and</a:t>
            </a:r>
            <a:r>
              <a:rPr lang="tr-TR" dirty="0" smtClean="0"/>
              <a:t> C</a:t>
            </a:r>
            <a:r>
              <a:rPr lang="en-US" dirty="0" err="1" smtClean="0"/>
              <a:t>ompound</a:t>
            </a:r>
            <a:r>
              <a:rPr lang="en-US" dirty="0" smtClean="0"/>
              <a:t> </a:t>
            </a:r>
            <a:r>
              <a:rPr lang="en-US" dirty="0"/>
              <a:t>interest</a:t>
            </a:r>
            <a:endParaRPr lang="en-US" dirty="0"/>
          </a:p>
        </p:txBody>
      </p:sp>
      <p:sp>
        <p:nvSpPr>
          <p:cNvPr id="3" name="İçerik Yer Tutucusu 2"/>
          <p:cNvSpPr>
            <a:spLocks noGrp="1"/>
          </p:cNvSpPr>
          <p:nvPr>
            <p:ph idx="1"/>
          </p:nvPr>
        </p:nvSpPr>
        <p:spPr>
          <a:xfrm>
            <a:off x="990096" y="1480600"/>
            <a:ext cx="10939493" cy="4690085"/>
          </a:xfrm>
        </p:spPr>
        <p:txBody>
          <a:bodyPr>
            <a:normAutofit/>
          </a:bodyPr>
          <a:lstStyle/>
          <a:p>
            <a:r>
              <a:rPr lang="en-US" sz="2400" dirty="0"/>
              <a:t>In these examples and the interest amount was calculated at the end of one period. </a:t>
            </a:r>
            <a:endParaRPr lang="tr-TR" sz="2400" dirty="0" smtClean="0"/>
          </a:p>
          <a:p>
            <a:r>
              <a:rPr lang="en-US" sz="2400" dirty="0" smtClean="0"/>
              <a:t>When </a:t>
            </a:r>
            <a:r>
              <a:rPr lang="en-US" sz="2400" dirty="0"/>
              <a:t>more than one interest period is involved, e.g., the amount of interest after 3 years, it is necessary to state whether the interest is accrued on a simple or compound basis from one period to the next. </a:t>
            </a:r>
            <a:endParaRPr lang="tr-TR" sz="2400" dirty="0" smtClean="0"/>
          </a:p>
          <a:p>
            <a:endParaRPr lang="tr-TR" sz="2400" dirty="0" smtClean="0"/>
          </a:p>
          <a:p>
            <a:r>
              <a:rPr lang="en-US" sz="2400" b="1" u="sng" dirty="0"/>
              <a:t>Simple interest </a:t>
            </a:r>
            <a:r>
              <a:rPr lang="en-US" sz="2400" dirty="0"/>
              <a:t>is calculated using the principal only, ignoring </a:t>
            </a:r>
            <a:r>
              <a:rPr lang="en-US" sz="2400" dirty="0" smtClean="0"/>
              <a:t>any</a:t>
            </a:r>
            <a:r>
              <a:rPr lang="tr-TR" sz="2400" dirty="0" smtClean="0"/>
              <a:t> </a:t>
            </a:r>
            <a:r>
              <a:rPr lang="en-US" sz="2400" dirty="0" smtClean="0"/>
              <a:t>interest </a:t>
            </a:r>
            <a:r>
              <a:rPr lang="en-US" sz="2400" dirty="0"/>
              <a:t>accrued in preceding interest periods</a:t>
            </a:r>
            <a:r>
              <a:rPr lang="en-US" sz="2400" dirty="0" smtClean="0"/>
              <a:t>.</a:t>
            </a:r>
            <a:endParaRPr lang="tr-TR" sz="2400" dirty="0" smtClean="0"/>
          </a:p>
          <a:p>
            <a:endParaRPr lang="en-US" sz="900" dirty="0"/>
          </a:p>
          <a:p>
            <a:pPr marL="0" indent="0">
              <a:buNone/>
            </a:pPr>
            <a:r>
              <a:rPr lang="tr-TR" sz="2400" b="1" dirty="0" smtClean="0"/>
              <a:t>                    </a:t>
            </a:r>
            <a:r>
              <a:rPr lang="en-US" sz="2400" b="1" dirty="0" smtClean="0"/>
              <a:t> </a:t>
            </a:r>
            <a:r>
              <a:rPr lang="en-US" sz="2400" dirty="0"/>
              <a:t>Interest = (Principal)(# of periods)(interest rate)</a:t>
            </a:r>
            <a:endParaRPr lang="en-US" sz="2400" dirty="0"/>
          </a:p>
        </p:txBody>
      </p:sp>
    </p:spTree>
    <p:extLst>
      <p:ext uri="{BB962C8B-B14F-4D97-AF65-F5344CB8AC3E}">
        <p14:creationId xmlns:p14="http://schemas.microsoft.com/office/powerpoint/2010/main" val="2448366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841733" y="668189"/>
            <a:ext cx="11229154" cy="5029785"/>
          </a:xfrm>
          <a:prstGeom prst="rect">
            <a:avLst/>
          </a:prstGeom>
        </p:spPr>
      </p:pic>
    </p:spTree>
    <p:extLst>
      <p:ext uri="{BB962C8B-B14F-4D97-AF65-F5344CB8AC3E}">
        <p14:creationId xmlns:p14="http://schemas.microsoft.com/office/powerpoint/2010/main" val="4057253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101122" y="1434316"/>
            <a:ext cx="10261256" cy="3367797"/>
          </a:xfrm>
          <a:prstGeom prst="rect">
            <a:avLst/>
          </a:prstGeom>
        </p:spPr>
      </p:pic>
    </p:spTree>
    <p:extLst>
      <p:ext uri="{BB962C8B-B14F-4D97-AF65-F5344CB8AC3E}">
        <p14:creationId xmlns:p14="http://schemas.microsoft.com/office/powerpoint/2010/main" val="2523728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23482" y="511700"/>
            <a:ext cx="10800216" cy="3963410"/>
          </a:xfrm>
        </p:spPr>
        <p:txBody>
          <a:bodyPr>
            <a:normAutofit/>
          </a:bodyPr>
          <a:lstStyle/>
          <a:p>
            <a:r>
              <a:rPr lang="en-US" sz="2400" dirty="0"/>
              <a:t>For </a:t>
            </a:r>
            <a:r>
              <a:rPr lang="en-US" sz="2400" b="1" u="sng" dirty="0"/>
              <a:t>Compound interest rate</a:t>
            </a:r>
            <a:r>
              <a:rPr lang="en-US" sz="2400" dirty="0"/>
              <a:t>, the interest is accrued on </a:t>
            </a:r>
            <a:r>
              <a:rPr lang="en-US" sz="2400" dirty="0" smtClean="0"/>
              <a:t>the</a:t>
            </a:r>
            <a:r>
              <a:rPr lang="tr-TR" sz="2400" dirty="0" smtClean="0"/>
              <a:t> </a:t>
            </a:r>
            <a:r>
              <a:rPr lang="en-US" sz="2400" dirty="0" smtClean="0"/>
              <a:t>principal </a:t>
            </a:r>
            <a:r>
              <a:rPr lang="en-US" sz="2400" dirty="0"/>
              <a:t>plus the total amount of interest accumulated in </a:t>
            </a:r>
            <a:r>
              <a:rPr lang="en-US" sz="2400" dirty="0" smtClean="0"/>
              <a:t>all</a:t>
            </a:r>
            <a:r>
              <a:rPr lang="tr-TR" sz="2400" dirty="0" smtClean="0"/>
              <a:t> </a:t>
            </a:r>
            <a:r>
              <a:rPr lang="en-US" sz="2400" dirty="0" smtClean="0"/>
              <a:t>previous </a:t>
            </a:r>
            <a:r>
              <a:rPr lang="en-US" sz="2400" dirty="0"/>
              <a:t>periods</a:t>
            </a:r>
            <a:r>
              <a:rPr lang="en-US" sz="2400" dirty="0" smtClean="0"/>
              <a:t>.</a:t>
            </a:r>
            <a:endParaRPr lang="tr-TR" sz="2400" dirty="0" smtClean="0"/>
          </a:p>
          <a:p>
            <a:endParaRPr lang="en-US" sz="2400" dirty="0"/>
          </a:p>
          <a:p>
            <a:pPr marL="0" indent="0">
              <a:buNone/>
            </a:pPr>
            <a:r>
              <a:rPr lang="tr-TR" sz="2400" dirty="0" smtClean="0"/>
              <a:t>              </a:t>
            </a:r>
            <a:r>
              <a:rPr lang="en-US" sz="2400" dirty="0" smtClean="0"/>
              <a:t>Interest </a:t>
            </a:r>
            <a:r>
              <a:rPr lang="en-US" sz="2400" dirty="0"/>
              <a:t>= (</a:t>
            </a:r>
            <a:r>
              <a:rPr lang="en-US" sz="2400" dirty="0" err="1"/>
              <a:t>principal+all</a:t>
            </a:r>
            <a:r>
              <a:rPr lang="en-US" sz="2400" dirty="0"/>
              <a:t> accumulated interest)(interest rate</a:t>
            </a:r>
            <a:r>
              <a:rPr lang="en-US" sz="2400" dirty="0" smtClean="0"/>
              <a:t>)</a:t>
            </a:r>
            <a:endParaRPr lang="tr-TR" sz="2400" dirty="0" smtClean="0"/>
          </a:p>
          <a:p>
            <a:pPr marL="0" indent="0">
              <a:buNone/>
            </a:pPr>
            <a:endParaRPr lang="en-US" sz="2400" dirty="0"/>
          </a:p>
          <a:p>
            <a:r>
              <a:rPr lang="en-US" sz="2400" dirty="0"/>
              <a:t>Therefore, compound interest means interest on top of </a:t>
            </a:r>
            <a:r>
              <a:rPr lang="en-US" sz="2400" dirty="0" smtClean="0"/>
              <a:t>interest</a:t>
            </a:r>
            <a:r>
              <a:rPr lang="tr-TR" sz="2400" dirty="0" smtClean="0"/>
              <a:t> </a:t>
            </a:r>
            <a:r>
              <a:rPr lang="en-US" sz="2400" dirty="0" smtClean="0"/>
              <a:t>(interest </a:t>
            </a:r>
            <a:r>
              <a:rPr lang="en-US" sz="2400" dirty="0"/>
              <a:t>earned earns interest)</a:t>
            </a:r>
            <a:endParaRPr lang="en-US" sz="2400" dirty="0"/>
          </a:p>
        </p:txBody>
      </p:sp>
    </p:spTree>
    <p:extLst>
      <p:ext uri="{BB962C8B-B14F-4D97-AF65-F5344CB8AC3E}">
        <p14:creationId xmlns:p14="http://schemas.microsoft.com/office/powerpoint/2010/main" val="3889844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041568" y="127168"/>
            <a:ext cx="9493588" cy="6603599"/>
          </a:xfrm>
          <a:prstGeom prst="rect">
            <a:avLst/>
          </a:prstGeom>
        </p:spPr>
      </p:pic>
    </p:spTree>
    <p:extLst>
      <p:ext uri="{BB962C8B-B14F-4D97-AF65-F5344CB8AC3E}">
        <p14:creationId xmlns:p14="http://schemas.microsoft.com/office/powerpoint/2010/main" val="846307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123795" y="426922"/>
            <a:ext cx="10085651" cy="1341322"/>
          </a:xfrm>
        </p:spPr>
        <p:txBody>
          <a:bodyPr>
            <a:normAutofit/>
          </a:bodyPr>
          <a:lstStyle/>
          <a:p>
            <a:r>
              <a:rPr lang="en-US" sz="2800" dirty="0"/>
              <a:t>Therefore, in general the formula form:</a:t>
            </a:r>
          </a:p>
          <a:p>
            <a:pPr marL="0" indent="0">
              <a:buNone/>
            </a:pPr>
            <a:r>
              <a:rPr lang="tr-TR" sz="2800" b="1" dirty="0" smtClean="0"/>
              <a:t>             </a:t>
            </a:r>
            <a:r>
              <a:rPr lang="en-US" sz="2800" b="1" dirty="0" smtClean="0"/>
              <a:t>Total </a:t>
            </a:r>
            <a:r>
              <a:rPr lang="en-US" sz="2800" b="1" dirty="0"/>
              <a:t>due</a:t>
            </a:r>
            <a:r>
              <a:rPr lang="en-US" sz="2800" dirty="0"/>
              <a:t>= </a:t>
            </a:r>
            <a:r>
              <a:rPr lang="en-US" sz="2800" b="1" dirty="0" smtClean="0"/>
              <a:t>Principal</a:t>
            </a:r>
            <a:r>
              <a:rPr lang="tr-TR" sz="2800" b="1" dirty="0" smtClean="0"/>
              <a:t> </a:t>
            </a:r>
            <a:r>
              <a:rPr lang="en-US" sz="2800" dirty="0" smtClean="0"/>
              <a:t>(</a:t>
            </a:r>
            <a:r>
              <a:rPr lang="en-US" sz="2800" b="1" dirty="0" smtClean="0"/>
              <a:t>1</a:t>
            </a:r>
            <a:r>
              <a:rPr lang="tr-TR" sz="2800" b="1" dirty="0" smtClean="0"/>
              <a:t> </a:t>
            </a:r>
            <a:r>
              <a:rPr lang="en-US" sz="2800" b="1" dirty="0" smtClean="0"/>
              <a:t>+</a:t>
            </a:r>
            <a:r>
              <a:rPr lang="tr-TR" sz="2800" b="1" dirty="0" smtClean="0"/>
              <a:t> </a:t>
            </a:r>
            <a:r>
              <a:rPr lang="en-US" sz="2800" b="1" dirty="0" smtClean="0"/>
              <a:t>interest </a:t>
            </a:r>
            <a:r>
              <a:rPr lang="en-US" sz="2800" b="1" dirty="0"/>
              <a:t>rate</a:t>
            </a:r>
            <a:r>
              <a:rPr lang="en-US" sz="2800" dirty="0" smtClean="0"/>
              <a:t>)</a:t>
            </a:r>
            <a:r>
              <a:rPr lang="tr-TR" sz="2800" dirty="0" smtClean="0"/>
              <a:t> </a:t>
            </a:r>
            <a:r>
              <a:rPr lang="en-US" sz="2800" b="1" baseline="30000" dirty="0" smtClean="0"/>
              <a:t>number </a:t>
            </a:r>
            <a:r>
              <a:rPr lang="en-US" sz="2800" b="1" baseline="30000" dirty="0"/>
              <a:t>of </a:t>
            </a:r>
            <a:r>
              <a:rPr lang="en-US" sz="2800" b="1" baseline="30000" dirty="0" smtClean="0"/>
              <a:t>years</a:t>
            </a:r>
            <a:endParaRPr lang="tr-TR" sz="2800" b="1" baseline="30000" dirty="0" smtClean="0"/>
          </a:p>
          <a:p>
            <a:endParaRPr lang="en-US" sz="2800" baseline="30000" dirty="0"/>
          </a:p>
        </p:txBody>
      </p:sp>
      <p:pic>
        <p:nvPicPr>
          <p:cNvPr id="4" name="Resim 3"/>
          <p:cNvPicPr>
            <a:picLocks noChangeAspect="1"/>
          </p:cNvPicPr>
          <p:nvPr/>
        </p:nvPicPr>
        <p:blipFill>
          <a:blip r:embed="rId2"/>
          <a:stretch>
            <a:fillRect/>
          </a:stretch>
        </p:blipFill>
        <p:spPr>
          <a:xfrm>
            <a:off x="1035217" y="2136722"/>
            <a:ext cx="10262806" cy="3918908"/>
          </a:xfrm>
          <a:prstGeom prst="rect">
            <a:avLst/>
          </a:prstGeom>
        </p:spPr>
      </p:pic>
    </p:spTree>
    <p:extLst>
      <p:ext uri="{BB962C8B-B14F-4D97-AF65-F5344CB8AC3E}">
        <p14:creationId xmlns:p14="http://schemas.microsoft.com/office/powerpoint/2010/main" val="3665023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113172" y="1457860"/>
            <a:ext cx="10212871" cy="3992208"/>
          </a:xfrm>
          <a:prstGeom prst="rect">
            <a:avLst/>
          </a:prstGeom>
        </p:spPr>
      </p:pic>
      <p:sp>
        <p:nvSpPr>
          <p:cNvPr id="5" name="Metin kutusu 4"/>
          <p:cNvSpPr txBox="1"/>
          <p:nvPr/>
        </p:nvSpPr>
        <p:spPr>
          <a:xfrm>
            <a:off x="1113172" y="411783"/>
            <a:ext cx="4747613" cy="830997"/>
          </a:xfrm>
          <a:prstGeom prst="rect">
            <a:avLst/>
          </a:prstGeom>
          <a:noFill/>
        </p:spPr>
        <p:txBody>
          <a:bodyPr wrap="square" rtlCol="0">
            <a:spAutoFit/>
          </a:bodyPr>
          <a:lstStyle/>
          <a:p>
            <a:r>
              <a:rPr lang="tr-TR" sz="2400" dirty="0" smtClean="0"/>
              <a:t>1) </a:t>
            </a:r>
            <a:r>
              <a:rPr lang="en-US" sz="2400" dirty="0" smtClean="0"/>
              <a:t>Simple </a:t>
            </a:r>
            <a:r>
              <a:rPr lang="en-US" sz="2400" dirty="0"/>
              <a:t>interest, pay all at end</a:t>
            </a:r>
          </a:p>
          <a:p>
            <a:endParaRPr lang="en-US" sz="2400" dirty="0"/>
          </a:p>
        </p:txBody>
      </p:sp>
    </p:spTree>
    <p:extLst>
      <p:ext uri="{BB962C8B-B14F-4D97-AF65-F5344CB8AC3E}">
        <p14:creationId xmlns:p14="http://schemas.microsoft.com/office/powerpoint/2010/main" val="77796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944678" y="1271200"/>
            <a:ext cx="10787094" cy="4332658"/>
          </a:xfrm>
          <a:prstGeom prst="rect">
            <a:avLst/>
          </a:prstGeom>
        </p:spPr>
      </p:pic>
      <p:sp>
        <p:nvSpPr>
          <p:cNvPr id="5" name="Metin kutusu 4"/>
          <p:cNvSpPr txBox="1"/>
          <p:nvPr/>
        </p:nvSpPr>
        <p:spPr>
          <a:xfrm>
            <a:off x="944678" y="442061"/>
            <a:ext cx="4969630" cy="461665"/>
          </a:xfrm>
          <a:prstGeom prst="rect">
            <a:avLst/>
          </a:prstGeom>
          <a:noFill/>
        </p:spPr>
        <p:txBody>
          <a:bodyPr wrap="none" rtlCol="0">
            <a:spAutoFit/>
          </a:bodyPr>
          <a:lstStyle/>
          <a:p>
            <a:r>
              <a:rPr lang="en-US" sz="2400" b="1" dirty="0" smtClean="0"/>
              <a:t>2</a:t>
            </a:r>
            <a:r>
              <a:rPr lang="tr-TR" sz="2400" b="1" dirty="0" smtClean="0"/>
              <a:t>)</a:t>
            </a:r>
            <a:r>
              <a:rPr lang="en-US" sz="2400" b="1" dirty="0" smtClean="0"/>
              <a:t> </a:t>
            </a:r>
            <a:r>
              <a:rPr lang="en-US" sz="2400" dirty="0"/>
              <a:t>Compound interest, pay all at </a:t>
            </a:r>
            <a:r>
              <a:rPr lang="en-US" sz="2400" dirty="0" smtClean="0"/>
              <a:t>end</a:t>
            </a:r>
            <a:endParaRPr lang="en-US" sz="2400" dirty="0"/>
          </a:p>
        </p:txBody>
      </p:sp>
    </p:spTree>
    <p:extLst>
      <p:ext uri="{BB962C8B-B14F-4D97-AF65-F5344CB8AC3E}">
        <p14:creationId xmlns:p14="http://schemas.microsoft.com/office/powerpoint/2010/main" val="112730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030625" y="1451894"/>
            <a:ext cx="10689036" cy="4252509"/>
          </a:xfrm>
          <a:prstGeom prst="rect">
            <a:avLst/>
          </a:prstGeom>
        </p:spPr>
      </p:pic>
      <p:sp>
        <p:nvSpPr>
          <p:cNvPr id="5" name="Metin kutusu 4"/>
          <p:cNvSpPr txBox="1"/>
          <p:nvPr/>
        </p:nvSpPr>
        <p:spPr>
          <a:xfrm>
            <a:off x="1030625" y="514729"/>
            <a:ext cx="7217617" cy="830997"/>
          </a:xfrm>
          <a:prstGeom prst="rect">
            <a:avLst/>
          </a:prstGeom>
          <a:noFill/>
        </p:spPr>
        <p:txBody>
          <a:bodyPr wrap="none" rtlCol="0">
            <a:spAutoFit/>
          </a:bodyPr>
          <a:lstStyle/>
          <a:p>
            <a:r>
              <a:rPr lang="en-US" sz="2400" b="1" dirty="0" smtClean="0"/>
              <a:t>3</a:t>
            </a:r>
            <a:r>
              <a:rPr lang="tr-TR" sz="2400" b="1" dirty="0" smtClean="0"/>
              <a:t>)</a:t>
            </a:r>
            <a:r>
              <a:rPr lang="en-US" sz="2400" b="1" dirty="0" smtClean="0"/>
              <a:t> </a:t>
            </a:r>
            <a:r>
              <a:rPr lang="en-US" sz="2400" dirty="0"/>
              <a:t>Simple interest paid annually, principal paid at end</a:t>
            </a:r>
          </a:p>
          <a:p>
            <a:endParaRPr lang="en-US" sz="2400" dirty="0"/>
          </a:p>
        </p:txBody>
      </p:sp>
    </p:spTree>
    <p:extLst>
      <p:ext uri="{BB962C8B-B14F-4D97-AF65-F5344CB8AC3E}">
        <p14:creationId xmlns:p14="http://schemas.microsoft.com/office/powerpoint/2010/main" val="10427532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048799" y="1511857"/>
            <a:ext cx="10804086" cy="4234935"/>
          </a:xfrm>
          <a:prstGeom prst="rect">
            <a:avLst/>
          </a:prstGeom>
        </p:spPr>
      </p:pic>
      <p:sp>
        <p:nvSpPr>
          <p:cNvPr id="5" name="Metin kutusu 4"/>
          <p:cNvSpPr txBox="1"/>
          <p:nvPr/>
        </p:nvSpPr>
        <p:spPr>
          <a:xfrm>
            <a:off x="1048799" y="514729"/>
            <a:ext cx="9457269" cy="830997"/>
          </a:xfrm>
          <a:prstGeom prst="rect">
            <a:avLst/>
          </a:prstGeom>
          <a:noFill/>
        </p:spPr>
        <p:txBody>
          <a:bodyPr wrap="none" rtlCol="0">
            <a:spAutoFit/>
          </a:bodyPr>
          <a:lstStyle/>
          <a:p>
            <a:r>
              <a:rPr lang="en-US" sz="2400" b="1" dirty="0" smtClean="0"/>
              <a:t>4</a:t>
            </a:r>
            <a:r>
              <a:rPr lang="tr-TR" sz="2400" b="1" dirty="0" smtClean="0"/>
              <a:t>)</a:t>
            </a:r>
            <a:r>
              <a:rPr lang="en-US" sz="2400" b="1" dirty="0" smtClean="0"/>
              <a:t> </a:t>
            </a:r>
            <a:r>
              <a:rPr lang="en-US" sz="2400" dirty="0"/>
              <a:t>Compound interest and portion of principal ($1,000) repaid annually</a:t>
            </a:r>
          </a:p>
          <a:p>
            <a:endParaRPr lang="en-US" sz="2400" dirty="0"/>
          </a:p>
        </p:txBody>
      </p:sp>
    </p:spTree>
    <p:extLst>
      <p:ext uri="{BB962C8B-B14F-4D97-AF65-F5344CB8AC3E}">
        <p14:creationId xmlns:p14="http://schemas.microsoft.com/office/powerpoint/2010/main" val="3569740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2649" y="98404"/>
            <a:ext cx="9601200" cy="731217"/>
          </a:xfrm>
        </p:spPr>
        <p:txBody>
          <a:bodyPr>
            <a:normAutofit/>
          </a:bodyPr>
          <a:lstStyle/>
          <a:p>
            <a:r>
              <a:rPr lang="en-US" sz="4000" b="1" dirty="0"/>
              <a:t>Terminology and Symbols</a:t>
            </a:r>
            <a:endParaRPr lang="en-US" sz="4000" dirty="0"/>
          </a:p>
        </p:txBody>
      </p:sp>
      <p:sp>
        <p:nvSpPr>
          <p:cNvPr id="3" name="İçerik Yer Tutucusu 2"/>
          <p:cNvSpPr>
            <a:spLocks noGrp="1"/>
          </p:cNvSpPr>
          <p:nvPr>
            <p:ph idx="1"/>
          </p:nvPr>
        </p:nvSpPr>
        <p:spPr>
          <a:xfrm>
            <a:off x="832649" y="908344"/>
            <a:ext cx="10987940" cy="5831571"/>
          </a:xfrm>
        </p:spPr>
        <p:txBody>
          <a:bodyPr>
            <a:normAutofit fontScale="92500" lnSpcReduction="10000"/>
          </a:bodyPr>
          <a:lstStyle/>
          <a:p>
            <a:r>
              <a:rPr lang="en-US" sz="2400" i="1" dirty="0">
                <a:solidFill>
                  <a:srgbClr val="FF0000"/>
                </a:solidFill>
              </a:rPr>
              <a:t>P</a:t>
            </a:r>
            <a:r>
              <a:rPr lang="en-US" sz="2400" dirty="0">
                <a:solidFill>
                  <a:srgbClr val="FF0000"/>
                </a:solidFill>
              </a:rPr>
              <a:t>:</a:t>
            </a:r>
            <a:r>
              <a:rPr lang="en-US" sz="2400" dirty="0"/>
              <a:t> value or amount of money at present or time 0.</a:t>
            </a:r>
          </a:p>
          <a:p>
            <a:pPr marL="714375" indent="-84138"/>
            <a:r>
              <a:rPr lang="tr-TR" sz="2400" dirty="0" smtClean="0"/>
              <a:t> </a:t>
            </a:r>
            <a:r>
              <a:rPr lang="en-US" sz="2400" dirty="0" smtClean="0"/>
              <a:t>Present </a:t>
            </a:r>
            <a:r>
              <a:rPr lang="en-US" sz="2400" dirty="0"/>
              <a:t>Worth (PW)</a:t>
            </a:r>
          </a:p>
          <a:p>
            <a:pPr marL="714375" indent="-84138"/>
            <a:r>
              <a:rPr lang="tr-TR" sz="2400" dirty="0" smtClean="0"/>
              <a:t> </a:t>
            </a:r>
            <a:r>
              <a:rPr lang="en-US" sz="2400" dirty="0" smtClean="0"/>
              <a:t>Present </a:t>
            </a:r>
            <a:r>
              <a:rPr lang="en-US" sz="2400" dirty="0"/>
              <a:t>Value (PV)</a:t>
            </a:r>
          </a:p>
          <a:p>
            <a:pPr marL="714375" indent="-84138"/>
            <a:r>
              <a:rPr lang="tr-TR" sz="2400" dirty="0" smtClean="0"/>
              <a:t> </a:t>
            </a:r>
            <a:r>
              <a:rPr lang="en-US" sz="2400" dirty="0" smtClean="0"/>
              <a:t>Net </a:t>
            </a:r>
            <a:r>
              <a:rPr lang="en-US" sz="2400" dirty="0"/>
              <a:t>Present Value (NPV)</a:t>
            </a:r>
          </a:p>
          <a:p>
            <a:r>
              <a:rPr lang="en-US" sz="2400" i="1" dirty="0">
                <a:solidFill>
                  <a:srgbClr val="FF0000"/>
                </a:solidFill>
              </a:rPr>
              <a:t>F</a:t>
            </a:r>
            <a:r>
              <a:rPr lang="en-US" sz="2400" dirty="0">
                <a:solidFill>
                  <a:srgbClr val="FF0000"/>
                </a:solidFill>
              </a:rPr>
              <a:t>:</a:t>
            </a:r>
            <a:r>
              <a:rPr lang="en-US" sz="2400" dirty="0"/>
              <a:t> value or amount of money at some future time.</a:t>
            </a:r>
          </a:p>
          <a:p>
            <a:pPr marL="630238" indent="0"/>
            <a:r>
              <a:rPr lang="tr-TR" sz="2400" dirty="0" smtClean="0"/>
              <a:t> </a:t>
            </a:r>
            <a:r>
              <a:rPr lang="en-US" sz="2400" dirty="0" smtClean="0"/>
              <a:t>Future </a:t>
            </a:r>
            <a:r>
              <a:rPr lang="en-US" sz="2400" dirty="0"/>
              <a:t>Worth (FW)</a:t>
            </a:r>
          </a:p>
          <a:p>
            <a:pPr marL="630238" indent="0"/>
            <a:r>
              <a:rPr lang="tr-TR" sz="2400" dirty="0" smtClean="0"/>
              <a:t> </a:t>
            </a:r>
            <a:r>
              <a:rPr lang="en-US" sz="2400" dirty="0" smtClean="0"/>
              <a:t>Future </a:t>
            </a:r>
            <a:r>
              <a:rPr lang="en-US" sz="2400" dirty="0"/>
              <a:t>Value (FV)</a:t>
            </a:r>
          </a:p>
          <a:p>
            <a:r>
              <a:rPr lang="en-US" sz="2400" i="1" dirty="0">
                <a:solidFill>
                  <a:srgbClr val="FF0000"/>
                </a:solidFill>
              </a:rPr>
              <a:t>A</a:t>
            </a:r>
            <a:r>
              <a:rPr lang="en-US" sz="2400" dirty="0">
                <a:solidFill>
                  <a:srgbClr val="FF0000"/>
                </a:solidFill>
              </a:rPr>
              <a:t>:</a:t>
            </a:r>
            <a:r>
              <a:rPr lang="en-US" sz="2400" dirty="0"/>
              <a:t> series of consecutive, equal, end-of-period amounts of money.</a:t>
            </a:r>
          </a:p>
          <a:p>
            <a:r>
              <a:rPr lang="en-US" sz="2400" i="1" dirty="0">
                <a:solidFill>
                  <a:srgbClr val="FF0000"/>
                </a:solidFill>
              </a:rPr>
              <a:t>n</a:t>
            </a:r>
            <a:r>
              <a:rPr lang="en-US" sz="2400" dirty="0">
                <a:solidFill>
                  <a:srgbClr val="FF0000"/>
                </a:solidFill>
              </a:rPr>
              <a:t>:</a:t>
            </a:r>
            <a:r>
              <a:rPr lang="en-US" sz="2400" dirty="0"/>
              <a:t> number of interest periods</a:t>
            </a:r>
          </a:p>
          <a:p>
            <a:r>
              <a:rPr lang="en-US" sz="2400" i="1" dirty="0">
                <a:solidFill>
                  <a:srgbClr val="FF0000"/>
                </a:solidFill>
              </a:rPr>
              <a:t>i</a:t>
            </a:r>
            <a:r>
              <a:rPr lang="en-US" sz="2400" dirty="0">
                <a:solidFill>
                  <a:srgbClr val="FF0000"/>
                </a:solidFill>
              </a:rPr>
              <a:t>:</a:t>
            </a:r>
            <a:r>
              <a:rPr lang="en-US" sz="2400" dirty="0"/>
              <a:t> interest rate or rate of return per time period</a:t>
            </a:r>
          </a:p>
          <a:p>
            <a:pPr marL="630238" indent="-92075"/>
            <a:r>
              <a:rPr lang="tr-TR" sz="2400" dirty="0" smtClean="0"/>
              <a:t> </a:t>
            </a:r>
            <a:r>
              <a:rPr lang="en-US" sz="2400" dirty="0" smtClean="0"/>
              <a:t>compound </a:t>
            </a:r>
            <a:r>
              <a:rPr lang="en-US" sz="2400" dirty="0"/>
              <a:t>unless otherwise stated</a:t>
            </a:r>
          </a:p>
          <a:p>
            <a:pPr marL="630238" indent="-92075"/>
            <a:r>
              <a:rPr lang="tr-TR" sz="2400" dirty="0" smtClean="0"/>
              <a:t> </a:t>
            </a:r>
            <a:r>
              <a:rPr lang="en-US" sz="2400" dirty="0" smtClean="0"/>
              <a:t>expressed </a:t>
            </a:r>
            <a:r>
              <a:rPr lang="en-US" sz="2400" dirty="0"/>
              <a:t>as percent per interest period</a:t>
            </a:r>
          </a:p>
          <a:p>
            <a:r>
              <a:rPr lang="en-US" sz="2400" i="1" dirty="0">
                <a:solidFill>
                  <a:srgbClr val="FF0000"/>
                </a:solidFill>
              </a:rPr>
              <a:t>t</a:t>
            </a:r>
            <a:r>
              <a:rPr lang="en-US" sz="2400" dirty="0">
                <a:solidFill>
                  <a:srgbClr val="FF0000"/>
                </a:solidFill>
              </a:rPr>
              <a:t>:</a:t>
            </a:r>
            <a:r>
              <a:rPr lang="en-US" sz="2400" dirty="0"/>
              <a:t> time stated in periods</a:t>
            </a:r>
          </a:p>
          <a:p>
            <a:pPr marL="0" indent="0">
              <a:buNone/>
            </a:pPr>
            <a:endParaRPr lang="en-US" sz="2400" dirty="0"/>
          </a:p>
        </p:txBody>
      </p:sp>
    </p:spTree>
    <p:extLst>
      <p:ext uri="{BB962C8B-B14F-4D97-AF65-F5344CB8AC3E}">
        <p14:creationId xmlns:p14="http://schemas.microsoft.com/office/powerpoint/2010/main" val="1117862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38541" y="286128"/>
            <a:ext cx="9601200" cy="622216"/>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929538" y="1202041"/>
            <a:ext cx="10957662" cy="5440984"/>
          </a:xfrm>
        </p:spPr>
        <p:txBody>
          <a:bodyPr>
            <a:normAutofit/>
          </a:bodyPr>
          <a:lstStyle/>
          <a:p>
            <a:r>
              <a:rPr lang="en-US" dirty="0"/>
              <a:t>Today, Julie borrowed $5000 to purchase furniture for her new house. She can repay the </a:t>
            </a:r>
            <a:r>
              <a:rPr lang="en-US" dirty="0" smtClean="0"/>
              <a:t>loan</a:t>
            </a:r>
            <a:r>
              <a:rPr lang="tr-TR" dirty="0" smtClean="0"/>
              <a:t> </a:t>
            </a:r>
            <a:r>
              <a:rPr lang="en-US" dirty="0" smtClean="0"/>
              <a:t>in </a:t>
            </a:r>
            <a:r>
              <a:rPr lang="en-US" dirty="0"/>
              <a:t>either of the two ways described below. Determine the engineering economy symbols </a:t>
            </a:r>
            <a:r>
              <a:rPr lang="en-US" dirty="0" smtClean="0"/>
              <a:t>and</a:t>
            </a:r>
            <a:r>
              <a:rPr lang="tr-TR" dirty="0" smtClean="0"/>
              <a:t> </a:t>
            </a:r>
            <a:r>
              <a:rPr lang="en-US" dirty="0" smtClean="0"/>
              <a:t>their </a:t>
            </a:r>
            <a:r>
              <a:rPr lang="en-US" dirty="0"/>
              <a:t>value for each option.</a:t>
            </a:r>
          </a:p>
          <a:p>
            <a:pPr marL="0" indent="357188">
              <a:buNone/>
            </a:pPr>
            <a:r>
              <a:rPr lang="en-US" dirty="0"/>
              <a:t>(</a:t>
            </a:r>
            <a:r>
              <a:rPr lang="en-US" i="1" dirty="0"/>
              <a:t>a</a:t>
            </a:r>
            <a:r>
              <a:rPr lang="en-US" dirty="0"/>
              <a:t>) Five equal annual installments with interest determined at 5% per year.</a:t>
            </a:r>
          </a:p>
          <a:p>
            <a:pPr marL="0" indent="357188">
              <a:buNone/>
            </a:pPr>
            <a:r>
              <a:rPr lang="en-US" dirty="0"/>
              <a:t>(</a:t>
            </a:r>
            <a:r>
              <a:rPr lang="en-US" i="1" dirty="0"/>
              <a:t>b</a:t>
            </a:r>
            <a:r>
              <a:rPr lang="en-US" dirty="0"/>
              <a:t>) One payment 3 years from now with interest determined at 7% per year</a:t>
            </a:r>
            <a:r>
              <a:rPr lang="en-US" dirty="0" smtClean="0"/>
              <a:t>.</a:t>
            </a:r>
            <a:endParaRPr lang="tr-TR" dirty="0" smtClean="0"/>
          </a:p>
          <a:p>
            <a:pPr marL="0" indent="0">
              <a:buNone/>
            </a:pPr>
            <a:endParaRPr lang="tr-TR" b="1" dirty="0" smtClean="0"/>
          </a:p>
          <a:p>
            <a:pPr marL="0" indent="0">
              <a:buNone/>
            </a:pPr>
            <a:r>
              <a:rPr lang="en-US" b="1" dirty="0" smtClean="0"/>
              <a:t>Solution</a:t>
            </a:r>
            <a:endParaRPr lang="en-US" b="1" dirty="0"/>
          </a:p>
          <a:p>
            <a:r>
              <a:rPr lang="en-US" dirty="0"/>
              <a:t>(</a:t>
            </a:r>
            <a:r>
              <a:rPr lang="en-US" i="1" dirty="0"/>
              <a:t>a</a:t>
            </a:r>
            <a:r>
              <a:rPr lang="en-US" dirty="0"/>
              <a:t>) The repayment schedule requires an equivalent annual amount </a:t>
            </a:r>
            <a:r>
              <a:rPr lang="en-US" i="1" dirty="0"/>
              <a:t>A</a:t>
            </a:r>
            <a:r>
              <a:rPr lang="en-US" dirty="0"/>
              <a:t>, which is unknown.</a:t>
            </a:r>
          </a:p>
          <a:p>
            <a:pPr marL="0" indent="0">
              <a:buNone/>
            </a:pPr>
            <a:r>
              <a:rPr lang="tr-TR" i="1" dirty="0" smtClean="0"/>
              <a:t>                          </a:t>
            </a:r>
            <a:r>
              <a:rPr lang="en-US" i="1" dirty="0" smtClean="0"/>
              <a:t>P </a:t>
            </a:r>
            <a:r>
              <a:rPr lang="en-US" dirty="0"/>
              <a:t>= $</a:t>
            </a:r>
            <a:r>
              <a:rPr lang="en-US" dirty="0" smtClean="0"/>
              <a:t>5000</a:t>
            </a:r>
            <a:r>
              <a:rPr lang="tr-TR" dirty="0" smtClean="0"/>
              <a:t>       </a:t>
            </a:r>
            <a:r>
              <a:rPr lang="en-US" dirty="0" smtClean="0"/>
              <a:t> </a:t>
            </a:r>
            <a:r>
              <a:rPr lang="en-US" i="1" dirty="0" err="1"/>
              <a:t>i</a:t>
            </a:r>
            <a:r>
              <a:rPr lang="en-US" i="1" dirty="0"/>
              <a:t> </a:t>
            </a:r>
            <a:r>
              <a:rPr lang="en-US" dirty="0"/>
              <a:t>= 5</a:t>
            </a:r>
            <a:r>
              <a:rPr lang="en-US" dirty="0" smtClean="0"/>
              <a:t>% </a:t>
            </a:r>
            <a:r>
              <a:rPr lang="en-US" dirty="0"/>
              <a:t>per </a:t>
            </a:r>
            <a:r>
              <a:rPr lang="en-US" dirty="0" smtClean="0"/>
              <a:t>year</a:t>
            </a:r>
            <a:r>
              <a:rPr lang="tr-TR" dirty="0" smtClean="0"/>
              <a:t>       </a:t>
            </a:r>
            <a:r>
              <a:rPr lang="en-US" dirty="0" smtClean="0"/>
              <a:t> </a:t>
            </a:r>
            <a:r>
              <a:rPr lang="en-US" i="1" dirty="0"/>
              <a:t>n </a:t>
            </a:r>
            <a:r>
              <a:rPr lang="en-US" dirty="0"/>
              <a:t>= 5 years </a:t>
            </a:r>
            <a:r>
              <a:rPr lang="tr-TR" dirty="0" smtClean="0"/>
              <a:t>         </a:t>
            </a:r>
            <a:r>
              <a:rPr lang="en-US" i="1" dirty="0" smtClean="0"/>
              <a:t>A </a:t>
            </a:r>
            <a:r>
              <a:rPr lang="en-US" dirty="0"/>
              <a:t>= ?</a:t>
            </a:r>
          </a:p>
          <a:p>
            <a:r>
              <a:rPr lang="en-US" dirty="0"/>
              <a:t>(</a:t>
            </a:r>
            <a:r>
              <a:rPr lang="en-US" i="1" dirty="0"/>
              <a:t>b</a:t>
            </a:r>
            <a:r>
              <a:rPr lang="en-US" dirty="0"/>
              <a:t>) Repayment requires a single future amount </a:t>
            </a:r>
            <a:r>
              <a:rPr lang="en-US" i="1" dirty="0"/>
              <a:t>F</a:t>
            </a:r>
            <a:r>
              <a:rPr lang="en-US" dirty="0"/>
              <a:t>, which is unknown.</a:t>
            </a:r>
          </a:p>
          <a:p>
            <a:pPr marL="0" indent="0">
              <a:buNone/>
            </a:pPr>
            <a:r>
              <a:rPr lang="tr-TR" i="1" dirty="0" smtClean="0"/>
              <a:t>                         </a:t>
            </a:r>
            <a:r>
              <a:rPr lang="en-US" i="1" dirty="0" smtClean="0"/>
              <a:t>P </a:t>
            </a:r>
            <a:r>
              <a:rPr lang="en-US" dirty="0"/>
              <a:t>= $</a:t>
            </a:r>
            <a:r>
              <a:rPr lang="en-US" dirty="0" smtClean="0"/>
              <a:t>5000</a:t>
            </a:r>
            <a:r>
              <a:rPr lang="tr-TR" dirty="0" smtClean="0"/>
              <a:t>       </a:t>
            </a:r>
            <a:r>
              <a:rPr lang="en-US" dirty="0" smtClean="0"/>
              <a:t> </a:t>
            </a:r>
            <a:r>
              <a:rPr lang="en-US" i="1" dirty="0" err="1"/>
              <a:t>i</a:t>
            </a:r>
            <a:r>
              <a:rPr lang="en-US" i="1" dirty="0"/>
              <a:t> </a:t>
            </a:r>
            <a:r>
              <a:rPr lang="en-US" dirty="0"/>
              <a:t>= 7% </a:t>
            </a:r>
            <a:r>
              <a:rPr lang="en-US" dirty="0" smtClean="0"/>
              <a:t>per year</a:t>
            </a:r>
            <a:r>
              <a:rPr lang="tr-TR" dirty="0" smtClean="0"/>
              <a:t>        </a:t>
            </a:r>
            <a:r>
              <a:rPr lang="en-US" dirty="0" smtClean="0"/>
              <a:t> </a:t>
            </a:r>
            <a:r>
              <a:rPr lang="en-US" i="1" dirty="0"/>
              <a:t>n </a:t>
            </a:r>
            <a:r>
              <a:rPr lang="en-US" dirty="0"/>
              <a:t>= 3 years </a:t>
            </a:r>
            <a:r>
              <a:rPr lang="tr-TR" dirty="0" smtClean="0"/>
              <a:t>         </a:t>
            </a:r>
            <a:r>
              <a:rPr lang="en-US" i="1" dirty="0" smtClean="0"/>
              <a:t>F </a:t>
            </a:r>
            <a:r>
              <a:rPr lang="en-US" dirty="0"/>
              <a:t>= </a:t>
            </a:r>
            <a:r>
              <a:rPr lang="en-US" dirty="0" smtClean="0"/>
              <a:t>?</a:t>
            </a:r>
            <a:endParaRPr lang="en-US" dirty="0"/>
          </a:p>
        </p:txBody>
      </p:sp>
    </p:spTree>
    <p:extLst>
      <p:ext uri="{BB962C8B-B14F-4D97-AF65-F5344CB8AC3E}">
        <p14:creationId xmlns:p14="http://schemas.microsoft.com/office/powerpoint/2010/main" val="3165800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41650" y="237683"/>
            <a:ext cx="9601200" cy="610105"/>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844759" y="984039"/>
            <a:ext cx="11072719" cy="5537873"/>
          </a:xfrm>
        </p:spPr>
        <p:txBody>
          <a:bodyPr>
            <a:noAutofit/>
          </a:bodyPr>
          <a:lstStyle/>
          <a:p>
            <a:pPr algn="just"/>
            <a:r>
              <a:rPr lang="en-US" sz="2400" dirty="0"/>
              <a:t>You plan to make a lump-sum deposit of $5000 now into an investment account </a:t>
            </a:r>
            <a:r>
              <a:rPr lang="en-US" sz="2400" dirty="0" smtClean="0"/>
              <a:t>that</a:t>
            </a:r>
            <a:r>
              <a:rPr lang="tr-TR" sz="2400" dirty="0" smtClean="0"/>
              <a:t> </a:t>
            </a:r>
            <a:r>
              <a:rPr lang="en-US" sz="2400" dirty="0" smtClean="0"/>
              <a:t>pays 6%</a:t>
            </a:r>
            <a:r>
              <a:rPr lang="tr-TR" sz="2400" dirty="0" smtClean="0"/>
              <a:t> </a:t>
            </a:r>
            <a:r>
              <a:rPr lang="en-US" sz="2400" dirty="0" smtClean="0"/>
              <a:t>per </a:t>
            </a:r>
            <a:r>
              <a:rPr lang="en-US" sz="2400" dirty="0"/>
              <a:t>year, and you plan to withdraw an equal end-of-year amount of $1000 for 5 years, </a:t>
            </a:r>
            <a:r>
              <a:rPr lang="en-US" sz="2400" dirty="0" smtClean="0"/>
              <a:t>starting</a:t>
            </a:r>
            <a:r>
              <a:rPr lang="tr-TR" sz="2400" dirty="0" smtClean="0"/>
              <a:t> </a:t>
            </a:r>
            <a:r>
              <a:rPr lang="en-US" sz="2400" dirty="0" smtClean="0"/>
              <a:t>next </a:t>
            </a:r>
            <a:r>
              <a:rPr lang="en-US" sz="2400" dirty="0"/>
              <a:t>year. At the end of the sixth year, you plan to close your account by withdrawing the </a:t>
            </a:r>
            <a:r>
              <a:rPr lang="en-US" sz="2400" dirty="0" smtClean="0"/>
              <a:t>remaining</a:t>
            </a:r>
            <a:r>
              <a:rPr lang="tr-TR" sz="2400" dirty="0" smtClean="0"/>
              <a:t> </a:t>
            </a:r>
            <a:r>
              <a:rPr lang="en-US" sz="2400" dirty="0" smtClean="0"/>
              <a:t>money</a:t>
            </a:r>
            <a:r>
              <a:rPr lang="en-US" sz="2400" dirty="0"/>
              <a:t>. Define the engineering economy symbols involved</a:t>
            </a:r>
            <a:r>
              <a:rPr lang="en-US" sz="2400" dirty="0" smtClean="0"/>
              <a:t>.</a:t>
            </a:r>
            <a:endParaRPr lang="tr-TR" sz="2400" dirty="0"/>
          </a:p>
          <a:p>
            <a:pPr marL="0" indent="0" algn="just">
              <a:buNone/>
            </a:pPr>
            <a:r>
              <a:rPr lang="en-US" sz="2400" b="1" dirty="0"/>
              <a:t>Solution</a:t>
            </a:r>
          </a:p>
          <a:p>
            <a:pPr algn="just"/>
            <a:r>
              <a:rPr lang="en-US" sz="2400" dirty="0"/>
              <a:t>All five symbols are present, but the future value in year 6 is the unknown.</a:t>
            </a:r>
          </a:p>
          <a:p>
            <a:pPr marL="1057275" indent="-342900" algn="just">
              <a:buFont typeface="Courier New" panose="02070309020205020404" pitchFamily="49" charset="0"/>
              <a:buChar char="o"/>
            </a:pPr>
            <a:r>
              <a:rPr lang="en-US" sz="2400" i="1" dirty="0"/>
              <a:t>P </a:t>
            </a:r>
            <a:r>
              <a:rPr lang="en-US" sz="2400" dirty="0"/>
              <a:t>= $5000</a:t>
            </a:r>
          </a:p>
          <a:p>
            <a:pPr marL="1057275" indent="-342900" algn="just">
              <a:buFont typeface="Courier New" panose="02070309020205020404" pitchFamily="49" charset="0"/>
              <a:buChar char="o"/>
            </a:pPr>
            <a:r>
              <a:rPr lang="en-US" sz="2400" i="1" dirty="0"/>
              <a:t>A </a:t>
            </a:r>
            <a:r>
              <a:rPr lang="en-US" sz="2400" dirty="0"/>
              <a:t>= $1000 per year for 5 years</a:t>
            </a:r>
          </a:p>
          <a:p>
            <a:pPr marL="1057275" indent="-342900" algn="just">
              <a:buFont typeface="Courier New" panose="02070309020205020404" pitchFamily="49" charset="0"/>
              <a:buChar char="o"/>
            </a:pPr>
            <a:r>
              <a:rPr lang="en-US" sz="2400" i="1" dirty="0"/>
              <a:t>F </a:t>
            </a:r>
            <a:r>
              <a:rPr lang="en-US" sz="2400" dirty="0"/>
              <a:t>= ? at end of year 6</a:t>
            </a:r>
          </a:p>
          <a:p>
            <a:pPr marL="1057275" indent="-342900" algn="just">
              <a:buFont typeface="Courier New" panose="02070309020205020404" pitchFamily="49" charset="0"/>
              <a:buChar char="o"/>
            </a:pPr>
            <a:r>
              <a:rPr lang="en-US" sz="2400" i="1" dirty="0" err="1"/>
              <a:t>i</a:t>
            </a:r>
            <a:r>
              <a:rPr lang="en-US" sz="2400" i="1" dirty="0"/>
              <a:t> </a:t>
            </a:r>
            <a:r>
              <a:rPr lang="en-US" sz="2400" dirty="0"/>
              <a:t>= 6% per year</a:t>
            </a:r>
          </a:p>
          <a:p>
            <a:pPr marL="1057275" indent="-342900" algn="just">
              <a:buFont typeface="Courier New" panose="02070309020205020404" pitchFamily="49" charset="0"/>
              <a:buChar char="o"/>
            </a:pPr>
            <a:r>
              <a:rPr lang="en-US" sz="2400" i="1" dirty="0"/>
              <a:t>n </a:t>
            </a:r>
            <a:r>
              <a:rPr lang="en-US" sz="2400" dirty="0"/>
              <a:t>= 5 years for the </a:t>
            </a:r>
            <a:r>
              <a:rPr lang="en-US" sz="2400" i="1" dirty="0"/>
              <a:t>A </a:t>
            </a:r>
            <a:r>
              <a:rPr lang="en-US" sz="2400" dirty="0"/>
              <a:t>series and 6 for the </a:t>
            </a:r>
            <a:r>
              <a:rPr lang="en-US" sz="2400" i="1" dirty="0"/>
              <a:t>F </a:t>
            </a:r>
            <a:r>
              <a:rPr lang="en-US" sz="2400" dirty="0"/>
              <a:t>value</a:t>
            </a:r>
            <a:endParaRPr lang="en-US" sz="2400" dirty="0"/>
          </a:p>
        </p:txBody>
      </p:sp>
    </p:spTree>
    <p:extLst>
      <p:ext uri="{BB962C8B-B14F-4D97-AF65-F5344CB8AC3E}">
        <p14:creationId xmlns:p14="http://schemas.microsoft.com/office/powerpoint/2010/main" val="4245099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75039" y="201349"/>
            <a:ext cx="9601200" cy="579826"/>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875039" y="1026430"/>
            <a:ext cx="11030328" cy="5477315"/>
          </a:xfrm>
        </p:spPr>
        <p:txBody>
          <a:bodyPr>
            <a:normAutofit/>
          </a:bodyPr>
          <a:lstStyle/>
          <a:p>
            <a:pPr algn="just"/>
            <a:r>
              <a:rPr lang="en-US" sz="2400" dirty="0"/>
              <a:t>Last year Jane’s grandmother offered to put enough money into a savings account to </a:t>
            </a:r>
            <a:r>
              <a:rPr lang="en-US" sz="2400" dirty="0" smtClean="0"/>
              <a:t>generate</a:t>
            </a:r>
            <a:r>
              <a:rPr lang="tr-TR" sz="2400" dirty="0" smtClean="0"/>
              <a:t> </a:t>
            </a:r>
            <a:r>
              <a:rPr lang="en-US" sz="2400" dirty="0" smtClean="0"/>
              <a:t>$5000 </a:t>
            </a:r>
            <a:r>
              <a:rPr lang="en-US" sz="2400" dirty="0"/>
              <a:t>in interest this year to help pay Jane’s expenses at college. </a:t>
            </a:r>
            <a:endParaRPr lang="tr-TR" sz="2400" dirty="0" smtClean="0"/>
          </a:p>
          <a:p>
            <a:pPr marL="0" indent="0" algn="just">
              <a:buNone/>
            </a:pPr>
            <a:r>
              <a:rPr lang="tr-TR" sz="2400" dirty="0" smtClean="0"/>
              <a:t>          </a:t>
            </a:r>
            <a:r>
              <a:rPr lang="en-US" sz="2400" dirty="0" smtClean="0"/>
              <a:t>(</a:t>
            </a:r>
            <a:r>
              <a:rPr lang="en-US" sz="2400" i="1" dirty="0"/>
              <a:t>a</a:t>
            </a:r>
            <a:r>
              <a:rPr lang="en-US" sz="2400" dirty="0"/>
              <a:t>) Identify the symbols, </a:t>
            </a:r>
            <a:r>
              <a:rPr lang="en-US" sz="2400" dirty="0" smtClean="0"/>
              <a:t>and</a:t>
            </a:r>
            <a:r>
              <a:rPr lang="tr-TR" sz="2400" dirty="0" smtClean="0"/>
              <a:t> </a:t>
            </a:r>
          </a:p>
          <a:p>
            <a:pPr marL="1162050" indent="-1162050" algn="just">
              <a:buNone/>
            </a:pPr>
            <a:r>
              <a:rPr lang="tr-TR" sz="2400" dirty="0" smtClean="0"/>
              <a:t>          </a:t>
            </a:r>
            <a:r>
              <a:rPr lang="en-US" sz="2400" dirty="0" smtClean="0"/>
              <a:t>(</a:t>
            </a:r>
            <a:r>
              <a:rPr lang="en-US" sz="2400" i="1" dirty="0" smtClean="0"/>
              <a:t>b</a:t>
            </a:r>
            <a:r>
              <a:rPr lang="en-US" sz="2400" dirty="0"/>
              <a:t>) calculate the amount that had to be deposited exactly 1 year ago to earn $5000 in </a:t>
            </a:r>
            <a:r>
              <a:rPr lang="en-US" sz="2400" dirty="0" smtClean="0"/>
              <a:t>interest</a:t>
            </a:r>
            <a:r>
              <a:rPr lang="tr-TR" sz="2400" dirty="0" smtClean="0"/>
              <a:t> </a:t>
            </a:r>
            <a:r>
              <a:rPr lang="en-US" sz="2400" dirty="0" smtClean="0"/>
              <a:t>now</a:t>
            </a:r>
            <a:r>
              <a:rPr lang="en-US" sz="2400" dirty="0"/>
              <a:t>, if the rate of return is 6% per year</a:t>
            </a:r>
            <a:r>
              <a:rPr lang="en-US" sz="2400" dirty="0" smtClean="0"/>
              <a:t>.</a:t>
            </a:r>
            <a:endParaRPr lang="tr-TR" sz="2400" dirty="0" smtClean="0"/>
          </a:p>
          <a:p>
            <a:pPr marL="0" indent="0" algn="just">
              <a:buNone/>
            </a:pPr>
            <a:r>
              <a:rPr lang="en-US" sz="2400" b="1" dirty="0"/>
              <a:t>Solution</a:t>
            </a:r>
          </a:p>
          <a:p>
            <a:pPr algn="just"/>
            <a:r>
              <a:rPr lang="en-US" sz="2400" dirty="0"/>
              <a:t>(</a:t>
            </a:r>
            <a:r>
              <a:rPr lang="en-US" sz="2400" i="1" dirty="0"/>
              <a:t>a</a:t>
            </a:r>
            <a:r>
              <a:rPr lang="en-US" sz="2400" dirty="0"/>
              <a:t>) Symbols </a:t>
            </a:r>
            <a:r>
              <a:rPr lang="en-US" sz="2400" i="1" dirty="0"/>
              <a:t>P </a:t>
            </a:r>
            <a:r>
              <a:rPr lang="en-US" sz="2400" dirty="0"/>
              <a:t>(last year is −1) and </a:t>
            </a:r>
            <a:r>
              <a:rPr lang="en-US" sz="2400" i="1" dirty="0"/>
              <a:t>F </a:t>
            </a:r>
            <a:r>
              <a:rPr lang="en-US" sz="2400" dirty="0"/>
              <a:t>(this year) are needed.</a:t>
            </a:r>
          </a:p>
          <a:p>
            <a:pPr marL="881063" indent="-342900" algn="just">
              <a:buFont typeface="Courier New" panose="02070309020205020404" pitchFamily="49" charset="0"/>
              <a:buChar char="o"/>
            </a:pPr>
            <a:r>
              <a:rPr lang="en-US" sz="2400" i="1" dirty="0"/>
              <a:t>P </a:t>
            </a:r>
            <a:r>
              <a:rPr lang="en-US" sz="2400" dirty="0"/>
              <a:t>= ?</a:t>
            </a:r>
          </a:p>
          <a:p>
            <a:pPr marL="881063" indent="-342900" algn="just">
              <a:buFont typeface="Courier New" panose="02070309020205020404" pitchFamily="49" charset="0"/>
              <a:buChar char="o"/>
            </a:pPr>
            <a:r>
              <a:rPr lang="en-US" sz="2400" i="1" dirty="0" err="1"/>
              <a:t>i</a:t>
            </a:r>
            <a:r>
              <a:rPr lang="en-US" sz="2400" i="1" dirty="0"/>
              <a:t> </a:t>
            </a:r>
            <a:r>
              <a:rPr lang="en-US" sz="2400" dirty="0"/>
              <a:t>= 6% per year</a:t>
            </a:r>
          </a:p>
          <a:p>
            <a:pPr marL="881063" indent="-342900" algn="just">
              <a:buFont typeface="Courier New" panose="02070309020205020404" pitchFamily="49" charset="0"/>
              <a:buChar char="o"/>
            </a:pPr>
            <a:r>
              <a:rPr lang="en-US" sz="2400" i="1" dirty="0"/>
              <a:t>n </a:t>
            </a:r>
            <a:r>
              <a:rPr lang="en-US" sz="2400" dirty="0"/>
              <a:t>= 1 year</a:t>
            </a:r>
          </a:p>
          <a:p>
            <a:pPr marL="881063" indent="-342900" algn="just">
              <a:buFont typeface="Courier New" panose="02070309020205020404" pitchFamily="49" charset="0"/>
              <a:buChar char="o"/>
            </a:pPr>
            <a:r>
              <a:rPr lang="en-US" sz="2400" i="1" dirty="0"/>
              <a:t>F </a:t>
            </a:r>
            <a:r>
              <a:rPr lang="en-US" sz="2400" dirty="0"/>
              <a:t>= </a:t>
            </a:r>
            <a:r>
              <a:rPr lang="en-US" sz="2400" i="1" dirty="0"/>
              <a:t>P </a:t>
            </a:r>
            <a:r>
              <a:rPr lang="en-US" sz="2400" dirty="0"/>
              <a:t>+ interest = ? + $5000</a:t>
            </a:r>
            <a:endParaRPr lang="en-US" sz="2400" dirty="0"/>
          </a:p>
        </p:txBody>
      </p:sp>
    </p:spTree>
    <p:extLst>
      <p:ext uri="{BB962C8B-B14F-4D97-AF65-F5344CB8AC3E}">
        <p14:creationId xmlns:p14="http://schemas.microsoft.com/office/powerpoint/2010/main" val="1095879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İçerik Yer Tutucusu 2"/>
              <p:cNvSpPr>
                <a:spLocks noGrp="1"/>
              </p:cNvSpPr>
              <p:nvPr>
                <p:ph idx="1"/>
              </p:nvPr>
            </p:nvSpPr>
            <p:spPr>
              <a:xfrm>
                <a:off x="990096" y="608590"/>
                <a:ext cx="10897104" cy="5622651"/>
              </a:xfrm>
            </p:spPr>
            <p:txBody>
              <a:bodyPr>
                <a:normAutofit/>
              </a:bodyPr>
              <a:lstStyle/>
              <a:p>
                <a:pPr marL="0" indent="0">
                  <a:buNone/>
                </a:pPr>
                <a:r>
                  <a:rPr lang="en-US" sz="2400" dirty="0" smtClean="0"/>
                  <a:t>(</a:t>
                </a:r>
                <a:r>
                  <a:rPr lang="en-US" sz="2400" i="1" dirty="0"/>
                  <a:t>b</a:t>
                </a:r>
                <a:r>
                  <a:rPr lang="en-US" sz="2400" dirty="0"/>
                  <a:t>) Let </a:t>
                </a:r>
                <a:r>
                  <a:rPr lang="en-US" sz="2400" i="1" dirty="0"/>
                  <a:t>F </a:t>
                </a:r>
                <a:r>
                  <a:rPr lang="en-US" sz="2400" dirty="0"/>
                  <a:t>= total amount now and </a:t>
                </a:r>
                <a:r>
                  <a:rPr lang="en-US" sz="2400" i="1" dirty="0"/>
                  <a:t>P </a:t>
                </a:r>
                <a:r>
                  <a:rPr lang="en-US" sz="2400" dirty="0"/>
                  <a:t>= original amount. We know that </a:t>
                </a:r>
                <a:r>
                  <a:rPr lang="en-US" sz="2400" i="1" dirty="0"/>
                  <a:t>F </a:t>
                </a:r>
                <a:r>
                  <a:rPr lang="en-US" sz="2400" dirty="0"/>
                  <a:t>– </a:t>
                </a:r>
                <a:r>
                  <a:rPr lang="en-US" sz="2400" i="1" dirty="0"/>
                  <a:t>P </a:t>
                </a:r>
                <a:r>
                  <a:rPr lang="en-US" sz="2400" dirty="0"/>
                  <a:t>= $5000 </a:t>
                </a:r>
                <a:r>
                  <a:rPr lang="en-US" sz="2400" dirty="0" smtClean="0"/>
                  <a:t>is</a:t>
                </a:r>
                <a:r>
                  <a:rPr lang="tr-TR" sz="2400" dirty="0" smtClean="0"/>
                  <a:t> </a:t>
                </a:r>
                <a:r>
                  <a:rPr lang="en-US" sz="2400" dirty="0" smtClean="0"/>
                  <a:t>accrued</a:t>
                </a:r>
                <a:r>
                  <a:rPr lang="tr-TR" sz="2400" dirty="0" smtClean="0"/>
                  <a:t> </a:t>
                </a:r>
                <a:r>
                  <a:rPr lang="en-US" sz="2400" dirty="0" smtClean="0"/>
                  <a:t>interest</a:t>
                </a:r>
                <a:r>
                  <a:rPr lang="en-US" sz="2400" dirty="0"/>
                  <a:t>. </a:t>
                </a:r>
                <a:endParaRPr lang="tr-TR" sz="2400" dirty="0" smtClean="0"/>
              </a:p>
              <a:p>
                <a:pPr marL="0" indent="0">
                  <a:buNone/>
                </a:pPr>
                <a:r>
                  <a:rPr lang="en-US" sz="2400" dirty="0" smtClean="0"/>
                  <a:t>Now </a:t>
                </a:r>
                <a:r>
                  <a:rPr lang="en-US" sz="2400" dirty="0"/>
                  <a:t>we can determine </a:t>
                </a:r>
                <a:r>
                  <a:rPr lang="en-US" sz="2400" i="1" dirty="0"/>
                  <a:t>P</a:t>
                </a:r>
                <a:r>
                  <a:rPr lang="en-US" sz="2400" dirty="0"/>
                  <a:t>. </a:t>
                </a:r>
                <a:endParaRPr lang="en-US" sz="2400" dirty="0" smtClean="0"/>
              </a:p>
              <a:p>
                <a:pPr marL="0" indent="0">
                  <a:buNone/>
                </a:pPr>
                <a:r>
                  <a:rPr lang="tr-TR" sz="2400" i="1" dirty="0" smtClean="0"/>
                  <a:t>                         </a:t>
                </a:r>
                <a:r>
                  <a:rPr lang="en-US" sz="2400" i="1" dirty="0" smtClean="0"/>
                  <a:t>F </a:t>
                </a:r>
                <a:r>
                  <a:rPr lang="en-US" sz="2400" dirty="0" smtClean="0"/>
                  <a:t>= </a:t>
                </a:r>
                <a:r>
                  <a:rPr lang="en-US" sz="2400" i="1" dirty="0" smtClean="0"/>
                  <a:t>P </a:t>
                </a:r>
                <a:r>
                  <a:rPr lang="en-US" sz="2400" dirty="0" smtClean="0"/>
                  <a:t>+ </a:t>
                </a:r>
                <a:r>
                  <a:rPr lang="en-US" sz="2400" i="1" dirty="0" smtClean="0"/>
                  <a:t>Pi</a:t>
                </a:r>
              </a:p>
              <a:p>
                <a:r>
                  <a:rPr lang="en-US" sz="2400" dirty="0" smtClean="0"/>
                  <a:t>The </a:t>
                </a:r>
                <a:r>
                  <a:rPr lang="en-US" sz="2400" dirty="0"/>
                  <a:t>$5000 interest can be expressed as</a:t>
                </a:r>
              </a:p>
              <a:p>
                <a:pPr marL="630238" indent="447675">
                  <a:buNone/>
                </a:pPr>
                <a:r>
                  <a:rPr lang="en-US" sz="2400" dirty="0" smtClean="0"/>
                  <a:t>Interest </a:t>
                </a:r>
                <a:r>
                  <a:rPr lang="en-US" sz="2400" dirty="0"/>
                  <a:t>= </a:t>
                </a:r>
                <a:r>
                  <a:rPr lang="en-US" sz="2400" i="1" dirty="0"/>
                  <a:t>F </a:t>
                </a:r>
                <a:r>
                  <a:rPr lang="en-US" sz="2400" dirty="0"/>
                  <a:t>– </a:t>
                </a:r>
                <a:r>
                  <a:rPr lang="en-US" sz="2400" i="1" dirty="0"/>
                  <a:t>P </a:t>
                </a:r>
                <a:r>
                  <a:rPr lang="en-US" sz="2400" dirty="0"/>
                  <a:t>= (</a:t>
                </a:r>
                <a:r>
                  <a:rPr lang="en-US" sz="2400" i="1" dirty="0"/>
                  <a:t>P </a:t>
                </a:r>
                <a:r>
                  <a:rPr lang="en-US" sz="2400" dirty="0"/>
                  <a:t>+ </a:t>
                </a:r>
                <a:r>
                  <a:rPr lang="en-US" sz="2400" i="1" dirty="0"/>
                  <a:t>Pi</a:t>
                </a:r>
                <a:r>
                  <a:rPr lang="en-US" sz="2400" dirty="0"/>
                  <a:t>) – </a:t>
                </a:r>
                <a:r>
                  <a:rPr lang="en-US" sz="2400" i="1" dirty="0"/>
                  <a:t>P</a:t>
                </a:r>
              </a:p>
              <a:p>
                <a:pPr marL="630238" indent="447675">
                  <a:buNone/>
                </a:pPr>
                <a:r>
                  <a:rPr lang="tr-TR" sz="2400" dirty="0" smtClean="0"/>
                  <a:t>              </a:t>
                </a:r>
                <a:r>
                  <a:rPr lang="en-US" sz="2400" dirty="0" smtClean="0"/>
                  <a:t>= </a:t>
                </a:r>
                <a:r>
                  <a:rPr lang="en-US" sz="2400" i="1" dirty="0"/>
                  <a:t>Pi</a:t>
                </a:r>
              </a:p>
              <a:p>
                <a:pPr marL="630238" indent="447675">
                  <a:buNone/>
                </a:pPr>
                <a:r>
                  <a:rPr lang="en-US" sz="2400" dirty="0"/>
                  <a:t>$5000 = </a:t>
                </a:r>
                <a:r>
                  <a:rPr lang="en-US" sz="2400" i="1" dirty="0"/>
                  <a:t>P</a:t>
                </a:r>
                <a:r>
                  <a:rPr lang="en-US" sz="2400" dirty="0"/>
                  <a:t>(0.06)</a:t>
                </a:r>
              </a:p>
              <a:p>
                <a:pPr marL="630238" indent="0">
                  <a:buNone/>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𝑃</m:t>
                      </m:r>
                      <m:r>
                        <a:rPr lang="tr-TR" sz="2400" b="0" i="1" smtClean="0">
                          <a:latin typeface="Cambria Math" panose="02040503050406030204" pitchFamily="18" charset="0"/>
                        </a:rPr>
                        <m:t>=</m:t>
                      </m:r>
                      <m:f>
                        <m:fPr>
                          <m:ctrlPr>
                            <a:rPr lang="tr-TR" sz="2400" b="0" i="1" smtClean="0">
                              <a:latin typeface="Cambria Math" panose="02040503050406030204" pitchFamily="18" charset="0"/>
                            </a:rPr>
                          </m:ctrlPr>
                        </m:fPr>
                        <m:num>
                          <m:r>
                            <a:rPr lang="tr-TR" sz="2400" b="0" i="1" smtClean="0">
                              <a:latin typeface="Cambria Math" panose="02040503050406030204" pitchFamily="18" charset="0"/>
                            </a:rPr>
                            <m:t>$5000</m:t>
                          </m:r>
                        </m:num>
                        <m:den>
                          <m:r>
                            <a:rPr lang="tr-TR" sz="2400" b="0" i="1" smtClean="0">
                              <a:latin typeface="Cambria Math" panose="02040503050406030204" pitchFamily="18" charset="0"/>
                            </a:rPr>
                            <m:t>0.06</m:t>
                          </m:r>
                        </m:den>
                      </m:f>
                      <m:r>
                        <a:rPr lang="tr-TR" sz="2400" b="0" i="1" smtClean="0">
                          <a:latin typeface="Cambria Math" panose="02040503050406030204" pitchFamily="18" charset="0"/>
                        </a:rPr>
                        <m:t>=$83,333.33</m:t>
                      </m:r>
                    </m:oMath>
                  </m:oMathPara>
                </a14:m>
                <a:endParaRPr lang="en-US" sz="2400"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xfrm>
                <a:off x="990096" y="608590"/>
                <a:ext cx="10897104" cy="5622651"/>
              </a:xfrm>
              <a:blipFill rotWithShape="0">
                <a:blip r:embed="rId2"/>
                <a:stretch>
                  <a:fillRect l="-839" t="-1193"/>
                </a:stretch>
              </a:blipFill>
            </p:spPr>
            <p:txBody>
              <a:bodyPr/>
              <a:lstStyle/>
              <a:p>
                <a:r>
                  <a:rPr lang="en-US">
                    <a:noFill/>
                  </a:rPr>
                  <a:t> </a:t>
                </a:r>
              </a:p>
            </p:txBody>
          </p:sp>
        </mc:Fallback>
      </mc:AlternateContent>
    </p:spTree>
    <p:extLst>
      <p:ext uri="{BB962C8B-B14F-4D97-AF65-F5344CB8AC3E}">
        <p14:creationId xmlns:p14="http://schemas.microsoft.com/office/powerpoint/2010/main" val="3872781640"/>
      </p:ext>
    </p:extLst>
  </p:cSld>
  <p:clrMapOvr>
    <a:masterClrMapping/>
  </p:clrMapOvr>
</p:sld>
</file>

<file path=ppt/theme/theme1.xml><?xml version="1.0" encoding="utf-8"?>
<a:theme xmlns:a="http://schemas.openxmlformats.org/drawingml/2006/main" name="Crop">
  <a:themeElements>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Kırpma</Template>
  <TotalTime>186</TotalTime>
  <Words>3105</Words>
  <Application>Microsoft Office PowerPoint</Application>
  <PresentationFormat>Geniş ekran</PresentationFormat>
  <Paragraphs>198</Paragraphs>
  <Slides>41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41</vt:i4>
      </vt:variant>
    </vt:vector>
  </HeadingPairs>
  <TitlesOfParts>
    <vt:vector size="46" baseType="lpstr">
      <vt:lpstr>Arial</vt:lpstr>
      <vt:lpstr>Cambria Math</vt:lpstr>
      <vt:lpstr>Courier New</vt:lpstr>
      <vt:lpstr>Franklin Gothic Book</vt:lpstr>
      <vt:lpstr>Crop</vt:lpstr>
      <vt:lpstr>ENGINEERING ECONOMY</vt:lpstr>
      <vt:lpstr>Engineering Economy:</vt:lpstr>
      <vt:lpstr>Steps in an Engineering Economy Study</vt:lpstr>
      <vt:lpstr>PowerPoint Sunusu</vt:lpstr>
      <vt:lpstr>PowerPoint Sunusu</vt:lpstr>
      <vt:lpstr>PowerPoint Sunusu</vt:lpstr>
      <vt:lpstr>PowerPoint Sunusu</vt:lpstr>
      <vt:lpstr>PowerPoint Sunusu</vt:lpstr>
      <vt:lpstr>PowerPoint Sunusu</vt:lpstr>
      <vt:lpstr>Financial literacy </vt:lpstr>
      <vt:lpstr>PowerPoint Sunusu</vt:lpstr>
      <vt:lpstr>PowerPoint Sunusu</vt:lpstr>
      <vt:lpstr>PowerPoint Sunusu</vt:lpstr>
      <vt:lpstr>Benefits of Financial Literacy </vt:lpstr>
      <vt:lpstr>What Are Some Popular Personal Budget Rules?</vt:lpstr>
      <vt:lpstr>What Are the Principles of Financial Literacy? </vt:lpstr>
      <vt:lpstr>The time value of money</vt:lpstr>
      <vt:lpstr>PowerPoint Sunusu</vt:lpstr>
      <vt:lpstr>EXAMPLE</vt:lpstr>
      <vt:lpstr>Interest Rate and Rate of Return</vt:lpstr>
      <vt:lpstr>PowerPoint Sunusu</vt:lpstr>
      <vt:lpstr>EXAMPLE</vt:lpstr>
      <vt:lpstr>EXAMPLE</vt:lpstr>
      <vt:lpstr>PowerPoint Sunusu</vt:lpstr>
      <vt:lpstr>PowerPoint Sunusu</vt:lpstr>
      <vt:lpstr>EXAMPLE</vt:lpstr>
      <vt:lpstr>Simple interest and Compound interest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Terminology and Symbols</vt:lpstr>
      <vt:lpstr>EXAMPLE</vt:lpstr>
      <vt:lpstr>EXAMPLE</vt:lpstr>
      <vt:lpstr>EXAMPLE</vt:lpstr>
      <vt:lpstr>PowerPoint Sunusu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ECONOMY</dc:title>
  <dc:creator>y</dc:creator>
  <cp:lastModifiedBy>y</cp:lastModifiedBy>
  <cp:revision>34</cp:revision>
  <dcterms:created xsi:type="dcterms:W3CDTF">2025-10-01T18:37:48Z</dcterms:created>
  <dcterms:modified xsi:type="dcterms:W3CDTF">2025-10-01T21:44:07Z</dcterms:modified>
</cp:coreProperties>
</file>