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0" r:id="rId2"/>
    <p:sldId id="292" r:id="rId3"/>
    <p:sldId id="293" r:id="rId4"/>
    <p:sldId id="291" r:id="rId5"/>
    <p:sldId id="294" r:id="rId6"/>
    <p:sldId id="295" r:id="rId7"/>
    <p:sldId id="296" r:id="rId8"/>
    <p:sldId id="298" r:id="rId9"/>
    <p:sldId id="299" r:id="rId10"/>
    <p:sldId id="297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9"/>
    <p:restoredTop sz="93750"/>
  </p:normalViewPr>
  <p:slideViewPr>
    <p:cSldViewPr snapToGrid="0" snapToObjects="1">
      <p:cViewPr varScale="1">
        <p:scale>
          <a:sx n="97" d="100"/>
          <a:sy n="97" d="100"/>
        </p:scale>
        <p:origin x="2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6288-5E28-0C42-BBE0-E7E6FF76B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444C1-C0F4-2743-A8BA-CCF06E1D5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8DBE0-DCE8-4B48-9DC6-5D01DF93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1D608-B6AD-1640-A85E-3515CA090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83C2D-C8CF-0A40-AF93-A424086D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49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8011-8E88-794F-984D-EC6AD1CA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7BFFF-9CBD-5E42-A7CB-92ACD339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EDEC2-AE75-7E43-B7F0-AADC4DE2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56025-1061-9F42-93AA-EE630F8C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A1B90-2BB9-A247-A24A-25EFDFDE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960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E643-7A92-3044-8873-07959517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F841A-3428-1D41-A7D4-627E114BD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0B59E-8A86-E247-BC4B-08B6F2A0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CFF9A-8159-8E4C-A4C7-A97A5748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0CC0-E6FC-5245-855C-73CB9087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474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803E-B0B4-FF42-BC19-CFD7A678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00DBE-2BA9-654F-818D-176248E0F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DBF2F-7B36-5F4C-B6F4-2B1ABF905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A3703-75AE-B247-86B6-673C68F8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7A2CE-35CE-4042-938F-1CAA457D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63C31-F2C3-EA45-B2D9-3F53F05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51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D5F4-D6C0-4749-9804-127513BF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550A1-F2DC-A34C-B7C3-ACB0FC648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0644F-8637-FB42-B98F-7F14221BA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62CB0-DCD2-C842-A469-C9225347F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6C87A-5BFF-5C4C-A9D2-025586B74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6E410-32A2-4541-AB46-26660D8D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ECAD9-413B-7F45-90C4-6D3944A5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83A2D-10F7-9842-89F3-20696290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01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E1EA-B16F-3E45-92BD-216AC0D6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5321EE-3FD9-BA4F-8FCC-36A7CF10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6352C-D970-7F4F-9B10-0277B13E4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315C5-2950-0C4F-94CD-884D98B5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960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4D69F-2927-A643-8444-60CEF645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8686F-147A-8148-80DD-F3A93D6E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933D4-90CD-5649-802C-68194AE2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186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0D09-681D-0145-8916-025BA2A42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DC641-6574-CE42-A264-864D31C20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46312-DA62-0845-ADEF-898CA7160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E6D4A-C81F-934F-A628-C7B8EDDA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5B17A-4752-A64B-A5F3-F7530205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6570A-2121-FA40-A561-5EB5B855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463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9A23-3543-BC4C-8217-B116C55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43613-F82B-824A-8D11-12E0A4BFE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E28FD-B8B9-2642-A8C7-8E822E12F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9F93A-FDD1-854C-8362-81D19A4D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51A66-2B49-1D4E-984D-2FC99B5C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336A3-31D8-F345-A100-87AE7214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449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DBA9-3C50-784C-AC46-D8585217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242B4-63B6-2347-BB66-9B88F94EB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4897C-5AF8-C048-9B30-6955A7C1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7A9E9-EDE0-0748-B900-796E21BC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22B3E-20E6-004E-9745-2ED19D18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190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AD5B2-374E-5042-8619-FC7DCD0FA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F9B45-C8CC-DC4B-AD26-28E69E350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019B0-E343-294E-9DE4-44155483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8210-7166-6C4E-8383-4C9FDF8D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3A9FE-346D-FA48-A910-B92EB07F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397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C08E4C-4B09-6D4C-BC9B-A6ACA33A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0733-47F6-FA47-AEA1-A3C8A10A2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48327-2315-164B-AC68-9861D7BBC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E53AE-8190-5D46-BFA3-4CEDCF0B2EA9}" type="datetimeFigureOut">
              <a:rPr lang="tr-TR" smtClean="0"/>
              <a:t>11.03.2018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16710-A3F1-B341-B8E3-842AD7B4F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8D580-97B7-5E43-8EF4-D72BD4BB4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131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8DEA2-5DAB-C14E-8963-AF79D5CF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Roots</a:t>
            </a:r>
            <a:r>
              <a:rPr lang="tr-TR" dirty="0"/>
              <a:t>: Open </a:t>
            </a:r>
            <a:r>
              <a:rPr lang="tr-TR" dirty="0" err="1"/>
              <a:t>Methods</a:t>
            </a:r>
            <a:r>
              <a:rPr lang="tr-TR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49110-CA35-0044-8E78-63B4E6490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525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E2EB-F2B2-6845-A30F-AA57B45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Overview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</p:spPr>
            <p:txBody>
              <a:bodyPr>
                <a:normAutofit/>
              </a:bodyPr>
              <a:lstStyle/>
              <a:p>
                <a:r>
                  <a:rPr lang="tr-TR" dirty="0"/>
                  <a:t>Roots</a:t>
                </a:r>
              </a:p>
              <a:p>
                <a:pPr lvl="1"/>
                <a:r>
                  <a:rPr lang="tr-TR" dirty="0" err="1"/>
                  <a:t>Points</a:t>
                </a:r>
                <a:r>
                  <a:rPr lang="tr-TR" dirty="0"/>
                  <a:t> of a </a:t>
                </a:r>
                <a:r>
                  <a:rPr lang="tr-TR" dirty="0" err="1"/>
                  <a:t>nonlinear</a:t>
                </a:r>
                <a:r>
                  <a:rPr lang="tr-TR" dirty="0"/>
                  <a:t> </a:t>
                </a:r>
                <a:r>
                  <a:rPr lang="tr-TR" dirty="0" err="1"/>
                  <a:t>equation</a:t>
                </a:r>
                <a:r>
                  <a:rPr lang="tr-TR" dirty="0"/>
                  <a:t> </a:t>
                </a:r>
                <a:r>
                  <a:rPr lang="tr-TR" dirty="0" err="1"/>
                  <a:t>where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tr-TR" b="0" dirty="0"/>
              </a:p>
              <a:p>
                <a:pPr lvl="1"/>
                <a:r>
                  <a:rPr lang="tr-TR" b="1" dirty="0" err="1"/>
                  <a:t>Bracketing</a:t>
                </a:r>
                <a:r>
                  <a:rPr lang="tr-TR" b="1" dirty="0"/>
                  <a:t> </a:t>
                </a:r>
                <a:r>
                  <a:rPr lang="tr-TR" b="1" dirty="0" err="1"/>
                  <a:t>methods</a:t>
                </a:r>
                <a:r>
                  <a:rPr lang="tr-TR" dirty="0"/>
                  <a:t>: start </a:t>
                </a:r>
                <a:r>
                  <a:rPr lang="tr-TR" dirty="0" err="1"/>
                  <a:t>with</a:t>
                </a:r>
                <a:r>
                  <a:rPr lang="tr-TR" dirty="0"/>
                  <a:t> a </a:t>
                </a:r>
                <a:r>
                  <a:rPr lang="tr-TR" dirty="0" err="1"/>
                  <a:t>guess</a:t>
                </a:r>
                <a:r>
                  <a:rPr lang="tr-TR" dirty="0"/>
                  <a:t> </a:t>
                </a:r>
                <a:r>
                  <a:rPr lang="tr-TR" dirty="0" err="1"/>
                  <a:t>for</a:t>
                </a:r>
                <a:r>
                  <a:rPr lang="tr-TR" dirty="0"/>
                  <a:t> a </a:t>
                </a:r>
                <a:r>
                  <a:rPr lang="tr-TR" dirty="0" err="1"/>
                  <a:t>range</a:t>
                </a:r>
                <a:r>
                  <a:rPr lang="tr-TR" dirty="0"/>
                  <a:t> </a:t>
                </a:r>
                <a:r>
                  <a:rPr lang="tr-TR" dirty="0" err="1"/>
                  <a:t>containing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reduce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width</a:t>
                </a:r>
                <a:r>
                  <a:rPr lang="tr-TR" dirty="0"/>
                  <a:t> of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bracket</a:t>
                </a:r>
                <a:r>
                  <a:rPr lang="tr-TR" dirty="0"/>
                  <a:t> </a:t>
                </a:r>
                <a:r>
                  <a:rPr lang="tr-TR" dirty="0" err="1"/>
                  <a:t>iteratively</a:t>
                </a:r>
                <a:r>
                  <a:rPr lang="tr-TR" dirty="0"/>
                  <a:t>. (</a:t>
                </a:r>
                <a:r>
                  <a:rPr lang="tr-TR" dirty="0" err="1"/>
                  <a:t>reliable</a:t>
                </a:r>
                <a:r>
                  <a:rPr lang="tr-TR" dirty="0"/>
                  <a:t>)</a:t>
                </a:r>
              </a:p>
              <a:p>
                <a:pPr lvl="2"/>
                <a:r>
                  <a:rPr lang="tr-TR" b="0" dirty="0" err="1"/>
                  <a:t>Bisecti</a:t>
                </a:r>
                <a:r>
                  <a:rPr lang="tr-TR" dirty="0" err="1"/>
                  <a:t>on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endParaRPr lang="tr-TR" dirty="0"/>
              </a:p>
              <a:p>
                <a:pPr lvl="2"/>
                <a:r>
                  <a:rPr lang="tr-TR" b="0" dirty="0" err="1"/>
                  <a:t>False</a:t>
                </a:r>
                <a:r>
                  <a:rPr lang="tr-TR" b="0" dirty="0"/>
                  <a:t> </a:t>
                </a:r>
                <a:r>
                  <a:rPr lang="tr-TR" b="0" dirty="0" err="1"/>
                  <a:t>position</a:t>
                </a:r>
                <a:r>
                  <a:rPr lang="tr-TR" b="0" dirty="0"/>
                  <a:t> </a:t>
                </a:r>
                <a:r>
                  <a:rPr lang="tr-TR" b="0" dirty="0" err="1"/>
                  <a:t>method</a:t>
                </a:r>
                <a:endParaRPr lang="tr-TR" dirty="0"/>
              </a:p>
              <a:p>
                <a:pPr lvl="1"/>
                <a:r>
                  <a:rPr lang="tr-TR" b="1" dirty="0"/>
                  <a:t>Open </a:t>
                </a:r>
                <a:r>
                  <a:rPr lang="tr-TR" b="1" dirty="0" err="1"/>
                  <a:t>Methods</a:t>
                </a:r>
                <a:r>
                  <a:rPr lang="tr-TR" b="1" dirty="0"/>
                  <a:t> </a:t>
                </a:r>
                <a:r>
                  <a:rPr lang="tr-TR" dirty="0"/>
                  <a:t>(</a:t>
                </a:r>
                <a:r>
                  <a:rPr lang="tr-TR" dirty="0" err="1"/>
                  <a:t>fast</a:t>
                </a:r>
                <a:r>
                  <a:rPr lang="tr-TR" dirty="0"/>
                  <a:t>) </a:t>
                </a:r>
              </a:p>
              <a:p>
                <a:pPr lvl="2"/>
                <a:r>
                  <a:rPr lang="tr-TR" dirty="0" err="1"/>
                  <a:t>Fixed-point</a:t>
                </a:r>
                <a:r>
                  <a:rPr lang="tr-TR" dirty="0"/>
                  <a:t> </a:t>
                </a:r>
                <a:r>
                  <a:rPr lang="tr-TR" dirty="0" err="1"/>
                  <a:t>iteration</a:t>
                </a:r>
                <a:endParaRPr lang="tr-TR" dirty="0"/>
              </a:p>
              <a:p>
                <a:pPr lvl="2"/>
                <a:r>
                  <a:rPr lang="tr-TR" dirty="0"/>
                  <a:t>Newton-</a:t>
                </a:r>
                <a:r>
                  <a:rPr lang="tr-TR" dirty="0" err="1"/>
                  <a:t>Raphson</a:t>
                </a:r>
                <a:endParaRPr lang="tr-TR" dirty="0"/>
              </a:p>
              <a:p>
                <a:pPr lvl="2"/>
                <a:r>
                  <a:rPr lang="tr-TR" dirty="0" err="1"/>
                  <a:t>Secant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endParaRPr lang="tr-TR" dirty="0"/>
              </a:p>
              <a:p>
                <a:pPr lvl="1"/>
                <a:r>
                  <a:rPr lang="tr-TR" dirty="0" err="1"/>
                  <a:t>Hybrid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r>
                  <a:rPr lang="tr-TR" dirty="0"/>
                  <a:t>: </a:t>
                </a:r>
                <a:r>
                  <a:rPr lang="tr-TR" dirty="0" err="1"/>
                  <a:t>Brent’s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finding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r>
                  <a:rPr lang="tr-TR" dirty="0"/>
                  <a:t> (</a:t>
                </a:r>
                <a:r>
                  <a:rPr lang="tr-TR" dirty="0" err="1"/>
                  <a:t>Fast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reliable</a:t>
                </a:r>
                <a:r>
                  <a:rPr lang="tr-TR" dirty="0"/>
                  <a:t>) </a:t>
                </a:r>
              </a:p>
              <a:p>
                <a:pPr lvl="1"/>
                <a:r>
                  <a:rPr lang="tr-TR" dirty="0"/>
                  <a:t>MATLAB: </a:t>
                </a:r>
                <a:r>
                  <a:rPr lang="tr-TR" dirty="0" err="1"/>
                  <a:t>fzero</a:t>
                </a:r>
                <a:r>
                  <a:rPr lang="tr-TR" dirty="0"/>
                  <a:t> </a:t>
                </a:r>
                <a:r>
                  <a:rPr lang="tr-TR" dirty="0" err="1"/>
                  <a:t>function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  <a:blipFill>
                <a:blip r:embed="rId2"/>
                <a:stretch>
                  <a:fillRect l="-822" t="-191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ABABD678-F600-CD4A-A0C8-6A92FF8E850A}"/>
              </a:ext>
            </a:extLst>
          </p:cNvPr>
          <p:cNvSpPr/>
          <p:nvPr/>
        </p:nvSpPr>
        <p:spPr>
          <a:xfrm>
            <a:off x="327377" y="3747439"/>
            <a:ext cx="677334" cy="27093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627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C7C5-7ED9-2A42-A952-EDFE3A6D9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Chapter</a:t>
            </a:r>
            <a:r>
              <a:rPr lang="tr-TR" dirty="0"/>
              <a:t> </a:t>
            </a:r>
            <a:r>
              <a:rPr lang="tr-TR" dirty="0" err="1"/>
              <a:t>Objectives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A4CB4-07D0-4848-945C-7B36AD4E3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tr-TR" dirty="0"/>
              <a:t>Recognizing the difference between bracketing and open methods for root location.</a:t>
            </a:r>
          </a:p>
          <a:p>
            <a:r>
              <a:rPr lang="en-US" altLang="tr-TR" dirty="0"/>
              <a:t>Understanding the fixed-point iteration method and how you can evaluate its convergence characteristics.</a:t>
            </a:r>
          </a:p>
          <a:p>
            <a:r>
              <a:rPr lang="en-US" altLang="tr-TR" dirty="0"/>
              <a:t>Knowing how to solve a roots problem with the Newton-Raphson method and appreciating the concept of quadratic convergence.</a:t>
            </a:r>
          </a:p>
          <a:p>
            <a:r>
              <a:rPr lang="en-US" altLang="tr-TR" dirty="0"/>
              <a:t>Knowing how to implement both the secant and the modified secant methods.</a:t>
            </a:r>
          </a:p>
          <a:p>
            <a:r>
              <a:rPr lang="en-US" altLang="tr-TR" dirty="0"/>
              <a:t>Knowing how to use MATLAB’s </a:t>
            </a:r>
            <a:r>
              <a:rPr lang="en-US" altLang="tr-TR" dirty="0" err="1">
                <a:latin typeface="Courier" pitchFamily="2" charset="0"/>
              </a:rPr>
              <a:t>fzero</a:t>
            </a:r>
            <a:r>
              <a:rPr lang="en-US" altLang="tr-TR" dirty="0"/>
              <a:t> function to estimate roots.</a:t>
            </a:r>
          </a:p>
          <a:p>
            <a:r>
              <a:rPr lang="en-US" altLang="tr-TR" dirty="0"/>
              <a:t>Learning how to manipulate and determine the roots of polynomials with MATLAB.</a:t>
            </a:r>
            <a:r>
              <a:rPr lang="en-US" altLang="tr-TR" sz="3200" dirty="0"/>
              <a:t>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45492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3777B-5FF2-7F49-A211-BB6A48B6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Overview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BFAE1-CD4A-8C43-99B2-A4CEA8861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Bracketing</a:t>
            </a:r>
            <a:r>
              <a:rPr lang="tr-TR" b="1" dirty="0"/>
              <a:t> </a:t>
            </a:r>
            <a:r>
              <a:rPr lang="tr-TR" b="1" dirty="0" err="1"/>
              <a:t>Methods</a:t>
            </a:r>
            <a:r>
              <a:rPr lang="tr-TR" dirty="0"/>
              <a:t>: </a:t>
            </a:r>
            <a:r>
              <a:rPr lang="tr-TR" dirty="0" err="1"/>
              <a:t>always</a:t>
            </a:r>
            <a:r>
              <a:rPr lang="tr-TR" dirty="0"/>
              <a:t> </a:t>
            </a:r>
            <a:r>
              <a:rPr lang="tr-TR" dirty="0" err="1"/>
              <a:t>result</a:t>
            </a:r>
            <a:r>
              <a:rPr lang="tr-TR" dirty="0"/>
              <a:t> in </a:t>
            </a:r>
            <a:r>
              <a:rPr lang="tr-TR" dirty="0" err="1"/>
              <a:t>closer</a:t>
            </a:r>
            <a:r>
              <a:rPr lang="tr-TR" dirty="0"/>
              <a:t> </a:t>
            </a:r>
            <a:r>
              <a:rPr lang="tr-TR" dirty="0" err="1"/>
              <a:t>estimates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true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. (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b="1" dirty="0" err="1"/>
              <a:t>convergent</a:t>
            </a:r>
            <a:r>
              <a:rPr lang="tr-TR" dirty="0"/>
              <a:t>) </a:t>
            </a:r>
          </a:p>
          <a:p>
            <a:r>
              <a:rPr lang="tr-TR" b="1" dirty="0"/>
              <a:t>Open </a:t>
            </a:r>
            <a:r>
              <a:rPr lang="tr-TR" b="1" dirty="0" err="1"/>
              <a:t>Methods</a:t>
            </a:r>
            <a:r>
              <a:rPr lang="tr-TR" dirty="0"/>
              <a:t>: </a:t>
            </a:r>
            <a:r>
              <a:rPr lang="tr-TR" dirty="0" err="1"/>
              <a:t>require</a:t>
            </a:r>
            <a:r>
              <a:rPr lang="tr-TR" dirty="0"/>
              <a:t> a </a:t>
            </a:r>
            <a:r>
              <a:rPr lang="tr-TR" dirty="0" err="1"/>
              <a:t>single</a:t>
            </a:r>
            <a:r>
              <a:rPr lang="tr-TR" dirty="0"/>
              <a:t> </a:t>
            </a:r>
            <a:r>
              <a:rPr lang="tr-TR" dirty="0" err="1"/>
              <a:t>starting</a:t>
            </a:r>
            <a:r>
              <a:rPr lang="tr-TR" dirty="0"/>
              <a:t> </a:t>
            </a:r>
            <a:r>
              <a:rPr lang="tr-TR" dirty="0" err="1"/>
              <a:t>point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two</a:t>
            </a:r>
            <a:r>
              <a:rPr lang="tr-TR" dirty="0"/>
              <a:t> </a:t>
            </a:r>
            <a:r>
              <a:rPr lang="tr-TR" dirty="0" err="1"/>
              <a:t>starting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do not </a:t>
            </a:r>
            <a:r>
              <a:rPr lang="tr-TR" dirty="0" err="1"/>
              <a:t>necessarily</a:t>
            </a:r>
            <a:r>
              <a:rPr lang="tr-TR" dirty="0"/>
              <a:t> </a:t>
            </a:r>
            <a:r>
              <a:rPr lang="tr-TR" dirty="0" err="1"/>
              <a:t>bracket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</a:t>
            </a:r>
            <a:endParaRPr lang="tr-TR" dirty="0"/>
          </a:p>
          <a:p>
            <a:pPr lvl="1"/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sometimes</a:t>
            </a:r>
            <a:r>
              <a:rPr lang="tr-TR" dirty="0"/>
              <a:t> </a:t>
            </a:r>
            <a:r>
              <a:rPr lang="tr-TR" b="1" dirty="0" err="1"/>
              <a:t>diverge</a:t>
            </a:r>
            <a:r>
              <a:rPr lang="tr-TR" dirty="0"/>
              <a:t> (</a:t>
            </a:r>
            <a:r>
              <a:rPr lang="tr-TR" dirty="0" err="1"/>
              <a:t>move</a:t>
            </a:r>
            <a:r>
              <a:rPr lang="tr-TR" dirty="0"/>
              <a:t> </a:t>
            </a:r>
            <a:r>
              <a:rPr lang="tr-TR" dirty="0" err="1"/>
              <a:t>away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) as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computations</a:t>
            </a:r>
            <a:r>
              <a:rPr lang="tr-TR" dirty="0"/>
              <a:t> </a:t>
            </a:r>
            <a:r>
              <a:rPr lang="tr-TR" dirty="0" err="1"/>
              <a:t>progress</a:t>
            </a:r>
            <a:r>
              <a:rPr lang="tr-TR" dirty="0"/>
              <a:t>. </a:t>
            </a:r>
          </a:p>
          <a:p>
            <a:pPr lvl="1"/>
            <a:r>
              <a:rPr lang="tr-TR" dirty="0" err="1"/>
              <a:t>When</a:t>
            </a:r>
            <a:r>
              <a:rPr lang="tr-TR" dirty="0"/>
              <a:t>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converge</a:t>
            </a:r>
            <a:r>
              <a:rPr lang="tr-TR" dirty="0"/>
              <a:t>,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faster</a:t>
            </a:r>
            <a:r>
              <a:rPr lang="tr-TR" dirty="0"/>
              <a:t>.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6913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EAD28-2A34-234F-A1A1-F32CDFE1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Comparison</a:t>
            </a:r>
            <a:r>
              <a:rPr lang="tr-TR" dirty="0"/>
              <a:t> of </a:t>
            </a:r>
            <a:r>
              <a:rPr lang="tr-TR" dirty="0" err="1"/>
              <a:t>Methods</a:t>
            </a:r>
            <a:r>
              <a:rPr lang="tr-TR" dirty="0"/>
              <a:t> </a:t>
            </a:r>
          </a:p>
        </p:txBody>
      </p:sp>
      <p:pic>
        <p:nvPicPr>
          <p:cNvPr id="4" name="Picture 4" descr="fig0601">
            <a:extLst>
              <a:ext uri="{FF2B5EF4-FFF2-40B4-BE49-F238E27FC236}">
                <a16:creationId xmlns:a16="http://schemas.microsoft.com/office/drawing/2014/main" id="{BEC7C73C-F47B-AF48-9894-2DB6177955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454657"/>
            <a:ext cx="5462648" cy="520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D4D8568-3C39-EF4D-9F5C-EFCA9E40C95B}"/>
              </a:ext>
            </a:extLst>
          </p:cNvPr>
          <p:cNvSpPr txBox="1">
            <a:spLocks noChangeArrowheads="1"/>
          </p:cNvSpPr>
          <p:nvPr/>
        </p:nvSpPr>
        <p:spPr>
          <a:xfrm>
            <a:off x="299852" y="2649187"/>
            <a:ext cx="5495306" cy="1982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AutoNum type="alphaLcParenR"/>
            </a:pPr>
            <a:r>
              <a:rPr lang="en-US" altLang="tr-TR" dirty="0"/>
              <a:t>Bracketing method</a:t>
            </a:r>
          </a:p>
          <a:p>
            <a:pPr marL="609600" indent="-609600">
              <a:buFontTx/>
              <a:buAutoNum type="alphaLcParenR"/>
            </a:pPr>
            <a:r>
              <a:rPr lang="en-US" altLang="tr-TR" dirty="0"/>
              <a:t>Diverging open method</a:t>
            </a:r>
          </a:p>
          <a:p>
            <a:pPr marL="609600" indent="-609600">
              <a:buFontTx/>
              <a:buAutoNum type="alphaLcParenR"/>
            </a:pPr>
            <a:r>
              <a:rPr lang="en-US" altLang="tr-TR" dirty="0"/>
              <a:t>Converging open method - note speed!</a:t>
            </a:r>
          </a:p>
        </p:txBody>
      </p:sp>
    </p:spTree>
    <p:extLst>
      <p:ext uri="{BB962C8B-B14F-4D97-AF65-F5344CB8AC3E}">
        <p14:creationId xmlns:p14="http://schemas.microsoft.com/office/powerpoint/2010/main" val="282024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3967F-2F6B-6443-9D4A-030A08504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Fixed</a:t>
            </a:r>
            <a:r>
              <a:rPr lang="tr-TR" dirty="0"/>
              <a:t> Point </a:t>
            </a:r>
            <a:r>
              <a:rPr lang="tr-TR" dirty="0" err="1"/>
              <a:t>Iteration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8855C-BD97-1C48-9945-E533CA206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one-point</a:t>
            </a:r>
            <a:r>
              <a:rPr lang="tr-T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successive</a:t>
            </a:r>
            <a:r>
              <a:rPr lang="tr-T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endParaRPr lang="tr-TR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tr-TR" sz="2400" dirty="0"/>
              <a:t>Rearrange the function </a:t>
            </a:r>
            <a:r>
              <a:rPr lang="en-US" altLang="tr-TR" sz="2400" i="1" dirty="0"/>
              <a:t>f</a:t>
            </a:r>
            <a:r>
              <a:rPr lang="en-US" altLang="tr-TR" sz="2400" dirty="0"/>
              <a:t>(</a:t>
            </a:r>
            <a:r>
              <a:rPr lang="en-US" altLang="tr-TR" sz="2400" i="1" dirty="0"/>
              <a:t>x</a:t>
            </a:r>
            <a:r>
              <a:rPr lang="en-US" altLang="tr-TR" sz="2400" dirty="0"/>
              <a:t>)=0 so that </a:t>
            </a:r>
            <a:r>
              <a:rPr lang="en-US" altLang="tr-TR" sz="2400" i="1" dirty="0"/>
              <a:t>x</a:t>
            </a:r>
            <a:r>
              <a:rPr lang="en-US" altLang="tr-TR" sz="2400" dirty="0"/>
              <a:t> is on the left-hand side of the equation: </a:t>
            </a:r>
            <a:r>
              <a:rPr lang="en-US" altLang="tr-TR" sz="2400" i="1" dirty="0"/>
              <a:t>x</a:t>
            </a:r>
            <a:r>
              <a:rPr lang="en-US" altLang="tr-TR" sz="2400" dirty="0"/>
              <a:t>=</a:t>
            </a:r>
            <a:r>
              <a:rPr lang="en-US" altLang="tr-TR" sz="2400" i="1" dirty="0"/>
              <a:t>g</a:t>
            </a:r>
            <a:r>
              <a:rPr lang="en-US" altLang="tr-TR" sz="2400" dirty="0"/>
              <a:t>(</a:t>
            </a:r>
            <a:r>
              <a:rPr lang="en-US" altLang="tr-TR" sz="2400" i="1" dirty="0"/>
              <a:t>x</a:t>
            </a:r>
            <a:r>
              <a:rPr lang="en-US" altLang="tr-TR" sz="2400" dirty="0"/>
              <a:t>)</a:t>
            </a:r>
          </a:p>
          <a:p>
            <a:r>
              <a:rPr lang="en-US" altLang="tr-TR" sz="2400" dirty="0"/>
              <a:t>Use the new function </a:t>
            </a:r>
            <a:r>
              <a:rPr lang="en-US" altLang="tr-TR" sz="2400" i="1" dirty="0"/>
              <a:t>g</a:t>
            </a:r>
            <a:r>
              <a:rPr lang="en-US" altLang="tr-TR" sz="2400" dirty="0"/>
              <a:t> to predict a new value of </a:t>
            </a:r>
            <a:r>
              <a:rPr lang="en-US" altLang="tr-TR" sz="2400" i="1" dirty="0"/>
              <a:t>x</a:t>
            </a:r>
            <a:r>
              <a:rPr lang="en-US" altLang="tr-TR" sz="2400" dirty="0"/>
              <a:t> - that is, </a:t>
            </a:r>
            <a:r>
              <a:rPr lang="en-US" altLang="tr-TR" sz="2400" i="1" dirty="0"/>
              <a:t>x</a:t>
            </a:r>
            <a:r>
              <a:rPr lang="en-US" altLang="tr-TR" sz="2400" i="1" baseline="-25000" dirty="0"/>
              <a:t>i</a:t>
            </a:r>
            <a:r>
              <a:rPr lang="en-US" altLang="tr-TR" sz="2400" baseline="-25000" dirty="0"/>
              <a:t>+1</a:t>
            </a:r>
            <a:r>
              <a:rPr lang="en-US" altLang="tr-TR" sz="2400" dirty="0"/>
              <a:t>=</a:t>
            </a:r>
            <a:r>
              <a:rPr lang="en-US" altLang="tr-TR" sz="2400" i="1" dirty="0"/>
              <a:t>g</a:t>
            </a:r>
            <a:r>
              <a:rPr lang="en-US" altLang="tr-TR" sz="2400" dirty="0"/>
              <a:t>(</a:t>
            </a:r>
            <a:r>
              <a:rPr lang="en-US" altLang="tr-TR" sz="2400" i="1" dirty="0"/>
              <a:t>x</a:t>
            </a:r>
            <a:r>
              <a:rPr lang="en-US" altLang="tr-TR" sz="2400" i="1" baseline="-25000" dirty="0"/>
              <a:t>i</a:t>
            </a:r>
            <a:r>
              <a:rPr lang="en-US" altLang="tr-TR" sz="2400" dirty="0"/>
              <a:t>)</a:t>
            </a:r>
          </a:p>
          <a:p>
            <a:r>
              <a:rPr lang="en-US" altLang="tr-TR" sz="2400" dirty="0"/>
              <a:t>The approximate error is given by:</a:t>
            </a:r>
          </a:p>
          <a:p>
            <a:endParaRPr lang="en-US" altLang="tr-TR" sz="2400" dirty="0"/>
          </a:p>
          <a:p>
            <a:endParaRPr lang="tr-TR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dirty="0"/>
          </a:p>
          <a:p>
            <a:endParaRPr lang="tr-TR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8F45C450-9AE4-D043-88FB-D04A0BD65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4189413"/>
          <a:ext cx="2468563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3" imgW="7099300" imgH="2628900" progId="Equation.3">
                  <p:embed/>
                </p:oleObj>
              </mc:Choice>
              <mc:Fallback>
                <p:oleObj name="Equation" r:id="rId3" imgW="7099300" imgH="2628900" progId="Equation.3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0E87889D-BCEA-9441-B708-6958913E7B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189413"/>
                        <a:ext cx="2468563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480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9CC6604-504A-BE4B-A322-3F1DFF96E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Example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28C0962-4673-4F47-8009-43B9E72F7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tr-TR" dirty="0"/>
              <a:t>Solve </a:t>
            </a:r>
            <a:r>
              <a:rPr lang="en-US" altLang="tr-TR" i="1" dirty="0"/>
              <a:t>f</a:t>
            </a:r>
            <a:r>
              <a:rPr lang="en-US" altLang="tr-TR" dirty="0"/>
              <a:t>(</a:t>
            </a:r>
            <a:r>
              <a:rPr lang="en-US" altLang="tr-TR" i="1" dirty="0"/>
              <a:t>x</a:t>
            </a:r>
            <a:r>
              <a:rPr lang="en-US" altLang="tr-TR" dirty="0"/>
              <a:t>)=</a:t>
            </a:r>
            <a:r>
              <a:rPr lang="en-US" altLang="tr-TR" i="1" dirty="0"/>
              <a:t>e</a:t>
            </a:r>
            <a:r>
              <a:rPr lang="en-US" altLang="tr-TR" i="1" baseline="30000" dirty="0"/>
              <a:t>-x</a:t>
            </a:r>
            <a:r>
              <a:rPr lang="en-US" altLang="tr-TR" i="1" dirty="0"/>
              <a:t>-x</a:t>
            </a:r>
            <a:endParaRPr lang="en-US" altLang="tr-TR" dirty="0"/>
          </a:p>
          <a:p>
            <a:pPr eaLnBrk="1" hangingPunct="1">
              <a:lnSpc>
                <a:spcPct val="90000"/>
              </a:lnSpc>
            </a:pPr>
            <a:r>
              <a:rPr lang="en-US" altLang="tr-TR" dirty="0"/>
              <a:t>Re-write as </a:t>
            </a:r>
            <a:r>
              <a:rPr lang="en-US" altLang="tr-TR" i="1" dirty="0"/>
              <a:t>x</a:t>
            </a:r>
            <a:r>
              <a:rPr lang="en-US" altLang="tr-TR" dirty="0"/>
              <a:t>=</a:t>
            </a:r>
            <a:r>
              <a:rPr lang="en-US" altLang="tr-TR" i="1" dirty="0"/>
              <a:t>g</a:t>
            </a:r>
            <a:r>
              <a:rPr lang="en-US" altLang="tr-TR" dirty="0"/>
              <a:t>(</a:t>
            </a:r>
            <a:r>
              <a:rPr lang="en-US" altLang="tr-TR" i="1" dirty="0"/>
              <a:t>x</a:t>
            </a:r>
            <a:r>
              <a:rPr lang="en-US" altLang="tr-TR" dirty="0"/>
              <a:t>) by isolating </a:t>
            </a:r>
            <a:r>
              <a:rPr lang="en-US" altLang="tr-TR" i="1" dirty="0"/>
              <a:t>x </a:t>
            </a:r>
            <a:r>
              <a:rPr lang="en-US" altLang="tr-TR" dirty="0"/>
              <a:t>(example: </a:t>
            </a:r>
            <a:r>
              <a:rPr lang="en-US" altLang="tr-TR" i="1" dirty="0"/>
              <a:t>x</a:t>
            </a:r>
            <a:r>
              <a:rPr lang="en-US" altLang="tr-TR" dirty="0"/>
              <a:t>=</a:t>
            </a:r>
            <a:r>
              <a:rPr lang="en-US" altLang="tr-TR" i="1" dirty="0"/>
              <a:t>e</a:t>
            </a:r>
            <a:r>
              <a:rPr lang="en-US" altLang="tr-TR" i="1" baseline="30000" dirty="0"/>
              <a:t>-x</a:t>
            </a:r>
            <a:r>
              <a:rPr lang="en-US" altLang="tr-TR" dirty="0"/>
              <a:t>)</a:t>
            </a:r>
            <a:endParaRPr lang="en-US" altLang="tr-TR" i="1" baseline="30000" dirty="0"/>
          </a:p>
          <a:p>
            <a:pPr eaLnBrk="1" hangingPunct="1">
              <a:lnSpc>
                <a:spcPct val="90000"/>
              </a:lnSpc>
            </a:pPr>
            <a:r>
              <a:rPr lang="en-US" altLang="tr-TR" dirty="0"/>
              <a:t>Start with an initial guess (here, 0)</a:t>
            </a:r>
            <a:br>
              <a:rPr lang="en-US" altLang="tr-TR" dirty="0"/>
            </a:br>
            <a:br>
              <a:rPr lang="en-US" altLang="tr-TR" dirty="0"/>
            </a:br>
            <a:br>
              <a:rPr lang="en-US" altLang="tr-TR" dirty="0"/>
            </a:br>
            <a:br>
              <a:rPr lang="en-US" altLang="tr-TR" dirty="0"/>
            </a:br>
            <a:endParaRPr lang="en-US" altLang="tr-TR" dirty="0"/>
          </a:p>
          <a:p>
            <a:pPr eaLnBrk="1" hangingPunct="1">
              <a:lnSpc>
                <a:spcPct val="90000"/>
              </a:lnSpc>
            </a:pPr>
            <a:endParaRPr lang="en-US" altLang="tr-TR" dirty="0"/>
          </a:p>
          <a:p>
            <a:pPr marL="0" indent="0" eaLnBrk="1" hangingPunct="1">
              <a:lnSpc>
                <a:spcPct val="90000"/>
              </a:lnSpc>
              <a:buNone/>
            </a:pPr>
            <a:br>
              <a:rPr lang="en-US" altLang="tr-TR" dirty="0"/>
            </a:br>
            <a:endParaRPr lang="en-US" altLang="tr-TR" dirty="0"/>
          </a:p>
          <a:p>
            <a:pPr eaLnBrk="1" hangingPunct="1">
              <a:lnSpc>
                <a:spcPct val="90000"/>
              </a:lnSpc>
            </a:pPr>
            <a:endParaRPr lang="en-US" altLang="tr-TR" dirty="0"/>
          </a:p>
          <a:p>
            <a:pPr eaLnBrk="1" hangingPunct="1">
              <a:lnSpc>
                <a:spcPct val="90000"/>
              </a:lnSpc>
            </a:pPr>
            <a:r>
              <a:rPr lang="en-US" altLang="tr-TR" dirty="0"/>
              <a:t>Continue until some tolerance is reached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dirty="0"/>
              <a:t>True value is: 0.56714329. </a:t>
            </a:r>
          </a:p>
        </p:txBody>
      </p:sp>
      <p:graphicFrame>
        <p:nvGraphicFramePr>
          <p:cNvPr id="75858" name="Group 82">
            <a:extLst>
              <a:ext uri="{FF2B5EF4-FFF2-40B4-BE49-F238E27FC236}">
                <a16:creationId xmlns:a16="http://schemas.microsoft.com/office/drawing/2014/main" id="{2069F15C-5802-A94A-8305-569838430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2162"/>
              </p:ext>
            </p:extLst>
          </p:nvPr>
        </p:nvGraphicFramePr>
        <p:xfrm>
          <a:off x="1196662" y="2836623"/>
          <a:ext cx="5410200" cy="2194404"/>
        </p:xfrm>
        <a:graphic>
          <a:graphicData uri="http://schemas.openxmlformats.org/drawingml/2006/table">
            <a:tbl>
              <a:tblPr/>
              <a:tblGrid>
                <a:gridCol w="580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i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x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20" charset="-128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|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ＭＳ Ｐゴシック" pitchFamily="20" charset="-128"/>
                          <a:sym typeface="Symbol" pitchFamily="18" charset="2"/>
                        </a:rPr>
                        <a:t>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a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| %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|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ＭＳ Ｐゴシック" pitchFamily="20" charset="-128"/>
                          <a:sym typeface="Symbol" pitchFamily="18" charset="2"/>
                        </a:rPr>
                        <a:t>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t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| %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|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ＭＳ Ｐゴシック" pitchFamily="20" charset="-128"/>
                          <a:sym typeface="Symbol" pitchFamily="18" charset="2"/>
                        </a:rPr>
                        <a:t>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t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|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i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/|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ＭＳ Ｐゴシック" pitchFamily="20" charset="-128"/>
                          <a:sym typeface="Symbol" pitchFamily="18" charset="2"/>
                        </a:rPr>
                        <a:t>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t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|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20" charset="-128"/>
                        </a:rPr>
                        <a:t>i-1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0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0.0000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20" charset="0"/>
                        <a:ea typeface="ＭＳ Ｐゴシック" pitchFamily="20" charset="-128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100.000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20" charset="0"/>
                        <a:ea typeface="ＭＳ Ｐゴシック" pitchFamily="20" charset="-128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1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1.0000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100.000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 76.322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0.763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2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0.3679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171.828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 35.135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0.460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3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0.6922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 46.854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 22.050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0.628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4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0.5005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 38.309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 11.755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20" charset="0"/>
                          <a:ea typeface="ＭＳ Ｐゴシック" pitchFamily="20" charset="-128"/>
                        </a:rPr>
                        <a:t>0.533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13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50F2-AAF6-3B41-9803-3A6431537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285CF-9EC4-3648-A44D-832AFDDA4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Solve </a:t>
            </a:r>
            <a:r>
              <a:rPr lang="en-US" altLang="tr-TR" i="1" dirty="0"/>
              <a:t>f</a:t>
            </a:r>
            <a:r>
              <a:rPr lang="en-US" altLang="tr-TR" dirty="0"/>
              <a:t>(</a:t>
            </a:r>
            <a:r>
              <a:rPr lang="en-US" altLang="tr-TR" i="1" dirty="0"/>
              <a:t>x</a:t>
            </a:r>
            <a:r>
              <a:rPr lang="en-US" altLang="tr-TR" dirty="0"/>
              <a:t>)=</a:t>
            </a:r>
            <a:r>
              <a:rPr lang="en-US" altLang="tr-TR" i="1" dirty="0"/>
              <a:t>e</a:t>
            </a:r>
            <a:r>
              <a:rPr lang="en-US" altLang="tr-TR" i="1" baseline="30000" dirty="0"/>
              <a:t>-x</a:t>
            </a:r>
            <a:r>
              <a:rPr lang="en-US" altLang="tr-TR" i="1" dirty="0"/>
              <a:t>-x</a:t>
            </a:r>
            <a:endParaRPr lang="en-US" altLang="tr-TR" dirty="0"/>
          </a:p>
          <a:p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33596-A665-5942-BE89-3B77A4A93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55781"/>
            <a:ext cx="7126357" cy="403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76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1347-1E70-0645-BAFC-5F0447FF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Alternative</a:t>
            </a:r>
            <a:r>
              <a:rPr lang="tr-TR" dirty="0"/>
              <a:t> </a:t>
            </a:r>
            <a:r>
              <a:rPr lang="tr-TR" dirty="0" err="1"/>
              <a:t>Approach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A530E-7698-1E40-A149-0D1128026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593" y="1690688"/>
            <a:ext cx="6901070" cy="4628184"/>
          </a:xfrm>
        </p:spPr>
        <p:txBody>
          <a:bodyPr/>
          <a:lstStyle/>
          <a:p>
            <a:r>
              <a:rPr lang="tr-TR" dirty="0" err="1"/>
              <a:t>Seperate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equation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two</a:t>
            </a:r>
            <a:r>
              <a:rPr lang="tr-TR" dirty="0"/>
              <a:t> </a:t>
            </a:r>
            <a:r>
              <a:rPr lang="tr-TR" dirty="0" err="1"/>
              <a:t>component</a:t>
            </a:r>
            <a:r>
              <a:rPr lang="tr-TR" dirty="0"/>
              <a:t> </a:t>
            </a:r>
            <a:r>
              <a:rPr lang="tr-TR" dirty="0" err="1"/>
              <a:t>parts</a:t>
            </a:r>
            <a:r>
              <a:rPr lang="tr-TR" dirty="0"/>
              <a:t>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Can be </a:t>
            </a:r>
            <a:r>
              <a:rPr lang="tr-TR" dirty="0" err="1"/>
              <a:t>plotted</a:t>
            </a:r>
            <a:r>
              <a:rPr lang="tr-TR" dirty="0"/>
              <a:t> </a:t>
            </a:r>
            <a:r>
              <a:rPr lang="tr-TR" dirty="0" err="1"/>
              <a:t>seperately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x </a:t>
            </a:r>
            <a:r>
              <a:rPr lang="tr-TR" dirty="0" err="1"/>
              <a:t>values</a:t>
            </a:r>
            <a:r>
              <a:rPr lang="tr-TR" dirty="0"/>
              <a:t> </a:t>
            </a:r>
            <a:r>
              <a:rPr lang="tr-TR" dirty="0" err="1"/>
              <a:t>corresponding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intersections</a:t>
            </a:r>
            <a:r>
              <a:rPr lang="tr-TR" dirty="0"/>
              <a:t> of </a:t>
            </a:r>
            <a:r>
              <a:rPr lang="tr-TR" dirty="0" err="1"/>
              <a:t>these</a:t>
            </a:r>
            <a:r>
              <a:rPr lang="tr-TR" dirty="0"/>
              <a:t> </a:t>
            </a:r>
            <a:r>
              <a:rPr lang="tr-TR" dirty="0" err="1"/>
              <a:t>functions</a:t>
            </a:r>
            <a:r>
              <a:rPr lang="tr-TR" dirty="0"/>
              <a:t> </a:t>
            </a:r>
            <a:r>
              <a:rPr lang="tr-TR" dirty="0" err="1"/>
              <a:t>represent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roots</a:t>
            </a:r>
            <a:r>
              <a:rPr lang="tr-TR"/>
              <a:t> f(x) = 0. </a:t>
            </a:r>
            <a:endParaRPr lang="tr-TR" dirty="0"/>
          </a:p>
        </p:txBody>
      </p:sp>
      <p:pic>
        <p:nvPicPr>
          <p:cNvPr id="4" name="Picture 76" descr="fig0602">
            <a:extLst>
              <a:ext uri="{FF2B5EF4-FFF2-40B4-BE49-F238E27FC236}">
                <a16:creationId xmlns:a16="http://schemas.microsoft.com/office/drawing/2014/main" id="{499DB40B-D3B5-7A4E-94BF-5B24B212E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472" y="505784"/>
            <a:ext cx="3636137" cy="59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F7277-2C18-6747-9CB2-B017CA984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10" y="2219775"/>
            <a:ext cx="3000789" cy="252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15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B6F699B-2B7A-9C47-B185-2D3030A8A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Convergence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8B38C75-3108-A94F-B48D-7B4FCBF788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2138" y="1447800"/>
            <a:ext cx="4572000" cy="4724400"/>
          </a:xfrm>
        </p:spPr>
        <p:txBody>
          <a:bodyPr/>
          <a:lstStyle/>
          <a:p>
            <a:pPr marL="609600" indent="-609600"/>
            <a:r>
              <a:rPr lang="en-US" altLang="tr-TR" sz="2400" dirty="0"/>
              <a:t>Convergence of the simple fixed-point iteration method requires that the derivative of g(x) near the root has a magnitude less than 1.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Convergent, 0 ≤ </a:t>
            </a:r>
            <a:r>
              <a:rPr lang="en-US" altLang="tr-TR" i="1" dirty="0"/>
              <a:t>g</a:t>
            </a:r>
            <a:r>
              <a:rPr lang="en-US" altLang="tr-TR" dirty="0"/>
              <a:t>’ &lt;1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Convergent, -1 &lt; </a:t>
            </a:r>
            <a:r>
              <a:rPr lang="en-US" altLang="tr-TR" i="1" dirty="0"/>
              <a:t>g</a:t>
            </a:r>
            <a:r>
              <a:rPr lang="en-US" altLang="tr-TR" dirty="0"/>
              <a:t>’ ≤0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Divergent, </a:t>
            </a:r>
            <a:r>
              <a:rPr lang="en-US" altLang="tr-TR" i="1" dirty="0"/>
              <a:t>g’ </a:t>
            </a:r>
            <a:r>
              <a:rPr lang="en-US" altLang="tr-TR" dirty="0"/>
              <a:t>&gt; 1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Divergent, </a:t>
            </a:r>
            <a:r>
              <a:rPr lang="en-US" altLang="tr-TR" i="1"/>
              <a:t>g’ </a:t>
            </a:r>
            <a:r>
              <a:rPr lang="en-US" altLang="tr-TR"/>
              <a:t>&lt; -1</a:t>
            </a:r>
            <a:endParaRPr lang="en-US" altLang="tr-TR" dirty="0"/>
          </a:p>
        </p:txBody>
      </p:sp>
      <p:pic>
        <p:nvPicPr>
          <p:cNvPr id="11268" name="Picture 4" descr="fig0603">
            <a:extLst>
              <a:ext uri="{FF2B5EF4-FFF2-40B4-BE49-F238E27FC236}">
                <a16:creationId xmlns:a16="http://schemas.microsoft.com/office/drawing/2014/main" id="{1ADEB0A7-DB4E-E245-86C4-D4F12D354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640" y="365125"/>
            <a:ext cx="5731604" cy="6228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0983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1917</TotalTime>
  <Words>488</Words>
  <Application>Microsoft Macintosh PowerPoint</Application>
  <PresentationFormat>Widescreen</PresentationFormat>
  <Paragraphs>91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ＭＳ Ｐゴシック</vt:lpstr>
      <vt:lpstr>Arial</vt:lpstr>
      <vt:lpstr>Calibri</vt:lpstr>
      <vt:lpstr>Calibri Light</vt:lpstr>
      <vt:lpstr>Cambria Math</vt:lpstr>
      <vt:lpstr>Courier</vt:lpstr>
      <vt:lpstr>Symbol</vt:lpstr>
      <vt:lpstr>Times New Roman</vt:lpstr>
      <vt:lpstr>Office Theme</vt:lpstr>
      <vt:lpstr>Equation</vt:lpstr>
      <vt:lpstr>Roots: Open Methods </vt:lpstr>
      <vt:lpstr>Overview</vt:lpstr>
      <vt:lpstr>Chapter Objectives </vt:lpstr>
      <vt:lpstr>Overview </vt:lpstr>
      <vt:lpstr>Graphical Comparison of Methods </vt:lpstr>
      <vt:lpstr>Fixed Point Iteration</vt:lpstr>
      <vt:lpstr>Example</vt:lpstr>
      <vt:lpstr>Example </vt:lpstr>
      <vt:lpstr>Alternative Approach </vt:lpstr>
      <vt:lpstr>Convergence</vt:lpstr>
    </vt:vector>
  </TitlesOfParts>
  <Company/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Roots and Optimization </dc:title>
  <dc:creator>Cigdem Eroglu Erdem</dc:creator>
  <cp:lastModifiedBy>Cigdem Eroglu Erdem</cp:lastModifiedBy>
  <cp:revision>33</cp:revision>
  <dcterms:created xsi:type="dcterms:W3CDTF">2018-03-03T07:50:51Z</dcterms:created>
  <dcterms:modified xsi:type="dcterms:W3CDTF">2018-03-12T04:48:30Z</dcterms:modified>
</cp:coreProperties>
</file>