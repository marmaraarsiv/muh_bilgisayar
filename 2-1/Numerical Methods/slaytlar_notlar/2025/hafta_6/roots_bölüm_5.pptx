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260" r:id="rId25"/>
    <p:sldId id="261" r:id="rId26"/>
    <p:sldId id="262" r:id="rId27"/>
    <p:sldId id="313" r:id="rId28"/>
    <p:sldId id="314" r:id="rId29"/>
    <p:sldId id="315" r:id="rId30"/>
    <p:sldId id="312" r:id="rId31"/>
    <p:sldId id="263" r:id="rId32"/>
    <p:sldId id="264" r:id="rId33"/>
    <p:sldId id="266" r:id="rId34"/>
    <p:sldId id="267" r:id="rId35"/>
    <p:sldId id="268" r:id="rId36"/>
    <p:sldId id="269" r:id="rId37"/>
    <p:sldId id="272" r:id="rId38"/>
    <p:sldId id="316" r:id="rId39"/>
    <p:sldId id="273" r:id="rId40"/>
    <p:sldId id="282" r:id="rId41"/>
    <p:sldId id="274" r:id="rId42"/>
    <p:sldId id="275" r:id="rId43"/>
    <p:sldId id="276" r:id="rId44"/>
    <p:sldId id="277" r:id="rId45"/>
    <p:sldId id="278" r:id="rId46"/>
    <p:sldId id="279" r:id="rId47"/>
    <p:sldId id="281" r:id="rId48"/>
    <p:sldId id="280" r:id="rId49"/>
    <p:sldId id="283" r:id="rId50"/>
    <p:sldId id="284" r:id="rId51"/>
    <p:sldId id="286" r:id="rId52"/>
    <p:sldId id="287" r:id="rId53"/>
    <p:sldId id="288" r:id="rId54"/>
    <p:sldId id="289" r:id="rId55"/>
    <p:sldId id="292" r:id="rId5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31"/>
    <p:restoredTop sz="94648"/>
  </p:normalViewPr>
  <p:slideViewPr>
    <p:cSldViewPr snapToGrid="0" snapToObjects="1">
      <p:cViewPr varScale="1">
        <p:scale>
          <a:sx n="90" d="100"/>
          <a:sy n="90" d="100"/>
        </p:scale>
        <p:origin x="20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76288-5E28-0C42-BBE0-E7E6FF76B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444C1-C0F4-2743-A8BA-CCF06E1D5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8DBE0-DCE8-4B48-9DC6-5D01DF934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1D608-B6AD-1640-A85E-3515CA090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83C2D-C8CF-0A40-AF93-A424086D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949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78011-8E88-794F-984D-EC6AD1CA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7BFFF-9CBD-5E42-A7CB-92ACD339A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EDEC2-AE75-7E43-B7F0-AADC4DE2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56025-1061-9F42-93AA-EE630F8C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A1B90-2BB9-A247-A24A-25EFDFDE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5960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E643-7A92-3044-8873-079595172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F841A-3428-1D41-A7D4-627E114BD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0B59E-8A86-E247-BC4B-08B6F2A0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CFF9A-8159-8E4C-A4C7-A97A57486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80CC0-E6FC-5245-855C-73CB9087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474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803E-B0B4-FF42-BC19-CFD7A6783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00DBE-2BA9-654F-818D-176248E0FF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DBF2F-7B36-5F4C-B6F4-2B1ABF905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A3703-75AE-B247-86B6-673C68F8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7A2CE-35CE-4042-938F-1CAA457D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63C31-F2C3-EA45-B2D9-3F53F05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517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D5F4-D6C0-4749-9804-127513BF0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550A1-F2DC-A34C-B7C3-ACB0FC648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F0644F-8637-FB42-B98F-7F14221BA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E62CB0-DCD2-C842-A469-C9225347F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6C87A-5BFF-5C4C-A9D2-025586B74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B6E410-32A2-4541-AB46-26660D8D6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CECAD9-413B-7F45-90C4-6D3944A5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483A2D-10F7-9842-89F3-206962900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01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E1EA-B16F-3E45-92BD-216AC0D60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5321EE-3FD9-BA4F-8FCC-36A7CF100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A6352C-D970-7F4F-9B10-0277B13E4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315C5-2950-0C4F-94CD-884D98B5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960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4D69F-2927-A643-8444-60CEF645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88686F-147A-8148-80DD-F3A93D6E9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933D4-90CD-5649-802C-68194AE2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5186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C0D09-681D-0145-8916-025BA2A42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DC641-6574-CE42-A264-864D31C20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46312-DA62-0845-ADEF-898CA71601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E6D4A-C81F-934F-A628-C7B8EDDA8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5B17A-4752-A64B-A5F3-F7530205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6570A-2121-FA40-A561-5EB5B855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34638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59A23-3543-BC4C-8217-B116C555A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43613-F82B-824A-8D11-12E0A4BFEB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E28FD-B8B9-2642-A8C7-8E822E12F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9F93A-FDD1-854C-8362-81D19A4D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51A66-2B49-1D4E-984D-2FC99B5C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E336A3-31D8-F345-A100-87AE7214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64493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DBA9-3C50-784C-AC46-D85852173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242B4-63B6-2347-BB66-9B88F94EB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4897C-5AF8-C048-9B30-6955A7C1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7A9E9-EDE0-0748-B900-796E21BC9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22B3E-20E6-004E-9745-2ED19D18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91902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AD5B2-374E-5042-8619-FC7DCD0FAD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1F9B45-C8CC-DC4B-AD26-28E69E350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019B0-E343-294E-9DE4-441554833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48210-7166-6C4E-8383-4C9FDF8D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3A9FE-346D-FA48-A910-B92EB07F7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3978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C08E4C-4B09-6D4C-BC9B-A6ACA33A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r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10733-47F6-FA47-AEA1-A3C8A10A2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48327-2315-164B-AC68-9861D7BBCD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E53AE-8190-5D46-BFA3-4CEDCF0B2EA9}" type="datetimeFigureOut">
              <a:rPr lang="tr-TR" smtClean="0"/>
              <a:t>30.10.2025</a:t>
            </a:fld>
            <a:endParaRPr lang="tr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16710-A3F1-B341-B8E3-842AD7B4F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8D580-97B7-5E43-8EF4-D72BD4BB4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4658D3-B816-324D-B698-F0E1CC075F9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131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4.png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36EA0-0BCC-E545-A574-0836162985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err="1"/>
              <a:t>Roots</a:t>
            </a:r>
            <a:endParaRPr lang="tr-T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48220-A9AD-6E4E-A6A0-A8E51BEEE5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354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865BD-DC39-7145-A117-E72F1F6F0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FF2997-D2C9-0E41-8C0F-9F9656A5A2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5617" y="1825625"/>
            <a:ext cx="8540765" cy="4351338"/>
          </a:xfrm>
        </p:spPr>
      </p:pic>
    </p:spTree>
    <p:extLst>
      <p:ext uri="{BB962C8B-B14F-4D97-AF65-F5344CB8AC3E}">
        <p14:creationId xmlns:p14="http://schemas.microsoft.com/office/powerpoint/2010/main" val="3720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E2EB-F2B2-6845-A30F-AA57B45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Overview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0AFD1-C211-E14A-822D-B6ECC2FDE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145" y="1453018"/>
                <a:ext cx="10802655" cy="4622105"/>
              </a:xfrm>
            </p:spPr>
            <p:txBody>
              <a:bodyPr>
                <a:normAutofit/>
              </a:bodyPr>
              <a:lstStyle/>
              <a:p>
                <a:r>
                  <a:rPr lang="tr-TR" dirty="0"/>
                  <a:t>Roots</a:t>
                </a:r>
              </a:p>
              <a:p>
                <a:pPr lvl="1"/>
                <a:r>
                  <a:rPr lang="tr-TR" dirty="0" err="1"/>
                  <a:t>Points</a:t>
                </a:r>
                <a:r>
                  <a:rPr lang="tr-TR" dirty="0"/>
                  <a:t> of a </a:t>
                </a:r>
                <a:r>
                  <a:rPr lang="tr-TR" dirty="0" err="1"/>
                  <a:t>nonlinear</a:t>
                </a:r>
                <a:r>
                  <a:rPr lang="tr-TR" dirty="0"/>
                  <a:t> </a:t>
                </a:r>
                <a:r>
                  <a:rPr lang="tr-TR" dirty="0" err="1"/>
                  <a:t>equation</a:t>
                </a:r>
                <a:r>
                  <a:rPr lang="tr-TR" dirty="0"/>
                  <a:t> </a:t>
                </a:r>
                <a:r>
                  <a:rPr lang="tr-TR" dirty="0" err="1"/>
                  <a:t>where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tr-TR" b="0" dirty="0"/>
              </a:p>
              <a:p>
                <a:pPr lvl="1"/>
                <a:r>
                  <a:rPr lang="tr-TR" b="1" dirty="0" err="1"/>
                  <a:t>Bracketing</a:t>
                </a:r>
                <a:r>
                  <a:rPr lang="tr-TR" b="1" dirty="0"/>
                  <a:t> </a:t>
                </a:r>
                <a:r>
                  <a:rPr lang="tr-TR" b="1" dirty="0" err="1"/>
                  <a:t>methods</a:t>
                </a:r>
                <a:r>
                  <a:rPr lang="tr-TR" dirty="0"/>
                  <a:t>: start </a:t>
                </a:r>
                <a:r>
                  <a:rPr lang="tr-TR" dirty="0" err="1"/>
                  <a:t>with</a:t>
                </a:r>
                <a:r>
                  <a:rPr lang="tr-TR" dirty="0"/>
                  <a:t> a </a:t>
                </a:r>
                <a:r>
                  <a:rPr lang="tr-TR" dirty="0" err="1"/>
                  <a:t>guess</a:t>
                </a:r>
                <a:r>
                  <a:rPr lang="tr-TR" dirty="0"/>
                  <a:t> </a:t>
                </a:r>
                <a:r>
                  <a:rPr lang="tr-TR" dirty="0" err="1"/>
                  <a:t>for</a:t>
                </a:r>
                <a:r>
                  <a:rPr lang="tr-TR" dirty="0"/>
                  <a:t> a </a:t>
                </a:r>
                <a:r>
                  <a:rPr lang="tr-TR" dirty="0" err="1"/>
                  <a:t>range</a:t>
                </a:r>
                <a:r>
                  <a:rPr lang="tr-TR" dirty="0"/>
                  <a:t> </a:t>
                </a:r>
                <a:r>
                  <a:rPr lang="tr-TR" dirty="0" err="1"/>
                  <a:t>containing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root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reduce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width</a:t>
                </a:r>
                <a:r>
                  <a:rPr lang="tr-TR" dirty="0"/>
                  <a:t> of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bracket</a:t>
                </a:r>
                <a:r>
                  <a:rPr lang="tr-TR" dirty="0"/>
                  <a:t> </a:t>
                </a:r>
                <a:r>
                  <a:rPr lang="tr-TR" dirty="0" err="1"/>
                  <a:t>iteratively</a:t>
                </a:r>
                <a:r>
                  <a:rPr lang="tr-TR" dirty="0"/>
                  <a:t>. (</a:t>
                </a:r>
                <a:r>
                  <a:rPr lang="tr-TR" dirty="0" err="1"/>
                  <a:t>reliable</a:t>
                </a:r>
                <a:r>
                  <a:rPr lang="tr-TR" dirty="0"/>
                  <a:t>)</a:t>
                </a:r>
              </a:p>
              <a:p>
                <a:pPr lvl="2"/>
                <a:r>
                  <a:rPr lang="tr-TR" b="0" dirty="0" err="1"/>
                  <a:t>Bisecti</a:t>
                </a:r>
                <a:r>
                  <a:rPr lang="tr-TR" dirty="0" err="1"/>
                  <a:t>on</a:t>
                </a:r>
                <a:r>
                  <a:rPr lang="tr-TR" dirty="0"/>
                  <a:t> </a:t>
                </a:r>
                <a:r>
                  <a:rPr lang="tr-TR" dirty="0" err="1"/>
                  <a:t>method</a:t>
                </a:r>
                <a:endParaRPr lang="tr-TR" dirty="0"/>
              </a:p>
              <a:p>
                <a:pPr lvl="2"/>
                <a:r>
                  <a:rPr lang="tr-TR" b="0" dirty="0" err="1"/>
                  <a:t>False</a:t>
                </a:r>
                <a:r>
                  <a:rPr lang="tr-TR" b="0" dirty="0"/>
                  <a:t> </a:t>
                </a:r>
                <a:r>
                  <a:rPr lang="tr-TR" b="0" dirty="0" err="1"/>
                  <a:t>position</a:t>
                </a:r>
                <a:r>
                  <a:rPr lang="tr-TR" b="0" dirty="0"/>
                  <a:t> </a:t>
                </a:r>
                <a:r>
                  <a:rPr lang="tr-TR" b="0" dirty="0" err="1"/>
                  <a:t>method</a:t>
                </a:r>
                <a:endParaRPr lang="tr-TR" dirty="0"/>
              </a:p>
              <a:p>
                <a:pPr lvl="1"/>
                <a:r>
                  <a:rPr lang="tr-TR" b="1" dirty="0"/>
                  <a:t>Open </a:t>
                </a:r>
                <a:r>
                  <a:rPr lang="tr-TR" b="1" dirty="0" err="1"/>
                  <a:t>Methods</a:t>
                </a:r>
                <a:r>
                  <a:rPr lang="tr-TR" b="1" dirty="0"/>
                  <a:t> </a:t>
                </a:r>
                <a:r>
                  <a:rPr lang="tr-TR" dirty="0"/>
                  <a:t>(</a:t>
                </a:r>
                <a:r>
                  <a:rPr lang="tr-TR" dirty="0" err="1"/>
                  <a:t>fast</a:t>
                </a:r>
                <a:r>
                  <a:rPr lang="tr-TR" dirty="0"/>
                  <a:t>) </a:t>
                </a:r>
              </a:p>
              <a:p>
                <a:pPr lvl="2"/>
                <a:r>
                  <a:rPr lang="tr-TR" dirty="0" err="1"/>
                  <a:t>Fixed-point</a:t>
                </a:r>
                <a:r>
                  <a:rPr lang="tr-TR" dirty="0"/>
                  <a:t> </a:t>
                </a:r>
                <a:r>
                  <a:rPr lang="tr-TR" dirty="0" err="1"/>
                  <a:t>iteration</a:t>
                </a:r>
                <a:endParaRPr lang="tr-TR" dirty="0"/>
              </a:p>
              <a:p>
                <a:pPr lvl="2"/>
                <a:r>
                  <a:rPr lang="tr-TR" dirty="0"/>
                  <a:t>Newton-</a:t>
                </a:r>
                <a:r>
                  <a:rPr lang="tr-TR" dirty="0" err="1"/>
                  <a:t>Raphson</a:t>
                </a:r>
                <a:endParaRPr lang="tr-TR" dirty="0"/>
              </a:p>
              <a:p>
                <a:pPr lvl="2"/>
                <a:r>
                  <a:rPr lang="tr-TR" dirty="0" err="1"/>
                  <a:t>Secant</a:t>
                </a:r>
                <a:r>
                  <a:rPr lang="tr-TR" dirty="0"/>
                  <a:t> </a:t>
                </a:r>
                <a:r>
                  <a:rPr lang="tr-TR" dirty="0" err="1"/>
                  <a:t>methods</a:t>
                </a:r>
                <a:endParaRPr lang="tr-TR" dirty="0"/>
              </a:p>
              <a:p>
                <a:pPr lvl="1"/>
                <a:r>
                  <a:rPr lang="tr-TR" dirty="0" err="1"/>
                  <a:t>Hybrid</a:t>
                </a:r>
                <a:r>
                  <a:rPr lang="tr-TR" dirty="0"/>
                  <a:t> </a:t>
                </a:r>
                <a:r>
                  <a:rPr lang="tr-TR" dirty="0" err="1"/>
                  <a:t>Methods</a:t>
                </a:r>
                <a:r>
                  <a:rPr lang="tr-TR" dirty="0"/>
                  <a:t>: </a:t>
                </a:r>
                <a:r>
                  <a:rPr lang="tr-TR" dirty="0" err="1"/>
                  <a:t>Brent’s</a:t>
                </a:r>
                <a:r>
                  <a:rPr lang="tr-TR" dirty="0"/>
                  <a:t> </a:t>
                </a:r>
                <a:r>
                  <a:rPr lang="tr-TR" dirty="0" err="1"/>
                  <a:t>root</a:t>
                </a:r>
                <a:r>
                  <a:rPr lang="tr-TR" dirty="0"/>
                  <a:t> </a:t>
                </a:r>
                <a:r>
                  <a:rPr lang="tr-TR" dirty="0" err="1"/>
                  <a:t>finding</a:t>
                </a:r>
                <a:r>
                  <a:rPr lang="tr-TR" dirty="0"/>
                  <a:t> </a:t>
                </a:r>
                <a:r>
                  <a:rPr lang="tr-TR" dirty="0" err="1"/>
                  <a:t>method</a:t>
                </a:r>
                <a:r>
                  <a:rPr lang="tr-TR" dirty="0"/>
                  <a:t> (</a:t>
                </a:r>
                <a:r>
                  <a:rPr lang="tr-TR" dirty="0" err="1"/>
                  <a:t>Fast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reliable</a:t>
                </a:r>
                <a:r>
                  <a:rPr lang="tr-TR" dirty="0"/>
                  <a:t>) </a:t>
                </a:r>
              </a:p>
              <a:p>
                <a:pPr lvl="1"/>
                <a:r>
                  <a:rPr lang="tr-TR" dirty="0"/>
                  <a:t>MATLAB: </a:t>
                </a:r>
                <a:r>
                  <a:rPr lang="tr-TR" dirty="0" err="1"/>
                  <a:t>fzero</a:t>
                </a:r>
                <a:r>
                  <a:rPr lang="tr-TR" dirty="0"/>
                  <a:t> </a:t>
                </a:r>
                <a:r>
                  <a:rPr lang="tr-TR" dirty="0" err="1"/>
                  <a:t>function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0AFD1-C211-E14A-822D-B6ECC2FDE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145" y="1453018"/>
                <a:ext cx="10802655" cy="4622105"/>
              </a:xfrm>
              <a:blipFill>
                <a:blip r:embed="rId2"/>
                <a:stretch>
                  <a:fillRect l="-822" t="-191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766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3D371-1B33-DA44-8BAC-A8CB4330E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Overview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C2C57-3403-DD48-8C09-3FF97A565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Optimization</a:t>
            </a:r>
            <a:endParaRPr lang="tr-TR" dirty="0"/>
          </a:p>
          <a:p>
            <a:pPr lvl="1"/>
            <a:r>
              <a:rPr lang="tr-TR" dirty="0" err="1"/>
              <a:t>Bracketing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:</a:t>
            </a:r>
          </a:p>
          <a:p>
            <a:pPr lvl="2"/>
            <a:r>
              <a:rPr lang="tr-TR" dirty="0"/>
              <a:t>Golden-</a:t>
            </a:r>
            <a:r>
              <a:rPr lang="tr-TR" dirty="0" err="1"/>
              <a:t>section</a:t>
            </a:r>
            <a:r>
              <a:rPr lang="tr-TR" dirty="0"/>
              <a:t> </a:t>
            </a:r>
            <a:r>
              <a:rPr lang="tr-TR" dirty="0" err="1"/>
              <a:t>search</a:t>
            </a:r>
            <a:endParaRPr lang="tr-TR" dirty="0"/>
          </a:p>
          <a:p>
            <a:pPr lvl="2"/>
            <a:r>
              <a:rPr lang="tr-TR" dirty="0" err="1"/>
              <a:t>Parabolic</a:t>
            </a:r>
            <a:r>
              <a:rPr lang="tr-TR" dirty="0"/>
              <a:t> </a:t>
            </a:r>
            <a:r>
              <a:rPr lang="tr-TR" dirty="0" err="1"/>
              <a:t>interpolation</a:t>
            </a:r>
            <a:r>
              <a:rPr lang="tr-TR" dirty="0"/>
              <a:t> </a:t>
            </a:r>
          </a:p>
          <a:p>
            <a:pPr lvl="1"/>
            <a:r>
              <a:rPr lang="tr-TR" dirty="0" err="1"/>
              <a:t>Hybrid</a:t>
            </a:r>
            <a:r>
              <a:rPr lang="tr-TR" dirty="0"/>
              <a:t> </a:t>
            </a:r>
            <a:r>
              <a:rPr lang="tr-TR" dirty="0" err="1"/>
              <a:t>approach</a:t>
            </a:r>
            <a:r>
              <a:rPr lang="tr-TR" dirty="0"/>
              <a:t>: </a:t>
            </a:r>
            <a:r>
              <a:rPr lang="tr-TR" dirty="0" err="1"/>
              <a:t>combine</a:t>
            </a:r>
            <a:r>
              <a:rPr lang="tr-TR" dirty="0"/>
              <a:t> golden-</a:t>
            </a:r>
            <a:r>
              <a:rPr lang="tr-TR" dirty="0" err="1"/>
              <a:t>section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quadratic</a:t>
            </a:r>
            <a:r>
              <a:rPr lang="tr-TR" dirty="0"/>
              <a:t> </a:t>
            </a:r>
            <a:r>
              <a:rPr lang="tr-TR" dirty="0" err="1"/>
              <a:t>interpolation</a:t>
            </a:r>
            <a:endParaRPr lang="tr-TR" dirty="0"/>
          </a:p>
          <a:p>
            <a:pPr lvl="1"/>
            <a:r>
              <a:rPr lang="tr-TR" dirty="0"/>
              <a:t>MATLAB: </a:t>
            </a:r>
            <a:r>
              <a:rPr lang="tr-TR" dirty="0" err="1"/>
              <a:t>fminbnd</a:t>
            </a:r>
            <a:endParaRPr lang="tr-TR" dirty="0"/>
          </a:p>
          <a:p>
            <a:pPr lvl="1"/>
            <a:r>
              <a:rPr lang="tr-TR" dirty="0" err="1"/>
              <a:t>Multidimensional</a:t>
            </a:r>
            <a:r>
              <a:rPr lang="tr-TR" dirty="0"/>
              <a:t> </a:t>
            </a:r>
            <a:r>
              <a:rPr lang="tr-TR" dirty="0" err="1"/>
              <a:t>optimization</a:t>
            </a:r>
            <a:endParaRPr lang="tr-TR" dirty="0"/>
          </a:p>
          <a:p>
            <a:pPr lvl="2"/>
            <a:r>
              <a:rPr lang="tr-TR" dirty="0"/>
              <a:t>MATLAB: </a:t>
            </a:r>
            <a:r>
              <a:rPr lang="tr-TR" dirty="0" err="1"/>
              <a:t>fminsearch</a:t>
            </a:r>
            <a:r>
              <a:rPr lang="tr-TR" dirty="0"/>
              <a:t>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310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4B32B-189A-60EC-1C89-B28D5310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82418-21C1-5A1C-C4C9-69ABA6002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0863A0-34CD-D7DD-6679-6631A3D35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74235"/>
            <a:ext cx="6077798" cy="87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327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10EEF-C492-83D8-38D9-3D1E1985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AE538-9929-5F74-954F-1705ED6C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44A38-DB6C-7FFB-920B-C6D2309BF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7ED6AB-576C-E4F7-37F2-C00392772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74235"/>
            <a:ext cx="6077798" cy="876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92B394-C4F8-329C-F9F2-9A2B6B86E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01294"/>
            <a:ext cx="5753903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85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8B85A-C932-7E96-659A-77DBE18F7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219E-12C0-DDCC-248D-C1315580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1BA67-FDBF-F629-BF7F-8622EEB8FF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  <a:r>
              <a:rPr lang="en-GB" dirty="0"/>
              <a:t> Find x that makes the function f(x) zero (find root).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DC5A3F-D4F5-E455-47A2-258598350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2270"/>
            <a:ext cx="522042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851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60E22-F431-BEDD-91EE-FEAF1B09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C1A47-C0AA-BEBE-B5D4-0DF4EF974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BA151-62FF-92F3-6AA5-B0D70C4BB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  <a:r>
              <a:rPr lang="en-GB" dirty="0"/>
              <a:t> Find x that makes the function f(x) zero (find root).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Cannot be solved analytically.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0F0AB7-82E4-ADED-DA69-069BDE618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2270"/>
            <a:ext cx="522042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967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A8326-4F6D-9FCF-3E97-EB089794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C2049-0D06-7CEA-56D0-8DA519A14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FD34E-FDB0-391F-8E45-6A1526E39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  <a:r>
              <a:rPr lang="en-GB" dirty="0"/>
              <a:t> Find x that makes the function f(x) zero (find root).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Cannot be solved analytically.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9D79E7-D0EC-97E8-FEC4-0B0182944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2270"/>
            <a:ext cx="522042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79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1E91B-8B64-9EDA-EC0D-EF4490079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EA71-8C8B-B459-74ED-214076DF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3A0BD-81B0-FB73-73BD-403043F79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  <a:r>
              <a:rPr lang="en-GB" dirty="0"/>
              <a:t> Find x that makes the function f(x) zero (find root).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Cannot be solved analytically.</a:t>
            </a:r>
          </a:p>
          <a:p>
            <a:r>
              <a:rPr lang="en-US" dirty="0"/>
              <a:t>One method to obtain an approximate solution is to plot the function and determine where it crosses the </a:t>
            </a:r>
            <a:r>
              <a:rPr lang="en-US" i="1" dirty="0"/>
              <a:t>x </a:t>
            </a:r>
            <a:r>
              <a:rPr lang="en-US" dirty="0"/>
              <a:t>axis. </a:t>
            </a:r>
            <a:br>
              <a:rPr lang="en-US" dirty="0"/>
            </a:b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685DB9-4267-5DF0-6FCE-D2BB04186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2270"/>
            <a:ext cx="522042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92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37D1A-D290-68B4-9814-6819F6435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E2617-BFFC-EEFF-3E1C-C3A1687C0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2BB6C-89A3-225B-6310-27606784E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  <a:r>
              <a:rPr lang="en-GB" dirty="0"/>
              <a:t> Find x that makes the function f(x) zero (find root).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Cannot be solved analytically.</a:t>
            </a:r>
          </a:p>
          <a:p>
            <a:r>
              <a:rPr lang="en-US" dirty="0"/>
              <a:t>One method to obtain an approximate solution is to plot the function and determine where it crosses the </a:t>
            </a:r>
            <a:r>
              <a:rPr lang="en-US" i="1" dirty="0"/>
              <a:t>x </a:t>
            </a:r>
            <a:r>
              <a:rPr lang="en-US" dirty="0"/>
              <a:t>axis. </a:t>
            </a:r>
          </a:p>
          <a:p>
            <a:br>
              <a:rPr lang="en-US" dirty="0"/>
            </a:b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85B2A7-ACDE-D69E-34F1-6CEBB6EF8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22270"/>
            <a:ext cx="522042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743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98811-C6FB-759F-4DE6-3262107D3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12EE-FBC7-6877-2035-B781BB6D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1FCBB-159A-532A-BCFE-061BAFCAC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  <a:r>
              <a:rPr lang="en-GB" dirty="0"/>
              <a:t> Find x that makes the function f(x) zero (find root).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Cannot be solved analytically.</a:t>
            </a:r>
          </a:p>
          <a:p>
            <a:r>
              <a:rPr lang="en-US" dirty="0"/>
              <a:t>One method to obtain an approximate solution is to plot the function and determine where it crosses the </a:t>
            </a:r>
            <a:r>
              <a:rPr lang="en-US" i="1" dirty="0"/>
              <a:t>x </a:t>
            </a:r>
            <a:r>
              <a:rPr lang="en-US" dirty="0"/>
              <a:t>axis. </a:t>
            </a:r>
          </a:p>
          <a:p>
            <a:r>
              <a:rPr lang="en-US" dirty="0"/>
              <a:t>Although graphical methods are useful for obtaining rough estimates of roots, they are limited because of their lack of precision. </a:t>
            </a:r>
            <a:br>
              <a:rPr lang="en-US" dirty="0"/>
            </a:br>
            <a:br>
              <a:rPr lang="en-US" dirty="0"/>
            </a:b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FE91F-897B-CDED-D0AF-CE21432EC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2051"/>
            <a:ext cx="522042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634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B530-4D7D-4669-DEAF-6B66DC37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66F4-878C-6C26-E544-F8086087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4B2D-52BB-DE01-BF5A-6C2AEB5B9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  <a:r>
              <a:rPr lang="en-GB" dirty="0"/>
              <a:t> Find x that makes the function f(x) zero (find root).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Cannot be solved analytically.</a:t>
            </a:r>
          </a:p>
          <a:p>
            <a:r>
              <a:rPr lang="en-US" dirty="0"/>
              <a:t>An alternative approach is to use trial and error. </a:t>
            </a:r>
          </a:p>
          <a:p>
            <a:r>
              <a:rPr lang="en-US" dirty="0"/>
              <a:t>This “technique” consists of guessing a value of </a:t>
            </a:r>
            <a:r>
              <a:rPr lang="en-US" i="1" dirty="0"/>
              <a:t>x </a:t>
            </a:r>
            <a:r>
              <a:rPr lang="en-US" dirty="0"/>
              <a:t>and evaluating whether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is zero.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2F7CB4-304F-0ACB-DF6A-DBBC4BFEA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2051"/>
            <a:ext cx="522042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58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E6A54-1A62-599F-56B3-ABAC87A9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CB23-DAFE-2AEF-ABE1-5EA57D0C4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6266A-C345-8865-D4AA-1BD5466A9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  <a:r>
              <a:rPr lang="en-GB" dirty="0"/>
              <a:t> Find x that makes the function f(x) zero (find root).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Cannot be solved analytically.</a:t>
            </a:r>
          </a:p>
          <a:p>
            <a:r>
              <a:rPr lang="en-US" dirty="0"/>
              <a:t>An alternative approach is to use trial and error. </a:t>
            </a:r>
          </a:p>
          <a:p>
            <a:r>
              <a:rPr lang="en-US" dirty="0"/>
              <a:t>This “technique” consists of guessing a value of </a:t>
            </a:r>
            <a:r>
              <a:rPr lang="en-US" i="1" dirty="0"/>
              <a:t>x </a:t>
            </a:r>
            <a:r>
              <a:rPr lang="en-US" dirty="0"/>
              <a:t>and evaluating whether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is zero.</a:t>
            </a:r>
          </a:p>
          <a:p>
            <a:r>
              <a:rPr lang="en-US" dirty="0"/>
              <a:t>If not (as is almost always the case), another guess is made, and </a:t>
            </a:r>
            <a:r>
              <a:rPr lang="en-US" b="1" i="1" dirty="0"/>
              <a:t>f</a:t>
            </a:r>
            <a:r>
              <a:rPr lang="en-US" b="1" dirty="0"/>
              <a:t>(</a:t>
            </a:r>
            <a:r>
              <a:rPr lang="en-US" b="1" i="1" dirty="0"/>
              <a:t>x</a:t>
            </a:r>
            <a:r>
              <a:rPr lang="en-US" b="1" dirty="0"/>
              <a:t>) is again evaluated </a:t>
            </a:r>
            <a:r>
              <a:rPr lang="en-US" dirty="0"/>
              <a:t>to determine whether the new value provides a better estimate of the root. </a:t>
            </a:r>
            <a:r>
              <a:rPr lang="en-US" b="1" dirty="0"/>
              <a:t>The process is repeated until a guess is obtained </a:t>
            </a:r>
            <a:r>
              <a:rPr lang="en-US" dirty="0"/>
              <a:t>that results in an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that is close to zero. 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7E8880-D593-701A-AC09-4563B1361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2051"/>
            <a:ext cx="522042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35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E8E0B-0532-8C97-7946-F8AF7517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09D26-CF7C-A95F-97B7-349A0D1B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003636-4917-8982-1BAD-A3FE52CB8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tr-TR" dirty="0"/>
              <a:t>How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Solve</a:t>
            </a:r>
            <a:r>
              <a:rPr lang="tr-TR" dirty="0"/>
              <a:t>?</a:t>
            </a:r>
            <a:r>
              <a:rPr lang="en-GB" dirty="0"/>
              <a:t> Find x that makes the function f(x) zero (find root).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Cannot be solved analytically.</a:t>
            </a:r>
          </a:p>
          <a:p>
            <a:r>
              <a:rPr lang="en-US" dirty="0"/>
              <a:t>An alternative approach is to use trial and error. </a:t>
            </a:r>
          </a:p>
          <a:p>
            <a:r>
              <a:rPr lang="en-US" dirty="0"/>
              <a:t>This “technique” consists of guessing a value of </a:t>
            </a:r>
            <a:r>
              <a:rPr lang="en-US" i="1" dirty="0"/>
              <a:t>x </a:t>
            </a:r>
            <a:r>
              <a:rPr lang="en-US" dirty="0"/>
              <a:t>and evaluating whether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is zero.</a:t>
            </a:r>
          </a:p>
          <a:p>
            <a:r>
              <a:rPr lang="en-US" dirty="0"/>
              <a:t>If not (as is almost always the case), another guess is made, and </a:t>
            </a:r>
            <a:r>
              <a:rPr lang="en-US" b="1" i="1" dirty="0"/>
              <a:t>f</a:t>
            </a:r>
            <a:r>
              <a:rPr lang="en-US" b="1" dirty="0"/>
              <a:t>(</a:t>
            </a:r>
            <a:r>
              <a:rPr lang="en-US" b="1" i="1" dirty="0"/>
              <a:t>x</a:t>
            </a:r>
            <a:r>
              <a:rPr lang="en-US" b="1" dirty="0"/>
              <a:t>) is again evaluated </a:t>
            </a:r>
            <a:r>
              <a:rPr lang="en-US" dirty="0"/>
              <a:t>to determine whether the new value provides a better estimate of the root. </a:t>
            </a:r>
            <a:r>
              <a:rPr lang="en-US" b="1" dirty="0"/>
              <a:t>The process is repeated until a guess is obtained </a:t>
            </a:r>
            <a:r>
              <a:rPr lang="en-US" dirty="0"/>
              <a:t>that results in an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that is close to zero. </a:t>
            </a:r>
          </a:p>
          <a:p>
            <a:r>
              <a:rPr lang="en-GB" dirty="0"/>
              <a:t>Such methods may be inadequate!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721D7-1ACB-427F-AA95-3D51ACCEA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62051"/>
            <a:ext cx="5220429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952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1DA3-F787-BA72-FE4B-71F22F4A7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F086-0351-B048-0564-FEEDC34BF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1D12-7AEA-3A70-CBB8-D6D75EF15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tr-TR" sz="2000" dirty="0"/>
              <a:t>How </a:t>
            </a:r>
            <a:r>
              <a:rPr lang="tr-TR" sz="2000" dirty="0" err="1"/>
              <a:t>to</a:t>
            </a:r>
            <a:r>
              <a:rPr lang="tr-TR" sz="2000" dirty="0"/>
              <a:t> </a:t>
            </a:r>
            <a:r>
              <a:rPr lang="tr-TR" sz="2000" dirty="0" err="1"/>
              <a:t>Solve</a:t>
            </a:r>
            <a:r>
              <a:rPr lang="tr-TR" sz="2000" dirty="0"/>
              <a:t>?</a:t>
            </a:r>
            <a:r>
              <a:rPr lang="en-GB" sz="2000" dirty="0"/>
              <a:t> Find x that makes the function f(x) zero (find root).</a:t>
            </a:r>
            <a:endParaRPr lang="tr-TR" sz="2000" dirty="0"/>
          </a:p>
          <a:p>
            <a:endParaRPr lang="tr-TR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Cannot be solved analytically.</a:t>
            </a:r>
          </a:p>
          <a:p>
            <a:r>
              <a:rPr lang="en-US" sz="2000" dirty="0"/>
              <a:t>An alternative approach is to use trial and error. </a:t>
            </a:r>
          </a:p>
          <a:p>
            <a:r>
              <a:rPr lang="en-US" sz="2000" dirty="0"/>
              <a:t>This “technique” consists of guessing a value of </a:t>
            </a:r>
            <a:r>
              <a:rPr lang="en-US" sz="2000" i="1" dirty="0"/>
              <a:t>x </a:t>
            </a:r>
            <a:r>
              <a:rPr lang="en-US" sz="2000" dirty="0"/>
              <a:t>and evaluating whether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is zero.</a:t>
            </a:r>
          </a:p>
          <a:p>
            <a:r>
              <a:rPr lang="en-US" sz="2000" dirty="0"/>
              <a:t>If not (as is almost always the case), another guess is made, and </a:t>
            </a:r>
            <a:r>
              <a:rPr lang="en-US" sz="2000" b="1" i="1" dirty="0"/>
              <a:t>f</a:t>
            </a:r>
            <a:r>
              <a:rPr lang="en-US" sz="2000" b="1" dirty="0"/>
              <a:t>(</a:t>
            </a:r>
            <a:r>
              <a:rPr lang="en-US" sz="2000" b="1" i="1" dirty="0"/>
              <a:t>x</a:t>
            </a:r>
            <a:r>
              <a:rPr lang="en-US" sz="2000" b="1" dirty="0"/>
              <a:t>) is again evaluated </a:t>
            </a:r>
            <a:r>
              <a:rPr lang="en-US" sz="2000" dirty="0"/>
              <a:t>to determine whether the new value provides a better estimate of the root. </a:t>
            </a:r>
            <a:r>
              <a:rPr lang="en-US" sz="2000" b="1" dirty="0"/>
              <a:t>The process is repeated until a guess is obtained </a:t>
            </a:r>
            <a:r>
              <a:rPr lang="en-US" sz="2000" dirty="0"/>
              <a:t>that results in an </a:t>
            </a:r>
            <a:r>
              <a:rPr lang="en-US" sz="2000" i="1" dirty="0"/>
              <a:t>f</a:t>
            </a:r>
            <a:r>
              <a:rPr lang="en-US" sz="2000" dirty="0"/>
              <a:t>(</a:t>
            </a:r>
            <a:r>
              <a:rPr lang="en-US" sz="2000" i="1" dirty="0"/>
              <a:t>x</a:t>
            </a:r>
            <a:r>
              <a:rPr lang="en-US" sz="2000" dirty="0"/>
              <a:t>) that is close to zero. </a:t>
            </a:r>
          </a:p>
          <a:p>
            <a:r>
              <a:rPr lang="en-GB" sz="2000" dirty="0"/>
              <a:t>Such methods may be inadequate!</a:t>
            </a:r>
          </a:p>
          <a:p>
            <a:r>
              <a:rPr lang="en-GB" sz="2000" dirty="0"/>
              <a:t>Thus, we will learn </a:t>
            </a:r>
            <a:r>
              <a:rPr lang="en-GB" sz="2000" b="1" dirty="0"/>
              <a:t>systematic approaches </a:t>
            </a:r>
            <a:r>
              <a:rPr lang="en-GB" sz="2000" dirty="0"/>
              <a:t>to approximate true value of root.</a:t>
            </a:r>
            <a:endParaRPr lang="tr-TR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08292-07DF-C669-B786-2B4A141D8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362051"/>
            <a:ext cx="5013960" cy="102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9308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268C5-84C4-AD34-D8BA-396EA1F8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BD183-5E7D-444B-A73D-868CAE36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FAA39-3FCD-7629-4266-FF70CC6BE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US" dirty="0"/>
              <a:t>where velocity </a:t>
            </a:r>
            <a:r>
              <a:rPr lang="en-US" i="1" dirty="0"/>
              <a:t>v</a:t>
            </a:r>
            <a:r>
              <a:rPr lang="en-US" dirty="0"/>
              <a:t> the dependent variable, time </a:t>
            </a:r>
            <a:r>
              <a:rPr lang="en-US" i="1" dirty="0"/>
              <a:t>t</a:t>
            </a:r>
            <a:r>
              <a:rPr lang="en-US" dirty="0"/>
              <a:t> the independent variable, the gravitational constant </a:t>
            </a:r>
            <a:r>
              <a:rPr lang="en-US" i="1" dirty="0"/>
              <a:t>g </a:t>
            </a:r>
            <a:r>
              <a:rPr lang="en-US" dirty="0"/>
              <a:t> the forcing function, and the drag coefficient </a:t>
            </a:r>
            <a:r>
              <a:rPr lang="en-US" i="1" dirty="0"/>
              <a:t>c </a:t>
            </a:r>
            <a:r>
              <a:rPr lang="en-US" dirty="0"/>
              <a:t>and mass </a:t>
            </a:r>
            <a:r>
              <a:rPr lang="en-US" i="1" dirty="0"/>
              <a:t>m </a:t>
            </a:r>
            <a:r>
              <a:rPr lang="en-US" dirty="0"/>
              <a:t>parameters.</a:t>
            </a:r>
            <a:r>
              <a:rPr lang="en-US" sz="2000" dirty="0"/>
              <a:t> </a:t>
            </a:r>
            <a:br>
              <a:rPr lang="en-US" sz="2000" dirty="0"/>
            </a:br>
            <a:endParaRPr lang="tr-TR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55D198-CF91-86FC-162C-5988ABB97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468113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610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83D6B-E80A-6F24-4068-24D61A9C2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A5F1F-E482-82E3-0BE3-75B33ADAD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8DAC3-390E-7232-2E2C-AE6342DFE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US" dirty="0"/>
              <a:t>where velocity </a:t>
            </a:r>
            <a:r>
              <a:rPr lang="en-US" i="1" dirty="0"/>
              <a:t>v</a:t>
            </a:r>
            <a:r>
              <a:rPr lang="en-US" dirty="0"/>
              <a:t> the dependent variable, time </a:t>
            </a:r>
            <a:r>
              <a:rPr lang="en-US" i="1" dirty="0"/>
              <a:t>t</a:t>
            </a:r>
            <a:r>
              <a:rPr lang="en-US" dirty="0"/>
              <a:t> the independent variable, the gravitational constant </a:t>
            </a:r>
            <a:r>
              <a:rPr lang="en-US" i="1" dirty="0"/>
              <a:t>g </a:t>
            </a:r>
            <a:r>
              <a:rPr lang="en-US" dirty="0"/>
              <a:t> the forcing function, and the drag coefficient </a:t>
            </a:r>
            <a:r>
              <a:rPr lang="en-US" i="1" dirty="0"/>
              <a:t>c </a:t>
            </a:r>
            <a:r>
              <a:rPr lang="en-US" dirty="0"/>
              <a:t>and mass </a:t>
            </a:r>
            <a:r>
              <a:rPr lang="en-US" i="1" dirty="0"/>
              <a:t>m </a:t>
            </a:r>
            <a:r>
              <a:rPr lang="en-US" dirty="0"/>
              <a:t>parameters.</a:t>
            </a:r>
            <a:r>
              <a:rPr lang="en-US" sz="2000" dirty="0"/>
              <a:t> </a:t>
            </a:r>
          </a:p>
          <a:p>
            <a:r>
              <a:rPr lang="en-US" dirty="0"/>
              <a:t>it cannot be solved explicitly for the drag coefficient</a:t>
            </a:r>
            <a:r>
              <a:rPr lang="en-US" sz="2000" dirty="0"/>
              <a:t>.</a:t>
            </a:r>
          </a:p>
          <a:p>
            <a:r>
              <a:rPr lang="en-US" dirty="0"/>
              <a:t>There is no way to rearrange the equation so that </a:t>
            </a:r>
            <a:r>
              <a:rPr lang="en-US" i="1" dirty="0"/>
              <a:t>c </a:t>
            </a:r>
            <a:r>
              <a:rPr lang="en-US" dirty="0"/>
              <a:t>is isolated on one side of the equal sign.</a:t>
            </a:r>
            <a:r>
              <a:rPr lang="en-US" sz="2000" dirty="0"/>
              <a:t> 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tr-TR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288321-3081-DA36-BE64-9C985D658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5468113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884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F103-36FB-7C0D-9A37-C24D715B2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B56BD-4206-53A2-8325-BABD49543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33DF7-7076-BF76-B825-E170C4307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US" dirty="0"/>
              <a:t>where velocity </a:t>
            </a:r>
            <a:r>
              <a:rPr lang="en-US" i="1" dirty="0"/>
              <a:t>v</a:t>
            </a:r>
            <a:r>
              <a:rPr lang="en-US" dirty="0"/>
              <a:t> the dependent variable, time </a:t>
            </a:r>
            <a:r>
              <a:rPr lang="en-US" i="1" dirty="0"/>
              <a:t>t</a:t>
            </a:r>
            <a:r>
              <a:rPr lang="en-US" dirty="0"/>
              <a:t> the independent variable, the gravitational constant </a:t>
            </a:r>
            <a:r>
              <a:rPr lang="en-US" i="1" dirty="0"/>
              <a:t>g </a:t>
            </a:r>
            <a:r>
              <a:rPr lang="en-US" dirty="0"/>
              <a:t> the forcing function, and the drag coefficient </a:t>
            </a:r>
            <a:r>
              <a:rPr lang="en-US" i="1" dirty="0"/>
              <a:t>c </a:t>
            </a:r>
            <a:r>
              <a:rPr lang="en-US" dirty="0"/>
              <a:t>and mass </a:t>
            </a:r>
            <a:r>
              <a:rPr lang="en-US" i="1" dirty="0"/>
              <a:t>m </a:t>
            </a:r>
            <a:r>
              <a:rPr lang="en-US" dirty="0"/>
              <a:t>parameters.</a:t>
            </a:r>
            <a:r>
              <a:rPr lang="en-US" sz="2000" dirty="0"/>
              <a:t> </a:t>
            </a:r>
          </a:p>
          <a:p>
            <a:r>
              <a:rPr lang="en-US" dirty="0"/>
              <a:t>it cannot be solved explicitly for the drag coefficient</a:t>
            </a:r>
            <a:r>
              <a:rPr lang="en-US" sz="2000" dirty="0"/>
              <a:t>.</a:t>
            </a:r>
          </a:p>
          <a:p>
            <a:r>
              <a:rPr lang="en-US" dirty="0"/>
              <a:t>There is no way to rearrange the equation so that </a:t>
            </a:r>
            <a:r>
              <a:rPr lang="en-US" i="1" dirty="0"/>
              <a:t>c </a:t>
            </a:r>
            <a:r>
              <a:rPr lang="en-US" dirty="0"/>
              <a:t>is isolated on one side of the equal sign.</a:t>
            </a:r>
            <a:r>
              <a:rPr lang="en-US" sz="2000" dirty="0"/>
              <a:t> </a:t>
            </a:r>
          </a:p>
          <a:p>
            <a:r>
              <a:rPr lang="en-US" dirty="0"/>
              <a:t>In such cases, </a:t>
            </a:r>
            <a:r>
              <a:rPr lang="en-US" i="1" dirty="0"/>
              <a:t>c </a:t>
            </a:r>
            <a:r>
              <a:rPr lang="en-US" dirty="0"/>
              <a:t>is said to be </a:t>
            </a:r>
            <a:r>
              <a:rPr lang="en-US" i="1" dirty="0"/>
              <a:t>implicit</a:t>
            </a:r>
            <a:r>
              <a:rPr lang="en-US" sz="2000" i="1" dirty="0"/>
              <a:t>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tr-TR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32EA2E-7595-4151-3581-48DB5D5FD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8388"/>
            <a:ext cx="5468113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871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0F4F5-4228-E120-712B-8F018BBF1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CD28-67EF-214F-CC91-68C05DB31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Motivation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B276B-8BB3-5575-FC35-B226CC416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endParaRPr lang="en-GB" sz="2000" dirty="0"/>
          </a:p>
          <a:p>
            <a:endParaRPr lang="en-GB" sz="2000" dirty="0"/>
          </a:p>
          <a:p>
            <a:endParaRPr lang="en-GB" sz="2000" dirty="0"/>
          </a:p>
          <a:p>
            <a:r>
              <a:rPr lang="en-US" dirty="0"/>
              <a:t>To solve the problem using numerical methods, it is conventional to </a:t>
            </a:r>
            <a:r>
              <a:rPr lang="en-US" dirty="0" err="1"/>
              <a:t>reexpress</a:t>
            </a:r>
            <a:r>
              <a:rPr lang="en-US" dirty="0"/>
              <a:t> Eq above.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value of </a:t>
            </a:r>
            <a:r>
              <a:rPr lang="en-US" i="1" dirty="0"/>
              <a:t>c </a:t>
            </a:r>
            <a:r>
              <a:rPr lang="en-US" dirty="0"/>
              <a:t>that makes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c</a:t>
            </a:r>
            <a:r>
              <a:rPr lang="en-US" dirty="0"/>
              <a:t>) 0 is, therefore, the root of the equation. 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br>
              <a:rPr lang="en-US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tr-TR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2F5F8E-ECCB-F8CD-2A3F-891533B35B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8388"/>
            <a:ext cx="5468113" cy="1667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7DF248-7040-948F-7E72-0B394FED0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905" y="4159250"/>
            <a:ext cx="5420481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126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0E519-3AAA-8652-0B1A-D459C63F1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8575-1706-D41D-B11D-DE41A363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Mathematical </a:t>
            </a:r>
            <a:r>
              <a:rPr lang="en-GB" dirty="0" err="1"/>
              <a:t>Bckground</a:t>
            </a:r>
            <a:r>
              <a:rPr lang="en-GB" dirty="0"/>
              <a:t>.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0DA12-57D3-8A41-3D5A-58508C2A7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691"/>
            <a:ext cx="10515600" cy="5098184"/>
          </a:xfrm>
        </p:spPr>
        <p:txBody>
          <a:bodyPr>
            <a:noAutofit/>
          </a:bodyPr>
          <a:lstStyle/>
          <a:p>
            <a:r>
              <a:rPr lang="en-US" dirty="0"/>
              <a:t>By definition, a function given by </a:t>
            </a:r>
            <a:r>
              <a:rPr lang="en-US" i="1" dirty="0"/>
              <a:t>y </a:t>
            </a:r>
            <a:r>
              <a:rPr lang="tr-TR" i="1" dirty="0"/>
              <a:t>=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x</a:t>
            </a:r>
            <a:r>
              <a:rPr lang="en-US" dirty="0"/>
              <a:t>) is algebraic if it can be expressed in the form</a:t>
            </a:r>
            <a:r>
              <a:rPr lang="tr-TR" dirty="0"/>
              <a:t>:</a:t>
            </a:r>
          </a:p>
          <a:p>
            <a:endParaRPr lang="tr-TR" dirty="0"/>
          </a:p>
          <a:p>
            <a:r>
              <a:rPr lang="en-US" i="1" dirty="0"/>
              <a:t>Polynomials </a:t>
            </a:r>
            <a:r>
              <a:rPr lang="en-US" dirty="0"/>
              <a:t>are a simple class of </a:t>
            </a:r>
            <a:r>
              <a:rPr lang="en-US" dirty="0" err="1"/>
              <a:t>algebrai</a:t>
            </a:r>
            <a:r>
              <a:rPr lang="tr-TR" dirty="0"/>
              <a:t>c </a:t>
            </a:r>
            <a:r>
              <a:rPr lang="en-US" dirty="0"/>
              <a:t>functions that are represented generally by </a:t>
            </a:r>
            <a:endParaRPr lang="tr-TR" dirty="0"/>
          </a:p>
          <a:p>
            <a:endParaRPr lang="tr-TR" dirty="0"/>
          </a:p>
          <a:p>
            <a:r>
              <a:rPr lang="tr-TR" dirty="0" err="1"/>
              <a:t>Some</a:t>
            </a:r>
            <a:r>
              <a:rPr lang="tr-TR" dirty="0"/>
              <a:t> </a:t>
            </a:r>
            <a:r>
              <a:rPr lang="tr-TR" dirty="0" err="1"/>
              <a:t>examples</a:t>
            </a:r>
            <a:r>
              <a:rPr lang="tr-TR" dirty="0"/>
              <a:t>:</a:t>
            </a:r>
          </a:p>
          <a:p>
            <a:br>
              <a:rPr lang="en-US" dirty="0"/>
            </a:br>
            <a:br>
              <a:rPr lang="en-US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tr-TR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D7E553-42BD-83D4-AE82-05F0449F92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783" y="2128509"/>
            <a:ext cx="4143953" cy="476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736438-F11E-7411-F0E2-F19253D38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099" y="3629812"/>
            <a:ext cx="4277322" cy="533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28D0BA-73E0-0755-7F29-107903AA76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783" y="4847655"/>
            <a:ext cx="3010320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01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85716-87DA-D6F8-CC57-D0278280A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E98E-D0CB-EB38-2CE7-1C802F48E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Mathematical </a:t>
            </a:r>
            <a:r>
              <a:rPr lang="en-GB" dirty="0" err="1"/>
              <a:t>Bckground</a:t>
            </a:r>
            <a:r>
              <a:rPr lang="en-GB" dirty="0"/>
              <a:t>.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51B24-4D42-ECAF-CBC5-29616C57A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691"/>
            <a:ext cx="10515600" cy="5098184"/>
          </a:xfrm>
        </p:spPr>
        <p:txBody>
          <a:bodyPr>
            <a:noAutofit/>
          </a:bodyPr>
          <a:lstStyle/>
          <a:p>
            <a:r>
              <a:rPr lang="en-US" dirty="0"/>
              <a:t>A </a:t>
            </a:r>
            <a:r>
              <a:rPr lang="en-US" i="1" dirty="0"/>
              <a:t>transcendental </a:t>
            </a:r>
            <a:r>
              <a:rPr lang="en-US" dirty="0"/>
              <a:t>function is one that is </a:t>
            </a:r>
            <a:r>
              <a:rPr lang="en-US" dirty="0" err="1"/>
              <a:t>nonalgebraic</a:t>
            </a:r>
            <a:r>
              <a:rPr lang="en-US" dirty="0"/>
              <a:t>. These include </a:t>
            </a:r>
            <a:r>
              <a:rPr lang="en-US" dirty="0" err="1"/>
              <a:t>trigonometric,exponential</a:t>
            </a:r>
            <a:r>
              <a:rPr lang="en-US" dirty="0"/>
              <a:t>, logarithmic, and other, less familiar, functions.</a:t>
            </a:r>
            <a:r>
              <a:rPr lang="en-US" sz="2000" dirty="0"/>
              <a:t> </a:t>
            </a:r>
            <a:endParaRPr lang="tr-TR" sz="2000" dirty="0"/>
          </a:p>
          <a:p>
            <a:r>
              <a:rPr lang="tr-TR" sz="2000" dirty="0" err="1"/>
              <a:t>Some</a:t>
            </a:r>
            <a:r>
              <a:rPr lang="tr-TR" sz="2000" dirty="0"/>
              <a:t> </a:t>
            </a:r>
            <a:r>
              <a:rPr lang="tr-TR" sz="2000" dirty="0" err="1"/>
              <a:t>examples</a:t>
            </a:r>
            <a:r>
              <a:rPr lang="tr-TR" sz="2000" dirty="0"/>
              <a:t>:</a:t>
            </a:r>
          </a:p>
          <a:p>
            <a:pPr marL="0" indent="0">
              <a:buNone/>
            </a:pP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tr-TR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D9A068-B316-44DB-8A4E-4AC36F277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231" y="3549961"/>
            <a:ext cx="3019846" cy="1409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642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B8460-1DAB-F893-18BA-989C2CFF0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29DDD-04DA-ED59-ADE2-E9C7ECE5D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4" y="90124"/>
            <a:ext cx="10515600" cy="1325563"/>
          </a:xfrm>
        </p:spPr>
        <p:txBody>
          <a:bodyPr/>
          <a:lstStyle/>
          <a:p>
            <a:r>
              <a:rPr lang="tr-TR" dirty="0" err="1"/>
              <a:t>Orientation</a:t>
            </a:r>
            <a:r>
              <a:rPr lang="tr-TR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24B79-9A63-AF06-0DC2-16BB939E5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691"/>
            <a:ext cx="10515600" cy="5098184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tr-TR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4187D7-2FA0-892D-31BE-9FA0C905F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322" y="1129220"/>
            <a:ext cx="5828723" cy="548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18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8731-5A70-354E-9668-9F7B4B83A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Roots</a:t>
            </a:r>
            <a:r>
              <a:rPr lang="tr-TR" dirty="0"/>
              <a:t>: </a:t>
            </a:r>
            <a:r>
              <a:rPr lang="tr-TR" dirty="0" err="1"/>
              <a:t>Bracketing</a:t>
            </a:r>
            <a:r>
              <a:rPr lang="tr-TR" dirty="0"/>
              <a:t> </a:t>
            </a:r>
            <a:r>
              <a:rPr lang="tr-TR" dirty="0" err="1"/>
              <a:t>Methods</a:t>
            </a:r>
            <a:endParaRPr lang="tr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0D3DB-4795-5B45-89B3-5D1AC3B34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5674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8524A-D4E8-424C-B8DD-63399DB95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Chapter</a:t>
            </a:r>
            <a:r>
              <a:rPr lang="tr-TR" dirty="0"/>
              <a:t> </a:t>
            </a:r>
            <a:r>
              <a:rPr lang="tr-TR" dirty="0" err="1"/>
              <a:t>Objectives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2993C-0F6A-244D-A952-74123B629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Understanding what roots problems are and where they occur in engineering and science.</a:t>
            </a:r>
          </a:p>
          <a:p>
            <a:r>
              <a:rPr lang="en-US" altLang="tr-TR" dirty="0"/>
              <a:t>Knowing how to determine a root graphically.</a:t>
            </a:r>
          </a:p>
          <a:p>
            <a:r>
              <a:rPr lang="en-US" altLang="tr-TR" dirty="0"/>
              <a:t>Understanding the incremental search method and its shortcomings.</a:t>
            </a:r>
          </a:p>
          <a:p>
            <a:r>
              <a:rPr lang="en-US" altLang="tr-TR" dirty="0"/>
              <a:t>Knowing how to solve a roots problem with the </a:t>
            </a:r>
            <a:r>
              <a:rPr lang="en-US" altLang="tr-TR" b="1" dirty="0"/>
              <a:t>bisection method</a:t>
            </a:r>
            <a:r>
              <a:rPr lang="en-US" altLang="tr-TR" dirty="0"/>
              <a:t>.</a:t>
            </a:r>
          </a:p>
          <a:p>
            <a:r>
              <a:rPr lang="en-US" altLang="tr-TR" dirty="0"/>
              <a:t>Knowing how to estimate the error of bisection and why it differs from error estimates for other types of root location algorithms.</a:t>
            </a:r>
          </a:p>
          <a:p>
            <a:r>
              <a:rPr lang="en-US" altLang="tr-TR" dirty="0"/>
              <a:t>Understanding </a:t>
            </a:r>
            <a:r>
              <a:rPr lang="en-US" altLang="tr-TR" b="1" dirty="0"/>
              <a:t>false position </a:t>
            </a:r>
            <a:r>
              <a:rPr lang="en-US" altLang="tr-TR" dirty="0"/>
              <a:t>and how it differs from bisection.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281066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5840-3B9A-C14E-A4EE-CF61192CA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637F3-4948-0B4F-91CB-1E42E2801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79" y="1825624"/>
            <a:ext cx="7452987" cy="4412337"/>
          </a:xfrm>
        </p:spPr>
        <p:txBody>
          <a:bodyPr>
            <a:normAutofit/>
          </a:bodyPr>
          <a:lstStyle/>
          <a:p>
            <a:pPr marL="609600" indent="-609600"/>
            <a:endParaRPr lang="tr-TR" dirty="0"/>
          </a:p>
          <a:p>
            <a:pPr marL="609600" indent="-609600"/>
            <a:endParaRPr lang="tr-TR" dirty="0"/>
          </a:p>
          <a:p>
            <a:pPr marL="609600" indent="-609600"/>
            <a:endParaRPr lang="tr-TR" dirty="0"/>
          </a:p>
          <a:p>
            <a:pPr marL="609600" indent="-609600"/>
            <a:endParaRPr lang="tr-TR" dirty="0"/>
          </a:p>
          <a:p>
            <a:pPr marL="609600" indent="-609600"/>
            <a:r>
              <a:rPr lang="tr-TR" dirty="0" err="1"/>
              <a:t>or</a:t>
            </a:r>
            <a:endParaRPr lang="tr-TR" dirty="0"/>
          </a:p>
          <a:p>
            <a:pPr marL="609600" indent="-609600"/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9859EF-D268-DE52-5329-6704F4C15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79" y="1690688"/>
            <a:ext cx="8545118" cy="2238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4A1620-70FA-69A9-313B-3CE3F4B58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95484"/>
            <a:ext cx="3953427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209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A50C1-86F1-CA28-D856-ACC0E63B9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DB2F4-F0DD-7A2C-3462-163C89E82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F29F0-90EF-C69D-2324-99E59CDD2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79" y="1825624"/>
            <a:ext cx="7452987" cy="4412337"/>
          </a:xfrm>
        </p:spPr>
        <p:txBody>
          <a:bodyPr>
            <a:normAutofit/>
          </a:bodyPr>
          <a:lstStyle/>
          <a:p>
            <a:pPr marL="609600" indent="-609600"/>
            <a:endParaRPr lang="tr-TR" dirty="0"/>
          </a:p>
          <a:p>
            <a:pPr marL="609600" indent="-609600"/>
            <a:endParaRPr lang="tr-TR" dirty="0"/>
          </a:p>
          <a:p>
            <a:pPr marL="609600" indent="-609600"/>
            <a:endParaRPr lang="tr-TR" dirty="0"/>
          </a:p>
          <a:p>
            <a:pPr marL="609600" indent="-609600"/>
            <a:endParaRPr lang="tr-TR" dirty="0"/>
          </a:p>
          <a:p>
            <a:pPr marL="609600" indent="-609600"/>
            <a:r>
              <a:rPr lang="tr-TR" dirty="0" err="1"/>
              <a:t>or</a:t>
            </a:r>
            <a:endParaRPr lang="tr-TR" dirty="0"/>
          </a:p>
          <a:p>
            <a:pPr marL="609600" indent="-609600"/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F73E86-1494-A9A3-ECE9-29BF54AAB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79" y="1690688"/>
            <a:ext cx="8545118" cy="2238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81C50B-EEC0-B73D-5B45-6B28699BB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95484"/>
            <a:ext cx="3953427" cy="552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8D621C-B0E2-6E5C-161D-4503EDA2D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359" y="4064311"/>
            <a:ext cx="2486372" cy="210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317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F92D-FEBB-9100-071E-232C9DC5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AA4B-AFF3-0014-704F-9F13E2AB9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09055-1B0B-7208-E54E-4C07EF48D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79" y="1825624"/>
            <a:ext cx="7452987" cy="4412337"/>
          </a:xfrm>
        </p:spPr>
        <p:txBody>
          <a:bodyPr>
            <a:normAutofit/>
          </a:bodyPr>
          <a:lstStyle/>
          <a:p>
            <a:pPr marL="609600" indent="-609600"/>
            <a:endParaRPr lang="tr-TR" dirty="0"/>
          </a:p>
          <a:p>
            <a:pPr marL="609600" indent="-609600"/>
            <a:endParaRPr lang="tr-TR" dirty="0"/>
          </a:p>
          <a:p>
            <a:pPr marL="609600" indent="-609600"/>
            <a:endParaRPr lang="tr-TR" dirty="0"/>
          </a:p>
          <a:p>
            <a:pPr marL="609600" indent="-609600"/>
            <a:endParaRPr lang="tr-TR" dirty="0"/>
          </a:p>
          <a:p>
            <a:pPr marL="609600" indent="-609600"/>
            <a:r>
              <a:rPr lang="tr-TR" dirty="0" err="1"/>
              <a:t>or</a:t>
            </a:r>
            <a:endParaRPr lang="tr-TR" dirty="0"/>
          </a:p>
          <a:p>
            <a:pPr marL="609600" indent="-609600"/>
            <a:endParaRPr lang="tr-TR" dirty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3E1CF9-B42D-F01A-8ABB-A90108820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79" y="1690688"/>
            <a:ext cx="8545118" cy="2238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EF86E95-2873-5D0E-B7A8-CBFACCC012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695484"/>
            <a:ext cx="3953427" cy="552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C39E38-BA4D-CD4D-155C-39D64B710C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414" y="3929375"/>
            <a:ext cx="2486372" cy="2105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EBE492-F673-F878-A564-12E3FED73A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731" y="1395371"/>
            <a:ext cx="3067478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5027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691BF-06C0-AAD7-DAD1-B6C6CEF14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2DBA-C0A7-DE75-04EA-714E106C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7D8B5-10BF-AC47-50CE-3E1FBA2BA1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79" y="1825624"/>
            <a:ext cx="7452987" cy="4412337"/>
          </a:xfrm>
        </p:spPr>
        <p:txBody>
          <a:bodyPr>
            <a:normAutofit/>
          </a:bodyPr>
          <a:lstStyle/>
          <a:p>
            <a:pPr marL="609600" indent="-609600"/>
            <a:endParaRPr lang="tr-TR" sz="2000" dirty="0"/>
          </a:p>
          <a:p>
            <a:pPr marL="609600" indent="-609600"/>
            <a:endParaRPr lang="tr-TR" sz="2000" dirty="0"/>
          </a:p>
          <a:p>
            <a:pPr marL="609600" indent="-609600"/>
            <a:endParaRPr lang="tr-TR" sz="2000" dirty="0"/>
          </a:p>
          <a:p>
            <a:pPr marL="609600" indent="-609600"/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endParaRPr lang="tr-TR" sz="2000" dirty="0"/>
          </a:p>
          <a:p>
            <a:pPr marL="0" indent="0">
              <a:buNone/>
            </a:pPr>
            <a:r>
              <a:rPr lang="en-US" sz="2000" dirty="0"/>
              <a:t>Visual inspection of the plot provides a rough </a:t>
            </a:r>
            <a:endParaRPr lang="tr-TR" sz="2000" dirty="0"/>
          </a:p>
          <a:p>
            <a:pPr marL="0" indent="0">
              <a:buNone/>
            </a:pPr>
            <a:r>
              <a:rPr lang="en-US" sz="2000" dirty="0"/>
              <a:t>estimate of the root of 14.75. </a:t>
            </a:r>
            <a:br>
              <a:rPr lang="en-US" sz="2000" dirty="0"/>
            </a:br>
            <a:endParaRPr lang="tr-TR" sz="2000" dirty="0"/>
          </a:p>
          <a:p>
            <a:pPr marL="609600" indent="-609600"/>
            <a:endParaRPr lang="tr-TR" sz="2000" dirty="0"/>
          </a:p>
          <a:p>
            <a:pPr marL="609600" indent="-609600"/>
            <a:endParaRPr lang="tr-TR" sz="2000" dirty="0"/>
          </a:p>
          <a:p>
            <a:pPr marL="0" indent="0">
              <a:buNone/>
            </a:pPr>
            <a:endParaRPr lang="tr-TR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03E9BC-C4FA-8DFB-5A83-90BC1C090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24" y="1190313"/>
            <a:ext cx="8545118" cy="2238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D505AC-FB2A-807A-E8C8-897D3493F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79" y="3308121"/>
            <a:ext cx="3953427" cy="5525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DF0EF1-2D9D-F214-0477-36FC3E6F0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7414" y="3929375"/>
            <a:ext cx="2486372" cy="2105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3B1065-90C8-D407-BCC6-6DEED339E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731" y="1395371"/>
            <a:ext cx="3067478" cy="50680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1B3EF9-CAEF-B690-D604-D2F3DE685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02" y="5286895"/>
            <a:ext cx="5506218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38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56CD6-EDEC-F9E8-D7C3-64AF1D821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6AD3E-0353-269A-0CB1-7B98DB3C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Graphical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6A982-AB50-0434-8831-63BDA039B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879" y="1825624"/>
            <a:ext cx="7452987" cy="4412337"/>
          </a:xfrm>
        </p:spPr>
        <p:txBody>
          <a:bodyPr>
            <a:normAutofit lnSpcReduction="10000"/>
          </a:bodyPr>
          <a:lstStyle/>
          <a:p>
            <a:pPr marL="609600" indent="-609600"/>
            <a:r>
              <a:rPr lang="en-US" altLang="tr-TR" dirty="0"/>
              <a:t>A simple method for obtaining the estimate of the root of the equation </a:t>
            </a:r>
            <a:r>
              <a:rPr lang="en-US" altLang="tr-TR" i="1" dirty="0"/>
              <a:t>f(x)</a:t>
            </a:r>
            <a:r>
              <a:rPr lang="en-US" altLang="tr-TR" dirty="0"/>
              <a:t>=0 is to make a plot of the function and observe where it crosses the </a:t>
            </a:r>
            <a:r>
              <a:rPr lang="en-US" altLang="tr-TR" i="1" dirty="0"/>
              <a:t>x</a:t>
            </a:r>
            <a:r>
              <a:rPr lang="en-US" altLang="tr-TR" dirty="0"/>
              <a:t>-axis.</a:t>
            </a:r>
          </a:p>
          <a:p>
            <a:pPr marL="609600" indent="-609600"/>
            <a:r>
              <a:rPr lang="en-US" altLang="tr-TR" dirty="0"/>
              <a:t>Graphing the function can also indicate where roots may be and where some root-finding methods may fail: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dirty="0"/>
              <a:t>Same sign, no roots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dirty="0"/>
              <a:t>Different sign, one root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b="1" dirty="0"/>
              <a:t>Same sign</a:t>
            </a:r>
            <a:r>
              <a:rPr lang="en-US" altLang="tr-TR" dirty="0"/>
              <a:t>, two roots (</a:t>
            </a:r>
            <a:r>
              <a:rPr lang="en-US" altLang="tr-TR" b="1" dirty="0"/>
              <a:t>even number of roots</a:t>
            </a:r>
            <a:r>
              <a:rPr lang="en-US" altLang="tr-TR" dirty="0"/>
              <a:t>)</a:t>
            </a:r>
          </a:p>
          <a:p>
            <a:pPr marL="990600" lvl="1" indent="-533400">
              <a:buFontTx/>
              <a:buAutoNum type="alphaLcParenR"/>
            </a:pPr>
            <a:r>
              <a:rPr lang="en-US" altLang="tr-TR" b="1" dirty="0"/>
              <a:t>Different sign</a:t>
            </a:r>
            <a:r>
              <a:rPr lang="en-US" altLang="tr-TR" dirty="0"/>
              <a:t>, three roots (</a:t>
            </a:r>
            <a:r>
              <a:rPr lang="en-US" altLang="tr-TR" b="1" dirty="0"/>
              <a:t>odd number of roots</a:t>
            </a:r>
            <a:r>
              <a:rPr lang="en-US" altLang="tr-TR" dirty="0"/>
              <a:t>)</a:t>
            </a:r>
            <a:endParaRPr lang="tr-TR" dirty="0"/>
          </a:p>
        </p:txBody>
      </p:sp>
      <p:pic>
        <p:nvPicPr>
          <p:cNvPr id="4" name="Picture 4" descr="fig0501">
            <a:extLst>
              <a:ext uri="{FF2B5EF4-FFF2-40B4-BE49-F238E27FC236}">
                <a16:creationId xmlns:a16="http://schemas.microsoft.com/office/drawing/2014/main" id="{9FB73560-3AF2-1A5D-DE12-B80B2656E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890" y="365125"/>
            <a:ext cx="1519920" cy="6148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2432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F3B1E-C6CE-B74F-9ED6-939EEAB2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Exceptions</a:t>
            </a:r>
            <a:endParaRPr lang="tr-TR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37853FC-96F9-714A-AD39-F305B131C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6429" y="365125"/>
            <a:ext cx="2412886" cy="6340843"/>
          </a:xfrm>
        </p:spPr>
      </p:pic>
    </p:spTree>
    <p:extLst>
      <p:ext uri="{BB962C8B-B14F-4D97-AF65-F5344CB8AC3E}">
        <p14:creationId xmlns:p14="http://schemas.microsoft.com/office/powerpoint/2010/main" val="12203438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35B44-15C9-3142-8D8B-60CF1C38E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2946"/>
            <a:ext cx="12192000" cy="268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310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034D-E35C-E543-B4DC-373BE452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Roots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D8225-8EC0-2541-83F8-DB524F000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Bracketing</a:t>
            </a:r>
            <a:r>
              <a:rPr lang="tr-TR" dirty="0"/>
              <a:t> </a:t>
            </a:r>
            <a:r>
              <a:rPr lang="tr-TR" dirty="0" err="1"/>
              <a:t>Methods</a:t>
            </a:r>
            <a:r>
              <a:rPr lang="tr-TR" dirty="0"/>
              <a:t>:</a:t>
            </a:r>
          </a:p>
          <a:p>
            <a:pPr lvl="1"/>
            <a:r>
              <a:rPr lang="tr-TR" dirty="0" err="1"/>
              <a:t>Always</a:t>
            </a:r>
            <a:r>
              <a:rPr lang="tr-TR" dirty="0"/>
              <a:t> </a:t>
            </a:r>
            <a:r>
              <a:rPr lang="tr-TR" dirty="0" err="1"/>
              <a:t>work</a:t>
            </a:r>
            <a:endParaRPr lang="tr-TR" dirty="0"/>
          </a:p>
          <a:p>
            <a:pPr lvl="1"/>
            <a:r>
              <a:rPr lang="tr-TR" dirty="0" err="1"/>
              <a:t>Converge</a:t>
            </a:r>
            <a:r>
              <a:rPr lang="tr-TR" dirty="0"/>
              <a:t> </a:t>
            </a:r>
            <a:r>
              <a:rPr lang="tr-TR" dirty="0" err="1"/>
              <a:t>slowly</a:t>
            </a:r>
            <a:endParaRPr lang="tr-TR" dirty="0"/>
          </a:p>
          <a:p>
            <a:r>
              <a:rPr lang="tr-TR" dirty="0"/>
              <a:t>Open </a:t>
            </a:r>
            <a:r>
              <a:rPr lang="tr-TR" dirty="0" err="1"/>
              <a:t>Methods</a:t>
            </a:r>
            <a:endParaRPr lang="tr-TR" dirty="0"/>
          </a:p>
          <a:p>
            <a:pPr lvl="1"/>
            <a:r>
              <a:rPr lang="tr-TR" dirty="0"/>
              <a:t>Do not </a:t>
            </a:r>
            <a:r>
              <a:rPr lang="tr-TR" dirty="0" err="1"/>
              <a:t>always</a:t>
            </a:r>
            <a:r>
              <a:rPr lang="tr-TR" dirty="0"/>
              <a:t> </a:t>
            </a:r>
            <a:r>
              <a:rPr lang="tr-TR" dirty="0" err="1"/>
              <a:t>work</a:t>
            </a:r>
            <a:r>
              <a:rPr lang="tr-TR" dirty="0"/>
              <a:t> (can </a:t>
            </a:r>
            <a:r>
              <a:rPr lang="tr-TR" dirty="0" err="1"/>
              <a:t>diverge</a:t>
            </a:r>
            <a:r>
              <a:rPr lang="tr-TR" dirty="0"/>
              <a:t>) </a:t>
            </a:r>
          </a:p>
          <a:p>
            <a:pPr lvl="1"/>
            <a:r>
              <a:rPr lang="tr-TR" dirty="0" err="1"/>
              <a:t>Converge</a:t>
            </a:r>
            <a:r>
              <a:rPr lang="tr-TR" dirty="0"/>
              <a:t> </a:t>
            </a:r>
            <a:r>
              <a:rPr lang="tr-TR" dirty="0" err="1"/>
              <a:t>quicker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868940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D24D2-D13F-DA49-9662-04FC1D0D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Incremental</a:t>
            </a:r>
            <a:r>
              <a:rPr lang="tr-TR" dirty="0"/>
              <a:t> </a:t>
            </a:r>
            <a:r>
              <a:rPr lang="tr-TR" dirty="0" err="1"/>
              <a:t>search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FACA3-ED84-BB47-99E9-3A0DE11D9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Approach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obtain</a:t>
            </a:r>
            <a:r>
              <a:rPr lang="tr-TR" dirty="0"/>
              <a:t> </a:t>
            </a:r>
            <a:r>
              <a:rPr lang="tr-TR" dirty="0" err="1"/>
              <a:t>initial</a:t>
            </a:r>
            <a:r>
              <a:rPr lang="tr-TR" dirty="0"/>
              <a:t> </a:t>
            </a:r>
            <a:r>
              <a:rPr lang="tr-TR" dirty="0" err="1"/>
              <a:t>guesses</a:t>
            </a:r>
            <a:r>
              <a:rPr lang="tr-TR" dirty="0"/>
              <a:t> </a:t>
            </a:r>
          </a:p>
          <a:p>
            <a:r>
              <a:rPr lang="en-US" altLang="tr-TR" dirty="0"/>
              <a:t>The </a:t>
            </a:r>
            <a:r>
              <a:rPr lang="en-US" altLang="tr-TR" i="1" dirty="0"/>
              <a:t>incremental search</a:t>
            </a:r>
            <a:r>
              <a:rPr lang="en-US" altLang="tr-TR" dirty="0"/>
              <a:t> method tests the value of the function at evenly spaced intervals and finds brackets by identifying function sign changes between neighboring points.</a:t>
            </a:r>
            <a:endParaRPr lang="tr-TR" altLang="tr-TR" dirty="0"/>
          </a:p>
          <a:p>
            <a:r>
              <a:rPr lang="tr-TR" altLang="tr-TR" dirty="0" err="1"/>
              <a:t>If</a:t>
            </a:r>
            <a:r>
              <a:rPr lang="tr-TR" altLang="tr-TR" dirty="0"/>
              <a:t> </a:t>
            </a:r>
            <a:endParaRPr lang="en-US" altLang="tr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848FB2-D522-5842-A9B1-2AD65D27D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953" y="3623042"/>
            <a:ext cx="6793543" cy="120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767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8F61F-397F-B94D-A3AF-E6F190381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Incremental</a:t>
            </a:r>
            <a:r>
              <a:rPr lang="tr-TR" dirty="0"/>
              <a:t> </a:t>
            </a:r>
            <a:r>
              <a:rPr lang="tr-TR" dirty="0" err="1"/>
              <a:t>Search</a:t>
            </a:r>
            <a:r>
              <a:rPr lang="tr-TR" dirty="0"/>
              <a:t> </a:t>
            </a:r>
            <a:r>
              <a:rPr lang="tr-TR" dirty="0" err="1"/>
              <a:t>Hazards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A1D3B-0037-7D4F-947D-3B5817577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537548" cy="4625279"/>
          </a:xfrm>
        </p:spPr>
        <p:txBody>
          <a:bodyPr/>
          <a:lstStyle/>
          <a:p>
            <a:r>
              <a:rPr lang="en-US" altLang="tr-TR" dirty="0"/>
              <a:t>If the spacing between the points of an incremental search are too far apart, brackets may be missed due to capturing an even number of roots within two points.</a:t>
            </a:r>
          </a:p>
          <a:p>
            <a:r>
              <a:rPr lang="en-US" altLang="tr-TR" dirty="0"/>
              <a:t>Incremental searches cannot find brackets containing even-multiplicity roots regardless of spacing.</a:t>
            </a:r>
          </a:p>
          <a:p>
            <a:endParaRPr lang="tr-TR" dirty="0"/>
          </a:p>
        </p:txBody>
      </p:sp>
      <p:pic>
        <p:nvPicPr>
          <p:cNvPr id="4" name="Picture 4" descr="fig0503">
            <a:extLst>
              <a:ext uri="{FF2B5EF4-FFF2-40B4-BE49-F238E27FC236}">
                <a16:creationId xmlns:a16="http://schemas.microsoft.com/office/drawing/2014/main" id="{F87AED8F-B530-D641-B7AB-DBCA724C1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748" y="2747874"/>
            <a:ext cx="5168455" cy="2780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1089E0-EA5B-6044-80E9-E4A6ED42B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2992" y="5609180"/>
            <a:ext cx="9311014" cy="84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680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F3552C-EA50-9F43-AAF0-AD7F9C84D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041" y="0"/>
            <a:ext cx="7159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160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87817-ED57-F14B-BDB2-D2C696E29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endParaRPr lang="tr-T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2FA361-DA09-C645-A646-20C5A7E3C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31666"/>
            <a:ext cx="10007600" cy="1206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2C693F-4B18-7E48-8BB2-34D4CFBF3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63362"/>
            <a:ext cx="6972300" cy="3060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E4CE1F-D2BA-674D-929B-C6DF832C4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886" y="2353153"/>
            <a:ext cx="4550114" cy="36709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BCED60-BF48-014E-A974-B4BEFCDA0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5178" y="6090508"/>
            <a:ext cx="45720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322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E415317-3E25-9302-2FF0-7FF8AC9E7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150" y="166071"/>
            <a:ext cx="9690956" cy="652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404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CF52-AB9A-884C-AD16-402207383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07A49-1150-2C4A-AAEF-569B0D55B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Run </a:t>
            </a:r>
            <a:r>
              <a:rPr lang="tr-TR" dirty="0" err="1"/>
              <a:t>with</a:t>
            </a:r>
            <a:r>
              <a:rPr lang="tr-TR" dirty="0"/>
              <a:t> </a:t>
            </a:r>
            <a:r>
              <a:rPr lang="tr-TR" dirty="0" err="1"/>
              <a:t>more</a:t>
            </a:r>
            <a:r>
              <a:rPr lang="tr-TR" dirty="0"/>
              <a:t> </a:t>
            </a:r>
            <a:r>
              <a:rPr lang="tr-TR" dirty="0" err="1"/>
              <a:t>subintervals</a:t>
            </a:r>
            <a:endParaRPr lang="tr-T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7A542E-39E8-A344-98CB-961566A40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0" y="2203450"/>
            <a:ext cx="7416800" cy="2425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7232C8-678A-9747-BB73-2C573DA8A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900" y="4586288"/>
            <a:ext cx="2819400" cy="1968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BAAB4DE-D856-1A4F-B8A6-395E0ED35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184" y="2781300"/>
            <a:ext cx="4894365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2782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66D67-B122-BD40-9FE9-DF7BAC9D9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r>
              <a:rPr lang="tr-TR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9A099-EDFE-7C4A-90AC-3AA9BA9CA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01355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A026-3A06-B64A-B754-EC43B780E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6C51B-1D2E-1449-8988-1DF1C5DD5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6913" cy="4546600"/>
          </a:xfrm>
        </p:spPr>
        <p:txBody>
          <a:bodyPr>
            <a:normAutofit fontScale="92500" lnSpcReduction="20000"/>
          </a:bodyPr>
          <a:lstStyle/>
          <a:p>
            <a:r>
              <a:rPr lang="en-US" altLang="tr-TR" dirty="0"/>
              <a:t>The </a:t>
            </a:r>
            <a:r>
              <a:rPr lang="en-US" altLang="tr-TR" i="1" dirty="0"/>
              <a:t>bisection method</a:t>
            </a:r>
            <a:r>
              <a:rPr lang="en-US" altLang="tr-TR" dirty="0"/>
              <a:t> is a variation of the incremental search method in which </a:t>
            </a:r>
            <a:r>
              <a:rPr lang="en-US" altLang="tr-TR" b="1" dirty="0"/>
              <a:t>the interval is always divided in half.</a:t>
            </a:r>
          </a:p>
          <a:p>
            <a:r>
              <a:rPr lang="en-US" altLang="tr-TR" dirty="0"/>
              <a:t>If a function changes sign over an interval, the function value at the midpoint is evaluated.</a:t>
            </a:r>
          </a:p>
          <a:p>
            <a:r>
              <a:rPr lang="en-US" altLang="tr-TR" dirty="0"/>
              <a:t>The location of the root is then determined as lying within the subinterval where the sign change occurs.</a:t>
            </a:r>
          </a:p>
          <a:p>
            <a:r>
              <a:rPr lang="en-US" altLang="tr-TR" dirty="0"/>
              <a:t>The absolute error is reduced by a factor of 2 for each iteration.</a:t>
            </a:r>
          </a:p>
          <a:p>
            <a:endParaRPr lang="tr-TR" dirty="0"/>
          </a:p>
        </p:txBody>
      </p:sp>
      <p:pic>
        <p:nvPicPr>
          <p:cNvPr id="4" name="Picture 4" descr="fig0505">
            <a:extLst>
              <a:ext uri="{FF2B5EF4-FFF2-40B4-BE49-F238E27FC236}">
                <a16:creationId xmlns:a16="http://schemas.microsoft.com/office/drawing/2014/main" id="{509190FC-4A24-DE4E-94C3-490A981D1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1582" y="365125"/>
            <a:ext cx="5358455" cy="43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E8768F-1E5E-854B-84EE-2F99CB194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25" y="4675187"/>
            <a:ext cx="5753100" cy="419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B9DB88-8F85-B742-93E6-627348CB8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075" y="5005386"/>
            <a:ext cx="2984500" cy="977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73F125-9617-664F-B50B-896C850527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7388" y="5284786"/>
            <a:ext cx="2387600" cy="419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5CE9DB9-64BD-7842-84A0-A743A74FF9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2525" y="5938835"/>
            <a:ext cx="2921000" cy="7493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CE2CC57-0F53-4A42-91C5-2106462E7C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8695" y="365125"/>
            <a:ext cx="3873500" cy="4191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2B4A89-C481-6048-AD59-72663E26A5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04437" y="6000750"/>
            <a:ext cx="16256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094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B23B-E5E5-124E-B257-D875126EF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pic>
        <p:nvPicPr>
          <p:cNvPr id="4" name="Picture 4" descr="fig0505">
            <a:extLst>
              <a:ext uri="{FF2B5EF4-FFF2-40B4-BE49-F238E27FC236}">
                <a16:creationId xmlns:a16="http://schemas.microsoft.com/office/drawing/2014/main" id="{517B6EC6-46CF-3D45-B59A-2208078AA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14" y="2052637"/>
            <a:ext cx="5358455" cy="43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049465-03DB-C34D-81ED-F8C4538C9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656" y="365125"/>
            <a:ext cx="5753100" cy="419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5E9FBD-17A0-4548-AEB1-A96A8E62E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706" y="695324"/>
            <a:ext cx="2984500" cy="977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1226B4-FBFF-A54F-AA63-1F4E8C01D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1019" y="974724"/>
            <a:ext cx="2387600" cy="419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6B30B0-D8D6-2449-AC3A-E2C86EB935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475" y="2830505"/>
            <a:ext cx="2921000" cy="749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F0EDED-36E3-9A4E-9003-A6B6A7EB5E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1075" y="1406525"/>
            <a:ext cx="3873500" cy="419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B5B92D7-F7CA-3449-BF2F-5374D4DEEF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2019" y="2989255"/>
            <a:ext cx="1625600" cy="431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96BA5A-DAF9-944F-9AC8-DE52B6A8C4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1648615"/>
            <a:ext cx="5143500" cy="1066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08DAAB-03CF-CF44-9EBD-D28AD2DA2C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3475" y="3763168"/>
            <a:ext cx="1612900" cy="444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336CB32-D28A-5343-94B6-4CA3245D5C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3475" y="4391031"/>
            <a:ext cx="335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5288E23-32B4-2C4F-B7DA-F0521F203B8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9675" y="5640399"/>
            <a:ext cx="1460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5586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4D8-D30A-8642-BC15-EA1AD3634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FDC7-70B1-DB4B-B5B0-6A2EAF0F9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Iterate</a:t>
            </a:r>
            <a:r>
              <a:rPr lang="tr-TR" dirty="0"/>
              <a:t> </a:t>
            </a:r>
            <a:r>
              <a:rPr lang="tr-TR" dirty="0" err="1"/>
              <a:t>until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result</a:t>
            </a:r>
            <a:r>
              <a:rPr lang="tr-TR" dirty="0"/>
              <a:t> is </a:t>
            </a:r>
            <a:r>
              <a:rPr lang="tr-TR" dirty="0" err="1"/>
              <a:t>accurate</a:t>
            </a:r>
            <a:r>
              <a:rPr lang="tr-TR" dirty="0"/>
              <a:t> </a:t>
            </a:r>
            <a:r>
              <a:rPr lang="tr-TR" dirty="0" err="1"/>
              <a:t>enough</a:t>
            </a:r>
            <a:r>
              <a:rPr lang="tr-TR" dirty="0"/>
              <a:t>. </a:t>
            </a:r>
          </a:p>
          <a:p>
            <a:r>
              <a:rPr lang="tr-TR" dirty="0" err="1"/>
              <a:t>We</a:t>
            </a:r>
            <a:r>
              <a:rPr lang="tr-TR" dirty="0"/>
              <a:t> </a:t>
            </a:r>
            <a:r>
              <a:rPr lang="tr-TR" dirty="0" err="1"/>
              <a:t>need</a:t>
            </a:r>
            <a:r>
              <a:rPr lang="tr-TR" dirty="0"/>
              <a:t> an </a:t>
            </a:r>
            <a:r>
              <a:rPr lang="tr-TR" dirty="0" err="1"/>
              <a:t>error</a:t>
            </a:r>
            <a:r>
              <a:rPr lang="tr-TR" dirty="0"/>
              <a:t> </a:t>
            </a:r>
            <a:r>
              <a:rPr lang="tr-TR" dirty="0" err="1"/>
              <a:t>estimate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does</a:t>
            </a:r>
            <a:r>
              <a:rPr lang="tr-TR" dirty="0"/>
              <a:t> not </a:t>
            </a:r>
            <a:r>
              <a:rPr lang="tr-TR" dirty="0" err="1"/>
              <a:t>require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knowledge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true</a:t>
            </a:r>
            <a:r>
              <a:rPr lang="tr-TR" dirty="0"/>
              <a:t> </a:t>
            </a:r>
            <a:r>
              <a:rPr lang="tr-TR" dirty="0" err="1"/>
              <a:t>root</a:t>
            </a:r>
            <a:r>
              <a:rPr lang="tr-TR" dirty="0"/>
              <a:t>. </a:t>
            </a:r>
          </a:p>
          <a:p>
            <a:r>
              <a:rPr lang="tr-TR" dirty="0"/>
              <a:t>Stop </a:t>
            </a:r>
            <a:r>
              <a:rPr lang="tr-TR" dirty="0" err="1"/>
              <a:t>when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approximate</a:t>
            </a:r>
            <a:r>
              <a:rPr lang="tr-TR" dirty="0"/>
              <a:t> </a:t>
            </a:r>
            <a:r>
              <a:rPr lang="tr-TR" dirty="0" err="1"/>
              <a:t>relative</a:t>
            </a:r>
            <a:r>
              <a:rPr lang="tr-TR" dirty="0"/>
              <a:t>  </a:t>
            </a:r>
            <a:r>
              <a:rPr lang="tr-TR" dirty="0" err="1"/>
              <a:t>percent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is </a:t>
            </a:r>
            <a:r>
              <a:rPr lang="tr-TR" dirty="0" err="1"/>
              <a:t>below</a:t>
            </a:r>
            <a:r>
              <a:rPr lang="tr-TR" dirty="0"/>
              <a:t> </a:t>
            </a:r>
            <a:r>
              <a:rPr lang="tr-TR" dirty="0" err="1"/>
              <a:t>some</a:t>
            </a:r>
            <a:r>
              <a:rPr lang="tr-TR" dirty="0"/>
              <a:t> </a:t>
            </a:r>
            <a:r>
              <a:rPr lang="tr-TR" dirty="0" err="1"/>
              <a:t>value</a:t>
            </a:r>
            <a:r>
              <a:rPr lang="tr-TR" dirty="0"/>
              <a:t> </a:t>
            </a:r>
            <a:r>
              <a:rPr lang="tr-TR" dirty="0" err="1"/>
              <a:t>eps</a:t>
            </a:r>
            <a:r>
              <a:rPr lang="tr-TR" dirty="0"/>
              <a:t>. </a:t>
            </a:r>
          </a:p>
          <a:p>
            <a:r>
              <a:rPr lang="tr-TR" dirty="0" err="1"/>
              <a:t>Approximate</a:t>
            </a:r>
            <a:r>
              <a:rPr lang="tr-TR" dirty="0"/>
              <a:t> </a:t>
            </a:r>
            <a:r>
              <a:rPr lang="tr-TR" dirty="0" err="1"/>
              <a:t>relative</a:t>
            </a:r>
            <a:r>
              <a:rPr lang="tr-TR" dirty="0"/>
              <a:t>  </a:t>
            </a:r>
            <a:r>
              <a:rPr lang="tr-TR" dirty="0" err="1"/>
              <a:t>percent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: </a:t>
            </a:r>
          </a:p>
          <a:p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E0FEB-05B8-A34B-86F1-2E0C37A97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412" y="4651376"/>
            <a:ext cx="3812674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353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C4E1A-563C-5342-9C59-88DD6E4DE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r>
              <a:rPr lang="tr-TR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41AD6D-FF5C-E749-9236-0F896A8235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8663" y="1690688"/>
            <a:ext cx="9563100" cy="34163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EF48B3-9845-2C4E-A3A0-87B6170AD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13" y="5337175"/>
            <a:ext cx="99568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8275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6BA7-71C7-384D-9556-22EC11D48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r>
              <a:rPr lang="tr-TR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1299D6-E528-9747-8D65-DE2BF4514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8187" y="1414463"/>
            <a:ext cx="6582801" cy="430053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E274FB-EF69-1247-99B5-8138170F3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3" y="5385594"/>
            <a:ext cx="3390900" cy="419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81D18D-41D1-494B-A774-DE468D43C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894387"/>
            <a:ext cx="9880600" cy="698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7D85E9-4B16-4745-BE7B-2E33174E7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6126" y="1950244"/>
            <a:ext cx="3812674" cy="1168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4ECB97-CEB2-3148-B0D7-008C7B4BF4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3208337"/>
            <a:ext cx="46355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730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0C49-BDF2-1442-BABD-0C2E2E15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1084C-FDAE-AC47-A105-D1043B930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iterations</a:t>
            </a:r>
            <a:r>
              <a:rPr lang="tr-TR" dirty="0"/>
              <a:t> </a:t>
            </a:r>
            <a:r>
              <a:rPr lang="tr-TR" dirty="0" err="1"/>
              <a:t>required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attain</a:t>
            </a:r>
            <a:r>
              <a:rPr lang="tr-TR" dirty="0"/>
              <a:t> an </a:t>
            </a:r>
            <a:r>
              <a:rPr lang="tr-TR" dirty="0" err="1"/>
              <a:t>absolute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can be </a:t>
            </a:r>
            <a:r>
              <a:rPr lang="tr-TR" dirty="0" err="1"/>
              <a:t>computed</a:t>
            </a:r>
            <a:r>
              <a:rPr lang="tr-TR" dirty="0"/>
              <a:t> a </a:t>
            </a:r>
            <a:r>
              <a:rPr lang="tr-TR" dirty="0" err="1"/>
              <a:t>priori</a:t>
            </a:r>
            <a:r>
              <a:rPr lang="tr-TR" dirty="0"/>
              <a:t> (</a:t>
            </a:r>
            <a:r>
              <a:rPr lang="tr-TR" dirty="0" err="1"/>
              <a:t>before</a:t>
            </a:r>
            <a:r>
              <a:rPr lang="tr-TR" dirty="0"/>
              <a:t> </a:t>
            </a:r>
            <a:r>
              <a:rPr lang="tr-TR" dirty="0" err="1"/>
              <a:t>starting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iterations</a:t>
            </a:r>
            <a:r>
              <a:rPr lang="tr-TR" dirty="0"/>
              <a:t>). </a:t>
            </a:r>
          </a:p>
          <a:p>
            <a:r>
              <a:rPr lang="tr-TR" dirty="0" err="1"/>
              <a:t>Before</a:t>
            </a:r>
            <a:r>
              <a:rPr lang="tr-TR" dirty="0"/>
              <a:t> </a:t>
            </a:r>
            <a:r>
              <a:rPr lang="tr-TR" dirty="0" err="1"/>
              <a:t>starting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absolute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is </a:t>
            </a:r>
            <a:r>
              <a:rPr lang="tr-TR" dirty="0" err="1"/>
              <a:t>less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:</a:t>
            </a:r>
          </a:p>
          <a:p>
            <a:r>
              <a:rPr lang="tr-TR" dirty="0" err="1"/>
              <a:t>After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first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is </a:t>
            </a:r>
            <a:r>
              <a:rPr lang="tr-TR" dirty="0" err="1"/>
              <a:t>less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:</a:t>
            </a:r>
          </a:p>
          <a:p>
            <a:endParaRPr lang="tr-TR" dirty="0"/>
          </a:p>
          <a:p>
            <a:r>
              <a:rPr lang="tr-TR" dirty="0"/>
              <a:t>Since </a:t>
            </a:r>
            <a:r>
              <a:rPr lang="tr-TR" dirty="0" err="1"/>
              <a:t>each</a:t>
            </a:r>
            <a:r>
              <a:rPr lang="tr-TR" dirty="0"/>
              <a:t> </a:t>
            </a:r>
            <a:r>
              <a:rPr lang="tr-TR" dirty="0" err="1"/>
              <a:t>iteration</a:t>
            </a:r>
            <a:r>
              <a:rPr lang="tr-TR" dirty="0"/>
              <a:t> </a:t>
            </a:r>
            <a:r>
              <a:rPr lang="tr-TR" dirty="0" err="1"/>
              <a:t>halves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, a general </a:t>
            </a:r>
            <a:r>
              <a:rPr lang="tr-TR" dirty="0" err="1"/>
              <a:t>formula</a:t>
            </a:r>
            <a:r>
              <a:rPr lang="tr-TR" dirty="0"/>
              <a:t> </a:t>
            </a:r>
            <a:r>
              <a:rPr lang="tr-TR" dirty="0" err="1"/>
              <a:t>relating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error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number</a:t>
            </a:r>
            <a:r>
              <a:rPr lang="tr-TR" dirty="0"/>
              <a:t> of </a:t>
            </a:r>
            <a:r>
              <a:rPr lang="tr-TR" dirty="0" err="1"/>
              <a:t>iterations</a:t>
            </a:r>
            <a:r>
              <a:rPr lang="tr-TR" dirty="0"/>
              <a:t> is: </a:t>
            </a:r>
          </a:p>
          <a:p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1C84A3-386E-D349-9426-0AAD03BB6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049" y="2706356"/>
            <a:ext cx="2692400" cy="63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E8EF8A-FDE9-1443-83F8-74D4CDAF7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049" y="3138820"/>
            <a:ext cx="1493838" cy="809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D1B7BF-39C4-2340-ABB1-579A2FDC1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525" y="4789488"/>
            <a:ext cx="1473200" cy="850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46CF8E-2910-F343-9BA4-C94A3DF68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3525" y="5571730"/>
            <a:ext cx="4318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714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AECB920-C581-8149-8F54-FA2FDD2D7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437" y="0"/>
            <a:ext cx="499504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9952DA-1DFF-D24B-9705-75A3DB13E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2444750"/>
            <a:ext cx="3238500" cy="48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5066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1A3DA-A7FE-8E43-9D56-15FE318EF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Bisection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725A4-662B-BA43-AB4B-62BAE3CA7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Find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root</a:t>
            </a:r>
            <a:r>
              <a:rPr lang="tr-TR" dirty="0"/>
              <a:t> of </a:t>
            </a:r>
          </a:p>
          <a:p>
            <a:endParaRPr lang="tr-TR" dirty="0"/>
          </a:p>
          <a:p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F64DC-4CAE-0242-9C8E-D0C3534B4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9537" y="1519238"/>
            <a:ext cx="5295900" cy="1104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4B975E-0015-1741-884B-314CCF548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213" y="2563813"/>
            <a:ext cx="94361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9460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DAD9C-CD40-7346-BAD7-9641560A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62006-80F7-8940-8C89-7E6B6F99B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9133618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961E-49A2-FE4C-9A0D-7CA074696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Position</a:t>
            </a:r>
            <a:r>
              <a:rPr lang="tr-TR" dirty="0"/>
              <a:t> </a:t>
            </a:r>
            <a:r>
              <a:rPr lang="tr-TR" dirty="0" err="1"/>
              <a:t>Method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6FC79-2F09-9044-8C4B-88ADCAB35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76863" cy="4618038"/>
          </a:xfrm>
        </p:spPr>
        <p:txBody>
          <a:bodyPr>
            <a:normAutofit fontScale="92500" lnSpcReduction="10000"/>
          </a:bodyPr>
          <a:lstStyle/>
          <a:p>
            <a:r>
              <a:rPr lang="en-US" altLang="tr-TR" dirty="0"/>
              <a:t>The </a:t>
            </a:r>
            <a:r>
              <a:rPr lang="en-US" altLang="tr-TR" i="1" dirty="0"/>
              <a:t>false position</a:t>
            </a:r>
            <a:r>
              <a:rPr lang="en-US" altLang="tr-TR" dirty="0"/>
              <a:t> method is another bracketing method.</a:t>
            </a:r>
          </a:p>
          <a:p>
            <a:r>
              <a:rPr lang="en-US" altLang="tr-TR" dirty="0"/>
              <a:t>It determines the next guess not by splitting the bracket in half but by connecting the endpoints with a straight line and determining the location of the intercept of the straight line (</a:t>
            </a:r>
            <a:r>
              <a:rPr lang="en-US" altLang="tr-TR" i="1" dirty="0" err="1"/>
              <a:t>x</a:t>
            </a:r>
            <a:r>
              <a:rPr lang="en-US" altLang="tr-TR" i="1" baseline="-25000" dirty="0" err="1"/>
              <a:t>r</a:t>
            </a:r>
            <a:r>
              <a:rPr lang="en-US" altLang="tr-TR" dirty="0"/>
              <a:t>).</a:t>
            </a:r>
          </a:p>
          <a:p>
            <a:r>
              <a:rPr lang="en-US" altLang="tr-TR" dirty="0"/>
              <a:t>The value of </a:t>
            </a:r>
            <a:r>
              <a:rPr lang="en-US" altLang="tr-TR" i="1" dirty="0" err="1"/>
              <a:t>x</a:t>
            </a:r>
            <a:r>
              <a:rPr lang="en-US" altLang="tr-TR" i="1" baseline="-25000" dirty="0" err="1"/>
              <a:t>r</a:t>
            </a:r>
            <a:r>
              <a:rPr lang="en-US" altLang="tr-TR" dirty="0"/>
              <a:t> then replaces whichever of the two initial guesses yields a function value with the same sign as </a:t>
            </a:r>
            <a:r>
              <a:rPr lang="en-US" altLang="tr-TR" i="1" dirty="0"/>
              <a:t>f</a:t>
            </a:r>
            <a:r>
              <a:rPr lang="en-US" altLang="tr-TR" dirty="0"/>
              <a:t>(</a:t>
            </a:r>
            <a:r>
              <a:rPr lang="en-US" altLang="tr-TR" i="1" dirty="0" err="1"/>
              <a:t>x</a:t>
            </a:r>
            <a:r>
              <a:rPr lang="en-US" altLang="tr-TR" i="1" baseline="-25000" dirty="0" err="1"/>
              <a:t>r</a:t>
            </a:r>
            <a:r>
              <a:rPr lang="en-US" altLang="tr-TR" dirty="0"/>
              <a:t>).</a:t>
            </a:r>
          </a:p>
          <a:p>
            <a:r>
              <a:rPr lang="en-US" altLang="tr-TR" dirty="0"/>
              <a:t>False position formula </a:t>
            </a:r>
          </a:p>
          <a:p>
            <a:endParaRPr lang="tr-TR" dirty="0"/>
          </a:p>
        </p:txBody>
      </p:sp>
      <p:pic>
        <p:nvPicPr>
          <p:cNvPr id="4" name="Picture 4" descr="fig0508">
            <a:extLst>
              <a:ext uri="{FF2B5EF4-FFF2-40B4-BE49-F238E27FC236}">
                <a16:creationId xmlns:a16="http://schemas.microsoft.com/office/drawing/2014/main" id="{461654D3-7C93-6C47-A6AA-BA9C3644B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3237" y="514350"/>
            <a:ext cx="5005388" cy="4724400"/>
          </a:xfrm>
          <a:prstGeom prst="rect">
            <a:avLst/>
          </a:prstGeom>
          <a:noFill/>
        </p:spPr>
      </p:pic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DBB40675-FB54-BE41-ABC8-7DD4B66AB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823056"/>
              </p:ext>
            </p:extLst>
          </p:nvPr>
        </p:nvGraphicFramePr>
        <p:xfrm>
          <a:off x="4652963" y="5832475"/>
          <a:ext cx="31242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59800" imgH="2336800" progId="Equation.3">
                  <p:embed/>
                </p:oleObj>
              </mc:Choice>
              <mc:Fallback>
                <p:oleObj name="Equation" r:id="rId3" imgW="8559800" imgH="2336800" progId="Equation.3">
                  <p:embed/>
                  <p:pic>
                    <p:nvPicPr>
                      <p:cNvPr id="2050" name="Object 5">
                        <a:extLst>
                          <a:ext uri="{FF2B5EF4-FFF2-40B4-BE49-F238E27FC236}">
                            <a16:creationId xmlns:a16="http://schemas.microsoft.com/office/drawing/2014/main" id="{17ADE283-13C7-A444-805F-44A170B37F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2963" y="5832475"/>
                        <a:ext cx="31242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44673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>
            <a:extLst>
              <a:ext uri="{FF2B5EF4-FFF2-40B4-BE49-F238E27FC236}">
                <a16:creationId xmlns:a16="http://schemas.microsoft.com/office/drawing/2014/main" id="{50721405-4FFD-FE40-A094-BE84533AA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Bisection vs. False Position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5F3FA1FC-B68B-934C-A207-9EE18AC230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Bisection does not take into account the shape of the function; this can be good or bad depending on the function!</a:t>
            </a:r>
          </a:p>
          <a:p>
            <a:pPr eaLnBrk="1" hangingPunct="1"/>
            <a:r>
              <a:rPr lang="en-US" altLang="tr-TR" dirty="0"/>
              <a:t>Slow convergence:</a:t>
            </a:r>
          </a:p>
        </p:txBody>
      </p:sp>
      <p:pic>
        <p:nvPicPr>
          <p:cNvPr id="3077" name="Picture 4" descr="fig0509">
            <a:extLst>
              <a:ext uri="{FF2B5EF4-FFF2-40B4-BE49-F238E27FC236}">
                <a16:creationId xmlns:a16="http://schemas.microsoft.com/office/drawing/2014/main" id="{A86FFF49-8391-684F-9EA8-B72BF4D9B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895600"/>
            <a:ext cx="228758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74" name="Object 5">
            <a:extLst>
              <a:ext uri="{FF2B5EF4-FFF2-40B4-BE49-F238E27FC236}">
                <a16:creationId xmlns:a16="http://schemas.microsoft.com/office/drawing/2014/main" id="{FC489683-CDD8-B54B-BD00-03447E94E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649887"/>
              </p:ext>
            </p:extLst>
          </p:nvPr>
        </p:nvGraphicFramePr>
        <p:xfrm>
          <a:off x="3002280" y="4357687"/>
          <a:ext cx="18288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826000" imgH="1168400" progId="Equation.3">
                  <p:embed/>
                </p:oleObj>
              </mc:Choice>
              <mc:Fallback>
                <p:oleObj name="Equation" r:id="rId3" imgW="4826000" imgH="1168400" progId="Equation.3">
                  <p:embed/>
                  <p:pic>
                    <p:nvPicPr>
                      <p:cNvPr id="3074" name="Object 5">
                        <a:extLst>
                          <a:ext uri="{FF2B5EF4-FFF2-40B4-BE49-F238E27FC236}">
                            <a16:creationId xmlns:a16="http://schemas.microsoft.com/office/drawing/2014/main" id="{FC489683-CDD8-B54B-BD00-03447E94EA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2280" y="4357687"/>
                        <a:ext cx="182880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62311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4D3EB-D4DE-3A43-BB91-84194DFF9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r>
              <a:rPr lang="tr-TR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93EFD0-F8D1-1142-AB53-C98CC8981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8521700" cy="14605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48589F-8F3A-BF4D-9608-41A9055FF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378" y="2654300"/>
            <a:ext cx="10325100" cy="420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8629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DF03-1F20-E14F-8703-B934D1CA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Example</a:t>
            </a:r>
            <a:r>
              <a:rPr lang="tr-TR" dirty="0"/>
              <a:t>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13E34A-7E40-D949-BB76-A742C4EC65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1896" y="1690688"/>
            <a:ext cx="10147300" cy="30988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493E04-E709-D847-9A8F-15095B0EB5E7}"/>
              </a:ext>
            </a:extLst>
          </p:cNvPr>
          <p:cNvSpPr txBox="1"/>
          <p:nvPr/>
        </p:nvSpPr>
        <p:spPr>
          <a:xfrm>
            <a:off x="691896" y="4901184"/>
            <a:ext cx="10390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/>
              <a:t>This</a:t>
            </a:r>
            <a:r>
              <a:rPr lang="tr-TR" dirty="0"/>
              <a:t>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violates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assumption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if</a:t>
            </a:r>
            <a:r>
              <a:rPr lang="tr-TR" dirty="0"/>
              <a:t> f(</a:t>
            </a:r>
            <a:r>
              <a:rPr lang="tr-TR" dirty="0" err="1"/>
              <a:t>x_l</a:t>
            </a:r>
            <a:r>
              <a:rPr lang="tr-TR" dirty="0"/>
              <a:t>) is </a:t>
            </a:r>
            <a:r>
              <a:rPr lang="tr-TR" dirty="0" err="1"/>
              <a:t>much</a:t>
            </a:r>
            <a:r>
              <a:rPr lang="tr-TR" dirty="0"/>
              <a:t> </a:t>
            </a:r>
            <a:r>
              <a:rPr lang="tr-TR" dirty="0" err="1"/>
              <a:t>closer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zero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f(</a:t>
            </a:r>
            <a:r>
              <a:rPr lang="tr-TR" dirty="0" err="1"/>
              <a:t>x_u</a:t>
            </a:r>
            <a:r>
              <a:rPr lang="tr-TR" dirty="0"/>
              <a:t>), </a:t>
            </a:r>
            <a:r>
              <a:rPr lang="tr-TR" dirty="0" err="1"/>
              <a:t>then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root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be </a:t>
            </a:r>
          </a:p>
          <a:p>
            <a:r>
              <a:rPr lang="tr-TR" dirty="0" err="1"/>
              <a:t>much</a:t>
            </a:r>
            <a:r>
              <a:rPr lang="tr-TR" dirty="0"/>
              <a:t> </a:t>
            </a:r>
            <a:r>
              <a:rPr lang="tr-TR" dirty="0" err="1"/>
              <a:t>closer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 </a:t>
            </a:r>
            <a:r>
              <a:rPr lang="tr-TR" dirty="0" err="1"/>
              <a:t>x_l</a:t>
            </a:r>
            <a:r>
              <a:rPr lang="tr-TR" dirty="0"/>
              <a:t> </a:t>
            </a:r>
            <a:r>
              <a:rPr lang="tr-TR" dirty="0" err="1"/>
              <a:t>than</a:t>
            </a:r>
            <a:r>
              <a:rPr lang="tr-TR" dirty="0"/>
              <a:t> </a:t>
            </a:r>
            <a:r>
              <a:rPr lang="tr-TR" dirty="0" err="1"/>
              <a:t>x_r</a:t>
            </a:r>
            <a:r>
              <a:rPr lang="tr-T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9572695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DF71-A8A6-0C4D-8C84-C1FCDD12B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Summary</a:t>
            </a:r>
            <a:r>
              <a:rPr lang="tr-TR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79955-F3EF-C54A-B96A-96B400177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Although</a:t>
            </a:r>
            <a:r>
              <a:rPr lang="tr-TR" dirty="0"/>
              <a:t> </a:t>
            </a:r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position</a:t>
            </a:r>
            <a:r>
              <a:rPr lang="tr-TR" dirty="0"/>
              <a:t> is </a:t>
            </a:r>
            <a:r>
              <a:rPr lang="tr-TR" dirty="0" err="1"/>
              <a:t>generally</a:t>
            </a:r>
            <a:r>
              <a:rPr lang="tr-TR" dirty="0"/>
              <a:t> </a:t>
            </a:r>
            <a:r>
              <a:rPr lang="tr-TR" dirty="0" err="1"/>
              <a:t>superior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bisection</a:t>
            </a:r>
            <a:r>
              <a:rPr lang="tr-TR" dirty="0"/>
              <a:t>, </a:t>
            </a:r>
            <a:r>
              <a:rPr lang="tr-TR" dirty="0" err="1"/>
              <a:t>there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cases</a:t>
            </a:r>
            <a:r>
              <a:rPr lang="tr-TR" dirty="0"/>
              <a:t> </a:t>
            </a:r>
            <a:r>
              <a:rPr lang="tr-TR" dirty="0" err="1"/>
              <a:t>where</a:t>
            </a:r>
            <a:r>
              <a:rPr lang="tr-TR" dirty="0"/>
              <a:t> </a:t>
            </a:r>
            <a:r>
              <a:rPr lang="tr-TR" dirty="0" err="1"/>
              <a:t>this</a:t>
            </a:r>
            <a:r>
              <a:rPr lang="tr-TR" dirty="0"/>
              <a:t> is not </a:t>
            </a:r>
            <a:r>
              <a:rPr lang="tr-TR" dirty="0" err="1"/>
              <a:t>true</a:t>
            </a:r>
            <a:r>
              <a:rPr lang="tr-TR" dirty="0"/>
              <a:t>. </a:t>
            </a:r>
          </a:p>
          <a:p>
            <a:r>
              <a:rPr lang="tr-TR" dirty="0" err="1"/>
              <a:t>False</a:t>
            </a:r>
            <a:r>
              <a:rPr lang="tr-TR" dirty="0"/>
              <a:t> </a:t>
            </a:r>
            <a:r>
              <a:rPr lang="tr-TR" dirty="0" err="1"/>
              <a:t>position</a:t>
            </a:r>
            <a:r>
              <a:rPr lang="tr-TR" dirty="0"/>
              <a:t> is </a:t>
            </a:r>
            <a:r>
              <a:rPr lang="tr-TR" dirty="0" err="1"/>
              <a:t>one-sided</a:t>
            </a:r>
            <a:r>
              <a:rPr lang="tr-TR" dirty="0"/>
              <a:t>: </a:t>
            </a:r>
            <a:r>
              <a:rPr lang="tr-TR" dirty="0" err="1"/>
              <a:t>one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bracketing</a:t>
            </a:r>
            <a:r>
              <a:rPr lang="tr-TR" dirty="0"/>
              <a:t> </a:t>
            </a:r>
            <a:r>
              <a:rPr lang="tr-TR" dirty="0" err="1"/>
              <a:t>points</a:t>
            </a:r>
            <a:r>
              <a:rPr lang="tr-TR" dirty="0"/>
              <a:t> </a:t>
            </a:r>
            <a:r>
              <a:rPr lang="tr-TR" dirty="0" err="1"/>
              <a:t>will</a:t>
            </a:r>
            <a:r>
              <a:rPr lang="tr-TR" dirty="0"/>
              <a:t> </a:t>
            </a:r>
            <a:r>
              <a:rPr lang="tr-TR" dirty="0" err="1"/>
              <a:t>stay</a:t>
            </a:r>
            <a:r>
              <a:rPr lang="tr-TR" dirty="0"/>
              <a:t> </a:t>
            </a:r>
            <a:r>
              <a:rPr lang="tr-TR" dirty="0" err="1"/>
              <a:t>fixed</a:t>
            </a:r>
            <a:r>
              <a:rPr lang="tr-TR" dirty="0"/>
              <a:t>. </a:t>
            </a:r>
            <a:r>
              <a:rPr lang="tr-TR" dirty="0" err="1"/>
              <a:t>This</a:t>
            </a:r>
            <a:r>
              <a:rPr lang="tr-TR" dirty="0"/>
              <a:t> can </a:t>
            </a:r>
            <a:r>
              <a:rPr lang="tr-TR" dirty="0" err="1"/>
              <a:t>lead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poor</a:t>
            </a:r>
            <a:r>
              <a:rPr lang="tr-TR" dirty="0"/>
              <a:t> </a:t>
            </a:r>
            <a:r>
              <a:rPr lang="tr-TR" dirty="0" err="1"/>
              <a:t>convergence</a:t>
            </a:r>
            <a:r>
              <a:rPr lang="tr-TR"/>
              <a:t>. </a:t>
            </a:r>
            <a:endParaRPr lang="tr-TR" dirty="0"/>
          </a:p>
          <a:p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results</a:t>
            </a:r>
            <a:r>
              <a:rPr lang="tr-TR" dirty="0"/>
              <a:t> </a:t>
            </a:r>
            <a:r>
              <a:rPr lang="tr-TR" dirty="0" err="1"/>
              <a:t>should</a:t>
            </a:r>
            <a:r>
              <a:rPr lang="tr-TR" dirty="0"/>
              <a:t> </a:t>
            </a:r>
            <a:r>
              <a:rPr lang="tr-TR" dirty="0" err="1"/>
              <a:t>always</a:t>
            </a:r>
            <a:r>
              <a:rPr lang="tr-TR" dirty="0"/>
              <a:t> be </a:t>
            </a:r>
            <a:r>
              <a:rPr lang="tr-TR" dirty="0" err="1"/>
              <a:t>checked</a:t>
            </a:r>
            <a:r>
              <a:rPr lang="tr-TR" dirty="0"/>
              <a:t> </a:t>
            </a:r>
            <a:r>
              <a:rPr lang="tr-TR" dirty="0" err="1"/>
              <a:t>by</a:t>
            </a:r>
            <a:r>
              <a:rPr lang="tr-TR" dirty="0"/>
              <a:t> </a:t>
            </a:r>
            <a:r>
              <a:rPr lang="tr-TR" dirty="0" err="1"/>
              <a:t>substituting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root</a:t>
            </a:r>
            <a:r>
              <a:rPr lang="tr-TR" dirty="0"/>
              <a:t> </a:t>
            </a:r>
            <a:r>
              <a:rPr lang="tr-TR" dirty="0" err="1"/>
              <a:t>estimate</a:t>
            </a:r>
            <a:r>
              <a:rPr lang="tr-TR" dirty="0"/>
              <a:t> </a:t>
            </a:r>
            <a:r>
              <a:rPr lang="tr-TR" dirty="0" err="1"/>
              <a:t>into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original</a:t>
            </a:r>
            <a:r>
              <a:rPr lang="tr-TR" dirty="0"/>
              <a:t> </a:t>
            </a:r>
            <a:r>
              <a:rPr lang="tr-TR" dirty="0" err="1"/>
              <a:t>equation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confirming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result</a:t>
            </a:r>
            <a:r>
              <a:rPr lang="tr-TR" dirty="0"/>
              <a:t> is </a:t>
            </a:r>
            <a:r>
              <a:rPr lang="tr-TR" dirty="0" err="1"/>
              <a:t>close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zero</a:t>
            </a:r>
            <a:r>
              <a:rPr lang="tr-T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232960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E2EB-F2B2-6845-A30F-AA57B454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Overview</a:t>
            </a:r>
            <a:endParaRPr lang="tr-T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0AFD1-C211-E14A-822D-B6ECC2FDE67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1145" y="1453018"/>
                <a:ext cx="10802655" cy="4622105"/>
              </a:xfrm>
            </p:spPr>
            <p:txBody>
              <a:bodyPr>
                <a:normAutofit/>
              </a:bodyPr>
              <a:lstStyle/>
              <a:p>
                <a:r>
                  <a:rPr lang="tr-TR" dirty="0"/>
                  <a:t>Roots</a:t>
                </a:r>
              </a:p>
              <a:p>
                <a:pPr lvl="1"/>
                <a:r>
                  <a:rPr lang="tr-TR" dirty="0" err="1"/>
                  <a:t>Points</a:t>
                </a:r>
                <a:r>
                  <a:rPr lang="tr-TR" dirty="0"/>
                  <a:t> of a </a:t>
                </a:r>
                <a:r>
                  <a:rPr lang="tr-TR" dirty="0" err="1"/>
                  <a:t>nonlinear</a:t>
                </a:r>
                <a:r>
                  <a:rPr lang="tr-TR" dirty="0"/>
                  <a:t> </a:t>
                </a:r>
                <a:r>
                  <a:rPr lang="tr-TR" dirty="0" err="1"/>
                  <a:t>equation</a:t>
                </a:r>
                <a:r>
                  <a:rPr lang="tr-TR" dirty="0"/>
                  <a:t> </a:t>
                </a:r>
                <a:r>
                  <a:rPr lang="tr-TR" dirty="0" err="1"/>
                  <a:t>where</a:t>
                </a:r>
                <a:r>
                  <a:rPr lang="tr-TR" dirty="0"/>
                  <a:t> </a:t>
                </a:r>
                <a14:m>
                  <m:oMath xmlns:m="http://schemas.openxmlformats.org/officeDocument/2006/math">
                    <m:r>
                      <a:rPr lang="tr-T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tr-T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tr-T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tr-T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tr-TR" b="0" dirty="0"/>
              </a:p>
              <a:p>
                <a:pPr lvl="1"/>
                <a:r>
                  <a:rPr lang="tr-TR" b="1" dirty="0" err="1"/>
                  <a:t>Bracketing</a:t>
                </a:r>
                <a:r>
                  <a:rPr lang="tr-TR" b="1" dirty="0"/>
                  <a:t> </a:t>
                </a:r>
                <a:r>
                  <a:rPr lang="tr-TR" b="1" dirty="0" err="1"/>
                  <a:t>methods</a:t>
                </a:r>
                <a:r>
                  <a:rPr lang="tr-TR" dirty="0"/>
                  <a:t>: start </a:t>
                </a:r>
                <a:r>
                  <a:rPr lang="tr-TR" dirty="0" err="1"/>
                  <a:t>with</a:t>
                </a:r>
                <a:r>
                  <a:rPr lang="tr-TR" dirty="0"/>
                  <a:t> a </a:t>
                </a:r>
                <a:r>
                  <a:rPr lang="tr-TR" dirty="0" err="1"/>
                  <a:t>guess</a:t>
                </a:r>
                <a:r>
                  <a:rPr lang="tr-TR" dirty="0"/>
                  <a:t> </a:t>
                </a:r>
                <a:r>
                  <a:rPr lang="tr-TR" dirty="0" err="1"/>
                  <a:t>for</a:t>
                </a:r>
                <a:r>
                  <a:rPr lang="tr-TR" dirty="0"/>
                  <a:t> a </a:t>
                </a:r>
                <a:r>
                  <a:rPr lang="tr-TR" dirty="0" err="1"/>
                  <a:t>range</a:t>
                </a:r>
                <a:r>
                  <a:rPr lang="tr-TR" dirty="0"/>
                  <a:t> </a:t>
                </a:r>
                <a:r>
                  <a:rPr lang="tr-TR" dirty="0" err="1"/>
                  <a:t>containing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root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reduce</a:t>
                </a:r>
                <a:r>
                  <a:rPr lang="tr-TR" dirty="0"/>
                  <a:t>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width</a:t>
                </a:r>
                <a:r>
                  <a:rPr lang="tr-TR" dirty="0"/>
                  <a:t> of </a:t>
                </a:r>
                <a:r>
                  <a:rPr lang="tr-TR" dirty="0" err="1"/>
                  <a:t>the</a:t>
                </a:r>
                <a:r>
                  <a:rPr lang="tr-TR" dirty="0"/>
                  <a:t> </a:t>
                </a:r>
                <a:r>
                  <a:rPr lang="tr-TR" dirty="0" err="1"/>
                  <a:t>bracket</a:t>
                </a:r>
                <a:r>
                  <a:rPr lang="tr-TR" dirty="0"/>
                  <a:t> </a:t>
                </a:r>
                <a:r>
                  <a:rPr lang="tr-TR" dirty="0" err="1"/>
                  <a:t>iteratively</a:t>
                </a:r>
                <a:r>
                  <a:rPr lang="tr-TR" dirty="0"/>
                  <a:t>. (</a:t>
                </a:r>
                <a:r>
                  <a:rPr lang="tr-TR" dirty="0" err="1"/>
                  <a:t>reliable</a:t>
                </a:r>
                <a:r>
                  <a:rPr lang="tr-TR" dirty="0"/>
                  <a:t>)</a:t>
                </a:r>
              </a:p>
              <a:p>
                <a:pPr lvl="2"/>
                <a:r>
                  <a:rPr lang="tr-TR" b="0" dirty="0" err="1"/>
                  <a:t>Bisecti</a:t>
                </a:r>
                <a:r>
                  <a:rPr lang="tr-TR" dirty="0" err="1"/>
                  <a:t>on</a:t>
                </a:r>
                <a:r>
                  <a:rPr lang="tr-TR" dirty="0"/>
                  <a:t> </a:t>
                </a:r>
                <a:r>
                  <a:rPr lang="tr-TR" dirty="0" err="1"/>
                  <a:t>method</a:t>
                </a:r>
                <a:endParaRPr lang="tr-TR" dirty="0"/>
              </a:p>
              <a:p>
                <a:pPr lvl="2"/>
                <a:r>
                  <a:rPr lang="tr-TR" b="0" dirty="0" err="1"/>
                  <a:t>False</a:t>
                </a:r>
                <a:r>
                  <a:rPr lang="tr-TR" b="0" dirty="0"/>
                  <a:t> </a:t>
                </a:r>
                <a:r>
                  <a:rPr lang="tr-TR" b="0" dirty="0" err="1"/>
                  <a:t>position</a:t>
                </a:r>
                <a:r>
                  <a:rPr lang="tr-TR" b="0" dirty="0"/>
                  <a:t> </a:t>
                </a:r>
                <a:r>
                  <a:rPr lang="tr-TR" b="0" dirty="0" err="1"/>
                  <a:t>method</a:t>
                </a:r>
                <a:endParaRPr lang="tr-TR" dirty="0"/>
              </a:p>
              <a:p>
                <a:pPr lvl="1"/>
                <a:r>
                  <a:rPr lang="tr-TR" b="1" dirty="0"/>
                  <a:t>Open </a:t>
                </a:r>
                <a:r>
                  <a:rPr lang="tr-TR" b="1" dirty="0" err="1"/>
                  <a:t>Methods</a:t>
                </a:r>
                <a:r>
                  <a:rPr lang="tr-TR" b="1" dirty="0"/>
                  <a:t> </a:t>
                </a:r>
                <a:r>
                  <a:rPr lang="tr-TR" dirty="0"/>
                  <a:t>(</a:t>
                </a:r>
                <a:r>
                  <a:rPr lang="tr-TR" dirty="0" err="1"/>
                  <a:t>fast</a:t>
                </a:r>
                <a:r>
                  <a:rPr lang="tr-TR" dirty="0"/>
                  <a:t>) </a:t>
                </a:r>
              </a:p>
              <a:p>
                <a:pPr lvl="2"/>
                <a:r>
                  <a:rPr lang="tr-TR" dirty="0" err="1"/>
                  <a:t>Fixed-point</a:t>
                </a:r>
                <a:r>
                  <a:rPr lang="tr-TR" dirty="0"/>
                  <a:t> </a:t>
                </a:r>
                <a:r>
                  <a:rPr lang="tr-TR" dirty="0" err="1"/>
                  <a:t>iteration</a:t>
                </a:r>
                <a:endParaRPr lang="tr-TR" dirty="0"/>
              </a:p>
              <a:p>
                <a:pPr lvl="2"/>
                <a:r>
                  <a:rPr lang="tr-TR" dirty="0"/>
                  <a:t>Newton-</a:t>
                </a:r>
                <a:r>
                  <a:rPr lang="tr-TR" dirty="0" err="1"/>
                  <a:t>Raphson</a:t>
                </a:r>
                <a:endParaRPr lang="tr-TR" dirty="0"/>
              </a:p>
              <a:p>
                <a:pPr lvl="2"/>
                <a:r>
                  <a:rPr lang="tr-TR" dirty="0" err="1"/>
                  <a:t>Secant</a:t>
                </a:r>
                <a:r>
                  <a:rPr lang="tr-TR" dirty="0"/>
                  <a:t> </a:t>
                </a:r>
                <a:r>
                  <a:rPr lang="tr-TR" dirty="0" err="1"/>
                  <a:t>methods</a:t>
                </a:r>
                <a:endParaRPr lang="tr-TR" dirty="0"/>
              </a:p>
              <a:p>
                <a:pPr lvl="1"/>
                <a:r>
                  <a:rPr lang="tr-TR" dirty="0" err="1"/>
                  <a:t>Hybrid</a:t>
                </a:r>
                <a:r>
                  <a:rPr lang="tr-TR" dirty="0"/>
                  <a:t> </a:t>
                </a:r>
                <a:r>
                  <a:rPr lang="tr-TR" dirty="0" err="1"/>
                  <a:t>Methods</a:t>
                </a:r>
                <a:r>
                  <a:rPr lang="tr-TR" dirty="0"/>
                  <a:t>: </a:t>
                </a:r>
                <a:r>
                  <a:rPr lang="tr-TR" dirty="0" err="1"/>
                  <a:t>Brent’s</a:t>
                </a:r>
                <a:r>
                  <a:rPr lang="tr-TR" dirty="0"/>
                  <a:t> </a:t>
                </a:r>
                <a:r>
                  <a:rPr lang="tr-TR" dirty="0" err="1"/>
                  <a:t>root</a:t>
                </a:r>
                <a:r>
                  <a:rPr lang="tr-TR" dirty="0"/>
                  <a:t> </a:t>
                </a:r>
                <a:r>
                  <a:rPr lang="tr-TR" dirty="0" err="1"/>
                  <a:t>finding</a:t>
                </a:r>
                <a:r>
                  <a:rPr lang="tr-TR" dirty="0"/>
                  <a:t> </a:t>
                </a:r>
                <a:r>
                  <a:rPr lang="tr-TR" dirty="0" err="1"/>
                  <a:t>method</a:t>
                </a:r>
                <a:r>
                  <a:rPr lang="tr-TR" dirty="0"/>
                  <a:t> (</a:t>
                </a:r>
                <a:r>
                  <a:rPr lang="tr-TR" dirty="0" err="1"/>
                  <a:t>Fast</a:t>
                </a:r>
                <a:r>
                  <a:rPr lang="tr-TR" dirty="0"/>
                  <a:t> </a:t>
                </a:r>
                <a:r>
                  <a:rPr lang="tr-TR" dirty="0" err="1"/>
                  <a:t>and</a:t>
                </a:r>
                <a:r>
                  <a:rPr lang="tr-TR" dirty="0"/>
                  <a:t> </a:t>
                </a:r>
                <a:r>
                  <a:rPr lang="tr-TR" dirty="0" err="1"/>
                  <a:t>reliable</a:t>
                </a:r>
                <a:r>
                  <a:rPr lang="tr-TR" dirty="0"/>
                  <a:t>) </a:t>
                </a:r>
              </a:p>
              <a:p>
                <a:pPr lvl="1"/>
                <a:r>
                  <a:rPr lang="tr-TR" dirty="0"/>
                  <a:t>MATLAB: </a:t>
                </a:r>
                <a:r>
                  <a:rPr lang="tr-TR" dirty="0" err="1"/>
                  <a:t>fzero</a:t>
                </a:r>
                <a:r>
                  <a:rPr lang="tr-TR" dirty="0"/>
                  <a:t> </a:t>
                </a:r>
                <a:r>
                  <a:rPr lang="tr-TR" dirty="0" err="1"/>
                  <a:t>function</a:t>
                </a:r>
                <a:endParaRPr lang="tr-T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A0AFD1-C211-E14A-822D-B6ECC2FDE6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1145" y="1453018"/>
                <a:ext cx="10802655" cy="4622105"/>
              </a:xfrm>
              <a:blipFill>
                <a:blip r:embed="rId2"/>
                <a:stretch>
                  <a:fillRect l="-822" t="-1918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Notched Right Arrow 3">
            <a:extLst>
              <a:ext uri="{FF2B5EF4-FFF2-40B4-BE49-F238E27FC236}">
                <a16:creationId xmlns:a16="http://schemas.microsoft.com/office/drawing/2014/main" id="{ABABD678-F600-CD4A-A0C8-6A92FF8E850A}"/>
              </a:ext>
            </a:extLst>
          </p:cNvPr>
          <p:cNvSpPr/>
          <p:nvPr/>
        </p:nvSpPr>
        <p:spPr>
          <a:xfrm>
            <a:off x="327377" y="3747439"/>
            <a:ext cx="677334" cy="270933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0627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1863</Words>
  <Application>Microsoft Macintosh PowerPoint</Application>
  <PresentationFormat>Widescreen</PresentationFormat>
  <Paragraphs>264</Paragraphs>
  <Slides>55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Office Theme</vt:lpstr>
      <vt:lpstr>Equation</vt:lpstr>
      <vt:lpstr>Roots</vt:lpstr>
      <vt:lpstr>PowerPoint Presentation</vt:lpstr>
      <vt:lpstr>Overview</vt:lpstr>
      <vt:lpstr>Overview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Mathematical Bckground.</vt:lpstr>
      <vt:lpstr>Mathematical Bckground.</vt:lpstr>
      <vt:lpstr>Orientation.</vt:lpstr>
      <vt:lpstr>Roots: Bracketing Methods</vt:lpstr>
      <vt:lpstr>Chapter Objectives</vt:lpstr>
      <vt:lpstr>Graphical Methods </vt:lpstr>
      <vt:lpstr>Graphical Methods </vt:lpstr>
      <vt:lpstr>Graphical Methods </vt:lpstr>
      <vt:lpstr>Graphical Methods </vt:lpstr>
      <vt:lpstr>Graphical Methods </vt:lpstr>
      <vt:lpstr>Exceptions</vt:lpstr>
      <vt:lpstr>PowerPoint Presentation</vt:lpstr>
      <vt:lpstr>Roots </vt:lpstr>
      <vt:lpstr>Incremental search</vt:lpstr>
      <vt:lpstr>Incremental Search Hazards</vt:lpstr>
      <vt:lpstr>PowerPoint Presentation</vt:lpstr>
      <vt:lpstr>Example</vt:lpstr>
      <vt:lpstr>PowerPoint Presentation</vt:lpstr>
      <vt:lpstr>Example</vt:lpstr>
      <vt:lpstr>Bisection Method </vt:lpstr>
      <vt:lpstr>Bisection Method</vt:lpstr>
      <vt:lpstr>Bisection Method</vt:lpstr>
      <vt:lpstr>Bisection Method</vt:lpstr>
      <vt:lpstr>Bisection Method </vt:lpstr>
      <vt:lpstr>Bisection Method </vt:lpstr>
      <vt:lpstr>Bisection Method </vt:lpstr>
      <vt:lpstr>PowerPoint Presentation</vt:lpstr>
      <vt:lpstr>Bisection Method</vt:lpstr>
      <vt:lpstr>False Position Method</vt:lpstr>
      <vt:lpstr>False Position Method</vt:lpstr>
      <vt:lpstr>Bisection vs. False Position</vt:lpstr>
      <vt:lpstr>Example </vt:lpstr>
      <vt:lpstr>Example </vt:lpstr>
      <vt:lpstr>Summary </vt:lpstr>
      <vt:lpstr>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Roots and Optimization </dc:title>
  <dc:creator>Cigdem Eroglu Erdem</dc:creator>
  <cp:lastModifiedBy>Kamil Erdayandi</cp:lastModifiedBy>
  <cp:revision>75</cp:revision>
  <dcterms:created xsi:type="dcterms:W3CDTF">2018-03-03T07:50:51Z</dcterms:created>
  <dcterms:modified xsi:type="dcterms:W3CDTF">2025-10-30T10:02:10Z</dcterms:modified>
</cp:coreProperties>
</file>