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9" r:id="rId4"/>
    <p:sldId id="368" r:id="rId5"/>
    <p:sldId id="736" r:id="rId6"/>
    <p:sldId id="290" r:id="rId7"/>
    <p:sldId id="737" r:id="rId8"/>
    <p:sldId id="738" r:id="rId9"/>
    <p:sldId id="739" r:id="rId10"/>
    <p:sldId id="740" r:id="rId11"/>
    <p:sldId id="741" r:id="rId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510"/>
    <p:restoredTop sz="95872"/>
  </p:normalViewPr>
  <p:slideViewPr>
    <p:cSldViewPr>
      <p:cViewPr varScale="1">
        <p:scale>
          <a:sx n="216" d="100"/>
          <a:sy n="216" d="100"/>
        </p:scale>
        <p:origin x="944" y="17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341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63681-5468-F14A-8D2C-23F24D433609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DD88E-2E6C-C341-B2D0-12B811A95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3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DD88E-2E6C-C341-B2D0-12B811A950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80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1835" y="489176"/>
            <a:ext cx="3386429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14"/>
            <a:ext cx="33693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750453"/>
            <a:ext cx="3867150" cy="1898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work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labacademy.mathworks.com/" TargetMode="External"/><Relationship Id="rId2" Type="http://schemas.openxmlformats.org/officeDocument/2006/relationships/hyperlink" Target="http://www.mathwork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1F18EC-22CD-39B1-CC2D-0EC73DDA5238}"/>
              </a:ext>
            </a:extLst>
          </p:cNvPr>
          <p:cNvSpPr txBox="1"/>
          <p:nvPr/>
        </p:nvSpPr>
        <p:spPr>
          <a:xfrm>
            <a:off x="1033633" y="1958975"/>
            <a:ext cx="2542831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spc="-1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 2059 Numerical Methods 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5EC81CC9-EAC3-3907-9268-3A583E3B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73" y="1716678"/>
            <a:ext cx="4615846" cy="62252"/>
            <a:chOff x="-5025" y="6737718"/>
            <a:chExt cx="12207200" cy="123363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665915B0-4647-B7BB-3CDF-D62A16FCB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EA416CD1-48B0-ADCA-33F6-A12FBD9EE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1355298" y="2339975"/>
            <a:ext cx="2273383" cy="76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 rtl="0">
              <a:lnSpc>
                <a:spcPct val="90000"/>
              </a:lnSpc>
              <a:spcBef>
                <a:spcPts val="220"/>
              </a:spcBef>
            </a:pPr>
            <a:r>
              <a:rPr lang="en-US" sz="1400" b="1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 1 </a:t>
            </a:r>
            <a:endParaRPr lang="en-US" sz="1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40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</a:t>
            </a: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ion</a:t>
            </a:r>
            <a:endParaRPr lang="en-US" sz="1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4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Mathematical Modeling</a:t>
            </a:r>
          </a:p>
          <a:p>
            <a:pPr indent="-228600" algn="l" rtl="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MATLAB</a:t>
            </a:r>
            <a:endParaRPr lang="en-US" sz="1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465"/>
              </a:spcBef>
              <a:buFont typeface="Arial" panose="020B0604020202020204" pitchFamily="34" charset="0"/>
              <a:buChar char="•"/>
            </a:pPr>
            <a:endParaRPr lang="en-US" sz="1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20320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3EC06-F3FB-2EB2-67CD-67951E4E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0630"/>
            <a:ext cx="4612973" cy="17473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Preliminaries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E72B6C-5835-4880-D4B7-4ED5AD029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15880"/>
              </p:ext>
            </p:extLst>
          </p:nvPr>
        </p:nvGraphicFramePr>
        <p:xfrm>
          <a:off x="371475" y="968375"/>
          <a:ext cx="3867150" cy="19206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259">
                  <a:extLst>
                    <a:ext uri="{9D8B030D-6E8A-4147-A177-3AD203B41FA5}">
                      <a16:colId xmlns:a16="http://schemas.microsoft.com/office/drawing/2014/main" val="2789345356"/>
                    </a:ext>
                  </a:extLst>
                </a:gridCol>
                <a:gridCol w="2953891">
                  <a:extLst>
                    <a:ext uri="{9D8B030D-6E8A-4147-A177-3AD203B41FA5}">
                      <a16:colId xmlns:a16="http://schemas.microsoft.com/office/drawing/2014/main" val="2031551354"/>
                    </a:ext>
                  </a:extLst>
                </a:gridCol>
              </a:tblGrid>
              <a:tr h="107863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Class schedule:</a:t>
                      </a:r>
                      <a:endParaRPr lang="tr-TR" sz="1100">
                        <a:solidFill>
                          <a:srgbClr val="3333B2"/>
                        </a:solidFill>
                        <a:latin typeface="Arial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rial"/>
                          <a:cs typeface="Arial"/>
                        </a:rPr>
                        <a:t>Tuesday 10:30 – 12:30 (M1</a:t>
                      </a:r>
                      <a:r>
                        <a:rPr lang="en-US" sz="1100">
                          <a:latin typeface="Arial"/>
                          <a:cs typeface="Arial"/>
                        </a:rPr>
                        <a:t>.Z06)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"/>
                          <a:cs typeface="Arial"/>
                        </a:rPr>
                        <a:t>Thursday 13:00 – 14:00 (M2.Z11)</a:t>
                      </a:r>
                      <a:endParaRPr lang="tr-TR" sz="1100" dirty="0">
                        <a:latin typeface="Arial"/>
                        <a:cs typeface="Arial"/>
                      </a:endParaRPr>
                    </a:p>
                    <a:p>
                      <a:endParaRPr lang="tr-TR" sz="1100" dirty="0">
                        <a:latin typeface="Arial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299891"/>
                  </a:ext>
                </a:extLst>
              </a:tr>
              <a:tr h="107863">
                <a:tc>
                  <a:txBody>
                    <a:bodyPr/>
                    <a:lstStyle/>
                    <a:p>
                      <a:r>
                        <a:rPr lang="en-US" sz="700">
                          <a:effectLst/>
                        </a:rPr>
                        <a:t> </a:t>
                      </a:r>
                      <a:endParaRPr lang="tr-TR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 </a:t>
                      </a:r>
                      <a:endParaRPr lang="tr-TR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950374"/>
                  </a:ext>
                </a:extLst>
              </a:tr>
              <a:tr h="19611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3333B2"/>
                          </a:solidFill>
                          <a:latin typeface="Arial"/>
                          <a:ea typeface="+mn-ea"/>
                          <a:cs typeface="Arial"/>
                        </a:rPr>
                        <a:t>Instructor</a:t>
                      </a:r>
                      <a:r>
                        <a:rPr lang="en-US" sz="110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:</a:t>
                      </a:r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fr-FR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Dr. </a:t>
                      </a:r>
                      <a:r>
                        <a:rPr lang="fr-FR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Kamil</a:t>
                      </a:r>
                      <a:r>
                        <a:rPr lang="fr-FR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fr-FR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Erdayandı</a:t>
                      </a:r>
                      <a:r>
                        <a:rPr lang="fr-FR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, </a:t>
                      </a:r>
                      <a:r>
                        <a:rPr lang="fr-FR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kamil.erdayandi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@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marmara.edu.tr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0"/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Office: M2-232, Phone: (216) 777 3535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44126"/>
                  </a:ext>
                </a:extLst>
              </a:tr>
              <a:tr h="196115">
                <a:tc>
                  <a:txBody>
                    <a:bodyPr/>
                    <a:lstStyle/>
                    <a:p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endParaRPr lang="tr-TR" sz="11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09332"/>
                  </a:ext>
                </a:extLst>
              </a:tr>
              <a:tr h="196115">
                <a:tc>
                  <a:txBody>
                    <a:bodyPr/>
                    <a:lstStyle/>
                    <a:p>
                      <a:r>
                        <a:rPr lang="tr-TR" sz="110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TA:</a:t>
                      </a: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tr-TR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Eda Patoğlu</a:t>
                      </a:r>
                    </a:p>
                    <a:p>
                      <a:pPr marL="0"/>
                      <a:r>
                        <a:rPr lang="tr-TR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eda.patoglu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@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Arial"/>
                        </a:rPr>
                        <a:t>marmara.edu.tr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56725"/>
                  </a:ext>
                </a:extLst>
              </a:tr>
              <a:tr h="107863">
                <a:tc>
                  <a:txBody>
                    <a:bodyPr/>
                    <a:lstStyle/>
                    <a:p>
                      <a:r>
                        <a:rPr lang="en-US" sz="700" dirty="0">
                          <a:effectLst/>
                        </a:rPr>
                        <a:t> </a:t>
                      </a:r>
                      <a:endParaRPr lang="tr-TR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0985"/>
                      <a:r>
                        <a:rPr lang="en-US" sz="600" dirty="0">
                          <a:effectLst/>
                        </a:rPr>
                        <a:t> </a:t>
                      </a:r>
                      <a:endParaRPr lang="tr-TR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36143"/>
                  </a:ext>
                </a:extLst>
              </a:tr>
              <a:tr h="107863">
                <a:tc>
                  <a:txBody>
                    <a:bodyPr/>
                    <a:lstStyle/>
                    <a:p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endParaRPr lang="tr-TR" sz="1100" dirty="0">
                        <a:solidFill>
                          <a:schemeClr val="dk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44126" marR="44126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7437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AAE39-5728-4A0C-5DAC-67032FBD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4ABBCF-71F6-1AF4-48B3-F12BB0D84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693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pc="-10" dirty="0"/>
              <a:t>Preliminaries </a:t>
            </a:r>
            <a:endParaRPr spc="-1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02BE79-39AB-AD8A-B053-3697D43BE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248274"/>
              </p:ext>
            </p:extLst>
          </p:nvPr>
        </p:nvGraphicFramePr>
        <p:xfrm>
          <a:off x="190550" y="892175"/>
          <a:ext cx="4419550" cy="147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711">
                  <a:extLst>
                    <a:ext uri="{9D8B030D-6E8A-4147-A177-3AD203B41FA5}">
                      <a16:colId xmlns:a16="http://schemas.microsoft.com/office/drawing/2014/main" val="3780052535"/>
                    </a:ext>
                  </a:extLst>
                </a:gridCol>
                <a:gridCol w="3375839">
                  <a:extLst>
                    <a:ext uri="{9D8B030D-6E8A-4147-A177-3AD203B41FA5}">
                      <a16:colId xmlns:a16="http://schemas.microsoft.com/office/drawing/2014/main" val="936332972"/>
                    </a:ext>
                  </a:extLst>
                </a:gridCol>
              </a:tblGrid>
              <a:tr h="133868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854543"/>
                  </a:ext>
                </a:extLst>
              </a:tr>
              <a:tr h="133868">
                <a:tc>
                  <a:txBody>
                    <a:bodyPr/>
                    <a:lstStyle/>
                    <a:p>
                      <a:pPr marL="0"/>
                      <a:r>
                        <a:rPr lang="en-US" sz="1100" dirty="0">
                          <a:solidFill>
                            <a:srgbClr val="3333B2"/>
                          </a:solidFill>
                          <a:latin typeface="Arial"/>
                          <a:ea typeface="+mn-ea"/>
                          <a:cs typeface="Arial"/>
                        </a:rPr>
                        <a:t>Attendance:</a:t>
                      </a:r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Classroom attendance (%70) is mandatory. 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75710"/>
                  </a:ext>
                </a:extLst>
              </a:tr>
              <a:tr h="133868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420444"/>
                  </a:ext>
                </a:extLst>
              </a:tr>
              <a:tr h="133868">
                <a:tc>
                  <a:txBody>
                    <a:bodyPr/>
                    <a:lstStyle/>
                    <a:p>
                      <a:pPr marL="0"/>
                      <a:r>
                        <a:rPr lang="en-US" sz="1100">
                          <a:solidFill>
                            <a:srgbClr val="3333B2"/>
                          </a:solidFill>
                          <a:latin typeface="Arial"/>
                          <a:ea typeface="+mn-ea"/>
                          <a:cs typeface="Arial"/>
                        </a:rPr>
                        <a:t>Quizzes:</a:t>
                      </a:r>
                      <a:endParaRPr lang="tr-TR" sz="1100">
                        <a:solidFill>
                          <a:srgbClr val="3333B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There will be three quizzes.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325002"/>
                  </a:ext>
                </a:extLst>
              </a:tr>
              <a:tr h="133868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303270" algn="l"/>
                        </a:tabLst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526611"/>
                  </a:ext>
                </a:extLst>
              </a:tr>
              <a:tr h="211797">
                <a:tc>
                  <a:txBody>
                    <a:bodyPr/>
                    <a:lstStyle/>
                    <a:p>
                      <a:pPr marL="0"/>
                      <a:r>
                        <a:rPr lang="en-US" sz="1100" dirty="0">
                          <a:solidFill>
                            <a:srgbClr val="3333B2"/>
                          </a:solidFill>
                          <a:latin typeface="Arial"/>
                          <a:ea typeface="+mn-ea"/>
                          <a:cs typeface="Arial"/>
                        </a:rPr>
                        <a:t>Homework(s):</a:t>
                      </a:r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303270" algn="l"/>
                        </a:tabLst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There may be some homework</a:t>
                      </a:r>
                      <a:r>
                        <a:rPr lang="tr-TR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89612"/>
                  </a:ext>
                </a:extLst>
              </a:tr>
              <a:tr h="211797">
                <a:tc>
                  <a:txBody>
                    <a:bodyPr/>
                    <a:lstStyle/>
                    <a:p>
                      <a:pPr marL="0"/>
                      <a:endParaRPr lang="tr-TR" sz="1100" dirty="0">
                        <a:solidFill>
                          <a:srgbClr val="3333B2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303270" algn="l"/>
                        </a:tabLst>
                      </a:pP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936504"/>
                  </a:ext>
                </a:extLst>
              </a:tr>
              <a:tr h="211797">
                <a:tc>
                  <a:txBody>
                    <a:bodyPr/>
                    <a:lstStyle/>
                    <a:p>
                      <a:pPr marL="0"/>
                      <a:r>
                        <a:rPr lang="tr-TR" sz="1100" dirty="0">
                          <a:solidFill>
                            <a:srgbClr val="3333B2"/>
                          </a:solidFill>
                          <a:latin typeface="Arial"/>
                          <a:ea typeface="+mn-ea"/>
                          <a:cs typeface="Arial"/>
                        </a:rPr>
                        <a:t>P.S.</a:t>
                      </a:r>
                    </a:p>
                  </a:txBody>
                  <a:tcPr marL="26267" marR="26267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303270" algn="l"/>
                        </a:tabLst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There may be problem sessions before the exams.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053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978157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AAE39-5728-4A0C-5DAC-67032FBD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4ABBCF-71F6-1AF4-48B3-F12BB0D84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693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pc="-10" dirty="0"/>
              <a:t>Recommended textbooks</a:t>
            </a:r>
            <a:endParaRPr spc="-1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518FF-6C71-B99B-45FD-BF5DB7D13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587375"/>
            <a:ext cx="213355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CF6C2B-C3FA-7930-162E-E2C86EE4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780" y="587375"/>
            <a:ext cx="195035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3008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4477-F9E9-2DA8-24AC-8E6791F3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14"/>
            <a:ext cx="3369310" cy="215444"/>
          </a:xfrm>
        </p:spPr>
        <p:txBody>
          <a:bodyPr/>
          <a:lstStyle/>
          <a:p>
            <a:r>
              <a:rPr lang="en-US" dirty="0"/>
              <a:t>Alternatively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87A8B-80FF-62A7-2F2F-10D87E86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13" y="494451"/>
            <a:ext cx="1919273" cy="247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7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AAE39-5728-4A0C-5DAC-67032FBD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4ABBCF-71F6-1AF4-48B3-F12BB0D84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693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pc="-10" dirty="0"/>
              <a:t>Syllabus</a:t>
            </a:r>
            <a:endParaRPr spc="-1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02BE79-39AB-AD8A-B053-3697D43BE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15640"/>
              </p:ext>
            </p:extLst>
          </p:nvPr>
        </p:nvGraphicFramePr>
        <p:xfrm>
          <a:off x="95300" y="771911"/>
          <a:ext cx="4419550" cy="15103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712">
                  <a:extLst>
                    <a:ext uri="{9D8B030D-6E8A-4147-A177-3AD203B41FA5}">
                      <a16:colId xmlns:a16="http://schemas.microsoft.com/office/drawing/2014/main" val="3780052535"/>
                    </a:ext>
                  </a:extLst>
                </a:gridCol>
                <a:gridCol w="1547038">
                  <a:extLst>
                    <a:ext uri="{9D8B030D-6E8A-4147-A177-3AD203B41FA5}">
                      <a16:colId xmlns:a16="http://schemas.microsoft.com/office/drawing/2014/main" val="93633297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3094965"/>
                    </a:ext>
                  </a:extLst>
                </a:gridCol>
              </a:tblGrid>
              <a:tr h="167955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tabLst>
                          <a:tab pos="3303270" algn="l"/>
                        </a:tabLst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26913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pPr marL="0"/>
                      <a:r>
                        <a:rPr lang="en-US" sz="1100" b="0" i="0" spc="-10">
                          <a:solidFill>
                            <a:srgbClr val="3333B2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Grading:</a:t>
                      </a:r>
                      <a:endParaRPr lang="tr-TR" sz="1100" b="0" i="0" spc="-10">
                        <a:solidFill>
                          <a:srgbClr val="3333B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581295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Quizzes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15%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32255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HW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1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 </a:t>
                      </a:r>
                      <a:r>
                        <a:rPr lang="en-US" sz="11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5) 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%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4426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Midterm</a:t>
                      </a:r>
                      <a:endParaRPr lang="tr-TR" sz="11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45 - (N</a:t>
                      </a:r>
                      <a:r>
                        <a:rPr lang="en-US" sz="11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 </a:t>
                      </a:r>
                      <a:r>
                        <a:rPr lang="en-US" sz="11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 5) 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%</a:t>
                      </a:r>
                      <a:endParaRPr lang="tr-TR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22637"/>
                  </a:ext>
                </a:extLst>
              </a:tr>
              <a:tr h="256559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Comprehensive Final</a:t>
                      </a:r>
                      <a:endParaRPr lang="tr-TR" sz="11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40%</a:t>
                      </a:r>
                    </a:p>
                    <a:p>
                      <a:endParaRPr lang="en-US" sz="11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1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1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 </a:t>
                      </a:r>
                      <a:r>
                        <a:rPr lang="en-US" sz="11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Number of homework assignments</a:t>
                      </a:r>
                      <a:r>
                        <a:rPr lang="tr-TR" sz="11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787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11246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4AAE39-5728-4A0C-5DAC-67032FBD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4ABBCF-71F6-1AF4-48B3-F12BB0D84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6931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r>
              <a:rPr lang="en-GB" spc="-10" dirty="0"/>
              <a:t>Course Objectives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02BE79-39AB-AD8A-B053-3697D43BE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39085"/>
              </p:ext>
            </p:extLst>
          </p:nvPr>
        </p:nvGraphicFramePr>
        <p:xfrm>
          <a:off x="95300" y="771911"/>
          <a:ext cx="4514800" cy="1841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4800">
                  <a:extLst>
                    <a:ext uri="{9D8B030D-6E8A-4147-A177-3AD203B41FA5}">
                      <a16:colId xmlns:a16="http://schemas.microsoft.com/office/drawing/2014/main" val="3780052535"/>
                    </a:ext>
                  </a:extLst>
                </a:gridCol>
              </a:tblGrid>
              <a:tr h="4406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3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426913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i="0" spc="-10" dirty="0">
                          <a:solidFill>
                            <a:srgbClr val="3333B2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Introduce</a:t>
                      </a:r>
                      <a:r>
                        <a:rPr lang="en-GB" sz="13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171450" marR="0" lvl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3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numerical methods and</a:t>
                      </a:r>
                    </a:p>
                    <a:p>
                      <a:pPr marL="171450" marR="0" lvl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3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 applications in engineering</a:t>
                      </a:r>
                    </a:p>
                    <a:p>
                      <a:pPr marL="0"/>
                      <a:endParaRPr lang="tr-TR" sz="1300" b="0" i="0" spc="-10" dirty="0">
                        <a:solidFill>
                          <a:srgbClr val="3333B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581295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3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32255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3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4426"/>
                  </a:ext>
                </a:extLst>
              </a:tr>
              <a:tr h="167955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3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22637"/>
                  </a:ext>
                </a:extLst>
              </a:tr>
              <a:tr h="256559"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3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6267" marR="26267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787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64503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6226-11A9-0503-8402-9A5498F1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14"/>
            <a:ext cx="3369310" cy="215444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4B07F-E8FB-3D61-091F-31C7D727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358775"/>
            <a:ext cx="4419550" cy="280076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1: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 the MATLAB programming language and toolboxes to implement numerical algorithms.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2: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Solve nonlinear equations with a single unknown using numerical methods.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3: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Solve systems of linear equations using numerical methods.</a:t>
            </a:r>
          </a:p>
        </p:txBody>
      </p:sp>
    </p:spTree>
    <p:extLst>
      <p:ext uri="{BB962C8B-B14F-4D97-AF65-F5344CB8AC3E}">
        <p14:creationId xmlns:p14="http://schemas.microsoft.com/office/powerpoint/2010/main" val="118311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6226-11A9-0503-8402-9A5498F1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14"/>
            <a:ext cx="3369310" cy="215444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4B07F-E8FB-3D61-091F-31C7D727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358775"/>
            <a:ext cx="4419550" cy="280076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4: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Apply basic principles of optimization using numerical methods.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5: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Apply interpolation and regression to fit a curve to data obtained in engineering applications.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Objective 6: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3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Apply numerical methods for differentiation, integration and differential equations.</a:t>
            </a:r>
          </a:p>
        </p:txBody>
      </p:sp>
    </p:spTree>
    <p:extLst>
      <p:ext uri="{BB962C8B-B14F-4D97-AF65-F5344CB8AC3E}">
        <p14:creationId xmlns:p14="http://schemas.microsoft.com/office/powerpoint/2010/main" val="126076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F834-3A1E-6839-5423-B6E97DDA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14" y="206375"/>
            <a:ext cx="3369310" cy="230832"/>
          </a:xfrm>
        </p:spPr>
        <p:txBody>
          <a:bodyPr/>
          <a:lstStyle/>
          <a:p>
            <a:pPr algn="ctr"/>
            <a:r>
              <a:rPr lang="en-US" sz="1500" dirty="0"/>
              <a:t>MATLAB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F4F3-AE32-BD58-3C64-898763ABC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294" y="750453"/>
            <a:ext cx="3867150" cy="140038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Web Page: </a:t>
            </a:r>
            <a:r>
              <a:rPr lang="en-US" sz="1300" dirty="0">
                <a:hlinkClick r:id="rId2"/>
              </a:rPr>
              <a:t>www.mathworks.com</a:t>
            </a:r>
            <a:endParaRPr lang="en-US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can install to your PC: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300" dirty="0">
                <a:solidFill>
                  <a:srgbClr val="000000"/>
                </a:solidFill>
                <a:latin typeface="Arial" panose="020B0604020202020204" pitchFamily="34" charset="0"/>
              </a:rPr>
              <a:t>Create an account using your Marmara University e-mail address.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Install MATLAB (with all toolboxes)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3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can also use MATLAB online.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4486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F834-3A1E-6839-5423-B6E97DDA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14" y="206375"/>
            <a:ext cx="3369310" cy="230832"/>
          </a:xfrm>
        </p:spPr>
        <p:txBody>
          <a:bodyPr/>
          <a:lstStyle/>
          <a:p>
            <a:pPr algn="ctr"/>
            <a:r>
              <a:rPr lang="en-US" sz="1500" dirty="0"/>
              <a:t>MATLAB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F4F3-AE32-BD58-3C64-898763ABC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272" y="892175"/>
            <a:ext cx="4167556" cy="169277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Tutorials</a:t>
            </a:r>
            <a:endParaRPr lang="en-GB" sz="1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an account at: </a:t>
            </a:r>
            <a:r>
              <a:rPr lang="en-GB" sz="1400" dirty="0">
                <a:solidFill>
                  <a:srgbClr val="118987"/>
                </a:solidFill>
                <a:effectLst/>
                <a:latin typeface="Arial" panose="020B0604020202020204" pitchFamily="34" charset="0"/>
                <a:hlinkClick r:id="rId2"/>
              </a:rPr>
              <a:t>www.mathworks.com</a:t>
            </a:r>
            <a:endParaRPr lang="en-GB" sz="1400" dirty="0">
              <a:solidFill>
                <a:srgbClr val="118987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 to MATLAB Academy: </a:t>
            </a: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https://matlabacademy.mathworks.com/</a:t>
            </a:r>
            <a:endParaRPr lang="en-GB" sz="14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en-GB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Enroll</a:t>
            </a: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the self-paced interactive course (takes 2 hours to complete):</a:t>
            </a:r>
            <a:endParaRPr lang="en-GB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57300" lvl="2" indent="-342900">
              <a:buFont typeface="Wingdings" pitchFamily="2" charset="2"/>
              <a:buChar char="Ø"/>
            </a:pPr>
            <a:r>
              <a:rPr lang="en-GB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MATLAB Onramp (free course)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3686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</TotalTime>
  <Words>365</Words>
  <Application>Microsoft Macintosh PowerPoint</Application>
  <PresentationFormat>Custom</PresentationFormat>
  <Paragraphs>102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Preliminaries</vt:lpstr>
      <vt:lpstr>Preliminaries </vt:lpstr>
      <vt:lpstr>Recommended textbooks</vt:lpstr>
      <vt:lpstr>Alternatively</vt:lpstr>
      <vt:lpstr>Syllabus</vt:lpstr>
      <vt:lpstr>Course Objectives</vt:lpstr>
      <vt:lpstr>Learning Outcomes</vt:lpstr>
      <vt:lpstr>Learning Outcomes</vt:lpstr>
      <vt:lpstr>MATLAB</vt:lpstr>
      <vt:lpstr>MATLAB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34111 — Artificial Intelligence and Games</dc:title>
  <dc:subject>Game theory</dc:subject>
  <dc:creator>Jonathan Shapiro</dc:creator>
  <cp:keywords>reinforcement learning</cp:keywords>
  <cp:lastModifiedBy>Kamil Erdayandi</cp:lastModifiedBy>
  <cp:revision>286</cp:revision>
  <dcterms:created xsi:type="dcterms:W3CDTF">2025-02-16T13:35:32Z</dcterms:created>
  <dcterms:modified xsi:type="dcterms:W3CDTF">2025-09-22T20:47:43Z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2025-02-16T00:00:00Z</vt:filetime>
  </property>
  <property fmtid="{D5CDD505-2E9C-101B-9397-08002B2CF9AE}" pid="5" name="PTEX.Fullbanner">
    <vt:lpwstr>This is pdfTeX, Version 3.14159265-2.6-1.40.21 (TeX Live 2020) kpathsea version 6.3.2</vt:lpwstr>
  </property>
  <property fmtid="{D5CDD505-2E9C-101B-9397-08002B2CF9AE}" pid="6" name="Producer">
    <vt:lpwstr>pdfTeX-1.40.21</vt:lpwstr>
  </property>
</Properties>
</file>