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rawings/vmlDrawing1.vml" ContentType="application/vnd.openxmlformats-officedocument.vmlDrawing"/>
  <Override PartName="/ppt/drawings/vmlDrawing2.vml" ContentType="application/vnd.openxmlformats-officedocument.vmlDrawing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2" r:id="rId15"/>
    <p:sldId id="273" r:id="rId16"/>
    <p:sldId id="282" r:id="rId17"/>
    <p:sldId id="274" r:id="rId18"/>
    <p:sldId id="275" r:id="rId19"/>
    <p:sldId id="276" r:id="rId20"/>
    <p:sldId id="277" r:id="rId21"/>
    <p:sldId id="278" r:id="rId22"/>
    <p:sldId id="279" r:id="rId23"/>
    <p:sldId id="281" r:id="rId24"/>
    <p:sldId id="280" r:id="rId25"/>
    <p:sldId id="283" r:id="rId26"/>
    <p:sldId id="284" r:id="rId27"/>
    <p:sldId id="286" r:id="rId28"/>
    <p:sldId id="287" r:id="rId29"/>
    <p:sldId id="288" r:id="rId30"/>
    <p:sldId id="289" r:id="rId31"/>
    <p:sldId id="292" r:id="rId32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23"/>
    <p:restoredTop sz="94630"/>
  </p:normalViewPr>
  <p:slideViewPr>
    <p:cSldViewPr snapToGrid="0" snapToObjects="1">
      <p:cViewPr varScale="1">
        <p:scale>
          <a:sx n="99" d="100"/>
          <a:sy n="99" d="100"/>
        </p:scale>
        <p:origin x="18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42.emf"/></Relationships>
</file>

<file path=ppt/drawings/_rels/vmlDrawing2.vml.rels><?xml version='1.0' encoding='UTF-8' standalone='yes'?>
<Relationships xmlns="http://schemas.openxmlformats.org/package/2006/relationships"><Relationship Id="rId1" Type="http://schemas.openxmlformats.org/officeDocument/2006/relationships/image" Target="../media/image44.emf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76288-5E28-0C42-BBE0-E7E6FF76BE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D444C1-C0F4-2743-A8BA-CCF06E1D51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58DBE0-DCE8-4B48-9DC6-5D01DF934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E53AE-8190-5D46-BFA3-4CEDCF0B2EA9}" type="datetimeFigureOut">
              <a:rPr lang="tr-TR" smtClean="0"/>
              <a:t>6.03.2018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21D608-B6AD-1640-A85E-3515CA090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83C2D-C8CF-0A40-AF93-A424086D7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658D3-B816-324D-B698-F0E1CC075F9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9491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78011-8E88-794F-984D-EC6AD1CAF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7BFFF-9CBD-5E42-A7CB-92ACD339A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FEDEC2-AE75-7E43-B7F0-AADC4DE2C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E53AE-8190-5D46-BFA3-4CEDCF0B2EA9}" type="datetimeFigureOut">
              <a:rPr lang="tr-TR" smtClean="0"/>
              <a:t>6.03.2018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156025-1061-9F42-93AA-EE630F8CD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A1B90-2BB9-A247-A24A-25EFDFDEA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658D3-B816-324D-B698-F0E1CC075F9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59609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1E643-7A92-3044-8873-079595172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EF841A-3428-1D41-A7D4-627E114BD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00B59E-8A86-E247-BC4B-08B6F2A06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E53AE-8190-5D46-BFA3-4CEDCF0B2EA9}" type="datetimeFigureOut">
              <a:rPr lang="tr-TR" smtClean="0"/>
              <a:t>6.03.2018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CFF9A-8159-8E4C-A4C7-A97A57486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80CC0-E6FC-5245-855C-73CB9087A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658D3-B816-324D-B698-F0E1CC075F9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84748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4803E-B0B4-FF42-BC19-CFD7A6783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00DBE-2BA9-654F-818D-176248E0FF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0DBF2F-7B36-5F4C-B6F4-2B1ABF9055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9A3703-75AE-B247-86B6-673C68F8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E53AE-8190-5D46-BFA3-4CEDCF0B2EA9}" type="datetimeFigureOut">
              <a:rPr lang="tr-TR" smtClean="0"/>
              <a:t>6.03.2018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97A2CE-35CE-4042-938F-1CAA457DD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A63C31-F2C3-EA45-B2D9-3F53F052A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658D3-B816-324D-B698-F0E1CC075F9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81517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8D5F4-D6C0-4749-9804-127513BF0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6550A1-F2DC-A34C-B7C3-ACB0FC648C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F0644F-8637-FB42-B98F-7F14221BA4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E62CB0-DCD2-C842-A469-C9225347F6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F6C87A-5BFF-5C4C-A9D2-025586B740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B6E410-32A2-4541-AB46-26660D8D6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E53AE-8190-5D46-BFA3-4CEDCF0B2EA9}" type="datetimeFigureOut">
              <a:rPr lang="tr-TR" smtClean="0"/>
              <a:t>6.03.2018</a:t>
            </a:fld>
            <a:endParaRPr lang="tr-T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CECAD9-413B-7F45-90C4-6D3944A55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483A2D-10F7-9842-89F3-206962900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658D3-B816-324D-B698-F0E1CC075F9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81011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0E1EA-B16F-3E45-92BD-216AC0D60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5321EE-3FD9-BA4F-8FCC-36A7CF100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E53AE-8190-5D46-BFA3-4CEDCF0B2EA9}" type="datetimeFigureOut">
              <a:rPr lang="tr-TR" smtClean="0"/>
              <a:t>6.03.2018</a:t>
            </a:fld>
            <a:endParaRPr lang="tr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A6352C-D970-7F4F-9B10-0277B13E4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C315C5-2950-0C4F-94CD-884D98B5D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658D3-B816-324D-B698-F0E1CC075F9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49609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74D69F-2927-A643-8444-60CEF645F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E53AE-8190-5D46-BFA3-4CEDCF0B2EA9}" type="datetimeFigureOut">
              <a:rPr lang="tr-TR" smtClean="0"/>
              <a:t>6.03.2018</a:t>
            </a:fld>
            <a:endParaRPr lang="tr-T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88686F-147A-8148-80DD-F3A93D6E9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5933D4-90CD-5649-802C-68194AE21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658D3-B816-324D-B698-F0E1CC075F9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51863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C0D09-681D-0145-8916-025BA2A42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DC641-6574-CE42-A264-864D31C20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D46312-DA62-0845-ADEF-898CA71601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7E6D4A-C81F-934F-A628-C7B8EDDA8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E53AE-8190-5D46-BFA3-4CEDCF0B2EA9}" type="datetimeFigureOut">
              <a:rPr lang="tr-TR" smtClean="0"/>
              <a:t>6.03.2018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05B17A-4752-A64B-A5F3-F75302053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D6570A-2121-FA40-A561-5EB5B855E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658D3-B816-324D-B698-F0E1CC075F9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34638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59A23-3543-BC4C-8217-B116C555A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943613-F82B-824A-8D11-12E0A4BFEB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3E28FD-B8B9-2642-A8C7-8E822E12FA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79F93A-FDD1-854C-8362-81D19A4DC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E53AE-8190-5D46-BFA3-4CEDCF0B2EA9}" type="datetimeFigureOut">
              <a:rPr lang="tr-TR" smtClean="0"/>
              <a:t>6.03.2018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B51A66-2B49-1D4E-984D-2FC99B5C8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E336A3-31D8-F345-A100-87AE72148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658D3-B816-324D-B698-F0E1CC075F9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64493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CDBA9-3C50-784C-AC46-D85852173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7242B4-63B6-2347-BB66-9B88F94EB7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44897C-5AF8-C048-9B30-6955A7C15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E53AE-8190-5D46-BFA3-4CEDCF0B2EA9}" type="datetimeFigureOut">
              <a:rPr lang="tr-TR" smtClean="0"/>
              <a:t>6.03.2018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27A9E9-EDE0-0748-B900-796E21BC9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22B3E-20E6-004E-9745-2ED19D18C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658D3-B816-324D-B698-F0E1CC075F9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91902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BAD5B2-374E-5042-8619-FC7DCD0FAD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1F9B45-C8CC-DC4B-AD26-28E69E350F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C019B0-E343-294E-9DE4-441554833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E53AE-8190-5D46-BFA3-4CEDCF0B2EA9}" type="datetimeFigureOut">
              <a:rPr lang="tr-TR" smtClean="0"/>
              <a:t>6.03.2018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C48210-7166-6C4E-8383-4C9FDF8DE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13A9FE-346D-FA48-A910-B92EB07F7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658D3-B816-324D-B698-F0E1CC075F9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5397817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C08E4C-4B09-6D4C-BC9B-A6ACA33A7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A10733-47F6-FA47-AEA1-A3C8A10A25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948327-2315-164B-AC68-9861D7BBCD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CE53AE-8190-5D46-BFA3-4CEDCF0B2EA9}" type="datetimeFigureOut">
              <a:rPr lang="tr-TR" smtClean="0"/>
              <a:t>6.03.2018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16710-A3F1-B341-B8E3-842AD7B4F0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C8D580-97B7-5E43-8EF4-D72BD4BB43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4658D3-B816-324D-B698-F0E1CC075F9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41313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eg"/><Relationship Id="rId3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e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e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27.png"/><Relationship Id="rId6" Type="http://schemas.openxmlformats.org/officeDocument/2006/relationships/image" Target="../media/image3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43.jpeg"/><Relationship Id="rId4" Type="http://schemas.openxmlformats.org/officeDocument/2006/relationships/oleObject" Target="../embeddings/oleObject1.bin"/><Relationship Id="rId5" Type="http://schemas.openxmlformats.org/officeDocument/2006/relationships/image" Target="../media/image42.emf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45.jpeg"/><Relationship Id="rId4" Type="http://schemas.openxmlformats.org/officeDocument/2006/relationships/oleObject" Target="../embeddings/oleObject2.bin"/><Relationship Id="rId5" Type="http://schemas.openxmlformats.org/officeDocument/2006/relationships/image" Target="../media/image44.emf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36EA0-0BCC-E545-A574-0836162985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 err="1"/>
              <a:t>Roots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Optimization</a:t>
            </a:r>
            <a:r>
              <a:rPr lang="tr-TR" dirty="0"/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048220-A9AD-6E4E-A6A0-A8E51BEEE5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83547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865BD-DC39-7145-A117-E72F1F6F0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7FF2997-D2C9-0E41-8C0F-9F9656A5A2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5617" y="1825625"/>
            <a:ext cx="8540765" cy="4351338"/>
          </a:xfrm>
        </p:spPr>
      </p:pic>
    </p:spTree>
    <p:extLst>
      <p:ext uri="{BB962C8B-B14F-4D97-AF65-F5344CB8AC3E}">
        <p14:creationId xmlns:p14="http://schemas.microsoft.com/office/powerpoint/2010/main" val="37208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EE2EB-F2B2-6845-A30F-AA57B454C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Overview</a:t>
            </a:r>
            <a:endParaRPr lang="tr-T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A0AFD1-C211-E14A-822D-B6ECC2FDE6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1145" y="1453018"/>
                <a:ext cx="10802655" cy="4622105"/>
              </a:xfrm>
            </p:spPr>
            <p:txBody>
              <a:bodyPr>
                <a:normAutofit/>
              </a:bodyPr>
              <a:lstStyle/>
              <a:p>
                <a:r>
                  <a:rPr lang="tr-TR" dirty="0"/>
                  <a:t>Roots</a:t>
                </a:r>
              </a:p>
              <a:p>
                <a:pPr lvl="1"/>
                <a:r>
                  <a:rPr lang="tr-TR" dirty="0" err="1"/>
                  <a:t>Points</a:t>
                </a:r>
                <a:r>
                  <a:rPr lang="tr-TR" dirty="0"/>
                  <a:t> of a </a:t>
                </a:r>
                <a:r>
                  <a:rPr lang="tr-TR" dirty="0" err="1"/>
                  <a:t>nonlinear</a:t>
                </a:r>
                <a:r>
                  <a:rPr lang="tr-TR" dirty="0"/>
                  <a:t> </a:t>
                </a:r>
                <a:r>
                  <a:rPr lang="tr-TR" dirty="0" err="1"/>
                  <a:t>equation</a:t>
                </a:r>
                <a:r>
                  <a:rPr lang="tr-TR" dirty="0"/>
                  <a:t> </a:t>
                </a:r>
                <a:r>
                  <a:rPr lang="tr-TR" dirty="0" err="1"/>
                  <a:t>where</a:t>
                </a:r>
                <a:r>
                  <a:rPr lang="tr-TR" dirty="0"/>
                  <a:t> </a:t>
                </a:r>
                <a14:m>
                  <m:oMath xmlns:m="http://schemas.openxmlformats.org/officeDocument/2006/math">
                    <m:r>
                      <a:rPr lang="tr-TR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tr-T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tr-TR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tr-TR" b="0" dirty="0"/>
              </a:p>
              <a:p>
                <a:pPr lvl="1"/>
                <a:r>
                  <a:rPr lang="tr-TR" b="1" dirty="0" err="1"/>
                  <a:t>Bracketing</a:t>
                </a:r>
                <a:r>
                  <a:rPr lang="tr-TR" b="1" dirty="0"/>
                  <a:t> </a:t>
                </a:r>
                <a:r>
                  <a:rPr lang="tr-TR" b="1" dirty="0" err="1"/>
                  <a:t>methods</a:t>
                </a:r>
                <a:r>
                  <a:rPr lang="tr-TR" dirty="0"/>
                  <a:t>: start </a:t>
                </a:r>
                <a:r>
                  <a:rPr lang="tr-TR" dirty="0" err="1"/>
                  <a:t>with</a:t>
                </a:r>
                <a:r>
                  <a:rPr lang="tr-TR" dirty="0"/>
                  <a:t> a </a:t>
                </a:r>
                <a:r>
                  <a:rPr lang="tr-TR" dirty="0" err="1"/>
                  <a:t>guess</a:t>
                </a:r>
                <a:r>
                  <a:rPr lang="tr-TR" dirty="0"/>
                  <a:t> </a:t>
                </a:r>
                <a:r>
                  <a:rPr lang="tr-TR" dirty="0" err="1"/>
                  <a:t>for</a:t>
                </a:r>
                <a:r>
                  <a:rPr lang="tr-TR" dirty="0"/>
                  <a:t> a </a:t>
                </a:r>
                <a:r>
                  <a:rPr lang="tr-TR" dirty="0" err="1"/>
                  <a:t>range</a:t>
                </a:r>
                <a:r>
                  <a:rPr lang="tr-TR" dirty="0"/>
                  <a:t> </a:t>
                </a:r>
                <a:r>
                  <a:rPr lang="tr-TR" dirty="0" err="1"/>
                  <a:t>containing</a:t>
                </a:r>
                <a:r>
                  <a:rPr lang="tr-TR" dirty="0"/>
                  <a:t> </a:t>
                </a:r>
                <a:r>
                  <a:rPr lang="tr-TR" dirty="0" err="1"/>
                  <a:t>the</a:t>
                </a:r>
                <a:r>
                  <a:rPr lang="tr-TR" dirty="0"/>
                  <a:t> </a:t>
                </a:r>
                <a:r>
                  <a:rPr lang="tr-TR" dirty="0" err="1"/>
                  <a:t>root</a:t>
                </a:r>
                <a:r>
                  <a:rPr lang="tr-TR" dirty="0"/>
                  <a:t> </a:t>
                </a:r>
                <a:r>
                  <a:rPr lang="tr-TR" dirty="0" err="1"/>
                  <a:t>and</a:t>
                </a:r>
                <a:r>
                  <a:rPr lang="tr-TR" dirty="0"/>
                  <a:t> </a:t>
                </a:r>
                <a:r>
                  <a:rPr lang="tr-TR" dirty="0" err="1"/>
                  <a:t>reduce</a:t>
                </a:r>
                <a:r>
                  <a:rPr lang="tr-TR" dirty="0"/>
                  <a:t> </a:t>
                </a:r>
                <a:r>
                  <a:rPr lang="tr-TR" dirty="0" err="1"/>
                  <a:t>the</a:t>
                </a:r>
                <a:r>
                  <a:rPr lang="tr-TR" dirty="0"/>
                  <a:t> </a:t>
                </a:r>
                <a:r>
                  <a:rPr lang="tr-TR" dirty="0" err="1"/>
                  <a:t>width</a:t>
                </a:r>
                <a:r>
                  <a:rPr lang="tr-TR" dirty="0"/>
                  <a:t> of </a:t>
                </a:r>
                <a:r>
                  <a:rPr lang="tr-TR" dirty="0" err="1"/>
                  <a:t>the</a:t>
                </a:r>
                <a:r>
                  <a:rPr lang="tr-TR" dirty="0"/>
                  <a:t> </a:t>
                </a:r>
                <a:r>
                  <a:rPr lang="tr-TR" dirty="0" err="1"/>
                  <a:t>bracket</a:t>
                </a:r>
                <a:r>
                  <a:rPr lang="tr-TR" dirty="0"/>
                  <a:t> </a:t>
                </a:r>
                <a:r>
                  <a:rPr lang="tr-TR" dirty="0" err="1"/>
                  <a:t>iteratively</a:t>
                </a:r>
                <a:r>
                  <a:rPr lang="tr-TR" dirty="0"/>
                  <a:t>. (</a:t>
                </a:r>
                <a:r>
                  <a:rPr lang="tr-TR" dirty="0" err="1"/>
                  <a:t>reliable</a:t>
                </a:r>
                <a:r>
                  <a:rPr lang="tr-TR" dirty="0"/>
                  <a:t>)</a:t>
                </a:r>
              </a:p>
              <a:p>
                <a:pPr lvl="2"/>
                <a:r>
                  <a:rPr lang="tr-TR" b="0" dirty="0" err="1"/>
                  <a:t>Bisecti</a:t>
                </a:r>
                <a:r>
                  <a:rPr lang="tr-TR" dirty="0" err="1"/>
                  <a:t>on</a:t>
                </a:r>
                <a:r>
                  <a:rPr lang="tr-TR" dirty="0"/>
                  <a:t> </a:t>
                </a:r>
                <a:r>
                  <a:rPr lang="tr-TR" dirty="0" err="1"/>
                  <a:t>method</a:t>
                </a:r>
                <a:endParaRPr lang="tr-TR" dirty="0"/>
              </a:p>
              <a:p>
                <a:pPr lvl="2"/>
                <a:r>
                  <a:rPr lang="tr-TR" b="0" dirty="0" err="1"/>
                  <a:t>False</a:t>
                </a:r>
                <a:r>
                  <a:rPr lang="tr-TR" b="0" dirty="0"/>
                  <a:t> </a:t>
                </a:r>
                <a:r>
                  <a:rPr lang="tr-TR" b="0" dirty="0" err="1"/>
                  <a:t>position</a:t>
                </a:r>
                <a:r>
                  <a:rPr lang="tr-TR" b="0" dirty="0"/>
                  <a:t> </a:t>
                </a:r>
                <a:r>
                  <a:rPr lang="tr-TR" b="0" dirty="0" err="1"/>
                  <a:t>method</a:t>
                </a:r>
                <a:endParaRPr lang="tr-TR" dirty="0"/>
              </a:p>
              <a:p>
                <a:pPr lvl="1"/>
                <a:r>
                  <a:rPr lang="tr-TR" b="1" dirty="0"/>
                  <a:t>Open </a:t>
                </a:r>
                <a:r>
                  <a:rPr lang="tr-TR" b="1" dirty="0" err="1"/>
                  <a:t>Methods</a:t>
                </a:r>
                <a:r>
                  <a:rPr lang="tr-TR" b="1" dirty="0"/>
                  <a:t> </a:t>
                </a:r>
                <a:r>
                  <a:rPr lang="tr-TR" dirty="0"/>
                  <a:t>(</a:t>
                </a:r>
                <a:r>
                  <a:rPr lang="tr-TR" dirty="0" err="1"/>
                  <a:t>fast</a:t>
                </a:r>
                <a:r>
                  <a:rPr lang="tr-TR" dirty="0"/>
                  <a:t>) </a:t>
                </a:r>
              </a:p>
              <a:p>
                <a:pPr lvl="2"/>
                <a:r>
                  <a:rPr lang="tr-TR" dirty="0" err="1"/>
                  <a:t>Fixed-point</a:t>
                </a:r>
                <a:r>
                  <a:rPr lang="tr-TR" dirty="0"/>
                  <a:t> </a:t>
                </a:r>
                <a:r>
                  <a:rPr lang="tr-TR" dirty="0" err="1"/>
                  <a:t>iteration</a:t>
                </a:r>
                <a:endParaRPr lang="tr-TR" dirty="0"/>
              </a:p>
              <a:p>
                <a:pPr lvl="2"/>
                <a:r>
                  <a:rPr lang="tr-TR" dirty="0"/>
                  <a:t>Newton-</a:t>
                </a:r>
                <a:r>
                  <a:rPr lang="tr-TR" dirty="0" err="1"/>
                  <a:t>Raphson</a:t>
                </a:r>
                <a:endParaRPr lang="tr-TR" dirty="0"/>
              </a:p>
              <a:p>
                <a:pPr lvl="2"/>
                <a:r>
                  <a:rPr lang="tr-TR" dirty="0" err="1"/>
                  <a:t>Secant</a:t>
                </a:r>
                <a:r>
                  <a:rPr lang="tr-TR" dirty="0"/>
                  <a:t> </a:t>
                </a:r>
                <a:r>
                  <a:rPr lang="tr-TR" dirty="0" err="1"/>
                  <a:t>methods</a:t>
                </a:r>
                <a:endParaRPr lang="tr-TR" dirty="0"/>
              </a:p>
              <a:p>
                <a:pPr lvl="1"/>
                <a:r>
                  <a:rPr lang="tr-TR" dirty="0" err="1"/>
                  <a:t>Hybrid</a:t>
                </a:r>
                <a:r>
                  <a:rPr lang="tr-TR" dirty="0"/>
                  <a:t> </a:t>
                </a:r>
                <a:r>
                  <a:rPr lang="tr-TR" dirty="0" err="1"/>
                  <a:t>Methods</a:t>
                </a:r>
                <a:r>
                  <a:rPr lang="tr-TR" dirty="0"/>
                  <a:t>: </a:t>
                </a:r>
                <a:r>
                  <a:rPr lang="tr-TR" dirty="0" err="1"/>
                  <a:t>Brent’s</a:t>
                </a:r>
                <a:r>
                  <a:rPr lang="tr-TR" dirty="0"/>
                  <a:t> </a:t>
                </a:r>
                <a:r>
                  <a:rPr lang="tr-TR" dirty="0" err="1"/>
                  <a:t>root</a:t>
                </a:r>
                <a:r>
                  <a:rPr lang="tr-TR" dirty="0"/>
                  <a:t> </a:t>
                </a:r>
                <a:r>
                  <a:rPr lang="tr-TR" dirty="0" err="1"/>
                  <a:t>finding</a:t>
                </a:r>
                <a:r>
                  <a:rPr lang="tr-TR" dirty="0"/>
                  <a:t> </a:t>
                </a:r>
                <a:r>
                  <a:rPr lang="tr-TR" dirty="0" err="1"/>
                  <a:t>method</a:t>
                </a:r>
                <a:r>
                  <a:rPr lang="tr-TR" dirty="0"/>
                  <a:t> (</a:t>
                </a:r>
                <a:r>
                  <a:rPr lang="tr-TR" dirty="0" err="1"/>
                  <a:t>Fast</a:t>
                </a:r>
                <a:r>
                  <a:rPr lang="tr-TR" dirty="0"/>
                  <a:t> </a:t>
                </a:r>
                <a:r>
                  <a:rPr lang="tr-TR" dirty="0" err="1"/>
                  <a:t>and</a:t>
                </a:r>
                <a:r>
                  <a:rPr lang="tr-TR" dirty="0"/>
                  <a:t> </a:t>
                </a:r>
                <a:r>
                  <a:rPr lang="tr-TR" dirty="0" err="1"/>
                  <a:t>reliable</a:t>
                </a:r>
                <a:r>
                  <a:rPr lang="tr-TR" dirty="0"/>
                  <a:t>) </a:t>
                </a:r>
              </a:p>
              <a:p>
                <a:pPr lvl="1"/>
                <a:r>
                  <a:rPr lang="tr-TR" dirty="0"/>
                  <a:t>MATLAB: </a:t>
                </a:r>
                <a:r>
                  <a:rPr lang="tr-TR" dirty="0" err="1"/>
                  <a:t>fzero</a:t>
                </a:r>
                <a:r>
                  <a:rPr lang="tr-TR" dirty="0"/>
                  <a:t> </a:t>
                </a:r>
                <a:r>
                  <a:rPr lang="tr-TR" dirty="0" err="1"/>
                  <a:t>function</a:t>
                </a:r>
                <a:endParaRPr lang="tr-TR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A0AFD1-C211-E14A-822D-B6ECC2FDE6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1145" y="1453018"/>
                <a:ext cx="10802655" cy="4622105"/>
              </a:xfrm>
              <a:blipFill>
                <a:blip r:embed="rId2"/>
                <a:stretch>
                  <a:fillRect l="-822" t="-1918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5766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3D371-1B33-DA44-8BAC-A8CB4330E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Overview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C2C57-3403-DD48-8C09-3FF97A5652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/>
              <a:t>Optimization</a:t>
            </a:r>
            <a:endParaRPr lang="tr-TR" dirty="0"/>
          </a:p>
          <a:p>
            <a:pPr lvl="1"/>
            <a:r>
              <a:rPr lang="tr-TR" dirty="0" err="1"/>
              <a:t>Determining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maximum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minimum </a:t>
            </a:r>
            <a:r>
              <a:rPr lang="tr-TR" dirty="0" err="1"/>
              <a:t>values</a:t>
            </a:r>
            <a:r>
              <a:rPr lang="tr-TR" dirty="0"/>
              <a:t> of f(x)</a:t>
            </a:r>
          </a:p>
          <a:p>
            <a:pPr lvl="1"/>
            <a:r>
              <a:rPr lang="tr-TR" dirty="0" err="1"/>
              <a:t>Bracketing</a:t>
            </a:r>
            <a:r>
              <a:rPr lang="tr-TR" dirty="0"/>
              <a:t> </a:t>
            </a:r>
            <a:r>
              <a:rPr lang="tr-TR" dirty="0" err="1"/>
              <a:t>methods</a:t>
            </a:r>
            <a:r>
              <a:rPr lang="tr-TR" dirty="0"/>
              <a:t>:</a:t>
            </a:r>
          </a:p>
          <a:p>
            <a:pPr lvl="2"/>
            <a:r>
              <a:rPr lang="tr-TR" dirty="0"/>
              <a:t>Golden-</a:t>
            </a:r>
            <a:r>
              <a:rPr lang="tr-TR" dirty="0" err="1"/>
              <a:t>section</a:t>
            </a:r>
            <a:r>
              <a:rPr lang="tr-TR" dirty="0"/>
              <a:t> </a:t>
            </a:r>
            <a:r>
              <a:rPr lang="tr-TR" dirty="0" err="1"/>
              <a:t>search</a:t>
            </a:r>
            <a:endParaRPr lang="tr-TR" dirty="0"/>
          </a:p>
          <a:p>
            <a:pPr lvl="2"/>
            <a:r>
              <a:rPr lang="tr-TR" dirty="0" err="1"/>
              <a:t>Parabolic</a:t>
            </a:r>
            <a:r>
              <a:rPr lang="tr-TR" dirty="0"/>
              <a:t> </a:t>
            </a:r>
            <a:r>
              <a:rPr lang="tr-TR" dirty="0" err="1"/>
              <a:t>interpolation</a:t>
            </a:r>
            <a:r>
              <a:rPr lang="tr-TR" dirty="0"/>
              <a:t> </a:t>
            </a:r>
          </a:p>
          <a:p>
            <a:pPr lvl="1"/>
            <a:r>
              <a:rPr lang="tr-TR" dirty="0" err="1"/>
              <a:t>Hybrid</a:t>
            </a:r>
            <a:r>
              <a:rPr lang="tr-TR" dirty="0"/>
              <a:t> </a:t>
            </a:r>
            <a:r>
              <a:rPr lang="tr-TR" dirty="0" err="1"/>
              <a:t>approach</a:t>
            </a:r>
            <a:r>
              <a:rPr lang="tr-TR" dirty="0"/>
              <a:t>: </a:t>
            </a:r>
            <a:r>
              <a:rPr lang="tr-TR" dirty="0" err="1"/>
              <a:t>combine</a:t>
            </a:r>
            <a:r>
              <a:rPr lang="tr-TR" dirty="0"/>
              <a:t> golden-</a:t>
            </a:r>
            <a:r>
              <a:rPr lang="tr-TR" dirty="0" err="1"/>
              <a:t>section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quadratic</a:t>
            </a:r>
            <a:r>
              <a:rPr lang="tr-TR" dirty="0"/>
              <a:t> </a:t>
            </a:r>
            <a:r>
              <a:rPr lang="tr-TR" dirty="0" err="1"/>
              <a:t>interpolation</a:t>
            </a:r>
            <a:endParaRPr lang="tr-TR" dirty="0"/>
          </a:p>
          <a:p>
            <a:pPr lvl="1"/>
            <a:r>
              <a:rPr lang="tr-TR" dirty="0"/>
              <a:t>MATLAB: </a:t>
            </a:r>
            <a:r>
              <a:rPr lang="tr-TR" dirty="0" err="1"/>
              <a:t>fminbnd</a:t>
            </a:r>
            <a:endParaRPr lang="tr-TR" dirty="0"/>
          </a:p>
          <a:p>
            <a:pPr lvl="1"/>
            <a:r>
              <a:rPr lang="tr-TR" dirty="0" err="1"/>
              <a:t>Multidimensional</a:t>
            </a:r>
            <a:r>
              <a:rPr lang="tr-TR" dirty="0"/>
              <a:t> </a:t>
            </a:r>
            <a:r>
              <a:rPr lang="tr-TR" dirty="0" err="1"/>
              <a:t>optimization</a:t>
            </a:r>
            <a:endParaRPr lang="tr-TR" dirty="0"/>
          </a:p>
          <a:p>
            <a:pPr lvl="2"/>
            <a:r>
              <a:rPr lang="tr-TR" dirty="0"/>
              <a:t>MATLAB: </a:t>
            </a:r>
            <a:r>
              <a:rPr lang="tr-TR" dirty="0" err="1"/>
              <a:t>fminsearch</a:t>
            </a:r>
            <a:r>
              <a:rPr lang="tr-TR" dirty="0"/>
              <a:t> 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53103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38731-5A70-354E-9668-9F7B4B83A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Roots</a:t>
            </a:r>
            <a:r>
              <a:rPr lang="tr-TR" dirty="0"/>
              <a:t>: </a:t>
            </a:r>
            <a:r>
              <a:rPr lang="tr-TR" dirty="0" err="1"/>
              <a:t>Bracketing</a:t>
            </a:r>
            <a:r>
              <a:rPr lang="tr-TR" dirty="0"/>
              <a:t> </a:t>
            </a:r>
            <a:r>
              <a:rPr lang="tr-TR" dirty="0" err="1"/>
              <a:t>Methods</a:t>
            </a:r>
            <a:endParaRPr lang="tr-T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E0D3DB-4795-5B45-89B3-5D1AC3B349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45674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8524A-D4E8-424C-B8DD-63399DB95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Chapter</a:t>
            </a:r>
            <a:r>
              <a:rPr lang="tr-TR" dirty="0"/>
              <a:t> </a:t>
            </a:r>
            <a:r>
              <a:rPr lang="tr-TR" dirty="0" err="1"/>
              <a:t>Objectives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2993C-0F6A-244D-A952-74123B6294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tr-TR" dirty="0"/>
              <a:t>Understanding what roots problems are and where they occur in engineering and science.</a:t>
            </a:r>
          </a:p>
          <a:p>
            <a:r>
              <a:rPr lang="en-US" altLang="tr-TR" dirty="0"/>
              <a:t>Knowing how to determine a root graphically.</a:t>
            </a:r>
          </a:p>
          <a:p>
            <a:r>
              <a:rPr lang="en-US" altLang="tr-TR" dirty="0"/>
              <a:t>Understanding the incremental search method and its shortcomings.</a:t>
            </a:r>
          </a:p>
          <a:p>
            <a:r>
              <a:rPr lang="en-US" altLang="tr-TR" dirty="0"/>
              <a:t>Knowing how to solve a roots problem with the bisection method.</a:t>
            </a:r>
          </a:p>
          <a:p>
            <a:r>
              <a:rPr lang="en-US" altLang="tr-TR" dirty="0"/>
              <a:t>Knowing how to estimate the error of bisection and why it differs from error estimates for other types of root location algorithms.</a:t>
            </a:r>
          </a:p>
          <a:p>
            <a:r>
              <a:rPr lang="en-US" altLang="tr-TR" dirty="0"/>
              <a:t>Understanding false position and how it differs from bisection. 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281066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75840-3B9A-C14E-A4EE-CF61192CA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Graphical</a:t>
            </a:r>
            <a:r>
              <a:rPr lang="tr-TR" dirty="0"/>
              <a:t> </a:t>
            </a:r>
            <a:r>
              <a:rPr lang="tr-TR" dirty="0" err="1"/>
              <a:t>Methods</a:t>
            </a:r>
            <a:r>
              <a:rPr lang="tr-TR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637F3-4948-0B4F-91CB-1E42E28014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879" y="1825624"/>
            <a:ext cx="7452987" cy="4412337"/>
          </a:xfrm>
        </p:spPr>
        <p:txBody>
          <a:bodyPr>
            <a:normAutofit lnSpcReduction="10000"/>
          </a:bodyPr>
          <a:lstStyle/>
          <a:p>
            <a:pPr marL="609600" indent="-609600"/>
            <a:r>
              <a:rPr lang="en-US" altLang="tr-TR" dirty="0"/>
              <a:t>A simple method for obtaining the estimate of the root of the equation </a:t>
            </a:r>
            <a:r>
              <a:rPr lang="en-US" altLang="tr-TR" i="1" dirty="0"/>
              <a:t>f(x)</a:t>
            </a:r>
            <a:r>
              <a:rPr lang="en-US" altLang="tr-TR" dirty="0"/>
              <a:t>=0 is to make a plot of the function and observe where it crosses the </a:t>
            </a:r>
            <a:r>
              <a:rPr lang="en-US" altLang="tr-TR" i="1" dirty="0"/>
              <a:t>x</a:t>
            </a:r>
            <a:r>
              <a:rPr lang="en-US" altLang="tr-TR" dirty="0"/>
              <a:t>-axis.</a:t>
            </a:r>
          </a:p>
          <a:p>
            <a:pPr marL="609600" indent="-609600"/>
            <a:r>
              <a:rPr lang="en-US" altLang="tr-TR" dirty="0"/>
              <a:t>Graphing the function can also indicate where roots may be and where some root-finding methods may fail:</a:t>
            </a:r>
          </a:p>
          <a:p>
            <a:pPr marL="990600" lvl="1" indent="-533400">
              <a:buFontTx/>
              <a:buAutoNum type="alphaLcParenR"/>
            </a:pPr>
            <a:r>
              <a:rPr lang="en-US" altLang="tr-TR" dirty="0"/>
              <a:t>Same sign, no roots</a:t>
            </a:r>
          </a:p>
          <a:p>
            <a:pPr marL="990600" lvl="1" indent="-533400">
              <a:buFontTx/>
              <a:buAutoNum type="alphaLcParenR"/>
            </a:pPr>
            <a:r>
              <a:rPr lang="en-US" altLang="tr-TR" dirty="0"/>
              <a:t>Different sign, one root</a:t>
            </a:r>
          </a:p>
          <a:p>
            <a:pPr marL="990600" lvl="1" indent="-533400">
              <a:buFontTx/>
              <a:buAutoNum type="alphaLcParenR"/>
            </a:pPr>
            <a:r>
              <a:rPr lang="en-US" altLang="tr-TR" dirty="0"/>
              <a:t>Same sign, two roots (even number of roots)</a:t>
            </a:r>
          </a:p>
          <a:p>
            <a:pPr marL="990600" lvl="1" indent="-533400">
              <a:buFontTx/>
              <a:buAutoNum type="alphaLcParenR"/>
            </a:pPr>
            <a:r>
              <a:rPr lang="en-US" altLang="tr-TR" dirty="0"/>
              <a:t>Different sign, three roots (odd number of roots)</a:t>
            </a:r>
            <a:endParaRPr lang="tr-TR" dirty="0"/>
          </a:p>
        </p:txBody>
      </p:sp>
      <p:pic>
        <p:nvPicPr>
          <p:cNvPr id="4" name="Picture 4" descr="fig0501">
            <a:extLst>
              <a:ext uri="{FF2B5EF4-FFF2-40B4-BE49-F238E27FC236}">
                <a16:creationId xmlns:a16="http://schemas.microsoft.com/office/drawing/2014/main" id="{210F2EB3-B8C7-0A48-A76A-AC49610E80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1890" y="365125"/>
            <a:ext cx="1519920" cy="61484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872094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F3B1E-C6CE-B74F-9ED6-939EEAB2C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Exceptions</a:t>
            </a:r>
            <a:endParaRPr lang="tr-TR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37853FC-96F9-714A-AD39-F305B131CB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76429" y="365125"/>
            <a:ext cx="2412886" cy="6340843"/>
          </a:xfrm>
        </p:spPr>
      </p:pic>
    </p:spTree>
    <p:extLst>
      <p:ext uri="{BB962C8B-B14F-4D97-AF65-F5344CB8AC3E}">
        <p14:creationId xmlns:p14="http://schemas.microsoft.com/office/powerpoint/2010/main" val="12203438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B35B44-15C9-3142-8D8B-60CF1C38E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72946"/>
            <a:ext cx="12192000" cy="2685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310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5034D-E35C-E543-B4DC-373BE4527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Roots</a:t>
            </a:r>
            <a:r>
              <a:rPr lang="tr-TR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D8225-8EC0-2541-83F8-DB524F0006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/>
              <a:t>Bracketing</a:t>
            </a:r>
            <a:r>
              <a:rPr lang="tr-TR" dirty="0"/>
              <a:t> </a:t>
            </a:r>
            <a:r>
              <a:rPr lang="tr-TR" dirty="0" err="1"/>
              <a:t>Methods</a:t>
            </a:r>
            <a:r>
              <a:rPr lang="tr-TR" dirty="0"/>
              <a:t>:</a:t>
            </a:r>
          </a:p>
          <a:p>
            <a:pPr lvl="1"/>
            <a:r>
              <a:rPr lang="tr-TR" dirty="0" err="1"/>
              <a:t>Always</a:t>
            </a:r>
            <a:r>
              <a:rPr lang="tr-TR" dirty="0"/>
              <a:t> </a:t>
            </a:r>
            <a:r>
              <a:rPr lang="tr-TR" dirty="0" err="1"/>
              <a:t>work</a:t>
            </a:r>
            <a:endParaRPr lang="tr-TR" dirty="0"/>
          </a:p>
          <a:p>
            <a:pPr lvl="1"/>
            <a:r>
              <a:rPr lang="tr-TR" dirty="0" err="1"/>
              <a:t>Converge</a:t>
            </a:r>
            <a:r>
              <a:rPr lang="tr-TR" dirty="0"/>
              <a:t> </a:t>
            </a:r>
            <a:r>
              <a:rPr lang="tr-TR" dirty="0" err="1"/>
              <a:t>slowly</a:t>
            </a:r>
            <a:endParaRPr lang="tr-TR" dirty="0"/>
          </a:p>
          <a:p>
            <a:r>
              <a:rPr lang="tr-TR" dirty="0"/>
              <a:t>Open </a:t>
            </a:r>
            <a:r>
              <a:rPr lang="tr-TR" dirty="0" err="1"/>
              <a:t>Methods</a:t>
            </a:r>
            <a:endParaRPr lang="tr-TR" dirty="0"/>
          </a:p>
          <a:p>
            <a:pPr lvl="1"/>
            <a:r>
              <a:rPr lang="tr-TR" dirty="0"/>
              <a:t>Do not </a:t>
            </a:r>
            <a:r>
              <a:rPr lang="tr-TR" dirty="0" err="1"/>
              <a:t>always</a:t>
            </a:r>
            <a:r>
              <a:rPr lang="tr-TR" dirty="0"/>
              <a:t> </a:t>
            </a:r>
            <a:r>
              <a:rPr lang="tr-TR" dirty="0" err="1"/>
              <a:t>work</a:t>
            </a:r>
            <a:r>
              <a:rPr lang="tr-TR" dirty="0"/>
              <a:t> (can </a:t>
            </a:r>
            <a:r>
              <a:rPr lang="tr-TR" dirty="0" err="1"/>
              <a:t>diverge</a:t>
            </a:r>
            <a:r>
              <a:rPr lang="tr-TR" dirty="0"/>
              <a:t>) </a:t>
            </a:r>
          </a:p>
          <a:p>
            <a:pPr lvl="1"/>
            <a:r>
              <a:rPr lang="tr-TR" dirty="0" err="1"/>
              <a:t>Converge</a:t>
            </a:r>
            <a:r>
              <a:rPr lang="tr-TR" dirty="0"/>
              <a:t> </a:t>
            </a:r>
            <a:r>
              <a:rPr lang="tr-TR" dirty="0" err="1"/>
              <a:t>quicker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5868940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D24D2-D13F-DA49-9662-04FC1D0DC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Incremental</a:t>
            </a:r>
            <a:r>
              <a:rPr lang="tr-TR" dirty="0"/>
              <a:t> </a:t>
            </a:r>
            <a:r>
              <a:rPr lang="tr-TR" dirty="0" err="1"/>
              <a:t>search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FACA3-ED84-BB47-99E9-3A0DE11D92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/>
              <a:t>Approach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obtain</a:t>
            </a:r>
            <a:r>
              <a:rPr lang="tr-TR" dirty="0"/>
              <a:t> </a:t>
            </a:r>
            <a:r>
              <a:rPr lang="tr-TR" dirty="0" err="1"/>
              <a:t>initial</a:t>
            </a:r>
            <a:r>
              <a:rPr lang="tr-TR" dirty="0"/>
              <a:t> </a:t>
            </a:r>
            <a:r>
              <a:rPr lang="tr-TR" dirty="0" err="1"/>
              <a:t>guesses</a:t>
            </a:r>
            <a:r>
              <a:rPr lang="tr-TR" dirty="0"/>
              <a:t> </a:t>
            </a:r>
          </a:p>
          <a:p>
            <a:r>
              <a:rPr lang="en-US" altLang="tr-TR" dirty="0"/>
              <a:t>The </a:t>
            </a:r>
            <a:r>
              <a:rPr lang="en-US" altLang="tr-TR" i="1" dirty="0"/>
              <a:t>incremental search</a:t>
            </a:r>
            <a:r>
              <a:rPr lang="en-US" altLang="tr-TR" dirty="0"/>
              <a:t> method tests the value of the function at evenly spaced intervals and finds brackets by identifying function sign changes between neighboring points.</a:t>
            </a:r>
            <a:endParaRPr lang="tr-TR" altLang="tr-TR" dirty="0"/>
          </a:p>
          <a:p>
            <a:r>
              <a:rPr lang="tr-TR" altLang="tr-TR" dirty="0" err="1"/>
              <a:t>If</a:t>
            </a:r>
            <a:r>
              <a:rPr lang="tr-TR" altLang="tr-TR" dirty="0"/>
              <a:t> </a:t>
            </a:r>
            <a:endParaRPr lang="en-US" altLang="tr-TR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848FB2-D522-5842-A9B1-2AD65D27D6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953" y="3623042"/>
            <a:ext cx="6793543" cy="1200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7672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8F61F-397F-B94D-A3AF-E6F190381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Incremental</a:t>
            </a:r>
            <a:r>
              <a:rPr lang="tr-TR" dirty="0"/>
              <a:t> </a:t>
            </a:r>
            <a:r>
              <a:rPr lang="tr-TR" dirty="0" err="1"/>
              <a:t>Search</a:t>
            </a:r>
            <a:r>
              <a:rPr lang="tr-TR" dirty="0"/>
              <a:t> </a:t>
            </a:r>
            <a:r>
              <a:rPr lang="tr-TR" dirty="0" err="1"/>
              <a:t>Hazards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A1D3B-0037-7D4F-947D-3B5817577B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537548" cy="4625279"/>
          </a:xfrm>
        </p:spPr>
        <p:txBody>
          <a:bodyPr/>
          <a:lstStyle/>
          <a:p>
            <a:r>
              <a:rPr lang="en-US" altLang="tr-TR" dirty="0"/>
              <a:t>If the spacing between the points of an incremental search are too far apart, brackets may be missed due to capturing an even number of roots within two points.</a:t>
            </a:r>
          </a:p>
          <a:p>
            <a:r>
              <a:rPr lang="en-US" altLang="tr-TR" dirty="0"/>
              <a:t>Incremental searches cannot find brackets containing even-multiplicity roots regardless of spacing.</a:t>
            </a:r>
          </a:p>
          <a:p>
            <a:endParaRPr lang="tr-TR" dirty="0"/>
          </a:p>
        </p:txBody>
      </p:sp>
      <p:pic>
        <p:nvPicPr>
          <p:cNvPr id="4" name="Picture 4" descr="fig0503">
            <a:extLst>
              <a:ext uri="{FF2B5EF4-FFF2-40B4-BE49-F238E27FC236}">
                <a16:creationId xmlns:a16="http://schemas.microsoft.com/office/drawing/2014/main" id="{F87AED8F-B530-D641-B7AB-DBCA724C1A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5748" y="2747874"/>
            <a:ext cx="5168455" cy="2780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E1089E0-EA5B-6044-80E9-E4A6ED42BB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2992" y="5609180"/>
            <a:ext cx="9311014" cy="841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0680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F3552C-EA50-9F43-AAF0-AD7F9C84D4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041" y="0"/>
            <a:ext cx="71597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1608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87817-ED57-F14B-BDB2-D2C696E29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Example</a:t>
            </a:r>
            <a:endParaRPr lang="tr-TR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D2FA361-DA09-C645-A646-20C5A7E3C0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31666"/>
            <a:ext cx="10007600" cy="12065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2C693F-4B18-7E48-8BB2-34D4CFBF39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963362"/>
            <a:ext cx="6972300" cy="30607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AE4CE1F-D2BA-674D-929B-C6DF832C46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1886" y="2353153"/>
            <a:ext cx="4550114" cy="367090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ABCED60-BF48-014E-A974-B4BEFCDA0F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5178" y="6090508"/>
            <a:ext cx="45720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2322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CCF52-AB9A-884C-AD16-402207383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Example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07A49-1150-2C4A-AAEF-569B0D55B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Run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dirty="0" err="1"/>
              <a:t>more</a:t>
            </a:r>
            <a:r>
              <a:rPr lang="tr-TR" dirty="0"/>
              <a:t> </a:t>
            </a:r>
            <a:r>
              <a:rPr lang="tr-TR" dirty="0" err="1"/>
              <a:t>subintervals</a:t>
            </a:r>
            <a:endParaRPr lang="tr-T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7A542E-39E8-A344-98CB-961566A40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100" y="2203450"/>
            <a:ext cx="7416800" cy="24257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27232C8-678A-9747-BB73-2C573DA8A0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2900" y="4586288"/>
            <a:ext cx="2819400" cy="1968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BAAB4DE-D856-1A4F-B8A6-395E0ED352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184" y="2781300"/>
            <a:ext cx="4894365" cy="391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2782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66D67-B122-BD40-9FE9-DF7BAC9D9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Bisection</a:t>
            </a:r>
            <a:r>
              <a:rPr lang="tr-TR" dirty="0"/>
              <a:t> </a:t>
            </a:r>
            <a:r>
              <a:rPr lang="tr-TR" dirty="0" err="1"/>
              <a:t>Method</a:t>
            </a:r>
            <a:r>
              <a:rPr lang="tr-TR" dirty="0"/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A9A099-EDFE-7C4A-90AC-3AA9BA9CA4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101355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FA026-3A06-B64A-B754-EC43B780E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Bisection</a:t>
            </a:r>
            <a:r>
              <a:rPr lang="tr-TR" dirty="0"/>
              <a:t> </a:t>
            </a:r>
            <a:r>
              <a:rPr lang="tr-TR" dirty="0" err="1"/>
              <a:t>Method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6C51B-1D2E-1449-8988-1DF1C5DD5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76913" cy="4546600"/>
          </a:xfrm>
        </p:spPr>
        <p:txBody>
          <a:bodyPr>
            <a:normAutofit fontScale="92500" lnSpcReduction="20000"/>
          </a:bodyPr>
          <a:lstStyle/>
          <a:p>
            <a:r>
              <a:rPr lang="en-US" altLang="tr-TR" dirty="0"/>
              <a:t>The </a:t>
            </a:r>
            <a:r>
              <a:rPr lang="en-US" altLang="tr-TR" i="1" dirty="0"/>
              <a:t>bisection method</a:t>
            </a:r>
            <a:r>
              <a:rPr lang="en-US" altLang="tr-TR" dirty="0"/>
              <a:t> is a variation of the incremental search method in which the interval is always divided in half.</a:t>
            </a:r>
          </a:p>
          <a:p>
            <a:r>
              <a:rPr lang="en-US" altLang="tr-TR" dirty="0"/>
              <a:t>If a function changes sign over an interval, the function value at the midpoint is evaluated.</a:t>
            </a:r>
          </a:p>
          <a:p>
            <a:r>
              <a:rPr lang="en-US" altLang="tr-TR" dirty="0"/>
              <a:t>The location of the root is then determined as lying within the subinterval where the sign change occurs.</a:t>
            </a:r>
          </a:p>
          <a:p>
            <a:r>
              <a:rPr lang="en-US" altLang="tr-TR" dirty="0"/>
              <a:t>The absolute error is reduced by a factor of 2 for each iteration.</a:t>
            </a:r>
          </a:p>
          <a:p>
            <a:endParaRPr lang="tr-TR" dirty="0"/>
          </a:p>
        </p:txBody>
      </p:sp>
      <p:pic>
        <p:nvPicPr>
          <p:cNvPr id="4" name="Picture 4" descr="fig0505">
            <a:extLst>
              <a:ext uri="{FF2B5EF4-FFF2-40B4-BE49-F238E27FC236}">
                <a16:creationId xmlns:a16="http://schemas.microsoft.com/office/drawing/2014/main" id="{509190FC-4A24-DE4E-94C3-490A981D1C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1582" y="365125"/>
            <a:ext cx="5358455" cy="4310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5E8768F-1E5E-854B-84EE-2F99CB1944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6025" y="4675187"/>
            <a:ext cx="5753100" cy="4191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FB9DB88-8F85-B742-93E6-627348CB8B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8075" y="5005386"/>
            <a:ext cx="2984500" cy="9779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B73F125-9617-664F-B50B-896C850527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77388" y="5284786"/>
            <a:ext cx="2387600" cy="4191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5CE9DB9-64BD-7842-84A0-A743A74FF9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2525" y="5938835"/>
            <a:ext cx="2921000" cy="7493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CE2CC57-0F53-4A42-91C5-2106462E7C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98695" y="365125"/>
            <a:ext cx="3873500" cy="4191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92B4A89-C481-6048-AD59-72663E26A51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04437" y="6000750"/>
            <a:ext cx="1625600" cy="43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4094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0B23B-E5E5-124E-B257-D875126EF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Bisection</a:t>
            </a:r>
            <a:r>
              <a:rPr lang="tr-TR" dirty="0"/>
              <a:t> </a:t>
            </a:r>
            <a:r>
              <a:rPr lang="tr-TR" dirty="0" err="1"/>
              <a:t>Method</a:t>
            </a:r>
            <a:endParaRPr lang="tr-TR" dirty="0"/>
          </a:p>
        </p:txBody>
      </p:sp>
      <p:pic>
        <p:nvPicPr>
          <p:cNvPr id="4" name="Picture 4" descr="fig0505">
            <a:extLst>
              <a:ext uri="{FF2B5EF4-FFF2-40B4-BE49-F238E27FC236}">
                <a16:creationId xmlns:a16="http://schemas.microsoft.com/office/drawing/2014/main" id="{517B6EC6-46CF-3D45-B59A-2208078AA7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114" y="2052637"/>
            <a:ext cx="5358455" cy="4310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1049465-03DB-C34D-81ED-F8C4538C99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9656" y="365125"/>
            <a:ext cx="5753100" cy="4191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25E9FBD-17A0-4548-AEB1-A96A8E62ED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1706" y="695324"/>
            <a:ext cx="2984500" cy="977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11226B4-FBFF-A54F-AA63-1F4E8C01D0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1019" y="974724"/>
            <a:ext cx="2387600" cy="4191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C6B30B0-D8D6-2449-AC3A-E2C86EB935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475" y="2830505"/>
            <a:ext cx="2921000" cy="7493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1F0EDED-36E3-9A4E-9003-A6B6A7EB5E8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1075" y="1406525"/>
            <a:ext cx="3873500" cy="4191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B5B92D7-F7CA-3449-BF2F-5374D4DEEF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02019" y="2989255"/>
            <a:ext cx="1625600" cy="4318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396BA5A-DAF9-944F-9AC8-DE52B6A8C4E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0" y="1648615"/>
            <a:ext cx="5143500" cy="10668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308DAAB-03CF-CF44-9EBD-D28AD2DA2CF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3475" y="3763168"/>
            <a:ext cx="1612900" cy="4445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336CB32-D28A-5343-94B6-4CA3245D5C0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13475" y="4391031"/>
            <a:ext cx="3352800" cy="812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5288E23-32B4-2C4F-B7DA-F0521F203B8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89675" y="5640399"/>
            <a:ext cx="14605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5586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564D8-D30A-8642-BC15-EA1AD3634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Bisection</a:t>
            </a:r>
            <a:r>
              <a:rPr lang="tr-TR" dirty="0"/>
              <a:t> </a:t>
            </a:r>
            <a:r>
              <a:rPr lang="tr-TR" dirty="0" err="1"/>
              <a:t>Method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4FDC7-70B1-DB4B-B5B0-6A2EAF0F9B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/>
              <a:t>Iterate</a:t>
            </a:r>
            <a:r>
              <a:rPr lang="tr-TR" dirty="0"/>
              <a:t> </a:t>
            </a:r>
            <a:r>
              <a:rPr lang="tr-TR" dirty="0" err="1"/>
              <a:t>until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result</a:t>
            </a:r>
            <a:r>
              <a:rPr lang="tr-TR" dirty="0"/>
              <a:t> is </a:t>
            </a:r>
            <a:r>
              <a:rPr lang="tr-TR" dirty="0" err="1"/>
              <a:t>accurate</a:t>
            </a:r>
            <a:r>
              <a:rPr lang="tr-TR" dirty="0"/>
              <a:t> </a:t>
            </a:r>
            <a:r>
              <a:rPr lang="tr-TR" dirty="0" err="1"/>
              <a:t>enough</a:t>
            </a:r>
            <a:r>
              <a:rPr lang="tr-TR" dirty="0"/>
              <a:t>. </a:t>
            </a:r>
          </a:p>
          <a:p>
            <a:r>
              <a:rPr lang="tr-TR" dirty="0" err="1"/>
              <a:t>We</a:t>
            </a:r>
            <a:r>
              <a:rPr lang="tr-TR" dirty="0"/>
              <a:t> </a:t>
            </a:r>
            <a:r>
              <a:rPr lang="tr-TR" dirty="0" err="1"/>
              <a:t>need</a:t>
            </a:r>
            <a:r>
              <a:rPr lang="tr-TR" dirty="0"/>
              <a:t> an </a:t>
            </a:r>
            <a:r>
              <a:rPr lang="tr-TR" dirty="0" err="1"/>
              <a:t>error</a:t>
            </a:r>
            <a:r>
              <a:rPr lang="tr-TR" dirty="0"/>
              <a:t> </a:t>
            </a:r>
            <a:r>
              <a:rPr lang="tr-TR" dirty="0" err="1"/>
              <a:t>estimate</a:t>
            </a:r>
            <a:r>
              <a:rPr lang="tr-TR" dirty="0"/>
              <a:t> </a:t>
            </a:r>
            <a:r>
              <a:rPr lang="tr-TR" dirty="0" err="1"/>
              <a:t>that</a:t>
            </a:r>
            <a:r>
              <a:rPr lang="tr-TR" dirty="0"/>
              <a:t> </a:t>
            </a:r>
            <a:r>
              <a:rPr lang="tr-TR" dirty="0" err="1"/>
              <a:t>does</a:t>
            </a:r>
            <a:r>
              <a:rPr lang="tr-TR" dirty="0"/>
              <a:t> not </a:t>
            </a:r>
            <a:r>
              <a:rPr lang="tr-TR" dirty="0" err="1"/>
              <a:t>require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knowledge</a:t>
            </a:r>
            <a:r>
              <a:rPr lang="tr-TR" dirty="0"/>
              <a:t> of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true</a:t>
            </a:r>
            <a:r>
              <a:rPr lang="tr-TR" dirty="0"/>
              <a:t> </a:t>
            </a:r>
            <a:r>
              <a:rPr lang="tr-TR" dirty="0" err="1"/>
              <a:t>root</a:t>
            </a:r>
            <a:r>
              <a:rPr lang="tr-TR" dirty="0"/>
              <a:t>. </a:t>
            </a:r>
          </a:p>
          <a:p>
            <a:r>
              <a:rPr lang="tr-TR" dirty="0"/>
              <a:t>Stop </a:t>
            </a:r>
            <a:r>
              <a:rPr lang="tr-TR" dirty="0" err="1"/>
              <a:t>when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approximate</a:t>
            </a:r>
            <a:r>
              <a:rPr lang="tr-TR" dirty="0"/>
              <a:t> </a:t>
            </a:r>
            <a:r>
              <a:rPr lang="tr-TR" dirty="0" err="1"/>
              <a:t>relative</a:t>
            </a:r>
            <a:r>
              <a:rPr lang="tr-TR" dirty="0"/>
              <a:t>  </a:t>
            </a:r>
            <a:r>
              <a:rPr lang="tr-TR" dirty="0" err="1"/>
              <a:t>percent</a:t>
            </a:r>
            <a:r>
              <a:rPr lang="tr-TR" dirty="0"/>
              <a:t> </a:t>
            </a:r>
            <a:r>
              <a:rPr lang="tr-TR" dirty="0" err="1"/>
              <a:t>error</a:t>
            </a:r>
            <a:r>
              <a:rPr lang="tr-TR" dirty="0"/>
              <a:t> is </a:t>
            </a:r>
            <a:r>
              <a:rPr lang="tr-TR" dirty="0" err="1"/>
              <a:t>below</a:t>
            </a:r>
            <a:r>
              <a:rPr lang="tr-TR" dirty="0"/>
              <a:t> </a:t>
            </a:r>
            <a:r>
              <a:rPr lang="tr-TR" dirty="0" err="1"/>
              <a:t>some</a:t>
            </a:r>
            <a:r>
              <a:rPr lang="tr-TR" dirty="0"/>
              <a:t> </a:t>
            </a:r>
            <a:r>
              <a:rPr lang="tr-TR" dirty="0" err="1"/>
              <a:t>value</a:t>
            </a:r>
            <a:r>
              <a:rPr lang="tr-TR" dirty="0"/>
              <a:t> </a:t>
            </a:r>
            <a:r>
              <a:rPr lang="tr-TR" dirty="0" err="1"/>
              <a:t>eps</a:t>
            </a:r>
            <a:r>
              <a:rPr lang="tr-TR" dirty="0"/>
              <a:t>. </a:t>
            </a:r>
          </a:p>
          <a:p>
            <a:r>
              <a:rPr lang="tr-TR" dirty="0" err="1"/>
              <a:t>Approximate</a:t>
            </a:r>
            <a:r>
              <a:rPr lang="tr-TR" dirty="0"/>
              <a:t> </a:t>
            </a:r>
            <a:r>
              <a:rPr lang="tr-TR" dirty="0" err="1"/>
              <a:t>relative</a:t>
            </a:r>
            <a:r>
              <a:rPr lang="tr-TR" dirty="0"/>
              <a:t>  </a:t>
            </a:r>
            <a:r>
              <a:rPr lang="tr-TR" dirty="0" err="1"/>
              <a:t>percent</a:t>
            </a:r>
            <a:r>
              <a:rPr lang="tr-TR" dirty="0"/>
              <a:t> </a:t>
            </a:r>
            <a:r>
              <a:rPr lang="tr-TR" dirty="0" err="1"/>
              <a:t>error</a:t>
            </a:r>
            <a:r>
              <a:rPr lang="tr-TR" dirty="0"/>
              <a:t>: </a:t>
            </a:r>
          </a:p>
          <a:p>
            <a:endParaRPr lang="tr-T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DE0FEB-05B8-A34B-86F1-2E0C37A97F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9412" y="4651376"/>
            <a:ext cx="3812674" cy="116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7353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C4E1A-563C-5342-9C59-88DD6E4DE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Bisection</a:t>
            </a:r>
            <a:r>
              <a:rPr lang="tr-TR" dirty="0"/>
              <a:t> </a:t>
            </a:r>
            <a:r>
              <a:rPr lang="tr-TR" dirty="0" err="1"/>
              <a:t>Method</a:t>
            </a:r>
            <a:r>
              <a:rPr lang="tr-TR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41AD6D-FF5C-E749-9236-0F896A8235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8663" y="1690688"/>
            <a:ext cx="9563100" cy="34163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EF48B3-9845-2C4E-A3A0-87B6170AD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813" y="5337175"/>
            <a:ext cx="99568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8275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C6BA7-71C7-384D-9556-22EC11D48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Bisection</a:t>
            </a:r>
            <a:r>
              <a:rPr lang="tr-TR" dirty="0"/>
              <a:t> </a:t>
            </a:r>
            <a:r>
              <a:rPr lang="tr-TR" dirty="0" err="1"/>
              <a:t>Method</a:t>
            </a:r>
            <a:r>
              <a:rPr lang="tr-TR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51299D6-E528-9747-8D65-DE2BF45140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8187" y="1414463"/>
            <a:ext cx="6582801" cy="430053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E274FB-EF69-1247-99B5-8138170F3D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7963" y="5385594"/>
            <a:ext cx="3390900" cy="4191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81D18D-41D1-494B-A774-DE468D43CB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5894387"/>
            <a:ext cx="9880600" cy="698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57D85E9-4B16-4745-BE7B-2E33174E72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6126" y="1950244"/>
            <a:ext cx="3812674" cy="11684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24ECB97-CEB2-3148-B0D7-008C7B4BF4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8300" y="3208337"/>
            <a:ext cx="46355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9730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C0C49-BDF2-1442-BABD-0C2E2E153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Bisection</a:t>
            </a:r>
            <a:r>
              <a:rPr lang="tr-TR" dirty="0"/>
              <a:t> </a:t>
            </a:r>
            <a:r>
              <a:rPr lang="tr-TR" dirty="0" err="1"/>
              <a:t>Method</a:t>
            </a:r>
            <a:r>
              <a:rPr lang="tr-TR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1084C-FDAE-AC47-A105-D1043B9308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number</a:t>
            </a:r>
            <a:r>
              <a:rPr lang="tr-TR" dirty="0"/>
              <a:t> of </a:t>
            </a:r>
            <a:r>
              <a:rPr lang="tr-TR" dirty="0" err="1"/>
              <a:t>iterations</a:t>
            </a:r>
            <a:r>
              <a:rPr lang="tr-TR" dirty="0"/>
              <a:t> </a:t>
            </a:r>
            <a:r>
              <a:rPr lang="tr-TR" dirty="0" err="1"/>
              <a:t>required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attain</a:t>
            </a:r>
            <a:r>
              <a:rPr lang="tr-TR" dirty="0"/>
              <a:t> an </a:t>
            </a:r>
            <a:r>
              <a:rPr lang="tr-TR" dirty="0" err="1"/>
              <a:t>absolute</a:t>
            </a:r>
            <a:r>
              <a:rPr lang="tr-TR" dirty="0"/>
              <a:t> </a:t>
            </a:r>
            <a:r>
              <a:rPr lang="tr-TR" dirty="0" err="1"/>
              <a:t>error</a:t>
            </a:r>
            <a:r>
              <a:rPr lang="tr-TR" dirty="0"/>
              <a:t> can be </a:t>
            </a:r>
            <a:r>
              <a:rPr lang="tr-TR" dirty="0" err="1"/>
              <a:t>computed</a:t>
            </a:r>
            <a:r>
              <a:rPr lang="tr-TR" dirty="0"/>
              <a:t> a </a:t>
            </a:r>
            <a:r>
              <a:rPr lang="tr-TR" dirty="0" err="1"/>
              <a:t>priori</a:t>
            </a:r>
            <a:r>
              <a:rPr lang="tr-TR" dirty="0"/>
              <a:t> (</a:t>
            </a:r>
            <a:r>
              <a:rPr lang="tr-TR" dirty="0" err="1"/>
              <a:t>before</a:t>
            </a:r>
            <a:r>
              <a:rPr lang="tr-TR" dirty="0"/>
              <a:t> </a:t>
            </a:r>
            <a:r>
              <a:rPr lang="tr-TR" dirty="0" err="1"/>
              <a:t>starting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iterations</a:t>
            </a:r>
            <a:r>
              <a:rPr lang="tr-TR" dirty="0"/>
              <a:t>). </a:t>
            </a:r>
          </a:p>
          <a:p>
            <a:r>
              <a:rPr lang="tr-TR" dirty="0" err="1"/>
              <a:t>Before</a:t>
            </a:r>
            <a:r>
              <a:rPr lang="tr-TR" dirty="0"/>
              <a:t> </a:t>
            </a:r>
            <a:r>
              <a:rPr lang="tr-TR" dirty="0" err="1"/>
              <a:t>starting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absolute</a:t>
            </a:r>
            <a:r>
              <a:rPr lang="tr-TR" dirty="0"/>
              <a:t> </a:t>
            </a:r>
            <a:r>
              <a:rPr lang="tr-TR" dirty="0" err="1"/>
              <a:t>error</a:t>
            </a:r>
            <a:r>
              <a:rPr lang="tr-TR" dirty="0"/>
              <a:t> is </a:t>
            </a:r>
            <a:r>
              <a:rPr lang="tr-TR" dirty="0" err="1"/>
              <a:t>less</a:t>
            </a:r>
            <a:r>
              <a:rPr lang="tr-TR" dirty="0"/>
              <a:t> </a:t>
            </a:r>
            <a:r>
              <a:rPr lang="tr-TR" dirty="0" err="1"/>
              <a:t>than</a:t>
            </a:r>
            <a:r>
              <a:rPr lang="tr-TR" dirty="0"/>
              <a:t>:</a:t>
            </a:r>
          </a:p>
          <a:p>
            <a:r>
              <a:rPr lang="tr-TR" dirty="0" err="1"/>
              <a:t>After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first</a:t>
            </a:r>
            <a:r>
              <a:rPr lang="tr-TR" dirty="0"/>
              <a:t> </a:t>
            </a:r>
            <a:r>
              <a:rPr lang="tr-TR" dirty="0" err="1"/>
              <a:t>iteration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error</a:t>
            </a:r>
            <a:r>
              <a:rPr lang="tr-TR" dirty="0"/>
              <a:t> is </a:t>
            </a:r>
            <a:r>
              <a:rPr lang="tr-TR" dirty="0" err="1"/>
              <a:t>less</a:t>
            </a:r>
            <a:r>
              <a:rPr lang="tr-TR" dirty="0"/>
              <a:t> </a:t>
            </a:r>
            <a:r>
              <a:rPr lang="tr-TR" dirty="0" err="1"/>
              <a:t>than</a:t>
            </a:r>
            <a:r>
              <a:rPr lang="tr-TR" dirty="0"/>
              <a:t>:</a:t>
            </a:r>
          </a:p>
          <a:p>
            <a:endParaRPr lang="tr-TR" dirty="0"/>
          </a:p>
          <a:p>
            <a:r>
              <a:rPr lang="tr-TR" dirty="0"/>
              <a:t>Since </a:t>
            </a:r>
            <a:r>
              <a:rPr lang="tr-TR" dirty="0" err="1"/>
              <a:t>each</a:t>
            </a:r>
            <a:r>
              <a:rPr lang="tr-TR" dirty="0"/>
              <a:t> </a:t>
            </a:r>
            <a:r>
              <a:rPr lang="tr-TR" dirty="0" err="1"/>
              <a:t>iteration</a:t>
            </a:r>
            <a:r>
              <a:rPr lang="tr-TR" dirty="0"/>
              <a:t> </a:t>
            </a:r>
            <a:r>
              <a:rPr lang="tr-TR" dirty="0" err="1"/>
              <a:t>halves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error</a:t>
            </a:r>
            <a:r>
              <a:rPr lang="tr-TR" dirty="0"/>
              <a:t>, a general </a:t>
            </a:r>
            <a:r>
              <a:rPr lang="tr-TR" dirty="0" err="1"/>
              <a:t>formula</a:t>
            </a:r>
            <a:r>
              <a:rPr lang="tr-TR" dirty="0"/>
              <a:t> </a:t>
            </a:r>
            <a:r>
              <a:rPr lang="tr-TR" dirty="0" err="1"/>
              <a:t>relating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error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number</a:t>
            </a:r>
            <a:r>
              <a:rPr lang="tr-TR" dirty="0"/>
              <a:t> of </a:t>
            </a:r>
            <a:r>
              <a:rPr lang="tr-TR" dirty="0" err="1"/>
              <a:t>iterations</a:t>
            </a:r>
            <a:r>
              <a:rPr lang="tr-TR" dirty="0"/>
              <a:t> is: </a:t>
            </a:r>
          </a:p>
          <a:p>
            <a:endParaRPr lang="tr-T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1C84A3-386E-D349-9426-0AAD03BB6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3049" y="2706356"/>
            <a:ext cx="2692400" cy="635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E8EF8A-FDE9-1443-83F8-74D4CDAF77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3049" y="3138820"/>
            <a:ext cx="1493838" cy="8091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7D1B7BF-39C4-2340-ABB1-579A2FDC11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3525" y="4789488"/>
            <a:ext cx="1473200" cy="8509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746CF8E-2910-F343-9BA4-C94A3DF68A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3525" y="5571730"/>
            <a:ext cx="4318000" cy="10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7147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2AECB920-C581-8149-8F54-FA2FDD2D74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437" y="0"/>
            <a:ext cx="499504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F9952DA-1DFF-D24B-9705-75A3DB13E3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750" y="2444750"/>
            <a:ext cx="3238500" cy="48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5066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1A3DA-A7FE-8E43-9D56-15FE318EF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Bisection</a:t>
            </a:r>
            <a:r>
              <a:rPr lang="tr-TR" dirty="0"/>
              <a:t> </a:t>
            </a:r>
            <a:r>
              <a:rPr lang="tr-TR" dirty="0" err="1"/>
              <a:t>Method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725A4-662B-BA43-AB4B-62BAE3CA7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/>
              <a:t>Find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root</a:t>
            </a:r>
            <a:r>
              <a:rPr lang="tr-TR" dirty="0"/>
              <a:t> of </a:t>
            </a:r>
          </a:p>
          <a:p>
            <a:endParaRPr lang="tr-TR" dirty="0"/>
          </a:p>
          <a:p>
            <a:endParaRPr lang="tr-T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BF64DC-4CAE-0242-9C8E-D0C3534B4E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9537" y="1519238"/>
            <a:ext cx="5295900" cy="1104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4B975E-0015-1741-884B-314CCF5482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213" y="2563813"/>
            <a:ext cx="9436100" cy="334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9460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DAD9C-CD40-7346-BAD7-9641560A9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False</a:t>
            </a:r>
            <a:r>
              <a:rPr lang="tr-TR" dirty="0"/>
              <a:t> </a:t>
            </a:r>
            <a:r>
              <a:rPr lang="tr-TR" dirty="0" err="1"/>
              <a:t>Position</a:t>
            </a:r>
            <a:r>
              <a:rPr lang="tr-TR" dirty="0"/>
              <a:t> </a:t>
            </a:r>
            <a:r>
              <a:rPr lang="tr-TR" dirty="0" err="1"/>
              <a:t>Method</a:t>
            </a:r>
            <a:endParaRPr lang="tr-T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662006-80F7-8940-8C89-7E6B6F99BF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913361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3961E-49A2-FE4C-9A0D-7CA074696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False</a:t>
            </a:r>
            <a:r>
              <a:rPr lang="tr-TR" dirty="0"/>
              <a:t> </a:t>
            </a:r>
            <a:r>
              <a:rPr lang="tr-TR" dirty="0" err="1"/>
              <a:t>Position</a:t>
            </a:r>
            <a:r>
              <a:rPr lang="tr-TR" dirty="0"/>
              <a:t> </a:t>
            </a:r>
            <a:r>
              <a:rPr lang="tr-TR" dirty="0" err="1"/>
              <a:t>Method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6FC79-2F09-9044-8C4B-88ADCAB354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76863" cy="4618038"/>
          </a:xfrm>
        </p:spPr>
        <p:txBody>
          <a:bodyPr>
            <a:normAutofit fontScale="92500" lnSpcReduction="10000"/>
          </a:bodyPr>
          <a:lstStyle/>
          <a:p>
            <a:r>
              <a:rPr lang="en-US" altLang="tr-TR" dirty="0"/>
              <a:t>The </a:t>
            </a:r>
            <a:r>
              <a:rPr lang="en-US" altLang="tr-TR" i="1" dirty="0"/>
              <a:t>false position</a:t>
            </a:r>
            <a:r>
              <a:rPr lang="en-US" altLang="tr-TR" dirty="0"/>
              <a:t> method is another bracketing method.</a:t>
            </a:r>
          </a:p>
          <a:p>
            <a:r>
              <a:rPr lang="en-US" altLang="tr-TR" dirty="0"/>
              <a:t>It determines the next guess not by splitting the bracket in half but by connecting the endpoints with a straight line and determining the location of the intercept of the straight line (</a:t>
            </a:r>
            <a:r>
              <a:rPr lang="en-US" altLang="tr-TR" i="1" dirty="0" err="1"/>
              <a:t>x</a:t>
            </a:r>
            <a:r>
              <a:rPr lang="en-US" altLang="tr-TR" i="1" baseline="-25000" dirty="0" err="1"/>
              <a:t>r</a:t>
            </a:r>
            <a:r>
              <a:rPr lang="en-US" altLang="tr-TR" dirty="0"/>
              <a:t>).</a:t>
            </a:r>
          </a:p>
          <a:p>
            <a:r>
              <a:rPr lang="en-US" altLang="tr-TR" dirty="0"/>
              <a:t>The value of </a:t>
            </a:r>
            <a:r>
              <a:rPr lang="en-US" altLang="tr-TR" i="1" dirty="0" err="1"/>
              <a:t>x</a:t>
            </a:r>
            <a:r>
              <a:rPr lang="en-US" altLang="tr-TR" i="1" baseline="-25000" dirty="0" err="1"/>
              <a:t>r</a:t>
            </a:r>
            <a:r>
              <a:rPr lang="en-US" altLang="tr-TR" dirty="0"/>
              <a:t> then replaces whichever of the two initial guesses yields a function value with the same sign as </a:t>
            </a:r>
            <a:r>
              <a:rPr lang="en-US" altLang="tr-TR" i="1" dirty="0"/>
              <a:t>f</a:t>
            </a:r>
            <a:r>
              <a:rPr lang="en-US" altLang="tr-TR" dirty="0"/>
              <a:t>(</a:t>
            </a:r>
            <a:r>
              <a:rPr lang="en-US" altLang="tr-TR" i="1" dirty="0" err="1"/>
              <a:t>x</a:t>
            </a:r>
            <a:r>
              <a:rPr lang="en-US" altLang="tr-TR" i="1" baseline="-25000" dirty="0" err="1"/>
              <a:t>r</a:t>
            </a:r>
            <a:r>
              <a:rPr lang="en-US" altLang="tr-TR" dirty="0"/>
              <a:t>).</a:t>
            </a:r>
          </a:p>
          <a:p>
            <a:r>
              <a:rPr lang="en-US" altLang="tr-TR" dirty="0"/>
              <a:t>False position formula </a:t>
            </a:r>
          </a:p>
          <a:p>
            <a:endParaRPr lang="tr-TR" dirty="0"/>
          </a:p>
        </p:txBody>
      </p:sp>
      <p:pic>
        <p:nvPicPr>
          <p:cNvPr id="4" name="Picture 4" descr="fig0508">
            <a:extLst>
              <a:ext uri="{FF2B5EF4-FFF2-40B4-BE49-F238E27FC236}">
                <a16:creationId xmlns:a16="http://schemas.microsoft.com/office/drawing/2014/main" id="{461654D3-7C93-6C47-A6AA-BA9C3644BB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53237" y="514350"/>
            <a:ext cx="5005388" cy="4724400"/>
          </a:xfrm>
          <a:prstGeom prst="rect">
            <a:avLst/>
          </a:prstGeom>
          <a:noFill/>
        </p:spPr>
      </p:pic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DBB40675-FB54-BE41-ABC8-7DD4B66AB5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0823056"/>
              </p:ext>
            </p:extLst>
          </p:nvPr>
        </p:nvGraphicFramePr>
        <p:xfrm>
          <a:off x="4652963" y="5832475"/>
          <a:ext cx="3124200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9" name="Equation" r:id="rId4" imgW="8559800" imgH="2336800" progId="Equation.3">
                  <p:embed/>
                </p:oleObj>
              </mc:Choice>
              <mc:Fallback>
                <p:oleObj name="Equation" r:id="rId4" imgW="8559800" imgH="2336800" progId="Equation.3">
                  <p:embed/>
                  <p:pic>
                    <p:nvPicPr>
                      <p:cNvPr id="2050" name="Object 5">
                        <a:extLst>
                          <a:ext uri="{FF2B5EF4-FFF2-40B4-BE49-F238E27FC236}">
                            <a16:creationId xmlns:a16="http://schemas.microsoft.com/office/drawing/2014/main" id="{17ADE283-13C7-A444-805F-44A170B37F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2963" y="5832475"/>
                        <a:ext cx="3124200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644673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>
            <a:extLst>
              <a:ext uri="{FF2B5EF4-FFF2-40B4-BE49-F238E27FC236}">
                <a16:creationId xmlns:a16="http://schemas.microsoft.com/office/drawing/2014/main" id="{50721405-4FFD-FE40-A094-BE84533AA6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tr-TR"/>
              <a:t>Bisection vs. False Position</a:t>
            </a:r>
          </a:p>
        </p:txBody>
      </p:sp>
      <p:sp>
        <p:nvSpPr>
          <p:cNvPr id="3076" name="Rectangle 3">
            <a:extLst>
              <a:ext uri="{FF2B5EF4-FFF2-40B4-BE49-F238E27FC236}">
                <a16:creationId xmlns:a16="http://schemas.microsoft.com/office/drawing/2014/main" id="{5F3FA1FC-B68B-934C-A207-9EE18AC230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tr-TR" dirty="0"/>
              <a:t>Bisection does not take into account the shape of the function; this can be good or bad depending on the function!</a:t>
            </a:r>
          </a:p>
          <a:p>
            <a:pPr eaLnBrk="1" hangingPunct="1"/>
            <a:r>
              <a:rPr lang="en-US" altLang="tr-TR" dirty="0"/>
              <a:t>Slow convergence:</a:t>
            </a:r>
          </a:p>
        </p:txBody>
      </p:sp>
      <p:pic>
        <p:nvPicPr>
          <p:cNvPr id="3077" name="Picture 4" descr="fig0509">
            <a:extLst>
              <a:ext uri="{FF2B5EF4-FFF2-40B4-BE49-F238E27FC236}">
                <a16:creationId xmlns:a16="http://schemas.microsoft.com/office/drawing/2014/main" id="{A86FFF49-8391-684F-9EA8-B72BF4D9B0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2895600"/>
            <a:ext cx="2287588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074" name="Object 5">
            <a:extLst>
              <a:ext uri="{FF2B5EF4-FFF2-40B4-BE49-F238E27FC236}">
                <a16:creationId xmlns:a16="http://schemas.microsoft.com/office/drawing/2014/main" id="{FC489683-CDD8-B54B-BD00-03447E94EA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7649887"/>
              </p:ext>
            </p:extLst>
          </p:nvPr>
        </p:nvGraphicFramePr>
        <p:xfrm>
          <a:off x="3002280" y="4357687"/>
          <a:ext cx="182880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2" name="Equation" r:id="rId4" imgW="4826000" imgH="1168400" progId="Equation.3">
                  <p:embed/>
                </p:oleObj>
              </mc:Choice>
              <mc:Fallback>
                <p:oleObj name="Equation" r:id="rId4" imgW="4826000" imgH="1168400" progId="Equation.3">
                  <p:embed/>
                  <p:pic>
                    <p:nvPicPr>
                      <p:cNvPr id="3074" name="Object 5">
                        <a:extLst>
                          <a:ext uri="{FF2B5EF4-FFF2-40B4-BE49-F238E27FC236}">
                            <a16:creationId xmlns:a16="http://schemas.microsoft.com/office/drawing/2014/main" id="{FC489683-CDD8-B54B-BD00-03447E94EA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2280" y="4357687"/>
                        <a:ext cx="1828800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662311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4D3EB-D4DE-3A43-BB91-84194DFF9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Example</a:t>
            </a:r>
            <a:r>
              <a:rPr lang="tr-TR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593EFD0-F8D1-1142-AB53-C98CC89814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8521700" cy="14605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48589F-8F3A-BF4D-9608-41A9055FFA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378" y="2654300"/>
            <a:ext cx="10325100" cy="420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8629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1DF03-1F20-E14F-8703-B934D1CAB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Example</a:t>
            </a:r>
            <a:r>
              <a:rPr lang="tr-TR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413E34A-7E40-D949-BB76-A742C4EC65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1896" y="1690688"/>
            <a:ext cx="10147300" cy="30988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0493E04-E709-D847-9A8F-15095B0EB5E7}"/>
              </a:ext>
            </a:extLst>
          </p:cNvPr>
          <p:cNvSpPr txBox="1"/>
          <p:nvPr/>
        </p:nvSpPr>
        <p:spPr>
          <a:xfrm>
            <a:off x="691896" y="4901184"/>
            <a:ext cx="103907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err="1"/>
              <a:t>This</a:t>
            </a:r>
            <a:r>
              <a:rPr lang="tr-TR" dirty="0"/>
              <a:t> </a:t>
            </a:r>
            <a:r>
              <a:rPr lang="tr-TR" dirty="0" err="1"/>
              <a:t>function</a:t>
            </a:r>
            <a:r>
              <a:rPr lang="tr-TR" dirty="0"/>
              <a:t> </a:t>
            </a:r>
            <a:r>
              <a:rPr lang="tr-TR" dirty="0" err="1"/>
              <a:t>violates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assumption</a:t>
            </a:r>
            <a:r>
              <a:rPr lang="tr-TR" dirty="0"/>
              <a:t> </a:t>
            </a:r>
            <a:r>
              <a:rPr lang="tr-TR" dirty="0" err="1"/>
              <a:t>that</a:t>
            </a:r>
            <a:r>
              <a:rPr lang="tr-TR" dirty="0"/>
              <a:t> </a:t>
            </a:r>
            <a:r>
              <a:rPr lang="tr-TR" dirty="0" err="1"/>
              <a:t>if</a:t>
            </a:r>
            <a:r>
              <a:rPr lang="tr-TR" dirty="0"/>
              <a:t> f(</a:t>
            </a:r>
            <a:r>
              <a:rPr lang="tr-TR" dirty="0" err="1"/>
              <a:t>x_l</a:t>
            </a:r>
            <a:r>
              <a:rPr lang="tr-TR" dirty="0"/>
              <a:t>) is </a:t>
            </a:r>
            <a:r>
              <a:rPr lang="tr-TR" dirty="0" err="1"/>
              <a:t>much</a:t>
            </a:r>
            <a:r>
              <a:rPr lang="tr-TR" dirty="0"/>
              <a:t> </a:t>
            </a:r>
            <a:r>
              <a:rPr lang="tr-TR" dirty="0" err="1"/>
              <a:t>closer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zero</a:t>
            </a:r>
            <a:r>
              <a:rPr lang="tr-TR" dirty="0"/>
              <a:t> </a:t>
            </a:r>
            <a:r>
              <a:rPr lang="tr-TR" dirty="0" err="1"/>
              <a:t>than</a:t>
            </a:r>
            <a:r>
              <a:rPr lang="tr-TR" dirty="0"/>
              <a:t> f(</a:t>
            </a:r>
            <a:r>
              <a:rPr lang="tr-TR" dirty="0" err="1"/>
              <a:t>x_u</a:t>
            </a:r>
            <a:r>
              <a:rPr lang="tr-TR" dirty="0"/>
              <a:t>), </a:t>
            </a:r>
            <a:r>
              <a:rPr lang="tr-TR" dirty="0" err="1"/>
              <a:t>then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root</a:t>
            </a:r>
            <a:r>
              <a:rPr lang="tr-TR" dirty="0"/>
              <a:t> </a:t>
            </a:r>
            <a:r>
              <a:rPr lang="tr-TR" dirty="0" err="1"/>
              <a:t>should</a:t>
            </a:r>
            <a:r>
              <a:rPr lang="tr-TR" dirty="0"/>
              <a:t> be </a:t>
            </a:r>
          </a:p>
          <a:p>
            <a:r>
              <a:rPr lang="tr-TR" dirty="0" err="1"/>
              <a:t>much</a:t>
            </a:r>
            <a:r>
              <a:rPr lang="tr-TR" dirty="0"/>
              <a:t> </a:t>
            </a:r>
            <a:r>
              <a:rPr lang="tr-TR" dirty="0" err="1"/>
              <a:t>closer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 </a:t>
            </a:r>
            <a:r>
              <a:rPr lang="tr-TR" dirty="0" err="1"/>
              <a:t>x_l</a:t>
            </a:r>
            <a:r>
              <a:rPr lang="tr-TR" dirty="0"/>
              <a:t> </a:t>
            </a:r>
            <a:r>
              <a:rPr lang="tr-TR" dirty="0" err="1"/>
              <a:t>than</a:t>
            </a:r>
            <a:r>
              <a:rPr lang="tr-TR" dirty="0"/>
              <a:t> </a:t>
            </a:r>
            <a:r>
              <a:rPr lang="tr-TR" dirty="0" err="1"/>
              <a:t>x_r</a:t>
            </a:r>
            <a:r>
              <a:rPr lang="tr-T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9572695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0DF71-A8A6-0C4D-8C84-C1FCDD12B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Summary</a:t>
            </a:r>
            <a:r>
              <a:rPr lang="tr-TR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79955-F3EF-C54A-B96A-96B4001773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/>
              <a:t>Although</a:t>
            </a:r>
            <a:r>
              <a:rPr lang="tr-TR" dirty="0"/>
              <a:t> </a:t>
            </a:r>
            <a:r>
              <a:rPr lang="tr-TR" dirty="0" err="1"/>
              <a:t>false</a:t>
            </a:r>
            <a:r>
              <a:rPr lang="tr-TR" dirty="0"/>
              <a:t> </a:t>
            </a:r>
            <a:r>
              <a:rPr lang="tr-TR" dirty="0" err="1"/>
              <a:t>position</a:t>
            </a:r>
            <a:r>
              <a:rPr lang="tr-TR" dirty="0"/>
              <a:t> is </a:t>
            </a:r>
            <a:r>
              <a:rPr lang="tr-TR" dirty="0" err="1"/>
              <a:t>generally</a:t>
            </a:r>
            <a:r>
              <a:rPr lang="tr-TR" dirty="0"/>
              <a:t> </a:t>
            </a:r>
            <a:r>
              <a:rPr lang="tr-TR" dirty="0" err="1"/>
              <a:t>superior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bisection</a:t>
            </a:r>
            <a:r>
              <a:rPr lang="tr-TR" dirty="0"/>
              <a:t>, </a:t>
            </a:r>
            <a:r>
              <a:rPr lang="tr-TR" dirty="0" err="1"/>
              <a:t>there</a:t>
            </a:r>
            <a:r>
              <a:rPr lang="tr-TR" dirty="0"/>
              <a:t> 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dirty="0" err="1"/>
              <a:t>cases</a:t>
            </a:r>
            <a:r>
              <a:rPr lang="tr-TR" dirty="0"/>
              <a:t> </a:t>
            </a:r>
            <a:r>
              <a:rPr lang="tr-TR" dirty="0" err="1"/>
              <a:t>where</a:t>
            </a:r>
            <a:r>
              <a:rPr lang="tr-TR" dirty="0"/>
              <a:t> </a:t>
            </a:r>
            <a:r>
              <a:rPr lang="tr-TR" dirty="0" err="1"/>
              <a:t>this</a:t>
            </a:r>
            <a:r>
              <a:rPr lang="tr-TR" dirty="0"/>
              <a:t> is not </a:t>
            </a:r>
            <a:r>
              <a:rPr lang="tr-TR" dirty="0" err="1"/>
              <a:t>true</a:t>
            </a:r>
            <a:r>
              <a:rPr lang="tr-TR" dirty="0"/>
              <a:t>. </a:t>
            </a:r>
          </a:p>
          <a:p>
            <a:r>
              <a:rPr lang="tr-TR" dirty="0" err="1"/>
              <a:t>False</a:t>
            </a:r>
            <a:r>
              <a:rPr lang="tr-TR" dirty="0"/>
              <a:t> </a:t>
            </a:r>
            <a:r>
              <a:rPr lang="tr-TR" dirty="0" err="1"/>
              <a:t>position</a:t>
            </a:r>
            <a:r>
              <a:rPr lang="tr-TR" dirty="0"/>
              <a:t> is </a:t>
            </a:r>
            <a:r>
              <a:rPr lang="tr-TR" dirty="0" err="1"/>
              <a:t>one-sided</a:t>
            </a:r>
            <a:r>
              <a:rPr lang="tr-TR" dirty="0"/>
              <a:t>: </a:t>
            </a:r>
            <a:r>
              <a:rPr lang="tr-TR" dirty="0" err="1"/>
              <a:t>one</a:t>
            </a:r>
            <a:r>
              <a:rPr lang="tr-TR" dirty="0"/>
              <a:t> of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bracketing</a:t>
            </a:r>
            <a:r>
              <a:rPr lang="tr-TR" dirty="0"/>
              <a:t> </a:t>
            </a:r>
            <a:r>
              <a:rPr lang="tr-TR" dirty="0" err="1"/>
              <a:t>points</a:t>
            </a:r>
            <a:r>
              <a:rPr lang="tr-TR" dirty="0"/>
              <a:t> </a:t>
            </a:r>
            <a:r>
              <a:rPr lang="tr-TR" dirty="0" err="1"/>
              <a:t>will</a:t>
            </a:r>
            <a:r>
              <a:rPr lang="tr-TR" dirty="0"/>
              <a:t> </a:t>
            </a:r>
            <a:r>
              <a:rPr lang="tr-TR" dirty="0" err="1"/>
              <a:t>stay</a:t>
            </a:r>
            <a:r>
              <a:rPr lang="tr-TR" dirty="0"/>
              <a:t> </a:t>
            </a:r>
            <a:r>
              <a:rPr lang="tr-TR" dirty="0" err="1"/>
              <a:t>fixed</a:t>
            </a:r>
            <a:r>
              <a:rPr lang="tr-TR" dirty="0"/>
              <a:t>. </a:t>
            </a:r>
            <a:r>
              <a:rPr lang="tr-TR" dirty="0" err="1"/>
              <a:t>This</a:t>
            </a:r>
            <a:r>
              <a:rPr lang="tr-TR" dirty="0"/>
              <a:t> can </a:t>
            </a:r>
            <a:r>
              <a:rPr lang="tr-TR" dirty="0" err="1"/>
              <a:t>lead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poor</a:t>
            </a:r>
            <a:r>
              <a:rPr lang="tr-TR" dirty="0"/>
              <a:t> </a:t>
            </a:r>
            <a:r>
              <a:rPr lang="tr-TR" dirty="0" err="1"/>
              <a:t>convergence</a:t>
            </a:r>
            <a:r>
              <a:rPr lang="tr-TR"/>
              <a:t>. </a:t>
            </a:r>
            <a:endParaRPr lang="tr-TR" dirty="0"/>
          </a:p>
          <a:p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results</a:t>
            </a:r>
            <a:r>
              <a:rPr lang="tr-TR" dirty="0"/>
              <a:t> </a:t>
            </a:r>
            <a:r>
              <a:rPr lang="tr-TR" dirty="0" err="1"/>
              <a:t>should</a:t>
            </a:r>
            <a:r>
              <a:rPr lang="tr-TR" dirty="0"/>
              <a:t> </a:t>
            </a:r>
            <a:r>
              <a:rPr lang="tr-TR" dirty="0" err="1"/>
              <a:t>always</a:t>
            </a:r>
            <a:r>
              <a:rPr lang="tr-TR" dirty="0"/>
              <a:t> be </a:t>
            </a:r>
            <a:r>
              <a:rPr lang="tr-TR" dirty="0" err="1"/>
              <a:t>checked</a:t>
            </a:r>
            <a:r>
              <a:rPr lang="tr-TR" dirty="0"/>
              <a:t> </a:t>
            </a:r>
            <a:r>
              <a:rPr lang="tr-TR" dirty="0" err="1"/>
              <a:t>by</a:t>
            </a:r>
            <a:r>
              <a:rPr lang="tr-TR" dirty="0"/>
              <a:t> </a:t>
            </a:r>
            <a:r>
              <a:rPr lang="tr-TR" dirty="0" err="1"/>
              <a:t>substituting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root</a:t>
            </a:r>
            <a:r>
              <a:rPr lang="tr-TR" dirty="0"/>
              <a:t> </a:t>
            </a:r>
            <a:r>
              <a:rPr lang="tr-TR" dirty="0" err="1"/>
              <a:t>estimate</a:t>
            </a:r>
            <a:r>
              <a:rPr lang="tr-TR" dirty="0"/>
              <a:t> </a:t>
            </a:r>
            <a:r>
              <a:rPr lang="tr-TR" dirty="0" err="1"/>
              <a:t>into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original</a:t>
            </a:r>
            <a:r>
              <a:rPr lang="tr-TR" dirty="0"/>
              <a:t> </a:t>
            </a:r>
            <a:r>
              <a:rPr lang="tr-TR" dirty="0" err="1"/>
              <a:t>equation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confirming</a:t>
            </a:r>
            <a:r>
              <a:rPr lang="tr-TR" dirty="0"/>
              <a:t> </a:t>
            </a:r>
            <a:r>
              <a:rPr lang="tr-TR" dirty="0" err="1"/>
              <a:t>that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result</a:t>
            </a:r>
            <a:r>
              <a:rPr lang="tr-TR" dirty="0"/>
              <a:t> is </a:t>
            </a:r>
            <a:r>
              <a:rPr lang="tr-TR" dirty="0" err="1"/>
              <a:t>close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zero</a:t>
            </a:r>
            <a:r>
              <a:rPr lang="tr-T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9232960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EE2EB-F2B2-6845-A30F-AA57B454C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Overview</a:t>
            </a:r>
            <a:endParaRPr lang="tr-T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A0AFD1-C211-E14A-822D-B6ECC2FDE6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1145" y="1453018"/>
                <a:ext cx="10802655" cy="4622105"/>
              </a:xfrm>
            </p:spPr>
            <p:txBody>
              <a:bodyPr>
                <a:normAutofit/>
              </a:bodyPr>
              <a:lstStyle/>
              <a:p>
                <a:r>
                  <a:rPr lang="tr-TR" dirty="0"/>
                  <a:t>Roots</a:t>
                </a:r>
              </a:p>
              <a:p>
                <a:pPr lvl="1"/>
                <a:r>
                  <a:rPr lang="tr-TR" dirty="0" err="1"/>
                  <a:t>Points</a:t>
                </a:r>
                <a:r>
                  <a:rPr lang="tr-TR" dirty="0"/>
                  <a:t> of a </a:t>
                </a:r>
                <a:r>
                  <a:rPr lang="tr-TR" dirty="0" err="1"/>
                  <a:t>nonlinear</a:t>
                </a:r>
                <a:r>
                  <a:rPr lang="tr-TR" dirty="0"/>
                  <a:t> </a:t>
                </a:r>
                <a:r>
                  <a:rPr lang="tr-TR" dirty="0" err="1"/>
                  <a:t>equation</a:t>
                </a:r>
                <a:r>
                  <a:rPr lang="tr-TR" dirty="0"/>
                  <a:t> </a:t>
                </a:r>
                <a:r>
                  <a:rPr lang="tr-TR" dirty="0" err="1"/>
                  <a:t>where</a:t>
                </a:r>
                <a:r>
                  <a:rPr lang="tr-TR" dirty="0"/>
                  <a:t> </a:t>
                </a:r>
                <a14:m>
                  <m:oMath xmlns:m="http://schemas.openxmlformats.org/officeDocument/2006/math">
                    <m:r>
                      <a:rPr lang="tr-TR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tr-T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tr-TR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tr-TR" b="0" dirty="0"/>
              </a:p>
              <a:p>
                <a:pPr lvl="1"/>
                <a:r>
                  <a:rPr lang="tr-TR" b="1" dirty="0" err="1"/>
                  <a:t>Bracketing</a:t>
                </a:r>
                <a:r>
                  <a:rPr lang="tr-TR" b="1" dirty="0"/>
                  <a:t> </a:t>
                </a:r>
                <a:r>
                  <a:rPr lang="tr-TR" b="1" dirty="0" err="1"/>
                  <a:t>methods</a:t>
                </a:r>
                <a:r>
                  <a:rPr lang="tr-TR" dirty="0"/>
                  <a:t>: start </a:t>
                </a:r>
                <a:r>
                  <a:rPr lang="tr-TR" dirty="0" err="1"/>
                  <a:t>with</a:t>
                </a:r>
                <a:r>
                  <a:rPr lang="tr-TR" dirty="0"/>
                  <a:t> a </a:t>
                </a:r>
                <a:r>
                  <a:rPr lang="tr-TR" dirty="0" err="1"/>
                  <a:t>guess</a:t>
                </a:r>
                <a:r>
                  <a:rPr lang="tr-TR" dirty="0"/>
                  <a:t> </a:t>
                </a:r>
                <a:r>
                  <a:rPr lang="tr-TR" dirty="0" err="1"/>
                  <a:t>for</a:t>
                </a:r>
                <a:r>
                  <a:rPr lang="tr-TR" dirty="0"/>
                  <a:t> a </a:t>
                </a:r>
                <a:r>
                  <a:rPr lang="tr-TR" dirty="0" err="1"/>
                  <a:t>range</a:t>
                </a:r>
                <a:r>
                  <a:rPr lang="tr-TR" dirty="0"/>
                  <a:t> </a:t>
                </a:r>
                <a:r>
                  <a:rPr lang="tr-TR" dirty="0" err="1"/>
                  <a:t>containing</a:t>
                </a:r>
                <a:r>
                  <a:rPr lang="tr-TR" dirty="0"/>
                  <a:t> </a:t>
                </a:r>
                <a:r>
                  <a:rPr lang="tr-TR" dirty="0" err="1"/>
                  <a:t>the</a:t>
                </a:r>
                <a:r>
                  <a:rPr lang="tr-TR" dirty="0"/>
                  <a:t> </a:t>
                </a:r>
                <a:r>
                  <a:rPr lang="tr-TR" dirty="0" err="1"/>
                  <a:t>root</a:t>
                </a:r>
                <a:r>
                  <a:rPr lang="tr-TR" dirty="0"/>
                  <a:t> </a:t>
                </a:r>
                <a:r>
                  <a:rPr lang="tr-TR" dirty="0" err="1"/>
                  <a:t>and</a:t>
                </a:r>
                <a:r>
                  <a:rPr lang="tr-TR" dirty="0"/>
                  <a:t> </a:t>
                </a:r>
                <a:r>
                  <a:rPr lang="tr-TR" dirty="0" err="1"/>
                  <a:t>reduce</a:t>
                </a:r>
                <a:r>
                  <a:rPr lang="tr-TR" dirty="0"/>
                  <a:t> </a:t>
                </a:r>
                <a:r>
                  <a:rPr lang="tr-TR" dirty="0" err="1"/>
                  <a:t>the</a:t>
                </a:r>
                <a:r>
                  <a:rPr lang="tr-TR" dirty="0"/>
                  <a:t> </a:t>
                </a:r>
                <a:r>
                  <a:rPr lang="tr-TR" dirty="0" err="1"/>
                  <a:t>width</a:t>
                </a:r>
                <a:r>
                  <a:rPr lang="tr-TR" dirty="0"/>
                  <a:t> of </a:t>
                </a:r>
                <a:r>
                  <a:rPr lang="tr-TR" dirty="0" err="1"/>
                  <a:t>the</a:t>
                </a:r>
                <a:r>
                  <a:rPr lang="tr-TR" dirty="0"/>
                  <a:t> </a:t>
                </a:r>
                <a:r>
                  <a:rPr lang="tr-TR" dirty="0" err="1"/>
                  <a:t>bracket</a:t>
                </a:r>
                <a:r>
                  <a:rPr lang="tr-TR" dirty="0"/>
                  <a:t> </a:t>
                </a:r>
                <a:r>
                  <a:rPr lang="tr-TR" dirty="0" err="1"/>
                  <a:t>iteratively</a:t>
                </a:r>
                <a:r>
                  <a:rPr lang="tr-TR" dirty="0"/>
                  <a:t>. (</a:t>
                </a:r>
                <a:r>
                  <a:rPr lang="tr-TR" dirty="0" err="1"/>
                  <a:t>reliable</a:t>
                </a:r>
                <a:r>
                  <a:rPr lang="tr-TR" dirty="0"/>
                  <a:t>)</a:t>
                </a:r>
              </a:p>
              <a:p>
                <a:pPr lvl="2"/>
                <a:r>
                  <a:rPr lang="tr-TR" b="0" dirty="0" err="1"/>
                  <a:t>Bisecti</a:t>
                </a:r>
                <a:r>
                  <a:rPr lang="tr-TR" dirty="0" err="1"/>
                  <a:t>on</a:t>
                </a:r>
                <a:r>
                  <a:rPr lang="tr-TR" dirty="0"/>
                  <a:t> </a:t>
                </a:r>
                <a:r>
                  <a:rPr lang="tr-TR" dirty="0" err="1"/>
                  <a:t>method</a:t>
                </a:r>
                <a:endParaRPr lang="tr-TR" dirty="0"/>
              </a:p>
              <a:p>
                <a:pPr lvl="2"/>
                <a:r>
                  <a:rPr lang="tr-TR" b="0" dirty="0" err="1"/>
                  <a:t>False</a:t>
                </a:r>
                <a:r>
                  <a:rPr lang="tr-TR" b="0" dirty="0"/>
                  <a:t> </a:t>
                </a:r>
                <a:r>
                  <a:rPr lang="tr-TR" b="0" dirty="0" err="1"/>
                  <a:t>position</a:t>
                </a:r>
                <a:r>
                  <a:rPr lang="tr-TR" b="0" dirty="0"/>
                  <a:t> </a:t>
                </a:r>
                <a:r>
                  <a:rPr lang="tr-TR" b="0" dirty="0" err="1"/>
                  <a:t>method</a:t>
                </a:r>
                <a:endParaRPr lang="tr-TR" dirty="0"/>
              </a:p>
              <a:p>
                <a:pPr lvl="1"/>
                <a:r>
                  <a:rPr lang="tr-TR" b="1" dirty="0"/>
                  <a:t>Open </a:t>
                </a:r>
                <a:r>
                  <a:rPr lang="tr-TR" b="1" dirty="0" err="1"/>
                  <a:t>Methods</a:t>
                </a:r>
                <a:r>
                  <a:rPr lang="tr-TR" b="1" dirty="0"/>
                  <a:t> </a:t>
                </a:r>
                <a:r>
                  <a:rPr lang="tr-TR" dirty="0"/>
                  <a:t>(</a:t>
                </a:r>
                <a:r>
                  <a:rPr lang="tr-TR" dirty="0" err="1"/>
                  <a:t>fast</a:t>
                </a:r>
                <a:r>
                  <a:rPr lang="tr-TR" dirty="0"/>
                  <a:t>) </a:t>
                </a:r>
              </a:p>
              <a:p>
                <a:pPr lvl="2"/>
                <a:r>
                  <a:rPr lang="tr-TR" dirty="0" err="1"/>
                  <a:t>Fixed-point</a:t>
                </a:r>
                <a:r>
                  <a:rPr lang="tr-TR" dirty="0"/>
                  <a:t> </a:t>
                </a:r>
                <a:r>
                  <a:rPr lang="tr-TR" dirty="0" err="1"/>
                  <a:t>iteration</a:t>
                </a:r>
                <a:endParaRPr lang="tr-TR" dirty="0"/>
              </a:p>
              <a:p>
                <a:pPr lvl="2"/>
                <a:r>
                  <a:rPr lang="tr-TR" dirty="0"/>
                  <a:t>Newton-</a:t>
                </a:r>
                <a:r>
                  <a:rPr lang="tr-TR" dirty="0" err="1"/>
                  <a:t>Raphson</a:t>
                </a:r>
                <a:endParaRPr lang="tr-TR" dirty="0"/>
              </a:p>
              <a:p>
                <a:pPr lvl="2"/>
                <a:r>
                  <a:rPr lang="tr-TR" dirty="0" err="1"/>
                  <a:t>Secant</a:t>
                </a:r>
                <a:r>
                  <a:rPr lang="tr-TR" dirty="0"/>
                  <a:t> </a:t>
                </a:r>
                <a:r>
                  <a:rPr lang="tr-TR" dirty="0" err="1"/>
                  <a:t>methods</a:t>
                </a:r>
                <a:endParaRPr lang="tr-TR" dirty="0"/>
              </a:p>
              <a:p>
                <a:pPr lvl="1"/>
                <a:r>
                  <a:rPr lang="tr-TR" dirty="0" err="1"/>
                  <a:t>Hybrid</a:t>
                </a:r>
                <a:r>
                  <a:rPr lang="tr-TR" dirty="0"/>
                  <a:t> </a:t>
                </a:r>
                <a:r>
                  <a:rPr lang="tr-TR" dirty="0" err="1"/>
                  <a:t>Methods</a:t>
                </a:r>
                <a:r>
                  <a:rPr lang="tr-TR" dirty="0"/>
                  <a:t>: </a:t>
                </a:r>
                <a:r>
                  <a:rPr lang="tr-TR" dirty="0" err="1"/>
                  <a:t>Brent’s</a:t>
                </a:r>
                <a:r>
                  <a:rPr lang="tr-TR" dirty="0"/>
                  <a:t> </a:t>
                </a:r>
                <a:r>
                  <a:rPr lang="tr-TR" dirty="0" err="1"/>
                  <a:t>root</a:t>
                </a:r>
                <a:r>
                  <a:rPr lang="tr-TR" dirty="0"/>
                  <a:t> </a:t>
                </a:r>
                <a:r>
                  <a:rPr lang="tr-TR" dirty="0" err="1"/>
                  <a:t>finding</a:t>
                </a:r>
                <a:r>
                  <a:rPr lang="tr-TR" dirty="0"/>
                  <a:t> </a:t>
                </a:r>
                <a:r>
                  <a:rPr lang="tr-TR" dirty="0" err="1"/>
                  <a:t>method</a:t>
                </a:r>
                <a:r>
                  <a:rPr lang="tr-TR" dirty="0"/>
                  <a:t> (</a:t>
                </a:r>
                <a:r>
                  <a:rPr lang="tr-TR" dirty="0" err="1"/>
                  <a:t>Fast</a:t>
                </a:r>
                <a:r>
                  <a:rPr lang="tr-TR" dirty="0"/>
                  <a:t> </a:t>
                </a:r>
                <a:r>
                  <a:rPr lang="tr-TR" dirty="0" err="1"/>
                  <a:t>and</a:t>
                </a:r>
                <a:r>
                  <a:rPr lang="tr-TR" dirty="0"/>
                  <a:t> </a:t>
                </a:r>
                <a:r>
                  <a:rPr lang="tr-TR" dirty="0" err="1"/>
                  <a:t>reliable</a:t>
                </a:r>
                <a:r>
                  <a:rPr lang="tr-TR" dirty="0"/>
                  <a:t>) </a:t>
                </a:r>
              </a:p>
              <a:p>
                <a:pPr lvl="1"/>
                <a:r>
                  <a:rPr lang="tr-TR" dirty="0"/>
                  <a:t>MATLAB: </a:t>
                </a:r>
                <a:r>
                  <a:rPr lang="tr-TR" dirty="0" err="1"/>
                  <a:t>fzero</a:t>
                </a:r>
                <a:r>
                  <a:rPr lang="tr-TR" dirty="0"/>
                  <a:t> </a:t>
                </a:r>
                <a:r>
                  <a:rPr lang="tr-TR" dirty="0" err="1"/>
                  <a:t>function</a:t>
                </a:r>
                <a:endParaRPr lang="tr-TR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A0AFD1-C211-E14A-822D-B6ECC2FDE6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1145" y="1453018"/>
                <a:ext cx="10802655" cy="4622105"/>
              </a:xfrm>
              <a:blipFill>
                <a:blip r:embed="rId2"/>
                <a:stretch>
                  <a:fillRect l="-822" t="-1918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Notched Right Arrow 3">
            <a:extLst>
              <a:ext uri="{FF2B5EF4-FFF2-40B4-BE49-F238E27FC236}">
                <a16:creationId xmlns:a16="http://schemas.microsoft.com/office/drawing/2014/main" id="{ABABD678-F600-CD4A-A0C8-6A92FF8E850A}"/>
              </a:ext>
            </a:extLst>
          </p:cNvPr>
          <p:cNvSpPr/>
          <p:nvPr/>
        </p:nvSpPr>
        <p:spPr>
          <a:xfrm>
            <a:off x="327377" y="3747439"/>
            <a:ext cx="677334" cy="270933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06279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450</TotalTime>
  <Words>861</Words>
  <Application>Microsoft Macintosh PowerPoint</Application>
  <PresentationFormat>Widescreen</PresentationFormat>
  <Paragraphs>107</Paragraphs>
  <Slides>31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Calibri</vt:lpstr>
      <vt:lpstr>Calibri Light</vt:lpstr>
      <vt:lpstr>Cambria Math</vt:lpstr>
      <vt:lpstr>Office Theme</vt:lpstr>
      <vt:lpstr>Equation</vt:lpstr>
      <vt:lpstr>Roots and Optimization </vt:lpstr>
      <vt:lpstr>PowerPoint Presentation</vt:lpstr>
      <vt:lpstr>Overview</vt:lpstr>
      <vt:lpstr>Overview</vt:lpstr>
      <vt:lpstr>Roots: Bracketing Methods</vt:lpstr>
      <vt:lpstr>Chapter Objectives</vt:lpstr>
      <vt:lpstr>Graphical Methods </vt:lpstr>
      <vt:lpstr>Exceptions</vt:lpstr>
      <vt:lpstr>PowerPoint Presentation</vt:lpstr>
      <vt:lpstr>Roots </vt:lpstr>
      <vt:lpstr>Incremental search</vt:lpstr>
      <vt:lpstr>Incremental Search Hazards</vt:lpstr>
      <vt:lpstr>PowerPoint Presentation</vt:lpstr>
      <vt:lpstr>Example</vt:lpstr>
      <vt:lpstr>Example</vt:lpstr>
      <vt:lpstr>Bisection Method </vt:lpstr>
      <vt:lpstr>Bisection Method</vt:lpstr>
      <vt:lpstr>Bisection Method</vt:lpstr>
      <vt:lpstr>Bisection Method</vt:lpstr>
      <vt:lpstr>Bisection Method </vt:lpstr>
      <vt:lpstr>Bisection Method </vt:lpstr>
      <vt:lpstr>Bisection Method </vt:lpstr>
      <vt:lpstr>PowerPoint Presentation</vt:lpstr>
      <vt:lpstr>Bisection Method</vt:lpstr>
      <vt:lpstr>False Position Method</vt:lpstr>
      <vt:lpstr>False Position Method</vt:lpstr>
      <vt:lpstr>Bisection vs. False Position</vt:lpstr>
      <vt:lpstr>Example </vt:lpstr>
      <vt:lpstr>Example </vt:lpstr>
      <vt:lpstr>Summary </vt:lpstr>
      <vt:lpstr>Overview</vt:lpstr>
    </vt:vector>
  </TitlesOfParts>
  <Company/>
  <LinksUpToDate>false</LinksUpToDate>
  <SharedDoc>false</SharedDoc>
  <HyperlinksChanged>false</HyperlinksChanged>
  <AppVersion>16.0010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Roots and Optimization </dc:title>
  <dc:creator/>
  <cp:lastModifiedBy/>
  <cp:revision>26</cp:revision>
  <dcterms:created xsi:type="dcterms:W3CDTF">2018-03-03T07:50:51Z</dcterms:created>
  <dcterms:modified xsi:type="dcterms:W3CDTF">2018-03-06T17:38:49Z</dcterms:modified>
  <dc:description/>
</cp:coreProperties>
</file>