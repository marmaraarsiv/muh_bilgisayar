
<file path=[Content_Types].xml><?xml version="1.0" encoding="utf-8"?>
<Types xmlns="http://schemas.openxmlformats.org/package/2006/content-types">
  <Default Extension="bin" ContentType="application/vnd.openxmlformats-officedocument.oleObject"/>
  <Default Extension="fntdata" ContentType="application/x-fontdata"/>
  <Default Extension="jp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10.xml" ContentType="application/vnd.openxmlformats-officedocument.presentationml.tags+xml"/>
  <Override PartName="/ppt/tags/tag11.xml" ContentType="application/vnd.openxmlformats-officedocument.presentationml.tags+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autoCompressPictures="0">
  <p:sldMasterIdLst>
    <p:sldMasterId id="2147483663" r:id="rId1"/>
    <p:sldMasterId id="2147483659" r:id="rId2"/>
  </p:sldMasterIdLst>
  <p:notesMasterIdLst>
    <p:notesMasterId r:id="rId26"/>
  </p:notesMasterIdLst>
  <p:handoutMasterIdLst>
    <p:handoutMasterId r:id="rId27"/>
  </p:handoutMasterIdLst>
  <p:sldIdLst>
    <p:sldId id="772" r:id="rId3"/>
    <p:sldId id="757" r:id="rId4"/>
    <p:sldId id="761" r:id="rId5"/>
    <p:sldId id="758" r:id="rId6"/>
    <p:sldId id="737" r:id="rId7"/>
    <p:sldId id="773" r:id="rId8"/>
    <p:sldId id="759" r:id="rId9"/>
    <p:sldId id="774" r:id="rId10"/>
    <p:sldId id="760" r:id="rId11"/>
    <p:sldId id="762" r:id="rId12"/>
    <p:sldId id="763" r:id="rId13"/>
    <p:sldId id="775" r:id="rId14"/>
    <p:sldId id="764" r:id="rId15"/>
    <p:sldId id="765" r:id="rId16"/>
    <p:sldId id="766" r:id="rId17"/>
    <p:sldId id="776" r:id="rId18"/>
    <p:sldId id="767" r:id="rId19"/>
    <p:sldId id="768" r:id="rId20"/>
    <p:sldId id="777" r:id="rId21"/>
    <p:sldId id="769" r:id="rId22"/>
    <p:sldId id="770" r:id="rId23"/>
    <p:sldId id="771" r:id="rId24"/>
    <p:sldId id="717" r:id="rId25"/>
  </p:sldIdLst>
  <p:sldSz cx="9144000" cy="6858000" type="screen4x3"/>
  <p:notesSz cx="6858000" cy="9144000"/>
  <p:embeddedFontLst>
    <p:embeddedFont>
      <p:font typeface="Cambria Math" panose="02040503050406030204" pitchFamily="18" charset="0"/>
      <p:regular r:id="rId28"/>
    </p:embeddedFont>
    <p:embeddedFont>
      <p:font typeface="Verdana" panose="020B0604030504040204" pitchFamily="34" charset="0"/>
      <p:regular r:id="rId29"/>
      <p:bold r:id="rId30"/>
      <p:italic r:id="rId31"/>
      <p:boldItalic r:id="rId3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436" userDrawn="1">
          <p15:clr>
            <a:srgbClr val="A4A3A4"/>
          </p15:clr>
        </p15:guide>
        <p15:guide id="3" orient="horz" pos="4042" userDrawn="1">
          <p15:clr>
            <a:srgbClr val="A4A3A4"/>
          </p15:clr>
        </p15:guide>
        <p15:guide id="4" pos="2880" userDrawn="1">
          <p15:clr>
            <a:srgbClr val="A4A3A4"/>
          </p15:clr>
        </p15:guide>
        <p15:guide id="5" pos="5443" userDrawn="1">
          <p15:clr>
            <a:srgbClr val="A4A3A4"/>
          </p15:clr>
        </p15:guide>
        <p15:guide id="6" orient="horz" pos="845" userDrawn="1">
          <p15:clr>
            <a:srgbClr val="A4A3A4"/>
          </p15:clr>
        </p15:guide>
        <p15:guide id="7" orient="horz" pos="2047" userDrawn="1">
          <p15:clr>
            <a:srgbClr val="A4A3A4"/>
          </p15:clr>
        </p15:guide>
        <p15:guide id="8" pos="265" userDrawn="1">
          <p15:clr>
            <a:srgbClr val="A4A3A4"/>
          </p15:clr>
        </p15:guide>
        <p15:guide id="9" orient="horz" pos="1933" userDrawn="1">
          <p15:clr>
            <a:srgbClr val="A4A3A4"/>
          </p15:clr>
        </p15:guide>
        <p15:guide id="10" orient="horz" pos="2387" userDrawn="1">
          <p15:clr>
            <a:srgbClr val="A4A3A4"/>
          </p15:clr>
        </p15:guide>
        <p15:guide id="11" orient="horz" pos="2478" userDrawn="1">
          <p15:clr>
            <a:srgbClr val="A4A3A4"/>
          </p15:clr>
        </p15:guide>
        <p15:guide id="12" orient="horz" pos="2704" userDrawn="1">
          <p15:clr>
            <a:srgbClr val="A4A3A4"/>
          </p15:clr>
        </p15:guide>
        <p15:guide id="13" orient="horz" pos="3067"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Author" initials="A" lastIdx="0" clrIdx="7"/>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34601" autoAdjust="0"/>
    <p:restoredTop sz="94291" autoAdjust="0"/>
  </p:normalViewPr>
  <p:slideViewPr>
    <p:cSldViewPr snapToGrid="0" snapToObjects="1">
      <p:cViewPr varScale="1">
        <p:scale>
          <a:sx n="107" d="100"/>
          <a:sy n="107" d="100"/>
        </p:scale>
        <p:origin x="1158" y="102"/>
      </p:cViewPr>
      <p:guideLst>
        <p:guide orient="horz" pos="436"/>
        <p:guide orient="horz" pos="4042"/>
        <p:guide pos="2880"/>
        <p:guide pos="5443"/>
        <p:guide orient="horz" pos="845"/>
        <p:guide orient="horz" pos="2047"/>
        <p:guide pos="265"/>
        <p:guide orient="horz" pos="1933"/>
        <p:guide orient="horz" pos="2387"/>
        <p:guide orient="horz" pos="2478"/>
        <p:guide orient="horz" pos="2704"/>
        <p:guide orient="horz" pos="3067"/>
      </p:guideLst>
    </p:cSldViewPr>
  </p:slideViewPr>
  <p:outlineViewPr>
    <p:cViewPr>
      <p:scale>
        <a:sx n="33" d="100"/>
        <a:sy n="33" d="100"/>
      </p:scale>
      <p:origin x="0" y="-10908"/>
    </p:cViewPr>
  </p:outlineViewPr>
  <p:notesTextViewPr>
    <p:cViewPr>
      <p:scale>
        <a:sx n="3" d="2"/>
        <a:sy n="3" d="2"/>
      </p:scale>
      <p:origin x="0" y="0"/>
    </p:cViewPr>
  </p:notesTextViewPr>
  <p:sorterViewPr>
    <p:cViewPr>
      <p:scale>
        <a:sx n="100" d="100"/>
        <a:sy n="100" d="100"/>
      </p:scale>
      <p:origin x="0" y="-3346"/>
    </p:cViewPr>
  </p:sorterViewPr>
  <p:notesViewPr>
    <p:cSldViewPr snapToGrid="0" snapToObjects="1">
      <p:cViewPr varScale="1">
        <p:scale>
          <a:sx n="84" d="100"/>
          <a:sy n="84" d="100"/>
        </p:scale>
        <p:origin x="2226" y="10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notesMaster" Target="notesMasters/notesMaster1.xml"/><Relationship Id="rId21" Type="http://schemas.openxmlformats.org/officeDocument/2006/relationships/slide" Target="slides/slide19.xml"/><Relationship Id="rId34"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commentAuthors" Target="commentAuthor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font" Target="fonts/font5.fntdata"/><Relationship Id="rId37"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font" Target="fonts/font1.fntdata"/><Relationship Id="rId36"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4.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handoutMaster" Target="handoutMasters/handoutMaster1.xml"/><Relationship Id="rId30" Type="http://schemas.openxmlformats.org/officeDocument/2006/relationships/font" Target="fonts/font3.fntdata"/><Relationship Id="rId35"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12/15/2025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dirty="0"/>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this PowerPoint presentation contains mathematical equations, you may need to check that your computer has the following installed:</a:t>
            </a:r>
          </a:p>
          <a:p>
            <a:r>
              <a:rPr lang="en-US" dirty="0"/>
              <a:t>1</a:t>
            </a:r>
            <a:r>
              <a:rPr lang="en-US"/>
              <a:t>) Math Type </a:t>
            </a:r>
            <a:r>
              <a:rPr lang="en-US" dirty="0"/>
              <a:t>Plugin</a:t>
            </a:r>
          </a:p>
          <a:p>
            <a:r>
              <a:rPr lang="en-US" dirty="0"/>
              <a:t>2) Math Player (free versions available)</a:t>
            </a:r>
          </a:p>
          <a:p>
            <a:r>
              <a:rPr lang="en-US" dirty="0"/>
              <a:t>3) NVDA Reader (free versions available)</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3541993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1000695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4261401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a:extLst>
              <a:ext uri="{FF2B5EF4-FFF2-40B4-BE49-F238E27FC236}">
                <a16:creationId xmlns:a16="http://schemas.microsoft.com/office/drawing/2014/main" id="{F9CAA192-07C2-4912-B6C5-CA306F17FBDD}"/>
              </a:ext>
            </a:extLst>
          </p:cNvPr>
          <p:cNvSpPr>
            <a:spLocks noGrp="1" noRot="1" noChangeAspect="1" noTextEdit="1"/>
          </p:cNvSpPr>
          <p:nvPr>
            <p:ph type="sldImg"/>
          </p:nvPr>
        </p:nvSpPr>
        <p:spPr>
          <a:ln>
            <a:headEnd/>
            <a:tailEnd/>
          </a:ln>
        </p:spPr>
      </p:sp>
      <p:sp>
        <p:nvSpPr>
          <p:cNvPr id="48131" name="Notes Placeholder 2">
            <a:extLst>
              <a:ext uri="{FF2B5EF4-FFF2-40B4-BE49-F238E27FC236}">
                <a16:creationId xmlns:a16="http://schemas.microsoft.com/office/drawing/2014/main" id="{D9D7DF65-6D37-4A7E-9EC7-2261A13D3C4B}"/>
              </a:ext>
            </a:extLst>
          </p:cNvPr>
          <p:cNvSpPr txBox="1">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compatLnSpc="1">
            <a:prstTxWarp prst="textNoShape">
              <a:avLst/>
            </a:prstTxWarp>
          </a:bodyPr>
          <a:lstStyle/>
          <a:p>
            <a:pPr>
              <a:spcBef>
                <a:spcPct val="0"/>
              </a:spcBef>
            </a:pPr>
            <a:endParaRPr lang="de-DE" altLang="en-US">
              <a:solidFill>
                <a:srgbClr val="000000"/>
              </a:solidFill>
              <a:latin typeface="Arial" panose="020B0604020202020204" pitchFamily="34" charset="0"/>
              <a:cs typeface="Arial" panose="020B0604020202020204" pitchFamily="34" charset="0"/>
              <a:sym typeface="Arial" panose="020B0604020202020204" pitchFamily="34" charset="0"/>
            </a:endParaRPr>
          </a:p>
        </p:txBody>
      </p:sp>
      <p:sp>
        <p:nvSpPr>
          <p:cNvPr id="48132" name="Slide Number Placeholder 3">
            <a:extLst>
              <a:ext uri="{FF2B5EF4-FFF2-40B4-BE49-F238E27FC236}">
                <a16:creationId xmlns:a16="http://schemas.microsoft.com/office/drawing/2014/main" id="{2998DBAB-D818-4DFB-A086-C98B5573E013}"/>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fld id="{62E8CF15-2268-4E7C-A993-40BF9E4643D2}" type="slidenum">
              <a:rPr lang="en-US" altLang="en-US" sz="1200" smtClean="0"/>
              <a:pPr/>
              <a:t>23</a:t>
            </a:fld>
            <a:endParaRPr lang="en-US" altLang="en-US" sz="1200"/>
          </a:p>
        </p:txBody>
      </p:sp>
    </p:spTree>
    <p:extLst>
      <p:ext uri="{BB962C8B-B14F-4D97-AF65-F5344CB8AC3E}">
        <p14:creationId xmlns:p14="http://schemas.microsoft.com/office/powerpoint/2010/main" val="5145252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buNone/>
              <a:defRPr sz="3000"/>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8"/>
            <a:ext cx="3657600" cy="2873375"/>
          </a:xfrm>
        </p:spPr>
        <p:txBody>
          <a:bodyPr/>
          <a:lstStyle>
            <a:lvl1pPr marL="101600" indent="0">
              <a:buNone/>
              <a:defRPr sz="2200"/>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
        <p:nvSpPr>
          <p:cNvPr id="9" name="Picture Placeholder 8">
            <a:extLst>
              <a:ext uri="{FF2B5EF4-FFF2-40B4-BE49-F238E27FC236}">
                <a16:creationId xmlns:a16="http://schemas.microsoft.com/office/drawing/2014/main"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839355990"/>
      </p:ext>
    </p:extLst>
  </p:cSld>
  <p:clrMapOvr>
    <a:masterClrMapping/>
  </p:clrMapOvr>
  <p:extLst>
    <p:ext uri="{DCECCB84-F9BA-43D5-87BE-67443E8EF086}">
      <p15:sldGuideLst xmlns:p15="http://schemas.microsoft.com/office/powerpoint/2012/main">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add copyright">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19" name="Title Placeholder"/>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Content Placeholder"/>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chemeClr val="dk1"/>
                </a:solidFill>
                <a:latin typeface="Arial"/>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a:ln>
                <a:noFill/>
              </a:ln>
              <a:solidFill>
                <a:srgbClr val="FFFFFF"/>
              </a:solidFill>
              <a:effectLst/>
              <a:uLnTx/>
              <a:uFillTx/>
              <a:latin typeface="Arial"/>
              <a:cs typeface="Arial"/>
              <a:sym typeface="Arial"/>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13" name="Picture Placeholder 8">
            <a:extLst>
              <a:ext uri="{FF2B5EF4-FFF2-40B4-BE49-F238E27FC236}">
                <a16:creationId xmlns:a16="http://schemas.microsoft.com/office/drawing/2014/main" id="{C6122C06-0248-45C8-9890-FDA2C7B0CDBA}"/>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3" name="Content Placeholder 2">
            <a:extLst>
              <a:ext uri="{FF2B5EF4-FFF2-40B4-BE49-F238E27FC236}">
                <a16:creationId xmlns:a16="http://schemas.microsoft.com/office/drawing/2014/main" id="{B3F9E3F0-3064-41BA-BF34-B5D9350D8D48}"/>
              </a:ext>
            </a:extLst>
          </p:cNvPr>
          <p:cNvSpPr>
            <a:spLocks noGrp="1"/>
          </p:cNvSpPr>
          <p:nvPr>
            <p:ph sz="quarter" idx="17" hasCustomPrompt="1"/>
          </p:nvPr>
        </p:nvSpPr>
        <p:spPr>
          <a:xfrm>
            <a:off x="1836402" y="6400801"/>
            <a:ext cx="6908800"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42159409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Title and Fiv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47C1B-C047-7B02-4D88-804B90233896}"/>
              </a:ext>
            </a:extLst>
          </p:cNvPr>
          <p:cNvSpPr>
            <a:spLocks noGrp="1"/>
          </p:cNvSpPr>
          <p:nvPr>
            <p:ph type="title"/>
          </p:nvPr>
        </p:nvSpPr>
        <p:spPr>
          <a:xfrm>
            <a:off x="457200" y="349194"/>
            <a:ext cx="8229600" cy="590349"/>
          </a:xfrm>
        </p:spPr>
        <p:txBody>
          <a:bodyPr lIns="0" tIns="18000" rIns="0" bIns="18000" anchor="ctr" anchorCtr="0">
            <a:spAutoFit/>
          </a:bodyPr>
          <a:lstStyle>
            <a:lvl1pPr>
              <a:defRPr sz="3600">
                <a:latin typeface="+mj-lt"/>
              </a:defRPr>
            </a:lvl1pPr>
          </a:lstStyle>
          <a:p>
            <a:r>
              <a:rPr lang="en-US"/>
              <a:t>Click to edit Master title style</a:t>
            </a:r>
          </a:p>
        </p:txBody>
      </p:sp>
      <p:sp>
        <p:nvSpPr>
          <p:cNvPr id="3" name="Date Placeholder 2">
            <a:extLst>
              <a:ext uri="{FF2B5EF4-FFF2-40B4-BE49-F238E27FC236}">
                <a16:creationId xmlns:a16="http://schemas.microsoft.com/office/drawing/2014/main" id="{74FD910A-3690-45F8-A412-24DF80B21CB5}"/>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83B3019D-CCCC-2B72-EE55-406C5B5A635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6" name="Content Placeholder 5">
            <a:extLst>
              <a:ext uri="{FF2B5EF4-FFF2-40B4-BE49-F238E27FC236}">
                <a16:creationId xmlns:a16="http://schemas.microsoft.com/office/drawing/2014/main" id="{209443E3-365E-BA1E-8B2A-10A135AD2092}"/>
              </a:ext>
            </a:extLst>
          </p:cNvPr>
          <p:cNvSpPr>
            <a:spLocks noGrp="1"/>
          </p:cNvSpPr>
          <p:nvPr>
            <p:ph sz="quarter" idx="12"/>
          </p:nvPr>
        </p:nvSpPr>
        <p:spPr>
          <a:xfrm>
            <a:off x="457200" y="11287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9044276D-146B-04ED-2584-1F73C8038773}"/>
              </a:ext>
            </a:extLst>
          </p:cNvPr>
          <p:cNvSpPr>
            <a:spLocks noGrp="1"/>
          </p:cNvSpPr>
          <p:nvPr>
            <p:ph sz="quarter" idx="13"/>
          </p:nvPr>
        </p:nvSpPr>
        <p:spPr>
          <a:xfrm>
            <a:off x="457200" y="17192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F891326B-7E5C-52F7-0192-B341BB04E38C}"/>
              </a:ext>
            </a:extLst>
          </p:cNvPr>
          <p:cNvSpPr>
            <a:spLocks noGrp="1"/>
          </p:cNvSpPr>
          <p:nvPr>
            <p:ph sz="quarter" idx="14"/>
          </p:nvPr>
        </p:nvSpPr>
        <p:spPr>
          <a:xfrm>
            <a:off x="457200" y="23098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09284C2C-13D5-AC31-6F9E-7C535AD9B9A7}"/>
              </a:ext>
            </a:extLst>
          </p:cNvPr>
          <p:cNvSpPr>
            <a:spLocks noGrp="1"/>
          </p:cNvSpPr>
          <p:nvPr>
            <p:ph sz="quarter" idx="15"/>
          </p:nvPr>
        </p:nvSpPr>
        <p:spPr>
          <a:xfrm>
            <a:off x="457200" y="29003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id="{8DDCA9F7-C6FB-1AC7-C5ED-58EF2A043F48}"/>
              </a:ext>
            </a:extLst>
          </p:cNvPr>
          <p:cNvSpPr>
            <a:spLocks noGrp="1"/>
          </p:cNvSpPr>
          <p:nvPr>
            <p:ph sz="quarter" idx="16"/>
          </p:nvPr>
        </p:nvSpPr>
        <p:spPr>
          <a:xfrm>
            <a:off x="457200" y="3482367"/>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a:extLst>
              <a:ext uri="{FF2B5EF4-FFF2-40B4-BE49-F238E27FC236}">
                <a16:creationId xmlns:a16="http://schemas.microsoft.com/office/drawing/2014/main" id="{0C135434-5DEA-7BC0-61C9-0B301DBFF87E}"/>
              </a:ext>
            </a:extLst>
          </p:cNvPr>
          <p:cNvSpPr>
            <a:spLocks noGrp="1"/>
          </p:cNvSpPr>
          <p:nvPr>
            <p:ph sz="quarter" idx="17"/>
          </p:nvPr>
        </p:nvSpPr>
        <p:spPr>
          <a:xfrm>
            <a:off x="457200" y="4046908"/>
            <a:ext cx="4054475"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17">
            <a:extLst>
              <a:ext uri="{FF2B5EF4-FFF2-40B4-BE49-F238E27FC236}">
                <a16:creationId xmlns:a16="http://schemas.microsoft.com/office/drawing/2014/main" id="{59A0236E-3561-F887-304D-CFB6EA8D1A6E}"/>
              </a:ext>
            </a:extLst>
          </p:cNvPr>
          <p:cNvSpPr>
            <a:spLocks noGrp="1"/>
          </p:cNvSpPr>
          <p:nvPr>
            <p:ph sz="quarter" idx="18"/>
          </p:nvPr>
        </p:nvSpPr>
        <p:spPr>
          <a:xfrm>
            <a:off x="457200" y="4594596"/>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19">
            <a:extLst>
              <a:ext uri="{FF2B5EF4-FFF2-40B4-BE49-F238E27FC236}">
                <a16:creationId xmlns:a16="http://schemas.microsoft.com/office/drawing/2014/main" id="{144A09B1-2F29-7C12-1DAC-0B0FFC979105}"/>
              </a:ext>
            </a:extLst>
          </p:cNvPr>
          <p:cNvSpPr>
            <a:spLocks noGrp="1"/>
          </p:cNvSpPr>
          <p:nvPr>
            <p:ph sz="quarter" idx="19"/>
          </p:nvPr>
        </p:nvSpPr>
        <p:spPr>
          <a:xfrm>
            <a:off x="457200" y="51419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21">
            <a:extLst>
              <a:ext uri="{FF2B5EF4-FFF2-40B4-BE49-F238E27FC236}">
                <a16:creationId xmlns:a16="http://schemas.microsoft.com/office/drawing/2014/main" id="{39013FA0-5A0E-D6E7-CEC3-F8E4CF88BD53}"/>
              </a:ext>
            </a:extLst>
          </p:cNvPr>
          <p:cNvSpPr>
            <a:spLocks noGrp="1"/>
          </p:cNvSpPr>
          <p:nvPr>
            <p:ph sz="quarter" idx="20"/>
          </p:nvPr>
        </p:nvSpPr>
        <p:spPr>
          <a:xfrm>
            <a:off x="457200" y="5695104"/>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Content Placeholder 23">
            <a:extLst>
              <a:ext uri="{FF2B5EF4-FFF2-40B4-BE49-F238E27FC236}">
                <a16:creationId xmlns:a16="http://schemas.microsoft.com/office/drawing/2014/main" id="{ABA72FC3-F32D-8062-B6B4-D907293E4A12}"/>
              </a:ext>
            </a:extLst>
          </p:cNvPr>
          <p:cNvSpPr>
            <a:spLocks noGrp="1"/>
          </p:cNvSpPr>
          <p:nvPr>
            <p:ph sz="quarter" idx="21"/>
          </p:nvPr>
        </p:nvSpPr>
        <p:spPr>
          <a:xfrm>
            <a:off x="4827588" y="112871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Content Placeholder 25">
            <a:extLst>
              <a:ext uri="{FF2B5EF4-FFF2-40B4-BE49-F238E27FC236}">
                <a16:creationId xmlns:a16="http://schemas.microsoft.com/office/drawing/2014/main" id="{A809BE10-F6F6-3D2E-28DC-F34EAFA105FA}"/>
              </a:ext>
            </a:extLst>
          </p:cNvPr>
          <p:cNvSpPr>
            <a:spLocks noGrp="1"/>
          </p:cNvSpPr>
          <p:nvPr>
            <p:ph sz="quarter" idx="22"/>
          </p:nvPr>
        </p:nvSpPr>
        <p:spPr>
          <a:xfrm>
            <a:off x="4827588" y="171926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Content Placeholder 27">
            <a:extLst>
              <a:ext uri="{FF2B5EF4-FFF2-40B4-BE49-F238E27FC236}">
                <a16:creationId xmlns:a16="http://schemas.microsoft.com/office/drawing/2014/main" id="{9EAD1F78-8B9D-A751-47AF-C3B21F4ADFEB}"/>
              </a:ext>
            </a:extLst>
          </p:cNvPr>
          <p:cNvSpPr>
            <a:spLocks noGrp="1"/>
          </p:cNvSpPr>
          <p:nvPr>
            <p:ph sz="quarter" idx="23"/>
          </p:nvPr>
        </p:nvSpPr>
        <p:spPr>
          <a:xfrm>
            <a:off x="4827588" y="230981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Content Placeholder 29">
            <a:extLst>
              <a:ext uri="{FF2B5EF4-FFF2-40B4-BE49-F238E27FC236}">
                <a16:creationId xmlns:a16="http://schemas.microsoft.com/office/drawing/2014/main" id="{CB89E724-2231-FC7C-A540-D7989558712C}"/>
              </a:ext>
            </a:extLst>
          </p:cNvPr>
          <p:cNvSpPr>
            <a:spLocks noGrp="1"/>
          </p:cNvSpPr>
          <p:nvPr>
            <p:ph sz="quarter" idx="24"/>
          </p:nvPr>
        </p:nvSpPr>
        <p:spPr>
          <a:xfrm>
            <a:off x="4827588" y="290036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Content Placeholder 31">
            <a:extLst>
              <a:ext uri="{FF2B5EF4-FFF2-40B4-BE49-F238E27FC236}">
                <a16:creationId xmlns:a16="http://schemas.microsoft.com/office/drawing/2014/main" id="{A5F7F3EC-5606-549C-D111-E17C4CD22289}"/>
              </a:ext>
            </a:extLst>
          </p:cNvPr>
          <p:cNvSpPr>
            <a:spLocks noGrp="1"/>
          </p:cNvSpPr>
          <p:nvPr>
            <p:ph sz="quarter" idx="25"/>
          </p:nvPr>
        </p:nvSpPr>
        <p:spPr>
          <a:xfrm>
            <a:off x="4827588" y="3482975"/>
            <a:ext cx="3859212"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4" name="Content Placeholder 33">
            <a:extLst>
              <a:ext uri="{FF2B5EF4-FFF2-40B4-BE49-F238E27FC236}">
                <a16:creationId xmlns:a16="http://schemas.microsoft.com/office/drawing/2014/main" id="{90B31E12-25AA-3878-E140-22F8FF89B670}"/>
              </a:ext>
            </a:extLst>
          </p:cNvPr>
          <p:cNvSpPr>
            <a:spLocks noGrp="1"/>
          </p:cNvSpPr>
          <p:nvPr>
            <p:ph sz="quarter" idx="26"/>
          </p:nvPr>
        </p:nvSpPr>
        <p:spPr>
          <a:xfrm>
            <a:off x="4827588" y="4065588"/>
            <a:ext cx="3859212" cy="3825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6" name="Content Placeholder 35">
            <a:extLst>
              <a:ext uri="{FF2B5EF4-FFF2-40B4-BE49-F238E27FC236}">
                <a16:creationId xmlns:a16="http://schemas.microsoft.com/office/drawing/2014/main" id="{A1A51E1E-F893-E38A-248C-ADEA6288B155}"/>
              </a:ext>
            </a:extLst>
          </p:cNvPr>
          <p:cNvSpPr>
            <a:spLocks noGrp="1"/>
          </p:cNvSpPr>
          <p:nvPr>
            <p:ph sz="quarter" idx="27"/>
          </p:nvPr>
        </p:nvSpPr>
        <p:spPr>
          <a:xfrm>
            <a:off x="4827588" y="4620604"/>
            <a:ext cx="3859212" cy="366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8" name="Content Placeholder 37">
            <a:extLst>
              <a:ext uri="{FF2B5EF4-FFF2-40B4-BE49-F238E27FC236}">
                <a16:creationId xmlns:a16="http://schemas.microsoft.com/office/drawing/2014/main" id="{8C90E203-D626-4BA0-EFEB-1781C3EE1903}"/>
              </a:ext>
            </a:extLst>
          </p:cNvPr>
          <p:cNvSpPr>
            <a:spLocks noGrp="1"/>
          </p:cNvSpPr>
          <p:nvPr>
            <p:ph sz="quarter" idx="28"/>
          </p:nvPr>
        </p:nvSpPr>
        <p:spPr>
          <a:xfrm>
            <a:off x="4827588" y="5159375"/>
            <a:ext cx="3859212"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0" name="Content Placeholder 39">
            <a:extLst>
              <a:ext uri="{FF2B5EF4-FFF2-40B4-BE49-F238E27FC236}">
                <a16:creationId xmlns:a16="http://schemas.microsoft.com/office/drawing/2014/main" id="{DB79D3FE-B20D-0317-2605-222F81CE296C}"/>
              </a:ext>
            </a:extLst>
          </p:cNvPr>
          <p:cNvSpPr>
            <a:spLocks noGrp="1"/>
          </p:cNvSpPr>
          <p:nvPr>
            <p:ph sz="quarter" idx="29"/>
          </p:nvPr>
        </p:nvSpPr>
        <p:spPr>
          <a:xfrm>
            <a:off x="4827588" y="5720742"/>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01814809"/>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Shape 24"/>
        <p:cNvGrpSpPr/>
        <p:nvPr/>
      </p:nvGrpSpPr>
      <p:grpSpPr>
        <a:xfrm>
          <a:off x="0" y="0"/>
          <a:ext cx="0" cy="0"/>
          <a:chOff x="0" y="0"/>
          <a:chExt cx="0" cy="0"/>
        </a:xfrm>
      </p:grpSpPr>
      <p:sp>
        <p:nvSpPr>
          <p:cNvPr id="25"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00F45AE3-EB76-41DE-97B2-CFE79B73D3C6}"/>
              </a:ext>
            </a:extLst>
          </p:cNvPr>
          <p:cNvSpPr>
            <a:spLocks noGrp="1"/>
          </p:cNvSpPr>
          <p:nvPr>
            <p:ph sz="quarter" idx="13"/>
          </p:nvPr>
        </p:nvSpPr>
        <p:spPr>
          <a:xfrm>
            <a:off x="457200" y="1441450"/>
            <a:ext cx="8232775" cy="470996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8" name="Shape 28"/>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29" name="Shape 29"/>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Thre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 name="Content Placeholder 2">
            <a:extLst>
              <a:ext uri="{FF2B5EF4-FFF2-40B4-BE49-F238E27FC236}">
                <a16:creationId xmlns:a16="http://schemas.microsoft.com/office/drawing/2014/main" id="{6F503D41-401A-43DB-9BC0-38F51965B892}"/>
              </a:ext>
            </a:extLst>
          </p:cNvPr>
          <p:cNvSpPr>
            <a:spLocks noGrp="1"/>
          </p:cNvSpPr>
          <p:nvPr>
            <p:ph sz="quarter" idx="15"/>
          </p:nvPr>
        </p:nvSpPr>
        <p:spPr>
          <a:xfrm>
            <a:off x="457200" y="1556327"/>
            <a:ext cx="3635375" cy="4520623"/>
          </a:xfrm>
        </p:spPr>
        <p:txBody>
          <a:bodyPr/>
          <a:lstStyle/>
          <a:p>
            <a:pPr lvl="0"/>
            <a:r>
              <a:rPr lang="en-US" dirty="0"/>
              <a:t>Edit Master text styles</a:t>
            </a:r>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234542" y="1556327"/>
            <a:ext cx="4452257" cy="2267528"/>
          </a:xfrm>
        </p:spPr>
        <p:txBody>
          <a:bodyPr/>
          <a:lstStyle/>
          <a:p>
            <a:pPr lvl="0"/>
            <a:r>
              <a:rPr lang="en-US" dirty="0"/>
              <a:t>Edit Master text styles</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234542" y="3971925"/>
            <a:ext cx="4452258" cy="2105025"/>
          </a:xfrm>
        </p:spPr>
        <p:txBody>
          <a:bodyPr/>
          <a:lstStyle/>
          <a:p>
            <a:pPr lvl="0"/>
            <a:r>
              <a:rPr lang="en-US" dirty="0"/>
              <a:t>Edit Master text styles</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2769062533"/>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wo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457200" y="1552575"/>
            <a:ext cx="3991970" cy="4438650"/>
          </a:xfrm>
        </p:spPr>
        <p:txBody>
          <a:bodyPr/>
          <a:lstStyle>
            <a:lvl1pPr>
              <a:defRPr/>
            </a:lvl1pPr>
          </a:lstStyle>
          <a:p>
            <a:pPr lvl="0"/>
            <a:r>
              <a:rPr lang="en-US" dirty="0"/>
              <a:t>Click to add text</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4694830" y="1552575"/>
            <a:ext cx="3991970" cy="4438650"/>
          </a:xfrm>
        </p:spPr>
        <p:txBody>
          <a:bodyPr/>
          <a:lstStyle/>
          <a:p>
            <a:pPr lvl="0"/>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412611016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hree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457201" y="1552575"/>
            <a:ext cx="2595603" cy="4438650"/>
          </a:xfrm>
        </p:spPr>
        <p:txBody>
          <a:bodyPr/>
          <a:lstStyle/>
          <a:p>
            <a:pPr lvl="0"/>
            <a:r>
              <a:rPr lang="en-US" dirty="0"/>
              <a:t>Click to add text</a:t>
            </a:r>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3274199" y="1552575"/>
            <a:ext cx="2595602" cy="4438650"/>
          </a:xfrm>
        </p:spPr>
        <p:txBody>
          <a:bodyPr/>
          <a:lstStyle>
            <a:lvl1pPr>
              <a:defRPr/>
            </a:lvl1pPr>
          </a:lstStyle>
          <a:p>
            <a:pPr lvl="0"/>
            <a:r>
              <a:rPr lang="en-US" dirty="0"/>
              <a:t>Click to add text</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hasCustomPrompt="1"/>
          </p:nvPr>
        </p:nvSpPr>
        <p:spPr>
          <a:xfrm>
            <a:off x="6091197" y="1552575"/>
            <a:ext cx="2595603" cy="4438650"/>
          </a:xfrm>
        </p:spPr>
        <p:txBody>
          <a:bodyPr/>
          <a:lstStyle/>
          <a:p>
            <a:pPr lvl="0"/>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416443381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Four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457200" y="1552575"/>
            <a:ext cx="1885950" cy="4438650"/>
          </a:xfrm>
        </p:spPr>
        <p:txBody>
          <a:bodyPr/>
          <a:lstStyle>
            <a:lvl1pPr>
              <a:defRPr/>
            </a:lvl1pPr>
          </a:lstStyle>
          <a:p>
            <a:pPr lvl="0"/>
            <a:r>
              <a:rPr lang="en-US" dirty="0"/>
              <a:t>Click to add text</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2572593" y="1552575"/>
            <a:ext cx="1885950" cy="4438650"/>
          </a:xfrm>
        </p:spPr>
        <p:txBody>
          <a:bodyPr/>
          <a:lstStyle/>
          <a:p>
            <a:pPr lvl="0"/>
            <a:r>
              <a:rPr lang="en-US" dirty="0"/>
              <a:t>Click to add text</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hasCustomPrompt="1"/>
          </p:nvPr>
        </p:nvSpPr>
        <p:spPr>
          <a:xfrm>
            <a:off x="4687986" y="1552575"/>
            <a:ext cx="1885950" cy="4438650"/>
          </a:xfrm>
        </p:spPr>
        <p:txBody>
          <a:bodyPr/>
          <a:lstStyle/>
          <a:p>
            <a:pPr lvl="0"/>
            <a:r>
              <a:rPr lang="en-US" dirty="0"/>
              <a:t>Click to add text</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hasCustomPrompt="1"/>
          </p:nvPr>
        </p:nvSpPr>
        <p:spPr>
          <a:xfrm>
            <a:off x="6803378" y="1552575"/>
            <a:ext cx="1885950" cy="4438650"/>
          </a:xfrm>
        </p:spPr>
        <p:txBody>
          <a:bodyPr/>
          <a:lstStyle/>
          <a:p>
            <a:pPr marL="256032" marR="0" lvl="0" indent="-154432" algn="l" defTabSz="914400" rtl="0" eaLnBrk="1" fontAlgn="auto" latinLnBrk="0" hangingPunct="1">
              <a:lnSpc>
                <a:spcPct val="100000"/>
              </a:lnSpc>
              <a:spcBef>
                <a:spcPts val="1500"/>
              </a:spcBef>
              <a:spcAft>
                <a:spcPts val="0"/>
              </a:spcAft>
              <a:buClr>
                <a:srgbClr val="007FA3"/>
              </a:buClr>
              <a:buSzPct val="100000"/>
              <a:buFont typeface="Arial"/>
              <a:buChar char="•"/>
              <a:tabLst/>
              <a:defRPr/>
            </a:pPr>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301121478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Fiv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47C1B-C047-7B02-4D88-804B90233896}"/>
              </a:ext>
            </a:extLst>
          </p:cNvPr>
          <p:cNvSpPr>
            <a:spLocks noGrp="1"/>
          </p:cNvSpPr>
          <p:nvPr>
            <p:ph type="title"/>
          </p:nvPr>
        </p:nvSpPr>
        <p:spPr>
          <a:xfrm>
            <a:off x="457200" y="349194"/>
            <a:ext cx="8229600" cy="590349"/>
          </a:xfrm>
        </p:spPr>
        <p:txBody>
          <a:bodyPr lIns="0" tIns="18000" rIns="0" bIns="18000" anchor="ctr" anchorCtr="0">
            <a:spAutoFit/>
          </a:bodyPr>
          <a:lstStyle>
            <a:lvl1pPr>
              <a:defRPr sz="3600">
                <a:latin typeface="+mj-lt"/>
              </a:defRPr>
            </a:lvl1pPr>
          </a:lstStyle>
          <a:p>
            <a:r>
              <a:rPr lang="en-US"/>
              <a:t>Click to edit Master title style</a:t>
            </a:r>
          </a:p>
        </p:txBody>
      </p:sp>
      <p:sp>
        <p:nvSpPr>
          <p:cNvPr id="3" name="Date Placeholder 2">
            <a:extLst>
              <a:ext uri="{FF2B5EF4-FFF2-40B4-BE49-F238E27FC236}">
                <a16:creationId xmlns:a16="http://schemas.microsoft.com/office/drawing/2014/main" id="{74FD910A-3690-45F8-A412-24DF80B21CB5}"/>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83B3019D-CCCC-2B72-EE55-406C5B5A635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6" name="Content Placeholder 5">
            <a:extLst>
              <a:ext uri="{FF2B5EF4-FFF2-40B4-BE49-F238E27FC236}">
                <a16:creationId xmlns:a16="http://schemas.microsoft.com/office/drawing/2014/main" id="{209443E3-365E-BA1E-8B2A-10A135AD2092}"/>
              </a:ext>
            </a:extLst>
          </p:cNvPr>
          <p:cNvSpPr>
            <a:spLocks noGrp="1"/>
          </p:cNvSpPr>
          <p:nvPr>
            <p:ph sz="quarter" idx="12"/>
          </p:nvPr>
        </p:nvSpPr>
        <p:spPr>
          <a:xfrm>
            <a:off x="457200" y="11287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9044276D-146B-04ED-2584-1F73C8038773}"/>
              </a:ext>
            </a:extLst>
          </p:cNvPr>
          <p:cNvSpPr>
            <a:spLocks noGrp="1"/>
          </p:cNvSpPr>
          <p:nvPr>
            <p:ph sz="quarter" idx="13"/>
          </p:nvPr>
        </p:nvSpPr>
        <p:spPr>
          <a:xfrm>
            <a:off x="457200" y="17192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F891326B-7E5C-52F7-0192-B341BB04E38C}"/>
              </a:ext>
            </a:extLst>
          </p:cNvPr>
          <p:cNvSpPr>
            <a:spLocks noGrp="1"/>
          </p:cNvSpPr>
          <p:nvPr>
            <p:ph sz="quarter" idx="14"/>
          </p:nvPr>
        </p:nvSpPr>
        <p:spPr>
          <a:xfrm>
            <a:off x="457200" y="23098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09284C2C-13D5-AC31-6F9E-7C535AD9B9A7}"/>
              </a:ext>
            </a:extLst>
          </p:cNvPr>
          <p:cNvSpPr>
            <a:spLocks noGrp="1"/>
          </p:cNvSpPr>
          <p:nvPr>
            <p:ph sz="quarter" idx="15"/>
          </p:nvPr>
        </p:nvSpPr>
        <p:spPr>
          <a:xfrm>
            <a:off x="457200" y="29003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id="{8DDCA9F7-C6FB-1AC7-C5ED-58EF2A043F48}"/>
              </a:ext>
            </a:extLst>
          </p:cNvPr>
          <p:cNvSpPr>
            <a:spLocks noGrp="1"/>
          </p:cNvSpPr>
          <p:nvPr>
            <p:ph sz="quarter" idx="16"/>
          </p:nvPr>
        </p:nvSpPr>
        <p:spPr>
          <a:xfrm>
            <a:off x="457200" y="3482367"/>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a:extLst>
              <a:ext uri="{FF2B5EF4-FFF2-40B4-BE49-F238E27FC236}">
                <a16:creationId xmlns:a16="http://schemas.microsoft.com/office/drawing/2014/main" id="{0C135434-5DEA-7BC0-61C9-0B301DBFF87E}"/>
              </a:ext>
            </a:extLst>
          </p:cNvPr>
          <p:cNvSpPr>
            <a:spLocks noGrp="1"/>
          </p:cNvSpPr>
          <p:nvPr>
            <p:ph sz="quarter" idx="17"/>
          </p:nvPr>
        </p:nvSpPr>
        <p:spPr>
          <a:xfrm>
            <a:off x="457200" y="4046908"/>
            <a:ext cx="4054475"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17">
            <a:extLst>
              <a:ext uri="{FF2B5EF4-FFF2-40B4-BE49-F238E27FC236}">
                <a16:creationId xmlns:a16="http://schemas.microsoft.com/office/drawing/2014/main" id="{59A0236E-3561-F887-304D-CFB6EA8D1A6E}"/>
              </a:ext>
            </a:extLst>
          </p:cNvPr>
          <p:cNvSpPr>
            <a:spLocks noGrp="1"/>
          </p:cNvSpPr>
          <p:nvPr>
            <p:ph sz="quarter" idx="18"/>
          </p:nvPr>
        </p:nvSpPr>
        <p:spPr>
          <a:xfrm>
            <a:off x="457200" y="4594596"/>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19">
            <a:extLst>
              <a:ext uri="{FF2B5EF4-FFF2-40B4-BE49-F238E27FC236}">
                <a16:creationId xmlns:a16="http://schemas.microsoft.com/office/drawing/2014/main" id="{144A09B1-2F29-7C12-1DAC-0B0FFC979105}"/>
              </a:ext>
            </a:extLst>
          </p:cNvPr>
          <p:cNvSpPr>
            <a:spLocks noGrp="1"/>
          </p:cNvSpPr>
          <p:nvPr>
            <p:ph sz="quarter" idx="19"/>
          </p:nvPr>
        </p:nvSpPr>
        <p:spPr>
          <a:xfrm>
            <a:off x="457200" y="51419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21">
            <a:extLst>
              <a:ext uri="{FF2B5EF4-FFF2-40B4-BE49-F238E27FC236}">
                <a16:creationId xmlns:a16="http://schemas.microsoft.com/office/drawing/2014/main" id="{39013FA0-5A0E-D6E7-CEC3-F8E4CF88BD53}"/>
              </a:ext>
            </a:extLst>
          </p:cNvPr>
          <p:cNvSpPr>
            <a:spLocks noGrp="1"/>
          </p:cNvSpPr>
          <p:nvPr>
            <p:ph sz="quarter" idx="20"/>
          </p:nvPr>
        </p:nvSpPr>
        <p:spPr>
          <a:xfrm>
            <a:off x="457200" y="5695104"/>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Content Placeholder 23">
            <a:extLst>
              <a:ext uri="{FF2B5EF4-FFF2-40B4-BE49-F238E27FC236}">
                <a16:creationId xmlns:a16="http://schemas.microsoft.com/office/drawing/2014/main" id="{ABA72FC3-F32D-8062-B6B4-D907293E4A12}"/>
              </a:ext>
            </a:extLst>
          </p:cNvPr>
          <p:cNvSpPr>
            <a:spLocks noGrp="1"/>
          </p:cNvSpPr>
          <p:nvPr>
            <p:ph sz="quarter" idx="21"/>
          </p:nvPr>
        </p:nvSpPr>
        <p:spPr>
          <a:xfrm>
            <a:off x="4827588" y="112871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Content Placeholder 25">
            <a:extLst>
              <a:ext uri="{FF2B5EF4-FFF2-40B4-BE49-F238E27FC236}">
                <a16:creationId xmlns:a16="http://schemas.microsoft.com/office/drawing/2014/main" id="{A809BE10-F6F6-3D2E-28DC-F34EAFA105FA}"/>
              </a:ext>
            </a:extLst>
          </p:cNvPr>
          <p:cNvSpPr>
            <a:spLocks noGrp="1"/>
          </p:cNvSpPr>
          <p:nvPr>
            <p:ph sz="quarter" idx="22"/>
          </p:nvPr>
        </p:nvSpPr>
        <p:spPr>
          <a:xfrm>
            <a:off x="4827588" y="171926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Content Placeholder 27">
            <a:extLst>
              <a:ext uri="{FF2B5EF4-FFF2-40B4-BE49-F238E27FC236}">
                <a16:creationId xmlns:a16="http://schemas.microsoft.com/office/drawing/2014/main" id="{9EAD1F78-8B9D-A751-47AF-C3B21F4ADFEB}"/>
              </a:ext>
            </a:extLst>
          </p:cNvPr>
          <p:cNvSpPr>
            <a:spLocks noGrp="1"/>
          </p:cNvSpPr>
          <p:nvPr>
            <p:ph sz="quarter" idx="23"/>
          </p:nvPr>
        </p:nvSpPr>
        <p:spPr>
          <a:xfrm>
            <a:off x="4827588" y="230981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Content Placeholder 29">
            <a:extLst>
              <a:ext uri="{FF2B5EF4-FFF2-40B4-BE49-F238E27FC236}">
                <a16:creationId xmlns:a16="http://schemas.microsoft.com/office/drawing/2014/main" id="{CB89E724-2231-FC7C-A540-D7989558712C}"/>
              </a:ext>
            </a:extLst>
          </p:cNvPr>
          <p:cNvSpPr>
            <a:spLocks noGrp="1"/>
          </p:cNvSpPr>
          <p:nvPr>
            <p:ph sz="quarter" idx="24"/>
          </p:nvPr>
        </p:nvSpPr>
        <p:spPr>
          <a:xfrm>
            <a:off x="4827588" y="290036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Content Placeholder 31">
            <a:extLst>
              <a:ext uri="{FF2B5EF4-FFF2-40B4-BE49-F238E27FC236}">
                <a16:creationId xmlns:a16="http://schemas.microsoft.com/office/drawing/2014/main" id="{A5F7F3EC-5606-549C-D111-E17C4CD22289}"/>
              </a:ext>
            </a:extLst>
          </p:cNvPr>
          <p:cNvSpPr>
            <a:spLocks noGrp="1"/>
          </p:cNvSpPr>
          <p:nvPr>
            <p:ph sz="quarter" idx="25"/>
          </p:nvPr>
        </p:nvSpPr>
        <p:spPr>
          <a:xfrm>
            <a:off x="4827588" y="3482975"/>
            <a:ext cx="3859212"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4" name="Content Placeholder 33">
            <a:extLst>
              <a:ext uri="{FF2B5EF4-FFF2-40B4-BE49-F238E27FC236}">
                <a16:creationId xmlns:a16="http://schemas.microsoft.com/office/drawing/2014/main" id="{90B31E12-25AA-3878-E140-22F8FF89B670}"/>
              </a:ext>
            </a:extLst>
          </p:cNvPr>
          <p:cNvSpPr>
            <a:spLocks noGrp="1"/>
          </p:cNvSpPr>
          <p:nvPr>
            <p:ph sz="quarter" idx="26"/>
          </p:nvPr>
        </p:nvSpPr>
        <p:spPr>
          <a:xfrm>
            <a:off x="4827588" y="4065588"/>
            <a:ext cx="3859212" cy="3825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6" name="Content Placeholder 35">
            <a:extLst>
              <a:ext uri="{FF2B5EF4-FFF2-40B4-BE49-F238E27FC236}">
                <a16:creationId xmlns:a16="http://schemas.microsoft.com/office/drawing/2014/main" id="{A1A51E1E-F893-E38A-248C-ADEA6288B155}"/>
              </a:ext>
            </a:extLst>
          </p:cNvPr>
          <p:cNvSpPr>
            <a:spLocks noGrp="1"/>
          </p:cNvSpPr>
          <p:nvPr>
            <p:ph sz="quarter" idx="27"/>
          </p:nvPr>
        </p:nvSpPr>
        <p:spPr>
          <a:xfrm>
            <a:off x="4827588" y="4620604"/>
            <a:ext cx="3859212" cy="366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8" name="Content Placeholder 37">
            <a:extLst>
              <a:ext uri="{FF2B5EF4-FFF2-40B4-BE49-F238E27FC236}">
                <a16:creationId xmlns:a16="http://schemas.microsoft.com/office/drawing/2014/main" id="{8C90E203-D626-4BA0-EFEB-1781C3EE1903}"/>
              </a:ext>
            </a:extLst>
          </p:cNvPr>
          <p:cNvSpPr>
            <a:spLocks noGrp="1"/>
          </p:cNvSpPr>
          <p:nvPr>
            <p:ph sz="quarter" idx="28"/>
          </p:nvPr>
        </p:nvSpPr>
        <p:spPr>
          <a:xfrm>
            <a:off x="4827588" y="5159375"/>
            <a:ext cx="3859212"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0" name="Content Placeholder 39">
            <a:extLst>
              <a:ext uri="{FF2B5EF4-FFF2-40B4-BE49-F238E27FC236}">
                <a16:creationId xmlns:a16="http://schemas.microsoft.com/office/drawing/2014/main" id="{DB79D3FE-B20D-0317-2605-222F81CE296C}"/>
              </a:ext>
            </a:extLst>
          </p:cNvPr>
          <p:cNvSpPr>
            <a:spLocks noGrp="1"/>
          </p:cNvSpPr>
          <p:nvPr>
            <p:ph sz="quarter" idx="29"/>
          </p:nvPr>
        </p:nvSpPr>
        <p:spPr>
          <a:xfrm>
            <a:off x="4827588" y="5720742"/>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01476277"/>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Figure + Caption">
    <p:spTree>
      <p:nvGrpSpPr>
        <p:cNvPr id="1" name="Shape 53"/>
        <p:cNvGrpSpPr/>
        <p:nvPr/>
      </p:nvGrpSpPr>
      <p:grpSpPr>
        <a:xfrm>
          <a:off x="0" y="0"/>
          <a:ext cx="0" cy="0"/>
          <a:chOff x="0" y="0"/>
          <a:chExt cx="0" cy="0"/>
        </a:xfrm>
      </p:grpSpPr>
      <p:sp>
        <p:nvSpPr>
          <p:cNvPr id="54" name="Tile Placeholder"/>
          <p:cNvSpPr txBox="1">
            <a:spLocks noGrp="1"/>
          </p:cNvSpPr>
          <p:nvPr>
            <p:ph type="title" hasCustomPrompt="1"/>
          </p:nvPr>
        </p:nvSpPr>
        <p:spPr>
          <a:xfrm>
            <a:off x="457200" y="228600"/>
            <a:ext cx="8229600" cy="106679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dirty="0"/>
              <a:t>Click to add figure number and title</a:t>
            </a:r>
            <a:endParaRPr dirty="0"/>
          </a:p>
        </p:txBody>
      </p:sp>
      <p:sp>
        <p:nvSpPr>
          <p:cNvPr id="3" name="Picture Placeholder 2">
            <a:extLst>
              <a:ext uri="{FF2B5EF4-FFF2-40B4-BE49-F238E27FC236}">
                <a16:creationId xmlns:a16="http://schemas.microsoft.com/office/drawing/2014/main" id="{AD3CB993-AC2C-41C5-BFB7-F2499EC1A14C}"/>
              </a:ext>
            </a:extLst>
          </p:cNvPr>
          <p:cNvSpPr>
            <a:spLocks noGrp="1"/>
          </p:cNvSpPr>
          <p:nvPr>
            <p:ph type="pic" sz="quarter" idx="13"/>
          </p:nvPr>
        </p:nvSpPr>
        <p:spPr>
          <a:xfrm>
            <a:off x="457200" y="1512888"/>
            <a:ext cx="8232775" cy="3417887"/>
          </a:xfrm>
        </p:spPr>
        <p:txBody>
          <a:bodyPr/>
          <a:lstStyle/>
          <a:p>
            <a:endParaRPr lang="en-US" dirty="0"/>
          </a:p>
        </p:txBody>
      </p:sp>
      <p:sp>
        <p:nvSpPr>
          <p:cNvPr id="55" name="Content Placeholder"/>
          <p:cNvSpPr txBox="1">
            <a:spLocks noGrp="1"/>
          </p:cNvSpPr>
          <p:nvPr>
            <p:ph type="body" idx="1" hasCustomPrompt="1"/>
          </p:nvPr>
        </p:nvSpPr>
        <p:spPr>
          <a:xfrm>
            <a:off x="457200" y="5050971"/>
            <a:ext cx="8229600" cy="1018367"/>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1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r>
              <a:rPr lang="en-US" dirty="0"/>
              <a:t>Click to add caption</a:t>
            </a:r>
            <a:endParaRPr dirty="0"/>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88509755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Figure + Caption">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14F033AD-BE5C-406D-991C-6AC56003E70C}"/>
              </a:ext>
            </a:extLst>
          </p:cNvPr>
          <p:cNvSpPr>
            <a:spLocks noGrp="1"/>
          </p:cNvSpPr>
          <p:nvPr>
            <p:ph type="title" hasCustomPrompt="1"/>
          </p:nvPr>
        </p:nvSpPr>
        <p:spPr/>
        <p:txBody>
          <a:bodyPr/>
          <a:lstStyle>
            <a:lvl1pPr>
              <a:defRPr sz="3600">
                <a:latin typeface="+mj-lt"/>
              </a:defRPr>
            </a:lvl1pPr>
          </a:lstStyle>
          <a:p>
            <a:r>
              <a:rPr lang="en-US" dirty="0"/>
              <a:t>Click to add figure number and title</a:t>
            </a:r>
          </a:p>
        </p:txBody>
      </p:sp>
      <p:sp>
        <p:nvSpPr>
          <p:cNvPr id="7" name="Content Placeholder 6">
            <a:extLst>
              <a:ext uri="{FF2B5EF4-FFF2-40B4-BE49-F238E27FC236}">
                <a16:creationId xmlns:a16="http://schemas.microsoft.com/office/drawing/2014/main" id="{9E6B7D3D-89C9-4133-8D8A-D779EB3D311D}"/>
              </a:ext>
            </a:extLst>
          </p:cNvPr>
          <p:cNvSpPr>
            <a:spLocks noGrp="1"/>
          </p:cNvSpPr>
          <p:nvPr>
            <p:ph sz="quarter" idx="13" hasCustomPrompt="1"/>
          </p:nvPr>
        </p:nvSpPr>
        <p:spPr>
          <a:xfrm>
            <a:off x="457200" y="1481138"/>
            <a:ext cx="4484688" cy="3754437"/>
          </a:xfrm>
        </p:spPr>
        <p:txBody>
          <a:bodyPr/>
          <a:lstStyle>
            <a:lvl1pPr>
              <a:defRPr/>
            </a:lvl1pPr>
          </a:lstStyle>
          <a:p>
            <a:pPr lvl="0"/>
            <a:r>
              <a:rPr lang="en-US" dirty="0"/>
              <a:t>Figure</a:t>
            </a:r>
          </a:p>
        </p:txBody>
      </p:sp>
      <p:sp>
        <p:nvSpPr>
          <p:cNvPr id="12" name="Content Placeholder 11">
            <a:extLst>
              <a:ext uri="{FF2B5EF4-FFF2-40B4-BE49-F238E27FC236}">
                <a16:creationId xmlns:a16="http://schemas.microsoft.com/office/drawing/2014/main" id="{5CAF3FDC-1BE7-4A19-A3D7-02B55407B90B}"/>
              </a:ext>
            </a:extLst>
          </p:cNvPr>
          <p:cNvSpPr>
            <a:spLocks noGrp="1"/>
          </p:cNvSpPr>
          <p:nvPr>
            <p:ph sz="quarter" idx="15" hasCustomPrompt="1"/>
          </p:nvPr>
        </p:nvSpPr>
        <p:spPr>
          <a:xfrm>
            <a:off x="5048250" y="1481138"/>
            <a:ext cx="3638550" cy="3754437"/>
          </a:xfrm>
        </p:spPr>
        <p:txBody>
          <a:bodyPr/>
          <a:lstStyle/>
          <a:p>
            <a:pPr lvl="0"/>
            <a:r>
              <a:rPr lang="en-US" dirty="0"/>
              <a:t>Click to add text</a:t>
            </a:r>
          </a:p>
        </p:txBody>
      </p:sp>
      <p:sp>
        <p:nvSpPr>
          <p:cNvPr id="8" name="Content Placeholder 7">
            <a:extLst>
              <a:ext uri="{FF2B5EF4-FFF2-40B4-BE49-F238E27FC236}">
                <a16:creationId xmlns:a16="http://schemas.microsoft.com/office/drawing/2014/main" id="{BF40E849-7663-4A75-9BC8-012C23AC44DF}"/>
              </a:ext>
            </a:extLst>
          </p:cNvPr>
          <p:cNvSpPr>
            <a:spLocks noGrp="1"/>
          </p:cNvSpPr>
          <p:nvPr>
            <p:ph sz="quarter" idx="14" hasCustomPrompt="1"/>
          </p:nvPr>
        </p:nvSpPr>
        <p:spPr>
          <a:xfrm>
            <a:off x="457200" y="5343525"/>
            <a:ext cx="8229600" cy="533400"/>
          </a:xfrm>
        </p:spPr>
        <p:txBody>
          <a:bodyPr/>
          <a:lstStyle>
            <a:lvl1pPr>
              <a:defRPr/>
            </a:lvl1pPr>
          </a:lstStyle>
          <a:p>
            <a:pPr lvl="0"/>
            <a:r>
              <a:rPr lang="en-US" dirty="0"/>
              <a:t>Caption</a:t>
            </a:r>
          </a:p>
        </p:txBody>
      </p:sp>
      <p:sp>
        <p:nvSpPr>
          <p:cNvPr id="3" name="Date Placeholder 2">
            <a:extLst>
              <a:ext uri="{FF2B5EF4-FFF2-40B4-BE49-F238E27FC236}">
                <a16:creationId xmlns:a16="http://schemas.microsoft.com/office/drawing/2014/main" id="{A50D4E5D-00F7-4DC6-9BB0-713B8A0DA354}"/>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18AF4094-2296-458C-908A-D778D0DF5AF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166042820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Label Layout 1">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065091D3-E16C-46AB-9A90-0F52CA812534}"/>
              </a:ext>
            </a:extLst>
          </p:cNvPr>
          <p:cNvSpPr>
            <a:spLocks noGrp="1"/>
          </p:cNvSpPr>
          <p:nvPr>
            <p:ph type="title" hasCustomPrompt="1"/>
          </p:nvPr>
        </p:nvSpPr>
        <p:spPr/>
        <p:txBody>
          <a:bodyPr/>
          <a:lstStyle>
            <a:lvl1pPr>
              <a:defRPr sz="3600">
                <a:latin typeface="+mj-lt"/>
              </a:defRPr>
            </a:lvl1pPr>
          </a:lstStyle>
          <a:p>
            <a:r>
              <a:rPr lang="en-US" dirty="0"/>
              <a:t>Click to add title</a:t>
            </a:r>
          </a:p>
        </p:txBody>
      </p:sp>
      <p:sp>
        <p:nvSpPr>
          <p:cNvPr id="7" name="Image title">
            <a:extLst>
              <a:ext uri="{FF2B5EF4-FFF2-40B4-BE49-F238E27FC236}">
                <a16:creationId xmlns:a16="http://schemas.microsoft.com/office/drawing/2014/main" id="{CB345607-C53C-44AF-8929-3BDC4C617AB6}"/>
              </a:ext>
            </a:extLst>
          </p:cNvPr>
          <p:cNvSpPr>
            <a:spLocks noGrp="1"/>
          </p:cNvSpPr>
          <p:nvPr>
            <p:ph type="body" sz="quarter" idx="13" hasCustomPrompt="1"/>
          </p:nvPr>
        </p:nvSpPr>
        <p:spPr>
          <a:xfrm>
            <a:off x="2982913" y="4359275"/>
            <a:ext cx="3482975" cy="600075"/>
          </a:xfrm>
        </p:spPr>
        <p:txBody>
          <a:bodyPr/>
          <a:lstStyle>
            <a:lvl1pPr marL="101600" indent="0">
              <a:buNone/>
              <a:defRPr/>
            </a:lvl1pPr>
          </a:lstStyle>
          <a:p>
            <a:pPr lvl="0"/>
            <a:r>
              <a:rPr lang="en-US" dirty="0"/>
              <a:t>Image title</a:t>
            </a:r>
          </a:p>
        </p:txBody>
      </p:sp>
      <p:sp>
        <p:nvSpPr>
          <p:cNvPr id="9" name="Image">
            <a:extLst>
              <a:ext uri="{FF2B5EF4-FFF2-40B4-BE49-F238E27FC236}">
                <a16:creationId xmlns:a16="http://schemas.microsoft.com/office/drawing/2014/main" id="{C2661E64-2E71-47E6-A5A0-AC5348C08F51}"/>
              </a:ext>
            </a:extLst>
          </p:cNvPr>
          <p:cNvSpPr>
            <a:spLocks noGrp="1"/>
          </p:cNvSpPr>
          <p:nvPr>
            <p:ph type="pic" sz="quarter" idx="14" hasCustomPrompt="1"/>
          </p:nvPr>
        </p:nvSpPr>
        <p:spPr>
          <a:xfrm>
            <a:off x="2982912" y="1681163"/>
            <a:ext cx="3482975" cy="2559050"/>
          </a:xfrm>
        </p:spPr>
        <p:txBody>
          <a:bodyPr/>
          <a:lstStyle>
            <a:lvl1pPr marL="101600" indent="0">
              <a:buNone/>
              <a:defRPr/>
            </a:lvl1pPr>
          </a:lstStyle>
          <a:p>
            <a:r>
              <a:rPr lang="en-US" dirty="0"/>
              <a:t>Image</a:t>
            </a:r>
          </a:p>
        </p:txBody>
      </p:sp>
      <p:sp>
        <p:nvSpPr>
          <p:cNvPr id="11" name="Label 1">
            <a:extLst>
              <a:ext uri="{FF2B5EF4-FFF2-40B4-BE49-F238E27FC236}">
                <a16:creationId xmlns:a16="http://schemas.microsoft.com/office/drawing/2014/main" id="{3D0F2ED9-E212-40DC-A528-BE4A28DE88FD}"/>
              </a:ext>
            </a:extLst>
          </p:cNvPr>
          <p:cNvSpPr>
            <a:spLocks noGrp="1"/>
          </p:cNvSpPr>
          <p:nvPr>
            <p:ph type="body" sz="quarter" idx="15" hasCustomPrompt="1"/>
          </p:nvPr>
        </p:nvSpPr>
        <p:spPr>
          <a:xfrm>
            <a:off x="808109" y="1681163"/>
            <a:ext cx="1220716" cy="627062"/>
          </a:xfrm>
        </p:spPr>
        <p:txBody>
          <a:bodyPr/>
          <a:lstStyle>
            <a:lvl1pPr marL="101600" indent="0">
              <a:buNone/>
              <a:defRPr/>
            </a:lvl1pPr>
          </a:lstStyle>
          <a:p>
            <a:pPr lvl="0"/>
            <a:r>
              <a:rPr lang="en-US" dirty="0"/>
              <a:t>Label 1</a:t>
            </a:r>
          </a:p>
        </p:txBody>
      </p:sp>
      <p:sp>
        <p:nvSpPr>
          <p:cNvPr id="13" name="Label 2">
            <a:extLst>
              <a:ext uri="{FF2B5EF4-FFF2-40B4-BE49-F238E27FC236}">
                <a16:creationId xmlns:a16="http://schemas.microsoft.com/office/drawing/2014/main" id="{E8D9AEEF-5E99-48D4-B8C3-C5A995764DCA}"/>
              </a:ext>
            </a:extLst>
          </p:cNvPr>
          <p:cNvSpPr>
            <a:spLocks noGrp="1"/>
          </p:cNvSpPr>
          <p:nvPr>
            <p:ph type="body" sz="quarter" idx="16" hasCustomPrompt="1"/>
          </p:nvPr>
        </p:nvSpPr>
        <p:spPr>
          <a:xfrm>
            <a:off x="808109" y="2647157"/>
            <a:ext cx="1206500" cy="627062"/>
          </a:xfrm>
        </p:spPr>
        <p:txBody>
          <a:bodyPr/>
          <a:lstStyle>
            <a:lvl1pPr marL="101600" indent="0">
              <a:buNone/>
              <a:defRPr/>
            </a:lvl1pPr>
          </a:lstStyle>
          <a:p>
            <a:pPr lvl="0"/>
            <a:r>
              <a:rPr lang="en-US" dirty="0"/>
              <a:t>Label 2</a:t>
            </a:r>
          </a:p>
        </p:txBody>
      </p:sp>
      <p:sp>
        <p:nvSpPr>
          <p:cNvPr id="15" name="Label 3">
            <a:extLst>
              <a:ext uri="{FF2B5EF4-FFF2-40B4-BE49-F238E27FC236}">
                <a16:creationId xmlns:a16="http://schemas.microsoft.com/office/drawing/2014/main" id="{99D329CE-18C4-40A9-A508-1684979AC205}"/>
              </a:ext>
            </a:extLst>
          </p:cNvPr>
          <p:cNvSpPr>
            <a:spLocks noGrp="1"/>
          </p:cNvSpPr>
          <p:nvPr>
            <p:ph type="body" sz="quarter" idx="17" hasCustomPrompt="1"/>
          </p:nvPr>
        </p:nvSpPr>
        <p:spPr>
          <a:xfrm>
            <a:off x="808109" y="3613151"/>
            <a:ext cx="1206500" cy="627062"/>
          </a:xfrm>
        </p:spPr>
        <p:txBody>
          <a:bodyPr/>
          <a:lstStyle>
            <a:lvl1pPr marL="101600" indent="0">
              <a:buNone/>
              <a:defRPr/>
            </a:lvl1pPr>
          </a:lstStyle>
          <a:p>
            <a:pPr lvl="0"/>
            <a:r>
              <a:rPr lang="en-US" dirty="0"/>
              <a:t>Label 3</a:t>
            </a:r>
          </a:p>
        </p:txBody>
      </p:sp>
      <p:sp>
        <p:nvSpPr>
          <p:cNvPr id="17" name="Label 4">
            <a:extLst>
              <a:ext uri="{FF2B5EF4-FFF2-40B4-BE49-F238E27FC236}">
                <a16:creationId xmlns:a16="http://schemas.microsoft.com/office/drawing/2014/main" id="{AAE735D1-F9F4-4525-9ED5-F10A99DECCB8}"/>
              </a:ext>
            </a:extLst>
          </p:cNvPr>
          <p:cNvSpPr>
            <a:spLocks noGrp="1"/>
          </p:cNvSpPr>
          <p:nvPr>
            <p:ph type="body" sz="quarter" idx="18" hasCustomPrompt="1"/>
          </p:nvPr>
        </p:nvSpPr>
        <p:spPr>
          <a:xfrm>
            <a:off x="7381874" y="1681163"/>
            <a:ext cx="1304925" cy="627062"/>
          </a:xfrm>
        </p:spPr>
        <p:txBody>
          <a:bodyPr/>
          <a:lstStyle>
            <a:lvl1pPr marL="101600" indent="0">
              <a:buNone/>
              <a:defRPr/>
            </a:lvl1pPr>
          </a:lstStyle>
          <a:p>
            <a:pPr lvl="0"/>
            <a:r>
              <a:rPr lang="en-US" dirty="0"/>
              <a:t>Label 4</a:t>
            </a:r>
          </a:p>
        </p:txBody>
      </p:sp>
      <p:sp>
        <p:nvSpPr>
          <p:cNvPr id="19" name="Label 5">
            <a:extLst>
              <a:ext uri="{FF2B5EF4-FFF2-40B4-BE49-F238E27FC236}">
                <a16:creationId xmlns:a16="http://schemas.microsoft.com/office/drawing/2014/main" id="{43259E0C-9247-446E-9183-FBF70F8FD41C}"/>
              </a:ext>
            </a:extLst>
          </p:cNvPr>
          <p:cNvSpPr>
            <a:spLocks noGrp="1"/>
          </p:cNvSpPr>
          <p:nvPr>
            <p:ph type="body" sz="quarter" idx="19" hasCustomPrompt="1"/>
          </p:nvPr>
        </p:nvSpPr>
        <p:spPr>
          <a:xfrm>
            <a:off x="7381874" y="2651590"/>
            <a:ext cx="1304925" cy="618196"/>
          </a:xfrm>
        </p:spPr>
        <p:txBody>
          <a:bodyPr/>
          <a:lstStyle>
            <a:lvl1pPr marL="101600" indent="0">
              <a:buNone/>
              <a:defRPr/>
            </a:lvl1pPr>
          </a:lstStyle>
          <a:p>
            <a:pPr lvl="0"/>
            <a:r>
              <a:rPr lang="en-US" dirty="0"/>
              <a:t>Label 5</a:t>
            </a:r>
          </a:p>
        </p:txBody>
      </p:sp>
      <p:sp>
        <p:nvSpPr>
          <p:cNvPr id="21" name="Label 6">
            <a:extLst>
              <a:ext uri="{FF2B5EF4-FFF2-40B4-BE49-F238E27FC236}">
                <a16:creationId xmlns:a16="http://schemas.microsoft.com/office/drawing/2014/main" id="{111F58DF-A1C1-4DD6-ADE5-FC54A39F6757}"/>
              </a:ext>
            </a:extLst>
          </p:cNvPr>
          <p:cNvSpPr>
            <a:spLocks noGrp="1"/>
          </p:cNvSpPr>
          <p:nvPr>
            <p:ph type="body" sz="quarter" idx="20" hasCustomPrompt="1"/>
          </p:nvPr>
        </p:nvSpPr>
        <p:spPr>
          <a:xfrm>
            <a:off x="7381874" y="3613151"/>
            <a:ext cx="1304925" cy="627063"/>
          </a:xfrm>
        </p:spPr>
        <p:txBody>
          <a:bodyPr/>
          <a:lstStyle>
            <a:lvl1pPr marL="101600" indent="0">
              <a:buNone/>
              <a:defRPr/>
            </a:lvl1pPr>
          </a:lstStyle>
          <a:p>
            <a:pPr lvl="0"/>
            <a:r>
              <a:rPr lang="en-US" dirty="0"/>
              <a:t>Label 6</a:t>
            </a:r>
          </a:p>
        </p:txBody>
      </p:sp>
      <p:sp>
        <p:nvSpPr>
          <p:cNvPr id="3" name="Date Placeholder 2">
            <a:extLst>
              <a:ext uri="{FF2B5EF4-FFF2-40B4-BE49-F238E27FC236}">
                <a16:creationId xmlns:a16="http://schemas.microsoft.com/office/drawing/2014/main" id="{D0CEC9E9-2CDA-42DF-A6E1-55B455A7E67B}"/>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5429F10E-ACBA-4EA4-B23A-AC32FC5A681B}"/>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202789916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Label Layout 2">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5AF36A59-5DE4-46F3-8035-460E546D5673}"/>
              </a:ext>
            </a:extLst>
          </p:cNvPr>
          <p:cNvSpPr>
            <a:spLocks noGrp="1"/>
          </p:cNvSpPr>
          <p:nvPr>
            <p:ph type="title"/>
          </p:nvPr>
        </p:nvSpPr>
        <p:spPr/>
        <p:txBody>
          <a:bodyPr/>
          <a:lstStyle>
            <a:lvl1pPr>
              <a:defRPr sz="3600">
                <a:latin typeface="+mj-lt"/>
              </a:defRPr>
            </a:lvl1pPr>
          </a:lstStyle>
          <a:p>
            <a:r>
              <a:rPr lang="en-US" dirty="0"/>
              <a:t>Click to edit Master title style</a:t>
            </a:r>
          </a:p>
        </p:txBody>
      </p:sp>
      <p:sp>
        <p:nvSpPr>
          <p:cNvPr id="7" name="Image 1 title">
            <a:extLst>
              <a:ext uri="{FF2B5EF4-FFF2-40B4-BE49-F238E27FC236}">
                <a16:creationId xmlns:a16="http://schemas.microsoft.com/office/drawing/2014/main" id="{2BEC12FB-EC67-436F-875F-0A306862EF78}"/>
              </a:ext>
            </a:extLst>
          </p:cNvPr>
          <p:cNvSpPr>
            <a:spLocks noGrp="1"/>
          </p:cNvSpPr>
          <p:nvPr>
            <p:ph type="body" sz="quarter" idx="13" hasCustomPrompt="1"/>
          </p:nvPr>
        </p:nvSpPr>
        <p:spPr>
          <a:xfrm>
            <a:off x="457201" y="4392613"/>
            <a:ext cx="2107323" cy="504825"/>
          </a:xfrm>
        </p:spPr>
        <p:txBody>
          <a:bodyPr/>
          <a:lstStyle>
            <a:lvl1pPr marL="101600" indent="0">
              <a:buNone/>
              <a:defRPr/>
            </a:lvl1pPr>
          </a:lstStyle>
          <a:p>
            <a:pPr lvl="0"/>
            <a:r>
              <a:rPr lang="en-US" dirty="0"/>
              <a:t>Image 1 title</a:t>
            </a:r>
          </a:p>
        </p:txBody>
      </p:sp>
      <p:sp>
        <p:nvSpPr>
          <p:cNvPr id="9" name="Image 1">
            <a:extLst>
              <a:ext uri="{FF2B5EF4-FFF2-40B4-BE49-F238E27FC236}">
                <a16:creationId xmlns:a16="http://schemas.microsoft.com/office/drawing/2014/main" id="{1E9C9C32-F8ED-4AA8-AA00-26A2357E73E9}"/>
              </a:ext>
            </a:extLst>
          </p:cNvPr>
          <p:cNvSpPr>
            <a:spLocks noGrp="1"/>
          </p:cNvSpPr>
          <p:nvPr>
            <p:ph type="pic" sz="quarter" idx="14" hasCustomPrompt="1"/>
          </p:nvPr>
        </p:nvSpPr>
        <p:spPr>
          <a:xfrm>
            <a:off x="457200" y="1817688"/>
            <a:ext cx="2107324" cy="2386012"/>
          </a:xfrm>
        </p:spPr>
        <p:txBody>
          <a:bodyPr/>
          <a:lstStyle>
            <a:lvl1pPr marL="101600" indent="0">
              <a:buNone/>
              <a:defRPr/>
            </a:lvl1pPr>
          </a:lstStyle>
          <a:p>
            <a:r>
              <a:rPr lang="en-US" dirty="0"/>
              <a:t>Image 1</a:t>
            </a:r>
          </a:p>
        </p:txBody>
      </p:sp>
      <p:sp>
        <p:nvSpPr>
          <p:cNvPr id="11" name="Label 1.1">
            <a:extLst>
              <a:ext uri="{FF2B5EF4-FFF2-40B4-BE49-F238E27FC236}">
                <a16:creationId xmlns:a16="http://schemas.microsoft.com/office/drawing/2014/main" id="{BD50A136-2F5A-4764-ADDC-D48D703981CC}"/>
              </a:ext>
            </a:extLst>
          </p:cNvPr>
          <p:cNvSpPr>
            <a:spLocks noGrp="1"/>
          </p:cNvSpPr>
          <p:nvPr>
            <p:ph type="body" sz="quarter" idx="15" hasCustomPrompt="1"/>
          </p:nvPr>
        </p:nvSpPr>
        <p:spPr>
          <a:xfrm>
            <a:off x="2774622" y="1794947"/>
            <a:ext cx="1534619" cy="591855"/>
          </a:xfrm>
        </p:spPr>
        <p:txBody>
          <a:bodyPr/>
          <a:lstStyle>
            <a:lvl1pPr marL="101600" indent="0">
              <a:buNone/>
              <a:defRPr/>
            </a:lvl1pPr>
          </a:lstStyle>
          <a:p>
            <a:pPr lvl="0"/>
            <a:r>
              <a:rPr lang="en-US" dirty="0"/>
              <a:t>Label 1.1</a:t>
            </a:r>
          </a:p>
        </p:txBody>
      </p:sp>
      <p:sp>
        <p:nvSpPr>
          <p:cNvPr id="13" name="Label 1.2">
            <a:extLst>
              <a:ext uri="{FF2B5EF4-FFF2-40B4-BE49-F238E27FC236}">
                <a16:creationId xmlns:a16="http://schemas.microsoft.com/office/drawing/2014/main" id="{16926224-3F90-4884-9AC1-A5381D78801B}"/>
              </a:ext>
            </a:extLst>
          </p:cNvPr>
          <p:cNvSpPr>
            <a:spLocks noGrp="1"/>
          </p:cNvSpPr>
          <p:nvPr>
            <p:ph type="body" sz="quarter" idx="16" hasCustomPrompt="1"/>
          </p:nvPr>
        </p:nvSpPr>
        <p:spPr>
          <a:xfrm>
            <a:off x="2774622" y="2707481"/>
            <a:ext cx="1534619" cy="606425"/>
          </a:xfrm>
        </p:spPr>
        <p:txBody>
          <a:bodyPr/>
          <a:lstStyle>
            <a:lvl1pPr marL="101600" indent="0">
              <a:buNone/>
              <a:defRPr/>
            </a:lvl1pPr>
          </a:lstStyle>
          <a:p>
            <a:pPr lvl="0"/>
            <a:r>
              <a:rPr lang="en-US" dirty="0"/>
              <a:t>Label 1.2</a:t>
            </a:r>
          </a:p>
        </p:txBody>
      </p:sp>
      <p:sp>
        <p:nvSpPr>
          <p:cNvPr id="15" name="Label 1.3">
            <a:extLst>
              <a:ext uri="{FF2B5EF4-FFF2-40B4-BE49-F238E27FC236}">
                <a16:creationId xmlns:a16="http://schemas.microsoft.com/office/drawing/2014/main" id="{D4719473-9C3F-493C-B20E-27CDBBA38B68}"/>
              </a:ext>
            </a:extLst>
          </p:cNvPr>
          <p:cNvSpPr>
            <a:spLocks noGrp="1"/>
          </p:cNvSpPr>
          <p:nvPr>
            <p:ph type="body" sz="quarter" idx="17" hasCustomPrompt="1"/>
          </p:nvPr>
        </p:nvSpPr>
        <p:spPr>
          <a:xfrm>
            <a:off x="2774622" y="3597275"/>
            <a:ext cx="1534619" cy="606425"/>
          </a:xfrm>
        </p:spPr>
        <p:txBody>
          <a:bodyPr/>
          <a:lstStyle>
            <a:lvl1pPr marL="101600" indent="0">
              <a:buNone/>
              <a:defRPr/>
            </a:lvl1pPr>
          </a:lstStyle>
          <a:p>
            <a:pPr lvl="0"/>
            <a:r>
              <a:rPr lang="en-US" dirty="0"/>
              <a:t>Label 1.3</a:t>
            </a:r>
          </a:p>
        </p:txBody>
      </p:sp>
      <p:sp>
        <p:nvSpPr>
          <p:cNvPr id="17" name="Image 2 title">
            <a:extLst>
              <a:ext uri="{FF2B5EF4-FFF2-40B4-BE49-F238E27FC236}">
                <a16:creationId xmlns:a16="http://schemas.microsoft.com/office/drawing/2014/main" id="{DC526974-AF8C-4228-AAAA-33D0B8AB71C7}"/>
              </a:ext>
            </a:extLst>
          </p:cNvPr>
          <p:cNvSpPr>
            <a:spLocks noGrp="1"/>
          </p:cNvSpPr>
          <p:nvPr>
            <p:ph type="body" sz="quarter" idx="18" hasCustomPrompt="1"/>
          </p:nvPr>
        </p:nvSpPr>
        <p:spPr>
          <a:xfrm>
            <a:off x="4931596" y="4347439"/>
            <a:ext cx="2107323" cy="504825"/>
          </a:xfrm>
        </p:spPr>
        <p:txBody>
          <a:bodyPr/>
          <a:lstStyle>
            <a:lvl1pPr marL="101600" indent="0">
              <a:buNone/>
              <a:defRPr/>
            </a:lvl1pPr>
          </a:lstStyle>
          <a:p>
            <a:pPr lvl="0"/>
            <a:r>
              <a:rPr lang="en-US" dirty="0"/>
              <a:t>Image 2 title</a:t>
            </a:r>
          </a:p>
        </p:txBody>
      </p:sp>
      <p:sp>
        <p:nvSpPr>
          <p:cNvPr id="19" name="Image 2">
            <a:extLst>
              <a:ext uri="{FF2B5EF4-FFF2-40B4-BE49-F238E27FC236}">
                <a16:creationId xmlns:a16="http://schemas.microsoft.com/office/drawing/2014/main" id="{812D2BB4-4991-47F8-9E82-9C9B41B052FB}"/>
              </a:ext>
            </a:extLst>
          </p:cNvPr>
          <p:cNvSpPr>
            <a:spLocks noGrp="1"/>
          </p:cNvSpPr>
          <p:nvPr>
            <p:ph type="pic" sz="quarter" idx="19" hasCustomPrompt="1"/>
          </p:nvPr>
        </p:nvSpPr>
        <p:spPr>
          <a:xfrm>
            <a:off x="4931596" y="1806537"/>
            <a:ext cx="2107323" cy="2397164"/>
          </a:xfrm>
        </p:spPr>
        <p:txBody>
          <a:bodyPr/>
          <a:lstStyle>
            <a:lvl1pPr marL="101600" indent="0">
              <a:buNone/>
              <a:defRPr/>
            </a:lvl1pPr>
          </a:lstStyle>
          <a:p>
            <a:r>
              <a:rPr lang="en-US" dirty="0"/>
              <a:t>Image 2</a:t>
            </a:r>
          </a:p>
        </p:txBody>
      </p:sp>
      <p:sp>
        <p:nvSpPr>
          <p:cNvPr id="21" name="Label 2.1">
            <a:extLst>
              <a:ext uri="{FF2B5EF4-FFF2-40B4-BE49-F238E27FC236}">
                <a16:creationId xmlns:a16="http://schemas.microsoft.com/office/drawing/2014/main" id="{15D9E78D-62D4-4D7C-8E37-E1A000DA23A2}"/>
              </a:ext>
            </a:extLst>
          </p:cNvPr>
          <p:cNvSpPr>
            <a:spLocks noGrp="1"/>
          </p:cNvSpPr>
          <p:nvPr>
            <p:ph type="body" sz="quarter" idx="20" hasCustomPrompt="1"/>
          </p:nvPr>
        </p:nvSpPr>
        <p:spPr>
          <a:xfrm>
            <a:off x="7304580" y="1794947"/>
            <a:ext cx="1534619" cy="608524"/>
          </a:xfrm>
        </p:spPr>
        <p:txBody>
          <a:bodyPr/>
          <a:lstStyle>
            <a:lvl1pPr marL="101600" indent="0">
              <a:buNone/>
              <a:defRPr/>
            </a:lvl1pPr>
          </a:lstStyle>
          <a:p>
            <a:pPr lvl="0"/>
            <a:r>
              <a:rPr lang="en-US" dirty="0"/>
              <a:t>Label 2.1</a:t>
            </a:r>
          </a:p>
        </p:txBody>
      </p:sp>
      <p:sp>
        <p:nvSpPr>
          <p:cNvPr id="23" name="Label 2.2">
            <a:extLst>
              <a:ext uri="{FF2B5EF4-FFF2-40B4-BE49-F238E27FC236}">
                <a16:creationId xmlns:a16="http://schemas.microsoft.com/office/drawing/2014/main" id="{0ECEA5DA-0702-46DA-A4DD-66B7E7FF424B}"/>
              </a:ext>
            </a:extLst>
          </p:cNvPr>
          <p:cNvSpPr>
            <a:spLocks noGrp="1"/>
          </p:cNvSpPr>
          <p:nvPr>
            <p:ph type="body" sz="quarter" idx="21" hasCustomPrompt="1"/>
          </p:nvPr>
        </p:nvSpPr>
        <p:spPr>
          <a:xfrm>
            <a:off x="7304579" y="2707481"/>
            <a:ext cx="1534619" cy="608524"/>
          </a:xfrm>
        </p:spPr>
        <p:txBody>
          <a:bodyPr/>
          <a:lstStyle>
            <a:lvl1pPr marL="101600" indent="0">
              <a:buNone/>
              <a:defRPr/>
            </a:lvl1pPr>
          </a:lstStyle>
          <a:p>
            <a:pPr lvl="0"/>
            <a:r>
              <a:rPr lang="en-US" dirty="0"/>
              <a:t>Label 2.2</a:t>
            </a:r>
          </a:p>
        </p:txBody>
      </p:sp>
      <p:sp>
        <p:nvSpPr>
          <p:cNvPr id="25" name="Label 2.3">
            <a:extLst>
              <a:ext uri="{FF2B5EF4-FFF2-40B4-BE49-F238E27FC236}">
                <a16:creationId xmlns:a16="http://schemas.microsoft.com/office/drawing/2014/main" id="{64C63D68-E200-46DF-8E34-92DC66FE879B}"/>
              </a:ext>
            </a:extLst>
          </p:cNvPr>
          <p:cNvSpPr>
            <a:spLocks noGrp="1"/>
          </p:cNvSpPr>
          <p:nvPr>
            <p:ph type="body" sz="quarter" idx="22" hasCustomPrompt="1"/>
          </p:nvPr>
        </p:nvSpPr>
        <p:spPr>
          <a:xfrm>
            <a:off x="7304579" y="3579818"/>
            <a:ext cx="1534620" cy="608524"/>
          </a:xfrm>
        </p:spPr>
        <p:txBody>
          <a:bodyPr/>
          <a:lstStyle>
            <a:lvl1pPr marL="101600" indent="0">
              <a:buNone/>
              <a:defRPr/>
            </a:lvl1pPr>
          </a:lstStyle>
          <a:p>
            <a:pPr lvl="0"/>
            <a:r>
              <a:rPr lang="en-US" dirty="0"/>
              <a:t>Label 2.3</a:t>
            </a:r>
          </a:p>
        </p:txBody>
      </p:sp>
      <p:sp>
        <p:nvSpPr>
          <p:cNvPr id="3" name="Date Placeholder 2">
            <a:extLst>
              <a:ext uri="{FF2B5EF4-FFF2-40B4-BE49-F238E27FC236}">
                <a16:creationId xmlns:a16="http://schemas.microsoft.com/office/drawing/2014/main" id="{D8A4DA0A-BA94-4C4E-A521-FB23D113A856}"/>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44569933-5FC5-4C73-96ED-E1AC0FC867FE}"/>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64872148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Title Placeholder"/>
          <p:cNvSpPr txBox="1">
            <a:spLocks noGrp="1"/>
          </p:cNvSpPr>
          <p:nvPr>
            <p:ph type="title" hasCustomPrompt="1"/>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	</a:t>
            </a:r>
            <a:endParaRPr dirty="0"/>
          </a:p>
        </p:txBody>
      </p:sp>
      <p:sp>
        <p:nvSpPr>
          <p:cNvPr id="70" name="Content Placeholder"/>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Arial"/>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dirty="0"/>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5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Picture Placeholder 4"/>
          <p:cNvSpPr>
            <a:spLocks noGrp="1"/>
          </p:cNvSpPr>
          <p:nvPr>
            <p:ph type="pic" sz="quarter" idx="14"/>
          </p:nvPr>
        </p:nvSpPr>
        <p:spPr>
          <a:xfrm>
            <a:off x="457200" y="5181600"/>
            <a:ext cx="8229600" cy="1066800"/>
          </a:xfrm>
        </p:spPr>
        <p:txBody>
          <a:bodyPr/>
          <a:lstStyle/>
          <a:p>
            <a:pPr lvl="0"/>
            <a:endParaRPr lang="en-IN" noProof="0"/>
          </a:p>
        </p:txBody>
      </p:sp>
      <p:sp>
        <p:nvSpPr>
          <p:cNvPr id="6" name="Date Placeholder 3">
            <a:extLst>
              <a:ext uri="{FF2B5EF4-FFF2-40B4-BE49-F238E27FC236}">
                <a16:creationId xmlns:a16="http://schemas.microsoft.com/office/drawing/2014/main" id="{6E921DB6-163E-4185-89B1-CFDC8DF69B49}"/>
              </a:ext>
            </a:extLst>
          </p:cNvPr>
          <p:cNvSpPr>
            <a:spLocks noGrp="1"/>
          </p:cNvSpPr>
          <p:nvPr>
            <p:ph type="dt" sz="half" idx="15"/>
          </p:nvPr>
        </p:nvSpPr>
        <p:spPr/>
        <p:txBody>
          <a:bodyPr/>
          <a:lstStyle>
            <a:lvl1pPr>
              <a:defRPr/>
            </a:lvl1pPr>
          </a:lstStyle>
          <a:p>
            <a:pPr>
              <a:defRPr/>
            </a:pPr>
            <a:fld id="{D828DFCB-A486-4246-B896-85E345F87AD0}" type="datetimeFigureOut">
              <a:rPr lang="en-US"/>
              <a:pPr>
                <a:defRPr/>
              </a:pPr>
              <a:t>12/15/2025</a:t>
            </a:fld>
            <a:endParaRPr lang="en-US" dirty="0"/>
          </a:p>
        </p:txBody>
      </p:sp>
      <p:sp>
        <p:nvSpPr>
          <p:cNvPr id="9" name="Slide Number Placeholder 5">
            <a:extLst>
              <a:ext uri="{FF2B5EF4-FFF2-40B4-BE49-F238E27FC236}">
                <a16:creationId xmlns:a16="http://schemas.microsoft.com/office/drawing/2014/main" id="{892865F2-AEF2-4B58-8B49-1C3744D6BDAE}"/>
              </a:ext>
            </a:extLst>
          </p:cNvPr>
          <p:cNvSpPr>
            <a:spLocks noGrp="1"/>
          </p:cNvSpPr>
          <p:nvPr>
            <p:ph type="sldNum" sz="quarter" idx="16"/>
          </p:nvPr>
        </p:nvSpPr>
        <p:spPr/>
        <p:txBody>
          <a:bodyPr/>
          <a:lstStyle>
            <a:lvl1pPr>
              <a:defRPr/>
            </a:lvl1pPr>
          </a:lstStyle>
          <a:p>
            <a:pPr>
              <a:defRPr/>
            </a:pPr>
            <a:fld id="{FD8F1D26-3C1C-4360-9318-83CB049CF007}" type="slidenum">
              <a:rPr lang="en-US"/>
              <a:pPr>
                <a:defRPr/>
              </a:pPr>
              <a:t>‹#›</a:t>
            </a:fld>
            <a:endParaRPr lang="en-US" dirty="0"/>
          </a:p>
        </p:txBody>
      </p:sp>
    </p:spTree>
    <p:extLst>
      <p:ext uri="{BB962C8B-B14F-4D97-AF65-F5344CB8AC3E}">
        <p14:creationId xmlns:p14="http://schemas.microsoft.com/office/powerpoint/2010/main" val="439178372"/>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1.xml"/><Relationship Id="rId13" Type="http://schemas.openxmlformats.org/officeDocument/2006/relationships/theme" Target="../theme/theme2.xml"/><Relationship Id="rId3" Type="http://schemas.openxmlformats.org/officeDocument/2006/relationships/slideLayout" Target="../slideLayouts/slideLayout6.xml"/><Relationship Id="rId7" Type="http://schemas.openxmlformats.org/officeDocument/2006/relationships/slideLayout" Target="../slideLayouts/slideLayout10.xml"/><Relationship Id="rId12" Type="http://schemas.openxmlformats.org/officeDocument/2006/relationships/slideLayout" Target="../slideLayouts/slideLayout15.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slideLayout" Target="../slideLayouts/slideLayout9.xml"/><Relationship Id="rId11" Type="http://schemas.openxmlformats.org/officeDocument/2006/relationships/slideLayout" Target="../slideLayouts/slideLayout14.xml"/><Relationship Id="rId5" Type="http://schemas.openxmlformats.org/officeDocument/2006/relationships/slideLayout" Target="../slideLayouts/slideLayout8.xml"/><Relationship Id="rId10" Type="http://schemas.openxmlformats.org/officeDocument/2006/relationships/slideLayout" Target="../slideLayouts/slideLayout13.xml"/><Relationship Id="rId4" Type="http://schemas.openxmlformats.org/officeDocument/2006/relationships/slideLayout" Target="../slideLayouts/slideLayout7.xml"/><Relationship Id="rId9" Type="http://schemas.openxmlformats.org/officeDocument/2006/relationships/slideLayout" Target="../slideLayouts/slideLayout12.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Shape 11"/>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246644562"/>
      </p:ext>
    </p:extLst>
  </p:cSld>
  <p:clrMap bg1="lt1" tx1="dk1" bg2="dk2" tx2="lt2" accent1="accent1" accent2="accent2" accent3="accent3" accent4="accent4" accent5="accent5" accent6="accent6" hlink="hlink" folHlink="folHlink"/>
  <p:sldLayoutIdLst>
    <p:sldLayoutId id="2147483675" r:id="rId1"/>
    <p:sldLayoutId id="2147483664" r:id="rId2"/>
    <p:sldLayoutId id="2147483682" r:id="rId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6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Content Placeholder"/>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pic>
        <p:nvPicPr>
          <p:cNvPr id="8" name="Picture 7" descr="Pearson Logo">
            <a:extLst>
              <a:ext uri="{FF2B5EF4-FFF2-40B4-BE49-F238E27FC236}">
                <a16:creationId xmlns:a16="http://schemas.microsoft.com/office/drawing/2014/main" id="{C917F11E-AB97-4E6F-82B8-2F1D136B5028}"/>
              </a:ext>
            </a:extLst>
          </p:cNvPr>
          <p:cNvPicPr>
            <a:picLocks noChangeAspect="1"/>
          </p:cNvPicPr>
          <p:nvPr userDrawn="1"/>
        </p:nvPicPr>
        <p:blipFill>
          <a:blip r:embed="rId14"/>
          <a:stretch>
            <a:fillRect/>
          </a:stretch>
        </p:blipFill>
        <p:spPr>
          <a:xfrm>
            <a:off x="430085" y="6411214"/>
            <a:ext cx="986560" cy="310866"/>
          </a:xfrm>
          <a:prstGeom prst="rect">
            <a:avLst/>
          </a:prstGeom>
        </p:spPr>
      </p:pic>
      <p:sp>
        <p:nvSpPr>
          <p:cNvPr id="9" name="Content Placeholder 7">
            <a:extLst>
              <a:ext uri="{FF2B5EF4-FFF2-40B4-BE49-F238E27FC236}">
                <a16:creationId xmlns:a16="http://schemas.microsoft.com/office/drawing/2014/main" id="{5D6AF4CD-D40F-418A-86B2-E8C57AEDD865}"/>
              </a:ext>
            </a:extLst>
          </p:cNvPr>
          <p:cNvSpPr txBox="1">
            <a:spLocks/>
          </p:cNvSpPr>
          <p:nvPr userDrawn="1"/>
        </p:nvSpPr>
        <p:spPr>
          <a:xfrm>
            <a:off x="2564091" y="6490439"/>
            <a:ext cx="6105797" cy="221018"/>
          </a:xfrm>
          <a:prstGeom prst="rect">
            <a:avLst/>
          </a:prstGeom>
          <a:noFill/>
          <a:ln>
            <a:noFill/>
          </a:ln>
        </p:spPr>
        <p:txBody>
          <a:bodyPr wrap="square" lIns="0" tIns="18000" rIns="0" bIns="18000" anchor="ctr" anchorCtr="0">
            <a:spAutoFit/>
          </a:bodyPr>
          <a:lstStyle>
            <a:defPPr marR="0" lvl="0" algn="l" rtl="0">
              <a:lnSpc>
                <a:spcPct val="100000"/>
              </a:lnSpc>
              <a:spcBef>
                <a:spcPts val="0"/>
              </a:spcBef>
              <a:spcAft>
                <a:spcPts val="0"/>
              </a:spcAft>
            </a:defPPr>
            <a:lvl1pPr marL="256032" indent="-154432" algn="r">
              <a:spcBef>
                <a:spcPts val="1500"/>
              </a:spcBef>
              <a:buClr>
                <a:srgbClr val="007FA3"/>
              </a:buClr>
              <a:buSzPct val="100000"/>
              <a:buFont typeface="Arial"/>
              <a:defRPr sz="1200">
                <a:solidFill>
                  <a:schemeClr val="dk1"/>
                </a:solidFill>
                <a:latin typeface="Verdana" panose="020B0604030504040204" pitchFamily="34" charset="0"/>
                <a:ea typeface="Verdana" panose="020B0604030504040204" pitchFamily="34" charset="0"/>
                <a:cs typeface="Verdana" panose="020B0604030504040204" pitchFamily="34" charset="0"/>
              </a:defRPr>
            </a:lvl1pPr>
            <a:lvl2pPr marL="742950" indent="-184150">
              <a:spcBef>
                <a:spcPts val="600"/>
              </a:spcBef>
              <a:buClr>
                <a:srgbClr val="007FA3"/>
              </a:buClr>
              <a:buSzPct val="100000"/>
              <a:buFont typeface="Arial"/>
              <a:buChar char="–"/>
              <a:defRPr sz="1600">
                <a:solidFill>
                  <a:schemeClr val="dk1"/>
                </a:solidFill>
              </a:defRPr>
            </a:lvl2pPr>
            <a:lvl3pPr marL="1143000" indent="-127000">
              <a:spcBef>
                <a:spcPts val="600"/>
              </a:spcBef>
              <a:buClr>
                <a:srgbClr val="007FA3"/>
              </a:buClr>
              <a:buSzPct val="100000"/>
              <a:buFont typeface="Arial"/>
              <a:buChar char="▪"/>
              <a:defRPr sz="1600">
                <a:solidFill>
                  <a:schemeClr val="dk1"/>
                </a:solidFill>
              </a:defRPr>
            </a:lvl3pPr>
            <a:lvl4pPr marL="1600200" indent="-127000">
              <a:spcBef>
                <a:spcPts val="600"/>
              </a:spcBef>
              <a:buClr>
                <a:srgbClr val="007FA3"/>
              </a:buClr>
              <a:buSzPct val="100000"/>
              <a:buFont typeface="Arial"/>
              <a:buChar char="–"/>
              <a:defRPr sz="1600">
                <a:solidFill>
                  <a:schemeClr val="dk1"/>
                </a:solidFill>
              </a:defRPr>
            </a:lvl4pPr>
            <a:lvl5pPr marL="2057400" indent="-127000">
              <a:spcBef>
                <a:spcPts val="600"/>
              </a:spcBef>
              <a:buClr>
                <a:srgbClr val="007FA3"/>
              </a:buClr>
              <a:buSzPct val="100000"/>
              <a:buFont typeface="Arial"/>
              <a:buChar char="•"/>
              <a:defRPr sz="1600">
                <a:solidFill>
                  <a:schemeClr val="dk1"/>
                </a:solidFill>
              </a:defRPr>
            </a:lvl5pPr>
            <a:lvl6pPr marL="2514600" indent="-127000">
              <a:spcBef>
                <a:spcPts val="300"/>
              </a:spcBef>
              <a:buClr>
                <a:srgbClr val="007FA3"/>
              </a:buClr>
              <a:buSzPct val="100000"/>
              <a:buFont typeface="Arial"/>
              <a:buChar char="•"/>
              <a:defRPr sz="1600">
                <a:solidFill>
                  <a:schemeClr val="dk1"/>
                </a:solidFill>
              </a:defRPr>
            </a:lvl6pPr>
            <a:lvl7pPr marL="2971800" indent="-127000">
              <a:spcBef>
                <a:spcPts val="300"/>
              </a:spcBef>
              <a:buClr>
                <a:srgbClr val="007FA3"/>
              </a:buClr>
              <a:buSzPct val="100000"/>
              <a:buFont typeface="Arial"/>
              <a:buChar char="•"/>
              <a:defRPr sz="1600">
                <a:solidFill>
                  <a:schemeClr val="dk1"/>
                </a:solidFill>
              </a:defRPr>
            </a:lvl7pPr>
            <a:lvl8pPr marL="3429000" indent="-127000">
              <a:spcBef>
                <a:spcPts val="300"/>
              </a:spcBef>
              <a:buClr>
                <a:srgbClr val="007FA3"/>
              </a:buClr>
              <a:buSzPct val="100000"/>
              <a:buFont typeface="Arial"/>
              <a:buChar char="•"/>
              <a:defRPr sz="1600">
                <a:solidFill>
                  <a:schemeClr val="dk1"/>
                </a:solidFill>
              </a:defRPr>
            </a:lvl8pPr>
            <a:lvl9pPr marL="3886200" indent="-127000">
              <a:spcBef>
                <a:spcPts val="300"/>
              </a:spcBef>
              <a:buClr>
                <a:srgbClr val="007FA3"/>
              </a:buClr>
              <a:buSzPct val="100000"/>
              <a:buFont typeface="Arial"/>
              <a:buChar char="•"/>
              <a:defRPr sz="1600">
                <a:solidFill>
                  <a:schemeClr val="dk1"/>
                </a:solidFill>
              </a:defRPr>
            </a:lvl9pPr>
          </a:lstStyle>
          <a:p>
            <a:pPr lvl="0"/>
            <a:r>
              <a:rPr lang="en-US" dirty="0"/>
              <a:t>© 2024 Pearson Education Ltd. All Rights Reserved.</a:t>
            </a:r>
          </a:p>
        </p:txBody>
      </p:sp>
    </p:spTree>
  </p:cSld>
  <p:clrMap bg1="lt1" tx1="dk1" bg2="dk2" tx2="lt2" accent1="accent1" accent2="accent2" accent3="accent3" accent4="accent4" accent5="accent5" accent6="accent6" hlink="hlink" folHlink="folHlink"/>
  <p:sldLayoutIdLst>
    <p:sldLayoutId id="2147483649" r:id="rId1"/>
    <p:sldLayoutId id="2147483676" r:id="rId2"/>
    <p:sldLayoutId id="2147483677" r:id="rId3"/>
    <p:sldLayoutId id="2147483678" r:id="rId4"/>
    <p:sldLayoutId id="2147483679" r:id="rId5"/>
    <p:sldLayoutId id="2147483680" r:id="rId6"/>
    <p:sldLayoutId id="2147483671" r:id="rId7"/>
    <p:sldLayoutId id="2147483673" r:id="rId8"/>
    <p:sldLayoutId id="2147483670" r:id="rId9"/>
    <p:sldLayoutId id="2147483669" r:id="rId10"/>
    <p:sldLayoutId id="2147483655" r:id="rId11"/>
    <p:sldLayoutId id="2147483681"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8" Type="http://schemas.openxmlformats.org/officeDocument/2006/relationships/oleObject" Target="../embeddings/oleObject4.bin"/><Relationship Id="rId13" Type="http://schemas.openxmlformats.org/officeDocument/2006/relationships/image" Target="../media/image8.wmf"/><Relationship Id="rId3" Type="http://schemas.openxmlformats.org/officeDocument/2006/relationships/image" Target="../media/image3.wmf"/><Relationship Id="rId7" Type="http://schemas.openxmlformats.org/officeDocument/2006/relationships/image" Target="../media/image5.wmf"/><Relationship Id="rId12" Type="http://schemas.openxmlformats.org/officeDocument/2006/relationships/oleObject" Target="../embeddings/oleObject6.bin"/><Relationship Id="rId2" Type="http://schemas.openxmlformats.org/officeDocument/2006/relationships/oleObject" Target="../embeddings/oleObject1.bin"/><Relationship Id="rId1" Type="http://schemas.openxmlformats.org/officeDocument/2006/relationships/slideLayout" Target="../slideLayouts/slideLayout9.xml"/><Relationship Id="rId6" Type="http://schemas.openxmlformats.org/officeDocument/2006/relationships/oleObject" Target="../embeddings/oleObject3.bin"/><Relationship Id="rId11" Type="http://schemas.openxmlformats.org/officeDocument/2006/relationships/image" Target="../media/image7.wmf"/><Relationship Id="rId5" Type="http://schemas.openxmlformats.org/officeDocument/2006/relationships/image" Target="../media/image4.wmf"/><Relationship Id="rId10" Type="http://schemas.openxmlformats.org/officeDocument/2006/relationships/oleObject" Target="../embeddings/oleObject5.bin"/><Relationship Id="rId4" Type="http://schemas.openxmlformats.org/officeDocument/2006/relationships/oleObject" Target="../embeddings/oleObject2.bin"/><Relationship Id="rId9" Type="http://schemas.openxmlformats.org/officeDocument/2006/relationships/image" Target="../media/image6.wmf"/></Relationships>
</file>

<file path=ppt/slides/_rels/slide3.xml.rels><?xml version="1.0" encoding="UTF-8" standalone="yes"?>
<Relationships xmlns="http://schemas.openxmlformats.org/package/2006/relationships"><Relationship Id="rId8" Type="http://schemas.openxmlformats.org/officeDocument/2006/relationships/oleObject" Target="../embeddings/oleObject4.bin"/><Relationship Id="rId3" Type="http://schemas.openxmlformats.org/officeDocument/2006/relationships/image" Target="../media/image9.wmf"/><Relationship Id="rId7" Type="http://schemas.openxmlformats.org/officeDocument/2006/relationships/image" Target="../media/image10.wmf"/><Relationship Id="rId12" Type="http://schemas.openxmlformats.org/officeDocument/2006/relationships/image" Target="../media/image12.wmf"/><Relationship Id="rId2" Type="http://schemas.openxmlformats.org/officeDocument/2006/relationships/oleObject" Target="../embeddings/oleObject7.bin"/><Relationship Id="rId1" Type="http://schemas.openxmlformats.org/officeDocument/2006/relationships/slideLayout" Target="../slideLayouts/slideLayout9.xml"/><Relationship Id="rId6" Type="http://schemas.openxmlformats.org/officeDocument/2006/relationships/oleObject" Target="../embeddings/oleObject8.bin"/><Relationship Id="rId11" Type="http://schemas.openxmlformats.org/officeDocument/2006/relationships/oleObject" Target="../embeddings/oleObject9.bin"/><Relationship Id="rId5" Type="http://schemas.openxmlformats.org/officeDocument/2006/relationships/image" Target="../media/image4.wmf"/><Relationship Id="rId10" Type="http://schemas.openxmlformats.org/officeDocument/2006/relationships/image" Target="../media/image11.png"/><Relationship Id="rId4" Type="http://schemas.openxmlformats.org/officeDocument/2006/relationships/oleObject" Target="../embeddings/oleObject2.bin"/><Relationship Id="rId9" Type="http://schemas.openxmlformats.org/officeDocument/2006/relationships/image" Target="../media/image6.wmf"/></Relationships>
</file>

<file path=ppt/slides/_rels/slide4.xml.rels><?xml version="1.0" encoding="UTF-8" standalone="yes"?>
<Relationships xmlns="http://schemas.openxmlformats.org/package/2006/relationships"><Relationship Id="rId8" Type="http://schemas.openxmlformats.org/officeDocument/2006/relationships/image" Target="../media/image3.wmf"/><Relationship Id="rId13" Type="http://schemas.openxmlformats.org/officeDocument/2006/relationships/image" Target="../media/image17.jpg"/><Relationship Id="rId3" Type="http://schemas.openxmlformats.org/officeDocument/2006/relationships/image" Target="../media/image13.wmf"/><Relationship Id="rId7" Type="http://schemas.openxmlformats.org/officeDocument/2006/relationships/oleObject" Target="../embeddings/oleObject1.bin"/><Relationship Id="rId12" Type="http://schemas.openxmlformats.org/officeDocument/2006/relationships/image" Target="../media/image16.wmf"/><Relationship Id="rId2" Type="http://schemas.openxmlformats.org/officeDocument/2006/relationships/oleObject" Target="../embeddings/oleObject10.bin"/><Relationship Id="rId1" Type="http://schemas.openxmlformats.org/officeDocument/2006/relationships/slideLayout" Target="../slideLayouts/slideLayout9.xml"/><Relationship Id="rId6" Type="http://schemas.openxmlformats.org/officeDocument/2006/relationships/image" Target="../media/image15.jpg"/><Relationship Id="rId11" Type="http://schemas.openxmlformats.org/officeDocument/2006/relationships/oleObject" Target="../embeddings/oleObject12.bin"/><Relationship Id="rId5" Type="http://schemas.openxmlformats.org/officeDocument/2006/relationships/image" Target="../media/image14.wmf"/><Relationship Id="rId10" Type="http://schemas.openxmlformats.org/officeDocument/2006/relationships/image" Target="../media/image4.wmf"/><Relationship Id="rId4" Type="http://schemas.openxmlformats.org/officeDocument/2006/relationships/oleObject" Target="../embeddings/oleObject11.bin"/><Relationship Id="rId9" Type="http://schemas.openxmlformats.org/officeDocument/2006/relationships/oleObject" Target="../embeddings/oleObject2.bin"/></Relationships>
</file>

<file path=ppt/slides/_rels/slide5.xml.rels><?xml version="1.0" encoding="UTF-8" standalone="yes"?>
<Relationships xmlns="http://schemas.openxmlformats.org/package/2006/relationships"><Relationship Id="rId8" Type="http://schemas.openxmlformats.org/officeDocument/2006/relationships/image" Target="../media/image21.jpg"/><Relationship Id="rId3" Type="http://schemas.openxmlformats.org/officeDocument/2006/relationships/image" Target="../media/image18.wmf"/><Relationship Id="rId7" Type="http://schemas.openxmlformats.org/officeDocument/2006/relationships/image" Target="../media/image20.wmf"/><Relationship Id="rId2" Type="http://schemas.openxmlformats.org/officeDocument/2006/relationships/oleObject" Target="../embeddings/oleObject13.bin"/><Relationship Id="rId1" Type="http://schemas.openxmlformats.org/officeDocument/2006/relationships/slideLayout" Target="../slideLayouts/slideLayout9.xml"/><Relationship Id="rId6" Type="http://schemas.openxmlformats.org/officeDocument/2006/relationships/oleObject" Target="../embeddings/oleObject15.bin"/><Relationship Id="rId5" Type="http://schemas.openxmlformats.org/officeDocument/2006/relationships/image" Target="../media/image19.wmf"/><Relationship Id="rId4" Type="http://schemas.openxmlformats.org/officeDocument/2006/relationships/oleObject" Target="../embeddings/oleObject14.bin"/></Relationships>
</file>

<file path=ppt/slides/_rels/slide6.xml.rels><?xml version="1.0" encoding="UTF-8" standalone="yes"?>
<Relationships xmlns="http://schemas.openxmlformats.org/package/2006/relationships"><Relationship Id="rId8" Type="http://schemas.openxmlformats.org/officeDocument/2006/relationships/oleObject" Target="../embeddings/oleObject14.bin"/><Relationship Id="rId13" Type="http://schemas.openxmlformats.org/officeDocument/2006/relationships/image" Target="../media/image21.jpg"/><Relationship Id="rId3" Type="http://schemas.openxmlformats.org/officeDocument/2006/relationships/tags" Target="../tags/tag3.xml"/><Relationship Id="rId7" Type="http://schemas.openxmlformats.org/officeDocument/2006/relationships/image" Target="../media/image18.wmf"/><Relationship Id="rId12" Type="http://schemas.openxmlformats.org/officeDocument/2006/relationships/image" Target="../media/image20.wmf"/><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oleObject" Target="../embeddings/oleObject13.bin"/><Relationship Id="rId11" Type="http://schemas.openxmlformats.org/officeDocument/2006/relationships/oleObject" Target="../embeddings/oleObject15.bin"/><Relationship Id="rId5" Type="http://schemas.openxmlformats.org/officeDocument/2006/relationships/image" Target="../media/image22.png"/><Relationship Id="rId10" Type="http://schemas.openxmlformats.org/officeDocument/2006/relationships/image" Target="../media/image23.png"/><Relationship Id="rId4" Type="http://schemas.openxmlformats.org/officeDocument/2006/relationships/slideLayout" Target="../slideLayouts/slideLayout9.xml"/><Relationship Id="rId9" Type="http://schemas.openxmlformats.org/officeDocument/2006/relationships/image" Target="../media/image19.wmf"/></Relationships>
</file>

<file path=ppt/slides/_rels/slide7.x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oleObject" Target="../embeddings/oleObject16.bin"/><Relationship Id="rId1" Type="http://schemas.openxmlformats.org/officeDocument/2006/relationships/slideLayout" Target="../slideLayouts/slideLayout9.xml"/><Relationship Id="rId4" Type="http://schemas.openxmlformats.org/officeDocument/2006/relationships/image" Target="../media/image25.jpg"/></Relationships>
</file>

<file path=ppt/slides/_rels/slide8.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tags" Target="../tags/tag6.xml"/><Relationship Id="rId7" Type="http://schemas.openxmlformats.org/officeDocument/2006/relationships/image" Target="../media/image25.jpg"/><Relationship Id="rId2" Type="http://schemas.openxmlformats.org/officeDocument/2006/relationships/tags" Target="../tags/tag5.xml"/><Relationship Id="rId1" Type="http://schemas.openxmlformats.org/officeDocument/2006/relationships/tags" Target="../tags/tag4.xml"/><Relationship Id="rId6" Type="http://schemas.openxmlformats.org/officeDocument/2006/relationships/image" Target="../media/image24.wmf"/><Relationship Id="rId5" Type="http://schemas.openxmlformats.org/officeDocument/2006/relationships/oleObject" Target="../embeddings/oleObject16.bin"/><Relationship Id="rId4" Type="http://schemas.openxmlformats.org/officeDocument/2006/relationships/slideLayout" Target="../slideLayouts/slideLayout9.xml"/><Relationship Id="rId9" Type="http://schemas.openxmlformats.org/officeDocument/2006/relationships/image" Target="../media/image23.png"/></Relationships>
</file>

<file path=ppt/slides/_rels/slide9.xml.rels><?xml version="1.0" encoding="UTF-8" standalone="yes"?>
<Relationships xmlns="http://schemas.openxmlformats.org/package/2006/relationships"><Relationship Id="rId8" Type="http://schemas.openxmlformats.org/officeDocument/2006/relationships/image" Target="../media/image28.wmf"/><Relationship Id="rId13" Type="http://schemas.openxmlformats.org/officeDocument/2006/relationships/image" Target="../media/image31.jpg"/><Relationship Id="rId3" Type="http://schemas.openxmlformats.org/officeDocument/2006/relationships/image" Target="../media/image26.wmf"/><Relationship Id="rId7" Type="http://schemas.openxmlformats.org/officeDocument/2006/relationships/oleObject" Target="../embeddings/oleObject19.bin"/><Relationship Id="rId12" Type="http://schemas.openxmlformats.org/officeDocument/2006/relationships/image" Target="../media/image30.wmf"/><Relationship Id="rId2" Type="http://schemas.openxmlformats.org/officeDocument/2006/relationships/oleObject" Target="../embeddings/oleObject17.bin"/><Relationship Id="rId1" Type="http://schemas.openxmlformats.org/officeDocument/2006/relationships/slideLayout" Target="../slideLayouts/slideLayout9.xml"/><Relationship Id="rId6" Type="http://schemas.openxmlformats.org/officeDocument/2006/relationships/image" Target="../media/image15.jpg"/><Relationship Id="rId11" Type="http://schemas.openxmlformats.org/officeDocument/2006/relationships/oleObject" Target="../embeddings/oleObject21.bin"/><Relationship Id="rId5" Type="http://schemas.openxmlformats.org/officeDocument/2006/relationships/image" Target="../media/image27.wmf"/><Relationship Id="rId15" Type="http://schemas.openxmlformats.org/officeDocument/2006/relationships/image" Target="../media/image32.wmf"/><Relationship Id="rId10" Type="http://schemas.openxmlformats.org/officeDocument/2006/relationships/image" Target="../media/image29.wmf"/><Relationship Id="rId4" Type="http://schemas.openxmlformats.org/officeDocument/2006/relationships/oleObject" Target="../embeddings/oleObject18.bin"/><Relationship Id="rId9" Type="http://schemas.openxmlformats.org/officeDocument/2006/relationships/oleObject" Target="../embeddings/oleObject20.bin"/><Relationship Id="rId14" Type="http://schemas.openxmlformats.org/officeDocument/2006/relationships/oleObject" Target="../embeddings/oleObject22.bin"/></Relationships>
</file>

<file path=ppt/slides/_rels/slide10.xml.rels><?xml version="1.0" encoding="UTF-8" standalone="yes"?>
<Relationships xmlns="http://schemas.openxmlformats.org/package/2006/relationships"><Relationship Id="rId8" Type="http://schemas.openxmlformats.org/officeDocument/2006/relationships/image" Target="../media/image34.wmf"/><Relationship Id="rId13" Type="http://schemas.openxmlformats.org/officeDocument/2006/relationships/image" Target="../media/image37.jpg"/><Relationship Id="rId3" Type="http://schemas.openxmlformats.org/officeDocument/2006/relationships/image" Target="../media/image26.wmf"/><Relationship Id="rId7" Type="http://schemas.openxmlformats.org/officeDocument/2006/relationships/oleObject" Target="../embeddings/oleObject24.bin"/><Relationship Id="rId12" Type="http://schemas.openxmlformats.org/officeDocument/2006/relationships/image" Target="../media/image36.wmf"/><Relationship Id="rId2" Type="http://schemas.openxmlformats.org/officeDocument/2006/relationships/oleObject" Target="../embeddings/oleObject17.bin"/><Relationship Id="rId1" Type="http://schemas.openxmlformats.org/officeDocument/2006/relationships/slideLayout" Target="../slideLayouts/slideLayout9.xml"/><Relationship Id="rId6" Type="http://schemas.openxmlformats.org/officeDocument/2006/relationships/image" Target="../media/image15.jpg"/><Relationship Id="rId11" Type="http://schemas.openxmlformats.org/officeDocument/2006/relationships/oleObject" Target="../embeddings/oleObject26.bin"/><Relationship Id="rId5" Type="http://schemas.openxmlformats.org/officeDocument/2006/relationships/image" Target="../media/image33.wmf"/><Relationship Id="rId10" Type="http://schemas.openxmlformats.org/officeDocument/2006/relationships/image" Target="../media/image35.wmf"/><Relationship Id="rId4" Type="http://schemas.openxmlformats.org/officeDocument/2006/relationships/oleObject" Target="../embeddings/oleObject23.bin"/><Relationship Id="rId9" Type="http://schemas.openxmlformats.org/officeDocument/2006/relationships/oleObject" Target="../embeddings/oleObject25.bin"/><Relationship Id="rId14" Type="http://schemas.openxmlformats.org/officeDocument/2006/relationships/image" Target="../media/image38.jpg"/></Relationships>
</file>

<file path=ppt/slides/_rels/slide11.xml.rels><?xml version="1.0" encoding="UTF-8" standalone="yes"?>
<Relationships xmlns="http://schemas.openxmlformats.org/package/2006/relationships"><Relationship Id="rId8" Type="http://schemas.openxmlformats.org/officeDocument/2006/relationships/image" Target="../media/image42.jpg"/><Relationship Id="rId3" Type="http://schemas.openxmlformats.org/officeDocument/2006/relationships/image" Target="../media/image39.wmf"/><Relationship Id="rId7" Type="http://schemas.openxmlformats.org/officeDocument/2006/relationships/image" Target="../media/image41.wmf"/><Relationship Id="rId2" Type="http://schemas.openxmlformats.org/officeDocument/2006/relationships/oleObject" Target="../embeddings/oleObject27.bin"/><Relationship Id="rId1" Type="http://schemas.openxmlformats.org/officeDocument/2006/relationships/slideLayout" Target="../slideLayouts/slideLayout9.xml"/><Relationship Id="rId6" Type="http://schemas.openxmlformats.org/officeDocument/2006/relationships/oleObject" Target="../embeddings/oleObject29.bin"/><Relationship Id="rId5" Type="http://schemas.openxmlformats.org/officeDocument/2006/relationships/image" Target="../media/image40.wmf"/><Relationship Id="rId4" Type="http://schemas.openxmlformats.org/officeDocument/2006/relationships/oleObject" Target="../embeddings/oleObject28.bin"/></Relationships>
</file>

<file path=ppt/slides/_rels/slide12.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42.jpg"/><Relationship Id="rId3" Type="http://schemas.openxmlformats.org/officeDocument/2006/relationships/tags" Target="../tags/tag9.xml"/><Relationship Id="rId7" Type="http://schemas.openxmlformats.org/officeDocument/2006/relationships/image" Target="../media/image39.wmf"/><Relationship Id="rId12" Type="http://schemas.openxmlformats.org/officeDocument/2006/relationships/image" Target="../media/image41.wmf"/><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oleObject" Target="../embeddings/oleObject27.bin"/><Relationship Id="rId11" Type="http://schemas.openxmlformats.org/officeDocument/2006/relationships/oleObject" Target="../embeddings/oleObject29.bin"/><Relationship Id="rId5" Type="http://schemas.openxmlformats.org/officeDocument/2006/relationships/image" Target="../media/image23.png"/><Relationship Id="rId10" Type="http://schemas.openxmlformats.org/officeDocument/2006/relationships/image" Target="../media/image40.wmf"/><Relationship Id="rId4" Type="http://schemas.openxmlformats.org/officeDocument/2006/relationships/slideLayout" Target="../slideLayouts/slideLayout9.xml"/><Relationship Id="rId9" Type="http://schemas.openxmlformats.org/officeDocument/2006/relationships/oleObject" Target="../embeddings/oleObject28.bin"/></Relationships>
</file>

<file path=ppt/slides/_rels/slide13.xml.rels><?xml version="1.0" encoding="UTF-8" standalone="yes"?>
<Relationships xmlns="http://schemas.openxmlformats.org/package/2006/relationships"><Relationship Id="rId8" Type="http://schemas.openxmlformats.org/officeDocument/2006/relationships/oleObject" Target="../embeddings/oleObject32.bin"/><Relationship Id="rId13" Type="http://schemas.openxmlformats.org/officeDocument/2006/relationships/image" Target="../media/image47.wmf"/><Relationship Id="rId18" Type="http://schemas.openxmlformats.org/officeDocument/2006/relationships/image" Target="../media/image50.wmf"/><Relationship Id="rId3" Type="http://schemas.openxmlformats.org/officeDocument/2006/relationships/oleObject" Target="../embeddings/oleObject30.bin"/><Relationship Id="rId21" Type="http://schemas.openxmlformats.org/officeDocument/2006/relationships/oleObject" Target="../embeddings/oleObject38.bin"/><Relationship Id="rId7" Type="http://schemas.openxmlformats.org/officeDocument/2006/relationships/image" Target="../media/image15.jpg"/><Relationship Id="rId12" Type="http://schemas.openxmlformats.org/officeDocument/2006/relationships/oleObject" Target="../embeddings/oleObject34.bin"/><Relationship Id="rId17" Type="http://schemas.openxmlformats.org/officeDocument/2006/relationships/oleObject" Target="../embeddings/oleObject36.bin"/><Relationship Id="rId2" Type="http://schemas.openxmlformats.org/officeDocument/2006/relationships/notesSlide" Target="../notesSlides/notesSlide2.xml"/><Relationship Id="rId16" Type="http://schemas.openxmlformats.org/officeDocument/2006/relationships/image" Target="../media/image49.wmf"/><Relationship Id="rId20" Type="http://schemas.openxmlformats.org/officeDocument/2006/relationships/image" Target="../media/image51.wmf"/><Relationship Id="rId1" Type="http://schemas.openxmlformats.org/officeDocument/2006/relationships/slideLayout" Target="../slideLayouts/slideLayout9.xml"/><Relationship Id="rId6" Type="http://schemas.openxmlformats.org/officeDocument/2006/relationships/image" Target="../media/image44.wmf"/><Relationship Id="rId11" Type="http://schemas.openxmlformats.org/officeDocument/2006/relationships/image" Target="../media/image46.wmf"/><Relationship Id="rId5" Type="http://schemas.openxmlformats.org/officeDocument/2006/relationships/oleObject" Target="../embeddings/oleObject31.bin"/><Relationship Id="rId15" Type="http://schemas.openxmlformats.org/officeDocument/2006/relationships/oleObject" Target="../embeddings/oleObject35.bin"/><Relationship Id="rId10" Type="http://schemas.openxmlformats.org/officeDocument/2006/relationships/oleObject" Target="../embeddings/oleObject33.bin"/><Relationship Id="rId19" Type="http://schemas.openxmlformats.org/officeDocument/2006/relationships/oleObject" Target="../embeddings/oleObject37.bin"/><Relationship Id="rId4" Type="http://schemas.openxmlformats.org/officeDocument/2006/relationships/image" Target="../media/image43.wmf"/><Relationship Id="rId9" Type="http://schemas.openxmlformats.org/officeDocument/2006/relationships/image" Target="../media/image45.wmf"/><Relationship Id="rId14" Type="http://schemas.openxmlformats.org/officeDocument/2006/relationships/image" Target="../media/image48.jpg"/><Relationship Id="rId22" Type="http://schemas.openxmlformats.org/officeDocument/2006/relationships/image" Target="../media/image52.wmf"/></Relationships>
</file>

<file path=ppt/slides/_rels/slide14.xml.rels><?xml version="1.0" encoding="UTF-8" standalone="yes"?>
<Relationships xmlns="http://schemas.openxmlformats.org/package/2006/relationships"><Relationship Id="rId8" Type="http://schemas.openxmlformats.org/officeDocument/2006/relationships/oleObject" Target="../embeddings/oleObject30.bin"/><Relationship Id="rId13" Type="http://schemas.openxmlformats.org/officeDocument/2006/relationships/image" Target="../media/image55.wmf"/><Relationship Id="rId18" Type="http://schemas.openxmlformats.org/officeDocument/2006/relationships/oleObject" Target="../embeddings/oleObject44.bin"/><Relationship Id="rId3" Type="http://schemas.openxmlformats.org/officeDocument/2006/relationships/oleObject" Target="../embeddings/oleObject39.bin"/><Relationship Id="rId7" Type="http://schemas.openxmlformats.org/officeDocument/2006/relationships/image" Target="../media/image15.jpg"/><Relationship Id="rId12" Type="http://schemas.openxmlformats.org/officeDocument/2006/relationships/oleObject" Target="../embeddings/oleObject41.bin"/><Relationship Id="rId17" Type="http://schemas.openxmlformats.org/officeDocument/2006/relationships/image" Target="../media/image57.wmf"/><Relationship Id="rId2" Type="http://schemas.openxmlformats.org/officeDocument/2006/relationships/notesSlide" Target="../notesSlides/notesSlide3.xml"/><Relationship Id="rId16" Type="http://schemas.openxmlformats.org/officeDocument/2006/relationships/oleObject" Target="../embeddings/oleObject43.bin"/><Relationship Id="rId1" Type="http://schemas.openxmlformats.org/officeDocument/2006/relationships/slideLayout" Target="../slideLayouts/slideLayout9.xml"/><Relationship Id="rId6" Type="http://schemas.openxmlformats.org/officeDocument/2006/relationships/image" Target="../media/image44.wmf"/><Relationship Id="rId11" Type="http://schemas.openxmlformats.org/officeDocument/2006/relationships/image" Target="../media/image54.wmf"/><Relationship Id="rId5" Type="http://schemas.openxmlformats.org/officeDocument/2006/relationships/oleObject" Target="../embeddings/oleObject31.bin"/><Relationship Id="rId15" Type="http://schemas.openxmlformats.org/officeDocument/2006/relationships/image" Target="../media/image56.wmf"/><Relationship Id="rId10" Type="http://schemas.openxmlformats.org/officeDocument/2006/relationships/oleObject" Target="../embeddings/oleObject40.bin"/><Relationship Id="rId19" Type="http://schemas.openxmlformats.org/officeDocument/2006/relationships/image" Target="../media/image58.wmf"/><Relationship Id="rId4" Type="http://schemas.openxmlformats.org/officeDocument/2006/relationships/image" Target="../media/image53.wmf"/><Relationship Id="rId9" Type="http://schemas.openxmlformats.org/officeDocument/2006/relationships/image" Target="../media/image43.wmf"/><Relationship Id="rId14" Type="http://schemas.openxmlformats.org/officeDocument/2006/relationships/oleObject" Target="../embeddings/oleObject42.bin"/></Relationships>
</file>

<file path=ppt/slides/_rels/slide15.xml.rels><?xml version="1.0" encoding="UTF-8" standalone="yes"?>
<Relationships xmlns="http://schemas.openxmlformats.org/package/2006/relationships"><Relationship Id="rId3" Type="http://schemas.openxmlformats.org/officeDocument/2006/relationships/image" Target="../media/image59.wmf"/><Relationship Id="rId2" Type="http://schemas.openxmlformats.org/officeDocument/2006/relationships/oleObject" Target="../embeddings/oleObject45.bin"/><Relationship Id="rId1" Type="http://schemas.openxmlformats.org/officeDocument/2006/relationships/slideLayout" Target="../slideLayouts/slideLayout9.xml"/><Relationship Id="rId5" Type="http://schemas.openxmlformats.org/officeDocument/2006/relationships/image" Target="../media/image60.wmf"/><Relationship Id="rId4" Type="http://schemas.openxmlformats.org/officeDocument/2006/relationships/oleObject" Target="../embeddings/oleObject46.bin"/></Relationships>
</file>

<file path=ppt/slides/_rels/slide16.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slideLayout" Target="../slideLayouts/slideLayout9.xml"/><Relationship Id="rId7" Type="http://schemas.openxmlformats.org/officeDocument/2006/relationships/image" Target="../media/image60.wmf"/><Relationship Id="rId2" Type="http://schemas.openxmlformats.org/officeDocument/2006/relationships/tags" Target="../tags/tag11.xml"/><Relationship Id="rId1" Type="http://schemas.openxmlformats.org/officeDocument/2006/relationships/tags" Target="../tags/tag10.xml"/><Relationship Id="rId6" Type="http://schemas.openxmlformats.org/officeDocument/2006/relationships/oleObject" Target="../embeddings/oleObject46.bin"/><Relationship Id="rId5" Type="http://schemas.openxmlformats.org/officeDocument/2006/relationships/image" Target="../media/image59.wmf"/><Relationship Id="rId4" Type="http://schemas.openxmlformats.org/officeDocument/2006/relationships/oleObject" Target="../embeddings/oleObject45.bin"/><Relationship Id="rId9" Type="http://schemas.openxmlformats.org/officeDocument/2006/relationships/image" Target="../media/image22.png"/></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47.bin"/><Relationship Id="rId7" Type="http://schemas.openxmlformats.org/officeDocument/2006/relationships/image" Target="../media/image64.jpg"/><Relationship Id="rId2" Type="http://schemas.openxmlformats.org/officeDocument/2006/relationships/image" Target="../media/image61.jpg"/><Relationship Id="rId1" Type="http://schemas.openxmlformats.org/officeDocument/2006/relationships/slideLayout" Target="../slideLayouts/slideLayout9.xml"/><Relationship Id="rId6" Type="http://schemas.openxmlformats.org/officeDocument/2006/relationships/image" Target="../media/image63.wmf"/><Relationship Id="rId5" Type="http://schemas.openxmlformats.org/officeDocument/2006/relationships/oleObject" Target="../embeddings/oleObject48.bin"/><Relationship Id="rId4" Type="http://schemas.openxmlformats.org/officeDocument/2006/relationships/image" Target="../media/image62.wmf"/></Relationships>
</file>

<file path=ppt/slides/_rels/slide18.xml.rels><?xml version="1.0" encoding="UTF-8" standalone="yes"?>
<Relationships xmlns="http://schemas.openxmlformats.org/package/2006/relationships"><Relationship Id="rId8" Type="http://schemas.openxmlformats.org/officeDocument/2006/relationships/image" Target="../media/image68.wmf"/><Relationship Id="rId3" Type="http://schemas.openxmlformats.org/officeDocument/2006/relationships/oleObject" Target="../embeddings/oleObject49.bin"/><Relationship Id="rId7" Type="http://schemas.openxmlformats.org/officeDocument/2006/relationships/oleObject" Target="../embeddings/oleObject51.bin"/><Relationship Id="rId2" Type="http://schemas.openxmlformats.org/officeDocument/2006/relationships/image" Target="../media/image65.jpg"/><Relationship Id="rId1" Type="http://schemas.openxmlformats.org/officeDocument/2006/relationships/slideLayout" Target="../slideLayouts/slideLayout9.xml"/><Relationship Id="rId6" Type="http://schemas.openxmlformats.org/officeDocument/2006/relationships/image" Target="../media/image67.wmf"/><Relationship Id="rId5" Type="http://schemas.openxmlformats.org/officeDocument/2006/relationships/oleObject" Target="../embeddings/oleObject50.bin"/><Relationship Id="rId4" Type="http://schemas.openxmlformats.org/officeDocument/2006/relationships/image" Target="../media/image66.wmf"/></Relationships>
</file>

<file path=ppt/slides/_rels/slide19.xml.rels><?xml version="1.0" encoding="UTF-8" standalone="yes"?>
<Relationships xmlns="http://schemas.openxmlformats.org/package/2006/relationships"><Relationship Id="rId8" Type="http://schemas.openxmlformats.org/officeDocument/2006/relationships/image" Target="../media/image67.wmf"/><Relationship Id="rId3" Type="http://schemas.openxmlformats.org/officeDocument/2006/relationships/image" Target="../media/image69.png"/><Relationship Id="rId7" Type="http://schemas.openxmlformats.org/officeDocument/2006/relationships/oleObject" Target="../embeddings/oleObject50.bin"/><Relationship Id="rId2" Type="http://schemas.openxmlformats.org/officeDocument/2006/relationships/image" Target="../media/image65.jpg"/><Relationship Id="rId1" Type="http://schemas.openxmlformats.org/officeDocument/2006/relationships/slideLayout" Target="../slideLayouts/slideLayout9.xml"/><Relationship Id="rId6" Type="http://schemas.openxmlformats.org/officeDocument/2006/relationships/image" Target="../media/image70.png"/><Relationship Id="rId5" Type="http://schemas.openxmlformats.org/officeDocument/2006/relationships/image" Target="../media/image66.wmf"/><Relationship Id="rId10" Type="http://schemas.openxmlformats.org/officeDocument/2006/relationships/image" Target="../media/image68.wmf"/><Relationship Id="rId4" Type="http://schemas.openxmlformats.org/officeDocument/2006/relationships/oleObject" Target="../embeddings/oleObject49.bin"/><Relationship Id="rId9" Type="http://schemas.openxmlformats.org/officeDocument/2006/relationships/oleObject" Target="../embeddings/oleObject51.bin"/></Relationships>
</file>

<file path=ppt/slides/_rels/slide20.xml.rels><?xml version="1.0" encoding="UTF-8" standalone="yes"?>
<Relationships xmlns="http://schemas.openxmlformats.org/package/2006/relationships"><Relationship Id="rId8" Type="http://schemas.openxmlformats.org/officeDocument/2006/relationships/image" Target="../media/image72.wmf"/><Relationship Id="rId13" Type="http://schemas.openxmlformats.org/officeDocument/2006/relationships/oleObject" Target="../embeddings/oleObject55.bin"/><Relationship Id="rId3" Type="http://schemas.openxmlformats.org/officeDocument/2006/relationships/oleObject" Target="../embeddings/oleObject52.bin"/><Relationship Id="rId7" Type="http://schemas.openxmlformats.org/officeDocument/2006/relationships/oleObject" Target="../embeddings/oleObject53.bin"/><Relationship Id="rId12" Type="http://schemas.openxmlformats.org/officeDocument/2006/relationships/image" Target="../media/image75.wmf"/><Relationship Id="rId2" Type="http://schemas.openxmlformats.org/officeDocument/2006/relationships/image" Target="../media/image61.jpg"/><Relationship Id="rId1" Type="http://schemas.openxmlformats.org/officeDocument/2006/relationships/slideLayout" Target="../slideLayouts/slideLayout9.xml"/><Relationship Id="rId6" Type="http://schemas.openxmlformats.org/officeDocument/2006/relationships/image" Target="../media/image4.wmf"/><Relationship Id="rId11" Type="http://schemas.openxmlformats.org/officeDocument/2006/relationships/oleObject" Target="../embeddings/oleObject54.bin"/><Relationship Id="rId5" Type="http://schemas.openxmlformats.org/officeDocument/2006/relationships/oleObject" Target="../embeddings/oleObject2.bin"/><Relationship Id="rId10" Type="http://schemas.openxmlformats.org/officeDocument/2006/relationships/image" Target="../media/image74.jpg"/><Relationship Id="rId4" Type="http://schemas.openxmlformats.org/officeDocument/2006/relationships/image" Target="../media/image71.wmf"/><Relationship Id="rId9" Type="http://schemas.openxmlformats.org/officeDocument/2006/relationships/image" Target="../media/image73.jpg"/><Relationship Id="rId14" Type="http://schemas.openxmlformats.org/officeDocument/2006/relationships/image" Target="../media/image76.wmf"/></Relationships>
</file>

<file path=ppt/slides/_rels/slide21.xml.rels><?xml version="1.0" encoding="UTF-8" standalone="yes"?>
<Relationships xmlns="http://schemas.openxmlformats.org/package/2006/relationships"><Relationship Id="rId8" Type="http://schemas.openxmlformats.org/officeDocument/2006/relationships/image" Target="../media/image79.wmf"/><Relationship Id="rId13" Type="http://schemas.openxmlformats.org/officeDocument/2006/relationships/image" Target="../media/image82.wmf"/><Relationship Id="rId3" Type="http://schemas.openxmlformats.org/officeDocument/2006/relationships/oleObject" Target="../embeddings/oleObject56.bin"/><Relationship Id="rId7" Type="http://schemas.openxmlformats.org/officeDocument/2006/relationships/oleObject" Target="../embeddings/oleObject58.bin"/><Relationship Id="rId12" Type="http://schemas.openxmlformats.org/officeDocument/2006/relationships/oleObject" Target="../embeddings/oleObject60.bin"/><Relationship Id="rId2" Type="http://schemas.openxmlformats.org/officeDocument/2006/relationships/image" Target="../media/image61.jpg"/><Relationship Id="rId1" Type="http://schemas.openxmlformats.org/officeDocument/2006/relationships/slideLayout" Target="../slideLayouts/slideLayout9.xml"/><Relationship Id="rId6" Type="http://schemas.openxmlformats.org/officeDocument/2006/relationships/image" Target="../media/image78.wmf"/><Relationship Id="rId11" Type="http://schemas.openxmlformats.org/officeDocument/2006/relationships/image" Target="../media/image81.wmf"/><Relationship Id="rId5" Type="http://schemas.openxmlformats.org/officeDocument/2006/relationships/oleObject" Target="../embeddings/oleObject57.bin"/><Relationship Id="rId15" Type="http://schemas.openxmlformats.org/officeDocument/2006/relationships/image" Target="../media/image83.wmf"/><Relationship Id="rId10" Type="http://schemas.openxmlformats.org/officeDocument/2006/relationships/oleObject" Target="../embeddings/oleObject59.bin"/><Relationship Id="rId4" Type="http://schemas.openxmlformats.org/officeDocument/2006/relationships/image" Target="../media/image77.wmf"/><Relationship Id="rId9" Type="http://schemas.openxmlformats.org/officeDocument/2006/relationships/image" Target="../media/image80.jpg"/><Relationship Id="rId14" Type="http://schemas.openxmlformats.org/officeDocument/2006/relationships/oleObject" Target="../embeddings/oleObject61.bin"/></Relationships>
</file>

<file path=ppt/slides/_rels/slide22.xml.rels><?xml version="1.0" encoding="UTF-8" standalone="yes"?>
<Relationships xmlns="http://schemas.openxmlformats.org/package/2006/relationships"><Relationship Id="rId8" Type="http://schemas.openxmlformats.org/officeDocument/2006/relationships/image" Target="../media/image86.wmf"/><Relationship Id="rId3" Type="http://schemas.openxmlformats.org/officeDocument/2006/relationships/oleObject" Target="../embeddings/oleObject62.bin"/><Relationship Id="rId7" Type="http://schemas.openxmlformats.org/officeDocument/2006/relationships/oleObject" Target="../embeddings/oleObject64.bin"/><Relationship Id="rId2" Type="http://schemas.openxmlformats.org/officeDocument/2006/relationships/image" Target="../media/image61.jpg"/><Relationship Id="rId1" Type="http://schemas.openxmlformats.org/officeDocument/2006/relationships/slideLayout" Target="../slideLayouts/slideLayout9.xml"/><Relationship Id="rId6" Type="http://schemas.openxmlformats.org/officeDocument/2006/relationships/image" Target="../media/image85.wmf"/><Relationship Id="rId5" Type="http://schemas.openxmlformats.org/officeDocument/2006/relationships/oleObject" Target="../embeddings/oleObject63.bin"/><Relationship Id="rId10" Type="http://schemas.openxmlformats.org/officeDocument/2006/relationships/image" Target="../media/image87.wmf"/><Relationship Id="rId4" Type="http://schemas.openxmlformats.org/officeDocument/2006/relationships/image" Target="../media/image84.wmf"/><Relationship Id="rId9" Type="http://schemas.openxmlformats.org/officeDocument/2006/relationships/oleObject" Target="../embeddings/oleObject65.bin"/></Relationships>
</file>

<file path=ppt/slides/_rels/slide23.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4.xml"/><Relationship Id="rId1" Type="http://schemas.openxmlformats.org/officeDocument/2006/relationships/slideLayout" Target="../slideLayouts/slideLayout15.xml"/><Relationship Id="rId4" Type="http://schemas.openxmlformats.org/officeDocument/2006/relationships/image" Target="../media/image89.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98728-A241-43F4-95FF-6C49FEEA0911}"/>
              </a:ext>
            </a:extLst>
          </p:cNvPr>
          <p:cNvSpPr>
            <a:spLocks noGrp="1"/>
          </p:cNvSpPr>
          <p:nvPr>
            <p:ph type="title"/>
          </p:nvPr>
        </p:nvSpPr>
        <p:spPr>
          <a:xfrm>
            <a:off x="430304" y="215371"/>
            <a:ext cx="8208055" cy="590349"/>
          </a:xfrm>
        </p:spPr>
        <p:txBody>
          <a:bodyPr wrap="square" lIns="0" tIns="18000" rIns="0" bIns="18000" anchor="ctr">
            <a:spAutoFit/>
          </a:bodyPr>
          <a:lstStyle/>
          <a:p>
            <a:r>
              <a:rPr lang="en-US" noProof="0" dirty="0"/>
              <a:t>Electric Circuits</a:t>
            </a:r>
          </a:p>
        </p:txBody>
      </p:sp>
      <p:sp>
        <p:nvSpPr>
          <p:cNvPr id="3" name="Content Placeholder 2">
            <a:extLst>
              <a:ext uri="{FF2B5EF4-FFF2-40B4-BE49-F238E27FC236}">
                <a16:creationId xmlns:a16="http://schemas.microsoft.com/office/drawing/2014/main" id="{ABE18F80-D4FC-4D8F-B2BD-E7BEE7E012B5}"/>
              </a:ext>
            </a:extLst>
          </p:cNvPr>
          <p:cNvSpPr>
            <a:spLocks noGrp="1"/>
          </p:cNvSpPr>
          <p:nvPr>
            <p:ph type="body" idx="1"/>
          </p:nvPr>
        </p:nvSpPr>
        <p:spPr>
          <a:xfrm>
            <a:off x="430305" y="1106770"/>
            <a:ext cx="8208054" cy="344128"/>
          </a:xfrm>
        </p:spPr>
        <p:txBody>
          <a:bodyPr wrap="square" lIns="0" tIns="18000" rIns="0" bIns="18000" anchor="ctr">
            <a:spAutoFit/>
          </a:bodyPr>
          <a:lstStyle/>
          <a:p>
            <a:r>
              <a:rPr lang="en-US" noProof="0" dirty="0"/>
              <a:t>Twelfth Edition, </a:t>
            </a:r>
            <a:r>
              <a:rPr lang="en-US" dirty="0"/>
              <a:t>Global Edition</a:t>
            </a:r>
            <a:endParaRPr lang="en-US" noProof="0" dirty="0"/>
          </a:p>
        </p:txBody>
      </p:sp>
      <p:pic>
        <p:nvPicPr>
          <p:cNvPr id="9" name="Picture 8">
            <a:extLst>
              <a:ext uri="{FF2B5EF4-FFF2-40B4-BE49-F238E27FC236}">
                <a16:creationId xmlns:a16="http://schemas.microsoft.com/office/drawing/2014/main" id="{EE79CEAF-1013-411A-BA88-904A0EE3795D}"/>
              </a:ext>
            </a:extLst>
          </p:cNvPr>
          <p:cNvPicPr>
            <a:picLocks noChangeAspect="1"/>
          </p:cNvPicPr>
          <p:nvPr/>
        </p:nvPicPr>
        <p:blipFill>
          <a:blip r:embed="rId3"/>
          <a:stretch>
            <a:fillRect/>
          </a:stretch>
        </p:blipFill>
        <p:spPr>
          <a:xfrm>
            <a:off x="492662" y="1771328"/>
            <a:ext cx="3609247" cy="4511158"/>
          </a:xfrm>
          <a:prstGeom prst="rect">
            <a:avLst/>
          </a:prstGeom>
        </p:spPr>
      </p:pic>
      <p:sp>
        <p:nvSpPr>
          <p:cNvPr id="5" name="Content Placeholder 4">
            <a:extLst>
              <a:ext uri="{FF2B5EF4-FFF2-40B4-BE49-F238E27FC236}">
                <a16:creationId xmlns:a16="http://schemas.microsoft.com/office/drawing/2014/main" id="{2D222376-7AD7-4443-B67A-120BE12F4DDB}"/>
              </a:ext>
            </a:extLst>
          </p:cNvPr>
          <p:cNvSpPr>
            <a:spLocks noGrp="1"/>
          </p:cNvSpPr>
          <p:nvPr>
            <p:ph sz="quarter" idx="14"/>
          </p:nvPr>
        </p:nvSpPr>
        <p:spPr>
          <a:xfrm>
            <a:off x="4578799" y="2815153"/>
            <a:ext cx="3657600" cy="498016"/>
          </a:xfrm>
        </p:spPr>
        <p:txBody>
          <a:bodyPr lIns="0" tIns="18000" rIns="0" bIns="18000" anchor="ctr">
            <a:spAutoFit/>
          </a:bodyPr>
          <a:lstStyle/>
          <a:p>
            <a:pPr indent="-101600"/>
            <a:r>
              <a:rPr lang="en-US" noProof="0" dirty="0">
                <a:solidFill>
                  <a:schemeClr val="tx1"/>
                </a:solidFill>
              </a:rPr>
              <a:t>Chapter 7 – Part 2</a:t>
            </a:r>
          </a:p>
        </p:txBody>
      </p:sp>
      <p:sp>
        <p:nvSpPr>
          <p:cNvPr id="6" name="Content Placeholder 5">
            <a:extLst>
              <a:ext uri="{FF2B5EF4-FFF2-40B4-BE49-F238E27FC236}">
                <a16:creationId xmlns:a16="http://schemas.microsoft.com/office/drawing/2014/main" id="{82FD4EC9-4778-4E2F-B136-2A176CA2BA69}"/>
              </a:ext>
            </a:extLst>
          </p:cNvPr>
          <p:cNvSpPr>
            <a:spLocks noGrp="1"/>
          </p:cNvSpPr>
          <p:nvPr>
            <p:ph sz="quarter" idx="15"/>
          </p:nvPr>
        </p:nvSpPr>
        <p:spPr>
          <a:xfrm>
            <a:off x="4578797" y="3587215"/>
            <a:ext cx="4061965" cy="775015"/>
          </a:xfrm>
        </p:spPr>
        <p:txBody>
          <a:bodyPr wrap="square" lIns="0" tIns="18000" rIns="0" bIns="18000" anchor="ctr">
            <a:spAutoFit/>
          </a:bodyPr>
          <a:lstStyle/>
          <a:p>
            <a:pPr marL="0"/>
            <a:r>
              <a:rPr lang="en-US" sz="2400" noProof="0" dirty="0"/>
              <a:t>Response of First-Order </a:t>
            </a:r>
            <a:r>
              <a:rPr lang="en-US" sz="2400" i="1" spc="-300" noProof="0" dirty="0"/>
              <a:t>R </a:t>
            </a:r>
            <a:r>
              <a:rPr lang="en-US" sz="2400" i="1" noProof="0" dirty="0"/>
              <a:t>L</a:t>
            </a:r>
            <a:r>
              <a:rPr lang="en-US" sz="2400" noProof="0" dirty="0"/>
              <a:t> and </a:t>
            </a:r>
            <a:r>
              <a:rPr lang="en-US" sz="2400" i="1" spc="-300" noProof="0" dirty="0"/>
              <a:t>R </a:t>
            </a:r>
            <a:r>
              <a:rPr lang="en-US" sz="2400" i="1" noProof="0" dirty="0"/>
              <a:t>C</a:t>
            </a:r>
            <a:r>
              <a:rPr lang="en-US" sz="2400" noProof="0" dirty="0"/>
              <a:t> Circuits</a:t>
            </a:r>
          </a:p>
        </p:txBody>
      </p:sp>
      <p:pic>
        <p:nvPicPr>
          <p:cNvPr id="7" name="Picture 6" descr="Pearson Logo">
            <a:extLst>
              <a:ext uri="{FF2B5EF4-FFF2-40B4-BE49-F238E27FC236}">
                <a16:creationId xmlns:a16="http://schemas.microsoft.com/office/drawing/2014/main" id="{2D6CD67E-9719-942F-6EF3-6FAF10F92244}"/>
              </a:ext>
            </a:extLst>
          </p:cNvPr>
          <p:cNvPicPr>
            <a:picLocks noChangeAspect="1"/>
          </p:cNvPicPr>
          <p:nvPr/>
        </p:nvPicPr>
        <p:blipFill>
          <a:blip r:embed="rId4"/>
          <a:stretch>
            <a:fillRect/>
          </a:stretch>
        </p:blipFill>
        <p:spPr>
          <a:xfrm>
            <a:off x="430085" y="6411214"/>
            <a:ext cx="986560" cy="310866"/>
          </a:xfrm>
          <a:prstGeom prst="rect">
            <a:avLst/>
          </a:prstGeom>
        </p:spPr>
      </p:pic>
      <p:sp>
        <p:nvSpPr>
          <p:cNvPr id="8" name="Content Placeholder 7">
            <a:extLst>
              <a:ext uri="{FF2B5EF4-FFF2-40B4-BE49-F238E27FC236}">
                <a16:creationId xmlns:a16="http://schemas.microsoft.com/office/drawing/2014/main" id="{C8E88D28-1A9F-4FC4-946F-10B4629D1438}"/>
              </a:ext>
            </a:extLst>
          </p:cNvPr>
          <p:cNvSpPr>
            <a:spLocks noGrp="1"/>
          </p:cNvSpPr>
          <p:nvPr>
            <p:ph sz="quarter" idx="17"/>
          </p:nvPr>
        </p:nvSpPr>
        <p:spPr>
          <a:xfrm>
            <a:off x="2589123" y="6443304"/>
            <a:ext cx="6049236" cy="221018"/>
          </a:xfrm>
        </p:spPr>
        <p:txBody>
          <a:bodyPr wrap="square" lIns="0" tIns="18000" rIns="0" bIns="18000" anchor="ctr">
            <a:spAutoFit/>
          </a:bodyPr>
          <a:lstStyle/>
          <a:p>
            <a:pPr algn="r"/>
            <a:r>
              <a:rPr lang="en-US" sz="1200" noProof="0" dirty="0">
                <a:latin typeface="Verdana" panose="020B0604030504040204" pitchFamily="34" charset="0"/>
                <a:ea typeface="Verdana" panose="020B0604030504040204" pitchFamily="34" charset="0"/>
                <a:cs typeface="Verdana" panose="020B0604030504040204" pitchFamily="34" charset="0"/>
              </a:rPr>
              <a:t>© 2024 Pearson Education Ltd. All Rights Reserved.</a:t>
            </a:r>
          </a:p>
        </p:txBody>
      </p:sp>
    </p:spTree>
    <p:extLst>
      <p:ext uri="{BB962C8B-B14F-4D97-AF65-F5344CB8AC3E}">
        <p14:creationId xmlns:p14="http://schemas.microsoft.com/office/powerpoint/2010/main" val="27449903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7056" y="216648"/>
            <a:ext cx="8213707" cy="590349"/>
          </a:xfrm>
        </p:spPr>
        <p:txBody>
          <a:bodyPr wrap="square" lIns="0" tIns="18000" rIns="0" bIns="18000" anchor="ctr" anchorCtr="0">
            <a:spAutoFit/>
          </a:bodyPr>
          <a:lstStyle/>
          <a:p>
            <a:r>
              <a:rPr lang="en-US" noProof="0" dirty="0"/>
              <a:t>Chapter 7 – </a:t>
            </a:r>
            <a:r>
              <a:rPr lang="en-US" i="1" spc="-450" noProof="0" dirty="0"/>
              <a:t>R </a:t>
            </a:r>
            <a:r>
              <a:rPr lang="en-US" i="1" noProof="0" dirty="0"/>
              <a:t>L</a:t>
            </a:r>
            <a:r>
              <a:rPr lang="en-US" noProof="0" dirty="0"/>
              <a:t> Natural Response</a:t>
            </a:r>
            <a:endParaRPr lang="en-US" sz="2800" noProof="0" dirty="0"/>
          </a:p>
        </p:txBody>
      </p:sp>
      <p:sp>
        <p:nvSpPr>
          <p:cNvPr id="2" name="Content Placeholder 1">
            <a:extLst>
              <a:ext uri="{FF2B5EF4-FFF2-40B4-BE49-F238E27FC236}">
                <a16:creationId xmlns:a16="http://schemas.microsoft.com/office/drawing/2014/main" id="{2C2B8E74-F161-476F-9EE4-53340C700737}"/>
              </a:ext>
            </a:extLst>
          </p:cNvPr>
          <p:cNvSpPr>
            <a:spLocks noGrp="1"/>
          </p:cNvSpPr>
          <p:nvPr>
            <p:ph sz="quarter" idx="12"/>
          </p:nvPr>
        </p:nvSpPr>
        <p:spPr>
          <a:xfrm>
            <a:off x="427057" y="1006111"/>
            <a:ext cx="2939142" cy="405683"/>
          </a:xfrm>
        </p:spPr>
        <p:txBody>
          <a:bodyPr wrap="square" lIns="0" tIns="18000" rIns="0" bIns="18000" anchor="ctr" anchorCtr="0">
            <a:spAutoFit/>
          </a:bodyPr>
          <a:lstStyle/>
          <a:p>
            <a:pPr marL="0" indent="0">
              <a:spcBef>
                <a:spcPts val="600"/>
              </a:spcBef>
              <a:buNone/>
            </a:pPr>
            <a:r>
              <a:rPr lang="en-US" sz="2400" noProof="0" dirty="0"/>
              <a:t>The analysis method:</a:t>
            </a:r>
          </a:p>
        </p:txBody>
      </p:sp>
      <p:sp>
        <p:nvSpPr>
          <p:cNvPr id="3" name="Content Placeholder 2">
            <a:extLst>
              <a:ext uri="{FF2B5EF4-FFF2-40B4-BE49-F238E27FC236}">
                <a16:creationId xmlns:a16="http://schemas.microsoft.com/office/drawing/2014/main" id="{CBB082A0-37BC-4118-943C-BE4CCC2031D2}"/>
              </a:ext>
            </a:extLst>
          </p:cNvPr>
          <p:cNvSpPr>
            <a:spLocks noGrp="1"/>
          </p:cNvSpPr>
          <p:nvPr>
            <p:ph sz="quarter" idx="13"/>
          </p:nvPr>
        </p:nvSpPr>
        <p:spPr>
          <a:xfrm>
            <a:off x="427056" y="1586613"/>
            <a:ext cx="6275195" cy="405683"/>
          </a:xfrm>
        </p:spPr>
        <p:txBody>
          <a:bodyPr wrap="square" lIns="0" tIns="18000" rIns="0" bIns="18000" anchor="ctr" anchorCtr="0">
            <a:spAutoFit/>
          </a:bodyPr>
          <a:lstStyle/>
          <a:p>
            <a:pPr marL="0" indent="0">
              <a:spcBef>
                <a:spcPts val="600"/>
              </a:spcBef>
              <a:buNone/>
            </a:pPr>
            <a:r>
              <a:rPr lang="en-US" altLang="en-US" sz="2400" noProof="0" dirty="0"/>
              <a:t>Step 1 – Determine the initial inductor current,</a:t>
            </a:r>
            <a:endParaRPr lang="en-US" sz="2400" noProof="0" dirty="0"/>
          </a:p>
        </p:txBody>
      </p:sp>
      <p:graphicFrame>
        <p:nvGraphicFramePr>
          <p:cNvPr id="18" name="Object 17" descr="I subscript 0,">
            <a:extLst>
              <a:ext uri="{FF2B5EF4-FFF2-40B4-BE49-F238E27FC236}">
                <a16:creationId xmlns:a16="http://schemas.microsoft.com/office/drawing/2014/main" id="{895C07FC-3BCC-47A7-AF0D-763994909860}"/>
              </a:ext>
            </a:extLst>
          </p:cNvPr>
          <p:cNvGraphicFramePr>
            <a:graphicFrameLocks noChangeAspect="1"/>
          </p:cNvGraphicFramePr>
          <p:nvPr>
            <p:extLst>
              <p:ext uri="{D42A27DB-BD31-4B8C-83A1-F6EECF244321}">
                <p14:modId xmlns:p14="http://schemas.microsoft.com/office/powerpoint/2010/main" val="4124153964"/>
              </p:ext>
            </p:extLst>
          </p:nvPr>
        </p:nvGraphicFramePr>
        <p:xfrm>
          <a:off x="6740306" y="1585339"/>
          <a:ext cx="348981" cy="472253"/>
        </p:xfrm>
        <a:graphic>
          <a:graphicData uri="http://schemas.openxmlformats.org/presentationml/2006/ole">
            <mc:AlternateContent xmlns:mc="http://schemas.openxmlformats.org/markup-compatibility/2006">
              <mc:Choice xmlns:v="urn:schemas-microsoft-com:vml" Requires="v">
                <p:oleObj name="Equation" r:id="rId2" imgW="177480" imgH="228600" progId="Equation.DSMT4">
                  <p:embed/>
                </p:oleObj>
              </mc:Choice>
              <mc:Fallback>
                <p:oleObj name="Equation" r:id="rId2" imgW="177480" imgH="228600" progId="Equation.DSMT4">
                  <p:embed/>
                  <p:pic>
                    <p:nvPicPr>
                      <p:cNvPr id="14" name="Object 13" descr="S subscript 0 colon">
                        <a:extLst>
                          <a:ext uri="{FF2B5EF4-FFF2-40B4-BE49-F238E27FC236}">
                            <a16:creationId xmlns:a16="http://schemas.microsoft.com/office/drawing/2014/main" id="{43AAFCB8-7F4D-49F3-89D0-827876B26584}"/>
                          </a:ext>
                        </a:extLst>
                      </p:cNvPr>
                      <p:cNvPicPr>
                        <a:picLocks noChangeAspect="1" noChangeArrowheads="1"/>
                      </p:cNvPicPr>
                      <p:nvPr/>
                    </p:nvPicPr>
                    <p:blipFill>
                      <a:blip r:embed="rId3"/>
                      <a:srcRect/>
                      <a:stretch>
                        <a:fillRect/>
                      </a:stretch>
                    </p:blipFill>
                    <p:spPr bwMode="auto">
                      <a:xfrm>
                        <a:off x="6740306" y="1585339"/>
                        <a:ext cx="348981" cy="47225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Content Placeholder 3">
            <a:extLst>
              <a:ext uri="{FF2B5EF4-FFF2-40B4-BE49-F238E27FC236}">
                <a16:creationId xmlns:a16="http://schemas.microsoft.com/office/drawing/2014/main" id="{484836DA-13B0-4762-94F6-91FB75DD04D6}"/>
              </a:ext>
            </a:extLst>
          </p:cNvPr>
          <p:cNvSpPr>
            <a:spLocks noGrp="1"/>
          </p:cNvSpPr>
          <p:nvPr>
            <p:ph sz="quarter" idx="14"/>
          </p:nvPr>
        </p:nvSpPr>
        <p:spPr>
          <a:xfrm>
            <a:off x="7226686" y="1584311"/>
            <a:ext cx="397730" cy="405683"/>
          </a:xfrm>
        </p:spPr>
        <p:txBody>
          <a:bodyPr wrap="square" lIns="0" tIns="18000" rIns="0" bIns="18000" anchor="ctr" anchorCtr="0">
            <a:spAutoFit/>
          </a:bodyPr>
          <a:lstStyle/>
          <a:p>
            <a:pPr marL="0" indent="0">
              <a:spcBef>
                <a:spcPts val="600"/>
              </a:spcBef>
              <a:buNone/>
            </a:pPr>
            <a:r>
              <a:rPr lang="en-US" sz="2400" noProof="0" dirty="0"/>
              <a:t>by</a:t>
            </a:r>
          </a:p>
        </p:txBody>
      </p:sp>
      <p:sp>
        <p:nvSpPr>
          <p:cNvPr id="5" name="Content Placeholder 4">
            <a:extLst>
              <a:ext uri="{FF2B5EF4-FFF2-40B4-BE49-F238E27FC236}">
                <a16:creationId xmlns:a16="http://schemas.microsoft.com/office/drawing/2014/main" id="{2F42C7B6-3E8F-4E85-85C4-2A274F882669}"/>
              </a:ext>
            </a:extLst>
          </p:cNvPr>
          <p:cNvSpPr>
            <a:spLocks noGrp="1"/>
          </p:cNvSpPr>
          <p:nvPr>
            <p:ph sz="quarter" idx="15"/>
          </p:nvPr>
        </p:nvSpPr>
        <p:spPr>
          <a:xfrm>
            <a:off x="436286" y="2104526"/>
            <a:ext cx="3181121" cy="405683"/>
          </a:xfrm>
        </p:spPr>
        <p:txBody>
          <a:bodyPr wrap="square" lIns="0" tIns="18000" rIns="0" bIns="18000" anchor="ctr" anchorCtr="0">
            <a:spAutoFit/>
          </a:bodyPr>
          <a:lstStyle/>
          <a:p>
            <a:pPr marL="0" indent="0">
              <a:spcBef>
                <a:spcPts val="600"/>
              </a:spcBef>
              <a:buNone/>
            </a:pPr>
            <a:r>
              <a:rPr lang="en-US" sz="2400" noProof="0" dirty="0"/>
              <a:t>analyzing the circuit for</a:t>
            </a:r>
          </a:p>
        </p:txBody>
      </p:sp>
      <p:graphicFrame>
        <p:nvGraphicFramePr>
          <p:cNvPr id="14" name="Object 13" descr="t is less than 0.">
            <a:extLst>
              <a:ext uri="{FF2B5EF4-FFF2-40B4-BE49-F238E27FC236}">
                <a16:creationId xmlns:a16="http://schemas.microsoft.com/office/drawing/2014/main" id="{43AAFCB8-7F4D-49F3-89D0-827876B26584}"/>
              </a:ext>
            </a:extLst>
          </p:cNvPr>
          <p:cNvGraphicFramePr>
            <a:graphicFrameLocks noChangeAspect="1"/>
          </p:cNvGraphicFramePr>
          <p:nvPr>
            <p:extLst>
              <p:ext uri="{D42A27DB-BD31-4B8C-83A1-F6EECF244321}">
                <p14:modId xmlns:p14="http://schemas.microsoft.com/office/powerpoint/2010/main" val="1113667338"/>
              </p:ext>
            </p:extLst>
          </p:nvPr>
        </p:nvGraphicFramePr>
        <p:xfrm>
          <a:off x="3685406" y="2147983"/>
          <a:ext cx="694906" cy="388133"/>
        </p:xfrm>
        <a:graphic>
          <a:graphicData uri="http://schemas.openxmlformats.org/presentationml/2006/ole">
            <mc:AlternateContent xmlns:mc="http://schemas.openxmlformats.org/markup-compatibility/2006">
              <mc:Choice xmlns:v="urn:schemas-microsoft-com:vml" Requires="v">
                <p:oleObj name="Equation" r:id="rId4" imgW="380880" imgH="203040" progId="Equation.DSMT4">
                  <p:embed/>
                </p:oleObj>
              </mc:Choice>
              <mc:Fallback>
                <p:oleObj name="Equation" r:id="rId4" imgW="380880" imgH="203040" progId="Equation.DSMT4">
                  <p:embed/>
                  <p:pic>
                    <p:nvPicPr>
                      <p:cNvPr id="23" name="Object 22" descr="S subscript 0 colon">
                        <a:extLst>
                          <a:ext uri="{FF2B5EF4-FFF2-40B4-BE49-F238E27FC236}">
                            <a16:creationId xmlns:a16="http://schemas.microsoft.com/office/drawing/2014/main" id="{A4669B5C-D85C-4FFB-BA58-803BF195E26C}"/>
                          </a:ext>
                        </a:extLst>
                      </p:cNvPr>
                      <p:cNvPicPr>
                        <a:picLocks noChangeAspect="1" noChangeArrowheads="1"/>
                      </p:cNvPicPr>
                      <p:nvPr/>
                    </p:nvPicPr>
                    <p:blipFill>
                      <a:blip r:embed="rId5"/>
                      <a:srcRect/>
                      <a:stretch>
                        <a:fillRect/>
                      </a:stretch>
                    </p:blipFill>
                    <p:spPr bwMode="auto">
                      <a:xfrm>
                        <a:off x="3685406" y="2147983"/>
                        <a:ext cx="694906" cy="38813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Content Placeholder 6">
            <a:extLst>
              <a:ext uri="{FF2B5EF4-FFF2-40B4-BE49-F238E27FC236}">
                <a16:creationId xmlns:a16="http://schemas.microsoft.com/office/drawing/2014/main" id="{B727412B-F57F-45EA-A787-95D53A9E4AD0}"/>
              </a:ext>
            </a:extLst>
          </p:cNvPr>
          <p:cNvSpPr>
            <a:spLocks noGrp="1"/>
          </p:cNvSpPr>
          <p:nvPr>
            <p:ph sz="quarter" idx="16"/>
          </p:nvPr>
        </p:nvSpPr>
        <p:spPr>
          <a:xfrm>
            <a:off x="425772" y="2733537"/>
            <a:ext cx="5019973" cy="405683"/>
          </a:xfrm>
        </p:spPr>
        <p:txBody>
          <a:bodyPr wrap="square" lIns="0" tIns="18000" rIns="0" bIns="18000" anchor="ctr" anchorCtr="0">
            <a:spAutoFit/>
          </a:bodyPr>
          <a:lstStyle/>
          <a:p>
            <a:pPr marL="0" indent="0">
              <a:spcBef>
                <a:spcPts val="600"/>
              </a:spcBef>
              <a:buNone/>
            </a:pPr>
            <a:r>
              <a:rPr lang="en-US" sz="2400" noProof="0" dirty="0"/>
              <a:t>Step 2 – Calculate the time constant,</a:t>
            </a:r>
          </a:p>
        </p:txBody>
      </p:sp>
      <p:graphicFrame>
        <p:nvGraphicFramePr>
          <p:cNvPr id="15" name="Object 14" descr="Tau equals L divided by R,">
            <a:extLst>
              <a:ext uri="{FF2B5EF4-FFF2-40B4-BE49-F238E27FC236}">
                <a16:creationId xmlns:a16="http://schemas.microsoft.com/office/drawing/2014/main" id="{356376C8-3252-4A06-9DB1-AB8BFDA73B02}"/>
              </a:ext>
            </a:extLst>
          </p:cNvPr>
          <p:cNvGraphicFramePr>
            <a:graphicFrameLocks noChangeAspect="1"/>
          </p:cNvGraphicFramePr>
          <p:nvPr>
            <p:extLst>
              <p:ext uri="{D42A27DB-BD31-4B8C-83A1-F6EECF244321}">
                <p14:modId xmlns:p14="http://schemas.microsoft.com/office/powerpoint/2010/main" val="2662244000"/>
              </p:ext>
            </p:extLst>
          </p:nvPr>
        </p:nvGraphicFramePr>
        <p:xfrm>
          <a:off x="5445324" y="2773179"/>
          <a:ext cx="1068812" cy="389802"/>
        </p:xfrm>
        <a:graphic>
          <a:graphicData uri="http://schemas.openxmlformats.org/presentationml/2006/ole">
            <mc:AlternateContent xmlns:mc="http://schemas.openxmlformats.org/markup-compatibility/2006">
              <mc:Choice xmlns:v="urn:schemas-microsoft-com:vml" Requires="v">
                <p:oleObj name="Equation" r:id="rId6" imgW="583920" imgH="203040" progId="Equation.DSMT4">
                  <p:embed/>
                </p:oleObj>
              </mc:Choice>
              <mc:Fallback>
                <p:oleObj name="Equation" r:id="rId6" imgW="583920" imgH="203040" progId="Equation.DSMT4">
                  <p:embed/>
                  <p:pic>
                    <p:nvPicPr>
                      <p:cNvPr id="14" name="Object 13" descr="S subscript 0 colon">
                        <a:extLst>
                          <a:ext uri="{FF2B5EF4-FFF2-40B4-BE49-F238E27FC236}">
                            <a16:creationId xmlns:a16="http://schemas.microsoft.com/office/drawing/2014/main" id="{43AAFCB8-7F4D-49F3-89D0-827876B26584}"/>
                          </a:ext>
                        </a:extLst>
                      </p:cNvPr>
                      <p:cNvPicPr>
                        <a:picLocks noChangeAspect="1" noChangeArrowheads="1"/>
                      </p:cNvPicPr>
                      <p:nvPr/>
                    </p:nvPicPr>
                    <p:blipFill>
                      <a:blip r:embed="rId7"/>
                      <a:srcRect/>
                      <a:stretch>
                        <a:fillRect/>
                      </a:stretch>
                    </p:blipFill>
                    <p:spPr bwMode="auto">
                      <a:xfrm>
                        <a:off x="5445324" y="2773179"/>
                        <a:ext cx="1068812" cy="38980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Content Placeholder 7">
            <a:extLst>
              <a:ext uri="{FF2B5EF4-FFF2-40B4-BE49-F238E27FC236}">
                <a16:creationId xmlns:a16="http://schemas.microsoft.com/office/drawing/2014/main" id="{B2DDCB06-CC53-4ED4-9B27-A279F906DDE8}"/>
              </a:ext>
            </a:extLst>
          </p:cNvPr>
          <p:cNvSpPr>
            <a:spLocks noGrp="1"/>
          </p:cNvSpPr>
          <p:nvPr>
            <p:ph sz="quarter" idx="17"/>
          </p:nvPr>
        </p:nvSpPr>
        <p:spPr>
          <a:xfrm>
            <a:off x="6565796" y="2715277"/>
            <a:ext cx="2065757" cy="405683"/>
          </a:xfrm>
        </p:spPr>
        <p:txBody>
          <a:bodyPr wrap="square" lIns="0" tIns="18000" rIns="0" bIns="18000" anchor="ctr" anchorCtr="0">
            <a:spAutoFit/>
          </a:bodyPr>
          <a:lstStyle/>
          <a:p>
            <a:pPr marL="0" indent="0">
              <a:spcBef>
                <a:spcPts val="600"/>
              </a:spcBef>
              <a:buNone/>
            </a:pPr>
            <a:r>
              <a:rPr lang="en-US" altLang="en-US" sz="2400" noProof="0" dirty="0"/>
              <a:t>where R is the</a:t>
            </a:r>
            <a:endParaRPr lang="en-US" sz="2400" noProof="0" dirty="0"/>
          </a:p>
        </p:txBody>
      </p:sp>
      <p:sp>
        <p:nvSpPr>
          <p:cNvPr id="9" name="Content Placeholder 8">
            <a:extLst>
              <a:ext uri="{FF2B5EF4-FFF2-40B4-BE49-F238E27FC236}">
                <a16:creationId xmlns:a16="http://schemas.microsoft.com/office/drawing/2014/main" id="{A914F52C-F9C2-42CA-A780-DD360479D5EC}"/>
              </a:ext>
            </a:extLst>
          </p:cNvPr>
          <p:cNvSpPr>
            <a:spLocks noGrp="1"/>
          </p:cNvSpPr>
          <p:nvPr>
            <p:ph sz="quarter" idx="18"/>
          </p:nvPr>
        </p:nvSpPr>
        <p:spPr>
          <a:xfrm>
            <a:off x="425773" y="3212720"/>
            <a:ext cx="6848772" cy="405683"/>
          </a:xfrm>
        </p:spPr>
        <p:txBody>
          <a:bodyPr wrap="square" lIns="0" tIns="18000" rIns="0" bIns="18000" anchor="ctr" anchorCtr="0">
            <a:spAutoFit/>
          </a:bodyPr>
          <a:lstStyle/>
          <a:p>
            <a:pPr marL="0" indent="0">
              <a:spcBef>
                <a:spcPts val="600"/>
              </a:spcBef>
              <a:buNone/>
            </a:pPr>
            <a:r>
              <a:rPr lang="en-US" altLang="en-US" sz="2400" noProof="0" dirty="0"/>
              <a:t>equivalent resistance connected to the inductor for</a:t>
            </a:r>
            <a:endParaRPr lang="en-US" sz="2400" noProof="0" dirty="0"/>
          </a:p>
        </p:txBody>
      </p:sp>
      <p:graphicFrame>
        <p:nvGraphicFramePr>
          <p:cNvPr id="16" name="Object 15" descr="t is greater than or equal to 0.">
            <a:extLst>
              <a:ext uri="{FF2B5EF4-FFF2-40B4-BE49-F238E27FC236}">
                <a16:creationId xmlns:a16="http://schemas.microsoft.com/office/drawing/2014/main" id="{B0E9FD70-52B7-4280-86C9-2CB61433631D}"/>
              </a:ext>
            </a:extLst>
          </p:cNvPr>
          <p:cNvGraphicFramePr>
            <a:graphicFrameLocks noChangeAspect="1"/>
          </p:cNvGraphicFramePr>
          <p:nvPr>
            <p:extLst>
              <p:ext uri="{D42A27DB-BD31-4B8C-83A1-F6EECF244321}">
                <p14:modId xmlns:p14="http://schemas.microsoft.com/office/powerpoint/2010/main" val="2142928697"/>
              </p:ext>
            </p:extLst>
          </p:nvPr>
        </p:nvGraphicFramePr>
        <p:xfrm>
          <a:off x="7365869" y="3264629"/>
          <a:ext cx="747479" cy="405440"/>
        </p:xfrm>
        <a:graphic>
          <a:graphicData uri="http://schemas.openxmlformats.org/presentationml/2006/ole">
            <mc:AlternateContent xmlns:mc="http://schemas.openxmlformats.org/markup-compatibility/2006">
              <mc:Choice xmlns:v="urn:schemas-microsoft-com:vml" Requires="v">
                <p:oleObj name="Equation" r:id="rId8" imgW="393480" imgH="203040" progId="Equation.DSMT4">
                  <p:embed/>
                </p:oleObj>
              </mc:Choice>
              <mc:Fallback>
                <p:oleObj name="Equation" r:id="rId8" imgW="393480" imgH="203040" progId="Equation.DSMT4">
                  <p:embed/>
                  <p:pic>
                    <p:nvPicPr>
                      <p:cNvPr id="15" name="Object 14" descr="S subscript 0 colon">
                        <a:extLst>
                          <a:ext uri="{FF2B5EF4-FFF2-40B4-BE49-F238E27FC236}">
                            <a16:creationId xmlns:a16="http://schemas.microsoft.com/office/drawing/2014/main" id="{356376C8-3252-4A06-9DB1-AB8BFDA73B02}"/>
                          </a:ext>
                        </a:extLst>
                      </p:cNvPr>
                      <p:cNvPicPr>
                        <a:picLocks noChangeAspect="1" noChangeArrowheads="1"/>
                      </p:cNvPicPr>
                      <p:nvPr/>
                    </p:nvPicPr>
                    <p:blipFill>
                      <a:blip r:embed="rId9"/>
                      <a:srcRect/>
                      <a:stretch>
                        <a:fillRect/>
                      </a:stretch>
                    </p:blipFill>
                    <p:spPr bwMode="auto">
                      <a:xfrm>
                        <a:off x="7365869" y="3264629"/>
                        <a:ext cx="747479" cy="4054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Content Placeholder 9">
            <a:extLst>
              <a:ext uri="{FF2B5EF4-FFF2-40B4-BE49-F238E27FC236}">
                <a16:creationId xmlns:a16="http://schemas.microsoft.com/office/drawing/2014/main" id="{F1B029C1-8548-4082-B443-BEE17ADD888A}"/>
              </a:ext>
            </a:extLst>
          </p:cNvPr>
          <p:cNvSpPr>
            <a:spLocks noGrp="1"/>
          </p:cNvSpPr>
          <p:nvPr>
            <p:ph sz="quarter" idx="19"/>
          </p:nvPr>
        </p:nvSpPr>
        <p:spPr>
          <a:xfrm>
            <a:off x="425777" y="3762345"/>
            <a:ext cx="6949251" cy="405683"/>
          </a:xfrm>
        </p:spPr>
        <p:txBody>
          <a:bodyPr wrap="square" lIns="0" tIns="18000" rIns="0" bIns="18000" anchor="ctr" anchorCtr="0">
            <a:spAutoFit/>
          </a:bodyPr>
          <a:lstStyle/>
          <a:p>
            <a:pPr marL="0" indent="0">
              <a:spcBef>
                <a:spcPts val="600"/>
              </a:spcBef>
              <a:buNone/>
            </a:pPr>
            <a:r>
              <a:rPr lang="en-US" sz="2400" noProof="0" dirty="0"/>
              <a:t>Step 3 – Write the equation for the inductor current:</a:t>
            </a:r>
          </a:p>
        </p:txBody>
      </p:sp>
      <p:graphicFrame>
        <p:nvGraphicFramePr>
          <p:cNvPr id="17" name="Object 16" descr="i (t) equals I subscript o baseline e to the negative StartFraction t over tau EndFraction power,">
            <a:extLst>
              <a:ext uri="{FF2B5EF4-FFF2-40B4-BE49-F238E27FC236}">
                <a16:creationId xmlns:a16="http://schemas.microsoft.com/office/drawing/2014/main" id="{3186D8BA-A579-4FC2-9F37-1803DB2DE055}"/>
              </a:ext>
            </a:extLst>
          </p:cNvPr>
          <p:cNvGraphicFramePr>
            <a:graphicFrameLocks noChangeAspect="1"/>
          </p:cNvGraphicFramePr>
          <p:nvPr>
            <p:extLst>
              <p:ext uri="{D42A27DB-BD31-4B8C-83A1-F6EECF244321}">
                <p14:modId xmlns:p14="http://schemas.microsoft.com/office/powerpoint/2010/main" val="1977765629"/>
              </p:ext>
            </p:extLst>
          </p:nvPr>
        </p:nvGraphicFramePr>
        <p:xfrm>
          <a:off x="2618708" y="4377714"/>
          <a:ext cx="1565275" cy="522288"/>
        </p:xfrm>
        <a:graphic>
          <a:graphicData uri="http://schemas.openxmlformats.org/presentationml/2006/ole">
            <mc:AlternateContent xmlns:mc="http://schemas.openxmlformats.org/markup-compatibility/2006">
              <mc:Choice xmlns:v="urn:schemas-microsoft-com:vml" Requires="v">
                <p:oleObj name="Equation" r:id="rId10" imgW="799920" imgH="253800" progId="Equation.DSMT4">
                  <p:embed/>
                </p:oleObj>
              </mc:Choice>
              <mc:Fallback>
                <p:oleObj name="Equation" r:id="rId10" imgW="799920" imgH="253800" progId="Equation.DSMT4">
                  <p:embed/>
                  <p:pic>
                    <p:nvPicPr>
                      <p:cNvPr id="16" name="Object 15" descr="S subscript 0 colon">
                        <a:extLst>
                          <a:ext uri="{FF2B5EF4-FFF2-40B4-BE49-F238E27FC236}">
                            <a16:creationId xmlns:a16="http://schemas.microsoft.com/office/drawing/2014/main" id="{B0E9FD70-52B7-4280-86C9-2CB61433631D}"/>
                          </a:ext>
                        </a:extLst>
                      </p:cNvPr>
                      <p:cNvPicPr>
                        <a:picLocks noChangeAspect="1" noChangeArrowheads="1"/>
                      </p:cNvPicPr>
                      <p:nvPr/>
                    </p:nvPicPr>
                    <p:blipFill>
                      <a:blip r:embed="rId11"/>
                      <a:srcRect/>
                      <a:stretch>
                        <a:fillRect/>
                      </a:stretch>
                    </p:blipFill>
                    <p:spPr bwMode="auto">
                      <a:xfrm>
                        <a:off x="2618708" y="4377714"/>
                        <a:ext cx="1565275" cy="522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9" name="Object 18" descr="t is greater than or equal to 0.">
            <a:extLst>
              <a:ext uri="{FF2B5EF4-FFF2-40B4-BE49-F238E27FC236}">
                <a16:creationId xmlns:a16="http://schemas.microsoft.com/office/drawing/2014/main" id="{D39DA8F8-D48B-49A8-96B1-E38658902FB9}"/>
              </a:ext>
            </a:extLst>
          </p:cNvPr>
          <p:cNvGraphicFramePr>
            <a:graphicFrameLocks noChangeAspect="1"/>
          </p:cNvGraphicFramePr>
          <p:nvPr>
            <p:extLst>
              <p:ext uri="{D42A27DB-BD31-4B8C-83A1-F6EECF244321}">
                <p14:modId xmlns:p14="http://schemas.microsoft.com/office/powerpoint/2010/main" val="4125391290"/>
              </p:ext>
            </p:extLst>
          </p:nvPr>
        </p:nvGraphicFramePr>
        <p:xfrm>
          <a:off x="4792715" y="4421315"/>
          <a:ext cx="769937" cy="417512"/>
        </p:xfrm>
        <a:graphic>
          <a:graphicData uri="http://schemas.openxmlformats.org/presentationml/2006/ole">
            <mc:AlternateContent xmlns:mc="http://schemas.openxmlformats.org/markup-compatibility/2006">
              <mc:Choice xmlns:v="urn:schemas-microsoft-com:vml" Requires="v">
                <p:oleObj name="Equation" r:id="rId12" imgW="393480" imgH="203040" progId="Equation.DSMT4">
                  <p:embed/>
                </p:oleObj>
              </mc:Choice>
              <mc:Fallback>
                <p:oleObj name="Equation" r:id="rId12" imgW="393480" imgH="203040" progId="Equation.DSMT4">
                  <p:embed/>
                  <p:pic>
                    <p:nvPicPr>
                      <p:cNvPr id="17" name="Object 16">
                        <a:extLst>
                          <a:ext uri="{FF2B5EF4-FFF2-40B4-BE49-F238E27FC236}">
                            <a16:creationId xmlns:a16="http://schemas.microsoft.com/office/drawing/2014/main" id="{3186D8BA-A579-4FC2-9F37-1803DB2DE055}"/>
                          </a:ext>
                        </a:extLst>
                      </p:cNvPr>
                      <p:cNvPicPr>
                        <a:picLocks noChangeAspect="1" noChangeArrowheads="1"/>
                      </p:cNvPicPr>
                      <p:nvPr/>
                    </p:nvPicPr>
                    <p:blipFill>
                      <a:blip r:embed="rId13"/>
                      <a:srcRect/>
                      <a:stretch>
                        <a:fillRect/>
                      </a:stretch>
                    </p:blipFill>
                    <p:spPr bwMode="auto">
                      <a:xfrm>
                        <a:off x="4792715" y="4421315"/>
                        <a:ext cx="769937" cy="4175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Content Placeholder 10">
            <a:extLst>
              <a:ext uri="{FF2B5EF4-FFF2-40B4-BE49-F238E27FC236}">
                <a16:creationId xmlns:a16="http://schemas.microsoft.com/office/drawing/2014/main" id="{E8BD10F9-94D8-4089-8ED3-9C1FB3F859A3}"/>
              </a:ext>
            </a:extLst>
          </p:cNvPr>
          <p:cNvSpPr>
            <a:spLocks noGrp="1"/>
          </p:cNvSpPr>
          <p:nvPr>
            <p:ph sz="quarter" idx="20"/>
          </p:nvPr>
        </p:nvSpPr>
        <p:spPr>
          <a:xfrm>
            <a:off x="425773" y="5118272"/>
            <a:ext cx="8213707" cy="775015"/>
          </a:xfrm>
        </p:spPr>
        <p:txBody>
          <a:bodyPr wrap="square" lIns="0" tIns="18000" rIns="0" bIns="18000" anchor="ctr" anchorCtr="0">
            <a:spAutoFit/>
          </a:bodyPr>
          <a:lstStyle/>
          <a:p>
            <a:pPr marL="0" indent="0">
              <a:spcBef>
                <a:spcPts val="600"/>
              </a:spcBef>
              <a:buNone/>
            </a:pPr>
            <a:r>
              <a:rPr lang="en-US" altLang="en-US" sz="2400" noProof="0" dirty="0"/>
              <a:t>Step 4 – Calculate other quantities of interest using the inductor current.</a:t>
            </a:r>
          </a:p>
        </p:txBody>
      </p:sp>
    </p:spTree>
    <p:extLst>
      <p:ext uri="{BB962C8B-B14F-4D97-AF65-F5344CB8AC3E}">
        <p14:creationId xmlns:p14="http://schemas.microsoft.com/office/powerpoint/2010/main" val="12699603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7056" y="216648"/>
            <a:ext cx="8213707" cy="590349"/>
          </a:xfrm>
        </p:spPr>
        <p:txBody>
          <a:bodyPr wrap="square" lIns="0" tIns="18000" rIns="0" bIns="18000" anchor="ctr" anchorCtr="0">
            <a:spAutoFit/>
          </a:bodyPr>
          <a:lstStyle/>
          <a:p>
            <a:r>
              <a:rPr lang="en-US" noProof="0" dirty="0"/>
              <a:t>Chapter 7 – </a:t>
            </a:r>
            <a:r>
              <a:rPr lang="en-US" i="1" spc="-450" noProof="0" dirty="0"/>
              <a:t>R </a:t>
            </a:r>
            <a:r>
              <a:rPr lang="en-US" i="1" noProof="0" dirty="0"/>
              <a:t>C</a:t>
            </a:r>
            <a:r>
              <a:rPr lang="en-US" noProof="0" dirty="0"/>
              <a:t> Natural Response</a:t>
            </a:r>
            <a:endParaRPr lang="en-US" sz="2800" noProof="0" dirty="0"/>
          </a:p>
        </p:txBody>
      </p:sp>
      <p:sp>
        <p:nvSpPr>
          <p:cNvPr id="2" name="Content Placeholder 1">
            <a:extLst>
              <a:ext uri="{FF2B5EF4-FFF2-40B4-BE49-F238E27FC236}">
                <a16:creationId xmlns:a16="http://schemas.microsoft.com/office/drawing/2014/main" id="{2C2B8E74-F161-476F-9EE4-53340C700737}"/>
              </a:ext>
            </a:extLst>
          </p:cNvPr>
          <p:cNvSpPr>
            <a:spLocks noGrp="1"/>
          </p:cNvSpPr>
          <p:nvPr>
            <p:ph sz="quarter" idx="12"/>
          </p:nvPr>
        </p:nvSpPr>
        <p:spPr>
          <a:xfrm>
            <a:off x="427057" y="1014773"/>
            <a:ext cx="2939142" cy="405683"/>
          </a:xfrm>
        </p:spPr>
        <p:txBody>
          <a:bodyPr wrap="square" lIns="0" tIns="18000" rIns="0" bIns="18000" anchor="ctr" anchorCtr="0">
            <a:spAutoFit/>
          </a:bodyPr>
          <a:lstStyle/>
          <a:p>
            <a:pPr marL="0" indent="0">
              <a:spcBef>
                <a:spcPts val="600"/>
              </a:spcBef>
              <a:buNone/>
            </a:pPr>
            <a:r>
              <a:rPr lang="en-US" sz="2400" noProof="0" dirty="0"/>
              <a:t>The analysis method:</a:t>
            </a:r>
          </a:p>
        </p:txBody>
      </p:sp>
      <p:sp>
        <p:nvSpPr>
          <p:cNvPr id="3" name="Content Placeholder 2">
            <a:extLst>
              <a:ext uri="{FF2B5EF4-FFF2-40B4-BE49-F238E27FC236}">
                <a16:creationId xmlns:a16="http://schemas.microsoft.com/office/drawing/2014/main" id="{CBB082A0-37BC-4118-943C-BE4CCC2031D2}"/>
              </a:ext>
            </a:extLst>
          </p:cNvPr>
          <p:cNvSpPr>
            <a:spLocks noGrp="1"/>
          </p:cNvSpPr>
          <p:nvPr>
            <p:ph sz="quarter" idx="13"/>
          </p:nvPr>
        </p:nvSpPr>
        <p:spPr>
          <a:xfrm>
            <a:off x="427056" y="1625419"/>
            <a:ext cx="6435968" cy="405683"/>
          </a:xfrm>
        </p:spPr>
        <p:txBody>
          <a:bodyPr wrap="square" lIns="0" tIns="18000" rIns="0" bIns="18000" anchor="ctr" anchorCtr="0">
            <a:spAutoFit/>
          </a:bodyPr>
          <a:lstStyle/>
          <a:p>
            <a:pPr marL="0" indent="0">
              <a:spcBef>
                <a:spcPts val="600"/>
              </a:spcBef>
              <a:buNone/>
            </a:pPr>
            <a:r>
              <a:rPr lang="en-US" altLang="en-US" sz="2400" noProof="0" dirty="0"/>
              <a:t>Step 1 – Determine the initial capacitor voltage,</a:t>
            </a:r>
            <a:endParaRPr lang="en-US" sz="2400" noProof="0" dirty="0"/>
          </a:p>
        </p:txBody>
      </p:sp>
      <p:graphicFrame>
        <p:nvGraphicFramePr>
          <p:cNvPr id="14" name="Object 13" descr="V subscript 0,">
            <a:extLst>
              <a:ext uri="{FF2B5EF4-FFF2-40B4-BE49-F238E27FC236}">
                <a16:creationId xmlns:a16="http://schemas.microsoft.com/office/drawing/2014/main" id="{5C74CEEB-DF88-4A30-9580-A480027F8060}"/>
              </a:ext>
            </a:extLst>
          </p:cNvPr>
          <p:cNvGraphicFramePr>
            <a:graphicFrameLocks noChangeAspect="1"/>
          </p:cNvGraphicFramePr>
          <p:nvPr>
            <p:extLst>
              <p:ext uri="{D42A27DB-BD31-4B8C-83A1-F6EECF244321}">
                <p14:modId xmlns:p14="http://schemas.microsoft.com/office/powerpoint/2010/main" val="4034848720"/>
              </p:ext>
            </p:extLst>
          </p:nvPr>
        </p:nvGraphicFramePr>
        <p:xfrm>
          <a:off x="6932664" y="1614635"/>
          <a:ext cx="407502" cy="454992"/>
        </p:xfrm>
        <a:graphic>
          <a:graphicData uri="http://schemas.openxmlformats.org/presentationml/2006/ole">
            <mc:AlternateContent xmlns:mc="http://schemas.openxmlformats.org/markup-compatibility/2006">
              <mc:Choice xmlns:v="urn:schemas-microsoft-com:vml" Requires="v">
                <p:oleObj name="Equation" r:id="rId2" imgW="215640" imgH="228600" progId="Equation.DSMT4">
                  <p:embed/>
                </p:oleObj>
              </mc:Choice>
              <mc:Fallback>
                <p:oleObj name="Equation" r:id="rId2" imgW="215640" imgH="228600" progId="Equation.DSMT4">
                  <p:embed/>
                  <p:pic>
                    <p:nvPicPr>
                      <p:cNvPr id="18" name="Object 17" descr="S subscript 0 colon">
                        <a:extLst>
                          <a:ext uri="{FF2B5EF4-FFF2-40B4-BE49-F238E27FC236}">
                            <a16:creationId xmlns:a16="http://schemas.microsoft.com/office/drawing/2014/main" id="{895C07FC-3BCC-47A7-AF0D-763994909860}"/>
                          </a:ext>
                        </a:extLst>
                      </p:cNvPr>
                      <p:cNvPicPr>
                        <a:picLocks noChangeAspect="1" noChangeArrowheads="1"/>
                      </p:cNvPicPr>
                      <p:nvPr/>
                    </p:nvPicPr>
                    <p:blipFill>
                      <a:blip r:embed="rId3"/>
                      <a:srcRect/>
                      <a:stretch>
                        <a:fillRect/>
                      </a:stretch>
                    </p:blipFill>
                    <p:spPr bwMode="auto">
                      <a:xfrm>
                        <a:off x="6932664" y="1614635"/>
                        <a:ext cx="407502" cy="45499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Content Placeholder 3">
            <a:extLst>
              <a:ext uri="{FF2B5EF4-FFF2-40B4-BE49-F238E27FC236}">
                <a16:creationId xmlns:a16="http://schemas.microsoft.com/office/drawing/2014/main" id="{484836DA-13B0-4762-94F6-91FB75DD04D6}"/>
              </a:ext>
            </a:extLst>
          </p:cNvPr>
          <p:cNvSpPr>
            <a:spLocks noGrp="1"/>
          </p:cNvSpPr>
          <p:nvPr>
            <p:ph sz="quarter" idx="14"/>
          </p:nvPr>
        </p:nvSpPr>
        <p:spPr>
          <a:xfrm>
            <a:off x="7440009" y="1623117"/>
            <a:ext cx="397730" cy="405683"/>
          </a:xfrm>
        </p:spPr>
        <p:txBody>
          <a:bodyPr wrap="square" lIns="0" tIns="18000" rIns="0" bIns="18000" anchor="ctr" anchorCtr="0">
            <a:spAutoFit/>
          </a:bodyPr>
          <a:lstStyle/>
          <a:p>
            <a:pPr marL="0" indent="0">
              <a:spcBef>
                <a:spcPts val="600"/>
              </a:spcBef>
              <a:buNone/>
            </a:pPr>
            <a:r>
              <a:rPr lang="en-US" sz="2400" noProof="0" dirty="0"/>
              <a:t>by</a:t>
            </a:r>
          </a:p>
        </p:txBody>
      </p:sp>
      <p:sp>
        <p:nvSpPr>
          <p:cNvPr id="5" name="Content Placeholder 4">
            <a:extLst>
              <a:ext uri="{FF2B5EF4-FFF2-40B4-BE49-F238E27FC236}">
                <a16:creationId xmlns:a16="http://schemas.microsoft.com/office/drawing/2014/main" id="{2F42C7B6-3E8F-4E85-85C4-2A274F882669}"/>
              </a:ext>
            </a:extLst>
          </p:cNvPr>
          <p:cNvSpPr>
            <a:spLocks noGrp="1"/>
          </p:cNvSpPr>
          <p:nvPr>
            <p:ph sz="quarter" idx="15"/>
          </p:nvPr>
        </p:nvSpPr>
        <p:spPr>
          <a:xfrm>
            <a:off x="436286" y="2143332"/>
            <a:ext cx="3181121" cy="405683"/>
          </a:xfrm>
        </p:spPr>
        <p:txBody>
          <a:bodyPr wrap="square" lIns="0" tIns="18000" rIns="0" bIns="18000" anchor="ctr" anchorCtr="0">
            <a:spAutoFit/>
          </a:bodyPr>
          <a:lstStyle/>
          <a:p>
            <a:pPr marL="0" indent="0">
              <a:spcBef>
                <a:spcPts val="600"/>
              </a:spcBef>
              <a:buNone/>
            </a:pPr>
            <a:r>
              <a:rPr lang="en-US" sz="2400" noProof="0" dirty="0"/>
              <a:t>analyzing the circuit for</a:t>
            </a:r>
          </a:p>
        </p:txBody>
      </p:sp>
      <p:graphicFrame>
        <p:nvGraphicFramePr>
          <p:cNvPr id="15" name="Object 14" descr="t is less than 0.">
            <a:extLst>
              <a:ext uri="{FF2B5EF4-FFF2-40B4-BE49-F238E27FC236}">
                <a16:creationId xmlns:a16="http://schemas.microsoft.com/office/drawing/2014/main" id="{A6B505A9-13BC-453B-BBA2-0B20F82E20F2}"/>
              </a:ext>
            </a:extLst>
          </p:cNvPr>
          <p:cNvGraphicFramePr>
            <a:graphicFrameLocks noChangeAspect="1"/>
          </p:cNvGraphicFramePr>
          <p:nvPr>
            <p:extLst>
              <p:ext uri="{D42A27DB-BD31-4B8C-83A1-F6EECF244321}">
                <p14:modId xmlns:p14="http://schemas.microsoft.com/office/powerpoint/2010/main" val="2580388652"/>
              </p:ext>
            </p:extLst>
          </p:nvPr>
        </p:nvGraphicFramePr>
        <p:xfrm>
          <a:off x="3693526" y="2177409"/>
          <a:ext cx="737658" cy="412010"/>
        </p:xfrm>
        <a:graphic>
          <a:graphicData uri="http://schemas.openxmlformats.org/presentationml/2006/ole">
            <mc:AlternateContent xmlns:mc="http://schemas.openxmlformats.org/markup-compatibility/2006">
              <mc:Choice xmlns:v="urn:schemas-microsoft-com:vml" Requires="v">
                <p:oleObj name="Equation" r:id="rId4" imgW="380880" imgH="203040" progId="Equation.DSMT4">
                  <p:embed/>
                </p:oleObj>
              </mc:Choice>
              <mc:Fallback>
                <p:oleObj name="Equation" r:id="rId4" imgW="380880" imgH="203040" progId="Equation.DSMT4">
                  <p:embed/>
                  <p:pic>
                    <p:nvPicPr>
                      <p:cNvPr id="14" name="Object 13" descr="S subscript 0 colon">
                        <a:extLst>
                          <a:ext uri="{FF2B5EF4-FFF2-40B4-BE49-F238E27FC236}">
                            <a16:creationId xmlns:a16="http://schemas.microsoft.com/office/drawing/2014/main" id="{43AAFCB8-7F4D-49F3-89D0-827876B26584}"/>
                          </a:ext>
                        </a:extLst>
                      </p:cNvPr>
                      <p:cNvPicPr>
                        <a:picLocks noChangeAspect="1" noChangeArrowheads="1"/>
                      </p:cNvPicPr>
                      <p:nvPr/>
                    </p:nvPicPr>
                    <p:blipFill>
                      <a:blip r:embed="rId5"/>
                      <a:srcRect/>
                      <a:stretch>
                        <a:fillRect/>
                      </a:stretch>
                    </p:blipFill>
                    <p:spPr bwMode="auto">
                      <a:xfrm>
                        <a:off x="3693526" y="2177409"/>
                        <a:ext cx="737658" cy="41201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Content Placeholder 6">
            <a:extLst>
              <a:ext uri="{FF2B5EF4-FFF2-40B4-BE49-F238E27FC236}">
                <a16:creationId xmlns:a16="http://schemas.microsoft.com/office/drawing/2014/main" id="{B727412B-F57F-45EA-A787-95D53A9E4AD0}"/>
              </a:ext>
            </a:extLst>
          </p:cNvPr>
          <p:cNvSpPr>
            <a:spLocks noGrp="1"/>
          </p:cNvSpPr>
          <p:nvPr>
            <p:ph sz="quarter" idx="16"/>
          </p:nvPr>
        </p:nvSpPr>
        <p:spPr>
          <a:xfrm>
            <a:off x="436282" y="2775577"/>
            <a:ext cx="5019973" cy="405683"/>
          </a:xfrm>
        </p:spPr>
        <p:txBody>
          <a:bodyPr wrap="square" lIns="0" tIns="18000" rIns="0" bIns="18000" anchor="ctr" anchorCtr="0">
            <a:spAutoFit/>
          </a:bodyPr>
          <a:lstStyle/>
          <a:p>
            <a:pPr marL="0" indent="0">
              <a:spcBef>
                <a:spcPts val="600"/>
              </a:spcBef>
              <a:buNone/>
            </a:pPr>
            <a:r>
              <a:rPr lang="en-US" altLang="en-US" sz="2400" noProof="0" dirty="0"/>
              <a:t>Step 2 – Calculate the time constant,</a:t>
            </a:r>
            <a:endParaRPr lang="en-US" sz="2400" noProof="0" dirty="0"/>
          </a:p>
        </p:txBody>
      </p:sp>
      <p:graphicFrame>
        <p:nvGraphicFramePr>
          <p:cNvPr id="18" name="Object 17" descr="Tau equals R C,">
            <a:extLst>
              <a:ext uri="{FF2B5EF4-FFF2-40B4-BE49-F238E27FC236}">
                <a16:creationId xmlns:a16="http://schemas.microsoft.com/office/drawing/2014/main" id="{397A31CD-4562-4111-BA37-C80FF74CAB9A}"/>
              </a:ext>
            </a:extLst>
          </p:cNvPr>
          <p:cNvGraphicFramePr>
            <a:graphicFrameLocks noChangeAspect="1"/>
          </p:cNvGraphicFramePr>
          <p:nvPr>
            <p:extLst>
              <p:ext uri="{D42A27DB-BD31-4B8C-83A1-F6EECF244321}">
                <p14:modId xmlns:p14="http://schemas.microsoft.com/office/powerpoint/2010/main" val="2266891052"/>
              </p:ext>
            </p:extLst>
          </p:nvPr>
        </p:nvGraphicFramePr>
        <p:xfrm>
          <a:off x="5484813" y="2809875"/>
          <a:ext cx="1058862" cy="411163"/>
        </p:xfrm>
        <a:graphic>
          <a:graphicData uri="http://schemas.openxmlformats.org/presentationml/2006/ole">
            <mc:AlternateContent xmlns:mc="http://schemas.openxmlformats.org/markup-compatibility/2006">
              <mc:Choice xmlns:v="urn:schemas-microsoft-com:vml" Requires="v">
                <p:oleObj name="Equation" r:id="rId6" imgW="545760" imgH="203040" progId="Equation.DSMT4">
                  <p:embed/>
                </p:oleObj>
              </mc:Choice>
              <mc:Fallback>
                <p:oleObj name="Equation" r:id="rId6" imgW="545760" imgH="203040" progId="Equation.DSMT4">
                  <p:embed/>
                  <p:pic>
                    <p:nvPicPr>
                      <p:cNvPr id="15" name="Object 14" descr="S subscript 0 colon">
                        <a:extLst>
                          <a:ext uri="{FF2B5EF4-FFF2-40B4-BE49-F238E27FC236}">
                            <a16:creationId xmlns:a16="http://schemas.microsoft.com/office/drawing/2014/main" id="{A6B505A9-13BC-453B-BBA2-0B20F82E20F2}"/>
                          </a:ext>
                        </a:extLst>
                      </p:cNvPr>
                      <p:cNvPicPr>
                        <a:picLocks noChangeAspect="1" noChangeArrowheads="1"/>
                      </p:cNvPicPr>
                      <p:nvPr/>
                    </p:nvPicPr>
                    <p:blipFill>
                      <a:blip r:embed="rId7"/>
                      <a:srcRect/>
                      <a:stretch>
                        <a:fillRect/>
                      </a:stretch>
                    </p:blipFill>
                    <p:spPr bwMode="auto">
                      <a:xfrm>
                        <a:off x="5484813" y="2809875"/>
                        <a:ext cx="1058862" cy="4111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Content Placeholder 7">
            <a:extLst>
              <a:ext uri="{FF2B5EF4-FFF2-40B4-BE49-F238E27FC236}">
                <a16:creationId xmlns:a16="http://schemas.microsoft.com/office/drawing/2014/main" id="{B2DDCB06-CC53-4ED4-9B27-A279F906DDE8}"/>
              </a:ext>
            </a:extLst>
          </p:cNvPr>
          <p:cNvSpPr>
            <a:spLocks noGrp="1"/>
          </p:cNvSpPr>
          <p:nvPr>
            <p:ph sz="quarter" idx="17"/>
          </p:nvPr>
        </p:nvSpPr>
        <p:spPr>
          <a:xfrm>
            <a:off x="6591196" y="2783508"/>
            <a:ext cx="2065757" cy="405683"/>
          </a:xfrm>
        </p:spPr>
        <p:txBody>
          <a:bodyPr wrap="square" lIns="0" tIns="18000" rIns="0" bIns="18000" anchor="ctr" anchorCtr="0">
            <a:spAutoFit/>
          </a:bodyPr>
          <a:lstStyle/>
          <a:p>
            <a:pPr marL="0" indent="0">
              <a:spcBef>
                <a:spcPts val="600"/>
              </a:spcBef>
              <a:buNone/>
            </a:pPr>
            <a:r>
              <a:rPr lang="en-US" altLang="en-US" sz="2400" noProof="0" dirty="0"/>
              <a:t>where </a:t>
            </a:r>
            <a:r>
              <a:rPr lang="en-US" altLang="en-US" sz="2400" i="1" noProof="0" dirty="0"/>
              <a:t>R</a:t>
            </a:r>
            <a:r>
              <a:rPr lang="en-US" altLang="en-US" sz="2400" noProof="0" dirty="0"/>
              <a:t> is the</a:t>
            </a:r>
            <a:endParaRPr lang="en-US" sz="2400" noProof="0" dirty="0"/>
          </a:p>
        </p:txBody>
      </p:sp>
      <p:sp>
        <p:nvSpPr>
          <p:cNvPr id="9" name="Content Placeholder 8">
            <a:extLst>
              <a:ext uri="{FF2B5EF4-FFF2-40B4-BE49-F238E27FC236}">
                <a16:creationId xmlns:a16="http://schemas.microsoft.com/office/drawing/2014/main" id="{A914F52C-F9C2-42CA-A780-DD360479D5EC}"/>
              </a:ext>
            </a:extLst>
          </p:cNvPr>
          <p:cNvSpPr>
            <a:spLocks noGrp="1"/>
          </p:cNvSpPr>
          <p:nvPr>
            <p:ph sz="quarter" idx="18"/>
          </p:nvPr>
        </p:nvSpPr>
        <p:spPr>
          <a:xfrm>
            <a:off x="436283" y="3254760"/>
            <a:ext cx="7003726" cy="405683"/>
          </a:xfrm>
        </p:spPr>
        <p:txBody>
          <a:bodyPr wrap="square" lIns="0" tIns="18000" rIns="0" bIns="18000" anchor="ctr" anchorCtr="0">
            <a:spAutoFit/>
          </a:bodyPr>
          <a:lstStyle/>
          <a:p>
            <a:pPr marL="0" indent="0">
              <a:spcBef>
                <a:spcPts val="600"/>
              </a:spcBef>
              <a:buNone/>
            </a:pPr>
            <a:r>
              <a:rPr lang="en-US" altLang="en-US" sz="2400" noProof="0" dirty="0"/>
              <a:t>equivalent resistance connected to the capacitor for</a:t>
            </a:r>
            <a:endParaRPr lang="en-US" sz="2400" noProof="0" dirty="0"/>
          </a:p>
        </p:txBody>
      </p:sp>
      <p:graphicFrame>
        <p:nvGraphicFramePr>
          <p:cNvPr id="16" name="Object 15" descr="t is greater than or equal to 0.">
            <a:extLst>
              <a:ext uri="{FF2B5EF4-FFF2-40B4-BE49-F238E27FC236}">
                <a16:creationId xmlns:a16="http://schemas.microsoft.com/office/drawing/2014/main" id="{6AB7D68B-335F-49F5-BFDD-903E9115E503}"/>
              </a:ext>
            </a:extLst>
          </p:cNvPr>
          <p:cNvGraphicFramePr>
            <a:graphicFrameLocks noChangeAspect="1"/>
          </p:cNvGraphicFramePr>
          <p:nvPr>
            <p:extLst>
              <p:ext uri="{D42A27DB-BD31-4B8C-83A1-F6EECF244321}">
                <p14:modId xmlns:p14="http://schemas.microsoft.com/office/powerpoint/2010/main" val="1878409703"/>
              </p:ext>
            </p:extLst>
          </p:nvPr>
        </p:nvGraphicFramePr>
        <p:xfrm>
          <a:off x="7513015" y="3285649"/>
          <a:ext cx="747479" cy="405440"/>
        </p:xfrm>
        <a:graphic>
          <a:graphicData uri="http://schemas.openxmlformats.org/presentationml/2006/ole">
            <mc:AlternateContent xmlns:mc="http://schemas.openxmlformats.org/markup-compatibility/2006">
              <mc:Choice xmlns:v="urn:schemas-microsoft-com:vml" Requires="v">
                <p:oleObj name="Equation" r:id="rId8" imgW="393480" imgH="203040" progId="Equation.DSMT4">
                  <p:embed/>
                </p:oleObj>
              </mc:Choice>
              <mc:Fallback>
                <p:oleObj name="Equation" r:id="rId8" imgW="393480" imgH="203040" progId="Equation.DSMT4">
                  <p:embed/>
                  <p:pic>
                    <p:nvPicPr>
                      <p:cNvPr id="16" name="Object 15" descr="S subscript 0 colon">
                        <a:extLst>
                          <a:ext uri="{FF2B5EF4-FFF2-40B4-BE49-F238E27FC236}">
                            <a16:creationId xmlns:a16="http://schemas.microsoft.com/office/drawing/2014/main" id="{B0E9FD70-52B7-4280-86C9-2CB61433631D}"/>
                          </a:ext>
                        </a:extLst>
                      </p:cNvPr>
                      <p:cNvPicPr>
                        <a:picLocks noChangeAspect="1" noChangeArrowheads="1"/>
                      </p:cNvPicPr>
                      <p:nvPr/>
                    </p:nvPicPr>
                    <p:blipFill>
                      <a:blip r:embed="rId9"/>
                      <a:srcRect/>
                      <a:stretch>
                        <a:fillRect/>
                      </a:stretch>
                    </p:blipFill>
                    <p:spPr bwMode="auto">
                      <a:xfrm>
                        <a:off x="7513015" y="3285649"/>
                        <a:ext cx="747479" cy="4054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Content Placeholder 9">
            <a:extLst>
              <a:ext uri="{FF2B5EF4-FFF2-40B4-BE49-F238E27FC236}">
                <a16:creationId xmlns:a16="http://schemas.microsoft.com/office/drawing/2014/main" id="{F1B029C1-8548-4082-B443-BEE17ADD888A}"/>
              </a:ext>
            </a:extLst>
          </p:cNvPr>
          <p:cNvSpPr>
            <a:spLocks noGrp="1"/>
          </p:cNvSpPr>
          <p:nvPr>
            <p:ph sz="quarter" idx="19"/>
          </p:nvPr>
        </p:nvSpPr>
        <p:spPr>
          <a:xfrm>
            <a:off x="436287" y="3832219"/>
            <a:ext cx="8195266" cy="405683"/>
          </a:xfrm>
        </p:spPr>
        <p:txBody>
          <a:bodyPr wrap="square" lIns="0" tIns="18000" rIns="0" bIns="18000" anchor="ctr" anchorCtr="0">
            <a:spAutoFit/>
          </a:bodyPr>
          <a:lstStyle/>
          <a:p>
            <a:pPr marL="0" indent="0">
              <a:buNone/>
            </a:pPr>
            <a:r>
              <a:rPr lang="en-US" altLang="en-US" sz="2400" noProof="0" dirty="0"/>
              <a:t>Step 3 – Write the equation for the capacitor voltage:</a:t>
            </a:r>
          </a:p>
        </p:txBody>
      </p:sp>
      <mc:AlternateContent xmlns:mc="http://schemas.openxmlformats.org/markup-compatibility/2006">
        <mc:Choice xmlns:a14="http://schemas.microsoft.com/office/drawing/2010/main" Requires="a14">
          <p:sp>
            <p:nvSpPr>
              <p:cNvPr id="17" name="Object 16" descr="v (t) equals V subscript o baseline to the e minus StartFraction t over tau EndFraction power,">
                <a:extLst>
                  <a:ext uri="{FF2B5EF4-FFF2-40B4-BE49-F238E27FC236}">
                    <a16:creationId xmlns:a16="http://schemas.microsoft.com/office/drawing/2014/main" id="{B8A335D6-9B7D-4F9B-A064-445E2E97D1B1}"/>
                  </a:ext>
                </a:extLst>
              </p:cNvPr>
              <p:cNvSpPr txBox="1"/>
              <p:nvPr/>
            </p:nvSpPr>
            <p:spPr bwMode="auto">
              <a:xfrm>
                <a:off x="2341563" y="4557713"/>
                <a:ext cx="2006319" cy="910758"/>
              </a:xfrm>
              <a:prstGeom prst="rect">
                <a:avLst/>
              </a:prstGeom>
              <a:noFill/>
            </p:spPr>
            <p:txBody>
              <a:bodyPr>
                <a:normAutofit/>
              </a:bodyPr>
              <a:lstStyle/>
              <a:p>
                <a:pPr/>
                <a14:m>
                  <m:oMathPara xmlns:m="http://schemas.openxmlformats.org/officeDocument/2006/math">
                    <m:oMathParaPr>
                      <m:jc m:val="left"/>
                    </m:oMathParaPr>
                    <m:oMath xmlns:m="http://schemas.openxmlformats.org/officeDocument/2006/math">
                      <m:r>
                        <a:rPr lang="tr-TR" sz="1800" i="1" smtClean="0">
                          <a:solidFill>
                            <a:srgbClr val="000000"/>
                          </a:solidFill>
                          <a:latin typeface="Cambria Math" panose="02040503050406030204" pitchFamily="18" charset="0"/>
                        </a:rPr>
                        <m:t>𝑣</m:t>
                      </m:r>
                      <m:d>
                        <m:dPr>
                          <m:ctrlPr>
                            <a:rPr lang="tr-TR" sz="1800" i="1">
                              <a:solidFill>
                                <a:srgbClr val="000000"/>
                              </a:solidFill>
                              <a:latin typeface="Cambria Math" panose="02040503050406030204" pitchFamily="18" charset="0"/>
                            </a:rPr>
                          </m:ctrlPr>
                        </m:dPr>
                        <m:e>
                          <m:r>
                            <a:rPr lang="tr-TR" sz="1800" i="1">
                              <a:solidFill>
                                <a:srgbClr val="000000"/>
                              </a:solidFill>
                              <a:latin typeface="Cambria Math" panose="02040503050406030204" pitchFamily="18" charset="0"/>
                            </a:rPr>
                            <m:t>𝑡</m:t>
                          </m:r>
                        </m:e>
                      </m:d>
                      <m:r>
                        <a:rPr lang="tr-TR" sz="1800" i="1">
                          <a:solidFill>
                            <a:srgbClr val="000000"/>
                          </a:solidFill>
                          <a:latin typeface="Cambria Math" panose="02040503050406030204" pitchFamily="18" charset="0"/>
                        </a:rPr>
                        <m:t>=</m:t>
                      </m:r>
                      <m:sSup>
                        <m:sSupPr>
                          <m:ctrlPr>
                            <a:rPr lang="tr-TR" sz="1800" i="1">
                              <a:solidFill>
                                <a:srgbClr val="000000"/>
                              </a:solidFill>
                              <a:latin typeface="Cambria Math" panose="02040503050406030204" pitchFamily="18" charset="0"/>
                            </a:rPr>
                          </m:ctrlPr>
                        </m:sSupPr>
                        <m:e>
                          <m:sSub>
                            <m:sSubPr>
                              <m:ctrlPr>
                                <a:rPr lang="tr-TR" sz="1800" i="1">
                                  <a:solidFill>
                                    <a:srgbClr val="000000"/>
                                  </a:solidFill>
                                  <a:latin typeface="Cambria Math" panose="02040503050406030204" pitchFamily="18" charset="0"/>
                                </a:rPr>
                              </m:ctrlPr>
                            </m:sSubPr>
                            <m:e>
                              <m:r>
                                <a:rPr lang="tr-TR" sz="1800" i="1">
                                  <a:solidFill>
                                    <a:srgbClr val="000000"/>
                                  </a:solidFill>
                                  <a:latin typeface="Cambria Math" panose="02040503050406030204" pitchFamily="18" charset="0"/>
                                </a:rPr>
                                <m:t>𝑉</m:t>
                              </m:r>
                            </m:e>
                            <m:sub>
                              <m:r>
                                <a:rPr lang="tr-TR" sz="1800" i="1">
                                  <a:solidFill>
                                    <a:srgbClr val="000000"/>
                                  </a:solidFill>
                                  <a:latin typeface="Cambria Math" panose="02040503050406030204" pitchFamily="18" charset="0"/>
                                </a:rPr>
                                <m:t>𝑜</m:t>
                              </m:r>
                            </m:sub>
                          </m:sSub>
                          <m:r>
                            <a:rPr lang="tr-TR" sz="1800" i="1">
                              <a:latin typeface="Cambria Math" panose="02040503050406030204" pitchFamily="18" charset="0"/>
                            </a:rPr>
                            <m:t>𝑒</m:t>
                          </m:r>
                        </m:e>
                        <m:sup>
                          <m:r>
                            <a:rPr lang="tr-TR" sz="1800" i="1">
                              <a:solidFill>
                                <a:srgbClr val="000000"/>
                              </a:solidFill>
                              <a:latin typeface="Cambria Math" panose="02040503050406030204" pitchFamily="18" charset="0"/>
                            </a:rPr>
                            <m:t>−</m:t>
                          </m:r>
                          <m:r>
                            <a:rPr lang="tr-TR" sz="1800" i="1">
                              <a:solidFill>
                                <a:srgbClr val="000000"/>
                              </a:solidFill>
                              <a:latin typeface="Cambria Math" panose="02040503050406030204" pitchFamily="18" charset="0"/>
                            </a:rPr>
                            <m:t>𝑡</m:t>
                          </m:r>
                          <m:r>
                            <a:rPr lang="tr-TR" sz="1800" i="1">
                              <a:solidFill>
                                <a:srgbClr val="000000"/>
                              </a:solidFill>
                              <a:latin typeface="Cambria Math" panose="02040503050406030204" pitchFamily="18" charset="0"/>
                            </a:rPr>
                            <m:t>/</m:t>
                          </m:r>
                          <m:r>
                            <a:rPr lang="tr-TR" sz="1800" i="1">
                              <a:solidFill>
                                <a:srgbClr val="000000"/>
                              </a:solidFill>
                              <a:latin typeface="Cambria Math" panose="02040503050406030204" pitchFamily="18" charset="0"/>
                            </a:rPr>
                            <m:t>𝜏</m:t>
                          </m:r>
                        </m:sup>
                      </m:sSup>
                      <m:r>
                        <a:rPr lang="tr-TR" sz="1800" i="1">
                          <a:solidFill>
                            <a:srgbClr val="000000"/>
                          </a:solidFill>
                          <a:latin typeface="Cambria Math" panose="02040503050406030204" pitchFamily="18" charset="0"/>
                        </a:rPr>
                        <m:t>,</m:t>
                      </m:r>
                    </m:oMath>
                  </m:oMathPara>
                </a14:m>
                <a:endParaRPr lang="tr-TR" sz="1800" dirty="0"/>
              </a:p>
            </p:txBody>
          </p:sp>
        </mc:Choice>
        <mc:Fallback>
          <p:sp>
            <p:nvSpPr>
              <p:cNvPr id="17" name="Object 16" descr="v (t) equals V subscript o baseline to the e minus StartFraction t over tau EndFraction power,">
                <a:extLst>
                  <a:ext uri="{FF2B5EF4-FFF2-40B4-BE49-F238E27FC236}">
                    <a16:creationId xmlns:a16="http://schemas.microsoft.com/office/drawing/2014/main" id="{B8A335D6-9B7D-4F9B-A064-445E2E97D1B1}"/>
                  </a:ext>
                </a:extLst>
              </p:cNvPr>
              <p:cNvSpPr txBox="1">
                <a:spLocks noRot="1" noChangeAspect="1" noMove="1" noResize="1" noEditPoints="1" noAdjustHandles="1" noChangeArrowheads="1" noChangeShapeType="1" noTextEdit="1"/>
              </p:cNvSpPr>
              <p:nvPr/>
            </p:nvSpPr>
            <p:spPr bwMode="auto">
              <a:xfrm>
                <a:off x="2341563" y="4557713"/>
                <a:ext cx="2006319" cy="910758"/>
              </a:xfrm>
              <a:prstGeom prst="rect">
                <a:avLst/>
              </a:prstGeom>
              <a:blipFill>
                <a:blip r:embed="rId10"/>
                <a:stretch>
                  <a:fillRect/>
                </a:stretch>
              </a:blipFill>
            </p:spPr>
            <p:txBody>
              <a:bodyPr/>
              <a:lstStyle/>
              <a:p>
                <a:r>
                  <a:rPr lang="tr-TR">
                    <a:noFill/>
                  </a:rPr>
                  <a:t> </a:t>
                </a:r>
              </a:p>
            </p:txBody>
          </p:sp>
        </mc:Fallback>
      </mc:AlternateContent>
      <p:graphicFrame>
        <p:nvGraphicFramePr>
          <p:cNvPr id="13" name="Object 12" descr="t is greater than or equal to 0.">
            <a:extLst>
              <a:ext uri="{FF2B5EF4-FFF2-40B4-BE49-F238E27FC236}">
                <a16:creationId xmlns:a16="http://schemas.microsoft.com/office/drawing/2014/main" id="{0EF12540-B998-C861-148B-983EE79E1D31}"/>
              </a:ext>
            </a:extLst>
          </p:cNvPr>
          <p:cNvGraphicFramePr>
            <a:graphicFrameLocks noChangeAspect="1"/>
          </p:cNvGraphicFramePr>
          <p:nvPr>
            <p:extLst>
              <p:ext uri="{D42A27DB-BD31-4B8C-83A1-F6EECF244321}">
                <p14:modId xmlns:p14="http://schemas.microsoft.com/office/powerpoint/2010/main" val="3571609063"/>
              </p:ext>
            </p:extLst>
          </p:nvPr>
        </p:nvGraphicFramePr>
        <p:xfrm>
          <a:off x="4629921" y="4605184"/>
          <a:ext cx="769937" cy="417513"/>
        </p:xfrm>
        <a:graphic>
          <a:graphicData uri="http://schemas.openxmlformats.org/presentationml/2006/ole">
            <mc:AlternateContent xmlns:mc="http://schemas.openxmlformats.org/markup-compatibility/2006">
              <mc:Choice xmlns:v="urn:schemas-microsoft-com:vml" Requires="v">
                <p:oleObj name="Equation" r:id="rId11" imgW="393480" imgH="203040" progId="Equation.DSMT4">
                  <p:embed/>
                </p:oleObj>
              </mc:Choice>
              <mc:Fallback>
                <p:oleObj name="Equation" r:id="rId11" imgW="393480" imgH="203040" progId="Equation.DSMT4">
                  <p:embed/>
                  <p:pic>
                    <p:nvPicPr>
                      <p:cNvPr id="17" name="Object 16" descr="S subscript 0 colon">
                        <a:extLst>
                          <a:ext uri="{FF2B5EF4-FFF2-40B4-BE49-F238E27FC236}">
                            <a16:creationId xmlns:a16="http://schemas.microsoft.com/office/drawing/2014/main" id="{B8A335D6-9B7D-4F9B-A064-445E2E97D1B1}"/>
                          </a:ext>
                        </a:extLst>
                      </p:cNvPr>
                      <p:cNvPicPr>
                        <a:picLocks noChangeAspect="1" noChangeArrowheads="1"/>
                      </p:cNvPicPr>
                      <p:nvPr/>
                    </p:nvPicPr>
                    <p:blipFill>
                      <a:blip r:embed="rId12"/>
                      <a:srcRect/>
                      <a:stretch>
                        <a:fillRect/>
                      </a:stretch>
                    </p:blipFill>
                    <p:spPr bwMode="auto">
                      <a:xfrm>
                        <a:off x="4629921" y="4605184"/>
                        <a:ext cx="769937" cy="4175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Content Placeholder 10">
            <a:extLst>
              <a:ext uri="{FF2B5EF4-FFF2-40B4-BE49-F238E27FC236}">
                <a16:creationId xmlns:a16="http://schemas.microsoft.com/office/drawing/2014/main" id="{E8BD10F9-94D8-4089-8ED3-9C1FB3F859A3}"/>
              </a:ext>
            </a:extLst>
          </p:cNvPr>
          <p:cNvSpPr>
            <a:spLocks noGrp="1"/>
          </p:cNvSpPr>
          <p:nvPr>
            <p:ph sz="quarter" idx="20"/>
          </p:nvPr>
        </p:nvSpPr>
        <p:spPr>
          <a:xfrm>
            <a:off x="436283" y="5396498"/>
            <a:ext cx="8213707" cy="775015"/>
          </a:xfrm>
        </p:spPr>
        <p:txBody>
          <a:bodyPr wrap="square" lIns="0" tIns="18000" rIns="0" bIns="18000" anchor="ctr" anchorCtr="0">
            <a:spAutoFit/>
          </a:bodyPr>
          <a:lstStyle/>
          <a:p>
            <a:pPr marL="0" indent="0">
              <a:spcBef>
                <a:spcPts val="600"/>
              </a:spcBef>
              <a:buNone/>
            </a:pPr>
            <a:r>
              <a:rPr lang="en-US" altLang="en-US" sz="2400" noProof="0" dirty="0"/>
              <a:t>Step 4 – Calculate other quantities of interest using the capacitor voltage.</a:t>
            </a:r>
          </a:p>
        </p:txBody>
      </p:sp>
    </p:spTree>
    <p:extLst>
      <p:ext uri="{BB962C8B-B14F-4D97-AF65-F5344CB8AC3E}">
        <p14:creationId xmlns:p14="http://schemas.microsoft.com/office/powerpoint/2010/main" val="14835241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7056" y="212348"/>
            <a:ext cx="8213707" cy="1144347"/>
          </a:xfrm>
        </p:spPr>
        <p:txBody>
          <a:bodyPr wrap="square" lIns="0" tIns="18000" rIns="0" bIns="18000" anchor="ctr" anchorCtr="0">
            <a:spAutoFit/>
          </a:bodyPr>
          <a:lstStyle/>
          <a:p>
            <a:r>
              <a:rPr lang="en-US" noProof="0" dirty="0"/>
              <a:t>Chapter 7 – </a:t>
            </a:r>
            <a:r>
              <a:rPr lang="en-US" i="1" spc="-450" noProof="0" dirty="0"/>
              <a:t>R </a:t>
            </a:r>
            <a:r>
              <a:rPr lang="en-US" i="1" noProof="0" dirty="0"/>
              <a:t>L/</a:t>
            </a:r>
            <a:r>
              <a:rPr lang="en-US" i="1" spc="-450" noProof="0" dirty="0"/>
              <a:t>R </a:t>
            </a:r>
            <a:r>
              <a:rPr lang="en-US" i="1" noProof="0" dirty="0"/>
              <a:t>C</a:t>
            </a:r>
            <a:r>
              <a:rPr lang="en-US" noProof="0" dirty="0"/>
              <a:t> Natural Response Examples </a:t>
            </a:r>
            <a:r>
              <a:rPr lang="en-US" sz="2800" noProof="0" dirty="0"/>
              <a:t>(1 of 14)</a:t>
            </a:r>
          </a:p>
        </p:txBody>
      </p:sp>
      <p:sp>
        <p:nvSpPr>
          <p:cNvPr id="15" name="Content Placeholder 14">
            <a:extLst>
              <a:ext uri="{FF2B5EF4-FFF2-40B4-BE49-F238E27FC236}">
                <a16:creationId xmlns:a16="http://schemas.microsoft.com/office/drawing/2014/main" id="{F401DF2E-8E54-D10D-ECFC-B7C2442621A4}"/>
              </a:ext>
            </a:extLst>
          </p:cNvPr>
          <p:cNvSpPr>
            <a:spLocks noGrp="1"/>
          </p:cNvSpPr>
          <p:nvPr>
            <p:ph sz="quarter" idx="12"/>
          </p:nvPr>
        </p:nvSpPr>
        <p:spPr>
          <a:xfrm>
            <a:off x="427057" y="1568823"/>
            <a:ext cx="607924" cy="405683"/>
          </a:xfrm>
        </p:spPr>
        <p:txBody>
          <a:bodyPr wrap="square" lIns="0" tIns="18000" rIns="0" bIns="18000" anchor="ctr" anchorCtr="0">
            <a:spAutoFit/>
          </a:bodyPr>
          <a:lstStyle/>
          <a:p>
            <a:pPr marL="0" indent="0">
              <a:spcBef>
                <a:spcPts val="600"/>
              </a:spcBef>
              <a:buNone/>
            </a:pPr>
            <a:r>
              <a:rPr lang="en-US" sz="2400" noProof="0" dirty="0"/>
              <a:t>Find</a:t>
            </a:r>
          </a:p>
        </p:txBody>
      </p:sp>
      <p:graphicFrame>
        <p:nvGraphicFramePr>
          <p:cNvPr id="11" name="Object 10" descr="v subscript o baseline (t).">
            <a:extLst>
              <a:ext uri="{FF2B5EF4-FFF2-40B4-BE49-F238E27FC236}">
                <a16:creationId xmlns:a16="http://schemas.microsoft.com/office/drawing/2014/main" id="{AD5A56A7-210A-40C9-AB86-A3E952189F96}"/>
              </a:ext>
            </a:extLst>
          </p:cNvPr>
          <p:cNvGraphicFramePr>
            <a:graphicFrameLocks noChangeAspect="1"/>
          </p:cNvGraphicFramePr>
          <p:nvPr>
            <p:extLst>
              <p:ext uri="{D42A27DB-BD31-4B8C-83A1-F6EECF244321}">
                <p14:modId xmlns:p14="http://schemas.microsoft.com/office/powerpoint/2010/main" val="233542942"/>
              </p:ext>
            </p:extLst>
          </p:nvPr>
        </p:nvGraphicFramePr>
        <p:xfrm>
          <a:off x="1157521" y="1604936"/>
          <a:ext cx="620131" cy="435410"/>
        </p:xfrm>
        <a:graphic>
          <a:graphicData uri="http://schemas.openxmlformats.org/presentationml/2006/ole">
            <mc:AlternateContent xmlns:mc="http://schemas.openxmlformats.org/markup-compatibility/2006">
              <mc:Choice xmlns:v="urn:schemas-microsoft-com:vml" Requires="v">
                <p:oleObj name="Equation" r:id="rId2" imgW="342720" imgH="228600" progId="Equation.DSMT4">
                  <p:embed/>
                </p:oleObj>
              </mc:Choice>
              <mc:Fallback>
                <p:oleObj name="Equation" r:id="rId2" imgW="342720" imgH="228600" progId="Equation.DSMT4">
                  <p:embed/>
                  <p:pic>
                    <p:nvPicPr>
                      <p:cNvPr id="14" name="Object 13" descr="S subscript 0 colon">
                        <a:extLst>
                          <a:ext uri="{FF2B5EF4-FFF2-40B4-BE49-F238E27FC236}">
                            <a16:creationId xmlns:a16="http://schemas.microsoft.com/office/drawing/2014/main" id="{5C74CEEB-DF88-4A30-9580-A480027F8060}"/>
                          </a:ext>
                        </a:extLst>
                      </p:cNvPr>
                      <p:cNvPicPr>
                        <a:picLocks noChangeAspect="1" noChangeArrowheads="1"/>
                      </p:cNvPicPr>
                      <p:nvPr/>
                    </p:nvPicPr>
                    <p:blipFill>
                      <a:blip r:embed="rId3"/>
                      <a:srcRect/>
                      <a:stretch>
                        <a:fillRect/>
                      </a:stretch>
                    </p:blipFill>
                    <p:spPr bwMode="auto">
                      <a:xfrm>
                        <a:off x="1157521" y="1604936"/>
                        <a:ext cx="620131" cy="43541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 name="Content Placeholder 16">
            <a:extLst>
              <a:ext uri="{FF2B5EF4-FFF2-40B4-BE49-F238E27FC236}">
                <a16:creationId xmlns:a16="http://schemas.microsoft.com/office/drawing/2014/main" id="{DDB72BC7-435F-0C12-2C51-13CBE939CADE}"/>
              </a:ext>
            </a:extLst>
          </p:cNvPr>
          <p:cNvSpPr>
            <a:spLocks noGrp="1"/>
          </p:cNvSpPr>
          <p:nvPr>
            <p:ph sz="quarter" idx="13"/>
          </p:nvPr>
        </p:nvSpPr>
        <p:spPr>
          <a:xfrm>
            <a:off x="1901503" y="1587077"/>
            <a:ext cx="447157" cy="405683"/>
          </a:xfrm>
        </p:spPr>
        <p:txBody>
          <a:bodyPr wrap="square" lIns="0" tIns="18000" rIns="0" bIns="18000" anchor="ctr" anchorCtr="0">
            <a:spAutoFit/>
          </a:bodyPr>
          <a:lstStyle/>
          <a:p>
            <a:pPr marL="0" indent="0">
              <a:spcBef>
                <a:spcPts val="600"/>
              </a:spcBef>
              <a:buNone/>
            </a:pPr>
            <a:r>
              <a:rPr lang="en-US" sz="2400" noProof="0" dirty="0"/>
              <a:t>for</a:t>
            </a:r>
          </a:p>
        </p:txBody>
      </p:sp>
      <p:graphicFrame>
        <p:nvGraphicFramePr>
          <p:cNvPr id="16" name="Object 15" descr="t greater than or equal to 0 superscript plus.">
            <a:extLst>
              <a:ext uri="{FF2B5EF4-FFF2-40B4-BE49-F238E27FC236}">
                <a16:creationId xmlns:a16="http://schemas.microsoft.com/office/drawing/2014/main" id="{8BD0B66B-6BA2-4288-83AD-96DEEAEC232E}"/>
              </a:ext>
            </a:extLst>
          </p:cNvPr>
          <p:cNvGraphicFramePr>
            <a:graphicFrameLocks noChangeAspect="1"/>
          </p:cNvGraphicFramePr>
          <p:nvPr>
            <p:extLst>
              <p:ext uri="{D42A27DB-BD31-4B8C-83A1-F6EECF244321}">
                <p14:modId xmlns:p14="http://schemas.microsoft.com/office/powerpoint/2010/main" val="1956449414"/>
              </p:ext>
            </p:extLst>
          </p:nvPr>
        </p:nvGraphicFramePr>
        <p:xfrm>
          <a:off x="2393950" y="1585530"/>
          <a:ext cx="787400" cy="461963"/>
        </p:xfrm>
        <a:graphic>
          <a:graphicData uri="http://schemas.openxmlformats.org/presentationml/2006/ole">
            <mc:AlternateContent xmlns:mc="http://schemas.openxmlformats.org/markup-compatibility/2006">
              <mc:Choice xmlns:v="urn:schemas-microsoft-com:vml" Requires="v">
                <p:oleObj name="Equation" r:id="rId4" imgW="406080" imgH="228600" progId="Equation.DSMT4">
                  <p:embed/>
                </p:oleObj>
              </mc:Choice>
              <mc:Fallback>
                <p:oleObj name="Equation" r:id="rId4" imgW="406080" imgH="228600" progId="Equation.DSMT4">
                  <p:embed/>
                  <p:pic>
                    <p:nvPicPr>
                      <p:cNvPr id="15" name="Object 14" descr="S subscript 0 colon">
                        <a:extLst>
                          <a:ext uri="{FF2B5EF4-FFF2-40B4-BE49-F238E27FC236}">
                            <a16:creationId xmlns:a16="http://schemas.microsoft.com/office/drawing/2014/main" id="{A6B505A9-13BC-453B-BBA2-0B20F82E20F2}"/>
                          </a:ext>
                        </a:extLst>
                      </p:cNvPr>
                      <p:cNvPicPr>
                        <a:picLocks noChangeAspect="1" noChangeArrowheads="1"/>
                      </p:cNvPicPr>
                      <p:nvPr/>
                    </p:nvPicPr>
                    <p:blipFill>
                      <a:blip r:embed="rId5"/>
                      <a:srcRect/>
                      <a:stretch>
                        <a:fillRect/>
                      </a:stretch>
                    </p:blipFill>
                    <p:spPr bwMode="auto">
                      <a:xfrm>
                        <a:off x="2393950" y="1585530"/>
                        <a:ext cx="787400" cy="4619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33" name="Picture 32" descr="A circuit diagram shows a current source with 6.4 ampere capacity. A switch connects the current source of 6.4 ampere capacity with the top wire of the circuit via node a when time t is less than zero. The same switch connects the current source with 6.4 ampere capacity to the bottom wire in the circuit via node b after time t equals zero. From left to right, a resistance of 10 ohms, an inductor of 0.32 Henry, and a resistance of 4 ohms are connected in parallel to the 6.4 ampere current source, that is between the top and bottom wires in the circuit. A 6 ohm resistance is connected in the top wire between the top nodes of the 10 ohm resistance and the 0.32 Henry inductor. Voltage v subscript 0 develops across the 10 ohm resistance with positive polarity at the top node and negative at the bottom. ">
            <a:extLst>
              <a:ext uri="{FF2B5EF4-FFF2-40B4-BE49-F238E27FC236}">
                <a16:creationId xmlns:a16="http://schemas.microsoft.com/office/drawing/2014/main" id="{733149F7-96CA-217E-EFFA-260C2BB66792}"/>
              </a:ext>
            </a:extLst>
          </p:cNvPr>
          <p:cNvPicPr>
            <a:picLocks noChangeAspect="1"/>
          </p:cNvPicPr>
          <p:nvPr/>
        </p:nvPicPr>
        <p:blipFill>
          <a:blip r:embed="rId6"/>
          <a:srcRect/>
          <a:stretch/>
        </p:blipFill>
        <p:spPr>
          <a:xfrm>
            <a:off x="4399635" y="1650223"/>
            <a:ext cx="4043433" cy="1454908"/>
          </a:xfrm>
          <a:prstGeom prst="rect">
            <a:avLst/>
          </a:prstGeom>
        </p:spPr>
      </p:pic>
      <p:sp>
        <p:nvSpPr>
          <p:cNvPr id="19" name="Content Placeholder 18">
            <a:extLst>
              <a:ext uri="{FF2B5EF4-FFF2-40B4-BE49-F238E27FC236}">
                <a16:creationId xmlns:a16="http://schemas.microsoft.com/office/drawing/2014/main" id="{7D19501D-7BF4-2D1E-980C-65F9BE592BB9}"/>
              </a:ext>
            </a:extLst>
          </p:cNvPr>
          <p:cNvSpPr>
            <a:spLocks noGrp="1"/>
          </p:cNvSpPr>
          <p:nvPr>
            <p:ph sz="quarter" idx="14"/>
          </p:nvPr>
        </p:nvSpPr>
        <p:spPr>
          <a:xfrm>
            <a:off x="431859" y="3448586"/>
            <a:ext cx="5717732" cy="374906"/>
          </a:xfrm>
        </p:spPr>
        <p:txBody>
          <a:bodyPr wrap="square" lIns="0" tIns="18000" rIns="0" bIns="18000" anchor="ctr" anchorCtr="0">
            <a:spAutoFit/>
          </a:bodyPr>
          <a:lstStyle/>
          <a:p>
            <a:pPr marL="0" indent="0">
              <a:spcBef>
                <a:spcPts val="600"/>
              </a:spcBef>
              <a:buNone/>
            </a:pPr>
            <a:r>
              <a:rPr lang="en-US" sz="2200" noProof="0" dirty="0"/>
              <a:t>Step 1 – Determine the initial inductor current,</a:t>
            </a:r>
          </a:p>
        </p:txBody>
      </p:sp>
      <p:graphicFrame>
        <p:nvGraphicFramePr>
          <p:cNvPr id="12" name="Object 11" descr="I subscript 0,">
            <a:extLst>
              <a:ext uri="{FF2B5EF4-FFF2-40B4-BE49-F238E27FC236}">
                <a16:creationId xmlns:a16="http://schemas.microsoft.com/office/drawing/2014/main" id="{59A5B9E1-0EC0-45A5-BDA5-820E79AB1A9D}"/>
              </a:ext>
            </a:extLst>
          </p:cNvPr>
          <p:cNvGraphicFramePr>
            <a:graphicFrameLocks noChangeAspect="1"/>
          </p:cNvGraphicFramePr>
          <p:nvPr>
            <p:extLst>
              <p:ext uri="{D42A27DB-BD31-4B8C-83A1-F6EECF244321}">
                <p14:modId xmlns:p14="http://schemas.microsoft.com/office/powerpoint/2010/main" val="1226366780"/>
              </p:ext>
            </p:extLst>
          </p:nvPr>
        </p:nvGraphicFramePr>
        <p:xfrm>
          <a:off x="6187779" y="3476168"/>
          <a:ext cx="317255" cy="429321"/>
        </p:xfrm>
        <a:graphic>
          <a:graphicData uri="http://schemas.openxmlformats.org/presentationml/2006/ole">
            <mc:AlternateContent xmlns:mc="http://schemas.openxmlformats.org/markup-compatibility/2006">
              <mc:Choice xmlns:v="urn:schemas-microsoft-com:vml" Requires="v">
                <p:oleObj name="Equation" r:id="rId7" imgW="177480" imgH="228600" progId="Equation.DSMT4">
                  <p:embed/>
                </p:oleObj>
              </mc:Choice>
              <mc:Fallback>
                <p:oleObj name="Equation" r:id="rId7" imgW="177480" imgH="228600" progId="Equation.DSMT4">
                  <p:embed/>
                  <p:pic>
                    <p:nvPicPr>
                      <p:cNvPr id="18" name="Object 17" descr="S subscript 0 colon">
                        <a:extLst>
                          <a:ext uri="{FF2B5EF4-FFF2-40B4-BE49-F238E27FC236}">
                            <a16:creationId xmlns:a16="http://schemas.microsoft.com/office/drawing/2014/main" id="{895C07FC-3BCC-47A7-AF0D-763994909860}"/>
                          </a:ext>
                        </a:extLst>
                      </p:cNvPr>
                      <p:cNvPicPr>
                        <a:picLocks noChangeAspect="1" noChangeArrowheads="1"/>
                      </p:cNvPicPr>
                      <p:nvPr/>
                    </p:nvPicPr>
                    <p:blipFill>
                      <a:blip r:embed="rId8"/>
                      <a:srcRect/>
                      <a:stretch>
                        <a:fillRect/>
                      </a:stretch>
                    </p:blipFill>
                    <p:spPr bwMode="auto">
                      <a:xfrm>
                        <a:off x="6187779" y="3476168"/>
                        <a:ext cx="317255" cy="42932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1" name="Content Placeholder 20">
            <a:extLst>
              <a:ext uri="{FF2B5EF4-FFF2-40B4-BE49-F238E27FC236}">
                <a16:creationId xmlns:a16="http://schemas.microsoft.com/office/drawing/2014/main" id="{E332B946-6B86-4036-F2EF-012CB29FFE5C}"/>
              </a:ext>
            </a:extLst>
          </p:cNvPr>
          <p:cNvSpPr>
            <a:spLocks noGrp="1"/>
          </p:cNvSpPr>
          <p:nvPr>
            <p:ph sz="quarter" idx="15"/>
          </p:nvPr>
        </p:nvSpPr>
        <p:spPr>
          <a:xfrm>
            <a:off x="6568283" y="3448586"/>
            <a:ext cx="1577781" cy="374906"/>
          </a:xfrm>
        </p:spPr>
        <p:txBody>
          <a:bodyPr wrap="square" lIns="0" tIns="18000" rIns="0" bIns="18000" anchor="ctr" anchorCtr="0">
            <a:spAutoFit/>
          </a:bodyPr>
          <a:lstStyle/>
          <a:p>
            <a:pPr marL="0" indent="0">
              <a:spcBef>
                <a:spcPts val="600"/>
              </a:spcBef>
              <a:buNone/>
            </a:pPr>
            <a:r>
              <a:rPr lang="en-US" sz="2200" noProof="0" dirty="0"/>
              <a:t>by analyzing</a:t>
            </a:r>
          </a:p>
        </p:txBody>
      </p:sp>
      <p:sp>
        <p:nvSpPr>
          <p:cNvPr id="23" name="Content Placeholder 22">
            <a:extLst>
              <a:ext uri="{FF2B5EF4-FFF2-40B4-BE49-F238E27FC236}">
                <a16:creationId xmlns:a16="http://schemas.microsoft.com/office/drawing/2014/main" id="{00A4E86E-B6E7-3C38-E850-21B7D46DF867}"/>
              </a:ext>
            </a:extLst>
          </p:cNvPr>
          <p:cNvSpPr>
            <a:spLocks noGrp="1"/>
          </p:cNvSpPr>
          <p:nvPr>
            <p:ph sz="quarter" idx="16"/>
          </p:nvPr>
        </p:nvSpPr>
        <p:spPr>
          <a:xfrm>
            <a:off x="431869" y="3927804"/>
            <a:ext cx="1638086" cy="374906"/>
          </a:xfrm>
        </p:spPr>
        <p:txBody>
          <a:bodyPr wrap="square" lIns="0" tIns="18000" rIns="0" bIns="18000" anchor="ctr" anchorCtr="0">
            <a:spAutoFit/>
          </a:bodyPr>
          <a:lstStyle/>
          <a:p>
            <a:pPr marL="0" indent="0">
              <a:spcBef>
                <a:spcPts val="600"/>
              </a:spcBef>
              <a:buNone/>
            </a:pPr>
            <a:r>
              <a:rPr lang="en-US" sz="2200" noProof="0" dirty="0"/>
              <a:t>the circuit for</a:t>
            </a:r>
          </a:p>
        </p:txBody>
      </p:sp>
      <p:graphicFrame>
        <p:nvGraphicFramePr>
          <p:cNvPr id="13" name="Object 12" descr="t is less than 0.">
            <a:extLst>
              <a:ext uri="{FF2B5EF4-FFF2-40B4-BE49-F238E27FC236}">
                <a16:creationId xmlns:a16="http://schemas.microsoft.com/office/drawing/2014/main" id="{AF0CA15A-AE00-4495-85D3-A6486D37687D}"/>
              </a:ext>
            </a:extLst>
          </p:cNvPr>
          <p:cNvGraphicFramePr>
            <a:graphicFrameLocks noChangeAspect="1"/>
          </p:cNvGraphicFramePr>
          <p:nvPr>
            <p:extLst>
              <p:ext uri="{D42A27DB-BD31-4B8C-83A1-F6EECF244321}">
                <p14:modId xmlns:p14="http://schemas.microsoft.com/office/powerpoint/2010/main" val="531503332"/>
              </p:ext>
            </p:extLst>
          </p:nvPr>
        </p:nvGraphicFramePr>
        <p:xfrm>
          <a:off x="2106418" y="3977386"/>
          <a:ext cx="635380" cy="354886"/>
        </p:xfrm>
        <a:graphic>
          <a:graphicData uri="http://schemas.openxmlformats.org/presentationml/2006/ole">
            <mc:AlternateContent xmlns:mc="http://schemas.openxmlformats.org/markup-compatibility/2006">
              <mc:Choice xmlns:v="urn:schemas-microsoft-com:vml" Requires="v">
                <p:oleObj name="Equation" r:id="rId9" imgW="380880" imgH="203040" progId="Equation.DSMT4">
                  <p:embed/>
                </p:oleObj>
              </mc:Choice>
              <mc:Fallback>
                <p:oleObj name="Equation" r:id="rId9" imgW="380880" imgH="203040" progId="Equation.DSMT4">
                  <p:embed/>
                  <p:pic>
                    <p:nvPicPr>
                      <p:cNvPr id="15" name="Object 14" descr="S subscript 0 colon">
                        <a:extLst>
                          <a:ext uri="{FF2B5EF4-FFF2-40B4-BE49-F238E27FC236}">
                            <a16:creationId xmlns:a16="http://schemas.microsoft.com/office/drawing/2014/main" id="{A6B505A9-13BC-453B-BBA2-0B20F82E20F2}"/>
                          </a:ext>
                        </a:extLst>
                      </p:cNvPr>
                      <p:cNvPicPr>
                        <a:picLocks noChangeAspect="1" noChangeArrowheads="1"/>
                      </p:cNvPicPr>
                      <p:nvPr/>
                    </p:nvPicPr>
                    <p:blipFill>
                      <a:blip r:embed="rId10"/>
                      <a:srcRect/>
                      <a:stretch>
                        <a:fillRect/>
                      </a:stretch>
                    </p:blipFill>
                    <p:spPr bwMode="auto">
                      <a:xfrm>
                        <a:off x="2106418" y="3977386"/>
                        <a:ext cx="635380" cy="35488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5" name="Content Placeholder 24">
            <a:extLst>
              <a:ext uri="{FF2B5EF4-FFF2-40B4-BE49-F238E27FC236}">
                <a16:creationId xmlns:a16="http://schemas.microsoft.com/office/drawing/2014/main" id="{7298EBD6-1218-9C39-C981-E314E4709221}"/>
              </a:ext>
            </a:extLst>
          </p:cNvPr>
          <p:cNvSpPr>
            <a:spLocks noGrp="1"/>
          </p:cNvSpPr>
          <p:nvPr>
            <p:ph sz="quarter" idx="17"/>
          </p:nvPr>
        </p:nvSpPr>
        <p:spPr>
          <a:xfrm>
            <a:off x="431863" y="4723461"/>
            <a:ext cx="446323" cy="374906"/>
          </a:xfrm>
        </p:spPr>
        <p:txBody>
          <a:bodyPr wrap="square" lIns="0" tIns="18000" rIns="0" bIns="18000" anchor="ctr" anchorCtr="0">
            <a:spAutoFit/>
          </a:bodyPr>
          <a:lstStyle/>
          <a:p>
            <a:pPr marL="0" indent="0">
              <a:spcBef>
                <a:spcPts val="600"/>
              </a:spcBef>
              <a:buNone/>
            </a:pPr>
            <a:r>
              <a:rPr lang="en-US" sz="2200" noProof="0" dirty="0"/>
              <a:t>For</a:t>
            </a:r>
          </a:p>
        </p:txBody>
      </p:sp>
      <p:graphicFrame>
        <p:nvGraphicFramePr>
          <p:cNvPr id="14" name="Object 13" descr="t is less than 0.">
            <a:extLst>
              <a:ext uri="{FF2B5EF4-FFF2-40B4-BE49-F238E27FC236}">
                <a16:creationId xmlns:a16="http://schemas.microsoft.com/office/drawing/2014/main" id="{8A8554C8-0BD4-46E3-A5A1-D8941ACF9CD8}"/>
              </a:ext>
            </a:extLst>
          </p:cNvPr>
          <p:cNvGraphicFramePr>
            <a:graphicFrameLocks noChangeAspect="1"/>
          </p:cNvGraphicFramePr>
          <p:nvPr>
            <p:extLst>
              <p:ext uri="{D42A27DB-BD31-4B8C-83A1-F6EECF244321}">
                <p14:modId xmlns:p14="http://schemas.microsoft.com/office/powerpoint/2010/main" val="1536029189"/>
              </p:ext>
            </p:extLst>
          </p:nvPr>
        </p:nvGraphicFramePr>
        <p:xfrm>
          <a:off x="929051" y="4781971"/>
          <a:ext cx="569401" cy="341115"/>
        </p:xfrm>
        <a:graphic>
          <a:graphicData uri="http://schemas.openxmlformats.org/presentationml/2006/ole">
            <mc:AlternateContent xmlns:mc="http://schemas.openxmlformats.org/markup-compatibility/2006">
              <mc:Choice xmlns:v="urn:schemas-microsoft-com:vml" Requires="v">
                <p:oleObj name="Equation" r:id="rId11" imgW="355320" imgH="203040" progId="Equation.DSMT4">
                  <p:embed/>
                </p:oleObj>
              </mc:Choice>
              <mc:Fallback>
                <p:oleObj name="Equation" r:id="rId11" imgW="355320" imgH="203040" progId="Equation.DSMT4">
                  <p:embed/>
                  <p:pic>
                    <p:nvPicPr>
                      <p:cNvPr id="13" name="Object 12" descr="S subscript 0 colon">
                        <a:extLst>
                          <a:ext uri="{FF2B5EF4-FFF2-40B4-BE49-F238E27FC236}">
                            <a16:creationId xmlns:a16="http://schemas.microsoft.com/office/drawing/2014/main" id="{AF0CA15A-AE00-4495-85D3-A6486D37687D}"/>
                          </a:ext>
                        </a:extLst>
                      </p:cNvPr>
                      <p:cNvPicPr>
                        <a:picLocks noChangeAspect="1" noChangeArrowheads="1"/>
                      </p:cNvPicPr>
                      <p:nvPr/>
                    </p:nvPicPr>
                    <p:blipFill>
                      <a:blip r:embed="rId12"/>
                      <a:srcRect/>
                      <a:stretch>
                        <a:fillRect/>
                      </a:stretch>
                    </p:blipFill>
                    <p:spPr bwMode="auto">
                      <a:xfrm>
                        <a:off x="929051" y="4781971"/>
                        <a:ext cx="569401" cy="34111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35" name="Picture 34" descr="A circuit diagram shows the conditions in a circuit before time t is measured, that is when t is less than zero. A current source with 6.4 ampere capacity. A switch connects the current source of 6.4 ampere capacity with the top wire of the circuit via node a when time t is less than zero. The same switch connects the current source with 6.4 ampere capacity to the bottom wire in the circuit via node b. From left to right, a resistance of 10 ohms, an inductor of 0.32 Henry, and a resistance of 4 ohms are connected in parallel to the 6.4 ampere current source, that is between the top and bottom wires in the circuit. A 6 ohm resistance is connected in the top wire between the top nodes of the 10 ohm resistance and the 0.32 Henry inductor. Initial current I subscript 0 flows through the inductor of 0.32 Henry from the top node to the bottom. Voltage v subscript 0 develops across the 10 ohm resistance with positive polarity at the top node and negative at the bottom. ">
            <a:extLst>
              <a:ext uri="{FF2B5EF4-FFF2-40B4-BE49-F238E27FC236}">
                <a16:creationId xmlns:a16="http://schemas.microsoft.com/office/drawing/2014/main" id="{98279FA6-5EE3-DB6A-D617-68D454B0778F}"/>
              </a:ext>
            </a:extLst>
          </p:cNvPr>
          <p:cNvPicPr>
            <a:picLocks noChangeAspect="1"/>
          </p:cNvPicPr>
          <p:nvPr/>
        </p:nvPicPr>
        <p:blipFill>
          <a:blip r:embed="rId13"/>
          <a:stretch>
            <a:fillRect/>
          </a:stretch>
        </p:blipFill>
        <p:spPr>
          <a:xfrm>
            <a:off x="2397180" y="4861776"/>
            <a:ext cx="4369727" cy="1219692"/>
          </a:xfrm>
          <a:prstGeom prst="rect">
            <a:avLst/>
          </a:prstGeom>
        </p:spPr>
      </p:pic>
    </p:spTree>
    <p:extLst>
      <p:ext uri="{BB962C8B-B14F-4D97-AF65-F5344CB8AC3E}">
        <p14:creationId xmlns:p14="http://schemas.microsoft.com/office/powerpoint/2010/main" val="7678385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8919" y="212142"/>
            <a:ext cx="8211844" cy="1144347"/>
          </a:xfrm>
        </p:spPr>
        <p:txBody>
          <a:bodyPr wrap="square" lIns="0" tIns="18000" rIns="0" bIns="18000" anchor="ctr" anchorCtr="0">
            <a:spAutoFit/>
          </a:bodyPr>
          <a:lstStyle/>
          <a:p>
            <a:r>
              <a:rPr lang="en-US" noProof="0" dirty="0"/>
              <a:t>Chapter 7 – </a:t>
            </a:r>
            <a:r>
              <a:rPr lang="en-US" i="1" spc="-450" noProof="0" dirty="0"/>
              <a:t>R </a:t>
            </a:r>
            <a:r>
              <a:rPr lang="en-US" i="1" noProof="0" dirty="0"/>
              <a:t>L/</a:t>
            </a:r>
            <a:r>
              <a:rPr lang="en-US" i="1" spc="-450" noProof="0" dirty="0"/>
              <a:t>R </a:t>
            </a:r>
            <a:r>
              <a:rPr lang="en-US" i="1" noProof="0" dirty="0"/>
              <a:t>C</a:t>
            </a:r>
            <a:r>
              <a:rPr lang="en-US" noProof="0" dirty="0"/>
              <a:t> Natural Response Examples </a:t>
            </a:r>
            <a:r>
              <a:rPr lang="en-US" sz="2800" noProof="0" dirty="0"/>
              <a:t>(2 of 14)</a:t>
            </a:r>
          </a:p>
        </p:txBody>
      </p:sp>
      <p:sp>
        <p:nvSpPr>
          <p:cNvPr id="26" name="Content Placeholder 25">
            <a:extLst>
              <a:ext uri="{FF2B5EF4-FFF2-40B4-BE49-F238E27FC236}">
                <a16:creationId xmlns:a16="http://schemas.microsoft.com/office/drawing/2014/main" id="{DF3F5CB0-FA82-432A-93FB-D942ED7641D3}"/>
              </a:ext>
            </a:extLst>
          </p:cNvPr>
          <p:cNvSpPr>
            <a:spLocks noGrp="1"/>
          </p:cNvSpPr>
          <p:nvPr>
            <p:ph sz="quarter" idx="12"/>
          </p:nvPr>
        </p:nvSpPr>
        <p:spPr>
          <a:xfrm>
            <a:off x="428919" y="1648165"/>
            <a:ext cx="8211844" cy="775015"/>
          </a:xfrm>
        </p:spPr>
        <p:txBody>
          <a:bodyPr wrap="square" lIns="0" tIns="18000" rIns="0" bIns="18000" anchor="ctr" anchorCtr="0">
            <a:spAutoFit/>
          </a:bodyPr>
          <a:lstStyle/>
          <a:p>
            <a:pPr marL="0" indent="0">
              <a:spcBef>
                <a:spcPts val="600"/>
              </a:spcBef>
              <a:buNone/>
            </a:pPr>
            <a:r>
              <a:rPr lang="en-US" altLang="en-US" sz="2400" noProof="0" dirty="0"/>
              <a:t>The short circuit that replaced the inductor effectively eliminates which resistor from this circuit?</a:t>
            </a:r>
          </a:p>
        </p:txBody>
      </p:sp>
      <p:sp>
        <p:nvSpPr>
          <p:cNvPr id="29" name="Content Placeholder 28">
            <a:extLst>
              <a:ext uri="{FF2B5EF4-FFF2-40B4-BE49-F238E27FC236}">
                <a16:creationId xmlns:a16="http://schemas.microsoft.com/office/drawing/2014/main" id="{1C8CAA40-94A2-4F72-B3FD-9B9E53A7A2F0}"/>
              </a:ext>
            </a:extLst>
          </p:cNvPr>
          <p:cNvSpPr>
            <a:spLocks noGrp="1"/>
          </p:cNvSpPr>
          <p:nvPr>
            <p:ph sz="quarter" idx="15"/>
          </p:nvPr>
        </p:nvSpPr>
        <p:spPr>
          <a:xfrm>
            <a:off x="1408371" y="3141713"/>
            <a:ext cx="342900" cy="413837"/>
          </a:xfrm>
        </p:spPr>
        <p:txBody>
          <a:bodyPr wrap="square" lIns="0" tIns="18000" rIns="0" bIns="18000" anchor="ctr" anchorCtr="0">
            <a:spAutoFit/>
          </a:bodyPr>
          <a:lstStyle/>
          <a:p>
            <a:pPr marL="0" indent="0">
              <a:spcBef>
                <a:spcPts val="600"/>
              </a:spcBef>
              <a:buNone/>
              <a:defRPr/>
            </a:pPr>
            <a:r>
              <a:rPr lang="en-US" sz="2400" noProof="0" dirty="0">
                <a:solidFill>
                  <a:schemeClr val="tx2"/>
                </a:solidFill>
              </a:rPr>
              <a:t>A.</a:t>
            </a:r>
            <a:r>
              <a:rPr lang="en-US" sz="2400" noProof="0" dirty="0">
                <a:solidFill>
                  <a:schemeClr val="tx1"/>
                </a:solidFill>
              </a:rPr>
              <a:t> </a:t>
            </a:r>
          </a:p>
        </p:txBody>
      </p:sp>
      <p:graphicFrame>
        <p:nvGraphicFramePr>
          <p:cNvPr id="11" name="Object 10" descr="10 Ohms.">
            <a:extLst>
              <a:ext uri="{FF2B5EF4-FFF2-40B4-BE49-F238E27FC236}">
                <a16:creationId xmlns:a16="http://schemas.microsoft.com/office/drawing/2014/main" id="{FC4A51C6-820A-4B04-8045-9ADF340952E4}"/>
              </a:ext>
            </a:extLst>
          </p:cNvPr>
          <p:cNvGraphicFramePr>
            <a:graphicFrameLocks noChangeAspect="1"/>
          </p:cNvGraphicFramePr>
          <p:nvPr>
            <p:extLst>
              <p:ext uri="{D42A27DB-BD31-4B8C-83A1-F6EECF244321}">
                <p14:modId xmlns:p14="http://schemas.microsoft.com/office/powerpoint/2010/main" val="3316409907"/>
              </p:ext>
            </p:extLst>
          </p:nvPr>
        </p:nvGraphicFramePr>
        <p:xfrm>
          <a:off x="1868483" y="3184904"/>
          <a:ext cx="693365" cy="400611"/>
        </p:xfrm>
        <a:graphic>
          <a:graphicData uri="http://schemas.openxmlformats.org/presentationml/2006/ole">
            <mc:AlternateContent xmlns:mc="http://schemas.openxmlformats.org/markup-compatibility/2006">
              <mc:Choice xmlns:v="urn:schemas-microsoft-com:vml" Requires="v">
                <p:oleObj name="Equation" r:id="rId2" imgW="368280" imgH="203040" progId="Equation.DSMT4">
                  <p:embed/>
                </p:oleObj>
              </mc:Choice>
              <mc:Fallback>
                <p:oleObj name="Equation" r:id="rId2" imgW="368280" imgH="203040" progId="Equation.DSMT4">
                  <p:embed/>
                  <p:pic>
                    <p:nvPicPr>
                      <p:cNvPr id="15" name="Object 14" descr="S subscript 0 colon">
                        <a:extLst>
                          <a:ext uri="{FF2B5EF4-FFF2-40B4-BE49-F238E27FC236}">
                            <a16:creationId xmlns:a16="http://schemas.microsoft.com/office/drawing/2014/main" id="{A6B505A9-13BC-453B-BBA2-0B20F82E20F2}"/>
                          </a:ext>
                        </a:extLst>
                      </p:cNvPr>
                      <p:cNvPicPr>
                        <a:picLocks noChangeAspect="1" noChangeArrowheads="1"/>
                      </p:cNvPicPr>
                      <p:nvPr/>
                    </p:nvPicPr>
                    <p:blipFill>
                      <a:blip r:embed="rId3"/>
                      <a:srcRect/>
                      <a:stretch>
                        <a:fillRect/>
                      </a:stretch>
                    </p:blipFill>
                    <p:spPr bwMode="auto">
                      <a:xfrm>
                        <a:off x="1868483" y="3184904"/>
                        <a:ext cx="693365" cy="40061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0" name="Content Placeholder 29">
            <a:extLst>
              <a:ext uri="{FF2B5EF4-FFF2-40B4-BE49-F238E27FC236}">
                <a16:creationId xmlns:a16="http://schemas.microsoft.com/office/drawing/2014/main" id="{CE4863BA-7E97-492E-BC54-CCB67E7D5205}"/>
              </a:ext>
            </a:extLst>
          </p:cNvPr>
          <p:cNvSpPr>
            <a:spLocks noGrp="1"/>
          </p:cNvSpPr>
          <p:nvPr>
            <p:ph sz="quarter" idx="16"/>
          </p:nvPr>
        </p:nvSpPr>
        <p:spPr>
          <a:xfrm>
            <a:off x="1408371" y="3676582"/>
            <a:ext cx="342900" cy="413837"/>
          </a:xfrm>
        </p:spPr>
        <p:txBody>
          <a:bodyPr wrap="square" lIns="0" tIns="18000" rIns="0" bIns="18000" anchor="ctr" anchorCtr="0">
            <a:spAutoFit/>
          </a:bodyPr>
          <a:lstStyle/>
          <a:p>
            <a:pPr marL="0" indent="0">
              <a:spcBef>
                <a:spcPts val="600"/>
              </a:spcBef>
              <a:buNone/>
            </a:pPr>
            <a:r>
              <a:rPr lang="en-US" sz="2400" noProof="0" dirty="0">
                <a:solidFill>
                  <a:schemeClr val="tx2"/>
                </a:solidFill>
              </a:rPr>
              <a:t>B.</a:t>
            </a:r>
            <a:r>
              <a:rPr lang="en-US" sz="2400" noProof="0" dirty="0">
                <a:solidFill>
                  <a:schemeClr val="tx1"/>
                </a:solidFill>
              </a:rPr>
              <a:t> </a:t>
            </a:r>
          </a:p>
        </p:txBody>
      </p:sp>
      <p:graphicFrame>
        <p:nvGraphicFramePr>
          <p:cNvPr id="12" name="Object 11" descr="6 Ohms.">
            <a:extLst>
              <a:ext uri="{FF2B5EF4-FFF2-40B4-BE49-F238E27FC236}">
                <a16:creationId xmlns:a16="http://schemas.microsoft.com/office/drawing/2014/main" id="{A50E8834-2DF9-4DE2-AA88-2459FAB84FDF}"/>
              </a:ext>
            </a:extLst>
          </p:cNvPr>
          <p:cNvGraphicFramePr>
            <a:graphicFrameLocks noChangeAspect="1"/>
          </p:cNvGraphicFramePr>
          <p:nvPr>
            <p:extLst>
              <p:ext uri="{D42A27DB-BD31-4B8C-83A1-F6EECF244321}">
                <p14:modId xmlns:p14="http://schemas.microsoft.com/office/powerpoint/2010/main" val="4004877356"/>
              </p:ext>
            </p:extLst>
          </p:nvPr>
        </p:nvGraphicFramePr>
        <p:xfrm>
          <a:off x="1860622" y="3726844"/>
          <a:ext cx="550069" cy="400611"/>
        </p:xfrm>
        <a:graphic>
          <a:graphicData uri="http://schemas.openxmlformats.org/presentationml/2006/ole">
            <mc:AlternateContent xmlns:mc="http://schemas.openxmlformats.org/markup-compatibility/2006">
              <mc:Choice xmlns:v="urn:schemas-microsoft-com:vml" Requires="v">
                <p:oleObj name="Equation" r:id="rId4" imgW="291960" imgH="203040" progId="Equation.DSMT4">
                  <p:embed/>
                </p:oleObj>
              </mc:Choice>
              <mc:Fallback>
                <p:oleObj name="Equation" r:id="rId4" imgW="291960" imgH="203040" progId="Equation.DSMT4">
                  <p:embed/>
                  <p:pic>
                    <p:nvPicPr>
                      <p:cNvPr id="11" name="Object 10" descr="S subscript 0 colon">
                        <a:extLst>
                          <a:ext uri="{FF2B5EF4-FFF2-40B4-BE49-F238E27FC236}">
                            <a16:creationId xmlns:a16="http://schemas.microsoft.com/office/drawing/2014/main" id="{FC4A51C6-820A-4B04-8045-9ADF340952E4}"/>
                          </a:ext>
                        </a:extLst>
                      </p:cNvPr>
                      <p:cNvPicPr>
                        <a:picLocks noChangeAspect="1" noChangeArrowheads="1"/>
                      </p:cNvPicPr>
                      <p:nvPr/>
                    </p:nvPicPr>
                    <p:blipFill>
                      <a:blip r:embed="rId5"/>
                      <a:srcRect/>
                      <a:stretch>
                        <a:fillRect/>
                      </a:stretch>
                    </p:blipFill>
                    <p:spPr bwMode="auto">
                      <a:xfrm>
                        <a:off x="1860622" y="3726844"/>
                        <a:ext cx="550069" cy="40061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1" name="Content Placeholder 30">
            <a:extLst>
              <a:ext uri="{FF2B5EF4-FFF2-40B4-BE49-F238E27FC236}">
                <a16:creationId xmlns:a16="http://schemas.microsoft.com/office/drawing/2014/main" id="{66BDB886-9ABA-4095-88AF-6BB1667EC4D4}"/>
              </a:ext>
            </a:extLst>
          </p:cNvPr>
          <p:cNvSpPr>
            <a:spLocks noGrp="1"/>
          </p:cNvSpPr>
          <p:nvPr>
            <p:ph sz="quarter" idx="17"/>
          </p:nvPr>
        </p:nvSpPr>
        <p:spPr>
          <a:xfrm>
            <a:off x="1408371" y="4212843"/>
            <a:ext cx="342900" cy="413837"/>
          </a:xfrm>
        </p:spPr>
        <p:txBody>
          <a:bodyPr wrap="square" lIns="0" tIns="18000" rIns="0" bIns="18000" anchor="ctr" anchorCtr="0">
            <a:spAutoFit/>
          </a:bodyPr>
          <a:lstStyle/>
          <a:p>
            <a:pPr marL="0" indent="0">
              <a:spcBef>
                <a:spcPts val="600"/>
              </a:spcBef>
              <a:buNone/>
            </a:pPr>
            <a:r>
              <a:rPr lang="en-US" sz="2400" noProof="0" dirty="0">
                <a:solidFill>
                  <a:schemeClr val="tx2"/>
                </a:solidFill>
              </a:rPr>
              <a:t>C.</a:t>
            </a:r>
            <a:r>
              <a:rPr lang="en-US" sz="2400" noProof="0" dirty="0">
                <a:solidFill>
                  <a:schemeClr val="tx1"/>
                </a:solidFill>
              </a:rPr>
              <a:t> </a:t>
            </a:r>
          </a:p>
        </p:txBody>
      </p:sp>
      <p:graphicFrame>
        <p:nvGraphicFramePr>
          <p:cNvPr id="13" name="Object 12" descr="4 Ohms.">
            <a:extLst>
              <a:ext uri="{FF2B5EF4-FFF2-40B4-BE49-F238E27FC236}">
                <a16:creationId xmlns:a16="http://schemas.microsoft.com/office/drawing/2014/main" id="{A33F8C47-E617-4541-922F-40F6E36A49EC}"/>
              </a:ext>
            </a:extLst>
          </p:cNvPr>
          <p:cNvGraphicFramePr>
            <a:graphicFrameLocks noChangeAspect="1"/>
          </p:cNvGraphicFramePr>
          <p:nvPr>
            <p:extLst>
              <p:ext uri="{D42A27DB-BD31-4B8C-83A1-F6EECF244321}">
                <p14:modId xmlns:p14="http://schemas.microsoft.com/office/powerpoint/2010/main" val="442306037"/>
              </p:ext>
            </p:extLst>
          </p:nvPr>
        </p:nvGraphicFramePr>
        <p:xfrm>
          <a:off x="1865875" y="4247108"/>
          <a:ext cx="550069" cy="400611"/>
        </p:xfrm>
        <a:graphic>
          <a:graphicData uri="http://schemas.openxmlformats.org/presentationml/2006/ole">
            <mc:AlternateContent xmlns:mc="http://schemas.openxmlformats.org/markup-compatibility/2006">
              <mc:Choice xmlns:v="urn:schemas-microsoft-com:vml" Requires="v">
                <p:oleObj name="Equation" r:id="rId6" imgW="291960" imgH="203040" progId="Equation.DSMT4">
                  <p:embed/>
                </p:oleObj>
              </mc:Choice>
              <mc:Fallback>
                <p:oleObj name="Equation" r:id="rId6" imgW="291960" imgH="203040" progId="Equation.DSMT4">
                  <p:embed/>
                  <p:pic>
                    <p:nvPicPr>
                      <p:cNvPr id="12" name="Object 11" descr="S subscript 0 colon">
                        <a:extLst>
                          <a:ext uri="{FF2B5EF4-FFF2-40B4-BE49-F238E27FC236}">
                            <a16:creationId xmlns:a16="http://schemas.microsoft.com/office/drawing/2014/main" id="{A50E8834-2DF9-4DE2-AA88-2459FAB84FDF}"/>
                          </a:ext>
                        </a:extLst>
                      </p:cNvPr>
                      <p:cNvPicPr>
                        <a:picLocks noChangeAspect="1" noChangeArrowheads="1"/>
                      </p:cNvPicPr>
                      <p:nvPr/>
                    </p:nvPicPr>
                    <p:blipFill>
                      <a:blip r:embed="rId7"/>
                      <a:srcRect/>
                      <a:stretch>
                        <a:fillRect/>
                      </a:stretch>
                    </p:blipFill>
                    <p:spPr bwMode="auto">
                      <a:xfrm>
                        <a:off x="1865875" y="4247108"/>
                        <a:ext cx="550069" cy="40061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3" name="Picture 2" descr="A circuit diagram shows the conditions in a circuit before time t is measured, that is when t is less than zero. A current source with 6.4 ampere capacity. A switch connects the current source of 6.4 ampere capacity with the top wire of the circuit via node a when time t is less than zero. The same switch connects the current source with 6.4 ampere capacity to the bottom wire in the circuit via node b. From left to right, a resistance of 10 ohms, an inductor of 0.32 Henry, and a resistance of 4 ohms are connected in parallel to the 6.4 ampere current source, that is between the top and bottom wires in the circuit. A 6 ohm resistance is connected in the top wire between the top nodes of the 10 ohm resistance and the 0.32 Henry inductor. Initial current I subscript 0 flows through the inductor of 0.32 Henry from the top node to the bottom. Voltage v subscript 0 develops across the 10 ohm resistance with positive polarity at the top node and negative at the bottom. ">
            <a:extLst>
              <a:ext uri="{FF2B5EF4-FFF2-40B4-BE49-F238E27FC236}">
                <a16:creationId xmlns:a16="http://schemas.microsoft.com/office/drawing/2014/main" id="{8682CD04-6E33-0A9D-532E-5B5DB591B529}"/>
              </a:ext>
            </a:extLst>
          </p:cNvPr>
          <p:cNvPicPr>
            <a:picLocks noChangeAspect="1"/>
          </p:cNvPicPr>
          <p:nvPr/>
        </p:nvPicPr>
        <p:blipFill>
          <a:blip r:embed="rId8"/>
          <a:stretch>
            <a:fillRect/>
          </a:stretch>
        </p:blipFill>
        <p:spPr>
          <a:xfrm>
            <a:off x="4344310" y="3200895"/>
            <a:ext cx="4175115" cy="1165372"/>
          </a:xfrm>
          <a:prstGeom prst="rect">
            <a:avLst/>
          </a:prstGeom>
        </p:spPr>
      </p:pic>
    </p:spTree>
    <p:extLst>
      <p:ext uri="{BB962C8B-B14F-4D97-AF65-F5344CB8AC3E}">
        <p14:creationId xmlns:p14="http://schemas.microsoft.com/office/powerpoint/2010/main" val="20409149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BCEDC3-C579-86BD-3D34-E29F7CC1258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C937FFD-2531-BCEB-C127-16743FCEB34E}"/>
              </a:ext>
            </a:extLst>
          </p:cNvPr>
          <p:cNvSpPr>
            <a:spLocks noGrp="1"/>
          </p:cNvSpPr>
          <p:nvPr>
            <p:ph type="title"/>
          </p:nvPr>
        </p:nvSpPr>
        <p:spPr>
          <a:xfrm>
            <a:off x="428919" y="212142"/>
            <a:ext cx="8211844" cy="1144347"/>
          </a:xfrm>
        </p:spPr>
        <p:txBody>
          <a:bodyPr wrap="square" lIns="0" tIns="18000" rIns="0" bIns="18000" anchor="ctr" anchorCtr="0">
            <a:spAutoFit/>
          </a:bodyPr>
          <a:lstStyle/>
          <a:p>
            <a:r>
              <a:rPr lang="en-US" noProof="0" dirty="0"/>
              <a:t>Chapter 7 – </a:t>
            </a:r>
            <a:r>
              <a:rPr lang="en-US" i="1" spc="-450" noProof="0" dirty="0"/>
              <a:t>R </a:t>
            </a:r>
            <a:r>
              <a:rPr lang="en-US" i="1" noProof="0" dirty="0"/>
              <a:t>L/</a:t>
            </a:r>
            <a:r>
              <a:rPr lang="en-US" i="1" spc="-450" noProof="0" dirty="0"/>
              <a:t>R </a:t>
            </a:r>
            <a:r>
              <a:rPr lang="en-US" i="1" noProof="0" dirty="0"/>
              <a:t>C</a:t>
            </a:r>
            <a:r>
              <a:rPr lang="en-US" noProof="0" dirty="0"/>
              <a:t> Natural Response Examples </a:t>
            </a:r>
            <a:r>
              <a:rPr lang="en-US" sz="2800" noProof="0" dirty="0"/>
              <a:t>(2 of 14)</a:t>
            </a:r>
          </a:p>
        </p:txBody>
      </p:sp>
      <p:sp>
        <p:nvSpPr>
          <p:cNvPr id="26" name="Content Placeholder 25">
            <a:extLst>
              <a:ext uri="{FF2B5EF4-FFF2-40B4-BE49-F238E27FC236}">
                <a16:creationId xmlns:a16="http://schemas.microsoft.com/office/drawing/2014/main" id="{20FFCE81-E4EF-7495-ED7A-D0EFFD087703}"/>
              </a:ext>
            </a:extLst>
          </p:cNvPr>
          <p:cNvSpPr>
            <a:spLocks noGrp="1"/>
          </p:cNvSpPr>
          <p:nvPr>
            <p:ph sz="quarter" idx="12"/>
          </p:nvPr>
        </p:nvSpPr>
        <p:spPr>
          <a:xfrm>
            <a:off x="428919" y="1648165"/>
            <a:ext cx="8211844" cy="775015"/>
          </a:xfrm>
        </p:spPr>
        <p:txBody>
          <a:bodyPr wrap="square" lIns="0" tIns="18000" rIns="0" bIns="18000" anchor="ctr" anchorCtr="0">
            <a:spAutoFit/>
          </a:bodyPr>
          <a:lstStyle/>
          <a:p>
            <a:pPr marL="0" indent="0">
              <a:spcBef>
                <a:spcPts val="600"/>
              </a:spcBef>
              <a:buNone/>
            </a:pPr>
            <a:r>
              <a:rPr lang="en-US" altLang="en-US" sz="2400" noProof="0" dirty="0"/>
              <a:t>The short circuit that replaced the inductor effectively eliminates which resistor from this circuit?</a:t>
            </a:r>
          </a:p>
        </p:txBody>
      </p:sp>
      <p:pic>
        <p:nvPicPr>
          <p:cNvPr id="45" name="Picture 1436" descr="Cross mark">
            <a:extLst>
              <a:ext uri="{FF2B5EF4-FFF2-40B4-BE49-F238E27FC236}">
                <a16:creationId xmlns:a16="http://schemas.microsoft.com/office/drawing/2014/main" id="{BD87E75C-DE63-CEB7-C195-66E29304B71E}"/>
              </a:ext>
            </a:extLst>
          </p:cNvPr>
          <p:cNvPicPr>
            <a:picLocks noChangeAspect="1"/>
          </p:cNvPicPr>
          <p:nvPr>
            <p:custDataLst>
              <p:tags r:id="rId1"/>
            </p:custDataLst>
          </p:nvPr>
        </p:nvPicPr>
        <p:blipFill>
          <a:blip r:embed="rId5">
            <a:extLst>
              <a:ext uri="{28A0092B-C50C-407E-A947-70E740481C1C}">
                <a14:useLocalDpi xmlns:a14="http://schemas.microsoft.com/office/drawing/2010/main" val="0"/>
              </a:ext>
            </a:extLst>
          </a:blip>
          <a:srcRect/>
          <a:stretch>
            <a:fillRect/>
          </a:stretch>
        </p:blipFill>
        <p:spPr bwMode="auto">
          <a:xfrm>
            <a:off x="863865" y="3219599"/>
            <a:ext cx="310424" cy="310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 name="Content Placeholder 28">
            <a:extLst>
              <a:ext uri="{FF2B5EF4-FFF2-40B4-BE49-F238E27FC236}">
                <a16:creationId xmlns:a16="http://schemas.microsoft.com/office/drawing/2014/main" id="{16A4F810-9C70-5F1D-958E-C26893407C58}"/>
              </a:ext>
            </a:extLst>
          </p:cNvPr>
          <p:cNvSpPr>
            <a:spLocks noGrp="1"/>
          </p:cNvSpPr>
          <p:nvPr>
            <p:ph sz="quarter" idx="15"/>
          </p:nvPr>
        </p:nvSpPr>
        <p:spPr>
          <a:xfrm>
            <a:off x="1408371" y="3141713"/>
            <a:ext cx="342900" cy="413837"/>
          </a:xfrm>
        </p:spPr>
        <p:txBody>
          <a:bodyPr wrap="square" lIns="0" tIns="18000" rIns="0" bIns="18000" anchor="ctr" anchorCtr="0">
            <a:spAutoFit/>
          </a:bodyPr>
          <a:lstStyle/>
          <a:p>
            <a:pPr marL="0" indent="0">
              <a:spcBef>
                <a:spcPts val="600"/>
              </a:spcBef>
              <a:buNone/>
              <a:defRPr/>
            </a:pPr>
            <a:r>
              <a:rPr lang="en-US" sz="2400" noProof="0" dirty="0">
                <a:solidFill>
                  <a:schemeClr val="tx2"/>
                </a:solidFill>
              </a:rPr>
              <a:t>A.</a:t>
            </a:r>
            <a:r>
              <a:rPr lang="en-US" sz="2400" noProof="0" dirty="0">
                <a:solidFill>
                  <a:schemeClr val="tx1"/>
                </a:solidFill>
              </a:rPr>
              <a:t> </a:t>
            </a:r>
          </a:p>
        </p:txBody>
      </p:sp>
      <p:graphicFrame>
        <p:nvGraphicFramePr>
          <p:cNvPr id="11" name="Object 10" descr="10 Ohms.">
            <a:extLst>
              <a:ext uri="{FF2B5EF4-FFF2-40B4-BE49-F238E27FC236}">
                <a16:creationId xmlns:a16="http://schemas.microsoft.com/office/drawing/2014/main" id="{B7F664D5-7508-2D61-C829-2C673401591C}"/>
              </a:ext>
            </a:extLst>
          </p:cNvPr>
          <p:cNvGraphicFramePr>
            <a:graphicFrameLocks noChangeAspect="1"/>
          </p:cNvGraphicFramePr>
          <p:nvPr/>
        </p:nvGraphicFramePr>
        <p:xfrm>
          <a:off x="1868483" y="3184904"/>
          <a:ext cx="693365" cy="400611"/>
        </p:xfrm>
        <a:graphic>
          <a:graphicData uri="http://schemas.openxmlformats.org/presentationml/2006/ole">
            <mc:AlternateContent xmlns:mc="http://schemas.openxmlformats.org/markup-compatibility/2006">
              <mc:Choice xmlns:v="urn:schemas-microsoft-com:vml" Requires="v">
                <p:oleObj name="Equation" r:id="rId6" imgW="368280" imgH="203040" progId="Equation.DSMT4">
                  <p:embed/>
                </p:oleObj>
              </mc:Choice>
              <mc:Fallback>
                <p:oleObj name="Equation" r:id="rId6" imgW="368280" imgH="203040" progId="Equation.DSMT4">
                  <p:embed/>
                  <p:pic>
                    <p:nvPicPr>
                      <p:cNvPr id="11" name="Object 10" descr="10 Ohms.">
                        <a:extLst>
                          <a:ext uri="{FF2B5EF4-FFF2-40B4-BE49-F238E27FC236}">
                            <a16:creationId xmlns:a16="http://schemas.microsoft.com/office/drawing/2014/main" id="{FC4A51C6-820A-4B04-8045-9ADF340952E4}"/>
                          </a:ext>
                        </a:extLst>
                      </p:cNvPr>
                      <p:cNvPicPr>
                        <a:picLocks noChangeAspect="1" noChangeArrowheads="1"/>
                      </p:cNvPicPr>
                      <p:nvPr/>
                    </p:nvPicPr>
                    <p:blipFill>
                      <a:blip r:embed="rId7"/>
                      <a:srcRect/>
                      <a:stretch>
                        <a:fillRect/>
                      </a:stretch>
                    </p:blipFill>
                    <p:spPr bwMode="auto">
                      <a:xfrm>
                        <a:off x="1868483" y="3184904"/>
                        <a:ext cx="693365" cy="40061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47" name="Picture 1436" descr="Cross mark">
            <a:extLst>
              <a:ext uri="{FF2B5EF4-FFF2-40B4-BE49-F238E27FC236}">
                <a16:creationId xmlns:a16="http://schemas.microsoft.com/office/drawing/2014/main" id="{75EDFBE7-F62C-C481-5B5A-168FB4EC6ED6}"/>
              </a:ext>
            </a:extLst>
          </p:cNvPr>
          <p:cNvPicPr>
            <a:picLocks noChangeAspect="1"/>
          </p:cNvPicPr>
          <p:nvPr>
            <p:custDataLst>
              <p:tags r:id="rId2"/>
            </p:custDataLst>
          </p:nvPr>
        </p:nvPicPr>
        <p:blipFill>
          <a:blip r:embed="rId5">
            <a:extLst>
              <a:ext uri="{28A0092B-C50C-407E-A947-70E740481C1C}">
                <a14:useLocalDpi xmlns:a14="http://schemas.microsoft.com/office/drawing/2010/main" val="0"/>
              </a:ext>
            </a:extLst>
          </a:blip>
          <a:srcRect/>
          <a:stretch>
            <a:fillRect/>
          </a:stretch>
        </p:blipFill>
        <p:spPr bwMode="auto">
          <a:xfrm>
            <a:off x="857543" y="3783209"/>
            <a:ext cx="307350" cy="30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 name="Content Placeholder 29">
            <a:extLst>
              <a:ext uri="{FF2B5EF4-FFF2-40B4-BE49-F238E27FC236}">
                <a16:creationId xmlns:a16="http://schemas.microsoft.com/office/drawing/2014/main" id="{BF4D7910-3079-D94C-47D2-98D46F64898A}"/>
              </a:ext>
            </a:extLst>
          </p:cNvPr>
          <p:cNvSpPr>
            <a:spLocks noGrp="1"/>
          </p:cNvSpPr>
          <p:nvPr>
            <p:ph sz="quarter" idx="16"/>
          </p:nvPr>
        </p:nvSpPr>
        <p:spPr>
          <a:xfrm>
            <a:off x="1408371" y="3676582"/>
            <a:ext cx="342900" cy="413837"/>
          </a:xfrm>
        </p:spPr>
        <p:txBody>
          <a:bodyPr wrap="square" lIns="0" tIns="18000" rIns="0" bIns="18000" anchor="ctr" anchorCtr="0">
            <a:spAutoFit/>
          </a:bodyPr>
          <a:lstStyle/>
          <a:p>
            <a:pPr marL="0" indent="0">
              <a:spcBef>
                <a:spcPts val="600"/>
              </a:spcBef>
              <a:buNone/>
            </a:pPr>
            <a:r>
              <a:rPr lang="en-US" sz="2400" noProof="0" dirty="0">
                <a:solidFill>
                  <a:schemeClr val="tx2"/>
                </a:solidFill>
              </a:rPr>
              <a:t>B.</a:t>
            </a:r>
            <a:r>
              <a:rPr lang="en-US" sz="2400" noProof="0" dirty="0">
                <a:solidFill>
                  <a:schemeClr val="tx1"/>
                </a:solidFill>
              </a:rPr>
              <a:t> </a:t>
            </a:r>
          </a:p>
        </p:txBody>
      </p:sp>
      <p:graphicFrame>
        <p:nvGraphicFramePr>
          <p:cNvPr id="12" name="Object 11" descr="6 Ohms.">
            <a:extLst>
              <a:ext uri="{FF2B5EF4-FFF2-40B4-BE49-F238E27FC236}">
                <a16:creationId xmlns:a16="http://schemas.microsoft.com/office/drawing/2014/main" id="{64F3701A-098A-405F-6B80-16E19518D654}"/>
              </a:ext>
            </a:extLst>
          </p:cNvPr>
          <p:cNvGraphicFramePr>
            <a:graphicFrameLocks noChangeAspect="1"/>
          </p:cNvGraphicFramePr>
          <p:nvPr/>
        </p:nvGraphicFramePr>
        <p:xfrm>
          <a:off x="1860622" y="3726844"/>
          <a:ext cx="550069" cy="400611"/>
        </p:xfrm>
        <a:graphic>
          <a:graphicData uri="http://schemas.openxmlformats.org/presentationml/2006/ole">
            <mc:AlternateContent xmlns:mc="http://schemas.openxmlformats.org/markup-compatibility/2006">
              <mc:Choice xmlns:v="urn:schemas-microsoft-com:vml" Requires="v">
                <p:oleObj name="Equation" r:id="rId8" imgW="291960" imgH="203040" progId="Equation.DSMT4">
                  <p:embed/>
                </p:oleObj>
              </mc:Choice>
              <mc:Fallback>
                <p:oleObj name="Equation" r:id="rId8" imgW="291960" imgH="203040" progId="Equation.DSMT4">
                  <p:embed/>
                  <p:pic>
                    <p:nvPicPr>
                      <p:cNvPr id="12" name="Object 11" descr="6 Ohms.">
                        <a:extLst>
                          <a:ext uri="{FF2B5EF4-FFF2-40B4-BE49-F238E27FC236}">
                            <a16:creationId xmlns:a16="http://schemas.microsoft.com/office/drawing/2014/main" id="{A50E8834-2DF9-4DE2-AA88-2459FAB84FDF}"/>
                          </a:ext>
                        </a:extLst>
                      </p:cNvPr>
                      <p:cNvPicPr>
                        <a:picLocks noChangeAspect="1" noChangeArrowheads="1"/>
                      </p:cNvPicPr>
                      <p:nvPr/>
                    </p:nvPicPr>
                    <p:blipFill>
                      <a:blip r:embed="rId9"/>
                      <a:srcRect/>
                      <a:stretch>
                        <a:fillRect/>
                      </a:stretch>
                    </p:blipFill>
                    <p:spPr bwMode="auto">
                      <a:xfrm>
                        <a:off x="1860622" y="3726844"/>
                        <a:ext cx="550069" cy="40061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48" name="Picture 1435" descr="Check mark">
            <a:extLst>
              <a:ext uri="{FF2B5EF4-FFF2-40B4-BE49-F238E27FC236}">
                <a16:creationId xmlns:a16="http://schemas.microsoft.com/office/drawing/2014/main" id="{AB99D249-62C7-C5F8-8830-D923F9A73050}"/>
              </a:ext>
            </a:extLst>
          </p:cNvPr>
          <p:cNvPicPr>
            <a:picLocks noChangeAspect="1"/>
          </p:cNvPicPr>
          <p:nvPr>
            <p:custDataLst>
              <p:tags r:id="rId3"/>
            </p:custDataLst>
          </p:nvPr>
        </p:nvPicPr>
        <p:blipFill>
          <a:blip r:embed="rId10">
            <a:extLst>
              <a:ext uri="{28A0092B-C50C-407E-A947-70E740481C1C}">
                <a14:useLocalDpi xmlns:a14="http://schemas.microsoft.com/office/drawing/2010/main" val="0"/>
              </a:ext>
            </a:extLst>
          </a:blip>
          <a:srcRect/>
          <a:stretch>
            <a:fillRect/>
          </a:stretch>
        </p:blipFill>
        <p:spPr bwMode="auto">
          <a:xfrm>
            <a:off x="844181" y="4313687"/>
            <a:ext cx="349792" cy="3497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 name="Content Placeholder 30">
            <a:extLst>
              <a:ext uri="{FF2B5EF4-FFF2-40B4-BE49-F238E27FC236}">
                <a16:creationId xmlns:a16="http://schemas.microsoft.com/office/drawing/2014/main" id="{55872AD0-FC92-2040-0D00-3B07ACD54A42}"/>
              </a:ext>
            </a:extLst>
          </p:cNvPr>
          <p:cNvSpPr>
            <a:spLocks noGrp="1"/>
          </p:cNvSpPr>
          <p:nvPr>
            <p:ph sz="quarter" idx="17"/>
          </p:nvPr>
        </p:nvSpPr>
        <p:spPr>
          <a:xfrm>
            <a:off x="1408371" y="4212843"/>
            <a:ext cx="342900" cy="413837"/>
          </a:xfrm>
        </p:spPr>
        <p:txBody>
          <a:bodyPr wrap="square" lIns="0" tIns="18000" rIns="0" bIns="18000" anchor="ctr" anchorCtr="0">
            <a:spAutoFit/>
          </a:bodyPr>
          <a:lstStyle/>
          <a:p>
            <a:pPr marL="0" indent="0">
              <a:spcBef>
                <a:spcPts val="600"/>
              </a:spcBef>
              <a:buNone/>
            </a:pPr>
            <a:r>
              <a:rPr lang="en-US" sz="2400" noProof="0" dirty="0">
                <a:solidFill>
                  <a:schemeClr val="tx2"/>
                </a:solidFill>
              </a:rPr>
              <a:t>C.</a:t>
            </a:r>
            <a:r>
              <a:rPr lang="en-US" sz="2400" noProof="0" dirty="0">
                <a:solidFill>
                  <a:schemeClr val="tx1"/>
                </a:solidFill>
              </a:rPr>
              <a:t> </a:t>
            </a:r>
          </a:p>
        </p:txBody>
      </p:sp>
      <p:graphicFrame>
        <p:nvGraphicFramePr>
          <p:cNvPr id="13" name="Object 12" descr="4 Ohms.">
            <a:extLst>
              <a:ext uri="{FF2B5EF4-FFF2-40B4-BE49-F238E27FC236}">
                <a16:creationId xmlns:a16="http://schemas.microsoft.com/office/drawing/2014/main" id="{058B8EFE-58F9-534E-E48E-0488394CFD38}"/>
              </a:ext>
            </a:extLst>
          </p:cNvPr>
          <p:cNvGraphicFramePr>
            <a:graphicFrameLocks noChangeAspect="1"/>
          </p:cNvGraphicFramePr>
          <p:nvPr/>
        </p:nvGraphicFramePr>
        <p:xfrm>
          <a:off x="1865875" y="4247108"/>
          <a:ext cx="550069" cy="400611"/>
        </p:xfrm>
        <a:graphic>
          <a:graphicData uri="http://schemas.openxmlformats.org/presentationml/2006/ole">
            <mc:AlternateContent xmlns:mc="http://schemas.openxmlformats.org/markup-compatibility/2006">
              <mc:Choice xmlns:v="urn:schemas-microsoft-com:vml" Requires="v">
                <p:oleObj name="Equation" r:id="rId11" imgW="291960" imgH="203040" progId="Equation.DSMT4">
                  <p:embed/>
                </p:oleObj>
              </mc:Choice>
              <mc:Fallback>
                <p:oleObj name="Equation" r:id="rId11" imgW="291960" imgH="203040" progId="Equation.DSMT4">
                  <p:embed/>
                  <p:pic>
                    <p:nvPicPr>
                      <p:cNvPr id="13" name="Object 12" descr="4 Ohms.">
                        <a:extLst>
                          <a:ext uri="{FF2B5EF4-FFF2-40B4-BE49-F238E27FC236}">
                            <a16:creationId xmlns:a16="http://schemas.microsoft.com/office/drawing/2014/main" id="{A33F8C47-E617-4541-922F-40F6E36A49EC}"/>
                          </a:ext>
                        </a:extLst>
                      </p:cNvPr>
                      <p:cNvPicPr>
                        <a:picLocks noChangeAspect="1" noChangeArrowheads="1"/>
                      </p:cNvPicPr>
                      <p:nvPr/>
                    </p:nvPicPr>
                    <p:blipFill>
                      <a:blip r:embed="rId12"/>
                      <a:srcRect/>
                      <a:stretch>
                        <a:fillRect/>
                      </a:stretch>
                    </p:blipFill>
                    <p:spPr bwMode="auto">
                      <a:xfrm>
                        <a:off x="1865875" y="4247108"/>
                        <a:ext cx="550069" cy="40061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3" name="Picture 2" descr="A circuit diagram shows the conditions in a circuit before time t is measured, that is when t is less than zero. A current source with 6.4 ampere capacity. A switch connects the current source of 6.4 ampere capacity with the top wire of the circuit via node a when time t is less than zero. The same switch connects the current source with 6.4 ampere capacity to the bottom wire in the circuit via node b. From left to right, a resistance of 10 ohms, an inductor of 0.32 Henry, and a resistance of 4 ohms are connected in parallel to the 6.4 ampere current source, that is between the top and bottom wires in the circuit. A 6 ohm resistance is connected in the top wire between the top nodes of the 10 ohm resistance and the 0.32 Henry inductor. Initial current I subscript 0 flows through the inductor of 0.32 Henry from the top node to the bottom. Voltage v subscript 0 develops across the 10 ohm resistance with positive polarity at the top node and negative at the bottom. ">
            <a:extLst>
              <a:ext uri="{FF2B5EF4-FFF2-40B4-BE49-F238E27FC236}">
                <a16:creationId xmlns:a16="http://schemas.microsoft.com/office/drawing/2014/main" id="{BF10151A-6D65-199A-551C-880104D287B3}"/>
              </a:ext>
            </a:extLst>
          </p:cNvPr>
          <p:cNvPicPr>
            <a:picLocks noChangeAspect="1"/>
          </p:cNvPicPr>
          <p:nvPr/>
        </p:nvPicPr>
        <p:blipFill>
          <a:blip r:embed="rId13"/>
          <a:stretch>
            <a:fillRect/>
          </a:stretch>
        </p:blipFill>
        <p:spPr>
          <a:xfrm>
            <a:off x="4344310" y="3200895"/>
            <a:ext cx="4175115" cy="1165372"/>
          </a:xfrm>
          <a:prstGeom prst="rect">
            <a:avLst/>
          </a:prstGeom>
        </p:spPr>
      </p:pic>
    </p:spTree>
    <p:extLst>
      <p:ext uri="{BB962C8B-B14F-4D97-AF65-F5344CB8AC3E}">
        <p14:creationId xmlns:p14="http://schemas.microsoft.com/office/powerpoint/2010/main" val="24782869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5670" y="208829"/>
            <a:ext cx="8215093" cy="1144347"/>
          </a:xfrm>
        </p:spPr>
        <p:txBody>
          <a:bodyPr wrap="square" lIns="0" tIns="18000" rIns="0" bIns="18000" anchor="ctr" anchorCtr="0">
            <a:spAutoFit/>
          </a:bodyPr>
          <a:lstStyle/>
          <a:p>
            <a:r>
              <a:rPr lang="en-US" noProof="0" dirty="0"/>
              <a:t>Chapter 7 – </a:t>
            </a:r>
            <a:r>
              <a:rPr lang="en-US" i="1" spc="-450" noProof="0" dirty="0"/>
              <a:t>R </a:t>
            </a:r>
            <a:r>
              <a:rPr lang="en-US" i="1" noProof="0" dirty="0"/>
              <a:t>L/</a:t>
            </a:r>
            <a:r>
              <a:rPr lang="en-US" i="1" spc="-450" noProof="0" dirty="0"/>
              <a:t>R </a:t>
            </a:r>
            <a:r>
              <a:rPr lang="en-US" i="1" noProof="0" dirty="0"/>
              <a:t>C</a:t>
            </a:r>
            <a:r>
              <a:rPr lang="en-US" noProof="0" dirty="0"/>
              <a:t> Natural Response Examples </a:t>
            </a:r>
            <a:r>
              <a:rPr lang="en-US" sz="2800" noProof="0" dirty="0"/>
              <a:t>(3 of 14)</a:t>
            </a:r>
          </a:p>
        </p:txBody>
      </p:sp>
      <p:sp>
        <p:nvSpPr>
          <p:cNvPr id="13" name="Content Placeholder 12">
            <a:extLst>
              <a:ext uri="{FF2B5EF4-FFF2-40B4-BE49-F238E27FC236}">
                <a16:creationId xmlns:a16="http://schemas.microsoft.com/office/drawing/2014/main" id="{4C92A357-D27F-4108-A52D-1A2BA7B914F6}"/>
              </a:ext>
            </a:extLst>
          </p:cNvPr>
          <p:cNvSpPr>
            <a:spLocks noGrp="1"/>
          </p:cNvSpPr>
          <p:nvPr>
            <p:ph sz="quarter" idx="12"/>
          </p:nvPr>
        </p:nvSpPr>
        <p:spPr>
          <a:xfrm>
            <a:off x="435316" y="1589143"/>
            <a:ext cx="8205447" cy="405683"/>
          </a:xfrm>
        </p:spPr>
        <p:txBody>
          <a:bodyPr wrap="square" lIns="0" tIns="18000" rIns="0" bIns="18000" anchor="ctr" anchorCtr="0">
            <a:spAutoFit/>
          </a:bodyPr>
          <a:lstStyle/>
          <a:p>
            <a:pPr marL="0" indent="0">
              <a:spcBef>
                <a:spcPts val="600"/>
              </a:spcBef>
              <a:buNone/>
            </a:pPr>
            <a:r>
              <a:rPr lang="en-US" altLang="en-US" sz="2400" noProof="0" dirty="0"/>
              <a:t>What circuit analysis tool provides the most direct method to</a:t>
            </a:r>
            <a:endParaRPr lang="en-US" sz="2400" noProof="0" dirty="0"/>
          </a:p>
        </p:txBody>
      </p:sp>
      <p:sp>
        <p:nvSpPr>
          <p:cNvPr id="14" name="Content Placeholder 13">
            <a:extLst>
              <a:ext uri="{FF2B5EF4-FFF2-40B4-BE49-F238E27FC236}">
                <a16:creationId xmlns:a16="http://schemas.microsoft.com/office/drawing/2014/main" id="{A37B4B70-CAFB-4D60-A146-8D278408E3D1}"/>
              </a:ext>
            </a:extLst>
          </p:cNvPr>
          <p:cNvSpPr>
            <a:spLocks noGrp="1"/>
          </p:cNvSpPr>
          <p:nvPr>
            <p:ph sz="quarter" idx="13"/>
          </p:nvPr>
        </p:nvSpPr>
        <p:spPr>
          <a:xfrm>
            <a:off x="435318" y="2074590"/>
            <a:ext cx="1288379" cy="405683"/>
          </a:xfrm>
        </p:spPr>
        <p:txBody>
          <a:bodyPr wrap="square" lIns="0" tIns="18000" rIns="0" bIns="18000" anchor="ctr" anchorCtr="0">
            <a:spAutoFit/>
          </a:bodyPr>
          <a:lstStyle/>
          <a:p>
            <a:pPr marL="0" indent="0">
              <a:spcBef>
                <a:spcPts val="600"/>
              </a:spcBef>
              <a:buNone/>
            </a:pPr>
            <a:r>
              <a:rPr lang="en-US" sz="2400" noProof="0" dirty="0"/>
              <a:t>calculate</a:t>
            </a:r>
          </a:p>
        </p:txBody>
      </p:sp>
      <p:graphicFrame>
        <p:nvGraphicFramePr>
          <p:cNvPr id="38" name="Object 37" descr="I subscript o">
            <a:extLst>
              <a:ext uri="{FF2B5EF4-FFF2-40B4-BE49-F238E27FC236}">
                <a16:creationId xmlns:a16="http://schemas.microsoft.com/office/drawing/2014/main" id="{C82EDA47-4860-4259-9CEA-B0D2E82AC5FC}"/>
              </a:ext>
            </a:extLst>
          </p:cNvPr>
          <p:cNvGraphicFramePr>
            <a:graphicFrameLocks noChangeAspect="1"/>
          </p:cNvGraphicFramePr>
          <p:nvPr>
            <p:extLst>
              <p:ext uri="{D42A27DB-BD31-4B8C-83A1-F6EECF244321}">
                <p14:modId xmlns:p14="http://schemas.microsoft.com/office/powerpoint/2010/main" val="3335872712"/>
              </p:ext>
            </p:extLst>
          </p:nvPr>
        </p:nvGraphicFramePr>
        <p:xfrm>
          <a:off x="1735804" y="2070923"/>
          <a:ext cx="271463" cy="463550"/>
        </p:xfrm>
        <a:graphic>
          <a:graphicData uri="http://schemas.openxmlformats.org/presentationml/2006/ole">
            <mc:AlternateContent xmlns:mc="http://schemas.openxmlformats.org/markup-compatibility/2006">
              <mc:Choice xmlns:v="urn:schemas-microsoft-com:vml" Requires="v">
                <p:oleObj name="Equation" r:id="rId2" imgW="139680" imgH="228600" progId="Equation.DSMT4">
                  <p:embed/>
                </p:oleObj>
              </mc:Choice>
              <mc:Fallback>
                <p:oleObj name="Equation" r:id="rId2" imgW="139680" imgH="228600" progId="Equation.DSMT4">
                  <p:embed/>
                  <p:pic>
                    <p:nvPicPr>
                      <p:cNvPr id="11" name="Object 10" descr="S subscript 0 colon">
                        <a:extLst>
                          <a:ext uri="{FF2B5EF4-FFF2-40B4-BE49-F238E27FC236}">
                            <a16:creationId xmlns:a16="http://schemas.microsoft.com/office/drawing/2014/main" id="{FC4A51C6-820A-4B04-8045-9ADF340952E4}"/>
                          </a:ext>
                        </a:extLst>
                      </p:cNvPr>
                      <p:cNvPicPr>
                        <a:picLocks noChangeAspect="1" noChangeArrowheads="1"/>
                      </p:cNvPicPr>
                      <p:nvPr/>
                    </p:nvPicPr>
                    <p:blipFill>
                      <a:blip r:embed="rId3"/>
                      <a:srcRect/>
                      <a:stretch>
                        <a:fillRect/>
                      </a:stretch>
                    </p:blipFill>
                    <p:spPr bwMode="auto">
                      <a:xfrm>
                        <a:off x="1735804" y="2070923"/>
                        <a:ext cx="271463" cy="463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 name="Content Placeholder 15">
            <a:extLst>
              <a:ext uri="{FF2B5EF4-FFF2-40B4-BE49-F238E27FC236}">
                <a16:creationId xmlns:a16="http://schemas.microsoft.com/office/drawing/2014/main" id="{69E30F19-B3AE-41C2-A71B-FA9E70544246}"/>
              </a:ext>
            </a:extLst>
          </p:cNvPr>
          <p:cNvSpPr>
            <a:spLocks noGrp="1"/>
          </p:cNvSpPr>
          <p:nvPr>
            <p:ph sz="quarter" idx="15"/>
          </p:nvPr>
        </p:nvSpPr>
        <p:spPr>
          <a:xfrm>
            <a:off x="1990847" y="2068029"/>
            <a:ext cx="216322" cy="405683"/>
          </a:xfrm>
        </p:spPr>
        <p:txBody>
          <a:bodyPr wrap="square" lIns="0" tIns="18000" rIns="0" bIns="18000" anchor="ctr" anchorCtr="0">
            <a:spAutoFit/>
          </a:bodyPr>
          <a:lstStyle/>
          <a:p>
            <a:pPr marL="0" indent="0">
              <a:spcBef>
                <a:spcPts val="600"/>
              </a:spcBef>
              <a:buNone/>
            </a:pPr>
            <a:r>
              <a:rPr lang="en-US" sz="2400" noProof="0" dirty="0"/>
              <a:t>?</a:t>
            </a:r>
          </a:p>
        </p:txBody>
      </p:sp>
      <p:pic>
        <p:nvPicPr>
          <p:cNvPr id="41" name="Picture 40" descr="A circuit diagram shows the conditions in a circuit before time t is measured, that is when t is less than zero. A current source with 6.4 ampere capacity. A switch connects the current source of 6.4 ampere capacity with the top wire of the circuit via node a when time t is less than zero. From left to right, a resistance of 10 ohms, an inductor of 0.32 Henry, and a resistance of 4 ohms are connected in parallel to the 6.4 ampere current source, that is between the top and bottom wires in the circuit. A 6 ohm resistance is connected in the top wire between the top nodes of the 10 ohm resistance and the 0.32 Henry inductor. Initial current I subscript 0 flows through the inductor of 0.32 Henry from the top node to the bottom. Voltage v subscript 0 develops across the 10 ohm resistance with positive polarity at the top node and negative at the bottom.">
            <a:extLst>
              <a:ext uri="{FF2B5EF4-FFF2-40B4-BE49-F238E27FC236}">
                <a16:creationId xmlns:a16="http://schemas.microsoft.com/office/drawing/2014/main" id="{F1A9DB2F-D656-41BE-8EDC-2B70B6DDDC29}"/>
              </a:ext>
            </a:extLst>
          </p:cNvPr>
          <p:cNvPicPr>
            <a:picLocks noChangeAspect="1"/>
          </p:cNvPicPr>
          <p:nvPr/>
        </p:nvPicPr>
        <p:blipFill>
          <a:blip r:embed="rId4"/>
          <a:stretch>
            <a:fillRect/>
          </a:stretch>
        </p:blipFill>
        <p:spPr>
          <a:xfrm>
            <a:off x="2397184" y="2870892"/>
            <a:ext cx="4369727" cy="1219692"/>
          </a:xfrm>
          <a:prstGeom prst="rect">
            <a:avLst/>
          </a:prstGeom>
        </p:spPr>
      </p:pic>
      <p:sp>
        <p:nvSpPr>
          <p:cNvPr id="17" name="Content Placeholder 16">
            <a:extLst>
              <a:ext uri="{FF2B5EF4-FFF2-40B4-BE49-F238E27FC236}">
                <a16:creationId xmlns:a16="http://schemas.microsoft.com/office/drawing/2014/main" id="{BA499EA3-7B78-49F2-B971-0F88FA9FCB98}"/>
              </a:ext>
            </a:extLst>
          </p:cNvPr>
          <p:cNvSpPr>
            <a:spLocks noGrp="1"/>
          </p:cNvSpPr>
          <p:nvPr>
            <p:ph sz="quarter" idx="16"/>
          </p:nvPr>
        </p:nvSpPr>
        <p:spPr>
          <a:xfrm>
            <a:off x="1391751" y="4457803"/>
            <a:ext cx="3972479"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A.</a:t>
            </a:r>
            <a:r>
              <a:rPr lang="en-US" sz="2400" noProof="0" dirty="0"/>
              <a:t> </a:t>
            </a:r>
            <a:r>
              <a:rPr lang="en-US" sz="2400" noProof="0" dirty="0">
                <a:sym typeface="Symbol"/>
              </a:rPr>
              <a:t>Node voltage method</a:t>
            </a:r>
          </a:p>
        </p:txBody>
      </p:sp>
      <p:sp>
        <p:nvSpPr>
          <p:cNvPr id="18" name="Content Placeholder 17">
            <a:extLst>
              <a:ext uri="{FF2B5EF4-FFF2-40B4-BE49-F238E27FC236}">
                <a16:creationId xmlns:a16="http://schemas.microsoft.com/office/drawing/2014/main" id="{EFB8F28C-9A65-468E-8CD6-3A1DAA85BD9C}"/>
              </a:ext>
            </a:extLst>
          </p:cNvPr>
          <p:cNvSpPr>
            <a:spLocks noGrp="1"/>
          </p:cNvSpPr>
          <p:nvPr>
            <p:ph sz="quarter" idx="17"/>
          </p:nvPr>
        </p:nvSpPr>
        <p:spPr>
          <a:xfrm>
            <a:off x="1391752" y="5001325"/>
            <a:ext cx="3972478"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B. </a:t>
            </a:r>
            <a:r>
              <a:rPr lang="en-US" sz="2400" noProof="0" dirty="0"/>
              <a:t>Current division</a:t>
            </a:r>
            <a:endParaRPr lang="en-US" sz="2400" noProof="0" dirty="0">
              <a:solidFill>
                <a:srgbClr val="007FA3"/>
              </a:solidFill>
            </a:endParaRPr>
          </a:p>
        </p:txBody>
      </p:sp>
      <p:sp>
        <p:nvSpPr>
          <p:cNvPr id="19" name="Content Placeholder 18">
            <a:extLst>
              <a:ext uri="{FF2B5EF4-FFF2-40B4-BE49-F238E27FC236}">
                <a16:creationId xmlns:a16="http://schemas.microsoft.com/office/drawing/2014/main" id="{3E31474E-6166-4CD1-BA8B-A4DD3486BE2E}"/>
              </a:ext>
            </a:extLst>
          </p:cNvPr>
          <p:cNvSpPr>
            <a:spLocks noGrp="1"/>
          </p:cNvSpPr>
          <p:nvPr>
            <p:ph sz="quarter" idx="18"/>
          </p:nvPr>
        </p:nvSpPr>
        <p:spPr>
          <a:xfrm>
            <a:off x="1391752" y="5549012"/>
            <a:ext cx="3972478"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C.</a:t>
            </a:r>
            <a:r>
              <a:rPr lang="en-US" sz="2400" noProof="0" dirty="0"/>
              <a:t> Source transformation</a:t>
            </a:r>
            <a:endParaRPr lang="en-US" sz="2400" noProof="0" dirty="0">
              <a:solidFill>
                <a:srgbClr val="007FA3"/>
              </a:solidFill>
            </a:endParaRPr>
          </a:p>
        </p:txBody>
      </p:sp>
    </p:spTree>
    <p:extLst>
      <p:ext uri="{BB962C8B-B14F-4D97-AF65-F5344CB8AC3E}">
        <p14:creationId xmlns:p14="http://schemas.microsoft.com/office/powerpoint/2010/main" val="925774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CED134-484B-FC3C-79FB-737789E907A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D7CFD24-955F-EF64-7132-898A50235216}"/>
              </a:ext>
            </a:extLst>
          </p:cNvPr>
          <p:cNvSpPr>
            <a:spLocks noGrp="1"/>
          </p:cNvSpPr>
          <p:nvPr>
            <p:ph type="title"/>
          </p:nvPr>
        </p:nvSpPr>
        <p:spPr>
          <a:xfrm>
            <a:off x="425670" y="208829"/>
            <a:ext cx="8215093" cy="1144347"/>
          </a:xfrm>
        </p:spPr>
        <p:txBody>
          <a:bodyPr wrap="square" lIns="0" tIns="18000" rIns="0" bIns="18000" anchor="ctr" anchorCtr="0">
            <a:spAutoFit/>
          </a:bodyPr>
          <a:lstStyle/>
          <a:p>
            <a:r>
              <a:rPr lang="en-US" noProof="0" dirty="0"/>
              <a:t>Chapter 7 – </a:t>
            </a:r>
            <a:r>
              <a:rPr lang="en-US" i="1" spc="-450" noProof="0" dirty="0"/>
              <a:t>R </a:t>
            </a:r>
            <a:r>
              <a:rPr lang="en-US" i="1" noProof="0" dirty="0"/>
              <a:t>L/</a:t>
            </a:r>
            <a:r>
              <a:rPr lang="en-US" i="1" spc="-450" noProof="0" dirty="0"/>
              <a:t>R </a:t>
            </a:r>
            <a:r>
              <a:rPr lang="en-US" i="1" noProof="0" dirty="0"/>
              <a:t>C</a:t>
            </a:r>
            <a:r>
              <a:rPr lang="en-US" noProof="0" dirty="0"/>
              <a:t> Natural Response Examples </a:t>
            </a:r>
            <a:r>
              <a:rPr lang="en-US" sz="2800" noProof="0" dirty="0"/>
              <a:t>(3 of 14)</a:t>
            </a:r>
          </a:p>
        </p:txBody>
      </p:sp>
      <p:sp>
        <p:nvSpPr>
          <p:cNvPr id="13" name="Content Placeholder 12">
            <a:extLst>
              <a:ext uri="{FF2B5EF4-FFF2-40B4-BE49-F238E27FC236}">
                <a16:creationId xmlns:a16="http://schemas.microsoft.com/office/drawing/2014/main" id="{5D9ED44F-7A62-30C7-44CD-AB85B8A80891}"/>
              </a:ext>
            </a:extLst>
          </p:cNvPr>
          <p:cNvSpPr>
            <a:spLocks noGrp="1"/>
          </p:cNvSpPr>
          <p:nvPr>
            <p:ph sz="quarter" idx="12"/>
          </p:nvPr>
        </p:nvSpPr>
        <p:spPr>
          <a:xfrm>
            <a:off x="435316" y="1589143"/>
            <a:ext cx="8205447" cy="405683"/>
          </a:xfrm>
        </p:spPr>
        <p:txBody>
          <a:bodyPr wrap="square" lIns="0" tIns="18000" rIns="0" bIns="18000" anchor="ctr" anchorCtr="0">
            <a:spAutoFit/>
          </a:bodyPr>
          <a:lstStyle/>
          <a:p>
            <a:pPr marL="0" indent="0">
              <a:spcBef>
                <a:spcPts val="600"/>
              </a:spcBef>
              <a:buNone/>
            </a:pPr>
            <a:r>
              <a:rPr lang="en-US" altLang="en-US" sz="2400" noProof="0" dirty="0"/>
              <a:t>What circuit analysis tool provides the most direct method to</a:t>
            </a:r>
            <a:endParaRPr lang="en-US" sz="2400" noProof="0" dirty="0"/>
          </a:p>
        </p:txBody>
      </p:sp>
      <p:sp>
        <p:nvSpPr>
          <p:cNvPr id="14" name="Content Placeholder 13">
            <a:extLst>
              <a:ext uri="{FF2B5EF4-FFF2-40B4-BE49-F238E27FC236}">
                <a16:creationId xmlns:a16="http://schemas.microsoft.com/office/drawing/2014/main" id="{4EAD2154-D0EC-C3FE-F9B1-B83143364382}"/>
              </a:ext>
            </a:extLst>
          </p:cNvPr>
          <p:cNvSpPr>
            <a:spLocks noGrp="1"/>
          </p:cNvSpPr>
          <p:nvPr>
            <p:ph sz="quarter" idx="13"/>
          </p:nvPr>
        </p:nvSpPr>
        <p:spPr>
          <a:xfrm>
            <a:off x="435318" y="2074590"/>
            <a:ext cx="1288379" cy="405683"/>
          </a:xfrm>
        </p:spPr>
        <p:txBody>
          <a:bodyPr wrap="square" lIns="0" tIns="18000" rIns="0" bIns="18000" anchor="ctr" anchorCtr="0">
            <a:spAutoFit/>
          </a:bodyPr>
          <a:lstStyle/>
          <a:p>
            <a:pPr marL="0" indent="0">
              <a:spcBef>
                <a:spcPts val="600"/>
              </a:spcBef>
              <a:buNone/>
            </a:pPr>
            <a:r>
              <a:rPr lang="en-US" sz="2400" noProof="0" dirty="0"/>
              <a:t>calculate</a:t>
            </a:r>
          </a:p>
        </p:txBody>
      </p:sp>
      <p:graphicFrame>
        <p:nvGraphicFramePr>
          <p:cNvPr id="38" name="Object 37" descr="I subscript o">
            <a:extLst>
              <a:ext uri="{FF2B5EF4-FFF2-40B4-BE49-F238E27FC236}">
                <a16:creationId xmlns:a16="http://schemas.microsoft.com/office/drawing/2014/main" id="{545B966C-1222-BC81-23A1-594E1071D3C3}"/>
              </a:ext>
            </a:extLst>
          </p:cNvPr>
          <p:cNvGraphicFramePr>
            <a:graphicFrameLocks noChangeAspect="1"/>
          </p:cNvGraphicFramePr>
          <p:nvPr/>
        </p:nvGraphicFramePr>
        <p:xfrm>
          <a:off x="1735804" y="2070923"/>
          <a:ext cx="271463" cy="463550"/>
        </p:xfrm>
        <a:graphic>
          <a:graphicData uri="http://schemas.openxmlformats.org/presentationml/2006/ole">
            <mc:AlternateContent xmlns:mc="http://schemas.openxmlformats.org/markup-compatibility/2006">
              <mc:Choice xmlns:v="urn:schemas-microsoft-com:vml" Requires="v">
                <p:oleObj name="Equation" r:id="rId5" imgW="139680" imgH="228600" progId="Equation.DSMT4">
                  <p:embed/>
                </p:oleObj>
              </mc:Choice>
              <mc:Fallback>
                <p:oleObj name="Equation" r:id="rId5" imgW="139680" imgH="228600" progId="Equation.DSMT4">
                  <p:embed/>
                  <p:pic>
                    <p:nvPicPr>
                      <p:cNvPr id="38" name="Object 37" descr="I subscript o">
                        <a:extLst>
                          <a:ext uri="{FF2B5EF4-FFF2-40B4-BE49-F238E27FC236}">
                            <a16:creationId xmlns:a16="http://schemas.microsoft.com/office/drawing/2014/main" id="{C82EDA47-4860-4259-9CEA-B0D2E82AC5FC}"/>
                          </a:ext>
                        </a:extLst>
                      </p:cNvPr>
                      <p:cNvPicPr>
                        <a:picLocks noChangeAspect="1" noChangeArrowheads="1"/>
                      </p:cNvPicPr>
                      <p:nvPr/>
                    </p:nvPicPr>
                    <p:blipFill>
                      <a:blip r:embed="rId6"/>
                      <a:srcRect/>
                      <a:stretch>
                        <a:fillRect/>
                      </a:stretch>
                    </p:blipFill>
                    <p:spPr bwMode="auto">
                      <a:xfrm>
                        <a:off x="1735804" y="2070923"/>
                        <a:ext cx="271463" cy="463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 name="Content Placeholder 15">
            <a:extLst>
              <a:ext uri="{FF2B5EF4-FFF2-40B4-BE49-F238E27FC236}">
                <a16:creationId xmlns:a16="http://schemas.microsoft.com/office/drawing/2014/main" id="{69A7547D-E620-72C0-49FA-4A933CEA9280}"/>
              </a:ext>
            </a:extLst>
          </p:cNvPr>
          <p:cNvSpPr>
            <a:spLocks noGrp="1"/>
          </p:cNvSpPr>
          <p:nvPr>
            <p:ph sz="quarter" idx="15"/>
          </p:nvPr>
        </p:nvSpPr>
        <p:spPr>
          <a:xfrm>
            <a:off x="1990847" y="2068029"/>
            <a:ext cx="216322" cy="405683"/>
          </a:xfrm>
        </p:spPr>
        <p:txBody>
          <a:bodyPr wrap="square" lIns="0" tIns="18000" rIns="0" bIns="18000" anchor="ctr" anchorCtr="0">
            <a:spAutoFit/>
          </a:bodyPr>
          <a:lstStyle/>
          <a:p>
            <a:pPr marL="0" indent="0">
              <a:spcBef>
                <a:spcPts val="600"/>
              </a:spcBef>
              <a:buNone/>
            </a:pPr>
            <a:r>
              <a:rPr lang="en-US" sz="2400" noProof="0" dirty="0"/>
              <a:t>?</a:t>
            </a:r>
          </a:p>
        </p:txBody>
      </p:sp>
      <p:pic>
        <p:nvPicPr>
          <p:cNvPr id="41" name="Picture 40" descr="A circuit diagram shows the conditions in a circuit before time t is measured, that is when t is less than zero. A current source with 6.4 ampere capacity. A switch connects the current source of 6.4 ampere capacity with the top wire of the circuit via node a when time t is less than zero. From left to right, a resistance of 10 ohms, an inductor of 0.32 Henry, and a resistance of 4 ohms are connected in parallel to the 6.4 ampere current source, that is between the top and bottom wires in the circuit. A 6 ohm resistance is connected in the top wire between the top nodes of the 10 ohm resistance and the 0.32 Henry inductor. Initial current I subscript 0 flows through the inductor of 0.32 Henry from the top node to the bottom. Voltage v subscript 0 develops across the 10 ohm resistance with positive polarity at the top node and negative at the bottom.">
            <a:extLst>
              <a:ext uri="{FF2B5EF4-FFF2-40B4-BE49-F238E27FC236}">
                <a16:creationId xmlns:a16="http://schemas.microsoft.com/office/drawing/2014/main" id="{5207C3B8-ED32-62F3-E011-BA1C06EDFF67}"/>
              </a:ext>
            </a:extLst>
          </p:cNvPr>
          <p:cNvPicPr>
            <a:picLocks noChangeAspect="1"/>
          </p:cNvPicPr>
          <p:nvPr/>
        </p:nvPicPr>
        <p:blipFill>
          <a:blip r:embed="rId7"/>
          <a:stretch>
            <a:fillRect/>
          </a:stretch>
        </p:blipFill>
        <p:spPr>
          <a:xfrm>
            <a:off x="2397184" y="2870892"/>
            <a:ext cx="4369727" cy="1219692"/>
          </a:xfrm>
          <a:prstGeom prst="rect">
            <a:avLst/>
          </a:prstGeom>
        </p:spPr>
      </p:pic>
      <p:pic>
        <p:nvPicPr>
          <p:cNvPr id="42" name="Picture 1436" descr="Cross mark">
            <a:extLst>
              <a:ext uri="{FF2B5EF4-FFF2-40B4-BE49-F238E27FC236}">
                <a16:creationId xmlns:a16="http://schemas.microsoft.com/office/drawing/2014/main" id="{17A1A818-097B-3CC7-18E9-6F8211843BA2}"/>
              </a:ext>
            </a:extLst>
          </p:cNvPr>
          <p:cNvPicPr>
            <a:picLocks noChangeAspect="1"/>
          </p:cNvPicPr>
          <p:nvPr>
            <p:custDataLst>
              <p:tags r:id="rId1"/>
            </p:custDataLst>
          </p:nvPr>
        </p:nvPicPr>
        <p:blipFill>
          <a:blip r:embed="rId8">
            <a:extLst>
              <a:ext uri="{28A0092B-C50C-407E-A947-70E740481C1C}">
                <a14:useLocalDpi xmlns:a14="http://schemas.microsoft.com/office/drawing/2010/main" val="0"/>
              </a:ext>
            </a:extLst>
          </a:blip>
          <a:srcRect/>
          <a:stretch>
            <a:fillRect/>
          </a:stretch>
        </p:blipFill>
        <p:spPr bwMode="auto">
          <a:xfrm>
            <a:off x="871399" y="4530414"/>
            <a:ext cx="295357" cy="295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Content Placeholder 16">
            <a:extLst>
              <a:ext uri="{FF2B5EF4-FFF2-40B4-BE49-F238E27FC236}">
                <a16:creationId xmlns:a16="http://schemas.microsoft.com/office/drawing/2014/main" id="{56F4AC2E-EBE1-ED7D-5481-54A786B2B40B}"/>
              </a:ext>
            </a:extLst>
          </p:cNvPr>
          <p:cNvSpPr>
            <a:spLocks noGrp="1"/>
          </p:cNvSpPr>
          <p:nvPr>
            <p:ph sz="quarter" idx="16"/>
          </p:nvPr>
        </p:nvSpPr>
        <p:spPr>
          <a:xfrm>
            <a:off x="1391751" y="4457803"/>
            <a:ext cx="3972479"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A.</a:t>
            </a:r>
            <a:r>
              <a:rPr lang="en-US" sz="2400" noProof="0" dirty="0"/>
              <a:t> </a:t>
            </a:r>
            <a:r>
              <a:rPr lang="en-US" sz="2400" noProof="0" dirty="0">
                <a:sym typeface="Symbol"/>
              </a:rPr>
              <a:t>Node voltage method</a:t>
            </a:r>
          </a:p>
        </p:txBody>
      </p:sp>
      <p:pic>
        <p:nvPicPr>
          <p:cNvPr id="46" name="Picture 1435" descr="Check mark">
            <a:extLst>
              <a:ext uri="{FF2B5EF4-FFF2-40B4-BE49-F238E27FC236}">
                <a16:creationId xmlns:a16="http://schemas.microsoft.com/office/drawing/2014/main" id="{DAE43F98-DF9F-4CD1-C46E-72F716ED5B70}"/>
              </a:ext>
            </a:extLst>
          </p:cNvPr>
          <p:cNvPicPr>
            <a:picLocks noChangeAspect="1"/>
          </p:cNvPicPr>
          <p:nvPr>
            <p:custDataLst>
              <p:tags r:id="rId2"/>
            </p:custDataLst>
          </p:nvPr>
        </p:nvPicPr>
        <p:blipFill>
          <a:blip r:embed="rId9">
            <a:extLst>
              <a:ext uri="{28A0092B-C50C-407E-A947-70E740481C1C}">
                <a14:useLocalDpi xmlns:a14="http://schemas.microsoft.com/office/drawing/2010/main" val="0"/>
              </a:ext>
            </a:extLst>
          </a:blip>
          <a:srcRect/>
          <a:stretch>
            <a:fillRect/>
          </a:stretch>
        </p:blipFill>
        <p:spPr bwMode="auto">
          <a:xfrm>
            <a:off x="847627" y="5045207"/>
            <a:ext cx="3429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Content Placeholder 17">
            <a:extLst>
              <a:ext uri="{FF2B5EF4-FFF2-40B4-BE49-F238E27FC236}">
                <a16:creationId xmlns:a16="http://schemas.microsoft.com/office/drawing/2014/main" id="{15880FF6-D60C-0E59-E64E-9DDF5845595D}"/>
              </a:ext>
            </a:extLst>
          </p:cNvPr>
          <p:cNvSpPr>
            <a:spLocks noGrp="1"/>
          </p:cNvSpPr>
          <p:nvPr>
            <p:ph sz="quarter" idx="17"/>
          </p:nvPr>
        </p:nvSpPr>
        <p:spPr>
          <a:xfrm>
            <a:off x="1391752" y="5001325"/>
            <a:ext cx="3972478"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B. </a:t>
            </a:r>
            <a:r>
              <a:rPr lang="en-US" sz="2400" noProof="0" dirty="0"/>
              <a:t>Current division</a:t>
            </a:r>
            <a:endParaRPr lang="en-US" sz="2400" noProof="0" dirty="0">
              <a:solidFill>
                <a:srgbClr val="007FA3"/>
              </a:solidFill>
            </a:endParaRPr>
          </a:p>
        </p:txBody>
      </p:sp>
      <p:pic>
        <p:nvPicPr>
          <p:cNvPr id="43" name="Picture 1436" descr="Cross mark">
            <a:extLst>
              <a:ext uri="{FF2B5EF4-FFF2-40B4-BE49-F238E27FC236}">
                <a16:creationId xmlns:a16="http://schemas.microsoft.com/office/drawing/2014/main" id="{CC40B0D9-3321-7381-B4AE-F8167B9FB0E6}"/>
              </a:ext>
            </a:extLst>
          </p:cNvPr>
          <p:cNvPicPr>
            <a:picLocks noChangeAspect="1"/>
          </p:cNvPicPr>
          <p:nvPr>
            <p:custDataLst>
              <p:tags r:id="rId3"/>
            </p:custDataLst>
          </p:nvPr>
        </p:nvPicPr>
        <p:blipFill>
          <a:blip r:embed="rId8">
            <a:extLst>
              <a:ext uri="{28A0092B-C50C-407E-A947-70E740481C1C}">
                <a14:useLocalDpi xmlns:a14="http://schemas.microsoft.com/office/drawing/2010/main" val="0"/>
              </a:ext>
            </a:extLst>
          </a:blip>
          <a:srcRect/>
          <a:stretch>
            <a:fillRect/>
          </a:stretch>
        </p:blipFill>
        <p:spPr bwMode="auto">
          <a:xfrm>
            <a:off x="863540" y="5584079"/>
            <a:ext cx="295357" cy="295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Content Placeholder 18">
            <a:extLst>
              <a:ext uri="{FF2B5EF4-FFF2-40B4-BE49-F238E27FC236}">
                <a16:creationId xmlns:a16="http://schemas.microsoft.com/office/drawing/2014/main" id="{E8CB85B6-61CA-EC33-564E-05A8D800F06A}"/>
              </a:ext>
            </a:extLst>
          </p:cNvPr>
          <p:cNvSpPr>
            <a:spLocks noGrp="1"/>
          </p:cNvSpPr>
          <p:nvPr>
            <p:ph sz="quarter" idx="18"/>
          </p:nvPr>
        </p:nvSpPr>
        <p:spPr>
          <a:xfrm>
            <a:off x="1391752" y="5549012"/>
            <a:ext cx="3972478"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C.</a:t>
            </a:r>
            <a:r>
              <a:rPr lang="en-US" sz="2400" noProof="0" dirty="0"/>
              <a:t> Source transformation</a:t>
            </a:r>
            <a:endParaRPr lang="en-US" sz="2400" noProof="0" dirty="0">
              <a:solidFill>
                <a:srgbClr val="007FA3"/>
              </a:solidFill>
            </a:endParaRPr>
          </a:p>
        </p:txBody>
      </p:sp>
    </p:spTree>
    <p:extLst>
      <p:ext uri="{BB962C8B-B14F-4D97-AF65-F5344CB8AC3E}">
        <p14:creationId xmlns:p14="http://schemas.microsoft.com/office/powerpoint/2010/main" val="20800422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7056" y="212344"/>
            <a:ext cx="8229600" cy="1144347"/>
          </a:xfrm>
        </p:spPr>
        <p:txBody>
          <a:bodyPr wrap="square" lIns="0" tIns="18000" rIns="0" bIns="18000" anchor="ctr" anchorCtr="0">
            <a:spAutoFit/>
          </a:bodyPr>
          <a:lstStyle/>
          <a:p>
            <a:pPr>
              <a:spcBef>
                <a:spcPts val="600"/>
              </a:spcBef>
            </a:pPr>
            <a:r>
              <a:rPr lang="en-US" noProof="0" dirty="0"/>
              <a:t>Chapter 7 – </a:t>
            </a:r>
            <a:r>
              <a:rPr lang="en-US" i="1" spc="-450" noProof="0" dirty="0"/>
              <a:t>R </a:t>
            </a:r>
            <a:r>
              <a:rPr lang="en-US" i="1" noProof="0" dirty="0"/>
              <a:t>L/</a:t>
            </a:r>
            <a:r>
              <a:rPr lang="en-US" i="1" spc="-450" noProof="0" dirty="0"/>
              <a:t>R </a:t>
            </a:r>
            <a:r>
              <a:rPr lang="en-US" i="1" noProof="0" dirty="0"/>
              <a:t>C</a:t>
            </a:r>
            <a:r>
              <a:rPr lang="en-US" noProof="0" dirty="0"/>
              <a:t> Natural Response Examples </a:t>
            </a:r>
            <a:r>
              <a:rPr lang="en-US" sz="2800" noProof="0" dirty="0"/>
              <a:t>(4 of 14)</a:t>
            </a:r>
          </a:p>
        </p:txBody>
      </p:sp>
      <p:sp>
        <p:nvSpPr>
          <p:cNvPr id="16" name="Content Placeholder 15">
            <a:extLst>
              <a:ext uri="{FF2B5EF4-FFF2-40B4-BE49-F238E27FC236}">
                <a16:creationId xmlns:a16="http://schemas.microsoft.com/office/drawing/2014/main" id="{8B0D0553-58DE-48D2-51CA-C8248E5230BC}"/>
              </a:ext>
            </a:extLst>
          </p:cNvPr>
          <p:cNvSpPr>
            <a:spLocks noGrp="1"/>
          </p:cNvSpPr>
          <p:nvPr>
            <p:ph sz="quarter" idx="12"/>
          </p:nvPr>
        </p:nvSpPr>
        <p:spPr>
          <a:xfrm>
            <a:off x="436284" y="1478375"/>
            <a:ext cx="612419" cy="405683"/>
          </a:xfrm>
        </p:spPr>
        <p:txBody>
          <a:bodyPr wrap="square" lIns="0" tIns="18000" rIns="0" bIns="18000" anchor="ctr" anchorCtr="0">
            <a:spAutoFit/>
          </a:bodyPr>
          <a:lstStyle/>
          <a:p>
            <a:pPr marL="0" indent="0">
              <a:spcBef>
                <a:spcPts val="600"/>
              </a:spcBef>
              <a:buNone/>
            </a:pPr>
            <a:r>
              <a:rPr lang="en-US" sz="2400" noProof="0" dirty="0"/>
              <a:t>Find</a:t>
            </a:r>
          </a:p>
        </p:txBody>
      </p:sp>
      <p:graphicFrame>
        <p:nvGraphicFramePr>
          <p:cNvPr id="13" name="Object 12" descr="v subscript o baseline (t).">
            <a:extLst>
              <a:ext uri="{FF2B5EF4-FFF2-40B4-BE49-F238E27FC236}">
                <a16:creationId xmlns:a16="http://schemas.microsoft.com/office/drawing/2014/main" id="{624DC18F-6836-40EB-AB06-86307020E80A}"/>
              </a:ext>
            </a:extLst>
          </p:cNvPr>
          <p:cNvGraphicFramePr>
            <a:graphicFrameLocks noChangeAspect="1"/>
          </p:cNvGraphicFramePr>
          <p:nvPr>
            <p:extLst>
              <p:ext uri="{D42A27DB-BD31-4B8C-83A1-F6EECF244321}">
                <p14:modId xmlns:p14="http://schemas.microsoft.com/office/powerpoint/2010/main" val="458562231"/>
              </p:ext>
            </p:extLst>
          </p:nvPr>
        </p:nvGraphicFramePr>
        <p:xfrm>
          <a:off x="1089105" y="1459931"/>
          <a:ext cx="640262" cy="466225"/>
        </p:xfrm>
        <a:graphic>
          <a:graphicData uri="http://schemas.openxmlformats.org/presentationml/2006/ole">
            <mc:AlternateContent xmlns:mc="http://schemas.openxmlformats.org/markup-compatibility/2006">
              <mc:Choice xmlns:v="urn:schemas-microsoft-com:vml" Requires="v">
                <p:oleObj name="Equation" r:id="rId2" imgW="330120" imgH="228600" progId="Equation.DSMT4">
                  <p:embed/>
                </p:oleObj>
              </mc:Choice>
              <mc:Fallback>
                <p:oleObj name="Equation" r:id="rId2" imgW="330120" imgH="228600" progId="Equation.DSMT4">
                  <p:embed/>
                  <p:pic>
                    <p:nvPicPr>
                      <p:cNvPr id="15" name="Object 14" descr="S subscript 0 colon">
                        <a:extLst>
                          <a:ext uri="{FF2B5EF4-FFF2-40B4-BE49-F238E27FC236}">
                            <a16:creationId xmlns:a16="http://schemas.microsoft.com/office/drawing/2014/main" id="{BF6AFBB4-4F06-4BC1-8CD9-0FC8522A90D8}"/>
                          </a:ext>
                        </a:extLst>
                      </p:cNvPr>
                      <p:cNvPicPr>
                        <a:picLocks noChangeAspect="1" noChangeArrowheads="1"/>
                      </p:cNvPicPr>
                      <p:nvPr/>
                    </p:nvPicPr>
                    <p:blipFill>
                      <a:blip r:embed="rId3"/>
                      <a:srcRect/>
                      <a:stretch>
                        <a:fillRect/>
                      </a:stretch>
                    </p:blipFill>
                    <p:spPr bwMode="auto">
                      <a:xfrm>
                        <a:off x="1089105" y="1459931"/>
                        <a:ext cx="640262" cy="466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 name="Content Placeholder 17">
            <a:extLst>
              <a:ext uri="{FF2B5EF4-FFF2-40B4-BE49-F238E27FC236}">
                <a16:creationId xmlns:a16="http://schemas.microsoft.com/office/drawing/2014/main" id="{7869D59A-E591-0306-2F00-54AFDFE8D09E}"/>
              </a:ext>
            </a:extLst>
          </p:cNvPr>
          <p:cNvSpPr>
            <a:spLocks noGrp="1"/>
          </p:cNvSpPr>
          <p:nvPr>
            <p:ph sz="quarter" idx="13"/>
          </p:nvPr>
        </p:nvSpPr>
        <p:spPr>
          <a:xfrm>
            <a:off x="1855426" y="1476076"/>
            <a:ext cx="447950" cy="405683"/>
          </a:xfrm>
        </p:spPr>
        <p:txBody>
          <a:bodyPr wrap="square" lIns="0" tIns="18000" rIns="0" bIns="18000" anchor="ctr" anchorCtr="0">
            <a:spAutoFit/>
          </a:bodyPr>
          <a:lstStyle/>
          <a:p>
            <a:pPr marL="0" indent="0">
              <a:spcBef>
                <a:spcPts val="600"/>
              </a:spcBef>
              <a:buNone/>
            </a:pPr>
            <a:r>
              <a:rPr lang="en-US" sz="2400" noProof="0" dirty="0"/>
              <a:t>for</a:t>
            </a:r>
          </a:p>
        </p:txBody>
      </p:sp>
      <p:graphicFrame>
        <p:nvGraphicFramePr>
          <p:cNvPr id="14" name="Object 13" descr="t greater than or equal to 0 superscript plus.">
            <a:extLst>
              <a:ext uri="{FF2B5EF4-FFF2-40B4-BE49-F238E27FC236}">
                <a16:creationId xmlns:a16="http://schemas.microsoft.com/office/drawing/2014/main" id="{58DBA8F1-A6F1-4701-906E-F683A061CC90}"/>
              </a:ext>
            </a:extLst>
          </p:cNvPr>
          <p:cNvGraphicFramePr>
            <a:graphicFrameLocks noChangeAspect="1"/>
          </p:cNvGraphicFramePr>
          <p:nvPr>
            <p:extLst>
              <p:ext uri="{D42A27DB-BD31-4B8C-83A1-F6EECF244321}">
                <p14:modId xmlns:p14="http://schemas.microsoft.com/office/powerpoint/2010/main" val="992273270"/>
              </p:ext>
            </p:extLst>
          </p:nvPr>
        </p:nvGraphicFramePr>
        <p:xfrm>
          <a:off x="2365873" y="1454150"/>
          <a:ext cx="788987" cy="466725"/>
        </p:xfrm>
        <a:graphic>
          <a:graphicData uri="http://schemas.openxmlformats.org/presentationml/2006/ole">
            <mc:AlternateContent xmlns:mc="http://schemas.openxmlformats.org/markup-compatibility/2006">
              <mc:Choice xmlns:v="urn:schemas-microsoft-com:vml" Requires="v">
                <p:oleObj name="Equation" r:id="rId4" imgW="406080" imgH="228600" progId="Equation.DSMT4">
                  <p:embed/>
                </p:oleObj>
              </mc:Choice>
              <mc:Fallback>
                <p:oleObj name="Equation" r:id="rId4" imgW="406080" imgH="228600" progId="Equation.DSMT4">
                  <p:embed/>
                  <p:pic>
                    <p:nvPicPr>
                      <p:cNvPr id="13" name="Object 12" descr="S subscript 0 colon">
                        <a:extLst>
                          <a:ext uri="{FF2B5EF4-FFF2-40B4-BE49-F238E27FC236}">
                            <a16:creationId xmlns:a16="http://schemas.microsoft.com/office/drawing/2014/main" id="{624DC18F-6836-40EB-AB06-86307020E80A}"/>
                          </a:ext>
                        </a:extLst>
                      </p:cNvPr>
                      <p:cNvPicPr>
                        <a:picLocks noChangeAspect="1" noChangeArrowheads="1"/>
                      </p:cNvPicPr>
                      <p:nvPr/>
                    </p:nvPicPr>
                    <p:blipFill>
                      <a:blip r:embed="rId5"/>
                      <a:srcRect/>
                      <a:stretch>
                        <a:fillRect/>
                      </a:stretch>
                    </p:blipFill>
                    <p:spPr bwMode="auto">
                      <a:xfrm>
                        <a:off x="2365873" y="1454150"/>
                        <a:ext cx="788987" cy="466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 name="Content Placeholder 19">
            <a:extLst>
              <a:ext uri="{FF2B5EF4-FFF2-40B4-BE49-F238E27FC236}">
                <a16:creationId xmlns:a16="http://schemas.microsoft.com/office/drawing/2014/main" id="{A5843053-430C-6EEB-A148-8D2DA5740541}"/>
              </a:ext>
            </a:extLst>
          </p:cNvPr>
          <p:cNvSpPr>
            <a:spLocks noGrp="1"/>
          </p:cNvSpPr>
          <p:nvPr>
            <p:ph sz="quarter" idx="14"/>
          </p:nvPr>
        </p:nvSpPr>
        <p:spPr>
          <a:xfrm>
            <a:off x="3269940" y="1473765"/>
            <a:ext cx="1583414" cy="405683"/>
          </a:xfrm>
        </p:spPr>
        <p:txBody>
          <a:bodyPr wrap="square" lIns="0" tIns="18000" rIns="0" bIns="18000" anchor="ctr" anchorCtr="0">
            <a:spAutoFit/>
          </a:bodyPr>
          <a:lstStyle/>
          <a:p>
            <a:pPr marL="0" indent="0">
              <a:spcBef>
                <a:spcPts val="600"/>
              </a:spcBef>
              <a:buNone/>
            </a:pPr>
            <a:r>
              <a:rPr lang="en-US" altLang="en-US" sz="2400" noProof="0" dirty="0"/>
              <a:t>(continued)</a:t>
            </a:r>
            <a:endParaRPr lang="en-US" sz="2400" noProof="0" dirty="0"/>
          </a:p>
        </p:txBody>
      </p:sp>
      <p:pic>
        <p:nvPicPr>
          <p:cNvPr id="43" name="Picture 42" descr="A circuit diagram shows a current source with 6.4 ampere capacity. A switch connects the current source of 6.4 ampere capacity with the top wire of the circuit via node a when time t is less than zero. The same switch connects the current source with 6.4 ampere capacity to the bottom wire in the circuit via node b after time t equals zero. From left to right, a resistance of 10 ohms, an inductor of 0.32 Henry, and a resistance of 4 ohms are connected in parallel to the 6.4 ampere current source, that is between the top and bottom wires in the circuit. A 6 ohm resistance is connected in the top wire between the top nodes of the 10 ohm resistance and the 0.32 Henry inductor. Voltage v subscript 0 develops across the 10 ohm resistance with positive polarity at the top node and negative at the bottom. ">
            <a:extLst>
              <a:ext uri="{FF2B5EF4-FFF2-40B4-BE49-F238E27FC236}">
                <a16:creationId xmlns:a16="http://schemas.microsoft.com/office/drawing/2014/main" id="{5CA1DDD6-120A-C962-6A34-ADB902C87B6B}"/>
              </a:ext>
            </a:extLst>
          </p:cNvPr>
          <p:cNvPicPr>
            <a:picLocks noChangeAspect="1"/>
          </p:cNvPicPr>
          <p:nvPr/>
        </p:nvPicPr>
        <p:blipFill>
          <a:blip r:embed="rId6"/>
          <a:srcRect/>
          <a:stretch/>
        </p:blipFill>
        <p:spPr>
          <a:xfrm>
            <a:off x="4633080" y="2004373"/>
            <a:ext cx="3810157" cy="1370971"/>
          </a:xfrm>
          <a:prstGeom prst="rect">
            <a:avLst/>
          </a:prstGeom>
        </p:spPr>
      </p:pic>
      <p:sp>
        <p:nvSpPr>
          <p:cNvPr id="22" name="Content Placeholder 21">
            <a:extLst>
              <a:ext uri="{FF2B5EF4-FFF2-40B4-BE49-F238E27FC236}">
                <a16:creationId xmlns:a16="http://schemas.microsoft.com/office/drawing/2014/main" id="{053BC0AE-C87F-CF1D-D71C-A5E5AAE13B8C}"/>
              </a:ext>
            </a:extLst>
          </p:cNvPr>
          <p:cNvSpPr>
            <a:spLocks noGrp="1"/>
          </p:cNvSpPr>
          <p:nvPr>
            <p:ph sz="quarter" idx="15"/>
          </p:nvPr>
        </p:nvSpPr>
        <p:spPr>
          <a:xfrm>
            <a:off x="436287" y="3478365"/>
            <a:ext cx="6255915" cy="405683"/>
          </a:xfrm>
        </p:spPr>
        <p:txBody>
          <a:bodyPr wrap="square" lIns="0" tIns="18000" rIns="0" bIns="18000" anchor="ctr" anchorCtr="0">
            <a:spAutoFit/>
          </a:bodyPr>
          <a:lstStyle/>
          <a:p>
            <a:pPr marL="0" indent="0">
              <a:spcBef>
                <a:spcPts val="600"/>
              </a:spcBef>
              <a:buNone/>
            </a:pPr>
            <a:r>
              <a:rPr lang="en-US" sz="2400" noProof="0" dirty="0"/>
              <a:t>Step 1 – Determine the initial inductor current,</a:t>
            </a:r>
          </a:p>
        </p:txBody>
      </p:sp>
      <p:graphicFrame>
        <p:nvGraphicFramePr>
          <p:cNvPr id="15" name="Object 14" descr="I subscript 0,">
            <a:extLst>
              <a:ext uri="{FF2B5EF4-FFF2-40B4-BE49-F238E27FC236}">
                <a16:creationId xmlns:a16="http://schemas.microsoft.com/office/drawing/2014/main" id="{3109ADAE-6992-403C-81BD-9C7E42C66EF8}"/>
              </a:ext>
            </a:extLst>
          </p:cNvPr>
          <p:cNvGraphicFramePr>
            <a:graphicFrameLocks noChangeAspect="1"/>
          </p:cNvGraphicFramePr>
          <p:nvPr>
            <p:extLst>
              <p:ext uri="{D42A27DB-BD31-4B8C-83A1-F6EECF244321}">
                <p14:modId xmlns:p14="http://schemas.microsoft.com/office/powerpoint/2010/main" val="3684618230"/>
              </p:ext>
            </p:extLst>
          </p:nvPr>
        </p:nvGraphicFramePr>
        <p:xfrm>
          <a:off x="6752370" y="3473923"/>
          <a:ext cx="344488" cy="466725"/>
        </p:xfrm>
        <a:graphic>
          <a:graphicData uri="http://schemas.openxmlformats.org/presentationml/2006/ole">
            <mc:AlternateContent xmlns:mc="http://schemas.openxmlformats.org/markup-compatibility/2006">
              <mc:Choice xmlns:v="urn:schemas-microsoft-com:vml" Requires="v">
                <p:oleObj name="Equation" r:id="rId7" imgW="177480" imgH="228600" progId="Equation.DSMT4">
                  <p:embed/>
                </p:oleObj>
              </mc:Choice>
              <mc:Fallback>
                <p:oleObj name="Equation" r:id="rId7" imgW="177480" imgH="228600" progId="Equation.DSMT4">
                  <p:embed/>
                  <p:pic>
                    <p:nvPicPr>
                      <p:cNvPr id="14" name="Object 13" descr="S subscript 0 colon">
                        <a:extLst>
                          <a:ext uri="{FF2B5EF4-FFF2-40B4-BE49-F238E27FC236}">
                            <a16:creationId xmlns:a16="http://schemas.microsoft.com/office/drawing/2014/main" id="{58DBA8F1-A6F1-4701-906E-F683A061CC90}"/>
                          </a:ext>
                        </a:extLst>
                      </p:cNvPr>
                      <p:cNvPicPr>
                        <a:picLocks noChangeAspect="1" noChangeArrowheads="1"/>
                      </p:cNvPicPr>
                      <p:nvPr/>
                    </p:nvPicPr>
                    <p:blipFill>
                      <a:blip r:embed="rId8"/>
                      <a:srcRect/>
                      <a:stretch>
                        <a:fillRect/>
                      </a:stretch>
                    </p:blipFill>
                    <p:spPr bwMode="auto">
                      <a:xfrm>
                        <a:off x="6752370" y="3473923"/>
                        <a:ext cx="344488" cy="466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4" name="Content Placeholder 23">
            <a:extLst>
              <a:ext uri="{FF2B5EF4-FFF2-40B4-BE49-F238E27FC236}">
                <a16:creationId xmlns:a16="http://schemas.microsoft.com/office/drawing/2014/main" id="{0AF76FB9-ADEC-BCD6-CBDF-F4E9D6BD3C31}"/>
              </a:ext>
            </a:extLst>
          </p:cNvPr>
          <p:cNvSpPr>
            <a:spLocks noGrp="1"/>
          </p:cNvSpPr>
          <p:nvPr>
            <p:ph sz="quarter" idx="16"/>
          </p:nvPr>
        </p:nvSpPr>
        <p:spPr>
          <a:xfrm>
            <a:off x="436289" y="3977211"/>
            <a:ext cx="3573004" cy="405683"/>
          </a:xfrm>
        </p:spPr>
        <p:txBody>
          <a:bodyPr wrap="square" lIns="0" tIns="18000" rIns="0" bIns="18000" anchor="ctr" anchorCtr="0">
            <a:spAutoFit/>
          </a:bodyPr>
          <a:lstStyle/>
          <a:p>
            <a:pPr marL="0" indent="0">
              <a:spcBef>
                <a:spcPts val="600"/>
              </a:spcBef>
              <a:buNone/>
            </a:pPr>
            <a:r>
              <a:rPr lang="en-US" sz="2400" noProof="0" dirty="0"/>
              <a:t>by analyzing the circuit for</a:t>
            </a:r>
          </a:p>
        </p:txBody>
      </p:sp>
      <p:graphicFrame>
        <p:nvGraphicFramePr>
          <p:cNvPr id="2" name="Object 1" descr="t is less than 0.">
            <a:extLst>
              <a:ext uri="{FF2B5EF4-FFF2-40B4-BE49-F238E27FC236}">
                <a16:creationId xmlns:a16="http://schemas.microsoft.com/office/drawing/2014/main" id="{3D8D034B-51E0-1120-CAC7-882A85EBEB33}"/>
              </a:ext>
            </a:extLst>
          </p:cNvPr>
          <p:cNvGraphicFramePr>
            <a:graphicFrameLocks noChangeAspect="1"/>
          </p:cNvGraphicFramePr>
          <p:nvPr>
            <p:extLst>
              <p:ext uri="{D42A27DB-BD31-4B8C-83A1-F6EECF244321}">
                <p14:modId xmlns:p14="http://schemas.microsoft.com/office/powerpoint/2010/main" val="3063624080"/>
              </p:ext>
            </p:extLst>
          </p:nvPr>
        </p:nvGraphicFramePr>
        <p:xfrm>
          <a:off x="4030663" y="4024313"/>
          <a:ext cx="703262" cy="393700"/>
        </p:xfrm>
        <a:graphic>
          <a:graphicData uri="http://schemas.openxmlformats.org/presentationml/2006/ole">
            <mc:AlternateContent xmlns:mc="http://schemas.openxmlformats.org/markup-compatibility/2006">
              <mc:Choice xmlns:v="urn:schemas-microsoft-com:vml" Requires="v">
                <p:oleObj name="Equation" r:id="rId9" imgW="380880" imgH="203040" progId="Equation.DSMT4">
                  <p:embed/>
                </p:oleObj>
              </mc:Choice>
              <mc:Fallback>
                <p:oleObj name="Equation" r:id="rId9" imgW="380880" imgH="203040" progId="Equation.DSMT4">
                  <p:embed/>
                  <p:pic>
                    <p:nvPicPr>
                      <p:cNvPr id="17" name="Object 16" descr="t is less than 0.">
                        <a:extLst>
                          <a:ext uri="{FF2B5EF4-FFF2-40B4-BE49-F238E27FC236}">
                            <a16:creationId xmlns:a16="http://schemas.microsoft.com/office/drawing/2014/main" id="{179644E2-B324-4D38-85A1-F5BD25DBC333}"/>
                          </a:ext>
                        </a:extLst>
                      </p:cNvPr>
                      <p:cNvPicPr>
                        <a:picLocks noChangeAspect="1" noChangeArrowheads="1"/>
                      </p:cNvPicPr>
                      <p:nvPr/>
                    </p:nvPicPr>
                    <p:blipFill>
                      <a:blip r:embed="rId10"/>
                      <a:srcRect/>
                      <a:stretch>
                        <a:fillRect/>
                      </a:stretch>
                    </p:blipFill>
                    <p:spPr bwMode="auto">
                      <a:xfrm>
                        <a:off x="4030663" y="4024313"/>
                        <a:ext cx="703262" cy="393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6" name="Content Placeholder 25">
            <a:extLst>
              <a:ext uri="{FF2B5EF4-FFF2-40B4-BE49-F238E27FC236}">
                <a16:creationId xmlns:a16="http://schemas.microsoft.com/office/drawing/2014/main" id="{64F84652-2A6A-F569-76AA-25379F0B3B86}"/>
              </a:ext>
            </a:extLst>
          </p:cNvPr>
          <p:cNvSpPr>
            <a:spLocks noGrp="1"/>
          </p:cNvSpPr>
          <p:nvPr>
            <p:ph sz="quarter" idx="17"/>
          </p:nvPr>
        </p:nvSpPr>
        <p:spPr>
          <a:xfrm>
            <a:off x="430585" y="4554813"/>
            <a:ext cx="494326" cy="405683"/>
          </a:xfrm>
        </p:spPr>
        <p:txBody>
          <a:bodyPr wrap="square" lIns="0" tIns="18000" rIns="0" bIns="18000" anchor="ctr" anchorCtr="0">
            <a:spAutoFit/>
          </a:bodyPr>
          <a:lstStyle/>
          <a:p>
            <a:pPr marL="0" indent="0">
              <a:spcBef>
                <a:spcPts val="600"/>
              </a:spcBef>
              <a:buNone/>
            </a:pPr>
            <a:r>
              <a:rPr lang="en-US" sz="2400" noProof="0" dirty="0"/>
              <a:t>For</a:t>
            </a:r>
          </a:p>
        </p:txBody>
      </p:sp>
      <p:graphicFrame>
        <p:nvGraphicFramePr>
          <p:cNvPr id="17" name="Object 16" descr="t is less than 0.">
            <a:extLst>
              <a:ext uri="{FF2B5EF4-FFF2-40B4-BE49-F238E27FC236}">
                <a16:creationId xmlns:a16="http://schemas.microsoft.com/office/drawing/2014/main" id="{179644E2-B324-4D38-85A1-F5BD25DBC333}"/>
              </a:ext>
            </a:extLst>
          </p:cNvPr>
          <p:cNvGraphicFramePr>
            <a:graphicFrameLocks noChangeAspect="1"/>
          </p:cNvGraphicFramePr>
          <p:nvPr>
            <p:extLst>
              <p:ext uri="{D42A27DB-BD31-4B8C-83A1-F6EECF244321}">
                <p14:modId xmlns:p14="http://schemas.microsoft.com/office/powerpoint/2010/main" val="170530863"/>
              </p:ext>
            </p:extLst>
          </p:nvPr>
        </p:nvGraphicFramePr>
        <p:xfrm>
          <a:off x="982027" y="4599493"/>
          <a:ext cx="655536" cy="394228"/>
        </p:xfrm>
        <a:graphic>
          <a:graphicData uri="http://schemas.openxmlformats.org/presentationml/2006/ole">
            <mc:AlternateContent xmlns:mc="http://schemas.openxmlformats.org/markup-compatibility/2006">
              <mc:Choice xmlns:v="urn:schemas-microsoft-com:vml" Requires="v">
                <p:oleObj name="Equation" r:id="rId11" imgW="355320" imgH="203040" progId="Equation.DSMT4">
                  <p:embed/>
                </p:oleObj>
              </mc:Choice>
              <mc:Fallback>
                <p:oleObj name="Equation" r:id="rId11" imgW="355320" imgH="203040" progId="Equation.DSMT4">
                  <p:embed/>
                  <p:pic>
                    <p:nvPicPr>
                      <p:cNvPr id="15" name="Object 14" descr="S subscript 0 colon">
                        <a:extLst>
                          <a:ext uri="{FF2B5EF4-FFF2-40B4-BE49-F238E27FC236}">
                            <a16:creationId xmlns:a16="http://schemas.microsoft.com/office/drawing/2014/main" id="{3109ADAE-6992-403C-81BD-9C7E42C66EF8}"/>
                          </a:ext>
                        </a:extLst>
                      </p:cNvPr>
                      <p:cNvPicPr>
                        <a:picLocks noChangeAspect="1" noChangeArrowheads="1"/>
                      </p:cNvPicPr>
                      <p:nvPr/>
                    </p:nvPicPr>
                    <p:blipFill>
                      <a:blip r:embed="rId12"/>
                      <a:srcRect/>
                      <a:stretch>
                        <a:fillRect/>
                      </a:stretch>
                    </p:blipFill>
                    <p:spPr bwMode="auto">
                      <a:xfrm>
                        <a:off x="982027" y="4599493"/>
                        <a:ext cx="655536" cy="39422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45" name="Picture 44" descr="A circuit diagram shows the conditions in a circuit before time t is measured, that is when t is less than zero. A current source with 6.4 ampere capacity. A switch connects the current source of 6.4 ampere capacity with the top wire of the circuit via node a when time t is less than zero. From left to right, a resistance of 10 ohms, an inductor of 0.32 Henry, and a resistance of 4 ohms are connected in parallel to the 6.4 ampere current source, that is between the top and bottom wires in the circuit. A 6 ohm resistance is connected in the top wire between the top nodes of the 10 ohm resistance and the 0.32 Henry inductor. Initial current I subscript 0 flows through the inductor of 0.32 Henry from the top node to the bottom. Voltage v subscript 0 develops across the 10 ohm resistance with positive polarity at the top node and negative at the bottom. ">
            <a:extLst>
              <a:ext uri="{FF2B5EF4-FFF2-40B4-BE49-F238E27FC236}">
                <a16:creationId xmlns:a16="http://schemas.microsoft.com/office/drawing/2014/main" id="{4E85BC95-5E54-BBD5-15C1-6680D4C71093}"/>
              </a:ext>
            </a:extLst>
          </p:cNvPr>
          <p:cNvPicPr>
            <a:picLocks noChangeAspect="1"/>
          </p:cNvPicPr>
          <p:nvPr/>
        </p:nvPicPr>
        <p:blipFill>
          <a:blip r:embed="rId13"/>
          <a:stretch>
            <a:fillRect/>
          </a:stretch>
        </p:blipFill>
        <p:spPr>
          <a:xfrm>
            <a:off x="1179590" y="5227299"/>
            <a:ext cx="3254841" cy="908502"/>
          </a:xfrm>
          <a:prstGeom prst="rect">
            <a:avLst/>
          </a:prstGeom>
        </p:spPr>
      </p:pic>
      <p:sp>
        <p:nvSpPr>
          <p:cNvPr id="27" name="Content Placeholder 26">
            <a:extLst>
              <a:ext uri="{FF2B5EF4-FFF2-40B4-BE49-F238E27FC236}">
                <a16:creationId xmlns:a16="http://schemas.microsoft.com/office/drawing/2014/main" id="{B8D00E2F-4997-795C-1FFA-1857AC5D700B}"/>
              </a:ext>
            </a:extLst>
          </p:cNvPr>
          <p:cNvSpPr>
            <a:spLocks noGrp="1"/>
          </p:cNvSpPr>
          <p:nvPr>
            <p:ph sz="quarter" idx="18"/>
          </p:nvPr>
        </p:nvSpPr>
        <p:spPr>
          <a:xfrm>
            <a:off x="5025711" y="4530917"/>
            <a:ext cx="2268468" cy="405683"/>
          </a:xfrm>
        </p:spPr>
        <p:txBody>
          <a:bodyPr wrap="square" lIns="0" tIns="18000" rIns="0" bIns="18000" anchor="ctr" anchorCtr="0">
            <a:spAutoFit/>
          </a:bodyPr>
          <a:lstStyle/>
          <a:p>
            <a:pPr marL="0" indent="0">
              <a:spcBef>
                <a:spcPts val="600"/>
              </a:spcBef>
              <a:buNone/>
            </a:pPr>
            <a:r>
              <a:rPr lang="en-US" sz="2400" noProof="0" dirty="0"/>
              <a:t>Current division:</a:t>
            </a:r>
          </a:p>
        </p:txBody>
      </p:sp>
      <p:graphicFrame>
        <p:nvGraphicFramePr>
          <p:cNvPr id="41" name="Object 2" descr="I subscript o baseline equals StartFraction 10 over 10 plus 6 EndFraction (6.4) equals 4 Amperes.">
            <a:extLst>
              <a:ext uri="{FF2B5EF4-FFF2-40B4-BE49-F238E27FC236}">
                <a16:creationId xmlns:a16="http://schemas.microsoft.com/office/drawing/2014/main" id="{FF021F4B-34C7-4FC0-C31A-3D909137DF86}"/>
              </a:ext>
            </a:extLst>
          </p:cNvPr>
          <p:cNvGraphicFramePr>
            <a:graphicFrameLocks noChangeAspect="1"/>
          </p:cNvGraphicFramePr>
          <p:nvPr>
            <p:extLst>
              <p:ext uri="{D42A27DB-BD31-4B8C-83A1-F6EECF244321}">
                <p14:modId xmlns:p14="http://schemas.microsoft.com/office/powerpoint/2010/main" val="4043759667"/>
              </p:ext>
            </p:extLst>
          </p:nvPr>
        </p:nvGraphicFramePr>
        <p:xfrm>
          <a:off x="5387975" y="5378450"/>
          <a:ext cx="2609850" cy="703263"/>
        </p:xfrm>
        <a:graphic>
          <a:graphicData uri="http://schemas.openxmlformats.org/presentationml/2006/ole">
            <mc:AlternateContent xmlns:mc="http://schemas.openxmlformats.org/markup-compatibility/2006">
              <mc:Choice xmlns:v="urn:schemas-microsoft-com:vml" Requires="v">
                <p:oleObj name="Equation" r:id="rId14" imgW="1460160" imgH="393480" progId="Equation.DSMT4">
                  <p:embed/>
                </p:oleObj>
              </mc:Choice>
              <mc:Fallback>
                <p:oleObj name="Equation" r:id="rId14" imgW="1460160" imgH="393480" progId="Equation.DSMT4">
                  <p:embed/>
                  <p:pic>
                    <p:nvPicPr>
                      <p:cNvPr id="14" name="Object 2"/>
                      <p:cNvPicPr>
                        <a:picLocks noChangeAspect="1" noChangeArrowheads="1"/>
                      </p:cNvPicPr>
                      <p:nvPr/>
                    </p:nvPicPr>
                    <p:blipFill>
                      <a:blip r:embed="rId15"/>
                      <a:srcRect/>
                      <a:stretch>
                        <a:fillRect/>
                      </a:stretch>
                    </p:blipFill>
                    <p:spPr bwMode="auto">
                      <a:xfrm>
                        <a:off x="5387975" y="5378450"/>
                        <a:ext cx="2609850" cy="7032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5537393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Title 45">
            <a:extLst>
              <a:ext uri="{FF2B5EF4-FFF2-40B4-BE49-F238E27FC236}">
                <a16:creationId xmlns:a16="http://schemas.microsoft.com/office/drawing/2014/main" id="{4AEAEEE7-79BE-D443-2006-AAB1C2B5FFB1}"/>
              </a:ext>
            </a:extLst>
          </p:cNvPr>
          <p:cNvSpPr>
            <a:spLocks noGrp="1"/>
          </p:cNvSpPr>
          <p:nvPr>
            <p:ph type="title"/>
          </p:nvPr>
        </p:nvSpPr>
        <p:spPr>
          <a:xfrm>
            <a:off x="427056" y="212349"/>
            <a:ext cx="8213707" cy="1144347"/>
          </a:xfrm>
        </p:spPr>
        <p:txBody>
          <a:bodyPr tIns="18000" bIns="18000" anchor="ctr" anchorCtr="0">
            <a:spAutoFit/>
          </a:bodyPr>
          <a:lstStyle/>
          <a:p>
            <a:r>
              <a:rPr lang="en-US" noProof="0" dirty="0"/>
              <a:t>Chapter 7 – </a:t>
            </a:r>
            <a:r>
              <a:rPr lang="en-US" i="1" spc="-450" noProof="0" dirty="0"/>
              <a:t>R </a:t>
            </a:r>
            <a:r>
              <a:rPr lang="en-US" i="1" noProof="0" dirty="0"/>
              <a:t>L/</a:t>
            </a:r>
            <a:r>
              <a:rPr lang="en-US" i="1" spc="-450" noProof="0" dirty="0"/>
              <a:t>R </a:t>
            </a:r>
            <a:r>
              <a:rPr lang="en-US" i="1" noProof="0" dirty="0"/>
              <a:t>C</a:t>
            </a:r>
            <a:r>
              <a:rPr lang="en-US" noProof="0" dirty="0"/>
              <a:t> Natural Response Examples </a:t>
            </a:r>
            <a:r>
              <a:rPr lang="en-US" sz="2800" noProof="0" dirty="0"/>
              <a:t>(5 of 14)</a:t>
            </a:r>
            <a:endParaRPr lang="en-US" noProof="0" dirty="0"/>
          </a:p>
        </p:txBody>
      </p:sp>
      <p:sp>
        <p:nvSpPr>
          <p:cNvPr id="51" name="Content Placeholder 50">
            <a:extLst>
              <a:ext uri="{FF2B5EF4-FFF2-40B4-BE49-F238E27FC236}">
                <a16:creationId xmlns:a16="http://schemas.microsoft.com/office/drawing/2014/main" id="{02FCD16F-F28F-F0FB-7B28-13866A81738F}"/>
              </a:ext>
            </a:extLst>
          </p:cNvPr>
          <p:cNvSpPr>
            <a:spLocks noGrp="1"/>
          </p:cNvSpPr>
          <p:nvPr>
            <p:ph sz="quarter" idx="12"/>
          </p:nvPr>
        </p:nvSpPr>
        <p:spPr>
          <a:xfrm>
            <a:off x="427057" y="1438830"/>
            <a:ext cx="544757" cy="344128"/>
          </a:xfrm>
        </p:spPr>
        <p:txBody>
          <a:bodyPr wrap="square" lIns="0" tIns="18000" rIns="0" bIns="18000" anchor="ctr" anchorCtr="0">
            <a:spAutoFit/>
          </a:bodyPr>
          <a:lstStyle/>
          <a:p>
            <a:pPr marL="0" indent="0">
              <a:spcBef>
                <a:spcPts val="600"/>
              </a:spcBef>
              <a:buNone/>
            </a:pPr>
            <a:r>
              <a:rPr lang="en-US" sz="2000" noProof="0" dirty="0"/>
              <a:t>Find</a:t>
            </a:r>
          </a:p>
        </p:txBody>
      </p:sp>
      <p:graphicFrame>
        <p:nvGraphicFramePr>
          <p:cNvPr id="15" name="Object 14" descr="v subscript o baseline (t).">
            <a:extLst>
              <a:ext uri="{FF2B5EF4-FFF2-40B4-BE49-F238E27FC236}">
                <a16:creationId xmlns:a16="http://schemas.microsoft.com/office/drawing/2014/main" id="{BF6AFBB4-4F06-4BC1-8CD9-0FC8522A90D8}"/>
              </a:ext>
            </a:extLst>
          </p:cNvPr>
          <p:cNvGraphicFramePr>
            <a:graphicFrameLocks noChangeAspect="1"/>
          </p:cNvGraphicFramePr>
          <p:nvPr>
            <p:extLst>
              <p:ext uri="{D42A27DB-BD31-4B8C-83A1-F6EECF244321}">
                <p14:modId xmlns:p14="http://schemas.microsoft.com/office/powerpoint/2010/main" val="576147606"/>
              </p:ext>
            </p:extLst>
          </p:nvPr>
        </p:nvGraphicFramePr>
        <p:xfrm>
          <a:off x="1071970" y="1462643"/>
          <a:ext cx="506369" cy="368727"/>
        </p:xfrm>
        <a:graphic>
          <a:graphicData uri="http://schemas.openxmlformats.org/presentationml/2006/ole">
            <mc:AlternateContent xmlns:mc="http://schemas.openxmlformats.org/markup-compatibility/2006">
              <mc:Choice xmlns:v="urn:schemas-microsoft-com:vml" Requires="v">
                <p:oleObj name="Equation" r:id="rId2" imgW="330120" imgH="228600" progId="Equation.DSMT4">
                  <p:embed/>
                </p:oleObj>
              </mc:Choice>
              <mc:Fallback>
                <p:oleObj name="Equation" r:id="rId2" imgW="330120" imgH="228600" progId="Equation.DSMT4">
                  <p:embed/>
                  <p:pic>
                    <p:nvPicPr>
                      <p:cNvPr id="14" name="Object 13" descr="S subscript 0 colon">
                        <a:extLst>
                          <a:ext uri="{FF2B5EF4-FFF2-40B4-BE49-F238E27FC236}">
                            <a16:creationId xmlns:a16="http://schemas.microsoft.com/office/drawing/2014/main" id="{93E4EDE5-C387-40A7-97CA-34C0EBFA364C}"/>
                          </a:ext>
                        </a:extLst>
                      </p:cNvPr>
                      <p:cNvPicPr>
                        <a:picLocks noChangeAspect="1" noChangeArrowheads="1"/>
                      </p:cNvPicPr>
                      <p:nvPr/>
                    </p:nvPicPr>
                    <p:blipFill>
                      <a:blip r:embed="rId3"/>
                      <a:srcRect/>
                      <a:stretch>
                        <a:fillRect/>
                      </a:stretch>
                    </p:blipFill>
                    <p:spPr bwMode="auto">
                      <a:xfrm>
                        <a:off x="1071970" y="1462643"/>
                        <a:ext cx="506369" cy="36872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2" name="Content Placeholder 51">
            <a:extLst>
              <a:ext uri="{FF2B5EF4-FFF2-40B4-BE49-F238E27FC236}">
                <a16:creationId xmlns:a16="http://schemas.microsoft.com/office/drawing/2014/main" id="{40C92C00-0071-1F2D-D669-E336A6667B72}"/>
              </a:ext>
            </a:extLst>
          </p:cNvPr>
          <p:cNvSpPr>
            <a:spLocks noGrp="1"/>
          </p:cNvSpPr>
          <p:nvPr>
            <p:ph sz="quarter" idx="13"/>
          </p:nvPr>
        </p:nvSpPr>
        <p:spPr>
          <a:xfrm>
            <a:off x="1721904" y="1456618"/>
            <a:ext cx="356715" cy="344128"/>
          </a:xfrm>
        </p:spPr>
        <p:txBody>
          <a:bodyPr wrap="square" lIns="0" tIns="18000" rIns="0" bIns="18000" anchor="ctr" anchorCtr="0">
            <a:spAutoFit/>
          </a:bodyPr>
          <a:lstStyle/>
          <a:p>
            <a:pPr marL="0" indent="0">
              <a:spcBef>
                <a:spcPts val="600"/>
              </a:spcBef>
              <a:buNone/>
            </a:pPr>
            <a:r>
              <a:rPr lang="en-US" sz="2000" noProof="0" dirty="0"/>
              <a:t>for</a:t>
            </a:r>
          </a:p>
        </p:txBody>
      </p:sp>
      <p:graphicFrame>
        <p:nvGraphicFramePr>
          <p:cNvPr id="16" name="Object 15" descr="t greater than or equal to 0 superscript plus.">
            <a:extLst>
              <a:ext uri="{FF2B5EF4-FFF2-40B4-BE49-F238E27FC236}">
                <a16:creationId xmlns:a16="http://schemas.microsoft.com/office/drawing/2014/main" id="{9F788B6F-0F50-46E0-ABBB-B99CB9BE5723}"/>
              </a:ext>
            </a:extLst>
          </p:cNvPr>
          <p:cNvGraphicFramePr>
            <a:graphicFrameLocks noChangeAspect="1"/>
          </p:cNvGraphicFramePr>
          <p:nvPr>
            <p:extLst>
              <p:ext uri="{D42A27DB-BD31-4B8C-83A1-F6EECF244321}">
                <p14:modId xmlns:p14="http://schemas.microsoft.com/office/powerpoint/2010/main" val="1639592530"/>
              </p:ext>
            </p:extLst>
          </p:nvPr>
        </p:nvGraphicFramePr>
        <p:xfrm>
          <a:off x="2155825" y="1457325"/>
          <a:ext cx="622300" cy="368300"/>
        </p:xfrm>
        <a:graphic>
          <a:graphicData uri="http://schemas.openxmlformats.org/presentationml/2006/ole">
            <mc:AlternateContent xmlns:mc="http://schemas.openxmlformats.org/markup-compatibility/2006">
              <mc:Choice xmlns:v="urn:schemas-microsoft-com:vml" Requires="v">
                <p:oleObj name="Equation" r:id="rId4" imgW="406080" imgH="228600" progId="Equation.DSMT4">
                  <p:embed/>
                </p:oleObj>
              </mc:Choice>
              <mc:Fallback>
                <p:oleObj name="Equation" r:id="rId4" imgW="406080" imgH="228600" progId="Equation.DSMT4">
                  <p:embed/>
                  <p:pic>
                    <p:nvPicPr>
                      <p:cNvPr id="15" name="Object 14" descr="S subscript 0 colon">
                        <a:extLst>
                          <a:ext uri="{FF2B5EF4-FFF2-40B4-BE49-F238E27FC236}">
                            <a16:creationId xmlns:a16="http://schemas.microsoft.com/office/drawing/2014/main" id="{BF6AFBB4-4F06-4BC1-8CD9-0FC8522A90D8}"/>
                          </a:ext>
                        </a:extLst>
                      </p:cNvPr>
                      <p:cNvPicPr>
                        <a:picLocks noChangeAspect="1" noChangeArrowheads="1"/>
                      </p:cNvPicPr>
                      <p:nvPr/>
                    </p:nvPicPr>
                    <p:blipFill>
                      <a:blip r:embed="rId5"/>
                      <a:srcRect/>
                      <a:stretch>
                        <a:fillRect/>
                      </a:stretch>
                    </p:blipFill>
                    <p:spPr bwMode="auto">
                      <a:xfrm>
                        <a:off x="2155825" y="1457325"/>
                        <a:ext cx="622300" cy="368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3" name="Content Placeholder 52">
            <a:extLst>
              <a:ext uri="{FF2B5EF4-FFF2-40B4-BE49-F238E27FC236}">
                <a16:creationId xmlns:a16="http://schemas.microsoft.com/office/drawing/2014/main" id="{6B7552A2-CA52-928E-E04E-1C1AA0F01CDD}"/>
              </a:ext>
            </a:extLst>
          </p:cNvPr>
          <p:cNvSpPr>
            <a:spLocks noGrp="1"/>
          </p:cNvSpPr>
          <p:nvPr>
            <p:ph sz="quarter" idx="14"/>
          </p:nvPr>
        </p:nvSpPr>
        <p:spPr>
          <a:xfrm>
            <a:off x="2878281" y="1474413"/>
            <a:ext cx="1363649" cy="344128"/>
          </a:xfrm>
        </p:spPr>
        <p:txBody>
          <a:bodyPr wrap="square" lIns="0" tIns="18000" rIns="0" bIns="18000" anchor="ctr" anchorCtr="0">
            <a:spAutoFit/>
          </a:bodyPr>
          <a:lstStyle/>
          <a:p>
            <a:pPr marL="0" indent="0">
              <a:spcBef>
                <a:spcPts val="600"/>
              </a:spcBef>
              <a:buNone/>
            </a:pPr>
            <a:r>
              <a:rPr lang="en-US" sz="2000" noProof="0" dirty="0"/>
              <a:t>(continued)</a:t>
            </a:r>
          </a:p>
        </p:txBody>
      </p:sp>
      <p:pic>
        <p:nvPicPr>
          <p:cNvPr id="72" name="Picture 71" descr="A circuit diagram shows a current source with 6.4 ampere capacity. A switch connects the current source of 6.4 ampere capacity with the top wire of the circuit via node a when time t is less than zero. The same switch connects the current source with 6.4 ampere capacity to the bottom wire in the circuit via node b after time t equals zero. From left to right, a resistance of 10 ohms, an inductor of 0.32 Henry, and a resistance of 4 ohms are connected in parallel to the 6.4 ampere current source, that is between the top and bottom wires in the circuit. A 6 ohm resistance is connected in the top wire between the top nodes of the 10 ohm resistance and the 0.32 Henry inductor. Voltage v subscript 0 develops across the 10 ohm resistance with positive polarity at the top node and negative at the bottom. ">
            <a:extLst>
              <a:ext uri="{FF2B5EF4-FFF2-40B4-BE49-F238E27FC236}">
                <a16:creationId xmlns:a16="http://schemas.microsoft.com/office/drawing/2014/main" id="{E2FA5D1F-968F-C033-BBB5-C105C0D9E984}"/>
              </a:ext>
            </a:extLst>
          </p:cNvPr>
          <p:cNvPicPr>
            <a:picLocks noChangeAspect="1"/>
          </p:cNvPicPr>
          <p:nvPr/>
        </p:nvPicPr>
        <p:blipFill>
          <a:blip r:embed="rId6"/>
          <a:srcRect/>
          <a:stretch/>
        </p:blipFill>
        <p:spPr>
          <a:xfrm>
            <a:off x="4936684" y="1755199"/>
            <a:ext cx="3591426" cy="1292267"/>
          </a:xfrm>
          <a:prstGeom prst="rect">
            <a:avLst/>
          </a:prstGeom>
        </p:spPr>
      </p:pic>
      <p:sp>
        <p:nvSpPr>
          <p:cNvPr id="54" name="Content Placeholder 53">
            <a:extLst>
              <a:ext uri="{FF2B5EF4-FFF2-40B4-BE49-F238E27FC236}">
                <a16:creationId xmlns:a16="http://schemas.microsoft.com/office/drawing/2014/main" id="{633602EE-ED08-067C-8061-A11E552A71F3}"/>
              </a:ext>
            </a:extLst>
          </p:cNvPr>
          <p:cNvSpPr>
            <a:spLocks noGrp="1"/>
          </p:cNvSpPr>
          <p:nvPr>
            <p:ph sz="quarter" idx="15"/>
          </p:nvPr>
        </p:nvSpPr>
        <p:spPr>
          <a:xfrm>
            <a:off x="427056" y="3431546"/>
            <a:ext cx="4151165" cy="344128"/>
          </a:xfrm>
        </p:spPr>
        <p:txBody>
          <a:bodyPr wrap="square" lIns="0" tIns="18000" rIns="0" bIns="18000" anchor="ctr" anchorCtr="0">
            <a:spAutoFit/>
          </a:bodyPr>
          <a:lstStyle/>
          <a:p>
            <a:pPr marL="0" indent="0">
              <a:spcBef>
                <a:spcPts val="600"/>
              </a:spcBef>
              <a:buNone/>
            </a:pPr>
            <a:r>
              <a:rPr lang="en-US" altLang="en-US" sz="2000" noProof="0" dirty="0"/>
              <a:t>Step 2 – Calculate the time constant,</a:t>
            </a:r>
            <a:endParaRPr lang="en-US" sz="2000" noProof="0" dirty="0"/>
          </a:p>
        </p:txBody>
      </p:sp>
      <p:graphicFrame>
        <p:nvGraphicFramePr>
          <p:cNvPr id="17" name="Object 16" descr="Tau equals L divided by R,">
            <a:extLst>
              <a:ext uri="{FF2B5EF4-FFF2-40B4-BE49-F238E27FC236}">
                <a16:creationId xmlns:a16="http://schemas.microsoft.com/office/drawing/2014/main" id="{C233D81E-22DB-40FD-AABE-192DE0ECF10C}"/>
              </a:ext>
            </a:extLst>
          </p:cNvPr>
          <p:cNvGraphicFramePr>
            <a:graphicFrameLocks noChangeAspect="1"/>
          </p:cNvGraphicFramePr>
          <p:nvPr>
            <p:extLst>
              <p:ext uri="{D42A27DB-BD31-4B8C-83A1-F6EECF244321}">
                <p14:modId xmlns:p14="http://schemas.microsoft.com/office/powerpoint/2010/main" val="1002170455"/>
              </p:ext>
            </p:extLst>
          </p:nvPr>
        </p:nvGraphicFramePr>
        <p:xfrm>
          <a:off x="4698838" y="3459163"/>
          <a:ext cx="895350" cy="327025"/>
        </p:xfrm>
        <a:graphic>
          <a:graphicData uri="http://schemas.openxmlformats.org/presentationml/2006/ole">
            <mc:AlternateContent xmlns:mc="http://schemas.openxmlformats.org/markup-compatibility/2006">
              <mc:Choice xmlns:v="urn:schemas-microsoft-com:vml" Requires="v">
                <p:oleObj name="Equation" r:id="rId7" imgW="583920" imgH="203040" progId="Equation.DSMT4">
                  <p:embed/>
                </p:oleObj>
              </mc:Choice>
              <mc:Fallback>
                <p:oleObj name="Equation" r:id="rId7" imgW="583920" imgH="203040" progId="Equation.DSMT4">
                  <p:embed/>
                  <p:pic>
                    <p:nvPicPr>
                      <p:cNvPr id="16" name="Object 15" descr="S subscript 0 colon">
                        <a:extLst>
                          <a:ext uri="{FF2B5EF4-FFF2-40B4-BE49-F238E27FC236}">
                            <a16:creationId xmlns:a16="http://schemas.microsoft.com/office/drawing/2014/main" id="{9F788B6F-0F50-46E0-ABBB-B99CB9BE5723}"/>
                          </a:ext>
                        </a:extLst>
                      </p:cNvPr>
                      <p:cNvPicPr>
                        <a:picLocks noChangeAspect="1" noChangeArrowheads="1"/>
                      </p:cNvPicPr>
                      <p:nvPr/>
                    </p:nvPicPr>
                    <p:blipFill>
                      <a:blip r:embed="rId8"/>
                      <a:srcRect/>
                      <a:stretch>
                        <a:fillRect/>
                      </a:stretch>
                    </p:blipFill>
                    <p:spPr bwMode="auto">
                      <a:xfrm>
                        <a:off x="4698838" y="3459163"/>
                        <a:ext cx="895350" cy="3270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5" name="Content Placeholder 54">
            <a:extLst>
              <a:ext uri="{FF2B5EF4-FFF2-40B4-BE49-F238E27FC236}">
                <a16:creationId xmlns:a16="http://schemas.microsoft.com/office/drawing/2014/main" id="{35C96EAE-C54E-997F-4AAA-740F205C640E}"/>
              </a:ext>
            </a:extLst>
          </p:cNvPr>
          <p:cNvSpPr>
            <a:spLocks noGrp="1"/>
          </p:cNvSpPr>
          <p:nvPr>
            <p:ph sz="quarter" idx="16"/>
          </p:nvPr>
        </p:nvSpPr>
        <p:spPr>
          <a:xfrm>
            <a:off x="5715055" y="3419308"/>
            <a:ext cx="2925708" cy="344128"/>
          </a:xfrm>
        </p:spPr>
        <p:txBody>
          <a:bodyPr wrap="square" lIns="0" tIns="18000" rIns="0" bIns="18000" anchor="ctr" anchorCtr="0">
            <a:spAutoFit/>
          </a:bodyPr>
          <a:lstStyle/>
          <a:p>
            <a:pPr marL="0" indent="0">
              <a:spcBef>
                <a:spcPts val="600"/>
              </a:spcBef>
              <a:buNone/>
            </a:pPr>
            <a:r>
              <a:rPr lang="en-US" sz="2000" noProof="0" dirty="0"/>
              <a:t>where </a:t>
            </a:r>
            <a:r>
              <a:rPr lang="en-US" sz="2000" i="1" noProof="0" dirty="0"/>
              <a:t>R</a:t>
            </a:r>
            <a:r>
              <a:rPr lang="en-US" sz="2000" noProof="0" dirty="0"/>
              <a:t> is the equivalent </a:t>
            </a:r>
          </a:p>
        </p:txBody>
      </p:sp>
      <p:sp>
        <p:nvSpPr>
          <p:cNvPr id="56" name="Content Placeholder 55">
            <a:extLst>
              <a:ext uri="{FF2B5EF4-FFF2-40B4-BE49-F238E27FC236}">
                <a16:creationId xmlns:a16="http://schemas.microsoft.com/office/drawing/2014/main" id="{95757810-B551-2129-B898-670699999327}"/>
              </a:ext>
            </a:extLst>
          </p:cNvPr>
          <p:cNvSpPr>
            <a:spLocks noGrp="1"/>
          </p:cNvSpPr>
          <p:nvPr>
            <p:ph sz="quarter" idx="17"/>
          </p:nvPr>
        </p:nvSpPr>
        <p:spPr>
          <a:xfrm>
            <a:off x="427057" y="3894802"/>
            <a:ext cx="4509627" cy="344128"/>
          </a:xfrm>
        </p:spPr>
        <p:txBody>
          <a:bodyPr wrap="square" lIns="0" tIns="18000" rIns="0" bIns="18000" anchor="ctr" anchorCtr="0">
            <a:spAutoFit/>
          </a:bodyPr>
          <a:lstStyle/>
          <a:p>
            <a:pPr marL="0" indent="0">
              <a:spcBef>
                <a:spcPts val="600"/>
              </a:spcBef>
              <a:buNone/>
            </a:pPr>
            <a:r>
              <a:rPr lang="en-US" sz="2000" noProof="0" dirty="0"/>
              <a:t>resistance connected to the inductor for </a:t>
            </a:r>
          </a:p>
        </p:txBody>
      </p:sp>
      <p:graphicFrame>
        <p:nvGraphicFramePr>
          <p:cNvPr id="18" name="Object 17" descr="t is greater than or equal to 0.">
            <a:extLst>
              <a:ext uri="{FF2B5EF4-FFF2-40B4-BE49-F238E27FC236}">
                <a16:creationId xmlns:a16="http://schemas.microsoft.com/office/drawing/2014/main" id="{D6CDFA5E-B7A7-4D1F-934F-4D1CD8F86D4D}"/>
              </a:ext>
            </a:extLst>
          </p:cNvPr>
          <p:cNvGraphicFramePr>
            <a:graphicFrameLocks noChangeAspect="1"/>
          </p:cNvGraphicFramePr>
          <p:nvPr>
            <p:extLst>
              <p:ext uri="{D42A27DB-BD31-4B8C-83A1-F6EECF244321}">
                <p14:modId xmlns:p14="http://schemas.microsoft.com/office/powerpoint/2010/main" val="3705995115"/>
              </p:ext>
            </p:extLst>
          </p:nvPr>
        </p:nvGraphicFramePr>
        <p:xfrm>
          <a:off x="4997562" y="3926873"/>
          <a:ext cx="603250" cy="327025"/>
        </p:xfrm>
        <a:graphic>
          <a:graphicData uri="http://schemas.openxmlformats.org/presentationml/2006/ole">
            <mc:AlternateContent xmlns:mc="http://schemas.openxmlformats.org/markup-compatibility/2006">
              <mc:Choice xmlns:v="urn:schemas-microsoft-com:vml" Requires="v">
                <p:oleObj name="Equation" r:id="rId9" imgW="393480" imgH="203040" progId="Equation.DSMT4">
                  <p:embed/>
                </p:oleObj>
              </mc:Choice>
              <mc:Fallback>
                <p:oleObj name="Equation" r:id="rId9" imgW="393480" imgH="203040" progId="Equation.DSMT4">
                  <p:embed/>
                  <p:pic>
                    <p:nvPicPr>
                      <p:cNvPr id="17" name="Object 16" descr="S subscript 0 colon">
                        <a:extLst>
                          <a:ext uri="{FF2B5EF4-FFF2-40B4-BE49-F238E27FC236}">
                            <a16:creationId xmlns:a16="http://schemas.microsoft.com/office/drawing/2014/main" id="{C233D81E-22DB-40FD-AABE-192DE0ECF10C}"/>
                          </a:ext>
                        </a:extLst>
                      </p:cNvPr>
                      <p:cNvPicPr>
                        <a:picLocks noChangeAspect="1" noChangeArrowheads="1"/>
                      </p:cNvPicPr>
                      <p:nvPr/>
                    </p:nvPicPr>
                    <p:blipFill>
                      <a:blip r:embed="rId10"/>
                      <a:srcRect/>
                      <a:stretch>
                        <a:fillRect/>
                      </a:stretch>
                    </p:blipFill>
                    <p:spPr bwMode="auto">
                      <a:xfrm>
                        <a:off x="4997562" y="3926873"/>
                        <a:ext cx="603250" cy="3270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7" name="Content Placeholder 56">
            <a:extLst>
              <a:ext uri="{FF2B5EF4-FFF2-40B4-BE49-F238E27FC236}">
                <a16:creationId xmlns:a16="http://schemas.microsoft.com/office/drawing/2014/main" id="{3F0E5CF3-5663-AE47-98B6-5B900EA15E9C}"/>
              </a:ext>
            </a:extLst>
          </p:cNvPr>
          <p:cNvSpPr>
            <a:spLocks noGrp="1"/>
          </p:cNvSpPr>
          <p:nvPr>
            <p:ph sz="quarter" idx="18"/>
          </p:nvPr>
        </p:nvSpPr>
        <p:spPr>
          <a:xfrm>
            <a:off x="428236" y="4410070"/>
            <a:ext cx="456020" cy="344128"/>
          </a:xfrm>
        </p:spPr>
        <p:txBody>
          <a:bodyPr wrap="square" lIns="0" tIns="18000" rIns="0" bIns="18000" anchor="ctr" anchorCtr="0">
            <a:spAutoFit/>
          </a:bodyPr>
          <a:lstStyle/>
          <a:p>
            <a:pPr marL="0" indent="0">
              <a:spcBef>
                <a:spcPts val="600"/>
              </a:spcBef>
              <a:buNone/>
            </a:pPr>
            <a:r>
              <a:rPr lang="en-US" sz="2000" noProof="0" dirty="0"/>
              <a:t>For</a:t>
            </a:r>
          </a:p>
        </p:txBody>
      </p:sp>
      <p:graphicFrame>
        <p:nvGraphicFramePr>
          <p:cNvPr id="19" name="Object 18" descr="t is greater than or equal to 0">
            <a:extLst>
              <a:ext uri="{FF2B5EF4-FFF2-40B4-BE49-F238E27FC236}">
                <a16:creationId xmlns:a16="http://schemas.microsoft.com/office/drawing/2014/main" id="{3C11898B-5F93-42F4-8865-2BF91F9A6BB1}"/>
              </a:ext>
            </a:extLst>
          </p:cNvPr>
          <p:cNvGraphicFramePr>
            <a:graphicFrameLocks noChangeAspect="1"/>
          </p:cNvGraphicFramePr>
          <p:nvPr>
            <p:extLst>
              <p:ext uri="{D42A27DB-BD31-4B8C-83A1-F6EECF244321}">
                <p14:modId xmlns:p14="http://schemas.microsoft.com/office/powerpoint/2010/main" val="1442724960"/>
              </p:ext>
            </p:extLst>
          </p:nvPr>
        </p:nvGraphicFramePr>
        <p:xfrm>
          <a:off x="911885" y="4447793"/>
          <a:ext cx="546100" cy="327025"/>
        </p:xfrm>
        <a:graphic>
          <a:graphicData uri="http://schemas.openxmlformats.org/presentationml/2006/ole">
            <mc:AlternateContent xmlns:mc="http://schemas.openxmlformats.org/markup-compatibility/2006">
              <mc:Choice xmlns:v="urn:schemas-microsoft-com:vml" Requires="v">
                <p:oleObj name="Equation" r:id="rId11" imgW="355320" imgH="203040" progId="Equation.DSMT4">
                  <p:embed/>
                </p:oleObj>
              </mc:Choice>
              <mc:Fallback>
                <p:oleObj name="Equation" r:id="rId11" imgW="355320" imgH="203040" progId="Equation.DSMT4">
                  <p:embed/>
                  <p:pic>
                    <p:nvPicPr>
                      <p:cNvPr id="18" name="Object 17" descr="S subscript 0 colon">
                        <a:extLst>
                          <a:ext uri="{FF2B5EF4-FFF2-40B4-BE49-F238E27FC236}">
                            <a16:creationId xmlns:a16="http://schemas.microsoft.com/office/drawing/2014/main" id="{D6CDFA5E-B7A7-4D1F-934F-4D1CD8F86D4D}"/>
                          </a:ext>
                        </a:extLst>
                      </p:cNvPr>
                      <p:cNvPicPr>
                        <a:picLocks noChangeAspect="1" noChangeArrowheads="1"/>
                      </p:cNvPicPr>
                      <p:nvPr/>
                    </p:nvPicPr>
                    <p:blipFill>
                      <a:blip r:embed="rId12"/>
                      <a:srcRect/>
                      <a:stretch>
                        <a:fillRect/>
                      </a:stretch>
                    </p:blipFill>
                    <p:spPr bwMode="auto">
                      <a:xfrm>
                        <a:off x="911885" y="4447793"/>
                        <a:ext cx="546100" cy="3270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70" name="Picture 69" descr="A circuit diagram shows a current source with 6.4 ampere capacity. A switch connects the current source of 6.4 ampere capacity with the bottom wire in the circuit via node b after time t equals zero. From left to right, a resistance of 10 ohms, an inductor of 0.32 Henry, and a resistance of 4 ohms are connected in parallel to the 6.4 ampere current source, that is between the top and bottom wires in the circuit. A 6 ohm resistance is connected in the top wire between the top nodes of the 10 ohm resistance and the 0.32 Henry inductor. Voltage v subscript 0 develops across the 10 ohm resistance with positive polarity at the top node and negative at the bottom. Current i with t in parenthesis flows through the 0.32 Henry inductor. Current i with t in parenthesis changes with time t.">
            <a:extLst>
              <a:ext uri="{FF2B5EF4-FFF2-40B4-BE49-F238E27FC236}">
                <a16:creationId xmlns:a16="http://schemas.microsoft.com/office/drawing/2014/main" id="{E51A0AD2-B95C-7EFA-48C5-1C54C9AE111D}"/>
              </a:ext>
            </a:extLst>
          </p:cNvPr>
          <p:cNvPicPr>
            <a:picLocks noChangeAspect="1"/>
          </p:cNvPicPr>
          <p:nvPr/>
        </p:nvPicPr>
        <p:blipFill>
          <a:blip r:embed="rId13"/>
          <a:stretch>
            <a:fillRect/>
          </a:stretch>
        </p:blipFill>
        <p:spPr>
          <a:xfrm>
            <a:off x="549293" y="4980629"/>
            <a:ext cx="3934374" cy="1208272"/>
          </a:xfrm>
          <a:prstGeom prst="rect">
            <a:avLst/>
          </a:prstGeom>
        </p:spPr>
      </p:pic>
      <p:sp>
        <p:nvSpPr>
          <p:cNvPr id="58" name="Content Placeholder 57">
            <a:extLst>
              <a:ext uri="{FF2B5EF4-FFF2-40B4-BE49-F238E27FC236}">
                <a16:creationId xmlns:a16="http://schemas.microsoft.com/office/drawing/2014/main" id="{21EEA91A-27EC-EE28-641C-3E0C3310C41F}"/>
              </a:ext>
            </a:extLst>
          </p:cNvPr>
          <p:cNvSpPr>
            <a:spLocks noGrp="1"/>
          </p:cNvSpPr>
          <p:nvPr>
            <p:ph sz="quarter" idx="19"/>
          </p:nvPr>
        </p:nvSpPr>
        <p:spPr>
          <a:xfrm>
            <a:off x="4578221" y="4424829"/>
            <a:ext cx="1370403" cy="344128"/>
          </a:xfrm>
        </p:spPr>
        <p:txBody>
          <a:bodyPr wrap="square" lIns="0" tIns="18000" rIns="0" bIns="18000" anchor="ctr" anchorCtr="0">
            <a:spAutoFit/>
          </a:bodyPr>
          <a:lstStyle/>
          <a:p>
            <a:pPr marL="0" indent="0">
              <a:spcBef>
                <a:spcPts val="600"/>
              </a:spcBef>
              <a:buNone/>
            </a:pPr>
            <a:r>
              <a:rPr lang="en-US" sz="2000" noProof="0" dirty="0"/>
              <a:t>Simplified:</a:t>
            </a:r>
          </a:p>
        </p:txBody>
      </p:sp>
      <p:pic>
        <p:nvPicPr>
          <p:cNvPr id="74" name="Picture 73" descr="A circuit diagram shows, from left to right, a 10 ohms resistor connected in parallel with a 4 ohms resistor as well as a 0.32 Henry inductor. A 6 ohm resistance is connected in the top wire between the top nodes of the 10 ohm resistance and the 4 ohms resistance. Voltage v subscript 0 exists across the 10 ohms resistance with positive polarity at the top wire and negative polarity at the bottom. Current i with t in parenthesis flows through the 0.32 Henry inductor. Current i with t in parenthesis changes with time t.">
            <a:extLst>
              <a:ext uri="{FF2B5EF4-FFF2-40B4-BE49-F238E27FC236}">
                <a16:creationId xmlns:a16="http://schemas.microsoft.com/office/drawing/2014/main" id="{FFF6100C-B05A-E27D-40AC-FA381174EF4A}"/>
              </a:ext>
            </a:extLst>
          </p:cNvPr>
          <p:cNvPicPr>
            <a:picLocks noChangeAspect="1"/>
          </p:cNvPicPr>
          <p:nvPr/>
        </p:nvPicPr>
        <p:blipFill>
          <a:blip r:embed="rId14"/>
          <a:stretch>
            <a:fillRect/>
          </a:stretch>
        </p:blipFill>
        <p:spPr>
          <a:xfrm>
            <a:off x="6072925" y="4830155"/>
            <a:ext cx="2505425" cy="1428836"/>
          </a:xfrm>
          <a:prstGeom prst="rect">
            <a:avLst/>
          </a:prstGeom>
        </p:spPr>
      </p:pic>
    </p:spTree>
    <p:extLst>
      <p:ext uri="{BB962C8B-B14F-4D97-AF65-F5344CB8AC3E}">
        <p14:creationId xmlns:p14="http://schemas.microsoft.com/office/powerpoint/2010/main" val="33011028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8919" y="212142"/>
            <a:ext cx="8211844" cy="1144347"/>
          </a:xfrm>
        </p:spPr>
        <p:txBody>
          <a:bodyPr wrap="square" lIns="0" tIns="18000" rIns="0" bIns="18000" anchor="ctr" anchorCtr="0">
            <a:spAutoFit/>
          </a:bodyPr>
          <a:lstStyle/>
          <a:p>
            <a:r>
              <a:rPr lang="en-US" noProof="0" dirty="0"/>
              <a:t>Chapter 7 – </a:t>
            </a:r>
            <a:r>
              <a:rPr lang="en-US" i="1" spc="-450" noProof="0" dirty="0"/>
              <a:t>R </a:t>
            </a:r>
            <a:r>
              <a:rPr lang="en-US" i="1" noProof="0" dirty="0"/>
              <a:t>L/</a:t>
            </a:r>
            <a:r>
              <a:rPr lang="en-US" i="1" spc="-450" noProof="0" dirty="0"/>
              <a:t>R </a:t>
            </a:r>
            <a:r>
              <a:rPr lang="en-US" i="1" noProof="0" dirty="0"/>
              <a:t>C</a:t>
            </a:r>
            <a:r>
              <a:rPr lang="en-US" noProof="0" dirty="0"/>
              <a:t> Natural Response Examples </a:t>
            </a:r>
            <a:r>
              <a:rPr lang="en-US" sz="2800" noProof="0" dirty="0"/>
              <a:t>(6 of 14)</a:t>
            </a:r>
          </a:p>
        </p:txBody>
      </p:sp>
      <p:sp>
        <p:nvSpPr>
          <p:cNvPr id="26" name="Content Placeholder 25">
            <a:extLst>
              <a:ext uri="{FF2B5EF4-FFF2-40B4-BE49-F238E27FC236}">
                <a16:creationId xmlns:a16="http://schemas.microsoft.com/office/drawing/2014/main" id="{DF3F5CB0-FA82-432A-93FB-D942ED7641D3}"/>
              </a:ext>
            </a:extLst>
          </p:cNvPr>
          <p:cNvSpPr>
            <a:spLocks noGrp="1"/>
          </p:cNvSpPr>
          <p:nvPr>
            <p:ph sz="quarter" idx="12"/>
          </p:nvPr>
        </p:nvSpPr>
        <p:spPr>
          <a:xfrm>
            <a:off x="428919" y="1702448"/>
            <a:ext cx="8211844" cy="775015"/>
          </a:xfrm>
        </p:spPr>
        <p:txBody>
          <a:bodyPr wrap="square" lIns="0" tIns="18000" rIns="0" bIns="18000" anchor="ctr" anchorCtr="0">
            <a:spAutoFit/>
          </a:bodyPr>
          <a:lstStyle/>
          <a:p>
            <a:pPr marL="0" indent="0">
              <a:spcBef>
                <a:spcPts val="600"/>
              </a:spcBef>
              <a:buNone/>
            </a:pPr>
            <a:r>
              <a:rPr lang="en-US" altLang="en-US" sz="2400" noProof="0" dirty="0"/>
              <a:t>The expression for the equivalent resistance seen by the inductor is</a:t>
            </a:r>
          </a:p>
        </p:txBody>
      </p:sp>
      <p:sp>
        <p:nvSpPr>
          <p:cNvPr id="29" name="Content Placeholder 28">
            <a:extLst>
              <a:ext uri="{FF2B5EF4-FFF2-40B4-BE49-F238E27FC236}">
                <a16:creationId xmlns:a16="http://schemas.microsoft.com/office/drawing/2014/main" id="{1C8CAA40-94A2-4F72-B3FD-9B9E53A7A2F0}"/>
              </a:ext>
            </a:extLst>
          </p:cNvPr>
          <p:cNvSpPr>
            <a:spLocks noGrp="1"/>
          </p:cNvSpPr>
          <p:nvPr>
            <p:ph sz="quarter" idx="15"/>
          </p:nvPr>
        </p:nvSpPr>
        <p:spPr>
          <a:xfrm>
            <a:off x="1397861" y="3176110"/>
            <a:ext cx="342901" cy="439296"/>
          </a:xfrm>
        </p:spPr>
        <p:txBody>
          <a:bodyPr wrap="square" lIns="0" tIns="18000" rIns="0" bIns="18000" anchor="ctr" anchorCtr="0">
            <a:spAutoFit/>
          </a:bodyPr>
          <a:lstStyle/>
          <a:p>
            <a:pPr marL="0" indent="0">
              <a:spcBef>
                <a:spcPts val="600"/>
              </a:spcBef>
              <a:buNone/>
              <a:defRPr/>
            </a:pPr>
            <a:r>
              <a:rPr lang="en-US" sz="2400" noProof="0" dirty="0">
                <a:solidFill>
                  <a:schemeClr val="tx2"/>
                </a:solidFill>
              </a:rPr>
              <a:t>A.</a:t>
            </a:r>
            <a:r>
              <a:rPr lang="en-US" sz="2400" noProof="0" dirty="0">
                <a:solidFill>
                  <a:schemeClr val="tx1"/>
                </a:solidFill>
              </a:rPr>
              <a:t> </a:t>
            </a:r>
            <a:endParaRPr lang="en-US" sz="2400" noProof="0" dirty="0">
              <a:sym typeface="Symbol"/>
            </a:endParaRPr>
          </a:p>
        </p:txBody>
      </p:sp>
      <p:graphicFrame>
        <p:nvGraphicFramePr>
          <p:cNvPr id="11" name="Object 10" descr="4 parallel to OpenParenthesis 10 plus 6 CloseParenthesis.">
            <a:extLst>
              <a:ext uri="{FF2B5EF4-FFF2-40B4-BE49-F238E27FC236}">
                <a16:creationId xmlns:a16="http://schemas.microsoft.com/office/drawing/2014/main" id="{AA8EE55F-C4AF-4E1C-BD1A-195F1D52863D}"/>
              </a:ext>
            </a:extLst>
          </p:cNvPr>
          <p:cNvGraphicFramePr>
            <a:graphicFrameLocks noChangeAspect="1"/>
          </p:cNvGraphicFramePr>
          <p:nvPr>
            <p:extLst>
              <p:ext uri="{D42A27DB-BD31-4B8C-83A1-F6EECF244321}">
                <p14:modId xmlns:p14="http://schemas.microsoft.com/office/powerpoint/2010/main" val="3610170545"/>
              </p:ext>
            </p:extLst>
          </p:nvPr>
        </p:nvGraphicFramePr>
        <p:xfrm>
          <a:off x="1740524" y="3204767"/>
          <a:ext cx="1669185" cy="445231"/>
        </p:xfrm>
        <a:graphic>
          <a:graphicData uri="http://schemas.openxmlformats.org/presentationml/2006/ole">
            <mc:AlternateContent xmlns:mc="http://schemas.openxmlformats.org/markup-compatibility/2006">
              <mc:Choice xmlns:v="urn:schemas-microsoft-com:vml" Requires="v">
                <p:oleObj name="Equation" r:id="rId2" imgW="799920" imgH="203040" progId="Equation.DSMT4">
                  <p:embed/>
                </p:oleObj>
              </mc:Choice>
              <mc:Fallback>
                <p:oleObj name="Equation" r:id="rId2" imgW="799920" imgH="203040" progId="Equation.DSMT4">
                  <p:embed/>
                  <p:pic>
                    <p:nvPicPr>
                      <p:cNvPr id="26" name="Object 25" descr="S subscript 0 colon">
                        <a:extLst>
                          <a:ext uri="{FF2B5EF4-FFF2-40B4-BE49-F238E27FC236}">
                            <a16:creationId xmlns:a16="http://schemas.microsoft.com/office/drawing/2014/main" id="{55F3D1C3-1F30-4F9E-895D-86AD5329D948}"/>
                          </a:ext>
                        </a:extLst>
                      </p:cNvPr>
                      <p:cNvPicPr>
                        <a:picLocks noChangeAspect="1" noChangeArrowheads="1"/>
                      </p:cNvPicPr>
                      <p:nvPr/>
                    </p:nvPicPr>
                    <p:blipFill>
                      <a:blip r:embed="rId3"/>
                      <a:srcRect/>
                      <a:stretch>
                        <a:fillRect/>
                      </a:stretch>
                    </p:blipFill>
                    <p:spPr bwMode="auto">
                      <a:xfrm>
                        <a:off x="1740524" y="3204767"/>
                        <a:ext cx="1669185" cy="44523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0" name="Content Placeholder 29">
            <a:extLst>
              <a:ext uri="{FF2B5EF4-FFF2-40B4-BE49-F238E27FC236}">
                <a16:creationId xmlns:a16="http://schemas.microsoft.com/office/drawing/2014/main" id="{CE4863BA-7E97-492E-BC54-CCB67E7D5205}"/>
              </a:ext>
            </a:extLst>
          </p:cNvPr>
          <p:cNvSpPr>
            <a:spLocks noGrp="1"/>
          </p:cNvSpPr>
          <p:nvPr>
            <p:ph sz="quarter" idx="16"/>
          </p:nvPr>
        </p:nvSpPr>
        <p:spPr>
          <a:xfrm>
            <a:off x="1397861" y="3710979"/>
            <a:ext cx="420430" cy="439296"/>
          </a:xfrm>
        </p:spPr>
        <p:txBody>
          <a:bodyPr wrap="square" lIns="0" tIns="18000" rIns="0" bIns="18000" anchor="ctr" anchorCtr="0">
            <a:spAutoFit/>
          </a:bodyPr>
          <a:lstStyle/>
          <a:p>
            <a:pPr marL="0" indent="0">
              <a:spcBef>
                <a:spcPts val="600"/>
              </a:spcBef>
              <a:buNone/>
            </a:pPr>
            <a:r>
              <a:rPr lang="en-US" sz="2400" noProof="0" dirty="0">
                <a:solidFill>
                  <a:schemeClr val="tx2"/>
                </a:solidFill>
              </a:rPr>
              <a:t>B.</a:t>
            </a:r>
            <a:r>
              <a:rPr lang="en-US" sz="2400" noProof="0" dirty="0">
                <a:solidFill>
                  <a:schemeClr val="tx1"/>
                </a:solidFill>
              </a:rPr>
              <a:t> </a:t>
            </a:r>
            <a:endParaRPr lang="en-US" sz="2400" noProof="0" dirty="0"/>
          </a:p>
        </p:txBody>
      </p:sp>
      <p:graphicFrame>
        <p:nvGraphicFramePr>
          <p:cNvPr id="12" name="Object 11" descr="10 parallel to OpenParenthesis 6 plus 4 CloseParenthesis.">
            <a:extLst>
              <a:ext uri="{FF2B5EF4-FFF2-40B4-BE49-F238E27FC236}">
                <a16:creationId xmlns:a16="http://schemas.microsoft.com/office/drawing/2014/main" id="{AF61272D-FC3B-454E-8FD5-752C60252324}"/>
              </a:ext>
            </a:extLst>
          </p:cNvPr>
          <p:cNvGraphicFramePr>
            <a:graphicFrameLocks noChangeAspect="1"/>
          </p:cNvGraphicFramePr>
          <p:nvPr>
            <p:extLst>
              <p:ext uri="{D42A27DB-BD31-4B8C-83A1-F6EECF244321}">
                <p14:modId xmlns:p14="http://schemas.microsoft.com/office/powerpoint/2010/main" val="1693621014"/>
              </p:ext>
            </p:extLst>
          </p:nvPr>
        </p:nvGraphicFramePr>
        <p:xfrm>
          <a:off x="1734174" y="3723815"/>
          <a:ext cx="1669185" cy="446949"/>
        </p:xfrm>
        <a:graphic>
          <a:graphicData uri="http://schemas.openxmlformats.org/presentationml/2006/ole">
            <mc:AlternateContent xmlns:mc="http://schemas.openxmlformats.org/markup-compatibility/2006">
              <mc:Choice xmlns:v="urn:schemas-microsoft-com:vml" Requires="v">
                <p:oleObj name="Equation" r:id="rId4" imgW="799920" imgH="203040" progId="Equation.DSMT4">
                  <p:embed/>
                </p:oleObj>
              </mc:Choice>
              <mc:Fallback>
                <p:oleObj name="Equation" r:id="rId4" imgW="799920" imgH="203040" progId="Equation.DSMT4">
                  <p:embed/>
                  <p:pic>
                    <p:nvPicPr>
                      <p:cNvPr id="11" name="Object 10" descr="S subscript 0 colon">
                        <a:extLst>
                          <a:ext uri="{FF2B5EF4-FFF2-40B4-BE49-F238E27FC236}">
                            <a16:creationId xmlns:a16="http://schemas.microsoft.com/office/drawing/2014/main" id="{AA8EE55F-C4AF-4E1C-BD1A-195F1D52863D}"/>
                          </a:ext>
                        </a:extLst>
                      </p:cNvPr>
                      <p:cNvPicPr>
                        <a:picLocks noChangeAspect="1" noChangeArrowheads="1"/>
                      </p:cNvPicPr>
                      <p:nvPr/>
                    </p:nvPicPr>
                    <p:blipFill>
                      <a:blip r:embed="rId5"/>
                      <a:srcRect/>
                      <a:stretch>
                        <a:fillRect/>
                      </a:stretch>
                    </p:blipFill>
                    <p:spPr bwMode="auto">
                      <a:xfrm>
                        <a:off x="1734174" y="3723815"/>
                        <a:ext cx="1669185" cy="44694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1" name="Content Placeholder 30">
            <a:extLst>
              <a:ext uri="{FF2B5EF4-FFF2-40B4-BE49-F238E27FC236}">
                <a16:creationId xmlns:a16="http://schemas.microsoft.com/office/drawing/2014/main" id="{66BDB886-9ABA-4095-88AF-6BB1667EC4D4}"/>
              </a:ext>
            </a:extLst>
          </p:cNvPr>
          <p:cNvSpPr>
            <a:spLocks noGrp="1"/>
          </p:cNvSpPr>
          <p:nvPr>
            <p:ph sz="quarter" idx="17"/>
          </p:nvPr>
        </p:nvSpPr>
        <p:spPr>
          <a:xfrm>
            <a:off x="1397861" y="4247240"/>
            <a:ext cx="342901" cy="439296"/>
          </a:xfrm>
        </p:spPr>
        <p:txBody>
          <a:bodyPr wrap="square" lIns="0" tIns="18000" rIns="0" bIns="18000" anchor="ctr" anchorCtr="0">
            <a:spAutoFit/>
          </a:bodyPr>
          <a:lstStyle/>
          <a:p>
            <a:pPr marL="0" indent="0">
              <a:spcBef>
                <a:spcPts val="600"/>
              </a:spcBef>
              <a:buNone/>
            </a:pPr>
            <a:r>
              <a:rPr lang="en-US" sz="2400" noProof="0" dirty="0">
                <a:solidFill>
                  <a:schemeClr val="tx2"/>
                </a:solidFill>
              </a:rPr>
              <a:t>C.</a:t>
            </a:r>
            <a:r>
              <a:rPr lang="en-US" sz="2400" noProof="0" dirty="0">
                <a:solidFill>
                  <a:schemeClr val="tx1"/>
                </a:solidFill>
              </a:rPr>
              <a:t> </a:t>
            </a:r>
            <a:endParaRPr lang="en-US" sz="2400" noProof="0" dirty="0"/>
          </a:p>
        </p:txBody>
      </p:sp>
      <p:graphicFrame>
        <p:nvGraphicFramePr>
          <p:cNvPr id="13" name="Object 12" descr="10 plus 6 plus 4.">
            <a:extLst>
              <a:ext uri="{FF2B5EF4-FFF2-40B4-BE49-F238E27FC236}">
                <a16:creationId xmlns:a16="http://schemas.microsoft.com/office/drawing/2014/main" id="{0626C7D2-1A56-45A7-8A55-2B87C60A2AA2}"/>
              </a:ext>
            </a:extLst>
          </p:cNvPr>
          <p:cNvGraphicFramePr>
            <a:graphicFrameLocks noChangeAspect="1"/>
          </p:cNvGraphicFramePr>
          <p:nvPr>
            <p:extLst>
              <p:ext uri="{D42A27DB-BD31-4B8C-83A1-F6EECF244321}">
                <p14:modId xmlns:p14="http://schemas.microsoft.com/office/powerpoint/2010/main" val="277044087"/>
              </p:ext>
            </p:extLst>
          </p:nvPr>
        </p:nvGraphicFramePr>
        <p:xfrm>
          <a:off x="1773465" y="4275280"/>
          <a:ext cx="1535099" cy="446949"/>
        </p:xfrm>
        <a:graphic>
          <a:graphicData uri="http://schemas.openxmlformats.org/presentationml/2006/ole">
            <mc:AlternateContent xmlns:mc="http://schemas.openxmlformats.org/markup-compatibility/2006">
              <mc:Choice xmlns:v="urn:schemas-microsoft-com:vml" Requires="v">
                <p:oleObj name="Equation" r:id="rId6" imgW="736560" imgH="203040" progId="Equation.DSMT4">
                  <p:embed/>
                </p:oleObj>
              </mc:Choice>
              <mc:Fallback>
                <p:oleObj name="Equation" r:id="rId6" imgW="736560" imgH="203040" progId="Equation.DSMT4">
                  <p:embed/>
                  <p:pic>
                    <p:nvPicPr>
                      <p:cNvPr id="12" name="Object 11" descr="S subscript 0 colon">
                        <a:extLst>
                          <a:ext uri="{FF2B5EF4-FFF2-40B4-BE49-F238E27FC236}">
                            <a16:creationId xmlns:a16="http://schemas.microsoft.com/office/drawing/2014/main" id="{AF61272D-FC3B-454E-8FD5-752C60252324}"/>
                          </a:ext>
                        </a:extLst>
                      </p:cNvPr>
                      <p:cNvPicPr>
                        <a:picLocks noChangeAspect="1" noChangeArrowheads="1"/>
                      </p:cNvPicPr>
                      <p:nvPr/>
                    </p:nvPicPr>
                    <p:blipFill>
                      <a:blip r:embed="rId7"/>
                      <a:srcRect/>
                      <a:stretch>
                        <a:fillRect/>
                      </a:stretch>
                    </p:blipFill>
                    <p:spPr bwMode="auto">
                      <a:xfrm>
                        <a:off x="1773465" y="4275280"/>
                        <a:ext cx="1535099" cy="44694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4" name="Picture 3" descr="A circuit diagram shows, from left to right, a 10 ohms resistor connected in parallel with a 4 ohms resistor as well as a 0.32 Henry inductor. A 6 ohm resistance is connected in the top wire between the top nodes of the 10 ohm resistance and the 4 ohms resistance. Voltage v subscript 0 exists across the 10 ohms resistance with positive polarity at the top wire and negative polarity at the bottom. Current i with t in parenthesis flows through the 0.32 Henry inductor. Current i with t in parenthesis changes with time t.">
            <a:extLst>
              <a:ext uri="{FF2B5EF4-FFF2-40B4-BE49-F238E27FC236}">
                <a16:creationId xmlns:a16="http://schemas.microsoft.com/office/drawing/2014/main" id="{5C3BE569-6BAC-A351-7C93-A02C6456556A}"/>
              </a:ext>
            </a:extLst>
          </p:cNvPr>
          <p:cNvPicPr>
            <a:picLocks noChangeAspect="1"/>
          </p:cNvPicPr>
          <p:nvPr/>
        </p:nvPicPr>
        <p:blipFill>
          <a:blip r:embed="rId8"/>
          <a:stretch>
            <a:fillRect/>
          </a:stretch>
        </p:blipFill>
        <p:spPr>
          <a:xfrm>
            <a:off x="4932118" y="3027433"/>
            <a:ext cx="3273694" cy="1866977"/>
          </a:xfrm>
          <a:prstGeom prst="rect">
            <a:avLst/>
          </a:prstGeom>
        </p:spPr>
      </p:pic>
    </p:spTree>
    <p:extLst>
      <p:ext uri="{BB962C8B-B14F-4D97-AF65-F5344CB8AC3E}">
        <p14:creationId xmlns:p14="http://schemas.microsoft.com/office/powerpoint/2010/main" val="23620128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25BED3-53CC-BECF-7E3E-7DB1DE88B08B}"/>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D8AA979F-6202-445A-1710-3A1A73652972}"/>
              </a:ext>
            </a:extLst>
          </p:cNvPr>
          <p:cNvSpPr>
            <a:spLocks noGrp="1"/>
          </p:cNvSpPr>
          <p:nvPr>
            <p:ph type="title"/>
          </p:nvPr>
        </p:nvSpPr>
        <p:spPr>
          <a:xfrm>
            <a:off x="428919" y="212142"/>
            <a:ext cx="8211844" cy="1144347"/>
          </a:xfrm>
        </p:spPr>
        <p:txBody>
          <a:bodyPr wrap="square" lIns="0" tIns="18000" rIns="0" bIns="18000" anchor="ctr" anchorCtr="0">
            <a:spAutoFit/>
          </a:bodyPr>
          <a:lstStyle/>
          <a:p>
            <a:r>
              <a:rPr lang="en-US" noProof="0" dirty="0"/>
              <a:t>Chapter 7 – </a:t>
            </a:r>
            <a:r>
              <a:rPr lang="en-US" i="1" spc="-450" noProof="0" dirty="0"/>
              <a:t>R </a:t>
            </a:r>
            <a:r>
              <a:rPr lang="en-US" i="1" noProof="0" dirty="0"/>
              <a:t>L/</a:t>
            </a:r>
            <a:r>
              <a:rPr lang="en-US" i="1" spc="-450" noProof="0" dirty="0"/>
              <a:t>R </a:t>
            </a:r>
            <a:r>
              <a:rPr lang="en-US" i="1" noProof="0" dirty="0"/>
              <a:t>C</a:t>
            </a:r>
            <a:r>
              <a:rPr lang="en-US" noProof="0" dirty="0"/>
              <a:t> Natural Response Examples </a:t>
            </a:r>
            <a:r>
              <a:rPr lang="en-US" sz="2800" noProof="0" dirty="0"/>
              <a:t>(6 of 14)</a:t>
            </a:r>
          </a:p>
        </p:txBody>
      </p:sp>
      <p:sp>
        <p:nvSpPr>
          <p:cNvPr id="26" name="Content Placeholder 25">
            <a:extLst>
              <a:ext uri="{FF2B5EF4-FFF2-40B4-BE49-F238E27FC236}">
                <a16:creationId xmlns:a16="http://schemas.microsoft.com/office/drawing/2014/main" id="{CE0C8BA7-0D4B-1E73-148E-0F3DAE4DD0BD}"/>
              </a:ext>
            </a:extLst>
          </p:cNvPr>
          <p:cNvSpPr>
            <a:spLocks noGrp="1"/>
          </p:cNvSpPr>
          <p:nvPr>
            <p:ph sz="quarter" idx="12"/>
          </p:nvPr>
        </p:nvSpPr>
        <p:spPr>
          <a:xfrm>
            <a:off x="428919" y="1702448"/>
            <a:ext cx="8211844" cy="775015"/>
          </a:xfrm>
        </p:spPr>
        <p:txBody>
          <a:bodyPr wrap="square" lIns="0" tIns="18000" rIns="0" bIns="18000" anchor="ctr" anchorCtr="0">
            <a:spAutoFit/>
          </a:bodyPr>
          <a:lstStyle/>
          <a:p>
            <a:pPr marL="0" indent="0">
              <a:spcBef>
                <a:spcPts val="600"/>
              </a:spcBef>
              <a:buNone/>
            </a:pPr>
            <a:r>
              <a:rPr lang="en-US" altLang="en-US" sz="2400" noProof="0" dirty="0"/>
              <a:t>The expression for the equivalent resistance seen by the inductor is</a:t>
            </a:r>
          </a:p>
        </p:txBody>
      </p:sp>
      <p:pic>
        <p:nvPicPr>
          <p:cNvPr id="48" name="Picture 1435" descr="Check mark">
            <a:extLst>
              <a:ext uri="{FF2B5EF4-FFF2-40B4-BE49-F238E27FC236}">
                <a16:creationId xmlns:a16="http://schemas.microsoft.com/office/drawing/2014/main" id="{D4C4918E-464D-26AC-764F-14A588001390}"/>
              </a:ext>
            </a:extLst>
          </p:cNvPr>
          <p:cNvPicPr>
            <a:picLocks noChangeAspect="1"/>
          </p:cNvPicPr>
          <p:nvPr>
            <p:custDataLst>
              <p:tags r:id="rId1"/>
            </p:custDataLst>
          </p:nvPr>
        </p:nvPicPr>
        <p:blipFill>
          <a:blip r:embed="rId5">
            <a:extLst>
              <a:ext uri="{28A0092B-C50C-407E-A947-70E740481C1C}">
                <a14:useLocalDpi xmlns:a14="http://schemas.microsoft.com/office/drawing/2010/main" val="0"/>
              </a:ext>
            </a:extLst>
          </a:blip>
          <a:srcRect/>
          <a:stretch>
            <a:fillRect/>
          </a:stretch>
        </p:blipFill>
        <p:spPr bwMode="auto">
          <a:xfrm>
            <a:off x="858137" y="3228185"/>
            <a:ext cx="3429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 name="Content Placeholder 28">
            <a:extLst>
              <a:ext uri="{FF2B5EF4-FFF2-40B4-BE49-F238E27FC236}">
                <a16:creationId xmlns:a16="http://schemas.microsoft.com/office/drawing/2014/main" id="{AD7D767E-6620-B99B-D357-32CC72771544}"/>
              </a:ext>
            </a:extLst>
          </p:cNvPr>
          <p:cNvSpPr>
            <a:spLocks noGrp="1"/>
          </p:cNvSpPr>
          <p:nvPr>
            <p:ph sz="quarter" idx="15"/>
          </p:nvPr>
        </p:nvSpPr>
        <p:spPr>
          <a:xfrm>
            <a:off x="1397861" y="3176110"/>
            <a:ext cx="342901" cy="439296"/>
          </a:xfrm>
        </p:spPr>
        <p:txBody>
          <a:bodyPr wrap="square" lIns="0" tIns="18000" rIns="0" bIns="18000" anchor="ctr" anchorCtr="0">
            <a:spAutoFit/>
          </a:bodyPr>
          <a:lstStyle/>
          <a:p>
            <a:pPr marL="0" indent="0">
              <a:spcBef>
                <a:spcPts val="600"/>
              </a:spcBef>
              <a:buNone/>
              <a:defRPr/>
            </a:pPr>
            <a:r>
              <a:rPr lang="en-US" sz="2400" noProof="0" dirty="0">
                <a:solidFill>
                  <a:schemeClr val="tx2"/>
                </a:solidFill>
              </a:rPr>
              <a:t>A.</a:t>
            </a:r>
            <a:r>
              <a:rPr lang="en-US" sz="2400" noProof="0" dirty="0">
                <a:solidFill>
                  <a:schemeClr val="tx1"/>
                </a:solidFill>
              </a:rPr>
              <a:t> </a:t>
            </a:r>
            <a:endParaRPr lang="en-US" sz="2400" noProof="0" dirty="0">
              <a:sym typeface="Symbol"/>
            </a:endParaRPr>
          </a:p>
        </p:txBody>
      </p:sp>
      <p:graphicFrame>
        <p:nvGraphicFramePr>
          <p:cNvPr id="11" name="Object 10" descr="4 parallel to OpenParenthesis 10 plus 6 CloseParenthesis.">
            <a:extLst>
              <a:ext uri="{FF2B5EF4-FFF2-40B4-BE49-F238E27FC236}">
                <a16:creationId xmlns:a16="http://schemas.microsoft.com/office/drawing/2014/main" id="{D7D08147-4C97-C6C8-F88C-9792E1A60728}"/>
              </a:ext>
            </a:extLst>
          </p:cNvPr>
          <p:cNvGraphicFramePr>
            <a:graphicFrameLocks noChangeAspect="1"/>
          </p:cNvGraphicFramePr>
          <p:nvPr/>
        </p:nvGraphicFramePr>
        <p:xfrm>
          <a:off x="1740524" y="3204767"/>
          <a:ext cx="1669185" cy="445231"/>
        </p:xfrm>
        <a:graphic>
          <a:graphicData uri="http://schemas.openxmlformats.org/presentationml/2006/ole">
            <mc:AlternateContent xmlns:mc="http://schemas.openxmlformats.org/markup-compatibility/2006">
              <mc:Choice xmlns:v="urn:schemas-microsoft-com:vml" Requires="v">
                <p:oleObj name="Equation" r:id="rId6" imgW="799920" imgH="203040" progId="Equation.DSMT4">
                  <p:embed/>
                </p:oleObj>
              </mc:Choice>
              <mc:Fallback>
                <p:oleObj name="Equation" r:id="rId6" imgW="799920" imgH="203040" progId="Equation.DSMT4">
                  <p:embed/>
                  <p:pic>
                    <p:nvPicPr>
                      <p:cNvPr id="11" name="Object 10" descr="4 parallel to OpenParenthesis 10 plus 6 CloseParenthesis.">
                        <a:extLst>
                          <a:ext uri="{FF2B5EF4-FFF2-40B4-BE49-F238E27FC236}">
                            <a16:creationId xmlns:a16="http://schemas.microsoft.com/office/drawing/2014/main" id="{AA8EE55F-C4AF-4E1C-BD1A-195F1D52863D}"/>
                          </a:ext>
                        </a:extLst>
                      </p:cNvPr>
                      <p:cNvPicPr>
                        <a:picLocks noChangeAspect="1" noChangeArrowheads="1"/>
                      </p:cNvPicPr>
                      <p:nvPr/>
                    </p:nvPicPr>
                    <p:blipFill>
                      <a:blip r:embed="rId7"/>
                      <a:srcRect/>
                      <a:stretch>
                        <a:fillRect/>
                      </a:stretch>
                    </p:blipFill>
                    <p:spPr bwMode="auto">
                      <a:xfrm>
                        <a:off x="1740524" y="3204767"/>
                        <a:ext cx="1669185" cy="44523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45" name="Picture 1436" descr="Cross mark">
            <a:extLst>
              <a:ext uri="{FF2B5EF4-FFF2-40B4-BE49-F238E27FC236}">
                <a16:creationId xmlns:a16="http://schemas.microsoft.com/office/drawing/2014/main" id="{C3621955-65A1-3D08-E790-09920D84000C}"/>
              </a:ext>
            </a:extLst>
          </p:cNvPr>
          <p:cNvPicPr>
            <a:picLocks noChangeAspect="1"/>
          </p:cNvPicPr>
          <p:nvPr>
            <p:custDataLst>
              <p:tags r:id="rId2"/>
            </p:custDataLst>
          </p:nvPr>
        </p:nvPicPr>
        <p:blipFill>
          <a:blip r:embed="rId8">
            <a:extLst>
              <a:ext uri="{28A0092B-C50C-407E-A947-70E740481C1C}">
                <a14:useLocalDpi xmlns:a14="http://schemas.microsoft.com/office/drawing/2010/main" val="0"/>
              </a:ext>
            </a:extLst>
          </a:blip>
          <a:srcRect/>
          <a:stretch>
            <a:fillRect/>
          </a:stretch>
        </p:blipFill>
        <p:spPr bwMode="auto">
          <a:xfrm>
            <a:off x="889076" y="3794043"/>
            <a:ext cx="281023" cy="2810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 name="Content Placeholder 29">
            <a:extLst>
              <a:ext uri="{FF2B5EF4-FFF2-40B4-BE49-F238E27FC236}">
                <a16:creationId xmlns:a16="http://schemas.microsoft.com/office/drawing/2014/main" id="{A3F24E16-1927-8F9E-3802-0446FDE90DE1}"/>
              </a:ext>
            </a:extLst>
          </p:cNvPr>
          <p:cNvSpPr>
            <a:spLocks noGrp="1"/>
          </p:cNvSpPr>
          <p:nvPr>
            <p:ph sz="quarter" idx="16"/>
          </p:nvPr>
        </p:nvSpPr>
        <p:spPr>
          <a:xfrm>
            <a:off x="1397861" y="3710979"/>
            <a:ext cx="420430" cy="439296"/>
          </a:xfrm>
        </p:spPr>
        <p:txBody>
          <a:bodyPr wrap="square" lIns="0" tIns="18000" rIns="0" bIns="18000" anchor="ctr" anchorCtr="0">
            <a:spAutoFit/>
          </a:bodyPr>
          <a:lstStyle/>
          <a:p>
            <a:pPr marL="0" indent="0">
              <a:spcBef>
                <a:spcPts val="600"/>
              </a:spcBef>
              <a:buNone/>
            </a:pPr>
            <a:r>
              <a:rPr lang="en-US" sz="2400" noProof="0" dirty="0">
                <a:solidFill>
                  <a:schemeClr val="tx2"/>
                </a:solidFill>
              </a:rPr>
              <a:t>B.</a:t>
            </a:r>
            <a:r>
              <a:rPr lang="en-US" sz="2400" noProof="0" dirty="0">
                <a:solidFill>
                  <a:schemeClr val="tx1"/>
                </a:solidFill>
              </a:rPr>
              <a:t> </a:t>
            </a:r>
            <a:endParaRPr lang="en-US" sz="2400" noProof="0" dirty="0"/>
          </a:p>
        </p:txBody>
      </p:sp>
      <p:graphicFrame>
        <p:nvGraphicFramePr>
          <p:cNvPr id="12" name="Object 11" descr="10 parallel to OpenParenthesis 6 plus 4 CloseParenthesis.">
            <a:extLst>
              <a:ext uri="{FF2B5EF4-FFF2-40B4-BE49-F238E27FC236}">
                <a16:creationId xmlns:a16="http://schemas.microsoft.com/office/drawing/2014/main" id="{3849DB6E-46E2-D4A0-DCD0-2F7370E57396}"/>
              </a:ext>
            </a:extLst>
          </p:cNvPr>
          <p:cNvGraphicFramePr>
            <a:graphicFrameLocks noChangeAspect="1"/>
          </p:cNvGraphicFramePr>
          <p:nvPr/>
        </p:nvGraphicFramePr>
        <p:xfrm>
          <a:off x="1734174" y="3723815"/>
          <a:ext cx="1669185" cy="446949"/>
        </p:xfrm>
        <a:graphic>
          <a:graphicData uri="http://schemas.openxmlformats.org/presentationml/2006/ole">
            <mc:AlternateContent xmlns:mc="http://schemas.openxmlformats.org/markup-compatibility/2006">
              <mc:Choice xmlns:v="urn:schemas-microsoft-com:vml" Requires="v">
                <p:oleObj name="Equation" r:id="rId9" imgW="799920" imgH="203040" progId="Equation.DSMT4">
                  <p:embed/>
                </p:oleObj>
              </mc:Choice>
              <mc:Fallback>
                <p:oleObj name="Equation" r:id="rId9" imgW="799920" imgH="203040" progId="Equation.DSMT4">
                  <p:embed/>
                  <p:pic>
                    <p:nvPicPr>
                      <p:cNvPr id="12" name="Object 11" descr="10 parallel to OpenParenthesis 6 plus 4 CloseParenthesis.">
                        <a:extLst>
                          <a:ext uri="{FF2B5EF4-FFF2-40B4-BE49-F238E27FC236}">
                            <a16:creationId xmlns:a16="http://schemas.microsoft.com/office/drawing/2014/main" id="{AF61272D-FC3B-454E-8FD5-752C60252324}"/>
                          </a:ext>
                        </a:extLst>
                      </p:cNvPr>
                      <p:cNvPicPr>
                        <a:picLocks noChangeAspect="1" noChangeArrowheads="1"/>
                      </p:cNvPicPr>
                      <p:nvPr/>
                    </p:nvPicPr>
                    <p:blipFill>
                      <a:blip r:embed="rId10"/>
                      <a:srcRect/>
                      <a:stretch>
                        <a:fillRect/>
                      </a:stretch>
                    </p:blipFill>
                    <p:spPr bwMode="auto">
                      <a:xfrm>
                        <a:off x="1734174" y="3723815"/>
                        <a:ext cx="1669185" cy="44694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47" name="Picture 1436" descr="Cross mark">
            <a:extLst>
              <a:ext uri="{FF2B5EF4-FFF2-40B4-BE49-F238E27FC236}">
                <a16:creationId xmlns:a16="http://schemas.microsoft.com/office/drawing/2014/main" id="{BAB5628B-B752-C84A-5281-6499B3791C9E}"/>
              </a:ext>
            </a:extLst>
          </p:cNvPr>
          <p:cNvPicPr>
            <a:picLocks noChangeAspect="1"/>
          </p:cNvPicPr>
          <p:nvPr>
            <p:custDataLst>
              <p:tags r:id="rId3"/>
            </p:custDataLst>
          </p:nvPr>
        </p:nvPicPr>
        <p:blipFill>
          <a:blip r:embed="rId8">
            <a:extLst>
              <a:ext uri="{28A0092B-C50C-407E-A947-70E740481C1C}">
                <a14:useLocalDpi xmlns:a14="http://schemas.microsoft.com/office/drawing/2010/main" val="0"/>
              </a:ext>
            </a:extLst>
          </a:blip>
          <a:srcRect/>
          <a:stretch>
            <a:fillRect/>
          </a:stretch>
        </p:blipFill>
        <p:spPr bwMode="auto">
          <a:xfrm>
            <a:off x="881217" y="4314551"/>
            <a:ext cx="281023" cy="2810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 name="Content Placeholder 30">
            <a:extLst>
              <a:ext uri="{FF2B5EF4-FFF2-40B4-BE49-F238E27FC236}">
                <a16:creationId xmlns:a16="http://schemas.microsoft.com/office/drawing/2014/main" id="{7DC9D916-904F-F3DA-41B0-2B5C52D782E8}"/>
              </a:ext>
            </a:extLst>
          </p:cNvPr>
          <p:cNvSpPr>
            <a:spLocks noGrp="1"/>
          </p:cNvSpPr>
          <p:nvPr>
            <p:ph sz="quarter" idx="17"/>
          </p:nvPr>
        </p:nvSpPr>
        <p:spPr>
          <a:xfrm>
            <a:off x="1397861" y="4247240"/>
            <a:ext cx="342901" cy="439296"/>
          </a:xfrm>
        </p:spPr>
        <p:txBody>
          <a:bodyPr wrap="square" lIns="0" tIns="18000" rIns="0" bIns="18000" anchor="ctr" anchorCtr="0">
            <a:spAutoFit/>
          </a:bodyPr>
          <a:lstStyle/>
          <a:p>
            <a:pPr marL="0" indent="0">
              <a:spcBef>
                <a:spcPts val="600"/>
              </a:spcBef>
              <a:buNone/>
            </a:pPr>
            <a:r>
              <a:rPr lang="en-US" sz="2400" noProof="0" dirty="0">
                <a:solidFill>
                  <a:schemeClr val="tx2"/>
                </a:solidFill>
              </a:rPr>
              <a:t>C.</a:t>
            </a:r>
            <a:r>
              <a:rPr lang="en-US" sz="2400" noProof="0" dirty="0">
                <a:solidFill>
                  <a:schemeClr val="tx1"/>
                </a:solidFill>
              </a:rPr>
              <a:t> </a:t>
            </a:r>
            <a:endParaRPr lang="en-US" sz="2400" noProof="0" dirty="0"/>
          </a:p>
        </p:txBody>
      </p:sp>
      <p:graphicFrame>
        <p:nvGraphicFramePr>
          <p:cNvPr id="13" name="Object 12" descr="10 plus 6 plus 4.">
            <a:extLst>
              <a:ext uri="{FF2B5EF4-FFF2-40B4-BE49-F238E27FC236}">
                <a16:creationId xmlns:a16="http://schemas.microsoft.com/office/drawing/2014/main" id="{0E98724E-94D6-44EC-F15E-1E33A69C5AE7}"/>
              </a:ext>
            </a:extLst>
          </p:cNvPr>
          <p:cNvGraphicFramePr>
            <a:graphicFrameLocks noChangeAspect="1"/>
          </p:cNvGraphicFramePr>
          <p:nvPr/>
        </p:nvGraphicFramePr>
        <p:xfrm>
          <a:off x="1773465" y="4275280"/>
          <a:ext cx="1535099" cy="446949"/>
        </p:xfrm>
        <a:graphic>
          <a:graphicData uri="http://schemas.openxmlformats.org/presentationml/2006/ole">
            <mc:AlternateContent xmlns:mc="http://schemas.openxmlformats.org/markup-compatibility/2006">
              <mc:Choice xmlns:v="urn:schemas-microsoft-com:vml" Requires="v">
                <p:oleObj name="Equation" r:id="rId11" imgW="736560" imgH="203040" progId="Equation.DSMT4">
                  <p:embed/>
                </p:oleObj>
              </mc:Choice>
              <mc:Fallback>
                <p:oleObj name="Equation" r:id="rId11" imgW="736560" imgH="203040" progId="Equation.DSMT4">
                  <p:embed/>
                  <p:pic>
                    <p:nvPicPr>
                      <p:cNvPr id="13" name="Object 12" descr="10 plus 6 plus 4.">
                        <a:extLst>
                          <a:ext uri="{FF2B5EF4-FFF2-40B4-BE49-F238E27FC236}">
                            <a16:creationId xmlns:a16="http://schemas.microsoft.com/office/drawing/2014/main" id="{0626C7D2-1A56-45A7-8A55-2B87C60A2AA2}"/>
                          </a:ext>
                        </a:extLst>
                      </p:cNvPr>
                      <p:cNvPicPr>
                        <a:picLocks noChangeAspect="1" noChangeArrowheads="1"/>
                      </p:cNvPicPr>
                      <p:nvPr/>
                    </p:nvPicPr>
                    <p:blipFill>
                      <a:blip r:embed="rId12"/>
                      <a:srcRect/>
                      <a:stretch>
                        <a:fillRect/>
                      </a:stretch>
                    </p:blipFill>
                    <p:spPr bwMode="auto">
                      <a:xfrm>
                        <a:off x="1773465" y="4275280"/>
                        <a:ext cx="1535099" cy="44694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4" name="Picture 3" descr="A circuit diagram shows, from left to right, a 10 ohms resistor connected in parallel with a 4 ohms resistor as well as a 0.32 Henry inductor. A 6 ohm resistance is connected in the top wire between the top nodes of the 10 ohm resistance and the 4 ohms resistance. Voltage v subscript 0 exists across the 10 ohms resistance with positive polarity at the top wire and negative polarity at the bottom. Current i with t in parenthesis flows through the 0.32 Henry inductor. Current i with t in parenthesis changes with time t.">
            <a:extLst>
              <a:ext uri="{FF2B5EF4-FFF2-40B4-BE49-F238E27FC236}">
                <a16:creationId xmlns:a16="http://schemas.microsoft.com/office/drawing/2014/main" id="{C70825D4-8D0E-A24D-21C7-2BE0BECF413C}"/>
              </a:ext>
            </a:extLst>
          </p:cNvPr>
          <p:cNvPicPr>
            <a:picLocks noChangeAspect="1"/>
          </p:cNvPicPr>
          <p:nvPr/>
        </p:nvPicPr>
        <p:blipFill>
          <a:blip r:embed="rId13"/>
          <a:stretch>
            <a:fillRect/>
          </a:stretch>
        </p:blipFill>
        <p:spPr>
          <a:xfrm>
            <a:off x="4932118" y="3027433"/>
            <a:ext cx="3273694" cy="1866977"/>
          </a:xfrm>
          <a:prstGeom prst="rect">
            <a:avLst/>
          </a:prstGeom>
        </p:spPr>
      </p:pic>
    </p:spTree>
    <p:extLst>
      <p:ext uri="{BB962C8B-B14F-4D97-AF65-F5344CB8AC3E}">
        <p14:creationId xmlns:p14="http://schemas.microsoft.com/office/powerpoint/2010/main" val="6767593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Title 45">
            <a:extLst>
              <a:ext uri="{FF2B5EF4-FFF2-40B4-BE49-F238E27FC236}">
                <a16:creationId xmlns:a16="http://schemas.microsoft.com/office/drawing/2014/main" id="{4AEAEEE7-79BE-D443-2006-AAB1C2B5FFB1}"/>
              </a:ext>
            </a:extLst>
          </p:cNvPr>
          <p:cNvSpPr>
            <a:spLocks noGrp="1"/>
          </p:cNvSpPr>
          <p:nvPr>
            <p:ph type="title"/>
          </p:nvPr>
        </p:nvSpPr>
        <p:spPr>
          <a:xfrm>
            <a:off x="427056" y="212344"/>
            <a:ext cx="8213707" cy="1144347"/>
          </a:xfrm>
        </p:spPr>
        <p:txBody>
          <a:bodyPr wrap="square" tIns="18000" bIns="18000" anchor="ctr" anchorCtr="0">
            <a:spAutoFit/>
          </a:bodyPr>
          <a:lstStyle/>
          <a:p>
            <a:r>
              <a:rPr lang="en-US" noProof="0" dirty="0"/>
              <a:t>Chapter 7 – </a:t>
            </a:r>
            <a:r>
              <a:rPr lang="en-US" i="1" spc="-450" noProof="0" dirty="0"/>
              <a:t>R </a:t>
            </a:r>
            <a:r>
              <a:rPr lang="en-US" i="1" noProof="0" dirty="0"/>
              <a:t>L/</a:t>
            </a:r>
            <a:r>
              <a:rPr lang="en-US" i="1" spc="-450" noProof="0" dirty="0"/>
              <a:t>R </a:t>
            </a:r>
            <a:r>
              <a:rPr lang="en-US" i="1" noProof="0" dirty="0"/>
              <a:t>C</a:t>
            </a:r>
            <a:r>
              <a:rPr lang="en-US" noProof="0" dirty="0"/>
              <a:t> Natural Response Examples </a:t>
            </a:r>
            <a:r>
              <a:rPr lang="en-US" sz="2800" noProof="0" dirty="0"/>
              <a:t>(7 of 14)</a:t>
            </a:r>
            <a:endParaRPr lang="en-US" noProof="0" dirty="0"/>
          </a:p>
        </p:txBody>
      </p:sp>
      <p:sp>
        <p:nvSpPr>
          <p:cNvPr id="18" name="Content Placeholder 17">
            <a:extLst>
              <a:ext uri="{FF2B5EF4-FFF2-40B4-BE49-F238E27FC236}">
                <a16:creationId xmlns:a16="http://schemas.microsoft.com/office/drawing/2014/main" id="{A59FFBD1-190A-573F-328C-3D1386A3D9C1}"/>
              </a:ext>
            </a:extLst>
          </p:cNvPr>
          <p:cNvSpPr>
            <a:spLocks noGrp="1"/>
          </p:cNvSpPr>
          <p:nvPr>
            <p:ph sz="quarter" idx="12"/>
          </p:nvPr>
        </p:nvSpPr>
        <p:spPr>
          <a:xfrm>
            <a:off x="426785" y="1563140"/>
            <a:ext cx="584892" cy="344128"/>
          </a:xfrm>
        </p:spPr>
        <p:txBody>
          <a:bodyPr wrap="square" lIns="0" tIns="18000" rIns="0" bIns="18000" anchor="ctr" anchorCtr="0">
            <a:spAutoFit/>
          </a:bodyPr>
          <a:lstStyle/>
          <a:p>
            <a:pPr marL="0" indent="0">
              <a:spcBef>
                <a:spcPts val="600"/>
              </a:spcBef>
              <a:buNone/>
            </a:pPr>
            <a:r>
              <a:rPr lang="en-US" altLang="en-US" sz="2000" noProof="0" dirty="0"/>
              <a:t>Find</a:t>
            </a:r>
            <a:endParaRPr lang="en-US" sz="2000" noProof="0" dirty="0"/>
          </a:p>
        </p:txBody>
      </p:sp>
      <p:graphicFrame>
        <p:nvGraphicFramePr>
          <p:cNvPr id="15" name="Object 14" descr="v subscript o">
            <a:extLst>
              <a:ext uri="{FF2B5EF4-FFF2-40B4-BE49-F238E27FC236}">
                <a16:creationId xmlns:a16="http://schemas.microsoft.com/office/drawing/2014/main" id="{C9B91A6A-2C36-4C8E-BBD3-BD5B8925FE90}"/>
              </a:ext>
            </a:extLst>
          </p:cNvPr>
          <p:cNvGraphicFramePr>
            <a:graphicFrameLocks noChangeAspect="1"/>
          </p:cNvGraphicFramePr>
          <p:nvPr>
            <p:extLst>
              <p:ext uri="{D42A27DB-BD31-4B8C-83A1-F6EECF244321}">
                <p14:modId xmlns:p14="http://schemas.microsoft.com/office/powerpoint/2010/main" val="1388319191"/>
              </p:ext>
            </p:extLst>
          </p:nvPr>
        </p:nvGraphicFramePr>
        <p:xfrm>
          <a:off x="1059274" y="1539274"/>
          <a:ext cx="316637" cy="428228"/>
        </p:xfrm>
        <a:graphic>
          <a:graphicData uri="http://schemas.openxmlformats.org/presentationml/2006/ole">
            <mc:AlternateContent xmlns:mc="http://schemas.openxmlformats.org/markup-compatibility/2006">
              <mc:Choice xmlns:v="urn:schemas-microsoft-com:vml" Requires="v">
                <p:oleObj name="Equation" r:id="rId3" imgW="177480" imgH="228600" progId="Equation.DSMT4">
                  <p:embed/>
                </p:oleObj>
              </mc:Choice>
              <mc:Fallback>
                <p:oleObj name="Equation" r:id="rId3" imgW="177480" imgH="228600" progId="Equation.DSMT4">
                  <p:embed/>
                  <p:pic>
                    <p:nvPicPr>
                      <p:cNvPr id="12" name="Object 11" descr="S subscript 0 colon">
                        <a:extLst>
                          <a:ext uri="{FF2B5EF4-FFF2-40B4-BE49-F238E27FC236}">
                            <a16:creationId xmlns:a16="http://schemas.microsoft.com/office/drawing/2014/main" id="{29CB824E-BF4F-49BC-AC3B-AED225D3A519}"/>
                          </a:ext>
                        </a:extLst>
                      </p:cNvPr>
                      <p:cNvPicPr>
                        <a:picLocks noChangeAspect="1" noChangeArrowheads="1"/>
                      </p:cNvPicPr>
                      <p:nvPr/>
                    </p:nvPicPr>
                    <p:blipFill>
                      <a:blip r:embed="rId4"/>
                      <a:srcRect/>
                      <a:stretch>
                        <a:fillRect/>
                      </a:stretch>
                    </p:blipFill>
                    <p:spPr bwMode="auto">
                      <a:xfrm>
                        <a:off x="1059274" y="1539274"/>
                        <a:ext cx="316637" cy="42822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 name="Content Placeholder 18">
            <a:extLst>
              <a:ext uri="{FF2B5EF4-FFF2-40B4-BE49-F238E27FC236}">
                <a16:creationId xmlns:a16="http://schemas.microsoft.com/office/drawing/2014/main" id="{6D9CE9E4-5AAB-A42F-F49F-D24D045A1C66}"/>
              </a:ext>
            </a:extLst>
          </p:cNvPr>
          <p:cNvSpPr>
            <a:spLocks noGrp="1"/>
          </p:cNvSpPr>
          <p:nvPr>
            <p:ph sz="quarter" idx="13"/>
          </p:nvPr>
        </p:nvSpPr>
        <p:spPr>
          <a:xfrm>
            <a:off x="1455466" y="1560304"/>
            <a:ext cx="316637" cy="344128"/>
          </a:xfrm>
        </p:spPr>
        <p:txBody>
          <a:bodyPr wrap="square" lIns="0" tIns="18000" rIns="0" bIns="18000" anchor="ctr" anchorCtr="0">
            <a:spAutoFit/>
          </a:bodyPr>
          <a:lstStyle/>
          <a:p>
            <a:pPr marL="0" indent="0">
              <a:spcBef>
                <a:spcPts val="600"/>
              </a:spcBef>
              <a:buNone/>
            </a:pPr>
            <a:r>
              <a:rPr lang="en-US" altLang="en-US" sz="2000" noProof="0" dirty="0"/>
              <a:t>for</a:t>
            </a:r>
            <a:endParaRPr lang="en-US" sz="2000" noProof="0" dirty="0"/>
          </a:p>
        </p:txBody>
      </p:sp>
      <p:graphicFrame>
        <p:nvGraphicFramePr>
          <p:cNvPr id="14" name="Object 13" descr="t greater than or equal to 0 superscript plus.">
            <a:extLst>
              <a:ext uri="{FF2B5EF4-FFF2-40B4-BE49-F238E27FC236}">
                <a16:creationId xmlns:a16="http://schemas.microsoft.com/office/drawing/2014/main" id="{EFB4C44C-FB5E-43B6-A175-813556595FED}"/>
              </a:ext>
            </a:extLst>
          </p:cNvPr>
          <p:cNvGraphicFramePr>
            <a:graphicFrameLocks noChangeAspect="1"/>
          </p:cNvGraphicFramePr>
          <p:nvPr>
            <p:extLst>
              <p:ext uri="{D42A27DB-BD31-4B8C-83A1-F6EECF244321}">
                <p14:modId xmlns:p14="http://schemas.microsoft.com/office/powerpoint/2010/main" val="3990312922"/>
              </p:ext>
            </p:extLst>
          </p:nvPr>
        </p:nvGraphicFramePr>
        <p:xfrm>
          <a:off x="1849532" y="1542336"/>
          <a:ext cx="703694" cy="414887"/>
        </p:xfrm>
        <a:graphic>
          <a:graphicData uri="http://schemas.openxmlformats.org/presentationml/2006/ole">
            <mc:AlternateContent xmlns:mc="http://schemas.openxmlformats.org/markup-compatibility/2006">
              <mc:Choice xmlns:v="urn:schemas-microsoft-com:vml" Requires="v">
                <p:oleObj name="Equation" r:id="rId5" imgW="406080" imgH="228600" progId="Equation.DSMT4">
                  <p:embed/>
                </p:oleObj>
              </mc:Choice>
              <mc:Fallback>
                <p:oleObj name="Equation" r:id="rId5" imgW="406080" imgH="228600" progId="Equation.DSMT4">
                  <p:embed/>
                  <p:pic>
                    <p:nvPicPr>
                      <p:cNvPr id="14" name="Object 13" descr="S subscript 0 colon">
                        <a:extLst>
                          <a:ext uri="{FF2B5EF4-FFF2-40B4-BE49-F238E27FC236}">
                            <a16:creationId xmlns:a16="http://schemas.microsoft.com/office/drawing/2014/main" id="{17759DB7-A42B-4906-94C1-4818D623064E}"/>
                          </a:ext>
                        </a:extLst>
                      </p:cNvPr>
                      <p:cNvPicPr>
                        <a:picLocks noChangeAspect="1" noChangeArrowheads="1"/>
                      </p:cNvPicPr>
                      <p:nvPr/>
                    </p:nvPicPr>
                    <p:blipFill>
                      <a:blip r:embed="rId6"/>
                      <a:srcRect/>
                      <a:stretch>
                        <a:fillRect/>
                      </a:stretch>
                    </p:blipFill>
                    <p:spPr bwMode="auto">
                      <a:xfrm>
                        <a:off x="1849532" y="1542336"/>
                        <a:ext cx="703694" cy="4148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 name="Content Placeholder 19">
            <a:extLst>
              <a:ext uri="{FF2B5EF4-FFF2-40B4-BE49-F238E27FC236}">
                <a16:creationId xmlns:a16="http://schemas.microsoft.com/office/drawing/2014/main" id="{31D27CA1-C43E-A615-A3DA-03F5AA103029}"/>
              </a:ext>
            </a:extLst>
          </p:cNvPr>
          <p:cNvSpPr>
            <a:spLocks noGrp="1"/>
          </p:cNvSpPr>
          <p:nvPr>
            <p:ph sz="quarter" idx="14"/>
          </p:nvPr>
        </p:nvSpPr>
        <p:spPr>
          <a:xfrm>
            <a:off x="2644931" y="1576923"/>
            <a:ext cx="1275541" cy="344128"/>
          </a:xfrm>
        </p:spPr>
        <p:txBody>
          <a:bodyPr wrap="square" lIns="0" tIns="18000" rIns="0" bIns="18000" anchor="ctr" anchorCtr="0">
            <a:spAutoFit/>
          </a:bodyPr>
          <a:lstStyle/>
          <a:p>
            <a:pPr marL="0" indent="0">
              <a:spcBef>
                <a:spcPts val="600"/>
              </a:spcBef>
              <a:buNone/>
            </a:pPr>
            <a:r>
              <a:rPr lang="en-US" altLang="en-US" sz="2000" noProof="0" dirty="0"/>
              <a:t>(continued)</a:t>
            </a:r>
            <a:endParaRPr lang="en-US" sz="2000" noProof="0" dirty="0"/>
          </a:p>
        </p:txBody>
      </p:sp>
      <p:pic>
        <p:nvPicPr>
          <p:cNvPr id="41" name="Picture 40" descr="A circuit diagram shows a current source with 6.4 ampere capacity. A switch connects the current source of 6.4 ampere capacity with the top wire of the circuit via node a when time t is less than zero. The same switch connects the current source with 6.4 ampere capacity to the bottom wire in the circuit via node b after time t equals zero. From left to right, a resistance of 10 ohms, an inductor of 0.32 Henry, and a resistance of 4 ohms are connected in parallel to the 6.4 ampere current source, that is between the top and bottom wires in the circuit. A 6 ohm resistance is connected in the top wire between the top nodes of the 10 ohm resistance and the 0.32 Henry inductor. Voltage v subscript 0 develops across the 10 ohm resistance with positive polarity at the top node and negative at the bottom. ">
            <a:extLst>
              <a:ext uri="{FF2B5EF4-FFF2-40B4-BE49-F238E27FC236}">
                <a16:creationId xmlns:a16="http://schemas.microsoft.com/office/drawing/2014/main" id="{477CD59F-8129-0424-BA79-BE66F5B7CA66}"/>
              </a:ext>
            </a:extLst>
          </p:cNvPr>
          <p:cNvPicPr>
            <a:picLocks noChangeAspect="1"/>
          </p:cNvPicPr>
          <p:nvPr/>
        </p:nvPicPr>
        <p:blipFill>
          <a:blip r:embed="rId7"/>
          <a:srcRect/>
          <a:stretch/>
        </p:blipFill>
        <p:spPr>
          <a:xfrm>
            <a:off x="4839155" y="1772904"/>
            <a:ext cx="3624496" cy="1304166"/>
          </a:xfrm>
          <a:prstGeom prst="rect">
            <a:avLst/>
          </a:prstGeom>
        </p:spPr>
      </p:pic>
      <p:sp>
        <p:nvSpPr>
          <p:cNvPr id="21" name="Content Placeholder 20">
            <a:extLst>
              <a:ext uri="{FF2B5EF4-FFF2-40B4-BE49-F238E27FC236}">
                <a16:creationId xmlns:a16="http://schemas.microsoft.com/office/drawing/2014/main" id="{5BA6DD24-039A-8938-7DB5-EADFCEF22792}"/>
              </a:ext>
            </a:extLst>
          </p:cNvPr>
          <p:cNvSpPr>
            <a:spLocks noGrp="1"/>
          </p:cNvSpPr>
          <p:nvPr>
            <p:ph sz="quarter" idx="15"/>
          </p:nvPr>
        </p:nvSpPr>
        <p:spPr>
          <a:xfrm>
            <a:off x="426788" y="3242540"/>
            <a:ext cx="4145212" cy="344128"/>
          </a:xfrm>
        </p:spPr>
        <p:txBody>
          <a:bodyPr wrap="square" lIns="0" tIns="18000" rIns="0" bIns="18000" anchor="ctr" anchorCtr="0">
            <a:spAutoFit/>
          </a:bodyPr>
          <a:lstStyle/>
          <a:p>
            <a:pPr marL="0" indent="0">
              <a:spcBef>
                <a:spcPts val="600"/>
              </a:spcBef>
              <a:buNone/>
            </a:pPr>
            <a:r>
              <a:rPr lang="en-US" sz="2000" noProof="0" dirty="0"/>
              <a:t>Step 2 – Calculate the time constant,</a:t>
            </a:r>
          </a:p>
        </p:txBody>
      </p:sp>
      <p:graphicFrame>
        <p:nvGraphicFramePr>
          <p:cNvPr id="26" name="Object 25" descr="Tau equals L divided by R,">
            <a:extLst>
              <a:ext uri="{FF2B5EF4-FFF2-40B4-BE49-F238E27FC236}">
                <a16:creationId xmlns:a16="http://schemas.microsoft.com/office/drawing/2014/main" id="{55F3D1C3-1F30-4F9E-895D-86AD5329D948}"/>
              </a:ext>
            </a:extLst>
          </p:cNvPr>
          <p:cNvGraphicFramePr>
            <a:graphicFrameLocks noChangeAspect="1"/>
          </p:cNvGraphicFramePr>
          <p:nvPr>
            <p:extLst>
              <p:ext uri="{D42A27DB-BD31-4B8C-83A1-F6EECF244321}">
                <p14:modId xmlns:p14="http://schemas.microsoft.com/office/powerpoint/2010/main" val="1144782639"/>
              </p:ext>
            </p:extLst>
          </p:nvPr>
        </p:nvGraphicFramePr>
        <p:xfrm>
          <a:off x="4719309" y="3261165"/>
          <a:ext cx="1022350" cy="344488"/>
        </p:xfrm>
        <a:graphic>
          <a:graphicData uri="http://schemas.openxmlformats.org/presentationml/2006/ole">
            <mc:AlternateContent xmlns:mc="http://schemas.openxmlformats.org/markup-compatibility/2006">
              <mc:Choice xmlns:v="urn:schemas-microsoft-com:vml" Requires="v">
                <p:oleObj name="Equation" r:id="rId8" imgW="634680" imgH="203040" progId="Equation.DSMT4">
                  <p:embed/>
                </p:oleObj>
              </mc:Choice>
              <mc:Fallback>
                <p:oleObj name="Equation" r:id="rId8" imgW="634680" imgH="203040" progId="Equation.DSMT4">
                  <p:embed/>
                  <p:pic>
                    <p:nvPicPr>
                      <p:cNvPr id="17" name="Object 16" descr="S subscript 0 colon">
                        <a:extLst>
                          <a:ext uri="{FF2B5EF4-FFF2-40B4-BE49-F238E27FC236}">
                            <a16:creationId xmlns:a16="http://schemas.microsoft.com/office/drawing/2014/main" id="{741FD1A8-A73F-42BA-BF99-D648C717B32D}"/>
                          </a:ext>
                        </a:extLst>
                      </p:cNvPr>
                      <p:cNvPicPr>
                        <a:picLocks noChangeAspect="1" noChangeArrowheads="1"/>
                      </p:cNvPicPr>
                      <p:nvPr/>
                    </p:nvPicPr>
                    <p:blipFill>
                      <a:blip r:embed="rId9"/>
                      <a:srcRect/>
                      <a:stretch>
                        <a:fillRect/>
                      </a:stretch>
                    </p:blipFill>
                    <p:spPr bwMode="auto">
                      <a:xfrm>
                        <a:off x="4719309" y="3261165"/>
                        <a:ext cx="1022350" cy="3444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 name="Content Placeholder 21">
            <a:extLst>
              <a:ext uri="{FF2B5EF4-FFF2-40B4-BE49-F238E27FC236}">
                <a16:creationId xmlns:a16="http://schemas.microsoft.com/office/drawing/2014/main" id="{90E35C59-74A8-02C1-9F90-E888F7BF1C97}"/>
              </a:ext>
            </a:extLst>
          </p:cNvPr>
          <p:cNvSpPr>
            <a:spLocks noGrp="1"/>
          </p:cNvSpPr>
          <p:nvPr>
            <p:ph sz="quarter" idx="16"/>
          </p:nvPr>
        </p:nvSpPr>
        <p:spPr>
          <a:xfrm>
            <a:off x="5915898" y="3240890"/>
            <a:ext cx="1713272" cy="344128"/>
          </a:xfrm>
        </p:spPr>
        <p:txBody>
          <a:bodyPr wrap="square" lIns="0" tIns="18000" rIns="0" bIns="18000" anchor="ctr" anchorCtr="0">
            <a:spAutoFit/>
          </a:bodyPr>
          <a:lstStyle/>
          <a:p>
            <a:pPr marL="0" indent="0">
              <a:spcBef>
                <a:spcPts val="600"/>
              </a:spcBef>
              <a:buNone/>
            </a:pPr>
            <a:r>
              <a:rPr lang="en-US" altLang="en-US" sz="2000" noProof="0" dirty="0"/>
              <a:t>where </a:t>
            </a:r>
            <a:r>
              <a:rPr lang="en-US" altLang="en-US" sz="2000" i="1" noProof="0" dirty="0"/>
              <a:t>R</a:t>
            </a:r>
            <a:r>
              <a:rPr lang="en-US" altLang="en-US" sz="2000" noProof="0" dirty="0"/>
              <a:t> is the</a:t>
            </a:r>
            <a:endParaRPr lang="en-US" sz="2000" noProof="0" dirty="0"/>
          </a:p>
        </p:txBody>
      </p:sp>
      <p:sp>
        <p:nvSpPr>
          <p:cNvPr id="23" name="Content Placeholder 22">
            <a:extLst>
              <a:ext uri="{FF2B5EF4-FFF2-40B4-BE49-F238E27FC236}">
                <a16:creationId xmlns:a16="http://schemas.microsoft.com/office/drawing/2014/main" id="{DEF27CA0-788D-7B16-8C47-D3E606DC03DD}"/>
              </a:ext>
            </a:extLst>
          </p:cNvPr>
          <p:cNvSpPr>
            <a:spLocks noGrp="1"/>
          </p:cNvSpPr>
          <p:nvPr>
            <p:ph sz="quarter" idx="17"/>
          </p:nvPr>
        </p:nvSpPr>
        <p:spPr>
          <a:xfrm>
            <a:off x="426791" y="3698428"/>
            <a:ext cx="5711362" cy="344128"/>
          </a:xfrm>
        </p:spPr>
        <p:txBody>
          <a:bodyPr wrap="square" lIns="0" tIns="18000" rIns="0" bIns="18000" anchor="ctr" anchorCtr="0">
            <a:spAutoFit/>
          </a:bodyPr>
          <a:lstStyle/>
          <a:p>
            <a:pPr marL="0" indent="0">
              <a:spcBef>
                <a:spcPts val="600"/>
              </a:spcBef>
              <a:buNone/>
            </a:pPr>
            <a:r>
              <a:rPr lang="en-US" sz="2000" noProof="0" dirty="0"/>
              <a:t>equivalent resistance connected to the inductor for</a:t>
            </a:r>
          </a:p>
        </p:txBody>
      </p:sp>
      <p:graphicFrame>
        <p:nvGraphicFramePr>
          <p:cNvPr id="17" name="Object 16" descr="t is greater than or equal to 0.">
            <a:extLst>
              <a:ext uri="{FF2B5EF4-FFF2-40B4-BE49-F238E27FC236}">
                <a16:creationId xmlns:a16="http://schemas.microsoft.com/office/drawing/2014/main" id="{741FD1A8-A73F-42BA-BF99-D648C717B32D}"/>
              </a:ext>
            </a:extLst>
          </p:cNvPr>
          <p:cNvGraphicFramePr>
            <a:graphicFrameLocks noChangeAspect="1"/>
          </p:cNvGraphicFramePr>
          <p:nvPr>
            <p:extLst>
              <p:ext uri="{D42A27DB-BD31-4B8C-83A1-F6EECF244321}">
                <p14:modId xmlns:p14="http://schemas.microsoft.com/office/powerpoint/2010/main" val="1190681104"/>
              </p:ext>
            </p:extLst>
          </p:nvPr>
        </p:nvGraphicFramePr>
        <p:xfrm>
          <a:off x="6200775" y="3729478"/>
          <a:ext cx="633413" cy="344487"/>
        </p:xfrm>
        <a:graphic>
          <a:graphicData uri="http://schemas.openxmlformats.org/presentationml/2006/ole">
            <mc:AlternateContent xmlns:mc="http://schemas.openxmlformats.org/markup-compatibility/2006">
              <mc:Choice xmlns:v="urn:schemas-microsoft-com:vml" Requires="v">
                <p:oleObj name="Equation" r:id="rId10" imgW="393480" imgH="203040" progId="Equation.DSMT4">
                  <p:embed/>
                </p:oleObj>
              </mc:Choice>
              <mc:Fallback>
                <p:oleObj name="Equation" r:id="rId10" imgW="393480" imgH="203040" progId="Equation.DSMT4">
                  <p:embed/>
                  <p:pic>
                    <p:nvPicPr>
                      <p:cNvPr id="16" name="Object 15" descr="S subscript 0 colon">
                        <a:extLst>
                          <a:ext uri="{FF2B5EF4-FFF2-40B4-BE49-F238E27FC236}">
                            <a16:creationId xmlns:a16="http://schemas.microsoft.com/office/drawing/2014/main" id="{EBC12BE1-37A7-4C8C-9174-DAA43439C253}"/>
                          </a:ext>
                        </a:extLst>
                      </p:cNvPr>
                      <p:cNvPicPr>
                        <a:picLocks noChangeAspect="1" noChangeArrowheads="1"/>
                      </p:cNvPicPr>
                      <p:nvPr/>
                    </p:nvPicPr>
                    <p:blipFill>
                      <a:blip r:embed="rId11"/>
                      <a:srcRect/>
                      <a:stretch>
                        <a:fillRect/>
                      </a:stretch>
                    </p:blipFill>
                    <p:spPr bwMode="auto">
                      <a:xfrm>
                        <a:off x="6200775" y="3729478"/>
                        <a:ext cx="633413" cy="3444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4" name="Content Placeholder 23">
            <a:extLst>
              <a:ext uri="{FF2B5EF4-FFF2-40B4-BE49-F238E27FC236}">
                <a16:creationId xmlns:a16="http://schemas.microsoft.com/office/drawing/2014/main" id="{188F49BB-F78E-BE34-9967-48CE5430418F}"/>
              </a:ext>
            </a:extLst>
          </p:cNvPr>
          <p:cNvSpPr>
            <a:spLocks noGrp="1"/>
          </p:cNvSpPr>
          <p:nvPr>
            <p:ph sz="quarter" idx="18"/>
          </p:nvPr>
        </p:nvSpPr>
        <p:spPr>
          <a:xfrm>
            <a:off x="426787" y="4294749"/>
            <a:ext cx="448702" cy="344128"/>
          </a:xfrm>
        </p:spPr>
        <p:txBody>
          <a:bodyPr wrap="square" lIns="0" tIns="18000" rIns="0" bIns="18000" anchor="ctr" anchorCtr="0">
            <a:spAutoFit/>
          </a:bodyPr>
          <a:lstStyle/>
          <a:p>
            <a:pPr marL="0" indent="0">
              <a:spcBef>
                <a:spcPts val="600"/>
              </a:spcBef>
              <a:buNone/>
            </a:pPr>
            <a:r>
              <a:rPr lang="en-US" sz="2000" noProof="0" dirty="0"/>
              <a:t>For</a:t>
            </a:r>
          </a:p>
        </p:txBody>
      </p:sp>
      <p:graphicFrame>
        <p:nvGraphicFramePr>
          <p:cNvPr id="16" name="Object 15" descr="t is greater than or equal to 0.">
            <a:extLst>
              <a:ext uri="{FF2B5EF4-FFF2-40B4-BE49-F238E27FC236}">
                <a16:creationId xmlns:a16="http://schemas.microsoft.com/office/drawing/2014/main" id="{EBC12BE1-37A7-4C8C-9174-DAA43439C253}"/>
              </a:ext>
            </a:extLst>
          </p:cNvPr>
          <p:cNvGraphicFramePr>
            <a:graphicFrameLocks noChangeAspect="1"/>
          </p:cNvGraphicFramePr>
          <p:nvPr>
            <p:extLst>
              <p:ext uri="{D42A27DB-BD31-4B8C-83A1-F6EECF244321}">
                <p14:modId xmlns:p14="http://schemas.microsoft.com/office/powerpoint/2010/main" val="1580725085"/>
              </p:ext>
            </p:extLst>
          </p:nvPr>
        </p:nvGraphicFramePr>
        <p:xfrm>
          <a:off x="916428" y="4327363"/>
          <a:ext cx="550862" cy="331787"/>
        </p:xfrm>
        <a:graphic>
          <a:graphicData uri="http://schemas.openxmlformats.org/presentationml/2006/ole">
            <mc:AlternateContent xmlns:mc="http://schemas.openxmlformats.org/markup-compatibility/2006">
              <mc:Choice xmlns:v="urn:schemas-microsoft-com:vml" Requires="v">
                <p:oleObj name="Equation" r:id="rId12" imgW="355320" imgH="203040" progId="Equation.DSMT4">
                  <p:embed/>
                </p:oleObj>
              </mc:Choice>
              <mc:Fallback>
                <p:oleObj name="Equation" r:id="rId12" imgW="355320" imgH="203040" progId="Equation.DSMT4">
                  <p:embed/>
                  <p:pic>
                    <p:nvPicPr>
                      <p:cNvPr id="14" name="Object 13" descr="S subscript 0 colon">
                        <a:extLst>
                          <a:ext uri="{FF2B5EF4-FFF2-40B4-BE49-F238E27FC236}">
                            <a16:creationId xmlns:a16="http://schemas.microsoft.com/office/drawing/2014/main" id="{EFB4C44C-FB5E-43B6-A175-813556595FED}"/>
                          </a:ext>
                        </a:extLst>
                      </p:cNvPr>
                      <p:cNvPicPr>
                        <a:picLocks noChangeAspect="1" noChangeArrowheads="1"/>
                      </p:cNvPicPr>
                      <p:nvPr/>
                    </p:nvPicPr>
                    <p:blipFill>
                      <a:blip r:embed="rId13"/>
                      <a:srcRect/>
                      <a:stretch>
                        <a:fillRect/>
                      </a:stretch>
                    </p:blipFill>
                    <p:spPr bwMode="auto">
                      <a:xfrm>
                        <a:off x="916428" y="4327363"/>
                        <a:ext cx="550862" cy="3317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43" name="Picture 42" descr="A circuit diagram shows, from left to right, a 10 ohms resistor connected in parallel with a 4 ohms resistor as well as a 0.32 Henry inductor. A 6 ohm resistance is connected in the top wire between the top nodes of the 10 ohm resistance and the 4 ohms resistance. Voltage v subscript 0 exists across the 10 ohms resistance with positive polarity at the top wire and negative polarity at the bottom. Current i with t in parenthesis flows through the 0.32 Henry inductor. Current i with t in parenthesis changes with time t.">
            <a:extLst>
              <a:ext uri="{FF2B5EF4-FFF2-40B4-BE49-F238E27FC236}">
                <a16:creationId xmlns:a16="http://schemas.microsoft.com/office/drawing/2014/main" id="{916661B6-C4B8-8A63-91C8-ACDE38362BD8}"/>
              </a:ext>
            </a:extLst>
          </p:cNvPr>
          <p:cNvPicPr>
            <a:picLocks noChangeAspect="1"/>
          </p:cNvPicPr>
          <p:nvPr/>
        </p:nvPicPr>
        <p:blipFill>
          <a:blip r:embed="rId14"/>
          <a:stretch>
            <a:fillRect/>
          </a:stretch>
        </p:blipFill>
        <p:spPr>
          <a:xfrm>
            <a:off x="2283862" y="4207446"/>
            <a:ext cx="2160284" cy="1232003"/>
          </a:xfrm>
          <a:prstGeom prst="rect">
            <a:avLst/>
          </a:prstGeom>
        </p:spPr>
      </p:pic>
      <p:graphicFrame>
        <p:nvGraphicFramePr>
          <p:cNvPr id="44" name="Object 2" descr="R subscript e q baseline equals 4 parallel with OpenParenthesis 6 plus 10 CloseParenthesis equals 3.2 Ohms.">
            <a:extLst>
              <a:ext uri="{FF2B5EF4-FFF2-40B4-BE49-F238E27FC236}">
                <a16:creationId xmlns:a16="http://schemas.microsoft.com/office/drawing/2014/main" id="{70900312-9F0A-78CF-ECAF-27243A363675}"/>
              </a:ext>
            </a:extLst>
          </p:cNvPr>
          <p:cNvGraphicFramePr>
            <a:graphicFrameLocks noChangeAspect="1"/>
          </p:cNvGraphicFramePr>
          <p:nvPr>
            <p:extLst>
              <p:ext uri="{D42A27DB-BD31-4B8C-83A1-F6EECF244321}">
                <p14:modId xmlns:p14="http://schemas.microsoft.com/office/powerpoint/2010/main" val="2934613587"/>
              </p:ext>
            </p:extLst>
          </p:nvPr>
        </p:nvGraphicFramePr>
        <p:xfrm>
          <a:off x="5260830" y="4320404"/>
          <a:ext cx="2506301" cy="371931"/>
        </p:xfrm>
        <a:graphic>
          <a:graphicData uri="http://schemas.openxmlformats.org/presentationml/2006/ole">
            <mc:AlternateContent xmlns:mc="http://schemas.openxmlformats.org/markup-compatibility/2006">
              <mc:Choice xmlns:v="urn:schemas-microsoft-com:vml" Requires="v">
                <p:oleObj name="Equation" r:id="rId15" imgW="1625400" imgH="241200" progId="Equation.DSMT4">
                  <p:embed/>
                </p:oleObj>
              </mc:Choice>
              <mc:Fallback>
                <p:oleObj name="Equation" r:id="rId15" imgW="1625400" imgH="241200" progId="Equation.DSMT4">
                  <p:embed/>
                  <p:pic>
                    <p:nvPicPr>
                      <p:cNvPr id="15" name="Object 2"/>
                      <p:cNvPicPr>
                        <a:picLocks noChangeAspect="1" noChangeArrowheads="1"/>
                      </p:cNvPicPr>
                      <p:nvPr/>
                    </p:nvPicPr>
                    <p:blipFill>
                      <a:blip r:embed="rId16"/>
                      <a:srcRect/>
                      <a:stretch>
                        <a:fillRect/>
                      </a:stretch>
                    </p:blipFill>
                    <p:spPr bwMode="auto">
                      <a:xfrm>
                        <a:off x="5260830" y="4320404"/>
                        <a:ext cx="2506301" cy="37193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8" name="Object 2" descr="Tau equals L divided by R subscript e q baseline equals 0.32 divided by 3.2 equals 0.1 seconds.">
            <a:extLst>
              <a:ext uri="{FF2B5EF4-FFF2-40B4-BE49-F238E27FC236}">
                <a16:creationId xmlns:a16="http://schemas.microsoft.com/office/drawing/2014/main" id="{F11D95C3-A62A-4D7B-9AB4-82F7C7CB9576}"/>
              </a:ext>
            </a:extLst>
          </p:cNvPr>
          <p:cNvGraphicFramePr>
            <a:graphicFrameLocks noChangeAspect="1"/>
          </p:cNvGraphicFramePr>
          <p:nvPr>
            <p:extLst>
              <p:ext uri="{D42A27DB-BD31-4B8C-83A1-F6EECF244321}">
                <p14:modId xmlns:p14="http://schemas.microsoft.com/office/powerpoint/2010/main" val="1003037248"/>
              </p:ext>
            </p:extLst>
          </p:nvPr>
        </p:nvGraphicFramePr>
        <p:xfrm>
          <a:off x="5274693" y="4851173"/>
          <a:ext cx="2995164" cy="371931"/>
        </p:xfrm>
        <a:graphic>
          <a:graphicData uri="http://schemas.openxmlformats.org/presentationml/2006/ole">
            <mc:AlternateContent xmlns:mc="http://schemas.openxmlformats.org/markup-compatibility/2006">
              <mc:Choice xmlns:v="urn:schemas-microsoft-com:vml" Requires="v">
                <p:oleObj name="Equation" r:id="rId17" imgW="1942920" imgH="241200" progId="Equation.DSMT4">
                  <p:embed/>
                </p:oleObj>
              </mc:Choice>
              <mc:Fallback>
                <p:oleObj name="Equation" r:id="rId17" imgW="1942920" imgH="241200" progId="Equation.DSMT4">
                  <p:embed/>
                  <p:pic>
                    <p:nvPicPr>
                      <p:cNvPr id="44" name="Object 2">
                        <a:extLst>
                          <a:ext uri="{FF2B5EF4-FFF2-40B4-BE49-F238E27FC236}">
                            <a16:creationId xmlns:a16="http://schemas.microsoft.com/office/drawing/2014/main" id="{70900312-9F0A-78CF-ECAF-27243A363675}"/>
                          </a:ext>
                        </a:extLst>
                      </p:cNvPr>
                      <p:cNvPicPr>
                        <a:picLocks noChangeAspect="1" noChangeArrowheads="1"/>
                      </p:cNvPicPr>
                      <p:nvPr/>
                    </p:nvPicPr>
                    <p:blipFill>
                      <a:blip r:embed="rId18"/>
                      <a:srcRect/>
                      <a:stretch>
                        <a:fillRect/>
                      </a:stretch>
                    </p:blipFill>
                    <p:spPr bwMode="auto">
                      <a:xfrm>
                        <a:off x="5274693" y="4851173"/>
                        <a:ext cx="2995164" cy="37193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5" name="Content Placeholder 24">
            <a:extLst>
              <a:ext uri="{FF2B5EF4-FFF2-40B4-BE49-F238E27FC236}">
                <a16:creationId xmlns:a16="http://schemas.microsoft.com/office/drawing/2014/main" id="{950F3033-1B93-C49A-89C8-B1814B132C19}"/>
              </a:ext>
            </a:extLst>
          </p:cNvPr>
          <p:cNvSpPr>
            <a:spLocks noGrp="1"/>
          </p:cNvSpPr>
          <p:nvPr>
            <p:ph sz="quarter" idx="19"/>
          </p:nvPr>
        </p:nvSpPr>
        <p:spPr>
          <a:xfrm>
            <a:off x="426785" y="5571646"/>
            <a:ext cx="7413709" cy="344128"/>
          </a:xfrm>
        </p:spPr>
        <p:txBody>
          <a:bodyPr wrap="square" lIns="0" tIns="18000" rIns="0" bIns="18000" anchor="ctr" anchorCtr="0">
            <a:spAutoFit/>
          </a:bodyPr>
          <a:lstStyle/>
          <a:p>
            <a:pPr marL="0" indent="0">
              <a:spcBef>
                <a:spcPts val="600"/>
              </a:spcBef>
              <a:buNone/>
            </a:pPr>
            <a:r>
              <a:rPr lang="en-US" sz="2000" noProof="0" dirty="0"/>
              <a:t>Step 3 – Write the equation for the inductor current:</a:t>
            </a:r>
          </a:p>
        </p:txBody>
      </p:sp>
      <p:graphicFrame>
        <p:nvGraphicFramePr>
          <p:cNvPr id="27" name="Object 2" descr="i (t) equals I subscript o baseline e to the negative t divided by tau power equals 4 e to the negative t divided by 0.1 power equals 4 e to the negative 10 t power Amperes,">
            <a:extLst>
              <a:ext uri="{FF2B5EF4-FFF2-40B4-BE49-F238E27FC236}">
                <a16:creationId xmlns:a16="http://schemas.microsoft.com/office/drawing/2014/main" id="{A66507B1-1639-42DE-9A9B-ECBD04121E86}"/>
              </a:ext>
            </a:extLst>
          </p:cNvPr>
          <p:cNvGraphicFramePr>
            <a:graphicFrameLocks noChangeAspect="1"/>
          </p:cNvGraphicFramePr>
          <p:nvPr>
            <p:extLst>
              <p:ext uri="{D42A27DB-BD31-4B8C-83A1-F6EECF244321}">
                <p14:modId xmlns:p14="http://schemas.microsoft.com/office/powerpoint/2010/main" val="395899400"/>
              </p:ext>
            </p:extLst>
          </p:nvPr>
        </p:nvGraphicFramePr>
        <p:xfrm>
          <a:off x="1908615" y="5995988"/>
          <a:ext cx="3400425" cy="398462"/>
        </p:xfrm>
        <a:graphic>
          <a:graphicData uri="http://schemas.openxmlformats.org/presentationml/2006/ole">
            <mc:AlternateContent xmlns:mc="http://schemas.openxmlformats.org/markup-compatibility/2006">
              <mc:Choice xmlns:v="urn:schemas-microsoft-com:vml" Requires="v">
                <p:oleObj name="Equation" r:id="rId19" imgW="2057400" imgH="241200" progId="Equation.DSMT4">
                  <p:embed/>
                </p:oleObj>
              </mc:Choice>
              <mc:Fallback>
                <p:oleObj name="Equation" r:id="rId19" imgW="2057400" imgH="241200" progId="Equation.DSMT4">
                  <p:embed/>
                  <p:pic>
                    <p:nvPicPr>
                      <p:cNvPr id="44" name="Object 2">
                        <a:extLst>
                          <a:ext uri="{FF2B5EF4-FFF2-40B4-BE49-F238E27FC236}">
                            <a16:creationId xmlns:a16="http://schemas.microsoft.com/office/drawing/2014/main" id="{70900312-9F0A-78CF-ECAF-27243A363675}"/>
                          </a:ext>
                        </a:extLst>
                      </p:cNvPr>
                      <p:cNvPicPr>
                        <a:picLocks noChangeAspect="1" noChangeArrowheads="1"/>
                      </p:cNvPicPr>
                      <p:nvPr/>
                    </p:nvPicPr>
                    <p:blipFill>
                      <a:blip r:embed="rId20"/>
                      <a:srcRect/>
                      <a:stretch>
                        <a:fillRect/>
                      </a:stretch>
                    </p:blipFill>
                    <p:spPr bwMode="auto">
                      <a:xfrm>
                        <a:off x="1908615" y="5995988"/>
                        <a:ext cx="3400425" cy="3984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9" name="Object 2" descr="t is greater than or equal to 0.">
            <a:extLst>
              <a:ext uri="{FF2B5EF4-FFF2-40B4-BE49-F238E27FC236}">
                <a16:creationId xmlns:a16="http://schemas.microsoft.com/office/drawing/2014/main" id="{1831EC8B-F870-47B3-92F7-A0611FF9FFC2}"/>
              </a:ext>
            </a:extLst>
          </p:cNvPr>
          <p:cNvGraphicFramePr>
            <a:graphicFrameLocks noChangeAspect="1"/>
          </p:cNvGraphicFramePr>
          <p:nvPr>
            <p:extLst>
              <p:ext uri="{D42A27DB-BD31-4B8C-83A1-F6EECF244321}">
                <p14:modId xmlns:p14="http://schemas.microsoft.com/office/powerpoint/2010/main" val="1415538371"/>
              </p:ext>
            </p:extLst>
          </p:nvPr>
        </p:nvGraphicFramePr>
        <p:xfrm>
          <a:off x="5571358" y="6036015"/>
          <a:ext cx="650875" cy="336550"/>
        </p:xfrm>
        <a:graphic>
          <a:graphicData uri="http://schemas.openxmlformats.org/presentationml/2006/ole">
            <mc:AlternateContent xmlns:mc="http://schemas.openxmlformats.org/markup-compatibility/2006">
              <mc:Choice xmlns:v="urn:schemas-microsoft-com:vml" Requires="v">
                <p:oleObj name="Equation" r:id="rId21" imgW="393480" imgH="203040" progId="Equation.DSMT4">
                  <p:embed/>
                </p:oleObj>
              </mc:Choice>
              <mc:Fallback>
                <p:oleObj name="Equation" r:id="rId21" imgW="393480" imgH="203040" progId="Equation.DSMT4">
                  <p:embed/>
                  <p:pic>
                    <p:nvPicPr>
                      <p:cNvPr id="27" name="Object 2">
                        <a:extLst>
                          <a:ext uri="{FF2B5EF4-FFF2-40B4-BE49-F238E27FC236}">
                            <a16:creationId xmlns:a16="http://schemas.microsoft.com/office/drawing/2014/main" id="{A66507B1-1639-42DE-9A9B-ECBD04121E86}"/>
                          </a:ext>
                        </a:extLst>
                      </p:cNvPr>
                      <p:cNvPicPr>
                        <a:picLocks noChangeAspect="1" noChangeArrowheads="1"/>
                      </p:cNvPicPr>
                      <p:nvPr/>
                    </p:nvPicPr>
                    <p:blipFill>
                      <a:blip r:embed="rId22"/>
                      <a:srcRect/>
                      <a:stretch>
                        <a:fillRect/>
                      </a:stretch>
                    </p:blipFill>
                    <p:spPr bwMode="auto">
                      <a:xfrm>
                        <a:off x="5571358" y="6036015"/>
                        <a:ext cx="650875" cy="336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0259633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7056" y="212344"/>
            <a:ext cx="8213707" cy="1144347"/>
          </a:xfrm>
        </p:spPr>
        <p:txBody>
          <a:bodyPr wrap="square" lIns="0" tIns="18000" rIns="0" bIns="18000" anchor="ctr" anchorCtr="0">
            <a:spAutoFit/>
          </a:bodyPr>
          <a:lstStyle/>
          <a:p>
            <a:pPr>
              <a:spcBef>
                <a:spcPts val="600"/>
              </a:spcBef>
            </a:pPr>
            <a:r>
              <a:rPr lang="en-US" noProof="0" dirty="0"/>
              <a:t>Chapter 7 – </a:t>
            </a:r>
            <a:r>
              <a:rPr lang="en-US" i="1" spc="-450" noProof="0" dirty="0"/>
              <a:t>R </a:t>
            </a:r>
            <a:r>
              <a:rPr lang="en-US" i="1" noProof="0" dirty="0"/>
              <a:t>L/</a:t>
            </a:r>
            <a:r>
              <a:rPr lang="en-US" i="1" spc="-450" noProof="0" dirty="0"/>
              <a:t>R </a:t>
            </a:r>
            <a:r>
              <a:rPr lang="en-US" i="1" noProof="0" dirty="0"/>
              <a:t>C</a:t>
            </a:r>
            <a:r>
              <a:rPr lang="en-US" noProof="0" dirty="0"/>
              <a:t> Natural Response Examples </a:t>
            </a:r>
            <a:r>
              <a:rPr lang="en-US" sz="2800" noProof="0" dirty="0"/>
              <a:t>(8 of 14)</a:t>
            </a:r>
          </a:p>
        </p:txBody>
      </p:sp>
      <p:sp>
        <p:nvSpPr>
          <p:cNvPr id="16" name="Content Placeholder 15">
            <a:extLst>
              <a:ext uri="{FF2B5EF4-FFF2-40B4-BE49-F238E27FC236}">
                <a16:creationId xmlns:a16="http://schemas.microsoft.com/office/drawing/2014/main" id="{8B0D0553-58DE-48D2-51CA-C8248E5230BC}"/>
              </a:ext>
            </a:extLst>
          </p:cNvPr>
          <p:cNvSpPr>
            <a:spLocks noGrp="1"/>
          </p:cNvSpPr>
          <p:nvPr>
            <p:ph sz="quarter" idx="12"/>
          </p:nvPr>
        </p:nvSpPr>
        <p:spPr>
          <a:xfrm>
            <a:off x="436284" y="1474713"/>
            <a:ext cx="573366" cy="374906"/>
          </a:xfrm>
        </p:spPr>
        <p:txBody>
          <a:bodyPr wrap="square" lIns="0" tIns="18000" rIns="0" bIns="18000" anchor="ctr" anchorCtr="0">
            <a:spAutoFit/>
          </a:bodyPr>
          <a:lstStyle/>
          <a:p>
            <a:pPr marL="0" indent="0">
              <a:spcBef>
                <a:spcPts val="600"/>
              </a:spcBef>
              <a:buNone/>
            </a:pPr>
            <a:r>
              <a:rPr lang="en-US" sz="2200" noProof="0" dirty="0"/>
              <a:t>Find</a:t>
            </a:r>
          </a:p>
        </p:txBody>
      </p:sp>
      <p:graphicFrame>
        <p:nvGraphicFramePr>
          <p:cNvPr id="13" name="Object 12" descr="v subscript o baseline (t).">
            <a:extLst>
              <a:ext uri="{FF2B5EF4-FFF2-40B4-BE49-F238E27FC236}">
                <a16:creationId xmlns:a16="http://schemas.microsoft.com/office/drawing/2014/main" id="{9774972B-4D40-412D-96A7-07CB129E817F}"/>
              </a:ext>
            </a:extLst>
          </p:cNvPr>
          <p:cNvGraphicFramePr>
            <a:graphicFrameLocks noChangeAspect="1"/>
          </p:cNvGraphicFramePr>
          <p:nvPr>
            <p:extLst>
              <p:ext uri="{D42A27DB-BD31-4B8C-83A1-F6EECF244321}">
                <p14:modId xmlns:p14="http://schemas.microsoft.com/office/powerpoint/2010/main" val="1988292046"/>
              </p:ext>
            </p:extLst>
          </p:nvPr>
        </p:nvGraphicFramePr>
        <p:xfrm>
          <a:off x="1108414" y="1456759"/>
          <a:ext cx="620130" cy="450071"/>
        </p:xfrm>
        <a:graphic>
          <a:graphicData uri="http://schemas.openxmlformats.org/presentationml/2006/ole">
            <mc:AlternateContent xmlns:mc="http://schemas.openxmlformats.org/markup-compatibility/2006">
              <mc:Choice xmlns:v="urn:schemas-microsoft-com:vml" Requires="v">
                <p:oleObj name="Equation" r:id="rId3" imgW="330120" imgH="228600" progId="Equation.DSMT4">
                  <p:embed/>
                </p:oleObj>
              </mc:Choice>
              <mc:Fallback>
                <p:oleObj name="Equation" r:id="rId3" imgW="330120" imgH="228600" progId="Equation.DSMT4">
                  <p:embed/>
                  <p:pic>
                    <p:nvPicPr>
                      <p:cNvPr id="12" name="Object 11" descr="S subscript 0 colon">
                        <a:extLst>
                          <a:ext uri="{FF2B5EF4-FFF2-40B4-BE49-F238E27FC236}">
                            <a16:creationId xmlns:a16="http://schemas.microsoft.com/office/drawing/2014/main" id="{29CB824E-BF4F-49BC-AC3B-AED225D3A519}"/>
                          </a:ext>
                        </a:extLst>
                      </p:cNvPr>
                      <p:cNvPicPr>
                        <a:picLocks noChangeAspect="1" noChangeArrowheads="1"/>
                      </p:cNvPicPr>
                      <p:nvPr/>
                    </p:nvPicPr>
                    <p:blipFill>
                      <a:blip r:embed="rId4"/>
                      <a:srcRect/>
                      <a:stretch>
                        <a:fillRect/>
                      </a:stretch>
                    </p:blipFill>
                    <p:spPr bwMode="auto">
                      <a:xfrm>
                        <a:off x="1108414" y="1456759"/>
                        <a:ext cx="620130" cy="45007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 name="Content Placeholder 17">
            <a:extLst>
              <a:ext uri="{FF2B5EF4-FFF2-40B4-BE49-F238E27FC236}">
                <a16:creationId xmlns:a16="http://schemas.microsoft.com/office/drawing/2014/main" id="{7869D59A-E591-0306-2F00-54AFDFE8D09E}"/>
              </a:ext>
            </a:extLst>
          </p:cNvPr>
          <p:cNvSpPr>
            <a:spLocks noGrp="1"/>
          </p:cNvSpPr>
          <p:nvPr>
            <p:ph sz="quarter" idx="13"/>
          </p:nvPr>
        </p:nvSpPr>
        <p:spPr>
          <a:xfrm>
            <a:off x="1845896" y="1472414"/>
            <a:ext cx="340255" cy="374906"/>
          </a:xfrm>
        </p:spPr>
        <p:txBody>
          <a:bodyPr wrap="square" lIns="0" tIns="18000" rIns="0" bIns="18000" anchor="ctr" anchorCtr="0">
            <a:spAutoFit/>
          </a:bodyPr>
          <a:lstStyle/>
          <a:p>
            <a:pPr marL="0" indent="0">
              <a:spcBef>
                <a:spcPts val="600"/>
              </a:spcBef>
              <a:buNone/>
            </a:pPr>
            <a:r>
              <a:rPr lang="en-US" sz="2200" noProof="0" dirty="0"/>
              <a:t>for</a:t>
            </a:r>
          </a:p>
        </p:txBody>
      </p:sp>
      <p:graphicFrame>
        <p:nvGraphicFramePr>
          <p:cNvPr id="14" name="Object 13" descr="t greater than or equal to 0 superscript plus.">
            <a:extLst>
              <a:ext uri="{FF2B5EF4-FFF2-40B4-BE49-F238E27FC236}">
                <a16:creationId xmlns:a16="http://schemas.microsoft.com/office/drawing/2014/main" id="{17759DB7-A42B-4906-94C1-4818D623064E}"/>
              </a:ext>
            </a:extLst>
          </p:cNvPr>
          <p:cNvGraphicFramePr>
            <a:graphicFrameLocks noChangeAspect="1"/>
          </p:cNvGraphicFramePr>
          <p:nvPr>
            <p:extLst>
              <p:ext uri="{D42A27DB-BD31-4B8C-83A1-F6EECF244321}">
                <p14:modId xmlns:p14="http://schemas.microsoft.com/office/powerpoint/2010/main" val="3622427964"/>
              </p:ext>
            </p:extLst>
          </p:nvPr>
        </p:nvGraphicFramePr>
        <p:xfrm>
          <a:off x="2282825" y="1462088"/>
          <a:ext cx="762000" cy="449262"/>
        </p:xfrm>
        <a:graphic>
          <a:graphicData uri="http://schemas.openxmlformats.org/presentationml/2006/ole">
            <mc:AlternateContent xmlns:mc="http://schemas.openxmlformats.org/markup-compatibility/2006">
              <mc:Choice xmlns:v="urn:schemas-microsoft-com:vml" Requires="v">
                <p:oleObj name="Equation" r:id="rId5" imgW="406080" imgH="228600" progId="Equation.DSMT4">
                  <p:embed/>
                </p:oleObj>
              </mc:Choice>
              <mc:Fallback>
                <p:oleObj name="Equation" r:id="rId5" imgW="406080" imgH="228600" progId="Equation.DSMT4">
                  <p:embed/>
                  <p:pic>
                    <p:nvPicPr>
                      <p:cNvPr id="13" name="Object 12" descr="S subscript 0 colon">
                        <a:extLst>
                          <a:ext uri="{FF2B5EF4-FFF2-40B4-BE49-F238E27FC236}">
                            <a16:creationId xmlns:a16="http://schemas.microsoft.com/office/drawing/2014/main" id="{9774972B-4D40-412D-96A7-07CB129E817F}"/>
                          </a:ext>
                        </a:extLst>
                      </p:cNvPr>
                      <p:cNvPicPr>
                        <a:picLocks noChangeAspect="1" noChangeArrowheads="1"/>
                      </p:cNvPicPr>
                      <p:nvPr/>
                    </p:nvPicPr>
                    <p:blipFill>
                      <a:blip r:embed="rId6"/>
                      <a:srcRect/>
                      <a:stretch>
                        <a:fillRect/>
                      </a:stretch>
                    </p:blipFill>
                    <p:spPr bwMode="auto">
                      <a:xfrm>
                        <a:off x="2282825" y="1462088"/>
                        <a:ext cx="762000" cy="4492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 name="Content Placeholder 19">
            <a:extLst>
              <a:ext uri="{FF2B5EF4-FFF2-40B4-BE49-F238E27FC236}">
                <a16:creationId xmlns:a16="http://schemas.microsoft.com/office/drawing/2014/main" id="{A5843053-430C-6EEB-A148-8D2DA5740541}"/>
              </a:ext>
            </a:extLst>
          </p:cNvPr>
          <p:cNvSpPr>
            <a:spLocks noGrp="1"/>
          </p:cNvSpPr>
          <p:nvPr>
            <p:ph sz="quarter" idx="14"/>
          </p:nvPr>
        </p:nvSpPr>
        <p:spPr>
          <a:xfrm>
            <a:off x="3094868" y="1479628"/>
            <a:ext cx="1425891" cy="374906"/>
          </a:xfrm>
        </p:spPr>
        <p:txBody>
          <a:bodyPr wrap="square" lIns="0" tIns="18000" rIns="0" bIns="18000" anchor="ctr" anchorCtr="0">
            <a:spAutoFit/>
          </a:bodyPr>
          <a:lstStyle/>
          <a:p>
            <a:pPr marL="0" indent="0">
              <a:spcBef>
                <a:spcPts val="600"/>
              </a:spcBef>
              <a:buNone/>
            </a:pPr>
            <a:r>
              <a:rPr lang="en-US" altLang="en-US" sz="2200" noProof="0" dirty="0"/>
              <a:t>(continued)</a:t>
            </a:r>
            <a:endParaRPr lang="en-US" sz="2200" noProof="0" dirty="0"/>
          </a:p>
        </p:txBody>
      </p:sp>
      <p:pic>
        <p:nvPicPr>
          <p:cNvPr id="3" name="Picture 2" descr="A circuit diagram shows a current source with 6.4 ampere capacity. A switch connects the current source of 6.4 ampere capacity with the top wire of the circuit via node a when time t is less than zero. The same switch connects the current source with 6.4 ampere capacity to the bottom wire in the circuit via node b after time t equals zero. From left to right, a resistance of 10 ohms, an inductor of 0.32 Henry, and a resistance of 4 ohms are connected in parallel to the 6.4 ampere current source, that is between the top and bottom wires in the circuit. A 6 ohm resistance is connected in the top wire between the top nodes of the 10 ohm resistance and the 0.32 Henry inductor. Voltage v subscript 0 develops across the 10 ohm resistance with positive polarity at the top node and negative at the bottom. ">
            <a:extLst>
              <a:ext uri="{FF2B5EF4-FFF2-40B4-BE49-F238E27FC236}">
                <a16:creationId xmlns:a16="http://schemas.microsoft.com/office/drawing/2014/main" id="{A8C069AD-E964-D2B6-C75F-6AC7AA5D6514}"/>
              </a:ext>
            </a:extLst>
          </p:cNvPr>
          <p:cNvPicPr>
            <a:picLocks noChangeAspect="1"/>
          </p:cNvPicPr>
          <p:nvPr/>
        </p:nvPicPr>
        <p:blipFill>
          <a:blip r:embed="rId7"/>
          <a:srcRect/>
          <a:stretch/>
        </p:blipFill>
        <p:spPr>
          <a:xfrm>
            <a:off x="4706767" y="1727302"/>
            <a:ext cx="3928828" cy="1413671"/>
          </a:xfrm>
          <a:prstGeom prst="rect">
            <a:avLst/>
          </a:prstGeom>
        </p:spPr>
      </p:pic>
      <p:sp>
        <p:nvSpPr>
          <p:cNvPr id="22" name="Content Placeholder 21">
            <a:extLst>
              <a:ext uri="{FF2B5EF4-FFF2-40B4-BE49-F238E27FC236}">
                <a16:creationId xmlns:a16="http://schemas.microsoft.com/office/drawing/2014/main" id="{053BC0AE-C87F-CF1D-D71C-A5E5AAE13B8C}"/>
              </a:ext>
            </a:extLst>
          </p:cNvPr>
          <p:cNvSpPr>
            <a:spLocks noGrp="1"/>
          </p:cNvSpPr>
          <p:nvPr>
            <p:ph sz="quarter" idx="15"/>
          </p:nvPr>
        </p:nvSpPr>
        <p:spPr>
          <a:xfrm>
            <a:off x="426762" y="3284406"/>
            <a:ext cx="8213707" cy="713460"/>
          </a:xfrm>
        </p:spPr>
        <p:txBody>
          <a:bodyPr wrap="square" lIns="0" tIns="18000" rIns="0" bIns="18000" anchor="ctr" anchorCtr="0">
            <a:spAutoFit/>
          </a:bodyPr>
          <a:lstStyle/>
          <a:p>
            <a:pPr marL="0" indent="0">
              <a:spcBef>
                <a:spcPts val="600"/>
              </a:spcBef>
              <a:buNone/>
            </a:pPr>
            <a:r>
              <a:rPr lang="en-US" altLang="en-US" sz="2200" noProof="0" dirty="0"/>
              <a:t>Step 4 – Calculate other quantities of interest using the inductor current.  For this circuit, find the voltage across the inductor, </a:t>
            </a:r>
            <a:endParaRPr lang="en-US" sz="2200" noProof="0" dirty="0"/>
          </a:p>
        </p:txBody>
      </p:sp>
      <p:sp>
        <p:nvSpPr>
          <p:cNvPr id="24" name="Content Placeholder 23">
            <a:extLst>
              <a:ext uri="{FF2B5EF4-FFF2-40B4-BE49-F238E27FC236}">
                <a16:creationId xmlns:a16="http://schemas.microsoft.com/office/drawing/2014/main" id="{0AF76FB9-ADEC-BCD6-CBDF-F4E9D6BD3C31}"/>
              </a:ext>
            </a:extLst>
          </p:cNvPr>
          <p:cNvSpPr>
            <a:spLocks noGrp="1"/>
          </p:cNvSpPr>
          <p:nvPr>
            <p:ph sz="quarter" idx="16"/>
          </p:nvPr>
        </p:nvSpPr>
        <p:spPr>
          <a:xfrm>
            <a:off x="426764" y="4053689"/>
            <a:ext cx="6221686" cy="374906"/>
          </a:xfrm>
        </p:spPr>
        <p:txBody>
          <a:bodyPr wrap="square" lIns="0" tIns="18000" rIns="0" bIns="18000" anchor="ctr" anchorCtr="0">
            <a:spAutoFit/>
          </a:bodyPr>
          <a:lstStyle/>
          <a:p>
            <a:pPr marL="0" indent="0">
              <a:spcBef>
                <a:spcPts val="600"/>
              </a:spcBef>
              <a:buNone/>
            </a:pPr>
            <a:r>
              <a:rPr lang="en-US" sz="2200" noProof="0" dirty="0"/>
              <a:t>positive at the top, and use voltage division to find</a:t>
            </a:r>
          </a:p>
        </p:txBody>
      </p:sp>
      <p:graphicFrame>
        <p:nvGraphicFramePr>
          <p:cNvPr id="12" name="Object 11" descr="V subscript o">
            <a:extLst>
              <a:ext uri="{FF2B5EF4-FFF2-40B4-BE49-F238E27FC236}">
                <a16:creationId xmlns:a16="http://schemas.microsoft.com/office/drawing/2014/main" id="{29CB824E-BF4F-49BC-AC3B-AED225D3A519}"/>
              </a:ext>
            </a:extLst>
          </p:cNvPr>
          <p:cNvGraphicFramePr>
            <a:graphicFrameLocks noChangeAspect="1"/>
          </p:cNvGraphicFramePr>
          <p:nvPr>
            <p:extLst>
              <p:ext uri="{D42A27DB-BD31-4B8C-83A1-F6EECF244321}">
                <p14:modId xmlns:p14="http://schemas.microsoft.com/office/powerpoint/2010/main" val="2755515933"/>
              </p:ext>
            </p:extLst>
          </p:nvPr>
        </p:nvGraphicFramePr>
        <p:xfrm>
          <a:off x="6678911" y="4019608"/>
          <a:ext cx="360363" cy="487362"/>
        </p:xfrm>
        <a:graphic>
          <a:graphicData uri="http://schemas.openxmlformats.org/presentationml/2006/ole">
            <mc:AlternateContent xmlns:mc="http://schemas.openxmlformats.org/markup-compatibility/2006">
              <mc:Choice xmlns:v="urn:schemas-microsoft-com:vml" Requires="v">
                <p:oleObj name="Equation" r:id="rId8" imgW="177480" imgH="228600" progId="Equation.DSMT4">
                  <p:embed/>
                </p:oleObj>
              </mc:Choice>
              <mc:Fallback>
                <p:oleObj name="Equation" r:id="rId8" imgW="177480" imgH="228600" progId="Equation.DSMT4">
                  <p:embed/>
                  <p:pic>
                    <p:nvPicPr>
                      <p:cNvPr id="18" name="Object 17" descr="S subscript 0 colon">
                        <a:extLst>
                          <a:ext uri="{FF2B5EF4-FFF2-40B4-BE49-F238E27FC236}">
                            <a16:creationId xmlns:a16="http://schemas.microsoft.com/office/drawing/2014/main" id="{5AAC325F-09D8-473C-A022-34144036F548}"/>
                          </a:ext>
                        </a:extLst>
                      </p:cNvPr>
                      <p:cNvPicPr>
                        <a:picLocks noChangeAspect="1" noChangeArrowheads="1"/>
                      </p:cNvPicPr>
                      <p:nvPr/>
                    </p:nvPicPr>
                    <p:blipFill>
                      <a:blip r:embed="rId9"/>
                      <a:srcRect/>
                      <a:stretch>
                        <a:fillRect/>
                      </a:stretch>
                    </p:blipFill>
                    <p:spPr bwMode="auto">
                      <a:xfrm>
                        <a:off x="6678911" y="4019608"/>
                        <a:ext cx="360363" cy="4873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6" name="Content Placeholder 25">
            <a:extLst>
              <a:ext uri="{FF2B5EF4-FFF2-40B4-BE49-F238E27FC236}">
                <a16:creationId xmlns:a16="http://schemas.microsoft.com/office/drawing/2014/main" id="{64F84652-2A6A-F569-76AA-25379F0B3B86}"/>
              </a:ext>
            </a:extLst>
          </p:cNvPr>
          <p:cNvSpPr>
            <a:spLocks noGrp="1"/>
          </p:cNvSpPr>
          <p:nvPr>
            <p:ph sz="quarter" idx="17"/>
          </p:nvPr>
        </p:nvSpPr>
        <p:spPr>
          <a:xfrm>
            <a:off x="7095289" y="4050597"/>
            <a:ext cx="1199779" cy="374906"/>
          </a:xfrm>
        </p:spPr>
        <p:txBody>
          <a:bodyPr wrap="square" lIns="0" tIns="18000" rIns="0" bIns="18000" anchor="ctr" anchorCtr="0">
            <a:spAutoFit/>
          </a:bodyPr>
          <a:lstStyle/>
          <a:p>
            <a:pPr marL="0" indent="0">
              <a:spcBef>
                <a:spcPts val="600"/>
              </a:spcBef>
              <a:buNone/>
            </a:pPr>
            <a:r>
              <a:rPr lang="en-US" altLang="en-US" sz="2200" noProof="0" dirty="0"/>
              <a:t>from the</a:t>
            </a:r>
            <a:endParaRPr lang="en-US" sz="2200" noProof="0" dirty="0"/>
          </a:p>
        </p:txBody>
      </p:sp>
      <p:sp>
        <p:nvSpPr>
          <p:cNvPr id="27" name="Content Placeholder 26">
            <a:extLst>
              <a:ext uri="{FF2B5EF4-FFF2-40B4-BE49-F238E27FC236}">
                <a16:creationId xmlns:a16="http://schemas.microsoft.com/office/drawing/2014/main" id="{B8D00E2F-4997-795C-1FFA-1857AC5D700B}"/>
              </a:ext>
            </a:extLst>
          </p:cNvPr>
          <p:cNvSpPr>
            <a:spLocks noGrp="1"/>
          </p:cNvSpPr>
          <p:nvPr>
            <p:ph sz="quarter" idx="18"/>
          </p:nvPr>
        </p:nvSpPr>
        <p:spPr>
          <a:xfrm>
            <a:off x="432362" y="4502622"/>
            <a:ext cx="2110813" cy="374906"/>
          </a:xfrm>
        </p:spPr>
        <p:txBody>
          <a:bodyPr wrap="square" lIns="0" tIns="18000" rIns="0" bIns="18000" anchor="ctr" anchorCtr="0">
            <a:spAutoFit/>
          </a:bodyPr>
          <a:lstStyle/>
          <a:p>
            <a:pPr marL="0" indent="0">
              <a:spcBef>
                <a:spcPts val="600"/>
              </a:spcBef>
              <a:buNone/>
            </a:pPr>
            <a:r>
              <a:rPr lang="en-US" sz="2200" noProof="0" dirty="0"/>
              <a:t>inductor voltage.</a:t>
            </a:r>
          </a:p>
        </p:txBody>
      </p:sp>
      <p:graphicFrame>
        <p:nvGraphicFramePr>
          <p:cNvPr id="21" name="Object 20" descr="v subscript L baseline (t) equals (0.32) StartFraction d over d t EndFraction (4 e to the negative 10 t power) equals (0.32) (negative 10) (4 e to the negative 10 t power).">
            <a:extLst>
              <a:ext uri="{FF2B5EF4-FFF2-40B4-BE49-F238E27FC236}">
                <a16:creationId xmlns:a16="http://schemas.microsoft.com/office/drawing/2014/main" id="{37807E16-1779-467F-A59F-8AD53ABE0FEB}"/>
              </a:ext>
            </a:extLst>
          </p:cNvPr>
          <p:cNvGraphicFramePr>
            <a:graphicFrameLocks noChangeAspect="1"/>
          </p:cNvGraphicFramePr>
          <p:nvPr>
            <p:extLst>
              <p:ext uri="{D42A27DB-BD31-4B8C-83A1-F6EECF244321}">
                <p14:modId xmlns:p14="http://schemas.microsoft.com/office/powerpoint/2010/main" val="3027993657"/>
              </p:ext>
            </p:extLst>
          </p:nvPr>
        </p:nvGraphicFramePr>
        <p:xfrm>
          <a:off x="2752844" y="4686195"/>
          <a:ext cx="4465400" cy="590042"/>
        </p:xfrm>
        <a:graphic>
          <a:graphicData uri="http://schemas.openxmlformats.org/presentationml/2006/ole">
            <mc:AlternateContent xmlns:mc="http://schemas.openxmlformats.org/markup-compatibility/2006">
              <mc:Choice xmlns:v="urn:schemas-microsoft-com:vml" Requires="v">
                <p:oleObj name="Equation" r:id="rId10" imgW="2984400" imgH="393480" progId="Equation.DSMT4">
                  <p:embed/>
                </p:oleObj>
              </mc:Choice>
              <mc:Fallback>
                <p:oleObj name="Equation" r:id="rId10" imgW="2984400" imgH="393480" progId="Equation.DSMT4">
                  <p:embed/>
                  <p:pic>
                    <p:nvPicPr>
                      <p:cNvPr id="4" name="Object 3">
                        <a:extLst>
                          <a:ext uri="{FF2B5EF4-FFF2-40B4-BE49-F238E27FC236}">
                            <a16:creationId xmlns:a16="http://schemas.microsoft.com/office/drawing/2014/main" id="{B224BB47-45CF-29AA-7812-4E6A0749ADA2}"/>
                          </a:ext>
                        </a:extLst>
                      </p:cNvPr>
                      <p:cNvPicPr>
                        <a:picLocks noChangeAspect="1" noChangeArrowheads="1"/>
                      </p:cNvPicPr>
                      <p:nvPr/>
                    </p:nvPicPr>
                    <p:blipFill>
                      <a:blip r:embed="rId11"/>
                      <a:srcRect/>
                      <a:stretch>
                        <a:fillRect/>
                      </a:stretch>
                    </p:blipFill>
                    <p:spPr bwMode="auto">
                      <a:xfrm>
                        <a:off x="2752844" y="4686195"/>
                        <a:ext cx="4465400" cy="5900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3" name="Object 22" descr="equals negative 12.8 e to the negative 10 t power baseline Volt comma">
            <a:extLst>
              <a:ext uri="{FF2B5EF4-FFF2-40B4-BE49-F238E27FC236}">
                <a16:creationId xmlns:a16="http://schemas.microsoft.com/office/drawing/2014/main" id="{042D2986-BFE0-4806-A86E-840A861CD57E}"/>
              </a:ext>
            </a:extLst>
          </p:cNvPr>
          <p:cNvGraphicFramePr>
            <a:graphicFrameLocks noChangeAspect="1"/>
          </p:cNvGraphicFramePr>
          <p:nvPr>
            <p:extLst>
              <p:ext uri="{D42A27DB-BD31-4B8C-83A1-F6EECF244321}">
                <p14:modId xmlns:p14="http://schemas.microsoft.com/office/powerpoint/2010/main" val="1182740612"/>
              </p:ext>
            </p:extLst>
          </p:nvPr>
        </p:nvGraphicFramePr>
        <p:xfrm>
          <a:off x="2808643" y="5329238"/>
          <a:ext cx="1914525" cy="325437"/>
        </p:xfrm>
        <a:graphic>
          <a:graphicData uri="http://schemas.openxmlformats.org/presentationml/2006/ole">
            <mc:AlternateContent xmlns:mc="http://schemas.openxmlformats.org/markup-compatibility/2006">
              <mc:Choice xmlns:v="urn:schemas-microsoft-com:vml" Requires="v">
                <p:oleObj name="Equation" r:id="rId12" imgW="1346040" imgH="228600" progId="Equation.DSMT4">
                  <p:embed/>
                </p:oleObj>
              </mc:Choice>
              <mc:Fallback>
                <p:oleObj name="Equation" r:id="rId12" imgW="1346040" imgH="228600" progId="Equation.DSMT4">
                  <p:embed/>
                  <p:pic>
                    <p:nvPicPr>
                      <p:cNvPr id="4" name="Object 3">
                        <a:extLst>
                          <a:ext uri="{FF2B5EF4-FFF2-40B4-BE49-F238E27FC236}">
                            <a16:creationId xmlns:a16="http://schemas.microsoft.com/office/drawing/2014/main" id="{B224BB47-45CF-29AA-7812-4E6A0749ADA2}"/>
                          </a:ext>
                        </a:extLst>
                      </p:cNvPr>
                      <p:cNvPicPr>
                        <a:picLocks noChangeAspect="1" noChangeArrowheads="1"/>
                      </p:cNvPicPr>
                      <p:nvPr/>
                    </p:nvPicPr>
                    <p:blipFill>
                      <a:blip r:embed="rId13"/>
                      <a:srcRect/>
                      <a:stretch>
                        <a:fillRect/>
                      </a:stretch>
                    </p:blipFill>
                    <p:spPr bwMode="auto">
                      <a:xfrm>
                        <a:off x="2808643" y="5329238"/>
                        <a:ext cx="1914525" cy="325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 name="Object 1" descr="t is greater than or equal to 0 superscript plus.">
            <a:extLst>
              <a:ext uri="{FF2B5EF4-FFF2-40B4-BE49-F238E27FC236}">
                <a16:creationId xmlns:a16="http://schemas.microsoft.com/office/drawing/2014/main" id="{A3C053E0-9A2B-6C84-9C3F-68F754AE40BE}"/>
              </a:ext>
            </a:extLst>
          </p:cNvPr>
          <p:cNvGraphicFramePr>
            <a:graphicFrameLocks noChangeAspect="1"/>
          </p:cNvGraphicFramePr>
          <p:nvPr>
            <p:extLst>
              <p:ext uri="{D42A27DB-BD31-4B8C-83A1-F6EECF244321}">
                <p14:modId xmlns:p14="http://schemas.microsoft.com/office/powerpoint/2010/main" val="4221396803"/>
              </p:ext>
            </p:extLst>
          </p:nvPr>
        </p:nvGraphicFramePr>
        <p:xfrm>
          <a:off x="4846844" y="5341938"/>
          <a:ext cx="560387" cy="290512"/>
        </p:xfrm>
        <a:graphic>
          <a:graphicData uri="http://schemas.openxmlformats.org/presentationml/2006/ole">
            <mc:AlternateContent xmlns:mc="http://schemas.openxmlformats.org/markup-compatibility/2006">
              <mc:Choice xmlns:v="urn:schemas-microsoft-com:vml" Requires="v">
                <p:oleObj name="Equation" r:id="rId14" imgW="393480" imgH="203040" progId="Equation.DSMT4">
                  <p:embed/>
                </p:oleObj>
              </mc:Choice>
              <mc:Fallback>
                <p:oleObj name="Equation" r:id="rId14" imgW="393480" imgH="203040" progId="Equation.DSMT4">
                  <p:embed/>
                  <p:pic>
                    <p:nvPicPr>
                      <p:cNvPr id="23" name="Object 22">
                        <a:extLst>
                          <a:ext uri="{FF2B5EF4-FFF2-40B4-BE49-F238E27FC236}">
                            <a16:creationId xmlns:a16="http://schemas.microsoft.com/office/drawing/2014/main" id="{042D2986-BFE0-4806-A86E-840A861CD57E}"/>
                          </a:ext>
                        </a:extLst>
                      </p:cNvPr>
                      <p:cNvPicPr>
                        <a:picLocks noChangeAspect="1" noChangeArrowheads="1"/>
                      </p:cNvPicPr>
                      <p:nvPr/>
                    </p:nvPicPr>
                    <p:blipFill>
                      <a:blip r:embed="rId15"/>
                      <a:srcRect/>
                      <a:stretch>
                        <a:fillRect/>
                      </a:stretch>
                    </p:blipFill>
                    <p:spPr bwMode="auto">
                      <a:xfrm>
                        <a:off x="4846844" y="5341938"/>
                        <a:ext cx="560387" cy="290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5" name="Object 24" descr="v subscript 0 baseline (t) equals StartFraction 10 over 10 plus 6 EndFraction v subscript L baseline (t) equals negative 8 e to the negative 10 t power baseline Volt comma">
            <a:extLst>
              <a:ext uri="{FF2B5EF4-FFF2-40B4-BE49-F238E27FC236}">
                <a16:creationId xmlns:a16="http://schemas.microsoft.com/office/drawing/2014/main" id="{FDFEA066-8BD3-49C0-ADDB-D9FB18B52D27}"/>
              </a:ext>
            </a:extLst>
          </p:cNvPr>
          <p:cNvGraphicFramePr>
            <a:graphicFrameLocks noChangeAspect="1"/>
          </p:cNvGraphicFramePr>
          <p:nvPr>
            <p:extLst>
              <p:ext uri="{D42A27DB-BD31-4B8C-83A1-F6EECF244321}">
                <p14:modId xmlns:p14="http://schemas.microsoft.com/office/powerpoint/2010/main" val="1333303269"/>
              </p:ext>
            </p:extLst>
          </p:nvPr>
        </p:nvGraphicFramePr>
        <p:xfrm>
          <a:off x="2750572" y="5702300"/>
          <a:ext cx="3000375" cy="579438"/>
        </p:xfrm>
        <a:graphic>
          <a:graphicData uri="http://schemas.openxmlformats.org/presentationml/2006/ole">
            <mc:AlternateContent xmlns:mc="http://schemas.openxmlformats.org/markup-compatibility/2006">
              <mc:Choice xmlns:v="urn:schemas-microsoft-com:vml" Requires="v">
                <p:oleObj name="Equation" r:id="rId16" imgW="2044440" imgH="393480" progId="Equation.DSMT4">
                  <p:embed/>
                </p:oleObj>
              </mc:Choice>
              <mc:Fallback>
                <p:oleObj name="Equation" r:id="rId16" imgW="2044440" imgH="393480" progId="Equation.DSMT4">
                  <p:embed/>
                  <p:pic>
                    <p:nvPicPr>
                      <p:cNvPr id="4" name="Object 3">
                        <a:extLst>
                          <a:ext uri="{FF2B5EF4-FFF2-40B4-BE49-F238E27FC236}">
                            <a16:creationId xmlns:a16="http://schemas.microsoft.com/office/drawing/2014/main" id="{B224BB47-45CF-29AA-7812-4E6A0749ADA2}"/>
                          </a:ext>
                        </a:extLst>
                      </p:cNvPr>
                      <p:cNvPicPr>
                        <a:picLocks noChangeAspect="1" noChangeArrowheads="1"/>
                      </p:cNvPicPr>
                      <p:nvPr/>
                    </p:nvPicPr>
                    <p:blipFill>
                      <a:blip r:embed="rId17"/>
                      <a:srcRect/>
                      <a:stretch>
                        <a:fillRect/>
                      </a:stretch>
                    </p:blipFill>
                    <p:spPr bwMode="auto">
                      <a:xfrm>
                        <a:off x="2750572" y="5702300"/>
                        <a:ext cx="30003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 name="Object 3" descr="t is greater than or equal to 0 superscript plus.">
            <a:extLst>
              <a:ext uri="{FF2B5EF4-FFF2-40B4-BE49-F238E27FC236}">
                <a16:creationId xmlns:a16="http://schemas.microsoft.com/office/drawing/2014/main" id="{1CBDB62E-0AD1-CABE-9801-622010B243C7}"/>
              </a:ext>
            </a:extLst>
          </p:cNvPr>
          <p:cNvGraphicFramePr>
            <a:graphicFrameLocks noChangeAspect="1"/>
          </p:cNvGraphicFramePr>
          <p:nvPr>
            <p:extLst>
              <p:ext uri="{D42A27DB-BD31-4B8C-83A1-F6EECF244321}">
                <p14:modId xmlns:p14="http://schemas.microsoft.com/office/powerpoint/2010/main" val="1603737759"/>
              </p:ext>
            </p:extLst>
          </p:nvPr>
        </p:nvGraphicFramePr>
        <p:xfrm>
          <a:off x="5903713" y="5827253"/>
          <a:ext cx="577850" cy="300038"/>
        </p:xfrm>
        <a:graphic>
          <a:graphicData uri="http://schemas.openxmlformats.org/presentationml/2006/ole">
            <mc:AlternateContent xmlns:mc="http://schemas.openxmlformats.org/markup-compatibility/2006">
              <mc:Choice xmlns:v="urn:schemas-microsoft-com:vml" Requires="v">
                <p:oleObj name="Equation" r:id="rId18" imgW="393480" imgH="203040" progId="Equation.DSMT4">
                  <p:embed/>
                </p:oleObj>
              </mc:Choice>
              <mc:Fallback>
                <p:oleObj name="Equation" r:id="rId18" imgW="393480" imgH="203040" progId="Equation.DSMT4">
                  <p:embed/>
                  <p:pic>
                    <p:nvPicPr>
                      <p:cNvPr id="25" name="Object 24">
                        <a:extLst>
                          <a:ext uri="{FF2B5EF4-FFF2-40B4-BE49-F238E27FC236}">
                            <a16:creationId xmlns:a16="http://schemas.microsoft.com/office/drawing/2014/main" id="{FDFEA066-8BD3-49C0-ADDB-D9FB18B52D27}"/>
                          </a:ext>
                        </a:extLst>
                      </p:cNvPr>
                      <p:cNvPicPr>
                        <a:picLocks noChangeAspect="1" noChangeArrowheads="1"/>
                      </p:cNvPicPr>
                      <p:nvPr/>
                    </p:nvPicPr>
                    <p:blipFill>
                      <a:blip r:embed="rId19"/>
                      <a:srcRect/>
                      <a:stretch>
                        <a:fillRect/>
                      </a:stretch>
                    </p:blipFill>
                    <p:spPr bwMode="auto">
                      <a:xfrm>
                        <a:off x="5903713" y="5827253"/>
                        <a:ext cx="577850" cy="30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1207802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CF6CC8-6811-252D-C2D6-BAB80E09CCC7}"/>
              </a:ext>
            </a:extLst>
          </p:cNvPr>
          <p:cNvSpPr>
            <a:spLocks noGrp="1"/>
          </p:cNvSpPr>
          <p:nvPr>
            <p:ph type="title"/>
          </p:nvPr>
        </p:nvSpPr>
        <p:spPr>
          <a:xfrm>
            <a:off x="428625" y="214392"/>
            <a:ext cx="8212138" cy="1144347"/>
          </a:xfrm>
        </p:spPr>
        <p:txBody>
          <a:bodyPr lIns="0" tIns="18000" rIns="0" bIns="18000" anchor="ctr" anchorCtr="0">
            <a:spAutoFit/>
          </a:bodyPr>
          <a:lstStyle/>
          <a:p>
            <a:r>
              <a:rPr lang="en-US" noProof="0" dirty="0"/>
              <a:t>Chapter 7 – </a:t>
            </a:r>
            <a:r>
              <a:rPr lang="en-US" i="1" spc="-450" noProof="0" dirty="0"/>
              <a:t>R </a:t>
            </a:r>
            <a:r>
              <a:rPr lang="en-US" i="1" noProof="0" dirty="0"/>
              <a:t>L/</a:t>
            </a:r>
            <a:r>
              <a:rPr lang="en-US" i="1" spc="-450" noProof="0" dirty="0"/>
              <a:t>R </a:t>
            </a:r>
            <a:r>
              <a:rPr lang="en-US" i="1" noProof="0" dirty="0"/>
              <a:t>C</a:t>
            </a:r>
            <a:r>
              <a:rPr lang="en-US" noProof="0" dirty="0"/>
              <a:t> Natural Response Examples </a:t>
            </a:r>
            <a:r>
              <a:rPr lang="en-US" sz="2800" noProof="0" dirty="0"/>
              <a:t>(9 of 14)</a:t>
            </a:r>
            <a:endParaRPr lang="en-US" noProof="0" dirty="0"/>
          </a:p>
        </p:txBody>
      </p:sp>
      <p:sp>
        <p:nvSpPr>
          <p:cNvPr id="8" name="Content Placeholder 7">
            <a:extLst>
              <a:ext uri="{FF2B5EF4-FFF2-40B4-BE49-F238E27FC236}">
                <a16:creationId xmlns:a16="http://schemas.microsoft.com/office/drawing/2014/main" id="{615483DD-8963-20C5-8CF8-5C34F0C7619B}"/>
              </a:ext>
            </a:extLst>
          </p:cNvPr>
          <p:cNvSpPr>
            <a:spLocks noGrp="1"/>
          </p:cNvSpPr>
          <p:nvPr>
            <p:ph sz="quarter" idx="12"/>
          </p:nvPr>
        </p:nvSpPr>
        <p:spPr>
          <a:xfrm>
            <a:off x="428625" y="1551654"/>
            <a:ext cx="8643657" cy="374906"/>
          </a:xfrm>
        </p:spPr>
        <p:txBody>
          <a:bodyPr wrap="square" lIns="0" tIns="18000" rIns="0" bIns="18000" anchor="ctr" anchorCtr="0">
            <a:spAutoFit/>
          </a:bodyPr>
          <a:lstStyle/>
          <a:p>
            <a:pPr marL="0" indent="0">
              <a:spcBef>
                <a:spcPts val="600"/>
              </a:spcBef>
              <a:buNone/>
            </a:pPr>
            <a:r>
              <a:rPr lang="en-US" altLang="en-US" sz="2200" noProof="0" dirty="0"/>
              <a:t>In circuits with inductors, we solve for the </a:t>
            </a:r>
            <a:r>
              <a:rPr lang="en-US" altLang="en-US" sz="2200" b="1" noProof="0" dirty="0"/>
              <a:t>inductor current </a:t>
            </a:r>
            <a:r>
              <a:rPr lang="en-US" altLang="en-US" sz="2200" noProof="0" dirty="0"/>
              <a:t>and the</a:t>
            </a:r>
            <a:endParaRPr lang="en-US" sz="2200" noProof="0" dirty="0"/>
          </a:p>
        </p:txBody>
      </p:sp>
      <p:sp>
        <p:nvSpPr>
          <p:cNvPr id="9" name="Content Placeholder 8">
            <a:extLst>
              <a:ext uri="{FF2B5EF4-FFF2-40B4-BE49-F238E27FC236}">
                <a16:creationId xmlns:a16="http://schemas.microsoft.com/office/drawing/2014/main" id="{9CA89CAC-BDA2-D6DB-1160-5D874733E71F}"/>
              </a:ext>
            </a:extLst>
          </p:cNvPr>
          <p:cNvSpPr>
            <a:spLocks noGrp="1"/>
          </p:cNvSpPr>
          <p:nvPr>
            <p:ph sz="quarter" idx="13"/>
          </p:nvPr>
        </p:nvSpPr>
        <p:spPr>
          <a:xfrm>
            <a:off x="428626" y="2037429"/>
            <a:ext cx="2305521" cy="374906"/>
          </a:xfrm>
        </p:spPr>
        <p:txBody>
          <a:bodyPr wrap="square" lIns="0" tIns="18000" rIns="0" bIns="18000" anchor="ctr" anchorCtr="0">
            <a:spAutoFit/>
          </a:bodyPr>
          <a:lstStyle/>
          <a:p>
            <a:pPr marL="0" indent="0">
              <a:spcBef>
                <a:spcPts val="600"/>
              </a:spcBef>
              <a:buNone/>
            </a:pPr>
            <a:r>
              <a:rPr lang="en-US" sz="2200" noProof="0" dirty="0"/>
              <a:t>solution is valid for </a:t>
            </a:r>
          </a:p>
        </p:txBody>
      </p:sp>
      <p:graphicFrame>
        <p:nvGraphicFramePr>
          <p:cNvPr id="17" name="Object 16" descr="t is greater than or equal to 0.">
            <a:extLst>
              <a:ext uri="{FF2B5EF4-FFF2-40B4-BE49-F238E27FC236}">
                <a16:creationId xmlns:a16="http://schemas.microsoft.com/office/drawing/2014/main" id="{4574A879-82EA-47CB-AA34-06417DB24002}"/>
              </a:ext>
            </a:extLst>
          </p:cNvPr>
          <p:cNvGraphicFramePr>
            <a:graphicFrameLocks noChangeAspect="1"/>
          </p:cNvGraphicFramePr>
          <p:nvPr>
            <p:extLst>
              <p:ext uri="{D42A27DB-BD31-4B8C-83A1-F6EECF244321}">
                <p14:modId xmlns:p14="http://schemas.microsoft.com/office/powerpoint/2010/main" val="4161422470"/>
              </p:ext>
            </p:extLst>
          </p:nvPr>
        </p:nvGraphicFramePr>
        <p:xfrm>
          <a:off x="2795345" y="2097130"/>
          <a:ext cx="630748" cy="341314"/>
        </p:xfrm>
        <a:graphic>
          <a:graphicData uri="http://schemas.openxmlformats.org/presentationml/2006/ole">
            <mc:AlternateContent xmlns:mc="http://schemas.openxmlformats.org/markup-compatibility/2006">
              <mc:Choice xmlns:v="urn:schemas-microsoft-com:vml" Requires="v">
                <p:oleObj name="Equation" r:id="rId2" imgW="393480" imgH="203040" progId="Equation.DSMT4">
                  <p:embed/>
                </p:oleObj>
              </mc:Choice>
              <mc:Fallback>
                <p:oleObj name="Equation" r:id="rId2" imgW="393480" imgH="203040" progId="Equation.DSMT4">
                  <p:embed/>
                  <p:pic>
                    <p:nvPicPr>
                      <p:cNvPr id="9" name="Object 8" descr="S subscript 0 colon">
                        <a:extLst>
                          <a:ext uri="{FF2B5EF4-FFF2-40B4-BE49-F238E27FC236}">
                            <a16:creationId xmlns:a16="http://schemas.microsoft.com/office/drawing/2014/main" id="{A9FBC587-CB34-44C4-8127-280EF12E9FE9}"/>
                          </a:ext>
                        </a:extLst>
                      </p:cNvPr>
                      <p:cNvPicPr>
                        <a:picLocks noChangeAspect="1" noChangeArrowheads="1"/>
                      </p:cNvPicPr>
                      <p:nvPr/>
                    </p:nvPicPr>
                    <p:blipFill>
                      <a:blip r:embed="rId3"/>
                      <a:srcRect/>
                      <a:stretch>
                        <a:fillRect/>
                      </a:stretch>
                    </p:blipFill>
                    <p:spPr bwMode="auto">
                      <a:xfrm>
                        <a:off x="2795345" y="2097130"/>
                        <a:ext cx="630748" cy="34131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Content Placeholder 9">
            <a:extLst>
              <a:ext uri="{FF2B5EF4-FFF2-40B4-BE49-F238E27FC236}">
                <a16:creationId xmlns:a16="http://schemas.microsoft.com/office/drawing/2014/main" id="{A0043171-3A75-5120-BF08-0BF4B521DE54}"/>
              </a:ext>
            </a:extLst>
          </p:cNvPr>
          <p:cNvSpPr>
            <a:spLocks noGrp="1"/>
          </p:cNvSpPr>
          <p:nvPr>
            <p:ph sz="quarter" idx="14"/>
          </p:nvPr>
        </p:nvSpPr>
        <p:spPr>
          <a:xfrm>
            <a:off x="3504727" y="2032058"/>
            <a:ext cx="4525175" cy="374906"/>
          </a:xfrm>
        </p:spPr>
        <p:txBody>
          <a:bodyPr wrap="square" lIns="0" tIns="18000" rIns="0" bIns="18000" anchor="ctr" anchorCtr="0">
            <a:spAutoFit/>
          </a:bodyPr>
          <a:lstStyle/>
          <a:p>
            <a:pPr marL="0" indent="0">
              <a:spcBef>
                <a:spcPts val="600"/>
              </a:spcBef>
              <a:buNone/>
            </a:pPr>
            <a:r>
              <a:rPr lang="en-US" altLang="en-US" sz="2200" noProof="0" dirty="0"/>
              <a:t>When we use the inductor current to</a:t>
            </a:r>
            <a:endParaRPr lang="en-US" sz="2200" noProof="0" dirty="0"/>
          </a:p>
        </p:txBody>
      </p:sp>
      <p:sp>
        <p:nvSpPr>
          <p:cNvPr id="11" name="Content Placeholder 10">
            <a:extLst>
              <a:ext uri="{FF2B5EF4-FFF2-40B4-BE49-F238E27FC236}">
                <a16:creationId xmlns:a16="http://schemas.microsoft.com/office/drawing/2014/main" id="{EBF8F874-A40C-9DA7-65A2-E225CE6DF81E}"/>
              </a:ext>
            </a:extLst>
          </p:cNvPr>
          <p:cNvSpPr>
            <a:spLocks noGrp="1"/>
          </p:cNvSpPr>
          <p:nvPr>
            <p:ph sz="quarter" idx="15"/>
          </p:nvPr>
        </p:nvSpPr>
        <p:spPr>
          <a:xfrm>
            <a:off x="428625" y="2513679"/>
            <a:ext cx="8210549" cy="374906"/>
          </a:xfrm>
        </p:spPr>
        <p:txBody>
          <a:bodyPr wrap="square" lIns="0" tIns="18000" rIns="0" bIns="18000" anchor="ctr" anchorCtr="0">
            <a:spAutoFit/>
          </a:bodyPr>
          <a:lstStyle/>
          <a:p>
            <a:pPr marL="0" indent="0">
              <a:spcBef>
                <a:spcPts val="600"/>
              </a:spcBef>
              <a:buNone/>
            </a:pPr>
            <a:r>
              <a:rPr lang="en-US" altLang="en-US" sz="2200" noProof="0" dirty="0"/>
              <a:t>solve for any other voltage or current in the circuit, the resulting </a:t>
            </a:r>
            <a:endParaRPr lang="en-US" sz="2200" noProof="0" dirty="0"/>
          </a:p>
        </p:txBody>
      </p:sp>
      <p:sp>
        <p:nvSpPr>
          <p:cNvPr id="12" name="Content Placeholder 11">
            <a:extLst>
              <a:ext uri="{FF2B5EF4-FFF2-40B4-BE49-F238E27FC236}">
                <a16:creationId xmlns:a16="http://schemas.microsoft.com/office/drawing/2014/main" id="{96C7B6B2-8BA8-7EAA-A47C-46DE8CCE59A7}"/>
              </a:ext>
            </a:extLst>
          </p:cNvPr>
          <p:cNvSpPr>
            <a:spLocks noGrp="1"/>
          </p:cNvSpPr>
          <p:nvPr>
            <p:ph sz="quarter" idx="16"/>
          </p:nvPr>
        </p:nvSpPr>
        <p:spPr>
          <a:xfrm>
            <a:off x="428626" y="2990908"/>
            <a:ext cx="2703873" cy="374906"/>
          </a:xfrm>
        </p:spPr>
        <p:txBody>
          <a:bodyPr wrap="square" lIns="0" tIns="18000" rIns="0" bIns="18000" anchor="ctr" anchorCtr="0">
            <a:spAutoFit/>
          </a:bodyPr>
          <a:lstStyle/>
          <a:p>
            <a:pPr marL="0" indent="0">
              <a:spcBef>
                <a:spcPts val="600"/>
              </a:spcBef>
              <a:buNone/>
            </a:pPr>
            <a:r>
              <a:rPr lang="en-US" sz="2200" noProof="0" dirty="0"/>
              <a:t>expression is valid for </a:t>
            </a:r>
          </a:p>
        </p:txBody>
      </p:sp>
      <p:graphicFrame>
        <p:nvGraphicFramePr>
          <p:cNvPr id="18" name="Object 17" descr="t greater than or equal to 0 superscript plus.">
            <a:extLst>
              <a:ext uri="{FF2B5EF4-FFF2-40B4-BE49-F238E27FC236}">
                <a16:creationId xmlns:a16="http://schemas.microsoft.com/office/drawing/2014/main" id="{5AAC325F-09D8-473C-A022-34144036F548}"/>
              </a:ext>
            </a:extLst>
          </p:cNvPr>
          <p:cNvGraphicFramePr>
            <a:graphicFrameLocks noChangeAspect="1"/>
          </p:cNvGraphicFramePr>
          <p:nvPr>
            <p:extLst>
              <p:ext uri="{D42A27DB-BD31-4B8C-83A1-F6EECF244321}">
                <p14:modId xmlns:p14="http://schemas.microsoft.com/office/powerpoint/2010/main" val="4029807956"/>
              </p:ext>
            </p:extLst>
          </p:nvPr>
        </p:nvGraphicFramePr>
        <p:xfrm>
          <a:off x="3222481" y="3007529"/>
          <a:ext cx="671735" cy="383099"/>
        </p:xfrm>
        <a:graphic>
          <a:graphicData uri="http://schemas.openxmlformats.org/presentationml/2006/ole">
            <mc:AlternateContent xmlns:mc="http://schemas.openxmlformats.org/markup-compatibility/2006">
              <mc:Choice xmlns:v="urn:schemas-microsoft-com:vml" Requires="v">
                <p:oleObj name="Equation" r:id="rId4" imgW="419040" imgH="228600" progId="Equation.DSMT4">
                  <p:embed/>
                </p:oleObj>
              </mc:Choice>
              <mc:Fallback>
                <p:oleObj name="Equation" r:id="rId4" imgW="419040" imgH="228600" progId="Equation.DSMT4">
                  <p:embed/>
                  <p:pic>
                    <p:nvPicPr>
                      <p:cNvPr id="17" name="Object 16" descr="S subscript 0 colon">
                        <a:extLst>
                          <a:ext uri="{FF2B5EF4-FFF2-40B4-BE49-F238E27FC236}">
                            <a16:creationId xmlns:a16="http://schemas.microsoft.com/office/drawing/2014/main" id="{4574A879-82EA-47CB-AA34-06417DB24002}"/>
                          </a:ext>
                        </a:extLst>
                      </p:cNvPr>
                      <p:cNvPicPr>
                        <a:picLocks noChangeAspect="1" noChangeArrowheads="1"/>
                      </p:cNvPicPr>
                      <p:nvPr/>
                    </p:nvPicPr>
                    <p:blipFill>
                      <a:blip r:embed="rId5"/>
                      <a:srcRect/>
                      <a:stretch>
                        <a:fillRect/>
                      </a:stretch>
                    </p:blipFill>
                    <p:spPr bwMode="auto">
                      <a:xfrm>
                        <a:off x="3222481" y="3007529"/>
                        <a:ext cx="671735" cy="38309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 name="Content Placeholder 14">
            <a:extLst>
              <a:ext uri="{FF2B5EF4-FFF2-40B4-BE49-F238E27FC236}">
                <a16:creationId xmlns:a16="http://schemas.microsoft.com/office/drawing/2014/main" id="{7A06D4AB-7861-E784-D8B6-4194044730FD}"/>
              </a:ext>
            </a:extLst>
          </p:cNvPr>
          <p:cNvSpPr>
            <a:spLocks noGrp="1"/>
          </p:cNvSpPr>
          <p:nvPr>
            <p:ph sz="quarter" idx="19"/>
          </p:nvPr>
        </p:nvSpPr>
        <p:spPr>
          <a:xfrm>
            <a:off x="1423639" y="3886483"/>
            <a:ext cx="1310508" cy="405683"/>
          </a:xfrm>
        </p:spPr>
        <p:txBody>
          <a:bodyPr wrap="square" lIns="0" tIns="18000" rIns="0" bIns="18000" anchor="ctr" anchorCtr="0">
            <a:spAutoFit/>
          </a:bodyPr>
          <a:lstStyle/>
          <a:p>
            <a:pPr marL="0" indent="0">
              <a:spcBef>
                <a:spcPts val="600"/>
              </a:spcBef>
              <a:buNone/>
            </a:pPr>
            <a:r>
              <a:rPr lang="en-US" sz="2400" noProof="0" dirty="0">
                <a:solidFill>
                  <a:schemeClr val="tx2"/>
                </a:solidFill>
              </a:rPr>
              <a:t>A.</a:t>
            </a:r>
            <a:r>
              <a:rPr lang="en-US" sz="2400" noProof="0" dirty="0"/>
              <a:t> </a:t>
            </a:r>
            <a:r>
              <a:rPr lang="en-US" sz="2400" noProof="0" dirty="0">
                <a:sym typeface="Symbol"/>
              </a:rPr>
              <a:t>True</a:t>
            </a:r>
          </a:p>
        </p:txBody>
      </p:sp>
      <p:sp>
        <p:nvSpPr>
          <p:cNvPr id="16" name="Content Placeholder 15">
            <a:extLst>
              <a:ext uri="{FF2B5EF4-FFF2-40B4-BE49-F238E27FC236}">
                <a16:creationId xmlns:a16="http://schemas.microsoft.com/office/drawing/2014/main" id="{6D707C30-052F-C39D-5B68-27DD5739E1EB}"/>
              </a:ext>
            </a:extLst>
          </p:cNvPr>
          <p:cNvSpPr>
            <a:spLocks noGrp="1"/>
          </p:cNvSpPr>
          <p:nvPr>
            <p:ph sz="quarter" idx="20"/>
          </p:nvPr>
        </p:nvSpPr>
        <p:spPr>
          <a:xfrm>
            <a:off x="1414113" y="4382524"/>
            <a:ext cx="1310508" cy="405683"/>
          </a:xfrm>
        </p:spPr>
        <p:txBody>
          <a:bodyPr wrap="square" lIns="0" tIns="18000" rIns="0" bIns="18000" anchor="ctr" anchorCtr="0">
            <a:spAutoFit/>
          </a:bodyPr>
          <a:lstStyle/>
          <a:p>
            <a:pPr marL="0" indent="0">
              <a:spcBef>
                <a:spcPts val="600"/>
              </a:spcBef>
              <a:buNone/>
            </a:pPr>
            <a:r>
              <a:rPr lang="en-US" sz="2400" noProof="0" dirty="0">
                <a:solidFill>
                  <a:schemeClr val="tx2"/>
                </a:solidFill>
              </a:rPr>
              <a:t>B.</a:t>
            </a:r>
            <a:r>
              <a:rPr lang="en-US" sz="2400" noProof="0" dirty="0"/>
              <a:t> False</a:t>
            </a:r>
          </a:p>
        </p:txBody>
      </p:sp>
    </p:spTree>
    <p:extLst>
      <p:ext uri="{BB962C8B-B14F-4D97-AF65-F5344CB8AC3E}">
        <p14:creationId xmlns:p14="http://schemas.microsoft.com/office/powerpoint/2010/main" val="11058075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B579E7-C691-90AD-3ABD-C4E2728509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3B7BDA-C790-07F9-A755-DB0399C22544}"/>
              </a:ext>
            </a:extLst>
          </p:cNvPr>
          <p:cNvSpPr>
            <a:spLocks noGrp="1"/>
          </p:cNvSpPr>
          <p:nvPr>
            <p:ph type="title"/>
          </p:nvPr>
        </p:nvSpPr>
        <p:spPr>
          <a:xfrm>
            <a:off x="428625" y="214392"/>
            <a:ext cx="8212138" cy="1144347"/>
          </a:xfrm>
        </p:spPr>
        <p:txBody>
          <a:bodyPr lIns="0" tIns="18000" rIns="0" bIns="18000" anchor="ctr" anchorCtr="0">
            <a:spAutoFit/>
          </a:bodyPr>
          <a:lstStyle/>
          <a:p>
            <a:r>
              <a:rPr lang="en-US" noProof="0" dirty="0"/>
              <a:t>Chapter 7 – </a:t>
            </a:r>
            <a:r>
              <a:rPr lang="en-US" i="1" spc="-450" noProof="0" dirty="0"/>
              <a:t>R </a:t>
            </a:r>
            <a:r>
              <a:rPr lang="en-US" i="1" noProof="0" dirty="0"/>
              <a:t>L/</a:t>
            </a:r>
            <a:r>
              <a:rPr lang="en-US" i="1" spc="-450" noProof="0" dirty="0"/>
              <a:t>R </a:t>
            </a:r>
            <a:r>
              <a:rPr lang="en-US" i="1" noProof="0" dirty="0"/>
              <a:t>C</a:t>
            </a:r>
            <a:r>
              <a:rPr lang="en-US" noProof="0" dirty="0"/>
              <a:t> Natural Response Examples </a:t>
            </a:r>
            <a:r>
              <a:rPr lang="en-US" sz="2800" noProof="0" dirty="0"/>
              <a:t>(9 of 14)</a:t>
            </a:r>
            <a:endParaRPr lang="en-US" noProof="0" dirty="0"/>
          </a:p>
        </p:txBody>
      </p:sp>
      <p:sp>
        <p:nvSpPr>
          <p:cNvPr id="8" name="Content Placeholder 7">
            <a:extLst>
              <a:ext uri="{FF2B5EF4-FFF2-40B4-BE49-F238E27FC236}">
                <a16:creationId xmlns:a16="http://schemas.microsoft.com/office/drawing/2014/main" id="{0A96314A-8C3C-7318-800A-CE75246F692F}"/>
              </a:ext>
            </a:extLst>
          </p:cNvPr>
          <p:cNvSpPr>
            <a:spLocks noGrp="1"/>
          </p:cNvSpPr>
          <p:nvPr>
            <p:ph sz="quarter" idx="12"/>
          </p:nvPr>
        </p:nvSpPr>
        <p:spPr>
          <a:xfrm>
            <a:off x="428625" y="1551654"/>
            <a:ext cx="8643657" cy="374906"/>
          </a:xfrm>
        </p:spPr>
        <p:txBody>
          <a:bodyPr wrap="square" lIns="0" tIns="18000" rIns="0" bIns="18000" anchor="ctr" anchorCtr="0">
            <a:spAutoFit/>
          </a:bodyPr>
          <a:lstStyle/>
          <a:p>
            <a:pPr marL="0" indent="0">
              <a:spcBef>
                <a:spcPts val="600"/>
              </a:spcBef>
              <a:buNone/>
            </a:pPr>
            <a:r>
              <a:rPr lang="en-US" altLang="en-US" sz="2200" noProof="0" dirty="0"/>
              <a:t>In circuits with inductors, we solve for the </a:t>
            </a:r>
            <a:r>
              <a:rPr lang="en-US" altLang="en-US" sz="2200" b="1" noProof="0" dirty="0"/>
              <a:t>inductor current </a:t>
            </a:r>
            <a:r>
              <a:rPr lang="en-US" altLang="en-US" sz="2200" noProof="0" dirty="0"/>
              <a:t>and the</a:t>
            </a:r>
            <a:endParaRPr lang="en-US" sz="2200" noProof="0" dirty="0"/>
          </a:p>
        </p:txBody>
      </p:sp>
      <p:sp>
        <p:nvSpPr>
          <p:cNvPr id="9" name="Content Placeholder 8">
            <a:extLst>
              <a:ext uri="{FF2B5EF4-FFF2-40B4-BE49-F238E27FC236}">
                <a16:creationId xmlns:a16="http://schemas.microsoft.com/office/drawing/2014/main" id="{83EDB3E8-A52B-63D1-8F87-D626911C50CD}"/>
              </a:ext>
            </a:extLst>
          </p:cNvPr>
          <p:cNvSpPr>
            <a:spLocks noGrp="1"/>
          </p:cNvSpPr>
          <p:nvPr>
            <p:ph sz="quarter" idx="13"/>
          </p:nvPr>
        </p:nvSpPr>
        <p:spPr>
          <a:xfrm>
            <a:off x="428626" y="2037429"/>
            <a:ext cx="2305521" cy="374906"/>
          </a:xfrm>
        </p:spPr>
        <p:txBody>
          <a:bodyPr wrap="square" lIns="0" tIns="18000" rIns="0" bIns="18000" anchor="ctr" anchorCtr="0">
            <a:spAutoFit/>
          </a:bodyPr>
          <a:lstStyle/>
          <a:p>
            <a:pPr marL="0" indent="0">
              <a:spcBef>
                <a:spcPts val="600"/>
              </a:spcBef>
              <a:buNone/>
            </a:pPr>
            <a:r>
              <a:rPr lang="en-US" sz="2200" noProof="0" dirty="0"/>
              <a:t>solution is valid for </a:t>
            </a:r>
          </a:p>
        </p:txBody>
      </p:sp>
      <p:graphicFrame>
        <p:nvGraphicFramePr>
          <p:cNvPr id="17" name="Object 16" descr="t is greater than or equal to 0.">
            <a:extLst>
              <a:ext uri="{FF2B5EF4-FFF2-40B4-BE49-F238E27FC236}">
                <a16:creationId xmlns:a16="http://schemas.microsoft.com/office/drawing/2014/main" id="{9BF8A02A-C95A-E090-438F-AF435DE678C6}"/>
              </a:ext>
            </a:extLst>
          </p:cNvPr>
          <p:cNvGraphicFramePr>
            <a:graphicFrameLocks noChangeAspect="1"/>
          </p:cNvGraphicFramePr>
          <p:nvPr/>
        </p:nvGraphicFramePr>
        <p:xfrm>
          <a:off x="2795345" y="2097130"/>
          <a:ext cx="630748" cy="341314"/>
        </p:xfrm>
        <a:graphic>
          <a:graphicData uri="http://schemas.openxmlformats.org/presentationml/2006/ole">
            <mc:AlternateContent xmlns:mc="http://schemas.openxmlformats.org/markup-compatibility/2006">
              <mc:Choice xmlns:v="urn:schemas-microsoft-com:vml" Requires="v">
                <p:oleObj name="Equation" r:id="rId4" imgW="393480" imgH="203040" progId="Equation.DSMT4">
                  <p:embed/>
                </p:oleObj>
              </mc:Choice>
              <mc:Fallback>
                <p:oleObj name="Equation" r:id="rId4" imgW="393480" imgH="203040" progId="Equation.DSMT4">
                  <p:embed/>
                  <p:pic>
                    <p:nvPicPr>
                      <p:cNvPr id="17" name="Object 16" descr="t is greater than or equal to 0.">
                        <a:extLst>
                          <a:ext uri="{FF2B5EF4-FFF2-40B4-BE49-F238E27FC236}">
                            <a16:creationId xmlns:a16="http://schemas.microsoft.com/office/drawing/2014/main" id="{4574A879-82EA-47CB-AA34-06417DB24002}"/>
                          </a:ext>
                        </a:extLst>
                      </p:cNvPr>
                      <p:cNvPicPr>
                        <a:picLocks noChangeAspect="1" noChangeArrowheads="1"/>
                      </p:cNvPicPr>
                      <p:nvPr/>
                    </p:nvPicPr>
                    <p:blipFill>
                      <a:blip r:embed="rId5"/>
                      <a:srcRect/>
                      <a:stretch>
                        <a:fillRect/>
                      </a:stretch>
                    </p:blipFill>
                    <p:spPr bwMode="auto">
                      <a:xfrm>
                        <a:off x="2795345" y="2097130"/>
                        <a:ext cx="630748" cy="34131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Content Placeholder 9">
            <a:extLst>
              <a:ext uri="{FF2B5EF4-FFF2-40B4-BE49-F238E27FC236}">
                <a16:creationId xmlns:a16="http://schemas.microsoft.com/office/drawing/2014/main" id="{4AE2E349-4A06-7EC5-6B03-A5C97A7085A6}"/>
              </a:ext>
            </a:extLst>
          </p:cNvPr>
          <p:cNvSpPr>
            <a:spLocks noGrp="1"/>
          </p:cNvSpPr>
          <p:nvPr>
            <p:ph sz="quarter" idx="14"/>
          </p:nvPr>
        </p:nvSpPr>
        <p:spPr>
          <a:xfrm>
            <a:off x="3504727" y="2032058"/>
            <a:ext cx="4525175" cy="374906"/>
          </a:xfrm>
        </p:spPr>
        <p:txBody>
          <a:bodyPr wrap="square" lIns="0" tIns="18000" rIns="0" bIns="18000" anchor="ctr" anchorCtr="0">
            <a:spAutoFit/>
          </a:bodyPr>
          <a:lstStyle/>
          <a:p>
            <a:pPr marL="0" indent="0">
              <a:spcBef>
                <a:spcPts val="600"/>
              </a:spcBef>
              <a:buNone/>
            </a:pPr>
            <a:r>
              <a:rPr lang="en-US" altLang="en-US" sz="2200" noProof="0" dirty="0"/>
              <a:t>When we use the inductor current to</a:t>
            </a:r>
            <a:endParaRPr lang="en-US" sz="2200" noProof="0" dirty="0"/>
          </a:p>
        </p:txBody>
      </p:sp>
      <p:sp>
        <p:nvSpPr>
          <p:cNvPr id="11" name="Content Placeholder 10">
            <a:extLst>
              <a:ext uri="{FF2B5EF4-FFF2-40B4-BE49-F238E27FC236}">
                <a16:creationId xmlns:a16="http://schemas.microsoft.com/office/drawing/2014/main" id="{7139059E-686C-85EE-1405-0DCF7B77CF79}"/>
              </a:ext>
            </a:extLst>
          </p:cNvPr>
          <p:cNvSpPr>
            <a:spLocks noGrp="1"/>
          </p:cNvSpPr>
          <p:nvPr>
            <p:ph sz="quarter" idx="15"/>
          </p:nvPr>
        </p:nvSpPr>
        <p:spPr>
          <a:xfrm>
            <a:off x="428625" y="2513679"/>
            <a:ext cx="8210549" cy="374906"/>
          </a:xfrm>
        </p:spPr>
        <p:txBody>
          <a:bodyPr wrap="square" lIns="0" tIns="18000" rIns="0" bIns="18000" anchor="ctr" anchorCtr="0">
            <a:spAutoFit/>
          </a:bodyPr>
          <a:lstStyle/>
          <a:p>
            <a:pPr marL="0" indent="0">
              <a:spcBef>
                <a:spcPts val="600"/>
              </a:spcBef>
              <a:buNone/>
            </a:pPr>
            <a:r>
              <a:rPr lang="en-US" altLang="en-US" sz="2200" noProof="0" dirty="0"/>
              <a:t>solve for any other voltage or current in the circuit, the resulting </a:t>
            </a:r>
            <a:endParaRPr lang="en-US" sz="2200" noProof="0" dirty="0"/>
          </a:p>
        </p:txBody>
      </p:sp>
      <p:sp>
        <p:nvSpPr>
          <p:cNvPr id="12" name="Content Placeholder 11">
            <a:extLst>
              <a:ext uri="{FF2B5EF4-FFF2-40B4-BE49-F238E27FC236}">
                <a16:creationId xmlns:a16="http://schemas.microsoft.com/office/drawing/2014/main" id="{02AD1354-466A-A977-1B49-372E2E3B11E8}"/>
              </a:ext>
            </a:extLst>
          </p:cNvPr>
          <p:cNvSpPr>
            <a:spLocks noGrp="1"/>
          </p:cNvSpPr>
          <p:nvPr>
            <p:ph sz="quarter" idx="16"/>
          </p:nvPr>
        </p:nvSpPr>
        <p:spPr>
          <a:xfrm>
            <a:off x="428626" y="2990908"/>
            <a:ext cx="2703873" cy="374906"/>
          </a:xfrm>
        </p:spPr>
        <p:txBody>
          <a:bodyPr wrap="square" lIns="0" tIns="18000" rIns="0" bIns="18000" anchor="ctr" anchorCtr="0">
            <a:spAutoFit/>
          </a:bodyPr>
          <a:lstStyle/>
          <a:p>
            <a:pPr marL="0" indent="0">
              <a:spcBef>
                <a:spcPts val="600"/>
              </a:spcBef>
              <a:buNone/>
            </a:pPr>
            <a:r>
              <a:rPr lang="en-US" sz="2200" noProof="0" dirty="0"/>
              <a:t>expression is valid for </a:t>
            </a:r>
          </a:p>
        </p:txBody>
      </p:sp>
      <p:graphicFrame>
        <p:nvGraphicFramePr>
          <p:cNvPr id="18" name="Object 17" descr="t greater than or equal to 0 superscript plus.">
            <a:extLst>
              <a:ext uri="{FF2B5EF4-FFF2-40B4-BE49-F238E27FC236}">
                <a16:creationId xmlns:a16="http://schemas.microsoft.com/office/drawing/2014/main" id="{D7C17BBA-0D36-E564-F3CE-F79168A609A6}"/>
              </a:ext>
            </a:extLst>
          </p:cNvPr>
          <p:cNvGraphicFramePr>
            <a:graphicFrameLocks noChangeAspect="1"/>
          </p:cNvGraphicFramePr>
          <p:nvPr/>
        </p:nvGraphicFramePr>
        <p:xfrm>
          <a:off x="3222481" y="3007529"/>
          <a:ext cx="671735" cy="383099"/>
        </p:xfrm>
        <a:graphic>
          <a:graphicData uri="http://schemas.openxmlformats.org/presentationml/2006/ole">
            <mc:AlternateContent xmlns:mc="http://schemas.openxmlformats.org/markup-compatibility/2006">
              <mc:Choice xmlns:v="urn:schemas-microsoft-com:vml" Requires="v">
                <p:oleObj name="Equation" r:id="rId6" imgW="419040" imgH="228600" progId="Equation.DSMT4">
                  <p:embed/>
                </p:oleObj>
              </mc:Choice>
              <mc:Fallback>
                <p:oleObj name="Equation" r:id="rId6" imgW="419040" imgH="228600" progId="Equation.DSMT4">
                  <p:embed/>
                  <p:pic>
                    <p:nvPicPr>
                      <p:cNvPr id="18" name="Object 17" descr="t greater than or equal to 0 superscript plus.">
                        <a:extLst>
                          <a:ext uri="{FF2B5EF4-FFF2-40B4-BE49-F238E27FC236}">
                            <a16:creationId xmlns:a16="http://schemas.microsoft.com/office/drawing/2014/main" id="{5AAC325F-09D8-473C-A022-34144036F548}"/>
                          </a:ext>
                        </a:extLst>
                      </p:cNvPr>
                      <p:cNvPicPr>
                        <a:picLocks noChangeAspect="1" noChangeArrowheads="1"/>
                      </p:cNvPicPr>
                      <p:nvPr/>
                    </p:nvPicPr>
                    <p:blipFill>
                      <a:blip r:embed="rId7"/>
                      <a:srcRect/>
                      <a:stretch>
                        <a:fillRect/>
                      </a:stretch>
                    </p:blipFill>
                    <p:spPr bwMode="auto">
                      <a:xfrm>
                        <a:off x="3222481" y="3007529"/>
                        <a:ext cx="671735" cy="38309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 name="Content Placeholder 14">
            <a:extLst>
              <a:ext uri="{FF2B5EF4-FFF2-40B4-BE49-F238E27FC236}">
                <a16:creationId xmlns:a16="http://schemas.microsoft.com/office/drawing/2014/main" id="{70C481E2-1419-12E0-5D62-58AE65B29B79}"/>
              </a:ext>
            </a:extLst>
          </p:cNvPr>
          <p:cNvSpPr>
            <a:spLocks noGrp="1"/>
          </p:cNvSpPr>
          <p:nvPr>
            <p:ph sz="quarter" idx="19"/>
          </p:nvPr>
        </p:nvSpPr>
        <p:spPr>
          <a:xfrm>
            <a:off x="1423639" y="3886483"/>
            <a:ext cx="1310508" cy="405683"/>
          </a:xfrm>
        </p:spPr>
        <p:txBody>
          <a:bodyPr wrap="square" lIns="0" tIns="18000" rIns="0" bIns="18000" anchor="ctr" anchorCtr="0">
            <a:spAutoFit/>
          </a:bodyPr>
          <a:lstStyle/>
          <a:p>
            <a:pPr marL="0" indent="0">
              <a:spcBef>
                <a:spcPts val="600"/>
              </a:spcBef>
              <a:buNone/>
            </a:pPr>
            <a:r>
              <a:rPr lang="en-US" sz="2400" noProof="0" dirty="0">
                <a:solidFill>
                  <a:schemeClr val="tx2"/>
                </a:solidFill>
              </a:rPr>
              <a:t>A.</a:t>
            </a:r>
            <a:r>
              <a:rPr lang="en-US" sz="2400" noProof="0" dirty="0"/>
              <a:t> </a:t>
            </a:r>
            <a:r>
              <a:rPr lang="en-US" sz="2400" noProof="0" dirty="0">
                <a:sym typeface="Symbol"/>
              </a:rPr>
              <a:t>True</a:t>
            </a:r>
          </a:p>
        </p:txBody>
      </p:sp>
      <p:sp>
        <p:nvSpPr>
          <p:cNvPr id="16" name="Content Placeholder 15">
            <a:extLst>
              <a:ext uri="{FF2B5EF4-FFF2-40B4-BE49-F238E27FC236}">
                <a16:creationId xmlns:a16="http://schemas.microsoft.com/office/drawing/2014/main" id="{D274E4D4-B5B3-4A83-8DA4-4019F79C0122}"/>
              </a:ext>
            </a:extLst>
          </p:cNvPr>
          <p:cNvSpPr>
            <a:spLocks noGrp="1"/>
          </p:cNvSpPr>
          <p:nvPr>
            <p:ph sz="quarter" idx="20"/>
          </p:nvPr>
        </p:nvSpPr>
        <p:spPr>
          <a:xfrm>
            <a:off x="1414113" y="4382524"/>
            <a:ext cx="1310508" cy="405683"/>
          </a:xfrm>
        </p:spPr>
        <p:txBody>
          <a:bodyPr wrap="square" lIns="0" tIns="18000" rIns="0" bIns="18000" anchor="ctr" anchorCtr="0">
            <a:spAutoFit/>
          </a:bodyPr>
          <a:lstStyle/>
          <a:p>
            <a:pPr marL="0" indent="0">
              <a:spcBef>
                <a:spcPts val="600"/>
              </a:spcBef>
              <a:buNone/>
            </a:pPr>
            <a:r>
              <a:rPr lang="en-US" sz="2400" noProof="0" dirty="0">
                <a:solidFill>
                  <a:schemeClr val="tx2"/>
                </a:solidFill>
              </a:rPr>
              <a:t>B.</a:t>
            </a:r>
            <a:r>
              <a:rPr lang="en-US" sz="2400" noProof="0" dirty="0"/>
              <a:t> False</a:t>
            </a:r>
          </a:p>
        </p:txBody>
      </p:sp>
      <p:pic>
        <p:nvPicPr>
          <p:cNvPr id="3" name="Picture 1435" descr="Check mark">
            <a:extLst>
              <a:ext uri="{FF2B5EF4-FFF2-40B4-BE49-F238E27FC236}">
                <a16:creationId xmlns:a16="http://schemas.microsoft.com/office/drawing/2014/main" id="{89D597CA-FD32-9C30-4D3F-477460B361E7}"/>
              </a:ext>
            </a:extLst>
          </p:cNvPr>
          <p:cNvPicPr>
            <a:picLocks noChangeAspect="1"/>
          </p:cNvPicPr>
          <p:nvPr>
            <p:custDataLst>
              <p:tags r:id="rId1"/>
            </p:custDataLst>
          </p:nvPr>
        </p:nvPicPr>
        <p:blipFill>
          <a:blip r:embed="rId8">
            <a:extLst>
              <a:ext uri="{28A0092B-C50C-407E-A947-70E740481C1C}">
                <a14:useLocalDpi xmlns:a14="http://schemas.microsoft.com/office/drawing/2010/main" val="0"/>
              </a:ext>
            </a:extLst>
          </a:blip>
          <a:srcRect/>
          <a:stretch>
            <a:fillRect/>
          </a:stretch>
        </p:blipFill>
        <p:spPr bwMode="auto">
          <a:xfrm>
            <a:off x="1011160" y="3989911"/>
            <a:ext cx="326258" cy="326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1436" descr="Cross mark">
            <a:extLst>
              <a:ext uri="{FF2B5EF4-FFF2-40B4-BE49-F238E27FC236}">
                <a16:creationId xmlns:a16="http://schemas.microsoft.com/office/drawing/2014/main" id="{56127FAF-D483-7123-D0C4-DE8EA52DC642}"/>
              </a:ext>
            </a:extLst>
          </p:cNvPr>
          <p:cNvPicPr>
            <a:picLocks noChangeAspect="1"/>
          </p:cNvPicPr>
          <p:nvPr>
            <p:custDataLst>
              <p:tags r:id="rId2"/>
            </p:custDataLst>
          </p:nvPr>
        </p:nvPicPr>
        <p:blipFill>
          <a:blip r:embed="rId9">
            <a:extLst>
              <a:ext uri="{28A0092B-C50C-407E-A947-70E740481C1C}">
                <a14:useLocalDpi xmlns:a14="http://schemas.microsoft.com/office/drawing/2010/main" val="0"/>
              </a:ext>
            </a:extLst>
          </a:blip>
          <a:srcRect/>
          <a:stretch>
            <a:fillRect/>
          </a:stretch>
        </p:blipFill>
        <p:spPr bwMode="auto">
          <a:xfrm>
            <a:off x="1019077" y="4484256"/>
            <a:ext cx="310424" cy="310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050437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7056" y="212344"/>
            <a:ext cx="8213707" cy="1144347"/>
          </a:xfrm>
        </p:spPr>
        <p:txBody>
          <a:bodyPr wrap="square" lIns="0" tIns="18000" rIns="0" bIns="18000" anchor="ctr" anchorCtr="0">
            <a:spAutoFit/>
          </a:bodyPr>
          <a:lstStyle/>
          <a:p>
            <a:pPr>
              <a:spcBef>
                <a:spcPts val="600"/>
              </a:spcBef>
            </a:pPr>
            <a:r>
              <a:rPr lang="en-US" noProof="0" dirty="0"/>
              <a:t>Chapter 7 – </a:t>
            </a:r>
            <a:r>
              <a:rPr lang="en-US" i="1" spc="-450" noProof="0" dirty="0"/>
              <a:t>R </a:t>
            </a:r>
            <a:r>
              <a:rPr lang="en-US" i="1" noProof="0" dirty="0"/>
              <a:t>L/</a:t>
            </a:r>
            <a:r>
              <a:rPr lang="en-US" i="1" spc="-450" noProof="0" dirty="0"/>
              <a:t>R </a:t>
            </a:r>
            <a:r>
              <a:rPr lang="en-US" i="1" noProof="0" dirty="0"/>
              <a:t>C</a:t>
            </a:r>
            <a:r>
              <a:rPr lang="en-US" noProof="0" dirty="0"/>
              <a:t> Natural Response Examples </a:t>
            </a:r>
            <a:r>
              <a:rPr lang="en-US" sz="2800" noProof="0" dirty="0"/>
              <a:t>(10 of 14)</a:t>
            </a:r>
          </a:p>
        </p:txBody>
      </p:sp>
      <p:sp>
        <p:nvSpPr>
          <p:cNvPr id="3" name="Content Placeholder 2">
            <a:extLst>
              <a:ext uri="{FF2B5EF4-FFF2-40B4-BE49-F238E27FC236}">
                <a16:creationId xmlns:a16="http://schemas.microsoft.com/office/drawing/2014/main" id="{19A7CEC8-983F-F96B-293A-4C44E1799433}"/>
              </a:ext>
            </a:extLst>
          </p:cNvPr>
          <p:cNvSpPr>
            <a:spLocks noGrp="1"/>
          </p:cNvSpPr>
          <p:nvPr>
            <p:ph sz="quarter" idx="15"/>
          </p:nvPr>
        </p:nvSpPr>
        <p:spPr>
          <a:xfrm>
            <a:off x="428625" y="1645222"/>
            <a:ext cx="4143375" cy="1052014"/>
          </a:xfrm>
        </p:spPr>
        <p:txBody>
          <a:bodyPr wrap="square" lIns="0" tIns="18000" rIns="0" bIns="18000" anchor="ctr" anchorCtr="0">
            <a:spAutoFit/>
          </a:bodyPr>
          <a:lstStyle/>
          <a:p>
            <a:pPr marL="0" indent="0">
              <a:spcBef>
                <a:spcPts val="600"/>
              </a:spcBef>
              <a:buNone/>
            </a:pPr>
            <a:r>
              <a:rPr lang="en-US" sz="2200" noProof="0" dirty="0"/>
              <a:t>Find the time at which 75% of the initial stored energy has been dissipated.</a:t>
            </a:r>
          </a:p>
        </p:txBody>
      </p:sp>
      <p:pic>
        <p:nvPicPr>
          <p:cNvPr id="21" name="Picture 20" descr="A circuit diagram shows a current source of 7.5 milli amperes as the leftmost wire in the circuit. From left to right, an 80 kilo ohms resistor, 0.4 micro farad capacitor, and a 50 kilo ohms resistor are connected in parallel to the 7.5 milli ampere current source. On the top wire of the circuit and between the wires for the 80 kilo ohms resistor and the 0.4 micro farad capacitor are a 20 kilo ohms resistor and a switch. The switch is opened when time t is a t zero. Voltage v with t in parenthesis develops across the 50 kilo ohms resistor with positive polarity at the top node and negative polarity at the bottom node. Voltage v with t in parenthesis changes with time.">
            <a:extLst>
              <a:ext uri="{FF2B5EF4-FFF2-40B4-BE49-F238E27FC236}">
                <a16:creationId xmlns:a16="http://schemas.microsoft.com/office/drawing/2014/main" id="{F910CF60-2FBD-04AE-6115-FBB30D390DA3}"/>
              </a:ext>
            </a:extLst>
          </p:cNvPr>
          <p:cNvPicPr>
            <a:picLocks noChangeAspect="1"/>
          </p:cNvPicPr>
          <p:nvPr/>
        </p:nvPicPr>
        <p:blipFill>
          <a:blip r:embed="rId2"/>
          <a:srcRect/>
          <a:stretch/>
        </p:blipFill>
        <p:spPr>
          <a:xfrm>
            <a:off x="4876548" y="1620802"/>
            <a:ext cx="3600953" cy="1226354"/>
          </a:xfrm>
          <a:prstGeom prst="rect">
            <a:avLst/>
          </a:prstGeom>
        </p:spPr>
      </p:pic>
      <p:sp>
        <p:nvSpPr>
          <p:cNvPr id="12" name="Content Placeholder 11">
            <a:extLst>
              <a:ext uri="{FF2B5EF4-FFF2-40B4-BE49-F238E27FC236}">
                <a16:creationId xmlns:a16="http://schemas.microsoft.com/office/drawing/2014/main" id="{13419B68-B3AD-90F1-D515-13E70DA081DB}"/>
              </a:ext>
            </a:extLst>
          </p:cNvPr>
          <p:cNvSpPr>
            <a:spLocks noGrp="1"/>
          </p:cNvSpPr>
          <p:nvPr>
            <p:ph sz="quarter" idx="12"/>
          </p:nvPr>
        </p:nvSpPr>
        <p:spPr>
          <a:xfrm>
            <a:off x="428625" y="3170604"/>
            <a:ext cx="5878896" cy="374906"/>
          </a:xfrm>
        </p:spPr>
        <p:txBody>
          <a:bodyPr wrap="square" lIns="0" tIns="18000" rIns="0" bIns="18000" anchor="ctr" anchorCtr="0">
            <a:spAutoFit/>
          </a:bodyPr>
          <a:lstStyle/>
          <a:p>
            <a:pPr marL="0" indent="0">
              <a:spcBef>
                <a:spcPts val="600"/>
              </a:spcBef>
              <a:buNone/>
            </a:pPr>
            <a:r>
              <a:rPr lang="en-US" altLang="en-US" sz="2200" noProof="0" dirty="0"/>
              <a:t>Step 1 – Determine the initial capacitor voltage,</a:t>
            </a:r>
            <a:endParaRPr lang="en-US" sz="2200" noProof="0" dirty="0"/>
          </a:p>
        </p:txBody>
      </p:sp>
      <p:graphicFrame>
        <p:nvGraphicFramePr>
          <p:cNvPr id="10" name="Object 9" descr="V subscript 0">
            <a:extLst>
              <a:ext uri="{FF2B5EF4-FFF2-40B4-BE49-F238E27FC236}">
                <a16:creationId xmlns:a16="http://schemas.microsoft.com/office/drawing/2014/main" id="{691163D7-0B8B-4205-A6DF-869710374D31}"/>
              </a:ext>
            </a:extLst>
          </p:cNvPr>
          <p:cNvGraphicFramePr>
            <a:graphicFrameLocks noChangeAspect="1"/>
          </p:cNvGraphicFramePr>
          <p:nvPr>
            <p:extLst>
              <p:ext uri="{D42A27DB-BD31-4B8C-83A1-F6EECF244321}">
                <p14:modId xmlns:p14="http://schemas.microsoft.com/office/powerpoint/2010/main" val="1680677079"/>
              </p:ext>
            </p:extLst>
          </p:nvPr>
        </p:nvGraphicFramePr>
        <p:xfrm>
          <a:off x="6375400" y="3184525"/>
          <a:ext cx="382588" cy="423863"/>
        </p:xfrm>
        <a:graphic>
          <a:graphicData uri="http://schemas.openxmlformats.org/presentationml/2006/ole">
            <mc:AlternateContent xmlns:mc="http://schemas.openxmlformats.org/markup-compatibility/2006">
              <mc:Choice xmlns:v="urn:schemas-microsoft-com:vml" Requires="v">
                <p:oleObj name="Equation" r:id="rId3" imgW="215640" imgH="228600" progId="Equation.DSMT4">
                  <p:embed/>
                </p:oleObj>
              </mc:Choice>
              <mc:Fallback>
                <p:oleObj name="Equation" r:id="rId3" imgW="215640" imgH="228600" progId="Equation.DSMT4">
                  <p:embed/>
                  <p:pic>
                    <p:nvPicPr>
                      <p:cNvPr id="9" name="Object 8" descr="S subscript 0 colon">
                        <a:extLst>
                          <a:ext uri="{FF2B5EF4-FFF2-40B4-BE49-F238E27FC236}">
                            <a16:creationId xmlns:a16="http://schemas.microsoft.com/office/drawing/2014/main" id="{A9FBC587-CB34-44C4-8127-280EF12E9FE9}"/>
                          </a:ext>
                        </a:extLst>
                      </p:cNvPr>
                      <p:cNvPicPr>
                        <a:picLocks noChangeAspect="1" noChangeArrowheads="1"/>
                      </p:cNvPicPr>
                      <p:nvPr/>
                    </p:nvPicPr>
                    <p:blipFill>
                      <a:blip r:embed="rId4"/>
                      <a:srcRect/>
                      <a:stretch>
                        <a:fillRect/>
                      </a:stretch>
                    </p:blipFill>
                    <p:spPr bwMode="auto">
                      <a:xfrm>
                        <a:off x="6375400" y="3184525"/>
                        <a:ext cx="382588" cy="4238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 name="Content Placeholder 13">
            <a:extLst>
              <a:ext uri="{FF2B5EF4-FFF2-40B4-BE49-F238E27FC236}">
                <a16:creationId xmlns:a16="http://schemas.microsoft.com/office/drawing/2014/main" id="{7F4267B7-E7CB-C487-BB71-25A96C980F1C}"/>
              </a:ext>
            </a:extLst>
          </p:cNvPr>
          <p:cNvSpPr>
            <a:spLocks noGrp="1"/>
          </p:cNvSpPr>
          <p:nvPr>
            <p:ph sz="quarter" idx="13"/>
          </p:nvPr>
        </p:nvSpPr>
        <p:spPr>
          <a:xfrm>
            <a:off x="6829448" y="3151852"/>
            <a:ext cx="1628917" cy="374906"/>
          </a:xfrm>
        </p:spPr>
        <p:txBody>
          <a:bodyPr wrap="square" lIns="0" tIns="18000" rIns="0" bIns="18000" anchor="ctr" anchorCtr="0">
            <a:spAutoFit/>
          </a:bodyPr>
          <a:lstStyle/>
          <a:p>
            <a:pPr marL="0" indent="0">
              <a:spcBef>
                <a:spcPts val="600"/>
              </a:spcBef>
              <a:buNone/>
            </a:pPr>
            <a:r>
              <a:rPr lang="en-US" sz="2200" noProof="0" dirty="0"/>
              <a:t>by analyzing</a:t>
            </a:r>
          </a:p>
        </p:txBody>
      </p:sp>
      <p:sp>
        <p:nvSpPr>
          <p:cNvPr id="17" name="Content Placeholder 16">
            <a:extLst>
              <a:ext uri="{FF2B5EF4-FFF2-40B4-BE49-F238E27FC236}">
                <a16:creationId xmlns:a16="http://schemas.microsoft.com/office/drawing/2014/main" id="{566DE449-AA81-7FB3-A4AC-1F7906708D3D}"/>
              </a:ext>
            </a:extLst>
          </p:cNvPr>
          <p:cNvSpPr>
            <a:spLocks noGrp="1"/>
          </p:cNvSpPr>
          <p:nvPr>
            <p:ph sz="quarter" idx="14"/>
          </p:nvPr>
        </p:nvSpPr>
        <p:spPr>
          <a:xfrm>
            <a:off x="431059" y="3594306"/>
            <a:ext cx="1605972" cy="374906"/>
          </a:xfrm>
        </p:spPr>
        <p:txBody>
          <a:bodyPr wrap="square" lIns="0" tIns="18000" rIns="0" bIns="18000" anchor="ctr" anchorCtr="0">
            <a:spAutoFit/>
          </a:bodyPr>
          <a:lstStyle/>
          <a:p>
            <a:pPr marL="0" indent="0">
              <a:spcBef>
                <a:spcPts val="600"/>
              </a:spcBef>
              <a:buNone/>
            </a:pPr>
            <a:r>
              <a:rPr lang="en-US" altLang="en-US" sz="2200" noProof="0" dirty="0"/>
              <a:t>the circuit for</a:t>
            </a:r>
            <a:endParaRPr lang="en-US" sz="2200" noProof="0" dirty="0"/>
          </a:p>
        </p:txBody>
      </p:sp>
      <p:graphicFrame>
        <p:nvGraphicFramePr>
          <p:cNvPr id="9" name="Object 8" descr="t is less than 0.">
            <a:extLst>
              <a:ext uri="{FF2B5EF4-FFF2-40B4-BE49-F238E27FC236}">
                <a16:creationId xmlns:a16="http://schemas.microsoft.com/office/drawing/2014/main" id="{A9FBC587-CB34-44C4-8127-280EF12E9FE9}"/>
              </a:ext>
            </a:extLst>
          </p:cNvPr>
          <p:cNvGraphicFramePr>
            <a:graphicFrameLocks noChangeAspect="1"/>
          </p:cNvGraphicFramePr>
          <p:nvPr>
            <p:extLst>
              <p:ext uri="{D42A27DB-BD31-4B8C-83A1-F6EECF244321}">
                <p14:modId xmlns:p14="http://schemas.microsoft.com/office/powerpoint/2010/main" val="3500148615"/>
              </p:ext>
            </p:extLst>
          </p:nvPr>
        </p:nvGraphicFramePr>
        <p:xfrm>
          <a:off x="2095880" y="3655223"/>
          <a:ext cx="624502" cy="337934"/>
        </p:xfrm>
        <a:graphic>
          <a:graphicData uri="http://schemas.openxmlformats.org/presentationml/2006/ole">
            <mc:AlternateContent xmlns:mc="http://schemas.openxmlformats.org/markup-compatibility/2006">
              <mc:Choice xmlns:v="urn:schemas-microsoft-com:vml" Requires="v">
                <p:oleObj name="Equation" r:id="rId5" imgW="393480" imgH="203040" progId="Equation.DSMT4">
                  <p:embed/>
                </p:oleObj>
              </mc:Choice>
              <mc:Fallback>
                <p:oleObj name="Equation" r:id="rId5" imgW="393480" imgH="203040" progId="Equation.DSMT4">
                  <p:embed/>
                  <p:pic>
                    <p:nvPicPr>
                      <p:cNvPr id="14" name="Object 13" descr="S subscript 0 colon">
                        <a:extLst>
                          <a:ext uri="{FF2B5EF4-FFF2-40B4-BE49-F238E27FC236}">
                            <a16:creationId xmlns:a16="http://schemas.microsoft.com/office/drawing/2014/main" id="{8C349D8A-0D01-4855-A2A1-A565906BF6F5}"/>
                          </a:ext>
                        </a:extLst>
                      </p:cNvPr>
                      <p:cNvPicPr>
                        <a:picLocks noChangeAspect="1" noChangeArrowheads="1"/>
                      </p:cNvPicPr>
                      <p:nvPr/>
                    </p:nvPicPr>
                    <p:blipFill>
                      <a:blip r:embed="rId6"/>
                      <a:srcRect/>
                      <a:stretch>
                        <a:fillRect/>
                      </a:stretch>
                    </p:blipFill>
                    <p:spPr bwMode="auto">
                      <a:xfrm>
                        <a:off x="2095880" y="3655223"/>
                        <a:ext cx="624502" cy="33793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25" name="Picture 24" descr="A circuit diagram shows conditions in a circuit when time t is less than zero. A current source of 7.5 milli amperes as the leftmost wire in the circuit. From left to right, an 80 kilo ohms resistor, 0.4 micro farad capacitor, and a 50 kilo ohms resistor are connected in parallel to the 7.5 milli ampere current source. The 0.4 micro farad capacitor is acting as a voltage source supplying voltage V subscript 0 that has positive polarity at the top node and negative at the bottom. On the top wire of the circuit and between the wires for the 80 kilo ohms resistor and the 0.4 micro farad capacitor is a 20 kilo ohms resistor.">
            <a:extLst>
              <a:ext uri="{FF2B5EF4-FFF2-40B4-BE49-F238E27FC236}">
                <a16:creationId xmlns:a16="http://schemas.microsoft.com/office/drawing/2014/main" id="{4B841819-962B-6D65-D862-C5626E9C697D}"/>
              </a:ext>
            </a:extLst>
          </p:cNvPr>
          <p:cNvPicPr>
            <a:picLocks noChangeAspect="1"/>
          </p:cNvPicPr>
          <p:nvPr/>
        </p:nvPicPr>
        <p:blipFill>
          <a:blip r:embed="rId7"/>
          <a:stretch>
            <a:fillRect/>
          </a:stretch>
        </p:blipFill>
        <p:spPr>
          <a:xfrm>
            <a:off x="2481839" y="4470661"/>
            <a:ext cx="4158198" cy="1600423"/>
          </a:xfrm>
          <a:prstGeom prst="rect">
            <a:avLst/>
          </a:prstGeom>
        </p:spPr>
      </p:pic>
    </p:spTree>
    <p:extLst>
      <p:ext uri="{BB962C8B-B14F-4D97-AF65-F5344CB8AC3E}">
        <p14:creationId xmlns:p14="http://schemas.microsoft.com/office/powerpoint/2010/main" val="6499444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8625" y="214392"/>
            <a:ext cx="8212138" cy="1144347"/>
          </a:xfrm>
        </p:spPr>
        <p:txBody>
          <a:bodyPr wrap="square" lIns="0" tIns="18000" rIns="0" bIns="18000" anchor="ctr" anchorCtr="0">
            <a:spAutoFit/>
          </a:bodyPr>
          <a:lstStyle/>
          <a:p>
            <a:pPr>
              <a:spcBef>
                <a:spcPts val="600"/>
              </a:spcBef>
            </a:pPr>
            <a:r>
              <a:rPr lang="en-US" noProof="0" dirty="0"/>
              <a:t>Chapter 7 – </a:t>
            </a:r>
            <a:r>
              <a:rPr lang="en-US" i="1" spc="-450" noProof="0" dirty="0"/>
              <a:t>R </a:t>
            </a:r>
            <a:r>
              <a:rPr lang="en-US" i="1" noProof="0" dirty="0"/>
              <a:t>L/</a:t>
            </a:r>
            <a:r>
              <a:rPr lang="en-US" i="1" spc="-450" noProof="0" dirty="0"/>
              <a:t>R </a:t>
            </a:r>
            <a:r>
              <a:rPr lang="en-US" i="1" noProof="0" dirty="0"/>
              <a:t>C</a:t>
            </a:r>
            <a:r>
              <a:rPr lang="en-US" noProof="0" dirty="0"/>
              <a:t> Natural Response Examples </a:t>
            </a:r>
            <a:r>
              <a:rPr lang="en-US" sz="2800" noProof="0" dirty="0"/>
              <a:t>(11 of 14)</a:t>
            </a:r>
          </a:p>
        </p:txBody>
      </p:sp>
      <p:sp>
        <p:nvSpPr>
          <p:cNvPr id="8" name="Content Placeholder 7">
            <a:extLst>
              <a:ext uri="{FF2B5EF4-FFF2-40B4-BE49-F238E27FC236}">
                <a16:creationId xmlns:a16="http://schemas.microsoft.com/office/drawing/2014/main" id="{98015D70-0D40-A5C5-E8BF-FED00B0CB1FE}"/>
              </a:ext>
            </a:extLst>
          </p:cNvPr>
          <p:cNvSpPr>
            <a:spLocks noGrp="1"/>
          </p:cNvSpPr>
          <p:nvPr>
            <p:ph sz="quarter" idx="12"/>
          </p:nvPr>
        </p:nvSpPr>
        <p:spPr>
          <a:xfrm>
            <a:off x="423918" y="1576508"/>
            <a:ext cx="8212138" cy="1144347"/>
          </a:xfrm>
        </p:spPr>
        <p:txBody>
          <a:bodyPr wrap="square" lIns="0" tIns="18000" rIns="0" bIns="18000" anchor="ctr" anchorCtr="0">
            <a:spAutoFit/>
          </a:bodyPr>
          <a:lstStyle/>
          <a:p>
            <a:pPr marL="0" indent="0">
              <a:spcBef>
                <a:spcPts val="600"/>
              </a:spcBef>
              <a:buNone/>
            </a:pPr>
            <a:r>
              <a:rPr lang="en-US" sz="2400" noProof="0" dirty="0"/>
              <a:t>In the circuit used to find the initial voltage drop across the capacitor, the voltage drop across the open circuit is the same as the voltage drop across</a:t>
            </a:r>
          </a:p>
        </p:txBody>
      </p:sp>
      <p:pic>
        <p:nvPicPr>
          <p:cNvPr id="3" name="Picture 2" descr="A circuit diagram shows conditions in a circuit when time t is less than zero. A current source of 7.5 milli amperes as the leftmost wire in the circuit. From left to right, an 80 kilo ohms resistor, 0.4 micro farad capacitor, and a 50 kilo ohms resistor are connected in parallel to the 7.5 milli ampere current source. The 0.4 micro farad capacitor is acting as a voltage source supplying voltage V subscript 0 that has positive polarity at the top node and negative at the bottom. On the top wire of the circuit and between the wires for the 80 kilo ohms resistor and the 0.4 micro farad capacitor is a 20 kilo ohms resistor.">
            <a:extLst>
              <a:ext uri="{FF2B5EF4-FFF2-40B4-BE49-F238E27FC236}">
                <a16:creationId xmlns:a16="http://schemas.microsoft.com/office/drawing/2014/main" id="{65B23B3C-6E08-4245-BF98-37DEE9FC56F9}"/>
              </a:ext>
            </a:extLst>
          </p:cNvPr>
          <p:cNvPicPr>
            <a:picLocks noChangeAspect="1"/>
          </p:cNvPicPr>
          <p:nvPr/>
        </p:nvPicPr>
        <p:blipFill>
          <a:blip r:embed="rId2"/>
          <a:stretch>
            <a:fillRect/>
          </a:stretch>
        </p:blipFill>
        <p:spPr>
          <a:xfrm>
            <a:off x="2405612" y="2931684"/>
            <a:ext cx="3546200" cy="1364875"/>
          </a:xfrm>
          <a:prstGeom prst="rect">
            <a:avLst/>
          </a:prstGeom>
        </p:spPr>
      </p:pic>
      <p:sp>
        <p:nvSpPr>
          <p:cNvPr id="9" name="Content Placeholder 8">
            <a:extLst>
              <a:ext uri="{FF2B5EF4-FFF2-40B4-BE49-F238E27FC236}">
                <a16:creationId xmlns:a16="http://schemas.microsoft.com/office/drawing/2014/main" id="{935893CF-BE6E-0BEF-FC8A-45A6C977708B}"/>
              </a:ext>
            </a:extLst>
          </p:cNvPr>
          <p:cNvSpPr>
            <a:spLocks noGrp="1"/>
          </p:cNvSpPr>
          <p:nvPr>
            <p:ph sz="quarter" idx="13"/>
          </p:nvPr>
        </p:nvSpPr>
        <p:spPr>
          <a:xfrm>
            <a:off x="1195443" y="4537256"/>
            <a:ext cx="976257" cy="405683"/>
          </a:xfrm>
        </p:spPr>
        <p:txBody>
          <a:bodyPr wrap="square" lIns="0" tIns="18000" rIns="0" bIns="18000" anchor="ctr" anchorCtr="0">
            <a:spAutoFit/>
          </a:bodyPr>
          <a:lstStyle/>
          <a:p>
            <a:pPr marL="0" indent="0">
              <a:spcBef>
                <a:spcPts val="600"/>
              </a:spcBef>
              <a:buNone/>
            </a:pPr>
            <a:r>
              <a:rPr lang="en-US" sz="2400" noProof="0" dirty="0">
                <a:solidFill>
                  <a:schemeClr val="tx2"/>
                </a:solidFill>
                <a:sym typeface="Symbol"/>
              </a:rPr>
              <a:t>A.</a:t>
            </a:r>
            <a:r>
              <a:rPr lang="en-US" sz="2400" noProof="0" dirty="0">
                <a:sym typeface="Symbol"/>
              </a:rPr>
              <a:t> The</a:t>
            </a:r>
            <a:endParaRPr lang="en-US" sz="2400" noProof="0" dirty="0"/>
          </a:p>
        </p:txBody>
      </p:sp>
      <p:graphicFrame>
        <p:nvGraphicFramePr>
          <p:cNvPr id="14" name="Object 13" descr="80 kiloohms.">
            <a:extLst>
              <a:ext uri="{FF2B5EF4-FFF2-40B4-BE49-F238E27FC236}">
                <a16:creationId xmlns:a16="http://schemas.microsoft.com/office/drawing/2014/main" id="{8C349D8A-0D01-4855-A2A1-A565906BF6F5}"/>
              </a:ext>
            </a:extLst>
          </p:cNvPr>
          <p:cNvGraphicFramePr>
            <a:graphicFrameLocks noChangeAspect="1"/>
          </p:cNvGraphicFramePr>
          <p:nvPr>
            <p:extLst>
              <p:ext uri="{D42A27DB-BD31-4B8C-83A1-F6EECF244321}">
                <p14:modId xmlns:p14="http://schemas.microsoft.com/office/powerpoint/2010/main" val="1783219295"/>
              </p:ext>
            </p:extLst>
          </p:nvPr>
        </p:nvGraphicFramePr>
        <p:xfrm>
          <a:off x="2224713" y="4584821"/>
          <a:ext cx="874284" cy="397098"/>
        </p:xfrm>
        <a:graphic>
          <a:graphicData uri="http://schemas.openxmlformats.org/presentationml/2006/ole">
            <mc:AlternateContent xmlns:mc="http://schemas.openxmlformats.org/markup-compatibility/2006">
              <mc:Choice xmlns:v="urn:schemas-microsoft-com:vml" Requires="v">
                <p:oleObj name="Equation" r:id="rId3" imgW="469800" imgH="203040" progId="Equation.DSMT4">
                  <p:embed/>
                </p:oleObj>
              </mc:Choice>
              <mc:Fallback>
                <p:oleObj name="Equation" r:id="rId3" imgW="469800" imgH="203040" progId="Equation.DSMT4">
                  <p:embed/>
                  <p:pic>
                    <p:nvPicPr>
                      <p:cNvPr id="15" name="Object 14" descr="S subscript 0 colon">
                        <a:extLst>
                          <a:ext uri="{FF2B5EF4-FFF2-40B4-BE49-F238E27FC236}">
                            <a16:creationId xmlns:a16="http://schemas.microsoft.com/office/drawing/2014/main" id="{69863217-3E35-4455-88AF-94E7B22F2A28}"/>
                          </a:ext>
                        </a:extLst>
                      </p:cNvPr>
                      <p:cNvPicPr>
                        <a:picLocks noChangeAspect="1" noChangeArrowheads="1"/>
                      </p:cNvPicPr>
                      <p:nvPr/>
                    </p:nvPicPr>
                    <p:blipFill>
                      <a:blip r:embed="rId4"/>
                      <a:srcRect/>
                      <a:stretch>
                        <a:fillRect/>
                      </a:stretch>
                    </p:blipFill>
                    <p:spPr bwMode="auto">
                      <a:xfrm>
                        <a:off x="2224713" y="4584821"/>
                        <a:ext cx="874284" cy="39709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Content Placeholder 9">
            <a:extLst>
              <a:ext uri="{FF2B5EF4-FFF2-40B4-BE49-F238E27FC236}">
                <a16:creationId xmlns:a16="http://schemas.microsoft.com/office/drawing/2014/main" id="{DE4A19C4-37B1-1C09-4344-6510A52E2E4C}"/>
              </a:ext>
            </a:extLst>
          </p:cNvPr>
          <p:cNvSpPr>
            <a:spLocks noGrp="1"/>
          </p:cNvSpPr>
          <p:nvPr>
            <p:ph sz="quarter" idx="14"/>
          </p:nvPr>
        </p:nvSpPr>
        <p:spPr>
          <a:xfrm>
            <a:off x="3214743" y="4537256"/>
            <a:ext cx="1100082" cy="405683"/>
          </a:xfrm>
        </p:spPr>
        <p:txBody>
          <a:bodyPr wrap="square" lIns="0" tIns="18000" rIns="0" bIns="18000" anchor="ctr" anchorCtr="0">
            <a:spAutoFit/>
          </a:bodyPr>
          <a:lstStyle/>
          <a:p>
            <a:pPr marL="0" indent="0">
              <a:spcBef>
                <a:spcPts val="600"/>
              </a:spcBef>
              <a:buNone/>
            </a:pPr>
            <a:r>
              <a:rPr lang="en-US" sz="2400" noProof="0" dirty="0"/>
              <a:t>resistor</a:t>
            </a:r>
          </a:p>
        </p:txBody>
      </p:sp>
      <p:sp>
        <p:nvSpPr>
          <p:cNvPr id="11" name="Content Placeholder 10">
            <a:extLst>
              <a:ext uri="{FF2B5EF4-FFF2-40B4-BE49-F238E27FC236}">
                <a16:creationId xmlns:a16="http://schemas.microsoft.com/office/drawing/2014/main" id="{BC196B05-F763-BC5F-41E6-EEC36DAC11C7}"/>
              </a:ext>
            </a:extLst>
          </p:cNvPr>
          <p:cNvSpPr>
            <a:spLocks noGrp="1"/>
          </p:cNvSpPr>
          <p:nvPr>
            <p:ph sz="quarter" idx="15"/>
          </p:nvPr>
        </p:nvSpPr>
        <p:spPr>
          <a:xfrm>
            <a:off x="1176393" y="5042081"/>
            <a:ext cx="976257" cy="405683"/>
          </a:xfrm>
        </p:spPr>
        <p:txBody>
          <a:bodyPr wrap="square" lIns="0" tIns="18000" rIns="0" bIns="18000" anchor="ctr" anchorCtr="0">
            <a:spAutoFit/>
          </a:bodyPr>
          <a:lstStyle/>
          <a:p>
            <a:pPr marL="0" indent="0">
              <a:spcBef>
                <a:spcPts val="600"/>
              </a:spcBef>
              <a:buNone/>
            </a:pPr>
            <a:r>
              <a:rPr lang="en-US" sz="2400" noProof="0" dirty="0">
                <a:solidFill>
                  <a:schemeClr val="tx2"/>
                </a:solidFill>
              </a:rPr>
              <a:t>B.</a:t>
            </a:r>
            <a:r>
              <a:rPr lang="en-US" sz="2400" noProof="0" dirty="0"/>
              <a:t> The</a:t>
            </a:r>
          </a:p>
        </p:txBody>
      </p:sp>
      <p:graphicFrame>
        <p:nvGraphicFramePr>
          <p:cNvPr id="17" name="Object 16" descr="50 kiloohms.">
            <a:extLst>
              <a:ext uri="{FF2B5EF4-FFF2-40B4-BE49-F238E27FC236}">
                <a16:creationId xmlns:a16="http://schemas.microsoft.com/office/drawing/2014/main" id="{E0A29982-2661-4EAC-AD0B-F38DA51FB249}"/>
              </a:ext>
            </a:extLst>
          </p:cNvPr>
          <p:cNvGraphicFramePr>
            <a:graphicFrameLocks noChangeAspect="1"/>
          </p:cNvGraphicFramePr>
          <p:nvPr>
            <p:extLst>
              <p:ext uri="{D42A27DB-BD31-4B8C-83A1-F6EECF244321}">
                <p14:modId xmlns:p14="http://schemas.microsoft.com/office/powerpoint/2010/main" val="2438825806"/>
              </p:ext>
            </p:extLst>
          </p:nvPr>
        </p:nvGraphicFramePr>
        <p:xfrm>
          <a:off x="2229967" y="5115590"/>
          <a:ext cx="874284" cy="397098"/>
        </p:xfrm>
        <a:graphic>
          <a:graphicData uri="http://schemas.openxmlformats.org/presentationml/2006/ole">
            <mc:AlternateContent xmlns:mc="http://schemas.openxmlformats.org/markup-compatibility/2006">
              <mc:Choice xmlns:v="urn:schemas-microsoft-com:vml" Requires="v">
                <p:oleObj name="Equation" r:id="rId5" imgW="469800" imgH="203040" progId="Equation.DSMT4">
                  <p:embed/>
                </p:oleObj>
              </mc:Choice>
              <mc:Fallback>
                <p:oleObj name="Equation" r:id="rId5" imgW="469800" imgH="203040" progId="Equation.DSMT4">
                  <p:embed/>
                  <p:pic>
                    <p:nvPicPr>
                      <p:cNvPr id="14" name="Object 13" descr="S subscript 0 colon">
                        <a:extLst>
                          <a:ext uri="{FF2B5EF4-FFF2-40B4-BE49-F238E27FC236}">
                            <a16:creationId xmlns:a16="http://schemas.microsoft.com/office/drawing/2014/main" id="{8C349D8A-0D01-4855-A2A1-A565906BF6F5}"/>
                          </a:ext>
                        </a:extLst>
                      </p:cNvPr>
                      <p:cNvPicPr>
                        <a:picLocks noChangeAspect="1" noChangeArrowheads="1"/>
                      </p:cNvPicPr>
                      <p:nvPr/>
                    </p:nvPicPr>
                    <p:blipFill>
                      <a:blip r:embed="rId6"/>
                      <a:srcRect/>
                      <a:stretch>
                        <a:fillRect/>
                      </a:stretch>
                    </p:blipFill>
                    <p:spPr bwMode="auto">
                      <a:xfrm>
                        <a:off x="2229967" y="5115590"/>
                        <a:ext cx="874284" cy="39709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 name="Content Placeholder 12">
            <a:extLst>
              <a:ext uri="{FF2B5EF4-FFF2-40B4-BE49-F238E27FC236}">
                <a16:creationId xmlns:a16="http://schemas.microsoft.com/office/drawing/2014/main" id="{3BF023EF-5583-D2C7-4451-FF63EAE6E685}"/>
              </a:ext>
            </a:extLst>
          </p:cNvPr>
          <p:cNvSpPr>
            <a:spLocks noGrp="1"/>
          </p:cNvSpPr>
          <p:nvPr>
            <p:ph sz="quarter" idx="16"/>
          </p:nvPr>
        </p:nvSpPr>
        <p:spPr>
          <a:xfrm>
            <a:off x="3205218" y="5033535"/>
            <a:ext cx="1100082" cy="405683"/>
          </a:xfrm>
        </p:spPr>
        <p:txBody>
          <a:bodyPr wrap="square" lIns="0" tIns="18000" rIns="0" bIns="18000" anchor="ctr" anchorCtr="0">
            <a:spAutoFit/>
          </a:bodyPr>
          <a:lstStyle/>
          <a:p>
            <a:pPr marL="0" indent="0">
              <a:spcBef>
                <a:spcPts val="600"/>
              </a:spcBef>
              <a:buNone/>
            </a:pPr>
            <a:r>
              <a:rPr lang="en-US" sz="2400" noProof="0" dirty="0"/>
              <a:t>resistor</a:t>
            </a:r>
          </a:p>
        </p:txBody>
      </p:sp>
      <p:sp>
        <p:nvSpPr>
          <p:cNvPr id="15" name="Content Placeholder 14">
            <a:extLst>
              <a:ext uri="{FF2B5EF4-FFF2-40B4-BE49-F238E27FC236}">
                <a16:creationId xmlns:a16="http://schemas.microsoft.com/office/drawing/2014/main" id="{C32BCB69-A70B-7382-89E5-9A5ED906CDBB}"/>
              </a:ext>
            </a:extLst>
          </p:cNvPr>
          <p:cNvSpPr>
            <a:spLocks noGrp="1"/>
          </p:cNvSpPr>
          <p:nvPr>
            <p:ph sz="quarter" idx="17"/>
          </p:nvPr>
        </p:nvSpPr>
        <p:spPr>
          <a:xfrm>
            <a:off x="1185918" y="5512351"/>
            <a:ext cx="985782" cy="405683"/>
          </a:xfrm>
        </p:spPr>
        <p:txBody>
          <a:bodyPr wrap="square" lIns="0" tIns="18000" rIns="0" bIns="18000" anchor="ctr" anchorCtr="0">
            <a:spAutoFit/>
          </a:bodyPr>
          <a:lstStyle/>
          <a:p>
            <a:pPr marL="0" indent="0">
              <a:spcBef>
                <a:spcPts val="600"/>
              </a:spcBef>
              <a:buNone/>
            </a:pPr>
            <a:r>
              <a:rPr lang="en-US" sz="2400" noProof="0" dirty="0">
                <a:solidFill>
                  <a:schemeClr val="tx2"/>
                </a:solidFill>
              </a:rPr>
              <a:t>C.</a:t>
            </a:r>
            <a:r>
              <a:rPr lang="en-US" sz="2400" noProof="0" dirty="0">
                <a:solidFill>
                  <a:schemeClr val="tx1"/>
                </a:solidFill>
              </a:rPr>
              <a:t> The</a:t>
            </a:r>
            <a:r>
              <a:rPr lang="en-US" sz="2400" noProof="0" dirty="0"/>
              <a:t> </a:t>
            </a:r>
          </a:p>
        </p:txBody>
      </p:sp>
      <p:graphicFrame>
        <p:nvGraphicFramePr>
          <p:cNvPr id="18" name="Object 17" descr="20 kiloohms.">
            <a:extLst>
              <a:ext uri="{FF2B5EF4-FFF2-40B4-BE49-F238E27FC236}">
                <a16:creationId xmlns:a16="http://schemas.microsoft.com/office/drawing/2014/main" id="{C3B24EB6-97A7-4868-96BA-64C392FD8154}"/>
              </a:ext>
            </a:extLst>
          </p:cNvPr>
          <p:cNvGraphicFramePr>
            <a:graphicFrameLocks noChangeAspect="1"/>
          </p:cNvGraphicFramePr>
          <p:nvPr>
            <p:extLst>
              <p:ext uri="{D42A27DB-BD31-4B8C-83A1-F6EECF244321}">
                <p14:modId xmlns:p14="http://schemas.microsoft.com/office/powerpoint/2010/main" val="3611310821"/>
              </p:ext>
            </p:extLst>
          </p:nvPr>
        </p:nvGraphicFramePr>
        <p:xfrm>
          <a:off x="2214201" y="5572788"/>
          <a:ext cx="874284" cy="397098"/>
        </p:xfrm>
        <a:graphic>
          <a:graphicData uri="http://schemas.openxmlformats.org/presentationml/2006/ole">
            <mc:AlternateContent xmlns:mc="http://schemas.openxmlformats.org/markup-compatibility/2006">
              <mc:Choice xmlns:v="urn:schemas-microsoft-com:vml" Requires="v">
                <p:oleObj name="Equation" r:id="rId7" imgW="469800" imgH="203040" progId="Equation.DSMT4">
                  <p:embed/>
                </p:oleObj>
              </mc:Choice>
              <mc:Fallback>
                <p:oleObj name="Equation" r:id="rId7" imgW="469800" imgH="203040" progId="Equation.DSMT4">
                  <p:embed/>
                  <p:pic>
                    <p:nvPicPr>
                      <p:cNvPr id="17" name="Object 16" descr="S subscript 0 colon">
                        <a:extLst>
                          <a:ext uri="{FF2B5EF4-FFF2-40B4-BE49-F238E27FC236}">
                            <a16:creationId xmlns:a16="http://schemas.microsoft.com/office/drawing/2014/main" id="{E0A29982-2661-4EAC-AD0B-F38DA51FB249}"/>
                          </a:ext>
                        </a:extLst>
                      </p:cNvPr>
                      <p:cNvPicPr>
                        <a:picLocks noChangeAspect="1" noChangeArrowheads="1"/>
                      </p:cNvPicPr>
                      <p:nvPr/>
                    </p:nvPicPr>
                    <p:blipFill>
                      <a:blip r:embed="rId8"/>
                      <a:srcRect/>
                      <a:stretch>
                        <a:fillRect/>
                      </a:stretch>
                    </p:blipFill>
                    <p:spPr bwMode="auto">
                      <a:xfrm>
                        <a:off x="2214201" y="5572788"/>
                        <a:ext cx="874284" cy="39709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 name="Content Placeholder 15">
            <a:extLst>
              <a:ext uri="{FF2B5EF4-FFF2-40B4-BE49-F238E27FC236}">
                <a16:creationId xmlns:a16="http://schemas.microsoft.com/office/drawing/2014/main" id="{95AD0E7E-283E-478C-7F59-29D2042B9EFF}"/>
              </a:ext>
            </a:extLst>
          </p:cNvPr>
          <p:cNvSpPr>
            <a:spLocks noGrp="1"/>
          </p:cNvSpPr>
          <p:nvPr>
            <p:ph sz="quarter" idx="18"/>
          </p:nvPr>
        </p:nvSpPr>
        <p:spPr>
          <a:xfrm>
            <a:off x="3205218" y="5536164"/>
            <a:ext cx="1100082" cy="405683"/>
          </a:xfrm>
        </p:spPr>
        <p:txBody>
          <a:bodyPr wrap="square" lIns="0" tIns="18000" rIns="0" bIns="18000" anchor="ctr" anchorCtr="0">
            <a:spAutoFit/>
          </a:bodyPr>
          <a:lstStyle/>
          <a:p>
            <a:pPr marL="0" indent="0">
              <a:spcBef>
                <a:spcPts val="600"/>
              </a:spcBef>
              <a:buNone/>
            </a:pPr>
            <a:r>
              <a:rPr lang="en-US" sz="2400" noProof="0" dirty="0"/>
              <a:t>resistor</a:t>
            </a:r>
          </a:p>
        </p:txBody>
      </p:sp>
    </p:spTree>
    <p:extLst>
      <p:ext uri="{BB962C8B-B14F-4D97-AF65-F5344CB8AC3E}">
        <p14:creationId xmlns:p14="http://schemas.microsoft.com/office/powerpoint/2010/main" val="28187414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2FB959-01BF-CD3C-1720-ED9E89101B0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FC25BCF-4AD6-7FC9-1F3F-07F3EDABD927}"/>
              </a:ext>
            </a:extLst>
          </p:cNvPr>
          <p:cNvSpPr>
            <a:spLocks noGrp="1"/>
          </p:cNvSpPr>
          <p:nvPr>
            <p:ph type="title"/>
          </p:nvPr>
        </p:nvSpPr>
        <p:spPr>
          <a:xfrm>
            <a:off x="428625" y="214392"/>
            <a:ext cx="8212138" cy="1144347"/>
          </a:xfrm>
        </p:spPr>
        <p:txBody>
          <a:bodyPr wrap="square" lIns="0" tIns="18000" rIns="0" bIns="18000" anchor="ctr" anchorCtr="0">
            <a:spAutoFit/>
          </a:bodyPr>
          <a:lstStyle/>
          <a:p>
            <a:pPr>
              <a:spcBef>
                <a:spcPts val="600"/>
              </a:spcBef>
            </a:pPr>
            <a:r>
              <a:rPr lang="en-US" noProof="0" dirty="0"/>
              <a:t>Chapter 7 – </a:t>
            </a:r>
            <a:r>
              <a:rPr lang="en-US" i="1" spc="-450" noProof="0" dirty="0"/>
              <a:t>R </a:t>
            </a:r>
            <a:r>
              <a:rPr lang="en-US" i="1" noProof="0" dirty="0"/>
              <a:t>L/</a:t>
            </a:r>
            <a:r>
              <a:rPr lang="en-US" i="1" spc="-450" noProof="0" dirty="0"/>
              <a:t>R </a:t>
            </a:r>
            <a:r>
              <a:rPr lang="en-US" i="1" noProof="0" dirty="0"/>
              <a:t>C</a:t>
            </a:r>
            <a:r>
              <a:rPr lang="en-US" noProof="0" dirty="0"/>
              <a:t> Natural Response Examples </a:t>
            </a:r>
            <a:r>
              <a:rPr lang="en-US" sz="2800" noProof="0" dirty="0"/>
              <a:t>(11 of 14)</a:t>
            </a:r>
          </a:p>
        </p:txBody>
      </p:sp>
      <p:sp>
        <p:nvSpPr>
          <p:cNvPr id="8" name="Content Placeholder 7">
            <a:extLst>
              <a:ext uri="{FF2B5EF4-FFF2-40B4-BE49-F238E27FC236}">
                <a16:creationId xmlns:a16="http://schemas.microsoft.com/office/drawing/2014/main" id="{CF177E13-C7F4-761B-9FF6-0BE0F1B4A074}"/>
              </a:ext>
            </a:extLst>
          </p:cNvPr>
          <p:cNvSpPr>
            <a:spLocks noGrp="1"/>
          </p:cNvSpPr>
          <p:nvPr>
            <p:ph sz="quarter" idx="12"/>
          </p:nvPr>
        </p:nvSpPr>
        <p:spPr>
          <a:xfrm>
            <a:off x="423918" y="1576508"/>
            <a:ext cx="8212138" cy="1144347"/>
          </a:xfrm>
        </p:spPr>
        <p:txBody>
          <a:bodyPr wrap="square" lIns="0" tIns="18000" rIns="0" bIns="18000" anchor="ctr" anchorCtr="0">
            <a:spAutoFit/>
          </a:bodyPr>
          <a:lstStyle/>
          <a:p>
            <a:pPr marL="0" indent="0">
              <a:spcBef>
                <a:spcPts val="600"/>
              </a:spcBef>
              <a:buNone/>
            </a:pPr>
            <a:r>
              <a:rPr lang="en-US" sz="2400" noProof="0" dirty="0"/>
              <a:t>In the circuit used to find the initial voltage drop across the capacitor, the voltage drop across the open circuit is the same as the voltage drop across</a:t>
            </a:r>
          </a:p>
        </p:txBody>
      </p:sp>
      <p:pic>
        <p:nvPicPr>
          <p:cNvPr id="3" name="Picture 2" descr="A circuit diagram shows conditions in a circuit when time t is less than zero. A current source of 7.5 milli amperes as the leftmost wire in the circuit. From left to right, an 80 kilo ohms resistor, 0.4 micro farad capacitor, and a 50 kilo ohms resistor are connected in parallel to the 7.5 milli ampere current source. The 0.4 micro farad capacitor is acting as a voltage source supplying voltage V subscript 0 that has positive polarity at the top node and negative at the bottom. On the top wire of the circuit and between the wires for the 80 kilo ohms resistor and the 0.4 micro farad capacitor is a 20 kilo ohms resistor.">
            <a:extLst>
              <a:ext uri="{FF2B5EF4-FFF2-40B4-BE49-F238E27FC236}">
                <a16:creationId xmlns:a16="http://schemas.microsoft.com/office/drawing/2014/main" id="{FB37E69A-1C92-CA3D-3B1B-5A2A06CB3BD7}"/>
              </a:ext>
            </a:extLst>
          </p:cNvPr>
          <p:cNvPicPr>
            <a:picLocks noChangeAspect="1"/>
          </p:cNvPicPr>
          <p:nvPr/>
        </p:nvPicPr>
        <p:blipFill>
          <a:blip r:embed="rId2"/>
          <a:stretch>
            <a:fillRect/>
          </a:stretch>
        </p:blipFill>
        <p:spPr>
          <a:xfrm>
            <a:off x="2405612" y="2931684"/>
            <a:ext cx="3546200" cy="1364875"/>
          </a:xfrm>
          <a:prstGeom prst="rect">
            <a:avLst/>
          </a:prstGeom>
        </p:spPr>
      </p:pic>
      <p:pic>
        <p:nvPicPr>
          <p:cNvPr id="33" name="Picture 3" descr="Cross mark">
            <a:extLst>
              <a:ext uri="{FF2B5EF4-FFF2-40B4-BE49-F238E27FC236}">
                <a16:creationId xmlns:a16="http://schemas.microsoft.com/office/drawing/2014/main" id="{9DFC15CC-409C-E7FE-4745-94CB5C7ECCD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39228" y="4636984"/>
            <a:ext cx="282472" cy="259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Content Placeholder 8">
            <a:extLst>
              <a:ext uri="{FF2B5EF4-FFF2-40B4-BE49-F238E27FC236}">
                <a16:creationId xmlns:a16="http://schemas.microsoft.com/office/drawing/2014/main" id="{BF826CCB-3A85-65E3-ED97-7AED7097B340}"/>
              </a:ext>
            </a:extLst>
          </p:cNvPr>
          <p:cNvSpPr>
            <a:spLocks noGrp="1"/>
          </p:cNvSpPr>
          <p:nvPr>
            <p:ph sz="quarter" idx="13"/>
          </p:nvPr>
        </p:nvSpPr>
        <p:spPr>
          <a:xfrm>
            <a:off x="1195443" y="4537256"/>
            <a:ext cx="976257" cy="405683"/>
          </a:xfrm>
        </p:spPr>
        <p:txBody>
          <a:bodyPr wrap="square" lIns="0" tIns="18000" rIns="0" bIns="18000" anchor="ctr" anchorCtr="0">
            <a:spAutoFit/>
          </a:bodyPr>
          <a:lstStyle/>
          <a:p>
            <a:pPr marL="0" indent="0">
              <a:spcBef>
                <a:spcPts val="600"/>
              </a:spcBef>
              <a:buNone/>
            </a:pPr>
            <a:r>
              <a:rPr lang="en-US" sz="2400" noProof="0" dirty="0">
                <a:solidFill>
                  <a:schemeClr val="tx2"/>
                </a:solidFill>
                <a:sym typeface="Symbol"/>
              </a:rPr>
              <a:t>A.</a:t>
            </a:r>
            <a:r>
              <a:rPr lang="en-US" sz="2400" noProof="0" dirty="0">
                <a:sym typeface="Symbol"/>
              </a:rPr>
              <a:t> The</a:t>
            </a:r>
            <a:endParaRPr lang="en-US" sz="2400" noProof="0" dirty="0"/>
          </a:p>
        </p:txBody>
      </p:sp>
      <p:graphicFrame>
        <p:nvGraphicFramePr>
          <p:cNvPr id="14" name="Object 13" descr="80 kiloohms.">
            <a:extLst>
              <a:ext uri="{FF2B5EF4-FFF2-40B4-BE49-F238E27FC236}">
                <a16:creationId xmlns:a16="http://schemas.microsoft.com/office/drawing/2014/main" id="{F689282F-ED0D-0017-E35A-17746D44B30C}"/>
              </a:ext>
            </a:extLst>
          </p:cNvPr>
          <p:cNvGraphicFramePr>
            <a:graphicFrameLocks noChangeAspect="1"/>
          </p:cNvGraphicFramePr>
          <p:nvPr/>
        </p:nvGraphicFramePr>
        <p:xfrm>
          <a:off x="2224713" y="4584821"/>
          <a:ext cx="874284" cy="397098"/>
        </p:xfrm>
        <a:graphic>
          <a:graphicData uri="http://schemas.openxmlformats.org/presentationml/2006/ole">
            <mc:AlternateContent xmlns:mc="http://schemas.openxmlformats.org/markup-compatibility/2006">
              <mc:Choice xmlns:v="urn:schemas-microsoft-com:vml" Requires="v">
                <p:oleObj name="Equation" r:id="rId4" imgW="469800" imgH="203040" progId="Equation.DSMT4">
                  <p:embed/>
                </p:oleObj>
              </mc:Choice>
              <mc:Fallback>
                <p:oleObj name="Equation" r:id="rId4" imgW="469800" imgH="203040" progId="Equation.DSMT4">
                  <p:embed/>
                  <p:pic>
                    <p:nvPicPr>
                      <p:cNvPr id="14" name="Object 13" descr="80 kiloohms.">
                        <a:extLst>
                          <a:ext uri="{FF2B5EF4-FFF2-40B4-BE49-F238E27FC236}">
                            <a16:creationId xmlns:a16="http://schemas.microsoft.com/office/drawing/2014/main" id="{8C349D8A-0D01-4855-A2A1-A565906BF6F5}"/>
                          </a:ext>
                        </a:extLst>
                      </p:cNvPr>
                      <p:cNvPicPr>
                        <a:picLocks noChangeAspect="1" noChangeArrowheads="1"/>
                      </p:cNvPicPr>
                      <p:nvPr/>
                    </p:nvPicPr>
                    <p:blipFill>
                      <a:blip r:embed="rId5"/>
                      <a:srcRect/>
                      <a:stretch>
                        <a:fillRect/>
                      </a:stretch>
                    </p:blipFill>
                    <p:spPr bwMode="auto">
                      <a:xfrm>
                        <a:off x="2224713" y="4584821"/>
                        <a:ext cx="874284" cy="39709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Content Placeholder 9">
            <a:extLst>
              <a:ext uri="{FF2B5EF4-FFF2-40B4-BE49-F238E27FC236}">
                <a16:creationId xmlns:a16="http://schemas.microsoft.com/office/drawing/2014/main" id="{86602319-3432-A938-F400-8D38A1B5B1E2}"/>
              </a:ext>
            </a:extLst>
          </p:cNvPr>
          <p:cNvSpPr>
            <a:spLocks noGrp="1"/>
          </p:cNvSpPr>
          <p:nvPr>
            <p:ph sz="quarter" idx="14"/>
          </p:nvPr>
        </p:nvSpPr>
        <p:spPr>
          <a:xfrm>
            <a:off x="3214743" y="4537256"/>
            <a:ext cx="1100082" cy="405683"/>
          </a:xfrm>
        </p:spPr>
        <p:txBody>
          <a:bodyPr wrap="square" lIns="0" tIns="18000" rIns="0" bIns="18000" anchor="ctr" anchorCtr="0">
            <a:spAutoFit/>
          </a:bodyPr>
          <a:lstStyle/>
          <a:p>
            <a:pPr marL="0" indent="0">
              <a:spcBef>
                <a:spcPts val="600"/>
              </a:spcBef>
              <a:buNone/>
            </a:pPr>
            <a:r>
              <a:rPr lang="en-US" sz="2400" noProof="0" dirty="0"/>
              <a:t>resistor</a:t>
            </a:r>
          </a:p>
        </p:txBody>
      </p:sp>
      <p:pic>
        <p:nvPicPr>
          <p:cNvPr id="34" name="Picture 2" descr="Check mark">
            <a:extLst>
              <a:ext uri="{FF2B5EF4-FFF2-40B4-BE49-F238E27FC236}">
                <a16:creationId xmlns:a16="http://schemas.microsoft.com/office/drawing/2014/main" id="{DF195399-C4B9-AB84-FCE2-936AB0B7786E}"/>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26598" y="5094520"/>
            <a:ext cx="280501" cy="24624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 name="Content Placeholder 10">
            <a:extLst>
              <a:ext uri="{FF2B5EF4-FFF2-40B4-BE49-F238E27FC236}">
                <a16:creationId xmlns:a16="http://schemas.microsoft.com/office/drawing/2014/main" id="{C233EFC4-3AB4-00B6-9096-B38C8605FC44}"/>
              </a:ext>
            </a:extLst>
          </p:cNvPr>
          <p:cNvSpPr>
            <a:spLocks noGrp="1"/>
          </p:cNvSpPr>
          <p:nvPr>
            <p:ph sz="quarter" idx="15"/>
          </p:nvPr>
        </p:nvSpPr>
        <p:spPr>
          <a:xfrm>
            <a:off x="1176393" y="5042081"/>
            <a:ext cx="976257" cy="405683"/>
          </a:xfrm>
        </p:spPr>
        <p:txBody>
          <a:bodyPr wrap="square" lIns="0" tIns="18000" rIns="0" bIns="18000" anchor="ctr" anchorCtr="0">
            <a:spAutoFit/>
          </a:bodyPr>
          <a:lstStyle/>
          <a:p>
            <a:pPr marL="0" indent="0">
              <a:spcBef>
                <a:spcPts val="600"/>
              </a:spcBef>
              <a:buNone/>
            </a:pPr>
            <a:r>
              <a:rPr lang="en-US" sz="2400" noProof="0" dirty="0">
                <a:solidFill>
                  <a:schemeClr val="tx2"/>
                </a:solidFill>
              </a:rPr>
              <a:t>B.</a:t>
            </a:r>
            <a:r>
              <a:rPr lang="en-US" sz="2400" noProof="0" dirty="0"/>
              <a:t> The</a:t>
            </a:r>
          </a:p>
        </p:txBody>
      </p:sp>
      <p:graphicFrame>
        <p:nvGraphicFramePr>
          <p:cNvPr id="17" name="Object 16" descr="50 kiloohms.">
            <a:extLst>
              <a:ext uri="{FF2B5EF4-FFF2-40B4-BE49-F238E27FC236}">
                <a16:creationId xmlns:a16="http://schemas.microsoft.com/office/drawing/2014/main" id="{A35384D5-0869-0BA8-895F-60A1F388186F}"/>
              </a:ext>
            </a:extLst>
          </p:cNvPr>
          <p:cNvGraphicFramePr>
            <a:graphicFrameLocks noChangeAspect="1"/>
          </p:cNvGraphicFramePr>
          <p:nvPr/>
        </p:nvGraphicFramePr>
        <p:xfrm>
          <a:off x="2229967" y="5115590"/>
          <a:ext cx="874284" cy="397098"/>
        </p:xfrm>
        <a:graphic>
          <a:graphicData uri="http://schemas.openxmlformats.org/presentationml/2006/ole">
            <mc:AlternateContent xmlns:mc="http://schemas.openxmlformats.org/markup-compatibility/2006">
              <mc:Choice xmlns:v="urn:schemas-microsoft-com:vml" Requires="v">
                <p:oleObj name="Equation" r:id="rId7" imgW="469800" imgH="203040" progId="Equation.DSMT4">
                  <p:embed/>
                </p:oleObj>
              </mc:Choice>
              <mc:Fallback>
                <p:oleObj name="Equation" r:id="rId7" imgW="469800" imgH="203040" progId="Equation.DSMT4">
                  <p:embed/>
                  <p:pic>
                    <p:nvPicPr>
                      <p:cNvPr id="17" name="Object 16" descr="50 kiloohms.">
                        <a:extLst>
                          <a:ext uri="{FF2B5EF4-FFF2-40B4-BE49-F238E27FC236}">
                            <a16:creationId xmlns:a16="http://schemas.microsoft.com/office/drawing/2014/main" id="{E0A29982-2661-4EAC-AD0B-F38DA51FB249}"/>
                          </a:ext>
                        </a:extLst>
                      </p:cNvPr>
                      <p:cNvPicPr>
                        <a:picLocks noChangeAspect="1" noChangeArrowheads="1"/>
                      </p:cNvPicPr>
                      <p:nvPr/>
                    </p:nvPicPr>
                    <p:blipFill>
                      <a:blip r:embed="rId8"/>
                      <a:srcRect/>
                      <a:stretch>
                        <a:fillRect/>
                      </a:stretch>
                    </p:blipFill>
                    <p:spPr bwMode="auto">
                      <a:xfrm>
                        <a:off x="2229967" y="5115590"/>
                        <a:ext cx="874284" cy="39709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 name="Content Placeholder 12">
            <a:extLst>
              <a:ext uri="{FF2B5EF4-FFF2-40B4-BE49-F238E27FC236}">
                <a16:creationId xmlns:a16="http://schemas.microsoft.com/office/drawing/2014/main" id="{BC952E16-3EA6-8D33-0109-8BFA47325F71}"/>
              </a:ext>
            </a:extLst>
          </p:cNvPr>
          <p:cNvSpPr>
            <a:spLocks noGrp="1"/>
          </p:cNvSpPr>
          <p:nvPr>
            <p:ph sz="quarter" idx="16"/>
          </p:nvPr>
        </p:nvSpPr>
        <p:spPr>
          <a:xfrm>
            <a:off x="3205218" y="5033535"/>
            <a:ext cx="1100082" cy="405683"/>
          </a:xfrm>
        </p:spPr>
        <p:txBody>
          <a:bodyPr wrap="square" lIns="0" tIns="18000" rIns="0" bIns="18000" anchor="ctr" anchorCtr="0">
            <a:spAutoFit/>
          </a:bodyPr>
          <a:lstStyle/>
          <a:p>
            <a:pPr marL="0" indent="0">
              <a:spcBef>
                <a:spcPts val="600"/>
              </a:spcBef>
              <a:buNone/>
            </a:pPr>
            <a:r>
              <a:rPr lang="en-US" sz="2400" noProof="0" dirty="0"/>
              <a:t>resistor</a:t>
            </a:r>
          </a:p>
        </p:txBody>
      </p:sp>
      <p:pic>
        <p:nvPicPr>
          <p:cNvPr id="35" name="Picture 5" descr="Cross mark">
            <a:extLst>
              <a:ext uri="{FF2B5EF4-FFF2-40B4-BE49-F238E27FC236}">
                <a16:creationId xmlns:a16="http://schemas.microsoft.com/office/drawing/2014/main" id="{E2DE7145-ACB3-16A4-363C-344EE279654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8497" y="5560909"/>
            <a:ext cx="282472" cy="259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5" name="Content Placeholder 14">
            <a:extLst>
              <a:ext uri="{FF2B5EF4-FFF2-40B4-BE49-F238E27FC236}">
                <a16:creationId xmlns:a16="http://schemas.microsoft.com/office/drawing/2014/main" id="{DD575818-AA03-852D-13BE-AF7625FB1664}"/>
              </a:ext>
            </a:extLst>
          </p:cNvPr>
          <p:cNvSpPr>
            <a:spLocks noGrp="1"/>
          </p:cNvSpPr>
          <p:nvPr>
            <p:ph sz="quarter" idx="17"/>
          </p:nvPr>
        </p:nvSpPr>
        <p:spPr>
          <a:xfrm>
            <a:off x="1185918" y="5512351"/>
            <a:ext cx="985782" cy="405683"/>
          </a:xfrm>
        </p:spPr>
        <p:txBody>
          <a:bodyPr wrap="square" lIns="0" tIns="18000" rIns="0" bIns="18000" anchor="ctr" anchorCtr="0">
            <a:spAutoFit/>
          </a:bodyPr>
          <a:lstStyle/>
          <a:p>
            <a:pPr marL="0" indent="0">
              <a:spcBef>
                <a:spcPts val="600"/>
              </a:spcBef>
              <a:buNone/>
            </a:pPr>
            <a:r>
              <a:rPr lang="en-US" sz="2400" noProof="0" dirty="0">
                <a:solidFill>
                  <a:schemeClr val="tx2"/>
                </a:solidFill>
              </a:rPr>
              <a:t>C.</a:t>
            </a:r>
            <a:r>
              <a:rPr lang="en-US" sz="2400" noProof="0" dirty="0">
                <a:solidFill>
                  <a:schemeClr val="tx1"/>
                </a:solidFill>
              </a:rPr>
              <a:t> The</a:t>
            </a:r>
            <a:r>
              <a:rPr lang="en-US" sz="2400" noProof="0" dirty="0"/>
              <a:t> </a:t>
            </a:r>
          </a:p>
        </p:txBody>
      </p:sp>
      <p:graphicFrame>
        <p:nvGraphicFramePr>
          <p:cNvPr id="18" name="Object 17" descr="20 kiloohms.">
            <a:extLst>
              <a:ext uri="{FF2B5EF4-FFF2-40B4-BE49-F238E27FC236}">
                <a16:creationId xmlns:a16="http://schemas.microsoft.com/office/drawing/2014/main" id="{4C0CC5EC-10B6-24CF-B27D-EA461FF72EA4}"/>
              </a:ext>
            </a:extLst>
          </p:cNvPr>
          <p:cNvGraphicFramePr>
            <a:graphicFrameLocks noChangeAspect="1"/>
          </p:cNvGraphicFramePr>
          <p:nvPr/>
        </p:nvGraphicFramePr>
        <p:xfrm>
          <a:off x="2214201" y="5572788"/>
          <a:ext cx="874284" cy="397098"/>
        </p:xfrm>
        <a:graphic>
          <a:graphicData uri="http://schemas.openxmlformats.org/presentationml/2006/ole">
            <mc:AlternateContent xmlns:mc="http://schemas.openxmlformats.org/markup-compatibility/2006">
              <mc:Choice xmlns:v="urn:schemas-microsoft-com:vml" Requires="v">
                <p:oleObj name="Equation" r:id="rId9" imgW="469800" imgH="203040" progId="Equation.DSMT4">
                  <p:embed/>
                </p:oleObj>
              </mc:Choice>
              <mc:Fallback>
                <p:oleObj name="Equation" r:id="rId9" imgW="469800" imgH="203040" progId="Equation.DSMT4">
                  <p:embed/>
                  <p:pic>
                    <p:nvPicPr>
                      <p:cNvPr id="18" name="Object 17" descr="20 kiloohms.">
                        <a:extLst>
                          <a:ext uri="{FF2B5EF4-FFF2-40B4-BE49-F238E27FC236}">
                            <a16:creationId xmlns:a16="http://schemas.microsoft.com/office/drawing/2014/main" id="{C3B24EB6-97A7-4868-96BA-64C392FD8154}"/>
                          </a:ext>
                        </a:extLst>
                      </p:cNvPr>
                      <p:cNvPicPr>
                        <a:picLocks noChangeAspect="1" noChangeArrowheads="1"/>
                      </p:cNvPicPr>
                      <p:nvPr/>
                    </p:nvPicPr>
                    <p:blipFill>
                      <a:blip r:embed="rId10"/>
                      <a:srcRect/>
                      <a:stretch>
                        <a:fillRect/>
                      </a:stretch>
                    </p:blipFill>
                    <p:spPr bwMode="auto">
                      <a:xfrm>
                        <a:off x="2214201" y="5572788"/>
                        <a:ext cx="874284" cy="39709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 name="Content Placeholder 15">
            <a:extLst>
              <a:ext uri="{FF2B5EF4-FFF2-40B4-BE49-F238E27FC236}">
                <a16:creationId xmlns:a16="http://schemas.microsoft.com/office/drawing/2014/main" id="{6CC4357A-253D-1B13-46B6-D0765800EF5F}"/>
              </a:ext>
            </a:extLst>
          </p:cNvPr>
          <p:cNvSpPr>
            <a:spLocks noGrp="1"/>
          </p:cNvSpPr>
          <p:nvPr>
            <p:ph sz="quarter" idx="18"/>
          </p:nvPr>
        </p:nvSpPr>
        <p:spPr>
          <a:xfrm>
            <a:off x="3205218" y="5536164"/>
            <a:ext cx="1100082" cy="405683"/>
          </a:xfrm>
        </p:spPr>
        <p:txBody>
          <a:bodyPr wrap="square" lIns="0" tIns="18000" rIns="0" bIns="18000" anchor="ctr" anchorCtr="0">
            <a:spAutoFit/>
          </a:bodyPr>
          <a:lstStyle/>
          <a:p>
            <a:pPr marL="0" indent="0">
              <a:spcBef>
                <a:spcPts val="600"/>
              </a:spcBef>
              <a:buNone/>
            </a:pPr>
            <a:r>
              <a:rPr lang="en-US" sz="2400" noProof="0" dirty="0"/>
              <a:t>resistor</a:t>
            </a:r>
          </a:p>
        </p:txBody>
      </p:sp>
    </p:spTree>
    <p:extLst>
      <p:ext uri="{BB962C8B-B14F-4D97-AF65-F5344CB8AC3E}">
        <p14:creationId xmlns:p14="http://schemas.microsoft.com/office/powerpoint/2010/main" val="23046010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7056" y="212651"/>
            <a:ext cx="8212120" cy="1144347"/>
          </a:xfrm>
        </p:spPr>
        <p:txBody>
          <a:bodyPr wrap="square" lIns="0" tIns="18000" rIns="0" bIns="18000" anchor="ctr" anchorCtr="0">
            <a:spAutoFit/>
          </a:bodyPr>
          <a:lstStyle/>
          <a:p>
            <a:pPr>
              <a:spcBef>
                <a:spcPts val="600"/>
              </a:spcBef>
            </a:pPr>
            <a:r>
              <a:rPr lang="en-US" noProof="0" dirty="0"/>
              <a:t>Chapter 7 – </a:t>
            </a:r>
            <a:r>
              <a:rPr lang="en-US" i="1" spc="-450" noProof="0" dirty="0"/>
              <a:t>R </a:t>
            </a:r>
            <a:r>
              <a:rPr lang="en-US" i="1" noProof="0" dirty="0"/>
              <a:t>L/</a:t>
            </a:r>
            <a:r>
              <a:rPr lang="en-US" i="1" spc="-450" noProof="0" dirty="0"/>
              <a:t>R </a:t>
            </a:r>
            <a:r>
              <a:rPr lang="en-US" i="1" noProof="0" dirty="0"/>
              <a:t>C</a:t>
            </a:r>
            <a:r>
              <a:rPr lang="en-US" noProof="0" dirty="0"/>
              <a:t> Natural Response Examples </a:t>
            </a:r>
            <a:r>
              <a:rPr lang="en-US" sz="2800" noProof="0" dirty="0"/>
              <a:t>(12 of 14)</a:t>
            </a:r>
          </a:p>
        </p:txBody>
      </p:sp>
      <p:sp>
        <p:nvSpPr>
          <p:cNvPr id="3" name="Content Placeholder 2">
            <a:extLst>
              <a:ext uri="{FF2B5EF4-FFF2-40B4-BE49-F238E27FC236}">
                <a16:creationId xmlns:a16="http://schemas.microsoft.com/office/drawing/2014/main" id="{19A7CEC8-983F-F96B-293A-4C44E1799433}"/>
              </a:ext>
            </a:extLst>
          </p:cNvPr>
          <p:cNvSpPr>
            <a:spLocks noGrp="1"/>
          </p:cNvSpPr>
          <p:nvPr>
            <p:ph sz="quarter" idx="15"/>
          </p:nvPr>
        </p:nvSpPr>
        <p:spPr>
          <a:xfrm>
            <a:off x="428625" y="1574027"/>
            <a:ext cx="4143375" cy="1052014"/>
          </a:xfrm>
        </p:spPr>
        <p:txBody>
          <a:bodyPr wrap="square" lIns="0" tIns="18000" rIns="0" bIns="18000" anchor="ctr" anchorCtr="0">
            <a:spAutoFit/>
          </a:bodyPr>
          <a:lstStyle/>
          <a:p>
            <a:pPr marL="0" indent="0">
              <a:spcBef>
                <a:spcPts val="600"/>
              </a:spcBef>
              <a:buNone/>
            </a:pPr>
            <a:r>
              <a:rPr lang="en-US" sz="2200" noProof="0" dirty="0"/>
              <a:t>Find the time at which 75% of the initial stored energy has been dissipated (continued).</a:t>
            </a:r>
          </a:p>
        </p:txBody>
      </p:sp>
      <p:pic>
        <p:nvPicPr>
          <p:cNvPr id="4" name="Picture 3" descr="A circuit diagram shows a current source of 7.5 milli amperes as the leftmost wire in the circuit. From left to right, an 80 kilo ohms resistor, 0.4 micro farad capacitor, and a 50 kilo ohms resistor are connected in parallel to the 7.5 milli ampere current source. On the top wire of the circuit and between the wires for the 80 kilo ohms resistor and the 0.4 micro farad capacitor are a 20 kilo ohms resistor and a switch. The switch is opened when time t is a t zero. Voltage v with t in parenthesis develops across the 50 kilo ohms resistor with positive polarity at the top node and negative polarity at the bottom node. Voltage v with t in parenthesis changes with time.">
            <a:extLst>
              <a:ext uri="{FF2B5EF4-FFF2-40B4-BE49-F238E27FC236}">
                <a16:creationId xmlns:a16="http://schemas.microsoft.com/office/drawing/2014/main" id="{9FF5DA58-858E-6E41-9B2F-997FCEBF04DB}"/>
              </a:ext>
            </a:extLst>
          </p:cNvPr>
          <p:cNvPicPr>
            <a:picLocks noChangeAspect="1"/>
          </p:cNvPicPr>
          <p:nvPr/>
        </p:nvPicPr>
        <p:blipFill>
          <a:blip r:embed="rId2"/>
          <a:srcRect/>
          <a:stretch/>
        </p:blipFill>
        <p:spPr>
          <a:xfrm>
            <a:off x="4875163" y="1561571"/>
            <a:ext cx="3489425" cy="1188372"/>
          </a:xfrm>
          <a:prstGeom prst="rect">
            <a:avLst/>
          </a:prstGeom>
        </p:spPr>
      </p:pic>
      <p:sp>
        <p:nvSpPr>
          <p:cNvPr id="12" name="Content Placeholder 11">
            <a:extLst>
              <a:ext uri="{FF2B5EF4-FFF2-40B4-BE49-F238E27FC236}">
                <a16:creationId xmlns:a16="http://schemas.microsoft.com/office/drawing/2014/main" id="{13419B68-B3AD-90F1-D515-13E70DA081DB}"/>
              </a:ext>
            </a:extLst>
          </p:cNvPr>
          <p:cNvSpPr>
            <a:spLocks noGrp="1"/>
          </p:cNvSpPr>
          <p:nvPr>
            <p:ph sz="quarter" idx="12"/>
          </p:nvPr>
        </p:nvSpPr>
        <p:spPr>
          <a:xfrm>
            <a:off x="435593" y="2940389"/>
            <a:ext cx="5886449" cy="374906"/>
          </a:xfrm>
        </p:spPr>
        <p:txBody>
          <a:bodyPr wrap="square" lIns="0" tIns="18000" rIns="0" bIns="18000" anchor="ctr" anchorCtr="0">
            <a:spAutoFit/>
          </a:bodyPr>
          <a:lstStyle/>
          <a:p>
            <a:pPr marL="0" indent="0">
              <a:spcBef>
                <a:spcPts val="600"/>
              </a:spcBef>
              <a:buNone/>
            </a:pPr>
            <a:r>
              <a:rPr lang="en-US" sz="2200" noProof="0" dirty="0"/>
              <a:t>Step 1 – Determine the initial capacitor voltage,</a:t>
            </a:r>
          </a:p>
        </p:txBody>
      </p:sp>
      <p:graphicFrame>
        <p:nvGraphicFramePr>
          <p:cNvPr id="13" name="Object 12" descr="V subscript 0,">
            <a:extLst>
              <a:ext uri="{FF2B5EF4-FFF2-40B4-BE49-F238E27FC236}">
                <a16:creationId xmlns:a16="http://schemas.microsoft.com/office/drawing/2014/main" id="{AB039C18-B775-4F66-B42B-871702A63806}"/>
              </a:ext>
            </a:extLst>
          </p:cNvPr>
          <p:cNvGraphicFramePr>
            <a:graphicFrameLocks noChangeAspect="1"/>
          </p:cNvGraphicFramePr>
          <p:nvPr>
            <p:extLst>
              <p:ext uri="{D42A27DB-BD31-4B8C-83A1-F6EECF244321}">
                <p14:modId xmlns:p14="http://schemas.microsoft.com/office/powerpoint/2010/main" val="2841571790"/>
              </p:ext>
            </p:extLst>
          </p:nvPr>
        </p:nvGraphicFramePr>
        <p:xfrm>
          <a:off x="6384925" y="2955925"/>
          <a:ext cx="423863" cy="473075"/>
        </p:xfrm>
        <a:graphic>
          <a:graphicData uri="http://schemas.openxmlformats.org/presentationml/2006/ole">
            <mc:AlternateContent xmlns:mc="http://schemas.openxmlformats.org/markup-compatibility/2006">
              <mc:Choice xmlns:v="urn:schemas-microsoft-com:vml" Requires="v">
                <p:oleObj name="Equation" r:id="rId3" imgW="215640" imgH="228600" progId="Equation.DSMT4">
                  <p:embed/>
                </p:oleObj>
              </mc:Choice>
              <mc:Fallback>
                <p:oleObj name="Equation" r:id="rId3" imgW="215640" imgH="228600" progId="Equation.DSMT4">
                  <p:embed/>
                  <p:pic>
                    <p:nvPicPr>
                      <p:cNvPr id="12" name="Object 11" descr="S subscript 0 colon">
                        <a:extLst>
                          <a:ext uri="{FF2B5EF4-FFF2-40B4-BE49-F238E27FC236}">
                            <a16:creationId xmlns:a16="http://schemas.microsoft.com/office/drawing/2014/main" id="{59A5B9E1-0EC0-45A5-BDA5-820E79AB1A9D}"/>
                          </a:ext>
                        </a:extLst>
                      </p:cNvPr>
                      <p:cNvPicPr>
                        <a:picLocks noChangeAspect="1" noChangeArrowheads="1"/>
                      </p:cNvPicPr>
                      <p:nvPr/>
                    </p:nvPicPr>
                    <p:blipFill>
                      <a:blip r:embed="rId4"/>
                      <a:srcRect/>
                      <a:stretch>
                        <a:fillRect/>
                      </a:stretch>
                    </p:blipFill>
                    <p:spPr bwMode="auto">
                      <a:xfrm>
                        <a:off x="6384925" y="2955925"/>
                        <a:ext cx="423863" cy="473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 name="Content Placeholder 13">
            <a:extLst>
              <a:ext uri="{FF2B5EF4-FFF2-40B4-BE49-F238E27FC236}">
                <a16:creationId xmlns:a16="http://schemas.microsoft.com/office/drawing/2014/main" id="{7F4267B7-E7CB-C487-BB71-25A96C980F1C}"/>
              </a:ext>
            </a:extLst>
          </p:cNvPr>
          <p:cNvSpPr>
            <a:spLocks noGrp="1"/>
          </p:cNvSpPr>
          <p:nvPr>
            <p:ph sz="quarter" idx="13"/>
          </p:nvPr>
        </p:nvSpPr>
        <p:spPr>
          <a:xfrm>
            <a:off x="6878609" y="2952842"/>
            <a:ext cx="1762430" cy="374906"/>
          </a:xfrm>
        </p:spPr>
        <p:txBody>
          <a:bodyPr wrap="square" lIns="0" tIns="18000" rIns="0" bIns="18000" anchor="ctr" anchorCtr="0">
            <a:spAutoFit/>
          </a:bodyPr>
          <a:lstStyle/>
          <a:p>
            <a:pPr marL="0" indent="0">
              <a:spcBef>
                <a:spcPts val="600"/>
              </a:spcBef>
              <a:buNone/>
            </a:pPr>
            <a:r>
              <a:rPr lang="en-US" sz="2200" noProof="0" dirty="0"/>
              <a:t>by analyzing</a:t>
            </a:r>
          </a:p>
        </p:txBody>
      </p:sp>
      <p:sp>
        <p:nvSpPr>
          <p:cNvPr id="17" name="Content Placeholder 16">
            <a:extLst>
              <a:ext uri="{FF2B5EF4-FFF2-40B4-BE49-F238E27FC236}">
                <a16:creationId xmlns:a16="http://schemas.microsoft.com/office/drawing/2014/main" id="{566DE449-AA81-7FB3-A4AC-1F7906708D3D}"/>
              </a:ext>
            </a:extLst>
          </p:cNvPr>
          <p:cNvSpPr>
            <a:spLocks noGrp="1"/>
          </p:cNvSpPr>
          <p:nvPr>
            <p:ph sz="quarter" idx="14"/>
          </p:nvPr>
        </p:nvSpPr>
        <p:spPr>
          <a:xfrm>
            <a:off x="433835" y="3375629"/>
            <a:ext cx="1611275" cy="374906"/>
          </a:xfrm>
        </p:spPr>
        <p:txBody>
          <a:bodyPr wrap="square" lIns="0" tIns="18000" rIns="0" bIns="18000" anchor="ctr" anchorCtr="0">
            <a:spAutoFit/>
          </a:bodyPr>
          <a:lstStyle/>
          <a:p>
            <a:pPr marL="0" indent="0">
              <a:spcBef>
                <a:spcPts val="600"/>
              </a:spcBef>
              <a:buNone/>
            </a:pPr>
            <a:r>
              <a:rPr lang="en-US" sz="2200" noProof="0" dirty="0"/>
              <a:t>the circuit for</a:t>
            </a:r>
          </a:p>
        </p:txBody>
      </p:sp>
      <p:graphicFrame>
        <p:nvGraphicFramePr>
          <p:cNvPr id="15" name="Object 14" descr="t is less than 0.">
            <a:extLst>
              <a:ext uri="{FF2B5EF4-FFF2-40B4-BE49-F238E27FC236}">
                <a16:creationId xmlns:a16="http://schemas.microsoft.com/office/drawing/2014/main" id="{69863217-3E35-4455-88AF-94E7B22F2A28}"/>
              </a:ext>
            </a:extLst>
          </p:cNvPr>
          <p:cNvGraphicFramePr>
            <a:graphicFrameLocks noChangeAspect="1"/>
          </p:cNvGraphicFramePr>
          <p:nvPr>
            <p:extLst>
              <p:ext uri="{D42A27DB-BD31-4B8C-83A1-F6EECF244321}">
                <p14:modId xmlns:p14="http://schemas.microsoft.com/office/powerpoint/2010/main" val="2582986526"/>
              </p:ext>
            </p:extLst>
          </p:nvPr>
        </p:nvGraphicFramePr>
        <p:xfrm>
          <a:off x="2148741" y="3409584"/>
          <a:ext cx="681214" cy="380485"/>
        </p:xfrm>
        <a:graphic>
          <a:graphicData uri="http://schemas.openxmlformats.org/presentationml/2006/ole">
            <mc:AlternateContent xmlns:mc="http://schemas.openxmlformats.org/markup-compatibility/2006">
              <mc:Choice xmlns:v="urn:schemas-microsoft-com:vml" Requires="v">
                <p:oleObj name="Equation" r:id="rId5" imgW="380880" imgH="203040" progId="Equation.DSMT4">
                  <p:embed/>
                </p:oleObj>
              </mc:Choice>
              <mc:Fallback>
                <p:oleObj name="Equation" r:id="rId5" imgW="380880" imgH="203040" progId="Equation.DSMT4">
                  <p:embed/>
                  <p:pic>
                    <p:nvPicPr>
                      <p:cNvPr id="13" name="Object 12" descr="S subscript 0 colon">
                        <a:extLst>
                          <a:ext uri="{FF2B5EF4-FFF2-40B4-BE49-F238E27FC236}">
                            <a16:creationId xmlns:a16="http://schemas.microsoft.com/office/drawing/2014/main" id="{AF0CA15A-AE00-4495-85D3-A6486D37687D}"/>
                          </a:ext>
                        </a:extLst>
                      </p:cNvPr>
                      <p:cNvPicPr>
                        <a:picLocks noChangeAspect="1" noChangeArrowheads="1"/>
                      </p:cNvPicPr>
                      <p:nvPr/>
                    </p:nvPicPr>
                    <p:blipFill>
                      <a:blip r:embed="rId6"/>
                      <a:srcRect/>
                      <a:stretch>
                        <a:fillRect/>
                      </a:stretch>
                    </p:blipFill>
                    <p:spPr bwMode="auto">
                      <a:xfrm>
                        <a:off x="2148741" y="3409584"/>
                        <a:ext cx="681214" cy="3804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 name="Object 4" descr="t is less than 0.">
            <a:extLst>
              <a:ext uri="{FF2B5EF4-FFF2-40B4-BE49-F238E27FC236}">
                <a16:creationId xmlns:a16="http://schemas.microsoft.com/office/drawing/2014/main" id="{26AE2349-7780-D091-2B57-31017366DEBA}"/>
              </a:ext>
            </a:extLst>
          </p:cNvPr>
          <p:cNvGraphicFramePr>
            <a:graphicFrameLocks noChangeAspect="1"/>
          </p:cNvGraphicFramePr>
          <p:nvPr>
            <p:extLst>
              <p:ext uri="{D42A27DB-BD31-4B8C-83A1-F6EECF244321}">
                <p14:modId xmlns:p14="http://schemas.microsoft.com/office/powerpoint/2010/main" val="3654864502"/>
              </p:ext>
            </p:extLst>
          </p:nvPr>
        </p:nvGraphicFramePr>
        <p:xfrm>
          <a:off x="433835" y="4011849"/>
          <a:ext cx="681214" cy="380485"/>
        </p:xfrm>
        <a:graphic>
          <a:graphicData uri="http://schemas.openxmlformats.org/presentationml/2006/ole">
            <mc:AlternateContent xmlns:mc="http://schemas.openxmlformats.org/markup-compatibility/2006">
              <mc:Choice xmlns:v="urn:schemas-microsoft-com:vml" Requires="v">
                <p:oleObj name="Equation" r:id="rId7" imgW="380880" imgH="203040" progId="Equation.DSMT4">
                  <p:embed/>
                </p:oleObj>
              </mc:Choice>
              <mc:Fallback>
                <p:oleObj name="Equation" r:id="rId7" imgW="380880" imgH="203040" progId="Equation.DSMT4">
                  <p:embed/>
                  <p:pic>
                    <p:nvPicPr>
                      <p:cNvPr id="15" name="Object 14" descr="t is less than 0.">
                        <a:extLst>
                          <a:ext uri="{FF2B5EF4-FFF2-40B4-BE49-F238E27FC236}">
                            <a16:creationId xmlns:a16="http://schemas.microsoft.com/office/drawing/2014/main" id="{69863217-3E35-4455-88AF-94E7B22F2A28}"/>
                          </a:ext>
                        </a:extLst>
                      </p:cNvPr>
                      <p:cNvPicPr>
                        <a:picLocks noChangeAspect="1" noChangeArrowheads="1"/>
                      </p:cNvPicPr>
                      <p:nvPr/>
                    </p:nvPicPr>
                    <p:blipFill>
                      <a:blip r:embed="rId8"/>
                      <a:srcRect/>
                      <a:stretch>
                        <a:fillRect/>
                      </a:stretch>
                    </p:blipFill>
                    <p:spPr bwMode="auto">
                      <a:xfrm>
                        <a:off x="433835" y="4011849"/>
                        <a:ext cx="681214" cy="3804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7" name="Picture 6" descr="A circuit diagram shows conditions in a circuit when time t is less than zero. A current source of 7.5 milli amperes as the leftmost wire in the circuit. From left to right, an 80 kilo ohms resistor, 0.4 micro farad capacitor, and a 50 kilo ohms resistor are connected in parallel to the 7.5 milli ampere current source. On the top wire of the circuit and between the wires for the 80 kilo ohms resistor and the 0.4 micro farad capacitor is a 20 kilo ohms resistor. Voltage V subscript 0 acts across the 50 kilo ohms resistor. Voltage V subscript 0 has positive polarity at the top node and negative at the bottom. ">
            <a:extLst>
              <a:ext uri="{FF2B5EF4-FFF2-40B4-BE49-F238E27FC236}">
                <a16:creationId xmlns:a16="http://schemas.microsoft.com/office/drawing/2014/main" id="{85D67163-6848-D309-D78E-2C890ECADB35}"/>
              </a:ext>
            </a:extLst>
          </p:cNvPr>
          <p:cNvPicPr>
            <a:picLocks noChangeAspect="1"/>
          </p:cNvPicPr>
          <p:nvPr/>
        </p:nvPicPr>
        <p:blipFill>
          <a:blip r:embed="rId9"/>
          <a:stretch>
            <a:fillRect/>
          </a:stretch>
        </p:blipFill>
        <p:spPr>
          <a:xfrm>
            <a:off x="2733854" y="3847199"/>
            <a:ext cx="2895890" cy="1114581"/>
          </a:xfrm>
          <a:prstGeom prst="rect">
            <a:avLst/>
          </a:prstGeom>
        </p:spPr>
      </p:pic>
      <p:pic>
        <p:nvPicPr>
          <p:cNvPr id="9" name="Picture 8" descr="A circuit diagram shows a voltage source of 600 volt with positive polarity at its top node and negative polarity at the bottom. The left wire of an 80 kilo ohms resistor is connected with the positive terminal of the 600 volt source. The left wire of the 80 kilo ohms resistor is connected to the left wire of a 20 kilo ohms resistor. Both the 80 kilo ohms resistor and the 20 kilo ohms resistor are in series and are connected in the top wire of the circuit. The leftmost wire of the circuit includes a 50 kilo ohms resistor. Voltage V subscript 0 acts across the 50 kilo ohms resistor. A node is shown to the right of the 20 kilo ohms resistor in the top wire with its corresponding node in the bottom wire of the circuit.">
            <a:extLst>
              <a:ext uri="{FF2B5EF4-FFF2-40B4-BE49-F238E27FC236}">
                <a16:creationId xmlns:a16="http://schemas.microsoft.com/office/drawing/2014/main" id="{D33387F7-93DE-2D4B-82F7-A9AF32F585B6}"/>
              </a:ext>
            </a:extLst>
          </p:cNvPr>
          <p:cNvPicPr>
            <a:picLocks noChangeAspect="1"/>
          </p:cNvPicPr>
          <p:nvPr/>
        </p:nvPicPr>
        <p:blipFill>
          <a:blip r:embed="rId10"/>
          <a:stretch>
            <a:fillRect/>
          </a:stretch>
        </p:blipFill>
        <p:spPr>
          <a:xfrm>
            <a:off x="2904767" y="5091710"/>
            <a:ext cx="2573115" cy="1200318"/>
          </a:xfrm>
          <a:prstGeom prst="rect">
            <a:avLst/>
          </a:prstGeom>
        </p:spPr>
      </p:pic>
      <p:graphicFrame>
        <p:nvGraphicFramePr>
          <p:cNvPr id="11" name="Object 5" descr="V subscript 0 baseline equals StartFraction 50 k over 80 k plus 20 k plus 50 k EndFraction (600).">
            <a:extLst>
              <a:ext uri="{FF2B5EF4-FFF2-40B4-BE49-F238E27FC236}">
                <a16:creationId xmlns:a16="http://schemas.microsoft.com/office/drawing/2014/main" id="{DAACD480-B24A-2387-1092-167F54F9130F}"/>
              </a:ext>
            </a:extLst>
          </p:cNvPr>
          <p:cNvGraphicFramePr>
            <a:graphicFrameLocks noChangeAspect="1"/>
          </p:cNvGraphicFramePr>
          <p:nvPr>
            <p:extLst>
              <p:ext uri="{D42A27DB-BD31-4B8C-83A1-F6EECF244321}">
                <p14:modId xmlns:p14="http://schemas.microsoft.com/office/powerpoint/2010/main" val="2829227264"/>
              </p:ext>
            </p:extLst>
          </p:nvPr>
        </p:nvGraphicFramePr>
        <p:xfrm>
          <a:off x="5907088" y="5017318"/>
          <a:ext cx="2738437" cy="557213"/>
        </p:xfrm>
        <a:graphic>
          <a:graphicData uri="http://schemas.openxmlformats.org/presentationml/2006/ole">
            <mc:AlternateContent xmlns:mc="http://schemas.openxmlformats.org/markup-compatibility/2006">
              <mc:Choice xmlns:v="urn:schemas-microsoft-com:vml" Requires="v">
                <p:oleObj name="Equation" r:id="rId11" imgW="1930320" imgH="393480" progId="Equation.DSMT4">
                  <p:embed/>
                </p:oleObj>
              </mc:Choice>
              <mc:Fallback>
                <p:oleObj name="Equation" r:id="rId11" imgW="1930320" imgH="393480" progId="Equation.DSMT4">
                  <p:embed/>
                  <p:pic>
                    <p:nvPicPr>
                      <p:cNvPr id="14" name="Object 5" descr="A circuit diagram shows a voltage source of 600 volt with positive polarity at its top node and negative polarity at the bottom. The left wire of an 80 kilo ohms resistor is connected with the positive terminal of the 600 volt source. The left wire of the 80 kilo ohms resistor is connected to the left wire of a 20 kilo ohms resistor. Both the 80 kilo ohms resistor and the 20 kilo ohms resistor are in series and are connected in the top wire of the circuit. The leftmost wire of the circuit includes a 50 kilo ohms resistor. Voltage V subscript 0 acts across the 50 kilo ohms resistor. A node is shown to the right of the 20 kilo ohms resistor in the top wire with its corresponding node in the bottom wire of the circuit. "/>
                      <p:cNvPicPr>
                        <a:picLocks noChangeAspect="1" noChangeArrowheads="1"/>
                      </p:cNvPicPr>
                      <p:nvPr/>
                    </p:nvPicPr>
                    <p:blipFill>
                      <a:blip r:embed="rId12"/>
                      <a:srcRect/>
                      <a:stretch>
                        <a:fillRect/>
                      </a:stretch>
                    </p:blipFill>
                    <p:spPr bwMode="auto">
                      <a:xfrm>
                        <a:off x="5907088" y="5017318"/>
                        <a:ext cx="2738437" cy="5572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 name="Object 5" descr="equals 200 Volts.">
            <a:extLst>
              <a:ext uri="{FF2B5EF4-FFF2-40B4-BE49-F238E27FC236}">
                <a16:creationId xmlns:a16="http://schemas.microsoft.com/office/drawing/2014/main" id="{CFAF40BD-6CFE-FBF1-D10A-F47C31023E24}"/>
              </a:ext>
            </a:extLst>
          </p:cNvPr>
          <p:cNvGraphicFramePr>
            <a:graphicFrameLocks noChangeAspect="1"/>
          </p:cNvGraphicFramePr>
          <p:nvPr>
            <p:extLst>
              <p:ext uri="{D42A27DB-BD31-4B8C-83A1-F6EECF244321}">
                <p14:modId xmlns:p14="http://schemas.microsoft.com/office/powerpoint/2010/main" val="673520945"/>
              </p:ext>
            </p:extLst>
          </p:nvPr>
        </p:nvGraphicFramePr>
        <p:xfrm>
          <a:off x="5903245" y="5649093"/>
          <a:ext cx="1279525" cy="304800"/>
        </p:xfrm>
        <a:graphic>
          <a:graphicData uri="http://schemas.openxmlformats.org/presentationml/2006/ole">
            <mc:AlternateContent xmlns:mc="http://schemas.openxmlformats.org/markup-compatibility/2006">
              <mc:Choice xmlns:v="urn:schemas-microsoft-com:vml" Requires="v">
                <p:oleObj name="Equation" r:id="rId13" imgW="901440" imgH="215640" progId="Equation.DSMT4">
                  <p:embed/>
                </p:oleObj>
              </mc:Choice>
              <mc:Fallback>
                <p:oleObj name="Equation" r:id="rId13" imgW="901440" imgH="215640" progId="Equation.DSMT4">
                  <p:embed/>
                  <p:pic>
                    <p:nvPicPr>
                      <p:cNvPr id="11" name="Object 5" descr="A circuit diagram shows a voltage source of 600 volt with positive polarity at its top node and negative polarity at the bottom. The left wire of an 80 kilo ohms resistor is connected with the positive terminal of the 600 volt source. The left wire of the 80 kilo ohms resistor is connected to the left wire of a 20 kilo ohms resistor. Both the 80 kilo ohms resistor and the 20 kilo ohms resistor are in series and are connected in the top wire of the circuit. The leftmost wire of the circuit includes a 50 kilo ohms resistor. Voltage V subscript 0 acts across the 50 kilo ohms resistor. A node is shown to the right of the 20 kilo ohms resistor in the top wire with its corresponding node in the bottom wire of the circuit. ">
                        <a:extLst>
                          <a:ext uri="{FF2B5EF4-FFF2-40B4-BE49-F238E27FC236}">
                            <a16:creationId xmlns:a16="http://schemas.microsoft.com/office/drawing/2014/main" id="{DAACD480-B24A-2387-1092-167F54F9130F}"/>
                          </a:ext>
                        </a:extLst>
                      </p:cNvPr>
                      <p:cNvPicPr>
                        <a:picLocks noChangeAspect="1" noChangeArrowheads="1"/>
                      </p:cNvPicPr>
                      <p:nvPr/>
                    </p:nvPicPr>
                    <p:blipFill>
                      <a:blip r:embed="rId14"/>
                      <a:srcRect/>
                      <a:stretch>
                        <a:fillRect/>
                      </a:stretch>
                    </p:blipFill>
                    <p:spPr bwMode="auto">
                      <a:xfrm>
                        <a:off x="5903245" y="5649093"/>
                        <a:ext cx="1279525" cy="304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5625446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9884" y="215378"/>
            <a:ext cx="8210879" cy="1144347"/>
          </a:xfrm>
        </p:spPr>
        <p:txBody>
          <a:bodyPr wrap="square" lIns="0" tIns="18000" rIns="0" bIns="18000" anchor="ctr" anchorCtr="0">
            <a:spAutoFit/>
          </a:bodyPr>
          <a:lstStyle/>
          <a:p>
            <a:pPr>
              <a:spcBef>
                <a:spcPts val="600"/>
              </a:spcBef>
            </a:pPr>
            <a:r>
              <a:rPr lang="en-US" noProof="0" dirty="0"/>
              <a:t>Chapter 7 – </a:t>
            </a:r>
            <a:r>
              <a:rPr lang="en-US" i="1" spc="-450" noProof="0" dirty="0"/>
              <a:t>R </a:t>
            </a:r>
            <a:r>
              <a:rPr lang="en-US" i="1" noProof="0" dirty="0"/>
              <a:t>L/</a:t>
            </a:r>
            <a:r>
              <a:rPr lang="en-US" i="1" spc="-450" noProof="0" dirty="0"/>
              <a:t>R </a:t>
            </a:r>
            <a:r>
              <a:rPr lang="en-US" i="1" noProof="0" dirty="0"/>
              <a:t>C</a:t>
            </a:r>
            <a:r>
              <a:rPr lang="en-US" noProof="0" dirty="0"/>
              <a:t> Natural Response Examples </a:t>
            </a:r>
            <a:r>
              <a:rPr lang="en-US" sz="2800" noProof="0" dirty="0"/>
              <a:t>(13 of 14)</a:t>
            </a:r>
          </a:p>
        </p:txBody>
      </p:sp>
      <p:sp>
        <p:nvSpPr>
          <p:cNvPr id="12" name="Content Placeholder 11">
            <a:extLst>
              <a:ext uri="{FF2B5EF4-FFF2-40B4-BE49-F238E27FC236}">
                <a16:creationId xmlns:a16="http://schemas.microsoft.com/office/drawing/2014/main" id="{13419B68-B3AD-90F1-D515-13E70DA081DB}"/>
              </a:ext>
            </a:extLst>
          </p:cNvPr>
          <p:cNvSpPr>
            <a:spLocks noGrp="1"/>
          </p:cNvSpPr>
          <p:nvPr>
            <p:ph sz="quarter" idx="12"/>
          </p:nvPr>
        </p:nvSpPr>
        <p:spPr>
          <a:xfrm>
            <a:off x="434568" y="1546475"/>
            <a:ext cx="4063610" cy="1052014"/>
          </a:xfrm>
        </p:spPr>
        <p:txBody>
          <a:bodyPr wrap="square" lIns="0" tIns="18000" rIns="0" bIns="18000" anchor="ctr" anchorCtr="0">
            <a:spAutoFit/>
          </a:bodyPr>
          <a:lstStyle/>
          <a:p>
            <a:pPr marL="0" indent="0">
              <a:spcBef>
                <a:spcPts val="600"/>
              </a:spcBef>
              <a:buNone/>
            </a:pPr>
            <a:r>
              <a:rPr lang="en-US" sz="2200" noProof="0" dirty="0"/>
              <a:t>Find the time at which 75% of the initial stored energy has been dissipated (continued).</a:t>
            </a:r>
          </a:p>
        </p:txBody>
      </p:sp>
      <p:pic>
        <p:nvPicPr>
          <p:cNvPr id="31" name="Picture 30" descr="A circuit diagram shows a current source of 7.5 milli amperes as the leftmost wire in the circuit. From left to right, an 80 kilo ohms resistor, 0.4 micro farad capacitor, and a 50 kilo ohms resistor are connected in parallel to the 7.5 milli ampere current source. On the top wire of the circuit and between the wires for the 80 kilo ohms resistor and the 0.4 micro farad capacitor are a 20 kilo ohms resistor and a switch. The switch is opened when time t is a t zero. Voltage v with t in parenthesis develops across the 50 kilo ohms resistor with positive polarity at the top node and negative polarity at the bottom node. Voltage v with t in parenthesis changes with time.">
            <a:extLst>
              <a:ext uri="{FF2B5EF4-FFF2-40B4-BE49-F238E27FC236}">
                <a16:creationId xmlns:a16="http://schemas.microsoft.com/office/drawing/2014/main" id="{3737A025-8484-F1C5-96BD-C411D66D70AB}"/>
              </a:ext>
            </a:extLst>
          </p:cNvPr>
          <p:cNvPicPr>
            <a:picLocks noChangeAspect="1"/>
          </p:cNvPicPr>
          <p:nvPr/>
        </p:nvPicPr>
        <p:blipFill>
          <a:blip r:embed="rId2"/>
          <a:srcRect/>
          <a:stretch/>
        </p:blipFill>
        <p:spPr>
          <a:xfrm>
            <a:off x="4587936" y="1537737"/>
            <a:ext cx="3647256" cy="1242124"/>
          </a:xfrm>
          <a:prstGeom prst="rect">
            <a:avLst/>
          </a:prstGeom>
        </p:spPr>
      </p:pic>
      <p:sp>
        <p:nvSpPr>
          <p:cNvPr id="14" name="Content Placeholder 13">
            <a:extLst>
              <a:ext uri="{FF2B5EF4-FFF2-40B4-BE49-F238E27FC236}">
                <a16:creationId xmlns:a16="http://schemas.microsoft.com/office/drawing/2014/main" id="{7F4267B7-E7CB-C487-BB71-25A96C980F1C}"/>
              </a:ext>
            </a:extLst>
          </p:cNvPr>
          <p:cNvSpPr>
            <a:spLocks noGrp="1"/>
          </p:cNvSpPr>
          <p:nvPr>
            <p:ph sz="quarter" idx="13"/>
          </p:nvPr>
        </p:nvSpPr>
        <p:spPr>
          <a:xfrm>
            <a:off x="433910" y="2999454"/>
            <a:ext cx="4649126" cy="374906"/>
          </a:xfrm>
        </p:spPr>
        <p:txBody>
          <a:bodyPr wrap="square" lIns="0" tIns="18000" rIns="0" bIns="18000" anchor="ctr" anchorCtr="0">
            <a:spAutoFit/>
          </a:bodyPr>
          <a:lstStyle/>
          <a:p>
            <a:pPr marL="0" indent="0">
              <a:spcBef>
                <a:spcPts val="600"/>
              </a:spcBef>
              <a:buNone/>
            </a:pPr>
            <a:r>
              <a:rPr lang="en-US" altLang="en-US" sz="2200" noProof="0" dirty="0"/>
              <a:t>Step 2 – Calculate the time constant, </a:t>
            </a:r>
            <a:endParaRPr lang="en-US" sz="2200" noProof="0" dirty="0"/>
          </a:p>
        </p:txBody>
      </p:sp>
      <p:graphicFrame>
        <p:nvGraphicFramePr>
          <p:cNvPr id="11" name="Object 2" descr="Tau equals R C">
            <a:extLst>
              <a:ext uri="{FF2B5EF4-FFF2-40B4-BE49-F238E27FC236}">
                <a16:creationId xmlns:a16="http://schemas.microsoft.com/office/drawing/2014/main" id="{0F6ECC28-92A7-48E9-A1B6-7E5FA64C304E}"/>
              </a:ext>
            </a:extLst>
          </p:cNvPr>
          <p:cNvGraphicFramePr>
            <a:graphicFrameLocks noChangeAspect="1"/>
          </p:cNvGraphicFramePr>
          <p:nvPr>
            <p:extLst>
              <p:ext uri="{D42A27DB-BD31-4B8C-83A1-F6EECF244321}">
                <p14:modId xmlns:p14="http://schemas.microsoft.com/office/powerpoint/2010/main" val="1672317250"/>
              </p:ext>
            </p:extLst>
          </p:nvPr>
        </p:nvGraphicFramePr>
        <p:xfrm>
          <a:off x="5106988" y="3036888"/>
          <a:ext cx="862012" cy="346075"/>
        </p:xfrm>
        <a:graphic>
          <a:graphicData uri="http://schemas.openxmlformats.org/presentationml/2006/ole">
            <mc:AlternateContent xmlns:mc="http://schemas.openxmlformats.org/markup-compatibility/2006">
              <mc:Choice xmlns:v="urn:schemas-microsoft-com:vml" Requires="v">
                <p:oleObj name="Equation" r:id="rId3" imgW="507960" imgH="203040" progId="Equation.DSMT4">
                  <p:embed/>
                </p:oleObj>
              </mc:Choice>
              <mc:Fallback>
                <p:oleObj name="Equation" r:id="rId3" imgW="507960" imgH="203040" progId="Equation.DSMT4">
                  <p:embed/>
                  <p:pic>
                    <p:nvPicPr>
                      <p:cNvPr id="34" name="Object 2">
                        <a:extLst>
                          <a:ext uri="{FF2B5EF4-FFF2-40B4-BE49-F238E27FC236}">
                            <a16:creationId xmlns:a16="http://schemas.microsoft.com/office/drawing/2014/main" id="{AF44C0E9-EC9F-B1FB-6B08-6BB37B2981D9}"/>
                          </a:ext>
                        </a:extLst>
                      </p:cNvPr>
                      <p:cNvPicPr>
                        <a:picLocks noChangeAspect="1" noChangeArrowheads="1"/>
                      </p:cNvPicPr>
                      <p:nvPr/>
                    </p:nvPicPr>
                    <p:blipFill>
                      <a:blip r:embed="rId4"/>
                      <a:srcRect/>
                      <a:stretch>
                        <a:fillRect/>
                      </a:stretch>
                    </p:blipFill>
                    <p:spPr bwMode="auto">
                      <a:xfrm>
                        <a:off x="5106988" y="3036888"/>
                        <a:ext cx="862012" cy="346075"/>
                      </a:xfrm>
                      <a:prstGeom prst="rect">
                        <a:avLst/>
                      </a:prstGeom>
                      <a:noFill/>
                    </p:spPr>
                  </p:pic>
                </p:oleObj>
              </mc:Fallback>
            </mc:AlternateContent>
          </a:graphicData>
        </a:graphic>
      </p:graphicFrame>
      <p:sp>
        <p:nvSpPr>
          <p:cNvPr id="17" name="Content Placeholder 16">
            <a:extLst>
              <a:ext uri="{FF2B5EF4-FFF2-40B4-BE49-F238E27FC236}">
                <a16:creationId xmlns:a16="http://schemas.microsoft.com/office/drawing/2014/main" id="{566DE449-AA81-7FB3-A4AC-1F7906708D3D}"/>
              </a:ext>
            </a:extLst>
          </p:cNvPr>
          <p:cNvSpPr>
            <a:spLocks noGrp="1"/>
          </p:cNvSpPr>
          <p:nvPr>
            <p:ph sz="quarter" idx="14"/>
          </p:nvPr>
        </p:nvSpPr>
        <p:spPr>
          <a:xfrm>
            <a:off x="6009146" y="2989928"/>
            <a:ext cx="1880654" cy="374906"/>
          </a:xfrm>
        </p:spPr>
        <p:txBody>
          <a:bodyPr wrap="square" lIns="0" tIns="18000" rIns="0" bIns="18000" anchor="ctr" anchorCtr="0">
            <a:spAutoFit/>
          </a:bodyPr>
          <a:lstStyle/>
          <a:p>
            <a:pPr marL="0" indent="0">
              <a:spcBef>
                <a:spcPts val="600"/>
              </a:spcBef>
              <a:buNone/>
            </a:pPr>
            <a:r>
              <a:rPr lang="en-US" sz="2200" noProof="0" dirty="0"/>
              <a:t>where </a:t>
            </a:r>
            <a:r>
              <a:rPr lang="en-US" sz="2200" i="1" noProof="0" dirty="0"/>
              <a:t>R</a:t>
            </a:r>
            <a:r>
              <a:rPr lang="en-US" sz="2200" noProof="0" dirty="0"/>
              <a:t> is the </a:t>
            </a:r>
          </a:p>
        </p:txBody>
      </p:sp>
      <p:sp>
        <p:nvSpPr>
          <p:cNvPr id="3" name="Content Placeholder 2">
            <a:extLst>
              <a:ext uri="{FF2B5EF4-FFF2-40B4-BE49-F238E27FC236}">
                <a16:creationId xmlns:a16="http://schemas.microsoft.com/office/drawing/2014/main" id="{19A7CEC8-983F-F96B-293A-4C44E1799433}"/>
              </a:ext>
            </a:extLst>
          </p:cNvPr>
          <p:cNvSpPr>
            <a:spLocks noGrp="1"/>
          </p:cNvSpPr>
          <p:nvPr>
            <p:ph sz="quarter" idx="15"/>
          </p:nvPr>
        </p:nvSpPr>
        <p:spPr>
          <a:xfrm>
            <a:off x="431871" y="3428079"/>
            <a:ext cx="6462954" cy="374906"/>
          </a:xfrm>
        </p:spPr>
        <p:txBody>
          <a:bodyPr wrap="square" lIns="0" tIns="18000" rIns="0" bIns="18000" anchor="ctr" anchorCtr="0">
            <a:spAutoFit/>
          </a:bodyPr>
          <a:lstStyle/>
          <a:p>
            <a:pPr marL="0" indent="0">
              <a:spcBef>
                <a:spcPts val="600"/>
              </a:spcBef>
              <a:buNone/>
            </a:pPr>
            <a:r>
              <a:rPr lang="en-US" sz="2200" noProof="0" dirty="0"/>
              <a:t>equivalent resistance connected to the capacitor for</a:t>
            </a:r>
          </a:p>
        </p:txBody>
      </p:sp>
      <p:graphicFrame>
        <p:nvGraphicFramePr>
          <p:cNvPr id="13" name="Object 2" descr="t is greater than or equal to 0.">
            <a:extLst>
              <a:ext uri="{FF2B5EF4-FFF2-40B4-BE49-F238E27FC236}">
                <a16:creationId xmlns:a16="http://schemas.microsoft.com/office/drawing/2014/main" id="{C624C785-C6A6-4AA9-AAA1-4E9EDF157172}"/>
              </a:ext>
            </a:extLst>
          </p:cNvPr>
          <p:cNvGraphicFramePr>
            <a:graphicFrameLocks noChangeAspect="1"/>
          </p:cNvGraphicFramePr>
          <p:nvPr>
            <p:extLst>
              <p:ext uri="{D42A27DB-BD31-4B8C-83A1-F6EECF244321}">
                <p14:modId xmlns:p14="http://schemas.microsoft.com/office/powerpoint/2010/main" val="4130545623"/>
              </p:ext>
            </p:extLst>
          </p:nvPr>
        </p:nvGraphicFramePr>
        <p:xfrm>
          <a:off x="6946705" y="3468974"/>
          <a:ext cx="695388" cy="360938"/>
        </p:xfrm>
        <a:graphic>
          <a:graphicData uri="http://schemas.openxmlformats.org/presentationml/2006/ole">
            <mc:AlternateContent xmlns:mc="http://schemas.openxmlformats.org/markup-compatibility/2006">
              <mc:Choice xmlns:v="urn:schemas-microsoft-com:vml" Requires="v">
                <p:oleObj name="Equation" r:id="rId5" imgW="393480" imgH="203040" progId="Equation.DSMT4">
                  <p:embed/>
                </p:oleObj>
              </mc:Choice>
              <mc:Fallback>
                <p:oleObj name="Equation" r:id="rId5" imgW="393480" imgH="203040" progId="Equation.DSMT4">
                  <p:embed/>
                  <p:pic>
                    <p:nvPicPr>
                      <p:cNvPr id="11" name="Object 2">
                        <a:extLst>
                          <a:ext uri="{FF2B5EF4-FFF2-40B4-BE49-F238E27FC236}">
                            <a16:creationId xmlns:a16="http://schemas.microsoft.com/office/drawing/2014/main" id="{0F6ECC28-92A7-48E9-A1B6-7E5FA64C304E}"/>
                          </a:ext>
                        </a:extLst>
                      </p:cNvPr>
                      <p:cNvPicPr>
                        <a:picLocks noChangeAspect="1" noChangeArrowheads="1"/>
                      </p:cNvPicPr>
                      <p:nvPr/>
                    </p:nvPicPr>
                    <p:blipFill>
                      <a:blip r:embed="rId6"/>
                      <a:srcRect/>
                      <a:stretch>
                        <a:fillRect/>
                      </a:stretch>
                    </p:blipFill>
                    <p:spPr bwMode="auto">
                      <a:xfrm>
                        <a:off x="6946705" y="3468974"/>
                        <a:ext cx="695388" cy="360938"/>
                      </a:xfrm>
                      <a:prstGeom prst="rect">
                        <a:avLst/>
                      </a:prstGeom>
                      <a:noFill/>
                    </p:spPr>
                  </p:pic>
                </p:oleObj>
              </mc:Fallback>
            </mc:AlternateContent>
          </a:graphicData>
        </a:graphic>
      </p:graphicFrame>
      <p:graphicFrame>
        <p:nvGraphicFramePr>
          <p:cNvPr id="16" name="Object 2" descr="t is greater than or equal to 0:">
            <a:extLst>
              <a:ext uri="{FF2B5EF4-FFF2-40B4-BE49-F238E27FC236}">
                <a16:creationId xmlns:a16="http://schemas.microsoft.com/office/drawing/2014/main" id="{7ECF3D96-B19F-4059-914C-FC5A24568315}"/>
              </a:ext>
            </a:extLst>
          </p:cNvPr>
          <p:cNvGraphicFramePr>
            <a:graphicFrameLocks noChangeAspect="1"/>
          </p:cNvGraphicFramePr>
          <p:nvPr>
            <p:extLst>
              <p:ext uri="{D42A27DB-BD31-4B8C-83A1-F6EECF244321}">
                <p14:modId xmlns:p14="http://schemas.microsoft.com/office/powerpoint/2010/main" val="2210556316"/>
              </p:ext>
            </p:extLst>
          </p:nvPr>
        </p:nvGraphicFramePr>
        <p:xfrm>
          <a:off x="412903" y="4101697"/>
          <a:ext cx="739852" cy="359582"/>
        </p:xfrm>
        <a:graphic>
          <a:graphicData uri="http://schemas.openxmlformats.org/presentationml/2006/ole">
            <mc:AlternateContent xmlns:mc="http://schemas.openxmlformats.org/markup-compatibility/2006">
              <mc:Choice xmlns:v="urn:schemas-microsoft-com:vml" Requires="v">
                <p:oleObj name="Equation" r:id="rId7" imgW="419040" imgH="203040" progId="Equation.DSMT4">
                  <p:embed/>
                </p:oleObj>
              </mc:Choice>
              <mc:Fallback>
                <p:oleObj name="Equation" r:id="rId7" imgW="419040" imgH="203040" progId="Equation.DSMT4">
                  <p:embed/>
                  <p:pic>
                    <p:nvPicPr>
                      <p:cNvPr id="13" name="Object 2">
                        <a:extLst>
                          <a:ext uri="{FF2B5EF4-FFF2-40B4-BE49-F238E27FC236}">
                            <a16:creationId xmlns:a16="http://schemas.microsoft.com/office/drawing/2014/main" id="{C624C785-C6A6-4AA9-AAA1-4E9EDF157172}"/>
                          </a:ext>
                        </a:extLst>
                      </p:cNvPr>
                      <p:cNvPicPr>
                        <a:picLocks noChangeAspect="1" noChangeArrowheads="1"/>
                      </p:cNvPicPr>
                      <p:nvPr/>
                    </p:nvPicPr>
                    <p:blipFill>
                      <a:blip r:embed="rId8"/>
                      <a:srcRect/>
                      <a:stretch>
                        <a:fillRect/>
                      </a:stretch>
                    </p:blipFill>
                    <p:spPr bwMode="auto">
                      <a:xfrm>
                        <a:off x="412903" y="4101697"/>
                        <a:ext cx="739852" cy="359582"/>
                      </a:xfrm>
                      <a:prstGeom prst="rect">
                        <a:avLst/>
                      </a:prstGeom>
                      <a:noFill/>
                    </p:spPr>
                  </p:pic>
                </p:oleObj>
              </mc:Fallback>
            </mc:AlternateContent>
          </a:graphicData>
        </a:graphic>
      </p:graphicFrame>
      <p:pic>
        <p:nvPicPr>
          <p:cNvPr id="33" name="Picture 32" descr="A circuit diagram shows a 0.4 micro farad capacitor as the left wire of the circuit and a 50 kilo ohms resistor as the right wire in the circuit. Voltage v with t in parenthesis develops across the 50 kilo ohms resistor with positive polarity at the top node and negative polarity at the bottom node. Voltage v with t in parenthesis changes with time.">
            <a:extLst>
              <a:ext uri="{FF2B5EF4-FFF2-40B4-BE49-F238E27FC236}">
                <a16:creationId xmlns:a16="http://schemas.microsoft.com/office/drawing/2014/main" id="{D6B4FB35-814E-9077-74AD-B50A8FD0F294}"/>
              </a:ext>
            </a:extLst>
          </p:cNvPr>
          <p:cNvPicPr>
            <a:picLocks noChangeAspect="1"/>
          </p:cNvPicPr>
          <p:nvPr/>
        </p:nvPicPr>
        <p:blipFill>
          <a:blip r:embed="rId9"/>
          <a:stretch>
            <a:fillRect/>
          </a:stretch>
        </p:blipFill>
        <p:spPr>
          <a:xfrm>
            <a:off x="1493936" y="4003932"/>
            <a:ext cx="2567173" cy="1174627"/>
          </a:xfrm>
          <a:prstGeom prst="rect">
            <a:avLst/>
          </a:prstGeom>
        </p:spPr>
      </p:pic>
      <p:graphicFrame>
        <p:nvGraphicFramePr>
          <p:cNvPr id="34" name="Object 2" descr="tau equals (50,000) (0.4 times 10 to the negative 6 power) equals 0.02 seconds.">
            <a:extLst>
              <a:ext uri="{FF2B5EF4-FFF2-40B4-BE49-F238E27FC236}">
                <a16:creationId xmlns:a16="http://schemas.microsoft.com/office/drawing/2014/main" id="{AF44C0E9-EC9F-B1FB-6B08-6BB37B2981D9}"/>
              </a:ext>
            </a:extLst>
          </p:cNvPr>
          <p:cNvGraphicFramePr>
            <a:graphicFrameLocks noChangeAspect="1"/>
          </p:cNvGraphicFramePr>
          <p:nvPr>
            <p:extLst>
              <p:ext uri="{D42A27DB-BD31-4B8C-83A1-F6EECF244321}">
                <p14:modId xmlns:p14="http://schemas.microsoft.com/office/powerpoint/2010/main" val="3771320486"/>
              </p:ext>
            </p:extLst>
          </p:nvPr>
        </p:nvGraphicFramePr>
        <p:xfrm>
          <a:off x="4651595" y="4520781"/>
          <a:ext cx="3505144" cy="373902"/>
        </p:xfrm>
        <a:graphic>
          <a:graphicData uri="http://schemas.openxmlformats.org/presentationml/2006/ole">
            <mc:AlternateContent xmlns:mc="http://schemas.openxmlformats.org/markup-compatibility/2006">
              <mc:Choice xmlns:v="urn:schemas-microsoft-com:vml" Requires="v">
                <p:oleObj name="Equation" r:id="rId10" imgW="2145960" imgH="228600" progId="Equation.DSMT4">
                  <p:embed/>
                </p:oleObj>
              </mc:Choice>
              <mc:Fallback>
                <p:oleObj name="Equation" r:id="rId10" imgW="2145960" imgH="228600" progId="Equation.DSMT4">
                  <p:embed/>
                  <p:pic>
                    <p:nvPicPr>
                      <p:cNvPr id="13" name="Object 2"/>
                      <p:cNvPicPr>
                        <a:picLocks noChangeAspect="1" noChangeArrowheads="1"/>
                      </p:cNvPicPr>
                      <p:nvPr/>
                    </p:nvPicPr>
                    <p:blipFill>
                      <a:blip r:embed="rId11"/>
                      <a:srcRect/>
                      <a:stretch>
                        <a:fillRect/>
                      </a:stretch>
                    </p:blipFill>
                    <p:spPr bwMode="auto">
                      <a:xfrm>
                        <a:off x="4651595" y="4520781"/>
                        <a:ext cx="3505144" cy="373902"/>
                      </a:xfrm>
                      <a:prstGeom prst="rect">
                        <a:avLst/>
                      </a:prstGeom>
                      <a:noFill/>
                    </p:spPr>
                  </p:pic>
                </p:oleObj>
              </mc:Fallback>
            </mc:AlternateContent>
          </a:graphicData>
        </a:graphic>
      </p:graphicFrame>
      <p:sp>
        <p:nvSpPr>
          <p:cNvPr id="15" name="Content Placeholder 14">
            <a:extLst>
              <a:ext uri="{FF2B5EF4-FFF2-40B4-BE49-F238E27FC236}">
                <a16:creationId xmlns:a16="http://schemas.microsoft.com/office/drawing/2014/main" id="{CA07694C-3188-7439-B694-DEBB8A1AC24C}"/>
              </a:ext>
            </a:extLst>
          </p:cNvPr>
          <p:cNvSpPr>
            <a:spLocks noGrp="1"/>
          </p:cNvSpPr>
          <p:nvPr>
            <p:ph sz="quarter" idx="16"/>
          </p:nvPr>
        </p:nvSpPr>
        <p:spPr>
          <a:xfrm>
            <a:off x="434523" y="5372362"/>
            <a:ext cx="8206240" cy="374906"/>
          </a:xfrm>
        </p:spPr>
        <p:txBody>
          <a:bodyPr wrap="square" lIns="0" tIns="18000" rIns="0" bIns="18000" anchor="ctr" anchorCtr="0">
            <a:spAutoFit/>
          </a:bodyPr>
          <a:lstStyle/>
          <a:p>
            <a:pPr marL="0" indent="0">
              <a:spcBef>
                <a:spcPts val="600"/>
              </a:spcBef>
              <a:buNone/>
            </a:pPr>
            <a:r>
              <a:rPr lang="en-US" sz="2200" noProof="0" dirty="0"/>
              <a:t>Step 3 – Write the equation for the capacitor voltage:</a:t>
            </a:r>
          </a:p>
        </p:txBody>
      </p:sp>
      <p:graphicFrame>
        <p:nvGraphicFramePr>
          <p:cNvPr id="18" name="Object 2" descr="v (t) equals V subscript o baseline e to the negative t divided by tau power equals 200 e to the negative t divided by 0.02 power equals 200 e to the negative 50 t power Volt,">
            <a:extLst>
              <a:ext uri="{FF2B5EF4-FFF2-40B4-BE49-F238E27FC236}">
                <a16:creationId xmlns:a16="http://schemas.microsoft.com/office/drawing/2014/main" id="{E4610447-74B9-4234-A96B-E1BB857D5DB0}"/>
              </a:ext>
            </a:extLst>
          </p:cNvPr>
          <p:cNvGraphicFramePr>
            <a:graphicFrameLocks noChangeAspect="1"/>
          </p:cNvGraphicFramePr>
          <p:nvPr>
            <p:extLst>
              <p:ext uri="{D42A27DB-BD31-4B8C-83A1-F6EECF244321}">
                <p14:modId xmlns:p14="http://schemas.microsoft.com/office/powerpoint/2010/main" val="2671913244"/>
              </p:ext>
            </p:extLst>
          </p:nvPr>
        </p:nvGraphicFramePr>
        <p:xfrm>
          <a:off x="1918468" y="5884863"/>
          <a:ext cx="4165600" cy="411162"/>
        </p:xfrm>
        <a:graphic>
          <a:graphicData uri="http://schemas.openxmlformats.org/presentationml/2006/ole">
            <mc:AlternateContent xmlns:mc="http://schemas.openxmlformats.org/markup-compatibility/2006">
              <mc:Choice xmlns:v="urn:schemas-microsoft-com:vml" Requires="v">
                <p:oleObj name="Equation" r:id="rId12" imgW="2450880" imgH="241200" progId="Equation.DSMT4">
                  <p:embed/>
                </p:oleObj>
              </mc:Choice>
              <mc:Fallback>
                <p:oleObj name="Equation" r:id="rId12" imgW="2450880" imgH="241200" progId="Equation.DSMT4">
                  <p:embed/>
                  <p:pic>
                    <p:nvPicPr>
                      <p:cNvPr id="34" name="Object 2">
                        <a:extLst>
                          <a:ext uri="{FF2B5EF4-FFF2-40B4-BE49-F238E27FC236}">
                            <a16:creationId xmlns:a16="http://schemas.microsoft.com/office/drawing/2014/main" id="{AF44C0E9-EC9F-B1FB-6B08-6BB37B2981D9}"/>
                          </a:ext>
                        </a:extLst>
                      </p:cNvPr>
                      <p:cNvPicPr>
                        <a:picLocks noChangeAspect="1" noChangeArrowheads="1"/>
                      </p:cNvPicPr>
                      <p:nvPr/>
                    </p:nvPicPr>
                    <p:blipFill>
                      <a:blip r:embed="rId13"/>
                      <a:srcRect/>
                      <a:stretch>
                        <a:fillRect/>
                      </a:stretch>
                    </p:blipFill>
                    <p:spPr bwMode="auto">
                      <a:xfrm>
                        <a:off x="1918468" y="5884863"/>
                        <a:ext cx="4165600" cy="411162"/>
                      </a:xfrm>
                      <a:prstGeom prst="rect">
                        <a:avLst/>
                      </a:prstGeom>
                      <a:noFill/>
                    </p:spPr>
                  </p:pic>
                </p:oleObj>
              </mc:Fallback>
            </mc:AlternateContent>
          </a:graphicData>
        </a:graphic>
      </p:graphicFrame>
      <p:graphicFrame>
        <p:nvGraphicFramePr>
          <p:cNvPr id="19" name="Object 2" descr="t is greater than or equal to 0.">
            <a:extLst>
              <a:ext uri="{FF2B5EF4-FFF2-40B4-BE49-F238E27FC236}">
                <a16:creationId xmlns:a16="http://schemas.microsoft.com/office/drawing/2014/main" id="{EE9195D4-304A-4A00-8663-CB17CE8868D9}"/>
              </a:ext>
            </a:extLst>
          </p:cNvPr>
          <p:cNvGraphicFramePr>
            <a:graphicFrameLocks noChangeAspect="1"/>
          </p:cNvGraphicFramePr>
          <p:nvPr>
            <p:extLst>
              <p:ext uri="{D42A27DB-BD31-4B8C-83A1-F6EECF244321}">
                <p14:modId xmlns:p14="http://schemas.microsoft.com/office/powerpoint/2010/main" val="3460787456"/>
              </p:ext>
            </p:extLst>
          </p:nvPr>
        </p:nvGraphicFramePr>
        <p:xfrm>
          <a:off x="6404167" y="5918200"/>
          <a:ext cx="668337" cy="344488"/>
        </p:xfrm>
        <a:graphic>
          <a:graphicData uri="http://schemas.openxmlformats.org/presentationml/2006/ole">
            <mc:AlternateContent xmlns:mc="http://schemas.openxmlformats.org/markup-compatibility/2006">
              <mc:Choice xmlns:v="urn:schemas-microsoft-com:vml" Requires="v">
                <p:oleObj name="Equation" r:id="rId14" imgW="393480" imgH="203040" progId="Equation.DSMT4">
                  <p:embed/>
                </p:oleObj>
              </mc:Choice>
              <mc:Fallback>
                <p:oleObj name="Equation" r:id="rId14" imgW="393480" imgH="203040" progId="Equation.DSMT4">
                  <p:embed/>
                  <p:pic>
                    <p:nvPicPr>
                      <p:cNvPr id="18" name="Object 2">
                        <a:extLst>
                          <a:ext uri="{FF2B5EF4-FFF2-40B4-BE49-F238E27FC236}">
                            <a16:creationId xmlns:a16="http://schemas.microsoft.com/office/drawing/2014/main" id="{E4610447-74B9-4234-A96B-E1BB857D5DB0}"/>
                          </a:ext>
                        </a:extLst>
                      </p:cNvPr>
                      <p:cNvPicPr>
                        <a:picLocks noChangeAspect="1" noChangeArrowheads="1"/>
                      </p:cNvPicPr>
                      <p:nvPr/>
                    </p:nvPicPr>
                    <p:blipFill>
                      <a:blip r:embed="rId15"/>
                      <a:srcRect/>
                      <a:stretch>
                        <a:fillRect/>
                      </a:stretch>
                    </p:blipFill>
                    <p:spPr bwMode="auto">
                      <a:xfrm>
                        <a:off x="6404167" y="5918200"/>
                        <a:ext cx="668337" cy="344488"/>
                      </a:xfrm>
                      <a:prstGeom prst="rect">
                        <a:avLst/>
                      </a:prstGeom>
                      <a:noFill/>
                    </p:spPr>
                  </p:pic>
                </p:oleObj>
              </mc:Fallback>
            </mc:AlternateContent>
          </a:graphicData>
        </a:graphic>
      </p:graphicFrame>
    </p:spTree>
    <p:extLst>
      <p:ext uri="{BB962C8B-B14F-4D97-AF65-F5344CB8AC3E}">
        <p14:creationId xmlns:p14="http://schemas.microsoft.com/office/powerpoint/2010/main" val="7681723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8625" y="215377"/>
            <a:ext cx="8212138" cy="1144347"/>
          </a:xfrm>
        </p:spPr>
        <p:txBody>
          <a:bodyPr wrap="square" lIns="0" tIns="18000" rIns="0" bIns="18000" anchor="ctr" anchorCtr="0">
            <a:spAutoFit/>
          </a:bodyPr>
          <a:lstStyle/>
          <a:p>
            <a:pPr>
              <a:spcBef>
                <a:spcPts val="600"/>
              </a:spcBef>
            </a:pPr>
            <a:r>
              <a:rPr lang="en-US" noProof="0" dirty="0"/>
              <a:t>Chapter 7 – </a:t>
            </a:r>
            <a:r>
              <a:rPr lang="en-US" i="1" spc="-450" noProof="0" dirty="0"/>
              <a:t>R </a:t>
            </a:r>
            <a:r>
              <a:rPr lang="en-US" i="1" noProof="0" dirty="0"/>
              <a:t>L/</a:t>
            </a:r>
            <a:r>
              <a:rPr lang="en-US" i="1" spc="-450" noProof="0" dirty="0"/>
              <a:t>R </a:t>
            </a:r>
            <a:r>
              <a:rPr lang="en-US" i="1" noProof="0" dirty="0"/>
              <a:t>C</a:t>
            </a:r>
            <a:r>
              <a:rPr lang="en-US" noProof="0" dirty="0"/>
              <a:t> Natural Response Examples </a:t>
            </a:r>
            <a:r>
              <a:rPr lang="en-US" sz="2800" noProof="0" dirty="0"/>
              <a:t>(14 of 14)</a:t>
            </a:r>
          </a:p>
        </p:txBody>
      </p:sp>
      <p:sp>
        <p:nvSpPr>
          <p:cNvPr id="12" name="Content Placeholder 11">
            <a:extLst>
              <a:ext uri="{FF2B5EF4-FFF2-40B4-BE49-F238E27FC236}">
                <a16:creationId xmlns:a16="http://schemas.microsoft.com/office/drawing/2014/main" id="{13419B68-B3AD-90F1-D515-13E70DA081DB}"/>
              </a:ext>
            </a:extLst>
          </p:cNvPr>
          <p:cNvSpPr>
            <a:spLocks noGrp="1"/>
          </p:cNvSpPr>
          <p:nvPr>
            <p:ph sz="quarter" idx="12"/>
          </p:nvPr>
        </p:nvSpPr>
        <p:spPr>
          <a:xfrm>
            <a:off x="428625" y="1546475"/>
            <a:ext cx="4054475" cy="1052014"/>
          </a:xfrm>
        </p:spPr>
        <p:txBody>
          <a:bodyPr lIns="0" tIns="18000" rIns="0" bIns="18000" anchor="ctr" anchorCtr="0">
            <a:spAutoFit/>
          </a:bodyPr>
          <a:lstStyle/>
          <a:p>
            <a:pPr marL="0" indent="0">
              <a:spcBef>
                <a:spcPts val="600"/>
              </a:spcBef>
              <a:buNone/>
            </a:pPr>
            <a:r>
              <a:rPr lang="en-US" sz="2200" noProof="0" dirty="0"/>
              <a:t>Find the time at which 75% of the initial stored energy has been dissipated (continued).</a:t>
            </a:r>
          </a:p>
        </p:txBody>
      </p:sp>
      <p:pic>
        <p:nvPicPr>
          <p:cNvPr id="9" name="Picture 8" descr="A circuit diagram shows a current source of 7.5 milli amperes as the leftmost wire in the circuit. From left to right, an 80 kilo ohms resistor, 0.4 micro farad capacitor, and a 50 kilo ohms resistor are connected in parallel to the 7.5 milli ampere current source. On the top wire of the circuit and between the wires for the 80 kilo ohms resistor and the 0.4 micro farad capacitor are a 20 kilo ohms resistor and a switch. The switch is opened when time t is a t zero. Voltage v with t in parenthesis develops across the 50 kilo ohms resistor with positive polarity at the top node and negative polarity at the bottom node. Voltage v with t in parenthesis changes with time.">
            <a:extLst>
              <a:ext uri="{FF2B5EF4-FFF2-40B4-BE49-F238E27FC236}">
                <a16:creationId xmlns:a16="http://schemas.microsoft.com/office/drawing/2014/main" id="{DD382B51-AB5C-45BD-AB08-450155F70EAA}"/>
              </a:ext>
            </a:extLst>
          </p:cNvPr>
          <p:cNvPicPr>
            <a:picLocks noChangeAspect="1"/>
          </p:cNvPicPr>
          <p:nvPr/>
        </p:nvPicPr>
        <p:blipFill>
          <a:blip r:embed="rId2"/>
          <a:srcRect/>
          <a:stretch/>
        </p:blipFill>
        <p:spPr>
          <a:xfrm>
            <a:off x="4752721" y="1419838"/>
            <a:ext cx="3639058" cy="1239332"/>
          </a:xfrm>
          <a:prstGeom prst="rect">
            <a:avLst/>
          </a:prstGeom>
        </p:spPr>
      </p:pic>
      <p:graphicFrame>
        <p:nvGraphicFramePr>
          <p:cNvPr id="2" name="Object 1" descr="v (t) equals 200 e to the negative 50 t power V, t is greater than or equal to 0.">
            <a:extLst>
              <a:ext uri="{FF2B5EF4-FFF2-40B4-BE49-F238E27FC236}">
                <a16:creationId xmlns:a16="http://schemas.microsoft.com/office/drawing/2014/main" id="{5AF1FC08-1172-5F10-C119-7D2B77B74A9F}"/>
              </a:ext>
            </a:extLst>
          </p:cNvPr>
          <p:cNvGraphicFramePr>
            <a:graphicFrameLocks noChangeAspect="1"/>
          </p:cNvGraphicFramePr>
          <p:nvPr>
            <p:extLst>
              <p:ext uri="{D42A27DB-BD31-4B8C-83A1-F6EECF244321}">
                <p14:modId xmlns:p14="http://schemas.microsoft.com/office/powerpoint/2010/main" val="1585798124"/>
              </p:ext>
            </p:extLst>
          </p:nvPr>
        </p:nvGraphicFramePr>
        <p:xfrm>
          <a:off x="5074981" y="2791227"/>
          <a:ext cx="2683389" cy="339930"/>
        </p:xfrm>
        <a:graphic>
          <a:graphicData uri="http://schemas.openxmlformats.org/presentationml/2006/ole">
            <mc:AlternateContent xmlns:mc="http://schemas.openxmlformats.org/markup-compatibility/2006">
              <mc:Choice xmlns:v="urn:schemas-microsoft-com:vml" Requires="v">
                <p:oleObj name="Equation" r:id="rId3" imgW="3111480" imgH="393480" progId="Equation.DSMT4">
                  <p:embed/>
                </p:oleObj>
              </mc:Choice>
              <mc:Fallback>
                <p:oleObj name="Equation" r:id="rId3" imgW="3111480" imgH="393480" progId="Equation.DSMT4">
                  <p:embed/>
                  <p:pic>
                    <p:nvPicPr>
                      <p:cNvPr id="5" name="Object 4" descr="w (0) equals 1 divided by 2 (0.4 times 10 to the negative 6 power) (200) squared equals 8 millijoules.">
                        <a:extLst>
                          <a:ext uri="{FF2B5EF4-FFF2-40B4-BE49-F238E27FC236}">
                            <a16:creationId xmlns:a16="http://schemas.microsoft.com/office/drawing/2014/main" id="{0D2BE467-0214-9145-014C-A113DD45F5AE}"/>
                          </a:ext>
                        </a:extLst>
                      </p:cNvPr>
                      <p:cNvPicPr>
                        <a:picLocks noChangeAspect="1" noChangeArrowheads="1"/>
                      </p:cNvPicPr>
                      <p:nvPr/>
                    </p:nvPicPr>
                    <p:blipFill>
                      <a:blip r:embed="rId4"/>
                      <a:srcRect/>
                      <a:stretch>
                        <a:fillRect/>
                      </a:stretch>
                    </p:blipFill>
                    <p:spPr bwMode="auto">
                      <a:xfrm>
                        <a:off x="5074981" y="2791227"/>
                        <a:ext cx="2683389" cy="3399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 name="Content Placeholder 2">
            <a:extLst>
              <a:ext uri="{FF2B5EF4-FFF2-40B4-BE49-F238E27FC236}">
                <a16:creationId xmlns:a16="http://schemas.microsoft.com/office/drawing/2014/main" id="{19A7CEC8-983F-F96B-293A-4C44E1799433}"/>
              </a:ext>
            </a:extLst>
          </p:cNvPr>
          <p:cNvSpPr>
            <a:spLocks noGrp="1"/>
          </p:cNvSpPr>
          <p:nvPr>
            <p:ph sz="quarter" idx="15"/>
          </p:nvPr>
        </p:nvSpPr>
        <p:spPr>
          <a:xfrm>
            <a:off x="428624" y="3296902"/>
            <a:ext cx="8212957" cy="713460"/>
          </a:xfrm>
        </p:spPr>
        <p:txBody>
          <a:bodyPr wrap="square" lIns="0" tIns="18000" rIns="0" bIns="18000" anchor="ctr" anchorCtr="0">
            <a:spAutoFit/>
          </a:bodyPr>
          <a:lstStyle/>
          <a:p>
            <a:pPr marL="0" indent="0">
              <a:spcBef>
                <a:spcPts val="600"/>
              </a:spcBef>
              <a:buNone/>
            </a:pPr>
            <a:r>
              <a:rPr lang="en-US" sz="2200" noProof="0" dirty="0"/>
              <a:t>Step 4 – Calculate other quantities of interest using the capacitor To start, calculate the initial stored energy in the capacitor.</a:t>
            </a:r>
          </a:p>
        </p:txBody>
      </p:sp>
      <p:graphicFrame>
        <p:nvGraphicFramePr>
          <p:cNvPr id="5" name="Object 4" descr="w (0) equals 1 divided by 2 (0.4 times 10 to the negative 6 power) (200) squared equals 8 millijoules.">
            <a:extLst>
              <a:ext uri="{FF2B5EF4-FFF2-40B4-BE49-F238E27FC236}">
                <a16:creationId xmlns:a16="http://schemas.microsoft.com/office/drawing/2014/main" id="{0D2BE467-0214-9145-014C-A113DD45F5AE}"/>
              </a:ext>
            </a:extLst>
          </p:cNvPr>
          <p:cNvGraphicFramePr>
            <a:graphicFrameLocks noChangeAspect="1"/>
          </p:cNvGraphicFramePr>
          <p:nvPr>
            <p:extLst>
              <p:ext uri="{D42A27DB-BD31-4B8C-83A1-F6EECF244321}">
                <p14:modId xmlns:p14="http://schemas.microsoft.com/office/powerpoint/2010/main" val="3949753562"/>
              </p:ext>
            </p:extLst>
          </p:nvPr>
        </p:nvGraphicFramePr>
        <p:xfrm>
          <a:off x="2605088" y="4052888"/>
          <a:ext cx="3951287" cy="422275"/>
        </p:xfrm>
        <a:graphic>
          <a:graphicData uri="http://schemas.openxmlformats.org/presentationml/2006/ole">
            <mc:AlternateContent xmlns:mc="http://schemas.openxmlformats.org/markup-compatibility/2006">
              <mc:Choice xmlns:v="urn:schemas-microsoft-com:vml" Requires="v">
                <p:oleObj name="Equation" r:id="rId5" imgW="2260440" imgH="241200" progId="Equation.DSMT4">
                  <p:embed/>
                </p:oleObj>
              </mc:Choice>
              <mc:Fallback>
                <p:oleObj name="Equation" r:id="rId5" imgW="2260440" imgH="241200" progId="Equation.DSMT4">
                  <p:embed/>
                  <p:pic>
                    <p:nvPicPr>
                      <p:cNvPr id="8" name="Object 7"/>
                      <p:cNvPicPr>
                        <a:picLocks noChangeAspect="1" noChangeArrowheads="1"/>
                      </p:cNvPicPr>
                      <p:nvPr/>
                    </p:nvPicPr>
                    <p:blipFill>
                      <a:blip r:embed="rId6"/>
                      <a:srcRect/>
                      <a:stretch>
                        <a:fillRect/>
                      </a:stretch>
                    </p:blipFill>
                    <p:spPr bwMode="auto">
                      <a:xfrm>
                        <a:off x="2605088" y="4052888"/>
                        <a:ext cx="3951287" cy="42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 name="Content Placeholder 14">
            <a:extLst>
              <a:ext uri="{FF2B5EF4-FFF2-40B4-BE49-F238E27FC236}">
                <a16:creationId xmlns:a16="http://schemas.microsoft.com/office/drawing/2014/main" id="{CA07694C-3188-7439-B694-DEBB8A1AC24C}"/>
              </a:ext>
            </a:extLst>
          </p:cNvPr>
          <p:cNvSpPr>
            <a:spLocks noGrp="1"/>
          </p:cNvSpPr>
          <p:nvPr>
            <p:ph sz="quarter" idx="16"/>
          </p:nvPr>
        </p:nvSpPr>
        <p:spPr>
          <a:xfrm>
            <a:off x="431505" y="4593485"/>
            <a:ext cx="8209258" cy="713460"/>
          </a:xfrm>
        </p:spPr>
        <p:txBody>
          <a:bodyPr wrap="square" lIns="0" tIns="18000" rIns="0" bIns="18000" anchor="ctr" anchorCtr="0">
            <a:spAutoFit/>
          </a:bodyPr>
          <a:lstStyle/>
          <a:p>
            <a:pPr marL="0" indent="0">
              <a:spcBef>
                <a:spcPts val="600"/>
              </a:spcBef>
              <a:buNone/>
            </a:pPr>
            <a:r>
              <a:rPr lang="en-US" sz="2200" noProof="0" dirty="0"/>
              <a:t>75% of the initial energy is 6 </a:t>
            </a:r>
            <a:r>
              <a:rPr lang="en-US" sz="2200" noProof="0" dirty="0" err="1"/>
              <a:t>mJ</a:t>
            </a:r>
            <a:r>
              <a:rPr lang="en-US" sz="2200" noProof="0" dirty="0"/>
              <a:t>, so the energy that remains is 2 </a:t>
            </a:r>
            <a:r>
              <a:rPr lang="en-US" sz="2200" noProof="0" dirty="0" err="1"/>
              <a:t>mJ</a:t>
            </a:r>
            <a:r>
              <a:rPr lang="en-US" sz="2200" noProof="0" dirty="0"/>
              <a:t>. Thus,</a:t>
            </a:r>
          </a:p>
        </p:txBody>
      </p:sp>
      <p:graphicFrame>
        <p:nvGraphicFramePr>
          <p:cNvPr id="7" name="Object 6" descr="w (t) equals 1 divided by 2 (0.4 times 10 to the negative 6 power) (200 e to the negative 50 t power) squared equals 8 e to the negative 100 t power millijoules equals 2 millijoules.">
            <a:extLst>
              <a:ext uri="{FF2B5EF4-FFF2-40B4-BE49-F238E27FC236}">
                <a16:creationId xmlns:a16="http://schemas.microsoft.com/office/drawing/2014/main" id="{1ABF4433-3E56-C7F6-AE0B-E09F21A8BBB9}"/>
              </a:ext>
            </a:extLst>
          </p:cNvPr>
          <p:cNvGraphicFramePr>
            <a:graphicFrameLocks noChangeAspect="1"/>
          </p:cNvGraphicFramePr>
          <p:nvPr>
            <p:extLst>
              <p:ext uri="{D42A27DB-BD31-4B8C-83A1-F6EECF244321}">
                <p14:modId xmlns:p14="http://schemas.microsoft.com/office/powerpoint/2010/main" val="2232130272"/>
              </p:ext>
            </p:extLst>
          </p:nvPr>
        </p:nvGraphicFramePr>
        <p:xfrm>
          <a:off x="2147888" y="5417701"/>
          <a:ext cx="4826000" cy="352425"/>
        </p:xfrm>
        <a:graphic>
          <a:graphicData uri="http://schemas.openxmlformats.org/presentationml/2006/ole">
            <mc:AlternateContent xmlns:mc="http://schemas.openxmlformats.org/markup-compatibility/2006">
              <mc:Choice xmlns:v="urn:schemas-microsoft-com:vml" Requires="v">
                <p:oleObj name="Equation" r:id="rId7" imgW="3301920" imgH="241200" progId="Equation.DSMT4">
                  <p:embed/>
                </p:oleObj>
              </mc:Choice>
              <mc:Fallback>
                <p:oleObj name="Equation" r:id="rId7" imgW="3301920" imgH="241200" progId="Equation.DSMT4">
                  <p:embed/>
                  <p:pic>
                    <p:nvPicPr>
                      <p:cNvPr id="9" name="Object 8"/>
                      <p:cNvPicPr>
                        <a:picLocks noChangeAspect="1" noChangeArrowheads="1"/>
                      </p:cNvPicPr>
                      <p:nvPr/>
                    </p:nvPicPr>
                    <p:blipFill>
                      <a:blip r:embed="rId8"/>
                      <a:srcRect/>
                      <a:stretch>
                        <a:fillRect/>
                      </a:stretch>
                    </p:blipFill>
                    <p:spPr bwMode="auto">
                      <a:xfrm>
                        <a:off x="2147888" y="5417701"/>
                        <a:ext cx="4826000"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Object 9" descr="right double arrow, e to the negative 100 t power equals 0.25 right double arrow, t equals StartFraction natural ln ( 0.25 ) over negative 100 EndFraction equals 13.86 milliseconds.">
            <a:extLst>
              <a:ext uri="{FF2B5EF4-FFF2-40B4-BE49-F238E27FC236}">
                <a16:creationId xmlns:a16="http://schemas.microsoft.com/office/drawing/2014/main" id="{2C580F81-40C2-417F-8B95-EBF610815343}"/>
              </a:ext>
            </a:extLst>
          </p:cNvPr>
          <p:cNvGraphicFramePr>
            <a:graphicFrameLocks noChangeAspect="1"/>
          </p:cNvGraphicFramePr>
          <p:nvPr>
            <p:extLst>
              <p:ext uri="{D42A27DB-BD31-4B8C-83A1-F6EECF244321}">
                <p14:modId xmlns:p14="http://schemas.microsoft.com/office/powerpoint/2010/main" val="993866051"/>
              </p:ext>
            </p:extLst>
          </p:nvPr>
        </p:nvGraphicFramePr>
        <p:xfrm>
          <a:off x="2058493" y="5846272"/>
          <a:ext cx="4994275" cy="576263"/>
        </p:xfrm>
        <a:graphic>
          <a:graphicData uri="http://schemas.openxmlformats.org/presentationml/2006/ole">
            <mc:AlternateContent xmlns:mc="http://schemas.openxmlformats.org/markup-compatibility/2006">
              <mc:Choice xmlns:v="urn:schemas-microsoft-com:vml" Requires="v">
                <p:oleObj name="Equation" r:id="rId9" imgW="3416040" imgH="393480" progId="Equation.DSMT4">
                  <p:embed/>
                </p:oleObj>
              </mc:Choice>
              <mc:Fallback>
                <p:oleObj name="Equation" r:id="rId9" imgW="3416040" imgH="393480" progId="Equation.DSMT4">
                  <p:embed/>
                  <p:pic>
                    <p:nvPicPr>
                      <p:cNvPr id="7" name="Object 6">
                        <a:extLst>
                          <a:ext uri="{FF2B5EF4-FFF2-40B4-BE49-F238E27FC236}">
                            <a16:creationId xmlns:a16="http://schemas.microsoft.com/office/drawing/2014/main" id="{1ABF4433-3E56-C7F6-AE0B-E09F21A8BBB9}"/>
                          </a:ext>
                        </a:extLst>
                      </p:cNvPr>
                      <p:cNvPicPr>
                        <a:picLocks noChangeAspect="1" noChangeArrowheads="1"/>
                      </p:cNvPicPr>
                      <p:nvPr/>
                    </p:nvPicPr>
                    <p:blipFill>
                      <a:blip r:embed="rId10"/>
                      <a:srcRect/>
                      <a:stretch>
                        <a:fillRect/>
                      </a:stretch>
                    </p:blipFill>
                    <p:spPr bwMode="auto">
                      <a:xfrm>
                        <a:off x="2058493" y="5846272"/>
                        <a:ext cx="4994275"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2044634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7D58C-9F1B-4866-A98E-52818AA14994}"/>
              </a:ext>
            </a:extLst>
          </p:cNvPr>
          <p:cNvSpPr>
            <a:spLocks noGrp="1"/>
          </p:cNvSpPr>
          <p:nvPr>
            <p:ph type="title"/>
          </p:nvPr>
        </p:nvSpPr>
        <p:spPr>
          <a:xfrm>
            <a:off x="428400" y="208800"/>
            <a:ext cx="8240665" cy="590349"/>
          </a:xfrm>
        </p:spPr>
        <p:txBody>
          <a:bodyPr wrap="square" lIns="0" tIns="18000" rIns="0" bIns="18000" rtlCol="0" anchor="ctr">
            <a:spAutoFit/>
          </a:bodyPr>
          <a:lstStyle/>
          <a:p>
            <a:pPr eaLnBrk="1" fontAlgn="auto" hangingPunct="1">
              <a:spcAft>
                <a:spcPts val="0"/>
              </a:spcAft>
              <a:defRPr/>
            </a:pPr>
            <a:r>
              <a:rPr lang="en-US" sz="3600" noProof="0" dirty="0">
                <a:latin typeface="+mj-lt"/>
              </a:rPr>
              <a:t>Copyright</a:t>
            </a:r>
            <a:endParaRPr lang="en-US" sz="3600" b="0" noProof="0" dirty="0">
              <a:latin typeface="+mj-lt"/>
            </a:endParaRPr>
          </a:p>
        </p:txBody>
      </p:sp>
      <p:pic>
        <p:nvPicPr>
          <p:cNvPr id="3" name="Graphic 2" descr="Warning">
            <a:extLst>
              <a:ext uri="{FF2B5EF4-FFF2-40B4-BE49-F238E27FC236}">
                <a16:creationId xmlns:a16="http://schemas.microsoft.com/office/drawing/2014/main" id="{45663BD5-7D18-BDA4-9C4E-DA879AC1029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79831" y="2317359"/>
            <a:ext cx="1277815" cy="1434026"/>
          </a:xfrm>
          <a:prstGeom prst="rect">
            <a:avLst/>
          </a:prstGeom>
        </p:spPr>
      </p:pic>
      <p:sp>
        <p:nvSpPr>
          <p:cNvPr id="47108" name="Content Placeholder 2">
            <a:extLst>
              <a:ext uri="{FF2B5EF4-FFF2-40B4-BE49-F238E27FC236}">
                <a16:creationId xmlns:a16="http://schemas.microsoft.com/office/drawing/2014/main" id="{D426AB61-8455-4298-A667-9E3A95FC73C1}"/>
              </a:ext>
            </a:extLst>
          </p:cNvPr>
          <p:cNvSpPr>
            <a:spLocks noGrp="1"/>
          </p:cNvSpPr>
          <p:nvPr>
            <p:ph idx="1"/>
          </p:nvPr>
        </p:nvSpPr>
        <p:spPr bwMode="auto">
          <a:xfrm>
            <a:off x="1851965" y="1889826"/>
            <a:ext cx="6810440" cy="2832998"/>
          </a:xfrm>
          <a:ln w="28575">
            <a:solidFill>
              <a:schemeClr val="tx1"/>
            </a:solidFill>
            <a:miter lim="800000"/>
            <a:headEnd/>
            <a:tailEnd/>
          </a:ln>
        </p:spPr>
        <p:txBody>
          <a:bodyPr wrap="square" lIns="183600" tIns="183600" rIns="183600" bIns="183600" numCol="1" anchor="ctr" anchorCtr="0" compatLnSpc="1">
            <a:prstTxWarp prst="textNoShape">
              <a:avLst/>
            </a:prstTxWarp>
            <a:spAutoFit/>
          </a:bodyPr>
          <a:lstStyle/>
          <a:p>
            <a:pPr marL="0" indent="0" eaLnBrk="1" hangingPunct="1">
              <a:buFont typeface="Arial" panose="020B0604020202020204" pitchFamily="34" charset="0"/>
              <a:buNone/>
            </a:pPr>
            <a:r>
              <a:rPr lang="en-US" altLang="en-US" b="1" noProof="0" dirty="0">
                <a:latin typeface="Arial" panose="020B0604020202020204" pitchFamily="34" charset="0"/>
                <a:cs typeface="Arial" panose="020B0604020202020204" pitchFamily="34" charset="0"/>
              </a:rPr>
              <a:t>This work is protected by United Kingdom copyright laws and is 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p>
        </p:txBody>
      </p:sp>
    </p:spTree>
    <p:extLst>
      <p:ext uri="{BB962C8B-B14F-4D97-AF65-F5344CB8AC3E}">
        <p14:creationId xmlns:p14="http://schemas.microsoft.com/office/powerpoint/2010/main" val="69387080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PSSHAPETYPE" val="Incorrect"/>
  <p:tag name="ANSWERSTEMINDEX" val="2"/>
</p:tagLst>
</file>

<file path=ppt/tags/tag2.xml><?xml version="1.0" encoding="utf-8"?>
<p:tagLst xmlns:a="http://schemas.openxmlformats.org/drawingml/2006/main" xmlns:r="http://schemas.openxmlformats.org/officeDocument/2006/relationships" xmlns:p="http://schemas.openxmlformats.org/presentationml/2006/main">
  <p:tag name="CPSSHAPETYPE" val="Incorrect"/>
  <p:tag name="ANSWERSTEMINDEX" val="2"/>
</p:tagLst>
</file>

<file path=ppt/tags/tag3.xml><?xml version="1.0" encoding="utf-8"?>
<p:tagLst xmlns:a="http://schemas.openxmlformats.org/drawingml/2006/main" xmlns:r="http://schemas.openxmlformats.org/officeDocument/2006/relationships" xmlns:p="http://schemas.openxmlformats.org/presentationml/2006/main">
  <p:tag name="CPSSHAPETYPE" val="Correct"/>
  <p:tag name="ANSWERSTEMINDEX" val="1"/>
</p:tagLst>
</file>

<file path=ppt/tags/tag4.xml><?xml version="1.0" encoding="utf-8"?>
<p:tagLst xmlns:a="http://schemas.openxmlformats.org/drawingml/2006/main" xmlns:r="http://schemas.openxmlformats.org/officeDocument/2006/relationships" xmlns:p="http://schemas.openxmlformats.org/presentationml/2006/main">
  <p:tag name="CPSSHAPETYPE" val="Incorrect"/>
  <p:tag name="ANSWERSTEMINDEX" val="2"/>
</p:tagLst>
</file>

<file path=ppt/tags/tag5.xml><?xml version="1.0" encoding="utf-8"?>
<p:tagLst xmlns:a="http://schemas.openxmlformats.org/drawingml/2006/main" xmlns:r="http://schemas.openxmlformats.org/officeDocument/2006/relationships" xmlns:p="http://schemas.openxmlformats.org/presentationml/2006/main">
  <p:tag name="CPSSHAPETYPE" val="Correct"/>
  <p:tag name="ANSWERSTEMINDEX" val="1"/>
</p:tagLst>
</file>

<file path=ppt/tags/tag6.xml><?xml version="1.0" encoding="utf-8"?>
<p:tagLst xmlns:a="http://schemas.openxmlformats.org/drawingml/2006/main" xmlns:r="http://schemas.openxmlformats.org/officeDocument/2006/relationships" xmlns:p="http://schemas.openxmlformats.org/presentationml/2006/main">
  <p:tag name="CPSSHAPETYPE" val="Incorrect"/>
  <p:tag name="ANSWERSTEMINDEX" val="2"/>
</p:tagLst>
</file>

<file path=ppt/tags/tag7.xml><?xml version="1.0" encoding="utf-8"?>
<p:tagLst xmlns:a="http://schemas.openxmlformats.org/drawingml/2006/main" xmlns:r="http://schemas.openxmlformats.org/officeDocument/2006/relationships" xmlns:p="http://schemas.openxmlformats.org/presentationml/2006/main">
  <p:tag name="CPSSHAPETYPE" val="Correct"/>
  <p:tag name="ANSWERSTEMINDEX" val="1"/>
</p:tagLst>
</file>

<file path=ppt/tags/tag8.xml><?xml version="1.0" encoding="utf-8"?>
<p:tagLst xmlns:a="http://schemas.openxmlformats.org/drawingml/2006/main" xmlns:r="http://schemas.openxmlformats.org/officeDocument/2006/relationships" xmlns:p="http://schemas.openxmlformats.org/presentationml/2006/main">
  <p:tag name="CPSSHAPETYPE" val="Incorrect"/>
  <p:tag name="ANSWERSTEMINDEX" val="2"/>
</p:tagLst>
</file>

<file path=ppt/tags/tag9.xml><?xml version="1.0" encoding="utf-8"?>
<p:tagLst xmlns:a="http://schemas.openxmlformats.org/drawingml/2006/main" xmlns:r="http://schemas.openxmlformats.org/officeDocument/2006/relationships" xmlns:p="http://schemas.openxmlformats.org/presentationml/2006/main">
  <p:tag name="CPSSHAPETYPE" val="Incorrect"/>
  <p:tag name="ANSWERSTEMINDEX" val="2"/>
</p:tagLst>
</file>

<file path=ppt/tags/tag10.xml><?xml version="1.0" encoding="utf-8"?>
<p:tagLst xmlns:a="http://schemas.openxmlformats.org/drawingml/2006/main" xmlns:r="http://schemas.openxmlformats.org/officeDocument/2006/relationships" xmlns:p="http://schemas.openxmlformats.org/presentationml/2006/main">
  <p:tag name="CPSSHAPETYPE" val="Correct"/>
  <p:tag name="ANSWERSTEMINDEX" val="1"/>
</p:tagLst>
</file>

<file path=ppt/tags/tag11.xml><?xml version="1.0" encoding="utf-8"?>
<p:tagLst xmlns:a="http://schemas.openxmlformats.org/drawingml/2006/main" xmlns:r="http://schemas.openxmlformats.org/officeDocument/2006/relationships" xmlns:p="http://schemas.openxmlformats.org/presentationml/2006/main">
  <p:tag name="CPSSHAPETYPE" val="Incorrect"/>
  <p:tag name="ANSWERSTEMINDEX" val="2"/>
</p:tagLst>
</file>

<file path=ppt/theme/theme1.xml><?xml version="1.0" encoding="utf-8"?>
<a:theme xmlns:a="http://schemas.openxmlformats.org/drawingml/2006/main" name="USH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USHE_slide options">
  <a:themeElements>
    <a:clrScheme name="Custom 40">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33399"/>
      </a:hlink>
      <a:folHlink>
        <a:srgbClr val="7030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1946</TotalTime>
  <Words>1258</Words>
  <Application>Microsoft Office PowerPoint</Application>
  <PresentationFormat>On-screen Show (4:3)</PresentationFormat>
  <Paragraphs>163</Paragraphs>
  <Slides>23</Slides>
  <Notes>4</Notes>
  <HiddenSlides>0</HiddenSlides>
  <MMClips>0</MMClips>
  <ScaleCrop>false</ScaleCrop>
  <HeadingPairs>
    <vt:vector size="8" baseType="variant">
      <vt:variant>
        <vt:lpstr>Fonts Used</vt:lpstr>
      </vt:variant>
      <vt:variant>
        <vt:i4>5</vt:i4>
      </vt:variant>
      <vt:variant>
        <vt:lpstr>Theme</vt:lpstr>
      </vt:variant>
      <vt:variant>
        <vt:i4>2</vt:i4>
      </vt:variant>
      <vt:variant>
        <vt:lpstr>Embedded OLE Servers</vt:lpstr>
      </vt:variant>
      <vt:variant>
        <vt:i4>1</vt:i4>
      </vt:variant>
      <vt:variant>
        <vt:lpstr>Slide Titles</vt:lpstr>
      </vt:variant>
      <vt:variant>
        <vt:i4>23</vt:i4>
      </vt:variant>
    </vt:vector>
  </HeadingPairs>
  <TitlesOfParts>
    <vt:vector size="31" baseType="lpstr">
      <vt:lpstr>Cambria Math</vt:lpstr>
      <vt:lpstr>Arial</vt:lpstr>
      <vt:lpstr>Verdana</vt:lpstr>
      <vt:lpstr>Symbol</vt:lpstr>
      <vt:lpstr>Times New Roman</vt:lpstr>
      <vt:lpstr>USHE</vt:lpstr>
      <vt:lpstr>USHE_slide options</vt:lpstr>
      <vt:lpstr>Equation</vt:lpstr>
      <vt:lpstr>Electric Circuits</vt:lpstr>
      <vt:lpstr>Chapter 7 – R L Natural Response</vt:lpstr>
      <vt:lpstr>Chapter 7 – R C Natural Response</vt:lpstr>
      <vt:lpstr>Chapter 7 – R L/R C Natural Response Examples (1 of 14)</vt:lpstr>
      <vt:lpstr>Chapter 7 – R L/R C Natural Response Examples (2 of 14)</vt:lpstr>
      <vt:lpstr>Chapter 7 – R L/R C Natural Response Examples (2 of 14)</vt:lpstr>
      <vt:lpstr>Chapter 7 – R L/R C Natural Response Examples (3 of 14)</vt:lpstr>
      <vt:lpstr>Chapter 7 – R L/R C Natural Response Examples (3 of 14)</vt:lpstr>
      <vt:lpstr>Chapter 7 – R L/R C Natural Response Examples (4 of 14)</vt:lpstr>
      <vt:lpstr>Chapter 7 – R L/R C Natural Response Examples (5 of 14)</vt:lpstr>
      <vt:lpstr>Chapter 7 – R L/R C Natural Response Examples (6 of 14)</vt:lpstr>
      <vt:lpstr>Chapter 7 – R L/R C Natural Response Examples (6 of 14)</vt:lpstr>
      <vt:lpstr>Chapter 7 – R L/R C Natural Response Examples (7 of 14)</vt:lpstr>
      <vt:lpstr>Chapter 7 – R L/R C Natural Response Examples (8 of 14)</vt:lpstr>
      <vt:lpstr>Chapter 7 – R L/R C Natural Response Examples (9 of 14)</vt:lpstr>
      <vt:lpstr>Chapter 7 – R L/R C Natural Response Examples (9 of 14)</vt:lpstr>
      <vt:lpstr>Chapter 7 – R L/R C Natural Response Examples (10 of 14)</vt:lpstr>
      <vt:lpstr>Chapter 7 – R L/R C Natural Response Examples (11 of 14)</vt:lpstr>
      <vt:lpstr>Chapter 7 – R L/R C Natural Response Examples (11 of 14)</vt:lpstr>
      <vt:lpstr>Chapter 7 – R L/R C Natural Response Examples (12 of 14)</vt:lpstr>
      <vt:lpstr>Chapter 7 – R L/R C Natural Response Examples (13 of 14)</vt:lpstr>
      <vt:lpstr>Chapter 7 – R L/R C Natural Response Examples (14 of 14)</vt:lpstr>
      <vt:lpstr>Copyright</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Electric Circuits, Twelfth Edition, Chapter 7 – Part 2</dc:title>
  <dc:subject>Engineering</dc:subject>
  <dc:creator>Nilsson and Riedel</dc:creator>
  <cp:keywords/>
  <dc:description/>
  <cp:lastModifiedBy>kml erd</cp:lastModifiedBy>
  <cp:revision>385</cp:revision>
  <dcterms:modified xsi:type="dcterms:W3CDTF">2025-12-15T11:25:54Z</dcterms:modified>
</cp:coreProperties>
</file>