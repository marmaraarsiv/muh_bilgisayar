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25"/>
  </p:notesMasterIdLst>
  <p:handoutMasterIdLst>
    <p:handoutMasterId r:id="rId26"/>
  </p:handoutMasterIdLst>
  <p:sldIdLst>
    <p:sldId id="330" r:id="rId3"/>
    <p:sldId id="737" r:id="rId4"/>
    <p:sldId id="718" r:id="rId5"/>
    <p:sldId id="756" r:id="rId6"/>
    <p:sldId id="742" r:id="rId7"/>
    <p:sldId id="757" r:id="rId8"/>
    <p:sldId id="745" r:id="rId9"/>
    <p:sldId id="746" r:id="rId10"/>
    <p:sldId id="747" r:id="rId11"/>
    <p:sldId id="748" r:id="rId12"/>
    <p:sldId id="758" r:id="rId13"/>
    <p:sldId id="749" r:id="rId14"/>
    <p:sldId id="750" r:id="rId15"/>
    <p:sldId id="751" r:id="rId16"/>
    <p:sldId id="752" r:id="rId17"/>
    <p:sldId id="754" r:id="rId18"/>
    <p:sldId id="738" r:id="rId19"/>
    <p:sldId id="739" r:id="rId20"/>
    <p:sldId id="759" r:id="rId21"/>
    <p:sldId id="740" r:id="rId22"/>
    <p:sldId id="741" r:id="rId23"/>
    <p:sldId id="717" r:id="rId24"/>
  </p:sldIdLst>
  <p:sldSz cx="9144000" cy="6858000" type="screen4x3"/>
  <p:notesSz cx="6858000" cy="9144000"/>
  <p:embeddedFontLst>
    <p:embeddedFont>
      <p:font typeface="Verdana" panose="020B0604030504040204"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49" userDrawn="1">
          <p15:clr>
            <a:srgbClr val="A4A3A4"/>
          </p15:clr>
        </p15:guide>
        <p15:guide id="3" orient="horz" pos="1865" userDrawn="1">
          <p15:clr>
            <a:srgbClr val="A4A3A4"/>
          </p15:clr>
        </p15:guide>
        <p15:guide id="4" pos="2903" userDrawn="1">
          <p15:clr>
            <a:srgbClr val="A4A3A4"/>
          </p15:clr>
        </p15:guide>
        <p15:guide id="5" pos="5465" userDrawn="1">
          <p15:clr>
            <a:srgbClr val="A4A3A4"/>
          </p15:clr>
        </p15:guide>
        <p15:guide id="6" orient="horz" pos="4042" userDrawn="1">
          <p15:clr>
            <a:srgbClr val="A4A3A4"/>
          </p15:clr>
        </p15:guide>
        <p15:guide id="7" orient="horz" pos="1185" userDrawn="1">
          <p15:clr>
            <a:srgbClr val="A4A3A4"/>
          </p15:clr>
        </p15:guide>
        <p15:guide id="8" orient="horz" pos="981" userDrawn="1">
          <p15:clr>
            <a:srgbClr val="A4A3A4"/>
          </p15:clr>
        </p15:guide>
        <p15:guide id="9" orient="horz" pos="3181" userDrawn="1">
          <p15:clr>
            <a:srgbClr val="A4A3A4"/>
          </p15:clr>
        </p15:guide>
        <p15:guide id="10" orient="horz" pos="225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D4EA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74" autoAdjust="0"/>
    <p:restoredTop sz="96374" autoAdjust="0"/>
  </p:normalViewPr>
  <p:slideViewPr>
    <p:cSldViewPr snapToGrid="0" snapToObjects="1">
      <p:cViewPr varScale="1">
        <p:scale>
          <a:sx n="109" d="100"/>
          <a:sy n="109" d="100"/>
        </p:scale>
        <p:origin x="1936" y="184"/>
      </p:cViewPr>
      <p:guideLst>
        <p:guide orient="horz" pos="427"/>
        <p:guide pos="249"/>
        <p:guide orient="horz" pos="1865"/>
        <p:guide pos="2903"/>
        <p:guide pos="5465"/>
        <p:guide orient="horz" pos="4042"/>
        <p:guide orient="horz" pos="1185"/>
        <p:guide orient="horz" pos="981"/>
        <p:guide orient="horz" pos="3181"/>
        <p:guide orient="horz" pos="2251"/>
      </p:guideLst>
    </p:cSldViewPr>
  </p:slideViewPr>
  <p:outlineViewPr>
    <p:cViewPr>
      <p:scale>
        <a:sx n="33" d="100"/>
        <a:sy n="33" d="100"/>
      </p:scale>
      <p:origin x="0" y="-7524"/>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ableStyles" Target="tableStyle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11/24/25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a:t>
            </a:r>
            <a:r>
              <a:rPr lang="en-US"/>
              <a:t>) Math Type </a:t>
            </a:r>
            <a:r>
              <a:rPr lang="en-US" dirty="0"/>
              <a:t>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 1:</a:t>
            </a:r>
          </a:p>
          <a:p>
            <a:r>
              <a:rPr lang="en-US" sz="1200" b="0" i="0" u="none" strike="noStrike" kern="1200" cap="none" dirty="0" err="1">
                <a:solidFill>
                  <a:schemeClr val="dk1"/>
                </a:solidFill>
                <a:effectLst/>
                <a:latin typeface="Arial"/>
                <a:ea typeface="Arial"/>
                <a:cs typeface="Arial"/>
                <a:sym typeface="Arial"/>
              </a:rPr>
              <a:t>i</a:t>
            </a:r>
            <a:r>
              <a:rPr lang="en-US" sz="1200" b="0" i="0" u="none" strike="noStrike" kern="1200" cap="none" dirty="0">
                <a:solidFill>
                  <a:schemeClr val="dk1"/>
                </a:solidFill>
                <a:effectLst/>
                <a:latin typeface="Arial"/>
                <a:ea typeface="Arial"/>
                <a:cs typeface="Arial"/>
                <a:sym typeface="Arial"/>
              </a:rPr>
              <a:t> (t) equals Open </a:t>
            </a:r>
            <a:r>
              <a:rPr lang="en-US" sz="1200" b="0" i="0" u="none" strike="noStrike" kern="1200" cap="none" dirty="0" err="1">
                <a:solidFill>
                  <a:schemeClr val="dk1"/>
                </a:solidFill>
                <a:effectLst/>
                <a:latin typeface="Arial"/>
                <a:ea typeface="Arial"/>
                <a:cs typeface="Arial"/>
                <a:sym typeface="Arial"/>
              </a:rPr>
              <a:t>CurlyBracket</a:t>
            </a:r>
            <a:r>
              <a:rPr lang="en-US" sz="1200" b="0" i="0" u="none" strike="noStrike" kern="1200" cap="none" dirty="0">
                <a:solidFill>
                  <a:schemeClr val="dk1"/>
                </a:solidFill>
                <a:effectLst/>
                <a:latin typeface="Arial"/>
                <a:ea typeface="Arial"/>
                <a:cs typeface="Arial"/>
                <a:sym typeface="Arial"/>
              </a:rPr>
              <a:t>.</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Line 1: 0, t less than or equal to 0; </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Line 2: 5000, t Amperes comma 0 less than or equal to t less than or equal to 20 micro seconds;</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Line 3: 0.2 minus 5000 t Ampere, 20 less than or equal to t less than or equal to 40 micro seconds;</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0, t greater than or equal to 40 micro seconds.</a:t>
            </a:r>
            <a:r>
              <a:rPr lang="en-US" dirty="0"/>
              <a:t> </a:t>
            </a:r>
          </a:p>
          <a:p>
            <a:endParaRPr lang="en-US" dirty="0"/>
          </a:p>
          <a:p>
            <a:r>
              <a:rPr lang="en-US" dirty="0"/>
              <a:t>Long Description 2:</a:t>
            </a:r>
          </a:p>
          <a:p>
            <a:r>
              <a:rPr lang="en-US" sz="1200" b="0" i="0" u="none" strike="noStrike" kern="1200" cap="none" dirty="0">
                <a:solidFill>
                  <a:schemeClr val="dk1"/>
                </a:solidFill>
                <a:effectLst/>
                <a:latin typeface="Arial"/>
                <a:ea typeface="Arial"/>
                <a:cs typeface="Arial"/>
                <a:sym typeface="Arial"/>
              </a:rPr>
              <a:t>v (t) equals Start Fraction 1 over 0.2 mu End Fraction Integral lower limit 0 upper limit t baseline 5000 x d x plus v (0) equals Start Fraction 1 over 0.2 mu End Fraction Start Fraction 5000 x squared over 2 End Fraction vertical bar lower limit 0 upper limit t baseline equals 12.5 times 10 to the 9 power t squared Volts.</a:t>
            </a:r>
            <a:r>
              <a:rPr lang="en-US" dirty="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3324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sz="1200" b="0" i="0" u="none" strike="noStrike" kern="1200" cap="none" dirty="0" err="1">
                <a:solidFill>
                  <a:schemeClr val="dk1"/>
                </a:solidFill>
                <a:effectLst/>
                <a:latin typeface="Arial"/>
                <a:ea typeface="Arial"/>
                <a:cs typeface="Arial"/>
                <a:sym typeface="Arial"/>
              </a:rPr>
              <a:t>i</a:t>
            </a:r>
            <a:r>
              <a:rPr lang="en-US" sz="1200" b="0" i="0" u="none" strike="noStrike" kern="1200" cap="none" dirty="0">
                <a:solidFill>
                  <a:schemeClr val="dk1"/>
                </a:solidFill>
                <a:effectLst/>
                <a:latin typeface="Arial"/>
                <a:ea typeface="Arial"/>
                <a:cs typeface="Arial"/>
                <a:sym typeface="Arial"/>
              </a:rPr>
              <a:t> (t) equals Open </a:t>
            </a:r>
            <a:r>
              <a:rPr lang="en-US" sz="1200" b="0" i="0" u="none" strike="noStrike" kern="1200" cap="none" dirty="0" err="1">
                <a:solidFill>
                  <a:schemeClr val="dk1"/>
                </a:solidFill>
                <a:effectLst/>
                <a:latin typeface="Arial"/>
                <a:ea typeface="Arial"/>
                <a:cs typeface="Arial"/>
                <a:sym typeface="Arial"/>
              </a:rPr>
              <a:t>CurlyBracket</a:t>
            </a:r>
            <a:r>
              <a:rPr lang="en-US" sz="1200" b="0" i="0" u="none" strike="noStrike" kern="1200" cap="none" dirty="0">
                <a:solidFill>
                  <a:schemeClr val="dk1"/>
                </a:solidFill>
                <a:effectLst/>
                <a:latin typeface="Arial"/>
                <a:ea typeface="Arial"/>
                <a:cs typeface="Arial"/>
                <a:sym typeface="Arial"/>
              </a:rPr>
              <a:t>.</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Line 1: 0, t less than or equal to 0; </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Line 2: 5000, t Amperes comma 0 less than or equal to t less than or equal to 20 micro seconds;</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Line 3: 0.2 minus 5000 t Ampere, 20 less than or equal to t less than or equal to 40 micro seconds;</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0, t greater than or equal to 40 micro seconds.</a:t>
            </a:r>
            <a:r>
              <a:rPr lang="en-US" dirty="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594712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sz="1200" b="0" i="0" u="none" strike="noStrike" kern="1200" cap="none" dirty="0" err="1">
                <a:solidFill>
                  <a:schemeClr val="dk1"/>
                </a:solidFill>
                <a:effectLst/>
                <a:latin typeface="Arial"/>
                <a:ea typeface="Arial"/>
                <a:cs typeface="Arial"/>
                <a:sym typeface="Arial"/>
              </a:rPr>
              <a:t>i</a:t>
            </a:r>
            <a:r>
              <a:rPr lang="en-US" sz="1200" b="0" i="0" u="none" strike="noStrike" kern="1200" cap="none" dirty="0">
                <a:solidFill>
                  <a:schemeClr val="dk1"/>
                </a:solidFill>
                <a:effectLst/>
                <a:latin typeface="Arial"/>
                <a:ea typeface="Arial"/>
                <a:cs typeface="Arial"/>
                <a:sym typeface="Arial"/>
              </a:rPr>
              <a:t> (t) equals Open </a:t>
            </a:r>
            <a:r>
              <a:rPr lang="en-US" sz="1200" b="0" i="0" u="none" strike="noStrike" kern="1200" cap="none" dirty="0" err="1">
                <a:solidFill>
                  <a:schemeClr val="dk1"/>
                </a:solidFill>
                <a:effectLst/>
                <a:latin typeface="Arial"/>
                <a:ea typeface="Arial"/>
                <a:cs typeface="Arial"/>
                <a:sym typeface="Arial"/>
              </a:rPr>
              <a:t>CurlyBracket</a:t>
            </a:r>
            <a:r>
              <a:rPr lang="en-US" sz="1200" b="0" i="0" u="none" strike="noStrike" kern="1200" cap="none" dirty="0">
                <a:solidFill>
                  <a:schemeClr val="dk1"/>
                </a:solidFill>
                <a:effectLst/>
                <a:latin typeface="Arial"/>
                <a:ea typeface="Arial"/>
                <a:cs typeface="Arial"/>
                <a:sym typeface="Arial"/>
              </a:rPr>
              <a:t>.</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Line 1: 0, t less than or equal to 0; </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Line 2: 5000, t Amperes comma 0 less than or equal to t less than or equal to 20 micro seconds;</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Line 3: 0.2 minus 5000 t Ampere, 20 less than or equal to t less than or equal to 40 micro seconds;</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0, t greater than or equal to 40 micro seconds.</a:t>
            </a:r>
            <a:r>
              <a:rPr lang="en-US" dirty="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1672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sz="1200" b="0" i="0" u="none" strike="noStrike" kern="1200" cap="none" dirty="0">
                <a:solidFill>
                  <a:schemeClr val="dk1"/>
                </a:solidFill>
                <a:effectLst/>
                <a:latin typeface="Arial"/>
                <a:ea typeface="Arial"/>
                <a:cs typeface="Arial"/>
                <a:sym typeface="Arial"/>
              </a:rPr>
              <a:t>K C L colon </a:t>
            </a:r>
            <a:r>
              <a:rPr lang="en-US" sz="1200" b="0" i="0" u="none" strike="noStrike" kern="1200" cap="none" dirty="0" err="1">
                <a:solidFill>
                  <a:schemeClr val="dk1"/>
                </a:solidFill>
                <a:effectLst/>
                <a:latin typeface="Arial"/>
                <a:ea typeface="Arial"/>
                <a:cs typeface="Arial"/>
                <a:sym typeface="Arial"/>
              </a:rPr>
              <a:t>i</a:t>
            </a:r>
            <a:r>
              <a:rPr lang="en-US" sz="1200" b="0" i="0" u="none" strike="noStrike" kern="1200" cap="none" dirty="0">
                <a:solidFill>
                  <a:schemeClr val="dk1"/>
                </a:solidFill>
                <a:effectLst/>
                <a:latin typeface="Arial"/>
                <a:ea typeface="Arial"/>
                <a:cs typeface="Arial"/>
                <a:sym typeface="Arial"/>
              </a:rPr>
              <a:t> equals </a:t>
            </a:r>
            <a:r>
              <a:rPr lang="en-US" sz="1200" b="0" i="0" u="none" strike="noStrike" kern="1200" cap="none" dirty="0" err="1">
                <a:solidFill>
                  <a:schemeClr val="dk1"/>
                </a:solidFill>
                <a:effectLst/>
                <a:latin typeface="Arial"/>
                <a:ea typeface="Arial"/>
                <a:cs typeface="Arial"/>
                <a:sym typeface="Arial"/>
              </a:rPr>
              <a:t>i</a:t>
            </a:r>
            <a:r>
              <a:rPr lang="en-US" sz="1200" b="0" i="0" u="none" strike="noStrike" kern="1200" cap="none" dirty="0">
                <a:solidFill>
                  <a:schemeClr val="dk1"/>
                </a:solidFill>
                <a:effectLst/>
                <a:latin typeface="Arial"/>
                <a:ea typeface="Arial"/>
                <a:cs typeface="Arial"/>
                <a:sym typeface="Arial"/>
              </a:rPr>
              <a:t> subscript 1 baseline plus </a:t>
            </a:r>
            <a:r>
              <a:rPr lang="en-US" sz="1200" b="0" i="0" u="none" strike="noStrike" kern="1200" cap="none" dirty="0" err="1">
                <a:solidFill>
                  <a:schemeClr val="dk1"/>
                </a:solidFill>
                <a:effectLst/>
                <a:latin typeface="Arial"/>
                <a:ea typeface="Arial"/>
                <a:cs typeface="Arial"/>
                <a:sym typeface="Arial"/>
              </a:rPr>
              <a:t>i</a:t>
            </a:r>
            <a:r>
              <a:rPr lang="en-US" sz="1200" b="0" i="0" u="none" strike="noStrike" kern="1200" cap="none" dirty="0">
                <a:solidFill>
                  <a:schemeClr val="dk1"/>
                </a:solidFill>
                <a:effectLst/>
                <a:latin typeface="Arial"/>
                <a:ea typeface="Arial"/>
                <a:cs typeface="Arial"/>
                <a:sym typeface="Arial"/>
              </a:rPr>
              <a:t> subscript 2 baseline plus </a:t>
            </a:r>
            <a:r>
              <a:rPr lang="en-US" sz="1200" b="0" i="0" u="none" strike="noStrike" kern="1200" cap="none" dirty="0" err="1">
                <a:solidFill>
                  <a:schemeClr val="dk1"/>
                </a:solidFill>
                <a:effectLst/>
                <a:latin typeface="Arial"/>
                <a:ea typeface="Arial"/>
                <a:cs typeface="Arial"/>
                <a:sym typeface="Arial"/>
              </a:rPr>
              <a:t>i</a:t>
            </a:r>
            <a:r>
              <a:rPr lang="en-US" sz="1200" b="0" i="0" u="none" strike="noStrike" kern="1200" cap="none" dirty="0">
                <a:solidFill>
                  <a:schemeClr val="dk1"/>
                </a:solidFill>
                <a:effectLst/>
                <a:latin typeface="Arial"/>
                <a:ea typeface="Arial"/>
                <a:cs typeface="Arial"/>
                <a:sym typeface="Arial"/>
              </a:rPr>
              <a:t> subscript 3 baseline equals C subscript 1 baseline Start Fraction d v over d t End Fraction plus C subscript 2 baseline Start Fraction d v over d t End Fraction plus C subscript 3 baseline Start Fraction d v over d t End Fraction.</a:t>
            </a:r>
            <a:r>
              <a:rPr lang="en-US" dirty="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2503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 1:</a:t>
            </a:r>
          </a:p>
          <a:p>
            <a:r>
              <a:rPr lang="en-US" sz="1200" b="0" i="0" u="none" strike="noStrike" kern="1200" cap="none" dirty="0">
                <a:solidFill>
                  <a:schemeClr val="dk1"/>
                </a:solidFill>
                <a:effectLst/>
                <a:latin typeface="Arial"/>
                <a:ea typeface="Arial"/>
                <a:cs typeface="Arial"/>
                <a:sym typeface="Arial"/>
              </a:rPr>
              <a:t>K V L colon v equals v subscript 1 baseline plus v subscript 2 baseline plus v subscript 3 baseline equals Start Fraction 1 over C subscript 1 End Fraction Integral lower limit t subscript 0 upper limit t baseline </a:t>
            </a:r>
            <a:r>
              <a:rPr lang="en-US" sz="1200" b="0" i="0" u="none" strike="noStrike" kern="1200" cap="none" dirty="0" err="1">
                <a:solidFill>
                  <a:schemeClr val="dk1"/>
                </a:solidFill>
                <a:effectLst/>
                <a:latin typeface="Arial"/>
                <a:ea typeface="Arial"/>
                <a:cs typeface="Arial"/>
                <a:sym typeface="Arial"/>
              </a:rPr>
              <a:t>i</a:t>
            </a:r>
            <a:r>
              <a:rPr lang="en-US" sz="1200" b="0" i="0" u="none" strike="noStrike" kern="1200" cap="none" dirty="0">
                <a:solidFill>
                  <a:schemeClr val="dk1"/>
                </a:solidFill>
                <a:effectLst/>
                <a:latin typeface="Arial"/>
                <a:ea typeface="Arial"/>
                <a:cs typeface="Arial"/>
                <a:sym typeface="Arial"/>
              </a:rPr>
              <a:t> (tau) d tau plus v subscript 1 baseline (t subscript 0).</a:t>
            </a:r>
            <a:r>
              <a:rPr lang="en-US" dirty="0"/>
              <a:t> </a:t>
            </a:r>
          </a:p>
          <a:p>
            <a:endParaRPr lang="en-US" dirty="0"/>
          </a:p>
          <a:p>
            <a:r>
              <a:rPr lang="en-US" dirty="0"/>
              <a:t>Long Description 2:</a:t>
            </a:r>
          </a:p>
          <a:p>
            <a:r>
              <a:rPr lang="en-US" sz="1200" b="0" i="0" u="none" strike="noStrike" kern="1200" cap="none" dirty="0">
                <a:solidFill>
                  <a:schemeClr val="dk1"/>
                </a:solidFill>
                <a:effectLst/>
                <a:latin typeface="Arial"/>
                <a:ea typeface="Arial"/>
                <a:cs typeface="Arial"/>
                <a:sym typeface="Arial"/>
              </a:rPr>
              <a:t>equals Open Parenthesis Start Fraction 1 over C subscript 1 End Fraction plus Start Fraction 1 over C subscript 2 End Fraction plus Start Fraction 1 over C subscript 3 End Fraction Close Parenthesis Integral lower limit t subscript 0 upper limit t baseline </a:t>
            </a:r>
            <a:r>
              <a:rPr lang="en-US" sz="1200" b="0" i="0" u="none" strike="noStrike" kern="1200" cap="none" dirty="0" err="1">
                <a:solidFill>
                  <a:schemeClr val="dk1"/>
                </a:solidFill>
                <a:effectLst/>
                <a:latin typeface="Arial"/>
                <a:ea typeface="Arial"/>
                <a:cs typeface="Arial"/>
                <a:sym typeface="Arial"/>
              </a:rPr>
              <a:t>i</a:t>
            </a:r>
            <a:r>
              <a:rPr lang="en-US" sz="1200" b="0" i="0" u="none" strike="noStrike" kern="1200" cap="none" dirty="0">
                <a:solidFill>
                  <a:schemeClr val="dk1"/>
                </a:solidFill>
                <a:effectLst/>
                <a:latin typeface="Arial"/>
                <a:ea typeface="Arial"/>
                <a:cs typeface="Arial"/>
                <a:sym typeface="Arial"/>
              </a:rPr>
              <a:t> (tau) d tau.</a:t>
            </a:r>
            <a:r>
              <a:rPr lang="en-US" dirty="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1587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22</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2E5C92ED-538B-4EE3-B597-7457D7E5ABA4}"/>
              </a:ext>
            </a:extLst>
          </p:cNvPr>
          <p:cNvSpPr>
            <a:spLocks noGrp="1"/>
          </p:cNvSpPr>
          <p:nvPr>
            <p:ph sz="quarter" idx="30"/>
          </p:nvPr>
        </p:nvSpPr>
        <p:spPr>
          <a:xfrm>
            <a:off x="76200" y="760413"/>
            <a:ext cx="381000" cy="3254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11/24/25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13523197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4" name="Picture 3" descr="Pearson Logo">
            <a:extLst>
              <a:ext uri="{FF2B5EF4-FFF2-40B4-BE49-F238E27FC236}">
                <a16:creationId xmlns:a16="http://schemas.microsoft.com/office/drawing/2014/main" id="{712F66FE-1337-EDE8-F038-827B504362BF}"/>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6" name="Content Placeholder 7">
            <a:extLst>
              <a:ext uri="{FF2B5EF4-FFF2-40B4-BE49-F238E27FC236}">
                <a16:creationId xmlns:a16="http://schemas.microsoft.com/office/drawing/2014/main" id="{67B5DD31-F4D7-7F29-F15C-8478039E4FC8}"/>
              </a:ext>
            </a:extLst>
          </p:cNvPr>
          <p:cNvSpPr txBox="1">
            <a:spLocks/>
          </p:cNvSpPr>
          <p:nvPr userDrawn="1"/>
        </p:nvSpPr>
        <p:spPr>
          <a:xfrm>
            <a:off x="2623559" y="6455210"/>
            <a:ext cx="6046329"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jpg"/><Relationship Id="rId1" Type="http://schemas.openxmlformats.org/officeDocument/2006/relationships/slideLayout" Target="../slideLayouts/slideLayout8.xml"/><Relationship Id="rId4" Type="http://schemas.openxmlformats.org/officeDocument/2006/relationships/image" Target="../media/image4.wmf"/></Relationships>
</file>

<file path=ppt/slides/_rels/slide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8.xml"/><Relationship Id="rId5" Type="http://schemas.openxmlformats.org/officeDocument/2006/relationships/image" Target="../media/image6.wmf"/><Relationship Id="rId4"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8.xml"/><Relationship Id="rId6" Type="http://schemas.openxmlformats.org/officeDocument/2006/relationships/oleObject" Target="../embeddings/oleObject5.bin"/><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9.wmf"/><Relationship Id="rId7" Type="http://schemas.openxmlformats.org/officeDocument/2006/relationships/image" Target="../media/image11.wmf"/><Relationship Id="rId2" Type="http://schemas.openxmlformats.org/officeDocument/2006/relationships/oleObject" Target="../embeddings/oleObject6.bin"/><Relationship Id="rId1" Type="http://schemas.openxmlformats.org/officeDocument/2006/relationships/slideLayout" Target="../slideLayouts/slideLayout8.xml"/><Relationship Id="rId6" Type="http://schemas.openxmlformats.org/officeDocument/2006/relationships/oleObject" Target="../embeddings/oleObject8.bin"/><Relationship Id="rId5" Type="http://schemas.openxmlformats.org/officeDocument/2006/relationships/image" Target="../media/image10.wmf"/><Relationship Id="rId4" Type="http://schemas.openxmlformats.org/officeDocument/2006/relationships/oleObject" Target="../embeddings/oleObject7.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12.wmf"/><Relationship Id="rId7" Type="http://schemas.openxmlformats.org/officeDocument/2006/relationships/image" Target="../media/image14.wmf"/><Relationship Id="rId2" Type="http://schemas.openxmlformats.org/officeDocument/2006/relationships/oleObject" Target="../embeddings/oleObject9.bin"/><Relationship Id="rId1" Type="http://schemas.openxmlformats.org/officeDocument/2006/relationships/slideLayout" Target="../slideLayouts/slideLayout8.xml"/><Relationship Id="rId6" Type="http://schemas.openxmlformats.org/officeDocument/2006/relationships/oleObject" Target="../embeddings/oleObject11.bin"/><Relationship Id="rId11" Type="http://schemas.openxmlformats.org/officeDocument/2006/relationships/image" Target="../media/image16.wmf"/><Relationship Id="rId5" Type="http://schemas.openxmlformats.org/officeDocument/2006/relationships/image" Target="../media/image13.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15.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17.wmf"/><Relationship Id="rId7" Type="http://schemas.openxmlformats.org/officeDocument/2006/relationships/image" Target="../media/image19.wmf"/><Relationship Id="rId2" Type="http://schemas.openxmlformats.org/officeDocument/2006/relationships/oleObject" Target="../embeddings/oleObject14.bin"/><Relationship Id="rId1" Type="http://schemas.openxmlformats.org/officeDocument/2006/relationships/slideLayout" Target="../slideLayouts/slideLayout8.xml"/><Relationship Id="rId6" Type="http://schemas.openxmlformats.org/officeDocument/2006/relationships/oleObject" Target="../embeddings/oleObject16.bin"/><Relationship Id="rId5" Type="http://schemas.openxmlformats.org/officeDocument/2006/relationships/image" Target="../media/image18.wmf"/><Relationship Id="rId4" Type="http://schemas.openxmlformats.org/officeDocument/2006/relationships/oleObject" Target="../embeddings/oleObject15.bin"/><Relationship Id="rId9" Type="http://schemas.openxmlformats.org/officeDocument/2006/relationships/image" Target="../media/image20.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17.wmf"/><Relationship Id="rId7" Type="http://schemas.openxmlformats.org/officeDocument/2006/relationships/image" Target="../media/image7.png"/><Relationship Id="rId2" Type="http://schemas.openxmlformats.org/officeDocument/2006/relationships/oleObject" Target="../embeddings/oleObject18.bin"/><Relationship Id="rId1" Type="http://schemas.openxmlformats.org/officeDocument/2006/relationships/slideLayout" Target="../slideLayouts/slideLayout8.xml"/><Relationship Id="rId6" Type="http://schemas.openxmlformats.org/officeDocument/2006/relationships/image" Target="../media/image18.wmf"/><Relationship Id="rId11" Type="http://schemas.openxmlformats.org/officeDocument/2006/relationships/image" Target="../media/image20.wmf"/><Relationship Id="rId5" Type="http://schemas.openxmlformats.org/officeDocument/2006/relationships/oleObject" Target="../embeddings/oleObject19.bin"/><Relationship Id="rId10" Type="http://schemas.openxmlformats.org/officeDocument/2006/relationships/oleObject" Target="../embeddings/oleObject21.bin"/><Relationship Id="rId4" Type="http://schemas.openxmlformats.org/officeDocument/2006/relationships/image" Target="../media/image8.png"/><Relationship Id="rId9" Type="http://schemas.openxmlformats.org/officeDocument/2006/relationships/image" Target="../media/image19.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26.wmf"/><Relationship Id="rId18" Type="http://schemas.openxmlformats.org/officeDocument/2006/relationships/oleObject" Target="../embeddings/oleObject29.bin"/><Relationship Id="rId3" Type="http://schemas.openxmlformats.org/officeDocument/2006/relationships/image" Target="../media/image21.jpg"/><Relationship Id="rId21" Type="http://schemas.openxmlformats.org/officeDocument/2006/relationships/image" Target="../media/image30.wmf"/><Relationship Id="rId7" Type="http://schemas.openxmlformats.org/officeDocument/2006/relationships/image" Target="../media/image23.wmf"/><Relationship Id="rId12" Type="http://schemas.openxmlformats.org/officeDocument/2006/relationships/oleObject" Target="../embeddings/oleObject26.bin"/><Relationship Id="rId17" Type="http://schemas.openxmlformats.org/officeDocument/2006/relationships/image" Target="../media/image28.wmf"/><Relationship Id="rId25" Type="http://schemas.openxmlformats.org/officeDocument/2006/relationships/image" Target="../media/image32.wmf"/><Relationship Id="rId2" Type="http://schemas.openxmlformats.org/officeDocument/2006/relationships/notesSlide" Target="../notesSlides/notesSlide2.xml"/><Relationship Id="rId16" Type="http://schemas.openxmlformats.org/officeDocument/2006/relationships/oleObject" Target="../embeddings/oleObject28.bin"/><Relationship Id="rId20" Type="http://schemas.openxmlformats.org/officeDocument/2006/relationships/oleObject" Target="../embeddings/oleObject30.bin"/><Relationship Id="rId1" Type="http://schemas.openxmlformats.org/officeDocument/2006/relationships/slideLayout" Target="../slideLayouts/slideLayout8.xml"/><Relationship Id="rId6" Type="http://schemas.openxmlformats.org/officeDocument/2006/relationships/oleObject" Target="../embeddings/oleObject23.bin"/><Relationship Id="rId11" Type="http://schemas.openxmlformats.org/officeDocument/2006/relationships/image" Target="../media/image25.wmf"/><Relationship Id="rId24" Type="http://schemas.openxmlformats.org/officeDocument/2006/relationships/oleObject" Target="../embeddings/oleObject32.bin"/><Relationship Id="rId5" Type="http://schemas.openxmlformats.org/officeDocument/2006/relationships/image" Target="../media/image22.wmf"/><Relationship Id="rId15" Type="http://schemas.openxmlformats.org/officeDocument/2006/relationships/image" Target="../media/image27.wmf"/><Relationship Id="rId23" Type="http://schemas.openxmlformats.org/officeDocument/2006/relationships/image" Target="../media/image31.wmf"/><Relationship Id="rId10" Type="http://schemas.openxmlformats.org/officeDocument/2006/relationships/oleObject" Target="../embeddings/oleObject25.bin"/><Relationship Id="rId19" Type="http://schemas.openxmlformats.org/officeDocument/2006/relationships/image" Target="../media/image29.wmf"/><Relationship Id="rId4" Type="http://schemas.openxmlformats.org/officeDocument/2006/relationships/oleObject" Target="../embeddings/oleObject22.bin"/><Relationship Id="rId9" Type="http://schemas.openxmlformats.org/officeDocument/2006/relationships/image" Target="../media/image24.wmf"/><Relationship Id="rId14" Type="http://schemas.openxmlformats.org/officeDocument/2006/relationships/oleObject" Target="../embeddings/oleObject27.bin"/><Relationship Id="rId22" Type="http://schemas.openxmlformats.org/officeDocument/2006/relationships/oleObject" Target="../embeddings/oleObject31.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5.bin"/><Relationship Id="rId13" Type="http://schemas.openxmlformats.org/officeDocument/2006/relationships/image" Target="../media/image37.wmf"/><Relationship Id="rId18" Type="http://schemas.openxmlformats.org/officeDocument/2006/relationships/oleObject" Target="../embeddings/oleObject40.bin"/><Relationship Id="rId3" Type="http://schemas.openxmlformats.org/officeDocument/2006/relationships/image" Target="../media/image21.jpg"/><Relationship Id="rId21" Type="http://schemas.openxmlformats.org/officeDocument/2006/relationships/image" Target="../media/image41.wmf"/><Relationship Id="rId7" Type="http://schemas.openxmlformats.org/officeDocument/2006/relationships/image" Target="../media/image34.wmf"/><Relationship Id="rId12" Type="http://schemas.openxmlformats.org/officeDocument/2006/relationships/oleObject" Target="../embeddings/oleObject37.bin"/><Relationship Id="rId17" Type="http://schemas.openxmlformats.org/officeDocument/2006/relationships/image" Target="../media/image39.wmf"/><Relationship Id="rId2" Type="http://schemas.openxmlformats.org/officeDocument/2006/relationships/notesSlide" Target="../notesSlides/notesSlide3.xml"/><Relationship Id="rId16" Type="http://schemas.openxmlformats.org/officeDocument/2006/relationships/oleObject" Target="../embeddings/oleObject39.bin"/><Relationship Id="rId20" Type="http://schemas.openxmlformats.org/officeDocument/2006/relationships/oleObject" Target="../embeddings/oleObject41.bin"/><Relationship Id="rId1" Type="http://schemas.openxmlformats.org/officeDocument/2006/relationships/slideLayout" Target="../slideLayouts/slideLayout8.xml"/><Relationship Id="rId6" Type="http://schemas.openxmlformats.org/officeDocument/2006/relationships/oleObject" Target="../embeddings/oleObject34.bin"/><Relationship Id="rId11" Type="http://schemas.openxmlformats.org/officeDocument/2006/relationships/image" Target="../media/image36.wmf"/><Relationship Id="rId5" Type="http://schemas.openxmlformats.org/officeDocument/2006/relationships/image" Target="../media/image33.wmf"/><Relationship Id="rId15" Type="http://schemas.openxmlformats.org/officeDocument/2006/relationships/image" Target="../media/image38.wmf"/><Relationship Id="rId10" Type="http://schemas.openxmlformats.org/officeDocument/2006/relationships/oleObject" Target="../embeddings/oleObject36.bin"/><Relationship Id="rId19" Type="http://schemas.openxmlformats.org/officeDocument/2006/relationships/image" Target="../media/image40.wmf"/><Relationship Id="rId4" Type="http://schemas.openxmlformats.org/officeDocument/2006/relationships/oleObject" Target="../embeddings/oleObject33.bin"/><Relationship Id="rId9" Type="http://schemas.openxmlformats.org/officeDocument/2006/relationships/image" Target="../media/image35.wmf"/><Relationship Id="rId14" Type="http://schemas.openxmlformats.org/officeDocument/2006/relationships/oleObject" Target="../embeddings/oleObject38.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44.bin"/><Relationship Id="rId13" Type="http://schemas.openxmlformats.org/officeDocument/2006/relationships/image" Target="../media/image46.wmf"/><Relationship Id="rId3" Type="http://schemas.openxmlformats.org/officeDocument/2006/relationships/image" Target="../media/image21.jpg"/><Relationship Id="rId7" Type="http://schemas.openxmlformats.org/officeDocument/2006/relationships/image" Target="../media/image43.wmf"/><Relationship Id="rId12" Type="http://schemas.openxmlformats.org/officeDocument/2006/relationships/oleObject" Target="../embeddings/oleObject46.bin"/><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oleObject" Target="../embeddings/oleObject43.bin"/><Relationship Id="rId11" Type="http://schemas.openxmlformats.org/officeDocument/2006/relationships/image" Target="../media/image45.wmf"/><Relationship Id="rId5" Type="http://schemas.openxmlformats.org/officeDocument/2006/relationships/image" Target="../media/image42.wmf"/><Relationship Id="rId15" Type="http://schemas.openxmlformats.org/officeDocument/2006/relationships/image" Target="../media/image47.wmf"/><Relationship Id="rId10" Type="http://schemas.openxmlformats.org/officeDocument/2006/relationships/oleObject" Target="../embeddings/oleObject45.bin"/><Relationship Id="rId4" Type="http://schemas.openxmlformats.org/officeDocument/2006/relationships/oleObject" Target="../embeddings/oleObject42.bin"/><Relationship Id="rId9" Type="http://schemas.openxmlformats.org/officeDocument/2006/relationships/image" Target="../media/image44.wmf"/><Relationship Id="rId14" Type="http://schemas.openxmlformats.org/officeDocument/2006/relationships/oleObject" Target="../embeddings/oleObject47.bin"/></Relationships>
</file>

<file path=ppt/slides/_rels/slide15.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49.jpg"/><Relationship Id="rId7" Type="http://schemas.openxmlformats.org/officeDocument/2006/relationships/image" Target="../media/image51.wmf"/><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oleObject" Target="../embeddings/oleObject49.bin"/><Relationship Id="rId5" Type="http://schemas.openxmlformats.org/officeDocument/2006/relationships/image" Target="../media/image50.wmf"/><Relationship Id="rId4" Type="http://schemas.openxmlformats.org/officeDocument/2006/relationships/oleObject" Target="../embeddings/oleObject48.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52.bin"/><Relationship Id="rId13" Type="http://schemas.openxmlformats.org/officeDocument/2006/relationships/image" Target="../media/image57.wmf"/><Relationship Id="rId3" Type="http://schemas.openxmlformats.org/officeDocument/2006/relationships/image" Target="../media/image52.jpg"/><Relationship Id="rId7" Type="http://schemas.openxmlformats.org/officeDocument/2006/relationships/image" Target="../media/image54.wmf"/><Relationship Id="rId12" Type="http://schemas.openxmlformats.org/officeDocument/2006/relationships/oleObject" Target="../embeddings/oleObject54.bin"/><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oleObject" Target="../embeddings/oleObject51.bin"/><Relationship Id="rId11" Type="http://schemas.openxmlformats.org/officeDocument/2006/relationships/image" Target="../media/image56.wmf"/><Relationship Id="rId5" Type="http://schemas.openxmlformats.org/officeDocument/2006/relationships/image" Target="../media/image53.wmf"/><Relationship Id="rId15" Type="http://schemas.openxmlformats.org/officeDocument/2006/relationships/image" Target="../media/image58.wmf"/><Relationship Id="rId10" Type="http://schemas.openxmlformats.org/officeDocument/2006/relationships/oleObject" Target="../embeddings/oleObject53.bin"/><Relationship Id="rId4" Type="http://schemas.openxmlformats.org/officeDocument/2006/relationships/oleObject" Target="../embeddings/oleObject50.bin"/><Relationship Id="rId9" Type="http://schemas.openxmlformats.org/officeDocument/2006/relationships/image" Target="../media/image55.wmf"/><Relationship Id="rId14" Type="http://schemas.openxmlformats.org/officeDocument/2006/relationships/oleObject" Target="../embeddings/oleObject55.bin"/></Relationships>
</file>

<file path=ppt/slides/_rels/slide18.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image" Target="../media/image59.wmf"/><Relationship Id="rId7" Type="http://schemas.openxmlformats.org/officeDocument/2006/relationships/oleObject" Target="../embeddings/oleObject58.bin"/><Relationship Id="rId12" Type="http://schemas.openxmlformats.org/officeDocument/2006/relationships/image" Target="../media/image64.wmf"/><Relationship Id="rId2" Type="http://schemas.openxmlformats.org/officeDocument/2006/relationships/oleObject" Target="../embeddings/oleObject56.bin"/><Relationship Id="rId1" Type="http://schemas.openxmlformats.org/officeDocument/2006/relationships/slideLayout" Target="../slideLayouts/slideLayout8.xml"/><Relationship Id="rId6" Type="http://schemas.openxmlformats.org/officeDocument/2006/relationships/image" Target="../media/image61.jpg"/><Relationship Id="rId11" Type="http://schemas.openxmlformats.org/officeDocument/2006/relationships/oleObject" Target="../embeddings/oleObject60.bin"/><Relationship Id="rId5" Type="http://schemas.openxmlformats.org/officeDocument/2006/relationships/image" Target="../media/image60.wmf"/><Relationship Id="rId10" Type="http://schemas.openxmlformats.org/officeDocument/2006/relationships/image" Target="../media/image63.wmf"/><Relationship Id="rId4" Type="http://schemas.openxmlformats.org/officeDocument/2006/relationships/oleObject" Target="../embeddings/oleObject57.bin"/><Relationship Id="rId9" Type="http://schemas.openxmlformats.org/officeDocument/2006/relationships/oleObject" Target="../embeddings/oleObject59.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63.bin"/><Relationship Id="rId13" Type="http://schemas.openxmlformats.org/officeDocument/2006/relationships/oleObject" Target="../embeddings/oleObject65.bin"/><Relationship Id="rId3" Type="http://schemas.openxmlformats.org/officeDocument/2006/relationships/image" Target="../media/image59.wmf"/><Relationship Id="rId7" Type="http://schemas.openxmlformats.org/officeDocument/2006/relationships/image" Target="../media/image7.png"/><Relationship Id="rId12" Type="http://schemas.openxmlformats.org/officeDocument/2006/relationships/image" Target="../media/image63.wmf"/><Relationship Id="rId2" Type="http://schemas.openxmlformats.org/officeDocument/2006/relationships/oleObject" Target="../embeddings/oleObject61.bin"/><Relationship Id="rId1" Type="http://schemas.openxmlformats.org/officeDocument/2006/relationships/slideLayout" Target="../slideLayouts/slideLayout8.xml"/><Relationship Id="rId6" Type="http://schemas.openxmlformats.org/officeDocument/2006/relationships/image" Target="../media/image61.jpg"/><Relationship Id="rId11" Type="http://schemas.openxmlformats.org/officeDocument/2006/relationships/oleObject" Target="../embeddings/oleObject64.bin"/><Relationship Id="rId5" Type="http://schemas.openxmlformats.org/officeDocument/2006/relationships/image" Target="../media/image60.wmf"/><Relationship Id="rId10" Type="http://schemas.openxmlformats.org/officeDocument/2006/relationships/image" Target="../media/image8.png"/><Relationship Id="rId4" Type="http://schemas.openxmlformats.org/officeDocument/2006/relationships/oleObject" Target="../embeddings/oleObject62.bin"/><Relationship Id="rId9" Type="http://schemas.openxmlformats.org/officeDocument/2006/relationships/image" Target="../media/image62.wmf"/><Relationship Id="rId14" Type="http://schemas.openxmlformats.org/officeDocument/2006/relationships/image" Target="../media/image64.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68.bin"/><Relationship Id="rId13" Type="http://schemas.openxmlformats.org/officeDocument/2006/relationships/image" Target="../media/image71.wmf"/><Relationship Id="rId3" Type="http://schemas.openxmlformats.org/officeDocument/2006/relationships/image" Target="../media/image66.jpg"/><Relationship Id="rId7" Type="http://schemas.openxmlformats.org/officeDocument/2006/relationships/image" Target="../media/image68.wmf"/><Relationship Id="rId12" Type="http://schemas.openxmlformats.org/officeDocument/2006/relationships/oleObject" Target="../embeddings/oleObject70.bin"/><Relationship Id="rId17" Type="http://schemas.openxmlformats.org/officeDocument/2006/relationships/image" Target="../media/image73.wmf"/><Relationship Id="rId2" Type="http://schemas.openxmlformats.org/officeDocument/2006/relationships/image" Target="../media/image65.jpg"/><Relationship Id="rId16" Type="http://schemas.openxmlformats.org/officeDocument/2006/relationships/oleObject" Target="../embeddings/oleObject72.bin"/><Relationship Id="rId1" Type="http://schemas.openxmlformats.org/officeDocument/2006/relationships/slideLayout" Target="../slideLayouts/slideLayout8.xml"/><Relationship Id="rId6" Type="http://schemas.openxmlformats.org/officeDocument/2006/relationships/oleObject" Target="../embeddings/oleObject67.bin"/><Relationship Id="rId11" Type="http://schemas.openxmlformats.org/officeDocument/2006/relationships/image" Target="../media/image70.wmf"/><Relationship Id="rId5" Type="http://schemas.openxmlformats.org/officeDocument/2006/relationships/image" Target="../media/image67.wmf"/><Relationship Id="rId15" Type="http://schemas.openxmlformats.org/officeDocument/2006/relationships/image" Target="../media/image72.wmf"/><Relationship Id="rId10" Type="http://schemas.openxmlformats.org/officeDocument/2006/relationships/oleObject" Target="../embeddings/oleObject69.bin"/><Relationship Id="rId4" Type="http://schemas.openxmlformats.org/officeDocument/2006/relationships/oleObject" Target="../embeddings/oleObject66.bin"/><Relationship Id="rId9" Type="http://schemas.openxmlformats.org/officeDocument/2006/relationships/image" Target="../media/image69.wmf"/><Relationship Id="rId14" Type="http://schemas.openxmlformats.org/officeDocument/2006/relationships/oleObject" Target="../embeddings/oleObject71.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76.bin"/><Relationship Id="rId13" Type="http://schemas.openxmlformats.org/officeDocument/2006/relationships/image" Target="../media/image79.wmf"/><Relationship Id="rId18" Type="http://schemas.openxmlformats.org/officeDocument/2006/relationships/oleObject" Target="../embeddings/oleObject81.bin"/><Relationship Id="rId3" Type="http://schemas.openxmlformats.org/officeDocument/2006/relationships/image" Target="../media/image74.wmf"/><Relationship Id="rId21" Type="http://schemas.openxmlformats.org/officeDocument/2006/relationships/image" Target="../media/image83.wmf"/><Relationship Id="rId7" Type="http://schemas.openxmlformats.org/officeDocument/2006/relationships/image" Target="../media/image76.wmf"/><Relationship Id="rId12" Type="http://schemas.openxmlformats.org/officeDocument/2006/relationships/oleObject" Target="../embeddings/oleObject78.bin"/><Relationship Id="rId17" Type="http://schemas.openxmlformats.org/officeDocument/2006/relationships/image" Target="../media/image81.wmf"/><Relationship Id="rId25" Type="http://schemas.openxmlformats.org/officeDocument/2006/relationships/image" Target="../media/image85.wmf"/><Relationship Id="rId2" Type="http://schemas.openxmlformats.org/officeDocument/2006/relationships/oleObject" Target="../embeddings/oleObject73.bin"/><Relationship Id="rId16" Type="http://schemas.openxmlformats.org/officeDocument/2006/relationships/oleObject" Target="../embeddings/oleObject80.bin"/><Relationship Id="rId20" Type="http://schemas.openxmlformats.org/officeDocument/2006/relationships/oleObject" Target="../embeddings/oleObject82.bin"/><Relationship Id="rId1" Type="http://schemas.openxmlformats.org/officeDocument/2006/relationships/slideLayout" Target="../slideLayouts/slideLayout8.xml"/><Relationship Id="rId6" Type="http://schemas.openxmlformats.org/officeDocument/2006/relationships/oleObject" Target="../embeddings/oleObject75.bin"/><Relationship Id="rId11" Type="http://schemas.openxmlformats.org/officeDocument/2006/relationships/image" Target="../media/image78.wmf"/><Relationship Id="rId24" Type="http://schemas.openxmlformats.org/officeDocument/2006/relationships/oleObject" Target="../embeddings/oleObject84.bin"/><Relationship Id="rId5" Type="http://schemas.openxmlformats.org/officeDocument/2006/relationships/image" Target="../media/image75.wmf"/><Relationship Id="rId15" Type="http://schemas.openxmlformats.org/officeDocument/2006/relationships/image" Target="../media/image80.wmf"/><Relationship Id="rId23" Type="http://schemas.openxmlformats.org/officeDocument/2006/relationships/image" Target="../media/image84.wmf"/><Relationship Id="rId10" Type="http://schemas.openxmlformats.org/officeDocument/2006/relationships/oleObject" Target="../embeddings/oleObject77.bin"/><Relationship Id="rId19" Type="http://schemas.openxmlformats.org/officeDocument/2006/relationships/image" Target="../media/image82.wmf"/><Relationship Id="rId4" Type="http://schemas.openxmlformats.org/officeDocument/2006/relationships/oleObject" Target="../embeddings/oleObject74.bin"/><Relationship Id="rId9" Type="http://schemas.openxmlformats.org/officeDocument/2006/relationships/image" Target="../media/image77.wmf"/><Relationship Id="rId14" Type="http://schemas.openxmlformats.org/officeDocument/2006/relationships/oleObject" Target="../embeddings/oleObject79.bin"/><Relationship Id="rId22" Type="http://schemas.openxmlformats.org/officeDocument/2006/relationships/oleObject" Target="../embeddings/oleObject83.bin"/></Relationships>
</file>

<file path=ppt/slides/_rels/slide2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8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03409"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Edition, </a:t>
            </a:r>
            <a:r>
              <a:rPr lang="en-US" dirty="0"/>
              <a:t>Global Edition</a:t>
            </a:r>
            <a:endParaRPr lang="en-US" noProof="0" dirty="0"/>
          </a:p>
        </p:txBody>
      </p:sp>
      <p:pic>
        <p:nvPicPr>
          <p:cNvPr id="11" name="Picture 10">
            <a:extLst>
              <a:ext uri="{FF2B5EF4-FFF2-40B4-BE49-F238E27FC236}">
                <a16:creationId xmlns:a16="http://schemas.microsoft.com/office/drawing/2014/main" id="{A7C306B9-7982-473E-8D05-0B6D92D6AED4}"/>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6 – Part 2</a:t>
            </a:r>
            <a:endParaRPr lang="en-US" noProof="0" dirty="0"/>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7" y="3376257"/>
            <a:ext cx="3875089" cy="713460"/>
          </a:xfrm>
        </p:spPr>
        <p:txBody>
          <a:bodyPr wrap="square" lIns="0" tIns="18000" rIns="0" bIns="18000" anchor="ctr">
            <a:spAutoFit/>
          </a:bodyPr>
          <a:lstStyle/>
          <a:p>
            <a:pPr marL="0"/>
            <a:r>
              <a:rPr lang="en-US" noProof="0" dirty="0"/>
              <a:t>Inductance, Capacitance, and Mutual Inductance</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734575" y="6455210"/>
            <a:ext cx="5935314" cy="221018"/>
          </a:xfrm>
        </p:spPr>
        <p:txBody>
          <a:bodyPr wrap="square" lIns="0" tIns="18000" rIns="0" bIns="18000" anchor="ctr">
            <a:spAutoFit/>
          </a:bodyPr>
          <a:lstStyle/>
          <a:p>
            <a:pPr lvl="0"/>
            <a:r>
              <a:rPr lang="en-US" noProof="0" dirty="0"/>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206319"/>
            <a:ext cx="8229600" cy="590349"/>
          </a:xfrm>
        </p:spPr>
        <p:txBody>
          <a:bodyPr/>
          <a:lstStyle/>
          <a:p>
            <a:r>
              <a:rPr lang="en-US" noProof="0" dirty="0"/>
              <a:t>Chapter 6 – Capacitors </a:t>
            </a:r>
            <a:r>
              <a:rPr lang="en-US" sz="2800" noProof="0" dirty="0"/>
              <a:t>(1 of 16)</a:t>
            </a:r>
            <a:endParaRPr lang="en-US" noProof="0" dirty="0"/>
          </a:p>
        </p:txBody>
      </p:sp>
      <p:pic>
        <p:nvPicPr>
          <p:cNvPr id="3" name="Picture 2" descr="A drawing shows a capacitor with a capacitance of C farads, and two terminals marked with positive and negative polarities. Its voltage is marked as v, while current i flows rightward in the direction of voltage drop.">
            <a:extLst>
              <a:ext uri="{FF2B5EF4-FFF2-40B4-BE49-F238E27FC236}">
                <a16:creationId xmlns:a16="http://schemas.microsoft.com/office/drawing/2014/main" id="{847913A2-CC4E-EB9F-3E0C-18814AD2B4DA}"/>
              </a:ext>
            </a:extLst>
          </p:cNvPr>
          <p:cNvPicPr>
            <a:picLocks noChangeAspect="1"/>
          </p:cNvPicPr>
          <p:nvPr/>
        </p:nvPicPr>
        <p:blipFill rotWithShape="1">
          <a:blip r:embed="rId2"/>
          <a:srcRect t="36862" b="13755"/>
          <a:stretch/>
        </p:blipFill>
        <p:spPr>
          <a:xfrm>
            <a:off x="3796229" y="991883"/>
            <a:ext cx="1551542" cy="1421713"/>
          </a:xfrm>
          <a:prstGeom prst="rect">
            <a:avLst/>
          </a:prstGeom>
        </p:spPr>
      </p:pic>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11255" y="2654968"/>
            <a:ext cx="8229600" cy="1544457"/>
          </a:xfrm>
        </p:spPr>
        <p:txBody>
          <a:bodyPr wrap="square" lIns="0" tIns="18000" rIns="0" bIns="18000" anchor="ctr">
            <a:spAutoFit/>
          </a:bodyPr>
          <a:lstStyle/>
          <a:p>
            <a:pPr marL="342900" indent="-342900">
              <a:spcBef>
                <a:spcPts val="600"/>
              </a:spcBef>
            </a:pPr>
            <a:r>
              <a:rPr lang="en-US" sz="2200" noProof="0" dirty="0"/>
              <a:t>Parallel plates, separated by an insulator, so no charge flows between the plates. Impose a time-varying voltage drop:</a:t>
            </a:r>
          </a:p>
          <a:p>
            <a:pPr marL="829818" lvl="1" indent="-342900"/>
            <a:r>
              <a:rPr lang="en-US" sz="2200" noProof="0" dirty="0"/>
              <a:t>time-varying electric field</a:t>
            </a:r>
          </a:p>
          <a:p>
            <a:pPr marL="829818" lvl="1" indent="-342900"/>
            <a:r>
              <a:rPr lang="en-US" sz="2200" noProof="0" dirty="0"/>
              <a:t>time-varying displacement current</a:t>
            </a:r>
            <a:endParaRPr lang="en-US" sz="2400" noProof="0" dirty="0"/>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393326" y="4968811"/>
            <a:ext cx="3022226" cy="374906"/>
          </a:xfrm>
        </p:spPr>
        <p:txBody>
          <a:bodyPr wrap="square" lIns="0" tIns="18000" rIns="0" bIns="18000" anchor="ctr">
            <a:spAutoFit/>
          </a:bodyPr>
          <a:lstStyle/>
          <a:p>
            <a:pPr marL="342900" indent="-342900">
              <a:spcBef>
                <a:spcPts val="600"/>
              </a:spcBef>
            </a:pPr>
            <a:r>
              <a:rPr lang="en-US" sz="2200" noProof="0" dirty="0"/>
              <a:t>Capacitor equation:</a:t>
            </a:r>
          </a:p>
        </p:txBody>
      </p:sp>
      <p:graphicFrame>
        <p:nvGraphicFramePr>
          <p:cNvPr id="52" name="Object 51" descr="I (t) equals uppercase C StartFraction d v(t) over d t EndFraction.&#10;">
            <a:extLst>
              <a:ext uri="{FF2B5EF4-FFF2-40B4-BE49-F238E27FC236}">
                <a16:creationId xmlns:a16="http://schemas.microsoft.com/office/drawing/2014/main" id="{7CC41742-355D-4E86-BEE3-6B06A6F0A82A}"/>
              </a:ext>
            </a:extLst>
          </p:cNvPr>
          <p:cNvGraphicFramePr>
            <a:graphicFrameLocks noChangeAspect="1"/>
          </p:cNvGraphicFramePr>
          <p:nvPr>
            <p:extLst>
              <p:ext uri="{D42A27DB-BD31-4B8C-83A1-F6EECF244321}">
                <p14:modId xmlns:p14="http://schemas.microsoft.com/office/powerpoint/2010/main" val="3525363568"/>
              </p:ext>
            </p:extLst>
          </p:nvPr>
        </p:nvGraphicFramePr>
        <p:xfrm>
          <a:off x="3441413" y="4803947"/>
          <a:ext cx="1654831" cy="731678"/>
        </p:xfrm>
        <a:graphic>
          <a:graphicData uri="http://schemas.openxmlformats.org/presentationml/2006/ole">
            <mc:AlternateContent xmlns:mc="http://schemas.openxmlformats.org/markup-compatibility/2006">
              <mc:Choice xmlns:v="urn:schemas-microsoft-com:vml" Requires="v">
                <p:oleObj name="Equation" r:id="rId3" imgW="888840" imgH="393480" progId="Equation.DSMT4">
                  <p:embed/>
                </p:oleObj>
              </mc:Choice>
              <mc:Fallback>
                <p:oleObj name="Equation" r:id="rId3" imgW="888840" imgH="393480" progId="Equation.DSMT4">
                  <p:embed/>
                  <p:pic>
                    <p:nvPicPr>
                      <p:cNvPr id="11" name="Object 10">
                        <a:extLst>
                          <a:ext uri="{FF2B5EF4-FFF2-40B4-BE49-F238E27FC236}">
                            <a16:creationId xmlns:a16="http://schemas.microsoft.com/office/drawing/2014/main" id="{62B831E4-41EE-7DD5-5D77-3174A8B2DC89}"/>
                          </a:ext>
                        </a:extLst>
                      </p:cNvPr>
                      <p:cNvPicPr>
                        <a:picLocks noChangeAspect="1" noChangeArrowheads="1"/>
                      </p:cNvPicPr>
                      <p:nvPr/>
                    </p:nvPicPr>
                    <p:blipFill>
                      <a:blip r:embed="rId4"/>
                      <a:srcRect/>
                      <a:stretch>
                        <a:fillRect/>
                      </a:stretch>
                    </p:blipFill>
                    <p:spPr bwMode="auto">
                      <a:xfrm>
                        <a:off x="3441413" y="4803947"/>
                        <a:ext cx="1654831" cy="731678"/>
                      </a:xfrm>
                      <a:prstGeom prst="rect">
                        <a:avLst/>
                      </a:prstGeom>
                      <a:noFill/>
                      <a:ln w="28575">
                        <a:solidFill>
                          <a:srgbClr val="007FA3"/>
                        </a:solidFill>
                        <a:miter lim="800000"/>
                        <a:headEnd/>
                        <a:tailEnd/>
                      </a:ln>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393325" y="5855198"/>
            <a:ext cx="7379074" cy="374906"/>
          </a:xfrm>
        </p:spPr>
        <p:txBody>
          <a:bodyPr wrap="square" lIns="0" tIns="18000" rIns="0" bIns="18000" anchor="ctr">
            <a:spAutoFit/>
          </a:bodyPr>
          <a:lstStyle/>
          <a:p>
            <a:pPr marL="342900" indent="-342900">
              <a:spcBef>
                <a:spcPts val="600"/>
              </a:spcBef>
            </a:pPr>
            <a:r>
              <a:rPr lang="en-US" sz="2200" noProof="0" dirty="0"/>
              <a:t>Units: v(t) is volts, </a:t>
            </a:r>
            <a:r>
              <a:rPr lang="en-US" sz="2200" noProof="0" dirty="0" err="1"/>
              <a:t>i</a:t>
            </a:r>
            <a:r>
              <a:rPr lang="en-US" sz="2200" noProof="0" dirty="0"/>
              <a:t>(t) is amps, and C is farads [F]</a:t>
            </a:r>
          </a:p>
        </p:txBody>
      </p:sp>
    </p:spTree>
    <p:extLst>
      <p:ext uri="{BB962C8B-B14F-4D97-AF65-F5344CB8AC3E}">
        <p14:creationId xmlns:p14="http://schemas.microsoft.com/office/powerpoint/2010/main" val="1463871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206319"/>
            <a:ext cx="8229600" cy="590349"/>
          </a:xfrm>
        </p:spPr>
        <p:txBody>
          <a:bodyPr/>
          <a:lstStyle/>
          <a:p>
            <a:r>
              <a:rPr lang="en-US" noProof="0" dirty="0"/>
              <a:t>Chapter 6 – Capacitors </a:t>
            </a:r>
            <a:r>
              <a:rPr lang="en-US" sz="2800" noProof="0" dirty="0"/>
              <a:t>(2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234187"/>
            <a:ext cx="5299262" cy="405683"/>
          </a:xfrm>
        </p:spPr>
        <p:txBody>
          <a:bodyPr wrap="square" lIns="0" tIns="18000" rIns="0" bIns="18000" anchor="ctr">
            <a:spAutoFit/>
          </a:bodyPr>
          <a:lstStyle/>
          <a:p>
            <a:pPr marL="0" indent="0">
              <a:spcBef>
                <a:spcPts val="600"/>
              </a:spcBef>
              <a:buNone/>
            </a:pPr>
            <a:r>
              <a:rPr lang="en-US" sz="2400" noProof="0" dirty="0"/>
              <a:t>Look at the capacitor equation again:</a:t>
            </a:r>
          </a:p>
        </p:txBody>
      </p:sp>
      <p:graphicFrame>
        <p:nvGraphicFramePr>
          <p:cNvPr id="47" name="Object 46" descr="I (t) equals uppercase C StartFraction d v(t) over d t EndFraction.&#10;">
            <a:extLst>
              <a:ext uri="{FF2B5EF4-FFF2-40B4-BE49-F238E27FC236}">
                <a16:creationId xmlns:a16="http://schemas.microsoft.com/office/drawing/2014/main" id="{9DDE7EB3-F3BB-4797-AD44-A7E1BF5354F4}"/>
              </a:ext>
            </a:extLst>
          </p:cNvPr>
          <p:cNvGraphicFramePr>
            <a:graphicFrameLocks noChangeAspect="1"/>
          </p:cNvGraphicFramePr>
          <p:nvPr>
            <p:extLst>
              <p:ext uri="{D42A27DB-BD31-4B8C-83A1-F6EECF244321}">
                <p14:modId xmlns:p14="http://schemas.microsoft.com/office/powerpoint/2010/main" val="3808630467"/>
              </p:ext>
            </p:extLst>
          </p:nvPr>
        </p:nvGraphicFramePr>
        <p:xfrm>
          <a:off x="3551108" y="1816379"/>
          <a:ext cx="1781714" cy="788987"/>
        </p:xfrm>
        <a:graphic>
          <a:graphicData uri="http://schemas.openxmlformats.org/presentationml/2006/ole">
            <mc:AlternateContent xmlns:mc="http://schemas.openxmlformats.org/markup-compatibility/2006">
              <mc:Choice xmlns:v="urn:schemas-microsoft-com:vml" Requires="v">
                <p:oleObj name="Equation" r:id="rId2" imgW="888840" imgH="393480" progId="Equation.DSMT4">
                  <p:embed/>
                </p:oleObj>
              </mc:Choice>
              <mc:Fallback>
                <p:oleObj name="Equation" r:id="rId2" imgW="888840" imgH="393480" progId="Equation.DSMT4">
                  <p:embed/>
                  <p:pic>
                    <p:nvPicPr>
                      <p:cNvPr id="10" name="Object 9">
                        <a:extLst>
                          <a:ext uri="{FF2B5EF4-FFF2-40B4-BE49-F238E27FC236}">
                            <a16:creationId xmlns:a16="http://schemas.microsoft.com/office/drawing/2014/main" id="{918503B3-E875-A399-4A78-C5C784C27D93}"/>
                          </a:ext>
                        </a:extLst>
                      </p:cNvPr>
                      <p:cNvPicPr>
                        <a:picLocks noChangeAspect="1" noChangeArrowheads="1"/>
                      </p:cNvPicPr>
                      <p:nvPr/>
                    </p:nvPicPr>
                    <p:blipFill>
                      <a:blip r:embed="rId3"/>
                      <a:srcRect/>
                      <a:stretch>
                        <a:fillRect/>
                      </a:stretch>
                    </p:blipFill>
                    <p:spPr bwMode="auto">
                      <a:xfrm>
                        <a:off x="3551108" y="1816379"/>
                        <a:ext cx="1781714"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3026005"/>
            <a:ext cx="5075144" cy="405683"/>
          </a:xfrm>
        </p:spPr>
        <p:txBody>
          <a:bodyPr wrap="square" lIns="0" tIns="18000" rIns="0" bIns="18000" anchor="ctr">
            <a:spAutoFit/>
          </a:bodyPr>
          <a:lstStyle/>
          <a:p>
            <a:pPr marL="0" indent="0">
              <a:spcBef>
                <a:spcPts val="600"/>
              </a:spcBef>
              <a:buNone/>
            </a:pPr>
            <a:r>
              <a:rPr lang="en-US" sz="2400" noProof="0" dirty="0"/>
              <a:t>Suppose </a:t>
            </a:r>
            <a:r>
              <a:rPr lang="en-US" sz="2400" i="1" noProof="0" dirty="0"/>
              <a:t>v(t)</a:t>
            </a:r>
            <a:r>
              <a:rPr lang="en-US" sz="2400" noProof="0" dirty="0"/>
              <a:t> is constant. Then </a:t>
            </a:r>
            <a:r>
              <a:rPr lang="en-US" sz="2400" i="1" noProof="0" dirty="0" err="1"/>
              <a:t>i</a:t>
            </a:r>
            <a:r>
              <a:rPr lang="en-US" sz="2400" i="1" noProof="0" dirty="0"/>
              <a:t>(t)</a:t>
            </a:r>
            <a:r>
              <a:rPr lang="en-US" sz="2400" noProof="0" dirty="0"/>
              <a:t> =</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52552" y="4028936"/>
            <a:ext cx="691401"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0</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52553" y="4547767"/>
            <a:ext cx="314882"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endParaRPr lang="en-US" sz="2400" noProof="0" dirty="0"/>
          </a:p>
        </p:txBody>
      </p:sp>
      <p:graphicFrame>
        <p:nvGraphicFramePr>
          <p:cNvPr id="51" name="Object 50" descr="infinity ">
            <a:extLst>
              <a:ext uri="{FF2B5EF4-FFF2-40B4-BE49-F238E27FC236}">
                <a16:creationId xmlns:a16="http://schemas.microsoft.com/office/drawing/2014/main" id="{9C33A5DB-C0DB-4E7E-B6AF-DB199D6822C1}"/>
              </a:ext>
            </a:extLst>
          </p:cNvPr>
          <p:cNvGraphicFramePr>
            <a:graphicFrameLocks noChangeAspect="1"/>
          </p:cNvGraphicFramePr>
          <p:nvPr>
            <p:extLst>
              <p:ext uri="{D42A27DB-BD31-4B8C-83A1-F6EECF244321}">
                <p14:modId xmlns:p14="http://schemas.microsoft.com/office/powerpoint/2010/main" val="2242410625"/>
              </p:ext>
            </p:extLst>
          </p:nvPr>
        </p:nvGraphicFramePr>
        <p:xfrm>
          <a:off x="1688911" y="4664166"/>
          <a:ext cx="306388" cy="254000"/>
        </p:xfrm>
        <a:graphic>
          <a:graphicData uri="http://schemas.openxmlformats.org/presentationml/2006/ole">
            <mc:AlternateContent xmlns:mc="http://schemas.openxmlformats.org/markup-compatibility/2006">
              <mc:Choice xmlns:v="urn:schemas-microsoft-com:vml" Requires="v">
                <p:oleObj name="Equation" r:id="rId4" imgW="152280" imgH="126720" progId="Equation.DSMT4">
                  <p:embed/>
                </p:oleObj>
              </mc:Choice>
              <mc:Fallback>
                <p:oleObj name="Equation" r:id="rId4" imgW="152280" imgH="126720" progId="Equation.DSMT4">
                  <p:embed/>
                  <p:pic>
                    <p:nvPicPr>
                      <p:cNvPr id="14" name="Object 13">
                        <a:extLst>
                          <a:ext uri="{FF2B5EF4-FFF2-40B4-BE49-F238E27FC236}">
                            <a16:creationId xmlns:a16="http://schemas.microsoft.com/office/drawing/2014/main" id="{96C53AE4-1519-4261-B659-2A46BBE3BB9D}"/>
                          </a:ext>
                        </a:extLst>
                      </p:cNvPr>
                      <p:cNvPicPr>
                        <a:picLocks noChangeAspect="1" noChangeArrowheads="1"/>
                      </p:cNvPicPr>
                      <p:nvPr/>
                    </p:nvPicPr>
                    <p:blipFill>
                      <a:blip r:embed="rId5"/>
                      <a:srcRect/>
                      <a:stretch>
                        <a:fillRect/>
                      </a:stretch>
                    </p:blipFill>
                    <p:spPr bwMode="auto">
                      <a:xfrm>
                        <a:off x="1688911" y="4664166"/>
                        <a:ext cx="3063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43587" y="4986335"/>
            <a:ext cx="2018177"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a constant</a:t>
            </a:r>
          </a:p>
        </p:txBody>
      </p:sp>
    </p:spTree>
    <p:extLst>
      <p:ext uri="{BB962C8B-B14F-4D97-AF65-F5344CB8AC3E}">
        <p14:creationId xmlns:p14="http://schemas.microsoft.com/office/powerpoint/2010/main" val="3865518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206319"/>
            <a:ext cx="8229600" cy="590349"/>
          </a:xfrm>
        </p:spPr>
        <p:txBody>
          <a:bodyPr/>
          <a:lstStyle/>
          <a:p>
            <a:r>
              <a:rPr lang="en-US" noProof="0" dirty="0"/>
              <a:t>Chapter 6 – Capacitors </a:t>
            </a:r>
            <a:r>
              <a:rPr lang="en-US" sz="2800" noProof="0" dirty="0"/>
              <a:t>(2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234187"/>
            <a:ext cx="5299262" cy="405683"/>
          </a:xfrm>
        </p:spPr>
        <p:txBody>
          <a:bodyPr wrap="square" lIns="0" tIns="18000" rIns="0" bIns="18000" anchor="ctr">
            <a:spAutoFit/>
          </a:bodyPr>
          <a:lstStyle/>
          <a:p>
            <a:pPr marL="0" indent="0">
              <a:spcBef>
                <a:spcPts val="600"/>
              </a:spcBef>
              <a:buNone/>
            </a:pPr>
            <a:r>
              <a:rPr lang="en-US" sz="2400" noProof="0" dirty="0"/>
              <a:t>Look at the capacitor equation again:</a:t>
            </a:r>
          </a:p>
        </p:txBody>
      </p:sp>
      <p:graphicFrame>
        <p:nvGraphicFramePr>
          <p:cNvPr id="47" name="Object 46" descr="I (t) equals uppercase C StartFraction d v(t) over d t EndFraction.&#10;">
            <a:extLst>
              <a:ext uri="{FF2B5EF4-FFF2-40B4-BE49-F238E27FC236}">
                <a16:creationId xmlns:a16="http://schemas.microsoft.com/office/drawing/2014/main" id="{9DDE7EB3-F3BB-4797-AD44-A7E1BF5354F4}"/>
              </a:ext>
            </a:extLst>
          </p:cNvPr>
          <p:cNvGraphicFramePr>
            <a:graphicFrameLocks noChangeAspect="1"/>
          </p:cNvGraphicFramePr>
          <p:nvPr/>
        </p:nvGraphicFramePr>
        <p:xfrm>
          <a:off x="3551108" y="1816379"/>
          <a:ext cx="1781714" cy="788987"/>
        </p:xfrm>
        <a:graphic>
          <a:graphicData uri="http://schemas.openxmlformats.org/presentationml/2006/ole">
            <mc:AlternateContent xmlns:mc="http://schemas.openxmlformats.org/markup-compatibility/2006">
              <mc:Choice xmlns:v="urn:schemas-microsoft-com:vml" Requires="v">
                <p:oleObj name="Equation" r:id="rId2" imgW="888840" imgH="393480" progId="Equation.DSMT4">
                  <p:embed/>
                </p:oleObj>
              </mc:Choice>
              <mc:Fallback>
                <p:oleObj name="Equation" r:id="rId2" imgW="888840" imgH="393480" progId="Equation.DSMT4">
                  <p:embed/>
                  <p:pic>
                    <p:nvPicPr>
                      <p:cNvPr id="47" name="Object 46" descr="I (t) equals uppercase C StartFraction d v(t) over d t EndFraction.&#10;">
                        <a:extLst>
                          <a:ext uri="{FF2B5EF4-FFF2-40B4-BE49-F238E27FC236}">
                            <a16:creationId xmlns:a16="http://schemas.microsoft.com/office/drawing/2014/main" id="{9DDE7EB3-F3BB-4797-AD44-A7E1BF5354F4}"/>
                          </a:ext>
                        </a:extLst>
                      </p:cNvPr>
                      <p:cNvPicPr>
                        <a:picLocks noChangeAspect="1" noChangeArrowheads="1"/>
                      </p:cNvPicPr>
                      <p:nvPr/>
                    </p:nvPicPr>
                    <p:blipFill>
                      <a:blip r:embed="rId3"/>
                      <a:srcRect/>
                      <a:stretch>
                        <a:fillRect/>
                      </a:stretch>
                    </p:blipFill>
                    <p:spPr bwMode="auto">
                      <a:xfrm>
                        <a:off x="3551108" y="1816379"/>
                        <a:ext cx="1781714"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3026005"/>
            <a:ext cx="5075144" cy="405683"/>
          </a:xfrm>
        </p:spPr>
        <p:txBody>
          <a:bodyPr wrap="square" lIns="0" tIns="18000" rIns="0" bIns="18000" anchor="ctr">
            <a:spAutoFit/>
          </a:bodyPr>
          <a:lstStyle/>
          <a:p>
            <a:pPr marL="0" indent="0">
              <a:spcBef>
                <a:spcPts val="600"/>
              </a:spcBef>
              <a:buNone/>
            </a:pPr>
            <a:r>
              <a:rPr lang="en-US" sz="2400" noProof="0" dirty="0"/>
              <a:t>Suppose </a:t>
            </a:r>
            <a:r>
              <a:rPr lang="en-US" sz="2400" i="1" noProof="0" dirty="0"/>
              <a:t>v(t)</a:t>
            </a:r>
            <a:r>
              <a:rPr lang="en-US" sz="2400" noProof="0" dirty="0"/>
              <a:t> is constant. Then </a:t>
            </a:r>
            <a:r>
              <a:rPr lang="en-US" sz="2400" i="1" noProof="0" dirty="0" err="1"/>
              <a:t>i</a:t>
            </a:r>
            <a:r>
              <a:rPr lang="en-US" sz="2400" i="1" noProof="0" dirty="0"/>
              <a:t>(t)</a:t>
            </a:r>
            <a:r>
              <a:rPr lang="en-US" sz="2400" noProof="0" dirty="0"/>
              <a:t> =</a:t>
            </a:r>
          </a:p>
        </p:txBody>
      </p:sp>
      <p:pic>
        <p:nvPicPr>
          <p:cNvPr id="48" name="Picture 2" descr="Check mark">
            <a:extLst>
              <a:ext uri="{FF2B5EF4-FFF2-40B4-BE49-F238E27FC236}">
                <a16:creationId xmlns:a16="http://schemas.microsoft.com/office/drawing/2014/main" id="{A031D1BA-4148-47E5-ACAE-077AE09CAA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9960" y="4110603"/>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52552" y="4028936"/>
            <a:ext cx="691401"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0</a:t>
            </a:r>
          </a:p>
        </p:txBody>
      </p:sp>
      <p:pic>
        <p:nvPicPr>
          <p:cNvPr id="49" name="Picture 5" descr="Cross mark">
            <a:extLst>
              <a:ext uri="{FF2B5EF4-FFF2-40B4-BE49-F238E27FC236}">
                <a16:creationId xmlns:a16="http://schemas.microsoft.com/office/drawing/2014/main" id="{99C80D1B-A415-4CBC-B682-80CA33C76FB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3755" y="4608351"/>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52553" y="4547767"/>
            <a:ext cx="314882"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endParaRPr lang="en-US" sz="2400" noProof="0" dirty="0"/>
          </a:p>
        </p:txBody>
      </p:sp>
      <p:graphicFrame>
        <p:nvGraphicFramePr>
          <p:cNvPr id="51" name="Object 50" descr="infinity ">
            <a:extLst>
              <a:ext uri="{FF2B5EF4-FFF2-40B4-BE49-F238E27FC236}">
                <a16:creationId xmlns:a16="http://schemas.microsoft.com/office/drawing/2014/main" id="{9C33A5DB-C0DB-4E7E-B6AF-DB199D6822C1}"/>
              </a:ext>
            </a:extLst>
          </p:cNvPr>
          <p:cNvGraphicFramePr>
            <a:graphicFrameLocks noChangeAspect="1"/>
          </p:cNvGraphicFramePr>
          <p:nvPr/>
        </p:nvGraphicFramePr>
        <p:xfrm>
          <a:off x="1688911" y="4664166"/>
          <a:ext cx="306388" cy="254000"/>
        </p:xfrm>
        <a:graphic>
          <a:graphicData uri="http://schemas.openxmlformats.org/presentationml/2006/ole">
            <mc:AlternateContent xmlns:mc="http://schemas.openxmlformats.org/markup-compatibility/2006">
              <mc:Choice xmlns:v="urn:schemas-microsoft-com:vml" Requires="v">
                <p:oleObj name="Equation" r:id="rId6" imgW="152280" imgH="126720" progId="Equation.DSMT4">
                  <p:embed/>
                </p:oleObj>
              </mc:Choice>
              <mc:Fallback>
                <p:oleObj name="Equation" r:id="rId6" imgW="152280" imgH="126720" progId="Equation.DSMT4">
                  <p:embed/>
                  <p:pic>
                    <p:nvPicPr>
                      <p:cNvPr id="51" name="Object 50" descr="infinity ">
                        <a:extLst>
                          <a:ext uri="{FF2B5EF4-FFF2-40B4-BE49-F238E27FC236}">
                            <a16:creationId xmlns:a16="http://schemas.microsoft.com/office/drawing/2014/main" id="{9C33A5DB-C0DB-4E7E-B6AF-DB199D6822C1}"/>
                          </a:ext>
                        </a:extLst>
                      </p:cNvPr>
                      <p:cNvPicPr>
                        <a:picLocks noChangeAspect="1" noChangeArrowheads="1"/>
                      </p:cNvPicPr>
                      <p:nvPr/>
                    </p:nvPicPr>
                    <p:blipFill>
                      <a:blip r:embed="rId7"/>
                      <a:srcRect/>
                      <a:stretch>
                        <a:fillRect/>
                      </a:stretch>
                    </p:blipFill>
                    <p:spPr bwMode="auto">
                      <a:xfrm>
                        <a:off x="1688911" y="4664166"/>
                        <a:ext cx="3063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0" name="Picture 3" descr="Cross mark">
            <a:extLst>
              <a:ext uri="{FF2B5EF4-FFF2-40B4-BE49-F238E27FC236}">
                <a16:creationId xmlns:a16="http://schemas.microsoft.com/office/drawing/2014/main" id="{7959F8B8-A188-4474-AA83-8650B1419E1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6736" y="5064613"/>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43587" y="4986335"/>
            <a:ext cx="2018177"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a constant</a:t>
            </a:r>
          </a:p>
        </p:txBody>
      </p:sp>
    </p:spTree>
    <p:extLst>
      <p:ext uri="{BB962C8B-B14F-4D97-AF65-F5344CB8AC3E}">
        <p14:creationId xmlns:p14="http://schemas.microsoft.com/office/powerpoint/2010/main" val="2005253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206319"/>
            <a:ext cx="8229600" cy="590349"/>
          </a:xfrm>
        </p:spPr>
        <p:txBody>
          <a:bodyPr/>
          <a:lstStyle/>
          <a:p>
            <a:r>
              <a:rPr lang="en-US" noProof="0" dirty="0"/>
              <a:t>Chapter 6 – Capacitors </a:t>
            </a:r>
            <a:r>
              <a:rPr lang="en-US" sz="2800" noProof="0" dirty="0"/>
              <a:t>(3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237781"/>
            <a:ext cx="8229600" cy="775015"/>
          </a:xfrm>
        </p:spPr>
        <p:txBody>
          <a:bodyPr wrap="square" lIns="0" tIns="18000" rIns="0" bIns="18000" anchor="ctr">
            <a:spAutoFit/>
          </a:bodyPr>
          <a:lstStyle/>
          <a:p>
            <a:pPr marL="0" indent="0">
              <a:spcBef>
                <a:spcPts val="600"/>
              </a:spcBef>
              <a:buNone/>
            </a:pPr>
            <a:r>
              <a:rPr lang="en-US" sz="2400" noProof="0" dirty="0"/>
              <a:t>So, if the voltage drop across the capacitor is constant, its current is 0, so the capacitor can be replaced by</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88409" y="2246082"/>
            <a:ext cx="2448486"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a short circuit</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8408" y="2836632"/>
            <a:ext cx="2448487"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an open circuit</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88408" y="3427182"/>
            <a:ext cx="2331945"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a constant</a:t>
            </a:r>
          </a:p>
        </p:txBody>
      </p:sp>
    </p:spTree>
    <p:extLst>
      <p:ext uri="{BB962C8B-B14F-4D97-AF65-F5344CB8AC3E}">
        <p14:creationId xmlns:p14="http://schemas.microsoft.com/office/powerpoint/2010/main" val="1669824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206319"/>
            <a:ext cx="8229600" cy="590349"/>
          </a:xfrm>
        </p:spPr>
        <p:txBody>
          <a:bodyPr/>
          <a:lstStyle/>
          <a:p>
            <a:r>
              <a:rPr lang="en-US" noProof="0" dirty="0"/>
              <a:t>Chapter 6 – Capacitors </a:t>
            </a:r>
            <a:r>
              <a:rPr lang="en-US" sz="2800" noProof="0" dirty="0"/>
              <a:t>(3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237781"/>
            <a:ext cx="8229600" cy="775015"/>
          </a:xfrm>
        </p:spPr>
        <p:txBody>
          <a:bodyPr wrap="square" lIns="0" tIns="18000" rIns="0" bIns="18000" anchor="ctr">
            <a:spAutoFit/>
          </a:bodyPr>
          <a:lstStyle/>
          <a:p>
            <a:pPr marL="0" indent="0">
              <a:spcBef>
                <a:spcPts val="600"/>
              </a:spcBef>
              <a:buNone/>
            </a:pPr>
            <a:r>
              <a:rPr lang="en-US" sz="2400" noProof="0" dirty="0"/>
              <a:t>So, if the voltage drop across the capacitor is constant, its current is 0, so the capacitor can be replaced by</a:t>
            </a:r>
          </a:p>
        </p:txBody>
      </p:sp>
      <p:pic>
        <p:nvPicPr>
          <p:cNvPr id="25" name="Picture 5" descr="Cross mark">
            <a:extLst>
              <a:ext uri="{FF2B5EF4-FFF2-40B4-BE49-F238E27FC236}">
                <a16:creationId xmlns:a16="http://schemas.microsoft.com/office/drawing/2014/main" id="{6688DBDF-FFEC-4D6E-9627-860913DC7BC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4183" y="2309805"/>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88409" y="2246082"/>
            <a:ext cx="2448486"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a short circuit</a:t>
            </a:r>
          </a:p>
        </p:txBody>
      </p:sp>
      <p:pic>
        <p:nvPicPr>
          <p:cNvPr id="26" name="Picture 2" descr="Check mark">
            <a:extLst>
              <a:ext uri="{FF2B5EF4-FFF2-40B4-BE49-F238E27FC236}">
                <a16:creationId xmlns:a16="http://schemas.microsoft.com/office/drawing/2014/main" id="{613079C5-0427-4C01-A377-F7ABF640CC9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159" y="2913532"/>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88408" y="2836632"/>
            <a:ext cx="2448487"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an open circuit</a:t>
            </a:r>
          </a:p>
        </p:txBody>
      </p:sp>
      <p:pic>
        <p:nvPicPr>
          <p:cNvPr id="27" name="Picture 3" descr="Cross mark">
            <a:extLst>
              <a:ext uri="{FF2B5EF4-FFF2-40B4-BE49-F238E27FC236}">
                <a16:creationId xmlns:a16="http://schemas.microsoft.com/office/drawing/2014/main" id="{035D027F-03D8-488A-82DE-171A17B2F1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5017" y="350305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88408" y="3427182"/>
            <a:ext cx="2331945"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a constant</a:t>
            </a:r>
          </a:p>
        </p:txBody>
      </p:sp>
    </p:spTree>
    <p:extLst>
      <p:ext uri="{BB962C8B-B14F-4D97-AF65-F5344CB8AC3E}">
        <p14:creationId xmlns:p14="http://schemas.microsoft.com/office/powerpoint/2010/main" val="542211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206319"/>
            <a:ext cx="8229600" cy="590349"/>
          </a:xfrm>
        </p:spPr>
        <p:txBody>
          <a:bodyPr/>
          <a:lstStyle/>
          <a:p>
            <a:r>
              <a:rPr lang="en-US" noProof="0" dirty="0"/>
              <a:t>Chapter 6 – Capacitors </a:t>
            </a:r>
            <a:r>
              <a:rPr lang="en-US" sz="2800" noProof="0" dirty="0"/>
              <a:t>(6 of 16)</a:t>
            </a:r>
            <a:r>
              <a:rPr lang="en-US" noProof="0" dirty="0"/>
              <a:t> </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393325" y="1234190"/>
            <a:ext cx="6536391" cy="405683"/>
          </a:xfrm>
        </p:spPr>
        <p:txBody>
          <a:bodyPr wrap="square" lIns="0" tIns="18000" rIns="0" bIns="18000" anchor="ctr">
            <a:spAutoFit/>
          </a:bodyPr>
          <a:lstStyle/>
          <a:p>
            <a:pPr marL="342900" indent="-342900">
              <a:spcBef>
                <a:spcPts val="600"/>
              </a:spcBef>
            </a:pPr>
            <a:r>
              <a:rPr lang="en-US" sz="2400" noProof="0" dirty="0"/>
              <a:t>The equation for voltage in terms of current:</a:t>
            </a:r>
          </a:p>
        </p:txBody>
      </p:sp>
      <p:graphicFrame>
        <p:nvGraphicFramePr>
          <p:cNvPr id="55" name="Object 54" descr="i (t) equals C StartFraction d v (t) over d t EndFraction right double arrow i (t) d t equals C d v (t).&#10;">
            <a:extLst>
              <a:ext uri="{FF2B5EF4-FFF2-40B4-BE49-F238E27FC236}">
                <a16:creationId xmlns:a16="http://schemas.microsoft.com/office/drawing/2014/main" id="{05B98264-8AF3-4551-B5D5-534A3F97A720}"/>
              </a:ext>
            </a:extLst>
          </p:cNvPr>
          <p:cNvGraphicFramePr>
            <a:graphicFrameLocks noChangeAspect="1"/>
          </p:cNvGraphicFramePr>
          <p:nvPr>
            <p:extLst>
              <p:ext uri="{D42A27DB-BD31-4B8C-83A1-F6EECF244321}">
                <p14:modId xmlns:p14="http://schemas.microsoft.com/office/powerpoint/2010/main" val="3186110037"/>
              </p:ext>
            </p:extLst>
          </p:nvPr>
        </p:nvGraphicFramePr>
        <p:xfrm>
          <a:off x="1992327" y="1897954"/>
          <a:ext cx="5002086" cy="742278"/>
        </p:xfrm>
        <a:graphic>
          <a:graphicData uri="http://schemas.openxmlformats.org/presentationml/2006/ole">
            <mc:AlternateContent xmlns:mc="http://schemas.openxmlformats.org/markup-compatibility/2006">
              <mc:Choice xmlns:v="urn:schemas-microsoft-com:vml" Requires="v">
                <p:oleObj name="Equation" r:id="rId2" imgW="2654280" imgH="393480" progId="Equation.DSMT4">
                  <p:embed/>
                </p:oleObj>
              </mc:Choice>
              <mc:Fallback>
                <p:oleObj name="Equation" r:id="rId2" imgW="2654280" imgH="393480" progId="Equation.DSMT4">
                  <p:embed/>
                  <p:pic>
                    <p:nvPicPr>
                      <p:cNvPr id="3" name="Object 2">
                        <a:extLst>
                          <a:ext uri="{FF2B5EF4-FFF2-40B4-BE49-F238E27FC236}">
                            <a16:creationId xmlns:a16="http://schemas.microsoft.com/office/drawing/2014/main" id="{6306ED29-B43F-EA79-0ACF-8E3AF4E39F39}"/>
                          </a:ext>
                        </a:extLst>
                      </p:cNvPr>
                      <p:cNvPicPr>
                        <a:picLocks noChangeAspect="1" noChangeArrowheads="1"/>
                      </p:cNvPicPr>
                      <p:nvPr/>
                    </p:nvPicPr>
                    <p:blipFill>
                      <a:blip r:embed="rId3"/>
                      <a:srcRect/>
                      <a:stretch>
                        <a:fillRect/>
                      </a:stretch>
                    </p:blipFill>
                    <p:spPr bwMode="auto">
                      <a:xfrm>
                        <a:off x="1992327" y="1897954"/>
                        <a:ext cx="5002086" cy="742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 name="Object 55" descr="right double arrow Integral lower limit t subscript 0 upper limit t baseline i (tau) d tau equals C Integral lower limit v (t subscript 0) upper limit v (t) baseline d x.&#10;">
            <a:extLst>
              <a:ext uri="{FF2B5EF4-FFF2-40B4-BE49-F238E27FC236}">
                <a16:creationId xmlns:a16="http://schemas.microsoft.com/office/drawing/2014/main" id="{AB7B094C-F9E6-40EE-9124-E3E768BBE070}"/>
              </a:ext>
            </a:extLst>
          </p:cNvPr>
          <p:cNvGraphicFramePr>
            <a:graphicFrameLocks noChangeAspect="1"/>
          </p:cNvGraphicFramePr>
          <p:nvPr>
            <p:extLst>
              <p:ext uri="{D42A27DB-BD31-4B8C-83A1-F6EECF244321}">
                <p14:modId xmlns:p14="http://schemas.microsoft.com/office/powerpoint/2010/main" val="827236228"/>
              </p:ext>
            </p:extLst>
          </p:nvPr>
        </p:nvGraphicFramePr>
        <p:xfrm>
          <a:off x="1980668" y="2751752"/>
          <a:ext cx="3340968" cy="665143"/>
        </p:xfrm>
        <a:graphic>
          <a:graphicData uri="http://schemas.openxmlformats.org/presentationml/2006/ole">
            <mc:AlternateContent xmlns:mc="http://schemas.openxmlformats.org/markup-compatibility/2006">
              <mc:Choice xmlns:v="urn:schemas-microsoft-com:vml" Requires="v">
                <p:oleObj name="Equation" r:id="rId4" imgW="1790640" imgH="355320" progId="Equation.DSMT4">
                  <p:embed/>
                </p:oleObj>
              </mc:Choice>
              <mc:Fallback>
                <p:oleObj name="Equation" r:id="rId4" imgW="1790640" imgH="355320" progId="Equation.DSMT4">
                  <p:embed/>
                  <p:pic>
                    <p:nvPicPr>
                      <p:cNvPr id="5" name="Object 4">
                        <a:extLst>
                          <a:ext uri="{FF2B5EF4-FFF2-40B4-BE49-F238E27FC236}">
                            <a16:creationId xmlns:a16="http://schemas.microsoft.com/office/drawing/2014/main" id="{EE53F1F0-0092-4B01-9B94-CCBD8D33E8E7}"/>
                          </a:ext>
                        </a:extLst>
                      </p:cNvPr>
                      <p:cNvPicPr>
                        <a:picLocks noChangeAspect="1" noChangeArrowheads="1"/>
                      </p:cNvPicPr>
                      <p:nvPr/>
                    </p:nvPicPr>
                    <p:blipFill>
                      <a:blip r:embed="rId5"/>
                      <a:srcRect/>
                      <a:stretch>
                        <a:fillRect/>
                      </a:stretch>
                    </p:blipFill>
                    <p:spPr bwMode="auto">
                      <a:xfrm>
                        <a:off x="1980668" y="2751752"/>
                        <a:ext cx="3340968" cy="665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 name="Object 56" descr="right double arrow v (t) equals StartFraction 1 over C EndFraction Integral lower limit t subscript 0 upper limit t baseline i (tau) d tau plus v (t subscript 0).&#10;">
            <a:extLst>
              <a:ext uri="{FF2B5EF4-FFF2-40B4-BE49-F238E27FC236}">
                <a16:creationId xmlns:a16="http://schemas.microsoft.com/office/drawing/2014/main" id="{158E8983-AB31-4A4C-B1BD-840A4A54DFEE}"/>
              </a:ext>
            </a:extLst>
          </p:cNvPr>
          <p:cNvGraphicFramePr>
            <a:graphicFrameLocks noChangeAspect="1"/>
          </p:cNvGraphicFramePr>
          <p:nvPr>
            <p:extLst>
              <p:ext uri="{D42A27DB-BD31-4B8C-83A1-F6EECF244321}">
                <p14:modId xmlns:p14="http://schemas.microsoft.com/office/powerpoint/2010/main" val="2858157007"/>
              </p:ext>
            </p:extLst>
          </p:nvPr>
        </p:nvGraphicFramePr>
        <p:xfrm>
          <a:off x="1980990" y="3500535"/>
          <a:ext cx="3824146" cy="729307"/>
        </p:xfrm>
        <a:graphic>
          <a:graphicData uri="http://schemas.openxmlformats.org/presentationml/2006/ole">
            <mc:AlternateContent xmlns:mc="http://schemas.openxmlformats.org/markup-compatibility/2006">
              <mc:Choice xmlns:v="urn:schemas-microsoft-com:vml" Requires="v">
                <p:oleObj name="Equation" r:id="rId6" imgW="2070000" imgH="393480" progId="Equation.DSMT4">
                  <p:embed/>
                </p:oleObj>
              </mc:Choice>
              <mc:Fallback>
                <p:oleObj name="Equation" r:id="rId6" imgW="2070000" imgH="393480" progId="Equation.DSMT4">
                  <p:embed/>
                  <p:pic>
                    <p:nvPicPr>
                      <p:cNvPr id="7" name="Object 6">
                        <a:extLst>
                          <a:ext uri="{FF2B5EF4-FFF2-40B4-BE49-F238E27FC236}">
                            <a16:creationId xmlns:a16="http://schemas.microsoft.com/office/drawing/2014/main" id="{0A96B524-FD9A-4766-8DC1-A34B116542F1}"/>
                          </a:ext>
                        </a:extLst>
                      </p:cNvPr>
                      <p:cNvPicPr>
                        <a:picLocks noChangeAspect="1" noChangeArrowheads="1"/>
                      </p:cNvPicPr>
                      <p:nvPr/>
                    </p:nvPicPr>
                    <p:blipFill>
                      <a:blip r:embed="rId7"/>
                      <a:srcRect/>
                      <a:stretch>
                        <a:fillRect/>
                      </a:stretch>
                    </p:blipFill>
                    <p:spPr bwMode="auto">
                      <a:xfrm>
                        <a:off x="1980990" y="3500535"/>
                        <a:ext cx="3824146" cy="729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98925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206319"/>
            <a:ext cx="8229600" cy="590349"/>
          </a:xfrm>
        </p:spPr>
        <p:txBody>
          <a:bodyPr/>
          <a:lstStyle/>
          <a:p>
            <a:r>
              <a:rPr lang="en-US" noProof="0" dirty="0"/>
              <a:t>Chapter 6 – Capacitors </a:t>
            </a:r>
            <a:r>
              <a:rPr lang="en-US" sz="2800" noProof="0" dirty="0"/>
              <a:t>(7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02290" y="1234188"/>
            <a:ext cx="4054475" cy="405683"/>
          </a:xfrm>
        </p:spPr>
        <p:txBody>
          <a:bodyPr lIns="0" tIns="18000" rIns="0" bIns="18000" anchor="ctr">
            <a:spAutoFit/>
          </a:bodyPr>
          <a:lstStyle/>
          <a:p>
            <a:pPr marL="342900" indent="-342900">
              <a:spcBef>
                <a:spcPts val="600"/>
              </a:spcBef>
            </a:pPr>
            <a:r>
              <a:rPr lang="en-US" sz="2400" noProof="0" dirty="0"/>
              <a:t>Power and energy</a:t>
            </a:r>
          </a:p>
        </p:txBody>
      </p:sp>
      <p:graphicFrame>
        <p:nvGraphicFramePr>
          <p:cNvPr id="53" name="Object 52" descr="p (t) equals v (t) multiplied by i(t) equals C v (t) multiplied by StartFraction d v (t) over d t EndFraction.&#10;">
            <a:extLst>
              <a:ext uri="{FF2B5EF4-FFF2-40B4-BE49-F238E27FC236}">
                <a16:creationId xmlns:a16="http://schemas.microsoft.com/office/drawing/2014/main" id="{F7581212-F4C2-4B62-A1D8-B4EB59A70C6C}"/>
              </a:ext>
            </a:extLst>
          </p:cNvPr>
          <p:cNvGraphicFramePr>
            <a:graphicFrameLocks noChangeAspect="1"/>
          </p:cNvGraphicFramePr>
          <p:nvPr>
            <p:extLst>
              <p:ext uri="{D42A27DB-BD31-4B8C-83A1-F6EECF244321}">
                <p14:modId xmlns:p14="http://schemas.microsoft.com/office/powerpoint/2010/main" val="2567871028"/>
              </p:ext>
            </p:extLst>
          </p:nvPr>
        </p:nvGraphicFramePr>
        <p:xfrm>
          <a:off x="800337" y="1890300"/>
          <a:ext cx="3138471" cy="694649"/>
        </p:xfrm>
        <a:graphic>
          <a:graphicData uri="http://schemas.openxmlformats.org/presentationml/2006/ole">
            <mc:AlternateContent xmlns:mc="http://schemas.openxmlformats.org/markup-compatibility/2006">
              <mc:Choice xmlns:v="urn:schemas-microsoft-com:vml" Requires="v">
                <p:oleObj name="Equation" r:id="rId2" imgW="1777680" imgH="393480" progId="Equation.DSMT4">
                  <p:embed/>
                </p:oleObj>
              </mc:Choice>
              <mc:Fallback>
                <p:oleObj name="Equation" r:id="rId2" imgW="1777680" imgH="393480" progId="Equation.DSMT4">
                  <p:embed/>
                  <p:pic>
                    <p:nvPicPr>
                      <p:cNvPr id="3" name="Object 2">
                        <a:extLst>
                          <a:ext uri="{FF2B5EF4-FFF2-40B4-BE49-F238E27FC236}">
                            <a16:creationId xmlns:a16="http://schemas.microsoft.com/office/drawing/2014/main" id="{37C12EC0-BFD7-11B9-07DB-87C517CE8F92}"/>
                          </a:ext>
                        </a:extLst>
                      </p:cNvPr>
                      <p:cNvPicPr>
                        <a:picLocks noChangeAspect="1" noChangeArrowheads="1"/>
                      </p:cNvPicPr>
                      <p:nvPr/>
                    </p:nvPicPr>
                    <p:blipFill>
                      <a:blip r:embed="rId3"/>
                      <a:srcRect/>
                      <a:stretch>
                        <a:fillRect/>
                      </a:stretch>
                    </p:blipFill>
                    <p:spPr bwMode="auto">
                      <a:xfrm>
                        <a:off x="800337" y="1890300"/>
                        <a:ext cx="3138471" cy="694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 name="Object 53" descr="p (t) equals StartFraction d w (t) over d t EndFraction equals C v (t) StartFraction d v (t) over d t EndFraction.&#10;">
            <a:extLst>
              <a:ext uri="{FF2B5EF4-FFF2-40B4-BE49-F238E27FC236}">
                <a16:creationId xmlns:a16="http://schemas.microsoft.com/office/drawing/2014/main" id="{EF44D255-219D-4720-AB30-6A51F6101438}"/>
              </a:ext>
            </a:extLst>
          </p:cNvPr>
          <p:cNvGraphicFramePr>
            <a:graphicFrameLocks noChangeAspect="1"/>
          </p:cNvGraphicFramePr>
          <p:nvPr>
            <p:extLst>
              <p:ext uri="{D42A27DB-BD31-4B8C-83A1-F6EECF244321}">
                <p14:modId xmlns:p14="http://schemas.microsoft.com/office/powerpoint/2010/main" val="3551156104"/>
              </p:ext>
            </p:extLst>
          </p:nvPr>
        </p:nvGraphicFramePr>
        <p:xfrm>
          <a:off x="790386" y="2714348"/>
          <a:ext cx="3048000" cy="695325"/>
        </p:xfrm>
        <a:graphic>
          <a:graphicData uri="http://schemas.openxmlformats.org/presentationml/2006/ole">
            <mc:AlternateContent xmlns:mc="http://schemas.openxmlformats.org/markup-compatibility/2006">
              <mc:Choice xmlns:v="urn:schemas-microsoft-com:vml" Requires="v">
                <p:oleObj name="Equation" r:id="rId4" imgW="1726920" imgH="393480" progId="Equation.DSMT4">
                  <p:embed/>
                </p:oleObj>
              </mc:Choice>
              <mc:Fallback>
                <p:oleObj name="Equation" r:id="rId4" imgW="1726920" imgH="393480" progId="Equation.DSMT4">
                  <p:embed/>
                  <p:pic>
                    <p:nvPicPr>
                      <p:cNvPr id="7" name="Object 6">
                        <a:extLst>
                          <a:ext uri="{FF2B5EF4-FFF2-40B4-BE49-F238E27FC236}">
                            <a16:creationId xmlns:a16="http://schemas.microsoft.com/office/drawing/2014/main" id="{37278A32-F668-416C-935D-0600E48582FF}"/>
                          </a:ext>
                        </a:extLst>
                      </p:cNvPr>
                      <p:cNvPicPr>
                        <a:picLocks noChangeAspect="1" noChangeArrowheads="1"/>
                      </p:cNvPicPr>
                      <p:nvPr/>
                    </p:nvPicPr>
                    <p:blipFill>
                      <a:blip r:embed="rId5"/>
                      <a:srcRect/>
                      <a:stretch>
                        <a:fillRect/>
                      </a:stretch>
                    </p:blipFill>
                    <p:spPr bwMode="auto">
                      <a:xfrm>
                        <a:off x="790386" y="2714348"/>
                        <a:ext cx="30480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 name="Object 54" descr="right double arrow d w (tau) equals C v (tau) d v (tau).&#10;">
            <a:extLst>
              <a:ext uri="{FF2B5EF4-FFF2-40B4-BE49-F238E27FC236}">
                <a16:creationId xmlns:a16="http://schemas.microsoft.com/office/drawing/2014/main" id="{761AE521-63F3-4F3A-A6ED-E4E0B8F58C8B}"/>
              </a:ext>
            </a:extLst>
          </p:cNvPr>
          <p:cNvGraphicFramePr>
            <a:graphicFrameLocks noChangeAspect="1"/>
          </p:cNvGraphicFramePr>
          <p:nvPr>
            <p:extLst>
              <p:ext uri="{D42A27DB-BD31-4B8C-83A1-F6EECF244321}">
                <p14:modId xmlns:p14="http://schemas.microsoft.com/office/powerpoint/2010/main" val="1106453884"/>
              </p:ext>
            </p:extLst>
          </p:nvPr>
        </p:nvGraphicFramePr>
        <p:xfrm>
          <a:off x="786158" y="3507993"/>
          <a:ext cx="3345300" cy="400435"/>
        </p:xfrm>
        <a:graphic>
          <a:graphicData uri="http://schemas.openxmlformats.org/presentationml/2006/ole">
            <mc:AlternateContent xmlns:mc="http://schemas.openxmlformats.org/markup-compatibility/2006">
              <mc:Choice xmlns:v="urn:schemas-microsoft-com:vml" Requires="v">
                <p:oleObj name="Equation" r:id="rId6" imgW="1803240" imgH="215640" progId="Equation.DSMT4">
                  <p:embed/>
                </p:oleObj>
              </mc:Choice>
              <mc:Fallback>
                <p:oleObj name="Equation" r:id="rId6" imgW="1803240" imgH="215640" progId="Equation.DSMT4">
                  <p:embed/>
                  <p:pic>
                    <p:nvPicPr>
                      <p:cNvPr id="8" name="Object 7">
                        <a:extLst>
                          <a:ext uri="{FF2B5EF4-FFF2-40B4-BE49-F238E27FC236}">
                            <a16:creationId xmlns:a16="http://schemas.microsoft.com/office/drawing/2014/main" id="{D858BE74-2CE3-4DD1-B66D-0D9D39BBCB69}"/>
                          </a:ext>
                        </a:extLst>
                      </p:cNvPr>
                      <p:cNvPicPr>
                        <a:picLocks noChangeAspect="1" noChangeArrowheads="1"/>
                      </p:cNvPicPr>
                      <p:nvPr/>
                    </p:nvPicPr>
                    <p:blipFill>
                      <a:blip r:embed="rId7"/>
                      <a:srcRect/>
                      <a:stretch>
                        <a:fillRect/>
                      </a:stretch>
                    </p:blipFill>
                    <p:spPr bwMode="auto">
                      <a:xfrm>
                        <a:off x="786158" y="3507993"/>
                        <a:ext cx="3345300" cy="400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 name="Object 55" descr="right double arrow Integral lower limit 0 upper limit w (t) baseline d x equals C Integral lower limit 0 upper limit v (t) baseline y (tau) d tau.&#10;">
            <a:extLst>
              <a:ext uri="{FF2B5EF4-FFF2-40B4-BE49-F238E27FC236}">
                <a16:creationId xmlns:a16="http://schemas.microsoft.com/office/drawing/2014/main" id="{1F87739E-56DB-4E4C-B740-AE7C01742152}"/>
              </a:ext>
            </a:extLst>
          </p:cNvPr>
          <p:cNvGraphicFramePr>
            <a:graphicFrameLocks noChangeAspect="1"/>
          </p:cNvGraphicFramePr>
          <p:nvPr>
            <p:extLst>
              <p:ext uri="{D42A27DB-BD31-4B8C-83A1-F6EECF244321}">
                <p14:modId xmlns:p14="http://schemas.microsoft.com/office/powerpoint/2010/main" val="2108446503"/>
              </p:ext>
            </p:extLst>
          </p:nvPr>
        </p:nvGraphicFramePr>
        <p:xfrm>
          <a:off x="792723" y="3966698"/>
          <a:ext cx="3616325" cy="614363"/>
        </p:xfrm>
        <a:graphic>
          <a:graphicData uri="http://schemas.openxmlformats.org/presentationml/2006/ole">
            <mc:AlternateContent xmlns:mc="http://schemas.openxmlformats.org/markup-compatibility/2006">
              <mc:Choice xmlns:v="urn:schemas-microsoft-com:vml" Requires="v">
                <p:oleObj name="Equation" r:id="rId8" imgW="1942920" imgH="330120" progId="Equation.DSMT4">
                  <p:embed/>
                </p:oleObj>
              </mc:Choice>
              <mc:Fallback>
                <p:oleObj name="Equation" r:id="rId8" imgW="1942920" imgH="330120" progId="Equation.DSMT4">
                  <p:embed/>
                  <p:pic>
                    <p:nvPicPr>
                      <p:cNvPr id="9" name="Object 8">
                        <a:extLst>
                          <a:ext uri="{FF2B5EF4-FFF2-40B4-BE49-F238E27FC236}">
                            <a16:creationId xmlns:a16="http://schemas.microsoft.com/office/drawing/2014/main" id="{DBC845FD-0D41-4316-AA87-0A2755FF06B4}"/>
                          </a:ext>
                        </a:extLst>
                      </p:cNvPr>
                      <p:cNvPicPr>
                        <a:picLocks noChangeAspect="1" noChangeArrowheads="1"/>
                      </p:cNvPicPr>
                      <p:nvPr/>
                    </p:nvPicPr>
                    <p:blipFill>
                      <a:blip r:embed="rId9"/>
                      <a:srcRect/>
                      <a:stretch>
                        <a:fillRect/>
                      </a:stretch>
                    </p:blipFill>
                    <p:spPr bwMode="auto">
                      <a:xfrm>
                        <a:off x="792723" y="3966698"/>
                        <a:ext cx="3616325"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 name="Object 56" descr="right double arrow w (t) equals StartFraction 1 over 2 EndFraction C v (t) squared.&#10;">
            <a:extLst>
              <a:ext uri="{FF2B5EF4-FFF2-40B4-BE49-F238E27FC236}">
                <a16:creationId xmlns:a16="http://schemas.microsoft.com/office/drawing/2014/main" id="{C12F92B2-2A4F-40F4-89DA-C6EB7B715752}"/>
              </a:ext>
            </a:extLst>
          </p:cNvPr>
          <p:cNvGraphicFramePr>
            <a:graphicFrameLocks noChangeAspect="1"/>
          </p:cNvGraphicFramePr>
          <p:nvPr>
            <p:extLst>
              <p:ext uri="{D42A27DB-BD31-4B8C-83A1-F6EECF244321}">
                <p14:modId xmlns:p14="http://schemas.microsoft.com/office/powerpoint/2010/main" val="332175768"/>
              </p:ext>
            </p:extLst>
          </p:nvPr>
        </p:nvGraphicFramePr>
        <p:xfrm>
          <a:off x="784784" y="4668465"/>
          <a:ext cx="2717800" cy="447675"/>
        </p:xfrm>
        <a:graphic>
          <a:graphicData uri="http://schemas.openxmlformats.org/presentationml/2006/ole">
            <mc:AlternateContent xmlns:mc="http://schemas.openxmlformats.org/markup-compatibility/2006">
              <mc:Choice xmlns:v="urn:schemas-microsoft-com:vml" Requires="v">
                <p:oleObj name="Equation" r:id="rId10" imgW="1460160" imgH="241200" progId="Equation.DSMT4">
                  <p:embed/>
                </p:oleObj>
              </mc:Choice>
              <mc:Fallback>
                <p:oleObj name="Equation" r:id="rId10" imgW="1460160" imgH="241200" progId="Equation.DSMT4">
                  <p:embed/>
                  <p:pic>
                    <p:nvPicPr>
                      <p:cNvPr id="10" name="Object 9">
                        <a:extLst>
                          <a:ext uri="{FF2B5EF4-FFF2-40B4-BE49-F238E27FC236}">
                            <a16:creationId xmlns:a16="http://schemas.microsoft.com/office/drawing/2014/main" id="{79348FD7-9CCC-493E-B4AF-AD598CED3CA5}"/>
                          </a:ext>
                        </a:extLst>
                      </p:cNvPr>
                      <p:cNvPicPr>
                        <a:picLocks noChangeAspect="1" noChangeArrowheads="1"/>
                      </p:cNvPicPr>
                      <p:nvPr/>
                    </p:nvPicPr>
                    <p:blipFill>
                      <a:blip r:embed="rId11"/>
                      <a:srcRect/>
                      <a:stretch>
                        <a:fillRect/>
                      </a:stretch>
                    </p:blipFill>
                    <p:spPr bwMode="auto">
                      <a:xfrm>
                        <a:off x="784784" y="4668465"/>
                        <a:ext cx="271780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Content Placeholder 2">
            <a:extLst>
              <a:ext uri="{FF2B5EF4-FFF2-40B4-BE49-F238E27FC236}">
                <a16:creationId xmlns:a16="http://schemas.microsoft.com/office/drawing/2014/main" id="{084B6E5E-E235-C862-6078-43D0EC32FE20}"/>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1719625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206319"/>
            <a:ext cx="8229600" cy="590349"/>
          </a:xfrm>
        </p:spPr>
        <p:txBody>
          <a:bodyPr/>
          <a:lstStyle/>
          <a:p>
            <a:r>
              <a:rPr lang="en-US" noProof="0" dirty="0"/>
              <a:t>Chapter 6 – Capacitors </a:t>
            </a:r>
            <a:r>
              <a:rPr lang="en-US" sz="2800" noProof="0" dirty="0"/>
              <a:t>(8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393325" y="1229797"/>
            <a:ext cx="8229600" cy="1221291"/>
          </a:xfrm>
        </p:spPr>
        <p:txBody>
          <a:bodyPr wrap="square" lIns="0" tIns="18000" rIns="0" bIns="18000" anchor="ctr">
            <a:spAutoFit/>
          </a:bodyPr>
          <a:lstStyle/>
          <a:p>
            <a:pPr marL="342900" indent="-342900">
              <a:spcBef>
                <a:spcPts val="600"/>
              </a:spcBef>
            </a:pPr>
            <a:r>
              <a:rPr lang="en-US" sz="2400" noProof="0" dirty="0"/>
              <a:t>Capacitors, like inductors, are </a:t>
            </a:r>
            <a:r>
              <a:rPr lang="en-US" sz="2400" b="1" noProof="0" dirty="0"/>
              <a:t>energy storage devices!</a:t>
            </a:r>
          </a:p>
          <a:p>
            <a:pPr marL="829818" lvl="1" indent="-342900"/>
            <a:r>
              <a:rPr lang="en-US" sz="2400" noProof="0" dirty="0"/>
              <a:t>If the initial voltage drop across the capacitor is non-zero, the capacitor is storing energy.</a:t>
            </a:r>
          </a:p>
        </p:txBody>
      </p:sp>
    </p:spTree>
    <p:extLst>
      <p:ext uri="{BB962C8B-B14F-4D97-AF65-F5344CB8AC3E}">
        <p14:creationId xmlns:p14="http://schemas.microsoft.com/office/powerpoint/2010/main" val="2388482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206319"/>
            <a:ext cx="8229600" cy="590349"/>
          </a:xfrm>
        </p:spPr>
        <p:txBody>
          <a:bodyPr/>
          <a:lstStyle/>
          <a:p>
            <a:r>
              <a:rPr lang="en-US" noProof="0" dirty="0"/>
              <a:t>Chapter 6 – Capacitors </a:t>
            </a:r>
            <a:r>
              <a:rPr lang="en-US" sz="2800" noProof="0" dirty="0"/>
              <a:t>(9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02290" y="1234188"/>
            <a:ext cx="5550274" cy="405683"/>
          </a:xfrm>
        </p:spPr>
        <p:txBody>
          <a:bodyPr wrap="square" lIns="0" tIns="18000" rIns="0" bIns="18000" anchor="ctr">
            <a:spAutoFit/>
          </a:bodyPr>
          <a:lstStyle/>
          <a:p>
            <a:pPr marL="0" indent="0">
              <a:spcBef>
                <a:spcPts val="600"/>
              </a:spcBef>
              <a:buNone/>
            </a:pPr>
            <a:r>
              <a:rPr lang="en-US" sz="2400" noProof="0" dirty="0"/>
              <a:t>Suppose the initial voltage drop across a</a:t>
            </a:r>
          </a:p>
        </p:txBody>
      </p:sp>
      <p:graphicFrame>
        <p:nvGraphicFramePr>
          <p:cNvPr id="45" name="Object 2" descr="4 microfarads.&#10;">
            <a:extLst>
              <a:ext uri="{FF2B5EF4-FFF2-40B4-BE49-F238E27FC236}">
                <a16:creationId xmlns:a16="http://schemas.microsoft.com/office/drawing/2014/main" id="{6389F3E6-E7FF-41DD-AEF2-937F27FF80F0}"/>
              </a:ext>
            </a:extLst>
          </p:cNvPr>
          <p:cNvGraphicFramePr>
            <a:graphicFrameLocks noChangeAspect="1"/>
          </p:cNvGraphicFramePr>
          <p:nvPr>
            <p:extLst>
              <p:ext uri="{D42A27DB-BD31-4B8C-83A1-F6EECF244321}">
                <p14:modId xmlns:p14="http://schemas.microsoft.com/office/powerpoint/2010/main" val="2199464273"/>
              </p:ext>
            </p:extLst>
          </p:nvPr>
        </p:nvGraphicFramePr>
        <p:xfrm>
          <a:off x="5999123" y="1312074"/>
          <a:ext cx="627783" cy="357734"/>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12" name="Object 2">
                        <a:extLst>
                          <a:ext uri="{FF2B5EF4-FFF2-40B4-BE49-F238E27FC236}">
                            <a16:creationId xmlns:a16="http://schemas.microsoft.com/office/drawing/2014/main" id="{BF4D470D-10D3-401E-8EED-100268AAED91}"/>
                          </a:ext>
                        </a:extLst>
                      </p:cNvPr>
                      <p:cNvPicPr>
                        <a:picLocks noChangeAspect="1" noChangeArrowheads="1"/>
                      </p:cNvPicPr>
                      <p:nvPr/>
                    </p:nvPicPr>
                    <p:blipFill>
                      <a:blip r:embed="rId3"/>
                      <a:srcRect/>
                      <a:stretch>
                        <a:fillRect/>
                      </a:stretch>
                    </p:blipFill>
                    <p:spPr bwMode="auto">
                      <a:xfrm>
                        <a:off x="5999123" y="1312074"/>
                        <a:ext cx="627783" cy="357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6749302" y="1224104"/>
            <a:ext cx="1632697" cy="405683"/>
          </a:xfrm>
        </p:spPr>
        <p:txBody>
          <a:bodyPr wrap="square" lIns="0" tIns="18000" rIns="0" bIns="18000" anchor="ctr">
            <a:spAutoFit/>
          </a:bodyPr>
          <a:lstStyle/>
          <a:p>
            <a:pPr marL="0" indent="0">
              <a:spcBef>
                <a:spcPts val="600"/>
              </a:spcBef>
              <a:buNone/>
            </a:pPr>
            <a:r>
              <a:rPr lang="en-US" sz="2400" noProof="0" dirty="0"/>
              <a:t>capacitor is</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02291" y="1742937"/>
            <a:ext cx="6652932" cy="405683"/>
          </a:xfrm>
        </p:spPr>
        <p:txBody>
          <a:bodyPr wrap="square" lIns="0" tIns="18000" rIns="0" bIns="18000" anchor="ctr">
            <a:spAutoFit/>
          </a:bodyPr>
          <a:lstStyle/>
          <a:p>
            <a:pPr marL="0" indent="0">
              <a:spcBef>
                <a:spcPts val="600"/>
              </a:spcBef>
              <a:buNone/>
            </a:pPr>
            <a:r>
              <a:rPr lang="en-US" sz="2400" noProof="0" dirty="0"/>
              <a:t>10 V. The initial energy stored in the capacitor is</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504952" y="2631630"/>
            <a:ext cx="350742"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p>
        </p:txBody>
      </p:sp>
      <p:graphicFrame>
        <p:nvGraphicFramePr>
          <p:cNvPr id="49" name="Object 2" descr="400 microjoules.&#10;">
            <a:extLst>
              <a:ext uri="{FF2B5EF4-FFF2-40B4-BE49-F238E27FC236}">
                <a16:creationId xmlns:a16="http://schemas.microsoft.com/office/drawing/2014/main" id="{728C34B9-603B-41C5-97CD-64FA5729F7D9}"/>
              </a:ext>
            </a:extLst>
          </p:cNvPr>
          <p:cNvGraphicFramePr>
            <a:graphicFrameLocks noChangeAspect="1"/>
          </p:cNvGraphicFramePr>
          <p:nvPr>
            <p:extLst>
              <p:ext uri="{D42A27DB-BD31-4B8C-83A1-F6EECF244321}">
                <p14:modId xmlns:p14="http://schemas.microsoft.com/office/powerpoint/2010/main" val="3167788468"/>
              </p:ext>
            </p:extLst>
          </p:nvPr>
        </p:nvGraphicFramePr>
        <p:xfrm>
          <a:off x="1947214" y="2723030"/>
          <a:ext cx="881063" cy="350838"/>
        </p:xfrm>
        <a:graphic>
          <a:graphicData uri="http://schemas.openxmlformats.org/presentationml/2006/ole">
            <mc:AlternateContent xmlns:mc="http://schemas.openxmlformats.org/markup-compatibility/2006">
              <mc:Choice xmlns:v="urn:schemas-microsoft-com:vml" Requires="v">
                <p:oleObj name="Equation" r:id="rId4" imgW="507960" imgH="203040" progId="Equation.DSMT4">
                  <p:embed/>
                </p:oleObj>
              </mc:Choice>
              <mc:Fallback>
                <p:oleObj name="Equation" r:id="rId4" imgW="507960" imgH="203040" progId="Equation.DSMT4">
                  <p:embed/>
                  <p:pic>
                    <p:nvPicPr>
                      <p:cNvPr id="13" name="Object 2">
                        <a:extLst>
                          <a:ext uri="{FF2B5EF4-FFF2-40B4-BE49-F238E27FC236}">
                            <a16:creationId xmlns:a16="http://schemas.microsoft.com/office/drawing/2014/main" id="{133452C0-7F7E-42D5-8055-8FAB2C54253D}"/>
                          </a:ext>
                        </a:extLst>
                      </p:cNvPr>
                      <p:cNvPicPr>
                        <a:picLocks noChangeAspect="1" noChangeArrowheads="1"/>
                      </p:cNvPicPr>
                      <p:nvPr/>
                    </p:nvPicPr>
                    <p:blipFill>
                      <a:blip r:embed="rId5"/>
                      <a:srcRect/>
                      <a:stretch>
                        <a:fillRect/>
                      </a:stretch>
                    </p:blipFill>
                    <p:spPr bwMode="auto">
                      <a:xfrm>
                        <a:off x="1947214" y="2723030"/>
                        <a:ext cx="881063"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531846" y="3256146"/>
            <a:ext cx="350742"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p>
        </p:txBody>
      </p:sp>
      <p:graphicFrame>
        <p:nvGraphicFramePr>
          <p:cNvPr id="50" name="Object 2" descr="200 microjoules.&#10;">
            <a:extLst>
              <a:ext uri="{FF2B5EF4-FFF2-40B4-BE49-F238E27FC236}">
                <a16:creationId xmlns:a16="http://schemas.microsoft.com/office/drawing/2014/main" id="{55A021A9-A51D-4964-8683-9B6675A066A3}"/>
              </a:ext>
            </a:extLst>
          </p:cNvPr>
          <p:cNvGraphicFramePr>
            <a:graphicFrameLocks noChangeAspect="1"/>
          </p:cNvGraphicFramePr>
          <p:nvPr>
            <p:extLst>
              <p:ext uri="{D42A27DB-BD31-4B8C-83A1-F6EECF244321}">
                <p14:modId xmlns:p14="http://schemas.microsoft.com/office/powerpoint/2010/main" val="128070446"/>
              </p:ext>
            </p:extLst>
          </p:nvPr>
        </p:nvGraphicFramePr>
        <p:xfrm>
          <a:off x="1938247" y="3287806"/>
          <a:ext cx="881063" cy="350838"/>
        </p:xfrm>
        <a:graphic>
          <a:graphicData uri="http://schemas.openxmlformats.org/presentationml/2006/ole">
            <mc:AlternateContent xmlns:mc="http://schemas.openxmlformats.org/markup-compatibility/2006">
              <mc:Choice xmlns:v="urn:schemas-microsoft-com:vml" Requires="v">
                <p:oleObj name="Equation" r:id="rId6" imgW="507960" imgH="203040" progId="Equation.DSMT4">
                  <p:embed/>
                </p:oleObj>
              </mc:Choice>
              <mc:Fallback>
                <p:oleObj name="Equation" r:id="rId6" imgW="507960" imgH="203040" progId="Equation.DSMT4">
                  <p:embed/>
                  <p:pic>
                    <p:nvPicPr>
                      <p:cNvPr id="14" name="Object 2">
                        <a:extLst>
                          <a:ext uri="{FF2B5EF4-FFF2-40B4-BE49-F238E27FC236}">
                            <a16:creationId xmlns:a16="http://schemas.microsoft.com/office/drawing/2014/main" id="{5033639E-07BE-41CE-B41E-5907329F0F47}"/>
                          </a:ext>
                        </a:extLst>
                      </p:cNvPr>
                      <p:cNvPicPr>
                        <a:picLocks noChangeAspect="1" noChangeArrowheads="1"/>
                      </p:cNvPicPr>
                      <p:nvPr/>
                    </p:nvPicPr>
                    <p:blipFill>
                      <a:blip r:embed="rId7"/>
                      <a:srcRect/>
                      <a:stretch>
                        <a:fillRect/>
                      </a:stretch>
                    </p:blipFill>
                    <p:spPr bwMode="auto">
                      <a:xfrm>
                        <a:off x="1938247" y="3287806"/>
                        <a:ext cx="881063"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513916" y="3766897"/>
            <a:ext cx="350742"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p>
        </p:txBody>
      </p:sp>
      <p:graphicFrame>
        <p:nvGraphicFramePr>
          <p:cNvPr id="51" name="Object 2" descr="20 microjoules.&#10;">
            <a:extLst>
              <a:ext uri="{FF2B5EF4-FFF2-40B4-BE49-F238E27FC236}">
                <a16:creationId xmlns:a16="http://schemas.microsoft.com/office/drawing/2014/main" id="{AF81AC3A-8146-485A-8102-5FA248AF4258}"/>
              </a:ext>
            </a:extLst>
          </p:cNvPr>
          <p:cNvGraphicFramePr>
            <a:graphicFrameLocks noChangeAspect="1"/>
          </p:cNvGraphicFramePr>
          <p:nvPr>
            <p:extLst>
              <p:ext uri="{D42A27DB-BD31-4B8C-83A1-F6EECF244321}">
                <p14:modId xmlns:p14="http://schemas.microsoft.com/office/powerpoint/2010/main" val="3796782289"/>
              </p:ext>
            </p:extLst>
          </p:nvPr>
        </p:nvGraphicFramePr>
        <p:xfrm>
          <a:off x="1925544" y="3816350"/>
          <a:ext cx="727075" cy="350838"/>
        </p:xfrm>
        <a:graphic>
          <a:graphicData uri="http://schemas.openxmlformats.org/presentationml/2006/ole">
            <mc:AlternateContent xmlns:mc="http://schemas.openxmlformats.org/markup-compatibility/2006">
              <mc:Choice xmlns:v="urn:schemas-microsoft-com:vml" Requires="v">
                <p:oleObj name="Equation" r:id="rId8" imgW="419040" imgH="203040" progId="Equation.DSMT4">
                  <p:embed/>
                </p:oleObj>
              </mc:Choice>
              <mc:Fallback>
                <p:oleObj name="Equation" r:id="rId8" imgW="419040" imgH="203040" progId="Equation.DSMT4">
                  <p:embed/>
                  <p:pic>
                    <p:nvPicPr>
                      <p:cNvPr id="15" name="Object 2">
                        <a:extLst>
                          <a:ext uri="{FF2B5EF4-FFF2-40B4-BE49-F238E27FC236}">
                            <a16:creationId xmlns:a16="http://schemas.microsoft.com/office/drawing/2014/main" id="{0A2B8E7B-D0F9-4EDA-8007-C552AF86F3FE}"/>
                          </a:ext>
                        </a:extLst>
                      </p:cNvPr>
                      <p:cNvPicPr>
                        <a:picLocks noChangeAspect="1" noChangeArrowheads="1"/>
                      </p:cNvPicPr>
                      <p:nvPr/>
                    </p:nvPicPr>
                    <p:blipFill>
                      <a:blip r:embed="rId9"/>
                      <a:srcRect/>
                      <a:stretch>
                        <a:fillRect/>
                      </a:stretch>
                    </p:blipFill>
                    <p:spPr bwMode="auto">
                      <a:xfrm>
                        <a:off x="1925544" y="3816350"/>
                        <a:ext cx="72707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474663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206319"/>
            <a:ext cx="8229600" cy="590349"/>
          </a:xfrm>
        </p:spPr>
        <p:txBody>
          <a:bodyPr/>
          <a:lstStyle/>
          <a:p>
            <a:r>
              <a:rPr lang="en-US" noProof="0" dirty="0"/>
              <a:t>Chapter 6 – Capacitors </a:t>
            </a:r>
            <a:r>
              <a:rPr lang="en-US" sz="2800" noProof="0" dirty="0"/>
              <a:t>(9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02290" y="1234188"/>
            <a:ext cx="5550274" cy="405683"/>
          </a:xfrm>
        </p:spPr>
        <p:txBody>
          <a:bodyPr wrap="square" lIns="0" tIns="18000" rIns="0" bIns="18000" anchor="ctr">
            <a:spAutoFit/>
          </a:bodyPr>
          <a:lstStyle/>
          <a:p>
            <a:pPr marL="0" indent="0">
              <a:spcBef>
                <a:spcPts val="600"/>
              </a:spcBef>
              <a:buNone/>
            </a:pPr>
            <a:r>
              <a:rPr lang="en-US" sz="2400" noProof="0" dirty="0"/>
              <a:t>Suppose the initial voltage drop across a</a:t>
            </a:r>
          </a:p>
        </p:txBody>
      </p:sp>
      <p:graphicFrame>
        <p:nvGraphicFramePr>
          <p:cNvPr id="45" name="Object 2" descr="4 microfarads.&#10;">
            <a:extLst>
              <a:ext uri="{FF2B5EF4-FFF2-40B4-BE49-F238E27FC236}">
                <a16:creationId xmlns:a16="http://schemas.microsoft.com/office/drawing/2014/main" id="{6389F3E6-E7FF-41DD-AEF2-937F27FF80F0}"/>
              </a:ext>
            </a:extLst>
          </p:cNvPr>
          <p:cNvGraphicFramePr>
            <a:graphicFrameLocks noChangeAspect="1"/>
          </p:cNvGraphicFramePr>
          <p:nvPr/>
        </p:nvGraphicFramePr>
        <p:xfrm>
          <a:off x="5999123" y="1312074"/>
          <a:ext cx="627783" cy="357734"/>
        </p:xfrm>
        <a:graphic>
          <a:graphicData uri="http://schemas.openxmlformats.org/presentationml/2006/ole">
            <mc:AlternateContent xmlns:mc="http://schemas.openxmlformats.org/markup-compatibility/2006">
              <mc:Choice xmlns:v="urn:schemas-microsoft-com:vml" Requires="v">
                <p:oleObj name="Equation" r:id="rId2" imgW="355320" imgH="203040" progId="Equation.DSMT4">
                  <p:embed/>
                </p:oleObj>
              </mc:Choice>
              <mc:Fallback>
                <p:oleObj name="Equation" r:id="rId2" imgW="355320" imgH="203040" progId="Equation.DSMT4">
                  <p:embed/>
                  <p:pic>
                    <p:nvPicPr>
                      <p:cNvPr id="45" name="Object 2" descr="4 microfarads.&#10;">
                        <a:extLst>
                          <a:ext uri="{FF2B5EF4-FFF2-40B4-BE49-F238E27FC236}">
                            <a16:creationId xmlns:a16="http://schemas.microsoft.com/office/drawing/2014/main" id="{6389F3E6-E7FF-41DD-AEF2-937F27FF80F0}"/>
                          </a:ext>
                        </a:extLst>
                      </p:cNvPr>
                      <p:cNvPicPr>
                        <a:picLocks noChangeAspect="1" noChangeArrowheads="1"/>
                      </p:cNvPicPr>
                      <p:nvPr/>
                    </p:nvPicPr>
                    <p:blipFill>
                      <a:blip r:embed="rId3"/>
                      <a:srcRect/>
                      <a:stretch>
                        <a:fillRect/>
                      </a:stretch>
                    </p:blipFill>
                    <p:spPr bwMode="auto">
                      <a:xfrm>
                        <a:off x="5999123" y="1312074"/>
                        <a:ext cx="627783" cy="357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6749302" y="1224104"/>
            <a:ext cx="1632697" cy="405683"/>
          </a:xfrm>
        </p:spPr>
        <p:txBody>
          <a:bodyPr wrap="square" lIns="0" tIns="18000" rIns="0" bIns="18000" anchor="ctr">
            <a:spAutoFit/>
          </a:bodyPr>
          <a:lstStyle/>
          <a:p>
            <a:pPr marL="0" indent="0">
              <a:spcBef>
                <a:spcPts val="600"/>
              </a:spcBef>
              <a:buNone/>
            </a:pPr>
            <a:r>
              <a:rPr lang="en-US" sz="2400" noProof="0" dirty="0"/>
              <a:t>capacitor is</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02291" y="1742937"/>
            <a:ext cx="6652932" cy="405683"/>
          </a:xfrm>
        </p:spPr>
        <p:txBody>
          <a:bodyPr wrap="square" lIns="0" tIns="18000" rIns="0" bIns="18000" anchor="ctr">
            <a:spAutoFit/>
          </a:bodyPr>
          <a:lstStyle/>
          <a:p>
            <a:pPr marL="0" indent="0">
              <a:spcBef>
                <a:spcPts val="600"/>
              </a:spcBef>
              <a:buNone/>
            </a:pPr>
            <a:r>
              <a:rPr lang="en-US" sz="2400" noProof="0" dirty="0"/>
              <a:t>10 V. The initial energy stored in the capacitor is</a:t>
            </a:r>
          </a:p>
        </p:txBody>
      </p:sp>
      <p:pic>
        <p:nvPicPr>
          <p:cNvPr id="46" name="Picture 5" descr="Cross mark">
            <a:extLst>
              <a:ext uri="{FF2B5EF4-FFF2-40B4-BE49-F238E27FC236}">
                <a16:creationId xmlns:a16="http://schemas.microsoft.com/office/drawing/2014/main" id="{24F254CD-68BA-4D55-B62E-7671A466A0F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4864" y="269528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504952" y="2631630"/>
            <a:ext cx="350742"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p>
        </p:txBody>
      </p:sp>
      <p:graphicFrame>
        <p:nvGraphicFramePr>
          <p:cNvPr id="49" name="Object 2" descr="400 microjoules.&#10;">
            <a:extLst>
              <a:ext uri="{FF2B5EF4-FFF2-40B4-BE49-F238E27FC236}">
                <a16:creationId xmlns:a16="http://schemas.microsoft.com/office/drawing/2014/main" id="{728C34B9-603B-41C5-97CD-64FA5729F7D9}"/>
              </a:ext>
            </a:extLst>
          </p:cNvPr>
          <p:cNvGraphicFramePr>
            <a:graphicFrameLocks noChangeAspect="1"/>
          </p:cNvGraphicFramePr>
          <p:nvPr/>
        </p:nvGraphicFramePr>
        <p:xfrm>
          <a:off x="1947214" y="2723030"/>
          <a:ext cx="881063" cy="350838"/>
        </p:xfrm>
        <a:graphic>
          <a:graphicData uri="http://schemas.openxmlformats.org/presentationml/2006/ole">
            <mc:AlternateContent xmlns:mc="http://schemas.openxmlformats.org/markup-compatibility/2006">
              <mc:Choice xmlns:v="urn:schemas-microsoft-com:vml" Requires="v">
                <p:oleObj name="Equation" r:id="rId5" imgW="507960" imgH="203040" progId="Equation.DSMT4">
                  <p:embed/>
                </p:oleObj>
              </mc:Choice>
              <mc:Fallback>
                <p:oleObj name="Equation" r:id="rId5" imgW="507960" imgH="203040" progId="Equation.DSMT4">
                  <p:embed/>
                  <p:pic>
                    <p:nvPicPr>
                      <p:cNvPr id="49" name="Object 2" descr="400 microjoules.&#10;">
                        <a:extLst>
                          <a:ext uri="{FF2B5EF4-FFF2-40B4-BE49-F238E27FC236}">
                            <a16:creationId xmlns:a16="http://schemas.microsoft.com/office/drawing/2014/main" id="{728C34B9-603B-41C5-97CD-64FA5729F7D9}"/>
                          </a:ext>
                        </a:extLst>
                      </p:cNvPr>
                      <p:cNvPicPr>
                        <a:picLocks noChangeAspect="1" noChangeArrowheads="1"/>
                      </p:cNvPicPr>
                      <p:nvPr/>
                    </p:nvPicPr>
                    <p:blipFill>
                      <a:blip r:embed="rId6"/>
                      <a:srcRect/>
                      <a:stretch>
                        <a:fillRect/>
                      </a:stretch>
                    </p:blipFill>
                    <p:spPr bwMode="auto">
                      <a:xfrm>
                        <a:off x="1947214" y="2723030"/>
                        <a:ext cx="881063"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7" name="Picture 2" descr="Check mark">
            <a:extLst>
              <a:ext uri="{FF2B5EF4-FFF2-40B4-BE49-F238E27FC236}">
                <a16:creationId xmlns:a16="http://schemas.microsoft.com/office/drawing/2014/main" id="{4D06DCD3-1CB5-4853-A36F-22BFDDEB4CC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50842" y="3316942"/>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531846" y="3256146"/>
            <a:ext cx="350742"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p>
        </p:txBody>
      </p:sp>
      <p:graphicFrame>
        <p:nvGraphicFramePr>
          <p:cNvPr id="50" name="Object 2" descr="200 microjoules.&#10;">
            <a:extLst>
              <a:ext uri="{FF2B5EF4-FFF2-40B4-BE49-F238E27FC236}">
                <a16:creationId xmlns:a16="http://schemas.microsoft.com/office/drawing/2014/main" id="{55A021A9-A51D-4964-8683-9B6675A066A3}"/>
              </a:ext>
            </a:extLst>
          </p:cNvPr>
          <p:cNvGraphicFramePr>
            <a:graphicFrameLocks noChangeAspect="1"/>
          </p:cNvGraphicFramePr>
          <p:nvPr/>
        </p:nvGraphicFramePr>
        <p:xfrm>
          <a:off x="1938247" y="3287806"/>
          <a:ext cx="881063" cy="350838"/>
        </p:xfrm>
        <a:graphic>
          <a:graphicData uri="http://schemas.openxmlformats.org/presentationml/2006/ole">
            <mc:AlternateContent xmlns:mc="http://schemas.openxmlformats.org/markup-compatibility/2006">
              <mc:Choice xmlns:v="urn:schemas-microsoft-com:vml" Requires="v">
                <p:oleObj name="Equation" r:id="rId8" imgW="507960" imgH="203040" progId="Equation.DSMT4">
                  <p:embed/>
                </p:oleObj>
              </mc:Choice>
              <mc:Fallback>
                <p:oleObj name="Equation" r:id="rId8" imgW="507960" imgH="203040" progId="Equation.DSMT4">
                  <p:embed/>
                  <p:pic>
                    <p:nvPicPr>
                      <p:cNvPr id="50" name="Object 2" descr="200 microjoules.&#10;">
                        <a:extLst>
                          <a:ext uri="{FF2B5EF4-FFF2-40B4-BE49-F238E27FC236}">
                            <a16:creationId xmlns:a16="http://schemas.microsoft.com/office/drawing/2014/main" id="{55A021A9-A51D-4964-8683-9B6675A066A3}"/>
                          </a:ext>
                        </a:extLst>
                      </p:cNvPr>
                      <p:cNvPicPr>
                        <a:picLocks noChangeAspect="1" noChangeArrowheads="1"/>
                      </p:cNvPicPr>
                      <p:nvPr/>
                    </p:nvPicPr>
                    <p:blipFill>
                      <a:blip r:embed="rId9"/>
                      <a:srcRect/>
                      <a:stretch>
                        <a:fillRect/>
                      </a:stretch>
                    </p:blipFill>
                    <p:spPr bwMode="auto">
                      <a:xfrm>
                        <a:off x="1938247" y="3287806"/>
                        <a:ext cx="881063"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8" name="Picture 3" descr="Cross mark">
            <a:extLst>
              <a:ext uri="{FF2B5EF4-FFF2-40B4-BE49-F238E27FC236}">
                <a16:creationId xmlns:a16="http://schemas.microsoft.com/office/drawing/2014/main" id="{4253BE2E-E9D2-4DA6-97B6-70627B96E81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6740" y="3825793"/>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513916" y="3766897"/>
            <a:ext cx="350742"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p>
        </p:txBody>
      </p:sp>
      <p:graphicFrame>
        <p:nvGraphicFramePr>
          <p:cNvPr id="51" name="Object 2" descr="20 microjoules.&#10;">
            <a:extLst>
              <a:ext uri="{FF2B5EF4-FFF2-40B4-BE49-F238E27FC236}">
                <a16:creationId xmlns:a16="http://schemas.microsoft.com/office/drawing/2014/main" id="{AF81AC3A-8146-485A-8102-5FA248AF4258}"/>
              </a:ext>
            </a:extLst>
          </p:cNvPr>
          <p:cNvGraphicFramePr>
            <a:graphicFrameLocks noChangeAspect="1"/>
          </p:cNvGraphicFramePr>
          <p:nvPr/>
        </p:nvGraphicFramePr>
        <p:xfrm>
          <a:off x="1925544" y="3816350"/>
          <a:ext cx="727075" cy="350838"/>
        </p:xfrm>
        <a:graphic>
          <a:graphicData uri="http://schemas.openxmlformats.org/presentationml/2006/ole">
            <mc:AlternateContent xmlns:mc="http://schemas.openxmlformats.org/markup-compatibility/2006">
              <mc:Choice xmlns:v="urn:schemas-microsoft-com:vml" Requires="v">
                <p:oleObj name="Equation" r:id="rId10" imgW="419040" imgH="203040" progId="Equation.DSMT4">
                  <p:embed/>
                </p:oleObj>
              </mc:Choice>
              <mc:Fallback>
                <p:oleObj name="Equation" r:id="rId10" imgW="419040" imgH="203040" progId="Equation.DSMT4">
                  <p:embed/>
                  <p:pic>
                    <p:nvPicPr>
                      <p:cNvPr id="51" name="Object 2" descr="20 microjoules.&#10;">
                        <a:extLst>
                          <a:ext uri="{FF2B5EF4-FFF2-40B4-BE49-F238E27FC236}">
                            <a16:creationId xmlns:a16="http://schemas.microsoft.com/office/drawing/2014/main" id="{AF81AC3A-8146-485A-8102-5FA248AF4258}"/>
                          </a:ext>
                        </a:extLst>
                      </p:cNvPr>
                      <p:cNvPicPr>
                        <a:picLocks noChangeAspect="1" noChangeArrowheads="1"/>
                      </p:cNvPicPr>
                      <p:nvPr/>
                    </p:nvPicPr>
                    <p:blipFill>
                      <a:blip r:embed="rId11"/>
                      <a:srcRect/>
                      <a:stretch>
                        <a:fillRect/>
                      </a:stretch>
                    </p:blipFill>
                    <p:spPr bwMode="auto">
                      <a:xfrm>
                        <a:off x="1925544" y="3816350"/>
                        <a:ext cx="72707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32719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206319"/>
            <a:ext cx="8229600" cy="590349"/>
          </a:xfrm>
        </p:spPr>
        <p:txBody>
          <a:bodyPr/>
          <a:lstStyle/>
          <a:p>
            <a:r>
              <a:rPr lang="en-US" noProof="0" dirty="0"/>
              <a:t>Chapter 6 – Capacitors </a:t>
            </a:r>
            <a:r>
              <a:rPr lang="en-US" sz="2800" noProof="0" dirty="0"/>
              <a:t>(10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02290" y="1234186"/>
            <a:ext cx="7002556" cy="405683"/>
          </a:xfrm>
        </p:spPr>
        <p:txBody>
          <a:bodyPr wrap="square" lIns="0" tIns="18000" rIns="0" bIns="18000" anchor="ctr">
            <a:spAutoFit/>
          </a:bodyPr>
          <a:lstStyle/>
          <a:p>
            <a:pPr marL="342900" indent="-342900">
              <a:spcBef>
                <a:spcPts val="600"/>
              </a:spcBef>
            </a:pPr>
            <a:r>
              <a:rPr lang="en-US" sz="2400" noProof="0" dirty="0"/>
              <a:t>Example – Find the voltage, power, and energy</a:t>
            </a:r>
          </a:p>
        </p:txBody>
      </p:sp>
      <p:pic>
        <p:nvPicPr>
          <p:cNvPr id="49" name="Picture 6" descr="A drawing shows a capacitor with a capacitance of 0.2 micro farads, and two terminals marked with positive and negative polarities. Its voltage is marked as v, while current i flows rightward in the direction of voltage drop.">
            <a:extLst>
              <a:ext uri="{FF2B5EF4-FFF2-40B4-BE49-F238E27FC236}">
                <a16:creationId xmlns:a16="http://schemas.microsoft.com/office/drawing/2014/main" id="{0E9FE558-0D7E-41B4-AD00-187635ABCD57}"/>
              </a:ext>
            </a:extLst>
          </p:cNvPr>
          <p:cNvPicPr>
            <a:picLocks noChangeAspect="1" noChangeArrowheads="1"/>
          </p:cNvPicPr>
          <p:nvPr/>
        </p:nvPicPr>
        <p:blipFill>
          <a:blip r:embed="rId3"/>
          <a:stretch>
            <a:fillRect/>
          </a:stretch>
        </p:blipFill>
        <p:spPr bwMode="auto">
          <a:xfrm>
            <a:off x="1715673" y="1928613"/>
            <a:ext cx="1796769" cy="771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0" name="Object 49" descr="The figure illustrates different values of i (t) for different values of t in a piecewise function.&#10;Long description 1 is available in notes, press F6.">
            <a:extLst>
              <a:ext uri="{FF2B5EF4-FFF2-40B4-BE49-F238E27FC236}">
                <a16:creationId xmlns:a16="http://schemas.microsoft.com/office/drawing/2014/main" id="{236CD709-73E6-476A-91E8-CC108B5F42CB}"/>
              </a:ext>
            </a:extLst>
          </p:cNvPr>
          <p:cNvGraphicFramePr>
            <a:graphicFrameLocks noChangeAspect="1"/>
          </p:cNvGraphicFramePr>
          <p:nvPr>
            <p:extLst>
              <p:ext uri="{D42A27DB-BD31-4B8C-83A1-F6EECF244321}">
                <p14:modId xmlns:p14="http://schemas.microsoft.com/office/powerpoint/2010/main" val="3772397984"/>
              </p:ext>
            </p:extLst>
          </p:nvPr>
        </p:nvGraphicFramePr>
        <p:xfrm>
          <a:off x="5003894" y="1814513"/>
          <a:ext cx="3244850" cy="1223962"/>
        </p:xfrm>
        <a:graphic>
          <a:graphicData uri="http://schemas.openxmlformats.org/presentationml/2006/ole">
            <mc:AlternateContent xmlns:mc="http://schemas.openxmlformats.org/markup-compatibility/2006">
              <mc:Choice xmlns:v="urn:schemas-microsoft-com:vml" Requires="v">
                <p:oleObj name="Equation" r:id="rId4" imgW="2425680" imgH="914400" progId="Equation.DSMT4">
                  <p:embed/>
                </p:oleObj>
              </mc:Choice>
              <mc:Fallback>
                <p:oleObj name="Equation" r:id="rId4" imgW="2425680" imgH="914400" progId="Equation.DSMT4">
                  <p:embed/>
                  <p:pic>
                    <p:nvPicPr>
                      <p:cNvPr id="4" name="Object 3">
                        <a:extLst>
                          <a:ext uri="{FF2B5EF4-FFF2-40B4-BE49-F238E27FC236}">
                            <a16:creationId xmlns:a16="http://schemas.microsoft.com/office/drawing/2014/main" id="{556D1BAD-8679-0911-CF26-463B255AC198}"/>
                          </a:ext>
                        </a:extLst>
                      </p:cNvPr>
                      <p:cNvPicPr/>
                      <p:nvPr/>
                    </p:nvPicPr>
                    <p:blipFill>
                      <a:blip r:embed="rId5"/>
                      <a:stretch>
                        <a:fillRect/>
                      </a:stretch>
                    </p:blipFill>
                    <p:spPr>
                      <a:xfrm>
                        <a:off x="5003894" y="1814513"/>
                        <a:ext cx="3244850" cy="1223962"/>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868458" y="2972220"/>
            <a:ext cx="601756" cy="405683"/>
          </a:xfrm>
        </p:spPr>
        <p:txBody>
          <a:bodyPr wrap="square" lIns="0" tIns="18000" rIns="0" bIns="18000" anchor="ctr">
            <a:spAutoFit/>
          </a:bodyPr>
          <a:lstStyle/>
          <a:p>
            <a:pPr marL="0" indent="0">
              <a:spcBef>
                <a:spcPts val="600"/>
              </a:spcBef>
              <a:buNone/>
            </a:pPr>
            <a:r>
              <a:rPr lang="en-US" sz="2400" noProof="0" dirty="0"/>
              <a:t>For</a:t>
            </a:r>
          </a:p>
        </p:txBody>
      </p:sp>
      <p:graphicFrame>
        <p:nvGraphicFramePr>
          <p:cNvPr id="51" name="Object 2" descr="t is less than 0:&#10;">
            <a:extLst>
              <a:ext uri="{FF2B5EF4-FFF2-40B4-BE49-F238E27FC236}">
                <a16:creationId xmlns:a16="http://schemas.microsoft.com/office/drawing/2014/main" id="{D85CAEF0-2782-4FA9-9FBA-16771879E767}"/>
              </a:ext>
            </a:extLst>
          </p:cNvPr>
          <p:cNvGraphicFramePr>
            <a:graphicFrameLocks noChangeAspect="1"/>
          </p:cNvGraphicFramePr>
          <p:nvPr>
            <p:extLst>
              <p:ext uri="{D42A27DB-BD31-4B8C-83A1-F6EECF244321}">
                <p14:modId xmlns:p14="http://schemas.microsoft.com/office/powerpoint/2010/main" val="4161466777"/>
              </p:ext>
            </p:extLst>
          </p:nvPr>
        </p:nvGraphicFramePr>
        <p:xfrm>
          <a:off x="1557008" y="3067332"/>
          <a:ext cx="582987" cy="255866"/>
        </p:xfrm>
        <a:graphic>
          <a:graphicData uri="http://schemas.openxmlformats.org/presentationml/2006/ole">
            <mc:AlternateContent xmlns:mc="http://schemas.openxmlformats.org/markup-compatibility/2006">
              <mc:Choice xmlns:v="urn:schemas-microsoft-com:vml" Requires="v">
                <p:oleObj name="Equation" r:id="rId6" imgW="406080" imgH="177480" progId="Equation.DSMT4">
                  <p:embed/>
                </p:oleObj>
              </mc:Choice>
              <mc:Fallback>
                <p:oleObj name="Equation" r:id="rId6" imgW="406080" imgH="177480" progId="Equation.DSMT4">
                  <p:embed/>
                  <p:pic>
                    <p:nvPicPr>
                      <p:cNvPr id="5" name="Object 2">
                        <a:extLst>
                          <a:ext uri="{FF2B5EF4-FFF2-40B4-BE49-F238E27FC236}">
                            <a16:creationId xmlns:a16="http://schemas.microsoft.com/office/drawing/2014/main" id="{B172E7BA-766D-1F1A-AD1A-7E4AC2339892}"/>
                          </a:ext>
                        </a:extLst>
                      </p:cNvPr>
                      <p:cNvPicPr>
                        <a:picLocks noChangeAspect="1" noChangeArrowheads="1"/>
                      </p:cNvPicPr>
                      <p:nvPr/>
                    </p:nvPicPr>
                    <p:blipFill>
                      <a:blip r:embed="rId7"/>
                      <a:srcRect/>
                      <a:stretch>
                        <a:fillRect/>
                      </a:stretch>
                    </p:blipFill>
                    <p:spPr bwMode="auto">
                      <a:xfrm>
                        <a:off x="1557008" y="3067332"/>
                        <a:ext cx="582987" cy="255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2" name="Object 2" descr="v (t) equals 0 Volt;&#10;">
            <a:extLst>
              <a:ext uri="{FF2B5EF4-FFF2-40B4-BE49-F238E27FC236}">
                <a16:creationId xmlns:a16="http://schemas.microsoft.com/office/drawing/2014/main" id="{B19535E3-1395-4CEB-906D-3A42EAEF6969}"/>
              </a:ext>
            </a:extLst>
          </p:cNvPr>
          <p:cNvGraphicFramePr>
            <a:graphicFrameLocks noChangeAspect="1"/>
          </p:cNvGraphicFramePr>
          <p:nvPr>
            <p:extLst>
              <p:ext uri="{D42A27DB-BD31-4B8C-83A1-F6EECF244321}">
                <p14:modId xmlns:p14="http://schemas.microsoft.com/office/powerpoint/2010/main" val="1540843728"/>
              </p:ext>
            </p:extLst>
          </p:nvPr>
        </p:nvGraphicFramePr>
        <p:xfrm>
          <a:off x="1544499" y="3390900"/>
          <a:ext cx="1022350" cy="292100"/>
        </p:xfrm>
        <a:graphic>
          <a:graphicData uri="http://schemas.openxmlformats.org/presentationml/2006/ole">
            <mc:AlternateContent xmlns:mc="http://schemas.openxmlformats.org/markup-compatibility/2006">
              <mc:Choice xmlns:v="urn:schemas-microsoft-com:vml" Requires="v">
                <p:oleObj name="Equation" r:id="rId8" imgW="711000" imgH="203040" progId="Equation.DSMT4">
                  <p:embed/>
                </p:oleObj>
              </mc:Choice>
              <mc:Fallback>
                <p:oleObj name="Equation" r:id="rId8" imgW="711000" imgH="203040" progId="Equation.DSMT4">
                  <p:embed/>
                  <p:pic>
                    <p:nvPicPr>
                      <p:cNvPr id="11" name="Object 2">
                        <a:extLst>
                          <a:ext uri="{FF2B5EF4-FFF2-40B4-BE49-F238E27FC236}">
                            <a16:creationId xmlns:a16="http://schemas.microsoft.com/office/drawing/2014/main" id="{B0F2A950-21EF-40BE-9CD7-1E45E312EDB8}"/>
                          </a:ext>
                        </a:extLst>
                      </p:cNvPr>
                      <p:cNvPicPr>
                        <a:picLocks noChangeAspect="1" noChangeArrowheads="1"/>
                      </p:cNvPicPr>
                      <p:nvPr/>
                    </p:nvPicPr>
                    <p:blipFill>
                      <a:blip r:embed="rId9"/>
                      <a:srcRect/>
                      <a:stretch>
                        <a:fillRect/>
                      </a:stretch>
                    </p:blipFill>
                    <p:spPr bwMode="auto">
                      <a:xfrm>
                        <a:off x="1544499" y="3390900"/>
                        <a:ext cx="102235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2" descr="p (t) equals 0 Watt;&#10;">
            <a:extLst>
              <a:ext uri="{FF2B5EF4-FFF2-40B4-BE49-F238E27FC236}">
                <a16:creationId xmlns:a16="http://schemas.microsoft.com/office/drawing/2014/main" id="{4360C87A-ACC8-4D1C-AC1C-E0B344F48986}"/>
              </a:ext>
            </a:extLst>
          </p:cNvPr>
          <p:cNvGraphicFramePr>
            <a:graphicFrameLocks noChangeAspect="1"/>
          </p:cNvGraphicFramePr>
          <p:nvPr>
            <p:extLst>
              <p:ext uri="{D42A27DB-BD31-4B8C-83A1-F6EECF244321}">
                <p14:modId xmlns:p14="http://schemas.microsoft.com/office/powerpoint/2010/main" val="2175174215"/>
              </p:ext>
            </p:extLst>
          </p:nvPr>
        </p:nvGraphicFramePr>
        <p:xfrm>
          <a:off x="2813427" y="3389067"/>
          <a:ext cx="1112837" cy="293687"/>
        </p:xfrm>
        <a:graphic>
          <a:graphicData uri="http://schemas.openxmlformats.org/presentationml/2006/ole">
            <mc:AlternateContent xmlns:mc="http://schemas.openxmlformats.org/markup-compatibility/2006">
              <mc:Choice xmlns:v="urn:schemas-microsoft-com:vml" Requires="v">
                <p:oleObj name="Equation" r:id="rId10" imgW="774360" imgH="203040" progId="Equation.DSMT4">
                  <p:embed/>
                </p:oleObj>
              </mc:Choice>
              <mc:Fallback>
                <p:oleObj name="Equation" r:id="rId10" imgW="774360" imgH="203040" progId="Equation.DSMT4">
                  <p:embed/>
                  <p:pic>
                    <p:nvPicPr>
                      <p:cNvPr id="52" name="Object 2">
                        <a:extLst>
                          <a:ext uri="{FF2B5EF4-FFF2-40B4-BE49-F238E27FC236}">
                            <a16:creationId xmlns:a16="http://schemas.microsoft.com/office/drawing/2014/main" id="{B19535E3-1395-4CEB-906D-3A42EAEF6969}"/>
                          </a:ext>
                        </a:extLst>
                      </p:cNvPr>
                      <p:cNvPicPr>
                        <a:picLocks noChangeAspect="1" noChangeArrowheads="1"/>
                      </p:cNvPicPr>
                      <p:nvPr/>
                    </p:nvPicPr>
                    <p:blipFill>
                      <a:blip r:embed="rId11"/>
                      <a:srcRect/>
                      <a:stretch>
                        <a:fillRect/>
                      </a:stretch>
                    </p:blipFill>
                    <p:spPr bwMode="auto">
                      <a:xfrm>
                        <a:off x="2813427" y="3389067"/>
                        <a:ext cx="1112837"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2" descr="w (t) equals 0 Joule.&#10;">
            <a:extLst>
              <a:ext uri="{FF2B5EF4-FFF2-40B4-BE49-F238E27FC236}">
                <a16:creationId xmlns:a16="http://schemas.microsoft.com/office/drawing/2014/main" id="{35ED6DCA-EF70-4E59-A574-5A38AFC76ED2}"/>
              </a:ext>
            </a:extLst>
          </p:cNvPr>
          <p:cNvGraphicFramePr>
            <a:graphicFrameLocks noChangeAspect="1"/>
          </p:cNvGraphicFramePr>
          <p:nvPr>
            <p:extLst>
              <p:ext uri="{D42A27DB-BD31-4B8C-83A1-F6EECF244321}">
                <p14:modId xmlns:p14="http://schemas.microsoft.com/office/powerpoint/2010/main" val="2720183893"/>
              </p:ext>
            </p:extLst>
          </p:nvPr>
        </p:nvGraphicFramePr>
        <p:xfrm>
          <a:off x="4351320" y="3410502"/>
          <a:ext cx="985838" cy="292100"/>
        </p:xfrm>
        <a:graphic>
          <a:graphicData uri="http://schemas.openxmlformats.org/presentationml/2006/ole">
            <mc:AlternateContent xmlns:mc="http://schemas.openxmlformats.org/markup-compatibility/2006">
              <mc:Choice xmlns:v="urn:schemas-microsoft-com:vml" Requires="v">
                <p:oleObj name="Equation" r:id="rId12" imgW="685800" imgH="203040" progId="Equation.DSMT4">
                  <p:embed/>
                </p:oleObj>
              </mc:Choice>
              <mc:Fallback>
                <p:oleObj name="Equation" r:id="rId12" imgW="685800" imgH="203040" progId="Equation.DSMT4">
                  <p:embed/>
                  <p:pic>
                    <p:nvPicPr>
                      <p:cNvPr id="16" name="Object 2">
                        <a:extLst>
                          <a:ext uri="{FF2B5EF4-FFF2-40B4-BE49-F238E27FC236}">
                            <a16:creationId xmlns:a16="http://schemas.microsoft.com/office/drawing/2014/main" id="{4360C87A-ACC8-4D1C-AC1C-E0B344F48986}"/>
                          </a:ext>
                        </a:extLst>
                      </p:cNvPr>
                      <p:cNvPicPr>
                        <a:picLocks noChangeAspect="1" noChangeArrowheads="1"/>
                      </p:cNvPicPr>
                      <p:nvPr/>
                    </p:nvPicPr>
                    <p:blipFill>
                      <a:blip r:embed="rId13"/>
                      <a:srcRect/>
                      <a:stretch>
                        <a:fillRect/>
                      </a:stretch>
                    </p:blipFill>
                    <p:spPr bwMode="auto">
                      <a:xfrm>
                        <a:off x="4351320" y="3410502"/>
                        <a:ext cx="9858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868455" y="3661383"/>
            <a:ext cx="601756" cy="405683"/>
          </a:xfrm>
        </p:spPr>
        <p:txBody>
          <a:bodyPr wrap="square" lIns="0" tIns="18000" rIns="0" bIns="18000" anchor="ctr">
            <a:spAutoFit/>
          </a:bodyPr>
          <a:lstStyle/>
          <a:p>
            <a:pPr marL="0" indent="0">
              <a:spcBef>
                <a:spcPts val="600"/>
              </a:spcBef>
              <a:buNone/>
            </a:pPr>
            <a:r>
              <a:rPr lang="en-US" sz="2400" noProof="0" dirty="0"/>
              <a:t>For</a:t>
            </a:r>
          </a:p>
        </p:txBody>
      </p:sp>
      <p:graphicFrame>
        <p:nvGraphicFramePr>
          <p:cNvPr id="53" name="Object 2" descr="0 less than or equal to t less than or equal to 20 microseconds:&#10;">
            <a:extLst>
              <a:ext uri="{FF2B5EF4-FFF2-40B4-BE49-F238E27FC236}">
                <a16:creationId xmlns:a16="http://schemas.microsoft.com/office/drawing/2014/main" id="{85903930-4998-4071-93FA-8B81A2B15184}"/>
              </a:ext>
            </a:extLst>
          </p:cNvPr>
          <p:cNvGraphicFramePr>
            <a:graphicFrameLocks noChangeAspect="1"/>
          </p:cNvGraphicFramePr>
          <p:nvPr>
            <p:extLst>
              <p:ext uri="{D42A27DB-BD31-4B8C-83A1-F6EECF244321}">
                <p14:modId xmlns:p14="http://schemas.microsoft.com/office/powerpoint/2010/main" val="4089506279"/>
              </p:ext>
            </p:extLst>
          </p:nvPr>
        </p:nvGraphicFramePr>
        <p:xfrm>
          <a:off x="1488174" y="3770171"/>
          <a:ext cx="1347999" cy="303961"/>
        </p:xfrm>
        <a:graphic>
          <a:graphicData uri="http://schemas.openxmlformats.org/presentationml/2006/ole">
            <mc:AlternateContent xmlns:mc="http://schemas.openxmlformats.org/markup-compatibility/2006">
              <mc:Choice xmlns:v="urn:schemas-microsoft-com:vml" Requires="v">
                <p:oleObj name="Equation" r:id="rId14" imgW="901440" imgH="203040" progId="Equation.DSMT4">
                  <p:embed/>
                </p:oleObj>
              </mc:Choice>
              <mc:Fallback>
                <p:oleObj name="Equation" r:id="rId14" imgW="901440" imgH="203040" progId="Equation.DSMT4">
                  <p:embed/>
                  <p:pic>
                    <p:nvPicPr>
                      <p:cNvPr id="12" name="Object 2">
                        <a:extLst>
                          <a:ext uri="{FF2B5EF4-FFF2-40B4-BE49-F238E27FC236}">
                            <a16:creationId xmlns:a16="http://schemas.microsoft.com/office/drawing/2014/main" id="{3A5270E0-6AF1-44F9-9875-71105FBD17A8}"/>
                          </a:ext>
                        </a:extLst>
                      </p:cNvPr>
                      <p:cNvPicPr>
                        <a:picLocks noChangeAspect="1" noChangeArrowheads="1"/>
                      </p:cNvPicPr>
                      <p:nvPr/>
                    </p:nvPicPr>
                    <p:blipFill>
                      <a:blip r:embed="rId15"/>
                      <a:srcRect/>
                      <a:stretch>
                        <a:fillRect/>
                      </a:stretch>
                    </p:blipFill>
                    <p:spPr bwMode="auto">
                      <a:xfrm>
                        <a:off x="1488174" y="3770171"/>
                        <a:ext cx="1347999" cy="303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 name="Object 2" descr="The figure illustrates the solving of v (t).&#10;Long description 2 is available in notes, press F6.">
            <a:extLst>
              <a:ext uri="{FF2B5EF4-FFF2-40B4-BE49-F238E27FC236}">
                <a16:creationId xmlns:a16="http://schemas.microsoft.com/office/drawing/2014/main" id="{72368F16-FE76-4E49-A8C7-6A7E766C693A}"/>
              </a:ext>
            </a:extLst>
          </p:cNvPr>
          <p:cNvGraphicFramePr>
            <a:graphicFrameLocks noChangeAspect="1"/>
          </p:cNvGraphicFramePr>
          <p:nvPr>
            <p:extLst>
              <p:ext uri="{D42A27DB-BD31-4B8C-83A1-F6EECF244321}">
                <p14:modId xmlns:p14="http://schemas.microsoft.com/office/powerpoint/2010/main" val="3463919217"/>
              </p:ext>
            </p:extLst>
          </p:nvPr>
        </p:nvGraphicFramePr>
        <p:xfrm>
          <a:off x="1466480" y="4106024"/>
          <a:ext cx="6234113" cy="762000"/>
        </p:xfrm>
        <a:graphic>
          <a:graphicData uri="http://schemas.openxmlformats.org/presentationml/2006/ole">
            <mc:AlternateContent xmlns:mc="http://schemas.openxmlformats.org/markup-compatibility/2006">
              <mc:Choice xmlns:v="urn:schemas-microsoft-com:vml" Requires="v">
                <p:oleObj name="Equation" r:id="rId16" imgW="4165560" imgH="507960" progId="Equation.DSMT4">
                  <p:embed/>
                </p:oleObj>
              </mc:Choice>
              <mc:Fallback>
                <p:oleObj name="Equation" r:id="rId16" imgW="4165560" imgH="507960" progId="Equation.DSMT4">
                  <p:embed/>
                  <p:pic>
                    <p:nvPicPr>
                      <p:cNvPr id="13" name="Object 2">
                        <a:extLst>
                          <a:ext uri="{FF2B5EF4-FFF2-40B4-BE49-F238E27FC236}">
                            <a16:creationId xmlns:a16="http://schemas.microsoft.com/office/drawing/2014/main" id="{603F8A06-017C-4B8F-9400-A0EB811EB20A}"/>
                          </a:ext>
                        </a:extLst>
                      </p:cNvPr>
                      <p:cNvPicPr>
                        <a:picLocks noChangeAspect="1" noChangeArrowheads="1"/>
                      </p:cNvPicPr>
                      <p:nvPr/>
                    </p:nvPicPr>
                    <p:blipFill>
                      <a:blip r:embed="rId17"/>
                      <a:srcRect/>
                      <a:stretch>
                        <a:fillRect/>
                      </a:stretch>
                    </p:blipFill>
                    <p:spPr bwMode="auto">
                      <a:xfrm>
                        <a:off x="1466480" y="4106024"/>
                        <a:ext cx="623411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 name="Object 2" descr="p (t) equals v (t) i (t) equals OpenParenthesis 12.5 times 10 to the 9 power t squared CloseParenthesis (5000 t) equals 62.5 times 10 to the 12 power t to the 3 power Watts.&#10;">
            <a:extLst>
              <a:ext uri="{FF2B5EF4-FFF2-40B4-BE49-F238E27FC236}">
                <a16:creationId xmlns:a16="http://schemas.microsoft.com/office/drawing/2014/main" id="{38E115A8-7D71-4491-B6E9-00E4BCE14FE3}"/>
              </a:ext>
            </a:extLst>
          </p:cNvPr>
          <p:cNvGraphicFramePr>
            <a:graphicFrameLocks noChangeAspect="1"/>
          </p:cNvGraphicFramePr>
          <p:nvPr>
            <p:extLst>
              <p:ext uri="{D42A27DB-BD31-4B8C-83A1-F6EECF244321}">
                <p14:modId xmlns:p14="http://schemas.microsoft.com/office/powerpoint/2010/main" val="2827100889"/>
              </p:ext>
            </p:extLst>
          </p:nvPr>
        </p:nvGraphicFramePr>
        <p:xfrm>
          <a:off x="1440237" y="4952347"/>
          <a:ext cx="5391151" cy="342900"/>
        </p:xfrm>
        <a:graphic>
          <a:graphicData uri="http://schemas.openxmlformats.org/presentationml/2006/ole">
            <mc:AlternateContent xmlns:mc="http://schemas.openxmlformats.org/markup-compatibility/2006">
              <mc:Choice xmlns:v="urn:schemas-microsoft-com:vml" Requires="v">
                <p:oleObj name="Equation" r:id="rId18" imgW="3606480" imgH="228600" progId="Equation.DSMT4">
                  <p:embed/>
                </p:oleObj>
              </mc:Choice>
              <mc:Fallback>
                <p:oleObj name="Equation" r:id="rId18" imgW="3606480" imgH="228600" progId="Equation.DSMT4">
                  <p:embed/>
                  <p:pic>
                    <p:nvPicPr>
                      <p:cNvPr id="15" name="Object 2">
                        <a:extLst>
                          <a:ext uri="{FF2B5EF4-FFF2-40B4-BE49-F238E27FC236}">
                            <a16:creationId xmlns:a16="http://schemas.microsoft.com/office/drawing/2014/main" id="{90391F34-E2BC-4795-9B57-6DDF219CF6D6}"/>
                          </a:ext>
                        </a:extLst>
                      </p:cNvPr>
                      <p:cNvPicPr>
                        <a:picLocks noChangeAspect="1" noChangeArrowheads="1"/>
                      </p:cNvPicPr>
                      <p:nvPr/>
                    </p:nvPicPr>
                    <p:blipFill>
                      <a:blip r:embed="rId19"/>
                      <a:srcRect/>
                      <a:stretch>
                        <a:fillRect/>
                      </a:stretch>
                    </p:blipFill>
                    <p:spPr bwMode="auto">
                      <a:xfrm>
                        <a:off x="1440237" y="4952347"/>
                        <a:ext cx="5391151"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 name="Object 2" descr="w (t) equals StartFraction 1 over 2 EndFraction (0.2mu) OpenParenthesis 12.5 times 10 to the 9 power t squared CloseParenthesis squared equals 15.625 times 10 to the 12 power t to the 4 power Joules.&#10;">
            <a:extLst>
              <a:ext uri="{FF2B5EF4-FFF2-40B4-BE49-F238E27FC236}">
                <a16:creationId xmlns:a16="http://schemas.microsoft.com/office/drawing/2014/main" id="{AC845A0B-35CD-4ACE-AAF4-87A98D842582}"/>
              </a:ext>
            </a:extLst>
          </p:cNvPr>
          <p:cNvGraphicFramePr>
            <a:graphicFrameLocks noChangeAspect="1"/>
          </p:cNvGraphicFramePr>
          <p:nvPr>
            <p:extLst>
              <p:ext uri="{D42A27DB-BD31-4B8C-83A1-F6EECF244321}">
                <p14:modId xmlns:p14="http://schemas.microsoft.com/office/powerpoint/2010/main" val="3156285946"/>
              </p:ext>
            </p:extLst>
          </p:nvPr>
        </p:nvGraphicFramePr>
        <p:xfrm>
          <a:off x="1439212" y="5355946"/>
          <a:ext cx="4764088" cy="360362"/>
        </p:xfrm>
        <a:graphic>
          <a:graphicData uri="http://schemas.openxmlformats.org/presentationml/2006/ole">
            <mc:AlternateContent xmlns:mc="http://schemas.openxmlformats.org/markup-compatibility/2006">
              <mc:Choice xmlns:v="urn:schemas-microsoft-com:vml" Requires="v">
                <p:oleObj name="Equation" r:id="rId20" imgW="3187440" imgH="241200" progId="Equation.DSMT4">
                  <p:embed/>
                </p:oleObj>
              </mc:Choice>
              <mc:Fallback>
                <p:oleObj name="Equation" r:id="rId20" imgW="3187440" imgH="241200" progId="Equation.DSMT4">
                  <p:embed/>
                  <p:pic>
                    <p:nvPicPr>
                      <p:cNvPr id="16" name="Object 2">
                        <a:extLst>
                          <a:ext uri="{FF2B5EF4-FFF2-40B4-BE49-F238E27FC236}">
                            <a16:creationId xmlns:a16="http://schemas.microsoft.com/office/drawing/2014/main" id="{165688A4-6423-4431-8402-7184362BAE0E}"/>
                          </a:ext>
                        </a:extLst>
                      </p:cNvPr>
                      <p:cNvPicPr>
                        <a:picLocks noChangeAspect="1" noChangeArrowheads="1"/>
                      </p:cNvPicPr>
                      <p:nvPr/>
                    </p:nvPicPr>
                    <p:blipFill>
                      <a:blip r:embed="rId21"/>
                      <a:srcRect/>
                      <a:stretch>
                        <a:fillRect/>
                      </a:stretch>
                    </p:blipFill>
                    <p:spPr bwMode="auto">
                      <a:xfrm>
                        <a:off x="1439212" y="5355946"/>
                        <a:ext cx="4764088"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760880" y="5695251"/>
            <a:ext cx="403222" cy="405683"/>
          </a:xfrm>
        </p:spPr>
        <p:txBody>
          <a:bodyPr wrap="square" lIns="0" tIns="18000" rIns="0" bIns="18000" anchor="ctr">
            <a:spAutoFit/>
          </a:bodyPr>
          <a:lstStyle/>
          <a:p>
            <a:pPr marL="0" indent="0">
              <a:spcBef>
                <a:spcPts val="600"/>
              </a:spcBef>
              <a:buNone/>
            </a:pPr>
            <a:r>
              <a:rPr lang="en-US" sz="2400" noProof="0" dirty="0"/>
              <a:t>At</a:t>
            </a:r>
          </a:p>
        </p:txBody>
      </p:sp>
      <p:graphicFrame>
        <p:nvGraphicFramePr>
          <p:cNvPr id="57" name="Object 2" descr="t equals 20 microseconds,&#10;">
            <a:extLst>
              <a:ext uri="{FF2B5EF4-FFF2-40B4-BE49-F238E27FC236}">
                <a16:creationId xmlns:a16="http://schemas.microsoft.com/office/drawing/2014/main" id="{BF9303C7-FA67-466A-B4BA-0820D65BD8A5}"/>
              </a:ext>
            </a:extLst>
          </p:cNvPr>
          <p:cNvGraphicFramePr>
            <a:graphicFrameLocks noChangeAspect="1"/>
          </p:cNvGraphicFramePr>
          <p:nvPr>
            <p:extLst>
              <p:ext uri="{D42A27DB-BD31-4B8C-83A1-F6EECF244321}">
                <p14:modId xmlns:p14="http://schemas.microsoft.com/office/powerpoint/2010/main" val="1462009237"/>
              </p:ext>
            </p:extLst>
          </p:nvPr>
        </p:nvGraphicFramePr>
        <p:xfrm>
          <a:off x="2085530" y="6032097"/>
          <a:ext cx="949325" cy="304800"/>
        </p:xfrm>
        <a:graphic>
          <a:graphicData uri="http://schemas.openxmlformats.org/presentationml/2006/ole">
            <mc:AlternateContent xmlns:mc="http://schemas.openxmlformats.org/markup-compatibility/2006">
              <mc:Choice xmlns:v="urn:schemas-microsoft-com:vml" Requires="v">
                <p:oleObj name="Equation" r:id="rId22" imgW="634680" imgH="203040" progId="Equation.DSMT4">
                  <p:embed/>
                </p:oleObj>
              </mc:Choice>
              <mc:Fallback>
                <p:oleObj name="Equation" r:id="rId22" imgW="634680" imgH="203040" progId="Equation.DSMT4">
                  <p:embed/>
                  <p:pic>
                    <p:nvPicPr>
                      <p:cNvPr id="17" name="Object 2">
                        <a:extLst>
                          <a:ext uri="{FF2B5EF4-FFF2-40B4-BE49-F238E27FC236}">
                            <a16:creationId xmlns:a16="http://schemas.microsoft.com/office/drawing/2014/main" id="{B1C711D1-B553-492C-B03D-1DA58B99C0EE}"/>
                          </a:ext>
                        </a:extLst>
                      </p:cNvPr>
                      <p:cNvPicPr>
                        <a:picLocks noChangeAspect="1" noChangeArrowheads="1"/>
                      </p:cNvPicPr>
                      <p:nvPr/>
                    </p:nvPicPr>
                    <p:blipFill>
                      <a:blip r:embed="rId23"/>
                      <a:srcRect/>
                      <a:stretch>
                        <a:fillRect/>
                      </a:stretch>
                    </p:blipFill>
                    <p:spPr bwMode="auto">
                      <a:xfrm>
                        <a:off x="2085530" y="6032097"/>
                        <a:ext cx="949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2" descr="v (20 micro seconds) equals 12.5 times 10 to the 9 power (20mu) squared equals 5 Volts.&#10;">
            <a:extLst>
              <a:ext uri="{FF2B5EF4-FFF2-40B4-BE49-F238E27FC236}">
                <a16:creationId xmlns:a16="http://schemas.microsoft.com/office/drawing/2014/main" id="{1C4513AA-0CF6-42C2-8BC7-7D8DAC25F534}"/>
              </a:ext>
            </a:extLst>
          </p:cNvPr>
          <p:cNvGraphicFramePr>
            <a:graphicFrameLocks noChangeAspect="1"/>
          </p:cNvGraphicFramePr>
          <p:nvPr>
            <p:extLst>
              <p:ext uri="{D42A27DB-BD31-4B8C-83A1-F6EECF244321}">
                <p14:modId xmlns:p14="http://schemas.microsoft.com/office/powerpoint/2010/main" val="3631542623"/>
              </p:ext>
            </p:extLst>
          </p:nvPr>
        </p:nvGraphicFramePr>
        <p:xfrm>
          <a:off x="3420435" y="6008688"/>
          <a:ext cx="3303588" cy="342900"/>
        </p:xfrm>
        <a:graphic>
          <a:graphicData uri="http://schemas.openxmlformats.org/presentationml/2006/ole">
            <mc:AlternateContent xmlns:mc="http://schemas.openxmlformats.org/markup-compatibility/2006">
              <mc:Choice xmlns:v="urn:schemas-microsoft-com:vml" Requires="v">
                <p:oleObj name="Equation" r:id="rId24" imgW="2209680" imgH="228600" progId="Equation.DSMT4">
                  <p:embed/>
                </p:oleObj>
              </mc:Choice>
              <mc:Fallback>
                <p:oleObj name="Equation" r:id="rId24" imgW="2209680" imgH="228600" progId="Equation.DSMT4">
                  <p:embed/>
                  <p:pic>
                    <p:nvPicPr>
                      <p:cNvPr id="57" name="Object 2">
                        <a:extLst>
                          <a:ext uri="{FF2B5EF4-FFF2-40B4-BE49-F238E27FC236}">
                            <a16:creationId xmlns:a16="http://schemas.microsoft.com/office/drawing/2014/main" id="{BF9303C7-FA67-466A-B4BA-0820D65BD8A5}"/>
                          </a:ext>
                        </a:extLst>
                      </p:cNvPr>
                      <p:cNvPicPr>
                        <a:picLocks noChangeAspect="1" noChangeArrowheads="1"/>
                      </p:cNvPicPr>
                      <p:nvPr/>
                    </p:nvPicPr>
                    <p:blipFill>
                      <a:blip r:embed="rId25"/>
                      <a:srcRect/>
                      <a:stretch>
                        <a:fillRect/>
                      </a:stretch>
                    </p:blipFill>
                    <p:spPr bwMode="auto">
                      <a:xfrm>
                        <a:off x="3420435" y="6008688"/>
                        <a:ext cx="3303588"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77262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206319"/>
            <a:ext cx="8229600" cy="590349"/>
          </a:xfrm>
        </p:spPr>
        <p:txBody>
          <a:bodyPr/>
          <a:lstStyle/>
          <a:p>
            <a:r>
              <a:rPr lang="en-US" noProof="0" dirty="0"/>
              <a:t>Chapter 6 – Capacitors </a:t>
            </a:r>
            <a:r>
              <a:rPr lang="en-US" sz="2800" noProof="0" dirty="0"/>
              <a:t>(11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02290" y="1225228"/>
            <a:ext cx="3353921" cy="405683"/>
          </a:xfrm>
        </p:spPr>
        <p:txBody>
          <a:bodyPr wrap="square" lIns="0" tIns="18000" rIns="0" bIns="18000" anchor="ctr">
            <a:spAutoFit/>
          </a:bodyPr>
          <a:lstStyle/>
          <a:p>
            <a:pPr marL="342900" indent="-342900">
              <a:spcBef>
                <a:spcPts val="600"/>
              </a:spcBef>
            </a:pPr>
            <a:r>
              <a:rPr lang="en-US" sz="2400" noProof="0" dirty="0"/>
              <a:t>Example (continued)</a:t>
            </a:r>
          </a:p>
        </p:txBody>
      </p:sp>
      <p:pic>
        <p:nvPicPr>
          <p:cNvPr id="51" name="Picture 6" descr="A drawing shows a capacitor with a capacitance of 0.2 micro farads, and two terminals marked with positive and negative polarities. Its voltage is marked as v, while current i flows rightward in the direction of voltage drop.">
            <a:extLst>
              <a:ext uri="{FF2B5EF4-FFF2-40B4-BE49-F238E27FC236}">
                <a16:creationId xmlns:a16="http://schemas.microsoft.com/office/drawing/2014/main" id="{B209065F-B5F5-4A2B-BFEE-07AECD335EC5}"/>
              </a:ext>
            </a:extLst>
          </p:cNvPr>
          <p:cNvPicPr>
            <a:picLocks noChangeAspect="1" noChangeArrowheads="1"/>
          </p:cNvPicPr>
          <p:nvPr/>
        </p:nvPicPr>
        <p:blipFill>
          <a:blip r:embed="rId3"/>
          <a:stretch>
            <a:fillRect/>
          </a:stretch>
        </p:blipFill>
        <p:spPr bwMode="auto">
          <a:xfrm>
            <a:off x="1679195" y="1948807"/>
            <a:ext cx="1869725" cy="802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2" name="Object 51" descr="The figure illustrates different values of i (t) for different values of t in a piecewise function.&#10;Long description is available in notes, press F6.">
            <a:extLst>
              <a:ext uri="{FF2B5EF4-FFF2-40B4-BE49-F238E27FC236}">
                <a16:creationId xmlns:a16="http://schemas.microsoft.com/office/drawing/2014/main" id="{64A7112E-94A0-420D-AFCA-795BA0EF5954}"/>
              </a:ext>
            </a:extLst>
          </p:cNvPr>
          <p:cNvGraphicFramePr>
            <a:graphicFrameLocks noChangeAspect="1"/>
          </p:cNvGraphicFramePr>
          <p:nvPr>
            <p:extLst>
              <p:ext uri="{D42A27DB-BD31-4B8C-83A1-F6EECF244321}">
                <p14:modId xmlns:p14="http://schemas.microsoft.com/office/powerpoint/2010/main" val="1073321174"/>
              </p:ext>
            </p:extLst>
          </p:nvPr>
        </p:nvGraphicFramePr>
        <p:xfrm>
          <a:off x="4979001" y="1817463"/>
          <a:ext cx="3105536" cy="1153635"/>
        </p:xfrm>
        <a:graphic>
          <a:graphicData uri="http://schemas.openxmlformats.org/presentationml/2006/ole">
            <mc:AlternateContent xmlns:mc="http://schemas.openxmlformats.org/markup-compatibility/2006">
              <mc:Choice xmlns:v="urn:schemas-microsoft-com:vml" Requires="v">
                <p:oleObj name="Equation" r:id="rId4" imgW="2463480" imgH="914400" progId="Equation.DSMT4">
                  <p:embed/>
                </p:oleObj>
              </mc:Choice>
              <mc:Fallback>
                <p:oleObj name="Equation" r:id="rId4" imgW="2463480" imgH="914400" progId="Equation.DSMT4">
                  <p:embed/>
                  <p:pic>
                    <p:nvPicPr>
                      <p:cNvPr id="8" name="Object 7">
                        <a:extLst>
                          <a:ext uri="{FF2B5EF4-FFF2-40B4-BE49-F238E27FC236}">
                            <a16:creationId xmlns:a16="http://schemas.microsoft.com/office/drawing/2014/main" id="{37F108E6-52B6-C1DC-726B-861EFF6BB773}"/>
                          </a:ext>
                        </a:extLst>
                      </p:cNvPr>
                      <p:cNvPicPr>
                        <a:picLocks noChangeAspect="1" noChangeArrowheads="1"/>
                      </p:cNvPicPr>
                      <p:nvPr/>
                    </p:nvPicPr>
                    <p:blipFill>
                      <a:blip r:embed="rId5"/>
                      <a:srcRect/>
                      <a:stretch>
                        <a:fillRect/>
                      </a:stretch>
                    </p:blipFill>
                    <p:spPr bwMode="auto">
                      <a:xfrm>
                        <a:off x="4979001" y="1817463"/>
                        <a:ext cx="3105536" cy="1153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886390" y="3026009"/>
            <a:ext cx="539003" cy="405683"/>
          </a:xfrm>
        </p:spPr>
        <p:txBody>
          <a:bodyPr wrap="square" lIns="0" tIns="18000" rIns="0" bIns="18000" anchor="ctr">
            <a:spAutoFit/>
          </a:bodyPr>
          <a:lstStyle/>
          <a:p>
            <a:pPr marL="0" indent="0">
              <a:spcBef>
                <a:spcPts val="600"/>
              </a:spcBef>
              <a:buNone/>
            </a:pPr>
            <a:r>
              <a:rPr lang="en-US" sz="2400" noProof="0" dirty="0"/>
              <a:t>For</a:t>
            </a:r>
          </a:p>
        </p:txBody>
      </p:sp>
      <p:graphicFrame>
        <p:nvGraphicFramePr>
          <p:cNvPr id="53" name="Object 2" descr="20 micro seconds less than or equal to t less than or equal to 40 micro seconds:&#10;">
            <a:extLst>
              <a:ext uri="{FF2B5EF4-FFF2-40B4-BE49-F238E27FC236}">
                <a16:creationId xmlns:a16="http://schemas.microsoft.com/office/drawing/2014/main" id="{F8F94ED4-B055-4E89-A3E3-141C88A6E134}"/>
              </a:ext>
            </a:extLst>
          </p:cNvPr>
          <p:cNvGraphicFramePr>
            <a:graphicFrameLocks noChangeAspect="1"/>
          </p:cNvGraphicFramePr>
          <p:nvPr>
            <p:extLst>
              <p:ext uri="{D42A27DB-BD31-4B8C-83A1-F6EECF244321}">
                <p14:modId xmlns:p14="http://schemas.microsoft.com/office/powerpoint/2010/main" val="3102448362"/>
              </p:ext>
            </p:extLst>
          </p:nvPr>
        </p:nvGraphicFramePr>
        <p:xfrm>
          <a:off x="1481572" y="3107327"/>
          <a:ext cx="1681975" cy="295111"/>
        </p:xfrm>
        <a:graphic>
          <a:graphicData uri="http://schemas.openxmlformats.org/presentationml/2006/ole">
            <mc:AlternateContent xmlns:mc="http://schemas.openxmlformats.org/markup-compatibility/2006">
              <mc:Choice xmlns:v="urn:schemas-microsoft-com:vml" Requires="v">
                <p:oleObj name="Equation" r:id="rId6" imgW="1155600" imgH="203040" progId="Equation.DSMT4">
                  <p:embed/>
                </p:oleObj>
              </mc:Choice>
              <mc:Fallback>
                <p:oleObj name="Equation" r:id="rId6" imgW="1155600" imgH="203040" progId="Equation.DSMT4">
                  <p:embed/>
                  <p:pic>
                    <p:nvPicPr>
                      <p:cNvPr id="9" name="Object 2">
                        <a:extLst>
                          <a:ext uri="{FF2B5EF4-FFF2-40B4-BE49-F238E27FC236}">
                            <a16:creationId xmlns:a16="http://schemas.microsoft.com/office/drawing/2014/main" id="{A1AAC955-7465-FDC8-5EB2-A6C64399FFA6}"/>
                          </a:ext>
                        </a:extLst>
                      </p:cNvPr>
                      <p:cNvPicPr>
                        <a:picLocks noChangeAspect="1" noChangeArrowheads="1"/>
                      </p:cNvPicPr>
                      <p:nvPr/>
                    </p:nvPicPr>
                    <p:blipFill>
                      <a:blip r:embed="rId7"/>
                      <a:srcRect/>
                      <a:stretch>
                        <a:fillRect/>
                      </a:stretch>
                    </p:blipFill>
                    <p:spPr bwMode="auto">
                      <a:xfrm>
                        <a:off x="1481572" y="3107327"/>
                        <a:ext cx="1681975" cy="295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 name="Object 2" descr="v (t) equals StartFraction 1 over 0.2 mu EndFraction Integral lower limit 20 mu upper limit t baseline OpenParenthesis 0.2 minus 5000 x CloseParenthesis d x plus v (20mu).&#10;">
            <a:extLst>
              <a:ext uri="{FF2B5EF4-FFF2-40B4-BE49-F238E27FC236}">
                <a16:creationId xmlns:a16="http://schemas.microsoft.com/office/drawing/2014/main" id="{A14A0903-4AF5-4F70-9373-DFB7B5D1EF21}"/>
              </a:ext>
            </a:extLst>
          </p:cNvPr>
          <p:cNvGraphicFramePr>
            <a:graphicFrameLocks noChangeAspect="1"/>
          </p:cNvGraphicFramePr>
          <p:nvPr>
            <p:extLst>
              <p:ext uri="{D42A27DB-BD31-4B8C-83A1-F6EECF244321}">
                <p14:modId xmlns:p14="http://schemas.microsoft.com/office/powerpoint/2010/main" val="2343250860"/>
              </p:ext>
            </p:extLst>
          </p:nvPr>
        </p:nvGraphicFramePr>
        <p:xfrm>
          <a:off x="1503087" y="3449823"/>
          <a:ext cx="3916363" cy="720725"/>
        </p:xfrm>
        <a:graphic>
          <a:graphicData uri="http://schemas.openxmlformats.org/presentationml/2006/ole">
            <mc:AlternateContent xmlns:mc="http://schemas.openxmlformats.org/markup-compatibility/2006">
              <mc:Choice xmlns:v="urn:schemas-microsoft-com:vml" Requires="v">
                <p:oleObj name="Equation" r:id="rId8" imgW="2692080" imgH="495000" progId="Equation.DSMT4">
                  <p:embed/>
                </p:oleObj>
              </mc:Choice>
              <mc:Fallback>
                <p:oleObj name="Equation" r:id="rId8" imgW="2692080" imgH="495000" progId="Equation.DSMT4">
                  <p:embed/>
                  <p:pic>
                    <p:nvPicPr>
                      <p:cNvPr id="11" name="Object 2">
                        <a:extLst>
                          <a:ext uri="{FF2B5EF4-FFF2-40B4-BE49-F238E27FC236}">
                            <a16:creationId xmlns:a16="http://schemas.microsoft.com/office/drawing/2014/main" id="{27969A67-9F5E-48B4-9279-2363BA7680C1}"/>
                          </a:ext>
                        </a:extLst>
                      </p:cNvPr>
                      <p:cNvPicPr>
                        <a:picLocks noChangeAspect="1" noChangeArrowheads="1"/>
                      </p:cNvPicPr>
                      <p:nvPr/>
                    </p:nvPicPr>
                    <p:blipFill>
                      <a:blip r:embed="rId9"/>
                      <a:srcRect/>
                      <a:stretch>
                        <a:fillRect/>
                      </a:stretch>
                    </p:blipFill>
                    <p:spPr bwMode="auto">
                      <a:xfrm>
                        <a:off x="1503087" y="3449823"/>
                        <a:ext cx="39163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 name="Object 2" descr="equals StartFraction 1 over 0.2 mu EndFraction open square bracket 0.2x minus StartFraction 5000 x squared over 2 EndFraction close square bracket vertical bar lower limit 0 upper limit t baseline plus 5.&#10;">
            <a:extLst>
              <a:ext uri="{FF2B5EF4-FFF2-40B4-BE49-F238E27FC236}">
                <a16:creationId xmlns:a16="http://schemas.microsoft.com/office/drawing/2014/main" id="{3082029C-6148-480D-81B1-E1A1E577CD2A}"/>
              </a:ext>
            </a:extLst>
          </p:cNvPr>
          <p:cNvGraphicFramePr>
            <a:graphicFrameLocks noChangeAspect="1"/>
          </p:cNvGraphicFramePr>
          <p:nvPr>
            <p:extLst>
              <p:ext uri="{D42A27DB-BD31-4B8C-83A1-F6EECF244321}">
                <p14:modId xmlns:p14="http://schemas.microsoft.com/office/powerpoint/2010/main" val="2395447578"/>
              </p:ext>
            </p:extLst>
          </p:nvPr>
        </p:nvGraphicFramePr>
        <p:xfrm>
          <a:off x="1921343" y="4212655"/>
          <a:ext cx="2828925" cy="776288"/>
        </p:xfrm>
        <a:graphic>
          <a:graphicData uri="http://schemas.openxmlformats.org/presentationml/2006/ole">
            <mc:AlternateContent xmlns:mc="http://schemas.openxmlformats.org/markup-compatibility/2006">
              <mc:Choice xmlns:v="urn:schemas-microsoft-com:vml" Requires="v">
                <p:oleObj name="Equation" r:id="rId10" imgW="1942920" imgH="533160" progId="Equation.DSMT4">
                  <p:embed/>
                </p:oleObj>
              </mc:Choice>
              <mc:Fallback>
                <p:oleObj name="Equation" r:id="rId10" imgW="1942920" imgH="533160" progId="Equation.DSMT4">
                  <p:embed/>
                  <p:pic>
                    <p:nvPicPr>
                      <p:cNvPr id="12" name="Object 2">
                        <a:extLst>
                          <a:ext uri="{FF2B5EF4-FFF2-40B4-BE49-F238E27FC236}">
                            <a16:creationId xmlns:a16="http://schemas.microsoft.com/office/drawing/2014/main" id="{E13ADA09-C542-4157-B5CB-964FAAB776CA}"/>
                          </a:ext>
                        </a:extLst>
                      </p:cNvPr>
                      <p:cNvPicPr>
                        <a:picLocks noChangeAspect="1" noChangeArrowheads="1"/>
                      </p:cNvPicPr>
                      <p:nvPr/>
                    </p:nvPicPr>
                    <p:blipFill>
                      <a:blip r:embed="rId11"/>
                      <a:srcRect/>
                      <a:stretch>
                        <a:fillRect/>
                      </a:stretch>
                    </p:blipFill>
                    <p:spPr bwMode="auto">
                      <a:xfrm>
                        <a:off x="1921343" y="4212655"/>
                        <a:ext cx="2828925"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 name="Object 2" descr="equals OpenParenthesis 10 to the 6 power t minus 12.5 times 10 to the 9 power t squared minus 10 CloseParenthesis Volts.&#10;">
            <a:extLst>
              <a:ext uri="{FF2B5EF4-FFF2-40B4-BE49-F238E27FC236}">
                <a16:creationId xmlns:a16="http://schemas.microsoft.com/office/drawing/2014/main" id="{C747A793-883C-4D7B-883C-EE244C50D77E}"/>
              </a:ext>
            </a:extLst>
          </p:cNvPr>
          <p:cNvGraphicFramePr>
            <a:graphicFrameLocks noChangeAspect="1"/>
          </p:cNvGraphicFramePr>
          <p:nvPr>
            <p:extLst>
              <p:ext uri="{D42A27DB-BD31-4B8C-83A1-F6EECF244321}">
                <p14:modId xmlns:p14="http://schemas.microsoft.com/office/powerpoint/2010/main" val="2470244709"/>
              </p:ext>
            </p:extLst>
          </p:nvPr>
        </p:nvGraphicFramePr>
        <p:xfrm>
          <a:off x="1914341" y="5034239"/>
          <a:ext cx="2790825" cy="333375"/>
        </p:xfrm>
        <a:graphic>
          <a:graphicData uri="http://schemas.openxmlformats.org/presentationml/2006/ole">
            <mc:AlternateContent xmlns:mc="http://schemas.openxmlformats.org/markup-compatibility/2006">
              <mc:Choice xmlns:v="urn:schemas-microsoft-com:vml" Requires="v">
                <p:oleObj name="Equation" r:id="rId12" imgW="1917360" imgH="228600" progId="Equation.DSMT4">
                  <p:embed/>
                </p:oleObj>
              </mc:Choice>
              <mc:Fallback>
                <p:oleObj name="Equation" r:id="rId12" imgW="1917360" imgH="228600" progId="Equation.DSMT4">
                  <p:embed/>
                  <p:pic>
                    <p:nvPicPr>
                      <p:cNvPr id="13" name="Object 2">
                        <a:extLst>
                          <a:ext uri="{FF2B5EF4-FFF2-40B4-BE49-F238E27FC236}">
                            <a16:creationId xmlns:a16="http://schemas.microsoft.com/office/drawing/2014/main" id="{D1700D67-AD28-4552-A301-1DE81FA262F5}"/>
                          </a:ext>
                        </a:extLst>
                      </p:cNvPr>
                      <p:cNvPicPr>
                        <a:picLocks noChangeAspect="1" noChangeArrowheads="1"/>
                      </p:cNvPicPr>
                      <p:nvPr/>
                    </p:nvPicPr>
                    <p:blipFill>
                      <a:blip r:embed="rId13"/>
                      <a:srcRect/>
                      <a:stretch>
                        <a:fillRect/>
                      </a:stretch>
                    </p:blipFill>
                    <p:spPr bwMode="auto">
                      <a:xfrm>
                        <a:off x="1914341" y="5034239"/>
                        <a:ext cx="27908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 name="Object 2" descr="p (t) equals v (t) i (t);&#10;">
            <a:extLst>
              <a:ext uri="{FF2B5EF4-FFF2-40B4-BE49-F238E27FC236}">
                <a16:creationId xmlns:a16="http://schemas.microsoft.com/office/drawing/2014/main" id="{AED1FC93-2595-476C-8CED-C8CAD2E0854D}"/>
              </a:ext>
            </a:extLst>
          </p:cNvPr>
          <p:cNvGraphicFramePr>
            <a:graphicFrameLocks noChangeAspect="1"/>
          </p:cNvGraphicFramePr>
          <p:nvPr>
            <p:extLst>
              <p:ext uri="{D42A27DB-BD31-4B8C-83A1-F6EECF244321}">
                <p14:modId xmlns:p14="http://schemas.microsoft.com/office/powerpoint/2010/main" val="3007873966"/>
              </p:ext>
            </p:extLst>
          </p:nvPr>
        </p:nvGraphicFramePr>
        <p:xfrm>
          <a:off x="1428934" y="5446713"/>
          <a:ext cx="1368425" cy="295275"/>
        </p:xfrm>
        <a:graphic>
          <a:graphicData uri="http://schemas.openxmlformats.org/presentationml/2006/ole">
            <mc:AlternateContent xmlns:mc="http://schemas.openxmlformats.org/markup-compatibility/2006">
              <mc:Choice xmlns:v="urn:schemas-microsoft-com:vml" Requires="v">
                <p:oleObj name="Equation" r:id="rId14" imgW="939600" imgH="203040" progId="Equation.DSMT4">
                  <p:embed/>
                </p:oleObj>
              </mc:Choice>
              <mc:Fallback>
                <p:oleObj name="Equation" r:id="rId14" imgW="939600" imgH="203040" progId="Equation.DSMT4">
                  <p:embed/>
                  <p:pic>
                    <p:nvPicPr>
                      <p:cNvPr id="14" name="Object 2">
                        <a:extLst>
                          <a:ext uri="{FF2B5EF4-FFF2-40B4-BE49-F238E27FC236}">
                            <a16:creationId xmlns:a16="http://schemas.microsoft.com/office/drawing/2014/main" id="{CAFE77A7-AD23-4411-90B5-90834E0BEF47}"/>
                          </a:ext>
                        </a:extLst>
                      </p:cNvPr>
                      <p:cNvPicPr>
                        <a:picLocks noChangeAspect="1" noChangeArrowheads="1"/>
                      </p:cNvPicPr>
                      <p:nvPr/>
                    </p:nvPicPr>
                    <p:blipFill>
                      <a:blip r:embed="rId15"/>
                      <a:srcRect/>
                      <a:stretch>
                        <a:fillRect/>
                      </a:stretch>
                    </p:blipFill>
                    <p:spPr bwMode="auto">
                      <a:xfrm>
                        <a:off x="1428934" y="5446713"/>
                        <a:ext cx="1368425"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2" descr="w (t) equals StartFraction 1 over 2 EndFraction C v (t) squared.&#10;">
            <a:extLst>
              <a:ext uri="{FF2B5EF4-FFF2-40B4-BE49-F238E27FC236}">
                <a16:creationId xmlns:a16="http://schemas.microsoft.com/office/drawing/2014/main" id="{D5F5011D-05BC-4D77-9704-341029BC5129}"/>
              </a:ext>
            </a:extLst>
          </p:cNvPr>
          <p:cNvGraphicFramePr>
            <a:graphicFrameLocks noChangeAspect="1"/>
          </p:cNvGraphicFramePr>
          <p:nvPr>
            <p:extLst>
              <p:ext uri="{D42A27DB-BD31-4B8C-83A1-F6EECF244321}">
                <p14:modId xmlns:p14="http://schemas.microsoft.com/office/powerpoint/2010/main" val="586689620"/>
              </p:ext>
            </p:extLst>
          </p:nvPr>
        </p:nvGraphicFramePr>
        <p:xfrm>
          <a:off x="3200813" y="5443609"/>
          <a:ext cx="1423987" cy="350837"/>
        </p:xfrm>
        <a:graphic>
          <a:graphicData uri="http://schemas.openxmlformats.org/presentationml/2006/ole">
            <mc:AlternateContent xmlns:mc="http://schemas.openxmlformats.org/markup-compatibility/2006">
              <mc:Choice xmlns:v="urn:schemas-microsoft-com:vml" Requires="v">
                <p:oleObj name="Equation" r:id="rId16" imgW="977760" imgH="241200" progId="Equation.DSMT4">
                  <p:embed/>
                </p:oleObj>
              </mc:Choice>
              <mc:Fallback>
                <p:oleObj name="Equation" r:id="rId16" imgW="977760" imgH="241200" progId="Equation.DSMT4">
                  <p:embed/>
                  <p:pic>
                    <p:nvPicPr>
                      <p:cNvPr id="57" name="Object 2" descr="p (t) equals v (t) i (t);&#10;">
                        <a:extLst>
                          <a:ext uri="{FF2B5EF4-FFF2-40B4-BE49-F238E27FC236}">
                            <a16:creationId xmlns:a16="http://schemas.microsoft.com/office/drawing/2014/main" id="{AED1FC93-2595-476C-8CED-C8CAD2E0854D}"/>
                          </a:ext>
                        </a:extLst>
                      </p:cNvPr>
                      <p:cNvPicPr>
                        <a:picLocks noChangeAspect="1" noChangeArrowheads="1"/>
                      </p:cNvPicPr>
                      <p:nvPr/>
                    </p:nvPicPr>
                    <p:blipFill>
                      <a:blip r:embed="rId17"/>
                      <a:srcRect/>
                      <a:stretch>
                        <a:fillRect/>
                      </a:stretch>
                    </p:blipFill>
                    <p:spPr bwMode="auto">
                      <a:xfrm>
                        <a:off x="3200813" y="5443609"/>
                        <a:ext cx="1423987"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698128" y="5803949"/>
            <a:ext cx="395568" cy="405683"/>
          </a:xfrm>
        </p:spPr>
        <p:txBody>
          <a:bodyPr wrap="square" lIns="0" tIns="18000" rIns="0" bIns="18000" anchor="ctr">
            <a:spAutoFit/>
          </a:bodyPr>
          <a:lstStyle/>
          <a:p>
            <a:pPr marL="0" indent="0">
              <a:spcBef>
                <a:spcPts val="600"/>
              </a:spcBef>
              <a:buNone/>
            </a:pPr>
            <a:r>
              <a:rPr lang="en-US" sz="2400" noProof="0" dirty="0"/>
              <a:t>At</a:t>
            </a:r>
          </a:p>
        </p:txBody>
      </p:sp>
      <p:graphicFrame>
        <p:nvGraphicFramePr>
          <p:cNvPr id="58" name="Object 2" descr="t equals 40 micro seconds,&#10;">
            <a:extLst>
              <a:ext uri="{FF2B5EF4-FFF2-40B4-BE49-F238E27FC236}">
                <a16:creationId xmlns:a16="http://schemas.microsoft.com/office/drawing/2014/main" id="{CB517C02-8322-4E46-9C56-5C4D3E3FFAC0}"/>
              </a:ext>
            </a:extLst>
          </p:cNvPr>
          <p:cNvGraphicFramePr>
            <a:graphicFrameLocks noChangeAspect="1"/>
          </p:cNvGraphicFramePr>
          <p:nvPr>
            <p:extLst>
              <p:ext uri="{D42A27DB-BD31-4B8C-83A1-F6EECF244321}">
                <p14:modId xmlns:p14="http://schemas.microsoft.com/office/powerpoint/2010/main" val="3765957317"/>
              </p:ext>
            </p:extLst>
          </p:nvPr>
        </p:nvGraphicFramePr>
        <p:xfrm>
          <a:off x="1430853" y="6109738"/>
          <a:ext cx="923925" cy="295275"/>
        </p:xfrm>
        <a:graphic>
          <a:graphicData uri="http://schemas.openxmlformats.org/presentationml/2006/ole">
            <mc:AlternateContent xmlns:mc="http://schemas.openxmlformats.org/markup-compatibility/2006">
              <mc:Choice xmlns:v="urn:schemas-microsoft-com:vml" Requires="v">
                <p:oleObj name="Equation" r:id="rId18" imgW="634680" imgH="203040" progId="Equation.DSMT4">
                  <p:embed/>
                </p:oleObj>
              </mc:Choice>
              <mc:Fallback>
                <p:oleObj name="Equation" r:id="rId18" imgW="634680" imgH="203040" progId="Equation.DSMT4">
                  <p:embed/>
                  <p:pic>
                    <p:nvPicPr>
                      <p:cNvPr id="15" name="Object 2">
                        <a:extLst>
                          <a:ext uri="{FF2B5EF4-FFF2-40B4-BE49-F238E27FC236}">
                            <a16:creationId xmlns:a16="http://schemas.microsoft.com/office/drawing/2014/main" id="{C630085D-8A79-4690-9B70-B2CE4ADBF93C}"/>
                          </a:ext>
                        </a:extLst>
                      </p:cNvPr>
                      <p:cNvPicPr>
                        <a:picLocks noChangeAspect="1" noChangeArrowheads="1"/>
                      </p:cNvPicPr>
                      <p:nvPr/>
                    </p:nvPicPr>
                    <p:blipFill>
                      <a:blip r:embed="rId19"/>
                      <a:srcRect/>
                      <a:stretch>
                        <a:fillRect/>
                      </a:stretch>
                    </p:blipFill>
                    <p:spPr bwMode="auto">
                      <a:xfrm>
                        <a:off x="1430853" y="6109738"/>
                        <a:ext cx="923925"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2" descr="v multiplied by (40 microseconds) equals open square bracket 10 to the 6 power multiplied by (40 mu) minus 12.5 times 10 to the 9 power multiplied by (40 mu) squared minus 10 CloseParenthesis equals 10 Volts.&#10;">
            <a:extLst>
              <a:ext uri="{FF2B5EF4-FFF2-40B4-BE49-F238E27FC236}">
                <a16:creationId xmlns:a16="http://schemas.microsoft.com/office/drawing/2014/main" id="{A71E0F7E-7F9A-411F-82EA-8A59488A9F51}"/>
              </a:ext>
            </a:extLst>
          </p:cNvPr>
          <p:cNvGraphicFramePr>
            <a:graphicFrameLocks noChangeAspect="1"/>
          </p:cNvGraphicFramePr>
          <p:nvPr>
            <p:extLst>
              <p:ext uri="{D42A27DB-BD31-4B8C-83A1-F6EECF244321}">
                <p14:modId xmlns:p14="http://schemas.microsoft.com/office/powerpoint/2010/main" val="1304901933"/>
              </p:ext>
            </p:extLst>
          </p:nvPr>
        </p:nvGraphicFramePr>
        <p:xfrm>
          <a:off x="2857982" y="6045716"/>
          <a:ext cx="4987925" cy="331788"/>
        </p:xfrm>
        <a:graphic>
          <a:graphicData uri="http://schemas.openxmlformats.org/presentationml/2006/ole">
            <mc:AlternateContent xmlns:mc="http://schemas.openxmlformats.org/markup-compatibility/2006">
              <mc:Choice xmlns:v="urn:schemas-microsoft-com:vml" Requires="v">
                <p:oleObj name="Equation" r:id="rId20" imgW="3429000" imgH="228600" progId="Equation.DSMT4">
                  <p:embed/>
                </p:oleObj>
              </mc:Choice>
              <mc:Fallback>
                <p:oleObj name="Equation" r:id="rId20" imgW="3429000" imgH="228600" progId="Equation.DSMT4">
                  <p:embed/>
                  <p:pic>
                    <p:nvPicPr>
                      <p:cNvPr id="58" name="Object 2">
                        <a:extLst>
                          <a:ext uri="{FF2B5EF4-FFF2-40B4-BE49-F238E27FC236}">
                            <a16:creationId xmlns:a16="http://schemas.microsoft.com/office/drawing/2014/main" id="{CB517C02-8322-4E46-9C56-5C4D3E3FFAC0}"/>
                          </a:ext>
                        </a:extLst>
                      </p:cNvPr>
                      <p:cNvPicPr>
                        <a:picLocks noChangeAspect="1" noChangeArrowheads="1"/>
                      </p:cNvPicPr>
                      <p:nvPr/>
                    </p:nvPicPr>
                    <p:blipFill>
                      <a:blip r:embed="rId21"/>
                      <a:srcRect/>
                      <a:stretch>
                        <a:fillRect/>
                      </a:stretch>
                    </p:blipFill>
                    <p:spPr bwMode="auto">
                      <a:xfrm>
                        <a:off x="2857982" y="6045716"/>
                        <a:ext cx="4987925"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6816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206319"/>
            <a:ext cx="8229600" cy="590349"/>
          </a:xfrm>
        </p:spPr>
        <p:txBody>
          <a:bodyPr/>
          <a:lstStyle/>
          <a:p>
            <a:r>
              <a:rPr lang="en-US" noProof="0" dirty="0"/>
              <a:t>Chapter 6 – Capacitors </a:t>
            </a:r>
            <a:r>
              <a:rPr lang="en-US" sz="2800" noProof="0" dirty="0"/>
              <a:t>(12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02291" y="1225226"/>
            <a:ext cx="3264274" cy="405683"/>
          </a:xfrm>
        </p:spPr>
        <p:txBody>
          <a:bodyPr wrap="square" lIns="0" tIns="18000" rIns="0" bIns="18000" anchor="ctr">
            <a:spAutoFit/>
          </a:bodyPr>
          <a:lstStyle/>
          <a:p>
            <a:pPr marL="342900" indent="-342900">
              <a:spcBef>
                <a:spcPts val="600"/>
              </a:spcBef>
            </a:pPr>
            <a:r>
              <a:rPr lang="en-US" sz="2400" noProof="0" dirty="0"/>
              <a:t>Example (continued)</a:t>
            </a:r>
          </a:p>
        </p:txBody>
      </p:sp>
      <p:pic>
        <p:nvPicPr>
          <p:cNvPr id="47" name="Picture 6" descr="A drawing shows a capacitor with a capacitance of 0.2 micro farads, and two terminals marked with positive and negative polarities. Its voltage is marked as v, while current i flows rightward in the direction of voltage drop.">
            <a:extLst>
              <a:ext uri="{FF2B5EF4-FFF2-40B4-BE49-F238E27FC236}">
                <a16:creationId xmlns:a16="http://schemas.microsoft.com/office/drawing/2014/main" id="{C1ABE1B9-6846-4CD6-BAE1-DA50E7093F57}"/>
              </a:ext>
            </a:extLst>
          </p:cNvPr>
          <p:cNvPicPr>
            <a:picLocks noChangeAspect="1" noChangeArrowheads="1"/>
          </p:cNvPicPr>
          <p:nvPr/>
        </p:nvPicPr>
        <p:blipFill>
          <a:blip r:embed="rId3"/>
          <a:stretch>
            <a:fillRect/>
          </a:stretch>
        </p:blipFill>
        <p:spPr bwMode="auto">
          <a:xfrm>
            <a:off x="2016212" y="1864993"/>
            <a:ext cx="1626590" cy="698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850529" y="2712236"/>
            <a:ext cx="550248" cy="405683"/>
          </a:xfrm>
        </p:spPr>
        <p:txBody>
          <a:bodyPr wrap="square" lIns="0" tIns="18000" rIns="0" bIns="18000" anchor="ctr">
            <a:spAutoFit/>
          </a:bodyPr>
          <a:lstStyle/>
          <a:p>
            <a:pPr marL="0" indent="0">
              <a:spcBef>
                <a:spcPts val="600"/>
              </a:spcBef>
              <a:buNone/>
            </a:pPr>
            <a:r>
              <a:rPr lang="en-US" sz="2400" noProof="0" dirty="0"/>
              <a:t>For</a:t>
            </a:r>
          </a:p>
        </p:txBody>
      </p:sp>
      <p:graphicFrame>
        <p:nvGraphicFramePr>
          <p:cNvPr id="49" name="Object 2" descr="t greater than or equal to 40 microseconds:&#10;">
            <a:extLst>
              <a:ext uri="{FF2B5EF4-FFF2-40B4-BE49-F238E27FC236}">
                <a16:creationId xmlns:a16="http://schemas.microsoft.com/office/drawing/2014/main" id="{90B92EC5-F660-4D6E-B17A-0127A796E5A0}"/>
              </a:ext>
            </a:extLst>
          </p:cNvPr>
          <p:cNvGraphicFramePr>
            <a:graphicFrameLocks noChangeAspect="1"/>
          </p:cNvGraphicFramePr>
          <p:nvPr>
            <p:extLst>
              <p:ext uri="{D42A27DB-BD31-4B8C-83A1-F6EECF244321}">
                <p14:modId xmlns:p14="http://schemas.microsoft.com/office/powerpoint/2010/main" val="2180632016"/>
              </p:ext>
            </p:extLst>
          </p:nvPr>
        </p:nvGraphicFramePr>
        <p:xfrm>
          <a:off x="1445601" y="2850333"/>
          <a:ext cx="884711" cy="272996"/>
        </p:xfrm>
        <a:graphic>
          <a:graphicData uri="http://schemas.openxmlformats.org/presentationml/2006/ole">
            <mc:AlternateContent xmlns:mc="http://schemas.openxmlformats.org/markup-compatibility/2006">
              <mc:Choice xmlns:v="urn:schemas-microsoft-com:vml" Requires="v">
                <p:oleObj name="Equation" r:id="rId4" imgW="660240" imgH="203040" progId="Equation.DSMT4">
                  <p:embed/>
                </p:oleObj>
              </mc:Choice>
              <mc:Fallback>
                <p:oleObj name="Equation" r:id="rId4" imgW="660240" imgH="203040" progId="Equation.DSMT4">
                  <p:embed/>
                  <p:pic>
                    <p:nvPicPr>
                      <p:cNvPr id="7" name="Object 2">
                        <a:extLst>
                          <a:ext uri="{FF2B5EF4-FFF2-40B4-BE49-F238E27FC236}">
                            <a16:creationId xmlns:a16="http://schemas.microsoft.com/office/drawing/2014/main" id="{B7C332C9-67BE-1D19-9EFC-CA80EA9C6580}"/>
                          </a:ext>
                        </a:extLst>
                      </p:cNvPr>
                      <p:cNvPicPr>
                        <a:picLocks noChangeAspect="1" noChangeArrowheads="1"/>
                      </p:cNvPicPr>
                      <p:nvPr/>
                    </p:nvPicPr>
                    <p:blipFill>
                      <a:blip r:embed="rId5"/>
                      <a:srcRect/>
                      <a:stretch>
                        <a:fillRect/>
                      </a:stretch>
                    </p:blipFill>
                    <p:spPr bwMode="auto">
                      <a:xfrm>
                        <a:off x="1445601" y="2850333"/>
                        <a:ext cx="884711" cy="272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 name="Object 2" descr="v (t) equals StartFraction 1 over 0.2 mu EndFraction Integral lower limit 40 mu upper limit t baseline 0 d x plus v (40 mu) equals 10 Volts.&#10;">
            <a:extLst>
              <a:ext uri="{FF2B5EF4-FFF2-40B4-BE49-F238E27FC236}">
                <a16:creationId xmlns:a16="http://schemas.microsoft.com/office/drawing/2014/main" id="{21F5CCD0-F353-4B81-A6A3-23335BC9FE43}"/>
              </a:ext>
            </a:extLst>
          </p:cNvPr>
          <p:cNvGraphicFramePr>
            <a:graphicFrameLocks noChangeAspect="1"/>
          </p:cNvGraphicFramePr>
          <p:nvPr>
            <p:extLst>
              <p:ext uri="{D42A27DB-BD31-4B8C-83A1-F6EECF244321}">
                <p14:modId xmlns:p14="http://schemas.microsoft.com/office/powerpoint/2010/main" val="2163440866"/>
              </p:ext>
            </p:extLst>
          </p:nvPr>
        </p:nvGraphicFramePr>
        <p:xfrm>
          <a:off x="1570922" y="3189046"/>
          <a:ext cx="3217973" cy="671815"/>
        </p:xfrm>
        <a:graphic>
          <a:graphicData uri="http://schemas.openxmlformats.org/presentationml/2006/ole">
            <mc:AlternateContent xmlns:mc="http://schemas.openxmlformats.org/markup-compatibility/2006">
              <mc:Choice xmlns:v="urn:schemas-microsoft-com:vml" Requires="v">
                <p:oleObj name="Equation" r:id="rId6" imgW="2374560" imgH="495000" progId="Equation.DSMT4">
                  <p:embed/>
                </p:oleObj>
              </mc:Choice>
              <mc:Fallback>
                <p:oleObj name="Equation" r:id="rId6" imgW="2374560" imgH="495000" progId="Equation.DSMT4">
                  <p:embed/>
                  <p:pic>
                    <p:nvPicPr>
                      <p:cNvPr id="14" name="Object 2">
                        <a:extLst>
                          <a:ext uri="{FF2B5EF4-FFF2-40B4-BE49-F238E27FC236}">
                            <a16:creationId xmlns:a16="http://schemas.microsoft.com/office/drawing/2014/main" id="{CE70A27A-C900-4D97-AC2D-917161F41B67}"/>
                          </a:ext>
                        </a:extLst>
                      </p:cNvPr>
                      <p:cNvPicPr>
                        <a:picLocks noChangeAspect="1" noChangeArrowheads="1"/>
                      </p:cNvPicPr>
                      <p:nvPr/>
                    </p:nvPicPr>
                    <p:blipFill>
                      <a:blip r:embed="rId7"/>
                      <a:srcRect/>
                      <a:stretch>
                        <a:fillRect/>
                      </a:stretch>
                    </p:blipFill>
                    <p:spPr bwMode="auto">
                      <a:xfrm>
                        <a:off x="1570922" y="3189046"/>
                        <a:ext cx="3217973" cy="671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 name="Object 2" descr="p (t) equals v (t) multiplied by i (t) equals 0 Watt.&#10;">
            <a:extLst>
              <a:ext uri="{FF2B5EF4-FFF2-40B4-BE49-F238E27FC236}">
                <a16:creationId xmlns:a16="http://schemas.microsoft.com/office/drawing/2014/main" id="{E05C8845-85D1-400C-985F-9AED6EFD55A9}"/>
              </a:ext>
            </a:extLst>
          </p:cNvPr>
          <p:cNvGraphicFramePr>
            <a:graphicFrameLocks noChangeAspect="1"/>
          </p:cNvGraphicFramePr>
          <p:nvPr>
            <p:extLst>
              <p:ext uri="{D42A27DB-BD31-4B8C-83A1-F6EECF244321}">
                <p14:modId xmlns:p14="http://schemas.microsoft.com/office/powerpoint/2010/main" val="1380698182"/>
              </p:ext>
            </p:extLst>
          </p:nvPr>
        </p:nvGraphicFramePr>
        <p:xfrm>
          <a:off x="1552205" y="3907395"/>
          <a:ext cx="1803400" cy="273050"/>
        </p:xfrm>
        <a:graphic>
          <a:graphicData uri="http://schemas.openxmlformats.org/presentationml/2006/ole">
            <mc:AlternateContent xmlns:mc="http://schemas.openxmlformats.org/markup-compatibility/2006">
              <mc:Choice xmlns:v="urn:schemas-microsoft-com:vml" Requires="v">
                <p:oleObj name="Equation" r:id="rId8" imgW="1346040" imgH="203040" progId="Equation.DSMT4">
                  <p:embed/>
                </p:oleObj>
              </mc:Choice>
              <mc:Fallback>
                <p:oleObj name="Equation" r:id="rId8" imgW="1346040" imgH="203040" progId="Equation.DSMT4">
                  <p:embed/>
                  <p:pic>
                    <p:nvPicPr>
                      <p:cNvPr id="15" name="Object 2">
                        <a:extLst>
                          <a:ext uri="{FF2B5EF4-FFF2-40B4-BE49-F238E27FC236}">
                            <a16:creationId xmlns:a16="http://schemas.microsoft.com/office/drawing/2014/main" id="{ACE30497-D561-4C21-95BF-2AF9C0A5A333}"/>
                          </a:ext>
                        </a:extLst>
                      </p:cNvPr>
                      <p:cNvPicPr>
                        <a:picLocks noChangeAspect="1" noChangeArrowheads="1"/>
                      </p:cNvPicPr>
                      <p:nvPr/>
                    </p:nvPicPr>
                    <p:blipFill>
                      <a:blip r:embed="rId9"/>
                      <a:srcRect/>
                      <a:stretch>
                        <a:fillRect/>
                      </a:stretch>
                    </p:blipFill>
                    <p:spPr bwMode="auto">
                      <a:xfrm>
                        <a:off x="1552205" y="3907395"/>
                        <a:ext cx="18034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2" name="Object 2" descr="w (t) equals StartFraction 1 over 2 EndFraction (0.2 mu) (10) squared equals 10 microjoules exclamation mark.&#10;">
            <a:extLst>
              <a:ext uri="{FF2B5EF4-FFF2-40B4-BE49-F238E27FC236}">
                <a16:creationId xmlns:a16="http://schemas.microsoft.com/office/drawing/2014/main" id="{C022BAB9-8427-446A-84CD-BD6D2F65A461}"/>
              </a:ext>
            </a:extLst>
          </p:cNvPr>
          <p:cNvGraphicFramePr>
            <a:graphicFrameLocks noChangeAspect="1"/>
          </p:cNvGraphicFramePr>
          <p:nvPr>
            <p:extLst>
              <p:ext uri="{D42A27DB-BD31-4B8C-83A1-F6EECF244321}">
                <p14:modId xmlns:p14="http://schemas.microsoft.com/office/powerpoint/2010/main" val="662164569"/>
              </p:ext>
            </p:extLst>
          </p:nvPr>
        </p:nvGraphicFramePr>
        <p:xfrm>
          <a:off x="1553136" y="4241423"/>
          <a:ext cx="2481263" cy="325438"/>
        </p:xfrm>
        <a:graphic>
          <a:graphicData uri="http://schemas.openxmlformats.org/presentationml/2006/ole">
            <mc:AlternateContent xmlns:mc="http://schemas.openxmlformats.org/markup-compatibility/2006">
              <mc:Choice xmlns:v="urn:schemas-microsoft-com:vml" Requires="v">
                <p:oleObj name="Equation" r:id="rId10" imgW="1854000" imgH="241200" progId="Equation.DSMT4">
                  <p:embed/>
                </p:oleObj>
              </mc:Choice>
              <mc:Fallback>
                <p:oleObj name="Equation" r:id="rId10" imgW="1854000" imgH="241200" progId="Equation.DSMT4">
                  <p:embed/>
                  <p:pic>
                    <p:nvPicPr>
                      <p:cNvPr id="16" name="Object 2">
                        <a:extLst>
                          <a:ext uri="{FF2B5EF4-FFF2-40B4-BE49-F238E27FC236}">
                            <a16:creationId xmlns:a16="http://schemas.microsoft.com/office/drawing/2014/main" id="{42FC9239-AF05-4909-AB9A-0ADA1745A10B}"/>
                          </a:ext>
                        </a:extLst>
                      </p:cNvPr>
                      <p:cNvPicPr>
                        <a:picLocks noChangeAspect="1" noChangeArrowheads="1"/>
                      </p:cNvPicPr>
                      <p:nvPr/>
                    </p:nvPicPr>
                    <p:blipFill>
                      <a:blip r:embed="rId11"/>
                      <a:srcRect/>
                      <a:stretch>
                        <a:fillRect/>
                      </a:stretch>
                    </p:blipFill>
                    <p:spPr bwMode="auto">
                      <a:xfrm>
                        <a:off x="1553136" y="4241423"/>
                        <a:ext cx="2481263"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 name="Object 47" descr="The figure illustrates different values of i (t) for different values of t in a piecewise function.&#10;Long description is available in notes, press F6.">
            <a:extLst>
              <a:ext uri="{FF2B5EF4-FFF2-40B4-BE49-F238E27FC236}">
                <a16:creationId xmlns:a16="http://schemas.microsoft.com/office/drawing/2014/main" id="{652CDC78-8A27-4050-9AFD-5CBA9F99B2D8}"/>
              </a:ext>
            </a:extLst>
          </p:cNvPr>
          <p:cNvGraphicFramePr>
            <a:graphicFrameLocks noChangeAspect="1"/>
          </p:cNvGraphicFramePr>
          <p:nvPr>
            <p:extLst>
              <p:ext uri="{D42A27DB-BD31-4B8C-83A1-F6EECF244321}">
                <p14:modId xmlns:p14="http://schemas.microsoft.com/office/powerpoint/2010/main" val="1257344894"/>
              </p:ext>
            </p:extLst>
          </p:nvPr>
        </p:nvGraphicFramePr>
        <p:xfrm>
          <a:off x="4822257" y="1705691"/>
          <a:ext cx="3266625" cy="1211512"/>
        </p:xfrm>
        <a:graphic>
          <a:graphicData uri="http://schemas.openxmlformats.org/presentationml/2006/ole">
            <mc:AlternateContent xmlns:mc="http://schemas.openxmlformats.org/markup-compatibility/2006">
              <mc:Choice xmlns:v="urn:schemas-microsoft-com:vml" Requires="v">
                <p:oleObj name="Equation" r:id="rId12" imgW="2463480" imgH="914400" progId="Equation.DSMT4">
                  <p:embed/>
                </p:oleObj>
              </mc:Choice>
              <mc:Fallback>
                <p:oleObj name="Equation" r:id="rId12" imgW="2463480" imgH="914400" progId="Equation.DSMT4">
                  <p:embed/>
                  <p:pic>
                    <p:nvPicPr>
                      <p:cNvPr id="5" name="Object 4">
                        <a:extLst>
                          <a:ext uri="{FF2B5EF4-FFF2-40B4-BE49-F238E27FC236}">
                            <a16:creationId xmlns:a16="http://schemas.microsoft.com/office/drawing/2014/main" id="{E4D83CF5-B816-A9B8-81AA-B04A7A554BD0}"/>
                          </a:ext>
                        </a:extLst>
                      </p:cNvPr>
                      <p:cNvPicPr>
                        <a:picLocks noChangeAspect="1" noChangeArrowheads="1"/>
                      </p:cNvPicPr>
                      <p:nvPr/>
                    </p:nvPicPr>
                    <p:blipFill>
                      <a:blip r:embed="rId13"/>
                      <a:srcRect/>
                      <a:stretch>
                        <a:fillRect/>
                      </a:stretch>
                    </p:blipFill>
                    <p:spPr bwMode="auto">
                      <a:xfrm>
                        <a:off x="4822257" y="1705691"/>
                        <a:ext cx="3266625" cy="121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4710250"/>
            <a:ext cx="4573121" cy="405683"/>
          </a:xfrm>
        </p:spPr>
        <p:txBody>
          <a:bodyPr wrap="square" lIns="0" tIns="18000" rIns="0" bIns="18000" anchor="ctr">
            <a:spAutoFit/>
          </a:bodyPr>
          <a:lstStyle/>
          <a:p>
            <a:pPr marL="0" indent="0">
              <a:spcBef>
                <a:spcPts val="600"/>
              </a:spcBef>
              <a:buNone/>
            </a:pPr>
            <a:r>
              <a:rPr lang="en-US" sz="2400" noProof="0" dirty="0"/>
              <a:t>During the interval between 0 and</a:t>
            </a:r>
          </a:p>
        </p:txBody>
      </p:sp>
      <p:graphicFrame>
        <p:nvGraphicFramePr>
          <p:cNvPr id="53" name="Object 2" descr="40 micro seconds,">
            <a:extLst>
              <a:ext uri="{FF2B5EF4-FFF2-40B4-BE49-F238E27FC236}">
                <a16:creationId xmlns:a16="http://schemas.microsoft.com/office/drawing/2014/main" id="{BD98C1FE-21C9-4CB9-8D2E-B6863FA7A0AF}"/>
              </a:ext>
            </a:extLst>
          </p:cNvPr>
          <p:cNvGraphicFramePr>
            <a:graphicFrameLocks noChangeAspect="1"/>
          </p:cNvGraphicFramePr>
          <p:nvPr>
            <p:extLst>
              <p:ext uri="{D42A27DB-BD31-4B8C-83A1-F6EECF244321}">
                <p14:modId xmlns:p14="http://schemas.microsoft.com/office/powerpoint/2010/main" val="2106861400"/>
              </p:ext>
            </p:extLst>
          </p:nvPr>
        </p:nvGraphicFramePr>
        <p:xfrm>
          <a:off x="5090457" y="4790066"/>
          <a:ext cx="712138" cy="336505"/>
        </p:xfrm>
        <a:graphic>
          <a:graphicData uri="http://schemas.openxmlformats.org/presentationml/2006/ole">
            <mc:AlternateContent xmlns:mc="http://schemas.openxmlformats.org/markup-compatibility/2006">
              <mc:Choice xmlns:v="urn:schemas-microsoft-com:vml" Requires="v">
                <p:oleObj name="Equation" r:id="rId14" imgW="431640" imgH="203040" progId="Equation.DSMT4">
                  <p:embed/>
                </p:oleObj>
              </mc:Choice>
              <mc:Fallback>
                <p:oleObj name="Equation" r:id="rId14" imgW="431640" imgH="203040" progId="Equation.DSMT4">
                  <p:embed/>
                  <p:pic>
                    <p:nvPicPr>
                      <p:cNvPr id="17" name="Object 2">
                        <a:extLst>
                          <a:ext uri="{FF2B5EF4-FFF2-40B4-BE49-F238E27FC236}">
                            <a16:creationId xmlns:a16="http://schemas.microsoft.com/office/drawing/2014/main" id="{7ACB94FE-2D73-486D-97BB-6011085757C0}"/>
                          </a:ext>
                        </a:extLst>
                      </p:cNvPr>
                      <p:cNvPicPr>
                        <a:picLocks noChangeAspect="1" noChangeArrowheads="1"/>
                      </p:cNvPicPr>
                      <p:nvPr/>
                    </p:nvPicPr>
                    <p:blipFill>
                      <a:blip r:embed="rId15"/>
                      <a:srcRect/>
                      <a:stretch>
                        <a:fillRect/>
                      </a:stretch>
                    </p:blipFill>
                    <p:spPr bwMode="auto">
                      <a:xfrm>
                        <a:off x="5090457" y="4790066"/>
                        <a:ext cx="712138" cy="33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5852832" y="4727058"/>
            <a:ext cx="1704415" cy="405683"/>
          </a:xfrm>
        </p:spPr>
        <p:txBody>
          <a:bodyPr wrap="square" lIns="0" tIns="18000" rIns="0" bIns="18000" anchor="ctr">
            <a:spAutoFit/>
          </a:bodyPr>
          <a:lstStyle/>
          <a:p>
            <a:pPr marL="0" indent="0">
              <a:spcBef>
                <a:spcPts val="600"/>
              </a:spcBef>
              <a:buNone/>
            </a:pPr>
            <a:r>
              <a:rPr lang="en-US" sz="2400" noProof="0" dirty="0"/>
              <a:t>the power is</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38150" y="5136953"/>
            <a:ext cx="8141074" cy="1144347"/>
          </a:xfrm>
        </p:spPr>
        <p:txBody>
          <a:bodyPr wrap="square" lIns="0" tIns="18000" rIns="0" bIns="18000" anchor="ctr">
            <a:spAutoFit/>
          </a:bodyPr>
          <a:lstStyle/>
          <a:p>
            <a:pPr marL="0" indent="0">
              <a:spcBef>
                <a:spcPts val="600"/>
              </a:spcBef>
              <a:buNone/>
            </a:pPr>
            <a:r>
              <a:rPr lang="en-US" sz="2400" noProof="0" dirty="0"/>
              <a:t>positive (absorbed), energy is stored and “trapped” by the capacitor, so even when the current goes to 0, the voltage stays at 10 V and the energy is non-zero.</a:t>
            </a:r>
          </a:p>
        </p:txBody>
      </p:sp>
    </p:spTree>
    <p:extLst>
      <p:ext uri="{BB962C8B-B14F-4D97-AF65-F5344CB8AC3E}">
        <p14:creationId xmlns:p14="http://schemas.microsoft.com/office/powerpoint/2010/main" val="2805802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206319"/>
            <a:ext cx="8229600" cy="590349"/>
          </a:xfrm>
        </p:spPr>
        <p:txBody>
          <a:bodyPr/>
          <a:lstStyle/>
          <a:p>
            <a:r>
              <a:rPr lang="en-US" noProof="0" dirty="0"/>
              <a:t>Chapter 6 – Capacitors </a:t>
            </a:r>
            <a:r>
              <a:rPr lang="en-US" sz="2800" noProof="0" dirty="0"/>
              <a:t>(13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02291" y="1234190"/>
            <a:ext cx="3371850" cy="405683"/>
          </a:xfrm>
        </p:spPr>
        <p:txBody>
          <a:bodyPr wrap="square" lIns="0" tIns="18000" rIns="0" bIns="18000" anchor="ctr">
            <a:spAutoFit/>
          </a:bodyPr>
          <a:lstStyle/>
          <a:p>
            <a:pPr marL="342900" indent="-342900">
              <a:spcBef>
                <a:spcPts val="600"/>
              </a:spcBef>
            </a:pPr>
            <a:r>
              <a:rPr lang="en-US" sz="2400" noProof="0" dirty="0"/>
              <a:t>Example (continued)</a:t>
            </a:r>
          </a:p>
        </p:txBody>
      </p:sp>
      <p:pic>
        <p:nvPicPr>
          <p:cNvPr id="5" name="Picture 4" descr="The graphs in the image are as follows.&#10;The X-axis plots time, t in microseconds, ranging from 0 to 60 in increments of 10, while the y-axis plots current, i in microAmps, ranging from 0 to 100 in increments of 50. The graph shows a line starting at the origin, which moves in a steep upward sloping line to reach a peak value at (20, 100), and then moves in a downward sloping line to reach x=40, and continues on the x-axis up to x=60.&#10;The X-axis plots time, t in microseconds, ranging from 0 to 60 in increments of 10, while the y-axis plots voltage, v in volts, ranging from 0 to 10 in increments of 5. The graph shows a line starting at the origin, which moves in an upward slope to reach a plateau at (40, 10), and then continues to run parallel to the x-axis.&#10;">
            <a:extLst>
              <a:ext uri="{FF2B5EF4-FFF2-40B4-BE49-F238E27FC236}">
                <a16:creationId xmlns:a16="http://schemas.microsoft.com/office/drawing/2014/main" id="{A752FA59-BB9E-33AB-B762-FF4768B958F1}"/>
              </a:ext>
            </a:extLst>
          </p:cNvPr>
          <p:cNvPicPr>
            <a:picLocks noChangeAspect="1"/>
          </p:cNvPicPr>
          <p:nvPr/>
        </p:nvPicPr>
        <p:blipFill rotWithShape="1">
          <a:blip r:embed="rId2"/>
          <a:srcRect b="51990"/>
          <a:stretch/>
        </p:blipFill>
        <p:spPr>
          <a:xfrm>
            <a:off x="515493" y="1871256"/>
            <a:ext cx="3648596" cy="3381386"/>
          </a:xfrm>
          <a:prstGeom prst="rect">
            <a:avLst/>
          </a:prstGeom>
        </p:spPr>
      </p:pic>
      <p:pic>
        <p:nvPicPr>
          <p:cNvPr id="9" name="Picture 8" descr="The graphs in the image are as follows.&#10;&#10;The X-axis plots time, t in microseconds, ranging from 0 to 60 in increments of 10, while the y-axis plots power, p in milliWatts, ranging from 0 to 500 in increments of 100. The graph shows a line starting at the origin, which moves in an upward slope to reach a peak at (25, 550), and then moves with a downward slope to reach the x-axis at x=40, and continues on the x-axis up to x=60. &#10;The X-axis plots time, t in microseconds, ranging from 0 to 60 in increments of 10, while the y-axis plots energy, w in microJoule, ranging from 0 to 10 in increments of 2. The graph shows a line starting at the origin, which moves in an upward slope to reach a plateau at (40, 10), and continues to run parallel to the x-axis.&#10;">
            <a:extLst>
              <a:ext uri="{FF2B5EF4-FFF2-40B4-BE49-F238E27FC236}">
                <a16:creationId xmlns:a16="http://schemas.microsoft.com/office/drawing/2014/main" id="{F0C11D07-8875-BDCA-588A-A33BBBEF2E31}"/>
              </a:ext>
            </a:extLst>
          </p:cNvPr>
          <p:cNvPicPr>
            <a:picLocks noChangeAspect="1"/>
          </p:cNvPicPr>
          <p:nvPr/>
        </p:nvPicPr>
        <p:blipFill rotWithShape="1">
          <a:blip r:embed="rId2"/>
          <a:srcRect t="46873"/>
          <a:stretch/>
        </p:blipFill>
        <p:spPr>
          <a:xfrm>
            <a:off x="4820477" y="1886276"/>
            <a:ext cx="3142718" cy="3222967"/>
          </a:xfrm>
          <a:prstGeom prst="rect">
            <a:avLst/>
          </a:prstGeom>
        </p:spPr>
      </p:pic>
    </p:spTree>
    <p:extLst>
      <p:ext uri="{BB962C8B-B14F-4D97-AF65-F5344CB8AC3E}">
        <p14:creationId xmlns:p14="http://schemas.microsoft.com/office/powerpoint/2010/main" val="202739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206319"/>
            <a:ext cx="8229600" cy="590349"/>
          </a:xfrm>
        </p:spPr>
        <p:txBody>
          <a:bodyPr/>
          <a:lstStyle/>
          <a:p>
            <a:r>
              <a:rPr lang="en-US" noProof="0" dirty="0"/>
              <a:t>Chapter 6 – Capacitors </a:t>
            </a:r>
            <a:r>
              <a:rPr lang="en-US" sz="2800" noProof="0" dirty="0"/>
              <a:t>(14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11255" y="1234188"/>
            <a:ext cx="2798109" cy="405683"/>
          </a:xfrm>
        </p:spPr>
        <p:txBody>
          <a:bodyPr wrap="square" lIns="0" tIns="18000" rIns="0" bIns="18000" anchor="ctr">
            <a:spAutoFit/>
          </a:bodyPr>
          <a:lstStyle/>
          <a:p>
            <a:pPr marL="0" indent="0">
              <a:spcBef>
                <a:spcPts val="600"/>
              </a:spcBef>
              <a:buNone/>
            </a:pPr>
            <a:r>
              <a:rPr lang="en-US" sz="2400" noProof="0" dirty="0"/>
              <a:t>Capacitors in series</a:t>
            </a:r>
          </a:p>
        </p:txBody>
      </p:sp>
      <p:pic>
        <p:nvPicPr>
          <p:cNvPr id="3" name="Picture 2" descr="A rectangular circuit shows two vertical cross wires connecting two pairs of nodes on the top and bottom wires. Three capacitors are located on the left cross wire, right cross wire, and right wire, with respective capacitances marked as C1, C2, and Cn. The left wire is removed and the two open terminals marked on the top and bottom wires show voltage drop of v. Current i flows through the top wire from left to right.">
            <a:extLst>
              <a:ext uri="{FF2B5EF4-FFF2-40B4-BE49-F238E27FC236}">
                <a16:creationId xmlns:a16="http://schemas.microsoft.com/office/drawing/2014/main" id="{160D8792-8099-B6B8-4421-C0C2437F92D7}"/>
              </a:ext>
            </a:extLst>
          </p:cNvPr>
          <p:cNvPicPr>
            <a:picLocks noChangeAspect="1"/>
          </p:cNvPicPr>
          <p:nvPr/>
        </p:nvPicPr>
        <p:blipFill>
          <a:blip r:embed="rId3"/>
          <a:stretch/>
        </p:blipFill>
        <p:spPr>
          <a:xfrm>
            <a:off x="2903686" y="1845459"/>
            <a:ext cx="3244739" cy="1369564"/>
          </a:xfrm>
          <a:prstGeom prst="rect">
            <a:avLst/>
          </a:prstGeom>
        </p:spPr>
      </p:pic>
      <p:graphicFrame>
        <p:nvGraphicFramePr>
          <p:cNvPr id="54" name="Object 2" descr="The image illustrates Kirchhoff's Current Law.&#10;Long description is available in notes, press F6.">
            <a:extLst>
              <a:ext uri="{FF2B5EF4-FFF2-40B4-BE49-F238E27FC236}">
                <a16:creationId xmlns:a16="http://schemas.microsoft.com/office/drawing/2014/main" id="{2D32C81B-EDB1-49A2-876A-2731E2E17120}"/>
              </a:ext>
            </a:extLst>
          </p:cNvPr>
          <p:cNvGraphicFramePr>
            <a:graphicFrameLocks noChangeAspect="1"/>
          </p:cNvGraphicFramePr>
          <p:nvPr/>
        </p:nvGraphicFramePr>
        <p:xfrm>
          <a:off x="2200275" y="3459903"/>
          <a:ext cx="5067300" cy="652462"/>
        </p:xfrm>
        <a:graphic>
          <a:graphicData uri="http://schemas.openxmlformats.org/presentationml/2006/ole">
            <mc:AlternateContent xmlns:mc="http://schemas.openxmlformats.org/markup-compatibility/2006">
              <mc:Choice xmlns:v="urn:schemas-microsoft-com:vml" Requires="v">
                <p:oleObj name="Equation" r:id="rId4" imgW="3060360" imgH="393480" progId="Equation.DSMT4">
                  <p:embed/>
                </p:oleObj>
              </mc:Choice>
              <mc:Fallback>
                <p:oleObj name="Equation" r:id="rId4" imgW="3060360" imgH="393480" progId="Equation.DSMT4">
                  <p:embed/>
                  <p:pic>
                    <p:nvPicPr>
                      <p:cNvPr id="54" name="Object 2" descr="The image illustrates Kirchhoff's Current Law.&#10;Long description is available in notes, press F6.">
                        <a:extLst>
                          <a:ext uri="{FF2B5EF4-FFF2-40B4-BE49-F238E27FC236}">
                            <a16:creationId xmlns:a16="http://schemas.microsoft.com/office/drawing/2014/main" id="{2D32C81B-EDB1-49A2-876A-2731E2E17120}"/>
                          </a:ext>
                        </a:extLst>
                      </p:cNvPr>
                      <p:cNvPicPr>
                        <a:picLocks noChangeAspect="1" noChangeArrowheads="1"/>
                      </p:cNvPicPr>
                      <p:nvPr/>
                    </p:nvPicPr>
                    <p:blipFill>
                      <a:blip r:embed="rId5"/>
                      <a:srcRect/>
                      <a:stretch>
                        <a:fillRect/>
                      </a:stretch>
                    </p:blipFill>
                    <p:spPr bwMode="auto">
                      <a:xfrm>
                        <a:off x="2200275" y="3459903"/>
                        <a:ext cx="5067300"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 name="Object 2" descr="equals OpenParenthesis C subscript 1 baseline plus C subscript 2 baseline plus C subscript 3 CloseParenthesis StartFraction d v over d t EndFraction equals C subscript e q baseline StartFraction d v over d t EndFraction.&#10;">
            <a:extLst>
              <a:ext uri="{FF2B5EF4-FFF2-40B4-BE49-F238E27FC236}">
                <a16:creationId xmlns:a16="http://schemas.microsoft.com/office/drawing/2014/main" id="{D0AB84DC-8E38-4EAD-923D-6FF1827A0A87}"/>
              </a:ext>
            </a:extLst>
          </p:cNvPr>
          <p:cNvGraphicFramePr>
            <a:graphicFrameLocks noChangeAspect="1"/>
          </p:cNvGraphicFramePr>
          <p:nvPr/>
        </p:nvGraphicFramePr>
        <p:xfrm>
          <a:off x="3398186" y="4213500"/>
          <a:ext cx="3048000" cy="652462"/>
        </p:xfrm>
        <a:graphic>
          <a:graphicData uri="http://schemas.openxmlformats.org/presentationml/2006/ole">
            <mc:AlternateContent xmlns:mc="http://schemas.openxmlformats.org/markup-compatibility/2006">
              <mc:Choice xmlns:v="urn:schemas-microsoft-com:vml" Requires="v">
                <p:oleObj name="Equation" r:id="rId6" imgW="1841400" imgH="393480" progId="Equation.DSMT4">
                  <p:embed/>
                </p:oleObj>
              </mc:Choice>
              <mc:Fallback>
                <p:oleObj name="Equation" r:id="rId6" imgW="1841400" imgH="393480" progId="Equation.DSMT4">
                  <p:embed/>
                  <p:pic>
                    <p:nvPicPr>
                      <p:cNvPr id="55" name="Object 2" descr="equals OpenParenthesis C subscript 1 baseline plus C subscript 2 baseline plus C subscript 3 CloseParenthesis StartFraction d v over d t EndFraction equals C subscript e q baseline StartFraction d v over d t EndFraction.&#10;">
                        <a:extLst>
                          <a:ext uri="{FF2B5EF4-FFF2-40B4-BE49-F238E27FC236}">
                            <a16:creationId xmlns:a16="http://schemas.microsoft.com/office/drawing/2014/main" id="{D0AB84DC-8E38-4EAD-923D-6FF1827A0A87}"/>
                          </a:ext>
                        </a:extLst>
                      </p:cNvPr>
                      <p:cNvPicPr>
                        <a:picLocks noChangeAspect="1" noChangeArrowheads="1"/>
                      </p:cNvPicPr>
                      <p:nvPr/>
                    </p:nvPicPr>
                    <p:blipFill>
                      <a:blip r:embed="rId7"/>
                      <a:srcRect/>
                      <a:stretch>
                        <a:fillRect/>
                      </a:stretch>
                    </p:blipFill>
                    <p:spPr bwMode="auto">
                      <a:xfrm>
                        <a:off x="3398186" y="4213500"/>
                        <a:ext cx="3048000"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2938403" y="5121298"/>
            <a:ext cx="3803959" cy="500231"/>
          </a:xfrm>
          <a:ln w="28575">
            <a:solidFill>
              <a:srgbClr val="007FA3"/>
            </a:solidFill>
          </a:ln>
        </p:spPr>
        <p:txBody>
          <a:bodyPr wrap="square" lIns="54000" tIns="18000" rIns="54000" bIns="18000" anchor="ctr">
            <a:spAutoFit/>
          </a:bodyPr>
          <a:lstStyle/>
          <a:p>
            <a:pPr marL="0" indent="0">
              <a:spcBef>
                <a:spcPts val="600"/>
              </a:spcBef>
              <a:buNone/>
            </a:pPr>
            <a:r>
              <a:rPr lang="en-US" sz="2400" noProof="0" dirty="0"/>
              <a:t>Capacitors in parallel </a:t>
            </a:r>
            <a:r>
              <a:rPr lang="en-US" sz="2400" spc="-300" noProof="0" dirty="0"/>
              <a:t>A D </a:t>
            </a:r>
            <a:r>
              <a:rPr lang="en-US" sz="2400" noProof="0" dirty="0" err="1"/>
              <a:t>D</a:t>
            </a:r>
            <a:r>
              <a:rPr lang="en-US" sz="2400" noProof="0" dirty="0"/>
              <a:t>.</a:t>
            </a:r>
          </a:p>
        </p:txBody>
      </p:sp>
    </p:spTree>
    <p:extLst>
      <p:ext uri="{BB962C8B-B14F-4D97-AF65-F5344CB8AC3E}">
        <p14:creationId xmlns:p14="http://schemas.microsoft.com/office/powerpoint/2010/main" val="3397273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206319"/>
            <a:ext cx="8229600" cy="590349"/>
          </a:xfrm>
        </p:spPr>
        <p:txBody>
          <a:bodyPr/>
          <a:lstStyle/>
          <a:p>
            <a:r>
              <a:rPr lang="en-US" noProof="0" dirty="0"/>
              <a:t>Chapter 6 – Capacitors </a:t>
            </a:r>
            <a:r>
              <a:rPr lang="en-US" sz="2800" noProof="0" dirty="0"/>
              <a:t>(15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11256" y="1234188"/>
            <a:ext cx="2887756" cy="405683"/>
          </a:xfrm>
        </p:spPr>
        <p:txBody>
          <a:bodyPr wrap="square" lIns="0" tIns="18000" rIns="0" bIns="18000" anchor="ctr">
            <a:spAutoFit/>
          </a:bodyPr>
          <a:lstStyle/>
          <a:p>
            <a:pPr marL="0" indent="0">
              <a:spcBef>
                <a:spcPts val="600"/>
              </a:spcBef>
              <a:buNone/>
            </a:pPr>
            <a:r>
              <a:rPr lang="en-US" sz="2400" noProof="0" dirty="0"/>
              <a:t>Capacitors in parallel</a:t>
            </a:r>
          </a:p>
        </p:txBody>
      </p:sp>
      <p:pic>
        <p:nvPicPr>
          <p:cNvPr id="3" name="Picture 2" descr="A rectangular circuit shows two vertical cross wires connecting two pairs of nodes on the top and bottom wires. Three capacitors are located on the left cross wire, right cross wire, and right wire, with respective capacitances marked as C1, C2, and Cn. The left wire is removed and the two open terminals marked on the top and bottom wires show voltage drop of v. Current i flows through the top wire from left to right.">
            <a:extLst>
              <a:ext uri="{FF2B5EF4-FFF2-40B4-BE49-F238E27FC236}">
                <a16:creationId xmlns:a16="http://schemas.microsoft.com/office/drawing/2014/main" id="{2C02CCD5-2D80-D6C5-4AF0-351068F49E9A}"/>
              </a:ext>
            </a:extLst>
          </p:cNvPr>
          <p:cNvPicPr>
            <a:picLocks noChangeAspect="1"/>
          </p:cNvPicPr>
          <p:nvPr/>
        </p:nvPicPr>
        <p:blipFill rotWithShape="1">
          <a:blip r:embed="rId3"/>
          <a:srcRect b="50000"/>
          <a:stretch/>
        </p:blipFill>
        <p:spPr>
          <a:xfrm>
            <a:off x="508909" y="1916612"/>
            <a:ext cx="2478423" cy="2834639"/>
          </a:xfrm>
          <a:prstGeom prst="rect">
            <a:avLst/>
          </a:prstGeom>
        </p:spPr>
      </p:pic>
      <p:graphicFrame>
        <p:nvGraphicFramePr>
          <p:cNvPr id="54" name="Object 2" descr="The image illustrates Kirchhoff's Voltage Law.&#10;Long description 1 is available in notes, press F6.">
            <a:extLst>
              <a:ext uri="{FF2B5EF4-FFF2-40B4-BE49-F238E27FC236}">
                <a16:creationId xmlns:a16="http://schemas.microsoft.com/office/drawing/2014/main" id="{ED9E2557-DCB4-43AB-83D6-6CEB83B6A8EA}"/>
              </a:ext>
            </a:extLst>
          </p:cNvPr>
          <p:cNvGraphicFramePr>
            <a:graphicFrameLocks noChangeAspect="1"/>
          </p:cNvGraphicFramePr>
          <p:nvPr>
            <p:extLst>
              <p:ext uri="{D42A27DB-BD31-4B8C-83A1-F6EECF244321}">
                <p14:modId xmlns:p14="http://schemas.microsoft.com/office/powerpoint/2010/main" val="2463294257"/>
              </p:ext>
            </p:extLst>
          </p:nvPr>
        </p:nvGraphicFramePr>
        <p:xfrm>
          <a:off x="3584575" y="1707491"/>
          <a:ext cx="3703638" cy="588962"/>
        </p:xfrm>
        <a:graphic>
          <a:graphicData uri="http://schemas.openxmlformats.org/presentationml/2006/ole">
            <mc:AlternateContent xmlns:mc="http://schemas.openxmlformats.org/markup-compatibility/2006">
              <mc:Choice xmlns:v="urn:schemas-microsoft-com:vml" Requires="v">
                <p:oleObj name="Equation" r:id="rId4" imgW="2793960" imgH="444240" progId="Equation.DSMT4">
                  <p:embed/>
                </p:oleObj>
              </mc:Choice>
              <mc:Fallback>
                <p:oleObj name="Equation" r:id="rId4" imgW="2793960" imgH="444240" progId="Equation.DSMT4">
                  <p:embed/>
                  <p:pic>
                    <p:nvPicPr>
                      <p:cNvPr id="5" name="Object 2">
                        <a:extLst>
                          <a:ext uri="{FF2B5EF4-FFF2-40B4-BE49-F238E27FC236}">
                            <a16:creationId xmlns:a16="http://schemas.microsoft.com/office/drawing/2014/main" id="{124988B9-37AF-53EF-88E1-837F77DFF7D6}"/>
                          </a:ext>
                        </a:extLst>
                      </p:cNvPr>
                      <p:cNvPicPr>
                        <a:picLocks noChangeAspect="1" noChangeArrowheads="1"/>
                      </p:cNvPicPr>
                      <p:nvPr/>
                    </p:nvPicPr>
                    <p:blipFill>
                      <a:blip r:embed="rId5"/>
                      <a:srcRect/>
                      <a:stretch>
                        <a:fillRect/>
                      </a:stretch>
                    </p:blipFill>
                    <p:spPr bwMode="auto">
                      <a:xfrm>
                        <a:off x="3584575" y="1707491"/>
                        <a:ext cx="3703638"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 name="Object 2" descr="positive StartFraction 1 over C subscript 2 EndFraction multiplied by Integral lower limit t subscript 0 upper limit t baseline i (tau) d tau plus v subscript 2 baseline multiplied by (t subscript 0).&#10;">
            <a:extLst>
              <a:ext uri="{FF2B5EF4-FFF2-40B4-BE49-F238E27FC236}">
                <a16:creationId xmlns:a16="http://schemas.microsoft.com/office/drawing/2014/main" id="{671C646E-00E7-40BA-B4CA-20EC03B62C21}"/>
              </a:ext>
            </a:extLst>
          </p:cNvPr>
          <p:cNvGraphicFramePr>
            <a:graphicFrameLocks noChangeAspect="1"/>
          </p:cNvGraphicFramePr>
          <p:nvPr>
            <p:extLst>
              <p:ext uri="{D42A27DB-BD31-4B8C-83A1-F6EECF244321}">
                <p14:modId xmlns:p14="http://schemas.microsoft.com/office/powerpoint/2010/main" val="422666251"/>
              </p:ext>
            </p:extLst>
          </p:nvPr>
        </p:nvGraphicFramePr>
        <p:xfrm>
          <a:off x="4600760" y="2352671"/>
          <a:ext cx="1868488" cy="571500"/>
        </p:xfrm>
        <a:graphic>
          <a:graphicData uri="http://schemas.openxmlformats.org/presentationml/2006/ole">
            <mc:AlternateContent xmlns:mc="http://schemas.openxmlformats.org/markup-compatibility/2006">
              <mc:Choice xmlns:v="urn:schemas-microsoft-com:vml" Requires="v">
                <p:oleObj name="Equation" r:id="rId6" imgW="1409400" imgH="431640" progId="Equation.DSMT4">
                  <p:embed/>
                </p:oleObj>
              </mc:Choice>
              <mc:Fallback>
                <p:oleObj name="Equation" r:id="rId6" imgW="1409400" imgH="431640" progId="Equation.DSMT4">
                  <p:embed/>
                  <p:pic>
                    <p:nvPicPr>
                      <p:cNvPr id="7" name="Object 2">
                        <a:extLst>
                          <a:ext uri="{FF2B5EF4-FFF2-40B4-BE49-F238E27FC236}">
                            <a16:creationId xmlns:a16="http://schemas.microsoft.com/office/drawing/2014/main" id="{523D484C-FDEC-4CCE-82B8-3166215D0DDC}"/>
                          </a:ext>
                        </a:extLst>
                      </p:cNvPr>
                      <p:cNvPicPr>
                        <a:picLocks noChangeAspect="1" noChangeArrowheads="1"/>
                      </p:cNvPicPr>
                      <p:nvPr/>
                    </p:nvPicPr>
                    <p:blipFill>
                      <a:blip r:embed="rId7"/>
                      <a:srcRect/>
                      <a:stretch>
                        <a:fillRect/>
                      </a:stretch>
                    </p:blipFill>
                    <p:spPr bwMode="auto">
                      <a:xfrm>
                        <a:off x="4600760" y="2352671"/>
                        <a:ext cx="18684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 name="Object 2" descr="plus StartFraction 1 over C subscript 3 EndFraction Integral lower limit t subscript 0 upper limit t baseline i (tau) d tau plus v subscript 3 baseline (t subscript 0).&#10;">
            <a:extLst>
              <a:ext uri="{FF2B5EF4-FFF2-40B4-BE49-F238E27FC236}">
                <a16:creationId xmlns:a16="http://schemas.microsoft.com/office/drawing/2014/main" id="{434110B7-F203-46E0-B6CB-45329A18B0FE}"/>
              </a:ext>
            </a:extLst>
          </p:cNvPr>
          <p:cNvGraphicFramePr>
            <a:graphicFrameLocks noChangeAspect="1"/>
          </p:cNvGraphicFramePr>
          <p:nvPr>
            <p:extLst>
              <p:ext uri="{D42A27DB-BD31-4B8C-83A1-F6EECF244321}">
                <p14:modId xmlns:p14="http://schemas.microsoft.com/office/powerpoint/2010/main" val="239655777"/>
              </p:ext>
            </p:extLst>
          </p:nvPr>
        </p:nvGraphicFramePr>
        <p:xfrm>
          <a:off x="4600761" y="2998126"/>
          <a:ext cx="1868488" cy="571500"/>
        </p:xfrm>
        <a:graphic>
          <a:graphicData uri="http://schemas.openxmlformats.org/presentationml/2006/ole">
            <mc:AlternateContent xmlns:mc="http://schemas.openxmlformats.org/markup-compatibility/2006">
              <mc:Choice xmlns:v="urn:schemas-microsoft-com:vml" Requires="v">
                <p:oleObj name="Equation" r:id="rId8" imgW="1409400" imgH="431640" progId="Equation.DSMT4">
                  <p:embed/>
                </p:oleObj>
              </mc:Choice>
              <mc:Fallback>
                <p:oleObj name="Equation" r:id="rId8" imgW="1409400" imgH="431640" progId="Equation.DSMT4">
                  <p:embed/>
                  <p:pic>
                    <p:nvPicPr>
                      <p:cNvPr id="8" name="Object 2">
                        <a:extLst>
                          <a:ext uri="{FF2B5EF4-FFF2-40B4-BE49-F238E27FC236}">
                            <a16:creationId xmlns:a16="http://schemas.microsoft.com/office/drawing/2014/main" id="{3AB5B9E7-B787-4AF6-8AF0-1BE143CDB7B1}"/>
                          </a:ext>
                        </a:extLst>
                      </p:cNvPr>
                      <p:cNvPicPr>
                        <a:picLocks noChangeAspect="1" noChangeArrowheads="1"/>
                      </p:cNvPicPr>
                      <p:nvPr/>
                    </p:nvPicPr>
                    <p:blipFill>
                      <a:blip r:embed="rId9"/>
                      <a:srcRect/>
                      <a:stretch>
                        <a:fillRect/>
                      </a:stretch>
                    </p:blipFill>
                    <p:spPr bwMode="auto">
                      <a:xfrm>
                        <a:off x="4600761" y="2998126"/>
                        <a:ext cx="18684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 name="Object 2" descr="The image illustrates an expression.&#10;Long description 2 is available in notes, press F6.">
            <a:extLst>
              <a:ext uri="{FF2B5EF4-FFF2-40B4-BE49-F238E27FC236}">
                <a16:creationId xmlns:a16="http://schemas.microsoft.com/office/drawing/2014/main" id="{3EBBFDB2-3771-401A-B240-60F6E5E7EE82}"/>
              </a:ext>
            </a:extLst>
          </p:cNvPr>
          <p:cNvGraphicFramePr>
            <a:graphicFrameLocks noChangeAspect="1"/>
          </p:cNvGraphicFramePr>
          <p:nvPr>
            <p:extLst>
              <p:ext uri="{D42A27DB-BD31-4B8C-83A1-F6EECF244321}">
                <p14:modId xmlns:p14="http://schemas.microsoft.com/office/powerpoint/2010/main" val="788617120"/>
              </p:ext>
            </p:extLst>
          </p:nvPr>
        </p:nvGraphicFramePr>
        <p:xfrm>
          <a:off x="4595996" y="3610069"/>
          <a:ext cx="2271712" cy="639762"/>
        </p:xfrm>
        <a:graphic>
          <a:graphicData uri="http://schemas.openxmlformats.org/presentationml/2006/ole">
            <mc:AlternateContent xmlns:mc="http://schemas.openxmlformats.org/markup-compatibility/2006">
              <mc:Choice xmlns:v="urn:schemas-microsoft-com:vml" Requires="v">
                <p:oleObj name="Equation" r:id="rId10" imgW="1714320" imgH="482400" progId="Equation.DSMT4">
                  <p:embed/>
                </p:oleObj>
              </mc:Choice>
              <mc:Fallback>
                <p:oleObj name="Equation" r:id="rId10" imgW="1714320" imgH="482400" progId="Equation.DSMT4">
                  <p:embed/>
                  <p:pic>
                    <p:nvPicPr>
                      <p:cNvPr id="9" name="Object 2">
                        <a:extLst>
                          <a:ext uri="{FF2B5EF4-FFF2-40B4-BE49-F238E27FC236}">
                            <a16:creationId xmlns:a16="http://schemas.microsoft.com/office/drawing/2014/main" id="{A9D0C041-8485-4B7B-A9C9-6B18FC28716B}"/>
                          </a:ext>
                        </a:extLst>
                      </p:cNvPr>
                      <p:cNvPicPr>
                        <a:picLocks noChangeAspect="1" noChangeArrowheads="1"/>
                      </p:cNvPicPr>
                      <p:nvPr/>
                    </p:nvPicPr>
                    <p:blipFill>
                      <a:blip r:embed="rId11"/>
                      <a:srcRect/>
                      <a:stretch>
                        <a:fillRect/>
                      </a:stretch>
                    </p:blipFill>
                    <p:spPr bwMode="auto">
                      <a:xfrm>
                        <a:off x="4595996" y="3610069"/>
                        <a:ext cx="2271712"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 name="Object 2" descr="plus open square bracket v subscript 1 baseline (t subscript 0) plus v subscript 2 baseline (t subscript 0) plus v subscript 3 baseline (t subscript 0) close square bracket.&#10;">
            <a:extLst>
              <a:ext uri="{FF2B5EF4-FFF2-40B4-BE49-F238E27FC236}">
                <a16:creationId xmlns:a16="http://schemas.microsoft.com/office/drawing/2014/main" id="{9FDC9297-5037-49B0-8A0F-6C6FF0050D8A}"/>
              </a:ext>
            </a:extLst>
          </p:cNvPr>
          <p:cNvGraphicFramePr>
            <a:graphicFrameLocks noChangeAspect="1"/>
          </p:cNvGraphicFramePr>
          <p:nvPr>
            <p:extLst>
              <p:ext uri="{D42A27DB-BD31-4B8C-83A1-F6EECF244321}">
                <p14:modId xmlns:p14="http://schemas.microsoft.com/office/powerpoint/2010/main" val="1390843349"/>
              </p:ext>
            </p:extLst>
          </p:nvPr>
        </p:nvGraphicFramePr>
        <p:xfrm>
          <a:off x="4760539" y="4297548"/>
          <a:ext cx="2070100" cy="303212"/>
        </p:xfrm>
        <a:graphic>
          <a:graphicData uri="http://schemas.openxmlformats.org/presentationml/2006/ole">
            <mc:AlternateContent xmlns:mc="http://schemas.openxmlformats.org/markup-compatibility/2006">
              <mc:Choice xmlns:v="urn:schemas-microsoft-com:vml" Requires="v">
                <p:oleObj name="Equation" r:id="rId12" imgW="1562040" imgH="228600" progId="Equation.DSMT4">
                  <p:embed/>
                </p:oleObj>
              </mc:Choice>
              <mc:Fallback>
                <p:oleObj name="Equation" r:id="rId12" imgW="1562040" imgH="228600" progId="Equation.DSMT4">
                  <p:embed/>
                  <p:pic>
                    <p:nvPicPr>
                      <p:cNvPr id="10" name="Object 2">
                        <a:extLst>
                          <a:ext uri="{FF2B5EF4-FFF2-40B4-BE49-F238E27FC236}">
                            <a16:creationId xmlns:a16="http://schemas.microsoft.com/office/drawing/2014/main" id="{6B354415-F797-463A-9DB9-7A516FBE3DD9}"/>
                          </a:ext>
                        </a:extLst>
                      </p:cNvPr>
                      <p:cNvPicPr>
                        <a:picLocks noChangeAspect="1" noChangeArrowheads="1"/>
                      </p:cNvPicPr>
                      <p:nvPr/>
                    </p:nvPicPr>
                    <p:blipFill>
                      <a:blip r:embed="rId13"/>
                      <a:srcRect/>
                      <a:stretch>
                        <a:fillRect/>
                      </a:stretch>
                    </p:blipFill>
                    <p:spPr bwMode="auto">
                      <a:xfrm>
                        <a:off x="4760539" y="4297548"/>
                        <a:ext cx="20701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 name="Object 2" descr="equals StartFraction 1 over C subscript e q EndFraction Integral lower limit t subscript 0 upper limit t baseline i (tau) d tau plus v subscript e q baseline (t subscript 0).&#10;">
            <a:extLst>
              <a:ext uri="{FF2B5EF4-FFF2-40B4-BE49-F238E27FC236}">
                <a16:creationId xmlns:a16="http://schemas.microsoft.com/office/drawing/2014/main" id="{B6C2C62E-E5AD-46DE-8C9F-8A61FF7DFCA3}"/>
              </a:ext>
            </a:extLst>
          </p:cNvPr>
          <p:cNvGraphicFramePr>
            <a:graphicFrameLocks noChangeAspect="1"/>
          </p:cNvGraphicFramePr>
          <p:nvPr>
            <p:extLst>
              <p:ext uri="{D42A27DB-BD31-4B8C-83A1-F6EECF244321}">
                <p14:modId xmlns:p14="http://schemas.microsoft.com/office/powerpoint/2010/main" val="992944336"/>
              </p:ext>
            </p:extLst>
          </p:nvPr>
        </p:nvGraphicFramePr>
        <p:xfrm>
          <a:off x="4597960" y="4673878"/>
          <a:ext cx="2019300" cy="588962"/>
        </p:xfrm>
        <a:graphic>
          <a:graphicData uri="http://schemas.openxmlformats.org/presentationml/2006/ole">
            <mc:AlternateContent xmlns:mc="http://schemas.openxmlformats.org/markup-compatibility/2006">
              <mc:Choice xmlns:v="urn:schemas-microsoft-com:vml" Requires="v">
                <p:oleObj name="Equation" r:id="rId14" imgW="1523880" imgH="444240" progId="Equation.DSMT4">
                  <p:embed/>
                </p:oleObj>
              </mc:Choice>
              <mc:Fallback>
                <p:oleObj name="Equation" r:id="rId14" imgW="1523880" imgH="444240" progId="Equation.DSMT4">
                  <p:embed/>
                  <p:pic>
                    <p:nvPicPr>
                      <p:cNvPr id="11" name="Object 2">
                        <a:extLst>
                          <a:ext uri="{FF2B5EF4-FFF2-40B4-BE49-F238E27FC236}">
                            <a16:creationId xmlns:a16="http://schemas.microsoft.com/office/drawing/2014/main" id="{72D53650-9522-45C9-98E8-1ED15F24CF4C}"/>
                          </a:ext>
                        </a:extLst>
                      </p:cNvPr>
                      <p:cNvPicPr>
                        <a:picLocks noChangeAspect="1" noChangeArrowheads="1"/>
                      </p:cNvPicPr>
                      <p:nvPr/>
                    </p:nvPicPr>
                    <p:blipFill>
                      <a:blip r:embed="rId15"/>
                      <a:srcRect/>
                      <a:stretch>
                        <a:fillRect/>
                      </a:stretch>
                    </p:blipFill>
                    <p:spPr bwMode="auto">
                      <a:xfrm>
                        <a:off x="4597960" y="4673878"/>
                        <a:ext cx="2019300"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10440" y="5485932"/>
            <a:ext cx="8237538" cy="775015"/>
          </a:xfrm>
          <a:ln w="28575">
            <a:solidFill>
              <a:srgbClr val="007FA3"/>
            </a:solidFill>
          </a:ln>
        </p:spPr>
        <p:txBody>
          <a:bodyPr wrap="square" lIns="54000" tIns="18000" rIns="54000" bIns="18000" anchor="ctr">
            <a:spAutoFit/>
          </a:bodyPr>
          <a:lstStyle/>
          <a:p>
            <a:pPr marL="0" indent="0">
              <a:spcBef>
                <a:spcPts val="600"/>
              </a:spcBef>
              <a:buNone/>
            </a:pPr>
            <a:r>
              <a:rPr lang="en-US" sz="2400" b="1" noProof="0" dirty="0"/>
              <a:t>Capacitors combine in series like resistors or inductors combine in parallel.</a:t>
            </a:r>
          </a:p>
        </p:txBody>
      </p:sp>
    </p:spTree>
    <p:extLst>
      <p:ext uri="{BB962C8B-B14F-4D97-AF65-F5344CB8AC3E}">
        <p14:creationId xmlns:p14="http://schemas.microsoft.com/office/powerpoint/2010/main" val="3886761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206319"/>
            <a:ext cx="8229600" cy="590349"/>
          </a:xfrm>
        </p:spPr>
        <p:txBody>
          <a:bodyPr/>
          <a:lstStyle/>
          <a:p>
            <a:r>
              <a:rPr lang="en-US" noProof="0" dirty="0"/>
              <a:t>Chapter 6 – Capacitors </a:t>
            </a:r>
            <a:r>
              <a:rPr lang="en-US" sz="2800" noProof="0" dirty="0"/>
              <a:t>(16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02292" y="1234192"/>
            <a:ext cx="7137026" cy="405683"/>
          </a:xfrm>
        </p:spPr>
        <p:txBody>
          <a:bodyPr wrap="square" lIns="0" tIns="18000" rIns="0" bIns="18000" anchor="ctr">
            <a:spAutoFit/>
          </a:bodyPr>
          <a:lstStyle/>
          <a:p>
            <a:pPr marL="0" indent="0">
              <a:spcBef>
                <a:spcPts val="600"/>
              </a:spcBef>
              <a:buNone/>
            </a:pPr>
            <a:r>
              <a:rPr lang="en-US" sz="2400" noProof="0" dirty="0"/>
              <a:t>Find the equivalent capacitance for the circuit below,</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11256" y="1735090"/>
            <a:ext cx="1363756" cy="405683"/>
          </a:xfrm>
        </p:spPr>
        <p:txBody>
          <a:bodyPr wrap="square" lIns="0" tIns="18000" rIns="0" bIns="18000" anchor="ctr">
            <a:spAutoFit/>
          </a:bodyPr>
          <a:lstStyle/>
          <a:p>
            <a:pPr marL="0" indent="0">
              <a:spcBef>
                <a:spcPts val="600"/>
              </a:spcBef>
              <a:buNone/>
            </a:pPr>
            <a:r>
              <a:rPr lang="en-US" sz="2400" noProof="0" dirty="0"/>
              <a:t>assuming</a:t>
            </a:r>
          </a:p>
        </p:txBody>
      </p:sp>
      <p:graphicFrame>
        <p:nvGraphicFramePr>
          <p:cNvPr id="45" name="Object 44" descr="v subscript 1 baseline equals 12 Volts.&#10;">
            <a:extLst>
              <a:ext uri="{FF2B5EF4-FFF2-40B4-BE49-F238E27FC236}">
                <a16:creationId xmlns:a16="http://schemas.microsoft.com/office/drawing/2014/main" id="{80FACA36-4C35-448C-9F7D-7A7FE8088E47}"/>
              </a:ext>
            </a:extLst>
          </p:cNvPr>
          <p:cNvGraphicFramePr>
            <a:graphicFrameLocks noChangeAspect="1"/>
          </p:cNvGraphicFramePr>
          <p:nvPr>
            <p:extLst>
              <p:ext uri="{D42A27DB-BD31-4B8C-83A1-F6EECF244321}">
                <p14:modId xmlns:p14="http://schemas.microsoft.com/office/powerpoint/2010/main" val="1172636764"/>
              </p:ext>
            </p:extLst>
          </p:nvPr>
        </p:nvGraphicFramePr>
        <p:xfrm>
          <a:off x="1821734" y="1811323"/>
          <a:ext cx="1023499" cy="393069"/>
        </p:xfrm>
        <a:graphic>
          <a:graphicData uri="http://schemas.openxmlformats.org/presentationml/2006/ole">
            <mc:AlternateContent xmlns:mc="http://schemas.openxmlformats.org/markup-compatibility/2006">
              <mc:Choice xmlns:v="urn:schemas-microsoft-com:vml" Requires="v">
                <p:oleObj name="Equation" r:id="rId2" imgW="596880" imgH="228600" progId="Equation.DSMT4">
                  <p:embed/>
                </p:oleObj>
              </mc:Choice>
              <mc:Fallback>
                <p:oleObj name="Equation" r:id="rId2" imgW="596880" imgH="228600" progId="Equation.DSMT4">
                  <p:embed/>
                  <p:pic>
                    <p:nvPicPr>
                      <p:cNvPr id="20" name="Object 19">
                        <a:extLst>
                          <a:ext uri="{FF2B5EF4-FFF2-40B4-BE49-F238E27FC236}">
                            <a16:creationId xmlns:a16="http://schemas.microsoft.com/office/drawing/2014/main" id="{63E67F87-4EB5-43C8-BC21-0F62CCEE76A2}"/>
                          </a:ext>
                        </a:extLst>
                      </p:cNvPr>
                      <p:cNvPicPr>
                        <a:picLocks noChangeAspect="1" noChangeArrowheads="1"/>
                      </p:cNvPicPr>
                      <p:nvPr/>
                    </p:nvPicPr>
                    <p:blipFill>
                      <a:blip r:embed="rId3"/>
                      <a:srcRect/>
                      <a:stretch>
                        <a:fillRect/>
                      </a:stretch>
                    </p:blipFill>
                    <p:spPr bwMode="auto">
                      <a:xfrm>
                        <a:off x="1821734" y="1811323"/>
                        <a:ext cx="1023499" cy="393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2912409" y="1742934"/>
            <a:ext cx="556932" cy="405683"/>
          </a:xfrm>
        </p:spPr>
        <p:txBody>
          <a:bodyPr wrap="square" lIns="0" tIns="18000" rIns="0" bIns="18000" anchor="ctr">
            <a:spAutoFit/>
          </a:bodyPr>
          <a:lstStyle/>
          <a:p>
            <a:pPr marL="0" indent="0">
              <a:spcBef>
                <a:spcPts val="600"/>
              </a:spcBef>
              <a:buNone/>
            </a:pPr>
            <a:r>
              <a:rPr lang="en-US" altLang="en-US" sz="2400" noProof="0" dirty="0"/>
              <a:t>and</a:t>
            </a:r>
            <a:endParaRPr lang="en-US" sz="2400" noProof="0" dirty="0"/>
          </a:p>
        </p:txBody>
      </p:sp>
      <p:graphicFrame>
        <p:nvGraphicFramePr>
          <p:cNvPr id="46" name="Object 45" descr="v subscript 2 baseline equals negative 8 Volts.&#10;">
            <a:extLst>
              <a:ext uri="{FF2B5EF4-FFF2-40B4-BE49-F238E27FC236}">
                <a16:creationId xmlns:a16="http://schemas.microsoft.com/office/drawing/2014/main" id="{953C6BA3-EFC8-4151-95EF-EBADA136D740}"/>
              </a:ext>
            </a:extLst>
          </p:cNvPr>
          <p:cNvGraphicFramePr>
            <a:graphicFrameLocks noChangeAspect="1"/>
          </p:cNvGraphicFramePr>
          <p:nvPr>
            <p:extLst>
              <p:ext uri="{D42A27DB-BD31-4B8C-83A1-F6EECF244321}">
                <p14:modId xmlns:p14="http://schemas.microsoft.com/office/powerpoint/2010/main" val="3842298245"/>
              </p:ext>
            </p:extLst>
          </p:nvPr>
        </p:nvGraphicFramePr>
        <p:xfrm>
          <a:off x="3511925" y="1793500"/>
          <a:ext cx="1176338" cy="393700"/>
        </p:xfrm>
        <a:graphic>
          <a:graphicData uri="http://schemas.openxmlformats.org/presentationml/2006/ole">
            <mc:AlternateContent xmlns:mc="http://schemas.openxmlformats.org/markup-compatibility/2006">
              <mc:Choice xmlns:v="urn:schemas-microsoft-com:vml" Requires="v">
                <p:oleObj name="Equation" r:id="rId4" imgW="685800" imgH="228600" progId="Equation.DSMT4">
                  <p:embed/>
                </p:oleObj>
              </mc:Choice>
              <mc:Fallback>
                <p:oleObj name="Equation" r:id="rId4" imgW="685800" imgH="228600" progId="Equation.DSMT4">
                  <p:embed/>
                  <p:pic>
                    <p:nvPicPr>
                      <p:cNvPr id="21" name="Object 20">
                        <a:extLst>
                          <a:ext uri="{FF2B5EF4-FFF2-40B4-BE49-F238E27FC236}">
                            <a16:creationId xmlns:a16="http://schemas.microsoft.com/office/drawing/2014/main" id="{90E89888-8F0E-4253-94ED-649DE71B7F98}"/>
                          </a:ext>
                        </a:extLst>
                      </p:cNvPr>
                      <p:cNvPicPr>
                        <a:picLocks noChangeAspect="1" noChangeArrowheads="1"/>
                      </p:cNvPicPr>
                      <p:nvPr/>
                    </p:nvPicPr>
                    <p:blipFill>
                      <a:blip r:embed="rId5"/>
                      <a:srcRect/>
                      <a:stretch>
                        <a:fillRect/>
                      </a:stretch>
                    </p:blipFill>
                    <p:spPr bwMode="auto">
                      <a:xfrm>
                        <a:off x="3511925" y="1793500"/>
                        <a:ext cx="117633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7" name="Picture 2" descr="A circuit shows several capacitors in series on the right wire, marked from top to bottom as C1, C2 and so on to Cn, with respective initial voltages marked as v1 of t sub 0, v2 of t sub 0 and so on to vn of t sub 0. The left wire is removed and voltage drop across the two terminals on the top and bottom wires is marked as v. Current i flows through the top wire from left to right.">
            <a:extLst>
              <a:ext uri="{FF2B5EF4-FFF2-40B4-BE49-F238E27FC236}">
                <a16:creationId xmlns:a16="http://schemas.microsoft.com/office/drawing/2014/main" id="{130C7D45-0CDE-480A-BD17-937464EC7DF2}"/>
              </a:ext>
            </a:extLst>
          </p:cNvPr>
          <p:cNvPicPr>
            <a:picLocks noChangeAspect="1" noChangeArrowheads="1"/>
          </p:cNvPicPr>
          <p:nvPr/>
        </p:nvPicPr>
        <p:blipFill>
          <a:blip r:embed="rId6"/>
          <a:stretch>
            <a:fillRect/>
          </a:stretch>
        </p:blipFill>
        <p:spPr bwMode="auto">
          <a:xfrm>
            <a:off x="3105754" y="2351075"/>
            <a:ext cx="2911032" cy="190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630455" y="4637413"/>
            <a:ext cx="381059"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p>
        </p:txBody>
      </p:sp>
      <p:graphicFrame>
        <p:nvGraphicFramePr>
          <p:cNvPr id="51" name="Object 50" descr="C subscript e q baseline equals 4 microfarads comma v subscript e q baseline equals 4 Volts.&#10;">
            <a:extLst>
              <a:ext uri="{FF2B5EF4-FFF2-40B4-BE49-F238E27FC236}">
                <a16:creationId xmlns:a16="http://schemas.microsoft.com/office/drawing/2014/main" id="{228BDB5E-6870-4C80-AD90-8C79D575E35B}"/>
              </a:ext>
            </a:extLst>
          </p:cNvPr>
          <p:cNvGraphicFramePr>
            <a:graphicFrameLocks noChangeAspect="1"/>
          </p:cNvGraphicFramePr>
          <p:nvPr>
            <p:extLst>
              <p:ext uri="{D42A27DB-BD31-4B8C-83A1-F6EECF244321}">
                <p14:modId xmlns:p14="http://schemas.microsoft.com/office/powerpoint/2010/main" val="2955996770"/>
              </p:ext>
            </p:extLst>
          </p:nvPr>
        </p:nvGraphicFramePr>
        <p:xfrm>
          <a:off x="2069356" y="4686675"/>
          <a:ext cx="2481263" cy="415925"/>
        </p:xfrm>
        <a:graphic>
          <a:graphicData uri="http://schemas.openxmlformats.org/presentationml/2006/ole">
            <mc:AlternateContent xmlns:mc="http://schemas.openxmlformats.org/markup-compatibility/2006">
              <mc:Choice xmlns:v="urn:schemas-microsoft-com:vml" Requires="v">
                <p:oleObj name="Equation" r:id="rId7" imgW="1447560" imgH="241200" progId="Equation.DSMT4">
                  <p:embed/>
                </p:oleObj>
              </mc:Choice>
              <mc:Fallback>
                <p:oleObj name="Equation" r:id="rId7" imgW="1447560" imgH="241200" progId="Equation.DSMT4">
                  <p:embed/>
                  <p:pic>
                    <p:nvPicPr>
                      <p:cNvPr id="22" name="Object 21">
                        <a:extLst>
                          <a:ext uri="{FF2B5EF4-FFF2-40B4-BE49-F238E27FC236}">
                            <a16:creationId xmlns:a16="http://schemas.microsoft.com/office/drawing/2014/main" id="{C26D15EE-B707-4E83-9446-DB4EFB53960D}"/>
                          </a:ext>
                        </a:extLst>
                      </p:cNvPr>
                      <p:cNvPicPr>
                        <a:picLocks noChangeAspect="1" noChangeArrowheads="1"/>
                      </p:cNvPicPr>
                      <p:nvPr/>
                    </p:nvPicPr>
                    <p:blipFill>
                      <a:blip r:embed="rId8"/>
                      <a:srcRect/>
                      <a:stretch>
                        <a:fillRect/>
                      </a:stretch>
                    </p:blipFill>
                    <p:spPr bwMode="auto">
                      <a:xfrm>
                        <a:off x="2069356" y="4686675"/>
                        <a:ext cx="2481263"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621494" y="5183564"/>
            <a:ext cx="381059"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p>
        </p:txBody>
      </p:sp>
      <p:graphicFrame>
        <p:nvGraphicFramePr>
          <p:cNvPr id="52" name="Object 51" descr="C subscript eq baseline equals 9.5 microfarads comma v subscript e q baseline equals 4 Volts.&#10;">
            <a:extLst>
              <a:ext uri="{FF2B5EF4-FFF2-40B4-BE49-F238E27FC236}">
                <a16:creationId xmlns:a16="http://schemas.microsoft.com/office/drawing/2014/main" id="{1DC6AA6B-FE3D-4EEC-948C-4EA693869C0D}"/>
              </a:ext>
            </a:extLst>
          </p:cNvPr>
          <p:cNvGraphicFramePr>
            <a:graphicFrameLocks noChangeAspect="1"/>
          </p:cNvGraphicFramePr>
          <p:nvPr>
            <p:extLst>
              <p:ext uri="{D42A27DB-BD31-4B8C-83A1-F6EECF244321}">
                <p14:modId xmlns:p14="http://schemas.microsoft.com/office/powerpoint/2010/main" val="3245063794"/>
              </p:ext>
            </p:extLst>
          </p:nvPr>
        </p:nvGraphicFramePr>
        <p:xfrm>
          <a:off x="2113993" y="5189257"/>
          <a:ext cx="2698750" cy="415925"/>
        </p:xfrm>
        <a:graphic>
          <a:graphicData uri="http://schemas.openxmlformats.org/presentationml/2006/ole">
            <mc:AlternateContent xmlns:mc="http://schemas.openxmlformats.org/markup-compatibility/2006">
              <mc:Choice xmlns:v="urn:schemas-microsoft-com:vml" Requires="v">
                <p:oleObj name="Equation" r:id="rId9" imgW="1574640" imgH="241200" progId="Equation.DSMT4">
                  <p:embed/>
                </p:oleObj>
              </mc:Choice>
              <mc:Fallback>
                <p:oleObj name="Equation" r:id="rId9" imgW="1574640" imgH="241200" progId="Equation.DSMT4">
                  <p:embed/>
                  <p:pic>
                    <p:nvPicPr>
                      <p:cNvPr id="23" name="Object 22">
                        <a:extLst>
                          <a:ext uri="{FF2B5EF4-FFF2-40B4-BE49-F238E27FC236}">
                            <a16:creationId xmlns:a16="http://schemas.microsoft.com/office/drawing/2014/main" id="{492F9336-E73C-4D53-98A5-0FB0001BE0DF}"/>
                          </a:ext>
                        </a:extLst>
                      </p:cNvPr>
                      <p:cNvPicPr>
                        <a:picLocks noChangeAspect="1" noChangeArrowheads="1"/>
                      </p:cNvPicPr>
                      <p:nvPr/>
                    </p:nvPicPr>
                    <p:blipFill>
                      <a:blip r:embed="rId10"/>
                      <a:srcRect/>
                      <a:stretch>
                        <a:fillRect/>
                      </a:stretch>
                    </p:blipFill>
                    <p:spPr bwMode="auto">
                      <a:xfrm>
                        <a:off x="2113993" y="5189257"/>
                        <a:ext cx="26987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621494" y="5748105"/>
            <a:ext cx="381059"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p>
        </p:txBody>
      </p:sp>
      <p:graphicFrame>
        <p:nvGraphicFramePr>
          <p:cNvPr id="53" name="Object 52" descr="C subscript e q baseline equals 4 microfarads comma v subscript e q baseline equals 20 Volts.&#10;">
            <a:extLst>
              <a:ext uri="{FF2B5EF4-FFF2-40B4-BE49-F238E27FC236}">
                <a16:creationId xmlns:a16="http://schemas.microsoft.com/office/drawing/2014/main" id="{F5059551-C297-4D1D-88F8-BF4D1BB64201}"/>
              </a:ext>
            </a:extLst>
          </p:cNvPr>
          <p:cNvGraphicFramePr>
            <a:graphicFrameLocks noChangeAspect="1"/>
          </p:cNvGraphicFramePr>
          <p:nvPr>
            <p:extLst>
              <p:ext uri="{D42A27DB-BD31-4B8C-83A1-F6EECF244321}">
                <p14:modId xmlns:p14="http://schemas.microsoft.com/office/powerpoint/2010/main" val="335223909"/>
              </p:ext>
            </p:extLst>
          </p:nvPr>
        </p:nvGraphicFramePr>
        <p:xfrm>
          <a:off x="2102881" y="5763369"/>
          <a:ext cx="2632075" cy="415925"/>
        </p:xfrm>
        <a:graphic>
          <a:graphicData uri="http://schemas.openxmlformats.org/presentationml/2006/ole">
            <mc:AlternateContent xmlns:mc="http://schemas.openxmlformats.org/markup-compatibility/2006">
              <mc:Choice xmlns:v="urn:schemas-microsoft-com:vml" Requires="v">
                <p:oleObj name="Equation" r:id="rId11" imgW="1536480" imgH="241200" progId="Equation.DSMT4">
                  <p:embed/>
                </p:oleObj>
              </mc:Choice>
              <mc:Fallback>
                <p:oleObj name="Equation" r:id="rId11" imgW="1536480" imgH="241200" progId="Equation.DSMT4">
                  <p:embed/>
                  <p:pic>
                    <p:nvPicPr>
                      <p:cNvPr id="24" name="Object 23">
                        <a:extLst>
                          <a:ext uri="{FF2B5EF4-FFF2-40B4-BE49-F238E27FC236}">
                            <a16:creationId xmlns:a16="http://schemas.microsoft.com/office/drawing/2014/main" id="{FAC68DDF-2E37-47CA-BD7B-AD558487C265}"/>
                          </a:ext>
                        </a:extLst>
                      </p:cNvPr>
                      <p:cNvPicPr>
                        <a:picLocks noChangeAspect="1" noChangeArrowheads="1"/>
                      </p:cNvPicPr>
                      <p:nvPr/>
                    </p:nvPicPr>
                    <p:blipFill>
                      <a:blip r:embed="rId12"/>
                      <a:srcRect/>
                      <a:stretch>
                        <a:fillRect/>
                      </a:stretch>
                    </p:blipFill>
                    <p:spPr bwMode="auto">
                      <a:xfrm>
                        <a:off x="2102881" y="5763369"/>
                        <a:ext cx="26320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48686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206319"/>
            <a:ext cx="8229600" cy="590349"/>
          </a:xfrm>
        </p:spPr>
        <p:txBody>
          <a:bodyPr/>
          <a:lstStyle/>
          <a:p>
            <a:r>
              <a:rPr lang="en-US" noProof="0" dirty="0"/>
              <a:t>Chapter 6 – Capacitors </a:t>
            </a:r>
            <a:r>
              <a:rPr lang="en-US" sz="2800" noProof="0" dirty="0"/>
              <a:t>(16 of 16)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02292" y="1234192"/>
            <a:ext cx="7137026" cy="405683"/>
          </a:xfrm>
        </p:spPr>
        <p:txBody>
          <a:bodyPr wrap="square" lIns="0" tIns="18000" rIns="0" bIns="18000" anchor="ctr">
            <a:spAutoFit/>
          </a:bodyPr>
          <a:lstStyle/>
          <a:p>
            <a:pPr marL="0" indent="0">
              <a:spcBef>
                <a:spcPts val="600"/>
              </a:spcBef>
              <a:buNone/>
            </a:pPr>
            <a:r>
              <a:rPr lang="en-US" sz="2400" noProof="0" dirty="0"/>
              <a:t>Find the equivalent capacitance for the circuit below,</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11256" y="1735090"/>
            <a:ext cx="1363756" cy="405683"/>
          </a:xfrm>
        </p:spPr>
        <p:txBody>
          <a:bodyPr wrap="square" lIns="0" tIns="18000" rIns="0" bIns="18000" anchor="ctr">
            <a:spAutoFit/>
          </a:bodyPr>
          <a:lstStyle/>
          <a:p>
            <a:pPr marL="0" indent="0">
              <a:spcBef>
                <a:spcPts val="600"/>
              </a:spcBef>
              <a:buNone/>
            </a:pPr>
            <a:r>
              <a:rPr lang="en-US" sz="2400" noProof="0" dirty="0"/>
              <a:t>assuming</a:t>
            </a:r>
          </a:p>
        </p:txBody>
      </p:sp>
      <p:graphicFrame>
        <p:nvGraphicFramePr>
          <p:cNvPr id="45" name="Object 44" descr="v subscript 1 baseline equals 12 Volts.&#10;">
            <a:extLst>
              <a:ext uri="{FF2B5EF4-FFF2-40B4-BE49-F238E27FC236}">
                <a16:creationId xmlns:a16="http://schemas.microsoft.com/office/drawing/2014/main" id="{80FACA36-4C35-448C-9F7D-7A7FE8088E47}"/>
              </a:ext>
            </a:extLst>
          </p:cNvPr>
          <p:cNvGraphicFramePr>
            <a:graphicFrameLocks noChangeAspect="1"/>
          </p:cNvGraphicFramePr>
          <p:nvPr/>
        </p:nvGraphicFramePr>
        <p:xfrm>
          <a:off x="1821734" y="1811323"/>
          <a:ext cx="1023499" cy="393069"/>
        </p:xfrm>
        <a:graphic>
          <a:graphicData uri="http://schemas.openxmlformats.org/presentationml/2006/ole">
            <mc:AlternateContent xmlns:mc="http://schemas.openxmlformats.org/markup-compatibility/2006">
              <mc:Choice xmlns:v="urn:schemas-microsoft-com:vml" Requires="v">
                <p:oleObj name="Equation" r:id="rId2" imgW="596880" imgH="228600" progId="Equation.DSMT4">
                  <p:embed/>
                </p:oleObj>
              </mc:Choice>
              <mc:Fallback>
                <p:oleObj name="Equation" r:id="rId2" imgW="596880" imgH="228600" progId="Equation.DSMT4">
                  <p:embed/>
                  <p:pic>
                    <p:nvPicPr>
                      <p:cNvPr id="45" name="Object 44" descr="v subscript 1 baseline equals 12 Volts.&#10;">
                        <a:extLst>
                          <a:ext uri="{FF2B5EF4-FFF2-40B4-BE49-F238E27FC236}">
                            <a16:creationId xmlns:a16="http://schemas.microsoft.com/office/drawing/2014/main" id="{80FACA36-4C35-448C-9F7D-7A7FE8088E47}"/>
                          </a:ext>
                        </a:extLst>
                      </p:cNvPr>
                      <p:cNvPicPr>
                        <a:picLocks noChangeAspect="1" noChangeArrowheads="1"/>
                      </p:cNvPicPr>
                      <p:nvPr/>
                    </p:nvPicPr>
                    <p:blipFill>
                      <a:blip r:embed="rId3"/>
                      <a:srcRect/>
                      <a:stretch>
                        <a:fillRect/>
                      </a:stretch>
                    </p:blipFill>
                    <p:spPr bwMode="auto">
                      <a:xfrm>
                        <a:off x="1821734" y="1811323"/>
                        <a:ext cx="1023499" cy="393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2912409" y="1742934"/>
            <a:ext cx="556932" cy="405683"/>
          </a:xfrm>
        </p:spPr>
        <p:txBody>
          <a:bodyPr wrap="square" lIns="0" tIns="18000" rIns="0" bIns="18000" anchor="ctr">
            <a:spAutoFit/>
          </a:bodyPr>
          <a:lstStyle/>
          <a:p>
            <a:pPr marL="0" indent="0">
              <a:spcBef>
                <a:spcPts val="600"/>
              </a:spcBef>
              <a:buNone/>
            </a:pPr>
            <a:r>
              <a:rPr lang="en-US" altLang="en-US" sz="2400" noProof="0" dirty="0"/>
              <a:t>and</a:t>
            </a:r>
            <a:endParaRPr lang="en-US" sz="2400" noProof="0" dirty="0"/>
          </a:p>
        </p:txBody>
      </p:sp>
      <p:graphicFrame>
        <p:nvGraphicFramePr>
          <p:cNvPr id="46" name="Object 45" descr="v subscript 2 baseline equals negative 8 Volts.&#10;">
            <a:extLst>
              <a:ext uri="{FF2B5EF4-FFF2-40B4-BE49-F238E27FC236}">
                <a16:creationId xmlns:a16="http://schemas.microsoft.com/office/drawing/2014/main" id="{953C6BA3-EFC8-4151-95EF-EBADA136D740}"/>
              </a:ext>
            </a:extLst>
          </p:cNvPr>
          <p:cNvGraphicFramePr>
            <a:graphicFrameLocks noChangeAspect="1"/>
          </p:cNvGraphicFramePr>
          <p:nvPr/>
        </p:nvGraphicFramePr>
        <p:xfrm>
          <a:off x="3511925" y="1793500"/>
          <a:ext cx="1176338" cy="393700"/>
        </p:xfrm>
        <a:graphic>
          <a:graphicData uri="http://schemas.openxmlformats.org/presentationml/2006/ole">
            <mc:AlternateContent xmlns:mc="http://schemas.openxmlformats.org/markup-compatibility/2006">
              <mc:Choice xmlns:v="urn:schemas-microsoft-com:vml" Requires="v">
                <p:oleObj name="Equation" r:id="rId4" imgW="685800" imgH="228600" progId="Equation.DSMT4">
                  <p:embed/>
                </p:oleObj>
              </mc:Choice>
              <mc:Fallback>
                <p:oleObj name="Equation" r:id="rId4" imgW="685800" imgH="228600" progId="Equation.DSMT4">
                  <p:embed/>
                  <p:pic>
                    <p:nvPicPr>
                      <p:cNvPr id="46" name="Object 45" descr="v subscript 2 baseline equals negative 8 Volts.&#10;">
                        <a:extLst>
                          <a:ext uri="{FF2B5EF4-FFF2-40B4-BE49-F238E27FC236}">
                            <a16:creationId xmlns:a16="http://schemas.microsoft.com/office/drawing/2014/main" id="{953C6BA3-EFC8-4151-95EF-EBADA136D740}"/>
                          </a:ext>
                        </a:extLst>
                      </p:cNvPr>
                      <p:cNvPicPr>
                        <a:picLocks noChangeAspect="1" noChangeArrowheads="1"/>
                      </p:cNvPicPr>
                      <p:nvPr/>
                    </p:nvPicPr>
                    <p:blipFill>
                      <a:blip r:embed="rId5"/>
                      <a:srcRect/>
                      <a:stretch>
                        <a:fillRect/>
                      </a:stretch>
                    </p:blipFill>
                    <p:spPr bwMode="auto">
                      <a:xfrm>
                        <a:off x="3511925" y="1793500"/>
                        <a:ext cx="117633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7" name="Picture 2" descr="A circuit shows several capacitors in series on the right wire, marked from top to bottom as C1, C2 and so on to Cn, with respective initial voltages marked as v1 of t sub 0, v2 of t sub 0 and so on to vn of t sub 0. The left wire is removed and voltage drop across the two terminals on the top and bottom wires is marked as v. Current i flows through the top wire from left to right.">
            <a:extLst>
              <a:ext uri="{FF2B5EF4-FFF2-40B4-BE49-F238E27FC236}">
                <a16:creationId xmlns:a16="http://schemas.microsoft.com/office/drawing/2014/main" id="{130C7D45-0CDE-480A-BD17-937464EC7DF2}"/>
              </a:ext>
            </a:extLst>
          </p:cNvPr>
          <p:cNvPicPr>
            <a:picLocks noChangeAspect="1" noChangeArrowheads="1"/>
          </p:cNvPicPr>
          <p:nvPr/>
        </p:nvPicPr>
        <p:blipFill>
          <a:blip r:embed="rId6"/>
          <a:stretch>
            <a:fillRect/>
          </a:stretch>
        </p:blipFill>
        <p:spPr bwMode="auto">
          <a:xfrm>
            <a:off x="3105754" y="2351075"/>
            <a:ext cx="2911032" cy="190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2" descr="Check mark">
            <a:extLst>
              <a:ext uri="{FF2B5EF4-FFF2-40B4-BE49-F238E27FC236}">
                <a16:creationId xmlns:a16="http://schemas.microsoft.com/office/drawing/2014/main" id="{0F5FE5AC-3981-4EC2-B79D-B09C8743CFA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74959" y="4722375"/>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630455" y="4637413"/>
            <a:ext cx="381059"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p>
        </p:txBody>
      </p:sp>
      <p:graphicFrame>
        <p:nvGraphicFramePr>
          <p:cNvPr id="51" name="Object 50" descr="C subscript e q baseline equals 4 microfarads comma v subscript e q baseline equals 4 Volts.&#10;">
            <a:extLst>
              <a:ext uri="{FF2B5EF4-FFF2-40B4-BE49-F238E27FC236}">
                <a16:creationId xmlns:a16="http://schemas.microsoft.com/office/drawing/2014/main" id="{228BDB5E-6870-4C80-AD90-8C79D575E35B}"/>
              </a:ext>
            </a:extLst>
          </p:cNvPr>
          <p:cNvGraphicFramePr>
            <a:graphicFrameLocks noChangeAspect="1"/>
          </p:cNvGraphicFramePr>
          <p:nvPr/>
        </p:nvGraphicFramePr>
        <p:xfrm>
          <a:off x="2069356" y="4686675"/>
          <a:ext cx="2481263" cy="415925"/>
        </p:xfrm>
        <a:graphic>
          <a:graphicData uri="http://schemas.openxmlformats.org/presentationml/2006/ole">
            <mc:AlternateContent xmlns:mc="http://schemas.openxmlformats.org/markup-compatibility/2006">
              <mc:Choice xmlns:v="urn:schemas-microsoft-com:vml" Requires="v">
                <p:oleObj name="Equation" r:id="rId8" imgW="1447560" imgH="241200" progId="Equation.DSMT4">
                  <p:embed/>
                </p:oleObj>
              </mc:Choice>
              <mc:Fallback>
                <p:oleObj name="Equation" r:id="rId8" imgW="1447560" imgH="241200" progId="Equation.DSMT4">
                  <p:embed/>
                  <p:pic>
                    <p:nvPicPr>
                      <p:cNvPr id="51" name="Object 50" descr="C subscript e q baseline equals 4 microfarads comma v subscript e q baseline equals 4 Volts.&#10;">
                        <a:extLst>
                          <a:ext uri="{FF2B5EF4-FFF2-40B4-BE49-F238E27FC236}">
                            <a16:creationId xmlns:a16="http://schemas.microsoft.com/office/drawing/2014/main" id="{228BDB5E-6870-4C80-AD90-8C79D575E35B}"/>
                          </a:ext>
                        </a:extLst>
                      </p:cNvPr>
                      <p:cNvPicPr>
                        <a:picLocks noChangeAspect="1" noChangeArrowheads="1"/>
                      </p:cNvPicPr>
                      <p:nvPr/>
                    </p:nvPicPr>
                    <p:blipFill>
                      <a:blip r:embed="rId9"/>
                      <a:srcRect/>
                      <a:stretch>
                        <a:fillRect/>
                      </a:stretch>
                    </p:blipFill>
                    <p:spPr bwMode="auto">
                      <a:xfrm>
                        <a:off x="2069356" y="4686675"/>
                        <a:ext cx="2481263"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0" name="Picture 5" descr="Cross mark">
            <a:extLst>
              <a:ext uri="{FF2B5EF4-FFF2-40B4-BE49-F238E27FC236}">
                <a16:creationId xmlns:a16="http://schemas.microsoft.com/office/drawing/2014/main" id="{6C14612A-CABA-431B-AA67-357150F5CF6C}"/>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65992" y="5247132"/>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621494" y="5183564"/>
            <a:ext cx="381059"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p>
        </p:txBody>
      </p:sp>
      <p:graphicFrame>
        <p:nvGraphicFramePr>
          <p:cNvPr id="52" name="Object 51" descr="C subscript eq baseline equals 9.5 microfarads comma v subscript e q baseline equals 4 Volts.&#10;">
            <a:extLst>
              <a:ext uri="{FF2B5EF4-FFF2-40B4-BE49-F238E27FC236}">
                <a16:creationId xmlns:a16="http://schemas.microsoft.com/office/drawing/2014/main" id="{1DC6AA6B-FE3D-4EEC-948C-4EA693869C0D}"/>
              </a:ext>
            </a:extLst>
          </p:cNvPr>
          <p:cNvGraphicFramePr>
            <a:graphicFrameLocks noChangeAspect="1"/>
          </p:cNvGraphicFramePr>
          <p:nvPr/>
        </p:nvGraphicFramePr>
        <p:xfrm>
          <a:off x="2113993" y="5189257"/>
          <a:ext cx="2698750" cy="415925"/>
        </p:xfrm>
        <a:graphic>
          <a:graphicData uri="http://schemas.openxmlformats.org/presentationml/2006/ole">
            <mc:AlternateContent xmlns:mc="http://schemas.openxmlformats.org/markup-compatibility/2006">
              <mc:Choice xmlns:v="urn:schemas-microsoft-com:vml" Requires="v">
                <p:oleObj name="Equation" r:id="rId11" imgW="1574640" imgH="241200" progId="Equation.DSMT4">
                  <p:embed/>
                </p:oleObj>
              </mc:Choice>
              <mc:Fallback>
                <p:oleObj name="Equation" r:id="rId11" imgW="1574640" imgH="241200" progId="Equation.DSMT4">
                  <p:embed/>
                  <p:pic>
                    <p:nvPicPr>
                      <p:cNvPr id="52" name="Object 51" descr="C subscript eq baseline equals 9.5 microfarads comma v subscript e q baseline equals 4 Volts.&#10;">
                        <a:extLst>
                          <a:ext uri="{FF2B5EF4-FFF2-40B4-BE49-F238E27FC236}">
                            <a16:creationId xmlns:a16="http://schemas.microsoft.com/office/drawing/2014/main" id="{1DC6AA6B-FE3D-4EEC-948C-4EA693869C0D}"/>
                          </a:ext>
                        </a:extLst>
                      </p:cNvPr>
                      <p:cNvPicPr>
                        <a:picLocks noChangeAspect="1" noChangeArrowheads="1"/>
                      </p:cNvPicPr>
                      <p:nvPr/>
                    </p:nvPicPr>
                    <p:blipFill>
                      <a:blip r:embed="rId12"/>
                      <a:srcRect/>
                      <a:stretch>
                        <a:fillRect/>
                      </a:stretch>
                    </p:blipFill>
                    <p:spPr bwMode="auto">
                      <a:xfrm>
                        <a:off x="2113993" y="5189257"/>
                        <a:ext cx="26987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9" name="Picture 3" descr="Cross mark">
            <a:extLst>
              <a:ext uri="{FF2B5EF4-FFF2-40B4-BE49-F238E27FC236}">
                <a16:creationId xmlns:a16="http://schemas.microsoft.com/office/drawing/2014/main" id="{26FE4CC8-C0B0-4726-8B93-9FA10609B055}"/>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63959" y="578612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621494" y="5748105"/>
            <a:ext cx="381059"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p>
        </p:txBody>
      </p:sp>
      <p:graphicFrame>
        <p:nvGraphicFramePr>
          <p:cNvPr id="53" name="Object 52" descr="C subscript e q baseline equals 4 microfarads comma v subscript e q baseline equals 20 Volts.&#10;">
            <a:extLst>
              <a:ext uri="{FF2B5EF4-FFF2-40B4-BE49-F238E27FC236}">
                <a16:creationId xmlns:a16="http://schemas.microsoft.com/office/drawing/2014/main" id="{F5059551-C297-4D1D-88F8-BF4D1BB64201}"/>
              </a:ext>
            </a:extLst>
          </p:cNvPr>
          <p:cNvGraphicFramePr>
            <a:graphicFrameLocks noChangeAspect="1"/>
          </p:cNvGraphicFramePr>
          <p:nvPr/>
        </p:nvGraphicFramePr>
        <p:xfrm>
          <a:off x="2102881" y="5763369"/>
          <a:ext cx="2632075" cy="415925"/>
        </p:xfrm>
        <a:graphic>
          <a:graphicData uri="http://schemas.openxmlformats.org/presentationml/2006/ole">
            <mc:AlternateContent xmlns:mc="http://schemas.openxmlformats.org/markup-compatibility/2006">
              <mc:Choice xmlns:v="urn:schemas-microsoft-com:vml" Requires="v">
                <p:oleObj name="Equation" r:id="rId13" imgW="1536480" imgH="241200" progId="Equation.DSMT4">
                  <p:embed/>
                </p:oleObj>
              </mc:Choice>
              <mc:Fallback>
                <p:oleObj name="Equation" r:id="rId13" imgW="1536480" imgH="241200" progId="Equation.DSMT4">
                  <p:embed/>
                  <p:pic>
                    <p:nvPicPr>
                      <p:cNvPr id="53" name="Object 52" descr="C subscript e q baseline equals 4 microfarads comma v subscript e q baseline equals 20 Volts.&#10;">
                        <a:extLst>
                          <a:ext uri="{FF2B5EF4-FFF2-40B4-BE49-F238E27FC236}">
                            <a16:creationId xmlns:a16="http://schemas.microsoft.com/office/drawing/2014/main" id="{F5059551-C297-4D1D-88F8-BF4D1BB64201}"/>
                          </a:ext>
                        </a:extLst>
                      </p:cNvPr>
                      <p:cNvPicPr>
                        <a:picLocks noChangeAspect="1" noChangeArrowheads="1"/>
                      </p:cNvPicPr>
                      <p:nvPr/>
                    </p:nvPicPr>
                    <p:blipFill>
                      <a:blip r:embed="rId14"/>
                      <a:srcRect/>
                      <a:stretch>
                        <a:fillRect/>
                      </a:stretch>
                    </p:blipFill>
                    <p:spPr bwMode="auto">
                      <a:xfrm>
                        <a:off x="2102881" y="5763369"/>
                        <a:ext cx="26320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194983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198262"/>
            <a:ext cx="8229600" cy="1144347"/>
          </a:xfrm>
        </p:spPr>
        <p:txBody>
          <a:bodyPr/>
          <a:lstStyle/>
          <a:p>
            <a:r>
              <a:rPr lang="en-US" noProof="0" dirty="0"/>
              <a:t>Chapter 6 – Inductance and Capacitance </a:t>
            </a:r>
            <a:r>
              <a:rPr lang="en-US" sz="2800" noProof="0" dirty="0"/>
              <a:t>(1 of 2)</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11255" y="1530028"/>
            <a:ext cx="5012391" cy="405683"/>
          </a:xfrm>
        </p:spPr>
        <p:txBody>
          <a:bodyPr wrap="square" lIns="0" tIns="18000" rIns="0" bIns="18000" anchor="ctr">
            <a:spAutoFit/>
          </a:bodyPr>
          <a:lstStyle/>
          <a:p>
            <a:pPr marL="0" indent="0">
              <a:spcBef>
                <a:spcPts val="600"/>
              </a:spcBef>
              <a:buNone/>
            </a:pPr>
            <a:r>
              <a:rPr lang="en-US" sz="2400" noProof="0" dirty="0"/>
              <a:t>Inductor and Capacitor comparison</a:t>
            </a:r>
          </a:p>
        </p:txBody>
      </p:sp>
      <p:graphicFrame>
        <p:nvGraphicFramePr>
          <p:cNvPr id="55" name="Table 54">
            <a:extLst>
              <a:ext uri="{FF2B5EF4-FFF2-40B4-BE49-F238E27FC236}">
                <a16:creationId xmlns:a16="http://schemas.microsoft.com/office/drawing/2014/main" id="{3FC097B6-C9E7-4AA9-B8F5-90CE366F491D}"/>
              </a:ext>
            </a:extLst>
          </p:cNvPr>
          <p:cNvGraphicFramePr>
            <a:graphicFrameLocks noGrp="1"/>
          </p:cNvGraphicFramePr>
          <p:nvPr>
            <p:extLst>
              <p:ext uri="{D42A27DB-BD31-4B8C-83A1-F6EECF244321}">
                <p14:modId xmlns:p14="http://schemas.microsoft.com/office/powerpoint/2010/main" val="3540374837"/>
              </p:ext>
            </p:extLst>
          </p:nvPr>
        </p:nvGraphicFramePr>
        <p:xfrm>
          <a:off x="1143000" y="2137958"/>
          <a:ext cx="6477000" cy="3992874"/>
        </p:xfrm>
        <a:graphic>
          <a:graphicData uri="http://schemas.openxmlformats.org/drawingml/2006/table">
            <a:tbl>
              <a:tblPr firstRow="1" firstCol="1" bandRow="1">
                <a:tableStyleId>{3B4B98B0-60AC-42C2-AFA5-B58CD77FA1E5}</a:tableStyleId>
              </a:tblPr>
              <a:tblGrid>
                <a:gridCol w="2159000">
                  <a:extLst>
                    <a:ext uri="{9D8B030D-6E8A-4147-A177-3AD203B41FA5}">
                      <a16:colId xmlns:a16="http://schemas.microsoft.com/office/drawing/2014/main" val="20000"/>
                    </a:ext>
                  </a:extLst>
                </a:gridCol>
                <a:gridCol w="2159000">
                  <a:extLst>
                    <a:ext uri="{9D8B030D-6E8A-4147-A177-3AD203B41FA5}">
                      <a16:colId xmlns:a16="http://schemas.microsoft.com/office/drawing/2014/main" val="20001"/>
                    </a:ext>
                  </a:extLst>
                </a:gridCol>
                <a:gridCol w="2159000">
                  <a:extLst>
                    <a:ext uri="{9D8B030D-6E8A-4147-A177-3AD203B41FA5}">
                      <a16:colId xmlns:a16="http://schemas.microsoft.com/office/drawing/2014/main" val="20002"/>
                    </a:ext>
                  </a:extLst>
                </a:gridCol>
              </a:tblGrid>
              <a:tr h="228600">
                <a:tc>
                  <a:txBody>
                    <a:bodyPr/>
                    <a:lstStyle/>
                    <a:p>
                      <a:pPr algn="ctr"/>
                      <a:r>
                        <a:rPr lang="en-US" sz="100" b="1" dirty="0">
                          <a:solidFill>
                            <a:schemeClr val="bg1"/>
                          </a:solidFill>
                          <a:latin typeface="Arial" panose="020B0604020202020204" pitchFamily="34" charset="0"/>
                          <a:cs typeface="Arial" panose="020B0604020202020204" pitchFamily="34" charset="0"/>
                        </a:rPr>
                        <a:t>Blank</a:t>
                      </a:r>
                    </a:p>
                  </a:txBody>
                  <a:tcPr marT="45717" marB="45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600" dirty="0">
                          <a:solidFill>
                            <a:schemeClr val="bg1"/>
                          </a:solidFill>
                          <a:latin typeface="Arial" panose="020B0604020202020204" pitchFamily="34" charset="0"/>
                          <a:cs typeface="Arial" panose="020B0604020202020204" pitchFamily="34" charset="0"/>
                        </a:rPr>
                        <a:t>Inductor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bg1"/>
                          </a:solidFill>
                          <a:latin typeface="Arial" panose="020B0604020202020204" pitchFamily="34" charset="0"/>
                          <a:cs typeface="Arial" panose="020B0604020202020204" pitchFamily="34" charset="0"/>
                        </a:rPr>
                        <a:t>Capacitor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624840">
                <a:tc>
                  <a:txBody>
                    <a:bodyPr/>
                    <a:lstStyle/>
                    <a:p>
                      <a:pPr algn="ctr"/>
                      <a:r>
                        <a:rPr lang="en-US" sz="1400" b="1" dirty="0">
                          <a:solidFill>
                            <a:schemeClr val="tx1"/>
                          </a:solidFill>
                          <a:latin typeface="Arial" panose="020B0604020202020204" pitchFamily="34" charset="0"/>
                          <a:cs typeface="Arial" panose="020B0604020202020204" pitchFamily="34" charset="0"/>
                        </a:rPr>
                        <a:t>Symbol</a:t>
                      </a:r>
                    </a:p>
                  </a:txBody>
                  <a:tcPr marT="45717" marB="45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endParaRPr lang="en-US" sz="1400" dirty="0">
                        <a:solidFill>
                          <a:schemeClr val="tx1"/>
                        </a:solidFill>
                        <a:latin typeface="Arial" panose="020B0604020202020204" pitchFamily="34" charset="0"/>
                        <a:cs typeface="Arial" panose="020B0604020202020204" pitchFamily="34" charset="0"/>
                      </a:endParaRPr>
                    </a:p>
                  </a:txBody>
                  <a:tcPr marT="45717" marB="45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endParaRPr lang="en-US" sz="1400" dirty="0">
                        <a:solidFill>
                          <a:schemeClr val="tx1"/>
                        </a:solidFill>
                        <a:latin typeface="Arial" panose="020B0604020202020204" pitchFamily="34" charset="0"/>
                        <a:cs typeface="Arial" panose="020B0604020202020204" pitchFamily="34" charset="0"/>
                      </a:endParaRPr>
                    </a:p>
                  </a:txBody>
                  <a:tcPr marT="45717" marB="45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70840">
                <a:tc>
                  <a:txBody>
                    <a:bodyPr/>
                    <a:lstStyle/>
                    <a:p>
                      <a:pPr algn="ctr"/>
                      <a:r>
                        <a:rPr lang="en-US" sz="1400" b="1" dirty="0">
                          <a:solidFill>
                            <a:schemeClr val="tx1"/>
                          </a:solidFill>
                          <a:latin typeface="Arial" panose="020B0604020202020204" pitchFamily="34" charset="0"/>
                          <a:cs typeface="Arial" panose="020B0604020202020204" pitchFamily="34" charset="0"/>
                        </a:rPr>
                        <a:t>Units</a:t>
                      </a:r>
                    </a:p>
                  </a:txBody>
                  <a:tcPr marT="45717" marB="45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latin typeface="Arial" panose="020B0604020202020204" pitchFamily="34" charset="0"/>
                          <a:cs typeface="Arial" panose="020B0604020202020204" pitchFamily="34" charset="0"/>
                        </a:rPr>
                        <a:t>Henries [H]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latin typeface="Arial" panose="020B0604020202020204" pitchFamily="34" charset="0"/>
                          <a:cs typeface="Arial" panose="020B0604020202020204" pitchFamily="34" charset="0"/>
                        </a:rPr>
                        <a:t>Farads [F]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645154">
                <a:tc>
                  <a:txBody>
                    <a:bodyPr/>
                    <a:lstStyle/>
                    <a:p>
                      <a:pPr algn="ctr"/>
                      <a:r>
                        <a:rPr lang="en-US" sz="1400" b="1" dirty="0">
                          <a:solidFill>
                            <a:schemeClr val="tx1"/>
                          </a:solidFill>
                          <a:latin typeface="Arial" panose="020B0604020202020204" pitchFamily="34" charset="0"/>
                          <a:cs typeface="Arial" panose="020B0604020202020204" pitchFamily="34" charset="0"/>
                        </a:rPr>
                        <a:t>Describing equation</a:t>
                      </a:r>
                    </a:p>
                  </a:txBody>
                  <a:tcPr marT="45717" marB="45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i="1" dirty="0">
                          <a:latin typeface="Arial" panose="020B0604020202020204" pitchFamily="34" charset="0"/>
                          <a:cs typeface="Arial" panose="020B0604020202020204" pitchFamily="34" charset="0"/>
                        </a:rPr>
                        <a:t>v (t) equals L Start Fraction d </a:t>
                      </a:r>
                      <a:r>
                        <a:rPr lang="en-US" sz="100" i="1" dirty="0" err="1">
                          <a:latin typeface="Arial" panose="020B0604020202020204" pitchFamily="34" charset="0"/>
                          <a:cs typeface="Arial" panose="020B0604020202020204" pitchFamily="34" charset="0"/>
                        </a:rPr>
                        <a:t>i</a:t>
                      </a:r>
                      <a:r>
                        <a:rPr lang="en-US" sz="100" i="1" dirty="0">
                          <a:latin typeface="Arial" panose="020B0604020202020204" pitchFamily="34" charset="0"/>
                          <a:cs typeface="Arial" panose="020B0604020202020204" pitchFamily="34" charset="0"/>
                        </a:rPr>
                        <a:t> (t) over dt End Fraction.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i="1" dirty="0" err="1">
                          <a:latin typeface="Arial" panose="020B0604020202020204" pitchFamily="34" charset="0"/>
                          <a:cs typeface="Arial" panose="020B0604020202020204" pitchFamily="34" charset="0"/>
                        </a:rPr>
                        <a:t>i</a:t>
                      </a:r>
                      <a:r>
                        <a:rPr lang="en-US" sz="100" i="1" dirty="0">
                          <a:latin typeface="Arial" panose="020B0604020202020204" pitchFamily="34" charset="0"/>
                          <a:cs typeface="Arial" panose="020B0604020202020204" pitchFamily="34" charset="0"/>
                        </a:rPr>
                        <a:t> (t) equals uppercase C Start Fraction d v (t) over d t End Fraction.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609600">
                <a:tc>
                  <a:txBody>
                    <a:bodyPr/>
                    <a:lstStyle/>
                    <a:p>
                      <a:pPr algn="ctr"/>
                      <a:r>
                        <a:rPr lang="en-US" sz="1400" b="1" dirty="0">
                          <a:solidFill>
                            <a:schemeClr val="tx1"/>
                          </a:solidFill>
                          <a:latin typeface="Arial" panose="020B0604020202020204" pitchFamily="34" charset="0"/>
                          <a:cs typeface="Arial" panose="020B0604020202020204" pitchFamily="34" charset="0"/>
                        </a:rPr>
                        <a:t>Other equation</a:t>
                      </a:r>
                    </a:p>
                  </a:txBody>
                  <a:tcPr marT="45717" marB="45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err="1">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(t) equals Start Fraction 1 over L End Fraction Integral lower limit t subscript 0 upper limit t baseline v (tau) d tau plus </a:t>
                      </a:r>
                      <a:r>
                        <a:rPr lang="en-US" sz="100" dirty="0" err="1">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(t subscript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v (t) equals Start Fraction 1 over C End Fraction Integral lower limit t subscript 0 upper limit t baseline </a:t>
                      </a:r>
                      <a:r>
                        <a:rPr lang="en-US" sz="100" dirty="0" err="1">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(tau) d tau plus v (t subscript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70840">
                <a:tc>
                  <a:txBody>
                    <a:bodyPr/>
                    <a:lstStyle/>
                    <a:p>
                      <a:pPr algn="ctr"/>
                      <a:r>
                        <a:rPr lang="en-US" sz="1400" b="1" dirty="0">
                          <a:solidFill>
                            <a:schemeClr val="tx1"/>
                          </a:solidFill>
                          <a:latin typeface="Arial" panose="020B0604020202020204" pitchFamily="34" charset="0"/>
                          <a:cs typeface="Arial" panose="020B0604020202020204" pitchFamily="34" charset="0"/>
                        </a:rPr>
                        <a:t> Initial condition</a:t>
                      </a:r>
                    </a:p>
                  </a:txBody>
                  <a:tcPr marT="45717" marB="45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i="1" dirty="0" err="1">
                          <a:latin typeface="Arial" panose="020B0604020202020204" pitchFamily="34" charset="0"/>
                          <a:cs typeface="Arial" panose="020B0604020202020204" pitchFamily="34" charset="0"/>
                        </a:rPr>
                        <a:t>i</a:t>
                      </a:r>
                      <a:r>
                        <a:rPr lang="en-US" sz="100" i="1" dirty="0">
                          <a:latin typeface="Arial" panose="020B0604020202020204" pitchFamily="34" charset="0"/>
                          <a:cs typeface="Arial" panose="020B0604020202020204" pitchFamily="34" charset="0"/>
                        </a:rPr>
                        <a:t> (t subscript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i="1" dirty="0">
                          <a:latin typeface="Arial" panose="020B0604020202020204" pitchFamily="34" charset="0"/>
                          <a:cs typeface="Arial" panose="020B0604020202020204" pitchFamily="34" charset="0"/>
                        </a:rPr>
                        <a:t>v (t subscript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70840">
                <a:tc>
                  <a:txBody>
                    <a:bodyPr/>
                    <a:lstStyle/>
                    <a:p>
                      <a:pPr algn="ctr"/>
                      <a:r>
                        <a:rPr lang="en-US" sz="1400" b="1" dirty="0">
                          <a:solidFill>
                            <a:schemeClr val="tx1"/>
                          </a:solidFill>
                          <a:latin typeface="Arial" panose="020B0604020202020204" pitchFamily="34" charset="0"/>
                          <a:cs typeface="Arial" panose="020B0604020202020204" pitchFamily="34" charset="0"/>
                        </a:rPr>
                        <a:t>Behavior with const. source</a:t>
                      </a:r>
                    </a:p>
                  </a:txBody>
                  <a:tcPr marT="45717" marB="45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latin typeface="Arial" panose="020B0604020202020204" pitchFamily="34" charset="0"/>
                          <a:cs typeface="Arial" panose="020B0604020202020204" pitchFamily="34" charset="0"/>
                        </a:rPr>
                        <a:t>If </a:t>
                      </a:r>
                      <a:r>
                        <a:rPr lang="en-US" sz="1400" i="1" dirty="0" err="1">
                          <a:latin typeface="Arial" panose="020B0604020202020204" pitchFamily="34" charset="0"/>
                          <a:cs typeface="Arial" panose="020B0604020202020204" pitchFamily="34" charset="0"/>
                        </a:rPr>
                        <a:t>i</a:t>
                      </a:r>
                      <a:r>
                        <a:rPr lang="en-US" sz="1400" i="1" dirty="0">
                          <a:latin typeface="Arial" panose="020B0604020202020204" pitchFamily="34" charset="0"/>
                          <a:cs typeface="Arial" panose="020B0604020202020204" pitchFamily="34" charset="0"/>
                        </a:rPr>
                        <a:t>(t)</a:t>
                      </a:r>
                      <a:r>
                        <a:rPr lang="en-US" sz="1400" dirty="0">
                          <a:latin typeface="Arial" panose="020B0604020202020204" pitchFamily="34" charset="0"/>
                          <a:cs typeface="Arial" panose="020B0604020202020204" pitchFamily="34" charset="0"/>
                        </a:rPr>
                        <a:t> = </a:t>
                      </a:r>
                      <a:r>
                        <a:rPr lang="en-US" sz="1400" i="1" dirty="0">
                          <a:latin typeface="Arial" panose="020B0604020202020204" pitchFamily="34" charset="0"/>
                          <a:cs typeface="Arial" panose="020B0604020202020204" pitchFamily="34" charset="0"/>
                        </a:rPr>
                        <a:t>I</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v(t) = 0 </a:t>
                      </a:r>
                    </a:p>
                    <a:p>
                      <a:pPr algn="ctr"/>
                      <a:r>
                        <a:rPr lang="en-US" sz="100" dirty="0">
                          <a:latin typeface="Arial" panose="020B0604020202020204" pitchFamily="34" charset="0"/>
                          <a:cs typeface="Arial" panose="020B0604020202020204" pitchFamily="34" charset="0"/>
                        </a:rPr>
                        <a:t>right arrow</a:t>
                      </a:r>
                      <a:r>
                        <a:rPr lang="en-US" sz="1400" dirty="0">
                          <a:latin typeface="Arial" panose="020B0604020202020204" pitchFamily="34" charset="0"/>
                          <a:cs typeface="Arial" panose="020B0604020202020204" pitchFamily="34" charset="0"/>
                        </a:rPr>
                        <a:t> short circuit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dirty="0">
                          <a:latin typeface="Arial" panose="020B0604020202020204" pitchFamily="34" charset="0"/>
                          <a:cs typeface="Arial" panose="020B0604020202020204" pitchFamily="34" charset="0"/>
                        </a:rPr>
                        <a:t>If </a:t>
                      </a:r>
                      <a:r>
                        <a:rPr lang="en-US" sz="1400" i="1" dirty="0">
                          <a:latin typeface="Arial" panose="020B0604020202020204" pitchFamily="34" charset="0"/>
                          <a:cs typeface="Arial" panose="020B0604020202020204" pitchFamily="34" charset="0"/>
                        </a:rPr>
                        <a:t>v(t) = V, </a:t>
                      </a:r>
                      <a:r>
                        <a:rPr lang="en-US" sz="1400" i="1" dirty="0" err="1">
                          <a:latin typeface="Arial" panose="020B0604020202020204" pitchFamily="34" charset="0"/>
                          <a:cs typeface="Arial" panose="020B0604020202020204" pitchFamily="34" charset="0"/>
                        </a:rPr>
                        <a:t>i</a:t>
                      </a:r>
                      <a:r>
                        <a:rPr lang="en-US" sz="1400" i="1" dirty="0">
                          <a:latin typeface="Arial" panose="020B0604020202020204" pitchFamily="34" charset="0"/>
                          <a:cs typeface="Arial" panose="020B0604020202020204" pitchFamily="34" charset="0"/>
                        </a:rPr>
                        <a:t>(t) = 0</a:t>
                      </a:r>
                      <a:r>
                        <a:rPr lang="en-US" sz="1400" dirty="0">
                          <a:latin typeface="Arial" panose="020B0604020202020204" pitchFamily="34" charset="0"/>
                          <a:cs typeface="Arial" panose="020B0604020202020204" pitchFamily="34" charset="0"/>
                        </a:rPr>
                        <a:t> </a:t>
                      </a:r>
                    </a:p>
                    <a:p>
                      <a:pPr algn="ctr"/>
                      <a:r>
                        <a:rPr lang="en-US" sz="100" dirty="0">
                          <a:latin typeface="Arial" panose="020B0604020202020204" pitchFamily="34" charset="0"/>
                          <a:cs typeface="Arial" panose="020B0604020202020204" pitchFamily="34" charset="0"/>
                        </a:rPr>
                        <a:t>right arrow</a:t>
                      </a:r>
                      <a:r>
                        <a:rPr lang="en-US" sz="1400" dirty="0">
                          <a:latin typeface="Arial" panose="020B0604020202020204" pitchFamily="34" charset="0"/>
                          <a:cs typeface="Arial" panose="020B0604020202020204" pitchFamily="34" charset="0"/>
                        </a:rPr>
                        <a:t> open circuit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370840">
                <a:tc>
                  <a:txBody>
                    <a:bodyPr/>
                    <a:lstStyle/>
                    <a:p>
                      <a:pPr algn="ctr"/>
                      <a:r>
                        <a:rPr lang="en-US" sz="1400" b="1" dirty="0">
                          <a:solidFill>
                            <a:schemeClr val="tx1"/>
                          </a:solidFill>
                          <a:latin typeface="Arial" panose="020B0604020202020204" pitchFamily="34" charset="0"/>
                          <a:cs typeface="Arial" panose="020B0604020202020204" pitchFamily="34" charset="0"/>
                        </a:rPr>
                        <a:t>Continuity requirement</a:t>
                      </a:r>
                    </a:p>
                  </a:txBody>
                  <a:tcPr marT="45717" marB="45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i="1" dirty="0" err="1">
                          <a:latin typeface="Arial" panose="020B0604020202020204" pitchFamily="34" charset="0"/>
                          <a:cs typeface="Arial" panose="020B0604020202020204" pitchFamily="34" charset="0"/>
                        </a:rPr>
                        <a:t>i</a:t>
                      </a:r>
                      <a:r>
                        <a:rPr lang="en-US" sz="1400" i="1" dirty="0">
                          <a:latin typeface="Arial" panose="020B0604020202020204" pitchFamily="34" charset="0"/>
                          <a:cs typeface="Arial" panose="020B0604020202020204" pitchFamily="34" charset="0"/>
                        </a:rPr>
                        <a:t>(t) </a:t>
                      </a:r>
                      <a:r>
                        <a:rPr lang="en-US" sz="1400" dirty="0">
                          <a:latin typeface="Arial" panose="020B0604020202020204" pitchFamily="34" charset="0"/>
                          <a:cs typeface="Arial" panose="020B0604020202020204" pitchFamily="34" charset="0"/>
                        </a:rPr>
                        <a:t>is continuous so </a:t>
                      </a:r>
                      <a:r>
                        <a:rPr lang="en-US" sz="1400" i="1" dirty="0">
                          <a:latin typeface="Arial" panose="020B0604020202020204" pitchFamily="34" charset="0"/>
                          <a:cs typeface="Arial" panose="020B0604020202020204" pitchFamily="34" charset="0"/>
                        </a:rPr>
                        <a:t>v(t) </a:t>
                      </a:r>
                      <a:r>
                        <a:rPr lang="en-US" sz="1400" dirty="0">
                          <a:latin typeface="Arial" panose="020B0604020202020204" pitchFamily="34" charset="0"/>
                          <a:cs typeface="Arial" panose="020B0604020202020204" pitchFamily="34" charset="0"/>
                        </a:rPr>
                        <a:t>is finite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i="1" dirty="0">
                          <a:latin typeface="Arial" panose="020B0604020202020204" pitchFamily="34" charset="0"/>
                          <a:cs typeface="Arial" panose="020B0604020202020204" pitchFamily="34" charset="0"/>
                        </a:rPr>
                        <a:t>v(t) </a:t>
                      </a:r>
                      <a:r>
                        <a:rPr lang="en-US" sz="1400" dirty="0">
                          <a:latin typeface="Arial" panose="020B0604020202020204" pitchFamily="34" charset="0"/>
                          <a:cs typeface="Arial" panose="020B0604020202020204" pitchFamily="34" charset="0"/>
                        </a:rPr>
                        <a:t>is continuous so </a:t>
                      </a:r>
                      <a:r>
                        <a:rPr lang="en-US" sz="1400" i="1" dirty="0" err="1">
                          <a:latin typeface="Arial" panose="020B0604020202020204" pitchFamily="34" charset="0"/>
                          <a:cs typeface="Arial" panose="020B0604020202020204" pitchFamily="34" charset="0"/>
                        </a:rPr>
                        <a:t>i</a:t>
                      </a:r>
                      <a:r>
                        <a:rPr lang="en-US" sz="1400" i="1" dirty="0">
                          <a:latin typeface="Arial" panose="020B0604020202020204" pitchFamily="34" charset="0"/>
                          <a:cs typeface="Arial" panose="020B0604020202020204" pitchFamily="34" charset="0"/>
                        </a:rPr>
                        <a:t>(t) </a:t>
                      </a:r>
                      <a:r>
                        <a:rPr lang="en-US" sz="1400" dirty="0">
                          <a:latin typeface="Arial" panose="020B0604020202020204" pitchFamily="34" charset="0"/>
                          <a:cs typeface="Arial" panose="020B0604020202020204" pitchFamily="34" charset="0"/>
                        </a:rPr>
                        <a:t>is finite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7"/>
                  </a:ext>
                </a:extLst>
              </a:tr>
            </a:tbl>
          </a:graphicData>
        </a:graphic>
      </p:graphicFrame>
      <p:pic>
        <p:nvPicPr>
          <p:cNvPr id="56" name="Picture 2">
            <a:extLst>
              <a:ext uri="{FF2B5EF4-FFF2-40B4-BE49-F238E27FC236}">
                <a16:creationId xmlns:a16="http://schemas.microsoft.com/office/drawing/2014/main" id="{3A9B9470-F0BC-417B-97AD-0E5676FF6491}"/>
              </a:ext>
              <a:ext uri="{C183D7F6-B498-43B3-948B-1728B52AA6E4}">
                <adec:decorative xmlns:adec="http://schemas.microsoft.com/office/drawing/2017/decorative" val="1"/>
              </a:ext>
            </a:extLst>
          </p:cNvPr>
          <p:cNvPicPr>
            <a:picLocks noChangeAspect="1" noChangeArrowheads="1"/>
          </p:cNvPicPr>
          <p:nvPr/>
        </p:nvPicPr>
        <p:blipFill>
          <a:blip r:embed="rId2"/>
          <a:stretch>
            <a:fillRect/>
          </a:stretch>
        </p:blipFill>
        <p:spPr bwMode="auto">
          <a:xfrm>
            <a:off x="3982574" y="2539666"/>
            <a:ext cx="761956" cy="503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Picture 4">
            <a:extLst>
              <a:ext uri="{FF2B5EF4-FFF2-40B4-BE49-F238E27FC236}">
                <a16:creationId xmlns:a16="http://schemas.microsoft.com/office/drawing/2014/main" id="{ECD40B4D-048D-4A5A-ADA0-DE32E0DF219F}"/>
              </a:ext>
              <a:ext uri="{C183D7F6-B498-43B3-948B-1728B52AA6E4}">
                <adec:decorative xmlns:adec="http://schemas.microsoft.com/office/drawing/2017/decorative" val="1"/>
              </a:ext>
            </a:extLst>
          </p:cNvPr>
          <p:cNvPicPr>
            <a:picLocks noChangeAspect="1" noChangeArrowheads="1"/>
          </p:cNvPicPr>
          <p:nvPr/>
        </p:nvPicPr>
        <p:blipFill>
          <a:blip r:embed="rId3"/>
          <a:stretch>
            <a:fillRect/>
          </a:stretch>
        </p:blipFill>
        <p:spPr bwMode="auto">
          <a:xfrm>
            <a:off x="6118978" y="2593525"/>
            <a:ext cx="900950" cy="386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8" name="Object 57">
            <a:extLst>
              <a:ext uri="{FF2B5EF4-FFF2-40B4-BE49-F238E27FC236}">
                <a16:creationId xmlns:a16="http://schemas.microsoft.com/office/drawing/2014/main" id="{20A75E17-2571-4FB4-B9BB-21E5C2706B9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010112442"/>
              </p:ext>
            </p:extLst>
          </p:nvPr>
        </p:nvGraphicFramePr>
        <p:xfrm>
          <a:off x="3779241" y="3582536"/>
          <a:ext cx="1079500" cy="492125"/>
        </p:xfrm>
        <a:graphic>
          <a:graphicData uri="http://schemas.openxmlformats.org/presentationml/2006/ole">
            <mc:AlternateContent xmlns:mc="http://schemas.openxmlformats.org/markup-compatibility/2006">
              <mc:Choice xmlns:v="urn:schemas-microsoft-com:vml" Requires="v">
                <p:oleObj name="Equation" r:id="rId4" imgW="863280" imgH="393480" progId="Equation.DSMT4">
                  <p:embed/>
                </p:oleObj>
              </mc:Choice>
              <mc:Fallback>
                <p:oleObj name="Equation" r:id="rId4" imgW="863280" imgH="393480" progId="Equation.DSMT4">
                  <p:embed/>
                  <p:pic>
                    <p:nvPicPr>
                      <p:cNvPr id="11" name="Object 10">
                        <a:extLst>
                          <a:ext uri="{FF2B5EF4-FFF2-40B4-BE49-F238E27FC236}">
                            <a16:creationId xmlns:a16="http://schemas.microsoft.com/office/drawing/2014/main" id="{8A4CA7E2-1A92-42DC-A039-E663D53C4EC5}"/>
                          </a:ext>
                          <a:ext uri="{C183D7F6-B498-43B3-948B-1728B52AA6E4}">
                            <adec:decorative xmlns:adec="http://schemas.microsoft.com/office/drawing/2017/decorative" val="1"/>
                          </a:ext>
                        </a:extLst>
                      </p:cNvPr>
                      <p:cNvPicPr>
                        <a:picLocks noChangeAspect="1" noChangeArrowheads="1"/>
                      </p:cNvPicPr>
                      <p:nvPr/>
                    </p:nvPicPr>
                    <p:blipFill>
                      <a:blip r:embed="rId5"/>
                      <a:srcRect/>
                      <a:stretch>
                        <a:fillRect/>
                      </a:stretch>
                    </p:blipFill>
                    <p:spPr bwMode="auto">
                      <a:xfrm>
                        <a:off x="3779241" y="3582536"/>
                        <a:ext cx="1079500" cy="492125"/>
                      </a:xfrm>
                      <a:prstGeom prst="rect">
                        <a:avLst/>
                      </a:prstGeom>
                      <a:solidFill>
                        <a:srgbClr val="D4EAE4"/>
                      </a:solidFill>
                      <a:ln>
                        <a:noFill/>
                      </a:ln>
                    </p:spPr>
                  </p:pic>
                </p:oleObj>
              </mc:Fallback>
            </mc:AlternateContent>
          </a:graphicData>
        </a:graphic>
      </p:graphicFrame>
      <p:graphicFrame>
        <p:nvGraphicFramePr>
          <p:cNvPr id="59" name="Object 58">
            <a:extLst>
              <a:ext uri="{FF2B5EF4-FFF2-40B4-BE49-F238E27FC236}">
                <a16:creationId xmlns:a16="http://schemas.microsoft.com/office/drawing/2014/main" id="{767B3A9F-E680-4344-AC4F-B0C0B77D563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826554259"/>
              </p:ext>
            </p:extLst>
          </p:nvPr>
        </p:nvGraphicFramePr>
        <p:xfrm>
          <a:off x="5843588" y="3530600"/>
          <a:ext cx="1055687" cy="468313"/>
        </p:xfrm>
        <a:graphic>
          <a:graphicData uri="http://schemas.openxmlformats.org/presentationml/2006/ole">
            <mc:AlternateContent xmlns:mc="http://schemas.openxmlformats.org/markup-compatibility/2006">
              <mc:Choice xmlns:v="urn:schemas-microsoft-com:vml" Requires="v">
                <p:oleObj name="Equation" r:id="rId6" imgW="888840" imgH="393480" progId="Equation.DSMT4">
                  <p:embed/>
                </p:oleObj>
              </mc:Choice>
              <mc:Fallback>
                <p:oleObj name="Equation" r:id="rId6" imgW="888840" imgH="393480" progId="Equation.DSMT4">
                  <p:embed/>
                  <p:pic>
                    <p:nvPicPr>
                      <p:cNvPr id="12" name="Object 11">
                        <a:extLst>
                          <a:ext uri="{FF2B5EF4-FFF2-40B4-BE49-F238E27FC236}">
                            <a16:creationId xmlns:a16="http://schemas.microsoft.com/office/drawing/2014/main" id="{7AF8F6EF-2BFC-4E91-AFC8-E781C25DDF1F}"/>
                          </a:ext>
                          <a:ext uri="{C183D7F6-B498-43B3-948B-1728B52AA6E4}">
                            <adec:decorative xmlns:adec="http://schemas.microsoft.com/office/drawing/2017/decorative" val="1"/>
                          </a:ext>
                        </a:extLst>
                      </p:cNvPr>
                      <p:cNvPicPr>
                        <a:picLocks noChangeAspect="1" noChangeArrowheads="1"/>
                      </p:cNvPicPr>
                      <p:nvPr/>
                    </p:nvPicPr>
                    <p:blipFill>
                      <a:blip r:embed="rId7"/>
                      <a:srcRect/>
                      <a:stretch>
                        <a:fillRect/>
                      </a:stretch>
                    </p:blipFill>
                    <p:spPr bwMode="auto">
                      <a:xfrm>
                        <a:off x="5843588" y="3530600"/>
                        <a:ext cx="1055687" cy="468313"/>
                      </a:xfrm>
                      <a:prstGeom prst="rect">
                        <a:avLst/>
                      </a:prstGeom>
                      <a:solidFill>
                        <a:srgbClr val="D4EAE4"/>
                      </a:solidFill>
                      <a:ln>
                        <a:noFill/>
                      </a:ln>
                    </p:spPr>
                  </p:pic>
                </p:oleObj>
              </mc:Fallback>
            </mc:AlternateContent>
          </a:graphicData>
        </a:graphic>
      </p:graphicFrame>
      <p:graphicFrame>
        <p:nvGraphicFramePr>
          <p:cNvPr id="65" name="Object 64">
            <a:extLst>
              <a:ext uri="{FF2B5EF4-FFF2-40B4-BE49-F238E27FC236}">
                <a16:creationId xmlns:a16="http://schemas.microsoft.com/office/drawing/2014/main" id="{60C46385-AD35-47A4-BFF6-325558AF58D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365941449"/>
              </p:ext>
            </p:extLst>
          </p:nvPr>
        </p:nvGraphicFramePr>
        <p:xfrm>
          <a:off x="3403318" y="4170270"/>
          <a:ext cx="1971675" cy="509588"/>
        </p:xfrm>
        <a:graphic>
          <a:graphicData uri="http://schemas.openxmlformats.org/presentationml/2006/ole">
            <mc:AlternateContent xmlns:mc="http://schemas.openxmlformats.org/markup-compatibility/2006">
              <mc:Choice xmlns:v="urn:schemas-microsoft-com:vml" Requires="v">
                <p:oleObj name="Equation" r:id="rId8" imgW="1523880" imgH="393480" progId="Equation.DSMT4">
                  <p:embed/>
                </p:oleObj>
              </mc:Choice>
              <mc:Fallback>
                <p:oleObj name="Equation" r:id="rId8" imgW="1523880" imgH="393480" progId="Equation.DSMT4">
                  <p:embed/>
                  <p:pic>
                    <p:nvPicPr>
                      <p:cNvPr id="13" name="Object 12">
                        <a:extLst>
                          <a:ext uri="{FF2B5EF4-FFF2-40B4-BE49-F238E27FC236}">
                            <a16:creationId xmlns:a16="http://schemas.microsoft.com/office/drawing/2014/main" id="{857F2FAA-E6BE-4298-9671-90AB63409F4F}"/>
                          </a:ext>
                          <a:ext uri="{C183D7F6-B498-43B3-948B-1728B52AA6E4}">
                            <adec:decorative xmlns:adec="http://schemas.microsoft.com/office/drawing/2017/decorative" val="1"/>
                          </a:ext>
                        </a:extLst>
                      </p:cNvPr>
                      <p:cNvPicPr>
                        <a:picLocks noChangeAspect="1" noChangeArrowheads="1"/>
                      </p:cNvPicPr>
                      <p:nvPr/>
                    </p:nvPicPr>
                    <p:blipFill>
                      <a:blip r:embed="rId9"/>
                      <a:srcRect/>
                      <a:stretch>
                        <a:fillRect/>
                      </a:stretch>
                    </p:blipFill>
                    <p:spPr bwMode="auto">
                      <a:xfrm>
                        <a:off x="3403318" y="4170270"/>
                        <a:ext cx="1971675" cy="509588"/>
                      </a:xfrm>
                      <a:prstGeom prst="rect">
                        <a:avLst/>
                      </a:prstGeom>
                      <a:solidFill>
                        <a:srgbClr val="D4EAE4"/>
                      </a:solidFill>
                      <a:ln>
                        <a:noFill/>
                      </a:ln>
                    </p:spPr>
                  </p:pic>
                </p:oleObj>
              </mc:Fallback>
            </mc:AlternateContent>
          </a:graphicData>
        </a:graphic>
      </p:graphicFrame>
      <p:graphicFrame>
        <p:nvGraphicFramePr>
          <p:cNvPr id="60" name="Object 59">
            <a:extLst>
              <a:ext uri="{FF2B5EF4-FFF2-40B4-BE49-F238E27FC236}">
                <a16:creationId xmlns:a16="http://schemas.microsoft.com/office/drawing/2014/main" id="{2F3A9D59-4C60-4A1A-B170-7F2611395E2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161142073"/>
              </p:ext>
            </p:extLst>
          </p:nvPr>
        </p:nvGraphicFramePr>
        <p:xfrm>
          <a:off x="5592763" y="4179795"/>
          <a:ext cx="1916112" cy="474663"/>
        </p:xfrm>
        <a:graphic>
          <a:graphicData uri="http://schemas.openxmlformats.org/presentationml/2006/ole">
            <mc:AlternateContent xmlns:mc="http://schemas.openxmlformats.org/markup-compatibility/2006">
              <mc:Choice xmlns:v="urn:schemas-microsoft-com:vml" Requires="v">
                <p:oleObj name="Equation" r:id="rId10" imgW="1587240" imgH="393480" progId="Equation.DSMT4">
                  <p:embed/>
                </p:oleObj>
              </mc:Choice>
              <mc:Fallback>
                <p:oleObj name="Equation" r:id="rId10" imgW="1587240" imgH="393480" progId="Equation.DSMT4">
                  <p:embed/>
                  <p:pic>
                    <p:nvPicPr>
                      <p:cNvPr id="14" name="Object 13">
                        <a:extLst>
                          <a:ext uri="{FF2B5EF4-FFF2-40B4-BE49-F238E27FC236}">
                            <a16:creationId xmlns:a16="http://schemas.microsoft.com/office/drawing/2014/main" id="{9F8A5275-240F-45BB-841A-9D0ABE53313D}"/>
                          </a:ext>
                          <a:ext uri="{C183D7F6-B498-43B3-948B-1728B52AA6E4}">
                            <adec:decorative xmlns:adec="http://schemas.microsoft.com/office/drawing/2017/decorative" val="1"/>
                          </a:ext>
                        </a:extLst>
                      </p:cNvPr>
                      <p:cNvPicPr>
                        <a:picLocks noChangeAspect="1" noChangeArrowheads="1"/>
                      </p:cNvPicPr>
                      <p:nvPr/>
                    </p:nvPicPr>
                    <p:blipFill>
                      <a:blip r:embed="rId11"/>
                      <a:srcRect/>
                      <a:stretch>
                        <a:fillRect/>
                      </a:stretch>
                    </p:blipFill>
                    <p:spPr bwMode="auto">
                      <a:xfrm>
                        <a:off x="5592763" y="4179795"/>
                        <a:ext cx="1916112" cy="474663"/>
                      </a:xfrm>
                      <a:prstGeom prst="rect">
                        <a:avLst/>
                      </a:prstGeom>
                      <a:solidFill>
                        <a:srgbClr val="D4EAE4"/>
                      </a:solidFill>
                      <a:ln>
                        <a:noFill/>
                      </a:ln>
                    </p:spPr>
                  </p:pic>
                </p:oleObj>
              </mc:Fallback>
            </mc:AlternateContent>
          </a:graphicData>
        </a:graphic>
      </p:graphicFrame>
      <p:graphicFrame>
        <p:nvGraphicFramePr>
          <p:cNvPr id="61" name="Object 60">
            <a:extLst>
              <a:ext uri="{FF2B5EF4-FFF2-40B4-BE49-F238E27FC236}">
                <a16:creationId xmlns:a16="http://schemas.microsoft.com/office/drawing/2014/main" id="{1965341B-6B99-477B-AED0-435BA495CFD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744737345"/>
              </p:ext>
            </p:extLst>
          </p:nvPr>
        </p:nvGraphicFramePr>
        <p:xfrm>
          <a:off x="4183996" y="4788578"/>
          <a:ext cx="388658" cy="291494"/>
        </p:xfrm>
        <a:graphic>
          <a:graphicData uri="http://schemas.openxmlformats.org/presentationml/2006/ole">
            <mc:AlternateContent xmlns:mc="http://schemas.openxmlformats.org/markup-compatibility/2006">
              <mc:Choice xmlns:v="urn:schemas-microsoft-com:vml" Requires="v">
                <p:oleObj name="Equation" r:id="rId12" imgW="304560" imgH="228600" progId="Equation.DSMT4">
                  <p:embed/>
                </p:oleObj>
              </mc:Choice>
              <mc:Fallback>
                <p:oleObj name="Equation" r:id="rId12" imgW="304560" imgH="228600" progId="Equation.DSMT4">
                  <p:embed/>
                  <p:pic>
                    <p:nvPicPr>
                      <p:cNvPr id="15" name="Object 14">
                        <a:extLst>
                          <a:ext uri="{FF2B5EF4-FFF2-40B4-BE49-F238E27FC236}">
                            <a16:creationId xmlns:a16="http://schemas.microsoft.com/office/drawing/2014/main" id="{DE03667C-DE69-4BAF-B5B5-B4F06DE20EDF}"/>
                          </a:ext>
                          <a:ext uri="{C183D7F6-B498-43B3-948B-1728B52AA6E4}">
                            <adec:decorative xmlns:adec="http://schemas.microsoft.com/office/drawing/2017/decorative" val="1"/>
                          </a:ext>
                        </a:extLst>
                      </p:cNvPr>
                      <p:cNvPicPr>
                        <a:picLocks noChangeAspect="1" noChangeArrowheads="1"/>
                      </p:cNvPicPr>
                      <p:nvPr/>
                    </p:nvPicPr>
                    <p:blipFill>
                      <a:blip r:embed="rId13"/>
                      <a:srcRect/>
                      <a:stretch>
                        <a:fillRect/>
                      </a:stretch>
                    </p:blipFill>
                    <p:spPr bwMode="auto">
                      <a:xfrm>
                        <a:off x="4183996" y="4788578"/>
                        <a:ext cx="388658" cy="291494"/>
                      </a:xfrm>
                      <a:prstGeom prst="rect">
                        <a:avLst/>
                      </a:prstGeom>
                      <a:solidFill>
                        <a:srgbClr val="D4EAE4"/>
                      </a:solidFill>
                      <a:ln>
                        <a:noFill/>
                      </a:ln>
                    </p:spPr>
                  </p:pic>
                </p:oleObj>
              </mc:Fallback>
            </mc:AlternateContent>
          </a:graphicData>
        </a:graphic>
      </p:graphicFrame>
      <p:graphicFrame>
        <p:nvGraphicFramePr>
          <p:cNvPr id="62" name="Object 61">
            <a:extLst>
              <a:ext uri="{FF2B5EF4-FFF2-40B4-BE49-F238E27FC236}">
                <a16:creationId xmlns:a16="http://schemas.microsoft.com/office/drawing/2014/main" id="{95B5FC37-1A15-41AD-BB3D-442C95345D5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112353491"/>
              </p:ext>
            </p:extLst>
          </p:nvPr>
        </p:nvGraphicFramePr>
        <p:xfrm>
          <a:off x="6187521" y="4797425"/>
          <a:ext cx="438150" cy="292100"/>
        </p:xfrm>
        <a:graphic>
          <a:graphicData uri="http://schemas.openxmlformats.org/presentationml/2006/ole">
            <mc:AlternateContent xmlns:mc="http://schemas.openxmlformats.org/markup-compatibility/2006">
              <mc:Choice xmlns:v="urn:schemas-microsoft-com:vml" Requires="v">
                <p:oleObj name="Equation" r:id="rId14" imgW="342720" imgH="228600" progId="Equation.DSMT4">
                  <p:embed/>
                </p:oleObj>
              </mc:Choice>
              <mc:Fallback>
                <p:oleObj name="Equation" r:id="rId14" imgW="342720" imgH="228600" progId="Equation.DSMT4">
                  <p:embed/>
                  <p:pic>
                    <p:nvPicPr>
                      <p:cNvPr id="16" name="Object 15">
                        <a:extLst>
                          <a:ext uri="{FF2B5EF4-FFF2-40B4-BE49-F238E27FC236}">
                            <a16:creationId xmlns:a16="http://schemas.microsoft.com/office/drawing/2014/main" id="{D4EA3B22-5B2D-4FCF-AC9C-70D247451A05}"/>
                          </a:ext>
                          <a:ext uri="{C183D7F6-B498-43B3-948B-1728B52AA6E4}">
                            <adec:decorative xmlns:adec="http://schemas.microsoft.com/office/drawing/2017/decorative" val="1"/>
                          </a:ext>
                        </a:extLst>
                      </p:cNvPr>
                      <p:cNvPicPr>
                        <a:picLocks noChangeAspect="1" noChangeArrowheads="1"/>
                      </p:cNvPicPr>
                      <p:nvPr/>
                    </p:nvPicPr>
                    <p:blipFill>
                      <a:blip r:embed="rId15"/>
                      <a:srcRect/>
                      <a:stretch>
                        <a:fillRect/>
                      </a:stretch>
                    </p:blipFill>
                    <p:spPr bwMode="auto">
                      <a:xfrm>
                        <a:off x="6187521" y="4797425"/>
                        <a:ext cx="438150" cy="292100"/>
                      </a:xfrm>
                      <a:prstGeom prst="rect">
                        <a:avLst/>
                      </a:prstGeom>
                      <a:solidFill>
                        <a:srgbClr val="D4EAE4"/>
                      </a:solidFill>
                      <a:ln>
                        <a:noFill/>
                      </a:ln>
                    </p:spPr>
                  </p:pic>
                </p:oleObj>
              </mc:Fallback>
            </mc:AlternateContent>
          </a:graphicData>
        </a:graphic>
      </p:graphicFrame>
      <p:graphicFrame>
        <p:nvGraphicFramePr>
          <p:cNvPr id="63" name="Object 62">
            <a:extLst>
              <a:ext uri="{FF2B5EF4-FFF2-40B4-BE49-F238E27FC236}">
                <a16:creationId xmlns:a16="http://schemas.microsoft.com/office/drawing/2014/main" id="{6C0BB3F0-5AFB-4D41-96CC-BC56481686D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374080600"/>
              </p:ext>
            </p:extLst>
          </p:nvPr>
        </p:nvGraphicFramePr>
        <p:xfrm>
          <a:off x="3682628" y="5393298"/>
          <a:ext cx="242888" cy="176212"/>
        </p:xfrm>
        <a:graphic>
          <a:graphicData uri="http://schemas.openxmlformats.org/presentationml/2006/ole">
            <mc:AlternateContent xmlns:mc="http://schemas.openxmlformats.org/markup-compatibility/2006">
              <mc:Choice xmlns:v="urn:schemas-microsoft-com:vml" Requires="v">
                <p:oleObj name="Equation" r:id="rId16" imgW="190440" imgH="139680" progId="Equation.DSMT4">
                  <p:embed/>
                </p:oleObj>
              </mc:Choice>
              <mc:Fallback>
                <p:oleObj name="Equation" r:id="rId16" imgW="190440" imgH="139680" progId="Equation.DSMT4">
                  <p:embed/>
                  <p:pic>
                    <p:nvPicPr>
                      <p:cNvPr id="18" name="Object 17">
                        <a:extLst>
                          <a:ext uri="{FF2B5EF4-FFF2-40B4-BE49-F238E27FC236}">
                            <a16:creationId xmlns:a16="http://schemas.microsoft.com/office/drawing/2014/main" id="{3DDC220F-C690-458D-BDB4-4AD23F037D1B}"/>
                          </a:ext>
                          <a:ext uri="{C183D7F6-B498-43B3-948B-1728B52AA6E4}">
                            <adec:decorative xmlns:adec="http://schemas.microsoft.com/office/drawing/2017/decorative" val="1"/>
                          </a:ext>
                        </a:extLst>
                      </p:cNvPr>
                      <p:cNvPicPr>
                        <a:picLocks noChangeAspect="1" noChangeArrowheads="1"/>
                      </p:cNvPicPr>
                      <p:nvPr/>
                    </p:nvPicPr>
                    <p:blipFill>
                      <a:blip r:embed="rId17"/>
                      <a:srcRect/>
                      <a:stretch>
                        <a:fillRect/>
                      </a:stretch>
                    </p:blipFill>
                    <p:spPr bwMode="auto">
                      <a:xfrm>
                        <a:off x="3682628" y="5393298"/>
                        <a:ext cx="242888" cy="176212"/>
                      </a:xfrm>
                      <a:prstGeom prst="rect">
                        <a:avLst/>
                      </a:prstGeom>
                      <a:solidFill>
                        <a:srgbClr val="D4EAE4"/>
                      </a:solidFill>
                      <a:ln>
                        <a:noFill/>
                      </a:ln>
                    </p:spPr>
                  </p:pic>
                </p:oleObj>
              </mc:Fallback>
            </mc:AlternateContent>
          </a:graphicData>
        </a:graphic>
      </p:graphicFrame>
      <p:graphicFrame>
        <p:nvGraphicFramePr>
          <p:cNvPr id="64" name="Object 63">
            <a:extLst>
              <a:ext uri="{FF2B5EF4-FFF2-40B4-BE49-F238E27FC236}">
                <a16:creationId xmlns:a16="http://schemas.microsoft.com/office/drawing/2014/main" id="{458EB72B-E76C-4CE8-8B7E-988A1EAC003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171108195"/>
              </p:ext>
            </p:extLst>
          </p:nvPr>
        </p:nvGraphicFramePr>
        <p:xfrm>
          <a:off x="5843386" y="5393296"/>
          <a:ext cx="242888" cy="176212"/>
        </p:xfrm>
        <a:graphic>
          <a:graphicData uri="http://schemas.openxmlformats.org/presentationml/2006/ole">
            <mc:AlternateContent xmlns:mc="http://schemas.openxmlformats.org/markup-compatibility/2006">
              <mc:Choice xmlns:v="urn:schemas-microsoft-com:vml" Requires="v">
                <p:oleObj name="Equation" r:id="rId16" imgW="190440" imgH="139680" progId="Equation.DSMT4">
                  <p:embed/>
                </p:oleObj>
              </mc:Choice>
              <mc:Fallback>
                <p:oleObj name="Equation" r:id="rId16" imgW="190440" imgH="139680" progId="Equation.DSMT4">
                  <p:embed/>
                  <p:pic>
                    <p:nvPicPr>
                      <p:cNvPr id="19" name="Object 18">
                        <a:extLst>
                          <a:ext uri="{FF2B5EF4-FFF2-40B4-BE49-F238E27FC236}">
                            <a16:creationId xmlns:a16="http://schemas.microsoft.com/office/drawing/2014/main" id="{DC301637-2242-4730-A309-D6313A328829}"/>
                          </a:ext>
                          <a:ext uri="{C183D7F6-B498-43B3-948B-1728B52AA6E4}">
                            <adec:decorative xmlns:adec="http://schemas.microsoft.com/office/drawing/2017/decorative" val="1"/>
                          </a:ext>
                        </a:extLst>
                      </p:cNvPr>
                      <p:cNvPicPr>
                        <a:picLocks noChangeAspect="1" noChangeArrowheads="1"/>
                      </p:cNvPicPr>
                      <p:nvPr/>
                    </p:nvPicPr>
                    <p:blipFill>
                      <a:blip r:embed="rId17"/>
                      <a:srcRect/>
                      <a:stretch>
                        <a:fillRect/>
                      </a:stretch>
                    </p:blipFill>
                    <p:spPr bwMode="auto">
                      <a:xfrm>
                        <a:off x="5843386" y="5393296"/>
                        <a:ext cx="242888" cy="176212"/>
                      </a:xfrm>
                      <a:prstGeom prst="rect">
                        <a:avLst/>
                      </a:prstGeom>
                      <a:solidFill>
                        <a:srgbClr val="D4EAE4"/>
                      </a:solidFill>
                      <a:ln>
                        <a:noFill/>
                      </a:ln>
                    </p:spPr>
                  </p:pic>
                </p:oleObj>
              </mc:Fallback>
            </mc:AlternateContent>
          </a:graphicData>
        </a:graphic>
      </p:graphicFrame>
    </p:spTree>
    <p:extLst>
      <p:ext uri="{BB962C8B-B14F-4D97-AF65-F5344CB8AC3E}">
        <p14:creationId xmlns:p14="http://schemas.microsoft.com/office/powerpoint/2010/main" val="31946115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255" y="198262"/>
            <a:ext cx="8229600" cy="1144347"/>
          </a:xfrm>
        </p:spPr>
        <p:txBody>
          <a:bodyPr/>
          <a:lstStyle/>
          <a:p>
            <a:r>
              <a:rPr lang="en-US" noProof="0" dirty="0"/>
              <a:t>Chapter 6 – Inductance and Capacitance </a:t>
            </a:r>
            <a:r>
              <a:rPr lang="en-US" sz="2800" noProof="0" dirty="0"/>
              <a:t>(2 of 2)</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393326" y="1556923"/>
            <a:ext cx="4922744" cy="405683"/>
          </a:xfrm>
        </p:spPr>
        <p:txBody>
          <a:bodyPr wrap="square" lIns="0" tIns="18000" rIns="0" bIns="18000" anchor="ctr">
            <a:spAutoFit/>
          </a:bodyPr>
          <a:lstStyle/>
          <a:p>
            <a:pPr marL="0" indent="0">
              <a:spcBef>
                <a:spcPts val="600"/>
              </a:spcBef>
              <a:buNone/>
            </a:pPr>
            <a:r>
              <a:rPr lang="en-US" sz="2400" noProof="0" dirty="0"/>
              <a:t>Inductor and Capacitor comparison</a:t>
            </a:r>
          </a:p>
        </p:txBody>
      </p:sp>
      <p:graphicFrame>
        <p:nvGraphicFramePr>
          <p:cNvPr id="55" name="Table 54">
            <a:extLst>
              <a:ext uri="{FF2B5EF4-FFF2-40B4-BE49-F238E27FC236}">
                <a16:creationId xmlns:a16="http://schemas.microsoft.com/office/drawing/2014/main" id="{A9B9096B-9992-43E5-B6C5-C9FDDEFFEB57}"/>
              </a:ext>
            </a:extLst>
          </p:cNvPr>
          <p:cNvGraphicFramePr>
            <a:graphicFrameLocks noGrp="1"/>
          </p:cNvGraphicFramePr>
          <p:nvPr>
            <p:extLst>
              <p:ext uri="{D42A27DB-BD31-4B8C-83A1-F6EECF244321}">
                <p14:modId xmlns:p14="http://schemas.microsoft.com/office/powerpoint/2010/main" val="4224562188"/>
              </p:ext>
            </p:extLst>
          </p:nvPr>
        </p:nvGraphicFramePr>
        <p:xfrm>
          <a:off x="1143000" y="2079811"/>
          <a:ext cx="7010400" cy="4206240"/>
        </p:xfrm>
        <a:graphic>
          <a:graphicData uri="http://schemas.openxmlformats.org/drawingml/2006/table">
            <a:tbl>
              <a:tblPr firstRow="1" firstCol="1" bandRow="1">
                <a:tableStyleId>{3B4B98B0-60AC-42C2-AFA5-B58CD77FA1E5}</a:tableStyleId>
              </a:tblPr>
              <a:tblGrid>
                <a:gridCol w="2159000">
                  <a:extLst>
                    <a:ext uri="{9D8B030D-6E8A-4147-A177-3AD203B41FA5}">
                      <a16:colId xmlns:a16="http://schemas.microsoft.com/office/drawing/2014/main" val="20000"/>
                    </a:ext>
                  </a:extLst>
                </a:gridCol>
                <a:gridCol w="22606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228600">
                <a:tc>
                  <a:txBody>
                    <a:bodyPr/>
                    <a:lstStyle/>
                    <a:p>
                      <a:pPr algn="ctr"/>
                      <a:r>
                        <a:rPr lang="en-US" sz="100" b="1" dirty="0">
                          <a:solidFill>
                            <a:schemeClr val="bg1"/>
                          </a:solidFill>
                          <a:latin typeface="Arial" panose="020B0604020202020204" pitchFamily="34" charset="0"/>
                          <a:cs typeface="Arial" panose="020B0604020202020204" pitchFamily="34" charset="0"/>
                        </a:rPr>
                        <a:t>Blank</a:t>
                      </a:r>
                    </a:p>
                  </a:txBody>
                  <a:tcPr marT="45717" marB="45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dirty="0">
                          <a:solidFill>
                            <a:schemeClr val="bg1"/>
                          </a:solidFill>
                          <a:latin typeface="Arial" panose="020B0604020202020204" pitchFamily="34" charset="0"/>
                          <a:cs typeface="Arial" panose="020B0604020202020204" pitchFamily="34" charset="0"/>
                        </a:rPr>
                        <a:t>Inductor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Arial" panose="020B0604020202020204" pitchFamily="34" charset="0"/>
                          <a:cs typeface="Arial" panose="020B0604020202020204" pitchFamily="34" charset="0"/>
                        </a:rPr>
                        <a:t>Capacitor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624840">
                <a:tc>
                  <a:txBody>
                    <a:bodyPr/>
                    <a:lstStyle/>
                    <a:p>
                      <a:pPr algn="ctr"/>
                      <a:r>
                        <a:rPr lang="en-US" b="1" dirty="0">
                          <a:solidFill>
                            <a:schemeClr val="tx1"/>
                          </a:solidFill>
                          <a:latin typeface="Arial" panose="020B0604020202020204" pitchFamily="34" charset="0"/>
                          <a:cs typeface="Arial" panose="020B0604020202020204" pitchFamily="34" charset="0"/>
                        </a:rPr>
                        <a:t>Power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solidFill>
                            <a:schemeClr val="tx1"/>
                          </a:solidFill>
                          <a:latin typeface="Arial" panose="020B0604020202020204" pitchFamily="34" charset="0"/>
                          <a:cs typeface="Arial" panose="020B0604020202020204" pitchFamily="34" charset="0"/>
                        </a:rPr>
                        <a:t>p (t) equals v (t) </a:t>
                      </a:r>
                      <a:r>
                        <a:rPr lang="en-US" sz="100" dirty="0" err="1">
                          <a:solidFill>
                            <a:schemeClr val="tx1"/>
                          </a:solidFill>
                          <a:latin typeface="Arial" panose="020B0604020202020204" pitchFamily="34" charset="0"/>
                          <a:cs typeface="Arial" panose="020B0604020202020204" pitchFamily="34" charset="0"/>
                        </a:rPr>
                        <a:t>i</a:t>
                      </a:r>
                      <a:r>
                        <a:rPr lang="en-US" sz="100" dirty="0">
                          <a:solidFill>
                            <a:schemeClr val="tx1"/>
                          </a:solidFill>
                          <a:latin typeface="Arial" panose="020B0604020202020204" pitchFamily="34" charset="0"/>
                          <a:cs typeface="Arial" panose="020B0604020202020204" pitchFamily="34" charset="0"/>
                        </a:rPr>
                        <a:t> (t) equals L </a:t>
                      </a:r>
                      <a:r>
                        <a:rPr lang="en-US" sz="100" dirty="0" err="1">
                          <a:solidFill>
                            <a:schemeClr val="tx1"/>
                          </a:solidFill>
                          <a:latin typeface="Arial" panose="020B0604020202020204" pitchFamily="34" charset="0"/>
                          <a:cs typeface="Arial" panose="020B0604020202020204" pitchFamily="34" charset="0"/>
                        </a:rPr>
                        <a:t>i</a:t>
                      </a:r>
                      <a:r>
                        <a:rPr lang="en-US" sz="100" dirty="0">
                          <a:solidFill>
                            <a:schemeClr val="tx1"/>
                          </a:solidFill>
                          <a:latin typeface="Arial" panose="020B0604020202020204" pitchFamily="34" charset="0"/>
                          <a:cs typeface="Arial" panose="020B0604020202020204" pitchFamily="34" charset="0"/>
                        </a:rPr>
                        <a:t> (t) Start Fraction d </a:t>
                      </a:r>
                      <a:r>
                        <a:rPr lang="en-US" sz="100" dirty="0" err="1">
                          <a:solidFill>
                            <a:schemeClr val="tx1"/>
                          </a:solidFill>
                          <a:latin typeface="Arial" panose="020B0604020202020204" pitchFamily="34" charset="0"/>
                          <a:cs typeface="Arial" panose="020B0604020202020204" pitchFamily="34" charset="0"/>
                        </a:rPr>
                        <a:t>i</a:t>
                      </a:r>
                      <a:r>
                        <a:rPr lang="en-US" sz="100" dirty="0">
                          <a:solidFill>
                            <a:schemeClr val="tx1"/>
                          </a:solidFill>
                          <a:latin typeface="Arial" panose="020B0604020202020204" pitchFamily="34" charset="0"/>
                          <a:cs typeface="Arial" panose="020B0604020202020204" pitchFamily="34" charset="0"/>
                        </a:rPr>
                        <a:t> (t) over d t End Fraction.</a:t>
                      </a:r>
                    </a:p>
                  </a:txBody>
                  <a:tcPr marT="45717" marB="45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solidFill>
                            <a:schemeClr val="tx1"/>
                          </a:solidFill>
                          <a:latin typeface="Arial" panose="020B0604020202020204" pitchFamily="34" charset="0"/>
                          <a:cs typeface="Arial" panose="020B0604020202020204" pitchFamily="34" charset="0"/>
                        </a:rPr>
                        <a:t>p (t) equals v (t) </a:t>
                      </a:r>
                      <a:r>
                        <a:rPr lang="en-US" sz="100" dirty="0" err="1">
                          <a:solidFill>
                            <a:schemeClr val="tx1"/>
                          </a:solidFill>
                          <a:latin typeface="Arial" panose="020B0604020202020204" pitchFamily="34" charset="0"/>
                          <a:cs typeface="Arial" panose="020B0604020202020204" pitchFamily="34" charset="0"/>
                        </a:rPr>
                        <a:t>i</a:t>
                      </a:r>
                      <a:r>
                        <a:rPr lang="en-US" sz="100" dirty="0">
                          <a:solidFill>
                            <a:schemeClr val="tx1"/>
                          </a:solidFill>
                          <a:latin typeface="Arial" panose="020B0604020202020204" pitchFamily="34" charset="0"/>
                          <a:cs typeface="Arial" panose="020B0604020202020204" pitchFamily="34" charset="0"/>
                        </a:rPr>
                        <a:t> (t) equals C v (t) Start Fraction d v (t) over d t End Fraction.</a:t>
                      </a:r>
                    </a:p>
                  </a:txBody>
                  <a:tcPr marT="45717" marB="45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457200">
                <a:tc>
                  <a:txBody>
                    <a:bodyPr/>
                    <a:lstStyle/>
                    <a:p>
                      <a:pPr algn="ctr"/>
                      <a:r>
                        <a:rPr lang="en-US" b="1" dirty="0">
                          <a:solidFill>
                            <a:schemeClr val="tx1"/>
                          </a:solidFill>
                          <a:latin typeface="Arial" panose="020B0604020202020204" pitchFamily="34" charset="0"/>
                          <a:cs typeface="Arial" panose="020B0604020202020204" pitchFamily="34" charset="0"/>
                        </a:rPr>
                        <a:t>Energy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w (t) equals Start Fraction 1 over 2 End Fraction L </a:t>
                      </a:r>
                      <a:r>
                        <a:rPr lang="en-US" sz="100" dirty="0" err="1">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(t) squared.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w (t) equals Start Fraction 1 over 2 End Fraction C v (t) squared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457200">
                <a:tc>
                  <a:txBody>
                    <a:bodyPr/>
                    <a:lstStyle/>
                    <a:p>
                      <a:pPr algn="ctr"/>
                      <a:r>
                        <a:rPr lang="en-US" b="1" dirty="0">
                          <a:solidFill>
                            <a:schemeClr val="tx1"/>
                          </a:solidFill>
                          <a:latin typeface="Arial" panose="020B0604020202020204" pitchFamily="34" charset="0"/>
                          <a:cs typeface="Arial" panose="020B0604020202020204" pitchFamily="34" charset="0"/>
                        </a:rPr>
                        <a:t>Initial</a:t>
                      </a:r>
                      <a:r>
                        <a:rPr lang="en-US" b="1" baseline="0" dirty="0">
                          <a:solidFill>
                            <a:schemeClr val="tx1"/>
                          </a:solidFill>
                          <a:latin typeface="Arial" panose="020B0604020202020204" pitchFamily="34" charset="0"/>
                          <a:cs typeface="Arial" panose="020B0604020202020204" pitchFamily="34" charset="0"/>
                        </a:rPr>
                        <a:t> energy</a:t>
                      </a:r>
                      <a:endParaRPr lang="en-US" b="1"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i="1" dirty="0">
                          <a:latin typeface="Arial" panose="020B0604020202020204" pitchFamily="34" charset="0"/>
                          <a:cs typeface="Arial" panose="020B0604020202020204" pitchFamily="34" charset="0"/>
                        </a:rPr>
                        <a:t>w subscript 0 baseline (t) equals Start Fraction 1 over 2 End Fraction L </a:t>
                      </a:r>
                      <a:r>
                        <a:rPr lang="en-US" sz="100" i="1" dirty="0" err="1">
                          <a:latin typeface="Arial" panose="020B0604020202020204" pitchFamily="34" charset="0"/>
                          <a:cs typeface="Arial" panose="020B0604020202020204" pitchFamily="34" charset="0"/>
                        </a:rPr>
                        <a:t>i</a:t>
                      </a:r>
                      <a:r>
                        <a:rPr lang="en-US" sz="100" i="1" dirty="0">
                          <a:latin typeface="Arial" panose="020B0604020202020204" pitchFamily="34" charset="0"/>
                          <a:cs typeface="Arial" panose="020B0604020202020204" pitchFamily="34" charset="0"/>
                        </a:rPr>
                        <a:t> (t subscript 0) squared.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i="1" dirty="0">
                          <a:latin typeface="Arial" panose="020B0604020202020204" pitchFamily="34" charset="0"/>
                          <a:cs typeface="Arial" panose="020B0604020202020204" pitchFamily="34" charset="0"/>
                        </a:rPr>
                        <a:t>w subscript 0 baseline (t) equals Start Fraction 1 over 2 End Fraction C v (t subscript 0) squared.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457200">
                <a:tc>
                  <a:txBody>
                    <a:bodyPr/>
                    <a:lstStyle/>
                    <a:p>
                      <a:pPr algn="ctr"/>
                      <a:r>
                        <a:rPr lang="en-US" b="1" dirty="0">
                          <a:solidFill>
                            <a:schemeClr val="tx1"/>
                          </a:solidFill>
                          <a:latin typeface="Arial" panose="020B0604020202020204" pitchFamily="34" charset="0"/>
                          <a:cs typeface="Arial" panose="020B0604020202020204" pitchFamily="34" charset="0"/>
                        </a:rPr>
                        <a:t>Trapped energy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w (infinity) equals Start Fraction 1 over 2 End Fraction L </a:t>
                      </a:r>
                      <a:r>
                        <a:rPr lang="en-US" sz="100" dirty="0" err="1">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(infinity) squared.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w (infinity) equals Start Fraction 1 over 2 End Fraction C v (infinity) squared.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838200">
                <a:tc>
                  <a:txBody>
                    <a:bodyPr/>
                    <a:lstStyle/>
                    <a:p>
                      <a:pPr algn="ctr"/>
                      <a:r>
                        <a:rPr lang="en-US" b="1" dirty="0">
                          <a:solidFill>
                            <a:schemeClr val="tx1"/>
                          </a:solidFill>
                          <a:latin typeface="Arial" panose="020B0604020202020204" pitchFamily="34" charset="0"/>
                          <a:cs typeface="Arial" panose="020B0604020202020204" pitchFamily="34" charset="0"/>
                        </a:rPr>
                        <a:t>Series-connected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i="1" dirty="0">
                          <a:latin typeface="Arial" panose="020B0604020202020204" pitchFamily="34" charset="0"/>
                          <a:cs typeface="Arial" panose="020B0604020202020204" pitchFamily="34" charset="0"/>
                        </a:rPr>
                        <a:t>Line 1: L subscript e q baseline equals L subscript 1 baseline plus L subscript 2 baseline plus L subscript 2.</a:t>
                      </a:r>
                    </a:p>
                    <a:p>
                      <a:pPr algn="ctr"/>
                      <a:r>
                        <a:rPr lang="en-US" sz="100" i="1" dirty="0">
                          <a:latin typeface="Arial" panose="020B0604020202020204" pitchFamily="34" charset="0"/>
                          <a:cs typeface="Arial" panose="020B0604020202020204" pitchFamily="34" charset="0"/>
                        </a:rPr>
                        <a:t>Line 2: </a:t>
                      </a:r>
                      <a:r>
                        <a:rPr lang="en-US" sz="100" i="1" dirty="0" err="1">
                          <a:latin typeface="Arial" panose="020B0604020202020204" pitchFamily="34" charset="0"/>
                          <a:cs typeface="Arial" panose="020B0604020202020204" pitchFamily="34" charset="0"/>
                        </a:rPr>
                        <a:t>i</a:t>
                      </a:r>
                      <a:r>
                        <a:rPr lang="en-US" sz="100" i="1" dirty="0">
                          <a:latin typeface="Arial" panose="020B0604020202020204" pitchFamily="34" charset="0"/>
                          <a:cs typeface="Arial" panose="020B0604020202020204" pitchFamily="34" charset="0"/>
                        </a:rPr>
                        <a:t> subscript e q baseline (t subscript 0) equals </a:t>
                      </a:r>
                      <a:r>
                        <a:rPr lang="en-US" sz="100" i="1" dirty="0" err="1">
                          <a:latin typeface="Arial" panose="020B0604020202020204" pitchFamily="34" charset="0"/>
                          <a:cs typeface="Arial" panose="020B0604020202020204" pitchFamily="34" charset="0"/>
                        </a:rPr>
                        <a:t>i</a:t>
                      </a:r>
                      <a:r>
                        <a:rPr lang="en-US" sz="100" i="1" dirty="0">
                          <a:latin typeface="Arial" panose="020B0604020202020204" pitchFamily="34" charset="0"/>
                          <a:cs typeface="Arial" panose="020B0604020202020204" pitchFamily="34" charset="0"/>
                        </a:rPr>
                        <a:t> (t subscript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i="1" dirty="0">
                          <a:latin typeface="Arial" panose="020B0604020202020204" pitchFamily="34" charset="0"/>
                          <a:cs typeface="Arial" panose="020B0604020202020204" pitchFamily="34" charset="0"/>
                        </a:rPr>
                        <a:t>Line 1: Start Fraction 1 over C subscript e q End Fraction equals Start Fraction 1 over C subscript 1 End Fraction plus Start Fraction 1 over C subscript 2 End Fraction plus Start Fraction 1 over C subscript 3 End Fraction.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00" i="1" dirty="0">
                          <a:latin typeface="Arial" panose="020B0604020202020204" pitchFamily="34" charset="0"/>
                          <a:cs typeface="Arial" panose="020B0604020202020204" pitchFamily="34" charset="0"/>
                        </a:rPr>
                        <a:t>Line 2: v subscript e q baseline (t subscript 0) equals v subscript 1 baseline (t subscript 0) plus v subscript 2 baseline (t subscript 0) plus v subscript 3 baseline (t subscript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1066800">
                <a:tc>
                  <a:txBody>
                    <a:bodyPr/>
                    <a:lstStyle/>
                    <a:p>
                      <a:pPr algn="ctr"/>
                      <a:r>
                        <a:rPr lang="en-US" b="1" dirty="0">
                          <a:solidFill>
                            <a:schemeClr val="tx1"/>
                          </a:solidFill>
                          <a:latin typeface="Arial" panose="020B0604020202020204" pitchFamily="34" charset="0"/>
                          <a:cs typeface="Arial" panose="020B0604020202020204" pitchFamily="34" charset="0"/>
                        </a:rPr>
                        <a:t>Parallel-connected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Line 1: Start Fraction 1 over L subscript e q End Fraction equals Start Fraction 1 over L subscript 1 End Fraction plus Start Fraction 1 over L subscript 2 End Fraction plus Start Fraction 1 over L subscript 3 End Fraction.</a:t>
                      </a:r>
                    </a:p>
                    <a:p>
                      <a:pPr algn="ctr"/>
                      <a:r>
                        <a:rPr lang="en-US" sz="100" dirty="0">
                          <a:latin typeface="Arial" panose="020B0604020202020204" pitchFamily="34" charset="0"/>
                          <a:cs typeface="Arial" panose="020B0604020202020204" pitchFamily="34" charset="0"/>
                        </a:rPr>
                        <a:t>Line 2: </a:t>
                      </a:r>
                      <a:r>
                        <a:rPr lang="en-US" sz="100" dirty="0" err="1">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subscript e q baseline (t subscript 0) equals </a:t>
                      </a:r>
                      <a:r>
                        <a:rPr lang="en-US" sz="100" dirty="0" err="1">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subscript 1 baseline (t subscript 0) plus </a:t>
                      </a:r>
                      <a:r>
                        <a:rPr lang="en-US" sz="100" dirty="0" err="1">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subscript 2 baseline (t subscript 0) plus </a:t>
                      </a:r>
                      <a:r>
                        <a:rPr lang="en-US" sz="100" dirty="0" err="1">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subscript 3 baseline (t subscript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The equations are as follows.</a:t>
                      </a:r>
                    </a:p>
                    <a:p>
                      <a:pPr algn="ctr"/>
                      <a:r>
                        <a:rPr lang="en-US" sz="100" dirty="0">
                          <a:latin typeface="Arial" panose="020B0604020202020204" pitchFamily="34" charset="0"/>
                          <a:cs typeface="Arial" panose="020B0604020202020204" pitchFamily="34" charset="0"/>
                        </a:rPr>
                        <a:t>Line 1: C subscript e q baseline equals C subscript 1 baseline plus C subscript 2 baseline plus C subscript 2.</a:t>
                      </a:r>
                    </a:p>
                    <a:p>
                      <a:pPr algn="ctr"/>
                      <a:r>
                        <a:rPr lang="en-US" sz="100" dirty="0">
                          <a:latin typeface="Arial" panose="020B0604020202020204" pitchFamily="34" charset="0"/>
                          <a:cs typeface="Arial" panose="020B0604020202020204" pitchFamily="34" charset="0"/>
                        </a:rPr>
                        <a:t>Line 2: v subscript e q baseline (t subscript 0) equals v (t subscript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bl>
          </a:graphicData>
        </a:graphic>
      </p:graphicFrame>
      <p:graphicFrame>
        <p:nvGraphicFramePr>
          <p:cNvPr id="56" name="Object 55">
            <a:extLst>
              <a:ext uri="{FF2B5EF4-FFF2-40B4-BE49-F238E27FC236}">
                <a16:creationId xmlns:a16="http://schemas.microsoft.com/office/drawing/2014/main" id="{664AB5BA-596B-49B2-839C-B5284038874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378266005"/>
              </p:ext>
            </p:extLst>
          </p:nvPr>
        </p:nvGraphicFramePr>
        <p:xfrm>
          <a:off x="3346450" y="2437373"/>
          <a:ext cx="2168525" cy="509587"/>
        </p:xfrm>
        <a:graphic>
          <a:graphicData uri="http://schemas.openxmlformats.org/presentationml/2006/ole">
            <mc:AlternateContent xmlns:mc="http://schemas.openxmlformats.org/markup-compatibility/2006">
              <mc:Choice xmlns:v="urn:schemas-microsoft-com:vml" Requires="v">
                <p:oleObj name="Equation" r:id="rId2" imgW="1676160" imgH="393480" progId="Equation.DSMT4">
                  <p:embed/>
                </p:oleObj>
              </mc:Choice>
              <mc:Fallback>
                <p:oleObj name="Equation" r:id="rId2" imgW="1676160" imgH="393480" progId="Equation.DSMT4">
                  <p:embed/>
                  <p:pic>
                    <p:nvPicPr>
                      <p:cNvPr id="20" name="Object 19">
                        <a:extLst>
                          <a:ext uri="{FF2B5EF4-FFF2-40B4-BE49-F238E27FC236}">
                            <a16:creationId xmlns:a16="http://schemas.microsoft.com/office/drawing/2014/main" id="{3B986F24-ED2A-475C-8571-2F6508EF7F2D}"/>
                          </a:ext>
                          <a:ext uri="{C183D7F6-B498-43B3-948B-1728B52AA6E4}">
                            <adec:decorative xmlns:adec="http://schemas.microsoft.com/office/drawing/2017/decorative" val="1"/>
                          </a:ext>
                        </a:extLst>
                      </p:cNvPr>
                      <p:cNvPicPr>
                        <a:picLocks noChangeAspect="1" noChangeArrowheads="1"/>
                      </p:cNvPicPr>
                      <p:nvPr/>
                    </p:nvPicPr>
                    <p:blipFill>
                      <a:blip r:embed="rId3"/>
                      <a:srcRect/>
                      <a:stretch>
                        <a:fillRect/>
                      </a:stretch>
                    </p:blipFill>
                    <p:spPr bwMode="auto">
                      <a:xfrm>
                        <a:off x="3346450" y="2437373"/>
                        <a:ext cx="2168525" cy="509587"/>
                      </a:xfrm>
                      <a:prstGeom prst="rect">
                        <a:avLst/>
                      </a:prstGeom>
                      <a:solidFill>
                        <a:srgbClr val="D4EAE4"/>
                      </a:solidFill>
                      <a:ln>
                        <a:noFill/>
                      </a:ln>
                    </p:spPr>
                  </p:pic>
                </p:oleObj>
              </mc:Fallback>
            </mc:AlternateContent>
          </a:graphicData>
        </a:graphic>
      </p:graphicFrame>
      <p:graphicFrame>
        <p:nvGraphicFramePr>
          <p:cNvPr id="62" name="Object 61">
            <a:extLst>
              <a:ext uri="{FF2B5EF4-FFF2-40B4-BE49-F238E27FC236}">
                <a16:creationId xmlns:a16="http://schemas.microsoft.com/office/drawing/2014/main" id="{B52C5103-85CA-4CE5-9B19-8C97B8BE272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601776970"/>
              </p:ext>
            </p:extLst>
          </p:nvPr>
        </p:nvGraphicFramePr>
        <p:xfrm>
          <a:off x="5727700" y="2451475"/>
          <a:ext cx="2254250" cy="500063"/>
        </p:xfrm>
        <a:graphic>
          <a:graphicData uri="http://schemas.openxmlformats.org/presentationml/2006/ole">
            <mc:AlternateContent xmlns:mc="http://schemas.openxmlformats.org/markup-compatibility/2006">
              <mc:Choice xmlns:v="urn:schemas-microsoft-com:vml" Requires="v">
                <p:oleObj name="Equation" r:id="rId4" imgW="1777680" imgH="393480" progId="Equation.DSMT4">
                  <p:embed/>
                </p:oleObj>
              </mc:Choice>
              <mc:Fallback>
                <p:oleObj name="Equation" r:id="rId4" imgW="1777680" imgH="393480" progId="Equation.DSMT4">
                  <p:embed/>
                  <p:pic>
                    <p:nvPicPr>
                      <p:cNvPr id="26" name="Object 25">
                        <a:extLst>
                          <a:ext uri="{FF2B5EF4-FFF2-40B4-BE49-F238E27FC236}">
                            <a16:creationId xmlns:a16="http://schemas.microsoft.com/office/drawing/2014/main" id="{3AEE513C-9F48-41CC-BB06-CB1FAA8E3AA3}"/>
                          </a:ext>
                          <a:ext uri="{C183D7F6-B498-43B3-948B-1728B52AA6E4}">
                            <adec:decorative xmlns:adec="http://schemas.microsoft.com/office/drawing/2017/decorative" val="1"/>
                          </a:ext>
                        </a:extLst>
                      </p:cNvPr>
                      <p:cNvPicPr>
                        <a:picLocks noChangeAspect="1" noChangeArrowheads="1"/>
                      </p:cNvPicPr>
                      <p:nvPr/>
                    </p:nvPicPr>
                    <p:blipFill>
                      <a:blip r:embed="rId5"/>
                      <a:srcRect/>
                      <a:stretch>
                        <a:fillRect/>
                      </a:stretch>
                    </p:blipFill>
                    <p:spPr bwMode="auto">
                      <a:xfrm>
                        <a:off x="5727700" y="2451475"/>
                        <a:ext cx="2254250" cy="500063"/>
                      </a:xfrm>
                      <a:prstGeom prst="rect">
                        <a:avLst/>
                      </a:prstGeom>
                      <a:solidFill>
                        <a:srgbClr val="D4EAE4"/>
                      </a:solidFill>
                      <a:ln>
                        <a:noFill/>
                      </a:ln>
                    </p:spPr>
                  </p:pic>
                </p:oleObj>
              </mc:Fallback>
            </mc:AlternateContent>
          </a:graphicData>
        </a:graphic>
      </p:graphicFrame>
      <p:graphicFrame>
        <p:nvGraphicFramePr>
          <p:cNvPr id="57" name="Object 56">
            <a:extLst>
              <a:ext uri="{FF2B5EF4-FFF2-40B4-BE49-F238E27FC236}">
                <a16:creationId xmlns:a16="http://schemas.microsoft.com/office/drawing/2014/main" id="{79D86B28-602E-4923-8357-39953DD502D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127318716"/>
              </p:ext>
            </p:extLst>
          </p:nvPr>
        </p:nvGraphicFramePr>
        <p:xfrm>
          <a:off x="3651250" y="3036888"/>
          <a:ext cx="1311275" cy="346075"/>
        </p:xfrm>
        <a:graphic>
          <a:graphicData uri="http://schemas.openxmlformats.org/presentationml/2006/ole">
            <mc:AlternateContent xmlns:mc="http://schemas.openxmlformats.org/markup-compatibility/2006">
              <mc:Choice xmlns:v="urn:schemas-microsoft-com:vml" Requires="v">
                <p:oleObj name="Equation" r:id="rId6" imgW="914400" imgH="241200" progId="Equation.DSMT4">
                  <p:embed/>
                </p:oleObj>
              </mc:Choice>
              <mc:Fallback>
                <p:oleObj name="Equation" r:id="rId6" imgW="914400" imgH="241200" progId="Equation.DSMT4">
                  <p:embed/>
                  <p:pic>
                    <p:nvPicPr>
                      <p:cNvPr id="21" name="Object 20">
                        <a:extLst>
                          <a:ext uri="{FF2B5EF4-FFF2-40B4-BE49-F238E27FC236}">
                            <a16:creationId xmlns:a16="http://schemas.microsoft.com/office/drawing/2014/main" id="{FB84FF74-603D-4942-9A78-C2F07EC5FF9E}"/>
                          </a:ext>
                          <a:ext uri="{C183D7F6-B498-43B3-948B-1728B52AA6E4}">
                            <adec:decorative xmlns:adec="http://schemas.microsoft.com/office/drawing/2017/decorative" val="1"/>
                          </a:ext>
                        </a:extLst>
                      </p:cNvPr>
                      <p:cNvPicPr>
                        <a:picLocks noChangeAspect="1" noChangeArrowheads="1"/>
                      </p:cNvPicPr>
                      <p:nvPr/>
                    </p:nvPicPr>
                    <p:blipFill>
                      <a:blip r:embed="rId7"/>
                      <a:srcRect/>
                      <a:stretch>
                        <a:fillRect/>
                      </a:stretch>
                    </p:blipFill>
                    <p:spPr bwMode="auto">
                      <a:xfrm>
                        <a:off x="3651250" y="3036888"/>
                        <a:ext cx="1311275" cy="346075"/>
                      </a:xfrm>
                      <a:prstGeom prst="rect">
                        <a:avLst/>
                      </a:prstGeom>
                      <a:solidFill>
                        <a:srgbClr val="D4EAE4"/>
                      </a:solidFill>
                      <a:ln>
                        <a:noFill/>
                      </a:ln>
                    </p:spPr>
                  </p:pic>
                </p:oleObj>
              </mc:Fallback>
            </mc:AlternateContent>
          </a:graphicData>
        </a:graphic>
      </p:graphicFrame>
      <p:graphicFrame>
        <p:nvGraphicFramePr>
          <p:cNvPr id="63" name="Object 62">
            <a:extLst>
              <a:ext uri="{FF2B5EF4-FFF2-40B4-BE49-F238E27FC236}">
                <a16:creationId xmlns:a16="http://schemas.microsoft.com/office/drawing/2014/main" id="{BD474ED8-9924-4026-AAFD-B011FBD125D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649803347"/>
              </p:ext>
            </p:extLst>
          </p:nvPr>
        </p:nvGraphicFramePr>
        <p:xfrm>
          <a:off x="6005513" y="3041558"/>
          <a:ext cx="1487487" cy="366712"/>
        </p:xfrm>
        <a:graphic>
          <a:graphicData uri="http://schemas.openxmlformats.org/presentationml/2006/ole">
            <mc:AlternateContent xmlns:mc="http://schemas.openxmlformats.org/markup-compatibility/2006">
              <mc:Choice xmlns:v="urn:schemas-microsoft-com:vml" Requires="v">
                <p:oleObj name="Equation" r:id="rId8" imgW="977760" imgH="241200" progId="Equation.DSMT4">
                  <p:embed/>
                </p:oleObj>
              </mc:Choice>
              <mc:Fallback>
                <p:oleObj name="Equation" r:id="rId8" imgW="977760" imgH="241200" progId="Equation.DSMT4">
                  <p:embed/>
                  <p:pic>
                    <p:nvPicPr>
                      <p:cNvPr id="27" name="Object 26">
                        <a:extLst>
                          <a:ext uri="{FF2B5EF4-FFF2-40B4-BE49-F238E27FC236}">
                            <a16:creationId xmlns:a16="http://schemas.microsoft.com/office/drawing/2014/main" id="{3BA81340-6908-40BF-882F-4FAFDBFD1DA8}"/>
                          </a:ext>
                          <a:ext uri="{C183D7F6-B498-43B3-948B-1728B52AA6E4}">
                            <adec:decorative xmlns:adec="http://schemas.microsoft.com/office/drawing/2017/decorative" val="1"/>
                          </a:ext>
                        </a:extLst>
                      </p:cNvPr>
                      <p:cNvPicPr>
                        <a:picLocks noChangeAspect="1" noChangeArrowheads="1"/>
                      </p:cNvPicPr>
                      <p:nvPr/>
                    </p:nvPicPr>
                    <p:blipFill>
                      <a:blip r:embed="rId9"/>
                      <a:srcRect/>
                      <a:stretch>
                        <a:fillRect/>
                      </a:stretch>
                    </p:blipFill>
                    <p:spPr bwMode="auto">
                      <a:xfrm>
                        <a:off x="6005513" y="3041558"/>
                        <a:ext cx="1487487" cy="366712"/>
                      </a:xfrm>
                      <a:prstGeom prst="rect">
                        <a:avLst/>
                      </a:prstGeom>
                      <a:solidFill>
                        <a:srgbClr val="D4EAE4"/>
                      </a:solidFill>
                      <a:ln>
                        <a:noFill/>
                      </a:ln>
                    </p:spPr>
                  </p:pic>
                </p:oleObj>
              </mc:Fallback>
            </mc:AlternateContent>
          </a:graphicData>
        </a:graphic>
      </p:graphicFrame>
      <p:graphicFrame>
        <p:nvGraphicFramePr>
          <p:cNvPr id="58" name="Object 57">
            <a:extLst>
              <a:ext uri="{FF2B5EF4-FFF2-40B4-BE49-F238E27FC236}">
                <a16:creationId xmlns:a16="http://schemas.microsoft.com/office/drawing/2014/main" id="{EE99028D-07A8-4D2F-8723-F685D1749DC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261698117"/>
              </p:ext>
            </p:extLst>
          </p:nvPr>
        </p:nvGraphicFramePr>
        <p:xfrm>
          <a:off x="3573463" y="3505200"/>
          <a:ext cx="1474787" cy="346075"/>
        </p:xfrm>
        <a:graphic>
          <a:graphicData uri="http://schemas.openxmlformats.org/presentationml/2006/ole">
            <mc:AlternateContent xmlns:mc="http://schemas.openxmlformats.org/markup-compatibility/2006">
              <mc:Choice xmlns:v="urn:schemas-microsoft-com:vml" Requires="v">
                <p:oleObj name="Equation" r:id="rId10" imgW="1028520" imgH="241200" progId="Equation.DSMT4">
                  <p:embed/>
                </p:oleObj>
              </mc:Choice>
              <mc:Fallback>
                <p:oleObj name="Equation" r:id="rId10" imgW="1028520" imgH="241200" progId="Equation.DSMT4">
                  <p:embed/>
                  <p:pic>
                    <p:nvPicPr>
                      <p:cNvPr id="22" name="Object 21">
                        <a:extLst>
                          <a:ext uri="{FF2B5EF4-FFF2-40B4-BE49-F238E27FC236}">
                            <a16:creationId xmlns:a16="http://schemas.microsoft.com/office/drawing/2014/main" id="{3F2945E7-5059-47CC-900F-E23929A42DBF}"/>
                          </a:ext>
                          <a:ext uri="{C183D7F6-B498-43B3-948B-1728B52AA6E4}">
                            <adec:decorative xmlns:adec="http://schemas.microsoft.com/office/drawing/2017/decorative" val="1"/>
                          </a:ext>
                        </a:extLst>
                      </p:cNvPr>
                      <p:cNvPicPr>
                        <a:picLocks noChangeAspect="1" noChangeArrowheads="1"/>
                      </p:cNvPicPr>
                      <p:nvPr/>
                    </p:nvPicPr>
                    <p:blipFill>
                      <a:blip r:embed="rId11"/>
                      <a:srcRect/>
                      <a:stretch>
                        <a:fillRect/>
                      </a:stretch>
                    </p:blipFill>
                    <p:spPr bwMode="auto">
                      <a:xfrm>
                        <a:off x="3573463" y="3505200"/>
                        <a:ext cx="1474787" cy="346075"/>
                      </a:xfrm>
                      <a:prstGeom prst="rect">
                        <a:avLst/>
                      </a:prstGeom>
                      <a:solidFill>
                        <a:srgbClr val="D4EAE4"/>
                      </a:solidFill>
                      <a:ln>
                        <a:noFill/>
                      </a:ln>
                    </p:spPr>
                  </p:pic>
                </p:oleObj>
              </mc:Fallback>
            </mc:AlternateContent>
          </a:graphicData>
        </a:graphic>
      </p:graphicFrame>
      <p:graphicFrame>
        <p:nvGraphicFramePr>
          <p:cNvPr id="64" name="Object 63">
            <a:extLst>
              <a:ext uri="{FF2B5EF4-FFF2-40B4-BE49-F238E27FC236}">
                <a16:creationId xmlns:a16="http://schemas.microsoft.com/office/drawing/2014/main" id="{F6D74296-B558-4C7E-A009-DDBF50C9B12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629327261"/>
              </p:ext>
            </p:extLst>
          </p:nvPr>
        </p:nvGraphicFramePr>
        <p:xfrm>
          <a:off x="6021388" y="3492500"/>
          <a:ext cx="1504950" cy="331788"/>
        </p:xfrm>
        <a:graphic>
          <a:graphicData uri="http://schemas.openxmlformats.org/presentationml/2006/ole">
            <mc:AlternateContent xmlns:mc="http://schemas.openxmlformats.org/markup-compatibility/2006">
              <mc:Choice xmlns:v="urn:schemas-microsoft-com:vml" Requires="v">
                <p:oleObj name="Equation" r:id="rId12" imgW="1091880" imgH="241200" progId="Equation.DSMT4">
                  <p:embed/>
                </p:oleObj>
              </mc:Choice>
              <mc:Fallback>
                <p:oleObj name="Equation" r:id="rId12" imgW="1091880" imgH="241200" progId="Equation.DSMT4">
                  <p:embed/>
                  <p:pic>
                    <p:nvPicPr>
                      <p:cNvPr id="28" name="Object 27">
                        <a:extLst>
                          <a:ext uri="{FF2B5EF4-FFF2-40B4-BE49-F238E27FC236}">
                            <a16:creationId xmlns:a16="http://schemas.microsoft.com/office/drawing/2014/main" id="{342FD4F6-47A9-48AD-B94F-44E7A83BE19A}"/>
                          </a:ext>
                          <a:ext uri="{C183D7F6-B498-43B3-948B-1728B52AA6E4}">
                            <adec:decorative xmlns:adec="http://schemas.microsoft.com/office/drawing/2017/decorative" val="1"/>
                          </a:ext>
                        </a:extLst>
                      </p:cNvPr>
                      <p:cNvPicPr>
                        <a:picLocks noChangeAspect="1" noChangeArrowheads="1"/>
                      </p:cNvPicPr>
                      <p:nvPr/>
                    </p:nvPicPr>
                    <p:blipFill>
                      <a:blip r:embed="rId13"/>
                      <a:srcRect/>
                      <a:stretch>
                        <a:fillRect/>
                      </a:stretch>
                    </p:blipFill>
                    <p:spPr bwMode="auto">
                      <a:xfrm>
                        <a:off x="6021388" y="3492500"/>
                        <a:ext cx="1504950" cy="331788"/>
                      </a:xfrm>
                      <a:prstGeom prst="rect">
                        <a:avLst/>
                      </a:prstGeom>
                      <a:solidFill>
                        <a:srgbClr val="D4EAE4"/>
                      </a:solidFill>
                      <a:ln>
                        <a:noFill/>
                      </a:ln>
                    </p:spPr>
                  </p:pic>
                </p:oleObj>
              </mc:Fallback>
            </mc:AlternateContent>
          </a:graphicData>
        </a:graphic>
      </p:graphicFrame>
      <p:graphicFrame>
        <p:nvGraphicFramePr>
          <p:cNvPr id="59" name="Object 58">
            <a:extLst>
              <a:ext uri="{FF2B5EF4-FFF2-40B4-BE49-F238E27FC236}">
                <a16:creationId xmlns:a16="http://schemas.microsoft.com/office/drawing/2014/main" id="{6F050D01-7D0C-4B4E-9BF9-B5D22FE7A7A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944412972"/>
              </p:ext>
            </p:extLst>
          </p:nvPr>
        </p:nvGraphicFramePr>
        <p:xfrm>
          <a:off x="3581400" y="3941380"/>
          <a:ext cx="1474394" cy="345848"/>
        </p:xfrm>
        <a:graphic>
          <a:graphicData uri="http://schemas.openxmlformats.org/presentationml/2006/ole">
            <mc:AlternateContent xmlns:mc="http://schemas.openxmlformats.org/markup-compatibility/2006">
              <mc:Choice xmlns:v="urn:schemas-microsoft-com:vml" Requires="v">
                <p:oleObj name="Equation" r:id="rId14" imgW="1028520" imgH="241200" progId="Equation.DSMT4">
                  <p:embed/>
                </p:oleObj>
              </mc:Choice>
              <mc:Fallback>
                <p:oleObj name="Equation" r:id="rId14" imgW="1028520" imgH="241200" progId="Equation.DSMT4">
                  <p:embed/>
                  <p:pic>
                    <p:nvPicPr>
                      <p:cNvPr id="23" name="Object 22">
                        <a:extLst>
                          <a:ext uri="{FF2B5EF4-FFF2-40B4-BE49-F238E27FC236}">
                            <a16:creationId xmlns:a16="http://schemas.microsoft.com/office/drawing/2014/main" id="{8F702F40-4D10-4C1D-A70F-DF33D0AAB3BF}"/>
                          </a:ext>
                          <a:ext uri="{C183D7F6-B498-43B3-948B-1728B52AA6E4}">
                            <adec:decorative xmlns:adec="http://schemas.microsoft.com/office/drawing/2017/decorative" val="1"/>
                          </a:ext>
                        </a:extLst>
                      </p:cNvPr>
                      <p:cNvPicPr>
                        <a:picLocks noChangeAspect="1" noChangeArrowheads="1"/>
                      </p:cNvPicPr>
                      <p:nvPr/>
                    </p:nvPicPr>
                    <p:blipFill>
                      <a:blip r:embed="rId15"/>
                      <a:srcRect/>
                      <a:stretch>
                        <a:fillRect/>
                      </a:stretch>
                    </p:blipFill>
                    <p:spPr bwMode="auto">
                      <a:xfrm>
                        <a:off x="3581400" y="3941380"/>
                        <a:ext cx="1474394" cy="345848"/>
                      </a:xfrm>
                      <a:prstGeom prst="rect">
                        <a:avLst/>
                      </a:prstGeom>
                      <a:solidFill>
                        <a:srgbClr val="D4EAE4"/>
                      </a:solidFill>
                      <a:ln>
                        <a:noFill/>
                      </a:ln>
                    </p:spPr>
                  </p:pic>
                </p:oleObj>
              </mc:Fallback>
            </mc:AlternateContent>
          </a:graphicData>
        </a:graphic>
      </p:graphicFrame>
      <p:graphicFrame>
        <p:nvGraphicFramePr>
          <p:cNvPr id="65" name="Object 64">
            <a:extLst>
              <a:ext uri="{FF2B5EF4-FFF2-40B4-BE49-F238E27FC236}">
                <a16:creationId xmlns:a16="http://schemas.microsoft.com/office/drawing/2014/main" id="{D1948888-8D0A-4564-B9EA-A16B17F1286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316724511"/>
              </p:ext>
            </p:extLst>
          </p:nvPr>
        </p:nvGraphicFramePr>
        <p:xfrm>
          <a:off x="5999163" y="3949700"/>
          <a:ext cx="1536700" cy="338138"/>
        </p:xfrm>
        <a:graphic>
          <a:graphicData uri="http://schemas.openxmlformats.org/presentationml/2006/ole">
            <mc:AlternateContent xmlns:mc="http://schemas.openxmlformats.org/markup-compatibility/2006">
              <mc:Choice xmlns:v="urn:schemas-microsoft-com:vml" Requires="v">
                <p:oleObj name="Equation" r:id="rId16" imgW="1091880" imgH="241200" progId="Equation.DSMT4">
                  <p:embed/>
                </p:oleObj>
              </mc:Choice>
              <mc:Fallback>
                <p:oleObj name="Equation" r:id="rId16" imgW="1091880" imgH="241200" progId="Equation.DSMT4">
                  <p:embed/>
                  <p:pic>
                    <p:nvPicPr>
                      <p:cNvPr id="29" name="Object 28">
                        <a:extLst>
                          <a:ext uri="{FF2B5EF4-FFF2-40B4-BE49-F238E27FC236}">
                            <a16:creationId xmlns:a16="http://schemas.microsoft.com/office/drawing/2014/main" id="{370919D5-C5DD-49B3-B432-6B6ED611E02B}"/>
                          </a:ext>
                          <a:ext uri="{C183D7F6-B498-43B3-948B-1728B52AA6E4}">
                            <adec:decorative xmlns:adec="http://schemas.microsoft.com/office/drawing/2017/decorative" val="1"/>
                          </a:ext>
                        </a:extLst>
                      </p:cNvPr>
                      <p:cNvPicPr>
                        <a:picLocks noChangeAspect="1" noChangeArrowheads="1"/>
                      </p:cNvPicPr>
                      <p:nvPr/>
                    </p:nvPicPr>
                    <p:blipFill>
                      <a:blip r:embed="rId17"/>
                      <a:srcRect/>
                      <a:stretch>
                        <a:fillRect/>
                      </a:stretch>
                    </p:blipFill>
                    <p:spPr bwMode="auto">
                      <a:xfrm>
                        <a:off x="5999163" y="3949700"/>
                        <a:ext cx="1536700" cy="338138"/>
                      </a:xfrm>
                      <a:prstGeom prst="rect">
                        <a:avLst/>
                      </a:prstGeom>
                      <a:solidFill>
                        <a:srgbClr val="D4EAE4"/>
                      </a:solidFill>
                      <a:ln>
                        <a:noFill/>
                      </a:ln>
                    </p:spPr>
                  </p:pic>
                </p:oleObj>
              </mc:Fallback>
            </mc:AlternateContent>
          </a:graphicData>
        </a:graphic>
      </p:graphicFrame>
      <p:graphicFrame>
        <p:nvGraphicFramePr>
          <p:cNvPr id="60" name="Object 59">
            <a:extLst>
              <a:ext uri="{FF2B5EF4-FFF2-40B4-BE49-F238E27FC236}">
                <a16:creationId xmlns:a16="http://schemas.microsoft.com/office/drawing/2014/main" id="{8C540950-4B84-46BA-A646-61E66EDA007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57363365"/>
              </p:ext>
            </p:extLst>
          </p:nvPr>
        </p:nvGraphicFramePr>
        <p:xfrm>
          <a:off x="3653069" y="4460991"/>
          <a:ext cx="1361612" cy="608345"/>
        </p:xfrm>
        <a:graphic>
          <a:graphicData uri="http://schemas.openxmlformats.org/presentationml/2006/ole">
            <mc:AlternateContent xmlns:mc="http://schemas.openxmlformats.org/markup-compatibility/2006">
              <mc:Choice xmlns:v="urn:schemas-microsoft-com:vml" Requires="v">
                <p:oleObj name="Equation" r:id="rId18" imgW="1079280" imgH="482400" progId="Equation.DSMT4">
                  <p:embed/>
                </p:oleObj>
              </mc:Choice>
              <mc:Fallback>
                <p:oleObj name="Equation" r:id="rId18" imgW="1079280" imgH="482400" progId="Equation.DSMT4">
                  <p:embed/>
                  <p:pic>
                    <p:nvPicPr>
                      <p:cNvPr id="24" name="Object 23">
                        <a:extLst>
                          <a:ext uri="{FF2B5EF4-FFF2-40B4-BE49-F238E27FC236}">
                            <a16:creationId xmlns:a16="http://schemas.microsoft.com/office/drawing/2014/main" id="{7F88312A-4913-4B29-8089-CA56E5445BF6}"/>
                          </a:ext>
                          <a:ext uri="{C183D7F6-B498-43B3-948B-1728B52AA6E4}">
                            <adec:decorative xmlns:adec="http://schemas.microsoft.com/office/drawing/2017/decorative" val="1"/>
                          </a:ext>
                        </a:extLst>
                      </p:cNvPr>
                      <p:cNvPicPr>
                        <a:picLocks noChangeAspect="1" noChangeArrowheads="1"/>
                      </p:cNvPicPr>
                      <p:nvPr/>
                    </p:nvPicPr>
                    <p:blipFill>
                      <a:blip r:embed="rId19"/>
                      <a:srcRect/>
                      <a:stretch>
                        <a:fillRect/>
                      </a:stretch>
                    </p:blipFill>
                    <p:spPr bwMode="auto">
                      <a:xfrm>
                        <a:off x="3653069" y="4460991"/>
                        <a:ext cx="1361612" cy="608345"/>
                      </a:xfrm>
                      <a:prstGeom prst="rect">
                        <a:avLst/>
                      </a:prstGeom>
                      <a:solidFill>
                        <a:srgbClr val="D4EAE4"/>
                      </a:solidFill>
                      <a:ln>
                        <a:noFill/>
                      </a:ln>
                    </p:spPr>
                  </p:pic>
                </p:oleObj>
              </mc:Fallback>
            </mc:AlternateContent>
          </a:graphicData>
        </a:graphic>
      </p:graphicFrame>
      <p:graphicFrame>
        <p:nvGraphicFramePr>
          <p:cNvPr id="66" name="Object 65">
            <a:extLst>
              <a:ext uri="{FF2B5EF4-FFF2-40B4-BE49-F238E27FC236}">
                <a16:creationId xmlns:a16="http://schemas.microsoft.com/office/drawing/2014/main" id="{721D1A8F-2103-443A-B80E-1F1250A8643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146927951"/>
              </p:ext>
            </p:extLst>
          </p:nvPr>
        </p:nvGraphicFramePr>
        <p:xfrm>
          <a:off x="5906765" y="4403354"/>
          <a:ext cx="1910409" cy="754153"/>
        </p:xfrm>
        <a:graphic>
          <a:graphicData uri="http://schemas.openxmlformats.org/presentationml/2006/ole">
            <mc:AlternateContent xmlns:mc="http://schemas.openxmlformats.org/markup-compatibility/2006">
              <mc:Choice xmlns:v="urn:schemas-microsoft-com:vml" Requires="v">
                <p:oleObj name="Equation" r:id="rId20" imgW="1955520" imgH="711000" progId="Equation.DSMT4">
                  <p:embed/>
                </p:oleObj>
              </mc:Choice>
              <mc:Fallback>
                <p:oleObj name="Equation" r:id="rId20" imgW="1955520" imgH="711000" progId="Equation.DSMT4">
                  <p:embed/>
                  <p:pic>
                    <p:nvPicPr>
                      <p:cNvPr id="30" name="Object 29">
                        <a:extLst>
                          <a:ext uri="{FF2B5EF4-FFF2-40B4-BE49-F238E27FC236}">
                            <a16:creationId xmlns:a16="http://schemas.microsoft.com/office/drawing/2014/main" id="{42E8633A-51EF-4F06-BC13-6B8274061FC2}"/>
                          </a:ext>
                          <a:ext uri="{C183D7F6-B498-43B3-948B-1728B52AA6E4}">
                            <adec:decorative xmlns:adec="http://schemas.microsoft.com/office/drawing/2017/decorative" val="1"/>
                          </a:ext>
                        </a:extLst>
                      </p:cNvPr>
                      <p:cNvPicPr>
                        <a:picLocks noChangeAspect="1" noChangeArrowheads="1"/>
                      </p:cNvPicPr>
                      <p:nvPr/>
                    </p:nvPicPr>
                    <p:blipFill>
                      <a:blip r:embed="rId21"/>
                      <a:srcRect/>
                      <a:stretch>
                        <a:fillRect/>
                      </a:stretch>
                    </p:blipFill>
                    <p:spPr bwMode="auto">
                      <a:xfrm>
                        <a:off x="5906765" y="4403354"/>
                        <a:ext cx="1910409" cy="754153"/>
                      </a:xfrm>
                      <a:prstGeom prst="rect">
                        <a:avLst/>
                      </a:prstGeom>
                      <a:solidFill>
                        <a:srgbClr val="D4EAE4"/>
                      </a:solidFill>
                      <a:ln>
                        <a:noFill/>
                      </a:ln>
                    </p:spPr>
                  </p:pic>
                </p:oleObj>
              </mc:Fallback>
            </mc:AlternateContent>
          </a:graphicData>
        </a:graphic>
      </p:graphicFrame>
      <p:graphicFrame>
        <p:nvGraphicFramePr>
          <p:cNvPr id="61" name="Object 60">
            <a:extLst>
              <a:ext uri="{FF2B5EF4-FFF2-40B4-BE49-F238E27FC236}">
                <a16:creationId xmlns:a16="http://schemas.microsoft.com/office/drawing/2014/main" id="{9E2C8651-E549-4D12-8000-618D8B845BD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066004535"/>
              </p:ext>
            </p:extLst>
          </p:nvPr>
        </p:nvGraphicFramePr>
        <p:xfrm>
          <a:off x="3421063" y="5322888"/>
          <a:ext cx="2005012" cy="858837"/>
        </p:xfrm>
        <a:graphic>
          <a:graphicData uri="http://schemas.openxmlformats.org/presentationml/2006/ole">
            <mc:AlternateContent xmlns:mc="http://schemas.openxmlformats.org/markup-compatibility/2006">
              <mc:Choice xmlns:v="urn:schemas-microsoft-com:vml" Requires="v">
                <p:oleObj name="Equation" r:id="rId22" imgW="1803240" imgH="711000" progId="Equation.DSMT4">
                  <p:embed/>
                </p:oleObj>
              </mc:Choice>
              <mc:Fallback>
                <p:oleObj name="Equation" r:id="rId22" imgW="1803240" imgH="711000" progId="Equation.DSMT4">
                  <p:embed/>
                  <p:pic>
                    <p:nvPicPr>
                      <p:cNvPr id="25" name="Object 24">
                        <a:extLst>
                          <a:ext uri="{FF2B5EF4-FFF2-40B4-BE49-F238E27FC236}">
                            <a16:creationId xmlns:a16="http://schemas.microsoft.com/office/drawing/2014/main" id="{4C1A6D90-0656-470D-9599-DC3AF32B66CF}"/>
                          </a:ext>
                          <a:ext uri="{C183D7F6-B498-43B3-948B-1728B52AA6E4}">
                            <adec:decorative xmlns:adec="http://schemas.microsoft.com/office/drawing/2017/decorative" val="1"/>
                          </a:ext>
                        </a:extLst>
                      </p:cNvPr>
                      <p:cNvPicPr>
                        <a:picLocks noChangeAspect="1" noChangeArrowheads="1"/>
                      </p:cNvPicPr>
                      <p:nvPr/>
                    </p:nvPicPr>
                    <p:blipFill>
                      <a:blip r:embed="rId23"/>
                      <a:srcRect/>
                      <a:stretch>
                        <a:fillRect/>
                      </a:stretch>
                    </p:blipFill>
                    <p:spPr bwMode="auto">
                      <a:xfrm>
                        <a:off x="3421063" y="5322888"/>
                        <a:ext cx="2005012" cy="858837"/>
                      </a:xfrm>
                      <a:prstGeom prst="rect">
                        <a:avLst/>
                      </a:prstGeom>
                      <a:solidFill>
                        <a:srgbClr val="D4EAE4"/>
                      </a:solidFill>
                      <a:ln>
                        <a:noFill/>
                      </a:ln>
                    </p:spPr>
                  </p:pic>
                </p:oleObj>
              </mc:Fallback>
            </mc:AlternateContent>
          </a:graphicData>
        </a:graphic>
      </p:graphicFrame>
      <p:graphicFrame>
        <p:nvGraphicFramePr>
          <p:cNvPr id="67" name="Object 66">
            <a:extLst>
              <a:ext uri="{FF2B5EF4-FFF2-40B4-BE49-F238E27FC236}">
                <a16:creationId xmlns:a16="http://schemas.microsoft.com/office/drawing/2014/main" id="{E0E5289B-1BCD-4CC4-A3BF-158E6A991B0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993513023"/>
              </p:ext>
            </p:extLst>
          </p:nvPr>
        </p:nvGraphicFramePr>
        <p:xfrm>
          <a:off x="5883275" y="5414963"/>
          <a:ext cx="1697038" cy="700087"/>
        </p:xfrm>
        <a:graphic>
          <a:graphicData uri="http://schemas.openxmlformats.org/presentationml/2006/ole">
            <mc:AlternateContent xmlns:mc="http://schemas.openxmlformats.org/markup-compatibility/2006">
              <mc:Choice xmlns:v="urn:schemas-microsoft-com:vml" Requires="v">
                <p:oleObj name="Equation" r:id="rId24" imgW="1168200" imgH="482400" progId="Equation.DSMT4">
                  <p:embed/>
                </p:oleObj>
              </mc:Choice>
              <mc:Fallback>
                <p:oleObj name="Equation" r:id="rId24" imgW="1168200" imgH="482400" progId="Equation.DSMT4">
                  <p:embed/>
                  <p:pic>
                    <p:nvPicPr>
                      <p:cNvPr id="31" name="Object 30">
                        <a:extLst>
                          <a:ext uri="{FF2B5EF4-FFF2-40B4-BE49-F238E27FC236}">
                            <a16:creationId xmlns:a16="http://schemas.microsoft.com/office/drawing/2014/main" id="{E6AE07A5-9B8B-4230-89F6-E8B080D1D0D4}"/>
                          </a:ext>
                          <a:ext uri="{C183D7F6-B498-43B3-948B-1728B52AA6E4}">
                            <adec:decorative xmlns:adec="http://schemas.microsoft.com/office/drawing/2017/decorative" val="1"/>
                          </a:ext>
                        </a:extLst>
                      </p:cNvPr>
                      <p:cNvPicPr>
                        <a:picLocks noChangeAspect="1" noChangeArrowheads="1"/>
                      </p:cNvPicPr>
                      <p:nvPr/>
                    </p:nvPicPr>
                    <p:blipFill>
                      <a:blip r:embed="rId25"/>
                      <a:srcRect/>
                      <a:stretch>
                        <a:fillRect/>
                      </a:stretch>
                    </p:blipFill>
                    <p:spPr bwMode="auto">
                      <a:xfrm>
                        <a:off x="5883275" y="5414963"/>
                        <a:ext cx="1697038" cy="700087"/>
                      </a:xfrm>
                      <a:prstGeom prst="rect">
                        <a:avLst/>
                      </a:prstGeom>
                      <a:solidFill>
                        <a:srgbClr val="D4EAE4"/>
                      </a:solidFill>
                      <a:ln>
                        <a:noFill/>
                      </a:ln>
                    </p:spPr>
                  </p:pic>
                </p:oleObj>
              </mc:Fallback>
            </mc:AlternateContent>
          </a:graphicData>
        </a:graphic>
      </p:graphicFrame>
    </p:spTree>
    <p:extLst>
      <p:ext uri="{BB962C8B-B14F-4D97-AF65-F5344CB8AC3E}">
        <p14:creationId xmlns:p14="http://schemas.microsoft.com/office/powerpoint/2010/main" val="17749445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03809"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1444</TotalTime>
  <Words>1992</Words>
  <Application>Microsoft Macintosh PowerPoint</Application>
  <PresentationFormat>On-screen Show (4:3)</PresentationFormat>
  <Paragraphs>174</Paragraphs>
  <Slides>22</Slides>
  <Notes>7</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22</vt:i4>
      </vt:variant>
    </vt:vector>
  </HeadingPairs>
  <TitlesOfParts>
    <vt:vector size="28" baseType="lpstr">
      <vt:lpstr>Times New Roman</vt:lpstr>
      <vt:lpstr>Verdana</vt:lpstr>
      <vt:lpstr>Arial</vt:lpstr>
      <vt:lpstr>USHE</vt:lpstr>
      <vt:lpstr>USHE_slide options</vt:lpstr>
      <vt:lpstr>Equation</vt:lpstr>
      <vt:lpstr>Electric Circuits</vt:lpstr>
      <vt:lpstr>Chapter 6 – Capacitors (1 of 16)</vt:lpstr>
      <vt:lpstr>Chapter 6 – Capacitors (2 of 16)</vt:lpstr>
      <vt:lpstr>Chapter 6 – Capacitors (2 of 16)</vt:lpstr>
      <vt:lpstr>Chapter 6 – Capacitors (3 of 16)</vt:lpstr>
      <vt:lpstr>Chapter 6 – Capacitors (3 of 16)</vt:lpstr>
      <vt:lpstr>Chapter 6 – Capacitors (6 of 16) </vt:lpstr>
      <vt:lpstr>Chapter 6 – Capacitors (7 of 16)</vt:lpstr>
      <vt:lpstr>Chapter 6 – Capacitors (8 of 16)</vt:lpstr>
      <vt:lpstr>Chapter 6 – Capacitors (9 of 16)</vt:lpstr>
      <vt:lpstr>Chapter 6 – Capacitors (9 of 16)</vt:lpstr>
      <vt:lpstr>Chapter 6 – Capacitors (10 of 16)</vt:lpstr>
      <vt:lpstr>Chapter 6 – Capacitors (11 of 16)</vt:lpstr>
      <vt:lpstr>Chapter 6 – Capacitors (12 of 16)</vt:lpstr>
      <vt:lpstr>Chapter 6 – Capacitors (13 of 16)</vt:lpstr>
      <vt:lpstr>Chapter 6 – Capacitors (14 of 16)</vt:lpstr>
      <vt:lpstr>Chapter 6 – Capacitors (15 of 16)</vt:lpstr>
      <vt:lpstr>Chapter 6 – Capacitors (16 of 16)</vt:lpstr>
      <vt:lpstr>Chapter 6 – Capacitors (16 of 16)</vt:lpstr>
      <vt:lpstr>Chapter 6 – Inductance and Capacitance (1 of 2)</vt:lpstr>
      <vt:lpstr>Chapter 6 – Inductance and Capacitance (2 of 2)</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6 – Part 2</dc:title>
  <dc:subject>Engineering</dc:subject>
  <dc:creator>Nilsson and Riedel</dc:creator>
  <cp:keywords/>
  <dc:description>Alt text for images/ math equations within table cells have been placed behind the object intentionally to provide a better screen reader user experience.</dc:description>
  <cp:lastModifiedBy>Kamil Erdayandi</cp:lastModifiedBy>
  <cp:revision>138</cp:revision>
  <dcterms:modified xsi:type="dcterms:W3CDTF">2025-11-24T11:43:28Z</dcterms:modified>
</cp:coreProperties>
</file>