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20"/>
  </p:notesMasterIdLst>
  <p:handoutMasterIdLst>
    <p:handoutMasterId r:id="rId21"/>
  </p:handoutMasterIdLst>
  <p:sldIdLst>
    <p:sldId id="330" r:id="rId3"/>
    <p:sldId id="731" r:id="rId4"/>
    <p:sldId id="733" r:id="rId5"/>
    <p:sldId id="324" r:id="rId6"/>
    <p:sldId id="718" r:id="rId7"/>
    <p:sldId id="719" r:id="rId8"/>
    <p:sldId id="720" r:id="rId9"/>
    <p:sldId id="721" r:id="rId10"/>
    <p:sldId id="722" r:id="rId11"/>
    <p:sldId id="723" r:id="rId12"/>
    <p:sldId id="724" r:id="rId13"/>
    <p:sldId id="725" r:id="rId14"/>
    <p:sldId id="726" r:id="rId15"/>
    <p:sldId id="728" r:id="rId16"/>
    <p:sldId id="729" r:id="rId17"/>
    <p:sldId id="730" r:id="rId18"/>
    <p:sldId id="717" r:id="rId19"/>
  </p:sldIdLst>
  <p:sldSz cx="9144000" cy="6858000" type="screen4x3"/>
  <p:notesSz cx="6858000" cy="9144000"/>
  <p:embeddedFontLst>
    <p:embeddedFont>
      <p:font typeface="Verdana" panose="020B0604030504040204" pitchFamily="3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27" userDrawn="1">
          <p15:clr>
            <a:srgbClr val="A4A3A4"/>
          </p15:clr>
        </p15:guide>
        <p15:guide id="2" pos="267" userDrawn="1">
          <p15:clr>
            <a:srgbClr val="A4A3A4"/>
          </p15:clr>
        </p15:guide>
        <p15:guide id="3" orient="horz" pos="867" userDrawn="1">
          <p15:clr>
            <a:srgbClr val="A4A3A4"/>
          </p15:clr>
        </p15:guide>
        <p15:guide id="4" pos="2880" userDrawn="1">
          <p15:clr>
            <a:srgbClr val="A4A3A4"/>
          </p15:clr>
        </p15:guide>
        <p15:guide id="5" pos="5462" userDrawn="1">
          <p15:clr>
            <a:srgbClr val="A4A3A4"/>
          </p15:clr>
        </p15:guide>
        <p15:guide id="6" orient="horz" pos="4042" userDrawn="1">
          <p15:clr>
            <a:srgbClr val="A4A3A4"/>
          </p15:clr>
        </p15:guide>
        <p15:guide id="7" orient="horz" pos="21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70" autoAdjust="0"/>
    <p:restoredTop sz="95872" autoAdjust="0"/>
  </p:normalViewPr>
  <p:slideViewPr>
    <p:cSldViewPr snapToGrid="0" snapToObjects="1">
      <p:cViewPr varScale="1">
        <p:scale>
          <a:sx n="105" d="100"/>
          <a:sy n="105" d="100"/>
        </p:scale>
        <p:origin x="1950" y="108"/>
      </p:cViewPr>
      <p:guideLst>
        <p:guide orient="horz" pos="427"/>
        <p:guide pos="267"/>
        <p:guide orient="horz" pos="867"/>
        <p:guide pos="2880"/>
        <p:guide pos="5462"/>
        <p:guide orient="horz" pos="4042"/>
        <p:guide orient="horz" pos="2160"/>
      </p:guideLst>
    </p:cSldViewPr>
  </p:slideViewPr>
  <p:outlineViewPr>
    <p:cViewPr>
      <p:scale>
        <a:sx n="33" d="100"/>
        <a:sy n="33" d="100"/>
      </p:scale>
      <p:origin x="0" y="-7908"/>
    </p:cViewPr>
  </p:outlineViewPr>
  <p:notesTextViewPr>
    <p:cViewPr>
      <p:scale>
        <a:sx n="3" d="2"/>
        <a:sy n="3" d="2"/>
      </p:scale>
      <p:origin x="0" y="0"/>
    </p:cViewPr>
  </p:notesTextViewPr>
  <p:sorterViewPr>
    <p:cViewPr>
      <p:scale>
        <a:sx n="100" d="100"/>
        <a:sy n="100" d="100"/>
      </p:scale>
      <p:origin x="0" y="-3346"/>
    </p:cViewPr>
  </p:sorterViewPr>
  <p:notesViewPr>
    <p:cSldViewPr snapToGrid="0" snapToObjects="1">
      <p:cViewPr varScale="1">
        <p:scale>
          <a:sx n="84" d="100"/>
          <a:sy n="84" d="100"/>
        </p:scale>
        <p:origin x="2226"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commentAuthors" Target="commentAuthors.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4.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3.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2.fntdata"/><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1.fntdata"/><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10/27/2025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 Math Type Plugin</a:t>
            </a:r>
          </a:p>
          <a:p>
            <a:r>
              <a:rPr lang="en-US" dirty="0"/>
              <a:t>2) Math Player (free versions available)</a:t>
            </a:r>
          </a:p>
          <a:p>
            <a:r>
              <a:rPr lang="en-US" dirty="0"/>
              <a:t>3) NVDA Reader (free versions available)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 Math Type Plugin</a:t>
            </a:r>
          </a:p>
          <a:p>
            <a:r>
              <a:rPr lang="en-US" dirty="0"/>
              <a:t>2) Math Player (free versions available)</a:t>
            </a:r>
          </a:p>
          <a:p>
            <a:r>
              <a:rPr lang="en-US" dirty="0"/>
              <a:t>3) NVDA Reader (free versions available)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6631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 Math Type Plugin</a:t>
            </a:r>
          </a:p>
          <a:p>
            <a:r>
              <a:rPr lang="en-US" dirty="0"/>
              <a:t>2) Math Player (free versions available)</a:t>
            </a:r>
          </a:p>
          <a:p>
            <a:r>
              <a:rPr lang="en-US" dirty="0"/>
              <a:t>3) NVDA Reader (free versions available)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674749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Long Description:</a:t>
            </a:r>
          </a:p>
          <a:p>
            <a:r>
              <a:rPr lang="en-US" noProof="0" dirty="0" err="1"/>
              <a:t>i</a:t>
            </a:r>
            <a:r>
              <a:rPr lang="en-US" noProof="0" dirty="0"/>
              <a:t> subscript L Base Line equals Start Fraction R parallel to R subscript L Base Line over R subscript L Base Line End Fraction </a:t>
            </a:r>
            <a:r>
              <a:rPr lang="en-US" noProof="0" dirty="0" err="1"/>
              <a:t>i</a:t>
            </a:r>
            <a:r>
              <a:rPr lang="en-US" noProof="0" dirty="0"/>
              <a:t> subscript S Base Line equals Start Fraction R </a:t>
            </a:r>
            <a:r>
              <a:rPr lang="en-US" noProof="0" dirty="0" err="1"/>
              <a:t>R</a:t>
            </a:r>
            <a:r>
              <a:rPr lang="en-US" noProof="0" dirty="0"/>
              <a:t> subscript L Base Line divided by R plus R subscript L Base Line over R subscript L Base Line End Fraction </a:t>
            </a:r>
            <a:r>
              <a:rPr lang="en-US" noProof="0" dirty="0" err="1"/>
              <a:t>i</a:t>
            </a:r>
            <a:r>
              <a:rPr lang="en-US" noProof="0" dirty="0"/>
              <a:t> subscript S Base Line equals Start Fraction R </a:t>
            </a:r>
            <a:r>
              <a:rPr lang="en-US" noProof="0" dirty="0" err="1"/>
              <a:t>i</a:t>
            </a:r>
            <a:r>
              <a:rPr lang="en-US" noProof="0" dirty="0"/>
              <a:t> subscript S Base Line over R plus R subscript L Base Line End Fraction.</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145260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17</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4827588" y="4620604"/>
            <a:ext cx="3859212" cy="36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4827588" y="51593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4827588" y="5720742"/>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147627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10/27/2025</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43917837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8" name="Picture 7" descr="Pearson Logo">
            <a:extLst>
              <a:ext uri="{FF2B5EF4-FFF2-40B4-BE49-F238E27FC236}">
                <a16:creationId xmlns:a16="http://schemas.microsoft.com/office/drawing/2014/main" id="{25130DBB-D04B-4553-9F9A-509B2F84CEE8}"/>
              </a:ext>
            </a:extLst>
          </p:cNvPr>
          <p:cNvPicPr>
            <a:picLocks noChangeAspect="1"/>
          </p:cNvPicPr>
          <p:nvPr userDrawn="1"/>
        </p:nvPicPr>
        <p:blipFill>
          <a:blip r:embed="rId14"/>
          <a:stretch>
            <a:fillRect/>
          </a:stretch>
        </p:blipFill>
        <p:spPr>
          <a:xfrm>
            <a:off x="430085" y="6411214"/>
            <a:ext cx="986560" cy="310866"/>
          </a:xfrm>
          <a:prstGeom prst="rect">
            <a:avLst/>
          </a:prstGeom>
        </p:spPr>
      </p:pic>
      <p:sp>
        <p:nvSpPr>
          <p:cNvPr id="9" name="Content Placeholder 7">
            <a:extLst>
              <a:ext uri="{FF2B5EF4-FFF2-40B4-BE49-F238E27FC236}">
                <a16:creationId xmlns:a16="http://schemas.microsoft.com/office/drawing/2014/main" id="{8599302A-AE8F-40AB-BE4A-955A5F4AB915}"/>
              </a:ext>
            </a:extLst>
          </p:cNvPr>
          <p:cNvSpPr txBox="1">
            <a:spLocks/>
          </p:cNvSpPr>
          <p:nvPr userDrawn="1"/>
        </p:nvSpPr>
        <p:spPr>
          <a:xfrm>
            <a:off x="2579299" y="6469182"/>
            <a:ext cx="6090590" cy="221018"/>
          </a:xfrm>
          <a:prstGeom prst="rect">
            <a:avLst/>
          </a:prstGeom>
          <a:noFill/>
          <a:ln>
            <a:noFill/>
          </a:ln>
        </p:spPr>
        <p:txBody>
          <a:bodyPr wrap="square" lIns="0" tIns="18000" rIns="0" bIns="18000" anchor="ctr" anchorCtr="0">
            <a:spAutoFit/>
          </a:bodyPr>
          <a:lstStyle>
            <a:defPPr marR="0" lvl="0" algn="l" rtl="0">
              <a:lnSpc>
                <a:spcPct val="100000"/>
              </a:lnSpc>
              <a:spcBef>
                <a:spcPts val="0"/>
              </a:spcBef>
              <a:spcAft>
                <a:spcPts val="0"/>
              </a:spcAft>
            </a:defPPr>
            <a:lvl1pPr marL="256032" indent="-154432" algn="r">
              <a:spcBef>
                <a:spcPts val="1500"/>
              </a:spcBef>
              <a:buClr>
                <a:srgbClr val="007FA3"/>
              </a:buClr>
              <a:buSzPct val="100000"/>
              <a:buFont typeface="Arial"/>
              <a:defRPr sz="1200">
                <a:solidFill>
                  <a:schemeClr val="dk1"/>
                </a:solidFill>
                <a:latin typeface="Verdana" panose="020B0604030504040204" pitchFamily="34" charset="0"/>
                <a:ea typeface="Verdana" panose="020B0604030504040204" pitchFamily="34" charset="0"/>
                <a:cs typeface="Verdana" panose="020B0604030504040204" pitchFamily="34" charset="0"/>
              </a:defRPr>
            </a:lvl1pPr>
            <a:lvl2pPr marL="742950" indent="-184150">
              <a:spcBef>
                <a:spcPts val="600"/>
              </a:spcBef>
              <a:buClr>
                <a:srgbClr val="007FA3"/>
              </a:buClr>
              <a:buSzPct val="100000"/>
              <a:buFont typeface="Arial"/>
              <a:buChar char="–"/>
              <a:defRPr sz="1600">
                <a:solidFill>
                  <a:schemeClr val="dk1"/>
                </a:solidFill>
              </a:defRPr>
            </a:lvl2pPr>
            <a:lvl3pPr marL="1143000" indent="-127000">
              <a:spcBef>
                <a:spcPts val="600"/>
              </a:spcBef>
              <a:buClr>
                <a:srgbClr val="007FA3"/>
              </a:buClr>
              <a:buSzPct val="100000"/>
              <a:buFont typeface="Arial"/>
              <a:buChar char="▪"/>
              <a:defRPr sz="1600">
                <a:solidFill>
                  <a:schemeClr val="dk1"/>
                </a:solidFill>
              </a:defRPr>
            </a:lvl3pPr>
            <a:lvl4pPr marL="1600200" indent="-127000">
              <a:spcBef>
                <a:spcPts val="600"/>
              </a:spcBef>
              <a:buClr>
                <a:srgbClr val="007FA3"/>
              </a:buClr>
              <a:buSzPct val="100000"/>
              <a:buFont typeface="Arial"/>
              <a:buChar char="–"/>
              <a:defRPr sz="1600">
                <a:solidFill>
                  <a:schemeClr val="dk1"/>
                </a:solidFill>
              </a:defRPr>
            </a:lvl4pPr>
            <a:lvl5pPr marL="2057400" indent="-127000">
              <a:spcBef>
                <a:spcPts val="600"/>
              </a:spcBef>
              <a:buClr>
                <a:srgbClr val="007FA3"/>
              </a:buClr>
              <a:buSzPct val="100000"/>
              <a:buFont typeface="Arial"/>
              <a:buChar char="•"/>
              <a:defRPr sz="1600">
                <a:solidFill>
                  <a:schemeClr val="dk1"/>
                </a:solidFill>
              </a:defRPr>
            </a:lvl5pPr>
            <a:lvl6pPr marL="2514600" indent="-127000">
              <a:spcBef>
                <a:spcPts val="300"/>
              </a:spcBef>
              <a:buClr>
                <a:srgbClr val="007FA3"/>
              </a:buClr>
              <a:buSzPct val="100000"/>
              <a:buFont typeface="Arial"/>
              <a:buChar char="•"/>
              <a:defRPr sz="1600">
                <a:solidFill>
                  <a:schemeClr val="dk1"/>
                </a:solidFill>
              </a:defRPr>
            </a:lvl6pPr>
            <a:lvl7pPr marL="2971800" indent="-127000">
              <a:spcBef>
                <a:spcPts val="300"/>
              </a:spcBef>
              <a:buClr>
                <a:srgbClr val="007FA3"/>
              </a:buClr>
              <a:buSzPct val="100000"/>
              <a:buFont typeface="Arial"/>
              <a:buChar char="•"/>
              <a:defRPr sz="1600">
                <a:solidFill>
                  <a:schemeClr val="dk1"/>
                </a:solidFill>
              </a:defRPr>
            </a:lvl7pPr>
            <a:lvl8pPr marL="3429000" indent="-127000">
              <a:spcBef>
                <a:spcPts val="300"/>
              </a:spcBef>
              <a:buClr>
                <a:srgbClr val="007FA3"/>
              </a:buClr>
              <a:buSzPct val="100000"/>
              <a:buFont typeface="Arial"/>
              <a:buChar char="•"/>
              <a:defRPr sz="1600">
                <a:solidFill>
                  <a:schemeClr val="dk1"/>
                </a:solidFill>
              </a:defRPr>
            </a:lvl8pPr>
            <a:lvl9pPr marL="3886200" indent="-127000">
              <a:spcBef>
                <a:spcPts val="300"/>
              </a:spcBef>
              <a:buClr>
                <a:srgbClr val="007FA3"/>
              </a:buClr>
              <a:buSzPct val="100000"/>
              <a:buFont typeface="Arial"/>
              <a:buChar char="•"/>
              <a:defRPr sz="1600">
                <a:solidFill>
                  <a:schemeClr val="dk1"/>
                </a:solidFill>
              </a:defRPr>
            </a:lvl9pPr>
          </a:lstStyle>
          <a:p>
            <a:pPr lvl="0"/>
            <a:r>
              <a:rPr lang="en-US" dirty="0"/>
              <a:t>© 2024 Pearson Education Ltd. All Rights Reserved.</a:t>
            </a:r>
          </a:p>
        </p:txBody>
      </p:sp>
    </p:spTree>
  </p:cSld>
  <p:clrMap bg1="lt1" tx1="dk1" bg2="dk2" tx2="lt2" accent1="accent1" accent2="accent2" accent3="accent3" accent4="accent4" accent5="accent5" accent6="accent6" hlink="hlink" folHlink="folHlink"/>
  <p:sldLayoutIdLst>
    <p:sldLayoutId id="2147483649" r:id="rId1"/>
    <p:sldLayoutId id="2147483676" r:id="rId2"/>
    <p:sldLayoutId id="2147483677" r:id="rId3"/>
    <p:sldLayoutId id="2147483678" r:id="rId4"/>
    <p:sldLayoutId id="2147483679" r:id="rId5"/>
    <p:sldLayoutId id="2147483680" r:id="rId6"/>
    <p:sldLayoutId id="2147483671" r:id="rId7"/>
    <p:sldLayoutId id="2147483673" r:id="rId8"/>
    <p:sldLayoutId id="2147483670" r:id="rId9"/>
    <p:sldLayoutId id="2147483669" r:id="rId10"/>
    <p:sldLayoutId id="2147483655" r:id="rId11"/>
    <p:sldLayoutId id="214748368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image" Target="../media/image5.jpg"/><Relationship Id="rId1" Type="http://schemas.openxmlformats.org/officeDocument/2006/relationships/slideLayout" Target="../slideLayouts/slideLayout8.xml"/><Relationship Id="rId6" Type="http://schemas.openxmlformats.org/officeDocument/2006/relationships/image" Target="../media/image7.wmf"/><Relationship Id="rId5" Type="http://schemas.openxmlformats.org/officeDocument/2006/relationships/oleObject" Target="../embeddings/oleObject2.bin"/><Relationship Id="rId10" Type="http://schemas.openxmlformats.org/officeDocument/2006/relationships/image" Target="../media/image9.wmf"/><Relationship Id="rId4" Type="http://schemas.openxmlformats.org/officeDocument/2006/relationships/image" Target="../media/image6.wmf"/><Relationship Id="rId9"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8" Type="http://schemas.openxmlformats.org/officeDocument/2006/relationships/image" Target="../media/image10.wmf"/><Relationship Id="rId13" Type="http://schemas.openxmlformats.org/officeDocument/2006/relationships/image" Target="../media/image12.wmf"/><Relationship Id="rId3" Type="http://schemas.openxmlformats.org/officeDocument/2006/relationships/oleObject" Target="../embeddings/oleObject5.bin"/><Relationship Id="rId7" Type="http://schemas.openxmlformats.org/officeDocument/2006/relationships/oleObject" Target="../embeddings/oleObject7.bin"/><Relationship Id="rId12" Type="http://schemas.openxmlformats.org/officeDocument/2006/relationships/oleObject" Target="../embeddings/oleObject10.bin"/><Relationship Id="rId2" Type="http://schemas.openxmlformats.org/officeDocument/2006/relationships/image" Target="../media/image5.jpg"/><Relationship Id="rId1" Type="http://schemas.openxmlformats.org/officeDocument/2006/relationships/slideLayout" Target="../slideLayouts/slideLayout8.xml"/><Relationship Id="rId6" Type="http://schemas.openxmlformats.org/officeDocument/2006/relationships/image" Target="../media/image8.wmf"/><Relationship Id="rId11" Type="http://schemas.openxmlformats.org/officeDocument/2006/relationships/oleObject" Target="../embeddings/oleObject9.bin"/><Relationship Id="rId5" Type="http://schemas.openxmlformats.org/officeDocument/2006/relationships/oleObject" Target="../embeddings/oleObject6.bin"/><Relationship Id="rId10" Type="http://schemas.openxmlformats.org/officeDocument/2006/relationships/image" Target="../media/image11.wmf"/><Relationship Id="rId4" Type="http://schemas.openxmlformats.org/officeDocument/2006/relationships/image" Target="../media/image6.wmf"/><Relationship Id="rId9" Type="http://schemas.openxmlformats.org/officeDocument/2006/relationships/oleObject" Target="../embeddings/oleObject8.bin"/></Relationships>
</file>

<file path=ppt/slides/_rels/slide8.xml.rels><?xml version="1.0" encoding="UTF-8" standalone="yes"?>
<Relationships xmlns="http://schemas.openxmlformats.org/package/2006/relationships"><Relationship Id="rId8" Type="http://schemas.openxmlformats.org/officeDocument/2006/relationships/image" Target="../media/image8.wmf"/><Relationship Id="rId13" Type="http://schemas.openxmlformats.org/officeDocument/2006/relationships/image" Target="../media/image9.wmf"/><Relationship Id="rId3" Type="http://schemas.openxmlformats.org/officeDocument/2006/relationships/oleObject" Target="../embeddings/oleObject11.bin"/><Relationship Id="rId7" Type="http://schemas.openxmlformats.org/officeDocument/2006/relationships/oleObject" Target="../embeddings/oleObject13.bin"/><Relationship Id="rId12" Type="http://schemas.openxmlformats.org/officeDocument/2006/relationships/oleObject" Target="../embeddings/oleObject16.bin"/><Relationship Id="rId2" Type="http://schemas.openxmlformats.org/officeDocument/2006/relationships/image" Target="../media/image13.jpg"/><Relationship Id="rId1" Type="http://schemas.openxmlformats.org/officeDocument/2006/relationships/slideLayout" Target="../slideLayouts/slideLayout8.xml"/><Relationship Id="rId6" Type="http://schemas.openxmlformats.org/officeDocument/2006/relationships/image" Target="../media/image15.wmf"/><Relationship Id="rId11" Type="http://schemas.openxmlformats.org/officeDocument/2006/relationships/image" Target="../media/image16.wmf"/><Relationship Id="rId5" Type="http://schemas.openxmlformats.org/officeDocument/2006/relationships/oleObject" Target="../embeddings/oleObject12.bin"/><Relationship Id="rId10" Type="http://schemas.openxmlformats.org/officeDocument/2006/relationships/oleObject" Target="../embeddings/oleObject15.bin"/><Relationship Id="rId4" Type="http://schemas.openxmlformats.org/officeDocument/2006/relationships/image" Target="../media/image14.wmf"/><Relationship Id="rId9" Type="http://schemas.openxmlformats.org/officeDocument/2006/relationships/oleObject" Target="../embeddings/oleObject14.bin"/></Relationships>
</file>

<file path=ppt/slides/_rels/slide9.xml.rels><?xml version="1.0" encoding="UTF-8" standalone="yes"?>
<Relationships xmlns="http://schemas.openxmlformats.org/package/2006/relationships"><Relationship Id="rId8" Type="http://schemas.openxmlformats.org/officeDocument/2006/relationships/image" Target="../media/image19.wmf"/><Relationship Id="rId13" Type="http://schemas.openxmlformats.org/officeDocument/2006/relationships/oleObject" Target="../embeddings/oleObject22.bin"/><Relationship Id="rId3" Type="http://schemas.openxmlformats.org/officeDocument/2006/relationships/oleObject" Target="../embeddings/oleObject17.bin"/><Relationship Id="rId7" Type="http://schemas.openxmlformats.org/officeDocument/2006/relationships/oleObject" Target="../embeddings/oleObject19.bin"/><Relationship Id="rId12" Type="http://schemas.openxmlformats.org/officeDocument/2006/relationships/image" Target="../media/image21.wmf"/><Relationship Id="rId2" Type="http://schemas.openxmlformats.org/officeDocument/2006/relationships/image" Target="../media/image13.jpg"/><Relationship Id="rId1" Type="http://schemas.openxmlformats.org/officeDocument/2006/relationships/slideLayout" Target="../slideLayouts/slideLayout8.xml"/><Relationship Id="rId6" Type="http://schemas.openxmlformats.org/officeDocument/2006/relationships/image" Target="../media/image18.wmf"/><Relationship Id="rId11" Type="http://schemas.openxmlformats.org/officeDocument/2006/relationships/oleObject" Target="../embeddings/oleObject21.bin"/><Relationship Id="rId5" Type="http://schemas.openxmlformats.org/officeDocument/2006/relationships/oleObject" Target="../embeddings/oleObject18.bin"/><Relationship Id="rId10" Type="http://schemas.openxmlformats.org/officeDocument/2006/relationships/image" Target="../media/image20.wmf"/><Relationship Id="rId4" Type="http://schemas.openxmlformats.org/officeDocument/2006/relationships/image" Target="../media/image17.wmf"/><Relationship Id="rId9" Type="http://schemas.openxmlformats.org/officeDocument/2006/relationships/oleObject" Target="../embeddings/oleObject20.bin"/><Relationship Id="rId14" Type="http://schemas.openxmlformats.org/officeDocument/2006/relationships/image" Target="../media/image12.w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image" Target="../media/image22.jpg"/><Relationship Id="rId7" Type="http://schemas.openxmlformats.org/officeDocument/2006/relationships/image" Target="../media/image24.wmf"/><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oleObject" Target="../embeddings/oleObject24.bin"/><Relationship Id="rId5" Type="http://schemas.openxmlformats.org/officeDocument/2006/relationships/image" Target="../media/image23.wmf"/><Relationship Id="rId4" Type="http://schemas.openxmlformats.org/officeDocument/2006/relationships/oleObject" Target="../embeddings/oleObject23.bin"/><Relationship Id="rId9" Type="http://schemas.openxmlformats.org/officeDocument/2006/relationships/image" Target="../media/image25.wmf"/></Relationships>
</file>

<file path=ppt/slides/_rels/slide11.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26.bin"/><Relationship Id="rId1" Type="http://schemas.openxmlformats.org/officeDocument/2006/relationships/slideLayout" Target="../slideLayouts/slideLayout8.xml"/><Relationship Id="rId6" Type="http://schemas.openxmlformats.org/officeDocument/2006/relationships/image" Target="../media/image29.jpg"/><Relationship Id="rId5" Type="http://schemas.openxmlformats.org/officeDocument/2006/relationships/image" Target="../media/image28.jpg"/><Relationship Id="rId4" Type="http://schemas.openxmlformats.org/officeDocument/2006/relationships/image" Target="../media/image27.jpg"/></Relationships>
</file>

<file path=ppt/slides/_rels/slide12.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jp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2.jpg"/><Relationship Id="rId1" Type="http://schemas.openxmlformats.org/officeDocument/2006/relationships/slideLayout" Target="../slideLayouts/slideLayout8.xml"/><Relationship Id="rId5" Type="http://schemas.openxmlformats.org/officeDocument/2006/relationships/image" Target="../media/image34.wmf"/><Relationship Id="rId4" Type="http://schemas.openxmlformats.org/officeDocument/2006/relationships/oleObject" Target="../embeddings/oleObject27.bin"/></Relationships>
</file>

<file path=ppt/slides/_rels/slide14.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28.bin"/><Relationship Id="rId1" Type="http://schemas.openxmlformats.org/officeDocument/2006/relationships/slideLayout" Target="../slideLayouts/slideLayout8.xml"/><Relationship Id="rId5" Type="http://schemas.openxmlformats.org/officeDocument/2006/relationships/image" Target="../media/image37.jpg"/><Relationship Id="rId4" Type="http://schemas.openxmlformats.org/officeDocument/2006/relationships/image" Target="../media/image36.jpg"/></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image" Target="../media/image38.jpg"/><Relationship Id="rId1" Type="http://schemas.openxmlformats.org/officeDocument/2006/relationships/slideLayout" Target="../slideLayouts/slideLayout8.xml"/><Relationship Id="rId6" Type="http://schemas.openxmlformats.org/officeDocument/2006/relationships/image" Target="../media/image40.wmf"/><Relationship Id="rId5" Type="http://schemas.openxmlformats.org/officeDocument/2006/relationships/oleObject" Target="../embeddings/oleObject30.bin"/><Relationship Id="rId4" Type="http://schemas.openxmlformats.org/officeDocument/2006/relationships/image" Target="../media/image39.wmf"/></Relationships>
</file>

<file path=ppt/slides/_rels/slide16.xml.rels><?xml version="1.0" encoding="UTF-8" standalone="yes"?>
<Relationships xmlns="http://schemas.openxmlformats.org/package/2006/relationships"><Relationship Id="rId13" Type="http://schemas.openxmlformats.org/officeDocument/2006/relationships/oleObject" Target="../embeddings/oleObject36.bin"/><Relationship Id="rId18" Type="http://schemas.openxmlformats.org/officeDocument/2006/relationships/image" Target="../media/image49.wmf"/><Relationship Id="rId26" Type="http://schemas.openxmlformats.org/officeDocument/2006/relationships/image" Target="../media/image53.wmf"/><Relationship Id="rId3" Type="http://schemas.openxmlformats.org/officeDocument/2006/relationships/oleObject" Target="../embeddings/oleObject31.bin"/><Relationship Id="rId21" Type="http://schemas.openxmlformats.org/officeDocument/2006/relationships/oleObject" Target="../embeddings/oleObject40.bin"/><Relationship Id="rId34" Type="http://schemas.openxmlformats.org/officeDocument/2006/relationships/image" Target="../media/image57.wmf"/><Relationship Id="rId7" Type="http://schemas.openxmlformats.org/officeDocument/2006/relationships/oleObject" Target="../embeddings/oleObject33.bin"/><Relationship Id="rId12" Type="http://schemas.openxmlformats.org/officeDocument/2006/relationships/image" Target="../media/image46.wmf"/><Relationship Id="rId17" Type="http://schemas.openxmlformats.org/officeDocument/2006/relationships/oleObject" Target="../embeddings/oleObject38.bin"/><Relationship Id="rId25" Type="http://schemas.openxmlformats.org/officeDocument/2006/relationships/oleObject" Target="../embeddings/oleObject42.bin"/><Relationship Id="rId33" Type="http://schemas.openxmlformats.org/officeDocument/2006/relationships/oleObject" Target="../embeddings/oleObject46.bin"/><Relationship Id="rId2" Type="http://schemas.openxmlformats.org/officeDocument/2006/relationships/image" Target="../media/image41.jpg"/><Relationship Id="rId16" Type="http://schemas.openxmlformats.org/officeDocument/2006/relationships/image" Target="../media/image48.wmf"/><Relationship Id="rId20" Type="http://schemas.openxmlformats.org/officeDocument/2006/relationships/image" Target="../media/image50.wmf"/><Relationship Id="rId29" Type="http://schemas.openxmlformats.org/officeDocument/2006/relationships/oleObject" Target="../embeddings/oleObject44.bin"/><Relationship Id="rId1" Type="http://schemas.openxmlformats.org/officeDocument/2006/relationships/slideLayout" Target="../slideLayouts/slideLayout8.xml"/><Relationship Id="rId6" Type="http://schemas.openxmlformats.org/officeDocument/2006/relationships/image" Target="../media/image43.wmf"/><Relationship Id="rId11" Type="http://schemas.openxmlformats.org/officeDocument/2006/relationships/oleObject" Target="../embeddings/oleObject35.bin"/><Relationship Id="rId24" Type="http://schemas.openxmlformats.org/officeDocument/2006/relationships/image" Target="../media/image52.wmf"/><Relationship Id="rId32" Type="http://schemas.openxmlformats.org/officeDocument/2006/relationships/image" Target="../media/image56.wmf"/><Relationship Id="rId5" Type="http://schemas.openxmlformats.org/officeDocument/2006/relationships/oleObject" Target="../embeddings/oleObject32.bin"/><Relationship Id="rId15" Type="http://schemas.openxmlformats.org/officeDocument/2006/relationships/oleObject" Target="../embeddings/oleObject37.bin"/><Relationship Id="rId23" Type="http://schemas.openxmlformats.org/officeDocument/2006/relationships/oleObject" Target="../embeddings/oleObject41.bin"/><Relationship Id="rId28" Type="http://schemas.openxmlformats.org/officeDocument/2006/relationships/image" Target="../media/image54.wmf"/><Relationship Id="rId36" Type="http://schemas.openxmlformats.org/officeDocument/2006/relationships/image" Target="../media/image58.wmf"/><Relationship Id="rId10" Type="http://schemas.openxmlformats.org/officeDocument/2006/relationships/image" Target="../media/image45.wmf"/><Relationship Id="rId19" Type="http://schemas.openxmlformats.org/officeDocument/2006/relationships/oleObject" Target="../embeddings/oleObject39.bin"/><Relationship Id="rId31" Type="http://schemas.openxmlformats.org/officeDocument/2006/relationships/oleObject" Target="../embeddings/oleObject45.bin"/><Relationship Id="rId4" Type="http://schemas.openxmlformats.org/officeDocument/2006/relationships/image" Target="../media/image42.wmf"/><Relationship Id="rId9" Type="http://schemas.openxmlformats.org/officeDocument/2006/relationships/oleObject" Target="../embeddings/oleObject34.bin"/><Relationship Id="rId14" Type="http://schemas.openxmlformats.org/officeDocument/2006/relationships/image" Target="../media/image47.wmf"/><Relationship Id="rId22" Type="http://schemas.openxmlformats.org/officeDocument/2006/relationships/image" Target="../media/image51.wmf"/><Relationship Id="rId27" Type="http://schemas.openxmlformats.org/officeDocument/2006/relationships/oleObject" Target="../embeddings/oleObject43.bin"/><Relationship Id="rId30" Type="http://schemas.openxmlformats.org/officeDocument/2006/relationships/image" Target="../media/image55.wmf"/><Relationship Id="rId35" Type="http://schemas.openxmlformats.org/officeDocument/2006/relationships/oleObject" Target="../embeddings/oleObject47.bin"/><Relationship Id="rId8" Type="http://schemas.openxmlformats.org/officeDocument/2006/relationships/image" Target="../media/image44.wmf"/></Relationships>
</file>

<file path=ppt/slides/_rels/slide1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6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30304" y="215371"/>
            <a:ext cx="8239583" cy="590349"/>
          </a:xfrm>
        </p:spPr>
        <p:txBody>
          <a:bodyPr wrap="square" lIns="0" tIns="18000" rIns="0" bIns="18000" anchor="ctr">
            <a:spAutoFit/>
          </a:bodyPr>
          <a:lstStyle/>
          <a:p>
            <a:r>
              <a:rPr lang="en-US" noProof="0" dirty="0"/>
              <a:t>Electric Circuits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0305" y="1106770"/>
            <a:ext cx="8240620" cy="344128"/>
          </a:xfrm>
        </p:spPr>
        <p:txBody>
          <a:bodyPr wrap="square" lIns="0" tIns="18000" rIns="0" bIns="18000" anchor="ctr">
            <a:spAutoFit/>
          </a:bodyPr>
          <a:lstStyle/>
          <a:p>
            <a:r>
              <a:rPr lang="en-US" noProof="0" dirty="0"/>
              <a:t>Twelfth </a:t>
            </a:r>
            <a:r>
              <a:rPr lang="en-US" dirty="0"/>
              <a:t>Edition, Global Edition</a:t>
            </a:r>
            <a:endParaRPr lang="en-US" noProof="0" dirty="0"/>
          </a:p>
        </p:txBody>
      </p:sp>
      <p:pic>
        <p:nvPicPr>
          <p:cNvPr id="9" name="Picture 8">
            <a:extLst>
              <a:ext uri="{FF2B5EF4-FFF2-40B4-BE49-F238E27FC236}">
                <a16:creationId xmlns:a16="http://schemas.microsoft.com/office/drawing/2014/main" id="{17BBF6AF-BF40-4D47-AFC6-E45C71C59607}"/>
              </a:ext>
            </a:extLst>
          </p:cNvPr>
          <p:cNvPicPr>
            <a:picLocks noChangeAspect="1"/>
          </p:cNvPicPr>
          <p:nvPr/>
        </p:nvPicPr>
        <p:blipFill>
          <a:blip r:embed="rId3"/>
          <a:stretch>
            <a:fillRect/>
          </a:stretch>
        </p:blipFill>
        <p:spPr>
          <a:xfrm>
            <a:off x="492662" y="1771328"/>
            <a:ext cx="3609247" cy="4511158"/>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9" y="2815153"/>
            <a:ext cx="3657600" cy="498016"/>
          </a:xfrm>
        </p:spPr>
        <p:txBody>
          <a:bodyPr lIns="0" tIns="18000" rIns="0" bIns="18000" anchor="ctr">
            <a:spAutoFit/>
          </a:bodyPr>
          <a:lstStyle/>
          <a:p>
            <a:pPr indent="-101600"/>
            <a:r>
              <a:rPr lang="en-US" noProof="0" dirty="0">
                <a:solidFill>
                  <a:schemeClr val="tx1"/>
                </a:solidFill>
              </a:rPr>
              <a:t>Chapter 4 – Part 5</a:t>
            </a:r>
            <a:endParaRPr lang="en-US" noProof="0" dirty="0"/>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8" y="3545534"/>
            <a:ext cx="3745070" cy="374906"/>
          </a:xfrm>
        </p:spPr>
        <p:txBody>
          <a:bodyPr wrap="square" lIns="0" tIns="18000" rIns="0" bIns="18000" anchor="ctr">
            <a:spAutoFit/>
          </a:bodyPr>
          <a:lstStyle/>
          <a:p>
            <a:pPr marL="0"/>
            <a:r>
              <a:rPr lang="en-US" noProof="0" dirty="0">
                <a:solidFill>
                  <a:schemeClr val="tx1"/>
                </a:solidFill>
              </a:rPr>
              <a:t>Techniques of Circuit Analysis</a:t>
            </a: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11214"/>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579299" y="6469182"/>
            <a:ext cx="6090590" cy="221018"/>
          </a:xfrm>
          <a:noFill/>
          <a:ln>
            <a:noFill/>
          </a:ln>
        </p:spPr>
        <p:txBody>
          <a:bodyPr wrap="square" lIns="0" tIns="18000" rIns="0" bIns="18000" anchor="ctr" anchorCtr="0">
            <a:spAutoFit/>
          </a:bodyPr>
          <a:lstStyle/>
          <a:p>
            <a:r>
              <a:rPr lang="en-US" dirty="0"/>
              <a:t>© 2024 Pearson Education Ltd.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0EF34085-86CC-9C32-1A25-02ECE387CBE2}"/>
              </a:ext>
            </a:extLst>
          </p:cNvPr>
          <p:cNvSpPr>
            <a:spLocks noGrp="1"/>
          </p:cNvSpPr>
          <p:nvPr>
            <p:ph type="title"/>
          </p:nvPr>
        </p:nvSpPr>
        <p:spPr/>
        <p:txBody>
          <a:bodyPr/>
          <a:lstStyle/>
          <a:p>
            <a:pPr algn="ctr"/>
            <a:r>
              <a:rPr lang="en-US" dirty="0"/>
              <a:t>Student discipline regulations of higher education institutions</a:t>
            </a:r>
          </a:p>
        </p:txBody>
      </p:sp>
      <p:sp>
        <p:nvSpPr>
          <p:cNvPr id="14" name="Content Placeholder 13">
            <a:extLst>
              <a:ext uri="{FF2B5EF4-FFF2-40B4-BE49-F238E27FC236}">
                <a16:creationId xmlns:a16="http://schemas.microsoft.com/office/drawing/2014/main" id="{138EEB53-38BD-6287-25E7-14539D3FBFD5}"/>
              </a:ext>
            </a:extLst>
          </p:cNvPr>
          <p:cNvSpPr>
            <a:spLocks noGrp="1"/>
          </p:cNvSpPr>
          <p:nvPr>
            <p:ph sz="quarter" idx="14"/>
          </p:nvPr>
        </p:nvSpPr>
        <p:spPr/>
        <p:txBody>
          <a:bodyPr/>
          <a:lstStyle/>
          <a:p>
            <a:endParaRPr lang="en-US"/>
          </a:p>
        </p:txBody>
      </p:sp>
      <p:sp>
        <p:nvSpPr>
          <p:cNvPr id="16" name="Content Placeholder 15">
            <a:extLst>
              <a:ext uri="{FF2B5EF4-FFF2-40B4-BE49-F238E27FC236}">
                <a16:creationId xmlns:a16="http://schemas.microsoft.com/office/drawing/2014/main" id="{B2A94BEF-251D-DCDE-E298-2D959ADD7798}"/>
              </a:ext>
            </a:extLst>
          </p:cNvPr>
          <p:cNvSpPr>
            <a:spLocks noGrp="1"/>
          </p:cNvSpPr>
          <p:nvPr>
            <p:ph sz="quarter" idx="15"/>
          </p:nvPr>
        </p:nvSpPr>
        <p:spPr/>
        <p:txBody>
          <a:bodyPr/>
          <a:lstStyle/>
          <a:p>
            <a:endParaRPr lang="en-US"/>
          </a:p>
        </p:txBody>
      </p:sp>
      <p:sp>
        <p:nvSpPr>
          <p:cNvPr id="18" name="Content Placeholder 17">
            <a:extLst>
              <a:ext uri="{FF2B5EF4-FFF2-40B4-BE49-F238E27FC236}">
                <a16:creationId xmlns:a16="http://schemas.microsoft.com/office/drawing/2014/main" id="{1E9F243E-6D79-AF8A-69DE-4439CA5A5782}"/>
              </a:ext>
            </a:extLst>
          </p:cNvPr>
          <p:cNvSpPr>
            <a:spLocks noGrp="1"/>
          </p:cNvSpPr>
          <p:nvPr>
            <p:ph sz="quarter" idx="17"/>
          </p:nvPr>
        </p:nvSpPr>
        <p:spPr/>
        <p:txBody>
          <a:bodyPr/>
          <a:lstStyle/>
          <a:p>
            <a:endParaRPr lang="en-US"/>
          </a:p>
        </p:txBody>
      </p:sp>
      <p:pic>
        <p:nvPicPr>
          <p:cNvPr id="19" name="Picture 18">
            <a:extLst>
              <a:ext uri="{FF2B5EF4-FFF2-40B4-BE49-F238E27FC236}">
                <a16:creationId xmlns:a16="http://schemas.microsoft.com/office/drawing/2014/main" id="{9B01E378-4FDB-8917-3BB2-74ED9677BB5D}"/>
              </a:ext>
            </a:extLst>
          </p:cNvPr>
          <p:cNvPicPr>
            <a:picLocks noChangeAspect="1"/>
          </p:cNvPicPr>
          <p:nvPr/>
        </p:nvPicPr>
        <p:blipFill>
          <a:blip r:embed="rId3"/>
          <a:stretch>
            <a:fillRect/>
          </a:stretch>
        </p:blipFill>
        <p:spPr>
          <a:xfrm>
            <a:off x="685800" y="1600200"/>
            <a:ext cx="7772400" cy="4401430"/>
          </a:xfrm>
          <a:prstGeom prst="rect">
            <a:avLst/>
          </a:prstGeom>
        </p:spPr>
      </p:pic>
    </p:spTree>
    <p:extLst>
      <p:ext uri="{BB962C8B-B14F-4D97-AF65-F5344CB8AC3E}">
        <p14:creationId xmlns:p14="http://schemas.microsoft.com/office/powerpoint/2010/main" val="284815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2AD2CC8-AB78-E1F7-7764-54E541F5CC22}"/>
              </a:ext>
            </a:extLst>
          </p:cNvPr>
          <p:cNvSpPr>
            <a:spLocks noGrp="1"/>
          </p:cNvSpPr>
          <p:nvPr>
            <p:ph type="body" idx="1"/>
          </p:nvPr>
        </p:nvSpPr>
        <p:spPr>
          <a:xfrm>
            <a:off x="457200" y="228600"/>
            <a:ext cx="8229600" cy="700880"/>
          </a:xfrm>
        </p:spPr>
        <p:txBody>
          <a:bodyPr/>
          <a:lstStyle/>
          <a:p>
            <a:r>
              <a:rPr lang="en-US" dirty="0"/>
              <a:t>ARTICLE 7 – (1) Actions that require </a:t>
            </a:r>
            <a:r>
              <a:rPr lang="en-US" b="1" dirty="0"/>
              <a:t>suspension</a:t>
            </a:r>
            <a:r>
              <a:rPr lang="en-US" dirty="0"/>
              <a:t> from the higher education institution for </a:t>
            </a:r>
            <a:r>
              <a:rPr lang="en-US" b="1" dirty="0"/>
              <a:t>one semester </a:t>
            </a:r>
            <a:r>
              <a:rPr lang="en-US" dirty="0"/>
              <a:t>are as follows;</a:t>
            </a:r>
          </a:p>
          <a:p>
            <a:r>
              <a:rPr lang="en-US" dirty="0"/>
              <a:t>	e) Cheating or having others cheat in exams,</a:t>
            </a:r>
          </a:p>
          <a:p>
            <a:endParaRPr lang="en-US" dirty="0"/>
          </a:p>
          <a:p>
            <a:r>
              <a:rPr lang="en-US" dirty="0"/>
              <a:t>	</a:t>
            </a:r>
          </a:p>
          <a:p>
            <a:r>
              <a:rPr lang="en-US" dirty="0"/>
              <a:t>	</a:t>
            </a:r>
          </a:p>
        </p:txBody>
      </p:sp>
      <p:sp>
        <p:nvSpPr>
          <p:cNvPr id="14" name="Content Placeholder 13">
            <a:extLst>
              <a:ext uri="{FF2B5EF4-FFF2-40B4-BE49-F238E27FC236}">
                <a16:creationId xmlns:a16="http://schemas.microsoft.com/office/drawing/2014/main" id="{138EEB53-38BD-6287-25E7-14539D3FBFD5}"/>
              </a:ext>
            </a:extLst>
          </p:cNvPr>
          <p:cNvSpPr>
            <a:spLocks noGrp="1"/>
          </p:cNvSpPr>
          <p:nvPr>
            <p:ph sz="quarter" idx="14"/>
          </p:nvPr>
        </p:nvSpPr>
        <p:spPr/>
        <p:txBody>
          <a:bodyPr/>
          <a:lstStyle/>
          <a:p>
            <a:endParaRPr lang="en-US"/>
          </a:p>
        </p:txBody>
      </p:sp>
      <p:sp>
        <p:nvSpPr>
          <p:cNvPr id="16" name="Content Placeholder 15">
            <a:extLst>
              <a:ext uri="{FF2B5EF4-FFF2-40B4-BE49-F238E27FC236}">
                <a16:creationId xmlns:a16="http://schemas.microsoft.com/office/drawing/2014/main" id="{B2A94BEF-251D-DCDE-E298-2D959ADD7798}"/>
              </a:ext>
            </a:extLst>
          </p:cNvPr>
          <p:cNvSpPr>
            <a:spLocks noGrp="1"/>
          </p:cNvSpPr>
          <p:nvPr>
            <p:ph sz="quarter" idx="15"/>
          </p:nvPr>
        </p:nvSpPr>
        <p:spPr/>
        <p:txBody>
          <a:bodyPr/>
          <a:lstStyle/>
          <a:p>
            <a:endParaRPr lang="en-US"/>
          </a:p>
        </p:txBody>
      </p:sp>
      <p:pic>
        <p:nvPicPr>
          <p:cNvPr id="2" name="Picture 1">
            <a:extLst>
              <a:ext uri="{FF2B5EF4-FFF2-40B4-BE49-F238E27FC236}">
                <a16:creationId xmlns:a16="http://schemas.microsoft.com/office/drawing/2014/main" id="{20F1EF6E-9EDE-8389-6D03-29A692908D98}"/>
              </a:ext>
            </a:extLst>
          </p:cNvPr>
          <p:cNvPicPr>
            <a:picLocks noChangeAspect="1"/>
          </p:cNvPicPr>
          <p:nvPr/>
        </p:nvPicPr>
        <p:blipFill>
          <a:blip r:embed="rId3"/>
          <a:stretch>
            <a:fillRect/>
          </a:stretch>
        </p:blipFill>
        <p:spPr>
          <a:xfrm>
            <a:off x="685800" y="1600200"/>
            <a:ext cx="7772400" cy="4754691"/>
          </a:xfrm>
          <a:prstGeom prst="rect">
            <a:avLst/>
          </a:prstGeom>
        </p:spPr>
      </p:pic>
    </p:spTree>
    <p:extLst>
      <p:ext uri="{BB962C8B-B14F-4D97-AF65-F5344CB8AC3E}">
        <p14:creationId xmlns:p14="http://schemas.microsoft.com/office/powerpoint/2010/main" val="8754418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F8CDC5C-C982-67CD-7363-FC1440337258}"/>
              </a:ext>
            </a:extLst>
          </p:cNvPr>
          <p:cNvSpPr>
            <a:spLocks noGrp="1"/>
          </p:cNvSpPr>
          <p:nvPr>
            <p:ph type="title"/>
          </p:nvPr>
        </p:nvSpPr>
        <p:spPr>
          <a:xfrm>
            <a:off x="430305" y="258795"/>
            <a:ext cx="8240620" cy="898126"/>
          </a:xfrm>
        </p:spPr>
        <p:txBody>
          <a:bodyPr wrap="square" lIns="0" tIns="18000" rIns="0" bIns="18000" anchor="ctr" anchorCtr="0">
            <a:spAutoFit/>
          </a:bodyPr>
          <a:lstStyle/>
          <a:p>
            <a:r>
              <a:rPr lang="en-US" sz="3200" dirty="0">
                <a:latin typeface="+mj-lt"/>
              </a:rPr>
              <a:t>Chapter 4 – techniques of circuit analysis </a:t>
            </a:r>
            <a:r>
              <a:rPr lang="en-US" sz="2400" dirty="0">
                <a:latin typeface="+mj-lt"/>
              </a:rPr>
              <a:t>(1 of 14)</a:t>
            </a:r>
            <a:endParaRPr lang="en-US" sz="3200" noProof="0" dirty="0"/>
          </a:p>
        </p:txBody>
      </p:sp>
      <p:sp>
        <p:nvSpPr>
          <p:cNvPr id="9" name="Content Placeholder 8">
            <a:extLst>
              <a:ext uri="{FF2B5EF4-FFF2-40B4-BE49-F238E27FC236}">
                <a16:creationId xmlns:a16="http://schemas.microsoft.com/office/drawing/2014/main" id="{DB2F74B8-7F5C-97AF-9717-1D0D51295899}"/>
              </a:ext>
            </a:extLst>
          </p:cNvPr>
          <p:cNvSpPr>
            <a:spLocks noGrp="1"/>
          </p:cNvSpPr>
          <p:nvPr>
            <p:ph sz="quarter" idx="12"/>
          </p:nvPr>
        </p:nvSpPr>
        <p:spPr>
          <a:xfrm>
            <a:off x="451690" y="1376364"/>
            <a:ext cx="8240620" cy="4422168"/>
          </a:xfrm>
        </p:spPr>
        <p:txBody>
          <a:bodyPr wrap="square" lIns="0" tIns="18000" rIns="0" bIns="18000" anchor="ctr" anchorCtr="0">
            <a:spAutoFit/>
          </a:bodyPr>
          <a:lstStyle/>
          <a:p>
            <a:pPr marL="285750" indent="-285750">
              <a:spcBef>
                <a:spcPts val="600"/>
              </a:spcBef>
            </a:pPr>
            <a:r>
              <a:rPr lang="en-US" noProof="0" dirty="0"/>
              <a:t>Node voltage analysis method:</a:t>
            </a:r>
          </a:p>
          <a:p>
            <a:pPr marL="772668" lvl="1" indent="-285750"/>
            <a:r>
              <a:rPr lang="en-US" noProof="0" dirty="0"/>
              <a:t>Step 1 – Identify each essential node.</a:t>
            </a:r>
          </a:p>
          <a:p>
            <a:pPr marL="772668" lvl="1" indent="-285750"/>
            <a:r>
              <a:rPr lang="en-US" noProof="0" dirty="0"/>
              <a:t>Step 2 – Pick and label a reference node; then label the node voltages at the remaining essential nodes.</a:t>
            </a:r>
          </a:p>
          <a:p>
            <a:pPr marL="1172718" lvl="2" indent="-285750"/>
            <a:r>
              <a:rPr lang="en-US" noProof="0" dirty="0"/>
              <a:t>If a voltage source is the only element between an essential node and the reference node, replace the node voltage label with the value of the voltage source.</a:t>
            </a:r>
          </a:p>
          <a:p>
            <a:pPr marL="1172718" lvl="2" indent="-285750"/>
            <a:r>
              <a:rPr lang="en-US" b="1" noProof="0" dirty="0"/>
              <a:t>If a voltage source is the only element between two nonreference essential nodes</a:t>
            </a:r>
            <a:r>
              <a:rPr lang="en-US" noProof="0" dirty="0"/>
              <a:t>, combine the nodes and the source into a single supernode.</a:t>
            </a:r>
          </a:p>
          <a:p>
            <a:pPr marL="772668" lvl="1" indent="-285750"/>
            <a:r>
              <a:rPr lang="en-US" noProof="0" dirty="0"/>
              <a:t>Step 3 – Write a </a:t>
            </a:r>
            <a:r>
              <a:rPr lang="en-US" spc="-250" noProof="0" dirty="0"/>
              <a:t>K C </a:t>
            </a:r>
            <a:r>
              <a:rPr lang="en-US" noProof="0" dirty="0"/>
              <a:t>L equation for each supernode and for every remaining nonreference essential node where the voltage is unknown.</a:t>
            </a:r>
          </a:p>
          <a:p>
            <a:pPr marL="1172718" lvl="2" indent="-285750"/>
            <a:r>
              <a:rPr lang="en-US" noProof="0" dirty="0"/>
              <a:t>If there are dependent sources, write a constraint equation for each one.</a:t>
            </a:r>
          </a:p>
          <a:p>
            <a:pPr marL="1172718" lvl="2" indent="-285750"/>
            <a:r>
              <a:rPr lang="en-US" noProof="0" dirty="0"/>
              <a:t>If there are supernodes, write a constraint equation for each one.</a:t>
            </a:r>
          </a:p>
          <a:p>
            <a:pPr marL="772668" lvl="1" indent="-285750"/>
            <a:r>
              <a:rPr lang="en-US" noProof="0" dirty="0"/>
              <a:t>Step 4 – Solve the equations to find the node-voltage values.</a:t>
            </a:r>
          </a:p>
          <a:p>
            <a:pPr marL="772668" lvl="1" indent="-285750"/>
            <a:r>
              <a:rPr lang="en-US" noProof="0" dirty="0"/>
              <a:t>Step 5 – Solve the circuit using node voltages from Step 4.</a:t>
            </a:r>
          </a:p>
        </p:txBody>
      </p:sp>
    </p:spTree>
    <p:extLst>
      <p:ext uri="{BB962C8B-B14F-4D97-AF65-F5344CB8AC3E}">
        <p14:creationId xmlns:p14="http://schemas.microsoft.com/office/powerpoint/2010/main" val="104531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F8CDC5C-C982-67CD-7363-FC1440337258}"/>
              </a:ext>
            </a:extLst>
          </p:cNvPr>
          <p:cNvSpPr>
            <a:spLocks noGrp="1"/>
          </p:cNvSpPr>
          <p:nvPr>
            <p:ph type="title"/>
          </p:nvPr>
        </p:nvSpPr>
        <p:spPr>
          <a:xfrm>
            <a:off x="430305" y="258795"/>
            <a:ext cx="8240620" cy="898126"/>
          </a:xfrm>
        </p:spPr>
        <p:txBody>
          <a:bodyPr wrap="square" lIns="0" tIns="18000" rIns="0" bIns="18000" anchor="ctr" anchorCtr="0">
            <a:spAutoFit/>
          </a:bodyPr>
          <a:lstStyle/>
          <a:p>
            <a:r>
              <a:rPr lang="en-US" sz="3200" dirty="0">
                <a:latin typeface="+mj-lt"/>
              </a:rPr>
              <a:t>Chapter 4 – techniques of circuit analysis </a:t>
            </a:r>
            <a:r>
              <a:rPr lang="en-US" sz="2400" dirty="0">
                <a:latin typeface="+mj-lt"/>
              </a:rPr>
              <a:t>(2 of 14)</a:t>
            </a:r>
            <a:endParaRPr lang="en-US" sz="3200" noProof="0" dirty="0"/>
          </a:p>
        </p:txBody>
      </p:sp>
      <p:sp>
        <p:nvSpPr>
          <p:cNvPr id="9" name="Content Placeholder 8">
            <a:extLst>
              <a:ext uri="{FF2B5EF4-FFF2-40B4-BE49-F238E27FC236}">
                <a16:creationId xmlns:a16="http://schemas.microsoft.com/office/drawing/2014/main" id="{DB2F74B8-7F5C-97AF-9717-1D0D51295899}"/>
              </a:ext>
            </a:extLst>
          </p:cNvPr>
          <p:cNvSpPr>
            <a:spLocks noGrp="1"/>
          </p:cNvSpPr>
          <p:nvPr>
            <p:ph sz="quarter" idx="12"/>
          </p:nvPr>
        </p:nvSpPr>
        <p:spPr>
          <a:xfrm>
            <a:off x="430305" y="1376345"/>
            <a:ext cx="8261208" cy="4668389"/>
          </a:xfrm>
        </p:spPr>
        <p:txBody>
          <a:bodyPr wrap="square" lIns="0" tIns="18000" rIns="0" bIns="18000" anchor="ctr" anchorCtr="0">
            <a:spAutoFit/>
          </a:bodyPr>
          <a:lstStyle/>
          <a:p>
            <a:pPr marL="285750" indent="-285750">
              <a:spcBef>
                <a:spcPts val="600"/>
              </a:spcBef>
            </a:pPr>
            <a:r>
              <a:rPr lang="en-US" noProof="0" dirty="0"/>
              <a:t>The mesh current analysis method:</a:t>
            </a:r>
          </a:p>
          <a:p>
            <a:pPr marL="772668" lvl="1" indent="-285750"/>
            <a:r>
              <a:rPr lang="en-US" noProof="0" dirty="0"/>
              <a:t>Step 1 – Identify the meshes with curved directed arrows that follow the perimeter of each mesh.</a:t>
            </a:r>
          </a:p>
          <a:p>
            <a:pPr marL="772668" lvl="1" indent="-285750"/>
            <a:r>
              <a:rPr lang="en-US" noProof="0" dirty="0"/>
              <a:t>Step 2 – Label the mesh currents for each mesh.</a:t>
            </a:r>
          </a:p>
          <a:p>
            <a:pPr marL="1172718" lvl="2" indent="-285750"/>
            <a:r>
              <a:rPr lang="en-US" noProof="0" dirty="0"/>
              <a:t>If a current source is in a single mesh, label the mesh current with the value of the current source.</a:t>
            </a:r>
          </a:p>
          <a:p>
            <a:pPr marL="1172718" lvl="2" indent="-285750"/>
            <a:r>
              <a:rPr lang="en-US" noProof="0" dirty="0"/>
              <a:t>If a </a:t>
            </a:r>
            <a:r>
              <a:rPr lang="en-US" b="1" noProof="0" dirty="0"/>
              <a:t>current source is shared between two meshes</a:t>
            </a:r>
            <a:r>
              <a:rPr lang="en-US" noProof="0" dirty="0"/>
              <a:t>, </a:t>
            </a:r>
            <a:r>
              <a:rPr lang="en-US" b="1" noProof="0" dirty="0"/>
              <a:t>combine the meshes to create a supermesh</a:t>
            </a:r>
            <a:r>
              <a:rPr lang="en-US" noProof="0" dirty="0"/>
              <a:t> and mentally erase the current source.</a:t>
            </a:r>
          </a:p>
          <a:p>
            <a:pPr marL="772668" lvl="1" indent="-285750"/>
            <a:r>
              <a:rPr lang="en-US" noProof="0" dirty="0"/>
              <a:t>Step 3 – Write a </a:t>
            </a:r>
            <a:r>
              <a:rPr lang="en-US" spc="-250" noProof="0" dirty="0"/>
              <a:t>K V </a:t>
            </a:r>
            <a:r>
              <a:rPr lang="en-US" noProof="0" dirty="0"/>
              <a:t>L equation for each supermesh and for each single mesh where the current is unknown.</a:t>
            </a:r>
          </a:p>
          <a:p>
            <a:pPr marL="1172718" lvl="2" indent="-285750"/>
            <a:r>
              <a:rPr lang="en-US" noProof="0" dirty="0"/>
              <a:t>If there are dependent sources, write a dependent source constraint equation for each.</a:t>
            </a:r>
          </a:p>
          <a:p>
            <a:pPr marL="1172718" lvl="2" indent="-285750"/>
            <a:r>
              <a:rPr lang="en-US" noProof="0" dirty="0"/>
              <a:t>If there are supermeshes, write a supermesh constraint equation for each</a:t>
            </a:r>
            <a:r>
              <a:rPr lang="en-US" dirty="0"/>
              <a:t>.</a:t>
            </a:r>
            <a:endParaRPr lang="en-US" noProof="0" dirty="0"/>
          </a:p>
          <a:p>
            <a:pPr marL="772668" lvl="1" indent="-285750"/>
            <a:r>
              <a:rPr lang="en-US" noProof="0" dirty="0"/>
              <a:t>Step 4 – Solve the </a:t>
            </a:r>
            <a:r>
              <a:rPr lang="en-US" spc="-250" noProof="0" dirty="0"/>
              <a:t>K V </a:t>
            </a:r>
            <a:r>
              <a:rPr lang="en-US" noProof="0" dirty="0"/>
              <a:t>L equations to find the mesh current values.</a:t>
            </a:r>
          </a:p>
          <a:p>
            <a:pPr marL="772668" lvl="1" indent="-285750"/>
            <a:r>
              <a:rPr lang="en-US" noProof="0" dirty="0"/>
              <a:t>Step 5 – Solve the circuit using mesh currents from Step 4 to find component currents, voltages, and power values.</a:t>
            </a:r>
          </a:p>
        </p:txBody>
      </p:sp>
    </p:spTree>
    <p:extLst>
      <p:ext uri="{BB962C8B-B14F-4D97-AF65-F5344CB8AC3E}">
        <p14:creationId xmlns:p14="http://schemas.microsoft.com/office/powerpoint/2010/main" val="198743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5EE03-AEE0-AA1E-0223-C4915E385B9E}"/>
              </a:ext>
            </a:extLst>
          </p:cNvPr>
          <p:cNvSpPr>
            <a:spLocks noGrp="1"/>
          </p:cNvSpPr>
          <p:nvPr>
            <p:ph type="title"/>
          </p:nvPr>
        </p:nvSpPr>
        <p:spPr>
          <a:xfrm>
            <a:off x="431952" y="261294"/>
            <a:ext cx="8238973" cy="898126"/>
          </a:xfrm>
        </p:spPr>
        <p:txBody>
          <a:bodyPr wrap="square" tIns="18000" bIns="18000" anchor="ctr" anchorCtr="0">
            <a:spAutoFit/>
          </a:bodyPr>
          <a:lstStyle/>
          <a:p>
            <a:r>
              <a:rPr lang="en-US" sz="3200" dirty="0">
                <a:latin typeface="+mj-lt"/>
              </a:rPr>
              <a:t>Chapter 4 – techniques of circuit analysis </a:t>
            </a:r>
            <a:r>
              <a:rPr lang="en-US" sz="2400" dirty="0">
                <a:latin typeface="+mj-lt"/>
              </a:rPr>
              <a:t>(3 of 14)</a:t>
            </a:r>
            <a:endParaRPr lang="en-US" sz="3200" dirty="0"/>
          </a:p>
        </p:txBody>
      </p:sp>
      <p:sp>
        <p:nvSpPr>
          <p:cNvPr id="3" name="Content Placeholder 2">
            <a:extLst>
              <a:ext uri="{FF2B5EF4-FFF2-40B4-BE49-F238E27FC236}">
                <a16:creationId xmlns:a16="http://schemas.microsoft.com/office/drawing/2014/main" id="{6AE2AF59-B67F-0E8C-28DB-05E276D12F48}"/>
              </a:ext>
            </a:extLst>
          </p:cNvPr>
          <p:cNvSpPr>
            <a:spLocks noGrp="1"/>
          </p:cNvSpPr>
          <p:nvPr>
            <p:ph sz="quarter" idx="12"/>
          </p:nvPr>
        </p:nvSpPr>
        <p:spPr>
          <a:xfrm>
            <a:off x="430135" y="1304355"/>
            <a:ext cx="8238973" cy="728849"/>
          </a:xfrm>
        </p:spPr>
        <p:txBody>
          <a:bodyPr wrap="square" lIns="0" tIns="18000" rIns="0" bIns="18000" anchor="ctr" anchorCtr="0">
            <a:spAutoFit/>
          </a:bodyPr>
          <a:lstStyle/>
          <a:p>
            <a:pPr marL="0" indent="0">
              <a:spcBef>
                <a:spcPts val="600"/>
              </a:spcBef>
              <a:buNone/>
            </a:pPr>
            <a:r>
              <a:rPr lang="en-US" altLang="en-US" sz="2000" dirty="0"/>
              <a:t>Node voltage method versus mesh current method</a:t>
            </a:r>
          </a:p>
          <a:p>
            <a:pPr marL="342900" indent="-342900">
              <a:spcBef>
                <a:spcPts val="600"/>
              </a:spcBef>
            </a:pPr>
            <a:r>
              <a:rPr lang="en-US" altLang="en-US" sz="2000" dirty="0"/>
              <a:t>For the circuit below, find the power for the 2 A source:</a:t>
            </a:r>
            <a:endParaRPr lang="en-US" sz="1800" dirty="0"/>
          </a:p>
        </p:txBody>
      </p:sp>
      <p:pic>
        <p:nvPicPr>
          <p:cNvPr id="28" name="Picture 27" descr="A circuit diagram shows a 20-volt independent power source with positive polarity at the top and negative at bottom as the leftmost wire in the circuit. Connected in parallel to the 20-volt independent power source from left to right in that order are a 2 ampere independent current source with internal arrow pointing upwards and a 25-volt independent-voltage source with positive polarity at the top and negative at the bottom end. Two nodes are marked at the points where the wire housing the 2 ampere independent current source connects to the top and bottom wires in the circuit. A 15-ohm resistor is located in the top wire of the circuit between the points where the wires housing the 20-volt independent power source and the 2 ampere independent current source connect to the top wire. A 10-ohm resistor is located in the top wire of the circuit between the points where the wires housing the 25-volt independent power source and the 2 ampere independent current source connect to the top wire.">
            <a:extLst>
              <a:ext uri="{FF2B5EF4-FFF2-40B4-BE49-F238E27FC236}">
                <a16:creationId xmlns:a16="http://schemas.microsoft.com/office/drawing/2014/main" id="{E25A6225-96DE-2824-EC08-46D40011E087}"/>
              </a:ext>
            </a:extLst>
          </p:cNvPr>
          <p:cNvPicPr>
            <a:picLocks noChangeAspect="1"/>
          </p:cNvPicPr>
          <p:nvPr/>
        </p:nvPicPr>
        <p:blipFill>
          <a:blip r:embed="rId2"/>
          <a:stretch>
            <a:fillRect/>
          </a:stretch>
        </p:blipFill>
        <p:spPr>
          <a:xfrm>
            <a:off x="2737241" y="2111751"/>
            <a:ext cx="3688370" cy="1333596"/>
          </a:xfrm>
          <a:prstGeom prst="rect">
            <a:avLst/>
          </a:prstGeom>
        </p:spPr>
      </p:pic>
      <p:sp>
        <p:nvSpPr>
          <p:cNvPr id="4" name="Content Placeholder 3">
            <a:extLst>
              <a:ext uri="{FF2B5EF4-FFF2-40B4-BE49-F238E27FC236}">
                <a16:creationId xmlns:a16="http://schemas.microsoft.com/office/drawing/2014/main" id="{7D0F1FC8-71B7-2263-89D0-61FD927B8864}"/>
              </a:ext>
            </a:extLst>
          </p:cNvPr>
          <p:cNvSpPr>
            <a:spLocks noGrp="1"/>
          </p:cNvSpPr>
          <p:nvPr>
            <p:ph sz="quarter" idx="13"/>
          </p:nvPr>
        </p:nvSpPr>
        <p:spPr>
          <a:xfrm>
            <a:off x="430136" y="3506583"/>
            <a:ext cx="2940593" cy="344128"/>
          </a:xfrm>
        </p:spPr>
        <p:txBody>
          <a:bodyPr wrap="square" lIns="0" tIns="18000" rIns="0" bIns="18000" anchor="ctr" anchorCtr="0">
            <a:spAutoFit/>
          </a:bodyPr>
          <a:lstStyle/>
          <a:p>
            <a:pPr marL="342900" indent="-342900"/>
            <a:r>
              <a:rPr lang="en-US" sz="2000" dirty="0"/>
              <a:t>Node voltage method:</a:t>
            </a:r>
          </a:p>
        </p:txBody>
      </p:sp>
      <p:sp>
        <p:nvSpPr>
          <p:cNvPr id="5" name="Content Placeholder 4">
            <a:extLst>
              <a:ext uri="{FF2B5EF4-FFF2-40B4-BE49-F238E27FC236}">
                <a16:creationId xmlns:a16="http://schemas.microsoft.com/office/drawing/2014/main" id="{C0D45F3F-EF72-9573-2C28-96C7E0726B7E}"/>
              </a:ext>
            </a:extLst>
          </p:cNvPr>
          <p:cNvSpPr>
            <a:spLocks noGrp="1"/>
          </p:cNvSpPr>
          <p:nvPr>
            <p:ph sz="quarter" idx="14"/>
          </p:nvPr>
        </p:nvSpPr>
        <p:spPr>
          <a:xfrm>
            <a:off x="430136" y="3927451"/>
            <a:ext cx="4141864" cy="344128"/>
          </a:xfrm>
        </p:spPr>
        <p:txBody>
          <a:bodyPr wrap="square" lIns="0" tIns="18000" rIns="0" bIns="18000" anchor="ctr" anchorCtr="0">
            <a:spAutoFit/>
          </a:bodyPr>
          <a:lstStyle/>
          <a:p>
            <a:pPr marL="829818" lvl="1" indent="-342900"/>
            <a:r>
              <a:rPr lang="en-US" sz="2000" dirty="0"/>
              <a:t>Number of essential nodes</a:t>
            </a:r>
          </a:p>
        </p:txBody>
      </p:sp>
      <p:graphicFrame>
        <p:nvGraphicFramePr>
          <p:cNvPr id="21" name="Object 20" descr="A blank filled with the value 2.">
            <a:extLst>
              <a:ext uri="{FF2B5EF4-FFF2-40B4-BE49-F238E27FC236}">
                <a16:creationId xmlns:a16="http://schemas.microsoft.com/office/drawing/2014/main" id="{67279923-5A67-4C2B-894E-468F04AA391B}"/>
              </a:ext>
            </a:extLst>
          </p:cNvPr>
          <p:cNvGraphicFramePr>
            <a:graphicFrameLocks noChangeAspect="1"/>
          </p:cNvGraphicFramePr>
          <p:nvPr>
            <p:extLst>
              <p:ext uri="{D42A27DB-BD31-4B8C-83A1-F6EECF244321}">
                <p14:modId xmlns:p14="http://schemas.microsoft.com/office/powerpoint/2010/main" val="1667666892"/>
              </p:ext>
            </p:extLst>
          </p:nvPr>
        </p:nvGraphicFramePr>
        <p:xfrm>
          <a:off x="7028147" y="3932334"/>
          <a:ext cx="678724" cy="334361"/>
        </p:xfrm>
        <a:graphic>
          <a:graphicData uri="http://schemas.openxmlformats.org/presentationml/2006/ole">
            <mc:AlternateContent xmlns:mc="http://schemas.openxmlformats.org/markup-compatibility/2006">
              <mc:Choice xmlns:v="urn:schemas-microsoft-com:vml" Requires="v">
                <p:oleObj name="Equation" r:id="rId3" imgW="406080" imgH="203040" progId="Equation.DSMT4">
                  <p:embed/>
                </p:oleObj>
              </mc:Choice>
              <mc:Fallback>
                <p:oleObj name="Equation" r:id="rId3" imgW="406080" imgH="203040" progId="Equation.DSMT4">
                  <p:embed/>
                  <p:pic>
                    <p:nvPicPr>
                      <p:cNvPr id="23" name="Object 22">
                        <a:extLst>
                          <a:ext uri="{FF2B5EF4-FFF2-40B4-BE49-F238E27FC236}">
                            <a16:creationId xmlns:a16="http://schemas.microsoft.com/office/drawing/2014/main" id="{D3C7EE86-54F0-B714-A256-00F86B0D827D}"/>
                          </a:ext>
                        </a:extLst>
                      </p:cNvPr>
                      <p:cNvPicPr>
                        <a:picLocks noChangeAspect="1" noChangeArrowheads="1"/>
                      </p:cNvPicPr>
                      <p:nvPr/>
                    </p:nvPicPr>
                    <p:blipFill>
                      <a:blip r:embed="rId4"/>
                      <a:srcRect/>
                      <a:stretch>
                        <a:fillRect/>
                      </a:stretch>
                    </p:blipFill>
                    <p:spPr bwMode="auto">
                      <a:xfrm>
                        <a:off x="7028147" y="3932334"/>
                        <a:ext cx="678724" cy="3343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Content Placeholder 5">
            <a:extLst>
              <a:ext uri="{FF2B5EF4-FFF2-40B4-BE49-F238E27FC236}">
                <a16:creationId xmlns:a16="http://schemas.microsoft.com/office/drawing/2014/main" id="{902FF761-1D96-0333-2179-391C3C520AC0}"/>
              </a:ext>
            </a:extLst>
          </p:cNvPr>
          <p:cNvSpPr>
            <a:spLocks noGrp="1"/>
          </p:cNvSpPr>
          <p:nvPr>
            <p:ph sz="quarter" idx="15"/>
          </p:nvPr>
        </p:nvSpPr>
        <p:spPr>
          <a:xfrm>
            <a:off x="432954" y="4367171"/>
            <a:ext cx="5147713" cy="344128"/>
          </a:xfrm>
        </p:spPr>
        <p:txBody>
          <a:bodyPr wrap="square" lIns="0" tIns="18000" rIns="0" bIns="18000" anchor="ctr" anchorCtr="0">
            <a:spAutoFit/>
          </a:bodyPr>
          <a:lstStyle/>
          <a:p>
            <a:pPr marL="829818" lvl="1" indent="-342900"/>
            <a:r>
              <a:rPr lang="en-US" sz="2000" dirty="0"/>
              <a:t>Number of single node </a:t>
            </a:r>
            <a:r>
              <a:rPr lang="en-US" sz="2000" spc="-300" dirty="0"/>
              <a:t>K C </a:t>
            </a:r>
            <a:r>
              <a:rPr lang="en-US" sz="2000" dirty="0"/>
              <a:t>L equations</a:t>
            </a:r>
          </a:p>
        </p:txBody>
      </p:sp>
      <p:graphicFrame>
        <p:nvGraphicFramePr>
          <p:cNvPr id="22" name="Object 21" descr="A blank filled with the value 1.">
            <a:extLst>
              <a:ext uri="{FF2B5EF4-FFF2-40B4-BE49-F238E27FC236}">
                <a16:creationId xmlns:a16="http://schemas.microsoft.com/office/drawing/2014/main" id="{D9CF3062-9E9D-DE6A-6BB5-2890C1689EE2}"/>
              </a:ext>
            </a:extLst>
          </p:cNvPr>
          <p:cNvGraphicFramePr>
            <a:graphicFrameLocks noChangeAspect="1"/>
          </p:cNvGraphicFramePr>
          <p:nvPr>
            <p:extLst>
              <p:ext uri="{D42A27DB-BD31-4B8C-83A1-F6EECF244321}">
                <p14:modId xmlns:p14="http://schemas.microsoft.com/office/powerpoint/2010/main" val="3443901811"/>
              </p:ext>
            </p:extLst>
          </p:nvPr>
        </p:nvGraphicFramePr>
        <p:xfrm>
          <a:off x="7028147" y="4354303"/>
          <a:ext cx="678724" cy="334361"/>
        </p:xfrm>
        <a:graphic>
          <a:graphicData uri="http://schemas.openxmlformats.org/presentationml/2006/ole">
            <mc:AlternateContent xmlns:mc="http://schemas.openxmlformats.org/markup-compatibility/2006">
              <mc:Choice xmlns:v="urn:schemas-microsoft-com:vml" Requires="v">
                <p:oleObj name="Equation" r:id="rId5" imgW="406080" imgH="203040" progId="Equation.DSMT4">
                  <p:embed/>
                </p:oleObj>
              </mc:Choice>
              <mc:Fallback>
                <p:oleObj name="Equation" r:id="rId5" imgW="406080" imgH="203040" progId="Equation.DSMT4">
                  <p:embed/>
                  <p:pic>
                    <p:nvPicPr>
                      <p:cNvPr id="21" name="Object 20">
                        <a:extLst>
                          <a:ext uri="{FF2B5EF4-FFF2-40B4-BE49-F238E27FC236}">
                            <a16:creationId xmlns:a16="http://schemas.microsoft.com/office/drawing/2014/main" id="{67279923-5A67-4C2B-894E-468F04AA391B}"/>
                          </a:ext>
                        </a:extLst>
                      </p:cNvPr>
                      <p:cNvPicPr>
                        <a:picLocks noChangeAspect="1" noChangeArrowheads="1"/>
                      </p:cNvPicPr>
                      <p:nvPr/>
                    </p:nvPicPr>
                    <p:blipFill>
                      <a:blip r:embed="rId6"/>
                      <a:srcRect/>
                      <a:stretch>
                        <a:fillRect/>
                      </a:stretch>
                    </p:blipFill>
                    <p:spPr bwMode="auto">
                      <a:xfrm>
                        <a:off x="7028147" y="4354303"/>
                        <a:ext cx="678724" cy="3343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Content Placeholder 6">
            <a:extLst>
              <a:ext uri="{FF2B5EF4-FFF2-40B4-BE49-F238E27FC236}">
                <a16:creationId xmlns:a16="http://schemas.microsoft.com/office/drawing/2014/main" id="{58156CC0-7797-BDD8-7CA5-9030E74FC2ED}"/>
              </a:ext>
            </a:extLst>
          </p:cNvPr>
          <p:cNvSpPr>
            <a:spLocks noGrp="1"/>
          </p:cNvSpPr>
          <p:nvPr>
            <p:ph sz="quarter" idx="16"/>
          </p:nvPr>
        </p:nvSpPr>
        <p:spPr>
          <a:xfrm>
            <a:off x="430135" y="4788921"/>
            <a:ext cx="4482523" cy="344128"/>
          </a:xfrm>
        </p:spPr>
        <p:txBody>
          <a:bodyPr wrap="square" lIns="0" tIns="18000" rIns="0" bIns="18000" anchor="ctr" anchorCtr="0">
            <a:spAutoFit/>
          </a:bodyPr>
          <a:lstStyle/>
          <a:p>
            <a:pPr marL="829818" lvl="1" indent="-342900"/>
            <a:r>
              <a:rPr lang="en-US" sz="2000" dirty="0"/>
              <a:t>Number of supernode equations</a:t>
            </a:r>
          </a:p>
        </p:txBody>
      </p:sp>
      <p:graphicFrame>
        <p:nvGraphicFramePr>
          <p:cNvPr id="23" name="Object 22" descr="A blank filled with the value 0.">
            <a:extLst>
              <a:ext uri="{FF2B5EF4-FFF2-40B4-BE49-F238E27FC236}">
                <a16:creationId xmlns:a16="http://schemas.microsoft.com/office/drawing/2014/main" id="{7CAA5C5E-532F-4B9F-D54D-2FAF564707D6}"/>
              </a:ext>
            </a:extLst>
          </p:cNvPr>
          <p:cNvGraphicFramePr>
            <a:graphicFrameLocks noChangeAspect="1"/>
          </p:cNvGraphicFramePr>
          <p:nvPr>
            <p:extLst>
              <p:ext uri="{D42A27DB-BD31-4B8C-83A1-F6EECF244321}">
                <p14:modId xmlns:p14="http://schemas.microsoft.com/office/powerpoint/2010/main" val="4181212704"/>
              </p:ext>
            </p:extLst>
          </p:nvPr>
        </p:nvGraphicFramePr>
        <p:xfrm>
          <a:off x="7028147" y="4768236"/>
          <a:ext cx="678724" cy="334361"/>
        </p:xfrm>
        <a:graphic>
          <a:graphicData uri="http://schemas.openxmlformats.org/presentationml/2006/ole">
            <mc:AlternateContent xmlns:mc="http://schemas.openxmlformats.org/markup-compatibility/2006">
              <mc:Choice xmlns:v="urn:schemas-microsoft-com:vml" Requires="v">
                <p:oleObj name="Equation" r:id="rId7" imgW="406080" imgH="203040" progId="Equation.DSMT4">
                  <p:embed/>
                </p:oleObj>
              </mc:Choice>
              <mc:Fallback>
                <p:oleObj name="Equation" r:id="rId7" imgW="406080" imgH="203040" progId="Equation.DSMT4">
                  <p:embed/>
                  <p:pic>
                    <p:nvPicPr>
                      <p:cNvPr id="22" name="Object 21">
                        <a:extLst>
                          <a:ext uri="{FF2B5EF4-FFF2-40B4-BE49-F238E27FC236}">
                            <a16:creationId xmlns:a16="http://schemas.microsoft.com/office/drawing/2014/main" id="{D9CF3062-9E9D-DE6A-6BB5-2890C1689EE2}"/>
                          </a:ext>
                        </a:extLst>
                      </p:cNvPr>
                      <p:cNvPicPr>
                        <a:picLocks noChangeAspect="1" noChangeArrowheads="1"/>
                      </p:cNvPicPr>
                      <p:nvPr/>
                    </p:nvPicPr>
                    <p:blipFill>
                      <a:blip r:embed="rId8"/>
                      <a:srcRect/>
                      <a:stretch>
                        <a:fillRect/>
                      </a:stretch>
                    </p:blipFill>
                    <p:spPr bwMode="auto">
                      <a:xfrm>
                        <a:off x="7028147" y="4768236"/>
                        <a:ext cx="678724" cy="3343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Content Placeholder 7">
            <a:extLst>
              <a:ext uri="{FF2B5EF4-FFF2-40B4-BE49-F238E27FC236}">
                <a16:creationId xmlns:a16="http://schemas.microsoft.com/office/drawing/2014/main" id="{534A065D-ED90-D35F-D21C-5A7A582E6707}"/>
              </a:ext>
            </a:extLst>
          </p:cNvPr>
          <p:cNvSpPr>
            <a:spLocks noGrp="1"/>
          </p:cNvSpPr>
          <p:nvPr>
            <p:ph sz="quarter" idx="17"/>
          </p:nvPr>
        </p:nvSpPr>
        <p:spPr>
          <a:xfrm>
            <a:off x="430135" y="5221487"/>
            <a:ext cx="5656899" cy="344128"/>
          </a:xfrm>
        </p:spPr>
        <p:txBody>
          <a:bodyPr wrap="square" lIns="0" tIns="18000" rIns="0" bIns="18000" anchor="ctr" anchorCtr="0">
            <a:spAutoFit/>
          </a:bodyPr>
          <a:lstStyle/>
          <a:p>
            <a:pPr marL="829818" lvl="1" indent="-342900"/>
            <a:r>
              <a:rPr lang="en-US" sz="2000" dirty="0"/>
              <a:t>Number of supernode constraint equations</a:t>
            </a:r>
          </a:p>
        </p:txBody>
      </p:sp>
      <p:graphicFrame>
        <p:nvGraphicFramePr>
          <p:cNvPr id="24" name="Object 23" descr="A blank filled with the value 0.">
            <a:extLst>
              <a:ext uri="{FF2B5EF4-FFF2-40B4-BE49-F238E27FC236}">
                <a16:creationId xmlns:a16="http://schemas.microsoft.com/office/drawing/2014/main" id="{07791FBD-3136-4B6E-18EC-5079AAB6F8C8}"/>
              </a:ext>
            </a:extLst>
          </p:cNvPr>
          <p:cNvGraphicFramePr>
            <a:graphicFrameLocks noChangeAspect="1"/>
          </p:cNvGraphicFramePr>
          <p:nvPr>
            <p:extLst>
              <p:ext uri="{D42A27DB-BD31-4B8C-83A1-F6EECF244321}">
                <p14:modId xmlns:p14="http://schemas.microsoft.com/office/powerpoint/2010/main" val="2384584890"/>
              </p:ext>
            </p:extLst>
          </p:nvPr>
        </p:nvGraphicFramePr>
        <p:xfrm>
          <a:off x="7028147" y="5191614"/>
          <a:ext cx="678724" cy="334361"/>
        </p:xfrm>
        <a:graphic>
          <a:graphicData uri="http://schemas.openxmlformats.org/presentationml/2006/ole">
            <mc:AlternateContent xmlns:mc="http://schemas.openxmlformats.org/markup-compatibility/2006">
              <mc:Choice xmlns:v="urn:schemas-microsoft-com:vml" Requires="v">
                <p:oleObj name="Equation" r:id="rId7" imgW="406080" imgH="203040" progId="Equation.DSMT4">
                  <p:embed/>
                </p:oleObj>
              </mc:Choice>
              <mc:Fallback>
                <p:oleObj name="Equation" r:id="rId7" imgW="406080" imgH="203040" progId="Equation.DSMT4">
                  <p:embed/>
                  <p:pic>
                    <p:nvPicPr>
                      <p:cNvPr id="23" name="Object 22">
                        <a:extLst>
                          <a:ext uri="{FF2B5EF4-FFF2-40B4-BE49-F238E27FC236}">
                            <a16:creationId xmlns:a16="http://schemas.microsoft.com/office/drawing/2014/main" id="{7CAA5C5E-532F-4B9F-D54D-2FAF564707D6}"/>
                          </a:ext>
                        </a:extLst>
                      </p:cNvPr>
                      <p:cNvPicPr>
                        <a:picLocks noChangeAspect="1" noChangeArrowheads="1"/>
                      </p:cNvPicPr>
                      <p:nvPr/>
                    </p:nvPicPr>
                    <p:blipFill>
                      <a:blip r:embed="rId8"/>
                      <a:srcRect/>
                      <a:stretch>
                        <a:fillRect/>
                      </a:stretch>
                    </p:blipFill>
                    <p:spPr bwMode="auto">
                      <a:xfrm>
                        <a:off x="7028147" y="5191614"/>
                        <a:ext cx="678724" cy="3343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Content Placeholder 8">
            <a:extLst>
              <a:ext uri="{FF2B5EF4-FFF2-40B4-BE49-F238E27FC236}">
                <a16:creationId xmlns:a16="http://schemas.microsoft.com/office/drawing/2014/main" id="{20EF78DA-1968-AA28-D682-37FB246DDF4D}"/>
              </a:ext>
            </a:extLst>
          </p:cNvPr>
          <p:cNvSpPr>
            <a:spLocks noGrp="1"/>
          </p:cNvSpPr>
          <p:nvPr>
            <p:ph sz="quarter" idx="18"/>
          </p:nvPr>
        </p:nvSpPr>
        <p:spPr>
          <a:xfrm>
            <a:off x="430135" y="5627773"/>
            <a:ext cx="6463724" cy="344128"/>
          </a:xfrm>
        </p:spPr>
        <p:txBody>
          <a:bodyPr wrap="square" lIns="0" tIns="18000" rIns="0" bIns="18000" anchor="ctr" anchorCtr="0">
            <a:spAutoFit/>
          </a:bodyPr>
          <a:lstStyle/>
          <a:p>
            <a:pPr marL="829818" lvl="1" indent="-342900"/>
            <a:r>
              <a:rPr lang="en-US" sz="2000" dirty="0"/>
              <a:t>Number of dependent source constraint equations</a:t>
            </a:r>
          </a:p>
        </p:txBody>
      </p:sp>
      <p:graphicFrame>
        <p:nvGraphicFramePr>
          <p:cNvPr id="25" name="Object 24" descr="A blank filled with the value 0.">
            <a:extLst>
              <a:ext uri="{FF2B5EF4-FFF2-40B4-BE49-F238E27FC236}">
                <a16:creationId xmlns:a16="http://schemas.microsoft.com/office/drawing/2014/main" id="{529D6B28-4507-DB42-D495-AF5C0575204B}"/>
              </a:ext>
            </a:extLst>
          </p:cNvPr>
          <p:cNvGraphicFramePr>
            <a:graphicFrameLocks noChangeAspect="1"/>
          </p:cNvGraphicFramePr>
          <p:nvPr>
            <p:extLst>
              <p:ext uri="{D42A27DB-BD31-4B8C-83A1-F6EECF244321}">
                <p14:modId xmlns:p14="http://schemas.microsoft.com/office/powerpoint/2010/main" val="1356812140"/>
              </p:ext>
            </p:extLst>
          </p:nvPr>
        </p:nvGraphicFramePr>
        <p:xfrm>
          <a:off x="7028147" y="5606480"/>
          <a:ext cx="678724" cy="334361"/>
        </p:xfrm>
        <a:graphic>
          <a:graphicData uri="http://schemas.openxmlformats.org/presentationml/2006/ole">
            <mc:AlternateContent xmlns:mc="http://schemas.openxmlformats.org/markup-compatibility/2006">
              <mc:Choice xmlns:v="urn:schemas-microsoft-com:vml" Requires="v">
                <p:oleObj name="Equation" r:id="rId7" imgW="406080" imgH="203040" progId="Equation.DSMT4">
                  <p:embed/>
                </p:oleObj>
              </mc:Choice>
              <mc:Fallback>
                <p:oleObj name="Equation" r:id="rId7" imgW="406080" imgH="203040" progId="Equation.DSMT4">
                  <p:embed/>
                  <p:pic>
                    <p:nvPicPr>
                      <p:cNvPr id="24" name="Object 23">
                        <a:extLst>
                          <a:ext uri="{FF2B5EF4-FFF2-40B4-BE49-F238E27FC236}">
                            <a16:creationId xmlns:a16="http://schemas.microsoft.com/office/drawing/2014/main" id="{07791FBD-3136-4B6E-18EC-5079AAB6F8C8}"/>
                          </a:ext>
                        </a:extLst>
                      </p:cNvPr>
                      <p:cNvPicPr>
                        <a:picLocks noChangeAspect="1" noChangeArrowheads="1"/>
                      </p:cNvPicPr>
                      <p:nvPr/>
                    </p:nvPicPr>
                    <p:blipFill>
                      <a:blip r:embed="rId8"/>
                      <a:srcRect/>
                      <a:stretch>
                        <a:fillRect/>
                      </a:stretch>
                    </p:blipFill>
                    <p:spPr bwMode="auto">
                      <a:xfrm>
                        <a:off x="7028147" y="5606480"/>
                        <a:ext cx="678724" cy="3343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Content Placeholder 9">
            <a:extLst>
              <a:ext uri="{FF2B5EF4-FFF2-40B4-BE49-F238E27FC236}">
                <a16:creationId xmlns:a16="http://schemas.microsoft.com/office/drawing/2014/main" id="{EE7FA8D7-36F5-2054-B5F7-8B4BBF18C5AC}"/>
              </a:ext>
            </a:extLst>
          </p:cNvPr>
          <p:cNvSpPr>
            <a:spLocks noGrp="1"/>
          </p:cNvSpPr>
          <p:nvPr>
            <p:ph sz="quarter" idx="19"/>
          </p:nvPr>
        </p:nvSpPr>
        <p:spPr>
          <a:xfrm>
            <a:off x="430136" y="6061969"/>
            <a:ext cx="5361064" cy="344128"/>
          </a:xfrm>
        </p:spPr>
        <p:txBody>
          <a:bodyPr wrap="square" lIns="0" tIns="18000" rIns="0" bIns="18000" anchor="ctr" anchorCtr="0">
            <a:spAutoFit/>
          </a:bodyPr>
          <a:lstStyle/>
          <a:p>
            <a:pPr marL="829818" lvl="1" indent="-342900"/>
            <a:r>
              <a:rPr lang="en-US" sz="2000" dirty="0"/>
              <a:t>Equations needed to find desired output</a:t>
            </a:r>
          </a:p>
        </p:txBody>
      </p:sp>
      <p:graphicFrame>
        <p:nvGraphicFramePr>
          <p:cNvPr id="26" name="Object 25" descr="A blank filled with the value 0 divided by 1.">
            <a:extLst>
              <a:ext uri="{FF2B5EF4-FFF2-40B4-BE49-F238E27FC236}">
                <a16:creationId xmlns:a16="http://schemas.microsoft.com/office/drawing/2014/main" id="{FC833FC0-4F9E-9831-CE35-7ABDE37FA388}"/>
              </a:ext>
            </a:extLst>
          </p:cNvPr>
          <p:cNvGraphicFramePr>
            <a:graphicFrameLocks noChangeAspect="1"/>
          </p:cNvGraphicFramePr>
          <p:nvPr>
            <p:extLst>
              <p:ext uri="{D42A27DB-BD31-4B8C-83A1-F6EECF244321}">
                <p14:modId xmlns:p14="http://schemas.microsoft.com/office/powerpoint/2010/main" val="4070855080"/>
              </p:ext>
            </p:extLst>
          </p:nvPr>
        </p:nvGraphicFramePr>
        <p:xfrm>
          <a:off x="7029009" y="6062128"/>
          <a:ext cx="677862" cy="354012"/>
        </p:xfrm>
        <a:graphic>
          <a:graphicData uri="http://schemas.openxmlformats.org/presentationml/2006/ole">
            <mc:AlternateContent xmlns:mc="http://schemas.openxmlformats.org/markup-compatibility/2006">
              <mc:Choice xmlns:v="urn:schemas-microsoft-com:vml" Requires="v">
                <p:oleObj name="Equation" r:id="rId9" imgW="406080" imgH="215640" progId="Equation.DSMT4">
                  <p:embed/>
                </p:oleObj>
              </mc:Choice>
              <mc:Fallback>
                <p:oleObj name="Equation" r:id="rId9" imgW="406080" imgH="215640" progId="Equation.DSMT4">
                  <p:embed/>
                  <p:pic>
                    <p:nvPicPr>
                      <p:cNvPr id="25" name="Object 24">
                        <a:extLst>
                          <a:ext uri="{FF2B5EF4-FFF2-40B4-BE49-F238E27FC236}">
                            <a16:creationId xmlns:a16="http://schemas.microsoft.com/office/drawing/2014/main" id="{529D6B28-4507-DB42-D495-AF5C0575204B}"/>
                          </a:ext>
                        </a:extLst>
                      </p:cNvPr>
                      <p:cNvPicPr>
                        <a:picLocks noChangeAspect="1" noChangeArrowheads="1"/>
                      </p:cNvPicPr>
                      <p:nvPr/>
                    </p:nvPicPr>
                    <p:blipFill>
                      <a:blip r:embed="rId10"/>
                      <a:srcRect/>
                      <a:stretch>
                        <a:fillRect/>
                      </a:stretch>
                    </p:blipFill>
                    <p:spPr bwMode="auto">
                      <a:xfrm>
                        <a:off x="7029009" y="6062128"/>
                        <a:ext cx="677862" cy="354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91074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5EE03-AEE0-AA1E-0223-C4915E385B9E}"/>
              </a:ext>
            </a:extLst>
          </p:cNvPr>
          <p:cNvSpPr>
            <a:spLocks noGrp="1"/>
          </p:cNvSpPr>
          <p:nvPr>
            <p:ph type="title"/>
          </p:nvPr>
        </p:nvSpPr>
        <p:spPr>
          <a:xfrm>
            <a:off x="431952" y="261294"/>
            <a:ext cx="8238973" cy="898126"/>
          </a:xfrm>
        </p:spPr>
        <p:txBody>
          <a:bodyPr wrap="square" tIns="18000" bIns="18000" anchor="ctr" anchorCtr="0">
            <a:spAutoFit/>
          </a:bodyPr>
          <a:lstStyle/>
          <a:p>
            <a:r>
              <a:rPr lang="en-US" sz="3200" dirty="0">
                <a:latin typeface="+mj-lt"/>
              </a:rPr>
              <a:t>Chapter 4 – techniques of circuit analysis </a:t>
            </a:r>
            <a:r>
              <a:rPr lang="en-US" sz="2400" dirty="0">
                <a:latin typeface="+mj-lt"/>
              </a:rPr>
              <a:t>(4 of 14)</a:t>
            </a:r>
            <a:endParaRPr lang="en-US" sz="3200" dirty="0"/>
          </a:p>
        </p:txBody>
      </p:sp>
      <p:sp>
        <p:nvSpPr>
          <p:cNvPr id="3" name="Content Placeholder 2">
            <a:extLst>
              <a:ext uri="{FF2B5EF4-FFF2-40B4-BE49-F238E27FC236}">
                <a16:creationId xmlns:a16="http://schemas.microsoft.com/office/drawing/2014/main" id="{6AE2AF59-B67F-0E8C-28DB-05E276D12F48}"/>
              </a:ext>
            </a:extLst>
          </p:cNvPr>
          <p:cNvSpPr>
            <a:spLocks noGrp="1"/>
          </p:cNvSpPr>
          <p:nvPr>
            <p:ph sz="quarter" idx="12"/>
          </p:nvPr>
        </p:nvSpPr>
        <p:spPr>
          <a:xfrm>
            <a:off x="430135" y="1304355"/>
            <a:ext cx="8238973" cy="728849"/>
          </a:xfrm>
        </p:spPr>
        <p:txBody>
          <a:bodyPr wrap="square" lIns="0" tIns="18000" rIns="0" bIns="18000" anchor="ctr" anchorCtr="0">
            <a:spAutoFit/>
          </a:bodyPr>
          <a:lstStyle/>
          <a:p>
            <a:pPr marL="0" indent="0">
              <a:spcBef>
                <a:spcPts val="600"/>
              </a:spcBef>
              <a:buNone/>
            </a:pPr>
            <a:r>
              <a:rPr lang="en-US" altLang="en-US" sz="2000" dirty="0"/>
              <a:t>Node voltage method versus mesh current method</a:t>
            </a:r>
          </a:p>
          <a:p>
            <a:pPr marL="342900" indent="-342900">
              <a:spcBef>
                <a:spcPts val="600"/>
              </a:spcBef>
            </a:pPr>
            <a:r>
              <a:rPr lang="en-US" altLang="en-US" sz="2000" dirty="0"/>
              <a:t>For the circuit below, find the power for the 2 A source:</a:t>
            </a:r>
            <a:endParaRPr lang="en-US" sz="1800" dirty="0"/>
          </a:p>
        </p:txBody>
      </p:sp>
      <p:pic>
        <p:nvPicPr>
          <p:cNvPr id="28" name="Picture 27" descr="A circuit diagram shows a 20-volt independent power source with positive polarity at the top and negative at bottom as the leftmost wire in the circuit. Connected in parallel to the 20-volt independent power source from left to right in that order are a 2 ampere independent current source with internal arrow pointing upwards and a 25-volt independent-voltage source with positive polarity at the top and negative at the bottom end. Two nodes are marked at the points where the wire housing the 2 ampere independent current source connects to the top and bottom wires in the circuit. A 15-ohm resistor is located in the top wire of the circuit between the points where the wires housing the 20-volt independent power source and the 2 ampere independent current source connect to the top wire. A 10-ohm resistor is located in the top wire of the circuit between the points where the wires housing the 25-volt independent power source and the 2 ampere independent current source connect to the top wire.">
            <a:extLst>
              <a:ext uri="{FF2B5EF4-FFF2-40B4-BE49-F238E27FC236}">
                <a16:creationId xmlns:a16="http://schemas.microsoft.com/office/drawing/2014/main" id="{E25A6225-96DE-2824-EC08-46D40011E087}"/>
              </a:ext>
            </a:extLst>
          </p:cNvPr>
          <p:cNvPicPr>
            <a:picLocks noChangeAspect="1"/>
          </p:cNvPicPr>
          <p:nvPr/>
        </p:nvPicPr>
        <p:blipFill>
          <a:blip r:embed="rId2"/>
          <a:stretch>
            <a:fillRect/>
          </a:stretch>
        </p:blipFill>
        <p:spPr>
          <a:xfrm>
            <a:off x="2737241" y="2111751"/>
            <a:ext cx="3688370" cy="1333596"/>
          </a:xfrm>
          <a:prstGeom prst="rect">
            <a:avLst/>
          </a:prstGeom>
        </p:spPr>
      </p:pic>
      <p:sp>
        <p:nvSpPr>
          <p:cNvPr id="4" name="Content Placeholder 3">
            <a:extLst>
              <a:ext uri="{FF2B5EF4-FFF2-40B4-BE49-F238E27FC236}">
                <a16:creationId xmlns:a16="http://schemas.microsoft.com/office/drawing/2014/main" id="{7D0F1FC8-71B7-2263-89D0-61FD927B8864}"/>
              </a:ext>
            </a:extLst>
          </p:cNvPr>
          <p:cNvSpPr>
            <a:spLocks noGrp="1"/>
          </p:cNvSpPr>
          <p:nvPr>
            <p:ph sz="quarter" idx="13"/>
          </p:nvPr>
        </p:nvSpPr>
        <p:spPr>
          <a:xfrm>
            <a:off x="430136" y="3506583"/>
            <a:ext cx="2815088" cy="344128"/>
          </a:xfrm>
        </p:spPr>
        <p:txBody>
          <a:bodyPr wrap="square" lIns="0" tIns="18000" rIns="0" bIns="18000" anchor="ctr" anchorCtr="0">
            <a:spAutoFit/>
          </a:bodyPr>
          <a:lstStyle/>
          <a:p>
            <a:pPr marL="342900" indent="-342900"/>
            <a:r>
              <a:rPr lang="en-US" sz="2000" dirty="0"/>
              <a:t>Mesh current method:</a:t>
            </a:r>
          </a:p>
        </p:txBody>
      </p:sp>
      <p:sp>
        <p:nvSpPr>
          <p:cNvPr id="5" name="Content Placeholder 4">
            <a:extLst>
              <a:ext uri="{FF2B5EF4-FFF2-40B4-BE49-F238E27FC236}">
                <a16:creationId xmlns:a16="http://schemas.microsoft.com/office/drawing/2014/main" id="{C0D45F3F-EF72-9573-2C28-96C7E0726B7E}"/>
              </a:ext>
            </a:extLst>
          </p:cNvPr>
          <p:cNvSpPr>
            <a:spLocks noGrp="1"/>
          </p:cNvSpPr>
          <p:nvPr>
            <p:ph sz="quarter" idx="14"/>
          </p:nvPr>
        </p:nvSpPr>
        <p:spPr>
          <a:xfrm>
            <a:off x="430136" y="3927451"/>
            <a:ext cx="2985417" cy="344128"/>
          </a:xfrm>
        </p:spPr>
        <p:txBody>
          <a:bodyPr wrap="square" lIns="0" tIns="18000" rIns="0" bIns="18000" anchor="ctr" anchorCtr="0">
            <a:spAutoFit/>
          </a:bodyPr>
          <a:lstStyle/>
          <a:p>
            <a:pPr marL="829818" lvl="1" indent="-342900"/>
            <a:r>
              <a:rPr lang="en-US" sz="2000" dirty="0"/>
              <a:t>Number of meshes</a:t>
            </a:r>
          </a:p>
        </p:txBody>
      </p:sp>
      <p:graphicFrame>
        <p:nvGraphicFramePr>
          <p:cNvPr id="21" name="Object 20" descr="A blank filled with the value 2.">
            <a:extLst>
              <a:ext uri="{FF2B5EF4-FFF2-40B4-BE49-F238E27FC236}">
                <a16:creationId xmlns:a16="http://schemas.microsoft.com/office/drawing/2014/main" id="{67279923-5A67-4C2B-894E-468F04AA391B}"/>
              </a:ext>
            </a:extLst>
          </p:cNvPr>
          <p:cNvGraphicFramePr>
            <a:graphicFrameLocks noChangeAspect="1"/>
          </p:cNvGraphicFramePr>
          <p:nvPr>
            <p:extLst>
              <p:ext uri="{D42A27DB-BD31-4B8C-83A1-F6EECF244321}">
                <p14:modId xmlns:p14="http://schemas.microsoft.com/office/powerpoint/2010/main" val="3231584450"/>
              </p:ext>
            </p:extLst>
          </p:nvPr>
        </p:nvGraphicFramePr>
        <p:xfrm>
          <a:off x="7028148" y="3932334"/>
          <a:ext cx="678724" cy="334361"/>
        </p:xfrm>
        <a:graphic>
          <a:graphicData uri="http://schemas.openxmlformats.org/presentationml/2006/ole">
            <mc:AlternateContent xmlns:mc="http://schemas.openxmlformats.org/markup-compatibility/2006">
              <mc:Choice xmlns:v="urn:schemas-microsoft-com:vml" Requires="v">
                <p:oleObj name="Equation" r:id="rId3" imgW="406080" imgH="203040" progId="Equation.DSMT4">
                  <p:embed/>
                </p:oleObj>
              </mc:Choice>
              <mc:Fallback>
                <p:oleObj name="Equation" r:id="rId3" imgW="406080" imgH="203040" progId="Equation.DSMT4">
                  <p:embed/>
                  <p:pic>
                    <p:nvPicPr>
                      <p:cNvPr id="21" name="Object 20">
                        <a:extLst>
                          <a:ext uri="{FF2B5EF4-FFF2-40B4-BE49-F238E27FC236}">
                            <a16:creationId xmlns:a16="http://schemas.microsoft.com/office/drawing/2014/main" id="{67279923-5A67-4C2B-894E-468F04AA391B}"/>
                          </a:ext>
                        </a:extLst>
                      </p:cNvPr>
                      <p:cNvPicPr>
                        <a:picLocks noChangeAspect="1" noChangeArrowheads="1"/>
                      </p:cNvPicPr>
                      <p:nvPr/>
                    </p:nvPicPr>
                    <p:blipFill>
                      <a:blip r:embed="rId4"/>
                      <a:srcRect/>
                      <a:stretch>
                        <a:fillRect/>
                      </a:stretch>
                    </p:blipFill>
                    <p:spPr bwMode="auto">
                      <a:xfrm>
                        <a:off x="7028148" y="3932334"/>
                        <a:ext cx="678724" cy="3343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Content Placeholder 5">
            <a:extLst>
              <a:ext uri="{FF2B5EF4-FFF2-40B4-BE49-F238E27FC236}">
                <a16:creationId xmlns:a16="http://schemas.microsoft.com/office/drawing/2014/main" id="{902FF761-1D96-0333-2179-391C3C520AC0}"/>
              </a:ext>
            </a:extLst>
          </p:cNvPr>
          <p:cNvSpPr>
            <a:spLocks noGrp="1"/>
          </p:cNvSpPr>
          <p:nvPr>
            <p:ph sz="quarter" idx="15"/>
          </p:nvPr>
        </p:nvSpPr>
        <p:spPr>
          <a:xfrm>
            <a:off x="432954" y="4367171"/>
            <a:ext cx="5194847" cy="344128"/>
          </a:xfrm>
        </p:spPr>
        <p:txBody>
          <a:bodyPr wrap="square" lIns="0" tIns="18000" rIns="0" bIns="18000" anchor="ctr" anchorCtr="0">
            <a:spAutoFit/>
          </a:bodyPr>
          <a:lstStyle/>
          <a:p>
            <a:pPr marL="829818" lvl="1" indent="-342900"/>
            <a:r>
              <a:rPr lang="en-US" sz="2000" dirty="0"/>
              <a:t>Number of single mesh </a:t>
            </a:r>
            <a:r>
              <a:rPr lang="en-US" sz="2000" spc="-250" dirty="0"/>
              <a:t>K V </a:t>
            </a:r>
            <a:r>
              <a:rPr lang="en-US" sz="2000" dirty="0"/>
              <a:t>L equations</a:t>
            </a:r>
          </a:p>
        </p:txBody>
      </p:sp>
      <p:graphicFrame>
        <p:nvGraphicFramePr>
          <p:cNvPr id="23" name="Object 22" descr="A blank filled with the value 0.">
            <a:extLst>
              <a:ext uri="{FF2B5EF4-FFF2-40B4-BE49-F238E27FC236}">
                <a16:creationId xmlns:a16="http://schemas.microsoft.com/office/drawing/2014/main" id="{7CAA5C5E-532F-4B9F-D54D-2FAF564707D6}"/>
              </a:ext>
            </a:extLst>
          </p:cNvPr>
          <p:cNvGraphicFramePr>
            <a:graphicFrameLocks noChangeAspect="1"/>
          </p:cNvGraphicFramePr>
          <p:nvPr>
            <p:extLst>
              <p:ext uri="{D42A27DB-BD31-4B8C-83A1-F6EECF244321}">
                <p14:modId xmlns:p14="http://schemas.microsoft.com/office/powerpoint/2010/main" val="907769780"/>
              </p:ext>
            </p:extLst>
          </p:nvPr>
        </p:nvGraphicFramePr>
        <p:xfrm>
          <a:off x="7029010" y="4343431"/>
          <a:ext cx="678724" cy="334361"/>
        </p:xfrm>
        <a:graphic>
          <a:graphicData uri="http://schemas.openxmlformats.org/presentationml/2006/ole">
            <mc:AlternateContent xmlns:mc="http://schemas.openxmlformats.org/markup-compatibility/2006">
              <mc:Choice xmlns:v="urn:schemas-microsoft-com:vml" Requires="v">
                <p:oleObj name="Equation" r:id="rId5" imgW="406080" imgH="203040" progId="Equation.DSMT4">
                  <p:embed/>
                </p:oleObj>
              </mc:Choice>
              <mc:Fallback>
                <p:oleObj name="Equation" r:id="rId5" imgW="406080" imgH="203040" progId="Equation.DSMT4">
                  <p:embed/>
                  <p:pic>
                    <p:nvPicPr>
                      <p:cNvPr id="23" name="Object 22">
                        <a:extLst>
                          <a:ext uri="{FF2B5EF4-FFF2-40B4-BE49-F238E27FC236}">
                            <a16:creationId xmlns:a16="http://schemas.microsoft.com/office/drawing/2014/main" id="{7CAA5C5E-532F-4B9F-D54D-2FAF564707D6}"/>
                          </a:ext>
                        </a:extLst>
                      </p:cNvPr>
                      <p:cNvPicPr>
                        <a:picLocks noChangeAspect="1" noChangeArrowheads="1"/>
                      </p:cNvPicPr>
                      <p:nvPr/>
                    </p:nvPicPr>
                    <p:blipFill>
                      <a:blip r:embed="rId6"/>
                      <a:srcRect/>
                      <a:stretch>
                        <a:fillRect/>
                      </a:stretch>
                    </p:blipFill>
                    <p:spPr bwMode="auto">
                      <a:xfrm>
                        <a:off x="7029010" y="4343431"/>
                        <a:ext cx="678724" cy="3343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Content Placeholder 6">
            <a:extLst>
              <a:ext uri="{FF2B5EF4-FFF2-40B4-BE49-F238E27FC236}">
                <a16:creationId xmlns:a16="http://schemas.microsoft.com/office/drawing/2014/main" id="{58156CC0-7797-BDD8-7CA5-9030E74FC2ED}"/>
              </a:ext>
            </a:extLst>
          </p:cNvPr>
          <p:cNvSpPr>
            <a:spLocks noGrp="1"/>
          </p:cNvSpPr>
          <p:nvPr>
            <p:ph sz="quarter" idx="16"/>
          </p:nvPr>
        </p:nvSpPr>
        <p:spPr>
          <a:xfrm>
            <a:off x="430135" y="4788921"/>
            <a:ext cx="4518383" cy="344128"/>
          </a:xfrm>
        </p:spPr>
        <p:txBody>
          <a:bodyPr wrap="square" lIns="0" tIns="18000" rIns="0" bIns="18000" anchor="ctr" anchorCtr="0">
            <a:spAutoFit/>
          </a:bodyPr>
          <a:lstStyle/>
          <a:p>
            <a:pPr marL="829818" lvl="1" indent="-342900"/>
            <a:r>
              <a:rPr lang="en-US" sz="2000" dirty="0"/>
              <a:t>Number of </a:t>
            </a:r>
            <a:r>
              <a:rPr lang="en-US" sz="2000" dirty="0" err="1"/>
              <a:t>supermesh</a:t>
            </a:r>
            <a:r>
              <a:rPr lang="en-US" sz="2000" dirty="0"/>
              <a:t> equations</a:t>
            </a:r>
          </a:p>
        </p:txBody>
      </p:sp>
      <p:graphicFrame>
        <p:nvGraphicFramePr>
          <p:cNvPr id="22" name="Object 21" descr="A blank filled with the value 1.">
            <a:extLst>
              <a:ext uri="{FF2B5EF4-FFF2-40B4-BE49-F238E27FC236}">
                <a16:creationId xmlns:a16="http://schemas.microsoft.com/office/drawing/2014/main" id="{D9CF3062-9E9D-DE6A-6BB5-2890C1689EE2}"/>
              </a:ext>
            </a:extLst>
          </p:cNvPr>
          <p:cNvGraphicFramePr>
            <a:graphicFrameLocks noChangeAspect="1"/>
          </p:cNvGraphicFramePr>
          <p:nvPr>
            <p:extLst>
              <p:ext uri="{D42A27DB-BD31-4B8C-83A1-F6EECF244321}">
                <p14:modId xmlns:p14="http://schemas.microsoft.com/office/powerpoint/2010/main" val="3543290805"/>
              </p:ext>
            </p:extLst>
          </p:nvPr>
        </p:nvGraphicFramePr>
        <p:xfrm>
          <a:off x="7029010" y="4788921"/>
          <a:ext cx="678724" cy="334361"/>
        </p:xfrm>
        <a:graphic>
          <a:graphicData uri="http://schemas.openxmlformats.org/presentationml/2006/ole">
            <mc:AlternateContent xmlns:mc="http://schemas.openxmlformats.org/markup-compatibility/2006">
              <mc:Choice xmlns:v="urn:schemas-microsoft-com:vml" Requires="v">
                <p:oleObj name="Equation" r:id="rId7" imgW="406080" imgH="203040" progId="Equation.DSMT4">
                  <p:embed/>
                </p:oleObj>
              </mc:Choice>
              <mc:Fallback>
                <p:oleObj name="Equation" r:id="rId7" imgW="406080" imgH="203040" progId="Equation.DSMT4">
                  <p:embed/>
                  <p:pic>
                    <p:nvPicPr>
                      <p:cNvPr id="22" name="Object 21">
                        <a:extLst>
                          <a:ext uri="{FF2B5EF4-FFF2-40B4-BE49-F238E27FC236}">
                            <a16:creationId xmlns:a16="http://schemas.microsoft.com/office/drawing/2014/main" id="{D9CF3062-9E9D-DE6A-6BB5-2890C1689EE2}"/>
                          </a:ext>
                        </a:extLst>
                      </p:cNvPr>
                      <p:cNvPicPr>
                        <a:picLocks noChangeAspect="1" noChangeArrowheads="1"/>
                      </p:cNvPicPr>
                      <p:nvPr/>
                    </p:nvPicPr>
                    <p:blipFill>
                      <a:blip r:embed="rId8"/>
                      <a:srcRect/>
                      <a:stretch>
                        <a:fillRect/>
                      </a:stretch>
                    </p:blipFill>
                    <p:spPr bwMode="auto">
                      <a:xfrm>
                        <a:off x="7029010" y="4788921"/>
                        <a:ext cx="678724" cy="3343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Content Placeholder 7">
            <a:extLst>
              <a:ext uri="{FF2B5EF4-FFF2-40B4-BE49-F238E27FC236}">
                <a16:creationId xmlns:a16="http://schemas.microsoft.com/office/drawing/2014/main" id="{534A065D-ED90-D35F-D21C-5A7A582E6707}"/>
              </a:ext>
            </a:extLst>
          </p:cNvPr>
          <p:cNvSpPr>
            <a:spLocks noGrp="1"/>
          </p:cNvSpPr>
          <p:nvPr>
            <p:ph sz="quarter" idx="17"/>
          </p:nvPr>
        </p:nvSpPr>
        <p:spPr>
          <a:xfrm>
            <a:off x="430136" y="5221487"/>
            <a:ext cx="5692758" cy="344128"/>
          </a:xfrm>
        </p:spPr>
        <p:txBody>
          <a:bodyPr wrap="square" lIns="0" tIns="18000" rIns="0" bIns="18000" anchor="ctr" anchorCtr="0">
            <a:spAutoFit/>
          </a:bodyPr>
          <a:lstStyle/>
          <a:p>
            <a:pPr marL="829818" lvl="1" indent="-342900"/>
            <a:r>
              <a:rPr lang="en-US" sz="2000" dirty="0"/>
              <a:t>Number of </a:t>
            </a:r>
            <a:r>
              <a:rPr lang="en-US" sz="2000" dirty="0" err="1"/>
              <a:t>supermesh</a:t>
            </a:r>
            <a:r>
              <a:rPr lang="en-US" sz="2000" dirty="0"/>
              <a:t> constraint equations</a:t>
            </a:r>
          </a:p>
        </p:txBody>
      </p:sp>
      <p:graphicFrame>
        <p:nvGraphicFramePr>
          <p:cNvPr id="24" name="Object 23" descr="A blank filled with the value 1.">
            <a:extLst>
              <a:ext uri="{FF2B5EF4-FFF2-40B4-BE49-F238E27FC236}">
                <a16:creationId xmlns:a16="http://schemas.microsoft.com/office/drawing/2014/main" id="{07791FBD-3136-4B6E-18EC-5079AAB6F8C8}"/>
              </a:ext>
            </a:extLst>
          </p:cNvPr>
          <p:cNvGraphicFramePr>
            <a:graphicFrameLocks noChangeAspect="1"/>
          </p:cNvGraphicFramePr>
          <p:nvPr>
            <p:extLst>
              <p:ext uri="{D42A27DB-BD31-4B8C-83A1-F6EECF244321}">
                <p14:modId xmlns:p14="http://schemas.microsoft.com/office/powerpoint/2010/main" val="810812360"/>
              </p:ext>
            </p:extLst>
          </p:nvPr>
        </p:nvGraphicFramePr>
        <p:xfrm>
          <a:off x="7028148" y="5191614"/>
          <a:ext cx="678724" cy="334361"/>
        </p:xfrm>
        <a:graphic>
          <a:graphicData uri="http://schemas.openxmlformats.org/presentationml/2006/ole">
            <mc:AlternateContent xmlns:mc="http://schemas.openxmlformats.org/markup-compatibility/2006">
              <mc:Choice xmlns:v="urn:schemas-microsoft-com:vml" Requires="v">
                <p:oleObj name="Equation" r:id="rId9" imgW="406080" imgH="203040" progId="Equation.DSMT4">
                  <p:embed/>
                </p:oleObj>
              </mc:Choice>
              <mc:Fallback>
                <p:oleObj name="Equation" r:id="rId9" imgW="406080" imgH="203040" progId="Equation.DSMT4">
                  <p:embed/>
                  <p:pic>
                    <p:nvPicPr>
                      <p:cNvPr id="24" name="Object 23">
                        <a:extLst>
                          <a:ext uri="{FF2B5EF4-FFF2-40B4-BE49-F238E27FC236}">
                            <a16:creationId xmlns:a16="http://schemas.microsoft.com/office/drawing/2014/main" id="{07791FBD-3136-4B6E-18EC-5079AAB6F8C8}"/>
                          </a:ext>
                        </a:extLst>
                      </p:cNvPr>
                      <p:cNvPicPr>
                        <a:picLocks noChangeAspect="1" noChangeArrowheads="1"/>
                      </p:cNvPicPr>
                      <p:nvPr/>
                    </p:nvPicPr>
                    <p:blipFill>
                      <a:blip r:embed="rId10"/>
                      <a:srcRect/>
                      <a:stretch>
                        <a:fillRect/>
                      </a:stretch>
                    </p:blipFill>
                    <p:spPr bwMode="auto">
                      <a:xfrm>
                        <a:off x="7028148" y="5191614"/>
                        <a:ext cx="678724" cy="3343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Content Placeholder 8">
            <a:extLst>
              <a:ext uri="{FF2B5EF4-FFF2-40B4-BE49-F238E27FC236}">
                <a16:creationId xmlns:a16="http://schemas.microsoft.com/office/drawing/2014/main" id="{20EF78DA-1968-AA28-D682-37FB246DDF4D}"/>
              </a:ext>
            </a:extLst>
          </p:cNvPr>
          <p:cNvSpPr>
            <a:spLocks noGrp="1"/>
          </p:cNvSpPr>
          <p:nvPr>
            <p:ph sz="quarter" idx="18"/>
          </p:nvPr>
        </p:nvSpPr>
        <p:spPr>
          <a:xfrm>
            <a:off x="430134" y="5627773"/>
            <a:ext cx="6481653" cy="344128"/>
          </a:xfrm>
        </p:spPr>
        <p:txBody>
          <a:bodyPr wrap="square" lIns="0" tIns="18000" rIns="0" bIns="18000" anchor="ctr" anchorCtr="0">
            <a:spAutoFit/>
          </a:bodyPr>
          <a:lstStyle/>
          <a:p>
            <a:pPr marL="829818" lvl="1" indent="-342900"/>
            <a:r>
              <a:rPr lang="en-US" sz="2000" dirty="0"/>
              <a:t>Number of dependent source constraint equations</a:t>
            </a:r>
          </a:p>
        </p:txBody>
      </p:sp>
      <p:graphicFrame>
        <p:nvGraphicFramePr>
          <p:cNvPr id="25" name="Object 24" descr="A blank filled with the value 0.">
            <a:extLst>
              <a:ext uri="{FF2B5EF4-FFF2-40B4-BE49-F238E27FC236}">
                <a16:creationId xmlns:a16="http://schemas.microsoft.com/office/drawing/2014/main" id="{529D6B28-4507-DB42-D495-AF5C0575204B}"/>
              </a:ext>
            </a:extLst>
          </p:cNvPr>
          <p:cNvGraphicFramePr>
            <a:graphicFrameLocks noChangeAspect="1"/>
          </p:cNvGraphicFramePr>
          <p:nvPr>
            <p:extLst>
              <p:ext uri="{D42A27DB-BD31-4B8C-83A1-F6EECF244321}">
                <p14:modId xmlns:p14="http://schemas.microsoft.com/office/powerpoint/2010/main" val="840221013"/>
              </p:ext>
            </p:extLst>
          </p:nvPr>
        </p:nvGraphicFramePr>
        <p:xfrm>
          <a:off x="7028148" y="5606480"/>
          <a:ext cx="678724" cy="334361"/>
        </p:xfrm>
        <a:graphic>
          <a:graphicData uri="http://schemas.openxmlformats.org/presentationml/2006/ole">
            <mc:AlternateContent xmlns:mc="http://schemas.openxmlformats.org/markup-compatibility/2006">
              <mc:Choice xmlns:v="urn:schemas-microsoft-com:vml" Requires="v">
                <p:oleObj name="Equation" r:id="rId11" imgW="406080" imgH="203040" progId="Equation.DSMT4">
                  <p:embed/>
                </p:oleObj>
              </mc:Choice>
              <mc:Fallback>
                <p:oleObj name="Equation" r:id="rId11" imgW="406080" imgH="203040" progId="Equation.DSMT4">
                  <p:embed/>
                  <p:pic>
                    <p:nvPicPr>
                      <p:cNvPr id="25" name="Object 24">
                        <a:extLst>
                          <a:ext uri="{FF2B5EF4-FFF2-40B4-BE49-F238E27FC236}">
                            <a16:creationId xmlns:a16="http://schemas.microsoft.com/office/drawing/2014/main" id="{529D6B28-4507-DB42-D495-AF5C0575204B}"/>
                          </a:ext>
                        </a:extLst>
                      </p:cNvPr>
                      <p:cNvPicPr>
                        <a:picLocks noChangeAspect="1" noChangeArrowheads="1"/>
                      </p:cNvPicPr>
                      <p:nvPr/>
                    </p:nvPicPr>
                    <p:blipFill>
                      <a:blip r:embed="rId6"/>
                      <a:srcRect/>
                      <a:stretch>
                        <a:fillRect/>
                      </a:stretch>
                    </p:blipFill>
                    <p:spPr bwMode="auto">
                      <a:xfrm>
                        <a:off x="7028148" y="5606480"/>
                        <a:ext cx="678724" cy="3343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Content Placeholder 9">
            <a:extLst>
              <a:ext uri="{FF2B5EF4-FFF2-40B4-BE49-F238E27FC236}">
                <a16:creationId xmlns:a16="http://schemas.microsoft.com/office/drawing/2014/main" id="{EE7FA8D7-36F5-2054-B5F7-8B4BBF18C5AC}"/>
              </a:ext>
            </a:extLst>
          </p:cNvPr>
          <p:cNvSpPr>
            <a:spLocks noGrp="1"/>
          </p:cNvSpPr>
          <p:nvPr>
            <p:ph sz="quarter" idx="19"/>
          </p:nvPr>
        </p:nvSpPr>
        <p:spPr>
          <a:xfrm>
            <a:off x="430136" y="6061969"/>
            <a:ext cx="5361064" cy="344128"/>
          </a:xfrm>
        </p:spPr>
        <p:txBody>
          <a:bodyPr wrap="square" lIns="0" tIns="18000" rIns="0" bIns="18000" anchor="ctr" anchorCtr="0">
            <a:spAutoFit/>
          </a:bodyPr>
          <a:lstStyle/>
          <a:p>
            <a:pPr marL="829818" lvl="1" indent="-342900"/>
            <a:r>
              <a:rPr lang="en-US" sz="2000" dirty="0"/>
              <a:t>Equations needed to find desired output</a:t>
            </a:r>
          </a:p>
        </p:txBody>
      </p:sp>
      <p:graphicFrame>
        <p:nvGraphicFramePr>
          <p:cNvPr id="26" name="Object 25" descr="A blank filled with the value 1 divided by 2.">
            <a:extLst>
              <a:ext uri="{FF2B5EF4-FFF2-40B4-BE49-F238E27FC236}">
                <a16:creationId xmlns:a16="http://schemas.microsoft.com/office/drawing/2014/main" id="{FC833FC0-4F9E-9831-CE35-7ABDE37FA388}"/>
              </a:ext>
            </a:extLst>
          </p:cNvPr>
          <p:cNvGraphicFramePr>
            <a:graphicFrameLocks noChangeAspect="1"/>
          </p:cNvGraphicFramePr>
          <p:nvPr>
            <p:extLst>
              <p:ext uri="{D42A27DB-BD31-4B8C-83A1-F6EECF244321}">
                <p14:modId xmlns:p14="http://schemas.microsoft.com/office/powerpoint/2010/main" val="3513688246"/>
              </p:ext>
            </p:extLst>
          </p:nvPr>
        </p:nvGraphicFramePr>
        <p:xfrm>
          <a:off x="7029010" y="6062128"/>
          <a:ext cx="677862" cy="354012"/>
        </p:xfrm>
        <a:graphic>
          <a:graphicData uri="http://schemas.openxmlformats.org/presentationml/2006/ole">
            <mc:AlternateContent xmlns:mc="http://schemas.openxmlformats.org/markup-compatibility/2006">
              <mc:Choice xmlns:v="urn:schemas-microsoft-com:vml" Requires="v">
                <p:oleObj name="Equation" r:id="rId12" imgW="406080" imgH="215640" progId="Equation.DSMT4">
                  <p:embed/>
                </p:oleObj>
              </mc:Choice>
              <mc:Fallback>
                <p:oleObj name="Equation" r:id="rId12" imgW="406080" imgH="215640" progId="Equation.DSMT4">
                  <p:embed/>
                  <p:pic>
                    <p:nvPicPr>
                      <p:cNvPr id="26" name="Object 25">
                        <a:extLst>
                          <a:ext uri="{FF2B5EF4-FFF2-40B4-BE49-F238E27FC236}">
                            <a16:creationId xmlns:a16="http://schemas.microsoft.com/office/drawing/2014/main" id="{FC833FC0-4F9E-9831-CE35-7ABDE37FA388}"/>
                          </a:ext>
                        </a:extLst>
                      </p:cNvPr>
                      <p:cNvPicPr>
                        <a:picLocks noChangeAspect="1" noChangeArrowheads="1"/>
                      </p:cNvPicPr>
                      <p:nvPr/>
                    </p:nvPicPr>
                    <p:blipFill>
                      <a:blip r:embed="rId13"/>
                      <a:srcRect/>
                      <a:stretch>
                        <a:fillRect/>
                      </a:stretch>
                    </p:blipFill>
                    <p:spPr bwMode="auto">
                      <a:xfrm>
                        <a:off x="7029010" y="6062128"/>
                        <a:ext cx="677862" cy="354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06110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5EE03-AEE0-AA1E-0223-C4915E385B9E}"/>
              </a:ext>
            </a:extLst>
          </p:cNvPr>
          <p:cNvSpPr>
            <a:spLocks noGrp="1"/>
          </p:cNvSpPr>
          <p:nvPr>
            <p:ph type="title"/>
          </p:nvPr>
        </p:nvSpPr>
        <p:spPr>
          <a:xfrm>
            <a:off x="431952" y="261294"/>
            <a:ext cx="8238973" cy="898126"/>
          </a:xfrm>
        </p:spPr>
        <p:txBody>
          <a:bodyPr wrap="square" tIns="18000" bIns="18000" anchor="ctr" anchorCtr="0">
            <a:spAutoFit/>
          </a:bodyPr>
          <a:lstStyle/>
          <a:p>
            <a:r>
              <a:rPr lang="en-US" sz="3200" dirty="0">
                <a:latin typeface="+mj-lt"/>
              </a:rPr>
              <a:t>Chapter 4 – techniques of circuit analysis </a:t>
            </a:r>
            <a:r>
              <a:rPr lang="en-US" sz="2400" dirty="0">
                <a:latin typeface="+mj-lt"/>
              </a:rPr>
              <a:t>(5 of 14)</a:t>
            </a:r>
            <a:endParaRPr lang="en-US" sz="3200" dirty="0"/>
          </a:p>
        </p:txBody>
      </p:sp>
      <p:sp>
        <p:nvSpPr>
          <p:cNvPr id="3" name="Content Placeholder 2">
            <a:extLst>
              <a:ext uri="{FF2B5EF4-FFF2-40B4-BE49-F238E27FC236}">
                <a16:creationId xmlns:a16="http://schemas.microsoft.com/office/drawing/2014/main" id="{6AE2AF59-B67F-0E8C-28DB-05E276D12F48}"/>
              </a:ext>
            </a:extLst>
          </p:cNvPr>
          <p:cNvSpPr>
            <a:spLocks noGrp="1"/>
          </p:cNvSpPr>
          <p:nvPr>
            <p:ph sz="quarter" idx="12"/>
          </p:nvPr>
        </p:nvSpPr>
        <p:spPr>
          <a:xfrm>
            <a:off x="430135" y="1304355"/>
            <a:ext cx="8238973" cy="728849"/>
          </a:xfrm>
        </p:spPr>
        <p:txBody>
          <a:bodyPr wrap="square" lIns="0" tIns="18000" rIns="0" bIns="18000" anchor="ctr" anchorCtr="0">
            <a:spAutoFit/>
          </a:bodyPr>
          <a:lstStyle/>
          <a:p>
            <a:pPr marL="0" indent="0">
              <a:spcBef>
                <a:spcPts val="600"/>
              </a:spcBef>
              <a:buNone/>
            </a:pPr>
            <a:r>
              <a:rPr lang="en-US" altLang="en-US" sz="2000" dirty="0"/>
              <a:t>Node voltage method versus mesh current method</a:t>
            </a:r>
          </a:p>
          <a:p>
            <a:pPr marL="342900" indent="-342900">
              <a:spcBef>
                <a:spcPts val="600"/>
              </a:spcBef>
            </a:pPr>
            <a:r>
              <a:rPr lang="en-US" altLang="en-US" sz="2000" dirty="0"/>
              <a:t>For the circuit below, find the power for the 4 A source:</a:t>
            </a:r>
            <a:endParaRPr lang="en-US" sz="1800" dirty="0"/>
          </a:p>
        </p:txBody>
      </p:sp>
      <p:pic>
        <p:nvPicPr>
          <p:cNvPr id="12" name="Picture 11" descr="A circuit diagram shows a two layered circuit. A 128-volt independent power source with positive polarity at the top and negative at bottom is the leftmost wire in the lower left part of the circuit. Connected in parallel to the 128-volt independent power source from left to right in that order are a 6-ohm resistor and current controlled-voltage source 30i subscript x. Three nodes are marked at the points where the wires housing the 128-volt independent power source, the 6-ohm resistor, and the current controlled-voltage source 30i subscript x connect to the second wire from the top. A node is separately marked where the wire housing the 6-ohm resistor connects to the bottom wire. &#10;A 4-ohm resistor is located in the second wire from top between the points where the wires housing the 128-volt independent power source and the 6-ohm resistor connect to the second wire from the top. Current i subscript x flows from left to right through the 4-ohm resistor. A 3-ohm resistor is located in the second wire from top between the points where the wires housing the 6-ohm resistor and the current controlled-voltage source 30i subscript x connect to the second wire from the top. A 2-ohm resistor is located in the bottom wire between the points where the wires housing the 128-volt independent power source and the 6-ohm resistor connect to the bottom wire. A 5-ohm resistor is located in the bottom wire between the points where the wires housing the 6-ohm resistor and the current controlled-voltage source 30i subscript x connect to the bottom wire. &#10;A 4 ampere independent current source with the internal arrow pointing rightwards forms the upper part of the circuit and is connected between the nodes formed where the wires housing the 128-volt independent power source and the current controlled-voltage source 30i subscript x connect to the second wire from the top.">
            <a:extLst>
              <a:ext uri="{FF2B5EF4-FFF2-40B4-BE49-F238E27FC236}">
                <a16:creationId xmlns:a16="http://schemas.microsoft.com/office/drawing/2014/main" id="{32CCA2B8-F382-716B-A918-5ECBF4EFF5C4}"/>
              </a:ext>
            </a:extLst>
          </p:cNvPr>
          <p:cNvPicPr>
            <a:picLocks noChangeAspect="1"/>
          </p:cNvPicPr>
          <p:nvPr/>
        </p:nvPicPr>
        <p:blipFill>
          <a:blip r:embed="rId2"/>
          <a:stretch>
            <a:fillRect/>
          </a:stretch>
        </p:blipFill>
        <p:spPr>
          <a:xfrm>
            <a:off x="3585709" y="2230917"/>
            <a:ext cx="1972582" cy="1114118"/>
          </a:xfrm>
          <a:prstGeom prst="rect">
            <a:avLst/>
          </a:prstGeom>
        </p:spPr>
      </p:pic>
      <p:sp>
        <p:nvSpPr>
          <p:cNvPr id="4" name="Content Placeholder 3">
            <a:extLst>
              <a:ext uri="{FF2B5EF4-FFF2-40B4-BE49-F238E27FC236}">
                <a16:creationId xmlns:a16="http://schemas.microsoft.com/office/drawing/2014/main" id="{7D0F1FC8-71B7-2263-89D0-61FD927B8864}"/>
              </a:ext>
            </a:extLst>
          </p:cNvPr>
          <p:cNvSpPr>
            <a:spLocks noGrp="1"/>
          </p:cNvSpPr>
          <p:nvPr>
            <p:ph sz="quarter" idx="13"/>
          </p:nvPr>
        </p:nvSpPr>
        <p:spPr>
          <a:xfrm>
            <a:off x="430136" y="3506583"/>
            <a:ext cx="2859911" cy="344128"/>
          </a:xfrm>
        </p:spPr>
        <p:txBody>
          <a:bodyPr wrap="square" lIns="0" tIns="18000" rIns="0" bIns="18000" anchor="ctr" anchorCtr="0">
            <a:spAutoFit/>
          </a:bodyPr>
          <a:lstStyle/>
          <a:p>
            <a:pPr marL="342900" indent="-342900"/>
            <a:r>
              <a:rPr lang="en-US" sz="2000" dirty="0"/>
              <a:t>Node voltage method:</a:t>
            </a:r>
          </a:p>
        </p:txBody>
      </p:sp>
      <p:sp>
        <p:nvSpPr>
          <p:cNvPr id="5" name="Content Placeholder 4">
            <a:extLst>
              <a:ext uri="{FF2B5EF4-FFF2-40B4-BE49-F238E27FC236}">
                <a16:creationId xmlns:a16="http://schemas.microsoft.com/office/drawing/2014/main" id="{C0D45F3F-EF72-9573-2C28-96C7E0726B7E}"/>
              </a:ext>
            </a:extLst>
          </p:cNvPr>
          <p:cNvSpPr>
            <a:spLocks noGrp="1"/>
          </p:cNvSpPr>
          <p:nvPr>
            <p:ph sz="quarter" idx="14"/>
          </p:nvPr>
        </p:nvSpPr>
        <p:spPr>
          <a:xfrm>
            <a:off x="430136" y="3927451"/>
            <a:ext cx="3881888" cy="344128"/>
          </a:xfrm>
        </p:spPr>
        <p:txBody>
          <a:bodyPr wrap="square" lIns="0" tIns="18000" rIns="0" bIns="18000" anchor="ctr" anchorCtr="0">
            <a:spAutoFit/>
          </a:bodyPr>
          <a:lstStyle/>
          <a:p>
            <a:pPr marL="829818" lvl="1" indent="-342900"/>
            <a:r>
              <a:rPr lang="en-US" sz="2000" dirty="0"/>
              <a:t>Number of essential nodes</a:t>
            </a:r>
          </a:p>
        </p:txBody>
      </p:sp>
      <p:graphicFrame>
        <p:nvGraphicFramePr>
          <p:cNvPr id="21" name="Object 20" descr="A blank filled with the value 4.">
            <a:extLst>
              <a:ext uri="{FF2B5EF4-FFF2-40B4-BE49-F238E27FC236}">
                <a16:creationId xmlns:a16="http://schemas.microsoft.com/office/drawing/2014/main" id="{67279923-5A67-4C2B-894E-468F04AA391B}"/>
              </a:ext>
            </a:extLst>
          </p:cNvPr>
          <p:cNvGraphicFramePr>
            <a:graphicFrameLocks noChangeAspect="1"/>
          </p:cNvGraphicFramePr>
          <p:nvPr>
            <p:extLst>
              <p:ext uri="{D42A27DB-BD31-4B8C-83A1-F6EECF244321}">
                <p14:modId xmlns:p14="http://schemas.microsoft.com/office/powerpoint/2010/main" val="1297937675"/>
              </p:ext>
            </p:extLst>
          </p:nvPr>
        </p:nvGraphicFramePr>
        <p:xfrm>
          <a:off x="7055042" y="3932334"/>
          <a:ext cx="678724" cy="334361"/>
        </p:xfrm>
        <a:graphic>
          <a:graphicData uri="http://schemas.openxmlformats.org/presentationml/2006/ole">
            <mc:AlternateContent xmlns:mc="http://schemas.openxmlformats.org/markup-compatibility/2006">
              <mc:Choice xmlns:v="urn:schemas-microsoft-com:vml" Requires="v">
                <p:oleObj name="Equation" r:id="rId3" imgW="406080" imgH="203040" progId="Equation.DSMT4">
                  <p:embed/>
                </p:oleObj>
              </mc:Choice>
              <mc:Fallback>
                <p:oleObj name="Equation" r:id="rId3" imgW="406080" imgH="203040" progId="Equation.DSMT4">
                  <p:embed/>
                  <p:pic>
                    <p:nvPicPr>
                      <p:cNvPr id="21" name="Object 20">
                        <a:extLst>
                          <a:ext uri="{FF2B5EF4-FFF2-40B4-BE49-F238E27FC236}">
                            <a16:creationId xmlns:a16="http://schemas.microsoft.com/office/drawing/2014/main" id="{67279923-5A67-4C2B-894E-468F04AA391B}"/>
                          </a:ext>
                        </a:extLst>
                      </p:cNvPr>
                      <p:cNvPicPr>
                        <a:picLocks noChangeAspect="1" noChangeArrowheads="1"/>
                      </p:cNvPicPr>
                      <p:nvPr/>
                    </p:nvPicPr>
                    <p:blipFill>
                      <a:blip r:embed="rId4"/>
                      <a:srcRect/>
                      <a:stretch>
                        <a:fillRect/>
                      </a:stretch>
                    </p:blipFill>
                    <p:spPr bwMode="auto">
                      <a:xfrm>
                        <a:off x="7055042" y="3932334"/>
                        <a:ext cx="678724" cy="3343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Content Placeholder 5">
            <a:extLst>
              <a:ext uri="{FF2B5EF4-FFF2-40B4-BE49-F238E27FC236}">
                <a16:creationId xmlns:a16="http://schemas.microsoft.com/office/drawing/2014/main" id="{902FF761-1D96-0333-2179-391C3C520AC0}"/>
              </a:ext>
            </a:extLst>
          </p:cNvPr>
          <p:cNvSpPr>
            <a:spLocks noGrp="1"/>
          </p:cNvSpPr>
          <p:nvPr>
            <p:ph sz="quarter" idx="15"/>
          </p:nvPr>
        </p:nvSpPr>
        <p:spPr>
          <a:xfrm>
            <a:off x="432955" y="4367171"/>
            <a:ext cx="5125336" cy="344128"/>
          </a:xfrm>
        </p:spPr>
        <p:txBody>
          <a:bodyPr wrap="square" lIns="0" tIns="18000" rIns="0" bIns="18000" anchor="ctr" anchorCtr="0">
            <a:spAutoFit/>
          </a:bodyPr>
          <a:lstStyle/>
          <a:p>
            <a:pPr marL="829818" lvl="1" indent="-342900"/>
            <a:r>
              <a:rPr lang="en-US" sz="2000" dirty="0"/>
              <a:t>Number of single node </a:t>
            </a:r>
            <a:r>
              <a:rPr lang="en-US" sz="2000" spc="-300" dirty="0"/>
              <a:t>K C </a:t>
            </a:r>
            <a:r>
              <a:rPr lang="en-US" sz="2000" dirty="0"/>
              <a:t>L equations</a:t>
            </a:r>
          </a:p>
        </p:txBody>
      </p:sp>
      <p:graphicFrame>
        <p:nvGraphicFramePr>
          <p:cNvPr id="22" name="Object 21" descr=" A blank filled with the value 3.">
            <a:extLst>
              <a:ext uri="{FF2B5EF4-FFF2-40B4-BE49-F238E27FC236}">
                <a16:creationId xmlns:a16="http://schemas.microsoft.com/office/drawing/2014/main" id="{D9CF3062-9E9D-DE6A-6BB5-2890C1689EE2}"/>
              </a:ext>
            </a:extLst>
          </p:cNvPr>
          <p:cNvGraphicFramePr>
            <a:graphicFrameLocks noChangeAspect="1"/>
          </p:cNvGraphicFramePr>
          <p:nvPr>
            <p:extLst>
              <p:ext uri="{D42A27DB-BD31-4B8C-83A1-F6EECF244321}">
                <p14:modId xmlns:p14="http://schemas.microsoft.com/office/powerpoint/2010/main" val="3681303071"/>
              </p:ext>
            </p:extLst>
          </p:nvPr>
        </p:nvGraphicFramePr>
        <p:xfrm>
          <a:off x="7055042" y="4354303"/>
          <a:ext cx="678724" cy="334361"/>
        </p:xfrm>
        <a:graphic>
          <a:graphicData uri="http://schemas.openxmlformats.org/presentationml/2006/ole">
            <mc:AlternateContent xmlns:mc="http://schemas.openxmlformats.org/markup-compatibility/2006">
              <mc:Choice xmlns:v="urn:schemas-microsoft-com:vml" Requires="v">
                <p:oleObj name="Equation" r:id="rId5" imgW="406080" imgH="203040" progId="Equation.DSMT4">
                  <p:embed/>
                </p:oleObj>
              </mc:Choice>
              <mc:Fallback>
                <p:oleObj name="Equation" r:id="rId5" imgW="406080" imgH="203040" progId="Equation.DSMT4">
                  <p:embed/>
                  <p:pic>
                    <p:nvPicPr>
                      <p:cNvPr id="22" name="Object 21">
                        <a:extLst>
                          <a:ext uri="{FF2B5EF4-FFF2-40B4-BE49-F238E27FC236}">
                            <a16:creationId xmlns:a16="http://schemas.microsoft.com/office/drawing/2014/main" id="{D9CF3062-9E9D-DE6A-6BB5-2890C1689EE2}"/>
                          </a:ext>
                        </a:extLst>
                      </p:cNvPr>
                      <p:cNvPicPr>
                        <a:picLocks noChangeAspect="1" noChangeArrowheads="1"/>
                      </p:cNvPicPr>
                      <p:nvPr/>
                    </p:nvPicPr>
                    <p:blipFill>
                      <a:blip r:embed="rId6"/>
                      <a:srcRect/>
                      <a:stretch>
                        <a:fillRect/>
                      </a:stretch>
                    </p:blipFill>
                    <p:spPr bwMode="auto">
                      <a:xfrm>
                        <a:off x="7055042" y="4354303"/>
                        <a:ext cx="678724" cy="3343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Content Placeholder 6">
            <a:extLst>
              <a:ext uri="{FF2B5EF4-FFF2-40B4-BE49-F238E27FC236}">
                <a16:creationId xmlns:a16="http://schemas.microsoft.com/office/drawing/2014/main" id="{58156CC0-7797-BDD8-7CA5-9030E74FC2ED}"/>
              </a:ext>
            </a:extLst>
          </p:cNvPr>
          <p:cNvSpPr>
            <a:spLocks noGrp="1"/>
          </p:cNvSpPr>
          <p:nvPr>
            <p:ph sz="quarter" idx="16"/>
          </p:nvPr>
        </p:nvSpPr>
        <p:spPr>
          <a:xfrm>
            <a:off x="430135" y="4788921"/>
            <a:ext cx="4464593" cy="344128"/>
          </a:xfrm>
        </p:spPr>
        <p:txBody>
          <a:bodyPr wrap="square" lIns="0" tIns="18000" rIns="0" bIns="18000" anchor="ctr" anchorCtr="0">
            <a:spAutoFit/>
          </a:bodyPr>
          <a:lstStyle/>
          <a:p>
            <a:pPr marL="829818" lvl="1" indent="-342900"/>
            <a:r>
              <a:rPr lang="en-US" sz="2000" dirty="0"/>
              <a:t>Number of supernode equations</a:t>
            </a:r>
          </a:p>
        </p:txBody>
      </p:sp>
      <p:graphicFrame>
        <p:nvGraphicFramePr>
          <p:cNvPr id="23" name="Object 22" descr="A blank filled with the value 0.">
            <a:extLst>
              <a:ext uri="{FF2B5EF4-FFF2-40B4-BE49-F238E27FC236}">
                <a16:creationId xmlns:a16="http://schemas.microsoft.com/office/drawing/2014/main" id="{7CAA5C5E-532F-4B9F-D54D-2FAF564707D6}"/>
              </a:ext>
            </a:extLst>
          </p:cNvPr>
          <p:cNvGraphicFramePr>
            <a:graphicFrameLocks noChangeAspect="1"/>
          </p:cNvGraphicFramePr>
          <p:nvPr>
            <p:extLst>
              <p:ext uri="{D42A27DB-BD31-4B8C-83A1-F6EECF244321}">
                <p14:modId xmlns:p14="http://schemas.microsoft.com/office/powerpoint/2010/main" val="1491752800"/>
              </p:ext>
            </p:extLst>
          </p:nvPr>
        </p:nvGraphicFramePr>
        <p:xfrm>
          <a:off x="7055042" y="4768236"/>
          <a:ext cx="678724" cy="334361"/>
        </p:xfrm>
        <a:graphic>
          <a:graphicData uri="http://schemas.openxmlformats.org/presentationml/2006/ole">
            <mc:AlternateContent xmlns:mc="http://schemas.openxmlformats.org/markup-compatibility/2006">
              <mc:Choice xmlns:v="urn:schemas-microsoft-com:vml" Requires="v">
                <p:oleObj name="Equation" r:id="rId7" imgW="406080" imgH="203040" progId="Equation.DSMT4">
                  <p:embed/>
                </p:oleObj>
              </mc:Choice>
              <mc:Fallback>
                <p:oleObj name="Equation" r:id="rId7" imgW="406080" imgH="203040" progId="Equation.DSMT4">
                  <p:embed/>
                  <p:pic>
                    <p:nvPicPr>
                      <p:cNvPr id="23" name="Object 22">
                        <a:extLst>
                          <a:ext uri="{FF2B5EF4-FFF2-40B4-BE49-F238E27FC236}">
                            <a16:creationId xmlns:a16="http://schemas.microsoft.com/office/drawing/2014/main" id="{7CAA5C5E-532F-4B9F-D54D-2FAF564707D6}"/>
                          </a:ext>
                        </a:extLst>
                      </p:cNvPr>
                      <p:cNvPicPr>
                        <a:picLocks noChangeAspect="1" noChangeArrowheads="1"/>
                      </p:cNvPicPr>
                      <p:nvPr/>
                    </p:nvPicPr>
                    <p:blipFill>
                      <a:blip r:embed="rId8"/>
                      <a:srcRect/>
                      <a:stretch>
                        <a:fillRect/>
                      </a:stretch>
                    </p:blipFill>
                    <p:spPr bwMode="auto">
                      <a:xfrm>
                        <a:off x="7055042" y="4768236"/>
                        <a:ext cx="678724" cy="3343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Content Placeholder 7">
            <a:extLst>
              <a:ext uri="{FF2B5EF4-FFF2-40B4-BE49-F238E27FC236}">
                <a16:creationId xmlns:a16="http://schemas.microsoft.com/office/drawing/2014/main" id="{534A065D-ED90-D35F-D21C-5A7A582E6707}"/>
              </a:ext>
            </a:extLst>
          </p:cNvPr>
          <p:cNvSpPr>
            <a:spLocks noGrp="1"/>
          </p:cNvSpPr>
          <p:nvPr>
            <p:ph sz="quarter" idx="17"/>
          </p:nvPr>
        </p:nvSpPr>
        <p:spPr>
          <a:xfrm>
            <a:off x="430135" y="5221487"/>
            <a:ext cx="5630005" cy="344128"/>
          </a:xfrm>
        </p:spPr>
        <p:txBody>
          <a:bodyPr wrap="square" lIns="0" tIns="18000" rIns="0" bIns="18000" anchor="ctr" anchorCtr="0">
            <a:spAutoFit/>
          </a:bodyPr>
          <a:lstStyle/>
          <a:p>
            <a:pPr marL="829818" lvl="1" indent="-342900"/>
            <a:r>
              <a:rPr lang="en-US" sz="2000" dirty="0"/>
              <a:t>Number of supernode constraint equations</a:t>
            </a:r>
          </a:p>
        </p:txBody>
      </p:sp>
      <p:graphicFrame>
        <p:nvGraphicFramePr>
          <p:cNvPr id="24" name="Object 23" descr="A blank filled with the value 0.">
            <a:extLst>
              <a:ext uri="{FF2B5EF4-FFF2-40B4-BE49-F238E27FC236}">
                <a16:creationId xmlns:a16="http://schemas.microsoft.com/office/drawing/2014/main" id="{07791FBD-3136-4B6E-18EC-5079AAB6F8C8}"/>
              </a:ext>
            </a:extLst>
          </p:cNvPr>
          <p:cNvGraphicFramePr>
            <a:graphicFrameLocks noChangeAspect="1"/>
          </p:cNvGraphicFramePr>
          <p:nvPr>
            <p:extLst>
              <p:ext uri="{D42A27DB-BD31-4B8C-83A1-F6EECF244321}">
                <p14:modId xmlns:p14="http://schemas.microsoft.com/office/powerpoint/2010/main" val="3649423641"/>
              </p:ext>
            </p:extLst>
          </p:nvPr>
        </p:nvGraphicFramePr>
        <p:xfrm>
          <a:off x="7055042" y="5191614"/>
          <a:ext cx="678724" cy="334361"/>
        </p:xfrm>
        <a:graphic>
          <a:graphicData uri="http://schemas.openxmlformats.org/presentationml/2006/ole">
            <mc:AlternateContent xmlns:mc="http://schemas.openxmlformats.org/markup-compatibility/2006">
              <mc:Choice xmlns:v="urn:schemas-microsoft-com:vml" Requires="v">
                <p:oleObj name="Equation" r:id="rId9" imgW="406080" imgH="203040" progId="Equation.DSMT4">
                  <p:embed/>
                </p:oleObj>
              </mc:Choice>
              <mc:Fallback>
                <p:oleObj name="Equation" r:id="rId9" imgW="406080" imgH="203040" progId="Equation.DSMT4">
                  <p:embed/>
                  <p:pic>
                    <p:nvPicPr>
                      <p:cNvPr id="24" name="Object 23">
                        <a:extLst>
                          <a:ext uri="{FF2B5EF4-FFF2-40B4-BE49-F238E27FC236}">
                            <a16:creationId xmlns:a16="http://schemas.microsoft.com/office/drawing/2014/main" id="{07791FBD-3136-4B6E-18EC-5079AAB6F8C8}"/>
                          </a:ext>
                        </a:extLst>
                      </p:cNvPr>
                      <p:cNvPicPr>
                        <a:picLocks noChangeAspect="1" noChangeArrowheads="1"/>
                      </p:cNvPicPr>
                      <p:nvPr/>
                    </p:nvPicPr>
                    <p:blipFill>
                      <a:blip r:embed="rId8"/>
                      <a:srcRect/>
                      <a:stretch>
                        <a:fillRect/>
                      </a:stretch>
                    </p:blipFill>
                    <p:spPr bwMode="auto">
                      <a:xfrm>
                        <a:off x="7055042" y="5191614"/>
                        <a:ext cx="678724" cy="3343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Content Placeholder 8">
            <a:extLst>
              <a:ext uri="{FF2B5EF4-FFF2-40B4-BE49-F238E27FC236}">
                <a16:creationId xmlns:a16="http://schemas.microsoft.com/office/drawing/2014/main" id="{20EF78DA-1968-AA28-D682-37FB246DDF4D}"/>
              </a:ext>
            </a:extLst>
          </p:cNvPr>
          <p:cNvSpPr>
            <a:spLocks noGrp="1"/>
          </p:cNvSpPr>
          <p:nvPr>
            <p:ph sz="quarter" idx="18"/>
          </p:nvPr>
        </p:nvSpPr>
        <p:spPr>
          <a:xfrm>
            <a:off x="430135" y="5627773"/>
            <a:ext cx="6463724" cy="344128"/>
          </a:xfrm>
        </p:spPr>
        <p:txBody>
          <a:bodyPr wrap="square" lIns="0" tIns="18000" rIns="0" bIns="18000" anchor="ctr" anchorCtr="0">
            <a:spAutoFit/>
          </a:bodyPr>
          <a:lstStyle/>
          <a:p>
            <a:pPr marL="829818" lvl="1" indent="-342900"/>
            <a:r>
              <a:rPr lang="en-US" sz="2000" dirty="0"/>
              <a:t>Number of dependent source constraint equations</a:t>
            </a:r>
          </a:p>
        </p:txBody>
      </p:sp>
      <p:graphicFrame>
        <p:nvGraphicFramePr>
          <p:cNvPr id="25" name="Object 24" descr="A blank filled with the value 1.">
            <a:extLst>
              <a:ext uri="{FF2B5EF4-FFF2-40B4-BE49-F238E27FC236}">
                <a16:creationId xmlns:a16="http://schemas.microsoft.com/office/drawing/2014/main" id="{529D6B28-4507-DB42-D495-AF5C0575204B}"/>
              </a:ext>
            </a:extLst>
          </p:cNvPr>
          <p:cNvGraphicFramePr>
            <a:graphicFrameLocks noChangeAspect="1"/>
          </p:cNvGraphicFramePr>
          <p:nvPr>
            <p:extLst>
              <p:ext uri="{D42A27DB-BD31-4B8C-83A1-F6EECF244321}">
                <p14:modId xmlns:p14="http://schemas.microsoft.com/office/powerpoint/2010/main" val="2424738242"/>
              </p:ext>
            </p:extLst>
          </p:nvPr>
        </p:nvGraphicFramePr>
        <p:xfrm>
          <a:off x="7055042" y="5606480"/>
          <a:ext cx="678724" cy="334361"/>
        </p:xfrm>
        <a:graphic>
          <a:graphicData uri="http://schemas.openxmlformats.org/presentationml/2006/ole">
            <mc:AlternateContent xmlns:mc="http://schemas.openxmlformats.org/markup-compatibility/2006">
              <mc:Choice xmlns:v="urn:schemas-microsoft-com:vml" Requires="v">
                <p:oleObj name="Equation" r:id="rId10" imgW="406080" imgH="203040" progId="Equation.DSMT4">
                  <p:embed/>
                </p:oleObj>
              </mc:Choice>
              <mc:Fallback>
                <p:oleObj name="Equation" r:id="rId10" imgW="406080" imgH="203040" progId="Equation.DSMT4">
                  <p:embed/>
                  <p:pic>
                    <p:nvPicPr>
                      <p:cNvPr id="25" name="Object 24">
                        <a:extLst>
                          <a:ext uri="{FF2B5EF4-FFF2-40B4-BE49-F238E27FC236}">
                            <a16:creationId xmlns:a16="http://schemas.microsoft.com/office/drawing/2014/main" id="{529D6B28-4507-DB42-D495-AF5C0575204B}"/>
                          </a:ext>
                        </a:extLst>
                      </p:cNvPr>
                      <p:cNvPicPr>
                        <a:picLocks noChangeAspect="1" noChangeArrowheads="1"/>
                      </p:cNvPicPr>
                      <p:nvPr/>
                    </p:nvPicPr>
                    <p:blipFill>
                      <a:blip r:embed="rId11"/>
                      <a:srcRect/>
                      <a:stretch>
                        <a:fillRect/>
                      </a:stretch>
                    </p:blipFill>
                    <p:spPr bwMode="auto">
                      <a:xfrm>
                        <a:off x="7055042" y="5606480"/>
                        <a:ext cx="678724" cy="3343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Content Placeholder 9">
            <a:extLst>
              <a:ext uri="{FF2B5EF4-FFF2-40B4-BE49-F238E27FC236}">
                <a16:creationId xmlns:a16="http://schemas.microsoft.com/office/drawing/2014/main" id="{EE7FA8D7-36F5-2054-B5F7-8B4BBF18C5AC}"/>
              </a:ext>
            </a:extLst>
          </p:cNvPr>
          <p:cNvSpPr>
            <a:spLocks noGrp="1"/>
          </p:cNvSpPr>
          <p:nvPr>
            <p:ph sz="quarter" idx="19"/>
          </p:nvPr>
        </p:nvSpPr>
        <p:spPr>
          <a:xfrm>
            <a:off x="430135" y="6061969"/>
            <a:ext cx="5370029" cy="344128"/>
          </a:xfrm>
        </p:spPr>
        <p:txBody>
          <a:bodyPr wrap="square" lIns="0" tIns="18000" rIns="0" bIns="18000" anchor="ctr" anchorCtr="0">
            <a:spAutoFit/>
          </a:bodyPr>
          <a:lstStyle/>
          <a:p>
            <a:pPr marL="829818" lvl="1" indent="-342900"/>
            <a:r>
              <a:rPr lang="en-US" sz="2000" dirty="0"/>
              <a:t>Equations needed to find desired output</a:t>
            </a:r>
          </a:p>
        </p:txBody>
      </p:sp>
      <p:graphicFrame>
        <p:nvGraphicFramePr>
          <p:cNvPr id="26" name="Object 25" descr="A blank filled with the value 0 divided by 1.">
            <a:extLst>
              <a:ext uri="{FF2B5EF4-FFF2-40B4-BE49-F238E27FC236}">
                <a16:creationId xmlns:a16="http://schemas.microsoft.com/office/drawing/2014/main" id="{FC833FC0-4F9E-9831-CE35-7ABDE37FA388}"/>
              </a:ext>
            </a:extLst>
          </p:cNvPr>
          <p:cNvGraphicFramePr>
            <a:graphicFrameLocks noChangeAspect="1"/>
          </p:cNvGraphicFramePr>
          <p:nvPr>
            <p:extLst>
              <p:ext uri="{D42A27DB-BD31-4B8C-83A1-F6EECF244321}">
                <p14:modId xmlns:p14="http://schemas.microsoft.com/office/powerpoint/2010/main" val="281780488"/>
              </p:ext>
            </p:extLst>
          </p:nvPr>
        </p:nvGraphicFramePr>
        <p:xfrm>
          <a:off x="7055904" y="6062128"/>
          <a:ext cx="677862" cy="354012"/>
        </p:xfrm>
        <a:graphic>
          <a:graphicData uri="http://schemas.openxmlformats.org/presentationml/2006/ole">
            <mc:AlternateContent xmlns:mc="http://schemas.openxmlformats.org/markup-compatibility/2006">
              <mc:Choice xmlns:v="urn:schemas-microsoft-com:vml" Requires="v">
                <p:oleObj name="Equation" r:id="rId12" imgW="406080" imgH="215640" progId="Equation.DSMT4">
                  <p:embed/>
                </p:oleObj>
              </mc:Choice>
              <mc:Fallback>
                <p:oleObj name="Equation" r:id="rId12" imgW="406080" imgH="215640" progId="Equation.DSMT4">
                  <p:embed/>
                  <p:pic>
                    <p:nvPicPr>
                      <p:cNvPr id="26" name="Object 25">
                        <a:extLst>
                          <a:ext uri="{FF2B5EF4-FFF2-40B4-BE49-F238E27FC236}">
                            <a16:creationId xmlns:a16="http://schemas.microsoft.com/office/drawing/2014/main" id="{FC833FC0-4F9E-9831-CE35-7ABDE37FA388}"/>
                          </a:ext>
                        </a:extLst>
                      </p:cNvPr>
                      <p:cNvPicPr>
                        <a:picLocks noChangeAspect="1" noChangeArrowheads="1"/>
                      </p:cNvPicPr>
                      <p:nvPr/>
                    </p:nvPicPr>
                    <p:blipFill>
                      <a:blip r:embed="rId13"/>
                      <a:srcRect/>
                      <a:stretch>
                        <a:fillRect/>
                      </a:stretch>
                    </p:blipFill>
                    <p:spPr bwMode="auto">
                      <a:xfrm>
                        <a:off x="7055904" y="6062128"/>
                        <a:ext cx="677862" cy="354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546453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5EE03-AEE0-AA1E-0223-C4915E385B9E}"/>
              </a:ext>
            </a:extLst>
          </p:cNvPr>
          <p:cNvSpPr>
            <a:spLocks noGrp="1"/>
          </p:cNvSpPr>
          <p:nvPr>
            <p:ph type="title"/>
          </p:nvPr>
        </p:nvSpPr>
        <p:spPr>
          <a:xfrm>
            <a:off x="431952" y="261294"/>
            <a:ext cx="8238973" cy="898126"/>
          </a:xfrm>
        </p:spPr>
        <p:txBody>
          <a:bodyPr wrap="square" tIns="18000" bIns="18000" anchor="ctr" anchorCtr="0">
            <a:spAutoFit/>
          </a:bodyPr>
          <a:lstStyle/>
          <a:p>
            <a:r>
              <a:rPr lang="en-US" sz="3200" dirty="0">
                <a:latin typeface="+mj-lt"/>
              </a:rPr>
              <a:t>Chapter 4 – techniques of circuit analysis </a:t>
            </a:r>
            <a:r>
              <a:rPr lang="en-US" sz="2400" dirty="0">
                <a:latin typeface="+mj-lt"/>
              </a:rPr>
              <a:t>(6 of 14)</a:t>
            </a:r>
            <a:endParaRPr lang="en-US" sz="3200" dirty="0"/>
          </a:p>
        </p:txBody>
      </p:sp>
      <p:sp>
        <p:nvSpPr>
          <p:cNvPr id="3" name="Content Placeholder 2">
            <a:extLst>
              <a:ext uri="{FF2B5EF4-FFF2-40B4-BE49-F238E27FC236}">
                <a16:creationId xmlns:a16="http://schemas.microsoft.com/office/drawing/2014/main" id="{6AE2AF59-B67F-0E8C-28DB-05E276D12F48}"/>
              </a:ext>
            </a:extLst>
          </p:cNvPr>
          <p:cNvSpPr>
            <a:spLocks noGrp="1"/>
          </p:cNvSpPr>
          <p:nvPr>
            <p:ph sz="quarter" idx="12"/>
          </p:nvPr>
        </p:nvSpPr>
        <p:spPr>
          <a:xfrm>
            <a:off x="430135" y="1304355"/>
            <a:ext cx="8238973" cy="728849"/>
          </a:xfrm>
        </p:spPr>
        <p:txBody>
          <a:bodyPr wrap="square" lIns="0" tIns="18000" rIns="0" bIns="18000" anchor="ctr" anchorCtr="0">
            <a:spAutoFit/>
          </a:bodyPr>
          <a:lstStyle/>
          <a:p>
            <a:pPr marL="0" indent="0">
              <a:spcBef>
                <a:spcPts val="600"/>
              </a:spcBef>
              <a:buNone/>
            </a:pPr>
            <a:r>
              <a:rPr lang="en-US" altLang="en-US" sz="2000" dirty="0"/>
              <a:t>Node voltage method versus mesh current method</a:t>
            </a:r>
          </a:p>
          <a:p>
            <a:pPr marL="342900" indent="-342900">
              <a:spcBef>
                <a:spcPts val="600"/>
              </a:spcBef>
            </a:pPr>
            <a:r>
              <a:rPr lang="en-US" altLang="en-US" sz="2000" dirty="0"/>
              <a:t>For the circuit below, find the power for the 4 A source:</a:t>
            </a:r>
            <a:endParaRPr lang="en-US" sz="1800" dirty="0"/>
          </a:p>
        </p:txBody>
      </p:sp>
      <p:pic>
        <p:nvPicPr>
          <p:cNvPr id="11" name="Picture 10" descr="A circuit diagram shows a two layered circuit. A 128-volt independent power source with positive polarity at the top and negative at bottom is the leftmost wire in the lower left part of the circuit. Connected in parallel to the 128-volt independent power source from left to right in that order are a 6-ohm resistor and current controlled-voltage source 30i subscript x. Three nodes are marked at the points where the wires housing the 128-volt independent power source, the 6-ohm resistor, and the current controlled-voltage source 30i subscript x connect to the second wire from the top. A node is separately marked where the wire housing the 6-ohm resistor connects to the bottom wire. &#10;A 4-ohm resistor is located in the second wire from top between the points where the wires housing the 128-volt independent power source and the 6-ohm resistor connect to the second wire from the top. Current i subscript x flows from left to right through the 4-ohm resistor. A 3-ohm resistor is located in the second wire from top between the points where the wires housing the 6-ohm resistor and the current controlled-voltage source 30i subscript x connect to the second wire from the top. A 2-ohm resistor is located in the bottom wire between the points where the wires housing the 128-volt independent power source and the 6-ohm resistor connect to the bottom wire. A 5-ohm resistor is located in the bottom wire between the points where the wires housing the 6-ohm resistor and the current controlled-voltage source 30i subscript x connect to the bottom wire. &#10;A 4 ampere independent current source with the internal arrow pointing rightwards forms the upper part of the circuit and is connected between the nodes formed where the wires housing the 128-volt independent power source and the current controlled-voltage source 30i subscript x connect to the second wire from the top. ">
            <a:extLst>
              <a:ext uri="{FF2B5EF4-FFF2-40B4-BE49-F238E27FC236}">
                <a16:creationId xmlns:a16="http://schemas.microsoft.com/office/drawing/2014/main" id="{7D389365-9231-5DB3-7241-D6C53C1E4356}"/>
              </a:ext>
            </a:extLst>
          </p:cNvPr>
          <p:cNvPicPr>
            <a:picLocks noChangeAspect="1"/>
          </p:cNvPicPr>
          <p:nvPr/>
        </p:nvPicPr>
        <p:blipFill>
          <a:blip r:embed="rId2"/>
          <a:stretch>
            <a:fillRect/>
          </a:stretch>
        </p:blipFill>
        <p:spPr>
          <a:xfrm>
            <a:off x="3585709" y="2230917"/>
            <a:ext cx="1972582" cy="1114118"/>
          </a:xfrm>
          <a:prstGeom prst="rect">
            <a:avLst/>
          </a:prstGeom>
        </p:spPr>
      </p:pic>
      <p:sp>
        <p:nvSpPr>
          <p:cNvPr id="4" name="Content Placeholder 3">
            <a:extLst>
              <a:ext uri="{FF2B5EF4-FFF2-40B4-BE49-F238E27FC236}">
                <a16:creationId xmlns:a16="http://schemas.microsoft.com/office/drawing/2014/main" id="{7D0F1FC8-71B7-2263-89D0-61FD927B8864}"/>
              </a:ext>
            </a:extLst>
          </p:cNvPr>
          <p:cNvSpPr>
            <a:spLocks noGrp="1"/>
          </p:cNvSpPr>
          <p:nvPr>
            <p:ph sz="quarter" idx="13"/>
          </p:nvPr>
        </p:nvSpPr>
        <p:spPr>
          <a:xfrm>
            <a:off x="430136" y="3506583"/>
            <a:ext cx="2833017" cy="344128"/>
          </a:xfrm>
        </p:spPr>
        <p:txBody>
          <a:bodyPr wrap="square" lIns="0" tIns="18000" rIns="0" bIns="18000" anchor="ctr" anchorCtr="0">
            <a:spAutoFit/>
          </a:bodyPr>
          <a:lstStyle/>
          <a:p>
            <a:pPr marL="342900" indent="-342900"/>
            <a:r>
              <a:rPr lang="en-US" sz="2000" dirty="0"/>
              <a:t>Mesh current method:</a:t>
            </a:r>
          </a:p>
        </p:txBody>
      </p:sp>
      <p:sp>
        <p:nvSpPr>
          <p:cNvPr id="5" name="Content Placeholder 4">
            <a:extLst>
              <a:ext uri="{FF2B5EF4-FFF2-40B4-BE49-F238E27FC236}">
                <a16:creationId xmlns:a16="http://schemas.microsoft.com/office/drawing/2014/main" id="{C0D45F3F-EF72-9573-2C28-96C7E0726B7E}"/>
              </a:ext>
            </a:extLst>
          </p:cNvPr>
          <p:cNvSpPr>
            <a:spLocks noGrp="1"/>
          </p:cNvSpPr>
          <p:nvPr>
            <p:ph sz="quarter" idx="14"/>
          </p:nvPr>
        </p:nvSpPr>
        <p:spPr>
          <a:xfrm>
            <a:off x="430136" y="3927451"/>
            <a:ext cx="3012311" cy="344128"/>
          </a:xfrm>
        </p:spPr>
        <p:txBody>
          <a:bodyPr wrap="square" lIns="0" tIns="18000" rIns="0" bIns="18000" anchor="ctr" anchorCtr="0">
            <a:spAutoFit/>
          </a:bodyPr>
          <a:lstStyle/>
          <a:p>
            <a:pPr marL="829818" lvl="1" indent="-342900"/>
            <a:r>
              <a:rPr lang="en-US" sz="2000" dirty="0"/>
              <a:t>Number of meshes</a:t>
            </a:r>
          </a:p>
        </p:txBody>
      </p:sp>
      <p:graphicFrame>
        <p:nvGraphicFramePr>
          <p:cNvPr id="21" name="Object 20" descr=" A blank filled with the value 3.">
            <a:extLst>
              <a:ext uri="{FF2B5EF4-FFF2-40B4-BE49-F238E27FC236}">
                <a16:creationId xmlns:a16="http://schemas.microsoft.com/office/drawing/2014/main" id="{67279923-5A67-4C2B-894E-468F04AA391B}"/>
              </a:ext>
            </a:extLst>
          </p:cNvPr>
          <p:cNvGraphicFramePr>
            <a:graphicFrameLocks noChangeAspect="1"/>
          </p:cNvGraphicFramePr>
          <p:nvPr>
            <p:extLst>
              <p:ext uri="{D42A27DB-BD31-4B8C-83A1-F6EECF244321}">
                <p14:modId xmlns:p14="http://schemas.microsoft.com/office/powerpoint/2010/main" val="95464644"/>
              </p:ext>
            </p:extLst>
          </p:nvPr>
        </p:nvGraphicFramePr>
        <p:xfrm>
          <a:off x="7001255" y="3932334"/>
          <a:ext cx="678724" cy="334361"/>
        </p:xfrm>
        <a:graphic>
          <a:graphicData uri="http://schemas.openxmlformats.org/presentationml/2006/ole">
            <mc:AlternateContent xmlns:mc="http://schemas.openxmlformats.org/markup-compatibility/2006">
              <mc:Choice xmlns:v="urn:schemas-microsoft-com:vml" Requires="v">
                <p:oleObj name="Equation" r:id="rId3" imgW="406080" imgH="203040" progId="Equation.DSMT4">
                  <p:embed/>
                </p:oleObj>
              </mc:Choice>
              <mc:Fallback>
                <p:oleObj name="Equation" r:id="rId3" imgW="406080" imgH="203040" progId="Equation.DSMT4">
                  <p:embed/>
                  <p:pic>
                    <p:nvPicPr>
                      <p:cNvPr id="21" name="Object 20">
                        <a:extLst>
                          <a:ext uri="{FF2B5EF4-FFF2-40B4-BE49-F238E27FC236}">
                            <a16:creationId xmlns:a16="http://schemas.microsoft.com/office/drawing/2014/main" id="{67279923-5A67-4C2B-894E-468F04AA391B}"/>
                          </a:ext>
                        </a:extLst>
                      </p:cNvPr>
                      <p:cNvPicPr>
                        <a:picLocks noChangeAspect="1" noChangeArrowheads="1"/>
                      </p:cNvPicPr>
                      <p:nvPr/>
                    </p:nvPicPr>
                    <p:blipFill>
                      <a:blip r:embed="rId4"/>
                      <a:srcRect/>
                      <a:stretch>
                        <a:fillRect/>
                      </a:stretch>
                    </p:blipFill>
                    <p:spPr bwMode="auto">
                      <a:xfrm>
                        <a:off x="7001255" y="3932334"/>
                        <a:ext cx="678724" cy="3343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Content Placeholder 5">
            <a:extLst>
              <a:ext uri="{FF2B5EF4-FFF2-40B4-BE49-F238E27FC236}">
                <a16:creationId xmlns:a16="http://schemas.microsoft.com/office/drawing/2014/main" id="{902FF761-1D96-0333-2179-391C3C520AC0}"/>
              </a:ext>
            </a:extLst>
          </p:cNvPr>
          <p:cNvSpPr>
            <a:spLocks noGrp="1"/>
          </p:cNvSpPr>
          <p:nvPr>
            <p:ph sz="quarter" idx="15"/>
          </p:nvPr>
        </p:nvSpPr>
        <p:spPr>
          <a:xfrm>
            <a:off x="432954" y="4367171"/>
            <a:ext cx="5194847" cy="344128"/>
          </a:xfrm>
        </p:spPr>
        <p:txBody>
          <a:bodyPr wrap="square" lIns="0" tIns="18000" rIns="0" bIns="18000" anchor="ctr" anchorCtr="0">
            <a:spAutoFit/>
          </a:bodyPr>
          <a:lstStyle/>
          <a:p>
            <a:pPr marL="829818" lvl="1" indent="-342900"/>
            <a:r>
              <a:rPr lang="en-US" sz="2000" dirty="0"/>
              <a:t>Number of single mesh </a:t>
            </a:r>
            <a:r>
              <a:rPr lang="en-US" sz="2000" spc="-250" dirty="0"/>
              <a:t>K V </a:t>
            </a:r>
            <a:r>
              <a:rPr lang="en-US" sz="2000" dirty="0"/>
              <a:t>L equations</a:t>
            </a:r>
          </a:p>
        </p:txBody>
      </p:sp>
      <p:graphicFrame>
        <p:nvGraphicFramePr>
          <p:cNvPr id="23" name="Object 22" descr="A blank filled with the value 2.">
            <a:extLst>
              <a:ext uri="{FF2B5EF4-FFF2-40B4-BE49-F238E27FC236}">
                <a16:creationId xmlns:a16="http://schemas.microsoft.com/office/drawing/2014/main" id="{7CAA5C5E-532F-4B9F-D54D-2FAF564707D6}"/>
              </a:ext>
            </a:extLst>
          </p:cNvPr>
          <p:cNvGraphicFramePr>
            <a:graphicFrameLocks noChangeAspect="1"/>
          </p:cNvGraphicFramePr>
          <p:nvPr>
            <p:extLst>
              <p:ext uri="{D42A27DB-BD31-4B8C-83A1-F6EECF244321}">
                <p14:modId xmlns:p14="http://schemas.microsoft.com/office/powerpoint/2010/main" val="2697037782"/>
              </p:ext>
            </p:extLst>
          </p:nvPr>
        </p:nvGraphicFramePr>
        <p:xfrm>
          <a:off x="7002117" y="4343431"/>
          <a:ext cx="678724" cy="334361"/>
        </p:xfrm>
        <a:graphic>
          <a:graphicData uri="http://schemas.openxmlformats.org/presentationml/2006/ole">
            <mc:AlternateContent xmlns:mc="http://schemas.openxmlformats.org/markup-compatibility/2006">
              <mc:Choice xmlns:v="urn:schemas-microsoft-com:vml" Requires="v">
                <p:oleObj name="Equation" r:id="rId5" imgW="406080" imgH="203040" progId="Equation.DSMT4">
                  <p:embed/>
                </p:oleObj>
              </mc:Choice>
              <mc:Fallback>
                <p:oleObj name="Equation" r:id="rId5" imgW="406080" imgH="203040" progId="Equation.DSMT4">
                  <p:embed/>
                  <p:pic>
                    <p:nvPicPr>
                      <p:cNvPr id="23" name="Object 22">
                        <a:extLst>
                          <a:ext uri="{FF2B5EF4-FFF2-40B4-BE49-F238E27FC236}">
                            <a16:creationId xmlns:a16="http://schemas.microsoft.com/office/drawing/2014/main" id="{7CAA5C5E-532F-4B9F-D54D-2FAF564707D6}"/>
                          </a:ext>
                        </a:extLst>
                      </p:cNvPr>
                      <p:cNvPicPr>
                        <a:picLocks noChangeAspect="1" noChangeArrowheads="1"/>
                      </p:cNvPicPr>
                      <p:nvPr/>
                    </p:nvPicPr>
                    <p:blipFill>
                      <a:blip r:embed="rId6"/>
                      <a:srcRect/>
                      <a:stretch>
                        <a:fillRect/>
                      </a:stretch>
                    </p:blipFill>
                    <p:spPr bwMode="auto">
                      <a:xfrm>
                        <a:off x="7002117" y="4343431"/>
                        <a:ext cx="678724" cy="3343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Content Placeholder 6">
            <a:extLst>
              <a:ext uri="{FF2B5EF4-FFF2-40B4-BE49-F238E27FC236}">
                <a16:creationId xmlns:a16="http://schemas.microsoft.com/office/drawing/2014/main" id="{58156CC0-7797-BDD8-7CA5-9030E74FC2ED}"/>
              </a:ext>
            </a:extLst>
          </p:cNvPr>
          <p:cNvSpPr>
            <a:spLocks noGrp="1"/>
          </p:cNvSpPr>
          <p:nvPr>
            <p:ph sz="quarter" idx="16"/>
          </p:nvPr>
        </p:nvSpPr>
        <p:spPr>
          <a:xfrm>
            <a:off x="430135" y="4788921"/>
            <a:ext cx="4518383" cy="344128"/>
          </a:xfrm>
        </p:spPr>
        <p:txBody>
          <a:bodyPr wrap="square" lIns="0" tIns="18000" rIns="0" bIns="18000" anchor="ctr" anchorCtr="0">
            <a:spAutoFit/>
          </a:bodyPr>
          <a:lstStyle/>
          <a:p>
            <a:pPr marL="829818" lvl="1" indent="-342900"/>
            <a:r>
              <a:rPr lang="en-US" sz="2000" dirty="0"/>
              <a:t>Number of </a:t>
            </a:r>
            <a:r>
              <a:rPr lang="en-US" sz="2000" dirty="0" err="1"/>
              <a:t>supermesh</a:t>
            </a:r>
            <a:r>
              <a:rPr lang="en-US" sz="2000" dirty="0"/>
              <a:t> equations</a:t>
            </a:r>
          </a:p>
        </p:txBody>
      </p:sp>
      <p:graphicFrame>
        <p:nvGraphicFramePr>
          <p:cNvPr id="22" name="Object 21" descr="A blank filled with the value 0.">
            <a:extLst>
              <a:ext uri="{FF2B5EF4-FFF2-40B4-BE49-F238E27FC236}">
                <a16:creationId xmlns:a16="http://schemas.microsoft.com/office/drawing/2014/main" id="{D9CF3062-9E9D-DE6A-6BB5-2890C1689EE2}"/>
              </a:ext>
            </a:extLst>
          </p:cNvPr>
          <p:cNvGraphicFramePr>
            <a:graphicFrameLocks noChangeAspect="1"/>
          </p:cNvGraphicFramePr>
          <p:nvPr>
            <p:extLst>
              <p:ext uri="{D42A27DB-BD31-4B8C-83A1-F6EECF244321}">
                <p14:modId xmlns:p14="http://schemas.microsoft.com/office/powerpoint/2010/main" val="3162544918"/>
              </p:ext>
            </p:extLst>
          </p:nvPr>
        </p:nvGraphicFramePr>
        <p:xfrm>
          <a:off x="7002117" y="4788921"/>
          <a:ext cx="678724" cy="334361"/>
        </p:xfrm>
        <a:graphic>
          <a:graphicData uri="http://schemas.openxmlformats.org/presentationml/2006/ole">
            <mc:AlternateContent xmlns:mc="http://schemas.openxmlformats.org/markup-compatibility/2006">
              <mc:Choice xmlns:v="urn:schemas-microsoft-com:vml" Requires="v">
                <p:oleObj name="Equation" r:id="rId7" imgW="406080" imgH="203040" progId="Equation.DSMT4">
                  <p:embed/>
                </p:oleObj>
              </mc:Choice>
              <mc:Fallback>
                <p:oleObj name="Equation" r:id="rId7" imgW="406080" imgH="203040" progId="Equation.DSMT4">
                  <p:embed/>
                  <p:pic>
                    <p:nvPicPr>
                      <p:cNvPr id="22" name="Object 21">
                        <a:extLst>
                          <a:ext uri="{FF2B5EF4-FFF2-40B4-BE49-F238E27FC236}">
                            <a16:creationId xmlns:a16="http://schemas.microsoft.com/office/drawing/2014/main" id="{D9CF3062-9E9D-DE6A-6BB5-2890C1689EE2}"/>
                          </a:ext>
                        </a:extLst>
                      </p:cNvPr>
                      <p:cNvPicPr>
                        <a:picLocks noChangeAspect="1" noChangeArrowheads="1"/>
                      </p:cNvPicPr>
                      <p:nvPr/>
                    </p:nvPicPr>
                    <p:blipFill>
                      <a:blip r:embed="rId8"/>
                      <a:srcRect/>
                      <a:stretch>
                        <a:fillRect/>
                      </a:stretch>
                    </p:blipFill>
                    <p:spPr bwMode="auto">
                      <a:xfrm>
                        <a:off x="7002117" y="4788921"/>
                        <a:ext cx="678724" cy="3343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Content Placeholder 7">
            <a:extLst>
              <a:ext uri="{FF2B5EF4-FFF2-40B4-BE49-F238E27FC236}">
                <a16:creationId xmlns:a16="http://schemas.microsoft.com/office/drawing/2014/main" id="{534A065D-ED90-D35F-D21C-5A7A582E6707}"/>
              </a:ext>
            </a:extLst>
          </p:cNvPr>
          <p:cNvSpPr>
            <a:spLocks noGrp="1"/>
          </p:cNvSpPr>
          <p:nvPr>
            <p:ph sz="quarter" idx="17"/>
          </p:nvPr>
        </p:nvSpPr>
        <p:spPr>
          <a:xfrm>
            <a:off x="430136" y="5221487"/>
            <a:ext cx="5692758" cy="344128"/>
          </a:xfrm>
        </p:spPr>
        <p:txBody>
          <a:bodyPr wrap="square" lIns="0" tIns="18000" rIns="0" bIns="18000" anchor="ctr" anchorCtr="0">
            <a:spAutoFit/>
          </a:bodyPr>
          <a:lstStyle/>
          <a:p>
            <a:pPr marL="829818" lvl="1" indent="-342900"/>
            <a:r>
              <a:rPr lang="en-US" sz="2000" dirty="0"/>
              <a:t>Number of </a:t>
            </a:r>
            <a:r>
              <a:rPr lang="en-US" sz="2000" dirty="0" err="1"/>
              <a:t>supermesh</a:t>
            </a:r>
            <a:r>
              <a:rPr lang="en-US" sz="2000" dirty="0"/>
              <a:t> constraint equations</a:t>
            </a:r>
          </a:p>
        </p:txBody>
      </p:sp>
      <p:graphicFrame>
        <p:nvGraphicFramePr>
          <p:cNvPr id="24" name="Object 23" descr="A blank filled with the value 0.">
            <a:extLst>
              <a:ext uri="{FF2B5EF4-FFF2-40B4-BE49-F238E27FC236}">
                <a16:creationId xmlns:a16="http://schemas.microsoft.com/office/drawing/2014/main" id="{07791FBD-3136-4B6E-18EC-5079AAB6F8C8}"/>
              </a:ext>
            </a:extLst>
          </p:cNvPr>
          <p:cNvGraphicFramePr>
            <a:graphicFrameLocks noChangeAspect="1"/>
          </p:cNvGraphicFramePr>
          <p:nvPr>
            <p:extLst>
              <p:ext uri="{D42A27DB-BD31-4B8C-83A1-F6EECF244321}">
                <p14:modId xmlns:p14="http://schemas.microsoft.com/office/powerpoint/2010/main" val="798078341"/>
              </p:ext>
            </p:extLst>
          </p:nvPr>
        </p:nvGraphicFramePr>
        <p:xfrm>
          <a:off x="7001255" y="5191614"/>
          <a:ext cx="678724" cy="334361"/>
        </p:xfrm>
        <a:graphic>
          <a:graphicData uri="http://schemas.openxmlformats.org/presentationml/2006/ole">
            <mc:AlternateContent xmlns:mc="http://schemas.openxmlformats.org/markup-compatibility/2006">
              <mc:Choice xmlns:v="urn:schemas-microsoft-com:vml" Requires="v">
                <p:oleObj name="Equation" r:id="rId9" imgW="406080" imgH="203040" progId="Equation.DSMT4">
                  <p:embed/>
                </p:oleObj>
              </mc:Choice>
              <mc:Fallback>
                <p:oleObj name="Equation" r:id="rId9" imgW="406080" imgH="203040" progId="Equation.DSMT4">
                  <p:embed/>
                  <p:pic>
                    <p:nvPicPr>
                      <p:cNvPr id="24" name="Object 23">
                        <a:extLst>
                          <a:ext uri="{FF2B5EF4-FFF2-40B4-BE49-F238E27FC236}">
                            <a16:creationId xmlns:a16="http://schemas.microsoft.com/office/drawing/2014/main" id="{07791FBD-3136-4B6E-18EC-5079AAB6F8C8}"/>
                          </a:ext>
                        </a:extLst>
                      </p:cNvPr>
                      <p:cNvPicPr>
                        <a:picLocks noChangeAspect="1" noChangeArrowheads="1"/>
                      </p:cNvPicPr>
                      <p:nvPr/>
                    </p:nvPicPr>
                    <p:blipFill>
                      <a:blip r:embed="rId10"/>
                      <a:srcRect/>
                      <a:stretch>
                        <a:fillRect/>
                      </a:stretch>
                    </p:blipFill>
                    <p:spPr bwMode="auto">
                      <a:xfrm>
                        <a:off x="7001255" y="5191614"/>
                        <a:ext cx="678724" cy="3343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Content Placeholder 8">
            <a:extLst>
              <a:ext uri="{FF2B5EF4-FFF2-40B4-BE49-F238E27FC236}">
                <a16:creationId xmlns:a16="http://schemas.microsoft.com/office/drawing/2014/main" id="{20EF78DA-1968-AA28-D682-37FB246DDF4D}"/>
              </a:ext>
            </a:extLst>
          </p:cNvPr>
          <p:cNvSpPr>
            <a:spLocks noGrp="1"/>
          </p:cNvSpPr>
          <p:nvPr>
            <p:ph sz="quarter" idx="18"/>
          </p:nvPr>
        </p:nvSpPr>
        <p:spPr>
          <a:xfrm>
            <a:off x="430134" y="5627773"/>
            <a:ext cx="6481653" cy="344128"/>
          </a:xfrm>
        </p:spPr>
        <p:txBody>
          <a:bodyPr wrap="square" lIns="0" tIns="18000" rIns="0" bIns="18000" anchor="ctr" anchorCtr="0">
            <a:spAutoFit/>
          </a:bodyPr>
          <a:lstStyle/>
          <a:p>
            <a:pPr marL="829818" lvl="1" indent="-342900"/>
            <a:r>
              <a:rPr lang="en-US" sz="2000" dirty="0"/>
              <a:t>Number of dependent source constraint equations</a:t>
            </a:r>
          </a:p>
        </p:txBody>
      </p:sp>
      <p:graphicFrame>
        <p:nvGraphicFramePr>
          <p:cNvPr id="25" name="Object 24" descr="A blank filled with the value 1.">
            <a:extLst>
              <a:ext uri="{FF2B5EF4-FFF2-40B4-BE49-F238E27FC236}">
                <a16:creationId xmlns:a16="http://schemas.microsoft.com/office/drawing/2014/main" id="{529D6B28-4507-DB42-D495-AF5C0575204B}"/>
              </a:ext>
            </a:extLst>
          </p:cNvPr>
          <p:cNvGraphicFramePr>
            <a:graphicFrameLocks noChangeAspect="1"/>
          </p:cNvGraphicFramePr>
          <p:nvPr>
            <p:extLst>
              <p:ext uri="{D42A27DB-BD31-4B8C-83A1-F6EECF244321}">
                <p14:modId xmlns:p14="http://schemas.microsoft.com/office/powerpoint/2010/main" val="3172446238"/>
              </p:ext>
            </p:extLst>
          </p:nvPr>
        </p:nvGraphicFramePr>
        <p:xfrm>
          <a:off x="7001255" y="5606480"/>
          <a:ext cx="678724" cy="334361"/>
        </p:xfrm>
        <a:graphic>
          <a:graphicData uri="http://schemas.openxmlformats.org/presentationml/2006/ole">
            <mc:AlternateContent xmlns:mc="http://schemas.openxmlformats.org/markup-compatibility/2006">
              <mc:Choice xmlns:v="urn:schemas-microsoft-com:vml" Requires="v">
                <p:oleObj name="Equation" r:id="rId11" imgW="406080" imgH="203040" progId="Equation.DSMT4">
                  <p:embed/>
                </p:oleObj>
              </mc:Choice>
              <mc:Fallback>
                <p:oleObj name="Equation" r:id="rId11" imgW="406080" imgH="203040" progId="Equation.DSMT4">
                  <p:embed/>
                  <p:pic>
                    <p:nvPicPr>
                      <p:cNvPr id="25" name="Object 24">
                        <a:extLst>
                          <a:ext uri="{FF2B5EF4-FFF2-40B4-BE49-F238E27FC236}">
                            <a16:creationId xmlns:a16="http://schemas.microsoft.com/office/drawing/2014/main" id="{529D6B28-4507-DB42-D495-AF5C0575204B}"/>
                          </a:ext>
                        </a:extLst>
                      </p:cNvPr>
                      <p:cNvPicPr>
                        <a:picLocks noChangeAspect="1" noChangeArrowheads="1"/>
                      </p:cNvPicPr>
                      <p:nvPr/>
                    </p:nvPicPr>
                    <p:blipFill>
                      <a:blip r:embed="rId12"/>
                      <a:srcRect/>
                      <a:stretch>
                        <a:fillRect/>
                      </a:stretch>
                    </p:blipFill>
                    <p:spPr bwMode="auto">
                      <a:xfrm>
                        <a:off x="7001255" y="5606480"/>
                        <a:ext cx="678724" cy="3343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Content Placeholder 9">
            <a:extLst>
              <a:ext uri="{FF2B5EF4-FFF2-40B4-BE49-F238E27FC236}">
                <a16:creationId xmlns:a16="http://schemas.microsoft.com/office/drawing/2014/main" id="{EE7FA8D7-36F5-2054-B5F7-8B4BBF18C5AC}"/>
              </a:ext>
            </a:extLst>
          </p:cNvPr>
          <p:cNvSpPr>
            <a:spLocks noGrp="1"/>
          </p:cNvSpPr>
          <p:nvPr>
            <p:ph sz="quarter" idx="19"/>
          </p:nvPr>
        </p:nvSpPr>
        <p:spPr>
          <a:xfrm>
            <a:off x="430135" y="6061969"/>
            <a:ext cx="5352099" cy="344128"/>
          </a:xfrm>
        </p:spPr>
        <p:txBody>
          <a:bodyPr wrap="square" lIns="0" tIns="18000" rIns="0" bIns="18000" anchor="ctr" anchorCtr="0">
            <a:spAutoFit/>
          </a:bodyPr>
          <a:lstStyle/>
          <a:p>
            <a:pPr marL="829818" lvl="1" indent="-342900"/>
            <a:r>
              <a:rPr lang="en-US" sz="2000" dirty="0"/>
              <a:t>Equations needed to find desired output</a:t>
            </a:r>
          </a:p>
        </p:txBody>
      </p:sp>
      <p:graphicFrame>
        <p:nvGraphicFramePr>
          <p:cNvPr id="26" name="Object 25" descr="A blank filled with the value 1 divided by 2.">
            <a:extLst>
              <a:ext uri="{FF2B5EF4-FFF2-40B4-BE49-F238E27FC236}">
                <a16:creationId xmlns:a16="http://schemas.microsoft.com/office/drawing/2014/main" id="{FC833FC0-4F9E-9831-CE35-7ABDE37FA388}"/>
              </a:ext>
            </a:extLst>
          </p:cNvPr>
          <p:cNvGraphicFramePr>
            <a:graphicFrameLocks noChangeAspect="1"/>
          </p:cNvGraphicFramePr>
          <p:nvPr>
            <p:extLst>
              <p:ext uri="{D42A27DB-BD31-4B8C-83A1-F6EECF244321}">
                <p14:modId xmlns:p14="http://schemas.microsoft.com/office/powerpoint/2010/main" val="2103926242"/>
              </p:ext>
            </p:extLst>
          </p:nvPr>
        </p:nvGraphicFramePr>
        <p:xfrm>
          <a:off x="7002117" y="6062128"/>
          <a:ext cx="677862" cy="354012"/>
        </p:xfrm>
        <a:graphic>
          <a:graphicData uri="http://schemas.openxmlformats.org/presentationml/2006/ole">
            <mc:AlternateContent xmlns:mc="http://schemas.openxmlformats.org/markup-compatibility/2006">
              <mc:Choice xmlns:v="urn:schemas-microsoft-com:vml" Requires="v">
                <p:oleObj name="Equation" r:id="rId13" imgW="406080" imgH="215640" progId="Equation.DSMT4">
                  <p:embed/>
                </p:oleObj>
              </mc:Choice>
              <mc:Fallback>
                <p:oleObj name="Equation" r:id="rId13" imgW="406080" imgH="215640" progId="Equation.DSMT4">
                  <p:embed/>
                  <p:pic>
                    <p:nvPicPr>
                      <p:cNvPr id="26" name="Object 25">
                        <a:extLst>
                          <a:ext uri="{FF2B5EF4-FFF2-40B4-BE49-F238E27FC236}">
                            <a16:creationId xmlns:a16="http://schemas.microsoft.com/office/drawing/2014/main" id="{FC833FC0-4F9E-9831-CE35-7ABDE37FA388}"/>
                          </a:ext>
                        </a:extLst>
                      </p:cNvPr>
                      <p:cNvPicPr>
                        <a:picLocks noChangeAspect="1" noChangeArrowheads="1"/>
                      </p:cNvPicPr>
                      <p:nvPr/>
                    </p:nvPicPr>
                    <p:blipFill>
                      <a:blip r:embed="rId14"/>
                      <a:srcRect/>
                      <a:stretch>
                        <a:fillRect/>
                      </a:stretch>
                    </p:blipFill>
                    <p:spPr bwMode="auto">
                      <a:xfrm>
                        <a:off x="7002117" y="6062128"/>
                        <a:ext cx="677862" cy="354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8781091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C4890-5BDE-6DAA-6C72-CF344A53179F}"/>
              </a:ext>
            </a:extLst>
          </p:cNvPr>
          <p:cNvSpPr>
            <a:spLocks noGrp="1"/>
          </p:cNvSpPr>
          <p:nvPr>
            <p:ph type="title"/>
          </p:nvPr>
        </p:nvSpPr>
        <p:spPr>
          <a:xfrm>
            <a:off x="431952" y="261294"/>
            <a:ext cx="8238973" cy="898126"/>
          </a:xfrm>
        </p:spPr>
        <p:txBody>
          <a:bodyPr wrap="square" lIns="0" tIns="18000" rIns="0" bIns="18000" anchor="ctr" anchorCtr="0">
            <a:spAutoFit/>
          </a:bodyPr>
          <a:lstStyle/>
          <a:p>
            <a:r>
              <a:rPr lang="en-US" sz="3200" dirty="0">
                <a:latin typeface="+mj-lt"/>
              </a:rPr>
              <a:t>Chapter 4 – techniques of circuit analysis </a:t>
            </a:r>
            <a:r>
              <a:rPr lang="en-US" sz="2400" dirty="0">
                <a:latin typeface="+mj-lt"/>
              </a:rPr>
              <a:t>(7 of 14)</a:t>
            </a:r>
            <a:endParaRPr lang="en-US" sz="3200" dirty="0"/>
          </a:p>
        </p:txBody>
      </p:sp>
      <p:sp>
        <p:nvSpPr>
          <p:cNvPr id="3" name="Content Placeholder 2">
            <a:extLst>
              <a:ext uri="{FF2B5EF4-FFF2-40B4-BE49-F238E27FC236}">
                <a16:creationId xmlns:a16="http://schemas.microsoft.com/office/drawing/2014/main" id="{58B9ADE5-BA4B-58A3-FD65-269F1B36B3F4}"/>
              </a:ext>
            </a:extLst>
          </p:cNvPr>
          <p:cNvSpPr>
            <a:spLocks noGrp="1"/>
          </p:cNvSpPr>
          <p:nvPr>
            <p:ph sz="quarter" idx="12"/>
          </p:nvPr>
        </p:nvSpPr>
        <p:spPr>
          <a:xfrm>
            <a:off x="430135" y="1304720"/>
            <a:ext cx="8238973" cy="1652179"/>
          </a:xfrm>
        </p:spPr>
        <p:txBody>
          <a:bodyPr wrap="square" lIns="0" tIns="18000" rIns="0" bIns="18000" anchor="ctr" anchorCtr="0">
            <a:spAutoFit/>
          </a:bodyPr>
          <a:lstStyle/>
          <a:p>
            <a:pPr marL="0" indent="0">
              <a:spcBef>
                <a:spcPts val="600"/>
              </a:spcBef>
              <a:buNone/>
            </a:pPr>
            <a:r>
              <a:rPr lang="en-US" altLang="en-US" sz="2000" dirty="0"/>
              <a:t>Source transformation</a:t>
            </a:r>
          </a:p>
          <a:p>
            <a:pPr marL="342900" indent="-342900">
              <a:spcBef>
                <a:spcPts val="600"/>
              </a:spcBef>
            </a:pPr>
            <a:r>
              <a:rPr lang="en-US" altLang="en-US" sz="2000" dirty="0"/>
              <a:t>Under what condition(s) are the two circuits below “equivalent”? “Equivalent” means that if you attached any resistor to both circuits, it would have the same current, and therefore the same voltage and power.</a:t>
            </a:r>
            <a:endParaRPr lang="en-US" sz="1800" dirty="0"/>
          </a:p>
        </p:txBody>
      </p:sp>
      <p:pic>
        <p:nvPicPr>
          <p:cNvPr id="45" name="Picture 44" descr="A circuit diagram shows an independent-voltage source v subscript s with positive polarity at the top end and negative at the bottom as the leftmost wire in the circuit. The top wire contains from left to right in that order resistor R and point a. Resistor R subscript L is connected in parallel to the independent-voltage source v subscript s in the right wire of the circuit. The bottom wire includes point b which corresponds to the point a in the top wire. Current i subscript L flows through the circuit. &#10;A circuit diagram shows an independent current source i subscript s with the internal arrow pointing upwards as the leftmost wire in the circuit. Connected in parallel to the independent current source i subscript s from left to right in that order is resistor R and resistor R subscript L. Two nodes are marked at the points where the wire housing the resistor R connects to the top and bottom wire. Point a on the top wire and point b on the bottom wire are located between the wires housing the wires for resistor R and resistor R subscript L. Current i subscript L flows through the resistor R subscript L.">
            <a:extLst>
              <a:ext uri="{FF2B5EF4-FFF2-40B4-BE49-F238E27FC236}">
                <a16:creationId xmlns:a16="http://schemas.microsoft.com/office/drawing/2014/main" id="{83C7A88F-E41D-F6A0-12E2-B2A5F6EFB570}"/>
              </a:ext>
            </a:extLst>
          </p:cNvPr>
          <p:cNvPicPr>
            <a:picLocks noChangeAspect="1"/>
          </p:cNvPicPr>
          <p:nvPr/>
        </p:nvPicPr>
        <p:blipFill>
          <a:blip r:embed="rId3"/>
          <a:stretch>
            <a:fillRect/>
          </a:stretch>
        </p:blipFill>
        <p:spPr>
          <a:xfrm>
            <a:off x="827877" y="3084529"/>
            <a:ext cx="7507098" cy="1839017"/>
          </a:xfrm>
          <a:prstGeom prst="rect">
            <a:avLst/>
          </a:prstGeom>
        </p:spPr>
      </p:pic>
      <p:graphicFrame>
        <p:nvGraphicFramePr>
          <p:cNvPr id="21" name="Object 20" descr="i subscript L BaseLine equals StartFraction v subscript S over R plus R subscript L EndFraction.">
            <a:extLst>
              <a:ext uri="{FF2B5EF4-FFF2-40B4-BE49-F238E27FC236}">
                <a16:creationId xmlns:a16="http://schemas.microsoft.com/office/drawing/2014/main" id="{85844F42-ABBC-0587-0C51-F1DFDCE8C2D8}"/>
              </a:ext>
            </a:extLst>
          </p:cNvPr>
          <p:cNvGraphicFramePr>
            <a:graphicFrameLocks noChangeAspect="1"/>
          </p:cNvGraphicFramePr>
          <p:nvPr>
            <p:extLst>
              <p:ext uri="{D42A27DB-BD31-4B8C-83A1-F6EECF244321}">
                <p14:modId xmlns:p14="http://schemas.microsoft.com/office/powerpoint/2010/main" val="2715497"/>
              </p:ext>
            </p:extLst>
          </p:nvPr>
        </p:nvGraphicFramePr>
        <p:xfrm>
          <a:off x="878198" y="5045848"/>
          <a:ext cx="1355725" cy="733425"/>
        </p:xfrm>
        <a:graphic>
          <a:graphicData uri="http://schemas.openxmlformats.org/presentationml/2006/ole">
            <mc:AlternateContent xmlns:mc="http://schemas.openxmlformats.org/markup-compatibility/2006">
              <mc:Choice xmlns:v="urn:schemas-microsoft-com:vml" Requires="v">
                <p:oleObj name="Equation" r:id="rId4" imgW="812520" imgH="444240" progId="Equation.DSMT4">
                  <p:embed/>
                </p:oleObj>
              </mc:Choice>
              <mc:Fallback>
                <p:oleObj name="Equation" r:id="rId4" imgW="812520" imgH="444240" progId="Equation.DSMT4">
                  <p:embed/>
                  <p:pic>
                    <p:nvPicPr>
                      <p:cNvPr id="21" name="Object 20">
                        <a:extLst>
                          <a:ext uri="{FF2B5EF4-FFF2-40B4-BE49-F238E27FC236}">
                            <a16:creationId xmlns:a16="http://schemas.microsoft.com/office/drawing/2014/main" id="{67279923-5A67-4C2B-894E-468F04AA391B}"/>
                          </a:ext>
                        </a:extLst>
                      </p:cNvPr>
                      <p:cNvPicPr>
                        <a:picLocks noChangeAspect="1" noChangeArrowheads="1"/>
                      </p:cNvPicPr>
                      <p:nvPr/>
                    </p:nvPicPr>
                    <p:blipFill>
                      <a:blip r:embed="rId5"/>
                      <a:srcRect/>
                      <a:stretch>
                        <a:fillRect/>
                      </a:stretch>
                    </p:blipFill>
                    <p:spPr bwMode="auto">
                      <a:xfrm>
                        <a:off x="878198" y="5045848"/>
                        <a:ext cx="1355725" cy="733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21" descr="The figure illustrates the calculation i subscript L.&#10;Long description is available in notes, Press F6.">
            <a:extLst>
              <a:ext uri="{FF2B5EF4-FFF2-40B4-BE49-F238E27FC236}">
                <a16:creationId xmlns:a16="http://schemas.microsoft.com/office/drawing/2014/main" id="{A1050CCC-22E8-BA79-9D4D-7F10A57E1411}"/>
              </a:ext>
            </a:extLst>
          </p:cNvPr>
          <p:cNvGraphicFramePr>
            <a:graphicFrameLocks noChangeAspect="1"/>
          </p:cNvGraphicFramePr>
          <p:nvPr>
            <p:extLst>
              <p:ext uri="{D42A27DB-BD31-4B8C-83A1-F6EECF244321}">
                <p14:modId xmlns:p14="http://schemas.microsoft.com/office/powerpoint/2010/main" val="3709398274"/>
              </p:ext>
            </p:extLst>
          </p:nvPr>
        </p:nvGraphicFramePr>
        <p:xfrm>
          <a:off x="3825908" y="5045847"/>
          <a:ext cx="4532313" cy="733425"/>
        </p:xfrm>
        <a:graphic>
          <a:graphicData uri="http://schemas.openxmlformats.org/presentationml/2006/ole">
            <mc:AlternateContent xmlns:mc="http://schemas.openxmlformats.org/markup-compatibility/2006">
              <mc:Choice xmlns:v="urn:schemas-microsoft-com:vml" Requires="v">
                <p:oleObj name="Equation" r:id="rId6" imgW="2717640" imgH="444240" progId="Equation.DSMT4">
                  <p:embed/>
                </p:oleObj>
              </mc:Choice>
              <mc:Fallback>
                <p:oleObj name="Equation" r:id="rId6" imgW="2717640" imgH="444240" progId="Equation.DSMT4">
                  <p:embed/>
                  <p:pic>
                    <p:nvPicPr>
                      <p:cNvPr id="21" name="Object 20">
                        <a:extLst>
                          <a:ext uri="{FF2B5EF4-FFF2-40B4-BE49-F238E27FC236}">
                            <a16:creationId xmlns:a16="http://schemas.microsoft.com/office/drawing/2014/main" id="{85844F42-ABBC-0587-0C51-F1DFDCE8C2D8}"/>
                          </a:ext>
                        </a:extLst>
                      </p:cNvPr>
                      <p:cNvPicPr>
                        <a:picLocks noChangeAspect="1" noChangeArrowheads="1"/>
                      </p:cNvPicPr>
                      <p:nvPr/>
                    </p:nvPicPr>
                    <p:blipFill>
                      <a:blip r:embed="rId7"/>
                      <a:srcRect/>
                      <a:stretch>
                        <a:fillRect/>
                      </a:stretch>
                    </p:blipFill>
                    <p:spPr bwMode="auto">
                      <a:xfrm>
                        <a:off x="3825908" y="5045847"/>
                        <a:ext cx="4532313" cy="733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22" descr="Forward arrow, v subscript S BaseLine equals R i subscript S BaseLine.">
            <a:extLst>
              <a:ext uri="{FF2B5EF4-FFF2-40B4-BE49-F238E27FC236}">
                <a16:creationId xmlns:a16="http://schemas.microsoft.com/office/drawing/2014/main" id="{0E83DCDE-0158-1306-9C35-3916BAACB8C2}"/>
              </a:ext>
            </a:extLst>
          </p:cNvPr>
          <p:cNvGraphicFramePr>
            <a:graphicFrameLocks noChangeAspect="1"/>
          </p:cNvGraphicFramePr>
          <p:nvPr>
            <p:extLst>
              <p:ext uri="{D42A27DB-BD31-4B8C-83A1-F6EECF244321}">
                <p14:modId xmlns:p14="http://schemas.microsoft.com/office/powerpoint/2010/main" val="3748317069"/>
              </p:ext>
            </p:extLst>
          </p:nvPr>
        </p:nvGraphicFramePr>
        <p:xfrm>
          <a:off x="1132019" y="6027867"/>
          <a:ext cx="1778000" cy="377825"/>
        </p:xfrm>
        <a:graphic>
          <a:graphicData uri="http://schemas.openxmlformats.org/presentationml/2006/ole">
            <mc:AlternateContent xmlns:mc="http://schemas.openxmlformats.org/markup-compatibility/2006">
              <mc:Choice xmlns:v="urn:schemas-microsoft-com:vml" Requires="v">
                <p:oleObj name="Equation" r:id="rId8" imgW="1066680" imgH="228600" progId="Equation.DSMT4">
                  <p:embed/>
                </p:oleObj>
              </mc:Choice>
              <mc:Fallback>
                <p:oleObj name="Equation" r:id="rId8" imgW="1066680" imgH="228600" progId="Equation.DSMT4">
                  <p:embed/>
                  <p:pic>
                    <p:nvPicPr>
                      <p:cNvPr id="22" name="Object 21">
                        <a:extLst>
                          <a:ext uri="{FF2B5EF4-FFF2-40B4-BE49-F238E27FC236}">
                            <a16:creationId xmlns:a16="http://schemas.microsoft.com/office/drawing/2014/main" id="{A1050CCC-22E8-BA79-9D4D-7F10A57E1411}"/>
                          </a:ext>
                        </a:extLst>
                      </p:cNvPr>
                      <p:cNvPicPr>
                        <a:picLocks noChangeAspect="1" noChangeArrowheads="1"/>
                      </p:cNvPicPr>
                      <p:nvPr/>
                    </p:nvPicPr>
                    <p:blipFill>
                      <a:blip r:embed="rId9"/>
                      <a:srcRect/>
                      <a:stretch>
                        <a:fillRect/>
                      </a:stretch>
                    </p:blipFill>
                    <p:spPr bwMode="auto">
                      <a:xfrm>
                        <a:off x="1132019" y="6027867"/>
                        <a:ext cx="1778000" cy="377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Content Placeholder 3">
            <a:extLst>
              <a:ext uri="{FF2B5EF4-FFF2-40B4-BE49-F238E27FC236}">
                <a16:creationId xmlns:a16="http://schemas.microsoft.com/office/drawing/2014/main" id="{D9DCE95F-BA4B-3635-BCB4-384A5D38CE1E}"/>
              </a:ext>
            </a:extLst>
          </p:cNvPr>
          <p:cNvSpPr>
            <a:spLocks noGrp="1"/>
          </p:cNvSpPr>
          <p:nvPr>
            <p:ph sz="quarter" idx="13"/>
          </p:nvPr>
        </p:nvSpPr>
        <p:spPr>
          <a:xfrm>
            <a:off x="3007397" y="6008407"/>
            <a:ext cx="4510232" cy="344128"/>
          </a:xfrm>
        </p:spPr>
        <p:txBody>
          <a:bodyPr wrap="square" lIns="0" tIns="18000" rIns="0" bIns="18000" anchor="ctr" anchorCtr="0">
            <a:spAutoFit/>
          </a:bodyPr>
          <a:lstStyle/>
          <a:p>
            <a:pPr marL="0" indent="0">
              <a:buNone/>
            </a:pPr>
            <a:r>
              <a:rPr lang="en-US" sz="2000" dirty="0"/>
              <a:t>- the condition for source transformation</a:t>
            </a:r>
          </a:p>
        </p:txBody>
      </p:sp>
    </p:spTree>
    <p:extLst>
      <p:ext uri="{BB962C8B-B14F-4D97-AF65-F5344CB8AC3E}">
        <p14:creationId xmlns:p14="http://schemas.microsoft.com/office/powerpoint/2010/main" val="3301832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6FA81-3E85-139F-566B-8AE94CAAD126}"/>
              </a:ext>
            </a:extLst>
          </p:cNvPr>
          <p:cNvSpPr>
            <a:spLocks noGrp="1"/>
          </p:cNvSpPr>
          <p:nvPr>
            <p:ph type="title"/>
          </p:nvPr>
        </p:nvSpPr>
        <p:spPr>
          <a:xfrm>
            <a:off x="431952" y="261294"/>
            <a:ext cx="8238973" cy="898126"/>
          </a:xfrm>
        </p:spPr>
        <p:txBody>
          <a:bodyPr wrap="square" tIns="18000" bIns="18000" anchor="ctr" anchorCtr="0">
            <a:spAutoFit/>
          </a:bodyPr>
          <a:lstStyle/>
          <a:p>
            <a:r>
              <a:rPr lang="en-US" sz="3200" dirty="0">
                <a:latin typeface="+mj-lt"/>
              </a:rPr>
              <a:t>Chapter 4 – techniques of circuit analysis </a:t>
            </a:r>
            <a:r>
              <a:rPr lang="en-US" sz="2400" dirty="0">
                <a:latin typeface="+mj-lt"/>
              </a:rPr>
              <a:t>(8 of 14)</a:t>
            </a:r>
            <a:endParaRPr lang="en-US" sz="3200" dirty="0"/>
          </a:p>
        </p:txBody>
      </p:sp>
      <p:sp>
        <p:nvSpPr>
          <p:cNvPr id="3" name="Content Placeholder 2">
            <a:extLst>
              <a:ext uri="{FF2B5EF4-FFF2-40B4-BE49-F238E27FC236}">
                <a16:creationId xmlns:a16="http://schemas.microsoft.com/office/drawing/2014/main" id="{D871B29D-98BC-862A-5908-972405EB49A1}"/>
              </a:ext>
            </a:extLst>
          </p:cNvPr>
          <p:cNvSpPr>
            <a:spLocks noGrp="1"/>
          </p:cNvSpPr>
          <p:nvPr>
            <p:ph sz="quarter" idx="12"/>
          </p:nvPr>
        </p:nvSpPr>
        <p:spPr>
          <a:xfrm>
            <a:off x="432682" y="1286345"/>
            <a:ext cx="5619326" cy="405683"/>
          </a:xfrm>
        </p:spPr>
        <p:txBody>
          <a:bodyPr wrap="square" lIns="0" tIns="18000" rIns="0" bIns="18000" anchor="ctr" anchorCtr="0">
            <a:spAutoFit/>
          </a:bodyPr>
          <a:lstStyle/>
          <a:p>
            <a:pPr marL="0" indent="0">
              <a:buNone/>
            </a:pPr>
            <a:r>
              <a:rPr lang="en-US" altLang="en-US" sz="2400" dirty="0"/>
              <a:t>The condition for source transformation is</a:t>
            </a:r>
            <a:endParaRPr lang="en-US" sz="2400" dirty="0"/>
          </a:p>
        </p:txBody>
      </p:sp>
      <p:graphicFrame>
        <p:nvGraphicFramePr>
          <p:cNvPr id="21" name="Object 20" descr="v subscript S BaseLine equals R i subscript S BaseLine.">
            <a:extLst>
              <a:ext uri="{FF2B5EF4-FFF2-40B4-BE49-F238E27FC236}">
                <a16:creationId xmlns:a16="http://schemas.microsoft.com/office/drawing/2014/main" id="{EDE5B0DC-B3A6-FB1A-6E94-93569922A9DB}"/>
              </a:ext>
            </a:extLst>
          </p:cNvPr>
          <p:cNvGraphicFramePr>
            <a:graphicFrameLocks noChangeAspect="1"/>
          </p:cNvGraphicFramePr>
          <p:nvPr>
            <p:extLst>
              <p:ext uri="{D42A27DB-BD31-4B8C-83A1-F6EECF244321}">
                <p14:modId xmlns:p14="http://schemas.microsoft.com/office/powerpoint/2010/main" val="1986784031"/>
              </p:ext>
            </p:extLst>
          </p:nvPr>
        </p:nvGraphicFramePr>
        <p:xfrm>
          <a:off x="6100799" y="1332429"/>
          <a:ext cx="1124249" cy="409131"/>
        </p:xfrm>
        <a:graphic>
          <a:graphicData uri="http://schemas.openxmlformats.org/presentationml/2006/ole">
            <mc:AlternateContent xmlns:mc="http://schemas.openxmlformats.org/markup-compatibility/2006">
              <mc:Choice xmlns:v="urn:schemas-microsoft-com:vml" Requires="v">
                <p:oleObj name="Equation" r:id="rId2" imgW="622080" imgH="228600" progId="Equation.DSMT4">
                  <p:embed/>
                </p:oleObj>
              </mc:Choice>
              <mc:Fallback>
                <p:oleObj name="Equation" r:id="rId2" imgW="622080" imgH="228600" progId="Equation.DSMT4">
                  <p:embed/>
                  <p:pic>
                    <p:nvPicPr>
                      <p:cNvPr id="22" name="Object 21">
                        <a:extLst>
                          <a:ext uri="{FF2B5EF4-FFF2-40B4-BE49-F238E27FC236}">
                            <a16:creationId xmlns:a16="http://schemas.microsoft.com/office/drawing/2014/main" id="{A1050CCC-22E8-BA79-9D4D-7F10A57E1411}"/>
                          </a:ext>
                        </a:extLst>
                      </p:cNvPr>
                      <p:cNvPicPr>
                        <a:picLocks noChangeAspect="1" noChangeArrowheads="1"/>
                      </p:cNvPicPr>
                      <p:nvPr/>
                    </p:nvPicPr>
                    <p:blipFill>
                      <a:blip r:embed="rId3"/>
                      <a:srcRect/>
                      <a:stretch>
                        <a:fillRect/>
                      </a:stretch>
                    </p:blipFill>
                    <p:spPr bwMode="auto">
                      <a:xfrm>
                        <a:off x="6100799" y="1332429"/>
                        <a:ext cx="1124249" cy="4091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Content Placeholder 4">
            <a:extLst>
              <a:ext uri="{FF2B5EF4-FFF2-40B4-BE49-F238E27FC236}">
                <a16:creationId xmlns:a16="http://schemas.microsoft.com/office/drawing/2014/main" id="{11DAAF8C-B4EF-7334-290C-4B947C6E8DC9}"/>
              </a:ext>
            </a:extLst>
          </p:cNvPr>
          <p:cNvSpPr>
            <a:spLocks noGrp="1"/>
          </p:cNvSpPr>
          <p:nvPr>
            <p:ph sz="quarter" idx="14"/>
          </p:nvPr>
        </p:nvSpPr>
        <p:spPr>
          <a:xfrm>
            <a:off x="430136" y="1723328"/>
            <a:ext cx="2577015" cy="405683"/>
          </a:xfrm>
        </p:spPr>
        <p:txBody>
          <a:bodyPr wrap="square" lIns="0" tIns="18000" rIns="0" bIns="18000" anchor="ctr" anchorCtr="0">
            <a:spAutoFit/>
          </a:bodyPr>
          <a:lstStyle/>
          <a:p>
            <a:pPr marL="0" indent="0">
              <a:buNone/>
            </a:pPr>
            <a:r>
              <a:rPr lang="en-US" altLang="en-US" sz="2400" dirty="0"/>
              <a:t>simply Ohm’s Law.</a:t>
            </a:r>
            <a:endParaRPr lang="en-US" sz="2400" dirty="0"/>
          </a:p>
        </p:txBody>
      </p:sp>
      <p:pic>
        <p:nvPicPr>
          <p:cNvPr id="25" name="Picture 24" descr="A circuit diagram shows a circuit to the left and to the right. The left circuit has an independent-voltage source v subscript s with positive polarity at the top end and negative at the bottom as the left wire in the circuit. The top wire contains from left to right in that order resistor R and point a. The bottom wire includes point b which corresponds to the point a in the top wire. Current i subscript L flows through the circuit. ">
            <a:extLst>
              <a:ext uri="{FF2B5EF4-FFF2-40B4-BE49-F238E27FC236}">
                <a16:creationId xmlns:a16="http://schemas.microsoft.com/office/drawing/2014/main" id="{DDCDB6C2-4B60-63AE-6AA7-3D07C76BCACC}"/>
              </a:ext>
            </a:extLst>
          </p:cNvPr>
          <p:cNvPicPr>
            <a:picLocks noChangeAspect="1"/>
          </p:cNvPicPr>
          <p:nvPr/>
        </p:nvPicPr>
        <p:blipFill>
          <a:blip r:embed="rId4"/>
          <a:stretch>
            <a:fillRect/>
          </a:stretch>
        </p:blipFill>
        <p:spPr>
          <a:xfrm>
            <a:off x="716508" y="2375859"/>
            <a:ext cx="2848417" cy="2115967"/>
          </a:xfrm>
          <a:prstGeom prst="rect">
            <a:avLst/>
          </a:prstGeom>
        </p:spPr>
      </p:pic>
      <p:pic>
        <p:nvPicPr>
          <p:cNvPr id="27" name="Picture 26" descr="A two-way arrow shows the equivalence between the left and right circuits.">
            <a:extLst>
              <a:ext uri="{FF2B5EF4-FFF2-40B4-BE49-F238E27FC236}">
                <a16:creationId xmlns:a16="http://schemas.microsoft.com/office/drawing/2014/main" id="{199BF2C1-2EFC-CE0D-A4A1-39F3D7B276BC}"/>
              </a:ext>
            </a:extLst>
          </p:cNvPr>
          <p:cNvPicPr>
            <a:picLocks noChangeAspect="1"/>
          </p:cNvPicPr>
          <p:nvPr/>
        </p:nvPicPr>
        <p:blipFill>
          <a:blip r:embed="rId5"/>
          <a:stretch>
            <a:fillRect/>
          </a:stretch>
        </p:blipFill>
        <p:spPr>
          <a:xfrm>
            <a:off x="3766159" y="3258312"/>
            <a:ext cx="518160" cy="341376"/>
          </a:xfrm>
          <a:prstGeom prst="rect">
            <a:avLst/>
          </a:prstGeom>
        </p:spPr>
      </p:pic>
      <p:pic>
        <p:nvPicPr>
          <p:cNvPr id="29" name="Picture 28" descr="The right circuit shows an independent current source i subscript s with the internal arrow pointing upwards as the left most wire in the circuit. Connected in parallel to the independent current source i subscript s is resistor R. Two nodes are marked at the points where the wire housing the resistor R connects to the top and bottom wire. These two nodes are extended to the right and have points a and b respectively on the top and bottom wire.">
            <a:extLst>
              <a:ext uri="{FF2B5EF4-FFF2-40B4-BE49-F238E27FC236}">
                <a16:creationId xmlns:a16="http://schemas.microsoft.com/office/drawing/2014/main" id="{AADE3B6E-A9AC-709B-4848-9EB171DC3141}"/>
              </a:ext>
            </a:extLst>
          </p:cNvPr>
          <p:cNvPicPr>
            <a:picLocks noChangeAspect="1"/>
          </p:cNvPicPr>
          <p:nvPr/>
        </p:nvPicPr>
        <p:blipFill>
          <a:blip r:embed="rId6"/>
          <a:stretch>
            <a:fillRect/>
          </a:stretch>
        </p:blipFill>
        <p:spPr>
          <a:xfrm>
            <a:off x="4463244" y="2616764"/>
            <a:ext cx="4120198" cy="1888425"/>
          </a:xfrm>
          <a:prstGeom prst="rect">
            <a:avLst/>
          </a:prstGeom>
        </p:spPr>
      </p:pic>
    </p:spTree>
    <p:extLst>
      <p:ext uri="{BB962C8B-B14F-4D97-AF65-F5344CB8AC3E}">
        <p14:creationId xmlns:p14="http://schemas.microsoft.com/office/powerpoint/2010/main" val="39680810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6FA81-3E85-139F-566B-8AE94CAAD126}"/>
              </a:ext>
            </a:extLst>
          </p:cNvPr>
          <p:cNvSpPr>
            <a:spLocks noGrp="1"/>
          </p:cNvSpPr>
          <p:nvPr>
            <p:ph type="title"/>
          </p:nvPr>
        </p:nvSpPr>
        <p:spPr>
          <a:xfrm>
            <a:off x="431952" y="261294"/>
            <a:ext cx="8238973" cy="898126"/>
          </a:xfrm>
        </p:spPr>
        <p:txBody>
          <a:bodyPr wrap="square" tIns="18000" bIns="18000" anchor="ctr" anchorCtr="0">
            <a:spAutoFit/>
          </a:bodyPr>
          <a:lstStyle/>
          <a:p>
            <a:r>
              <a:rPr lang="en-US" sz="3200" dirty="0">
                <a:latin typeface="+mj-lt"/>
              </a:rPr>
              <a:t>Chapter 4 – techniques of circuit analysis </a:t>
            </a:r>
            <a:r>
              <a:rPr lang="en-US" sz="2400" dirty="0">
                <a:latin typeface="+mj-lt"/>
              </a:rPr>
              <a:t>(9 of 14)</a:t>
            </a:r>
            <a:endParaRPr lang="en-US" sz="3200" dirty="0"/>
          </a:p>
        </p:txBody>
      </p:sp>
      <p:sp>
        <p:nvSpPr>
          <p:cNvPr id="3" name="Content Placeholder 2">
            <a:extLst>
              <a:ext uri="{FF2B5EF4-FFF2-40B4-BE49-F238E27FC236}">
                <a16:creationId xmlns:a16="http://schemas.microsoft.com/office/drawing/2014/main" id="{D871B29D-98BC-862A-5908-972405EB49A1}"/>
              </a:ext>
            </a:extLst>
          </p:cNvPr>
          <p:cNvSpPr>
            <a:spLocks noGrp="1"/>
          </p:cNvSpPr>
          <p:nvPr>
            <p:ph sz="quarter" idx="12"/>
          </p:nvPr>
        </p:nvSpPr>
        <p:spPr>
          <a:xfrm>
            <a:off x="432681" y="1298675"/>
            <a:ext cx="8238243" cy="1036625"/>
          </a:xfrm>
        </p:spPr>
        <p:txBody>
          <a:bodyPr wrap="square" lIns="0" tIns="18000" rIns="0" bIns="18000" anchor="ctr" anchorCtr="0">
            <a:spAutoFit/>
          </a:bodyPr>
          <a:lstStyle/>
          <a:p>
            <a:pPr marL="0" indent="0">
              <a:spcBef>
                <a:spcPts val="600"/>
              </a:spcBef>
              <a:buNone/>
            </a:pPr>
            <a:r>
              <a:rPr lang="en-US" altLang="en-US" sz="2000" dirty="0"/>
              <a:t>Source transformation</a:t>
            </a:r>
          </a:p>
          <a:p>
            <a:pPr marL="342900" indent="-342900">
              <a:spcBef>
                <a:spcPts val="600"/>
              </a:spcBef>
            </a:pPr>
            <a:r>
              <a:rPr lang="en-US" altLang="en-US" sz="2000" dirty="0"/>
              <a:t>Find </a:t>
            </a:r>
            <a:r>
              <a:rPr lang="en-US" altLang="en-US" sz="2000" i="1" dirty="0"/>
              <a:t>v</a:t>
            </a:r>
            <a:r>
              <a:rPr lang="en-US" altLang="en-US" sz="2000" dirty="0"/>
              <a:t> in the circuit below by using a sequence of source transformations.</a:t>
            </a:r>
            <a:endParaRPr lang="en-US" sz="2000" dirty="0"/>
          </a:p>
        </p:txBody>
      </p:sp>
      <p:pic>
        <p:nvPicPr>
          <p:cNvPr id="15" name="Picture 14" descr="A circuit diagram shows the leftmost wire containing a 120-volt independent-voltage source with positive polarity at the top and negative at the bottom. The leftmost wire also has a 20-ohm resistor connected above the 120-volt independent-voltage source. The second wire from the left contains a 60-volt independent-voltage source with negative polarity at the top and positive at the bottom. The second wire from the left also contains a 5-ohm resistor connected below the 60-volt independent-voltage source. The third wire from the left contains a 36 ampere independent current source with internal arrow pointing upwards. The fourth wire from left contains a 6-ohm resistor. The rightmost wire contains an 8-ohm resistor. A 1.6-ohm resistor is located in the top wire between the fourth wire from left and the rightmost wire. Six nodes are marked at the points where the second, third, and fourth wires from left connect with the top and bottom wires. Two corresponding points, one each on the top and bottom wires are marked just before the top and bottom points of the rightmost wire and-voltage v is shown across these points with positive polarity at top and negative at bottom. ">
            <a:extLst>
              <a:ext uri="{FF2B5EF4-FFF2-40B4-BE49-F238E27FC236}">
                <a16:creationId xmlns:a16="http://schemas.microsoft.com/office/drawing/2014/main" id="{824AF6A8-977E-360F-6D7D-885AA5EDA08E}"/>
              </a:ext>
            </a:extLst>
          </p:cNvPr>
          <p:cNvPicPr>
            <a:picLocks noChangeAspect="1"/>
          </p:cNvPicPr>
          <p:nvPr/>
        </p:nvPicPr>
        <p:blipFill>
          <a:blip r:embed="rId2"/>
          <a:stretch>
            <a:fillRect/>
          </a:stretch>
        </p:blipFill>
        <p:spPr>
          <a:xfrm>
            <a:off x="2684004" y="2499063"/>
            <a:ext cx="3775991" cy="1342296"/>
          </a:xfrm>
          <a:prstGeom prst="rect">
            <a:avLst/>
          </a:prstGeom>
        </p:spPr>
      </p:pic>
      <p:sp>
        <p:nvSpPr>
          <p:cNvPr id="4" name="Content Placeholder 3">
            <a:extLst>
              <a:ext uri="{FF2B5EF4-FFF2-40B4-BE49-F238E27FC236}">
                <a16:creationId xmlns:a16="http://schemas.microsoft.com/office/drawing/2014/main" id="{6697633C-EE69-AE23-1B96-CD35D5DC0965}"/>
              </a:ext>
            </a:extLst>
          </p:cNvPr>
          <p:cNvSpPr>
            <a:spLocks noGrp="1"/>
          </p:cNvSpPr>
          <p:nvPr>
            <p:ph sz="quarter" idx="13"/>
          </p:nvPr>
        </p:nvSpPr>
        <p:spPr>
          <a:xfrm>
            <a:off x="432489" y="3956598"/>
            <a:ext cx="8238436" cy="959681"/>
          </a:xfrm>
        </p:spPr>
        <p:txBody>
          <a:bodyPr wrap="square" lIns="0" tIns="18000" rIns="0" bIns="18000" anchor="ctr" anchorCtr="0">
            <a:spAutoFit/>
          </a:bodyPr>
          <a:lstStyle/>
          <a:p>
            <a:pPr marL="0" indent="0">
              <a:buNone/>
            </a:pPr>
            <a:r>
              <a:rPr lang="en-US" sz="2000" dirty="0"/>
              <a:t>First step – source transform the two left-most branches in the circuit from series voltage source and resistor to parallel current source and resistor:</a:t>
            </a:r>
          </a:p>
        </p:txBody>
      </p:sp>
      <p:pic>
        <p:nvPicPr>
          <p:cNvPr id="17" name="Picture 16" descr="A circuit diagram shows a 6 ampere independent current source as the leftmost wire in the circuit with the internal arrow pointing upwards and the calculation of 120 divided by 20 equaling 6 amperes is also shown. The second wire from left contains a 20-ohm resistor. The third wire from left contains a 12 ampere independent current source with the internal arrow pointing downwards and the calculation of 60 divided by 5 equaling 12 amperes is also shown. The fourth wire from left contains a 5-ohm resistance. The fifth wire from left contains a 36 ampere independent current source with the internal arrow pointing upwards. The sixth wire from left contains a 6-ohm resistor. The rightmost wire contains an 8-ohm resistor. A 1.6-ohm resistor is located in the top wire between the sixth wire from left and the rightmost wire. Ten nodes are marked at the points where the second, third, fourth, fifth, and sixth wires from left connect with the top and bottom wires. Two corresponding points, one each on the top and bottom wires are marked just before the top and bottom points of the rightmost wire and-voltage v is shown across these points with positive polarity at top and negative at bottom. ">
            <a:extLst>
              <a:ext uri="{FF2B5EF4-FFF2-40B4-BE49-F238E27FC236}">
                <a16:creationId xmlns:a16="http://schemas.microsoft.com/office/drawing/2014/main" id="{4FC8B132-536B-F249-CE34-7AA00E2091B0}"/>
              </a:ext>
            </a:extLst>
          </p:cNvPr>
          <p:cNvPicPr>
            <a:picLocks noChangeAspect="1"/>
          </p:cNvPicPr>
          <p:nvPr/>
        </p:nvPicPr>
        <p:blipFill>
          <a:blip r:embed="rId3"/>
          <a:stretch>
            <a:fillRect/>
          </a:stretch>
        </p:blipFill>
        <p:spPr>
          <a:xfrm>
            <a:off x="1660866" y="5026961"/>
            <a:ext cx="5822268" cy="1393326"/>
          </a:xfrm>
          <a:prstGeom prst="rect">
            <a:avLst/>
          </a:prstGeom>
        </p:spPr>
      </p:pic>
    </p:spTree>
    <p:extLst>
      <p:ext uri="{BB962C8B-B14F-4D97-AF65-F5344CB8AC3E}">
        <p14:creationId xmlns:p14="http://schemas.microsoft.com/office/powerpoint/2010/main" val="4230724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3A52F-11C9-CE1E-AC1E-7AD996CE5C5B}"/>
              </a:ext>
            </a:extLst>
          </p:cNvPr>
          <p:cNvSpPr>
            <a:spLocks noGrp="1"/>
          </p:cNvSpPr>
          <p:nvPr>
            <p:ph type="title"/>
          </p:nvPr>
        </p:nvSpPr>
        <p:spPr>
          <a:xfrm>
            <a:off x="431322" y="264314"/>
            <a:ext cx="8239603" cy="898126"/>
          </a:xfrm>
        </p:spPr>
        <p:txBody>
          <a:bodyPr wrap="square" lIns="0" tIns="18000" rIns="0" bIns="18000" anchor="ctr" anchorCtr="0">
            <a:spAutoFit/>
          </a:bodyPr>
          <a:lstStyle/>
          <a:p>
            <a:r>
              <a:rPr lang="en-US" sz="3200" dirty="0">
                <a:latin typeface="+mj-lt"/>
              </a:rPr>
              <a:t>Chapter 4 – techniques of circuit analysis </a:t>
            </a:r>
            <a:r>
              <a:rPr lang="en-US" sz="2400" dirty="0">
                <a:latin typeface="+mj-lt"/>
              </a:rPr>
              <a:t>(10 of 14)</a:t>
            </a:r>
            <a:endParaRPr lang="en-US" sz="3200" dirty="0"/>
          </a:p>
        </p:txBody>
      </p:sp>
      <p:sp>
        <p:nvSpPr>
          <p:cNvPr id="3" name="Content Placeholder 2">
            <a:extLst>
              <a:ext uri="{FF2B5EF4-FFF2-40B4-BE49-F238E27FC236}">
                <a16:creationId xmlns:a16="http://schemas.microsoft.com/office/drawing/2014/main" id="{A9DBE7EF-F62A-58B5-FCF3-626EBD026A5A}"/>
              </a:ext>
            </a:extLst>
          </p:cNvPr>
          <p:cNvSpPr>
            <a:spLocks noGrp="1"/>
          </p:cNvSpPr>
          <p:nvPr>
            <p:ph sz="quarter" idx="12"/>
          </p:nvPr>
        </p:nvSpPr>
        <p:spPr>
          <a:xfrm>
            <a:off x="431323" y="1298268"/>
            <a:ext cx="8239602" cy="959681"/>
          </a:xfrm>
        </p:spPr>
        <p:txBody>
          <a:bodyPr wrap="square" lIns="0" tIns="18000" rIns="0" bIns="18000" anchor="ctr" anchorCtr="0">
            <a:spAutoFit/>
          </a:bodyPr>
          <a:lstStyle/>
          <a:p>
            <a:pPr marL="0" indent="0">
              <a:buNone/>
            </a:pPr>
            <a:r>
              <a:rPr lang="en-US" altLang="en-US" sz="2000" dirty="0"/>
              <a:t>Second step – combine the three parallel-connected current sources into one current source, using </a:t>
            </a:r>
            <a:r>
              <a:rPr lang="en-US" altLang="en-US" sz="2000" spc="-300" dirty="0"/>
              <a:t>K C </a:t>
            </a:r>
            <a:r>
              <a:rPr lang="en-US" altLang="en-US" sz="2000" dirty="0"/>
              <a:t>L, and the three parallel-connected resistors into one resistor:</a:t>
            </a:r>
            <a:endParaRPr lang="en-US" sz="2000" dirty="0"/>
          </a:p>
        </p:txBody>
      </p:sp>
      <p:pic>
        <p:nvPicPr>
          <p:cNvPr id="22" name="Picture 21" descr="A circuit diagram shows a 30 ampere independent current source with the arrow pointing upwards as the leftmost wire of the circuit along with the calculation of 6 minus 12 plus 36 equaling 30 amperes. The second wire from the left contains a 2.4-ohm resistor along with the calculation that this resistor is the equivalent of three resistors of 20-ohm, 5-ohm, and 6-ohm connected in parallel. The rightmost wire contains an 8-ohm resistor. A 1.6-ohm resistor is located in the top wire between the second wire from left and the rightmost wire. Two nodes are marked where the second wire from left connects to the top and bottom wires. Two corresponding points, one each on the top and bottom wires are marked just before the top and bottom points of the rightmost wire and-voltage v is shown across these points with positive polarity at top and negative at bottom. ">
            <a:extLst>
              <a:ext uri="{FF2B5EF4-FFF2-40B4-BE49-F238E27FC236}">
                <a16:creationId xmlns:a16="http://schemas.microsoft.com/office/drawing/2014/main" id="{D83C1AC4-C5DE-D78F-F5B9-4202745793ED}"/>
              </a:ext>
            </a:extLst>
          </p:cNvPr>
          <p:cNvPicPr>
            <a:picLocks noChangeAspect="1"/>
          </p:cNvPicPr>
          <p:nvPr/>
        </p:nvPicPr>
        <p:blipFill>
          <a:blip r:embed="rId2"/>
          <a:stretch>
            <a:fillRect/>
          </a:stretch>
        </p:blipFill>
        <p:spPr>
          <a:xfrm>
            <a:off x="3133556" y="2400448"/>
            <a:ext cx="2876890" cy="966014"/>
          </a:xfrm>
          <a:prstGeom prst="rect">
            <a:avLst/>
          </a:prstGeom>
        </p:spPr>
      </p:pic>
      <p:sp>
        <p:nvSpPr>
          <p:cNvPr id="4" name="Content Placeholder 3">
            <a:extLst>
              <a:ext uri="{FF2B5EF4-FFF2-40B4-BE49-F238E27FC236}">
                <a16:creationId xmlns:a16="http://schemas.microsoft.com/office/drawing/2014/main" id="{7CC6EFDF-AB14-D92D-A75B-1D18DE3251B1}"/>
              </a:ext>
            </a:extLst>
          </p:cNvPr>
          <p:cNvSpPr>
            <a:spLocks noGrp="1"/>
          </p:cNvSpPr>
          <p:nvPr>
            <p:ph sz="quarter" idx="13"/>
          </p:nvPr>
        </p:nvSpPr>
        <p:spPr>
          <a:xfrm>
            <a:off x="431322" y="3517813"/>
            <a:ext cx="8239602" cy="651905"/>
          </a:xfrm>
        </p:spPr>
        <p:txBody>
          <a:bodyPr wrap="square" lIns="0" tIns="18000" rIns="0" bIns="18000" anchor="ctr" anchorCtr="0">
            <a:spAutoFit/>
          </a:bodyPr>
          <a:lstStyle/>
          <a:p>
            <a:pPr marL="0" indent="0">
              <a:buNone/>
            </a:pPr>
            <a:r>
              <a:rPr lang="en-US" sz="2000" dirty="0"/>
              <a:t>Third step – source transform the parallel current source and resistor to a series voltage source and resistor:</a:t>
            </a:r>
          </a:p>
        </p:txBody>
      </p:sp>
      <p:pic>
        <p:nvPicPr>
          <p:cNvPr id="24" name="Picture 23" descr="A circuit diagram shows a 72-volt independent-voltage source with positive polarity at the top end and negative at the bottom as the left wire of the circuit along with the calculation of 30 multiplied by 2.4 equaling 72-volts. The top wire of the circuit contains a 2.4-ohm resistor in series with a 1.6-ohm resistor. The right wire contains an 8-ohm resistor. Two corresponding points, one each on the top and bottom wires are marked just before the top and bottom points of the right wire and-voltage v is shown across these points with positive polarity at top and negative at bottom.">
            <a:extLst>
              <a:ext uri="{FF2B5EF4-FFF2-40B4-BE49-F238E27FC236}">
                <a16:creationId xmlns:a16="http://schemas.microsoft.com/office/drawing/2014/main" id="{23E3EC47-7C17-5898-4B9A-4E42B0228F8F}"/>
              </a:ext>
            </a:extLst>
          </p:cNvPr>
          <p:cNvPicPr>
            <a:picLocks noChangeAspect="1"/>
          </p:cNvPicPr>
          <p:nvPr/>
        </p:nvPicPr>
        <p:blipFill>
          <a:blip r:embed="rId3"/>
          <a:stretch>
            <a:fillRect/>
          </a:stretch>
        </p:blipFill>
        <p:spPr>
          <a:xfrm>
            <a:off x="959302" y="5018660"/>
            <a:ext cx="2980959" cy="1180408"/>
          </a:xfrm>
          <a:prstGeom prst="rect">
            <a:avLst/>
          </a:prstGeom>
        </p:spPr>
      </p:pic>
      <p:sp>
        <p:nvSpPr>
          <p:cNvPr id="5" name="Content Placeholder 4">
            <a:extLst>
              <a:ext uri="{FF2B5EF4-FFF2-40B4-BE49-F238E27FC236}">
                <a16:creationId xmlns:a16="http://schemas.microsoft.com/office/drawing/2014/main" id="{A40E3694-435A-0926-9E8D-5FE33A291667}"/>
              </a:ext>
            </a:extLst>
          </p:cNvPr>
          <p:cNvSpPr>
            <a:spLocks noGrp="1"/>
          </p:cNvSpPr>
          <p:nvPr>
            <p:ph sz="quarter" idx="14"/>
          </p:nvPr>
        </p:nvSpPr>
        <p:spPr>
          <a:xfrm>
            <a:off x="4580626" y="4237959"/>
            <a:ext cx="4090298" cy="651905"/>
          </a:xfrm>
        </p:spPr>
        <p:txBody>
          <a:bodyPr wrap="square" lIns="0" tIns="18000" rIns="0" bIns="18000" anchor="ctr" anchorCtr="0">
            <a:spAutoFit/>
          </a:bodyPr>
          <a:lstStyle/>
          <a:p>
            <a:pPr marL="0" indent="0">
              <a:buNone/>
            </a:pPr>
            <a:r>
              <a:rPr lang="en-US" sz="2000" dirty="0"/>
              <a:t>Fourth step – use voltage division to find </a:t>
            </a:r>
            <a:r>
              <a:rPr lang="en-US" sz="2000" i="1" dirty="0"/>
              <a:t>v</a:t>
            </a:r>
            <a:r>
              <a:rPr lang="en-US" sz="2000" dirty="0"/>
              <a:t>:</a:t>
            </a:r>
          </a:p>
        </p:txBody>
      </p:sp>
      <p:graphicFrame>
        <p:nvGraphicFramePr>
          <p:cNvPr id="25" name="Object 24" descr="v equals StartFraction 8 over 2.4 plus 1.6 plus 8 EndFraction multiplied by OpenParenthesis 72 CloseParenthesis equals 48 Volts.">
            <a:extLst>
              <a:ext uri="{FF2B5EF4-FFF2-40B4-BE49-F238E27FC236}">
                <a16:creationId xmlns:a16="http://schemas.microsoft.com/office/drawing/2014/main" id="{3B60DF84-2996-9E7B-8B5D-E01756DBA006}"/>
              </a:ext>
            </a:extLst>
          </p:cNvPr>
          <p:cNvGraphicFramePr>
            <a:graphicFrameLocks noChangeAspect="1"/>
          </p:cNvGraphicFramePr>
          <p:nvPr>
            <p:extLst>
              <p:ext uri="{D42A27DB-BD31-4B8C-83A1-F6EECF244321}">
                <p14:modId xmlns:p14="http://schemas.microsoft.com/office/powerpoint/2010/main" val="2780419930"/>
              </p:ext>
            </p:extLst>
          </p:nvPr>
        </p:nvGraphicFramePr>
        <p:xfrm>
          <a:off x="5203741" y="5179563"/>
          <a:ext cx="3194332" cy="665691"/>
        </p:xfrm>
        <a:graphic>
          <a:graphicData uri="http://schemas.openxmlformats.org/presentationml/2006/ole">
            <mc:AlternateContent xmlns:mc="http://schemas.openxmlformats.org/markup-compatibility/2006">
              <mc:Choice xmlns:v="urn:schemas-microsoft-com:vml" Requires="v">
                <p:oleObj name="Equation" r:id="rId4" imgW="1993680" imgH="419040" progId="Equation.DSMT4">
                  <p:embed/>
                </p:oleObj>
              </mc:Choice>
              <mc:Fallback>
                <p:oleObj name="Equation" r:id="rId4" imgW="1993680" imgH="419040" progId="Equation.DSMT4">
                  <p:embed/>
                  <p:pic>
                    <p:nvPicPr>
                      <p:cNvPr id="22" name="Object 21">
                        <a:extLst>
                          <a:ext uri="{FF2B5EF4-FFF2-40B4-BE49-F238E27FC236}">
                            <a16:creationId xmlns:a16="http://schemas.microsoft.com/office/drawing/2014/main" id="{A1050CCC-22E8-BA79-9D4D-7F10A57E1411}"/>
                          </a:ext>
                        </a:extLst>
                      </p:cNvPr>
                      <p:cNvPicPr>
                        <a:picLocks noChangeAspect="1" noChangeArrowheads="1"/>
                      </p:cNvPicPr>
                      <p:nvPr/>
                    </p:nvPicPr>
                    <p:blipFill>
                      <a:blip r:embed="rId5"/>
                      <a:srcRect/>
                      <a:stretch>
                        <a:fillRect/>
                      </a:stretch>
                    </p:blipFill>
                    <p:spPr bwMode="auto">
                      <a:xfrm>
                        <a:off x="5203741" y="5179563"/>
                        <a:ext cx="3194332" cy="6656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79255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01869-050F-9A89-D076-3C00BF81FD8E}"/>
              </a:ext>
            </a:extLst>
          </p:cNvPr>
          <p:cNvSpPr>
            <a:spLocks noGrp="1"/>
          </p:cNvSpPr>
          <p:nvPr>
            <p:ph type="title"/>
          </p:nvPr>
        </p:nvSpPr>
        <p:spPr>
          <a:xfrm>
            <a:off x="431321" y="264315"/>
            <a:ext cx="8239603" cy="898126"/>
          </a:xfrm>
        </p:spPr>
        <p:txBody>
          <a:bodyPr wrap="square" tIns="18000" bIns="18000" anchor="ctr" anchorCtr="0">
            <a:spAutoFit/>
          </a:bodyPr>
          <a:lstStyle/>
          <a:p>
            <a:r>
              <a:rPr lang="en-US" sz="3200" dirty="0">
                <a:latin typeface="+mj-lt"/>
              </a:rPr>
              <a:t>Chapter 4 – techniques of circuit analysis </a:t>
            </a:r>
            <a:r>
              <a:rPr lang="en-US" sz="2400" dirty="0">
                <a:latin typeface="+mj-lt"/>
              </a:rPr>
              <a:t>(12 of 14)</a:t>
            </a:r>
            <a:endParaRPr lang="en-US" sz="3200" dirty="0"/>
          </a:p>
        </p:txBody>
      </p:sp>
      <p:sp>
        <p:nvSpPr>
          <p:cNvPr id="3" name="Content Placeholder 2">
            <a:extLst>
              <a:ext uri="{FF2B5EF4-FFF2-40B4-BE49-F238E27FC236}">
                <a16:creationId xmlns:a16="http://schemas.microsoft.com/office/drawing/2014/main" id="{BC95CD89-2F76-645C-D29C-79DFC3C0A3B6}"/>
              </a:ext>
            </a:extLst>
          </p:cNvPr>
          <p:cNvSpPr>
            <a:spLocks noGrp="1"/>
          </p:cNvSpPr>
          <p:nvPr>
            <p:ph sz="quarter" idx="12"/>
          </p:nvPr>
        </p:nvSpPr>
        <p:spPr>
          <a:xfrm>
            <a:off x="432489" y="1304120"/>
            <a:ext cx="2517745" cy="344128"/>
          </a:xfrm>
        </p:spPr>
        <p:txBody>
          <a:bodyPr wrap="square" lIns="0" tIns="18000" rIns="0" bIns="18000" anchor="ctr" anchorCtr="0">
            <a:spAutoFit/>
          </a:bodyPr>
          <a:lstStyle/>
          <a:p>
            <a:pPr marL="0" indent="0">
              <a:buNone/>
            </a:pPr>
            <a:r>
              <a:rPr lang="en-US" altLang="en-US" sz="2000" dirty="0"/>
              <a:t>Source transformation</a:t>
            </a:r>
          </a:p>
        </p:txBody>
      </p:sp>
      <p:sp>
        <p:nvSpPr>
          <p:cNvPr id="4" name="Content Placeholder 3">
            <a:extLst>
              <a:ext uri="{FF2B5EF4-FFF2-40B4-BE49-F238E27FC236}">
                <a16:creationId xmlns:a16="http://schemas.microsoft.com/office/drawing/2014/main" id="{9E681743-8A19-8500-B0EF-4398E316C8A6}"/>
              </a:ext>
            </a:extLst>
          </p:cNvPr>
          <p:cNvSpPr>
            <a:spLocks noGrp="1"/>
          </p:cNvSpPr>
          <p:nvPr>
            <p:ph sz="quarter" idx="13"/>
          </p:nvPr>
        </p:nvSpPr>
        <p:spPr>
          <a:xfrm>
            <a:off x="431196" y="1696259"/>
            <a:ext cx="845643" cy="344128"/>
          </a:xfrm>
        </p:spPr>
        <p:txBody>
          <a:bodyPr wrap="square" lIns="0" tIns="18000" rIns="0" bIns="18000" anchor="ctr" anchorCtr="0">
            <a:spAutoFit/>
          </a:bodyPr>
          <a:lstStyle/>
          <a:p>
            <a:pPr marL="342900" indent="-342900"/>
            <a:r>
              <a:rPr lang="en-US" altLang="en-US" sz="2000" dirty="0"/>
              <a:t>Find</a:t>
            </a:r>
            <a:endParaRPr lang="en-US" sz="2000" dirty="0"/>
          </a:p>
        </p:txBody>
      </p:sp>
      <p:graphicFrame>
        <p:nvGraphicFramePr>
          <p:cNvPr id="26" name="Object 25" descr="v subscript o.">
            <a:extLst>
              <a:ext uri="{FF2B5EF4-FFF2-40B4-BE49-F238E27FC236}">
                <a16:creationId xmlns:a16="http://schemas.microsoft.com/office/drawing/2014/main" id="{B8D82CC9-BF11-0BA2-EB76-6FA5DC74433B}"/>
              </a:ext>
            </a:extLst>
          </p:cNvPr>
          <p:cNvGraphicFramePr>
            <a:graphicFrameLocks noChangeAspect="1"/>
          </p:cNvGraphicFramePr>
          <p:nvPr>
            <p:extLst>
              <p:ext uri="{D42A27DB-BD31-4B8C-83A1-F6EECF244321}">
                <p14:modId xmlns:p14="http://schemas.microsoft.com/office/powerpoint/2010/main" val="3691200507"/>
              </p:ext>
            </p:extLst>
          </p:nvPr>
        </p:nvGraphicFramePr>
        <p:xfrm>
          <a:off x="1309972" y="1720260"/>
          <a:ext cx="284162" cy="361950"/>
        </p:xfrm>
        <a:graphic>
          <a:graphicData uri="http://schemas.openxmlformats.org/presentationml/2006/ole">
            <mc:AlternateContent xmlns:mc="http://schemas.openxmlformats.org/markup-compatibility/2006">
              <mc:Choice xmlns:v="urn:schemas-microsoft-com:vml" Requires="v">
                <p:oleObj name="Equation" r:id="rId2" imgW="177480" imgH="228600" progId="Equation.DSMT4">
                  <p:embed/>
                </p:oleObj>
              </mc:Choice>
              <mc:Fallback>
                <p:oleObj name="Equation" r:id="rId2" imgW="177480" imgH="228600" progId="Equation.DSMT4">
                  <p:embed/>
                  <p:pic>
                    <p:nvPicPr>
                      <p:cNvPr id="25" name="Object 24">
                        <a:extLst>
                          <a:ext uri="{FF2B5EF4-FFF2-40B4-BE49-F238E27FC236}">
                            <a16:creationId xmlns:a16="http://schemas.microsoft.com/office/drawing/2014/main" id="{3B60DF84-2996-9E7B-8B5D-E01756DBA006}"/>
                          </a:ext>
                        </a:extLst>
                      </p:cNvPr>
                      <p:cNvPicPr>
                        <a:picLocks noChangeAspect="1" noChangeArrowheads="1"/>
                      </p:cNvPicPr>
                      <p:nvPr/>
                    </p:nvPicPr>
                    <p:blipFill>
                      <a:blip r:embed="rId3"/>
                      <a:srcRect/>
                      <a:stretch>
                        <a:fillRect/>
                      </a:stretch>
                    </p:blipFill>
                    <p:spPr bwMode="auto">
                      <a:xfrm>
                        <a:off x="1309972" y="1720260"/>
                        <a:ext cx="284162"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Content Placeholder 4">
            <a:extLst>
              <a:ext uri="{FF2B5EF4-FFF2-40B4-BE49-F238E27FC236}">
                <a16:creationId xmlns:a16="http://schemas.microsoft.com/office/drawing/2014/main" id="{6571C8A7-F386-DA05-0F6C-E48116F49246}"/>
              </a:ext>
            </a:extLst>
          </p:cNvPr>
          <p:cNvSpPr>
            <a:spLocks noGrp="1"/>
          </p:cNvSpPr>
          <p:nvPr>
            <p:ph sz="quarter" idx="14"/>
          </p:nvPr>
        </p:nvSpPr>
        <p:spPr>
          <a:xfrm>
            <a:off x="1627268" y="1691244"/>
            <a:ext cx="7043656" cy="344128"/>
          </a:xfrm>
        </p:spPr>
        <p:txBody>
          <a:bodyPr wrap="square" lIns="0" tIns="18000" rIns="0" bIns="18000" anchor="ctr" anchorCtr="0">
            <a:spAutoFit/>
          </a:bodyPr>
          <a:lstStyle/>
          <a:p>
            <a:pPr marL="0" indent="0">
              <a:buNone/>
            </a:pPr>
            <a:r>
              <a:rPr lang="en-US" altLang="en-US" sz="2000" dirty="0"/>
              <a:t>and the source power in the circuit below by using a sequence</a:t>
            </a:r>
            <a:endParaRPr lang="en-US" sz="2000" dirty="0"/>
          </a:p>
        </p:txBody>
      </p:sp>
      <p:sp>
        <p:nvSpPr>
          <p:cNvPr id="6" name="Content Placeholder 5">
            <a:extLst>
              <a:ext uri="{FF2B5EF4-FFF2-40B4-BE49-F238E27FC236}">
                <a16:creationId xmlns:a16="http://schemas.microsoft.com/office/drawing/2014/main" id="{2001D541-7FC6-4967-E1C0-468354B3B804}"/>
              </a:ext>
            </a:extLst>
          </p:cNvPr>
          <p:cNvSpPr>
            <a:spLocks noGrp="1"/>
          </p:cNvSpPr>
          <p:nvPr>
            <p:ph sz="quarter" idx="15"/>
          </p:nvPr>
        </p:nvSpPr>
        <p:spPr>
          <a:xfrm>
            <a:off x="773224" y="2108088"/>
            <a:ext cx="2956598" cy="344128"/>
          </a:xfrm>
        </p:spPr>
        <p:txBody>
          <a:bodyPr lIns="0" tIns="18000" rIns="0" bIns="18000" anchor="ctr" anchorCtr="0">
            <a:spAutoFit/>
          </a:bodyPr>
          <a:lstStyle/>
          <a:p>
            <a:pPr marL="0" indent="0">
              <a:buNone/>
            </a:pPr>
            <a:r>
              <a:rPr lang="en-US" altLang="en-US" sz="2000" dirty="0"/>
              <a:t>of source transformations.</a:t>
            </a:r>
            <a:endParaRPr lang="en-US" sz="2000" dirty="0"/>
          </a:p>
        </p:txBody>
      </p:sp>
      <p:pic>
        <p:nvPicPr>
          <p:cNvPr id="23" name="Picture 22" descr="A circuit diagram shows a 250-volt independent-voltage source with positive polarity at top and negative at bottom as the leftmost wire in the circuit. The second wire from left contains a 125-ohm resistor. The third wire from left contains an 8 ampere independent current source with internal arrow pointing downwards. The third wire from left also contains a 10-ohm resistor connected in series below the 8 ampere independent current source. The fourth wire from left contains a 100-ohm resistor. The rightmost wire contains 15-ohm resistor. A 25-ohm resistor is located in the top wire between the second and third wires from left. A 5-ohm resistor is located in the top wire between the fourth wire from left and the rightmost wire. Six nodes are marked at the points where the top and bottom wires connect separately to the second, third, and fourth wire from left. Voltage v subscript o develops across the 100-ohm resistor on the fourth wire from left with positive polarity at the top node and negative at bottom. ">
            <a:extLst>
              <a:ext uri="{FF2B5EF4-FFF2-40B4-BE49-F238E27FC236}">
                <a16:creationId xmlns:a16="http://schemas.microsoft.com/office/drawing/2014/main" id="{095C8917-6FEB-98FC-5C87-3B89DC111EBA}"/>
              </a:ext>
            </a:extLst>
          </p:cNvPr>
          <p:cNvPicPr>
            <a:picLocks noChangeAspect="1"/>
          </p:cNvPicPr>
          <p:nvPr/>
        </p:nvPicPr>
        <p:blipFill>
          <a:blip r:embed="rId4"/>
          <a:srcRect/>
          <a:stretch/>
        </p:blipFill>
        <p:spPr>
          <a:xfrm>
            <a:off x="2893856" y="2558902"/>
            <a:ext cx="3356288" cy="1136349"/>
          </a:xfrm>
          <a:prstGeom prst="rect">
            <a:avLst/>
          </a:prstGeom>
        </p:spPr>
      </p:pic>
      <p:sp>
        <p:nvSpPr>
          <p:cNvPr id="7" name="Content Placeholder 6">
            <a:extLst>
              <a:ext uri="{FF2B5EF4-FFF2-40B4-BE49-F238E27FC236}">
                <a16:creationId xmlns:a16="http://schemas.microsoft.com/office/drawing/2014/main" id="{86514608-DEA9-B2F2-4A07-A37C3C869786}"/>
              </a:ext>
            </a:extLst>
          </p:cNvPr>
          <p:cNvSpPr>
            <a:spLocks noGrp="1"/>
          </p:cNvSpPr>
          <p:nvPr>
            <p:ph sz="quarter" idx="16"/>
          </p:nvPr>
        </p:nvSpPr>
        <p:spPr>
          <a:xfrm>
            <a:off x="431322" y="3791327"/>
            <a:ext cx="8239602" cy="1267458"/>
          </a:xfrm>
        </p:spPr>
        <p:txBody>
          <a:bodyPr wrap="square" lIns="0" tIns="18000" rIns="0" bIns="18000" anchor="ctr" anchorCtr="0">
            <a:spAutoFit/>
          </a:bodyPr>
          <a:lstStyle/>
          <a:p>
            <a:pPr marL="0" indent="0">
              <a:buNone/>
            </a:pPr>
            <a:r>
              <a:rPr lang="en-US" sz="2000" dirty="0"/>
              <a:t>First step – remove the resistor in parallel with the 250 V source, since it does not change the voltage drop between the top and bottom nodes on the left. Remove the resistor in series with the 8 A current source, since it does not change the current in that branch:</a:t>
            </a:r>
          </a:p>
        </p:txBody>
      </p:sp>
      <p:pic>
        <p:nvPicPr>
          <p:cNvPr id="25" name="Picture 24" descr="A circuit diagram shows a 250-volt independent-voltage source with positive polarity at top and negative at bottom as the leftmost wire in the circuit. The second wire from left contains an 8 ampere independent current source with internal arrow pointing downwards. The third wire from left contains a 100-ohm resistor. The rightmost wire contains 15-ohm resistor. A 25-ohm resistor is located in the top wire between the leftmost wire and second wire from left. A 5-ohm resistor is located in the top wire between the third wire from left and the rightmost wire. Four nodes are marked at the points where the top and bottom wires connect separately to the second and third wires from left. Voltage v subscript o develops across the 100-ohm resistor on the third wire from left with positive polarity at the top node and negative at bottom. ">
            <a:extLst>
              <a:ext uri="{FF2B5EF4-FFF2-40B4-BE49-F238E27FC236}">
                <a16:creationId xmlns:a16="http://schemas.microsoft.com/office/drawing/2014/main" id="{CC280B93-D659-3B6D-EB52-11246E8AC48D}"/>
              </a:ext>
            </a:extLst>
          </p:cNvPr>
          <p:cNvPicPr>
            <a:picLocks noChangeAspect="1"/>
          </p:cNvPicPr>
          <p:nvPr/>
        </p:nvPicPr>
        <p:blipFill>
          <a:blip r:embed="rId5"/>
          <a:stretch>
            <a:fillRect/>
          </a:stretch>
        </p:blipFill>
        <p:spPr>
          <a:xfrm>
            <a:off x="2822417" y="5185186"/>
            <a:ext cx="3509165" cy="1200388"/>
          </a:xfrm>
          <a:prstGeom prst="rect">
            <a:avLst/>
          </a:prstGeom>
        </p:spPr>
      </p:pic>
    </p:spTree>
    <p:extLst>
      <p:ext uri="{BB962C8B-B14F-4D97-AF65-F5344CB8AC3E}">
        <p14:creationId xmlns:p14="http://schemas.microsoft.com/office/powerpoint/2010/main" val="15978212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3E103-6B34-4EFB-6634-87BC3A1CA4ED}"/>
              </a:ext>
            </a:extLst>
          </p:cNvPr>
          <p:cNvSpPr>
            <a:spLocks noGrp="1"/>
          </p:cNvSpPr>
          <p:nvPr>
            <p:ph type="title"/>
          </p:nvPr>
        </p:nvSpPr>
        <p:spPr>
          <a:xfrm>
            <a:off x="431322" y="264316"/>
            <a:ext cx="8239603" cy="898126"/>
          </a:xfrm>
        </p:spPr>
        <p:txBody>
          <a:bodyPr wrap="square" tIns="18000" bIns="18000" anchor="ctr" anchorCtr="0">
            <a:spAutoFit/>
          </a:bodyPr>
          <a:lstStyle/>
          <a:p>
            <a:r>
              <a:rPr lang="en-US" sz="3200" dirty="0">
                <a:latin typeface="+mj-lt"/>
              </a:rPr>
              <a:t>Chapter 4 – techniques of circuit analysis </a:t>
            </a:r>
            <a:r>
              <a:rPr lang="en-US" sz="2400" dirty="0">
                <a:latin typeface="+mj-lt"/>
              </a:rPr>
              <a:t>(13 of 14)</a:t>
            </a:r>
            <a:endParaRPr lang="en-US" sz="3200" dirty="0"/>
          </a:p>
        </p:txBody>
      </p:sp>
      <p:sp>
        <p:nvSpPr>
          <p:cNvPr id="3" name="Content Placeholder 2">
            <a:extLst>
              <a:ext uri="{FF2B5EF4-FFF2-40B4-BE49-F238E27FC236}">
                <a16:creationId xmlns:a16="http://schemas.microsoft.com/office/drawing/2014/main" id="{1BC7D08E-2999-8F78-355B-7FA29D0E3521}"/>
              </a:ext>
            </a:extLst>
          </p:cNvPr>
          <p:cNvSpPr>
            <a:spLocks noGrp="1"/>
          </p:cNvSpPr>
          <p:nvPr>
            <p:ph sz="quarter" idx="12"/>
          </p:nvPr>
        </p:nvSpPr>
        <p:spPr>
          <a:xfrm>
            <a:off x="431322" y="1298264"/>
            <a:ext cx="8239603" cy="959681"/>
          </a:xfrm>
        </p:spPr>
        <p:txBody>
          <a:bodyPr wrap="square" lIns="0" tIns="18000" rIns="0" bIns="18000" anchor="ctr" anchorCtr="0">
            <a:spAutoFit/>
          </a:bodyPr>
          <a:lstStyle/>
          <a:p>
            <a:pPr marL="0" indent="0">
              <a:buNone/>
            </a:pPr>
            <a:r>
              <a:rPr lang="en-US" altLang="en-US" sz="2000" dirty="0"/>
              <a:t>Second step – source transform the series-connected voltage source and resistor on the left, and combine the two series-connected resistors on the right into one equivalent resistor:</a:t>
            </a:r>
            <a:endParaRPr lang="en-US" sz="2000" dirty="0"/>
          </a:p>
        </p:txBody>
      </p:sp>
      <p:sp>
        <p:nvSpPr>
          <p:cNvPr id="4" name="Content Placeholder 3">
            <a:extLst>
              <a:ext uri="{FF2B5EF4-FFF2-40B4-BE49-F238E27FC236}">
                <a16:creationId xmlns:a16="http://schemas.microsoft.com/office/drawing/2014/main" id="{B1EB3DE3-CA17-3CE9-4C82-98481B38412D}"/>
              </a:ext>
            </a:extLst>
          </p:cNvPr>
          <p:cNvSpPr>
            <a:spLocks noGrp="1"/>
          </p:cNvSpPr>
          <p:nvPr>
            <p:ph sz="quarter" idx="13"/>
          </p:nvPr>
        </p:nvSpPr>
        <p:spPr>
          <a:xfrm>
            <a:off x="431322" y="2777095"/>
            <a:ext cx="8239603" cy="651905"/>
          </a:xfrm>
        </p:spPr>
        <p:txBody>
          <a:bodyPr wrap="square" lIns="0" tIns="18000" rIns="0" bIns="18000" anchor="ctr" anchorCtr="0">
            <a:spAutoFit/>
          </a:bodyPr>
          <a:lstStyle/>
          <a:p>
            <a:pPr marL="0" indent="0">
              <a:buNone/>
            </a:pPr>
            <a:r>
              <a:rPr lang="en-US" sz="2000" dirty="0"/>
              <a:t>Third step – combine the two parallel current sources into one source, using </a:t>
            </a:r>
            <a:r>
              <a:rPr lang="en-US" sz="2000" spc="-300" dirty="0"/>
              <a:t>K C </a:t>
            </a:r>
            <a:r>
              <a:rPr lang="en-US" sz="2000" dirty="0"/>
              <a:t>L, and the three parallel resistors into one resistor:</a:t>
            </a:r>
          </a:p>
        </p:txBody>
      </p:sp>
      <p:pic>
        <p:nvPicPr>
          <p:cNvPr id="25" name="Picture 24" descr="A circuit diagram shows a 2 ampere independent current source with the arrow pointing upwards as the left wire of the circuit along with the calculation of 10 minus 8 equaling 2 amperes. The right wire contains a 10-ohm resistor along with the calculation that this resistor is the equivalent of three resistors of 25-ohm, 100-ohm, and 20-ohm connected in parallel voltage v subscript o develops across the 10-ohm resistor with positive polarity at its top end and negative at bottom. ">
            <a:extLst>
              <a:ext uri="{FF2B5EF4-FFF2-40B4-BE49-F238E27FC236}">
                <a16:creationId xmlns:a16="http://schemas.microsoft.com/office/drawing/2014/main" id="{7B82E454-0BAE-CB4F-336C-35ED11D6C6CB}"/>
              </a:ext>
            </a:extLst>
          </p:cNvPr>
          <p:cNvPicPr>
            <a:picLocks noChangeAspect="1"/>
          </p:cNvPicPr>
          <p:nvPr/>
        </p:nvPicPr>
        <p:blipFill>
          <a:blip r:embed="rId2"/>
          <a:stretch>
            <a:fillRect/>
          </a:stretch>
        </p:blipFill>
        <p:spPr>
          <a:xfrm>
            <a:off x="1112099" y="4238828"/>
            <a:ext cx="2900795" cy="986359"/>
          </a:xfrm>
          <a:prstGeom prst="rect">
            <a:avLst/>
          </a:prstGeom>
        </p:spPr>
      </p:pic>
      <p:sp>
        <p:nvSpPr>
          <p:cNvPr id="5" name="Content Placeholder 4">
            <a:extLst>
              <a:ext uri="{FF2B5EF4-FFF2-40B4-BE49-F238E27FC236}">
                <a16:creationId xmlns:a16="http://schemas.microsoft.com/office/drawing/2014/main" id="{171C1987-AD01-FA7F-60D0-011CE327EDE3}"/>
              </a:ext>
            </a:extLst>
          </p:cNvPr>
          <p:cNvSpPr>
            <a:spLocks noGrp="1"/>
          </p:cNvSpPr>
          <p:nvPr>
            <p:ph sz="quarter" idx="14"/>
          </p:nvPr>
        </p:nvSpPr>
        <p:spPr>
          <a:xfrm>
            <a:off x="4155864" y="3512904"/>
            <a:ext cx="4088921" cy="344128"/>
          </a:xfrm>
        </p:spPr>
        <p:txBody>
          <a:bodyPr wrap="square" lIns="0" tIns="18000" rIns="0" bIns="18000" anchor="ctr" anchorCtr="0">
            <a:spAutoFit/>
          </a:bodyPr>
          <a:lstStyle/>
          <a:p>
            <a:pPr marL="0" indent="0">
              <a:buNone/>
            </a:pPr>
            <a:r>
              <a:rPr lang="en-US" sz="2000" dirty="0"/>
              <a:t>Fourth step – use Ohm’s Law to find</a:t>
            </a:r>
          </a:p>
        </p:txBody>
      </p:sp>
      <p:graphicFrame>
        <p:nvGraphicFramePr>
          <p:cNvPr id="21" name="Object 20" descr="v subscript o.">
            <a:extLst>
              <a:ext uri="{FF2B5EF4-FFF2-40B4-BE49-F238E27FC236}">
                <a16:creationId xmlns:a16="http://schemas.microsoft.com/office/drawing/2014/main" id="{EF607181-F593-7DE7-3E44-A6B0ED767E5C}"/>
              </a:ext>
            </a:extLst>
          </p:cNvPr>
          <p:cNvGraphicFramePr>
            <a:graphicFrameLocks noChangeAspect="1"/>
          </p:cNvGraphicFramePr>
          <p:nvPr>
            <p:extLst>
              <p:ext uri="{D42A27DB-BD31-4B8C-83A1-F6EECF244321}">
                <p14:modId xmlns:p14="http://schemas.microsoft.com/office/powerpoint/2010/main" val="1725660784"/>
              </p:ext>
            </p:extLst>
          </p:nvPr>
        </p:nvGraphicFramePr>
        <p:xfrm>
          <a:off x="8305413" y="3528346"/>
          <a:ext cx="368776" cy="365570"/>
        </p:xfrm>
        <a:graphic>
          <a:graphicData uri="http://schemas.openxmlformats.org/presentationml/2006/ole">
            <mc:AlternateContent xmlns:mc="http://schemas.openxmlformats.org/markup-compatibility/2006">
              <mc:Choice xmlns:v="urn:schemas-microsoft-com:vml" Requires="v">
                <p:oleObj name="Equation" r:id="rId3" imgW="228600" imgH="228600" progId="Equation.DSMT4">
                  <p:embed/>
                </p:oleObj>
              </mc:Choice>
              <mc:Fallback>
                <p:oleObj name="Equation" r:id="rId3" imgW="228600" imgH="228600" progId="Equation.DSMT4">
                  <p:embed/>
                  <p:pic>
                    <p:nvPicPr>
                      <p:cNvPr id="26" name="Object 25">
                        <a:extLst>
                          <a:ext uri="{FF2B5EF4-FFF2-40B4-BE49-F238E27FC236}">
                            <a16:creationId xmlns:a16="http://schemas.microsoft.com/office/drawing/2014/main" id="{B8D82CC9-BF11-0BA2-EB76-6FA5DC74433B}"/>
                          </a:ext>
                        </a:extLst>
                      </p:cNvPr>
                      <p:cNvPicPr>
                        <a:picLocks noChangeAspect="1" noChangeArrowheads="1"/>
                      </p:cNvPicPr>
                      <p:nvPr/>
                    </p:nvPicPr>
                    <p:blipFill>
                      <a:blip r:embed="rId4"/>
                      <a:srcRect/>
                      <a:stretch>
                        <a:fillRect/>
                      </a:stretch>
                    </p:blipFill>
                    <p:spPr bwMode="auto">
                      <a:xfrm>
                        <a:off x="8305413" y="3528346"/>
                        <a:ext cx="368776" cy="3655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 name="Object 25" descr="v subscript 0 BaseLine equals OpenParenthesis 2 CloseParenthesis multiplied by OpenParenthesis 10 CloseParenthesis equals 20 Volts.">
            <a:extLst>
              <a:ext uri="{FF2B5EF4-FFF2-40B4-BE49-F238E27FC236}">
                <a16:creationId xmlns:a16="http://schemas.microsoft.com/office/drawing/2014/main" id="{FBD07F43-26C5-DC72-CE5C-412AB7C5F2DB}"/>
              </a:ext>
            </a:extLst>
          </p:cNvPr>
          <p:cNvGraphicFramePr>
            <a:graphicFrameLocks noChangeAspect="1"/>
          </p:cNvGraphicFramePr>
          <p:nvPr>
            <p:extLst>
              <p:ext uri="{D42A27DB-BD31-4B8C-83A1-F6EECF244321}">
                <p14:modId xmlns:p14="http://schemas.microsoft.com/office/powerpoint/2010/main" val="554978077"/>
              </p:ext>
            </p:extLst>
          </p:nvPr>
        </p:nvGraphicFramePr>
        <p:xfrm>
          <a:off x="5178831" y="4099894"/>
          <a:ext cx="2116137" cy="361950"/>
        </p:xfrm>
        <a:graphic>
          <a:graphicData uri="http://schemas.openxmlformats.org/presentationml/2006/ole">
            <mc:AlternateContent xmlns:mc="http://schemas.openxmlformats.org/markup-compatibility/2006">
              <mc:Choice xmlns:v="urn:schemas-microsoft-com:vml" Requires="v">
                <p:oleObj name="Equation" r:id="rId5" imgW="1320480" imgH="228600" progId="Equation.DSMT4">
                  <p:embed/>
                </p:oleObj>
              </mc:Choice>
              <mc:Fallback>
                <p:oleObj name="Equation" r:id="rId5" imgW="1320480" imgH="228600" progId="Equation.DSMT4">
                  <p:embed/>
                  <p:pic>
                    <p:nvPicPr>
                      <p:cNvPr id="25" name="Object 24">
                        <a:extLst>
                          <a:ext uri="{FF2B5EF4-FFF2-40B4-BE49-F238E27FC236}">
                            <a16:creationId xmlns:a16="http://schemas.microsoft.com/office/drawing/2014/main" id="{3B60DF84-2996-9E7B-8B5D-E01756DBA006}"/>
                          </a:ext>
                        </a:extLst>
                      </p:cNvPr>
                      <p:cNvPicPr>
                        <a:picLocks noChangeAspect="1" noChangeArrowheads="1"/>
                      </p:cNvPicPr>
                      <p:nvPr/>
                    </p:nvPicPr>
                    <p:blipFill>
                      <a:blip r:embed="rId6"/>
                      <a:srcRect/>
                      <a:stretch>
                        <a:fillRect/>
                      </a:stretch>
                    </p:blipFill>
                    <p:spPr bwMode="auto">
                      <a:xfrm>
                        <a:off x="5178831" y="4099894"/>
                        <a:ext cx="2116137"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738334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3E103-6B34-4EFB-6634-87BC3A1CA4ED}"/>
              </a:ext>
            </a:extLst>
          </p:cNvPr>
          <p:cNvSpPr>
            <a:spLocks noGrp="1"/>
          </p:cNvSpPr>
          <p:nvPr>
            <p:ph type="title"/>
          </p:nvPr>
        </p:nvSpPr>
        <p:spPr>
          <a:xfrm>
            <a:off x="431322" y="264316"/>
            <a:ext cx="8239603" cy="898126"/>
          </a:xfrm>
        </p:spPr>
        <p:txBody>
          <a:bodyPr wrap="square" tIns="18000" bIns="18000" anchor="ctr" anchorCtr="0">
            <a:spAutoFit/>
          </a:bodyPr>
          <a:lstStyle/>
          <a:p>
            <a:r>
              <a:rPr lang="en-US" sz="3200" dirty="0">
                <a:latin typeface="+mj-lt"/>
              </a:rPr>
              <a:t>Chapter 4 – techniques of circuit analysis </a:t>
            </a:r>
            <a:r>
              <a:rPr lang="en-US" sz="2400" dirty="0">
                <a:latin typeface="+mj-lt"/>
              </a:rPr>
              <a:t>(14 of 14)</a:t>
            </a:r>
            <a:endParaRPr lang="en-US" sz="3200" dirty="0"/>
          </a:p>
        </p:txBody>
      </p:sp>
      <p:sp>
        <p:nvSpPr>
          <p:cNvPr id="3" name="Content Placeholder 2">
            <a:extLst>
              <a:ext uri="{FF2B5EF4-FFF2-40B4-BE49-F238E27FC236}">
                <a16:creationId xmlns:a16="http://schemas.microsoft.com/office/drawing/2014/main" id="{1BC7D08E-2999-8F78-355B-7FA29D0E3521}"/>
              </a:ext>
            </a:extLst>
          </p:cNvPr>
          <p:cNvSpPr>
            <a:spLocks noGrp="1"/>
          </p:cNvSpPr>
          <p:nvPr>
            <p:ph sz="quarter" idx="12"/>
          </p:nvPr>
        </p:nvSpPr>
        <p:spPr>
          <a:xfrm>
            <a:off x="431322" y="1307663"/>
            <a:ext cx="8239603" cy="313350"/>
          </a:xfrm>
        </p:spPr>
        <p:txBody>
          <a:bodyPr wrap="square" lIns="0" tIns="18000" rIns="0" bIns="18000" anchor="ctr" anchorCtr="0">
            <a:spAutoFit/>
          </a:bodyPr>
          <a:lstStyle/>
          <a:p>
            <a:pPr marL="0" indent="0">
              <a:buNone/>
            </a:pPr>
            <a:r>
              <a:rPr lang="en-US" altLang="en-US" sz="1800" dirty="0"/>
              <a:t>Fifth step – to balance the power, reinsert the resistors removed in Step 1:</a:t>
            </a:r>
          </a:p>
        </p:txBody>
      </p:sp>
      <p:pic>
        <p:nvPicPr>
          <p:cNvPr id="11" name="Picture 10" descr="A circuit diagram shows a 250-volt independent-voltage source with positive polarity at top and negative at bottom as the leftmost wire in the circuit. The second wire from left contains a 125-ohm resistor. The third wire from left contains an 8 ampere independent current source with internal arrow pointing downwards. The third wire from left also contains a 10-ohm resistor connected in series below the 8 ampere independent current source. The fourth wire from left contains a 100-ohm resistor. The rightmost wire contains 15-ohm resistor. A 25-ohm resistor is located in the top wire between the second and third wires from left. A 5-ohm resistor is located in the top wire between the fourth wire from left and the rightmost wire. Six nodes are marked at the points where the top and bottom wires connect separately to the second, third, and fourth wire from left. &#10;Current i subscript 250 flows from top to bottom through the 250-volt independent-voltage source in the leftmost wire. Current i subscript 125 flowing through 125-ohm resistor in the second wire from left. Voltage v subscript 8A develops across the 25-ohm resistor located in the top wire between the second and third wires from left with positive polarity at its left end and negative polarity at its right, while current i subscript 25 flows through this resistor. Voltage v subscript 8A develops across the 8 ampere independent current source located in the third wire from left with positive polarity at top and negative at bottom. Voltage v subscript 10 develops across the 10-ohm resistor located in the third wire from left with positive polarity at top and negative at bottom. A-voltage of 20-volts develops across the 100-ohm resistor in the fourth wire from left. Voltage v subscript 5 with positive polarity to left and negative to the right develops across the 5-ohm resistor located in the top wire between the fourth wire from left and the rightmost wire. Voltage v subscript 15 with positive polarity at the top and negative at the bottom develops across the 15-ohm resistor located in the rightmost wire of the circuit.">
            <a:extLst>
              <a:ext uri="{FF2B5EF4-FFF2-40B4-BE49-F238E27FC236}">
                <a16:creationId xmlns:a16="http://schemas.microsoft.com/office/drawing/2014/main" id="{E73BD4B0-BB6F-2DCA-4D97-FBA8AFAF63B0}"/>
              </a:ext>
            </a:extLst>
          </p:cNvPr>
          <p:cNvPicPr>
            <a:picLocks noChangeAspect="1"/>
          </p:cNvPicPr>
          <p:nvPr/>
        </p:nvPicPr>
        <p:blipFill>
          <a:blip r:embed="rId2"/>
          <a:stretch>
            <a:fillRect/>
          </a:stretch>
        </p:blipFill>
        <p:spPr>
          <a:xfrm>
            <a:off x="2893351" y="1696702"/>
            <a:ext cx="3375228" cy="1133763"/>
          </a:xfrm>
          <a:prstGeom prst="rect">
            <a:avLst/>
          </a:prstGeom>
        </p:spPr>
      </p:pic>
      <p:graphicFrame>
        <p:nvGraphicFramePr>
          <p:cNvPr id="12" name="Object 11" descr="v subscript 15 BaseLine equals 15 divided by 20 multiplied by OpenParenthesis 20 CloseParenthesis equals 15 Volts;">
            <a:extLst>
              <a:ext uri="{FF2B5EF4-FFF2-40B4-BE49-F238E27FC236}">
                <a16:creationId xmlns:a16="http://schemas.microsoft.com/office/drawing/2014/main" id="{7373A397-9285-9F57-381B-281E7FFA2043}"/>
              </a:ext>
            </a:extLst>
          </p:cNvPr>
          <p:cNvGraphicFramePr>
            <a:graphicFrameLocks noChangeAspect="1"/>
          </p:cNvGraphicFramePr>
          <p:nvPr>
            <p:extLst>
              <p:ext uri="{D42A27DB-BD31-4B8C-83A1-F6EECF244321}">
                <p14:modId xmlns:p14="http://schemas.microsoft.com/office/powerpoint/2010/main" val="244240912"/>
              </p:ext>
            </p:extLst>
          </p:nvPr>
        </p:nvGraphicFramePr>
        <p:xfrm>
          <a:off x="2144462" y="2889706"/>
          <a:ext cx="2053902" cy="570100"/>
        </p:xfrm>
        <a:graphic>
          <a:graphicData uri="http://schemas.openxmlformats.org/presentationml/2006/ole">
            <mc:AlternateContent xmlns:mc="http://schemas.openxmlformats.org/markup-compatibility/2006">
              <mc:Choice xmlns:v="urn:schemas-microsoft-com:vml" Requires="v">
                <p:oleObj name="Equation" r:id="rId3" imgW="1396800" imgH="393480" progId="Equation.DSMT4">
                  <p:embed/>
                </p:oleObj>
              </mc:Choice>
              <mc:Fallback>
                <p:oleObj name="Equation" r:id="rId3" imgW="1396800" imgH="393480" progId="Equation.DSMT4">
                  <p:embed/>
                  <p:pic>
                    <p:nvPicPr>
                      <p:cNvPr id="26" name="Object 25">
                        <a:extLst>
                          <a:ext uri="{FF2B5EF4-FFF2-40B4-BE49-F238E27FC236}">
                            <a16:creationId xmlns:a16="http://schemas.microsoft.com/office/drawing/2014/main" id="{FBD07F43-26C5-DC72-CE5C-412AB7C5F2DB}"/>
                          </a:ext>
                        </a:extLst>
                      </p:cNvPr>
                      <p:cNvPicPr>
                        <a:picLocks noChangeAspect="1" noChangeArrowheads="1"/>
                      </p:cNvPicPr>
                      <p:nvPr/>
                    </p:nvPicPr>
                    <p:blipFill>
                      <a:blip r:embed="rId4"/>
                      <a:srcRect/>
                      <a:stretch>
                        <a:fillRect/>
                      </a:stretch>
                    </p:blipFill>
                    <p:spPr bwMode="auto">
                      <a:xfrm>
                        <a:off x="2144462" y="2889706"/>
                        <a:ext cx="2053902" cy="570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2" descr="v subscript 5 BaseLine equals 20 minus 15 equals 5 Volts.">
            <a:extLst>
              <a:ext uri="{FF2B5EF4-FFF2-40B4-BE49-F238E27FC236}">
                <a16:creationId xmlns:a16="http://schemas.microsoft.com/office/drawing/2014/main" id="{09FAEADE-32E3-B0F4-11DD-DBA72AFFC3D0}"/>
              </a:ext>
            </a:extLst>
          </p:cNvPr>
          <p:cNvGraphicFramePr>
            <a:graphicFrameLocks noChangeAspect="1"/>
          </p:cNvGraphicFramePr>
          <p:nvPr>
            <p:extLst>
              <p:ext uri="{D42A27DB-BD31-4B8C-83A1-F6EECF244321}">
                <p14:modId xmlns:p14="http://schemas.microsoft.com/office/powerpoint/2010/main" val="778563461"/>
              </p:ext>
            </p:extLst>
          </p:nvPr>
        </p:nvGraphicFramePr>
        <p:xfrm>
          <a:off x="4343399" y="3008295"/>
          <a:ext cx="1885953" cy="331274"/>
        </p:xfrm>
        <a:graphic>
          <a:graphicData uri="http://schemas.openxmlformats.org/presentationml/2006/ole">
            <mc:AlternateContent xmlns:mc="http://schemas.openxmlformats.org/markup-compatibility/2006">
              <mc:Choice xmlns:v="urn:schemas-microsoft-com:vml" Requires="v">
                <p:oleObj name="Equation" r:id="rId5" imgW="1282680" imgH="228600" progId="Equation.DSMT4">
                  <p:embed/>
                </p:oleObj>
              </mc:Choice>
              <mc:Fallback>
                <p:oleObj name="Equation" r:id="rId5" imgW="1282680" imgH="228600" progId="Equation.DSMT4">
                  <p:embed/>
                  <p:pic>
                    <p:nvPicPr>
                      <p:cNvPr id="12" name="Object 11">
                        <a:extLst>
                          <a:ext uri="{FF2B5EF4-FFF2-40B4-BE49-F238E27FC236}">
                            <a16:creationId xmlns:a16="http://schemas.microsoft.com/office/drawing/2014/main" id="{7373A397-9285-9F57-381B-281E7FFA2043}"/>
                          </a:ext>
                        </a:extLst>
                      </p:cNvPr>
                      <p:cNvPicPr>
                        <a:picLocks noChangeAspect="1" noChangeArrowheads="1"/>
                      </p:cNvPicPr>
                      <p:nvPr/>
                    </p:nvPicPr>
                    <p:blipFill>
                      <a:blip r:embed="rId6"/>
                      <a:srcRect/>
                      <a:stretch>
                        <a:fillRect/>
                      </a:stretch>
                    </p:blipFill>
                    <p:spPr bwMode="auto">
                      <a:xfrm>
                        <a:off x="4343399" y="3008295"/>
                        <a:ext cx="1885953" cy="3312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13" descr="v subscript 10 BaseLine equals OpenParenthesis 8 CloseParenthesis multiplied by OpenParenthesis 10 CloseParenthesis equals 80 Volts;">
            <a:extLst>
              <a:ext uri="{FF2B5EF4-FFF2-40B4-BE49-F238E27FC236}">
                <a16:creationId xmlns:a16="http://schemas.microsoft.com/office/drawing/2014/main" id="{5E5CE836-AB50-2B70-C9B8-04938B9B3383}"/>
              </a:ext>
            </a:extLst>
          </p:cNvPr>
          <p:cNvGraphicFramePr>
            <a:graphicFrameLocks noChangeAspect="1"/>
          </p:cNvGraphicFramePr>
          <p:nvPr>
            <p:extLst>
              <p:ext uri="{D42A27DB-BD31-4B8C-83A1-F6EECF244321}">
                <p14:modId xmlns:p14="http://schemas.microsoft.com/office/powerpoint/2010/main" val="324821269"/>
              </p:ext>
            </p:extLst>
          </p:nvPr>
        </p:nvGraphicFramePr>
        <p:xfrm>
          <a:off x="2144462" y="3495474"/>
          <a:ext cx="2035175" cy="330200"/>
        </p:xfrm>
        <a:graphic>
          <a:graphicData uri="http://schemas.openxmlformats.org/presentationml/2006/ole">
            <mc:AlternateContent xmlns:mc="http://schemas.openxmlformats.org/markup-compatibility/2006">
              <mc:Choice xmlns:v="urn:schemas-microsoft-com:vml" Requires="v">
                <p:oleObj name="Equation" r:id="rId7" imgW="1384200" imgH="228600" progId="Equation.DSMT4">
                  <p:embed/>
                </p:oleObj>
              </mc:Choice>
              <mc:Fallback>
                <p:oleObj name="Equation" r:id="rId7" imgW="1384200" imgH="228600" progId="Equation.DSMT4">
                  <p:embed/>
                  <p:pic>
                    <p:nvPicPr>
                      <p:cNvPr id="13" name="Object 12">
                        <a:extLst>
                          <a:ext uri="{FF2B5EF4-FFF2-40B4-BE49-F238E27FC236}">
                            <a16:creationId xmlns:a16="http://schemas.microsoft.com/office/drawing/2014/main" id="{09FAEADE-32E3-B0F4-11DD-DBA72AFFC3D0}"/>
                          </a:ext>
                        </a:extLst>
                      </p:cNvPr>
                      <p:cNvPicPr>
                        <a:picLocks noChangeAspect="1" noChangeArrowheads="1"/>
                      </p:cNvPicPr>
                      <p:nvPr/>
                    </p:nvPicPr>
                    <p:blipFill>
                      <a:blip r:embed="rId8"/>
                      <a:srcRect/>
                      <a:stretch>
                        <a:fillRect/>
                      </a:stretch>
                    </p:blipFill>
                    <p:spPr bwMode="auto">
                      <a:xfrm>
                        <a:off x="2144462" y="3495474"/>
                        <a:ext cx="2035175"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Object 14" descr="v subscript 8 A BaseLine equals 20 minus 80 equals negative 60 Volts.">
            <a:extLst>
              <a:ext uri="{FF2B5EF4-FFF2-40B4-BE49-F238E27FC236}">
                <a16:creationId xmlns:a16="http://schemas.microsoft.com/office/drawing/2014/main" id="{55466321-6B31-DD98-37C3-464E246B0F8F}"/>
              </a:ext>
            </a:extLst>
          </p:cNvPr>
          <p:cNvGraphicFramePr>
            <a:graphicFrameLocks noChangeAspect="1"/>
          </p:cNvGraphicFramePr>
          <p:nvPr>
            <p:extLst>
              <p:ext uri="{D42A27DB-BD31-4B8C-83A1-F6EECF244321}">
                <p14:modId xmlns:p14="http://schemas.microsoft.com/office/powerpoint/2010/main" val="2295211203"/>
              </p:ext>
            </p:extLst>
          </p:nvPr>
        </p:nvGraphicFramePr>
        <p:xfrm>
          <a:off x="4348683" y="3495474"/>
          <a:ext cx="2278063" cy="330200"/>
        </p:xfrm>
        <a:graphic>
          <a:graphicData uri="http://schemas.openxmlformats.org/presentationml/2006/ole">
            <mc:AlternateContent xmlns:mc="http://schemas.openxmlformats.org/markup-compatibility/2006">
              <mc:Choice xmlns:v="urn:schemas-microsoft-com:vml" Requires="v">
                <p:oleObj name="Equation" r:id="rId9" imgW="1549080" imgH="228600" progId="Equation.DSMT4">
                  <p:embed/>
                </p:oleObj>
              </mc:Choice>
              <mc:Fallback>
                <p:oleObj name="Equation" r:id="rId9" imgW="1549080" imgH="228600" progId="Equation.DSMT4">
                  <p:embed/>
                  <p:pic>
                    <p:nvPicPr>
                      <p:cNvPr id="14" name="Object 13">
                        <a:extLst>
                          <a:ext uri="{FF2B5EF4-FFF2-40B4-BE49-F238E27FC236}">
                            <a16:creationId xmlns:a16="http://schemas.microsoft.com/office/drawing/2014/main" id="{5E5CE836-AB50-2B70-C9B8-04938B9B3383}"/>
                          </a:ext>
                        </a:extLst>
                      </p:cNvPr>
                      <p:cNvPicPr>
                        <a:picLocks noChangeAspect="1" noChangeArrowheads="1"/>
                      </p:cNvPicPr>
                      <p:nvPr/>
                    </p:nvPicPr>
                    <p:blipFill>
                      <a:blip r:embed="rId10"/>
                      <a:srcRect/>
                      <a:stretch>
                        <a:fillRect/>
                      </a:stretch>
                    </p:blipFill>
                    <p:spPr bwMode="auto">
                      <a:xfrm>
                        <a:off x="4348683" y="3495474"/>
                        <a:ext cx="2278063"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15" descr="v subscript 25 BaseLine equals 250 minus 20 equals 230 Volts;">
            <a:extLst>
              <a:ext uri="{FF2B5EF4-FFF2-40B4-BE49-F238E27FC236}">
                <a16:creationId xmlns:a16="http://schemas.microsoft.com/office/drawing/2014/main" id="{E906442F-9205-ECD2-3D92-CA4ED638D20C}"/>
              </a:ext>
            </a:extLst>
          </p:cNvPr>
          <p:cNvGraphicFramePr>
            <a:graphicFrameLocks noChangeAspect="1"/>
          </p:cNvGraphicFramePr>
          <p:nvPr>
            <p:extLst>
              <p:ext uri="{D42A27DB-BD31-4B8C-83A1-F6EECF244321}">
                <p14:modId xmlns:p14="http://schemas.microsoft.com/office/powerpoint/2010/main" val="364601775"/>
              </p:ext>
            </p:extLst>
          </p:nvPr>
        </p:nvGraphicFramePr>
        <p:xfrm>
          <a:off x="2141298" y="3871298"/>
          <a:ext cx="2409825" cy="330200"/>
        </p:xfrm>
        <a:graphic>
          <a:graphicData uri="http://schemas.openxmlformats.org/presentationml/2006/ole">
            <mc:AlternateContent xmlns:mc="http://schemas.openxmlformats.org/markup-compatibility/2006">
              <mc:Choice xmlns:v="urn:schemas-microsoft-com:vml" Requires="v">
                <p:oleObj name="Equation" r:id="rId11" imgW="1638000" imgH="228600" progId="Equation.DSMT4">
                  <p:embed/>
                </p:oleObj>
              </mc:Choice>
              <mc:Fallback>
                <p:oleObj name="Equation" r:id="rId11" imgW="1638000" imgH="228600" progId="Equation.DSMT4">
                  <p:embed/>
                  <p:pic>
                    <p:nvPicPr>
                      <p:cNvPr id="15" name="Object 14">
                        <a:extLst>
                          <a:ext uri="{FF2B5EF4-FFF2-40B4-BE49-F238E27FC236}">
                            <a16:creationId xmlns:a16="http://schemas.microsoft.com/office/drawing/2014/main" id="{55466321-6B31-DD98-37C3-464E246B0F8F}"/>
                          </a:ext>
                        </a:extLst>
                      </p:cNvPr>
                      <p:cNvPicPr>
                        <a:picLocks noChangeAspect="1" noChangeArrowheads="1"/>
                      </p:cNvPicPr>
                      <p:nvPr/>
                    </p:nvPicPr>
                    <p:blipFill>
                      <a:blip r:embed="rId12"/>
                      <a:srcRect/>
                      <a:stretch>
                        <a:fillRect/>
                      </a:stretch>
                    </p:blipFill>
                    <p:spPr bwMode="auto">
                      <a:xfrm>
                        <a:off x="2141298" y="3871298"/>
                        <a:ext cx="2409825"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16" descr="i subscript 25 BaseLine equals 230 divided by 25 equals 9.2 Amperes.">
            <a:extLst>
              <a:ext uri="{FF2B5EF4-FFF2-40B4-BE49-F238E27FC236}">
                <a16:creationId xmlns:a16="http://schemas.microsoft.com/office/drawing/2014/main" id="{294B24D8-369F-C0E2-1B70-60EB7550F58C}"/>
              </a:ext>
            </a:extLst>
          </p:cNvPr>
          <p:cNvGraphicFramePr>
            <a:graphicFrameLocks noChangeAspect="1"/>
          </p:cNvGraphicFramePr>
          <p:nvPr>
            <p:extLst>
              <p:ext uri="{D42A27DB-BD31-4B8C-83A1-F6EECF244321}">
                <p14:modId xmlns:p14="http://schemas.microsoft.com/office/powerpoint/2010/main" val="243295340"/>
              </p:ext>
            </p:extLst>
          </p:nvPr>
        </p:nvGraphicFramePr>
        <p:xfrm>
          <a:off x="4676028" y="3882297"/>
          <a:ext cx="2054225" cy="330200"/>
        </p:xfrm>
        <a:graphic>
          <a:graphicData uri="http://schemas.openxmlformats.org/presentationml/2006/ole">
            <mc:AlternateContent xmlns:mc="http://schemas.openxmlformats.org/markup-compatibility/2006">
              <mc:Choice xmlns:v="urn:schemas-microsoft-com:vml" Requires="v">
                <p:oleObj name="Equation" r:id="rId13" imgW="1396800" imgH="228600" progId="Equation.DSMT4">
                  <p:embed/>
                </p:oleObj>
              </mc:Choice>
              <mc:Fallback>
                <p:oleObj name="Equation" r:id="rId13" imgW="1396800" imgH="228600" progId="Equation.DSMT4">
                  <p:embed/>
                  <p:pic>
                    <p:nvPicPr>
                      <p:cNvPr id="16" name="Object 15">
                        <a:extLst>
                          <a:ext uri="{FF2B5EF4-FFF2-40B4-BE49-F238E27FC236}">
                            <a16:creationId xmlns:a16="http://schemas.microsoft.com/office/drawing/2014/main" id="{E906442F-9205-ECD2-3D92-CA4ED638D20C}"/>
                          </a:ext>
                        </a:extLst>
                      </p:cNvPr>
                      <p:cNvPicPr>
                        <a:picLocks noChangeAspect="1" noChangeArrowheads="1"/>
                      </p:cNvPicPr>
                      <p:nvPr/>
                    </p:nvPicPr>
                    <p:blipFill>
                      <a:blip r:embed="rId14"/>
                      <a:srcRect/>
                      <a:stretch>
                        <a:fillRect/>
                      </a:stretch>
                    </p:blipFill>
                    <p:spPr bwMode="auto">
                      <a:xfrm>
                        <a:off x="4676028" y="3882297"/>
                        <a:ext cx="2054225"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17" descr="i subscript 125 BaseLine equals 250 divided by 125 equals 2 Amperes;">
            <a:extLst>
              <a:ext uri="{FF2B5EF4-FFF2-40B4-BE49-F238E27FC236}">
                <a16:creationId xmlns:a16="http://schemas.microsoft.com/office/drawing/2014/main" id="{FCD06848-0362-EC15-F5C9-4F097C766C91}"/>
              </a:ext>
            </a:extLst>
          </p:cNvPr>
          <p:cNvGraphicFramePr>
            <a:graphicFrameLocks noChangeAspect="1"/>
          </p:cNvGraphicFramePr>
          <p:nvPr>
            <p:extLst>
              <p:ext uri="{D42A27DB-BD31-4B8C-83A1-F6EECF244321}">
                <p14:modId xmlns:p14="http://schemas.microsoft.com/office/powerpoint/2010/main" val="472269496"/>
              </p:ext>
            </p:extLst>
          </p:nvPr>
        </p:nvGraphicFramePr>
        <p:xfrm>
          <a:off x="2141298" y="4228611"/>
          <a:ext cx="2090738" cy="330200"/>
        </p:xfrm>
        <a:graphic>
          <a:graphicData uri="http://schemas.openxmlformats.org/presentationml/2006/ole">
            <mc:AlternateContent xmlns:mc="http://schemas.openxmlformats.org/markup-compatibility/2006">
              <mc:Choice xmlns:v="urn:schemas-microsoft-com:vml" Requires="v">
                <p:oleObj name="Equation" r:id="rId15" imgW="1422360" imgH="228600" progId="Equation.DSMT4">
                  <p:embed/>
                </p:oleObj>
              </mc:Choice>
              <mc:Fallback>
                <p:oleObj name="Equation" r:id="rId15" imgW="1422360" imgH="228600" progId="Equation.DSMT4">
                  <p:embed/>
                  <p:pic>
                    <p:nvPicPr>
                      <p:cNvPr id="17" name="Object 16">
                        <a:extLst>
                          <a:ext uri="{FF2B5EF4-FFF2-40B4-BE49-F238E27FC236}">
                            <a16:creationId xmlns:a16="http://schemas.microsoft.com/office/drawing/2014/main" id="{294B24D8-369F-C0E2-1B70-60EB7550F58C}"/>
                          </a:ext>
                        </a:extLst>
                      </p:cNvPr>
                      <p:cNvPicPr>
                        <a:picLocks noChangeAspect="1" noChangeArrowheads="1"/>
                      </p:cNvPicPr>
                      <p:nvPr/>
                    </p:nvPicPr>
                    <p:blipFill>
                      <a:blip r:embed="rId16"/>
                      <a:srcRect/>
                      <a:stretch>
                        <a:fillRect/>
                      </a:stretch>
                    </p:blipFill>
                    <p:spPr bwMode="auto">
                      <a:xfrm>
                        <a:off x="2141298" y="4228611"/>
                        <a:ext cx="2090738"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18" descr="i subscript 250 BaseLine equals negative 2 minus 9.2 equals negative 11.2 Amperes.">
            <a:extLst>
              <a:ext uri="{FF2B5EF4-FFF2-40B4-BE49-F238E27FC236}">
                <a16:creationId xmlns:a16="http://schemas.microsoft.com/office/drawing/2014/main" id="{6BB6ADF7-88EE-86F7-C863-6CDBE3EB8F27}"/>
              </a:ext>
            </a:extLst>
          </p:cNvPr>
          <p:cNvGraphicFramePr>
            <a:graphicFrameLocks noChangeAspect="1"/>
          </p:cNvGraphicFramePr>
          <p:nvPr>
            <p:extLst>
              <p:ext uri="{D42A27DB-BD31-4B8C-83A1-F6EECF244321}">
                <p14:modId xmlns:p14="http://schemas.microsoft.com/office/powerpoint/2010/main" val="113716641"/>
              </p:ext>
            </p:extLst>
          </p:nvPr>
        </p:nvGraphicFramePr>
        <p:xfrm>
          <a:off x="4331260" y="4237790"/>
          <a:ext cx="2501900" cy="330200"/>
        </p:xfrm>
        <a:graphic>
          <a:graphicData uri="http://schemas.openxmlformats.org/presentationml/2006/ole">
            <mc:AlternateContent xmlns:mc="http://schemas.openxmlformats.org/markup-compatibility/2006">
              <mc:Choice xmlns:v="urn:schemas-microsoft-com:vml" Requires="v">
                <p:oleObj name="Equation" r:id="rId17" imgW="1701720" imgH="228600" progId="Equation.DSMT4">
                  <p:embed/>
                </p:oleObj>
              </mc:Choice>
              <mc:Fallback>
                <p:oleObj name="Equation" r:id="rId17" imgW="1701720" imgH="228600" progId="Equation.DSMT4">
                  <p:embed/>
                  <p:pic>
                    <p:nvPicPr>
                      <p:cNvPr id="18" name="Object 17">
                        <a:extLst>
                          <a:ext uri="{FF2B5EF4-FFF2-40B4-BE49-F238E27FC236}">
                            <a16:creationId xmlns:a16="http://schemas.microsoft.com/office/drawing/2014/main" id="{FCD06848-0362-EC15-F5C9-4F097C766C91}"/>
                          </a:ext>
                        </a:extLst>
                      </p:cNvPr>
                      <p:cNvPicPr>
                        <a:picLocks noChangeAspect="1" noChangeArrowheads="1"/>
                      </p:cNvPicPr>
                      <p:nvPr/>
                    </p:nvPicPr>
                    <p:blipFill>
                      <a:blip r:embed="rId18"/>
                      <a:srcRect/>
                      <a:stretch>
                        <a:fillRect/>
                      </a:stretch>
                    </p:blipFill>
                    <p:spPr bwMode="auto">
                      <a:xfrm>
                        <a:off x="4331260" y="4237790"/>
                        <a:ext cx="2501900"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Object 19" descr="p subscript 250 BaseLine equals OpenParenthesis 250 CloseParenthesis multiplied by OpenParenthesis negative 11.2 CloseParenthesis equals negative 2800 Watts;">
            <a:extLst>
              <a:ext uri="{FF2B5EF4-FFF2-40B4-BE49-F238E27FC236}">
                <a16:creationId xmlns:a16="http://schemas.microsoft.com/office/drawing/2014/main" id="{91CB01C8-C0F2-67AC-FD0B-CF5D0C5F636C}"/>
              </a:ext>
            </a:extLst>
          </p:cNvPr>
          <p:cNvGraphicFramePr>
            <a:graphicFrameLocks noChangeAspect="1"/>
          </p:cNvGraphicFramePr>
          <p:nvPr>
            <p:extLst>
              <p:ext uri="{D42A27DB-BD31-4B8C-83A1-F6EECF244321}">
                <p14:modId xmlns:p14="http://schemas.microsoft.com/office/powerpoint/2010/main" val="2325492132"/>
              </p:ext>
            </p:extLst>
          </p:nvPr>
        </p:nvGraphicFramePr>
        <p:xfrm>
          <a:off x="2144462" y="4624853"/>
          <a:ext cx="3173413" cy="330200"/>
        </p:xfrm>
        <a:graphic>
          <a:graphicData uri="http://schemas.openxmlformats.org/presentationml/2006/ole">
            <mc:AlternateContent xmlns:mc="http://schemas.openxmlformats.org/markup-compatibility/2006">
              <mc:Choice xmlns:v="urn:schemas-microsoft-com:vml" Requires="v">
                <p:oleObj name="Equation" r:id="rId19" imgW="2158920" imgH="228600" progId="Equation.DSMT4">
                  <p:embed/>
                </p:oleObj>
              </mc:Choice>
              <mc:Fallback>
                <p:oleObj name="Equation" r:id="rId19" imgW="2158920" imgH="228600" progId="Equation.DSMT4">
                  <p:embed/>
                  <p:pic>
                    <p:nvPicPr>
                      <p:cNvPr id="19" name="Object 18">
                        <a:extLst>
                          <a:ext uri="{FF2B5EF4-FFF2-40B4-BE49-F238E27FC236}">
                            <a16:creationId xmlns:a16="http://schemas.microsoft.com/office/drawing/2014/main" id="{6BB6ADF7-88EE-86F7-C863-6CDBE3EB8F27}"/>
                          </a:ext>
                        </a:extLst>
                      </p:cNvPr>
                      <p:cNvPicPr>
                        <a:picLocks noChangeAspect="1" noChangeArrowheads="1"/>
                      </p:cNvPicPr>
                      <p:nvPr/>
                    </p:nvPicPr>
                    <p:blipFill>
                      <a:blip r:embed="rId20"/>
                      <a:srcRect/>
                      <a:stretch>
                        <a:fillRect/>
                      </a:stretch>
                    </p:blipFill>
                    <p:spPr bwMode="auto">
                      <a:xfrm>
                        <a:off x="2144462" y="4624853"/>
                        <a:ext cx="3173413"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21" descr="p subscript 125 BaseLine equals 250 squared divided by 125 equals 500 Watts.">
            <a:extLst>
              <a:ext uri="{FF2B5EF4-FFF2-40B4-BE49-F238E27FC236}">
                <a16:creationId xmlns:a16="http://schemas.microsoft.com/office/drawing/2014/main" id="{7B136DC1-18E7-B1AF-E051-24E795D44DD8}"/>
              </a:ext>
            </a:extLst>
          </p:cNvPr>
          <p:cNvGraphicFramePr>
            <a:graphicFrameLocks noChangeAspect="1"/>
          </p:cNvGraphicFramePr>
          <p:nvPr>
            <p:extLst>
              <p:ext uri="{D42A27DB-BD31-4B8C-83A1-F6EECF244321}">
                <p14:modId xmlns:p14="http://schemas.microsoft.com/office/powerpoint/2010/main" val="2710294950"/>
              </p:ext>
            </p:extLst>
          </p:nvPr>
        </p:nvGraphicFramePr>
        <p:xfrm>
          <a:off x="5390906" y="4596723"/>
          <a:ext cx="2538413" cy="349250"/>
        </p:xfrm>
        <a:graphic>
          <a:graphicData uri="http://schemas.openxmlformats.org/presentationml/2006/ole">
            <mc:AlternateContent xmlns:mc="http://schemas.openxmlformats.org/markup-compatibility/2006">
              <mc:Choice xmlns:v="urn:schemas-microsoft-com:vml" Requires="v">
                <p:oleObj name="Equation" r:id="rId21" imgW="1726920" imgH="241200" progId="Equation.DSMT4">
                  <p:embed/>
                </p:oleObj>
              </mc:Choice>
              <mc:Fallback>
                <p:oleObj name="Equation" r:id="rId21" imgW="1726920" imgH="241200" progId="Equation.DSMT4">
                  <p:embed/>
                  <p:pic>
                    <p:nvPicPr>
                      <p:cNvPr id="20" name="Object 19">
                        <a:extLst>
                          <a:ext uri="{FF2B5EF4-FFF2-40B4-BE49-F238E27FC236}">
                            <a16:creationId xmlns:a16="http://schemas.microsoft.com/office/drawing/2014/main" id="{91CB01C8-C0F2-67AC-FD0B-CF5D0C5F636C}"/>
                          </a:ext>
                        </a:extLst>
                      </p:cNvPr>
                      <p:cNvPicPr>
                        <a:picLocks noChangeAspect="1" noChangeArrowheads="1"/>
                      </p:cNvPicPr>
                      <p:nvPr/>
                    </p:nvPicPr>
                    <p:blipFill>
                      <a:blip r:embed="rId22"/>
                      <a:srcRect/>
                      <a:stretch>
                        <a:fillRect/>
                      </a:stretch>
                    </p:blipFill>
                    <p:spPr bwMode="auto">
                      <a:xfrm>
                        <a:off x="5390906" y="4596723"/>
                        <a:ext cx="2538413" cy="349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23" descr="p subscript 25 BaseLine equals OpenParenthesis 9.2 CloseParenthesis squared multiplied by OpenParenthesis 25 CloseParenthesis equals 2116 Watts;">
            <a:extLst>
              <a:ext uri="{FF2B5EF4-FFF2-40B4-BE49-F238E27FC236}">
                <a16:creationId xmlns:a16="http://schemas.microsoft.com/office/drawing/2014/main" id="{BE0E00B8-002A-A824-5064-1E68C4EB19DA}"/>
              </a:ext>
            </a:extLst>
          </p:cNvPr>
          <p:cNvGraphicFramePr>
            <a:graphicFrameLocks noChangeAspect="1"/>
          </p:cNvGraphicFramePr>
          <p:nvPr>
            <p:extLst>
              <p:ext uri="{D42A27DB-BD31-4B8C-83A1-F6EECF244321}">
                <p14:modId xmlns:p14="http://schemas.microsoft.com/office/powerpoint/2010/main" val="2665130450"/>
              </p:ext>
            </p:extLst>
          </p:nvPr>
        </p:nvGraphicFramePr>
        <p:xfrm>
          <a:off x="2144462" y="4991123"/>
          <a:ext cx="2687638" cy="349250"/>
        </p:xfrm>
        <a:graphic>
          <a:graphicData uri="http://schemas.openxmlformats.org/presentationml/2006/ole">
            <mc:AlternateContent xmlns:mc="http://schemas.openxmlformats.org/markup-compatibility/2006">
              <mc:Choice xmlns:v="urn:schemas-microsoft-com:vml" Requires="v">
                <p:oleObj name="Equation" r:id="rId23" imgW="1828800" imgH="241200" progId="Equation.DSMT4">
                  <p:embed/>
                </p:oleObj>
              </mc:Choice>
              <mc:Fallback>
                <p:oleObj name="Equation" r:id="rId23" imgW="1828800" imgH="241200" progId="Equation.DSMT4">
                  <p:embed/>
                  <p:pic>
                    <p:nvPicPr>
                      <p:cNvPr id="22" name="Object 21">
                        <a:extLst>
                          <a:ext uri="{FF2B5EF4-FFF2-40B4-BE49-F238E27FC236}">
                            <a16:creationId xmlns:a16="http://schemas.microsoft.com/office/drawing/2014/main" id="{7B136DC1-18E7-B1AF-E051-24E795D44DD8}"/>
                          </a:ext>
                        </a:extLst>
                      </p:cNvPr>
                      <p:cNvPicPr>
                        <a:picLocks noChangeAspect="1" noChangeArrowheads="1"/>
                      </p:cNvPicPr>
                      <p:nvPr/>
                    </p:nvPicPr>
                    <p:blipFill>
                      <a:blip r:embed="rId24"/>
                      <a:srcRect/>
                      <a:stretch>
                        <a:fillRect/>
                      </a:stretch>
                    </p:blipFill>
                    <p:spPr bwMode="auto">
                      <a:xfrm>
                        <a:off x="2144462" y="4991123"/>
                        <a:ext cx="2687638" cy="349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Object 26" descr="p subscript 8 A BaseLine equals OpenParenthesis 8 CloseParenthesis multiplied by OpenParenthesis negative 60 CloseParenthesis equals negative 480.">
            <a:extLst>
              <a:ext uri="{FF2B5EF4-FFF2-40B4-BE49-F238E27FC236}">
                <a16:creationId xmlns:a16="http://schemas.microsoft.com/office/drawing/2014/main" id="{B6F929CE-EA75-72FA-C9D9-C7C5D6F857B5}"/>
              </a:ext>
            </a:extLst>
          </p:cNvPr>
          <p:cNvGraphicFramePr>
            <a:graphicFrameLocks noChangeAspect="1"/>
          </p:cNvGraphicFramePr>
          <p:nvPr>
            <p:extLst>
              <p:ext uri="{D42A27DB-BD31-4B8C-83A1-F6EECF244321}">
                <p14:modId xmlns:p14="http://schemas.microsoft.com/office/powerpoint/2010/main" val="2249797611"/>
              </p:ext>
            </p:extLst>
          </p:nvPr>
        </p:nvGraphicFramePr>
        <p:xfrm>
          <a:off x="4897953" y="5011680"/>
          <a:ext cx="2519362" cy="330200"/>
        </p:xfrm>
        <a:graphic>
          <a:graphicData uri="http://schemas.openxmlformats.org/presentationml/2006/ole">
            <mc:AlternateContent xmlns:mc="http://schemas.openxmlformats.org/markup-compatibility/2006">
              <mc:Choice xmlns:v="urn:schemas-microsoft-com:vml" Requires="v">
                <p:oleObj name="Equation" r:id="rId25" imgW="1714320" imgH="228600" progId="Equation.DSMT4">
                  <p:embed/>
                </p:oleObj>
              </mc:Choice>
              <mc:Fallback>
                <p:oleObj name="Equation" r:id="rId25" imgW="1714320" imgH="228600" progId="Equation.DSMT4">
                  <p:embed/>
                  <p:pic>
                    <p:nvPicPr>
                      <p:cNvPr id="24" name="Object 23">
                        <a:extLst>
                          <a:ext uri="{FF2B5EF4-FFF2-40B4-BE49-F238E27FC236}">
                            <a16:creationId xmlns:a16="http://schemas.microsoft.com/office/drawing/2014/main" id="{BE0E00B8-002A-A824-5064-1E68C4EB19DA}"/>
                          </a:ext>
                        </a:extLst>
                      </p:cNvPr>
                      <p:cNvPicPr>
                        <a:picLocks noChangeAspect="1" noChangeArrowheads="1"/>
                      </p:cNvPicPr>
                      <p:nvPr/>
                    </p:nvPicPr>
                    <p:blipFill>
                      <a:blip r:embed="rId26"/>
                      <a:srcRect/>
                      <a:stretch>
                        <a:fillRect/>
                      </a:stretch>
                    </p:blipFill>
                    <p:spPr bwMode="auto">
                      <a:xfrm>
                        <a:off x="4897953" y="5011680"/>
                        <a:ext cx="2519362"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Object 27" descr="p subscript 10 BaseLine equals OpenParenthesis 8 CloseParenthesis squared multiplied by OpenParenthesis 10 CloseParenthesis equals 640 Watts;">
            <a:extLst>
              <a:ext uri="{FF2B5EF4-FFF2-40B4-BE49-F238E27FC236}">
                <a16:creationId xmlns:a16="http://schemas.microsoft.com/office/drawing/2014/main" id="{E1708B1D-44C9-1DAE-34EC-160ABDB10653}"/>
              </a:ext>
            </a:extLst>
          </p:cNvPr>
          <p:cNvGraphicFramePr>
            <a:graphicFrameLocks noChangeAspect="1"/>
          </p:cNvGraphicFramePr>
          <p:nvPr>
            <p:extLst>
              <p:ext uri="{D42A27DB-BD31-4B8C-83A1-F6EECF244321}">
                <p14:modId xmlns:p14="http://schemas.microsoft.com/office/powerpoint/2010/main" val="967319353"/>
              </p:ext>
            </p:extLst>
          </p:nvPr>
        </p:nvGraphicFramePr>
        <p:xfrm>
          <a:off x="2144462" y="5374035"/>
          <a:ext cx="2351087" cy="349250"/>
        </p:xfrm>
        <a:graphic>
          <a:graphicData uri="http://schemas.openxmlformats.org/presentationml/2006/ole">
            <mc:AlternateContent xmlns:mc="http://schemas.openxmlformats.org/markup-compatibility/2006">
              <mc:Choice xmlns:v="urn:schemas-microsoft-com:vml" Requires="v">
                <p:oleObj name="Equation" r:id="rId27" imgW="1600200" imgH="241200" progId="Equation.DSMT4">
                  <p:embed/>
                </p:oleObj>
              </mc:Choice>
              <mc:Fallback>
                <p:oleObj name="Equation" r:id="rId27" imgW="1600200" imgH="241200" progId="Equation.DSMT4">
                  <p:embed/>
                  <p:pic>
                    <p:nvPicPr>
                      <p:cNvPr id="27" name="Object 26">
                        <a:extLst>
                          <a:ext uri="{FF2B5EF4-FFF2-40B4-BE49-F238E27FC236}">
                            <a16:creationId xmlns:a16="http://schemas.microsoft.com/office/drawing/2014/main" id="{B6F929CE-EA75-72FA-C9D9-C7C5D6F857B5}"/>
                          </a:ext>
                        </a:extLst>
                      </p:cNvPr>
                      <p:cNvPicPr>
                        <a:picLocks noChangeAspect="1" noChangeArrowheads="1"/>
                      </p:cNvPicPr>
                      <p:nvPr/>
                    </p:nvPicPr>
                    <p:blipFill>
                      <a:blip r:embed="rId28"/>
                      <a:srcRect/>
                      <a:stretch>
                        <a:fillRect/>
                      </a:stretch>
                    </p:blipFill>
                    <p:spPr bwMode="auto">
                      <a:xfrm>
                        <a:off x="2144462" y="5374035"/>
                        <a:ext cx="2351087" cy="349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Object 28" descr="p subscript 100 BaseLine equals 20 squared divided by 100 equals 4 Watts.">
            <a:extLst>
              <a:ext uri="{FF2B5EF4-FFF2-40B4-BE49-F238E27FC236}">
                <a16:creationId xmlns:a16="http://schemas.microsoft.com/office/drawing/2014/main" id="{B1D1B06D-B9A3-896C-B858-CF31DA5F4526}"/>
              </a:ext>
            </a:extLst>
          </p:cNvPr>
          <p:cNvGraphicFramePr>
            <a:graphicFrameLocks noChangeAspect="1"/>
          </p:cNvGraphicFramePr>
          <p:nvPr>
            <p:extLst>
              <p:ext uri="{D42A27DB-BD31-4B8C-83A1-F6EECF244321}">
                <p14:modId xmlns:p14="http://schemas.microsoft.com/office/powerpoint/2010/main" val="1096752604"/>
              </p:ext>
            </p:extLst>
          </p:nvPr>
        </p:nvGraphicFramePr>
        <p:xfrm>
          <a:off x="4575640" y="5371817"/>
          <a:ext cx="2165350" cy="349250"/>
        </p:xfrm>
        <a:graphic>
          <a:graphicData uri="http://schemas.openxmlformats.org/presentationml/2006/ole">
            <mc:AlternateContent xmlns:mc="http://schemas.openxmlformats.org/markup-compatibility/2006">
              <mc:Choice xmlns:v="urn:schemas-microsoft-com:vml" Requires="v">
                <p:oleObj name="Equation" r:id="rId29" imgW="1473120" imgH="241200" progId="Equation.DSMT4">
                  <p:embed/>
                </p:oleObj>
              </mc:Choice>
              <mc:Fallback>
                <p:oleObj name="Equation" r:id="rId29" imgW="1473120" imgH="241200" progId="Equation.DSMT4">
                  <p:embed/>
                  <p:pic>
                    <p:nvPicPr>
                      <p:cNvPr id="28" name="Object 27">
                        <a:extLst>
                          <a:ext uri="{FF2B5EF4-FFF2-40B4-BE49-F238E27FC236}">
                            <a16:creationId xmlns:a16="http://schemas.microsoft.com/office/drawing/2014/main" id="{E1708B1D-44C9-1DAE-34EC-160ABDB10653}"/>
                          </a:ext>
                        </a:extLst>
                      </p:cNvPr>
                      <p:cNvPicPr>
                        <a:picLocks noChangeAspect="1" noChangeArrowheads="1"/>
                      </p:cNvPicPr>
                      <p:nvPr/>
                    </p:nvPicPr>
                    <p:blipFill>
                      <a:blip r:embed="rId30"/>
                      <a:srcRect/>
                      <a:stretch>
                        <a:fillRect/>
                      </a:stretch>
                    </p:blipFill>
                    <p:spPr bwMode="auto">
                      <a:xfrm>
                        <a:off x="4575640" y="5371817"/>
                        <a:ext cx="2165350" cy="349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 name="Object 29" descr="p subscript 5 BaseLine equals OpenParenthesis 5 CloseParenthesis squared divided by OpenParenthesis 5 CloseParenthesis equals 5 Watts;">
            <a:extLst>
              <a:ext uri="{FF2B5EF4-FFF2-40B4-BE49-F238E27FC236}">
                <a16:creationId xmlns:a16="http://schemas.microsoft.com/office/drawing/2014/main" id="{8F0F5D67-B128-52E6-CED3-4694A8705665}"/>
              </a:ext>
            </a:extLst>
          </p:cNvPr>
          <p:cNvGraphicFramePr>
            <a:graphicFrameLocks noChangeAspect="1"/>
          </p:cNvGraphicFramePr>
          <p:nvPr>
            <p:extLst>
              <p:ext uri="{D42A27DB-BD31-4B8C-83A1-F6EECF244321}">
                <p14:modId xmlns:p14="http://schemas.microsoft.com/office/powerpoint/2010/main" val="298950616"/>
              </p:ext>
            </p:extLst>
          </p:nvPr>
        </p:nvGraphicFramePr>
        <p:xfrm>
          <a:off x="2141298" y="5747806"/>
          <a:ext cx="2016125" cy="349250"/>
        </p:xfrm>
        <a:graphic>
          <a:graphicData uri="http://schemas.openxmlformats.org/presentationml/2006/ole">
            <mc:AlternateContent xmlns:mc="http://schemas.openxmlformats.org/markup-compatibility/2006">
              <mc:Choice xmlns:v="urn:schemas-microsoft-com:vml" Requires="v">
                <p:oleObj name="Equation" r:id="rId31" imgW="1371600" imgH="241200" progId="Equation.DSMT4">
                  <p:embed/>
                </p:oleObj>
              </mc:Choice>
              <mc:Fallback>
                <p:oleObj name="Equation" r:id="rId31" imgW="1371600" imgH="241200" progId="Equation.DSMT4">
                  <p:embed/>
                  <p:pic>
                    <p:nvPicPr>
                      <p:cNvPr id="29" name="Object 28">
                        <a:extLst>
                          <a:ext uri="{FF2B5EF4-FFF2-40B4-BE49-F238E27FC236}">
                            <a16:creationId xmlns:a16="http://schemas.microsoft.com/office/drawing/2014/main" id="{B1D1B06D-B9A3-896C-B858-CF31DA5F4526}"/>
                          </a:ext>
                        </a:extLst>
                      </p:cNvPr>
                      <p:cNvPicPr>
                        <a:picLocks noChangeAspect="1" noChangeArrowheads="1"/>
                      </p:cNvPicPr>
                      <p:nvPr/>
                    </p:nvPicPr>
                    <p:blipFill>
                      <a:blip r:embed="rId32"/>
                      <a:srcRect/>
                      <a:stretch>
                        <a:fillRect/>
                      </a:stretch>
                    </p:blipFill>
                    <p:spPr bwMode="auto">
                      <a:xfrm>
                        <a:off x="2141298" y="5747806"/>
                        <a:ext cx="2016125" cy="349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 name="Object 30" descr="p subscript 15 BaseLine equals 15 squared divided by 15 equals 15 Watts.">
            <a:extLst>
              <a:ext uri="{FF2B5EF4-FFF2-40B4-BE49-F238E27FC236}">
                <a16:creationId xmlns:a16="http://schemas.microsoft.com/office/drawing/2014/main" id="{5274F642-A407-1D1D-3F1F-81EBDA57B423}"/>
              </a:ext>
            </a:extLst>
          </p:cNvPr>
          <p:cNvGraphicFramePr>
            <a:graphicFrameLocks noChangeAspect="1"/>
          </p:cNvGraphicFramePr>
          <p:nvPr>
            <p:extLst>
              <p:ext uri="{D42A27DB-BD31-4B8C-83A1-F6EECF244321}">
                <p14:modId xmlns:p14="http://schemas.microsoft.com/office/powerpoint/2010/main" val="2242111228"/>
              </p:ext>
            </p:extLst>
          </p:nvPr>
        </p:nvGraphicFramePr>
        <p:xfrm>
          <a:off x="4232036" y="5747806"/>
          <a:ext cx="2052638" cy="349250"/>
        </p:xfrm>
        <a:graphic>
          <a:graphicData uri="http://schemas.openxmlformats.org/presentationml/2006/ole">
            <mc:AlternateContent xmlns:mc="http://schemas.openxmlformats.org/markup-compatibility/2006">
              <mc:Choice xmlns:v="urn:schemas-microsoft-com:vml" Requires="v">
                <p:oleObj name="Equation" r:id="rId33" imgW="1396800" imgH="241200" progId="Equation.DSMT4">
                  <p:embed/>
                </p:oleObj>
              </mc:Choice>
              <mc:Fallback>
                <p:oleObj name="Equation" r:id="rId33" imgW="1396800" imgH="241200" progId="Equation.DSMT4">
                  <p:embed/>
                  <p:pic>
                    <p:nvPicPr>
                      <p:cNvPr id="30" name="Object 29">
                        <a:extLst>
                          <a:ext uri="{FF2B5EF4-FFF2-40B4-BE49-F238E27FC236}">
                            <a16:creationId xmlns:a16="http://schemas.microsoft.com/office/drawing/2014/main" id="{8F0F5D67-B128-52E6-CED3-4694A8705665}"/>
                          </a:ext>
                        </a:extLst>
                      </p:cNvPr>
                      <p:cNvPicPr>
                        <a:picLocks noChangeAspect="1" noChangeArrowheads="1"/>
                      </p:cNvPicPr>
                      <p:nvPr/>
                    </p:nvPicPr>
                    <p:blipFill>
                      <a:blip r:embed="rId34"/>
                      <a:srcRect/>
                      <a:stretch>
                        <a:fillRect/>
                      </a:stretch>
                    </p:blipFill>
                    <p:spPr bwMode="auto">
                      <a:xfrm>
                        <a:off x="4232036" y="5747806"/>
                        <a:ext cx="2052638" cy="349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 name="Object 31" descr="Negative 2800 plus 500 plus 2116 minus 480 plus 640 plus 4 plus 5 plus 15 equals 0.">
            <a:extLst>
              <a:ext uri="{FF2B5EF4-FFF2-40B4-BE49-F238E27FC236}">
                <a16:creationId xmlns:a16="http://schemas.microsoft.com/office/drawing/2014/main" id="{5540C2AD-ACC3-7EB7-CC05-CE1EC042BBE6}"/>
              </a:ext>
            </a:extLst>
          </p:cNvPr>
          <p:cNvGraphicFramePr>
            <a:graphicFrameLocks noChangeAspect="1"/>
          </p:cNvGraphicFramePr>
          <p:nvPr>
            <p:extLst>
              <p:ext uri="{D42A27DB-BD31-4B8C-83A1-F6EECF244321}">
                <p14:modId xmlns:p14="http://schemas.microsoft.com/office/powerpoint/2010/main" val="3126164101"/>
              </p:ext>
            </p:extLst>
          </p:nvPr>
        </p:nvGraphicFramePr>
        <p:xfrm>
          <a:off x="2147934" y="6131578"/>
          <a:ext cx="5056188" cy="293687"/>
        </p:xfrm>
        <a:graphic>
          <a:graphicData uri="http://schemas.openxmlformats.org/presentationml/2006/ole">
            <mc:AlternateContent xmlns:mc="http://schemas.openxmlformats.org/markup-compatibility/2006">
              <mc:Choice xmlns:v="urn:schemas-microsoft-com:vml" Requires="v">
                <p:oleObj name="Equation" r:id="rId35" imgW="3441600" imgH="203040" progId="Equation.DSMT4">
                  <p:embed/>
                </p:oleObj>
              </mc:Choice>
              <mc:Fallback>
                <p:oleObj name="Equation" r:id="rId35" imgW="3441600" imgH="203040" progId="Equation.DSMT4">
                  <p:embed/>
                  <p:pic>
                    <p:nvPicPr>
                      <p:cNvPr id="31" name="Object 30">
                        <a:extLst>
                          <a:ext uri="{FF2B5EF4-FFF2-40B4-BE49-F238E27FC236}">
                            <a16:creationId xmlns:a16="http://schemas.microsoft.com/office/drawing/2014/main" id="{5274F642-A407-1D1D-3F1F-81EBDA57B423}"/>
                          </a:ext>
                        </a:extLst>
                      </p:cNvPr>
                      <p:cNvPicPr>
                        <a:picLocks noChangeAspect="1" noChangeArrowheads="1"/>
                      </p:cNvPicPr>
                      <p:nvPr/>
                    </p:nvPicPr>
                    <p:blipFill>
                      <a:blip r:embed="rId36"/>
                      <a:srcRect/>
                      <a:stretch>
                        <a:fillRect/>
                      </a:stretch>
                    </p:blipFill>
                    <p:spPr bwMode="auto">
                      <a:xfrm>
                        <a:off x="2147934" y="6131578"/>
                        <a:ext cx="5056188" cy="293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65487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30704" y="219029"/>
            <a:ext cx="8240665" cy="590349"/>
          </a:xfrm>
        </p:spPr>
        <p:txBody>
          <a:bodyPr wrap="square" lIns="0" tIns="18000" rIns="0" bIns="18000" rtlCol="0" anchor="ctr">
            <a:spAutoFit/>
          </a:bodyPr>
          <a:lstStyle/>
          <a:p>
            <a:pPr eaLnBrk="1" fontAlgn="auto" hangingPunct="1">
              <a:spcAft>
                <a:spcPts val="0"/>
              </a:spcAft>
              <a:defRPr/>
            </a:pPr>
            <a:r>
              <a:rPr lang="en-US" sz="3600" noProof="0" dirty="0">
                <a:latin typeface="+mj-lt"/>
              </a:rPr>
              <a:t>Copyright</a:t>
            </a:r>
            <a:endParaRPr lang="en-US" sz="3600" b="0" noProof="0" dirty="0">
              <a:latin typeface="+mj-lt"/>
            </a:endParaRPr>
          </a:p>
        </p:txBody>
      </p:sp>
      <p:pic>
        <p:nvPicPr>
          <p:cNvPr id="3" name="Graphic 2" descr="Warning">
            <a:extLst>
              <a:ext uri="{FF2B5EF4-FFF2-40B4-BE49-F238E27FC236}">
                <a16:creationId xmlns:a16="http://schemas.microsoft.com/office/drawing/2014/main" id="{45663BD5-7D18-BDA4-9C4E-DA879AC102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9831" y="2317359"/>
            <a:ext cx="1277815" cy="1434026"/>
          </a:xfrm>
          <a:prstGeom prst="rect">
            <a:avLst/>
          </a:prstGeom>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1851965" y="1889826"/>
            <a:ext cx="6810440" cy="2832998"/>
          </a:xfrm>
          <a:ln w="28575">
            <a:solidFill>
              <a:schemeClr val="tx1"/>
            </a:solidFill>
            <a:miter lim="800000"/>
            <a:headEnd/>
            <a:tailEnd/>
          </a:ln>
        </p:spPr>
        <p:txBody>
          <a:bodyPr wrap="square" lIns="183600" tIns="183600" rIns="183600" bIns="183600" numCol="1" anchor="ctr" anchorCtr="0" compatLnSpc="1">
            <a:prstTxWarp prst="textNoShape">
              <a:avLst/>
            </a:prstTxWarp>
            <a:spAutoFit/>
          </a:bodyPr>
          <a:lstStyle/>
          <a:p>
            <a:pPr marL="0" indent="0" eaLnBrk="1" hangingPunct="1">
              <a:buFont typeface="Arial" panose="020B0604020202020204" pitchFamily="34" charset="0"/>
              <a:buNone/>
            </a:pPr>
            <a:r>
              <a:rPr lang="en-US" altLang="en-US" b="1" noProof="0" dirty="0">
                <a:latin typeface="Arial" panose="020B0604020202020204" pitchFamily="34" charset="0"/>
                <a:cs typeface="Arial" panose="020B0604020202020204" pitchFamily="34" charset="0"/>
              </a:rPr>
              <a:t>This work is protected by United Kingdom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693870804"/>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1103</TotalTime>
  <Words>1436</Words>
  <Application>Microsoft Office PowerPoint</Application>
  <PresentationFormat>On-screen Show (4:3)</PresentationFormat>
  <Paragraphs>121</Paragraphs>
  <Slides>17</Slides>
  <Notes>5</Notes>
  <HiddenSlides>0</HiddenSlides>
  <MMClips>0</MMClips>
  <ScaleCrop>false</ScaleCrop>
  <HeadingPairs>
    <vt:vector size="8" baseType="variant">
      <vt:variant>
        <vt:lpstr>Fonts Used</vt:lpstr>
      </vt:variant>
      <vt:variant>
        <vt:i4>3</vt:i4>
      </vt:variant>
      <vt:variant>
        <vt:lpstr>Theme</vt:lpstr>
      </vt:variant>
      <vt:variant>
        <vt:i4>2</vt:i4>
      </vt:variant>
      <vt:variant>
        <vt:lpstr>Embedded OLE Servers</vt:lpstr>
      </vt:variant>
      <vt:variant>
        <vt:i4>1</vt:i4>
      </vt:variant>
      <vt:variant>
        <vt:lpstr>Slide Titles</vt:lpstr>
      </vt:variant>
      <vt:variant>
        <vt:i4>17</vt:i4>
      </vt:variant>
    </vt:vector>
  </HeadingPairs>
  <TitlesOfParts>
    <vt:vector size="23" baseType="lpstr">
      <vt:lpstr>Verdana</vt:lpstr>
      <vt:lpstr>Arial</vt:lpstr>
      <vt:lpstr>Times New Roman</vt:lpstr>
      <vt:lpstr>USHE</vt:lpstr>
      <vt:lpstr>USHE_slide options</vt:lpstr>
      <vt:lpstr>Equation</vt:lpstr>
      <vt:lpstr>Electric Circuits</vt:lpstr>
      <vt:lpstr>Student discipline regulations of higher education institutions</vt:lpstr>
      <vt:lpstr>PowerPoint Presentation</vt:lpstr>
      <vt:lpstr>Chapter 4 – techniques of circuit analysis (1 of 14)</vt:lpstr>
      <vt:lpstr>Chapter 4 – techniques of circuit analysis (2 of 14)</vt:lpstr>
      <vt:lpstr>Chapter 4 – techniques of circuit analysis (3 of 14)</vt:lpstr>
      <vt:lpstr>Chapter 4 – techniques of circuit analysis (4 of 14)</vt:lpstr>
      <vt:lpstr>Chapter 4 – techniques of circuit analysis (5 of 14)</vt:lpstr>
      <vt:lpstr>Chapter 4 – techniques of circuit analysis (6 of 14)</vt:lpstr>
      <vt:lpstr>Chapter 4 – techniques of circuit analysis (7 of 14)</vt:lpstr>
      <vt:lpstr>Chapter 4 – techniques of circuit analysis (8 of 14)</vt:lpstr>
      <vt:lpstr>Chapter 4 – techniques of circuit analysis (9 of 14)</vt:lpstr>
      <vt:lpstr>Chapter 4 – techniques of circuit analysis (10 of 14)</vt:lpstr>
      <vt:lpstr>Chapter 4 – techniques of circuit analysis (12 of 14)</vt:lpstr>
      <vt:lpstr>Chapter 4 – techniques of circuit analysis (13 of 14)</vt:lpstr>
      <vt:lpstr>Chapter 4 – techniques of circuit analysis (14 of 14)</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Twelfth Edition, Chapter 4 – Part 5</dc:title>
  <dc:subject>Engineering</dc:subject>
  <dc:creator>Nilsson and Riedel</dc:creator>
  <cp:keywords/>
  <dc:description/>
  <cp:lastModifiedBy>kml erd</cp:lastModifiedBy>
  <cp:revision>69</cp:revision>
  <dcterms:modified xsi:type="dcterms:W3CDTF">2025-10-27T11:03:40Z</dcterms:modified>
</cp:coreProperties>
</file>