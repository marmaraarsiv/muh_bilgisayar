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38"/>
  </p:notesMasterIdLst>
  <p:handoutMasterIdLst>
    <p:handoutMasterId r:id="rId39"/>
  </p:handoutMasterIdLst>
  <p:sldIdLst>
    <p:sldId id="330" r:id="rId3"/>
    <p:sldId id="721" r:id="rId4"/>
    <p:sldId id="750" r:id="rId5"/>
    <p:sldId id="718" r:id="rId6"/>
    <p:sldId id="751" r:id="rId7"/>
    <p:sldId id="723" r:id="rId8"/>
    <p:sldId id="752" r:id="rId9"/>
    <p:sldId id="724" r:id="rId10"/>
    <p:sldId id="753" r:id="rId11"/>
    <p:sldId id="725" r:id="rId12"/>
    <p:sldId id="726" r:id="rId13"/>
    <p:sldId id="727" r:id="rId14"/>
    <p:sldId id="754" r:id="rId15"/>
    <p:sldId id="728" r:id="rId16"/>
    <p:sldId id="731" r:id="rId17"/>
    <p:sldId id="732" r:id="rId18"/>
    <p:sldId id="733" r:id="rId19"/>
    <p:sldId id="734" r:id="rId20"/>
    <p:sldId id="755" r:id="rId21"/>
    <p:sldId id="735" r:id="rId22"/>
    <p:sldId id="736" r:id="rId23"/>
    <p:sldId id="737" r:id="rId24"/>
    <p:sldId id="742" r:id="rId25"/>
    <p:sldId id="743" r:id="rId26"/>
    <p:sldId id="741" r:id="rId27"/>
    <p:sldId id="756" r:id="rId28"/>
    <p:sldId id="744" r:id="rId29"/>
    <p:sldId id="757" r:id="rId30"/>
    <p:sldId id="745" r:id="rId31"/>
    <p:sldId id="758" r:id="rId32"/>
    <p:sldId id="746" r:id="rId33"/>
    <p:sldId id="759" r:id="rId34"/>
    <p:sldId id="747" r:id="rId35"/>
    <p:sldId id="748" r:id="rId36"/>
    <p:sldId id="717" r:id="rId37"/>
  </p:sldIdLst>
  <p:sldSz cx="9144000" cy="6858000" type="screen4x3"/>
  <p:notesSz cx="6858000" cy="9144000"/>
  <p:embeddedFontLst>
    <p:embeddedFont>
      <p:font typeface="Verdana" panose="020B060403050404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72" userDrawn="1">
          <p15:clr>
            <a:srgbClr val="A4A3A4"/>
          </p15:clr>
        </p15:guide>
        <p15:guide id="3" orient="horz" pos="777" userDrawn="1">
          <p15:clr>
            <a:srgbClr val="A4A3A4"/>
          </p15:clr>
        </p15:guide>
        <p15:guide id="4" pos="680" userDrawn="1">
          <p15:clr>
            <a:srgbClr val="A4A3A4"/>
          </p15:clr>
        </p15:guide>
        <p15:guide id="5" pos="5462" userDrawn="1">
          <p15:clr>
            <a:srgbClr val="A4A3A4"/>
          </p15:clr>
        </p15:guide>
        <p15:guide id="6" orient="horz" pos="4042" userDrawn="1">
          <p15:clr>
            <a:srgbClr val="A4A3A4"/>
          </p15:clr>
        </p15:guide>
        <p15:guide id="7" orient="horz" pos="1207" userDrawn="1">
          <p15:clr>
            <a:srgbClr val="A4A3A4"/>
          </p15:clr>
        </p15:guide>
        <p15:guide id="8" pos="3560" userDrawn="1">
          <p15:clr>
            <a:srgbClr val="A4A3A4"/>
          </p15:clr>
        </p15:guide>
        <p15:guide id="9" pos="907" userDrawn="1">
          <p15:clr>
            <a:srgbClr val="A4A3A4"/>
          </p15:clr>
        </p15:guide>
        <p15:guide id="10" pos="1156" userDrawn="1">
          <p15:clr>
            <a:srgbClr val="A4A3A4"/>
          </p15:clr>
        </p15:guide>
        <p15:guide id="11" orient="horz" pos="2251" userDrawn="1">
          <p15:clr>
            <a:srgbClr val="A4A3A4"/>
          </p15:clr>
        </p15:guide>
        <p15:guide id="12" orient="horz" pos="272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96" autoAdjust="0"/>
    <p:restoredTop sz="72164" autoAdjust="0"/>
  </p:normalViewPr>
  <p:slideViewPr>
    <p:cSldViewPr snapToGrid="0" snapToObjects="1">
      <p:cViewPr varScale="1">
        <p:scale>
          <a:sx n="107" d="100"/>
          <a:sy n="107" d="100"/>
        </p:scale>
        <p:origin x="1896" y="102"/>
      </p:cViewPr>
      <p:guideLst>
        <p:guide orient="horz" pos="427"/>
        <p:guide pos="272"/>
        <p:guide orient="horz" pos="777"/>
        <p:guide pos="680"/>
        <p:guide pos="5462"/>
        <p:guide orient="horz" pos="4042"/>
        <p:guide orient="horz" pos="1207"/>
        <p:guide pos="3560"/>
        <p:guide pos="907"/>
        <p:guide pos="1156"/>
        <p:guide orient="horz" pos="2251"/>
        <p:guide orient="horz" pos="2727"/>
      </p:guideLst>
    </p:cSldViewPr>
  </p:slideViewPr>
  <p:outlineViewPr>
    <p:cViewPr>
      <p:scale>
        <a:sx n="33" d="100"/>
        <a:sy n="33" d="100"/>
      </p:scale>
      <p:origin x="0" y="-15000"/>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3.fntdata"/><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1.fntdata"/><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4.fntdata"/><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12/23/2025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a:t>
            </a:r>
          </a:p>
          <a:p>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(t) equals Start Fraction negative V subscript m baseline over </a:t>
            </a:r>
            <a:r>
              <a:rPr lang="en-US" sz="1200" b="0" i="0" u="none" strike="noStrike" dirty="0" err="1">
                <a:solidFill>
                  <a:srgbClr val="000000"/>
                </a:solidFill>
                <a:effectLst/>
                <a:latin typeface="Arial" panose="020B0604020202020204" pitchFamily="34" charset="0"/>
                <a:cs typeface="Arial" panose="020B0604020202020204" pitchFamily="34" charset="0"/>
              </a:rPr>
              <a:t>StartRoot</a:t>
            </a:r>
            <a:r>
              <a:rPr lang="en-US" sz="1200" b="0" i="0" u="none" strike="noStrike" dirty="0">
                <a:solidFill>
                  <a:srgbClr val="000000"/>
                </a:solidFill>
                <a:effectLst/>
                <a:latin typeface="Arial" panose="020B0604020202020204" pitchFamily="34" charset="0"/>
                <a:cs typeface="Arial" panose="020B0604020202020204" pitchFamily="34" charset="0"/>
              </a:rPr>
              <a:t> R squared plus (omega L) squared </a:t>
            </a:r>
            <a:r>
              <a:rPr lang="en-US" sz="1200" b="0" i="0" u="none" strike="noStrike" dirty="0" err="1">
                <a:solidFill>
                  <a:srgbClr val="000000"/>
                </a:solidFill>
                <a:effectLst/>
                <a:latin typeface="Arial" panose="020B0604020202020204" pitchFamily="34" charset="0"/>
                <a:cs typeface="Arial" panose="020B0604020202020204" pitchFamily="34" charset="0"/>
              </a:rPr>
              <a:t>EndRoot</a:t>
            </a:r>
            <a:r>
              <a:rPr lang="en-US" sz="1200" b="0" i="0" u="none" strike="noStrike" dirty="0">
                <a:solidFill>
                  <a:srgbClr val="000000"/>
                </a:solidFill>
                <a:effectLst/>
                <a:latin typeface="Arial" panose="020B0604020202020204" pitchFamily="34" charset="0"/>
                <a:cs typeface="Arial" panose="020B0604020202020204" pitchFamily="34" charset="0"/>
              </a:rPr>
              <a:t> End Fraction cosine Open Parenthesis phi minus theta Close Parenthesis e to the negative Open Parenthesis R divided by L Close Parenthesis t power plus Start Fraction negative V subscript m baseline over </a:t>
            </a:r>
            <a:r>
              <a:rPr lang="en-US" sz="1200" b="0" i="0" u="none" strike="noStrike" dirty="0" err="1">
                <a:solidFill>
                  <a:srgbClr val="000000"/>
                </a:solidFill>
                <a:effectLst/>
                <a:latin typeface="Arial" panose="020B0604020202020204" pitchFamily="34" charset="0"/>
                <a:cs typeface="Arial" panose="020B0604020202020204" pitchFamily="34" charset="0"/>
              </a:rPr>
              <a:t>StartRoot</a:t>
            </a:r>
            <a:r>
              <a:rPr lang="en-US" sz="1200" b="0" i="0" u="none" strike="noStrike" dirty="0">
                <a:solidFill>
                  <a:srgbClr val="000000"/>
                </a:solidFill>
                <a:effectLst/>
                <a:latin typeface="Arial" panose="020B0604020202020204" pitchFamily="34" charset="0"/>
                <a:cs typeface="Arial" panose="020B0604020202020204" pitchFamily="34" charset="0"/>
              </a:rPr>
              <a:t> R squared plus (omega L) squared </a:t>
            </a:r>
            <a:r>
              <a:rPr lang="en-US" sz="1200" b="0" i="0" u="none" strike="noStrike" dirty="0" err="1">
                <a:solidFill>
                  <a:srgbClr val="000000"/>
                </a:solidFill>
                <a:effectLst/>
                <a:latin typeface="Arial" panose="020B0604020202020204" pitchFamily="34" charset="0"/>
                <a:cs typeface="Arial" panose="020B0604020202020204" pitchFamily="34" charset="0"/>
              </a:rPr>
              <a:t>EndRoot</a:t>
            </a:r>
            <a:r>
              <a:rPr lang="en-US" sz="1200" b="0" i="0" u="none" strike="noStrike" dirty="0">
                <a:solidFill>
                  <a:srgbClr val="000000"/>
                </a:solidFill>
                <a:effectLst/>
                <a:latin typeface="Arial" panose="020B0604020202020204" pitchFamily="34" charset="0"/>
                <a:cs typeface="Arial" panose="020B0604020202020204" pitchFamily="34" charset="0"/>
              </a:rPr>
              <a:t> End Fraction cosine Open Parenthesis omega t plus phi minus theta Close Parenthesis.</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11115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a:t>
            </a:r>
          </a:p>
          <a:p>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(t) equals Start Fraction negative V subscript m baseline over </a:t>
            </a:r>
            <a:r>
              <a:rPr lang="en-US" sz="1200" b="0" i="0" u="none" strike="noStrike" dirty="0" err="1">
                <a:solidFill>
                  <a:srgbClr val="000000"/>
                </a:solidFill>
                <a:effectLst/>
                <a:latin typeface="Arial" panose="020B0604020202020204" pitchFamily="34" charset="0"/>
                <a:cs typeface="Arial" panose="020B0604020202020204" pitchFamily="34" charset="0"/>
              </a:rPr>
              <a:t>StartRoot</a:t>
            </a:r>
            <a:r>
              <a:rPr lang="en-US" sz="1200" b="0" i="0" u="none" strike="noStrike" dirty="0">
                <a:solidFill>
                  <a:srgbClr val="000000"/>
                </a:solidFill>
                <a:effectLst/>
                <a:latin typeface="Arial" panose="020B0604020202020204" pitchFamily="34" charset="0"/>
                <a:cs typeface="Arial" panose="020B0604020202020204" pitchFamily="34" charset="0"/>
              </a:rPr>
              <a:t> R squared plus (omega L) squared </a:t>
            </a:r>
            <a:r>
              <a:rPr lang="en-US" sz="1200" b="0" i="0" u="none" strike="noStrike" dirty="0" err="1">
                <a:solidFill>
                  <a:srgbClr val="000000"/>
                </a:solidFill>
                <a:effectLst/>
                <a:latin typeface="Arial" panose="020B0604020202020204" pitchFamily="34" charset="0"/>
                <a:cs typeface="Arial" panose="020B0604020202020204" pitchFamily="34" charset="0"/>
              </a:rPr>
              <a:t>EndRoot</a:t>
            </a:r>
            <a:r>
              <a:rPr lang="en-US" sz="1200" b="0" i="0" u="none" strike="noStrike" dirty="0">
                <a:solidFill>
                  <a:srgbClr val="000000"/>
                </a:solidFill>
                <a:effectLst/>
                <a:latin typeface="Arial" panose="020B0604020202020204" pitchFamily="34" charset="0"/>
                <a:cs typeface="Arial" panose="020B0604020202020204" pitchFamily="34" charset="0"/>
              </a:rPr>
              <a:t> End Fraction cosine Open Parenthesis phi minus theta Close Parenthesis e to the negative Open Parenthesis R divided by L Close Parenthesis t power plus Start Fraction negative V subscript m baseline over </a:t>
            </a:r>
            <a:r>
              <a:rPr lang="en-US" sz="1200" b="0" i="0" u="none" strike="noStrike" dirty="0" err="1">
                <a:solidFill>
                  <a:srgbClr val="000000"/>
                </a:solidFill>
                <a:effectLst/>
                <a:latin typeface="Arial" panose="020B0604020202020204" pitchFamily="34" charset="0"/>
                <a:cs typeface="Arial" panose="020B0604020202020204" pitchFamily="34" charset="0"/>
              </a:rPr>
              <a:t>StartRoot</a:t>
            </a:r>
            <a:r>
              <a:rPr lang="en-US" sz="1200" b="0" i="0" u="none" strike="noStrike" dirty="0">
                <a:solidFill>
                  <a:srgbClr val="000000"/>
                </a:solidFill>
                <a:effectLst/>
                <a:latin typeface="Arial" panose="020B0604020202020204" pitchFamily="34" charset="0"/>
                <a:cs typeface="Arial" panose="020B0604020202020204" pitchFamily="34" charset="0"/>
              </a:rPr>
              <a:t> R squared plus (omega L) squared </a:t>
            </a:r>
            <a:r>
              <a:rPr lang="en-US" sz="1200" b="0" i="0" u="none" strike="noStrike" dirty="0" err="1">
                <a:solidFill>
                  <a:srgbClr val="000000"/>
                </a:solidFill>
                <a:effectLst/>
                <a:latin typeface="Arial" panose="020B0604020202020204" pitchFamily="34" charset="0"/>
                <a:cs typeface="Arial" panose="020B0604020202020204" pitchFamily="34" charset="0"/>
              </a:rPr>
              <a:t>EndRoot</a:t>
            </a:r>
            <a:r>
              <a:rPr lang="en-US" sz="1200" b="0" i="0" u="none" strike="noStrike" dirty="0">
                <a:solidFill>
                  <a:srgbClr val="000000"/>
                </a:solidFill>
                <a:effectLst/>
                <a:latin typeface="Arial" panose="020B0604020202020204" pitchFamily="34" charset="0"/>
                <a:cs typeface="Arial" panose="020B0604020202020204" pitchFamily="34" charset="0"/>
              </a:rPr>
              <a:t> End Fraction cosine Open Parenthesis omega t plus phi minus theta Close Parenthesis.</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22176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52E19-0B1C-3DF0-32B2-5796FB61EE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D273C-EF3F-1CD6-2825-499AC7692C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D00539-08BB-F8B6-0EAF-0160E1827732}"/>
              </a:ext>
            </a:extLst>
          </p:cNvPr>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a:t>
            </a:r>
          </a:p>
          <a:p>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(t) equals Start Fraction negative V subscript m baseline over </a:t>
            </a:r>
            <a:r>
              <a:rPr lang="en-US" sz="1200" b="0" i="0" u="none" strike="noStrike" dirty="0" err="1">
                <a:solidFill>
                  <a:srgbClr val="000000"/>
                </a:solidFill>
                <a:effectLst/>
                <a:latin typeface="Arial" panose="020B0604020202020204" pitchFamily="34" charset="0"/>
                <a:cs typeface="Arial" panose="020B0604020202020204" pitchFamily="34" charset="0"/>
              </a:rPr>
              <a:t>StartRoot</a:t>
            </a:r>
            <a:r>
              <a:rPr lang="en-US" sz="1200" b="0" i="0" u="none" strike="noStrike" dirty="0">
                <a:solidFill>
                  <a:srgbClr val="000000"/>
                </a:solidFill>
                <a:effectLst/>
                <a:latin typeface="Arial" panose="020B0604020202020204" pitchFamily="34" charset="0"/>
                <a:cs typeface="Arial" panose="020B0604020202020204" pitchFamily="34" charset="0"/>
              </a:rPr>
              <a:t> R squared plus (omega L) squared </a:t>
            </a:r>
            <a:r>
              <a:rPr lang="en-US" sz="1200" b="0" i="0" u="none" strike="noStrike" dirty="0" err="1">
                <a:solidFill>
                  <a:srgbClr val="000000"/>
                </a:solidFill>
                <a:effectLst/>
                <a:latin typeface="Arial" panose="020B0604020202020204" pitchFamily="34" charset="0"/>
                <a:cs typeface="Arial" panose="020B0604020202020204" pitchFamily="34" charset="0"/>
              </a:rPr>
              <a:t>EndRoot</a:t>
            </a:r>
            <a:r>
              <a:rPr lang="en-US" sz="1200" b="0" i="0" u="none" strike="noStrike" dirty="0">
                <a:solidFill>
                  <a:srgbClr val="000000"/>
                </a:solidFill>
                <a:effectLst/>
                <a:latin typeface="Arial" panose="020B0604020202020204" pitchFamily="34" charset="0"/>
                <a:cs typeface="Arial" panose="020B0604020202020204" pitchFamily="34" charset="0"/>
              </a:rPr>
              <a:t> End Fraction cosine Open Parenthesis phi minus theta Close Parenthesis e to the negative Open Parenthesis R divided by L Close Parenthesis t power plus Start Fraction negative V subscript m baseline over </a:t>
            </a:r>
            <a:r>
              <a:rPr lang="en-US" sz="1200" b="0" i="0" u="none" strike="noStrike" dirty="0" err="1">
                <a:solidFill>
                  <a:srgbClr val="000000"/>
                </a:solidFill>
                <a:effectLst/>
                <a:latin typeface="Arial" panose="020B0604020202020204" pitchFamily="34" charset="0"/>
                <a:cs typeface="Arial" panose="020B0604020202020204" pitchFamily="34" charset="0"/>
              </a:rPr>
              <a:t>StartRoot</a:t>
            </a:r>
            <a:r>
              <a:rPr lang="en-US" sz="1200" b="0" i="0" u="none" strike="noStrike" dirty="0">
                <a:solidFill>
                  <a:srgbClr val="000000"/>
                </a:solidFill>
                <a:effectLst/>
                <a:latin typeface="Arial" panose="020B0604020202020204" pitchFamily="34" charset="0"/>
                <a:cs typeface="Arial" panose="020B0604020202020204" pitchFamily="34" charset="0"/>
              </a:rPr>
              <a:t> R squared plus (omega L) squared </a:t>
            </a:r>
            <a:r>
              <a:rPr lang="en-US" sz="1200" b="0" i="0" u="none" strike="noStrike" dirty="0" err="1">
                <a:solidFill>
                  <a:srgbClr val="000000"/>
                </a:solidFill>
                <a:effectLst/>
                <a:latin typeface="Arial" panose="020B0604020202020204" pitchFamily="34" charset="0"/>
                <a:cs typeface="Arial" panose="020B0604020202020204" pitchFamily="34" charset="0"/>
              </a:rPr>
              <a:t>EndRoot</a:t>
            </a:r>
            <a:r>
              <a:rPr lang="en-US" sz="1200" b="0" i="0" u="none" strike="noStrike" dirty="0">
                <a:solidFill>
                  <a:srgbClr val="000000"/>
                </a:solidFill>
                <a:effectLst/>
                <a:latin typeface="Arial" panose="020B0604020202020204" pitchFamily="34" charset="0"/>
                <a:cs typeface="Arial" panose="020B0604020202020204" pitchFamily="34" charset="0"/>
              </a:rPr>
              <a:t> End Fraction cosine Open Parenthesis omega t plus phi minus theta Close Parenthesis.</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CE4EF78-EE4A-7221-DBA9-334E368735B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93652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a:t>
            </a:r>
          </a:p>
          <a:p>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(t) equals Start Fraction negative V subscript m baseline over </a:t>
            </a:r>
            <a:r>
              <a:rPr lang="en-US" sz="1200" b="0" i="0" u="none" strike="noStrike" dirty="0" err="1">
                <a:solidFill>
                  <a:srgbClr val="000000"/>
                </a:solidFill>
                <a:effectLst/>
                <a:latin typeface="Arial" panose="020B0604020202020204" pitchFamily="34" charset="0"/>
                <a:cs typeface="Arial" panose="020B0604020202020204" pitchFamily="34" charset="0"/>
              </a:rPr>
              <a:t>StartRoot</a:t>
            </a:r>
            <a:r>
              <a:rPr lang="en-US" sz="1200" b="0" i="0" u="none" strike="noStrike" dirty="0">
                <a:solidFill>
                  <a:srgbClr val="000000"/>
                </a:solidFill>
                <a:effectLst/>
                <a:latin typeface="Arial" panose="020B0604020202020204" pitchFamily="34" charset="0"/>
                <a:cs typeface="Arial" panose="020B0604020202020204" pitchFamily="34" charset="0"/>
              </a:rPr>
              <a:t> R squared plus (omega L) squared </a:t>
            </a:r>
            <a:r>
              <a:rPr lang="en-US" sz="1200" b="0" i="0" u="none" strike="noStrike" dirty="0" err="1">
                <a:solidFill>
                  <a:srgbClr val="000000"/>
                </a:solidFill>
                <a:effectLst/>
                <a:latin typeface="Arial" panose="020B0604020202020204" pitchFamily="34" charset="0"/>
                <a:cs typeface="Arial" panose="020B0604020202020204" pitchFamily="34" charset="0"/>
              </a:rPr>
              <a:t>EndRoot</a:t>
            </a:r>
            <a:r>
              <a:rPr lang="en-US" sz="1200" b="0" i="0" u="none" strike="noStrike" dirty="0">
                <a:solidFill>
                  <a:srgbClr val="000000"/>
                </a:solidFill>
                <a:effectLst/>
                <a:latin typeface="Arial" panose="020B0604020202020204" pitchFamily="34" charset="0"/>
                <a:cs typeface="Arial" panose="020B0604020202020204" pitchFamily="34" charset="0"/>
              </a:rPr>
              <a:t> End Fraction cosine Open Parenthesis phi minus theta Close Parenthesis e to the negative Open Parenthesis R divided by L Close Parenthesis t power plus Start Fraction negative V subscript m baseline over </a:t>
            </a:r>
            <a:r>
              <a:rPr lang="en-US" sz="1200" b="0" i="0" u="none" strike="noStrike" dirty="0" err="1">
                <a:solidFill>
                  <a:srgbClr val="000000"/>
                </a:solidFill>
                <a:effectLst/>
                <a:latin typeface="Arial" panose="020B0604020202020204" pitchFamily="34" charset="0"/>
                <a:cs typeface="Arial" panose="020B0604020202020204" pitchFamily="34" charset="0"/>
              </a:rPr>
              <a:t>StartRoot</a:t>
            </a:r>
            <a:r>
              <a:rPr lang="en-US" sz="1200" b="0" i="0" u="none" strike="noStrike" dirty="0">
                <a:solidFill>
                  <a:srgbClr val="000000"/>
                </a:solidFill>
                <a:effectLst/>
                <a:latin typeface="Arial" panose="020B0604020202020204" pitchFamily="34" charset="0"/>
                <a:cs typeface="Arial" panose="020B0604020202020204" pitchFamily="34" charset="0"/>
              </a:rPr>
              <a:t> R squared plus (omega L) squared </a:t>
            </a:r>
            <a:r>
              <a:rPr lang="en-US" sz="1200" b="0" i="0" u="none" strike="noStrike" dirty="0" err="1">
                <a:solidFill>
                  <a:srgbClr val="000000"/>
                </a:solidFill>
                <a:effectLst/>
                <a:latin typeface="Arial" panose="020B0604020202020204" pitchFamily="34" charset="0"/>
                <a:cs typeface="Arial" panose="020B0604020202020204" pitchFamily="34" charset="0"/>
              </a:rPr>
              <a:t>EndRoot</a:t>
            </a:r>
            <a:r>
              <a:rPr lang="en-US" sz="1200" b="0" i="0" u="none" strike="noStrike" dirty="0">
                <a:solidFill>
                  <a:srgbClr val="000000"/>
                </a:solidFill>
                <a:effectLst/>
                <a:latin typeface="Arial" panose="020B0604020202020204" pitchFamily="34" charset="0"/>
                <a:cs typeface="Arial" panose="020B0604020202020204" pitchFamily="34" charset="0"/>
              </a:rPr>
              <a:t> End Fraction cosine Open Parenthesis omega t plus phi minus theta Close Parenthesis.</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08827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 1:</a:t>
            </a:r>
          </a:p>
          <a:p>
            <a:r>
              <a:rPr lang="en-US" sz="1200" b="0" i="0" u="none" strike="noStrike" dirty="0">
                <a:solidFill>
                  <a:srgbClr val="000000"/>
                </a:solidFill>
                <a:effectLst/>
                <a:latin typeface="Arial" panose="020B0604020202020204" pitchFamily="34" charset="0"/>
                <a:cs typeface="Arial" panose="020B0604020202020204" pitchFamily="34" charset="0"/>
              </a:rPr>
              <a:t>V equals P Open Curly Bracket V subscript m baseline cosine Open Parenthesis omega t plus phi Close Parenthesis Close Curly Bracket equals V subscript m baseline e to the j phi power equals V subscript m baseline angle phi.</a:t>
            </a:r>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Long Description 2:</a:t>
            </a:r>
          </a:p>
          <a:p>
            <a:r>
              <a:rPr lang="en-US" sz="1200" b="0" i="0" u="none" strike="noStrike" dirty="0">
                <a:solidFill>
                  <a:srgbClr val="000000"/>
                </a:solidFill>
                <a:effectLst/>
                <a:latin typeface="Arial" panose="020B0604020202020204" pitchFamily="34" charset="0"/>
                <a:cs typeface="Arial" panose="020B0604020202020204" pitchFamily="34" charset="0"/>
              </a:rPr>
              <a:t>v (t) equals P inverse Open Curly Bracket uppercase V Close Curly Bracket equals P inverse Open Curly Bracket uppercase V subscript m baseline angle phi Close Curly Bracket equals uppercase V subscript m baseline cosine Open Parenthesis omega t plus phi Close Parenthesis.</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72449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35</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70747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12/23/2025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 id="2147483682"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descr="Pearson Logo">
            <a:extLst>
              <a:ext uri="{FF2B5EF4-FFF2-40B4-BE49-F238E27FC236}">
                <a16:creationId xmlns:a16="http://schemas.microsoft.com/office/drawing/2014/main" id="{712F66FE-1337-EDE8-F038-827B504362BF}"/>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6" name="Content Placeholder 7">
            <a:extLst>
              <a:ext uri="{FF2B5EF4-FFF2-40B4-BE49-F238E27FC236}">
                <a16:creationId xmlns:a16="http://schemas.microsoft.com/office/drawing/2014/main" id="{67B5DD31-F4D7-7F29-F15C-8478039E4FC8}"/>
              </a:ext>
            </a:extLst>
          </p:cNvPr>
          <p:cNvSpPr txBox="1">
            <a:spLocks/>
          </p:cNvSpPr>
          <p:nvPr userDrawn="1"/>
        </p:nvSpPr>
        <p:spPr>
          <a:xfrm>
            <a:off x="2555193" y="6455210"/>
            <a:ext cx="6114695"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wmf"/><Relationship Id="rId2" Type="http://schemas.openxmlformats.org/officeDocument/2006/relationships/image" Target="../media/image3.jpg"/><Relationship Id="rId1" Type="http://schemas.openxmlformats.org/officeDocument/2006/relationships/slideLayout" Target="../slideLayouts/slideLayout9.xml"/><Relationship Id="rId6" Type="http://schemas.openxmlformats.org/officeDocument/2006/relationships/image" Target="../media/image5.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 Id="rId14" Type="http://schemas.openxmlformats.org/officeDocument/2006/relationships/image" Target="../media/image9.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0.wmf"/><Relationship Id="rId7" Type="http://schemas.openxmlformats.org/officeDocument/2006/relationships/image" Target="../media/image12.wmf"/><Relationship Id="rId2" Type="http://schemas.openxmlformats.org/officeDocument/2006/relationships/oleObject" Target="../embeddings/oleObject7.bin"/><Relationship Id="rId1" Type="http://schemas.openxmlformats.org/officeDocument/2006/relationships/slideLayout" Target="../slideLayouts/slideLayout9.xml"/><Relationship Id="rId6" Type="http://schemas.openxmlformats.org/officeDocument/2006/relationships/oleObject" Target="../embeddings/oleObject9.bin"/><Relationship Id="rId5" Type="http://schemas.openxmlformats.org/officeDocument/2006/relationships/image" Target="../media/image11.wmf"/><Relationship Id="rId4" Type="http://schemas.openxmlformats.org/officeDocument/2006/relationships/oleObject" Target="../embeddings/oleObject8.bin"/><Relationship Id="rId9" Type="http://schemas.openxmlformats.org/officeDocument/2006/relationships/image" Target="../media/image13.w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oleObject" Target="../embeddings/oleObject10.bin"/><Relationship Id="rId3" Type="http://schemas.openxmlformats.org/officeDocument/2006/relationships/tags" Target="../tags/tag3.xml"/><Relationship Id="rId7" Type="http://schemas.openxmlformats.org/officeDocument/2006/relationships/image" Target="../media/image14.png"/><Relationship Id="rId12" Type="http://schemas.openxmlformats.org/officeDocument/2006/relationships/image" Target="../media/image1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0.wmf"/><Relationship Id="rId11" Type="http://schemas.openxmlformats.org/officeDocument/2006/relationships/image" Target="../media/image12.wmf"/><Relationship Id="rId5" Type="http://schemas.openxmlformats.org/officeDocument/2006/relationships/oleObject" Target="../embeddings/oleObject7.bin"/><Relationship Id="rId10" Type="http://schemas.openxmlformats.org/officeDocument/2006/relationships/oleObject" Target="../embeddings/oleObject9.bin"/><Relationship Id="rId4" Type="http://schemas.openxmlformats.org/officeDocument/2006/relationships/slideLayout" Target="../slideLayouts/slideLayout9.xml"/><Relationship Id="rId9" Type="http://schemas.openxmlformats.org/officeDocument/2006/relationships/image" Target="../media/image11.wmf"/><Relationship Id="rId14" Type="http://schemas.openxmlformats.org/officeDocument/2006/relationships/image" Target="../media/image13.wmf"/></Relationships>
</file>

<file path=ppt/slides/_rels/slide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1.bin"/><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6.xml"/><Relationship Id="rId7" Type="http://schemas.openxmlformats.org/officeDocument/2006/relationships/image" Target="../media/image15.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6.wmf"/><Relationship Id="rId5" Type="http://schemas.openxmlformats.org/officeDocument/2006/relationships/oleObject" Target="../embeddings/oleObject11.bin"/><Relationship Id="rId4"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2.bin"/><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9.xml"/><Relationship Id="rId7" Type="http://schemas.openxmlformats.org/officeDocument/2006/relationships/image" Target="../media/image14.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7.wmf"/><Relationship Id="rId5" Type="http://schemas.openxmlformats.org/officeDocument/2006/relationships/oleObject" Target="../embeddings/oleObject12.bin"/><Relationship Id="rId4"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3.wmf"/><Relationship Id="rId3" Type="http://schemas.openxmlformats.org/officeDocument/2006/relationships/image" Target="../media/image18.wmf"/><Relationship Id="rId7" Type="http://schemas.openxmlformats.org/officeDocument/2006/relationships/image" Target="../media/image20.wmf"/><Relationship Id="rId12" Type="http://schemas.openxmlformats.org/officeDocument/2006/relationships/oleObject" Target="../embeddings/oleObject18.bin"/><Relationship Id="rId2" Type="http://schemas.openxmlformats.org/officeDocument/2006/relationships/oleObject" Target="../embeddings/oleObject13.bin"/><Relationship Id="rId1" Type="http://schemas.openxmlformats.org/officeDocument/2006/relationships/slideLayout" Target="../slideLayouts/slideLayout9.xml"/><Relationship Id="rId6" Type="http://schemas.openxmlformats.org/officeDocument/2006/relationships/oleObject" Target="../embeddings/oleObject15.bin"/><Relationship Id="rId11" Type="http://schemas.openxmlformats.org/officeDocument/2006/relationships/image" Target="../media/image22.wmf"/><Relationship Id="rId5" Type="http://schemas.openxmlformats.org/officeDocument/2006/relationships/image" Target="../media/image19.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21.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oleObject" Target="../embeddings/oleObject19.bin"/><Relationship Id="rId7" Type="http://schemas.openxmlformats.org/officeDocument/2006/relationships/image" Target="../media/image26.wmf"/><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oleObject" Target="../embeddings/oleObject20.bin"/><Relationship Id="rId11" Type="http://schemas.openxmlformats.org/officeDocument/2006/relationships/image" Target="../media/image28.wmf"/><Relationship Id="rId5" Type="http://schemas.openxmlformats.org/officeDocument/2006/relationships/image" Target="../media/image25.jpg"/><Relationship Id="rId10" Type="http://schemas.openxmlformats.org/officeDocument/2006/relationships/oleObject" Target="../embeddings/oleObject22.bin"/><Relationship Id="rId4" Type="http://schemas.openxmlformats.org/officeDocument/2006/relationships/image" Target="../media/image24.wmf"/><Relationship Id="rId9" Type="http://schemas.openxmlformats.org/officeDocument/2006/relationships/image" Target="../media/image27.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30.wmf"/><Relationship Id="rId5" Type="http://schemas.openxmlformats.org/officeDocument/2006/relationships/oleObject" Target="../embeddings/oleObject24.bin"/><Relationship Id="rId4" Type="http://schemas.openxmlformats.org/officeDocument/2006/relationships/image" Target="../media/image29.wmf"/></Relationships>
</file>

<file path=ppt/slides/_rels/slide13.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tags" Target="../tags/tag12.xml"/><Relationship Id="rId7" Type="http://schemas.openxmlformats.org/officeDocument/2006/relationships/oleObject" Target="../embeddings/oleObject23.bin"/><Relationship Id="rId12" Type="http://schemas.openxmlformats.org/officeDocument/2006/relationships/image" Target="../media/image14.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notesSlide" Target="../notesSlides/notesSlide4.xml"/><Relationship Id="rId11" Type="http://schemas.openxmlformats.org/officeDocument/2006/relationships/image" Target="../media/image15.png"/><Relationship Id="rId5" Type="http://schemas.openxmlformats.org/officeDocument/2006/relationships/slideLayout" Target="../slideLayouts/slideLayout9.xml"/><Relationship Id="rId10" Type="http://schemas.openxmlformats.org/officeDocument/2006/relationships/image" Target="../media/image30.wmf"/><Relationship Id="rId4" Type="http://schemas.openxmlformats.org/officeDocument/2006/relationships/tags" Target="../tags/tag13.xml"/><Relationship Id="rId9" Type="http://schemas.openxmlformats.org/officeDocument/2006/relationships/oleObject" Target="../embeddings/oleObject24.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31.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37.wmf"/><Relationship Id="rId3" Type="http://schemas.openxmlformats.org/officeDocument/2006/relationships/image" Target="../media/image32.wmf"/><Relationship Id="rId7" Type="http://schemas.openxmlformats.org/officeDocument/2006/relationships/image" Target="../media/image34.wmf"/><Relationship Id="rId12" Type="http://schemas.openxmlformats.org/officeDocument/2006/relationships/oleObject" Target="../embeddings/oleObject31.bin"/><Relationship Id="rId2" Type="http://schemas.openxmlformats.org/officeDocument/2006/relationships/oleObject" Target="../embeddings/oleObject26.bin"/><Relationship Id="rId1" Type="http://schemas.openxmlformats.org/officeDocument/2006/relationships/slideLayout" Target="../slideLayouts/slideLayout9.xml"/><Relationship Id="rId6" Type="http://schemas.openxmlformats.org/officeDocument/2006/relationships/oleObject" Target="../embeddings/oleObject28.bin"/><Relationship Id="rId11" Type="http://schemas.openxmlformats.org/officeDocument/2006/relationships/image" Target="../media/image36.wmf"/><Relationship Id="rId5" Type="http://schemas.openxmlformats.org/officeDocument/2006/relationships/image" Target="../media/image33.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35.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39.wmf"/><Relationship Id="rId5" Type="http://schemas.openxmlformats.org/officeDocument/2006/relationships/oleObject" Target="../embeddings/oleObject33.bin"/><Relationship Id="rId4" Type="http://schemas.openxmlformats.org/officeDocument/2006/relationships/image" Target="../media/image38.wmf"/></Relationships>
</file>

<file path=ppt/slides/_rels/slide18.xml.rels><?xml version="1.0" encoding="UTF-8" standalone="yes"?>
<Relationships xmlns="http://schemas.openxmlformats.org/package/2006/relationships"><Relationship Id="rId3" Type="http://schemas.openxmlformats.org/officeDocument/2006/relationships/image" Target="../media/image40.wmf"/><Relationship Id="rId7" Type="http://schemas.openxmlformats.org/officeDocument/2006/relationships/image" Target="../media/image42.wmf"/><Relationship Id="rId2" Type="http://schemas.openxmlformats.org/officeDocument/2006/relationships/oleObject" Target="../embeddings/oleObject34.bin"/><Relationship Id="rId1" Type="http://schemas.openxmlformats.org/officeDocument/2006/relationships/slideLayout" Target="../slideLayouts/slideLayout9.xml"/><Relationship Id="rId6" Type="http://schemas.openxmlformats.org/officeDocument/2006/relationships/oleObject" Target="../embeddings/oleObject36.bin"/><Relationship Id="rId5" Type="http://schemas.openxmlformats.org/officeDocument/2006/relationships/image" Target="../media/image41.wmf"/><Relationship Id="rId4" Type="http://schemas.openxmlformats.org/officeDocument/2006/relationships/oleObject" Target="../embeddings/oleObject35.bin"/></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6.xml"/><Relationship Id="rId7" Type="http://schemas.openxmlformats.org/officeDocument/2006/relationships/image" Target="../media/image15.png"/><Relationship Id="rId12" Type="http://schemas.openxmlformats.org/officeDocument/2006/relationships/image" Target="../media/image42.wmf"/><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40.wmf"/><Relationship Id="rId11" Type="http://schemas.openxmlformats.org/officeDocument/2006/relationships/oleObject" Target="../embeddings/oleObject36.bin"/><Relationship Id="rId5" Type="http://schemas.openxmlformats.org/officeDocument/2006/relationships/oleObject" Target="../embeddings/oleObject34.bin"/><Relationship Id="rId10" Type="http://schemas.openxmlformats.org/officeDocument/2006/relationships/image" Target="../media/image41.wmf"/><Relationship Id="rId4" Type="http://schemas.openxmlformats.org/officeDocument/2006/relationships/slideLayout" Target="../slideLayouts/slideLayout9.xml"/><Relationship Id="rId9" Type="http://schemas.openxmlformats.org/officeDocument/2006/relationships/oleObject" Target="../embeddings/oleObject35.bin"/></Relationships>
</file>

<file path=ppt/slides/_rels/slide20.x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image" Target="../media/image45.wmf"/><Relationship Id="rId2" Type="http://schemas.openxmlformats.org/officeDocument/2006/relationships/oleObject" Target="../embeddings/oleObject37.bin"/><Relationship Id="rId1" Type="http://schemas.openxmlformats.org/officeDocument/2006/relationships/slideLayout" Target="../slideLayouts/slideLayout9.xml"/><Relationship Id="rId6" Type="http://schemas.openxmlformats.org/officeDocument/2006/relationships/oleObject" Target="../embeddings/oleObject39.bin"/><Relationship Id="rId5" Type="http://schemas.openxmlformats.org/officeDocument/2006/relationships/image" Target="../media/image44.wmf"/><Relationship Id="rId4" Type="http://schemas.openxmlformats.org/officeDocument/2006/relationships/oleObject" Target="../embeddings/oleObject38.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image" Target="../media/image52.wmf"/><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oleObject" Target="../embeddings/oleObject44.bin"/><Relationship Id="rId2" Type="http://schemas.openxmlformats.org/officeDocument/2006/relationships/image" Target="../media/image46.jpg"/><Relationship Id="rId1" Type="http://schemas.openxmlformats.org/officeDocument/2006/relationships/slideLayout" Target="../slideLayouts/slideLayout9.xml"/><Relationship Id="rId6" Type="http://schemas.openxmlformats.org/officeDocument/2006/relationships/image" Target="../media/image48.wmf"/><Relationship Id="rId11" Type="http://schemas.openxmlformats.org/officeDocument/2006/relationships/image" Target="../media/image51.wmf"/><Relationship Id="rId5" Type="http://schemas.openxmlformats.org/officeDocument/2006/relationships/oleObject" Target="../embeddings/oleObject41.bin"/><Relationship Id="rId10" Type="http://schemas.openxmlformats.org/officeDocument/2006/relationships/oleObject" Target="../embeddings/oleObject43.bin"/><Relationship Id="rId4" Type="http://schemas.openxmlformats.org/officeDocument/2006/relationships/image" Target="../media/image47.wmf"/><Relationship Id="rId9" Type="http://schemas.openxmlformats.org/officeDocument/2006/relationships/image" Target="../media/image50.jpg"/></Relationships>
</file>

<file path=ppt/slides/_rels/slide23.x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image" Target="../media/image58.jpg"/><Relationship Id="rId18" Type="http://schemas.openxmlformats.org/officeDocument/2006/relationships/oleObject" Target="../embeddings/oleObject52.bin"/><Relationship Id="rId3" Type="http://schemas.openxmlformats.org/officeDocument/2006/relationships/oleObject" Target="../embeddings/oleObject45.bin"/><Relationship Id="rId21" Type="http://schemas.openxmlformats.org/officeDocument/2006/relationships/image" Target="../media/image62.wmf"/><Relationship Id="rId7" Type="http://schemas.openxmlformats.org/officeDocument/2006/relationships/oleObject" Target="../embeddings/oleObject47.bin"/><Relationship Id="rId12" Type="http://schemas.openxmlformats.org/officeDocument/2006/relationships/image" Target="../media/image49.wmf"/><Relationship Id="rId17" Type="http://schemas.openxmlformats.org/officeDocument/2006/relationships/image" Target="../media/image60.wmf"/><Relationship Id="rId25" Type="http://schemas.openxmlformats.org/officeDocument/2006/relationships/image" Target="../media/image64.wmf"/><Relationship Id="rId2" Type="http://schemas.openxmlformats.org/officeDocument/2006/relationships/image" Target="../media/image53.jpg"/><Relationship Id="rId16" Type="http://schemas.openxmlformats.org/officeDocument/2006/relationships/oleObject" Target="../embeddings/oleObject51.bin"/><Relationship Id="rId20" Type="http://schemas.openxmlformats.org/officeDocument/2006/relationships/oleObject" Target="../embeddings/oleObject53.bin"/><Relationship Id="rId1" Type="http://schemas.openxmlformats.org/officeDocument/2006/relationships/slideLayout" Target="../slideLayouts/slideLayout9.xml"/><Relationship Id="rId6" Type="http://schemas.openxmlformats.org/officeDocument/2006/relationships/image" Target="../media/image55.wmf"/><Relationship Id="rId11" Type="http://schemas.openxmlformats.org/officeDocument/2006/relationships/oleObject" Target="../embeddings/oleObject49.bin"/><Relationship Id="rId24" Type="http://schemas.openxmlformats.org/officeDocument/2006/relationships/oleObject" Target="../embeddings/oleObject55.bin"/><Relationship Id="rId5" Type="http://schemas.openxmlformats.org/officeDocument/2006/relationships/oleObject" Target="../embeddings/oleObject46.bin"/><Relationship Id="rId15" Type="http://schemas.openxmlformats.org/officeDocument/2006/relationships/image" Target="../media/image59.wmf"/><Relationship Id="rId23" Type="http://schemas.openxmlformats.org/officeDocument/2006/relationships/image" Target="../media/image63.wmf"/><Relationship Id="rId10" Type="http://schemas.openxmlformats.org/officeDocument/2006/relationships/image" Target="../media/image57.wmf"/><Relationship Id="rId19" Type="http://schemas.openxmlformats.org/officeDocument/2006/relationships/image" Target="../media/image61.wmf"/><Relationship Id="rId4" Type="http://schemas.openxmlformats.org/officeDocument/2006/relationships/image" Target="../media/image54.wmf"/><Relationship Id="rId9" Type="http://schemas.openxmlformats.org/officeDocument/2006/relationships/oleObject" Target="../embeddings/oleObject48.bin"/><Relationship Id="rId14" Type="http://schemas.openxmlformats.org/officeDocument/2006/relationships/oleObject" Target="../embeddings/oleObject50.bin"/><Relationship Id="rId22" Type="http://schemas.openxmlformats.org/officeDocument/2006/relationships/oleObject" Target="../embeddings/oleObject54.bin"/></Relationships>
</file>

<file path=ppt/slides/_rels/slide24.x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image" Target="../media/image70.jpg"/><Relationship Id="rId18" Type="http://schemas.openxmlformats.org/officeDocument/2006/relationships/oleObject" Target="../embeddings/oleObject62.bin"/><Relationship Id="rId3" Type="http://schemas.openxmlformats.org/officeDocument/2006/relationships/oleObject" Target="../embeddings/oleObject56.bin"/><Relationship Id="rId21" Type="http://schemas.openxmlformats.org/officeDocument/2006/relationships/image" Target="../media/image74.wmf"/><Relationship Id="rId7" Type="http://schemas.openxmlformats.org/officeDocument/2006/relationships/oleObject" Target="../embeddings/oleObject58.bin"/><Relationship Id="rId12" Type="http://schemas.openxmlformats.org/officeDocument/2006/relationships/image" Target="../media/image49.wmf"/><Relationship Id="rId17" Type="http://schemas.openxmlformats.org/officeDocument/2006/relationships/image" Target="../media/image72.wmf"/><Relationship Id="rId25" Type="http://schemas.openxmlformats.org/officeDocument/2006/relationships/image" Target="../media/image64.wmf"/><Relationship Id="rId2" Type="http://schemas.openxmlformats.org/officeDocument/2006/relationships/image" Target="../media/image65.jpg"/><Relationship Id="rId16" Type="http://schemas.openxmlformats.org/officeDocument/2006/relationships/oleObject" Target="../embeddings/oleObject61.bin"/><Relationship Id="rId20" Type="http://schemas.openxmlformats.org/officeDocument/2006/relationships/oleObject" Target="../embeddings/oleObject63.bin"/><Relationship Id="rId1" Type="http://schemas.openxmlformats.org/officeDocument/2006/relationships/slideLayout" Target="../slideLayouts/slideLayout9.xml"/><Relationship Id="rId6" Type="http://schemas.openxmlformats.org/officeDocument/2006/relationships/image" Target="../media/image67.wmf"/><Relationship Id="rId11" Type="http://schemas.openxmlformats.org/officeDocument/2006/relationships/oleObject" Target="../embeddings/oleObject49.bin"/><Relationship Id="rId24" Type="http://schemas.openxmlformats.org/officeDocument/2006/relationships/oleObject" Target="../embeddings/oleObject65.bin"/><Relationship Id="rId5" Type="http://schemas.openxmlformats.org/officeDocument/2006/relationships/oleObject" Target="../embeddings/oleObject57.bin"/><Relationship Id="rId15" Type="http://schemas.openxmlformats.org/officeDocument/2006/relationships/image" Target="../media/image71.wmf"/><Relationship Id="rId23" Type="http://schemas.openxmlformats.org/officeDocument/2006/relationships/image" Target="../media/image75.wmf"/><Relationship Id="rId10" Type="http://schemas.openxmlformats.org/officeDocument/2006/relationships/image" Target="../media/image69.wmf"/><Relationship Id="rId19" Type="http://schemas.openxmlformats.org/officeDocument/2006/relationships/image" Target="../media/image73.wmf"/><Relationship Id="rId4" Type="http://schemas.openxmlformats.org/officeDocument/2006/relationships/image" Target="../media/image66.wmf"/><Relationship Id="rId9" Type="http://schemas.openxmlformats.org/officeDocument/2006/relationships/oleObject" Target="../embeddings/oleObject59.bin"/><Relationship Id="rId14" Type="http://schemas.openxmlformats.org/officeDocument/2006/relationships/oleObject" Target="../embeddings/oleObject60.bin"/><Relationship Id="rId22" Type="http://schemas.openxmlformats.org/officeDocument/2006/relationships/oleObject" Target="../embeddings/oleObject64.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4.png"/><Relationship Id="rId5" Type="http://schemas.openxmlformats.org/officeDocument/2006/relationships/image" Target="../media/image15.png"/><Relationship Id="rId4"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oleObject" Target="../embeddings/oleObject66.bin"/><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tags" Target="../tags/tag25.xml"/><Relationship Id="rId7" Type="http://schemas.openxmlformats.org/officeDocument/2006/relationships/oleObject" Target="../embeddings/oleObject66.bin"/><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5.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70.bin"/><Relationship Id="rId13" Type="http://schemas.openxmlformats.org/officeDocument/2006/relationships/image" Target="../media/image81.wmf"/><Relationship Id="rId3" Type="http://schemas.openxmlformats.org/officeDocument/2006/relationships/image" Target="../media/image77.wmf"/><Relationship Id="rId7" Type="http://schemas.openxmlformats.org/officeDocument/2006/relationships/image" Target="../media/image79.wmf"/><Relationship Id="rId12" Type="http://schemas.openxmlformats.org/officeDocument/2006/relationships/oleObject" Target="../embeddings/oleObject71.bin"/><Relationship Id="rId17" Type="http://schemas.openxmlformats.org/officeDocument/2006/relationships/image" Target="../media/image83.wmf"/><Relationship Id="rId2" Type="http://schemas.openxmlformats.org/officeDocument/2006/relationships/oleObject" Target="../embeddings/oleObject67.bin"/><Relationship Id="rId16" Type="http://schemas.openxmlformats.org/officeDocument/2006/relationships/oleObject" Target="../embeddings/oleObject73.bin"/><Relationship Id="rId1" Type="http://schemas.openxmlformats.org/officeDocument/2006/relationships/slideLayout" Target="../slideLayouts/slideLayout9.xml"/><Relationship Id="rId6" Type="http://schemas.openxmlformats.org/officeDocument/2006/relationships/oleObject" Target="../embeddings/oleObject69.bin"/><Relationship Id="rId11" Type="http://schemas.openxmlformats.org/officeDocument/2006/relationships/image" Target="../media/image76.wmf"/><Relationship Id="rId5" Type="http://schemas.openxmlformats.org/officeDocument/2006/relationships/image" Target="../media/image78.wmf"/><Relationship Id="rId15" Type="http://schemas.openxmlformats.org/officeDocument/2006/relationships/image" Target="../media/image82.wmf"/><Relationship Id="rId10" Type="http://schemas.openxmlformats.org/officeDocument/2006/relationships/oleObject" Target="../embeddings/oleObject66.bin"/><Relationship Id="rId4" Type="http://schemas.openxmlformats.org/officeDocument/2006/relationships/oleObject" Target="../embeddings/oleObject68.bin"/><Relationship Id="rId9" Type="http://schemas.openxmlformats.org/officeDocument/2006/relationships/image" Target="../media/image80.wmf"/><Relationship Id="rId14" Type="http://schemas.openxmlformats.org/officeDocument/2006/relationships/oleObject" Target="../embeddings/oleObject72.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77.bin"/><Relationship Id="rId13" Type="http://schemas.openxmlformats.org/officeDocument/2006/relationships/image" Target="../media/image89.wmf"/><Relationship Id="rId3" Type="http://schemas.openxmlformats.org/officeDocument/2006/relationships/image" Target="../media/image84.wmf"/><Relationship Id="rId7" Type="http://schemas.openxmlformats.org/officeDocument/2006/relationships/image" Target="../media/image86.wmf"/><Relationship Id="rId12" Type="http://schemas.openxmlformats.org/officeDocument/2006/relationships/oleObject" Target="../embeddings/oleObject79.bin"/><Relationship Id="rId2" Type="http://schemas.openxmlformats.org/officeDocument/2006/relationships/oleObject" Target="../embeddings/oleObject74.bin"/><Relationship Id="rId1" Type="http://schemas.openxmlformats.org/officeDocument/2006/relationships/slideLayout" Target="../slideLayouts/slideLayout9.xml"/><Relationship Id="rId6" Type="http://schemas.openxmlformats.org/officeDocument/2006/relationships/oleObject" Target="../embeddings/oleObject76.bin"/><Relationship Id="rId11" Type="http://schemas.openxmlformats.org/officeDocument/2006/relationships/image" Target="../media/image88.wmf"/><Relationship Id="rId5" Type="http://schemas.openxmlformats.org/officeDocument/2006/relationships/image" Target="../media/image85.wmf"/><Relationship Id="rId10" Type="http://schemas.openxmlformats.org/officeDocument/2006/relationships/oleObject" Target="../embeddings/oleObject78.bin"/><Relationship Id="rId4" Type="http://schemas.openxmlformats.org/officeDocument/2006/relationships/oleObject" Target="../embeddings/oleObject75.bin"/><Relationship Id="rId9" Type="http://schemas.openxmlformats.org/officeDocument/2006/relationships/image" Target="../media/image87.wmf"/></Relationships>
</file>

<file path=ppt/slides/_rels/slide3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9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Edition, </a:t>
            </a:r>
            <a:r>
              <a:rPr lang="en-US" dirty="0"/>
              <a:t>Global Edition</a:t>
            </a:r>
            <a:endParaRPr lang="en-US" noProof="0" dirty="0"/>
          </a:p>
        </p:txBody>
      </p:sp>
      <p:pic>
        <p:nvPicPr>
          <p:cNvPr id="12" name="Picture 11">
            <a:extLst>
              <a:ext uri="{FF2B5EF4-FFF2-40B4-BE49-F238E27FC236}">
                <a16:creationId xmlns:a16="http://schemas.microsoft.com/office/drawing/2014/main" id="{42D257CC-0C28-71A3-2065-767CAFB1F7FF}"/>
              </a:ext>
            </a:extLst>
          </p:cNvPr>
          <p:cNvPicPr>
            <a:picLocks noChangeAspect="1"/>
          </p:cNvPicPr>
          <p:nvPr/>
        </p:nvPicPr>
        <p:blipFill>
          <a:blip r:embed="rId3"/>
          <a:stretch>
            <a:fillRect/>
          </a:stretch>
        </p:blipFill>
        <p:spPr>
          <a:xfrm>
            <a:off x="429105" y="1769717"/>
            <a:ext cx="3427532" cy="4284034"/>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397641" y="2815152"/>
            <a:ext cx="3213394" cy="498016"/>
          </a:xfrm>
        </p:spPr>
        <p:txBody>
          <a:bodyPr wrap="square" lIns="0" tIns="18000" rIns="0" bIns="18000" anchor="ctr">
            <a:spAutoFit/>
          </a:bodyPr>
          <a:lstStyle/>
          <a:p>
            <a:pPr marL="0"/>
            <a:r>
              <a:rPr lang="en-US" noProof="0" dirty="0">
                <a:solidFill>
                  <a:schemeClr val="tx1"/>
                </a:solidFill>
              </a:rPr>
              <a:t>Chapter 9 – Part 1</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399473" y="3545534"/>
            <a:ext cx="4166557" cy="374906"/>
          </a:xfrm>
        </p:spPr>
        <p:txBody>
          <a:bodyPr wrap="square" lIns="0" tIns="18000" rIns="0" bIns="18000" anchor="ctr">
            <a:spAutoFit/>
          </a:bodyPr>
          <a:lstStyle/>
          <a:p>
            <a:pPr marL="0"/>
            <a:r>
              <a:rPr lang="en-US" noProof="0" dirty="0"/>
              <a:t>Sinusoidal Steady-State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613804" y="6455210"/>
            <a:ext cx="6056085"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9948" y="194182"/>
            <a:ext cx="8229600" cy="1144347"/>
          </a:xfrm>
        </p:spPr>
        <p:txBody>
          <a:bodyPr lIns="0" tIns="18000" rIns="0" bIns="18000" anchor="ctr" anchorCtr="0">
            <a:spAutoFit/>
          </a:bodyPr>
          <a:lstStyle/>
          <a:p>
            <a:r>
              <a:rPr lang="en-US" noProof="0" dirty="0"/>
              <a:t>Chapter 9 – </a:t>
            </a:r>
            <a:r>
              <a:rPr lang="en-US" altLang="en-US" noProof="0" dirty="0"/>
              <a:t>Sinusoidal Steady-State Analysis</a:t>
            </a:r>
            <a:r>
              <a:rPr lang="en-US" noProof="0" dirty="0"/>
              <a:t> </a:t>
            </a:r>
            <a:r>
              <a:rPr lang="en-US" sz="2800" noProof="0" dirty="0"/>
              <a:t>(1 of 24)</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3"/>
          </p:nvPr>
        </p:nvSpPr>
        <p:spPr>
          <a:xfrm>
            <a:off x="439948" y="1583578"/>
            <a:ext cx="8212347" cy="2113843"/>
          </a:xfrm>
        </p:spPr>
        <p:txBody>
          <a:bodyPr wrap="square" lIns="0" tIns="18000" rIns="0" bIns="18000" anchor="ctr" anchorCtr="0">
            <a:spAutoFit/>
          </a:bodyPr>
          <a:lstStyle/>
          <a:p>
            <a:pPr marL="0" indent="0">
              <a:spcBef>
                <a:spcPts val="600"/>
              </a:spcBef>
              <a:buNone/>
            </a:pPr>
            <a:r>
              <a:rPr lang="en-US" sz="2400" noProof="0" dirty="0"/>
              <a:t>Objectives:</a:t>
            </a:r>
          </a:p>
          <a:p>
            <a:pPr marL="630238" indent="-630238">
              <a:spcBef>
                <a:spcPts val="600"/>
              </a:spcBef>
              <a:buNone/>
            </a:pPr>
            <a:r>
              <a:rPr lang="en-US" sz="2400" b="1" noProof="0" dirty="0">
                <a:solidFill>
                  <a:srgbClr val="007FA3"/>
                </a:solidFill>
              </a:rPr>
              <a:t>9.1	</a:t>
            </a:r>
            <a:r>
              <a:rPr lang="en-US" sz="2400" noProof="0" dirty="0"/>
              <a:t>Be able to perform a phasor transform and its inverse;</a:t>
            </a:r>
          </a:p>
          <a:p>
            <a:pPr marL="630238" indent="-630238">
              <a:spcBef>
                <a:spcPts val="600"/>
              </a:spcBef>
              <a:buNone/>
            </a:pPr>
            <a:r>
              <a:rPr lang="en-US" sz="2400" b="1" noProof="0" dirty="0">
                <a:solidFill>
                  <a:srgbClr val="007FA3"/>
                </a:solidFill>
              </a:rPr>
              <a:t>9.2	</a:t>
            </a:r>
            <a:r>
              <a:rPr lang="en-US" sz="2400" noProof="0" dirty="0"/>
              <a:t>Be able to phasor-transform a circuit;</a:t>
            </a:r>
          </a:p>
          <a:p>
            <a:pPr marL="630238" indent="-630238">
              <a:spcBef>
                <a:spcPts val="600"/>
              </a:spcBef>
              <a:buNone/>
            </a:pPr>
            <a:r>
              <a:rPr lang="en-US" sz="2400" b="1" noProof="0" dirty="0">
                <a:solidFill>
                  <a:srgbClr val="007FA3"/>
                </a:solidFill>
              </a:rPr>
              <a:t>9.3	</a:t>
            </a:r>
            <a:r>
              <a:rPr lang="en-US" sz="2400" noProof="0" dirty="0"/>
              <a:t>Solve arbitrarily complex circuits with sinusoidal sources using phasor method.</a:t>
            </a:r>
          </a:p>
        </p:txBody>
      </p:sp>
    </p:spTree>
    <p:extLst>
      <p:ext uri="{BB962C8B-B14F-4D97-AF65-F5344CB8AC3E}">
        <p14:creationId xmlns:p14="http://schemas.microsoft.com/office/powerpoint/2010/main" val="2378692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9948" y="201591"/>
            <a:ext cx="8229600" cy="1144347"/>
          </a:xfrm>
        </p:spPr>
        <p:txBody>
          <a:bodyPr>
            <a:spAutoFit/>
          </a:bodyPr>
          <a:lstStyle/>
          <a:p>
            <a:r>
              <a:rPr lang="en-US" noProof="0" dirty="0"/>
              <a:t>Chapter 9 – Sinusoidal Steady-State Analysis </a:t>
            </a:r>
            <a:r>
              <a:rPr lang="en-US" sz="2800" noProof="0" dirty="0"/>
              <a:t>(2 of 24)</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9948" y="1583886"/>
            <a:ext cx="4899804" cy="405683"/>
          </a:xfrm>
        </p:spPr>
        <p:txBody>
          <a:bodyPr wrap="square" lIns="0" tIns="18000" rIns="0" bIns="18000" anchor="ctr">
            <a:spAutoFit/>
          </a:bodyPr>
          <a:lstStyle/>
          <a:p>
            <a:pPr marL="0" indent="0">
              <a:spcBef>
                <a:spcPts val="600"/>
              </a:spcBef>
              <a:buNone/>
            </a:pPr>
            <a:r>
              <a:rPr lang="en-US" altLang="en-US" sz="2400" noProof="0" dirty="0"/>
              <a:t>Review the terminology of sinusoids</a:t>
            </a:r>
          </a:p>
        </p:txBody>
      </p:sp>
      <p:pic>
        <p:nvPicPr>
          <p:cNvPr id="2" name="Picture 8" descr="A line graph shows values from 0 to t along the x axis, and from 0 to nu along y axis. A sine wave passes from negative x axis to positive x axis with crests and troughs of altitudes positive V sub m and negative V sub m respectively. The interval for one cycle of sine wave is labeled cap T.">
            <a:extLst>
              <a:ext uri="{FF2B5EF4-FFF2-40B4-BE49-F238E27FC236}">
                <a16:creationId xmlns:a16="http://schemas.microsoft.com/office/drawing/2014/main" id="{DB257CB5-045B-31A2-2E7A-906FD44FB7E1}"/>
              </a:ext>
            </a:extLst>
          </p:cNvPr>
          <p:cNvPicPr>
            <a:picLocks noChangeAspect="1" noChangeArrowheads="1"/>
          </p:cNvPicPr>
          <p:nvPr/>
        </p:nvPicPr>
        <p:blipFill>
          <a:blip r:embed="rId2"/>
          <a:srcRect/>
          <a:stretch/>
        </p:blipFill>
        <p:spPr bwMode="auto">
          <a:xfrm>
            <a:off x="2751679" y="2224048"/>
            <a:ext cx="3611199" cy="1994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6" name="Object 25" descr="v (t) equals uppercase V subscript m baseline cosine OpenParenthesis omega t plus phi CloseParenthesis Volt.&#10;">
            <a:extLst>
              <a:ext uri="{FF2B5EF4-FFF2-40B4-BE49-F238E27FC236}">
                <a16:creationId xmlns:a16="http://schemas.microsoft.com/office/drawing/2014/main" id="{5C48B8B5-9706-4BA8-A5DA-ADB1F1CFB408}"/>
              </a:ext>
            </a:extLst>
          </p:cNvPr>
          <p:cNvGraphicFramePr>
            <a:graphicFrameLocks noChangeAspect="1"/>
          </p:cNvGraphicFramePr>
          <p:nvPr/>
        </p:nvGraphicFramePr>
        <p:xfrm>
          <a:off x="3127756" y="4397977"/>
          <a:ext cx="2791858" cy="381273"/>
        </p:xfrm>
        <a:graphic>
          <a:graphicData uri="http://schemas.openxmlformats.org/presentationml/2006/ole">
            <mc:AlternateContent xmlns:mc="http://schemas.openxmlformats.org/markup-compatibility/2006">
              <mc:Choice xmlns:v="urn:schemas-microsoft-com:vml" Requires="v">
                <p:oleObj name="Equation" r:id="rId3" imgW="1676160" imgH="228600" progId="Equation.DSMT4">
                  <p:embed/>
                </p:oleObj>
              </mc:Choice>
              <mc:Fallback>
                <p:oleObj name="Equation" r:id="rId3" imgW="1676160" imgH="228600" progId="Equation.DSMT4">
                  <p:embed/>
                  <p:pic>
                    <p:nvPicPr>
                      <p:cNvPr id="26" name="Object 25" descr="v (t) equals uppercase V subscript m baseline cosine OpenParenthesis omega t plus phi CloseParenthesis Volt.&#10;">
                        <a:extLst>
                          <a:ext uri="{FF2B5EF4-FFF2-40B4-BE49-F238E27FC236}">
                            <a16:creationId xmlns:a16="http://schemas.microsoft.com/office/drawing/2014/main" id="{5C48B8B5-9706-4BA8-A5DA-ADB1F1CFB408}"/>
                          </a:ext>
                        </a:extLst>
                      </p:cNvPr>
                      <p:cNvPicPr>
                        <a:picLocks noChangeAspect="1" noChangeArrowheads="1"/>
                      </p:cNvPicPr>
                      <p:nvPr/>
                    </p:nvPicPr>
                    <p:blipFill>
                      <a:blip r:embed="rId4"/>
                      <a:srcRect/>
                      <a:stretch>
                        <a:fillRect/>
                      </a:stretch>
                    </p:blipFill>
                    <p:spPr bwMode="auto">
                      <a:xfrm>
                        <a:off x="3127756" y="4397977"/>
                        <a:ext cx="2791858" cy="381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9949" y="4949339"/>
            <a:ext cx="189780" cy="405683"/>
          </a:xfrm>
        </p:spPr>
        <p:txBody>
          <a:bodyPr wrap="square" lIns="0" tIns="18000" rIns="0" bIns="18000" anchor="ctr">
            <a:spAutoFit/>
          </a:bodyPr>
          <a:lstStyle/>
          <a:p>
            <a:pPr marL="342900" indent="-342900">
              <a:spcBef>
                <a:spcPts val="600"/>
              </a:spcBef>
            </a:pPr>
            <a:r>
              <a:rPr lang="en-US" sz="2400" noProof="0" dirty="0"/>
              <a:t>  </a:t>
            </a:r>
          </a:p>
        </p:txBody>
      </p:sp>
      <p:graphicFrame>
        <p:nvGraphicFramePr>
          <p:cNvPr id="3" name="Object 2" descr=" V subscript m:">
            <a:extLst>
              <a:ext uri="{FF2B5EF4-FFF2-40B4-BE49-F238E27FC236}">
                <a16:creationId xmlns:a16="http://schemas.microsoft.com/office/drawing/2014/main" id="{5E6BE039-9224-D712-FE67-8121CFFD3C26}"/>
              </a:ext>
            </a:extLst>
          </p:cNvPr>
          <p:cNvGraphicFramePr>
            <a:graphicFrameLocks noChangeAspect="1"/>
          </p:cNvGraphicFramePr>
          <p:nvPr/>
        </p:nvGraphicFramePr>
        <p:xfrm>
          <a:off x="756492" y="4974978"/>
          <a:ext cx="466725" cy="381000"/>
        </p:xfrm>
        <a:graphic>
          <a:graphicData uri="http://schemas.openxmlformats.org/presentationml/2006/ole">
            <mc:AlternateContent xmlns:mc="http://schemas.openxmlformats.org/markup-compatibility/2006">
              <mc:Choice xmlns:v="urn:schemas-microsoft-com:vml" Requires="v">
                <p:oleObj name="Equation" r:id="rId5" imgW="279360" imgH="228600" progId="Equation.DSMT4">
                  <p:embed/>
                </p:oleObj>
              </mc:Choice>
              <mc:Fallback>
                <p:oleObj name="Equation" r:id="rId5" imgW="279360" imgH="228600" progId="Equation.DSMT4">
                  <p:embed/>
                  <p:pic>
                    <p:nvPicPr>
                      <p:cNvPr id="3" name="Object 2" descr=" V subscript m:">
                        <a:extLst>
                          <a:ext uri="{FF2B5EF4-FFF2-40B4-BE49-F238E27FC236}">
                            <a16:creationId xmlns:a16="http://schemas.microsoft.com/office/drawing/2014/main" id="{5E6BE039-9224-D712-FE67-8121CFFD3C26}"/>
                          </a:ext>
                        </a:extLst>
                      </p:cNvPr>
                      <p:cNvPicPr>
                        <a:picLocks noChangeAspect="1" noChangeArrowheads="1"/>
                      </p:cNvPicPr>
                      <p:nvPr/>
                    </p:nvPicPr>
                    <p:blipFill>
                      <a:blip r:embed="rId6"/>
                      <a:srcRect/>
                      <a:stretch>
                        <a:fillRect/>
                      </a:stretch>
                    </p:blipFill>
                    <p:spPr bwMode="auto">
                      <a:xfrm>
                        <a:off x="756492" y="4974978"/>
                        <a:ext cx="4667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22166" y="4914887"/>
            <a:ext cx="3276172" cy="405683"/>
          </a:xfrm>
        </p:spPr>
        <p:txBody>
          <a:bodyPr wrap="square" lIns="0" tIns="18000" rIns="0" bIns="18000" anchor="ctr">
            <a:spAutoFit/>
          </a:bodyPr>
          <a:lstStyle/>
          <a:p>
            <a:pPr marL="0" indent="0">
              <a:spcBef>
                <a:spcPts val="600"/>
              </a:spcBef>
              <a:buNone/>
            </a:pPr>
            <a:r>
              <a:rPr lang="en-US" sz="2400" kern="0" noProof="0" dirty="0"/>
              <a:t>Amplitude or magnitude</a:t>
            </a:r>
            <a:endParaRPr lang="en-US" sz="2400" noProof="0" dirty="0"/>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41608" y="5491592"/>
            <a:ext cx="188122" cy="405683"/>
          </a:xfrm>
        </p:spPr>
        <p:txBody>
          <a:bodyPr wrap="square" lIns="0" tIns="18000" rIns="0" bIns="18000" anchor="ctr">
            <a:spAutoFit/>
          </a:bodyPr>
          <a:lstStyle/>
          <a:p>
            <a:pPr marL="342900" indent="-342900">
              <a:spcBef>
                <a:spcPts val="600"/>
              </a:spcBef>
            </a:pPr>
            <a:r>
              <a:rPr lang="en-US" sz="2400" noProof="0" dirty="0"/>
              <a:t>  </a:t>
            </a:r>
          </a:p>
        </p:txBody>
      </p:sp>
      <p:graphicFrame>
        <p:nvGraphicFramePr>
          <p:cNvPr id="4" name="Object 3" descr="Omega:&#10;">
            <a:extLst>
              <a:ext uri="{FF2B5EF4-FFF2-40B4-BE49-F238E27FC236}">
                <a16:creationId xmlns:a16="http://schemas.microsoft.com/office/drawing/2014/main" id="{CE1A9FF9-4689-438E-F33B-0527E0228A6B}"/>
              </a:ext>
            </a:extLst>
          </p:cNvPr>
          <p:cNvGraphicFramePr>
            <a:graphicFrameLocks noChangeAspect="1"/>
          </p:cNvGraphicFramePr>
          <p:nvPr/>
        </p:nvGraphicFramePr>
        <p:xfrm>
          <a:off x="750509" y="5551241"/>
          <a:ext cx="333719" cy="254000"/>
        </p:xfrm>
        <a:graphic>
          <a:graphicData uri="http://schemas.openxmlformats.org/presentationml/2006/ole">
            <mc:AlternateContent xmlns:mc="http://schemas.openxmlformats.org/markup-compatibility/2006">
              <mc:Choice xmlns:v="urn:schemas-microsoft-com:vml" Requires="v">
                <p:oleObj name="Equation" r:id="rId7" imgW="215640" imgH="152280" progId="Equation.DSMT4">
                  <p:embed/>
                </p:oleObj>
              </mc:Choice>
              <mc:Fallback>
                <p:oleObj name="Equation" r:id="rId7" imgW="215640" imgH="152280" progId="Equation.DSMT4">
                  <p:embed/>
                  <p:pic>
                    <p:nvPicPr>
                      <p:cNvPr id="4" name="Object 3" descr="Omega:&#10;">
                        <a:extLst>
                          <a:ext uri="{FF2B5EF4-FFF2-40B4-BE49-F238E27FC236}">
                            <a16:creationId xmlns:a16="http://schemas.microsoft.com/office/drawing/2014/main" id="{CE1A9FF9-4689-438E-F33B-0527E0228A6B}"/>
                          </a:ext>
                        </a:extLst>
                      </p:cNvPr>
                      <p:cNvPicPr>
                        <a:picLocks noChangeAspect="1" noChangeArrowheads="1"/>
                      </p:cNvPicPr>
                      <p:nvPr/>
                    </p:nvPicPr>
                    <p:blipFill>
                      <a:blip r:embed="rId8"/>
                      <a:srcRect/>
                      <a:stretch>
                        <a:fillRect/>
                      </a:stretch>
                    </p:blipFill>
                    <p:spPr bwMode="auto">
                      <a:xfrm>
                        <a:off x="750509" y="5551241"/>
                        <a:ext cx="333719" cy="254000"/>
                      </a:xfrm>
                      <a:prstGeom prst="rect">
                        <a:avLst/>
                      </a:prstGeom>
                      <a:noFill/>
                      <a:ln>
                        <a:noFill/>
                      </a:ln>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04579" y="5414175"/>
            <a:ext cx="3444597" cy="405683"/>
          </a:xfrm>
        </p:spPr>
        <p:txBody>
          <a:bodyPr wrap="square" lIns="0" tIns="18000" rIns="0" bIns="18000" anchor="ctr">
            <a:spAutoFit/>
          </a:bodyPr>
          <a:lstStyle/>
          <a:p>
            <a:pPr marL="0" indent="0">
              <a:spcBef>
                <a:spcPts val="600"/>
              </a:spcBef>
              <a:buNone/>
            </a:pPr>
            <a:r>
              <a:rPr lang="en-US" sz="2400" kern="0" noProof="0" dirty="0">
                <a:sym typeface="Symbol"/>
              </a:rPr>
              <a:t>angular frequency [rad/s]</a:t>
            </a:r>
            <a:endParaRPr lang="en-US" sz="2400" noProof="0" dirty="0"/>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41606" y="5961133"/>
            <a:ext cx="1870771" cy="405683"/>
          </a:xfrm>
        </p:spPr>
        <p:txBody>
          <a:bodyPr wrap="square" lIns="0" tIns="18000" rIns="0" bIns="18000" anchor="ctr">
            <a:spAutoFit/>
          </a:bodyPr>
          <a:lstStyle/>
          <a:p>
            <a:pPr marL="342900" indent="-342900">
              <a:spcBef>
                <a:spcPts val="600"/>
              </a:spcBef>
            </a:pPr>
            <a:r>
              <a:rPr lang="en-US" sz="2400" i="1" kern="0" noProof="0" dirty="0">
                <a:sym typeface="Symbol"/>
              </a:rPr>
              <a:t>t </a:t>
            </a:r>
            <a:r>
              <a:rPr lang="en-US" sz="2400" kern="0" noProof="0" dirty="0">
                <a:sym typeface="Symbol"/>
              </a:rPr>
              <a:t>: time [s]</a:t>
            </a:r>
            <a:endParaRPr lang="en-US" sz="2400" kern="0" noProof="0" dirty="0"/>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907762" y="4967658"/>
            <a:ext cx="179496" cy="405683"/>
          </a:xfrm>
        </p:spPr>
        <p:txBody>
          <a:bodyPr wrap="square" lIns="0" tIns="18000" rIns="0" bIns="18000" anchor="ctr">
            <a:spAutoFit/>
          </a:bodyPr>
          <a:lstStyle/>
          <a:p>
            <a:pPr marL="342900" indent="-342900">
              <a:spcBef>
                <a:spcPts val="600"/>
              </a:spcBef>
            </a:pPr>
            <a:r>
              <a:rPr lang="en-US" sz="2400" noProof="0" dirty="0"/>
              <a:t>  </a:t>
            </a:r>
          </a:p>
        </p:txBody>
      </p:sp>
      <p:graphicFrame>
        <p:nvGraphicFramePr>
          <p:cNvPr id="43" name="Object 42" descr="Phi:&#10;">
            <a:extLst>
              <a:ext uri="{FF2B5EF4-FFF2-40B4-BE49-F238E27FC236}">
                <a16:creationId xmlns:a16="http://schemas.microsoft.com/office/drawing/2014/main" id="{42A95379-034F-E79A-5D9C-663067A9EA4B}"/>
              </a:ext>
            </a:extLst>
          </p:cNvPr>
          <p:cNvGraphicFramePr>
            <a:graphicFrameLocks noChangeAspect="1"/>
          </p:cNvGraphicFramePr>
          <p:nvPr/>
        </p:nvGraphicFramePr>
        <p:xfrm>
          <a:off x="5219435" y="4984750"/>
          <a:ext cx="317500" cy="338138"/>
        </p:xfrm>
        <a:graphic>
          <a:graphicData uri="http://schemas.openxmlformats.org/presentationml/2006/ole">
            <mc:AlternateContent xmlns:mc="http://schemas.openxmlformats.org/markup-compatibility/2006">
              <mc:Choice xmlns:v="urn:schemas-microsoft-com:vml" Requires="v">
                <p:oleObj name="Equation" r:id="rId9" imgW="190440" imgH="203040" progId="Equation.DSMT4">
                  <p:embed/>
                </p:oleObj>
              </mc:Choice>
              <mc:Fallback>
                <p:oleObj name="Equation" r:id="rId9" imgW="190440" imgH="203040" progId="Equation.DSMT4">
                  <p:embed/>
                  <p:pic>
                    <p:nvPicPr>
                      <p:cNvPr id="43" name="Object 42" descr="Phi:&#10;">
                        <a:extLst>
                          <a:ext uri="{FF2B5EF4-FFF2-40B4-BE49-F238E27FC236}">
                            <a16:creationId xmlns:a16="http://schemas.microsoft.com/office/drawing/2014/main" id="{42A95379-034F-E79A-5D9C-663067A9EA4B}"/>
                          </a:ext>
                        </a:extLst>
                      </p:cNvPr>
                      <p:cNvPicPr>
                        <a:picLocks noChangeAspect="1" noChangeArrowheads="1"/>
                      </p:cNvPicPr>
                      <p:nvPr/>
                    </p:nvPicPr>
                    <p:blipFill>
                      <a:blip r:embed="rId10"/>
                      <a:srcRect/>
                      <a:stretch>
                        <a:fillRect/>
                      </a:stretch>
                    </p:blipFill>
                    <p:spPr bwMode="auto">
                      <a:xfrm>
                        <a:off x="5219435" y="4984750"/>
                        <a:ext cx="317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5606504" y="4917762"/>
            <a:ext cx="2663317" cy="405683"/>
          </a:xfrm>
        </p:spPr>
        <p:txBody>
          <a:bodyPr wrap="square" lIns="0" tIns="18000" rIns="0" bIns="18000" anchor="ctr">
            <a:spAutoFit/>
          </a:bodyPr>
          <a:lstStyle/>
          <a:p>
            <a:pPr marL="0" indent="0">
              <a:spcBef>
                <a:spcPts val="600"/>
              </a:spcBef>
              <a:buNone/>
            </a:pPr>
            <a:r>
              <a:rPr lang="en-US" sz="2400" kern="0" noProof="0" dirty="0">
                <a:sym typeface="Symbol"/>
              </a:rPr>
              <a:t>phase angle [deg]</a:t>
            </a:r>
            <a:endParaRPr lang="en-US" sz="2400" i="1" kern="0" noProof="0" dirty="0"/>
          </a:p>
        </p:txBody>
      </p:sp>
      <p:sp>
        <p:nvSpPr>
          <p:cNvPr id="15" name="Content Placeholder 14">
            <a:extLst>
              <a:ext uri="{FF2B5EF4-FFF2-40B4-BE49-F238E27FC236}">
                <a16:creationId xmlns:a16="http://schemas.microsoft.com/office/drawing/2014/main" id="{62DC30B9-3DB8-2802-F476-A17B44BACA31}"/>
              </a:ext>
            </a:extLst>
          </p:cNvPr>
          <p:cNvSpPr>
            <a:spLocks noGrp="1"/>
          </p:cNvSpPr>
          <p:nvPr>
            <p:ph sz="quarter" idx="20"/>
          </p:nvPr>
        </p:nvSpPr>
        <p:spPr>
          <a:xfrm>
            <a:off x="4899135" y="5481574"/>
            <a:ext cx="188123" cy="405683"/>
          </a:xfrm>
        </p:spPr>
        <p:txBody>
          <a:bodyPr wrap="square" lIns="0" tIns="18000" rIns="0" bIns="18000" anchor="ctr">
            <a:spAutoFit/>
          </a:bodyPr>
          <a:lstStyle/>
          <a:p>
            <a:pPr marL="342900" indent="-342900">
              <a:spcBef>
                <a:spcPts val="600"/>
              </a:spcBef>
            </a:pPr>
            <a:r>
              <a:rPr lang="en-US" sz="2400" noProof="0" dirty="0"/>
              <a:t>  </a:t>
            </a:r>
          </a:p>
        </p:txBody>
      </p:sp>
      <p:graphicFrame>
        <p:nvGraphicFramePr>
          <p:cNvPr id="44" name="Object 43" descr="f equals omega divided by 2 pi:&#10;">
            <a:extLst>
              <a:ext uri="{FF2B5EF4-FFF2-40B4-BE49-F238E27FC236}">
                <a16:creationId xmlns:a16="http://schemas.microsoft.com/office/drawing/2014/main" id="{1A9DC015-A913-89B8-14F6-9578C3217829}"/>
              </a:ext>
            </a:extLst>
          </p:cNvPr>
          <p:cNvGraphicFramePr>
            <a:graphicFrameLocks noChangeAspect="1"/>
          </p:cNvGraphicFramePr>
          <p:nvPr/>
        </p:nvGraphicFramePr>
        <p:xfrm>
          <a:off x="5229225" y="5492750"/>
          <a:ext cx="1206500" cy="295275"/>
        </p:xfrm>
        <a:graphic>
          <a:graphicData uri="http://schemas.openxmlformats.org/presentationml/2006/ole">
            <mc:AlternateContent xmlns:mc="http://schemas.openxmlformats.org/markup-compatibility/2006">
              <mc:Choice xmlns:v="urn:schemas-microsoft-com:vml" Requires="v">
                <p:oleObj name="Equation" r:id="rId11" imgW="723600" imgH="177480" progId="Equation.DSMT4">
                  <p:embed/>
                </p:oleObj>
              </mc:Choice>
              <mc:Fallback>
                <p:oleObj name="Equation" r:id="rId11" imgW="723600" imgH="177480" progId="Equation.DSMT4">
                  <p:embed/>
                  <p:pic>
                    <p:nvPicPr>
                      <p:cNvPr id="44" name="Object 43" descr="f equals omega divided by 2 pi:&#10;">
                        <a:extLst>
                          <a:ext uri="{FF2B5EF4-FFF2-40B4-BE49-F238E27FC236}">
                            <a16:creationId xmlns:a16="http://schemas.microsoft.com/office/drawing/2014/main" id="{1A9DC015-A913-89B8-14F6-9578C3217829}"/>
                          </a:ext>
                        </a:extLst>
                      </p:cNvPr>
                      <p:cNvPicPr>
                        <a:picLocks noChangeAspect="1" noChangeArrowheads="1"/>
                      </p:cNvPicPr>
                      <p:nvPr/>
                    </p:nvPicPr>
                    <p:blipFill>
                      <a:blip r:embed="rId12"/>
                      <a:srcRect/>
                      <a:stretch>
                        <a:fillRect/>
                      </a:stretch>
                    </p:blipFill>
                    <p:spPr bwMode="auto">
                      <a:xfrm>
                        <a:off x="5229225" y="5492750"/>
                        <a:ext cx="12065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Content Placeholder 15">
            <a:extLst>
              <a:ext uri="{FF2B5EF4-FFF2-40B4-BE49-F238E27FC236}">
                <a16:creationId xmlns:a16="http://schemas.microsoft.com/office/drawing/2014/main" id="{842C75F5-1F7A-16F9-4F1F-28A4FF9F9A72}"/>
              </a:ext>
            </a:extLst>
          </p:cNvPr>
          <p:cNvSpPr>
            <a:spLocks noGrp="1"/>
          </p:cNvSpPr>
          <p:nvPr>
            <p:ph sz="quarter" idx="21"/>
          </p:nvPr>
        </p:nvSpPr>
        <p:spPr>
          <a:xfrm>
            <a:off x="6518370" y="5424391"/>
            <a:ext cx="2030408" cy="405683"/>
          </a:xfrm>
        </p:spPr>
        <p:txBody>
          <a:bodyPr wrap="square" lIns="0" tIns="18000" rIns="0" bIns="18000" anchor="ctr">
            <a:spAutoFit/>
          </a:bodyPr>
          <a:lstStyle/>
          <a:p>
            <a:pPr marL="0" indent="0">
              <a:spcBef>
                <a:spcPts val="600"/>
              </a:spcBef>
              <a:buNone/>
            </a:pPr>
            <a:r>
              <a:rPr lang="en-US" sz="2400" kern="0" noProof="0" dirty="0"/>
              <a:t>frequency [Hz]</a:t>
            </a:r>
          </a:p>
        </p:txBody>
      </p:sp>
      <p:sp>
        <p:nvSpPr>
          <p:cNvPr id="17" name="Content Placeholder 16">
            <a:extLst>
              <a:ext uri="{FF2B5EF4-FFF2-40B4-BE49-F238E27FC236}">
                <a16:creationId xmlns:a16="http://schemas.microsoft.com/office/drawing/2014/main" id="{12401441-FD92-F4F7-BE98-19DC7CBBBB17}"/>
              </a:ext>
            </a:extLst>
          </p:cNvPr>
          <p:cNvSpPr>
            <a:spLocks noGrp="1"/>
          </p:cNvSpPr>
          <p:nvPr>
            <p:ph sz="quarter" idx="22"/>
          </p:nvPr>
        </p:nvSpPr>
        <p:spPr>
          <a:xfrm>
            <a:off x="4908439" y="5979271"/>
            <a:ext cx="188124" cy="405683"/>
          </a:xfrm>
        </p:spPr>
        <p:txBody>
          <a:bodyPr wrap="square" lIns="0" tIns="18000" rIns="0" bIns="18000" anchor="ctr">
            <a:spAutoFit/>
          </a:bodyPr>
          <a:lstStyle/>
          <a:p>
            <a:pPr marL="342900" indent="-342900">
              <a:spcBef>
                <a:spcPts val="600"/>
              </a:spcBef>
            </a:pPr>
            <a:r>
              <a:rPr lang="en-US" sz="2400" noProof="0" dirty="0"/>
              <a:t>  </a:t>
            </a:r>
          </a:p>
        </p:txBody>
      </p:sp>
      <p:graphicFrame>
        <p:nvGraphicFramePr>
          <p:cNvPr id="45" name="Object 44" descr="T equals 1 divided by f:&#10;">
            <a:extLst>
              <a:ext uri="{FF2B5EF4-FFF2-40B4-BE49-F238E27FC236}">
                <a16:creationId xmlns:a16="http://schemas.microsoft.com/office/drawing/2014/main" id="{8F50853E-4AD3-D4D6-1230-C98DB7DF69CF}"/>
              </a:ext>
            </a:extLst>
          </p:cNvPr>
          <p:cNvGraphicFramePr>
            <a:graphicFrameLocks noChangeAspect="1"/>
          </p:cNvGraphicFramePr>
          <p:nvPr/>
        </p:nvGraphicFramePr>
        <p:xfrm>
          <a:off x="5213350" y="5992813"/>
          <a:ext cx="889000" cy="360362"/>
        </p:xfrm>
        <a:graphic>
          <a:graphicData uri="http://schemas.openxmlformats.org/presentationml/2006/ole">
            <mc:AlternateContent xmlns:mc="http://schemas.openxmlformats.org/markup-compatibility/2006">
              <mc:Choice xmlns:v="urn:schemas-microsoft-com:vml" Requires="v">
                <p:oleObj name="Equation" r:id="rId13" imgW="533160" imgH="215640" progId="Equation.DSMT4">
                  <p:embed/>
                </p:oleObj>
              </mc:Choice>
              <mc:Fallback>
                <p:oleObj name="Equation" r:id="rId13" imgW="533160" imgH="215640" progId="Equation.DSMT4">
                  <p:embed/>
                  <p:pic>
                    <p:nvPicPr>
                      <p:cNvPr id="45" name="Object 44" descr="T equals 1 divided by f:&#10;">
                        <a:extLst>
                          <a:ext uri="{FF2B5EF4-FFF2-40B4-BE49-F238E27FC236}">
                            <a16:creationId xmlns:a16="http://schemas.microsoft.com/office/drawing/2014/main" id="{8F50853E-4AD3-D4D6-1230-C98DB7DF69CF}"/>
                          </a:ext>
                        </a:extLst>
                      </p:cNvPr>
                      <p:cNvPicPr>
                        <a:picLocks noChangeAspect="1" noChangeArrowheads="1"/>
                      </p:cNvPicPr>
                      <p:nvPr/>
                    </p:nvPicPr>
                    <p:blipFill>
                      <a:blip r:embed="rId14"/>
                      <a:srcRect/>
                      <a:stretch>
                        <a:fillRect/>
                      </a:stretch>
                    </p:blipFill>
                    <p:spPr bwMode="auto">
                      <a:xfrm>
                        <a:off x="5213350" y="5992813"/>
                        <a:ext cx="889000" cy="360362"/>
                      </a:xfrm>
                      <a:prstGeom prst="rect">
                        <a:avLst/>
                      </a:prstGeom>
                      <a:noFill/>
                      <a:ln>
                        <a:noFill/>
                      </a:ln>
                    </p:spPr>
                  </p:pic>
                </p:oleObj>
              </mc:Fallback>
            </mc:AlternateContent>
          </a:graphicData>
        </a:graphic>
      </p:graphicFrame>
      <p:sp>
        <p:nvSpPr>
          <p:cNvPr id="18" name="Content Placeholder 17">
            <a:extLst>
              <a:ext uri="{FF2B5EF4-FFF2-40B4-BE49-F238E27FC236}">
                <a16:creationId xmlns:a16="http://schemas.microsoft.com/office/drawing/2014/main" id="{9CF46FE1-A0D0-DDEC-AE98-1CBAEC0C4CD9}"/>
              </a:ext>
            </a:extLst>
          </p:cNvPr>
          <p:cNvSpPr>
            <a:spLocks noGrp="1"/>
          </p:cNvSpPr>
          <p:nvPr>
            <p:ph sz="quarter" idx="23"/>
          </p:nvPr>
        </p:nvSpPr>
        <p:spPr>
          <a:xfrm>
            <a:off x="6145234" y="5948724"/>
            <a:ext cx="1322366" cy="405683"/>
          </a:xfrm>
        </p:spPr>
        <p:txBody>
          <a:bodyPr wrap="square" lIns="0" tIns="18000" rIns="0" bIns="18000" anchor="ctr">
            <a:spAutoFit/>
          </a:bodyPr>
          <a:lstStyle/>
          <a:p>
            <a:pPr marL="0" indent="0">
              <a:spcBef>
                <a:spcPts val="600"/>
              </a:spcBef>
              <a:buNone/>
            </a:pPr>
            <a:r>
              <a:rPr lang="en-US" sz="2400" kern="0" noProof="0" dirty="0">
                <a:sym typeface="Symbol"/>
              </a:rPr>
              <a:t>period [s]</a:t>
            </a:r>
            <a:endParaRPr lang="en-US" sz="2400" noProof="0" dirty="0"/>
          </a:p>
        </p:txBody>
      </p:sp>
    </p:spTree>
    <p:extLst>
      <p:ext uri="{BB962C8B-B14F-4D97-AF65-F5344CB8AC3E}">
        <p14:creationId xmlns:p14="http://schemas.microsoft.com/office/powerpoint/2010/main" val="30185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34"/>
            <a:ext cx="8229600" cy="1144347"/>
          </a:xfrm>
        </p:spPr>
        <p:txBody>
          <a:bodyPr/>
          <a:lstStyle/>
          <a:p>
            <a:r>
              <a:rPr lang="en-US" noProof="0" dirty="0"/>
              <a:t>Chapter 9 – Sinusoidal Steady-State Analysis </a:t>
            </a:r>
            <a:r>
              <a:rPr lang="en-US" sz="2800" noProof="0" dirty="0"/>
              <a:t>(3 of 24)</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90409"/>
            <a:ext cx="7135842" cy="405683"/>
          </a:xfrm>
        </p:spPr>
        <p:txBody>
          <a:bodyPr wrap="square" lIns="0" tIns="18000" rIns="0" bIns="18000" anchor="ctr">
            <a:spAutoFit/>
          </a:bodyPr>
          <a:lstStyle/>
          <a:p>
            <a:pPr marL="0" indent="0">
              <a:spcBef>
                <a:spcPts val="600"/>
              </a:spcBef>
              <a:buNone/>
            </a:pPr>
            <a:r>
              <a:rPr lang="en-US" sz="2400" noProof="0" dirty="0"/>
              <a:t>What is the frequency of the sinusoid given below?</a:t>
            </a:r>
          </a:p>
        </p:txBody>
      </p:sp>
      <p:graphicFrame>
        <p:nvGraphicFramePr>
          <p:cNvPr id="49" name="Object 48" descr="i (t) equals 36 cosine Open Parenthesis 4 pi t plus 45 degrees Close Parenthesis milliampere.&#10;">
            <a:extLst>
              <a:ext uri="{FF2B5EF4-FFF2-40B4-BE49-F238E27FC236}">
                <a16:creationId xmlns:a16="http://schemas.microsoft.com/office/drawing/2014/main" id="{0ADF5ED4-C03B-4B1F-96E7-26B4B291DEED}"/>
              </a:ext>
            </a:extLst>
          </p:cNvPr>
          <p:cNvGraphicFramePr>
            <a:graphicFrameLocks noChangeAspect="1"/>
          </p:cNvGraphicFramePr>
          <p:nvPr>
            <p:extLst>
              <p:ext uri="{D42A27DB-BD31-4B8C-83A1-F6EECF244321}">
                <p14:modId xmlns:p14="http://schemas.microsoft.com/office/powerpoint/2010/main" val="1740670383"/>
              </p:ext>
            </p:extLst>
          </p:nvPr>
        </p:nvGraphicFramePr>
        <p:xfrm>
          <a:off x="450850" y="2109788"/>
          <a:ext cx="2887663" cy="346075"/>
        </p:xfrm>
        <a:graphic>
          <a:graphicData uri="http://schemas.openxmlformats.org/presentationml/2006/ole">
            <mc:AlternateContent xmlns:mc="http://schemas.openxmlformats.org/markup-compatibility/2006">
              <mc:Choice xmlns:v="urn:schemas-microsoft-com:vml" Requires="v">
                <p:oleObj name="Equation" r:id="rId2" imgW="1701720" imgH="203040" progId="Equation.DSMT4">
                  <p:embed/>
                </p:oleObj>
              </mc:Choice>
              <mc:Fallback>
                <p:oleObj name="Equation" r:id="rId2" imgW="1701720" imgH="203040" progId="Equation.DSMT4">
                  <p:embed/>
                  <p:pic>
                    <p:nvPicPr>
                      <p:cNvPr id="11" name="Object 10"/>
                      <p:cNvPicPr>
                        <a:picLocks noChangeAspect="1" noChangeArrowheads="1"/>
                      </p:cNvPicPr>
                      <p:nvPr/>
                    </p:nvPicPr>
                    <p:blipFill>
                      <a:blip r:embed="rId3"/>
                      <a:srcRect/>
                      <a:stretch>
                        <a:fillRect/>
                      </a:stretch>
                    </p:blipFill>
                    <p:spPr bwMode="auto">
                      <a:xfrm>
                        <a:off x="450850" y="2109788"/>
                        <a:ext cx="28876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87053" y="2845192"/>
            <a:ext cx="329432"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p>
        </p:txBody>
      </p:sp>
      <p:graphicFrame>
        <p:nvGraphicFramePr>
          <p:cNvPr id="51" name="Object 50" descr="4 pi t.&#10;">
            <a:extLst>
              <a:ext uri="{FF2B5EF4-FFF2-40B4-BE49-F238E27FC236}">
                <a16:creationId xmlns:a16="http://schemas.microsoft.com/office/drawing/2014/main" id="{251E420A-1BB0-448F-99AD-0FF7247EAAD0}"/>
              </a:ext>
            </a:extLst>
          </p:cNvPr>
          <p:cNvGraphicFramePr>
            <a:graphicFrameLocks noChangeAspect="1"/>
          </p:cNvGraphicFramePr>
          <p:nvPr>
            <p:extLst>
              <p:ext uri="{D42A27DB-BD31-4B8C-83A1-F6EECF244321}">
                <p14:modId xmlns:p14="http://schemas.microsoft.com/office/powerpoint/2010/main" val="1112573372"/>
              </p:ext>
            </p:extLst>
          </p:nvPr>
        </p:nvGraphicFramePr>
        <p:xfrm>
          <a:off x="1776088" y="2913063"/>
          <a:ext cx="474663" cy="301625"/>
        </p:xfrm>
        <a:graphic>
          <a:graphicData uri="http://schemas.openxmlformats.org/presentationml/2006/ole">
            <mc:AlternateContent xmlns:mc="http://schemas.openxmlformats.org/markup-compatibility/2006">
              <mc:Choice xmlns:v="urn:schemas-microsoft-com:vml" Requires="v">
                <p:oleObj name="Equation" r:id="rId4" imgW="279360" imgH="177480" progId="Equation.DSMT4">
                  <p:embed/>
                </p:oleObj>
              </mc:Choice>
              <mc:Fallback>
                <p:oleObj name="Equation" r:id="rId4" imgW="279360" imgH="177480" progId="Equation.DSMT4">
                  <p:embed/>
                  <p:pic>
                    <p:nvPicPr>
                      <p:cNvPr id="49" name="Object 48">
                        <a:extLst>
                          <a:ext uri="{FF2B5EF4-FFF2-40B4-BE49-F238E27FC236}">
                            <a16:creationId xmlns:a16="http://schemas.microsoft.com/office/drawing/2014/main" id="{0ADF5ED4-C03B-4B1F-96E7-26B4B291DEED}"/>
                          </a:ext>
                        </a:extLst>
                      </p:cNvPr>
                      <p:cNvPicPr>
                        <a:picLocks noChangeAspect="1" noChangeArrowheads="1"/>
                      </p:cNvPicPr>
                      <p:nvPr/>
                    </p:nvPicPr>
                    <p:blipFill>
                      <a:blip r:embed="rId5"/>
                      <a:srcRect/>
                      <a:stretch>
                        <a:fillRect/>
                      </a:stretch>
                    </p:blipFill>
                    <p:spPr bwMode="auto">
                      <a:xfrm>
                        <a:off x="1776088" y="2913063"/>
                        <a:ext cx="474663"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8426" y="3435742"/>
            <a:ext cx="329433"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p>
        </p:txBody>
      </p:sp>
      <p:graphicFrame>
        <p:nvGraphicFramePr>
          <p:cNvPr id="52" name="Object 51" descr="4 pi Hertz.&#10;">
            <a:extLst>
              <a:ext uri="{FF2B5EF4-FFF2-40B4-BE49-F238E27FC236}">
                <a16:creationId xmlns:a16="http://schemas.microsoft.com/office/drawing/2014/main" id="{7C08FDEE-6E71-400A-A1C1-4AD544181968}"/>
              </a:ext>
            </a:extLst>
          </p:cNvPr>
          <p:cNvGraphicFramePr>
            <a:graphicFrameLocks noChangeAspect="1"/>
          </p:cNvGraphicFramePr>
          <p:nvPr>
            <p:extLst>
              <p:ext uri="{D42A27DB-BD31-4B8C-83A1-F6EECF244321}">
                <p14:modId xmlns:p14="http://schemas.microsoft.com/office/powerpoint/2010/main" val="1341118422"/>
              </p:ext>
            </p:extLst>
          </p:nvPr>
        </p:nvGraphicFramePr>
        <p:xfrm>
          <a:off x="1814513" y="3502025"/>
          <a:ext cx="754062" cy="344488"/>
        </p:xfrm>
        <a:graphic>
          <a:graphicData uri="http://schemas.openxmlformats.org/presentationml/2006/ole">
            <mc:AlternateContent xmlns:mc="http://schemas.openxmlformats.org/markup-compatibility/2006">
              <mc:Choice xmlns:v="urn:schemas-microsoft-com:vml" Requires="v">
                <p:oleObj name="Equation" r:id="rId6" imgW="444240" imgH="203040" progId="Equation.DSMT4">
                  <p:embed/>
                </p:oleObj>
              </mc:Choice>
              <mc:Fallback>
                <p:oleObj name="Equation" r:id="rId6" imgW="444240" imgH="203040" progId="Equation.DSMT4">
                  <p:embed/>
                  <p:pic>
                    <p:nvPicPr>
                      <p:cNvPr id="51" name="Object 50">
                        <a:extLst>
                          <a:ext uri="{FF2B5EF4-FFF2-40B4-BE49-F238E27FC236}">
                            <a16:creationId xmlns:a16="http://schemas.microsoft.com/office/drawing/2014/main" id="{251E420A-1BB0-448F-99AD-0FF7247EAAD0}"/>
                          </a:ext>
                        </a:extLst>
                      </p:cNvPr>
                      <p:cNvPicPr>
                        <a:picLocks noChangeAspect="1" noChangeArrowheads="1"/>
                      </p:cNvPicPr>
                      <p:nvPr/>
                    </p:nvPicPr>
                    <p:blipFill>
                      <a:blip r:embed="rId7"/>
                      <a:srcRect/>
                      <a:stretch>
                        <a:fillRect/>
                      </a:stretch>
                    </p:blipFill>
                    <p:spPr bwMode="auto">
                      <a:xfrm>
                        <a:off x="1814513" y="3502025"/>
                        <a:ext cx="754062"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8426" y="4026292"/>
            <a:ext cx="329433"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p>
        </p:txBody>
      </p:sp>
      <p:graphicFrame>
        <p:nvGraphicFramePr>
          <p:cNvPr id="54" name="Object 53" descr="4 pi radians per second.&#10;">
            <a:extLst>
              <a:ext uri="{FF2B5EF4-FFF2-40B4-BE49-F238E27FC236}">
                <a16:creationId xmlns:a16="http://schemas.microsoft.com/office/drawing/2014/main" id="{E3FD53EE-1F5B-4FF0-A4E4-CCEC6C312DD9}"/>
              </a:ext>
            </a:extLst>
          </p:cNvPr>
          <p:cNvGraphicFramePr>
            <a:graphicFrameLocks noChangeAspect="1"/>
          </p:cNvGraphicFramePr>
          <p:nvPr>
            <p:extLst>
              <p:ext uri="{D42A27DB-BD31-4B8C-83A1-F6EECF244321}">
                <p14:modId xmlns:p14="http://schemas.microsoft.com/office/powerpoint/2010/main" val="1511954341"/>
              </p:ext>
            </p:extLst>
          </p:nvPr>
        </p:nvGraphicFramePr>
        <p:xfrm>
          <a:off x="1773238" y="4086225"/>
          <a:ext cx="1035050" cy="344488"/>
        </p:xfrm>
        <a:graphic>
          <a:graphicData uri="http://schemas.openxmlformats.org/presentationml/2006/ole">
            <mc:AlternateContent xmlns:mc="http://schemas.openxmlformats.org/markup-compatibility/2006">
              <mc:Choice xmlns:v="urn:schemas-microsoft-com:vml" Requires="v">
                <p:oleObj name="Equation" r:id="rId8" imgW="609480" imgH="203040" progId="Equation.DSMT4">
                  <p:embed/>
                </p:oleObj>
              </mc:Choice>
              <mc:Fallback>
                <p:oleObj name="Equation" r:id="rId8" imgW="609480" imgH="203040" progId="Equation.DSMT4">
                  <p:embed/>
                  <p:pic>
                    <p:nvPicPr>
                      <p:cNvPr id="52" name="Object 51">
                        <a:extLst>
                          <a:ext uri="{FF2B5EF4-FFF2-40B4-BE49-F238E27FC236}">
                            <a16:creationId xmlns:a16="http://schemas.microsoft.com/office/drawing/2014/main" id="{7C08FDEE-6E71-400A-A1C1-4AD544181968}"/>
                          </a:ext>
                        </a:extLst>
                      </p:cNvPr>
                      <p:cNvPicPr>
                        <a:picLocks noChangeAspect="1" noChangeArrowheads="1"/>
                      </p:cNvPicPr>
                      <p:nvPr/>
                    </p:nvPicPr>
                    <p:blipFill>
                      <a:blip r:embed="rId9"/>
                      <a:srcRect/>
                      <a:stretch>
                        <a:fillRect/>
                      </a:stretch>
                    </p:blipFill>
                    <p:spPr bwMode="auto">
                      <a:xfrm>
                        <a:off x="1773238" y="4086225"/>
                        <a:ext cx="103505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65518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92F8F-DCAA-82F0-F8F0-CA54F6DC95F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AC5F457-97DA-A4E1-26C2-8B9324F2AF7A}"/>
              </a:ext>
            </a:extLst>
          </p:cNvPr>
          <p:cNvSpPr>
            <a:spLocks noGrp="1"/>
          </p:cNvSpPr>
          <p:nvPr>
            <p:ph type="title"/>
          </p:nvPr>
        </p:nvSpPr>
        <p:spPr>
          <a:xfrm>
            <a:off x="438150" y="196734"/>
            <a:ext cx="8229600" cy="1144347"/>
          </a:xfrm>
        </p:spPr>
        <p:txBody>
          <a:bodyPr/>
          <a:lstStyle/>
          <a:p>
            <a:r>
              <a:rPr lang="en-US" noProof="0" dirty="0"/>
              <a:t>Chapter 9 – Sinusoidal Steady-State Analysis </a:t>
            </a:r>
            <a:r>
              <a:rPr lang="en-US" sz="2800" noProof="0" dirty="0"/>
              <a:t>(3 of 24)</a:t>
            </a:r>
          </a:p>
        </p:txBody>
      </p:sp>
      <p:sp>
        <p:nvSpPr>
          <p:cNvPr id="7" name="Content Placeholder 6">
            <a:extLst>
              <a:ext uri="{FF2B5EF4-FFF2-40B4-BE49-F238E27FC236}">
                <a16:creationId xmlns:a16="http://schemas.microsoft.com/office/drawing/2014/main" id="{A7A81D47-80CA-E308-B2E6-7AF212A15784}"/>
              </a:ext>
            </a:extLst>
          </p:cNvPr>
          <p:cNvSpPr>
            <a:spLocks noGrp="1"/>
          </p:cNvSpPr>
          <p:nvPr>
            <p:ph sz="quarter" idx="12"/>
          </p:nvPr>
        </p:nvSpPr>
        <p:spPr>
          <a:xfrm>
            <a:off x="438150" y="1590409"/>
            <a:ext cx="7135842" cy="405683"/>
          </a:xfrm>
        </p:spPr>
        <p:txBody>
          <a:bodyPr wrap="square" lIns="0" tIns="18000" rIns="0" bIns="18000" anchor="ctr">
            <a:spAutoFit/>
          </a:bodyPr>
          <a:lstStyle/>
          <a:p>
            <a:pPr marL="0" indent="0">
              <a:spcBef>
                <a:spcPts val="600"/>
              </a:spcBef>
              <a:buNone/>
            </a:pPr>
            <a:r>
              <a:rPr lang="en-US" sz="2400" noProof="0" dirty="0"/>
              <a:t>What is the frequency of the sinusoid given below?</a:t>
            </a:r>
          </a:p>
        </p:txBody>
      </p:sp>
      <p:graphicFrame>
        <p:nvGraphicFramePr>
          <p:cNvPr id="49" name="Object 48" descr="i (t) equals 36 cosine Open Parenthesis 4 pi t plus 45 degrees Close Parenthesis milliampere.&#10;">
            <a:extLst>
              <a:ext uri="{FF2B5EF4-FFF2-40B4-BE49-F238E27FC236}">
                <a16:creationId xmlns:a16="http://schemas.microsoft.com/office/drawing/2014/main" id="{25C43929-2DB1-879A-6C09-0E7F03B5E4B7}"/>
              </a:ext>
            </a:extLst>
          </p:cNvPr>
          <p:cNvGraphicFramePr>
            <a:graphicFrameLocks noChangeAspect="1"/>
          </p:cNvGraphicFramePr>
          <p:nvPr/>
        </p:nvGraphicFramePr>
        <p:xfrm>
          <a:off x="450850" y="2109788"/>
          <a:ext cx="2887663" cy="346075"/>
        </p:xfrm>
        <a:graphic>
          <a:graphicData uri="http://schemas.openxmlformats.org/presentationml/2006/ole">
            <mc:AlternateContent xmlns:mc="http://schemas.openxmlformats.org/markup-compatibility/2006">
              <mc:Choice xmlns:v="urn:schemas-microsoft-com:vml" Requires="v">
                <p:oleObj name="Equation" r:id="rId5" imgW="1701720" imgH="203040" progId="Equation.DSMT4">
                  <p:embed/>
                </p:oleObj>
              </mc:Choice>
              <mc:Fallback>
                <p:oleObj name="Equation" r:id="rId5" imgW="1701720" imgH="203040" progId="Equation.DSMT4">
                  <p:embed/>
                  <p:pic>
                    <p:nvPicPr>
                      <p:cNvPr id="49" name="Object 48" descr="i (t) equals 36 cosine Open Parenthesis 4 pi t plus 45 degrees Close Parenthesis milliampere.&#10;">
                        <a:extLst>
                          <a:ext uri="{FF2B5EF4-FFF2-40B4-BE49-F238E27FC236}">
                            <a16:creationId xmlns:a16="http://schemas.microsoft.com/office/drawing/2014/main" id="{0ADF5ED4-C03B-4B1F-96E7-26B4B291DEED}"/>
                          </a:ext>
                        </a:extLst>
                      </p:cNvPr>
                      <p:cNvPicPr>
                        <a:picLocks noChangeAspect="1" noChangeArrowheads="1"/>
                      </p:cNvPicPr>
                      <p:nvPr/>
                    </p:nvPicPr>
                    <p:blipFill>
                      <a:blip r:embed="rId6"/>
                      <a:srcRect/>
                      <a:stretch>
                        <a:fillRect/>
                      </a:stretch>
                    </p:blipFill>
                    <p:spPr bwMode="auto">
                      <a:xfrm>
                        <a:off x="450850" y="2109788"/>
                        <a:ext cx="28876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0" name="Picture 1434" descr="Cross mark">
            <a:extLst>
              <a:ext uri="{FF2B5EF4-FFF2-40B4-BE49-F238E27FC236}">
                <a16:creationId xmlns:a16="http://schemas.microsoft.com/office/drawing/2014/main" id="{EE5418F8-8B70-A052-3CD6-0F2F8FF741A2}"/>
              </a:ext>
            </a:extLst>
          </p:cNvPr>
          <p:cNvPicPr>
            <a:picLocks/>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762001" y="2910498"/>
            <a:ext cx="329431" cy="28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123ED3B8-A160-63D0-5379-28A4FCAE6524}"/>
              </a:ext>
            </a:extLst>
          </p:cNvPr>
          <p:cNvSpPr>
            <a:spLocks noGrp="1"/>
          </p:cNvSpPr>
          <p:nvPr>
            <p:ph sz="quarter" idx="13"/>
          </p:nvPr>
        </p:nvSpPr>
        <p:spPr>
          <a:xfrm>
            <a:off x="1387053" y="2845192"/>
            <a:ext cx="329432"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p>
        </p:txBody>
      </p:sp>
      <p:graphicFrame>
        <p:nvGraphicFramePr>
          <p:cNvPr id="51" name="Object 50" descr="4 pi t.&#10;">
            <a:extLst>
              <a:ext uri="{FF2B5EF4-FFF2-40B4-BE49-F238E27FC236}">
                <a16:creationId xmlns:a16="http://schemas.microsoft.com/office/drawing/2014/main" id="{2D6864D7-D949-DDFD-1B97-A90195B76CC7}"/>
              </a:ext>
            </a:extLst>
          </p:cNvPr>
          <p:cNvGraphicFramePr>
            <a:graphicFrameLocks noChangeAspect="1"/>
          </p:cNvGraphicFramePr>
          <p:nvPr/>
        </p:nvGraphicFramePr>
        <p:xfrm>
          <a:off x="1776088" y="2913063"/>
          <a:ext cx="474663" cy="301625"/>
        </p:xfrm>
        <a:graphic>
          <a:graphicData uri="http://schemas.openxmlformats.org/presentationml/2006/ole">
            <mc:AlternateContent xmlns:mc="http://schemas.openxmlformats.org/markup-compatibility/2006">
              <mc:Choice xmlns:v="urn:schemas-microsoft-com:vml" Requires="v">
                <p:oleObj name="Equation" r:id="rId8" imgW="279360" imgH="177480" progId="Equation.DSMT4">
                  <p:embed/>
                </p:oleObj>
              </mc:Choice>
              <mc:Fallback>
                <p:oleObj name="Equation" r:id="rId8" imgW="279360" imgH="177480" progId="Equation.DSMT4">
                  <p:embed/>
                  <p:pic>
                    <p:nvPicPr>
                      <p:cNvPr id="51" name="Object 50" descr="4 pi t.&#10;">
                        <a:extLst>
                          <a:ext uri="{FF2B5EF4-FFF2-40B4-BE49-F238E27FC236}">
                            <a16:creationId xmlns:a16="http://schemas.microsoft.com/office/drawing/2014/main" id="{251E420A-1BB0-448F-99AD-0FF7247EAAD0}"/>
                          </a:ext>
                        </a:extLst>
                      </p:cNvPr>
                      <p:cNvPicPr>
                        <a:picLocks noChangeAspect="1" noChangeArrowheads="1"/>
                      </p:cNvPicPr>
                      <p:nvPr/>
                    </p:nvPicPr>
                    <p:blipFill>
                      <a:blip r:embed="rId9"/>
                      <a:srcRect/>
                      <a:stretch>
                        <a:fillRect/>
                      </a:stretch>
                    </p:blipFill>
                    <p:spPr bwMode="auto">
                      <a:xfrm>
                        <a:off x="1776088" y="2913063"/>
                        <a:ext cx="474663"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3" name="Picture 1434" descr="Cross mark">
            <a:extLst>
              <a:ext uri="{FF2B5EF4-FFF2-40B4-BE49-F238E27FC236}">
                <a16:creationId xmlns:a16="http://schemas.microsoft.com/office/drawing/2014/main" id="{285C5F61-E60D-A196-F175-F10A80A20DE1}"/>
              </a:ext>
            </a:extLst>
          </p:cNvPr>
          <p:cNvPicPr>
            <a:picLocks/>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762001" y="3496781"/>
            <a:ext cx="329431" cy="28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B7F75364-0A20-5858-2EAB-4149360A239E}"/>
              </a:ext>
            </a:extLst>
          </p:cNvPr>
          <p:cNvSpPr>
            <a:spLocks noGrp="1"/>
          </p:cNvSpPr>
          <p:nvPr>
            <p:ph sz="quarter" idx="14"/>
          </p:nvPr>
        </p:nvSpPr>
        <p:spPr>
          <a:xfrm>
            <a:off x="1378426" y="3435742"/>
            <a:ext cx="329433"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p>
        </p:txBody>
      </p:sp>
      <p:graphicFrame>
        <p:nvGraphicFramePr>
          <p:cNvPr id="52" name="Object 51" descr="4 pi Hertz.&#10;">
            <a:extLst>
              <a:ext uri="{FF2B5EF4-FFF2-40B4-BE49-F238E27FC236}">
                <a16:creationId xmlns:a16="http://schemas.microsoft.com/office/drawing/2014/main" id="{28BD0270-7E21-413E-FF26-A392EC33B329}"/>
              </a:ext>
            </a:extLst>
          </p:cNvPr>
          <p:cNvGraphicFramePr>
            <a:graphicFrameLocks noChangeAspect="1"/>
          </p:cNvGraphicFramePr>
          <p:nvPr/>
        </p:nvGraphicFramePr>
        <p:xfrm>
          <a:off x="1814513" y="3502025"/>
          <a:ext cx="754062" cy="344488"/>
        </p:xfrm>
        <a:graphic>
          <a:graphicData uri="http://schemas.openxmlformats.org/presentationml/2006/ole">
            <mc:AlternateContent xmlns:mc="http://schemas.openxmlformats.org/markup-compatibility/2006">
              <mc:Choice xmlns:v="urn:schemas-microsoft-com:vml" Requires="v">
                <p:oleObj name="Equation" r:id="rId10" imgW="444240" imgH="203040" progId="Equation.DSMT4">
                  <p:embed/>
                </p:oleObj>
              </mc:Choice>
              <mc:Fallback>
                <p:oleObj name="Equation" r:id="rId10" imgW="444240" imgH="203040" progId="Equation.DSMT4">
                  <p:embed/>
                  <p:pic>
                    <p:nvPicPr>
                      <p:cNvPr id="52" name="Object 51" descr="4 pi Hertz.&#10;">
                        <a:extLst>
                          <a:ext uri="{FF2B5EF4-FFF2-40B4-BE49-F238E27FC236}">
                            <a16:creationId xmlns:a16="http://schemas.microsoft.com/office/drawing/2014/main" id="{7C08FDEE-6E71-400A-A1C1-4AD544181968}"/>
                          </a:ext>
                        </a:extLst>
                      </p:cNvPr>
                      <p:cNvPicPr>
                        <a:picLocks noChangeAspect="1" noChangeArrowheads="1"/>
                      </p:cNvPicPr>
                      <p:nvPr/>
                    </p:nvPicPr>
                    <p:blipFill>
                      <a:blip r:embed="rId11"/>
                      <a:srcRect/>
                      <a:stretch>
                        <a:fillRect/>
                      </a:stretch>
                    </p:blipFill>
                    <p:spPr bwMode="auto">
                      <a:xfrm>
                        <a:off x="1814513" y="3502025"/>
                        <a:ext cx="754062"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5" name="Picture 1435" descr="Check mark">
            <a:extLst>
              <a:ext uri="{FF2B5EF4-FFF2-40B4-BE49-F238E27FC236}">
                <a16:creationId xmlns:a16="http://schemas.microsoft.com/office/drawing/2014/main" id="{036E67FB-3A0B-31B0-805E-578D42BADA46}"/>
              </a:ext>
            </a:extLst>
          </p:cNvPr>
          <p:cNvPicPr>
            <a:picLocks/>
          </p:cNvPicPr>
          <p:nvPr>
            <p:custDataLst>
              <p:tags r:id="rId3"/>
            </p:custDataLst>
          </p:nvPr>
        </p:nvPicPr>
        <p:blipFill>
          <a:blip r:embed="rId12">
            <a:extLst>
              <a:ext uri="{28A0092B-C50C-407E-A947-70E740481C1C}">
                <a14:useLocalDpi xmlns:a14="http://schemas.microsoft.com/office/drawing/2010/main" val="0"/>
              </a:ext>
            </a:extLst>
          </a:blip>
          <a:srcRect/>
          <a:stretch>
            <a:fillRect/>
          </a:stretch>
        </p:blipFill>
        <p:spPr bwMode="auto">
          <a:xfrm>
            <a:off x="762001" y="4060741"/>
            <a:ext cx="329431" cy="302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24DE19C4-54E7-5A00-9958-DC16916452AB}"/>
              </a:ext>
            </a:extLst>
          </p:cNvPr>
          <p:cNvSpPr>
            <a:spLocks noGrp="1"/>
          </p:cNvSpPr>
          <p:nvPr>
            <p:ph sz="quarter" idx="15"/>
          </p:nvPr>
        </p:nvSpPr>
        <p:spPr>
          <a:xfrm>
            <a:off x="1378426" y="4026292"/>
            <a:ext cx="329433"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p>
        </p:txBody>
      </p:sp>
      <p:graphicFrame>
        <p:nvGraphicFramePr>
          <p:cNvPr id="54" name="Object 53" descr="4 pi radians per second.&#10;">
            <a:extLst>
              <a:ext uri="{FF2B5EF4-FFF2-40B4-BE49-F238E27FC236}">
                <a16:creationId xmlns:a16="http://schemas.microsoft.com/office/drawing/2014/main" id="{6DB688F0-0828-6543-5725-73B9BCFE170C}"/>
              </a:ext>
            </a:extLst>
          </p:cNvPr>
          <p:cNvGraphicFramePr>
            <a:graphicFrameLocks noChangeAspect="1"/>
          </p:cNvGraphicFramePr>
          <p:nvPr/>
        </p:nvGraphicFramePr>
        <p:xfrm>
          <a:off x="1773238" y="4086225"/>
          <a:ext cx="1035050" cy="344488"/>
        </p:xfrm>
        <a:graphic>
          <a:graphicData uri="http://schemas.openxmlformats.org/presentationml/2006/ole">
            <mc:AlternateContent xmlns:mc="http://schemas.openxmlformats.org/markup-compatibility/2006">
              <mc:Choice xmlns:v="urn:schemas-microsoft-com:vml" Requires="v">
                <p:oleObj name="Equation" r:id="rId13" imgW="609480" imgH="203040" progId="Equation.DSMT4">
                  <p:embed/>
                </p:oleObj>
              </mc:Choice>
              <mc:Fallback>
                <p:oleObj name="Equation" r:id="rId13" imgW="609480" imgH="203040" progId="Equation.DSMT4">
                  <p:embed/>
                  <p:pic>
                    <p:nvPicPr>
                      <p:cNvPr id="54" name="Object 53" descr="4 pi radians per second.&#10;">
                        <a:extLst>
                          <a:ext uri="{FF2B5EF4-FFF2-40B4-BE49-F238E27FC236}">
                            <a16:creationId xmlns:a16="http://schemas.microsoft.com/office/drawing/2014/main" id="{E3FD53EE-1F5B-4FF0-A4E4-CCEC6C312DD9}"/>
                          </a:ext>
                        </a:extLst>
                      </p:cNvPr>
                      <p:cNvPicPr>
                        <a:picLocks noChangeAspect="1" noChangeArrowheads="1"/>
                      </p:cNvPicPr>
                      <p:nvPr/>
                    </p:nvPicPr>
                    <p:blipFill>
                      <a:blip r:embed="rId14"/>
                      <a:srcRect/>
                      <a:stretch>
                        <a:fillRect/>
                      </a:stretch>
                    </p:blipFill>
                    <p:spPr bwMode="auto">
                      <a:xfrm>
                        <a:off x="1773238" y="4086225"/>
                        <a:ext cx="103505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82941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34"/>
            <a:ext cx="8229600" cy="1144347"/>
          </a:xfrm>
        </p:spPr>
        <p:txBody>
          <a:bodyPr/>
          <a:lstStyle/>
          <a:p>
            <a:r>
              <a:rPr lang="en-US" noProof="0" dirty="0"/>
              <a:t>Chapter 9 – Sinusoidal Steady-State Analysis </a:t>
            </a:r>
            <a:r>
              <a:rPr lang="en-US" sz="2800" noProof="0" dirty="0"/>
              <a:t>(4 of 24)</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49" y="1590409"/>
            <a:ext cx="7601669" cy="405683"/>
          </a:xfrm>
        </p:spPr>
        <p:txBody>
          <a:bodyPr wrap="square" lIns="0" tIns="18000" rIns="0" bIns="18000" anchor="ctr">
            <a:spAutoFit/>
          </a:bodyPr>
          <a:lstStyle/>
          <a:p>
            <a:pPr marL="0" indent="0">
              <a:buNone/>
            </a:pPr>
            <a:r>
              <a:rPr lang="en-US" altLang="en-US" sz="2400" noProof="0" dirty="0"/>
              <a:t>What is the phase angle of the sinusoid given below?</a:t>
            </a:r>
            <a:endParaRPr lang="en-US" sz="2400" noProof="0" dirty="0"/>
          </a:p>
        </p:txBody>
      </p:sp>
      <p:graphicFrame>
        <p:nvGraphicFramePr>
          <p:cNvPr id="49" name="Object 48" descr="v (t) equals 50 cosine Open Parenthesis 3000 t minus 60 degrees Close Parenthesis Volts.&#10;">
            <a:extLst>
              <a:ext uri="{FF2B5EF4-FFF2-40B4-BE49-F238E27FC236}">
                <a16:creationId xmlns:a16="http://schemas.microsoft.com/office/drawing/2014/main" id="{0ADF5ED4-C03B-4B1F-96E7-26B4B291DEED}"/>
              </a:ext>
            </a:extLst>
          </p:cNvPr>
          <p:cNvGraphicFramePr>
            <a:graphicFrameLocks noChangeAspect="1"/>
          </p:cNvGraphicFramePr>
          <p:nvPr>
            <p:extLst>
              <p:ext uri="{D42A27DB-BD31-4B8C-83A1-F6EECF244321}">
                <p14:modId xmlns:p14="http://schemas.microsoft.com/office/powerpoint/2010/main" val="2980134964"/>
              </p:ext>
            </p:extLst>
          </p:nvPr>
        </p:nvGraphicFramePr>
        <p:xfrm>
          <a:off x="496888" y="2109788"/>
          <a:ext cx="3211512" cy="346075"/>
        </p:xfrm>
        <a:graphic>
          <a:graphicData uri="http://schemas.openxmlformats.org/presentationml/2006/ole">
            <mc:AlternateContent xmlns:mc="http://schemas.openxmlformats.org/markup-compatibility/2006">
              <mc:Choice xmlns:v="urn:schemas-microsoft-com:vml" Requires="v">
                <p:oleObj name="Equation" r:id="rId2" imgW="1892160" imgH="203040" progId="Equation.DSMT4">
                  <p:embed/>
                </p:oleObj>
              </mc:Choice>
              <mc:Fallback>
                <p:oleObj name="Equation" r:id="rId2" imgW="1892160" imgH="203040" progId="Equation.DSMT4">
                  <p:embed/>
                  <p:pic>
                    <p:nvPicPr>
                      <p:cNvPr id="49" name="Object 48">
                        <a:extLst>
                          <a:ext uri="{FF2B5EF4-FFF2-40B4-BE49-F238E27FC236}">
                            <a16:creationId xmlns:a16="http://schemas.microsoft.com/office/drawing/2014/main" id="{0ADF5ED4-C03B-4B1F-96E7-26B4B291DEED}"/>
                          </a:ext>
                        </a:extLst>
                      </p:cNvPr>
                      <p:cNvPicPr>
                        <a:picLocks noChangeAspect="1" noChangeArrowheads="1"/>
                      </p:cNvPicPr>
                      <p:nvPr/>
                    </p:nvPicPr>
                    <p:blipFill>
                      <a:blip r:embed="rId3"/>
                      <a:srcRect/>
                      <a:stretch>
                        <a:fillRect/>
                      </a:stretch>
                    </p:blipFill>
                    <p:spPr bwMode="auto">
                      <a:xfrm>
                        <a:off x="496888" y="2109788"/>
                        <a:ext cx="321151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87053" y="2845192"/>
            <a:ext cx="675628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latin typeface="Arial" panose="020B0604020202020204" pitchFamily="34" charset="0"/>
                <a:cs typeface="Arial" panose="020B0604020202020204" pitchFamily="34" charset="0"/>
                <a:sym typeface="Symbol" pitchFamily="18" charset="2"/>
              </a:rPr>
              <a:t>−</a:t>
            </a:r>
            <a:r>
              <a:rPr lang="en-US" altLang="en-US" sz="2400" i="1" noProof="0" dirty="0">
                <a:sym typeface="Symbol" pitchFamily="18" charset="2"/>
              </a:rPr>
              <a:t>60 deg</a:t>
            </a:r>
            <a:endParaRPr lang="en-US" altLang="en-US" sz="2400" noProof="0" dirty="0"/>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8426" y="3435742"/>
            <a:ext cx="6661392"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altLang="en-US" sz="2400" noProof="0" dirty="0">
                <a:latin typeface="Arial" panose="020B0604020202020204" pitchFamily="34" charset="0"/>
                <a:cs typeface="Arial" panose="020B0604020202020204" pitchFamily="34" charset="0"/>
                <a:sym typeface="Symbol" pitchFamily="18" charset="2"/>
              </a:rPr>
              <a:t>−</a:t>
            </a:r>
            <a:r>
              <a:rPr lang="en-US" altLang="en-US" sz="2400" i="1" noProof="0" dirty="0">
                <a:sym typeface="Symbol" pitchFamily="18" charset="2"/>
              </a:rPr>
              <a:t>60 rad</a:t>
            </a:r>
            <a:endParaRPr lang="en-US" altLang="en-US" sz="2400" noProof="0" dirty="0"/>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8426" y="4026292"/>
            <a:ext cx="6868427"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altLang="en-US" sz="2400" i="1" noProof="0" dirty="0"/>
              <a:t>60 deg</a:t>
            </a:r>
            <a:endParaRPr lang="en-US" sz="2400" noProof="0" dirty="0">
              <a:solidFill>
                <a:srgbClr val="007FA3"/>
              </a:solidFill>
            </a:endParaRPr>
          </a:p>
        </p:txBody>
      </p:sp>
    </p:spTree>
    <p:extLst>
      <p:ext uri="{BB962C8B-B14F-4D97-AF65-F5344CB8AC3E}">
        <p14:creationId xmlns:p14="http://schemas.microsoft.com/office/powerpoint/2010/main" val="2941838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A6078-287A-748D-0652-570DD30791C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B7CF29D-BB18-D593-C1B3-D0F0818EC988}"/>
              </a:ext>
            </a:extLst>
          </p:cNvPr>
          <p:cNvSpPr>
            <a:spLocks noGrp="1"/>
          </p:cNvSpPr>
          <p:nvPr>
            <p:ph type="title"/>
          </p:nvPr>
        </p:nvSpPr>
        <p:spPr>
          <a:xfrm>
            <a:off x="438150" y="196734"/>
            <a:ext cx="8229600" cy="1144347"/>
          </a:xfrm>
        </p:spPr>
        <p:txBody>
          <a:bodyPr/>
          <a:lstStyle/>
          <a:p>
            <a:r>
              <a:rPr lang="en-US" noProof="0" dirty="0"/>
              <a:t>Chapter 9 – Sinusoidal Steady-State Analysis </a:t>
            </a:r>
            <a:r>
              <a:rPr lang="en-US" sz="2800" noProof="0" dirty="0"/>
              <a:t>(4 of 24)</a:t>
            </a:r>
          </a:p>
        </p:txBody>
      </p:sp>
      <p:sp>
        <p:nvSpPr>
          <p:cNvPr id="7" name="Content Placeholder 6">
            <a:extLst>
              <a:ext uri="{FF2B5EF4-FFF2-40B4-BE49-F238E27FC236}">
                <a16:creationId xmlns:a16="http://schemas.microsoft.com/office/drawing/2014/main" id="{20820D82-A8E7-9731-51E8-57DA03247005}"/>
              </a:ext>
            </a:extLst>
          </p:cNvPr>
          <p:cNvSpPr>
            <a:spLocks noGrp="1"/>
          </p:cNvSpPr>
          <p:nvPr>
            <p:ph sz="quarter" idx="12"/>
          </p:nvPr>
        </p:nvSpPr>
        <p:spPr>
          <a:xfrm>
            <a:off x="438149" y="1590409"/>
            <a:ext cx="7601669" cy="405683"/>
          </a:xfrm>
        </p:spPr>
        <p:txBody>
          <a:bodyPr wrap="square" lIns="0" tIns="18000" rIns="0" bIns="18000" anchor="ctr">
            <a:spAutoFit/>
          </a:bodyPr>
          <a:lstStyle/>
          <a:p>
            <a:pPr marL="0" indent="0">
              <a:buNone/>
            </a:pPr>
            <a:r>
              <a:rPr lang="en-US" altLang="en-US" sz="2400" noProof="0" dirty="0"/>
              <a:t>What is the phase angle of the sinusoid given below?</a:t>
            </a:r>
            <a:endParaRPr lang="en-US" sz="2400" noProof="0" dirty="0"/>
          </a:p>
        </p:txBody>
      </p:sp>
      <p:graphicFrame>
        <p:nvGraphicFramePr>
          <p:cNvPr id="49" name="Object 48" descr="v (t) equals 50 cosine Open Parenthesis 3000 t minus 60 degrees Close Parenthesis Volts.&#10;">
            <a:extLst>
              <a:ext uri="{FF2B5EF4-FFF2-40B4-BE49-F238E27FC236}">
                <a16:creationId xmlns:a16="http://schemas.microsoft.com/office/drawing/2014/main" id="{75E08142-8BAC-3343-0A48-8E046C388EBA}"/>
              </a:ext>
            </a:extLst>
          </p:cNvPr>
          <p:cNvGraphicFramePr>
            <a:graphicFrameLocks noChangeAspect="1"/>
          </p:cNvGraphicFramePr>
          <p:nvPr/>
        </p:nvGraphicFramePr>
        <p:xfrm>
          <a:off x="496888" y="2109788"/>
          <a:ext cx="3211512" cy="346075"/>
        </p:xfrm>
        <a:graphic>
          <a:graphicData uri="http://schemas.openxmlformats.org/presentationml/2006/ole">
            <mc:AlternateContent xmlns:mc="http://schemas.openxmlformats.org/markup-compatibility/2006">
              <mc:Choice xmlns:v="urn:schemas-microsoft-com:vml" Requires="v">
                <p:oleObj name="Equation" r:id="rId5" imgW="1892160" imgH="203040" progId="Equation.DSMT4">
                  <p:embed/>
                </p:oleObj>
              </mc:Choice>
              <mc:Fallback>
                <p:oleObj name="Equation" r:id="rId5" imgW="1892160" imgH="203040" progId="Equation.DSMT4">
                  <p:embed/>
                  <p:pic>
                    <p:nvPicPr>
                      <p:cNvPr id="49" name="Object 48" descr="v (t) equals 50 cosine Open Parenthesis 3000 t minus 60 degrees Close Parenthesis Volts.&#10;">
                        <a:extLst>
                          <a:ext uri="{FF2B5EF4-FFF2-40B4-BE49-F238E27FC236}">
                            <a16:creationId xmlns:a16="http://schemas.microsoft.com/office/drawing/2014/main" id="{0ADF5ED4-C03B-4B1F-96E7-26B4B291DEED}"/>
                          </a:ext>
                        </a:extLst>
                      </p:cNvPr>
                      <p:cNvPicPr>
                        <a:picLocks noChangeAspect="1" noChangeArrowheads="1"/>
                      </p:cNvPicPr>
                      <p:nvPr/>
                    </p:nvPicPr>
                    <p:blipFill>
                      <a:blip r:embed="rId6"/>
                      <a:srcRect/>
                      <a:stretch>
                        <a:fillRect/>
                      </a:stretch>
                    </p:blipFill>
                    <p:spPr bwMode="auto">
                      <a:xfrm>
                        <a:off x="496888" y="2109788"/>
                        <a:ext cx="321151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5" name="Picture 1435" descr="Check mark">
            <a:extLst>
              <a:ext uri="{FF2B5EF4-FFF2-40B4-BE49-F238E27FC236}">
                <a16:creationId xmlns:a16="http://schemas.microsoft.com/office/drawing/2014/main" id="{40DA4922-4E9D-539D-752A-E8804979DFD4}"/>
              </a:ext>
            </a:extLst>
          </p:cNvPr>
          <p:cNvPicPr>
            <a:picLocks/>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762001" y="2922055"/>
            <a:ext cx="329431" cy="302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C822325B-91A6-7F65-BAA8-38C63B5C83EB}"/>
              </a:ext>
            </a:extLst>
          </p:cNvPr>
          <p:cNvSpPr>
            <a:spLocks noGrp="1"/>
          </p:cNvSpPr>
          <p:nvPr>
            <p:ph sz="quarter" idx="13"/>
          </p:nvPr>
        </p:nvSpPr>
        <p:spPr>
          <a:xfrm>
            <a:off x="1387053" y="2845192"/>
            <a:ext cx="675628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latin typeface="Arial" panose="020B0604020202020204" pitchFamily="34" charset="0"/>
                <a:cs typeface="Arial" panose="020B0604020202020204" pitchFamily="34" charset="0"/>
                <a:sym typeface="Symbol" pitchFamily="18" charset="2"/>
              </a:rPr>
              <a:t>−</a:t>
            </a:r>
            <a:r>
              <a:rPr lang="en-US" altLang="en-US" sz="2400" i="1" noProof="0" dirty="0">
                <a:sym typeface="Symbol" pitchFamily="18" charset="2"/>
              </a:rPr>
              <a:t>60 deg</a:t>
            </a:r>
            <a:endParaRPr lang="en-US" altLang="en-US" sz="2400" noProof="0" dirty="0"/>
          </a:p>
        </p:txBody>
      </p:sp>
      <p:pic>
        <p:nvPicPr>
          <p:cNvPr id="53" name="Picture 1434" descr="Cross mark">
            <a:extLst>
              <a:ext uri="{FF2B5EF4-FFF2-40B4-BE49-F238E27FC236}">
                <a16:creationId xmlns:a16="http://schemas.microsoft.com/office/drawing/2014/main" id="{EB4D7786-86E0-52F3-E4F9-16AAB418DB72}"/>
              </a:ext>
            </a:extLst>
          </p:cNvPr>
          <p:cNvPicPr>
            <a:picLocks/>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762001" y="3496781"/>
            <a:ext cx="329431" cy="28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15C97C34-30F7-C944-3A6D-26C8E35DADED}"/>
              </a:ext>
            </a:extLst>
          </p:cNvPr>
          <p:cNvSpPr>
            <a:spLocks noGrp="1"/>
          </p:cNvSpPr>
          <p:nvPr>
            <p:ph sz="quarter" idx="14"/>
          </p:nvPr>
        </p:nvSpPr>
        <p:spPr>
          <a:xfrm>
            <a:off x="1378426" y="3435742"/>
            <a:ext cx="6661392"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altLang="en-US" sz="2400" noProof="0" dirty="0">
                <a:latin typeface="Arial" panose="020B0604020202020204" pitchFamily="34" charset="0"/>
                <a:cs typeface="Arial" panose="020B0604020202020204" pitchFamily="34" charset="0"/>
                <a:sym typeface="Symbol" pitchFamily="18" charset="2"/>
              </a:rPr>
              <a:t>−</a:t>
            </a:r>
            <a:r>
              <a:rPr lang="en-US" altLang="en-US" sz="2400" i="1" noProof="0" dirty="0">
                <a:sym typeface="Symbol" pitchFamily="18" charset="2"/>
              </a:rPr>
              <a:t>60 rad</a:t>
            </a:r>
            <a:endParaRPr lang="en-US" altLang="en-US" sz="2400" noProof="0" dirty="0"/>
          </a:p>
        </p:txBody>
      </p:sp>
      <p:pic>
        <p:nvPicPr>
          <p:cNvPr id="50" name="Picture 1434" descr="Cross mark">
            <a:extLst>
              <a:ext uri="{FF2B5EF4-FFF2-40B4-BE49-F238E27FC236}">
                <a16:creationId xmlns:a16="http://schemas.microsoft.com/office/drawing/2014/main" id="{B7AFA61C-D53F-C9F0-B581-DE94B69A0246}"/>
              </a:ext>
            </a:extLst>
          </p:cNvPr>
          <p:cNvPicPr>
            <a:picLocks/>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762001" y="4083688"/>
            <a:ext cx="329431" cy="28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97327FDD-0A7D-09D5-FDC7-0BB4A52EF91C}"/>
              </a:ext>
            </a:extLst>
          </p:cNvPr>
          <p:cNvSpPr>
            <a:spLocks noGrp="1"/>
          </p:cNvSpPr>
          <p:nvPr>
            <p:ph sz="quarter" idx="15"/>
          </p:nvPr>
        </p:nvSpPr>
        <p:spPr>
          <a:xfrm>
            <a:off x="1378426" y="4026292"/>
            <a:ext cx="6868427"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altLang="en-US" sz="2400" i="1" noProof="0" dirty="0"/>
              <a:t>60 deg</a:t>
            </a:r>
            <a:endParaRPr lang="en-US" sz="2400" noProof="0" dirty="0">
              <a:solidFill>
                <a:srgbClr val="007FA3"/>
              </a:solidFill>
            </a:endParaRPr>
          </a:p>
        </p:txBody>
      </p:sp>
    </p:spTree>
    <p:extLst>
      <p:ext uri="{BB962C8B-B14F-4D97-AF65-F5344CB8AC3E}">
        <p14:creationId xmlns:p14="http://schemas.microsoft.com/office/powerpoint/2010/main" val="3401510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34"/>
            <a:ext cx="8229600" cy="1144347"/>
          </a:xfrm>
        </p:spPr>
        <p:txBody>
          <a:bodyPr/>
          <a:lstStyle/>
          <a:p>
            <a:r>
              <a:rPr lang="en-US" noProof="0" dirty="0"/>
              <a:t>Chapter 9 – Sinusoidal Steady-State Analysis </a:t>
            </a:r>
            <a:r>
              <a:rPr lang="en-US" sz="2800" noProof="0" dirty="0"/>
              <a:t>(5 of 24)</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49" y="1592223"/>
            <a:ext cx="8087286" cy="1513679"/>
          </a:xfrm>
        </p:spPr>
        <p:txBody>
          <a:bodyPr wrap="square" lIns="0" tIns="18000" rIns="0" bIns="18000" anchor="ctr">
            <a:spAutoFit/>
          </a:bodyPr>
          <a:lstStyle/>
          <a:p>
            <a:pPr marL="0" indent="0">
              <a:buNone/>
            </a:pPr>
            <a:r>
              <a:rPr lang="en-US" altLang="en-US" sz="2400" noProof="0" dirty="0"/>
              <a:t>Suppose we want to find the value of the sinusoidal current described below at </a:t>
            </a:r>
            <a:r>
              <a:rPr lang="en-US" altLang="en-US" sz="2400" i="1" noProof="0" dirty="0"/>
              <a:t>t = 5 </a:t>
            </a:r>
            <a:r>
              <a:rPr lang="en-US" altLang="en-US" sz="2400" noProof="0" dirty="0"/>
              <a:t>m</a:t>
            </a:r>
            <a:r>
              <a:rPr lang="en-US" altLang="en-US" sz="100" noProof="0" dirty="0"/>
              <a:t> </a:t>
            </a:r>
            <a:r>
              <a:rPr lang="en-US" altLang="en-US" sz="2400" noProof="0" dirty="0"/>
              <a:t>s. When we substitute this value for t into the sinusoid, the argument for the cosine function has what units?</a:t>
            </a:r>
            <a:endParaRPr lang="en-US" sz="2400" noProof="0" dirty="0"/>
          </a:p>
        </p:txBody>
      </p:sp>
      <p:graphicFrame>
        <p:nvGraphicFramePr>
          <p:cNvPr id="49" name="Object 48" descr="i (t) equals 0.2 cosine Open Parenthesis 50 pi t plus 45 degrees Close Parenthesis Ampere.&#10;">
            <a:extLst>
              <a:ext uri="{FF2B5EF4-FFF2-40B4-BE49-F238E27FC236}">
                <a16:creationId xmlns:a16="http://schemas.microsoft.com/office/drawing/2014/main" id="{0ADF5ED4-C03B-4B1F-96E7-26B4B291DEED}"/>
              </a:ext>
            </a:extLst>
          </p:cNvPr>
          <p:cNvGraphicFramePr>
            <a:graphicFrameLocks noChangeAspect="1"/>
          </p:cNvGraphicFramePr>
          <p:nvPr>
            <p:extLst>
              <p:ext uri="{D42A27DB-BD31-4B8C-83A1-F6EECF244321}">
                <p14:modId xmlns:p14="http://schemas.microsoft.com/office/powerpoint/2010/main" val="3755379762"/>
              </p:ext>
            </p:extLst>
          </p:nvPr>
        </p:nvGraphicFramePr>
        <p:xfrm>
          <a:off x="436563" y="3221038"/>
          <a:ext cx="3168650" cy="346075"/>
        </p:xfrm>
        <a:graphic>
          <a:graphicData uri="http://schemas.openxmlformats.org/presentationml/2006/ole">
            <mc:AlternateContent xmlns:mc="http://schemas.openxmlformats.org/markup-compatibility/2006">
              <mc:Choice xmlns:v="urn:schemas-microsoft-com:vml" Requires="v">
                <p:oleObj name="Equation" r:id="rId2" imgW="1866600" imgH="203040" progId="Equation.DSMT4">
                  <p:embed/>
                </p:oleObj>
              </mc:Choice>
              <mc:Fallback>
                <p:oleObj name="Equation" r:id="rId2" imgW="1866600" imgH="203040" progId="Equation.DSMT4">
                  <p:embed/>
                  <p:pic>
                    <p:nvPicPr>
                      <p:cNvPr id="49" name="Object 48">
                        <a:extLst>
                          <a:ext uri="{FF2B5EF4-FFF2-40B4-BE49-F238E27FC236}">
                            <a16:creationId xmlns:a16="http://schemas.microsoft.com/office/drawing/2014/main" id="{0ADF5ED4-C03B-4B1F-96E7-26B4B291DEED}"/>
                          </a:ext>
                        </a:extLst>
                      </p:cNvPr>
                      <p:cNvPicPr>
                        <a:picLocks noChangeAspect="1" noChangeArrowheads="1"/>
                      </p:cNvPicPr>
                      <p:nvPr/>
                    </p:nvPicPr>
                    <p:blipFill>
                      <a:blip r:embed="rId3"/>
                      <a:srcRect/>
                      <a:stretch>
                        <a:fillRect/>
                      </a:stretch>
                    </p:blipFill>
                    <p:spPr bwMode="auto">
                      <a:xfrm>
                        <a:off x="436563" y="3221038"/>
                        <a:ext cx="31686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87053" y="3795448"/>
            <a:ext cx="675628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sym typeface="Symbol" pitchFamily="18" charset="2"/>
              </a:rPr>
              <a:t>degrees</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8426" y="4385998"/>
            <a:ext cx="6661392"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altLang="en-US" sz="2400" noProof="0" dirty="0">
                <a:sym typeface="Symbol" pitchFamily="18" charset="2"/>
              </a:rPr>
              <a:t>degrees</a:t>
            </a:r>
            <a:endParaRPr lang="en-US" altLang="en-US" sz="2400" noProof="0" dirty="0"/>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8426" y="4976548"/>
            <a:ext cx="6537409"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altLang="en-US" sz="2400" i="1" noProof="0" dirty="0"/>
              <a:t>A mix of degrees and radians</a:t>
            </a:r>
            <a:endParaRPr lang="en-US" sz="2400" noProof="0" dirty="0">
              <a:solidFill>
                <a:srgbClr val="007FA3"/>
              </a:solidFill>
            </a:endParaRPr>
          </a:p>
        </p:txBody>
      </p:sp>
    </p:spTree>
    <p:extLst>
      <p:ext uri="{BB962C8B-B14F-4D97-AF65-F5344CB8AC3E}">
        <p14:creationId xmlns:p14="http://schemas.microsoft.com/office/powerpoint/2010/main" val="4146175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D54C9-75C3-31F9-4BB2-3B1EB88D4D1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4338AB4-E879-0639-6239-9F2033BEE0C7}"/>
              </a:ext>
            </a:extLst>
          </p:cNvPr>
          <p:cNvSpPr>
            <a:spLocks noGrp="1"/>
          </p:cNvSpPr>
          <p:nvPr>
            <p:ph type="title"/>
          </p:nvPr>
        </p:nvSpPr>
        <p:spPr>
          <a:xfrm>
            <a:off x="438150" y="196734"/>
            <a:ext cx="8229600" cy="1144347"/>
          </a:xfrm>
        </p:spPr>
        <p:txBody>
          <a:bodyPr/>
          <a:lstStyle/>
          <a:p>
            <a:r>
              <a:rPr lang="en-US" noProof="0" dirty="0"/>
              <a:t>Chapter 9 – Sinusoidal Steady-State Analysis </a:t>
            </a:r>
            <a:r>
              <a:rPr lang="en-US" sz="2800" noProof="0" dirty="0"/>
              <a:t>(5 of 24)</a:t>
            </a:r>
          </a:p>
        </p:txBody>
      </p:sp>
      <p:sp>
        <p:nvSpPr>
          <p:cNvPr id="7" name="Content Placeholder 6">
            <a:extLst>
              <a:ext uri="{FF2B5EF4-FFF2-40B4-BE49-F238E27FC236}">
                <a16:creationId xmlns:a16="http://schemas.microsoft.com/office/drawing/2014/main" id="{28324667-B681-B1F3-77C3-A1EFE712F42E}"/>
              </a:ext>
            </a:extLst>
          </p:cNvPr>
          <p:cNvSpPr>
            <a:spLocks noGrp="1"/>
          </p:cNvSpPr>
          <p:nvPr>
            <p:ph sz="quarter" idx="12"/>
          </p:nvPr>
        </p:nvSpPr>
        <p:spPr>
          <a:xfrm>
            <a:off x="438149" y="1592223"/>
            <a:ext cx="8087286" cy="1513679"/>
          </a:xfrm>
        </p:spPr>
        <p:txBody>
          <a:bodyPr wrap="square" lIns="0" tIns="18000" rIns="0" bIns="18000" anchor="ctr">
            <a:spAutoFit/>
          </a:bodyPr>
          <a:lstStyle/>
          <a:p>
            <a:pPr marL="0" indent="0">
              <a:buNone/>
            </a:pPr>
            <a:r>
              <a:rPr lang="en-US" altLang="en-US" sz="2400" noProof="0" dirty="0"/>
              <a:t>Suppose we want to find the value of the sinusoidal current described below at </a:t>
            </a:r>
            <a:r>
              <a:rPr lang="en-US" altLang="en-US" sz="2400" i="1" noProof="0" dirty="0"/>
              <a:t>t = 5 </a:t>
            </a:r>
            <a:r>
              <a:rPr lang="en-US" altLang="en-US" sz="2400" noProof="0" dirty="0"/>
              <a:t>m</a:t>
            </a:r>
            <a:r>
              <a:rPr lang="en-US" altLang="en-US" sz="100" noProof="0" dirty="0"/>
              <a:t> </a:t>
            </a:r>
            <a:r>
              <a:rPr lang="en-US" altLang="en-US" sz="2400" noProof="0" dirty="0"/>
              <a:t>s. When we substitute this value for t into the sinusoid, the argument for the cosine function has what units?</a:t>
            </a:r>
            <a:endParaRPr lang="en-US" sz="2400" noProof="0" dirty="0"/>
          </a:p>
        </p:txBody>
      </p:sp>
      <p:graphicFrame>
        <p:nvGraphicFramePr>
          <p:cNvPr id="49" name="Object 48" descr="i (t) equals 0.2 cosine Open Parenthesis 50 pi t plus 45 degrees Close Parenthesis Ampere.&#10;">
            <a:extLst>
              <a:ext uri="{FF2B5EF4-FFF2-40B4-BE49-F238E27FC236}">
                <a16:creationId xmlns:a16="http://schemas.microsoft.com/office/drawing/2014/main" id="{ABFFBED6-1690-9F52-E47C-E84E6B89C222}"/>
              </a:ext>
            </a:extLst>
          </p:cNvPr>
          <p:cNvGraphicFramePr>
            <a:graphicFrameLocks noChangeAspect="1"/>
          </p:cNvGraphicFramePr>
          <p:nvPr/>
        </p:nvGraphicFramePr>
        <p:xfrm>
          <a:off x="436563" y="3221038"/>
          <a:ext cx="3168650" cy="346075"/>
        </p:xfrm>
        <a:graphic>
          <a:graphicData uri="http://schemas.openxmlformats.org/presentationml/2006/ole">
            <mc:AlternateContent xmlns:mc="http://schemas.openxmlformats.org/markup-compatibility/2006">
              <mc:Choice xmlns:v="urn:schemas-microsoft-com:vml" Requires="v">
                <p:oleObj name="Equation" r:id="rId5" imgW="1866600" imgH="203040" progId="Equation.DSMT4">
                  <p:embed/>
                </p:oleObj>
              </mc:Choice>
              <mc:Fallback>
                <p:oleObj name="Equation" r:id="rId5" imgW="1866600" imgH="203040" progId="Equation.DSMT4">
                  <p:embed/>
                  <p:pic>
                    <p:nvPicPr>
                      <p:cNvPr id="49" name="Object 48" descr="i (t) equals 0.2 cosine Open Parenthesis 50 pi t plus 45 degrees Close Parenthesis Ampere.&#10;">
                        <a:extLst>
                          <a:ext uri="{FF2B5EF4-FFF2-40B4-BE49-F238E27FC236}">
                            <a16:creationId xmlns:a16="http://schemas.microsoft.com/office/drawing/2014/main" id="{0ADF5ED4-C03B-4B1F-96E7-26B4B291DEED}"/>
                          </a:ext>
                        </a:extLst>
                      </p:cNvPr>
                      <p:cNvPicPr>
                        <a:picLocks noChangeAspect="1" noChangeArrowheads="1"/>
                      </p:cNvPicPr>
                      <p:nvPr/>
                    </p:nvPicPr>
                    <p:blipFill>
                      <a:blip r:embed="rId6"/>
                      <a:srcRect/>
                      <a:stretch>
                        <a:fillRect/>
                      </a:stretch>
                    </p:blipFill>
                    <p:spPr bwMode="auto">
                      <a:xfrm>
                        <a:off x="436563" y="3221038"/>
                        <a:ext cx="31686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0" name="Picture 1434" descr="Cross mark">
            <a:extLst>
              <a:ext uri="{FF2B5EF4-FFF2-40B4-BE49-F238E27FC236}">
                <a16:creationId xmlns:a16="http://schemas.microsoft.com/office/drawing/2014/main" id="{BF174004-4487-5BD2-B113-A60A03D829C8}"/>
              </a:ext>
            </a:extLst>
          </p:cNvPr>
          <p:cNvPicPr>
            <a:picLocks/>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762001" y="3850600"/>
            <a:ext cx="329431" cy="28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967222C3-4522-5A6F-EE91-DA5E4F00DD79}"/>
              </a:ext>
            </a:extLst>
          </p:cNvPr>
          <p:cNvSpPr>
            <a:spLocks noGrp="1"/>
          </p:cNvSpPr>
          <p:nvPr>
            <p:ph sz="quarter" idx="13"/>
          </p:nvPr>
        </p:nvSpPr>
        <p:spPr>
          <a:xfrm>
            <a:off x="1387053" y="3795448"/>
            <a:ext cx="675628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sym typeface="Symbol" pitchFamily="18" charset="2"/>
              </a:rPr>
              <a:t>degrees</a:t>
            </a:r>
          </a:p>
        </p:txBody>
      </p:sp>
      <p:pic>
        <p:nvPicPr>
          <p:cNvPr id="53" name="Picture 1434" descr="Cross mark">
            <a:extLst>
              <a:ext uri="{FF2B5EF4-FFF2-40B4-BE49-F238E27FC236}">
                <a16:creationId xmlns:a16="http://schemas.microsoft.com/office/drawing/2014/main" id="{5D95A13C-DF43-9F8E-983D-AEE443CE291F}"/>
              </a:ext>
            </a:extLst>
          </p:cNvPr>
          <p:cNvPicPr>
            <a:picLocks/>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762001" y="4447037"/>
            <a:ext cx="329431" cy="28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CC8CB9F0-91BE-43ED-7467-A59CD8E81BDB}"/>
              </a:ext>
            </a:extLst>
          </p:cNvPr>
          <p:cNvSpPr>
            <a:spLocks noGrp="1"/>
          </p:cNvSpPr>
          <p:nvPr>
            <p:ph sz="quarter" idx="14"/>
          </p:nvPr>
        </p:nvSpPr>
        <p:spPr>
          <a:xfrm>
            <a:off x="1378426" y="4385998"/>
            <a:ext cx="6661392"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altLang="en-US" sz="2400" noProof="0" dirty="0">
                <a:sym typeface="Symbol" pitchFamily="18" charset="2"/>
              </a:rPr>
              <a:t>degrees</a:t>
            </a:r>
            <a:endParaRPr lang="en-US" altLang="en-US" sz="2400" noProof="0" dirty="0"/>
          </a:p>
        </p:txBody>
      </p:sp>
      <p:pic>
        <p:nvPicPr>
          <p:cNvPr id="55" name="Picture 1435" descr="Check mark">
            <a:extLst>
              <a:ext uri="{FF2B5EF4-FFF2-40B4-BE49-F238E27FC236}">
                <a16:creationId xmlns:a16="http://schemas.microsoft.com/office/drawing/2014/main" id="{5924C6F0-A9E3-6934-8585-EB0873A3D8E8}"/>
              </a:ext>
            </a:extLst>
          </p:cNvPr>
          <p:cNvPicPr>
            <a:picLocks/>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762001" y="4983931"/>
            <a:ext cx="329431" cy="302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FB03210D-9BBA-1CF6-51D4-B1985C782398}"/>
              </a:ext>
            </a:extLst>
          </p:cNvPr>
          <p:cNvSpPr>
            <a:spLocks noGrp="1"/>
          </p:cNvSpPr>
          <p:nvPr>
            <p:ph sz="quarter" idx="15"/>
          </p:nvPr>
        </p:nvSpPr>
        <p:spPr>
          <a:xfrm>
            <a:off x="1378426" y="4976548"/>
            <a:ext cx="6537409"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altLang="en-US" sz="2400" i="1" noProof="0" dirty="0"/>
              <a:t>A mix of degrees and radians</a:t>
            </a:r>
            <a:endParaRPr lang="en-US" sz="2400" noProof="0" dirty="0">
              <a:solidFill>
                <a:srgbClr val="007FA3"/>
              </a:solidFill>
            </a:endParaRPr>
          </a:p>
        </p:txBody>
      </p:sp>
    </p:spTree>
    <p:extLst>
      <p:ext uri="{BB962C8B-B14F-4D97-AF65-F5344CB8AC3E}">
        <p14:creationId xmlns:p14="http://schemas.microsoft.com/office/powerpoint/2010/main" val="3651095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1"/>
            <a:ext cx="8229600" cy="1144347"/>
          </a:xfrm>
        </p:spPr>
        <p:txBody>
          <a:bodyPr/>
          <a:lstStyle/>
          <a:p>
            <a:r>
              <a:rPr lang="en-US" noProof="0" dirty="0"/>
              <a:t>Chapter 9 – Sinusoidal Steady-State Analysis </a:t>
            </a:r>
            <a:r>
              <a:rPr lang="en-US" sz="2800" noProof="0" dirty="0"/>
              <a:t>(6 of 24)</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3" y="1594739"/>
            <a:ext cx="8105212" cy="405683"/>
          </a:xfrm>
        </p:spPr>
        <p:txBody>
          <a:bodyPr wrap="square" lIns="0" tIns="18000" rIns="0" bIns="18000" anchor="ctr">
            <a:spAutoFit/>
          </a:bodyPr>
          <a:lstStyle/>
          <a:p>
            <a:pPr marL="0" indent="0">
              <a:spcBef>
                <a:spcPts val="600"/>
              </a:spcBef>
              <a:buNone/>
            </a:pPr>
            <a:r>
              <a:rPr lang="en-US" altLang="en-US" sz="2400" noProof="0" dirty="0"/>
              <a:t>Evaluating a sinusoid at a specified time</a:t>
            </a:r>
            <a:endParaRPr lang="en-US" altLang="en-US" sz="2400" b="1" noProof="0" dirty="0"/>
          </a:p>
        </p:txBody>
      </p:sp>
      <p:graphicFrame>
        <p:nvGraphicFramePr>
          <p:cNvPr id="33" name="Object 32" descr="i (0.005) equals 0.2 cosine Open Parenthesis 50 pi t plus 45 degrees Close Parenthesis Ampere.&#10;">
            <a:extLst>
              <a:ext uri="{FF2B5EF4-FFF2-40B4-BE49-F238E27FC236}">
                <a16:creationId xmlns:a16="http://schemas.microsoft.com/office/drawing/2014/main" id="{9E1D98A8-5341-3760-F3A1-23286BD98D82}"/>
              </a:ext>
            </a:extLst>
          </p:cNvPr>
          <p:cNvGraphicFramePr>
            <a:graphicFrameLocks noChangeAspect="1"/>
          </p:cNvGraphicFramePr>
          <p:nvPr>
            <p:extLst>
              <p:ext uri="{D42A27DB-BD31-4B8C-83A1-F6EECF244321}">
                <p14:modId xmlns:p14="http://schemas.microsoft.com/office/powerpoint/2010/main" val="2578212706"/>
              </p:ext>
            </p:extLst>
          </p:nvPr>
        </p:nvGraphicFramePr>
        <p:xfrm>
          <a:off x="1636713" y="2092325"/>
          <a:ext cx="3748087" cy="344488"/>
        </p:xfrm>
        <a:graphic>
          <a:graphicData uri="http://schemas.openxmlformats.org/presentationml/2006/ole">
            <mc:AlternateContent xmlns:mc="http://schemas.openxmlformats.org/markup-compatibility/2006">
              <mc:Choice xmlns:v="urn:schemas-microsoft-com:vml" Requires="v">
                <p:oleObj name="Equation" r:id="rId2" imgW="2209680" imgH="203040" progId="Equation.DSMT4">
                  <p:embed/>
                </p:oleObj>
              </mc:Choice>
              <mc:Fallback>
                <p:oleObj name="Equation" r:id="rId2" imgW="2209680" imgH="203040" progId="Equation.DSMT4">
                  <p:embed/>
                  <p:pic>
                    <p:nvPicPr>
                      <p:cNvPr id="49" name="Object 48">
                        <a:extLst>
                          <a:ext uri="{FF2B5EF4-FFF2-40B4-BE49-F238E27FC236}">
                            <a16:creationId xmlns:a16="http://schemas.microsoft.com/office/drawing/2014/main" id="{0ADF5ED4-C03B-4B1F-96E7-26B4B291DEED}"/>
                          </a:ext>
                        </a:extLst>
                      </p:cNvPr>
                      <p:cNvPicPr>
                        <a:picLocks noChangeAspect="1" noChangeArrowheads="1"/>
                      </p:cNvPicPr>
                      <p:nvPr/>
                    </p:nvPicPr>
                    <p:blipFill>
                      <a:blip r:embed="rId3"/>
                      <a:srcRect/>
                      <a:stretch>
                        <a:fillRect/>
                      </a:stretch>
                    </p:blipFill>
                    <p:spPr bwMode="auto">
                      <a:xfrm>
                        <a:off x="1636713" y="2092325"/>
                        <a:ext cx="3748087"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Object 33" descr="50 pi t.&#10;">
            <a:extLst>
              <a:ext uri="{FF2B5EF4-FFF2-40B4-BE49-F238E27FC236}">
                <a16:creationId xmlns:a16="http://schemas.microsoft.com/office/drawing/2014/main" id="{E7642BFA-8C33-B372-FE78-45C8BA39BD07}"/>
              </a:ext>
            </a:extLst>
          </p:cNvPr>
          <p:cNvGraphicFramePr>
            <a:graphicFrameLocks noChangeAspect="1"/>
          </p:cNvGraphicFramePr>
          <p:nvPr>
            <p:extLst>
              <p:ext uri="{D42A27DB-BD31-4B8C-83A1-F6EECF244321}">
                <p14:modId xmlns:p14="http://schemas.microsoft.com/office/powerpoint/2010/main" val="2038671397"/>
              </p:ext>
            </p:extLst>
          </p:nvPr>
        </p:nvGraphicFramePr>
        <p:xfrm>
          <a:off x="468313" y="2573338"/>
          <a:ext cx="560387" cy="314325"/>
        </p:xfrm>
        <a:graphic>
          <a:graphicData uri="http://schemas.openxmlformats.org/presentationml/2006/ole">
            <mc:AlternateContent xmlns:mc="http://schemas.openxmlformats.org/markup-compatibility/2006">
              <mc:Choice xmlns:v="urn:schemas-microsoft-com:vml" Requires="v">
                <p:oleObj name="Equation" r:id="rId4" imgW="317160" imgH="177480" progId="Equation.DSMT4">
                  <p:embed/>
                </p:oleObj>
              </mc:Choice>
              <mc:Fallback>
                <p:oleObj name="Equation" r:id="rId4" imgW="317160" imgH="177480" progId="Equation.DSMT4">
                  <p:embed/>
                  <p:pic>
                    <p:nvPicPr>
                      <p:cNvPr id="33" name="Object 32">
                        <a:extLst>
                          <a:ext uri="{FF2B5EF4-FFF2-40B4-BE49-F238E27FC236}">
                            <a16:creationId xmlns:a16="http://schemas.microsoft.com/office/drawing/2014/main" id="{9E1D98A8-5341-3760-F3A1-23286BD98D82}"/>
                          </a:ext>
                        </a:extLst>
                      </p:cNvPr>
                      <p:cNvPicPr>
                        <a:picLocks noChangeAspect="1" noChangeArrowheads="1"/>
                      </p:cNvPicPr>
                      <p:nvPr/>
                    </p:nvPicPr>
                    <p:blipFill>
                      <a:blip r:embed="rId5"/>
                      <a:srcRect/>
                      <a:stretch>
                        <a:fillRect/>
                      </a:stretch>
                    </p:blipFill>
                    <p:spPr bwMode="auto">
                      <a:xfrm>
                        <a:off x="468313" y="2573338"/>
                        <a:ext cx="5603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155325" y="2525947"/>
            <a:ext cx="2627779" cy="405683"/>
          </a:xfrm>
        </p:spPr>
        <p:txBody>
          <a:bodyPr wrap="square" lIns="0" tIns="18000" rIns="0" bIns="18000" anchor="ctr">
            <a:spAutoFit/>
          </a:bodyPr>
          <a:lstStyle/>
          <a:p>
            <a:pPr marL="0" indent="0">
              <a:spcBef>
                <a:spcPts val="600"/>
              </a:spcBef>
              <a:buNone/>
            </a:pPr>
            <a:r>
              <a:rPr lang="en-US" altLang="en-US" sz="2400" noProof="0" dirty="0">
                <a:sym typeface="Symbol" pitchFamily="18" charset="2"/>
              </a:rPr>
              <a:t>has the units rad/s</a:t>
            </a:r>
            <a:endParaRPr lang="en-US" sz="2400" noProof="0" dirty="0"/>
          </a:p>
        </p:txBody>
      </p:sp>
      <p:graphicFrame>
        <p:nvGraphicFramePr>
          <p:cNvPr id="35" name="Object 34" descr="50 pi t.&#10;">
            <a:extLst>
              <a:ext uri="{FF2B5EF4-FFF2-40B4-BE49-F238E27FC236}">
                <a16:creationId xmlns:a16="http://schemas.microsoft.com/office/drawing/2014/main" id="{CBF6ED20-0115-613D-8515-EDAC564E4FE0}"/>
              </a:ext>
            </a:extLst>
          </p:cNvPr>
          <p:cNvGraphicFramePr>
            <a:graphicFrameLocks noChangeAspect="1"/>
          </p:cNvGraphicFramePr>
          <p:nvPr>
            <p:extLst>
              <p:ext uri="{D42A27DB-BD31-4B8C-83A1-F6EECF244321}">
                <p14:modId xmlns:p14="http://schemas.microsoft.com/office/powerpoint/2010/main" val="858033532"/>
              </p:ext>
            </p:extLst>
          </p:nvPr>
        </p:nvGraphicFramePr>
        <p:xfrm>
          <a:off x="433512" y="3030209"/>
          <a:ext cx="649220" cy="313872"/>
        </p:xfrm>
        <a:graphic>
          <a:graphicData uri="http://schemas.openxmlformats.org/presentationml/2006/ole">
            <mc:AlternateContent xmlns:mc="http://schemas.openxmlformats.org/markup-compatibility/2006">
              <mc:Choice xmlns:v="urn:schemas-microsoft-com:vml" Requires="v">
                <p:oleObj name="Equation" r:id="rId6" imgW="368280" imgH="177480" progId="Equation.DSMT4">
                  <p:embed/>
                </p:oleObj>
              </mc:Choice>
              <mc:Fallback>
                <p:oleObj name="Equation" r:id="rId6" imgW="368280" imgH="177480" progId="Equation.DSMT4">
                  <p:embed/>
                  <p:pic>
                    <p:nvPicPr>
                      <p:cNvPr id="34" name="Object 33">
                        <a:extLst>
                          <a:ext uri="{FF2B5EF4-FFF2-40B4-BE49-F238E27FC236}">
                            <a16:creationId xmlns:a16="http://schemas.microsoft.com/office/drawing/2014/main" id="{E7642BFA-8C33-B372-FE78-45C8BA39BD07}"/>
                          </a:ext>
                        </a:extLst>
                      </p:cNvPr>
                      <p:cNvPicPr>
                        <a:picLocks noChangeAspect="1" noChangeArrowheads="1"/>
                      </p:cNvPicPr>
                      <p:nvPr/>
                    </p:nvPicPr>
                    <p:blipFill>
                      <a:blip r:embed="rId7"/>
                      <a:srcRect/>
                      <a:stretch>
                        <a:fillRect/>
                      </a:stretch>
                    </p:blipFill>
                    <p:spPr bwMode="auto">
                      <a:xfrm>
                        <a:off x="433512" y="3030209"/>
                        <a:ext cx="649220" cy="313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156448" y="2990990"/>
            <a:ext cx="2850775" cy="405683"/>
          </a:xfrm>
        </p:spPr>
        <p:txBody>
          <a:bodyPr wrap="square" lIns="0" tIns="18000" rIns="0" bIns="18000" anchor="ctr">
            <a:spAutoFit/>
          </a:bodyPr>
          <a:lstStyle/>
          <a:p>
            <a:pPr marL="0" indent="0">
              <a:spcBef>
                <a:spcPts val="600"/>
              </a:spcBef>
              <a:buNone/>
            </a:pPr>
            <a:r>
              <a:rPr lang="en-US" altLang="en-US" sz="2400" noProof="0" dirty="0">
                <a:sym typeface="Symbol" pitchFamily="18" charset="2"/>
              </a:rPr>
              <a:t>has the units radians</a:t>
            </a:r>
            <a:endParaRPr lang="en-US" sz="2400" noProof="0" dirty="0"/>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49" y="3447066"/>
            <a:ext cx="3344955" cy="405683"/>
          </a:xfrm>
        </p:spPr>
        <p:txBody>
          <a:bodyPr wrap="square" lIns="0" tIns="18000" rIns="0" bIns="18000" anchor="ctr">
            <a:spAutoFit/>
          </a:bodyPr>
          <a:lstStyle/>
          <a:p>
            <a:pPr marL="0" indent="0">
              <a:spcBef>
                <a:spcPts val="600"/>
              </a:spcBef>
              <a:buNone/>
            </a:pPr>
            <a:r>
              <a:rPr lang="en-US" altLang="en-US" sz="2400" noProof="0" dirty="0">
                <a:sym typeface="Symbol" pitchFamily="18" charset="2"/>
              </a:rPr>
              <a:t>45 has the units degrees</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38148" y="3930460"/>
            <a:ext cx="2215408" cy="405683"/>
          </a:xfrm>
        </p:spPr>
        <p:txBody>
          <a:bodyPr wrap="square" lIns="0" tIns="18000" rIns="0" bIns="18000" anchor="ctr">
            <a:spAutoFit/>
          </a:bodyPr>
          <a:lstStyle/>
          <a:p>
            <a:pPr marL="0" indent="0">
              <a:spcBef>
                <a:spcPts val="600"/>
              </a:spcBef>
              <a:buNone/>
            </a:pPr>
            <a:r>
              <a:rPr lang="en-US" altLang="en-US" sz="2400" noProof="0" dirty="0">
                <a:sym typeface="Symbol" pitchFamily="18" charset="2"/>
              </a:rPr>
              <a:t>Need to convert</a:t>
            </a:r>
            <a:endParaRPr lang="en-US" sz="2400" noProof="0" dirty="0"/>
          </a:p>
        </p:txBody>
      </p:sp>
      <p:graphicFrame>
        <p:nvGraphicFramePr>
          <p:cNvPr id="36" name="Object 35" descr="50 pi t.&#10;">
            <a:extLst>
              <a:ext uri="{FF2B5EF4-FFF2-40B4-BE49-F238E27FC236}">
                <a16:creationId xmlns:a16="http://schemas.microsoft.com/office/drawing/2014/main" id="{75C127F9-1DA6-01EF-B171-6E7A1ABDEE25}"/>
              </a:ext>
            </a:extLst>
          </p:cNvPr>
          <p:cNvGraphicFramePr>
            <a:graphicFrameLocks noChangeAspect="1"/>
          </p:cNvGraphicFramePr>
          <p:nvPr>
            <p:extLst>
              <p:ext uri="{D42A27DB-BD31-4B8C-83A1-F6EECF244321}">
                <p14:modId xmlns:p14="http://schemas.microsoft.com/office/powerpoint/2010/main" val="2642556714"/>
              </p:ext>
            </p:extLst>
          </p:nvPr>
        </p:nvGraphicFramePr>
        <p:xfrm>
          <a:off x="2746409" y="3998399"/>
          <a:ext cx="649220" cy="313872"/>
        </p:xfrm>
        <a:graphic>
          <a:graphicData uri="http://schemas.openxmlformats.org/presentationml/2006/ole">
            <mc:AlternateContent xmlns:mc="http://schemas.openxmlformats.org/markup-compatibility/2006">
              <mc:Choice xmlns:v="urn:schemas-microsoft-com:vml" Requires="v">
                <p:oleObj name="Equation" r:id="rId6" imgW="368280" imgH="177480" progId="Equation.DSMT4">
                  <p:embed/>
                </p:oleObj>
              </mc:Choice>
              <mc:Fallback>
                <p:oleObj name="Equation" r:id="rId6" imgW="368280" imgH="177480" progId="Equation.DSMT4">
                  <p:embed/>
                  <p:pic>
                    <p:nvPicPr>
                      <p:cNvPr id="35" name="Object 34">
                        <a:extLst>
                          <a:ext uri="{FF2B5EF4-FFF2-40B4-BE49-F238E27FC236}">
                            <a16:creationId xmlns:a16="http://schemas.microsoft.com/office/drawing/2014/main" id="{CBF6ED20-0115-613D-8515-EDAC564E4FE0}"/>
                          </a:ext>
                        </a:extLst>
                      </p:cNvPr>
                      <p:cNvPicPr>
                        <a:picLocks noChangeAspect="1" noChangeArrowheads="1"/>
                      </p:cNvPicPr>
                      <p:nvPr/>
                    </p:nvPicPr>
                    <p:blipFill>
                      <a:blip r:embed="rId7"/>
                      <a:srcRect/>
                      <a:stretch>
                        <a:fillRect/>
                      </a:stretch>
                    </p:blipFill>
                    <p:spPr bwMode="auto">
                      <a:xfrm>
                        <a:off x="2746409" y="3998399"/>
                        <a:ext cx="649220" cy="313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3486149" y="3937229"/>
            <a:ext cx="4994463" cy="405683"/>
          </a:xfrm>
        </p:spPr>
        <p:txBody>
          <a:bodyPr wrap="square" lIns="0" tIns="18000" rIns="0" bIns="18000" anchor="ctr">
            <a:spAutoFit/>
          </a:bodyPr>
          <a:lstStyle/>
          <a:p>
            <a:pPr marL="0" indent="0">
              <a:spcBef>
                <a:spcPts val="600"/>
              </a:spcBef>
              <a:buNone/>
            </a:pPr>
            <a:r>
              <a:rPr lang="en-US" altLang="en-US" sz="2400" noProof="0" dirty="0">
                <a:sym typeface="Symbol" pitchFamily="18" charset="2"/>
              </a:rPr>
              <a:t>to degrees, or 45 to radians, and set</a:t>
            </a:r>
            <a:endParaRPr lang="en-US" sz="2400" noProof="0" dirty="0"/>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38152" y="4395272"/>
            <a:ext cx="6805330" cy="405683"/>
          </a:xfrm>
        </p:spPr>
        <p:txBody>
          <a:bodyPr wrap="square" lIns="0" tIns="18000" rIns="0" bIns="18000" anchor="ctr">
            <a:spAutoFit/>
          </a:bodyPr>
          <a:lstStyle/>
          <a:p>
            <a:pPr marL="0" indent="0">
              <a:spcBef>
                <a:spcPts val="600"/>
              </a:spcBef>
              <a:buNone/>
            </a:pPr>
            <a:r>
              <a:rPr lang="en-US" altLang="en-US" sz="2400" noProof="0" dirty="0">
                <a:sym typeface="Symbol" pitchFamily="18" charset="2"/>
              </a:rPr>
              <a:t>your calculator appropriately!</a:t>
            </a:r>
            <a:r>
              <a:rPr lang="tr-TR" altLang="en-US" sz="2400" noProof="0" dirty="0">
                <a:sym typeface="Symbol" pitchFamily="18" charset="2"/>
              </a:rPr>
              <a:t> At </a:t>
            </a:r>
            <a:r>
              <a:rPr lang="tr-TR" altLang="en-US" sz="2400" b="1" dirty="0"/>
              <a:t>(t </a:t>
            </a:r>
            <a:r>
              <a:rPr lang="en-GB" altLang="en-US" sz="2400" b="1" dirty="0"/>
              <a:t>= 1s </a:t>
            </a:r>
            <a:r>
              <a:rPr lang="tr-TR" altLang="en-US" sz="2400" b="1" dirty="0"/>
              <a:t>)</a:t>
            </a:r>
            <a:endParaRPr lang="en-US" altLang="en-US" sz="2400" noProof="0" dirty="0">
              <a:sym typeface="Symbol" pitchFamily="18" charset="2"/>
            </a:endParaRPr>
          </a:p>
        </p:txBody>
      </p:sp>
      <p:graphicFrame>
        <p:nvGraphicFramePr>
          <p:cNvPr id="37" name="Object 36" descr="2 pi divided by 360 degrees equals 50 pi multiplied by (0.005) divided by x degrees right arrow, x equals 45 degrees.&#10;">
            <a:extLst>
              <a:ext uri="{FF2B5EF4-FFF2-40B4-BE49-F238E27FC236}">
                <a16:creationId xmlns:a16="http://schemas.microsoft.com/office/drawing/2014/main" id="{316A85F7-9B15-A1CC-5C58-6C0B942B9ECD}"/>
              </a:ext>
            </a:extLst>
          </p:cNvPr>
          <p:cNvGraphicFramePr>
            <a:graphicFrameLocks noChangeAspect="1"/>
          </p:cNvGraphicFramePr>
          <p:nvPr>
            <p:extLst>
              <p:ext uri="{D42A27DB-BD31-4B8C-83A1-F6EECF244321}">
                <p14:modId xmlns:p14="http://schemas.microsoft.com/office/powerpoint/2010/main" val="2488144435"/>
              </p:ext>
            </p:extLst>
          </p:nvPr>
        </p:nvGraphicFramePr>
        <p:xfrm>
          <a:off x="431985" y="4879878"/>
          <a:ext cx="4222750" cy="344487"/>
        </p:xfrm>
        <a:graphic>
          <a:graphicData uri="http://schemas.openxmlformats.org/presentationml/2006/ole">
            <mc:AlternateContent xmlns:mc="http://schemas.openxmlformats.org/markup-compatibility/2006">
              <mc:Choice xmlns:v="urn:schemas-microsoft-com:vml" Requires="v">
                <p:oleObj name="Equation" r:id="rId8" imgW="2489040" imgH="203040" progId="Equation.DSMT4">
                  <p:embed/>
                </p:oleObj>
              </mc:Choice>
              <mc:Fallback>
                <p:oleObj name="Equation" r:id="rId8" imgW="2489040" imgH="203040" progId="Equation.DSMT4">
                  <p:embed/>
                  <p:pic>
                    <p:nvPicPr>
                      <p:cNvPr id="33" name="Object 32">
                        <a:extLst>
                          <a:ext uri="{FF2B5EF4-FFF2-40B4-BE49-F238E27FC236}">
                            <a16:creationId xmlns:a16="http://schemas.microsoft.com/office/drawing/2014/main" id="{9E1D98A8-5341-3760-F3A1-23286BD98D82}"/>
                          </a:ext>
                        </a:extLst>
                      </p:cNvPr>
                      <p:cNvPicPr>
                        <a:picLocks noChangeAspect="1" noChangeArrowheads="1"/>
                      </p:cNvPicPr>
                      <p:nvPr/>
                    </p:nvPicPr>
                    <p:blipFill>
                      <a:blip r:embed="rId9"/>
                      <a:srcRect/>
                      <a:stretch>
                        <a:fillRect/>
                      </a:stretch>
                    </p:blipFill>
                    <p:spPr bwMode="auto">
                      <a:xfrm>
                        <a:off x="431985" y="4879878"/>
                        <a:ext cx="422275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438150" y="5274279"/>
            <a:ext cx="825874" cy="405683"/>
          </a:xfrm>
        </p:spPr>
        <p:txBody>
          <a:bodyPr wrap="square" lIns="0" tIns="18000" rIns="0" bIns="18000" anchor="ctr">
            <a:spAutoFit/>
          </a:bodyPr>
          <a:lstStyle/>
          <a:p>
            <a:pPr marL="0" indent="0">
              <a:spcBef>
                <a:spcPts val="600"/>
              </a:spcBef>
              <a:buNone/>
            </a:pPr>
            <a:r>
              <a:rPr lang="en-US" altLang="en-US" sz="2400" noProof="0" dirty="0">
                <a:sym typeface="Symbol" pitchFamily="18" charset="2"/>
              </a:rPr>
              <a:t>Thus,</a:t>
            </a:r>
            <a:endParaRPr lang="en-US" sz="2400" noProof="0" dirty="0"/>
          </a:p>
        </p:txBody>
      </p:sp>
      <p:graphicFrame>
        <p:nvGraphicFramePr>
          <p:cNvPr id="38" name="Object 37" descr="i (0.005) equals 0.2 cosine Open Parenthesis 45 degrees plus 45 degrees Close Parenthesis Ampere.&#10;">
            <a:extLst>
              <a:ext uri="{FF2B5EF4-FFF2-40B4-BE49-F238E27FC236}">
                <a16:creationId xmlns:a16="http://schemas.microsoft.com/office/drawing/2014/main" id="{52EBE566-110F-DB49-3E8D-E66CAFE3D3BD}"/>
              </a:ext>
            </a:extLst>
          </p:cNvPr>
          <p:cNvGraphicFramePr>
            <a:graphicFrameLocks noChangeAspect="1"/>
          </p:cNvGraphicFramePr>
          <p:nvPr>
            <p:extLst>
              <p:ext uri="{D42A27DB-BD31-4B8C-83A1-F6EECF244321}">
                <p14:modId xmlns:p14="http://schemas.microsoft.com/office/powerpoint/2010/main" val="2052344103"/>
              </p:ext>
            </p:extLst>
          </p:nvPr>
        </p:nvGraphicFramePr>
        <p:xfrm>
          <a:off x="1335463" y="5303370"/>
          <a:ext cx="3725862" cy="431800"/>
        </p:xfrm>
        <a:graphic>
          <a:graphicData uri="http://schemas.openxmlformats.org/presentationml/2006/ole">
            <mc:AlternateContent xmlns:mc="http://schemas.openxmlformats.org/markup-compatibility/2006">
              <mc:Choice xmlns:v="urn:schemas-microsoft-com:vml" Requires="v">
                <p:oleObj name="Equation" r:id="rId10" imgW="2197080" imgH="253800" progId="Equation.DSMT4">
                  <p:embed/>
                </p:oleObj>
              </mc:Choice>
              <mc:Fallback>
                <p:oleObj name="Equation" r:id="rId10" imgW="2197080" imgH="253800" progId="Equation.DSMT4">
                  <p:embed/>
                  <p:pic>
                    <p:nvPicPr>
                      <p:cNvPr id="37" name="Object 36">
                        <a:extLst>
                          <a:ext uri="{FF2B5EF4-FFF2-40B4-BE49-F238E27FC236}">
                            <a16:creationId xmlns:a16="http://schemas.microsoft.com/office/drawing/2014/main" id="{316A85F7-9B15-A1CC-5C58-6C0B942B9ECD}"/>
                          </a:ext>
                        </a:extLst>
                      </p:cNvPr>
                      <p:cNvPicPr>
                        <a:picLocks noChangeAspect="1" noChangeArrowheads="1"/>
                      </p:cNvPicPr>
                      <p:nvPr/>
                    </p:nvPicPr>
                    <p:blipFill>
                      <a:blip r:embed="rId11"/>
                      <a:srcRect/>
                      <a:stretch>
                        <a:fillRect/>
                      </a:stretch>
                    </p:blipFill>
                    <p:spPr bwMode="auto">
                      <a:xfrm>
                        <a:off x="1335463" y="5303370"/>
                        <a:ext cx="37258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 name="Object 46" descr="equals 0.2 cosine (90 degrees) equals 0 Ampere.&#10;">
            <a:extLst>
              <a:ext uri="{FF2B5EF4-FFF2-40B4-BE49-F238E27FC236}">
                <a16:creationId xmlns:a16="http://schemas.microsoft.com/office/drawing/2014/main" id="{FF29183A-F069-A094-59D0-BEC56FC928F7}"/>
              </a:ext>
            </a:extLst>
          </p:cNvPr>
          <p:cNvGraphicFramePr>
            <a:graphicFrameLocks noChangeAspect="1"/>
          </p:cNvGraphicFramePr>
          <p:nvPr>
            <p:extLst>
              <p:ext uri="{D42A27DB-BD31-4B8C-83A1-F6EECF244321}">
                <p14:modId xmlns:p14="http://schemas.microsoft.com/office/powerpoint/2010/main" val="1567016035"/>
              </p:ext>
            </p:extLst>
          </p:nvPr>
        </p:nvGraphicFramePr>
        <p:xfrm>
          <a:off x="2416365" y="5794745"/>
          <a:ext cx="2154238" cy="344488"/>
        </p:xfrm>
        <a:graphic>
          <a:graphicData uri="http://schemas.openxmlformats.org/presentationml/2006/ole">
            <mc:AlternateContent xmlns:mc="http://schemas.openxmlformats.org/markup-compatibility/2006">
              <mc:Choice xmlns:v="urn:schemas-microsoft-com:vml" Requires="v">
                <p:oleObj name="Equation" r:id="rId12" imgW="1269720" imgH="203040" progId="Equation.DSMT4">
                  <p:embed/>
                </p:oleObj>
              </mc:Choice>
              <mc:Fallback>
                <p:oleObj name="Equation" r:id="rId12" imgW="1269720" imgH="203040" progId="Equation.DSMT4">
                  <p:embed/>
                  <p:pic>
                    <p:nvPicPr>
                      <p:cNvPr id="38" name="Object 37">
                        <a:extLst>
                          <a:ext uri="{FF2B5EF4-FFF2-40B4-BE49-F238E27FC236}">
                            <a16:creationId xmlns:a16="http://schemas.microsoft.com/office/drawing/2014/main" id="{52EBE566-110F-DB49-3E8D-E66CAFE3D3BD}"/>
                          </a:ext>
                        </a:extLst>
                      </p:cNvPr>
                      <p:cNvPicPr>
                        <a:picLocks noChangeAspect="1" noChangeArrowheads="1"/>
                      </p:cNvPicPr>
                      <p:nvPr/>
                    </p:nvPicPr>
                    <p:blipFill>
                      <a:blip r:embed="rId13"/>
                      <a:srcRect/>
                      <a:stretch>
                        <a:fillRect/>
                      </a:stretch>
                    </p:blipFill>
                    <p:spPr bwMode="auto">
                      <a:xfrm>
                        <a:off x="2416365" y="5794745"/>
                        <a:ext cx="2154238"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18278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1"/>
            <a:ext cx="8229600" cy="1144347"/>
          </a:xfrm>
        </p:spPr>
        <p:txBody>
          <a:bodyPr/>
          <a:lstStyle/>
          <a:p>
            <a:r>
              <a:rPr lang="en-US" noProof="0" dirty="0"/>
              <a:t>Chapter 9 – Sinusoidal Steady-State Analysis </a:t>
            </a:r>
            <a:r>
              <a:rPr lang="en-US" sz="2800" noProof="0" dirty="0"/>
              <a:t>(7 of 24)</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94737"/>
            <a:ext cx="1247212" cy="405683"/>
          </a:xfrm>
        </p:spPr>
        <p:txBody>
          <a:bodyPr wrap="square" lIns="0" tIns="18000" rIns="0" bIns="18000" anchor="ctr">
            <a:spAutoFit/>
          </a:bodyPr>
          <a:lstStyle/>
          <a:p>
            <a:pPr marL="0" indent="0">
              <a:spcBef>
                <a:spcPts val="600"/>
              </a:spcBef>
              <a:buNone/>
            </a:pPr>
            <a:r>
              <a:rPr lang="en-US" altLang="en-US" sz="2400" noProof="0" dirty="0"/>
              <a:t>Suppose</a:t>
            </a:r>
            <a:endParaRPr lang="en-US" sz="2400" noProof="0" dirty="0"/>
          </a:p>
        </p:txBody>
      </p:sp>
      <p:graphicFrame>
        <p:nvGraphicFramePr>
          <p:cNvPr id="27" name="Object 26" descr="v (t) equal to uppercase V subscript m baseline cosine Open Parenthesis omega t plus phi Close Parenthesis Volt.&#10;">
            <a:extLst>
              <a:ext uri="{FF2B5EF4-FFF2-40B4-BE49-F238E27FC236}">
                <a16:creationId xmlns:a16="http://schemas.microsoft.com/office/drawing/2014/main" id="{1DBCC65C-221C-F769-2B20-F736BEF3905B}"/>
              </a:ext>
            </a:extLst>
          </p:cNvPr>
          <p:cNvGraphicFramePr>
            <a:graphicFrameLocks noChangeAspect="1"/>
          </p:cNvGraphicFramePr>
          <p:nvPr>
            <p:extLst>
              <p:ext uri="{D42A27DB-BD31-4B8C-83A1-F6EECF244321}">
                <p14:modId xmlns:p14="http://schemas.microsoft.com/office/powerpoint/2010/main" val="2791423744"/>
              </p:ext>
            </p:extLst>
          </p:nvPr>
        </p:nvGraphicFramePr>
        <p:xfrm>
          <a:off x="1767851" y="1645504"/>
          <a:ext cx="2461501" cy="396754"/>
        </p:xfrm>
        <a:graphic>
          <a:graphicData uri="http://schemas.openxmlformats.org/presentationml/2006/ole">
            <mc:AlternateContent xmlns:mc="http://schemas.openxmlformats.org/markup-compatibility/2006">
              <mc:Choice xmlns:v="urn:schemas-microsoft-com:vml" Requires="v">
                <p:oleObj name="Equation" r:id="rId3" imgW="1422360" imgH="228600" progId="Equation.DSMT4">
                  <p:embed/>
                </p:oleObj>
              </mc:Choice>
              <mc:Fallback>
                <p:oleObj name="Equation" r:id="rId3" imgW="1422360" imgH="228600" progId="Equation.DSMT4">
                  <p:embed/>
                  <p:pic>
                    <p:nvPicPr>
                      <p:cNvPr id="33" name="Object 32">
                        <a:extLst>
                          <a:ext uri="{FF2B5EF4-FFF2-40B4-BE49-F238E27FC236}">
                            <a16:creationId xmlns:a16="http://schemas.microsoft.com/office/drawing/2014/main" id="{9E1D98A8-5341-3760-F3A1-23286BD98D82}"/>
                          </a:ext>
                        </a:extLst>
                      </p:cNvPr>
                      <p:cNvPicPr>
                        <a:picLocks noChangeAspect="1" noChangeArrowheads="1"/>
                      </p:cNvPicPr>
                      <p:nvPr/>
                    </p:nvPicPr>
                    <p:blipFill>
                      <a:blip r:embed="rId4"/>
                      <a:srcRect/>
                      <a:stretch>
                        <a:fillRect/>
                      </a:stretch>
                    </p:blipFill>
                    <p:spPr bwMode="auto">
                      <a:xfrm>
                        <a:off x="1767851" y="1645504"/>
                        <a:ext cx="2461501" cy="396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46763" y="1593617"/>
            <a:ext cx="2645706" cy="405683"/>
          </a:xfrm>
        </p:spPr>
        <p:txBody>
          <a:bodyPr wrap="square" lIns="0" tIns="18000" rIns="0" bIns="18000" anchor="ctr">
            <a:spAutoFit/>
          </a:bodyPr>
          <a:lstStyle/>
          <a:p>
            <a:pPr marL="0" indent="0">
              <a:spcBef>
                <a:spcPts val="600"/>
              </a:spcBef>
              <a:buNone/>
            </a:pPr>
            <a:r>
              <a:rPr lang="en-US" altLang="en-US" sz="2400" noProof="0" dirty="0">
                <a:sym typeface="Symbol" pitchFamily="18" charset="2"/>
              </a:rPr>
              <a:t>in the circuit below:</a:t>
            </a:r>
            <a:endParaRPr lang="en-US" sz="2400" noProof="0" dirty="0"/>
          </a:p>
        </p:txBody>
      </p:sp>
      <p:pic>
        <p:nvPicPr>
          <p:cNvPr id="28" name="Picture 11" descr="A circuit connection shows voltage nu sub s from the positive terminal of a source that is connected to an open switch labeled t equals 0. There is a clockwise downward arrow drawn at the switch. This switch is connected to a resistor R through which current i of t passes to an inductor L that is connected to the negative terminal of the voltage source.">
            <a:extLst>
              <a:ext uri="{FF2B5EF4-FFF2-40B4-BE49-F238E27FC236}">
                <a16:creationId xmlns:a16="http://schemas.microsoft.com/office/drawing/2014/main" id="{99075CFE-6B71-62AE-A579-294C2E7A138A}"/>
              </a:ext>
            </a:extLst>
          </p:cNvPr>
          <p:cNvPicPr>
            <a:picLocks noChangeAspect="1" noChangeArrowheads="1"/>
          </p:cNvPicPr>
          <p:nvPr/>
        </p:nvPicPr>
        <p:blipFill>
          <a:blip r:embed="rId5"/>
          <a:stretch>
            <a:fillRect/>
          </a:stretch>
        </p:blipFill>
        <p:spPr bwMode="auto">
          <a:xfrm>
            <a:off x="2942268" y="2147719"/>
            <a:ext cx="2907159" cy="1567295"/>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48" y="3833668"/>
            <a:ext cx="2986366" cy="405683"/>
          </a:xfrm>
        </p:spPr>
        <p:txBody>
          <a:bodyPr wrap="square" lIns="0" tIns="18000" rIns="0" bIns="18000" anchor="ctr">
            <a:spAutoFit/>
          </a:bodyPr>
          <a:lstStyle/>
          <a:p>
            <a:pPr marL="0" indent="0">
              <a:spcBef>
                <a:spcPts val="600"/>
              </a:spcBef>
              <a:buNone/>
            </a:pPr>
            <a:r>
              <a:rPr lang="en-US" sz="2400" kern="0" noProof="0" dirty="0"/>
              <a:t>The equation for </a:t>
            </a:r>
            <a:r>
              <a:rPr lang="en-US" sz="2400" i="1" kern="0" noProof="0" dirty="0" err="1"/>
              <a:t>i</a:t>
            </a:r>
            <a:r>
              <a:rPr lang="en-US" sz="2400" i="1" kern="0" noProof="0" dirty="0"/>
              <a:t>(t)</a:t>
            </a:r>
            <a:r>
              <a:rPr lang="en-US" sz="2400" kern="0" noProof="0" dirty="0"/>
              <a:t> is</a:t>
            </a:r>
            <a:endParaRPr lang="en-US" sz="2400" kern="0" noProof="0" dirty="0">
              <a:sym typeface="Symbol"/>
            </a:endParaRPr>
          </a:p>
        </p:txBody>
      </p:sp>
      <p:graphicFrame>
        <p:nvGraphicFramePr>
          <p:cNvPr id="39" name="Object 38" descr="L Start Fraction d i (t) over d t End Fraction plus R i (t) equals V subscript m baseline cosine Open Parenthesis omega t plus phi Close Parenthesis.&#10;">
            <a:extLst>
              <a:ext uri="{FF2B5EF4-FFF2-40B4-BE49-F238E27FC236}">
                <a16:creationId xmlns:a16="http://schemas.microsoft.com/office/drawing/2014/main" id="{E8382226-3C6B-8968-0419-D686D25C2C8F}"/>
              </a:ext>
            </a:extLst>
          </p:cNvPr>
          <p:cNvGraphicFramePr>
            <a:graphicFrameLocks noChangeAspect="1"/>
          </p:cNvGraphicFramePr>
          <p:nvPr>
            <p:extLst>
              <p:ext uri="{D42A27DB-BD31-4B8C-83A1-F6EECF244321}">
                <p14:modId xmlns:p14="http://schemas.microsoft.com/office/powerpoint/2010/main" val="2331569802"/>
              </p:ext>
            </p:extLst>
          </p:nvPr>
        </p:nvGraphicFramePr>
        <p:xfrm>
          <a:off x="3673475" y="3787775"/>
          <a:ext cx="3170238" cy="630238"/>
        </p:xfrm>
        <a:graphic>
          <a:graphicData uri="http://schemas.openxmlformats.org/presentationml/2006/ole">
            <mc:AlternateContent xmlns:mc="http://schemas.openxmlformats.org/markup-compatibility/2006">
              <mc:Choice xmlns:v="urn:schemas-microsoft-com:vml" Requires="v">
                <p:oleObj name="Equation" r:id="rId6" imgW="1981080" imgH="393480" progId="Equation.DSMT4">
                  <p:embed/>
                </p:oleObj>
              </mc:Choice>
              <mc:Fallback>
                <p:oleObj name="Equation" r:id="rId6" imgW="1981080" imgH="393480" progId="Equation.DSMT4">
                  <p:embed/>
                  <p:pic>
                    <p:nvPicPr>
                      <p:cNvPr id="11" name="Object 10"/>
                      <p:cNvPicPr>
                        <a:picLocks noChangeAspect="1" noChangeArrowheads="1"/>
                      </p:cNvPicPr>
                      <p:nvPr/>
                    </p:nvPicPr>
                    <p:blipFill>
                      <a:blip r:embed="rId7"/>
                      <a:srcRect/>
                      <a:stretch>
                        <a:fillRect/>
                      </a:stretch>
                    </p:blipFill>
                    <p:spPr bwMode="auto">
                      <a:xfrm>
                        <a:off x="3673475" y="3787775"/>
                        <a:ext cx="3170238"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1" y="4486974"/>
            <a:ext cx="6419847" cy="405683"/>
          </a:xfrm>
        </p:spPr>
        <p:txBody>
          <a:bodyPr wrap="square" lIns="0" tIns="18000" rIns="0" bIns="18000" anchor="ctr">
            <a:spAutoFit/>
          </a:bodyPr>
          <a:lstStyle/>
          <a:p>
            <a:pPr marL="0" indent="0">
              <a:spcBef>
                <a:spcPts val="600"/>
              </a:spcBef>
              <a:buNone/>
            </a:pPr>
            <a:r>
              <a:rPr lang="en-US" sz="2400" kern="0" noProof="0" dirty="0"/>
              <a:t>The solution of this equation for </a:t>
            </a:r>
            <a:r>
              <a:rPr lang="en-US" sz="2400" i="1" kern="0" noProof="0" dirty="0" err="1"/>
              <a:t>i</a:t>
            </a:r>
            <a:r>
              <a:rPr lang="en-US" sz="2400" i="1" kern="0" noProof="0" dirty="0"/>
              <a:t>(t)</a:t>
            </a:r>
            <a:r>
              <a:rPr lang="en-US" sz="2400" kern="0" noProof="0" dirty="0"/>
              <a:t> is</a:t>
            </a:r>
            <a:endParaRPr lang="en-US" sz="2400" kern="0" noProof="0" dirty="0">
              <a:sym typeface="Symbol"/>
            </a:endParaRPr>
          </a:p>
        </p:txBody>
      </p:sp>
      <p:graphicFrame>
        <p:nvGraphicFramePr>
          <p:cNvPr id="40" name="Object 39" descr="The figure illustrates the expression for i (t).&#10;Long description is available in notes, press F6.">
            <a:extLst>
              <a:ext uri="{FF2B5EF4-FFF2-40B4-BE49-F238E27FC236}">
                <a16:creationId xmlns:a16="http://schemas.microsoft.com/office/drawing/2014/main" id="{66B73840-F318-BC86-F30D-300431A36FB9}"/>
              </a:ext>
            </a:extLst>
          </p:cNvPr>
          <p:cNvGraphicFramePr>
            <a:graphicFrameLocks noChangeAspect="1"/>
          </p:cNvGraphicFramePr>
          <p:nvPr>
            <p:extLst>
              <p:ext uri="{D42A27DB-BD31-4B8C-83A1-F6EECF244321}">
                <p14:modId xmlns:p14="http://schemas.microsoft.com/office/powerpoint/2010/main" val="3437495519"/>
              </p:ext>
            </p:extLst>
          </p:nvPr>
        </p:nvGraphicFramePr>
        <p:xfrm>
          <a:off x="1316038" y="4984750"/>
          <a:ext cx="6807200" cy="773113"/>
        </p:xfrm>
        <a:graphic>
          <a:graphicData uri="http://schemas.openxmlformats.org/presentationml/2006/ole">
            <mc:AlternateContent xmlns:mc="http://schemas.openxmlformats.org/markup-compatibility/2006">
              <mc:Choice xmlns:v="urn:schemas-microsoft-com:vml" Requires="v">
                <p:oleObj name="Equation" r:id="rId8" imgW="4254480" imgH="482400" progId="Equation.DSMT4">
                  <p:embed/>
                </p:oleObj>
              </mc:Choice>
              <mc:Fallback>
                <p:oleObj name="Equation" r:id="rId8" imgW="4254480" imgH="482400" progId="Equation.DSMT4">
                  <p:embed/>
                  <p:pic>
                    <p:nvPicPr>
                      <p:cNvPr id="12" name="Object 11"/>
                      <p:cNvPicPr>
                        <a:picLocks noChangeAspect="1" noChangeArrowheads="1"/>
                      </p:cNvPicPr>
                      <p:nvPr/>
                    </p:nvPicPr>
                    <p:blipFill>
                      <a:blip r:embed="rId9"/>
                      <a:srcRect/>
                      <a:stretch>
                        <a:fillRect/>
                      </a:stretch>
                    </p:blipFill>
                    <p:spPr bwMode="auto">
                      <a:xfrm>
                        <a:off x="1316038" y="4984750"/>
                        <a:ext cx="6807200"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38151" y="5857878"/>
            <a:ext cx="858837" cy="405683"/>
          </a:xfrm>
        </p:spPr>
        <p:txBody>
          <a:bodyPr wrap="square" lIns="0" tIns="18000" rIns="0" bIns="18000" anchor="ctr">
            <a:spAutoFit/>
          </a:bodyPr>
          <a:lstStyle/>
          <a:p>
            <a:pPr marL="0" indent="0">
              <a:spcBef>
                <a:spcPts val="600"/>
              </a:spcBef>
              <a:buNone/>
            </a:pPr>
            <a:r>
              <a:rPr lang="en-US" sz="2400" noProof="0" dirty="0"/>
              <a:t>where</a:t>
            </a:r>
          </a:p>
        </p:txBody>
      </p:sp>
      <p:graphicFrame>
        <p:nvGraphicFramePr>
          <p:cNvPr id="2" name="Object 1" descr="Theta equals tangent inverse Open Parenthesis omega L divided by R Close Parenthesis.&#10;">
            <a:extLst>
              <a:ext uri="{FF2B5EF4-FFF2-40B4-BE49-F238E27FC236}">
                <a16:creationId xmlns:a16="http://schemas.microsoft.com/office/drawing/2014/main" id="{62BC0AC8-570E-6AC0-681F-A37C185436F6}"/>
              </a:ext>
            </a:extLst>
          </p:cNvPr>
          <p:cNvGraphicFramePr>
            <a:graphicFrameLocks noChangeAspect="1"/>
          </p:cNvGraphicFramePr>
          <p:nvPr>
            <p:extLst>
              <p:ext uri="{D42A27DB-BD31-4B8C-83A1-F6EECF244321}">
                <p14:modId xmlns:p14="http://schemas.microsoft.com/office/powerpoint/2010/main" val="717305348"/>
              </p:ext>
            </p:extLst>
          </p:nvPr>
        </p:nvGraphicFramePr>
        <p:xfrm>
          <a:off x="1479828" y="5903909"/>
          <a:ext cx="1727200" cy="366712"/>
        </p:xfrm>
        <a:graphic>
          <a:graphicData uri="http://schemas.openxmlformats.org/presentationml/2006/ole">
            <mc:AlternateContent xmlns:mc="http://schemas.openxmlformats.org/markup-compatibility/2006">
              <mc:Choice xmlns:v="urn:schemas-microsoft-com:vml" Requires="v">
                <p:oleObj name="Equation" r:id="rId10" imgW="1079280" imgH="228600" progId="Equation.DSMT4">
                  <p:embed/>
                </p:oleObj>
              </mc:Choice>
              <mc:Fallback>
                <p:oleObj name="Equation" r:id="rId10" imgW="1079280" imgH="228600" progId="Equation.DSMT4">
                  <p:embed/>
                  <p:pic>
                    <p:nvPicPr>
                      <p:cNvPr id="40" name="Object 39">
                        <a:extLst>
                          <a:ext uri="{FF2B5EF4-FFF2-40B4-BE49-F238E27FC236}">
                            <a16:creationId xmlns:a16="http://schemas.microsoft.com/office/drawing/2014/main" id="{66B73840-F318-BC86-F30D-300431A36FB9}"/>
                          </a:ext>
                        </a:extLst>
                      </p:cNvPr>
                      <p:cNvPicPr>
                        <a:picLocks noChangeAspect="1" noChangeArrowheads="1"/>
                      </p:cNvPicPr>
                      <p:nvPr/>
                    </p:nvPicPr>
                    <p:blipFill>
                      <a:blip r:embed="rId11"/>
                      <a:srcRect/>
                      <a:stretch>
                        <a:fillRect/>
                      </a:stretch>
                    </p:blipFill>
                    <p:spPr bwMode="auto">
                      <a:xfrm>
                        <a:off x="1479828" y="5903909"/>
                        <a:ext cx="172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44632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3"/>
            <a:ext cx="8229600" cy="1144347"/>
          </a:xfrm>
        </p:spPr>
        <p:txBody>
          <a:bodyPr/>
          <a:lstStyle/>
          <a:p>
            <a:r>
              <a:rPr lang="en-US" sz="3600" noProof="0" dirty="0">
                <a:latin typeface="+mj-lt"/>
              </a:rPr>
              <a:t>Chapter 9 – Sinusoidal Steady-State Analysis </a:t>
            </a:r>
            <a:r>
              <a:rPr lang="en-US" sz="2800" noProof="0" dirty="0">
                <a:latin typeface="+mj-lt"/>
              </a:rPr>
              <a:t>(8 of 24)</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87408"/>
            <a:ext cx="8150038" cy="775015"/>
          </a:xfrm>
        </p:spPr>
        <p:txBody>
          <a:bodyPr wrap="square" lIns="0" tIns="18000" rIns="0" bIns="18000" anchor="ctr">
            <a:spAutoFit/>
          </a:bodyPr>
          <a:lstStyle/>
          <a:p>
            <a:pPr marL="0" indent="0">
              <a:spcBef>
                <a:spcPts val="600"/>
              </a:spcBef>
              <a:buNone/>
            </a:pPr>
            <a:r>
              <a:rPr lang="en-US" altLang="en-US" sz="2400" noProof="0" dirty="0"/>
              <a:t>Consider the equation for the current in the </a:t>
            </a:r>
            <a:r>
              <a:rPr lang="en-US" altLang="en-US" sz="2400" spc="-300" noProof="0" dirty="0"/>
              <a:t>R </a:t>
            </a:r>
            <a:r>
              <a:rPr lang="en-US" altLang="en-US" sz="2400" noProof="0" dirty="0"/>
              <a:t>L circuit with the sinusoidal source:</a:t>
            </a:r>
            <a:endParaRPr lang="en-US" sz="2400" noProof="0" dirty="0"/>
          </a:p>
        </p:txBody>
      </p:sp>
      <p:graphicFrame>
        <p:nvGraphicFramePr>
          <p:cNvPr id="52" name="Object 51" descr="The figure illustrates the expression for i (t).&#10;Long description is available in notes, press F6.">
            <a:extLst>
              <a:ext uri="{FF2B5EF4-FFF2-40B4-BE49-F238E27FC236}">
                <a16:creationId xmlns:a16="http://schemas.microsoft.com/office/drawing/2014/main" id="{3A6CC2F9-0F1E-884D-8057-1C2791395F5C}"/>
              </a:ext>
            </a:extLst>
          </p:cNvPr>
          <p:cNvGraphicFramePr>
            <a:graphicFrameLocks noChangeAspect="1"/>
          </p:cNvGraphicFramePr>
          <p:nvPr>
            <p:extLst>
              <p:ext uri="{D42A27DB-BD31-4B8C-83A1-F6EECF244321}">
                <p14:modId xmlns:p14="http://schemas.microsoft.com/office/powerpoint/2010/main" val="490971667"/>
              </p:ext>
            </p:extLst>
          </p:nvPr>
        </p:nvGraphicFramePr>
        <p:xfrm>
          <a:off x="514350" y="2463800"/>
          <a:ext cx="8074025" cy="917575"/>
        </p:xfrm>
        <a:graphic>
          <a:graphicData uri="http://schemas.openxmlformats.org/presentationml/2006/ole">
            <mc:AlternateContent xmlns:mc="http://schemas.openxmlformats.org/markup-compatibility/2006">
              <mc:Choice xmlns:v="urn:schemas-microsoft-com:vml" Requires="v">
                <p:oleObj name="Equation" r:id="rId3" imgW="4254480" imgH="482400" progId="Equation.DSMT4">
                  <p:embed/>
                </p:oleObj>
              </mc:Choice>
              <mc:Fallback>
                <p:oleObj name="Equation" r:id="rId3" imgW="4254480" imgH="482400" progId="Equation.DSMT4">
                  <p:embed/>
                  <p:pic>
                    <p:nvPicPr>
                      <p:cNvPr id="8" name="Object 7"/>
                      <p:cNvPicPr>
                        <a:picLocks noChangeAspect="1" noChangeArrowheads="1"/>
                      </p:cNvPicPr>
                      <p:nvPr/>
                    </p:nvPicPr>
                    <p:blipFill>
                      <a:blip r:embed="rId4"/>
                      <a:srcRect/>
                      <a:stretch>
                        <a:fillRect/>
                      </a:stretch>
                    </p:blipFill>
                    <p:spPr bwMode="auto">
                      <a:xfrm>
                        <a:off x="514350" y="2463800"/>
                        <a:ext cx="80740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1" y="3465280"/>
            <a:ext cx="3362884" cy="405683"/>
          </a:xfrm>
        </p:spPr>
        <p:txBody>
          <a:bodyPr wrap="square" lIns="0" tIns="18000" rIns="0" bIns="18000" anchor="ctr">
            <a:spAutoFit/>
          </a:bodyPr>
          <a:lstStyle/>
          <a:p>
            <a:pPr marL="0" indent="0">
              <a:spcBef>
                <a:spcPts val="600"/>
              </a:spcBef>
              <a:buNone/>
            </a:pPr>
            <a:r>
              <a:rPr lang="en-US" altLang="en-US" sz="2400" noProof="0" dirty="0"/>
              <a:t>Which term(s) go to 0 as</a:t>
            </a:r>
            <a:endParaRPr lang="en-US" sz="2400" noProof="0" dirty="0"/>
          </a:p>
        </p:txBody>
      </p:sp>
      <p:graphicFrame>
        <p:nvGraphicFramePr>
          <p:cNvPr id="47" name="Object 46" descr="t right arrow, infinity question mark.&#10;">
            <a:extLst>
              <a:ext uri="{FF2B5EF4-FFF2-40B4-BE49-F238E27FC236}">
                <a16:creationId xmlns:a16="http://schemas.microsoft.com/office/drawing/2014/main" id="{443419EC-B199-DA4D-87CC-8A8323A7FBDA}"/>
              </a:ext>
            </a:extLst>
          </p:cNvPr>
          <p:cNvGraphicFramePr>
            <a:graphicFrameLocks noChangeAspect="1"/>
          </p:cNvGraphicFramePr>
          <p:nvPr>
            <p:extLst>
              <p:ext uri="{D42A27DB-BD31-4B8C-83A1-F6EECF244321}">
                <p14:modId xmlns:p14="http://schemas.microsoft.com/office/powerpoint/2010/main" val="3975437282"/>
              </p:ext>
            </p:extLst>
          </p:nvPr>
        </p:nvGraphicFramePr>
        <p:xfrm>
          <a:off x="3865467" y="3531720"/>
          <a:ext cx="812800" cy="352425"/>
        </p:xfrm>
        <a:graphic>
          <a:graphicData uri="http://schemas.openxmlformats.org/presentationml/2006/ole">
            <mc:AlternateContent xmlns:mc="http://schemas.openxmlformats.org/markup-compatibility/2006">
              <mc:Choice xmlns:v="urn:schemas-microsoft-com:vml" Requires="v">
                <p:oleObj name="Equation" r:id="rId5" imgW="469800" imgH="203040" progId="Equation.DSMT4">
                  <p:embed/>
                </p:oleObj>
              </mc:Choice>
              <mc:Fallback>
                <p:oleObj name="Equation" r:id="rId5" imgW="469800" imgH="203040" progId="Equation.DSMT4">
                  <p:embed/>
                  <p:pic>
                    <p:nvPicPr>
                      <p:cNvPr id="36" name="Object 35">
                        <a:extLst>
                          <a:ext uri="{FF2B5EF4-FFF2-40B4-BE49-F238E27FC236}">
                            <a16:creationId xmlns:a16="http://schemas.microsoft.com/office/drawing/2014/main" id="{20634DF2-8794-2C01-2A73-5E9B75040502}"/>
                          </a:ext>
                        </a:extLst>
                      </p:cNvPr>
                      <p:cNvPicPr>
                        <a:picLocks noChangeAspect="1" noChangeArrowheads="1"/>
                      </p:cNvPicPr>
                      <p:nvPr/>
                    </p:nvPicPr>
                    <p:blipFill>
                      <a:blip r:embed="rId6"/>
                      <a:srcRect/>
                      <a:stretch>
                        <a:fillRect/>
                      </a:stretch>
                    </p:blipFill>
                    <p:spPr bwMode="auto">
                      <a:xfrm>
                        <a:off x="3865467" y="3531720"/>
                        <a:ext cx="812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271869" y="4145477"/>
            <a:ext cx="4054475" cy="405683"/>
          </a:xfrm>
        </p:spPr>
        <p:txBody>
          <a:bodyPr lIns="0" tIns="18000" rIns="0" bIns="18000" anchor="ctr">
            <a:spAutoFit/>
          </a:bodyPr>
          <a:lstStyle/>
          <a:p>
            <a:pPr marL="0" indent="0">
              <a:spcBef>
                <a:spcPts val="600"/>
              </a:spcBef>
              <a:buNone/>
            </a:pPr>
            <a:r>
              <a:rPr lang="en-US" altLang="en-US" sz="2400" noProof="0" dirty="0">
                <a:solidFill>
                  <a:srgbClr val="007FA3"/>
                </a:solidFill>
              </a:rPr>
              <a:t>A. </a:t>
            </a:r>
            <a:r>
              <a:rPr lang="en-US" altLang="en-US" sz="2400" noProof="0" dirty="0"/>
              <a:t>The first term</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271869" y="4700167"/>
            <a:ext cx="4054475" cy="405683"/>
          </a:xfrm>
        </p:spPr>
        <p:txBody>
          <a:bodyPr lIns="0" tIns="18000" rIns="0" bIns="18000" anchor="ctr">
            <a:spAutoFit/>
          </a:bodyPr>
          <a:lstStyle/>
          <a:p>
            <a:pPr marL="0" indent="0">
              <a:spcBef>
                <a:spcPts val="600"/>
              </a:spcBef>
              <a:buNone/>
            </a:pPr>
            <a:r>
              <a:rPr lang="en-US" altLang="en-US" sz="2400" noProof="0" dirty="0">
                <a:solidFill>
                  <a:srgbClr val="007FA3"/>
                </a:solidFill>
              </a:rPr>
              <a:t>B.</a:t>
            </a:r>
            <a:r>
              <a:rPr lang="en-US" altLang="en-US" sz="2400" noProof="0" dirty="0"/>
              <a:t> The second term</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271869" y="5264241"/>
            <a:ext cx="4054475" cy="405683"/>
          </a:xfrm>
        </p:spPr>
        <p:txBody>
          <a:bodyPr lIns="0" tIns="18000" rIns="0" bIns="18000" anchor="ctr">
            <a:spAutoFit/>
          </a:bodyPr>
          <a:lstStyle/>
          <a:p>
            <a:pPr marL="0" indent="0">
              <a:spcBef>
                <a:spcPts val="600"/>
              </a:spcBef>
              <a:buNone/>
            </a:pPr>
            <a:r>
              <a:rPr lang="en-US" altLang="en-US" sz="2400" noProof="0" dirty="0">
                <a:solidFill>
                  <a:srgbClr val="007FA3"/>
                </a:solidFill>
              </a:rPr>
              <a:t>C.</a:t>
            </a:r>
            <a:r>
              <a:rPr lang="en-US" altLang="en-US" sz="2400" noProof="0" dirty="0"/>
              <a:t> Both terms</a:t>
            </a:r>
            <a:endParaRPr lang="en-US" sz="2400" noProof="0" dirty="0"/>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271869" y="5810852"/>
            <a:ext cx="4054475" cy="405683"/>
          </a:xfrm>
        </p:spPr>
        <p:txBody>
          <a:bodyPr lIns="0" tIns="18000" rIns="0" bIns="18000" anchor="ctr">
            <a:spAutoFit/>
          </a:bodyPr>
          <a:lstStyle/>
          <a:p>
            <a:pPr marL="0" indent="0">
              <a:spcBef>
                <a:spcPts val="600"/>
              </a:spcBef>
              <a:buNone/>
            </a:pPr>
            <a:r>
              <a:rPr lang="en-US" sz="2400" noProof="0" dirty="0">
                <a:solidFill>
                  <a:srgbClr val="007FA3"/>
                </a:solidFill>
              </a:rPr>
              <a:t>D.</a:t>
            </a:r>
            <a:r>
              <a:rPr lang="en-US" sz="2400" noProof="0" dirty="0"/>
              <a:t> Neither term</a:t>
            </a:r>
          </a:p>
        </p:txBody>
      </p:sp>
    </p:spTree>
    <p:extLst>
      <p:ext uri="{BB962C8B-B14F-4D97-AF65-F5344CB8AC3E}">
        <p14:creationId xmlns:p14="http://schemas.microsoft.com/office/powerpoint/2010/main" val="2253422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0AA9F-5E37-BE5E-0A45-E9BFC552A94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ABDA580-F547-9061-2D0F-09422A7FB246}"/>
              </a:ext>
            </a:extLst>
          </p:cNvPr>
          <p:cNvSpPr>
            <a:spLocks noGrp="1"/>
          </p:cNvSpPr>
          <p:nvPr>
            <p:ph type="title"/>
          </p:nvPr>
        </p:nvSpPr>
        <p:spPr>
          <a:xfrm>
            <a:off x="438150" y="198263"/>
            <a:ext cx="8229600" cy="1144347"/>
          </a:xfrm>
        </p:spPr>
        <p:txBody>
          <a:bodyPr/>
          <a:lstStyle/>
          <a:p>
            <a:r>
              <a:rPr lang="en-US" sz="3600" noProof="0" dirty="0">
                <a:latin typeface="+mj-lt"/>
              </a:rPr>
              <a:t>Chapter 9 – Sinusoidal Steady-State Analysis </a:t>
            </a:r>
            <a:r>
              <a:rPr lang="en-US" sz="2800" noProof="0" dirty="0">
                <a:latin typeface="+mj-lt"/>
              </a:rPr>
              <a:t>(8 of 24)</a:t>
            </a:r>
            <a:endParaRPr lang="en-US" noProof="0" dirty="0"/>
          </a:p>
        </p:txBody>
      </p:sp>
      <p:sp>
        <p:nvSpPr>
          <p:cNvPr id="7" name="Content Placeholder 6">
            <a:extLst>
              <a:ext uri="{FF2B5EF4-FFF2-40B4-BE49-F238E27FC236}">
                <a16:creationId xmlns:a16="http://schemas.microsoft.com/office/drawing/2014/main" id="{0070E8B3-F942-7BA5-8203-4C4B4D2FDA53}"/>
              </a:ext>
            </a:extLst>
          </p:cNvPr>
          <p:cNvSpPr>
            <a:spLocks noGrp="1"/>
          </p:cNvSpPr>
          <p:nvPr>
            <p:ph sz="quarter" idx="12"/>
          </p:nvPr>
        </p:nvSpPr>
        <p:spPr>
          <a:xfrm>
            <a:off x="438150" y="1587408"/>
            <a:ext cx="8150038" cy="775015"/>
          </a:xfrm>
        </p:spPr>
        <p:txBody>
          <a:bodyPr wrap="square" lIns="0" tIns="18000" rIns="0" bIns="18000" anchor="ctr">
            <a:spAutoFit/>
          </a:bodyPr>
          <a:lstStyle/>
          <a:p>
            <a:pPr marL="0" indent="0">
              <a:spcBef>
                <a:spcPts val="600"/>
              </a:spcBef>
              <a:buNone/>
            </a:pPr>
            <a:r>
              <a:rPr lang="en-US" altLang="en-US" sz="2400" noProof="0" dirty="0"/>
              <a:t>Consider the equation for the current in the </a:t>
            </a:r>
            <a:r>
              <a:rPr lang="en-US" altLang="en-US" sz="2400" spc="-300" noProof="0" dirty="0"/>
              <a:t>R </a:t>
            </a:r>
            <a:r>
              <a:rPr lang="en-US" altLang="en-US" sz="2400" noProof="0" dirty="0"/>
              <a:t>L circuit with the sinusoidal source:</a:t>
            </a:r>
            <a:endParaRPr lang="en-US" sz="2400" noProof="0" dirty="0"/>
          </a:p>
        </p:txBody>
      </p:sp>
      <p:graphicFrame>
        <p:nvGraphicFramePr>
          <p:cNvPr id="52" name="Object 51" descr="The figure illustrates the expression for i (t).&#10;Long description is available in notes, press F6.">
            <a:extLst>
              <a:ext uri="{FF2B5EF4-FFF2-40B4-BE49-F238E27FC236}">
                <a16:creationId xmlns:a16="http://schemas.microsoft.com/office/drawing/2014/main" id="{D8B39633-CBA9-6342-0CA5-DF8D71E1C94B}"/>
              </a:ext>
            </a:extLst>
          </p:cNvPr>
          <p:cNvGraphicFramePr>
            <a:graphicFrameLocks noChangeAspect="1"/>
          </p:cNvGraphicFramePr>
          <p:nvPr/>
        </p:nvGraphicFramePr>
        <p:xfrm>
          <a:off x="514350" y="2463800"/>
          <a:ext cx="8074025" cy="917575"/>
        </p:xfrm>
        <a:graphic>
          <a:graphicData uri="http://schemas.openxmlformats.org/presentationml/2006/ole">
            <mc:AlternateContent xmlns:mc="http://schemas.openxmlformats.org/markup-compatibility/2006">
              <mc:Choice xmlns:v="urn:schemas-microsoft-com:vml" Requires="v">
                <p:oleObj name="Equation" r:id="rId7" imgW="4254480" imgH="482400" progId="Equation.DSMT4">
                  <p:embed/>
                </p:oleObj>
              </mc:Choice>
              <mc:Fallback>
                <p:oleObj name="Equation" r:id="rId7" imgW="4254480" imgH="482400" progId="Equation.DSMT4">
                  <p:embed/>
                  <p:pic>
                    <p:nvPicPr>
                      <p:cNvPr id="52" name="Object 51" descr="The figure illustrates the expression for i (t).&#10;Long description is available in notes, press F6.">
                        <a:extLst>
                          <a:ext uri="{FF2B5EF4-FFF2-40B4-BE49-F238E27FC236}">
                            <a16:creationId xmlns:a16="http://schemas.microsoft.com/office/drawing/2014/main" id="{3A6CC2F9-0F1E-884D-8057-1C2791395F5C}"/>
                          </a:ext>
                        </a:extLst>
                      </p:cNvPr>
                      <p:cNvPicPr>
                        <a:picLocks noChangeAspect="1" noChangeArrowheads="1"/>
                      </p:cNvPicPr>
                      <p:nvPr/>
                    </p:nvPicPr>
                    <p:blipFill>
                      <a:blip r:embed="rId8"/>
                      <a:srcRect/>
                      <a:stretch>
                        <a:fillRect/>
                      </a:stretch>
                    </p:blipFill>
                    <p:spPr bwMode="auto">
                      <a:xfrm>
                        <a:off x="514350" y="2463800"/>
                        <a:ext cx="80740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074B0051-4500-53A0-5940-D0CE7AAA9959}"/>
              </a:ext>
            </a:extLst>
          </p:cNvPr>
          <p:cNvSpPr>
            <a:spLocks noGrp="1"/>
          </p:cNvSpPr>
          <p:nvPr>
            <p:ph sz="quarter" idx="13"/>
          </p:nvPr>
        </p:nvSpPr>
        <p:spPr>
          <a:xfrm>
            <a:off x="438151" y="3465280"/>
            <a:ext cx="3362884" cy="405683"/>
          </a:xfrm>
        </p:spPr>
        <p:txBody>
          <a:bodyPr wrap="square" lIns="0" tIns="18000" rIns="0" bIns="18000" anchor="ctr">
            <a:spAutoFit/>
          </a:bodyPr>
          <a:lstStyle/>
          <a:p>
            <a:pPr marL="0" indent="0">
              <a:spcBef>
                <a:spcPts val="600"/>
              </a:spcBef>
              <a:buNone/>
            </a:pPr>
            <a:r>
              <a:rPr lang="en-US" altLang="en-US" sz="2400" noProof="0" dirty="0"/>
              <a:t>Which term(s) go to 0 as</a:t>
            </a:r>
            <a:endParaRPr lang="en-US" sz="2400" noProof="0" dirty="0"/>
          </a:p>
        </p:txBody>
      </p:sp>
      <p:graphicFrame>
        <p:nvGraphicFramePr>
          <p:cNvPr id="47" name="Object 46" descr="t right arrow, infinity question mark.&#10;">
            <a:extLst>
              <a:ext uri="{FF2B5EF4-FFF2-40B4-BE49-F238E27FC236}">
                <a16:creationId xmlns:a16="http://schemas.microsoft.com/office/drawing/2014/main" id="{D8768873-D8B6-6C6D-81E3-C7D6D5D67783}"/>
              </a:ext>
            </a:extLst>
          </p:cNvPr>
          <p:cNvGraphicFramePr>
            <a:graphicFrameLocks noChangeAspect="1"/>
          </p:cNvGraphicFramePr>
          <p:nvPr/>
        </p:nvGraphicFramePr>
        <p:xfrm>
          <a:off x="3865467" y="3531720"/>
          <a:ext cx="812800" cy="352425"/>
        </p:xfrm>
        <a:graphic>
          <a:graphicData uri="http://schemas.openxmlformats.org/presentationml/2006/ole">
            <mc:AlternateContent xmlns:mc="http://schemas.openxmlformats.org/markup-compatibility/2006">
              <mc:Choice xmlns:v="urn:schemas-microsoft-com:vml" Requires="v">
                <p:oleObj name="Equation" r:id="rId9" imgW="469800" imgH="203040" progId="Equation.DSMT4">
                  <p:embed/>
                </p:oleObj>
              </mc:Choice>
              <mc:Fallback>
                <p:oleObj name="Equation" r:id="rId9" imgW="469800" imgH="203040" progId="Equation.DSMT4">
                  <p:embed/>
                  <p:pic>
                    <p:nvPicPr>
                      <p:cNvPr id="47" name="Object 46" descr="t right arrow, infinity question mark.&#10;">
                        <a:extLst>
                          <a:ext uri="{FF2B5EF4-FFF2-40B4-BE49-F238E27FC236}">
                            <a16:creationId xmlns:a16="http://schemas.microsoft.com/office/drawing/2014/main" id="{443419EC-B199-DA4D-87CC-8A8323A7FBDA}"/>
                          </a:ext>
                        </a:extLst>
                      </p:cNvPr>
                      <p:cNvPicPr>
                        <a:picLocks noChangeAspect="1" noChangeArrowheads="1"/>
                      </p:cNvPicPr>
                      <p:nvPr/>
                    </p:nvPicPr>
                    <p:blipFill>
                      <a:blip r:embed="rId10"/>
                      <a:srcRect/>
                      <a:stretch>
                        <a:fillRect/>
                      </a:stretch>
                    </p:blipFill>
                    <p:spPr bwMode="auto">
                      <a:xfrm>
                        <a:off x="3865467" y="3531720"/>
                        <a:ext cx="812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1" name="Picture 1435" descr="Check mark">
            <a:extLst>
              <a:ext uri="{FF2B5EF4-FFF2-40B4-BE49-F238E27FC236}">
                <a16:creationId xmlns:a16="http://schemas.microsoft.com/office/drawing/2014/main" id="{0EB3D4A8-24EE-2059-0F30-36A2B680889C}"/>
              </a:ext>
            </a:extLst>
          </p:cNvPr>
          <p:cNvPicPr>
            <a:picLocks/>
          </p:cNvPicPr>
          <p:nvPr>
            <p:custDataLst>
              <p:tags r:id="rId1"/>
            </p:custDataLst>
          </p:nvPr>
        </p:nvPicPr>
        <p:blipFill>
          <a:blip r:embed="rId11">
            <a:extLst>
              <a:ext uri="{28A0092B-C50C-407E-A947-70E740481C1C}">
                <a14:useLocalDpi xmlns:a14="http://schemas.microsoft.com/office/drawing/2010/main" val="0"/>
              </a:ext>
            </a:extLst>
          </a:blip>
          <a:srcRect/>
          <a:stretch>
            <a:fillRect/>
          </a:stretch>
        </p:blipFill>
        <p:spPr bwMode="auto">
          <a:xfrm>
            <a:off x="694765" y="417854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90512C52-B3C3-CF2A-C546-80E630C25DF0}"/>
              </a:ext>
            </a:extLst>
          </p:cNvPr>
          <p:cNvSpPr>
            <a:spLocks noGrp="1"/>
          </p:cNvSpPr>
          <p:nvPr>
            <p:ph sz="quarter" idx="14"/>
          </p:nvPr>
        </p:nvSpPr>
        <p:spPr>
          <a:xfrm>
            <a:off x="1271869" y="4145477"/>
            <a:ext cx="4054475" cy="405683"/>
          </a:xfrm>
        </p:spPr>
        <p:txBody>
          <a:bodyPr lIns="0" tIns="18000" rIns="0" bIns="18000" anchor="ctr">
            <a:spAutoFit/>
          </a:bodyPr>
          <a:lstStyle/>
          <a:p>
            <a:pPr marL="0" indent="0">
              <a:spcBef>
                <a:spcPts val="600"/>
              </a:spcBef>
              <a:buNone/>
            </a:pPr>
            <a:r>
              <a:rPr lang="en-US" altLang="en-US" sz="2400" noProof="0" dirty="0">
                <a:solidFill>
                  <a:srgbClr val="007FA3"/>
                </a:solidFill>
              </a:rPr>
              <a:t>A. </a:t>
            </a:r>
            <a:r>
              <a:rPr lang="en-US" altLang="en-US" sz="2400" noProof="0" dirty="0"/>
              <a:t>The first term</a:t>
            </a:r>
          </a:p>
        </p:txBody>
      </p:sp>
      <p:pic>
        <p:nvPicPr>
          <p:cNvPr id="48" name="Picture 1434" descr="Cross mark">
            <a:extLst>
              <a:ext uri="{FF2B5EF4-FFF2-40B4-BE49-F238E27FC236}">
                <a16:creationId xmlns:a16="http://schemas.microsoft.com/office/drawing/2014/main" id="{706B0735-8F3D-5A78-C59A-DD48BD5EE044}"/>
              </a:ext>
            </a:extLst>
          </p:cNvPr>
          <p:cNvPicPr>
            <a:picLocks/>
          </p:cNvPicPr>
          <p:nvPr>
            <p:custDataLst>
              <p:tags r:id="rId2"/>
            </p:custDataLst>
          </p:nvPr>
        </p:nvPicPr>
        <p:blipFill>
          <a:blip r:embed="rId12">
            <a:extLst>
              <a:ext uri="{28A0092B-C50C-407E-A947-70E740481C1C}">
                <a14:useLocalDpi xmlns:a14="http://schemas.microsoft.com/office/drawing/2010/main" val="0"/>
              </a:ext>
            </a:extLst>
          </a:blip>
          <a:srcRect/>
          <a:stretch>
            <a:fillRect/>
          </a:stretch>
        </p:blipFill>
        <p:spPr bwMode="auto">
          <a:xfrm>
            <a:off x="702733" y="475284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AAE038F-92BD-5C2E-6769-1FD52BC6219B}"/>
              </a:ext>
            </a:extLst>
          </p:cNvPr>
          <p:cNvSpPr>
            <a:spLocks noGrp="1"/>
          </p:cNvSpPr>
          <p:nvPr>
            <p:ph sz="quarter" idx="15"/>
          </p:nvPr>
        </p:nvSpPr>
        <p:spPr>
          <a:xfrm>
            <a:off x="1271869" y="4700167"/>
            <a:ext cx="4054475" cy="405683"/>
          </a:xfrm>
        </p:spPr>
        <p:txBody>
          <a:bodyPr lIns="0" tIns="18000" rIns="0" bIns="18000" anchor="ctr">
            <a:spAutoFit/>
          </a:bodyPr>
          <a:lstStyle/>
          <a:p>
            <a:pPr marL="0" indent="0">
              <a:spcBef>
                <a:spcPts val="600"/>
              </a:spcBef>
              <a:buNone/>
            </a:pPr>
            <a:r>
              <a:rPr lang="en-US" altLang="en-US" sz="2400" noProof="0" dirty="0">
                <a:solidFill>
                  <a:srgbClr val="007FA3"/>
                </a:solidFill>
              </a:rPr>
              <a:t>B.</a:t>
            </a:r>
            <a:r>
              <a:rPr lang="en-US" altLang="en-US" sz="2400" noProof="0" dirty="0"/>
              <a:t> The second term</a:t>
            </a:r>
          </a:p>
        </p:txBody>
      </p:sp>
      <p:pic>
        <p:nvPicPr>
          <p:cNvPr id="49" name="Picture 1434" descr="Cross mark">
            <a:extLst>
              <a:ext uri="{FF2B5EF4-FFF2-40B4-BE49-F238E27FC236}">
                <a16:creationId xmlns:a16="http://schemas.microsoft.com/office/drawing/2014/main" id="{25C9AE54-0852-DD4D-5EFC-8C7579CC3917}"/>
              </a:ext>
            </a:extLst>
          </p:cNvPr>
          <p:cNvPicPr>
            <a:picLocks/>
          </p:cNvPicPr>
          <p:nvPr>
            <p:custDataLst>
              <p:tags r:id="rId3"/>
            </p:custDataLst>
          </p:nvPr>
        </p:nvPicPr>
        <p:blipFill>
          <a:blip r:embed="rId12">
            <a:extLst>
              <a:ext uri="{28A0092B-C50C-407E-A947-70E740481C1C}">
                <a14:useLocalDpi xmlns:a14="http://schemas.microsoft.com/office/drawing/2010/main" val="0"/>
              </a:ext>
            </a:extLst>
          </a:blip>
          <a:srcRect/>
          <a:stretch>
            <a:fillRect/>
          </a:stretch>
        </p:blipFill>
        <p:spPr bwMode="auto">
          <a:xfrm>
            <a:off x="702733" y="528176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87AF47CA-FDC4-7138-625B-68432F7ACCF9}"/>
              </a:ext>
            </a:extLst>
          </p:cNvPr>
          <p:cNvSpPr>
            <a:spLocks noGrp="1"/>
          </p:cNvSpPr>
          <p:nvPr>
            <p:ph sz="quarter" idx="16"/>
          </p:nvPr>
        </p:nvSpPr>
        <p:spPr>
          <a:xfrm>
            <a:off x="1271869" y="5264241"/>
            <a:ext cx="4054475" cy="405683"/>
          </a:xfrm>
        </p:spPr>
        <p:txBody>
          <a:bodyPr lIns="0" tIns="18000" rIns="0" bIns="18000" anchor="ctr">
            <a:spAutoFit/>
          </a:bodyPr>
          <a:lstStyle/>
          <a:p>
            <a:pPr marL="0" indent="0">
              <a:spcBef>
                <a:spcPts val="600"/>
              </a:spcBef>
              <a:buNone/>
            </a:pPr>
            <a:r>
              <a:rPr lang="en-US" altLang="en-US" sz="2400" noProof="0" dirty="0">
                <a:solidFill>
                  <a:srgbClr val="007FA3"/>
                </a:solidFill>
              </a:rPr>
              <a:t>C.</a:t>
            </a:r>
            <a:r>
              <a:rPr lang="en-US" altLang="en-US" sz="2400" noProof="0" dirty="0"/>
              <a:t> Both terms</a:t>
            </a:r>
            <a:endParaRPr lang="en-US" sz="2400" noProof="0" dirty="0"/>
          </a:p>
        </p:txBody>
      </p:sp>
      <p:pic>
        <p:nvPicPr>
          <p:cNvPr id="50" name="Picture 1434" descr="Cross mark">
            <a:extLst>
              <a:ext uri="{FF2B5EF4-FFF2-40B4-BE49-F238E27FC236}">
                <a16:creationId xmlns:a16="http://schemas.microsoft.com/office/drawing/2014/main" id="{4D519918-3E48-EC3B-5D63-71B8A7D9C15A}"/>
              </a:ext>
            </a:extLst>
          </p:cNvPr>
          <p:cNvPicPr>
            <a:picLocks/>
          </p:cNvPicPr>
          <p:nvPr>
            <p:custDataLst>
              <p:tags r:id="rId4"/>
            </p:custDataLst>
          </p:nvPr>
        </p:nvPicPr>
        <p:blipFill>
          <a:blip r:embed="rId12">
            <a:extLst>
              <a:ext uri="{28A0092B-C50C-407E-A947-70E740481C1C}">
                <a14:useLocalDpi xmlns:a14="http://schemas.microsoft.com/office/drawing/2010/main" val="0"/>
              </a:ext>
            </a:extLst>
          </a:blip>
          <a:srcRect/>
          <a:stretch>
            <a:fillRect/>
          </a:stretch>
        </p:blipFill>
        <p:spPr bwMode="auto">
          <a:xfrm>
            <a:off x="702733" y="5828610"/>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56C4E49B-43BC-5264-676A-AD6F89D9D79B}"/>
              </a:ext>
            </a:extLst>
          </p:cNvPr>
          <p:cNvSpPr>
            <a:spLocks noGrp="1"/>
          </p:cNvSpPr>
          <p:nvPr>
            <p:ph sz="quarter" idx="17"/>
          </p:nvPr>
        </p:nvSpPr>
        <p:spPr>
          <a:xfrm>
            <a:off x="1271869" y="5810852"/>
            <a:ext cx="4054475" cy="405683"/>
          </a:xfrm>
        </p:spPr>
        <p:txBody>
          <a:bodyPr lIns="0" tIns="18000" rIns="0" bIns="18000" anchor="ctr">
            <a:spAutoFit/>
          </a:bodyPr>
          <a:lstStyle/>
          <a:p>
            <a:pPr marL="0" indent="0">
              <a:spcBef>
                <a:spcPts val="600"/>
              </a:spcBef>
              <a:buNone/>
            </a:pPr>
            <a:r>
              <a:rPr lang="en-US" sz="2400" noProof="0" dirty="0">
                <a:solidFill>
                  <a:srgbClr val="007FA3"/>
                </a:solidFill>
              </a:rPr>
              <a:t>D.</a:t>
            </a:r>
            <a:r>
              <a:rPr lang="en-US" sz="2400" noProof="0" dirty="0"/>
              <a:t> Neither term</a:t>
            </a:r>
          </a:p>
        </p:txBody>
      </p:sp>
    </p:spTree>
    <p:extLst>
      <p:ext uri="{BB962C8B-B14F-4D97-AF65-F5344CB8AC3E}">
        <p14:creationId xmlns:p14="http://schemas.microsoft.com/office/powerpoint/2010/main" val="2222390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4"/>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(9 of 24)</a:t>
            </a:r>
            <a:endParaRPr lang="en-US" sz="2800" noProof="0" dirty="0"/>
          </a:p>
        </p:txBody>
      </p:sp>
      <p:graphicFrame>
        <p:nvGraphicFramePr>
          <p:cNvPr id="53" name="Object 52" descr="The figure illustrates the expression for i (t).&#10;Long description is available in notes, press F6.">
            <a:extLst>
              <a:ext uri="{FF2B5EF4-FFF2-40B4-BE49-F238E27FC236}">
                <a16:creationId xmlns:a16="http://schemas.microsoft.com/office/drawing/2014/main" id="{A9A3E412-9087-E0A9-6336-77A14A8F8017}"/>
              </a:ext>
            </a:extLst>
          </p:cNvPr>
          <p:cNvGraphicFramePr>
            <a:graphicFrameLocks noChangeAspect="1"/>
          </p:cNvGraphicFramePr>
          <p:nvPr>
            <p:extLst>
              <p:ext uri="{D42A27DB-BD31-4B8C-83A1-F6EECF244321}">
                <p14:modId xmlns:p14="http://schemas.microsoft.com/office/powerpoint/2010/main" val="636067741"/>
              </p:ext>
            </p:extLst>
          </p:nvPr>
        </p:nvGraphicFramePr>
        <p:xfrm>
          <a:off x="795338" y="1562100"/>
          <a:ext cx="7527925" cy="854075"/>
        </p:xfrm>
        <a:graphic>
          <a:graphicData uri="http://schemas.openxmlformats.org/presentationml/2006/ole">
            <mc:AlternateContent xmlns:mc="http://schemas.openxmlformats.org/markup-compatibility/2006">
              <mc:Choice xmlns:v="urn:schemas-microsoft-com:vml" Requires="v">
                <p:oleObj name="Equation" r:id="rId3" imgW="4254480" imgH="482400" progId="Equation.DSMT4">
                  <p:embed/>
                </p:oleObj>
              </mc:Choice>
              <mc:Fallback>
                <p:oleObj name="Equation" r:id="rId3" imgW="4254480" imgH="482400" progId="Equation.DSMT4">
                  <p:embed/>
                  <p:pic>
                    <p:nvPicPr>
                      <p:cNvPr id="4" name="Object 3"/>
                      <p:cNvPicPr>
                        <a:picLocks noChangeAspect="1" noChangeArrowheads="1"/>
                      </p:cNvPicPr>
                      <p:nvPr/>
                    </p:nvPicPr>
                    <p:blipFill>
                      <a:blip r:embed="rId4"/>
                      <a:srcRect/>
                      <a:stretch>
                        <a:fillRect/>
                      </a:stretch>
                    </p:blipFill>
                    <p:spPr bwMode="auto">
                      <a:xfrm>
                        <a:off x="795338" y="1562100"/>
                        <a:ext cx="752792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2620481"/>
            <a:ext cx="8134350" cy="3298783"/>
          </a:xfrm>
        </p:spPr>
        <p:txBody>
          <a:bodyPr wrap="square" lIns="0" tIns="18000" rIns="0" bIns="18000" anchor="ctr">
            <a:spAutoFit/>
          </a:bodyPr>
          <a:lstStyle/>
          <a:p>
            <a:pPr marL="342900" indent="-342900">
              <a:spcBef>
                <a:spcPts val="600"/>
              </a:spcBef>
            </a:pPr>
            <a:r>
              <a:rPr lang="en-US" altLang="en-US" sz="2400" noProof="0" dirty="0"/>
              <a:t>The first term is the transient term – it decays to 0 as </a:t>
            </a:r>
            <a:r>
              <a:rPr lang="en-US" altLang="en-US" sz="2400" i="1" noProof="0" dirty="0"/>
              <a:t>t</a:t>
            </a:r>
            <a:r>
              <a:rPr lang="en-US" altLang="en-US" sz="2400" noProof="0" dirty="0"/>
              <a:t> goes to infinity</a:t>
            </a:r>
          </a:p>
          <a:p>
            <a:pPr marL="342900" indent="-342900">
              <a:spcBef>
                <a:spcPts val="600"/>
              </a:spcBef>
            </a:pPr>
            <a:r>
              <a:rPr lang="en-US" altLang="en-US" sz="2400" noProof="0" dirty="0"/>
              <a:t>The second term is the steady-state term – it persists for all time greater than 0. This term</a:t>
            </a:r>
          </a:p>
          <a:p>
            <a:pPr marL="829818" lvl="1" indent="-342900"/>
            <a:r>
              <a:rPr lang="en-US" altLang="en-US" sz="2400" noProof="0" dirty="0"/>
              <a:t>Is sinusoidal</a:t>
            </a:r>
          </a:p>
          <a:p>
            <a:pPr marL="829818" lvl="1" indent="-342900"/>
            <a:r>
              <a:rPr lang="en-US" altLang="en-US" sz="2400" noProof="0" dirty="0"/>
              <a:t>Has the same frequency as the input voltage</a:t>
            </a:r>
          </a:p>
          <a:p>
            <a:pPr marL="829818" lvl="1" indent="-342900"/>
            <a:r>
              <a:rPr lang="en-US" altLang="en-US" sz="2400" noProof="0" dirty="0"/>
              <a:t>Has a different magnitude and phase angle compared to the input voltage</a:t>
            </a:r>
          </a:p>
        </p:txBody>
      </p:sp>
    </p:spTree>
    <p:extLst>
      <p:ext uri="{BB962C8B-B14F-4D97-AF65-F5344CB8AC3E}">
        <p14:creationId xmlns:p14="http://schemas.microsoft.com/office/powerpoint/2010/main" val="1766875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4"/>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(10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68467"/>
            <a:ext cx="8229600" cy="2842175"/>
          </a:xfrm>
          <a:ln w="28575">
            <a:solidFill>
              <a:srgbClr val="007FA3"/>
            </a:solidFill>
          </a:ln>
        </p:spPr>
        <p:txBody>
          <a:bodyPr wrap="square" lIns="54000" tIns="18000" rIns="54000" bIns="18000" anchor="ctr">
            <a:spAutoFit/>
          </a:bodyPr>
          <a:lstStyle/>
          <a:p>
            <a:pPr marL="342900" indent="-342900"/>
            <a:r>
              <a:rPr lang="en-US" altLang="en-US" sz="2400" noProof="0" dirty="0"/>
              <a:t>The circuit analysis techniques we are studying will allow us to calculate the sinusoidal steady-state response of the circuit – that is, the circuit’s response to a sinusoidal input once the transient response has effectively decayed to 0. </a:t>
            </a:r>
          </a:p>
          <a:p>
            <a:pPr marL="342900" indent="-342900"/>
            <a:r>
              <a:rPr lang="en-US" altLang="en-US" sz="2400" noProof="0" dirty="0"/>
              <a:t>This is also called the </a:t>
            </a:r>
            <a:r>
              <a:rPr lang="en-US" altLang="en-US" sz="2400" spc="-300" noProof="0" dirty="0"/>
              <a:t>A </a:t>
            </a:r>
            <a:r>
              <a:rPr lang="en-US" altLang="en-US" sz="2400" noProof="0" dirty="0"/>
              <a:t>C Steady-State (</a:t>
            </a:r>
            <a:r>
              <a:rPr lang="en-US" altLang="en-US" sz="2400" spc="-300" noProof="0" dirty="0"/>
              <a:t>A C S </a:t>
            </a:r>
            <a:r>
              <a:rPr lang="en-US" altLang="en-US" sz="2400" noProof="0" dirty="0"/>
              <a:t>S) response.</a:t>
            </a:r>
          </a:p>
        </p:txBody>
      </p:sp>
    </p:spTree>
    <p:extLst>
      <p:ext uri="{BB962C8B-B14F-4D97-AF65-F5344CB8AC3E}">
        <p14:creationId xmlns:p14="http://schemas.microsoft.com/office/powerpoint/2010/main" val="1976453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(11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95067"/>
            <a:ext cx="8105215" cy="1667567"/>
          </a:xfrm>
        </p:spPr>
        <p:txBody>
          <a:bodyPr wrap="square" lIns="0" tIns="18000" rIns="0" bIns="18000" anchor="ctr">
            <a:spAutoFit/>
          </a:bodyPr>
          <a:lstStyle/>
          <a:p>
            <a:pPr marL="342900" indent="-342900">
              <a:spcBef>
                <a:spcPts val="600"/>
              </a:spcBef>
            </a:pPr>
            <a:r>
              <a:rPr lang="en-US" altLang="en-US" sz="2400" noProof="0" dirty="0"/>
              <a:t>Phasor</a:t>
            </a:r>
          </a:p>
          <a:p>
            <a:pPr marL="829818" lvl="1" indent="-342900"/>
            <a:r>
              <a:rPr lang="en-US" altLang="en-US" sz="2400" noProof="0" dirty="0"/>
              <a:t>A complex number in polar form, with a magnitude and phase angle</a:t>
            </a:r>
          </a:p>
          <a:p>
            <a:pPr marL="829818" lvl="1" indent="-342900"/>
            <a:r>
              <a:rPr lang="en-US" altLang="en-US" sz="2400" noProof="0" dirty="0"/>
              <a:t>Derived from a sinusoid using the phasor transform</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1" y="3339765"/>
            <a:ext cx="2107826" cy="405683"/>
          </a:xfrm>
        </p:spPr>
        <p:txBody>
          <a:bodyPr wrap="square" lIns="0" tIns="18000" rIns="0" bIns="18000" anchor="ctr">
            <a:spAutoFit/>
          </a:bodyPr>
          <a:lstStyle/>
          <a:p>
            <a:pPr marL="0" indent="0">
              <a:spcBef>
                <a:spcPts val="600"/>
              </a:spcBef>
              <a:buNone/>
            </a:pPr>
            <a:r>
              <a:rPr lang="en-US" sz="2400" i="1" noProof="0" dirty="0"/>
              <a:t>Euler’s identity:</a:t>
            </a:r>
          </a:p>
        </p:txBody>
      </p:sp>
      <p:graphicFrame>
        <p:nvGraphicFramePr>
          <p:cNvPr id="51" name="Object 50" descr="e to the plus or minus j theta power equals cosine theta plus or minus j sine theta.&#10;">
            <a:extLst>
              <a:ext uri="{FF2B5EF4-FFF2-40B4-BE49-F238E27FC236}">
                <a16:creationId xmlns:a16="http://schemas.microsoft.com/office/drawing/2014/main" id="{08E58D00-484C-2D1D-B7EB-81001A6570C2}"/>
              </a:ext>
            </a:extLst>
          </p:cNvPr>
          <p:cNvGraphicFramePr>
            <a:graphicFrameLocks noChangeAspect="1"/>
          </p:cNvGraphicFramePr>
          <p:nvPr>
            <p:extLst>
              <p:ext uri="{D42A27DB-BD31-4B8C-83A1-F6EECF244321}">
                <p14:modId xmlns:p14="http://schemas.microsoft.com/office/powerpoint/2010/main" val="2382989484"/>
              </p:ext>
            </p:extLst>
          </p:nvPr>
        </p:nvGraphicFramePr>
        <p:xfrm>
          <a:off x="2830510" y="3350790"/>
          <a:ext cx="2244725" cy="384810"/>
        </p:xfrm>
        <a:graphic>
          <a:graphicData uri="http://schemas.openxmlformats.org/presentationml/2006/ole">
            <mc:AlternateContent xmlns:mc="http://schemas.openxmlformats.org/markup-compatibility/2006">
              <mc:Choice xmlns:v="urn:schemas-microsoft-com:vml" Requires="v">
                <p:oleObj name="Equation" r:id="rId2" imgW="1333440" imgH="228600" progId="Equation.DSMT4">
                  <p:embed/>
                </p:oleObj>
              </mc:Choice>
              <mc:Fallback>
                <p:oleObj name="Equation" r:id="rId2" imgW="1333440" imgH="228600" progId="Equation.DSMT4">
                  <p:embed/>
                  <p:pic>
                    <p:nvPicPr>
                      <p:cNvPr id="5" name="Object 4"/>
                      <p:cNvPicPr>
                        <a:picLocks noChangeAspect="1" noChangeArrowheads="1"/>
                      </p:cNvPicPr>
                      <p:nvPr/>
                    </p:nvPicPr>
                    <p:blipFill>
                      <a:blip r:embed="rId3"/>
                      <a:srcRect/>
                      <a:stretch>
                        <a:fillRect/>
                      </a:stretch>
                    </p:blipFill>
                    <p:spPr bwMode="auto">
                      <a:xfrm>
                        <a:off x="2830510" y="3350790"/>
                        <a:ext cx="224472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descr="Right double arrow, cosine theta equals Re Open CurlyBracket e to the j theta power Close CurlyBracket.&#10;">
            <a:extLst>
              <a:ext uri="{FF2B5EF4-FFF2-40B4-BE49-F238E27FC236}">
                <a16:creationId xmlns:a16="http://schemas.microsoft.com/office/drawing/2014/main" id="{30816C8D-8930-C35D-80CD-EFD779D0234C}"/>
              </a:ext>
            </a:extLst>
          </p:cNvPr>
          <p:cNvGraphicFramePr>
            <a:graphicFrameLocks noChangeAspect="1"/>
          </p:cNvGraphicFramePr>
          <p:nvPr>
            <p:extLst>
              <p:ext uri="{D42A27DB-BD31-4B8C-83A1-F6EECF244321}">
                <p14:modId xmlns:p14="http://schemas.microsoft.com/office/powerpoint/2010/main" val="3681180233"/>
              </p:ext>
            </p:extLst>
          </p:nvPr>
        </p:nvGraphicFramePr>
        <p:xfrm>
          <a:off x="438519" y="3840435"/>
          <a:ext cx="2582863" cy="465138"/>
        </p:xfrm>
        <a:graphic>
          <a:graphicData uri="http://schemas.openxmlformats.org/presentationml/2006/ole">
            <mc:AlternateContent xmlns:mc="http://schemas.openxmlformats.org/markup-compatibility/2006">
              <mc:Choice xmlns:v="urn:schemas-microsoft-com:vml" Requires="v">
                <p:oleObj name="Equation" r:id="rId4" imgW="1549080" imgH="279360" progId="Equation.DSMT4">
                  <p:embed/>
                </p:oleObj>
              </mc:Choice>
              <mc:Fallback>
                <p:oleObj name="Equation" r:id="rId4" imgW="1549080" imgH="279360" progId="Equation.DSMT4">
                  <p:embed/>
                  <p:pic>
                    <p:nvPicPr>
                      <p:cNvPr id="51" name="Object 50">
                        <a:extLst>
                          <a:ext uri="{FF2B5EF4-FFF2-40B4-BE49-F238E27FC236}">
                            <a16:creationId xmlns:a16="http://schemas.microsoft.com/office/drawing/2014/main" id="{08E58D00-484C-2D1D-B7EB-81001A6570C2}"/>
                          </a:ext>
                        </a:extLst>
                      </p:cNvPr>
                      <p:cNvPicPr>
                        <a:picLocks noChangeAspect="1" noChangeArrowheads="1"/>
                      </p:cNvPicPr>
                      <p:nvPr/>
                    </p:nvPicPr>
                    <p:blipFill>
                      <a:blip r:embed="rId5"/>
                      <a:srcRect/>
                      <a:stretch>
                        <a:fillRect/>
                      </a:stretch>
                    </p:blipFill>
                    <p:spPr bwMode="auto">
                      <a:xfrm>
                        <a:off x="438519" y="3840435"/>
                        <a:ext cx="2582863"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4351658"/>
            <a:ext cx="718297" cy="405683"/>
          </a:xfrm>
        </p:spPr>
        <p:txBody>
          <a:bodyPr wrap="square" lIns="0" tIns="18000" rIns="0" bIns="18000" anchor="ctr">
            <a:spAutoFit/>
          </a:bodyPr>
          <a:lstStyle/>
          <a:p>
            <a:pPr marL="0" indent="0">
              <a:spcBef>
                <a:spcPts val="600"/>
              </a:spcBef>
              <a:buNone/>
            </a:pPr>
            <a:r>
              <a:rPr lang="en-US" sz="2400" i="1" noProof="0" dirty="0"/>
              <a:t>Now</a:t>
            </a:r>
          </a:p>
        </p:txBody>
      </p:sp>
      <p:graphicFrame>
        <p:nvGraphicFramePr>
          <p:cNvPr id="4" name="Object 3" descr="v (t) equals uppercase V subscript m baseline cosine Open Parenthesis omega t plus phi Close Parenthesis.&#10;">
            <a:extLst>
              <a:ext uri="{FF2B5EF4-FFF2-40B4-BE49-F238E27FC236}">
                <a16:creationId xmlns:a16="http://schemas.microsoft.com/office/drawing/2014/main" id="{965F2CB6-7F26-8761-FC78-5612F3512CEC}"/>
              </a:ext>
            </a:extLst>
          </p:cNvPr>
          <p:cNvGraphicFramePr>
            <a:graphicFrameLocks noChangeAspect="1"/>
          </p:cNvGraphicFramePr>
          <p:nvPr>
            <p:extLst>
              <p:ext uri="{D42A27DB-BD31-4B8C-83A1-F6EECF244321}">
                <p14:modId xmlns:p14="http://schemas.microsoft.com/office/powerpoint/2010/main" val="2185457140"/>
              </p:ext>
            </p:extLst>
          </p:nvPr>
        </p:nvGraphicFramePr>
        <p:xfrm>
          <a:off x="1382713" y="4383088"/>
          <a:ext cx="2287587" cy="382587"/>
        </p:xfrm>
        <a:graphic>
          <a:graphicData uri="http://schemas.openxmlformats.org/presentationml/2006/ole">
            <mc:AlternateContent xmlns:mc="http://schemas.openxmlformats.org/markup-compatibility/2006">
              <mc:Choice xmlns:v="urn:schemas-microsoft-com:vml" Requires="v">
                <p:oleObj name="Equation" r:id="rId6" imgW="1358640" imgH="228600" progId="Equation.DSMT4">
                  <p:embed/>
                </p:oleObj>
              </mc:Choice>
              <mc:Fallback>
                <p:oleObj name="Equation" r:id="rId6" imgW="1358640" imgH="228600" progId="Equation.DSMT4">
                  <p:embed/>
                  <p:pic>
                    <p:nvPicPr>
                      <p:cNvPr id="3" name="Object 2">
                        <a:extLst>
                          <a:ext uri="{FF2B5EF4-FFF2-40B4-BE49-F238E27FC236}">
                            <a16:creationId xmlns:a16="http://schemas.microsoft.com/office/drawing/2014/main" id="{30816C8D-8930-C35D-80CD-EFD779D0234C}"/>
                          </a:ext>
                        </a:extLst>
                      </p:cNvPr>
                      <p:cNvPicPr>
                        <a:picLocks noChangeAspect="1" noChangeArrowheads="1"/>
                      </p:cNvPicPr>
                      <p:nvPr/>
                    </p:nvPicPr>
                    <p:blipFill>
                      <a:blip r:embed="rId7"/>
                      <a:srcRect/>
                      <a:stretch>
                        <a:fillRect/>
                      </a:stretch>
                    </p:blipFill>
                    <p:spPr bwMode="auto">
                      <a:xfrm>
                        <a:off x="1382713" y="4383088"/>
                        <a:ext cx="2287587"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descr="Equals V subscript m baseline Re Open Curly Bracket e to the j Open Parenthesis omega t plus phi Close Parenthesis power Close CurlyBracket.&#10;">
            <a:extLst>
              <a:ext uri="{FF2B5EF4-FFF2-40B4-BE49-F238E27FC236}">
                <a16:creationId xmlns:a16="http://schemas.microsoft.com/office/drawing/2014/main" id="{5B334B94-59EF-85E1-782E-5F7E70BD118D}"/>
              </a:ext>
            </a:extLst>
          </p:cNvPr>
          <p:cNvGraphicFramePr>
            <a:graphicFrameLocks noChangeAspect="1"/>
          </p:cNvGraphicFramePr>
          <p:nvPr>
            <p:extLst>
              <p:ext uri="{D42A27DB-BD31-4B8C-83A1-F6EECF244321}">
                <p14:modId xmlns:p14="http://schemas.microsoft.com/office/powerpoint/2010/main" val="520212024"/>
              </p:ext>
            </p:extLst>
          </p:nvPr>
        </p:nvGraphicFramePr>
        <p:xfrm>
          <a:off x="1835150" y="4824413"/>
          <a:ext cx="1795463" cy="468312"/>
        </p:xfrm>
        <a:graphic>
          <a:graphicData uri="http://schemas.openxmlformats.org/presentationml/2006/ole">
            <mc:AlternateContent xmlns:mc="http://schemas.openxmlformats.org/markup-compatibility/2006">
              <mc:Choice xmlns:v="urn:schemas-microsoft-com:vml" Requires="v">
                <p:oleObj name="Equation" r:id="rId8" imgW="1066680" imgH="279360" progId="Equation.DSMT4">
                  <p:embed/>
                </p:oleObj>
              </mc:Choice>
              <mc:Fallback>
                <p:oleObj name="Equation" r:id="rId8" imgW="1066680" imgH="279360" progId="Equation.DSMT4">
                  <p:embed/>
                  <p:pic>
                    <p:nvPicPr>
                      <p:cNvPr id="4" name="Object 3">
                        <a:extLst>
                          <a:ext uri="{FF2B5EF4-FFF2-40B4-BE49-F238E27FC236}">
                            <a16:creationId xmlns:a16="http://schemas.microsoft.com/office/drawing/2014/main" id="{965F2CB6-7F26-8761-FC78-5612F3512CEC}"/>
                          </a:ext>
                        </a:extLst>
                      </p:cNvPr>
                      <p:cNvPicPr>
                        <a:picLocks noChangeAspect="1" noChangeArrowheads="1"/>
                      </p:cNvPicPr>
                      <p:nvPr/>
                    </p:nvPicPr>
                    <p:blipFill>
                      <a:blip r:embed="rId9"/>
                      <a:srcRect/>
                      <a:stretch>
                        <a:fillRect/>
                      </a:stretch>
                    </p:blipFill>
                    <p:spPr bwMode="auto">
                      <a:xfrm>
                        <a:off x="1835150" y="4824413"/>
                        <a:ext cx="1795463"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descr="Equals V subscript m baseline Re Open Curly Bracket e to the j omega t power e to the j phi power Close Curly Bracket.&#10;">
            <a:extLst>
              <a:ext uri="{FF2B5EF4-FFF2-40B4-BE49-F238E27FC236}">
                <a16:creationId xmlns:a16="http://schemas.microsoft.com/office/drawing/2014/main" id="{676A6F6B-99BA-7490-8065-826E3E59199E}"/>
              </a:ext>
            </a:extLst>
          </p:cNvPr>
          <p:cNvGraphicFramePr>
            <a:graphicFrameLocks noChangeAspect="1"/>
          </p:cNvGraphicFramePr>
          <p:nvPr>
            <p:extLst>
              <p:ext uri="{D42A27DB-BD31-4B8C-83A1-F6EECF244321}">
                <p14:modId xmlns:p14="http://schemas.microsoft.com/office/powerpoint/2010/main" val="2912365803"/>
              </p:ext>
            </p:extLst>
          </p:nvPr>
        </p:nvGraphicFramePr>
        <p:xfrm>
          <a:off x="1835150" y="5345113"/>
          <a:ext cx="1795463" cy="468312"/>
        </p:xfrm>
        <a:graphic>
          <a:graphicData uri="http://schemas.openxmlformats.org/presentationml/2006/ole">
            <mc:AlternateContent xmlns:mc="http://schemas.openxmlformats.org/markup-compatibility/2006">
              <mc:Choice xmlns:v="urn:schemas-microsoft-com:vml" Requires="v">
                <p:oleObj name="Equation" r:id="rId10" imgW="1066680" imgH="279360" progId="Equation.DSMT4">
                  <p:embed/>
                </p:oleObj>
              </mc:Choice>
              <mc:Fallback>
                <p:oleObj name="Equation" r:id="rId10" imgW="1066680" imgH="279360" progId="Equation.DSMT4">
                  <p:embed/>
                  <p:pic>
                    <p:nvPicPr>
                      <p:cNvPr id="5" name="Object 4">
                        <a:extLst>
                          <a:ext uri="{FF2B5EF4-FFF2-40B4-BE49-F238E27FC236}">
                            <a16:creationId xmlns:a16="http://schemas.microsoft.com/office/drawing/2014/main" id="{5B334B94-59EF-85E1-782E-5F7E70BD118D}"/>
                          </a:ext>
                        </a:extLst>
                      </p:cNvPr>
                      <p:cNvPicPr>
                        <a:picLocks noChangeAspect="1" noChangeArrowheads="1"/>
                      </p:cNvPicPr>
                      <p:nvPr/>
                    </p:nvPicPr>
                    <p:blipFill>
                      <a:blip r:embed="rId11"/>
                      <a:srcRect/>
                      <a:stretch>
                        <a:fillRect/>
                      </a:stretch>
                    </p:blipFill>
                    <p:spPr bwMode="auto">
                      <a:xfrm>
                        <a:off x="1835150" y="5345113"/>
                        <a:ext cx="1795463"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descr="Equals Re Open CurlyBracket V subscript m baseline e to the j omega t power e to the j phi power Close CurlyBracket.&#10;">
            <a:extLst>
              <a:ext uri="{FF2B5EF4-FFF2-40B4-BE49-F238E27FC236}">
                <a16:creationId xmlns:a16="http://schemas.microsoft.com/office/drawing/2014/main" id="{BEDCCBF7-0582-8B60-AB82-7207EF0986C6}"/>
              </a:ext>
            </a:extLst>
          </p:cNvPr>
          <p:cNvGraphicFramePr>
            <a:graphicFrameLocks noChangeAspect="1"/>
          </p:cNvGraphicFramePr>
          <p:nvPr>
            <p:extLst>
              <p:ext uri="{D42A27DB-BD31-4B8C-83A1-F6EECF244321}">
                <p14:modId xmlns:p14="http://schemas.microsoft.com/office/powerpoint/2010/main" val="1878881091"/>
              </p:ext>
            </p:extLst>
          </p:nvPr>
        </p:nvGraphicFramePr>
        <p:xfrm>
          <a:off x="1862138" y="5873750"/>
          <a:ext cx="1795462" cy="468313"/>
        </p:xfrm>
        <a:graphic>
          <a:graphicData uri="http://schemas.openxmlformats.org/presentationml/2006/ole">
            <mc:AlternateContent xmlns:mc="http://schemas.openxmlformats.org/markup-compatibility/2006">
              <mc:Choice xmlns:v="urn:schemas-microsoft-com:vml" Requires="v">
                <p:oleObj name="Equation" r:id="rId12" imgW="1066680" imgH="279360" progId="Equation.DSMT4">
                  <p:embed/>
                </p:oleObj>
              </mc:Choice>
              <mc:Fallback>
                <p:oleObj name="Equation" r:id="rId12" imgW="1066680" imgH="279360" progId="Equation.DSMT4">
                  <p:embed/>
                  <p:pic>
                    <p:nvPicPr>
                      <p:cNvPr id="10" name="Object 9">
                        <a:extLst>
                          <a:ext uri="{FF2B5EF4-FFF2-40B4-BE49-F238E27FC236}">
                            <a16:creationId xmlns:a16="http://schemas.microsoft.com/office/drawing/2014/main" id="{676A6F6B-99BA-7490-8065-826E3E59199E}"/>
                          </a:ext>
                        </a:extLst>
                      </p:cNvPr>
                      <p:cNvPicPr>
                        <a:picLocks noChangeAspect="1" noChangeArrowheads="1"/>
                      </p:cNvPicPr>
                      <p:nvPr/>
                    </p:nvPicPr>
                    <p:blipFill>
                      <a:blip r:embed="rId13"/>
                      <a:srcRect/>
                      <a:stretch>
                        <a:fillRect/>
                      </a:stretch>
                    </p:blipFill>
                    <p:spPr bwMode="auto">
                      <a:xfrm>
                        <a:off x="1862138" y="5873750"/>
                        <a:ext cx="1795462"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02842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(12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607290"/>
            <a:ext cx="8087285" cy="1667567"/>
          </a:xfrm>
        </p:spPr>
        <p:txBody>
          <a:bodyPr wrap="square" lIns="0" tIns="18000" rIns="0" bIns="18000" anchor="ctr">
            <a:spAutoFit/>
          </a:bodyPr>
          <a:lstStyle/>
          <a:p>
            <a:pPr marL="342900" indent="-342900"/>
            <a:r>
              <a:rPr lang="en-US" altLang="en-US" sz="2400" noProof="0" dirty="0"/>
              <a:t>Phasor transform</a:t>
            </a:r>
          </a:p>
          <a:p>
            <a:pPr marL="828918" lvl="1" indent="-342000"/>
            <a:r>
              <a:rPr lang="en-US" altLang="en-US" sz="2400" noProof="0" dirty="0"/>
              <a:t>Extracts a sinusoid’s magnitude and phase angle</a:t>
            </a:r>
          </a:p>
          <a:p>
            <a:pPr marL="828918" lvl="1" indent="-342000"/>
            <a:r>
              <a:rPr lang="en-US" altLang="en-US" sz="2400" noProof="0" dirty="0"/>
              <a:t>Transforms a function of time into a function of frequency</a:t>
            </a:r>
          </a:p>
        </p:txBody>
      </p:sp>
      <p:graphicFrame>
        <p:nvGraphicFramePr>
          <p:cNvPr id="19" name="Object 18" descr="The figure illustrates the expression for V.&#10;Long description 1 is available in notes, press F6.&#10;">
            <a:extLst>
              <a:ext uri="{FF2B5EF4-FFF2-40B4-BE49-F238E27FC236}">
                <a16:creationId xmlns:a16="http://schemas.microsoft.com/office/drawing/2014/main" id="{AB8AEAE7-4119-1B6C-20A2-01EFCBDF86F3}"/>
              </a:ext>
            </a:extLst>
          </p:cNvPr>
          <p:cNvGraphicFramePr>
            <a:graphicFrameLocks noChangeAspect="1"/>
          </p:cNvGraphicFramePr>
          <p:nvPr>
            <p:extLst>
              <p:ext uri="{D42A27DB-BD31-4B8C-83A1-F6EECF244321}">
                <p14:modId xmlns:p14="http://schemas.microsoft.com/office/powerpoint/2010/main" val="3918604235"/>
              </p:ext>
            </p:extLst>
          </p:nvPr>
        </p:nvGraphicFramePr>
        <p:xfrm>
          <a:off x="2014538" y="3543300"/>
          <a:ext cx="5097462" cy="512763"/>
        </p:xfrm>
        <a:graphic>
          <a:graphicData uri="http://schemas.openxmlformats.org/presentationml/2006/ole">
            <mc:AlternateContent xmlns:mc="http://schemas.openxmlformats.org/markup-compatibility/2006">
              <mc:Choice xmlns:v="urn:schemas-microsoft-com:vml" Requires="v">
                <p:oleObj name="Equation" r:id="rId3" imgW="2527200" imgH="253800" progId="Equation.DSMT4">
                  <p:embed/>
                </p:oleObj>
              </mc:Choice>
              <mc:Fallback>
                <p:oleObj name="Equation" r:id="rId3" imgW="2527200" imgH="253800" progId="Equation.DSMT4">
                  <p:embed/>
                  <p:pic>
                    <p:nvPicPr>
                      <p:cNvPr id="4" name="Object 3"/>
                      <p:cNvPicPr>
                        <a:picLocks noChangeAspect="1" noChangeArrowheads="1"/>
                      </p:cNvPicPr>
                      <p:nvPr/>
                    </p:nvPicPr>
                    <p:blipFill>
                      <a:blip r:embed="rId4"/>
                      <a:srcRect/>
                      <a:stretch>
                        <a:fillRect/>
                      </a:stretch>
                    </p:blipFill>
                    <p:spPr bwMode="auto">
                      <a:xfrm>
                        <a:off x="2014538" y="3543300"/>
                        <a:ext cx="5097462"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4224421"/>
            <a:ext cx="8006603" cy="1218214"/>
          </a:xfrm>
        </p:spPr>
        <p:txBody>
          <a:bodyPr wrap="square" lIns="0" tIns="18000" rIns="0" bIns="18000" anchor="ctr">
            <a:spAutoFit/>
          </a:bodyPr>
          <a:lstStyle/>
          <a:p>
            <a:pPr marL="342900" indent="-342900">
              <a:spcBef>
                <a:spcPts val="600"/>
              </a:spcBef>
              <a:defRPr/>
            </a:pPr>
            <a:r>
              <a:rPr lang="en-US" sz="2400" kern="0" noProof="0" dirty="0"/>
              <a:t>Inverse phasor transform</a:t>
            </a:r>
          </a:p>
          <a:p>
            <a:pPr marL="828918" lvl="1" indent="-342000">
              <a:defRPr/>
            </a:pPr>
            <a:r>
              <a:rPr lang="en-US" sz="2400" kern="0" noProof="0" dirty="0"/>
              <a:t>Turns a phasor back into a sinusoid, if someone tells you the frequency</a:t>
            </a:r>
          </a:p>
        </p:txBody>
      </p:sp>
      <p:graphicFrame>
        <p:nvGraphicFramePr>
          <p:cNvPr id="24" name="Object 23" descr="The figure illustrates the expression for v (t).&#10;Long description 2 is available in notes, press F6.">
            <a:extLst>
              <a:ext uri="{FF2B5EF4-FFF2-40B4-BE49-F238E27FC236}">
                <a16:creationId xmlns:a16="http://schemas.microsoft.com/office/drawing/2014/main" id="{28107399-D687-2989-80B7-7B1FA0DE89FC}"/>
              </a:ext>
            </a:extLst>
          </p:cNvPr>
          <p:cNvGraphicFramePr>
            <a:graphicFrameLocks noChangeAspect="1"/>
          </p:cNvGraphicFramePr>
          <p:nvPr>
            <p:extLst>
              <p:ext uri="{D42A27DB-BD31-4B8C-83A1-F6EECF244321}">
                <p14:modId xmlns:p14="http://schemas.microsoft.com/office/powerpoint/2010/main" val="3818999862"/>
              </p:ext>
            </p:extLst>
          </p:nvPr>
        </p:nvGraphicFramePr>
        <p:xfrm>
          <a:off x="1697038" y="5638800"/>
          <a:ext cx="5713412" cy="512763"/>
        </p:xfrm>
        <a:graphic>
          <a:graphicData uri="http://schemas.openxmlformats.org/presentationml/2006/ole">
            <mc:AlternateContent xmlns:mc="http://schemas.openxmlformats.org/markup-compatibility/2006">
              <mc:Choice xmlns:v="urn:schemas-microsoft-com:vml" Requires="v">
                <p:oleObj name="Equation" r:id="rId5" imgW="2831760" imgH="253800" progId="Equation.DSMT4">
                  <p:embed/>
                </p:oleObj>
              </mc:Choice>
              <mc:Fallback>
                <p:oleObj name="Equation" r:id="rId5" imgW="2831760" imgH="253800" progId="Equation.DSMT4">
                  <p:embed/>
                  <p:pic>
                    <p:nvPicPr>
                      <p:cNvPr id="6" name="Object 5"/>
                      <p:cNvPicPr>
                        <a:picLocks noChangeAspect="1" noChangeArrowheads="1"/>
                      </p:cNvPicPr>
                      <p:nvPr/>
                    </p:nvPicPr>
                    <p:blipFill>
                      <a:blip r:embed="rId6"/>
                      <a:srcRect/>
                      <a:stretch>
                        <a:fillRect/>
                      </a:stretch>
                    </p:blipFill>
                    <p:spPr bwMode="auto">
                      <a:xfrm>
                        <a:off x="1697038" y="5638800"/>
                        <a:ext cx="5713412"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60394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(13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92773"/>
            <a:ext cx="6760509" cy="405683"/>
          </a:xfrm>
        </p:spPr>
        <p:txBody>
          <a:bodyPr wrap="square" lIns="0" tIns="18000" rIns="0" bIns="18000" anchor="ctr">
            <a:spAutoFit/>
          </a:bodyPr>
          <a:lstStyle/>
          <a:p>
            <a:pPr marL="0" indent="0">
              <a:spcBef>
                <a:spcPts val="600"/>
              </a:spcBef>
              <a:buNone/>
            </a:pPr>
            <a:r>
              <a:rPr lang="en-US" sz="2400" noProof="0" dirty="0"/>
              <a:t>Suppose</a:t>
            </a:r>
          </a:p>
        </p:txBody>
      </p:sp>
      <p:graphicFrame>
        <p:nvGraphicFramePr>
          <p:cNvPr id="2" name="Object 1" descr="i (t) equal to 36 cosine Open Parenthesis 4 pi t plus 45 degrees Close Parenthesis milliampere.&#10;">
            <a:extLst>
              <a:ext uri="{FF2B5EF4-FFF2-40B4-BE49-F238E27FC236}">
                <a16:creationId xmlns:a16="http://schemas.microsoft.com/office/drawing/2014/main" id="{B055F9D2-FB03-9BDD-DCE7-9B5B46BAD99D}"/>
              </a:ext>
            </a:extLst>
          </p:cNvPr>
          <p:cNvGraphicFramePr>
            <a:graphicFrameLocks noChangeAspect="1"/>
          </p:cNvGraphicFramePr>
          <p:nvPr>
            <p:extLst>
              <p:ext uri="{D42A27DB-BD31-4B8C-83A1-F6EECF244321}">
                <p14:modId xmlns:p14="http://schemas.microsoft.com/office/powerpoint/2010/main" val="1623926308"/>
              </p:ext>
            </p:extLst>
          </p:nvPr>
        </p:nvGraphicFramePr>
        <p:xfrm>
          <a:off x="901138" y="2139742"/>
          <a:ext cx="3317134" cy="360127"/>
        </p:xfrm>
        <a:graphic>
          <a:graphicData uri="http://schemas.openxmlformats.org/presentationml/2006/ole">
            <mc:AlternateContent xmlns:mc="http://schemas.openxmlformats.org/markup-compatibility/2006">
              <mc:Choice xmlns:v="urn:schemas-microsoft-com:vml" Requires="v">
                <p:oleObj name="Equation" r:id="rId2" imgW="1879560" imgH="203040" progId="Equation.DSMT4">
                  <p:embed/>
                </p:oleObj>
              </mc:Choice>
              <mc:Fallback>
                <p:oleObj name="Equation" r:id="rId2" imgW="1879560" imgH="203040" progId="Equation.DSMT4">
                  <p:embed/>
                  <p:pic>
                    <p:nvPicPr>
                      <p:cNvPr id="33" name="Object 32">
                        <a:extLst>
                          <a:ext uri="{FF2B5EF4-FFF2-40B4-BE49-F238E27FC236}">
                            <a16:creationId xmlns:a16="http://schemas.microsoft.com/office/drawing/2014/main" id="{9E1D98A8-5341-3760-F3A1-23286BD98D82}"/>
                          </a:ext>
                        </a:extLst>
                      </p:cNvPr>
                      <p:cNvPicPr>
                        <a:picLocks noChangeAspect="1" noChangeArrowheads="1"/>
                      </p:cNvPicPr>
                      <p:nvPr/>
                    </p:nvPicPr>
                    <p:blipFill>
                      <a:blip r:embed="rId3"/>
                      <a:srcRect/>
                      <a:stretch>
                        <a:fillRect/>
                      </a:stretch>
                    </p:blipFill>
                    <p:spPr bwMode="auto">
                      <a:xfrm>
                        <a:off x="901138" y="2139742"/>
                        <a:ext cx="3317134" cy="360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2631558"/>
            <a:ext cx="5119968" cy="405683"/>
          </a:xfrm>
        </p:spPr>
        <p:txBody>
          <a:bodyPr wrap="square" lIns="0" tIns="18000" rIns="0" bIns="18000" anchor="ctr">
            <a:spAutoFit/>
          </a:bodyPr>
          <a:lstStyle/>
          <a:p>
            <a:pPr marL="0" indent="0">
              <a:spcBef>
                <a:spcPts val="600"/>
              </a:spcBef>
              <a:buNone/>
            </a:pPr>
            <a:r>
              <a:rPr lang="en-US" sz="2400" noProof="0" dirty="0"/>
              <a:t>Then the phasor transform of </a:t>
            </a:r>
            <a:r>
              <a:rPr lang="en-US" sz="2400" i="1" noProof="0" dirty="0" err="1"/>
              <a:t>i</a:t>
            </a:r>
            <a:r>
              <a:rPr lang="en-US" sz="2400" i="1" noProof="0" dirty="0"/>
              <a:t>(t) </a:t>
            </a:r>
            <a:r>
              <a:rPr lang="en-US" sz="2400" noProof="0" dirty="0"/>
              <a:t>is</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9447" y="3347614"/>
            <a:ext cx="1569941"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sym typeface="Symbol" pitchFamily="18" charset="2"/>
              </a:rPr>
              <a:t>36 mA</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9447" y="3938164"/>
            <a:ext cx="329431"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p>
        </p:txBody>
      </p:sp>
      <p:graphicFrame>
        <p:nvGraphicFramePr>
          <p:cNvPr id="15" name="Object 14" descr="36 angle 45 degrees milliamperes.&#10;">
            <a:extLst>
              <a:ext uri="{FF2B5EF4-FFF2-40B4-BE49-F238E27FC236}">
                <a16:creationId xmlns:a16="http://schemas.microsoft.com/office/drawing/2014/main" id="{B49DE849-A4F2-6993-5671-0388B688C83D}"/>
              </a:ext>
            </a:extLst>
          </p:cNvPr>
          <p:cNvGraphicFramePr>
            <a:graphicFrameLocks noChangeAspect="1"/>
          </p:cNvGraphicFramePr>
          <p:nvPr>
            <p:extLst>
              <p:ext uri="{D42A27DB-BD31-4B8C-83A1-F6EECF244321}">
                <p14:modId xmlns:p14="http://schemas.microsoft.com/office/powerpoint/2010/main" val="2017072176"/>
              </p:ext>
            </p:extLst>
          </p:nvPr>
        </p:nvGraphicFramePr>
        <p:xfrm>
          <a:off x="1806059" y="3977022"/>
          <a:ext cx="1506635" cy="378745"/>
        </p:xfrm>
        <a:graphic>
          <a:graphicData uri="http://schemas.openxmlformats.org/presentationml/2006/ole">
            <mc:AlternateContent xmlns:mc="http://schemas.openxmlformats.org/markup-compatibility/2006">
              <mc:Choice xmlns:v="urn:schemas-microsoft-com:vml" Requires="v">
                <p:oleObj name="Equation" r:id="rId4" imgW="812520" imgH="203040" progId="Equation.DSMT4">
                  <p:embed/>
                </p:oleObj>
              </mc:Choice>
              <mc:Fallback>
                <p:oleObj name="Equation" r:id="rId4" imgW="812520" imgH="203040" progId="Equation.DSMT4">
                  <p:embed/>
                  <p:pic>
                    <p:nvPicPr>
                      <p:cNvPr id="2" name="Object 1">
                        <a:extLst>
                          <a:ext uri="{FF2B5EF4-FFF2-40B4-BE49-F238E27FC236}">
                            <a16:creationId xmlns:a16="http://schemas.microsoft.com/office/drawing/2014/main" id="{B055F9D2-FB03-9BDD-DCE7-9B5B46BAD99D}"/>
                          </a:ext>
                        </a:extLst>
                      </p:cNvPr>
                      <p:cNvPicPr>
                        <a:picLocks noChangeAspect="1" noChangeArrowheads="1"/>
                      </p:cNvPicPr>
                      <p:nvPr/>
                    </p:nvPicPr>
                    <p:blipFill>
                      <a:blip r:embed="rId5"/>
                      <a:srcRect/>
                      <a:stretch>
                        <a:fillRect/>
                      </a:stretch>
                    </p:blipFill>
                    <p:spPr bwMode="auto">
                      <a:xfrm>
                        <a:off x="1806059" y="3977022"/>
                        <a:ext cx="150663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68425" y="4502175"/>
            <a:ext cx="340453"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p>
        </p:txBody>
      </p:sp>
      <p:graphicFrame>
        <p:nvGraphicFramePr>
          <p:cNvPr id="19" name="Object 18" descr="36 angle 4 pi t milliamperes.&#10;">
            <a:extLst>
              <a:ext uri="{FF2B5EF4-FFF2-40B4-BE49-F238E27FC236}">
                <a16:creationId xmlns:a16="http://schemas.microsoft.com/office/drawing/2014/main" id="{2C0CCE77-2760-8D01-D0A9-4E0B97587F82}"/>
              </a:ext>
            </a:extLst>
          </p:cNvPr>
          <p:cNvGraphicFramePr>
            <a:graphicFrameLocks noChangeAspect="1"/>
          </p:cNvGraphicFramePr>
          <p:nvPr>
            <p:extLst>
              <p:ext uri="{D42A27DB-BD31-4B8C-83A1-F6EECF244321}">
                <p14:modId xmlns:p14="http://schemas.microsoft.com/office/powerpoint/2010/main" val="4037716553"/>
              </p:ext>
            </p:extLst>
          </p:nvPr>
        </p:nvGraphicFramePr>
        <p:xfrm>
          <a:off x="1816100" y="4559300"/>
          <a:ext cx="1504950" cy="379413"/>
        </p:xfrm>
        <a:graphic>
          <a:graphicData uri="http://schemas.openxmlformats.org/presentationml/2006/ole">
            <mc:AlternateContent xmlns:mc="http://schemas.openxmlformats.org/markup-compatibility/2006">
              <mc:Choice xmlns:v="urn:schemas-microsoft-com:vml" Requires="v">
                <p:oleObj name="Equation" r:id="rId6" imgW="812520" imgH="203040" progId="Equation.DSMT4">
                  <p:embed/>
                </p:oleObj>
              </mc:Choice>
              <mc:Fallback>
                <p:oleObj name="Equation" r:id="rId6" imgW="812520" imgH="203040" progId="Equation.DSMT4">
                  <p:embed/>
                  <p:pic>
                    <p:nvPicPr>
                      <p:cNvPr id="15" name="Object 14">
                        <a:extLst>
                          <a:ext uri="{FF2B5EF4-FFF2-40B4-BE49-F238E27FC236}">
                            <a16:creationId xmlns:a16="http://schemas.microsoft.com/office/drawing/2014/main" id="{B49DE849-A4F2-6993-5671-0388B688C83D}"/>
                          </a:ext>
                        </a:extLst>
                      </p:cNvPr>
                      <p:cNvPicPr>
                        <a:picLocks noChangeAspect="1" noChangeArrowheads="1"/>
                      </p:cNvPicPr>
                      <p:nvPr/>
                    </p:nvPicPr>
                    <p:blipFill>
                      <a:blip r:embed="rId7"/>
                      <a:srcRect/>
                      <a:stretch>
                        <a:fillRect/>
                      </a:stretch>
                    </p:blipFill>
                    <p:spPr bwMode="auto">
                      <a:xfrm>
                        <a:off x="1816100" y="4559300"/>
                        <a:ext cx="150495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05823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18710-FC9E-0BE5-2FBD-4DE370E83C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5EDF144-1CA4-93C0-5E1E-90D3275146CE}"/>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(13 of 24)</a:t>
            </a:r>
            <a:endParaRPr lang="en-US" sz="2800" noProof="0" dirty="0"/>
          </a:p>
        </p:txBody>
      </p:sp>
      <p:sp>
        <p:nvSpPr>
          <p:cNvPr id="7" name="Content Placeholder 6">
            <a:extLst>
              <a:ext uri="{FF2B5EF4-FFF2-40B4-BE49-F238E27FC236}">
                <a16:creationId xmlns:a16="http://schemas.microsoft.com/office/drawing/2014/main" id="{3B20FE6F-F948-7FE9-B187-893918D14725}"/>
              </a:ext>
            </a:extLst>
          </p:cNvPr>
          <p:cNvSpPr>
            <a:spLocks noGrp="1"/>
          </p:cNvSpPr>
          <p:nvPr>
            <p:ph sz="quarter" idx="12"/>
          </p:nvPr>
        </p:nvSpPr>
        <p:spPr>
          <a:xfrm>
            <a:off x="438150" y="1592773"/>
            <a:ext cx="6760509" cy="405683"/>
          </a:xfrm>
        </p:spPr>
        <p:txBody>
          <a:bodyPr wrap="square" lIns="0" tIns="18000" rIns="0" bIns="18000" anchor="ctr">
            <a:spAutoFit/>
          </a:bodyPr>
          <a:lstStyle/>
          <a:p>
            <a:pPr marL="0" indent="0">
              <a:spcBef>
                <a:spcPts val="600"/>
              </a:spcBef>
              <a:buNone/>
            </a:pPr>
            <a:r>
              <a:rPr lang="en-US" sz="2400" noProof="0" dirty="0"/>
              <a:t>Suppose</a:t>
            </a:r>
          </a:p>
        </p:txBody>
      </p:sp>
      <p:graphicFrame>
        <p:nvGraphicFramePr>
          <p:cNvPr id="2" name="Object 1" descr="i (t) equal to 36 cosine Open Parenthesis 4 pi t plus 45 degrees Close Parenthesis milliampere.&#10;">
            <a:extLst>
              <a:ext uri="{FF2B5EF4-FFF2-40B4-BE49-F238E27FC236}">
                <a16:creationId xmlns:a16="http://schemas.microsoft.com/office/drawing/2014/main" id="{F2322E7B-A2D5-130B-94C8-70694BE8F702}"/>
              </a:ext>
            </a:extLst>
          </p:cNvPr>
          <p:cNvGraphicFramePr>
            <a:graphicFrameLocks noChangeAspect="1"/>
          </p:cNvGraphicFramePr>
          <p:nvPr/>
        </p:nvGraphicFramePr>
        <p:xfrm>
          <a:off x="901138" y="2139742"/>
          <a:ext cx="3317134" cy="360127"/>
        </p:xfrm>
        <a:graphic>
          <a:graphicData uri="http://schemas.openxmlformats.org/presentationml/2006/ole">
            <mc:AlternateContent xmlns:mc="http://schemas.openxmlformats.org/markup-compatibility/2006">
              <mc:Choice xmlns:v="urn:schemas-microsoft-com:vml" Requires="v">
                <p:oleObj name="Equation" r:id="rId5" imgW="1879560" imgH="203040" progId="Equation.DSMT4">
                  <p:embed/>
                </p:oleObj>
              </mc:Choice>
              <mc:Fallback>
                <p:oleObj name="Equation" r:id="rId5" imgW="1879560" imgH="203040" progId="Equation.DSMT4">
                  <p:embed/>
                  <p:pic>
                    <p:nvPicPr>
                      <p:cNvPr id="2" name="Object 1" descr="i (t) equal to 36 cosine Open Parenthesis 4 pi t plus 45 degrees Close Parenthesis milliampere.&#10;">
                        <a:extLst>
                          <a:ext uri="{FF2B5EF4-FFF2-40B4-BE49-F238E27FC236}">
                            <a16:creationId xmlns:a16="http://schemas.microsoft.com/office/drawing/2014/main" id="{B055F9D2-FB03-9BDD-DCE7-9B5B46BAD99D}"/>
                          </a:ext>
                        </a:extLst>
                      </p:cNvPr>
                      <p:cNvPicPr>
                        <a:picLocks noChangeAspect="1" noChangeArrowheads="1"/>
                      </p:cNvPicPr>
                      <p:nvPr/>
                    </p:nvPicPr>
                    <p:blipFill>
                      <a:blip r:embed="rId6"/>
                      <a:srcRect/>
                      <a:stretch>
                        <a:fillRect/>
                      </a:stretch>
                    </p:blipFill>
                    <p:spPr bwMode="auto">
                      <a:xfrm>
                        <a:off x="901138" y="2139742"/>
                        <a:ext cx="3317134" cy="360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022A3CD9-AEBD-3101-1149-072096F501CD}"/>
              </a:ext>
            </a:extLst>
          </p:cNvPr>
          <p:cNvSpPr>
            <a:spLocks noGrp="1"/>
          </p:cNvSpPr>
          <p:nvPr>
            <p:ph sz="quarter" idx="13"/>
          </p:nvPr>
        </p:nvSpPr>
        <p:spPr>
          <a:xfrm>
            <a:off x="438150" y="2631558"/>
            <a:ext cx="5119968" cy="405683"/>
          </a:xfrm>
        </p:spPr>
        <p:txBody>
          <a:bodyPr wrap="square" lIns="0" tIns="18000" rIns="0" bIns="18000" anchor="ctr">
            <a:spAutoFit/>
          </a:bodyPr>
          <a:lstStyle/>
          <a:p>
            <a:pPr marL="0" indent="0">
              <a:spcBef>
                <a:spcPts val="600"/>
              </a:spcBef>
              <a:buNone/>
            </a:pPr>
            <a:r>
              <a:rPr lang="en-US" sz="2400" noProof="0" dirty="0"/>
              <a:t>Then the phasor transform of </a:t>
            </a:r>
            <a:r>
              <a:rPr lang="en-US" sz="2400" i="1" noProof="0" dirty="0" err="1"/>
              <a:t>i</a:t>
            </a:r>
            <a:r>
              <a:rPr lang="en-US" sz="2400" i="1" noProof="0" dirty="0"/>
              <a:t>(t) </a:t>
            </a:r>
            <a:r>
              <a:rPr lang="en-US" sz="2400" noProof="0" dirty="0"/>
              <a:t>is</a:t>
            </a:r>
          </a:p>
        </p:txBody>
      </p:sp>
      <p:pic>
        <p:nvPicPr>
          <p:cNvPr id="3" name="Picture 1435" descr="Check mark">
            <a:extLst>
              <a:ext uri="{FF2B5EF4-FFF2-40B4-BE49-F238E27FC236}">
                <a16:creationId xmlns:a16="http://schemas.microsoft.com/office/drawing/2014/main" id="{041C871D-7553-6810-644B-9B816672ADDD}"/>
              </a:ext>
            </a:extLst>
          </p:cNvPr>
          <p:cNvPicPr>
            <a:picLocks/>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762001" y="4012867"/>
            <a:ext cx="329431"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9653028E-29F5-2AE3-8E53-1E48AFD2B6C0}"/>
              </a:ext>
            </a:extLst>
          </p:cNvPr>
          <p:cNvSpPr>
            <a:spLocks noGrp="1"/>
          </p:cNvSpPr>
          <p:nvPr>
            <p:ph sz="quarter" idx="14"/>
          </p:nvPr>
        </p:nvSpPr>
        <p:spPr>
          <a:xfrm>
            <a:off x="1379447" y="3347614"/>
            <a:ext cx="1569941"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sym typeface="Symbol" pitchFamily="18" charset="2"/>
              </a:rPr>
              <a:t>36 mA</a:t>
            </a:r>
          </a:p>
        </p:txBody>
      </p:sp>
      <p:pic>
        <p:nvPicPr>
          <p:cNvPr id="4" name="Picture 1434" descr="Cross mark">
            <a:extLst>
              <a:ext uri="{FF2B5EF4-FFF2-40B4-BE49-F238E27FC236}">
                <a16:creationId xmlns:a16="http://schemas.microsoft.com/office/drawing/2014/main" id="{F8B3D8DE-8489-4D73-2390-97F8439317C8}"/>
              </a:ext>
            </a:extLst>
          </p:cNvPr>
          <p:cNvPicPr>
            <a:picLocks/>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841736" y="3440068"/>
            <a:ext cx="329431" cy="311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E1415799-F5B8-068E-F259-9D8B60094DBC}"/>
              </a:ext>
            </a:extLst>
          </p:cNvPr>
          <p:cNvSpPr>
            <a:spLocks noGrp="1"/>
          </p:cNvSpPr>
          <p:nvPr>
            <p:ph sz="quarter" idx="15"/>
          </p:nvPr>
        </p:nvSpPr>
        <p:spPr>
          <a:xfrm>
            <a:off x="1379447" y="3938164"/>
            <a:ext cx="329431"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p>
        </p:txBody>
      </p:sp>
      <p:graphicFrame>
        <p:nvGraphicFramePr>
          <p:cNvPr id="15" name="Object 14" descr="36 angle 45 degrees milliamperes.&#10;">
            <a:extLst>
              <a:ext uri="{FF2B5EF4-FFF2-40B4-BE49-F238E27FC236}">
                <a16:creationId xmlns:a16="http://schemas.microsoft.com/office/drawing/2014/main" id="{D39B03EC-8650-D256-6C10-359407E6FC64}"/>
              </a:ext>
            </a:extLst>
          </p:cNvPr>
          <p:cNvGraphicFramePr>
            <a:graphicFrameLocks noChangeAspect="1"/>
          </p:cNvGraphicFramePr>
          <p:nvPr/>
        </p:nvGraphicFramePr>
        <p:xfrm>
          <a:off x="1806059" y="3977022"/>
          <a:ext cx="1506635" cy="378745"/>
        </p:xfrm>
        <a:graphic>
          <a:graphicData uri="http://schemas.openxmlformats.org/presentationml/2006/ole">
            <mc:AlternateContent xmlns:mc="http://schemas.openxmlformats.org/markup-compatibility/2006">
              <mc:Choice xmlns:v="urn:schemas-microsoft-com:vml" Requires="v">
                <p:oleObj name="Equation" r:id="rId9" imgW="812520" imgH="203040" progId="Equation.DSMT4">
                  <p:embed/>
                </p:oleObj>
              </mc:Choice>
              <mc:Fallback>
                <p:oleObj name="Equation" r:id="rId9" imgW="812520" imgH="203040" progId="Equation.DSMT4">
                  <p:embed/>
                  <p:pic>
                    <p:nvPicPr>
                      <p:cNvPr id="15" name="Object 14" descr="36 angle 45 degrees milliamperes.&#10;">
                        <a:extLst>
                          <a:ext uri="{FF2B5EF4-FFF2-40B4-BE49-F238E27FC236}">
                            <a16:creationId xmlns:a16="http://schemas.microsoft.com/office/drawing/2014/main" id="{B49DE849-A4F2-6993-5671-0388B688C83D}"/>
                          </a:ext>
                        </a:extLst>
                      </p:cNvPr>
                      <p:cNvPicPr>
                        <a:picLocks noChangeAspect="1" noChangeArrowheads="1"/>
                      </p:cNvPicPr>
                      <p:nvPr/>
                    </p:nvPicPr>
                    <p:blipFill>
                      <a:blip r:embed="rId10"/>
                      <a:srcRect/>
                      <a:stretch>
                        <a:fillRect/>
                      </a:stretch>
                    </p:blipFill>
                    <p:spPr bwMode="auto">
                      <a:xfrm>
                        <a:off x="1806059" y="3977022"/>
                        <a:ext cx="150663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1436" descr="Cross mark">
            <a:extLst>
              <a:ext uri="{FF2B5EF4-FFF2-40B4-BE49-F238E27FC236}">
                <a16:creationId xmlns:a16="http://schemas.microsoft.com/office/drawing/2014/main" id="{08CA88A9-BD54-F0E2-51F2-9491A224578E}"/>
              </a:ext>
            </a:extLst>
          </p:cNvPr>
          <p:cNvPicPr>
            <a:picLocks/>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762001" y="4521475"/>
            <a:ext cx="329431" cy="311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DFBE8C98-F402-0C3F-9BC7-81B03D1EE159}"/>
              </a:ext>
            </a:extLst>
          </p:cNvPr>
          <p:cNvSpPr>
            <a:spLocks noGrp="1"/>
          </p:cNvSpPr>
          <p:nvPr>
            <p:ph sz="quarter" idx="16"/>
          </p:nvPr>
        </p:nvSpPr>
        <p:spPr>
          <a:xfrm>
            <a:off x="1368425" y="4502175"/>
            <a:ext cx="340453"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p>
        </p:txBody>
      </p:sp>
      <p:graphicFrame>
        <p:nvGraphicFramePr>
          <p:cNvPr id="19" name="Object 18" descr="36 angle 4 pi t milliamperes.&#10;">
            <a:extLst>
              <a:ext uri="{FF2B5EF4-FFF2-40B4-BE49-F238E27FC236}">
                <a16:creationId xmlns:a16="http://schemas.microsoft.com/office/drawing/2014/main" id="{2B998B69-4957-E507-CDD6-E1078F922465}"/>
              </a:ext>
            </a:extLst>
          </p:cNvPr>
          <p:cNvGraphicFramePr>
            <a:graphicFrameLocks noChangeAspect="1"/>
          </p:cNvGraphicFramePr>
          <p:nvPr/>
        </p:nvGraphicFramePr>
        <p:xfrm>
          <a:off x="1816100" y="4559300"/>
          <a:ext cx="1504950" cy="379413"/>
        </p:xfrm>
        <a:graphic>
          <a:graphicData uri="http://schemas.openxmlformats.org/presentationml/2006/ole">
            <mc:AlternateContent xmlns:mc="http://schemas.openxmlformats.org/markup-compatibility/2006">
              <mc:Choice xmlns:v="urn:schemas-microsoft-com:vml" Requires="v">
                <p:oleObj name="Equation" r:id="rId11" imgW="812520" imgH="203040" progId="Equation.DSMT4">
                  <p:embed/>
                </p:oleObj>
              </mc:Choice>
              <mc:Fallback>
                <p:oleObj name="Equation" r:id="rId11" imgW="812520" imgH="203040" progId="Equation.DSMT4">
                  <p:embed/>
                  <p:pic>
                    <p:nvPicPr>
                      <p:cNvPr id="19" name="Object 18" descr="36 angle 4 pi t milliamperes.&#10;">
                        <a:extLst>
                          <a:ext uri="{FF2B5EF4-FFF2-40B4-BE49-F238E27FC236}">
                            <a16:creationId xmlns:a16="http://schemas.microsoft.com/office/drawing/2014/main" id="{2C0CCE77-2760-8D01-D0A9-4E0B97587F82}"/>
                          </a:ext>
                        </a:extLst>
                      </p:cNvPr>
                      <p:cNvPicPr>
                        <a:picLocks noChangeAspect="1" noChangeArrowheads="1"/>
                      </p:cNvPicPr>
                      <p:nvPr/>
                    </p:nvPicPr>
                    <p:blipFill>
                      <a:blip r:embed="rId12"/>
                      <a:srcRect/>
                      <a:stretch>
                        <a:fillRect/>
                      </a:stretch>
                    </p:blipFill>
                    <p:spPr bwMode="auto">
                      <a:xfrm>
                        <a:off x="1816100" y="4559300"/>
                        <a:ext cx="150495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15569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(14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90994"/>
            <a:ext cx="7988674" cy="1144347"/>
          </a:xfrm>
        </p:spPr>
        <p:txBody>
          <a:bodyPr wrap="square" lIns="0" tIns="18000" rIns="0" bIns="18000" anchor="ctr">
            <a:spAutoFit/>
          </a:bodyPr>
          <a:lstStyle/>
          <a:p>
            <a:pPr marL="0" indent="0">
              <a:spcBef>
                <a:spcPts val="600"/>
              </a:spcBef>
              <a:buNone/>
            </a:pPr>
            <a:r>
              <a:rPr lang="en-US" altLang="en-US" sz="2400" noProof="0" dirty="0"/>
              <a:t>Adding or subtracting sinusoids in the time domain is hard (you need trig identities!) But if you phasor-transform the sinusoids, it is easy to combine them. For example,</a:t>
            </a:r>
          </a:p>
        </p:txBody>
      </p:sp>
      <p:graphicFrame>
        <p:nvGraphicFramePr>
          <p:cNvPr id="2" name="Object 1" descr="i (t) equals Open Square Bracket 5 cosine Open Parenthesis 300 t plus 36.87 degrees Close Parenthesis plus 10 cosine Open Parenthesis 300 t minus 53.13 degrees Close Parenthesis Close Square Bracket Ampere.&#10;">
            <a:extLst>
              <a:ext uri="{FF2B5EF4-FFF2-40B4-BE49-F238E27FC236}">
                <a16:creationId xmlns:a16="http://schemas.microsoft.com/office/drawing/2014/main" id="{8F0CEDFE-642A-6668-6861-E6080B037F0C}"/>
              </a:ext>
            </a:extLst>
          </p:cNvPr>
          <p:cNvGraphicFramePr>
            <a:graphicFrameLocks noChangeAspect="1"/>
          </p:cNvGraphicFramePr>
          <p:nvPr>
            <p:extLst>
              <p:ext uri="{D42A27DB-BD31-4B8C-83A1-F6EECF244321}">
                <p14:modId xmlns:p14="http://schemas.microsoft.com/office/powerpoint/2010/main" val="392554389"/>
              </p:ext>
            </p:extLst>
          </p:nvPr>
        </p:nvGraphicFramePr>
        <p:xfrm>
          <a:off x="1201738" y="2987675"/>
          <a:ext cx="6907212" cy="493713"/>
        </p:xfrm>
        <a:graphic>
          <a:graphicData uri="http://schemas.openxmlformats.org/presentationml/2006/ole">
            <mc:AlternateContent xmlns:mc="http://schemas.openxmlformats.org/markup-compatibility/2006">
              <mc:Choice xmlns:v="urn:schemas-microsoft-com:vml" Requires="v">
                <p:oleObj name="Equation" r:id="rId2" imgW="3555720" imgH="253800" progId="Equation.DSMT4">
                  <p:embed/>
                </p:oleObj>
              </mc:Choice>
              <mc:Fallback>
                <p:oleObj name="Equation" r:id="rId2" imgW="3555720" imgH="253800" progId="Equation.DSMT4">
                  <p:embed/>
                  <p:pic>
                    <p:nvPicPr>
                      <p:cNvPr id="19" name="Object 18">
                        <a:extLst>
                          <a:ext uri="{FF2B5EF4-FFF2-40B4-BE49-F238E27FC236}">
                            <a16:creationId xmlns:a16="http://schemas.microsoft.com/office/drawing/2014/main" id="{1C68EFB7-A7ED-8698-3013-C7D5AE2BDAAF}"/>
                          </a:ext>
                        </a:extLst>
                      </p:cNvPr>
                      <p:cNvPicPr>
                        <a:picLocks noChangeAspect="1" noChangeArrowheads="1"/>
                      </p:cNvPicPr>
                      <p:nvPr/>
                    </p:nvPicPr>
                    <p:blipFill>
                      <a:blip r:embed="rId3"/>
                      <a:srcRect/>
                      <a:stretch>
                        <a:fillRect/>
                      </a:stretch>
                    </p:blipFill>
                    <p:spPr bwMode="auto">
                      <a:xfrm>
                        <a:off x="1201738" y="2987675"/>
                        <a:ext cx="6907212"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8" descr="I equals 5 angle 36.87 degrees plus 10 angle negative 53.13 degrees equals 11.18 angle negative 26.57 degrees Ampere.&#10;">
            <a:extLst>
              <a:ext uri="{FF2B5EF4-FFF2-40B4-BE49-F238E27FC236}">
                <a16:creationId xmlns:a16="http://schemas.microsoft.com/office/drawing/2014/main" id="{1C68EFB7-A7ED-8698-3013-C7D5AE2BDAAF}"/>
              </a:ext>
            </a:extLst>
          </p:cNvPr>
          <p:cNvGraphicFramePr>
            <a:graphicFrameLocks noChangeAspect="1"/>
          </p:cNvGraphicFramePr>
          <p:nvPr>
            <p:extLst>
              <p:ext uri="{D42A27DB-BD31-4B8C-83A1-F6EECF244321}">
                <p14:modId xmlns:p14="http://schemas.microsoft.com/office/powerpoint/2010/main" val="33657912"/>
              </p:ext>
            </p:extLst>
          </p:nvPr>
        </p:nvGraphicFramePr>
        <p:xfrm>
          <a:off x="1217613" y="3690938"/>
          <a:ext cx="6389687" cy="344487"/>
        </p:xfrm>
        <a:graphic>
          <a:graphicData uri="http://schemas.openxmlformats.org/presentationml/2006/ole">
            <mc:AlternateContent xmlns:mc="http://schemas.openxmlformats.org/markup-compatibility/2006">
              <mc:Choice xmlns:v="urn:schemas-microsoft-com:vml" Requires="v">
                <p:oleObj name="Equation" r:id="rId4" imgW="3288960" imgH="177480" progId="Equation.DSMT4">
                  <p:embed/>
                </p:oleObj>
              </mc:Choice>
              <mc:Fallback>
                <p:oleObj name="Equation" r:id="rId4" imgW="3288960" imgH="177480" progId="Equation.DSMT4">
                  <p:embed/>
                  <p:pic>
                    <p:nvPicPr>
                      <p:cNvPr id="5" name="Object 4"/>
                      <p:cNvPicPr>
                        <a:picLocks noChangeAspect="1" noChangeArrowheads="1"/>
                      </p:cNvPicPr>
                      <p:nvPr/>
                    </p:nvPicPr>
                    <p:blipFill>
                      <a:blip r:embed="rId5"/>
                      <a:srcRect/>
                      <a:stretch>
                        <a:fillRect/>
                      </a:stretch>
                    </p:blipFill>
                    <p:spPr bwMode="auto">
                      <a:xfrm>
                        <a:off x="1217613" y="3690938"/>
                        <a:ext cx="6389687"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descr="Therefore, i (t) equals P inverse Open Curly Bracket uppercase I Close Curly Bracket equals 11.18 cosine Open Parenthesis 300 t minus 26.57 degrees Close Parenthesis Ampere.&#10;">
            <a:extLst>
              <a:ext uri="{FF2B5EF4-FFF2-40B4-BE49-F238E27FC236}">
                <a16:creationId xmlns:a16="http://schemas.microsoft.com/office/drawing/2014/main" id="{D5C93D65-C1F6-210C-96E7-FEC95D8B4E9F}"/>
              </a:ext>
            </a:extLst>
          </p:cNvPr>
          <p:cNvGraphicFramePr>
            <a:graphicFrameLocks noChangeAspect="1"/>
          </p:cNvGraphicFramePr>
          <p:nvPr>
            <p:extLst>
              <p:ext uri="{D42A27DB-BD31-4B8C-83A1-F6EECF244321}">
                <p14:modId xmlns:p14="http://schemas.microsoft.com/office/powerpoint/2010/main" val="399324669"/>
              </p:ext>
            </p:extLst>
          </p:nvPr>
        </p:nvGraphicFramePr>
        <p:xfrm>
          <a:off x="1119647" y="4251814"/>
          <a:ext cx="6191250" cy="493568"/>
        </p:xfrm>
        <a:graphic>
          <a:graphicData uri="http://schemas.openxmlformats.org/presentationml/2006/ole">
            <mc:AlternateContent xmlns:mc="http://schemas.openxmlformats.org/markup-compatibility/2006">
              <mc:Choice xmlns:v="urn:schemas-microsoft-com:vml" Requires="v">
                <p:oleObj name="Equation" r:id="rId6" imgW="3187440" imgH="253800" progId="Equation.DSMT4">
                  <p:embed/>
                </p:oleObj>
              </mc:Choice>
              <mc:Fallback>
                <p:oleObj name="Equation" r:id="rId6" imgW="3187440" imgH="253800" progId="Equation.DSMT4">
                  <p:embed/>
                  <p:pic>
                    <p:nvPicPr>
                      <p:cNvPr id="19" name="Object 18">
                        <a:extLst>
                          <a:ext uri="{FF2B5EF4-FFF2-40B4-BE49-F238E27FC236}">
                            <a16:creationId xmlns:a16="http://schemas.microsoft.com/office/drawing/2014/main" id="{1C68EFB7-A7ED-8698-3013-C7D5AE2BDAAF}"/>
                          </a:ext>
                        </a:extLst>
                      </p:cNvPr>
                      <p:cNvPicPr>
                        <a:picLocks noChangeAspect="1" noChangeArrowheads="1"/>
                      </p:cNvPicPr>
                      <p:nvPr/>
                    </p:nvPicPr>
                    <p:blipFill>
                      <a:blip r:embed="rId7"/>
                      <a:srcRect/>
                      <a:stretch>
                        <a:fillRect/>
                      </a:stretch>
                    </p:blipFill>
                    <p:spPr bwMode="auto">
                      <a:xfrm>
                        <a:off x="1119647" y="4251814"/>
                        <a:ext cx="6191250" cy="493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91366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(15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79496"/>
            <a:ext cx="8159003" cy="1167348"/>
          </a:xfrm>
          <a:ln w="28575">
            <a:solidFill>
              <a:srgbClr val="007FA3"/>
            </a:solidFill>
          </a:ln>
        </p:spPr>
        <p:txBody>
          <a:bodyPr wrap="square" lIns="54000" tIns="18000" rIns="54000" bIns="18000" anchor="ctr">
            <a:spAutoFit/>
          </a:bodyPr>
          <a:lstStyle/>
          <a:p>
            <a:pPr marL="0" indent="0">
              <a:spcBef>
                <a:spcPts val="600"/>
              </a:spcBef>
              <a:buNone/>
            </a:pPr>
            <a:r>
              <a:rPr lang="en-US" altLang="en-US" sz="2400" noProof="0" dirty="0"/>
              <a:t>Consider the equations that relate voltage and current in a resistor, inductor, and capacitor in the time domain, and in the phasor domain.</a:t>
            </a:r>
          </a:p>
        </p:txBody>
      </p:sp>
    </p:spTree>
    <p:extLst>
      <p:ext uri="{BB962C8B-B14F-4D97-AF65-F5344CB8AC3E}">
        <p14:creationId xmlns:p14="http://schemas.microsoft.com/office/powerpoint/2010/main" val="262757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(16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92773"/>
            <a:ext cx="1605803" cy="405683"/>
          </a:xfrm>
        </p:spPr>
        <p:txBody>
          <a:bodyPr wrap="square" lIns="0" tIns="18000" rIns="0" bIns="18000" anchor="ctr">
            <a:spAutoFit/>
          </a:bodyPr>
          <a:lstStyle/>
          <a:p>
            <a:pPr marL="0" indent="0">
              <a:spcBef>
                <a:spcPct val="20000"/>
              </a:spcBef>
              <a:buNone/>
              <a:defRPr/>
            </a:pPr>
            <a:r>
              <a:rPr lang="en-US" sz="2400" kern="0" noProof="0" dirty="0"/>
              <a:t>Resistors: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2093677"/>
            <a:ext cx="2063003" cy="405683"/>
          </a:xfrm>
        </p:spPr>
        <p:txBody>
          <a:bodyPr wrap="square" lIns="0" tIns="18000" rIns="0" bIns="18000" anchor="ctr">
            <a:spAutoFit/>
          </a:bodyPr>
          <a:lstStyle/>
          <a:p>
            <a:pPr marL="0" indent="0">
              <a:buNone/>
            </a:pPr>
            <a:r>
              <a:rPr lang="en-US" altLang="en-US" sz="2400" noProof="0" dirty="0"/>
              <a:t>Time domain</a:t>
            </a:r>
          </a:p>
        </p:txBody>
      </p:sp>
      <p:pic>
        <p:nvPicPr>
          <p:cNvPr id="2" name="Picture 15" descr="A circuit diagram shows current small i of voltage nu flowing from a positive to a negative terminal through a resistor R.">
            <a:extLst>
              <a:ext uri="{FF2B5EF4-FFF2-40B4-BE49-F238E27FC236}">
                <a16:creationId xmlns:a16="http://schemas.microsoft.com/office/drawing/2014/main" id="{7A4A6A5A-534F-0D8A-4CD3-B5DB2A485ACC}"/>
              </a:ext>
            </a:extLst>
          </p:cNvPr>
          <p:cNvPicPr>
            <a:picLocks noChangeAspect="1" noChangeArrowheads="1"/>
          </p:cNvPicPr>
          <p:nvPr/>
        </p:nvPicPr>
        <p:blipFill rotWithShape="1">
          <a:blip r:embed="rId2"/>
          <a:srcRect l="3576" t="3869" r="3252" b="5000"/>
          <a:stretch/>
        </p:blipFill>
        <p:spPr bwMode="auto">
          <a:xfrm>
            <a:off x="755650" y="2651125"/>
            <a:ext cx="1819275" cy="1168400"/>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graphicFrame>
        <p:nvGraphicFramePr>
          <p:cNvPr id="3" name="Object 2" descr="i (t) equals uppercase I subscript lowercase m baseline cosine Open Parenthesis omega t plus theta Close Parenthesis.&#10;">
            <a:extLst>
              <a:ext uri="{FF2B5EF4-FFF2-40B4-BE49-F238E27FC236}">
                <a16:creationId xmlns:a16="http://schemas.microsoft.com/office/drawing/2014/main" id="{653C3567-F19E-CFEE-5F26-021643D67EED}"/>
              </a:ext>
            </a:extLst>
          </p:cNvPr>
          <p:cNvGraphicFramePr>
            <a:graphicFrameLocks noChangeAspect="1"/>
          </p:cNvGraphicFramePr>
          <p:nvPr>
            <p:extLst>
              <p:ext uri="{D42A27DB-BD31-4B8C-83A1-F6EECF244321}">
                <p14:modId xmlns:p14="http://schemas.microsoft.com/office/powerpoint/2010/main" val="2590618729"/>
              </p:ext>
            </p:extLst>
          </p:nvPr>
        </p:nvGraphicFramePr>
        <p:xfrm>
          <a:off x="468402" y="4028333"/>
          <a:ext cx="2351088" cy="419100"/>
        </p:xfrm>
        <a:graphic>
          <a:graphicData uri="http://schemas.openxmlformats.org/presentationml/2006/ole">
            <mc:AlternateContent xmlns:mc="http://schemas.openxmlformats.org/markup-compatibility/2006">
              <mc:Choice xmlns:v="urn:schemas-microsoft-com:vml" Requires="v">
                <p:oleObj name="Equation" r:id="rId3" imgW="1282680" imgH="228600" progId="Equation.DSMT4">
                  <p:embed/>
                </p:oleObj>
              </mc:Choice>
              <mc:Fallback>
                <p:oleObj name="Equation" r:id="rId3" imgW="1282680" imgH="228600" progId="Equation.DSMT4">
                  <p:embed/>
                  <p:pic>
                    <p:nvPicPr>
                      <p:cNvPr id="18" name="Object 17"/>
                      <p:cNvPicPr>
                        <a:picLocks noChangeAspect="1" noChangeArrowheads="1"/>
                      </p:cNvPicPr>
                      <p:nvPr/>
                    </p:nvPicPr>
                    <p:blipFill>
                      <a:blip r:embed="rId4"/>
                      <a:srcRect/>
                      <a:stretch>
                        <a:fillRect/>
                      </a:stretch>
                    </p:blipFill>
                    <p:spPr bwMode="auto">
                      <a:xfrm>
                        <a:off x="468402" y="4028333"/>
                        <a:ext cx="235108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descr="Therefore v (t) equals R i (t) equals R uppercase I subscript m baseline cosine Open Parenthesis omega t plus theta Close Parenthesis.&#10;">
            <a:extLst>
              <a:ext uri="{FF2B5EF4-FFF2-40B4-BE49-F238E27FC236}">
                <a16:creationId xmlns:a16="http://schemas.microsoft.com/office/drawing/2014/main" id="{C6ECB9B7-CF51-F854-50C6-C1E040C8E91A}"/>
              </a:ext>
            </a:extLst>
          </p:cNvPr>
          <p:cNvGraphicFramePr>
            <a:graphicFrameLocks noChangeAspect="1"/>
          </p:cNvGraphicFramePr>
          <p:nvPr>
            <p:extLst>
              <p:ext uri="{D42A27DB-BD31-4B8C-83A1-F6EECF244321}">
                <p14:modId xmlns:p14="http://schemas.microsoft.com/office/powerpoint/2010/main" val="1508885346"/>
              </p:ext>
            </p:extLst>
          </p:nvPr>
        </p:nvGraphicFramePr>
        <p:xfrm>
          <a:off x="437584" y="4548188"/>
          <a:ext cx="3795713" cy="419100"/>
        </p:xfrm>
        <a:graphic>
          <a:graphicData uri="http://schemas.openxmlformats.org/presentationml/2006/ole">
            <mc:AlternateContent xmlns:mc="http://schemas.openxmlformats.org/markup-compatibility/2006">
              <mc:Choice xmlns:v="urn:schemas-microsoft-com:vml" Requires="v">
                <p:oleObj name="Equation" r:id="rId5" imgW="2070000" imgH="228600" progId="Equation.DSMT4">
                  <p:embed/>
                </p:oleObj>
              </mc:Choice>
              <mc:Fallback>
                <p:oleObj name="Equation" r:id="rId5" imgW="2070000" imgH="228600" progId="Equation.DSMT4">
                  <p:embed/>
                  <p:pic>
                    <p:nvPicPr>
                      <p:cNvPr id="3" name="Object 2">
                        <a:extLst>
                          <a:ext uri="{FF2B5EF4-FFF2-40B4-BE49-F238E27FC236}">
                            <a16:creationId xmlns:a16="http://schemas.microsoft.com/office/drawing/2014/main" id="{653C3567-F19E-CFEE-5F26-021643D67EED}"/>
                          </a:ext>
                        </a:extLst>
                      </p:cNvPr>
                      <p:cNvPicPr>
                        <a:picLocks noChangeAspect="1" noChangeArrowheads="1"/>
                      </p:cNvPicPr>
                      <p:nvPr/>
                    </p:nvPicPr>
                    <p:blipFill>
                      <a:blip r:embed="rId6"/>
                      <a:srcRect/>
                      <a:stretch>
                        <a:fillRect/>
                      </a:stretch>
                    </p:blipFill>
                    <p:spPr bwMode="auto">
                      <a:xfrm>
                        <a:off x="437584" y="4548188"/>
                        <a:ext cx="37957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descr="P above a right arrow.&#10;">
            <a:extLst>
              <a:ext uri="{FF2B5EF4-FFF2-40B4-BE49-F238E27FC236}">
                <a16:creationId xmlns:a16="http://schemas.microsoft.com/office/drawing/2014/main" id="{BFCC1772-0B09-AA61-C261-C7FA11AC63B3}"/>
              </a:ext>
            </a:extLst>
          </p:cNvPr>
          <p:cNvGraphicFramePr>
            <a:graphicFrameLocks noChangeAspect="1"/>
          </p:cNvGraphicFramePr>
          <p:nvPr>
            <p:extLst>
              <p:ext uri="{D42A27DB-BD31-4B8C-83A1-F6EECF244321}">
                <p14:modId xmlns:p14="http://schemas.microsoft.com/office/powerpoint/2010/main" val="3270183796"/>
              </p:ext>
            </p:extLst>
          </p:nvPr>
        </p:nvGraphicFramePr>
        <p:xfrm>
          <a:off x="4059330" y="2991968"/>
          <a:ext cx="354013" cy="520700"/>
        </p:xfrm>
        <a:graphic>
          <a:graphicData uri="http://schemas.openxmlformats.org/presentationml/2006/ole">
            <mc:AlternateContent xmlns:mc="http://schemas.openxmlformats.org/markup-compatibility/2006">
              <mc:Choice xmlns:v="urn:schemas-microsoft-com:vml" Requires="v">
                <p:oleObj name="Equation" r:id="rId7" imgW="190440" imgH="279360" progId="Equation.DSMT4">
                  <p:embed/>
                </p:oleObj>
              </mc:Choice>
              <mc:Fallback>
                <p:oleObj name="Equation" r:id="rId7" imgW="190440" imgH="279360" progId="Equation.DSMT4">
                  <p:embed/>
                  <p:pic>
                    <p:nvPicPr>
                      <p:cNvPr id="15" name="Object 14">
                        <a:extLst>
                          <a:ext uri="{FF2B5EF4-FFF2-40B4-BE49-F238E27FC236}">
                            <a16:creationId xmlns:a16="http://schemas.microsoft.com/office/drawing/2014/main" id="{B49DE849-A4F2-6993-5671-0388B688C83D}"/>
                          </a:ext>
                        </a:extLst>
                      </p:cNvPr>
                      <p:cNvPicPr>
                        <a:picLocks noChangeAspect="1" noChangeArrowheads="1"/>
                      </p:cNvPicPr>
                      <p:nvPr/>
                    </p:nvPicPr>
                    <p:blipFill>
                      <a:blip r:embed="rId8"/>
                      <a:srcRect/>
                      <a:stretch>
                        <a:fillRect/>
                      </a:stretch>
                    </p:blipFill>
                    <p:spPr bwMode="auto">
                      <a:xfrm>
                        <a:off x="4059330" y="2991968"/>
                        <a:ext cx="3540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572000" y="1590532"/>
            <a:ext cx="4025153" cy="405683"/>
          </a:xfrm>
        </p:spPr>
        <p:txBody>
          <a:bodyPr wrap="square" lIns="0" tIns="18000" rIns="0" bIns="18000" anchor="ctr">
            <a:spAutoFit/>
          </a:bodyPr>
          <a:lstStyle/>
          <a:p>
            <a:pPr marL="0" indent="0">
              <a:spcBef>
                <a:spcPts val="600"/>
              </a:spcBef>
              <a:buNone/>
            </a:pPr>
            <a:r>
              <a:rPr lang="en-US" altLang="en-US" sz="2400" noProof="0" dirty="0"/>
              <a:t>Phasor (frequency) domain</a:t>
            </a:r>
            <a:endParaRPr lang="en-US" sz="2400" noProof="0" dirty="0"/>
          </a:p>
        </p:txBody>
      </p:sp>
      <p:pic>
        <p:nvPicPr>
          <p:cNvPr id="22" name="Picture 21" descr="A circuit diagram shows current cap I of voltage cap V flowing from a positive to a negative terminal through a resistor R.">
            <a:extLst>
              <a:ext uri="{FF2B5EF4-FFF2-40B4-BE49-F238E27FC236}">
                <a16:creationId xmlns:a16="http://schemas.microsoft.com/office/drawing/2014/main" id="{DC25D7FF-CD00-2641-0B82-BBD51E56D6B2}"/>
              </a:ext>
            </a:extLst>
          </p:cNvPr>
          <p:cNvPicPr>
            <a:picLocks noChangeAspect="1" noChangeArrowheads="1"/>
          </p:cNvPicPr>
          <p:nvPr/>
        </p:nvPicPr>
        <p:blipFill rotWithShape="1">
          <a:blip r:embed="rId9"/>
          <a:srcRect l="4487" t="5661" r="4143" b="5400"/>
          <a:stretch/>
        </p:blipFill>
        <p:spPr bwMode="auto">
          <a:xfrm>
            <a:off x="5308600" y="2679699"/>
            <a:ext cx="1489075" cy="955675"/>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graphicFrame>
        <p:nvGraphicFramePr>
          <p:cNvPr id="23" name="Object 22" descr="I equals I subscript m baseline angle theta.&#10;">
            <a:extLst>
              <a:ext uri="{FF2B5EF4-FFF2-40B4-BE49-F238E27FC236}">
                <a16:creationId xmlns:a16="http://schemas.microsoft.com/office/drawing/2014/main" id="{4186B07F-3AD3-2608-4ADB-DBBAACCEBB21}"/>
              </a:ext>
            </a:extLst>
          </p:cNvPr>
          <p:cNvGraphicFramePr>
            <a:graphicFrameLocks noChangeAspect="1"/>
          </p:cNvGraphicFramePr>
          <p:nvPr>
            <p:extLst>
              <p:ext uri="{D42A27DB-BD31-4B8C-83A1-F6EECF244321}">
                <p14:modId xmlns:p14="http://schemas.microsoft.com/office/powerpoint/2010/main" val="853040603"/>
              </p:ext>
            </p:extLst>
          </p:nvPr>
        </p:nvGraphicFramePr>
        <p:xfrm>
          <a:off x="5332131" y="4056155"/>
          <a:ext cx="1093788" cy="419100"/>
        </p:xfrm>
        <a:graphic>
          <a:graphicData uri="http://schemas.openxmlformats.org/presentationml/2006/ole">
            <mc:AlternateContent xmlns:mc="http://schemas.openxmlformats.org/markup-compatibility/2006">
              <mc:Choice xmlns:v="urn:schemas-microsoft-com:vml" Requires="v">
                <p:oleObj name="Equation" r:id="rId10" imgW="596880" imgH="228600" progId="Equation.DSMT4">
                  <p:embed/>
                </p:oleObj>
              </mc:Choice>
              <mc:Fallback>
                <p:oleObj name="Equation" r:id="rId10" imgW="596880" imgH="228600" progId="Equation.DSMT4">
                  <p:embed/>
                  <p:pic>
                    <p:nvPicPr>
                      <p:cNvPr id="19" name="Object 18"/>
                      <p:cNvPicPr>
                        <a:picLocks noChangeAspect="1" noChangeArrowheads="1"/>
                      </p:cNvPicPr>
                      <p:nvPr/>
                    </p:nvPicPr>
                    <p:blipFill>
                      <a:blip r:embed="rId11"/>
                      <a:srcRect/>
                      <a:stretch>
                        <a:fillRect/>
                      </a:stretch>
                    </p:blipFill>
                    <p:spPr bwMode="auto">
                      <a:xfrm>
                        <a:off x="5332131" y="4056155"/>
                        <a:ext cx="109378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descr="Therefore, V equals R I equals R I subscript m baseline angle theta.&#10;">
            <a:extLst>
              <a:ext uri="{FF2B5EF4-FFF2-40B4-BE49-F238E27FC236}">
                <a16:creationId xmlns:a16="http://schemas.microsoft.com/office/drawing/2014/main" id="{91464932-364B-B7D0-90E8-5DA7EFE1823F}"/>
              </a:ext>
            </a:extLst>
          </p:cNvPr>
          <p:cNvGraphicFramePr>
            <a:graphicFrameLocks noChangeAspect="1"/>
          </p:cNvGraphicFramePr>
          <p:nvPr>
            <p:extLst>
              <p:ext uri="{D42A27DB-BD31-4B8C-83A1-F6EECF244321}">
                <p14:modId xmlns:p14="http://schemas.microsoft.com/office/powerpoint/2010/main" val="3552202554"/>
              </p:ext>
            </p:extLst>
          </p:nvPr>
        </p:nvGraphicFramePr>
        <p:xfrm>
          <a:off x="5334467" y="4529883"/>
          <a:ext cx="2794000" cy="419100"/>
        </p:xfrm>
        <a:graphic>
          <a:graphicData uri="http://schemas.openxmlformats.org/presentationml/2006/ole">
            <mc:AlternateContent xmlns:mc="http://schemas.openxmlformats.org/markup-compatibility/2006">
              <mc:Choice xmlns:v="urn:schemas-microsoft-com:vml" Requires="v">
                <p:oleObj name="Equation" r:id="rId12" imgW="1523880" imgH="228600" progId="Equation.DSMT4">
                  <p:embed/>
                </p:oleObj>
              </mc:Choice>
              <mc:Fallback>
                <p:oleObj name="Equation" r:id="rId12" imgW="1523880" imgH="228600" progId="Equation.DSMT4">
                  <p:embed/>
                  <p:pic>
                    <p:nvPicPr>
                      <p:cNvPr id="23" name="Object 22">
                        <a:extLst>
                          <a:ext uri="{FF2B5EF4-FFF2-40B4-BE49-F238E27FC236}">
                            <a16:creationId xmlns:a16="http://schemas.microsoft.com/office/drawing/2014/main" id="{4186B07F-3AD3-2608-4ADB-DBBAACCEBB21}"/>
                          </a:ext>
                        </a:extLst>
                      </p:cNvPr>
                      <p:cNvPicPr>
                        <a:picLocks noChangeAspect="1" noChangeArrowheads="1"/>
                      </p:cNvPicPr>
                      <p:nvPr/>
                    </p:nvPicPr>
                    <p:blipFill>
                      <a:blip r:embed="rId13"/>
                      <a:srcRect/>
                      <a:stretch>
                        <a:fillRect/>
                      </a:stretch>
                    </p:blipFill>
                    <p:spPr bwMode="auto">
                      <a:xfrm>
                        <a:off x="5334467" y="4529883"/>
                        <a:ext cx="27940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 uri="{C183D7F6-B498-43B3-948B-1728B52AA6E4}">
                <adec:decorative xmlns:adec="http://schemas.microsoft.com/office/drawing/2017/decorative" val="0"/>
              </a:ext>
            </a:extLst>
          </p:cNvPr>
          <p:cNvSpPr>
            <a:spLocks noGrp="1"/>
          </p:cNvSpPr>
          <p:nvPr>
            <p:ph sz="quarter" idx="15"/>
          </p:nvPr>
        </p:nvSpPr>
        <p:spPr>
          <a:xfrm>
            <a:off x="438150" y="5074905"/>
            <a:ext cx="8159003" cy="1144347"/>
          </a:xfrm>
          <a:ln w="28575">
            <a:solidFill>
              <a:srgbClr val="007FA3"/>
            </a:solidFill>
          </a:ln>
        </p:spPr>
        <p:txBody>
          <a:bodyPr wrap="square" lIns="54000" tIns="18000" rIns="54000" bIns="18000" anchor="ctr">
            <a:spAutoFit/>
          </a:bodyPr>
          <a:lstStyle/>
          <a:p>
            <a:pPr marL="0" indent="0">
              <a:spcBef>
                <a:spcPts val="600"/>
              </a:spcBef>
              <a:buNone/>
            </a:pPr>
            <a:r>
              <a:rPr lang="en-US" altLang="en-US" sz="2400" noProof="0" dirty="0"/>
              <a:t>Note that the voltage and current phasors for a resistor have the same phase angle – therefore we say that the voltage and current in a resistor are “in phase”.</a:t>
            </a:r>
          </a:p>
        </p:txBody>
      </p:sp>
    </p:spTree>
    <p:extLst>
      <p:ext uri="{BB962C8B-B14F-4D97-AF65-F5344CB8AC3E}">
        <p14:creationId xmlns:p14="http://schemas.microsoft.com/office/powerpoint/2010/main" val="983737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(17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92773"/>
            <a:ext cx="1605803" cy="405683"/>
          </a:xfrm>
        </p:spPr>
        <p:txBody>
          <a:bodyPr wrap="square" lIns="0" tIns="18000" rIns="0" bIns="18000" anchor="ctr">
            <a:spAutoFit/>
          </a:bodyPr>
          <a:lstStyle/>
          <a:p>
            <a:pPr marL="0" indent="0">
              <a:spcBef>
                <a:spcPct val="20000"/>
              </a:spcBef>
              <a:buNone/>
              <a:defRPr/>
            </a:pPr>
            <a:r>
              <a:rPr lang="en-US" sz="2400" kern="0" noProof="0" dirty="0"/>
              <a:t>Inductors: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2093677"/>
            <a:ext cx="2063003" cy="405683"/>
          </a:xfrm>
        </p:spPr>
        <p:txBody>
          <a:bodyPr wrap="square" lIns="0" tIns="18000" rIns="0" bIns="18000" anchor="ctr">
            <a:spAutoFit/>
          </a:bodyPr>
          <a:lstStyle/>
          <a:p>
            <a:pPr marL="0" indent="0">
              <a:buNone/>
            </a:pPr>
            <a:r>
              <a:rPr lang="en-US" altLang="en-US" sz="2400" noProof="0" dirty="0"/>
              <a:t>Time domain</a:t>
            </a:r>
          </a:p>
        </p:txBody>
      </p:sp>
      <p:pic>
        <p:nvPicPr>
          <p:cNvPr id="11" name="Picture 16" descr="A circuit diagram shows current small i of voltage nu flowing from a positive to a negative terminal through a resistor R.">
            <a:extLst>
              <a:ext uri="{FF2B5EF4-FFF2-40B4-BE49-F238E27FC236}">
                <a16:creationId xmlns:a16="http://schemas.microsoft.com/office/drawing/2014/main" id="{BC2922FA-67FE-CF4B-F883-8F1CBD4B35F2}"/>
              </a:ext>
            </a:extLst>
          </p:cNvPr>
          <p:cNvPicPr>
            <a:picLocks noChangeAspect="1" noChangeArrowheads="1"/>
          </p:cNvPicPr>
          <p:nvPr/>
        </p:nvPicPr>
        <p:blipFill rotWithShape="1">
          <a:blip r:embed="rId2"/>
          <a:srcRect l="3088" t="3702" r="3188" b="6568"/>
          <a:stretch/>
        </p:blipFill>
        <p:spPr bwMode="auto">
          <a:xfrm>
            <a:off x="823913" y="2567439"/>
            <a:ext cx="1850370" cy="1163186"/>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graphicFrame>
        <p:nvGraphicFramePr>
          <p:cNvPr id="5" name="Object 4" descr="i (t) equals uppercase I subscript m baseline cosine Open Parenthesis omega t plus theta Close Parenthesis&#10;">
            <a:extLst>
              <a:ext uri="{FF2B5EF4-FFF2-40B4-BE49-F238E27FC236}">
                <a16:creationId xmlns:a16="http://schemas.microsoft.com/office/drawing/2014/main" id="{33D3AC18-4C8E-9A4D-6332-223AC9E732B5}"/>
              </a:ext>
            </a:extLst>
          </p:cNvPr>
          <p:cNvGraphicFramePr>
            <a:graphicFrameLocks noChangeAspect="1"/>
          </p:cNvGraphicFramePr>
          <p:nvPr>
            <p:extLst>
              <p:ext uri="{D42A27DB-BD31-4B8C-83A1-F6EECF244321}">
                <p14:modId xmlns:p14="http://schemas.microsoft.com/office/powerpoint/2010/main" val="4184815302"/>
              </p:ext>
            </p:extLst>
          </p:nvPr>
        </p:nvGraphicFramePr>
        <p:xfrm>
          <a:off x="535921" y="4027671"/>
          <a:ext cx="2138362" cy="381000"/>
        </p:xfrm>
        <a:graphic>
          <a:graphicData uri="http://schemas.openxmlformats.org/presentationml/2006/ole">
            <mc:AlternateContent xmlns:mc="http://schemas.openxmlformats.org/markup-compatibility/2006">
              <mc:Choice xmlns:v="urn:schemas-microsoft-com:vml" Requires="v">
                <p:oleObj name="Equation" r:id="rId3" imgW="1282680" imgH="228600" progId="Equation.DSMT4">
                  <p:embed/>
                </p:oleObj>
              </mc:Choice>
              <mc:Fallback>
                <p:oleObj name="Equation" r:id="rId3" imgW="1282680" imgH="228600" progId="Equation.DSMT4">
                  <p:embed/>
                  <p:pic>
                    <p:nvPicPr>
                      <p:cNvPr id="6" name="Object 5"/>
                      <p:cNvPicPr>
                        <a:picLocks noChangeAspect="1" noChangeArrowheads="1"/>
                      </p:cNvPicPr>
                      <p:nvPr/>
                    </p:nvPicPr>
                    <p:blipFill>
                      <a:blip r:embed="rId4"/>
                      <a:srcRect/>
                      <a:stretch>
                        <a:fillRect/>
                      </a:stretch>
                    </p:blipFill>
                    <p:spPr bwMode="auto">
                      <a:xfrm>
                        <a:off x="535921" y="4027671"/>
                        <a:ext cx="21383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descr="Therefore, v (t) equals L d i (t) divided by d t.&#10;">
            <a:extLst>
              <a:ext uri="{FF2B5EF4-FFF2-40B4-BE49-F238E27FC236}">
                <a16:creationId xmlns:a16="http://schemas.microsoft.com/office/drawing/2014/main" id="{987A1BD1-73AE-419F-9B3D-D6305FE799C9}"/>
              </a:ext>
            </a:extLst>
          </p:cNvPr>
          <p:cNvGraphicFramePr>
            <a:graphicFrameLocks noChangeAspect="1"/>
          </p:cNvGraphicFramePr>
          <p:nvPr>
            <p:extLst>
              <p:ext uri="{D42A27DB-BD31-4B8C-83A1-F6EECF244321}">
                <p14:modId xmlns:p14="http://schemas.microsoft.com/office/powerpoint/2010/main" val="1026490647"/>
              </p:ext>
            </p:extLst>
          </p:nvPr>
        </p:nvGraphicFramePr>
        <p:xfrm>
          <a:off x="432547" y="4476750"/>
          <a:ext cx="2308225" cy="360363"/>
        </p:xfrm>
        <a:graphic>
          <a:graphicData uri="http://schemas.openxmlformats.org/presentationml/2006/ole">
            <mc:AlternateContent xmlns:mc="http://schemas.openxmlformats.org/markup-compatibility/2006">
              <mc:Choice xmlns:v="urn:schemas-microsoft-com:vml" Requires="v">
                <p:oleObj name="Equation" r:id="rId5" imgW="1384200" imgH="215640" progId="Equation.DSMT4">
                  <p:embed/>
                </p:oleObj>
              </mc:Choice>
              <mc:Fallback>
                <p:oleObj name="Equation" r:id="rId5" imgW="1384200" imgH="215640" progId="Equation.DSMT4">
                  <p:embed/>
                  <p:pic>
                    <p:nvPicPr>
                      <p:cNvPr id="5" name="Object 4">
                        <a:extLst>
                          <a:ext uri="{FF2B5EF4-FFF2-40B4-BE49-F238E27FC236}">
                            <a16:creationId xmlns:a16="http://schemas.microsoft.com/office/drawing/2014/main" id="{33D3AC18-4C8E-9A4D-6332-223AC9E732B5}"/>
                          </a:ext>
                        </a:extLst>
                      </p:cNvPr>
                      <p:cNvPicPr>
                        <a:picLocks noChangeAspect="1" noChangeArrowheads="1"/>
                      </p:cNvPicPr>
                      <p:nvPr/>
                    </p:nvPicPr>
                    <p:blipFill>
                      <a:blip r:embed="rId6"/>
                      <a:srcRect/>
                      <a:stretch>
                        <a:fillRect/>
                      </a:stretch>
                    </p:blipFill>
                    <p:spPr bwMode="auto">
                      <a:xfrm>
                        <a:off x="432547" y="4476750"/>
                        <a:ext cx="23082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3" descr="Equals negative omega L I subscript m baseline sine Open Parenthesis omega t plus theta Close Parenthesis.&#10;">
            <a:extLst>
              <a:ext uri="{FF2B5EF4-FFF2-40B4-BE49-F238E27FC236}">
                <a16:creationId xmlns:a16="http://schemas.microsoft.com/office/drawing/2014/main" id="{8F91CA1B-C726-DB7C-01BD-83B45A298542}"/>
              </a:ext>
            </a:extLst>
          </p:cNvPr>
          <p:cNvGraphicFramePr>
            <a:graphicFrameLocks noChangeAspect="1"/>
          </p:cNvGraphicFramePr>
          <p:nvPr>
            <p:extLst>
              <p:ext uri="{D42A27DB-BD31-4B8C-83A1-F6EECF244321}">
                <p14:modId xmlns:p14="http://schemas.microsoft.com/office/powerpoint/2010/main" val="1897370093"/>
              </p:ext>
            </p:extLst>
          </p:nvPr>
        </p:nvGraphicFramePr>
        <p:xfrm>
          <a:off x="1459752" y="4907338"/>
          <a:ext cx="2138363" cy="381000"/>
        </p:xfrm>
        <a:graphic>
          <a:graphicData uri="http://schemas.openxmlformats.org/presentationml/2006/ole">
            <mc:AlternateContent xmlns:mc="http://schemas.openxmlformats.org/markup-compatibility/2006">
              <mc:Choice xmlns:v="urn:schemas-microsoft-com:vml" Requires="v">
                <p:oleObj name="Equation" r:id="rId7" imgW="1282680" imgH="228600" progId="Equation.DSMT4">
                  <p:embed/>
                </p:oleObj>
              </mc:Choice>
              <mc:Fallback>
                <p:oleObj name="Equation" r:id="rId7" imgW="1282680" imgH="228600" progId="Equation.DSMT4">
                  <p:embed/>
                  <p:pic>
                    <p:nvPicPr>
                      <p:cNvPr id="3" name="Object 2">
                        <a:extLst>
                          <a:ext uri="{FF2B5EF4-FFF2-40B4-BE49-F238E27FC236}">
                            <a16:creationId xmlns:a16="http://schemas.microsoft.com/office/drawing/2014/main" id="{987A1BD1-73AE-419F-9B3D-D6305FE799C9}"/>
                          </a:ext>
                        </a:extLst>
                      </p:cNvPr>
                      <p:cNvPicPr>
                        <a:picLocks noChangeAspect="1" noChangeArrowheads="1"/>
                      </p:cNvPicPr>
                      <p:nvPr/>
                    </p:nvPicPr>
                    <p:blipFill>
                      <a:blip r:embed="rId8"/>
                      <a:srcRect/>
                      <a:stretch>
                        <a:fillRect/>
                      </a:stretch>
                    </p:blipFill>
                    <p:spPr bwMode="auto">
                      <a:xfrm>
                        <a:off x="1459752" y="4907338"/>
                        <a:ext cx="21383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4" descr="Equals negative omega L I subscript m baseline cosine Open Parenthesis omega t plus theta minus 90 degrees Close Parenthesis.&#10;">
            <a:extLst>
              <a:ext uri="{FF2B5EF4-FFF2-40B4-BE49-F238E27FC236}">
                <a16:creationId xmlns:a16="http://schemas.microsoft.com/office/drawing/2014/main" id="{AE0C5899-64B5-E699-A80C-FA7971DE37E7}"/>
              </a:ext>
            </a:extLst>
          </p:cNvPr>
          <p:cNvGraphicFramePr>
            <a:graphicFrameLocks noChangeAspect="1"/>
          </p:cNvGraphicFramePr>
          <p:nvPr>
            <p:extLst>
              <p:ext uri="{D42A27DB-BD31-4B8C-83A1-F6EECF244321}">
                <p14:modId xmlns:p14="http://schemas.microsoft.com/office/powerpoint/2010/main" val="2989755933"/>
              </p:ext>
            </p:extLst>
          </p:nvPr>
        </p:nvGraphicFramePr>
        <p:xfrm>
          <a:off x="1444343" y="5329238"/>
          <a:ext cx="2814637" cy="381000"/>
        </p:xfrm>
        <a:graphic>
          <a:graphicData uri="http://schemas.openxmlformats.org/presentationml/2006/ole">
            <mc:AlternateContent xmlns:mc="http://schemas.openxmlformats.org/markup-compatibility/2006">
              <mc:Choice xmlns:v="urn:schemas-microsoft-com:vml" Requires="v">
                <p:oleObj name="Equation" r:id="rId9" imgW="1688760" imgH="228600" progId="Equation.DSMT4">
                  <p:embed/>
                </p:oleObj>
              </mc:Choice>
              <mc:Fallback>
                <p:oleObj name="Equation" r:id="rId9" imgW="1688760" imgH="228600" progId="Equation.DSMT4">
                  <p:embed/>
                  <p:pic>
                    <p:nvPicPr>
                      <p:cNvPr id="14" name="Object 13">
                        <a:extLst>
                          <a:ext uri="{FF2B5EF4-FFF2-40B4-BE49-F238E27FC236}">
                            <a16:creationId xmlns:a16="http://schemas.microsoft.com/office/drawing/2014/main" id="{8F91CA1B-C726-DB7C-01BD-83B45A298542}"/>
                          </a:ext>
                        </a:extLst>
                      </p:cNvPr>
                      <p:cNvPicPr>
                        <a:picLocks noChangeAspect="1" noChangeArrowheads="1"/>
                      </p:cNvPicPr>
                      <p:nvPr/>
                    </p:nvPicPr>
                    <p:blipFill>
                      <a:blip r:embed="rId10"/>
                      <a:srcRect/>
                      <a:stretch>
                        <a:fillRect/>
                      </a:stretch>
                    </p:blipFill>
                    <p:spPr bwMode="auto">
                      <a:xfrm>
                        <a:off x="1444343" y="5329238"/>
                        <a:ext cx="28146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descr="P above a right arrow.&#10;">
            <a:extLst>
              <a:ext uri="{FF2B5EF4-FFF2-40B4-BE49-F238E27FC236}">
                <a16:creationId xmlns:a16="http://schemas.microsoft.com/office/drawing/2014/main" id="{BFCC1772-0B09-AA61-C261-C7FA11AC63B3}"/>
              </a:ext>
            </a:extLst>
          </p:cNvPr>
          <p:cNvGraphicFramePr>
            <a:graphicFrameLocks noChangeAspect="1"/>
          </p:cNvGraphicFramePr>
          <p:nvPr>
            <p:extLst>
              <p:ext uri="{D42A27DB-BD31-4B8C-83A1-F6EECF244321}">
                <p14:modId xmlns:p14="http://schemas.microsoft.com/office/powerpoint/2010/main" val="3193495863"/>
              </p:ext>
            </p:extLst>
          </p:nvPr>
        </p:nvGraphicFramePr>
        <p:xfrm>
          <a:off x="4131046" y="2749921"/>
          <a:ext cx="354013" cy="520700"/>
        </p:xfrm>
        <a:graphic>
          <a:graphicData uri="http://schemas.openxmlformats.org/presentationml/2006/ole">
            <mc:AlternateContent xmlns:mc="http://schemas.openxmlformats.org/markup-compatibility/2006">
              <mc:Choice xmlns:v="urn:schemas-microsoft-com:vml" Requires="v">
                <p:oleObj name="Equation" r:id="rId11" imgW="190440" imgH="279360" progId="Equation.DSMT4">
                  <p:embed/>
                </p:oleObj>
              </mc:Choice>
              <mc:Fallback>
                <p:oleObj name="Equation" r:id="rId11" imgW="190440" imgH="279360" progId="Equation.DSMT4">
                  <p:embed/>
                  <p:pic>
                    <p:nvPicPr>
                      <p:cNvPr id="4" name="Object 3">
                        <a:extLst>
                          <a:ext uri="{FF2B5EF4-FFF2-40B4-BE49-F238E27FC236}">
                            <a16:creationId xmlns:a16="http://schemas.microsoft.com/office/drawing/2014/main" id="{BFCC1772-0B09-AA61-C261-C7FA11AC63B3}"/>
                          </a:ext>
                        </a:extLst>
                      </p:cNvPr>
                      <p:cNvPicPr>
                        <a:picLocks noChangeAspect="1" noChangeArrowheads="1"/>
                      </p:cNvPicPr>
                      <p:nvPr/>
                    </p:nvPicPr>
                    <p:blipFill>
                      <a:blip r:embed="rId12"/>
                      <a:srcRect/>
                      <a:stretch>
                        <a:fillRect/>
                      </a:stretch>
                    </p:blipFill>
                    <p:spPr bwMode="auto">
                      <a:xfrm>
                        <a:off x="4131046" y="2749921"/>
                        <a:ext cx="3540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572000" y="1590532"/>
            <a:ext cx="4025153" cy="405683"/>
          </a:xfrm>
        </p:spPr>
        <p:txBody>
          <a:bodyPr wrap="square" lIns="0" tIns="18000" rIns="0" bIns="18000" anchor="ctr">
            <a:spAutoFit/>
          </a:bodyPr>
          <a:lstStyle/>
          <a:p>
            <a:pPr marL="0" indent="0">
              <a:spcBef>
                <a:spcPts val="600"/>
              </a:spcBef>
              <a:buNone/>
            </a:pPr>
            <a:r>
              <a:rPr lang="en-US" altLang="en-US" sz="2400" noProof="0" dirty="0"/>
              <a:t>Phasor (frequency) domain</a:t>
            </a:r>
            <a:endParaRPr lang="en-US" sz="2400" noProof="0" dirty="0"/>
          </a:p>
        </p:txBody>
      </p:sp>
      <p:pic>
        <p:nvPicPr>
          <p:cNvPr id="2" name="Picture 15" descr="A circuit diagram shows current cap I of voltage cap V flowing from a positive to a negative terminal through an inductor labeled j omega L.">
            <a:extLst>
              <a:ext uri="{FF2B5EF4-FFF2-40B4-BE49-F238E27FC236}">
                <a16:creationId xmlns:a16="http://schemas.microsoft.com/office/drawing/2014/main" id="{7A4A6A5A-534F-0D8A-4CD3-B5DB2A485ACC}"/>
              </a:ext>
            </a:extLst>
          </p:cNvPr>
          <p:cNvPicPr>
            <a:picLocks noChangeAspect="1" noChangeArrowheads="1"/>
          </p:cNvPicPr>
          <p:nvPr/>
        </p:nvPicPr>
        <p:blipFill rotWithShape="1">
          <a:blip r:embed="rId13"/>
          <a:srcRect l="6302" t="5706" r="5079" b="5781"/>
          <a:stretch/>
        </p:blipFill>
        <p:spPr bwMode="auto">
          <a:xfrm>
            <a:off x="5651500" y="2289445"/>
            <a:ext cx="1730375" cy="1139555"/>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graphicFrame>
        <p:nvGraphicFramePr>
          <p:cNvPr id="12" name="Object 11" descr="I equals I subscript m baseline angle theta.&#10;">
            <a:extLst>
              <a:ext uri="{FF2B5EF4-FFF2-40B4-BE49-F238E27FC236}">
                <a16:creationId xmlns:a16="http://schemas.microsoft.com/office/drawing/2014/main" id="{4CA6DEE6-FAF3-2712-3011-AC4F59B735D7}"/>
              </a:ext>
            </a:extLst>
          </p:cNvPr>
          <p:cNvGraphicFramePr>
            <a:graphicFrameLocks noChangeAspect="1"/>
          </p:cNvGraphicFramePr>
          <p:nvPr>
            <p:extLst>
              <p:ext uri="{D42A27DB-BD31-4B8C-83A1-F6EECF244321}">
                <p14:modId xmlns:p14="http://schemas.microsoft.com/office/powerpoint/2010/main" val="794888496"/>
              </p:ext>
            </p:extLst>
          </p:nvPr>
        </p:nvGraphicFramePr>
        <p:xfrm>
          <a:off x="4988856" y="3618934"/>
          <a:ext cx="822325" cy="314325"/>
        </p:xfrm>
        <a:graphic>
          <a:graphicData uri="http://schemas.openxmlformats.org/presentationml/2006/ole">
            <mc:AlternateContent xmlns:mc="http://schemas.openxmlformats.org/markup-compatibility/2006">
              <mc:Choice xmlns:v="urn:schemas-microsoft-com:vml" Requires="v">
                <p:oleObj name="Equation" r:id="rId14" imgW="596880" imgH="228600" progId="Equation.DSMT4">
                  <p:embed/>
                </p:oleObj>
              </mc:Choice>
              <mc:Fallback>
                <p:oleObj name="Equation" r:id="rId14" imgW="596880" imgH="228600" progId="Equation.DSMT4">
                  <p:embed/>
                  <p:pic>
                    <p:nvPicPr>
                      <p:cNvPr id="8" name="Object 7"/>
                      <p:cNvPicPr>
                        <a:picLocks noChangeAspect="1" noChangeArrowheads="1"/>
                      </p:cNvPicPr>
                      <p:nvPr/>
                    </p:nvPicPr>
                    <p:blipFill>
                      <a:blip r:embed="rId15"/>
                      <a:srcRect/>
                      <a:stretch>
                        <a:fillRect/>
                      </a:stretch>
                    </p:blipFill>
                    <p:spPr bwMode="auto">
                      <a:xfrm>
                        <a:off x="4988856" y="3618934"/>
                        <a:ext cx="8223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5" descr="Therefore, V equals negative omega L I subscript m baseline e to the j Open Parenthesis theta minus 90 degrees Close Parenthesis power.&#10;">
            <a:extLst>
              <a:ext uri="{FF2B5EF4-FFF2-40B4-BE49-F238E27FC236}">
                <a16:creationId xmlns:a16="http://schemas.microsoft.com/office/drawing/2014/main" id="{3B01ACA6-6977-3F3A-C87D-9C2D43C3817F}"/>
              </a:ext>
            </a:extLst>
          </p:cNvPr>
          <p:cNvGraphicFramePr>
            <a:graphicFrameLocks noChangeAspect="1"/>
          </p:cNvGraphicFramePr>
          <p:nvPr>
            <p:extLst>
              <p:ext uri="{D42A27DB-BD31-4B8C-83A1-F6EECF244321}">
                <p14:modId xmlns:p14="http://schemas.microsoft.com/office/powerpoint/2010/main" val="1572772167"/>
              </p:ext>
            </p:extLst>
          </p:nvPr>
        </p:nvGraphicFramePr>
        <p:xfrm>
          <a:off x="5074743" y="3998291"/>
          <a:ext cx="2406333" cy="364967"/>
        </p:xfrm>
        <a:graphic>
          <a:graphicData uri="http://schemas.openxmlformats.org/presentationml/2006/ole">
            <mc:AlternateContent xmlns:mc="http://schemas.openxmlformats.org/markup-compatibility/2006">
              <mc:Choice xmlns:v="urn:schemas-microsoft-com:vml" Requires="v">
                <p:oleObj name="Equation" r:id="rId16" imgW="1587240" imgH="241200" progId="Equation.DSMT4">
                  <p:embed/>
                </p:oleObj>
              </mc:Choice>
              <mc:Fallback>
                <p:oleObj name="Equation" r:id="rId16" imgW="1587240" imgH="241200" progId="Equation.DSMT4">
                  <p:embed/>
                  <p:pic>
                    <p:nvPicPr>
                      <p:cNvPr id="12" name="Object 11">
                        <a:extLst>
                          <a:ext uri="{FF2B5EF4-FFF2-40B4-BE49-F238E27FC236}">
                            <a16:creationId xmlns:a16="http://schemas.microsoft.com/office/drawing/2014/main" id="{4CA6DEE6-FAF3-2712-3011-AC4F59B735D7}"/>
                          </a:ext>
                        </a:extLst>
                      </p:cNvPr>
                      <p:cNvPicPr>
                        <a:picLocks noChangeAspect="1" noChangeArrowheads="1"/>
                      </p:cNvPicPr>
                      <p:nvPr/>
                    </p:nvPicPr>
                    <p:blipFill>
                      <a:blip r:embed="rId17"/>
                      <a:srcRect/>
                      <a:stretch>
                        <a:fillRect/>
                      </a:stretch>
                    </p:blipFill>
                    <p:spPr bwMode="auto">
                      <a:xfrm>
                        <a:off x="5074743" y="3998291"/>
                        <a:ext cx="2406333" cy="364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6" descr="Equals negative omega L I subscript m baseline e to the j theta power e to the negative j 90 degrees power.&#10;">
            <a:extLst>
              <a:ext uri="{FF2B5EF4-FFF2-40B4-BE49-F238E27FC236}">
                <a16:creationId xmlns:a16="http://schemas.microsoft.com/office/drawing/2014/main" id="{F723BB66-407A-EFF1-5C44-EAD7EBE1F838}"/>
              </a:ext>
            </a:extLst>
          </p:cNvPr>
          <p:cNvGraphicFramePr>
            <a:graphicFrameLocks noChangeAspect="1"/>
          </p:cNvGraphicFramePr>
          <p:nvPr>
            <p:extLst>
              <p:ext uri="{D42A27DB-BD31-4B8C-83A1-F6EECF244321}">
                <p14:modId xmlns:p14="http://schemas.microsoft.com/office/powerpoint/2010/main" val="3292948842"/>
              </p:ext>
            </p:extLst>
          </p:nvPr>
        </p:nvGraphicFramePr>
        <p:xfrm>
          <a:off x="5946161" y="4419163"/>
          <a:ext cx="1634490" cy="364966"/>
        </p:xfrm>
        <a:graphic>
          <a:graphicData uri="http://schemas.openxmlformats.org/presentationml/2006/ole">
            <mc:AlternateContent xmlns:mc="http://schemas.openxmlformats.org/markup-compatibility/2006">
              <mc:Choice xmlns:v="urn:schemas-microsoft-com:vml" Requires="v">
                <p:oleObj name="Equation" r:id="rId18" imgW="1079280" imgH="241200" progId="Equation.DSMT4">
                  <p:embed/>
                </p:oleObj>
              </mc:Choice>
              <mc:Fallback>
                <p:oleObj name="Equation" r:id="rId18" imgW="1079280" imgH="241200" progId="Equation.DSMT4">
                  <p:embed/>
                  <p:pic>
                    <p:nvPicPr>
                      <p:cNvPr id="12" name="Object 11">
                        <a:extLst>
                          <a:ext uri="{FF2B5EF4-FFF2-40B4-BE49-F238E27FC236}">
                            <a16:creationId xmlns:a16="http://schemas.microsoft.com/office/drawing/2014/main" id="{4CA6DEE6-FAF3-2712-3011-AC4F59B735D7}"/>
                          </a:ext>
                        </a:extLst>
                      </p:cNvPr>
                      <p:cNvPicPr>
                        <a:picLocks noChangeAspect="1" noChangeArrowheads="1"/>
                      </p:cNvPicPr>
                      <p:nvPr/>
                    </p:nvPicPr>
                    <p:blipFill>
                      <a:blip r:embed="rId19"/>
                      <a:srcRect/>
                      <a:stretch>
                        <a:fillRect/>
                      </a:stretch>
                    </p:blipFill>
                    <p:spPr bwMode="auto">
                      <a:xfrm>
                        <a:off x="5946161" y="4419163"/>
                        <a:ext cx="1634490" cy="364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7" descr="Equals negative omega L I subscript m baseline e to the j theta power Open Parenthesis negative j Close Parenthesis.&#10;">
            <a:extLst>
              <a:ext uri="{FF2B5EF4-FFF2-40B4-BE49-F238E27FC236}">
                <a16:creationId xmlns:a16="http://schemas.microsoft.com/office/drawing/2014/main" id="{26A93512-1CAE-8BB0-DB17-4BAC31F442CC}"/>
              </a:ext>
            </a:extLst>
          </p:cNvPr>
          <p:cNvGraphicFramePr>
            <a:graphicFrameLocks noChangeAspect="1"/>
          </p:cNvGraphicFramePr>
          <p:nvPr>
            <p:extLst>
              <p:ext uri="{D42A27DB-BD31-4B8C-83A1-F6EECF244321}">
                <p14:modId xmlns:p14="http://schemas.microsoft.com/office/powerpoint/2010/main" val="269988489"/>
              </p:ext>
            </p:extLst>
          </p:nvPr>
        </p:nvGraphicFramePr>
        <p:xfrm>
          <a:off x="5948548" y="4840288"/>
          <a:ext cx="1558925" cy="365125"/>
        </p:xfrm>
        <a:graphic>
          <a:graphicData uri="http://schemas.openxmlformats.org/presentationml/2006/ole">
            <mc:AlternateContent xmlns:mc="http://schemas.openxmlformats.org/markup-compatibility/2006">
              <mc:Choice xmlns:v="urn:schemas-microsoft-com:vml" Requires="v">
                <p:oleObj name="Equation" r:id="rId20" imgW="1028520" imgH="241200" progId="Equation.DSMT4">
                  <p:embed/>
                </p:oleObj>
              </mc:Choice>
              <mc:Fallback>
                <p:oleObj name="Equation" r:id="rId20" imgW="1028520" imgH="241200" progId="Equation.DSMT4">
                  <p:embed/>
                  <p:pic>
                    <p:nvPicPr>
                      <p:cNvPr id="17" name="Object 16">
                        <a:extLst>
                          <a:ext uri="{FF2B5EF4-FFF2-40B4-BE49-F238E27FC236}">
                            <a16:creationId xmlns:a16="http://schemas.microsoft.com/office/drawing/2014/main" id="{F723BB66-407A-EFF1-5C44-EAD7EBE1F838}"/>
                          </a:ext>
                        </a:extLst>
                      </p:cNvPr>
                      <p:cNvPicPr>
                        <a:picLocks noChangeAspect="1" noChangeArrowheads="1"/>
                      </p:cNvPicPr>
                      <p:nvPr/>
                    </p:nvPicPr>
                    <p:blipFill>
                      <a:blip r:embed="rId21"/>
                      <a:srcRect/>
                      <a:stretch>
                        <a:fillRect/>
                      </a:stretch>
                    </p:blipFill>
                    <p:spPr bwMode="auto">
                      <a:xfrm>
                        <a:off x="5948548" y="4840288"/>
                        <a:ext cx="15589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8" descr="Equals j omega L I subscript m baseline e to the j theta power equals j omega L I.&#10;">
            <a:extLst>
              <a:ext uri="{FF2B5EF4-FFF2-40B4-BE49-F238E27FC236}">
                <a16:creationId xmlns:a16="http://schemas.microsoft.com/office/drawing/2014/main" id="{7EA460B3-4DDA-0E64-2BBA-1C61C5085545}"/>
              </a:ext>
            </a:extLst>
          </p:cNvPr>
          <p:cNvGraphicFramePr>
            <a:graphicFrameLocks noChangeAspect="1"/>
          </p:cNvGraphicFramePr>
          <p:nvPr>
            <p:extLst>
              <p:ext uri="{D42A27DB-BD31-4B8C-83A1-F6EECF244321}">
                <p14:modId xmlns:p14="http://schemas.microsoft.com/office/powerpoint/2010/main" val="991770325"/>
              </p:ext>
            </p:extLst>
          </p:nvPr>
        </p:nvGraphicFramePr>
        <p:xfrm>
          <a:off x="5956298" y="5270408"/>
          <a:ext cx="1847850" cy="365125"/>
        </p:xfrm>
        <a:graphic>
          <a:graphicData uri="http://schemas.openxmlformats.org/presentationml/2006/ole">
            <mc:AlternateContent xmlns:mc="http://schemas.openxmlformats.org/markup-compatibility/2006">
              <mc:Choice xmlns:v="urn:schemas-microsoft-com:vml" Requires="v">
                <p:oleObj name="Equation" r:id="rId22" imgW="1218960" imgH="241200" progId="Equation.DSMT4">
                  <p:embed/>
                </p:oleObj>
              </mc:Choice>
              <mc:Fallback>
                <p:oleObj name="Equation" r:id="rId22" imgW="1218960" imgH="241200" progId="Equation.DSMT4">
                  <p:embed/>
                  <p:pic>
                    <p:nvPicPr>
                      <p:cNvPr id="18" name="Object 17">
                        <a:extLst>
                          <a:ext uri="{FF2B5EF4-FFF2-40B4-BE49-F238E27FC236}">
                            <a16:creationId xmlns:a16="http://schemas.microsoft.com/office/drawing/2014/main" id="{26A93512-1CAE-8BB0-DB17-4BAC31F442CC}"/>
                          </a:ext>
                        </a:extLst>
                      </p:cNvPr>
                      <p:cNvPicPr>
                        <a:picLocks noChangeAspect="1" noChangeArrowheads="1"/>
                      </p:cNvPicPr>
                      <p:nvPr/>
                    </p:nvPicPr>
                    <p:blipFill>
                      <a:blip r:embed="rId23"/>
                      <a:srcRect/>
                      <a:stretch>
                        <a:fillRect/>
                      </a:stretch>
                    </p:blipFill>
                    <p:spPr bwMode="auto">
                      <a:xfrm>
                        <a:off x="5956298" y="5270408"/>
                        <a:ext cx="18478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93571" y="5820753"/>
            <a:ext cx="6321238" cy="405683"/>
          </a:xfrm>
        </p:spPr>
        <p:txBody>
          <a:bodyPr wrap="square" lIns="0" tIns="18000" rIns="0" bIns="18000" anchor="ctr">
            <a:spAutoFit/>
          </a:bodyPr>
          <a:lstStyle/>
          <a:p>
            <a:pPr marL="0" indent="0">
              <a:spcBef>
                <a:spcPts val="600"/>
              </a:spcBef>
              <a:buNone/>
            </a:pPr>
            <a:r>
              <a:rPr lang="en-US" altLang="en-US" sz="2400" noProof="0" dirty="0"/>
              <a:t>In an inductor, the voltage leads the current by</a:t>
            </a:r>
          </a:p>
        </p:txBody>
      </p:sp>
      <p:graphicFrame>
        <p:nvGraphicFramePr>
          <p:cNvPr id="13" name="Object 12" descr="90 degrees.&#10;">
            <a:extLst>
              <a:ext uri="{FF2B5EF4-FFF2-40B4-BE49-F238E27FC236}">
                <a16:creationId xmlns:a16="http://schemas.microsoft.com/office/drawing/2014/main" id="{C6E21F8D-E515-3FEF-6B9B-6610C6E7AF29}"/>
              </a:ext>
            </a:extLst>
          </p:cNvPr>
          <p:cNvGraphicFramePr>
            <a:graphicFrameLocks noChangeAspect="1"/>
          </p:cNvGraphicFramePr>
          <p:nvPr>
            <p:extLst>
              <p:ext uri="{D42A27DB-BD31-4B8C-83A1-F6EECF244321}">
                <p14:modId xmlns:p14="http://schemas.microsoft.com/office/powerpoint/2010/main" val="1546026356"/>
              </p:ext>
            </p:extLst>
          </p:nvPr>
        </p:nvGraphicFramePr>
        <p:xfrm>
          <a:off x="6873640" y="5883085"/>
          <a:ext cx="520700" cy="331788"/>
        </p:xfrm>
        <a:graphic>
          <a:graphicData uri="http://schemas.openxmlformats.org/presentationml/2006/ole">
            <mc:AlternateContent xmlns:mc="http://schemas.openxmlformats.org/markup-compatibility/2006">
              <mc:Choice xmlns:v="urn:schemas-microsoft-com:vml" Requires="v">
                <p:oleObj name="Equation" r:id="rId24" imgW="279360" imgH="177480" progId="Equation.DSMT4">
                  <p:embed/>
                </p:oleObj>
              </mc:Choice>
              <mc:Fallback>
                <p:oleObj name="Equation" r:id="rId24" imgW="279360" imgH="177480" progId="Equation.DSMT4">
                  <p:embed/>
                  <p:pic>
                    <p:nvPicPr>
                      <p:cNvPr id="4" name="Object 3">
                        <a:extLst>
                          <a:ext uri="{FF2B5EF4-FFF2-40B4-BE49-F238E27FC236}">
                            <a16:creationId xmlns:a16="http://schemas.microsoft.com/office/drawing/2014/main" id="{BFCC1772-0B09-AA61-C261-C7FA11AC63B3}"/>
                          </a:ext>
                        </a:extLst>
                      </p:cNvPr>
                      <p:cNvPicPr>
                        <a:picLocks noChangeAspect="1" noChangeArrowheads="1"/>
                      </p:cNvPicPr>
                      <p:nvPr/>
                    </p:nvPicPr>
                    <p:blipFill>
                      <a:blip r:embed="rId25"/>
                      <a:srcRect/>
                      <a:stretch>
                        <a:fillRect/>
                      </a:stretch>
                    </p:blipFill>
                    <p:spPr bwMode="auto">
                      <a:xfrm>
                        <a:off x="6873640" y="5883085"/>
                        <a:ext cx="520700"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Rectangle 20">
            <a:extLst>
              <a:ext uri="{FF2B5EF4-FFF2-40B4-BE49-F238E27FC236}">
                <a16:creationId xmlns:a16="http://schemas.microsoft.com/office/drawing/2014/main" id="{28CDD329-A6E9-E440-2C8C-FCB78C75E8F9}"/>
              </a:ext>
              <a:ext uri="{C183D7F6-B498-43B3-948B-1728B52AA6E4}">
                <adec:decorative xmlns:adec="http://schemas.microsoft.com/office/drawing/2017/decorative" val="1"/>
              </a:ext>
            </a:extLst>
          </p:cNvPr>
          <p:cNvSpPr/>
          <p:nvPr/>
        </p:nvSpPr>
        <p:spPr>
          <a:xfrm>
            <a:off x="438151" y="5856239"/>
            <a:ext cx="6956189" cy="389926"/>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276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(18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92773"/>
            <a:ext cx="1847850" cy="405683"/>
          </a:xfrm>
        </p:spPr>
        <p:txBody>
          <a:bodyPr wrap="square" lIns="0" tIns="18000" rIns="0" bIns="18000" anchor="ctr">
            <a:spAutoFit/>
          </a:bodyPr>
          <a:lstStyle/>
          <a:p>
            <a:pPr marL="0" indent="0">
              <a:spcBef>
                <a:spcPct val="20000"/>
              </a:spcBef>
              <a:buNone/>
              <a:defRPr/>
            </a:pPr>
            <a:r>
              <a:rPr lang="en-US" sz="2400" kern="0" noProof="0" dirty="0"/>
              <a:t>Capacitors: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2093677"/>
            <a:ext cx="2063003" cy="405683"/>
          </a:xfrm>
        </p:spPr>
        <p:txBody>
          <a:bodyPr wrap="square" lIns="0" tIns="18000" rIns="0" bIns="18000" anchor="ctr">
            <a:spAutoFit/>
          </a:bodyPr>
          <a:lstStyle/>
          <a:p>
            <a:pPr marL="0" indent="0">
              <a:buNone/>
            </a:pPr>
            <a:r>
              <a:rPr lang="en-US" altLang="en-US" sz="2400" noProof="0" dirty="0"/>
              <a:t>Time domain</a:t>
            </a:r>
          </a:p>
        </p:txBody>
      </p:sp>
      <p:pic>
        <p:nvPicPr>
          <p:cNvPr id="15" name="Picture 14" descr="A circuit diagram shows current small i of voltage nu flowing from a positive to a negative terminal through a polarized capacitor C.">
            <a:extLst>
              <a:ext uri="{FF2B5EF4-FFF2-40B4-BE49-F238E27FC236}">
                <a16:creationId xmlns:a16="http://schemas.microsoft.com/office/drawing/2014/main" id="{0A0FD139-704C-4FDE-F88C-BD4B9E6CE7F8}"/>
              </a:ext>
            </a:extLst>
          </p:cNvPr>
          <p:cNvPicPr>
            <a:picLocks noChangeAspect="1" noChangeArrowheads="1"/>
          </p:cNvPicPr>
          <p:nvPr/>
        </p:nvPicPr>
        <p:blipFill rotWithShape="1">
          <a:blip r:embed="rId2"/>
          <a:srcRect l="4072" t="5168" r="3946" b="3943"/>
          <a:stretch/>
        </p:blipFill>
        <p:spPr bwMode="auto">
          <a:xfrm>
            <a:off x="769620" y="2689860"/>
            <a:ext cx="1342356" cy="1137584"/>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graphicFrame>
        <p:nvGraphicFramePr>
          <p:cNvPr id="11" name="Object 10" descr="v (t) equals uppercase V subscript m baseline cosine Open Parenthesis omega t plus theta Close Parenthesis.&#10;">
            <a:extLst>
              <a:ext uri="{FF2B5EF4-FFF2-40B4-BE49-F238E27FC236}">
                <a16:creationId xmlns:a16="http://schemas.microsoft.com/office/drawing/2014/main" id="{6C867FEB-8BE1-27C3-4A9F-D84037C4C1A5}"/>
              </a:ext>
            </a:extLst>
          </p:cNvPr>
          <p:cNvGraphicFramePr>
            <a:graphicFrameLocks noChangeAspect="1"/>
          </p:cNvGraphicFramePr>
          <p:nvPr>
            <p:extLst>
              <p:ext uri="{D42A27DB-BD31-4B8C-83A1-F6EECF244321}">
                <p14:modId xmlns:p14="http://schemas.microsoft.com/office/powerpoint/2010/main" val="3023968778"/>
              </p:ext>
            </p:extLst>
          </p:nvPr>
        </p:nvGraphicFramePr>
        <p:xfrm>
          <a:off x="432172" y="4068763"/>
          <a:ext cx="2265363" cy="379412"/>
        </p:xfrm>
        <a:graphic>
          <a:graphicData uri="http://schemas.openxmlformats.org/presentationml/2006/ole">
            <mc:AlternateContent xmlns:mc="http://schemas.openxmlformats.org/markup-compatibility/2006">
              <mc:Choice xmlns:v="urn:schemas-microsoft-com:vml" Requires="v">
                <p:oleObj name="Equation" r:id="rId3" imgW="1358640" imgH="228600" progId="Equation.DSMT4">
                  <p:embed/>
                </p:oleObj>
              </mc:Choice>
              <mc:Fallback>
                <p:oleObj name="Equation" r:id="rId3" imgW="1358640" imgH="228600" progId="Equation.DSMT4">
                  <p:embed/>
                  <p:pic>
                    <p:nvPicPr>
                      <p:cNvPr id="14" name="Object 13">
                        <a:extLst>
                          <a:ext uri="{FF2B5EF4-FFF2-40B4-BE49-F238E27FC236}">
                            <a16:creationId xmlns:a16="http://schemas.microsoft.com/office/drawing/2014/main" id="{6D70B7A4-F1BA-8755-9FFE-A96404ACD08A}"/>
                          </a:ext>
                        </a:extLst>
                      </p:cNvPr>
                      <p:cNvPicPr>
                        <a:picLocks noChangeAspect="1" noChangeArrowheads="1"/>
                      </p:cNvPicPr>
                      <p:nvPr/>
                    </p:nvPicPr>
                    <p:blipFill>
                      <a:blip r:embed="rId4"/>
                      <a:srcRect/>
                      <a:stretch>
                        <a:fillRect/>
                      </a:stretch>
                    </p:blipFill>
                    <p:spPr bwMode="auto">
                      <a:xfrm>
                        <a:off x="432172" y="4068763"/>
                        <a:ext cx="2265363"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3" descr="Therefore i (t) equals C d v (t) divided by d t.&#10;">
            <a:extLst>
              <a:ext uri="{FF2B5EF4-FFF2-40B4-BE49-F238E27FC236}">
                <a16:creationId xmlns:a16="http://schemas.microsoft.com/office/drawing/2014/main" id="{6D70B7A4-F1BA-8755-9FFE-A96404ACD08A}"/>
              </a:ext>
            </a:extLst>
          </p:cNvPr>
          <p:cNvGraphicFramePr>
            <a:graphicFrameLocks noChangeAspect="1"/>
          </p:cNvGraphicFramePr>
          <p:nvPr>
            <p:extLst>
              <p:ext uri="{D42A27DB-BD31-4B8C-83A1-F6EECF244321}">
                <p14:modId xmlns:p14="http://schemas.microsoft.com/office/powerpoint/2010/main" val="594688833"/>
              </p:ext>
            </p:extLst>
          </p:nvPr>
        </p:nvGraphicFramePr>
        <p:xfrm>
          <a:off x="425076" y="4525963"/>
          <a:ext cx="2116138" cy="358775"/>
        </p:xfrm>
        <a:graphic>
          <a:graphicData uri="http://schemas.openxmlformats.org/presentationml/2006/ole">
            <mc:AlternateContent xmlns:mc="http://schemas.openxmlformats.org/markup-compatibility/2006">
              <mc:Choice xmlns:v="urn:schemas-microsoft-com:vml" Requires="v">
                <p:oleObj name="Equation" r:id="rId5" imgW="1269720" imgH="215640" progId="Equation.DSMT4">
                  <p:embed/>
                </p:oleObj>
              </mc:Choice>
              <mc:Fallback>
                <p:oleObj name="Equation" r:id="rId5" imgW="1269720" imgH="215640" progId="Equation.DSMT4">
                  <p:embed/>
                  <p:pic>
                    <p:nvPicPr>
                      <p:cNvPr id="10" name="Object 9"/>
                      <p:cNvPicPr>
                        <a:picLocks noChangeAspect="1" noChangeArrowheads="1"/>
                      </p:cNvPicPr>
                      <p:nvPr/>
                    </p:nvPicPr>
                    <p:blipFill>
                      <a:blip r:embed="rId6"/>
                      <a:srcRect/>
                      <a:stretch>
                        <a:fillRect/>
                      </a:stretch>
                    </p:blipFill>
                    <p:spPr bwMode="auto">
                      <a:xfrm>
                        <a:off x="425076" y="4525963"/>
                        <a:ext cx="2116138"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ct 1" descr="Equals negative omega C V subscript m baseline sine Open Parenthesis omega t plus theta Close Parenthesis.&#10;">
            <a:extLst>
              <a:ext uri="{FF2B5EF4-FFF2-40B4-BE49-F238E27FC236}">
                <a16:creationId xmlns:a16="http://schemas.microsoft.com/office/drawing/2014/main" id="{8DEE31E7-7CB9-BFD4-F553-6155AAE0962A}"/>
              </a:ext>
            </a:extLst>
          </p:cNvPr>
          <p:cNvGraphicFramePr>
            <a:graphicFrameLocks noChangeAspect="1"/>
          </p:cNvGraphicFramePr>
          <p:nvPr>
            <p:extLst>
              <p:ext uri="{D42A27DB-BD31-4B8C-83A1-F6EECF244321}">
                <p14:modId xmlns:p14="http://schemas.microsoft.com/office/powerpoint/2010/main" val="3282701425"/>
              </p:ext>
            </p:extLst>
          </p:nvPr>
        </p:nvGraphicFramePr>
        <p:xfrm>
          <a:off x="1159435" y="4947304"/>
          <a:ext cx="2244725" cy="379412"/>
        </p:xfrm>
        <a:graphic>
          <a:graphicData uri="http://schemas.openxmlformats.org/presentationml/2006/ole">
            <mc:AlternateContent xmlns:mc="http://schemas.openxmlformats.org/markup-compatibility/2006">
              <mc:Choice xmlns:v="urn:schemas-microsoft-com:vml" Requires="v">
                <p:oleObj name="Equation" r:id="rId7" imgW="1346040" imgH="228600" progId="Equation.DSMT4">
                  <p:embed/>
                </p:oleObj>
              </mc:Choice>
              <mc:Fallback>
                <p:oleObj name="Equation" r:id="rId7" imgW="1346040" imgH="228600" progId="Equation.DSMT4">
                  <p:embed/>
                  <p:pic>
                    <p:nvPicPr>
                      <p:cNvPr id="14" name="Object 13">
                        <a:extLst>
                          <a:ext uri="{FF2B5EF4-FFF2-40B4-BE49-F238E27FC236}">
                            <a16:creationId xmlns:a16="http://schemas.microsoft.com/office/drawing/2014/main" id="{6D70B7A4-F1BA-8755-9FFE-A96404ACD08A}"/>
                          </a:ext>
                        </a:extLst>
                      </p:cNvPr>
                      <p:cNvPicPr>
                        <a:picLocks noChangeAspect="1" noChangeArrowheads="1"/>
                      </p:cNvPicPr>
                      <p:nvPr/>
                    </p:nvPicPr>
                    <p:blipFill>
                      <a:blip r:embed="rId8"/>
                      <a:srcRect/>
                      <a:stretch>
                        <a:fillRect/>
                      </a:stretch>
                    </p:blipFill>
                    <p:spPr bwMode="auto">
                      <a:xfrm>
                        <a:off x="1159435" y="4947304"/>
                        <a:ext cx="2244725"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descr="equals negative omega C V subscript m baseline cosine Open Parenthesis omega t plus theta minus 90 degrees Close Parenthesis.&#10;">
            <a:extLst>
              <a:ext uri="{FF2B5EF4-FFF2-40B4-BE49-F238E27FC236}">
                <a16:creationId xmlns:a16="http://schemas.microsoft.com/office/drawing/2014/main" id="{241488BD-F905-C5B2-8A70-254E2135D5A4}"/>
              </a:ext>
            </a:extLst>
          </p:cNvPr>
          <p:cNvGraphicFramePr>
            <a:graphicFrameLocks noChangeAspect="1"/>
          </p:cNvGraphicFramePr>
          <p:nvPr>
            <p:extLst>
              <p:ext uri="{D42A27DB-BD31-4B8C-83A1-F6EECF244321}">
                <p14:modId xmlns:p14="http://schemas.microsoft.com/office/powerpoint/2010/main" val="1354952175"/>
              </p:ext>
            </p:extLst>
          </p:nvPr>
        </p:nvGraphicFramePr>
        <p:xfrm>
          <a:off x="1159248" y="5404689"/>
          <a:ext cx="2943225" cy="379412"/>
        </p:xfrm>
        <a:graphic>
          <a:graphicData uri="http://schemas.openxmlformats.org/presentationml/2006/ole">
            <mc:AlternateContent xmlns:mc="http://schemas.openxmlformats.org/markup-compatibility/2006">
              <mc:Choice xmlns:v="urn:schemas-microsoft-com:vml" Requires="v">
                <p:oleObj name="Equation" r:id="rId9" imgW="1765080" imgH="228600" progId="Equation.DSMT4">
                  <p:embed/>
                </p:oleObj>
              </mc:Choice>
              <mc:Fallback>
                <p:oleObj name="Equation" r:id="rId9" imgW="1765080" imgH="228600" progId="Equation.DSMT4">
                  <p:embed/>
                  <p:pic>
                    <p:nvPicPr>
                      <p:cNvPr id="2" name="Object 1">
                        <a:extLst>
                          <a:ext uri="{FF2B5EF4-FFF2-40B4-BE49-F238E27FC236}">
                            <a16:creationId xmlns:a16="http://schemas.microsoft.com/office/drawing/2014/main" id="{8DEE31E7-7CB9-BFD4-F553-6155AAE0962A}"/>
                          </a:ext>
                        </a:extLst>
                      </p:cNvPr>
                      <p:cNvPicPr>
                        <a:picLocks noChangeAspect="1" noChangeArrowheads="1"/>
                      </p:cNvPicPr>
                      <p:nvPr/>
                    </p:nvPicPr>
                    <p:blipFill>
                      <a:blip r:embed="rId10"/>
                      <a:srcRect/>
                      <a:stretch>
                        <a:fillRect/>
                      </a:stretch>
                    </p:blipFill>
                    <p:spPr bwMode="auto">
                      <a:xfrm>
                        <a:off x="1159248" y="5404689"/>
                        <a:ext cx="2943225"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descr="P above a right arrow.&#10;">
            <a:extLst>
              <a:ext uri="{FF2B5EF4-FFF2-40B4-BE49-F238E27FC236}">
                <a16:creationId xmlns:a16="http://schemas.microsoft.com/office/drawing/2014/main" id="{BFCC1772-0B09-AA61-C261-C7FA11AC63B3}"/>
              </a:ext>
            </a:extLst>
          </p:cNvPr>
          <p:cNvGraphicFramePr>
            <a:graphicFrameLocks noChangeAspect="1"/>
          </p:cNvGraphicFramePr>
          <p:nvPr>
            <p:extLst>
              <p:ext uri="{D42A27DB-BD31-4B8C-83A1-F6EECF244321}">
                <p14:modId xmlns:p14="http://schemas.microsoft.com/office/powerpoint/2010/main" val="935680150"/>
              </p:ext>
            </p:extLst>
          </p:nvPr>
        </p:nvGraphicFramePr>
        <p:xfrm>
          <a:off x="4059330" y="2991968"/>
          <a:ext cx="354013" cy="520700"/>
        </p:xfrm>
        <a:graphic>
          <a:graphicData uri="http://schemas.openxmlformats.org/presentationml/2006/ole">
            <mc:AlternateContent xmlns:mc="http://schemas.openxmlformats.org/markup-compatibility/2006">
              <mc:Choice xmlns:v="urn:schemas-microsoft-com:vml" Requires="v">
                <p:oleObj name="Equation" r:id="rId11" imgW="190440" imgH="279360" progId="Equation.DSMT4">
                  <p:embed/>
                </p:oleObj>
              </mc:Choice>
              <mc:Fallback>
                <p:oleObj name="Equation" r:id="rId11" imgW="190440" imgH="279360" progId="Equation.DSMT4">
                  <p:embed/>
                  <p:pic>
                    <p:nvPicPr>
                      <p:cNvPr id="4" name="Object 3">
                        <a:extLst>
                          <a:ext uri="{FF2B5EF4-FFF2-40B4-BE49-F238E27FC236}">
                            <a16:creationId xmlns:a16="http://schemas.microsoft.com/office/drawing/2014/main" id="{BFCC1772-0B09-AA61-C261-C7FA11AC63B3}"/>
                          </a:ext>
                        </a:extLst>
                      </p:cNvPr>
                      <p:cNvPicPr>
                        <a:picLocks noChangeAspect="1" noChangeArrowheads="1"/>
                      </p:cNvPicPr>
                      <p:nvPr/>
                    </p:nvPicPr>
                    <p:blipFill>
                      <a:blip r:embed="rId12"/>
                      <a:srcRect/>
                      <a:stretch>
                        <a:fillRect/>
                      </a:stretch>
                    </p:blipFill>
                    <p:spPr bwMode="auto">
                      <a:xfrm>
                        <a:off x="4059330" y="2991968"/>
                        <a:ext cx="3540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572000" y="1590532"/>
            <a:ext cx="4025153" cy="405683"/>
          </a:xfrm>
        </p:spPr>
        <p:txBody>
          <a:bodyPr wrap="square" lIns="0" tIns="18000" rIns="0" bIns="18000" anchor="ctr">
            <a:spAutoFit/>
          </a:bodyPr>
          <a:lstStyle/>
          <a:p>
            <a:pPr marL="0" indent="0">
              <a:spcBef>
                <a:spcPts val="600"/>
              </a:spcBef>
              <a:buNone/>
            </a:pPr>
            <a:r>
              <a:rPr lang="en-US" altLang="en-US" sz="2400" noProof="0" dirty="0"/>
              <a:t>Phasor (frequency) domain</a:t>
            </a:r>
            <a:endParaRPr lang="en-US" sz="2400" noProof="0" dirty="0"/>
          </a:p>
        </p:txBody>
      </p:sp>
      <p:pic>
        <p:nvPicPr>
          <p:cNvPr id="3" name="Picture 4" descr="A circuit diagram shows current cap I of voltage cap V flowing from a positive to a negative terminal through a polarized capacitor of 1 divided by j omega C.">
            <a:extLst>
              <a:ext uri="{FF2B5EF4-FFF2-40B4-BE49-F238E27FC236}">
                <a16:creationId xmlns:a16="http://schemas.microsoft.com/office/drawing/2014/main" id="{F5E70441-876A-A8B6-FA39-57992E9D642B}"/>
              </a:ext>
            </a:extLst>
          </p:cNvPr>
          <p:cNvPicPr>
            <a:picLocks noChangeAspect="1" noChangeArrowheads="1"/>
          </p:cNvPicPr>
          <p:nvPr/>
        </p:nvPicPr>
        <p:blipFill rotWithShape="1">
          <a:blip r:embed="rId13"/>
          <a:srcRect l="7533" t="5378" r="4241" b="6011"/>
          <a:stretch/>
        </p:blipFill>
        <p:spPr bwMode="auto">
          <a:xfrm>
            <a:off x="5611624" y="2241753"/>
            <a:ext cx="1236753" cy="1065327"/>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16" name="Object 15" descr="V equals V subscript m baseline angle theta.&#10;">
            <a:extLst>
              <a:ext uri="{FF2B5EF4-FFF2-40B4-BE49-F238E27FC236}">
                <a16:creationId xmlns:a16="http://schemas.microsoft.com/office/drawing/2014/main" id="{028743E5-99C7-65ED-49A7-CF1503C533E0}"/>
              </a:ext>
            </a:extLst>
          </p:cNvPr>
          <p:cNvGraphicFramePr>
            <a:graphicFrameLocks noChangeAspect="1"/>
          </p:cNvGraphicFramePr>
          <p:nvPr>
            <p:extLst>
              <p:ext uri="{D42A27DB-BD31-4B8C-83A1-F6EECF244321}">
                <p14:modId xmlns:p14="http://schemas.microsoft.com/office/powerpoint/2010/main" val="1482874046"/>
              </p:ext>
            </p:extLst>
          </p:nvPr>
        </p:nvGraphicFramePr>
        <p:xfrm>
          <a:off x="4834324" y="3603195"/>
          <a:ext cx="1059295" cy="346364"/>
        </p:xfrm>
        <a:graphic>
          <a:graphicData uri="http://schemas.openxmlformats.org/presentationml/2006/ole">
            <mc:AlternateContent xmlns:mc="http://schemas.openxmlformats.org/markup-compatibility/2006">
              <mc:Choice xmlns:v="urn:schemas-microsoft-com:vml" Requires="v">
                <p:oleObj name="Equation" r:id="rId14" imgW="698400" imgH="228600" progId="Equation.DSMT4">
                  <p:embed/>
                </p:oleObj>
              </mc:Choice>
              <mc:Fallback>
                <p:oleObj name="Equation" r:id="rId14" imgW="698400" imgH="228600" progId="Equation.DSMT4">
                  <p:embed/>
                  <p:pic>
                    <p:nvPicPr>
                      <p:cNvPr id="11" name="Object 10"/>
                      <p:cNvPicPr>
                        <a:picLocks noChangeAspect="1" noChangeArrowheads="1"/>
                      </p:cNvPicPr>
                      <p:nvPr/>
                    </p:nvPicPr>
                    <p:blipFill>
                      <a:blip r:embed="rId15"/>
                      <a:srcRect/>
                      <a:stretch>
                        <a:fillRect/>
                      </a:stretch>
                    </p:blipFill>
                    <p:spPr bwMode="auto">
                      <a:xfrm>
                        <a:off x="4834324" y="3603195"/>
                        <a:ext cx="1059295" cy="346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1" descr="Therefore, I equals negative omega C V subscript m baseline e to the j Open Parenthesis theta minus 90 degrees Close Parenthesis.&#10;">
            <a:extLst>
              <a:ext uri="{FF2B5EF4-FFF2-40B4-BE49-F238E27FC236}">
                <a16:creationId xmlns:a16="http://schemas.microsoft.com/office/drawing/2014/main" id="{30A69B64-B10C-3988-004A-86669FC13E7A}"/>
              </a:ext>
            </a:extLst>
          </p:cNvPr>
          <p:cNvGraphicFramePr>
            <a:graphicFrameLocks noChangeAspect="1"/>
          </p:cNvGraphicFramePr>
          <p:nvPr>
            <p:extLst>
              <p:ext uri="{D42A27DB-BD31-4B8C-83A1-F6EECF244321}">
                <p14:modId xmlns:p14="http://schemas.microsoft.com/office/powerpoint/2010/main" val="2283281146"/>
              </p:ext>
            </p:extLst>
          </p:nvPr>
        </p:nvGraphicFramePr>
        <p:xfrm>
          <a:off x="4831042" y="4014228"/>
          <a:ext cx="2428875" cy="366712"/>
        </p:xfrm>
        <a:graphic>
          <a:graphicData uri="http://schemas.openxmlformats.org/presentationml/2006/ole">
            <mc:AlternateContent xmlns:mc="http://schemas.openxmlformats.org/markup-compatibility/2006">
              <mc:Choice xmlns:v="urn:schemas-microsoft-com:vml" Requires="v">
                <p:oleObj name="Equation" r:id="rId16" imgW="1600200" imgH="241200" progId="Equation.DSMT4">
                  <p:embed/>
                </p:oleObj>
              </mc:Choice>
              <mc:Fallback>
                <p:oleObj name="Equation" r:id="rId16" imgW="1600200" imgH="241200" progId="Equation.DSMT4">
                  <p:embed/>
                  <p:pic>
                    <p:nvPicPr>
                      <p:cNvPr id="16" name="Object 15">
                        <a:extLst>
                          <a:ext uri="{FF2B5EF4-FFF2-40B4-BE49-F238E27FC236}">
                            <a16:creationId xmlns:a16="http://schemas.microsoft.com/office/drawing/2014/main" id="{028743E5-99C7-65ED-49A7-CF1503C533E0}"/>
                          </a:ext>
                        </a:extLst>
                      </p:cNvPr>
                      <p:cNvPicPr>
                        <a:picLocks noChangeAspect="1" noChangeArrowheads="1"/>
                      </p:cNvPicPr>
                      <p:nvPr/>
                    </p:nvPicPr>
                    <p:blipFill>
                      <a:blip r:embed="rId17"/>
                      <a:srcRect/>
                      <a:stretch>
                        <a:fillRect/>
                      </a:stretch>
                    </p:blipFill>
                    <p:spPr bwMode="auto">
                      <a:xfrm>
                        <a:off x="4831042" y="4014228"/>
                        <a:ext cx="2428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6" descr="Equals negative omega C V subscript m baseline e to the j theta power e to the negative j 90 degrees power.&#10;">
            <a:extLst>
              <a:ext uri="{FF2B5EF4-FFF2-40B4-BE49-F238E27FC236}">
                <a16:creationId xmlns:a16="http://schemas.microsoft.com/office/drawing/2014/main" id="{78E80864-2AB9-A4E8-C0FF-D9A19FD47A32}"/>
              </a:ext>
            </a:extLst>
          </p:cNvPr>
          <p:cNvGraphicFramePr>
            <a:graphicFrameLocks noChangeAspect="1"/>
          </p:cNvGraphicFramePr>
          <p:nvPr>
            <p:extLst>
              <p:ext uri="{D42A27DB-BD31-4B8C-83A1-F6EECF244321}">
                <p14:modId xmlns:p14="http://schemas.microsoft.com/office/powerpoint/2010/main" val="2493734922"/>
              </p:ext>
            </p:extLst>
          </p:nvPr>
        </p:nvGraphicFramePr>
        <p:xfrm>
          <a:off x="5617696" y="4453030"/>
          <a:ext cx="1733550" cy="366713"/>
        </p:xfrm>
        <a:graphic>
          <a:graphicData uri="http://schemas.openxmlformats.org/presentationml/2006/ole">
            <mc:AlternateContent xmlns:mc="http://schemas.openxmlformats.org/markup-compatibility/2006">
              <mc:Choice xmlns:v="urn:schemas-microsoft-com:vml" Requires="v">
                <p:oleObj name="Equation" r:id="rId18" imgW="1143000" imgH="241200" progId="Equation.DSMT4">
                  <p:embed/>
                </p:oleObj>
              </mc:Choice>
              <mc:Fallback>
                <p:oleObj name="Equation" r:id="rId18" imgW="1143000" imgH="241200" progId="Equation.DSMT4">
                  <p:embed/>
                  <p:pic>
                    <p:nvPicPr>
                      <p:cNvPr id="12" name="Object 11">
                        <a:extLst>
                          <a:ext uri="{FF2B5EF4-FFF2-40B4-BE49-F238E27FC236}">
                            <a16:creationId xmlns:a16="http://schemas.microsoft.com/office/drawing/2014/main" id="{30A69B64-B10C-3988-004A-86669FC13E7A}"/>
                          </a:ext>
                        </a:extLst>
                      </p:cNvPr>
                      <p:cNvPicPr>
                        <a:picLocks noChangeAspect="1" noChangeArrowheads="1"/>
                      </p:cNvPicPr>
                      <p:nvPr/>
                    </p:nvPicPr>
                    <p:blipFill>
                      <a:blip r:embed="rId19"/>
                      <a:srcRect/>
                      <a:stretch>
                        <a:fillRect/>
                      </a:stretch>
                    </p:blipFill>
                    <p:spPr bwMode="auto">
                      <a:xfrm>
                        <a:off x="5617696" y="4453030"/>
                        <a:ext cx="173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7" descr="Equals negative omega C V subscript m baseline e to the j theta power (negative j).&#10;">
            <a:extLst>
              <a:ext uri="{FF2B5EF4-FFF2-40B4-BE49-F238E27FC236}">
                <a16:creationId xmlns:a16="http://schemas.microsoft.com/office/drawing/2014/main" id="{A4DFA8A7-465B-8185-FAC5-B4C15F37851F}"/>
              </a:ext>
            </a:extLst>
          </p:cNvPr>
          <p:cNvGraphicFramePr>
            <a:graphicFrameLocks noChangeAspect="1"/>
          </p:cNvGraphicFramePr>
          <p:nvPr>
            <p:extLst>
              <p:ext uri="{D42A27DB-BD31-4B8C-83A1-F6EECF244321}">
                <p14:modId xmlns:p14="http://schemas.microsoft.com/office/powerpoint/2010/main" val="1460220108"/>
              </p:ext>
            </p:extLst>
          </p:nvPr>
        </p:nvGraphicFramePr>
        <p:xfrm>
          <a:off x="5611625" y="4901454"/>
          <a:ext cx="1655762" cy="366713"/>
        </p:xfrm>
        <a:graphic>
          <a:graphicData uri="http://schemas.openxmlformats.org/presentationml/2006/ole">
            <mc:AlternateContent xmlns:mc="http://schemas.openxmlformats.org/markup-compatibility/2006">
              <mc:Choice xmlns:v="urn:schemas-microsoft-com:vml" Requires="v">
                <p:oleObj name="Equation" r:id="rId20" imgW="1091880" imgH="241200" progId="Equation.DSMT4">
                  <p:embed/>
                </p:oleObj>
              </mc:Choice>
              <mc:Fallback>
                <p:oleObj name="Equation" r:id="rId20" imgW="1091880" imgH="241200" progId="Equation.DSMT4">
                  <p:embed/>
                  <p:pic>
                    <p:nvPicPr>
                      <p:cNvPr id="17" name="Object 16">
                        <a:extLst>
                          <a:ext uri="{FF2B5EF4-FFF2-40B4-BE49-F238E27FC236}">
                            <a16:creationId xmlns:a16="http://schemas.microsoft.com/office/drawing/2014/main" id="{78E80864-2AB9-A4E8-C0FF-D9A19FD47A32}"/>
                          </a:ext>
                        </a:extLst>
                      </p:cNvPr>
                      <p:cNvPicPr>
                        <a:picLocks noChangeAspect="1" noChangeArrowheads="1"/>
                      </p:cNvPicPr>
                      <p:nvPr/>
                    </p:nvPicPr>
                    <p:blipFill>
                      <a:blip r:embed="rId21"/>
                      <a:srcRect/>
                      <a:stretch>
                        <a:fillRect/>
                      </a:stretch>
                    </p:blipFill>
                    <p:spPr bwMode="auto">
                      <a:xfrm>
                        <a:off x="5611625" y="4901454"/>
                        <a:ext cx="16557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8" descr="Equals j omega C V subscript m baseline e to the j theta power equals j omega C V.&#10;">
            <a:extLst>
              <a:ext uri="{FF2B5EF4-FFF2-40B4-BE49-F238E27FC236}">
                <a16:creationId xmlns:a16="http://schemas.microsoft.com/office/drawing/2014/main" id="{888BECA4-AE41-AD43-43EB-032128EEC845}"/>
              </a:ext>
            </a:extLst>
          </p:cNvPr>
          <p:cNvGraphicFramePr>
            <a:graphicFrameLocks noChangeAspect="1"/>
          </p:cNvGraphicFramePr>
          <p:nvPr>
            <p:extLst>
              <p:ext uri="{D42A27DB-BD31-4B8C-83A1-F6EECF244321}">
                <p14:modId xmlns:p14="http://schemas.microsoft.com/office/powerpoint/2010/main" val="2065360068"/>
              </p:ext>
            </p:extLst>
          </p:nvPr>
        </p:nvGraphicFramePr>
        <p:xfrm>
          <a:off x="5623860" y="5385828"/>
          <a:ext cx="2079625" cy="366712"/>
        </p:xfrm>
        <a:graphic>
          <a:graphicData uri="http://schemas.openxmlformats.org/presentationml/2006/ole">
            <mc:AlternateContent xmlns:mc="http://schemas.openxmlformats.org/markup-compatibility/2006">
              <mc:Choice xmlns:v="urn:schemas-microsoft-com:vml" Requires="v">
                <p:oleObj name="Equation" r:id="rId22" imgW="1371600" imgH="241200" progId="Equation.DSMT4">
                  <p:embed/>
                </p:oleObj>
              </mc:Choice>
              <mc:Fallback>
                <p:oleObj name="Equation" r:id="rId22" imgW="1371600" imgH="241200" progId="Equation.DSMT4">
                  <p:embed/>
                  <p:pic>
                    <p:nvPicPr>
                      <p:cNvPr id="18" name="Object 17">
                        <a:extLst>
                          <a:ext uri="{FF2B5EF4-FFF2-40B4-BE49-F238E27FC236}">
                            <a16:creationId xmlns:a16="http://schemas.microsoft.com/office/drawing/2014/main" id="{A4DFA8A7-465B-8185-FAC5-B4C15F37851F}"/>
                          </a:ext>
                        </a:extLst>
                      </p:cNvPr>
                      <p:cNvPicPr>
                        <a:picLocks noChangeAspect="1" noChangeArrowheads="1"/>
                      </p:cNvPicPr>
                      <p:nvPr/>
                    </p:nvPicPr>
                    <p:blipFill>
                      <a:blip r:embed="rId23"/>
                      <a:srcRect/>
                      <a:stretch>
                        <a:fillRect/>
                      </a:stretch>
                    </p:blipFill>
                    <p:spPr bwMode="auto">
                      <a:xfrm>
                        <a:off x="5623860" y="5385828"/>
                        <a:ext cx="20796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93571" y="5856613"/>
            <a:ext cx="6124014" cy="405683"/>
          </a:xfrm>
        </p:spPr>
        <p:txBody>
          <a:bodyPr wrap="square" lIns="0" tIns="18000" rIns="0" bIns="18000" anchor="ctr">
            <a:spAutoFit/>
          </a:bodyPr>
          <a:lstStyle/>
          <a:p>
            <a:pPr marL="0" indent="0">
              <a:spcBef>
                <a:spcPts val="600"/>
              </a:spcBef>
              <a:buNone/>
            </a:pPr>
            <a:r>
              <a:rPr lang="en-US" altLang="en-US" sz="2400" noProof="0" dirty="0"/>
              <a:t>In a capacitor, the voltage lags the current by</a:t>
            </a:r>
          </a:p>
        </p:txBody>
      </p:sp>
      <p:graphicFrame>
        <p:nvGraphicFramePr>
          <p:cNvPr id="13" name="Object 12" descr="90 degrees.&#10;">
            <a:extLst>
              <a:ext uri="{FF2B5EF4-FFF2-40B4-BE49-F238E27FC236}">
                <a16:creationId xmlns:a16="http://schemas.microsoft.com/office/drawing/2014/main" id="{C6E21F8D-E515-3FEF-6B9B-6610C6E7AF29}"/>
              </a:ext>
            </a:extLst>
          </p:cNvPr>
          <p:cNvGraphicFramePr>
            <a:graphicFrameLocks noChangeAspect="1"/>
          </p:cNvGraphicFramePr>
          <p:nvPr>
            <p:extLst>
              <p:ext uri="{D42A27DB-BD31-4B8C-83A1-F6EECF244321}">
                <p14:modId xmlns:p14="http://schemas.microsoft.com/office/powerpoint/2010/main" val="417058913"/>
              </p:ext>
            </p:extLst>
          </p:nvPr>
        </p:nvGraphicFramePr>
        <p:xfrm>
          <a:off x="6721239" y="5918945"/>
          <a:ext cx="520700" cy="331788"/>
        </p:xfrm>
        <a:graphic>
          <a:graphicData uri="http://schemas.openxmlformats.org/presentationml/2006/ole">
            <mc:AlternateContent xmlns:mc="http://schemas.openxmlformats.org/markup-compatibility/2006">
              <mc:Choice xmlns:v="urn:schemas-microsoft-com:vml" Requires="v">
                <p:oleObj name="Equation" r:id="rId24" imgW="279360" imgH="177480" progId="Equation.DSMT4">
                  <p:embed/>
                </p:oleObj>
              </mc:Choice>
              <mc:Fallback>
                <p:oleObj name="Equation" r:id="rId24" imgW="279360" imgH="177480" progId="Equation.DSMT4">
                  <p:embed/>
                  <p:pic>
                    <p:nvPicPr>
                      <p:cNvPr id="13" name="Object 12">
                        <a:extLst>
                          <a:ext uri="{FF2B5EF4-FFF2-40B4-BE49-F238E27FC236}">
                            <a16:creationId xmlns:a16="http://schemas.microsoft.com/office/drawing/2014/main" id="{C6E21F8D-E515-3FEF-6B9B-6610C6E7AF29}"/>
                          </a:ext>
                        </a:extLst>
                      </p:cNvPr>
                      <p:cNvPicPr>
                        <a:picLocks noChangeAspect="1" noChangeArrowheads="1"/>
                      </p:cNvPicPr>
                      <p:nvPr/>
                    </p:nvPicPr>
                    <p:blipFill>
                      <a:blip r:embed="rId25"/>
                      <a:srcRect/>
                      <a:stretch>
                        <a:fillRect/>
                      </a:stretch>
                    </p:blipFill>
                    <p:spPr bwMode="auto">
                      <a:xfrm>
                        <a:off x="6721239" y="5918945"/>
                        <a:ext cx="520700"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Rectangle 19">
            <a:extLst>
              <a:ext uri="{FF2B5EF4-FFF2-40B4-BE49-F238E27FC236}">
                <a16:creationId xmlns:a16="http://schemas.microsoft.com/office/drawing/2014/main" id="{38D82A69-0640-B1D3-5F8A-1833D6A9256C}"/>
              </a:ext>
              <a:ext uri="{C183D7F6-B498-43B3-948B-1728B52AA6E4}">
                <adec:decorative xmlns:adec="http://schemas.microsoft.com/office/drawing/2017/decorative" val="1"/>
              </a:ext>
            </a:extLst>
          </p:cNvPr>
          <p:cNvSpPr/>
          <p:nvPr/>
        </p:nvSpPr>
        <p:spPr>
          <a:xfrm>
            <a:off x="438151" y="5893639"/>
            <a:ext cx="6821766" cy="368916"/>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5859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(19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83808"/>
            <a:ext cx="7648015" cy="405683"/>
          </a:xfrm>
        </p:spPr>
        <p:txBody>
          <a:bodyPr wrap="square" lIns="0" tIns="18000" rIns="0" bIns="18000" anchor="ctr">
            <a:spAutoFit/>
          </a:bodyPr>
          <a:lstStyle/>
          <a:p>
            <a:pPr marL="0" indent="0">
              <a:spcBef>
                <a:spcPts val="600"/>
              </a:spcBef>
              <a:buNone/>
            </a:pPr>
            <a:r>
              <a:rPr lang="en-US" altLang="en-US" sz="2400" noProof="0" dirty="0"/>
              <a:t>The impedance of a resistor is</a:t>
            </a:r>
            <a:endParaRPr lang="en-US" sz="2400" noProof="0" dirty="0"/>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155328" y="2281943"/>
            <a:ext cx="370354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t>Always a real number</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155328" y="2872493"/>
            <a:ext cx="5111001"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r>
              <a:rPr lang="en-US" altLang="en-US" sz="2400" noProof="0" dirty="0"/>
              <a:t>Always an imaginary number</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155328" y="3463043"/>
            <a:ext cx="7172884"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r>
              <a:rPr lang="en-US" altLang="en-US" sz="2400" noProof="0" dirty="0"/>
              <a:t>A complex number with real and imaginary parts</a:t>
            </a:r>
          </a:p>
        </p:txBody>
      </p:sp>
    </p:spTree>
    <p:extLst>
      <p:ext uri="{BB962C8B-B14F-4D97-AF65-F5344CB8AC3E}">
        <p14:creationId xmlns:p14="http://schemas.microsoft.com/office/powerpoint/2010/main" val="3735698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4CFA6-F1D5-16D2-AF5F-3189293EAB3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41B90A8-D982-3116-68DA-11081C20B6B2}"/>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(19 of 24)</a:t>
            </a:r>
            <a:endParaRPr lang="en-US" sz="2800" noProof="0" dirty="0"/>
          </a:p>
        </p:txBody>
      </p:sp>
      <p:sp>
        <p:nvSpPr>
          <p:cNvPr id="7" name="Content Placeholder 6">
            <a:extLst>
              <a:ext uri="{FF2B5EF4-FFF2-40B4-BE49-F238E27FC236}">
                <a16:creationId xmlns:a16="http://schemas.microsoft.com/office/drawing/2014/main" id="{1FEE0484-0D40-C441-9051-D5937190C89A}"/>
              </a:ext>
            </a:extLst>
          </p:cNvPr>
          <p:cNvSpPr>
            <a:spLocks noGrp="1"/>
          </p:cNvSpPr>
          <p:nvPr>
            <p:ph sz="quarter" idx="12"/>
          </p:nvPr>
        </p:nvSpPr>
        <p:spPr>
          <a:xfrm>
            <a:off x="438150" y="1583808"/>
            <a:ext cx="7648015" cy="405683"/>
          </a:xfrm>
        </p:spPr>
        <p:txBody>
          <a:bodyPr wrap="square" lIns="0" tIns="18000" rIns="0" bIns="18000" anchor="ctr">
            <a:spAutoFit/>
          </a:bodyPr>
          <a:lstStyle/>
          <a:p>
            <a:pPr marL="0" indent="0">
              <a:spcBef>
                <a:spcPts val="600"/>
              </a:spcBef>
              <a:buNone/>
            </a:pPr>
            <a:r>
              <a:rPr lang="en-US" altLang="en-US" sz="2400" noProof="0" dirty="0"/>
              <a:t>The impedance of a resistor is</a:t>
            </a:r>
            <a:endParaRPr lang="en-US" sz="2400" noProof="0" dirty="0"/>
          </a:p>
        </p:txBody>
      </p:sp>
      <p:pic>
        <p:nvPicPr>
          <p:cNvPr id="19" name="Picture 1435" descr="Check mark">
            <a:extLst>
              <a:ext uri="{FF2B5EF4-FFF2-40B4-BE49-F238E27FC236}">
                <a16:creationId xmlns:a16="http://schemas.microsoft.com/office/drawing/2014/main" id="{0DF305FA-5280-6882-8EF4-53B1C2651314}"/>
              </a:ext>
            </a:extLst>
          </p:cNvPr>
          <p:cNvPicPr>
            <a:picLocks/>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497542" y="2299445"/>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A8218E13-F7D3-503A-408A-6DE2EDE4846E}"/>
              </a:ext>
            </a:extLst>
          </p:cNvPr>
          <p:cNvSpPr>
            <a:spLocks noGrp="1"/>
          </p:cNvSpPr>
          <p:nvPr>
            <p:ph sz="quarter" idx="13"/>
          </p:nvPr>
        </p:nvSpPr>
        <p:spPr>
          <a:xfrm>
            <a:off x="1155328" y="2281943"/>
            <a:ext cx="370354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t>Always a real number</a:t>
            </a:r>
          </a:p>
        </p:txBody>
      </p:sp>
      <p:pic>
        <p:nvPicPr>
          <p:cNvPr id="20" name="Picture 1434" descr="Cross mark">
            <a:extLst>
              <a:ext uri="{FF2B5EF4-FFF2-40B4-BE49-F238E27FC236}">
                <a16:creationId xmlns:a16="http://schemas.microsoft.com/office/drawing/2014/main" id="{317E5845-D215-FFCD-7AB4-DD67EEF6FEC1}"/>
              </a:ext>
            </a:extLst>
          </p:cNvPr>
          <p:cNvPicPr>
            <a:picLocks/>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514475" y="2873750"/>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84257A99-CF42-B79B-EB2A-2EB478184B11}"/>
              </a:ext>
            </a:extLst>
          </p:cNvPr>
          <p:cNvSpPr>
            <a:spLocks noGrp="1"/>
          </p:cNvSpPr>
          <p:nvPr>
            <p:ph sz="quarter" idx="14"/>
          </p:nvPr>
        </p:nvSpPr>
        <p:spPr>
          <a:xfrm>
            <a:off x="1155328" y="2872493"/>
            <a:ext cx="5111001"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r>
              <a:rPr lang="en-US" altLang="en-US" sz="2400" noProof="0" dirty="0"/>
              <a:t>Always an imaginary number</a:t>
            </a:r>
          </a:p>
        </p:txBody>
      </p:sp>
      <p:pic>
        <p:nvPicPr>
          <p:cNvPr id="21" name="Picture 1436" descr="Cross mark">
            <a:extLst>
              <a:ext uri="{FF2B5EF4-FFF2-40B4-BE49-F238E27FC236}">
                <a16:creationId xmlns:a16="http://schemas.microsoft.com/office/drawing/2014/main" id="{AF44A961-89F5-2466-E667-FEC4A89F56FE}"/>
              </a:ext>
            </a:extLst>
          </p:cNvPr>
          <p:cNvPicPr>
            <a:picLocks/>
          </p:cNvPicPr>
          <p:nvPr>
            <p:custDataLst>
              <p:tags r:id="rId3"/>
            </p:custDataLst>
          </p:nvPr>
        </p:nvPicPr>
        <p:blipFill>
          <a:blip r:embed="rId6">
            <a:extLst>
              <a:ext uri="{28A0092B-C50C-407E-A947-70E740481C1C}">
                <a14:useLocalDpi xmlns:a14="http://schemas.microsoft.com/office/drawing/2010/main" val="0"/>
              </a:ext>
            </a:extLst>
          </a:blip>
          <a:srcRect/>
          <a:stretch>
            <a:fillRect/>
          </a:stretch>
        </p:blipFill>
        <p:spPr bwMode="auto">
          <a:xfrm>
            <a:off x="497542" y="347544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6D0F3C8C-B56C-1020-D029-E0A332411B2B}"/>
              </a:ext>
            </a:extLst>
          </p:cNvPr>
          <p:cNvSpPr>
            <a:spLocks noGrp="1"/>
          </p:cNvSpPr>
          <p:nvPr>
            <p:ph sz="quarter" idx="15"/>
          </p:nvPr>
        </p:nvSpPr>
        <p:spPr>
          <a:xfrm>
            <a:off x="1155328" y="3463043"/>
            <a:ext cx="7172884"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r>
              <a:rPr lang="en-US" altLang="en-US" sz="2400" noProof="0" dirty="0"/>
              <a:t>A complex number with real and imaginary parts</a:t>
            </a:r>
          </a:p>
        </p:txBody>
      </p:sp>
    </p:spTree>
    <p:extLst>
      <p:ext uri="{BB962C8B-B14F-4D97-AF65-F5344CB8AC3E}">
        <p14:creationId xmlns:p14="http://schemas.microsoft.com/office/powerpoint/2010/main" val="2315300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(20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83808"/>
            <a:ext cx="7648015" cy="405683"/>
          </a:xfrm>
        </p:spPr>
        <p:txBody>
          <a:bodyPr wrap="square" lIns="0" tIns="18000" rIns="0" bIns="18000" anchor="ctr">
            <a:spAutoFit/>
          </a:bodyPr>
          <a:lstStyle/>
          <a:p>
            <a:pPr marL="0" indent="0">
              <a:buNone/>
            </a:pPr>
            <a:r>
              <a:rPr lang="en-US" altLang="en-US" sz="2400" noProof="0" dirty="0"/>
              <a:t>The impedance of an inductor is</a:t>
            </a:r>
            <a:endParaRPr lang="en-US" sz="2400" noProof="0" dirty="0"/>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155328" y="2281943"/>
            <a:ext cx="370354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t>A real number</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155328" y="2872493"/>
            <a:ext cx="5111001"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r>
              <a:rPr lang="en-US" altLang="en-US" sz="2400" noProof="0" dirty="0"/>
              <a:t>A positive imaginary number</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155328" y="3463043"/>
            <a:ext cx="7172884"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r>
              <a:rPr lang="en-US" altLang="en-US" sz="2400" noProof="0" dirty="0"/>
              <a:t>A negative imaginary number</a:t>
            </a:r>
          </a:p>
        </p:txBody>
      </p:sp>
    </p:spTree>
    <p:extLst>
      <p:ext uri="{BB962C8B-B14F-4D97-AF65-F5344CB8AC3E}">
        <p14:creationId xmlns:p14="http://schemas.microsoft.com/office/powerpoint/2010/main" val="1182794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55332-569A-081C-267F-B875657D341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8D2BC7A-0050-4313-9531-412F287FBE09}"/>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(20 of 24)</a:t>
            </a:r>
            <a:endParaRPr lang="en-US" sz="2800" noProof="0" dirty="0"/>
          </a:p>
        </p:txBody>
      </p:sp>
      <p:sp>
        <p:nvSpPr>
          <p:cNvPr id="7" name="Content Placeholder 6">
            <a:extLst>
              <a:ext uri="{FF2B5EF4-FFF2-40B4-BE49-F238E27FC236}">
                <a16:creationId xmlns:a16="http://schemas.microsoft.com/office/drawing/2014/main" id="{8C458913-B1DE-564E-7603-2213E1BC10BB}"/>
              </a:ext>
            </a:extLst>
          </p:cNvPr>
          <p:cNvSpPr>
            <a:spLocks noGrp="1"/>
          </p:cNvSpPr>
          <p:nvPr>
            <p:ph sz="quarter" idx="12"/>
          </p:nvPr>
        </p:nvSpPr>
        <p:spPr>
          <a:xfrm>
            <a:off x="438150" y="1583808"/>
            <a:ext cx="7648015" cy="405683"/>
          </a:xfrm>
        </p:spPr>
        <p:txBody>
          <a:bodyPr wrap="square" lIns="0" tIns="18000" rIns="0" bIns="18000" anchor="ctr">
            <a:spAutoFit/>
          </a:bodyPr>
          <a:lstStyle/>
          <a:p>
            <a:pPr marL="0" indent="0">
              <a:buNone/>
            </a:pPr>
            <a:r>
              <a:rPr lang="en-US" altLang="en-US" sz="2400" noProof="0" dirty="0"/>
              <a:t>The impedance of an inductor is</a:t>
            </a:r>
            <a:endParaRPr lang="en-US" sz="2400" noProof="0" dirty="0"/>
          </a:p>
        </p:txBody>
      </p:sp>
      <p:pic>
        <p:nvPicPr>
          <p:cNvPr id="20" name="Picture 1434" descr="Cross mark">
            <a:extLst>
              <a:ext uri="{FF2B5EF4-FFF2-40B4-BE49-F238E27FC236}">
                <a16:creationId xmlns:a16="http://schemas.microsoft.com/office/drawing/2014/main" id="{ECD578AF-23B2-4C4C-FF23-0DBE1FE53A59}"/>
              </a:ext>
            </a:extLst>
          </p:cNvPr>
          <p:cNvPicPr>
            <a:picLocks/>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514475" y="231793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72FF4C3D-5E5C-0ED3-76F8-5DFB5EE5C80A}"/>
              </a:ext>
            </a:extLst>
          </p:cNvPr>
          <p:cNvSpPr>
            <a:spLocks noGrp="1"/>
          </p:cNvSpPr>
          <p:nvPr>
            <p:ph sz="quarter" idx="13"/>
          </p:nvPr>
        </p:nvSpPr>
        <p:spPr>
          <a:xfrm>
            <a:off x="1155328" y="2281943"/>
            <a:ext cx="370354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t>A real number</a:t>
            </a:r>
          </a:p>
        </p:txBody>
      </p:sp>
      <p:pic>
        <p:nvPicPr>
          <p:cNvPr id="19" name="Picture 1435" descr="Check mark">
            <a:extLst>
              <a:ext uri="{FF2B5EF4-FFF2-40B4-BE49-F238E27FC236}">
                <a16:creationId xmlns:a16="http://schemas.microsoft.com/office/drawing/2014/main" id="{34B7AFFE-F5E6-DCE6-E243-73E06250FAB8}"/>
              </a:ext>
            </a:extLst>
          </p:cNvPr>
          <p:cNvPicPr>
            <a:picLocks/>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497542" y="288214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E31456F0-DF44-6BD3-74D9-CC406125F335}"/>
              </a:ext>
            </a:extLst>
          </p:cNvPr>
          <p:cNvSpPr>
            <a:spLocks noGrp="1"/>
          </p:cNvSpPr>
          <p:nvPr>
            <p:ph sz="quarter" idx="14"/>
          </p:nvPr>
        </p:nvSpPr>
        <p:spPr>
          <a:xfrm>
            <a:off x="1155328" y="2872493"/>
            <a:ext cx="5111001"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r>
              <a:rPr lang="en-US" altLang="en-US" sz="2400" noProof="0" dirty="0"/>
              <a:t>A positive imaginary number</a:t>
            </a:r>
          </a:p>
        </p:txBody>
      </p:sp>
      <p:pic>
        <p:nvPicPr>
          <p:cNvPr id="21" name="Picture 1436" descr="Cross mark">
            <a:extLst>
              <a:ext uri="{FF2B5EF4-FFF2-40B4-BE49-F238E27FC236}">
                <a16:creationId xmlns:a16="http://schemas.microsoft.com/office/drawing/2014/main" id="{9F518282-E2FA-32FA-AA45-13C2FD965042}"/>
              </a:ext>
            </a:extLst>
          </p:cNvPr>
          <p:cNvPicPr>
            <a:picLocks/>
          </p:cNvPicPr>
          <p:nvPr>
            <p:custDataLst>
              <p:tags r:id="rId3"/>
            </p:custDataLst>
          </p:nvPr>
        </p:nvPicPr>
        <p:blipFill>
          <a:blip r:embed="rId5">
            <a:extLst>
              <a:ext uri="{28A0092B-C50C-407E-A947-70E740481C1C}">
                <a14:useLocalDpi xmlns:a14="http://schemas.microsoft.com/office/drawing/2010/main" val="0"/>
              </a:ext>
            </a:extLst>
          </a:blip>
          <a:srcRect/>
          <a:stretch>
            <a:fillRect/>
          </a:stretch>
        </p:blipFill>
        <p:spPr bwMode="auto">
          <a:xfrm>
            <a:off x="497542" y="347544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BEE5352D-2C10-2EC3-5FCC-F98948B61EC1}"/>
              </a:ext>
            </a:extLst>
          </p:cNvPr>
          <p:cNvSpPr>
            <a:spLocks noGrp="1"/>
          </p:cNvSpPr>
          <p:nvPr>
            <p:ph sz="quarter" idx="15"/>
          </p:nvPr>
        </p:nvSpPr>
        <p:spPr>
          <a:xfrm>
            <a:off x="1155328" y="3463043"/>
            <a:ext cx="7172884"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r>
              <a:rPr lang="en-US" altLang="en-US" sz="2400" noProof="0" dirty="0"/>
              <a:t>A negative imaginary number</a:t>
            </a:r>
          </a:p>
        </p:txBody>
      </p:sp>
    </p:spTree>
    <p:extLst>
      <p:ext uri="{BB962C8B-B14F-4D97-AF65-F5344CB8AC3E}">
        <p14:creationId xmlns:p14="http://schemas.microsoft.com/office/powerpoint/2010/main" val="15508570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(21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83808"/>
            <a:ext cx="7648015" cy="405683"/>
          </a:xfrm>
        </p:spPr>
        <p:txBody>
          <a:bodyPr wrap="square" lIns="0" tIns="18000" rIns="0" bIns="18000" anchor="ctr">
            <a:spAutoFit/>
          </a:bodyPr>
          <a:lstStyle/>
          <a:p>
            <a:pPr marL="0" indent="0">
              <a:buNone/>
            </a:pPr>
            <a:r>
              <a:rPr lang="en-US" altLang="en-US" sz="2400" noProof="0" dirty="0"/>
              <a:t>The impedance of a capacitor has the units</a:t>
            </a:r>
            <a:endParaRPr lang="en-US" sz="2400" noProof="0" dirty="0"/>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155328" y="2281943"/>
            <a:ext cx="370354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t>Farads [F]</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155328" y="2872493"/>
            <a:ext cx="5111001"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r>
              <a:rPr lang="en-US" altLang="en-US" sz="2400" noProof="0" dirty="0" err="1"/>
              <a:t>Henries</a:t>
            </a:r>
            <a:r>
              <a:rPr lang="en-US" altLang="en-US" sz="2400" noProof="0" dirty="0"/>
              <a:t> [H]</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146363" y="3463043"/>
            <a:ext cx="1247213"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r>
              <a:rPr lang="en-US" altLang="en-US" sz="2400" noProof="0" dirty="0"/>
              <a:t>Ohms</a:t>
            </a:r>
          </a:p>
        </p:txBody>
      </p:sp>
      <p:graphicFrame>
        <p:nvGraphicFramePr>
          <p:cNvPr id="2" name="Object 1" descr="open square bracket Ohm close square bracket.&#10;">
            <a:extLst>
              <a:ext uri="{FF2B5EF4-FFF2-40B4-BE49-F238E27FC236}">
                <a16:creationId xmlns:a16="http://schemas.microsoft.com/office/drawing/2014/main" id="{41997250-1FDB-2E2E-4E4E-6918140A10CE}"/>
              </a:ext>
            </a:extLst>
          </p:cNvPr>
          <p:cNvGraphicFramePr>
            <a:graphicFrameLocks noChangeAspect="1"/>
          </p:cNvGraphicFramePr>
          <p:nvPr>
            <p:extLst>
              <p:ext uri="{D42A27DB-BD31-4B8C-83A1-F6EECF244321}">
                <p14:modId xmlns:p14="http://schemas.microsoft.com/office/powerpoint/2010/main" val="632982091"/>
              </p:ext>
            </p:extLst>
          </p:nvPr>
        </p:nvGraphicFramePr>
        <p:xfrm>
          <a:off x="2474913" y="3481388"/>
          <a:ext cx="495300" cy="473075"/>
        </p:xfrm>
        <a:graphic>
          <a:graphicData uri="http://schemas.openxmlformats.org/presentationml/2006/ole">
            <mc:AlternateContent xmlns:mc="http://schemas.openxmlformats.org/markup-compatibility/2006">
              <mc:Choice xmlns:v="urn:schemas-microsoft-com:vml" Requires="v">
                <p:oleObj name="Equation" r:id="rId2" imgW="266400" imgH="253800" progId="Equation.DSMT4">
                  <p:embed/>
                </p:oleObj>
              </mc:Choice>
              <mc:Fallback>
                <p:oleObj name="Equation" r:id="rId2" imgW="266400" imgH="253800" progId="Equation.DSMT4">
                  <p:embed/>
                  <p:pic>
                    <p:nvPicPr>
                      <p:cNvPr id="4" name="Object 3">
                        <a:extLst>
                          <a:ext uri="{FF2B5EF4-FFF2-40B4-BE49-F238E27FC236}">
                            <a16:creationId xmlns:a16="http://schemas.microsoft.com/office/drawing/2014/main" id="{BFCC1772-0B09-AA61-C261-C7FA11AC63B3}"/>
                          </a:ext>
                        </a:extLst>
                      </p:cNvPr>
                      <p:cNvPicPr>
                        <a:picLocks noChangeAspect="1" noChangeArrowheads="1"/>
                      </p:cNvPicPr>
                      <p:nvPr/>
                    </p:nvPicPr>
                    <p:blipFill>
                      <a:blip r:embed="rId3"/>
                      <a:srcRect/>
                      <a:stretch>
                        <a:fillRect/>
                      </a:stretch>
                    </p:blipFill>
                    <p:spPr bwMode="auto">
                      <a:xfrm>
                        <a:off x="2474913" y="3481388"/>
                        <a:ext cx="4953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847579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F1CF3-8016-7B0B-D8CE-99677E5912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C46B7A4-8F43-7D54-E05E-5A1F3268083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(21 of 24)</a:t>
            </a:r>
            <a:endParaRPr lang="en-US" sz="2800" noProof="0" dirty="0"/>
          </a:p>
        </p:txBody>
      </p:sp>
      <p:sp>
        <p:nvSpPr>
          <p:cNvPr id="7" name="Content Placeholder 6">
            <a:extLst>
              <a:ext uri="{FF2B5EF4-FFF2-40B4-BE49-F238E27FC236}">
                <a16:creationId xmlns:a16="http://schemas.microsoft.com/office/drawing/2014/main" id="{C5DFEA41-8DE7-759C-6034-A5CE9A5A886E}"/>
              </a:ext>
            </a:extLst>
          </p:cNvPr>
          <p:cNvSpPr>
            <a:spLocks noGrp="1"/>
          </p:cNvSpPr>
          <p:nvPr>
            <p:ph sz="quarter" idx="12"/>
          </p:nvPr>
        </p:nvSpPr>
        <p:spPr>
          <a:xfrm>
            <a:off x="438150" y="1583808"/>
            <a:ext cx="7648015" cy="405683"/>
          </a:xfrm>
        </p:spPr>
        <p:txBody>
          <a:bodyPr wrap="square" lIns="0" tIns="18000" rIns="0" bIns="18000" anchor="ctr">
            <a:spAutoFit/>
          </a:bodyPr>
          <a:lstStyle/>
          <a:p>
            <a:pPr marL="0" indent="0">
              <a:buNone/>
            </a:pPr>
            <a:r>
              <a:rPr lang="en-US" altLang="en-US" sz="2400" noProof="0" dirty="0"/>
              <a:t>The impedance of a capacitor has the units</a:t>
            </a:r>
            <a:endParaRPr lang="en-US" sz="2400" noProof="0" dirty="0"/>
          </a:p>
        </p:txBody>
      </p:sp>
      <p:pic>
        <p:nvPicPr>
          <p:cNvPr id="20" name="Picture 1434" descr="Cross mark">
            <a:extLst>
              <a:ext uri="{FF2B5EF4-FFF2-40B4-BE49-F238E27FC236}">
                <a16:creationId xmlns:a16="http://schemas.microsoft.com/office/drawing/2014/main" id="{355B14D1-C4FE-6AE0-DFCD-8319EE289567}"/>
              </a:ext>
            </a:extLst>
          </p:cNvPr>
          <p:cNvPicPr>
            <a:picLocks/>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514475" y="231793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607C881C-CE3E-C8C4-A979-857014BCC863}"/>
              </a:ext>
            </a:extLst>
          </p:cNvPr>
          <p:cNvSpPr>
            <a:spLocks noGrp="1"/>
          </p:cNvSpPr>
          <p:nvPr>
            <p:ph sz="quarter" idx="13"/>
          </p:nvPr>
        </p:nvSpPr>
        <p:spPr>
          <a:xfrm>
            <a:off x="1155328" y="2281943"/>
            <a:ext cx="370354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t>Farads [F]</a:t>
            </a:r>
          </a:p>
        </p:txBody>
      </p:sp>
      <p:pic>
        <p:nvPicPr>
          <p:cNvPr id="21" name="Picture 1436" descr="Cross mark">
            <a:extLst>
              <a:ext uri="{FF2B5EF4-FFF2-40B4-BE49-F238E27FC236}">
                <a16:creationId xmlns:a16="http://schemas.microsoft.com/office/drawing/2014/main" id="{02917DF4-D443-72EB-1DFC-1B0202B6F682}"/>
              </a:ext>
            </a:extLst>
          </p:cNvPr>
          <p:cNvPicPr>
            <a:picLocks/>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497542" y="2901702"/>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CDC90728-37A8-9C58-41BA-143F21671E27}"/>
              </a:ext>
            </a:extLst>
          </p:cNvPr>
          <p:cNvSpPr>
            <a:spLocks noGrp="1"/>
          </p:cNvSpPr>
          <p:nvPr>
            <p:ph sz="quarter" idx="14"/>
          </p:nvPr>
        </p:nvSpPr>
        <p:spPr>
          <a:xfrm>
            <a:off x="1155328" y="2872493"/>
            <a:ext cx="5111001"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r>
              <a:rPr lang="en-US" altLang="en-US" sz="2400" noProof="0" dirty="0" err="1"/>
              <a:t>Henries</a:t>
            </a:r>
            <a:r>
              <a:rPr lang="en-US" altLang="en-US" sz="2400" noProof="0" dirty="0"/>
              <a:t> [H]</a:t>
            </a:r>
          </a:p>
        </p:txBody>
      </p:sp>
      <p:pic>
        <p:nvPicPr>
          <p:cNvPr id="19" name="Picture 1435" descr="Check mark">
            <a:extLst>
              <a:ext uri="{FF2B5EF4-FFF2-40B4-BE49-F238E27FC236}">
                <a16:creationId xmlns:a16="http://schemas.microsoft.com/office/drawing/2014/main" id="{A58B23B9-C54C-321C-F99D-55F122B7DEDE}"/>
              </a:ext>
            </a:extLst>
          </p:cNvPr>
          <p:cNvPicPr>
            <a:picLocks/>
          </p:cNvPicPr>
          <p:nvPr>
            <p:custDataLst>
              <p:tags r:id="rId3"/>
            </p:custDataLst>
          </p:nvPr>
        </p:nvPicPr>
        <p:blipFill>
          <a:blip r:embed="rId6">
            <a:extLst>
              <a:ext uri="{28A0092B-C50C-407E-A947-70E740481C1C}">
                <a14:useLocalDpi xmlns:a14="http://schemas.microsoft.com/office/drawing/2010/main" val="0"/>
              </a:ext>
            </a:extLst>
          </a:blip>
          <a:srcRect/>
          <a:stretch>
            <a:fillRect/>
          </a:stretch>
        </p:blipFill>
        <p:spPr bwMode="auto">
          <a:xfrm>
            <a:off x="497542" y="347382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737F467A-CEBC-2AE1-172F-E92FEF958001}"/>
              </a:ext>
            </a:extLst>
          </p:cNvPr>
          <p:cNvSpPr>
            <a:spLocks noGrp="1"/>
          </p:cNvSpPr>
          <p:nvPr>
            <p:ph sz="quarter" idx="15"/>
          </p:nvPr>
        </p:nvSpPr>
        <p:spPr>
          <a:xfrm>
            <a:off x="1146363" y="3463043"/>
            <a:ext cx="1247213"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r>
              <a:rPr lang="en-US" altLang="en-US" sz="2400" noProof="0" dirty="0"/>
              <a:t>Ohms</a:t>
            </a:r>
          </a:p>
        </p:txBody>
      </p:sp>
      <p:graphicFrame>
        <p:nvGraphicFramePr>
          <p:cNvPr id="2" name="Object 1" descr="open square bracket Ohm close square bracket.&#10;">
            <a:extLst>
              <a:ext uri="{FF2B5EF4-FFF2-40B4-BE49-F238E27FC236}">
                <a16:creationId xmlns:a16="http://schemas.microsoft.com/office/drawing/2014/main" id="{EB3C0D97-6D0D-1F3E-69EF-C79970F9315F}"/>
              </a:ext>
            </a:extLst>
          </p:cNvPr>
          <p:cNvGraphicFramePr>
            <a:graphicFrameLocks noChangeAspect="1"/>
          </p:cNvGraphicFramePr>
          <p:nvPr/>
        </p:nvGraphicFramePr>
        <p:xfrm>
          <a:off x="2474913" y="3481388"/>
          <a:ext cx="495300" cy="473075"/>
        </p:xfrm>
        <a:graphic>
          <a:graphicData uri="http://schemas.openxmlformats.org/presentationml/2006/ole">
            <mc:AlternateContent xmlns:mc="http://schemas.openxmlformats.org/markup-compatibility/2006">
              <mc:Choice xmlns:v="urn:schemas-microsoft-com:vml" Requires="v">
                <p:oleObj name="Equation" r:id="rId7" imgW="266400" imgH="253800" progId="Equation.DSMT4">
                  <p:embed/>
                </p:oleObj>
              </mc:Choice>
              <mc:Fallback>
                <p:oleObj name="Equation" r:id="rId7" imgW="266400" imgH="253800" progId="Equation.DSMT4">
                  <p:embed/>
                  <p:pic>
                    <p:nvPicPr>
                      <p:cNvPr id="2" name="Object 1" descr="open square bracket Ohm close square bracket.&#10;">
                        <a:extLst>
                          <a:ext uri="{FF2B5EF4-FFF2-40B4-BE49-F238E27FC236}">
                            <a16:creationId xmlns:a16="http://schemas.microsoft.com/office/drawing/2014/main" id="{41997250-1FDB-2E2E-4E4E-6918140A10CE}"/>
                          </a:ext>
                        </a:extLst>
                      </p:cNvPr>
                      <p:cNvPicPr>
                        <a:picLocks noChangeAspect="1" noChangeArrowheads="1"/>
                      </p:cNvPicPr>
                      <p:nvPr/>
                    </p:nvPicPr>
                    <p:blipFill>
                      <a:blip r:embed="rId8"/>
                      <a:srcRect/>
                      <a:stretch>
                        <a:fillRect/>
                      </a:stretch>
                    </p:blipFill>
                    <p:spPr bwMode="auto">
                      <a:xfrm>
                        <a:off x="2474913" y="3481388"/>
                        <a:ext cx="4953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49982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(22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83808"/>
            <a:ext cx="7648015" cy="405683"/>
          </a:xfrm>
        </p:spPr>
        <p:txBody>
          <a:bodyPr wrap="square" lIns="0" tIns="18000" rIns="0" bIns="18000" anchor="ctr">
            <a:spAutoFit/>
          </a:bodyPr>
          <a:lstStyle/>
          <a:p>
            <a:pPr marL="0" indent="0">
              <a:buNone/>
            </a:pPr>
            <a:r>
              <a:rPr lang="en-US" altLang="en-US" sz="2400" noProof="0" dirty="0"/>
              <a:t>Impedance is a phasor.</a:t>
            </a:r>
            <a:endParaRPr lang="en-US" sz="2400" noProof="0" dirty="0"/>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155328" y="2281943"/>
            <a:ext cx="370354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t>True</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155328" y="2872493"/>
            <a:ext cx="3703543"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r>
              <a:rPr lang="en-US" altLang="en-US" sz="2400" noProof="0" dirty="0"/>
              <a:t>False</a:t>
            </a:r>
          </a:p>
        </p:txBody>
      </p:sp>
    </p:spTree>
    <p:extLst>
      <p:ext uri="{BB962C8B-B14F-4D97-AF65-F5344CB8AC3E}">
        <p14:creationId xmlns:p14="http://schemas.microsoft.com/office/powerpoint/2010/main" val="9839598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BC179-58B4-0784-1281-34B0BF0C70B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906E055-FB07-1E33-FC5A-E50B6FE43202}"/>
              </a:ext>
            </a:extLst>
          </p:cNvPr>
          <p:cNvSpPr>
            <a:spLocks noGrp="1"/>
          </p:cNvSpPr>
          <p:nvPr>
            <p:ph type="title"/>
          </p:nvPr>
        </p:nvSpPr>
        <p:spPr>
          <a:xfrm>
            <a:off x="438150" y="198262"/>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(22 of 24)</a:t>
            </a:r>
            <a:endParaRPr lang="en-US" sz="2800" noProof="0" dirty="0"/>
          </a:p>
        </p:txBody>
      </p:sp>
      <p:sp>
        <p:nvSpPr>
          <p:cNvPr id="7" name="Content Placeholder 6">
            <a:extLst>
              <a:ext uri="{FF2B5EF4-FFF2-40B4-BE49-F238E27FC236}">
                <a16:creationId xmlns:a16="http://schemas.microsoft.com/office/drawing/2014/main" id="{250EE58C-195B-C0FB-40CA-27A2961BD15D}"/>
              </a:ext>
            </a:extLst>
          </p:cNvPr>
          <p:cNvSpPr>
            <a:spLocks noGrp="1"/>
          </p:cNvSpPr>
          <p:nvPr>
            <p:ph sz="quarter" idx="12"/>
          </p:nvPr>
        </p:nvSpPr>
        <p:spPr>
          <a:xfrm>
            <a:off x="438150" y="1583808"/>
            <a:ext cx="7648015" cy="405683"/>
          </a:xfrm>
        </p:spPr>
        <p:txBody>
          <a:bodyPr wrap="square" lIns="0" tIns="18000" rIns="0" bIns="18000" anchor="ctr">
            <a:spAutoFit/>
          </a:bodyPr>
          <a:lstStyle/>
          <a:p>
            <a:pPr marL="0" indent="0">
              <a:buNone/>
            </a:pPr>
            <a:r>
              <a:rPr lang="en-US" altLang="en-US" sz="2400" noProof="0" dirty="0"/>
              <a:t>Impedance is a phasor.</a:t>
            </a:r>
            <a:endParaRPr lang="en-US" sz="2400" noProof="0" dirty="0"/>
          </a:p>
        </p:txBody>
      </p:sp>
      <p:pic>
        <p:nvPicPr>
          <p:cNvPr id="20" name="Picture 1434" descr="Cross mark">
            <a:extLst>
              <a:ext uri="{FF2B5EF4-FFF2-40B4-BE49-F238E27FC236}">
                <a16:creationId xmlns:a16="http://schemas.microsoft.com/office/drawing/2014/main" id="{6A88DB42-C7FB-9D36-ED1D-F15EBA712AFB}"/>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514475" y="2333526"/>
            <a:ext cx="342900" cy="311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C87E7C9C-4381-A87A-CA42-1583B208645B}"/>
              </a:ext>
            </a:extLst>
          </p:cNvPr>
          <p:cNvSpPr>
            <a:spLocks noGrp="1"/>
          </p:cNvSpPr>
          <p:nvPr>
            <p:ph sz="quarter" idx="13"/>
          </p:nvPr>
        </p:nvSpPr>
        <p:spPr>
          <a:xfrm>
            <a:off x="1155328" y="2281943"/>
            <a:ext cx="370354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altLang="en-US" sz="2400" noProof="0" dirty="0"/>
              <a:t>True</a:t>
            </a:r>
          </a:p>
        </p:txBody>
      </p:sp>
      <p:pic>
        <p:nvPicPr>
          <p:cNvPr id="19" name="Picture 1435" descr="Check mark">
            <a:extLst>
              <a:ext uri="{FF2B5EF4-FFF2-40B4-BE49-F238E27FC236}">
                <a16:creationId xmlns:a16="http://schemas.microsoft.com/office/drawing/2014/main" id="{7053708B-B0E5-5F8D-53BC-49D958B9C933}"/>
              </a:ext>
            </a:extLst>
          </p:cNvPr>
          <p:cNvPicPr>
            <a:picLocks/>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497542" y="2897736"/>
            <a:ext cx="342900" cy="311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53B6337D-1FEA-F75F-3C1F-0C61BCEA22B6}"/>
              </a:ext>
            </a:extLst>
          </p:cNvPr>
          <p:cNvSpPr>
            <a:spLocks noGrp="1"/>
          </p:cNvSpPr>
          <p:nvPr>
            <p:ph sz="quarter" idx="14"/>
          </p:nvPr>
        </p:nvSpPr>
        <p:spPr>
          <a:xfrm>
            <a:off x="1155328" y="2872493"/>
            <a:ext cx="3703543"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r>
              <a:rPr lang="en-US" altLang="en-US" sz="2400" noProof="0" dirty="0"/>
              <a:t>False</a:t>
            </a:r>
          </a:p>
        </p:txBody>
      </p:sp>
    </p:spTree>
    <p:extLst>
      <p:ext uri="{BB962C8B-B14F-4D97-AF65-F5344CB8AC3E}">
        <p14:creationId xmlns:p14="http://schemas.microsoft.com/office/powerpoint/2010/main" val="382683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4"/>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(23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43381" y="1636086"/>
            <a:ext cx="3142502" cy="344128"/>
          </a:xfrm>
        </p:spPr>
        <p:txBody>
          <a:bodyPr wrap="square" lIns="0" tIns="18000" rIns="0" bIns="18000" anchor="ctr">
            <a:spAutoFit/>
          </a:bodyPr>
          <a:lstStyle/>
          <a:p>
            <a:pPr marL="0" indent="0">
              <a:buNone/>
              <a:defRPr/>
            </a:pPr>
            <a:r>
              <a:rPr lang="en-US" sz="2000" noProof="0" dirty="0"/>
              <a:t>Summary:</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43378" y="2047341"/>
            <a:ext cx="3384550" cy="344128"/>
          </a:xfrm>
        </p:spPr>
        <p:txBody>
          <a:bodyPr wrap="square" lIns="0" tIns="18000" rIns="0" bIns="18000" anchor="ctr">
            <a:spAutoFit/>
          </a:bodyPr>
          <a:lstStyle/>
          <a:p>
            <a:pPr marL="342900" indent="-342900">
              <a:spcBef>
                <a:spcPts val="600"/>
              </a:spcBef>
            </a:pPr>
            <a:r>
              <a:rPr lang="en-US" sz="2000" noProof="0" dirty="0"/>
              <a:t>In the time domain</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43381" y="2476527"/>
            <a:ext cx="2289829" cy="344128"/>
          </a:xfrm>
        </p:spPr>
        <p:txBody>
          <a:bodyPr wrap="square" lIns="0" tIns="18000" rIns="0" bIns="18000" anchor="ctr">
            <a:spAutoFit/>
          </a:bodyPr>
          <a:lstStyle/>
          <a:p>
            <a:pPr marL="829818" lvl="1" indent="-342900"/>
            <a:r>
              <a:rPr lang="en-US" sz="2000" noProof="0" dirty="0"/>
              <a:t>Resistor:</a:t>
            </a:r>
          </a:p>
        </p:txBody>
      </p:sp>
      <p:graphicFrame>
        <p:nvGraphicFramePr>
          <p:cNvPr id="2" name="Object 1" descr="v (t) equals R i (t).&#10;">
            <a:extLst>
              <a:ext uri="{FF2B5EF4-FFF2-40B4-BE49-F238E27FC236}">
                <a16:creationId xmlns:a16="http://schemas.microsoft.com/office/drawing/2014/main" id="{2D5E0BBD-D4AD-1317-402A-1CEB4734A64A}"/>
              </a:ext>
            </a:extLst>
          </p:cNvPr>
          <p:cNvGraphicFramePr>
            <a:graphicFrameLocks noChangeAspect="1"/>
          </p:cNvGraphicFramePr>
          <p:nvPr>
            <p:extLst>
              <p:ext uri="{D42A27DB-BD31-4B8C-83A1-F6EECF244321}">
                <p14:modId xmlns:p14="http://schemas.microsoft.com/office/powerpoint/2010/main" val="4227055074"/>
              </p:ext>
            </p:extLst>
          </p:nvPr>
        </p:nvGraphicFramePr>
        <p:xfrm>
          <a:off x="3568656" y="2504525"/>
          <a:ext cx="1068946" cy="330073"/>
        </p:xfrm>
        <a:graphic>
          <a:graphicData uri="http://schemas.openxmlformats.org/presentationml/2006/ole">
            <mc:AlternateContent xmlns:mc="http://schemas.openxmlformats.org/markup-compatibility/2006">
              <mc:Choice xmlns:v="urn:schemas-microsoft-com:vml" Requires="v">
                <p:oleObj name="Equation" r:id="rId2" imgW="660240" imgH="203040" progId="Equation.DSMT4">
                  <p:embed/>
                </p:oleObj>
              </mc:Choice>
              <mc:Fallback>
                <p:oleObj name="Equation" r:id="rId2" imgW="660240" imgH="203040" progId="Equation.DSMT4">
                  <p:embed/>
                  <p:pic>
                    <p:nvPicPr>
                      <p:cNvPr id="2" name="Object 1">
                        <a:extLst>
                          <a:ext uri="{FF2B5EF4-FFF2-40B4-BE49-F238E27FC236}">
                            <a16:creationId xmlns:a16="http://schemas.microsoft.com/office/drawing/2014/main" id="{41997250-1FDB-2E2E-4E4E-6918140A10CE}"/>
                          </a:ext>
                        </a:extLst>
                      </p:cNvPr>
                      <p:cNvPicPr>
                        <a:picLocks noChangeAspect="1" noChangeArrowheads="1"/>
                      </p:cNvPicPr>
                      <p:nvPr/>
                    </p:nvPicPr>
                    <p:blipFill>
                      <a:blip r:embed="rId3"/>
                      <a:srcRect/>
                      <a:stretch>
                        <a:fillRect/>
                      </a:stretch>
                    </p:blipFill>
                    <p:spPr bwMode="auto">
                      <a:xfrm>
                        <a:off x="3568656" y="2504525"/>
                        <a:ext cx="1068946" cy="330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43375" y="2878820"/>
            <a:ext cx="2003985" cy="344128"/>
          </a:xfrm>
        </p:spPr>
        <p:txBody>
          <a:bodyPr wrap="square" lIns="0" tIns="18000" rIns="0" bIns="18000" anchor="ctr">
            <a:spAutoFit/>
          </a:bodyPr>
          <a:lstStyle/>
          <a:p>
            <a:pPr marL="829818" lvl="1" indent="-342900"/>
            <a:r>
              <a:rPr lang="en-US" sz="2000" noProof="0" dirty="0"/>
              <a:t>inductor:</a:t>
            </a:r>
          </a:p>
        </p:txBody>
      </p:sp>
      <p:graphicFrame>
        <p:nvGraphicFramePr>
          <p:cNvPr id="5" name="Object 4" descr="v (t) equals L d i (t) divided by d t.&#10;">
            <a:extLst>
              <a:ext uri="{FF2B5EF4-FFF2-40B4-BE49-F238E27FC236}">
                <a16:creationId xmlns:a16="http://schemas.microsoft.com/office/drawing/2014/main" id="{D002B123-144C-9510-BC4B-8A831320A2D2}"/>
              </a:ext>
            </a:extLst>
          </p:cNvPr>
          <p:cNvGraphicFramePr>
            <a:graphicFrameLocks noChangeAspect="1"/>
          </p:cNvGraphicFramePr>
          <p:nvPr>
            <p:extLst>
              <p:ext uri="{D42A27DB-BD31-4B8C-83A1-F6EECF244321}">
                <p14:modId xmlns:p14="http://schemas.microsoft.com/office/powerpoint/2010/main" val="3585381088"/>
              </p:ext>
            </p:extLst>
          </p:nvPr>
        </p:nvGraphicFramePr>
        <p:xfrm>
          <a:off x="3570834" y="2907934"/>
          <a:ext cx="1479121" cy="330073"/>
        </p:xfrm>
        <a:graphic>
          <a:graphicData uri="http://schemas.openxmlformats.org/presentationml/2006/ole">
            <mc:AlternateContent xmlns:mc="http://schemas.openxmlformats.org/markup-compatibility/2006">
              <mc:Choice xmlns:v="urn:schemas-microsoft-com:vml" Requires="v">
                <p:oleObj name="Equation" r:id="rId4" imgW="914400" imgH="203040" progId="Equation.DSMT4">
                  <p:embed/>
                </p:oleObj>
              </mc:Choice>
              <mc:Fallback>
                <p:oleObj name="Equation" r:id="rId4" imgW="914400" imgH="203040" progId="Equation.DSMT4">
                  <p:embed/>
                  <p:pic>
                    <p:nvPicPr>
                      <p:cNvPr id="2" name="Object 1">
                        <a:extLst>
                          <a:ext uri="{FF2B5EF4-FFF2-40B4-BE49-F238E27FC236}">
                            <a16:creationId xmlns:a16="http://schemas.microsoft.com/office/drawing/2014/main" id="{2D5E0BBD-D4AD-1317-402A-1CEB4734A64A}"/>
                          </a:ext>
                        </a:extLst>
                      </p:cNvPr>
                      <p:cNvPicPr>
                        <a:picLocks noChangeAspect="1" noChangeArrowheads="1"/>
                      </p:cNvPicPr>
                      <p:nvPr/>
                    </p:nvPicPr>
                    <p:blipFill>
                      <a:blip r:embed="rId5"/>
                      <a:srcRect/>
                      <a:stretch>
                        <a:fillRect/>
                      </a:stretch>
                    </p:blipFill>
                    <p:spPr bwMode="auto">
                      <a:xfrm>
                        <a:off x="3570834" y="2907934"/>
                        <a:ext cx="1479121" cy="330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43379" y="3289850"/>
            <a:ext cx="2236042" cy="344128"/>
          </a:xfrm>
        </p:spPr>
        <p:txBody>
          <a:bodyPr wrap="square" lIns="0" tIns="18000" rIns="0" bIns="18000" anchor="ctr">
            <a:spAutoFit/>
          </a:bodyPr>
          <a:lstStyle/>
          <a:p>
            <a:pPr marL="829818" lvl="1" indent="-342900"/>
            <a:r>
              <a:rPr lang="en-US" sz="2000" noProof="0" dirty="0"/>
              <a:t>Capacitor:</a:t>
            </a:r>
          </a:p>
        </p:txBody>
      </p:sp>
      <p:graphicFrame>
        <p:nvGraphicFramePr>
          <p:cNvPr id="25" name="Object 24" descr="i (t) equals C d v (t) divided by d t.&#10;">
            <a:extLst>
              <a:ext uri="{FF2B5EF4-FFF2-40B4-BE49-F238E27FC236}">
                <a16:creationId xmlns:a16="http://schemas.microsoft.com/office/drawing/2014/main" id="{BC01832A-1DD3-4C39-5D58-E442FF1C87B1}"/>
              </a:ext>
            </a:extLst>
          </p:cNvPr>
          <p:cNvGraphicFramePr>
            <a:graphicFrameLocks noChangeAspect="1"/>
          </p:cNvGraphicFramePr>
          <p:nvPr>
            <p:extLst>
              <p:ext uri="{D42A27DB-BD31-4B8C-83A1-F6EECF244321}">
                <p14:modId xmlns:p14="http://schemas.microsoft.com/office/powerpoint/2010/main" val="3167896263"/>
              </p:ext>
            </p:extLst>
          </p:nvPr>
        </p:nvGraphicFramePr>
        <p:xfrm>
          <a:off x="3623646" y="3338700"/>
          <a:ext cx="1499839" cy="330074"/>
        </p:xfrm>
        <a:graphic>
          <a:graphicData uri="http://schemas.openxmlformats.org/presentationml/2006/ole">
            <mc:AlternateContent xmlns:mc="http://schemas.openxmlformats.org/markup-compatibility/2006">
              <mc:Choice xmlns:v="urn:schemas-microsoft-com:vml" Requires="v">
                <p:oleObj name="Equation" r:id="rId6" imgW="927000" imgH="203040" progId="Equation.DSMT4">
                  <p:embed/>
                </p:oleObj>
              </mc:Choice>
              <mc:Fallback>
                <p:oleObj name="Equation" r:id="rId6" imgW="927000" imgH="203040" progId="Equation.DSMT4">
                  <p:embed/>
                  <p:pic>
                    <p:nvPicPr>
                      <p:cNvPr id="5" name="Object 4">
                        <a:extLst>
                          <a:ext uri="{FF2B5EF4-FFF2-40B4-BE49-F238E27FC236}">
                            <a16:creationId xmlns:a16="http://schemas.microsoft.com/office/drawing/2014/main" id="{D002B123-144C-9510-BC4B-8A831320A2D2}"/>
                          </a:ext>
                        </a:extLst>
                      </p:cNvPr>
                      <p:cNvPicPr>
                        <a:picLocks noChangeAspect="1" noChangeArrowheads="1"/>
                      </p:cNvPicPr>
                      <p:nvPr/>
                    </p:nvPicPr>
                    <p:blipFill>
                      <a:blip r:embed="rId7"/>
                      <a:srcRect/>
                      <a:stretch>
                        <a:fillRect/>
                      </a:stretch>
                    </p:blipFill>
                    <p:spPr bwMode="auto">
                      <a:xfrm>
                        <a:off x="3623646" y="3338700"/>
                        <a:ext cx="1499839" cy="330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43381" y="3701991"/>
            <a:ext cx="2759916" cy="344128"/>
          </a:xfrm>
        </p:spPr>
        <p:txBody>
          <a:bodyPr wrap="square" lIns="0" tIns="18000" rIns="0" bIns="18000" anchor="ctr">
            <a:spAutoFit/>
          </a:bodyPr>
          <a:lstStyle/>
          <a:p>
            <a:pPr marL="342900" indent="-342900">
              <a:spcBef>
                <a:spcPts val="600"/>
              </a:spcBef>
            </a:pPr>
            <a:r>
              <a:rPr lang="en-US" sz="2000" noProof="0" dirty="0"/>
              <a:t>In the phasor domain</a:t>
            </a:r>
          </a:p>
        </p:txBody>
      </p:sp>
      <p:graphicFrame>
        <p:nvGraphicFramePr>
          <p:cNvPr id="26" name="Object 25" descr=" V equals Z I.&#10;">
            <a:extLst>
              <a:ext uri="{FF2B5EF4-FFF2-40B4-BE49-F238E27FC236}">
                <a16:creationId xmlns:a16="http://schemas.microsoft.com/office/drawing/2014/main" id="{A08B0F8C-0085-7910-9DAD-9B78AAE2E119}"/>
              </a:ext>
            </a:extLst>
          </p:cNvPr>
          <p:cNvGraphicFramePr>
            <a:graphicFrameLocks noChangeAspect="1"/>
          </p:cNvGraphicFramePr>
          <p:nvPr>
            <p:extLst>
              <p:ext uri="{D42A27DB-BD31-4B8C-83A1-F6EECF244321}">
                <p14:modId xmlns:p14="http://schemas.microsoft.com/office/powerpoint/2010/main" val="1281707066"/>
              </p:ext>
            </p:extLst>
          </p:nvPr>
        </p:nvGraphicFramePr>
        <p:xfrm>
          <a:off x="3317640" y="3786368"/>
          <a:ext cx="516120" cy="259144"/>
        </p:xfrm>
        <a:graphic>
          <a:graphicData uri="http://schemas.openxmlformats.org/presentationml/2006/ole">
            <mc:AlternateContent xmlns:mc="http://schemas.openxmlformats.org/markup-compatibility/2006">
              <mc:Choice xmlns:v="urn:schemas-microsoft-com:vml" Requires="v">
                <p:oleObj name="Equation" r:id="rId8" imgW="406080" imgH="203040" progId="Equation.DSMT4">
                  <p:embed/>
                </p:oleObj>
              </mc:Choice>
              <mc:Fallback>
                <p:oleObj name="Equation" r:id="rId8" imgW="406080" imgH="203040" progId="Equation.DSMT4">
                  <p:embed/>
                  <p:pic>
                    <p:nvPicPr>
                      <p:cNvPr id="25" name="Object 24">
                        <a:extLst>
                          <a:ext uri="{FF2B5EF4-FFF2-40B4-BE49-F238E27FC236}">
                            <a16:creationId xmlns:a16="http://schemas.microsoft.com/office/drawing/2014/main" id="{BC01832A-1DD3-4C39-5D58-E442FF1C87B1}"/>
                          </a:ext>
                        </a:extLst>
                      </p:cNvPr>
                      <p:cNvPicPr>
                        <a:picLocks noChangeAspect="1" noChangeArrowheads="1"/>
                      </p:cNvPicPr>
                      <p:nvPr/>
                    </p:nvPicPr>
                    <p:blipFill>
                      <a:blip r:embed="rId9"/>
                      <a:srcRect/>
                      <a:stretch>
                        <a:fillRect/>
                      </a:stretch>
                    </p:blipFill>
                    <p:spPr bwMode="auto">
                      <a:xfrm>
                        <a:off x="3317640" y="3786368"/>
                        <a:ext cx="516120" cy="259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43382" y="4160032"/>
            <a:ext cx="7176618" cy="344128"/>
          </a:xfrm>
        </p:spPr>
        <p:txBody>
          <a:bodyPr wrap="square" lIns="0" tIns="18000" rIns="0" bIns="18000" anchor="ctr">
            <a:spAutoFit/>
          </a:bodyPr>
          <a:lstStyle/>
          <a:p>
            <a:pPr marL="829818" lvl="1" indent="-342900"/>
            <a:r>
              <a:rPr lang="en-US" sz="2000" noProof="0" dirty="0"/>
              <a:t>Z is impedance, defined as the ratio of V to I</a:t>
            </a:r>
          </a:p>
        </p:txBody>
      </p:sp>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443382" y="4563913"/>
            <a:ext cx="3259042" cy="344128"/>
          </a:xfrm>
        </p:spPr>
        <p:txBody>
          <a:bodyPr wrap="square" lIns="0" tIns="18000" rIns="0" bIns="18000" anchor="ctr">
            <a:spAutoFit/>
          </a:bodyPr>
          <a:lstStyle/>
          <a:p>
            <a:pPr marL="829818" lvl="1" indent="-342900"/>
            <a:r>
              <a:rPr lang="en-US" sz="2000" noProof="0" dirty="0"/>
              <a:t>Z has the units Ohms</a:t>
            </a:r>
          </a:p>
        </p:txBody>
      </p:sp>
      <p:graphicFrame>
        <p:nvGraphicFramePr>
          <p:cNvPr id="27" name="Object 26" descr="open square bracket Ohm close square bracket.&#10;">
            <a:extLst>
              <a:ext uri="{FF2B5EF4-FFF2-40B4-BE49-F238E27FC236}">
                <a16:creationId xmlns:a16="http://schemas.microsoft.com/office/drawing/2014/main" id="{7DB25FAE-0BF3-FA7D-741E-3ADAEE29B309}"/>
              </a:ext>
            </a:extLst>
          </p:cNvPr>
          <p:cNvGraphicFramePr>
            <a:graphicFrameLocks noChangeAspect="1"/>
          </p:cNvGraphicFramePr>
          <p:nvPr>
            <p:extLst>
              <p:ext uri="{D42A27DB-BD31-4B8C-83A1-F6EECF244321}">
                <p14:modId xmlns:p14="http://schemas.microsoft.com/office/powerpoint/2010/main" val="418172625"/>
              </p:ext>
            </p:extLst>
          </p:nvPr>
        </p:nvGraphicFramePr>
        <p:xfrm>
          <a:off x="3809487" y="4589084"/>
          <a:ext cx="372126" cy="355428"/>
        </p:xfrm>
        <a:graphic>
          <a:graphicData uri="http://schemas.openxmlformats.org/presentationml/2006/ole">
            <mc:AlternateContent xmlns:mc="http://schemas.openxmlformats.org/markup-compatibility/2006">
              <mc:Choice xmlns:v="urn:schemas-microsoft-com:vml" Requires="v">
                <p:oleObj name="Equation" r:id="rId10" imgW="266400" imgH="253800" progId="Equation.DSMT4">
                  <p:embed/>
                </p:oleObj>
              </mc:Choice>
              <mc:Fallback>
                <p:oleObj name="Equation" r:id="rId10" imgW="266400" imgH="253800" progId="Equation.DSMT4">
                  <p:embed/>
                  <p:pic>
                    <p:nvPicPr>
                      <p:cNvPr id="2" name="Object 1">
                        <a:extLst>
                          <a:ext uri="{FF2B5EF4-FFF2-40B4-BE49-F238E27FC236}">
                            <a16:creationId xmlns:a16="http://schemas.microsoft.com/office/drawing/2014/main" id="{41997250-1FDB-2E2E-4E4E-6918140A10CE}"/>
                          </a:ext>
                        </a:extLst>
                      </p:cNvPr>
                      <p:cNvPicPr>
                        <a:picLocks noChangeAspect="1" noChangeArrowheads="1"/>
                      </p:cNvPicPr>
                      <p:nvPr/>
                    </p:nvPicPr>
                    <p:blipFill>
                      <a:blip r:embed="rId11"/>
                      <a:srcRect/>
                      <a:stretch>
                        <a:fillRect/>
                      </a:stretch>
                    </p:blipFill>
                    <p:spPr bwMode="auto">
                      <a:xfrm>
                        <a:off x="3809487" y="4589084"/>
                        <a:ext cx="372126" cy="355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Content Placeholder 14">
            <a:extLst>
              <a:ext uri="{FF2B5EF4-FFF2-40B4-BE49-F238E27FC236}">
                <a16:creationId xmlns:a16="http://schemas.microsoft.com/office/drawing/2014/main" id="{62DC30B9-3DB8-2802-F476-A17B44BACA31}"/>
              </a:ext>
            </a:extLst>
          </p:cNvPr>
          <p:cNvSpPr>
            <a:spLocks noGrp="1"/>
          </p:cNvSpPr>
          <p:nvPr>
            <p:ph sz="quarter" idx="20"/>
          </p:nvPr>
        </p:nvSpPr>
        <p:spPr>
          <a:xfrm>
            <a:off x="443379" y="4974133"/>
            <a:ext cx="2120527" cy="344128"/>
          </a:xfrm>
        </p:spPr>
        <p:txBody>
          <a:bodyPr wrap="square" lIns="0" tIns="18000" rIns="0" bIns="18000" anchor="ctr">
            <a:spAutoFit/>
          </a:bodyPr>
          <a:lstStyle/>
          <a:p>
            <a:pPr marL="829818" lvl="1" indent="-342900"/>
            <a:r>
              <a:rPr lang="en-US" sz="2000" noProof="0" dirty="0">
                <a:sym typeface="Symbol"/>
              </a:rPr>
              <a:t>Resistor:</a:t>
            </a:r>
            <a:endParaRPr lang="en-US" sz="2000" noProof="0" dirty="0"/>
          </a:p>
        </p:txBody>
      </p:sp>
      <p:graphicFrame>
        <p:nvGraphicFramePr>
          <p:cNvPr id="28" name="Object 27" descr=" Z subscript R baseline equals R.&#10;">
            <a:extLst>
              <a:ext uri="{FF2B5EF4-FFF2-40B4-BE49-F238E27FC236}">
                <a16:creationId xmlns:a16="http://schemas.microsoft.com/office/drawing/2014/main" id="{BADD3570-F020-FAEA-DBD4-484ECEF0D00F}"/>
              </a:ext>
            </a:extLst>
          </p:cNvPr>
          <p:cNvGraphicFramePr>
            <a:graphicFrameLocks noChangeAspect="1"/>
          </p:cNvGraphicFramePr>
          <p:nvPr>
            <p:extLst>
              <p:ext uri="{D42A27DB-BD31-4B8C-83A1-F6EECF244321}">
                <p14:modId xmlns:p14="http://schemas.microsoft.com/office/powerpoint/2010/main" val="331820396"/>
              </p:ext>
            </p:extLst>
          </p:nvPr>
        </p:nvGraphicFramePr>
        <p:xfrm>
          <a:off x="2679421" y="5049927"/>
          <a:ext cx="762143" cy="320840"/>
        </p:xfrm>
        <a:graphic>
          <a:graphicData uri="http://schemas.openxmlformats.org/presentationml/2006/ole">
            <mc:AlternateContent xmlns:mc="http://schemas.openxmlformats.org/markup-compatibility/2006">
              <mc:Choice xmlns:v="urn:schemas-microsoft-com:vml" Requires="v">
                <p:oleObj name="Equation" r:id="rId12" imgW="545760" imgH="228600" progId="Equation.DSMT4">
                  <p:embed/>
                </p:oleObj>
              </mc:Choice>
              <mc:Fallback>
                <p:oleObj name="Equation" r:id="rId12" imgW="545760" imgH="228600" progId="Equation.DSMT4">
                  <p:embed/>
                  <p:pic>
                    <p:nvPicPr>
                      <p:cNvPr id="27" name="Object 26">
                        <a:extLst>
                          <a:ext uri="{FF2B5EF4-FFF2-40B4-BE49-F238E27FC236}">
                            <a16:creationId xmlns:a16="http://schemas.microsoft.com/office/drawing/2014/main" id="{7DB25FAE-0BF3-FA7D-741E-3ADAEE29B309}"/>
                          </a:ext>
                        </a:extLst>
                      </p:cNvPr>
                      <p:cNvPicPr>
                        <a:picLocks noChangeAspect="1" noChangeArrowheads="1"/>
                      </p:cNvPicPr>
                      <p:nvPr/>
                    </p:nvPicPr>
                    <p:blipFill>
                      <a:blip r:embed="rId13"/>
                      <a:srcRect/>
                      <a:stretch>
                        <a:fillRect/>
                      </a:stretch>
                    </p:blipFill>
                    <p:spPr bwMode="auto">
                      <a:xfrm>
                        <a:off x="2679421" y="5049927"/>
                        <a:ext cx="762143" cy="32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Content Placeholder 15">
            <a:extLst>
              <a:ext uri="{FF2B5EF4-FFF2-40B4-BE49-F238E27FC236}">
                <a16:creationId xmlns:a16="http://schemas.microsoft.com/office/drawing/2014/main" id="{842C75F5-1F7A-16F9-4F1F-28A4FF9F9A72}"/>
              </a:ext>
            </a:extLst>
          </p:cNvPr>
          <p:cNvSpPr>
            <a:spLocks noGrp="1"/>
          </p:cNvSpPr>
          <p:nvPr>
            <p:ph sz="quarter" idx="21"/>
          </p:nvPr>
        </p:nvSpPr>
        <p:spPr>
          <a:xfrm>
            <a:off x="440765" y="5388784"/>
            <a:ext cx="2003984" cy="344128"/>
          </a:xfrm>
        </p:spPr>
        <p:txBody>
          <a:bodyPr wrap="square" lIns="0" tIns="18000" rIns="0" bIns="18000" anchor="ctr">
            <a:spAutoFit/>
          </a:bodyPr>
          <a:lstStyle/>
          <a:p>
            <a:pPr marL="829818" lvl="1" indent="-342900"/>
            <a:r>
              <a:rPr lang="en-US" sz="2000" noProof="0" dirty="0">
                <a:sym typeface="Symbol"/>
              </a:rPr>
              <a:t>Inductor:</a:t>
            </a:r>
            <a:endParaRPr lang="en-US" sz="2000" noProof="0" dirty="0"/>
          </a:p>
        </p:txBody>
      </p:sp>
      <p:graphicFrame>
        <p:nvGraphicFramePr>
          <p:cNvPr id="29" name="Object 28" descr=" Z subscript L baseline equals j omega L.&#10;">
            <a:extLst>
              <a:ext uri="{FF2B5EF4-FFF2-40B4-BE49-F238E27FC236}">
                <a16:creationId xmlns:a16="http://schemas.microsoft.com/office/drawing/2014/main" id="{09716EE0-85E2-5988-280E-728CA3D77E49}"/>
              </a:ext>
            </a:extLst>
          </p:cNvPr>
          <p:cNvGraphicFramePr>
            <a:graphicFrameLocks noChangeAspect="1"/>
          </p:cNvGraphicFramePr>
          <p:nvPr>
            <p:extLst>
              <p:ext uri="{D42A27DB-BD31-4B8C-83A1-F6EECF244321}">
                <p14:modId xmlns:p14="http://schemas.microsoft.com/office/powerpoint/2010/main" val="779896839"/>
              </p:ext>
            </p:extLst>
          </p:nvPr>
        </p:nvGraphicFramePr>
        <p:xfrm>
          <a:off x="2725738" y="5413375"/>
          <a:ext cx="946150" cy="334963"/>
        </p:xfrm>
        <a:graphic>
          <a:graphicData uri="http://schemas.openxmlformats.org/presentationml/2006/ole">
            <mc:AlternateContent xmlns:mc="http://schemas.openxmlformats.org/markup-compatibility/2006">
              <mc:Choice xmlns:v="urn:schemas-microsoft-com:vml" Requires="v">
                <p:oleObj name="Equation" r:id="rId14" imgW="647640" imgH="228600" progId="Equation.DSMT4">
                  <p:embed/>
                </p:oleObj>
              </mc:Choice>
              <mc:Fallback>
                <p:oleObj name="Equation" r:id="rId14" imgW="647640" imgH="228600" progId="Equation.DSMT4">
                  <p:embed/>
                  <p:pic>
                    <p:nvPicPr>
                      <p:cNvPr id="28" name="Object 27">
                        <a:extLst>
                          <a:ext uri="{FF2B5EF4-FFF2-40B4-BE49-F238E27FC236}">
                            <a16:creationId xmlns:a16="http://schemas.microsoft.com/office/drawing/2014/main" id="{BADD3570-F020-FAEA-DBD4-484ECEF0D00F}"/>
                          </a:ext>
                        </a:extLst>
                      </p:cNvPr>
                      <p:cNvPicPr>
                        <a:picLocks noChangeAspect="1" noChangeArrowheads="1"/>
                      </p:cNvPicPr>
                      <p:nvPr/>
                    </p:nvPicPr>
                    <p:blipFill>
                      <a:blip r:embed="rId15"/>
                      <a:srcRect/>
                      <a:stretch>
                        <a:fillRect/>
                      </a:stretch>
                    </p:blipFill>
                    <p:spPr bwMode="auto">
                      <a:xfrm>
                        <a:off x="2725738" y="5413375"/>
                        <a:ext cx="9461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Content Placeholder 16">
            <a:extLst>
              <a:ext uri="{FF2B5EF4-FFF2-40B4-BE49-F238E27FC236}">
                <a16:creationId xmlns:a16="http://schemas.microsoft.com/office/drawing/2014/main" id="{12401441-FD92-F4F7-BE98-19DC7CBBBB17}"/>
              </a:ext>
            </a:extLst>
          </p:cNvPr>
          <p:cNvSpPr>
            <a:spLocks noGrp="1"/>
          </p:cNvSpPr>
          <p:nvPr>
            <p:ph sz="quarter" idx="22"/>
          </p:nvPr>
        </p:nvSpPr>
        <p:spPr>
          <a:xfrm>
            <a:off x="422835" y="5800037"/>
            <a:ext cx="2024525" cy="344128"/>
          </a:xfrm>
        </p:spPr>
        <p:txBody>
          <a:bodyPr wrap="square" lIns="0" tIns="18000" rIns="0" bIns="18000" anchor="ctr">
            <a:spAutoFit/>
          </a:bodyPr>
          <a:lstStyle/>
          <a:p>
            <a:pPr marL="829818" lvl="1" indent="-342900"/>
            <a:r>
              <a:rPr lang="en-US" sz="2000" noProof="0" dirty="0">
                <a:sym typeface="Symbol"/>
              </a:rPr>
              <a:t>Capacitor:</a:t>
            </a:r>
            <a:endParaRPr lang="en-US" sz="2000" noProof="0" dirty="0"/>
          </a:p>
        </p:txBody>
      </p:sp>
      <p:graphicFrame>
        <p:nvGraphicFramePr>
          <p:cNvPr id="30" name="Object 29" descr=" Z subscript C baseline equals 1 divided by j omega C equals negative j divided by omega C.&#10;">
            <a:extLst>
              <a:ext uri="{FF2B5EF4-FFF2-40B4-BE49-F238E27FC236}">
                <a16:creationId xmlns:a16="http://schemas.microsoft.com/office/drawing/2014/main" id="{9BADAD7F-7AE0-9A2C-8955-71BBE86A34A0}"/>
              </a:ext>
            </a:extLst>
          </p:cNvPr>
          <p:cNvGraphicFramePr>
            <a:graphicFrameLocks noChangeAspect="1"/>
          </p:cNvGraphicFramePr>
          <p:nvPr>
            <p:extLst>
              <p:ext uri="{D42A27DB-BD31-4B8C-83A1-F6EECF244321}">
                <p14:modId xmlns:p14="http://schemas.microsoft.com/office/powerpoint/2010/main" val="4013688515"/>
              </p:ext>
            </p:extLst>
          </p:nvPr>
        </p:nvGraphicFramePr>
        <p:xfrm>
          <a:off x="2620963" y="5826125"/>
          <a:ext cx="2146300" cy="352425"/>
        </p:xfrm>
        <a:graphic>
          <a:graphicData uri="http://schemas.openxmlformats.org/presentationml/2006/ole">
            <mc:AlternateContent xmlns:mc="http://schemas.openxmlformats.org/markup-compatibility/2006">
              <mc:Choice xmlns:v="urn:schemas-microsoft-com:vml" Requires="v">
                <p:oleObj name="Equation" r:id="rId16" imgW="1396800" imgH="228600" progId="Equation.DSMT4">
                  <p:embed/>
                </p:oleObj>
              </mc:Choice>
              <mc:Fallback>
                <p:oleObj name="Equation" r:id="rId16" imgW="1396800" imgH="228600" progId="Equation.DSMT4">
                  <p:embed/>
                  <p:pic>
                    <p:nvPicPr>
                      <p:cNvPr id="29" name="Object 28">
                        <a:extLst>
                          <a:ext uri="{FF2B5EF4-FFF2-40B4-BE49-F238E27FC236}">
                            <a16:creationId xmlns:a16="http://schemas.microsoft.com/office/drawing/2014/main" id="{09716EE0-85E2-5988-280E-728CA3D77E49}"/>
                          </a:ext>
                        </a:extLst>
                      </p:cNvPr>
                      <p:cNvPicPr>
                        <a:picLocks noChangeAspect="1" noChangeArrowheads="1"/>
                      </p:cNvPicPr>
                      <p:nvPr/>
                    </p:nvPicPr>
                    <p:blipFill>
                      <a:blip r:embed="rId17"/>
                      <a:srcRect/>
                      <a:stretch>
                        <a:fillRect/>
                      </a:stretch>
                    </p:blipFill>
                    <p:spPr bwMode="auto">
                      <a:xfrm>
                        <a:off x="2620963" y="5826125"/>
                        <a:ext cx="21463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554024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8264"/>
            <a:ext cx="8229600" cy="1144347"/>
          </a:xfrm>
        </p:spPr>
        <p:txBody>
          <a:bodyPr/>
          <a:lstStyle/>
          <a:p>
            <a:r>
              <a:rPr lang="en-US" noProof="0" dirty="0">
                <a:latin typeface="+mj-lt"/>
              </a:rPr>
              <a:t>Chapter 9 – </a:t>
            </a:r>
            <a:r>
              <a:rPr lang="en-US" altLang="en-US" noProof="0" dirty="0">
                <a:latin typeface="+mj-lt"/>
              </a:rPr>
              <a:t>Sinusoidal Steady-State Analysis</a:t>
            </a:r>
            <a:r>
              <a:rPr lang="en-US" noProof="0" dirty="0">
                <a:latin typeface="+mj-lt"/>
              </a:rPr>
              <a:t> </a:t>
            </a:r>
            <a:r>
              <a:rPr lang="en-US" sz="2800" noProof="0" dirty="0">
                <a:latin typeface="+mj-lt"/>
              </a:rPr>
              <a:t>(24 of 24)</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43381" y="1427350"/>
            <a:ext cx="3142502" cy="313350"/>
          </a:xfrm>
        </p:spPr>
        <p:txBody>
          <a:bodyPr wrap="square" lIns="0" tIns="18000" rIns="0" bIns="18000" anchor="ctr">
            <a:spAutoFit/>
          </a:bodyPr>
          <a:lstStyle/>
          <a:p>
            <a:pPr marL="0" indent="0">
              <a:buNone/>
              <a:defRPr/>
            </a:pPr>
            <a:r>
              <a:rPr lang="en-US" sz="1800" noProof="0" dirty="0"/>
              <a:t>Summary:</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43378" y="1820675"/>
            <a:ext cx="3384550" cy="313350"/>
          </a:xfrm>
        </p:spPr>
        <p:txBody>
          <a:bodyPr wrap="square" lIns="0" tIns="18000" rIns="0" bIns="18000" anchor="ctr">
            <a:spAutoFit/>
          </a:bodyPr>
          <a:lstStyle/>
          <a:p>
            <a:pPr marL="342900" indent="-342900">
              <a:spcBef>
                <a:spcPts val="600"/>
              </a:spcBef>
            </a:pPr>
            <a:r>
              <a:rPr lang="en-US" sz="1800" noProof="0" dirty="0"/>
              <a:t>In the time domain</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43381" y="2196071"/>
            <a:ext cx="4264865" cy="313350"/>
          </a:xfrm>
        </p:spPr>
        <p:txBody>
          <a:bodyPr wrap="square" lIns="0" tIns="18000" rIns="0" bIns="18000" anchor="ctr">
            <a:spAutoFit/>
          </a:bodyPr>
          <a:lstStyle/>
          <a:p>
            <a:pPr marL="829818" lvl="1" indent="-342900"/>
            <a:r>
              <a:rPr lang="en-US" sz="1800" noProof="0" dirty="0"/>
              <a:t>Ohm’s law (only for resistors):</a:t>
            </a:r>
          </a:p>
        </p:txBody>
      </p:sp>
      <p:graphicFrame>
        <p:nvGraphicFramePr>
          <p:cNvPr id="2" name="Object 1" descr="v equals R i.&#10;">
            <a:extLst>
              <a:ext uri="{FF2B5EF4-FFF2-40B4-BE49-F238E27FC236}">
                <a16:creationId xmlns:a16="http://schemas.microsoft.com/office/drawing/2014/main" id="{2D5E0BBD-D4AD-1317-402A-1CEB4734A64A}"/>
              </a:ext>
            </a:extLst>
          </p:cNvPr>
          <p:cNvGraphicFramePr>
            <a:graphicFrameLocks noChangeAspect="1"/>
          </p:cNvGraphicFramePr>
          <p:nvPr>
            <p:extLst>
              <p:ext uri="{D42A27DB-BD31-4B8C-83A1-F6EECF244321}">
                <p14:modId xmlns:p14="http://schemas.microsoft.com/office/powerpoint/2010/main" val="3548453319"/>
              </p:ext>
            </p:extLst>
          </p:nvPr>
        </p:nvGraphicFramePr>
        <p:xfrm>
          <a:off x="4884548" y="2199798"/>
          <a:ext cx="658812" cy="330200"/>
        </p:xfrm>
        <a:graphic>
          <a:graphicData uri="http://schemas.openxmlformats.org/presentationml/2006/ole">
            <mc:AlternateContent xmlns:mc="http://schemas.openxmlformats.org/markup-compatibility/2006">
              <mc:Choice xmlns:v="urn:schemas-microsoft-com:vml" Requires="v">
                <p:oleObj name="Equation" r:id="rId2" imgW="406080" imgH="203040" progId="Equation.DSMT4">
                  <p:embed/>
                </p:oleObj>
              </mc:Choice>
              <mc:Fallback>
                <p:oleObj name="Equation" r:id="rId2" imgW="406080" imgH="203040" progId="Equation.DSMT4">
                  <p:embed/>
                  <p:pic>
                    <p:nvPicPr>
                      <p:cNvPr id="2" name="Object 1">
                        <a:extLst>
                          <a:ext uri="{FF2B5EF4-FFF2-40B4-BE49-F238E27FC236}">
                            <a16:creationId xmlns:a16="http://schemas.microsoft.com/office/drawing/2014/main" id="{2D5E0BBD-D4AD-1317-402A-1CEB4734A64A}"/>
                          </a:ext>
                        </a:extLst>
                      </p:cNvPr>
                      <p:cNvPicPr>
                        <a:picLocks noChangeAspect="1" noChangeArrowheads="1"/>
                      </p:cNvPicPr>
                      <p:nvPr/>
                    </p:nvPicPr>
                    <p:blipFill>
                      <a:blip r:embed="rId3"/>
                      <a:srcRect/>
                      <a:stretch>
                        <a:fillRect/>
                      </a:stretch>
                    </p:blipFill>
                    <p:spPr bwMode="auto">
                      <a:xfrm>
                        <a:off x="4884548" y="2199798"/>
                        <a:ext cx="65881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43375" y="2598365"/>
            <a:ext cx="3008037" cy="313350"/>
          </a:xfrm>
        </p:spPr>
        <p:txBody>
          <a:bodyPr wrap="square" lIns="0" tIns="18000" rIns="0" bIns="18000" anchor="ctr">
            <a:spAutoFit/>
          </a:bodyPr>
          <a:lstStyle/>
          <a:p>
            <a:pPr marL="829818" lvl="1" indent="-342900"/>
            <a:r>
              <a:rPr lang="en-US" sz="1800" spc="-300" noProof="0" dirty="0"/>
              <a:t>K V </a:t>
            </a:r>
            <a:r>
              <a:rPr lang="en-US" sz="1800" noProof="0" dirty="0"/>
              <a:t>L (around a loop):</a:t>
            </a:r>
          </a:p>
        </p:txBody>
      </p:sp>
      <p:graphicFrame>
        <p:nvGraphicFramePr>
          <p:cNvPr id="5" name="Object 4" descr="v subscript 1 baseline plus v subscript 2 baseline plus ellipsis plus v subscript n baseline equals 0.&#10;">
            <a:extLst>
              <a:ext uri="{FF2B5EF4-FFF2-40B4-BE49-F238E27FC236}">
                <a16:creationId xmlns:a16="http://schemas.microsoft.com/office/drawing/2014/main" id="{D002B123-144C-9510-BC4B-8A831320A2D2}"/>
              </a:ext>
            </a:extLst>
          </p:cNvPr>
          <p:cNvGraphicFramePr>
            <a:graphicFrameLocks noChangeAspect="1"/>
          </p:cNvGraphicFramePr>
          <p:nvPr>
            <p:extLst>
              <p:ext uri="{D42A27DB-BD31-4B8C-83A1-F6EECF244321}">
                <p14:modId xmlns:p14="http://schemas.microsoft.com/office/powerpoint/2010/main" val="1283828937"/>
              </p:ext>
            </p:extLst>
          </p:nvPr>
        </p:nvGraphicFramePr>
        <p:xfrm>
          <a:off x="3615386" y="2599756"/>
          <a:ext cx="2035175" cy="371475"/>
        </p:xfrm>
        <a:graphic>
          <a:graphicData uri="http://schemas.openxmlformats.org/presentationml/2006/ole">
            <mc:AlternateContent xmlns:mc="http://schemas.openxmlformats.org/markup-compatibility/2006">
              <mc:Choice xmlns:v="urn:schemas-microsoft-com:vml" Requires="v">
                <p:oleObj name="Equation" r:id="rId4" imgW="1257120" imgH="228600" progId="Equation.DSMT4">
                  <p:embed/>
                </p:oleObj>
              </mc:Choice>
              <mc:Fallback>
                <p:oleObj name="Equation" r:id="rId4" imgW="1257120" imgH="228600" progId="Equation.DSMT4">
                  <p:embed/>
                  <p:pic>
                    <p:nvPicPr>
                      <p:cNvPr id="5" name="Object 4">
                        <a:extLst>
                          <a:ext uri="{FF2B5EF4-FFF2-40B4-BE49-F238E27FC236}">
                            <a16:creationId xmlns:a16="http://schemas.microsoft.com/office/drawing/2014/main" id="{D002B123-144C-9510-BC4B-8A831320A2D2}"/>
                          </a:ext>
                        </a:extLst>
                      </p:cNvPr>
                      <p:cNvPicPr>
                        <a:picLocks noChangeAspect="1" noChangeArrowheads="1"/>
                      </p:cNvPicPr>
                      <p:nvPr/>
                    </p:nvPicPr>
                    <p:blipFill>
                      <a:blip r:embed="rId5"/>
                      <a:srcRect/>
                      <a:stretch>
                        <a:fillRect/>
                      </a:stretch>
                    </p:blipFill>
                    <p:spPr bwMode="auto">
                      <a:xfrm>
                        <a:off x="3615386" y="2599756"/>
                        <a:ext cx="20351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43379" y="3009396"/>
            <a:ext cx="2874262" cy="313350"/>
          </a:xfrm>
        </p:spPr>
        <p:txBody>
          <a:bodyPr wrap="square" lIns="0" tIns="18000" rIns="0" bIns="18000" anchor="ctr">
            <a:spAutoFit/>
          </a:bodyPr>
          <a:lstStyle/>
          <a:p>
            <a:pPr marL="829818" lvl="1" indent="-342900"/>
            <a:r>
              <a:rPr lang="en-US" sz="1800" spc="-300" noProof="0" dirty="0"/>
              <a:t>K C </a:t>
            </a:r>
            <a:r>
              <a:rPr lang="en-US" sz="1800" noProof="0" dirty="0"/>
              <a:t>L (at a node):</a:t>
            </a:r>
          </a:p>
        </p:txBody>
      </p:sp>
      <p:graphicFrame>
        <p:nvGraphicFramePr>
          <p:cNvPr id="25" name="Object 24" descr="i subscript 1 baseline plus i subscript 2 baseline plus ellipsis plus i subscript n baseline equals 0.&#10;">
            <a:extLst>
              <a:ext uri="{FF2B5EF4-FFF2-40B4-BE49-F238E27FC236}">
                <a16:creationId xmlns:a16="http://schemas.microsoft.com/office/drawing/2014/main" id="{BC01832A-1DD3-4C39-5D58-E442FF1C87B1}"/>
              </a:ext>
            </a:extLst>
          </p:cNvPr>
          <p:cNvGraphicFramePr>
            <a:graphicFrameLocks noChangeAspect="1"/>
          </p:cNvGraphicFramePr>
          <p:nvPr>
            <p:extLst>
              <p:ext uri="{D42A27DB-BD31-4B8C-83A1-F6EECF244321}">
                <p14:modId xmlns:p14="http://schemas.microsoft.com/office/powerpoint/2010/main" val="530384713"/>
              </p:ext>
            </p:extLst>
          </p:nvPr>
        </p:nvGraphicFramePr>
        <p:xfrm>
          <a:off x="3789363" y="3013075"/>
          <a:ext cx="1849437" cy="371475"/>
        </p:xfrm>
        <a:graphic>
          <a:graphicData uri="http://schemas.openxmlformats.org/presentationml/2006/ole">
            <mc:AlternateContent xmlns:mc="http://schemas.openxmlformats.org/markup-compatibility/2006">
              <mc:Choice xmlns:v="urn:schemas-microsoft-com:vml" Requires="v">
                <p:oleObj name="Equation" r:id="rId6" imgW="1143000" imgH="228600" progId="Equation.DSMT4">
                  <p:embed/>
                </p:oleObj>
              </mc:Choice>
              <mc:Fallback>
                <p:oleObj name="Equation" r:id="rId6" imgW="1143000" imgH="228600" progId="Equation.DSMT4">
                  <p:embed/>
                  <p:pic>
                    <p:nvPicPr>
                      <p:cNvPr id="25" name="Object 24">
                        <a:extLst>
                          <a:ext uri="{FF2B5EF4-FFF2-40B4-BE49-F238E27FC236}">
                            <a16:creationId xmlns:a16="http://schemas.microsoft.com/office/drawing/2014/main" id="{BC01832A-1DD3-4C39-5D58-E442FF1C87B1}"/>
                          </a:ext>
                        </a:extLst>
                      </p:cNvPr>
                      <p:cNvPicPr>
                        <a:picLocks noChangeAspect="1" noChangeArrowheads="1"/>
                      </p:cNvPicPr>
                      <p:nvPr/>
                    </p:nvPicPr>
                    <p:blipFill>
                      <a:blip r:embed="rId7"/>
                      <a:srcRect/>
                      <a:stretch>
                        <a:fillRect/>
                      </a:stretch>
                    </p:blipFill>
                    <p:spPr bwMode="auto">
                      <a:xfrm>
                        <a:off x="3789363" y="3013075"/>
                        <a:ext cx="1849437"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43380" y="3426476"/>
            <a:ext cx="8046195" cy="590349"/>
          </a:xfrm>
        </p:spPr>
        <p:txBody>
          <a:bodyPr wrap="square" lIns="0" tIns="18000" rIns="0" bIns="18000" anchor="ctr">
            <a:spAutoFit/>
          </a:bodyPr>
          <a:lstStyle/>
          <a:p>
            <a:pPr marL="829818" lvl="1" indent="-342900">
              <a:defRPr/>
            </a:pPr>
            <a:r>
              <a:rPr lang="en-US" sz="1800" noProof="0" dirty="0"/>
              <a:t>These three laws lead to all other time-domain circuit analysis techniques</a:t>
            </a:r>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43382" y="4066660"/>
            <a:ext cx="2792877" cy="313350"/>
          </a:xfrm>
        </p:spPr>
        <p:txBody>
          <a:bodyPr wrap="square" lIns="0" tIns="18000" rIns="0" bIns="18000" anchor="ctr">
            <a:spAutoFit/>
          </a:bodyPr>
          <a:lstStyle/>
          <a:p>
            <a:pPr marL="342900" indent="-342900"/>
            <a:r>
              <a:rPr lang="en-US" sz="1800" noProof="0" dirty="0"/>
              <a:t>In the phasor domain</a:t>
            </a:r>
          </a:p>
        </p:txBody>
      </p:sp>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443382" y="4452610"/>
            <a:ext cx="3238718" cy="313350"/>
          </a:xfrm>
        </p:spPr>
        <p:txBody>
          <a:bodyPr wrap="square" lIns="0" tIns="18000" rIns="0" bIns="18000" anchor="ctr">
            <a:spAutoFit/>
          </a:bodyPr>
          <a:lstStyle/>
          <a:p>
            <a:pPr marL="829818" lvl="1" indent="-342900"/>
            <a:r>
              <a:rPr lang="en-US" sz="1800" noProof="0" dirty="0"/>
              <a:t>Ohm’s law (for R, L, C):</a:t>
            </a:r>
          </a:p>
        </p:txBody>
      </p:sp>
      <p:graphicFrame>
        <p:nvGraphicFramePr>
          <p:cNvPr id="27" name="Object 26" descr="V Equal Z I.">
            <a:extLst>
              <a:ext uri="{FF2B5EF4-FFF2-40B4-BE49-F238E27FC236}">
                <a16:creationId xmlns:a16="http://schemas.microsoft.com/office/drawing/2014/main" id="{7DB25FAE-0BF3-FA7D-741E-3ADAEE29B309}"/>
              </a:ext>
            </a:extLst>
          </p:cNvPr>
          <p:cNvGraphicFramePr>
            <a:graphicFrameLocks noChangeAspect="1"/>
          </p:cNvGraphicFramePr>
          <p:nvPr>
            <p:extLst>
              <p:ext uri="{D42A27DB-BD31-4B8C-83A1-F6EECF244321}">
                <p14:modId xmlns:p14="http://schemas.microsoft.com/office/powerpoint/2010/main" val="3731131588"/>
              </p:ext>
            </p:extLst>
          </p:nvPr>
        </p:nvGraphicFramePr>
        <p:xfrm>
          <a:off x="4124230" y="4514747"/>
          <a:ext cx="587375" cy="285750"/>
        </p:xfrm>
        <a:graphic>
          <a:graphicData uri="http://schemas.openxmlformats.org/presentationml/2006/ole">
            <mc:AlternateContent xmlns:mc="http://schemas.openxmlformats.org/markup-compatibility/2006">
              <mc:Choice xmlns:v="urn:schemas-microsoft-com:vml" Requires="v">
                <p:oleObj name="Equation" r:id="rId8" imgW="419040" imgH="203040" progId="Equation.DSMT4">
                  <p:embed/>
                </p:oleObj>
              </mc:Choice>
              <mc:Fallback>
                <p:oleObj name="Equation" r:id="rId8" imgW="419040" imgH="203040" progId="Equation.DSMT4">
                  <p:embed/>
                  <p:pic>
                    <p:nvPicPr>
                      <p:cNvPr id="27" name="Object 26">
                        <a:extLst>
                          <a:ext uri="{FF2B5EF4-FFF2-40B4-BE49-F238E27FC236}">
                            <a16:creationId xmlns:a16="http://schemas.microsoft.com/office/drawing/2014/main" id="{7DB25FAE-0BF3-FA7D-741E-3ADAEE29B309}"/>
                          </a:ext>
                        </a:extLst>
                      </p:cNvPr>
                      <p:cNvPicPr>
                        <a:picLocks noChangeAspect="1" noChangeArrowheads="1"/>
                      </p:cNvPicPr>
                      <p:nvPr/>
                    </p:nvPicPr>
                    <p:blipFill>
                      <a:blip r:embed="rId9"/>
                      <a:srcRect/>
                      <a:stretch>
                        <a:fillRect/>
                      </a:stretch>
                    </p:blipFill>
                    <p:spPr bwMode="auto">
                      <a:xfrm>
                        <a:off x="4124230" y="4514747"/>
                        <a:ext cx="587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Content Placeholder 14">
            <a:extLst>
              <a:ext uri="{FF2B5EF4-FFF2-40B4-BE49-F238E27FC236}">
                <a16:creationId xmlns:a16="http://schemas.microsoft.com/office/drawing/2014/main" id="{62DC30B9-3DB8-2802-F476-A17B44BACA31}"/>
              </a:ext>
            </a:extLst>
          </p:cNvPr>
          <p:cNvSpPr>
            <a:spLocks noGrp="1"/>
          </p:cNvSpPr>
          <p:nvPr>
            <p:ph sz="quarter" idx="20"/>
          </p:nvPr>
        </p:nvSpPr>
        <p:spPr>
          <a:xfrm>
            <a:off x="443379" y="4889725"/>
            <a:ext cx="3238721" cy="313350"/>
          </a:xfrm>
        </p:spPr>
        <p:txBody>
          <a:bodyPr wrap="square" lIns="0" tIns="18000" rIns="0" bIns="18000" anchor="ctr">
            <a:spAutoFit/>
          </a:bodyPr>
          <a:lstStyle/>
          <a:p>
            <a:pPr marL="829818" lvl="1" indent="-342900"/>
            <a:r>
              <a:rPr lang="en-US" sz="1800" spc="-300" noProof="0" dirty="0"/>
              <a:t>K V </a:t>
            </a:r>
            <a:r>
              <a:rPr lang="en-US" sz="1800" noProof="0" dirty="0"/>
              <a:t>L (around a loop):</a:t>
            </a:r>
          </a:p>
        </p:txBody>
      </p:sp>
      <p:graphicFrame>
        <p:nvGraphicFramePr>
          <p:cNvPr id="28" name="Object 27" descr="v subscript 1 baseline plus v subscript 2 baseline plus ellipsis plus v subscript n baseline equals 0.&#10;">
            <a:extLst>
              <a:ext uri="{FF2B5EF4-FFF2-40B4-BE49-F238E27FC236}">
                <a16:creationId xmlns:a16="http://schemas.microsoft.com/office/drawing/2014/main" id="{BADD3570-F020-FAEA-DBD4-484ECEF0D00F}"/>
              </a:ext>
            </a:extLst>
          </p:cNvPr>
          <p:cNvGraphicFramePr>
            <a:graphicFrameLocks noChangeAspect="1"/>
          </p:cNvGraphicFramePr>
          <p:nvPr>
            <p:extLst>
              <p:ext uri="{D42A27DB-BD31-4B8C-83A1-F6EECF244321}">
                <p14:modId xmlns:p14="http://schemas.microsoft.com/office/powerpoint/2010/main" val="3661775117"/>
              </p:ext>
            </p:extLst>
          </p:nvPr>
        </p:nvGraphicFramePr>
        <p:xfrm>
          <a:off x="4097242" y="4900603"/>
          <a:ext cx="1897063" cy="320675"/>
        </p:xfrm>
        <a:graphic>
          <a:graphicData uri="http://schemas.openxmlformats.org/presentationml/2006/ole">
            <mc:AlternateContent xmlns:mc="http://schemas.openxmlformats.org/markup-compatibility/2006">
              <mc:Choice xmlns:v="urn:schemas-microsoft-com:vml" Requires="v">
                <p:oleObj name="Equation" r:id="rId10" imgW="1358640" imgH="228600" progId="Equation.DSMT4">
                  <p:embed/>
                </p:oleObj>
              </mc:Choice>
              <mc:Fallback>
                <p:oleObj name="Equation" r:id="rId10" imgW="1358640" imgH="228600" progId="Equation.DSMT4">
                  <p:embed/>
                  <p:pic>
                    <p:nvPicPr>
                      <p:cNvPr id="28" name="Object 27">
                        <a:extLst>
                          <a:ext uri="{FF2B5EF4-FFF2-40B4-BE49-F238E27FC236}">
                            <a16:creationId xmlns:a16="http://schemas.microsoft.com/office/drawing/2014/main" id="{BADD3570-F020-FAEA-DBD4-484ECEF0D00F}"/>
                          </a:ext>
                        </a:extLst>
                      </p:cNvPr>
                      <p:cNvPicPr>
                        <a:picLocks noChangeAspect="1" noChangeArrowheads="1"/>
                      </p:cNvPicPr>
                      <p:nvPr/>
                    </p:nvPicPr>
                    <p:blipFill>
                      <a:blip r:embed="rId11"/>
                      <a:srcRect/>
                      <a:stretch>
                        <a:fillRect/>
                      </a:stretch>
                    </p:blipFill>
                    <p:spPr bwMode="auto">
                      <a:xfrm>
                        <a:off x="4097242" y="4900603"/>
                        <a:ext cx="18970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Content Placeholder 15">
            <a:extLst>
              <a:ext uri="{FF2B5EF4-FFF2-40B4-BE49-F238E27FC236}">
                <a16:creationId xmlns:a16="http://schemas.microsoft.com/office/drawing/2014/main" id="{842C75F5-1F7A-16F9-4F1F-28A4FF9F9A72}"/>
              </a:ext>
            </a:extLst>
          </p:cNvPr>
          <p:cNvSpPr>
            <a:spLocks noGrp="1"/>
          </p:cNvSpPr>
          <p:nvPr>
            <p:ph sz="quarter" idx="21"/>
          </p:nvPr>
        </p:nvSpPr>
        <p:spPr>
          <a:xfrm>
            <a:off x="440764" y="5304376"/>
            <a:ext cx="2792877" cy="313350"/>
          </a:xfrm>
        </p:spPr>
        <p:txBody>
          <a:bodyPr wrap="square" lIns="0" tIns="18000" rIns="0" bIns="18000" anchor="ctr">
            <a:spAutoFit/>
          </a:bodyPr>
          <a:lstStyle/>
          <a:p>
            <a:pPr marL="829818" lvl="1" indent="-342900"/>
            <a:r>
              <a:rPr lang="en-US" sz="1800" spc="-300" noProof="0" dirty="0"/>
              <a:t>K C </a:t>
            </a:r>
            <a:r>
              <a:rPr lang="en-US" sz="1800" noProof="0" dirty="0"/>
              <a:t>L (at a node):</a:t>
            </a:r>
          </a:p>
        </p:txBody>
      </p:sp>
      <p:graphicFrame>
        <p:nvGraphicFramePr>
          <p:cNvPr id="29" name="Object 28" descr="I subscript 1 baseline plus I subscript 2 baseline plus ellipsis plus I subscript n baseline equals 0.&#10;">
            <a:extLst>
              <a:ext uri="{FF2B5EF4-FFF2-40B4-BE49-F238E27FC236}">
                <a16:creationId xmlns:a16="http://schemas.microsoft.com/office/drawing/2014/main" id="{09716EE0-85E2-5988-280E-728CA3D77E49}"/>
              </a:ext>
            </a:extLst>
          </p:cNvPr>
          <p:cNvGraphicFramePr>
            <a:graphicFrameLocks noChangeAspect="1"/>
          </p:cNvGraphicFramePr>
          <p:nvPr>
            <p:extLst>
              <p:ext uri="{D42A27DB-BD31-4B8C-83A1-F6EECF244321}">
                <p14:modId xmlns:p14="http://schemas.microsoft.com/office/powerpoint/2010/main" val="3232561064"/>
              </p:ext>
            </p:extLst>
          </p:nvPr>
        </p:nvGraphicFramePr>
        <p:xfrm>
          <a:off x="4107704" y="5305323"/>
          <a:ext cx="1949450" cy="334962"/>
        </p:xfrm>
        <a:graphic>
          <a:graphicData uri="http://schemas.openxmlformats.org/presentationml/2006/ole">
            <mc:AlternateContent xmlns:mc="http://schemas.openxmlformats.org/markup-compatibility/2006">
              <mc:Choice xmlns:v="urn:schemas-microsoft-com:vml" Requires="v">
                <p:oleObj name="Equation" r:id="rId12" imgW="1333440" imgH="228600" progId="Equation.DSMT4">
                  <p:embed/>
                </p:oleObj>
              </mc:Choice>
              <mc:Fallback>
                <p:oleObj name="Equation" r:id="rId12" imgW="1333440" imgH="228600" progId="Equation.DSMT4">
                  <p:embed/>
                  <p:pic>
                    <p:nvPicPr>
                      <p:cNvPr id="29" name="Object 28">
                        <a:extLst>
                          <a:ext uri="{FF2B5EF4-FFF2-40B4-BE49-F238E27FC236}">
                            <a16:creationId xmlns:a16="http://schemas.microsoft.com/office/drawing/2014/main" id="{09716EE0-85E2-5988-280E-728CA3D77E49}"/>
                          </a:ext>
                        </a:extLst>
                      </p:cNvPr>
                      <p:cNvPicPr>
                        <a:picLocks noChangeAspect="1" noChangeArrowheads="1"/>
                      </p:cNvPicPr>
                      <p:nvPr/>
                    </p:nvPicPr>
                    <p:blipFill>
                      <a:blip r:embed="rId13"/>
                      <a:srcRect/>
                      <a:stretch>
                        <a:fillRect/>
                      </a:stretch>
                    </p:blipFill>
                    <p:spPr bwMode="auto">
                      <a:xfrm>
                        <a:off x="4107704" y="5305323"/>
                        <a:ext cx="19494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Content Placeholder 16">
            <a:extLst>
              <a:ext uri="{FF2B5EF4-FFF2-40B4-BE49-F238E27FC236}">
                <a16:creationId xmlns:a16="http://schemas.microsoft.com/office/drawing/2014/main" id="{12401441-FD92-F4F7-BE98-19DC7CBBBB17}"/>
              </a:ext>
            </a:extLst>
          </p:cNvPr>
          <p:cNvSpPr>
            <a:spLocks noGrp="1"/>
          </p:cNvSpPr>
          <p:nvPr>
            <p:ph sz="quarter" idx="22"/>
          </p:nvPr>
        </p:nvSpPr>
        <p:spPr>
          <a:xfrm>
            <a:off x="440765" y="5729530"/>
            <a:ext cx="8156389" cy="590349"/>
          </a:xfrm>
        </p:spPr>
        <p:txBody>
          <a:bodyPr wrap="square" lIns="0" tIns="18000" rIns="0" bIns="18000" anchor="ctr">
            <a:spAutoFit/>
          </a:bodyPr>
          <a:lstStyle/>
          <a:p>
            <a:pPr marL="772668" lvl="1" indent="-285750">
              <a:defRPr/>
            </a:pPr>
            <a:r>
              <a:rPr lang="en-US" sz="1800" noProof="0" dirty="0"/>
              <a:t>These three laws mean we can use all time-domain circuit analysis techniques in the phasor domain!</a:t>
            </a:r>
          </a:p>
        </p:txBody>
      </p:sp>
    </p:spTree>
    <p:extLst>
      <p:ext uri="{BB962C8B-B14F-4D97-AF65-F5344CB8AC3E}">
        <p14:creationId xmlns:p14="http://schemas.microsoft.com/office/powerpoint/2010/main" val="26178676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a:t>
            </a:r>
            <a:r>
              <a:rPr lang="en-US" altLang="en-US" b="1" noProof="0">
                <a:latin typeface="Arial" panose="020B0604020202020204" pitchFamily="34" charset="0"/>
                <a:cs typeface="Arial" panose="020B0604020202020204" pitchFamily="34" charset="0"/>
              </a:rPr>
              <a:t>United Kingdom </a:t>
            </a:r>
            <a:r>
              <a:rPr lang="en-US" altLang="en-US" b="1" noProof="0" dirty="0">
                <a:latin typeface="Arial" panose="020B0604020202020204" pitchFamily="34" charset="0"/>
                <a:cs typeface="Arial" panose="020B0604020202020204" pitchFamily="34" charset="0"/>
              </a:rPr>
              <a:t>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3.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4.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5.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6.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7.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8.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9.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0.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1.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2.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3.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4.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5.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6.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7.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8.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9.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0.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1.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22.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3.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4.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5.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26.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7.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1069</TotalTime>
  <Words>2054</Words>
  <Application>Microsoft Office PowerPoint</Application>
  <PresentationFormat>On-screen Show (4:3)</PresentationFormat>
  <Paragraphs>221</Paragraphs>
  <Slides>35</Slides>
  <Notes>7</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35</vt:i4>
      </vt:variant>
    </vt:vector>
  </HeadingPairs>
  <TitlesOfParts>
    <vt:vector size="42" baseType="lpstr">
      <vt:lpstr>Verdana</vt:lpstr>
      <vt:lpstr>Symbol</vt:lpstr>
      <vt:lpstr>Times New Roman</vt:lpstr>
      <vt:lpstr>Arial</vt:lpstr>
      <vt:lpstr>USHE</vt:lpstr>
      <vt:lpstr>USHE_slide options</vt:lpstr>
      <vt:lpstr>Equation</vt:lpstr>
      <vt:lpstr>Electric Circuits</vt:lpstr>
      <vt:lpstr>Chapter 9 – Sinusoidal Steady-State Analysis (1 of 24)</vt:lpstr>
      <vt:lpstr>Chapter 9 – Sinusoidal Steady-State Analysis (2 of 24)</vt:lpstr>
      <vt:lpstr>Chapter 9 – Sinusoidal Steady-State Analysis (3 of 24)</vt:lpstr>
      <vt:lpstr>Chapter 9 – Sinusoidal Steady-State Analysis (3 of 24)</vt:lpstr>
      <vt:lpstr>Chapter 9 – Sinusoidal Steady-State Analysis (4 of 24)</vt:lpstr>
      <vt:lpstr>Chapter 9 – Sinusoidal Steady-State Analysis (4 of 24)</vt:lpstr>
      <vt:lpstr>Chapter 9 – Sinusoidal Steady-State Analysis (5 of 24)</vt:lpstr>
      <vt:lpstr>Chapter 9 – Sinusoidal Steady-State Analysis (5 of 24)</vt:lpstr>
      <vt:lpstr>Chapter 9 – Sinusoidal Steady-State Analysis (6 of 24)</vt:lpstr>
      <vt:lpstr>Chapter 9 – Sinusoidal Steady-State Analysis (7 of 24)</vt:lpstr>
      <vt:lpstr>Chapter 9 – Sinusoidal Steady-State Analysis (8 of 24)</vt:lpstr>
      <vt:lpstr>Chapter 9 – Sinusoidal Steady-State Analysis (8 of 24)</vt:lpstr>
      <vt:lpstr>Chapter 9 – Sinusoidal Steady-State Analysis (9 of 24)</vt:lpstr>
      <vt:lpstr>Chapter 9 – Sinusoidal Steady-State Analysis (10 of 24)</vt:lpstr>
      <vt:lpstr>Chapter 9 – Sinusoidal Steady-State Analysis (11 of 24)</vt:lpstr>
      <vt:lpstr>Chapter 9 – Sinusoidal Steady-State Analysis (12 of 24)</vt:lpstr>
      <vt:lpstr>Chapter 9 – Sinusoidal Steady-State Analysis (13 of 24)</vt:lpstr>
      <vt:lpstr>Chapter 9 – Sinusoidal Steady-State Analysis (13 of 24)</vt:lpstr>
      <vt:lpstr>Chapter 9 – Sinusoidal Steady-State Analysis (14 of 24)</vt:lpstr>
      <vt:lpstr>Chapter 9 – Sinusoidal Steady-State Analysis (15 of 24)</vt:lpstr>
      <vt:lpstr>Chapter 9 – Sinusoidal Steady-State Analysis (16 of 24)</vt:lpstr>
      <vt:lpstr>Chapter 9 – Sinusoidal Steady-State Analysis (17 of 24)</vt:lpstr>
      <vt:lpstr>Chapter 9 – Sinusoidal Steady-State Analysis (18 of 24)</vt:lpstr>
      <vt:lpstr>Chapter 9 – Sinusoidal Steady-State Analysis (19 of 24)</vt:lpstr>
      <vt:lpstr>Chapter 9 – Sinusoidal Steady-State Analysis (19 of 24)</vt:lpstr>
      <vt:lpstr>Chapter 9 – Sinusoidal Steady-State Analysis (20 of 24)</vt:lpstr>
      <vt:lpstr>Chapter 9 – Sinusoidal Steady-State Analysis (20 of 24)</vt:lpstr>
      <vt:lpstr>Chapter 9 – Sinusoidal Steady-State Analysis (21 of 24)</vt:lpstr>
      <vt:lpstr>Chapter 9 – Sinusoidal Steady-State Analysis (21 of 24)</vt:lpstr>
      <vt:lpstr>Chapter 9 – Sinusoidal Steady-State Analysis (22 of 24)</vt:lpstr>
      <vt:lpstr>Chapter 9 – Sinusoidal Steady-State Analysis (22 of 24)</vt:lpstr>
      <vt:lpstr>Chapter 9 – Sinusoidal Steady-State Analysis (23 of 24)</vt:lpstr>
      <vt:lpstr>Chapter 9 – Sinusoidal Steady-State Analysis (24 of 24)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9 – Part 1</dc:title>
  <dc:subject>Engineering</dc:subject>
  <dc:creator>Nilsson and Riedel</dc:creator>
  <cp:keywords/>
  <dc:description/>
  <cp:lastModifiedBy>kml erd</cp:lastModifiedBy>
  <cp:revision>162</cp:revision>
  <dcterms:modified xsi:type="dcterms:W3CDTF">2025-12-23T11:59:10Z</dcterms:modified>
</cp:coreProperties>
</file>