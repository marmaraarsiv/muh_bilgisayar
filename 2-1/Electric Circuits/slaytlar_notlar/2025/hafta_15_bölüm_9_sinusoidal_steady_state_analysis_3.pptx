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31"/>
  </p:notesMasterIdLst>
  <p:handoutMasterIdLst>
    <p:handoutMasterId r:id="rId32"/>
  </p:handoutMasterIdLst>
  <p:sldIdLst>
    <p:sldId id="330" r:id="rId3"/>
    <p:sldId id="718" r:id="rId4"/>
    <p:sldId id="720" r:id="rId5"/>
    <p:sldId id="746" r:id="rId6"/>
    <p:sldId id="721" r:id="rId7"/>
    <p:sldId id="747" r:id="rId8"/>
    <p:sldId id="723" r:id="rId9"/>
    <p:sldId id="724" r:id="rId10"/>
    <p:sldId id="729" r:id="rId11"/>
    <p:sldId id="725" r:id="rId12"/>
    <p:sldId id="726" r:id="rId13"/>
    <p:sldId id="727" r:id="rId14"/>
    <p:sldId id="730" r:id="rId15"/>
    <p:sldId id="731" r:id="rId16"/>
    <p:sldId id="737" r:id="rId17"/>
    <p:sldId id="732" r:id="rId18"/>
    <p:sldId id="733" r:id="rId19"/>
    <p:sldId id="738" r:id="rId20"/>
    <p:sldId id="734" r:id="rId21"/>
    <p:sldId id="735" r:id="rId22"/>
    <p:sldId id="739" r:id="rId23"/>
    <p:sldId id="740" r:id="rId24"/>
    <p:sldId id="745" r:id="rId25"/>
    <p:sldId id="741" r:id="rId26"/>
    <p:sldId id="742" r:id="rId27"/>
    <p:sldId id="743" r:id="rId28"/>
    <p:sldId id="744" r:id="rId29"/>
    <p:sldId id="717" r:id="rId30"/>
  </p:sldIdLst>
  <p:sldSz cx="9144000" cy="6858000" type="screen4x3"/>
  <p:notesSz cx="6858000" cy="9144000"/>
  <p:embeddedFontLst>
    <p:embeddedFont>
      <p:font typeface="Verdana" panose="020B060403050404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777" userDrawn="1">
          <p15:clr>
            <a:srgbClr val="A4A3A4"/>
          </p15:clr>
        </p15:guide>
        <p15:guide id="4" pos="2880" userDrawn="1">
          <p15:clr>
            <a:srgbClr val="A4A3A4"/>
          </p15:clr>
        </p15:guide>
        <p15:guide id="5" pos="5462" userDrawn="1">
          <p15:clr>
            <a:srgbClr val="A4A3A4"/>
          </p15:clr>
        </p15:guide>
        <p15:guide id="6" orient="horz" pos="4042" userDrawn="1">
          <p15:clr>
            <a:srgbClr val="A4A3A4"/>
          </p15:clr>
        </p15:guide>
        <p15:guide id="7" orient="horz" pos="1139" userDrawn="1">
          <p15:clr>
            <a:srgbClr val="A4A3A4"/>
          </p15:clr>
        </p15:guide>
        <p15:guide id="8" orient="horz" pos="145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80" autoAdjust="0"/>
    <p:restoredTop sz="95407" autoAdjust="0"/>
  </p:normalViewPr>
  <p:slideViewPr>
    <p:cSldViewPr snapToGrid="0" snapToObjects="1">
      <p:cViewPr varScale="1">
        <p:scale>
          <a:sx n="72" d="100"/>
          <a:sy n="72" d="100"/>
        </p:scale>
        <p:origin x="1428" y="78"/>
      </p:cViewPr>
      <p:guideLst>
        <p:guide orient="horz" pos="427"/>
        <p:guide pos="264"/>
        <p:guide orient="horz" pos="777"/>
        <p:guide pos="2880"/>
        <p:guide pos="5462"/>
        <p:guide orient="horz" pos="4042"/>
        <p:guide orient="horz" pos="1139"/>
        <p:guide orient="horz" pos="1457"/>
      </p:guideLst>
    </p:cSldViewPr>
  </p:slideViewPr>
  <p:outlineViewPr>
    <p:cViewPr>
      <p:scale>
        <a:sx n="33" d="100"/>
        <a:sy n="33" d="100"/>
      </p:scale>
      <p:origin x="0" y="-169574"/>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font" Target="fonts/font2.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4.wmf"/><Relationship Id="rId1" Type="http://schemas.openxmlformats.org/officeDocument/2006/relationships/image" Target="../media/image3.w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4.wmf"/><Relationship Id="rId1" Type="http://schemas.openxmlformats.org/officeDocument/2006/relationships/image" Target="../media/image3.wmf"/><Relationship Id="rId5" Type="http://schemas.openxmlformats.org/officeDocument/2006/relationships/image" Target="../media/image17.wmf"/><Relationship Id="rId4"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4.wmf"/><Relationship Id="rId1" Type="http://schemas.openxmlformats.org/officeDocument/2006/relationships/image" Target="../media/image3.wmf"/><Relationship Id="rId4"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5" Type="http://schemas.openxmlformats.org/officeDocument/2006/relationships/image" Target="../media/image46.wmf"/><Relationship Id="rId4"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9.wmf"/><Relationship Id="rId5" Type="http://schemas.openxmlformats.org/officeDocument/2006/relationships/image" Target="../media/image51.wmf"/><Relationship Id="rId4"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54.wmf"/><Relationship Id="rId1" Type="http://schemas.openxmlformats.org/officeDocument/2006/relationships/image" Target="../media/image49.wmf"/><Relationship Id="rId5" Type="http://schemas.openxmlformats.org/officeDocument/2006/relationships/image" Target="../media/image56.wmf"/><Relationship Id="rId4" Type="http://schemas.openxmlformats.org/officeDocument/2006/relationships/image" Target="../media/image5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59.wmf"/><Relationship Id="rId1" Type="http://schemas.openxmlformats.org/officeDocument/2006/relationships/image" Target="../media/image49.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59.wmf"/><Relationship Id="rId1" Type="http://schemas.openxmlformats.org/officeDocument/2006/relationships/image" Target="../media/image49.wmf"/><Relationship Id="rId5" Type="http://schemas.openxmlformats.org/officeDocument/2006/relationships/image" Target="../media/image66.wmf"/><Relationship Id="rId4" Type="http://schemas.openxmlformats.org/officeDocument/2006/relationships/image" Target="../media/image6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 Id="rId4" Type="http://schemas.openxmlformats.org/officeDocument/2006/relationships/image" Target="../media/image7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6.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76.wmf"/><Relationship Id="rId5" Type="http://schemas.openxmlformats.org/officeDocument/2006/relationships/image" Target="../media/image88.wmf"/><Relationship Id="rId4" Type="http://schemas.openxmlformats.org/officeDocument/2006/relationships/image" Target="../media/image8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2/23/2024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28</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2/23/2024</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555193" y="6455210"/>
            <a:ext cx="6114695"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oleObject" Target="../embeddings/oleObject1.bin"/><Relationship Id="rId7" Type="http://schemas.openxmlformats.org/officeDocument/2006/relationships/image" Target="../media/image7.jpg"/><Relationship Id="rId12" Type="http://schemas.openxmlformats.org/officeDocument/2006/relationships/image" Target="../media/image8.jpg"/><Relationship Id="rId2" Type="http://schemas.openxmlformats.org/officeDocument/2006/relationships/slideLayout" Target="../slideLayouts/slideLayout8.xml"/><Relationship Id="rId1" Type="http://schemas.openxmlformats.org/officeDocument/2006/relationships/vmlDrawing" Target="../drawings/vmlDrawing1.vml"/><Relationship Id="rId6" Type="http://schemas.openxmlformats.org/officeDocument/2006/relationships/image" Target="../media/image4.wmf"/><Relationship Id="rId11" Type="http://schemas.openxmlformats.org/officeDocument/2006/relationships/image" Target="../media/image6.wmf"/><Relationship Id="rId5" Type="http://schemas.openxmlformats.org/officeDocument/2006/relationships/oleObject" Target="../embeddings/oleObject2.bin"/><Relationship Id="rId10" Type="http://schemas.openxmlformats.org/officeDocument/2006/relationships/oleObject" Target="../embeddings/oleObject4.bin"/><Relationship Id="rId4" Type="http://schemas.openxmlformats.org/officeDocument/2006/relationships/image" Target="../media/image3.wmf"/><Relationship Id="rId9" Type="http://schemas.openxmlformats.org/officeDocument/2006/relationships/image" Target="../media/image5.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oleObject" Target="../embeddings/oleObject5.bin"/><Relationship Id="rId7" Type="http://schemas.openxmlformats.org/officeDocument/2006/relationships/image" Target="../media/image11.jpg"/><Relationship Id="rId12" Type="http://schemas.openxmlformats.org/officeDocument/2006/relationships/image" Target="../media/image12.jpg"/><Relationship Id="rId2" Type="http://schemas.openxmlformats.org/officeDocument/2006/relationships/slideLayout" Target="../slideLayouts/slideLayout8.xml"/><Relationship Id="rId1" Type="http://schemas.openxmlformats.org/officeDocument/2006/relationships/vmlDrawing" Target="../drawings/vmlDrawing2.vml"/><Relationship Id="rId6" Type="http://schemas.openxmlformats.org/officeDocument/2006/relationships/image" Target="../media/image4.wmf"/><Relationship Id="rId11" Type="http://schemas.openxmlformats.org/officeDocument/2006/relationships/image" Target="../media/image10.wmf"/><Relationship Id="rId5" Type="http://schemas.openxmlformats.org/officeDocument/2006/relationships/oleObject" Target="../embeddings/oleObject6.bin"/><Relationship Id="rId10" Type="http://schemas.openxmlformats.org/officeDocument/2006/relationships/oleObject" Target="../embeddings/oleObject8.bin"/><Relationship Id="rId4" Type="http://schemas.openxmlformats.org/officeDocument/2006/relationships/image" Target="../media/image3.wmf"/><Relationship Id="rId9" Type="http://schemas.openxmlformats.org/officeDocument/2006/relationships/image" Target="../media/image9.wmf"/></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9.jpg"/><Relationship Id="rId13" Type="http://schemas.openxmlformats.org/officeDocument/2006/relationships/oleObject" Target="../embeddings/oleObject13.bin"/><Relationship Id="rId3" Type="http://schemas.openxmlformats.org/officeDocument/2006/relationships/oleObject" Target="../embeddings/oleObject9.bin"/><Relationship Id="rId7" Type="http://schemas.openxmlformats.org/officeDocument/2006/relationships/image" Target="../media/image18.jpg"/><Relationship Id="rId12" Type="http://schemas.openxmlformats.org/officeDocument/2006/relationships/image" Target="../media/image16.wmf"/><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image" Target="../media/image4.wmf"/><Relationship Id="rId11" Type="http://schemas.openxmlformats.org/officeDocument/2006/relationships/oleObject" Target="../embeddings/oleObject12.bin"/><Relationship Id="rId5" Type="http://schemas.openxmlformats.org/officeDocument/2006/relationships/oleObject" Target="../embeddings/oleObject10.bin"/><Relationship Id="rId10" Type="http://schemas.openxmlformats.org/officeDocument/2006/relationships/image" Target="../media/image15.wmf"/><Relationship Id="rId4" Type="http://schemas.openxmlformats.org/officeDocument/2006/relationships/image" Target="../media/image3.wmf"/><Relationship Id="rId9" Type="http://schemas.openxmlformats.org/officeDocument/2006/relationships/oleObject" Target="../embeddings/oleObject11.bin"/><Relationship Id="rId14" Type="http://schemas.openxmlformats.org/officeDocument/2006/relationships/image" Target="../media/image17.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8.xml"/><Relationship Id="rId1" Type="http://schemas.openxmlformats.org/officeDocument/2006/relationships/vmlDrawing" Target="../drawings/vmlDrawing4.vml"/><Relationship Id="rId6" Type="http://schemas.openxmlformats.org/officeDocument/2006/relationships/image" Target="../media/image13.png"/><Relationship Id="rId5" Type="http://schemas.openxmlformats.org/officeDocument/2006/relationships/image" Target="../media/image14.png"/><Relationship Id="rId4" Type="http://schemas.openxmlformats.org/officeDocument/2006/relationships/image" Target="../media/image20.wmf"/></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3.png"/><Relationship Id="rId7" Type="http://schemas.openxmlformats.org/officeDocument/2006/relationships/image" Target="../media/image22.wmf"/><Relationship Id="rId2" Type="http://schemas.openxmlformats.org/officeDocument/2006/relationships/slideLayout" Target="../slideLayouts/slideLayout8.xml"/><Relationship Id="rId1" Type="http://schemas.openxmlformats.org/officeDocument/2006/relationships/vmlDrawing" Target="../drawings/vmlDrawing5.vml"/><Relationship Id="rId6" Type="http://schemas.openxmlformats.org/officeDocument/2006/relationships/oleObject" Target="../embeddings/oleObject16.bin"/><Relationship Id="rId5" Type="http://schemas.openxmlformats.org/officeDocument/2006/relationships/image" Target="../media/image21.wmf"/><Relationship Id="rId10" Type="http://schemas.openxmlformats.org/officeDocument/2006/relationships/image" Target="../media/image23.wmf"/><Relationship Id="rId4" Type="http://schemas.openxmlformats.org/officeDocument/2006/relationships/oleObject" Target="../embeddings/oleObject15.bin"/><Relationship Id="rId9" Type="http://schemas.openxmlformats.org/officeDocument/2006/relationships/oleObject" Target="../embeddings/oleObject17.bin"/></Relationships>
</file>

<file path=ppt/slides/_rels/slide9.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oleObject" Target="../embeddings/oleObject18.bin"/><Relationship Id="rId7" Type="http://schemas.openxmlformats.org/officeDocument/2006/relationships/image" Target="../media/image26.jpg"/><Relationship Id="rId12" Type="http://schemas.openxmlformats.org/officeDocument/2006/relationships/image" Target="../media/image25.wmf"/><Relationship Id="rId2" Type="http://schemas.openxmlformats.org/officeDocument/2006/relationships/slideLayout" Target="../slideLayouts/slideLayout8.xml"/><Relationship Id="rId1" Type="http://schemas.openxmlformats.org/officeDocument/2006/relationships/vmlDrawing" Target="../drawings/vmlDrawing6.vml"/><Relationship Id="rId6" Type="http://schemas.openxmlformats.org/officeDocument/2006/relationships/image" Target="../media/image4.wmf"/><Relationship Id="rId11" Type="http://schemas.openxmlformats.org/officeDocument/2006/relationships/oleObject" Target="../embeddings/oleObject21.bin"/><Relationship Id="rId5" Type="http://schemas.openxmlformats.org/officeDocument/2006/relationships/oleObject" Target="../embeddings/oleObject19.bin"/><Relationship Id="rId10" Type="http://schemas.openxmlformats.org/officeDocument/2006/relationships/image" Target="../media/image24.wmf"/><Relationship Id="rId4" Type="http://schemas.openxmlformats.org/officeDocument/2006/relationships/image" Target="../media/image3.wmf"/><Relationship Id="rId9" Type="http://schemas.openxmlformats.org/officeDocument/2006/relationships/oleObject" Target="../embeddings/oleObject20.bin"/></Relationships>
</file>

<file path=ppt/slides/_rels/slide1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9.jpg"/><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34.wmf"/><Relationship Id="rId3" Type="http://schemas.openxmlformats.org/officeDocument/2006/relationships/image" Target="../media/image36.jpg"/><Relationship Id="rId7" Type="http://schemas.openxmlformats.org/officeDocument/2006/relationships/image" Target="../media/image31.wmf"/><Relationship Id="rId12" Type="http://schemas.openxmlformats.org/officeDocument/2006/relationships/oleObject" Target="../embeddings/oleObject26.bin"/><Relationship Id="rId2" Type="http://schemas.openxmlformats.org/officeDocument/2006/relationships/slideLayout" Target="../slideLayouts/slideLayout8.xml"/><Relationship Id="rId1" Type="http://schemas.openxmlformats.org/officeDocument/2006/relationships/vmlDrawing" Target="../drawings/vmlDrawing7.vml"/><Relationship Id="rId6" Type="http://schemas.openxmlformats.org/officeDocument/2006/relationships/oleObject" Target="../embeddings/oleObject23.bin"/><Relationship Id="rId11" Type="http://schemas.openxmlformats.org/officeDocument/2006/relationships/image" Target="../media/image33.wmf"/><Relationship Id="rId5" Type="http://schemas.openxmlformats.org/officeDocument/2006/relationships/image" Target="../media/image30.wmf"/><Relationship Id="rId15" Type="http://schemas.openxmlformats.org/officeDocument/2006/relationships/image" Target="../media/image35.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32.wmf"/><Relationship Id="rId14" Type="http://schemas.openxmlformats.org/officeDocument/2006/relationships/oleObject" Target="../embeddings/oleObject27.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40.jpg"/><Relationship Id="rId7" Type="http://schemas.openxmlformats.org/officeDocument/2006/relationships/image" Target="../media/image38.wmf"/><Relationship Id="rId2" Type="http://schemas.openxmlformats.org/officeDocument/2006/relationships/slideLayout" Target="../slideLayouts/slideLayout8.xml"/><Relationship Id="rId1" Type="http://schemas.openxmlformats.org/officeDocument/2006/relationships/vmlDrawing" Target="../drawings/vmlDrawing8.vml"/><Relationship Id="rId6" Type="http://schemas.openxmlformats.org/officeDocument/2006/relationships/oleObject" Target="../embeddings/oleObject29.bin"/><Relationship Id="rId5" Type="http://schemas.openxmlformats.org/officeDocument/2006/relationships/image" Target="../media/image37.wmf"/><Relationship Id="rId4" Type="http://schemas.openxmlformats.org/officeDocument/2006/relationships/oleObject" Target="../embeddings/oleObject28.bin"/><Relationship Id="rId9" Type="http://schemas.openxmlformats.org/officeDocument/2006/relationships/image" Target="../media/image39.wmf"/></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image" Target="../media/image46.w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oleObject" Target="../embeddings/oleObject35.bin"/><Relationship Id="rId2" Type="http://schemas.openxmlformats.org/officeDocument/2006/relationships/slideLayout" Target="../slideLayouts/slideLayout8.xml"/><Relationship Id="rId1" Type="http://schemas.openxmlformats.org/officeDocument/2006/relationships/vmlDrawing" Target="../drawings/vmlDrawing9.vml"/><Relationship Id="rId6" Type="http://schemas.openxmlformats.org/officeDocument/2006/relationships/image" Target="../media/image43.wmf"/><Relationship Id="rId11" Type="http://schemas.openxmlformats.org/officeDocument/2006/relationships/image" Target="../media/image45.wmf"/><Relationship Id="rId5" Type="http://schemas.openxmlformats.org/officeDocument/2006/relationships/oleObject" Target="../embeddings/oleObject32.bin"/><Relationship Id="rId10" Type="http://schemas.openxmlformats.org/officeDocument/2006/relationships/oleObject" Target="../embeddings/oleObject34.bin"/><Relationship Id="rId4" Type="http://schemas.openxmlformats.org/officeDocument/2006/relationships/image" Target="../media/image42.wmf"/><Relationship Id="rId9" Type="http://schemas.openxmlformats.org/officeDocument/2006/relationships/image" Target="../media/image47.jpg"/><Relationship Id="rId14" Type="http://schemas.openxmlformats.org/officeDocument/2006/relationships/image" Target="../media/image48.jpg"/></Relationships>
</file>

<file path=ppt/slides/_rels/slide18.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image" Target="../media/image51.wmf"/><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oleObject" Target="../embeddings/oleObject40.bin"/><Relationship Id="rId2" Type="http://schemas.openxmlformats.org/officeDocument/2006/relationships/slideLayout" Target="../slideLayouts/slideLayout8.xml"/><Relationship Id="rId1" Type="http://schemas.openxmlformats.org/officeDocument/2006/relationships/vmlDrawing" Target="../drawings/vmlDrawing10.vml"/><Relationship Id="rId6" Type="http://schemas.openxmlformats.org/officeDocument/2006/relationships/image" Target="../media/image43.wmf"/><Relationship Id="rId11" Type="http://schemas.openxmlformats.org/officeDocument/2006/relationships/image" Target="../media/image50.wmf"/><Relationship Id="rId5" Type="http://schemas.openxmlformats.org/officeDocument/2006/relationships/oleObject" Target="../embeddings/oleObject37.bin"/><Relationship Id="rId10" Type="http://schemas.openxmlformats.org/officeDocument/2006/relationships/oleObject" Target="../embeddings/oleObject39.bin"/><Relationship Id="rId4" Type="http://schemas.openxmlformats.org/officeDocument/2006/relationships/image" Target="../media/image49.wmf"/><Relationship Id="rId9" Type="http://schemas.openxmlformats.org/officeDocument/2006/relationships/image" Target="../media/image52.jpg"/><Relationship Id="rId14" Type="http://schemas.openxmlformats.org/officeDocument/2006/relationships/image" Target="../media/image53.jp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image" Target="../media/image56.wmf"/><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oleObject" Target="../embeddings/oleObject43.bin"/><Relationship Id="rId2" Type="http://schemas.openxmlformats.org/officeDocument/2006/relationships/slideLayout" Target="../slideLayouts/slideLayout8.xml"/><Relationship Id="rId1" Type="http://schemas.openxmlformats.org/officeDocument/2006/relationships/vmlDrawing" Target="../drawings/vmlDrawing11.vml"/><Relationship Id="rId6" Type="http://schemas.openxmlformats.org/officeDocument/2006/relationships/image" Target="../media/image54.wmf"/><Relationship Id="rId11" Type="http://schemas.openxmlformats.org/officeDocument/2006/relationships/image" Target="../media/image55.wmf"/><Relationship Id="rId5" Type="http://schemas.openxmlformats.org/officeDocument/2006/relationships/oleObject" Target="../embeddings/oleObject41.bin"/><Relationship Id="rId10" Type="http://schemas.openxmlformats.org/officeDocument/2006/relationships/oleObject" Target="../embeddings/oleObject42.bin"/><Relationship Id="rId4" Type="http://schemas.openxmlformats.org/officeDocument/2006/relationships/image" Target="../media/image49.wmf"/><Relationship Id="rId9" Type="http://schemas.openxmlformats.org/officeDocument/2006/relationships/image" Target="../media/image57.jpg"/><Relationship Id="rId14" Type="http://schemas.openxmlformats.org/officeDocument/2006/relationships/image" Target="../media/image58.jpg"/></Relationships>
</file>

<file path=ppt/slides/_rels/slide21.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image" Target="../media/image61.wmf"/><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oleObject" Target="../embeddings/oleObject48.bin"/><Relationship Id="rId2" Type="http://schemas.openxmlformats.org/officeDocument/2006/relationships/slideLayout" Target="../slideLayouts/slideLayout8.xml"/><Relationship Id="rId16" Type="http://schemas.openxmlformats.org/officeDocument/2006/relationships/image" Target="../media/image64.jpg"/><Relationship Id="rId1" Type="http://schemas.openxmlformats.org/officeDocument/2006/relationships/vmlDrawing" Target="../drawings/vmlDrawing12.vml"/><Relationship Id="rId6" Type="http://schemas.openxmlformats.org/officeDocument/2006/relationships/image" Target="../media/image59.wmf"/><Relationship Id="rId11" Type="http://schemas.openxmlformats.org/officeDocument/2006/relationships/image" Target="../media/image60.wmf"/><Relationship Id="rId5" Type="http://schemas.openxmlformats.org/officeDocument/2006/relationships/oleObject" Target="../embeddings/oleObject45.bin"/><Relationship Id="rId15" Type="http://schemas.openxmlformats.org/officeDocument/2006/relationships/image" Target="../media/image62.wmf"/><Relationship Id="rId10" Type="http://schemas.openxmlformats.org/officeDocument/2006/relationships/oleObject" Target="../embeddings/oleObject47.bin"/><Relationship Id="rId4" Type="http://schemas.openxmlformats.org/officeDocument/2006/relationships/image" Target="../media/image49.wmf"/><Relationship Id="rId9" Type="http://schemas.openxmlformats.org/officeDocument/2006/relationships/image" Target="../media/image63.jpg"/><Relationship Id="rId14" Type="http://schemas.openxmlformats.org/officeDocument/2006/relationships/oleObject" Target="../embeddings/oleObject49.bin"/></Relationships>
</file>

<file path=ppt/slides/_rels/slide22.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image" Target="../media/image66.wmf"/><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oleObject" Target="../embeddings/oleObject54.bin"/><Relationship Id="rId2" Type="http://schemas.openxmlformats.org/officeDocument/2006/relationships/slideLayout" Target="../slideLayouts/slideLayout8.xml"/><Relationship Id="rId1" Type="http://schemas.openxmlformats.org/officeDocument/2006/relationships/vmlDrawing" Target="../drawings/vmlDrawing13.vml"/><Relationship Id="rId6" Type="http://schemas.openxmlformats.org/officeDocument/2006/relationships/image" Target="../media/image59.wmf"/><Relationship Id="rId11" Type="http://schemas.openxmlformats.org/officeDocument/2006/relationships/image" Target="../media/image65.wmf"/><Relationship Id="rId5" Type="http://schemas.openxmlformats.org/officeDocument/2006/relationships/oleObject" Target="../embeddings/oleObject51.bin"/><Relationship Id="rId10" Type="http://schemas.openxmlformats.org/officeDocument/2006/relationships/oleObject" Target="../embeddings/oleObject53.bin"/><Relationship Id="rId4" Type="http://schemas.openxmlformats.org/officeDocument/2006/relationships/image" Target="../media/image49.wmf"/><Relationship Id="rId9" Type="http://schemas.openxmlformats.org/officeDocument/2006/relationships/image" Target="../media/image67.jpg"/></Relationships>
</file>

<file path=ppt/slides/_rels/slide23.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52.bin"/><Relationship Id="rId7" Type="http://schemas.openxmlformats.org/officeDocument/2006/relationships/oleObject" Target="../embeddings/oleObject56.bin"/><Relationship Id="rId2" Type="http://schemas.openxmlformats.org/officeDocument/2006/relationships/slideLayout" Target="../slideLayouts/slideLayout8.xml"/><Relationship Id="rId1" Type="http://schemas.openxmlformats.org/officeDocument/2006/relationships/vmlDrawing" Target="../drawings/vmlDrawing14.vml"/><Relationship Id="rId6" Type="http://schemas.openxmlformats.org/officeDocument/2006/relationships/image" Target="../media/image68.wmf"/><Relationship Id="rId5" Type="http://schemas.openxmlformats.org/officeDocument/2006/relationships/oleObject" Target="../embeddings/oleObject55.bin"/><Relationship Id="rId4" Type="http://schemas.openxmlformats.org/officeDocument/2006/relationships/image" Target="../media/image44.wmf"/><Relationship Id="rId9" Type="http://schemas.openxmlformats.org/officeDocument/2006/relationships/image" Target="../media/image70.png"/></Relationships>
</file>

<file path=ppt/slides/_rels/slide2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4.png"/><Relationship Id="rId3" Type="http://schemas.openxmlformats.org/officeDocument/2006/relationships/oleObject" Target="../embeddings/oleObject57.bin"/><Relationship Id="rId7" Type="http://schemas.openxmlformats.org/officeDocument/2006/relationships/image" Target="../media/image75.png"/><Relationship Id="rId12" Type="http://schemas.openxmlformats.org/officeDocument/2006/relationships/image" Target="../media/image74.wmf"/><Relationship Id="rId2" Type="http://schemas.openxmlformats.org/officeDocument/2006/relationships/slideLayout" Target="../slideLayouts/slideLayout8.xml"/><Relationship Id="rId1" Type="http://schemas.openxmlformats.org/officeDocument/2006/relationships/vmlDrawing" Target="../drawings/vmlDrawing15.vml"/><Relationship Id="rId6" Type="http://schemas.openxmlformats.org/officeDocument/2006/relationships/image" Target="../media/image72.wmf"/><Relationship Id="rId11" Type="http://schemas.openxmlformats.org/officeDocument/2006/relationships/oleObject" Target="../embeddings/oleObject60.bin"/><Relationship Id="rId5" Type="http://schemas.openxmlformats.org/officeDocument/2006/relationships/oleObject" Target="../embeddings/oleObject58.bin"/><Relationship Id="rId10" Type="http://schemas.openxmlformats.org/officeDocument/2006/relationships/image" Target="../media/image73.wmf"/><Relationship Id="rId4" Type="http://schemas.openxmlformats.org/officeDocument/2006/relationships/image" Target="../media/image71.wmf"/><Relationship Id="rId9" Type="http://schemas.openxmlformats.org/officeDocument/2006/relationships/oleObject" Target="../embeddings/oleObject59.bin"/></Relationships>
</file>

<file path=ppt/slides/_rels/slide25.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61.bin"/><Relationship Id="rId7" Type="http://schemas.openxmlformats.org/officeDocument/2006/relationships/oleObject" Target="../embeddings/oleObject63.bin"/><Relationship Id="rId2" Type="http://schemas.openxmlformats.org/officeDocument/2006/relationships/slideLayout" Target="../slideLayouts/slideLayout8.xml"/><Relationship Id="rId1" Type="http://schemas.openxmlformats.org/officeDocument/2006/relationships/vmlDrawing" Target="../drawings/vmlDrawing16.vml"/><Relationship Id="rId6" Type="http://schemas.openxmlformats.org/officeDocument/2006/relationships/image" Target="../media/image77.wmf"/><Relationship Id="rId5" Type="http://schemas.openxmlformats.org/officeDocument/2006/relationships/oleObject" Target="../embeddings/oleObject62.bin"/><Relationship Id="rId4" Type="http://schemas.openxmlformats.org/officeDocument/2006/relationships/image" Target="../media/image76.wmf"/><Relationship Id="rId9" Type="http://schemas.openxmlformats.org/officeDocument/2006/relationships/image" Target="../media/image70.png"/></Relationships>
</file>

<file path=ppt/slides/_rels/slide26.xml.rels><?xml version="1.0" encoding="UTF-8" standalone="yes"?>
<Relationships xmlns="http://schemas.openxmlformats.org/package/2006/relationships"><Relationship Id="rId8" Type="http://schemas.openxmlformats.org/officeDocument/2006/relationships/image" Target="../media/image80.wmf"/><Relationship Id="rId13" Type="http://schemas.openxmlformats.org/officeDocument/2006/relationships/oleObject" Target="../embeddings/oleObject68.bin"/><Relationship Id="rId3" Type="http://schemas.openxmlformats.org/officeDocument/2006/relationships/oleObject" Target="../embeddings/oleObject64.bin"/><Relationship Id="rId7" Type="http://schemas.openxmlformats.org/officeDocument/2006/relationships/oleObject" Target="../embeddings/oleObject66.bin"/><Relationship Id="rId12" Type="http://schemas.openxmlformats.org/officeDocument/2006/relationships/image" Target="../media/image81.wmf"/><Relationship Id="rId2" Type="http://schemas.openxmlformats.org/officeDocument/2006/relationships/slideLayout" Target="../slideLayouts/slideLayout8.xml"/><Relationship Id="rId16" Type="http://schemas.openxmlformats.org/officeDocument/2006/relationships/image" Target="../media/image83.wmf"/><Relationship Id="rId1" Type="http://schemas.openxmlformats.org/officeDocument/2006/relationships/vmlDrawing" Target="../drawings/vmlDrawing17.vml"/><Relationship Id="rId6" Type="http://schemas.openxmlformats.org/officeDocument/2006/relationships/image" Target="../media/image79.wmf"/><Relationship Id="rId11" Type="http://schemas.openxmlformats.org/officeDocument/2006/relationships/oleObject" Target="../embeddings/oleObject67.bin"/><Relationship Id="rId5" Type="http://schemas.openxmlformats.org/officeDocument/2006/relationships/oleObject" Target="../embeddings/oleObject65.bin"/><Relationship Id="rId15" Type="http://schemas.openxmlformats.org/officeDocument/2006/relationships/oleObject" Target="../embeddings/oleObject69.bin"/><Relationship Id="rId10" Type="http://schemas.openxmlformats.org/officeDocument/2006/relationships/image" Target="../media/image84.png"/><Relationship Id="rId4" Type="http://schemas.openxmlformats.org/officeDocument/2006/relationships/image" Target="../media/image76.wmf"/><Relationship Id="rId9" Type="http://schemas.openxmlformats.org/officeDocument/2006/relationships/image" Target="../media/image70.png"/><Relationship Id="rId14" Type="http://schemas.openxmlformats.org/officeDocument/2006/relationships/image" Target="../media/image82.wmf"/></Relationships>
</file>

<file path=ppt/slides/_rels/slide27.x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oleObject" Target="../embeddings/oleObject74.bin"/><Relationship Id="rId3" Type="http://schemas.openxmlformats.org/officeDocument/2006/relationships/oleObject" Target="../embeddings/oleObject70.bin"/><Relationship Id="rId7" Type="http://schemas.openxmlformats.org/officeDocument/2006/relationships/oleObject" Target="../embeddings/oleObject72.bin"/><Relationship Id="rId12" Type="http://schemas.openxmlformats.org/officeDocument/2006/relationships/image" Target="../media/image87.wmf"/><Relationship Id="rId2" Type="http://schemas.openxmlformats.org/officeDocument/2006/relationships/slideLayout" Target="../slideLayouts/slideLayout8.xml"/><Relationship Id="rId1" Type="http://schemas.openxmlformats.org/officeDocument/2006/relationships/vmlDrawing" Target="../drawings/vmlDrawing18.vml"/><Relationship Id="rId6" Type="http://schemas.openxmlformats.org/officeDocument/2006/relationships/image" Target="../media/image85.wmf"/><Relationship Id="rId11" Type="http://schemas.openxmlformats.org/officeDocument/2006/relationships/oleObject" Target="../embeddings/oleObject73.bin"/><Relationship Id="rId5" Type="http://schemas.openxmlformats.org/officeDocument/2006/relationships/oleObject" Target="../embeddings/oleObject71.bin"/><Relationship Id="rId10" Type="http://schemas.openxmlformats.org/officeDocument/2006/relationships/image" Target="../media/image84.png"/><Relationship Id="rId4" Type="http://schemas.openxmlformats.org/officeDocument/2006/relationships/image" Target="../media/image76.wmf"/><Relationship Id="rId9" Type="http://schemas.openxmlformats.org/officeDocument/2006/relationships/image" Target="../media/image70.png"/><Relationship Id="rId14" Type="http://schemas.openxmlformats.org/officeDocument/2006/relationships/image" Target="../media/image88.wmf"/></Relationships>
</file>

<file path=ppt/slides/_rels/slide2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9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Edition, Global Edition</a:t>
            </a:r>
          </a:p>
        </p:txBody>
      </p:sp>
      <p:pic>
        <p:nvPicPr>
          <p:cNvPr id="12" name="Picture 11">
            <a:extLst>
              <a:ext uri="{FF2B5EF4-FFF2-40B4-BE49-F238E27FC236}">
                <a16:creationId xmlns:a16="http://schemas.microsoft.com/office/drawing/2014/main" id="{42D257CC-0C28-71A3-2065-767CAFB1F7FF}"/>
              </a:ext>
            </a:extLst>
          </p:cNvPr>
          <p:cNvPicPr>
            <a:picLocks noChangeAspect="1"/>
          </p:cNvPicPr>
          <p:nvPr/>
        </p:nvPicPr>
        <p:blipFill>
          <a:blip r:embed="rId3"/>
          <a:stretch>
            <a:fillRect/>
          </a:stretch>
        </p:blipFill>
        <p:spPr>
          <a:xfrm>
            <a:off x="429105" y="1769717"/>
            <a:ext cx="3427532" cy="4284034"/>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319589" y="2815153"/>
            <a:ext cx="3916810" cy="498016"/>
          </a:xfrm>
        </p:spPr>
        <p:txBody>
          <a:bodyPr wrap="square" lIns="0" tIns="18000" rIns="0" bIns="18000" anchor="ctr">
            <a:spAutoFit/>
          </a:bodyPr>
          <a:lstStyle/>
          <a:p>
            <a:pPr indent="-101600"/>
            <a:r>
              <a:rPr lang="en-US" noProof="0" dirty="0">
                <a:solidFill>
                  <a:schemeClr val="tx1"/>
                </a:solidFill>
              </a:rPr>
              <a:t>Chapter 9 – Part 3</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319589" y="3545534"/>
            <a:ext cx="4350298" cy="374906"/>
          </a:xfrm>
        </p:spPr>
        <p:txBody>
          <a:bodyPr wrap="square" lIns="0" tIns="18000" rIns="0" bIns="18000" anchor="ctr">
            <a:spAutoFit/>
          </a:bodyPr>
          <a:lstStyle/>
          <a:p>
            <a:pPr marL="0"/>
            <a:r>
              <a:rPr lang="en-US" noProof="0" dirty="0"/>
              <a:t>Sinusoidal Steady-State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13804" y="6455210"/>
            <a:ext cx="6056085"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lstStyle/>
          <a:p>
            <a:r>
              <a:rPr lang="en-US" noProof="0" dirty="0"/>
              <a:t>Chapter 9 – Sinusoidal Steady-State Analysis </a:t>
            </a:r>
            <a:r>
              <a:rPr lang="en-US" sz="2800" noProof="0" dirty="0"/>
              <a:t>(1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74624"/>
            <a:ext cx="8007110" cy="4191335"/>
          </a:xfrm>
        </p:spPr>
        <p:txBody>
          <a:bodyPr wrap="square" lIns="0" tIns="18000" rIns="0" bIns="18000" anchor="ctr">
            <a:spAutoFit/>
          </a:bodyPr>
          <a:lstStyle/>
          <a:p>
            <a:pPr marL="0" indent="0">
              <a:buNone/>
            </a:pPr>
            <a:r>
              <a:rPr lang="en-US" altLang="en-US" sz="2400" noProof="0" dirty="0"/>
              <a:t>Steps in </a:t>
            </a:r>
            <a:r>
              <a:rPr lang="en-US" altLang="en-US" sz="2400" spc="-300" noProof="0" dirty="0"/>
              <a:t>A C S </a:t>
            </a:r>
            <a:r>
              <a:rPr lang="en-US" altLang="en-US" sz="2400" noProof="0" dirty="0" err="1"/>
              <a:t>S</a:t>
            </a:r>
            <a:r>
              <a:rPr lang="en-US" altLang="en-US" sz="2400" noProof="0" dirty="0"/>
              <a:t> Analysis:</a:t>
            </a:r>
          </a:p>
          <a:p>
            <a:pPr marL="457200" indent="-457200">
              <a:spcBef>
                <a:spcPts val="600"/>
              </a:spcBef>
              <a:buFont typeface="+mj-lt"/>
              <a:buAutoNum type="arabicPeriod"/>
            </a:pPr>
            <a:r>
              <a:rPr lang="en-US" altLang="en-US" sz="2400" noProof="0" dirty="0"/>
              <a:t>Redraw the circuit (the phasor transform does not change the components or their connections).</a:t>
            </a:r>
          </a:p>
          <a:p>
            <a:pPr marL="457200" indent="-457200">
              <a:spcBef>
                <a:spcPts val="600"/>
              </a:spcBef>
              <a:buFont typeface="+mj-lt"/>
              <a:buAutoNum type="arabicPeriod"/>
            </a:pPr>
            <a:r>
              <a:rPr lang="en-US" altLang="en-US" sz="2400" noProof="0" dirty="0"/>
              <a:t>Phasor transform all known v(t) and </a:t>
            </a:r>
            <a:r>
              <a:rPr lang="en-US" altLang="en-US" sz="2400" noProof="0" dirty="0" err="1"/>
              <a:t>i</a:t>
            </a:r>
            <a:r>
              <a:rPr lang="en-US" altLang="en-US" sz="2400" noProof="0" dirty="0"/>
              <a:t>(t).</a:t>
            </a:r>
          </a:p>
          <a:p>
            <a:pPr marL="457200" indent="-457200">
              <a:spcBef>
                <a:spcPts val="600"/>
              </a:spcBef>
              <a:buFont typeface="+mj-lt"/>
              <a:buAutoNum type="arabicPeriod"/>
            </a:pPr>
            <a:r>
              <a:rPr lang="en-US" altLang="en-US" sz="2400" noProof="0" dirty="0"/>
              <a:t>Represent unknown voltages and currents with </a:t>
            </a:r>
            <a:r>
              <a:rPr lang="en-US" altLang="en-US" sz="2400" i="1" noProof="0" dirty="0"/>
              <a:t>V</a:t>
            </a:r>
            <a:r>
              <a:rPr lang="en-US" altLang="en-US" sz="2400" noProof="0" dirty="0"/>
              <a:t> and </a:t>
            </a:r>
            <a:r>
              <a:rPr lang="en-US" altLang="en-US" sz="2400" i="1" noProof="0" dirty="0"/>
              <a:t>I</a:t>
            </a:r>
            <a:r>
              <a:rPr lang="en-US" altLang="en-US" sz="2400" noProof="0" dirty="0"/>
              <a:t>.</a:t>
            </a:r>
          </a:p>
          <a:p>
            <a:pPr marL="457200" indent="-457200">
              <a:spcBef>
                <a:spcPts val="600"/>
              </a:spcBef>
              <a:buFont typeface="+mj-lt"/>
              <a:buAutoNum type="arabicPeriod"/>
            </a:pPr>
            <a:r>
              <a:rPr lang="en-US" altLang="en-US" sz="2400" noProof="0" dirty="0"/>
              <a:t>Replace component values with impedance (Z) values.</a:t>
            </a:r>
          </a:p>
          <a:p>
            <a:pPr marL="457200" indent="-457200">
              <a:spcBef>
                <a:spcPts val="600"/>
              </a:spcBef>
              <a:buFont typeface="+mj-lt"/>
              <a:buAutoNum type="arabicPeriod"/>
            </a:pPr>
            <a:r>
              <a:rPr lang="en-US" altLang="en-US" sz="2400" noProof="0" dirty="0"/>
              <a:t>Use any circuit analysis method(s) to write equations and solve them with a calculator.</a:t>
            </a:r>
          </a:p>
          <a:p>
            <a:pPr marL="457200" indent="-457200">
              <a:spcBef>
                <a:spcPts val="600"/>
              </a:spcBef>
              <a:buFont typeface="+mj-lt"/>
              <a:buAutoNum type="arabicPeriod"/>
            </a:pPr>
            <a:r>
              <a:rPr lang="en-US" altLang="en-US" sz="2400" noProof="0" dirty="0"/>
              <a:t>Inverse-transform the result, which is a phasor, back to the time domain.</a:t>
            </a:r>
          </a:p>
        </p:txBody>
      </p:sp>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lstStyle/>
          <a:p>
            <a:r>
              <a:rPr lang="en-US" noProof="0" dirty="0"/>
              <a:t>Chapter 9 – Sinusoidal Steady-State Analysis </a:t>
            </a:r>
            <a:r>
              <a:rPr lang="en-US" sz="2800" noProof="0" dirty="0"/>
              <a:t>(2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86895"/>
            <a:ext cx="1778839" cy="405683"/>
          </a:xfrm>
        </p:spPr>
        <p:txBody>
          <a:bodyPr wrap="square" lIns="0" tIns="18000" rIns="0" bIns="18000" anchor="ctr">
            <a:spAutoFit/>
          </a:bodyPr>
          <a:lstStyle/>
          <a:p>
            <a:pPr marL="0" indent="0">
              <a:spcBef>
                <a:spcPts val="600"/>
              </a:spcBef>
              <a:buNone/>
            </a:pPr>
            <a:r>
              <a:rPr lang="en-US" sz="2400" noProof="0" dirty="0"/>
              <a:t>Example:</a:t>
            </a:r>
          </a:p>
        </p:txBody>
      </p:sp>
      <p:graphicFrame>
        <p:nvGraphicFramePr>
          <p:cNvPr id="20" name="Object 19" descr="i subscript s l baseline (t) equals 10 cosine 50,000 t Ampere;&#10;">
            <a:extLst>
              <a:ext uri="{FF2B5EF4-FFF2-40B4-BE49-F238E27FC236}">
                <a16:creationId xmlns:a16="http://schemas.microsoft.com/office/drawing/2014/main" id="{C666EC1B-B47C-80FB-40B7-DBA2E0BC09E4}"/>
              </a:ext>
            </a:extLst>
          </p:cNvPr>
          <p:cNvGraphicFramePr>
            <a:graphicFrameLocks noChangeAspect="1"/>
          </p:cNvGraphicFramePr>
          <p:nvPr>
            <p:extLst>
              <p:ext uri="{D42A27DB-BD31-4B8C-83A1-F6EECF244321}">
                <p14:modId xmlns:p14="http://schemas.microsoft.com/office/powerpoint/2010/main" val="2825645911"/>
              </p:ext>
            </p:extLst>
          </p:nvPr>
        </p:nvGraphicFramePr>
        <p:xfrm>
          <a:off x="429105" y="1961645"/>
          <a:ext cx="2836863" cy="371475"/>
        </p:xfrm>
        <a:graphic>
          <a:graphicData uri="http://schemas.openxmlformats.org/presentationml/2006/ole">
            <mc:AlternateContent xmlns:mc="http://schemas.openxmlformats.org/markup-compatibility/2006">
              <mc:Choice xmlns:v="urn:schemas-microsoft-com:vml" Requires="v">
                <p:oleObj spid="_x0000_s1030" name="Equation" r:id="rId3" imgW="1752480" imgH="228600" progId="Equation.DSMT4">
                  <p:embed/>
                </p:oleObj>
              </mc:Choice>
              <mc:Fallback>
                <p:oleObj name="Equation" r:id="rId3" imgW="1752480" imgH="228600" progId="Equation.DSMT4">
                  <p:embed/>
                  <p:pic>
                    <p:nvPicPr>
                      <p:cNvPr id="5" name="Object 4">
                        <a:extLst>
                          <a:ext uri="{FF2B5EF4-FFF2-40B4-BE49-F238E27FC236}">
                            <a16:creationId xmlns:a16="http://schemas.microsoft.com/office/drawing/2014/main" id="{D002B123-144C-9510-BC4B-8A831320A2D2}"/>
                          </a:ext>
                        </a:extLst>
                      </p:cNvPr>
                      <p:cNvPicPr>
                        <a:picLocks noChangeAspect="1" noChangeArrowheads="1"/>
                      </p:cNvPicPr>
                      <p:nvPr/>
                    </p:nvPicPr>
                    <p:blipFill>
                      <a:blip r:embed="rId4"/>
                      <a:srcRect/>
                      <a:stretch>
                        <a:fillRect/>
                      </a:stretch>
                    </p:blipFill>
                    <p:spPr bwMode="auto">
                      <a:xfrm>
                        <a:off x="429105" y="1961645"/>
                        <a:ext cx="283686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20" descr="v subscript s baseline (t) equals 100 sine 50,000 t Volt.&#10;">
            <a:extLst>
              <a:ext uri="{FF2B5EF4-FFF2-40B4-BE49-F238E27FC236}">
                <a16:creationId xmlns:a16="http://schemas.microsoft.com/office/drawing/2014/main" id="{07CD4B0C-D96E-8A47-FB6B-17089FC380D3}"/>
              </a:ext>
            </a:extLst>
          </p:cNvPr>
          <p:cNvGraphicFramePr>
            <a:graphicFrameLocks noChangeAspect="1"/>
          </p:cNvGraphicFramePr>
          <p:nvPr>
            <p:extLst>
              <p:ext uri="{D42A27DB-BD31-4B8C-83A1-F6EECF244321}">
                <p14:modId xmlns:p14="http://schemas.microsoft.com/office/powerpoint/2010/main" val="668698290"/>
              </p:ext>
            </p:extLst>
          </p:nvPr>
        </p:nvGraphicFramePr>
        <p:xfrm>
          <a:off x="423021" y="2390087"/>
          <a:ext cx="2979737" cy="371475"/>
        </p:xfrm>
        <a:graphic>
          <a:graphicData uri="http://schemas.openxmlformats.org/presentationml/2006/ole">
            <mc:AlternateContent xmlns:mc="http://schemas.openxmlformats.org/markup-compatibility/2006">
              <mc:Choice xmlns:v="urn:schemas-microsoft-com:vml" Requires="v">
                <p:oleObj spid="_x0000_s1031" name="Equation" r:id="rId5" imgW="1841400" imgH="228600" progId="Equation.DSMT4">
                  <p:embed/>
                </p:oleObj>
              </mc:Choice>
              <mc:Fallback>
                <p:oleObj name="Equation" r:id="rId5" imgW="1841400" imgH="228600" progId="Equation.DSMT4">
                  <p:embed/>
                  <p:pic>
                    <p:nvPicPr>
                      <p:cNvPr id="20" name="Object 19">
                        <a:extLst>
                          <a:ext uri="{FF2B5EF4-FFF2-40B4-BE49-F238E27FC236}">
                            <a16:creationId xmlns:a16="http://schemas.microsoft.com/office/drawing/2014/main" id="{C666EC1B-B47C-80FB-40B7-DBA2E0BC09E4}"/>
                          </a:ext>
                        </a:extLst>
                      </p:cNvPr>
                      <p:cNvPicPr>
                        <a:picLocks noChangeAspect="1" noChangeArrowheads="1"/>
                      </p:cNvPicPr>
                      <p:nvPr/>
                    </p:nvPicPr>
                    <p:blipFill>
                      <a:blip r:embed="rId6"/>
                      <a:srcRect/>
                      <a:stretch>
                        <a:fillRect/>
                      </a:stretch>
                    </p:blipFill>
                    <p:spPr bwMode="auto">
                      <a:xfrm>
                        <a:off x="423021" y="2390087"/>
                        <a:ext cx="297973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845191"/>
            <a:ext cx="3788793" cy="405683"/>
          </a:xfrm>
        </p:spPr>
        <p:txBody>
          <a:bodyPr wrap="square" lIns="0" tIns="18000" rIns="0" bIns="18000" anchor="ctr">
            <a:spAutoFit/>
          </a:bodyPr>
          <a:lstStyle/>
          <a:p>
            <a:pPr marL="0" indent="0">
              <a:spcBef>
                <a:spcPts val="600"/>
              </a:spcBef>
              <a:buNone/>
            </a:pPr>
            <a:r>
              <a:rPr lang="en-US" altLang="en-US" sz="2400" noProof="0" dirty="0"/>
              <a:t>Find </a:t>
            </a:r>
            <a:r>
              <a:rPr lang="en-US" altLang="en-US" sz="2400" i="1" noProof="0" dirty="0"/>
              <a:t>v(t)</a:t>
            </a:r>
            <a:r>
              <a:rPr lang="en-US" altLang="en-US" sz="2400" noProof="0" dirty="0"/>
              <a:t> in the steady-state.</a:t>
            </a:r>
            <a:endParaRPr lang="en-US" sz="2400" noProof="0" dirty="0"/>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9524" y="3389486"/>
            <a:ext cx="3881438" cy="2775563"/>
          </a:xfrm>
        </p:spPr>
        <p:txBody>
          <a:bodyPr wrap="square" lIns="0" tIns="18000" rIns="0" bIns="18000" anchor="ctr">
            <a:spAutoFit/>
          </a:bodyPr>
          <a:lstStyle/>
          <a:p>
            <a:pPr marL="457200" indent="-457200">
              <a:spcBef>
                <a:spcPts val="600"/>
              </a:spcBef>
              <a:buFont typeface="+mj-lt"/>
              <a:buAutoNum type="arabicPeriod"/>
              <a:defRPr/>
            </a:pPr>
            <a:r>
              <a:rPr lang="en-US" sz="2400" noProof="0" dirty="0"/>
              <a:t>Redraw the circuit.</a:t>
            </a:r>
          </a:p>
          <a:p>
            <a:pPr marL="457200" indent="-457200">
              <a:spcBef>
                <a:spcPts val="600"/>
              </a:spcBef>
              <a:buFont typeface="+mj-lt"/>
              <a:buAutoNum type="arabicPeriod"/>
              <a:defRPr/>
            </a:pPr>
            <a:r>
              <a:rPr lang="en-US" sz="2400" noProof="0" dirty="0"/>
              <a:t>Phasor transform all known voltages and currents.</a:t>
            </a:r>
          </a:p>
          <a:p>
            <a:pPr marL="457200" indent="-457200">
              <a:spcBef>
                <a:spcPts val="600"/>
              </a:spcBef>
              <a:buFont typeface="+mj-lt"/>
              <a:buAutoNum type="arabicPeriod"/>
              <a:defRPr/>
            </a:pPr>
            <a:r>
              <a:rPr lang="en-US" sz="2400" noProof="0" dirty="0"/>
              <a:t>Represent unknown voltages and currents with phasor symbols</a:t>
            </a:r>
          </a:p>
        </p:txBody>
      </p:sp>
      <p:pic>
        <p:nvPicPr>
          <p:cNvPr id="26" name="Picture 1" descr="A circuit diagram shows a current source small i sub s connected to a resistor of 20 ohms through terminals 1, 2, and 3. The resistor is again connected to the positive terminal of a voltage source v sub s. The negative terminal of v sub s is again connected to the current source through terminals 4, 5, and 6. A resistor of 5 ohms is connected between terminals 1 and 6, a capacitor of 9 micro farads is connected between terminals 2 and 5, and an inductance coil of 100 micro hertz is connected between the terminals 3 and 4. Below the circuit between the terminals 1 and 2 is a plus sign, and above the circuit between the terminals 5 and 6 is a minus sign. The term v of t is labeled within the circuit connecting the terminals 1, 2, 5, and 6.">
            <a:extLst>
              <a:ext uri="{FF2B5EF4-FFF2-40B4-BE49-F238E27FC236}">
                <a16:creationId xmlns:a16="http://schemas.microsoft.com/office/drawing/2014/main" id="{6A94104D-66ED-8116-EE0E-0ECEACE0C99E}"/>
              </a:ext>
            </a:extLst>
          </p:cNvPr>
          <p:cNvPicPr>
            <a:picLocks noChangeAspect="1" noChangeArrowheads="1"/>
          </p:cNvPicPr>
          <p:nvPr/>
        </p:nvPicPr>
        <p:blipFill>
          <a:blip r:embed="rId7"/>
          <a:stretch>
            <a:fillRect/>
          </a:stretch>
        </p:blipFill>
        <p:spPr bwMode="auto">
          <a:xfrm>
            <a:off x="4524137" y="1707706"/>
            <a:ext cx="3965606" cy="1145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Object 26" descr="v subscript s baseline (t) equals 100 sine 50,000 t Volt.&#10;">
            <a:extLst>
              <a:ext uri="{FF2B5EF4-FFF2-40B4-BE49-F238E27FC236}">
                <a16:creationId xmlns:a16="http://schemas.microsoft.com/office/drawing/2014/main" id="{2B74ABD3-EA41-83DD-45A4-41C7193E7C41}"/>
              </a:ext>
            </a:extLst>
          </p:cNvPr>
          <p:cNvGraphicFramePr>
            <a:graphicFrameLocks noChangeAspect="1"/>
          </p:cNvGraphicFramePr>
          <p:nvPr>
            <p:extLst>
              <p:ext uri="{D42A27DB-BD31-4B8C-83A1-F6EECF244321}">
                <p14:modId xmlns:p14="http://schemas.microsoft.com/office/powerpoint/2010/main" val="3865400067"/>
              </p:ext>
            </p:extLst>
          </p:nvPr>
        </p:nvGraphicFramePr>
        <p:xfrm>
          <a:off x="5037138" y="3602935"/>
          <a:ext cx="2671762" cy="371475"/>
        </p:xfrm>
        <a:graphic>
          <a:graphicData uri="http://schemas.openxmlformats.org/presentationml/2006/ole">
            <mc:AlternateContent xmlns:mc="http://schemas.openxmlformats.org/markup-compatibility/2006">
              <mc:Choice xmlns:v="urn:schemas-microsoft-com:vml" Requires="v">
                <p:oleObj spid="_x0000_s1032" name="Equation" r:id="rId8" imgW="1650960" imgH="228600" progId="Equation.DSMT4">
                  <p:embed/>
                </p:oleObj>
              </mc:Choice>
              <mc:Fallback>
                <p:oleObj name="Equation" r:id="rId8" imgW="1650960" imgH="228600" progId="Equation.DSMT4">
                  <p:embed/>
                  <p:pic>
                    <p:nvPicPr>
                      <p:cNvPr id="20" name="Object 19">
                        <a:extLst>
                          <a:ext uri="{FF2B5EF4-FFF2-40B4-BE49-F238E27FC236}">
                            <a16:creationId xmlns:a16="http://schemas.microsoft.com/office/drawing/2014/main" id="{C666EC1B-B47C-80FB-40B7-DBA2E0BC09E4}"/>
                          </a:ext>
                        </a:extLst>
                      </p:cNvPr>
                      <p:cNvPicPr>
                        <a:picLocks noChangeAspect="1" noChangeArrowheads="1"/>
                      </p:cNvPicPr>
                      <p:nvPr/>
                    </p:nvPicPr>
                    <p:blipFill>
                      <a:blip r:embed="rId9"/>
                      <a:srcRect/>
                      <a:stretch>
                        <a:fillRect/>
                      </a:stretch>
                    </p:blipFill>
                    <p:spPr bwMode="auto">
                      <a:xfrm>
                        <a:off x="5037138" y="3602935"/>
                        <a:ext cx="267176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27" descr="Equals 100 cosine OpenParenthesis 50,000 t minus 90 degrees ClosedParenthesis Volt.&#10;">
            <a:extLst>
              <a:ext uri="{FF2B5EF4-FFF2-40B4-BE49-F238E27FC236}">
                <a16:creationId xmlns:a16="http://schemas.microsoft.com/office/drawing/2014/main" id="{183C69E2-85C4-EA89-0914-B09EA651A314}"/>
              </a:ext>
            </a:extLst>
          </p:cNvPr>
          <p:cNvGraphicFramePr>
            <a:graphicFrameLocks noChangeAspect="1"/>
          </p:cNvGraphicFramePr>
          <p:nvPr>
            <p:extLst>
              <p:ext uri="{D42A27DB-BD31-4B8C-83A1-F6EECF244321}">
                <p14:modId xmlns:p14="http://schemas.microsoft.com/office/powerpoint/2010/main" val="39310972"/>
              </p:ext>
            </p:extLst>
          </p:nvPr>
        </p:nvGraphicFramePr>
        <p:xfrm>
          <a:off x="5581650" y="4051300"/>
          <a:ext cx="2938463" cy="330200"/>
        </p:xfrm>
        <a:graphic>
          <a:graphicData uri="http://schemas.openxmlformats.org/presentationml/2006/ole">
            <mc:AlternateContent xmlns:mc="http://schemas.openxmlformats.org/markup-compatibility/2006">
              <mc:Choice xmlns:v="urn:schemas-microsoft-com:vml" Requires="v">
                <p:oleObj spid="_x0000_s1033" name="Equation" r:id="rId10" imgW="1815840" imgH="203040" progId="Equation.DSMT4">
                  <p:embed/>
                </p:oleObj>
              </mc:Choice>
              <mc:Fallback>
                <p:oleObj name="Equation" r:id="rId10" imgW="1815840" imgH="203040" progId="Equation.DSMT4">
                  <p:embed/>
                  <p:pic>
                    <p:nvPicPr>
                      <p:cNvPr id="21" name="Object 20">
                        <a:extLst>
                          <a:ext uri="{FF2B5EF4-FFF2-40B4-BE49-F238E27FC236}">
                            <a16:creationId xmlns:a16="http://schemas.microsoft.com/office/drawing/2014/main" id="{07CD4B0C-D96E-8A47-FB6B-17089FC380D3}"/>
                          </a:ext>
                        </a:extLst>
                      </p:cNvPr>
                      <p:cNvPicPr>
                        <a:picLocks noChangeAspect="1" noChangeArrowheads="1"/>
                      </p:cNvPicPr>
                      <p:nvPr/>
                    </p:nvPicPr>
                    <p:blipFill>
                      <a:blip r:embed="rId11"/>
                      <a:srcRect/>
                      <a:stretch>
                        <a:fillRect/>
                      </a:stretch>
                    </p:blipFill>
                    <p:spPr bwMode="auto">
                      <a:xfrm>
                        <a:off x="5581650" y="4051300"/>
                        <a:ext cx="293846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9" name="Picture 4" descr="A circuit diagram shows a current source of 10 amperes at 0 degrees connected to a resistor through terminals 1, 2, and 3. The resistor is again connected to the positive terminal of a voltage source V with 100 volts at an angle of negative 90 degrees. The negative terminal of V is again connected to the current source through terminals 4, 5, and 6. A resistor is connected between terminals 1 and 6, a capacitor is connected between terminals 2 and 5, and an inductance coil is connected between the terminals 3 and 4. Below the circuit between the terminals 2 and 3 is a plus sign, and above the circuit between the terminals 4 and 5 is a minus sign. The term V is labeled within the circuit connecting the terminals 2, 3, 4, and 5.">
            <a:extLst>
              <a:ext uri="{FF2B5EF4-FFF2-40B4-BE49-F238E27FC236}">
                <a16:creationId xmlns:a16="http://schemas.microsoft.com/office/drawing/2014/main" id="{B4973DDD-25C0-F7CD-F6AC-7A75AF03FBC5}"/>
              </a:ext>
            </a:extLst>
          </p:cNvPr>
          <p:cNvPicPr>
            <a:picLocks noChangeAspect="1" noChangeArrowheads="1"/>
          </p:cNvPicPr>
          <p:nvPr/>
        </p:nvPicPr>
        <p:blipFill>
          <a:blip r:embed="rId12"/>
          <a:stretch>
            <a:fillRect/>
          </a:stretch>
        </p:blipFill>
        <p:spPr bwMode="auto">
          <a:xfrm>
            <a:off x="4711419" y="4834703"/>
            <a:ext cx="3757277" cy="1130754"/>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080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lstStyle/>
          <a:p>
            <a:r>
              <a:rPr lang="en-US" noProof="0" dirty="0"/>
              <a:t>Chapter 9 – Sinusoidal Steady-State Analysis </a:t>
            </a:r>
            <a:r>
              <a:rPr lang="en-US" sz="2800" noProof="0" dirty="0"/>
              <a:t>(3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86895"/>
            <a:ext cx="3797419" cy="405683"/>
          </a:xfrm>
        </p:spPr>
        <p:txBody>
          <a:bodyPr wrap="square" lIns="0" tIns="18000" rIns="0" bIns="18000" anchor="ctr">
            <a:spAutoFit/>
          </a:bodyPr>
          <a:lstStyle/>
          <a:p>
            <a:pPr marL="0" indent="0">
              <a:buNone/>
            </a:pPr>
            <a:r>
              <a:rPr lang="en-US" sz="2400" noProof="0" dirty="0"/>
              <a:t>Example (continued):</a:t>
            </a:r>
            <a:endParaRPr lang="en-US" altLang="en-US" sz="2400" spc="-300" noProof="0" dirty="0"/>
          </a:p>
        </p:txBody>
      </p:sp>
      <p:graphicFrame>
        <p:nvGraphicFramePr>
          <p:cNvPr id="20" name="Object 19" descr="i subscript s baseline (t) equals 10 cosine (50,000 t) Ampere;&#10;">
            <a:extLst>
              <a:ext uri="{FF2B5EF4-FFF2-40B4-BE49-F238E27FC236}">
                <a16:creationId xmlns:a16="http://schemas.microsoft.com/office/drawing/2014/main" id="{C666EC1B-B47C-80FB-40B7-DBA2E0BC09E4}"/>
              </a:ext>
            </a:extLst>
          </p:cNvPr>
          <p:cNvGraphicFramePr>
            <a:graphicFrameLocks noChangeAspect="1"/>
          </p:cNvGraphicFramePr>
          <p:nvPr/>
        </p:nvGraphicFramePr>
        <p:xfrm>
          <a:off x="429105" y="1961645"/>
          <a:ext cx="2836863" cy="371475"/>
        </p:xfrm>
        <a:graphic>
          <a:graphicData uri="http://schemas.openxmlformats.org/presentationml/2006/ole">
            <mc:AlternateContent xmlns:mc="http://schemas.openxmlformats.org/markup-compatibility/2006">
              <mc:Choice xmlns:v="urn:schemas-microsoft-com:vml" Requires="v">
                <p:oleObj spid="_x0000_s2054" name="Equation" r:id="rId3" imgW="1752480" imgH="228600" progId="Equation.DSMT4">
                  <p:embed/>
                </p:oleObj>
              </mc:Choice>
              <mc:Fallback>
                <p:oleObj name="Equation" r:id="rId3" imgW="1752480" imgH="228600" progId="Equation.DSMT4">
                  <p:embed/>
                  <p:pic>
                    <p:nvPicPr>
                      <p:cNvPr id="20" name="Object 19" descr="i subscript s baseline (t) equals 10 cosine (50,000 t) Ampere;&#10;">
                        <a:extLst>
                          <a:ext uri="{FF2B5EF4-FFF2-40B4-BE49-F238E27FC236}">
                            <a16:creationId xmlns:a16="http://schemas.microsoft.com/office/drawing/2014/main" id="{C666EC1B-B47C-80FB-40B7-DBA2E0BC09E4}"/>
                          </a:ext>
                        </a:extLst>
                      </p:cNvPr>
                      <p:cNvPicPr>
                        <a:picLocks noChangeAspect="1" noChangeArrowheads="1"/>
                      </p:cNvPicPr>
                      <p:nvPr/>
                    </p:nvPicPr>
                    <p:blipFill>
                      <a:blip r:embed="rId4"/>
                      <a:srcRect/>
                      <a:stretch>
                        <a:fillRect/>
                      </a:stretch>
                    </p:blipFill>
                    <p:spPr bwMode="auto">
                      <a:xfrm>
                        <a:off x="429105" y="1961645"/>
                        <a:ext cx="283686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20" descr="v subscript s baseline (t) equals 100 multiplied by sine 50,000 t Volt.&#10;">
            <a:extLst>
              <a:ext uri="{FF2B5EF4-FFF2-40B4-BE49-F238E27FC236}">
                <a16:creationId xmlns:a16="http://schemas.microsoft.com/office/drawing/2014/main" id="{07CD4B0C-D96E-8A47-FB6B-17089FC380D3}"/>
              </a:ext>
            </a:extLst>
          </p:cNvPr>
          <p:cNvGraphicFramePr>
            <a:graphicFrameLocks noChangeAspect="1"/>
          </p:cNvGraphicFramePr>
          <p:nvPr/>
        </p:nvGraphicFramePr>
        <p:xfrm>
          <a:off x="423021" y="2390087"/>
          <a:ext cx="2979737" cy="371475"/>
        </p:xfrm>
        <a:graphic>
          <a:graphicData uri="http://schemas.openxmlformats.org/presentationml/2006/ole">
            <mc:AlternateContent xmlns:mc="http://schemas.openxmlformats.org/markup-compatibility/2006">
              <mc:Choice xmlns:v="urn:schemas-microsoft-com:vml" Requires="v">
                <p:oleObj spid="_x0000_s2055" name="Equation" r:id="rId5" imgW="1841400" imgH="228600" progId="Equation.DSMT4">
                  <p:embed/>
                </p:oleObj>
              </mc:Choice>
              <mc:Fallback>
                <p:oleObj name="Equation" r:id="rId5" imgW="1841400" imgH="228600" progId="Equation.DSMT4">
                  <p:embed/>
                  <p:pic>
                    <p:nvPicPr>
                      <p:cNvPr id="21" name="Object 20" descr="v subscript s baseline (t) equals 100 multiplied by sine 50,000 t Volt.&#10;">
                        <a:extLst>
                          <a:ext uri="{FF2B5EF4-FFF2-40B4-BE49-F238E27FC236}">
                            <a16:creationId xmlns:a16="http://schemas.microsoft.com/office/drawing/2014/main" id="{07CD4B0C-D96E-8A47-FB6B-17089FC380D3}"/>
                          </a:ext>
                        </a:extLst>
                      </p:cNvPr>
                      <p:cNvPicPr>
                        <a:picLocks noChangeAspect="1" noChangeArrowheads="1"/>
                      </p:cNvPicPr>
                      <p:nvPr/>
                    </p:nvPicPr>
                    <p:blipFill>
                      <a:blip r:embed="rId6"/>
                      <a:srcRect/>
                      <a:stretch>
                        <a:fillRect/>
                      </a:stretch>
                    </p:blipFill>
                    <p:spPr bwMode="auto">
                      <a:xfrm>
                        <a:off x="423021" y="2390087"/>
                        <a:ext cx="297973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845191"/>
            <a:ext cx="3788793" cy="405683"/>
          </a:xfrm>
        </p:spPr>
        <p:txBody>
          <a:bodyPr wrap="square" lIns="0" tIns="18000" rIns="0" bIns="18000" anchor="ctr">
            <a:spAutoFit/>
          </a:bodyPr>
          <a:lstStyle/>
          <a:p>
            <a:pPr marL="0" indent="0">
              <a:spcBef>
                <a:spcPts val="600"/>
              </a:spcBef>
              <a:buNone/>
            </a:pPr>
            <a:r>
              <a:rPr lang="en-US" altLang="en-US" sz="2400" noProof="0" dirty="0"/>
              <a:t>Find </a:t>
            </a:r>
            <a:r>
              <a:rPr lang="en-US" altLang="en-US" sz="2400" i="1" noProof="0" dirty="0"/>
              <a:t>v(t)</a:t>
            </a:r>
            <a:r>
              <a:rPr lang="en-US" altLang="en-US" sz="2400" noProof="0" dirty="0"/>
              <a:t> in the steady-state.</a:t>
            </a:r>
            <a:endParaRPr lang="en-US" sz="2400" noProof="0" dirty="0"/>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9524" y="3425213"/>
            <a:ext cx="3881438" cy="1513679"/>
          </a:xfrm>
        </p:spPr>
        <p:txBody>
          <a:bodyPr wrap="square" lIns="0" tIns="18000" rIns="0" bIns="18000" anchor="ctr">
            <a:spAutoFit/>
          </a:bodyPr>
          <a:lstStyle/>
          <a:p>
            <a:pPr marL="457200" indent="-457200">
              <a:spcBef>
                <a:spcPts val="600"/>
              </a:spcBef>
              <a:buFont typeface="+mj-lt"/>
              <a:buAutoNum type="arabicPeriod" startAt="4"/>
              <a:defRPr/>
            </a:pPr>
            <a:r>
              <a:rPr lang="en-US" sz="2400" noProof="0" dirty="0"/>
              <a:t>Calculate the impedances of all resistors, inductors, and capacitors.</a:t>
            </a:r>
          </a:p>
        </p:txBody>
      </p:sp>
      <p:pic>
        <p:nvPicPr>
          <p:cNvPr id="2" name="Picture 1" descr="A circuit diagram shows a current source small i sub s connected to a resistor of 20 ohms through terminals 1, 2, and 3. The resistor is again connected to the positive terminal of a voltage source v sub s. The negative terminal of v sub s is again connected to the current source through terminals 4, 5, and 6. A resistor of 5 ohms is connected between terminals 1 and 6, a capacitor of 9 micro farads is connected between terminals 2 and 5, and an inductance coil of 100 micro hertz is connected between the terminals 3 and 4. Below the circuit between the terminals 1 and 2 is a plus sign, and above the circuit between the terminals 5 and 6 is a minus sign. The term v of t is labeled within the circuit connecting the terminals 1, 2, 5, and 6.">
            <a:extLst>
              <a:ext uri="{FF2B5EF4-FFF2-40B4-BE49-F238E27FC236}">
                <a16:creationId xmlns:a16="http://schemas.microsoft.com/office/drawing/2014/main" id="{4EC5A371-7E41-AA63-EDD7-CE8F5594A456}"/>
              </a:ext>
            </a:extLst>
          </p:cNvPr>
          <p:cNvPicPr>
            <a:picLocks noChangeAspect="1" noChangeArrowheads="1"/>
          </p:cNvPicPr>
          <p:nvPr/>
        </p:nvPicPr>
        <p:blipFill>
          <a:blip r:embed="rId7"/>
          <a:srcRect/>
          <a:stretch/>
        </p:blipFill>
        <p:spPr bwMode="auto">
          <a:xfrm>
            <a:off x="4617255" y="1805884"/>
            <a:ext cx="3926340" cy="1134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Object 26" descr="Z subscript L baseline equals j omega L equals j multiplied by (50,000) multiplied by (100 mu) equals j 5 Ohm.&#10;">
            <a:extLst>
              <a:ext uri="{FF2B5EF4-FFF2-40B4-BE49-F238E27FC236}">
                <a16:creationId xmlns:a16="http://schemas.microsoft.com/office/drawing/2014/main" id="{2B74ABD3-EA41-83DD-45A4-41C7193E7C41}"/>
              </a:ext>
            </a:extLst>
          </p:cNvPr>
          <p:cNvGraphicFramePr>
            <a:graphicFrameLocks noChangeAspect="1"/>
          </p:cNvGraphicFramePr>
          <p:nvPr/>
        </p:nvGraphicFramePr>
        <p:xfrm>
          <a:off x="4652963" y="3448050"/>
          <a:ext cx="3841750" cy="371475"/>
        </p:xfrm>
        <a:graphic>
          <a:graphicData uri="http://schemas.openxmlformats.org/presentationml/2006/ole">
            <mc:AlternateContent xmlns:mc="http://schemas.openxmlformats.org/markup-compatibility/2006">
              <mc:Choice xmlns:v="urn:schemas-microsoft-com:vml" Requires="v">
                <p:oleObj spid="_x0000_s2056" name="Equation" r:id="rId8" imgW="2374560" imgH="228600" progId="Equation.DSMT4">
                  <p:embed/>
                </p:oleObj>
              </mc:Choice>
              <mc:Fallback>
                <p:oleObj name="Equation" r:id="rId8" imgW="2374560" imgH="228600" progId="Equation.DSMT4">
                  <p:embed/>
                  <p:pic>
                    <p:nvPicPr>
                      <p:cNvPr id="27" name="Object 26" descr="Z subscript L baseline equals j omega L equals j multiplied by (50,000) multiplied by (100 mu) equals j 5 Ohm.&#10;">
                        <a:extLst>
                          <a:ext uri="{FF2B5EF4-FFF2-40B4-BE49-F238E27FC236}">
                            <a16:creationId xmlns:a16="http://schemas.microsoft.com/office/drawing/2014/main" id="{2B74ABD3-EA41-83DD-45A4-41C7193E7C41}"/>
                          </a:ext>
                        </a:extLst>
                      </p:cNvPr>
                      <p:cNvPicPr>
                        <a:picLocks noChangeAspect="1" noChangeArrowheads="1"/>
                      </p:cNvPicPr>
                      <p:nvPr/>
                    </p:nvPicPr>
                    <p:blipFill>
                      <a:blip r:embed="rId9"/>
                      <a:srcRect/>
                      <a:stretch>
                        <a:fillRect/>
                      </a:stretch>
                    </p:blipFill>
                    <p:spPr bwMode="auto">
                      <a:xfrm>
                        <a:off x="4652963" y="3448050"/>
                        <a:ext cx="38417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27" descr="Z subscript C baseline equals Start Fraction negative j over omega C End Fraction equals Start Fraction negative j over (50,000) multiplied by (9 mu) End Fraction equals negative j 2.22 Ohm.&#10;">
            <a:extLst>
              <a:ext uri="{FF2B5EF4-FFF2-40B4-BE49-F238E27FC236}">
                <a16:creationId xmlns:a16="http://schemas.microsoft.com/office/drawing/2014/main" id="{183C69E2-85C4-EA89-0914-B09EA651A314}"/>
              </a:ext>
            </a:extLst>
          </p:cNvPr>
          <p:cNvGraphicFramePr>
            <a:graphicFrameLocks noChangeAspect="1"/>
          </p:cNvGraphicFramePr>
          <p:nvPr/>
        </p:nvGraphicFramePr>
        <p:xfrm>
          <a:off x="4664075" y="3975100"/>
          <a:ext cx="3965575" cy="681038"/>
        </p:xfrm>
        <a:graphic>
          <a:graphicData uri="http://schemas.openxmlformats.org/presentationml/2006/ole">
            <mc:AlternateContent xmlns:mc="http://schemas.openxmlformats.org/markup-compatibility/2006">
              <mc:Choice xmlns:v="urn:schemas-microsoft-com:vml" Requires="v">
                <p:oleObj spid="_x0000_s2057" name="Equation" r:id="rId10" imgW="2450880" imgH="419040" progId="Equation.DSMT4">
                  <p:embed/>
                </p:oleObj>
              </mc:Choice>
              <mc:Fallback>
                <p:oleObj name="Equation" r:id="rId10" imgW="2450880" imgH="419040" progId="Equation.DSMT4">
                  <p:embed/>
                  <p:pic>
                    <p:nvPicPr>
                      <p:cNvPr id="28" name="Object 27" descr="Z subscript C baseline equals Start Fraction negative j over omega C End Fraction equals Start Fraction negative j over (50,000) multiplied by (9 mu) End Fraction equals negative j 2.22 Ohm.&#10;">
                        <a:extLst>
                          <a:ext uri="{FF2B5EF4-FFF2-40B4-BE49-F238E27FC236}">
                            <a16:creationId xmlns:a16="http://schemas.microsoft.com/office/drawing/2014/main" id="{183C69E2-85C4-EA89-0914-B09EA651A314}"/>
                          </a:ext>
                        </a:extLst>
                      </p:cNvPr>
                      <p:cNvPicPr>
                        <a:picLocks noChangeAspect="1" noChangeArrowheads="1"/>
                      </p:cNvPicPr>
                      <p:nvPr/>
                    </p:nvPicPr>
                    <p:blipFill>
                      <a:blip r:embed="rId11"/>
                      <a:srcRect/>
                      <a:stretch>
                        <a:fillRect/>
                      </a:stretch>
                    </p:blipFill>
                    <p:spPr bwMode="auto">
                      <a:xfrm>
                        <a:off x="4664075" y="3975100"/>
                        <a:ext cx="3965575"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Picture 3" descr="A circuit diagram shows a current source of 10 amperes at 0 degrees connected to a resistor of 20 ohms through terminals 1, 2, and 3. The resistor is again connected to the positive terminal of a voltage source V with 100 volts at an angle of negative 90 degrees. The negative terminal of V is again connected to the current source through terminals 4, 5, and 6. A resistor of 5 ohms is connected between terminals 1 and 6, a capacitor of negative j 2.22 ohms is connected between terminals 2 and 5, and an inductance coil of j 5 ohms is connected between the terminals 3 and 4. Below the circuit between the terminals 2 and 3 is a plus sign, and above the circuit between the terminals 4 and 5 is a minus sign. The term V is labeled within the circuit connecting the terminals 2, 3, 4, and 5.">
            <a:extLst>
              <a:ext uri="{FF2B5EF4-FFF2-40B4-BE49-F238E27FC236}">
                <a16:creationId xmlns:a16="http://schemas.microsoft.com/office/drawing/2014/main" id="{10C729B0-124C-C4F0-1A04-0ECF729E97BD}"/>
              </a:ext>
            </a:extLst>
          </p:cNvPr>
          <p:cNvPicPr>
            <a:picLocks noChangeAspect="1" noChangeArrowheads="1"/>
          </p:cNvPicPr>
          <p:nvPr/>
        </p:nvPicPr>
        <p:blipFill>
          <a:blip r:embed="rId12"/>
          <a:stretch>
            <a:fillRect/>
          </a:stretch>
        </p:blipFill>
        <p:spPr bwMode="auto">
          <a:xfrm>
            <a:off x="2709798" y="5052915"/>
            <a:ext cx="3693878" cy="1111674"/>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383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lstStyle/>
          <a:p>
            <a:r>
              <a:rPr lang="en-US" noProof="0" dirty="0"/>
              <a:t>Chapter 9 – Sinusoidal Steady-State Analysis </a:t>
            </a:r>
            <a:r>
              <a:rPr lang="en-US" sz="2800" noProof="0" dirty="0"/>
              <a:t>(4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92010"/>
            <a:ext cx="8119254" cy="775015"/>
          </a:xfrm>
        </p:spPr>
        <p:txBody>
          <a:bodyPr wrap="square" lIns="0" tIns="18000" rIns="0" bIns="18000" anchor="ctr">
            <a:spAutoFit/>
          </a:bodyPr>
          <a:lstStyle/>
          <a:p>
            <a:pPr marL="0" indent="0">
              <a:buNone/>
            </a:pPr>
            <a:r>
              <a:rPr lang="en-US" altLang="en-US" sz="2400" noProof="0" dirty="0"/>
              <a:t>Which of the following circuit analysis techniques provides a one-equation method to find the phasor voltage?</a:t>
            </a:r>
          </a:p>
        </p:txBody>
      </p:sp>
      <p:pic>
        <p:nvPicPr>
          <p:cNvPr id="2" name="Picture 3" descr="A circuit diagram shows a current source of 10 amperes at 0 degrees connected to a resistor of 20 ohms through terminals 1, 2, and 3. The resistor is again connected to the positive terminal of a voltage source V with 100 volts at an angle of negative 90 degrees. The negative terminal of V is again connected to the current source through terminals 4, 5, and 6. A resistor of 5 ohms is connected between terminals 1 and 6, a capacitor of negative j 2.22 ohms is connected between terminals 2 and 5, and an inductance coil of j 5 ohms is connected between the terminals 3 and 4. Below the circuit between the terminals 2 and 3 is a plus sign, and above the circuit between the terminals 4 and 5 is a minus sign. The term V is labeled within the circuit connecting the terminals 2, 3, 4, and 5.">
            <a:extLst>
              <a:ext uri="{FF2B5EF4-FFF2-40B4-BE49-F238E27FC236}">
                <a16:creationId xmlns:a16="http://schemas.microsoft.com/office/drawing/2014/main" id="{17EEA1A9-3428-4039-6BFA-DD679FDB4E98}"/>
              </a:ext>
            </a:extLst>
          </p:cNvPr>
          <p:cNvPicPr>
            <a:picLocks noChangeAspect="1" noChangeArrowheads="1"/>
          </p:cNvPicPr>
          <p:nvPr/>
        </p:nvPicPr>
        <p:blipFill>
          <a:blip r:embed="rId2"/>
          <a:stretch>
            <a:fillRect/>
          </a:stretch>
        </p:blipFill>
        <p:spPr bwMode="auto">
          <a:xfrm>
            <a:off x="2335931" y="2522550"/>
            <a:ext cx="4462612" cy="1343025"/>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pic>
        <p:nvPicPr>
          <p:cNvPr id="23" name="Picture 5" descr="Cross mark">
            <a:extLst>
              <a:ext uri="{FF2B5EF4-FFF2-40B4-BE49-F238E27FC236}">
                <a16:creationId xmlns:a16="http://schemas.microsoft.com/office/drawing/2014/main" id="{5104629B-9E12-738C-8A48-655CF35813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393" y="421991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78426" y="4121900"/>
            <a:ext cx="3590389"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Mesh current method</a:t>
            </a:r>
          </a:p>
        </p:txBody>
      </p:sp>
      <p:pic>
        <p:nvPicPr>
          <p:cNvPr id="24" name="Picture 3" descr="Cross mark">
            <a:extLst>
              <a:ext uri="{FF2B5EF4-FFF2-40B4-BE49-F238E27FC236}">
                <a16:creationId xmlns:a16="http://schemas.microsoft.com/office/drawing/2014/main" id="{0E3DF818-CDBF-5F0F-79E3-3C5E720B06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74" y="478840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8426" y="4712450"/>
            <a:ext cx="3460993"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Source transformation</a:t>
            </a:r>
          </a:p>
        </p:txBody>
      </p:sp>
      <p:pic>
        <p:nvPicPr>
          <p:cNvPr id="25" name="Picture 2" descr="Check mark">
            <a:extLst>
              <a:ext uri="{FF2B5EF4-FFF2-40B4-BE49-F238E27FC236}">
                <a16:creationId xmlns:a16="http://schemas.microsoft.com/office/drawing/2014/main" id="{CB57EBB0-DAFE-4DE3-84DE-B21BEA17547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2364" y="530197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8426" y="5235268"/>
            <a:ext cx="3460993"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Node voltage method</a:t>
            </a:r>
          </a:p>
        </p:txBody>
      </p:sp>
    </p:spTree>
    <p:extLst>
      <p:ext uri="{BB962C8B-B14F-4D97-AF65-F5344CB8AC3E}">
        <p14:creationId xmlns:p14="http://schemas.microsoft.com/office/powerpoint/2010/main" val="1278717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lstStyle/>
          <a:p>
            <a:r>
              <a:rPr lang="en-US" noProof="0" dirty="0"/>
              <a:t>Chapter 9 – Sinusoidal Steady-State Analysis </a:t>
            </a:r>
            <a:r>
              <a:rPr lang="en-US" sz="2800" noProof="0" dirty="0"/>
              <a:t>(5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86896"/>
            <a:ext cx="3124559" cy="405683"/>
          </a:xfrm>
        </p:spPr>
        <p:txBody>
          <a:bodyPr wrap="square" lIns="0" tIns="18000" rIns="0" bIns="18000" anchor="ctr">
            <a:spAutoFit/>
          </a:bodyPr>
          <a:lstStyle/>
          <a:p>
            <a:pPr marL="0" indent="0">
              <a:spcBef>
                <a:spcPts val="600"/>
              </a:spcBef>
              <a:buNone/>
            </a:pPr>
            <a:r>
              <a:rPr lang="en-US" sz="2400" noProof="0" dirty="0"/>
              <a:t>Example (continued):</a:t>
            </a:r>
            <a:endParaRPr lang="en-US" altLang="en-US" sz="2400" spc="-300" noProof="0" dirty="0"/>
          </a:p>
        </p:txBody>
      </p:sp>
      <p:graphicFrame>
        <p:nvGraphicFramePr>
          <p:cNvPr id="2" name="Object 1" descr="i subscript s baseline (t) equals 10 cosine (50,000 t) Ampere;&#10;">
            <a:extLst>
              <a:ext uri="{FF2B5EF4-FFF2-40B4-BE49-F238E27FC236}">
                <a16:creationId xmlns:a16="http://schemas.microsoft.com/office/drawing/2014/main" id="{2D35472A-AC2E-2DBE-3845-EF589B68C2A2}"/>
              </a:ext>
            </a:extLst>
          </p:cNvPr>
          <p:cNvGraphicFramePr>
            <a:graphicFrameLocks noChangeAspect="1"/>
          </p:cNvGraphicFramePr>
          <p:nvPr/>
        </p:nvGraphicFramePr>
        <p:xfrm>
          <a:off x="429105" y="1987523"/>
          <a:ext cx="2836863" cy="371475"/>
        </p:xfrm>
        <a:graphic>
          <a:graphicData uri="http://schemas.openxmlformats.org/presentationml/2006/ole">
            <mc:AlternateContent xmlns:mc="http://schemas.openxmlformats.org/markup-compatibility/2006">
              <mc:Choice xmlns:v="urn:schemas-microsoft-com:vml" Requires="v">
                <p:oleObj spid="_x0000_s3079" name="Equation" r:id="rId3" imgW="1752480" imgH="228600" progId="Equation.DSMT4">
                  <p:embed/>
                </p:oleObj>
              </mc:Choice>
              <mc:Fallback>
                <p:oleObj name="Equation" r:id="rId3" imgW="1752480" imgH="228600" progId="Equation.DSMT4">
                  <p:embed/>
                  <p:pic>
                    <p:nvPicPr>
                      <p:cNvPr id="2" name="Object 1" descr="i subscript s baseline (t) equals 10 cosine (50,000 t) Ampere;&#10;">
                        <a:extLst>
                          <a:ext uri="{FF2B5EF4-FFF2-40B4-BE49-F238E27FC236}">
                            <a16:creationId xmlns:a16="http://schemas.microsoft.com/office/drawing/2014/main" id="{2D35472A-AC2E-2DBE-3845-EF589B68C2A2}"/>
                          </a:ext>
                        </a:extLst>
                      </p:cNvPr>
                      <p:cNvPicPr>
                        <a:picLocks noChangeAspect="1" noChangeArrowheads="1"/>
                      </p:cNvPicPr>
                      <p:nvPr/>
                    </p:nvPicPr>
                    <p:blipFill>
                      <a:blip r:embed="rId4"/>
                      <a:srcRect/>
                      <a:stretch>
                        <a:fillRect/>
                      </a:stretch>
                    </p:blipFill>
                    <p:spPr bwMode="auto">
                      <a:xfrm>
                        <a:off x="429105" y="1987523"/>
                        <a:ext cx="283686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v subscript s baseline (t) equals 100 multiplied by sine 50,000 t Volt.&#10;">
            <a:extLst>
              <a:ext uri="{FF2B5EF4-FFF2-40B4-BE49-F238E27FC236}">
                <a16:creationId xmlns:a16="http://schemas.microsoft.com/office/drawing/2014/main" id="{FA2C226D-04D9-A5A8-4F3D-C57E220C4C78}"/>
              </a:ext>
            </a:extLst>
          </p:cNvPr>
          <p:cNvGraphicFramePr>
            <a:graphicFrameLocks noChangeAspect="1"/>
          </p:cNvGraphicFramePr>
          <p:nvPr/>
        </p:nvGraphicFramePr>
        <p:xfrm>
          <a:off x="423021" y="2450469"/>
          <a:ext cx="2979737" cy="371475"/>
        </p:xfrm>
        <a:graphic>
          <a:graphicData uri="http://schemas.openxmlformats.org/presentationml/2006/ole">
            <mc:AlternateContent xmlns:mc="http://schemas.openxmlformats.org/markup-compatibility/2006">
              <mc:Choice xmlns:v="urn:schemas-microsoft-com:vml" Requires="v">
                <p:oleObj spid="_x0000_s3080" name="Equation" r:id="rId5" imgW="1841400" imgH="228600" progId="Equation.DSMT4">
                  <p:embed/>
                </p:oleObj>
              </mc:Choice>
              <mc:Fallback>
                <p:oleObj name="Equation" r:id="rId5" imgW="1841400" imgH="228600" progId="Equation.DSMT4">
                  <p:embed/>
                  <p:pic>
                    <p:nvPicPr>
                      <p:cNvPr id="3" name="Object 2" descr="v subscript s baseline (t) equals 100 multiplied by sine 50,000 t Volt.&#10;">
                        <a:extLst>
                          <a:ext uri="{FF2B5EF4-FFF2-40B4-BE49-F238E27FC236}">
                            <a16:creationId xmlns:a16="http://schemas.microsoft.com/office/drawing/2014/main" id="{FA2C226D-04D9-A5A8-4F3D-C57E220C4C78}"/>
                          </a:ext>
                        </a:extLst>
                      </p:cNvPr>
                      <p:cNvPicPr>
                        <a:picLocks noChangeAspect="1" noChangeArrowheads="1"/>
                      </p:cNvPicPr>
                      <p:nvPr/>
                    </p:nvPicPr>
                    <p:blipFill>
                      <a:blip r:embed="rId6"/>
                      <a:srcRect/>
                      <a:stretch>
                        <a:fillRect/>
                      </a:stretch>
                    </p:blipFill>
                    <p:spPr bwMode="auto">
                      <a:xfrm>
                        <a:off x="423021" y="2450469"/>
                        <a:ext cx="297973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4" y="2888326"/>
            <a:ext cx="3881438" cy="405683"/>
          </a:xfrm>
        </p:spPr>
        <p:txBody>
          <a:bodyPr wrap="square" lIns="0" tIns="18000" rIns="0" bIns="18000" anchor="ctr">
            <a:spAutoFit/>
          </a:bodyPr>
          <a:lstStyle/>
          <a:p>
            <a:pPr marL="0" indent="0">
              <a:spcBef>
                <a:spcPts val="600"/>
              </a:spcBef>
              <a:buNone/>
            </a:pPr>
            <a:r>
              <a:rPr lang="en-US" altLang="en-US" sz="2400" noProof="0" dirty="0"/>
              <a:t>Find </a:t>
            </a:r>
            <a:r>
              <a:rPr lang="en-US" altLang="en-US" sz="2400" i="1" noProof="0" dirty="0"/>
              <a:t>v(t)</a:t>
            </a:r>
            <a:r>
              <a:rPr lang="en-US" altLang="en-US" sz="2400" noProof="0" dirty="0"/>
              <a:t> in the steady-state.</a:t>
            </a:r>
            <a:endParaRPr lang="en-US" sz="2400" noProof="0" dirty="0"/>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3445970"/>
            <a:ext cx="3728408" cy="1144347"/>
          </a:xfrm>
        </p:spPr>
        <p:txBody>
          <a:bodyPr wrap="square" lIns="0" tIns="18000" rIns="0" bIns="18000" anchor="ctr">
            <a:spAutoFit/>
          </a:bodyPr>
          <a:lstStyle/>
          <a:p>
            <a:pPr marL="457200" indent="-457200">
              <a:buFont typeface="+mj-lt"/>
              <a:buAutoNum type="arabicPeriod" startAt="5"/>
              <a:defRPr/>
            </a:pPr>
            <a:r>
              <a:rPr lang="en-US" sz="2400" noProof="0" dirty="0"/>
              <a:t>Use </a:t>
            </a:r>
            <a:r>
              <a:rPr lang="en-US" sz="2400" spc="-300" noProof="0" dirty="0"/>
              <a:t>D </a:t>
            </a:r>
            <a:r>
              <a:rPr lang="en-US" sz="2400" noProof="0" dirty="0"/>
              <a:t>C circuit analysis techniques to find the phasor </a:t>
            </a:r>
            <a:r>
              <a:rPr lang="en-US" sz="2400" b="1" i="1" noProof="0" dirty="0"/>
              <a:t>V</a:t>
            </a:r>
            <a:r>
              <a:rPr lang="en-US" sz="2400" noProof="0" dirty="0"/>
              <a:t>.</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524" y="4675930"/>
            <a:ext cx="3728408" cy="775015"/>
          </a:xfrm>
        </p:spPr>
        <p:txBody>
          <a:bodyPr wrap="square" lIns="0" tIns="18000" rIns="0" bIns="18000" anchor="ctr">
            <a:spAutoFit/>
          </a:bodyPr>
          <a:lstStyle/>
          <a:p>
            <a:pPr marL="829818" lvl="1" indent="-342900"/>
            <a:r>
              <a:rPr lang="en-US" sz="2400" noProof="0" dirty="0"/>
              <a:t>Use the node voltage method.</a:t>
            </a:r>
          </a:p>
        </p:txBody>
      </p:sp>
      <p:pic>
        <p:nvPicPr>
          <p:cNvPr id="26" name="Picture 1" descr="A circuit diagram shows a current source small i sub s connected to a resistor of 20 ohms through terminals 1, 2, and 3. The resistor is again connected to the positive terminal of a voltage source v sub s. The negative terminal of v sub s is again connected to the current source through terminals 4, 5, and 6. A resistor of 5 ohms is connected between terminals 1 and 6, a capacitor of 9 micro farads is connected between terminals 2 and 5, and an inductance coil of 100 micro hertz is connected between the terminals 3 and 4. Below the circuit between the terminals 1 and 2 is a plus sign, and above the circuit between the terminals 5 and 6 is a minus sign. The term v of t is labeled within the circuit connecting the terminals 1, 2, 5, and 6.">
            <a:extLst>
              <a:ext uri="{FF2B5EF4-FFF2-40B4-BE49-F238E27FC236}">
                <a16:creationId xmlns:a16="http://schemas.microsoft.com/office/drawing/2014/main" id="{0137FCE3-992F-8E3A-783C-9CE3A8068015}"/>
              </a:ext>
            </a:extLst>
          </p:cNvPr>
          <p:cNvPicPr>
            <a:picLocks noChangeAspect="1" noChangeArrowheads="1"/>
          </p:cNvPicPr>
          <p:nvPr/>
        </p:nvPicPr>
        <p:blipFill>
          <a:blip r:embed="rId7"/>
          <a:srcRect/>
          <a:stretch/>
        </p:blipFill>
        <p:spPr bwMode="auto">
          <a:xfrm>
            <a:off x="4697186" y="1667067"/>
            <a:ext cx="3848974" cy="111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3" descr="A circuit diagram shows a current source of 10 amperes at 0 degrees connected to a resistor of 20 ohms through terminals 1, 2, and 3. The resistor is again connected to the positive terminal of a voltage source V with 100 volts at an angle of negative 90 degrees. The negative terminal of V is again connected to the current source through terminals 4, 5, and 6. A resistor of 5 ohms is connected between terminals 1 and 6, a capacitor of negative j 2.22 ohms is connected between terminals 2 and 5, and an inductance coil of j 5 ohms is connected between the terminals 3 and 4. Below the circuit between the terminals 2 and 3 is a plus sign, and above the circuit between the terminals 4 and 5 is a minus sign. The term V is labeled within the circuit connecting the terminals 2, 3, 4, and 5.">
            <a:extLst>
              <a:ext uri="{FF2B5EF4-FFF2-40B4-BE49-F238E27FC236}">
                <a16:creationId xmlns:a16="http://schemas.microsoft.com/office/drawing/2014/main" id="{E84B4729-2A27-ADC8-A560-DF9F46F2845B}"/>
              </a:ext>
            </a:extLst>
          </p:cNvPr>
          <p:cNvPicPr>
            <a:picLocks noChangeAspect="1" noChangeArrowheads="1"/>
          </p:cNvPicPr>
          <p:nvPr/>
        </p:nvPicPr>
        <p:blipFill>
          <a:blip r:embed="rId8"/>
          <a:stretch>
            <a:fillRect/>
          </a:stretch>
        </p:blipFill>
        <p:spPr bwMode="auto">
          <a:xfrm>
            <a:off x="4873039" y="3210902"/>
            <a:ext cx="3621092" cy="1089769"/>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28" name="Object 2" descr="Negative 10 angle 0 degrees plus Start Fraction V over 5 End Fraction plus Start Fraction V over negative j 2.22 End Fraction plus Start Fraction V over j 5 End Fraction plus Start Fraction V minus j 100 over 20 End Fraction equals 0.&#10;">
            <a:extLst>
              <a:ext uri="{FF2B5EF4-FFF2-40B4-BE49-F238E27FC236}">
                <a16:creationId xmlns:a16="http://schemas.microsoft.com/office/drawing/2014/main" id="{AAB2A498-C945-B138-82CE-25072EE4F396}"/>
              </a:ext>
            </a:extLst>
          </p:cNvPr>
          <p:cNvGraphicFramePr>
            <a:graphicFrameLocks noChangeAspect="1"/>
          </p:cNvGraphicFramePr>
          <p:nvPr/>
        </p:nvGraphicFramePr>
        <p:xfrm>
          <a:off x="4608513" y="4575175"/>
          <a:ext cx="4029075" cy="587375"/>
        </p:xfrm>
        <a:graphic>
          <a:graphicData uri="http://schemas.openxmlformats.org/presentationml/2006/ole">
            <mc:AlternateContent xmlns:mc="http://schemas.openxmlformats.org/markup-compatibility/2006">
              <mc:Choice xmlns:v="urn:schemas-microsoft-com:vml" Requires="v">
                <p:oleObj spid="_x0000_s3081" name="Equation" r:id="rId9" imgW="2869920" imgH="419040" progId="Equation.DSMT4">
                  <p:embed/>
                </p:oleObj>
              </mc:Choice>
              <mc:Fallback>
                <p:oleObj name="Equation" r:id="rId9" imgW="2869920" imgH="419040" progId="Equation.DSMT4">
                  <p:embed/>
                  <p:pic>
                    <p:nvPicPr>
                      <p:cNvPr id="28" name="Object 2" descr="Negative 10 angle 0 degrees plus Start Fraction V over 5 End Fraction plus Start Fraction V over negative j 2.22 End Fraction plus Start Fraction V over j 5 End Fraction plus Start Fraction V minus j 100 over 20 End Fraction equals 0.&#10;">
                        <a:extLst>
                          <a:ext uri="{FF2B5EF4-FFF2-40B4-BE49-F238E27FC236}">
                            <a16:creationId xmlns:a16="http://schemas.microsoft.com/office/drawing/2014/main" id="{AAB2A498-C945-B138-82CE-25072EE4F396}"/>
                          </a:ext>
                        </a:extLst>
                      </p:cNvPr>
                      <p:cNvPicPr>
                        <a:picLocks noChangeAspect="1" noChangeArrowheads="1"/>
                      </p:cNvPicPr>
                      <p:nvPr/>
                    </p:nvPicPr>
                    <p:blipFill>
                      <a:blip r:embed="rId10"/>
                      <a:srcRect/>
                      <a:stretch>
                        <a:fillRect/>
                      </a:stretch>
                    </p:blipFill>
                    <p:spPr bwMode="auto">
                      <a:xfrm>
                        <a:off x="4608513" y="4575175"/>
                        <a:ext cx="4029075"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2" descr="V OpenParenthesis StartFraction 1 over 5 EndFraction plus StartFraction 1 over negative j 2.22 EndFraction plus Start Fraction 1 over j 5 End Fraction plus Start Fraction 1 over 20 End Fraction Close Parenthesis equals 10 plus j 5.&#10;">
            <a:extLst>
              <a:ext uri="{FF2B5EF4-FFF2-40B4-BE49-F238E27FC236}">
                <a16:creationId xmlns:a16="http://schemas.microsoft.com/office/drawing/2014/main" id="{892EC05B-E213-D057-A4E4-A9942A01B407}"/>
              </a:ext>
            </a:extLst>
          </p:cNvPr>
          <p:cNvGraphicFramePr>
            <a:graphicFrameLocks noChangeAspect="1"/>
          </p:cNvGraphicFramePr>
          <p:nvPr/>
        </p:nvGraphicFramePr>
        <p:xfrm>
          <a:off x="4778375" y="5257800"/>
          <a:ext cx="3282950" cy="639763"/>
        </p:xfrm>
        <a:graphic>
          <a:graphicData uri="http://schemas.openxmlformats.org/presentationml/2006/ole">
            <mc:AlternateContent xmlns:mc="http://schemas.openxmlformats.org/markup-compatibility/2006">
              <mc:Choice xmlns:v="urn:schemas-microsoft-com:vml" Requires="v">
                <p:oleObj spid="_x0000_s3082" name="Equation" r:id="rId11" imgW="2336760" imgH="457200" progId="Equation.DSMT4">
                  <p:embed/>
                </p:oleObj>
              </mc:Choice>
              <mc:Fallback>
                <p:oleObj name="Equation" r:id="rId11" imgW="2336760" imgH="457200" progId="Equation.DSMT4">
                  <p:embed/>
                  <p:pic>
                    <p:nvPicPr>
                      <p:cNvPr id="4" name="Object 2" descr="V OpenParenthesis StartFraction 1 over 5 EndFraction plus StartFraction 1 over negative j 2.22 EndFraction plus Start Fraction 1 over j 5 End Fraction plus Start Fraction 1 over 20 End Fraction Close Parenthesis equals 10 plus j 5.&#10;">
                        <a:extLst>
                          <a:ext uri="{FF2B5EF4-FFF2-40B4-BE49-F238E27FC236}">
                            <a16:creationId xmlns:a16="http://schemas.microsoft.com/office/drawing/2014/main" id="{892EC05B-E213-D057-A4E4-A9942A01B407}"/>
                          </a:ext>
                        </a:extLst>
                      </p:cNvPr>
                      <p:cNvPicPr>
                        <a:picLocks noChangeAspect="1" noChangeArrowheads="1"/>
                      </p:cNvPicPr>
                      <p:nvPr/>
                    </p:nvPicPr>
                    <p:blipFill>
                      <a:blip r:embed="rId12"/>
                      <a:srcRect/>
                      <a:stretch>
                        <a:fillRect/>
                      </a:stretch>
                    </p:blipFill>
                    <p:spPr bwMode="auto">
                      <a:xfrm>
                        <a:off x="4778375" y="5257800"/>
                        <a:ext cx="3282950" cy="639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2" descr="Therefore V equals 10 minus j 30 Volt.&#10;">
            <a:extLst>
              <a:ext uri="{FF2B5EF4-FFF2-40B4-BE49-F238E27FC236}">
                <a16:creationId xmlns:a16="http://schemas.microsoft.com/office/drawing/2014/main" id="{D8E797CC-CA35-CA67-C507-168034FFEDA8}"/>
              </a:ext>
            </a:extLst>
          </p:cNvPr>
          <p:cNvGraphicFramePr>
            <a:graphicFrameLocks noChangeAspect="1"/>
          </p:cNvGraphicFramePr>
          <p:nvPr/>
        </p:nvGraphicFramePr>
        <p:xfrm>
          <a:off x="4773613" y="5999163"/>
          <a:ext cx="2052637" cy="301625"/>
        </p:xfrm>
        <a:graphic>
          <a:graphicData uri="http://schemas.openxmlformats.org/presentationml/2006/ole">
            <mc:AlternateContent xmlns:mc="http://schemas.openxmlformats.org/markup-compatibility/2006">
              <mc:Choice xmlns:v="urn:schemas-microsoft-com:vml" Requires="v">
                <p:oleObj spid="_x0000_s3083" name="Equation" r:id="rId13" imgW="1460160" imgH="215640" progId="Equation.DSMT4">
                  <p:embed/>
                </p:oleObj>
              </mc:Choice>
              <mc:Fallback>
                <p:oleObj name="Equation" r:id="rId13" imgW="1460160" imgH="215640" progId="Equation.DSMT4">
                  <p:embed/>
                  <p:pic>
                    <p:nvPicPr>
                      <p:cNvPr id="5" name="Object 2" descr="Therefore V equals 10 minus j 30 Volt.&#10;">
                        <a:extLst>
                          <a:ext uri="{FF2B5EF4-FFF2-40B4-BE49-F238E27FC236}">
                            <a16:creationId xmlns:a16="http://schemas.microsoft.com/office/drawing/2014/main" id="{D8E797CC-CA35-CA67-C507-168034FFEDA8}"/>
                          </a:ext>
                        </a:extLst>
                      </p:cNvPr>
                      <p:cNvPicPr>
                        <a:picLocks noChangeAspect="1" noChangeArrowheads="1"/>
                      </p:cNvPicPr>
                      <p:nvPr/>
                    </p:nvPicPr>
                    <p:blipFill>
                      <a:blip r:embed="rId14"/>
                      <a:srcRect/>
                      <a:stretch>
                        <a:fillRect/>
                      </a:stretch>
                    </p:blipFill>
                    <p:spPr bwMode="auto">
                      <a:xfrm>
                        <a:off x="4773613" y="5999163"/>
                        <a:ext cx="2052637" cy="30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98222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lstStyle/>
          <a:p>
            <a:r>
              <a:rPr lang="en-US" noProof="0" dirty="0"/>
              <a:t>Chapter 9 – Sinusoidal Steady-State Analysis </a:t>
            </a:r>
            <a:r>
              <a:rPr lang="en-US" sz="2800" noProof="0" dirty="0"/>
              <a:t>(6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78263"/>
            <a:ext cx="8220974" cy="405683"/>
          </a:xfrm>
        </p:spPr>
        <p:txBody>
          <a:bodyPr wrap="square" lIns="0" tIns="18000" rIns="0" bIns="18000" anchor="ctr">
            <a:spAutoFit/>
          </a:bodyPr>
          <a:lstStyle/>
          <a:p>
            <a:pPr marL="0" indent="0">
              <a:spcBef>
                <a:spcPts val="600"/>
              </a:spcBef>
              <a:buNone/>
            </a:pPr>
            <a:r>
              <a:rPr lang="en-US" altLang="en-US" sz="2400" noProof="0" dirty="0"/>
              <a:t>In writing the equations previously, we replaced the complex</a:t>
            </a:r>
            <a:endParaRPr lang="en-US" sz="2400" noProof="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956676"/>
            <a:ext cx="1080099" cy="405683"/>
          </a:xfrm>
        </p:spPr>
        <p:txBody>
          <a:bodyPr wrap="square" lIns="0" tIns="18000" rIns="0" bIns="18000" anchor="ctr">
            <a:spAutoFit/>
          </a:bodyPr>
          <a:lstStyle/>
          <a:p>
            <a:pPr marL="0" indent="0">
              <a:spcBef>
                <a:spcPts val="600"/>
              </a:spcBef>
              <a:buNone/>
            </a:pPr>
            <a:r>
              <a:rPr lang="en-US" altLang="en-US" sz="2400" noProof="0" dirty="0"/>
              <a:t>number</a:t>
            </a:r>
            <a:endParaRPr lang="en-US" sz="2400" noProof="0" dirty="0"/>
          </a:p>
        </p:txBody>
      </p:sp>
      <p:graphicFrame>
        <p:nvGraphicFramePr>
          <p:cNvPr id="2" name="Object 1" descr="100 angle negative 90 degrees.&#10;">
            <a:extLst>
              <a:ext uri="{FF2B5EF4-FFF2-40B4-BE49-F238E27FC236}">
                <a16:creationId xmlns:a16="http://schemas.microsoft.com/office/drawing/2014/main" id="{FF04E13E-5E1C-BCED-CC3D-475BCC7ED29A}"/>
              </a:ext>
            </a:extLst>
          </p:cNvPr>
          <p:cNvGraphicFramePr>
            <a:graphicFrameLocks noChangeAspect="1"/>
          </p:cNvGraphicFramePr>
          <p:nvPr>
            <p:extLst>
              <p:ext uri="{D42A27DB-BD31-4B8C-83A1-F6EECF244321}">
                <p14:modId xmlns:p14="http://schemas.microsoft.com/office/powerpoint/2010/main" val="596957348"/>
              </p:ext>
            </p:extLst>
          </p:nvPr>
        </p:nvGraphicFramePr>
        <p:xfrm>
          <a:off x="1574805" y="2045332"/>
          <a:ext cx="1252538" cy="288925"/>
        </p:xfrm>
        <a:graphic>
          <a:graphicData uri="http://schemas.openxmlformats.org/presentationml/2006/ole">
            <mc:AlternateContent xmlns:mc="http://schemas.openxmlformats.org/markup-compatibility/2006">
              <mc:Choice xmlns:v="urn:schemas-microsoft-com:vml" Requires="v">
                <p:oleObj spid="_x0000_s4099" name="Equation" r:id="rId3" imgW="774360" imgH="177480" progId="Equation.DSMT4">
                  <p:embed/>
                </p:oleObj>
              </mc:Choice>
              <mc:Fallback>
                <p:oleObj name="Equation" r:id="rId3" imgW="774360" imgH="177480" progId="Equation.DSMT4">
                  <p:embed/>
                  <p:pic>
                    <p:nvPicPr>
                      <p:cNvPr id="2" name="Object 1">
                        <a:extLst>
                          <a:ext uri="{FF2B5EF4-FFF2-40B4-BE49-F238E27FC236}">
                            <a16:creationId xmlns:a16="http://schemas.microsoft.com/office/drawing/2014/main" id="{2D35472A-AC2E-2DBE-3845-EF589B68C2A2}"/>
                          </a:ext>
                        </a:extLst>
                      </p:cNvPr>
                      <p:cNvPicPr>
                        <a:picLocks noChangeAspect="1" noChangeArrowheads="1"/>
                      </p:cNvPicPr>
                      <p:nvPr/>
                    </p:nvPicPr>
                    <p:blipFill>
                      <a:blip r:embed="rId4"/>
                      <a:srcRect/>
                      <a:stretch>
                        <a:fillRect/>
                      </a:stretch>
                    </p:blipFill>
                    <p:spPr bwMode="auto">
                      <a:xfrm>
                        <a:off x="1574805" y="2045332"/>
                        <a:ext cx="12525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2954956" y="1960628"/>
            <a:ext cx="5771074" cy="405683"/>
          </a:xfrm>
        </p:spPr>
        <p:txBody>
          <a:bodyPr wrap="square" lIns="0" tIns="18000" rIns="0" bIns="18000" anchor="ctr">
            <a:spAutoFit/>
          </a:bodyPr>
          <a:lstStyle/>
          <a:p>
            <a:pPr marL="0" indent="0">
              <a:spcBef>
                <a:spcPts val="600"/>
              </a:spcBef>
              <a:buNone/>
            </a:pPr>
            <a:r>
              <a:rPr lang="en-US" altLang="en-US" sz="2400" noProof="0" dirty="0">
                <a:sym typeface="Symbol" pitchFamily="18" charset="2"/>
              </a:rPr>
              <a:t>with j100. Your calculator can do this for</a:t>
            </a:r>
            <a:endParaRPr lang="en-US" sz="2400" noProof="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2439032"/>
            <a:ext cx="7774197" cy="405683"/>
          </a:xfrm>
        </p:spPr>
        <p:txBody>
          <a:bodyPr wrap="square" lIns="0" tIns="18000" rIns="0" bIns="18000" anchor="ctr">
            <a:spAutoFit/>
          </a:bodyPr>
          <a:lstStyle/>
          <a:p>
            <a:pPr marL="0" indent="0">
              <a:spcBef>
                <a:spcPts val="600"/>
              </a:spcBef>
              <a:buNone/>
            </a:pPr>
            <a:r>
              <a:rPr lang="en-US" altLang="en-US" sz="2400" noProof="0" dirty="0">
                <a:sym typeface="Symbol" pitchFamily="18" charset="2"/>
              </a:rPr>
              <a:t>you by putting its representation of complex numbers in</a:t>
            </a:r>
            <a:endParaRPr lang="en-US" sz="2400" noProof="0" dirty="0"/>
          </a:p>
        </p:txBody>
      </p:sp>
      <p:pic>
        <p:nvPicPr>
          <p:cNvPr id="17" name="Picture 2" descr="Check mark">
            <a:extLst>
              <a:ext uri="{FF2B5EF4-FFF2-40B4-BE49-F238E27FC236}">
                <a16:creationId xmlns:a16="http://schemas.microsoft.com/office/drawing/2014/main" id="{5FC2A401-FAEC-C409-44C0-2345C4BF0C6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3738" y="330817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283531" y="3210822"/>
            <a:ext cx="3036057"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Rectangular form</a:t>
            </a:r>
          </a:p>
        </p:txBody>
      </p:sp>
      <p:pic>
        <p:nvPicPr>
          <p:cNvPr id="18" name="Picture 3" descr="Cross mark">
            <a:extLst>
              <a:ext uri="{FF2B5EF4-FFF2-40B4-BE49-F238E27FC236}">
                <a16:creationId xmlns:a16="http://schemas.microsoft.com/office/drawing/2014/main" id="{61AC0CE2-52D1-3C25-B3CE-AE722995E1A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0174" y="3838452"/>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283532" y="3766735"/>
            <a:ext cx="3036056"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Polar form</a:t>
            </a:r>
            <a:endParaRPr lang="en-US" sz="2400" noProof="0" dirty="0">
              <a:solidFill>
                <a:srgbClr val="007FA3"/>
              </a:solidFill>
            </a:endParaRPr>
          </a:p>
        </p:txBody>
      </p:sp>
      <p:pic>
        <p:nvPicPr>
          <p:cNvPr id="19" name="Picture 3" descr="Cross mark">
            <a:extLst>
              <a:ext uri="{FF2B5EF4-FFF2-40B4-BE49-F238E27FC236}">
                <a16:creationId xmlns:a16="http://schemas.microsoft.com/office/drawing/2014/main" id="{057ACD52-D788-71EA-1598-03FEC549F90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7300" y="437041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283532" y="4314423"/>
            <a:ext cx="3036056"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Approximate form</a:t>
            </a:r>
          </a:p>
        </p:txBody>
      </p:sp>
    </p:spTree>
    <p:extLst>
      <p:ext uri="{BB962C8B-B14F-4D97-AF65-F5344CB8AC3E}">
        <p14:creationId xmlns:p14="http://schemas.microsoft.com/office/powerpoint/2010/main" val="3584705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lstStyle/>
          <a:p>
            <a:r>
              <a:rPr lang="en-US" noProof="0" dirty="0"/>
              <a:t>Chapter 9 – Sinusoidal Steady-State Analysis </a:t>
            </a:r>
            <a:r>
              <a:rPr lang="en-US" sz="2800" noProof="0" dirty="0"/>
              <a:t>(7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86895"/>
            <a:ext cx="8127880" cy="405683"/>
          </a:xfrm>
        </p:spPr>
        <p:txBody>
          <a:bodyPr wrap="square" lIns="0" tIns="18000" rIns="0" bIns="18000" anchor="ctr">
            <a:spAutoFit/>
          </a:bodyPr>
          <a:lstStyle/>
          <a:p>
            <a:pPr marL="0" indent="0">
              <a:spcBef>
                <a:spcPts val="600"/>
              </a:spcBef>
              <a:buNone/>
            </a:pPr>
            <a:r>
              <a:rPr lang="en-US" altLang="en-US" sz="2400" noProof="0" dirty="0"/>
              <a:t>Convert the complex number -15 to polar form.</a:t>
            </a:r>
          </a:p>
        </p:txBody>
      </p:sp>
      <p:pic>
        <p:nvPicPr>
          <p:cNvPr id="2" name="Picture 5" descr="Cross mark">
            <a:extLst>
              <a:ext uri="{FF2B5EF4-FFF2-40B4-BE49-F238E27FC236}">
                <a16:creationId xmlns:a16="http://schemas.microsoft.com/office/drawing/2014/main" id="{EED32C0A-DCA3-1D9B-5587-E7409628FF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393" y="221465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09415" y="2163704"/>
            <a:ext cx="318038"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p>
        </p:txBody>
      </p:sp>
      <p:graphicFrame>
        <p:nvGraphicFramePr>
          <p:cNvPr id="5" name="Object 4" descr="Negative 15 angle 0 degrees.&#10;">
            <a:extLst>
              <a:ext uri="{FF2B5EF4-FFF2-40B4-BE49-F238E27FC236}">
                <a16:creationId xmlns:a16="http://schemas.microsoft.com/office/drawing/2014/main" id="{016F6C2F-5EAB-B589-3465-CDA7DF9DDC33}"/>
              </a:ext>
            </a:extLst>
          </p:cNvPr>
          <p:cNvGraphicFramePr>
            <a:graphicFrameLocks noChangeAspect="1"/>
          </p:cNvGraphicFramePr>
          <p:nvPr>
            <p:extLst>
              <p:ext uri="{D42A27DB-BD31-4B8C-83A1-F6EECF244321}">
                <p14:modId xmlns:p14="http://schemas.microsoft.com/office/powerpoint/2010/main" val="1725608954"/>
              </p:ext>
            </p:extLst>
          </p:nvPr>
        </p:nvGraphicFramePr>
        <p:xfrm>
          <a:off x="1757363" y="2220913"/>
          <a:ext cx="974725" cy="333375"/>
        </p:xfrm>
        <a:graphic>
          <a:graphicData uri="http://schemas.openxmlformats.org/presentationml/2006/ole">
            <mc:AlternateContent xmlns:mc="http://schemas.openxmlformats.org/markup-compatibility/2006">
              <mc:Choice xmlns:v="urn:schemas-microsoft-com:vml" Requires="v">
                <p:oleObj spid="_x0000_s5125" name="Equation" r:id="rId4" imgW="596880" imgH="203040" progId="Equation.DSMT4">
                  <p:embed/>
                </p:oleObj>
              </mc:Choice>
              <mc:Fallback>
                <p:oleObj name="Equation" r:id="rId4" imgW="596880" imgH="203040" progId="Equation.DSMT4">
                  <p:embed/>
                  <p:pic>
                    <p:nvPicPr>
                      <p:cNvPr id="2" name="Object 1">
                        <a:extLst>
                          <a:ext uri="{FF2B5EF4-FFF2-40B4-BE49-F238E27FC236}">
                            <a16:creationId xmlns:a16="http://schemas.microsoft.com/office/drawing/2014/main" id="{FF04E13E-5E1C-BCED-CC3D-475BCC7ED29A}"/>
                          </a:ext>
                        </a:extLst>
                      </p:cNvPr>
                      <p:cNvPicPr>
                        <a:picLocks noChangeAspect="1" noChangeArrowheads="1"/>
                      </p:cNvPicPr>
                      <p:nvPr/>
                    </p:nvPicPr>
                    <p:blipFill>
                      <a:blip r:embed="rId5"/>
                      <a:srcRect/>
                      <a:stretch>
                        <a:fillRect/>
                      </a:stretch>
                    </p:blipFill>
                    <p:spPr bwMode="auto">
                      <a:xfrm>
                        <a:off x="1757363" y="2220913"/>
                        <a:ext cx="9747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Picture 3" descr="Cross mark">
            <a:extLst>
              <a:ext uri="{FF2B5EF4-FFF2-40B4-BE49-F238E27FC236}">
                <a16:creationId xmlns:a16="http://schemas.microsoft.com/office/drawing/2014/main" id="{F50C92C0-0B59-B4A4-2B21-378035C768C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174" y="274864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00792" y="2685249"/>
            <a:ext cx="318038"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p>
        </p:txBody>
      </p:sp>
      <p:graphicFrame>
        <p:nvGraphicFramePr>
          <p:cNvPr id="16" name="Object 15" descr="15 angle negative 90 degrees.&#10;">
            <a:extLst>
              <a:ext uri="{FF2B5EF4-FFF2-40B4-BE49-F238E27FC236}">
                <a16:creationId xmlns:a16="http://schemas.microsoft.com/office/drawing/2014/main" id="{62AA86B0-67D1-57A2-8236-B65526B2F985}"/>
              </a:ext>
            </a:extLst>
          </p:cNvPr>
          <p:cNvGraphicFramePr>
            <a:graphicFrameLocks noChangeAspect="1"/>
          </p:cNvGraphicFramePr>
          <p:nvPr>
            <p:extLst>
              <p:ext uri="{D42A27DB-BD31-4B8C-83A1-F6EECF244321}">
                <p14:modId xmlns:p14="http://schemas.microsoft.com/office/powerpoint/2010/main" val="956852384"/>
              </p:ext>
            </p:extLst>
          </p:nvPr>
        </p:nvGraphicFramePr>
        <p:xfrm>
          <a:off x="1776270" y="2746375"/>
          <a:ext cx="1141413" cy="333375"/>
        </p:xfrm>
        <a:graphic>
          <a:graphicData uri="http://schemas.openxmlformats.org/presentationml/2006/ole">
            <mc:AlternateContent xmlns:mc="http://schemas.openxmlformats.org/markup-compatibility/2006">
              <mc:Choice xmlns:v="urn:schemas-microsoft-com:vml" Requires="v">
                <p:oleObj spid="_x0000_s5126" name="Equation" r:id="rId6" imgW="698400" imgH="203040" progId="Equation.DSMT4">
                  <p:embed/>
                </p:oleObj>
              </mc:Choice>
              <mc:Fallback>
                <p:oleObj name="Equation" r:id="rId6" imgW="698400" imgH="203040" progId="Equation.DSMT4">
                  <p:embed/>
                  <p:pic>
                    <p:nvPicPr>
                      <p:cNvPr id="5" name="Object 4">
                        <a:extLst>
                          <a:ext uri="{FF2B5EF4-FFF2-40B4-BE49-F238E27FC236}">
                            <a16:creationId xmlns:a16="http://schemas.microsoft.com/office/drawing/2014/main" id="{016F6C2F-5EAB-B589-3465-CDA7DF9DDC33}"/>
                          </a:ext>
                        </a:extLst>
                      </p:cNvPr>
                      <p:cNvPicPr>
                        <a:picLocks noChangeAspect="1" noChangeArrowheads="1"/>
                      </p:cNvPicPr>
                      <p:nvPr/>
                    </p:nvPicPr>
                    <p:blipFill>
                      <a:blip r:embed="rId7"/>
                      <a:srcRect/>
                      <a:stretch>
                        <a:fillRect/>
                      </a:stretch>
                    </p:blipFill>
                    <p:spPr bwMode="auto">
                      <a:xfrm>
                        <a:off x="1776270" y="2746375"/>
                        <a:ext cx="11414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Picture 2" descr="Check mark">
            <a:extLst>
              <a:ext uri="{FF2B5EF4-FFF2-40B4-BE49-F238E27FC236}">
                <a16:creationId xmlns:a16="http://schemas.microsoft.com/office/drawing/2014/main" id="{B95C57FD-AC17-F377-3ABE-2B827C8D35F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22364" y="3270847"/>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292161" y="3206783"/>
            <a:ext cx="343921"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p>
        </p:txBody>
      </p:sp>
      <p:graphicFrame>
        <p:nvGraphicFramePr>
          <p:cNvPr id="17" name="Object 16" descr="15 angle 180 degrees.&#10;">
            <a:extLst>
              <a:ext uri="{FF2B5EF4-FFF2-40B4-BE49-F238E27FC236}">
                <a16:creationId xmlns:a16="http://schemas.microsoft.com/office/drawing/2014/main" id="{4DD3650B-2BB9-C6A6-FB6E-4280032EC51A}"/>
              </a:ext>
            </a:extLst>
          </p:cNvPr>
          <p:cNvGraphicFramePr>
            <a:graphicFrameLocks noChangeAspect="1"/>
          </p:cNvGraphicFramePr>
          <p:nvPr>
            <p:extLst>
              <p:ext uri="{D42A27DB-BD31-4B8C-83A1-F6EECF244321}">
                <p14:modId xmlns:p14="http://schemas.microsoft.com/office/powerpoint/2010/main" val="3499970982"/>
              </p:ext>
            </p:extLst>
          </p:nvPr>
        </p:nvGraphicFramePr>
        <p:xfrm>
          <a:off x="1758950" y="3286125"/>
          <a:ext cx="1079500" cy="333375"/>
        </p:xfrm>
        <a:graphic>
          <a:graphicData uri="http://schemas.openxmlformats.org/presentationml/2006/ole">
            <mc:AlternateContent xmlns:mc="http://schemas.openxmlformats.org/markup-compatibility/2006">
              <mc:Choice xmlns:v="urn:schemas-microsoft-com:vml" Requires="v">
                <p:oleObj spid="_x0000_s5127" name="Equation" r:id="rId9" imgW="660240" imgH="203040" progId="Equation.DSMT4">
                  <p:embed/>
                </p:oleObj>
              </mc:Choice>
              <mc:Fallback>
                <p:oleObj name="Equation" r:id="rId9" imgW="660240" imgH="203040" progId="Equation.DSMT4">
                  <p:embed/>
                  <p:pic>
                    <p:nvPicPr>
                      <p:cNvPr id="16" name="Object 15">
                        <a:extLst>
                          <a:ext uri="{FF2B5EF4-FFF2-40B4-BE49-F238E27FC236}">
                            <a16:creationId xmlns:a16="http://schemas.microsoft.com/office/drawing/2014/main" id="{62AA86B0-67D1-57A2-8236-B65526B2F985}"/>
                          </a:ext>
                        </a:extLst>
                      </p:cNvPr>
                      <p:cNvPicPr>
                        <a:picLocks noChangeAspect="1" noChangeArrowheads="1"/>
                      </p:cNvPicPr>
                      <p:nvPr/>
                    </p:nvPicPr>
                    <p:blipFill>
                      <a:blip r:embed="rId10"/>
                      <a:srcRect/>
                      <a:stretch>
                        <a:fillRect/>
                      </a:stretch>
                    </p:blipFill>
                    <p:spPr bwMode="auto">
                      <a:xfrm>
                        <a:off x="1758950" y="3286125"/>
                        <a:ext cx="10795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53553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lstStyle/>
          <a:p>
            <a:r>
              <a:rPr lang="en-US" noProof="0" dirty="0"/>
              <a:t>Chapter 9 – Sinusoidal Steady-State Analysis </a:t>
            </a:r>
            <a:r>
              <a:rPr lang="en-US" sz="2800" noProof="0" dirty="0"/>
              <a:t>(8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17673"/>
            <a:ext cx="3124559" cy="344128"/>
          </a:xfrm>
        </p:spPr>
        <p:txBody>
          <a:bodyPr wrap="square" lIns="0" tIns="18000" rIns="0" bIns="18000" anchor="ctr">
            <a:spAutoFit/>
          </a:bodyPr>
          <a:lstStyle/>
          <a:p>
            <a:pPr marL="0" indent="0">
              <a:spcBef>
                <a:spcPts val="600"/>
              </a:spcBef>
              <a:buNone/>
            </a:pPr>
            <a:r>
              <a:rPr lang="en-US" sz="2000" noProof="0" dirty="0"/>
              <a:t>Example (continued):</a:t>
            </a:r>
            <a:endParaRPr lang="en-US" altLang="en-US" sz="2000" spc="-300" noProof="0" dirty="0"/>
          </a:p>
        </p:txBody>
      </p:sp>
      <p:graphicFrame>
        <p:nvGraphicFramePr>
          <p:cNvPr id="2" name="Object 1" descr="i subscript s l baseline (t) equals 10 cosine 50,000 t Ampere;&#10;">
            <a:extLst>
              <a:ext uri="{FF2B5EF4-FFF2-40B4-BE49-F238E27FC236}">
                <a16:creationId xmlns:a16="http://schemas.microsoft.com/office/drawing/2014/main" id="{2D35472A-AC2E-2DBE-3845-EF589B68C2A2}"/>
              </a:ext>
            </a:extLst>
          </p:cNvPr>
          <p:cNvGraphicFramePr>
            <a:graphicFrameLocks noChangeAspect="1"/>
          </p:cNvGraphicFramePr>
          <p:nvPr>
            <p:extLst>
              <p:ext uri="{D42A27DB-BD31-4B8C-83A1-F6EECF244321}">
                <p14:modId xmlns:p14="http://schemas.microsoft.com/office/powerpoint/2010/main" val="2983913410"/>
              </p:ext>
            </p:extLst>
          </p:nvPr>
        </p:nvGraphicFramePr>
        <p:xfrm>
          <a:off x="429105" y="1961645"/>
          <a:ext cx="2836863" cy="371475"/>
        </p:xfrm>
        <a:graphic>
          <a:graphicData uri="http://schemas.openxmlformats.org/presentationml/2006/ole">
            <mc:AlternateContent xmlns:mc="http://schemas.openxmlformats.org/markup-compatibility/2006">
              <mc:Choice xmlns:v="urn:schemas-microsoft-com:vml" Requires="v">
                <p:oleObj spid="_x0000_s6150" name="Equation" r:id="rId3" imgW="1752480" imgH="228600" progId="Equation.DSMT4">
                  <p:embed/>
                </p:oleObj>
              </mc:Choice>
              <mc:Fallback>
                <p:oleObj name="Equation" r:id="rId3" imgW="1752480" imgH="228600" progId="Equation.DSMT4">
                  <p:embed/>
                  <p:pic>
                    <p:nvPicPr>
                      <p:cNvPr id="2" name="Object 1">
                        <a:extLst>
                          <a:ext uri="{FF2B5EF4-FFF2-40B4-BE49-F238E27FC236}">
                            <a16:creationId xmlns:a16="http://schemas.microsoft.com/office/drawing/2014/main" id="{2D35472A-AC2E-2DBE-3845-EF589B68C2A2}"/>
                          </a:ext>
                        </a:extLst>
                      </p:cNvPr>
                      <p:cNvPicPr>
                        <a:picLocks noChangeAspect="1" noChangeArrowheads="1"/>
                      </p:cNvPicPr>
                      <p:nvPr/>
                    </p:nvPicPr>
                    <p:blipFill>
                      <a:blip r:embed="rId4"/>
                      <a:srcRect/>
                      <a:stretch>
                        <a:fillRect/>
                      </a:stretch>
                    </p:blipFill>
                    <p:spPr bwMode="auto">
                      <a:xfrm>
                        <a:off x="429105" y="1961645"/>
                        <a:ext cx="283686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v subscript s baseline (t) equals 100 sine 50,000 t Volt.&#10;">
            <a:extLst>
              <a:ext uri="{FF2B5EF4-FFF2-40B4-BE49-F238E27FC236}">
                <a16:creationId xmlns:a16="http://schemas.microsoft.com/office/drawing/2014/main" id="{FA2C226D-04D9-A5A8-4F3D-C57E220C4C78}"/>
              </a:ext>
            </a:extLst>
          </p:cNvPr>
          <p:cNvGraphicFramePr>
            <a:graphicFrameLocks noChangeAspect="1"/>
          </p:cNvGraphicFramePr>
          <p:nvPr>
            <p:extLst>
              <p:ext uri="{D42A27DB-BD31-4B8C-83A1-F6EECF244321}">
                <p14:modId xmlns:p14="http://schemas.microsoft.com/office/powerpoint/2010/main" val="3639065637"/>
              </p:ext>
            </p:extLst>
          </p:nvPr>
        </p:nvGraphicFramePr>
        <p:xfrm>
          <a:off x="423021" y="2381461"/>
          <a:ext cx="2979737" cy="371475"/>
        </p:xfrm>
        <a:graphic>
          <a:graphicData uri="http://schemas.openxmlformats.org/presentationml/2006/ole">
            <mc:AlternateContent xmlns:mc="http://schemas.openxmlformats.org/markup-compatibility/2006">
              <mc:Choice xmlns:v="urn:schemas-microsoft-com:vml" Requires="v">
                <p:oleObj spid="_x0000_s6151" name="Equation" r:id="rId5" imgW="1841400" imgH="228600" progId="Equation.DSMT4">
                  <p:embed/>
                </p:oleObj>
              </mc:Choice>
              <mc:Fallback>
                <p:oleObj name="Equation" r:id="rId5" imgW="1841400" imgH="228600" progId="Equation.DSMT4">
                  <p:embed/>
                  <p:pic>
                    <p:nvPicPr>
                      <p:cNvPr id="3" name="Object 2">
                        <a:extLst>
                          <a:ext uri="{FF2B5EF4-FFF2-40B4-BE49-F238E27FC236}">
                            <a16:creationId xmlns:a16="http://schemas.microsoft.com/office/drawing/2014/main" id="{FA2C226D-04D9-A5A8-4F3D-C57E220C4C78}"/>
                          </a:ext>
                        </a:extLst>
                      </p:cNvPr>
                      <p:cNvPicPr>
                        <a:picLocks noChangeAspect="1" noChangeArrowheads="1"/>
                      </p:cNvPicPr>
                      <p:nvPr/>
                    </p:nvPicPr>
                    <p:blipFill>
                      <a:blip r:embed="rId6"/>
                      <a:srcRect/>
                      <a:stretch>
                        <a:fillRect/>
                      </a:stretch>
                    </p:blipFill>
                    <p:spPr bwMode="auto">
                      <a:xfrm>
                        <a:off x="423021" y="2381461"/>
                        <a:ext cx="297973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4" y="2850095"/>
            <a:ext cx="3263935" cy="344128"/>
          </a:xfrm>
        </p:spPr>
        <p:txBody>
          <a:bodyPr wrap="square" lIns="0" tIns="18000" rIns="0" bIns="18000" anchor="ctr">
            <a:spAutoFit/>
          </a:bodyPr>
          <a:lstStyle/>
          <a:p>
            <a:pPr marL="0" indent="0">
              <a:spcBef>
                <a:spcPts val="600"/>
              </a:spcBef>
              <a:buNone/>
            </a:pPr>
            <a:r>
              <a:rPr lang="en-US" altLang="en-US" sz="2000" noProof="0" dirty="0"/>
              <a:t>Find </a:t>
            </a:r>
            <a:r>
              <a:rPr lang="en-US" altLang="en-US" sz="2000" i="1" noProof="0" dirty="0"/>
              <a:t>v(t)</a:t>
            </a:r>
            <a:r>
              <a:rPr lang="en-US" altLang="en-US" sz="2000" noProof="0" dirty="0"/>
              <a:t> in the steady-state.</a:t>
            </a:r>
            <a:endParaRPr lang="en-US" sz="2000" noProof="0" dirty="0"/>
          </a:p>
        </p:txBody>
      </p:sp>
      <p:pic>
        <p:nvPicPr>
          <p:cNvPr id="4" name="Picture 1" descr="A circuit diagram shows a current source small i sub s connected to a resistor of 20 ohms through terminals 1, 2, and 3. The resistor is again connected to the positive terminal of a voltage source v sub s. The negative terminal of v sub s is again connected to the current source through terminals 4, 5, and 6. A resistor of 5 ohms is connected between terminals 1 and 6, a capacitor of 9 micro farads is connected between terminals 2 and 5, and an inductance coil of 100 micro hertz is connected between the terminals 3 and 4. Below the circuit between the terminals 1 and 2 is a plus sign, and above the circuit between the terminals 5 and 6 is a minus sign. The term v of t is labeled within the circuit connecting the terminals 1, 2, 5, and 6.">
            <a:extLst>
              <a:ext uri="{FF2B5EF4-FFF2-40B4-BE49-F238E27FC236}">
                <a16:creationId xmlns:a16="http://schemas.microsoft.com/office/drawing/2014/main" id="{EDD2D388-3208-737B-8C63-4679A10A17E9}"/>
              </a:ext>
            </a:extLst>
          </p:cNvPr>
          <p:cNvPicPr>
            <a:picLocks noChangeAspect="1" noChangeArrowheads="1"/>
          </p:cNvPicPr>
          <p:nvPr/>
        </p:nvPicPr>
        <p:blipFill>
          <a:blip r:embed="rId7"/>
          <a:stretch>
            <a:fillRect/>
          </a:stretch>
        </p:blipFill>
        <p:spPr bwMode="auto">
          <a:xfrm>
            <a:off x="4423397" y="1794695"/>
            <a:ext cx="4126626" cy="1192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3374847"/>
            <a:ext cx="8220974" cy="344128"/>
          </a:xfrm>
        </p:spPr>
        <p:txBody>
          <a:bodyPr wrap="square" lIns="0" tIns="18000" rIns="0" bIns="18000" anchor="ctr">
            <a:spAutoFit/>
          </a:bodyPr>
          <a:lstStyle/>
          <a:p>
            <a:pPr marL="457200" indent="-457200">
              <a:buFont typeface="+mj-lt"/>
              <a:buAutoNum type="arabicPeriod" startAt="6"/>
              <a:defRPr/>
            </a:pPr>
            <a:r>
              <a:rPr lang="en-US" sz="2000" noProof="0" dirty="0"/>
              <a:t>Inverse phasor-transform the result to get back to the time </a:t>
            </a:r>
            <a:r>
              <a:rPr lang="en-US" sz="2000" i="1" noProof="0" dirty="0"/>
              <a:t>domain</a:t>
            </a:r>
            <a:r>
              <a:rPr lang="en-US" sz="2000" noProof="0" dirty="0"/>
              <a:t>.</a:t>
            </a:r>
          </a:p>
        </p:txBody>
      </p:sp>
      <p:pic>
        <p:nvPicPr>
          <p:cNvPr id="12" name="Picture 3" descr="A circuit diagram shows a current source of 10 amperes at 0 degrees connected to a resistor of 20 ohms through terminals 1, 2, and 3. The resistor is again connected to the positive terminal of a voltage source V with 100 volts at an angle of negative 90 degrees. The negative terminal of V is again connected to the current source through terminals 4, 5, and 6. A resistor of 5 ohms is connected between terminals 1 and 6, a capacitor of negative j 2.22 ohms is connected between terminals 2 and 5, and an inductance coil of j 5 ohms is connected between the terminals 3 and 4. Below the circuit between the terminals 2 and 3 is a plus sign, and above the circuit between the terminals 4 and 5 is a minus sign. The term V is labeled within the circuit connecting the terminals 2, 3, 4, and 5.">
            <a:extLst>
              <a:ext uri="{FF2B5EF4-FFF2-40B4-BE49-F238E27FC236}">
                <a16:creationId xmlns:a16="http://schemas.microsoft.com/office/drawing/2014/main" id="{0CB3ECF8-C135-8D28-8486-8C2D35A9D1AC}"/>
              </a:ext>
            </a:extLst>
          </p:cNvPr>
          <p:cNvPicPr>
            <a:picLocks noChangeAspect="1" noChangeArrowheads="1"/>
          </p:cNvPicPr>
          <p:nvPr/>
        </p:nvPicPr>
        <p:blipFill>
          <a:blip r:embed="rId8"/>
          <a:stretch>
            <a:fillRect/>
          </a:stretch>
        </p:blipFill>
        <p:spPr bwMode="auto">
          <a:xfrm>
            <a:off x="2688738" y="3932370"/>
            <a:ext cx="3746498" cy="1127510"/>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13" name="Object 2" descr="V equals 10 minus j 30 Volt equals 31.62 angle negative 71.57 degrees Volt.&#10;">
            <a:extLst>
              <a:ext uri="{FF2B5EF4-FFF2-40B4-BE49-F238E27FC236}">
                <a16:creationId xmlns:a16="http://schemas.microsoft.com/office/drawing/2014/main" id="{E403CE7A-EBE7-5C2B-B870-B310D7DEB090}"/>
              </a:ext>
            </a:extLst>
          </p:cNvPr>
          <p:cNvGraphicFramePr>
            <a:graphicFrameLocks noChangeAspect="1"/>
          </p:cNvGraphicFramePr>
          <p:nvPr>
            <p:extLst>
              <p:ext uri="{D42A27DB-BD31-4B8C-83A1-F6EECF244321}">
                <p14:modId xmlns:p14="http://schemas.microsoft.com/office/powerpoint/2010/main" val="772843803"/>
              </p:ext>
            </p:extLst>
          </p:nvPr>
        </p:nvGraphicFramePr>
        <p:xfrm>
          <a:off x="2719388" y="5457825"/>
          <a:ext cx="3368675" cy="287338"/>
        </p:xfrm>
        <a:graphic>
          <a:graphicData uri="http://schemas.openxmlformats.org/presentationml/2006/ole">
            <mc:AlternateContent xmlns:mc="http://schemas.openxmlformats.org/markup-compatibility/2006">
              <mc:Choice xmlns:v="urn:schemas-microsoft-com:vml" Requires="v">
                <p:oleObj spid="_x0000_s6152" name="Equation" r:id="rId9" imgW="2374560" imgH="203040" progId="Equation.DSMT4">
                  <p:embed/>
                </p:oleObj>
              </mc:Choice>
              <mc:Fallback>
                <p:oleObj name="Equation" r:id="rId9" imgW="2374560" imgH="203040" progId="Equation.DSMT4">
                  <p:embed/>
                  <p:pic>
                    <p:nvPicPr>
                      <p:cNvPr id="11" name="Object 2"/>
                      <p:cNvPicPr>
                        <a:picLocks noChangeAspect="1" noChangeArrowheads="1"/>
                      </p:cNvPicPr>
                      <p:nvPr/>
                    </p:nvPicPr>
                    <p:blipFill>
                      <a:blip r:embed="rId10"/>
                      <a:srcRect/>
                      <a:stretch>
                        <a:fillRect/>
                      </a:stretch>
                    </p:blipFill>
                    <p:spPr bwMode="auto">
                      <a:xfrm>
                        <a:off x="2719388" y="5457825"/>
                        <a:ext cx="3368675" cy="287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2" descr="Phasor inverse Open CurlyBracket 31.62 angle negative 71.57 degrees Close CurlyBracket equals 31.62 cosine Open Parenthesis 50,000 t minus 71.57 degrees Closed Parenthesis Volt.&#10;">
            <a:extLst>
              <a:ext uri="{FF2B5EF4-FFF2-40B4-BE49-F238E27FC236}">
                <a16:creationId xmlns:a16="http://schemas.microsoft.com/office/drawing/2014/main" id="{5D02EE67-56EF-9A4F-B52A-751A26FB127C}"/>
              </a:ext>
            </a:extLst>
          </p:cNvPr>
          <p:cNvGraphicFramePr>
            <a:graphicFrameLocks noChangeAspect="1"/>
          </p:cNvGraphicFramePr>
          <p:nvPr>
            <p:extLst>
              <p:ext uri="{D42A27DB-BD31-4B8C-83A1-F6EECF244321}">
                <p14:modId xmlns:p14="http://schemas.microsoft.com/office/powerpoint/2010/main" val="1720454323"/>
              </p:ext>
            </p:extLst>
          </p:nvPr>
        </p:nvGraphicFramePr>
        <p:xfrm>
          <a:off x="2716213" y="5827713"/>
          <a:ext cx="5224462" cy="358775"/>
        </p:xfrm>
        <a:graphic>
          <a:graphicData uri="http://schemas.openxmlformats.org/presentationml/2006/ole">
            <mc:AlternateContent xmlns:mc="http://schemas.openxmlformats.org/markup-compatibility/2006">
              <mc:Choice xmlns:v="urn:schemas-microsoft-com:vml" Requires="v">
                <p:oleObj spid="_x0000_s6153" name="Equation" r:id="rId11" imgW="3682800" imgH="253800" progId="Equation.DSMT4">
                  <p:embed/>
                </p:oleObj>
              </mc:Choice>
              <mc:Fallback>
                <p:oleObj name="Equation" r:id="rId11" imgW="3682800" imgH="253800" progId="Equation.DSMT4">
                  <p:embed/>
                  <p:pic>
                    <p:nvPicPr>
                      <p:cNvPr id="13" name="Object 2">
                        <a:extLst>
                          <a:ext uri="{FF2B5EF4-FFF2-40B4-BE49-F238E27FC236}">
                            <a16:creationId xmlns:a16="http://schemas.microsoft.com/office/drawing/2014/main" id="{E403CE7A-EBE7-5C2B-B870-B310D7DEB090}"/>
                          </a:ext>
                        </a:extLst>
                      </p:cNvPr>
                      <p:cNvPicPr>
                        <a:picLocks noChangeAspect="1" noChangeArrowheads="1"/>
                      </p:cNvPicPr>
                      <p:nvPr/>
                    </p:nvPicPr>
                    <p:blipFill>
                      <a:blip r:embed="rId12"/>
                      <a:srcRect/>
                      <a:stretch>
                        <a:fillRect/>
                      </a:stretch>
                    </p:blipFill>
                    <p:spPr bwMode="auto">
                      <a:xfrm>
                        <a:off x="2716213" y="5827713"/>
                        <a:ext cx="5224462" cy="35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57074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lstStyle/>
          <a:p>
            <a:r>
              <a:rPr lang="en-US" noProof="0" dirty="0"/>
              <a:t>Chapter 9 – Sinusoidal Steady-State Analysis </a:t>
            </a:r>
            <a:r>
              <a:rPr lang="en-US" sz="2800" noProof="0" dirty="0"/>
              <a:t>(9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84538"/>
            <a:ext cx="8220974" cy="1221291"/>
          </a:xfrm>
        </p:spPr>
        <p:txBody>
          <a:bodyPr wrap="square" lIns="0" tIns="18000" rIns="0" bIns="18000" anchor="ctr">
            <a:spAutoFit/>
          </a:bodyPr>
          <a:lstStyle/>
          <a:p>
            <a:pPr marL="0" indent="0">
              <a:spcBef>
                <a:spcPts val="600"/>
              </a:spcBef>
              <a:buNone/>
            </a:pPr>
            <a:r>
              <a:rPr lang="en-US" sz="2400" noProof="0" dirty="0"/>
              <a:t>Example:</a:t>
            </a:r>
            <a:endParaRPr lang="en-US" altLang="en-US" sz="2400" noProof="0" dirty="0"/>
          </a:p>
          <a:p>
            <a:pPr marL="0" indent="0">
              <a:spcBef>
                <a:spcPts val="600"/>
              </a:spcBef>
              <a:buNone/>
            </a:pPr>
            <a:r>
              <a:rPr lang="en-US" altLang="en-US" sz="2400" noProof="0" dirty="0"/>
              <a:t>Find the value of the phasor current </a:t>
            </a:r>
            <a:r>
              <a:rPr lang="en-US" altLang="en-US" sz="2400" i="1" noProof="0" dirty="0"/>
              <a:t>I</a:t>
            </a:r>
            <a:r>
              <a:rPr lang="en-US" altLang="en-US" sz="2400" noProof="0" dirty="0"/>
              <a:t> in the phasor-transformed circuit shown.</a:t>
            </a:r>
          </a:p>
        </p:txBody>
      </p:sp>
      <p:pic>
        <p:nvPicPr>
          <p:cNvPr id="26" name="Picture 6" descr="A circuit diagram shows current from the positive terminal of a voltage source of 33.8 volts at 0 degrees passing through a resistor of 1 ohm which is connected to an inductance coil of j 2 ohms. This inductance coil is connected to a controlled current source of 0.75 V sub x through terminals 1 and 2. This controlled current source is again connected to the negative terminal of the voltage source through terminals 3 and 4. One end of a resistor of 3 ohms is connected to the terminal 1 and the other end is connected in series to the positive terminal of a capacitor V sub x of negative j 5 ohms. The negative terminal of the capacitor is connected to terminal 4. Another resistor of 2 ohms is connected between terminals 2 and 3.">
            <a:extLst>
              <a:ext uri="{FF2B5EF4-FFF2-40B4-BE49-F238E27FC236}">
                <a16:creationId xmlns:a16="http://schemas.microsoft.com/office/drawing/2014/main" id="{F37948B7-F818-BF3C-E7CE-3CF2E9D046CC}"/>
              </a:ext>
            </a:extLst>
          </p:cNvPr>
          <p:cNvPicPr>
            <a:picLocks noChangeAspect="1" noChangeArrowheads="1"/>
          </p:cNvPicPr>
          <p:nvPr/>
        </p:nvPicPr>
        <p:blipFill>
          <a:blip r:embed="rId2"/>
          <a:stretch>
            <a:fillRect/>
          </a:stretch>
        </p:blipFill>
        <p:spPr bwMode="auto">
          <a:xfrm>
            <a:off x="2902613" y="2940354"/>
            <a:ext cx="3311845" cy="2177442"/>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5320970"/>
            <a:ext cx="7979709" cy="405683"/>
          </a:xfrm>
        </p:spPr>
        <p:txBody>
          <a:bodyPr wrap="square" lIns="0" tIns="18000" rIns="0" bIns="18000" anchor="ctr">
            <a:spAutoFit/>
          </a:bodyPr>
          <a:lstStyle/>
          <a:p>
            <a:pPr marL="457200" indent="-457200">
              <a:spcBef>
                <a:spcPts val="1000"/>
              </a:spcBef>
              <a:buFont typeface="+mj-lt"/>
              <a:buAutoNum type="arabicPeriod" startAt="5"/>
              <a:defRPr/>
            </a:pPr>
            <a:r>
              <a:rPr lang="en-US" sz="2400" noProof="0" dirty="0"/>
              <a:t>Use </a:t>
            </a:r>
            <a:r>
              <a:rPr lang="en-US" sz="2400" spc="-300" noProof="0" dirty="0"/>
              <a:t>D </a:t>
            </a:r>
            <a:r>
              <a:rPr lang="en-US" sz="2400" noProof="0" dirty="0"/>
              <a:t>C circuit analysis techniques to find the phasor </a:t>
            </a:r>
            <a:r>
              <a:rPr lang="en-US" sz="2400" b="1" i="1" noProof="0" dirty="0"/>
              <a:t>I</a:t>
            </a:r>
            <a:r>
              <a:rPr lang="en-US" sz="2400" noProof="0" dirty="0"/>
              <a:t>.</a:t>
            </a:r>
          </a:p>
        </p:txBody>
      </p:sp>
    </p:spTree>
    <p:extLst>
      <p:ext uri="{BB962C8B-B14F-4D97-AF65-F5344CB8AC3E}">
        <p14:creationId xmlns:p14="http://schemas.microsoft.com/office/powerpoint/2010/main" val="2162724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lstStyle/>
          <a:p>
            <a:r>
              <a:rPr lang="en-US" noProof="0" dirty="0"/>
              <a:t>Chapter 9 – Sinusoidal Steady-State Analysis </a:t>
            </a:r>
            <a:r>
              <a:rPr lang="en-US" sz="2800" noProof="0" dirty="0"/>
              <a:t>(10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88494"/>
            <a:ext cx="7938099" cy="1144347"/>
          </a:xfrm>
        </p:spPr>
        <p:txBody>
          <a:bodyPr wrap="square" lIns="0" tIns="18000" rIns="0" bIns="18000" anchor="ctr">
            <a:spAutoFit/>
          </a:bodyPr>
          <a:lstStyle/>
          <a:p>
            <a:pPr marL="0" indent="0">
              <a:buNone/>
            </a:pPr>
            <a:r>
              <a:rPr lang="en-US" altLang="en-US" sz="2400" noProof="0" dirty="0"/>
              <a:t>Which of the circuit analysis methods below will generate equations that, when solved, directly result in the value of the phasor current?</a:t>
            </a:r>
          </a:p>
        </p:txBody>
      </p:sp>
      <p:pic>
        <p:nvPicPr>
          <p:cNvPr id="20" name="Picture 8" descr="A circuit diagram shows current from the positive terminal of a voltage source of 33.8 volts at 0 degrees passing through a resistor of 1 ohm which is connected to an inductance coil of j 2 ohms. This inductance coil is connected to a controlled current source of 0.75 V sub x through terminals 1 and 2. This controlled current source is again connected to the negative terminal of the voltage source through terminals 3 and 4. One end of a resistor of 3 ohms is connected to the terminal 1 and the other end is connected in series to the positive terminal of a capacitor V sub x of negative j 5 ohms. The negative terminal of the capacitor is connected to terminal 4. Another resistor of 2 ohms is connected between terminals 2 and 3.">
            <a:extLst>
              <a:ext uri="{FF2B5EF4-FFF2-40B4-BE49-F238E27FC236}">
                <a16:creationId xmlns:a16="http://schemas.microsoft.com/office/drawing/2014/main" id="{73251B2E-8A97-CC67-47C3-470DB78B18B4}"/>
              </a:ext>
            </a:extLst>
          </p:cNvPr>
          <p:cNvPicPr>
            <a:picLocks noChangeAspect="1" noChangeArrowheads="1"/>
          </p:cNvPicPr>
          <p:nvPr/>
        </p:nvPicPr>
        <p:blipFill>
          <a:blip r:embed="rId2"/>
          <a:stretch>
            <a:fillRect/>
          </a:stretch>
        </p:blipFill>
        <p:spPr bwMode="auto">
          <a:xfrm>
            <a:off x="2988947" y="2742835"/>
            <a:ext cx="2752865" cy="1809929"/>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pic>
        <p:nvPicPr>
          <p:cNvPr id="21" name="Picture 5" descr="Cross mark">
            <a:extLst>
              <a:ext uri="{FF2B5EF4-FFF2-40B4-BE49-F238E27FC236}">
                <a16:creationId xmlns:a16="http://schemas.microsoft.com/office/drawing/2014/main" id="{A46493B4-0614-3697-9127-9A992D91DA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5981" y="4830194"/>
            <a:ext cx="256793" cy="235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00795" y="4743000"/>
            <a:ext cx="3305717"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Node voltage method</a:t>
            </a:r>
          </a:p>
        </p:txBody>
      </p:sp>
      <p:pic>
        <p:nvPicPr>
          <p:cNvPr id="22" name="Picture 2" descr="Check mark">
            <a:extLst>
              <a:ext uri="{FF2B5EF4-FFF2-40B4-BE49-F238E27FC236}">
                <a16:creationId xmlns:a16="http://schemas.microsoft.com/office/drawing/2014/main" id="{44EBF914-FD64-9ADD-C582-ECBA155FEA1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013" y="5361547"/>
            <a:ext cx="255001" cy="223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292163" y="5290418"/>
            <a:ext cx="3305717"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Mesh current method</a:t>
            </a:r>
          </a:p>
        </p:txBody>
      </p:sp>
      <p:pic>
        <p:nvPicPr>
          <p:cNvPr id="23" name="Picture 5" descr="Cross mark">
            <a:extLst>
              <a:ext uri="{FF2B5EF4-FFF2-40B4-BE49-F238E27FC236}">
                <a16:creationId xmlns:a16="http://schemas.microsoft.com/office/drawing/2014/main" id="{EDD0092C-C117-19F7-63AE-367D346CB0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3107" y="5905621"/>
            <a:ext cx="256793" cy="235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00794" y="5837836"/>
            <a:ext cx="3644235"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Source transformation</a:t>
            </a:r>
          </a:p>
        </p:txBody>
      </p:sp>
    </p:spTree>
    <p:extLst>
      <p:ext uri="{BB962C8B-B14F-4D97-AF65-F5344CB8AC3E}">
        <p14:creationId xmlns:p14="http://schemas.microsoft.com/office/powerpoint/2010/main" val="1241290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4"/>
            <a:ext cx="8229600" cy="1144347"/>
          </a:xfrm>
        </p:spPr>
        <p:txBody>
          <a:bodyPr>
            <a:spAutoFit/>
          </a:bodyPr>
          <a:lstStyle/>
          <a:p>
            <a:r>
              <a:rPr lang="en-US" noProof="0" dirty="0"/>
              <a:t>Chapter 9 – Sinusoidal Steady-State Analysis </a:t>
            </a:r>
            <a:r>
              <a:rPr lang="en-US" sz="2800" noProof="0" dirty="0"/>
              <a:t>(11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26491"/>
            <a:ext cx="4038959" cy="1344402"/>
          </a:xfrm>
        </p:spPr>
        <p:txBody>
          <a:bodyPr wrap="square" lIns="0" tIns="18000" rIns="0" bIns="18000" anchor="ctr">
            <a:spAutoFit/>
          </a:bodyPr>
          <a:lstStyle/>
          <a:p>
            <a:pPr marL="0" indent="0">
              <a:spcBef>
                <a:spcPts val="600"/>
              </a:spcBef>
              <a:buNone/>
            </a:pPr>
            <a:r>
              <a:rPr lang="en-US" sz="2000" noProof="0" dirty="0"/>
              <a:t>Example (continued):</a:t>
            </a:r>
            <a:endParaRPr lang="en-US" altLang="en-US" sz="2000" noProof="0" dirty="0"/>
          </a:p>
          <a:p>
            <a:pPr marL="0" indent="0">
              <a:spcBef>
                <a:spcPts val="600"/>
              </a:spcBef>
              <a:buNone/>
            </a:pPr>
            <a:r>
              <a:rPr lang="en-US" altLang="en-US" sz="2000" noProof="0" dirty="0"/>
              <a:t>Find the value of the phasor current </a:t>
            </a:r>
            <a:r>
              <a:rPr lang="en-US" altLang="en-US" sz="2000" i="1" noProof="0" dirty="0"/>
              <a:t>I</a:t>
            </a:r>
            <a:r>
              <a:rPr lang="en-US" altLang="en-US" sz="2000" noProof="0" dirty="0"/>
              <a:t> in the phasor-transformed circuit shown.</a:t>
            </a:r>
          </a:p>
        </p:txBody>
      </p:sp>
      <p:pic>
        <p:nvPicPr>
          <p:cNvPr id="26" name="Picture 25" descr="A circuit diagram shows current from the positive terminal of a voltage source of 33.8 volts at 0 degrees passing through a resistor of 1 ohm which is connected to an inductance coil of j 2 ohms. This inductance coil is connected to a controlled current source of 0.75 V sub x through terminals 1 and 2. This controlled current source is again connected to the negative terminal of the voltage source through terminals 3 and 4. One end of a resistor of 3 ohms is connected to the terminal 1 and the other end is connected in series to the positive terminal of a capacitor V sub x of negative j 5 ohms. The negative terminal of the capacitor is connected to terminal 4. Another resistor of 2 ohms is connected between terminals 2 and 3.">
            <a:extLst>
              <a:ext uri="{FF2B5EF4-FFF2-40B4-BE49-F238E27FC236}">
                <a16:creationId xmlns:a16="http://schemas.microsoft.com/office/drawing/2014/main" id="{3747C091-A407-43E3-5DD0-B160433B21E3}"/>
              </a:ext>
            </a:extLst>
          </p:cNvPr>
          <p:cNvPicPr>
            <a:picLocks noChangeAspect="1" noChangeArrowheads="1"/>
          </p:cNvPicPr>
          <p:nvPr/>
        </p:nvPicPr>
        <p:blipFill>
          <a:blip r:embed="rId3"/>
          <a:stretch>
            <a:fillRect/>
          </a:stretch>
        </p:blipFill>
        <p:spPr bwMode="auto">
          <a:xfrm>
            <a:off x="5652163" y="1312728"/>
            <a:ext cx="2852655" cy="1875537"/>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49" y="3091625"/>
            <a:ext cx="3486870" cy="344128"/>
          </a:xfrm>
        </p:spPr>
        <p:txBody>
          <a:bodyPr wrap="square" lIns="0" tIns="18000" rIns="0" bIns="18000" anchor="ctr">
            <a:spAutoFit/>
          </a:bodyPr>
          <a:lstStyle/>
          <a:p>
            <a:pPr marL="0" indent="0">
              <a:buNone/>
              <a:defRPr/>
            </a:pPr>
            <a:r>
              <a:rPr lang="en-US" sz="2000" noProof="0" dirty="0"/>
              <a:t>Mesh current equations:</a:t>
            </a:r>
          </a:p>
        </p:txBody>
      </p:sp>
      <p:graphicFrame>
        <p:nvGraphicFramePr>
          <p:cNvPr id="24" name="Object 4" descr="Negative 33.8 plus Open Parenthesis 1 plus j 2 Closed Parenthesis I plus Open Parenthesis 3 minus j 5 Closed Parenthesis Open Parenthesis I minus I subscript 1 Closed Parenthesis equals 0.&#10;">
            <a:extLst>
              <a:ext uri="{FF2B5EF4-FFF2-40B4-BE49-F238E27FC236}">
                <a16:creationId xmlns:a16="http://schemas.microsoft.com/office/drawing/2014/main" id="{000F5885-508E-AD9D-1D74-A9FBE78B8FD2}"/>
              </a:ext>
            </a:extLst>
          </p:cNvPr>
          <p:cNvGraphicFramePr>
            <a:graphicFrameLocks noChangeAspect="1"/>
          </p:cNvGraphicFramePr>
          <p:nvPr>
            <p:extLst>
              <p:ext uri="{D42A27DB-BD31-4B8C-83A1-F6EECF244321}">
                <p14:modId xmlns:p14="http://schemas.microsoft.com/office/powerpoint/2010/main" val="3274199453"/>
              </p:ext>
            </p:extLst>
          </p:nvPr>
        </p:nvGraphicFramePr>
        <p:xfrm>
          <a:off x="1855788" y="3517900"/>
          <a:ext cx="3697287" cy="365125"/>
        </p:xfrm>
        <a:graphic>
          <a:graphicData uri="http://schemas.openxmlformats.org/presentationml/2006/ole">
            <mc:AlternateContent xmlns:mc="http://schemas.openxmlformats.org/markup-compatibility/2006">
              <mc:Choice xmlns:v="urn:schemas-microsoft-com:vml" Requires="v">
                <p:oleObj spid="_x0000_s7176" name="Equation" r:id="rId4" imgW="2311200" imgH="228600" progId="Equation.DSMT4">
                  <p:embed/>
                </p:oleObj>
              </mc:Choice>
              <mc:Fallback>
                <p:oleObj name="Equation" r:id="rId4" imgW="2311200" imgH="228600" progId="Equation.DSMT4">
                  <p:embed/>
                  <p:pic>
                    <p:nvPicPr>
                      <p:cNvPr id="12" name="Object 4"/>
                      <p:cNvPicPr>
                        <a:picLocks noChangeAspect="1" noChangeArrowheads="1"/>
                      </p:cNvPicPr>
                      <p:nvPr/>
                    </p:nvPicPr>
                    <p:blipFill>
                      <a:blip r:embed="rId5"/>
                      <a:srcRect/>
                      <a:stretch>
                        <a:fillRect/>
                      </a:stretch>
                    </p:blipFill>
                    <p:spPr bwMode="auto">
                      <a:xfrm>
                        <a:off x="1855788" y="3517900"/>
                        <a:ext cx="3697287"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descr="Open Parenthesis 3 minus j 5 Closed Parenthesis Open Parenthesis I subscript 1 baseline minus I Closed Parenthesis plus 2 Open Parenthesis I subscript 1 baseline plus 0.75 V subscript x baseline Closed Parenthesis equals 0.&#10;">
            <a:extLst>
              <a:ext uri="{FF2B5EF4-FFF2-40B4-BE49-F238E27FC236}">
                <a16:creationId xmlns:a16="http://schemas.microsoft.com/office/drawing/2014/main" id="{4002C9CE-3661-102B-54CA-6CB2DBE347DB}"/>
              </a:ext>
            </a:extLst>
          </p:cNvPr>
          <p:cNvGraphicFramePr>
            <a:graphicFrameLocks noChangeAspect="1"/>
          </p:cNvGraphicFramePr>
          <p:nvPr>
            <p:extLst>
              <p:ext uri="{D42A27DB-BD31-4B8C-83A1-F6EECF244321}">
                <p14:modId xmlns:p14="http://schemas.microsoft.com/office/powerpoint/2010/main" val="2439199765"/>
              </p:ext>
            </p:extLst>
          </p:nvPr>
        </p:nvGraphicFramePr>
        <p:xfrm>
          <a:off x="1880063" y="3957545"/>
          <a:ext cx="3432175" cy="365125"/>
        </p:xfrm>
        <a:graphic>
          <a:graphicData uri="http://schemas.openxmlformats.org/presentationml/2006/ole">
            <mc:AlternateContent xmlns:mc="http://schemas.openxmlformats.org/markup-compatibility/2006">
              <mc:Choice xmlns:v="urn:schemas-microsoft-com:vml" Requires="v">
                <p:oleObj spid="_x0000_s7177" name="Equation" r:id="rId6" imgW="2145960" imgH="228600" progId="Equation.DSMT4">
                  <p:embed/>
                </p:oleObj>
              </mc:Choice>
              <mc:Fallback>
                <p:oleObj name="Equation" r:id="rId6" imgW="2145960" imgH="228600" progId="Equation.DSMT4">
                  <p:embed/>
                  <p:pic>
                    <p:nvPicPr>
                      <p:cNvPr id="24" name="Object 4">
                        <a:extLst>
                          <a:ext uri="{FF2B5EF4-FFF2-40B4-BE49-F238E27FC236}">
                            <a16:creationId xmlns:a16="http://schemas.microsoft.com/office/drawing/2014/main" id="{000F5885-508E-AD9D-1D74-A9FBE78B8FD2}"/>
                          </a:ext>
                        </a:extLst>
                      </p:cNvPr>
                      <p:cNvPicPr>
                        <a:picLocks noChangeAspect="1" noChangeArrowheads="1"/>
                      </p:cNvPicPr>
                      <p:nvPr/>
                    </p:nvPicPr>
                    <p:blipFill>
                      <a:blip r:embed="rId7"/>
                      <a:srcRect/>
                      <a:stretch>
                        <a:fillRect/>
                      </a:stretch>
                    </p:blipFill>
                    <p:spPr bwMode="auto">
                      <a:xfrm>
                        <a:off x="1880063" y="3957545"/>
                        <a:ext cx="343217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descr="V subscript x baseline equals negative j 5 OpenParenthesis I minus I subscript 1 ClosedParenthesis.&#10;">
            <a:extLst>
              <a:ext uri="{FF2B5EF4-FFF2-40B4-BE49-F238E27FC236}">
                <a16:creationId xmlns:a16="http://schemas.microsoft.com/office/drawing/2014/main" id="{41EB1E6D-3457-6F88-3197-B1A989910F74}"/>
              </a:ext>
            </a:extLst>
          </p:cNvPr>
          <p:cNvGraphicFramePr>
            <a:graphicFrameLocks noChangeAspect="1"/>
          </p:cNvGraphicFramePr>
          <p:nvPr>
            <p:extLst>
              <p:ext uri="{D42A27DB-BD31-4B8C-83A1-F6EECF244321}">
                <p14:modId xmlns:p14="http://schemas.microsoft.com/office/powerpoint/2010/main" val="445563287"/>
              </p:ext>
            </p:extLst>
          </p:nvPr>
        </p:nvGraphicFramePr>
        <p:xfrm>
          <a:off x="1881279" y="4405313"/>
          <a:ext cx="1563688" cy="365125"/>
        </p:xfrm>
        <a:graphic>
          <a:graphicData uri="http://schemas.openxmlformats.org/presentationml/2006/ole">
            <mc:AlternateContent xmlns:mc="http://schemas.openxmlformats.org/markup-compatibility/2006">
              <mc:Choice xmlns:v="urn:schemas-microsoft-com:vml" Requires="v">
                <p:oleObj spid="_x0000_s7178" name="Equation" r:id="rId8" imgW="977760" imgH="228600" progId="Equation.DSMT4">
                  <p:embed/>
                </p:oleObj>
              </mc:Choice>
              <mc:Fallback>
                <p:oleObj name="Equation" r:id="rId8" imgW="977760" imgH="228600" progId="Equation.DSMT4">
                  <p:embed/>
                  <p:pic>
                    <p:nvPicPr>
                      <p:cNvPr id="2" name="Object 4">
                        <a:extLst>
                          <a:ext uri="{FF2B5EF4-FFF2-40B4-BE49-F238E27FC236}">
                            <a16:creationId xmlns:a16="http://schemas.microsoft.com/office/drawing/2014/main" id="{4002C9CE-3661-102B-54CA-6CB2DBE347DB}"/>
                          </a:ext>
                        </a:extLst>
                      </p:cNvPr>
                      <p:cNvPicPr>
                        <a:picLocks noChangeAspect="1" noChangeArrowheads="1"/>
                      </p:cNvPicPr>
                      <p:nvPr/>
                    </p:nvPicPr>
                    <p:blipFill>
                      <a:blip r:embed="rId9"/>
                      <a:srcRect/>
                      <a:stretch>
                        <a:fillRect/>
                      </a:stretch>
                    </p:blipFill>
                    <p:spPr bwMode="auto">
                      <a:xfrm>
                        <a:off x="1881279" y="4405313"/>
                        <a:ext cx="1563688"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4924379"/>
            <a:ext cx="1752959" cy="344128"/>
          </a:xfrm>
        </p:spPr>
        <p:txBody>
          <a:bodyPr wrap="square" lIns="0" tIns="18000" rIns="0" bIns="18000" anchor="ctr">
            <a:spAutoFit/>
          </a:bodyPr>
          <a:lstStyle/>
          <a:p>
            <a:pPr marL="0" indent="0">
              <a:buNone/>
              <a:defRPr/>
            </a:pPr>
            <a:r>
              <a:rPr lang="en-US" sz="2000" noProof="0" dirty="0"/>
              <a:t>Standard form:</a:t>
            </a:r>
          </a:p>
        </p:txBody>
      </p:sp>
      <p:graphicFrame>
        <p:nvGraphicFramePr>
          <p:cNvPr id="25" name="Object 5" descr="I OpenParenthesis 1 plus j 2 plus 3 minus j 5 ClosedParenthesis plus I subscript 1 baseline Open Parenthesis negative 3 plus j 5 Closed Parenthesis plus V subscript x baseline (0) equals 33.8.&#10;">
            <a:extLst>
              <a:ext uri="{FF2B5EF4-FFF2-40B4-BE49-F238E27FC236}">
                <a16:creationId xmlns:a16="http://schemas.microsoft.com/office/drawing/2014/main" id="{2E0BBD7E-8BE4-777D-9A7A-C42C9D494ED3}"/>
              </a:ext>
            </a:extLst>
          </p:cNvPr>
          <p:cNvGraphicFramePr>
            <a:graphicFrameLocks noChangeAspect="1"/>
          </p:cNvGraphicFramePr>
          <p:nvPr>
            <p:extLst>
              <p:ext uri="{D42A27DB-BD31-4B8C-83A1-F6EECF244321}">
                <p14:modId xmlns:p14="http://schemas.microsoft.com/office/powerpoint/2010/main" val="1662601270"/>
              </p:ext>
            </p:extLst>
          </p:nvPr>
        </p:nvGraphicFramePr>
        <p:xfrm>
          <a:off x="2462213" y="4951413"/>
          <a:ext cx="4954587" cy="403225"/>
        </p:xfrm>
        <a:graphic>
          <a:graphicData uri="http://schemas.openxmlformats.org/presentationml/2006/ole">
            <mc:AlternateContent xmlns:mc="http://schemas.openxmlformats.org/markup-compatibility/2006">
              <mc:Choice xmlns:v="urn:schemas-microsoft-com:vml" Requires="v">
                <p:oleObj spid="_x0000_s7179" name="Equation" r:id="rId10" imgW="2819160" imgH="228600" progId="Equation.DSMT4">
                  <p:embed/>
                </p:oleObj>
              </mc:Choice>
              <mc:Fallback>
                <p:oleObj name="Equation" r:id="rId10" imgW="2819160" imgH="228600" progId="Equation.DSMT4">
                  <p:embed/>
                  <p:pic>
                    <p:nvPicPr>
                      <p:cNvPr id="13" name="Object 5"/>
                      <p:cNvPicPr>
                        <a:picLocks noChangeAspect="1" noChangeArrowheads="1"/>
                      </p:cNvPicPr>
                      <p:nvPr/>
                    </p:nvPicPr>
                    <p:blipFill>
                      <a:blip r:embed="rId11"/>
                      <a:srcRect/>
                      <a:stretch>
                        <a:fillRect/>
                      </a:stretch>
                    </p:blipFill>
                    <p:spPr bwMode="auto">
                      <a:xfrm>
                        <a:off x="2462213" y="4951413"/>
                        <a:ext cx="4954587"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5" descr="I OpenParenthesis negative 3 plus j 5 Closed Parenthesis plus I subscript 1 baseline Open Parenthesis 3 minus j 5 plus 2 Closed Parenthesis plus V subscript x baseline Open Square Bracket 2 times (0.75) Close Square Bracket equals 0.&#10;">
            <a:extLst>
              <a:ext uri="{FF2B5EF4-FFF2-40B4-BE49-F238E27FC236}">
                <a16:creationId xmlns:a16="http://schemas.microsoft.com/office/drawing/2014/main" id="{90451136-0AC8-2D7C-8CD9-03450C8FB2A6}"/>
              </a:ext>
            </a:extLst>
          </p:cNvPr>
          <p:cNvGraphicFramePr>
            <a:graphicFrameLocks noChangeAspect="1"/>
          </p:cNvGraphicFramePr>
          <p:nvPr>
            <p:extLst>
              <p:ext uri="{D42A27DB-BD31-4B8C-83A1-F6EECF244321}">
                <p14:modId xmlns:p14="http://schemas.microsoft.com/office/powerpoint/2010/main" val="2661819408"/>
              </p:ext>
            </p:extLst>
          </p:nvPr>
        </p:nvGraphicFramePr>
        <p:xfrm>
          <a:off x="2479675" y="5435600"/>
          <a:ext cx="4775200" cy="403225"/>
        </p:xfrm>
        <a:graphic>
          <a:graphicData uri="http://schemas.openxmlformats.org/presentationml/2006/ole">
            <mc:AlternateContent xmlns:mc="http://schemas.openxmlformats.org/markup-compatibility/2006">
              <mc:Choice xmlns:v="urn:schemas-microsoft-com:vml" Requires="v">
                <p:oleObj spid="_x0000_s7180" name="Equation" r:id="rId12" imgW="2717640" imgH="228600" progId="Equation.DSMT4">
                  <p:embed/>
                </p:oleObj>
              </mc:Choice>
              <mc:Fallback>
                <p:oleObj name="Equation" r:id="rId12" imgW="2717640" imgH="228600" progId="Equation.DSMT4">
                  <p:embed/>
                  <p:pic>
                    <p:nvPicPr>
                      <p:cNvPr id="25" name="Object 5">
                        <a:extLst>
                          <a:ext uri="{FF2B5EF4-FFF2-40B4-BE49-F238E27FC236}">
                            <a16:creationId xmlns:a16="http://schemas.microsoft.com/office/drawing/2014/main" id="{2E0BBD7E-8BE4-777D-9A7A-C42C9D494ED3}"/>
                          </a:ext>
                        </a:extLst>
                      </p:cNvPr>
                      <p:cNvPicPr>
                        <a:picLocks noChangeAspect="1" noChangeArrowheads="1"/>
                      </p:cNvPicPr>
                      <p:nvPr/>
                    </p:nvPicPr>
                    <p:blipFill>
                      <a:blip r:embed="rId13"/>
                      <a:srcRect/>
                      <a:stretch>
                        <a:fillRect/>
                      </a:stretch>
                    </p:blipFill>
                    <p:spPr bwMode="auto">
                      <a:xfrm>
                        <a:off x="2479675" y="5435600"/>
                        <a:ext cx="4775200"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5" descr="I (negative j 5) plus I subscript 1 baseline (j 5) plus V subscript x baseline (negative 1) equals 0.&#10;">
            <a:extLst>
              <a:ext uri="{FF2B5EF4-FFF2-40B4-BE49-F238E27FC236}">
                <a16:creationId xmlns:a16="http://schemas.microsoft.com/office/drawing/2014/main" id="{312F7E83-1D62-745C-D90F-FA2D6EC61B3F}"/>
              </a:ext>
            </a:extLst>
          </p:cNvPr>
          <p:cNvGraphicFramePr>
            <a:graphicFrameLocks noChangeAspect="1"/>
          </p:cNvGraphicFramePr>
          <p:nvPr>
            <p:extLst>
              <p:ext uri="{D42A27DB-BD31-4B8C-83A1-F6EECF244321}">
                <p14:modId xmlns:p14="http://schemas.microsoft.com/office/powerpoint/2010/main" val="2210437440"/>
              </p:ext>
            </p:extLst>
          </p:nvPr>
        </p:nvGraphicFramePr>
        <p:xfrm>
          <a:off x="2471738" y="5937250"/>
          <a:ext cx="3035300" cy="403225"/>
        </p:xfrm>
        <a:graphic>
          <a:graphicData uri="http://schemas.openxmlformats.org/presentationml/2006/ole">
            <mc:AlternateContent xmlns:mc="http://schemas.openxmlformats.org/markup-compatibility/2006">
              <mc:Choice xmlns:v="urn:schemas-microsoft-com:vml" Requires="v">
                <p:oleObj spid="_x0000_s7181" name="Equation" r:id="rId14" imgW="1726920" imgH="228600" progId="Equation.DSMT4">
                  <p:embed/>
                </p:oleObj>
              </mc:Choice>
              <mc:Fallback>
                <p:oleObj name="Equation" r:id="rId14" imgW="1726920" imgH="228600" progId="Equation.DSMT4">
                  <p:embed/>
                  <p:pic>
                    <p:nvPicPr>
                      <p:cNvPr id="4" name="Object 5">
                        <a:extLst>
                          <a:ext uri="{FF2B5EF4-FFF2-40B4-BE49-F238E27FC236}">
                            <a16:creationId xmlns:a16="http://schemas.microsoft.com/office/drawing/2014/main" id="{90451136-0AC8-2D7C-8CD9-03450C8FB2A6}"/>
                          </a:ext>
                        </a:extLst>
                      </p:cNvPr>
                      <p:cNvPicPr>
                        <a:picLocks noChangeAspect="1" noChangeArrowheads="1"/>
                      </p:cNvPicPr>
                      <p:nvPr/>
                    </p:nvPicPr>
                    <p:blipFill>
                      <a:blip r:embed="rId15"/>
                      <a:srcRect/>
                      <a:stretch>
                        <a:fillRect/>
                      </a:stretch>
                    </p:blipFill>
                    <p:spPr bwMode="auto">
                      <a:xfrm>
                        <a:off x="2471738" y="5937250"/>
                        <a:ext cx="3035300"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71556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(12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41396"/>
            <a:ext cx="3881438" cy="1590623"/>
          </a:xfrm>
        </p:spPr>
        <p:txBody>
          <a:bodyPr wrap="square" lIns="0" tIns="18000" rIns="0" bIns="18000" anchor="ctr">
            <a:spAutoFit/>
          </a:bodyPr>
          <a:lstStyle/>
          <a:p>
            <a:pPr marL="0" indent="0">
              <a:spcBef>
                <a:spcPts val="600"/>
              </a:spcBef>
              <a:buNone/>
            </a:pPr>
            <a:r>
              <a:rPr lang="en-US" sz="2400" noProof="0" dirty="0"/>
              <a:t>Example (continued):</a:t>
            </a:r>
            <a:endParaRPr lang="en-US" altLang="en-US" sz="2400" noProof="0" dirty="0"/>
          </a:p>
          <a:p>
            <a:pPr marL="0" indent="0">
              <a:spcBef>
                <a:spcPts val="600"/>
              </a:spcBef>
              <a:buNone/>
            </a:pPr>
            <a:r>
              <a:rPr lang="en-US" altLang="en-US" sz="2400" noProof="0" dirty="0"/>
              <a:t>Find the value of the phasor current </a:t>
            </a:r>
            <a:r>
              <a:rPr lang="en-US" altLang="en-US" sz="2400" i="1" noProof="0" dirty="0"/>
              <a:t>I</a:t>
            </a:r>
            <a:r>
              <a:rPr lang="en-US" altLang="en-US" sz="2400" noProof="0" dirty="0"/>
              <a:t> in the phasor-transformed circuit shown.</a:t>
            </a:r>
          </a:p>
        </p:txBody>
      </p:sp>
      <p:pic>
        <p:nvPicPr>
          <p:cNvPr id="54" name="Picture 53" descr="A circuit diagram shows current from the positive terminal of a voltage source of 33.8 volts at 0 degrees passing through a resistor of 1 ohm which is connected to an inductance coil of j 2 ohms. This inductance coil is connected to a controlled current source of 0.75 V sub x through terminals 1 and 2. This controlled current source is again connected to the negative terminal of the voltage source through terminals 3 and 4. One end of a resistor of 3 ohms is connected to the terminal 1 and the other end is connected in series to the positive terminal of a capacitor V sub x of negative j 5 ohms. The negative terminal of the capacitor is connected to terminal 4. Another resistor of 2 ohms is connected between terminals 2 and 3.">
            <a:extLst>
              <a:ext uri="{FF2B5EF4-FFF2-40B4-BE49-F238E27FC236}">
                <a16:creationId xmlns:a16="http://schemas.microsoft.com/office/drawing/2014/main" id="{FBD622EC-0333-F40E-4764-A5439BA9FBFB}"/>
              </a:ext>
            </a:extLst>
          </p:cNvPr>
          <p:cNvPicPr>
            <a:picLocks noChangeAspect="1" noChangeArrowheads="1"/>
          </p:cNvPicPr>
          <p:nvPr/>
        </p:nvPicPr>
        <p:blipFill>
          <a:blip r:embed="rId3"/>
          <a:stretch>
            <a:fillRect/>
          </a:stretch>
        </p:blipFill>
        <p:spPr bwMode="auto">
          <a:xfrm>
            <a:off x="5142891" y="1415665"/>
            <a:ext cx="2956063" cy="1943527"/>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3193645"/>
            <a:ext cx="1186371" cy="405683"/>
          </a:xfrm>
        </p:spPr>
        <p:txBody>
          <a:bodyPr wrap="square" lIns="0" tIns="18000" rIns="0" bIns="18000" anchor="ctr">
            <a:spAutoFit/>
          </a:bodyPr>
          <a:lstStyle/>
          <a:p>
            <a:pPr marL="0" indent="0">
              <a:buNone/>
              <a:defRPr/>
            </a:pPr>
            <a:r>
              <a:rPr lang="en-US" sz="2400" noProof="0" dirty="0"/>
              <a:t>Solving:</a:t>
            </a:r>
          </a:p>
        </p:txBody>
      </p:sp>
      <p:graphicFrame>
        <p:nvGraphicFramePr>
          <p:cNvPr id="53" name="Object 3" descr="I equals 29 plus j 2 Ampere.&#10;">
            <a:extLst>
              <a:ext uri="{FF2B5EF4-FFF2-40B4-BE49-F238E27FC236}">
                <a16:creationId xmlns:a16="http://schemas.microsoft.com/office/drawing/2014/main" id="{1D0E1EEC-AADD-617E-1FD8-CDBF79D844DB}"/>
              </a:ext>
            </a:extLst>
          </p:cNvPr>
          <p:cNvGraphicFramePr>
            <a:graphicFrameLocks noChangeAspect="1"/>
          </p:cNvGraphicFramePr>
          <p:nvPr>
            <p:extLst>
              <p:ext uri="{D42A27DB-BD31-4B8C-83A1-F6EECF244321}">
                <p14:modId xmlns:p14="http://schemas.microsoft.com/office/powerpoint/2010/main" val="3579074532"/>
              </p:ext>
            </p:extLst>
          </p:nvPr>
        </p:nvGraphicFramePr>
        <p:xfrm>
          <a:off x="1626911" y="3738418"/>
          <a:ext cx="1701511" cy="401205"/>
        </p:xfrm>
        <a:graphic>
          <a:graphicData uri="http://schemas.openxmlformats.org/presentationml/2006/ole">
            <mc:AlternateContent xmlns:mc="http://schemas.openxmlformats.org/markup-compatibility/2006">
              <mc:Choice xmlns:v="urn:schemas-microsoft-com:vml" Requires="v">
                <p:oleObj spid="_x0000_s8197" name="Equation" r:id="rId4" imgW="863280" imgH="203040" progId="Equation.DSMT4">
                  <p:embed/>
                </p:oleObj>
              </mc:Choice>
              <mc:Fallback>
                <p:oleObj name="Equation" r:id="rId4" imgW="863280" imgH="203040" progId="Equation.DSMT4">
                  <p:embed/>
                  <p:pic>
                    <p:nvPicPr>
                      <p:cNvPr id="10" name="Object 3"/>
                      <p:cNvPicPr>
                        <a:picLocks noChangeAspect="1" noChangeArrowheads="1"/>
                      </p:cNvPicPr>
                      <p:nvPr/>
                    </p:nvPicPr>
                    <p:blipFill>
                      <a:blip r:embed="rId5"/>
                      <a:srcRect/>
                      <a:stretch>
                        <a:fillRect/>
                      </a:stretch>
                    </p:blipFill>
                    <p:spPr bwMode="auto">
                      <a:xfrm>
                        <a:off x="1626911" y="3738418"/>
                        <a:ext cx="1701511" cy="401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3" descr="I subscript 1 baseline equals 19.4 plus j 6 Ampere.&#10;">
            <a:extLst>
              <a:ext uri="{FF2B5EF4-FFF2-40B4-BE49-F238E27FC236}">
                <a16:creationId xmlns:a16="http://schemas.microsoft.com/office/drawing/2014/main" id="{9C933B24-3B3B-36AE-5761-25D763F457A3}"/>
              </a:ext>
            </a:extLst>
          </p:cNvPr>
          <p:cNvGraphicFramePr>
            <a:graphicFrameLocks noChangeAspect="1"/>
          </p:cNvGraphicFramePr>
          <p:nvPr>
            <p:extLst>
              <p:ext uri="{D42A27DB-BD31-4B8C-83A1-F6EECF244321}">
                <p14:modId xmlns:p14="http://schemas.microsoft.com/office/powerpoint/2010/main" val="2194480522"/>
              </p:ext>
            </p:extLst>
          </p:nvPr>
        </p:nvGraphicFramePr>
        <p:xfrm>
          <a:off x="1535113" y="4232708"/>
          <a:ext cx="2028825" cy="452437"/>
        </p:xfrm>
        <a:graphic>
          <a:graphicData uri="http://schemas.openxmlformats.org/presentationml/2006/ole">
            <mc:AlternateContent xmlns:mc="http://schemas.openxmlformats.org/markup-compatibility/2006">
              <mc:Choice xmlns:v="urn:schemas-microsoft-com:vml" Requires="v">
                <p:oleObj spid="_x0000_s8198" name="Equation" r:id="rId6" imgW="1028520" imgH="228600" progId="Equation.DSMT4">
                  <p:embed/>
                </p:oleObj>
              </mc:Choice>
              <mc:Fallback>
                <p:oleObj name="Equation" r:id="rId6" imgW="1028520" imgH="228600" progId="Equation.DSMT4">
                  <p:embed/>
                  <p:pic>
                    <p:nvPicPr>
                      <p:cNvPr id="53" name="Object 3">
                        <a:extLst>
                          <a:ext uri="{FF2B5EF4-FFF2-40B4-BE49-F238E27FC236}">
                            <a16:creationId xmlns:a16="http://schemas.microsoft.com/office/drawing/2014/main" id="{1D0E1EEC-AADD-617E-1FD8-CDBF79D844DB}"/>
                          </a:ext>
                        </a:extLst>
                      </p:cNvPr>
                      <p:cNvPicPr>
                        <a:picLocks noChangeAspect="1" noChangeArrowheads="1"/>
                      </p:cNvPicPr>
                      <p:nvPr/>
                    </p:nvPicPr>
                    <p:blipFill>
                      <a:blip r:embed="rId7"/>
                      <a:srcRect/>
                      <a:stretch>
                        <a:fillRect/>
                      </a:stretch>
                    </p:blipFill>
                    <p:spPr bwMode="auto">
                      <a:xfrm>
                        <a:off x="1535113" y="4232708"/>
                        <a:ext cx="2028825" cy="452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3" descr="V subscript x baseline equals negative 20 plus j 48 Volt.&#10;">
            <a:extLst>
              <a:ext uri="{FF2B5EF4-FFF2-40B4-BE49-F238E27FC236}">
                <a16:creationId xmlns:a16="http://schemas.microsoft.com/office/drawing/2014/main" id="{7D8439A8-B59E-4209-14D6-048023809BF4}"/>
              </a:ext>
            </a:extLst>
          </p:cNvPr>
          <p:cNvGraphicFramePr>
            <a:graphicFrameLocks noChangeAspect="1"/>
          </p:cNvGraphicFramePr>
          <p:nvPr>
            <p:extLst>
              <p:ext uri="{D42A27DB-BD31-4B8C-83A1-F6EECF244321}">
                <p14:modId xmlns:p14="http://schemas.microsoft.com/office/powerpoint/2010/main" val="3919504335"/>
              </p:ext>
            </p:extLst>
          </p:nvPr>
        </p:nvGraphicFramePr>
        <p:xfrm>
          <a:off x="1338263" y="4772458"/>
          <a:ext cx="2352675" cy="450850"/>
        </p:xfrm>
        <a:graphic>
          <a:graphicData uri="http://schemas.openxmlformats.org/presentationml/2006/ole">
            <mc:AlternateContent xmlns:mc="http://schemas.openxmlformats.org/markup-compatibility/2006">
              <mc:Choice xmlns:v="urn:schemas-microsoft-com:vml" Requires="v">
                <p:oleObj spid="_x0000_s8199" name="Equation" r:id="rId8" imgW="1193760" imgH="228600" progId="Equation.DSMT4">
                  <p:embed/>
                </p:oleObj>
              </mc:Choice>
              <mc:Fallback>
                <p:oleObj name="Equation" r:id="rId8" imgW="1193760" imgH="228600" progId="Equation.DSMT4">
                  <p:embed/>
                  <p:pic>
                    <p:nvPicPr>
                      <p:cNvPr id="53" name="Object 3">
                        <a:extLst>
                          <a:ext uri="{FF2B5EF4-FFF2-40B4-BE49-F238E27FC236}">
                            <a16:creationId xmlns:a16="http://schemas.microsoft.com/office/drawing/2014/main" id="{1D0E1EEC-AADD-617E-1FD8-CDBF79D844DB}"/>
                          </a:ext>
                        </a:extLst>
                      </p:cNvPr>
                      <p:cNvPicPr>
                        <a:picLocks noChangeAspect="1" noChangeArrowheads="1"/>
                      </p:cNvPicPr>
                      <p:nvPr/>
                    </p:nvPicPr>
                    <p:blipFill>
                      <a:blip r:embed="rId9"/>
                      <a:srcRect/>
                      <a:stretch>
                        <a:fillRect/>
                      </a:stretch>
                    </p:blipFill>
                    <p:spPr bwMode="auto">
                      <a:xfrm>
                        <a:off x="1338263" y="4772458"/>
                        <a:ext cx="2352675"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61692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(13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92009"/>
            <a:ext cx="8220974" cy="775015"/>
          </a:xfrm>
        </p:spPr>
        <p:txBody>
          <a:bodyPr wrap="square" lIns="0" tIns="18000" rIns="0" bIns="18000" anchor="ctr">
            <a:spAutoFit/>
          </a:bodyPr>
          <a:lstStyle/>
          <a:p>
            <a:pPr marL="0" indent="0">
              <a:buNone/>
            </a:pPr>
            <a:r>
              <a:rPr lang="en-US" altLang="en-US" sz="2400" noProof="0" dirty="0"/>
              <a:t>In preparation for the inverse phasor transform, we need to convert the phasor current to</a:t>
            </a:r>
          </a:p>
        </p:txBody>
      </p:sp>
      <p:pic>
        <p:nvPicPr>
          <p:cNvPr id="22" name="Picture 5" descr="Cross mark">
            <a:extLst>
              <a:ext uri="{FF2B5EF4-FFF2-40B4-BE49-F238E27FC236}">
                <a16:creationId xmlns:a16="http://schemas.microsoft.com/office/drawing/2014/main" id="{41EB2060-4E27-8953-1DAF-F6932E2518A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7355" y="2695158"/>
            <a:ext cx="256793" cy="235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00789" y="2629535"/>
            <a:ext cx="3018799"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Rectangular form</a:t>
            </a:r>
          </a:p>
        </p:txBody>
      </p:sp>
      <p:pic>
        <p:nvPicPr>
          <p:cNvPr id="23" name="Picture 2" descr="Check mark">
            <a:extLst>
              <a:ext uri="{FF2B5EF4-FFF2-40B4-BE49-F238E27FC236}">
                <a16:creationId xmlns:a16="http://schemas.microsoft.com/office/drawing/2014/main" id="{A800BDAB-E014-9AF8-80D9-108DC307BC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767" y="3290743"/>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00789" y="3220085"/>
            <a:ext cx="3018799"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Polar form</a:t>
            </a:r>
          </a:p>
        </p:txBody>
      </p:sp>
      <p:pic>
        <p:nvPicPr>
          <p:cNvPr id="24" name="Picture 3" descr="Cross mark">
            <a:extLst>
              <a:ext uri="{FF2B5EF4-FFF2-40B4-BE49-F238E27FC236}">
                <a16:creationId xmlns:a16="http://schemas.microsoft.com/office/drawing/2014/main" id="{5A1BEA5F-8FE7-4799-81B9-67EAB89443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119" y="386395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00789" y="3810635"/>
            <a:ext cx="2839890"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Standard form</a:t>
            </a:r>
          </a:p>
        </p:txBody>
      </p:sp>
    </p:spTree>
    <p:extLst>
      <p:ext uri="{BB962C8B-B14F-4D97-AF65-F5344CB8AC3E}">
        <p14:creationId xmlns:p14="http://schemas.microsoft.com/office/powerpoint/2010/main" val="3504430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(14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86898"/>
            <a:ext cx="8015736" cy="405683"/>
          </a:xfrm>
        </p:spPr>
        <p:txBody>
          <a:bodyPr wrap="square" lIns="0" tIns="18000" rIns="0" bIns="18000" anchor="ctr">
            <a:spAutoFit/>
          </a:bodyPr>
          <a:lstStyle/>
          <a:p>
            <a:pPr marL="0" indent="0">
              <a:buNone/>
            </a:pPr>
            <a:r>
              <a:rPr lang="en-US" altLang="en-US" sz="2400" noProof="0" dirty="0"/>
              <a:t>If we convert 29 + j2 to polar form, its phase angle will be</a:t>
            </a:r>
          </a:p>
        </p:txBody>
      </p:sp>
      <p:pic>
        <p:nvPicPr>
          <p:cNvPr id="23" name="Picture 2" descr="Check mark">
            <a:extLst>
              <a:ext uri="{FF2B5EF4-FFF2-40B4-BE49-F238E27FC236}">
                <a16:creationId xmlns:a16="http://schemas.microsoft.com/office/drawing/2014/main" id="{A800BDAB-E014-9AF8-80D9-108DC307BC0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1767" y="2428110"/>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00789" y="2379371"/>
            <a:ext cx="3018799"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Positive</a:t>
            </a:r>
          </a:p>
        </p:txBody>
      </p:sp>
      <p:pic>
        <p:nvPicPr>
          <p:cNvPr id="22" name="Picture 5" descr="Cross mark">
            <a:extLst>
              <a:ext uri="{FF2B5EF4-FFF2-40B4-BE49-F238E27FC236}">
                <a16:creationId xmlns:a16="http://schemas.microsoft.com/office/drawing/2014/main" id="{41EB2060-4E27-8953-1DAF-F6932E2518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355" y="3040213"/>
            <a:ext cx="256793" cy="235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00789" y="2969921"/>
            <a:ext cx="3018799"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Negative</a:t>
            </a:r>
          </a:p>
        </p:txBody>
      </p:sp>
      <p:pic>
        <p:nvPicPr>
          <p:cNvPr id="24" name="Picture 3" descr="Cross mark">
            <a:extLst>
              <a:ext uri="{FF2B5EF4-FFF2-40B4-BE49-F238E27FC236}">
                <a16:creationId xmlns:a16="http://schemas.microsoft.com/office/drawing/2014/main" id="{5A1BEA5F-8FE7-4799-81B9-67EAB89443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8081" y="3625581"/>
            <a:ext cx="256793" cy="235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00788" y="3560471"/>
            <a:ext cx="3357475"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I need my calculator!</a:t>
            </a:r>
          </a:p>
        </p:txBody>
      </p:sp>
    </p:spTree>
    <p:extLst>
      <p:ext uri="{BB962C8B-B14F-4D97-AF65-F5344CB8AC3E}">
        <p14:creationId xmlns:p14="http://schemas.microsoft.com/office/powerpoint/2010/main" val="3201068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(15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81016"/>
            <a:ext cx="3881438" cy="1590623"/>
          </a:xfrm>
        </p:spPr>
        <p:txBody>
          <a:bodyPr wrap="square" lIns="0" tIns="18000" rIns="0" bIns="18000" anchor="ctr">
            <a:spAutoFit/>
          </a:bodyPr>
          <a:lstStyle/>
          <a:p>
            <a:pPr marL="0" indent="0">
              <a:spcBef>
                <a:spcPts val="600"/>
              </a:spcBef>
              <a:buNone/>
            </a:pPr>
            <a:r>
              <a:rPr lang="en-US" sz="2400" noProof="0" dirty="0"/>
              <a:t>Example (continued):</a:t>
            </a:r>
            <a:endParaRPr lang="en-US" altLang="en-US" sz="2400" noProof="0" dirty="0"/>
          </a:p>
          <a:p>
            <a:pPr marL="0" indent="0">
              <a:spcBef>
                <a:spcPts val="600"/>
              </a:spcBef>
              <a:buNone/>
            </a:pPr>
            <a:r>
              <a:rPr lang="en-US" altLang="en-US" sz="2400" noProof="0" dirty="0"/>
              <a:t>Find the value of the phasor current </a:t>
            </a:r>
            <a:r>
              <a:rPr lang="en-US" altLang="en-US" sz="2400" i="1" noProof="0" dirty="0"/>
              <a:t>I</a:t>
            </a:r>
            <a:r>
              <a:rPr lang="en-US" altLang="en-US" sz="2400" noProof="0" dirty="0"/>
              <a:t> in the phasor-transformed circuit shown.</a:t>
            </a:r>
          </a:p>
        </p:txBody>
      </p:sp>
      <p:pic>
        <p:nvPicPr>
          <p:cNvPr id="2" name="Picture 10" descr="A circuit diagram shows current from the positive terminal of a voltage source of 33.8 volts at 0 degrees passing through a resistor of 1 ohm which is connected to an inductance coil of j 2 ohms. This inductance coil is connected to a controlled current source of 0.75 V sub x through terminals 1 and 2. This controlled current source is again connected to the negative terminal of the voltage source through terminals 3 and 4. One end of a resistor of 3 ohms is connected to the terminal 1 and the other end is connected in series to the positive terminal of a capacitor V sub x of negative j 5 ohms. The negative terminal of the capacitor is connected to terminal 4. Another resistor of 2 ohms is connected between terminals 2 and 3.">
            <a:extLst>
              <a:ext uri="{FF2B5EF4-FFF2-40B4-BE49-F238E27FC236}">
                <a16:creationId xmlns:a16="http://schemas.microsoft.com/office/drawing/2014/main" id="{23CF0AC4-B0A9-B9E6-9111-1543E6E10187}"/>
              </a:ext>
            </a:extLst>
          </p:cNvPr>
          <p:cNvPicPr>
            <a:picLocks noChangeAspect="1" noChangeArrowheads="1"/>
          </p:cNvPicPr>
          <p:nvPr/>
        </p:nvPicPr>
        <p:blipFill>
          <a:blip r:embed="rId2"/>
          <a:stretch>
            <a:fillRect/>
          </a:stretch>
        </p:blipFill>
        <p:spPr bwMode="auto">
          <a:xfrm>
            <a:off x="5105400" y="1477083"/>
            <a:ext cx="3137921" cy="2063092"/>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4" y="3752570"/>
            <a:ext cx="8145133" cy="1144347"/>
          </a:xfrm>
        </p:spPr>
        <p:txBody>
          <a:bodyPr wrap="square" lIns="0" tIns="18000" rIns="0" bIns="18000" anchor="ctr">
            <a:spAutoFit/>
          </a:bodyPr>
          <a:lstStyle/>
          <a:p>
            <a:pPr marL="457200" indent="-457200">
              <a:spcBef>
                <a:spcPts val="600"/>
              </a:spcBef>
              <a:buFont typeface="+mj-lt"/>
              <a:buAutoNum type="arabicPeriod" startAt="6"/>
            </a:pPr>
            <a:r>
              <a:rPr lang="en-US" sz="2400" noProof="0" dirty="0"/>
              <a:t>Inverse phasor-transform the result to get back to the time domain. We don’t have to complete this step for this problem!</a:t>
            </a:r>
          </a:p>
        </p:txBody>
      </p:sp>
    </p:spTree>
    <p:extLst>
      <p:ext uri="{BB962C8B-B14F-4D97-AF65-F5344CB8AC3E}">
        <p14:creationId xmlns:p14="http://schemas.microsoft.com/office/powerpoint/2010/main" val="3997323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(16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17673"/>
            <a:ext cx="1399276" cy="344128"/>
          </a:xfrm>
        </p:spPr>
        <p:txBody>
          <a:bodyPr wrap="square" lIns="0" tIns="18000" rIns="0" bIns="18000" anchor="ctr">
            <a:spAutoFit/>
          </a:bodyPr>
          <a:lstStyle/>
          <a:p>
            <a:pPr marL="0" indent="0">
              <a:spcBef>
                <a:spcPts val="600"/>
              </a:spcBef>
              <a:buNone/>
            </a:pPr>
            <a:r>
              <a:rPr lang="en-US" sz="2000" noProof="0" dirty="0"/>
              <a:t>Example:</a:t>
            </a:r>
            <a:endParaRPr lang="en-US" altLang="en-US" sz="2000" noProof="0" dirty="0"/>
          </a:p>
        </p:txBody>
      </p:sp>
      <p:graphicFrame>
        <p:nvGraphicFramePr>
          <p:cNvPr id="2" name="Object 1" descr="v subscript 1 baseline (t) equals 240 cosine Open Parenthesis 4000 t plus 53.13 degrees Closed Parenthesis Volt;&#10;">
            <a:extLst>
              <a:ext uri="{FF2B5EF4-FFF2-40B4-BE49-F238E27FC236}">
                <a16:creationId xmlns:a16="http://schemas.microsoft.com/office/drawing/2014/main" id="{A81999F8-1C84-DD64-3A1D-F417F07926B2}"/>
              </a:ext>
            </a:extLst>
          </p:cNvPr>
          <p:cNvGraphicFramePr>
            <a:graphicFrameLocks noChangeAspect="1"/>
          </p:cNvGraphicFramePr>
          <p:nvPr>
            <p:extLst>
              <p:ext uri="{D42A27DB-BD31-4B8C-83A1-F6EECF244321}">
                <p14:modId xmlns:p14="http://schemas.microsoft.com/office/powerpoint/2010/main" val="3494273582"/>
              </p:ext>
            </p:extLst>
          </p:nvPr>
        </p:nvGraphicFramePr>
        <p:xfrm>
          <a:off x="425250" y="1960884"/>
          <a:ext cx="3366943" cy="337705"/>
        </p:xfrm>
        <a:graphic>
          <a:graphicData uri="http://schemas.openxmlformats.org/presentationml/2006/ole">
            <mc:AlternateContent xmlns:mc="http://schemas.openxmlformats.org/markup-compatibility/2006">
              <mc:Choice xmlns:v="urn:schemas-microsoft-com:vml" Requires="v">
                <p:oleObj spid="_x0000_s9223" name="Equation" r:id="rId3" imgW="2286000" imgH="228600" progId="Equation.DSMT4">
                  <p:embed/>
                </p:oleObj>
              </mc:Choice>
              <mc:Fallback>
                <p:oleObj name="Equation" r:id="rId3" imgW="2286000" imgH="228600" progId="Equation.DSMT4">
                  <p:embed/>
                  <p:pic>
                    <p:nvPicPr>
                      <p:cNvPr id="2" name="Object 1">
                        <a:extLst>
                          <a:ext uri="{FF2B5EF4-FFF2-40B4-BE49-F238E27FC236}">
                            <a16:creationId xmlns:a16="http://schemas.microsoft.com/office/drawing/2014/main" id="{2D35472A-AC2E-2DBE-3845-EF589B68C2A2}"/>
                          </a:ext>
                        </a:extLst>
                      </p:cNvPr>
                      <p:cNvPicPr>
                        <a:picLocks noChangeAspect="1" noChangeArrowheads="1"/>
                      </p:cNvPicPr>
                      <p:nvPr/>
                    </p:nvPicPr>
                    <p:blipFill>
                      <a:blip r:embed="rId4"/>
                      <a:srcRect/>
                      <a:stretch>
                        <a:fillRect/>
                      </a:stretch>
                    </p:blipFill>
                    <p:spPr bwMode="auto">
                      <a:xfrm>
                        <a:off x="425250" y="1960884"/>
                        <a:ext cx="3366943" cy="33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v subscript 2 baseline (t) equals 96 sine (4000 t) Volt.&#10;">
            <a:extLst>
              <a:ext uri="{FF2B5EF4-FFF2-40B4-BE49-F238E27FC236}">
                <a16:creationId xmlns:a16="http://schemas.microsoft.com/office/drawing/2014/main" id="{3CFFD984-1D90-4C96-61FA-770E61BA1BBF}"/>
              </a:ext>
            </a:extLst>
          </p:cNvPr>
          <p:cNvGraphicFramePr>
            <a:graphicFrameLocks noChangeAspect="1"/>
          </p:cNvGraphicFramePr>
          <p:nvPr>
            <p:extLst>
              <p:ext uri="{D42A27DB-BD31-4B8C-83A1-F6EECF244321}">
                <p14:modId xmlns:p14="http://schemas.microsoft.com/office/powerpoint/2010/main" val="58081883"/>
              </p:ext>
            </p:extLst>
          </p:nvPr>
        </p:nvGraphicFramePr>
        <p:xfrm>
          <a:off x="423085" y="2380462"/>
          <a:ext cx="2430318" cy="337705"/>
        </p:xfrm>
        <a:graphic>
          <a:graphicData uri="http://schemas.openxmlformats.org/presentationml/2006/ole">
            <mc:AlternateContent xmlns:mc="http://schemas.openxmlformats.org/markup-compatibility/2006">
              <mc:Choice xmlns:v="urn:schemas-microsoft-com:vml" Requires="v">
                <p:oleObj spid="_x0000_s9224" name="Equation" r:id="rId5" imgW="1650960" imgH="228600" progId="Equation.DSMT4">
                  <p:embed/>
                </p:oleObj>
              </mc:Choice>
              <mc:Fallback>
                <p:oleObj name="Equation" r:id="rId5" imgW="1650960" imgH="228600" progId="Equation.DSMT4">
                  <p:embed/>
                  <p:pic>
                    <p:nvPicPr>
                      <p:cNvPr id="2" name="Object 1">
                        <a:extLst>
                          <a:ext uri="{FF2B5EF4-FFF2-40B4-BE49-F238E27FC236}">
                            <a16:creationId xmlns:a16="http://schemas.microsoft.com/office/drawing/2014/main" id="{A81999F8-1C84-DD64-3A1D-F417F07926B2}"/>
                          </a:ext>
                        </a:extLst>
                      </p:cNvPr>
                      <p:cNvPicPr>
                        <a:picLocks noChangeAspect="1" noChangeArrowheads="1"/>
                      </p:cNvPicPr>
                      <p:nvPr/>
                    </p:nvPicPr>
                    <p:blipFill>
                      <a:blip r:embed="rId6"/>
                      <a:srcRect/>
                      <a:stretch>
                        <a:fillRect/>
                      </a:stretch>
                    </p:blipFill>
                    <p:spPr bwMode="auto">
                      <a:xfrm>
                        <a:off x="423085" y="2380462"/>
                        <a:ext cx="2430318" cy="33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2948437" y="2323883"/>
            <a:ext cx="648778" cy="344128"/>
          </a:xfrm>
        </p:spPr>
        <p:txBody>
          <a:bodyPr wrap="square" lIns="0" tIns="18000" rIns="0" bIns="18000" anchor="ctr">
            <a:spAutoFit/>
          </a:bodyPr>
          <a:lstStyle/>
          <a:p>
            <a:pPr marL="0" indent="0">
              <a:spcBef>
                <a:spcPts val="600"/>
              </a:spcBef>
              <a:buNone/>
            </a:pPr>
            <a:r>
              <a:rPr lang="en-US" altLang="en-US" sz="2000" noProof="0" dirty="0"/>
              <a:t>Find</a:t>
            </a:r>
            <a:endParaRPr lang="en-US" sz="2000" noProof="0" dirty="0"/>
          </a:p>
        </p:txBody>
      </p:sp>
      <p:graphicFrame>
        <p:nvGraphicFramePr>
          <p:cNvPr id="4" name="Object 3" descr="v subscript o baseline (t).&#10;">
            <a:extLst>
              <a:ext uri="{FF2B5EF4-FFF2-40B4-BE49-F238E27FC236}">
                <a16:creationId xmlns:a16="http://schemas.microsoft.com/office/drawing/2014/main" id="{A6F49982-3F97-BB04-2DC7-893F8387BE05}"/>
              </a:ext>
            </a:extLst>
          </p:cNvPr>
          <p:cNvGraphicFramePr>
            <a:graphicFrameLocks noChangeAspect="1"/>
          </p:cNvGraphicFramePr>
          <p:nvPr>
            <p:extLst>
              <p:ext uri="{D42A27DB-BD31-4B8C-83A1-F6EECF244321}">
                <p14:modId xmlns:p14="http://schemas.microsoft.com/office/powerpoint/2010/main" val="4002159111"/>
              </p:ext>
            </p:extLst>
          </p:nvPr>
        </p:nvGraphicFramePr>
        <p:xfrm>
          <a:off x="426654" y="2775371"/>
          <a:ext cx="534988" cy="371475"/>
        </p:xfrm>
        <a:graphic>
          <a:graphicData uri="http://schemas.openxmlformats.org/presentationml/2006/ole">
            <mc:AlternateContent xmlns:mc="http://schemas.openxmlformats.org/markup-compatibility/2006">
              <mc:Choice xmlns:v="urn:schemas-microsoft-com:vml" Requires="v">
                <p:oleObj spid="_x0000_s9225" name="Equation" r:id="rId7" imgW="330120" imgH="228600" progId="Equation.DSMT4">
                  <p:embed/>
                </p:oleObj>
              </mc:Choice>
              <mc:Fallback>
                <p:oleObj name="Equation" r:id="rId7" imgW="330120" imgH="228600" progId="Equation.DSMT4">
                  <p:embed/>
                  <p:pic>
                    <p:nvPicPr>
                      <p:cNvPr id="3" name="Object 2">
                        <a:extLst>
                          <a:ext uri="{FF2B5EF4-FFF2-40B4-BE49-F238E27FC236}">
                            <a16:creationId xmlns:a16="http://schemas.microsoft.com/office/drawing/2014/main" id="{3CFFD984-1D90-4C96-61FA-770E61BA1BBF}"/>
                          </a:ext>
                        </a:extLst>
                      </p:cNvPr>
                      <p:cNvPicPr>
                        <a:picLocks noChangeAspect="1" noChangeArrowheads="1"/>
                      </p:cNvPicPr>
                      <p:nvPr/>
                    </p:nvPicPr>
                    <p:blipFill>
                      <a:blip r:embed="rId8"/>
                      <a:srcRect/>
                      <a:stretch>
                        <a:fillRect/>
                      </a:stretch>
                    </p:blipFill>
                    <p:spPr bwMode="auto">
                      <a:xfrm>
                        <a:off x="426654" y="2775371"/>
                        <a:ext cx="53498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059251" y="2776407"/>
            <a:ext cx="3090056" cy="344128"/>
          </a:xfrm>
        </p:spPr>
        <p:txBody>
          <a:bodyPr wrap="square" lIns="0" tIns="18000" rIns="0" bIns="18000" anchor="ctr">
            <a:spAutoFit/>
          </a:bodyPr>
          <a:lstStyle/>
          <a:p>
            <a:pPr marL="0" indent="0">
              <a:spcBef>
                <a:spcPts val="600"/>
              </a:spcBef>
              <a:buNone/>
            </a:pPr>
            <a:r>
              <a:rPr lang="en-US" altLang="en-US" sz="2000" noProof="0" dirty="0"/>
              <a:t>in the steady-state, using a</a:t>
            </a:r>
            <a:endParaRPr lang="en-US" sz="2000" noProof="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3203059"/>
            <a:ext cx="3797420" cy="344128"/>
          </a:xfrm>
        </p:spPr>
        <p:txBody>
          <a:bodyPr wrap="square" lIns="0" tIns="18000" rIns="0" bIns="18000" anchor="ctr">
            <a:spAutoFit/>
          </a:bodyPr>
          <a:lstStyle/>
          <a:p>
            <a:pPr marL="0" indent="0">
              <a:spcBef>
                <a:spcPct val="20000"/>
              </a:spcBef>
              <a:buNone/>
              <a:defRPr/>
            </a:pPr>
            <a:r>
              <a:rPr lang="en-US" altLang="en-US" sz="2000" noProof="0" dirty="0"/>
              <a:t>series of source transformations.</a:t>
            </a:r>
            <a:endParaRPr lang="en-US" sz="2000" kern="0" noProof="0" dirty="0"/>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9527" y="3808077"/>
            <a:ext cx="3607635" cy="2006122"/>
          </a:xfrm>
        </p:spPr>
        <p:txBody>
          <a:bodyPr wrap="square" lIns="0" tIns="18000" rIns="0" bIns="18000" anchor="ctr">
            <a:spAutoFit/>
          </a:bodyPr>
          <a:lstStyle/>
          <a:p>
            <a:pPr marL="457200" indent="-457200">
              <a:spcBef>
                <a:spcPct val="20000"/>
              </a:spcBef>
              <a:buFont typeface="+mj-lt"/>
              <a:buAutoNum type="arabicPeriod"/>
              <a:defRPr/>
            </a:pPr>
            <a:r>
              <a:rPr lang="en-US" sz="2000" kern="0" noProof="0" dirty="0"/>
              <a:t>Redraw the circuit.</a:t>
            </a:r>
          </a:p>
          <a:p>
            <a:pPr marL="457200" indent="-457200">
              <a:spcBef>
                <a:spcPct val="20000"/>
              </a:spcBef>
              <a:buFont typeface="+mj-lt"/>
              <a:buAutoNum type="arabicPeriod"/>
              <a:defRPr/>
            </a:pPr>
            <a:r>
              <a:rPr lang="en-US" sz="2000" kern="0" noProof="0" dirty="0"/>
              <a:t>Phasor transform all known voltages and currents.</a:t>
            </a:r>
          </a:p>
          <a:p>
            <a:pPr marL="457200" indent="-457200">
              <a:spcBef>
                <a:spcPct val="20000"/>
              </a:spcBef>
              <a:buFont typeface="+mj-lt"/>
              <a:buAutoNum type="arabicPeriod"/>
              <a:defRPr/>
            </a:pPr>
            <a:r>
              <a:rPr lang="en-US" sz="2000" kern="0" noProof="0" dirty="0"/>
              <a:t>Represent unknown voltages and currents with phasor symbols</a:t>
            </a:r>
          </a:p>
        </p:txBody>
      </p:sp>
      <p:pic>
        <p:nvPicPr>
          <p:cNvPr id="36" name="Picture 9" descr="A circuit diagram shows the positive terminal of a voltage source v sub 1 connected to an inductance coil of 15 milli hertz. The other end of the inductance coil is connected to a resistor of 20 ohms in series, through terminals 1 and 2. This resistor is connected to the negative terminal of another voltage source v sub 2. The positive terminal of v sub 2 is connected to the negative terminal of v sub 1 through terminals 3 and 4. A resistor of 30 ohms is connected between terminals 1 and 4, and a capacitor of 25 divided by 6 micro farads is connected between terminals 2 and 3. There is positive v sub 0 of t between terminals 1 and 2, and negative v sub 0 of t between terminals 3 and 4.">
            <a:extLst>
              <a:ext uri="{FF2B5EF4-FFF2-40B4-BE49-F238E27FC236}">
                <a16:creationId xmlns:a16="http://schemas.microsoft.com/office/drawing/2014/main" id="{A53258BC-6731-500B-AE80-A7B681FB10DE}"/>
              </a:ext>
            </a:extLst>
          </p:cNvPr>
          <p:cNvPicPr>
            <a:picLocks noChangeAspect="1" noChangeArrowheads="1"/>
          </p:cNvPicPr>
          <p:nvPr/>
        </p:nvPicPr>
        <p:blipFill>
          <a:blip r:embed="rId9"/>
          <a:stretch>
            <a:fillRect/>
          </a:stretch>
        </p:blipFill>
        <p:spPr bwMode="auto">
          <a:xfrm>
            <a:off x="4847262" y="1825418"/>
            <a:ext cx="3590835" cy="1246100"/>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37" name="Object 2" descr="v subscript 2 baseline (t) equals 96 sine 4000 t Volt.&#10;">
            <a:extLst>
              <a:ext uri="{FF2B5EF4-FFF2-40B4-BE49-F238E27FC236}">
                <a16:creationId xmlns:a16="http://schemas.microsoft.com/office/drawing/2014/main" id="{B1A85ECC-84E7-85AD-05C5-C2290812CD5F}"/>
              </a:ext>
            </a:extLst>
          </p:cNvPr>
          <p:cNvGraphicFramePr>
            <a:graphicFrameLocks noChangeAspect="1"/>
          </p:cNvGraphicFramePr>
          <p:nvPr>
            <p:extLst>
              <p:ext uri="{D42A27DB-BD31-4B8C-83A1-F6EECF244321}">
                <p14:modId xmlns:p14="http://schemas.microsoft.com/office/powerpoint/2010/main" val="830528764"/>
              </p:ext>
            </p:extLst>
          </p:nvPr>
        </p:nvGraphicFramePr>
        <p:xfrm>
          <a:off x="5295900" y="3460750"/>
          <a:ext cx="2286000" cy="355600"/>
        </p:xfrm>
        <a:graphic>
          <a:graphicData uri="http://schemas.openxmlformats.org/presentationml/2006/ole">
            <mc:AlternateContent xmlns:mc="http://schemas.openxmlformats.org/markup-compatibility/2006">
              <mc:Choice xmlns:v="urn:schemas-microsoft-com:vml" Requires="v">
                <p:oleObj spid="_x0000_s9226" name="Equation" r:id="rId10" imgW="1473120" imgH="228600" progId="Equation.DSMT4">
                  <p:embed/>
                </p:oleObj>
              </mc:Choice>
              <mc:Fallback>
                <p:oleObj name="Equation" r:id="rId10" imgW="1473120" imgH="228600" progId="Equation.DSMT4">
                  <p:embed/>
                  <p:pic>
                    <p:nvPicPr>
                      <p:cNvPr id="7" name="Object 2"/>
                      <p:cNvPicPr>
                        <a:picLocks noChangeAspect="1" noChangeArrowheads="1"/>
                      </p:cNvPicPr>
                      <p:nvPr/>
                    </p:nvPicPr>
                    <p:blipFill>
                      <a:blip r:embed="rId11"/>
                      <a:srcRect/>
                      <a:stretch>
                        <a:fillRect/>
                      </a:stretch>
                    </p:blipFill>
                    <p:spPr bwMode="auto">
                      <a:xfrm>
                        <a:off x="5295900" y="3460750"/>
                        <a:ext cx="22860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2" descr="Equals 96 cosine Open Parenthesis 4000 t minus 90 degrees Closed Parenthesis Volt.&#10;">
            <a:extLst>
              <a:ext uri="{FF2B5EF4-FFF2-40B4-BE49-F238E27FC236}">
                <a16:creationId xmlns:a16="http://schemas.microsoft.com/office/drawing/2014/main" id="{C5ECE448-9B2A-C295-ABFF-9BBF2540B1C9}"/>
              </a:ext>
            </a:extLst>
          </p:cNvPr>
          <p:cNvGraphicFramePr>
            <a:graphicFrameLocks noChangeAspect="1"/>
          </p:cNvGraphicFramePr>
          <p:nvPr>
            <p:extLst>
              <p:ext uri="{D42A27DB-BD31-4B8C-83A1-F6EECF244321}">
                <p14:modId xmlns:p14="http://schemas.microsoft.com/office/powerpoint/2010/main" val="1364697808"/>
              </p:ext>
            </p:extLst>
          </p:nvPr>
        </p:nvGraphicFramePr>
        <p:xfrm>
          <a:off x="5830888" y="3937000"/>
          <a:ext cx="2544762" cy="314325"/>
        </p:xfrm>
        <a:graphic>
          <a:graphicData uri="http://schemas.openxmlformats.org/presentationml/2006/ole">
            <mc:AlternateContent xmlns:mc="http://schemas.openxmlformats.org/markup-compatibility/2006">
              <mc:Choice xmlns:v="urn:schemas-microsoft-com:vml" Requires="v">
                <p:oleObj spid="_x0000_s9227" name="Equation" r:id="rId12" imgW="1638000" imgH="203040" progId="Equation.DSMT4">
                  <p:embed/>
                </p:oleObj>
              </mc:Choice>
              <mc:Fallback>
                <p:oleObj name="Equation" r:id="rId12" imgW="1638000" imgH="203040" progId="Equation.DSMT4">
                  <p:embed/>
                  <p:pic>
                    <p:nvPicPr>
                      <p:cNvPr id="37" name="Object 2">
                        <a:extLst>
                          <a:ext uri="{FF2B5EF4-FFF2-40B4-BE49-F238E27FC236}">
                            <a16:creationId xmlns:a16="http://schemas.microsoft.com/office/drawing/2014/main" id="{B1A85ECC-84E7-85AD-05C5-C2290812CD5F}"/>
                          </a:ext>
                        </a:extLst>
                      </p:cNvPr>
                      <p:cNvPicPr>
                        <a:picLocks noChangeAspect="1" noChangeArrowheads="1"/>
                      </p:cNvPicPr>
                      <p:nvPr/>
                    </p:nvPicPr>
                    <p:blipFill>
                      <a:blip r:embed="rId13"/>
                      <a:srcRect/>
                      <a:stretch>
                        <a:fillRect/>
                      </a:stretch>
                    </p:blipFill>
                    <p:spPr bwMode="auto">
                      <a:xfrm>
                        <a:off x="5830888" y="3937000"/>
                        <a:ext cx="2544762"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8" name="Picture 10" descr="A circuit diagram shows the positive terminal of a voltage source of 240 volts at 53.13 degrees connected to an inductance coil. The other end of the inductance coil is connected to a resistor in series, through terminals 1 and 2. This resistor is connected to the negative terminal of another voltage source of 96 volts at negative 90 degrees. The positive terminal of the second voltage source is connected to the negative terminal of the first voltage source through terminals 3 and 4. A resistor is connected between terminals 1 and 4, and a capacitor is connected between terminals 2 and 3. There is positive V sub 0 between terminals 1 and 2, and negative V sub 0 between terminals 3 and 4.">
            <a:extLst>
              <a:ext uri="{FF2B5EF4-FFF2-40B4-BE49-F238E27FC236}">
                <a16:creationId xmlns:a16="http://schemas.microsoft.com/office/drawing/2014/main" id="{2239D935-B483-0C9F-A430-CB75B4BD48F3}"/>
              </a:ext>
            </a:extLst>
          </p:cNvPr>
          <p:cNvPicPr>
            <a:picLocks noChangeAspect="1" noChangeArrowheads="1"/>
          </p:cNvPicPr>
          <p:nvPr/>
        </p:nvPicPr>
        <p:blipFill>
          <a:blip r:embed="rId14"/>
          <a:stretch>
            <a:fillRect/>
          </a:stretch>
        </p:blipFill>
        <p:spPr bwMode="auto">
          <a:xfrm>
            <a:off x="4805080" y="4604246"/>
            <a:ext cx="3576641" cy="1241175"/>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854278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(17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17673"/>
            <a:ext cx="2900272" cy="344128"/>
          </a:xfrm>
        </p:spPr>
        <p:txBody>
          <a:bodyPr wrap="square" lIns="0" tIns="18000" rIns="0" bIns="18000" anchor="ctr">
            <a:spAutoFit/>
          </a:bodyPr>
          <a:lstStyle/>
          <a:p>
            <a:pPr marL="0" indent="0">
              <a:buNone/>
            </a:pPr>
            <a:r>
              <a:rPr lang="en-US" sz="2000" noProof="0" dirty="0"/>
              <a:t>Example (continued):</a:t>
            </a:r>
            <a:endParaRPr lang="en-US" altLang="en-US" sz="2000" noProof="0" dirty="0"/>
          </a:p>
        </p:txBody>
      </p:sp>
      <p:graphicFrame>
        <p:nvGraphicFramePr>
          <p:cNvPr id="2" name="Object 1" descr="v subscript 1 baseline (t) equals 240 cosine Open Parenthesis 4000 t plus 53.13 degrees Closed Parenthesis Volt;&#10;">
            <a:extLst>
              <a:ext uri="{FF2B5EF4-FFF2-40B4-BE49-F238E27FC236}">
                <a16:creationId xmlns:a16="http://schemas.microsoft.com/office/drawing/2014/main" id="{A81999F8-1C84-DD64-3A1D-F417F07926B2}"/>
              </a:ext>
            </a:extLst>
          </p:cNvPr>
          <p:cNvGraphicFramePr>
            <a:graphicFrameLocks noChangeAspect="1"/>
          </p:cNvGraphicFramePr>
          <p:nvPr>
            <p:extLst>
              <p:ext uri="{D42A27DB-BD31-4B8C-83A1-F6EECF244321}">
                <p14:modId xmlns:p14="http://schemas.microsoft.com/office/powerpoint/2010/main" val="916508284"/>
              </p:ext>
            </p:extLst>
          </p:nvPr>
        </p:nvGraphicFramePr>
        <p:xfrm>
          <a:off x="425250" y="1960884"/>
          <a:ext cx="3366943" cy="337705"/>
        </p:xfrm>
        <a:graphic>
          <a:graphicData uri="http://schemas.openxmlformats.org/presentationml/2006/ole">
            <mc:AlternateContent xmlns:mc="http://schemas.openxmlformats.org/markup-compatibility/2006">
              <mc:Choice xmlns:v="urn:schemas-microsoft-com:vml" Requires="v">
                <p:oleObj spid="_x0000_s10247" name="Equation" r:id="rId3" imgW="2286000" imgH="228600" progId="Equation.DSMT4">
                  <p:embed/>
                </p:oleObj>
              </mc:Choice>
              <mc:Fallback>
                <p:oleObj name="Equation" r:id="rId3" imgW="2286000" imgH="228600" progId="Equation.DSMT4">
                  <p:embed/>
                  <p:pic>
                    <p:nvPicPr>
                      <p:cNvPr id="2" name="Object 1">
                        <a:extLst>
                          <a:ext uri="{FF2B5EF4-FFF2-40B4-BE49-F238E27FC236}">
                            <a16:creationId xmlns:a16="http://schemas.microsoft.com/office/drawing/2014/main" id="{A81999F8-1C84-DD64-3A1D-F417F07926B2}"/>
                          </a:ext>
                        </a:extLst>
                      </p:cNvPr>
                      <p:cNvPicPr>
                        <a:picLocks noChangeAspect="1" noChangeArrowheads="1"/>
                      </p:cNvPicPr>
                      <p:nvPr/>
                    </p:nvPicPr>
                    <p:blipFill>
                      <a:blip r:embed="rId4"/>
                      <a:srcRect/>
                      <a:stretch>
                        <a:fillRect/>
                      </a:stretch>
                    </p:blipFill>
                    <p:spPr bwMode="auto">
                      <a:xfrm>
                        <a:off x="425250" y="1960884"/>
                        <a:ext cx="3366943" cy="33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v subscript 2 baseline (t) equals 96 sine 4000 t Volt.&#10;">
            <a:extLst>
              <a:ext uri="{FF2B5EF4-FFF2-40B4-BE49-F238E27FC236}">
                <a16:creationId xmlns:a16="http://schemas.microsoft.com/office/drawing/2014/main" id="{3CFFD984-1D90-4C96-61FA-770E61BA1BBF}"/>
              </a:ext>
            </a:extLst>
          </p:cNvPr>
          <p:cNvGraphicFramePr>
            <a:graphicFrameLocks noChangeAspect="1"/>
          </p:cNvGraphicFramePr>
          <p:nvPr>
            <p:extLst>
              <p:ext uri="{D42A27DB-BD31-4B8C-83A1-F6EECF244321}">
                <p14:modId xmlns:p14="http://schemas.microsoft.com/office/powerpoint/2010/main" val="2835277905"/>
              </p:ext>
            </p:extLst>
          </p:nvPr>
        </p:nvGraphicFramePr>
        <p:xfrm>
          <a:off x="423085" y="2380462"/>
          <a:ext cx="2430318" cy="337705"/>
        </p:xfrm>
        <a:graphic>
          <a:graphicData uri="http://schemas.openxmlformats.org/presentationml/2006/ole">
            <mc:AlternateContent xmlns:mc="http://schemas.openxmlformats.org/markup-compatibility/2006">
              <mc:Choice xmlns:v="urn:schemas-microsoft-com:vml" Requires="v">
                <p:oleObj spid="_x0000_s10248" name="Equation" r:id="rId5" imgW="1650960" imgH="228600" progId="Equation.DSMT4">
                  <p:embed/>
                </p:oleObj>
              </mc:Choice>
              <mc:Fallback>
                <p:oleObj name="Equation" r:id="rId5" imgW="1650960" imgH="228600" progId="Equation.DSMT4">
                  <p:embed/>
                  <p:pic>
                    <p:nvPicPr>
                      <p:cNvPr id="3" name="Object 2">
                        <a:extLst>
                          <a:ext uri="{FF2B5EF4-FFF2-40B4-BE49-F238E27FC236}">
                            <a16:creationId xmlns:a16="http://schemas.microsoft.com/office/drawing/2014/main" id="{3CFFD984-1D90-4C96-61FA-770E61BA1BBF}"/>
                          </a:ext>
                        </a:extLst>
                      </p:cNvPr>
                      <p:cNvPicPr>
                        <a:picLocks noChangeAspect="1" noChangeArrowheads="1"/>
                      </p:cNvPicPr>
                      <p:nvPr/>
                    </p:nvPicPr>
                    <p:blipFill>
                      <a:blip r:embed="rId6"/>
                      <a:srcRect/>
                      <a:stretch>
                        <a:fillRect/>
                      </a:stretch>
                    </p:blipFill>
                    <p:spPr bwMode="auto">
                      <a:xfrm>
                        <a:off x="423085" y="2380462"/>
                        <a:ext cx="2430318" cy="33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2948437" y="2323883"/>
            <a:ext cx="648778" cy="344128"/>
          </a:xfrm>
        </p:spPr>
        <p:txBody>
          <a:bodyPr wrap="square" lIns="0" tIns="18000" rIns="0" bIns="18000" anchor="ctr">
            <a:spAutoFit/>
          </a:bodyPr>
          <a:lstStyle/>
          <a:p>
            <a:pPr marL="0" indent="0">
              <a:spcBef>
                <a:spcPts val="600"/>
              </a:spcBef>
              <a:buNone/>
            </a:pPr>
            <a:r>
              <a:rPr lang="en-US" altLang="en-US" sz="2000" noProof="0" dirty="0"/>
              <a:t>Find</a:t>
            </a:r>
            <a:endParaRPr lang="en-US" sz="2000" noProof="0" dirty="0"/>
          </a:p>
        </p:txBody>
      </p:sp>
      <p:graphicFrame>
        <p:nvGraphicFramePr>
          <p:cNvPr id="4" name="Object 3" descr="v subscript o baseline (t).&#10;">
            <a:extLst>
              <a:ext uri="{FF2B5EF4-FFF2-40B4-BE49-F238E27FC236}">
                <a16:creationId xmlns:a16="http://schemas.microsoft.com/office/drawing/2014/main" id="{A6F49982-3F97-BB04-2DC7-893F8387BE05}"/>
              </a:ext>
            </a:extLst>
          </p:cNvPr>
          <p:cNvGraphicFramePr>
            <a:graphicFrameLocks noChangeAspect="1"/>
          </p:cNvGraphicFramePr>
          <p:nvPr>
            <p:extLst>
              <p:ext uri="{D42A27DB-BD31-4B8C-83A1-F6EECF244321}">
                <p14:modId xmlns:p14="http://schemas.microsoft.com/office/powerpoint/2010/main" val="2972817847"/>
              </p:ext>
            </p:extLst>
          </p:nvPr>
        </p:nvGraphicFramePr>
        <p:xfrm>
          <a:off x="426654" y="2775371"/>
          <a:ext cx="534988" cy="371475"/>
        </p:xfrm>
        <a:graphic>
          <a:graphicData uri="http://schemas.openxmlformats.org/presentationml/2006/ole">
            <mc:AlternateContent xmlns:mc="http://schemas.openxmlformats.org/markup-compatibility/2006">
              <mc:Choice xmlns:v="urn:schemas-microsoft-com:vml" Requires="v">
                <p:oleObj spid="_x0000_s10249" name="Equation" r:id="rId7" imgW="330120" imgH="228600" progId="Equation.DSMT4">
                  <p:embed/>
                </p:oleObj>
              </mc:Choice>
              <mc:Fallback>
                <p:oleObj name="Equation" r:id="rId7" imgW="330120" imgH="228600" progId="Equation.DSMT4">
                  <p:embed/>
                  <p:pic>
                    <p:nvPicPr>
                      <p:cNvPr id="4" name="Object 3">
                        <a:extLst>
                          <a:ext uri="{FF2B5EF4-FFF2-40B4-BE49-F238E27FC236}">
                            <a16:creationId xmlns:a16="http://schemas.microsoft.com/office/drawing/2014/main" id="{A6F49982-3F97-BB04-2DC7-893F8387BE05}"/>
                          </a:ext>
                        </a:extLst>
                      </p:cNvPr>
                      <p:cNvPicPr>
                        <a:picLocks noChangeAspect="1" noChangeArrowheads="1"/>
                      </p:cNvPicPr>
                      <p:nvPr/>
                    </p:nvPicPr>
                    <p:blipFill>
                      <a:blip r:embed="rId8"/>
                      <a:srcRect/>
                      <a:stretch>
                        <a:fillRect/>
                      </a:stretch>
                    </p:blipFill>
                    <p:spPr bwMode="auto">
                      <a:xfrm>
                        <a:off x="426654" y="2775371"/>
                        <a:ext cx="53498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059251" y="2776407"/>
            <a:ext cx="3090056" cy="344128"/>
          </a:xfrm>
        </p:spPr>
        <p:txBody>
          <a:bodyPr wrap="square" lIns="0" tIns="18000" rIns="0" bIns="18000" anchor="ctr">
            <a:spAutoFit/>
          </a:bodyPr>
          <a:lstStyle/>
          <a:p>
            <a:pPr marL="0" indent="0">
              <a:spcBef>
                <a:spcPts val="600"/>
              </a:spcBef>
              <a:buNone/>
            </a:pPr>
            <a:r>
              <a:rPr lang="en-US" altLang="en-US" sz="2000" noProof="0" dirty="0"/>
              <a:t>in the steady-state, using a</a:t>
            </a:r>
            <a:endParaRPr lang="en-US" sz="2000" noProof="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3203059"/>
            <a:ext cx="3797420" cy="344128"/>
          </a:xfrm>
        </p:spPr>
        <p:txBody>
          <a:bodyPr wrap="square" lIns="0" tIns="18000" rIns="0" bIns="18000" anchor="ctr">
            <a:spAutoFit/>
          </a:bodyPr>
          <a:lstStyle/>
          <a:p>
            <a:pPr marL="0" indent="0">
              <a:spcBef>
                <a:spcPct val="20000"/>
              </a:spcBef>
              <a:buNone/>
              <a:defRPr/>
            </a:pPr>
            <a:r>
              <a:rPr lang="en-US" altLang="en-US" sz="2000" noProof="0" dirty="0"/>
              <a:t>series of source transformations.</a:t>
            </a:r>
            <a:endParaRPr lang="en-US" sz="2000" kern="0" noProof="0" dirty="0"/>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9527" y="3770584"/>
            <a:ext cx="3607635" cy="959681"/>
          </a:xfrm>
        </p:spPr>
        <p:txBody>
          <a:bodyPr wrap="square" lIns="0" tIns="18000" rIns="0" bIns="18000" anchor="ctr">
            <a:spAutoFit/>
          </a:bodyPr>
          <a:lstStyle/>
          <a:p>
            <a:pPr marL="457200" indent="-457200">
              <a:spcBef>
                <a:spcPct val="20000"/>
              </a:spcBef>
              <a:buFont typeface="+mj-lt"/>
              <a:buAutoNum type="arabicPeriod" startAt="4"/>
              <a:defRPr/>
            </a:pPr>
            <a:r>
              <a:rPr lang="en-US" sz="2000" kern="0" noProof="0" dirty="0"/>
              <a:t>Calculate the impedances of all resistors, inductors, and capacitors.</a:t>
            </a:r>
          </a:p>
        </p:txBody>
      </p:sp>
      <p:pic>
        <p:nvPicPr>
          <p:cNvPr id="36" name="Picture 9" descr="A circuit diagram shows the positive terminal of a voltage source v sub 1 connected to an inductance coil of 15 milli hertz. The other end of the inductance coil is connected to a resistor of 20 ohms in series, through terminals 1 and 2. This resistor is connected to the negative terminal of another voltage source v sub 2. The positive terminal of v sub 2 is connected to the negative terminal of v sub 1 through terminals 3 and 4. A resistor of 30 ohms is connected between terminals 1 and 4, and a capacitor of 25 divided by 6 micro farads is connected between terminals 2 and 3. There is positive v sub 0 of t between terminals 1 and 2, and negative v sub 0 of t between terminals 3 and 4.">
            <a:extLst>
              <a:ext uri="{FF2B5EF4-FFF2-40B4-BE49-F238E27FC236}">
                <a16:creationId xmlns:a16="http://schemas.microsoft.com/office/drawing/2014/main" id="{A53258BC-6731-500B-AE80-A7B681FB10DE}"/>
              </a:ext>
            </a:extLst>
          </p:cNvPr>
          <p:cNvPicPr>
            <a:picLocks noChangeAspect="1" noChangeArrowheads="1"/>
          </p:cNvPicPr>
          <p:nvPr/>
        </p:nvPicPr>
        <p:blipFill>
          <a:blip r:embed="rId9"/>
          <a:stretch>
            <a:fillRect/>
          </a:stretch>
        </p:blipFill>
        <p:spPr bwMode="auto">
          <a:xfrm>
            <a:off x="4847262" y="1825418"/>
            <a:ext cx="3590835" cy="1246100"/>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5" name="Object 2" descr="Z subscript L baseline equals j omega L equals j times (4000) times (0.015) equals j 60 Ohm.&#10;">
            <a:extLst>
              <a:ext uri="{FF2B5EF4-FFF2-40B4-BE49-F238E27FC236}">
                <a16:creationId xmlns:a16="http://schemas.microsoft.com/office/drawing/2014/main" id="{369F1779-30C8-E31F-5A08-2BD286AF899A}"/>
              </a:ext>
            </a:extLst>
          </p:cNvPr>
          <p:cNvGraphicFramePr>
            <a:graphicFrameLocks noChangeAspect="1"/>
          </p:cNvGraphicFramePr>
          <p:nvPr>
            <p:extLst>
              <p:ext uri="{D42A27DB-BD31-4B8C-83A1-F6EECF244321}">
                <p14:modId xmlns:p14="http://schemas.microsoft.com/office/powerpoint/2010/main" val="333928977"/>
              </p:ext>
            </p:extLst>
          </p:nvPr>
        </p:nvGraphicFramePr>
        <p:xfrm>
          <a:off x="4725988" y="3403600"/>
          <a:ext cx="3335337" cy="325438"/>
        </p:xfrm>
        <a:graphic>
          <a:graphicData uri="http://schemas.openxmlformats.org/presentationml/2006/ole">
            <mc:AlternateContent xmlns:mc="http://schemas.openxmlformats.org/markup-compatibility/2006">
              <mc:Choice xmlns:v="urn:schemas-microsoft-com:vml" Requires="v">
                <p:oleObj spid="_x0000_s10250" name="Equation" r:id="rId10" imgW="2336760" imgH="228600" progId="Equation.DSMT4">
                  <p:embed/>
                </p:oleObj>
              </mc:Choice>
              <mc:Fallback>
                <p:oleObj name="Equation" r:id="rId10" imgW="2336760" imgH="228600" progId="Equation.DSMT4">
                  <p:embed/>
                  <p:pic>
                    <p:nvPicPr>
                      <p:cNvPr id="10" name="Object 2"/>
                      <p:cNvPicPr>
                        <a:picLocks noChangeAspect="1" noChangeArrowheads="1"/>
                      </p:cNvPicPr>
                      <p:nvPr/>
                    </p:nvPicPr>
                    <p:blipFill>
                      <a:blip r:embed="rId11"/>
                      <a:srcRect/>
                      <a:stretch>
                        <a:fillRect/>
                      </a:stretch>
                    </p:blipFill>
                    <p:spPr bwMode="auto">
                      <a:xfrm>
                        <a:off x="4725988" y="3403600"/>
                        <a:ext cx="3335337" cy="32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2" descr="Z subscript C baseline equals negative j divided by omega C equals Start Fraction negative j over (4000) multiplied by (Start Fraction 25 over 6 End Fraction mu) End Fraction equals negative j 60 Ohm.&#10;">
            <a:extLst>
              <a:ext uri="{FF2B5EF4-FFF2-40B4-BE49-F238E27FC236}">
                <a16:creationId xmlns:a16="http://schemas.microsoft.com/office/drawing/2014/main" id="{8478DA8E-CA13-8F37-88AD-14ADF993EAED}"/>
              </a:ext>
            </a:extLst>
          </p:cNvPr>
          <p:cNvGraphicFramePr>
            <a:graphicFrameLocks noChangeAspect="1"/>
          </p:cNvGraphicFramePr>
          <p:nvPr>
            <p:extLst>
              <p:ext uri="{D42A27DB-BD31-4B8C-83A1-F6EECF244321}">
                <p14:modId xmlns:p14="http://schemas.microsoft.com/office/powerpoint/2010/main" val="73390734"/>
              </p:ext>
            </p:extLst>
          </p:nvPr>
        </p:nvGraphicFramePr>
        <p:xfrm>
          <a:off x="4706938" y="3897313"/>
          <a:ext cx="3824287" cy="325437"/>
        </p:xfrm>
        <a:graphic>
          <a:graphicData uri="http://schemas.openxmlformats.org/presentationml/2006/ole">
            <mc:AlternateContent xmlns:mc="http://schemas.openxmlformats.org/markup-compatibility/2006">
              <mc:Choice xmlns:v="urn:schemas-microsoft-com:vml" Requires="v">
                <p:oleObj spid="_x0000_s10251" name="Equation" r:id="rId12" imgW="2679480" imgH="228600" progId="Equation.DSMT4">
                  <p:embed/>
                </p:oleObj>
              </mc:Choice>
              <mc:Fallback>
                <p:oleObj name="Equation" r:id="rId12" imgW="2679480" imgH="228600" progId="Equation.DSMT4">
                  <p:embed/>
                  <p:pic>
                    <p:nvPicPr>
                      <p:cNvPr id="5" name="Object 2">
                        <a:extLst>
                          <a:ext uri="{FF2B5EF4-FFF2-40B4-BE49-F238E27FC236}">
                            <a16:creationId xmlns:a16="http://schemas.microsoft.com/office/drawing/2014/main" id="{369F1779-30C8-E31F-5A08-2BD286AF899A}"/>
                          </a:ext>
                        </a:extLst>
                      </p:cNvPr>
                      <p:cNvPicPr>
                        <a:picLocks noChangeAspect="1" noChangeArrowheads="1"/>
                      </p:cNvPicPr>
                      <p:nvPr/>
                    </p:nvPicPr>
                    <p:blipFill>
                      <a:blip r:embed="rId13"/>
                      <a:srcRect/>
                      <a:stretch>
                        <a:fillRect/>
                      </a:stretch>
                    </p:blipFill>
                    <p:spPr bwMode="auto">
                      <a:xfrm>
                        <a:off x="4706938" y="3897313"/>
                        <a:ext cx="3824287" cy="325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Picture 10" descr="A circuit diagram shows the positive terminal of a voltage source of 240 volts at 53.13 degrees connected to an inductance coil of j 60 ohms. The other end of the inductance coil is connected to a resistor of 20 ohms in series, through terminals 1 and 2. This resistor is connected to the negative terminal of another voltage source of 96 volts at negative 90 degrees. The positive terminal of the second voltage source is connected to the negative terminal of the first voltage source through terminals 3 and 4. A resistor of 30 ohms is connected between terminals 1 and 4, and a capacitor of negative j 60 ohms is connected between terminals 2 and 3. There is positive V sub 0 between terminals 1 and 2, and negative V sub 0 between terminals 3 and 4.">
            <a:extLst>
              <a:ext uri="{FF2B5EF4-FFF2-40B4-BE49-F238E27FC236}">
                <a16:creationId xmlns:a16="http://schemas.microsoft.com/office/drawing/2014/main" id="{0C975C15-35A3-1568-12F2-5F5D1177A471}"/>
              </a:ext>
            </a:extLst>
          </p:cNvPr>
          <p:cNvPicPr>
            <a:picLocks noChangeAspect="1" noChangeArrowheads="1"/>
          </p:cNvPicPr>
          <p:nvPr/>
        </p:nvPicPr>
        <p:blipFill>
          <a:blip r:embed="rId14"/>
          <a:stretch>
            <a:fillRect/>
          </a:stretch>
        </p:blipFill>
        <p:spPr bwMode="auto">
          <a:xfrm>
            <a:off x="4843838" y="4474363"/>
            <a:ext cx="3506166" cy="1216718"/>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120984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(18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49" y="1479868"/>
            <a:ext cx="8220975" cy="1144347"/>
          </a:xfrm>
        </p:spPr>
        <p:txBody>
          <a:bodyPr wrap="square" lIns="0" tIns="18000" rIns="0" bIns="18000" anchor="ctr">
            <a:spAutoFit/>
          </a:bodyPr>
          <a:lstStyle/>
          <a:p>
            <a:pPr marL="0" indent="0">
              <a:buNone/>
            </a:pPr>
            <a:r>
              <a:rPr lang="en-US" altLang="en-US" sz="2400" noProof="0" dirty="0"/>
              <a:t>We can check our impedance values to be sure that the resistor impedances are     </a:t>
            </a:r>
            <a:r>
              <a:rPr lang="en-US" altLang="en-US" sz="100" noProof="0" dirty="0"/>
              <a:t>Fill in the blanks</a:t>
            </a:r>
            <a:r>
              <a:rPr lang="en-US" altLang="en-US" sz="2400" noProof="0" dirty="0"/>
              <a:t>      and the capacitor impedances are     </a:t>
            </a:r>
            <a:r>
              <a:rPr lang="en-US" altLang="en-US" sz="100" noProof="0" dirty="0"/>
              <a:t>Fill in the blanks</a:t>
            </a:r>
            <a:r>
              <a:rPr lang="en-US" altLang="en-US" sz="2400" noProof="0" dirty="0"/>
              <a:t>      .</a:t>
            </a:r>
          </a:p>
        </p:txBody>
      </p:sp>
      <p:cxnSp>
        <p:nvCxnSpPr>
          <p:cNvPr id="2" name="Straight Connector 1">
            <a:extLst>
              <a:ext uri="{FF2B5EF4-FFF2-40B4-BE49-F238E27FC236}">
                <a16:creationId xmlns:a16="http://schemas.microsoft.com/office/drawing/2014/main" id="{040BE328-94E0-949D-AB51-0A4F4BDB36A2}"/>
              </a:ext>
              <a:ext uri="{C183D7F6-B498-43B3-948B-1728B52AA6E4}">
                <adec:decorative xmlns:adec="http://schemas.microsoft.com/office/drawing/2017/decorative" val="1"/>
              </a:ext>
            </a:extLst>
          </p:cNvPr>
          <p:cNvCxnSpPr/>
          <p:nvPr/>
        </p:nvCxnSpPr>
        <p:spPr>
          <a:xfrm>
            <a:off x="3761738" y="2156777"/>
            <a:ext cx="8838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0E3F8C0A-DCD9-09F0-E594-E0B67B4DFDFF}"/>
              </a:ext>
              <a:ext uri="{C183D7F6-B498-43B3-948B-1728B52AA6E4}">
                <adec:decorative xmlns:adec="http://schemas.microsoft.com/office/drawing/2017/decorative" val="1"/>
              </a:ext>
            </a:extLst>
          </p:cNvPr>
          <p:cNvCxnSpPr/>
          <p:nvPr/>
        </p:nvCxnSpPr>
        <p:spPr>
          <a:xfrm>
            <a:off x="2728275" y="2523490"/>
            <a:ext cx="8838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5" descr="Cross mark">
            <a:extLst>
              <a:ext uri="{FF2B5EF4-FFF2-40B4-BE49-F238E27FC236}">
                <a16:creationId xmlns:a16="http://schemas.microsoft.com/office/drawing/2014/main" id="{C5774EF6-4C77-E8D0-991C-9FCC26E34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2371" y="3157418"/>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188641" y="3078108"/>
            <a:ext cx="692881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Positive real numbers; negative real numbers</a:t>
            </a:r>
          </a:p>
        </p:txBody>
      </p:sp>
      <p:pic>
        <p:nvPicPr>
          <p:cNvPr id="23" name="Picture 2" descr="Check mark">
            <a:extLst>
              <a:ext uri="{FF2B5EF4-FFF2-40B4-BE49-F238E27FC236}">
                <a16:creationId xmlns:a16="http://schemas.microsoft.com/office/drawing/2014/main" id="{1E0285A3-CAB4-ACF2-E515-C3B89207C1A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119" y="3738919"/>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188642" y="3668658"/>
            <a:ext cx="737738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Positive real numbers; negative imaginary numbers</a:t>
            </a:r>
          </a:p>
        </p:txBody>
      </p:sp>
      <p:pic>
        <p:nvPicPr>
          <p:cNvPr id="24" name="Picture 3" descr="Cross mark">
            <a:extLst>
              <a:ext uri="{FF2B5EF4-FFF2-40B4-BE49-F238E27FC236}">
                <a16:creationId xmlns:a16="http://schemas.microsoft.com/office/drawing/2014/main" id="{AEDB4C1E-2EBB-A07C-ED5D-90F485DD03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9782" y="4333792"/>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188643" y="4229813"/>
            <a:ext cx="6462980" cy="775015"/>
          </a:xfrm>
        </p:spPr>
        <p:txBody>
          <a:bodyPr wrap="square" lIns="0" tIns="18000" rIns="0" bIns="18000" anchor="ctr">
            <a:spAutoFit/>
          </a:bodyPr>
          <a:lstStyle/>
          <a:p>
            <a:pPr marL="404813" indent="-404813">
              <a:spcBef>
                <a:spcPts val="600"/>
              </a:spcBef>
              <a:buNone/>
            </a:pPr>
            <a:r>
              <a:rPr lang="en-US" sz="2400" noProof="0" dirty="0">
                <a:solidFill>
                  <a:srgbClr val="007FA3"/>
                </a:solidFill>
              </a:rPr>
              <a:t>C.</a:t>
            </a:r>
            <a:r>
              <a:rPr lang="en-US" sz="2400" noProof="0" dirty="0"/>
              <a:t> Positive imaginary numbers; negative imaginary numbers</a:t>
            </a:r>
          </a:p>
        </p:txBody>
      </p:sp>
    </p:spTree>
    <p:extLst>
      <p:ext uri="{BB962C8B-B14F-4D97-AF65-F5344CB8AC3E}">
        <p14:creationId xmlns:p14="http://schemas.microsoft.com/office/powerpoint/2010/main" val="3642517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(19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02282"/>
            <a:ext cx="3881438" cy="374906"/>
          </a:xfrm>
        </p:spPr>
        <p:txBody>
          <a:bodyPr wrap="square" lIns="0" tIns="18000" rIns="0" bIns="18000" anchor="ctr">
            <a:spAutoFit/>
          </a:bodyPr>
          <a:lstStyle/>
          <a:p>
            <a:pPr marL="0" indent="0">
              <a:spcBef>
                <a:spcPts val="600"/>
              </a:spcBef>
              <a:buNone/>
            </a:pPr>
            <a:r>
              <a:rPr lang="en-US" sz="2200" noProof="0" dirty="0"/>
              <a:t>Example (continued):</a:t>
            </a:r>
            <a:endParaRPr lang="en-US" altLang="en-US" sz="2200" noProof="0" dirty="0"/>
          </a:p>
        </p:txBody>
      </p:sp>
      <p:graphicFrame>
        <p:nvGraphicFramePr>
          <p:cNvPr id="2" name="Object 1" descr="v subscript 1 baseline (t) equals 240 cosine Open Parenthesis 4000 t plus 53.13 degrees Closed Parenthesis Volt;&#10;">
            <a:extLst>
              <a:ext uri="{FF2B5EF4-FFF2-40B4-BE49-F238E27FC236}">
                <a16:creationId xmlns:a16="http://schemas.microsoft.com/office/drawing/2014/main" id="{3B3DE2C7-4CBB-82D5-D460-1B18D2018B24}"/>
              </a:ext>
            </a:extLst>
          </p:cNvPr>
          <p:cNvGraphicFramePr>
            <a:graphicFrameLocks noChangeAspect="1"/>
          </p:cNvGraphicFramePr>
          <p:nvPr>
            <p:extLst>
              <p:ext uri="{D42A27DB-BD31-4B8C-83A1-F6EECF244321}">
                <p14:modId xmlns:p14="http://schemas.microsoft.com/office/powerpoint/2010/main" val="1771504518"/>
              </p:ext>
            </p:extLst>
          </p:nvPr>
        </p:nvGraphicFramePr>
        <p:xfrm>
          <a:off x="425250" y="1960884"/>
          <a:ext cx="3366943" cy="337705"/>
        </p:xfrm>
        <a:graphic>
          <a:graphicData uri="http://schemas.openxmlformats.org/presentationml/2006/ole">
            <mc:AlternateContent xmlns:mc="http://schemas.openxmlformats.org/markup-compatibility/2006">
              <mc:Choice xmlns:v="urn:schemas-microsoft-com:vml" Requires="v">
                <p:oleObj spid="_x0000_s11271" name="Equation" r:id="rId3" imgW="2286000" imgH="228600" progId="Equation.DSMT4">
                  <p:embed/>
                </p:oleObj>
              </mc:Choice>
              <mc:Fallback>
                <p:oleObj name="Equation" r:id="rId3" imgW="2286000" imgH="228600" progId="Equation.DSMT4">
                  <p:embed/>
                  <p:pic>
                    <p:nvPicPr>
                      <p:cNvPr id="2" name="Object 1">
                        <a:extLst>
                          <a:ext uri="{FF2B5EF4-FFF2-40B4-BE49-F238E27FC236}">
                            <a16:creationId xmlns:a16="http://schemas.microsoft.com/office/drawing/2014/main" id="{A81999F8-1C84-DD64-3A1D-F417F07926B2}"/>
                          </a:ext>
                        </a:extLst>
                      </p:cNvPr>
                      <p:cNvPicPr>
                        <a:picLocks noChangeAspect="1" noChangeArrowheads="1"/>
                      </p:cNvPicPr>
                      <p:nvPr/>
                    </p:nvPicPr>
                    <p:blipFill>
                      <a:blip r:embed="rId4"/>
                      <a:srcRect/>
                      <a:stretch>
                        <a:fillRect/>
                      </a:stretch>
                    </p:blipFill>
                    <p:spPr bwMode="auto">
                      <a:xfrm>
                        <a:off x="425250" y="1960884"/>
                        <a:ext cx="3366943" cy="33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v subscript 2 baseline (t) equals 96 sine 4000 t Volt.&#10;">
            <a:extLst>
              <a:ext uri="{FF2B5EF4-FFF2-40B4-BE49-F238E27FC236}">
                <a16:creationId xmlns:a16="http://schemas.microsoft.com/office/drawing/2014/main" id="{D54ECDA4-8F35-6340-83D7-E41A5E49D0A1}"/>
              </a:ext>
            </a:extLst>
          </p:cNvPr>
          <p:cNvGraphicFramePr>
            <a:graphicFrameLocks noChangeAspect="1"/>
          </p:cNvGraphicFramePr>
          <p:nvPr>
            <p:extLst>
              <p:ext uri="{D42A27DB-BD31-4B8C-83A1-F6EECF244321}">
                <p14:modId xmlns:p14="http://schemas.microsoft.com/office/powerpoint/2010/main" val="2075709960"/>
              </p:ext>
            </p:extLst>
          </p:nvPr>
        </p:nvGraphicFramePr>
        <p:xfrm>
          <a:off x="3889375" y="1957388"/>
          <a:ext cx="2449513" cy="338137"/>
        </p:xfrm>
        <a:graphic>
          <a:graphicData uri="http://schemas.openxmlformats.org/presentationml/2006/ole">
            <mc:AlternateContent xmlns:mc="http://schemas.openxmlformats.org/markup-compatibility/2006">
              <mc:Choice xmlns:v="urn:schemas-microsoft-com:vml" Requires="v">
                <p:oleObj spid="_x0000_s11272" name="Equation" r:id="rId5" imgW="1663560" imgH="228600" progId="Equation.DSMT4">
                  <p:embed/>
                </p:oleObj>
              </mc:Choice>
              <mc:Fallback>
                <p:oleObj name="Equation" r:id="rId5" imgW="1663560" imgH="228600" progId="Equation.DSMT4">
                  <p:embed/>
                  <p:pic>
                    <p:nvPicPr>
                      <p:cNvPr id="3" name="Object 2">
                        <a:extLst>
                          <a:ext uri="{FF2B5EF4-FFF2-40B4-BE49-F238E27FC236}">
                            <a16:creationId xmlns:a16="http://schemas.microsoft.com/office/drawing/2014/main" id="{3CFFD984-1D90-4C96-61FA-770E61BA1BBF}"/>
                          </a:ext>
                        </a:extLst>
                      </p:cNvPr>
                      <p:cNvPicPr>
                        <a:picLocks noChangeAspect="1" noChangeArrowheads="1"/>
                      </p:cNvPicPr>
                      <p:nvPr/>
                    </p:nvPicPr>
                    <p:blipFill>
                      <a:blip r:embed="rId6"/>
                      <a:srcRect/>
                      <a:stretch>
                        <a:fillRect/>
                      </a:stretch>
                    </p:blipFill>
                    <p:spPr bwMode="auto">
                      <a:xfrm>
                        <a:off x="3889375" y="1957388"/>
                        <a:ext cx="24495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6433497" y="1877168"/>
            <a:ext cx="562514" cy="374906"/>
          </a:xfrm>
        </p:spPr>
        <p:txBody>
          <a:bodyPr wrap="square" lIns="0" tIns="18000" rIns="0" bIns="18000" anchor="ctr">
            <a:spAutoFit/>
          </a:bodyPr>
          <a:lstStyle/>
          <a:p>
            <a:pPr marL="0" indent="0">
              <a:spcBef>
                <a:spcPts val="600"/>
              </a:spcBef>
              <a:buNone/>
            </a:pPr>
            <a:r>
              <a:rPr lang="en-US" altLang="en-US" sz="2200" noProof="0" dirty="0"/>
              <a:t>Find</a:t>
            </a:r>
            <a:endParaRPr lang="en-US" sz="2200" noProof="0" dirty="0"/>
          </a:p>
        </p:txBody>
      </p:sp>
      <p:graphicFrame>
        <p:nvGraphicFramePr>
          <p:cNvPr id="4" name="Object 3" descr="v subscript o baseline (t).&#10;">
            <a:extLst>
              <a:ext uri="{FF2B5EF4-FFF2-40B4-BE49-F238E27FC236}">
                <a16:creationId xmlns:a16="http://schemas.microsoft.com/office/drawing/2014/main" id="{8839E95D-80E1-53FA-68C2-685A1C3239A4}"/>
              </a:ext>
            </a:extLst>
          </p:cNvPr>
          <p:cNvGraphicFramePr>
            <a:graphicFrameLocks noChangeAspect="1"/>
          </p:cNvGraphicFramePr>
          <p:nvPr>
            <p:extLst>
              <p:ext uri="{D42A27DB-BD31-4B8C-83A1-F6EECF244321}">
                <p14:modId xmlns:p14="http://schemas.microsoft.com/office/powerpoint/2010/main" val="1177561410"/>
              </p:ext>
            </p:extLst>
          </p:nvPr>
        </p:nvGraphicFramePr>
        <p:xfrm>
          <a:off x="7129367" y="1929986"/>
          <a:ext cx="534988" cy="371475"/>
        </p:xfrm>
        <a:graphic>
          <a:graphicData uri="http://schemas.openxmlformats.org/presentationml/2006/ole">
            <mc:AlternateContent xmlns:mc="http://schemas.openxmlformats.org/markup-compatibility/2006">
              <mc:Choice xmlns:v="urn:schemas-microsoft-com:vml" Requires="v">
                <p:oleObj spid="_x0000_s11273" name="Equation" r:id="rId7" imgW="330120" imgH="228600" progId="Equation.DSMT4">
                  <p:embed/>
                </p:oleObj>
              </mc:Choice>
              <mc:Fallback>
                <p:oleObj name="Equation" r:id="rId7" imgW="330120" imgH="228600" progId="Equation.DSMT4">
                  <p:embed/>
                  <p:pic>
                    <p:nvPicPr>
                      <p:cNvPr id="4" name="Object 3">
                        <a:extLst>
                          <a:ext uri="{FF2B5EF4-FFF2-40B4-BE49-F238E27FC236}">
                            <a16:creationId xmlns:a16="http://schemas.microsoft.com/office/drawing/2014/main" id="{A6F49982-3F97-BB04-2DC7-893F8387BE05}"/>
                          </a:ext>
                        </a:extLst>
                      </p:cNvPr>
                      <p:cNvPicPr>
                        <a:picLocks noChangeAspect="1" noChangeArrowheads="1"/>
                      </p:cNvPicPr>
                      <p:nvPr/>
                    </p:nvPicPr>
                    <p:blipFill>
                      <a:blip r:embed="rId8"/>
                      <a:srcRect/>
                      <a:stretch>
                        <a:fillRect/>
                      </a:stretch>
                    </p:blipFill>
                    <p:spPr bwMode="auto">
                      <a:xfrm>
                        <a:off x="7129367" y="1929986"/>
                        <a:ext cx="53498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2346954"/>
            <a:ext cx="7558537" cy="374906"/>
          </a:xfrm>
        </p:spPr>
        <p:txBody>
          <a:bodyPr wrap="square" lIns="0" tIns="18000" rIns="0" bIns="18000" anchor="ctr">
            <a:spAutoFit/>
          </a:bodyPr>
          <a:lstStyle/>
          <a:p>
            <a:pPr marL="0" indent="0">
              <a:spcBef>
                <a:spcPts val="600"/>
              </a:spcBef>
              <a:buNone/>
            </a:pPr>
            <a:r>
              <a:rPr lang="en-US" altLang="en-US" sz="2200" noProof="0" dirty="0"/>
              <a:t>in the steady-state, using a series of source transformations.</a:t>
            </a:r>
            <a:endParaRPr lang="en-US" sz="2200" noProof="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523" y="2878669"/>
            <a:ext cx="3046921" cy="374906"/>
          </a:xfrm>
        </p:spPr>
        <p:txBody>
          <a:bodyPr wrap="square" lIns="0" tIns="18000" rIns="0" bIns="18000" anchor="ctr">
            <a:spAutoFit/>
          </a:bodyPr>
          <a:lstStyle/>
          <a:p>
            <a:pPr marL="457200" indent="-457200">
              <a:spcBef>
                <a:spcPts val="600"/>
              </a:spcBef>
              <a:buFont typeface="+mj-lt"/>
              <a:buAutoNum type="arabicPeriod" startAt="5"/>
            </a:pPr>
            <a:r>
              <a:rPr lang="en-US" sz="2200" kern="0" noProof="0" dirty="0"/>
              <a:t>Source transform</a:t>
            </a:r>
          </a:p>
        </p:txBody>
      </p:sp>
      <p:pic>
        <p:nvPicPr>
          <p:cNvPr id="26" name="Picture 9" descr="A circuit diagram shows the positive terminal of a voltage source of 240 volts at 53.13 degrees connected to an inductance coil of j 60 ohms. The other end of the inductance coil is connected to a resistor of 20 ohms in series, through terminals 1 and 2. This resistor is connected to the negative terminal of another voltage source of 96 volts at negative 90 degrees. The positive terminal of the second voltage source is connected to the negative terminal of the first voltage source through terminals 3 and 4. A resistor of 30 ohms is connected between terminals 1 and 4, and a capacitor of negative j 60 ohms is connected between terminals 2 and 3. There is positive V sub 0 between terminals 1 and 2, and negative V sub 0 between terminals 3 and 4.">
            <a:extLst>
              <a:ext uri="{FF2B5EF4-FFF2-40B4-BE49-F238E27FC236}">
                <a16:creationId xmlns:a16="http://schemas.microsoft.com/office/drawing/2014/main" id="{7B09BD5B-4D99-ADBD-E7B5-8DE5F578A184}"/>
              </a:ext>
            </a:extLst>
          </p:cNvPr>
          <p:cNvPicPr>
            <a:picLocks noChangeAspect="1" noChangeArrowheads="1"/>
          </p:cNvPicPr>
          <p:nvPr/>
        </p:nvPicPr>
        <p:blipFill>
          <a:blip r:embed="rId9"/>
          <a:stretch>
            <a:fillRect/>
          </a:stretch>
        </p:blipFill>
        <p:spPr bwMode="auto">
          <a:xfrm>
            <a:off x="4870016" y="2925297"/>
            <a:ext cx="3576641" cy="1241175"/>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5" name="Object 2" descr="Start Fraction 240 angle 53.13 degrees over j 60 End Fraction equals 3.2 minus j 2.4 Ampere.&#10;">
            <a:extLst>
              <a:ext uri="{FF2B5EF4-FFF2-40B4-BE49-F238E27FC236}">
                <a16:creationId xmlns:a16="http://schemas.microsoft.com/office/drawing/2014/main" id="{31227579-5A83-83F6-4EE0-143F1BEADADF}"/>
              </a:ext>
            </a:extLst>
          </p:cNvPr>
          <p:cNvGraphicFramePr>
            <a:graphicFrameLocks noChangeAspect="1"/>
          </p:cNvGraphicFramePr>
          <p:nvPr>
            <p:extLst>
              <p:ext uri="{D42A27DB-BD31-4B8C-83A1-F6EECF244321}">
                <p14:modId xmlns:p14="http://schemas.microsoft.com/office/powerpoint/2010/main" val="1816400206"/>
              </p:ext>
            </p:extLst>
          </p:nvPr>
        </p:nvGraphicFramePr>
        <p:xfrm>
          <a:off x="731838" y="4060825"/>
          <a:ext cx="2955925" cy="676275"/>
        </p:xfrm>
        <a:graphic>
          <a:graphicData uri="http://schemas.openxmlformats.org/presentationml/2006/ole">
            <mc:AlternateContent xmlns:mc="http://schemas.openxmlformats.org/markup-compatibility/2006">
              <mc:Choice xmlns:v="urn:schemas-microsoft-com:vml" Requires="v">
                <p:oleObj spid="_x0000_s11274" name="Equation" r:id="rId10" imgW="1828800" imgH="419040" progId="Equation.DSMT4">
                  <p:embed/>
                </p:oleObj>
              </mc:Choice>
              <mc:Fallback>
                <p:oleObj name="Equation" r:id="rId10" imgW="1828800" imgH="419040" progId="Equation.DSMT4">
                  <p:embed/>
                  <p:pic>
                    <p:nvPicPr>
                      <p:cNvPr id="8" name="Object 2"/>
                      <p:cNvPicPr>
                        <a:picLocks noChangeAspect="1" noChangeArrowheads="1"/>
                      </p:cNvPicPr>
                      <p:nvPr/>
                    </p:nvPicPr>
                    <p:blipFill>
                      <a:blip r:embed="rId11"/>
                      <a:srcRect/>
                      <a:stretch>
                        <a:fillRect/>
                      </a:stretch>
                    </p:blipFill>
                    <p:spPr bwMode="auto">
                      <a:xfrm>
                        <a:off x="731838" y="4060825"/>
                        <a:ext cx="2955925"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2" descr="Start Fraction 96 angle negative 90 degrees over negative j 60 End Fraction equals negative j 4.8 Ampere.&#10;">
            <a:extLst>
              <a:ext uri="{FF2B5EF4-FFF2-40B4-BE49-F238E27FC236}">
                <a16:creationId xmlns:a16="http://schemas.microsoft.com/office/drawing/2014/main" id="{2652911A-8E5D-ABD8-AE04-A14A0FCF0C1B}"/>
              </a:ext>
            </a:extLst>
          </p:cNvPr>
          <p:cNvGraphicFramePr>
            <a:graphicFrameLocks noChangeAspect="1"/>
          </p:cNvGraphicFramePr>
          <p:nvPr>
            <p:extLst>
              <p:ext uri="{D42A27DB-BD31-4B8C-83A1-F6EECF244321}">
                <p14:modId xmlns:p14="http://schemas.microsoft.com/office/powerpoint/2010/main" val="64918689"/>
              </p:ext>
            </p:extLst>
          </p:nvPr>
        </p:nvGraphicFramePr>
        <p:xfrm>
          <a:off x="728663" y="4886325"/>
          <a:ext cx="2279650" cy="676275"/>
        </p:xfrm>
        <a:graphic>
          <a:graphicData uri="http://schemas.openxmlformats.org/presentationml/2006/ole">
            <mc:AlternateContent xmlns:mc="http://schemas.openxmlformats.org/markup-compatibility/2006">
              <mc:Choice xmlns:v="urn:schemas-microsoft-com:vml" Requires="v">
                <p:oleObj spid="_x0000_s11275" name="Equation" r:id="rId12" imgW="1409400" imgH="419040" progId="Equation.DSMT4">
                  <p:embed/>
                </p:oleObj>
              </mc:Choice>
              <mc:Fallback>
                <p:oleObj name="Equation" r:id="rId12" imgW="1409400" imgH="419040" progId="Equation.DSMT4">
                  <p:embed/>
                  <p:pic>
                    <p:nvPicPr>
                      <p:cNvPr id="5" name="Object 2">
                        <a:extLst>
                          <a:ext uri="{FF2B5EF4-FFF2-40B4-BE49-F238E27FC236}">
                            <a16:creationId xmlns:a16="http://schemas.microsoft.com/office/drawing/2014/main" id="{31227579-5A83-83F6-4EE0-143F1BEADADF}"/>
                          </a:ext>
                        </a:extLst>
                      </p:cNvPr>
                      <p:cNvPicPr>
                        <a:picLocks noChangeAspect="1" noChangeArrowheads="1"/>
                      </p:cNvPicPr>
                      <p:nvPr/>
                    </p:nvPicPr>
                    <p:blipFill>
                      <a:blip r:embed="rId13"/>
                      <a:srcRect/>
                      <a:stretch>
                        <a:fillRect/>
                      </a:stretch>
                    </p:blipFill>
                    <p:spPr bwMode="auto">
                      <a:xfrm>
                        <a:off x="728663" y="4886325"/>
                        <a:ext cx="2279650"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7" name="Picture 11" descr="A circuit diagram shows a current source of 3.2 to j 2.4 amperes with pointer pointing upward connected to another source with a downward pointing pointer through terminals 1, 2, 3, and 4. The second source is again connected to the first source through terminals 5, 6, 7, and 8. An inductance coil of j 60 ohms is connected between terminals 1 and 8. A resistor of 30 ohms is connected between the terminals 2 and 7. A capacitor of negative j 60 ohms is connected between terminals 3 and 6, and another resistor of 20 ohms is connected between terminals 4 and 5. The circuit enclosed between terminals 2, 3, 6, and 7 shows a positive sign of V sub 0 at the top, and a negative sign of V sub 0 at the bottom. Another current source of negative j 4.8 A is connected across the 20 ohm resistor.">
            <a:extLst>
              <a:ext uri="{FF2B5EF4-FFF2-40B4-BE49-F238E27FC236}">
                <a16:creationId xmlns:a16="http://schemas.microsoft.com/office/drawing/2014/main" id="{FC8ADA5C-5FC2-8069-D55E-A6077C064213}"/>
              </a:ext>
            </a:extLst>
          </p:cNvPr>
          <p:cNvPicPr>
            <a:picLocks noChangeAspect="1" noChangeArrowheads="1"/>
          </p:cNvPicPr>
          <p:nvPr/>
        </p:nvPicPr>
        <p:blipFill>
          <a:blip r:embed="rId14"/>
          <a:stretch>
            <a:fillRect/>
          </a:stretch>
        </p:blipFill>
        <p:spPr bwMode="auto">
          <a:xfrm>
            <a:off x="4362318" y="4668401"/>
            <a:ext cx="4135729" cy="1197848"/>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595894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(20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02282"/>
            <a:ext cx="3881438" cy="374906"/>
          </a:xfrm>
        </p:spPr>
        <p:txBody>
          <a:bodyPr wrap="square" lIns="0" tIns="18000" rIns="0" bIns="18000" anchor="ctr">
            <a:spAutoFit/>
          </a:bodyPr>
          <a:lstStyle/>
          <a:p>
            <a:pPr marL="0" indent="0">
              <a:spcBef>
                <a:spcPts val="600"/>
              </a:spcBef>
              <a:buNone/>
            </a:pPr>
            <a:r>
              <a:rPr lang="en-US" sz="2200" noProof="0" dirty="0"/>
              <a:t>Example (continued):</a:t>
            </a:r>
            <a:endParaRPr lang="en-US" altLang="en-US" sz="2200" noProof="0" dirty="0"/>
          </a:p>
        </p:txBody>
      </p:sp>
      <p:graphicFrame>
        <p:nvGraphicFramePr>
          <p:cNvPr id="2" name="Object 1" descr="v subscript 1 baseline (t) equals 240 cosine Open Parenthesis 4000 t plus 53.13 degrees Closed Parenthesis Volt;&#10;">
            <a:extLst>
              <a:ext uri="{FF2B5EF4-FFF2-40B4-BE49-F238E27FC236}">
                <a16:creationId xmlns:a16="http://schemas.microsoft.com/office/drawing/2014/main" id="{3B3DE2C7-4CBB-82D5-D460-1B18D2018B24}"/>
              </a:ext>
            </a:extLst>
          </p:cNvPr>
          <p:cNvGraphicFramePr>
            <a:graphicFrameLocks noChangeAspect="1"/>
          </p:cNvGraphicFramePr>
          <p:nvPr>
            <p:extLst>
              <p:ext uri="{D42A27DB-BD31-4B8C-83A1-F6EECF244321}">
                <p14:modId xmlns:p14="http://schemas.microsoft.com/office/powerpoint/2010/main" val="3339026873"/>
              </p:ext>
            </p:extLst>
          </p:nvPr>
        </p:nvGraphicFramePr>
        <p:xfrm>
          <a:off x="427232" y="1943998"/>
          <a:ext cx="3703637" cy="371476"/>
        </p:xfrm>
        <a:graphic>
          <a:graphicData uri="http://schemas.openxmlformats.org/presentationml/2006/ole">
            <mc:AlternateContent xmlns:mc="http://schemas.openxmlformats.org/markup-compatibility/2006">
              <mc:Choice xmlns:v="urn:schemas-microsoft-com:vml" Requires="v">
                <p:oleObj spid="_x0000_s12296" name="Equation" r:id="rId3" imgW="2286000" imgH="228600" progId="Equation.DSMT4">
                  <p:embed/>
                </p:oleObj>
              </mc:Choice>
              <mc:Fallback>
                <p:oleObj name="Equation" r:id="rId3" imgW="2286000" imgH="228600" progId="Equation.DSMT4">
                  <p:embed/>
                  <p:pic>
                    <p:nvPicPr>
                      <p:cNvPr id="2" name="Object 1">
                        <a:extLst>
                          <a:ext uri="{FF2B5EF4-FFF2-40B4-BE49-F238E27FC236}">
                            <a16:creationId xmlns:a16="http://schemas.microsoft.com/office/drawing/2014/main" id="{3B3DE2C7-4CBB-82D5-D460-1B18D2018B24}"/>
                          </a:ext>
                        </a:extLst>
                      </p:cNvPr>
                      <p:cNvPicPr>
                        <a:picLocks noChangeAspect="1" noChangeArrowheads="1"/>
                      </p:cNvPicPr>
                      <p:nvPr/>
                    </p:nvPicPr>
                    <p:blipFill>
                      <a:blip r:embed="rId4"/>
                      <a:srcRect/>
                      <a:stretch>
                        <a:fillRect/>
                      </a:stretch>
                    </p:blipFill>
                    <p:spPr bwMode="auto">
                      <a:xfrm>
                        <a:off x="427232" y="1943998"/>
                        <a:ext cx="3703637" cy="371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v subscript 2 baseline (t) equals 96 sine (4000 t) Volt.&#10;">
            <a:extLst>
              <a:ext uri="{FF2B5EF4-FFF2-40B4-BE49-F238E27FC236}">
                <a16:creationId xmlns:a16="http://schemas.microsoft.com/office/drawing/2014/main" id="{D54ECDA4-8F35-6340-83D7-E41A5E49D0A1}"/>
              </a:ext>
            </a:extLst>
          </p:cNvPr>
          <p:cNvGraphicFramePr>
            <a:graphicFrameLocks noChangeAspect="1"/>
          </p:cNvGraphicFramePr>
          <p:nvPr>
            <p:extLst>
              <p:ext uri="{D42A27DB-BD31-4B8C-83A1-F6EECF244321}">
                <p14:modId xmlns:p14="http://schemas.microsoft.com/office/powerpoint/2010/main" val="4245657022"/>
              </p:ext>
            </p:extLst>
          </p:nvPr>
        </p:nvGraphicFramePr>
        <p:xfrm>
          <a:off x="4268771" y="1940481"/>
          <a:ext cx="2675255" cy="371951"/>
        </p:xfrm>
        <a:graphic>
          <a:graphicData uri="http://schemas.openxmlformats.org/presentationml/2006/ole">
            <mc:AlternateContent xmlns:mc="http://schemas.openxmlformats.org/markup-compatibility/2006">
              <mc:Choice xmlns:v="urn:schemas-microsoft-com:vml" Requires="v">
                <p:oleObj spid="_x0000_s12297" name="Equation" r:id="rId5" imgW="1650960" imgH="228600" progId="Equation.DSMT4">
                  <p:embed/>
                </p:oleObj>
              </mc:Choice>
              <mc:Fallback>
                <p:oleObj name="Equation" r:id="rId5" imgW="1650960" imgH="228600" progId="Equation.DSMT4">
                  <p:embed/>
                  <p:pic>
                    <p:nvPicPr>
                      <p:cNvPr id="3" name="Object 2">
                        <a:extLst>
                          <a:ext uri="{FF2B5EF4-FFF2-40B4-BE49-F238E27FC236}">
                            <a16:creationId xmlns:a16="http://schemas.microsoft.com/office/drawing/2014/main" id="{D54ECDA4-8F35-6340-83D7-E41A5E49D0A1}"/>
                          </a:ext>
                        </a:extLst>
                      </p:cNvPr>
                      <p:cNvPicPr>
                        <a:picLocks noChangeAspect="1" noChangeArrowheads="1"/>
                      </p:cNvPicPr>
                      <p:nvPr/>
                    </p:nvPicPr>
                    <p:blipFill>
                      <a:blip r:embed="rId6"/>
                      <a:srcRect/>
                      <a:stretch>
                        <a:fillRect/>
                      </a:stretch>
                    </p:blipFill>
                    <p:spPr bwMode="auto">
                      <a:xfrm>
                        <a:off x="4268771" y="1940481"/>
                        <a:ext cx="2675255" cy="371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7061025" y="1877168"/>
            <a:ext cx="562514" cy="374906"/>
          </a:xfrm>
        </p:spPr>
        <p:txBody>
          <a:bodyPr wrap="square" lIns="0" tIns="18000" rIns="0" bIns="18000" anchor="ctr">
            <a:spAutoFit/>
          </a:bodyPr>
          <a:lstStyle/>
          <a:p>
            <a:pPr marL="0" indent="0">
              <a:spcBef>
                <a:spcPts val="600"/>
              </a:spcBef>
              <a:buNone/>
            </a:pPr>
            <a:r>
              <a:rPr lang="en-US" altLang="en-US" sz="2200" noProof="0" dirty="0"/>
              <a:t>Find</a:t>
            </a:r>
            <a:endParaRPr lang="en-US" sz="2200" noProof="0" dirty="0"/>
          </a:p>
        </p:txBody>
      </p:sp>
      <p:graphicFrame>
        <p:nvGraphicFramePr>
          <p:cNvPr id="4" name="Object 3" descr="v subscript o baseline (t).&#10;">
            <a:extLst>
              <a:ext uri="{FF2B5EF4-FFF2-40B4-BE49-F238E27FC236}">
                <a16:creationId xmlns:a16="http://schemas.microsoft.com/office/drawing/2014/main" id="{8839E95D-80E1-53FA-68C2-685A1C3239A4}"/>
              </a:ext>
            </a:extLst>
          </p:cNvPr>
          <p:cNvGraphicFramePr>
            <a:graphicFrameLocks noChangeAspect="1"/>
          </p:cNvGraphicFramePr>
          <p:nvPr>
            <p:extLst>
              <p:ext uri="{D42A27DB-BD31-4B8C-83A1-F6EECF244321}">
                <p14:modId xmlns:p14="http://schemas.microsoft.com/office/powerpoint/2010/main" val="2844477318"/>
              </p:ext>
            </p:extLst>
          </p:nvPr>
        </p:nvGraphicFramePr>
        <p:xfrm>
          <a:off x="7774825" y="1912056"/>
          <a:ext cx="534988" cy="371475"/>
        </p:xfrm>
        <a:graphic>
          <a:graphicData uri="http://schemas.openxmlformats.org/presentationml/2006/ole">
            <mc:AlternateContent xmlns:mc="http://schemas.openxmlformats.org/markup-compatibility/2006">
              <mc:Choice xmlns:v="urn:schemas-microsoft-com:vml" Requires="v">
                <p:oleObj spid="_x0000_s12298" name="Equation" r:id="rId7" imgW="330120" imgH="228600" progId="Equation.DSMT4">
                  <p:embed/>
                </p:oleObj>
              </mc:Choice>
              <mc:Fallback>
                <p:oleObj name="Equation" r:id="rId7" imgW="330120" imgH="228600" progId="Equation.DSMT4">
                  <p:embed/>
                  <p:pic>
                    <p:nvPicPr>
                      <p:cNvPr id="4" name="Object 3">
                        <a:extLst>
                          <a:ext uri="{FF2B5EF4-FFF2-40B4-BE49-F238E27FC236}">
                            <a16:creationId xmlns:a16="http://schemas.microsoft.com/office/drawing/2014/main" id="{8839E95D-80E1-53FA-68C2-685A1C3239A4}"/>
                          </a:ext>
                        </a:extLst>
                      </p:cNvPr>
                      <p:cNvPicPr>
                        <a:picLocks noChangeAspect="1" noChangeArrowheads="1"/>
                      </p:cNvPicPr>
                      <p:nvPr/>
                    </p:nvPicPr>
                    <p:blipFill>
                      <a:blip r:embed="rId8"/>
                      <a:srcRect/>
                      <a:stretch>
                        <a:fillRect/>
                      </a:stretch>
                    </p:blipFill>
                    <p:spPr bwMode="auto">
                      <a:xfrm>
                        <a:off x="7774825" y="1912056"/>
                        <a:ext cx="53498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2355919"/>
            <a:ext cx="7558537" cy="374906"/>
          </a:xfrm>
        </p:spPr>
        <p:txBody>
          <a:bodyPr wrap="square" lIns="0" tIns="18000" rIns="0" bIns="18000" anchor="ctr">
            <a:spAutoFit/>
          </a:bodyPr>
          <a:lstStyle/>
          <a:p>
            <a:pPr marL="0" indent="0">
              <a:spcBef>
                <a:spcPts val="600"/>
              </a:spcBef>
              <a:buNone/>
            </a:pPr>
            <a:r>
              <a:rPr lang="en-US" altLang="en-US" sz="2200" noProof="0" dirty="0"/>
              <a:t>in the steady-state, using a series of source transformations.</a:t>
            </a:r>
            <a:endParaRPr lang="en-US" sz="2200" noProof="0" dirty="0"/>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523" y="2949007"/>
            <a:ext cx="3046921" cy="374906"/>
          </a:xfrm>
        </p:spPr>
        <p:txBody>
          <a:bodyPr wrap="square" lIns="0" tIns="18000" rIns="0" bIns="18000" anchor="ctr">
            <a:spAutoFit/>
          </a:bodyPr>
          <a:lstStyle/>
          <a:p>
            <a:pPr marL="457200" indent="-457200">
              <a:spcBef>
                <a:spcPts val="600"/>
              </a:spcBef>
              <a:buFont typeface="+mj-lt"/>
              <a:buAutoNum type="arabicPeriod" startAt="5"/>
            </a:pPr>
            <a:r>
              <a:rPr lang="en-US" sz="2200" kern="0" noProof="0" dirty="0"/>
              <a:t>Source transform</a:t>
            </a:r>
          </a:p>
        </p:txBody>
      </p:sp>
      <p:pic>
        <p:nvPicPr>
          <p:cNvPr id="13" name="Picture 3" descr="A circuit diagram shows a current source of 3.2 to j 2.4 amperes with pointer pointing upward connected to another source with a downward pointing pointer through terminals 1, 2, 3, and 4. The second source is again connected to the first source through terminals 5, 6, 7, and 8. An inductance coil of j 60 ohms is connected between terminals 1 and 8. A resistor of 30 ohms is connected between the terminals 2 and 7. A capacitor of negative j 60 ohms is connected between terminals 3 and 6, and another resistor of 20 ohms is connected between terminals 4 and 5. The circuit enclosed between terminals 2, 3, 6, and 7 shows a positive sign of V sub 0 at the top, and a negative sign of V sub 0 at the bottom. Another current source of negative j 4.8 A is connected across the 20 ohm resistor.">
            <a:extLst>
              <a:ext uri="{FF2B5EF4-FFF2-40B4-BE49-F238E27FC236}">
                <a16:creationId xmlns:a16="http://schemas.microsoft.com/office/drawing/2014/main" id="{3E070131-8710-573A-B49E-FB26C8D0A27F}"/>
              </a:ext>
            </a:extLst>
          </p:cNvPr>
          <p:cNvPicPr>
            <a:picLocks noChangeAspect="1" noChangeArrowheads="1"/>
          </p:cNvPicPr>
          <p:nvPr/>
        </p:nvPicPr>
        <p:blipFill>
          <a:blip r:embed="rId9"/>
          <a:stretch>
            <a:fillRect/>
          </a:stretch>
        </p:blipFill>
        <p:spPr bwMode="auto">
          <a:xfrm>
            <a:off x="4767940" y="2959319"/>
            <a:ext cx="3640110" cy="1054300"/>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11" name="Object 2" descr="3.2 minus j 2.4 minus (negative j 4.8) equals 3.2 minus j 2.4 Ampere.&#10;">
            <a:extLst>
              <a:ext uri="{FF2B5EF4-FFF2-40B4-BE49-F238E27FC236}">
                <a16:creationId xmlns:a16="http://schemas.microsoft.com/office/drawing/2014/main" id="{3F01703D-F1DB-6410-F7BD-1F8031C17FD4}"/>
              </a:ext>
            </a:extLst>
          </p:cNvPr>
          <p:cNvGraphicFramePr>
            <a:graphicFrameLocks noChangeAspect="1"/>
          </p:cNvGraphicFramePr>
          <p:nvPr>
            <p:extLst>
              <p:ext uri="{D42A27DB-BD31-4B8C-83A1-F6EECF244321}">
                <p14:modId xmlns:p14="http://schemas.microsoft.com/office/powerpoint/2010/main" val="1937326379"/>
              </p:ext>
            </p:extLst>
          </p:nvPr>
        </p:nvGraphicFramePr>
        <p:xfrm>
          <a:off x="466725" y="4198568"/>
          <a:ext cx="3535363" cy="312738"/>
        </p:xfrm>
        <a:graphic>
          <a:graphicData uri="http://schemas.openxmlformats.org/presentationml/2006/ole">
            <mc:AlternateContent xmlns:mc="http://schemas.openxmlformats.org/markup-compatibility/2006">
              <mc:Choice xmlns:v="urn:schemas-microsoft-com:vml" Requires="v">
                <p:oleObj spid="_x0000_s12299" name="Equation" r:id="rId10" imgW="2298600" imgH="203040" progId="Equation.DSMT4">
                  <p:embed/>
                </p:oleObj>
              </mc:Choice>
              <mc:Fallback>
                <p:oleObj name="Equation" r:id="rId10" imgW="2298600" imgH="203040" progId="Equation.DSMT4">
                  <p:embed/>
                  <p:pic>
                    <p:nvPicPr>
                      <p:cNvPr id="10" name="Object 2"/>
                      <p:cNvPicPr>
                        <a:picLocks noChangeAspect="1" noChangeArrowheads="1"/>
                      </p:cNvPicPr>
                      <p:nvPr/>
                    </p:nvPicPr>
                    <p:blipFill>
                      <a:blip r:embed="rId11"/>
                      <a:srcRect/>
                      <a:stretch>
                        <a:fillRect/>
                      </a:stretch>
                    </p:blipFill>
                    <p:spPr bwMode="auto">
                      <a:xfrm>
                        <a:off x="466725" y="4198568"/>
                        <a:ext cx="3535363"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2" descr="j 60 parallel to 30 parallel to negative j 60 parallel to 20 equals 12 Ohm.&#10;">
            <a:extLst>
              <a:ext uri="{FF2B5EF4-FFF2-40B4-BE49-F238E27FC236}">
                <a16:creationId xmlns:a16="http://schemas.microsoft.com/office/drawing/2014/main" id="{9244816B-4B0D-F01B-4D5B-6E9305EB9B27}"/>
              </a:ext>
            </a:extLst>
          </p:cNvPr>
          <p:cNvGraphicFramePr>
            <a:graphicFrameLocks noChangeAspect="1"/>
          </p:cNvGraphicFramePr>
          <p:nvPr>
            <p:extLst>
              <p:ext uri="{D42A27DB-BD31-4B8C-83A1-F6EECF244321}">
                <p14:modId xmlns:p14="http://schemas.microsoft.com/office/powerpoint/2010/main" val="2348294024"/>
              </p:ext>
            </p:extLst>
          </p:nvPr>
        </p:nvGraphicFramePr>
        <p:xfrm>
          <a:off x="463306" y="4664422"/>
          <a:ext cx="2772352" cy="313170"/>
        </p:xfrm>
        <a:graphic>
          <a:graphicData uri="http://schemas.openxmlformats.org/presentationml/2006/ole">
            <mc:AlternateContent xmlns:mc="http://schemas.openxmlformats.org/markup-compatibility/2006">
              <mc:Choice xmlns:v="urn:schemas-microsoft-com:vml" Requires="v">
                <p:oleObj spid="_x0000_s12300" name="Equation" r:id="rId12" imgW="1803240" imgH="203040" progId="Equation.DSMT4">
                  <p:embed/>
                </p:oleObj>
              </mc:Choice>
              <mc:Fallback>
                <p:oleObj name="Equation" r:id="rId12" imgW="1803240" imgH="203040" progId="Equation.DSMT4">
                  <p:embed/>
                  <p:pic>
                    <p:nvPicPr>
                      <p:cNvPr id="11" name="Object 2">
                        <a:extLst>
                          <a:ext uri="{FF2B5EF4-FFF2-40B4-BE49-F238E27FC236}">
                            <a16:creationId xmlns:a16="http://schemas.microsoft.com/office/drawing/2014/main" id="{3F01703D-F1DB-6410-F7BD-1F8031C17FD4}"/>
                          </a:ext>
                        </a:extLst>
                      </p:cNvPr>
                      <p:cNvPicPr>
                        <a:picLocks noChangeAspect="1" noChangeArrowheads="1"/>
                      </p:cNvPicPr>
                      <p:nvPr/>
                    </p:nvPicPr>
                    <p:blipFill>
                      <a:blip r:embed="rId13"/>
                      <a:srcRect/>
                      <a:stretch>
                        <a:fillRect/>
                      </a:stretch>
                    </p:blipFill>
                    <p:spPr bwMode="auto">
                      <a:xfrm>
                        <a:off x="463306" y="4664422"/>
                        <a:ext cx="2772352" cy="3131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4" descr="V subscript o baseline equals Open Parenthesis 3.2 plus j 2.4 Closed Parenthesis times (12) equals 38.4 plus j 28.8 Volt.&#10;">
            <a:extLst>
              <a:ext uri="{FF2B5EF4-FFF2-40B4-BE49-F238E27FC236}">
                <a16:creationId xmlns:a16="http://schemas.microsoft.com/office/drawing/2014/main" id="{FC51C469-6808-BBEF-C265-F9A569136838}"/>
              </a:ext>
            </a:extLst>
          </p:cNvPr>
          <p:cNvGraphicFramePr>
            <a:graphicFrameLocks noChangeAspect="1"/>
          </p:cNvGraphicFramePr>
          <p:nvPr>
            <p:extLst>
              <p:ext uri="{D42A27DB-BD31-4B8C-83A1-F6EECF244321}">
                <p14:modId xmlns:p14="http://schemas.microsoft.com/office/powerpoint/2010/main" val="363589018"/>
              </p:ext>
            </p:extLst>
          </p:nvPr>
        </p:nvGraphicFramePr>
        <p:xfrm>
          <a:off x="463589" y="5138368"/>
          <a:ext cx="3513137" cy="320675"/>
        </p:xfrm>
        <a:graphic>
          <a:graphicData uri="http://schemas.openxmlformats.org/presentationml/2006/ole">
            <mc:AlternateContent xmlns:mc="http://schemas.openxmlformats.org/markup-compatibility/2006">
              <mc:Choice xmlns:v="urn:schemas-microsoft-com:vml" Requires="v">
                <p:oleObj spid="_x0000_s12301" name="Equation" r:id="rId14" imgW="2514600" imgH="228600" progId="Equation.DSMT4">
                  <p:embed/>
                </p:oleObj>
              </mc:Choice>
              <mc:Fallback>
                <p:oleObj name="Equation" r:id="rId14" imgW="2514600" imgH="228600" progId="Equation.DSMT4">
                  <p:embed/>
                  <p:pic>
                    <p:nvPicPr>
                      <p:cNvPr id="14" name="Object 4"/>
                      <p:cNvPicPr>
                        <a:picLocks noChangeAspect="1" noChangeArrowheads="1"/>
                      </p:cNvPicPr>
                      <p:nvPr/>
                    </p:nvPicPr>
                    <p:blipFill>
                      <a:blip r:embed="rId15"/>
                      <a:srcRect/>
                      <a:stretch>
                        <a:fillRect/>
                      </a:stretch>
                    </p:blipFill>
                    <p:spPr bwMode="auto">
                      <a:xfrm>
                        <a:off x="463589" y="5138368"/>
                        <a:ext cx="3513137"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 name="Picture 3" descr="A circuit diagram shows current of 3.2 to j 2.4 amperes from a source connected in series to a resistor of 12 ohms. This resistor is again connected to the source. The circuit diagram reads plus and minus signs for V sub 0 at the top and bottom respectively, to the right side of the resistor.">
            <a:extLst>
              <a:ext uri="{FF2B5EF4-FFF2-40B4-BE49-F238E27FC236}">
                <a16:creationId xmlns:a16="http://schemas.microsoft.com/office/drawing/2014/main" id="{37FCA94E-8D49-D3AD-6EF8-84C2FD2AE116}"/>
              </a:ext>
            </a:extLst>
          </p:cNvPr>
          <p:cNvPicPr>
            <a:picLocks noChangeAspect="1" noChangeArrowheads="1"/>
          </p:cNvPicPr>
          <p:nvPr/>
        </p:nvPicPr>
        <p:blipFill>
          <a:blip r:embed="rId16"/>
          <a:stretch>
            <a:fillRect/>
          </a:stretch>
        </p:blipFill>
        <p:spPr bwMode="auto">
          <a:xfrm>
            <a:off x="5280723" y="4614884"/>
            <a:ext cx="2356305" cy="1218778"/>
          </a:xfrm>
          <a:prstGeom prst="rect">
            <a:avLst/>
          </a:prstGeom>
          <a:noFill/>
          <a:ln w="19050">
            <a:solidFill>
              <a:srgbClr val="007FA3"/>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8186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(21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02282"/>
            <a:ext cx="3881438" cy="374906"/>
          </a:xfrm>
        </p:spPr>
        <p:txBody>
          <a:bodyPr wrap="square" lIns="0" tIns="18000" rIns="0" bIns="18000" anchor="ctr">
            <a:spAutoFit/>
          </a:bodyPr>
          <a:lstStyle/>
          <a:p>
            <a:pPr marL="0" indent="0">
              <a:spcBef>
                <a:spcPts val="600"/>
              </a:spcBef>
              <a:buNone/>
            </a:pPr>
            <a:r>
              <a:rPr lang="en-US" sz="2200" noProof="0" dirty="0"/>
              <a:t>Example (continued):</a:t>
            </a:r>
            <a:endParaRPr lang="en-US" altLang="en-US" sz="2200" noProof="0" dirty="0"/>
          </a:p>
        </p:txBody>
      </p:sp>
      <p:graphicFrame>
        <p:nvGraphicFramePr>
          <p:cNvPr id="2" name="Object 1" descr="v subscript 1 baseline (t) equals 240 cosine Open Parenthesis 4000 t plus 53.13 degrees Closed Parenthesis Volt;&#10;">
            <a:extLst>
              <a:ext uri="{FF2B5EF4-FFF2-40B4-BE49-F238E27FC236}">
                <a16:creationId xmlns:a16="http://schemas.microsoft.com/office/drawing/2014/main" id="{3B3DE2C7-4CBB-82D5-D460-1B18D2018B24}"/>
              </a:ext>
            </a:extLst>
          </p:cNvPr>
          <p:cNvGraphicFramePr>
            <a:graphicFrameLocks noChangeAspect="1"/>
          </p:cNvGraphicFramePr>
          <p:nvPr>
            <p:extLst>
              <p:ext uri="{D42A27DB-BD31-4B8C-83A1-F6EECF244321}">
                <p14:modId xmlns:p14="http://schemas.microsoft.com/office/powerpoint/2010/main" val="3738636720"/>
              </p:ext>
            </p:extLst>
          </p:nvPr>
        </p:nvGraphicFramePr>
        <p:xfrm>
          <a:off x="436198" y="1943998"/>
          <a:ext cx="3703637" cy="371476"/>
        </p:xfrm>
        <a:graphic>
          <a:graphicData uri="http://schemas.openxmlformats.org/presentationml/2006/ole">
            <mc:AlternateContent xmlns:mc="http://schemas.openxmlformats.org/markup-compatibility/2006">
              <mc:Choice xmlns:v="urn:schemas-microsoft-com:vml" Requires="v">
                <p:oleObj spid="_x0000_s13319" name="Equation" r:id="rId3" imgW="2286000" imgH="228600" progId="Equation.DSMT4">
                  <p:embed/>
                </p:oleObj>
              </mc:Choice>
              <mc:Fallback>
                <p:oleObj name="Equation" r:id="rId3" imgW="2286000" imgH="228600" progId="Equation.DSMT4">
                  <p:embed/>
                  <p:pic>
                    <p:nvPicPr>
                      <p:cNvPr id="2" name="Object 1">
                        <a:extLst>
                          <a:ext uri="{FF2B5EF4-FFF2-40B4-BE49-F238E27FC236}">
                            <a16:creationId xmlns:a16="http://schemas.microsoft.com/office/drawing/2014/main" id="{3B3DE2C7-4CBB-82D5-D460-1B18D2018B24}"/>
                          </a:ext>
                        </a:extLst>
                      </p:cNvPr>
                      <p:cNvPicPr>
                        <a:picLocks noChangeAspect="1" noChangeArrowheads="1"/>
                      </p:cNvPicPr>
                      <p:nvPr/>
                    </p:nvPicPr>
                    <p:blipFill>
                      <a:blip r:embed="rId4"/>
                      <a:srcRect/>
                      <a:stretch>
                        <a:fillRect/>
                      </a:stretch>
                    </p:blipFill>
                    <p:spPr bwMode="auto">
                      <a:xfrm>
                        <a:off x="436198" y="1943998"/>
                        <a:ext cx="3703637" cy="371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descr="v subscript 2 baseline (t) equals 96 sine 4000 t Volt.&#10;">
            <a:extLst>
              <a:ext uri="{FF2B5EF4-FFF2-40B4-BE49-F238E27FC236}">
                <a16:creationId xmlns:a16="http://schemas.microsoft.com/office/drawing/2014/main" id="{D54ECDA4-8F35-6340-83D7-E41A5E49D0A1}"/>
              </a:ext>
            </a:extLst>
          </p:cNvPr>
          <p:cNvGraphicFramePr>
            <a:graphicFrameLocks noChangeAspect="1"/>
          </p:cNvGraphicFramePr>
          <p:nvPr>
            <p:extLst>
              <p:ext uri="{D42A27DB-BD31-4B8C-83A1-F6EECF244321}">
                <p14:modId xmlns:p14="http://schemas.microsoft.com/office/powerpoint/2010/main" val="3765248627"/>
              </p:ext>
            </p:extLst>
          </p:nvPr>
        </p:nvGraphicFramePr>
        <p:xfrm>
          <a:off x="4232911" y="1940481"/>
          <a:ext cx="2675255" cy="371951"/>
        </p:xfrm>
        <a:graphic>
          <a:graphicData uri="http://schemas.openxmlformats.org/presentationml/2006/ole">
            <mc:AlternateContent xmlns:mc="http://schemas.openxmlformats.org/markup-compatibility/2006">
              <mc:Choice xmlns:v="urn:schemas-microsoft-com:vml" Requires="v">
                <p:oleObj spid="_x0000_s13320" name="Equation" r:id="rId5" imgW="1650960" imgH="228600" progId="Equation.DSMT4">
                  <p:embed/>
                </p:oleObj>
              </mc:Choice>
              <mc:Fallback>
                <p:oleObj name="Equation" r:id="rId5" imgW="1650960" imgH="228600" progId="Equation.DSMT4">
                  <p:embed/>
                  <p:pic>
                    <p:nvPicPr>
                      <p:cNvPr id="3" name="Object 2">
                        <a:extLst>
                          <a:ext uri="{FF2B5EF4-FFF2-40B4-BE49-F238E27FC236}">
                            <a16:creationId xmlns:a16="http://schemas.microsoft.com/office/drawing/2014/main" id="{D54ECDA4-8F35-6340-83D7-E41A5E49D0A1}"/>
                          </a:ext>
                        </a:extLst>
                      </p:cNvPr>
                      <p:cNvPicPr>
                        <a:picLocks noChangeAspect="1" noChangeArrowheads="1"/>
                      </p:cNvPicPr>
                      <p:nvPr/>
                    </p:nvPicPr>
                    <p:blipFill>
                      <a:blip r:embed="rId6"/>
                      <a:srcRect/>
                      <a:stretch>
                        <a:fillRect/>
                      </a:stretch>
                    </p:blipFill>
                    <p:spPr bwMode="auto">
                      <a:xfrm>
                        <a:off x="4232911" y="1940481"/>
                        <a:ext cx="2675255" cy="371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7034133" y="1877168"/>
            <a:ext cx="562514" cy="374906"/>
          </a:xfrm>
        </p:spPr>
        <p:txBody>
          <a:bodyPr wrap="square" lIns="0" tIns="18000" rIns="0" bIns="18000" anchor="ctr">
            <a:spAutoFit/>
          </a:bodyPr>
          <a:lstStyle/>
          <a:p>
            <a:pPr marL="0" indent="0">
              <a:spcBef>
                <a:spcPts val="600"/>
              </a:spcBef>
              <a:buNone/>
            </a:pPr>
            <a:r>
              <a:rPr lang="en-US" altLang="en-US" sz="2200" noProof="0" dirty="0"/>
              <a:t>Find</a:t>
            </a:r>
            <a:endParaRPr lang="en-US" sz="2200" noProof="0" dirty="0"/>
          </a:p>
        </p:txBody>
      </p:sp>
      <p:graphicFrame>
        <p:nvGraphicFramePr>
          <p:cNvPr id="4" name="Object 3" descr="v subscript o baseline (t).&#10;">
            <a:extLst>
              <a:ext uri="{FF2B5EF4-FFF2-40B4-BE49-F238E27FC236}">
                <a16:creationId xmlns:a16="http://schemas.microsoft.com/office/drawing/2014/main" id="{8839E95D-80E1-53FA-68C2-685A1C3239A4}"/>
              </a:ext>
            </a:extLst>
          </p:cNvPr>
          <p:cNvGraphicFramePr>
            <a:graphicFrameLocks noChangeAspect="1"/>
          </p:cNvGraphicFramePr>
          <p:nvPr>
            <p:extLst>
              <p:ext uri="{D42A27DB-BD31-4B8C-83A1-F6EECF244321}">
                <p14:modId xmlns:p14="http://schemas.microsoft.com/office/powerpoint/2010/main" val="16448024"/>
              </p:ext>
            </p:extLst>
          </p:nvPr>
        </p:nvGraphicFramePr>
        <p:xfrm>
          <a:off x="7676363" y="1893482"/>
          <a:ext cx="588487" cy="408623"/>
        </p:xfrm>
        <a:graphic>
          <a:graphicData uri="http://schemas.openxmlformats.org/presentationml/2006/ole">
            <mc:AlternateContent xmlns:mc="http://schemas.openxmlformats.org/markup-compatibility/2006">
              <mc:Choice xmlns:v="urn:schemas-microsoft-com:vml" Requires="v">
                <p:oleObj spid="_x0000_s13321" name="Equation" r:id="rId7" imgW="330120" imgH="228600" progId="Equation.DSMT4">
                  <p:embed/>
                </p:oleObj>
              </mc:Choice>
              <mc:Fallback>
                <p:oleObj name="Equation" r:id="rId7" imgW="330120" imgH="228600" progId="Equation.DSMT4">
                  <p:embed/>
                  <p:pic>
                    <p:nvPicPr>
                      <p:cNvPr id="4" name="Object 3">
                        <a:extLst>
                          <a:ext uri="{FF2B5EF4-FFF2-40B4-BE49-F238E27FC236}">
                            <a16:creationId xmlns:a16="http://schemas.microsoft.com/office/drawing/2014/main" id="{8839E95D-80E1-53FA-68C2-685A1C3239A4}"/>
                          </a:ext>
                        </a:extLst>
                      </p:cNvPr>
                      <p:cNvPicPr>
                        <a:picLocks noChangeAspect="1" noChangeArrowheads="1"/>
                      </p:cNvPicPr>
                      <p:nvPr/>
                    </p:nvPicPr>
                    <p:blipFill>
                      <a:blip r:embed="rId8"/>
                      <a:srcRect/>
                      <a:stretch>
                        <a:fillRect/>
                      </a:stretch>
                    </p:blipFill>
                    <p:spPr bwMode="auto">
                      <a:xfrm>
                        <a:off x="7676363" y="1893482"/>
                        <a:ext cx="588487" cy="408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2364884"/>
            <a:ext cx="7558537" cy="374906"/>
          </a:xfrm>
        </p:spPr>
        <p:txBody>
          <a:bodyPr wrap="square" lIns="0" tIns="18000" rIns="0" bIns="18000" anchor="ctr">
            <a:spAutoFit/>
          </a:bodyPr>
          <a:lstStyle/>
          <a:p>
            <a:pPr marL="0" indent="0">
              <a:spcBef>
                <a:spcPts val="600"/>
              </a:spcBef>
              <a:buNone/>
            </a:pPr>
            <a:r>
              <a:rPr lang="en-US" altLang="en-US" sz="2200" noProof="0" dirty="0"/>
              <a:t>in the steady-state, using a series of source transformations.</a:t>
            </a:r>
            <a:endParaRPr lang="en-US" sz="2200" noProof="0" dirty="0"/>
          </a:p>
        </p:txBody>
      </p:sp>
      <p:pic>
        <p:nvPicPr>
          <p:cNvPr id="5" name="Picture 4" descr="A circuit diagram shows the positive terminal of a voltage source v sub 1 connected to an inductance coil of 15 milli hertz. The other end of the inductance coil is connected to a resistor of 20 ohms in series, through terminals 1 and 2. This resistor is connected to the negative terminal of another voltage source v sub 2. The positive terminal of v sub 2 is connected to the negative terminal of v sub 1 through terminals 3 and 4. A resistor of 30 ohms is connected between terminals 1 and 4, and a capacitor of 25 divided by 6 micro farads is connected between terminals 2 and 3. There is a positive sign of v sub 0 BaseLine (t) at the top and a negative sign of v sub 0 BaseLine (t) at the bottom in the circuit enclosed between the terminals 1, 2, 3, and 4.">
            <a:extLst>
              <a:ext uri="{FF2B5EF4-FFF2-40B4-BE49-F238E27FC236}">
                <a16:creationId xmlns:a16="http://schemas.microsoft.com/office/drawing/2014/main" id="{EDADB3B1-9DB8-DD7D-0D75-8D721E016751}"/>
              </a:ext>
            </a:extLst>
          </p:cNvPr>
          <p:cNvPicPr>
            <a:picLocks noChangeAspect="1" noChangeArrowheads="1"/>
          </p:cNvPicPr>
          <p:nvPr/>
        </p:nvPicPr>
        <p:blipFill>
          <a:blip r:embed="rId9"/>
          <a:stretch>
            <a:fillRect/>
          </a:stretch>
        </p:blipFill>
        <p:spPr bwMode="auto">
          <a:xfrm>
            <a:off x="2780670" y="2984574"/>
            <a:ext cx="3590835" cy="1246100"/>
          </a:xfrm>
          <a:prstGeom prst="rect">
            <a:avLst/>
          </a:prstGeom>
          <a:noFill/>
          <a:ln w="19050">
            <a:solidFill>
              <a:srgbClr val="007FA3"/>
            </a:solidFill>
            <a:miter lim="800000"/>
            <a:headEnd/>
            <a:tailEnd/>
          </a:ln>
          <a:extLst>
            <a:ext uri="{909E8E84-426E-40DD-AFC4-6F175D3DCCD1}">
              <a14:hiddenFill xmlns:a14="http://schemas.microsoft.com/office/drawing/2010/main">
                <a:solidFill>
                  <a:schemeClr val="accent1"/>
                </a:solidFill>
              </a14:hiddenFill>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523" y="4415874"/>
            <a:ext cx="8110628" cy="713460"/>
          </a:xfrm>
        </p:spPr>
        <p:txBody>
          <a:bodyPr wrap="square" lIns="0" tIns="18000" rIns="0" bIns="18000" anchor="ctr">
            <a:spAutoFit/>
          </a:bodyPr>
          <a:lstStyle/>
          <a:p>
            <a:pPr marL="457200" indent="-457200">
              <a:spcBef>
                <a:spcPct val="20000"/>
              </a:spcBef>
              <a:buFont typeface="+mj-lt"/>
              <a:buAutoNum type="arabicPeriod" startAt="6"/>
              <a:defRPr/>
            </a:pPr>
            <a:r>
              <a:rPr lang="en-US" sz="2200" kern="0" noProof="0" dirty="0"/>
              <a:t>Inverse phasor-transform the result to get back to the time </a:t>
            </a:r>
            <a:r>
              <a:rPr lang="en-US" sz="2200" i="1" kern="0" noProof="0" dirty="0"/>
              <a:t>domain</a:t>
            </a:r>
            <a:r>
              <a:rPr lang="en-US" sz="2200" kern="0" noProof="0" dirty="0"/>
              <a:t>.</a:t>
            </a:r>
          </a:p>
        </p:txBody>
      </p:sp>
      <p:graphicFrame>
        <p:nvGraphicFramePr>
          <p:cNvPr id="15" name="Object 2" descr="V subscript o baseline equals 38.4 plus j 28.8 equals 48 angle 36.87 degrees Volt.&#10;">
            <a:extLst>
              <a:ext uri="{FF2B5EF4-FFF2-40B4-BE49-F238E27FC236}">
                <a16:creationId xmlns:a16="http://schemas.microsoft.com/office/drawing/2014/main" id="{3711C632-3BF4-5731-FF2E-13A70B8ED7DF}"/>
              </a:ext>
            </a:extLst>
          </p:cNvPr>
          <p:cNvGraphicFramePr>
            <a:graphicFrameLocks noChangeAspect="1"/>
          </p:cNvGraphicFramePr>
          <p:nvPr>
            <p:extLst>
              <p:ext uri="{D42A27DB-BD31-4B8C-83A1-F6EECF244321}">
                <p14:modId xmlns:p14="http://schemas.microsoft.com/office/powerpoint/2010/main" val="3334261612"/>
              </p:ext>
            </p:extLst>
          </p:nvPr>
        </p:nvGraphicFramePr>
        <p:xfrm>
          <a:off x="2865438" y="5330825"/>
          <a:ext cx="3717925" cy="377825"/>
        </p:xfrm>
        <a:graphic>
          <a:graphicData uri="http://schemas.openxmlformats.org/presentationml/2006/ole">
            <mc:AlternateContent xmlns:mc="http://schemas.openxmlformats.org/markup-compatibility/2006">
              <mc:Choice xmlns:v="urn:schemas-microsoft-com:vml" Requires="v">
                <p:oleObj spid="_x0000_s13322" name="Equation" r:id="rId10" imgW="2247840" imgH="228600" progId="Equation.DSMT4">
                  <p:embed/>
                </p:oleObj>
              </mc:Choice>
              <mc:Fallback>
                <p:oleObj name="Equation" r:id="rId10" imgW="2247840" imgH="228600" progId="Equation.DSMT4">
                  <p:embed/>
                  <p:pic>
                    <p:nvPicPr>
                      <p:cNvPr id="9" name="Object 2"/>
                      <p:cNvPicPr>
                        <a:picLocks noChangeAspect="1" noChangeArrowheads="1"/>
                      </p:cNvPicPr>
                      <p:nvPr/>
                    </p:nvPicPr>
                    <p:blipFill>
                      <a:blip r:embed="rId11"/>
                      <a:srcRect/>
                      <a:stretch>
                        <a:fillRect/>
                      </a:stretch>
                    </p:blipFill>
                    <p:spPr bwMode="auto">
                      <a:xfrm>
                        <a:off x="2865438" y="5330825"/>
                        <a:ext cx="3717925"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2" descr="v subscript o baseline (t) equals Phasor inverse open curly bracket V subscript o closed curly bracket baseline equals 48 cosine Open Parenthesis 4000 t plus 36.87 degrees Closed Parenthesis Volt.&#10;">
            <a:extLst>
              <a:ext uri="{FF2B5EF4-FFF2-40B4-BE49-F238E27FC236}">
                <a16:creationId xmlns:a16="http://schemas.microsoft.com/office/drawing/2014/main" id="{3C3FBF9A-A1C4-A2D6-D985-C134AEC8B70D}"/>
              </a:ext>
            </a:extLst>
          </p:cNvPr>
          <p:cNvGraphicFramePr>
            <a:graphicFrameLocks noChangeAspect="1"/>
          </p:cNvGraphicFramePr>
          <p:nvPr>
            <p:extLst>
              <p:ext uri="{D42A27DB-BD31-4B8C-83A1-F6EECF244321}">
                <p14:modId xmlns:p14="http://schemas.microsoft.com/office/powerpoint/2010/main" val="3861781390"/>
              </p:ext>
            </p:extLst>
          </p:nvPr>
        </p:nvGraphicFramePr>
        <p:xfrm>
          <a:off x="2635250" y="5819775"/>
          <a:ext cx="4787900" cy="420688"/>
        </p:xfrm>
        <a:graphic>
          <a:graphicData uri="http://schemas.openxmlformats.org/presentationml/2006/ole">
            <mc:AlternateContent xmlns:mc="http://schemas.openxmlformats.org/markup-compatibility/2006">
              <mc:Choice xmlns:v="urn:schemas-microsoft-com:vml" Requires="v">
                <p:oleObj spid="_x0000_s13323" name="Equation" r:id="rId12" imgW="2895480" imgH="253800" progId="Equation.DSMT4">
                  <p:embed/>
                </p:oleObj>
              </mc:Choice>
              <mc:Fallback>
                <p:oleObj name="Equation" r:id="rId12" imgW="2895480" imgH="253800" progId="Equation.DSMT4">
                  <p:embed/>
                  <p:pic>
                    <p:nvPicPr>
                      <p:cNvPr id="15" name="Object 2">
                        <a:extLst>
                          <a:ext uri="{FF2B5EF4-FFF2-40B4-BE49-F238E27FC236}">
                            <a16:creationId xmlns:a16="http://schemas.microsoft.com/office/drawing/2014/main" id="{3711C632-3BF4-5731-FF2E-13A70B8ED7DF}"/>
                          </a:ext>
                        </a:extLst>
                      </p:cNvPr>
                      <p:cNvPicPr>
                        <a:picLocks noChangeAspect="1" noChangeArrowheads="1"/>
                      </p:cNvPicPr>
                      <p:nvPr/>
                    </p:nvPicPr>
                    <p:blipFill>
                      <a:blip r:embed="rId13"/>
                      <a:srcRect/>
                      <a:stretch>
                        <a:fillRect/>
                      </a:stretch>
                    </p:blipFill>
                    <p:spPr bwMode="auto">
                      <a:xfrm>
                        <a:off x="2635250" y="5819775"/>
                        <a:ext cx="4787900"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5204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(22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86894"/>
            <a:ext cx="3141812" cy="405683"/>
          </a:xfrm>
        </p:spPr>
        <p:txBody>
          <a:bodyPr wrap="square" lIns="0" tIns="18000" rIns="0" bIns="18000" anchor="ctr">
            <a:spAutoFit/>
          </a:bodyPr>
          <a:lstStyle/>
          <a:p>
            <a:pPr marL="0" indent="0">
              <a:spcBef>
                <a:spcPts val="600"/>
              </a:spcBef>
              <a:buNone/>
            </a:pPr>
            <a:r>
              <a:rPr lang="en-US" altLang="en-US" sz="2400" noProof="0" dirty="0"/>
              <a:t>Find the expression for</a:t>
            </a:r>
            <a:endParaRPr lang="en-US" sz="2400" noProof="0" dirty="0"/>
          </a:p>
        </p:txBody>
      </p:sp>
      <p:graphicFrame>
        <p:nvGraphicFramePr>
          <p:cNvPr id="11" name="Object 10" descr="v subscript o baseline (t).&#10;">
            <a:extLst>
              <a:ext uri="{FF2B5EF4-FFF2-40B4-BE49-F238E27FC236}">
                <a16:creationId xmlns:a16="http://schemas.microsoft.com/office/drawing/2014/main" id="{19F511EA-8FC4-A3F2-ECA1-60A929D3E30C}"/>
              </a:ext>
            </a:extLst>
          </p:cNvPr>
          <p:cNvGraphicFramePr>
            <a:graphicFrameLocks noChangeAspect="1"/>
          </p:cNvGraphicFramePr>
          <p:nvPr>
            <p:extLst>
              <p:ext uri="{D42A27DB-BD31-4B8C-83A1-F6EECF244321}">
                <p14:modId xmlns:p14="http://schemas.microsoft.com/office/powerpoint/2010/main" val="1776209318"/>
              </p:ext>
            </p:extLst>
          </p:nvPr>
        </p:nvGraphicFramePr>
        <p:xfrm>
          <a:off x="3653554" y="1506298"/>
          <a:ext cx="637247" cy="442479"/>
        </p:xfrm>
        <a:graphic>
          <a:graphicData uri="http://schemas.openxmlformats.org/presentationml/2006/ole">
            <mc:AlternateContent xmlns:mc="http://schemas.openxmlformats.org/markup-compatibility/2006">
              <mc:Choice xmlns:v="urn:schemas-microsoft-com:vml" Requires="v">
                <p:oleObj spid="_x0000_s14341" name="Equation" r:id="rId3" imgW="330120" imgH="228600" progId="Equation.DSMT4">
                  <p:embed/>
                </p:oleObj>
              </mc:Choice>
              <mc:Fallback>
                <p:oleObj name="Equation" r:id="rId3" imgW="330120" imgH="228600" progId="Equation.DSMT4">
                  <p:embed/>
                  <p:pic>
                    <p:nvPicPr>
                      <p:cNvPr id="2" name="Object 1">
                        <a:extLst>
                          <a:ext uri="{FF2B5EF4-FFF2-40B4-BE49-F238E27FC236}">
                            <a16:creationId xmlns:a16="http://schemas.microsoft.com/office/drawing/2014/main" id="{CDEF19B3-730E-C7A6-E5AE-F8D469D4ED77}"/>
                          </a:ext>
                        </a:extLst>
                      </p:cNvPr>
                      <p:cNvPicPr>
                        <a:picLocks noChangeAspect="1" noChangeArrowheads="1"/>
                      </p:cNvPicPr>
                      <p:nvPr/>
                    </p:nvPicPr>
                    <p:blipFill>
                      <a:blip r:embed="rId4"/>
                      <a:srcRect/>
                      <a:stretch>
                        <a:fillRect/>
                      </a:stretch>
                    </p:blipFill>
                    <p:spPr bwMode="auto">
                      <a:xfrm>
                        <a:off x="3653554" y="1506298"/>
                        <a:ext cx="637247" cy="442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90846" y="1482222"/>
            <a:ext cx="3683481" cy="405683"/>
          </a:xfrm>
        </p:spPr>
        <p:txBody>
          <a:bodyPr wrap="square" lIns="0" tIns="18000" rIns="0" bIns="18000" anchor="ctr">
            <a:spAutoFit/>
          </a:bodyPr>
          <a:lstStyle/>
          <a:p>
            <a:pPr marL="0" indent="0">
              <a:spcBef>
                <a:spcPts val="600"/>
              </a:spcBef>
              <a:buNone/>
            </a:pPr>
            <a:r>
              <a:rPr lang="en-US" altLang="en-US" sz="2400" noProof="0" dirty="0"/>
              <a:t>in the circuit below, given</a:t>
            </a:r>
            <a:endParaRPr lang="en-US" sz="2400" noProof="0" dirty="0"/>
          </a:p>
        </p:txBody>
      </p:sp>
      <p:graphicFrame>
        <p:nvGraphicFramePr>
          <p:cNvPr id="12" name="Object 11" descr="v subscript 1 baseline (t) equals 5 cosine 80,000 t Volt,&#10;">
            <a:extLst>
              <a:ext uri="{FF2B5EF4-FFF2-40B4-BE49-F238E27FC236}">
                <a16:creationId xmlns:a16="http://schemas.microsoft.com/office/drawing/2014/main" id="{DF26A6C4-A300-C20F-65B8-DDA059B8E3CE}"/>
              </a:ext>
            </a:extLst>
          </p:cNvPr>
          <p:cNvGraphicFramePr>
            <a:graphicFrameLocks noChangeAspect="1"/>
          </p:cNvGraphicFramePr>
          <p:nvPr>
            <p:extLst>
              <p:ext uri="{D42A27DB-BD31-4B8C-83A1-F6EECF244321}">
                <p14:modId xmlns:p14="http://schemas.microsoft.com/office/powerpoint/2010/main" val="3530632682"/>
              </p:ext>
            </p:extLst>
          </p:nvPr>
        </p:nvGraphicFramePr>
        <p:xfrm>
          <a:off x="3108325" y="2178050"/>
          <a:ext cx="2589213" cy="377825"/>
        </p:xfrm>
        <a:graphic>
          <a:graphicData uri="http://schemas.openxmlformats.org/presentationml/2006/ole">
            <mc:AlternateContent xmlns:mc="http://schemas.openxmlformats.org/markup-compatibility/2006">
              <mc:Choice xmlns:v="urn:schemas-microsoft-com:vml" Requires="v">
                <p:oleObj spid="_x0000_s14342" name="Equation" r:id="rId5" imgW="1574640" imgH="228600" progId="Equation.DSMT4">
                  <p:embed/>
                </p:oleObj>
              </mc:Choice>
              <mc:Fallback>
                <p:oleObj name="Equation" r:id="rId5" imgW="1574640" imgH="228600" progId="Equation.DSMT4">
                  <p:embed/>
                  <p:pic>
                    <p:nvPicPr>
                      <p:cNvPr id="3" name="Object 2">
                        <a:extLst>
                          <a:ext uri="{FF2B5EF4-FFF2-40B4-BE49-F238E27FC236}">
                            <a16:creationId xmlns:a16="http://schemas.microsoft.com/office/drawing/2014/main" id="{7012FA15-AFF8-5C7D-8B76-B47A759EDFC8}"/>
                          </a:ext>
                        </a:extLst>
                      </p:cNvPr>
                      <p:cNvPicPr>
                        <a:picLocks noChangeAspect="1" noChangeArrowheads="1"/>
                      </p:cNvPicPr>
                      <p:nvPr/>
                    </p:nvPicPr>
                    <p:blipFill>
                      <a:blip r:embed="rId6"/>
                      <a:srcRect/>
                      <a:stretch>
                        <a:fillRect/>
                      </a:stretch>
                    </p:blipFill>
                    <p:spPr bwMode="auto">
                      <a:xfrm>
                        <a:off x="3108325" y="2178050"/>
                        <a:ext cx="25892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5864157" y="2120136"/>
            <a:ext cx="581467" cy="405683"/>
          </a:xfrm>
        </p:spPr>
        <p:txBody>
          <a:bodyPr wrap="square" lIns="0" tIns="18000" rIns="0" bIns="18000" anchor="ctr">
            <a:spAutoFit/>
          </a:bodyPr>
          <a:lstStyle/>
          <a:p>
            <a:pPr marL="0" indent="0">
              <a:spcBef>
                <a:spcPts val="600"/>
              </a:spcBef>
              <a:buNone/>
            </a:pPr>
            <a:r>
              <a:rPr lang="en-US" altLang="en-US" sz="2400" noProof="0" dirty="0"/>
              <a:t>and</a:t>
            </a:r>
          </a:p>
        </p:txBody>
      </p:sp>
      <p:graphicFrame>
        <p:nvGraphicFramePr>
          <p:cNvPr id="14" name="Object 13" descr="v subscript 2 baseline (t) equals negative 2.5 cosine 320,000 t Volt.&#10;">
            <a:extLst>
              <a:ext uri="{FF2B5EF4-FFF2-40B4-BE49-F238E27FC236}">
                <a16:creationId xmlns:a16="http://schemas.microsoft.com/office/drawing/2014/main" id="{2692410A-F1A4-C7A7-A108-F0D8CDF3A351}"/>
              </a:ext>
            </a:extLst>
          </p:cNvPr>
          <p:cNvGraphicFramePr>
            <a:graphicFrameLocks noChangeAspect="1"/>
          </p:cNvGraphicFramePr>
          <p:nvPr>
            <p:extLst>
              <p:ext uri="{D42A27DB-BD31-4B8C-83A1-F6EECF244321}">
                <p14:modId xmlns:p14="http://schemas.microsoft.com/office/powerpoint/2010/main" val="3552019734"/>
              </p:ext>
            </p:extLst>
          </p:nvPr>
        </p:nvGraphicFramePr>
        <p:xfrm>
          <a:off x="3082060" y="2684463"/>
          <a:ext cx="3192463" cy="376237"/>
        </p:xfrm>
        <a:graphic>
          <a:graphicData uri="http://schemas.openxmlformats.org/presentationml/2006/ole">
            <mc:AlternateContent xmlns:mc="http://schemas.openxmlformats.org/markup-compatibility/2006">
              <mc:Choice xmlns:v="urn:schemas-microsoft-com:vml" Requires="v">
                <p:oleObj spid="_x0000_s14343" name="Equation" r:id="rId7" imgW="1942920" imgH="228600" progId="Equation.DSMT4">
                  <p:embed/>
                </p:oleObj>
              </mc:Choice>
              <mc:Fallback>
                <p:oleObj name="Equation" r:id="rId7" imgW="1942920" imgH="228600" progId="Equation.DSMT4">
                  <p:embed/>
                  <p:pic>
                    <p:nvPicPr>
                      <p:cNvPr id="4" name="Object 3">
                        <a:extLst>
                          <a:ext uri="{FF2B5EF4-FFF2-40B4-BE49-F238E27FC236}">
                            <a16:creationId xmlns:a16="http://schemas.microsoft.com/office/drawing/2014/main" id="{22EAB697-1A23-4897-5ED8-5D32885D8B41}"/>
                          </a:ext>
                        </a:extLst>
                      </p:cNvPr>
                      <p:cNvPicPr>
                        <a:picLocks noChangeAspect="1" noChangeArrowheads="1"/>
                      </p:cNvPicPr>
                      <p:nvPr/>
                    </p:nvPicPr>
                    <p:blipFill>
                      <a:blip r:embed="rId8"/>
                      <a:srcRect/>
                      <a:stretch>
                        <a:fillRect/>
                      </a:stretch>
                    </p:blipFill>
                    <p:spPr bwMode="auto">
                      <a:xfrm>
                        <a:off x="3082060" y="2684463"/>
                        <a:ext cx="3192463"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 name="Picture 2" descr="A circuit diagram shows the positive terminal of a voltage source v sub 1 connected to a resistor of 20 ohms. This resistor is connected in series to a capacitor of 1.25 micro farads through a terminal 1. This capacitor on the other end is connected to the negative terminal of another voltage source v sub 2. The positive terminal of v sub 2 is connected to the negative terminal of v sub 1 through a terminal 2. An inductance coil of 125 micro hertz is connected in series to the 20-ohms resistor and between the terminals 1 and 2. A current of i sub o flows down through the inductor.">
            <a:extLst>
              <a:ext uri="{FF2B5EF4-FFF2-40B4-BE49-F238E27FC236}">
                <a16:creationId xmlns:a16="http://schemas.microsoft.com/office/drawing/2014/main" id="{C9D93B1D-30E6-138A-984B-03383CD81B3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10564" y="3359478"/>
            <a:ext cx="3990975" cy="1725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8527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(23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49" y="1534926"/>
            <a:ext cx="6851172" cy="344128"/>
          </a:xfrm>
        </p:spPr>
        <p:txBody>
          <a:bodyPr wrap="square" lIns="0" tIns="18000" rIns="0" bIns="18000" anchor="ctr">
            <a:spAutoFit/>
          </a:bodyPr>
          <a:lstStyle/>
          <a:p>
            <a:pPr marL="0" indent="0">
              <a:spcBef>
                <a:spcPts val="600"/>
              </a:spcBef>
              <a:buNone/>
            </a:pPr>
            <a:r>
              <a:rPr lang="en-US" altLang="en-US" sz="2000" noProof="0" dirty="0"/>
              <a:t>Which formula should we use to calculate the impedance of</a:t>
            </a:r>
            <a:endParaRPr lang="en-US" sz="2000" noProof="0" dirty="0"/>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961576"/>
            <a:ext cx="3374725" cy="344128"/>
          </a:xfrm>
        </p:spPr>
        <p:txBody>
          <a:bodyPr wrap="square" lIns="0" tIns="18000" rIns="0" bIns="18000" anchor="ctr">
            <a:spAutoFit/>
          </a:bodyPr>
          <a:lstStyle/>
          <a:p>
            <a:pPr marL="0" indent="0">
              <a:spcBef>
                <a:spcPts val="600"/>
              </a:spcBef>
              <a:buNone/>
            </a:pPr>
            <a:r>
              <a:rPr lang="en-US" altLang="en-US" sz="2000" noProof="0" dirty="0"/>
              <a:t>the inductor? Remember that</a:t>
            </a:r>
            <a:endParaRPr lang="en-US" sz="2000" noProof="0" dirty="0"/>
          </a:p>
        </p:txBody>
      </p:sp>
      <p:graphicFrame>
        <p:nvGraphicFramePr>
          <p:cNvPr id="2" name="Object 1" descr="v subscript 1 baseline (t) equals 5 cosine 80,000 t Volt,&#10;">
            <a:extLst>
              <a:ext uri="{FF2B5EF4-FFF2-40B4-BE49-F238E27FC236}">
                <a16:creationId xmlns:a16="http://schemas.microsoft.com/office/drawing/2014/main" id="{A42E5E9B-DB9B-7731-179C-A955E5CEB8B9}"/>
              </a:ext>
            </a:extLst>
          </p:cNvPr>
          <p:cNvGraphicFramePr>
            <a:graphicFrameLocks noChangeAspect="1"/>
          </p:cNvGraphicFramePr>
          <p:nvPr>
            <p:extLst>
              <p:ext uri="{D42A27DB-BD31-4B8C-83A1-F6EECF244321}">
                <p14:modId xmlns:p14="http://schemas.microsoft.com/office/powerpoint/2010/main" val="3611777895"/>
              </p:ext>
            </p:extLst>
          </p:nvPr>
        </p:nvGraphicFramePr>
        <p:xfrm>
          <a:off x="3876675" y="1976438"/>
          <a:ext cx="2587625" cy="376237"/>
        </p:xfrm>
        <a:graphic>
          <a:graphicData uri="http://schemas.openxmlformats.org/presentationml/2006/ole">
            <mc:AlternateContent xmlns:mc="http://schemas.openxmlformats.org/markup-compatibility/2006">
              <mc:Choice xmlns:v="urn:schemas-microsoft-com:vml" Requires="v">
                <p:oleObj spid="_x0000_s15366" name="Equation" r:id="rId3" imgW="1574640" imgH="228600" progId="Equation.DSMT4">
                  <p:embed/>
                </p:oleObj>
              </mc:Choice>
              <mc:Fallback>
                <p:oleObj name="Equation" r:id="rId3" imgW="1574640" imgH="228600" progId="Equation.DSMT4">
                  <p:embed/>
                  <p:pic>
                    <p:nvPicPr>
                      <p:cNvPr id="3" name="Object 2">
                        <a:extLst>
                          <a:ext uri="{FF2B5EF4-FFF2-40B4-BE49-F238E27FC236}">
                            <a16:creationId xmlns:a16="http://schemas.microsoft.com/office/drawing/2014/main" id="{7012FA15-AFF8-5C7D-8B76-B47A759EDFC8}"/>
                          </a:ext>
                        </a:extLst>
                      </p:cNvPr>
                      <p:cNvPicPr>
                        <a:picLocks noChangeAspect="1" noChangeArrowheads="1"/>
                      </p:cNvPicPr>
                      <p:nvPr/>
                    </p:nvPicPr>
                    <p:blipFill>
                      <a:blip r:embed="rId4"/>
                      <a:srcRect/>
                      <a:stretch>
                        <a:fillRect/>
                      </a:stretch>
                    </p:blipFill>
                    <p:spPr bwMode="auto">
                      <a:xfrm>
                        <a:off x="3876675" y="1976438"/>
                        <a:ext cx="258762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6502512" y="1965525"/>
            <a:ext cx="536635" cy="344128"/>
          </a:xfrm>
        </p:spPr>
        <p:txBody>
          <a:bodyPr wrap="square" lIns="0" tIns="18000" rIns="0" bIns="18000" anchor="ctr">
            <a:spAutoFit/>
          </a:bodyPr>
          <a:lstStyle/>
          <a:p>
            <a:pPr marL="0" indent="0">
              <a:spcBef>
                <a:spcPts val="600"/>
              </a:spcBef>
              <a:buNone/>
            </a:pPr>
            <a:r>
              <a:rPr lang="en-US" altLang="en-US" sz="2000" noProof="0" dirty="0"/>
              <a:t>and</a:t>
            </a:r>
            <a:endParaRPr lang="en-US" sz="2000" noProof="0" dirty="0"/>
          </a:p>
        </p:txBody>
      </p:sp>
      <p:graphicFrame>
        <p:nvGraphicFramePr>
          <p:cNvPr id="3" name="Object 2" descr="v subscript 2 baseline (t) equals negative 2.5 cosine 320,000 t Volt.&#10;">
            <a:extLst>
              <a:ext uri="{FF2B5EF4-FFF2-40B4-BE49-F238E27FC236}">
                <a16:creationId xmlns:a16="http://schemas.microsoft.com/office/drawing/2014/main" id="{818EA0C7-0A53-8A39-54B4-D935B5C0C6A8}"/>
              </a:ext>
            </a:extLst>
          </p:cNvPr>
          <p:cNvGraphicFramePr>
            <a:graphicFrameLocks noChangeAspect="1"/>
          </p:cNvGraphicFramePr>
          <p:nvPr>
            <p:extLst>
              <p:ext uri="{D42A27DB-BD31-4B8C-83A1-F6EECF244321}">
                <p14:modId xmlns:p14="http://schemas.microsoft.com/office/powerpoint/2010/main" val="1068868997"/>
              </p:ext>
            </p:extLst>
          </p:nvPr>
        </p:nvGraphicFramePr>
        <p:xfrm>
          <a:off x="388938" y="2401888"/>
          <a:ext cx="2895600" cy="363537"/>
        </p:xfrm>
        <a:graphic>
          <a:graphicData uri="http://schemas.openxmlformats.org/presentationml/2006/ole">
            <mc:AlternateContent xmlns:mc="http://schemas.openxmlformats.org/markup-compatibility/2006">
              <mc:Choice xmlns:v="urn:schemas-microsoft-com:vml" Requires="v">
                <p:oleObj spid="_x0000_s15367" name="Equation" r:id="rId5" imgW="1828800" imgH="228600" progId="Equation.DSMT4">
                  <p:embed/>
                </p:oleObj>
              </mc:Choice>
              <mc:Fallback>
                <p:oleObj name="Equation" r:id="rId5" imgW="1828800" imgH="228600" progId="Equation.DSMT4">
                  <p:embed/>
                  <p:pic>
                    <p:nvPicPr>
                      <p:cNvPr id="2" name="Object 1">
                        <a:extLst>
                          <a:ext uri="{FF2B5EF4-FFF2-40B4-BE49-F238E27FC236}">
                            <a16:creationId xmlns:a16="http://schemas.microsoft.com/office/drawing/2014/main" id="{A42E5E9B-DB9B-7731-179C-A955E5CEB8B9}"/>
                          </a:ext>
                        </a:extLst>
                      </p:cNvPr>
                      <p:cNvPicPr>
                        <a:picLocks noChangeAspect="1" noChangeArrowheads="1"/>
                      </p:cNvPicPr>
                      <p:nvPr/>
                    </p:nvPicPr>
                    <p:blipFill>
                      <a:blip r:embed="rId6"/>
                      <a:srcRect/>
                      <a:stretch>
                        <a:fillRect/>
                      </a:stretch>
                    </p:blipFill>
                    <p:spPr bwMode="auto">
                      <a:xfrm>
                        <a:off x="388938" y="2401888"/>
                        <a:ext cx="28956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Picture 3" descr="A circuit diagram shows the positive terminal of a voltage source v sub 1 connected to a resistor of 20 ohms. This resistor is connected in series to a capacitor of 1.25 micro farads through a terminal 1. This capacitor on the other end is connected to the negative terminal of another voltage source v sub 2. The positive terminal of v sub 2 is connected to the negative terminal of v sub 1 through a terminal 2. An inductance coil of 125 micro hertz is connected in series to the 20-ohms resistor and between the terminals 1 and 2. A current of i sub o flows down through the inductor.">
            <a:extLst>
              <a:ext uri="{FF2B5EF4-FFF2-40B4-BE49-F238E27FC236}">
                <a16:creationId xmlns:a16="http://schemas.microsoft.com/office/drawing/2014/main" id="{01FB3E4C-B4F9-83D0-EB80-8D8172D10F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0219" y="2896780"/>
            <a:ext cx="3443563" cy="1289648"/>
          </a:xfrm>
          <a:prstGeom prst="rect">
            <a:avLst/>
          </a:prstGeom>
          <a:noFill/>
          <a:ln w="19050">
            <a:solidFill>
              <a:srgbClr val="007FA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5" descr="Cross mark">
            <a:extLst>
              <a:ext uri="{FF2B5EF4-FFF2-40B4-BE49-F238E27FC236}">
                <a16:creationId xmlns:a16="http://schemas.microsoft.com/office/drawing/2014/main" id="{E4E25358-49B5-5DEB-22AF-573889C04A8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07353" y="4471798"/>
            <a:ext cx="256793" cy="235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128258" y="4410750"/>
            <a:ext cx="256793" cy="344128"/>
          </a:xfrm>
        </p:spPr>
        <p:txBody>
          <a:bodyPr wrap="square" lIns="0" tIns="18000" rIns="0" bIns="18000" anchor="ctr">
            <a:spAutoFit/>
          </a:bodyPr>
          <a:lstStyle/>
          <a:p>
            <a:pPr marL="0" indent="0">
              <a:spcBef>
                <a:spcPts val="600"/>
              </a:spcBef>
              <a:buNone/>
            </a:pPr>
            <a:r>
              <a:rPr lang="en-US" sz="2000" noProof="0" dirty="0">
                <a:solidFill>
                  <a:srgbClr val="007FA3"/>
                </a:solidFill>
              </a:rPr>
              <a:t>A.</a:t>
            </a:r>
          </a:p>
        </p:txBody>
      </p:sp>
      <p:graphicFrame>
        <p:nvGraphicFramePr>
          <p:cNvPr id="20" name="Object 19" descr="j (80,000) times (125 times 10 to the negative 6 power).&#10;">
            <a:extLst>
              <a:ext uri="{FF2B5EF4-FFF2-40B4-BE49-F238E27FC236}">
                <a16:creationId xmlns:a16="http://schemas.microsoft.com/office/drawing/2014/main" id="{598C5556-35E0-A8E0-1DFD-17FD5B008E4D}"/>
              </a:ext>
            </a:extLst>
          </p:cNvPr>
          <p:cNvGraphicFramePr>
            <a:graphicFrameLocks noChangeAspect="1"/>
          </p:cNvGraphicFramePr>
          <p:nvPr>
            <p:extLst>
              <p:ext uri="{D42A27DB-BD31-4B8C-83A1-F6EECF244321}">
                <p14:modId xmlns:p14="http://schemas.microsoft.com/office/powerpoint/2010/main" val="3457774154"/>
              </p:ext>
            </p:extLst>
          </p:nvPr>
        </p:nvGraphicFramePr>
        <p:xfrm>
          <a:off x="1474674" y="4406900"/>
          <a:ext cx="2233612" cy="403225"/>
        </p:xfrm>
        <a:graphic>
          <a:graphicData uri="http://schemas.openxmlformats.org/presentationml/2006/ole">
            <mc:AlternateContent xmlns:mc="http://schemas.openxmlformats.org/markup-compatibility/2006">
              <mc:Choice xmlns:v="urn:schemas-microsoft-com:vml" Requires="v">
                <p:oleObj spid="_x0000_s15368" name="Equation" r:id="rId9" imgW="1409400" imgH="253800" progId="Equation.DSMT4">
                  <p:embed/>
                </p:oleObj>
              </mc:Choice>
              <mc:Fallback>
                <p:oleObj name="Equation" r:id="rId9" imgW="1409400" imgH="253800" progId="Equation.DSMT4">
                  <p:embed/>
                  <p:pic>
                    <p:nvPicPr>
                      <p:cNvPr id="3" name="Object 2">
                        <a:extLst>
                          <a:ext uri="{FF2B5EF4-FFF2-40B4-BE49-F238E27FC236}">
                            <a16:creationId xmlns:a16="http://schemas.microsoft.com/office/drawing/2014/main" id="{818EA0C7-0A53-8A39-54B4-D935B5C0C6A8}"/>
                          </a:ext>
                        </a:extLst>
                      </p:cNvPr>
                      <p:cNvPicPr>
                        <a:picLocks noChangeAspect="1" noChangeArrowheads="1"/>
                      </p:cNvPicPr>
                      <p:nvPr/>
                    </p:nvPicPr>
                    <p:blipFill>
                      <a:blip r:embed="rId10"/>
                      <a:srcRect/>
                      <a:stretch>
                        <a:fillRect/>
                      </a:stretch>
                    </p:blipFill>
                    <p:spPr bwMode="auto">
                      <a:xfrm>
                        <a:off x="1474674" y="4406900"/>
                        <a:ext cx="2233612"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1" name="Picture 5" descr="Cross mark">
            <a:extLst>
              <a:ext uri="{FF2B5EF4-FFF2-40B4-BE49-F238E27FC236}">
                <a16:creationId xmlns:a16="http://schemas.microsoft.com/office/drawing/2014/main" id="{00ACFD75-679A-14D9-8A9D-46250A92D00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5854" y="4952002"/>
            <a:ext cx="256793" cy="235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119633" y="4906494"/>
            <a:ext cx="265418" cy="344128"/>
          </a:xfrm>
        </p:spPr>
        <p:txBody>
          <a:bodyPr wrap="square" lIns="0" tIns="18000" rIns="0" bIns="18000" anchor="ctr">
            <a:spAutoFit/>
          </a:bodyPr>
          <a:lstStyle/>
          <a:p>
            <a:pPr marL="0" indent="0">
              <a:spcBef>
                <a:spcPts val="600"/>
              </a:spcBef>
              <a:buNone/>
            </a:pPr>
            <a:r>
              <a:rPr lang="en-US" sz="2000" noProof="0" dirty="0">
                <a:solidFill>
                  <a:srgbClr val="007FA3"/>
                </a:solidFill>
              </a:rPr>
              <a:t>B.</a:t>
            </a:r>
          </a:p>
        </p:txBody>
      </p:sp>
      <p:graphicFrame>
        <p:nvGraphicFramePr>
          <p:cNvPr id="22" name="Object 21" descr="j (320,000) times (125 times 10 to the negative 6 power).&#10;">
            <a:extLst>
              <a:ext uri="{FF2B5EF4-FFF2-40B4-BE49-F238E27FC236}">
                <a16:creationId xmlns:a16="http://schemas.microsoft.com/office/drawing/2014/main" id="{5B127E2C-1402-FA5B-656D-30498F1B13E2}"/>
              </a:ext>
            </a:extLst>
          </p:cNvPr>
          <p:cNvGraphicFramePr>
            <a:graphicFrameLocks noChangeAspect="1"/>
          </p:cNvGraphicFramePr>
          <p:nvPr>
            <p:extLst>
              <p:ext uri="{D42A27DB-BD31-4B8C-83A1-F6EECF244321}">
                <p14:modId xmlns:p14="http://schemas.microsoft.com/office/powerpoint/2010/main" val="3568094754"/>
              </p:ext>
            </p:extLst>
          </p:nvPr>
        </p:nvGraphicFramePr>
        <p:xfrm>
          <a:off x="1477849" y="4894263"/>
          <a:ext cx="2373312" cy="403225"/>
        </p:xfrm>
        <a:graphic>
          <a:graphicData uri="http://schemas.openxmlformats.org/presentationml/2006/ole">
            <mc:AlternateContent xmlns:mc="http://schemas.openxmlformats.org/markup-compatibility/2006">
              <mc:Choice xmlns:v="urn:schemas-microsoft-com:vml" Requires="v">
                <p:oleObj spid="_x0000_s15369" name="Equation" r:id="rId11" imgW="1498320" imgH="253800" progId="Equation.DSMT4">
                  <p:embed/>
                </p:oleObj>
              </mc:Choice>
              <mc:Fallback>
                <p:oleObj name="Equation" r:id="rId11" imgW="1498320" imgH="253800" progId="Equation.DSMT4">
                  <p:embed/>
                  <p:pic>
                    <p:nvPicPr>
                      <p:cNvPr id="20" name="Object 19">
                        <a:extLst>
                          <a:ext uri="{FF2B5EF4-FFF2-40B4-BE49-F238E27FC236}">
                            <a16:creationId xmlns:a16="http://schemas.microsoft.com/office/drawing/2014/main" id="{598C5556-35E0-A8E0-1DFD-17FD5B008E4D}"/>
                          </a:ext>
                        </a:extLst>
                      </p:cNvPr>
                      <p:cNvPicPr>
                        <a:picLocks noChangeAspect="1" noChangeArrowheads="1"/>
                      </p:cNvPicPr>
                      <p:nvPr/>
                    </p:nvPicPr>
                    <p:blipFill>
                      <a:blip r:embed="rId12"/>
                      <a:srcRect/>
                      <a:stretch>
                        <a:fillRect/>
                      </a:stretch>
                    </p:blipFill>
                    <p:spPr bwMode="auto">
                      <a:xfrm>
                        <a:off x="1477849" y="4894263"/>
                        <a:ext cx="2373312"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 name="Picture 5" descr="Cross mark">
            <a:extLst>
              <a:ext uri="{FF2B5EF4-FFF2-40B4-BE49-F238E27FC236}">
                <a16:creationId xmlns:a16="http://schemas.microsoft.com/office/drawing/2014/main" id="{655CB48A-E81D-76A2-B303-58DFE20AB98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5854" y="5417828"/>
            <a:ext cx="256793" cy="235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102382" y="5367515"/>
            <a:ext cx="3141815" cy="344128"/>
          </a:xfrm>
        </p:spPr>
        <p:txBody>
          <a:bodyPr wrap="square" lIns="0" tIns="18000" rIns="0" bIns="18000" anchor="ctr">
            <a:spAutoFit/>
          </a:bodyPr>
          <a:lstStyle/>
          <a:p>
            <a:pPr marL="0" indent="0">
              <a:spcBef>
                <a:spcPts val="600"/>
              </a:spcBef>
              <a:buNone/>
            </a:pPr>
            <a:r>
              <a:rPr lang="en-US" sz="2000" noProof="0" dirty="0">
                <a:solidFill>
                  <a:srgbClr val="007FA3"/>
                </a:solidFill>
              </a:rPr>
              <a:t>C. </a:t>
            </a:r>
            <a:r>
              <a:rPr lang="en-US" sz="2000" noProof="0" dirty="0"/>
              <a:t>The average of A and B</a:t>
            </a:r>
          </a:p>
        </p:txBody>
      </p:sp>
      <p:pic>
        <p:nvPicPr>
          <p:cNvPr id="24" name="Picture 2" descr="Check mark">
            <a:extLst>
              <a:ext uri="{FF2B5EF4-FFF2-40B4-BE49-F238E27FC236}">
                <a16:creationId xmlns:a16="http://schemas.microsoft.com/office/drawing/2014/main" id="{3381D22C-8812-31DF-887A-BBFCBC07F8A8}"/>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55773" y="5856066"/>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111009" y="5837575"/>
            <a:ext cx="2011754" cy="344128"/>
          </a:xfrm>
        </p:spPr>
        <p:txBody>
          <a:bodyPr wrap="square" lIns="0" tIns="18000" rIns="0" bIns="18000" anchor="ctr">
            <a:spAutoFit/>
          </a:bodyPr>
          <a:lstStyle/>
          <a:p>
            <a:pPr marL="0" indent="0">
              <a:spcBef>
                <a:spcPts val="600"/>
              </a:spcBef>
              <a:buNone/>
            </a:pPr>
            <a:r>
              <a:rPr lang="en-US" sz="2000" noProof="0" dirty="0">
                <a:solidFill>
                  <a:srgbClr val="007FA3"/>
                </a:solidFill>
              </a:rPr>
              <a:t>D. </a:t>
            </a:r>
            <a:r>
              <a:rPr lang="en-US" sz="2000" noProof="0" dirty="0"/>
              <a:t>Both A and B</a:t>
            </a:r>
          </a:p>
        </p:txBody>
      </p:sp>
    </p:spTree>
    <p:extLst>
      <p:ext uri="{BB962C8B-B14F-4D97-AF65-F5344CB8AC3E}">
        <p14:creationId xmlns:p14="http://schemas.microsoft.com/office/powerpoint/2010/main" val="6484364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(24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34925"/>
            <a:ext cx="2615601" cy="344128"/>
          </a:xfrm>
        </p:spPr>
        <p:txBody>
          <a:bodyPr wrap="square" lIns="0" tIns="18000" rIns="0" bIns="18000" anchor="ctr">
            <a:spAutoFit/>
          </a:bodyPr>
          <a:lstStyle/>
          <a:p>
            <a:pPr marL="0" indent="0">
              <a:spcBef>
                <a:spcPts val="600"/>
              </a:spcBef>
              <a:buNone/>
            </a:pPr>
            <a:r>
              <a:rPr lang="en-US" altLang="en-US" sz="2000" noProof="0" dirty="0"/>
              <a:t>Find the expression for</a:t>
            </a:r>
            <a:endParaRPr lang="en-US" sz="2000" noProof="0" dirty="0"/>
          </a:p>
        </p:txBody>
      </p:sp>
      <p:graphicFrame>
        <p:nvGraphicFramePr>
          <p:cNvPr id="2" name="Object 1" descr="v subscript o baseline (t).&#10;">
            <a:extLst>
              <a:ext uri="{FF2B5EF4-FFF2-40B4-BE49-F238E27FC236}">
                <a16:creationId xmlns:a16="http://schemas.microsoft.com/office/drawing/2014/main" id="{7EC357B4-A4F7-FD32-DA28-C5A2A1B28534}"/>
              </a:ext>
            </a:extLst>
          </p:cNvPr>
          <p:cNvGraphicFramePr>
            <a:graphicFrameLocks noChangeAspect="1"/>
          </p:cNvGraphicFramePr>
          <p:nvPr>
            <p:extLst>
              <p:ext uri="{D42A27DB-BD31-4B8C-83A1-F6EECF244321}">
                <p14:modId xmlns:p14="http://schemas.microsoft.com/office/powerpoint/2010/main" val="2649026386"/>
              </p:ext>
            </p:extLst>
          </p:nvPr>
        </p:nvGraphicFramePr>
        <p:xfrm>
          <a:off x="3152825" y="1533763"/>
          <a:ext cx="597218" cy="413862"/>
        </p:xfrm>
        <a:graphic>
          <a:graphicData uri="http://schemas.openxmlformats.org/presentationml/2006/ole">
            <mc:AlternateContent xmlns:mc="http://schemas.openxmlformats.org/markup-compatibility/2006">
              <mc:Choice xmlns:v="urn:schemas-microsoft-com:vml" Requires="v">
                <p:oleObj spid="_x0000_s16389" name="Equation" r:id="rId3" imgW="330120" imgH="228600" progId="Equation.DSMT4">
                  <p:embed/>
                </p:oleObj>
              </mc:Choice>
              <mc:Fallback>
                <p:oleObj name="Equation" r:id="rId3" imgW="330120" imgH="228600" progId="Equation.DSMT4">
                  <p:embed/>
                  <p:pic>
                    <p:nvPicPr>
                      <p:cNvPr id="2" name="Object 1">
                        <a:extLst>
                          <a:ext uri="{FF2B5EF4-FFF2-40B4-BE49-F238E27FC236}">
                            <a16:creationId xmlns:a16="http://schemas.microsoft.com/office/drawing/2014/main" id="{A42E5E9B-DB9B-7731-179C-A955E5CEB8B9}"/>
                          </a:ext>
                        </a:extLst>
                      </p:cNvPr>
                      <p:cNvPicPr>
                        <a:picLocks noChangeAspect="1" noChangeArrowheads="1"/>
                      </p:cNvPicPr>
                      <p:nvPr/>
                    </p:nvPicPr>
                    <p:blipFill>
                      <a:blip r:embed="rId4"/>
                      <a:srcRect/>
                      <a:stretch>
                        <a:fillRect/>
                      </a:stretch>
                    </p:blipFill>
                    <p:spPr bwMode="auto">
                      <a:xfrm>
                        <a:off x="3152825" y="1533763"/>
                        <a:ext cx="597218" cy="41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3854210" y="1536535"/>
            <a:ext cx="2839888" cy="344128"/>
          </a:xfrm>
        </p:spPr>
        <p:txBody>
          <a:bodyPr wrap="square" lIns="0" tIns="18000" rIns="0" bIns="18000" anchor="ctr">
            <a:spAutoFit/>
          </a:bodyPr>
          <a:lstStyle/>
          <a:p>
            <a:pPr marL="0" indent="0">
              <a:spcBef>
                <a:spcPts val="600"/>
              </a:spcBef>
              <a:buNone/>
            </a:pPr>
            <a:r>
              <a:rPr lang="en-US" altLang="en-US" sz="2000" noProof="0" dirty="0"/>
              <a:t>in the circuit below, given</a:t>
            </a:r>
            <a:endParaRPr lang="en-US" sz="2000" noProof="0" dirty="0"/>
          </a:p>
        </p:txBody>
      </p:sp>
      <p:graphicFrame>
        <p:nvGraphicFramePr>
          <p:cNvPr id="3" name="Object 2" descr="v subscript 1 baseline (t) equals 5 cosine 80,000 t Volt,&#10;">
            <a:extLst>
              <a:ext uri="{FF2B5EF4-FFF2-40B4-BE49-F238E27FC236}">
                <a16:creationId xmlns:a16="http://schemas.microsoft.com/office/drawing/2014/main" id="{0C9A7EFE-E9CC-CF88-8DAB-944D34D4EBD7}"/>
              </a:ext>
            </a:extLst>
          </p:cNvPr>
          <p:cNvGraphicFramePr>
            <a:graphicFrameLocks noChangeAspect="1"/>
          </p:cNvGraphicFramePr>
          <p:nvPr>
            <p:extLst>
              <p:ext uri="{D42A27DB-BD31-4B8C-83A1-F6EECF244321}">
                <p14:modId xmlns:p14="http://schemas.microsoft.com/office/powerpoint/2010/main" val="2592378418"/>
              </p:ext>
            </p:extLst>
          </p:nvPr>
        </p:nvGraphicFramePr>
        <p:xfrm>
          <a:off x="377825" y="1971675"/>
          <a:ext cx="2609850" cy="376238"/>
        </p:xfrm>
        <a:graphic>
          <a:graphicData uri="http://schemas.openxmlformats.org/presentationml/2006/ole">
            <mc:AlternateContent xmlns:mc="http://schemas.openxmlformats.org/markup-compatibility/2006">
              <mc:Choice xmlns:v="urn:schemas-microsoft-com:vml" Requires="v">
                <p:oleObj spid="_x0000_s16390" name="Equation" r:id="rId5" imgW="1587240" imgH="228600" progId="Equation.DSMT4">
                  <p:embed/>
                </p:oleObj>
              </mc:Choice>
              <mc:Fallback>
                <p:oleObj name="Equation" r:id="rId5" imgW="1587240" imgH="228600" progId="Equation.DSMT4">
                  <p:embed/>
                  <p:pic>
                    <p:nvPicPr>
                      <p:cNvPr id="2" name="Object 1">
                        <a:extLst>
                          <a:ext uri="{FF2B5EF4-FFF2-40B4-BE49-F238E27FC236}">
                            <a16:creationId xmlns:a16="http://schemas.microsoft.com/office/drawing/2014/main" id="{7EC357B4-A4F7-FD32-DA28-C5A2A1B28534}"/>
                          </a:ext>
                        </a:extLst>
                      </p:cNvPr>
                      <p:cNvPicPr>
                        <a:picLocks noChangeAspect="1" noChangeArrowheads="1"/>
                      </p:cNvPicPr>
                      <p:nvPr/>
                    </p:nvPicPr>
                    <p:blipFill>
                      <a:blip r:embed="rId6"/>
                      <a:srcRect/>
                      <a:stretch>
                        <a:fillRect/>
                      </a:stretch>
                    </p:blipFill>
                    <p:spPr bwMode="auto">
                      <a:xfrm>
                        <a:off x="377825" y="1971675"/>
                        <a:ext cx="2609850"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3034698" y="1965530"/>
            <a:ext cx="461963" cy="344128"/>
          </a:xfrm>
        </p:spPr>
        <p:txBody>
          <a:bodyPr wrap="square" lIns="0" tIns="18000" rIns="0" bIns="18000" anchor="ctr">
            <a:spAutoFit/>
          </a:bodyPr>
          <a:lstStyle/>
          <a:p>
            <a:pPr marL="0" indent="0">
              <a:spcBef>
                <a:spcPts val="600"/>
              </a:spcBef>
              <a:buNone/>
            </a:pPr>
            <a:r>
              <a:rPr lang="en-US" altLang="en-US" sz="2000" noProof="0" dirty="0"/>
              <a:t>and</a:t>
            </a:r>
            <a:endParaRPr lang="en-US" sz="2000" noProof="0" dirty="0"/>
          </a:p>
        </p:txBody>
      </p:sp>
      <p:graphicFrame>
        <p:nvGraphicFramePr>
          <p:cNvPr id="4" name="Object 3" descr="v subscript 2 baseline (t) equals negative 2.5 cosine 320,000 t Volt.&#10;">
            <a:extLst>
              <a:ext uri="{FF2B5EF4-FFF2-40B4-BE49-F238E27FC236}">
                <a16:creationId xmlns:a16="http://schemas.microsoft.com/office/drawing/2014/main" id="{83DC2BCA-16FE-6A3C-DBE6-87260C6E186E}"/>
              </a:ext>
            </a:extLst>
          </p:cNvPr>
          <p:cNvGraphicFramePr>
            <a:graphicFrameLocks noChangeAspect="1"/>
          </p:cNvGraphicFramePr>
          <p:nvPr>
            <p:extLst>
              <p:ext uri="{D42A27DB-BD31-4B8C-83A1-F6EECF244321}">
                <p14:modId xmlns:p14="http://schemas.microsoft.com/office/powerpoint/2010/main" val="2214928085"/>
              </p:ext>
            </p:extLst>
          </p:nvPr>
        </p:nvGraphicFramePr>
        <p:xfrm>
          <a:off x="3571158" y="1985963"/>
          <a:ext cx="3298825" cy="376237"/>
        </p:xfrm>
        <a:graphic>
          <a:graphicData uri="http://schemas.openxmlformats.org/presentationml/2006/ole">
            <mc:AlternateContent xmlns:mc="http://schemas.openxmlformats.org/markup-compatibility/2006">
              <mc:Choice xmlns:v="urn:schemas-microsoft-com:vml" Requires="v">
                <p:oleObj spid="_x0000_s16391" name="Equation" r:id="rId7" imgW="2006280" imgH="228600" progId="Equation.DSMT4">
                  <p:embed/>
                </p:oleObj>
              </mc:Choice>
              <mc:Fallback>
                <p:oleObj name="Equation" r:id="rId7" imgW="2006280" imgH="228600" progId="Equation.DSMT4">
                  <p:embed/>
                  <p:pic>
                    <p:nvPicPr>
                      <p:cNvPr id="3" name="Object 2">
                        <a:extLst>
                          <a:ext uri="{FF2B5EF4-FFF2-40B4-BE49-F238E27FC236}">
                            <a16:creationId xmlns:a16="http://schemas.microsoft.com/office/drawing/2014/main" id="{0C9A7EFE-E9CC-CF88-8DAB-944D34D4EBD7}"/>
                          </a:ext>
                        </a:extLst>
                      </p:cNvPr>
                      <p:cNvPicPr>
                        <a:picLocks noChangeAspect="1" noChangeArrowheads="1"/>
                      </p:cNvPicPr>
                      <p:nvPr/>
                    </p:nvPicPr>
                    <p:blipFill>
                      <a:blip r:embed="rId8"/>
                      <a:srcRect/>
                      <a:stretch>
                        <a:fillRect/>
                      </a:stretch>
                    </p:blipFill>
                    <p:spPr bwMode="auto">
                      <a:xfrm>
                        <a:off x="3571158" y="1985963"/>
                        <a:ext cx="329882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5" name="Picture 2" descr="A circuit diagram shows the positive terminal of a voltage source v sub 1 connected to a resistor of 20 ohms. This resistor is connected in series to a capacitor of 1.25 micro farads through a terminal 1. This capacitor on the other end is connected to the negative terminal of another voltage source v sub 2. The positive terminal of v sub 2 is connected to the negative terminal of v sub 1 through a terminal 2. An inductance coil of 125 micro hertz is connected in series to the 20-ohms resistor and between the terminals 1 and 2. A current of i sub o flows down through the inductor.">
            <a:extLst>
              <a:ext uri="{FF2B5EF4-FFF2-40B4-BE49-F238E27FC236}">
                <a16:creationId xmlns:a16="http://schemas.microsoft.com/office/drawing/2014/main" id="{2E900FFC-4885-4E4B-E203-A158B5AA8D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87881" y="2619661"/>
            <a:ext cx="3364622" cy="14544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525" y="4465289"/>
            <a:ext cx="8241400" cy="959681"/>
          </a:xfrm>
        </p:spPr>
        <p:txBody>
          <a:bodyPr wrap="square" lIns="0" tIns="18000" rIns="0" bIns="18000" anchor="ctr">
            <a:spAutoFit/>
          </a:bodyPr>
          <a:lstStyle/>
          <a:p>
            <a:pPr marL="0" indent="0">
              <a:spcBef>
                <a:spcPct val="20000"/>
              </a:spcBef>
              <a:buNone/>
              <a:defRPr/>
            </a:pPr>
            <a:r>
              <a:rPr lang="en-US" sz="2000" kern="0" noProof="0" dirty="0"/>
              <a:t>When the time domain sinusoidal sources have different frequencies, we must use superposition, phasor transforming and analyzing the circuit for each source individually.</a:t>
            </a:r>
          </a:p>
        </p:txBody>
      </p:sp>
    </p:spTree>
    <p:extLst>
      <p:ext uri="{BB962C8B-B14F-4D97-AF65-F5344CB8AC3E}">
        <p14:creationId xmlns:p14="http://schemas.microsoft.com/office/powerpoint/2010/main" val="2243688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(25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4922"/>
            <a:ext cx="2632854" cy="344128"/>
          </a:xfrm>
        </p:spPr>
        <p:txBody>
          <a:bodyPr wrap="square" lIns="0" tIns="18000" rIns="0" bIns="18000" anchor="ctr">
            <a:spAutoFit/>
          </a:bodyPr>
          <a:lstStyle/>
          <a:p>
            <a:pPr marL="0" indent="0">
              <a:spcBef>
                <a:spcPts val="600"/>
              </a:spcBef>
              <a:buNone/>
            </a:pPr>
            <a:r>
              <a:rPr lang="en-US" altLang="en-US" sz="2000" noProof="0" dirty="0"/>
              <a:t>Find the expression for</a:t>
            </a:r>
            <a:endParaRPr lang="en-US" sz="2000" noProof="0" dirty="0"/>
          </a:p>
        </p:txBody>
      </p:sp>
      <p:graphicFrame>
        <p:nvGraphicFramePr>
          <p:cNvPr id="2" name="Object 1" descr="v subscript o baseline (t).&#10;">
            <a:extLst>
              <a:ext uri="{FF2B5EF4-FFF2-40B4-BE49-F238E27FC236}">
                <a16:creationId xmlns:a16="http://schemas.microsoft.com/office/drawing/2014/main" id="{D93CC731-0295-7391-83B4-77AC7A724FA6}"/>
              </a:ext>
            </a:extLst>
          </p:cNvPr>
          <p:cNvGraphicFramePr>
            <a:graphicFrameLocks noChangeAspect="1"/>
          </p:cNvGraphicFramePr>
          <p:nvPr>
            <p:extLst>
              <p:ext uri="{D42A27DB-BD31-4B8C-83A1-F6EECF244321}">
                <p14:modId xmlns:p14="http://schemas.microsoft.com/office/powerpoint/2010/main" val="2862233673"/>
              </p:ext>
            </p:extLst>
          </p:nvPr>
        </p:nvGraphicFramePr>
        <p:xfrm>
          <a:off x="3119588" y="1543610"/>
          <a:ext cx="542925" cy="376238"/>
        </p:xfrm>
        <a:graphic>
          <a:graphicData uri="http://schemas.openxmlformats.org/presentationml/2006/ole">
            <mc:AlternateContent xmlns:mc="http://schemas.openxmlformats.org/markup-compatibility/2006">
              <mc:Choice xmlns:v="urn:schemas-microsoft-com:vml" Requires="v">
                <p:oleObj spid="_x0000_s17416" name="Equation" r:id="rId3" imgW="330120" imgH="228600" progId="Equation.DSMT4">
                  <p:embed/>
                </p:oleObj>
              </mc:Choice>
              <mc:Fallback>
                <p:oleObj name="Equation" r:id="rId3" imgW="330120" imgH="228600" progId="Equation.DSMT4">
                  <p:embed/>
                  <p:pic>
                    <p:nvPicPr>
                      <p:cNvPr id="2" name="Object 1">
                        <a:extLst>
                          <a:ext uri="{FF2B5EF4-FFF2-40B4-BE49-F238E27FC236}">
                            <a16:creationId xmlns:a16="http://schemas.microsoft.com/office/drawing/2014/main" id="{7EC357B4-A4F7-FD32-DA28-C5A2A1B28534}"/>
                          </a:ext>
                        </a:extLst>
                      </p:cNvPr>
                      <p:cNvPicPr>
                        <a:picLocks noChangeAspect="1" noChangeArrowheads="1"/>
                      </p:cNvPicPr>
                      <p:nvPr/>
                    </p:nvPicPr>
                    <p:blipFill>
                      <a:blip r:embed="rId4"/>
                      <a:srcRect/>
                      <a:stretch>
                        <a:fillRect/>
                      </a:stretch>
                    </p:blipFill>
                    <p:spPr bwMode="auto">
                      <a:xfrm>
                        <a:off x="3119588" y="1543610"/>
                        <a:ext cx="542925"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19" y="1970872"/>
            <a:ext cx="2874393" cy="344128"/>
          </a:xfrm>
        </p:spPr>
        <p:txBody>
          <a:bodyPr wrap="square" lIns="0" tIns="18000" rIns="0" bIns="18000" anchor="ctr">
            <a:spAutoFit/>
          </a:bodyPr>
          <a:lstStyle/>
          <a:p>
            <a:pPr marL="0" indent="0">
              <a:spcBef>
                <a:spcPts val="600"/>
              </a:spcBef>
              <a:buNone/>
            </a:pPr>
            <a:r>
              <a:rPr lang="en-US" altLang="en-US" sz="2000" noProof="0" dirty="0"/>
              <a:t>in the circuit below, given</a:t>
            </a:r>
            <a:endParaRPr lang="en-US" sz="2000" noProof="0" dirty="0"/>
          </a:p>
        </p:txBody>
      </p:sp>
      <p:graphicFrame>
        <p:nvGraphicFramePr>
          <p:cNvPr id="3" name="Object 2" descr="v subscript 1 baseline (t) equals 5 cosine 80,000 t Volt,&#10;">
            <a:extLst>
              <a:ext uri="{FF2B5EF4-FFF2-40B4-BE49-F238E27FC236}">
                <a16:creationId xmlns:a16="http://schemas.microsoft.com/office/drawing/2014/main" id="{636843BE-FD10-F5CB-DA51-BD9CEE8C9E37}"/>
              </a:ext>
            </a:extLst>
          </p:cNvPr>
          <p:cNvGraphicFramePr>
            <a:graphicFrameLocks noChangeAspect="1"/>
          </p:cNvGraphicFramePr>
          <p:nvPr>
            <p:extLst>
              <p:ext uri="{D42A27DB-BD31-4B8C-83A1-F6EECF244321}">
                <p14:modId xmlns:p14="http://schemas.microsoft.com/office/powerpoint/2010/main" val="587116644"/>
              </p:ext>
            </p:extLst>
          </p:nvPr>
        </p:nvGraphicFramePr>
        <p:xfrm>
          <a:off x="382588" y="2379663"/>
          <a:ext cx="2563812" cy="373062"/>
        </p:xfrm>
        <a:graphic>
          <a:graphicData uri="http://schemas.openxmlformats.org/presentationml/2006/ole">
            <mc:AlternateContent xmlns:mc="http://schemas.openxmlformats.org/markup-compatibility/2006">
              <mc:Choice xmlns:v="urn:schemas-microsoft-com:vml" Requires="v">
                <p:oleObj spid="_x0000_s17417" name="Equation" r:id="rId5" imgW="1574640" imgH="228600" progId="Equation.DSMT4">
                  <p:embed/>
                </p:oleObj>
              </mc:Choice>
              <mc:Fallback>
                <p:oleObj name="Equation" r:id="rId5" imgW="1574640" imgH="228600" progId="Equation.DSMT4">
                  <p:embed/>
                  <p:pic>
                    <p:nvPicPr>
                      <p:cNvPr id="3" name="Object 2">
                        <a:extLst>
                          <a:ext uri="{FF2B5EF4-FFF2-40B4-BE49-F238E27FC236}">
                            <a16:creationId xmlns:a16="http://schemas.microsoft.com/office/drawing/2014/main" id="{0C9A7EFE-E9CC-CF88-8DAB-944D34D4EBD7}"/>
                          </a:ext>
                        </a:extLst>
                      </p:cNvPr>
                      <p:cNvPicPr>
                        <a:picLocks noChangeAspect="1" noChangeArrowheads="1"/>
                      </p:cNvPicPr>
                      <p:nvPr/>
                    </p:nvPicPr>
                    <p:blipFill>
                      <a:blip r:embed="rId6"/>
                      <a:srcRect/>
                      <a:stretch>
                        <a:fillRect/>
                      </a:stretch>
                    </p:blipFill>
                    <p:spPr bwMode="auto">
                      <a:xfrm>
                        <a:off x="382588" y="2379663"/>
                        <a:ext cx="2563812"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3008820" y="2354399"/>
            <a:ext cx="470589" cy="344128"/>
          </a:xfrm>
        </p:spPr>
        <p:txBody>
          <a:bodyPr wrap="square" lIns="0" tIns="18000" rIns="0" bIns="18000" anchor="ctr">
            <a:spAutoFit/>
          </a:bodyPr>
          <a:lstStyle/>
          <a:p>
            <a:pPr marL="0" indent="0">
              <a:spcBef>
                <a:spcPts val="600"/>
              </a:spcBef>
              <a:buNone/>
            </a:pPr>
            <a:r>
              <a:rPr lang="en-US" altLang="en-US" sz="2000" noProof="0" dirty="0"/>
              <a:t>and</a:t>
            </a:r>
            <a:endParaRPr lang="en-US" sz="2000" noProof="0" dirty="0"/>
          </a:p>
        </p:txBody>
      </p:sp>
      <p:graphicFrame>
        <p:nvGraphicFramePr>
          <p:cNvPr id="4" name="Object 3" descr="v subscript 2 baseline (t) equals negative 2.5 cosine 320,000 t Volt.&#10;">
            <a:extLst>
              <a:ext uri="{FF2B5EF4-FFF2-40B4-BE49-F238E27FC236}">
                <a16:creationId xmlns:a16="http://schemas.microsoft.com/office/drawing/2014/main" id="{660FA1B0-AA49-94E9-4C41-A4749AD2B9AE}"/>
              </a:ext>
            </a:extLst>
          </p:cNvPr>
          <p:cNvGraphicFramePr>
            <a:graphicFrameLocks noChangeAspect="1"/>
          </p:cNvGraphicFramePr>
          <p:nvPr>
            <p:extLst>
              <p:ext uri="{D42A27DB-BD31-4B8C-83A1-F6EECF244321}">
                <p14:modId xmlns:p14="http://schemas.microsoft.com/office/powerpoint/2010/main" val="3621561499"/>
              </p:ext>
            </p:extLst>
          </p:nvPr>
        </p:nvGraphicFramePr>
        <p:xfrm>
          <a:off x="391105" y="2804680"/>
          <a:ext cx="3140075" cy="373063"/>
        </p:xfrm>
        <a:graphic>
          <a:graphicData uri="http://schemas.openxmlformats.org/presentationml/2006/ole">
            <mc:AlternateContent xmlns:mc="http://schemas.openxmlformats.org/markup-compatibility/2006">
              <mc:Choice xmlns:v="urn:schemas-microsoft-com:vml" Requires="v">
                <p:oleObj spid="_x0000_s17418" name="Equation" r:id="rId7" imgW="1930320" imgH="228600" progId="Equation.DSMT4">
                  <p:embed/>
                </p:oleObj>
              </mc:Choice>
              <mc:Fallback>
                <p:oleObj name="Equation" r:id="rId7" imgW="1930320" imgH="228600" progId="Equation.DSMT4">
                  <p:embed/>
                  <p:pic>
                    <p:nvPicPr>
                      <p:cNvPr id="3" name="Object 2">
                        <a:extLst>
                          <a:ext uri="{FF2B5EF4-FFF2-40B4-BE49-F238E27FC236}">
                            <a16:creationId xmlns:a16="http://schemas.microsoft.com/office/drawing/2014/main" id="{636843BE-FD10-F5CB-DA51-BD9CEE8C9E37}"/>
                          </a:ext>
                        </a:extLst>
                      </p:cNvPr>
                      <p:cNvPicPr>
                        <a:picLocks noChangeAspect="1" noChangeArrowheads="1"/>
                      </p:cNvPicPr>
                      <p:nvPr/>
                    </p:nvPicPr>
                    <p:blipFill>
                      <a:blip r:embed="rId8"/>
                      <a:srcRect/>
                      <a:stretch>
                        <a:fillRect/>
                      </a:stretch>
                    </p:blipFill>
                    <p:spPr bwMode="auto">
                      <a:xfrm>
                        <a:off x="391105" y="2804680"/>
                        <a:ext cx="314007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2" descr="A circuit diagram shows the positive terminal of a voltage source v sub 1 connected to a resistor of 20 ohms. This resistor is connected in series to a capacitor of 1.25 micro farads through a terminal 1. This capacitor on the other end is connected to the negative terminal of another voltage source v sub 2. The positive terminal of v sub 2 is connected to the negative terminal of v sub 1 through a terminal 2. An inductance coil of 125 micro hertz is connected in series to the 20-ohms resistor and between the terminals 1 and 2. A current of i sub o flows down through the inductor.">
            <a:extLst>
              <a:ext uri="{FF2B5EF4-FFF2-40B4-BE49-F238E27FC236}">
                <a16:creationId xmlns:a16="http://schemas.microsoft.com/office/drawing/2014/main" id="{9D1D7CFB-DE9F-B969-6B08-F81F2DB8132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21765" y="1649538"/>
            <a:ext cx="3009641" cy="13009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2" descr="The illustration shows two circuit diagrams placed besides each other. The circuit diagram on the left shows the positive terminal of a voltage source of 5 volts at 0 degrees connected to a resistor of 20 ohms. The circuit between this source and resistor reads an omega value of 80,000 radians per second. This resistor is connected in series to a capacitor of negative j 10 ohms through a terminal 1. This capacitor on the other end is connected to the negative terminal of the voltage source through a terminal 2. An inductance coil of j 10 ohms is connected in series to the 20-ohms resistor and between the terminals 1 and 2. A current of I prime sub o flows down through the inductor.&#10;The circuit diagram on the right shows the negative terminal of a voltage source of negative 2.5 volts at 0 degrees connected to a capacitor of negative j 2.5 ohms. The circuit between this source and capacitor reads an omega value of 320,000 radians per second. This capacitor is connected in series to a resistor of 20 ohms through a terminal 1. This resistor on the other end is connected to the positive terminal of the voltage source through a terminal 2. An inductance coil of j 40 ohms is connected in series to the capacitor and between the terminals 1 and 2. A current of I double prime sub o flows down through the inductor.&#10;">
            <a:extLst>
              <a:ext uri="{FF2B5EF4-FFF2-40B4-BE49-F238E27FC236}">
                <a16:creationId xmlns:a16="http://schemas.microsoft.com/office/drawing/2014/main" id="{63972619-4C76-B062-F80D-93FF800610F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83505" y="3248547"/>
            <a:ext cx="5767088" cy="1061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4359009"/>
            <a:ext cx="4875722" cy="344128"/>
          </a:xfrm>
        </p:spPr>
        <p:txBody>
          <a:bodyPr wrap="square" lIns="0" tIns="18000" rIns="0" bIns="18000" anchor="ctr">
            <a:spAutoFit/>
          </a:bodyPr>
          <a:lstStyle/>
          <a:p>
            <a:pPr marL="0" indent="0">
              <a:spcBef>
                <a:spcPts val="600"/>
              </a:spcBef>
              <a:buNone/>
            </a:pPr>
            <a:r>
              <a:rPr lang="en-US" sz="2000" noProof="0" dirty="0"/>
              <a:t>After source transform and current division,</a:t>
            </a:r>
          </a:p>
        </p:txBody>
      </p:sp>
      <p:graphicFrame>
        <p:nvGraphicFramePr>
          <p:cNvPr id="25" name="Object 24" descr="I subscript o baseline prime equals negative j 500 milliampere equals 500 angle negative 90 degrees milliampere.&#10;">
            <a:extLst>
              <a:ext uri="{FF2B5EF4-FFF2-40B4-BE49-F238E27FC236}">
                <a16:creationId xmlns:a16="http://schemas.microsoft.com/office/drawing/2014/main" id="{A70C1D86-B0C8-4DFB-43F2-E586E7366B2F}"/>
              </a:ext>
            </a:extLst>
          </p:cNvPr>
          <p:cNvGraphicFramePr>
            <a:graphicFrameLocks noChangeAspect="1"/>
          </p:cNvGraphicFramePr>
          <p:nvPr>
            <p:extLst>
              <p:ext uri="{D42A27DB-BD31-4B8C-83A1-F6EECF244321}">
                <p14:modId xmlns:p14="http://schemas.microsoft.com/office/powerpoint/2010/main" val="3701060532"/>
              </p:ext>
            </p:extLst>
          </p:nvPr>
        </p:nvGraphicFramePr>
        <p:xfrm>
          <a:off x="1416050" y="4767263"/>
          <a:ext cx="2795588" cy="322262"/>
        </p:xfrm>
        <a:graphic>
          <a:graphicData uri="http://schemas.openxmlformats.org/presentationml/2006/ole">
            <mc:AlternateContent xmlns:mc="http://schemas.openxmlformats.org/markup-compatibility/2006">
              <mc:Choice xmlns:v="urn:schemas-microsoft-com:vml" Requires="v">
                <p:oleObj spid="_x0000_s17419" name="Equation" r:id="rId11" imgW="2095200" imgH="241200" progId="Equation.DSMT4">
                  <p:embed/>
                </p:oleObj>
              </mc:Choice>
              <mc:Fallback>
                <p:oleObj name="Equation" r:id="rId11" imgW="2095200" imgH="241200" progId="Equation.DSMT4">
                  <p:embed/>
                  <p:pic>
                    <p:nvPicPr>
                      <p:cNvPr id="3" name="Object 2"/>
                      <p:cNvPicPr>
                        <a:picLocks noChangeAspect="1" noChangeArrowheads="1"/>
                      </p:cNvPicPr>
                      <p:nvPr/>
                    </p:nvPicPr>
                    <p:blipFill>
                      <a:blip r:embed="rId12"/>
                      <a:srcRect/>
                      <a:stretch>
                        <a:fillRect/>
                      </a:stretch>
                    </p:blipFill>
                    <p:spPr bwMode="auto">
                      <a:xfrm>
                        <a:off x="1416050" y="4767263"/>
                        <a:ext cx="2795588"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descr="I subscript o baseline double prime equals Open Parenthesis 8.73 minus j 65.5 Closed Parenthesis milliampere equals 66.08 angle negative 82.4 degrees milliampere.&#10;">
            <a:extLst>
              <a:ext uri="{FF2B5EF4-FFF2-40B4-BE49-F238E27FC236}">
                <a16:creationId xmlns:a16="http://schemas.microsoft.com/office/drawing/2014/main" id="{9683ADCF-2DCB-B987-6533-6AEFE0161501}"/>
              </a:ext>
            </a:extLst>
          </p:cNvPr>
          <p:cNvGraphicFramePr>
            <a:graphicFrameLocks noChangeAspect="1"/>
          </p:cNvGraphicFramePr>
          <p:nvPr>
            <p:extLst>
              <p:ext uri="{D42A27DB-BD31-4B8C-83A1-F6EECF244321}">
                <p14:modId xmlns:p14="http://schemas.microsoft.com/office/powerpoint/2010/main" val="3908970992"/>
              </p:ext>
            </p:extLst>
          </p:nvPr>
        </p:nvGraphicFramePr>
        <p:xfrm>
          <a:off x="4435475" y="4756150"/>
          <a:ext cx="3846513" cy="339725"/>
        </p:xfrm>
        <a:graphic>
          <a:graphicData uri="http://schemas.openxmlformats.org/presentationml/2006/ole">
            <mc:AlternateContent xmlns:mc="http://schemas.openxmlformats.org/markup-compatibility/2006">
              <mc:Choice xmlns:v="urn:schemas-microsoft-com:vml" Requires="v">
                <p:oleObj spid="_x0000_s17420" name="Equation" r:id="rId13" imgW="2882880" imgH="253800" progId="Equation.DSMT4">
                  <p:embed/>
                </p:oleObj>
              </mc:Choice>
              <mc:Fallback>
                <p:oleObj name="Equation" r:id="rId13" imgW="2882880" imgH="253800" progId="Equation.DSMT4">
                  <p:embed/>
                  <p:pic>
                    <p:nvPicPr>
                      <p:cNvPr id="25" name="Object 24">
                        <a:extLst>
                          <a:ext uri="{FF2B5EF4-FFF2-40B4-BE49-F238E27FC236}">
                            <a16:creationId xmlns:a16="http://schemas.microsoft.com/office/drawing/2014/main" id="{A70C1D86-B0C8-4DFB-43F2-E586E7366B2F}"/>
                          </a:ext>
                        </a:extLst>
                      </p:cNvPr>
                      <p:cNvPicPr>
                        <a:picLocks noChangeAspect="1" noChangeArrowheads="1"/>
                      </p:cNvPicPr>
                      <p:nvPr/>
                    </p:nvPicPr>
                    <p:blipFill>
                      <a:blip r:embed="rId14"/>
                      <a:srcRect/>
                      <a:stretch>
                        <a:fillRect/>
                      </a:stretch>
                    </p:blipFill>
                    <p:spPr bwMode="auto">
                      <a:xfrm>
                        <a:off x="4435475" y="4756150"/>
                        <a:ext cx="3846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9526" y="5175309"/>
            <a:ext cx="8153757" cy="651905"/>
          </a:xfrm>
        </p:spPr>
        <p:txBody>
          <a:bodyPr wrap="square" lIns="0" tIns="18000" rIns="0" bIns="18000" anchor="ctr">
            <a:spAutoFit/>
          </a:bodyPr>
          <a:lstStyle/>
          <a:p>
            <a:pPr marL="0" lvl="1" indent="0">
              <a:buNone/>
              <a:defRPr/>
            </a:pPr>
            <a:r>
              <a:rPr lang="en-US" sz="2000" noProof="0" dirty="0"/>
              <a:t>Inverse phasor transform each current phasor, then add the two time domain expressions:</a:t>
            </a:r>
          </a:p>
        </p:txBody>
      </p:sp>
      <p:graphicFrame>
        <p:nvGraphicFramePr>
          <p:cNvPr id="26" name="Object 25" descr="i (t) equals 500 cosine OpenParenthesis 80,000 t minus 90 degrees ClosedParenthesis plus 66.08 cosine OpenParenthesis 320,000 t minus 82.4 degrees ClosedParenthesis milliampere.&#10;">
            <a:extLst>
              <a:ext uri="{FF2B5EF4-FFF2-40B4-BE49-F238E27FC236}">
                <a16:creationId xmlns:a16="http://schemas.microsoft.com/office/drawing/2014/main" id="{A61F4161-8B7A-BB78-722C-C4AE85E7B9CC}"/>
              </a:ext>
            </a:extLst>
          </p:cNvPr>
          <p:cNvGraphicFramePr>
            <a:graphicFrameLocks noChangeAspect="1"/>
          </p:cNvGraphicFramePr>
          <p:nvPr>
            <p:extLst>
              <p:ext uri="{D42A27DB-BD31-4B8C-83A1-F6EECF244321}">
                <p14:modId xmlns:p14="http://schemas.microsoft.com/office/powerpoint/2010/main" val="3983823550"/>
              </p:ext>
            </p:extLst>
          </p:nvPr>
        </p:nvGraphicFramePr>
        <p:xfrm>
          <a:off x="1343025" y="5924550"/>
          <a:ext cx="6348413" cy="377825"/>
        </p:xfrm>
        <a:graphic>
          <a:graphicData uri="http://schemas.openxmlformats.org/presentationml/2006/ole">
            <mc:AlternateContent xmlns:mc="http://schemas.openxmlformats.org/markup-compatibility/2006">
              <mc:Choice xmlns:v="urn:schemas-microsoft-com:vml" Requires="v">
                <p:oleObj spid="_x0000_s17421" name="Equation" r:id="rId15" imgW="4241520" imgH="253800" progId="Equation.DSMT4">
                  <p:embed/>
                </p:oleObj>
              </mc:Choice>
              <mc:Fallback>
                <p:oleObj name="Equation" r:id="rId15" imgW="4241520" imgH="253800" progId="Equation.DSMT4">
                  <p:embed/>
                  <p:pic>
                    <p:nvPicPr>
                      <p:cNvPr id="4" name="Object 3"/>
                      <p:cNvPicPr>
                        <a:picLocks noChangeAspect="1" noChangeArrowheads="1"/>
                      </p:cNvPicPr>
                      <p:nvPr/>
                    </p:nvPicPr>
                    <p:blipFill>
                      <a:blip r:embed="rId16"/>
                      <a:srcRect/>
                      <a:stretch>
                        <a:fillRect/>
                      </a:stretch>
                    </p:blipFill>
                    <p:spPr bwMode="auto">
                      <a:xfrm>
                        <a:off x="1343025" y="5924550"/>
                        <a:ext cx="63484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86901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196736"/>
            <a:ext cx="8229600" cy="1144347"/>
          </a:xfrm>
        </p:spPr>
        <p:txBody>
          <a:bodyPr/>
          <a:lstStyle/>
          <a:p>
            <a:r>
              <a:rPr lang="en-US" noProof="0" dirty="0"/>
              <a:t>Chapter 9 – Sinusoidal Steady-State Analysis </a:t>
            </a:r>
            <a:r>
              <a:rPr lang="en-US" sz="2800" noProof="0" dirty="0"/>
              <a:t>(26 of 26)</a:t>
            </a:r>
            <a:endParaRPr lang="en-US"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4925"/>
            <a:ext cx="2624227" cy="344128"/>
          </a:xfrm>
        </p:spPr>
        <p:txBody>
          <a:bodyPr wrap="square" lIns="0" tIns="18000" rIns="0" bIns="18000" anchor="ctr">
            <a:spAutoFit/>
          </a:bodyPr>
          <a:lstStyle/>
          <a:p>
            <a:pPr marL="0" indent="0">
              <a:spcBef>
                <a:spcPts val="600"/>
              </a:spcBef>
              <a:buNone/>
            </a:pPr>
            <a:r>
              <a:rPr lang="en-US" altLang="en-US" sz="2000" noProof="0" dirty="0"/>
              <a:t>Find the expression for</a:t>
            </a:r>
            <a:endParaRPr lang="en-US" sz="2000" noProof="0" dirty="0"/>
          </a:p>
        </p:txBody>
      </p:sp>
      <p:graphicFrame>
        <p:nvGraphicFramePr>
          <p:cNvPr id="2" name="Object 1" descr="v subscript o baseline (t).&#10;">
            <a:extLst>
              <a:ext uri="{FF2B5EF4-FFF2-40B4-BE49-F238E27FC236}">
                <a16:creationId xmlns:a16="http://schemas.microsoft.com/office/drawing/2014/main" id="{02CD2603-90FC-7395-941A-BB7F2C4FDD5D}"/>
              </a:ext>
            </a:extLst>
          </p:cNvPr>
          <p:cNvGraphicFramePr>
            <a:graphicFrameLocks noChangeAspect="1"/>
          </p:cNvGraphicFramePr>
          <p:nvPr>
            <p:extLst>
              <p:ext uri="{D42A27DB-BD31-4B8C-83A1-F6EECF244321}">
                <p14:modId xmlns:p14="http://schemas.microsoft.com/office/powerpoint/2010/main" val="2981843638"/>
              </p:ext>
            </p:extLst>
          </p:nvPr>
        </p:nvGraphicFramePr>
        <p:xfrm>
          <a:off x="3218542" y="1535323"/>
          <a:ext cx="542925" cy="376238"/>
        </p:xfrm>
        <a:graphic>
          <a:graphicData uri="http://schemas.openxmlformats.org/presentationml/2006/ole">
            <mc:AlternateContent xmlns:mc="http://schemas.openxmlformats.org/markup-compatibility/2006">
              <mc:Choice xmlns:v="urn:schemas-microsoft-com:vml" Requires="v">
                <p:oleObj spid="_x0000_s18439" name="Equation" r:id="rId3" imgW="330120" imgH="228600" progId="Equation.DSMT4">
                  <p:embed/>
                </p:oleObj>
              </mc:Choice>
              <mc:Fallback>
                <p:oleObj name="Equation" r:id="rId3" imgW="330120" imgH="228600" progId="Equation.DSMT4">
                  <p:embed/>
                  <p:pic>
                    <p:nvPicPr>
                      <p:cNvPr id="2" name="Object 1">
                        <a:extLst>
                          <a:ext uri="{FF2B5EF4-FFF2-40B4-BE49-F238E27FC236}">
                            <a16:creationId xmlns:a16="http://schemas.microsoft.com/office/drawing/2014/main" id="{D93CC731-0295-7391-83B4-77AC7A724FA6}"/>
                          </a:ext>
                        </a:extLst>
                      </p:cNvPr>
                      <p:cNvPicPr>
                        <a:picLocks noChangeAspect="1" noChangeArrowheads="1"/>
                      </p:cNvPicPr>
                      <p:nvPr/>
                    </p:nvPicPr>
                    <p:blipFill>
                      <a:blip r:embed="rId4"/>
                      <a:srcRect/>
                      <a:stretch>
                        <a:fillRect/>
                      </a:stretch>
                    </p:blipFill>
                    <p:spPr bwMode="auto">
                      <a:xfrm>
                        <a:off x="3218542" y="1535323"/>
                        <a:ext cx="542925"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3961280" y="1531603"/>
            <a:ext cx="2908899" cy="344128"/>
          </a:xfrm>
        </p:spPr>
        <p:txBody>
          <a:bodyPr wrap="square" lIns="0" tIns="18000" rIns="0" bIns="18000" anchor="ctr">
            <a:spAutoFit/>
          </a:bodyPr>
          <a:lstStyle/>
          <a:p>
            <a:pPr marL="0" indent="0">
              <a:spcBef>
                <a:spcPts val="600"/>
              </a:spcBef>
              <a:buNone/>
            </a:pPr>
            <a:r>
              <a:rPr lang="en-US" altLang="en-US" sz="2000" noProof="0" dirty="0"/>
              <a:t>in the circuit below, given</a:t>
            </a:r>
            <a:endParaRPr lang="en-US" sz="2000" noProof="0" dirty="0"/>
          </a:p>
        </p:txBody>
      </p:sp>
      <p:graphicFrame>
        <p:nvGraphicFramePr>
          <p:cNvPr id="3" name="Object 2" descr="v subscript 1 baseline (t) equals 5 cosine 80,000 t Volt,&#10;">
            <a:extLst>
              <a:ext uri="{FF2B5EF4-FFF2-40B4-BE49-F238E27FC236}">
                <a16:creationId xmlns:a16="http://schemas.microsoft.com/office/drawing/2014/main" id="{E55F115B-4FC1-F588-D882-3E8C3522A56D}"/>
              </a:ext>
            </a:extLst>
          </p:cNvPr>
          <p:cNvGraphicFramePr>
            <a:graphicFrameLocks noChangeAspect="1"/>
          </p:cNvGraphicFramePr>
          <p:nvPr>
            <p:extLst>
              <p:ext uri="{D42A27DB-BD31-4B8C-83A1-F6EECF244321}">
                <p14:modId xmlns:p14="http://schemas.microsoft.com/office/powerpoint/2010/main" val="2422574063"/>
              </p:ext>
            </p:extLst>
          </p:nvPr>
        </p:nvGraphicFramePr>
        <p:xfrm>
          <a:off x="403225" y="2047875"/>
          <a:ext cx="2524125" cy="373063"/>
        </p:xfrm>
        <a:graphic>
          <a:graphicData uri="http://schemas.openxmlformats.org/presentationml/2006/ole">
            <mc:AlternateContent xmlns:mc="http://schemas.openxmlformats.org/markup-compatibility/2006">
              <mc:Choice xmlns:v="urn:schemas-microsoft-com:vml" Requires="v">
                <p:oleObj spid="_x0000_s18440" name="Equation" r:id="rId5" imgW="1549080" imgH="228600" progId="Equation.DSMT4">
                  <p:embed/>
                </p:oleObj>
              </mc:Choice>
              <mc:Fallback>
                <p:oleObj name="Equation" r:id="rId5" imgW="1549080" imgH="228600" progId="Equation.DSMT4">
                  <p:embed/>
                  <p:pic>
                    <p:nvPicPr>
                      <p:cNvPr id="3" name="Object 2">
                        <a:extLst>
                          <a:ext uri="{FF2B5EF4-FFF2-40B4-BE49-F238E27FC236}">
                            <a16:creationId xmlns:a16="http://schemas.microsoft.com/office/drawing/2014/main" id="{636843BE-FD10-F5CB-DA51-BD9CEE8C9E37}"/>
                          </a:ext>
                        </a:extLst>
                      </p:cNvPr>
                      <p:cNvPicPr>
                        <a:picLocks noChangeAspect="1" noChangeArrowheads="1"/>
                      </p:cNvPicPr>
                      <p:nvPr/>
                    </p:nvPicPr>
                    <p:blipFill>
                      <a:blip r:embed="rId6"/>
                      <a:srcRect/>
                      <a:stretch>
                        <a:fillRect/>
                      </a:stretch>
                    </p:blipFill>
                    <p:spPr bwMode="auto">
                      <a:xfrm>
                        <a:off x="403225" y="2047875"/>
                        <a:ext cx="252412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3036050" y="2023025"/>
            <a:ext cx="461963" cy="344128"/>
          </a:xfrm>
        </p:spPr>
        <p:txBody>
          <a:bodyPr wrap="square" lIns="0" tIns="18000" rIns="0" bIns="18000" anchor="ctr">
            <a:spAutoFit/>
          </a:bodyPr>
          <a:lstStyle/>
          <a:p>
            <a:pPr marL="0" indent="0">
              <a:spcBef>
                <a:spcPts val="600"/>
              </a:spcBef>
              <a:buNone/>
            </a:pPr>
            <a:r>
              <a:rPr lang="en-US" sz="2000" noProof="0" dirty="0"/>
              <a:t>and</a:t>
            </a:r>
          </a:p>
        </p:txBody>
      </p:sp>
      <p:graphicFrame>
        <p:nvGraphicFramePr>
          <p:cNvPr id="4" name="Object 3" descr="v subscript 2 baseline (t) equals negative 2.5 cosine 320,000 t Volt.&#10;">
            <a:extLst>
              <a:ext uri="{FF2B5EF4-FFF2-40B4-BE49-F238E27FC236}">
                <a16:creationId xmlns:a16="http://schemas.microsoft.com/office/drawing/2014/main" id="{169013CE-A934-56CC-2C02-312422FC2C7A}"/>
              </a:ext>
            </a:extLst>
          </p:cNvPr>
          <p:cNvGraphicFramePr>
            <a:graphicFrameLocks noChangeAspect="1"/>
          </p:cNvGraphicFramePr>
          <p:nvPr>
            <p:extLst>
              <p:ext uri="{D42A27DB-BD31-4B8C-83A1-F6EECF244321}">
                <p14:modId xmlns:p14="http://schemas.microsoft.com/office/powerpoint/2010/main" val="1565439863"/>
              </p:ext>
            </p:extLst>
          </p:nvPr>
        </p:nvGraphicFramePr>
        <p:xfrm>
          <a:off x="3581980" y="2047875"/>
          <a:ext cx="3140075" cy="373063"/>
        </p:xfrm>
        <a:graphic>
          <a:graphicData uri="http://schemas.openxmlformats.org/presentationml/2006/ole">
            <mc:AlternateContent xmlns:mc="http://schemas.openxmlformats.org/markup-compatibility/2006">
              <mc:Choice xmlns:v="urn:schemas-microsoft-com:vml" Requires="v">
                <p:oleObj spid="_x0000_s18441" name="Equation" r:id="rId7" imgW="1930320" imgH="228600" progId="Equation.DSMT4">
                  <p:embed/>
                </p:oleObj>
              </mc:Choice>
              <mc:Fallback>
                <p:oleObj name="Equation" r:id="rId7" imgW="1930320" imgH="228600" progId="Equation.DSMT4">
                  <p:embed/>
                  <p:pic>
                    <p:nvPicPr>
                      <p:cNvPr id="4" name="Object 3">
                        <a:extLst>
                          <a:ext uri="{FF2B5EF4-FFF2-40B4-BE49-F238E27FC236}">
                            <a16:creationId xmlns:a16="http://schemas.microsoft.com/office/drawing/2014/main" id="{660FA1B0-AA49-94E9-4C41-A4749AD2B9AE}"/>
                          </a:ext>
                        </a:extLst>
                      </p:cNvPr>
                      <p:cNvPicPr>
                        <a:picLocks noChangeAspect="1" noChangeArrowheads="1"/>
                      </p:cNvPicPr>
                      <p:nvPr/>
                    </p:nvPicPr>
                    <p:blipFill>
                      <a:blip r:embed="rId8"/>
                      <a:srcRect/>
                      <a:stretch>
                        <a:fillRect/>
                      </a:stretch>
                    </p:blipFill>
                    <p:spPr bwMode="auto">
                      <a:xfrm>
                        <a:off x="3581980" y="2047875"/>
                        <a:ext cx="314007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5" name="Picture 2" descr="A circuit diagram shows the positive terminal of a voltage source v sub 1 connected to a resistor of 20 ohms. This resistor is connected in series to a capacitor of 1.25 micro farads through a terminal 1. This capacitor on the other end is connected to the negative terminal of another voltage source v sub 2. The positive terminal of v sub 2 is connected to the negative terminal of v sub 1 through a terminal 2. An inductance coil of 125 micro hertz is connected in series to the 20-ohms resistor and between the terminals 1 and 2. A current of i sub o flows down through the inductor.">
            <a:extLst>
              <a:ext uri="{FF2B5EF4-FFF2-40B4-BE49-F238E27FC236}">
                <a16:creationId xmlns:a16="http://schemas.microsoft.com/office/drawing/2014/main" id="{D54036C6-1FE8-D31C-5384-B71C05EDC00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68040" y="2686038"/>
            <a:ext cx="2801113" cy="1210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2" descr="The illustration shows two circuit diagrams placed besides each other. The circuit diagram on the left shows the positive terminal of a voltage source of 5 volts at 0 degrees connected to a resistor of 20 ohms. The circuit between this source and resistor reads an omega value of 80,000 radians per second. This resistor is connected in series to a capacitor of negative j 10 ohms through a terminal 1. This capacitor on the other end is connected to the negative terminal of the voltage source through a terminal 2. An inductance coil of j 10 ohms is connected in series to the 20-ohms resistor and between the terminals 1 and 2. A current of I prime sub o flows down through the inductor.&#10;The circuit diagram on the right shows the negative terminal of a voltage source of negative 2.5 volts at 0 degrees connected to a capacitor of negative j 2.5 ohms. The circuit between this source and capacitor reads an omega value of 320,000 radians per second. This capacitor is connected in series to a resistor of 20 ohms through a terminal 1. This resistor on the other end is connected to the positive terminal of the voltage source through a terminal 2. An inductance coil of j 40 ohms is connected in series to the capacitor and between the terminals 1 and 2. A current of I double prime sub o flows down through the inductor.&#10;">
            <a:extLst>
              <a:ext uri="{FF2B5EF4-FFF2-40B4-BE49-F238E27FC236}">
                <a16:creationId xmlns:a16="http://schemas.microsoft.com/office/drawing/2014/main" id="{D3303A0C-4EBE-40F9-A153-5B02F3F77E0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44161" y="4050316"/>
            <a:ext cx="5455687" cy="10042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1" y="5303161"/>
            <a:ext cx="5100008" cy="344128"/>
          </a:xfrm>
        </p:spPr>
        <p:txBody>
          <a:bodyPr wrap="square" lIns="0" tIns="18000" rIns="0" bIns="18000" anchor="ctr">
            <a:spAutoFit/>
          </a:bodyPr>
          <a:lstStyle/>
          <a:p>
            <a:pPr marL="0" indent="0">
              <a:buNone/>
              <a:defRPr/>
            </a:pPr>
            <a:r>
              <a:rPr lang="en-US" sz="2000" noProof="0" dirty="0"/>
              <a:t>After source transform and current division,</a:t>
            </a:r>
          </a:p>
        </p:txBody>
      </p:sp>
      <p:graphicFrame>
        <p:nvGraphicFramePr>
          <p:cNvPr id="5" name="Object 4" descr="I subscript o baseline prime equals negative j 500 milliampere equals 500 angle negative 90 degrees milliampere.&#10;">
            <a:extLst>
              <a:ext uri="{FF2B5EF4-FFF2-40B4-BE49-F238E27FC236}">
                <a16:creationId xmlns:a16="http://schemas.microsoft.com/office/drawing/2014/main" id="{4CA3E4A2-A2A8-AA5C-F05D-64E56ED041B0}"/>
              </a:ext>
            </a:extLst>
          </p:cNvPr>
          <p:cNvGraphicFramePr>
            <a:graphicFrameLocks noChangeAspect="1"/>
          </p:cNvGraphicFramePr>
          <p:nvPr>
            <p:extLst>
              <p:ext uri="{D42A27DB-BD31-4B8C-83A1-F6EECF244321}">
                <p14:modId xmlns:p14="http://schemas.microsoft.com/office/powerpoint/2010/main" val="2008569047"/>
              </p:ext>
            </p:extLst>
          </p:nvPr>
        </p:nvGraphicFramePr>
        <p:xfrm>
          <a:off x="1101725" y="5821363"/>
          <a:ext cx="3100388" cy="357187"/>
        </p:xfrm>
        <a:graphic>
          <a:graphicData uri="http://schemas.openxmlformats.org/presentationml/2006/ole">
            <mc:AlternateContent xmlns:mc="http://schemas.openxmlformats.org/markup-compatibility/2006">
              <mc:Choice xmlns:v="urn:schemas-microsoft-com:vml" Requires="v">
                <p:oleObj spid="_x0000_s18442" name="Equation" r:id="rId11" imgW="2095200" imgH="241200" progId="Equation.DSMT4">
                  <p:embed/>
                </p:oleObj>
              </mc:Choice>
              <mc:Fallback>
                <p:oleObj name="Equation" r:id="rId11" imgW="2095200" imgH="241200" progId="Equation.DSMT4">
                  <p:embed/>
                  <p:pic>
                    <p:nvPicPr>
                      <p:cNvPr id="27" name="Object 26">
                        <a:extLst>
                          <a:ext uri="{FF2B5EF4-FFF2-40B4-BE49-F238E27FC236}">
                            <a16:creationId xmlns:a16="http://schemas.microsoft.com/office/drawing/2014/main" id="{1C02665B-4D0C-C527-7C79-61DF46D9230E}"/>
                          </a:ext>
                        </a:extLst>
                      </p:cNvPr>
                      <p:cNvPicPr/>
                      <p:nvPr/>
                    </p:nvPicPr>
                    <p:blipFill>
                      <a:blip r:embed="rId12"/>
                      <a:stretch>
                        <a:fillRect/>
                      </a:stretch>
                    </p:blipFill>
                    <p:spPr>
                      <a:xfrm>
                        <a:off x="1101725" y="5821363"/>
                        <a:ext cx="3100388" cy="357187"/>
                      </a:xfrm>
                      <a:prstGeom prst="rect">
                        <a:avLst/>
                      </a:prstGeom>
                    </p:spPr>
                  </p:pic>
                </p:oleObj>
              </mc:Fallback>
            </mc:AlternateContent>
          </a:graphicData>
        </a:graphic>
      </p:graphicFrame>
      <p:graphicFrame>
        <p:nvGraphicFramePr>
          <p:cNvPr id="27" name="Object 26" descr="I subscript o baseline double prime equals Open Parenthesis 8.73 minus j 65.5 Closed Parenthesis milliampere equals 66.08 angle negative 82.4 degrees milliampere.&#10;">
            <a:extLst>
              <a:ext uri="{FF2B5EF4-FFF2-40B4-BE49-F238E27FC236}">
                <a16:creationId xmlns:a16="http://schemas.microsoft.com/office/drawing/2014/main" id="{1C02665B-4D0C-C527-7C79-61DF46D9230E}"/>
              </a:ext>
            </a:extLst>
          </p:cNvPr>
          <p:cNvGraphicFramePr>
            <a:graphicFrameLocks noChangeAspect="1"/>
          </p:cNvGraphicFramePr>
          <p:nvPr>
            <p:extLst>
              <p:ext uri="{D42A27DB-BD31-4B8C-83A1-F6EECF244321}">
                <p14:modId xmlns:p14="http://schemas.microsoft.com/office/powerpoint/2010/main" val="1557809043"/>
              </p:ext>
            </p:extLst>
          </p:nvPr>
        </p:nvGraphicFramePr>
        <p:xfrm>
          <a:off x="4357688" y="5811838"/>
          <a:ext cx="4265612" cy="376237"/>
        </p:xfrm>
        <a:graphic>
          <a:graphicData uri="http://schemas.openxmlformats.org/presentationml/2006/ole">
            <mc:AlternateContent xmlns:mc="http://schemas.openxmlformats.org/markup-compatibility/2006">
              <mc:Choice xmlns:v="urn:schemas-microsoft-com:vml" Requires="v">
                <p:oleObj spid="_x0000_s18443" name="Equation" r:id="rId13" imgW="2882880" imgH="253800" progId="Equation.DSMT4">
                  <p:embed/>
                </p:oleObj>
              </mc:Choice>
              <mc:Fallback>
                <p:oleObj name="Equation" r:id="rId13" imgW="2882880" imgH="253800" progId="Equation.DSMT4">
                  <p:embed/>
                  <p:pic>
                    <p:nvPicPr>
                      <p:cNvPr id="13" name="Object 12"/>
                      <p:cNvPicPr/>
                      <p:nvPr/>
                    </p:nvPicPr>
                    <p:blipFill>
                      <a:blip r:embed="rId14"/>
                      <a:stretch>
                        <a:fillRect/>
                      </a:stretch>
                    </p:blipFill>
                    <p:spPr>
                      <a:xfrm>
                        <a:off x="4357688" y="5811838"/>
                        <a:ext cx="4265612" cy="376237"/>
                      </a:xfrm>
                      <a:prstGeom prst="rect">
                        <a:avLst/>
                      </a:prstGeom>
                    </p:spPr>
                  </p:pic>
                </p:oleObj>
              </mc:Fallback>
            </mc:AlternateContent>
          </a:graphicData>
        </a:graphic>
      </p:graphicFrame>
    </p:spTree>
    <p:extLst>
      <p:ext uri="{BB962C8B-B14F-4D97-AF65-F5344CB8AC3E}">
        <p14:creationId xmlns:p14="http://schemas.microsoft.com/office/powerpoint/2010/main" val="959621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1089</TotalTime>
  <Words>1282</Words>
  <Application>Microsoft Office PowerPoint</Application>
  <PresentationFormat>On-screen Show (4:3)</PresentationFormat>
  <Paragraphs>152</Paragraphs>
  <Slides>28</Slides>
  <Notes>2</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35" baseType="lpstr">
      <vt:lpstr>Verdana</vt:lpstr>
      <vt:lpstr>Arial</vt:lpstr>
      <vt:lpstr>Times New Roman</vt:lpstr>
      <vt:lpstr>Symbol</vt:lpstr>
      <vt:lpstr>USHE</vt:lpstr>
      <vt:lpstr>USHE_slide options</vt:lpstr>
      <vt:lpstr>Equation</vt:lpstr>
      <vt:lpstr>Electric Circuits</vt:lpstr>
      <vt:lpstr>Chapter 9 – Sinusoidal Steady-State Analysis (1 of 26)</vt:lpstr>
      <vt:lpstr>Chapter 9 – Sinusoidal Steady-State Analysis (2 of 26)</vt:lpstr>
      <vt:lpstr>Chapter 9 – Sinusoidal Steady-State Analysis (3 of 26)</vt:lpstr>
      <vt:lpstr>Chapter 9 – Sinusoidal Steady-State Analysis (4 of 26)</vt:lpstr>
      <vt:lpstr>Chapter 9 – Sinusoidal Steady-State Analysis (5 of 26)</vt:lpstr>
      <vt:lpstr>Chapter 9 – Sinusoidal Steady-State Analysis (6 of 26)</vt:lpstr>
      <vt:lpstr>Chapter 9 – Sinusoidal Steady-State Analysis (7 of 26)</vt:lpstr>
      <vt:lpstr>Chapter 9 – Sinusoidal Steady-State Analysis (8 of 26)</vt:lpstr>
      <vt:lpstr>Chapter 9 – Sinusoidal Steady-State Analysis (9 of 26)</vt:lpstr>
      <vt:lpstr>Chapter 9 – Sinusoidal Steady-State Analysis (10 of 26)</vt:lpstr>
      <vt:lpstr>Chapter 9 – Sinusoidal Steady-State Analysis (11 of 26)</vt:lpstr>
      <vt:lpstr>Chapter 9 – Sinusoidal Steady-State Analysis (12 of 26)</vt:lpstr>
      <vt:lpstr>Chapter 9 – Sinusoidal Steady-State Analysis (13 of 26)</vt:lpstr>
      <vt:lpstr>Chapter 9 – Sinusoidal Steady-State Analysis (14 of 26)</vt:lpstr>
      <vt:lpstr>Chapter 9 – Sinusoidal Steady-State Analysis (15 of 26)</vt:lpstr>
      <vt:lpstr>Chapter 9 – Sinusoidal Steady-State Analysis (16 of 26)</vt:lpstr>
      <vt:lpstr>Chapter 9 – Sinusoidal Steady-State Analysis (17 of 26)</vt:lpstr>
      <vt:lpstr>Chapter 9 – Sinusoidal Steady-State Analysis (18 of 26)</vt:lpstr>
      <vt:lpstr>Chapter 9 – Sinusoidal Steady-State Analysis (19 of 26)</vt:lpstr>
      <vt:lpstr>Chapter 9 – Sinusoidal Steady-State Analysis (20 of 26)</vt:lpstr>
      <vt:lpstr>Chapter 9 – Sinusoidal Steady-State Analysis (21 of 26)</vt:lpstr>
      <vt:lpstr>Chapter 9 – Sinusoidal Steady-State Analysis (22 of 26)</vt:lpstr>
      <vt:lpstr>Chapter 9 – Sinusoidal Steady-State Analysis (23 of 26)</vt:lpstr>
      <vt:lpstr>Chapter 9 – Sinusoidal Steady-State Analysis (24 of 26)</vt:lpstr>
      <vt:lpstr>Chapter 9 – Sinusoidal Steady-State Analysis (25 of 26)</vt:lpstr>
      <vt:lpstr>Chapter 9 – Sinusoidal Steady-State Analysis (26 of 26)</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9 – Part 3</dc:title>
  <dc:subject>Engineering</dc:subject>
  <dc:creator>Nilsson and Riedel</dc:creator>
  <cp:keywords/>
  <dc:description/>
  <cp:lastModifiedBy>ss</cp:lastModifiedBy>
  <cp:revision>165</cp:revision>
  <dcterms:modified xsi:type="dcterms:W3CDTF">2024-02-23T14:24:44Z</dcterms:modified>
</cp:coreProperties>
</file>