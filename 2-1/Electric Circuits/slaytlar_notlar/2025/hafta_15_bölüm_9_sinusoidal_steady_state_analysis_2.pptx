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wmf" ContentType="image/x-w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23"/>
  </p:notesMasterIdLst>
  <p:handoutMasterIdLst>
    <p:handoutMasterId r:id="rId24"/>
  </p:handoutMasterIdLst>
  <p:sldIdLst>
    <p:sldId id="330" r:id="rId3"/>
    <p:sldId id="720" r:id="rId4"/>
    <p:sldId id="745" r:id="rId5"/>
    <p:sldId id="749" r:id="rId6"/>
    <p:sldId id="750" r:id="rId7"/>
    <p:sldId id="752" r:id="rId8"/>
    <p:sldId id="753" r:id="rId9"/>
    <p:sldId id="754" r:id="rId10"/>
    <p:sldId id="755" r:id="rId11"/>
    <p:sldId id="756" r:id="rId12"/>
    <p:sldId id="758" r:id="rId13"/>
    <p:sldId id="759" r:id="rId14"/>
    <p:sldId id="760" r:id="rId15"/>
    <p:sldId id="761" r:id="rId16"/>
    <p:sldId id="762" r:id="rId17"/>
    <p:sldId id="763" r:id="rId18"/>
    <p:sldId id="747" r:id="rId19"/>
    <p:sldId id="764" r:id="rId20"/>
    <p:sldId id="765" r:id="rId21"/>
    <p:sldId id="717" r:id="rId22"/>
  </p:sldIdLst>
  <p:sldSz cx="9144000" cy="6858000" type="screen4x3"/>
  <p:notesSz cx="6858000" cy="9144000"/>
  <p:embeddedFontLst>
    <p:embeddedFont>
      <p:font typeface="Verdana" panose="020B0604030504040204" pitchFamily="3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27" userDrawn="1">
          <p15:clr>
            <a:srgbClr val="A4A3A4"/>
          </p15:clr>
        </p15:guide>
        <p15:guide id="2" pos="272" userDrawn="1">
          <p15:clr>
            <a:srgbClr val="A4A3A4"/>
          </p15:clr>
        </p15:guide>
        <p15:guide id="3" orient="horz" pos="867" userDrawn="1">
          <p15:clr>
            <a:srgbClr val="A4A3A4"/>
          </p15:clr>
        </p15:guide>
        <p15:guide id="4" pos="2880" userDrawn="1">
          <p15:clr>
            <a:srgbClr val="A4A3A4"/>
          </p15:clr>
        </p15:guide>
        <p15:guide id="5" pos="5462" userDrawn="1">
          <p15:clr>
            <a:srgbClr val="A4A3A4"/>
          </p15:clr>
        </p15:guide>
        <p15:guide id="6" orient="horz" pos="4042" userDrawn="1">
          <p15:clr>
            <a:srgbClr val="A4A3A4"/>
          </p15:clr>
        </p15:guide>
        <p15:guide id="7" orient="horz" pos="123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36" autoAdjust="0"/>
    <p:restoredTop sz="80663" autoAdjust="0"/>
  </p:normalViewPr>
  <p:slideViewPr>
    <p:cSldViewPr snapToGrid="0" snapToObjects="1">
      <p:cViewPr varScale="1">
        <p:scale>
          <a:sx n="72" d="100"/>
          <a:sy n="72" d="100"/>
        </p:scale>
        <p:origin x="1548" y="78"/>
      </p:cViewPr>
      <p:guideLst>
        <p:guide orient="horz" pos="427"/>
        <p:guide pos="272"/>
        <p:guide orient="horz" pos="867"/>
        <p:guide pos="2880"/>
        <p:guide pos="5462"/>
        <p:guide orient="horz" pos="4042"/>
        <p:guide orient="horz" pos="1230"/>
      </p:guideLst>
    </p:cSldViewPr>
  </p:slideViewPr>
  <p:outlineViewPr>
    <p:cViewPr>
      <p:scale>
        <a:sx n="33" d="100"/>
        <a:sy n="33" d="100"/>
      </p:scale>
      <p:origin x="0" y="-9144"/>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84" d="100"/>
          <a:sy n="84" d="100"/>
        </p:scale>
        <p:origin x="2226"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2.fntdata"/><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1.fntdata"/><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3.fntdata"/><Relationship Id="rId30" Type="http://schemas.openxmlformats.org/officeDocument/2006/relationships/presProps" Target="presProps.xml"/><Relationship Id="rId8" Type="http://schemas.openxmlformats.org/officeDocument/2006/relationships/slide" Target="slides/slide6.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5" Type="http://schemas.openxmlformats.org/officeDocument/2006/relationships/image" Target="../media/image12.wmf"/><Relationship Id="rId4"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5" Type="http://schemas.openxmlformats.org/officeDocument/2006/relationships/image" Target="../media/image16.wmf"/><Relationship Id="rId4"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5" Type="http://schemas.openxmlformats.org/officeDocument/2006/relationships/image" Target="../media/image20.wmf"/><Relationship Id="rId4" Type="http://schemas.openxmlformats.org/officeDocument/2006/relationships/image" Target="../media/image1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6" Type="http://schemas.openxmlformats.org/officeDocument/2006/relationships/image" Target="../media/image27.wmf"/><Relationship Id="rId5" Type="http://schemas.openxmlformats.org/officeDocument/2006/relationships/image" Target="../media/image26.wmf"/><Relationship Id="rId4" Type="http://schemas.openxmlformats.org/officeDocument/2006/relationships/image" Target="../media/image2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5" Type="http://schemas.openxmlformats.org/officeDocument/2006/relationships/image" Target="../media/image31.wmf"/><Relationship Id="rId4" Type="http://schemas.openxmlformats.org/officeDocument/2006/relationships/image" Target="../media/image30.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5" Type="http://schemas.openxmlformats.org/officeDocument/2006/relationships/image" Target="../media/image37.wmf"/><Relationship Id="rId4" Type="http://schemas.openxmlformats.org/officeDocument/2006/relationships/image" Target="../media/image36.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5" Type="http://schemas.openxmlformats.org/officeDocument/2006/relationships/image" Target="../media/image41.wmf"/><Relationship Id="rId4" Type="http://schemas.openxmlformats.org/officeDocument/2006/relationships/image" Target="../media/image4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image" Target="../media/image46.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53.wmf"/><Relationship Id="rId7" Type="http://schemas.openxmlformats.org/officeDocument/2006/relationships/image" Target="../media/image57.wmf"/><Relationship Id="rId2" Type="http://schemas.openxmlformats.org/officeDocument/2006/relationships/image" Target="../media/image52.wmf"/><Relationship Id="rId1" Type="http://schemas.openxmlformats.org/officeDocument/2006/relationships/image" Target="../media/image51.wmf"/><Relationship Id="rId6" Type="http://schemas.openxmlformats.org/officeDocument/2006/relationships/image" Target="../media/image56.wmf"/><Relationship Id="rId5" Type="http://schemas.openxmlformats.org/officeDocument/2006/relationships/image" Target="../media/image55.wmf"/><Relationship Id="rId4" Type="http://schemas.openxmlformats.org/officeDocument/2006/relationships/image" Target="../media/image54.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44.wmf"/><Relationship Id="rId5" Type="http://schemas.openxmlformats.org/officeDocument/2006/relationships/image" Target="../media/image62.wmf"/><Relationship Id="rId4" Type="http://schemas.openxmlformats.org/officeDocument/2006/relationships/image" Target="../media/image6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2/23/2024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a:t>
            </a:r>
            <a:r>
              <a:rPr lang="en-US"/>
              <a:t>) Math Type </a:t>
            </a:r>
            <a:r>
              <a:rPr lang="en-US" dirty="0"/>
              <a:t>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Arial" panose="020B0604020202020204" pitchFamily="34" charset="0"/>
                <a:cs typeface="Arial" panose="020B0604020202020204" pitchFamily="34" charset="0"/>
              </a:rPr>
              <a:t>Long Description 1:</a:t>
            </a:r>
          </a:p>
          <a:p>
            <a:r>
              <a:rPr lang="en-US" sz="1200" b="0" i="0" u="none" strike="noStrike" dirty="0">
                <a:solidFill>
                  <a:srgbClr val="000000"/>
                </a:solidFill>
                <a:effectLst/>
                <a:latin typeface="Arial" panose="020B0604020202020204" pitchFamily="34" charset="0"/>
                <a:cs typeface="Arial" panose="020B0604020202020204" pitchFamily="34" charset="0"/>
              </a:rPr>
              <a:t>equals Start Fraction Open Parenthesis 6 plus j omega L Close Parenthesis Open Parenthesis 6 minus j omega L Close Parenthesis over 10 Open Parenthesis 6 plus j omega L Close Parenthesis Open Parenthesis 6 minus j omega L Close Parenthesis End Fraction plus Start Fraction 10 Open Parenthesis 6 minus j omega L Close Parenthesis over 10 Open Parenthesis 6 plus j omega L Close Parenthesis Open Parenthesis 6 minus j omega L Close Parenthesis End Fraction plus Start Fraction 10 (j omega C) Open Parenthesis 6 plus j omega L Close Parenthesis Open Parenthesis 6 minus j omega L Close Parenthesis over 10 Open Parenthesis 6 plus j omega L Close Parenthesis Open Parenthesis 6 minus j omega L Close Parenthesis End Fraction.</a:t>
            </a:r>
            <a:r>
              <a:rPr lang="en-US" sz="1200" dirty="0">
                <a:latin typeface="Arial" panose="020B0604020202020204" pitchFamily="34" charset="0"/>
                <a:cs typeface="Arial" panose="020B0604020202020204" pitchFamily="34" charset="0"/>
              </a:rPr>
              <a:t> </a:t>
            </a:r>
          </a:p>
          <a:p>
            <a:r>
              <a:rPr lang="en-US" sz="1200" dirty="0">
                <a:latin typeface="Arial" panose="020B0604020202020204" pitchFamily="34" charset="0"/>
                <a:cs typeface="Arial" panose="020B0604020202020204" pitchFamily="34" charset="0"/>
              </a:rPr>
              <a:t>Long Description 2:</a:t>
            </a:r>
          </a:p>
          <a:p>
            <a:r>
              <a:rPr lang="en-US" sz="1200" b="0" i="0" u="none" strike="noStrike" dirty="0">
                <a:solidFill>
                  <a:srgbClr val="000000"/>
                </a:solidFill>
                <a:effectLst/>
                <a:latin typeface="Arial" panose="020B0604020202020204" pitchFamily="34" charset="0"/>
                <a:cs typeface="Arial" panose="020B0604020202020204" pitchFamily="34" charset="0"/>
              </a:rPr>
              <a:t>equals Start Fraction 36 plus omega squared L squared plus 60 minus 10 j omega L plus 10 j omega C Open Parenthesis 36 plus omega squared L squared Close Parenthesis over 10 Open Parenthesis 36 plus omega squared L squared Close Parenthesis End Fraction.</a:t>
            </a:r>
            <a:r>
              <a:rPr lang="en-US" sz="1200" dirty="0">
                <a:latin typeface="Arial" panose="020B0604020202020204" pitchFamily="34" charset="0"/>
                <a:cs typeface="Arial" panose="020B0604020202020204" pitchFamily="34" charset="0"/>
              </a:rPr>
              <a:t> </a:t>
            </a:r>
          </a:p>
          <a:p>
            <a:r>
              <a:rPr lang="en-US" sz="1200" dirty="0">
                <a:latin typeface="Arial" panose="020B0604020202020204" pitchFamily="34" charset="0"/>
                <a:cs typeface="Arial" panose="020B0604020202020204" pitchFamily="34" charset="0"/>
              </a:rPr>
              <a:t>Long Description 3:</a:t>
            </a:r>
          </a:p>
          <a:p>
            <a:r>
              <a:rPr lang="en-US" sz="1200" b="0" i="0" u="none" strike="noStrike" dirty="0">
                <a:solidFill>
                  <a:srgbClr val="000000"/>
                </a:solidFill>
                <a:effectLst/>
                <a:latin typeface="Arial" panose="020B0604020202020204" pitchFamily="34" charset="0"/>
                <a:cs typeface="Arial" panose="020B0604020202020204" pitchFamily="34" charset="0"/>
              </a:rPr>
              <a:t>I m Open </a:t>
            </a:r>
            <a:r>
              <a:rPr lang="en-US" sz="1200" b="0" i="0" u="none" strike="noStrike" dirty="0" err="1">
                <a:solidFill>
                  <a:srgbClr val="000000"/>
                </a:solidFill>
                <a:effectLst/>
                <a:latin typeface="Arial" panose="020B0604020202020204" pitchFamily="34" charset="0"/>
                <a:cs typeface="Arial" panose="020B0604020202020204" pitchFamily="34" charset="0"/>
              </a:rPr>
              <a:t>CurlyBracket</a:t>
            </a:r>
            <a:r>
              <a:rPr lang="en-US" sz="1200" b="0" i="0" u="none" strike="noStrike" dirty="0">
                <a:solidFill>
                  <a:srgbClr val="000000"/>
                </a:solidFill>
                <a:effectLst/>
                <a:latin typeface="Arial" panose="020B0604020202020204" pitchFamily="34" charset="0"/>
                <a:cs typeface="Arial" panose="020B0604020202020204" pitchFamily="34" charset="0"/>
              </a:rPr>
              <a:t> Start Fraction 1 over Z subscript e q </a:t>
            </a:r>
            <a:r>
              <a:rPr lang="en-US" sz="1200" b="0" i="0" u="none" strike="noStrike" dirty="0" err="1">
                <a:solidFill>
                  <a:srgbClr val="000000"/>
                </a:solidFill>
                <a:effectLst/>
                <a:latin typeface="Arial" panose="020B0604020202020204" pitchFamily="34" charset="0"/>
                <a:cs typeface="Arial" panose="020B0604020202020204" pitchFamily="34" charset="0"/>
              </a:rPr>
              <a:t>BaseLine</a:t>
            </a:r>
            <a:r>
              <a:rPr lang="en-US" sz="1200" b="0" i="0" u="none" strike="noStrike" dirty="0">
                <a:solidFill>
                  <a:srgbClr val="000000"/>
                </a:solidFill>
                <a:effectLst/>
                <a:latin typeface="Arial" panose="020B0604020202020204" pitchFamily="34" charset="0"/>
                <a:cs typeface="Arial" panose="020B0604020202020204" pitchFamily="34" charset="0"/>
              </a:rPr>
              <a:t> End Fraction Close </a:t>
            </a:r>
            <a:r>
              <a:rPr lang="en-US" sz="1200" b="0" i="0" u="none" strike="noStrike" dirty="0" err="1">
                <a:solidFill>
                  <a:srgbClr val="000000"/>
                </a:solidFill>
                <a:effectLst/>
                <a:latin typeface="Arial" panose="020B0604020202020204" pitchFamily="34" charset="0"/>
                <a:cs typeface="Arial" panose="020B0604020202020204" pitchFamily="34" charset="0"/>
              </a:rPr>
              <a:t>CurlyBracket</a:t>
            </a:r>
            <a:r>
              <a:rPr lang="en-US" sz="1200" b="0" i="0" u="none" strike="noStrike" dirty="0">
                <a:solidFill>
                  <a:srgbClr val="000000"/>
                </a:solidFill>
                <a:effectLst/>
                <a:latin typeface="Arial" panose="020B0604020202020204" pitchFamily="34" charset="0"/>
                <a:cs typeface="Arial" panose="020B0604020202020204" pitchFamily="34" charset="0"/>
              </a:rPr>
              <a:t> equals Start Fraction negative 10 omega L plus 10 omega C Open Parenthesis 36 plus omega squared L squared Close Parenthesis over 10 Open Parenthesis 36 plus omega squared L squared Close Parenthesis End Fraction equals 0.</a:t>
            </a:r>
            <a:r>
              <a:rPr lang="en-US" sz="120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554055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20</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147627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2/23/2024</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43917837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4" name="Picture 3" descr="Pearson Logo">
            <a:extLst>
              <a:ext uri="{FF2B5EF4-FFF2-40B4-BE49-F238E27FC236}">
                <a16:creationId xmlns:a16="http://schemas.microsoft.com/office/drawing/2014/main" id="{712F66FE-1337-EDE8-F038-827B504362BF}"/>
              </a:ext>
            </a:extLst>
          </p:cNvPr>
          <p:cNvPicPr>
            <a:picLocks noChangeAspect="1"/>
          </p:cNvPicPr>
          <p:nvPr userDrawn="1"/>
        </p:nvPicPr>
        <p:blipFill>
          <a:blip r:embed="rId14"/>
          <a:stretch>
            <a:fillRect/>
          </a:stretch>
        </p:blipFill>
        <p:spPr>
          <a:xfrm>
            <a:off x="430085" y="6404072"/>
            <a:ext cx="986560" cy="310866"/>
          </a:xfrm>
          <a:prstGeom prst="rect">
            <a:avLst/>
          </a:prstGeom>
        </p:spPr>
      </p:pic>
      <p:sp>
        <p:nvSpPr>
          <p:cNvPr id="6" name="Content Placeholder 7">
            <a:extLst>
              <a:ext uri="{FF2B5EF4-FFF2-40B4-BE49-F238E27FC236}">
                <a16:creationId xmlns:a16="http://schemas.microsoft.com/office/drawing/2014/main" id="{67B5DD31-F4D7-7F29-F15C-8478039E4FC8}"/>
              </a:ext>
            </a:extLst>
          </p:cNvPr>
          <p:cNvSpPr txBox="1">
            <a:spLocks/>
          </p:cNvSpPr>
          <p:nvPr userDrawn="1"/>
        </p:nvSpPr>
        <p:spPr>
          <a:xfrm>
            <a:off x="2709017" y="6455210"/>
            <a:ext cx="5960871"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256032" indent="-154432" algn="r">
              <a:spcBef>
                <a:spcPts val="1500"/>
              </a:spcBef>
              <a:buClr>
                <a:srgbClr val="007FA3"/>
              </a:buClr>
              <a:buSzPct val="100000"/>
              <a:buFont typeface="Arial"/>
              <a:defRPr sz="1200">
                <a:solidFill>
                  <a:schemeClr val="dk1"/>
                </a:solidFill>
                <a:latin typeface="Verdana" panose="020B0604030504040204" pitchFamily="34" charset="0"/>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dirty="0"/>
              <a:t>© 2024 Pearson Education Ltd. All Rights Reserved</a:t>
            </a: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79" r:id="rId5"/>
    <p:sldLayoutId id="2147483680"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8.xml"/><Relationship Id="rId1" Type="http://schemas.openxmlformats.org/officeDocument/2006/relationships/vmlDrawing" Target="../drawings/vmlDrawing1.vml"/><Relationship Id="rId6" Type="http://schemas.openxmlformats.org/officeDocument/2006/relationships/image" Target="../media/image5.wmf"/><Relationship Id="rId5" Type="http://schemas.openxmlformats.org/officeDocument/2006/relationships/oleObject" Target="../embeddings/oleObject2.bin"/><Relationship Id="rId10" Type="http://schemas.openxmlformats.org/officeDocument/2006/relationships/image" Target="../media/image8.jpg"/><Relationship Id="rId4" Type="http://schemas.openxmlformats.org/officeDocument/2006/relationships/image" Target="../media/image4.wmf"/><Relationship Id="rId9" Type="http://schemas.openxmlformats.org/officeDocument/2006/relationships/image" Target="../media/image7.jp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image" Target="../media/image12.wmf"/><Relationship Id="rId3" Type="http://schemas.openxmlformats.org/officeDocument/2006/relationships/oleObject" Target="../embeddings/oleObject4.bin"/><Relationship Id="rId7" Type="http://schemas.openxmlformats.org/officeDocument/2006/relationships/oleObject" Target="../embeddings/oleObject6.bin"/><Relationship Id="rId12" Type="http://schemas.openxmlformats.org/officeDocument/2006/relationships/oleObject" Target="../embeddings/oleObject8.bin"/><Relationship Id="rId2" Type="http://schemas.openxmlformats.org/officeDocument/2006/relationships/slideLayout" Target="../slideLayouts/slideLayout8.xml"/><Relationship Id="rId1" Type="http://schemas.openxmlformats.org/officeDocument/2006/relationships/vmlDrawing" Target="../drawings/vmlDrawing2.vml"/><Relationship Id="rId6" Type="http://schemas.openxmlformats.org/officeDocument/2006/relationships/image" Target="../media/image5.wmf"/><Relationship Id="rId11" Type="http://schemas.openxmlformats.org/officeDocument/2006/relationships/image" Target="../media/image11.wmf"/><Relationship Id="rId5" Type="http://schemas.openxmlformats.org/officeDocument/2006/relationships/oleObject" Target="../embeddings/oleObject5.bin"/><Relationship Id="rId10" Type="http://schemas.openxmlformats.org/officeDocument/2006/relationships/oleObject" Target="../embeddings/oleObject7.bin"/><Relationship Id="rId4" Type="http://schemas.openxmlformats.org/officeDocument/2006/relationships/image" Target="../media/image4.wmf"/><Relationship Id="rId9" Type="http://schemas.openxmlformats.org/officeDocument/2006/relationships/image" Target="../media/image13.jpg"/><Relationship Id="rId14" Type="http://schemas.openxmlformats.org/officeDocument/2006/relationships/image" Target="../media/image14.jpg"/></Relationships>
</file>

<file path=ppt/slides/_rels/slide8.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oleObject" Target="../embeddings/oleObject13.bin"/><Relationship Id="rId3" Type="http://schemas.openxmlformats.org/officeDocument/2006/relationships/oleObject" Target="../embeddings/oleObject9.bin"/><Relationship Id="rId7" Type="http://schemas.openxmlformats.org/officeDocument/2006/relationships/oleObject" Target="../embeddings/oleObject11.bin"/><Relationship Id="rId12" Type="http://schemas.openxmlformats.org/officeDocument/2006/relationships/image" Target="../media/image15.wmf"/><Relationship Id="rId2" Type="http://schemas.openxmlformats.org/officeDocument/2006/relationships/slideLayout" Target="../slideLayouts/slideLayout8.xml"/><Relationship Id="rId1" Type="http://schemas.openxmlformats.org/officeDocument/2006/relationships/vmlDrawing" Target="../drawings/vmlDrawing3.vml"/><Relationship Id="rId6" Type="http://schemas.openxmlformats.org/officeDocument/2006/relationships/image" Target="../media/image5.wmf"/><Relationship Id="rId11" Type="http://schemas.openxmlformats.org/officeDocument/2006/relationships/oleObject" Target="../embeddings/oleObject12.bin"/><Relationship Id="rId5" Type="http://schemas.openxmlformats.org/officeDocument/2006/relationships/oleObject" Target="../embeddings/oleObject10.bin"/><Relationship Id="rId10" Type="http://schemas.openxmlformats.org/officeDocument/2006/relationships/image" Target="../media/image18.jpg"/><Relationship Id="rId4" Type="http://schemas.openxmlformats.org/officeDocument/2006/relationships/image" Target="../media/image4.wmf"/><Relationship Id="rId9" Type="http://schemas.openxmlformats.org/officeDocument/2006/relationships/image" Target="../media/image17.jpg"/><Relationship Id="rId14" Type="http://schemas.openxmlformats.org/officeDocument/2006/relationships/image" Target="../media/image16.wmf"/></Relationships>
</file>

<file path=ppt/slides/_rels/slide9.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oleObject" Target="../embeddings/oleObject18.bin"/><Relationship Id="rId3" Type="http://schemas.openxmlformats.org/officeDocument/2006/relationships/oleObject" Target="../embeddings/oleObject14.bin"/><Relationship Id="rId7" Type="http://schemas.openxmlformats.org/officeDocument/2006/relationships/oleObject" Target="../embeddings/oleObject16.bin"/><Relationship Id="rId12" Type="http://schemas.openxmlformats.org/officeDocument/2006/relationships/image" Target="../media/image19.wmf"/><Relationship Id="rId2" Type="http://schemas.openxmlformats.org/officeDocument/2006/relationships/slideLayout" Target="../slideLayouts/slideLayout8.xml"/><Relationship Id="rId1" Type="http://schemas.openxmlformats.org/officeDocument/2006/relationships/vmlDrawing" Target="../drawings/vmlDrawing4.vml"/><Relationship Id="rId6" Type="http://schemas.openxmlformats.org/officeDocument/2006/relationships/image" Target="../media/image5.wmf"/><Relationship Id="rId11" Type="http://schemas.openxmlformats.org/officeDocument/2006/relationships/oleObject" Target="../embeddings/oleObject17.bin"/><Relationship Id="rId5" Type="http://schemas.openxmlformats.org/officeDocument/2006/relationships/oleObject" Target="../embeddings/oleObject15.bin"/><Relationship Id="rId10" Type="http://schemas.openxmlformats.org/officeDocument/2006/relationships/image" Target="../media/image22.jpg"/><Relationship Id="rId4" Type="http://schemas.openxmlformats.org/officeDocument/2006/relationships/image" Target="../media/image4.wmf"/><Relationship Id="rId9" Type="http://schemas.openxmlformats.org/officeDocument/2006/relationships/image" Target="../media/image21.jpg"/><Relationship Id="rId14" Type="http://schemas.openxmlformats.org/officeDocument/2006/relationships/image" Target="../media/image20.wmf"/></Relationships>
</file>

<file path=ppt/slides/_rels/slide10.xml.rels><?xml version="1.0" encoding="UTF-8" standalone="yes"?>
<Relationships xmlns="http://schemas.openxmlformats.org/package/2006/relationships"><Relationship Id="rId8" Type="http://schemas.openxmlformats.org/officeDocument/2006/relationships/image" Target="../media/image24.jpg"/><Relationship Id="rId3" Type="http://schemas.openxmlformats.org/officeDocument/2006/relationships/tags" Target="../tags/tag7.xml"/><Relationship Id="rId7" Type="http://schemas.openxmlformats.org/officeDocument/2006/relationships/image" Target="../media/image23.wmf"/><Relationship Id="rId2" Type="http://schemas.openxmlformats.org/officeDocument/2006/relationships/tags" Target="../tags/tag6.xml"/><Relationship Id="rId1" Type="http://schemas.openxmlformats.org/officeDocument/2006/relationships/vmlDrawing" Target="../drawings/vmlDrawing5.vml"/><Relationship Id="rId6" Type="http://schemas.openxmlformats.org/officeDocument/2006/relationships/oleObject" Target="../embeddings/oleObject19.bin"/><Relationship Id="rId5" Type="http://schemas.openxmlformats.org/officeDocument/2006/relationships/slideLayout" Target="../slideLayouts/slideLayout8.xml"/><Relationship Id="rId10" Type="http://schemas.openxmlformats.org/officeDocument/2006/relationships/image" Target="../media/image9.png"/><Relationship Id="rId4" Type="http://schemas.openxmlformats.org/officeDocument/2006/relationships/tags" Target="../tags/tag8.xml"/><Relationship Id="rId9"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oleObject" Target="../embeddings/oleObject21.bin"/><Relationship Id="rId3" Type="http://schemas.openxmlformats.org/officeDocument/2006/relationships/oleObject" Target="../embeddings/oleObject9.bin"/><Relationship Id="rId7" Type="http://schemas.openxmlformats.org/officeDocument/2006/relationships/oleObject" Target="../embeddings/oleObject11.bin"/><Relationship Id="rId12" Type="http://schemas.openxmlformats.org/officeDocument/2006/relationships/image" Target="../media/image29.jpg"/><Relationship Id="rId2" Type="http://schemas.openxmlformats.org/officeDocument/2006/relationships/slideLayout" Target="../slideLayouts/slideLayout8.xml"/><Relationship Id="rId16" Type="http://schemas.openxmlformats.org/officeDocument/2006/relationships/image" Target="../media/image27.wmf"/><Relationship Id="rId1" Type="http://schemas.openxmlformats.org/officeDocument/2006/relationships/vmlDrawing" Target="../drawings/vmlDrawing6.vml"/><Relationship Id="rId6" Type="http://schemas.openxmlformats.org/officeDocument/2006/relationships/image" Target="../media/image5.wmf"/><Relationship Id="rId11" Type="http://schemas.openxmlformats.org/officeDocument/2006/relationships/image" Target="../media/image25.wmf"/><Relationship Id="rId5" Type="http://schemas.openxmlformats.org/officeDocument/2006/relationships/oleObject" Target="../embeddings/oleObject10.bin"/><Relationship Id="rId15" Type="http://schemas.openxmlformats.org/officeDocument/2006/relationships/oleObject" Target="../embeddings/oleObject22.bin"/><Relationship Id="rId10" Type="http://schemas.openxmlformats.org/officeDocument/2006/relationships/oleObject" Target="../embeddings/oleObject20.bin"/><Relationship Id="rId4" Type="http://schemas.openxmlformats.org/officeDocument/2006/relationships/image" Target="../media/image4.wmf"/><Relationship Id="rId9" Type="http://schemas.openxmlformats.org/officeDocument/2006/relationships/image" Target="../media/image28.jpg"/><Relationship Id="rId14" Type="http://schemas.openxmlformats.org/officeDocument/2006/relationships/image" Target="../media/image26.wmf"/></Relationships>
</file>

<file path=ppt/slides/_rels/slide12.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oleObject" Target="../embeddings/oleObject27.bin"/><Relationship Id="rId3" Type="http://schemas.openxmlformats.org/officeDocument/2006/relationships/oleObject" Target="../embeddings/oleObject23.bin"/><Relationship Id="rId7" Type="http://schemas.openxmlformats.org/officeDocument/2006/relationships/oleObject" Target="../embeddings/oleObject25.bin"/><Relationship Id="rId12" Type="http://schemas.openxmlformats.org/officeDocument/2006/relationships/image" Target="../media/image30.wmf"/><Relationship Id="rId2" Type="http://schemas.openxmlformats.org/officeDocument/2006/relationships/slideLayout" Target="../slideLayouts/slideLayout8.xml"/><Relationship Id="rId1" Type="http://schemas.openxmlformats.org/officeDocument/2006/relationships/vmlDrawing" Target="../drawings/vmlDrawing7.vml"/><Relationship Id="rId6" Type="http://schemas.openxmlformats.org/officeDocument/2006/relationships/image" Target="../media/image5.wmf"/><Relationship Id="rId11" Type="http://schemas.openxmlformats.org/officeDocument/2006/relationships/oleObject" Target="../embeddings/oleObject26.bin"/><Relationship Id="rId5" Type="http://schemas.openxmlformats.org/officeDocument/2006/relationships/oleObject" Target="../embeddings/oleObject24.bin"/><Relationship Id="rId10" Type="http://schemas.openxmlformats.org/officeDocument/2006/relationships/image" Target="../media/image33.jpg"/><Relationship Id="rId4" Type="http://schemas.openxmlformats.org/officeDocument/2006/relationships/image" Target="../media/image4.wmf"/><Relationship Id="rId9" Type="http://schemas.openxmlformats.org/officeDocument/2006/relationships/image" Target="../media/image32.jpg"/><Relationship Id="rId14" Type="http://schemas.openxmlformats.org/officeDocument/2006/relationships/image" Target="../media/image31.wmf"/></Relationships>
</file>

<file path=ppt/slides/_rels/slide13.xml.rels><?xml version="1.0" encoding="UTF-8" standalone="yes"?>
<Relationships xmlns="http://schemas.openxmlformats.org/package/2006/relationships"><Relationship Id="rId8" Type="http://schemas.openxmlformats.org/officeDocument/2006/relationships/image" Target="../media/image35.jpg"/><Relationship Id="rId3" Type="http://schemas.openxmlformats.org/officeDocument/2006/relationships/tags" Target="../tags/tag10.xml"/><Relationship Id="rId7" Type="http://schemas.openxmlformats.org/officeDocument/2006/relationships/image" Target="../media/image34.wmf"/><Relationship Id="rId2" Type="http://schemas.openxmlformats.org/officeDocument/2006/relationships/tags" Target="../tags/tag9.xml"/><Relationship Id="rId1" Type="http://schemas.openxmlformats.org/officeDocument/2006/relationships/vmlDrawing" Target="../drawings/vmlDrawing8.vml"/><Relationship Id="rId6" Type="http://schemas.openxmlformats.org/officeDocument/2006/relationships/oleObject" Target="../embeddings/oleObject28.bin"/><Relationship Id="rId5" Type="http://schemas.openxmlformats.org/officeDocument/2006/relationships/slideLayout" Target="../slideLayouts/slideLayout8.xml"/><Relationship Id="rId10" Type="http://schemas.openxmlformats.org/officeDocument/2006/relationships/image" Target="../media/image10.png"/><Relationship Id="rId4" Type="http://schemas.openxmlformats.org/officeDocument/2006/relationships/tags" Target="../tags/tag11.xml"/><Relationship Id="rId9" Type="http://schemas.openxmlformats.org/officeDocument/2006/relationships/image" Target="../media/image9.png"/></Relationships>
</file>

<file path=ppt/slides/_rels/slide14.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oleObject" Target="../embeddings/oleObject30.bin"/><Relationship Id="rId3" Type="http://schemas.openxmlformats.org/officeDocument/2006/relationships/oleObject" Target="../embeddings/oleObject9.bin"/><Relationship Id="rId7" Type="http://schemas.openxmlformats.org/officeDocument/2006/relationships/oleObject" Target="../embeddings/oleObject11.bin"/><Relationship Id="rId12" Type="http://schemas.openxmlformats.org/officeDocument/2006/relationships/image" Target="../media/image39.jpg"/><Relationship Id="rId2" Type="http://schemas.openxmlformats.org/officeDocument/2006/relationships/slideLayout" Target="../slideLayouts/slideLayout8.xml"/><Relationship Id="rId1" Type="http://schemas.openxmlformats.org/officeDocument/2006/relationships/vmlDrawing" Target="../drawings/vmlDrawing9.vml"/><Relationship Id="rId6" Type="http://schemas.openxmlformats.org/officeDocument/2006/relationships/image" Target="../media/image5.wmf"/><Relationship Id="rId11" Type="http://schemas.openxmlformats.org/officeDocument/2006/relationships/image" Target="../media/image36.wmf"/><Relationship Id="rId5" Type="http://schemas.openxmlformats.org/officeDocument/2006/relationships/oleObject" Target="../embeddings/oleObject10.bin"/><Relationship Id="rId10" Type="http://schemas.openxmlformats.org/officeDocument/2006/relationships/oleObject" Target="../embeddings/oleObject29.bin"/><Relationship Id="rId4" Type="http://schemas.openxmlformats.org/officeDocument/2006/relationships/image" Target="../media/image4.wmf"/><Relationship Id="rId9" Type="http://schemas.openxmlformats.org/officeDocument/2006/relationships/image" Target="../media/image38.jpg"/><Relationship Id="rId14" Type="http://schemas.openxmlformats.org/officeDocument/2006/relationships/image" Target="../media/image37.wmf"/></Relationships>
</file>

<file path=ppt/slides/_rels/slide15.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oleObject" Target="../embeddings/oleObject32.bin"/><Relationship Id="rId3" Type="http://schemas.openxmlformats.org/officeDocument/2006/relationships/oleObject" Target="../embeddings/oleObject23.bin"/><Relationship Id="rId7" Type="http://schemas.openxmlformats.org/officeDocument/2006/relationships/oleObject" Target="../embeddings/oleObject25.bin"/><Relationship Id="rId12" Type="http://schemas.openxmlformats.org/officeDocument/2006/relationships/image" Target="../media/image40.wmf"/><Relationship Id="rId2" Type="http://schemas.openxmlformats.org/officeDocument/2006/relationships/slideLayout" Target="../slideLayouts/slideLayout8.xml"/><Relationship Id="rId1" Type="http://schemas.openxmlformats.org/officeDocument/2006/relationships/vmlDrawing" Target="../drawings/vmlDrawing10.vml"/><Relationship Id="rId6" Type="http://schemas.openxmlformats.org/officeDocument/2006/relationships/image" Target="../media/image5.wmf"/><Relationship Id="rId11" Type="http://schemas.openxmlformats.org/officeDocument/2006/relationships/oleObject" Target="../embeddings/oleObject31.bin"/><Relationship Id="rId5" Type="http://schemas.openxmlformats.org/officeDocument/2006/relationships/oleObject" Target="../embeddings/oleObject24.bin"/><Relationship Id="rId10" Type="http://schemas.openxmlformats.org/officeDocument/2006/relationships/image" Target="../media/image43.jpg"/><Relationship Id="rId4" Type="http://schemas.openxmlformats.org/officeDocument/2006/relationships/image" Target="../media/image4.wmf"/><Relationship Id="rId9" Type="http://schemas.openxmlformats.org/officeDocument/2006/relationships/image" Target="../media/image42.jpg"/><Relationship Id="rId14" Type="http://schemas.openxmlformats.org/officeDocument/2006/relationships/image" Target="../media/image41.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8.xml"/><Relationship Id="rId1" Type="http://schemas.openxmlformats.org/officeDocument/2006/relationships/vmlDrawing" Target="../drawings/vmlDrawing11.vml"/><Relationship Id="rId5" Type="http://schemas.openxmlformats.org/officeDocument/2006/relationships/image" Target="../media/image45.jpg"/><Relationship Id="rId4" Type="http://schemas.openxmlformats.org/officeDocument/2006/relationships/image" Target="../media/image44.wmf"/></Relationships>
</file>

<file path=ppt/slides/_rels/slide17.xml.rels><?xml version="1.0" encoding="UTF-8" standalone="yes"?>
<Relationships xmlns="http://schemas.openxmlformats.org/package/2006/relationships"><Relationship Id="rId8" Type="http://schemas.openxmlformats.org/officeDocument/2006/relationships/image" Target="../media/image47.wmf"/><Relationship Id="rId3" Type="http://schemas.openxmlformats.org/officeDocument/2006/relationships/oleObject" Target="../embeddings/oleObject34.bin"/><Relationship Id="rId7" Type="http://schemas.openxmlformats.org/officeDocument/2006/relationships/oleObject" Target="../embeddings/oleObject35.bin"/><Relationship Id="rId2" Type="http://schemas.openxmlformats.org/officeDocument/2006/relationships/slideLayout" Target="../slideLayouts/slideLayout8.xml"/><Relationship Id="rId1" Type="http://schemas.openxmlformats.org/officeDocument/2006/relationships/vmlDrawing" Target="../drawings/vmlDrawing12.vml"/><Relationship Id="rId6" Type="http://schemas.openxmlformats.org/officeDocument/2006/relationships/image" Target="../media/image49.png"/><Relationship Id="rId5" Type="http://schemas.openxmlformats.org/officeDocument/2006/relationships/image" Target="../media/image48.jpg"/><Relationship Id="rId4" Type="http://schemas.openxmlformats.org/officeDocument/2006/relationships/image" Target="../media/image46.wmf"/><Relationship Id="rId9" Type="http://schemas.openxmlformats.org/officeDocument/2006/relationships/image" Target="../media/image50.png"/></Relationships>
</file>

<file path=ppt/slides/_rels/slide18.xml.rels><?xml version="1.0" encoding="UTF-8" standalone="yes"?>
<Relationships xmlns="http://schemas.openxmlformats.org/package/2006/relationships"><Relationship Id="rId8" Type="http://schemas.openxmlformats.org/officeDocument/2006/relationships/image" Target="../media/image52.wmf"/><Relationship Id="rId13" Type="http://schemas.openxmlformats.org/officeDocument/2006/relationships/oleObject" Target="../embeddings/oleObject40.bin"/><Relationship Id="rId18" Type="http://schemas.openxmlformats.org/officeDocument/2006/relationships/image" Target="../media/image57.wmf"/><Relationship Id="rId3" Type="http://schemas.openxmlformats.org/officeDocument/2006/relationships/notesSlide" Target="../notesSlides/notesSlide2.xml"/><Relationship Id="rId7" Type="http://schemas.openxmlformats.org/officeDocument/2006/relationships/oleObject" Target="../embeddings/oleObject37.bin"/><Relationship Id="rId12" Type="http://schemas.openxmlformats.org/officeDocument/2006/relationships/image" Target="../media/image54.wmf"/><Relationship Id="rId17" Type="http://schemas.openxmlformats.org/officeDocument/2006/relationships/oleObject" Target="../embeddings/oleObject42.bin"/><Relationship Id="rId2" Type="http://schemas.openxmlformats.org/officeDocument/2006/relationships/slideLayout" Target="../slideLayouts/slideLayout8.xml"/><Relationship Id="rId16" Type="http://schemas.openxmlformats.org/officeDocument/2006/relationships/image" Target="../media/image56.wmf"/><Relationship Id="rId1" Type="http://schemas.openxmlformats.org/officeDocument/2006/relationships/vmlDrawing" Target="../drawings/vmlDrawing13.vml"/><Relationship Id="rId6" Type="http://schemas.openxmlformats.org/officeDocument/2006/relationships/image" Target="../media/image51.wmf"/><Relationship Id="rId11" Type="http://schemas.openxmlformats.org/officeDocument/2006/relationships/oleObject" Target="../embeddings/oleObject39.bin"/><Relationship Id="rId5" Type="http://schemas.openxmlformats.org/officeDocument/2006/relationships/oleObject" Target="../embeddings/oleObject36.bin"/><Relationship Id="rId15" Type="http://schemas.openxmlformats.org/officeDocument/2006/relationships/oleObject" Target="../embeddings/oleObject41.bin"/><Relationship Id="rId10" Type="http://schemas.openxmlformats.org/officeDocument/2006/relationships/image" Target="../media/image53.wmf"/><Relationship Id="rId4" Type="http://schemas.openxmlformats.org/officeDocument/2006/relationships/image" Target="../media/image58.jpg"/><Relationship Id="rId9" Type="http://schemas.openxmlformats.org/officeDocument/2006/relationships/oleObject" Target="../embeddings/oleObject38.bin"/><Relationship Id="rId14" Type="http://schemas.openxmlformats.org/officeDocument/2006/relationships/image" Target="../media/image55.wm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45.bin"/><Relationship Id="rId13" Type="http://schemas.openxmlformats.org/officeDocument/2006/relationships/image" Target="../media/image62.wmf"/><Relationship Id="rId3" Type="http://schemas.openxmlformats.org/officeDocument/2006/relationships/oleObject" Target="../embeddings/oleObject43.bin"/><Relationship Id="rId7" Type="http://schemas.openxmlformats.org/officeDocument/2006/relationships/image" Target="../media/image59.wmf"/><Relationship Id="rId12" Type="http://schemas.openxmlformats.org/officeDocument/2006/relationships/oleObject" Target="../embeddings/oleObject47.bin"/><Relationship Id="rId2" Type="http://schemas.openxmlformats.org/officeDocument/2006/relationships/slideLayout" Target="../slideLayouts/slideLayout8.xml"/><Relationship Id="rId1" Type="http://schemas.openxmlformats.org/officeDocument/2006/relationships/vmlDrawing" Target="../drawings/vmlDrawing14.vml"/><Relationship Id="rId6" Type="http://schemas.openxmlformats.org/officeDocument/2006/relationships/oleObject" Target="../embeddings/oleObject44.bin"/><Relationship Id="rId11" Type="http://schemas.openxmlformats.org/officeDocument/2006/relationships/image" Target="../media/image61.wmf"/><Relationship Id="rId5" Type="http://schemas.openxmlformats.org/officeDocument/2006/relationships/image" Target="../media/image63.jpg"/><Relationship Id="rId10" Type="http://schemas.openxmlformats.org/officeDocument/2006/relationships/oleObject" Target="../embeddings/oleObject46.bin"/><Relationship Id="rId4" Type="http://schemas.openxmlformats.org/officeDocument/2006/relationships/image" Target="../media/image44.wmf"/><Relationship Id="rId9" Type="http://schemas.openxmlformats.org/officeDocument/2006/relationships/image" Target="../media/image60.wmf"/></Relationships>
</file>

<file path=ppt/slides/_rels/slide2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6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0304" y="215371"/>
            <a:ext cx="8239583" cy="590349"/>
          </a:xfrm>
        </p:spPr>
        <p:txBody>
          <a:bodyPr wrap="square" lIns="0" tIns="18000" rIns="0" bIns="18000" anchor="ctr">
            <a:spAutoFit/>
          </a:bodyPr>
          <a:lstStyle/>
          <a:p>
            <a:r>
              <a:rPr lang="en-US" noProof="0" dirty="0"/>
              <a:t>Electric Circuits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0305" y="1106770"/>
            <a:ext cx="8240620" cy="344128"/>
          </a:xfrm>
        </p:spPr>
        <p:txBody>
          <a:bodyPr wrap="square" lIns="0" tIns="18000" rIns="0" bIns="18000" anchor="ctr">
            <a:spAutoFit/>
          </a:bodyPr>
          <a:lstStyle/>
          <a:p>
            <a:r>
              <a:rPr lang="en-US" noProof="0" dirty="0"/>
              <a:t>Twelfth Edition, Global Edition</a:t>
            </a:r>
          </a:p>
        </p:txBody>
      </p:sp>
      <p:pic>
        <p:nvPicPr>
          <p:cNvPr id="9" name="Picture 8">
            <a:extLst>
              <a:ext uri="{FF2B5EF4-FFF2-40B4-BE49-F238E27FC236}">
                <a16:creationId xmlns:a16="http://schemas.microsoft.com/office/drawing/2014/main" id="{F22F27A8-4BB5-4090-8CFB-00778475C91C}"/>
              </a:ext>
            </a:extLst>
          </p:cNvPr>
          <p:cNvPicPr>
            <a:picLocks noChangeAspect="1"/>
          </p:cNvPicPr>
          <p:nvPr/>
        </p:nvPicPr>
        <p:blipFill>
          <a:blip r:embed="rId3"/>
          <a:stretch>
            <a:fillRect/>
          </a:stretch>
        </p:blipFill>
        <p:spPr>
          <a:xfrm>
            <a:off x="492662" y="1771328"/>
            <a:ext cx="3609247" cy="4511158"/>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9" y="2815153"/>
            <a:ext cx="3657600" cy="498016"/>
          </a:xfrm>
        </p:spPr>
        <p:txBody>
          <a:bodyPr lIns="0" tIns="18000" rIns="0" bIns="18000" anchor="ctr">
            <a:spAutoFit/>
          </a:bodyPr>
          <a:lstStyle/>
          <a:p>
            <a:pPr indent="-101600"/>
            <a:r>
              <a:rPr lang="en-US" noProof="0" dirty="0">
                <a:solidFill>
                  <a:schemeClr val="tx1"/>
                </a:solidFill>
              </a:rPr>
              <a:t>Chapter 9 – Part 2</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8" y="3519694"/>
            <a:ext cx="4072540" cy="713460"/>
          </a:xfrm>
        </p:spPr>
        <p:txBody>
          <a:bodyPr wrap="square" lIns="0" tIns="18000" rIns="0" bIns="18000" anchor="ctr">
            <a:spAutoFit/>
          </a:bodyPr>
          <a:lstStyle/>
          <a:p>
            <a:pPr marL="0"/>
            <a:r>
              <a:rPr lang="en-US" noProof="0" dirty="0"/>
              <a:t>Sinusoidal Steady-State Analysis</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04072"/>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570673" y="6455210"/>
            <a:ext cx="6099216" cy="221018"/>
          </a:xfrm>
        </p:spPr>
        <p:txBody>
          <a:bodyPr wrap="square" lIns="0" tIns="18000" rIns="0" bIns="18000" anchor="ctr">
            <a:spAutoFit/>
          </a:bodyPr>
          <a:lstStyle/>
          <a:p>
            <a:pPr algn="r"/>
            <a:r>
              <a:rPr lang="en-US" sz="1200" noProof="0" dirty="0">
                <a:latin typeface="Verdana" panose="020B0604030504040204" pitchFamily="34" charset="0"/>
                <a:ea typeface="Verdana" panose="020B0604030504040204" pitchFamily="34" charset="0"/>
                <a:cs typeface="Verdana" panose="020B0604030504040204" pitchFamily="34" charset="0"/>
              </a:rPr>
              <a:t>© 2024 Pearson Education Ltd.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06889"/>
            <a:ext cx="8229600" cy="1144347"/>
          </a:xfrm>
        </p:spPr>
        <p:txBody>
          <a:bodyPr anchor="ctr"/>
          <a:lstStyle/>
          <a:p>
            <a:r>
              <a:rPr lang="en-US" noProof="0" dirty="0"/>
              <a:t>Chapter 9 – Sinusoidal Steady-State Analysis </a:t>
            </a:r>
            <a:r>
              <a:rPr lang="en-US" sz="2800" noProof="0" dirty="0"/>
              <a:t>(1 of 17)</a:t>
            </a:r>
          </a:p>
        </p:txBody>
      </p:sp>
      <p:pic>
        <p:nvPicPr>
          <p:cNvPr id="11" name="Picture 10" descr="A flow chart shows an arrow from circuit in the time domain pointing to the right to circuit in the phasor domain. This arrow is labeled “P.” An arrow from circuit in the phasor domain points downward to solution in the phasor domain. This arrow is labeled “easy-algebra” with an exclamatory mark at the end. An arrow from solution in the phasor diagram points to the left to solution in the time domain and is labeled “P inverse.” An arrow from circuit in the time domain points downward to solution in the time domain, and is labeled “Hard-calculus” with an exclamatory mark at the end.">
            <a:extLst>
              <a:ext uri="{FF2B5EF4-FFF2-40B4-BE49-F238E27FC236}">
                <a16:creationId xmlns:a16="http://schemas.microsoft.com/office/drawing/2014/main" id="{DE8E5EA5-0CC0-97A5-7FE0-18A9A362E2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0321" y="1775418"/>
            <a:ext cx="6923359" cy="42753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17606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05362"/>
            <a:ext cx="8229600" cy="1144347"/>
          </a:xfrm>
        </p:spPr>
        <p:txBody>
          <a:bodyPr anchor="ctr"/>
          <a:lstStyle/>
          <a:p>
            <a:r>
              <a:rPr lang="en-US" noProof="0" dirty="0"/>
              <a:t>Chapter 9 – Sinusoidal Steady-State Analysis </a:t>
            </a:r>
            <a:r>
              <a:rPr lang="en-US" sz="2800" noProof="0" dirty="0"/>
              <a:t>(2 of 17)</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659261"/>
            <a:ext cx="8229600" cy="405683"/>
          </a:xfrm>
        </p:spPr>
        <p:txBody>
          <a:bodyPr wrap="square" lIns="0" tIns="18000" rIns="0" bIns="18000" anchor="ctr">
            <a:spAutoFit/>
          </a:bodyPr>
          <a:lstStyle/>
          <a:p>
            <a:pPr marL="0" indent="0">
              <a:spcBef>
                <a:spcPts val="600"/>
              </a:spcBef>
              <a:buNone/>
            </a:pPr>
            <a:r>
              <a:rPr lang="en-US" sz="2400" noProof="0" dirty="0"/>
              <a:t>Steps in </a:t>
            </a:r>
            <a:r>
              <a:rPr lang="en-US" sz="2400" spc="-300" noProof="0" dirty="0"/>
              <a:t>A C S </a:t>
            </a:r>
            <a:r>
              <a:rPr lang="en-US" sz="2400" noProof="0" dirty="0" err="1"/>
              <a:t>S</a:t>
            </a:r>
            <a:r>
              <a:rPr lang="en-US" sz="2400" noProof="0" dirty="0"/>
              <a:t> Analysis:</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2165897"/>
            <a:ext cx="8229600" cy="3745059"/>
          </a:xfrm>
        </p:spPr>
        <p:txBody>
          <a:bodyPr wrap="square" lIns="0" tIns="18000" rIns="0" bIns="18000" anchor="ctr">
            <a:spAutoFit/>
          </a:bodyPr>
          <a:lstStyle/>
          <a:p>
            <a:pPr marL="457200" indent="-457200">
              <a:spcBef>
                <a:spcPts val="600"/>
              </a:spcBef>
              <a:buFont typeface="+mj-lt"/>
              <a:buAutoNum type="arabicPeriod"/>
            </a:pPr>
            <a:r>
              <a:rPr lang="en-US" sz="2400" noProof="0" dirty="0"/>
              <a:t>Redraw the circuit (the phasor transform does not change the components or their connections).</a:t>
            </a:r>
          </a:p>
          <a:p>
            <a:pPr marL="457200" indent="-457200">
              <a:spcBef>
                <a:spcPts val="600"/>
              </a:spcBef>
              <a:buFont typeface="+mj-lt"/>
              <a:buAutoNum type="arabicPeriod"/>
            </a:pPr>
            <a:r>
              <a:rPr lang="en-US" sz="2400" noProof="0" dirty="0"/>
              <a:t>Phasor transform all known v(t) and </a:t>
            </a:r>
            <a:r>
              <a:rPr lang="en-US" sz="2400" noProof="0" dirty="0" err="1"/>
              <a:t>i</a:t>
            </a:r>
            <a:r>
              <a:rPr lang="en-US" sz="2400" noProof="0" dirty="0"/>
              <a:t>(t).</a:t>
            </a:r>
          </a:p>
          <a:p>
            <a:pPr marL="457200" indent="-457200">
              <a:spcBef>
                <a:spcPts val="600"/>
              </a:spcBef>
              <a:buFont typeface="+mj-lt"/>
              <a:buAutoNum type="arabicPeriod"/>
            </a:pPr>
            <a:r>
              <a:rPr lang="en-US" sz="2400" noProof="0" dirty="0"/>
              <a:t>Represent unknown voltages and currents with </a:t>
            </a:r>
            <a:r>
              <a:rPr lang="en-US" sz="2400" i="1" noProof="0" dirty="0"/>
              <a:t>V</a:t>
            </a:r>
            <a:r>
              <a:rPr lang="en-US" sz="2400" noProof="0" dirty="0"/>
              <a:t> and </a:t>
            </a:r>
            <a:r>
              <a:rPr lang="en-US" sz="2400" i="1" noProof="0" dirty="0"/>
              <a:t>I</a:t>
            </a:r>
            <a:r>
              <a:rPr lang="en-US" sz="2400" noProof="0" dirty="0"/>
              <a:t>.</a:t>
            </a:r>
          </a:p>
          <a:p>
            <a:pPr marL="457200" indent="-457200">
              <a:spcBef>
                <a:spcPts val="600"/>
              </a:spcBef>
              <a:buFont typeface="+mj-lt"/>
              <a:buAutoNum type="arabicPeriod"/>
            </a:pPr>
            <a:r>
              <a:rPr lang="en-US" sz="2400" noProof="0" dirty="0"/>
              <a:t>Replace component values with impedance (Z) values.</a:t>
            </a:r>
          </a:p>
          <a:p>
            <a:pPr marL="457200" indent="-457200">
              <a:spcBef>
                <a:spcPts val="600"/>
              </a:spcBef>
              <a:buFont typeface="+mj-lt"/>
              <a:buAutoNum type="arabicPeriod"/>
            </a:pPr>
            <a:r>
              <a:rPr lang="en-US" sz="2400" noProof="0" dirty="0"/>
              <a:t>Use any circuit analysis method(s) to write equations and solve them with a calculator.</a:t>
            </a:r>
          </a:p>
          <a:p>
            <a:pPr marL="457200" indent="-457200">
              <a:spcBef>
                <a:spcPts val="600"/>
              </a:spcBef>
              <a:buFont typeface="+mj-lt"/>
              <a:buAutoNum type="arabicPeriod"/>
            </a:pPr>
            <a:r>
              <a:rPr lang="en-US" sz="2400" noProof="0" dirty="0"/>
              <a:t>Inverse-transform the result, which is a phasor, back to the time domain.</a:t>
            </a:r>
          </a:p>
        </p:txBody>
      </p:sp>
    </p:spTree>
    <p:extLst>
      <p:ext uri="{BB962C8B-B14F-4D97-AF65-F5344CB8AC3E}">
        <p14:creationId xmlns:p14="http://schemas.microsoft.com/office/powerpoint/2010/main" val="380213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06997"/>
            <a:ext cx="8229600" cy="1144347"/>
          </a:xfrm>
        </p:spPr>
        <p:txBody>
          <a:bodyPr/>
          <a:lstStyle/>
          <a:p>
            <a:r>
              <a:rPr lang="en-US" dirty="0"/>
              <a:t>Chapter 9 – Sinusoidal Steady-State Analysis </a:t>
            </a:r>
            <a:r>
              <a:rPr lang="en-US" sz="2800" dirty="0"/>
              <a:t>(3 of 17)</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1" y="1646229"/>
            <a:ext cx="1433782" cy="405683"/>
          </a:xfrm>
        </p:spPr>
        <p:txBody>
          <a:bodyPr wrap="square" lIns="0" tIns="18000" rIns="0" bIns="18000" anchor="ctr">
            <a:spAutoFit/>
          </a:bodyPr>
          <a:lstStyle/>
          <a:p>
            <a:pPr marL="0" indent="0">
              <a:spcBef>
                <a:spcPts val="600"/>
              </a:spcBef>
              <a:buNone/>
            </a:pPr>
            <a:r>
              <a:rPr lang="en-US" sz="2400" dirty="0"/>
              <a:t>Example:</a:t>
            </a:r>
          </a:p>
        </p:txBody>
      </p:sp>
      <p:graphicFrame>
        <p:nvGraphicFramePr>
          <p:cNvPr id="2" name="Object 1" descr="i subscript s Baseline (t) equals 8 cosine (200,000 t) Ampere.&#10;">
            <a:extLst>
              <a:ext uri="{FF2B5EF4-FFF2-40B4-BE49-F238E27FC236}">
                <a16:creationId xmlns:a16="http://schemas.microsoft.com/office/drawing/2014/main" id="{0B1C0564-FCD9-36AE-D61C-1F67A2C53511}"/>
              </a:ext>
            </a:extLst>
          </p:cNvPr>
          <p:cNvGraphicFramePr>
            <a:graphicFrameLocks noChangeAspect="1"/>
          </p:cNvGraphicFramePr>
          <p:nvPr>
            <p:extLst>
              <p:ext uri="{D42A27DB-BD31-4B8C-83A1-F6EECF244321}">
                <p14:modId xmlns:p14="http://schemas.microsoft.com/office/powerpoint/2010/main" val="419088434"/>
              </p:ext>
            </p:extLst>
          </p:nvPr>
        </p:nvGraphicFramePr>
        <p:xfrm>
          <a:off x="425450" y="2181225"/>
          <a:ext cx="3303588" cy="454025"/>
        </p:xfrm>
        <a:graphic>
          <a:graphicData uri="http://schemas.openxmlformats.org/presentationml/2006/ole">
            <mc:AlternateContent xmlns:mc="http://schemas.openxmlformats.org/markup-compatibility/2006">
              <mc:Choice xmlns:v="urn:schemas-microsoft-com:vml" Requires="v">
                <p:oleObj spid="_x0000_s1026" name="Equation" r:id="rId3" imgW="1663560" imgH="228600" progId="Equation.DSMT4">
                  <p:embed/>
                </p:oleObj>
              </mc:Choice>
              <mc:Fallback>
                <p:oleObj name="Equation" r:id="rId3" imgW="1663560" imgH="228600" progId="Equation.DSMT4">
                  <p:embed/>
                  <p:pic>
                    <p:nvPicPr>
                      <p:cNvPr id="5" name="Object 4">
                        <a:extLst>
                          <a:ext uri="{FF2B5EF4-FFF2-40B4-BE49-F238E27FC236}">
                            <a16:creationId xmlns:a16="http://schemas.microsoft.com/office/drawing/2014/main" id="{B1CFF686-48EE-C00E-29DA-52F1D1FE5A76}"/>
                          </a:ext>
                        </a:extLst>
                      </p:cNvPr>
                      <p:cNvPicPr>
                        <a:picLocks noChangeAspect="1" noChangeArrowheads="1"/>
                      </p:cNvPicPr>
                      <p:nvPr/>
                    </p:nvPicPr>
                    <p:blipFill>
                      <a:blip r:embed="rId4"/>
                      <a:srcRect/>
                      <a:stretch>
                        <a:fillRect/>
                      </a:stretch>
                    </p:blipFill>
                    <p:spPr bwMode="auto">
                      <a:xfrm>
                        <a:off x="425450" y="2181225"/>
                        <a:ext cx="3303588" cy="454025"/>
                      </a:xfrm>
                      <a:prstGeom prst="rect">
                        <a:avLst/>
                      </a:prstGeom>
                      <a:noFill/>
                      <a:ln w="38100">
                        <a:noFill/>
                        <a:miter lim="800000"/>
                        <a:headEnd/>
                        <a:tailEnd/>
                      </a:ln>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2660342"/>
            <a:ext cx="1209675" cy="405683"/>
          </a:xfrm>
        </p:spPr>
        <p:txBody>
          <a:bodyPr wrap="square" lIns="0" tIns="18000" rIns="0" bIns="18000" anchor="ctr">
            <a:spAutoFit/>
          </a:bodyPr>
          <a:lstStyle/>
          <a:p>
            <a:pPr marL="0" indent="0">
              <a:spcBef>
                <a:spcPts val="600"/>
              </a:spcBef>
              <a:buNone/>
            </a:pPr>
            <a:r>
              <a:rPr lang="en-US" sz="2400" dirty="0"/>
              <a:t>Find </a:t>
            </a:r>
            <a:r>
              <a:rPr lang="en-US" sz="2400" i="1" dirty="0"/>
              <a:t>v(t),</a:t>
            </a:r>
          </a:p>
        </p:txBody>
      </p:sp>
      <p:graphicFrame>
        <p:nvGraphicFramePr>
          <p:cNvPr id="3" name="Object 2" descr="i subscript 1 Baseline (t),&#10;">
            <a:extLst>
              <a:ext uri="{FF2B5EF4-FFF2-40B4-BE49-F238E27FC236}">
                <a16:creationId xmlns:a16="http://schemas.microsoft.com/office/drawing/2014/main" id="{453560E2-C8BC-D9B2-8721-62567A7DD5CC}"/>
              </a:ext>
            </a:extLst>
          </p:cNvPr>
          <p:cNvGraphicFramePr>
            <a:graphicFrameLocks noChangeAspect="1"/>
          </p:cNvGraphicFramePr>
          <p:nvPr>
            <p:extLst>
              <p:ext uri="{D42A27DB-BD31-4B8C-83A1-F6EECF244321}">
                <p14:modId xmlns:p14="http://schemas.microsoft.com/office/powerpoint/2010/main" val="553615282"/>
              </p:ext>
            </p:extLst>
          </p:nvPr>
        </p:nvGraphicFramePr>
        <p:xfrm>
          <a:off x="1700212" y="2669124"/>
          <a:ext cx="606425" cy="454025"/>
        </p:xfrm>
        <a:graphic>
          <a:graphicData uri="http://schemas.openxmlformats.org/presentationml/2006/ole">
            <mc:AlternateContent xmlns:mc="http://schemas.openxmlformats.org/markup-compatibility/2006">
              <mc:Choice xmlns:v="urn:schemas-microsoft-com:vml" Requires="v">
                <p:oleObj spid="_x0000_s1027" name="Equation" r:id="rId5" imgW="304560" imgH="228600" progId="Equation.DSMT4">
                  <p:embed/>
                </p:oleObj>
              </mc:Choice>
              <mc:Fallback>
                <p:oleObj name="Equation" r:id="rId5" imgW="304560" imgH="228600" progId="Equation.DSMT4">
                  <p:embed/>
                  <p:pic>
                    <p:nvPicPr>
                      <p:cNvPr id="2" name="Object 1">
                        <a:extLst>
                          <a:ext uri="{FF2B5EF4-FFF2-40B4-BE49-F238E27FC236}">
                            <a16:creationId xmlns:a16="http://schemas.microsoft.com/office/drawing/2014/main" id="{0B1C0564-FCD9-36AE-D61C-1F67A2C53511}"/>
                          </a:ext>
                        </a:extLst>
                      </p:cNvPr>
                      <p:cNvPicPr>
                        <a:picLocks noChangeAspect="1" noChangeArrowheads="1"/>
                      </p:cNvPicPr>
                      <p:nvPr/>
                    </p:nvPicPr>
                    <p:blipFill>
                      <a:blip r:embed="rId6"/>
                      <a:srcRect/>
                      <a:stretch>
                        <a:fillRect/>
                      </a:stretch>
                    </p:blipFill>
                    <p:spPr bwMode="auto">
                      <a:xfrm>
                        <a:off x="1700212" y="2669124"/>
                        <a:ext cx="606425" cy="454025"/>
                      </a:xfrm>
                      <a:prstGeom prst="rect">
                        <a:avLst/>
                      </a:prstGeom>
                      <a:noFill/>
                      <a:ln w="38100">
                        <a:noFill/>
                        <a:miter lim="800000"/>
                        <a:headEnd/>
                        <a:tailEnd/>
                      </a:ln>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2347118" y="2660341"/>
            <a:ext cx="514350" cy="405683"/>
          </a:xfrm>
        </p:spPr>
        <p:txBody>
          <a:bodyPr wrap="square" lIns="0" tIns="18000" rIns="0" bIns="18000" anchor="ctr">
            <a:spAutoFit/>
          </a:bodyPr>
          <a:lstStyle/>
          <a:p>
            <a:pPr marL="0" indent="0">
              <a:spcBef>
                <a:spcPts val="600"/>
              </a:spcBef>
              <a:buNone/>
            </a:pPr>
            <a:r>
              <a:rPr lang="en-US" sz="2400" dirty="0"/>
              <a:t>and</a:t>
            </a:r>
          </a:p>
        </p:txBody>
      </p:sp>
      <p:graphicFrame>
        <p:nvGraphicFramePr>
          <p:cNvPr id="4" name="Object 3" descr="v subscript 2 Baseline (t).&#10;">
            <a:extLst>
              <a:ext uri="{FF2B5EF4-FFF2-40B4-BE49-F238E27FC236}">
                <a16:creationId xmlns:a16="http://schemas.microsoft.com/office/drawing/2014/main" id="{11A61F93-4198-8853-AA61-4BF78C9DF2E0}"/>
              </a:ext>
            </a:extLst>
          </p:cNvPr>
          <p:cNvGraphicFramePr>
            <a:graphicFrameLocks noChangeAspect="1"/>
          </p:cNvGraphicFramePr>
          <p:nvPr>
            <p:extLst>
              <p:ext uri="{D42A27DB-BD31-4B8C-83A1-F6EECF244321}">
                <p14:modId xmlns:p14="http://schemas.microsoft.com/office/powerpoint/2010/main" val="457402795"/>
              </p:ext>
            </p:extLst>
          </p:nvPr>
        </p:nvGraphicFramePr>
        <p:xfrm>
          <a:off x="2905917" y="2668580"/>
          <a:ext cx="657225" cy="454025"/>
        </p:xfrm>
        <a:graphic>
          <a:graphicData uri="http://schemas.openxmlformats.org/presentationml/2006/ole">
            <mc:AlternateContent xmlns:mc="http://schemas.openxmlformats.org/markup-compatibility/2006">
              <mc:Choice xmlns:v="urn:schemas-microsoft-com:vml" Requires="v">
                <p:oleObj spid="_x0000_s1028" name="Equation" r:id="rId7" imgW="330120" imgH="228600" progId="Equation.DSMT4">
                  <p:embed/>
                </p:oleObj>
              </mc:Choice>
              <mc:Fallback>
                <p:oleObj name="Equation" r:id="rId7" imgW="330120" imgH="228600" progId="Equation.DSMT4">
                  <p:embed/>
                  <p:pic>
                    <p:nvPicPr>
                      <p:cNvPr id="3" name="Object 2">
                        <a:extLst>
                          <a:ext uri="{FF2B5EF4-FFF2-40B4-BE49-F238E27FC236}">
                            <a16:creationId xmlns:a16="http://schemas.microsoft.com/office/drawing/2014/main" id="{453560E2-C8BC-D9B2-8721-62567A7DD5CC}"/>
                          </a:ext>
                        </a:extLst>
                      </p:cNvPr>
                      <p:cNvPicPr>
                        <a:picLocks noChangeAspect="1" noChangeArrowheads="1"/>
                      </p:cNvPicPr>
                      <p:nvPr/>
                    </p:nvPicPr>
                    <p:blipFill>
                      <a:blip r:embed="rId8"/>
                      <a:srcRect/>
                      <a:stretch>
                        <a:fillRect/>
                      </a:stretch>
                    </p:blipFill>
                    <p:spPr bwMode="auto">
                      <a:xfrm>
                        <a:off x="2905917" y="2668580"/>
                        <a:ext cx="657225" cy="454025"/>
                      </a:xfrm>
                      <a:prstGeom prst="rect">
                        <a:avLst/>
                      </a:prstGeom>
                      <a:noFill/>
                      <a:ln w="38100">
                        <a:noFill/>
                        <a:miter lim="800000"/>
                        <a:headEnd/>
                        <a:tailEnd/>
                      </a:ln>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3607591" y="2660340"/>
            <a:ext cx="778175" cy="405683"/>
          </a:xfrm>
        </p:spPr>
        <p:txBody>
          <a:bodyPr wrap="square" lIns="0" tIns="18000" rIns="0" bIns="18000" anchor="ctr">
            <a:spAutoFit/>
          </a:bodyPr>
          <a:lstStyle/>
          <a:p>
            <a:pPr marL="0" indent="0">
              <a:spcBef>
                <a:spcPts val="600"/>
              </a:spcBef>
              <a:buNone/>
            </a:pPr>
            <a:r>
              <a:rPr lang="en-US" sz="2400" dirty="0"/>
              <a:t>in the</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438151" y="3159390"/>
            <a:ext cx="1770212" cy="405683"/>
          </a:xfrm>
        </p:spPr>
        <p:txBody>
          <a:bodyPr wrap="square" lIns="0" tIns="18000" rIns="0" bIns="18000" anchor="ctr">
            <a:spAutoFit/>
          </a:bodyPr>
          <a:lstStyle/>
          <a:p>
            <a:pPr marL="0" indent="0">
              <a:spcBef>
                <a:spcPts val="600"/>
              </a:spcBef>
              <a:buNone/>
            </a:pPr>
            <a:r>
              <a:rPr lang="en-US" sz="2400" dirty="0"/>
              <a:t>steady-state.</a:t>
            </a:r>
          </a:p>
        </p:txBody>
      </p:sp>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438150" y="3742405"/>
            <a:ext cx="4245993" cy="2406231"/>
          </a:xfrm>
        </p:spPr>
        <p:txBody>
          <a:bodyPr wrap="square" lIns="0" tIns="18000" rIns="0" bIns="18000" anchor="ctr">
            <a:spAutoFit/>
          </a:bodyPr>
          <a:lstStyle/>
          <a:p>
            <a:pPr marL="457200" indent="-457200">
              <a:spcBef>
                <a:spcPts val="600"/>
              </a:spcBef>
              <a:buFont typeface="+mj-lt"/>
              <a:buAutoNum type="arabicPeriod"/>
            </a:pPr>
            <a:r>
              <a:rPr lang="en-US" sz="2400" dirty="0"/>
              <a:t>Redraw the circuit.</a:t>
            </a:r>
          </a:p>
          <a:p>
            <a:pPr marL="457200" indent="-457200">
              <a:spcBef>
                <a:spcPts val="600"/>
              </a:spcBef>
              <a:buFont typeface="+mj-lt"/>
              <a:buAutoNum type="arabicPeriod"/>
            </a:pPr>
            <a:r>
              <a:rPr lang="en-US" sz="2400" dirty="0"/>
              <a:t>Phasor transform all known voltages and currents.</a:t>
            </a:r>
          </a:p>
          <a:p>
            <a:pPr marL="457200" indent="-457200">
              <a:spcBef>
                <a:spcPts val="600"/>
              </a:spcBef>
              <a:buFont typeface="+mj-lt"/>
              <a:buAutoNum type="arabicPeriod"/>
            </a:pPr>
            <a:r>
              <a:rPr lang="en-US" sz="2400" dirty="0"/>
              <a:t>Represent unknown voltages and currents with phasor symbols</a:t>
            </a:r>
          </a:p>
        </p:txBody>
      </p:sp>
      <p:pic>
        <p:nvPicPr>
          <p:cNvPr id="42" name="Picture 2" descr="A circuit diagram shows current small i sub s from the positive terminal of a voltage source v that passes through terminals 1 and 2 to connect to a capacitor of 1 micro farads. This capacitor is again connected to the negative terminal of the voltage source through terminals 3 and 4. A resistor of 10 ohms is connected across terminals 1 and 4. Current small i sub 1 passes downward through this resistor. Another resistor of 6 ohms is connected to terminal 2 on one side and to the positive terminal of an inductance coil v sub 2 of 40 micro hertz on the other side. The negative terminal of the coil is connected to the terminal 3.">
            <a:extLst>
              <a:ext uri="{FF2B5EF4-FFF2-40B4-BE49-F238E27FC236}">
                <a16:creationId xmlns:a16="http://schemas.microsoft.com/office/drawing/2014/main" id="{B81A684E-1CF5-7EE9-2BF9-C11C4C26FD71}"/>
              </a:ext>
            </a:extLst>
          </p:cNvPr>
          <p:cNvPicPr>
            <a:picLocks noChangeAspect="1" noChangeArrowheads="1"/>
          </p:cNvPicPr>
          <p:nvPr/>
        </p:nvPicPr>
        <p:blipFill>
          <a:blip r:embed="rId9"/>
          <a:stretch>
            <a:fillRect/>
          </a:stretch>
        </p:blipFill>
        <p:spPr bwMode="auto">
          <a:xfrm>
            <a:off x="5004241" y="1787816"/>
            <a:ext cx="3519350" cy="1286830"/>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pic>
        <p:nvPicPr>
          <p:cNvPr id="43" name="Picture 5" descr="A circuit diagram shows current of 8 amperes at 0 degrees from the positive terminal of a voltage source cap V that passes through terminals 1 and 2 to connect to a capacitor. This capacitor is again connected to the negative terminal of the voltage source through terminals 3 and 4. A resistor is connected across terminals 1 and 4. Current cap I sub 1 passes downward through this resistor. Another resistor is connected to terminal 2 on one side and to the positive terminal of an inductance coil V sub 2 on the other side. The negative terminal of the coil is connected to the terminal 3.">
            <a:extLst>
              <a:ext uri="{FF2B5EF4-FFF2-40B4-BE49-F238E27FC236}">
                <a16:creationId xmlns:a16="http://schemas.microsoft.com/office/drawing/2014/main" id="{69971FBA-EE47-CEC7-57DF-5686CFB0E1C3}"/>
              </a:ext>
            </a:extLst>
          </p:cNvPr>
          <p:cNvPicPr>
            <a:picLocks noChangeAspect="1" noChangeArrowheads="1"/>
          </p:cNvPicPr>
          <p:nvPr/>
        </p:nvPicPr>
        <p:blipFill>
          <a:blip r:embed="rId10"/>
          <a:stretch>
            <a:fillRect/>
          </a:stretch>
        </p:blipFill>
        <p:spPr bwMode="auto">
          <a:xfrm>
            <a:off x="5076946" y="3886890"/>
            <a:ext cx="3357853" cy="1302917"/>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7481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03747"/>
            <a:ext cx="8229600" cy="1144347"/>
          </a:xfrm>
        </p:spPr>
        <p:txBody>
          <a:bodyPr anchor="ctr"/>
          <a:lstStyle/>
          <a:p>
            <a:r>
              <a:rPr lang="en-US" noProof="0" dirty="0"/>
              <a:t>Chapter 9 – Sinusoidal Steady-State Analysis </a:t>
            </a:r>
            <a:r>
              <a:rPr lang="en-US" sz="2800" noProof="0" dirty="0"/>
              <a:t>(4 of 17)</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1644128"/>
            <a:ext cx="8229600" cy="1144347"/>
          </a:xfrm>
        </p:spPr>
        <p:txBody>
          <a:bodyPr wrap="square" lIns="0" tIns="18000" rIns="0" bIns="18000" anchor="ctr">
            <a:spAutoFit/>
          </a:bodyPr>
          <a:lstStyle/>
          <a:p>
            <a:pPr marL="0" indent="0">
              <a:spcBef>
                <a:spcPts val="600"/>
              </a:spcBef>
              <a:buNone/>
            </a:pPr>
            <a:r>
              <a:rPr lang="en-US" sz="2400" noProof="0" dirty="0"/>
              <a:t>The next step is to calculate the impedance of all resistors, inductors, and capacitors. Actually, the impedance of the resistors doesn’t require calculation.</a:t>
            </a:r>
          </a:p>
        </p:txBody>
      </p:sp>
      <p:pic>
        <p:nvPicPr>
          <p:cNvPr id="5" name="Picture 1435" descr="Check mark">
            <a:extLst>
              <a:ext uri="{FF2B5EF4-FFF2-40B4-BE49-F238E27FC236}">
                <a16:creationId xmlns:a16="http://schemas.microsoft.com/office/drawing/2014/main" id="{A6F0595D-C089-2A44-434D-C1395A4F1D72}"/>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825327" y="2994261"/>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71600" y="2970343"/>
            <a:ext cx="1543050"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True</a:t>
            </a:r>
          </a:p>
        </p:txBody>
      </p:sp>
      <p:pic>
        <p:nvPicPr>
          <p:cNvPr id="25" name="Picture 1436" descr="Cross mark">
            <a:extLst>
              <a:ext uri="{FF2B5EF4-FFF2-40B4-BE49-F238E27FC236}">
                <a16:creationId xmlns:a16="http://schemas.microsoft.com/office/drawing/2014/main" id="{25B0560F-2F81-8F74-E789-197C88E31C54}"/>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bwMode="auto">
          <a:xfrm>
            <a:off x="838200" y="3491209"/>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71600" y="3475860"/>
            <a:ext cx="1333500"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False</a:t>
            </a:r>
          </a:p>
        </p:txBody>
      </p:sp>
    </p:spTree>
    <p:extLst>
      <p:ext uri="{BB962C8B-B14F-4D97-AF65-F5344CB8AC3E}">
        <p14:creationId xmlns:p14="http://schemas.microsoft.com/office/powerpoint/2010/main" val="1939997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04646"/>
            <a:ext cx="8229600" cy="1144347"/>
          </a:xfrm>
        </p:spPr>
        <p:txBody>
          <a:bodyPr anchor="ctr"/>
          <a:lstStyle/>
          <a:p>
            <a:r>
              <a:rPr lang="en-US" noProof="0" dirty="0"/>
              <a:t>Chapter 9 – Sinusoidal Steady-State Analysis </a:t>
            </a:r>
            <a:r>
              <a:rPr lang="en-US" sz="2800" noProof="0" dirty="0"/>
              <a:t>(5 of 17)</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1647819"/>
            <a:ext cx="8229600" cy="775015"/>
          </a:xfrm>
        </p:spPr>
        <p:txBody>
          <a:bodyPr wrap="square" lIns="0" tIns="18000" rIns="0" bIns="18000" anchor="ctr">
            <a:spAutoFit/>
          </a:bodyPr>
          <a:lstStyle/>
          <a:p>
            <a:pPr marL="0" indent="0">
              <a:spcBef>
                <a:spcPts val="600"/>
              </a:spcBef>
              <a:buNone/>
            </a:pPr>
            <a:r>
              <a:rPr lang="en-US" sz="2400" noProof="0" dirty="0"/>
              <a:t>The impedance of inductors and capacitors is calculated using</a:t>
            </a:r>
          </a:p>
        </p:txBody>
      </p:sp>
      <p:pic>
        <p:nvPicPr>
          <p:cNvPr id="3" name="Picture 1434" descr="Cross mark">
            <a:extLst>
              <a:ext uri="{FF2B5EF4-FFF2-40B4-BE49-F238E27FC236}">
                <a16:creationId xmlns:a16="http://schemas.microsoft.com/office/drawing/2014/main" id="{3B1922C9-FAD9-AF39-B8A0-E2D93CF08FAD}"/>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838200" y="2642586"/>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71600" y="2608393"/>
            <a:ext cx="3457575"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The source frequency</a:t>
            </a:r>
          </a:p>
        </p:txBody>
      </p:sp>
      <p:pic>
        <p:nvPicPr>
          <p:cNvPr id="4" name="Picture 1436" descr="Cross mark">
            <a:extLst>
              <a:ext uri="{FF2B5EF4-FFF2-40B4-BE49-F238E27FC236}">
                <a16:creationId xmlns:a16="http://schemas.microsoft.com/office/drawing/2014/main" id="{CA83259D-B683-1E33-62A7-2C07B38189D6}"/>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bwMode="auto">
          <a:xfrm>
            <a:off x="838200" y="3145301"/>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71599" y="3113910"/>
            <a:ext cx="3390901"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The component value</a:t>
            </a:r>
          </a:p>
        </p:txBody>
      </p:sp>
      <p:pic>
        <p:nvPicPr>
          <p:cNvPr id="5" name="Picture 1435" descr="Check mark">
            <a:extLst>
              <a:ext uri="{FF2B5EF4-FFF2-40B4-BE49-F238E27FC236}">
                <a16:creationId xmlns:a16="http://schemas.microsoft.com/office/drawing/2014/main" id="{A6F0595D-C089-2A44-434D-C1395A4F1D72}"/>
              </a:ext>
            </a:extLst>
          </p:cNvPr>
          <p:cNvPicPr>
            <a:picLocks noChangeAspect="1"/>
          </p:cNvPicPr>
          <p:nvPr>
            <p:custDataLst>
              <p:tags r:id="rId3"/>
            </p:custDataLst>
          </p:nvPr>
        </p:nvPicPr>
        <p:blipFill>
          <a:blip r:embed="rId6">
            <a:extLst>
              <a:ext uri="{28A0092B-C50C-407E-A947-70E740481C1C}">
                <a14:useLocalDpi xmlns:a14="http://schemas.microsoft.com/office/drawing/2010/main" val="0"/>
              </a:ext>
            </a:extLst>
          </a:blip>
          <a:srcRect/>
          <a:stretch>
            <a:fillRect/>
          </a:stretch>
        </p:blipFill>
        <p:spPr bwMode="auto">
          <a:xfrm>
            <a:off x="825327" y="3648016"/>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71600" y="3615080"/>
            <a:ext cx="2333625"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Both A and B</a:t>
            </a:r>
          </a:p>
        </p:txBody>
      </p:sp>
    </p:spTree>
    <p:extLst>
      <p:ext uri="{BB962C8B-B14F-4D97-AF65-F5344CB8AC3E}">
        <p14:creationId xmlns:p14="http://schemas.microsoft.com/office/powerpoint/2010/main" val="3684564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06997"/>
            <a:ext cx="8229600" cy="1144347"/>
          </a:xfrm>
        </p:spPr>
        <p:txBody>
          <a:bodyPr/>
          <a:lstStyle/>
          <a:p>
            <a:r>
              <a:rPr lang="en-US" dirty="0"/>
              <a:t>Chapter 9 – Sinusoidal Steady-State Analysis </a:t>
            </a:r>
            <a:r>
              <a:rPr lang="en-US" sz="2800" dirty="0"/>
              <a:t>(6 of 17)</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1" y="1646229"/>
            <a:ext cx="3838574" cy="405683"/>
          </a:xfrm>
        </p:spPr>
        <p:txBody>
          <a:bodyPr wrap="square" lIns="0" tIns="18000" rIns="0" bIns="18000" anchor="ctr">
            <a:spAutoFit/>
          </a:bodyPr>
          <a:lstStyle/>
          <a:p>
            <a:pPr marL="0" indent="0">
              <a:spcBef>
                <a:spcPts val="600"/>
              </a:spcBef>
              <a:buNone/>
            </a:pPr>
            <a:r>
              <a:rPr lang="en-US" sz="2400" dirty="0"/>
              <a:t>Example (continued):</a:t>
            </a:r>
          </a:p>
        </p:txBody>
      </p:sp>
      <p:graphicFrame>
        <p:nvGraphicFramePr>
          <p:cNvPr id="2" name="Object 1" descr="i subscript s Baseline (t) equals 8 cosine (200,000 t) Ampere.&#10;">
            <a:extLst>
              <a:ext uri="{FF2B5EF4-FFF2-40B4-BE49-F238E27FC236}">
                <a16:creationId xmlns:a16="http://schemas.microsoft.com/office/drawing/2014/main" id="{0B1C0564-FCD9-36AE-D61C-1F67A2C53511}"/>
              </a:ext>
            </a:extLst>
          </p:cNvPr>
          <p:cNvGraphicFramePr>
            <a:graphicFrameLocks noChangeAspect="1"/>
          </p:cNvGraphicFramePr>
          <p:nvPr>
            <p:extLst>
              <p:ext uri="{D42A27DB-BD31-4B8C-83A1-F6EECF244321}">
                <p14:modId xmlns:p14="http://schemas.microsoft.com/office/powerpoint/2010/main" val="1154245609"/>
              </p:ext>
            </p:extLst>
          </p:nvPr>
        </p:nvGraphicFramePr>
        <p:xfrm>
          <a:off x="425450" y="2181225"/>
          <a:ext cx="3303588" cy="454025"/>
        </p:xfrm>
        <a:graphic>
          <a:graphicData uri="http://schemas.openxmlformats.org/presentationml/2006/ole">
            <mc:AlternateContent xmlns:mc="http://schemas.openxmlformats.org/markup-compatibility/2006">
              <mc:Choice xmlns:v="urn:schemas-microsoft-com:vml" Requires="v">
                <p:oleObj spid="_x0000_s2050" name="Equation" r:id="rId3" imgW="1663560" imgH="228600" progId="Equation.DSMT4">
                  <p:embed/>
                </p:oleObj>
              </mc:Choice>
              <mc:Fallback>
                <p:oleObj name="Equation" r:id="rId3" imgW="1663560" imgH="228600" progId="Equation.DSMT4">
                  <p:embed/>
                  <p:pic>
                    <p:nvPicPr>
                      <p:cNvPr id="2" name="Object 1">
                        <a:extLst>
                          <a:ext uri="{FF2B5EF4-FFF2-40B4-BE49-F238E27FC236}">
                            <a16:creationId xmlns:a16="http://schemas.microsoft.com/office/drawing/2014/main" id="{0B1C0564-FCD9-36AE-D61C-1F67A2C53511}"/>
                          </a:ext>
                        </a:extLst>
                      </p:cNvPr>
                      <p:cNvPicPr>
                        <a:picLocks noChangeAspect="1" noChangeArrowheads="1"/>
                      </p:cNvPicPr>
                      <p:nvPr/>
                    </p:nvPicPr>
                    <p:blipFill>
                      <a:blip r:embed="rId4"/>
                      <a:srcRect/>
                      <a:stretch>
                        <a:fillRect/>
                      </a:stretch>
                    </p:blipFill>
                    <p:spPr bwMode="auto">
                      <a:xfrm>
                        <a:off x="425450" y="2181225"/>
                        <a:ext cx="3303588" cy="454025"/>
                      </a:xfrm>
                      <a:prstGeom prst="rect">
                        <a:avLst/>
                      </a:prstGeom>
                      <a:noFill/>
                      <a:ln w="38100">
                        <a:noFill/>
                        <a:miter lim="800000"/>
                        <a:headEnd/>
                        <a:tailEnd/>
                      </a:ln>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2660342"/>
            <a:ext cx="1209675" cy="405683"/>
          </a:xfrm>
        </p:spPr>
        <p:txBody>
          <a:bodyPr wrap="square" lIns="0" tIns="18000" rIns="0" bIns="18000" anchor="ctr">
            <a:spAutoFit/>
          </a:bodyPr>
          <a:lstStyle/>
          <a:p>
            <a:pPr marL="0" indent="0">
              <a:spcBef>
                <a:spcPts val="600"/>
              </a:spcBef>
              <a:buNone/>
            </a:pPr>
            <a:r>
              <a:rPr lang="en-US" sz="2400" dirty="0"/>
              <a:t>Find </a:t>
            </a:r>
            <a:r>
              <a:rPr lang="en-US" sz="2400" i="1" dirty="0"/>
              <a:t>v(t),</a:t>
            </a:r>
          </a:p>
        </p:txBody>
      </p:sp>
      <p:graphicFrame>
        <p:nvGraphicFramePr>
          <p:cNvPr id="3" name="Object 2" descr="i subscript 1 Baseline (t),&#10;">
            <a:extLst>
              <a:ext uri="{FF2B5EF4-FFF2-40B4-BE49-F238E27FC236}">
                <a16:creationId xmlns:a16="http://schemas.microsoft.com/office/drawing/2014/main" id="{453560E2-C8BC-D9B2-8721-62567A7DD5CC}"/>
              </a:ext>
            </a:extLst>
          </p:cNvPr>
          <p:cNvGraphicFramePr>
            <a:graphicFrameLocks noChangeAspect="1"/>
          </p:cNvGraphicFramePr>
          <p:nvPr>
            <p:extLst>
              <p:ext uri="{D42A27DB-BD31-4B8C-83A1-F6EECF244321}">
                <p14:modId xmlns:p14="http://schemas.microsoft.com/office/powerpoint/2010/main" val="2934981611"/>
              </p:ext>
            </p:extLst>
          </p:nvPr>
        </p:nvGraphicFramePr>
        <p:xfrm>
          <a:off x="1700212" y="2669124"/>
          <a:ext cx="606425" cy="454025"/>
        </p:xfrm>
        <a:graphic>
          <a:graphicData uri="http://schemas.openxmlformats.org/presentationml/2006/ole">
            <mc:AlternateContent xmlns:mc="http://schemas.openxmlformats.org/markup-compatibility/2006">
              <mc:Choice xmlns:v="urn:schemas-microsoft-com:vml" Requires="v">
                <p:oleObj spid="_x0000_s2051" name="Equation" r:id="rId5" imgW="304560" imgH="228600" progId="Equation.DSMT4">
                  <p:embed/>
                </p:oleObj>
              </mc:Choice>
              <mc:Fallback>
                <p:oleObj name="Equation" r:id="rId5" imgW="304560" imgH="228600" progId="Equation.DSMT4">
                  <p:embed/>
                  <p:pic>
                    <p:nvPicPr>
                      <p:cNvPr id="3" name="Object 2">
                        <a:extLst>
                          <a:ext uri="{FF2B5EF4-FFF2-40B4-BE49-F238E27FC236}">
                            <a16:creationId xmlns:a16="http://schemas.microsoft.com/office/drawing/2014/main" id="{453560E2-C8BC-D9B2-8721-62567A7DD5CC}"/>
                          </a:ext>
                        </a:extLst>
                      </p:cNvPr>
                      <p:cNvPicPr>
                        <a:picLocks noChangeAspect="1" noChangeArrowheads="1"/>
                      </p:cNvPicPr>
                      <p:nvPr/>
                    </p:nvPicPr>
                    <p:blipFill>
                      <a:blip r:embed="rId6"/>
                      <a:srcRect/>
                      <a:stretch>
                        <a:fillRect/>
                      </a:stretch>
                    </p:blipFill>
                    <p:spPr bwMode="auto">
                      <a:xfrm>
                        <a:off x="1700212" y="2669124"/>
                        <a:ext cx="606425" cy="454025"/>
                      </a:xfrm>
                      <a:prstGeom prst="rect">
                        <a:avLst/>
                      </a:prstGeom>
                      <a:noFill/>
                      <a:ln w="38100">
                        <a:noFill/>
                        <a:miter lim="800000"/>
                        <a:headEnd/>
                        <a:tailEnd/>
                      </a:ln>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2347118" y="2660341"/>
            <a:ext cx="514350" cy="405683"/>
          </a:xfrm>
        </p:spPr>
        <p:txBody>
          <a:bodyPr wrap="square" lIns="0" tIns="18000" rIns="0" bIns="18000" anchor="ctr">
            <a:spAutoFit/>
          </a:bodyPr>
          <a:lstStyle/>
          <a:p>
            <a:pPr marL="0" indent="0">
              <a:spcBef>
                <a:spcPts val="600"/>
              </a:spcBef>
              <a:buNone/>
            </a:pPr>
            <a:r>
              <a:rPr lang="en-US" sz="2400" dirty="0"/>
              <a:t>and</a:t>
            </a:r>
          </a:p>
        </p:txBody>
      </p:sp>
      <p:graphicFrame>
        <p:nvGraphicFramePr>
          <p:cNvPr id="4" name="Object 3" descr="v subscript 2 Baseline (t).&#10;">
            <a:extLst>
              <a:ext uri="{FF2B5EF4-FFF2-40B4-BE49-F238E27FC236}">
                <a16:creationId xmlns:a16="http://schemas.microsoft.com/office/drawing/2014/main" id="{11A61F93-4198-8853-AA61-4BF78C9DF2E0}"/>
              </a:ext>
            </a:extLst>
          </p:cNvPr>
          <p:cNvGraphicFramePr>
            <a:graphicFrameLocks noChangeAspect="1"/>
          </p:cNvGraphicFramePr>
          <p:nvPr>
            <p:extLst>
              <p:ext uri="{D42A27DB-BD31-4B8C-83A1-F6EECF244321}">
                <p14:modId xmlns:p14="http://schemas.microsoft.com/office/powerpoint/2010/main" val="2576205714"/>
              </p:ext>
            </p:extLst>
          </p:nvPr>
        </p:nvGraphicFramePr>
        <p:xfrm>
          <a:off x="2905917" y="2668580"/>
          <a:ext cx="657225" cy="454025"/>
        </p:xfrm>
        <a:graphic>
          <a:graphicData uri="http://schemas.openxmlformats.org/presentationml/2006/ole">
            <mc:AlternateContent xmlns:mc="http://schemas.openxmlformats.org/markup-compatibility/2006">
              <mc:Choice xmlns:v="urn:schemas-microsoft-com:vml" Requires="v">
                <p:oleObj spid="_x0000_s2052" name="Equation" r:id="rId7" imgW="330120" imgH="228600" progId="Equation.DSMT4">
                  <p:embed/>
                </p:oleObj>
              </mc:Choice>
              <mc:Fallback>
                <p:oleObj name="Equation" r:id="rId7" imgW="330120" imgH="228600" progId="Equation.DSMT4">
                  <p:embed/>
                  <p:pic>
                    <p:nvPicPr>
                      <p:cNvPr id="4" name="Object 3">
                        <a:extLst>
                          <a:ext uri="{FF2B5EF4-FFF2-40B4-BE49-F238E27FC236}">
                            <a16:creationId xmlns:a16="http://schemas.microsoft.com/office/drawing/2014/main" id="{11A61F93-4198-8853-AA61-4BF78C9DF2E0}"/>
                          </a:ext>
                        </a:extLst>
                      </p:cNvPr>
                      <p:cNvPicPr>
                        <a:picLocks noChangeAspect="1" noChangeArrowheads="1"/>
                      </p:cNvPicPr>
                      <p:nvPr/>
                    </p:nvPicPr>
                    <p:blipFill>
                      <a:blip r:embed="rId8"/>
                      <a:srcRect/>
                      <a:stretch>
                        <a:fillRect/>
                      </a:stretch>
                    </p:blipFill>
                    <p:spPr bwMode="auto">
                      <a:xfrm>
                        <a:off x="2905917" y="2668580"/>
                        <a:ext cx="657225" cy="454025"/>
                      </a:xfrm>
                      <a:prstGeom prst="rect">
                        <a:avLst/>
                      </a:prstGeom>
                      <a:noFill/>
                      <a:ln w="38100">
                        <a:noFill/>
                        <a:miter lim="800000"/>
                        <a:headEnd/>
                        <a:tailEnd/>
                      </a:ln>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3607591" y="2660340"/>
            <a:ext cx="778175" cy="405683"/>
          </a:xfrm>
        </p:spPr>
        <p:txBody>
          <a:bodyPr wrap="square" lIns="0" tIns="18000" rIns="0" bIns="18000" anchor="ctr">
            <a:spAutoFit/>
          </a:bodyPr>
          <a:lstStyle/>
          <a:p>
            <a:pPr marL="0" indent="0">
              <a:spcBef>
                <a:spcPts val="600"/>
              </a:spcBef>
              <a:buNone/>
            </a:pPr>
            <a:r>
              <a:rPr lang="en-US" sz="2400" dirty="0"/>
              <a:t>in the</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438151" y="3159390"/>
            <a:ext cx="1770212" cy="405683"/>
          </a:xfrm>
        </p:spPr>
        <p:txBody>
          <a:bodyPr wrap="square" lIns="0" tIns="18000" rIns="0" bIns="18000" anchor="ctr">
            <a:spAutoFit/>
          </a:bodyPr>
          <a:lstStyle/>
          <a:p>
            <a:pPr marL="0" indent="0">
              <a:spcBef>
                <a:spcPts val="600"/>
              </a:spcBef>
              <a:buNone/>
            </a:pPr>
            <a:r>
              <a:rPr lang="en-US" sz="2400" dirty="0"/>
              <a:t>steady-state.</a:t>
            </a:r>
          </a:p>
        </p:txBody>
      </p:sp>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438150" y="3726699"/>
            <a:ext cx="4245993" cy="1144347"/>
          </a:xfrm>
        </p:spPr>
        <p:txBody>
          <a:bodyPr wrap="square" lIns="0" tIns="18000" rIns="0" bIns="18000" anchor="ctr">
            <a:spAutoFit/>
          </a:bodyPr>
          <a:lstStyle/>
          <a:p>
            <a:pPr marL="457200" indent="-457200">
              <a:spcBef>
                <a:spcPts val="600"/>
              </a:spcBef>
              <a:buFont typeface="+mj-lt"/>
              <a:buAutoNum type="arabicPeriod" startAt="4"/>
            </a:pPr>
            <a:r>
              <a:rPr lang="en-US" sz="2400" dirty="0"/>
              <a:t>Calculate the impedances of all resistors, inductors, and capacitors.</a:t>
            </a:r>
          </a:p>
        </p:txBody>
      </p:sp>
      <p:pic>
        <p:nvPicPr>
          <p:cNvPr id="5" name="Picture 2" descr="A circuit diagram shows current small i sub s from the positive terminal of a voltage source v that passes through terminals 1 and 2 to connect to a capacitor of 1 micro farads. This capacitor is again connected to the negative terminal of the voltage source through terminals 3 and 4. A resistor of 10 ohms is connected across terminals 1 and 4. Current small i sub 1 passes downward through this resistor. Another resistor of 6 ohms is connected to terminal 2 on one side and to the positive terminal of an inductance coil v sub 2 of 40 micro hertz on the other side. The negative terminal of the coil is connected to the terminal 3.">
            <a:extLst>
              <a:ext uri="{FF2B5EF4-FFF2-40B4-BE49-F238E27FC236}">
                <a16:creationId xmlns:a16="http://schemas.microsoft.com/office/drawing/2014/main" id="{E481838D-51B2-81D8-B215-FAF9CDF1D961}"/>
              </a:ext>
            </a:extLst>
          </p:cNvPr>
          <p:cNvPicPr>
            <a:picLocks noChangeAspect="1" noChangeArrowheads="1"/>
          </p:cNvPicPr>
          <p:nvPr/>
        </p:nvPicPr>
        <p:blipFill>
          <a:blip r:embed="rId9"/>
          <a:stretch>
            <a:fillRect/>
          </a:stretch>
        </p:blipFill>
        <p:spPr bwMode="auto">
          <a:xfrm>
            <a:off x="4769232" y="1598792"/>
            <a:ext cx="3773220" cy="1379656"/>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graphicFrame>
        <p:nvGraphicFramePr>
          <p:cNvPr id="13" name="Object 3" descr="Z subscript L Baseline equals j omega L equals j (200,000) multiplied by (40 mu) equals j 8 Ohms.&#10;">
            <a:extLst>
              <a:ext uri="{FF2B5EF4-FFF2-40B4-BE49-F238E27FC236}">
                <a16:creationId xmlns:a16="http://schemas.microsoft.com/office/drawing/2014/main" id="{74CC676F-0412-F8C6-117E-8E79CDE28A1F}"/>
              </a:ext>
            </a:extLst>
          </p:cNvPr>
          <p:cNvGraphicFramePr>
            <a:graphicFrameLocks noChangeAspect="1"/>
          </p:cNvGraphicFramePr>
          <p:nvPr>
            <p:extLst>
              <p:ext uri="{D42A27DB-BD31-4B8C-83A1-F6EECF244321}">
                <p14:modId xmlns:p14="http://schemas.microsoft.com/office/powerpoint/2010/main" val="3271984629"/>
              </p:ext>
            </p:extLst>
          </p:nvPr>
        </p:nvGraphicFramePr>
        <p:xfrm>
          <a:off x="4805147" y="3598773"/>
          <a:ext cx="3853294" cy="318393"/>
        </p:xfrm>
        <a:graphic>
          <a:graphicData uri="http://schemas.openxmlformats.org/presentationml/2006/ole">
            <mc:AlternateContent xmlns:mc="http://schemas.openxmlformats.org/markup-compatibility/2006">
              <mc:Choice xmlns:v="urn:schemas-microsoft-com:vml" Requires="v">
                <p:oleObj spid="_x0000_s2053" name="Equation" r:id="rId10" imgW="4609800" imgH="380880" progId="Equation.DSMT4">
                  <p:embed/>
                </p:oleObj>
              </mc:Choice>
              <mc:Fallback>
                <p:oleObj name="Equation" r:id="rId10" imgW="4609800" imgH="380880" progId="Equation.DSMT4">
                  <p:embed/>
                  <p:pic>
                    <p:nvPicPr>
                      <p:cNvPr id="11" name="Object 3"/>
                      <p:cNvPicPr>
                        <a:picLocks noChangeAspect="1" noChangeArrowheads="1"/>
                      </p:cNvPicPr>
                      <p:nvPr/>
                    </p:nvPicPr>
                    <p:blipFill>
                      <a:blip r:embed="rId11"/>
                      <a:srcRect/>
                      <a:stretch>
                        <a:fillRect/>
                      </a:stretch>
                    </p:blipFill>
                    <p:spPr bwMode="auto">
                      <a:xfrm>
                        <a:off x="4805147" y="3598773"/>
                        <a:ext cx="3853294" cy="3183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3" descr="Z subscript C Baseline equals Start Fraction negative j over omega C End Fraction equals Start Fraction negative j over (200,000) multiplied by (1 mu) End Fraction equals negative j 5 Ohms.&#10;">
            <a:extLst>
              <a:ext uri="{FF2B5EF4-FFF2-40B4-BE49-F238E27FC236}">
                <a16:creationId xmlns:a16="http://schemas.microsoft.com/office/drawing/2014/main" id="{C844D628-C976-D2B1-E906-969F469E9CCC}"/>
              </a:ext>
            </a:extLst>
          </p:cNvPr>
          <p:cNvGraphicFramePr>
            <a:graphicFrameLocks noChangeAspect="1"/>
          </p:cNvGraphicFramePr>
          <p:nvPr>
            <p:extLst>
              <p:ext uri="{D42A27DB-BD31-4B8C-83A1-F6EECF244321}">
                <p14:modId xmlns:p14="http://schemas.microsoft.com/office/powerpoint/2010/main" val="3249677855"/>
              </p:ext>
            </p:extLst>
          </p:nvPr>
        </p:nvGraphicFramePr>
        <p:xfrm>
          <a:off x="4836905" y="4087056"/>
          <a:ext cx="3800289" cy="675335"/>
        </p:xfrm>
        <a:graphic>
          <a:graphicData uri="http://schemas.openxmlformats.org/presentationml/2006/ole">
            <mc:AlternateContent xmlns:mc="http://schemas.openxmlformats.org/markup-compatibility/2006">
              <mc:Choice xmlns:v="urn:schemas-microsoft-com:vml" Requires="v">
                <p:oleObj spid="_x0000_s2054" name="Equation" r:id="rId12" imgW="4431960" imgH="787320" progId="Equation.DSMT4">
                  <p:embed/>
                </p:oleObj>
              </mc:Choice>
              <mc:Fallback>
                <p:oleObj name="Equation" r:id="rId12" imgW="4431960" imgH="787320" progId="Equation.DSMT4">
                  <p:embed/>
                  <p:pic>
                    <p:nvPicPr>
                      <p:cNvPr id="13" name="Object 3">
                        <a:extLst>
                          <a:ext uri="{FF2B5EF4-FFF2-40B4-BE49-F238E27FC236}">
                            <a16:creationId xmlns:a16="http://schemas.microsoft.com/office/drawing/2014/main" id="{74CC676F-0412-F8C6-117E-8E79CDE28A1F}"/>
                          </a:ext>
                        </a:extLst>
                      </p:cNvPr>
                      <p:cNvPicPr>
                        <a:picLocks noChangeAspect="1" noChangeArrowheads="1"/>
                      </p:cNvPicPr>
                      <p:nvPr/>
                    </p:nvPicPr>
                    <p:blipFill>
                      <a:blip r:embed="rId13"/>
                      <a:srcRect/>
                      <a:stretch>
                        <a:fillRect/>
                      </a:stretch>
                    </p:blipFill>
                    <p:spPr bwMode="auto">
                      <a:xfrm>
                        <a:off x="4836905" y="4087056"/>
                        <a:ext cx="3800289" cy="6753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4" name="Picture 2" descr="A circuit diagram shows current of 8 amperes at 0 degrees from the positive terminal of a voltage source cap V that passes through terminals 1 and 2 to connect to a capacitor of negative j 5 ohms. This capacitor is again connected to the negative terminal of the voltage source through terminals 3 and 4. A resistor of 10 ohms is connected across terminals 1 and 4. Current cap I sub 1 passes downward through this resistor. Another resistor of 6 ohms is connected to terminal 2 on one side and to the positive terminal of an inductance coil V sub 2 of j 8 ohms on the other side. The negative terminal of the coil is connected to the terminal 3.">
            <a:extLst>
              <a:ext uri="{FF2B5EF4-FFF2-40B4-BE49-F238E27FC236}">
                <a16:creationId xmlns:a16="http://schemas.microsoft.com/office/drawing/2014/main" id="{99662F3B-7B15-F65A-6F84-5868483EAA86}"/>
              </a:ext>
            </a:extLst>
          </p:cNvPr>
          <p:cNvPicPr>
            <a:picLocks noChangeAspect="1" noChangeArrowheads="1"/>
          </p:cNvPicPr>
          <p:nvPr/>
        </p:nvPicPr>
        <p:blipFill>
          <a:blip r:embed="rId14"/>
          <a:stretch>
            <a:fillRect/>
          </a:stretch>
        </p:blipFill>
        <p:spPr bwMode="auto">
          <a:xfrm>
            <a:off x="2740346" y="4974131"/>
            <a:ext cx="3671841" cy="1397457"/>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7751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08414"/>
            <a:ext cx="8229600" cy="1144347"/>
          </a:xfrm>
        </p:spPr>
        <p:txBody>
          <a:bodyPr/>
          <a:lstStyle/>
          <a:p>
            <a:r>
              <a:rPr lang="en-US" dirty="0"/>
              <a:t>Chapter 9 – Sinusoidal Steady-State Analysis </a:t>
            </a:r>
            <a:r>
              <a:rPr lang="en-US" sz="2800" dirty="0"/>
              <a:t>(7 of 17)</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647193"/>
            <a:ext cx="4054475" cy="405683"/>
          </a:xfrm>
        </p:spPr>
        <p:txBody>
          <a:bodyPr lIns="0" tIns="18000" rIns="0" bIns="18000" anchor="ctr">
            <a:spAutoFit/>
          </a:bodyPr>
          <a:lstStyle/>
          <a:p>
            <a:pPr marL="0" indent="0">
              <a:spcBef>
                <a:spcPts val="600"/>
              </a:spcBef>
              <a:buNone/>
            </a:pPr>
            <a:r>
              <a:rPr lang="en-US" sz="2400" dirty="0"/>
              <a:t>Example (continued):</a:t>
            </a:r>
          </a:p>
        </p:txBody>
      </p:sp>
      <p:graphicFrame>
        <p:nvGraphicFramePr>
          <p:cNvPr id="39" name="Object 38" descr="i subscript s Baseline (t) equals 8 cosine (200,000 t) Ampere.&#10;">
            <a:extLst>
              <a:ext uri="{FF2B5EF4-FFF2-40B4-BE49-F238E27FC236}">
                <a16:creationId xmlns:a16="http://schemas.microsoft.com/office/drawing/2014/main" id="{79BC4023-B1D6-A677-1E85-04484805679B}"/>
              </a:ext>
            </a:extLst>
          </p:cNvPr>
          <p:cNvGraphicFramePr>
            <a:graphicFrameLocks noChangeAspect="1"/>
          </p:cNvGraphicFramePr>
          <p:nvPr>
            <p:extLst>
              <p:ext uri="{D42A27DB-BD31-4B8C-83A1-F6EECF244321}">
                <p14:modId xmlns:p14="http://schemas.microsoft.com/office/powerpoint/2010/main" val="772405593"/>
              </p:ext>
            </p:extLst>
          </p:nvPr>
        </p:nvGraphicFramePr>
        <p:xfrm>
          <a:off x="425450" y="2191863"/>
          <a:ext cx="3303588" cy="454025"/>
        </p:xfrm>
        <a:graphic>
          <a:graphicData uri="http://schemas.openxmlformats.org/presentationml/2006/ole">
            <mc:AlternateContent xmlns:mc="http://schemas.openxmlformats.org/markup-compatibility/2006">
              <mc:Choice xmlns:v="urn:schemas-microsoft-com:vml" Requires="v">
                <p:oleObj spid="_x0000_s3074" name="Equation" r:id="rId3" imgW="1663560" imgH="228600" progId="Equation.DSMT4">
                  <p:embed/>
                </p:oleObj>
              </mc:Choice>
              <mc:Fallback>
                <p:oleObj name="Equation" r:id="rId3" imgW="1663560" imgH="228600" progId="Equation.DSMT4">
                  <p:embed/>
                  <p:pic>
                    <p:nvPicPr>
                      <p:cNvPr id="2" name="Object 1">
                        <a:extLst>
                          <a:ext uri="{FF2B5EF4-FFF2-40B4-BE49-F238E27FC236}">
                            <a16:creationId xmlns:a16="http://schemas.microsoft.com/office/drawing/2014/main" id="{0B1C0564-FCD9-36AE-D61C-1F67A2C53511}"/>
                          </a:ext>
                        </a:extLst>
                      </p:cNvPr>
                      <p:cNvPicPr>
                        <a:picLocks noChangeAspect="1" noChangeArrowheads="1"/>
                      </p:cNvPicPr>
                      <p:nvPr/>
                    </p:nvPicPr>
                    <p:blipFill>
                      <a:blip r:embed="rId4"/>
                      <a:srcRect/>
                      <a:stretch>
                        <a:fillRect/>
                      </a:stretch>
                    </p:blipFill>
                    <p:spPr bwMode="auto">
                      <a:xfrm>
                        <a:off x="425450" y="2191863"/>
                        <a:ext cx="3303588" cy="454025"/>
                      </a:xfrm>
                      <a:prstGeom prst="rect">
                        <a:avLst/>
                      </a:prstGeom>
                      <a:noFill/>
                      <a:ln w="38100">
                        <a:noFill/>
                        <a:miter lim="800000"/>
                        <a:headEnd/>
                        <a:tailEnd/>
                      </a:ln>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3761181" y="2177044"/>
            <a:ext cx="1216818" cy="405683"/>
          </a:xfrm>
        </p:spPr>
        <p:txBody>
          <a:bodyPr wrap="square" lIns="0" tIns="18000" rIns="0" bIns="18000" anchor="ctr">
            <a:spAutoFit/>
          </a:bodyPr>
          <a:lstStyle/>
          <a:p>
            <a:pPr marL="0" indent="0">
              <a:spcBef>
                <a:spcPts val="600"/>
              </a:spcBef>
              <a:buNone/>
            </a:pPr>
            <a:r>
              <a:rPr lang="en-US" sz="2400" dirty="0"/>
              <a:t>Find </a:t>
            </a:r>
            <a:r>
              <a:rPr lang="en-US" sz="2400" i="1" dirty="0"/>
              <a:t>v(t),</a:t>
            </a:r>
          </a:p>
        </p:txBody>
      </p:sp>
      <p:graphicFrame>
        <p:nvGraphicFramePr>
          <p:cNvPr id="40" name="Object 39" descr="i subscript 1 Baseline (t),&#10;">
            <a:extLst>
              <a:ext uri="{FF2B5EF4-FFF2-40B4-BE49-F238E27FC236}">
                <a16:creationId xmlns:a16="http://schemas.microsoft.com/office/drawing/2014/main" id="{4DA64872-ED77-C50C-B52B-BBFFEFBF8A3C}"/>
              </a:ext>
            </a:extLst>
          </p:cNvPr>
          <p:cNvGraphicFramePr>
            <a:graphicFrameLocks noChangeAspect="1"/>
          </p:cNvGraphicFramePr>
          <p:nvPr>
            <p:extLst>
              <p:ext uri="{D42A27DB-BD31-4B8C-83A1-F6EECF244321}">
                <p14:modId xmlns:p14="http://schemas.microsoft.com/office/powerpoint/2010/main" val="2777986716"/>
              </p:ext>
            </p:extLst>
          </p:nvPr>
        </p:nvGraphicFramePr>
        <p:xfrm>
          <a:off x="430530" y="2711512"/>
          <a:ext cx="606425" cy="454025"/>
        </p:xfrm>
        <a:graphic>
          <a:graphicData uri="http://schemas.openxmlformats.org/presentationml/2006/ole">
            <mc:AlternateContent xmlns:mc="http://schemas.openxmlformats.org/markup-compatibility/2006">
              <mc:Choice xmlns:v="urn:schemas-microsoft-com:vml" Requires="v">
                <p:oleObj spid="_x0000_s3075" name="Equation" r:id="rId5" imgW="304560" imgH="228600" progId="Equation.DSMT4">
                  <p:embed/>
                </p:oleObj>
              </mc:Choice>
              <mc:Fallback>
                <p:oleObj name="Equation" r:id="rId5" imgW="304560" imgH="228600" progId="Equation.DSMT4">
                  <p:embed/>
                  <p:pic>
                    <p:nvPicPr>
                      <p:cNvPr id="3" name="Object 2">
                        <a:extLst>
                          <a:ext uri="{FF2B5EF4-FFF2-40B4-BE49-F238E27FC236}">
                            <a16:creationId xmlns:a16="http://schemas.microsoft.com/office/drawing/2014/main" id="{453560E2-C8BC-D9B2-8721-62567A7DD5CC}"/>
                          </a:ext>
                        </a:extLst>
                      </p:cNvPr>
                      <p:cNvPicPr>
                        <a:picLocks noChangeAspect="1" noChangeArrowheads="1"/>
                      </p:cNvPicPr>
                      <p:nvPr/>
                    </p:nvPicPr>
                    <p:blipFill>
                      <a:blip r:embed="rId6"/>
                      <a:srcRect/>
                      <a:stretch>
                        <a:fillRect/>
                      </a:stretch>
                    </p:blipFill>
                    <p:spPr bwMode="auto">
                      <a:xfrm>
                        <a:off x="430530" y="2711512"/>
                        <a:ext cx="606425" cy="454025"/>
                      </a:xfrm>
                      <a:prstGeom prst="rect">
                        <a:avLst/>
                      </a:prstGeom>
                      <a:noFill/>
                      <a:ln w="38100">
                        <a:noFill/>
                        <a:miter lim="800000"/>
                        <a:headEnd/>
                        <a:tailEnd/>
                      </a:ln>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082198" y="2700320"/>
            <a:ext cx="532607" cy="405683"/>
          </a:xfrm>
        </p:spPr>
        <p:txBody>
          <a:bodyPr wrap="square" lIns="0" tIns="18000" rIns="0" bIns="18000" anchor="ctr">
            <a:spAutoFit/>
          </a:bodyPr>
          <a:lstStyle/>
          <a:p>
            <a:pPr marL="0" indent="0">
              <a:spcBef>
                <a:spcPts val="600"/>
              </a:spcBef>
              <a:buNone/>
            </a:pPr>
            <a:r>
              <a:rPr lang="en-US" sz="2400" dirty="0"/>
              <a:t>and</a:t>
            </a:r>
          </a:p>
        </p:txBody>
      </p:sp>
      <p:graphicFrame>
        <p:nvGraphicFramePr>
          <p:cNvPr id="41" name="Object 40" descr="v subscript 2 Baseline (t).&#10;">
            <a:extLst>
              <a:ext uri="{FF2B5EF4-FFF2-40B4-BE49-F238E27FC236}">
                <a16:creationId xmlns:a16="http://schemas.microsoft.com/office/drawing/2014/main" id="{8381366A-3E75-FEDF-4942-543995EDBD50}"/>
              </a:ext>
            </a:extLst>
          </p:cNvPr>
          <p:cNvGraphicFramePr>
            <a:graphicFrameLocks noChangeAspect="1"/>
          </p:cNvGraphicFramePr>
          <p:nvPr>
            <p:extLst>
              <p:ext uri="{D42A27DB-BD31-4B8C-83A1-F6EECF244321}">
                <p14:modId xmlns:p14="http://schemas.microsoft.com/office/powerpoint/2010/main" val="1574989155"/>
              </p:ext>
            </p:extLst>
          </p:nvPr>
        </p:nvGraphicFramePr>
        <p:xfrm>
          <a:off x="1636235" y="2710968"/>
          <a:ext cx="657225" cy="454025"/>
        </p:xfrm>
        <a:graphic>
          <a:graphicData uri="http://schemas.openxmlformats.org/presentationml/2006/ole">
            <mc:AlternateContent xmlns:mc="http://schemas.openxmlformats.org/markup-compatibility/2006">
              <mc:Choice xmlns:v="urn:schemas-microsoft-com:vml" Requires="v">
                <p:oleObj spid="_x0000_s3076" name="Equation" r:id="rId7" imgW="330120" imgH="228600" progId="Equation.DSMT4">
                  <p:embed/>
                </p:oleObj>
              </mc:Choice>
              <mc:Fallback>
                <p:oleObj name="Equation" r:id="rId7" imgW="330120" imgH="228600" progId="Equation.DSMT4">
                  <p:embed/>
                  <p:pic>
                    <p:nvPicPr>
                      <p:cNvPr id="4" name="Object 3">
                        <a:extLst>
                          <a:ext uri="{FF2B5EF4-FFF2-40B4-BE49-F238E27FC236}">
                            <a16:creationId xmlns:a16="http://schemas.microsoft.com/office/drawing/2014/main" id="{11A61F93-4198-8853-AA61-4BF78C9DF2E0}"/>
                          </a:ext>
                        </a:extLst>
                      </p:cNvPr>
                      <p:cNvPicPr>
                        <a:picLocks noChangeAspect="1" noChangeArrowheads="1"/>
                      </p:cNvPicPr>
                      <p:nvPr/>
                    </p:nvPicPr>
                    <p:blipFill>
                      <a:blip r:embed="rId8"/>
                      <a:srcRect/>
                      <a:stretch>
                        <a:fillRect/>
                      </a:stretch>
                    </p:blipFill>
                    <p:spPr bwMode="auto">
                      <a:xfrm>
                        <a:off x="1636235" y="2710968"/>
                        <a:ext cx="657225" cy="454025"/>
                      </a:xfrm>
                      <a:prstGeom prst="rect">
                        <a:avLst/>
                      </a:prstGeom>
                      <a:noFill/>
                      <a:ln w="38100">
                        <a:noFill/>
                        <a:miter lim="800000"/>
                        <a:headEnd/>
                        <a:tailEnd/>
                      </a:ln>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2321240" y="2700955"/>
            <a:ext cx="2619060" cy="405683"/>
          </a:xfrm>
        </p:spPr>
        <p:txBody>
          <a:bodyPr wrap="square" lIns="0" tIns="18000" rIns="0" bIns="18000" anchor="ctr">
            <a:spAutoFit/>
          </a:bodyPr>
          <a:lstStyle/>
          <a:p>
            <a:pPr marL="0" indent="0">
              <a:spcBef>
                <a:spcPts val="600"/>
              </a:spcBef>
              <a:buNone/>
            </a:pPr>
            <a:r>
              <a:rPr lang="en-US" sz="2400" dirty="0"/>
              <a:t>in the steady-state.</a:t>
            </a:r>
          </a:p>
        </p:txBody>
      </p:sp>
      <p:pic>
        <p:nvPicPr>
          <p:cNvPr id="43" name="Picture 2" descr="A circuit diagram shows current small i sub s from the positive terminal of a voltage source v that passes through terminals 1 and 2 to connect to a capacitor of 1 micro farads. This capacitor is again connected to the negative terminal of the voltage source through terminals 3 and 4. A resistor of 10 ohms is connected across terminals 1 and 4. Current small i sub 1 passes downward through this resistor. Another resistor of 6 ohms is connected to terminal 2 on one side and to the positive terminal of an inductance coil v sub 2 of 40 micro hertz on the other side. The negative terminal of the coil is connected to the terminal 3.">
            <a:extLst>
              <a:ext uri="{FF2B5EF4-FFF2-40B4-BE49-F238E27FC236}">
                <a16:creationId xmlns:a16="http://schemas.microsoft.com/office/drawing/2014/main" id="{7D6DAA50-1D92-B0EE-78AA-C2223F58FEE6}"/>
              </a:ext>
            </a:extLst>
          </p:cNvPr>
          <p:cNvPicPr>
            <a:picLocks noChangeAspect="1" noChangeArrowheads="1"/>
          </p:cNvPicPr>
          <p:nvPr/>
        </p:nvPicPr>
        <p:blipFill>
          <a:blip r:embed="rId9"/>
          <a:stretch>
            <a:fillRect/>
          </a:stretch>
        </p:blipFill>
        <p:spPr bwMode="auto">
          <a:xfrm>
            <a:off x="5266053" y="1636894"/>
            <a:ext cx="3310207" cy="1210358"/>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438150" y="3288821"/>
            <a:ext cx="8232775" cy="405683"/>
          </a:xfrm>
        </p:spPr>
        <p:txBody>
          <a:bodyPr wrap="square" lIns="0" tIns="18000" rIns="0" bIns="18000" anchor="ctr">
            <a:spAutoFit/>
          </a:bodyPr>
          <a:lstStyle/>
          <a:p>
            <a:pPr marL="457200" indent="-457200">
              <a:spcBef>
                <a:spcPts val="600"/>
              </a:spcBef>
              <a:buFont typeface="+mj-lt"/>
              <a:buAutoNum type="arabicPeriod" startAt="5"/>
              <a:defRPr/>
            </a:pPr>
            <a:r>
              <a:rPr lang="en-US" sz="2400" dirty="0"/>
              <a:t>Use </a:t>
            </a:r>
            <a:r>
              <a:rPr lang="en-US" sz="2400" spc="-300" dirty="0"/>
              <a:t>D </a:t>
            </a:r>
            <a:r>
              <a:rPr lang="en-US" sz="2400" dirty="0"/>
              <a:t>C circuit analysis techniques to find the phasor </a:t>
            </a:r>
            <a:r>
              <a:rPr lang="en-US" sz="2400" b="1" i="1" dirty="0"/>
              <a:t>V</a:t>
            </a:r>
            <a:r>
              <a:rPr lang="en-US" sz="2400" dirty="0"/>
              <a:t>.</a:t>
            </a:r>
          </a:p>
        </p:txBody>
      </p:sp>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438150" y="3771900"/>
            <a:ext cx="8229600" cy="1144347"/>
          </a:xfrm>
        </p:spPr>
        <p:txBody>
          <a:bodyPr wrap="square" lIns="0" tIns="18000" rIns="0" bIns="18000" anchor="ctr">
            <a:spAutoFit/>
          </a:bodyPr>
          <a:lstStyle/>
          <a:p>
            <a:pPr marL="829818" lvl="1" indent="-342900"/>
            <a:r>
              <a:rPr lang="en-US" sz="2400" dirty="0"/>
              <a:t>In this problem, we’ll simplify the circuit by replacing all impedances by one equivalent impedance, and use Ohm’s law for phasors.</a:t>
            </a:r>
          </a:p>
        </p:txBody>
      </p:sp>
      <p:pic>
        <p:nvPicPr>
          <p:cNvPr id="42" name="Picture 2" descr="A circuit diagram shows current of 8 amperes at 0 degrees from the positive terminal of a voltage source cap V that passes through terminals 1 and 2 to connect to a capacitor of negative j 5 ohms. This capacitor is again connected to the negative terminal of the voltage source through terminals 3 and 4. A resistor of 10 ohms is connected across terminals 1 and 4. Current cap I sub 1 passes downward through this resistor. Another resistor of 6 ohms is connected to terminal 2 on one side and to the positive terminal of an inductance coil V sub 2 of j 8 ohms on the other side. The negative terminal of the coil is connected to the terminal 3.">
            <a:extLst>
              <a:ext uri="{FF2B5EF4-FFF2-40B4-BE49-F238E27FC236}">
                <a16:creationId xmlns:a16="http://schemas.microsoft.com/office/drawing/2014/main" id="{192979E3-A9C1-A123-2FB4-2F353F4EE35E}"/>
              </a:ext>
            </a:extLst>
          </p:cNvPr>
          <p:cNvPicPr>
            <a:picLocks noChangeAspect="1" noChangeArrowheads="1"/>
          </p:cNvPicPr>
          <p:nvPr/>
        </p:nvPicPr>
        <p:blipFill>
          <a:blip r:embed="rId10"/>
          <a:stretch>
            <a:fillRect/>
          </a:stretch>
        </p:blipFill>
        <p:spPr bwMode="auto">
          <a:xfrm>
            <a:off x="790084" y="5033525"/>
            <a:ext cx="3484166" cy="1272404"/>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graphicFrame>
        <p:nvGraphicFramePr>
          <p:cNvPr id="2" name="Object 2" descr="Z subscript e q Baseline equals 10 parallel with Open Parenthesis 6 plus j 8 Close Parenthesis parallel with minus j 5 equals Open Parenthesis 4 minus j 3 Close Parenthesis Ohms.&#10;">
            <a:extLst>
              <a:ext uri="{FF2B5EF4-FFF2-40B4-BE49-F238E27FC236}">
                <a16:creationId xmlns:a16="http://schemas.microsoft.com/office/drawing/2014/main" id="{8E53DF7B-87C1-65D2-1C00-7DD6E60164EB}"/>
              </a:ext>
            </a:extLst>
          </p:cNvPr>
          <p:cNvGraphicFramePr>
            <a:graphicFrameLocks noChangeAspect="1"/>
          </p:cNvGraphicFramePr>
          <p:nvPr>
            <p:extLst>
              <p:ext uri="{D42A27DB-BD31-4B8C-83A1-F6EECF244321}">
                <p14:modId xmlns:p14="http://schemas.microsoft.com/office/powerpoint/2010/main" val="2622502843"/>
              </p:ext>
            </p:extLst>
          </p:nvPr>
        </p:nvGraphicFramePr>
        <p:xfrm>
          <a:off x="4727350" y="5064576"/>
          <a:ext cx="3782368" cy="341336"/>
        </p:xfrm>
        <a:graphic>
          <a:graphicData uri="http://schemas.openxmlformats.org/presentationml/2006/ole">
            <mc:AlternateContent xmlns:mc="http://schemas.openxmlformats.org/markup-compatibility/2006">
              <mc:Choice xmlns:v="urn:schemas-microsoft-com:vml" Requires="v">
                <p:oleObj spid="_x0000_s3077" name="Equation" r:id="rId11" imgW="4635360" imgH="419040" progId="Equation.DSMT4">
                  <p:embed/>
                </p:oleObj>
              </mc:Choice>
              <mc:Fallback>
                <p:oleObj name="Equation" r:id="rId11" imgW="4635360" imgH="419040" progId="Equation.DSMT4">
                  <p:embed/>
                  <p:pic>
                    <p:nvPicPr>
                      <p:cNvPr id="44" name="Object 2">
                        <a:extLst>
                          <a:ext uri="{FF2B5EF4-FFF2-40B4-BE49-F238E27FC236}">
                            <a16:creationId xmlns:a16="http://schemas.microsoft.com/office/drawing/2014/main" id="{23AFCAF0-4BC5-7213-0482-D37855E3FC8C}"/>
                          </a:ext>
                        </a:extLst>
                      </p:cNvPr>
                      <p:cNvPicPr>
                        <a:picLocks noChangeAspect="1" noChangeArrowheads="1"/>
                      </p:cNvPicPr>
                      <p:nvPr/>
                    </p:nvPicPr>
                    <p:blipFill>
                      <a:blip r:embed="rId12"/>
                      <a:srcRect/>
                      <a:stretch>
                        <a:fillRect/>
                      </a:stretch>
                    </p:blipFill>
                    <p:spPr bwMode="auto">
                      <a:xfrm>
                        <a:off x="4727350" y="5064576"/>
                        <a:ext cx="3782368" cy="341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 name="Object 2" descr="V equals Z I equals Open Parenthesis 4 minus j 3 Close Parenthesis (8 angle 0 degrees) equals Open Parenthesis 32 minus j 25 Close Parenthesis Volt.&#10;">
            <a:extLst>
              <a:ext uri="{FF2B5EF4-FFF2-40B4-BE49-F238E27FC236}">
                <a16:creationId xmlns:a16="http://schemas.microsoft.com/office/drawing/2014/main" id="{23AFCAF0-4BC5-7213-0482-D37855E3FC8C}"/>
              </a:ext>
            </a:extLst>
          </p:cNvPr>
          <p:cNvGraphicFramePr>
            <a:graphicFrameLocks noChangeAspect="1"/>
          </p:cNvGraphicFramePr>
          <p:nvPr>
            <p:extLst>
              <p:ext uri="{D42A27DB-BD31-4B8C-83A1-F6EECF244321}">
                <p14:modId xmlns:p14="http://schemas.microsoft.com/office/powerpoint/2010/main" val="1457483741"/>
              </p:ext>
            </p:extLst>
          </p:nvPr>
        </p:nvGraphicFramePr>
        <p:xfrm>
          <a:off x="4813924" y="5552271"/>
          <a:ext cx="3654765" cy="254020"/>
        </p:xfrm>
        <a:graphic>
          <a:graphicData uri="http://schemas.openxmlformats.org/presentationml/2006/ole">
            <mc:AlternateContent xmlns:mc="http://schemas.openxmlformats.org/markup-compatibility/2006">
              <mc:Choice xmlns:v="urn:schemas-microsoft-com:vml" Requires="v">
                <p:oleObj spid="_x0000_s3078" name="Equation" r:id="rId13" imgW="4927320" imgH="342720" progId="Equation.DSMT4">
                  <p:embed/>
                </p:oleObj>
              </mc:Choice>
              <mc:Fallback>
                <p:oleObj name="Equation" r:id="rId13" imgW="4927320" imgH="342720" progId="Equation.DSMT4">
                  <p:embed/>
                  <p:pic>
                    <p:nvPicPr>
                      <p:cNvPr id="10" name="Object 2"/>
                      <p:cNvPicPr>
                        <a:picLocks noChangeAspect="1" noChangeArrowheads="1"/>
                      </p:cNvPicPr>
                      <p:nvPr/>
                    </p:nvPicPr>
                    <p:blipFill>
                      <a:blip r:embed="rId14"/>
                      <a:srcRect/>
                      <a:stretch>
                        <a:fillRect/>
                      </a:stretch>
                    </p:blipFill>
                    <p:spPr bwMode="auto">
                      <a:xfrm>
                        <a:off x="4813924" y="5552271"/>
                        <a:ext cx="3654765" cy="2540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373838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08414"/>
            <a:ext cx="8229600" cy="1144347"/>
          </a:xfrm>
        </p:spPr>
        <p:txBody>
          <a:bodyPr/>
          <a:lstStyle/>
          <a:p>
            <a:r>
              <a:rPr lang="en-US" dirty="0"/>
              <a:t>Chapter 9 – Sinusoidal Steady-State Analysis </a:t>
            </a:r>
            <a:r>
              <a:rPr lang="en-US" sz="2800" dirty="0"/>
              <a:t>(8 of 17)</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647193"/>
            <a:ext cx="4054475" cy="405683"/>
          </a:xfrm>
        </p:spPr>
        <p:txBody>
          <a:bodyPr lIns="0" tIns="18000" rIns="0" bIns="18000" anchor="ctr">
            <a:spAutoFit/>
          </a:bodyPr>
          <a:lstStyle/>
          <a:p>
            <a:pPr marL="0" indent="0">
              <a:spcBef>
                <a:spcPts val="600"/>
              </a:spcBef>
              <a:buNone/>
            </a:pPr>
            <a:r>
              <a:rPr lang="en-US" sz="2400" dirty="0"/>
              <a:t>Example (continued):</a:t>
            </a:r>
          </a:p>
        </p:txBody>
      </p:sp>
      <p:graphicFrame>
        <p:nvGraphicFramePr>
          <p:cNvPr id="39" name="Object 38" descr="i subscript s Baseline (t) equals 8 cosine (200,000 t) Ampere.&#10;">
            <a:extLst>
              <a:ext uri="{FF2B5EF4-FFF2-40B4-BE49-F238E27FC236}">
                <a16:creationId xmlns:a16="http://schemas.microsoft.com/office/drawing/2014/main" id="{79BC4023-B1D6-A677-1E85-04484805679B}"/>
              </a:ext>
            </a:extLst>
          </p:cNvPr>
          <p:cNvGraphicFramePr>
            <a:graphicFrameLocks noChangeAspect="1"/>
          </p:cNvGraphicFramePr>
          <p:nvPr>
            <p:extLst>
              <p:ext uri="{D42A27DB-BD31-4B8C-83A1-F6EECF244321}">
                <p14:modId xmlns:p14="http://schemas.microsoft.com/office/powerpoint/2010/main" val="3415252957"/>
              </p:ext>
            </p:extLst>
          </p:nvPr>
        </p:nvGraphicFramePr>
        <p:xfrm>
          <a:off x="425450" y="2191863"/>
          <a:ext cx="3303588" cy="454025"/>
        </p:xfrm>
        <a:graphic>
          <a:graphicData uri="http://schemas.openxmlformats.org/presentationml/2006/ole">
            <mc:AlternateContent xmlns:mc="http://schemas.openxmlformats.org/markup-compatibility/2006">
              <mc:Choice xmlns:v="urn:schemas-microsoft-com:vml" Requires="v">
                <p:oleObj spid="_x0000_s4098" name="Equation" r:id="rId3" imgW="1663560" imgH="228600" progId="Equation.DSMT4">
                  <p:embed/>
                </p:oleObj>
              </mc:Choice>
              <mc:Fallback>
                <p:oleObj name="Equation" r:id="rId3" imgW="1663560" imgH="228600" progId="Equation.DSMT4">
                  <p:embed/>
                  <p:pic>
                    <p:nvPicPr>
                      <p:cNvPr id="39" name="Object 38">
                        <a:extLst>
                          <a:ext uri="{FF2B5EF4-FFF2-40B4-BE49-F238E27FC236}">
                            <a16:creationId xmlns:a16="http://schemas.microsoft.com/office/drawing/2014/main" id="{79BC4023-B1D6-A677-1E85-04484805679B}"/>
                          </a:ext>
                        </a:extLst>
                      </p:cNvPr>
                      <p:cNvPicPr>
                        <a:picLocks noChangeAspect="1" noChangeArrowheads="1"/>
                      </p:cNvPicPr>
                      <p:nvPr/>
                    </p:nvPicPr>
                    <p:blipFill>
                      <a:blip r:embed="rId4"/>
                      <a:srcRect/>
                      <a:stretch>
                        <a:fillRect/>
                      </a:stretch>
                    </p:blipFill>
                    <p:spPr bwMode="auto">
                      <a:xfrm>
                        <a:off x="425450" y="2191863"/>
                        <a:ext cx="3303588" cy="454025"/>
                      </a:xfrm>
                      <a:prstGeom prst="rect">
                        <a:avLst/>
                      </a:prstGeom>
                      <a:noFill/>
                      <a:ln w="38100">
                        <a:noFill/>
                        <a:miter lim="800000"/>
                        <a:headEnd/>
                        <a:tailEnd/>
                      </a:ln>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3761181" y="2177044"/>
            <a:ext cx="1216818" cy="405683"/>
          </a:xfrm>
        </p:spPr>
        <p:txBody>
          <a:bodyPr wrap="square" lIns="0" tIns="18000" rIns="0" bIns="18000" anchor="ctr">
            <a:spAutoFit/>
          </a:bodyPr>
          <a:lstStyle/>
          <a:p>
            <a:pPr marL="0" indent="0">
              <a:spcBef>
                <a:spcPts val="600"/>
              </a:spcBef>
              <a:buNone/>
            </a:pPr>
            <a:r>
              <a:rPr lang="en-US" sz="2400" dirty="0"/>
              <a:t>Find </a:t>
            </a:r>
            <a:r>
              <a:rPr lang="en-US" sz="2400" i="1" dirty="0"/>
              <a:t>v(t),</a:t>
            </a:r>
          </a:p>
        </p:txBody>
      </p:sp>
      <p:graphicFrame>
        <p:nvGraphicFramePr>
          <p:cNvPr id="40" name="Object 39" descr="i subscript 1 Baseline (t),&#10;">
            <a:extLst>
              <a:ext uri="{FF2B5EF4-FFF2-40B4-BE49-F238E27FC236}">
                <a16:creationId xmlns:a16="http://schemas.microsoft.com/office/drawing/2014/main" id="{4DA64872-ED77-C50C-B52B-BBFFEFBF8A3C}"/>
              </a:ext>
            </a:extLst>
          </p:cNvPr>
          <p:cNvGraphicFramePr>
            <a:graphicFrameLocks noChangeAspect="1"/>
          </p:cNvGraphicFramePr>
          <p:nvPr>
            <p:extLst>
              <p:ext uri="{D42A27DB-BD31-4B8C-83A1-F6EECF244321}">
                <p14:modId xmlns:p14="http://schemas.microsoft.com/office/powerpoint/2010/main" val="2343725290"/>
              </p:ext>
            </p:extLst>
          </p:nvPr>
        </p:nvGraphicFramePr>
        <p:xfrm>
          <a:off x="430530" y="2711512"/>
          <a:ext cx="606425" cy="454025"/>
        </p:xfrm>
        <a:graphic>
          <a:graphicData uri="http://schemas.openxmlformats.org/presentationml/2006/ole">
            <mc:AlternateContent xmlns:mc="http://schemas.openxmlformats.org/markup-compatibility/2006">
              <mc:Choice xmlns:v="urn:schemas-microsoft-com:vml" Requires="v">
                <p:oleObj spid="_x0000_s4099" name="Equation" r:id="rId5" imgW="304560" imgH="228600" progId="Equation.DSMT4">
                  <p:embed/>
                </p:oleObj>
              </mc:Choice>
              <mc:Fallback>
                <p:oleObj name="Equation" r:id="rId5" imgW="304560" imgH="228600" progId="Equation.DSMT4">
                  <p:embed/>
                  <p:pic>
                    <p:nvPicPr>
                      <p:cNvPr id="40" name="Object 39">
                        <a:extLst>
                          <a:ext uri="{FF2B5EF4-FFF2-40B4-BE49-F238E27FC236}">
                            <a16:creationId xmlns:a16="http://schemas.microsoft.com/office/drawing/2014/main" id="{4DA64872-ED77-C50C-B52B-BBFFEFBF8A3C}"/>
                          </a:ext>
                        </a:extLst>
                      </p:cNvPr>
                      <p:cNvPicPr>
                        <a:picLocks noChangeAspect="1" noChangeArrowheads="1"/>
                      </p:cNvPicPr>
                      <p:nvPr/>
                    </p:nvPicPr>
                    <p:blipFill>
                      <a:blip r:embed="rId6"/>
                      <a:srcRect/>
                      <a:stretch>
                        <a:fillRect/>
                      </a:stretch>
                    </p:blipFill>
                    <p:spPr bwMode="auto">
                      <a:xfrm>
                        <a:off x="430530" y="2711512"/>
                        <a:ext cx="606425" cy="454025"/>
                      </a:xfrm>
                      <a:prstGeom prst="rect">
                        <a:avLst/>
                      </a:prstGeom>
                      <a:noFill/>
                      <a:ln w="38100">
                        <a:noFill/>
                        <a:miter lim="800000"/>
                        <a:headEnd/>
                        <a:tailEnd/>
                      </a:ln>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082198" y="2700320"/>
            <a:ext cx="532607" cy="405683"/>
          </a:xfrm>
        </p:spPr>
        <p:txBody>
          <a:bodyPr wrap="square" lIns="0" tIns="18000" rIns="0" bIns="18000" anchor="ctr">
            <a:spAutoFit/>
          </a:bodyPr>
          <a:lstStyle/>
          <a:p>
            <a:pPr marL="0" indent="0">
              <a:spcBef>
                <a:spcPts val="600"/>
              </a:spcBef>
              <a:buNone/>
            </a:pPr>
            <a:r>
              <a:rPr lang="en-US" sz="2400" dirty="0"/>
              <a:t>and</a:t>
            </a:r>
          </a:p>
        </p:txBody>
      </p:sp>
      <p:graphicFrame>
        <p:nvGraphicFramePr>
          <p:cNvPr id="41" name="Object 40" descr="v subscript 2 Baseline (t).&#10;">
            <a:extLst>
              <a:ext uri="{FF2B5EF4-FFF2-40B4-BE49-F238E27FC236}">
                <a16:creationId xmlns:a16="http://schemas.microsoft.com/office/drawing/2014/main" id="{8381366A-3E75-FEDF-4942-543995EDBD50}"/>
              </a:ext>
            </a:extLst>
          </p:cNvPr>
          <p:cNvGraphicFramePr>
            <a:graphicFrameLocks noChangeAspect="1"/>
          </p:cNvGraphicFramePr>
          <p:nvPr>
            <p:extLst>
              <p:ext uri="{D42A27DB-BD31-4B8C-83A1-F6EECF244321}">
                <p14:modId xmlns:p14="http://schemas.microsoft.com/office/powerpoint/2010/main" val="1411004920"/>
              </p:ext>
            </p:extLst>
          </p:nvPr>
        </p:nvGraphicFramePr>
        <p:xfrm>
          <a:off x="1636235" y="2710968"/>
          <a:ext cx="657225" cy="454025"/>
        </p:xfrm>
        <a:graphic>
          <a:graphicData uri="http://schemas.openxmlformats.org/presentationml/2006/ole">
            <mc:AlternateContent xmlns:mc="http://schemas.openxmlformats.org/markup-compatibility/2006">
              <mc:Choice xmlns:v="urn:schemas-microsoft-com:vml" Requires="v">
                <p:oleObj spid="_x0000_s4100" name="Equation" r:id="rId7" imgW="330120" imgH="228600" progId="Equation.DSMT4">
                  <p:embed/>
                </p:oleObj>
              </mc:Choice>
              <mc:Fallback>
                <p:oleObj name="Equation" r:id="rId7" imgW="330120" imgH="228600" progId="Equation.DSMT4">
                  <p:embed/>
                  <p:pic>
                    <p:nvPicPr>
                      <p:cNvPr id="41" name="Object 40">
                        <a:extLst>
                          <a:ext uri="{FF2B5EF4-FFF2-40B4-BE49-F238E27FC236}">
                            <a16:creationId xmlns:a16="http://schemas.microsoft.com/office/drawing/2014/main" id="{8381366A-3E75-FEDF-4942-543995EDBD50}"/>
                          </a:ext>
                        </a:extLst>
                      </p:cNvPr>
                      <p:cNvPicPr>
                        <a:picLocks noChangeAspect="1" noChangeArrowheads="1"/>
                      </p:cNvPicPr>
                      <p:nvPr/>
                    </p:nvPicPr>
                    <p:blipFill>
                      <a:blip r:embed="rId8"/>
                      <a:srcRect/>
                      <a:stretch>
                        <a:fillRect/>
                      </a:stretch>
                    </p:blipFill>
                    <p:spPr bwMode="auto">
                      <a:xfrm>
                        <a:off x="1636235" y="2710968"/>
                        <a:ext cx="657225" cy="454025"/>
                      </a:xfrm>
                      <a:prstGeom prst="rect">
                        <a:avLst/>
                      </a:prstGeom>
                      <a:noFill/>
                      <a:ln w="38100">
                        <a:noFill/>
                        <a:miter lim="800000"/>
                        <a:headEnd/>
                        <a:tailEnd/>
                      </a:ln>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2321240" y="2700955"/>
            <a:ext cx="2619060" cy="405683"/>
          </a:xfrm>
        </p:spPr>
        <p:txBody>
          <a:bodyPr wrap="square" lIns="0" tIns="18000" rIns="0" bIns="18000" anchor="ctr">
            <a:spAutoFit/>
          </a:bodyPr>
          <a:lstStyle/>
          <a:p>
            <a:pPr marL="0" indent="0">
              <a:spcBef>
                <a:spcPts val="600"/>
              </a:spcBef>
              <a:buNone/>
            </a:pPr>
            <a:r>
              <a:rPr lang="en-US" sz="2400" dirty="0"/>
              <a:t>in the steady-state.</a:t>
            </a:r>
          </a:p>
        </p:txBody>
      </p:sp>
      <p:pic>
        <p:nvPicPr>
          <p:cNvPr id="2" name="Picture 2" descr="A circuit diagram shows current small i sub s from the positive terminal of a voltage source v that passes through terminals 1 and 2 to connect to a capacitor of 1 micro farads. This capacitor is again connected to the negative terminal of the voltage source through terminals 3 and 4. A resistor of 10 ohms is connected across terminals 1 and 4. Current small i sub 1 passes downward through this resistor. Another resistor of 6 ohms is connected to terminal 2 on one side and to the positive terminal of an inductance coil v sub 2 of 40 micro hertz on the other side. The negative terminal of the coil is connected to the terminal 3.">
            <a:extLst>
              <a:ext uri="{FF2B5EF4-FFF2-40B4-BE49-F238E27FC236}">
                <a16:creationId xmlns:a16="http://schemas.microsoft.com/office/drawing/2014/main" id="{16770441-E907-E885-7FF2-299B599542EE}"/>
              </a:ext>
            </a:extLst>
          </p:cNvPr>
          <p:cNvPicPr>
            <a:picLocks noChangeAspect="1" noChangeArrowheads="1"/>
          </p:cNvPicPr>
          <p:nvPr/>
        </p:nvPicPr>
        <p:blipFill>
          <a:blip r:embed="rId9"/>
          <a:stretch>
            <a:fillRect/>
          </a:stretch>
        </p:blipFill>
        <p:spPr bwMode="auto">
          <a:xfrm>
            <a:off x="5132156" y="1692358"/>
            <a:ext cx="3464502" cy="1266775"/>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438150" y="3285130"/>
            <a:ext cx="8232775" cy="775015"/>
          </a:xfrm>
        </p:spPr>
        <p:txBody>
          <a:bodyPr wrap="square" lIns="0" tIns="18000" rIns="0" bIns="18000" anchor="ctr">
            <a:spAutoFit/>
          </a:bodyPr>
          <a:lstStyle/>
          <a:p>
            <a:pPr marL="457200" indent="-457200">
              <a:spcBef>
                <a:spcPts val="600"/>
              </a:spcBef>
              <a:buFont typeface="+mj-lt"/>
              <a:buAutoNum type="arabicPeriod" startAt="6"/>
              <a:defRPr/>
            </a:pPr>
            <a:r>
              <a:rPr lang="en-US" sz="2400" dirty="0"/>
              <a:t>Inverse phasor-transform the result to get back to the time domain.</a:t>
            </a:r>
          </a:p>
        </p:txBody>
      </p:sp>
      <p:pic>
        <p:nvPicPr>
          <p:cNvPr id="3" name="Picture 2" descr="A circuit diagram shows current of 8 amperes at 0 degrees from the positive terminal of a voltage source cap V that passes through terminals 1 and 2 to connect to a capacitor of negative j 5 ohms. This capacitor is again connected to the negative terminal of the voltage source through terminals 3 and 4. A resistor of 10 ohms is connected across terminals 1 and 4. Current cap I sub 1 passes downward through this resistor. Another resistor of 6 ohms is connected to terminal 2 on one side and to the positive terminal of an inductance coil V sub 2 of j 8 ohms on the other side. The negative terminal of the coil is connected to the terminal 3.">
            <a:extLst>
              <a:ext uri="{FF2B5EF4-FFF2-40B4-BE49-F238E27FC236}">
                <a16:creationId xmlns:a16="http://schemas.microsoft.com/office/drawing/2014/main" id="{8F732F09-91A0-EAF1-711A-29E13986C309}"/>
              </a:ext>
            </a:extLst>
          </p:cNvPr>
          <p:cNvPicPr>
            <a:picLocks noChangeAspect="1" noChangeArrowheads="1"/>
          </p:cNvPicPr>
          <p:nvPr/>
        </p:nvPicPr>
        <p:blipFill>
          <a:blip r:embed="rId10"/>
          <a:stretch>
            <a:fillRect/>
          </a:stretch>
        </p:blipFill>
        <p:spPr bwMode="auto">
          <a:xfrm>
            <a:off x="2657995" y="4179738"/>
            <a:ext cx="3810583" cy="1391610"/>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graphicFrame>
        <p:nvGraphicFramePr>
          <p:cNvPr id="5" name="Object 2" descr="V equals Open Parenthesis 32 minus j 24 Close Parenthesis Volt equals 40 angle negative 36.87 degrees Volt.&#10;">
            <a:extLst>
              <a:ext uri="{FF2B5EF4-FFF2-40B4-BE49-F238E27FC236}">
                <a16:creationId xmlns:a16="http://schemas.microsoft.com/office/drawing/2014/main" id="{069ADD03-D4FB-C925-6CED-A322632843B3}"/>
              </a:ext>
            </a:extLst>
          </p:cNvPr>
          <p:cNvGraphicFramePr>
            <a:graphicFrameLocks noChangeAspect="1"/>
          </p:cNvGraphicFramePr>
          <p:nvPr>
            <p:extLst>
              <p:ext uri="{D42A27DB-BD31-4B8C-83A1-F6EECF244321}">
                <p14:modId xmlns:p14="http://schemas.microsoft.com/office/powerpoint/2010/main" val="438156861"/>
              </p:ext>
            </p:extLst>
          </p:nvPr>
        </p:nvGraphicFramePr>
        <p:xfrm>
          <a:off x="2793400" y="5682806"/>
          <a:ext cx="3163625" cy="240351"/>
        </p:xfrm>
        <a:graphic>
          <a:graphicData uri="http://schemas.openxmlformats.org/presentationml/2006/ole">
            <mc:AlternateContent xmlns:mc="http://schemas.openxmlformats.org/markup-compatibility/2006">
              <mc:Choice xmlns:v="urn:schemas-microsoft-com:vml" Requires="v">
                <p:oleObj spid="_x0000_s4101" name="Equation" r:id="rId11" imgW="4508280" imgH="342720" progId="Equation.DSMT4">
                  <p:embed/>
                </p:oleObj>
              </mc:Choice>
              <mc:Fallback>
                <p:oleObj name="Equation" r:id="rId11" imgW="4508280" imgH="342720" progId="Equation.DSMT4">
                  <p:embed/>
                  <p:pic>
                    <p:nvPicPr>
                      <p:cNvPr id="4" name="Object 2">
                        <a:extLst>
                          <a:ext uri="{FF2B5EF4-FFF2-40B4-BE49-F238E27FC236}">
                            <a16:creationId xmlns:a16="http://schemas.microsoft.com/office/drawing/2014/main" id="{83EAC88C-2B87-773F-DA5C-3A511C9D314A}"/>
                          </a:ext>
                        </a:extLst>
                      </p:cNvPr>
                      <p:cNvPicPr>
                        <a:picLocks noChangeAspect="1" noChangeArrowheads="1"/>
                      </p:cNvPicPr>
                      <p:nvPr/>
                    </p:nvPicPr>
                    <p:blipFill>
                      <a:blip r:embed="rId12"/>
                      <a:srcRect/>
                      <a:stretch>
                        <a:fillRect/>
                      </a:stretch>
                    </p:blipFill>
                    <p:spPr bwMode="auto">
                      <a:xfrm>
                        <a:off x="2793400" y="5682806"/>
                        <a:ext cx="3163625" cy="2403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2" descr="v (t) equals Phasor inverse Open CurlyBracket 40 angle negative 36.87 degrees Close CurlyBracket equals 40 cosine Open Parenthesis 200,000 t minus 36.87 degrees Close Parenthesis.&#10;">
            <a:extLst>
              <a:ext uri="{FF2B5EF4-FFF2-40B4-BE49-F238E27FC236}">
                <a16:creationId xmlns:a16="http://schemas.microsoft.com/office/drawing/2014/main" id="{83EAC88C-2B87-773F-DA5C-3A511C9D314A}"/>
              </a:ext>
            </a:extLst>
          </p:cNvPr>
          <p:cNvGraphicFramePr>
            <a:graphicFrameLocks noChangeAspect="1"/>
          </p:cNvGraphicFramePr>
          <p:nvPr>
            <p:extLst>
              <p:ext uri="{D42A27DB-BD31-4B8C-83A1-F6EECF244321}">
                <p14:modId xmlns:p14="http://schemas.microsoft.com/office/powerpoint/2010/main" val="3974165304"/>
              </p:ext>
            </p:extLst>
          </p:nvPr>
        </p:nvGraphicFramePr>
        <p:xfrm>
          <a:off x="1997621" y="6036215"/>
          <a:ext cx="5177332" cy="311044"/>
        </p:xfrm>
        <a:graphic>
          <a:graphicData uri="http://schemas.openxmlformats.org/presentationml/2006/ole">
            <mc:AlternateContent xmlns:mc="http://schemas.openxmlformats.org/markup-compatibility/2006">
              <mc:Choice xmlns:v="urn:schemas-microsoft-com:vml" Requires="v">
                <p:oleObj spid="_x0000_s4102" name="Equation" r:id="rId13" imgW="7378560" imgH="444240" progId="Equation.DSMT4">
                  <p:embed/>
                </p:oleObj>
              </mc:Choice>
              <mc:Fallback>
                <p:oleObj name="Equation" r:id="rId13" imgW="7378560" imgH="444240" progId="Equation.DSMT4">
                  <p:embed/>
                  <p:pic>
                    <p:nvPicPr>
                      <p:cNvPr id="9" name="Object 2"/>
                      <p:cNvPicPr>
                        <a:picLocks noChangeAspect="1" noChangeArrowheads="1"/>
                      </p:cNvPicPr>
                      <p:nvPr/>
                    </p:nvPicPr>
                    <p:blipFill>
                      <a:blip r:embed="rId14"/>
                      <a:srcRect/>
                      <a:stretch>
                        <a:fillRect/>
                      </a:stretch>
                    </p:blipFill>
                    <p:spPr bwMode="auto">
                      <a:xfrm>
                        <a:off x="1997621" y="6036215"/>
                        <a:ext cx="5177332" cy="3110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50416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3272"/>
            <a:ext cx="8229600" cy="1144347"/>
          </a:xfrm>
        </p:spPr>
        <p:txBody>
          <a:bodyPr anchor="ctr"/>
          <a:lstStyle/>
          <a:p>
            <a:r>
              <a:rPr lang="en-US" noProof="0" dirty="0"/>
              <a:t>Chapter 9 – Sinusoidal Steady-State Analysis </a:t>
            </a:r>
            <a:r>
              <a:rPr lang="en-US" sz="2800" noProof="0" dirty="0"/>
              <a:t>(9 of 17)</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643343"/>
            <a:ext cx="5924550" cy="405683"/>
          </a:xfrm>
        </p:spPr>
        <p:txBody>
          <a:bodyPr wrap="square" lIns="0" tIns="18000" rIns="0" bIns="18000" anchor="ctr">
            <a:spAutoFit/>
          </a:bodyPr>
          <a:lstStyle/>
          <a:p>
            <a:pPr marL="0" indent="0">
              <a:spcBef>
                <a:spcPts val="600"/>
              </a:spcBef>
              <a:buNone/>
            </a:pPr>
            <a:r>
              <a:rPr lang="en-US" sz="2400" noProof="0" dirty="0"/>
              <a:t>The most direct way to calculate the phasor</a:t>
            </a:r>
          </a:p>
        </p:txBody>
      </p:sp>
      <p:graphicFrame>
        <p:nvGraphicFramePr>
          <p:cNvPr id="2" name="Object 1" descr="l subscript 1.&#10;">
            <a:extLst>
              <a:ext uri="{FF2B5EF4-FFF2-40B4-BE49-F238E27FC236}">
                <a16:creationId xmlns:a16="http://schemas.microsoft.com/office/drawing/2014/main" id="{93BCC899-A81F-D4C8-3F00-F9E788765518}"/>
              </a:ext>
            </a:extLst>
          </p:cNvPr>
          <p:cNvGraphicFramePr>
            <a:graphicFrameLocks noChangeAspect="1"/>
          </p:cNvGraphicFramePr>
          <p:nvPr>
            <p:extLst>
              <p:ext uri="{D42A27DB-BD31-4B8C-83A1-F6EECF244321}">
                <p14:modId xmlns:p14="http://schemas.microsoft.com/office/powerpoint/2010/main" val="1708118119"/>
              </p:ext>
            </p:extLst>
          </p:nvPr>
        </p:nvGraphicFramePr>
        <p:xfrm>
          <a:off x="6405563" y="1677982"/>
          <a:ext cx="215900" cy="427037"/>
        </p:xfrm>
        <a:graphic>
          <a:graphicData uri="http://schemas.openxmlformats.org/presentationml/2006/ole">
            <mc:AlternateContent xmlns:mc="http://schemas.openxmlformats.org/markup-compatibility/2006">
              <mc:Choice xmlns:v="urn:schemas-microsoft-com:vml" Requires="v">
                <p:oleObj spid="_x0000_s5122" name="Equation" r:id="rId6" imgW="114120" imgH="228600" progId="Equation.DSMT4">
                  <p:embed/>
                </p:oleObj>
              </mc:Choice>
              <mc:Fallback>
                <p:oleObj name="Equation" r:id="rId6" imgW="114120" imgH="228600" progId="Equation.DSMT4">
                  <p:embed/>
                  <p:pic>
                    <p:nvPicPr>
                      <p:cNvPr id="2" name="Object 1">
                        <a:extLst>
                          <a:ext uri="{FF2B5EF4-FFF2-40B4-BE49-F238E27FC236}">
                            <a16:creationId xmlns:a16="http://schemas.microsoft.com/office/drawing/2014/main" id="{93BCC899-A81F-D4C8-3F00-F9E788765518}"/>
                          </a:ext>
                        </a:extLst>
                      </p:cNvPr>
                      <p:cNvPicPr>
                        <a:picLocks noChangeAspect="1" noChangeArrowheads="1"/>
                      </p:cNvPicPr>
                      <p:nvPr/>
                    </p:nvPicPr>
                    <p:blipFill>
                      <a:blip r:embed="rId7"/>
                      <a:srcRect/>
                      <a:stretch>
                        <a:fillRect/>
                      </a:stretch>
                    </p:blipFill>
                    <p:spPr bwMode="auto">
                      <a:xfrm>
                        <a:off x="6405563" y="1677982"/>
                        <a:ext cx="215900" cy="427037"/>
                      </a:xfrm>
                      <a:prstGeom prst="rect">
                        <a:avLst/>
                      </a:prstGeom>
                      <a:noFill/>
                      <a:ln w="38100">
                        <a:noFill/>
                        <a:miter lim="800000"/>
                        <a:headEnd/>
                        <a:tailEnd/>
                      </a:ln>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6664326" y="1643342"/>
            <a:ext cx="255587" cy="405683"/>
          </a:xfrm>
        </p:spPr>
        <p:txBody>
          <a:bodyPr wrap="square" lIns="0" tIns="18000" rIns="0" bIns="18000" anchor="ctr">
            <a:spAutoFit/>
          </a:bodyPr>
          <a:lstStyle/>
          <a:p>
            <a:pPr marL="0" indent="0">
              <a:spcBef>
                <a:spcPts val="600"/>
              </a:spcBef>
              <a:buNone/>
            </a:pPr>
            <a:r>
              <a:rPr lang="en-US" sz="2400" noProof="0" dirty="0"/>
              <a:t>is</a:t>
            </a:r>
          </a:p>
        </p:txBody>
      </p:sp>
      <p:pic>
        <p:nvPicPr>
          <p:cNvPr id="13" name="Picture 2" descr="A circuit diagram shows current of 8 amperes at 0 degrees from the positive terminal of a voltage source cap V that passes through terminals 1 and 2 to connect to a capacitor of negative j 5 ohms. This capacitor is again connected to the negative terminal of the voltage source through terminals 3 and 4. A resistor of 10 ohms is connected across terminals 1 and 4. Current cap I sub 1 passes downward through this resistor. Another resistor of 6 ohms is connected to terminal 2 on one side and to the positive terminal of an inductance coil V sub 2 of j 8 ohms on the other side. The negative terminal of the coil is connected to the terminal 3.">
            <a:extLst>
              <a:ext uri="{FF2B5EF4-FFF2-40B4-BE49-F238E27FC236}">
                <a16:creationId xmlns:a16="http://schemas.microsoft.com/office/drawing/2014/main" id="{3C9503C9-0836-6941-D9D7-9F73DB32E741}"/>
              </a:ext>
            </a:extLst>
          </p:cNvPr>
          <p:cNvPicPr>
            <a:picLocks noChangeAspect="1" noChangeArrowheads="1"/>
          </p:cNvPicPr>
          <p:nvPr/>
        </p:nvPicPr>
        <p:blipFill>
          <a:blip r:embed="rId8"/>
          <a:stretch>
            <a:fillRect/>
          </a:stretch>
        </p:blipFill>
        <p:spPr bwMode="auto">
          <a:xfrm>
            <a:off x="2446326" y="2269391"/>
            <a:ext cx="4251346" cy="1552575"/>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pic>
        <p:nvPicPr>
          <p:cNvPr id="3" name="Picture 1434" descr="Cross mark">
            <a:extLst>
              <a:ext uri="{FF2B5EF4-FFF2-40B4-BE49-F238E27FC236}">
                <a16:creationId xmlns:a16="http://schemas.microsoft.com/office/drawing/2014/main" id="{3B1922C9-FAD9-AF39-B8A0-E2D93CF08FAD}"/>
              </a:ext>
            </a:extLst>
          </p:cNvPr>
          <p:cNvPicPr>
            <a:picLocks noChangeAspect="1"/>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838200" y="4049923"/>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71600" y="4015730"/>
            <a:ext cx="3025140"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Voltage division</a:t>
            </a:r>
          </a:p>
        </p:txBody>
      </p:sp>
      <p:pic>
        <p:nvPicPr>
          <p:cNvPr id="5" name="Picture 1435" descr="Check mark">
            <a:extLst>
              <a:ext uri="{FF2B5EF4-FFF2-40B4-BE49-F238E27FC236}">
                <a16:creationId xmlns:a16="http://schemas.microsoft.com/office/drawing/2014/main" id="{A6F0595D-C089-2A44-434D-C1395A4F1D72}"/>
              </a:ext>
            </a:extLst>
          </p:cNvPr>
          <p:cNvPicPr>
            <a:picLocks noChangeAspect="1"/>
          </p:cNvPicPr>
          <p:nvPr>
            <p:custDataLst>
              <p:tags r:id="rId3"/>
            </p:custDataLst>
          </p:nvPr>
        </p:nvPicPr>
        <p:blipFill>
          <a:blip r:embed="rId10">
            <a:extLst>
              <a:ext uri="{28A0092B-C50C-407E-A947-70E740481C1C}">
                <a14:useLocalDpi xmlns:a14="http://schemas.microsoft.com/office/drawing/2010/main" val="0"/>
              </a:ext>
            </a:extLst>
          </a:blip>
          <a:srcRect/>
          <a:stretch>
            <a:fillRect/>
          </a:stretch>
        </p:blipFill>
        <p:spPr bwMode="auto">
          <a:xfrm>
            <a:off x="825327" y="4580063"/>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71600" y="4521247"/>
            <a:ext cx="3893820"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Current division</a:t>
            </a:r>
          </a:p>
        </p:txBody>
      </p:sp>
      <p:pic>
        <p:nvPicPr>
          <p:cNvPr id="4" name="Picture 1436" descr="Cross mark">
            <a:extLst>
              <a:ext uri="{FF2B5EF4-FFF2-40B4-BE49-F238E27FC236}">
                <a16:creationId xmlns:a16="http://schemas.microsoft.com/office/drawing/2014/main" id="{CA83259D-B683-1E33-62A7-2C07B38189D6}"/>
              </a:ext>
            </a:extLst>
          </p:cNvPr>
          <p:cNvPicPr>
            <a:picLocks noChangeAspect="1"/>
          </p:cNvPicPr>
          <p:nvPr>
            <p:custDataLst>
              <p:tags r:id="rId4"/>
            </p:custDataLst>
          </p:nvPr>
        </p:nvPicPr>
        <p:blipFill>
          <a:blip r:embed="rId9">
            <a:extLst>
              <a:ext uri="{28A0092B-C50C-407E-A947-70E740481C1C}">
                <a14:useLocalDpi xmlns:a14="http://schemas.microsoft.com/office/drawing/2010/main" val="0"/>
              </a:ext>
            </a:extLst>
          </a:blip>
          <a:srcRect/>
          <a:stretch>
            <a:fillRect/>
          </a:stretch>
        </p:blipFill>
        <p:spPr bwMode="auto">
          <a:xfrm>
            <a:off x="838200" y="5044642"/>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71600" y="5022417"/>
            <a:ext cx="3962400"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Source transform</a:t>
            </a:r>
          </a:p>
        </p:txBody>
      </p:sp>
    </p:spTree>
    <p:extLst>
      <p:ext uri="{BB962C8B-B14F-4D97-AF65-F5344CB8AC3E}">
        <p14:creationId xmlns:p14="http://schemas.microsoft.com/office/powerpoint/2010/main" val="1469022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9369"/>
            <a:ext cx="8229600" cy="590349"/>
          </a:xfrm>
        </p:spPr>
        <p:txBody>
          <a:bodyPr/>
          <a:lstStyle/>
          <a:p>
            <a:r>
              <a:rPr lang="en-US" dirty="0"/>
              <a:t>Sinusoid Steady-State Analysis</a:t>
            </a:r>
            <a:endParaRPr lang="en-US" sz="280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077853"/>
            <a:ext cx="4054475" cy="405683"/>
          </a:xfrm>
        </p:spPr>
        <p:txBody>
          <a:bodyPr lIns="0" tIns="18000" rIns="0" bIns="18000" anchor="ctr">
            <a:spAutoFit/>
          </a:bodyPr>
          <a:lstStyle/>
          <a:p>
            <a:pPr marL="0" indent="0">
              <a:spcBef>
                <a:spcPts val="600"/>
              </a:spcBef>
              <a:buNone/>
            </a:pPr>
            <a:r>
              <a:rPr lang="en-US" sz="2400" dirty="0"/>
              <a:t>Example (continued):</a:t>
            </a:r>
          </a:p>
        </p:txBody>
      </p:sp>
      <p:graphicFrame>
        <p:nvGraphicFramePr>
          <p:cNvPr id="39" name="Object 38" descr="i subscript s Baseline (t) equals 8 cosine (200,000 t) Ampere.&#10;">
            <a:extLst>
              <a:ext uri="{FF2B5EF4-FFF2-40B4-BE49-F238E27FC236}">
                <a16:creationId xmlns:a16="http://schemas.microsoft.com/office/drawing/2014/main" id="{79BC4023-B1D6-A677-1E85-04484805679B}"/>
              </a:ext>
            </a:extLst>
          </p:cNvPr>
          <p:cNvGraphicFramePr>
            <a:graphicFrameLocks noChangeAspect="1"/>
          </p:cNvGraphicFramePr>
          <p:nvPr>
            <p:extLst>
              <p:ext uri="{D42A27DB-BD31-4B8C-83A1-F6EECF244321}">
                <p14:modId xmlns:p14="http://schemas.microsoft.com/office/powerpoint/2010/main" val="364715979"/>
              </p:ext>
            </p:extLst>
          </p:nvPr>
        </p:nvGraphicFramePr>
        <p:xfrm>
          <a:off x="425450" y="1622523"/>
          <a:ext cx="3303588" cy="454025"/>
        </p:xfrm>
        <a:graphic>
          <a:graphicData uri="http://schemas.openxmlformats.org/presentationml/2006/ole">
            <mc:AlternateContent xmlns:mc="http://schemas.openxmlformats.org/markup-compatibility/2006">
              <mc:Choice xmlns:v="urn:schemas-microsoft-com:vml" Requires="v">
                <p:oleObj spid="_x0000_s6146" name="Equation" r:id="rId3" imgW="1663560" imgH="228600" progId="Equation.DSMT4">
                  <p:embed/>
                </p:oleObj>
              </mc:Choice>
              <mc:Fallback>
                <p:oleObj name="Equation" r:id="rId3" imgW="1663560" imgH="228600" progId="Equation.DSMT4">
                  <p:embed/>
                  <p:pic>
                    <p:nvPicPr>
                      <p:cNvPr id="39" name="Object 38">
                        <a:extLst>
                          <a:ext uri="{FF2B5EF4-FFF2-40B4-BE49-F238E27FC236}">
                            <a16:creationId xmlns:a16="http://schemas.microsoft.com/office/drawing/2014/main" id="{79BC4023-B1D6-A677-1E85-04484805679B}"/>
                          </a:ext>
                        </a:extLst>
                      </p:cNvPr>
                      <p:cNvPicPr>
                        <a:picLocks noChangeAspect="1" noChangeArrowheads="1"/>
                      </p:cNvPicPr>
                      <p:nvPr/>
                    </p:nvPicPr>
                    <p:blipFill>
                      <a:blip r:embed="rId4"/>
                      <a:srcRect/>
                      <a:stretch>
                        <a:fillRect/>
                      </a:stretch>
                    </p:blipFill>
                    <p:spPr bwMode="auto">
                      <a:xfrm>
                        <a:off x="425450" y="1622523"/>
                        <a:ext cx="3303588" cy="454025"/>
                      </a:xfrm>
                      <a:prstGeom prst="rect">
                        <a:avLst/>
                      </a:prstGeom>
                      <a:noFill/>
                      <a:ln w="38100">
                        <a:noFill/>
                        <a:miter lim="800000"/>
                        <a:headEnd/>
                        <a:tailEnd/>
                      </a:ln>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3761181" y="1607704"/>
            <a:ext cx="1216818" cy="405683"/>
          </a:xfrm>
        </p:spPr>
        <p:txBody>
          <a:bodyPr wrap="square" lIns="0" tIns="18000" rIns="0" bIns="18000" anchor="ctr">
            <a:spAutoFit/>
          </a:bodyPr>
          <a:lstStyle/>
          <a:p>
            <a:pPr marL="0" indent="0">
              <a:spcBef>
                <a:spcPts val="600"/>
              </a:spcBef>
              <a:buNone/>
            </a:pPr>
            <a:r>
              <a:rPr lang="en-US" sz="2400" dirty="0"/>
              <a:t>Find </a:t>
            </a:r>
            <a:r>
              <a:rPr lang="en-US" sz="2400" i="1" dirty="0"/>
              <a:t>v(t),</a:t>
            </a:r>
          </a:p>
        </p:txBody>
      </p:sp>
      <p:graphicFrame>
        <p:nvGraphicFramePr>
          <p:cNvPr id="40" name="Object 39" descr="i subscript 1 Baseline (t),&#10;">
            <a:extLst>
              <a:ext uri="{FF2B5EF4-FFF2-40B4-BE49-F238E27FC236}">
                <a16:creationId xmlns:a16="http://schemas.microsoft.com/office/drawing/2014/main" id="{4DA64872-ED77-C50C-B52B-BBFFEFBF8A3C}"/>
              </a:ext>
            </a:extLst>
          </p:cNvPr>
          <p:cNvGraphicFramePr>
            <a:graphicFrameLocks noChangeAspect="1"/>
          </p:cNvGraphicFramePr>
          <p:nvPr>
            <p:extLst>
              <p:ext uri="{D42A27DB-BD31-4B8C-83A1-F6EECF244321}">
                <p14:modId xmlns:p14="http://schemas.microsoft.com/office/powerpoint/2010/main" val="235098534"/>
              </p:ext>
            </p:extLst>
          </p:nvPr>
        </p:nvGraphicFramePr>
        <p:xfrm>
          <a:off x="430530" y="2142172"/>
          <a:ext cx="606425" cy="454025"/>
        </p:xfrm>
        <a:graphic>
          <a:graphicData uri="http://schemas.openxmlformats.org/presentationml/2006/ole">
            <mc:AlternateContent xmlns:mc="http://schemas.openxmlformats.org/markup-compatibility/2006">
              <mc:Choice xmlns:v="urn:schemas-microsoft-com:vml" Requires="v">
                <p:oleObj spid="_x0000_s6147" name="Equation" r:id="rId5" imgW="304560" imgH="228600" progId="Equation.DSMT4">
                  <p:embed/>
                </p:oleObj>
              </mc:Choice>
              <mc:Fallback>
                <p:oleObj name="Equation" r:id="rId5" imgW="304560" imgH="228600" progId="Equation.DSMT4">
                  <p:embed/>
                  <p:pic>
                    <p:nvPicPr>
                      <p:cNvPr id="40" name="Object 39">
                        <a:extLst>
                          <a:ext uri="{FF2B5EF4-FFF2-40B4-BE49-F238E27FC236}">
                            <a16:creationId xmlns:a16="http://schemas.microsoft.com/office/drawing/2014/main" id="{4DA64872-ED77-C50C-B52B-BBFFEFBF8A3C}"/>
                          </a:ext>
                        </a:extLst>
                      </p:cNvPr>
                      <p:cNvPicPr>
                        <a:picLocks noChangeAspect="1" noChangeArrowheads="1"/>
                      </p:cNvPicPr>
                      <p:nvPr/>
                    </p:nvPicPr>
                    <p:blipFill>
                      <a:blip r:embed="rId6"/>
                      <a:srcRect/>
                      <a:stretch>
                        <a:fillRect/>
                      </a:stretch>
                    </p:blipFill>
                    <p:spPr bwMode="auto">
                      <a:xfrm>
                        <a:off x="430530" y="2142172"/>
                        <a:ext cx="606425" cy="454025"/>
                      </a:xfrm>
                      <a:prstGeom prst="rect">
                        <a:avLst/>
                      </a:prstGeom>
                      <a:noFill/>
                      <a:ln w="38100">
                        <a:noFill/>
                        <a:miter lim="800000"/>
                        <a:headEnd/>
                        <a:tailEnd/>
                      </a:ln>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082198" y="2130980"/>
            <a:ext cx="532607" cy="405683"/>
          </a:xfrm>
        </p:spPr>
        <p:txBody>
          <a:bodyPr wrap="square" lIns="0" tIns="18000" rIns="0" bIns="18000" anchor="ctr">
            <a:spAutoFit/>
          </a:bodyPr>
          <a:lstStyle/>
          <a:p>
            <a:pPr marL="0" indent="0">
              <a:spcBef>
                <a:spcPts val="600"/>
              </a:spcBef>
              <a:buNone/>
            </a:pPr>
            <a:r>
              <a:rPr lang="en-US" sz="2400" dirty="0"/>
              <a:t>and</a:t>
            </a:r>
          </a:p>
        </p:txBody>
      </p:sp>
      <p:graphicFrame>
        <p:nvGraphicFramePr>
          <p:cNvPr id="41" name="Object 40" descr="v subscript 2 Baseline (t).&#10;">
            <a:extLst>
              <a:ext uri="{FF2B5EF4-FFF2-40B4-BE49-F238E27FC236}">
                <a16:creationId xmlns:a16="http://schemas.microsoft.com/office/drawing/2014/main" id="{8381366A-3E75-FEDF-4942-543995EDBD50}"/>
              </a:ext>
            </a:extLst>
          </p:cNvPr>
          <p:cNvGraphicFramePr>
            <a:graphicFrameLocks noChangeAspect="1"/>
          </p:cNvGraphicFramePr>
          <p:nvPr>
            <p:extLst>
              <p:ext uri="{D42A27DB-BD31-4B8C-83A1-F6EECF244321}">
                <p14:modId xmlns:p14="http://schemas.microsoft.com/office/powerpoint/2010/main" val="266062811"/>
              </p:ext>
            </p:extLst>
          </p:nvPr>
        </p:nvGraphicFramePr>
        <p:xfrm>
          <a:off x="1636235" y="2141628"/>
          <a:ext cx="657225" cy="454025"/>
        </p:xfrm>
        <a:graphic>
          <a:graphicData uri="http://schemas.openxmlformats.org/presentationml/2006/ole">
            <mc:AlternateContent xmlns:mc="http://schemas.openxmlformats.org/markup-compatibility/2006">
              <mc:Choice xmlns:v="urn:schemas-microsoft-com:vml" Requires="v">
                <p:oleObj spid="_x0000_s6148" name="Equation" r:id="rId7" imgW="330120" imgH="228600" progId="Equation.DSMT4">
                  <p:embed/>
                </p:oleObj>
              </mc:Choice>
              <mc:Fallback>
                <p:oleObj name="Equation" r:id="rId7" imgW="330120" imgH="228600" progId="Equation.DSMT4">
                  <p:embed/>
                  <p:pic>
                    <p:nvPicPr>
                      <p:cNvPr id="41" name="Object 40">
                        <a:extLst>
                          <a:ext uri="{FF2B5EF4-FFF2-40B4-BE49-F238E27FC236}">
                            <a16:creationId xmlns:a16="http://schemas.microsoft.com/office/drawing/2014/main" id="{8381366A-3E75-FEDF-4942-543995EDBD50}"/>
                          </a:ext>
                        </a:extLst>
                      </p:cNvPr>
                      <p:cNvPicPr>
                        <a:picLocks noChangeAspect="1" noChangeArrowheads="1"/>
                      </p:cNvPicPr>
                      <p:nvPr/>
                    </p:nvPicPr>
                    <p:blipFill>
                      <a:blip r:embed="rId8"/>
                      <a:srcRect/>
                      <a:stretch>
                        <a:fillRect/>
                      </a:stretch>
                    </p:blipFill>
                    <p:spPr bwMode="auto">
                      <a:xfrm>
                        <a:off x="1636235" y="2141628"/>
                        <a:ext cx="657225" cy="454025"/>
                      </a:xfrm>
                      <a:prstGeom prst="rect">
                        <a:avLst/>
                      </a:prstGeom>
                      <a:noFill/>
                      <a:ln w="38100">
                        <a:noFill/>
                        <a:miter lim="800000"/>
                        <a:headEnd/>
                        <a:tailEnd/>
                      </a:ln>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2321240" y="2131615"/>
            <a:ext cx="2619060" cy="405683"/>
          </a:xfrm>
        </p:spPr>
        <p:txBody>
          <a:bodyPr wrap="square" lIns="0" tIns="18000" rIns="0" bIns="18000" anchor="ctr">
            <a:spAutoFit/>
          </a:bodyPr>
          <a:lstStyle/>
          <a:p>
            <a:pPr marL="0" indent="0">
              <a:spcBef>
                <a:spcPts val="600"/>
              </a:spcBef>
              <a:buNone/>
            </a:pPr>
            <a:r>
              <a:rPr lang="en-US" sz="2400" dirty="0"/>
              <a:t>in the steady-state.</a:t>
            </a:r>
          </a:p>
        </p:txBody>
      </p:sp>
      <p:pic>
        <p:nvPicPr>
          <p:cNvPr id="2" name="Picture 2" descr="A circuit diagram shows current small i sub s from the positive terminal of a voltage source v that passes through terminals 1 and 2 to connect to a capacitor of 1 micro farads. This capacitor is again connected to the negative terminal of the voltage source through terminals 3 and 4. A resistor of 10 ohms is connected across terminals 1 and 4. Current small i sub 1 passes downward through this resistor. Another resistor of 6 ohms is connected to terminal 2 on one side and to the positive terminal of an inductance coil v sub 2 of 40 micro hertz on the other side. The negative terminal of the coil is connected to the terminal 3.">
            <a:extLst>
              <a:ext uri="{FF2B5EF4-FFF2-40B4-BE49-F238E27FC236}">
                <a16:creationId xmlns:a16="http://schemas.microsoft.com/office/drawing/2014/main" id="{894C9DEC-C907-EFBF-7E79-8D076B788431}"/>
              </a:ext>
            </a:extLst>
          </p:cNvPr>
          <p:cNvPicPr>
            <a:picLocks noChangeAspect="1" noChangeArrowheads="1"/>
          </p:cNvPicPr>
          <p:nvPr/>
        </p:nvPicPr>
        <p:blipFill>
          <a:blip r:embed="rId9"/>
          <a:stretch>
            <a:fillRect/>
          </a:stretch>
        </p:blipFill>
        <p:spPr bwMode="auto">
          <a:xfrm>
            <a:off x="5144110" y="1171832"/>
            <a:ext cx="3464502" cy="1266775"/>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438150" y="2719481"/>
            <a:ext cx="7636175" cy="405683"/>
          </a:xfrm>
        </p:spPr>
        <p:txBody>
          <a:bodyPr wrap="square" lIns="0" tIns="18000" rIns="0" bIns="18000" anchor="ctr">
            <a:spAutoFit/>
          </a:bodyPr>
          <a:lstStyle/>
          <a:p>
            <a:pPr marL="457200" indent="-457200">
              <a:spcBef>
                <a:spcPts val="600"/>
              </a:spcBef>
              <a:buFont typeface="+mj-lt"/>
              <a:buAutoNum type="arabicPeriod" startAt="5"/>
              <a:defRPr/>
            </a:pPr>
            <a:r>
              <a:rPr lang="en-US" sz="2400" dirty="0"/>
              <a:t>Use </a:t>
            </a:r>
            <a:r>
              <a:rPr lang="en-US" sz="2400" spc="-300" dirty="0"/>
              <a:t>D </a:t>
            </a:r>
            <a:r>
              <a:rPr lang="en-US" sz="2400" dirty="0"/>
              <a:t>C circuit analysis techniques to find the phasor</a:t>
            </a:r>
          </a:p>
        </p:txBody>
      </p:sp>
      <p:graphicFrame>
        <p:nvGraphicFramePr>
          <p:cNvPr id="44" name="Object 2" descr="l subscript 1.&#10;">
            <a:extLst>
              <a:ext uri="{FF2B5EF4-FFF2-40B4-BE49-F238E27FC236}">
                <a16:creationId xmlns:a16="http://schemas.microsoft.com/office/drawing/2014/main" id="{23AFCAF0-4BC5-7213-0482-D37855E3FC8C}"/>
              </a:ext>
            </a:extLst>
          </p:cNvPr>
          <p:cNvGraphicFramePr>
            <a:graphicFrameLocks noChangeAspect="1"/>
          </p:cNvGraphicFramePr>
          <p:nvPr>
            <p:extLst>
              <p:ext uri="{D42A27DB-BD31-4B8C-83A1-F6EECF244321}">
                <p14:modId xmlns:p14="http://schemas.microsoft.com/office/powerpoint/2010/main" val="460184618"/>
              </p:ext>
            </p:extLst>
          </p:nvPr>
        </p:nvGraphicFramePr>
        <p:xfrm>
          <a:off x="8117455" y="2793286"/>
          <a:ext cx="261938" cy="361950"/>
        </p:xfrm>
        <a:graphic>
          <a:graphicData uri="http://schemas.openxmlformats.org/presentationml/2006/ole">
            <mc:AlternateContent xmlns:mc="http://schemas.openxmlformats.org/markup-compatibility/2006">
              <mc:Choice xmlns:v="urn:schemas-microsoft-com:vml" Requires="v">
                <p:oleObj spid="_x0000_s6149" name="Equation" r:id="rId10" imgW="164880" imgH="228600" progId="Equation.DSMT4">
                  <p:embed/>
                </p:oleObj>
              </mc:Choice>
              <mc:Fallback>
                <p:oleObj name="Equation" r:id="rId10" imgW="164880" imgH="228600" progId="Equation.DSMT4">
                  <p:embed/>
                  <p:pic>
                    <p:nvPicPr>
                      <p:cNvPr id="44" name="Object 2">
                        <a:extLst>
                          <a:ext uri="{FF2B5EF4-FFF2-40B4-BE49-F238E27FC236}">
                            <a16:creationId xmlns:a16="http://schemas.microsoft.com/office/drawing/2014/main" id="{23AFCAF0-4BC5-7213-0482-D37855E3FC8C}"/>
                          </a:ext>
                        </a:extLst>
                      </p:cNvPr>
                      <p:cNvPicPr>
                        <a:picLocks noChangeAspect="1" noChangeArrowheads="1"/>
                      </p:cNvPicPr>
                      <p:nvPr/>
                    </p:nvPicPr>
                    <p:blipFill>
                      <a:blip r:embed="rId11"/>
                      <a:srcRect/>
                      <a:stretch>
                        <a:fillRect/>
                      </a:stretch>
                    </p:blipFill>
                    <p:spPr bwMode="auto">
                      <a:xfrm>
                        <a:off x="8117455" y="2793286"/>
                        <a:ext cx="261938"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438150" y="3244090"/>
            <a:ext cx="8229600" cy="405683"/>
          </a:xfrm>
        </p:spPr>
        <p:txBody>
          <a:bodyPr wrap="square" lIns="0" tIns="18000" rIns="0" bIns="18000" anchor="ctr">
            <a:spAutoFit/>
          </a:bodyPr>
          <a:lstStyle/>
          <a:p>
            <a:pPr marL="829818" lvl="1" indent="-342900"/>
            <a:r>
              <a:rPr lang="en-US" sz="2400" dirty="0"/>
              <a:t>Use current division.</a:t>
            </a:r>
          </a:p>
        </p:txBody>
      </p:sp>
      <p:pic>
        <p:nvPicPr>
          <p:cNvPr id="4" name="Picture 2" descr="A circuit diagram shows current of 8 amperes at 0 degrees from the positive terminal of a voltage source cap V that passes through terminals 1 and 2 to connect to a capacitor of negative j 5 ohms. This capacitor is again connected to the negative terminal of the voltage source through terminals 3 and 4. A resistor of 10 ohms is connected across terminals 1 and 4. Current cap I sub 1 passes downward through this resistor. Another resistor of 6 ohms is connected to terminal 2 on one side and to the positive terminal of an inductance coil V sub 2 of j 8 ohms on the other side. The negative terminal of the coil is connected to the terminal 3.">
            <a:extLst>
              <a:ext uri="{FF2B5EF4-FFF2-40B4-BE49-F238E27FC236}">
                <a16:creationId xmlns:a16="http://schemas.microsoft.com/office/drawing/2014/main" id="{1BD5FD97-BEC2-6C21-E682-227F4D0E31E0}"/>
              </a:ext>
            </a:extLst>
          </p:cNvPr>
          <p:cNvPicPr>
            <a:picLocks noChangeAspect="1" noChangeArrowheads="1"/>
          </p:cNvPicPr>
          <p:nvPr/>
        </p:nvPicPr>
        <p:blipFill>
          <a:blip r:embed="rId12"/>
          <a:stretch>
            <a:fillRect/>
          </a:stretch>
        </p:blipFill>
        <p:spPr bwMode="auto">
          <a:xfrm>
            <a:off x="840992" y="3825996"/>
            <a:ext cx="3864860" cy="1411432"/>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graphicFrame>
        <p:nvGraphicFramePr>
          <p:cNvPr id="5" name="Object 2" descr="I subscript 1 Baseline equals Start Fraction Z subscript e q over Z subscript 1 End Fraction I subscript s Baseline equals Start Fraction Open Parenthesis 4 minus j 3 Close Parenthesis over 10 End Fraction (8 angle 0 degrees).&#10;">
            <a:extLst>
              <a:ext uri="{FF2B5EF4-FFF2-40B4-BE49-F238E27FC236}">
                <a16:creationId xmlns:a16="http://schemas.microsoft.com/office/drawing/2014/main" id="{F32987F2-3B71-93FA-FB44-7913E668F246}"/>
              </a:ext>
            </a:extLst>
          </p:cNvPr>
          <p:cNvGraphicFramePr>
            <a:graphicFrameLocks noChangeAspect="1"/>
          </p:cNvGraphicFramePr>
          <p:nvPr>
            <p:extLst>
              <p:ext uri="{D42A27DB-BD31-4B8C-83A1-F6EECF244321}">
                <p14:modId xmlns:p14="http://schemas.microsoft.com/office/powerpoint/2010/main" val="941016384"/>
              </p:ext>
            </p:extLst>
          </p:nvPr>
        </p:nvGraphicFramePr>
        <p:xfrm>
          <a:off x="5199063" y="3829924"/>
          <a:ext cx="3305175" cy="844550"/>
        </p:xfrm>
        <a:graphic>
          <a:graphicData uri="http://schemas.openxmlformats.org/presentationml/2006/ole">
            <mc:AlternateContent xmlns:mc="http://schemas.openxmlformats.org/markup-compatibility/2006">
              <mc:Choice xmlns:v="urn:schemas-microsoft-com:vml" Requires="v">
                <p:oleObj spid="_x0000_s6150" name="Equation" r:id="rId13" imgW="1790640" imgH="457200" progId="Equation.DSMT4">
                  <p:embed/>
                </p:oleObj>
              </mc:Choice>
              <mc:Fallback>
                <p:oleObj name="Equation" r:id="rId13" imgW="1790640" imgH="457200" progId="Equation.DSMT4">
                  <p:embed/>
                  <p:pic>
                    <p:nvPicPr>
                      <p:cNvPr id="9" name="Object 2"/>
                      <p:cNvPicPr>
                        <a:picLocks noChangeAspect="1" noChangeArrowheads="1"/>
                      </p:cNvPicPr>
                      <p:nvPr/>
                    </p:nvPicPr>
                    <p:blipFill>
                      <a:blip r:embed="rId14"/>
                      <a:srcRect/>
                      <a:stretch>
                        <a:fillRect/>
                      </a:stretch>
                    </p:blipFill>
                    <p:spPr bwMode="auto">
                      <a:xfrm>
                        <a:off x="5199063" y="3829924"/>
                        <a:ext cx="3305175" cy="844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2" descr="Equals Open Parenthesis 3.2 minus j 2.4 Close Parenthesis Ampere.&#10;">
            <a:extLst>
              <a:ext uri="{FF2B5EF4-FFF2-40B4-BE49-F238E27FC236}">
                <a16:creationId xmlns:a16="http://schemas.microsoft.com/office/drawing/2014/main" id="{E58D8E62-7E29-14B6-E3ED-9D38A2457A9E}"/>
              </a:ext>
            </a:extLst>
          </p:cNvPr>
          <p:cNvGraphicFramePr>
            <a:graphicFrameLocks noChangeAspect="1"/>
          </p:cNvGraphicFramePr>
          <p:nvPr>
            <p:extLst>
              <p:ext uri="{D42A27DB-BD31-4B8C-83A1-F6EECF244321}">
                <p14:modId xmlns:p14="http://schemas.microsoft.com/office/powerpoint/2010/main" val="3711800648"/>
              </p:ext>
            </p:extLst>
          </p:nvPr>
        </p:nvGraphicFramePr>
        <p:xfrm>
          <a:off x="5449888" y="4892675"/>
          <a:ext cx="1966912" cy="379413"/>
        </p:xfrm>
        <a:graphic>
          <a:graphicData uri="http://schemas.openxmlformats.org/presentationml/2006/ole">
            <mc:AlternateContent xmlns:mc="http://schemas.openxmlformats.org/markup-compatibility/2006">
              <mc:Choice xmlns:v="urn:schemas-microsoft-com:vml" Requires="v">
                <p:oleObj spid="_x0000_s6151" name="Equation" r:id="rId15" imgW="1054080" imgH="203040" progId="Equation.DSMT4">
                  <p:embed/>
                </p:oleObj>
              </mc:Choice>
              <mc:Fallback>
                <p:oleObj name="Equation" r:id="rId15" imgW="1054080" imgH="203040" progId="Equation.DSMT4">
                  <p:embed/>
                  <p:pic>
                    <p:nvPicPr>
                      <p:cNvPr id="5" name="Object 2">
                        <a:extLst>
                          <a:ext uri="{FF2B5EF4-FFF2-40B4-BE49-F238E27FC236}">
                            <a16:creationId xmlns:a16="http://schemas.microsoft.com/office/drawing/2014/main" id="{F32987F2-3B71-93FA-FB44-7913E668F246}"/>
                          </a:ext>
                        </a:extLst>
                      </p:cNvPr>
                      <p:cNvPicPr>
                        <a:picLocks noChangeAspect="1" noChangeArrowheads="1"/>
                      </p:cNvPicPr>
                      <p:nvPr/>
                    </p:nvPicPr>
                    <p:blipFill>
                      <a:blip r:embed="rId16"/>
                      <a:srcRect/>
                      <a:stretch>
                        <a:fillRect/>
                      </a:stretch>
                    </p:blipFill>
                    <p:spPr bwMode="auto">
                      <a:xfrm>
                        <a:off x="5449888" y="4892675"/>
                        <a:ext cx="1966912" cy="379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821495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17038"/>
            <a:ext cx="8229600" cy="1144347"/>
          </a:xfrm>
        </p:spPr>
        <p:txBody>
          <a:bodyPr/>
          <a:lstStyle/>
          <a:p>
            <a:r>
              <a:rPr lang="en-US" noProof="0" dirty="0"/>
              <a:t>Chapter 9 – Sinusoidal Steady-State Analysis </a:t>
            </a:r>
            <a:r>
              <a:rPr lang="en-US" sz="2800" noProof="0" dirty="0"/>
              <a:t>(10 of 17)</a:t>
            </a:r>
            <a:endParaRPr lang="en-US" sz="280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74662"/>
            <a:ext cx="4054475" cy="405683"/>
          </a:xfrm>
        </p:spPr>
        <p:txBody>
          <a:bodyPr lIns="0" tIns="18000" rIns="0" bIns="18000" anchor="ctr">
            <a:spAutoFit/>
          </a:bodyPr>
          <a:lstStyle/>
          <a:p>
            <a:pPr marL="0" indent="0">
              <a:spcBef>
                <a:spcPts val="600"/>
              </a:spcBef>
              <a:buNone/>
            </a:pPr>
            <a:r>
              <a:rPr lang="en-US" sz="2400" dirty="0"/>
              <a:t>Example (continued):</a:t>
            </a:r>
          </a:p>
        </p:txBody>
      </p:sp>
      <p:graphicFrame>
        <p:nvGraphicFramePr>
          <p:cNvPr id="39" name="Object 38" descr="i subscript s Baseline (t) equals 8 cosine (200,000 t) Ampere.&#10;">
            <a:extLst>
              <a:ext uri="{FF2B5EF4-FFF2-40B4-BE49-F238E27FC236}">
                <a16:creationId xmlns:a16="http://schemas.microsoft.com/office/drawing/2014/main" id="{79BC4023-B1D6-A677-1E85-04484805679B}"/>
              </a:ext>
            </a:extLst>
          </p:cNvPr>
          <p:cNvGraphicFramePr>
            <a:graphicFrameLocks noChangeAspect="1"/>
          </p:cNvGraphicFramePr>
          <p:nvPr>
            <p:extLst>
              <p:ext uri="{D42A27DB-BD31-4B8C-83A1-F6EECF244321}">
                <p14:modId xmlns:p14="http://schemas.microsoft.com/office/powerpoint/2010/main" val="2490202780"/>
              </p:ext>
            </p:extLst>
          </p:nvPr>
        </p:nvGraphicFramePr>
        <p:xfrm>
          <a:off x="425450" y="2019332"/>
          <a:ext cx="3303588" cy="454025"/>
        </p:xfrm>
        <a:graphic>
          <a:graphicData uri="http://schemas.openxmlformats.org/presentationml/2006/ole">
            <mc:AlternateContent xmlns:mc="http://schemas.openxmlformats.org/markup-compatibility/2006">
              <mc:Choice xmlns:v="urn:schemas-microsoft-com:vml" Requires="v">
                <p:oleObj spid="_x0000_s7170" name="Equation" r:id="rId3" imgW="1663560" imgH="228600" progId="Equation.DSMT4">
                  <p:embed/>
                </p:oleObj>
              </mc:Choice>
              <mc:Fallback>
                <p:oleObj name="Equation" r:id="rId3" imgW="1663560" imgH="228600" progId="Equation.DSMT4">
                  <p:embed/>
                  <p:pic>
                    <p:nvPicPr>
                      <p:cNvPr id="39" name="Object 38">
                        <a:extLst>
                          <a:ext uri="{FF2B5EF4-FFF2-40B4-BE49-F238E27FC236}">
                            <a16:creationId xmlns:a16="http://schemas.microsoft.com/office/drawing/2014/main" id="{79BC4023-B1D6-A677-1E85-04484805679B}"/>
                          </a:ext>
                        </a:extLst>
                      </p:cNvPr>
                      <p:cNvPicPr>
                        <a:picLocks noChangeAspect="1" noChangeArrowheads="1"/>
                      </p:cNvPicPr>
                      <p:nvPr/>
                    </p:nvPicPr>
                    <p:blipFill>
                      <a:blip r:embed="rId4"/>
                      <a:srcRect/>
                      <a:stretch>
                        <a:fillRect/>
                      </a:stretch>
                    </p:blipFill>
                    <p:spPr bwMode="auto">
                      <a:xfrm>
                        <a:off x="425450" y="2019332"/>
                        <a:ext cx="3303588" cy="454025"/>
                      </a:xfrm>
                      <a:prstGeom prst="rect">
                        <a:avLst/>
                      </a:prstGeom>
                      <a:noFill/>
                      <a:ln w="38100">
                        <a:noFill/>
                        <a:miter lim="800000"/>
                        <a:headEnd/>
                        <a:tailEnd/>
                      </a:ln>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3761181" y="2004513"/>
            <a:ext cx="1216818" cy="405683"/>
          </a:xfrm>
        </p:spPr>
        <p:txBody>
          <a:bodyPr wrap="square" lIns="0" tIns="18000" rIns="0" bIns="18000" anchor="ctr">
            <a:spAutoFit/>
          </a:bodyPr>
          <a:lstStyle/>
          <a:p>
            <a:pPr marL="0" indent="0">
              <a:spcBef>
                <a:spcPts val="600"/>
              </a:spcBef>
              <a:buNone/>
            </a:pPr>
            <a:r>
              <a:rPr lang="en-US" sz="2400" dirty="0"/>
              <a:t>Find </a:t>
            </a:r>
            <a:r>
              <a:rPr lang="en-US" sz="2400" i="1" dirty="0"/>
              <a:t>v(t),</a:t>
            </a:r>
          </a:p>
        </p:txBody>
      </p:sp>
      <p:graphicFrame>
        <p:nvGraphicFramePr>
          <p:cNvPr id="40" name="Object 39" descr="i subscript 1 Baseline (t),&#10;">
            <a:extLst>
              <a:ext uri="{FF2B5EF4-FFF2-40B4-BE49-F238E27FC236}">
                <a16:creationId xmlns:a16="http://schemas.microsoft.com/office/drawing/2014/main" id="{4DA64872-ED77-C50C-B52B-BBFFEFBF8A3C}"/>
              </a:ext>
            </a:extLst>
          </p:cNvPr>
          <p:cNvGraphicFramePr>
            <a:graphicFrameLocks noChangeAspect="1"/>
          </p:cNvGraphicFramePr>
          <p:nvPr>
            <p:extLst>
              <p:ext uri="{D42A27DB-BD31-4B8C-83A1-F6EECF244321}">
                <p14:modId xmlns:p14="http://schemas.microsoft.com/office/powerpoint/2010/main" val="360684604"/>
              </p:ext>
            </p:extLst>
          </p:nvPr>
        </p:nvGraphicFramePr>
        <p:xfrm>
          <a:off x="430530" y="2538981"/>
          <a:ext cx="606425" cy="454025"/>
        </p:xfrm>
        <a:graphic>
          <a:graphicData uri="http://schemas.openxmlformats.org/presentationml/2006/ole">
            <mc:AlternateContent xmlns:mc="http://schemas.openxmlformats.org/markup-compatibility/2006">
              <mc:Choice xmlns:v="urn:schemas-microsoft-com:vml" Requires="v">
                <p:oleObj spid="_x0000_s7171" name="Equation" r:id="rId5" imgW="304560" imgH="228600" progId="Equation.DSMT4">
                  <p:embed/>
                </p:oleObj>
              </mc:Choice>
              <mc:Fallback>
                <p:oleObj name="Equation" r:id="rId5" imgW="304560" imgH="228600" progId="Equation.DSMT4">
                  <p:embed/>
                  <p:pic>
                    <p:nvPicPr>
                      <p:cNvPr id="40" name="Object 39">
                        <a:extLst>
                          <a:ext uri="{FF2B5EF4-FFF2-40B4-BE49-F238E27FC236}">
                            <a16:creationId xmlns:a16="http://schemas.microsoft.com/office/drawing/2014/main" id="{4DA64872-ED77-C50C-B52B-BBFFEFBF8A3C}"/>
                          </a:ext>
                        </a:extLst>
                      </p:cNvPr>
                      <p:cNvPicPr>
                        <a:picLocks noChangeAspect="1" noChangeArrowheads="1"/>
                      </p:cNvPicPr>
                      <p:nvPr/>
                    </p:nvPicPr>
                    <p:blipFill>
                      <a:blip r:embed="rId6"/>
                      <a:srcRect/>
                      <a:stretch>
                        <a:fillRect/>
                      </a:stretch>
                    </p:blipFill>
                    <p:spPr bwMode="auto">
                      <a:xfrm>
                        <a:off x="430530" y="2538981"/>
                        <a:ext cx="606425" cy="454025"/>
                      </a:xfrm>
                      <a:prstGeom prst="rect">
                        <a:avLst/>
                      </a:prstGeom>
                      <a:noFill/>
                      <a:ln w="38100">
                        <a:noFill/>
                        <a:miter lim="800000"/>
                        <a:headEnd/>
                        <a:tailEnd/>
                      </a:ln>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082198" y="2527789"/>
            <a:ext cx="532607" cy="405683"/>
          </a:xfrm>
        </p:spPr>
        <p:txBody>
          <a:bodyPr wrap="square" lIns="0" tIns="18000" rIns="0" bIns="18000" anchor="ctr">
            <a:spAutoFit/>
          </a:bodyPr>
          <a:lstStyle/>
          <a:p>
            <a:pPr marL="0" indent="0">
              <a:spcBef>
                <a:spcPts val="600"/>
              </a:spcBef>
              <a:buNone/>
            </a:pPr>
            <a:r>
              <a:rPr lang="en-US" sz="2400" dirty="0"/>
              <a:t>and</a:t>
            </a:r>
          </a:p>
        </p:txBody>
      </p:sp>
      <p:graphicFrame>
        <p:nvGraphicFramePr>
          <p:cNvPr id="41" name="Object 40" descr="v subscript 2 Baseline (t).&#10;">
            <a:extLst>
              <a:ext uri="{FF2B5EF4-FFF2-40B4-BE49-F238E27FC236}">
                <a16:creationId xmlns:a16="http://schemas.microsoft.com/office/drawing/2014/main" id="{8381366A-3E75-FEDF-4942-543995EDBD50}"/>
              </a:ext>
            </a:extLst>
          </p:cNvPr>
          <p:cNvGraphicFramePr>
            <a:graphicFrameLocks noChangeAspect="1"/>
          </p:cNvGraphicFramePr>
          <p:nvPr>
            <p:extLst>
              <p:ext uri="{D42A27DB-BD31-4B8C-83A1-F6EECF244321}">
                <p14:modId xmlns:p14="http://schemas.microsoft.com/office/powerpoint/2010/main" val="1615721505"/>
              </p:ext>
            </p:extLst>
          </p:nvPr>
        </p:nvGraphicFramePr>
        <p:xfrm>
          <a:off x="1636235" y="2538437"/>
          <a:ext cx="657225" cy="454025"/>
        </p:xfrm>
        <a:graphic>
          <a:graphicData uri="http://schemas.openxmlformats.org/presentationml/2006/ole">
            <mc:AlternateContent xmlns:mc="http://schemas.openxmlformats.org/markup-compatibility/2006">
              <mc:Choice xmlns:v="urn:schemas-microsoft-com:vml" Requires="v">
                <p:oleObj spid="_x0000_s7172" name="Equation" r:id="rId7" imgW="330120" imgH="228600" progId="Equation.DSMT4">
                  <p:embed/>
                </p:oleObj>
              </mc:Choice>
              <mc:Fallback>
                <p:oleObj name="Equation" r:id="rId7" imgW="330120" imgH="228600" progId="Equation.DSMT4">
                  <p:embed/>
                  <p:pic>
                    <p:nvPicPr>
                      <p:cNvPr id="41" name="Object 40">
                        <a:extLst>
                          <a:ext uri="{FF2B5EF4-FFF2-40B4-BE49-F238E27FC236}">
                            <a16:creationId xmlns:a16="http://schemas.microsoft.com/office/drawing/2014/main" id="{8381366A-3E75-FEDF-4942-543995EDBD50}"/>
                          </a:ext>
                        </a:extLst>
                      </p:cNvPr>
                      <p:cNvPicPr>
                        <a:picLocks noChangeAspect="1" noChangeArrowheads="1"/>
                      </p:cNvPicPr>
                      <p:nvPr/>
                    </p:nvPicPr>
                    <p:blipFill>
                      <a:blip r:embed="rId8"/>
                      <a:srcRect/>
                      <a:stretch>
                        <a:fillRect/>
                      </a:stretch>
                    </p:blipFill>
                    <p:spPr bwMode="auto">
                      <a:xfrm>
                        <a:off x="1636235" y="2538437"/>
                        <a:ext cx="657225" cy="454025"/>
                      </a:xfrm>
                      <a:prstGeom prst="rect">
                        <a:avLst/>
                      </a:prstGeom>
                      <a:noFill/>
                      <a:ln w="38100">
                        <a:noFill/>
                        <a:miter lim="800000"/>
                        <a:headEnd/>
                        <a:tailEnd/>
                      </a:ln>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2321240" y="2528424"/>
            <a:ext cx="2619060" cy="405683"/>
          </a:xfrm>
        </p:spPr>
        <p:txBody>
          <a:bodyPr wrap="square" lIns="0" tIns="18000" rIns="0" bIns="18000" anchor="ctr">
            <a:spAutoFit/>
          </a:bodyPr>
          <a:lstStyle/>
          <a:p>
            <a:pPr marL="0" indent="0">
              <a:spcBef>
                <a:spcPts val="600"/>
              </a:spcBef>
              <a:buNone/>
            </a:pPr>
            <a:r>
              <a:rPr lang="en-US" sz="2400" dirty="0"/>
              <a:t>in the steady-state.</a:t>
            </a:r>
          </a:p>
        </p:txBody>
      </p:sp>
      <p:pic>
        <p:nvPicPr>
          <p:cNvPr id="16" name="Picture 2" descr="A circuit diagram shows current small i sub s from the positive terminal of a voltage source v that passes through terminals 1 and 2 to connect to a capacitor of 1 micro farads. This capacitor is again connected to the negative terminal of the voltage source through terminals 3 and 4. A resistor of 10 ohms is connected across terminals 1 and 4. Current small i sub 1 passes downward through this resistor. Another resistor of 6 ohms is connected to terminal 2 on one side and to the positive terminal of an inductance coil v sub 2 of 40 micro hertz on the other side. The negative terminal of the coil is connected to the terminal 3.">
            <a:extLst>
              <a:ext uri="{FF2B5EF4-FFF2-40B4-BE49-F238E27FC236}">
                <a16:creationId xmlns:a16="http://schemas.microsoft.com/office/drawing/2014/main" id="{93D3B044-CEA6-0326-5A6E-4B9C4A1DCF01}"/>
              </a:ext>
            </a:extLst>
          </p:cNvPr>
          <p:cNvPicPr>
            <a:picLocks noChangeAspect="1" noChangeArrowheads="1"/>
          </p:cNvPicPr>
          <p:nvPr/>
        </p:nvPicPr>
        <p:blipFill>
          <a:blip r:embed="rId9"/>
          <a:stretch>
            <a:fillRect/>
          </a:stretch>
        </p:blipFill>
        <p:spPr bwMode="auto">
          <a:xfrm>
            <a:off x="5135813" y="1702506"/>
            <a:ext cx="3415845" cy="1248984"/>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438150" y="3164536"/>
            <a:ext cx="7636175" cy="775015"/>
          </a:xfrm>
        </p:spPr>
        <p:txBody>
          <a:bodyPr wrap="square" lIns="0" tIns="18000" rIns="0" bIns="18000" anchor="ctr">
            <a:spAutoFit/>
          </a:bodyPr>
          <a:lstStyle/>
          <a:p>
            <a:pPr marL="457200" indent="-457200">
              <a:spcBef>
                <a:spcPts val="600"/>
              </a:spcBef>
              <a:buFont typeface="+mj-lt"/>
              <a:buAutoNum type="arabicPeriod" startAt="6"/>
              <a:defRPr/>
            </a:pPr>
            <a:r>
              <a:rPr lang="en-US" sz="2400" dirty="0"/>
              <a:t>Inverse phasor-transform the result to get back to the time domain.</a:t>
            </a:r>
          </a:p>
        </p:txBody>
      </p:sp>
      <p:pic>
        <p:nvPicPr>
          <p:cNvPr id="14" name="Picture 2" descr="A circuit diagram shows current of 8 amperes at 0 degrees from the positive terminal of a voltage source cap V that passes through terminals 1 and 2 to connect to a capacitor of negative j 5 ohms. This capacitor is again connected to the negative terminal of the voltage source through terminals 3 and 4. A resistor of 10 ohms is connected across terminals 1 and 4. Current cap I sub 1 passes downward through this resistor. Another resistor of 6 ohms is connected to terminal 2 on one side and to the positive terminal of an inductance coil V sub 2 of j 8 ohms on the other side. The negative terminal of the coil is connected to the terminal 3.">
            <a:extLst>
              <a:ext uri="{FF2B5EF4-FFF2-40B4-BE49-F238E27FC236}">
                <a16:creationId xmlns:a16="http://schemas.microsoft.com/office/drawing/2014/main" id="{30258814-2369-3CDF-5787-5A5A852BD83B}"/>
              </a:ext>
            </a:extLst>
          </p:cNvPr>
          <p:cNvPicPr>
            <a:picLocks noChangeAspect="1" noChangeArrowheads="1"/>
          </p:cNvPicPr>
          <p:nvPr/>
        </p:nvPicPr>
        <p:blipFill>
          <a:blip r:embed="rId10"/>
          <a:stretch>
            <a:fillRect/>
          </a:stretch>
        </p:blipFill>
        <p:spPr bwMode="auto">
          <a:xfrm>
            <a:off x="2675334" y="3995477"/>
            <a:ext cx="3810583" cy="1391610"/>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graphicFrame>
        <p:nvGraphicFramePr>
          <p:cNvPr id="17" name="Object 16" descr="I subscript 1 Baseline equals Open Parenthesis 3.2 minus j 2.4 Close Parenthesis Ampere equals 4 angle negative 36.87 degrees Ampere.&#10;">
            <a:extLst>
              <a:ext uri="{FF2B5EF4-FFF2-40B4-BE49-F238E27FC236}">
                <a16:creationId xmlns:a16="http://schemas.microsoft.com/office/drawing/2014/main" id="{13055FD3-F690-B606-215A-0BF83E6969C9}"/>
              </a:ext>
            </a:extLst>
          </p:cNvPr>
          <p:cNvGraphicFramePr>
            <a:graphicFrameLocks noChangeAspect="1"/>
          </p:cNvGraphicFramePr>
          <p:nvPr>
            <p:extLst>
              <p:ext uri="{D42A27DB-BD31-4B8C-83A1-F6EECF244321}">
                <p14:modId xmlns:p14="http://schemas.microsoft.com/office/powerpoint/2010/main" val="1733636072"/>
              </p:ext>
            </p:extLst>
          </p:nvPr>
        </p:nvGraphicFramePr>
        <p:xfrm>
          <a:off x="2486025" y="5516563"/>
          <a:ext cx="3565525" cy="355600"/>
        </p:xfrm>
        <a:graphic>
          <a:graphicData uri="http://schemas.openxmlformats.org/presentationml/2006/ole">
            <mc:AlternateContent xmlns:mc="http://schemas.openxmlformats.org/markup-compatibility/2006">
              <mc:Choice xmlns:v="urn:schemas-microsoft-com:vml" Requires="v">
                <p:oleObj spid="_x0000_s7173" name="Equation" r:id="rId11" imgW="2286000" imgH="228600" progId="Equation.DSMT4">
                  <p:embed/>
                </p:oleObj>
              </mc:Choice>
              <mc:Fallback>
                <p:oleObj name="Equation" r:id="rId11" imgW="2286000" imgH="228600" progId="Equation.DSMT4">
                  <p:embed/>
                  <p:pic>
                    <p:nvPicPr>
                      <p:cNvPr id="4" name="Object 3"/>
                      <p:cNvPicPr>
                        <a:picLocks noChangeAspect="1" noChangeArrowheads="1"/>
                      </p:cNvPicPr>
                      <p:nvPr/>
                    </p:nvPicPr>
                    <p:blipFill>
                      <a:blip r:embed="rId12"/>
                      <a:srcRect/>
                      <a:stretch>
                        <a:fillRect/>
                      </a:stretch>
                    </p:blipFill>
                    <p:spPr bwMode="auto">
                      <a:xfrm>
                        <a:off x="2486025" y="5516563"/>
                        <a:ext cx="356552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17" descr="i subscript 1 Baseline (t) equals Phasor inverse Open CurlyBracket 4 angle negative 36.87 degrees Close CurlyBracket equals 4 cosine Open Parenthesis 200,000 t minus 36.87 degrees Close Parenthesis Ampere.&#10;">
            <a:extLst>
              <a:ext uri="{FF2B5EF4-FFF2-40B4-BE49-F238E27FC236}">
                <a16:creationId xmlns:a16="http://schemas.microsoft.com/office/drawing/2014/main" id="{0B418CEC-66AD-CE5C-A3BD-992DC562FA21}"/>
              </a:ext>
            </a:extLst>
          </p:cNvPr>
          <p:cNvGraphicFramePr>
            <a:graphicFrameLocks noChangeAspect="1"/>
          </p:cNvGraphicFramePr>
          <p:nvPr>
            <p:extLst>
              <p:ext uri="{D42A27DB-BD31-4B8C-83A1-F6EECF244321}">
                <p14:modId xmlns:p14="http://schemas.microsoft.com/office/powerpoint/2010/main" val="1137818708"/>
              </p:ext>
            </p:extLst>
          </p:nvPr>
        </p:nvGraphicFramePr>
        <p:xfrm>
          <a:off x="2266981" y="6000284"/>
          <a:ext cx="5524500" cy="395287"/>
        </p:xfrm>
        <a:graphic>
          <a:graphicData uri="http://schemas.openxmlformats.org/presentationml/2006/ole">
            <mc:AlternateContent xmlns:mc="http://schemas.openxmlformats.org/markup-compatibility/2006">
              <mc:Choice xmlns:v="urn:schemas-microsoft-com:vml" Requires="v">
                <p:oleObj spid="_x0000_s7174" name="Equation" r:id="rId13" imgW="3543120" imgH="253800" progId="Equation.DSMT4">
                  <p:embed/>
                </p:oleObj>
              </mc:Choice>
              <mc:Fallback>
                <p:oleObj name="Equation" r:id="rId13" imgW="3543120" imgH="253800" progId="Equation.DSMT4">
                  <p:embed/>
                  <p:pic>
                    <p:nvPicPr>
                      <p:cNvPr id="17" name="Object 16">
                        <a:extLst>
                          <a:ext uri="{FF2B5EF4-FFF2-40B4-BE49-F238E27FC236}">
                            <a16:creationId xmlns:a16="http://schemas.microsoft.com/office/drawing/2014/main" id="{13055FD3-F690-B606-215A-0BF83E6969C9}"/>
                          </a:ext>
                        </a:extLst>
                      </p:cNvPr>
                      <p:cNvPicPr>
                        <a:picLocks noChangeAspect="1" noChangeArrowheads="1"/>
                      </p:cNvPicPr>
                      <p:nvPr/>
                    </p:nvPicPr>
                    <p:blipFill>
                      <a:blip r:embed="rId14"/>
                      <a:srcRect/>
                      <a:stretch>
                        <a:fillRect/>
                      </a:stretch>
                    </p:blipFill>
                    <p:spPr bwMode="auto">
                      <a:xfrm>
                        <a:off x="2266981" y="6000284"/>
                        <a:ext cx="55245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0820500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08043"/>
            <a:ext cx="8229600" cy="1144347"/>
          </a:xfrm>
        </p:spPr>
        <p:txBody>
          <a:bodyPr anchor="ctr"/>
          <a:lstStyle/>
          <a:p>
            <a:r>
              <a:rPr lang="en-US" noProof="0" dirty="0"/>
              <a:t>Chapter 9 – Sinusoidal Steady-State Analysis </a:t>
            </a:r>
            <a:r>
              <a:rPr lang="en-US" sz="2800" noProof="0" dirty="0"/>
              <a:t>(11 of 17)</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643343"/>
            <a:ext cx="5924550" cy="405683"/>
          </a:xfrm>
        </p:spPr>
        <p:txBody>
          <a:bodyPr wrap="square" lIns="0" tIns="18000" rIns="0" bIns="18000" anchor="ctr">
            <a:spAutoFit/>
          </a:bodyPr>
          <a:lstStyle/>
          <a:p>
            <a:pPr marL="0" indent="0">
              <a:spcBef>
                <a:spcPts val="600"/>
              </a:spcBef>
              <a:buNone/>
            </a:pPr>
            <a:r>
              <a:rPr lang="en-US" altLang="en-US" sz="2400" dirty="0"/>
              <a:t>The most direct way to calculate the phasor</a:t>
            </a:r>
            <a:endParaRPr lang="en-US" sz="2400" noProof="0" dirty="0"/>
          </a:p>
        </p:txBody>
      </p:sp>
      <p:graphicFrame>
        <p:nvGraphicFramePr>
          <p:cNvPr id="2" name="Object 1" descr="V Sub 2">
            <a:extLst>
              <a:ext uri="{FF2B5EF4-FFF2-40B4-BE49-F238E27FC236}">
                <a16:creationId xmlns:a16="http://schemas.microsoft.com/office/drawing/2014/main" id="{93BCC899-A81F-D4C8-3F00-F9E788765518}"/>
              </a:ext>
            </a:extLst>
          </p:cNvPr>
          <p:cNvGraphicFramePr>
            <a:graphicFrameLocks noChangeAspect="1"/>
          </p:cNvGraphicFramePr>
          <p:nvPr>
            <p:extLst>
              <p:ext uri="{D42A27DB-BD31-4B8C-83A1-F6EECF244321}">
                <p14:modId xmlns:p14="http://schemas.microsoft.com/office/powerpoint/2010/main" val="649979218"/>
              </p:ext>
            </p:extLst>
          </p:nvPr>
        </p:nvGraphicFramePr>
        <p:xfrm>
          <a:off x="6398581" y="1677988"/>
          <a:ext cx="334963" cy="427037"/>
        </p:xfrm>
        <a:graphic>
          <a:graphicData uri="http://schemas.openxmlformats.org/presentationml/2006/ole">
            <mc:AlternateContent xmlns:mc="http://schemas.openxmlformats.org/markup-compatibility/2006">
              <mc:Choice xmlns:v="urn:schemas-microsoft-com:vml" Requires="v">
                <p:oleObj spid="_x0000_s8194" name="Equation" r:id="rId6" imgW="177480" imgH="228600" progId="Equation.DSMT4">
                  <p:embed/>
                </p:oleObj>
              </mc:Choice>
              <mc:Fallback>
                <p:oleObj name="Equation" r:id="rId6" imgW="177480" imgH="228600" progId="Equation.DSMT4">
                  <p:embed/>
                  <p:pic>
                    <p:nvPicPr>
                      <p:cNvPr id="2" name="Object 1">
                        <a:extLst>
                          <a:ext uri="{FF2B5EF4-FFF2-40B4-BE49-F238E27FC236}">
                            <a16:creationId xmlns:a16="http://schemas.microsoft.com/office/drawing/2014/main" id="{93BCC899-A81F-D4C8-3F00-F9E788765518}"/>
                          </a:ext>
                        </a:extLst>
                      </p:cNvPr>
                      <p:cNvPicPr>
                        <a:picLocks noChangeAspect="1" noChangeArrowheads="1"/>
                      </p:cNvPicPr>
                      <p:nvPr/>
                    </p:nvPicPr>
                    <p:blipFill>
                      <a:blip r:embed="rId7"/>
                      <a:srcRect/>
                      <a:stretch>
                        <a:fillRect/>
                      </a:stretch>
                    </p:blipFill>
                    <p:spPr bwMode="auto">
                      <a:xfrm>
                        <a:off x="6398581" y="1677988"/>
                        <a:ext cx="334963" cy="427037"/>
                      </a:xfrm>
                      <a:prstGeom prst="rect">
                        <a:avLst/>
                      </a:prstGeom>
                      <a:noFill/>
                      <a:ln w="38100">
                        <a:noFill/>
                        <a:miter lim="800000"/>
                        <a:headEnd/>
                        <a:tailEnd/>
                      </a:ln>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6777144" y="1643342"/>
            <a:ext cx="255587" cy="405683"/>
          </a:xfrm>
        </p:spPr>
        <p:txBody>
          <a:bodyPr wrap="square" lIns="0" tIns="18000" rIns="0" bIns="18000" anchor="ctr">
            <a:spAutoFit/>
          </a:bodyPr>
          <a:lstStyle/>
          <a:p>
            <a:pPr marL="0" indent="0">
              <a:spcBef>
                <a:spcPts val="600"/>
              </a:spcBef>
              <a:buNone/>
            </a:pPr>
            <a:r>
              <a:rPr lang="en-US" sz="2400" noProof="0" dirty="0"/>
              <a:t>is</a:t>
            </a:r>
          </a:p>
        </p:txBody>
      </p:sp>
      <p:pic>
        <p:nvPicPr>
          <p:cNvPr id="12" name="Picture 2" descr="A circuit diagram shows current of 8 amperes at 0 degrees from the positive terminal of a voltage source cap V that passes through terminals 1 and 2 to connect to a capacitor of negative j 5 ohms. This capacitor is again connected to the negative terminal of the voltage source through terminals 3 and 4. A resistor of 10 ohms is connected across terminals 1 and 4. Current cap I sub 1 passes downward through this resistor. Another resistor of 6 ohms is connected to terminal 2 on one side and to the positive terminal of an inductance coil V sub 2 of j 8 ohms on the other side. The negative terminal of the coil is connected to the terminal 3.">
            <a:extLst>
              <a:ext uri="{FF2B5EF4-FFF2-40B4-BE49-F238E27FC236}">
                <a16:creationId xmlns:a16="http://schemas.microsoft.com/office/drawing/2014/main" id="{C7B49620-CEB9-6A56-386F-D4D5E514313B}"/>
              </a:ext>
            </a:extLst>
          </p:cNvPr>
          <p:cNvPicPr>
            <a:picLocks noChangeAspect="1" noChangeArrowheads="1"/>
          </p:cNvPicPr>
          <p:nvPr/>
        </p:nvPicPr>
        <p:blipFill>
          <a:blip r:embed="rId8"/>
          <a:stretch>
            <a:fillRect/>
          </a:stretch>
        </p:blipFill>
        <p:spPr bwMode="auto">
          <a:xfrm>
            <a:off x="2434994" y="2184520"/>
            <a:ext cx="4251346" cy="1552575"/>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pic>
        <p:nvPicPr>
          <p:cNvPr id="5" name="Picture 1435" descr="Check mark">
            <a:extLst>
              <a:ext uri="{FF2B5EF4-FFF2-40B4-BE49-F238E27FC236}">
                <a16:creationId xmlns:a16="http://schemas.microsoft.com/office/drawing/2014/main" id="{A6F0595D-C089-2A44-434D-C1395A4F1D72}"/>
              </a:ext>
            </a:extLst>
          </p:cNvPr>
          <p:cNvPicPr>
            <a:picLocks noChangeAspect="1"/>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838200" y="4078513"/>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71600" y="4015730"/>
            <a:ext cx="3025140"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Voltage division</a:t>
            </a:r>
          </a:p>
        </p:txBody>
      </p:sp>
      <p:pic>
        <p:nvPicPr>
          <p:cNvPr id="3" name="Picture 1434" descr="Cross mark">
            <a:extLst>
              <a:ext uri="{FF2B5EF4-FFF2-40B4-BE49-F238E27FC236}">
                <a16:creationId xmlns:a16="http://schemas.microsoft.com/office/drawing/2014/main" id="{3B1922C9-FAD9-AF39-B8A0-E2D93CF08FAD}"/>
              </a:ext>
            </a:extLst>
          </p:cNvPr>
          <p:cNvPicPr>
            <a:picLocks noChangeAspect="1"/>
          </p:cNvPicPr>
          <p:nvPr>
            <p:custDataLst>
              <p:tags r:id="rId3"/>
            </p:custDataLst>
          </p:nvPr>
        </p:nvPicPr>
        <p:blipFill>
          <a:blip r:embed="rId10">
            <a:extLst>
              <a:ext uri="{28A0092B-C50C-407E-A947-70E740481C1C}">
                <a14:useLocalDpi xmlns:a14="http://schemas.microsoft.com/office/drawing/2010/main" val="0"/>
              </a:ext>
            </a:extLst>
          </a:blip>
          <a:srcRect/>
          <a:stretch>
            <a:fillRect/>
          </a:stretch>
        </p:blipFill>
        <p:spPr bwMode="auto">
          <a:xfrm>
            <a:off x="838200" y="4584030"/>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71600" y="4521247"/>
            <a:ext cx="3893820"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Current division</a:t>
            </a:r>
          </a:p>
        </p:txBody>
      </p:sp>
      <p:pic>
        <p:nvPicPr>
          <p:cNvPr id="4" name="Picture 1436" descr="Cross mark">
            <a:extLst>
              <a:ext uri="{FF2B5EF4-FFF2-40B4-BE49-F238E27FC236}">
                <a16:creationId xmlns:a16="http://schemas.microsoft.com/office/drawing/2014/main" id="{CA83259D-B683-1E33-62A7-2C07B38189D6}"/>
              </a:ext>
            </a:extLst>
          </p:cNvPr>
          <p:cNvPicPr>
            <a:picLocks noChangeAspect="1"/>
          </p:cNvPicPr>
          <p:nvPr>
            <p:custDataLst>
              <p:tags r:id="rId4"/>
            </p:custDataLst>
          </p:nvPr>
        </p:nvPicPr>
        <p:blipFill>
          <a:blip r:embed="rId10">
            <a:extLst>
              <a:ext uri="{28A0092B-C50C-407E-A947-70E740481C1C}">
                <a14:useLocalDpi xmlns:a14="http://schemas.microsoft.com/office/drawing/2010/main" val="0"/>
              </a:ext>
            </a:extLst>
          </a:blip>
          <a:srcRect/>
          <a:stretch>
            <a:fillRect/>
          </a:stretch>
        </p:blipFill>
        <p:spPr bwMode="auto">
          <a:xfrm>
            <a:off x="838200" y="5044642"/>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71600" y="5022417"/>
            <a:ext cx="3962400"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a:t>
            </a:r>
            <a:r>
              <a:rPr lang="en-US" sz="2400" dirty="0"/>
              <a:t>Node voltage method</a:t>
            </a:r>
          </a:p>
        </p:txBody>
      </p:sp>
    </p:spTree>
    <p:extLst>
      <p:ext uri="{BB962C8B-B14F-4D97-AF65-F5344CB8AC3E}">
        <p14:creationId xmlns:p14="http://schemas.microsoft.com/office/powerpoint/2010/main" val="1529423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08414"/>
            <a:ext cx="8229600" cy="1144347"/>
          </a:xfrm>
        </p:spPr>
        <p:txBody>
          <a:bodyPr/>
          <a:lstStyle/>
          <a:p>
            <a:r>
              <a:rPr lang="en-US" dirty="0"/>
              <a:t>Chapter 9 – Sinusoidal Steady-State Analysis </a:t>
            </a:r>
            <a:r>
              <a:rPr lang="en-US" sz="2800" dirty="0"/>
              <a:t>(12 of 17)</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647193"/>
            <a:ext cx="4054475" cy="405683"/>
          </a:xfrm>
        </p:spPr>
        <p:txBody>
          <a:bodyPr lIns="0" tIns="18000" rIns="0" bIns="18000" anchor="ctr">
            <a:spAutoFit/>
          </a:bodyPr>
          <a:lstStyle/>
          <a:p>
            <a:pPr marL="0" indent="0">
              <a:spcBef>
                <a:spcPts val="600"/>
              </a:spcBef>
              <a:buNone/>
            </a:pPr>
            <a:r>
              <a:rPr lang="en-US" sz="2400" dirty="0"/>
              <a:t>Example (continued):</a:t>
            </a:r>
          </a:p>
        </p:txBody>
      </p:sp>
      <p:graphicFrame>
        <p:nvGraphicFramePr>
          <p:cNvPr id="39" name="Object 38" descr="i subscript s Baseline (t) equals 8 cosine (200,000 t) Ampere.&#10;">
            <a:extLst>
              <a:ext uri="{FF2B5EF4-FFF2-40B4-BE49-F238E27FC236}">
                <a16:creationId xmlns:a16="http://schemas.microsoft.com/office/drawing/2014/main" id="{79BC4023-B1D6-A677-1E85-04484805679B}"/>
              </a:ext>
            </a:extLst>
          </p:cNvPr>
          <p:cNvGraphicFramePr>
            <a:graphicFrameLocks noChangeAspect="1"/>
          </p:cNvGraphicFramePr>
          <p:nvPr>
            <p:extLst>
              <p:ext uri="{D42A27DB-BD31-4B8C-83A1-F6EECF244321}">
                <p14:modId xmlns:p14="http://schemas.microsoft.com/office/powerpoint/2010/main" val="2047231711"/>
              </p:ext>
            </p:extLst>
          </p:nvPr>
        </p:nvGraphicFramePr>
        <p:xfrm>
          <a:off x="425450" y="2191863"/>
          <a:ext cx="3303588" cy="454025"/>
        </p:xfrm>
        <a:graphic>
          <a:graphicData uri="http://schemas.openxmlformats.org/presentationml/2006/ole">
            <mc:AlternateContent xmlns:mc="http://schemas.openxmlformats.org/markup-compatibility/2006">
              <mc:Choice xmlns:v="urn:schemas-microsoft-com:vml" Requires="v">
                <p:oleObj spid="_x0000_s9218" name="Equation" r:id="rId3" imgW="1663560" imgH="228600" progId="Equation.DSMT4">
                  <p:embed/>
                </p:oleObj>
              </mc:Choice>
              <mc:Fallback>
                <p:oleObj name="Equation" r:id="rId3" imgW="1663560" imgH="228600" progId="Equation.DSMT4">
                  <p:embed/>
                  <p:pic>
                    <p:nvPicPr>
                      <p:cNvPr id="39" name="Object 38">
                        <a:extLst>
                          <a:ext uri="{FF2B5EF4-FFF2-40B4-BE49-F238E27FC236}">
                            <a16:creationId xmlns:a16="http://schemas.microsoft.com/office/drawing/2014/main" id="{79BC4023-B1D6-A677-1E85-04484805679B}"/>
                          </a:ext>
                        </a:extLst>
                      </p:cNvPr>
                      <p:cNvPicPr>
                        <a:picLocks noChangeAspect="1" noChangeArrowheads="1"/>
                      </p:cNvPicPr>
                      <p:nvPr/>
                    </p:nvPicPr>
                    <p:blipFill>
                      <a:blip r:embed="rId4"/>
                      <a:srcRect/>
                      <a:stretch>
                        <a:fillRect/>
                      </a:stretch>
                    </p:blipFill>
                    <p:spPr bwMode="auto">
                      <a:xfrm>
                        <a:off x="425450" y="2191863"/>
                        <a:ext cx="3303588" cy="454025"/>
                      </a:xfrm>
                      <a:prstGeom prst="rect">
                        <a:avLst/>
                      </a:prstGeom>
                      <a:noFill/>
                      <a:ln w="38100">
                        <a:noFill/>
                        <a:miter lim="800000"/>
                        <a:headEnd/>
                        <a:tailEnd/>
                      </a:ln>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3761181" y="2177044"/>
            <a:ext cx="1216818" cy="405683"/>
          </a:xfrm>
        </p:spPr>
        <p:txBody>
          <a:bodyPr wrap="square" lIns="0" tIns="18000" rIns="0" bIns="18000" anchor="ctr">
            <a:spAutoFit/>
          </a:bodyPr>
          <a:lstStyle/>
          <a:p>
            <a:pPr marL="0" indent="0">
              <a:spcBef>
                <a:spcPts val="600"/>
              </a:spcBef>
              <a:buNone/>
            </a:pPr>
            <a:r>
              <a:rPr lang="en-US" sz="2400" dirty="0"/>
              <a:t>Find </a:t>
            </a:r>
            <a:r>
              <a:rPr lang="en-US" sz="2400" i="1" dirty="0"/>
              <a:t>v(t),</a:t>
            </a:r>
          </a:p>
        </p:txBody>
      </p:sp>
      <p:graphicFrame>
        <p:nvGraphicFramePr>
          <p:cNvPr id="40" name="Object 39" descr="i subscript 1 Baseline (t),&#10;">
            <a:extLst>
              <a:ext uri="{FF2B5EF4-FFF2-40B4-BE49-F238E27FC236}">
                <a16:creationId xmlns:a16="http://schemas.microsoft.com/office/drawing/2014/main" id="{4DA64872-ED77-C50C-B52B-BBFFEFBF8A3C}"/>
              </a:ext>
            </a:extLst>
          </p:cNvPr>
          <p:cNvGraphicFramePr>
            <a:graphicFrameLocks noChangeAspect="1"/>
          </p:cNvGraphicFramePr>
          <p:nvPr>
            <p:extLst>
              <p:ext uri="{D42A27DB-BD31-4B8C-83A1-F6EECF244321}">
                <p14:modId xmlns:p14="http://schemas.microsoft.com/office/powerpoint/2010/main" val="3633099887"/>
              </p:ext>
            </p:extLst>
          </p:nvPr>
        </p:nvGraphicFramePr>
        <p:xfrm>
          <a:off x="430530" y="2711512"/>
          <a:ext cx="606425" cy="454025"/>
        </p:xfrm>
        <a:graphic>
          <a:graphicData uri="http://schemas.openxmlformats.org/presentationml/2006/ole">
            <mc:AlternateContent xmlns:mc="http://schemas.openxmlformats.org/markup-compatibility/2006">
              <mc:Choice xmlns:v="urn:schemas-microsoft-com:vml" Requires="v">
                <p:oleObj spid="_x0000_s9219" name="Equation" r:id="rId5" imgW="304560" imgH="228600" progId="Equation.DSMT4">
                  <p:embed/>
                </p:oleObj>
              </mc:Choice>
              <mc:Fallback>
                <p:oleObj name="Equation" r:id="rId5" imgW="304560" imgH="228600" progId="Equation.DSMT4">
                  <p:embed/>
                  <p:pic>
                    <p:nvPicPr>
                      <p:cNvPr id="40" name="Object 39">
                        <a:extLst>
                          <a:ext uri="{FF2B5EF4-FFF2-40B4-BE49-F238E27FC236}">
                            <a16:creationId xmlns:a16="http://schemas.microsoft.com/office/drawing/2014/main" id="{4DA64872-ED77-C50C-B52B-BBFFEFBF8A3C}"/>
                          </a:ext>
                        </a:extLst>
                      </p:cNvPr>
                      <p:cNvPicPr>
                        <a:picLocks noChangeAspect="1" noChangeArrowheads="1"/>
                      </p:cNvPicPr>
                      <p:nvPr/>
                    </p:nvPicPr>
                    <p:blipFill>
                      <a:blip r:embed="rId6"/>
                      <a:srcRect/>
                      <a:stretch>
                        <a:fillRect/>
                      </a:stretch>
                    </p:blipFill>
                    <p:spPr bwMode="auto">
                      <a:xfrm>
                        <a:off x="430530" y="2711512"/>
                        <a:ext cx="606425" cy="454025"/>
                      </a:xfrm>
                      <a:prstGeom prst="rect">
                        <a:avLst/>
                      </a:prstGeom>
                      <a:noFill/>
                      <a:ln w="38100">
                        <a:noFill/>
                        <a:miter lim="800000"/>
                        <a:headEnd/>
                        <a:tailEnd/>
                      </a:ln>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082198" y="2700320"/>
            <a:ext cx="532607" cy="405683"/>
          </a:xfrm>
        </p:spPr>
        <p:txBody>
          <a:bodyPr wrap="square" lIns="0" tIns="18000" rIns="0" bIns="18000" anchor="ctr">
            <a:spAutoFit/>
          </a:bodyPr>
          <a:lstStyle/>
          <a:p>
            <a:pPr marL="0" indent="0">
              <a:spcBef>
                <a:spcPts val="600"/>
              </a:spcBef>
              <a:buNone/>
            </a:pPr>
            <a:r>
              <a:rPr lang="en-US" sz="2400" dirty="0"/>
              <a:t>and</a:t>
            </a:r>
          </a:p>
        </p:txBody>
      </p:sp>
      <p:graphicFrame>
        <p:nvGraphicFramePr>
          <p:cNvPr id="41" name="Object 40" descr="v subscript 2 Baseline (t).&#10;">
            <a:extLst>
              <a:ext uri="{FF2B5EF4-FFF2-40B4-BE49-F238E27FC236}">
                <a16:creationId xmlns:a16="http://schemas.microsoft.com/office/drawing/2014/main" id="{8381366A-3E75-FEDF-4942-543995EDBD50}"/>
              </a:ext>
            </a:extLst>
          </p:cNvPr>
          <p:cNvGraphicFramePr>
            <a:graphicFrameLocks noChangeAspect="1"/>
          </p:cNvGraphicFramePr>
          <p:nvPr>
            <p:extLst>
              <p:ext uri="{D42A27DB-BD31-4B8C-83A1-F6EECF244321}">
                <p14:modId xmlns:p14="http://schemas.microsoft.com/office/powerpoint/2010/main" val="2941534315"/>
              </p:ext>
            </p:extLst>
          </p:nvPr>
        </p:nvGraphicFramePr>
        <p:xfrm>
          <a:off x="1636235" y="2710968"/>
          <a:ext cx="657225" cy="454025"/>
        </p:xfrm>
        <a:graphic>
          <a:graphicData uri="http://schemas.openxmlformats.org/presentationml/2006/ole">
            <mc:AlternateContent xmlns:mc="http://schemas.openxmlformats.org/markup-compatibility/2006">
              <mc:Choice xmlns:v="urn:schemas-microsoft-com:vml" Requires="v">
                <p:oleObj spid="_x0000_s9220" name="Equation" r:id="rId7" imgW="330120" imgH="228600" progId="Equation.DSMT4">
                  <p:embed/>
                </p:oleObj>
              </mc:Choice>
              <mc:Fallback>
                <p:oleObj name="Equation" r:id="rId7" imgW="330120" imgH="228600" progId="Equation.DSMT4">
                  <p:embed/>
                  <p:pic>
                    <p:nvPicPr>
                      <p:cNvPr id="41" name="Object 40">
                        <a:extLst>
                          <a:ext uri="{FF2B5EF4-FFF2-40B4-BE49-F238E27FC236}">
                            <a16:creationId xmlns:a16="http://schemas.microsoft.com/office/drawing/2014/main" id="{8381366A-3E75-FEDF-4942-543995EDBD50}"/>
                          </a:ext>
                        </a:extLst>
                      </p:cNvPr>
                      <p:cNvPicPr>
                        <a:picLocks noChangeAspect="1" noChangeArrowheads="1"/>
                      </p:cNvPicPr>
                      <p:nvPr/>
                    </p:nvPicPr>
                    <p:blipFill>
                      <a:blip r:embed="rId8"/>
                      <a:srcRect/>
                      <a:stretch>
                        <a:fillRect/>
                      </a:stretch>
                    </p:blipFill>
                    <p:spPr bwMode="auto">
                      <a:xfrm>
                        <a:off x="1636235" y="2710968"/>
                        <a:ext cx="657225" cy="454025"/>
                      </a:xfrm>
                      <a:prstGeom prst="rect">
                        <a:avLst/>
                      </a:prstGeom>
                      <a:noFill/>
                      <a:ln w="38100">
                        <a:noFill/>
                        <a:miter lim="800000"/>
                        <a:headEnd/>
                        <a:tailEnd/>
                      </a:ln>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2321240" y="2700955"/>
            <a:ext cx="2619060" cy="405683"/>
          </a:xfrm>
        </p:spPr>
        <p:txBody>
          <a:bodyPr wrap="square" lIns="0" tIns="18000" rIns="0" bIns="18000" anchor="ctr">
            <a:spAutoFit/>
          </a:bodyPr>
          <a:lstStyle/>
          <a:p>
            <a:pPr marL="0" indent="0">
              <a:spcBef>
                <a:spcPts val="600"/>
              </a:spcBef>
              <a:buNone/>
            </a:pPr>
            <a:r>
              <a:rPr lang="en-US" sz="2400" dirty="0"/>
              <a:t>in the steady-state.</a:t>
            </a:r>
          </a:p>
        </p:txBody>
      </p:sp>
      <p:pic>
        <p:nvPicPr>
          <p:cNvPr id="2" name="Picture 2" descr="A circuit diagram shows current small i sub s from the positive terminal of a voltage source v that passes through terminals 1 and 2 to connect to a capacitor of 1 micro farads. This capacitor is again connected to the negative terminal of the voltage source through terminals 3 and 4. A resistor of 10 ohms is connected across terminals 1 and 4. Current small i sub 1 passes downward through this resistor. Another resistor of 6 ohms is connected to terminal 2 on one side and to the positive terminal of an inductance coil v sub 2 of 40 micro hertz on the other side. The negative terminal of the coil is connected to the terminal 3.">
            <a:extLst>
              <a:ext uri="{FF2B5EF4-FFF2-40B4-BE49-F238E27FC236}">
                <a16:creationId xmlns:a16="http://schemas.microsoft.com/office/drawing/2014/main" id="{FF0B2EA8-3C74-C5FD-638B-88372AF0430F}"/>
              </a:ext>
            </a:extLst>
          </p:cNvPr>
          <p:cNvPicPr>
            <a:picLocks noChangeAspect="1" noChangeArrowheads="1"/>
          </p:cNvPicPr>
          <p:nvPr/>
        </p:nvPicPr>
        <p:blipFill>
          <a:blip r:embed="rId9"/>
          <a:stretch>
            <a:fillRect/>
          </a:stretch>
        </p:blipFill>
        <p:spPr bwMode="auto">
          <a:xfrm>
            <a:off x="5180177" y="1712166"/>
            <a:ext cx="3430200" cy="1254233"/>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438150" y="3288821"/>
            <a:ext cx="7610295" cy="405683"/>
          </a:xfrm>
        </p:spPr>
        <p:txBody>
          <a:bodyPr wrap="square" lIns="0" tIns="18000" rIns="0" bIns="18000" anchor="ctr">
            <a:spAutoFit/>
          </a:bodyPr>
          <a:lstStyle/>
          <a:p>
            <a:pPr marL="457200" indent="-457200">
              <a:spcBef>
                <a:spcPts val="600"/>
              </a:spcBef>
              <a:buFont typeface="+mj-lt"/>
              <a:buAutoNum type="arabicPeriod" startAt="5"/>
              <a:defRPr/>
            </a:pPr>
            <a:r>
              <a:rPr lang="en-US" sz="2400" dirty="0"/>
              <a:t>Use </a:t>
            </a:r>
            <a:r>
              <a:rPr lang="en-US" sz="2400" spc="-300" dirty="0"/>
              <a:t>D </a:t>
            </a:r>
            <a:r>
              <a:rPr lang="en-US" sz="2400" dirty="0"/>
              <a:t>C circuit analysis techniques to find the phasor</a:t>
            </a:r>
          </a:p>
        </p:txBody>
      </p:sp>
      <p:graphicFrame>
        <p:nvGraphicFramePr>
          <p:cNvPr id="44" name="Object 2" descr="V Sub 2">
            <a:extLst>
              <a:ext uri="{FF2B5EF4-FFF2-40B4-BE49-F238E27FC236}">
                <a16:creationId xmlns:a16="http://schemas.microsoft.com/office/drawing/2014/main" id="{23AFCAF0-4BC5-7213-0482-D37855E3FC8C}"/>
              </a:ext>
            </a:extLst>
          </p:cNvPr>
          <p:cNvGraphicFramePr>
            <a:graphicFrameLocks noChangeAspect="1"/>
          </p:cNvGraphicFramePr>
          <p:nvPr>
            <p:extLst>
              <p:ext uri="{D42A27DB-BD31-4B8C-83A1-F6EECF244321}">
                <p14:modId xmlns:p14="http://schemas.microsoft.com/office/powerpoint/2010/main" val="375123606"/>
              </p:ext>
            </p:extLst>
          </p:nvPr>
        </p:nvGraphicFramePr>
        <p:xfrm>
          <a:off x="8117455" y="3370451"/>
          <a:ext cx="363538" cy="361950"/>
        </p:xfrm>
        <a:graphic>
          <a:graphicData uri="http://schemas.openxmlformats.org/presentationml/2006/ole">
            <mc:AlternateContent xmlns:mc="http://schemas.openxmlformats.org/markup-compatibility/2006">
              <mc:Choice xmlns:v="urn:schemas-microsoft-com:vml" Requires="v">
                <p:oleObj spid="_x0000_s9221" name="Equation" r:id="rId10" imgW="228600" imgH="228600" progId="Equation.DSMT4">
                  <p:embed/>
                </p:oleObj>
              </mc:Choice>
              <mc:Fallback>
                <p:oleObj name="Equation" r:id="rId10" imgW="228600" imgH="228600" progId="Equation.DSMT4">
                  <p:embed/>
                  <p:pic>
                    <p:nvPicPr>
                      <p:cNvPr id="44" name="Object 2">
                        <a:extLst>
                          <a:ext uri="{FF2B5EF4-FFF2-40B4-BE49-F238E27FC236}">
                            <a16:creationId xmlns:a16="http://schemas.microsoft.com/office/drawing/2014/main" id="{23AFCAF0-4BC5-7213-0482-D37855E3FC8C}"/>
                          </a:ext>
                        </a:extLst>
                      </p:cNvPr>
                      <p:cNvPicPr>
                        <a:picLocks noChangeAspect="1" noChangeArrowheads="1"/>
                      </p:cNvPicPr>
                      <p:nvPr/>
                    </p:nvPicPr>
                    <p:blipFill>
                      <a:blip r:embed="rId11"/>
                      <a:srcRect/>
                      <a:stretch>
                        <a:fillRect/>
                      </a:stretch>
                    </p:blipFill>
                    <p:spPr bwMode="auto">
                      <a:xfrm>
                        <a:off x="8117455" y="3370451"/>
                        <a:ext cx="363538"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438150" y="3770298"/>
            <a:ext cx="3668024" cy="405683"/>
          </a:xfrm>
        </p:spPr>
        <p:txBody>
          <a:bodyPr wrap="square" lIns="0" tIns="18000" rIns="0" bIns="18000" anchor="ctr">
            <a:spAutoFit/>
          </a:bodyPr>
          <a:lstStyle/>
          <a:p>
            <a:pPr marL="829818" lvl="1" indent="-342900"/>
            <a:r>
              <a:rPr lang="en-US" sz="2400" dirty="0"/>
              <a:t>Use voltage division.</a:t>
            </a:r>
          </a:p>
        </p:txBody>
      </p:sp>
      <p:pic>
        <p:nvPicPr>
          <p:cNvPr id="4" name="Picture 2" descr="A circuit diagram shows current of 8 amperes at 0 degrees from the positive terminal of a voltage source cap V that passes through terminals 1 and 2 to connect to a capacitor of negative j 5 ohms. This capacitor is again connected to the negative terminal of the voltage source through terminals 3 and 4. A resistor of 10 ohms is connected across terminals 1 and 4. Current cap I sub 1 passes downward through this resistor. Another resistor of 6 ohms is connected to terminal 2 on one side and to the positive terminal of an inductance coil V sub 2 of j 8 ohms on the other side. The negative terminal of the coil is connected to the terminal 3.">
            <a:extLst>
              <a:ext uri="{FF2B5EF4-FFF2-40B4-BE49-F238E27FC236}">
                <a16:creationId xmlns:a16="http://schemas.microsoft.com/office/drawing/2014/main" id="{14A14A8F-2DAB-BEF0-DE07-0FD47D021260}"/>
              </a:ext>
            </a:extLst>
          </p:cNvPr>
          <p:cNvPicPr>
            <a:picLocks noChangeAspect="1" noChangeArrowheads="1"/>
          </p:cNvPicPr>
          <p:nvPr/>
        </p:nvPicPr>
        <p:blipFill>
          <a:blip r:embed="rId12"/>
          <a:stretch>
            <a:fillRect/>
          </a:stretch>
        </p:blipFill>
        <p:spPr bwMode="auto">
          <a:xfrm>
            <a:off x="724431" y="4346258"/>
            <a:ext cx="3810583" cy="1391610"/>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graphicFrame>
        <p:nvGraphicFramePr>
          <p:cNvPr id="3" name="Object 2" descr="V subscript 2 Baseline equals Start Fraction Z subscript L Baseline over Z subscript R Baseline plus Z subscript L Baseline End Fraction V equals Start Fraction j 8 over 6 plus j 8 End Fraction Open Parenthesis 32 minus j 24 Close Parenthesis equals (32 plus j 0) V.">
            <a:extLst>
              <a:ext uri="{FF2B5EF4-FFF2-40B4-BE49-F238E27FC236}">
                <a16:creationId xmlns:a16="http://schemas.microsoft.com/office/drawing/2014/main" id="{CEA35E02-7EF6-2357-AD9D-328F3BBD948B}"/>
              </a:ext>
            </a:extLst>
          </p:cNvPr>
          <p:cNvGraphicFramePr>
            <a:graphicFrameLocks noChangeAspect="1"/>
          </p:cNvGraphicFramePr>
          <p:nvPr>
            <p:extLst>
              <p:ext uri="{D42A27DB-BD31-4B8C-83A1-F6EECF244321}">
                <p14:modId xmlns:p14="http://schemas.microsoft.com/office/powerpoint/2010/main" val="794994265"/>
              </p:ext>
            </p:extLst>
          </p:nvPr>
        </p:nvGraphicFramePr>
        <p:xfrm>
          <a:off x="4756150" y="4518787"/>
          <a:ext cx="3760788" cy="1093788"/>
        </p:xfrm>
        <a:graphic>
          <a:graphicData uri="http://schemas.openxmlformats.org/presentationml/2006/ole">
            <mc:AlternateContent xmlns:mc="http://schemas.openxmlformats.org/markup-compatibility/2006">
              <mc:Choice xmlns:v="urn:schemas-microsoft-com:vml" Requires="v">
                <p:oleObj spid="_x0000_s9222" name="Equation" r:id="rId13" imgW="2273040" imgH="660240" progId="Equation.DSMT4">
                  <p:embed/>
                </p:oleObj>
              </mc:Choice>
              <mc:Fallback>
                <p:oleObj name="Equation" r:id="rId13" imgW="2273040" imgH="660240" progId="Equation.DSMT4">
                  <p:embed/>
                  <p:pic>
                    <p:nvPicPr>
                      <p:cNvPr id="9" name="Object 2"/>
                      <p:cNvPicPr>
                        <a:picLocks noChangeAspect="1" noChangeArrowheads="1"/>
                      </p:cNvPicPr>
                      <p:nvPr/>
                    </p:nvPicPr>
                    <p:blipFill>
                      <a:blip r:embed="rId14"/>
                      <a:srcRect/>
                      <a:stretch>
                        <a:fillRect/>
                      </a:stretch>
                    </p:blipFill>
                    <p:spPr bwMode="auto">
                      <a:xfrm>
                        <a:off x="4756150" y="4518787"/>
                        <a:ext cx="3760788" cy="1093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68595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43379" y="217038"/>
            <a:ext cx="8229600" cy="1144347"/>
          </a:xfrm>
        </p:spPr>
        <p:txBody>
          <a:bodyPr/>
          <a:lstStyle/>
          <a:p>
            <a:r>
              <a:rPr lang="en-US" noProof="0" dirty="0"/>
              <a:t>Chapter 9 – Sinusoidal Steady-State Analysis </a:t>
            </a:r>
            <a:r>
              <a:rPr lang="en-US" sz="2800" noProof="0" dirty="0"/>
              <a:t>(13 of 17)</a:t>
            </a:r>
            <a:endParaRPr lang="en-US" sz="280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74662"/>
            <a:ext cx="4054475" cy="405683"/>
          </a:xfrm>
        </p:spPr>
        <p:txBody>
          <a:bodyPr lIns="0" tIns="18000" rIns="0" bIns="18000" anchor="ctr">
            <a:spAutoFit/>
          </a:bodyPr>
          <a:lstStyle/>
          <a:p>
            <a:pPr marL="0" indent="0">
              <a:spcBef>
                <a:spcPts val="600"/>
              </a:spcBef>
              <a:buNone/>
            </a:pPr>
            <a:r>
              <a:rPr lang="en-US" sz="2400" dirty="0"/>
              <a:t>Example (continued):</a:t>
            </a:r>
          </a:p>
        </p:txBody>
      </p:sp>
      <p:graphicFrame>
        <p:nvGraphicFramePr>
          <p:cNvPr id="39" name="Object 38" descr="i subscript s Baseline (t) equals 8 cosine (200,000 t) Ampere.&#10;">
            <a:extLst>
              <a:ext uri="{FF2B5EF4-FFF2-40B4-BE49-F238E27FC236}">
                <a16:creationId xmlns:a16="http://schemas.microsoft.com/office/drawing/2014/main" id="{79BC4023-B1D6-A677-1E85-04484805679B}"/>
              </a:ext>
            </a:extLst>
          </p:cNvPr>
          <p:cNvGraphicFramePr>
            <a:graphicFrameLocks noChangeAspect="1"/>
          </p:cNvGraphicFramePr>
          <p:nvPr>
            <p:extLst>
              <p:ext uri="{D42A27DB-BD31-4B8C-83A1-F6EECF244321}">
                <p14:modId xmlns:p14="http://schemas.microsoft.com/office/powerpoint/2010/main" val="1208883452"/>
              </p:ext>
            </p:extLst>
          </p:nvPr>
        </p:nvGraphicFramePr>
        <p:xfrm>
          <a:off x="425450" y="2019332"/>
          <a:ext cx="3303588" cy="454025"/>
        </p:xfrm>
        <a:graphic>
          <a:graphicData uri="http://schemas.openxmlformats.org/presentationml/2006/ole">
            <mc:AlternateContent xmlns:mc="http://schemas.openxmlformats.org/markup-compatibility/2006">
              <mc:Choice xmlns:v="urn:schemas-microsoft-com:vml" Requires="v">
                <p:oleObj spid="_x0000_s10242" name="Equation" r:id="rId3" imgW="1663560" imgH="228600" progId="Equation.DSMT4">
                  <p:embed/>
                </p:oleObj>
              </mc:Choice>
              <mc:Fallback>
                <p:oleObj name="Equation" r:id="rId3" imgW="1663560" imgH="228600" progId="Equation.DSMT4">
                  <p:embed/>
                  <p:pic>
                    <p:nvPicPr>
                      <p:cNvPr id="39" name="Object 38">
                        <a:extLst>
                          <a:ext uri="{FF2B5EF4-FFF2-40B4-BE49-F238E27FC236}">
                            <a16:creationId xmlns:a16="http://schemas.microsoft.com/office/drawing/2014/main" id="{79BC4023-B1D6-A677-1E85-04484805679B}"/>
                          </a:ext>
                        </a:extLst>
                      </p:cNvPr>
                      <p:cNvPicPr>
                        <a:picLocks noChangeAspect="1" noChangeArrowheads="1"/>
                      </p:cNvPicPr>
                      <p:nvPr/>
                    </p:nvPicPr>
                    <p:blipFill>
                      <a:blip r:embed="rId4"/>
                      <a:srcRect/>
                      <a:stretch>
                        <a:fillRect/>
                      </a:stretch>
                    </p:blipFill>
                    <p:spPr bwMode="auto">
                      <a:xfrm>
                        <a:off x="425450" y="2019332"/>
                        <a:ext cx="3303588" cy="454025"/>
                      </a:xfrm>
                      <a:prstGeom prst="rect">
                        <a:avLst/>
                      </a:prstGeom>
                      <a:noFill/>
                      <a:ln w="38100">
                        <a:noFill/>
                        <a:miter lim="800000"/>
                        <a:headEnd/>
                        <a:tailEnd/>
                      </a:ln>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3761181" y="2004513"/>
            <a:ext cx="1216818" cy="405683"/>
          </a:xfrm>
        </p:spPr>
        <p:txBody>
          <a:bodyPr wrap="square" lIns="0" tIns="18000" rIns="0" bIns="18000" anchor="ctr">
            <a:spAutoFit/>
          </a:bodyPr>
          <a:lstStyle/>
          <a:p>
            <a:pPr marL="0" indent="0">
              <a:spcBef>
                <a:spcPts val="600"/>
              </a:spcBef>
              <a:buNone/>
            </a:pPr>
            <a:r>
              <a:rPr lang="en-US" sz="2400" dirty="0"/>
              <a:t>Find </a:t>
            </a:r>
            <a:r>
              <a:rPr lang="en-US" sz="2400" i="1" dirty="0"/>
              <a:t>v(t),</a:t>
            </a:r>
          </a:p>
        </p:txBody>
      </p:sp>
      <p:graphicFrame>
        <p:nvGraphicFramePr>
          <p:cNvPr id="40" name="Object 39" descr="i subscript 1 Baseline (t),&#10;">
            <a:extLst>
              <a:ext uri="{FF2B5EF4-FFF2-40B4-BE49-F238E27FC236}">
                <a16:creationId xmlns:a16="http://schemas.microsoft.com/office/drawing/2014/main" id="{4DA64872-ED77-C50C-B52B-BBFFEFBF8A3C}"/>
              </a:ext>
            </a:extLst>
          </p:cNvPr>
          <p:cNvGraphicFramePr>
            <a:graphicFrameLocks noChangeAspect="1"/>
          </p:cNvGraphicFramePr>
          <p:nvPr>
            <p:extLst>
              <p:ext uri="{D42A27DB-BD31-4B8C-83A1-F6EECF244321}">
                <p14:modId xmlns:p14="http://schemas.microsoft.com/office/powerpoint/2010/main" val="2595510243"/>
              </p:ext>
            </p:extLst>
          </p:nvPr>
        </p:nvGraphicFramePr>
        <p:xfrm>
          <a:off x="430530" y="2538981"/>
          <a:ext cx="606425" cy="454025"/>
        </p:xfrm>
        <a:graphic>
          <a:graphicData uri="http://schemas.openxmlformats.org/presentationml/2006/ole">
            <mc:AlternateContent xmlns:mc="http://schemas.openxmlformats.org/markup-compatibility/2006">
              <mc:Choice xmlns:v="urn:schemas-microsoft-com:vml" Requires="v">
                <p:oleObj spid="_x0000_s10243" name="Equation" r:id="rId5" imgW="304560" imgH="228600" progId="Equation.DSMT4">
                  <p:embed/>
                </p:oleObj>
              </mc:Choice>
              <mc:Fallback>
                <p:oleObj name="Equation" r:id="rId5" imgW="304560" imgH="228600" progId="Equation.DSMT4">
                  <p:embed/>
                  <p:pic>
                    <p:nvPicPr>
                      <p:cNvPr id="40" name="Object 39">
                        <a:extLst>
                          <a:ext uri="{FF2B5EF4-FFF2-40B4-BE49-F238E27FC236}">
                            <a16:creationId xmlns:a16="http://schemas.microsoft.com/office/drawing/2014/main" id="{4DA64872-ED77-C50C-B52B-BBFFEFBF8A3C}"/>
                          </a:ext>
                        </a:extLst>
                      </p:cNvPr>
                      <p:cNvPicPr>
                        <a:picLocks noChangeAspect="1" noChangeArrowheads="1"/>
                      </p:cNvPicPr>
                      <p:nvPr/>
                    </p:nvPicPr>
                    <p:blipFill>
                      <a:blip r:embed="rId6"/>
                      <a:srcRect/>
                      <a:stretch>
                        <a:fillRect/>
                      </a:stretch>
                    </p:blipFill>
                    <p:spPr bwMode="auto">
                      <a:xfrm>
                        <a:off x="430530" y="2538981"/>
                        <a:ext cx="606425" cy="454025"/>
                      </a:xfrm>
                      <a:prstGeom prst="rect">
                        <a:avLst/>
                      </a:prstGeom>
                      <a:noFill/>
                      <a:ln w="38100">
                        <a:noFill/>
                        <a:miter lim="800000"/>
                        <a:headEnd/>
                        <a:tailEnd/>
                      </a:ln>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082198" y="2527789"/>
            <a:ext cx="532607" cy="405683"/>
          </a:xfrm>
        </p:spPr>
        <p:txBody>
          <a:bodyPr wrap="square" lIns="0" tIns="18000" rIns="0" bIns="18000" anchor="ctr">
            <a:spAutoFit/>
          </a:bodyPr>
          <a:lstStyle/>
          <a:p>
            <a:pPr marL="0" indent="0">
              <a:spcBef>
                <a:spcPts val="600"/>
              </a:spcBef>
              <a:buNone/>
            </a:pPr>
            <a:r>
              <a:rPr lang="en-US" sz="2400" dirty="0"/>
              <a:t>and</a:t>
            </a:r>
          </a:p>
        </p:txBody>
      </p:sp>
      <p:graphicFrame>
        <p:nvGraphicFramePr>
          <p:cNvPr id="41" name="Object 40" descr="v subscript 2 Baseline (t).&#10;">
            <a:extLst>
              <a:ext uri="{FF2B5EF4-FFF2-40B4-BE49-F238E27FC236}">
                <a16:creationId xmlns:a16="http://schemas.microsoft.com/office/drawing/2014/main" id="{8381366A-3E75-FEDF-4942-543995EDBD50}"/>
              </a:ext>
            </a:extLst>
          </p:cNvPr>
          <p:cNvGraphicFramePr>
            <a:graphicFrameLocks noChangeAspect="1"/>
          </p:cNvGraphicFramePr>
          <p:nvPr>
            <p:extLst>
              <p:ext uri="{D42A27DB-BD31-4B8C-83A1-F6EECF244321}">
                <p14:modId xmlns:p14="http://schemas.microsoft.com/office/powerpoint/2010/main" val="3558712101"/>
              </p:ext>
            </p:extLst>
          </p:nvPr>
        </p:nvGraphicFramePr>
        <p:xfrm>
          <a:off x="1636235" y="2538437"/>
          <a:ext cx="657225" cy="454025"/>
        </p:xfrm>
        <a:graphic>
          <a:graphicData uri="http://schemas.openxmlformats.org/presentationml/2006/ole">
            <mc:AlternateContent xmlns:mc="http://schemas.openxmlformats.org/markup-compatibility/2006">
              <mc:Choice xmlns:v="urn:schemas-microsoft-com:vml" Requires="v">
                <p:oleObj spid="_x0000_s10244" name="Equation" r:id="rId7" imgW="330120" imgH="228600" progId="Equation.DSMT4">
                  <p:embed/>
                </p:oleObj>
              </mc:Choice>
              <mc:Fallback>
                <p:oleObj name="Equation" r:id="rId7" imgW="330120" imgH="228600" progId="Equation.DSMT4">
                  <p:embed/>
                  <p:pic>
                    <p:nvPicPr>
                      <p:cNvPr id="41" name="Object 40">
                        <a:extLst>
                          <a:ext uri="{FF2B5EF4-FFF2-40B4-BE49-F238E27FC236}">
                            <a16:creationId xmlns:a16="http://schemas.microsoft.com/office/drawing/2014/main" id="{8381366A-3E75-FEDF-4942-543995EDBD50}"/>
                          </a:ext>
                        </a:extLst>
                      </p:cNvPr>
                      <p:cNvPicPr>
                        <a:picLocks noChangeAspect="1" noChangeArrowheads="1"/>
                      </p:cNvPicPr>
                      <p:nvPr/>
                    </p:nvPicPr>
                    <p:blipFill>
                      <a:blip r:embed="rId8"/>
                      <a:srcRect/>
                      <a:stretch>
                        <a:fillRect/>
                      </a:stretch>
                    </p:blipFill>
                    <p:spPr bwMode="auto">
                      <a:xfrm>
                        <a:off x="1636235" y="2538437"/>
                        <a:ext cx="657225" cy="454025"/>
                      </a:xfrm>
                      <a:prstGeom prst="rect">
                        <a:avLst/>
                      </a:prstGeom>
                      <a:noFill/>
                      <a:ln w="38100">
                        <a:noFill/>
                        <a:miter lim="800000"/>
                        <a:headEnd/>
                        <a:tailEnd/>
                      </a:ln>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2321240" y="2528424"/>
            <a:ext cx="2619060" cy="405683"/>
          </a:xfrm>
        </p:spPr>
        <p:txBody>
          <a:bodyPr wrap="square" lIns="0" tIns="18000" rIns="0" bIns="18000" anchor="ctr">
            <a:spAutoFit/>
          </a:bodyPr>
          <a:lstStyle/>
          <a:p>
            <a:pPr marL="0" indent="0">
              <a:spcBef>
                <a:spcPts val="600"/>
              </a:spcBef>
              <a:buNone/>
            </a:pPr>
            <a:r>
              <a:rPr lang="en-US" sz="2400" dirty="0"/>
              <a:t>in the steady-state.</a:t>
            </a:r>
          </a:p>
        </p:txBody>
      </p:sp>
      <p:pic>
        <p:nvPicPr>
          <p:cNvPr id="11" name="Picture 2" descr="A circuit diagram shows current small i sub s from the positive terminal of a voltage source v that passes through terminals 1 and 2 to connect to a capacitor of 1 micro farads. This capacitor is again connected to the negative terminal of the voltage source through terminals 3 and 4. A resistor of 10 ohms is connected across terminals 1 and 4. Current small i sub 1 passes downward through this resistor. Another resistor of 6 ohms is connected to terminal 2 on one side and to the positive terminal of an inductance coil v sub 2 of 40 micro hertz on the other side. The negative terminal of the coil is connected to the terminal 3.">
            <a:extLst>
              <a:ext uri="{FF2B5EF4-FFF2-40B4-BE49-F238E27FC236}">
                <a16:creationId xmlns:a16="http://schemas.microsoft.com/office/drawing/2014/main" id="{D499A2F1-752D-6936-E65D-6B7BE0543841}"/>
              </a:ext>
            </a:extLst>
          </p:cNvPr>
          <p:cNvPicPr>
            <a:picLocks noChangeAspect="1" noChangeArrowheads="1"/>
          </p:cNvPicPr>
          <p:nvPr/>
        </p:nvPicPr>
        <p:blipFill>
          <a:blip r:embed="rId9"/>
          <a:stretch>
            <a:fillRect/>
          </a:stretch>
        </p:blipFill>
        <p:spPr bwMode="auto">
          <a:xfrm>
            <a:off x="5130055" y="1541976"/>
            <a:ext cx="3444616" cy="1259504"/>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438150" y="3104152"/>
            <a:ext cx="7636175" cy="775015"/>
          </a:xfrm>
        </p:spPr>
        <p:txBody>
          <a:bodyPr wrap="square" lIns="0" tIns="18000" rIns="0" bIns="18000" anchor="ctr">
            <a:spAutoFit/>
          </a:bodyPr>
          <a:lstStyle/>
          <a:p>
            <a:pPr marL="457200" indent="-457200">
              <a:spcBef>
                <a:spcPts val="600"/>
              </a:spcBef>
              <a:buFont typeface="+mj-lt"/>
              <a:buAutoNum type="arabicPeriod" startAt="6"/>
              <a:defRPr/>
            </a:pPr>
            <a:r>
              <a:rPr lang="en-US" sz="2400" dirty="0"/>
              <a:t>Inverse phasor-transform the result to get back to the time domain.</a:t>
            </a:r>
          </a:p>
        </p:txBody>
      </p:sp>
      <p:pic>
        <p:nvPicPr>
          <p:cNvPr id="3" name="Picture 2" descr="A circuit diagram shows current of 8 amperes at 0 degrees from the positive terminal of a voltage source cap V that passes through terminals 1 and 2 to connect to a capacitor of negative j 5 ohms. This capacitor is again connected to the negative terminal of the voltage source through terminals 3 and 4. A resistor of 10 ohms is connected across terminals 1 and 4. Current cap I sub 1 passes downward through this resistor. Another resistor of 6 ohms is connected to terminal 2 on one side and to the positive terminal of an inductance coil V sub 2 of j 8 ohms on the other side. The negative terminal of the coil is connected to the terminal 3.">
            <a:extLst>
              <a:ext uri="{FF2B5EF4-FFF2-40B4-BE49-F238E27FC236}">
                <a16:creationId xmlns:a16="http://schemas.microsoft.com/office/drawing/2014/main" id="{00098DB8-FE3A-A582-0226-DF8422FD0EF2}"/>
              </a:ext>
            </a:extLst>
          </p:cNvPr>
          <p:cNvPicPr>
            <a:picLocks noChangeAspect="1" noChangeArrowheads="1"/>
          </p:cNvPicPr>
          <p:nvPr/>
        </p:nvPicPr>
        <p:blipFill>
          <a:blip r:embed="rId10"/>
          <a:stretch>
            <a:fillRect/>
          </a:stretch>
        </p:blipFill>
        <p:spPr bwMode="auto">
          <a:xfrm>
            <a:off x="2768417" y="3996498"/>
            <a:ext cx="3589740" cy="1310959"/>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graphicFrame>
        <p:nvGraphicFramePr>
          <p:cNvPr id="4" name="Object 3" descr="V subscript 2 Baseline equals Open Parenthesis 32 plus j 0 Close Parenthesis Volts equals 32 angle 0 degrees Volts.&#10;">
            <a:extLst>
              <a:ext uri="{FF2B5EF4-FFF2-40B4-BE49-F238E27FC236}">
                <a16:creationId xmlns:a16="http://schemas.microsoft.com/office/drawing/2014/main" id="{AAC41FA7-FC97-1559-642D-AE23BF370C6C}"/>
              </a:ext>
            </a:extLst>
          </p:cNvPr>
          <p:cNvGraphicFramePr>
            <a:graphicFrameLocks noChangeAspect="1"/>
          </p:cNvGraphicFramePr>
          <p:nvPr>
            <p:extLst>
              <p:ext uri="{D42A27DB-BD31-4B8C-83A1-F6EECF244321}">
                <p14:modId xmlns:p14="http://schemas.microsoft.com/office/powerpoint/2010/main" val="3366236161"/>
              </p:ext>
            </p:extLst>
          </p:nvPr>
        </p:nvGraphicFramePr>
        <p:xfrm>
          <a:off x="2909888" y="5483225"/>
          <a:ext cx="2747962" cy="338138"/>
        </p:xfrm>
        <a:graphic>
          <a:graphicData uri="http://schemas.openxmlformats.org/presentationml/2006/ole">
            <mc:AlternateContent xmlns:mc="http://schemas.openxmlformats.org/markup-compatibility/2006">
              <mc:Choice xmlns:v="urn:schemas-microsoft-com:vml" Requires="v">
                <p:oleObj spid="_x0000_s10245" name="Equation" r:id="rId11" imgW="1854000" imgH="228600" progId="Equation.DSMT4">
                  <p:embed/>
                </p:oleObj>
              </mc:Choice>
              <mc:Fallback>
                <p:oleObj name="Equation" r:id="rId11" imgW="1854000" imgH="228600" progId="Equation.DSMT4">
                  <p:embed/>
                  <p:pic>
                    <p:nvPicPr>
                      <p:cNvPr id="6" name="Object 5"/>
                      <p:cNvPicPr>
                        <a:picLocks noChangeAspect="1" noChangeArrowheads="1"/>
                      </p:cNvPicPr>
                      <p:nvPr/>
                    </p:nvPicPr>
                    <p:blipFill>
                      <a:blip r:embed="rId12"/>
                      <a:srcRect/>
                      <a:stretch>
                        <a:fillRect/>
                      </a:stretch>
                    </p:blipFill>
                    <p:spPr bwMode="auto">
                      <a:xfrm>
                        <a:off x="2909888" y="5483225"/>
                        <a:ext cx="27479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4" descr="v subscript 2 Baseline (t) equals Phasor inverse Open CurlyBracket 32 angle 0 degrees Close CurlyBracket equals 32 cosine 200,000 t Volts.&#10;">
            <a:extLst>
              <a:ext uri="{FF2B5EF4-FFF2-40B4-BE49-F238E27FC236}">
                <a16:creationId xmlns:a16="http://schemas.microsoft.com/office/drawing/2014/main" id="{2E0AB1C4-576F-1B8E-EE31-5AB7755E9D41}"/>
              </a:ext>
            </a:extLst>
          </p:cNvPr>
          <p:cNvGraphicFramePr>
            <a:graphicFrameLocks noChangeAspect="1"/>
          </p:cNvGraphicFramePr>
          <p:nvPr>
            <p:extLst>
              <p:ext uri="{D42A27DB-BD31-4B8C-83A1-F6EECF244321}">
                <p14:modId xmlns:p14="http://schemas.microsoft.com/office/powerpoint/2010/main" val="307353334"/>
              </p:ext>
            </p:extLst>
          </p:nvPr>
        </p:nvGraphicFramePr>
        <p:xfrm>
          <a:off x="2714625" y="5915025"/>
          <a:ext cx="3954463" cy="376238"/>
        </p:xfrm>
        <a:graphic>
          <a:graphicData uri="http://schemas.openxmlformats.org/presentationml/2006/ole">
            <mc:AlternateContent xmlns:mc="http://schemas.openxmlformats.org/markup-compatibility/2006">
              <mc:Choice xmlns:v="urn:schemas-microsoft-com:vml" Requires="v">
                <p:oleObj spid="_x0000_s10246" name="Equation" r:id="rId13" imgW="2666880" imgH="253800" progId="Equation.DSMT4">
                  <p:embed/>
                </p:oleObj>
              </mc:Choice>
              <mc:Fallback>
                <p:oleObj name="Equation" r:id="rId13" imgW="2666880" imgH="253800" progId="Equation.DSMT4">
                  <p:embed/>
                  <p:pic>
                    <p:nvPicPr>
                      <p:cNvPr id="4" name="Object 3">
                        <a:extLst>
                          <a:ext uri="{FF2B5EF4-FFF2-40B4-BE49-F238E27FC236}">
                            <a16:creationId xmlns:a16="http://schemas.microsoft.com/office/drawing/2014/main" id="{AAC41FA7-FC97-1559-642D-AE23BF370C6C}"/>
                          </a:ext>
                        </a:extLst>
                      </p:cNvPr>
                      <p:cNvPicPr>
                        <a:picLocks noChangeAspect="1" noChangeArrowheads="1"/>
                      </p:cNvPicPr>
                      <p:nvPr/>
                    </p:nvPicPr>
                    <p:blipFill>
                      <a:blip r:embed="rId14"/>
                      <a:srcRect/>
                      <a:stretch>
                        <a:fillRect/>
                      </a:stretch>
                    </p:blipFill>
                    <p:spPr bwMode="auto">
                      <a:xfrm>
                        <a:off x="2714625" y="5915025"/>
                        <a:ext cx="3954463"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9259781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43379" y="217038"/>
            <a:ext cx="8229600" cy="1144347"/>
          </a:xfrm>
        </p:spPr>
        <p:txBody>
          <a:bodyPr/>
          <a:lstStyle/>
          <a:p>
            <a:r>
              <a:rPr lang="en-US" noProof="0" dirty="0"/>
              <a:t>Chapter 9 – Sinusoidal Steady-State Analysis </a:t>
            </a:r>
            <a:r>
              <a:rPr lang="en-US" sz="2800" noProof="0" dirty="0"/>
              <a:t>(14 of 17)</a:t>
            </a:r>
            <a:endParaRPr lang="en-US" sz="280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74662"/>
            <a:ext cx="8232775" cy="405683"/>
          </a:xfrm>
        </p:spPr>
        <p:txBody>
          <a:bodyPr wrap="square" lIns="0" tIns="18000" rIns="0" bIns="18000" anchor="ctr">
            <a:spAutoFit/>
          </a:bodyPr>
          <a:lstStyle/>
          <a:p>
            <a:pPr marL="0" indent="0">
              <a:spcBef>
                <a:spcPts val="600"/>
              </a:spcBef>
              <a:buNone/>
            </a:pPr>
            <a:r>
              <a:rPr lang="en-US" altLang="en-US" sz="2400" dirty="0"/>
              <a:t>Suppose we can vary the frequency of the current source.</a:t>
            </a:r>
            <a:endParaRPr lang="en-US" sz="2400" dirty="0"/>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1909624"/>
            <a:ext cx="3547253" cy="405683"/>
          </a:xfrm>
        </p:spPr>
        <p:txBody>
          <a:bodyPr wrap="square" lIns="0" tIns="18000" rIns="0" bIns="18000" anchor="ctr">
            <a:spAutoFit/>
          </a:bodyPr>
          <a:lstStyle/>
          <a:p>
            <a:pPr marL="0" indent="0">
              <a:spcBef>
                <a:spcPts val="600"/>
              </a:spcBef>
              <a:buNone/>
            </a:pPr>
            <a:r>
              <a:rPr lang="en-US" altLang="en-US" sz="2400" dirty="0"/>
              <a:t>What frequency will cause</a:t>
            </a:r>
            <a:endParaRPr lang="en-US" sz="2400" i="1" dirty="0"/>
          </a:p>
        </p:txBody>
      </p:sp>
      <p:graphicFrame>
        <p:nvGraphicFramePr>
          <p:cNvPr id="14" name="Object 13" descr="i subscript s Baseline (t).&#10;">
            <a:extLst>
              <a:ext uri="{FF2B5EF4-FFF2-40B4-BE49-F238E27FC236}">
                <a16:creationId xmlns:a16="http://schemas.microsoft.com/office/drawing/2014/main" id="{9EC77A51-725D-EF90-50C1-DB5FDB28CBCD}"/>
              </a:ext>
            </a:extLst>
          </p:cNvPr>
          <p:cNvGraphicFramePr>
            <a:graphicFrameLocks noChangeAspect="1"/>
          </p:cNvGraphicFramePr>
          <p:nvPr>
            <p:extLst>
              <p:ext uri="{D42A27DB-BD31-4B8C-83A1-F6EECF244321}">
                <p14:modId xmlns:p14="http://schemas.microsoft.com/office/powerpoint/2010/main" val="1766655489"/>
              </p:ext>
            </p:extLst>
          </p:nvPr>
        </p:nvGraphicFramePr>
        <p:xfrm>
          <a:off x="4029974" y="1959901"/>
          <a:ext cx="558800" cy="412115"/>
        </p:xfrm>
        <a:graphic>
          <a:graphicData uri="http://schemas.openxmlformats.org/presentationml/2006/ole">
            <mc:AlternateContent xmlns:mc="http://schemas.openxmlformats.org/markup-compatibility/2006">
              <mc:Choice xmlns:v="urn:schemas-microsoft-com:vml" Requires="v">
                <p:oleObj spid="_x0000_s11266" name="Equation" r:id="rId3" imgW="342720" imgH="253800" progId="Equation.DSMT4">
                  <p:embed/>
                </p:oleObj>
              </mc:Choice>
              <mc:Fallback>
                <p:oleObj name="Equation" r:id="rId3" imgW="342720" imgH="253800" progId="Equation.DSMT4">
                  <p:embed/>
                  <p:pic>
                    <p:nvPicPr>
                      <p:cNvPr id="4" name="Object 3">
                        <a:extLst>
                          <a:ext uri="{FF2B5EF4-FFF2-40B4-BE49-F238E27FC236}">
                            <a16:creationId xmlns:a16="http://schemas.microsoft.com/office/drawing/2014/main" id="{AAC41FA7-FC97-1559-642D-AE23BF370C6C}"/>
                          </a:ext>
                        </a:extLst>
                      </p:cNvPr>
                      <p:cNvPicPr>
                        <a:picLocks noChangeAspect="1" noChangeArrowheads="1"/>
                      </p:cNvPicPr>
                      <p:nvPr/>
                    </p:nvPicPr>
                    <p:blipFill>
                      <a:blip r:embed="rId4"/>
                      <a:srcRect/>
                      <a:stretch>
                        <a:fillRect/>
                      </a:stretch>
                    </p:blipFill>
                    <p:spPr bwMode="auto">
                      <a:xfrm>
                        <a:off x="4029974" y="1959901"/>
                        <a:ext cx="558800" cy="412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641014" y="1922589"/>
            <a:ext cx="3949101" cy="405683"/>
          </a:xfrm>
        </p:spPr>
        <p:txBody>
          <a:bodyPr wrap="square" lIns="0" tIns="18000" rIns="0" bIns="18000" anchor="ctr">
            <a:spAutoFit/>
          </a:bodyPr>
          <a:lstStyle/>
          <a:p>
            <a:pPr marL="0" indent="0">
              <a:spcBef>
                <a:spcPts val="600"/>
              </a:spcBef>
              <a:buNone/>
            </a:pPr>
            <a:r>
              <a:rPr lang="en-US" altLang="en-US" sz="2400" dirty="0"/>
              <a:t>and </a:t>
            </a:r>
            <a:r>
              <a:rPr lang="en-US" altLang="en-US" sz="2400" i="1" dirty="0"/>
              <a:t>v(t)</a:t>
            </a:r>
            <a:r>
              <a:rPr lang="en-US" altLang="en-US" sz="2400" dirty="0"/>
              <a:t> to be </a:t>
            </a:r>
            <a:r>
              <a:rPr lang="en-US" altLang="en-US" sz="2400" u="sng" dirty="0"/>
              <a:t>in-phase</a:t>
            </a:r>
            <a:r>
              <a:rPr lang="en-US" altLang="en-US" sz="2400" dirty="0"/>
              <a:t> in the</a:t>
            </a:r>
            <a:endParaRPr lang="en-US" sz="2400" dirty="0"/>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41396" y="2345991"/>
            <a:ext cx="1956747" cy="405683"/>
          </a:xfrm>
        </p:spPr>
        <p:txBody>
          <a:bodyPr wrap="square" lIns="0" tIns="18000" rIns="0" bIns="18000" anchor="ctr">
            <a:spAutoFit/>
          </a:bodyPr>
          <a:lstStyle/>
          <a:p>
            <a:pPr marL="0" indent="0">
              <a:spcBef>
                <a:spcPts val="600"/>
              </a:spcBef>
              <a:buNone/>
            </a:pPr>
            <a:r>
              <a:rPr lang="en-US" altLang="en-US" sz="2400" dirty="0"/>
              <a:t>steady-state?</a:t>
            </a:r>
            <a:endParaRPr lang="en-US" sz="2400" dirty="0"/>
          </a:p>
        </p:txBody>
      </p:sp>
      <p:pic>
        <p:nvPicPr>
          <p:cNvPr id="13" name="Picture 2" descr="A circuit diagram shows current small i sub s from the positive terminal of a voltage source v that passes through terminals 1 and 2 to connect to a capacitor of 1 micro farads. This capacitor is again connected to the negative terminal of the voltage source through terminals 3 and 4. A resistor of 10 ohms is connected across terminals 1 and 4. Current small i sub 1 passes downward through this resistor. Another resistor of 6 ohms is connected to terminal 2 on one side and to the positive terminal of an inductance coil v sub 2 of 40 micro hertz on the other side. The negative terminal of the coil is connected to the terminal 3.">
            <a:extLst>
              <a:ext uri="{FF2B5EF4-FFF2-40B4-BE49-F238E27FC236}">
                <a16:creationId xmlns:a16="http://schemas.microsoft.com/office/drawing/2014/main" id="{D7A505CC-31E3-2034-A0C0-723B7A34384B}"/>
              </a:ext>
            </a:extLst>
          </p:cNvPr>
          <p:cNvPicPr>
            <a:picLocks noChangeAspect="1" noChangeArrowheads="1"/>
          </p:cNvPicPr>
          <p:nvPr/>
        </p:nvPicPr>
        <p:blipFill>
          <a:blip r:embed="rId5"/>
          <a:stretch>
            <a:fillRect/>
          </a:stretch>
        </p:blipFill>
        <p:spPr bwMode="auto">
          <a:xfrm>
            <a:off x="2488006" y="3163720"/>
            <a:ext cx="4167986" cy="1524000"/>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50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2" y="213987"/>
            <a:ext cx="8229600" cy="1144347"/>
          </a:xfrm>
        </p:spPr>
        <p:txBody>
          <a:bodyPr/>
          <a:lstStyle/>
          <a:p>
            <a:r>
              <a:rPr lang="en-US" dirty="0"/>
              <a:t>Chapter 9 – Sinusoidal Steady-State Analysis </a:t>
            </a:r>
            <a:r>
              <a:rPr lang="en-US" sz="2800" dirty="0"/>
              <a:t>(15 of 17)</a:t>
            </a:r>
            <a:endParaRPr lang="en-US"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1" y="1555898"/>
            <a:ext cx="234710" cy="405683"/>
          </a:xfrm>
        </p:spPr>
        <p:txBody>
          <a:bodyPr wrap="square" lIns="0" tIns="18000" rIns="0" bIns="18000" anchor="ctr">
            <a:spAutoFit/>
          </a:bodyPr>
          <a:lstStyle/>
          <a:p>
            <a:pPr marL="0" indent="0">
              <a:spcBef>
                <a:spcPts val="600"/>
              </a:spcBef>
              <a:buNone/>
            </a:pPr>
            <a:r>
              <a:rPr lang="en-US" altLang="en-US" sz="2400" dirty="0"/>
              <a:t>If</a:t>
            </a:r>
            <a:endParaRPr lang="en-US" sz="2400" dirty="0"/>
          </a:p>
        </p:txBody>
      </p:sp>
      <p:graphicFrame>
        <p:nvGraphicFramePr>
          <p:cNvPr id="50" name="Object 49" descr="i subscript s Baseline (t).&#10;">
            <a:extLst>
              <a:ext uri="{FF2B5EF4-FFF2-40B4-BE49-F238E27FC236}">
                <a16:creationId xmlns:a16="http://schemas.microsoft.com/office/drawing/2014/main" id="{ECDA98F0-7035-DEC3-800B-F10FB53EC013}"/>
              </a:ext>
            </a:extLst>
          </p:cNvPr>
          <p:cNvGraphicFramePr>
            <a:graphicFrameLocks noChangeAspect="1"/>
          </p:cNvGraphicFramePr>
          <p:nvPr>
            <p:extLst>
              <p:ext uri="{D42A27DB-BD31-4B8C-83A1-F6EECF244321}">
                <p14:modId xmlns:p14="http://schemas.microsoft.com/office/powerpoint/2010/main" val="415567395"/>
              </p:ext>
            </p:extLst>
          </p:nvPr>
        </p:nvGraphicFramePr>
        <p:xfrm>
          <a:off x="728663" y="1570038"/>
          <a:ext cx="517525" cy="411162"/>
        </p:xfrm>
        <a:graphic>
          <a:graphicData uri="http://schemas.openxmlformats.org/presentationml/2006/ole">
            <mc:AlternateContent xmlns:mc="http://schemas.openxmlformats.org/markup-compatibility/2006">
              <mc:Choice xmlns:v="urn:schemas-microsoft-com:vml" Requires="v">
                <p:oleObj spid="_x0000_s12290" name="Equation" r:id="rId3" imgW="317160" imgH="253800" progId="Equation.DSMT4">
                  <p:embed/>
                </p:oleObj>
              </mc:Choice>
              <mc:Fallback>
                <p:oleObj name="Equation" r:id="rId3" imgW="317160" imgH="253800" progId="Equation.DSMT4">
                  <p:embed/>
                  <p:pic>
                    <p:nvPicPr>
                      <p:cNvPr id="14" name="Object 13">
                        <a:extLst>
                          <a:ext uri="{FF2B5EF4-FFF2-40B4-BE49-F238E27FC236}">
                            <a16:creationId xmlns:a16="http://schemas.microsoft.com/office/drawing/2014/main" id="{9EC77A51-725D-EF90-50C1-DB5FDB28CBCD}"/>
                          </a:ext>
                        </a:extLst>
                      </p:cNvPr>
                      <p:cNvPicPr>
                        <a:picLocks noChangeAspect="1" noChangeArrowheads="1"/>
                      </p:cNvPicPr>
                      <p:nvPr/>
                    </p:nvPicPr>
                    <p:blipFill>
                      <a:blip r:embed="rId4"/>
                      <a:srcRect/>
                      <a:stretch>
                        <a:fillRect/>
                      </a:stretch>
                    </p:blipFill>
                    <p:spPr bwMode="auto">
                      <a:xfrm>
                        <a:off x="728663" y="1570038"/>
                        <a:ext cx="517525"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293058" y="1543281"/>
            <a:ext cx="7075458" cy="405683"/>
          </a:xfrm>
        </p:spPr>
        <p:txBody>
          <a:bodyPr wrap="square" lIns="0" tIns="18000" rIns="0" bIns="18000" anchor="ctr">
            <a:spAutoFit/>
          </a:bodyPr>
          <a:lstStyle/>
          <a:p>
            <a:pPr marL="0" indent="0">
              <a:spcBef>
                <a:spcPts val="600"/>
              </a:spcBef>
              <a:buNone/>
            </a:pPr>
            <a:r>
              <a:rPr lang="en-US" altLang="en-US" sz="2400" dirty="0"/>
              <a:t>and </a:t>
            </a:r>
            <a:r>
              <a:rPr lang="en-US" altLang="en-US" sz="2400" i="1" dirty="0"/>
              <a:t>v(t)</a:t>
            </a:r>
            <a:r>
              <a:rPr lang="en-US" altLang="en-US" sz="2400" dirty="0"/>
              <a:t> are </a:t>
            </a:r>
            <a:r>
              <a:rPr lang="en-US" altLang="en-US" sz="2400" u="sng" dirty="0"/>
              <a:t>in-phase</a:t>
            </a:r>
            <a:r>
              <a:rPr lang="en-US" altLang="en-US" sz="2400" dirty="0"/>
              <a:t> in the steady-state, this means</a:t>
            </a:r>
            <a:endParaRPr lang="en-US" sz="2400" dirty="0"/>
          </a:p>
        </p:txBody>
      </p:sp>
      <p:pic>
        <p:nvPicPr>
          <p:cNvPr id="49" name="Picture 2" descr="A circuit diagram shows current small i sub s from the positive terminal of a voltage source v that passes through terminals 1 and 2 to connect to a capacitor of 1 micro farads. This capacitor is again connected to the negative terminal of the voltage source through terminals 3 and 4. A resistor of 10 ohms is connected across terminals 1 and 4. Current small i sub 1 passes downward through this resistor. Another resistor of 6 ohms is connected to terminal 2 on one side and to the positive terminal of an inductance coil v sub 2 of 40 micro hertz on the other side. The negative terminal of the coil is connected to the terminal 3.">
            <a:extLst>
              <a:ext uri="{FF2B5EF4-FFF2-40B4-BE49-F238E27FC236}">
                <a16:creationId xmlns:a16="http://schemas.microsoft.com/office/drawing/2014/main" id="{D4BBE678-C83F-B58E-D115-651234412CCC}"/>
              </a:ext>
            </a:extLst>
          </p:cNvPr>
          <p:cNvPicPr>
            <a:picLocks noChangeAspect="1" noChangeArrowheads="1"/>
          </p:cNvPicPr>
          <p:nvPr/>
        </p:nvPicPr>
        <p:blipFill>
          <a:blip r:embed="rId5"/>
          <a:stretch>
            <a:fillRect/>
          </a:stretch>
        </p:blipFill>
        <p:spPr bwMode="auto">
          <a:xfrm>
            <a:off x="2482584" y="2093342"/>
            <a:ext cx="4167986" cy="1524000"/>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pic>
        <p:nvPicPr>
          <p:cNvPr id="45" name="Picture 5" descr="Cross mark">
            <a:extLst>
              <a:ext uri="{FF2B5EF4-FFF2-40B4-BE49-F238E27FC236}">
                <a16:creationId xmlns:a16="http://schemas.microsoft.com/office/drawing/2014/main" id="{3A61EB9D-9821-F730-A1D7-47576F23853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1063" y="3825627"/>
            <a:ext cx="302849" cy="2781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145516" y="3757105"/>
            <a:ext cx="5212152" cy="405683"/>
          </a:xfrm>
        </p:spPr>
        <p:txBody>
          <a:bodyPr wrap="square" lIns="0" tIns="18000" rIns="0" bIns="18000" anchor="ctr">
            <a:spAutoFit/>
          </a:bodyPr>
          <a:lstStyle/>
          <a:p>
            <a:pPr marL="0" indent="0">
              <a:buNone/>
              <a:defRPr/>
            </a:pPr>
            <a:r>
              <a:rPr lang="en-US" sz="2400" dirty="0">
                <a:solidFill>
                  <a:srgbClr val="007FA3"/>
                </a:solidFill>
              </a:rPr>
              <a:t>A. </a:t>
            </a:r>
            <a:r>
              <a:rPr lang="en-US" sz="2400" dirty="0"/>
              <a:t>Their phase angles are the same.</a:t>
            </a:r>
          </a:p>
        </p:txBody>
      </p:sp>
      <p:pic>
        <p:nvPicPr>
          <p:cNvPr id="46" name="Picture 4" descr="Cross mark">
            <a:extLst>
              <a:ext uri="{FF2B5EF4-FFF2-40B4-BE49-F238E27FC236}">
                <a16:creationId xmlns:a16="http://schemas.microsoft.com/office/drawing/2014/main" id="{CA36DAD6-A51C-DEA3-A36A-6553D203D23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66920" y="4290365"/>
            <a:ext cx="302849" cy="2781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145516" y="4246819"/>
            <a:ext cx="6739027" cy="405683"/>
          </a:xfrm>
        </p:spPr>
        <p:txBody>
          <a:bodyPr wrap="square" lIns="0" tIns="18000" rIns="0" bIns="18000" anchor="ctr">
            <a:spAutoFit/>
          </a:bodyPr>
          <a:lstStyle/>
          <a:p>
            <a:pPr marL="0" indent="0">
              <a:spcBef>
                <a:spcPts val="600"/>
              </a:spcBef>
              <a:buNone/>
            </a:pPr>
            <a:r>
              <a:rPr lang="en-US" sz="2400" dirty="0">
                <a:solidFill>
                  <a:srgbClr val="007FA3"/>
                </a:solidFill>
              </a:rPr>
              <a:t>B.</a:t>
            </a:r>
            <a:r>
              <a:rPr lang="en-US" sz="2400" dirty="0"/>
              <a:t> The equivalent impedance seen by the current</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542360" y="4686299"/>
            <a:ext cx="3875029" cy="405683"/>
          </a:xfrm>
        </p:spPr>
        <p:txBody>
          <a:bodyPr wrap="square" lIns="0" tIns="18000" rIns="0" bIns="18000" anchor="ctr">
            <a:spAutoFit/>
          </a:bodyPr>
          <a:lstStyle/>
          <a:p>
            <a:pPr marL="0" indent="0">
              <a:spcBef>
                <a:spcPts val="600"/>
              </a:spcBef>
              <a:buNone/>
            </a:pPr>
            <a:r>
              <a:rPr lang="en-US" sz="2400" dirty="0"/>
              <a:t>source has a phase angle of</a:t>
            </a:r>
          </a:p>
        </p:txBody>
      </p:sp>
      <p:graphicFrame>
        <p:nvGraphicFramePr>
          <p:cNvPr id="51" name="Object 50" descr="0 degrees.&#10;">
            <a:extLst>
              <a:ext uri="{FF2B5EF4-FFF2-40B4-BE49-F238E27FC236}">
                <a16:creationId xmlns:a16="http://schemas.microsoft.com/office/drawing/2014/main" id="{7EFB3076-E160-29E4-F192-588B3132465C}"/>
              </a:ext>
            </a:extLst>
          </p:cNvPr>
          <p:cNvGraphicFramePr>
            <a:graphicFrameLocks noChangeAspect="1"/>
          </p:cNvGraphicFramePr>
          <p:nvPr>
            <p:extLst>
              <p:ext uri="{D42A27DB-BD31-4B8C-83A1-F6EECF244321}">
                <p14:modId xmlns:p14="http://schemas.microsoft.com/office/powerpoint/2010/main" val="2184654310"/>
              </p:ext>
            </p:extLst>
          </p:nvPr>
        </p:nvGraphicFramePr>
        <p:xfrm>
          <a:off x="5444274" y="4746131"/>
          <a:ext cx="422804" cy="325649"/>
        </p:xfrm>
        <a:graphic>
          <a:graphicData uri="http://schemas.openxmlformats.org/presentationml/2006/ole">
            <mc:AlternateContent xmlns:mc="http://schemas.openxmlformats.org/markup-compatibility/2006">
              <mc:Choice xmlns:v="urn:schemas-microsoft-com:vml" Requires="v">
                <p:oleObj spid="_x0000_s12291" name="Equation" r:id="rId7" imgW="228600" imgH="177480" progId="Equation.DSMT4">
                  <p:embed/>
                </p:oleObj>
              </mc:Choice>
              <mc:Fallback>
                <p:oleObj name="Equation" r:id="rId7" imgW="228600" imgH="177480" progId="Equation.DSMT4">
                  <p:embed/>
                  <p:pic>
                    <p:nvPicPr>
                      <p:cNvPr id="50" name="Object 49">
                        <a:extLst>
                          <a:ext uri="{FF2B5EF4-FFF2-40B4-BE49-F238E27FC236}">
                            <a16:creationId xmlns:a16="http://schemas.microsoft.com/office/drawing/2014/main" id="{ECDA98F0-7035-DEC3-800B-F10FB53EC013}"/>
                          </a:ext>
                        </a:extLst>
                      </p:cNvPr>
                      <p:cNvPicPr>
                        <a:picLocks noChangeAspect="1" noChangeArrowheads="1"/>
                      </p:cNvPicPr>
                      <p:nvPr/>
                    </p:nvPicPr>
                    <p:blipFill>
                      <a:blip r:embed="rId8"/>
                      <a:srcRect/>
                      <a:stretch>
                        <a:fillRect/>
                      </a:stretch>
                    </p:blipFill>
                    <p:spPr bwMode="auto">
                      <a:xfrm>
                        <a:off x="5444274" y="4746131"/>
                        <a:ext cx="422804" cy="325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7" name="Picture 3" descr="Cross mark">
            <a:extLst>
              <a:ext uri="{FF2B5EF4-FFF2-40B4-BE49-F238E27FC236}">
                <a16:creationId xmlns:a16="http://schemas.microsoft.com/office/drawing/2014/main" id="{02A20086-3414-BE03-CEB2-BBF6C55FEFA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66920" y="5213713"/>
            <a:ext cx="302849" cy="2781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145516" y="5158379"/>
            <a:ext cx="7525409" cy="775015"/>
          </a:xfrm>
        </p:spPr>
        <p:txBody>
          <a:bodyPr wrap="square" lIns="0" tIns="18000" rIns="0" bIns="18000" anchor="ctr">
            <a:spAutoFit/>
          </a:bodyPr>
          <a:lstStyle/>
          <a:p>
            <a:pPr marL="361950" indent="-361950">
              <a:buNone/>
              <a:defRPr/>
            </a:pPr>
            <a:r>
              <a:rPr lang="en-US" sz="2400" dirty="0">
                <a:solidFill>
                  <a:srgbClr val="007FA3"/>
                </a:solidFill>
              </a:rPr>
              <a:t>C.</a:t>
            </a:r>
            <a:r>
              <a:rPr lang="en-US" sz="2400" dirty="0"/>
              <a:t> The equivalent impedance seen by the current source is purely resistive.</a:t>
            </a:r>
          </a:p>
        </p:txBody>
      </p:sp>
      <p:pic>
        <p:nvPicPr>
          <p:cNvPr id="48" name="Picture 2" descr="Check mark">
            <a:extLst>
              <a:ext uri="{FF2B5EF4-FFF2-40B4-BE49-F238E27FC236}">
                <a16:creationId xmlns:a16="http://schemas.microsoft.com/office/drawing/2014/main" id="{61783374-8FE7-6843-3FC9-6A5AAA727E6E}"/>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72302" y="6076673"/>
            <a:ext cx="300735" cy="2640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Content Placeholder 13">
            <a:extLst>
              <a:ext uri="{FF2B5EF4-FFF2-40B4-BE49-F238E27FC236}">
                <a16:creationId xmlns:a16="http://schemas.microsoft.com/office/drawing/2014/main" id="{D2CA0551-6BCB-940D-A7FE-FB579489F370}"/>
              </a:ext>
            </a:extLst>
          </p:cNvPr>
          <p:cNvSpPr>
            <a:spLocks noGrp="1"/>
          </p:cNvSpPr>
          <p:nvPr>
            <p:ph sz="quarter" idx="19"/>
          </p:nvPr>
        </p:nvSpPr>
        <p:spPr>
          <a:xfrm>
            <a:off x="1145516" y="5988664"/>
            <a:ext cx="4054475" cy="405683"/>
          </a:xfrm>
        </p:spPr>
        <p:txBody>
          <a:bodyPr lIns="0" tIns="18000" rIns="0" bIns="18000" anchor="ctr">
            <a:spAutoFit/>
          </a:bodyPr>
          <a:lstStyle/>
          <a:p>
            <a:pPr marL="0" indent="0">
              <a:buNone/>
              <a:defRPr/>
            </a:pPr>
            <a:r>
              <a:rPr lang="en-US" sz="2400" dirty="0">
                <a:solidFill>
                  <a:srgbClr val="007FA3"/>
                </a:solidFill>
              </a:rPr>
              <a:t>D. </a:t>
            </a:r>
            <a:r>
              <a:rPr lang="en-US" sz="2400" dirty="0"/>
              <a:t>All of the above.</a:t>
            </a:r>
          </a:p>
        </p:txBody>
      </p:sp>
    </p:spTree>
    <p:extLst>
      <p:ext uri="{BB962C8B-B14F-4D97-AF65-F5344CB8AC3E}">
        <p14:creationId xmlns:p14="http://schemas.microsoft.com/office/powerpoint/2010/main" val="19580245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43379" y="217038"/>
            <a:ext cx="8229600" cy="1144347"/>
          </a:xfrm>
        </p:spPr>
        <p:txBody>
          <a:bodyPr/>
          <a:lstStyle/>
          <a:p>
            <a:r>
              <a:rPr lang="en-US" noProof="0" dirty="0"/>
              <a:t>Chapter 9 – Sinusoidal Steady-State Analysis </a:t>
            </a:r>
            <a:r>
              <a:rPr lang="en-US" sz="2800" noProof="0" dirty="0"/>
              <a:t>(16 of 17)</a:t>
            </a:r>
            <a:endParaRPr lang="en-US" sz="2800" dirty="0"/>
          </a:p>
        </p:txBody>
      </p:sp>
      <p:pic>
        <p:nvPicPr>
          <p:cNvPr id="11" name="Picture 2" descr="A circuit diagram shows current small i sub s from the positive terminal of a voltage source v that passes through terminals 1 and 2 to connect to a capacitor of 1 micro farads. This capacitor is again connected to the negative terminal of the voltage source through terminals 3 and 4. A resistor of 10 ohms is connected across terminals 1 and 4. Current small i sub 1 passes downward through this resistor. Another resistor of 6 ohms is connected to terminal 2 on one side and to the positive terminal of an inductance coil v sub 2 of 40 micro hertz on the other side. The negative terminal of the coil is connected to the terminal 3.">
            <a:extLst>
              <a:ext uri="{FF2B5EF4-FFF2-40B4-BE49-F238E27FC236}">
                <a16:creationId xmlns:a16="http://schemas.microsoft.com/office/drawing/2014/main" id="{77D5DF82-FBB9-7FD1-59B0-EA5E73C90521}"/>
              </a:ext>
            </a:extLst>
          </p:cNvPr>
          <p:cNvPicPr>
            <a:picLocks noChangeAspect="1" noChangeArrowheads="1"/>
          </p:cNvPicPr>
          <p:nvPr/>
        </p:nvPicPr>
        <p:blipFill>
          <a:blip r:embed="rId4"/>
          <a:stretch>
            <a:fillRect/>
          </a:stretch>
        </p:blipFill>
        <p:spPr bwMode="auto">
          <a:xfrm>
            <a:off x="2288232" y="1491850"/>
            <a:ext cx="4584785" cy="1676400"/>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graphicFrame>
        <p:nvGraphicFramePr>
          <p:cNvPr id="18" name="Object 17" descr="Start Fraction 1 over Z subscript e q Baseline End Fraction equals Start Fraction 1 over 10 End Fraction plus Start Fraction 1 over 6 plus j omega L End Fraction plus j omega C.&#10;">
            <a:extLst>
              <a:ext uri="{FF2B5EF4-FFF2-40B4-BE49-F238E27FC236}">
                <a16:creationId xmlns:a16="http://schemas.microsoft.com/office/drawing/2014/main" id="{F59F26EE-00E7-239F-24A6-C312FAAE85F1}"/>
              </a:ext>
            </a:extLst>
          </p:cNvPr>
          <p:cNvGraphicFramePr>
            <a:graphicFrameLocks noChangeAspect="1"/>
          </p:cNvGraphicFramePr>
          <p:nvPr>
            <p:extLst>
              <p:ext uri="{D42A27DB-BD31-4B8C-83A1-F6EECF244321}">
                <p14:modId xmlns:p14="http://schemas.microsoft.com/office/powerpoint/2010/main" val="2211484064"/>
              </p:ext>
            </p:extLst>
          </p:nvPr>
        </p:nvGraphicFramePr>
        <p:xfrm>
          <a:off x="1278905" y="3237525"/>
          <a:ext cx="1998807" cy="522432"/>
        </p:xfrm>
        <a:graphic>
          <a:graphicData uri="http://schemas.openxmlformats.org/presentationml/2006/ole">
            <mc:AlternateContent xmlns:mc="http://schemas.openxmlformats.org/markup-compatibility/2006">
              <mc:Choice xmlns:v="urn:schemas-microsoft-com:vml" Requires="v">
                <p:oleObj spid="_x0000_s13314" name="Equation" r:id="rId5" imgW="1701720" imgH="444240" progId="Equation.DSMT4">
                  <p:embed/>
                </p:oleObj>
              </mc:Choice>
              <mc:Fallback>
                <p:oleObj name="Equation" r:id="rId5" imgW="1701720" imgH="444240" progId="Equation.DSMT4">
                  <p:embed/>
                  <p:pic>
                    <p:nvPicPr>
                      <p:cNvPr id="12" name="Object 11">
                        <a:extLst>
                          <a:ext uri="{FF2B5EF4-FFF2-40B4-BE49-F238E27FC236}">
                            <a16:creationId xmlns:a16="http://schemas.microsoft.com/office/drawing/2014/main" id="{04CFA22D-2776-2241-FD88-91E88D8551C3}"/>
                          </a:ext>
                        </a:extLst>
                      </p:cNvPr>
                      <p:cNvPicPr>
                        <a:picLocks noChangeAspect="1" noChangeArrowheads="1"/>
                      </p:cNvPicPr>
                      <p:nvPr/>
                    </p:nvPicPr>
                    <p:blipFill>
                      <a:blip r:embed="rId6"/>
                      <a:srcRect/>
                      <a:stretch>
                        <a:fillRect/>
                      </a:stretch>
                    </p:blipFill>
                    <p:spPr bwMode="auto">
                      <a:xfrm>
                        <a:off x="1278905" y="3237525"/>
                        <a:ext cx="1998807" cy="522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16" descr="The figure illustrates the addition of rational expressions.&#10;Long description 1 is available in notes, press F6.&#10;">
            <a:extLst>
              <a:ext uri="{FF2B5EF4-FFF2-40B4-BE49-F238E27FC236}">
                <a16:creationId xmlns:a16="http://schemas.microsoft.com/office/drawing/2014/main" id="{8AC03687-424A-535D-2878-1BF3FC106527}"/>
              </a:ext>
            </a:extLst>
          </p:cNvPr>
          <p:cNvGraphicFramePr>
            <a:graphicFrameLocks noChangeAspect="1"/>
          </p:cNvGraphicFramePr>
          <p:nvPr>
            <p:extLst>
              <p:ext uri="{D42A27DB-BD31-4B8C-83A1-F6EECF244321}">
                <p14:modId xmlns:p14="http://schemas.microsoft.com/office/powerpoint/2010/main" val="228041290"/>
              </p:ext>
            </p:extLst>
          </p:nvPr>
        </p:nvGraphicFramePr>
        <p:xfrm>
          <a:off x="1621093" y="3801867"/>
          <a:ext cx="6120532" cy="520214"/>
        </p:xfrm>
        <a:graphic>
          <a:graphicData uri="http://schemas.openxmlformats.org/presentationml/2006/ole">
            <mc:AlternateContent xmlns:mc="http://schemas.openxmlformats.org/markup-compatibility/2006">
              <mc:Choice xmlns:v="urn:schemas-microsoft-com:vml" Requires="v">
                <p:oleObj spid="_x0000_s13315" name="Equation" r:id="rId7" imgW="4927320" imgH="419040" progId="Equation.DSMT4">
                  <p:embed/>
                </p:oleObj>
              </mc:Choice>
              <mc:Fallback>
                <p:oleObj name="Equation" r:id="rId7" imgW="4927320" imgH="419040" progId="Equation.DSMT4">
                  <p:embed/>
                  <p:pic>
                    <p:nvPicPr>
                      <p:cNvPr id="12" name="Object 11">
                        <a:extLst>
                          <a:ext uri="{FF2B5EF4-FFF2-40B4-BE49-F238E27FC236}">
                            <a16:creationId xmlns:a16="http://schemas.microsoft.com/office/drawing/2014/main" id="{04CFA22D-2776-2241-FD88-91E88D8551C3}"/>
                          </a:ext>
                        </a:extLst>
                      </p:cNvPr>
                      <p:cNvPicPr>
                        <a:picLocks noChangeAspect="1" noChangeArrowheads="1"/>
                      </p:cNvPicPr>
                      <p:nvPr/>
                    </p:nvPicPr>
                    <p:blipFill>
                      <a:blip r:embed="rId8"/>
                      <a:srcRect/>
                      <a:stretch>
                        <a:fillRect/>
                      </a:stretch>
                    </p:blipFill>
                    <p:spPr bwMode="auto">
                      <a:xfrm>
                        <a:off x="1621093" y="3801867"/>
                        <a:ext cx="6120532" cy="520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15" descr="The figure illustrates a rational expression.&#10;Long description 2 is available in notes, press F6.&#10;">
            <a:extLst>
              <a:ext uri="{FF2B5EF4-FFF2-40B4-BE49-F238E27FC236}">
                <a16:creationId xmlns:a16="http://schemas.microsoft.com/office/drawing/2014/main" id="{BB6419A2-C2F6-79D7-CEDA-98AAC7A041D4}"/>
              </a:ext>
            </a:extLst>
          </p:cNvPr>
          <p:cNvGraphicFramePr>
            <a:graphicFrameLocks noChangeAspect="1"/>
          </p:cNvGraphicFramePr>
          <p:nvPr>
            <p:extLst>
              <p:ext uri="{D42A27DB-BD31-4B8C-83A1-F6EECF244321}">
                <p14:modId xmlns:p14="http://schemas.microsoft.com/office/powerpoint/2010/main" val="4218081921"/>
              </p:ext>
            </p:extLst>
          </p:nvPr>
        </p:nvGraphicFramePr>
        <p:xfrm>
          <a:off x="1597664" y="4524500"/>
          <a:ext cx="3691846" cy="550726"/>
        </p:xfrm>
        <a:graphic>
          <a:graphicData uri="http://schemas.openxmlformats.org/presentationml/2006/ole">
            <mc:AlternateContent xmlns:mc="http://schemas.openxmlformats.org/markup-compatibility/2006">
              <mc:Choice xmlns:v="urn:schemas-microsoft-com:vml" Requires="v">
                <p:oleObj spid="_x0000_s13316" name="Equation" r:id="rId9" imgW="2971800" imgH="444240" progId="Equation.DSMT4">
                  <p:embed/>
                </p:oleObj>
              </mc:Choice>
              <mc:Fallback>
                <p:oleObj name="Equation" r:id="rId9" imgW="2971800" imgH="444240" progId="Equation.DSMT4">
                  <p:embed/>
                  <p:pic>
                    <p:nvPicPr>
                      <p:cNvPr id="12" name="Object 11">
                        <a:extLst>
                          <a:ext uri="{FF2B5EF4-FFF2-40B4-BE49-F238E27FC236}">
                            <a16:creationId xmlns:a16="http://schemas.microsoft.com/office/drawing/2014/main" id="{04CFA22D-2776-2241-FD88-91E88D8551C3}"/>
                          </a:ext>
                        </a:extLst>
                      </p:cNvPr>
                      <p:cNvPicPr>
                        <a:picLocks noChangeAspect="1" noChangeArrowheads="1"/>
                      </p:cNvPicPr>
                      <p:nvPr/>
                    </p:nvPicPr>
                    <p:blipFill>
                      <a:blip r:embed="rId10"/>
                      <a:srcRect/>
                      <a:stretch>
                        <a:fillRect/>
                      </a:stretch>
                    </p:blipFill>
                    <p:spPr bwMode="auto">
                      <a:xfrm>
                        <a:off x="1597664" y="4524500"/>
                        <a:ext cx="3691846" cy="550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14" descr="The figure illustrates the expression of I m Open CurlyBracket Start Fraction 1 over Z subscript e q End Fraction Close CurlyBracket.&#10;Long description 3 is available in notes, press F6.">
            <a:extLst>
              <a:ext uri="{FF2B5EF4-FFF2-40B4-BE49-F238E27FC236}">
                <a16:creationId xmlns:a16="http://schemas.microsoft.com/office/drawing/2014/main" id="{83BDC2FE-C6AC-4667-073E-EF74BE2349FF}"/>
              </a:ext>
            </a:extLst>
          </p:cNvPr>
          <p:cNvGraphicFramePr>
            <a:graphicFrameLocks noChangeAspect="1"/>
          </p:cNvGraphicFramePr>
          <p:nvPr>
            <p:extLst>
              <p:ext uri="{D42A27DB-BD31-4B8C-83A1-F6EECF244321}">
                <p14:modId xmlns:p14="http://schemas.microsoft.com/office/powerpoint/2010/main" val="291759858"/>
              </p:ext>
            </p:extLst>
          </p:nvPr>
        </p:nvGraphicFramePr>
        <p:xfrm>
          <a:off x="766543" y="5207485"/>
          <a:ext cx="3370850" cy="617640"/>
        </p:xfrm>
        <a:graphic>
          <a:graphicData uri="http://schemas.openxmlformats.org/presentationml/2006/ole">
            <mc:AlternateContent xmlns:mc="http://schemas.openxmlformats.org/markup-compatibility/2006">
              <mc:Choice xmlns:v="urn:schemas-microsoft-com:vml" Requires="v">
                <p:oleObj spid="_x0000_s13317" name="Equation" r:id="rId11" imgW="2768400" imgH="507960" progId="Equation.DSMT4">
                  <p:embed/>
                </p:oleObj>
              </mc:Choice>
              <mc:Fallback>
                <p:oleObj name="Equation" r:id="rId11" imgW="2768400" imgH="507960" progId="Equation.DSMT4">
                  <p:embed/>
                  <p:pic>
                    <p:nvPicPr>
                      <p:cNvPr id="12" name="Object 11">
                        <a:extLst>
                          <a:ext uri="{FF2B5EF4-FFF2-40B4-BE49-F238E27FC236}">
                            <a16:creationId xmlns:a16="http://schemas.microsoft.com/office/drawing/2014/main" id="{04CFA22D-2776-2241-FD88-91E88D8551C3}"/>
                          </a:ext>
                        </a:extLst>
                      </p:cNvPr>
                      <p:cNvPicPr>
                        <a:picLocks noChangeAspect="1" noChangeArrowheads="1"/>
                      </p:cNvPicPr>
                      <p:nvPr/>
                    </p:nvPicPr>
                    <p:blipFill>
                      <a:blip r:embed="rId12"/>
                      <a:srcRect/>
                      <a:stretch>
                        <a:fillRect/>
                      </a:stretch>
                    </p:blipFill>
                    <p:spPr bwMode="auto">
                      <a:xfrm>
                        <a:off x="766543" y="5207485"/>
                        <a:ext cx="3370850" cy="617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11" descr="Therefore negative 10 omega L plus 10 omega C Open Parenthesis 36 plus omega squared L squared Close Parenthesis equals 0.&#10;">
            <a:extLst>
              <a:ext uri="{FF2B5EF4-FFF2-40B4-BE49-F238E27FC236}">
                <a16:creationId xmlns:a16="http://schemas.microsoft.com/office/drawing/2014/main" id="{04CFA22D-2776-2241-FD88-91E88D8551C3}"/>
              </a:ext>
            </a:extLst>
          </p:cNvPr>
          <p:cNvGraphicFramePr>
            <a:graphicFrameLocks noChangeAspect="1"/>
          </p:cNvGraphicFramePr>
          <p:nvPr>
            <p:extLst>
              <p:ext uri="{D42A27DB-BD31-4B8C-83A1-F6EECF244321}">
                <p14:modId xmlns:p14="http://schemas.microsoft.com/office/powerpoint/2010/main" val="1837337274"/>
              </p:ext>
            </p:extLst>
          </p:nvPr>
        </p:nvGraphicFramePr>
        <p:xfrm>
          <a:off x="4580625" y="5368667"/>
          <a:ext cx="2871787" cy="295275"/>
        </p:xfrm>
        <a:graphic>
          <a:graphicData uri="http://schemas.openxmlformats.org/presentationml/2006/ole">
            <mc:AlternateContent xmlns:mc="http://schemas.openxmlformats.org/markup-compatibility/2006">
              <mc:Choice xmlns:v="urn:schemas-microsoft-com:vml" Requires="v">
                <p:oleObj spid="_x0000_s13318" name="Equation" r:id="rId13" imgW="2222280" imgH="228600" progId="Equation.DSMT4">
                  <p:embed/>
                </p:oleObj>
              </mc:Choice>
              <mc:Fallback>
                <p:oleObj name="Equation" r:id="rId13" imgW="2222280" imgH="228600" progId="Equation.DSMT4">
                  <p:embed/>
                  <p:pic>
                    <p:nvPicPr>
                      <p:cNvPr id="14" name="Object 13"/>
                      <p:cNvPicPr>
                        <a:picLocks noChangeAspect="1" noChangeArrowheads="1"/>
                      </p:cNvPicPr>
                      <p:nvPr/>
                    </p:nvPicPr>
                    <p:blipFill>
                      <a:blip r:embed="rId14"/>
                      <a:srcRect/>
                      <a:stretch>
                        <a:fillRect/>
                      </a:stretch>
                    </p:blipFill>
                    <p:spPr bwMode="auto">
                      <a:xfrm>
                        <a:off x="4580625" y="5368667"/>
                        <a:ext cx="2871787"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18" descr="Therefore omega squared equals StartFraction StartFraction L over C EndFraction minus 36 over L squared EndFraction equals StartFraction StartFraction 40 over 1 EndFraction minus 36 over (40 mu) squared EndFraction.&#10;">
            <a:extLst>
              <a:ext uri="{FF2B5EF4-FFF2-40B4-BE49-F238E27FC236}">
                <a16:creationId xmlns:a16="http://schemas.microsoft.com/office/drawing/2014/main" id="{89C5A124-BDE0-1BD8-76F4-4A44420C57D7}"/>
              </a:ext>
            </a:extLst>
          </p:cNvPr>
          <p:cNvGraphicFramePr>
            <a:graphicFrameLocks noChangeAspect="1"/>
          </p:cNvGraphicFramePr>
          <p:nvPr>
            <p:extLst>
              <p:ext uri="{D42A27DB-BD31-4B8C-83A1-F6EECF244321}">
                <p14:modId xmlns:p14="http://schemas.microsoft.com/office/powerpoint/2010/main" val="3203336832"/>
              </p:ext>
            </p:extLst>
          </p:nvPr>
        </p:nvGraphicFramePr>
        <p:xfrm>
          <a:off x="1641342" y="5933417"/>
          <a:ext cx="2372591" cy="490682"/>
        </p:xfrm>
        <a:graphic>
          <a:graphicData uri="http://schemas.openxmlformats.org/presentationml/2006/ole">
            <mc:AlternateContent xmlns:mc="http://schemas.openxmlformats.org/markup-compatibility/2006">
              <mc:Choice xmlns:v="urn:schemas-microsoft-com:vml" Requires="v">
                <p:oleObj spid="_x0000_s13319" name="Equation" r:id="rId15" imgW="2019240" imgH="419040" progId="Equation.DSMT4">
                  <p:embed/>
                </p:oleObj>
              </mc:Choice>
              <mc:Fallback>
                <p:oleObj name="Equation" r:id="rId15" imgW="2019240" imgH="419040" progId="Equation.DSMT4">
                  <p:embed/>
                  <p:pic>
                    <p:nvPicPr>
                      <p:cNvPr id="14" name="Object 13"/>
                      <p:cNvPicPr>
                        <a:picLocks noChangeAspect="1" noChangeArrowheads="1"/>
                      </p:cNvPicPr>
                      <p:nvPr/>
                    </p:nvPicPr>
                    <p:blipFill>
                      <a:blip r:embed="rId16"/>
                      <a:srcRect/>
                      <a:stretch>
                        <a:fillRect/>
                      </a:stretch>
                    </p:blipFill>
                    <p:spPr bwMode="auto">
                      <a:xfrm>
                        <a:off x="1641342" y="5933417"/>
                        <a:ext cx="2372591" cy="490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Object 19" descr="Therefore omega equals 50,000 radians per second.&#10;">
            <a:extLst>
              <a:ext uri="{FF2B5EF4-FFF2-40B4-BE49-F238E27FC236}">
                <a16:creationId xmlns:a16="http://schemas.microsoft.com/office/drawing/2014/main" id="{F21FC0DB-D0A2-ACF0-E7AF-AF2EDA059FBB}"/>
              </a:ext>
            </a:extLst>
          </p:cNvPr>
          <p:cNvGraphicFramePr>
            <a:graphicFrameLocks noChangeAspect="1"/>
          </p:cNvGraphicFramePr>
          <p:nvPr>
            <p:extLst>
              <p:ext uri="{D42A27DB-BD31-4B8C-83A1-F6EECF244321}">
                <p14:modId xmlns:p14="http://schemas.microsoft.com/office/powerpoint/2010/main" val="3236540579"/>
              </p:ext>
            </p:extLst>
          </p:nvPr>
        </p:nvGraphicFramePr>
        <p:xfrm>
          <a:off x="4700579" y="6058973"/>
          <a:ext cx="1671205" cy="239568"/>
        </p:xfrm>
        <a:graphic>
          <a:graphicData uri="http://schemas.openxmlformats.org/presentationml/2006/ole">
            <mc:AlternateContent xmlns:mc="http://schemas.openxmlformats.org/markup-compatibility/2006">
              <mc:Choice xmlns:v="urn:schemas-microsoft-com:vml" Requires="v">
                <p:oleObj spid="_x0000_s13320" name="Equation" r:id="rId17" imgW="1422360" imgH="203040" progId="Equation.DSMT4">
                  <p:embed/>
                </p:oleObj>
              </mc:Choice>
              <mc:Fallback>
                <p:oleObj name="Equation" r:id="rId17" imgW="1422360" imgH="203040" progId="Equation.DSMT4">
                  <p:embed/>
                  <p:pic>
                    <p:nvPicPr>
                      <p:cNvPr id="14" name="Object 13"/>
                      <p:cNvPicPr>
                        <a:picLocks noChangeAspect="1" noChangeArrowheads="1"/>
                      </p:cNvPicPr>
                      <p:nvPr/>
                    </p:nvPicPr>
                    <p:blipFill>
                      <a:blip r:embed="rId18"/>
                      <a:srcRect/>
                      <a:stretch>
                        <a:fillRect/>
                      </a:stretch>
                    </p:blipFill>
                    <p:spPr bwMode="auto">
                      <a:xfrm>
                        <a:off x="4700579" y="6058973"/>
                        <a:ext cx="1671205" cy="239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7124555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9948" y="218842"/>
            <a:ext cx="8229600" cy="1144347"/>
          </a:xfrm>
        </p:spPr>
        <p:txBody>
          <a:bodyPr/>
          <a:lstStyle/>
          <a:p>
            <a:r>
              <a:rPr lang="en-US" noProof="0" dirty="0"/>
              <a:t>Chapter 9 – Sinusoidal Steady-State Analysis </a:t>
            </a:r>
            <a:r>
              <a:rPr lang="en-US" sz="2800" noProof="0" dirty="0"/>
              <a:t>(17 of 17) </a:t>
            </a:r>
            <a:endParaRPr lang="en-US" sz="280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9948" y="1540749"/>
            <a:ext cx="8151962" cy="405683"/>
          </a:xfrm>
        </p:spPr>
        <p:txBody>
          <a:bodyPr wrap="square" lIns="0" tIns="18000" rIns="0" bIns="18000" anchor="ctr">
            <a:spAutoFit/>
          </a:bodyPr>
          <a:lstStyle/>
          <a:p>
            <a:pPr marL="0" indent="0">
              <a:spcBef>
                <a:spcPts val="600"/>
              </a:spcBef>
              <a:buNone/>
            </a:pPr>
            <a:r>
              <a:rPr lang="en-US" altLang="en-US" sz="2400" dirty="0"/>
              <a:t>Suppose we can vary the frequency of the current source. </a:t>
            </a:r>
            <a:endParaRPr lang="en-US" sz="2400" dirty="0"/>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9949" y="1984652"/>
            <a:ext cx="3572774" cy="405683"/>
          </a:xfrm>
        </p:spPr>
        <p:txBody>
          <a:bodyPr wrap="square" lIns="0" tIns="18000" rIns="0" bIns="18000" anchor="ctr">
            <a:spAutoFit/>
          </a:bodyPr>
          <a:lstStyle/>
          <a:p>
            <a:pPr marL="0" indent="0">
              <a:spcBef>
                <a:spcPts val="600"/>
              </a:spcBef>
              <a:buNone/>
            </a:pPr>
            <a:r>
              <a:rPr lang="en-US" altLang="en-US" sz="2400" dirty="0"/>
              <a:t>What frequency will cause</a:t>
            </a:r>
            <a:endParaRPr lang="en-US" sz="2400" i="1" dirty="0"/>
          </a:p>
        </p:txBody>
      </p:sp>
      <p:graphicFrame>
        <p:nvGraphicFramePr>
          <p:cNvPr id="14" name="Object 13" descr="i subscript s Baseline (t).&#10;">
            <a:extLst>
              <a:ext uri="{FF2B5EF4-FFF2-40B4-BE49-F238E27FC236}">
                <a16:creationId xmlns:a16="http://schemas.microsoft.com/office/drawing/2014/main" id="{9EC77A51-725D-EF90-50C1-DB5FDB28CBCD}"/>
              </a:ext>
            </a:extLst>
          </p:cNvPr>
          <p:cNvGraphicFramePr>
            <a:graphicFrameLocks noChangeAspect="1"/>
          </p:cNvGraphicFramePr>
          <p:nvPr>
            <p:extLst>
              <p:ext uri="{D42A27DB-BD31-4B8C-83A1-F6EECF244321}">
                <p14:modId xmlns:p14="http://schemas.microsoft.com/office/powerpoint/2010/main" val="1168210665"/>
              </p:ext>
            </p:extLst>
          </p:nvPr>
        </p:nvGraphicFramePr>
        <p:xfrm>
          <a:off x="4047226" y="2020279"/>
          <a:ext cx="558800" cy="412115"/>
        </p:xfrm>
        <a:graphic>
          <a:graphicData uri="http://schemas.openxmlformats.org/presentationml/2006/ole">
            <mc:AlternateContent xmlns:mc="http://schemas.openxmlformats.org/markup-compatibility/2006">
              <mc:Choice xmlns:v="urn:schemas-microsoft-com:vml" Requires="v">
                <p:oleObj spid="_x0000_s14338" name="Equation" r:id="rId3" imgW="342720" imgH="253800" progId="Equation.DSMT4">
                  <p:embed/>
                </p:oleObj>
              </mc:Choice>
              <mc:Fallback>
                <p:oleObj name="Equation" r:id="rId3" imgW="342720" imgH="253800" progId="Equation.DSMT4">
                  <p:embed/>
                  <p:pic>
                    <p:nvPicPr>
                      <p:cNvPr id="14" name="Object 13">
                        <a:extLst>
                          <a:ext uri="{FF2B5EF4-FFF2-40B4-BE49-F238E27FC236}">
                            <a16:creationId xmlns:a16="http://schemas.microsoft.com/office/drawing/2014/main" id="{9EC77A51-725D-EF90-50C1-DB5FDB28CBCD}"/>
                          </a:ext>
                        </a:extLst>
                      </p:cNvPr>
                      <p:cNvPicPr>
                        <a:picLocks noChangeAspect="1" noChangeArrowheads="1"/>
                      </p:cNvPicPr>
                      <p:nvPr/>
                    </p:nvPicPr>
                    <p:blipFill>
                      <a:blip r:embed="rId4"/>
                      <a:srcRect/>
                      <a:stretch>
                        <a:fillRect/>
                      </a:stretch>
                    </p:blipFill>
                    <p:spPr bwMode="auto">
                      <a:xfrm>
                        <a:off x="4047226" y="2020279"/>
                        <a:ext cx="558800" cy="412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631903" y="1979932"/>
            <a:ext cx="3960007" cy="405683"/>
          </a:xfrm>
        </p:spPr>
        <p:txBody>
          <a:bodyPr wrap="square" lIns="0" tIns="18000" rIns="0" bIns="18000" anchor="ctr">
            <a:spAutoFit/>
          </a:bodyPr>
          <a:lstStyle/>
          <a:p>
            <a:pPr marL="0" indent="0">
              <a:spcBef>
                <a:spcPts val="600"/>
              </a:spcBef>
              <a:buNone/>
            </a:pPr>
            <a:r>
              <a:rPr lang="en-US" altLang="en-US" sz="2400" dirty="0"/>
              <a:t>and </a:t>
            </a:r>
            <a:r>
              <a:rPr lang="en-US" altLang="en-US" sz="2400" i="1" dirty="0"/>
              <a:t>v(t)</a:t>
            </a:r>
            <a:r>
              <a:rPr lang="en-US" altLang="en-US" sz="2400" dirty="0"/>
              <a:t> to be </a:t>
            </a:r>
            <a:r>
              <a:rPr lang="en-US" altLang="en-US" sz="2400" u="sng" dirty="0"/>
              <a:t>in-phase</a:t>
            </a:r>
            <a:r>
              <a:rPr lang="en-US" altLang="en-US" sz="2400" dirty="0"/>
              <a:t> in the</a:t>
            </a:r>
            <a:endParaRPr lang="en-US" sz="2400" dirty="0"/>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39949" y="2469045"/>
            <a:ext cx="1932316" cy="405683"/>
          </a:xfrm>
        </p:spPr>
        <p:txBody>
          <a:bodyPr wrap="square" lIns="0" tIns="18000" rIns="0" bIns="18000" anchor="ctr">
            <a:spAutoFit/>
          </a:bodyPr>
          <a:lstStyle/>
          <a:p>
            <a:pPr marL="0" indent="0">
              <a:spcBef>
                <a:spcPts val="600"/>
              </a:spcBef>
              <a:buNone/>
            </a:pPr>
            <a:r>
              <a:rPr lang="en-US" altLang="en-US" sz="2400" dirty="0"/>
              <a:t>steady-state?</a:t>
            </a:r>
            <a:endParaRPr lang="en-US" sz="2400" dirty="0"/>
          </a:p>
        </p:txBody>
      </p:sp>
      <p:pic>
        <p:nvPicPr>
          <p:cNvPr id="32" name="Picture 4" descr="A circuit diagram at the top shows current small i sub s from the positive terminal of a voltage source v that passes through terminals 1 and 2 to connect to a capacitor of 1 micro farads. This capacitor is again connected to the negative terminal of the voltage source through terminals 3 and 4. A resistor of 10 ohms is connected across terminals 1 and 4. Current small i sub 1 passes downward through this resistor. Another resistor of 6 ohms is connected to terminal 2 on one side and to the positive terminal of an inductance coil v sub 2 of 40 micro hertz on the other side. The negative terminal of the coil is connected to the terminal 3. A downward arrow from this circuit diagram is labeled “P” and points toward another circuit diagram.&#10;The circuit diagram at the bottom shows current of 8 amperes at 0 degrees from the positive terminal of a voltage source cap V that passes through terminals 1 and 2 to connect to a capacitor of negative j 20 ohms. This capacitor is again connected to the negative terminal of the voltage source through terminals 3 and 4. A resistor of 10 ohms is connected across terminals 1 and 4. Current cap I sub 1 passes downward through this resistor. Another resistor of 6 ohms is connected to terminal 2 on one side and to the positive terminal of an inductance coil V sub 2 of j 2 ohms on the other side. The negative terminal of the coil is connected to the terminal 3.&#10;">
            <a:extLst>
              <a:ext uri="{FF2B5EF4-FFF2-40B4-BE49-F238E27FC236}">
                <a16:creationId xmlns:a16="http://schemas.microsoft.com/office/drawing/2014/main" id="{6D58483B-2F3A-69AA-FC5E-DF7D556C5E2C}"/>
              </a:ext>
            </a:extLst>
          </p:cNvPr>
          <p:cNvPicPr>
            <a:picLocks noChangeAspect="1" noChangeArrowheads="1"/>
          </p:cNvPicPr>
          <p:nvPr/>
        </p:nvPicPr>
        <p:blipFill>
          <a:blip r:embed="rId5"/>
          <a:stretch>
            <a:fillRect/>
          </a:stretch>
        </p:blipFill>
        <p:spPr bwMode="auto">
          <a:xfrm>
            <a:off x="711820" y="2916452"/>
            <a:ext cx="3648454" cy="2998852"/>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sp>
        <p:nvSpPr>
          <p:cNvPr id="18" name="Content Placeholder 17">
            <a:extLst>
              <a:ext uri="{FF2B5EF4-FFF2-40B4-BE49-F238E27FC236}">
                <a16:creationId xmlns:a16="http://schemas.microsoft.com/office/drawing/2014/main" id="{128002EC-DC4B-B9B3-8F1B-A19A5D06EC58}"/>
              </a:ext>
            </a:extLst>
          </p:cNvPr>
          <p:cNvSpPr>
            <a:spLocks noGrp="1"/>
          </p:cNvSpPr>
          <p:nvPr>
            <p:ph sz="quarter" idx="16"/>
          </p:nvPr>
        </p:nvSpPr>
        <p:spPr>
          <a:xfrm>
            <a:off x="4977444" y="3226158"/>
            <a:ext cx="508958" cy="405683"/>
          </a:xfrm>
        </p:spPr>
        <p:txBody>
          <a:bodyPr wrap="square" lIns="0" tIns="18000" rIns="0" bIns="18000" anchor="ctr" anchorCtr="0">
            <a:spAutoFit/>
          </a:bodyPr>
          <a:lstStyle/>
          <a:p>
            <a:pPr marL="0" indent="0">
              <a:buNone/>
            </a:pPr>
            <a:r>
              <a:rPr lang="en-US" sz="2400" i="1" dirty="0"/>
              <a:t>For</a:t>
            </a:r>
          </a:p>
        </p:txBody>
      </p:sp>
      <p:graphicFrame>
        <p:nvGraphicFramePr>
          <p:cNvPr id="36" name="Object 35" descr="Omega equals 50,000 radians per second.&#10;">
            <a:extLst>
              <a:ext uri="{FF2B5EF4-FFF2-40B4-BE49-F238E27FC236}">
                <a16:creationId xmlns:a16="http://schemas.microsoft.com/office/drawing/2014/main" id="{C2782B03-7471-61E2-E1DE-7BA82AAA6B70}"/>
              </a:ext>
            </a:extLst>
          </p:cNvPr>
          <p:cNvGraphicFramePr>
            <a:graphicFrameLocks noChangeAspect="1"/>
          </p:cNvGraphicFramePr>
          <p:nvPr>
            <p:extLst>
              <p:ext uri="{D42A27DB-BD31-4B8C-83A1-F6EECF244321}">
                <p14:modId xmlns:p14="http://schemas.microsoft.com/office/powerpoint/2010/main" val="1865442220"/>
              </p:ext>
            </p:extLst>
          </p:nvPr>
        </p:nvGraphicFramePr>
        <p:xfrm>
          <a:off x="5546224" y="3275921"/>
          <a:ext cx="2126933" cy="345758"/>
        </p:xfrm>
        <a:graphic>
          <a:graphicData uri="http://schemas.openxmlformats.org/presentationml/2006/ole">
            <mc:AlternateContent xmlns:mc="http://schemas.openxmlformats.org/markup-compatibility/2006">
              <mc:Choice xmlns:v="urn:schemas-microsoft-com:vml" Requires="v">
                <p:oleObj spid="_x0000_s14339" name="Equation" r:id="rId6" imgW="1168200" imgH="190440" progId="Equation.DSMT4">
                  <p:embed/>
                </p:oleObj>
              </mc:Choice>
              <mc:Fallback>
                <p:oleObj name="Equation" r:id="rId6" imgW="1168200" imgH="190440" progId="Equation.DSMT4">
                  <p:embed/>
                  <p:pic>
                    <p:nvPicPr>
                      <p:cNvPr id="17" name="Object 16">
                        <a:extLst>
                          <a:ext uri="{FF2B5EF4-FFF2-40B4-BE49-F238E27FC236}">
                            <a16:creationId xmlns:a16="http://schemas.microsoft.com/office/drawing/2014/main" id="{25180B8D-90C0-FA74-806C-B01105822AD9}"/>
                          </a:ext>
                        </a:extLst>
                      </p:cNvPr>
                      <p:cNvPicPr>
                        <a:picLocks noChangeAspect="1" noChangeArrowheads="1"/>
                      </p:cNvPicPr>
                      <p:nvPr/>
                    </p:nvPicPr>
                    <p:blipFill>
                      <a:blip r:embed="rId7"/>
                      <a:srcRect/>
                      <a:stretch>
                        <a:fillRect/>
                      </a:stretch>
                    </p:blipFill>
                    <p:spPr bwMode="auto">
                      <a:xfrm>
                        <a:off x="5546224" y="3275921"/>
                        <a:ext cx="2126933" cy="345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 name="Object 34" descr="Z subscript L Baseline equals j omega L equals j multiplied by (50,000) multiplied by (40 mu) equals j 2 Ohms.&#10;">
            <a:extLst>
              <a:ext uri="{FF2B5EF4-FFF2-40B4-BE49-F238E27FC236}">
                <a16:creationId xmlns:a16="http://schemas.microsoft.com/office/drawing/2014/main" id="{AD9B6047-F8F9-85FA-3A0A-059DAAE4035D}"/>
              </a:ext>
            </a:extLst>
          </p:cNvPr>
          <p:cNvGraphicFramePr>
            <a:graphicFrameLocks noChangeAspect="1"/>
          </p:cNvGraphicFramePr>
          <p:nvPr>
            <p:extLst>
              <p:ext uri="{D42A27DB-BD31-4B8C-83A1-F6EECF244321}">
                <p14:modId xmlns:p14="http://schemas.microsoft.com/office/powerpoint/2010/main" val="3264497902"/>
              </p:ext>
            </p:extLst>
          </p:nvPr>
        </p:nvGraphicFramePr>
        <p:xfrm>
          <a:off x="4932781" y="3809744"/>
          <a:ext cx="3719512" cy="377825"/>
        </p:xfrm>
        <a:graphic>
          <a:graphicData uri="http://schemas.openxmlformats.org/presentationml/2006/ole">
            <mc:AlternateContent xmlns:mc="http://schemas.openxmlformats.org/markup-compatibility/2006">
              <mc:Choice xmlns:v="urn:schemas-microsoft-com:vml" Requires="v">
                <p:oleObj spid="_x0000_s14340" name="Equation" r:id="rId8" imgW="2247840" imgH="228600" progId="Equation.DSMT4">
                  <p:embed/>
                </p:oleObj>
              </mc:Choice>
              <mc:Fallback>
                <p:oleObj name="Equation" r:id="rId8" imgW="2247840" imgH="228600" progId="Equation.DSMT4">
                  <p:embed/>
                  <p:pic>
                    <p:nvPicPr>
                      <p:cNvPr id="16" name="Object 15">
                        <a:extLst>
                          <a:ext uri="{FF2B5EF4-FFF2-40B4-BE49-F238E27FC236}">
                            <a16:creationId xmlns:a16="http://schemas.microsoft.com/office/drawing/2014/main" id="{8E979462-9720-2D20-1249-59F0088734C1}"/>
                          </a:ext>
                        </a:extLst>
                      </p:cNvPr>
                      <p:cNvPicPr>
                        <a:picLocks noChangeAspect="1" noChangeArrowheads="1"/>
                      </p:cNvPicPr>
                      <p:nvPr/>
                    </p:nvPicPr>
                    <p:blipFill>
                      <a:blip r:embed="rId9"/>
                      <a:srcRect/>
                      <a:stretch>
                        <a:fillRect/>
                      </a:stretch>
                    </p:blipFill>
                    <p:spPr bwMode="auto">
                      <a:xfrm>
                        <a:off x="4932781" y="3809744"/>
                        <a:ext cx="3719512"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 name="Object 33" descr="Z subscript C Baseline equals Start Fraction negative j over omega C End Fraction equals Start Fraction negative j over (50,000) multiplied by (1 mu) End Fraction equals negative j 20 Ohms.&#10;">
            <a:extLst>
              <a:ext uri="{FF2B5EF4-FFF2-40B4-BE49-F238E27FC236}">
                <a16:creationId xmlns:a16="http://schemas.microsoft.com/office/drawing/2014/main" id="{6B06BD57-8B69-6F9A-551E-C2E847B51C43}"/>
              </a:ext>
            </a:extLst>
          </p:cNvPr>
          <p:cNvGraphicFramePr>
            <a:graphicFrameLocks noChangeAspect="1"/>
          </p:cNvGraphicFramePr>
          <p:nvPr>
            <p:extLst>
              <p:ext uri="{D42A27DB-BD31-4B8C-83A1-F6EECF244321}">
                <p14:modId xmlns:p14="http://schemas.microsoft.com/office/powerpoint/2010/main" val="1528920106"/>
              </p:ext>
            </p:extLst>
          </p:nvPr>
        </p:nvGraphicFramePr>
        <p:xfrm>
          <a:off x="4950035" y="4386373"/>
          <a:ext cx="3719513" cy="693738"/>
        </p:xfrm>
        <a:graphic>
          <a:graphicData uri="http://schemas.openxmlformats.org/presentationml/2006/ole">
            <mc:AlternateContent xmlns:mc="http://schemas.openxmlformats.org/markup-compatibility/2006">
              <mc:Choice xmlns:v="urn:schemas-microsoft-com:vml" Requires="v">
                <p:oleObj spid="_x0000_s14341" name="Equation" r:id="rId10" imgW="2247840" imgH="419040" progId="Equation.DSMT4">
                  <p:embed/>
                </p:oleObj>
              </mc:Choice>
              <mc:Fallback>
                <p:oleObj name="Equation" r:id="rId10" imgW="2247840" imgH="419040" progId="Equation.DSMT4">
                  <p:embed/>
                  <p:pic>
                    <p:nvPicPr>
                      <p:cNvPr id="15" name="Object 14">
                        <a:extLst>
                          <a:ext uri="{FF2B5EF4-FFF2-40B4-BE49-F238E27FC236}">
                            <a16:creationId xmlns:a16="http://schemas.microsoft.com/office/drawing/2014/main" id="{A7771770-9C74-4F19-A045-826E3A30CEA2}"/>
                          </a:ext>
                        </a:extLst>
                      </p:cNvPr>
                      <p:cNvPicPr>
                        <a:picLocks noChangeAspect="1" noChangeArrowheads="1"/>
                      </p:cNvPicPr>
                      <p:nvPr/>
                    </p:nvPicPr>
                    <p:blipFill>
                      <a:blip r:embed="rId11"/>
                      <a:srcRect/>
                      <a:stretch>
                        <a:fillRect/>
                      </a:stretch>
                    </p:blipFill>
                    <p:spPr bwMode="auto">
                      <a:xfrm>
                        <a:off x="4950035" y="4386373"/>
                        <a:ext cx="3719513"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 name="Object 32" descr="Therefore Z subscript e q Baseline equals 10 parallel with Open Parenthesis 6 plus j 2 Close Parenthesis parallel with minus j 20 equals 4 Ohms.&#10;">
            <a:extLst>
              <a:ext uri="{FF2B5EF4-FFF2-40B4-BE49-F238E27FC236}">
                <a16:creationId xmlns:a16="http://schemas.microsoft.com/office/drawing/2014/main" id="{76D7B6A0-7F8C-09B4-045A-C56F32368F5B}"/>
              </a:ext>
            </a:extLst>
          </p:cNvPr>
          <p:cNvGraphicFramePr>
            <a:graphicFrameLocks noChangeAspect="1"/>
          </p:cNvGraphicFramePr>
          <p:nvPr>
            <p:extLst>
              <p:ext uri="{D42A27DB-BD31-4B8C-83A1-F6EECF244321}">
                <p14:modId xmlns:p14="http://schemas.microsoft.com/office/powerpoint/2010/main" val="3077381286"/>
              </p:ext>
            </p:extLst>
          </p:nvPr>
        </p:nvGraphicFramePr>
        <p:xfrm>
          <a:off x="4631903" y="5278915"/>
          <a:ext cx="3740150" cy="400050"/>
        </p:xfrm>
        <a:graphic>
          <a:graphicData uri="http://schemas.openxmlformats.org/presentationml/2006/ole">
            <mc:AlternateContent xmlns:mc="http://schemas.openxmlformats.org/markup-compatibility/2006">
              <mc:Choice xmlns:v="urn:schemas-microsoft-com:vml" Requires="v">
                <p:oleObj spid="_x0000_s14342" name="Equation" r:id="rId12" imgW="2260440" imgH="241200" progId="Equation.DSMT4">
                  <p:embed/>
                </p:oleObj>
              </mc:Choice>
              <mc:Fallback>
                <p:oleObj name="Equation" r:id="rId12" imgW="2260440" imgH="241200" progId="Equation.DSMT4">
                  <p:embed/>
                  <p:pic>
                    <p:nvPicPr>
                      <p:cNvPr id="12" name="Object 11">
                        <a:extLst>
                          <a:ext uri="{FF2B5EF4-FFF2-40B4-BE49-F238E27FC236}">
                            <a16:creationId xmlns:a16="http://schemas.microsoft.com/office/drawing/2014/main" id="{B09AFAA8-6F06-4C07-CEC1-E9AFB7CB0BE6}"/>
                          </a:ext>
                        </a:extLst>
                      </p:cNvPr>
                      <p:cNvPicPr>
                        <a:picLocks noChangeAspect="1" noChangeArrowheads="1"/>
                      </p:cNvPicPr>
                      <p:nvPr/>
                    </p:nvPicPr>
                    <p:blipFill>
                      <a:blip r:embed="rId13"/>
                      <a:srcRect/>
                      <a:stretch>
                        <a:fillRect/>
                      </a:stretch>
                    </p:blipFill>
                    <p:spPr bwMode="auto">
                      <a:xfrm>
                        <a:off x="4631903" y="5278915"/>
                        <a:ext cx="3740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7603768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30704" y="209602"/>
            <a:ext cx="8240665" cy="590349"/>
          </a:xfrm>
        </p:spPr>
        <p:txBody>
          <a:bodyPr wrap="square" lIns="0" tIns="18000" rIns="0" bIns="18000" rtlCol="0" anchor="ctr">
            <a:spAutoFit/>
          </a:bodyPr>
          <a:lstStyle/>
          <a:p>
            <a:pPr eaLnBrk="1" fontAlgn="auto" hangingPunct="1">
              <a:spcAft>
                <a:spcPts val="0"/>
              </a:spcAft>
              <a:defRPr/>
            </a:pPr>
            <a:r>
              <a:rPr lang="en-US" sz="3600" noProof="0" dirty="0">
                <a:latin typeface="+mj-lt"/>
              </a:rPr>
              <a:t>Copyright</a:t>
            </a:r>
            <a:endParaRPr lang="en-US" sz="3600" b="0" noProof="0" dirty="0">
              <a:latin typeface="+mj-lt"/>
            </a:endParaRPr>
          </a:p>
        </p:txBody>
      </p:sp>
      <p:pic>
        <p:nvPicPr>
          <p:cNvPr id="3" name="Graphic 2" descr="Warning">
            <a:extLst>
              <a:ext uri="{FF2B5EF4-FFF2-40B4-BE49-F238E27FC236}">
                <a16:creationId xmlns:a16="http://schemas.microsoft.com/office/drawing/2014/main" id="{45663BD5-7D18-BDA4-9C4E-DA879AC102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9831" y="2317359"/>
            <a:ext cx="1277815" cy="1434026"/>
          </a:xfrm>
          <a:prstGeom prst="rect">
            <a:avLst/>
          </a:prstGeo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1851965" y="1889826"/>
            <a:ext cx="6810440" cy="2832998"/>
          </a:xfrm>
          <a:ln w="28575">
            <a:solidFill>
              <a:schemeClr val="tx1"/>
            </a:solidFill>
            <a:miter lim="800000"/>
            <a:headEnd/>
            <a:tailEnd/>
          </a:ln>
        </p:spPr>
        <p:txBody>
          <a:bodyPr wrap="square" lIns="183600" tIns="183600" rIns="183600" bIns="183600" numCol="1" anchor="ctr" anchorCtr="0" compatLnSpc="1">
            <a:prstTxWarp prst="textNoShape">
              <a:avLst/>
            </a:prstTxWarp>
            <a:spAutoFit/>
          </a:bodyPr>
          <a:lstStyle/>
          <a:p>
            <a:pPr marL="0" indent="0" eaLnBrk="1" hangingPunct="1">
              <a:buFont typeface="Arial" panose="020B0604020202020204" pitchFamily="34" charset="0"/>
              <a:buNone/>
            </a:pPr>
            <a:r>
              <a:rPr lang="en-US" altLang="en-US" b="1" noProof="0" dirty="0">
                <a:latin typeface="Arial" panose="020B0604020202020204" pitchFamily="34" charset="0"/>
                <a:cs typeface="Arial" panose="020B0604020202020204" pitchFamily="34" charset="0"/>
              </a:rPr>
              <a:t>This work is protected by </a:t>
            </a:r>
            <a:r>
              <a:rPr lang="en-US" altLang="en-US" b="1" noProof="0">
                <a:latin typeface="Arial" panose="020B0604020202020204" pitchFamily="34" charset="0"/>
                <a:cs typeface="Arial" panose="020B0604020202020204" pitchFamily="34" charset="0"/>
              </a:rPr>
              <a:t>United Kingdom </a:t>
            </a:r>
            <a:r>
              <a:rPr lang="en-US" altLang="en-US" b="1" noProof="0" dirty="0">
                <a:latin typeface="Arial" panose="020B0604020202020204" pitchFamily="34" charset="0"/>
                <a:cs typeface="Arial" panose="020B0604020202020204" pitchFamily="34" charset="0"/>
              </a:rPr>
              <a:t>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6938708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2.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3.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4.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5.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6.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7.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8.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9.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10.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11.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1265</TotalTime>
  <Words>1162</Words>
  <Application>Microsoft Office PowerPoint</Application>
  <PresentationFormat>On-screen Show (4:3)</PresentationFormat>
  <Paragraphs>125</Paragraphs>
  <Slides>20</Slides>
  <Notes>3</Notes>
  <HiddenSlides>0</HiddenSlides>
  <MMClips>0</MMClips>
  <ScaleCrop>false</ScaleCrop>
  <HeadingPairs>
    <vt:vector size="8"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20</vt:i4>
      </vt:variant>
    </vt:vector>
  </HeadingPairs>
  <TitlesOfParts>
    <vt:vector size="26" baseType="lpstr">
      <vt:lpstr>Verdana</vt:lpstr>
      <vt:lpstr>Arial</vt:lpstr>
      <vt:lpstr>Times New Roman</vt:lpstr>
      <vt:lpstr>USHE</vt:lpstr>
      <vt:lpstr>USHE_slide options</vt:lpstr>
      <vt:lpstr>Equation</vt:lpstr>
      <vt:lpstr>Electric Circuits</vt:lpstr>
      <vt:lpstr>Chapter 9 – Sinusoidal Steady-State Analysis (1 of 17)</vt:lpstr>
      <vt:lpstr>Chapter 9 – Sinusoidal Steady-State Analysis (2 of 17)</vt:lpstr>
      <vt:lpstr>Chapter 9 – Sinusoidal Steady-State Analysis (3 of 17)</vt:lpstr>
      <vt:lpstr>Chapter 9 – Sinusoidal Steady-State Analysis (4 of 17)</vt:lpstr>
      <vt:lpstr>Chapter 9 – Sinusoidal Steady-State Analysis (5 of 17)</vt:lpstr>
      <vt:lpstr>Chapter 9 – Sinusoidal Steady-State Analysis (6 of 17)</vt:lpstr>
      <vt:lpstr>Chapter 9 – Sinusoidal Steady-State Analysis (7 of 17)</vt:lpstr>
      <vt:lpstr>Chapter 9 – Sinusoidal Steady-State Analysis (8 of 17)</vt:lpstr>
      <vt:lpstr>Chapter 9 – Sinusoidal Steady-State Analysis (9 of 17)</vt:lpstr>
      <vt:lpstr>Sinusoid Steady-State Analysis</vt:lpstr>
      <vt:lpstr>Chapter 9 – Sinusoidal Steady-State Analysis (10 of 17)</vt:lpstr>
      <vt:lpstr>Chapter 9 – Sinusoidal Steady-State Analysis (11 of 17)</vt:lpstr>
      <vt:lpstr>Chapter 9 – Sinusoidal Steady-State Analysis (12 of 17)</vt:lpstr>
      <vt:lpstr>Chapter 9 – Sinusoidal Steady-State Analysis (13 of 17)</vt:lpstr>
      <vt:lpstr>Chapter 9 – Sinusoidal Steady-State Analysis (14 of 17)</vt:lpstr>
      <vt:lpstr>Chapter 9 – Sinusoidal Steady-State Analysis (15 of 17)</vt:lpstr>
      <vt:lpstr>Chapter 9 – Sinusoidal Steady-State Analysis (16 of 17)</vt:lpstr>
      <vt:lpstr>Chapter 9 – Sinusoidal Steady-State Analysis (17 of 17) </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Twelfth Edition,  Chapter 9 – Part 2</dc:title>
  <dc:subject>Engineering</dc:subject>
  <dc:creator>Nilsson and Riedel</dc:creator>
  <cp:keywords/>
  <dc:description/>
  <cp:lastModifiedBy>ss</cp:lastModifiedBy>
  <cp:revision>184</cp:revision>
  <dcterms:modified xsi:type="dcterms:W3CDTF">2024-02-23T14:20:54Z</dcterms:modified>
</cp:coreProperties>
</file>