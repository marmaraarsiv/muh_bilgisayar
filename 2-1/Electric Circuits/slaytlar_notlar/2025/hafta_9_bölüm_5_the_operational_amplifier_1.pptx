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8"/>
  </p:notesMasterIdLst>
  <p:handoutMasterIdLst>
    <p:handoutMasterId r:id="rId29"/>
  </p:handoutMasterIdLst>
  <p:sldIdLst>
    <p:sldId id="330" r:id="rId3"/>
    <p:sldId id="718" r:id="rId4"/>
    <p:sldId id="723" r:id="rId5"/>
    <p:sldId id="745" r:id="rId6"/>
    <p:sldId id="344" r:id="rId7"/>
    <p:sldId id="724" r:id="rId8"/>
    <p:sldId id="725" r:id="rId9"/>
    <p:sldId id="726" r:id="rId10"/>
    <p:sldId id="727" r:id="rId11"/>
    <p:sldId id="728" r:id="rId12"/>
    <p:sldId id="730" r:id="rId13"/>
    <p:sldId id="729" r:id="rId14"/>
    <p:sldId id="738" r:id="rId15"/>
    <p:sldId id="731" r:id="rId16"/>
    <p:sldId id="737" r:id="rId17"/>
    <p:sldId id="734" r:id="rId18"/>
    <p:sldId id="735" r:id="rId19"/>
    <p:sldId id="736" r:id="rId20"/>
    <p:sldId id="739" r:id="rId21"/>
    <p:sldId id="748" r:id="rId22"/>
    <p:sldId id="741" r:id="rId23"/>
    <p:sldId id="746" r:id="rId24"/>
    <p:sldId id="742" r:id="rId25"/>
    <p:sldId id="747" r:id="rId26"/>
    <p:sldId id="717" r:id="rId27"/>
  </p:sldIdLst>
  <p:sldSz cx="9144000" cy="6858000" type="screen4x3"/>
  <p:notesSz cx="6858000" cy="9144000"/>
  <p:embeddedFontLst>
    <p:embeddedFont>
      <p:font typeface="Verdana" panose="020B06040305040402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6" userDrawn="1">
          <p15:clr>
            <a:srgbClr val="A4A3A4"/>
          </p15:clr>
        </p15:guide>
        <p15:guide id="2" pos="264" userDrawn="1">
          <p15:clr>
            <a:srgbClr val="A4A3A4"/>
          </p15:clr>
        </p15:guide>
        <p15:guide id="3" orient="horz" pos="890" userDrawn="1">
          <p15:clr>
            <a:srgbClr val="A4A3A4"/>
          </p15:clr>
        </p15:guide>
        <p15:guide id="4" pos="2880" userDrawn="1">
          <p15:clr>
            <a:srgbClr val="A4A3A4"/>
          </p15:clr>
        </p15:guide>
        <p15:guide id="5" pos="5511" userDrawn="1">
          <p15:clr>
            <a:srgbClr val="A4A3A4"/>
          </p15:clr>
        </p15:guide>
        <p15:guide id="6" orient="horz" pos="399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601" autoAdjust="0"/>
    <p:restoredTop sz="86372" autoAdjust="0"/>
  </p:normalViewPr>
  <p:slideViewPr>
    <p:cSldViewPr snapToGrid="0" snapToObjects="1">
      <p:cViewPr varScale="1">
        <p:scale>
          <a:sx n="72" d="100"/>
          <a:sy n="72" d="100"/>
        </p:scale>
        <p:origin x="660" y="78"/>
      </p:cViewPr>
      <p:guideLst>
        <p:guide orient="horz" pos="436"/>
        <p:guide pos="264"/>
        <p:guide orient="horz" pos="890"/>
        <p:guide pos="2880"/>
        <p:guide pos="5511"/>
        <p:guide orient="horz" pos="3997"/>
      </p:guideLst>
    </p:cSldViewPr>
  </p:slideViewPr>
  <p:outlineViewPr>
    <p:cViewPr>
      <p:scale>
        <a:sx n="33" d="100"/>
        <a:sy n="33" d="100"/>
      </p:scale>
      <p:origin x="0" y="-12504"/>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20.wmf"/><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8.wmf"/><Relationship Id="rId7" Type="http://schemas.openxmlformats.org/officeDocument/2006/relationships/image" Target="../media/image32.wmf"/><Relationship Id="rId2" Type="http://schemas.openxmlformats.org/officeDocument/2006/relationships/image" Target="../media/image27.wmf"/><Relationship Id="rId1" Type="http://schemas.openxmlformats.org/officeDocument/2006/relationships/image" Target="../media/image26.wmf"/><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34.wmf"/><Relationship Id="rId1" Type="http://schemas.openxmlformats.org/officeDocument/2006/relationships/image" Target="../media/image26.wmf"/><Relationship Id="rId4" Type="http://schemas.openxmlformats.org/officeDocument/2006/relationships/image" Target="../media/image35.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image" Target="../media/image46.wmf"/><Relationship Id="rId3" Type="http://schemas.openxmlformats.org/officeDocument/2006/relationships/image" Target="../media/image28.wmf"/><Relationship Id="rId7" Type="http://schemas.openxmlformats.org/officeDocument/2006/relationships/image" Target="../media/image40.wmf"/><Relationship Id="rId12" Type="http://schemas.openxmlformats.org/officeDocument/2006/relationships/image" Target="../media/image45.wmf"/><Relationship Id="rId2" Type="http://schemas.openxmlformats.org/officeDocument/2006/relationships/image" Target="../media/image34.wmf"/><Relationship Id="rId1" Type="http://schemas.openxmlformats.org/officeDocument/2006/relationships/image" Target="../media/image26.wmf"/><Relationship Id="rId6" Type="http://schemas.openxmlformats.org/officeDocument/2006/relationships/image" Target="../media/image39.wmf"/><Relationship Id="rId11" Type="http://schemas.openxmlformats.org/officeDocument/2006/relationships/image" Target="../media/image44.wmf"/><Relationship Id="rId5" Type="http://schemas.openxmlformats.org/officeDocument/2006/relationships/image" Target="../media/image38.wmf"/><Relationship Id="rId15" Type="http://schemas.openxmlformats.org/officeDocument/2006/relationships/image" Target="../media/image48.wmf"/><Relationship Id="rId10" Type="http://schemas.openxmlformats.org/officeDocument/2006/relationships/image" Target="../media/image43.wmf"/><Relationship Id="rId4" Type="http://schemas.openxmlformats.org/officeDocument/2006/relationships/image" Target="../media/image37.wmf"/><Relationship Id="rId9" Type="http://schemas.openxmlformats.org/officeDocument/2006/relationships/image" Target="../media/image42.wmf"/><Relationship Id="rId14" Type="http://schemas.openxmlformats.org/officeDocument/2006/relationships/image" Target="../media/image47.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 Id="rId4" Type="http://schemas.openxmlformats.org/officeDocument/2006/relationships/image" Target="../media/image5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5" Type="http://schemas.openxmlformats.org/officeDocument/2006/relationships/image" Target="../media/image59.wmf"/><Relationship Id="rId4" Type="http://schemas.openxmlformats.org/officeDocument/2006/relationships/image" Target="../media/image5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 Id="rId5" Type="http://schemas.openxmlformats.org/officeDocument/2006/relationships/image" Target="../media/image65.wmf"/><Relationship Id="rId4" Type="http://schemas.openxmlformats.org/officeDocument/2006/relationships/image" Target="../media/image6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2/23/2024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77772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25</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2/23/2024</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8" name="Picture 7" descr="Pearson Logo">
            <a:extLst>
              <a:ext uri="{FF2B5EF4-FFF2-40B4-BE49-F238E27FC236}">
                <a16:creationId xmlns:a16="http://schemas.microsoft.com/office/drawing/2014/main" id="{C917F11E-AB97-4E6F-82B8-2F1D136B5028}"/>
              </a:ext>
            </a:extLst>
          </p:cNvPr>
          <p:cNvPicPr>
            <a:picLocks noChangeAspect="1"/>
          </p:cNvPicPr>
          <p:nvPr userDrawn="1"/>
        </p:nvPicPr>
        <p:blipFill>
          <a:blip r:embed="rId14"/>
          <a:stretch>
            <a:fillRect/>
          </a:stretch>
        </p:blipFill>
        <p:spPr>
          <a:xfrm>
            <a:off x="430085" y="6411214"/>
            <a:ext cx="986560" cy="310866"/>
          </a:xfrm>
          <a:prstGeom prst="rect">
            <a:avLst/>
          </a:prstGeom>
        </p:spPr>
      </p:pic>
      <p:sp>
        <p:nvSpPr>
          <p:cNvPr id="9" name="Content Placeholder 7">
            <a:extLst>
              <a:ext uri="{FF2B5EF4-FFF2-40B4-BE49-F238E27FC236}">
                <a16:creationId xmlns:a16="http://schemas.microsoft.com/office/drawing/2014/main" id="{5D6AF4CD-D40F-418A-86B2-E8C57AEDD865}"/>
              </a:ext>
            </a:extLst>
          </p:cNvPr>
          <p:cNvSpPr txBox="1">
            <a:spLocks/>
          </p:cNvSpPr>
          <p:nvPr userDrawn="1"/>
        </p:nvSpPr>
        <p:spPr>
          <a:xfrm>
            <a:off x="2564091" y="6490439"/>
            <a:ext cx="6105797"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8.xml"/><Relationship Id="rId1" Type="http://schemas.openxmlformats.org/officeDocument/2006/relationships/vmlDrawing" Target="../drawings/vmlDrawing1.vml"/><Relationship Id="rId4" Type="http://schemas.openxmlformats.org/officeDocument/2006/relationships/image" Target="../media/image9.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11.png"/><Relationship Id="rId4" Type="http://schemas.openxmlformats.org/officeDocument/2006/relationships/image" Target="../media/image10.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3.vml"/><Relationship Id="rId5" Type="http://schemas.openxmlformats.org/officeDocument/2006/relationships/image" Target="../media/image12.png"/><Relationship Id="rId4" Type="http://schemas.openxmlformats.org/officeDocument/2006/relationships/image" Target="../media/image10.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vmlDrawing" Target="../drawings/vmlDrawing4.vml"/><Relationship Id="rId5" Type="http://schemas.openxmlformats.org/officeDocument/2006/relationships/image" Target="../media/image13.png"/><Relationship Id="rId4" Type="http://schemas.openxmlformats.org/officeDocument/2006/relationships/image" Target="../media/image10.wmf"/></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xml"/><Relationship Id="rId7" Type="http://schemas.openxmlformats.org/officeDocument/2006/relationships/image" Target="../media/image15.png"/><Relationship Id="rId2" Type="http://schemas.openxmlformats.org/officeDocument/2006/relationships/tags" Target="../tags/tag1.xml"/><Relationship Id="rId1" Type="http://schemas.openxmlformats.org/officeDocument/2006/relationships/vmlDrawing" Target="../drawings/vmlDrawing5.vml"/><Relationship Id="rId6" Type="http://schemas.openxmlformats.org/officeDocument/2006/relationships/slideLayout" Target="../slideLayouts/slideLayout8.xml"/><Relationship Id="rId5" Type="http://schemas.openxmlformats.org/officeDocument/2006/relationships/tags" Target="../tags/tag4.xml"/><Relationship Id="rId10" Type="http://schemas.openxmlformats.org/officeDocument/2006/relationships/image" Target="../media/image14.wmf"/><Relationship Id="rId4" Type="http://schemas.openxmlformats.org/officeDocument/2006/relationships/tags" Target="../tags/tag3.xml"/><Relationship Id="rId9"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tags" Target="../tags/tag6.xml"/><Relationship Id="rId7" Type="http://schemas.openxmlformats.org/officeDocument/2006/relationships/oleObject" Target="../embeddings/oleObject6.bin"/><Relationship Id="rId12" Type="http://schemas.openxmlformats.org/officeDocument/2006/relationships/image" Target="../media/image14.wmf"/><Relationship Id="rId2" Type="http://schemas.openxmlformats.org/officeDocument/2006/relationships/tags" Target="../tags/tag5.xml"/><Relationship Id="rId1" Type="http://schemas.openxmlformats.org/officeDocument/2006/relationships/vmlDrawing" Target="../drawings/vmlDrawing6.vml"/><Relationship Id="rId6" Type="http://schemas.openxmlformats.org/officeDocument/2006/relationships/slideLayout" Target="../slideLayouts/slideLayout8.xml"/><Relationship Id="rId11" Type="http://schemas.openxmlformats.org/officeDocument/2006/relationships/oleObject" Target="../embeddings/oleObject7.bin"/><Relationship Id="rId5" Type="http://schemas.openxmlformats.org/officeDocument/2006/relationships/tags" Target="../tags/tag8.xml"/><Relationship Id="rId10" Type="http://schemas.openxmlformats.org/officeDocument/2006/relationships/image" Target="../media/image16.png"/><Relationship Id="rId4" Type="http://schemas.openxmlformats.org/officeDocument/2006/relationships/tags" Target="../tags/tag7.xml"/><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tags" Target="../tags/tag10.xml"/><Relationship Id="rId7" Type="http://schemas.openxmlformats.org/officeDocument/2006/relationships/oleObject" Target="../embeddings/oleObject8.bin"/><Relationship Id="rId12" Type="http://schemas.openxmlformats.org/officeDocument/2006/relationships/image" Target="../media/image14.wmf"/><Relationship Id="rId2" Type="http://schemas.openxmlformats.org/officeDocument/2006/relationships/tags" Target="../tags/tag9.xml"/><Relationship Id="rId1" Type="http://schemas.openxmlformats.org/officeDocument/2006/relationships/vmlDrawing" Target="../drawings/vmlDrawing7.vml"/><Relationship Id="rId6" Type="http://schemas.openxmlformats.org/officeDocument/2006/relationships/slideLayout" Target="../slideLayouts/slideLayout8.xml"/><Relationship Id="rId11" Type="http://schemas.openxmlformats.org/officeDocument/2006/relationships/oleObject" Target="../embeddings/oleObject7.bin"/><Relationship Id="rId5" Type="http://schemas.openxmlformats.org/officeDocument/2006/relationships/tags" Target="../tags/tag12.xml"/><Relationship Id="rId10" Type="http://schemas.openxmlformats.org/officeDocument/2006/relationships/image" Target="../media/image16.png"/><Relationship Id="rId4" Type="http://schemas.openxmlformats.org/officeDocument/2006/relationships/tags" Target="../tags/tag11.xml"/><Relationship Id="rId9" Type="http://schemas.openxmlformats.org/officeDocument/2006/relationships/image" Target="../media/image15.png"/></Relationships>
</file>

<file path=ppt/slides/_rels/slide14.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image" Target="../media/image20.wmf"/><Relationship Id="rId3" Type="http://schemas.openxmlformats.org/officeDocument/2006/relationships/tags" Target="../tags/tag14.xml"/><Relationship Id="rId7" Type="http://schemas.openxmlformats.org/officeDocument/2006/relationships/oleObject" Target="../embeddings/oleObject9.bin"/><Relationship Id="rId12" Type="http://schemas.openxmlformats.org/officeDocument/2006/relationships/oleObject" Target="../embeddings/oleObject10.bin"/><Relationship Id="rId2" Type="http://schemas.openxmlformats.org/officeDocument/2006/relationships/tags" Target="../tags/tag13.xml"/><Relationship Id="rId1" Type="http://schemas.openxmlformats.org/officeDocument/2006/relationships/vmlDrawing" Target="../drawings/vmlDrawing8.vml"/><Relationship Id="rId6" Type="http://schemas.openxmlformats.org/officeDocument/2006/relationships/slideLayout" Target="../slideLayouts/slideLayout8.xml"/><Relationship Id="rId11" Type="http://schemas.openxmlformats.org/officeDocument/2006/relationships/image" Target="../media/image15.png"/><Relationship Id="rId5" Type="http://schemas.openxmlformats.org/officeDocument/2006/relationships/tags" Target="../tags/tag16.xml"/><Relationship Id="rId15" Type="http://schemas.openxmlformats.org/officeDocument/2006/relationships/image" Target="../media/image14.wmf"/><Relationship Id="rId10" Type="http://schemas.openxmlformats.org/officeDocument/2006/relationships/image" Target="../media/image16.png"/><Relationship Id="rId4" Type="http://schemas.openxmlformats.org/officeDocument/2006/relationships/tags" Target="../tags/tag15.xml"/><Relationship Id="rId9" Type="http://schemas.openxmlformats.org/officeDocument/2006/relationships/image" Target="../media/image21.jpg"/><Relationship Id="rId14"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tags" Target="../tags/tag18.xml"/><Relationship Id="rId7" Type="http://schemas.openxmlformats.org/officeDocument/2006/relationships/notesSlide" Target="../notesSlides/notesSlide2.xml"/><Relationship Id="rId12" Type="http://schemas.openxmlformats.org/officeDocument/2006/relationships/image" Target="../media/image23.jpg"/><Relationship Id="rId2" Type="http://schemas.openxmlformats.org/officeDocument/2006/relationships/tags" Target="../tags/tag17.xml"/><Relationship Id="rId1" Type="http://schemas.openxmlformats.org/officeDocument/2006/relationships/vmlDrawing" Target="../drawings/vmlDrawing9.vml"/><Relationship Id="rId6" Type="http://schemas.openxmlformats.org/officeDocument/2006/relationships/slideLayout" Target="../slideLayouts/slideLayout8.xml"/><Relationship Id="rId11" Type="http://schemas.openxmlformats.org/officeDocument/2006/relationships/image" Target="../media/image16.png"/><Relationship Id="rId5" Type="http://schemas.openxmlformats.org/officeDocument/2006/relationships/tags" Target="../tags/tag20.xml"/><Relationship Id="rId10" Type="http://schemas.openxmlformats.org/officeDocument/2006/relationships/image" Target="../media/image15.png"/><Relationship Id="rId4" Type="http://schemas.openxmlformats.org/officeDocument/2006/relationships/tags" Target="../tags/tag19.xml"/><Relationship Id="rId9" Type="http://schemas.openxmlformats.org/officeDocument/2006/relationships/image" Target="../media/image22.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8.xml"/><Relationship Id="rId1" Type="http://schemas.openxmlformats.org/officeDocument/2006/relationships/vmlDrawing" Target="../drawings/vmlDrawing10.vml"/><Relationship Id="rId6" Type="http://schemas.openxmlformats.org/officeDocument/2006/relationships/image" Target="../media/image25.wmf"/><Relationship Id="rId5" Type="http://schemas.openxmlformats.org/officeDocument/2006/relationships/oleObject" Target="../embeddings/oleObject14.bin"/><Relationship Id="rId4" Type="http://schemas.openxmlformats.org/officeDocument/2006/relationships/image" Target="../media/image24.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image" Target="../media/image33.jpg"/><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30.wmf"/><Relationship Id="rId17" Type="http://schemas.openxmlformats.org/officeDocument/2006/relationships/image" Target="../media/image32.wmf"/><Relationship Id="rId2" Type="http://schemas.openxmlformats.org/officeDocument/2006/relationships/slideLayout" Target="../slideLayouts/slideLayout8.xml"/><Relationship Id="rId16" Type="http://schemas.openxmlformats.org/officeDocument/2006/relationships/oleObject" Target="../embeddings/oleObject21.bin"/><Relationship Id="rId1" Type="http://schemas.openxmlformats.org/officeDocument/2006/relationships/vmlDrawing" Target="../drawings/vmlDrawing11.vml"/><Relationship Id="rId6" Type="http://schemas.openxmlformats.org/officeDocument/2006/relationships/image" Target="../media/image27.w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image" Target="../media/image31.wmf"/><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18.bin"/><Relationship Id="rId14" Type="http://schemas.openxmlformats.org/officeDocument/2006/relationships/oleObject" Target="../embeddings/oleObject20.bin"/></Relationships>
</file>

<file path=ppt/slides/_rels/slide19.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8.xml"/><Relationship Id="rId1" Type="http://schemas.openxmlformats.org/officeDocument/2006/relationships/vmlDrawing" Target="../drawings/vmlDrawing12.vml"/><Relationship Id="rId6" Type="http://schemas.openxmlformats.org/officeDocument/2006/relationships/image" Target="../media/image34.wmf"/><Relationship Id="rId11" Type="http://schemas.openxmlformats.org/officeDocument/2006/relationships/image" Target="../media/image35.wmf"/><Relationship Id="rId5" Type="http://schemas.openxmlformats.org/officeDocument/2006/relationships/oleObject" Target="../embeddings/oleObject23.bin"/><Relationship Id="rId10" Type="http://schemas.openxmlformats.org/officeDocument/2006/relationships/oleObject" Target="../embeddings/oleObject25.bin"/><Relationship Id="rId4" Type="http://schemas.openxmlformats.org/officeDocument/2006/relationships/image" Target="../media/image26.wmf"/><Relationship Id="rId9" Type="http://schemas.openxmlformats.org/officeDocument/2006/relationships/image" Target="../media/image36.jpg"/></Relationships>
</file>

<file path=ppt/slides/_rels/slide20.xml.rels><?xml version="1.0" encoding="UTF-8" standalone="yes"?>
<Relationships xmlns="http://schemas.openxmlformats.org/package/2006/relationships"><Relationship Id="rId13" Type="http://schemas.openxmlformats.org/officeDocument/2006/relationships/image" Target="../media/image38.wmf"/><Relationship Id="rId18" Type="http://schemas.openxmlformats.org/officeDocument/2006/relationships/oleObject" Target="../embeddings/oleObject33.bin"/><Relationship Id="rId26" Type="http://schemas.openxmlformats.org/officeDocument/2006/relationships/oleObject" Target="../embeddings/oleObject37.bin"/><Relationship Id="rId3" Type="http://schemas.openxmlformats.org/officeDocument/2006/relationships/oleObject" Target="../embeddings/oleObject26.bin"/><Relationship Id="rId21" Type="http://schemas.openxmlformats.org/officeDocument/2006/relationships/image" Target="../media/image42.wmf"/><Relationship Id="rId7" Type="http://schemas.openxmlformats.org/officeDocument/2006/relationships/oleObject" Target="../embeddings/oleObject28.bin"/><Relationship Id="rId12" Type="http://schemas.openxmlformats.org/officeDocument/2006/relationships/oleObject" Target="../embeddings/oleObject30.bin"/><Relationship Id="rId17" Type="http://schemas.openxmlformats.org/officeDocument/2006/relationships/image" Target="../media/image40.wmf"/><Relationship Id="rId25" Type="http://schemas.openxmlformats.org/officeDocument/2006/relationships/image" Target="../media/image44.wmf"/><Relationship Id="rId33" Type="http://schemas.openxmlformats.org/officeDocument/2006/relationships/image" Target="../media/image48.wmf"/><Relationship Id="rId2" Type="http://schemas.openxmlformats.org/officeDocument/2006/relationships/slideLayout" Target="../slideLayouts/slideLayout8.xml"/><Relationship Id="rId16" Type="http://schemas.openxmlformats.org/officeDocument/2006/relationships/oleObject" Target="../embeddings/oleObject32.bin"/><Relationship Id="rId20" Type="http://schemas.openxmlformats.org/officeDocument/2006/relationships/oleObject" Target="../embeddings/oleObject34.bin"/><Relationship Id="rId29" Type="http://schemas.openxmlformats.org/officeDocument/2006/relationships/image" Target="../media/image46.wmf"/><Relationship Id="rId1" Type="http://schemas.openxmlformats.org/officeDocument/2006/relationships/vmlDrawing" Target="../drawings/vmlDrawing13.vml"/><Relationship Id="rId6" Type="http://schemas.openxmlformats.org/officeDocument/2006/relationships/image" Target="../media/image34.wmf"/><Relationship Id="rId11" Type="http://schemas.openxmlformats.org/officeDocument/2006/relationships/image" Target="../media/image37.wmf"/><Relationship Id="rId24" Type="http://schemas.openxmlformats.org/officeDocument/2006/relationships/oleObject" Target="../embeddings/oleObject36.bin"/><Relationship Id="rId32" Type="http://schemas.openxmlformats.org/officeDocument/2006/relationships/oleObject" Target="../embeddings/oleObject40.bin"/><Relationship Id="rId5" Type="http://schemas.openxmlformats.org/officeDocument/2006/relationships/oleObject" Target="../embeddings/oleObject27.bin"/><Relationship Id="rId15" Type="http://schemas.openxmlformats.org/officeDocument/2006/relationships/image" Target="../media/image39.wmf"/><Relationship Id="rId23" Type="http://schemas.openxmlformats.org/officeDocument/2006/relationships/image" Target="../media/image43.wmf"/><Relationship Id="rId28" Type="http://schemas.openxmlformats.org/officeDocument/2006/relationships/oleObject" Target="../embeddings/oleObject38.bin"/><Relationship Id="rId10" Type="http://schemas.openxmlformats.org/officeDocument/2006/relationships/oleObject" Target="../embeddings/oleObject29.bin"/><Relationship Id="rId19" Type="http://schemas.openxmlformats.org/officeDocument/2006/relationships/image" Target="../media/image41.wmf"/><Relationship Id="rId31" Type="http://schemas.openxmlformats.org/officeDocument/2006/relationships/image" Target="../media/image47.wmf"/><Relationship Id="rId4" Type="http://schemas.openxmlformats.org/officeDocument/2006/relationships/image" Target="../media/image26.wmf"/><Relationship Id="rId9" Type="http://schemas.openxmlformats.org/officeDocument/2006/relationships/image" Target="../media/image49.jpg"/><Relationship Id="rId14" Type="http://schemas.openxmlformats.org/officeDocument/2006/relationships/oleObject" Target="../embeddings/oleObject31.bin"/><Relationship Id="rId22" Type="http://schemas.openxmlformats.org/officeDocument/2006/relationships/oleObject" Target="../embeddings/oleObject35.bin"/><Relationship Id="rId27" Type="http://schemas.openxmlformats.org/officeDocument/2006/relationships/image" Target="../media/image45.wmf"/><Relationship Id="rId30" Type="http://schemas.openxmlformats.org/officeDocument/2006/relationships/oleObject" Target="../embeddings/oleObject39.bin"/><Relationship Id="rId8" Type="http://schemas.openxmlformats.org/officeDocument/2006/relationships/image" Target="../media/image28.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oleObject" Target="../embeddings/oleObject41.bin"/><Relationship Id="rId7" Type="http://schemas.openxmlformats.org/officeDocument/2006/relationships/image" Target="../media/image51.wmf"/><Relationship Id="rId2" Type="http://schemas.openxmlformats.org/officeDocument/2006/relationships/slideLayout" Target="../slideLayouts/slideLayout8.xml"/><Relationship Id="rId1" Type="http://schemas.openxmlformats.org/officeDocument/2006/relationships/vmlDrawing" Target="../drawings/vmlDrawing14.vml"/><Relationship Id="rId6" Type="http://schemas.openxmlformats.org/officeDocument/2006/relationships/oleObject" Target="../embeddings/oleObject42.bin"/><Relationship Id="rId11" Type="http://schemas.openxmlformats.org/officeDocument/2006/relationships/image" Target="../media/image53.wmf"/><Relationship Id="rId5" Type="http://schemas.openxmlformats.org/officeDocument/2006/relationships/image" Target="../media/image54.jpg"/><Relationship Id="rId10" Type="http://schemas.openxmlformats.org/officeDocument/2006/relationships/oleObject" Target="../embeddings/oleObject44.bin"/><Relationship Id="rId4" Type="http://schemas.openxmlformats.org/officeDocument/2006/relationships/image" Target="../media/image50.wmf"/><Relationship Id="rId9" Type="http://schemas.openxmlformats.org/officeDocument/2006/relationships/image" Target="../media/image52.wmf"/></Relationships>
</file>

<file path=ppt/slides/_rels/slide22.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image" Target="../media/image59.wmf"/><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oleObject" Target="../embeddings/oleObject49.bin"/><Relationship Id="rId2" Type="http://schemas.openxmlformats.org/officeDocument/2006/relationships/slideLayout" Target="../slideLayouts/slideLayout8.xml"/><Relationship Id="rId1" Type="http://schemas.openxmlformats.org/officeDocument/2006/relationships/vmlDrawing" Target="../drawings/vmlDrawing15.vml"/><Relationship Id="rId6" Type="http://schemas.openxmlformats.org/officeDocument/2006/relationships/image" Target="../media/image56.wmf"/><Relationship Id="rId11" Type="http://schemas.openxmlformats.org/officeDocument/2006/relationships/image" Target="../media/image58.wmf"/><Relationship Id="rId5" Type="http://schemas.openxmlformats.org/officeDocument/2006/relationships/oleObject" Target="../embeddings/oleObject46.bin"/><Relationship Id="rId10" Type="http://schemas.openxmlformats.org/officeDocument/2006/relationships/oleObject" Target="../embeddings/oleObject48.bin"/><Relationship Id="rId4" Type="http://schemas.openxmlformats.org/officeDocument/2006/relationships/image" Target="../media/image55.wmf"/><Relationship Id="rId9" Type="http://schemas.openxmlformats.org/officeDocument/2006/relationships/image" Target="../media/image60.jpg"/></Relationships>
</file>

<file path=ppt/slides/_rels/slide23.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image" Target="../media/image15.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6.png"/><Relationship Id="rId5" Type="http://schemas.openxmlformats.org/officeDocument/2006/relationships/slideLayout" Target="../slideLayouts/slideLayout8.xml"/><Relationship Id="rId4" Type="http://schemas.openxmlformats.org/officeDocument/2006/relationships/tags" Target="../tags/tag24.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65.wmf"/><Relationship Id="rId3" Type="http://schemas.openxmlformats.org/officeDocument/2006/relationships/oleObject" Target="../embeddings/oleObject50.bin"/><Relationship Id="rId7" Type="http://schemas.openxmlformats.org/officeDocument/2006/relationships/image" Target="../media/image62.wmf"/><Relationship Id="rId12" Type="http://schemas.openxmlformats.org/officeDocument/2006/relationships/oleObject" Target="../embeddings/oleObject54.bin"/><Relationship Id="rId2" Type="http://schemas.openxmlformats.org/officeDocument/2006/relationships/slideLayout" Target="../slideLayouts/slideLayout8.xml"/><Relationship Id="rId1" Type="http://schemas.openxmlformats.org/officeDocument/2006/relationships/vmlDrawing" Target="../drawings/vmlDrawing16.vml"/><Relationship Id="rId6" Type="http://schemas.openxmlformats.org/officeDocument/2006/relationships/oleObject" Target="../embeddings/oleObject51.bin"/><Relationship Id="rId11" Type="http://schemas.openxmlformats.org/officeDocument/2006/relationships/image" Target="../media/image64.wmf"/><Relationship Id="rId5" Type="http://schemas.openxmlformats.org/officeDocument/2006/relationships/image" Target="../media/image66.jpg"/><Relationship Id="rId10" Type="http://schemas.openxmlformats.org/officeDocument/2006/relationships/oleObject" Target="../embeddings/oleObject53.bin"/><Relationship Id="rId4" Type="http://schemas.openxmlformats.org/officeDocument/2006/relationships/image" Target="../media/image61.wmf"/><Relationship Id="rId9" Type="http://schemas.openxmlformats.org/officeDocument/2006/relationships/image" Target="../media/image63.wmf"/></Relationships>
</file>

<file path=ppt/slides/_rels/slide2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6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28400" y="208800"/>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9" name="Picture 8">
            <a:extLst>
              <a:ext uri="{FF2B5EF4-FFF2-40B4-BE49-F238E27FC236}">
                <a16:creationId xmlns:a16="http://schemas.microsoft.com/office/drawing/2014/main" id="{DA7457B4-A4CB-46E6-B2F7-582234AA03E9}"/>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4092126" cy="498016"/>
          </a:xfrm>
        </p:spPr>
        <p:txBody>
          <a:bodyPr wrap="square" lIns="0" tIns="18000" rIns="0" bIns="18000" anchor="ctr">
            <a:spAutoFit/>
          </a:bodyPr>
          <a:lstStyle/>
          <a:p>
            <a:pPr indent="-101600"/>
            <a:r>
              <a:rPr lang="en-US" noProof="0" dirty="0">
                <a:solidFill>
                  <a:schemeClr val="tx1"/>
                </a:solidFill>
              </a:rPr>
              <a:t>Chapter 5 – Part 1</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545534"/>
            <a:ext cx="4092127" cy="374906"/>
          </a:xfrm>
        </p:spPr>
        <p:txBody>
          <a:bodyPr wrap="square" lIns="0" tIns="18000" rIns="0" bIns="18000" anchor="ctr">
            <a:spAutoFit/>
          </a:bodyPr>
          <a:lstStyle/>
          <a:p>
            <a:pPr indent="-101600"/>
            <a:r>
              <a:rPr lang="en-US" noProof="0" dirty="0"/>
              <a:t>The Operational Amplifier</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11214"/>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564091" y="6490439"/>
            <a:ext cx="6105797" cy="221018"/>
          </a:xfrm>
        </p:spPr>
        <p:txBody>
          <a:bodyPr wrap="square" lIns="0" tIns="18000" rIns="0" bIns="18000" anchor="ctr">
            <a:spAutoFit/>
          </a:bodyPr>
          <a:lstStyle/>
          <a:p>
            <a:r>
              <a:rPr lang="en-US" noProof="0" dirty="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400" y="208800"/>
            <a:ext cx="8240620" cy="590349"/>
          </a:xfrm>
        </p:spPr>
        <p:txBody>
          <a:bodyPr wrap="square" tIns="18000" bIns="18000" anchor="ctr" anchorCtr="0">
            <a:spAutoFit/>
          </a:bodyPr>
          <a:lstStyle/>
          <a:p>
            <a:r>
              <a:rPr lang="en-US" sz="3600" noProof="0" dirty="0">
                <a:latin typeface="+mj-lt"/>
              </a:rPr>
              <a:t>Objectives</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7" y="1053486"/>
            <a:ext cx="8240620" cy="2406231"/>
          </a:xfrm>
        </p:spPr>
        <p:txBody>
          <a:bodyPr wrap="square" lIns="0" tIns="18000" rIns="0" bIns="18000" anchor="ctr" anchorCtr="0">
            <a:spAutoFit/>
          </a:bodyPr>
          <a:lstStyle/>
          <a:p>
            <a:pPr marL="542925" indent="-542925">
              <a:spcBef>
                <a:spcPts val="600"/>
              </a:spcBef>
              <a:buNone/>
            </a:pPr>
            <a:r>
              <a:rPr lang="en-US" sz="2400" b="1" noProof="0" dirty="0">
                <a:solidFill>
                  <a:srgbClr val="007FA3"/>
                </a:solidFill>
              </a:rPr>
              <a:t>5.1</a:t>
            </a:r>
            <a:r>
              <a:rPr lang="en-US" sz="2400" noProof="0" dirty="0"/>
              <a:t>	Be able to identify and name the terminals of an op amp</a:t>
            </a:r>
          </a:p>
          <a:p>
            <a:pPr marL="542925" indent="-542925">
              <a:spcBef>
                <a:spcPts val="600"/>
              </a:spcBef>
              <a:buNone/>
            </a:pPr>
            <a:r>
              <a:rPr lang="en-US" sz="2400" b="1" noProof="0" dirty="0">
                <a:solidFill>
                  <a:srgbClr val="007FA3"/>
                </a:solidFill>
              </a:rPr>
              <a:t>5.2</a:t>
            </a:r>
            <a:r>
              <a:rPr lang="en-US" sz="2400" noProof="0" dirty="0"/>
              <a:t>	Be able to state the constraints that characterize an ideal op amp</a:t>
            </a:r>
          </a:p>
          <a:p>
            <a:pPr marL="542925" indent="-542925">
              <a:spcBef>
                <a:spcPts val="600"/>
              </a:spcBef>
              <a:buNone/>
            </a:pPr>
            <a:r>
              <a:rPr lang="en-US" sz="2400" b="1" noProof="0" dirty="0">
                <a:solidFill>
                  <a:srgbClr val="007FA3"/>
                </a:solidFill>
              </a:rPr>
              <a:t>5.3</a:t>
            </a:r>
            <a:r>
              <a:rPr lang="en-US" sz="2400" noProof="0" dirty="0"/>
              <a:t>	Know how to recognize and analyze the following op amp circuits: inverting amplifier, summing amplifier, non-inverting amplifier, difference amplifier</a:t>
            </a:r>
          </a:p>
        </p:txBody>
      </p:sp>
    </p:spTree>
    <p:extLst>
      <p:ext uri="{BB962C8B-B14F-4D97-AF65-F5344CB8AC3E}">
        <p14:creationId xmlns:p14="http://schemas.microsoft.com/office/powerpoint/2010/main" val="591622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400" y="208800"/>
            <a:ext cx="8240620" cy="590349"/>
          </a:xfrm>
        </p:spPr>
        <p:txBody>
          <a:bodyPr wrap="square" tIns="18000" bIns="18000" anchor="ctr" anchorCtr="0">
            <a:spAutoFit/>
          </a:bodyPr>
          <a:lstStyle/>
          <a:p>
            <a:r>
              <a:rPr lang="en-US" noProof="0" dirty="0"/>
              <a:t>Chapter 5 – Op Amps </a:t>
            </a:r>
            <a:r>
              <a:rPr lang="en-US" sz="2800" noProof="0" dirty="0"/>
              <a:t>(1 of 22)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7" y="1063941"/>
            <a:ext cx="8240620" cy="405683"/>
          </a:xfrm>
        </p:spPr>
        <p:txBody>
          <a:bodyPr wrap="square" lIns="0" tIns="18000" rIns="0" bIns="18000" anchor="ctr" anchorCtr="0">
            <a:spAutoFit/>
          </a:bodyPr>
          <a:lstStyle/>
          <a:p>
            <a:pPr marL="0" indent="0">
              <a:spcBef>
                <a:spcPts val="600"/>
              </a:spcBef>
              <a:buNone/>
            </a:pPr>
            <a:r>
              <a:rPr lang="en-US" sz="2400" noProof="0" dirty="0"/>
              <a:t>Terminal names, voltages and currents</a:t>
            </a:r>
          </a:p>
        </p:txBody>
      </p:sp>
      <p:pic>
        <p:nvPicPr>
          <p:cNvPr id="5" name="Picture 4" descr="A picture shows the various components and terminals of an operational amplifier. Positive power supply is through the vertical terminal on the top called V superscript + and is connected to the positive terminal of independent voltage source V subscript cc. Negative power supply is through the vertical terminal at the bottom called V superscript minus and is connected to the negative terminal of independent voltage source V subscript c c. Current i subscript c+ flows into the operational amplifier through the terminal V superscript +. Current i subscript c minus flows into the operational amplifier through the terminal V superscript minus. The horizontal terminal marked with a positive sign is the non inverting terminal. The horizontal terminal marked with a negative sign is the inverting terminal. Current i subscript p flows into the operational amplifier through the non inverting terminal. Current i subscript n flows into the operational amplifier through the inverting terminal. Current i subscript o flows into the operational amplifier through the output terminal.">
            <a:extLst>
              <a:ext uri="{FF2B5EF4-FFF2-40B4-BE49-F238E27FC236}">
                <a16:creationId xmlns:a16="http://schemas.microsoft.com/office/drawing/2014/main" id="{CC0B0DEE-8E69-4AEF-A6F0-72D07D46092A}"/>
              </a:ext>
            </a:extLst>
          </p:cNvPr>
          <p:cNvPicPr>
            <a:picLocks noChangeAspect="1"/>
          </p:cNvPicPr>
          <p:nvPr/>
        </p:nvPicPr>
        <p:blipFill>
          <a:blip r:embed="rId2"/>
          <a:stretch>
            <a:fillRect/>
          </a:stretch>
        </p:blipFill>
        <p:spPr>
          <a:xfrm>
            <a:off x="969302" y="1912508"/>
            <a:ext cx="7243101" cy="4069933"/>
          </a:xfrm>
          <a:prstGeom prst="rect">
            <a:avLst/>
          </a:prstGeom>
        </p:spPr>
      </p:pic>
    </p:spTree>
    <p:extLst>
      <p:ext uri="{BB962C8B-B14F-4D97-AF65-F5344CB8AC3E}">
        <p14:creationId xmlns:p14="http://schemas.microsoft.com/office/powerpoint/2010/main" val="2058868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400" y="208800"/>
            <a:ext cx="8240620" cy="590349"/>
          </a:xfrm>
        </p:spPr>
        <p:txBody>
          <a:bodyPr wrap="square" tIns="18000" bIns="18000" anchor="ctr" anchorCtr="0">
            <a:spAutoFit/>
          </a:bodyPr>
          <a:lstStyle/>
          <a:p>
            <a:r>
              <a:rPr lang="en-US" noProof="0" dirty="0"/>
              <a:t>Chapter 5 – Op Amps </a:t>
            </a:r>
            <a:r>
              <a:rPr lang="en-US" sz="2800" noProof="0" dirty="0"/>
              <a:t>(2 of 22)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7" y="1063941"/>
            <a:ext cx="8240620" cy="405683"/>
          </a:xfrm>
        </p:spPr>
        <p:txBody>
          <a:bodyPr wrap="square" lIns="0" tIns="18000" rIns="0" bIns="18000" anchor="ctr" anchorCtr="0">
            <a:spAutoFit/>
          </a:bodyPr>
          <a:lstStyle/>
          <a:p>
            <a:pPr marL="0" indent="0">
              <a:spcBef>
                <a:spcPts val="600"/>
              </a:spcBef>
              <a:buNone/>
            </a:pPr>
            <a:r>
              <a:rPr lang="en-US" sz="2400" noProof="0" dirty="0"/>
              <a:t>Voltage transfer characteristic</a:t>
            </a:r>
          </a:p>
        </p:txBody>
      </p:sp>
      <p:pic>
        <p:nvPicPr>
          <p:cNvPr id="6" name="Picture 5" descr="A picture shows a plot between v subscript o on the vertical axis and the difference between v subscript p and v subscript n on the horizontal axis. Units for the vertical axis are volts. The unit for the horizontal axis is milli volts. The plot passes through the origin and is a straight line from the point represented by horizontal quantity V subscript cc divided by A and vertical quantity represented by V subscript cc in the first quadrant to the point represented by horizontal quantity minus V subscript cc divided by A and vertical quantity represented by minus V subscript cc in the third quadrant. Beyond the linear point in the first quadrant, the plot is a horizontal line proceeding to the right called positive saturation. Beyond the linear point in the third quadrant, the plot is a horizontal line proceeding to the left called negative saturation. A box labeled slope greater than 100000 V slash V is pointed to the graph in the third quadrant. A box labeled Units are m V exclamation mark is shown in the fourth quadrant. Another box labeled Units are V exclamation mark is shown in the second quadrant.">
            <a:extLst>
              <a:ext uri="{FF2B5EF4-FFF2-40B4-BE49-F238E27FC236}">
                <a16:creationId xmlns:a16="http://schemas.microsoft.com/office/drawing/2014/main" id="{58075572-EDF0-4050-9B35-DD69C7B0203C}"/>
              </a:ext>
            </a:extLst>
          </p:cNvPr>
          <p:cNvPicPr>
            <a:picLocks noChangeAspect="1"/>
          </p:cNvPicPr>
          <p:nvPr/>
        </p:nvPicPr>
        <p:blipFill>
          <a:blip r:embed="rId2"/>
          <a:stretch>
            <a:fillRect/>
          </a:stretch>
        </p:blipFill>
        <p:spPr>
          <a:xfrm>
            <a:off x="852067" y="2194438"/>
            <a:ext cx="7421011" cy="3675755"/>
          </a:xfrm>
          <a:prstGeom prst="rect">
            <a:avLst/>
          </a:prstGeom>
        </p:spPr>
      </p:pic>
    </p:spTree>
    <p:extLst>
      <p:ext uri="{BB962C8B-B14F-4D97-AF65-F5344CB8AC3E}">
        <p14:creationId xmlns:p14="http://schemas.microsoft.com/office/powerpoint/2010/main" val="3646751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400" y="208800"/>
            <a:ext cx="8240620" cy="590349"/>
          </a:xfrm>
        </p:spPr>
        <p:txBody>
          <a:bodyPr wrap="square" tIns="18000" bIns="18000" anchor="ctr" anchorCtr="0">
            <a:spAutoFit/>
          </a:bodyPr>
          <a:lstStyle/>
          <a:p>
            <a:r>
              <a:rPr lang="en-US" noProof="0" dirty="0"/>
              <a:t>Chapter 5 – Op Amps </a:t>
            </a:r>
            <a:r>
              <a:rPr lang="en-US" sz="2800" noProof="0" dirty="0"/>
              <a:t>(3 of 22)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7" y="1054512"/>
            <a:ext cx="8240620" cy="405683"/>
          </a:xfrm>
        </p:spPr>
        <p:txBody>
          <a:bodyPr wrap="square" lIns="0" tIns="18000" rIns="0" bIns="18000" anchor="ctr" anchorCtr="0">
            <a:spAutoFit/>
          </a:bodyPr>
          <a:lstStyle/>
          <a:p>
            <a:pPr marL="0" indent="0">
              <a:buNone/>
            </a:pPr>
            <a:r>
              <a:rPr lang="en-US" altLang="en-US" sz="2400" noProof="0" dirty="0"/>
              <a:t>Op amps are inherently linear devices.</a:t>
            </a:r>
          </a:p>
        </p:txBody>
      </p:sp>
      <p:pic>
        <p:nvPicPr>
          <p:cNvPr id="26" name="Picture 25" descr="Cross mark">
            <a:extLst>
              <a:ext uri="{FF2B5EF4-FFF2-40B4-BE49-F238E27FC236}">
                <a16:creationId xmlns:a16="http://schemas.microsoft.com/office/drawing/2014/main" id="{E0EDF670-CFC9-2551-4B6D-8B92DEFE32D5}"/>
              </a:ext>
            </a:extLst>
          </p:cNvPr>
          <p:cNvPicPr>
            <a:picLocks noChangeAspect="1"/>
          </p:cNvPicPr>
          <p:nvPr/>
        </p:nvPicPr>
        <p:blipFill>
          <a:blip r:embed="rId2"/>
          <a:stretch>
            <a:fillRect/>
          </a:stretch>
        </p:blipFill>
        <p:spPr>
          <a:xfrm>
            <a:off x="1045114" y="1894291"/>
            <a:ext cx="258531" cy="258531"/>
          </a:xfrm>
          <a:prstGeom prst="rect">
            <a:avLst/>
          </a:prstGeom>
        </p:spPr>
      </p:pic>
      <p:sp>
        <p:nvSpPr>
          <p:cNvPr id="5" name="Content Placeholder 4">
            <a:extLst>
              <a:ext uri="{FF2B5EF4-FFF2-40B4-BE49-F238E27FC236}">
                <a16:creationId xmlns:a16="http://schemas.microsoft.com/office/drawing/2014/main" id="{7667DE76-760F-CCC6-C0F6-0B9933D368EC}"/>
              </a:ext>
            </a:extLst>
          </p:cNvPr>
          <p:cNvSpPr>
            <a:spLocks noGrp="1"/>
          </p:cNvSpPr>
          <p:nvPr>
            <p:ph sz="quarter" idx="14"/>
          </p:nvPr>
        </p:nvSpPr>
        <p:spPr>
          <a:xfrm>
            <a:off x="1484419" y="1801113"/>
            <a:ext cx="1833816" cy="405683"/>
          </a:xfrm>
        </p:spPr>
        <p:txBody>
          <a:bodyPr wrap="square" lIns="0" tIns="18000" rIns="0" bIns="18000" anchor="ctr" anchorCtr="0">
            <a:spAutoFit/>
          </a:bodyPr>
          <a:lstStyle/>
          <a:p>
            <a:pPr marL="0" indent="0">
              <a:spcBef>
                <a:spcPts val="600"/>
              </a:spcBef>
              <a:buNone/>
            </a:pPr>
            <a:r>
              <a:rPr lang="en-US" sz="2400" noProof="0" dirty="0">
                <a:solidFill>
                  <a:schemeClr val="tx2"/>
                </a:solidFill>
              </a:rPr>
              <a:t>A.</a:t>
            </a:r>
            <a:r>
              <a:rPr lang="en-US" sz="2400" noProof="0" dirty="0"/>
              <a:t> True</a:t>
            </a:r>
          </a:p>
        </p:txBody>
      </p:sp>
      <p:pic>
        <p:nvPicPr>
          <p:cNvPr id="28" name="Picture 27" descr="Check mark">
            <a:extLst>
              <a:ext uri="{FF2B5EF4-FFF2-40B4-BE49-F238E27FC236}">
                <a16:creationId xmlns:a16="http://schemas.microsoft.com/office/drawing/2014/main" id="{C4B9CE34-C39C-72A3-17E8-B16B20069F0C}"/>
              </a:ext>
            </a:extLst>
          </p:cNvPr>
          <p:cNvPicPr>
            <a:picLocks noChangeAspect="1"/>
          </p:cNvPicPr>
          <p:nvPr/>
        </p:nvPicPr>
        <p:blipFill>
          <a:blip r:embed="rId3"/>
          <a:stretch>
            <a:fillRect/>
          </a:stretch>
        </p:blipFill>
        <p:spPr>
          <a:xfrm>
            <a:off x="1017968" y="2341319"/>
            <a:ext cx="312822" cy="312822"/>
          </a:xfrm>
          <a:prstGeom prst="rect">
            <a:avLst/>
          </a:prstGeom>
        </p:spPr>
      </p:pic>
      <p:sp>
        <p:nvSpPr>
          <p:cNvPr id="6" name="Content Placeholder 5">
            <a:extLst>
              <a:ext uri="{FF2B5EF4-FFF2-40B4-BE49-F238E27FC236}">
                <a16:creationId xmlns:a16="http://schemas.microsoft.com/office/drawing/2014/main" id="{323CFB70-B25F-8B29-A4EE-2B49421EE6B8}"/>
              </a:ext>
            </a:extLst>
          </p:cNvPr>
          <p:cNvSpPr>
            <a:spLocks noGrp="1"/>
          </p:cNvSpPr>
          <p:nvPr>
            <p:ph sz="quarter" idx="15"/>
          </p:nvPr>
        </p:nvSpPr>
        <p:spPr>
          <a:xfrm>
            <a:off x="1484419" y="2285923"/>
            <a:ext cx="2012925" cy="405683"/>
          </a:xfrm>
        </p:spPr>
        <p:txBody>
          <a:bodyPr wrap="square" lIns="0" tIns="18000" rIns="0" bIns="18000" anchor="ctr" anchorCtr="0">
            <a:spAutoFit/>
          </a:bodyPr>
          <a:lstStyle/>
          <a:p>
            <a:pPr marL="0" indent="0">
              <a:buNone/>
            </a:pPr>
            <a:r>
              <a:rPr lang="en-US" sz="2400" noProof="0" dirty="0">
                <a:solidFill>
                  <a:schemeClr val="tx2"/>
                </a:solidFill>
              </a:rPr>
              <a:t>B.</a:t>
            </a:r>
            <a:r>
              <a:rPr lang="en-US" sz="2400" noProof="0" dirty="0"/>
              <a:t> False</a:t>
            </a:r>
          </a:p>
        </p:txBody>
      </p:sp>
    </p:spTree>
    <p:extLst>
      <p:ext uri="{BB962C8B-B14F-4D97-AF65-F5344CB8AC3E}">
        <p14:creationId xmlns:p14="http://schemas.microsoft.com/office/powerpoint/2010/main" val="2656774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400" y="208800"/>
            <a:ext cx="8240620" cy="590349"/>
          </a:xfrm>
        </p:spPr>
        <p:txBody>
          <a:bodyPr wrap="square" tIns="18000" bIns="18000" anchor="ctr" anchorCtr="0">
            <a:spAutoFit/>
          </a:bodyPr>
          <a:lstStyle/>
          <a:p>
            <a:r>
              <a:rPr lang="en-US" noProof="0" dirty="0"/>
              <a:t>Chapter 5 – Op Amps </a:t>
            </a:r>
            <a:r>
              <a:rPr lang="en-US" sz="2800" noProof="0" dirty="0"/>
              <a:t>(4 of 22)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7" y="1046504"/>
            <a:ext cx="8245096" cy="1590623"/>
          </a:xfrm>
        </p:spPr>
        <p:txBody>
          <a:bodyPr wrap="square" lIns="0" tIns="18000" rIns="0" bIns="18000" anchor="ctr" anchorCtr="0">
            <a:spAutoFit/>
          </a:bodyPr>
          <a:lstStyle/>
          <a:p>
            <a:pPr marL="342900" indent="-342900">
              <a:spcBef>
                <a:spcPts val="600"/>
              </a:spcBef>
            </a:pPr>
            <a:r>
              <a:rPr lang="en-US" altLang="en-US" sz="2400" noProof="0" dirty="0"/>
              <a:t>Since this class only deals with linear circuits, we use op amps only when they are operating in their linear region. </a:t>
            </a:r>
          </a:p>
          <a:p>
            <a:pPr marL="342900" indent="-342900">
              <a:spcBef>
                <a:spcPts val="600"/>
              </a:spcBef>
            </a:pPr>
            <a:r>
              <a:rPr lang="en-US" altLang="en-US" sz="2400" noProof="0" dirty="0"/>
              <a:t>How can we configure an op amp to operate in its linear region? Negative feedback!</a:t>
            </a:r>
          </a:p>
        </p:txBody>
      </p:sp>
      <p:pic>
        <p:nvPicPr>
          <p:cNvPr id="11" name="Picture 10" descr="A circuit diagram shows an operational amplifier with voltage V subscript cc applied to its top vertical terminal and voltage minus V subscript cc at its bottom vertical terminal. Voltage source V subscript s is connected to the inverting terminal through resistor R subscript s. Voltage source V subscript s has positive polarity on the upper side and negative polarity on the lower side. Current i subscript s flows through the resistor R subscript s from left to right in the inverting input wire towards the operational amplifier. A node with a positive sign exists just before the point where the inverting input wire is connected to the inverting terminal. Current i subscript n flows from this node into the inverting terminal. The node on the inverting input wire is connected to the output terminal of the operational amplifier through resistor R subscript f and this path is called the negative feedback loop. Current i subscript f flows from the output terminal to the node on the inverting input wire, the direction of this current being from right to left. The non inverting input terminal of the operational amplifier is connected to ground. Voltage v subscript n exists between the node on the inverting input wire and ground. Voltage v subscript p exists between the non inverting input terminal and ground. Voltage v subscript o exists between the output terminal of the operational amplifier and ground.">
            <a:extLst>
              <a:ext uri="{FF2B5EF4-FFF2-40B4-BE49-F238E27FC236}">
                <a16:creationId xmlns:a16="http://schemas.microsoft.com/office/drawing/2014/main" id="{D4D6F2CF-1639-4054-AD01-5016B590C5CC}"/>
              </a:ext>
            </a:extLst>
          </p:cNvPr>
          <p:cNvPicPr>
            <a:picLocks noChangeAspect="1"/>
          </p:cNvPicPr>
          <p:nvPr/>
        </p:nvPicPr>
        <p:blipFill>
          <a:blip r:embed="rId2"/>
          <a:stretch>
            <a:fillRect/>
          </a:stretch>
        </p:blipFill>
        <p:spPr>
          <a:xfrm>
            <a:off x="471333" y="3240313"/>
            <a:ext cx="3931124" cy="2081184"/>
          </a:xfrm>
          <a:prstGeom prst="rect">
            <a:avLst/>
          </a:prstGeom>
        </p:spPr>
      </p:pic>
      <p:pic>
        <p:nvPicPr>
          <p:cNvPr id="5" name="Picture 4" descr="A picture shows a plot between v subscript o on the vertical axis and the difference between v subscript p and v subscript n on the horizontal axis. Units for the vertical axis are volts. Unit for the horizontal axis is milli volts. The plot passes through the origin and is a straight line from the point represented by horizontal quantity V subscript cc divided by A and vertical quantity represented by V subscript cc in the first quadrant to the point represented by horizontal quantity minus V subscript cc divided by A and vertical quantity represented by minus V subscript cc in the third quadrant. Beyond the linear point in the first quadrant the plot is a horizontal line proceeding to the right called positive saturation. Beyond the linear point in the third quadrant the plot is a horizontal line proceeding to the left called negative saturation. ">
            <a:extLst>
              <a:ext uri="{FF2B5EF4-FFF2-40B4-BE49-F238E27FC236}">
                <a16:creationId xmlns:a16="http://schemas.microsoft.com/office/drawing/2014/main" id="{1536AB85-A427-5B21-2732-7C2F97D54069}"/>
              </a:ext>
            </a:extLst>
          </p:cNvPr>
          <p:cNvPicPr>
            <a:picLocks noChangeAspect="1"/>
          </p:cNvPicPr>
          <p:nvPr/>
        </p:nvPicPr>
        <p:blipFill>
          <a:blip r:embed="rId3"/>
          <a:stretch>
            <a:fillRect/>
          </a:stretch>
        </p:blipFill>
        <p:spPr>
          <a:xfrm>
            <a:off x="4640343" y="3254501"/>
            <a:ext cx="3601300" cy="2097412"/>
          </a:xfrm>
          <a:prstGeom prst="rect">
            <a:avLst/>
          </a:prstGeom>
        </p:spPr>
      </p:pic>
    </p:spTree>
    <p:extLst>
      <p:ext uri="{BB962C8B-B14F-4D97-AF65-F5344CB8AC3E}">
        <p14:creationId xmlns:p14="http://schemas.microsoft.com/office/powerpoint/2010/main" val="2799739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400" y="208800"/>
            <a:ext cx="8240620" cy="590349"/>
          </a:xfrm>
        </p:spPr>
        <p:txBody>
          <a:bodyPr wrap="square" tIns="18000" bIns="18000" anchor="ctr" anchorCtr="0">
            <a:spAutoFit/>
          </a:bodyPr>
          <a:lstStyle/>
          <a:p>
            <a:r>
              <a:rPr lang="en-US" noProof="0" dirty="0"/>
              <a:t>Chapter 5 – Op Amps </a:t>
            </a:r>
            <a:r>
              <a:rPr lang="en-US" sz="2800" noProof="0" dirty="0"/>
              <a:t>(5 of 22)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7" y="1060572"/>
            <a:ext cx="8240620" cy="1883011"/>
          </a:xfrm>
        </p:spPr>
        <p:txBody>
          <a:bodyPr wrap="square" lIns="0" tIns="18000" rIns="0" bIns="18000" anchor="ctr" anchorCtr="0">
            <a:spAutoFit/>
          </a:bodyPr>
          <a:lstStyle/>
          <a:p>
            <a:pPr marL="342900" indent="-342900">
              <a:spcBef>
                <a:spcPts val="600"/>
              </a:spcBef>
            </a:pPr>
            <a:r>
              <a:rPr lang="en-US" sz="2400" noProof="0" dirty="0"/>
              <a:t>How can we be sure that the op amp is operating in its linear region? We can’t! We must assume that it is operating in its linear region, complete our circuit analysis, and check our assumption. If the op amp is operating in its linear region, </a:t>
            </a:r>
          </a:p>
        </p:txBody>
      </p:sp>
      <p:graphicFrame>
        <p:nvGraphicFramePr>
          <p:cNvPr id="4" name="Object 3" descr="Negative V subscript C C BaseLine less than v subscript o BaseLine less than V subscript C C.">
            <a:extLst>
              <a:ext uri="{FF2B5EF4-FFF2-40B4-BE49-F238E27FC236}">
                <a16:creationId xmlns:a16="http://schemas.microsoft.com/office/drawing/2014/main" id="{0A731CC1-0E01-4DD6-A313-C728FA2994BA}"/>
              </a:ext>
            </a:extLst>
          </p:cNvPr>
          <p:cNvGraphicFramePr>
            <a:graphicFrameLocks noChangeAspect="1"/>
          </p:cNvGraphicFramePr>
          <p:nvPr>
            <p:extLst>
              <p:ext uri="{D42A27DB-BD31-4B8C-83A1-F6EECF244321}">
                <p14:modId xmlns:p14="http://schemas.microsoft.com/office/powerpoint/2010/main" val="1773644858"/>
              </p:ext>
            </p:extLst>
          </p:nvPr>
        </p:nvGraphicFramePr>
        <p:xfrm>
          <a:off x="3441460" y="3501203"/>
          <a:ext cx="2253142" cy="500942"/>
        </p:xfrm>
        <a:graphic>
          <a:graphicData uri="http://schemas.openxmlformats.org/presentationml/2006/ole">
            <mc:AlternateContent xmlns:mc="http://schemas.openxmlformats.org/markup-compatibility/2006">
              <mc:Choice xmlns:v="urn:schemas-microsoft-com:vml" Requires="v">
                <p:oleObj spid="_x0000_s1026" name="Equation" r:id="rId3" imgW="1028520" imgH="228600" progId="Equation.DSMT4">
                  <p:embed/>
                </p:oleObj>
              </mc:Choice>
              <mc:Fallback>
                <p:oleObj name="Equation" r:id="rId3" imgW="1028520" imgH="228600" progId="Equation.DSMT4">
                  <p:embed/>
                  <p:pic>
                    <p:nvPicPr>
                      <p:cNvPr id="3" name="Object 2"/>
                      <p:cNvPicPr>
                        <a:picLocks noChangeAspect="1" noChangeArrowheads="1"/>
                      </p:cNvPicPr>
                      <p:nvPr/>
                    </p:nvPicPr>
                    <p:blipFill>
                      <a:blip r:embed="rId4"/>
                      <a:srcRect/>
                      <a:stretch>
                        <a:fillRect/>
                      </a:stretch>
                    </p:blipFill>
                    <p:spPr bwMode="auto">
                      <a:xfrm>
                        <a:off x="3441460" y="3501203"/>
                        <a:ext cx="2253142" cy="50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09757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919" y="208800"/>
            <a:ext cx="8229600" cy="590349"/>
          </a:xfrm>
        </p:spPr>
        <p:txBody>
          <a:bodyPr wrap="square" lIns="0" tIns="18000" rIns="0" bIns="18000" anchor="ctr" anchorCtr="0">
            <a:spAutoFit/>
          </a:bodyPr>
          <a:lstStyle/>
          <a:p>
            <a:r>
              <a:rPr lang="en-US" noProof="0" dirty="0"/>
              <a:t>Chapter 5 – Op Amps </a:t>
            </a:r>
            <a:r>
              <a:rPr lang="en-US" sz="2800" noProof="0" dirty="0"/>
              <a:t>(6 of 22)</a:t>
            </a:r>
            <a:endParaRPr lang="en-US" noProof="0" dirty="0"/>
          </a:p>
        </p:txBody>
      </p:sp>
      <p:sp>
        <p:nvSpPr>
          <p:cNvPr id="5" name="Content Placeholder 4">
            <a:extLst>
              <a:ext uri="{FF2B5EF4-FFF2-40B4-BE49-F238E27FC236}">
                <a16:creationId xmlns:a16="http://schemas.microsoft.com/office/drawing/2014/main" id="{AF3BF9AF-6E0A-4945-87DB-262AC101B74C}"/>
              </a:ext>
            </a:extLst>
          </p:cNvPr>
          <p:cNvSpPr>
            <a:spLocks noGrp="1"/>
          </p:cNvSpPr>
          <p:nvPr>
            <p:ph sz="quarter" idx="13"/>
          </p:nvPr>
        </p:nvSpPr>
        <p:spPr>
          <a:xfrm>
            <a:off x="429267" y="1052104"/>
            <a:ext cx="2595602" cy="405683"/>
          </a:xfrm>
        </p:spPr>
        <p:txBody>
          <a:bodyPr lIns="0" tIns="18000" rIns="0" bIns="18000" anchor="ctr" anchorCtr="0">
            <a:spAutoFit/>
          </a:bodyPr>
          <a:lstStyle/>
          <a:p>
            <a:pPr marL="0" indent="0">
              <a:spcBef>
                <a:spcPts val="600"/>
              </a:spcBef>
              <a:buNone/>
            </a:pPr>
            <a:r>
              <a:rPr lang="en-US" sz="2400" noProof="0" dirty="0"/>
              <a:t>Texas Instruments</a:t>
            </a:r>
          </a:p>
        </p:txBody>
      </p:sp>
      <p:graphicFrame>
        <p:nvGraphicFramePr>
          <p:cNvPr id="8" name="Object 7" descr="Mu A 741.">
            <a:extLst>
              <a:ext uri="{FF2B5EF4-FFF2-40B4-BE49-F238E27FC236}">
                <a16:creationId xmlns:a16="http://schemas.microsoft.com/office/drawing/2014/main" id="{50497291-6637-4449-B04D-DA685A488113}"/>
              </a:ext>
            </a:extLst>
          </p:cNvPr>
          <p:cNvGraphicFramePr>
            <a:graphicFrameLocks noChangeAspect="1"/>
          </p:cNvGraphicFramePr>
          <p:nvPr>
            <p:extLst>
              <p:ext uri="{D42A27DB-BD31-4B8C-83A1-F6EECF244321}">
                <p14:modId xmlns:p14="http://schemas.microsoft.com/office/powerpoint/2010/main" val="2663093491"/>
              </p:ext>
            </p:extLst>
          </p:nvPr>
        </p:nvGraphicFramePr>
        <p:xfrm>
          <a:off x="3109051" y="1124562"/>
          <a:ext cx="951451" cy="410489"/>
        </p:xfrm>
        <a:graphic>
          <a:graphicData uri="http://schemas.openxmlformats.org/presentationml/2006/ole">
            <mc:AlternateContent xmlns:mc="http://schemas.openxmlformats.org/markup-compatibility/2006">
              <mc:Choice xmlns:v="urn:schemas-microsoft-com:vml" Requires="v">
                <p:oleObj spid="_x0000_s2050" name="Equation" r:id="rId3" imgW="469800" imgH="203040" progId="Equation.DSMT4">
                  <p:embed/>
                </p:oleObj>
              </mc:Choice>
              <mc:Fallback>
                <p:oleObj name="Equation" r:id="rId3" imgW="469800" imgH="203040" progId="Equation.DSMT4">
                  <p:embed/>
                  <p:pic>
                    <p:nvPicPr>
                      <p:cNvPr id="4" name="Object 3">
                        <a:extLst>
                          <a:ext uri="{FF2B5EF4-FFF2-40B4-BE49-F238E27FC236}">
                            <a16:creationId xmlns:a16="http://schemas.microsoft.com/office/drawing/2014/main" id="{0A731CC1-0E01-4DD6-A313-C728FA2994BA}"/>
                          </a:ext>
                        </a:extLst>
                      </p:cNvPr>
                      <p:cNvPicPr>
                        <a:picLocks noChangeAspect="1" noChangeArrowheads="1"/>
                      </p:cNvPicPr>
                      <p:nvPr/>
                    </p:nvPicPr>
                    <p:blipFill>
                      <a:blip r:embed="rId4"/>
                      <a:srcRect/>
                      <a:stretch>
                        <a:fillRect/>
                      </a:stretch>
                    </p:blipFill>
                    <p:spPr bwMode="auto">
                      <a:xfrm>
                        <a:off x="3109051" y="1124562"/>
                        <a:ext cx="951451" cy="4104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Content Placeholder 5">
            <a:extLst>
              <a:ext uri="{FF2B5EF4-FFF2-40B4-BE49-F238E27FC236}">
                <a16:creationId xmlns:a16="http://schemas.microsoft.com/office/drawing/2014/main" id="{E7C4ACF2-C2B0-4D00-9F17-D9656E660594}"/>
              </a:ext>
            </a:extLst>
          </p:cNvPr>
          <p:cNvSpPr>
            <a:spLocks noGrp="1"/>
          </p:cNvSpPr>
          <p:nvPr>
            <p:ph sz="quarter" idx="14"/>
          </p:nvPr>
        </p:nvSpPr>
        <p:spPr>
          <a:xfrm>
            <a:off x="4187012" y="1059046"/>
            <a:ext cx="2595603" cy="405683"/>
          </a:xfrm>
        </p:spPr>
        <p:txBody>
          <a:bodyPr wrap="square" lIns="0" tIns="18000" rIns="0" bIns="18000" anchor="ctr" anchorCtr="0">
            <a:spAutoFit/>
          </a:bodyPr>
          <a:lstStyle/>
          <a:p>
            <a:pPr marL="0" indent="0">
              <a:spcBef>
                <a:spcPts val="600"/>
              </a:spcBef>
              <a:buNone/>
            </a:pPr>
            <a:r>
              <a:rPr lang="en-US" sz="2400" noProof="0" dirty="0"/>
              <a:t>op amp data sheet</a:t>
            </a:r>
          </a:p>
        </p:txBody>
      </p:sp>
      <p:pic>
        <p:nvPicPr>
          <p:cNvPr id="10" name="Picture 9" descr="The image shows the data sheet of mew A 741, mew A 741Y general purpose operational amplifiers. The left side of the image shows the basic features and description of the above-mentioned op-amps. Short circuit protection.&#10;• Offset-voltage null capability.&#10;• Large Common-Mode and Differential Voltage Ranges.&#10;• No Frequency Compensation Required.&#10;• Lower power consumption.&#10;• No Latch-up.&#10;• Designed to Be interchangeable with Fairchild mew A 741.&#10;Description:&#10;The mew A 741 is a general-purpose operational amplifier featuring offset-voltage null capability.&#10;The high common-mode input voltage range and the absence of latch-up make the amplifier ideal for voltage-follower applications. The device is short-circuit protected and the internal frequency compensation ensures stability without external components. A low-value potentiometer may be connected between the offset null inputs to null out the offset voltage as shown in Figure 2.&#10;The mew A 7741 C is characterized for operation from 0 degrees C to 70 degrees C. The mew A 741 I is characterized for operation from negative 40 degrees C to 85 degrees C. The mew A 741 M is characterized for operation over the full military temperature range of negative 55 degrees C to 125 degrees C.&#10;Symbol: &#10;The symbol shows a triangle with the base to the left and the pointed edge to the right. Two terminals are located one below the other on the base, labeled as IN+ and IN-. A terminal at the pointed edge to the right is labeled as Out. Two perpendicular lines are drawn above and below from the middle of the triangle, leading to two terminals. The upper terminal named as OFFSET N1 while the lower terminal is named OFFSET N2.&#10;The right side of the image shows the top view of mew A 741M ellipsis J PACKAGE the description is as follows:&#10;The IC has 14 pins altogether. It has 7 pins on the left-hand side and 7 pins on the right-hand side. The pins on the left-hand side are numbered 1 to 7 top to bottom. The pins on the right-hand side are numbered 8 to 14 bottom to top. The pins on the left are named as follows:&#10;1: NC; 2: NC; 3: OFFSET N1; 4: IN negative; 5: IN positive; 6: V sub CC negative; 7: NC; 8: NC; &#10;9: OFFSET N2; 10: OUT; 11: VCC sub positive; 12: NC; 13: NC; 14: NC.&#10;The top view of mew A 741M ellipsis JG PACKAGE mew A 741C, mew A 741I ellipsis D P or PW PACKAGE is shown and the description is as follows:&#10;The IC has 8 pins altogether. It has 4 pins on the left-hand side and 4 pins on the right-hand side. The pins on the left-hand side are numbered 1 to 4 top to bottom. The pins on the right-hand side are numbered 5 to 8 bottom to top. The pins on the left-hand side are named 1: OFFSET N1; 2: IN negative; 3: IN positive; 4: VCC negative; 5: OFFSET N2; 6: OUT; 7: V sub CC positive; 8: NC.&#10;The top view of mew A 741M ellipsis U PACKAGE is shown and the description is as follows: The IC has 10 pins altogether. It has 5 pins on the left-hand side and 5 pins on the right-hand side. The pins on the left-hand side are numbered 1 to 5 top to bottom. The pins on the right-hand side are numbered 6 to 10 bottom to top. The pins on the left hand are named 1: NC; 2: OFFSET N1; 3: IN negative; 4: IN positive; 5: VCC negative; 6: OFFSET N2; 7: OUT; 8: V sub CC positive; 9: NC; 10: NC.&#10;Below that, mew A 741M ellipsis FK PACKAGE (Top view) is shown.">
            <a:extLst>
              <a:ext uri="{FF2B5EF4-FFF2-40B4-BE49-F238E27FC236}">
                <a16:creationId xmlns:a16="http://schemas.microsoft.com/office/drawing/2014/main" id="{4483FF86-31A7-45FA-AA67-C7DAA2E6B425}"/>
              </a:ext>
            </a:extLst>
          </p:cNvPr>
          <p:cNvPicPr>
            <a:picLocks noChangeAspect="1"/>
          </p:cNvPicPr>
          <p:nvPr/>
        </p:nvPicPr>
        <p:blipFill>
          <a:blip r:embed="rId5"/>
          <a:stretch>
            <a:fillRect/>
          </a:stretch>
        </p:blipFill>
        <p:spPr>
          <a:xfrm>
            <a:off x="2276055" y="1612031"/>
            <a:ext cx="4610743" cy="4639322"/>
          </a:xfrm>
          <a:prstGeom prst="rect">
            <a:avLst/>
          </a:prstGeom>
        </p:spPr>
      </p:pic>
    </p:spTree>
    <p:extLst>
      <p:ext uri="{BB962C8B-B14F-4D97-AF65-F5344CB8AC3E}">
        <p14:creationId xmlns:p14="http://schemas.microsoft.com/office/powerpoint/2010/main" val="228082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919" y="208800"/>
            <a:ext cx="8229600" cy="590349"/>
          </a:xfrm>
        </p:spPr>
        <p:txBody>
          <a:bodyPr wrap="square" lIns="0" tIns="18000" rIns="0" bIns="18000" anchor="ctr" anchorCtr="0">
            <a:spAutoFit/>
          </a:bodyPr>
          <a:lstStyle/>
          <a:p>
            <a:r>
              <a:rPr lang="en-US" noProof="0" dirty="0"/>
              <a:t>Chapter 5 – Op Amps </a:t>
            </a:r>
            <a:r>
              <a:rPr lang="en-US" sz="2800" noProof="0" dirty="0"/>
              <a:t>(7 of 22)</a:t>
            </a:r>
            <a:endParaRPr lang="en-US" noProof="0" dirty="0"/>
          </a:p>
        </p:txBody>
      </p:sp>
      <p:sp>
        <p:nvSpPr>
          <p:cNvPr id="5" name="Content Placeholder 4">
            <a:extLst>
              <a:ext uri="{FF2B5EF4-FFF2-40B4-BE49-F238E27FC236}">
                <a16:creationId xmlns:a16="http://schemas.microsoft.com/office/drawing/2014/main" id="{AF3BF9AF-6E0A-4945-87DB-262AC101B74C}"/>
              </a:ext>
            </a:extLst>
          </p:cNvPr>
          <p:cNvSpPr>
            <a:spLocks noGrp="1"/>
          </p:cNvSpPr>
          <p:nvPr>
            <p:ph sz="quarter" idx="13"/>
          </p:nvPr>
        </p:nvSpPr>
        <p:spPr>
          <a:xfrm>
            <a:off x="434258" y="1052104"/>
            <a:ext cx="319368" cy="405683"/>
          </a:xfrm>
        </p:spPr>
        <p:txBody>
          <a:bodyPr wrap="square" lIns="0" tIns="18000" rIns="0" bIns="18000" anchor="ctr" anchorCtr="0">
            <a:spAutoFit/>
          </a:bodyPr>
          <a:lstStyle/>
          <a:p>
            <a:pPr marL="0" indent="0">
              <a:spcBef>
                <a:spcPts val="600"/>
              </a:spcBef>
              <a:buNone/>
            </a:pPr>
            <a:r>
              <a:rPr lang="en-US" sz="2400" spc="-300" noProof="0" dirty="0"/>
              <a:t>T </a:t>
            </a:r>
            <a:r>
              <a:rPr lang="en-US" sz="2400" noProof="0" dirty="0"/>
              <a:t>I </a:t>
            </a:r>
          </a:p>
        </p:txBody>
      </p:sp>
      <p:graphicFrame>
        <p:nvGraphicFramePr>
          <p:cNvPr id="8" name="Object 7" descr="Mu A 741.">
            <a:extLst>
              <a:ext uri="{FF2B5EF4-FFF2-40B4-BE49-F238E27FC236}">
                <a16:creationId xmlns:a16="http://schemas.microsoft.com/office/drawing/2014/main" id="{50497291-6637-4449-B04D-DA685A488113}"/>
              </a:ext>
            </a:extLst>
          </p:cNvPr>
          <p:cNvGraphicFramePr>
            <a:graphicFrameLocks noChangeAspect="1"/>
          </p:cNvGraphicFramePr>
          <p:nvPr>
            <p:extLst>
              <p:ext uri="{D42A27DB-BD31-4B8C-83A1-F6EECF244321}">
                <p14:modId xmlns:p14="http://schemas.microsoft.com/office/powerpoint/2010/main" val="2367420991"/>
              </p:ext>
            </p:extLst>
          </p:nvPr>
        </p:nvGraphicFramePr>
        <p:xfrm>
          <a:off x="841694" y="1084124"/>
          <a:ext cx="951451" cy="410489"/>
        </p:xfrm>
        <a:graphic>
          <a:graphicData uri="http://schemas.openxmlformats.org/presentationml/2006/ole">
            <mc:AlternateContent xmlns:mc="http://schemas.openxmlformats.org/markup-compatibility/2006">
              <mc:Choice xmlns:v="urn:schemas-microsoft-com:vml" Requires="v">
                <p:oleObj spid="_x0000_s3074" name="Equation" r:id="rId3" imgW="469800" imgH="203040" progId="Equation.DSMT4">
                  <p:embed/>
                </p:oleObj>
              </mc:Choice>
              <mc:Fallback>
                <p:oleObj name="Equation" r:id="rId3" imgW="469800" imgH="203040" progId="Equation.DSMT4">
                  <p:embed/>
                  <p:pic>
                    <p:nvPicPr>
                      <p:cNvPr id="8" name="Object 7">
                        <a:extLst>
                          <a:ext uri="{FF2B5EF4-FFF2-40B4-BE49-F238E27FC236}">
                            <a16:creationId xmlns:a16="http://schemas.microsoft.com/office/drawing/2014/main" id="{50497291-6637-4449-B04D-DA685A488113}"/>
                          </a:ext>
                        </a:extLst>
                      </p:cNvPr>
                      <p:cNvPicPr>
                        <a:picLocks noChangeAspect="1" noChangeArrowheads="1"/>
                      </p:cNvPicPr>
                      <p:nvPr/>
                    </p:nvPicPr>
                    <p:blipFill>
                      <a:blip r:embed="rId4"/>
                      <a:srcRect/>
                      <a:stretch>
                        <a:fillRect/>
                      </a:stretch>
                    </p:blipFill>
                    <p:spPr bwMode="auto">
                      <a:xfrm>
                        <a:off x="841694" y="1084124"/>
                        <a:ext cx="951451" cy="4104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Content Placeholder 5">
            <a:extLst>
              <a:ext uri="{FF2B5EF4-FFF2-40B4-BE49-F238E27FC236}">
                <a16:creationId xmlns:a16="http://schemas.microsoft.com/office/drawing/2014/main" id="{E7C4ACF2-C2B0-4D00-9F17-D9656E660594}"/>
              </a:ext>
            </a:extLst>
          </p:cNvPr>
          <p:cNvSpPr>
            <a:spLocks noGrp="1"/>
          </p:cNvSpPr>
          <p:nvPr>
            <p:ph sz="quarter" idx="14"/>
          </p:nvPr>
        </p:nvSpPr>
        <p:spPr>
          <a:xfrm>
            <a:off x="1946229" y="1069095"/>
            <a:ext cx="4333991" cy="405683"/>
          </a:xfrm>
        </p:spPr>
        <p:txBody>
          <a:bodyPr wrap="square" lIns="0" tIns="18000" rIns="0" bIns="18000" anchor="ctr" anchorCtr="0">
            <a:spAutoFit/>
          </a:bodyPr>
          <a:lstStyle/>
          <a:p>
            <a:pPr marL="0" indent="0">
              <a:spcBef>
                <a:spcPts val="600"/>
              </a:spcBef>
              <a:buNone/>
            </a:pPr>
            <a:r>
              <a:rPr lang="en-US" sz="2400" noProof="0" dirty="0"/>
              <a:t>op amp data sheet (continued)</a:t>
            </a:r>
          </a:p>
        </p:txBody>
      </p:sp>
      <p:pic>
        <p:nvPicPr>
          <p:cNvPr id="4" name="Picture 3" descr="The image shows the functional block diagram of the op-amp mew A 741 that is built up using 22 transistors, 11 resistors, 1 diode and 1 capacitor.">
            <a:extLst>
              <a:ext uri="{FF2B5EF4-FFF2-40B4-BE49-F238E27FC236}">
                <a16:creationId xmlns:a16="http://schemas.microsoft.com/office/drawing/2014/main" id="{4AA8F379-CF11-4A8A-AA37-CE91D3879711}"/>
              </a:ext>
            </a:extLst>
          </p:cNvPr>
          <p:cNvPicPr>
            <a:picLocks noChangeAspect="1"/>
          </p:cNvPicPr>
          <p:nvPr/>
        </p:nvPicPr>
        <p:blipFill>
          <a:blip r:embed="rId5"/>
          <a:stretch>
            <a:fillRect/>
          </a:stretch>
        </p:blipFill>
        <p:spPr>
          <a:xfrm>
            <a:off x="1933206" y="1742938"/>
            <a:ext cx="5277587" cy="4467849"/>
          </a:xfrm>
          <a:prstGeom prst="rect">
            <a:avLst/>
          </a:prstGeom>
        </p:spPr>
      </p:pic>
    </p:spTree>
    <p:extLst>
      <p:ext uri="{BB962C8B-B14F-4D97-AF65-F5344CB8AC3E}">
        <p14:creationId xmlns:p14="http://schemas.microsoft.com/office/powerpoint/2010/main" val="2616929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919" y="208800"/>
            <a:ext cx="8229600" cy="590349"/>
          </a:xfrm>
        </p:spPr>
        <p:txBody>
          <a:bodyPr wrap="square" lIns="0" tIns="18000" rIns="0" bIns="18000" anchor="ctr" anchorCtr="0">
            <a:spAutoFit/>
          </a:bodyPr>
          <a:lstStyle/>
          <a:p>
            <a:r>
              <a:rPr lang="en-US" noProof="0" dirty="0"/>
              <a:t>Chapter 5 – Op Amps </a:t>
            </a:r>
            <a:r>
              <a:rPr lang="en-US" sz="2800" noProof="0" dirty="0"/>
              <a:t>(8 of 22)</a:t>
            </a:r>
            <a:endParaRPr lang="en-US" noProof="0" dirty="0"/>
          </a:p>
        </p:txBody>
      </p:sp>
      <p:sp>
        <p:nvSpPr>
          <p:cNvPr id="5" name="Content Placeholder 4">
            <a:extLst>
              <a:ext uri="{FF2B5EF4-FFF2-40B4-BE49-F238E27FC236}">
                <a16:creationId xmlns:a16="http://schemas.microsoft.com/office/drawing/2014/main" id="{AF3BF9AF-6E0A-4945-87DB-262AC101B74C}"/>
              </a:ext>
            </a:extLst>
          </p:cNvPr>
          <p:cNvSpPr>
            <a:spLocks noGrp="1"/>
          </p:cNvSpPr>
          <p:nvPr>
            <p:ph sz="quarter" idx="13"/>
          </p:nvPr>
        </p:nvSpPr>
        <p:spPr>
          <a:xfrm>
            <a:off x="431446" y="1062152"/>
            <a:ext cx="292035" cy="405683"/>
          </a:xfrm>
        </p:spPr>
        <p:txBody>
          <a:bodyPr wrap="square" lIns="0" tIns="18000" rIns="0" bIns="18000" anchor="ctr" anchorCtr="0">
            <a:spAutoFit/>
          </a:bodyPr>
          <a:lstStyle/>
          <a:p>
            <a:pPr marL="0" indent="0">
              <a:spcBef>
                <a:spcPts val="600"/>
              </a:spcBef>
              <a:buNone/>
            </a:pPr>
            <a:r>
              <a:rPr lang="en-US" sz="2400" spc="-300" noProof="0" dirty="0"/>
              <a:t>T </a:t>
            </a:r>
            <a:r>
              <a:rPr lang="en-US" sz="2400" noProof="0" dirty="0"/>
              <a:t>I</a:t>
            </a:r>
          </a:p>
        </p:txBody>
      </p:sp>
      <p:graphicFrame>
        <p:nvGraphicFramePr>
          <p:cNvPr id="8" name="Object 7" descr="Mu A 741.">
            <a:extLst>
              <a:ext uri="{FF2B5EF4-FFF2-40B4-BE49-F238E27FC236}">
                <a16:creationId xmlns:a16="http://schemas.microsoft.com/office/drawing/2014/main" id="{50497291-6637-4449-B04D-DA685A488113}"/>
              </a:ext>
            </a:extLst>
          </p:cNvPr>
          <p:cNvGraphicFramePr>
            <a:graphicFrameLocks noChangeAspect="1"/>
          </p:cNvGraphicFramePr>
          <p:nvPr>
            <p:extLst>
              <p:ext uri="{D42A27DB-BD31-4B8C-83A1-F6EECF244321}">
                <p14:modId xmlns:p14="http://schemas.microsoft.com/office/powerpoint/2010/main" val="1743569979"/>
              </p:ext>
            </p:extLst>
          </p:nvPr>
        </p:nvGraphicFramePr>
        <p:xfrm>
          <a:off x="871847" y="1096834"/>
          <a:ext cx="951451" cy="410489"/>
        </p:xfrm>
        <a:graphic>
          <a:graphicData uri="http://schemas.openxmlformats.org/presentationml/2006/ole">
            <mc:AlternateContent xmlns:mc="http://schemas.openxmlformats.org/markup-compatibility/2006">
              <mc:Choice xmlns:v="urn:schemas-microsoft-com:vml" Requires="v">
                <p:oleObj spid="_x0000_s4098" name="Equation" r:id="rId3" imgW="469800" imgH="203040" progId="Equation.DSMT4">
                  <p:embed/>
                </p:oleObj>
              </mc:Choice>
              <mc:Fallback>
                <p:oleObj name="Equation" r:id="rId3" imgW="469800" imgH="203040" progId="Equation.DSMT4">
                  <p:embed/>
                  <p:pic>
                    <p:nvPicPr>
                      <p:cNvPr id="8" name="Object 7">
                        <a:extLst>
                          <a:ext uri="{FF2B5EF4-FFF2-40B4-BE49-F238E27FC236}">
                            <a16:creationId xmlns:a16="http://schemas.microsoft.com/office/drawing/2014/main" id="{50497291-6637-4449-B04D-DA685A488113}"/>
                          </a:ext>
                        </a:extLst>
                      </p:cNvPr>
                      <p:cNvPicPr>
                        <a:picLocks noChangeAspect="1" noChangeArrowheads="1"/>
                      </p:cNvPicPr>
                      <p:nvPr/>
                    </p:nvPicPr>
                    <p:blipFill>
                      <a:blip r:embed="rId4"/>
                      <a:srcRect/>
                      <a:stretch>
                        <a:fillRect/>
                      </a:stretch>
                    </p:blipFill>
                    <p:spPr bwMode="auto">
                      <a:xfrm>
                        <a:off x="871847" y="1096834"/>
                        <a:ext cx="951451" cy="4104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Content Placeholder 5">
            <a:extLst>
              <a:ext uri="{FF2B5EF4-FFF2-40B4-BE49-F238E27FC236}">
                <a16:creationId xmlns:a16="http://schemas.microsoft.com/office/drawing/2014/main" id="{E7C4ACF2-C2B0-4D00-9F17-D9656E660594}"/>
              </a:ext>
            </a:extLst>
          </p:cNvPr>
          <p:cNvSpPr>
            <a:spLocks noGrp="1"/>
          </p:cNvSpPr>
          <p:nvPr>
            <p:ph sz="quarter" idx="14"/>
          </p:nvPr>
        </p:nvSpPr>
        <p:spPr>
          <a:xfrm>
            <a:off x="1926118" y="1079142"/>
            <a:ext cx="4585212" cy="405683"/>
          </a:xfrm>
        </p:spPr>
        <p:txBody>
          <a:bodyPr wrap="square" lIns="0" tIns="18000" rIns="0" bIns="18000" anchor="ctr" anchorCtr="0">
            <a:spAutoFit/>
          </a:bodyPr>
          <a:lstStyle/>
          <a:p>
            <a:pPr marL="0" indent="0">
              <a:spcBef>
                <a:spcPts val="600"/>
              </a:spcBef>
              <a:buNone/>
            </a:pPr>
            <a:r>
              <a:rPr lang="en-US" sz="2400" noProof="0" dirty="0"/>
              <a:t>op amp data sheet (continued) </a:t>
            </a:r>
          </a:p>
        </p:txBody>
      </p:sp>
      <p:pic>
        <p:nvPicPr>
          <p:cNvPr id="7" name="Picture 6" descr="The table shows the electrical characteristics at specified free-air temperature, V sub CC positive and negative is equal to plus or minus 15 volts open bracket unless otherwise noted close bracket.&#10;The table has the following headings:&#10;Parameter; Test Conditions; T sub A dagger; mew A 741C for MIN TYP and MAX; mew a 7411, mew A 741M for MIN TYP MAX; Unit.&#10;Values for the parameters A sub VD large- signal differential voltage amplification; input resistance r sub i output resistance r sub o is highlighted using a box.">
            <a:extLst>
              <a:ext uri="{FF2B5EF4-FFF2-40B4-BE49-F238E27FC236}">
                <a16:creationId xmlns:a16="http://schemas.microsoft.com/office/drawing/2014/main" id="{48459382-9616-48EE-BAD7-B91EC61C432C}"/>
              </a:ext>
            </a:extLst>
          </p:cNvPr>
          <p:cNvPicPr>
            <a:picLocks noChangeAspect="1"/>
          </p:cNvPicPr>
          <p:nvPr/>
        </p:nvPicPr>
        <p:blipFill>
          <a:blip r:embed="rId5"/>
          <a:stretch>
            <a:fillRect/>
          </a:stretch>
        </p:blipFill>
        <p:spPr>
          <a:xfrm>
            <a:off x="1723990" y="1607600"/>
            <a:ext cx="5714872" cy="4642041"/>
          </a:xfrm>
          <a:prstGeom prst="rect">
            <a:avLst/>
          </a:prstGeom>
        </p:spPr>
      </p:pic>
    </p:spTree>
    <p:extLst>
      <p:ext uri="{BB962C8B-B14F-4D97-AF65-F5344CB8AC3E}">
        <p14:creationId xmlns:p14="http://schemas.microsoft.com/office/powerpoint/2010/main" val="3144544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400" y="208800"/>
            <a:ext cx="8242202" cy="590349"/>
          </a:xfrm>
        </p:spPr>
        <p:txBody>
          <a:bodyPr anchor="ctr"/>
          <a:lstStyle/>
          <a:p>
            <a:r>
              <a:rPr lang="en-US" noProof="0" dirty="0"/>
              <a:t>Chapter 5 – Op Amps </a:t>
            </a:r>
            <a:r>
              <a:rPr lang="en-US" sz="2800" noProof="0" dirty="0"/>
              <a:t>(9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722" y="1060633"/>
            <a:ext cx="8242203" cy="1144347"/>
          </a:xfrm>
        </p:spPr>
        <p:txBody>
          <a:bodyPr wrap="square" lIns="0" tIns="18000" rIns="0" bIns="18000" anchor="ctr">
            <a:spAutoFit/>
          </a:bodyPr>
          <a:lstStyle/>
          <a:p>
            <a:pPr marL="0" indent="0">
              <a:spcBef>
                <a:spcPct val="0"/>
              </a:spcBef>
              <a:buClrTx/>
              <a:buNone/>
            </a:pPr>
            <a:r>
              <a:rPr lang="en-US" sz="2400" noProof="0" dirty="0"/>
              <a:t>In a uA741 op amp, the voltage gain in the linear operating region is 200,000 V/V. In an ideal op amp, the voltage gain in the linear region is</a:t>
            </a:r>
            <a:endParaRPr lang="en-US" altLang="en-US" sz="2400" noProof="0" dirty="0"/>
          </a:p>
        </p:txBody>
      </p:sp>
      <p:pic>
        <p:nvPicPr>
          <p:cNvPr id="3" name="Picture 1434" descr="Cross mark">
            <a:extLst>
              <a:ext uri="{FF2B5EF4-FFF2-40B4-BE49-F238E27FC236}">
                <a16:creationId xmlns:a16="http://schemas.microsoft.com/office/drawing/2014/main" id="{3B1922C9-FAD9-AF39-B8A0-E2D93CF08FAD}"/>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866315" y="2603436"/>
            <a:ext cx="286671" cy="286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2541128"/>
            <a:ext cx="2832755" cy="405683"/>
          </a:xfrm>
        </p:spPr>
        <p:txBody>
          <a:bodyPr wrap="square" lIns="0" tIns="18000" rIns="0" bIns="18000" anchor="ctr">
            <a:spAutoFit/>
          </a:bodyPr>
          <a:lstStyle/>
          <a:p>
            <a:pPr marL="0" indent="0">
              <a:spcBef>
                <a:spcPts val="600"/>
              </a:spcBef>
              <a:buNone/>
            </a:pPr>
            <a:r>
              <a:rPr lang="en-US" sz="2400" noProof="0" dirty="0">
                <a:solidFill>
                  <a:schemeClr val="tx2"/>
                </a:solidFill>
              </a:rPr>
              <a:t>A. </a:t>
            </a:r>
            <a:r>
              <a:rPr lang="en-US" sz="2400" noProof="0" dirty="0"/>
              <a:t>About the same</a:t>
            </a:r>
          </a:p>
        </p:txBody>
      </p:sp>
      <p:pic>
        <p:nvPicPr>
          <p:cNvPr id="4" name="Picture 1436" descr="Cross mark">
            <a:extLst>
              <a:ext uri="{FF2B5EF4-FFF2-40B4-BE49-F238E27FC236}">
                <a16:creationId xmlns:a16="http://schemas.microsoft.com/office/drawing/2014/main" id="{CA83259D-B683-1E33-62A7-2C07B38189D6}"/>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860495" y="3100331"/>
            <a:ext cx="298311" cy="298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600" y="3046645"/>
            <a:ext cx="2625365" cy="405683"/>
          </a:xfrm>
        </p:spPr>
        <p:txBody>
          <a:bodyPr wrap="square" lIns="0" tIns="18000" rIns="0" bIns="18000" anchor="ctr">
            <a:spAutoFit/>
          </a:bodyPr>
          <a:lstStyle/>
          <a:p>
            <a:pPr marL="0" indent="0">
              <a:spcBef>
                <a:spcPts val="600"/>
              </a:spcBef>
              <a:buNone/>
              <a:defRPr/>
            </a:pPr>
            <a:r>
              <a:rPr lang="en-US" sz="2400" noProof="0" dirty="0">
                <a:solidFill>
                  <a:schemeClr val="tx2"/>
                </a:solidFill>
              </a:rPr>
              <a:t>B.</a:t>
            </a:r>
            <a:r>
              <a:rPr lang="en-US" sz="2400" noProof="0" dirty="0"/>
              <a:t> Much smaller</a:t>
            </a:r>
          </a:p>
        </p:txBody>
      </p:sp>
      <p:pic>
        <p:nvPicPr>
          <p:cNvPr id="25" name="Picture 1436" descr="Cross mark">
            <a:extLst>
              <a:ext uri="{FF2B5EF4-FFF2-40B4-BE49-F238E27FC236}">
                <a16:creationId xmlns:a16="http://schemas.microsoft.com/office/drawing/2014/main" id="{25B0560F-2F81-8F74-E789-197C88E31C54}"/>
              </a:ext>
            </a:extLst>
          </p:cNvPr>
          <p:cNvPicPr>
            <a:picLocks noChangeAspect="1"/>
          </p:cNvPicPr>
          <p:nvPr>
            <p:custDataLst>
              <p:tags r:id="rId4"/>
            </p:custDataLst>
          </p:nvPr>
        </p:nvPicPr>
        <p:blipFill>
          <a:blip r:embed="rId7">
            <a:extLst>
              <a:ext uri="{28A0092B-C50C-407E-A947-70E740481C1C}">
                <a14:useLocalDpi xmlns:a14="http://schemas.microsoft.com/office/drawing/2010/main" val="0"/>
              </a:ext>
            </a:extLst>
          </a:blip>
          <a:srcRect/>
          <a:stretch>
            <a:fillRect/>
          </a:stretch>
        </p:blipFill>
        <p:spPr bwMode="auto">
          <a:xfrm>
            <a:off x="865402" y="3576999"/>
            <a:ext cx="307350" cy="30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71600" y="3547815"/>
            <a:ext cx="721151" cy="405683"/>
          </a:xfrm>
        </p:spPr>
        <p:txBody>
          <a:bodyPr wrap="square" lIns="0" tIns="18000" rIns="0" bIns="18000" anchor="ctr">
            <a:spAutoFit/>
          </a:bodyPr>
          <a:lstStyle/>
          <a:p>
            <a:pPr marL="0" indent="0">
              <a:spcBef>
                <a:spcPts val="600"/>
              </a:spcBef>
              <a:buNone/>
            </a:pPr>
            <a:r>
              <a:rPr lang="en-US" sz="2400" noProof="0" dirty="0">
                <a:solidFill>
                  <a:schemeClr val="tx2"/>
                </a:solidFill>
              </a:rPr>
              <a:t>C.</a:t>
            </a:r>
            <a:r>
              <a:rPr lang="en-US" sz="2400" noProof="0" dirty="0"/>
              <a:t> 0</a:t>
            </a:r>
          </a:p>
        </p:txBody>
      </p:sp>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5"/>
            </p:custDataLst>
          </p:nvPr>
        </p:nvPicPr>
        <p:blipFill>
          <a:blip r:embed="rId8">
            <a:extLst>
              <a:ext uri="{28A0092B-C50C-407E-A947-70E740481C1C}">
                <a14:useLocalDpi xmlns:a14="http://schemas.microsoft.com/office/drawing/2010/main" val="0"/>
              </a:ext>
            </a:extLst>
          </a:blip>
          <a:srcRect/>
          <a:stretch>
            <a:fillRect/>
          </a:stretch>
        </p:blipFill>
        <p:spPr bwMode="auto">
          <a:xfrm>
            <a:off x="844181" y="408037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371600" y="4052656"/>
            <a:ext cx="342901" cy="405683"/>
          </a:xfrm>
        </p:spPr>
        <p:txBody>
          <a:bodyPr wrap="square" lIns="0" tIns="18000" rIns="0" bIns="18000" anchor="ctr">
            <a:spAutoFit/>
          </a:bodyPr>
          <a:lstStyle/>
          <a:p>
            <a:pPr marL="0" indent="0">
              <a:spcBef>
                <a:spcPts val="600"/>
              </a:spcBef>
              <a:buNone/>
            </a:pPr>
            <a:r>
              <a:rPr lang="en-US" sz="2400" noProof="0" dirty="0">
                <a:solidFill>
                  <a:schemeClr val="tx2"/>
                </a:solidFill>
              </a:rPr>
              <a:t>D.</a:t>
            </a:r>
            <a:r>
              <a:rPr lang="en-US" sz="2400" noProof="0" dirty="0"/>
              <a:t> </a:t>
            </a:r>
          </a:p>
        </p:txBody>
      </p:sp>
      <p:graphicFrame>
        <p:nvGraphicFramePr>
          <p:cNvPr id="14" name="Object 13" descr="Infinity.">
            <a:extLst>
              <a:ext uri="{FF2B5EF4-FFF2-40B4-BE49-F238E27FC236}">
                <a16:creationId xmlns:a16="http://schemas.microsoft.com/office/drawing/2014/main" id="{8BC1CA57-F750-4B74-894C-0DA09659CB2D}"/>
              </a:ext>
            </a:extLst>
          </p:cNvPr>
          <p:cNvGraphicFramePr>
            <a:graphicFrameLocks noChangeAspect="1"/>
          </p:cNvGraphicFramePr>
          <p:nvPr>
            <p:extLst>
              <p:ext uri="{D42A27DB-BD31-4B8C-83A1-F6EECF244321}">
                <p14:modId xmlns:p14="http://schemas.microsoft.com/office/powerpoint/2010/main" val="678882156"/>
              </p:ext>
            </p:extLst>
          </p:nvPr>
        </p:nvGraphicFramePr>
        <p:xfrm>
          <a:off x="1765193" y="4086095"/>
          <a:ext cx="436891" cy="363598"/>
        </p:xfrm>
        <a:graphic>
          <a:graphicData uri="http://schemas.openxmlformats.org/presentationml/2006/ole">
            <mc:AlternateContent xmlns:mc="http://schemas.openxmlformats.org/markup-compatibility/2006">
              <mc:Choice xmlns:v="urn:schemas-microsoft-com:vml" Requires="v">
                <p:oleObj spid="_x0000_s5122" name="Equation" r:id="rId9" imgW="152280" imgH="126720" progId="Equation.DSMT4">
                  <p:embed/>
                </p:oleObj>
              </mc:Choice>
              <mc:Fallback>
                <p:oleObj name="Equation" r:id="rId9" imgW="152280" imgH="126720" progId="Equation.DSMT4">
                  <p:embed/>
                  <p:pic>
                    <p:nvPicPr>
                      <p:cNvPr id="14" name="Object 13">
                        <a:extLst>
                          <a:ext uri="{FF2B5EF4-FFF2-40B4-BE49-F238E27FC236}">
                            <a16:creationId xmlns:a16="http://schemas.microsoft.com/office/drawing/2014/main" id="{8BC1CA57-F750-4B74-894C-0DA09659CB2D}"/>
                          </a:ext>
                        </a:extLst>
                      </p:cNvPr>
                      <p:cNvPicPr>
                        <a:picLocks noChangeAspect="1" noChangeArrowheads="1"/>
                      </p:cNvPicPr>
                      <p:nvPr/>
                    </p:nvPicPr>
                    <p:blipFill>
                      <a:blip r:embed="rId10"/>
                      <a:srcRect/>
                      <a:stretch>
                        <a:fillRect/>
                      </a:stretch>
                    </p:blipFill>
                    <p:spPr bwMode="auto">
                      <a:xfrm>
                        <a:off x="1765193" y="4086095"/>
                        <a:ext cx="436891" cy="3635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07169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400" y="208800"/>
            <a:ext cx="8229600" cy="590349"/>
          </a:xfrm>
        </p:spPr>
        <p:txBody>
          <a:bodyPr anchor="ctr"/>
          <a:lstStyle/>
          <a:p>
            <a:r>
              <a:rPr lang="en-US" noProof="0" dirty="0"/>
              <a:t>Chapter 5 – Op Amps </a:t>
            </a:r>
            <a:r>
              <a:rPr lang="en-US" sz="2800" noProof="0" dirty="0"/>
              <a:t>(10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62318"/>
            <a:ext cx="6631953" cy="405683"/>
          </a:xfrm>
        </p:spPr>
        <p:txBody>
          <a:bodyPr wrap="square" lIns="0" tIns="18000" rIns="0" bIns="18000" anchor="ctr">
            <a:spAutoFit/>
          </a:bodyPr>
          <a:lstStyle/>
          <a:p>
            <a:pPr marL="0" indent="0">
              <a:spcBef>
                <a:spcPts val="600"/>
              </a:spcBef>
              <a:buNone/>
            </a:pPr>
            <a:r>
              <a:rPr lang="en-US" sz="2400" noProof="0" dirty="0"/>
              <a:t>In a uA741 op amp, the input resistance is about </a:t>
            </a:r>
          </a:p>
        </p:txBody>
      </p:sp>
      <p:graphicFrame>
        <p:nvGraphicFramePr>
          <p:cNvPr id="2" name="Object 1" descr="2 Mega Ohms.">
            <a:extLst>
              <a:ext uri="{FF2B5EF4-FFF2-40B4-BE49-F238E27FC236}">
                <a16:creationId xmlns:a16="http://schemas.microsoft.com/office/drawing/2014/main" id="{93BCC899-A81F-D4C8-3F00-F9E788765518}"/>
              </a:ext>
            </a:extLst>
          </p:cNvPr>
          <p:cNvGraphicFramePr>
            <a:graphicFrameLocks noChangeAspect="1"/>
          </p:cNvGraphicFramePr>
          <p:nvPr>
            <p:extLst>
              <p:ext uri="{D42A27DB-BD31-4B8C-83A1-F6EECF244321}">
                <p14:modId xmlns:p14="http://schemas.microsoft.com/office/powerpoint/2010/main" val="2247556069"/>
              </p:ext>
            </p:extLst>
          </p:nvPr>
        </p:nvGraphicFramePr>
        <p:xfrm>
          <a:off x="7097608" y="1105620"/>
          <a:ext cx="876151" cy="387499"/>
        </p:xfrm>
        <a:graphic>
          <a:graphicData uri="http://schemas.openxmlformats.org/presentationml/2006/ole">
            <mc:AlternateContent xmlns:mc="http://schemas.openxmlformats.org/markup-compatibility/2006">
              <mc:Choice xmlns:v="urn:schemas-microsoft-com:vml" Requires="v">
                <p:oleObj spid="_x0000_s6146" name="Equation" r:id="rId7" imgW="457200" imgH="203040" progId="Equation.DSMT4">
                  <p:embed/>
                </p:oleObj>
              </mc:Choice>
              <mc:Fallback>
                <p:oleObj name="Equation" r:id="rId7" imgW="457200" imgH="203040" progId="Equation.DSMT4">
                  <p:embed/>
                  <p:pic>
                    <p:nvPicPr>
                      <p:cNvPr id="2" name="Object 1">
                        <a:extLst>
                          <a:ext uri="{FF2B5EF4-FFF2-40B4-BE49-F238E27FC236}">
                            <a16:creationId xmlns:a16="http://schemas.microsoft.com/office/drawing/2014/main" id="{93BCC899-A81F-D4C8-3F00-F9E788765518}"/>
                          </a:ext>
                        </a:extLst>
                      </p:cNvPr>
                      <p:cNvPicPr>
                        <a:picLocks noChangeAspect="1" noChangeArrowheads="1"/>
                      </p:cNvPicPr>
                      <p:nvPr/>
                    </p:nvPicPr>
                    <p:blipFill>
                      <a:blip r:embed="rId8"/>
                      <a:srcRect/>
                      <a:stretch>
                        <a:fillRect/>
                      </a:stretch>
                    </p:blipFill>
                    <p:spPr bwMode="auto">
                      <a:xfrm>
                        <a:off x="7097608" y="1105620"/>
                        <a:ext cx="876151" cy="387499"/>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595538"/>
            <a:ext cx="8229600" cy="405683"/>
          </a:xfrm>
        </p:spPr>
        <p:txBody>
          <a:bodyPr wrap="square" lIns="0" tIns="18000" rIns="0" bIns="18000" anchor="ctr">
            <a:spAutoFit/>
          </a:bodyPr>
          <a:lstStyle/>
          <a:p>
            <a:pPr marL="0" indent="0">
              <a:spcBef>
                <a:spcPts val="600"/>
              </a:spcBef>
              <a:buNone/>
            </a:pPr>
            <a:r>
              <a:rPr lang="en-US" sz="2400" noProof="0" dirty="0"/>
              <a:t>In an ideal op amp, the input resistance is</a:t>
            </a:r>
          </a:p>
        </p:txBody>
      </p:sp>
      <p:pic>
        <p:nvPicPr>
          <p:cNvPr id="3" name="Picture 1434" descr="Cross mark">
            <a:extLst>
              <a:ext uri="{FF2B5EF4-FFF2-40B4-BE49-F238E27FC236}">
                <a16:creationId xmlns:a16="http://schemas.microsoft.com/office/drawing/2014/main" id="{3B1922C9-FAD9-AF39-B8A0-E2D93CF08FAD}"/>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851319" y="2447038"/>
            <a:ext cx="316663" cy="31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2399726"/>
            <a:ext cx="283275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About the same</a:t>
            </a:r>
          </a:p>
        </p:txBody>
      </p:sp>
      <p:pic>
        <p:nvPicPr>
          <p:cNvPr id="4" name="Picture 1436" descr="Cross mark">
            <a:extLst>
              <a:ext uri="{FF2B5EF4-FFF2-40B4-BE49-F238E27FC236}">
                <a16:creationId xmlns:a16="http://schemas.microsoft.com/office/drawing/2014/main" id="{CA83259D-B683-1E33-62A7-2C07B38189D6}"/>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859003" y="2957437"/>
            <a:ext cx="301294" cy="301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600" y="2905243"/>
            <a:ext cx="2625365" cy="405683"/>
          </a:xfrm>
        </p:spPr>
        <p:txBody>
          <a:bodyPr wrap="square" lIns="0" tIns="18000" rIns="0" bIns="18000" anchor="ctr">
            <a:spAutoFit/>
          </a:bodyPr>
          <a:lstStyle/>
          <a:p>
            <a:pPr marL="0" indent="0">
              <a:spcBef>
                <a:spcPts val="600"/>
              </a:spcBef>
              <a:buNone/>
              <a:defRPr/>
            </a:pPr>
            <a:r>
              <a:rPr lang="en-US" sz="2400" noProof="0" dirty="0">
                <a:solidFill>
                  <a:srgbClr val="007FA3"/>
                </a:solidFill>
              </a:rPr>
              <a:t>B.</a:t>
            </a:r>
            <a:r>
              <a:rPr lang="en-US" sz="2400" noProof="0" dirty="0"/>
              <a:t> Much smaller</a:t>
            </a:r>
          </a:p>
        </p:txBody>
      </p:sp>
      <p:pic>
        <p:nvPicPr>
          <p:cNvPr id="25" name="Picture 1436" descr="Cross mark">
            <a:extLst>
              <a:ext uri="{FF2B5EF4-FFF2-40B4-BE49-F238E27FC236}">
                <a16:creationId xmlns:a16="http://schemas.microsoft.com/office/drawing/2014/main" id="{25B0560F-2F81-8F74-E789-197C88E31C54}"/>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rcRect/>
          <a:stretch>
            <a:fillRect/>
          </a:stretch>
        </p:blipFill>
        <p:spPr bwMode="auto">
          <a:xfrm>
            <a:off x="857563" y="3427758"/>
            <a:ext cx="323028" cy="323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71600" y="3406413"/>
            <a:ext cx="721151"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0</a:t>
            </a:r>
          </a:p>
        </p:txBody>
      </p:sp>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5"/>
            </p:custDataLst>
          </p:nvPr>
        </p:nvPicPr>
        <p:blipFill>
          <a:blip r:embed="rId10">
            <a:extLst>
              <a:ext uri="{28A0092B-C50C-407E-A947-70E740481C1C}">
                <a14:useLocalDpi xmlns:a14="http://schemas.microsoft.com/office/drawing/2010/main" val="0"/>
              </a:ext>
            </a:extLst>
          </a:blip>
          <a:srcRect/>
          <a:stretch>
            <a:fillRect/>
          </a:stretch>
        </p:blipFill>
        <p:spPr bwMode="auto">
          <a:xfrm>
            <a:off x="844181" y="393896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371601" y="3911254"/>
            <a:ext cx="342900" cy="405683"/>
          </a:xfrm>
        </p:spPr>
        <p:txBody>
          <a:bodyPr wrap="square" lIns="0" tIns="18000" rIns="0" bIns="18000" anchor="ctr">
            <a:spAutoFit/>
          </a:bodyPr>
          <a:lstStyle/>
          <a:p>
            <a:pPr marL="0" indent="0">
              <a:spcBef>
                <a:spcPts val="600"/>
              </a:spcBef>
              <a:buNone/>
            </a:pPr>
            <a:r>
              <a:rPr lang="en-US" sz="2400" noProof="0" dirty="0">
                <a:solidFill>
                  <a:srgbClr val="007FA3"/>
                </a:solidFill>
              </a:rPr>
              <a:t>D.</a:t>
            </a:r>
            <a:r>
              <a:rPr lang="en-US" sz="2400" noProof="0" dirty="0"/>
              <a:t> </a:t>
            </a:r>
          </a:p>
        </p:txBody>
      </p:sp>
      <p:graphicFrame>
        <p:nvGraphicFramePr>
          <p:cNvPr id="14" name="Object 13" descr="Infinity.">
            <a:extLst>
              <a:ext uri="{FF2B5EF4-FFF2-40B4-BE49-F238E27FC236}">
                <a16:creationId xmlns:a16="http://schemas.microsoft.com/office/drawing/2014/main" id="{8BC1CA57-F750-4B74-894C-0DA09659CB2D}"/>
              </a:ext>
            </a:extLst>
          </p:cNvPr>
          <p:cNvGraphicFramePr>
            <a:graphicFrameLocks noChangeAspect="1"/>
          </p:cNvGraphicFramePr>
          <p:nvPr>
            <p:extLst>
              <p:ext uri="{D42A27DB-BD31-4B8C-83A1-F6EECF244321}">
                <p14:modId xmlns:p14="http://schemas.microsoft.com/office/powerpoint/2010/main" val="765542012"/>
              </p:ext>
            </p:extLst>
          </p:nvPr>
        </p:nvGraphicFramePr>
        <p:xfrm>
          <a:off x="1756171" y="3944693"/>
          <a:ext cx="436891" cy="363598"/>
        </p:xfrm>
        <a:graphic>
          <a:graphicData uri="http://schemas.openxmlformats.org/presentationml/2006/ole">
            <mc:AlternateContent xmlns:mc="http://schemas.openxmlformats.org/markup-compatibility/2006">
              <mc:Choice xmlns:v="urn:schemas-microsoft-com:vml" Requires="v">
                <p:oleObj spid="_x0000_s6147" name="Equation" r:id="rId11" imgW="152280" imgH="126720" progId="Equation.DSMT4">
                  <p:embed/>
                </p:oleObj>
              </mc:Choice>
              <mc:Fallback>
                <p:oleObj name="Equation" r:id="rId11" imgW="152280" imgH="126720" progId="Equation.DSMT4">
                  <p:embed/>
                  <p:pic>
                    <p:nvPicPr>
                      <p:cNvPr id="3" name="Object 2"/>
                      <p:cNvPicPr>
                        <a:picLocks noChangeAspect="1" noChangeArrowheads="1"/>
                      </p:cNvPicPr>
                      <p:nvPr/>
                    </p:nvPicPr>
                    <p:blipFill>
                      <a:blip r:embed="rId12"/>
                      <a:srcRect/>
                      <a:stretch>
                        <a:fillRect/>
                      </a:stretch>
                    </p:blipFill>
                    <p:spPr bwMode="auto">
                      <a:xfrm>
                        <a:off x="1756171" y="3944693"/>
                        <a:ext cx="436891" cy="3635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84372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400" y="208800"/>
            <a:ext cx="8229600" cy="590349"/>
          </a:xfrm>
        </p:spPr>
        <p:txBody>
          <a:bodyPr anchor="ctr"/>
          <a:lstStyle/>
          <a:p>
            <a:r>
              <a:rPr lang="en-US" noProof="0" dirty="0"/>
              <a:t>Chapter 5 – Op Amps </a:t>
            </a:r>
            <a:r>
              <a:rPr lang="en-US" sz="2800" noProof="0" dirty="0"/>
              <a:t>(11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1" y="1062318"/>
            <a:ext cx="6801636" cy="405683"/>
          </a:xfrm>
        </p:spPr>
        <p:txBody>
          <a:bodyPr wrap="square" lIns="0" tIns="18000" rIns="0" bIns="18000" anchor="ctr">
            <a:spAutoFit/>
          </a:bodyPr>
          <a:lstStyle/>
          <a:p>
            <a:pPr marL="0" indent="0">
              <a:spcBef>
                <a:spcPts val="600"/>
              </a:spcBef>
              <a:buNone/>
            </a:pPr>
            <a:r>
              <a:rPr lang="en-US" sz="2400" noProof="0" dirty="0"/>
              <a:t>In a uA741 op amp, the output resistance is about </a:t>
            </a:r>
          </a:p>
        </p:txBody>
      </p:sp>
      <p:graphicFrame>
        <p:nvGraphicFramePr>
          <p:cNvPr id="2" name="Object 1" descr="75 Ohms.">
            <a:extLst>
              <a:ext uri="{FF2B5EF4-FFF2-40B4-BE49-F238E27FC236}">
                <a16:creationId xmlns:a16="http://schemas.microsoft.com/office/drawing/2014/main" id="{93BCC899-A81F-D4C8-3F00-F9E788765518}"/>
              </a:ext>
            </a:extLst>
          </p:cNvPr>
          <p:cNvGraphicFramePr>
            <a:graphicFrameLocks noChangeAspect="1"/>
          </p:cNvGraphicFramePr>
          <p:nvPr>
            <p:extLst>
              <p:ext uri="{D42A27DB-BD31-4B8C-83A1-F6EECF244321}">
                <p14:modId xmlns:p14="http://schemas.microsoft.com/office/powerpoint/2010/main" val="902808763"/>
              </p:ext>
            </p:extLst>
          </p:nvPr>
        </p:nvGraphicFramePr>
        <p:xfrm>
          <a:off x="7348538" y="1106488"/>
          <a:ext cx="819150" cy="395287"/>
        </p:xfrm>
        <a:graphic>
          <a:graphicData uri="http://schemas.openxmlformats.org/presentationml/2006/ole">
            <mc:AlternateContent xmlns:mc="http://schemas.openxmlformats.org/markup-compatibility/2006">
              <mc:Choice xmlns:v="urn:schemas-microsoft-com:vml" Requires="v">
                <p:oleObj spid="_x0000_s7170" name="Equation" r:id="rId7" imgW="419040" imgH="203040" progId="Equation.DSMT4">
                  <p:embed/>
                </p:oleObj>
              </mc:Choice>
              <mc:Fallback>
                <p:oleObj name="Equation" r:id="rId7" imgW="419040" imgH="203040" progId="Equation.DSMT4">
                  <p:embed/>
                  <p:pic>
                    <p:nvPicPr>
                      <p:cNvPr id="2" name="Object 1">
                        <a:extLst>
                          <a:ext uri="{FF2B5EF4-FFF2-40B4-BE49-F238E27FC236}">
                            <a16:creationId xmlns:a16="http://schemas.microsoft.com/office/drawing/2014/main" id="{93BCC899-A81F-D4C8-3F00-F9E788765518}"/>
                          </a:ext>
                        </a:extLst>
                      </p:cNvPr>
                      <p:cNvPicPr>
                        <a:picLocks noChangeAspect="1" noChangeArrowheads="1"/>
                      </p:cNvPicPr>
                      <p:nvPr/>
                    </p:nvPicPr>
                    <p:blipFill>
                      <a:blip r:embed="rId8"/>
                      <a:srcRect/>
                      <a:stretch>
                        <a:fillRect/>
                      </a:stretch>
                    </p:blipFill>
                    <p:spPr bwMode="auto">
                      <a:xfrm>
                        <a:off x="7348538" y="1106488"/>
                        <a:ext cx="819150" cy="395287"/>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595538"/>
            <a:ext cx="8229600" cy="405683"/>
          </a:xfrm>
        </p:spPr>
        <p:txBody>
          <a:bodyPr wrap="square" lIns="0" tIns="18000" rIns="0" bIns="18000" anchor="ctr">
            <a:spAutoFit/>
          </a:bodyPr>
          <a:lstStyle/>
          <a:p>
            <a:pPr marL="0" indent="0">
              <a:spcBef>
                <a:spcPts val="600"/>
              </a:spcBef>
              <a:buNone/>
            </a:pPr>
            <a:r>
              <a:rPr lang="en-US" sz="2400" noProof="0" dirty="0"/>
              <a:t>In an ideal op amp, the output resistance is</a:t>
            </a:r>
          </a:p>
        </p:txBody>
      </p:sp>
      <p:pic>
        <p:nvPicPr>
          <p:cNvPr id="3" name="Picture 1434" descr="Cross mark">
            <a:extLst>
              <a:ext uri="{FF2B5EF4-FFF2-40B4-BE49-F238E27FC236}">
                <a16:creationId xmlns:a16="http://schemas.microsoft.com/office/drawing/2014/main" id="{3B1922C9-FAD9-AF39-B8A0-E2D93CF08FAD}"/>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859003" y="2454722"/>
            <a:ext cx="301294" cy="301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2399726"/>
            <a:ext cx="283275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About the same</a:t>
            </a:r>
          </a:p>
        </p:txBody>
      </p:sp>
      <p:pic>
        <p:nvPicPr>
          <p:cNvPr id="4" name="Picture 1436" descr="Cross mark">
            <a:extLst>
              <a:ext uri="{FF2B5EF4-FFF2-40B4-BE49-F238E27FC236}">
                <a16:creationId xmlns:a16="http://schemas.microsoft.com/office/drawing/2014/main" id="{CA83259D-B683-1E33-62A7-2C07B38189D6}"/>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851319" y="2949753"/>
            <a:ext cx="316663" cy="31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600" y="2905243"/>
            <a:ext cx="2625365" cy="405683"/>
          </a:xfrm>
        </p:spPr>
        <p:txBody>
          <a:bodyPr wrap="square" lIns="0" tIns="18000" rIns="0" bIns="18000" anchor="ctr">
            <a:spAutoFit/>
          </a:bodyPr>
          <a:lstStyle/>
          <a:p>
            <a:pPr marL="0" indent="0">
              <a:spcBef>
                <a:spcPts val="600"/>
              </a:spcBef>
              <a:buNone/>
              <a:defRPr/>
            </a:pPr>
            <a:r>
              <a:rPr lang="en-US" sz="2400" noProof="0" dirty="0">
                <a:solidFill>
                  <a:srgbClr val="007FA3"/>
                </a:solidFill>
              </a:rPr>
              <a:t>B.</a:t>
            </a:r>
            <a:r>
              <a:rPr lang="en-US" sz="2400" noProof="0" dirty="0"/>
              <a:t> Much larger</a:t>
            </a:r>
          </a:p>
        </p:txBody>
      </p:sp>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844181" y="344877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71600" y="3406413"/>
            <a:ext cx="721151"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0</a:t>
            </a:r>
          </a:p>
        </p:txBody>
      </p:sp>
      <p:pic>
        <p:nvPicPr>
          <p:cNvPr id="25" name="Picture 1436" descr="Cross mark">
            <a:extLst>
              <a:ext uri="{FF2B5EF4-FFF2-40B4-BE49-F238E27FC236}">
                <a16:creationId xmlns:a16="http://schemas.microsoft.com/office/drawing/2014/main" id="{25B0560F-2F81-8F74-E789-197C88E31C54}"/>
              </a:ext>
            </a:extLst>
          </p:cNvPr>
          <p:cNvPicPr>
            <a:picLocks noChangeAspect="1"/>
          </p:cNvPicPr>
          <p:nvPr>
            <p:custDataLst>
              <p:tags r:id="rId5"/>
            </p:custDataLst>
          </p:nvPr>
        </p:nvPicPr>
        <p:blipFill>
          <a:blip r:embed="rId9">
            <a:extLst>
              <a:ext uri="{28A0092B-C50C-407E-A947-70E740481C1C}">
                <a14:useLocalDpi xmlns:a14="http://schemas.microsoft.com/office/drawing/2010/main" val="0"/>
              </a:ext>
            </a:extLst>
          </a:blip>
          <a:srcRect/>
          <a:stretch>
            <a:fillRect/>
          </a:stretch>
        </p:blipFill>
        <p:spPr bwMode="auto">
          <a:xfrm>
            <a:off x="854317" y="3942986"/>
            <a:ext cx="329521" cy="32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371601" y="3911254"/>
            <a:ext cx="342900" cy="405683"/>
          </a:xfrm>
        </p:spPr>
        <p:txBody>
          <a:bodyPr wrap="square" lIns="0" tIns="18000" rIns="0" bIns="18000" anchor="ctr">
            <a:spAutoFit/>
          </a:bodyPr>
          <a:lstStyle/>
          <a:p>
            <a:pPr marL="0" indent="0">
              <a:spcBef>
                <a:spcPts val="600"/>
              </a:spcBef>
              <a:buNone/>
            </a:pPr>
            <a:r>
              <a:rPr lang="en-US" sz="2400" noProof="0" dirty="0">
                <a:solidFill>
                  <a:srgbClr val="007FA3"/>
                </a:solidFill>
              </a:rPr>
              <a:t>D.</a:t>
            </a:r>
            <a:r>
              <a:rPr lang="en-US" sz="2400" noProof="0" dirty="0"/>
              <a:t> </a:t>
            </a:r>
          </a:p>
        </p:txBody>
      </p:sp>
      <p:graphicFrame>
        <p:nvGraphicFramePr>
          <p:cNvPr id="14" name="Object 13" descr="Infinity.">
            <a:extLst>
              <a:ext uri="{FF2B5EF4-FFF2-40B4-BE49-F238E27FC236}">
                <a16:creationId xmlns:a16="http://schemas.microsoft.com/office/drawing/2014/main" id="{8BC1CA57-F750-4B74-894C-0DA09659CB2D}"/>
              </a:ext>
            </a:extLst>
          </p:cNvPr>
          <p:cNvGraphicFramePr>
            <a:graphicFrameLocks noChangeAspect="1"/>
          </p:cNvGraphicFramePr>
          <p:nvPr>
            <p:extLst>
              <p:ext uri="{D42A27DB-BD31-4B8C-83A1-F6EECF244321}">
                <p14:modId xmlns:p14="http://schemas.microsoft.com/office/powerpoint/2010/main" val="3892562118"/>
              </p:ext>
            </p:extLst>
          </p:nvPr>
        </p:nvGraphicFramePr>
        <p:xfrm>
          <a:off x="1786766" y="3951787"/>
          <a:ext cx="419844" cy="349411"/>
        </p:xfrm>
        <a:graphic>
          <a:graphicData uri="http://schemas.openxmlformats.org/presentationml/2006/ole">
            <mc:AlternateContent xmlns:mc="http://schemas.openxmlformats.org/markup-compatibility/2006">
              <mc:Choice xmlns:v="urn:schemas-microsoft-com:vml" Requires="v">
                <p:oleObj spid="_x0000_s7171" name="Equation" r:id="rId11" imgW="152280" imgH="126720" progId="Equation.DSMT4">
                  <p:embed/>
                </p:oleObj>
              </mc:Choice>
              <mc:Fallback>
                <p:oleObj name="Equation" r:id="rId11" imgW="152280" imgH="126720" progId="Equation.DSMT4">
                  <p:embed/>
                  <p:pic>
                    <p:nvPicPr>
                      <p:cNvPr id="14" name="Object 13">
                        <a:extLst>
                          <a:ext uri="{FF2B5EF4-FFF2-40B4-BE49-F238E27FC236}">
                            <a16:creationId xmlns:a16="http://schemas.microsoft.com/office/drawing/2014/main" id="{8BC1CA57-F750-4B74-894C-0DA09659CB2D}"/>
                          </a:ext>
                        </a:extLst>
                      </p:cNvPr>
                      <p:cNvPicPr>
                        <a:picLocks noChangeAspect="1" noChangeArrowheads="1"/>
                      </p:cNvPicPr>
                      <p:nvPr/>
                    </p:nvPicPr>
                    <p:blipFill>
                      <a:blip r:embed="rId12"/>
                      <a:srcRect/>
                      <a:stretch>
                        <a:fillRect/>
                      </a:stretch>
                    </p:blipFill>
                    <p:spPr bwMode="auto">
                      <a:xfrm>
                        <a:off x="1786766" y="3951787"/>
                        <a:ext cx="419844" cy="349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40394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400" y="208800"/>
            <a:ext cx="8229600" cy="590349"/>
          </a:xfrm>
        </p:spPr>
        <p:txBody>
          <a:bodyPr anchor="ctr"/>
          <a:lstStyle/>
          <a:p>
            <a:r>
              <a:rPr lang="en-US" noProof="0" dirty="0"/>
              <a:t>Chapter 5 – Op Amps </a:t>
            </a:r>
            <a:r>
              <a:rPr lang="en-US" sz="2800" noProof="0" dirty="0"/>
              <a:t>(12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62318"/>
            <a:ext cx="8219850" cy="405683"/>
          </a:xfrm>
        </p:spPr>
        <p:txBody>
          <a:bodyPr wrap="square" lIns="0" tIns="18000" rIns="0" bIns="18000" anchor="ctr">
            <a:spAutoFit/>
          </a:bodyPr>
          <a:lstStyle/>
          <a:p>
            <a:pPr marL="0" indent="0">
              <a:spcBef>
                <a:spcPts val="600"/>
              </a:spcBef>
              <a:buNone/>
            </a:pPr>
            <a:r>
              <a:rPr lang="en-US" sz="2400" noProof="0" dirty="0"/>
              <a:t>In an ideal op amp, the voltage gain in the linear region is </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567257"/>
            <a:ext cx="3558815" cy="405683"/>
          </a:xfrm>
        </p:spPr>
        <p:txBody>
          <a:bodyPr wrap="square" lIns="0" tIns="18000" rIns="0" bIns="18000" anchor="ctr">
            <a:spAutoFit/>
          </a:bodyPr>
          <a:lstStyle/>
          <a:p>
            <a:pPr marL="0" indent="0">
              <a:spcBef>
                <a:spcPts val="600"/>
              </a:spcBef>
              <a:buNone/>
            </a:pPr>
            <a:r>
              <a:rPr lang="en-US" sz="2400" noProof="0" dirty="0"/>
              <a:t>infinite. Therefore, what is</a:t>
            </a:r>
          </a:p>
        </p:txBody>
      </p:sp>
      <p:graphicFrame>
        <p:nvGraphicFramePr>
          <p:cNvPr id="2" name="Object 1" descr="OpenParenthesis v subscript p BaseLine minus v subscript n CloseParenthesis?">
            <a:extLst>
              <a:ext uri="{FF2B5EF4-FFF2-40B4-BE49-F238E27FC236}">
                <a16:creationId xmlns:a16="http://schemas.microsoft.com/office/drawing/2014/main" id="{93BCC899-A81F-D4C8-3F00-F9E788765518}"/>
              </a:ext>
            </a:extLst>
          </p:cNvPr>
          <p:cNvGraphicFramePr>
            <a:graphicFrameLocks noChangeAspect="1"/>
          </p:cNvGraphicFramePr>
          <p:nvPr>
            <p:extLst>
              <p:ext uri="{D42A27DB-BD31-4B8C-83A1-F6EECF244321}">
                <p14:modId xmlns:p14="http://schemas.microsoft.com/office/powerpoint/2010/main" val="2109650411"/>
              </p:ext>
            </p:extLst>
          </p:nvPr>
        </p:nvGraphicFramePr>
        <p:xfrm>
          <a:off x="4095135" y="1553180"/>
          <a:ext cx="1235944" cy="491503"/>
        </p:xfrm>
        <a:graphic>
          <a:graphicData uri="http://schemas.openxmlformats.org/presentationml/2006/ole">
            <mc:AlternateContent xmlns:mc="http://schemas.openxmlformats.org/markup-compatibility/2006">
              <mc:Choice xmlns:v="urn:schemas-microsoft-com:vml" Requires="v">
                <p:oleObj spid="_x0000_s8194" name="Equation" r:id="rId7" imgW="698400" imgH="279360" progId="Equation.DSMT4">
                  <p:embed/>
                </p:oleObj>
              </mc:Choice>
              <mc:Fallback>
                <p:oleObj name="Equation" r:id="rId7" imgW="698400" imgH="279360" progId="Equation.DSMT4">
                  <p:embed/>
                  <p:pic>
                    <p:nvPicPr>
                      <p:cNvPr id="2" name="Object 1">
                        <a:extLst>
                          <a:ext uri="{FF2B5EF4-FFF2-40B4-BE49-F238E27FC236}">
                            <a16:creationId xmlns:a16="http://schemas.microsoft.com/office/drawing/2014/main" id="{93BCC899-A81F-D4C8-3F00-F9E788765518}"/>
                          </a:ext>
                        </a:extLst>
                      </p:cNvPr>
                      <p:cNvPicPr>
                        <a:picLocks noChangeAspect="1" noChangeArrowheads="1"/>
                      </p:cNvPicPr>
                      <p:nvPr/>
                    </p:nvPicPr>
                    <p:blipFill>
                      <a:blip r:embed="rId8"/>
                      <a:srcRect/>
                      <a:stretch>
                        <a:fillRect/>
                      </a:stretch>
                    </p:blipFill>
                    <p:spPr bwMode="auto">
                      <a:xfrm>
                        <a:off x="4095135" y="1553180"/>
                        <a:ext cx="1235944" cy="491503"/>
                      </a:xfrm>
                      <a:prstGeom prst="rect">
                        <a:avLst/>
                      </a:prstGeom>
                      <a:noFill/>
                      <a:ln w="38100">
                        <a:noFill/>
                        <a:miter lim="800000"/>
                        <a:headEnd/>
                        <a:tailEnd/>
                      </a:ln>
                    </p:spPr>
                  </p:pic>
                </p:oleObj>
              </mc:Fallback>
            </mc:AlternateContent>
          </a:graphicData>
        </a:graphic>
      </p:graphicFrame>
      <p:pic>
        <p:nvPicPr>
          <p:cNvPr id="16" name="Picture 15" descr="A picture shows a plot between v subscript o on the vertical axis and the difference between v subscript p and v subscript n on the horizontal axis. Units for the vertical axis are volts. Unit for the horizontal axis is milli volts. The plot passes through the origin and is a straight line from the point represented by horizontal quantity V subscript cc divided by A and vertical quantity represented by V subscript cc in the first quadrant to the point represented by horizontal quantity minus V subscript cc divided by A and vertical quantity represented by minus V subscript cc in the third quadrant. Beyond the linear point in the first quadrant the plot is a horizontal line proceeding to the right called positive saturation. Beyond the linear point in the third quadrant the plot is a horizontal line proceeding to the left called negative saturation.">
            <a:extLst>
              <a:ext uri="{FF2B5EF4-FFF2-40B4-BE49-F238E27FC236}">
                <a16:creationId xmlns:a16="http://schemas.microsoft.com/office/drawing/2014/main" id="{609013F3-7286-4872-A899-EB3A65FC963C}"/>
              </a:ext>
            </a:extLst>
          </p:cNvPr>
          <p:cNvPicPr>
            <a:picLocks noChangeAspect="1"/>
          </p:cNvPicPr>
          <p:nvPr/>
        </p:nvPicPr>
        <p:blipFill>
          <a:blip r:embed="rId9"/>
          <a:stretch>
            <a:fillRect/>
          </a:stretch>
        </p:blipFill>
        <p:spPr>
          <a:xfrm>
            <a:off x="2776481" y="2207260"/>
            <a:ext cx="3591039" cy="2084685"/>
          </a:xfrm>
          <a:prstGeom prst="rect">
            <a:avLst/>
          </a:prstGeom>
        </p:spPr>
      </p:pic>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2"/>
            </p:custDataLst>
          </p:nvPr>
        </p:nvPicPr>
        <p:blipFill>
          <a:blip r:embed="rId10">
            <a:extLst>
              <a:ext uri="{28A0092B-C50C-407E-A947-70E740481C1C}">
                <a14:useLocalDpi xmlns:a14="http://schemas.microsoft.com/office/drawing/2010/main" val="0"/>
              </a:ext>
            </a:extLst>
          </a:blip>
          <a:srcRect/>
          <a:stretch>
            <a:fillRect/>
          </a:stretch>
        </p:blipFill>
        <p:spPr bwMode="auto">
          <a:xfrm>
            <a:off x="844181" y="445744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4388783"/>
            <a:ext cx="721151"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0</a:t>
            </a:r>
          </a:p>
        </p:txBody>
      </p:sp>
      <p:pic>
        <p:nvPicPr>
          <p:cNvPr id="4" name="Picture 1436" descr="Cross mark">
            <a:extLst>
              <a:ext uri="{FF2B5EF4-FFF2-40B4-BE49-F238E27FC236}">
                <a16:creationId xmlns:a16="http://schemas.microsoft.com/office/drawing/2014/main" id="{CA83259D-B683-1E33-62A7-2C07B38189D6}"/>
              </a:ext>
            </a:extLst>
          </p:cNvPr>
          <p:cNvPicPr>
            <a:picLocks noChangeAspect="1"/>
          </p:cNvPicPr>
          <p:nvPr>
            <p:custDataLst>
              <p:tags r:id="rId3"/>
            </p:custDataLst>
          </p:nvPr>
        </p:nvPicPr>
        <p:blipFill>
          <a:blip r:embed="rId11">
            <a:extLst>
              <a:ext uri="{28A0092B-C50C-407E-A947-70E740481C1C}">
                <a14:useLocalDpi xmlns:a14="http://schemas.microsoft.com/office/drawing/2010/main" val="0"/>
              </a:ext>
            </a:extLst>
          </a:blip>
          <a:srcRect/>
          <a:stretch>
            <a:fillRect/>
          </a:stretch>
        </p:blipFill>
        <p:spPr bwMode="auto">
          <a:xfrm>
            <a:off x="854438" y="4941929"/>
            <a:ext cx="310424" cy="310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601" y="4894300"/>
            <a:ext cx="1560136" cy="405683"/>
          </a:xfrm>
        </p:spPr>
        <p:txBody>
          <a:bodyPr wrap="square" lIns="0" tIns="18000" rIns="0" bIns="18000" anchor="ctr">
            <a:spAutoFit/>
          </a:bodyPr>
          <a:lstStyle/>
          <a:p>
            <a:pPr marL="0" indent="0">
              <a:spcBef>
                <a:spcPts val="600"/>
              </a:spcBef>
              <a:buNone/>
              <a:defRPr/>
            </a:pPr>
            <a:r>
              <a:rPr lang="en-US" sz="2400" noProof="0" dirty="0">
                <a:solidFill>
                  <a:srgbClr val="007FA3"/>
                </a:solidFill>
              </a:rPr>
              <a:t>B.</a:t>
            </a:r>
            <a:r>
              <a:rPr lang="en-US" sz="2400" noProof="0" dirty="0"/>
              <a:t> 200,000</a:t>
            </a:r>
          </a:p>
        </p:txBody>
      </p:sp>
      <p:pic>
        <p:nvPicPr>
          <p:cNvPr id="25" name="Picture 1436" descr="Cross mark">
            <a:extLst>
              <a:ext uri="{FF2B5EF4-FFF2-40B4-BE49-F238E27FC236}">
                <a16:creationId xmlns:a16="http://schemas.microsoft.com/office/drawing/2014/main" id="{25B0560F-2F81-8F74-E789-197C88E31C54}"/>
              </a:ext>
            </a:extLst>
          </p:cNvPr>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54317" y="5413569"/>
            <a:ext cx="329521" cy="32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71601" y="5395470"/>
            <a:ext cx="342900"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p>
        </p:txBody>
      </p:sp>
      <p:graphicFrame>
        <p:nvGraphicFramePr>
          <p:cNvPr id="15" name="Object 14" descr="V subscript C C BaseLine.">
            <a:extLst>
              <a:ext uri="{FF2B5EF4-FFF2-40B4-BE49-F238E27FC236}">
                <a16:creationId xmlns:a16="http://schemas.microsoft.com/office/drawing/2014/main" id="{F5573435-5CCB-4453-BA3F-7D26290B3F2C}"/>
              </a:ext>
            </a:extLst>
          </p:cNvPr>
          <p:cNvGraphicFramePr>
            <a:graphicFrameLocks noChangeAspect="1"/>
          </p:cNvGraphicFramePr>
          <p:nvPr>
            <p:extLst>
              <p:ext uri="{D42A27DB-BD31-4B8C-83A1-F6EECF244321}">
                <p14:modId xmlns:p14="http://schemas.microsoft.com/office/powerpoint/2010/main" val="4142575603"/>
              </p:ext>
            </p:extLst>
          </p:nvPr>
        </p:nvGraphicFramePr>
        <p:xfrm>
          <a:off x="1740586" y="5416668"/>
          <a:ext cx="522288" cy="444500"/>
        </p:xfrm>
        <a:graphic>
          <a:graphicData uri="http://schemas.openxmlformats.org/presentationml/2006/ole">
            <mc:AlternateContent xmlns:mc="http://schemas.openxmlformats.org/markup-compatibility/2006">
              <mc:Choice xmlns:v="urn:schemas-microsoft-com:vml" Requires="v">
                <p:oleObj spid="_x0000_s8195" name="Equation" r:id="rId12" imgW="266400" imgH="228600" progId="Equation.DSMT4">
                  <p:embed/>
                </p:oleObj>
              </mc:Choice>
              <mc:Fallback>
                <p:oleObj name="Equation" r:id="rId12" imgW="266400" imgH="228600" progId="Equation.DSMT4">
                  <p:embed/>
                  <p:pic>
                    <p:nvPicPr>
                      <p:cNvPr id="2" name="Object 1">
                        <a:extLst>
                          <a:ext uri="{FF2B5EF4-FFF2-40B4-BE49-F238E27FC236}">
                            <a16:creationId xmlns:a16="http://schemas.microsoft.com/office/drawing/2014/main" id="{93BCC899-A81F-D4C8-3F00-F9E788765518}"/>
                          </a:ext>
                        </a:extLst>
                      </p:cNvPr>
                      <p:cNvPicPr>
                        <a:picLocks noChangeAspect="1" noChangeArrowheads="1"/>
                      </p:cNvPicPr>
                      <p:nvPr/>
                    </p:nvPicPr>
                    <p:blipFill>
                      <a:blip r:embed="rId13"/>
                      <a:srcRect/>
                      <a:stretch>
                        <a:fillRect/>
                      </a:stretch>
                    </p:blipFill>
                    <p:spPr bwMode="auto">
                      <a:xfrm>
                        <a:off x="1740586" y="5416668"/>
                        <a:ext cx="522288" cy="444500"/>
                      </a:xfrm>
                      <a:prstGeom prst="rect">
                        <a:avLst/>
                      </a:prstGeom>
                      <a:noFill/>
                      <a:ln w="38100">
                        <a:noFill/>
                        <a:miter lim="800000"/>
                        <a:headEnd/>
                        <a:tailEnd/>
                      </a:ln>
                    </p:spPr>
                  </p:pic>
                </p:oleObj>
              </mc:Fallback>
            </mc:AlternateContent>
          </a:graphicData>
        </a:graphic>
      </p:graphicFrame>
      <p:pic>
        <p:nvPicPr>
          <p:cNvPr id="3" name="Picture 1434" descr="Cross mark">
            <a:extLst>
              <a:ext uri="{FF2B5EF4-FFF2-40B4-BE49-F238E27FC236}">
                <a16:creationId xmlns:a16="http://schemas.microsoft.com/office/drawing/2014/main" id="{3B1922C9-FAD9-AF39-B8A0-E2D93CF08FAD}"/>
              </a:ext>
            </a:extLst>
          </p:cNvPr>
          <p:cNvPicPr>
            <a:picLocks noChangeAspect="1"/>
          </p:cNvPicPr>
          <p:nvPr>
            <p:custDataLst>
              <p:tags r:id="rId5"/>
            </p:custDataLst>
          </p:nvPr>
        </p:nvPicPr>
        <p:blipFill>
          <a:blip r:embed="rId11">
            <a:extLst>
              <a:ext uri="{28A0092B-C50C-407E-A947-70E740481C1C}">
                <a14:useLocalDpi xmlns:a14="http://schemas.microsoft.com/office/drawing/2010/main" val="0"/>
              </a:ext>
            </a:extLst>
          </a:blip>
          <a:srcRect/>
          <a:stretch>
            <a:fillRect/>
          </a:stretch>
        </p:blipFill>
        <p:spPr bwMode="auto">
          <a:xfrm>
            <a:off x="851319" y="5916104"/>
            <a:ext cx="316663" cy="31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381027" y="5900311"/>
            <a:ext cx="342901" cy="405683"/>
          </a:xfrm>
        </p:spPr>
        <p:txBody>
          <a:bodyPr wrap="square" lIns="0" tIns="18000" rIns="0" bIns="18000" anchor="ctr">
            <a:spAutoFit/>
          </a:bodyPr>
          <a:lstStyle/>
          <a:p>
            <a:pPr marL="0" indent="0">
              <a:spcBef>
                <a:spcPts val="600"/>
              </a:spcBef>
              <a:buNone/>
            </a:pPr>
            <a:r>
              <a:rPr lang="en-US" sz="2400" noProof="0" dirty="0">
                <a:solidFill>
                  <a:srgbClr val="007FA3"/>
                </a:solidFill>
              </a:rPr>
              <a:t>D.</a:t>
            </a:r>
          </a:p>
        </p:txBody>
      </p:sp>
      <p:graphicFrame>
        <p:nvGraphicFramePr>
          <p:cNvPr id="14" name="Object 13" descr="Infinity.">
            <a:extLst>
              <a:ext uri="{FF2B5EF4-FFF2-40B4-BE49-F238E27FC236}">
                <a16:creationId xmlns:a16="http://schemas.microsoft.com/office/drawing/2014/main" id="{8BC1CA57-F750-4B74-894C-0DA09659CB2D}"/>
              </a:ext>
            </a:extLst>
          </p:cNvPr>
          <p:cNvGraphicFramePr>
            <a:graphicFrameLocks noChangeAspect="1"/>
          </p:cNvGraphicFramePr>
          <p:nvPr>
            <p:extLst>
              <p:ext uri="{D42A27DB-BD31-4B8C-83A1-F6EECF244321}">
                <p14:modId xmlns:p14="http://schemas.microsoft.com/office/powerpoint/2010/main" val="930065104"/>
              </p:ext>
            </p:extLst>
          </p:nvPr>
        </p:nvGraphicFramePr>
        <p:xfrm>
          <a:off x="1770046" y="5944286"/>
          <a:ext cx="411571" cy="342526"/>
        </p:xfrm>
        <a:graphic>
          <a:graphicData uri="http://schemas.openxmlformats.org/presentationml/2006/ole">
            <mc:AlternateContent xmlns:mc="http://schemas.openxmlformats.org/markup-compatibility/2006">
              <mc:Choice xmlns:v="urn:schemas-microsoft-com:vml" Requires="v">
                <p:oleObj spid="_x0000_s8196" name="Equation" r:id="rId14" imgW="152280" imgH="126720" progId="Equation.DSMT4">
                  <p:embed/>
                </p:oleObj>
              </mc:Choice>
              <mc:Fallback>
                <p:oleObj name="Equation" r:id="rId14" imgW="152280" imgH="126720" progId="Equation.DSMT4">
                  <p:embed/>
                  <p:pic>
                    <p:nvPicPr>
                      <p:cNvPr id="14" name="Object 13">
                        <a:extLst>
                          <a:ext uri="{FF2B5EF4-FFF2-40B4-BE49-F238E27FC236}">
                            <a16:creationId xmlns:a16="http://schemas.microsoft.com/office/drawing/2014/main" id="{8BC1CA57-F750-4B74-894C-0DA09659CB2D}"/>
                          </a:ext>
                        </a:extLst>
                      </p:cNvPr>
                      <p:cNvPicPr>
                        <a:picLocks noChangeAspect="1" noChangeArrowheads="1"/>
                      </p:cNvPicPr>
                      <p:nvPr/>
                    </p:nvPicPr>
                    <p:blipFill>
                      <a:blip r:embed="rId15"/>
                      <a:srcRect/>
                      <a:stretch>
                        <a:fillRect/>
                      </a:stretch>
                    </p:blipFill>
                    <p:spPr bwMode="auto">
                      <a:xfrm>
                        <a:off x="1770046" y="5944286"/>
                        <a:ext cx="411571" cy="3425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63695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919" y="207789"/>
            <a:ext cx="8242006" cy="590349"/>
          </a:xfrm>
        </p:spPr>
        <p:txBody>
          <a:bodyPr wrap="square" lIns="0" tIns="18000" rIns="0" bIns="18000" anchor="ctr" anchorCtr="0">
            <a:spAutoFit/>
          </a:bodyPr>
          <a:lstStyle/>
          <a:p>
            <a:r>
              <a:rPr lang="en-US" noProof="0" dirty="0"/>
              <a:t>Chapter 5 – Op Amps </a:t>
            </a:r>
            <a:r>
              <a:rPr lang="en-US" sz="2800" noProof="0" dirty="0"/>
              <a:t>(13 of 22)</a:t>
            </a:r>
          </a:p>
        </p:txBody>
      </p:sp>
      <p:sp>
        <p:nvSpPr>
          <p:cNvPr id="26" name="Content Placeholder 25">
            <a:extLst>
              <a:ext uri="{FF2B5EF4-FFF2-40B4-BE49-F238E27FC236}">
                <a16:creationId xmlns:a16="http://schemas.microsoft.com/office/drawing/2014/main" id="{DF3F5CB0-FA82-432A-93FB-D942ED7641D3}"/>
              </a:ext>
            </a:extLst>
          </p:cNvPr>
          <p:cNvSpPr>
            <a:spLocks noGrp="1"/>
          </p:cNvSpPr>
          <p:nvPr>
            <p:ph sz="quarter" idx="12"/>
          </p:nvPr>
        </p:nvSpPr>
        <p:spPr>
          <a:xfrm>
            <a:off x="428919" y="985285"/>
            <a:ext cx="8242006" cy="405683"/>
          </a:xfrm>
        </p:spPr>
        <p:txBody>
          <a:bodyPr wrap="square" lIns="0" tIns="18000" rIns="0" bIns="18000" anchor="ctr" anchorCtr="0">
            <a:spAutoFit/>
          </a:bodyPr>
          <a:lstStyle/>
          <a:p>
            <a:pPr marL="0" indent="0">
              <a:spcBef>
                <a:spcPts val="600"/>
              </a:spcBef>
              <a:buNone/>
            </a:pPr>
            <a:r>
              <a:rPr lang="en-US" sz="2400" noProof="0" dirty="0"/>
              <a:t>In an ideal op amp, the input resistance is infinite. Therefore, </a:t>
            </a:r>
          </a:p>
        </p:txBody>
      </p:sp>
      <p:sp>
        <p:nvSpPr>
          <p:cNvPr id="27" name="Content Placeholder 26">
            <a:extLst>
              <a:ext uri="{FF2B5EF4-FFF2-40B4-BE49-F238E27FC236}">
                <a16:creationId xmlns:a16="http://schemas.microsoft.com/office/drawing/2014/main" id="{DC3437F2-4B33-497C-B02E-116562BA0DD9}"/>
              </a:ext>
            </a:extLst>
          </p:cNvPr>
          <p:cNvSpPr>
            <a:spLocks noGrp="1"/>
          </p:cNvSpPr>
          <p:nvPr>
            <p:ph sz="quarter" idx="13"/>
          </p:nvPr>
        </p:nvSpPr>
        <p:spPr>
          <a:xfrm>
            <a:off x="428919" y="1481567"/>
            <a:ext cx="6452648" cy="405683"/>
          </a:xfrm>
        </p:spPr>
        <p:txBody>
          <a:bodyPr wrap="square" lIns="0" tIns="18000" rIns="0" bIns="18000" anchor="ctr" anchorCtr="0">
            <a:spAutoFit/>
          </a:bodyPr>
          <a:lstStyle/>
          <a:p>
            <a:pPr marL="0" indent="0">
              <a:spcBef>
                <a:spcPts val="600"/>
              </a:spcBef>
              <a:buNone/>
            </a:pPr>
            <a:r>
              <a:rPr lang="en-US" sz="2400" noProof="0" dirty="0"/>
              <a:t>the currents flowing into the input of the op amp</a:t>
            </a:r>
          </a:p>
        </p:txBody>
      </p:sp>
      <p:graphicFrame>
        <p:nvGraphicFramePr>
          <p:cNvPr id="44" name="Object 43" descr="OpenParenthesis i subscript p BaseLine and i subscript n BaseLine CloseParenthesis.">
            <a:extLst>
              <a:ext uri="{FF2B5EF4-FFF2-40B4-BE49-F238E27FC236}">
                <a16:creationId xmlns:a16="http://schemas.microsoft.com/office/drawing/2014/main" id="{E06E6260-1412-48B3-9806-D59A6FE0267B}"/>
              </a:ext>
            </a:extLst>
          </p:cNvPr>
          <p:cNvGraphicFramePr>
            <a:graphicFrameLocks noChangeAspect="1"/>
          </p:cNvGraphicFramePr>
          <p:nvPr>
            <p:extLst>
              <p:ext uri="{D42A27DB-BD31-4B8C-83A1-F6EECF244321}">
                <p14:modId xmlns:p14="http://schemas.microsoft.com/office/powerpoint/2010/main" val="2018090124"/>
              </p:ext>
            </p:extLst>
          </p:nvPr>
        </p:nvGraphicFramePr>
        <p:xfrm>
          <a:off x="6970280" y="1462972"/>
          <a:ext cx="1181534" cy="497869"/>
        </p:xfrm>
        <a:graphic>
          <a:graphicData uri="http://schemas.openxmlformats.org/presentationml/2006/ole">
            <mc:AlternateContent xmlns:mc="http://schemas.openxmlformats.org/markup-compatibility/2006">
              <mc:Choice xmlns:v="urn:schemas-microsoft-com:vml" Requires="v">
                <p:oleObj spid="_x0000_s9218" name="Equation" r:id="rId8" imgW="660240" imgH="279360" progId="Equation.DSMT4">
                  <p:embed/>
                </p:oleObj>
              </mc:Choice>
              <mc:Fallback>
                <p:oleObj name="Equation" r:id="rId8" imgW="660240" imgH="279360" progId="Equation.DSMT4">
                  <p:embed/>
                  <p:pic>
                    <p:nvPicPr>
                      <p:cNvPr id="2" name="Object 1">
                        <a:extLst>
                          <a:ext uri="{FF2B5EF4-FFF2-40B4-BE49-F238E27FC236}">
                            <a16:creationId xmlns:a16="http://schemas.microsoft.com/office/drawing/2014/main" id="{93BCC899-A81F-D4C8-3F00-F9E788765518}"/>
                          </a:ext>
                        </a:extLst>
                      </p:cNvPr>
                      <p:cNvPicPr>
                        <a:picLocks noChangeAspect="1" noChangeArrowheads="1"/>
                      </p:cNvPicPr>
                      <p:nvPr/>
                    </p:nvPicPr>
                    <p:blipFill>
                      <a:blip r:embed="rId9"/>
                      <a:srcRect/>
                      <a:stretch>
                        <a:fillRect/>
                      </a:stretch>
                    </p:blipFill>
                    <p:spPr bwMode="auto">
                      <a:xfrm>
                        <a:off x="6970280" y="1462972"/>
                        <a:ext cx="1181534" cy="497869"/>
                      </a:xfrm>
                      <a:prstGeom prst="rect">
                        <a:avLst/>
                      </a:prstGeom>
                      <a:noFill/>
                      <a:ln w="38100">
                        <a:noFill/>
                        <a:miter lim="800000"/>
                        <a:headEnd/>
                        <a:tailEnd/>
                      </a:ln>
                    </p:spPr>
                  </p:pic>
                </p:oleObj>
              </mc:Fallback>
            </mc:AlternateContent>
          </a:graphicData>
        </a:graphic>
      </p:graphicFrame>
      <p:sp>
        <p:nvSpPr>
          <p:cNvPr id="28" name="Content Placeholder 27">
            <a:extLst>
              <a:ext uri="{FF2B5EF4-FFF2-40B4-BE49-F238E27FC236}">
                <a16:creationId xmlns:a16="http://schemas.microsoft.com/office/drawing/2014/main" id="{B1198943-BDB1-4D9D-AE21-42C428A96B8C}"/>
              </a:ext>
            </a:extLst>
          </p:cNvPr>
          <p:cNvSpPr>
            <a:spLocks noGrp="1"/>
          </p:cNvSpPr>
          <p:nvPr>
            <p:ph sz="quarter" idx="14"/>
          </p:nvPr>
        </p:nvSpPr>
        <p:spPr>
          <a:xfrm>
            <a:off x="428919" y="1968420"/>
            <a:ext cx="466627" cy="405683"/>
          </a:xfrm>
        </p:spPr>
        <p:txBody>
          <a:bodyPr wrap="square" lIns="0" tIns="18000" rIns="0" bIns="18000" anchor="ctr" anchorCtr="0">
            <a:spAutoFit/>
          </a:bodyPr>
          <a:lstStyle/>
          <a:p>
            <a:pPr marL="0" indent="0">
              <a:spcBef>
                <a:spcPts val="600"/>
              </a:spcBef>
              <a:buNone/>
            </a:pPr>
            <a:r>
              <a:rPr lang="en-US" sz="2400" noProof="0" dirty="0"/>
              <a:t>are</a:t>
            </a:r>
          </a:p>
        </p:txBody>
      </p:sp>
      <p:pic>
        <p:nvPicPr>
          <p:cNvPr id="45" name="Picture 1436" descr="Cross mark">
            <a:extLst>
              <a:ext uri="{FF2B5EF4-FFF2-40B4-BE49-F238E27FC236}">
                <a16:creationId xmlns:a16="http://schemas.microsoft.com/office/drawing/2014/main" id="{3583F577-5792-48AE-B933-43A97BF02443}"/>
              </a:ext>
            </a:extLst>
          </p:cNvPr>
          <p:cNvPicPr>
            <a:picLocks noChangeAspect="1"/>
          </p:cNvPicPr>
          <p:nvPr>
            <p:custDataLst>
              <p:tags r:id="rId2"/>
            </p:custDataLst>
          </p:nvPr>
        </p:nvPicPr>
        <p:blipFill>
          <a:blip r:embed="rId10">
            <a:extLst>
              <a:ext uri="{28A0092B-C50C-407E-A947-70E740481C1C}">
                <a14:useLocalDpi xmlns:a14="http://schemas.microsoft.com/office/drawing/2010/main" val="0"/>
              </a:ext>
            </a:extLst>
          </a:blip>
          <a:srcRect/>
          <a:stretch>
            <a:fillRect/>
          </a:stretch>
        </p:blipFill>
        <p:spPr bwMode="auto">
          <a:xfrm>
            <a:off x="485890" y="279235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Content Placeholder 28">
            <a:extLst>
              <a:ext uri="{FF2B5EF4-FFF2-40B4-BE49-F238E27FC236}">
                <a16:creationId xmlns:a16="http://schemas.microsoft.com/office/drawing/2014/main" id="{1C8CAA40-94A2-4F72-B3FD-9B9E53A7A2F0}"/>
              </a:ext>
            </a:extLst>
          </p:cNvPr>
          <p:cNvSpPr>
            <a:spLocks noGrp="1"/>
          </p:cNvSpPr>
          <p:nvPr>
            <p:ph sz="quarter" idx="15"/>
          </p:nvPr>
        </p:nvSpPr>
        <p:spPr>
          <a:xfrm>
            <a:off x="1046633" y="2734780"/>
            <a:ext cx="203241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a:t>
            </a:r>
            <a:r>
              <a:rPr lang="en-US" sz="2400" noProof="0" dirty="0"/>
              <a:t> Both infinite</a:t>
            </a:r>
          </a:p>
        </p:txBody>
      </p:sp>
      <p:pic>
        <p:nvPicPr>
          <p:cNvPr id="48" name="Picture 1435" descr="Check mark">
            <a:extLst>
              <a:ext uri="{FF2B5EF4-FFF2-40B4-BE49-F238E27FC236}">
                <a16:creationId xmlns:a16="http://schemas.microsoft.com/office/drawing/2014/main" id="{9145C2D9-9FAA-4E81-9C78-C44CB7F404D1}"/>
              </a:ext>
            </a:extLst>
          </p:cNvPr>
          <p:cNvPicPr>
            <a:picLocks noChangeAspect="1"/>
          </p:cNvPicPr>
          <p:nvPr>
            <p:custDataLst>
              <p:tags r:id="rId3"/>
            </p:custDataLst>
          </p:nvPr>
        </p:nvPicPr>
        <p:blipFill>
          <a:blip r:embed="rId11">
            <a:extLst>
              <a:ext uri="{28A0092B-C50C-407E-A947-70E740481C1C}">
                <a14:useLocalDpi xmlns:a14="http://schemas.microsoft.com/office/drawing/2010/main" val="0"/>
              </a:ext>
            </a:extLst>
          </a:blip>
          <a:srcRect/>
          <a:stretch>
            <a:fillRect/>
          </a:stretch>
        </p:blipFill>
        <p:spPr bwMode="auto">
          <a:xfrm>
            <a:off x="485890" y="3301040"/>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Content Placeholder 29">
            <a:extLst>
              <a:ext uri="{FF2B5EF4-FFF2-40B4-BE49-F238E27FC236}">
                <a16:creationId xmlns:a16="http://schemas.microsoft.com/office/drawing/2014/main" id="{CE4863BA-7E97-492E-BC54-CCB67E7D5205}"/>
              </a:ext>
            </a:extLst>
          </p:cNvPr>
          <p:cNvSpPr>
            <a:spLocks noGrp="1"/>
          </p:cNvSpPr>
          <p:nvPr>
            <p:ph sz="quarter" idx="16"/>
          </p:nvPr>
        </p:nvSpPr>
        <p:spPr>
          <a:xfrm>
            <a:off x="1046634" y="3269649"/>
            <a:ext cx="223037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a:t>
            </a:r>
            <a:r>
              <a:rPr lang="en-US" sz="2400" noProof="0" dirty="0"/>
              <a:t> Both zero</a:t>
            </a:r>
          </a:p>
        </p:txBody>
      </p:sp>
      <p:pic>
        <p:nvPicPr>
          <p:cNvPr id="47" name="Picture 1436" descr="Cross mark">
            <a:extLst>
              <a:ext uri="{FF2B5EF4-FFF2-40B4-BE49-F238E27FC236}">
                <a16:creationId xmlns:a16="http://schemas.microsoft.com/office/drawing/2014/main" id="{BC5ECF5C-2FE7-40B7-89EE-20185394DA84}"/>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478031" y="384972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Content Placeholder 30">
            <a:extLst>
              <a:ext uri="{FF2B5EF4-FFF2-40B4-BE49-F238E27FC236}">
                <a16:creationId xmlns:a16="http://schemas.microsoft.com/office/drawing/2014/main" id="{66BDB886-9ABA-4095-88AF-6BB1667EC4D4}"/>
              </a:ext>
            </a:extLst>
          </p:cNvPr>
          <p:cNvSpPr>
            <a:spLocks noGrp="1"/>
          </p:cNvSpPr>
          <p:nvPr>
            <p:ph sz="quarter" idx="17"/>
          </p:nvPr>
        </p:nvSpPr>
        <p:spPr>
          <a:xfrm>
            <a:off x="1046633" y="3822210"/>
            <a:ext cx="2600919" cy="775015"/>
          </a:xfrm>
        </p:spPr>
        <p:txBody>
          <a:bodyPr wrap="square" lIns="0" tIns="18000" rIns="0" bIns="18000" anchor="ctr" anchorCtr="0">
            <a:spAutoFit/>
          </a:bodyPr>
          <a:lstStyle/>
          <a:p>
            <a:pPr marL="392113" indent="-392113">
              <a:spcBef>
                <a:spcPts val="600"/>
              </a:spcBef>
              <a:buNone/>
            </a:pPr>
            <a:r>
              <a:rPr lang="en-US" sz="2400" noProof="0" dirty="0">
                <a:solidFill>
                  <a:srgbClr val="007FA3"/>
                </a:solidFill>
              </a:rPr>
              <a:t>C.</a:t>
            </a:r>
            <a:r>
              <a:rPr lang="en-US" sz="2400" noProof="0" dirty="0"/>
              <a:t> Determined by circuit analysis</a:t>
            </a:r>
          </a:p>
        </p:txBody>
      </p:sp>
      <p:pic>
        <p:nvPicPr>
          <p:cNvPr id="46" name="Picture 1436" descr="Cross mark">
            <a:extLst>
              <a:ext uri="{FF2B5EF4-FFF2-40B4-BE49-F238E27FC236}">
                <a16:creationId xmlns:a16="http://schemas.microsoft.com/office/drawing/2014/main" id="{1B01DF22-BDB6-4C05-BBC3-B3F117A998F8}"/>
              </a:ext>
            </a:extLst>
          </p:cNvPr>
          <p:cNvPicPr>
            <a:picLocks noChangeAspect="1"/>
          </p:cNvPicPr>
          <p:nvPr>
            <p:custDataLst>
              <p:tags r:id="rId5"/>
            </p:custDataLst>
          </p:nvPr>
        </p:nvPicPr>
        <p:blipFill>
          <a:blip r:embed="rId10">
            <a:extLst>
              <a:ext uri="{28A0092B-C50C-407E-A947-70E740481C1C}">
                <a14:useLocalDpi xmlns:a14="http://schemas.microsoft.com/office/drawing/2010/main" val="0"/>
              </a:ext>
            </a:extLst>
          </a:blip>
          <a:srcRect/>
          <a:stretch>
            <a:fillRect/>
          </a:stretch>
        </p:blipFill>
        <p:spPr bwMode="auto">
          <a:xfrm>
            <a:off x="478031" y="4687058"/>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Content Placeholder 31">
            <a:extLst>
              <a:ext uri="{FF2B5EF4-FFF2-40B4-BE49-F238E27FC236}">
                <a16:creationId xmlns:a16="http://schemas.microsoft.com/office/drawing/2014/main" id="{E88B61FA-F76D-46A2-8EE3-E32C1E567D40}"/>
              </a:ext>
            </a:extLst>
          </p:cNvPr>
          <p:cNvSpPr>
            <a:spLocks noGrp="1"/>
          </p:cNvSpPr>
          <p:nvPr>
            <p:ph sz="quarter" idx="18"/>
          </p:nvPr>
        </p:nvSpPr>
        <p:spPr>
          <a:xfrm>
            <a:off x="1046633" y="4687058"/>
            <a:ext cx="203241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a:t>
            </a:r>
            <a:r>
              <a:rPr lang="en-US" sz="2400" noProof="0" dirty="0"/>
              <a:t> Undefined</a:t>
            </a:r>
          </a:p>
        </p:txBody>
      </p:sp>
      <p:pic>
        <p:nvPicPr>
          <p:cNvPr id="50" name="Picture 49" descr="A picture shows the various components and terminals of an operational amplifier. Positive power supply is through the vertical terminal on the top called V superscript + and is connected to the positive terminal of independent voltage source V subscript cc. Negative power supply is through the vertical terminal at the bottom called V superscript - and is connected to the negative terminal of independent voltage source V subscript cc. Current i subscript c+ flows into the operational amplifier through the terminal V superscript +. Current i subscript c- flows into the operational amplifier through the terminal V superscript -. The horizontal terminal marked with a positive sign is the non inverting terminal. The horizontal terminal marked with a negative sign is the inverting terminal. Current i subscript p flows into the operational amplifier through the non inverting terminal. Current i subscript n flows into the operational amplifier through the inverting terminal. Current i subscript o flows into the operational amplifier through the output terminal.">
            <a:extLst>
              <a:ext uri="{FF2B5EF4-FFF2-40B4-BE49-F238E27FC236}">
                <a16:creationId xmlns:a16="http://schemas.microsoft.com/office/drawing/2014/main" id="{989C902F-3908-408F-AF96-56F119612D1B}"/>
              </a:ext>
            </a:extLst>
          </p:cNvPr>
          <p:cNvPicPr>
            <a:picLocks noChangeAspect="1"/>
          </p:cNvPicPr>
          <p:nvPr/>
        </p:nvPicPr>
        <p:blipFill>
          <a:blip r:embed="rId12"/>
          <a:stretch>
            <a:fillRect/>
          </a:stretch>
        </p:blipFill>
        <p:spPr>
          <a:xfrm>
            <a:off x="4763067" y="2835158"/>
            <a:ext cx="3650485" cy="2394803"/>
          </a:xfrm>
          <a:prstGeom prst="rect">
            <a:avLst/>
          </a:prstGeom>
        </p:spPr>
      </p:pic>
    </p:spTree>
    <p:extLst>
      <p:ext uri="{BB962C8B-B14F-4D97-AF65-F5344CB8AC3E}">
        <p14:creationId xmlns:p14="http://schemas.microsoft.com/office/powerpoint/2010/main" val="2040914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919" y="207792"/>
            <a:ext cx="8242006" cy="590349"/>
          </a:xfrm>
        </p:spPr>
        <p:txBody>
          <a:bodyPr wrap="square" tIns="18000" bIns="18000" anchor="ctr" anchorCtr="0">
            <a:spAutoFit/>
          </a:bodyPr>
          <a:lstStyle/>
          <a:p>
            <a:r>
              <a:rPr lang="en-US" noProof="0" dirty="0"/>
              <a:t>Chapter 5 – Op Amps </a:t>
            </a:r>
            <a:r>
              <a:rPr lang="en-US" sz="2800" noProof="0" dirty="0"/>
              <a:t>(14 of 22)</a:t>
            </a:r>
            <a:endParaRPr lang="en-US" noProof="0" dirty="0"/>
          </a:p>
        </p:txBody>
      </p:sp>
      <p:sp>
        <p:nvSpPr>
          <p:cNvPr id="4" name="Content Placeholder 3">
            <a:extLst>
              <a:ext uri="{FF2B5EF4-FFF2-40B4-BE49-F238E27FC236}">
                <a16:creationId xmlns:a16="http://schemas.microsoft.com/office/drawing/2014/main" id="{0DF45FBB-328C-49CD-B455-DFD871B50961}"/>
              </a:ext>
            </a:extLst>
          </p:cNvPr>
          <p:cNvSpPr>
            <a:spLocks noGrp="1"/>
          </p:cNvSpPr>
          <p:nvPr>
            <p:ph sz="quarter" idx="12"/>
          </p:nvPr>
        </p:nvSpPr>
        <p:spPr>
          <a:xfrm>
            <a:off x="428919" y="1059017"/>
            <a:ext cx="8242006" cy="1144347"/>
          </a:xfrm>
        </p:spPr>
        <p:txBody>
          <a:bodyPr wrap="square" lIns="0" tIns="18000" rIns="0" bIns="18000" anchor="ctr" anchorCtr="0">
            <a:spAutoFit/>
          </a:bodyPr>
          <a:lstStyle/>
          <a:p>
            <a:pPr marL="0" indent="0">
              <a:spcBef>
                <a:spcPts val="600"/>
              </a:spcBef>
              <a:buNone/>
            </a:pPr>
            <a:r>
              <a:rPr lang="en-US" sz="2400" noProof="0" dirty="0"/>
              <a:t>We usually assume the op amp is ideal and operating in its linear region. This allows us to make two important assumptions that simplify the circuit analysis:</a:t>
            </a:r>
          </a:p>
        </p:txBody>
      </p:sp>
      <p:sp>
        <p:nvSpPr>
          <p:cNvPr id="5" name="Content Placeholder 4">
            <a:extLst>
              <a:ext uri="{FF2B5EF4-FFF2-40B4-BE49-F238E27FC236}">
                <a16:creationId xmlns:a16="http://schemas.microsoft.com/office/drawing/2014/main" id="{35392F7F-F9B6-41D9-93ED-C158B056014D}"/>
              </a:ext>
            </a:extLst>
          </p:cNvPr>
          <p:cNvSpPr>
            <a:spLocks noGrp="1"/>
          </p:cNvSpPr>
          <p:nvPr>
            <p:ph sz="quarter" idx="13"/>
          </p:nvPr>
        </p:nvSpPr>
        <p:spPr>
          <a:xfrm>
            <a:off x="428919" y="2352706"/>
            <a:ext cx="8242006" cy="775015"/>
          </a:xfrm>
        </p:spPr>
        <p:txBody>
          <a:bodyPr wrap="square" lIns="0" tIns="18000" rIns="0" bIns="18000" anchor="ctr" anchorCtr="0">
            <a:spAutoFit/>
          </a:bodyPr>
          <a:lstStyle/>
          <a:p>
            <a:pPr marL="342900" indent="-342900">
              <a:spcBef>
                <a:spcPts val="600"/>
              </a:spcBef>
            </a:pPr>
            <a:r>
              <a:rPr lang="en-US" sz="2400" noProof="0" dirty="0"/>
              <a:t>The voltages at the inverting and non-inverting input terminals are the same with respect to a common</a:t>
            </a:r>
          </a:p>
        </p:txBody>
      </p:sp>
      <p:sp>
        <p:nvSpPr>
          <p:cNvPr id="6" name="Content Placeholder 5">
            <a:extLst>
              <a:ext uri="{FF2B5EF4-FFF2-40B4-BE49-F238E27FC236}">
                <a16:creationId xmlns:a16="http://schemas.microsoft.com/office/drawing/2014/main" id="{6267C3E9-8C40-450E-9F33-D9B2B6B8060B}"/>
              </a:ext>
            </a:extLst>
          </p:cNvPr>
          <p:cNvSpPr>
            <a:spLocks noGrp="1"/>
          </p:cNvSpPr>
          <p:nvPr>
            <p:ph sz="quarter" idx="14"/>
          </p:nvPr>
        </p:nvSpPr>
        <p:spPr>
          <a:xfrm>
            <a:off x="768285" y="3193909"/>
            <a:ext cx="3266388" cy="405683"/>
          </a:xfrm>
        </p:spPr>
        <p:txBody>
          <a:bodyPr wrap="square" lIns="0" tIns="18000" rIns="0" bIns="18000" anchor="ctr" anchorCtr="0">
            <a:spAutoFit/>
          </a:bodyPr>
          <a:lstStyle/>
          <a:p>
            <a:pPr marL="0" indent="0">
              <a:spcBef>
                <a:spcPts val="600"/>
              </a:spcBef>
              <a:buNone/>
            </a:pPr>
            <a:r>
              <a:rPr lang="en-US" sz="2400" noProof="0" dirty="0"/>
              <a:t>reference node. That is, </a:t>
            </a:r>
          </a:p>
        </p:txBody>
      </p:sp>
      <p:graphicFrame>
        <p:nvGraphicFramePr>
          <p:cNvPr id="22" name="Object 21" descr="v subscript p BaseLine equals v subscript n BaseLine.">
            <a:extLst>
              <a:ext uri="{FF2B5EF4-FFF2-40B4-BE49-F238E27FC236}">
                <a16:creationId xmlns:a16="http://schemas.microsoft.com/office/drawing/2014/main" id="{8371AD1A-3E04-418B-9659-9B1758211E87}"/>
              </a:ext>
            </a:extLst>
          </p:cNvPr>
          <p:cNvGraphicFramePr>
            <a:graphicFrameLocks noChangeAspect="1"/>
          </p:cNvGraphicFramePr>
          <p:nvPr>
            <p:extLst>
              <p:ext uri="{D42A27DB-BD31-4B8C-83A1-F6EECF244321}">
                <p14:modId xmlns:p14="http://schemas.microsoft.com/office/powerpoint/2010/main" val="3568885586"/>
              </p:ext>
            </p:extLst>
          </p:nvPr>
        </p:nvGraphicFramePr>
        <p:xfrm>
          <a:off x="4140200" y="3189288"/>
          <a:ext cx="1025525" cy="508000"/>
        </p:xfrm>
        <a:graphic>
          <a:graphicData uri="http://schemas.openxmlformats.org/presentationml/2006/ole">
            <mc:AlternateContent xmlns:mc="http://schemas.openxmlformats.org/markup-compatibility/2006">
              <mc:Choice xmlns:v="urn:schemas-microsoft-com:vml" Requires="v">
                <p:oleObj spid="_x0000_s10242" name="Equation" r:id="rId3" imgW="482400" imgH="241200" progId="Equation.DSMT4">
                  <p:embed/>
                </p:oleObj>
              </mc:Choice>
              <mc:Fallback>
                <p:oleObj name="Equation" r:id="rId3" imgW="482400" imgH="241200" progId="Equation.DSMT4">
                  <p:embed/>
                  <p:pic>
                    <p:nvPicPr>
                      <p:cNvPr id="2" name="Object 1">
                        <a:extLst>
                          <a:ext uri="{FF2B5EF4-FFF2-40B4-BE49-F238E27FC236}">
                            <a16:creationId xmlns:a16="http://schemas.microsoft.com/office/drawing/2014/main" id="{93BCC899-A81F-D4C8-3F00-F9E788765518}"/>
                          </a:ext>
                        </a:extLst>
                      </p:cNvPr>
                      <p:cNvPicPr>
                        <a:picLocks noChangeAspect="1" noChangeArrowheads="1"/>
                      </p:cNvPicPr>
                      <p:nvPr/>
                    </p:nvPicPr>
                    <p:blipFill>
                      <a:blip r:embed="rId4"/>
                      <a:srcRect/>
                      <a:stretch>
                        <a:fillRect/>
                      </a:stretch>
                    </p:blipFill>
                    <p:spPr bwMode="auto">
                      <a:xfrm>
                        <a:off x="4140200" y="3189288"/>
                        <a:ext cx="1025525" cy="508000"/>
                      </a:xfrm>
                      <a:prstGeom prst="rect">
                        <a:avLst/>
                      </a:prstGeom>
                      <a:noFill/>
                      <a:ln w="38100">
                        <a:noFill/>
                        <a:miter lim="800000"/>
                        <a:headEnd/>
                        <a:tailEnd/>
                      </a:ln>
                    </p:spPr>
                  </p:pic>
                </p:oleObj>
              </mc:Fallback>
            </mc:AlternateContent>
          </a:graphicData>
        </a:graphic>
      </p:graphicFrame>
      <p:sp>
        <p:nvSpPr>
          <p:cNvPr id="7" name="Content Placeholder 6">
            <a:extLst>
              <a:ext uri="{FF2B5EF4-FFF2-40B4-BE49-F238E27FC236}">
                <a16:creationId xmlns:a16="http://schemas.microsoft.com/office/drawing/2014/main" id="{5F4A0CE5-EDAF-4C1B-AB1A-970ADF710ED9}"/>
              </a:ext>
            </a:extLst>
          </p:cNvPr>
          <p:cNvSpPr>
            <a:spLocks noGrp="1"/>
          </p:cNvSpPr>
          <p:nvPr>
            <p:ph sz="quarter" idx="15"/>
          </p:nvPr>
        </p:nvSpPr>
        <p:spPr>
          <a:xfrm>
            <a:off x="428919" y="3812738"/>
            <a:ext cx="8242006" cy="405683"/>
          </a:xfrm>
        </p:spPr>
        <p:txBody>
          <a:bodyPr wrap="square" lIns="0" tIns="18000" rIns="0" bIns="18000" anchor="ctr" anchorCtr="0">
            <a:spAutoFit/>
          </a:bodyPr>
          <a:lstStyle/>
          <a:p>
            <a:pPr marL="342900" indent="-342900">
              <a:spcBef>
                <a:spcPts val="600"/>
              </a:spcBef>
            </a:pPr>
            <a:r>
              <a:rPr lang="en-US" sz="2400" noProof="0" dirty="0"/>
              <a:t>The currents entering the inverting and non-inverting input </a:t>
            </a:r>
          </a:p>
        </p:txBody>
      </p:sp>
      <p:sp>
        <p:nvSpPr>
          <p:cNvPr id="8" name="Content Placeholder 7">
            <a:extLst>
              <a:ext uri="{FF2B5EF4-FFF2-40B4-BE49-F238E27FC236}">
                <a16:creationId xmlns:a16="http://schemas.microsoft.com/office/drawing/2014/main" id="{8174C5D8-3456-46DE-81F9-CD57004CF06B}"/>
              </a:ext>
            </a:extLst>
          </p:cNvPr>
          <p:cNvSpPr>
            <a:spLocks noGrp="1"/>
          </p:cNvSpPr>
          <p:nvPr>
            <p:ph sz="quarter" idx="16"/>
          </p:nvPr>
        </p:nvSpPr>
        <p:spPr>
          <a:xfrm>
            <a:off x="768287" y="4309900"/>
            <a:ext cx="4366596" cy="405683"/>
          </a:xfrm>
        </p:spPr>
        <p:txBody>
          <a:bodyPr wrap="square" lIns="0" tIns="18000" rIns="0" bIns="18000" anchor="ctr" anchorCtr="0">
            <a:spAutoFit/>
          </a:bodyPr>
          <a:lstStyle/>
          <a:p>
            <a:pPr marL="0" indent="0">
              <a:spcBef>
                <a:spcPts val="600"/>
              </a:spcBef>
              <a:buNone/>
            </a:pPr>
            <a:r>
              <a:rPr lang="en-US" altLang="en-US" sz="2400" noProof="0" dirty="0"/>
              <a:t>terminals are both zero. That is,</a:t>
            </a:r>
            <a:endParaRPr lang="en-US" sz="2400" noProof="0" dirty="0"/>
          </a:p>
        </p:txBody>
      </p:sp>
      <p:graphicFrame>
        <p:nvGraphicFramePr>
          <p:cNvPr id="23" name="Object 22" descr="i subscript p BaseLine equals i subscript n BaseLine equals 0.">
            <a:extLst>
              <a:ext uri="{FF2B5EF4-FFF2-40B4-BE49-F238E27FC236}">
                <a16:creationId xmlns:a16="http://schemas.microsoft.com/office/drawing/2014/main" id="{0FD7C862-AD19-4BF6-A06F-9396F7A987F9}"/>
              </a:ext>
            </a:extLst>
          </p:cNvPr>
          <p:cNvGraphicFramePr>
            <a:graphicFrameLocks noChangeAspect="1"/>
          </p:cNvGraphicFramePr>
          <p:nvPr>
            <p:extLst>
              <p:ext uri="{D42A27DB-BD31-4B8C-83A1-F6EECF244321}">
                <p14:modId xmlns:p14="http://schemas.microsoft.com/office/powerpoint/2010/main" val="3969061965"/>
              </p:ext>
            </p:extLst>
          </p:nvPr>
        </p:nvGraphicFramePr>
        <p:xfrm>
          <a:off x="5212215" y="4304097"/>
          <a:ext cx="1209183" cy="473091"/>
        </p:xfrm>
        <a:graphic>
          <a:graphicData uri="http://schemas.openxmlformats.org/presentationml/2006/ole">
            <mc:AlternateContent xmlns:mc="http://schemas.openxmlformats.org/markup-compatibility/2006">
              <mc:Choice xmlns:v="urn:schemas-microsoft-com:vml" Requires="v">
                <p:oleObj spid="_x0000_s10243" name="Equation" r:id="rId5" imgW="609480" imgH="241200" progId="Equation.DSMT4">
                  <p:embed/>
                </p:oleObj>
              </mc:Choice>
              <mc:Fallback>
                <p:oleObj name="Equation" r:id="rId5" imgW="609480" imgH="241200" progId="Equation.DSMT4">
                  <p:embed/>
                  <p:pic>
                    <p:nvPicPr>
                      <p:cNvPr id="22" name="Object 21">
                        <a:extLst>
                          <a:ext uri="{FF2B5EF4-FFF2-40B4-BE49-F238E27FC236}">
                            <a16:creationId xmlns:a16="http://schemas.microsoft.com/office/drawing/2014/main" id="{8371AD1A-3E04-418B-9659-9B1758211E87}"/>
                          </a:ext>
                        </a:extLst>
                      </p:cNvPr>
                      <p:cNvPicPr>
                        <a:picLocks noChangeAspect="1" noChangeArrowheads="1"/>
                      </p:cNvPicPr>
                      <p:nvPr/>
                    </p:nvPicPr>
                    <p:blipFill>
                      <a:blip r:embed="rId6"/>
                      <a:srcRect/>
                      <a:stretch>
                        <a:fillRect/>
                      </a:stretch>
                    </p:blipFill>
                    <p:spPr bwMode="auto">
                      <a:xfrm>
                        <a:off x="5212215" y="4304097"/>
                        <a:ext cx="1209183" cy="473091"/>
                      </a:xfrm>
                      <a:prstGeom prst="rect">
                        <a:avLst/>
                      </a:prstGeom>
                      <a:noFill/>
                      <a:ln w="38100">
                        <a:noFill/>
                        <a:miter lim="800000"/>
                        <a:headEnd/>
                        <a:tailEnd/>
                      </a:ln>
                    </p:spPr>
                  </p:pic>
                </p:oleObj>
              </mc:Fallback>
            </mc:AlternateContent>
          </a:graphicData>
        </a:graphic>
      </p:graphicFrame>
    </p:spTree>
    <p:extLst>
      <p:ext uri="{BB962C8B-B14F-4D97-AF65-F5344CB8AC3E}">
        <p14:creationId xmlns:p14="http://schemas.microsoft.com/office/powerpoint/2010/main" val="1549112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400" y="208800"/>
            <a:ext cx="8240620" cy="590349"/>
          </a:xfrm>
        </p:spPr>
        <p:txBody>
          <a:bodyPr wrap="square" tIns="18000" bIns="18000" anchor="ctr" anchorCtr="0">
            <a:spAutoFit/>
          </a:bodyPr>
          <a:lstStyle/>
          <a:p>
            <a:r>
              <a:rPr lang="en-US" noProof="0" dirty="0"/>
              <a:t>Chapter 5 – Op Amps </a:t>
            </a:r>
            <a:r>
              <a:rPr lang="en-US" sz="2800" noProof="0" dirty="0"/>
              <a:t>(15 of 22)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35759" y="1048586"/>
            <a:ext cx="8240620" cy="4037447"/>
          </a:xfrm>
        </p:spPr>
        <p:txBody>
          <a:bodyPr wrap="square" lIns="0" tIns="18000" rIns="0" bIns="18000" anchor="ctr" anchorCtr="0">
            <a:spAutoFit/>
          </a:bodyPr>
          <a:lstStyle/>
          <a:p>
            <a:pPr marL="0" indent="0">
              <a:spcBef>
                <a:spcPts val="600"/>
              </a:spcBef>
              <a:buNone/>
            </a:pPr>
            <a:r>
              <a:rPr lang="en-US" sz="2400" noProof="0" dirty="0"/>
              <a:t>The analysis method for circuits with ideal op amps:</a:t>
            </a:r>
          </a:p>
          <a:p>
            <a:pPr marL="342900" indent="-342900">
              <a:spcBef>
                <a:spcPts val="600"/>
              </a:spcBef>
            </a:pPr>
            <a:r>
              <a:rPr lang="en-US" sz="2400" noProof="0" dirty="0"/>
              <a:t>Step 1 – Check for a negative feedback path. If it exists, assume the op amp operates in its linear region.</a:t>
            </a:r>
          </a:p>
          <a:p>
            <a:pPr marL="342900" indent="-342900">
              <a:spcBef>
                <a:spcPts val="600"/>
              </a:spcBef>
            </a:pPr>
            <a:r>
              <a:rPr lang="en-US" sz="2400" noProof="0" dirty="0"/>
              <a:t>Step 2 – Write a </a:t>
            </a:r>
            <a:r>
              <a:rPr lang="en-US" sz="2400" spc="-300" noProof="0" dirty="0"/>
              <a:t>K C </a:t>
            </a:r>
            <a:r>
              <a:rPr lang="en-US" sz="2400" noProof="0" dirty="0"/>
              <a:t>L equation at the inverting input terminal.</a:t>
            </a:r>
          </a:p>
          <a:p>
            <a:pPr marL="342900" indent="-342900">
              <a:spcBef>
                <a:spcPts val="600"/>
              </a:spcBef>
            </a:pPr>
            <a:r>
              <a:rPr lang="en-US" sz="2400" noProof="0" dirty="0"/>
              <a:t>Step 3 – Solve the </a:t>
            </a:r>
            <a:r>
              <a:rPr lang="en-US" sz="2400" spc="-300" noProof="0" dirty="0"/>
              <a:t>K C </a:t>
            </a:r>
            <a:r>
              <a:rPr lang="en-US" sz="2400" noProof="0" dirty="0"/>
              <a:t>L equation and use the solution to find the op amp’s output voltage.</a:t>
            </a:r>
          </a:p>
          <a:p>
            <a:pPr marL="342900" indent="-342900">
              <a:spcBef>
                <a:spcPts val="600"/>
              </a:spcBef>
            </a:pPr>
            <a:r>
              <a:rPr lang="en-US" sz="2400" noProof="0" dirty="0"/>
              <a:t>Step 4 – Compare the op amp’s output voltage to the power supply voltages to determine if the op amp is operating in its linear region or if it is saturated.</a:t>
            </a:r>
          </a:p>
        </p:txBody>
      </p:sp>
    </p:spTree>
    <p:extLst>
      <p:ext uri="{BB962C8B-B14F-4D97-AF65-F5344CB8AC3E}">
        <p14:creationId xmlns:p14="http://schemas.microsoft.com/office/powerpoint/2010/main" val="4158021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919" y="207791"/>
            <a:ext cx="8229600" cy="590349"/>
          </a:xfrm>
        </p:spPr>
        <p:txBody>
          <a:bodyPr wrap="square" lIns="0" tIns="18000" rIns="0" bIns="18000" anchor="ctr" anchorCtr="0">
            <a:spAutoFit/>
          </a:bodyPr>
          <a:lstStyle/>
          <a:p>
            <a:r>
              <a:rPr lang="en-US" noProof="0" dirty="0"/>
              <a:t>Chapter 5 – Op Amps </a:t>
            </a:r>
            <a:r>
              <a:rPr lang="en-US" sz="2800" noProof="0" dirty="0"/>
              <a:t>(16 of 22)</a:t>
            </a:r>
            <a:endParaRPr lang="en-US" noProof="0" dirty="0"/>
          </a:p>
        </p:txBody>
      </p:sp>
      <p:sp>
        <p:nvSpPr>
          <p:cNvPr id="4" name="Content Placeholder 3">
            <a:extLst>
              <a:ext uri="{FF2B5EF4-FFF2-40B4-BE49-F238E27FC236}">
                <a16:creationId xmlns:a16="http://schemas.microsoft.com/office/drawing/2014/main" id="{0DF45FBB-328C-49CD-B455-DFD871B50961}"/>
              </a:ext>
            </a:extLst>
          </p:cNvPr>
          <p:cNvSpPr>
            <a:spLocks noGrp="1"/>
          </p:cNvSpPr>
          <p:nvPr>
            <p:ph sz="quarter" idx="12"/>
          </p:nvPr>
        </p:nvSpPr>
        <p:spPr>
          <a:xfrm>
            <a:off x="428920" y="1025491"/>
            <a:ext cx="1010728" cy="344128"/>
          </a:xfrm>
        </p:spPr>
        <p:txBody>
          <a:bodyPr wrap="square" lIns="0" tIns="18000" rIns="0" bIns="18000" anchor="ctr" anchorCtr="0">
            <a:spAutoFit/>
          </a:bodyPr>
          <a:lstStyle/>
          <a:p>
            <a:pPr marL="0" indent="0">
              <a:spcBef>
                <a:spcPts val="600"/>
              </a:spcBef>
              <a:buNone/>
            </a:pPr>
            <a:r>
              <a:rPr lang="en-US" altLang="en-US" sz="2000" noProof="0" dirty="0"/>
              <a:t>Example</a:t>
            </a:r>
            <a:endParaRPr lang="en-US" sz="2000" noProof="0" dirty="0"/>
          </a:p>
        </p:txBody>
      </p:sp>
      <p:sp>
        <p:nvSpPr>
          <p:cNvPr id="5" name="Content Placeholder 4">
            <a:extLst>
              <a:ext uri="{FF2B5EF4-FFF2-40B4-BE49-F238E27FC236}">
                <a16:creationId xmlns:a16="http://schemas.microsoft.com/office/drawing/2014/main" id="{35392F7F-F9B6-41D9-93ED-C158B056014D}"/>
              </a:ext>
            </a:extLst>
          </p:cNvPr>
          <p:cNvSpPr>
            <a:spLocks noGrp="1"/>
          </p:cNvSpPr>
          <p:nvPr>
            <p:ph sz="quarter" idx="13"/>
          </p:nvPr>
        </p:nvSpPr>
        <p:spPr>
          <a:xfrm>
            <a:off x="428920" y="1474636"/>
            <a:ext cx="605116" cy="344128"/>
          </a:xfrm>
        </p:spPr>
        <p:txBody>
          <a:bodyPr wrap="square" lIns="0" tIns="18000" rIns="0" bIns="18000" anchor="ctr" anchorCtr="0">
            <a:spAutoFit/>
          </a:bodyPr>
          <a:lstStyle/>
          <a:p>
            <a:pPr marL="0" indent="0">
              <a:spcBef>
                <a:spcPts val="600"/>
              </a:spcBef>
              <a:buNone/>
            </a:pPr>
            <a:r>
              <a:rPr lang="en-US" sz="2000" noProof="0" dirty="0"/>
              <a:t>Find</a:t>
            </a:r>
          </a:p>
        </p:txBody>
      </p:sp>
      <p:graphicFrame>
        <p:nvGraphicFramePr>
          <p:cNvPr id="33" name="Object 32" descr="V subscript O.">
            <a:extLst>
              <a:ext uri="{FF2B5EF4-FFF2-40B4-BE49-F238E27FC236}">
                <a16:creationId xmlns:a16="http://schemas.microsoft.com/office/drawing/2014/main" id="{9BEFD340-D62B-4F10-BCEE-0E9F4550A179}"/>
              </a:ext>
            </a:extLst>
          </p:cNvPr>
          <p:cNvGraphicFramePr>
            <a:graphicFrameLocks noChangeAspect="1"/>
          </p:cNvGraphicFramePr>
          <p:nvPr>
            <p:extLst>
              <p:ext uri="{D42A27DB-BD31-4B8C-83A1-F6EECF244321}">
                <p14:modId xmlns:p14="http://schemas.microsoft.com/office/powerpoint/2010/main" val="248690349"/>
              </p:ext>
            </p:extLst>
          </p:nvPr>
        </p:nvGraphicFramePr>
        <p:xfrm>
          <a:off x="1026815" y="1457895"/>
          <a:ext cx="355928" cy="453136"/>
        </p:xfrm>
        <a:graphic>
          <a:graphicData uri="http://schemas.openxmlformats.org/presentationml/2006/ole">
            <mc:AlternateContent xmlns:mc="http://schemas.openxmlformats.org/markup-compatibility/2006">
              <mc:Choice xmlns:v="urn:schemas-microsoft-com:vml" Requires="v">
                <p:oleObj spid="_x0000_s11266" name="Equation" r:id="rId3" imgW="177480" imgH="228600" progId="Equation.DSMT4">
                  <p:embed/>
                </p:oleObj>
              </mc:Choice>
              <mc:Fallback>
                <p:oleObj name="Equation" r:id="rId3" imgW="177480" imgH="228600" progId="Equation.DSMT4">
                  <p:embed/>
                  <p:pic>
                    <p:nvPicPr>
                      <p:cNvPr id="32" name="Object 31">
                        <a:extLst>
                          <a:ext uri="{FF2B5EF4-FFF2-40B4-BE49-F238E27FC236}">
                            <a16:creationId xmlns:a16="http://schemas.microsoft.com/office/drawing/2014/main" id="{9A9A33C2-B431-4187-A9ED-158C5B3796EF}"/>
                          </a:ext>
                        </a:extLst>
                      </p:cNvPr>
                      <p:cNvPicPr>
                        <a:picLocks noChangeAspect="1" noChangeArrowheads="1"/>
                      </p:cNvPicPr>
                      <p:nvPr/>
                    </p:nvPicPr>
                    <p:blipFill>
                      <a:blip r:embed="rId4"/>
                      <a:srcRect/>
                      <a:stretch>
                        <a:fillRect/>
                      </a:stretch>
                    </p:blipFill>
                    <p:spPr bwMode="auto">
                      <a:xfrm>
                        <a:off x="1026815" y="1457895"/>
                        <a:ext cx="355928" cy="453136"/>
                      </a:xfrm>
                      <a:prstGeom prst="rect">
                        <a:avLst/>
                      </a:prstGeom>
                      <a:noFill/>
                      <a:ln w="38100">
                        <a:noFill/>
                        <a:miter lim="800000"/>
                        <a:headEnd/>
                        <a:tailEnd/>
                      </a:ln>
                    </p:spPr>
                  </p:pic>
                </p:oleObj>
              </mc:Fallback>
            </mc:AlternateContent>
          </a:graphicData>
        </a:graphic>
      </p:graphicFrame>
      <p:sp>
        <p:nvSpPr>
          <p:cNvPr id="6" name="Content Placeholder 5">
            <a:extLst>
              <a:ext uri="{FF2B5EF4-FFF2-40B4-BE49-F238E27FC236}">
                <a16:creationId xmlns:a16="http://schemas.microsoft.com/office/drawing/2014/main" id="{6267C3E9-8C40-450E-9F33-D9B2B6B8060B}"/>
              </a:ext>
            </a:extLst>
          </p:cNvPr>
          <p:cNvSpPr>
            <a:spLocks noGrp="1"/>
          </p:cNvSpPr>
          <p:nvPr>
            <p:ph sz="quarter" idx="14"/>
          </p:nvPr>
        </p:nvSpPr>
        <p:spPr>
          <a:xfrm>
            <a:off x="1439647" y="1503211"/>
            <a:ext cx="390231" cy="344128"/>
          </a:xfrm>
        </p:spPr>
        <p:txBody>
          <a:bodyPr wrap="square" lIns="0" tIns="18000" rIns="0" bIns="18000" anchor="ctr" anchorCtr="0">
            <a:spAutoFit/>
          </a:bodyPr>
          <a:lstStyle/>
          <a:p>
            <a:pPr marL="0" indent="0">
              <a:spcBef>
                <a:spcPts val="600"/>
              </a:spcBef>
              <a:buNone/>
            </a:pPr>
            <a:r>
              <a:rPr lang="en-US" sz="2000" noProof="0" dirty="0"/>
              <a:t>for</a:t>
            </a:r>
          </a:p>
        </p:txBody>
      </p:sp>
      <p:graphicFrame>
        <p:nvGraphicFramePr>
          <p:cNvPr id="34" name="Object 33" descr="v subscript s BaseLine equals 0.4 Volts, 2.0 Volts, 3.5 Volts, negative 0.6 Volts, negative 1.6 Volts,">
            <a:extLst>
              <a:ext uri="{FF2B5EF4-FFF2-40B4-BE49-F238E27FC236}">
                <a16:creationId xmlns:a16="http://schemas.microsoft.com/office/drawing/2014/main" id="{86238EC7-F9FF-4E7B-ABCA-C8DAA2C7725A}"/>
              </a:ext>
            </a:extLst>
          </p:cNvPr>
          <p:cNvGraphicFramePr>
            <a:graphicFrameLocks noChangeAspect="1"/>
          </p:cNvGraphicFramePr>
          <p:nvPr>
            <p:extLst>
              <p:ext uri="{D42A27DB-BD31-4B8C-83A1-F6EECF244321}">
                <p14:modId xmlns:p14="http://schemas.microsoft.com/office/powerpoint/2010/main" val="2823138214"/>
              </p:ext>
            </p:extLst>
          </p:nvPr>
        </p:nvGraphicFramePr>
        <p:xfrm>
          <a:off x="1933143" y="1524000"/>
          <a:ext cx="4105275" cy="360363"/>
        </p:xfrm>
        <a:graphic>
          <a:graphicData uri="http://schemas.openxmlformats.org/presentationml/2006/ole">
            <mc:AlternateContent xmlns:mc="http://schemas.openxmlformats.org/markup-compatibility/2006">
              <mc:Choice xmlns:v="urn:schemas-microsoft-com:vml" Requires="v">
                <p:oleObj spid="_x0000_s11267" name="Equation" r:id="rId5" imgW="2577960" imgH="228600" progId="Equation.DSMT4">
                  <p:embed/>
                </p:oleObj>
              </mc:Choice>
              <mc:Fallback>
                <p:oleObj name="Equation" r:id="rId5" imgW="2577960" imgH="228600" progId="Equation.DSMT4">
                  <p:embed/>
                  <p:pic>
                    <p:nvPicPr>
                      <p:cNvPr id="33" name="Object 32">
                        <a:extLst>
                          <a:ext uri="{FF2B5EF4-FFF2-40B4-BE49-F238E27FC236}">
                            <a16:creationId xmlns:a16="http://schemas.microsoft.com/office/drawing/2014/main" id="{9BEFD340-D62B-4F10-BCEE-0E9F4550A179}"/>
                          </a:ext>
                        </a:extLst>
                      </p:cNvPr>
                      <p:cNvPicPr>
                        <a:picLocks noChangeAspect="1" noChangeArrowheads="1"/>
                      </p:cNvPicPr>
                      <p:nvPr/>
                    </p:nvPicPr>
                    <p:blipFill>
                      <a:blip r:embed="rId6"/>
                      <a:srcRect/>
                      <a:stretch>
                        <a:fillRect/>
                      </a:stretch>
                    </p:blipFill>
                    <p:spPr bwMode="auto">
                      <a:xfrm>
                        <a:off x="1933143" y="1524000"/>
                        <a:ext cx="4105275" cy="360363"/>
                      </a:xfrm>
                      <a:prstGeom prst="rect">
                        <a:avLst/>
                      </a:prstGeom>
                      <a:noFill/>
                      <a:ln w="38100">
                        <a:noFill/>
                        <a:miter lim="800000"/>
                        <a:headEnd/>
                        <a:tailEnd/>
                      </a:ln>
                    </p:spPr>
                  </p:pic>
                </p:oleObj>
              </mc:Fallback>
            </mc:AlternateContent>
          </a:graphicData>
        </a:graphic>
      </p:graphicFrame>
      <p:sp>
        <p:nvSpPr>
          <p:cNvPr id="15" name="Content Placeholder 14">
            <a:extLst>
              <a:ext uri="{FF2B5EF4-FFF2-40B4-BE49-F238E27FC236}">
                <a16:creationId xmlns:a16="http://schemas.microsoft.com/office/drawing/2014/main" id="{8632FC9B-454F-49B3-B01F-269DFD4E753B}"/>
              </a:ext>
            </a:extLst>
          </p:cNvPr>
          <p:cNvSpPr>
            <a:spLocks noGrp="1"/>
          </p:cNvSpPr>
          <p:nvPr>
            <p:ph sz="quarter" idx="15"/>
          </p:nvPr>
        </p:nvSpPr>
        <p:spPr>
          <a:xfrm>
            <a:off x="6160152" y="1522261"/>
            <a:ext cx="523580" cy="344128"/>
          </a:xfrm>
        </p:spPr>
        <p:txBody>
          <a:bodyPr wrap="square" lIns="0" tIns="18000" rIns="0" bIns="18000" anchor="ctr" anchorCtr="0">
            <a:spAutoFit/>
          </a:bodyPr>
          <a:lstStyle/>
          <a:p>
            <a:pPr marL="0" indent="0">
              <a:buNone/>
            </a:pPr>
            <a:r>
              <a:rPr lang="en-US" sz="2000" noProof="0" dirty="0"/>
              <a:t>and</a:t>
            </a:r>
          </a:p>
        </p:txBody>
      </p:sp>
      <p:graphicFrame>
        <p:nvGraphicFramePr>
          <p:cNvPr id="37" name="Object 36" descr="Negative 2.4 Volts.">
            <a:extLst>
              <a:ext uri="{FF2B5EF4-FFF2-40B4-BE49-F238E27FC236}">
                <a16:creationId xmlns:a16="http://schemas.microsoft.com/office/drawing/2014/main" id="{5251BD99-960C-44BF-A8B8-63D7529940B3}"/>
              </a:ext>
            </a:extLst>
          </p:cNvPr>
          <p:cNvGraphicFramePr>
            <a:graphicFrameLocks noChangeAspect="1"/>
          </p:cNvGraphicFramePr>
          <p:nvPr>
            <p:extLst>
              <p:ext uri="{D42A27DB-BD31-4B8C-83A1-F6EECF244321}">
                <p14:modId xmlns:p14="http://schemas.microsoft.com/office/powerpoint/2010/main" val="2328724172"/>
              </p:ext>
            </p:extLst>
          </p:nvPr>
        </p:nvGraphicFramePr>
        <p:xfrm>
          <a:off x="6799853" y="1558460"/>
          <a:ext cx="801420" cy="316316"/>
        </p:xfrm>
        <a:graphic>
          <a:graphicData uri="http://schemas.openxmlformats.org/presentationml/2006/ole">
            <mc:AlternateContent xmlns:mc="http://schemas.openxmlformats.org/markup-compatibility/2006">
              <mc:Choice xmlns:v="urn:schemas-microsoft-com:vml" Requires="v">
                <p:oleObj spid="_x0000_s11268" name="Equation" r:id="rId7" imgW="507960" imgH="203040" progId="Equation.DSMT4">
                  <p:embed/>
                </p:oleObj>
              </mc:Choice>
              <mc:Fallback>
                <p:oleObj name="Equation" r:id="rId7" imgW="507960" imgH="203040" progId="Equation.DSMT4">
                  <p:embed/>
                  <p:pic>
                    <p:nvPicPr>
                      <p:cNvPr id="34" name="Object 33">
                        <a:extLst>
                          <a:ext uri="{FF2B5EF4-FFF2-40B4-BE49-F238E27FC236}">
                            <a16:creationId xmlns:a16="http://schemas.microsoft.com/office/drawing/2014/main" id="{86238EC7-F9FF-4E7B-ABCA-C8DAA2C7725A}"/>
                          </a:ext>
                        </a:extLst>
                      </p:cNvPr>
                      <p:cNvPicPr>
                        <a:picLocks noChangeAspect="1" noChangeArrowheads="1"/>
                      </p:cNvPicPr>
                      <p:nvPr/>
                    </p:nvPicPr>
                    <p:blipFill>
                      <a:blip r:embed="rId8"/>
                      <a:srcRect/>
                      <a:stretch>
                        <a:fillRect/>
                      </a:stretch>
                    </p:blipFill>
                    <p:spPr bwMode="auto">
                      <a:xfrm>
                        <a:off x="6799853" y="1558460"/>
                        <a:ext cx="801420" cy="316316"/>
                      </a:xfrm>
                      <a:prstGeom prst="rect">
                        <a:avLst/>
                      </a:prstGeom>
                      <a:noFill/>
                      <a:ln w="38100">
                        <a:noFill/>
                        <a:miter lim="800000"/>
                        <a:headEnd/>
                        <a:tailEnd/>
                      </a:ln>
                    </p:spPr>
                  </p:pic>
                </p:oleObj>
              </mc:Fallback>
            </mc:AlternateContent>
          </a:graphicData>
        </a:graphic>
      </p:graphicFrame>
      <p:sp>
        <p:nvSpPr>
          <p:cNvPr id="16" name="Content Placeholder 15">
            <a:extLst>
              <a:ext uri="{FF2B5EF4-FFF2-40B4-BE49-F238E27FC236}">
                <a16:creationId xmlns:a16="http://schemas.microsoft.com/office/drawing/2014/main" id="{F5B7BC2D-0052-466E-8911-E3E5A4ABB5C2}"/>
              </a:ext>
            </a:extLst>
          </p:cNvPr>
          <p:cNvSpPr>
            <a:spLocks noGrp="1"/>
          </p:cNvSpPr>
          <p:nvPr>
            <p:ph sz="quarter" idx="16"/>
          </p:nvPr>
        </p:nvSpPr>
        <p:spPr>
          <a:xfrm>
            <a:off x="428919" y="1962178"/>
            <a:ext cx="4143081" cy="344128"/>
          </a:xfrm>
        </p:spPr>
        <p:txBody>
          <a:bodyPr wrap="square" lIns="0" tIns="18000" rIns="0" bIns="18000" anchor="ctr" anchorCtr="0">
            <a:spAutoFit/>
          </a:bodyPr>
          <a:lstStyle/>
          <a:p>
            <a:pPr marL="0" indent="0">
              <a:spcBef>
                <a:spcPts val="600"/>
              </a:spcBef>
              <a:buNone/>
            </a:pPr>
            <a:r>
              <a:rPr lang="en-US" sz="2000" noProof="0" dirty="0"/>
              <a:t>Assume the op amp is ideal.</a:t>
            </a:r>
          </a:p>
        </p:txBody>
      </p:sp>
      <p:sp>
        <p:nvSpPr>
          <p:cNvPr id="17" name="Content Placeholder 16">
            <a:extLst>
              <a:ext uri="{FF2B5EF4-FFF2-40B4-BE49-F238E27FC236}">
                <a16:creationId xmlns:a16="http://schemas.microsoft.com/office/drawing/2014/main" id="{E4AF62FB-9FFA-45BA-B9F8-F78DB99636D6}"/>
              </a:ext>
            </a:extLst>
          </p:cNvPr>
          <p:cNvSpPr>
            <a:spLocks noGrp="1"/>
          </p:cNvSpPr>
          <p:nvPr>
            <p:ph sz="quarter" idx="17"/>
          </p:nvPr>
        </p:nvSpPr>
        <p:spPr>
          <a:xfrm>
            <a:off x="428919" y="2626738"/>
            <a:ext cx="4143081" cy="1267458"/>
          </a:xfrm>
        </p:spPr>
        <p:txBody>
          <a:bodyPr wrap="square" lIns="0" tIns="18000" rIns="0" bIns="18000" anchor="ctr" anchorCtr="0">
            <a:spAutoFit/>
          </a:bodyPr>
          <a:lstStyle/>
          <a:p>
            <a:pPr marL="342900" indent="-342900"/>
            <a:r>
              <a:rPr lang="en-US" altLang="en-US" sz="2000" noProof="0" dirty="0"/>
              <a:t>Step 1 – Check for a negative feedback path. It exists, so assume the op amp operates in its linear region.</a:t>
            </a:r>
          </a:p>
        </p:txBody>
      </p:sp>
      <p:sp>
        <p:nvSpPr>
          <p:cNvPr id="18" name="Content Placeholder 17">
            <a:extLst>
              <a:ext uri="{FF2B5EF4-FFF2-40B4-BE49-F238E27FC236}">
                <a16:creationId xmlns:a16="http://schemas.microsoft.com/office/drawing/2014/main" id="{BFA3ACAD-12D0-4B98-9D68-38404006EC20}"/>
              </a:ext>
            </a:extLst>
          </p:cNvPr>
          <p:cNvSpPr>
            <a:spLocks noGrp="1"/>
          </p:cNvSpPr>
          <p:nvPr>
            <p:ph sz="quarter" idx="18"/>
          </p:nvPr>
        </p:nvSpPr>
        <p:spPr>
          <a:xfrm>
            <a:off x="425263" y="4036219"/>
            <a:ext cx="4146737" cy="651905"/>
          </a:xfrm>
        </p:spPr>
        <p:txBody>
          <a:bodyPr wrap="square" lIns="0" tIns="18000" rIns="0" bIns="18000" anchor="ctr" anchorCtr="0">
            <a:spAutoFit/>
          </a:bodyPr>
          <a:lstStyle/>
          <a:p>
            <a:pPr marL="342900" indent="-342900"/>
            <a:r>
              <a:rPr lang="en-US" sz="2000" noProof="0" dirty="0"/>
              <a:t>Step 2 – Write a </a:t>
            </a:r>
            <a:r>
              <a:rPr lang="en-US" sz="2000" spc="-300" noProof="0" dirty="0"/>
              <a:t>K C </a:t>
            </a:r>
            <a:r>
              <a:rPr lang="en-US" sz="2000" noProof="0" dirty="0"/>
              <a:t>L equation at the inverting input terminal. Use</a:t>
            </a:r>
          </a:p>
        </p:txBody>
      </p:sp>
      <p:sp>
        <p:nvSpPr>
          <p:cNvPr id="19" name="Content Placeholder 18">
            <a:extLst>
              <a:ext uri="{FF2B5EF4-FFF2-40B4-BE49-F238E27FC236}">
                <a16:creationId xmlns:a16="http://schemas.microsoft.com/office/drawing/2014/main" id="{876182A4-1AA0-4119-8E2F-E9C95CB2796C}"/>
              </a:ext>
            </a:extLst>
          </p:cNvPr>
          <p:cNvSpPr>
            <a:spLocks noGrp="1"/>
          </p:cNvSpPr>
          <p:nvPr>
            <p:ph sz="quarter" idx="19"/>
          </p:nvPr>
        </p:nvSpPr>
        <p:spPr>
          <a:xfrm>
            <a:off x="774053" y="4718963"/>
            <a:ext cx="3373740" cy="344128"/>
          </a:xfrm>
        </p:spPr>
        <p:txBody>
          <a:bodyPr wrap="square" lIns="0" tIns="18000" rIns="0" bIns="18000" anchor="ctr" anchorCtr="0">
            <a:spAutoFit/>
          </a:bodyPr>
          <a:lstStyle/>
          <a:p>
            <a:pPr marL="0" indent="0">
              <a:spcBef>
                <a:spcPts val="600"/>
              </a:spcBef>
              <a:buNone/>
            </a:pPr>
            <a:r>
              <a:rPr lang="en-US" altLang="en-US" sz="2000" noProof="0" dirty="0"/>
              <a:t>the op amp assumptions that</a:t>
            </a:r>
            <a:endParaRPr lang="en-US" sz="2000" noProof="0" dirty="0"/>
          </a:p>
        </p:txBody>
      </p:sp>
      <p:graphicFrame>
        <p:nvGraphicFramePr>
          <p:cNvPr id="36" name="Object 35" descr="v subscript p BaseLine equals v subscript n.">
            <a:extLst>
              <a:ext uri="{FF2B5EF4-FFF2-40B4-BE49-F238E27FC236}">
                <a16:creationId xmlns:a16="http://schemas.microsoft.com/office/drawing/2014/main" id="{36D5B230-0AC8-4D03-B9CD-A613059AB166}"/>
              </a:ext>
            </a:extLst>
          </p:cNvPr>
          <p:cNvGraphicFramePr>
            <a:graphicFrameLocks noChangeAspect="1"/>
          </p:cNvGraphicFramePr>
          <p:nvPr>
            <p:extLst>
              <p:ext uri="{D42A27DB-BD31-4B8C-83A1-F6EECF244321}">
                <p14:modId xmlns:p14="http://schemas.microsoft.com/office/powerpoint/2010/main" val="1484139905"/>
              </p:ext>
            </p:extLst>
          </p:nvPr>
        </p:nvGraphicFramePr>
        <p:xfrm>
          <a:off x="755269" y="5119736"/>
          <a:ext cx="862203" cy="450824"/>
        </p:xfrm>
        <a:graphic>
          <a:graphicData uri="http://schemas.openxmlformats.org/presentationml/2006/ole">
            <mc:AlternateContent xmlns:mc="http://schemas.openxmlformats.org/markup-compatibility/2006">
              <mc:Choice xmlns:v="urn:schemas-microsoft-com:vml" Requires="v">
                <p:oleObj spid="_x0000_s11269" name="Equation" r:id="rId9" imgW="457200" imgH="241200" progId="Equation.DSMT4">
                  <p:embed/>
                </p:oleObj>
              </mc:Choice>
              <mc:Fallback>
                <p:oleObj name="Equation" r:id="rId9" imgW="457200" imgH="241200" progId="Equation.DSMT4">
                  <p:embed/>
                  <p:pic>
                    <p:nvPicPr>
                      <p:cNvPr id="33" name="Object 32">
                        <a:extLst>
                          <a:ext uri="{FF2B5EF4-FFF2-40B4-BE49-F238E27FC236}">
                            <a16:creationId xmlns:a16="http://schemas.microsoft.com/office/drawing/2014/main" id="{9BEFD340-D62B-4F10-BCEE-0E9F4550A179}"/>
                          </a:ext>
                        </a:extLst>
                      </p:cNvPr>
                      <p:cNvPicPr>
                        <a:picLocks noChangeAspect="1" noChangeArrowheads="1"/>
                      </p:cNvPicPr>
                      <p:nvPr/>
                    </p:nvPicPr>
                    <p:blipFill>
                      <a:blip r:embed="rId10"/>
                      <a:srcRect/>
                      <a:stretch>
                        <a:fillRect/>
                      </a:stretch>
                    </p:blipFill>
                    <p:spPr bwMode="auto">
                      <a:xfrm>
                        <a:off x="755269" y="5119736"/>
                        <a:ext cx="862203" cy="450824"/>
                      </a:xfrm>
                      <a:prstGeom prst="rect">
                        <a:avLst/>
                      </a:prstGeom>
                      <a:noFill/>
                      <a:ln w="38100">
                        <a:noFill/>
                        <a:miter lim="800000"/>
                        <a:headEnd/>
                        <a:tailEnd/>
                      </a:ln>
                    </p:spPr>
                  </p:pic>
                </p:oleObj>
              </mc:Fallback>
            </mc:AlternateContent>
          </a:graphicData>
        </a:graphic>
      </p:graphicFrame>
      <p:sp>
        <p:nvSpPr>
          <p:cNvPr id="20" name="Content Placeholder 19">
            <a:extLst>
              <a:ext uri="{FF2B5EF4-FFF2-40B4-BE49-F238E27FC236}">
                <a16:creationId xmlns:a16="http://schemas.microsoft.com/office/drawing/2014/main" id="{6B674C31-1033-4804-A7FE-10AE4A91A04A}"/>
              </a:ext>
            </a:extLst>
          </p:cNvPr>
          <p:cNvSpPr>
            <a:spLocks noGrp="1"/>
          </p:cNvSpPr>
          <p:nvPr>
            <p:ph sz="quarter" idx="20"/>
          </p:nvPr>
        </p:nvSpPr>
        <p:spPr>
          <a:xfrm>
            <a:off x="1727048" y="5139000"/>
            <a:ext cx="508187" cy="344128"/>
          </a:xfrm>
        </p:spPr>
        <p:txBody>
          <a:bodyPr wrap="square" lIns="0" tIns="18000" rIns="0" bIns="18000" anchor="ctr" anchorCtr="0">
            <a:spAutoFit/>
          </a:bodyPr>
          <a:lstStyle/>
          <a:p>
            <a:pPr marL="0" indent="0">
              <a:buNone/>
            </a:pPr>
            <a:r>
              <a:rPr lang="en-US" sz="2000" noProof="0" dirty="0"/>
              <a:t>and</a:t>
            </a:r>
          </a:p>
        </p:txBody>
      </p:sp>
      <p:graphicFrame>
        <p:nvGraphicFramePr>
          <p:cNvPr id="38" name="Object 37" descr="i subscript p BaseLine equals i subscript n BaseLine equals 0.">
            <a:extLst>
              <a:ext uri="{FF2B5EF4-FFF2-40B4-BE49-F238E27FC236}">
                <a16:creationId xmlns:a16="http://schemas.microsoft.com/office/drawing/2014/main" id="{A150CA5D-0EBF-4383-AECD-CB20AB89DCC2}"/>
              </a:ext>
            </a:extLst>
          </p:cNvPr>
          <p:cNvGraphicFramePr>
            <a:graphicFrameLocks noChangeAspect="1"/>
          </p:cNvGraphicFramePr>
          <p:nvPr>
            <p:extLst>
              <p:ext uri="{D42A27DB-BD31-4B8C-83A1-F6EECF244321}">
                <p14:modId xmlns:p14="http://schemas.microsoft.com/office/powerpoint/2010/main" val="2869861299"/>
              </p:ext>
            </p:extLst>
          </p:nvPr>
        </p:nvGraphicFramePr>
        <p:xfrm>
          <a:off x="2301876" y="5130115"/>
          <a:ext cx="1194683" cy="415603"/>
        </p:xfrm>
        <a:graphic>
          <a:graphicData uri="http://schemas.openxmlformats.org/presentationml/2006/ole">
            <mc:AlternateContent xmlns:mc="http://schemas.openxmlformats.org/markup-compatibility/2006">
              <mc:Choice xmlns:v="urn:schemas-microsoft-com:vml" Requires="v">
                <p:oleObj spid="_x0000_s11270" name="Equation" r:id="rId11" imgW="685800" imgH="241200" progId="Equation.DSMT4">
                  <p:embed/>
                </p:oleObj>
              </mc:Choice>
              <mc:Fallback>
                <p:oleObj name="Equation" r:id="rId11" imgW="685800" imgH="241200" progId="Equation.DSMT4">
                  <p:embed/>
                  <p:pic>
                    <p:nvPicPr>
                      <p:cNvPr id="36" name="Object 35">
                        <a:extLst>
                          <a:ext uri="{FF2B5EF4-FFF2-40B4-BE49-F238E27FC236}">
                            <a16:creationId xmlns:a16="http://schemas.microsoft.com/office/drawing/2014/main" id="{36D5B230-0AC8-4D03-B9CD-A613059AB166}"/>
                          </a:ext>
                        </a:extLst>
                      </p:cNvPr>
                      <p:cNvPicPr>
                        <a:picLocks noChangeAspect="1" noChangeArrowheads="1"/>
                      </p:cNvPicPr>
                      <p:nvPr/>
                    </p:nvPicPr>
                    <p:blipFill>
                      <a:blip r:embed="rId12"/>
                      <a:srcRect/>
                      <a:stretch>
                        <a:fillRect/>
                      </a:stretch>
                    </p:blipFill>
                    <p:spPr bwMode="auto">
                      <a:xfrm>
                        <a:off x="2301876" y="5130115"/>
                        <a:ext cx="1194683" cy="415603"/>
                      </a:xfrm>
                      <a:prstGeom prst="rect">
                        <a:avLst/>
                      </a:prstGeom>
                      <a:noFill/>
                      <a:ln w="38100">
                        <a:noFill/>
                        <a:miter lim="800000"/>
                        <a:headEnd/>
                        <a:tailEnd/>
                      </a:ln>
                    </p:spPr>
                  </p:pic>
                </p:oleObj>
              </mc:Fallback>
            </mc:AlternateContent>
          </a:graphicData>
        </a:graphic>
      </p:graphicFrame>
      <p:pic>
        <p:nvPicPr>
          <p:cNvPr id="47" name="Picture 46" descr="A circuit diagram shows an operational amplifier with 10 volts applied to its top vertical terminal and minus 15 volts applied to at its bottom vertical terminal. Voltage source V subscript s is connected to the inverting input through a 16 kilo ohms resistor. Voltage source V subscript s has positive polarity on the upper side and negative polarity on the lower side. A node exists just before the point where the inverting input wire is connected to the operational amplifier. The node on the inverting input wire is connected to the output terminal of the operational amplifier through an 80 kilo ohms resistor. The non inverting input terminal of the operational amplifier is connected to ground. Voltage v subscript o exists between the output terminal of the operational amplifier and ground.">
            <a:extLst>
              <a:ext uri="{FF2B5EF4-FFF2-40B4-BE49-F238E27FC236}">
                <a16:creationId xmlns:a16="http://schemas.microsoft.com/office/drawing/2014/main" id="{9A5999F7-7A4C-413F-9946-E0DB066DF50C}"/>
              </a:ext>
            </a:extLst>
          </p:cNvPr>
          <p:cNvPicPr>
            <a:picLocks noChangeAspect="1"/>
          </p:cNvPicPr>
          <p:nvPr/>
        </p:nvPicPr>
        <p:blipFill>
          <a:blip r:embed="rId13"/>
          <a:stretch>
            <a:fillRect/>
          </a:stretch>
        </p:blipFill>
        <p:spPr>
          <a:xfrm>
            <a:off x="4793182" y="2208859"/>
            <a:ext cx="3526905" cy="2339326"/>
          </a:xfrm>
          <a:prstGeom prst="rect">
            <a:avLst/>
          </a:prstGeom>
        </p:spPr>
      </p:pic>
      <p:graphicFrame>
        <p:nvGraphicFramePr>
          <p:cNvPr id="49" name="Object 48" descr="v subscript p BaseLine equals 0, forward arrow, v subscript n BaseLine equals v subscript p BaseLine equals 0.">
            <a:extLst>
              <a:ext uri="{FF2B5EF4-FFF2-40B4-BE49-F238E27FC236}">
                <a16:creationId xmlns:a16="http://schemas.microsoft.com/office/drawing/2014/main" id="{D409801B-BAEB-46D4-9CF8-81059683A431}"/>
              </a:ext>
            </a:extLst>
          </p:cNvPr>
          <p:cNvGraphicFramePr>
            <a:graphicFrameLocks noChangeAspect="1"/>
          </p:cNvGraphicFramePr>
          <p:nvPr>
            <p:extLst>
              <p:ext uri="{D42A27DB-BD31-4B8C-83A1-F6EECF244321}">
                <p14:modId xmlns:p14="http://schemas.microsoft.com/office/powerpoint/2010/main" val="2730603642"/>
              </p:ext>
            </p:extLst>
          </p:nvPr>
        </p:nvGraphicFramePr>
        <p:xfrm>
          <a:off x="4328400" y="5030547"/>
          <a:ext cx="2365147" cy="419101"/>
        </p:xfrm>
        <a:graphic>
          <a:graphicData uri="http://schemas.openxmlformats.org/presentationml/2006/ole">
            <mc:AlternateContent xmlns:mc="http://schemas.openxmlformats.org/markup-compatibility/2006">
              <mc:Choice xmlns:v="urn:schemas-microsoft-com:vml" Requires="v">
                <p:oleObj spid="_x0000_s11271" name="Equation" r:id="rId14" imgW="1358640" imgH="241200" progId="Equation.DSMT4">
                  <p:embed/>
                </p:oleObj>
              </mc:Choice>
              <mc:Fallback>
                <p:oleObj name="Equation" r:id="rId14" imgW="1358640" imgH="241200" progId="Equation.DSMT4">
                  <p:embed/>
                  <p:pic>
                    <p:nvPicPr>
                      <p:cNvPr id="7" name="Object 6"/>
                      <p:cNvPicPr>
                        <a:picLocks noChangeAspect="1" noChangeArrowheads="1"/>
                      </p:cNvPicPr>
                      <p:nvPr/>
                    </p:nvPicPr>
                    <p:blipFill>
                      <a:blip r:embed="rId15"/>
                      <a:srcRect/>
                      <a:stretch>
                        <a:fillRect/>
                      </a:stretch>
                    </p:blipFill>
                    <p:spPr bwMode="auto">
                      <a:xfrm>
                        <a:off x="4328400" y="5030547"/>
                        <a:ext cx="2365147" cy="4191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49" descr="K C L at v subscript n BaseLine: StartFraction 0 minus v subscript s over 16,000 EndFraction plus StartFraction 0 minus v subscript o over 80,000 EndFraction plus 0 equals 0.">
            <a:extLst>
              <a:ext uri="{FF2B5EF4-FFF2-40B4-BE49-F238E27FC236}">
                <a16:creationId xmlns:a16="http://schemas.microsoft.com/office/drawing/2014/main" id="{6B2150D6-45C5-434C-97DE-EF910749D24A}"/>
              </a:ext>
            </a:extLst>
          </p:cNvPr>
          <p:cNvGraphicFramePr>
            <a:graphicFrameLocks noChangeAspect="1"/>
          </p:cNvGraphicFramePr>
          <p:nvPr>
            <p:extLst>
              <p:ext uri="{D42A27DB-BD31-4B8C-83A1-F6EECF244321}">
                <p14:modId xmlns:p14="http://schemas.microsoft.com/office/powerpoint/2010/main" val="2610647071"/>
              </p:ext>
            </p:extLst>
          </p:nvPr>
        </p:nvGraphicFramePr>
        <p:xfrm>
          <a:off x="4412506" y="5511837"/>
          <a:ext cx="3761982" cy="677911"/>
        </p:xfrm>
        <a:graphic>
          <a:graphicData uri="http://schemas.openxmlformats.org/presentationml/2006/ole">
            <mc:AlternateContent xmlns:mc="http://schemas.openxmlformats.org/markup-compatibility/2006">
              <mc:Choice xmlns:v="urn:schemas-microsoft-com:vml" Requires="v">
                <p:oleObj spid="_x0000_s11272" name="Equation" r:id="rId16" imgW="2387520" imgH="431640" progId="Equation.DSMT4">
                  <p:embed/>
                </p:oleObj>
              </mc:Choice>
              <mc:Fallback>
                <p:oleObj name="Equation" r:id="rId16" imgW="2387520" imgH="431640" progId="Equation.DSMT4">
                  <p:embed/>
                  <p:pic>
                    <p:nvPicPr>
                      <p:cNvPr id="49" name="Object 48">
                        <a:extLst>
                          <a:ext uri="{FF2B5EF4-FFF2-40B4-BE49-F238E27FC236}">
                            <a16:creationId xmlns:a16="http://schemas.microsoft.com/office/drawing/2014/main" id="{D409801B-BAEB-46D4-9CF8-81059683A431}"/>
                          </a:ext>
                        </a:extLst>
                      </p:cNvPr>
                      <p:cNvPicPr>
                        <a:picLocks noChangeAspect="1" noChangeArrowheads="1"/>
                      </p:cNvPicPr>
                      <p:nvPr/>
                    </p:nvPicPr>
                    <p:blipFill>
                      <a:blip r:embed="rId17"/>
                      <a:srcRect/>
                      <a:stretch>
                        <a:fillRect/>
                      </a:stretch>
                    </p:blipFill>
                    <p:spPr bwMode="auto">
                      <a:xfrm>
                        <a:off x="4412506" y="5511837"/>
                        <a:ext cx="3761982" cy="677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02624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919" y="207791"/>
            <a:ext cx="8229600" cy="590349"/>
          </a:xfrm>
        </p:spPr>
        <p:txBody>
          <a:bodyPr wrap="square" lIns="0" tIns="18000" rIns="0" bIns="18000" anchor="ctr" anchorCtr="0">
            <a:spAutoFit/>
          </a:bodyPr>
          <a:lstStyle/>
          <a:p>
            <a:r>
              <a:rPr lang="en-US" noProof="0" dirty="0"/>
              <a:t>Chapter 5 – Op Amps </a:t>
            </a:r>
            <a:r>
              <a:rPr lang="en-US" sz="2800" noProof="0" dirty="0"/>
              <a:t>(17 of 22)</a:t>
            </a:r>
            <a:endParaRPr lang="en-US" noProof="0" dirty="0"/>
          </a:p>
        </p:txBody>
      </p:sp>
      <p:sp>
        <p:nvSpPr>
          <p:cNvPr id="4" name="Content Placeholder 3">
            <a:extLst>
              <a:ext uri="{FF2B5EF4-FFF2-40B4-BE49-F238E27FC236}">
                <a16:creationId xmlns:a16="http://schemas.microsoft.com/office/drawing/2014/main" id="{0DF45FBB-328C-49CD-B455-DFD871B50961}"/>
              </a:ext>
            </a:extLst>
          </p:cNvPr>
          <p:cNvSpPr>
            <a:spLocks noGrp="1"/>
          </p:cNvSpPr>
          <p:nvPr>
            <p:ph sz="quarter" idx="12"/>
          </p:nvPr>
        </p:nvSpPr>
        <p:spPr>
          <a:xfrm>
            <a:off x="428919" y="1025491"/>
            <a:ext cx="1192491" cy="344128"/>
          </a:xfrm>
        </p:spPr>
        <p:txBody>
          <a:bodyPr wrap="square" lIns="0" tIns="18000" rIns="0" bIns="18000" anchor="ctr" anchorCtr="0">
            <a:spAutoFit/>
          </a:bodyPr>
          <a:lstStyle/>
          <a:p>
            <a:pPr marL="0" indent="0">
              <a:spcBef>
                <a:spcPts val="600"/>
              </a:spcBef>
              <a:buNone/>
            </a:pPr>
            <a:r>
              <a:rPr lang="en-US" altLang="en-US" sz="2000" noProof="0" dirty="0"/>
              <a:t>Example</a:t>
            </a:r>
            <a:endParaRPr lang="en-US" sz="2000" noProof="0" dirty="0"/>
          </a:p>
        </p:txBody>
      </p:sp>
      <p:sp>
        <p:nvSpPr>
          <p:cNvPr id="5" name="Content Placeholder 4">
            <a:extLst>
              <a:ext uri="{FF2B5EF4-FFF2-40B4-BE49-F238E27FC236}">
                <a16:creationId xmlns:a16="http://schemas.microsoft.com/office/drawing/2014/main" id="{35392F7F-F9B6-41D9-93ED-C158B056014D}"/>
              </a:ext>
            </a:extLst>
          </p:cNvPr>
          <p:cNvSpPr>
            <a:spLocks noGrp="1"/>
          </p:cNvSpPr>
          <p:nvPr>
            <p:ph sz="quarter" idx="13"/>
          </p:nvPr>
        </p:nvSpPr>
        <p:spPr>
          <a:xfrm>
            <a:off x="428920" y="1474636"/>
            <a:ext cx="605116" cy="344128"/>
          </a:xfrm>
        </p:spPr>
        <p:txBody>
          <a:bodyPr wrap="square" lIns="0" tIns="18000" rIns="0" bIns="18000" anchor="ctr" anchorCtr="0">
            <a:spAutoFit/>
          </a:bodyPr>
          <a:lstStyle/>
          <a:p>
            <a:pPr marL="0" indent="0">
              <a:spcBef>
                <a:spcPts val="600"/>
              </a:spcBef>
              <a:buNone/>
            </a:pPr>
            <a:r>
              <a:rPr lang="en-US" sz="2000" noProof="0" dirty="0"/>
              <a:t>Find</a:t>
            </a:r>
          </a:p>
        </p:txBody>
      </p:sp>
      <p:graphicFrame>
        <p:nvGraphicFramePr>
          <p:cNvPr id="33" name="Object 32" descr="V subscript O.">
            <a:extLst>
              <a:ext uri="{FF2B5EF4-FFF2-40B4-BE49-F238E27FC236}">
                <a16:creationId xmlns:a16="http://schemas.microsoft.com/office/drawing/2014/main" id="{9BEFD340-D62B-4F10-BCEE-0E9F4550A179}"/>
              </a:ext>
            </a:extLst>
          </p:cNvPr>
          <p:cNvGraphicFramePr>
            <a:graphicFrameLocks noChangeAspect="1"/>
          </p:cNvGraphicFramePr>
          <p:nvPr>
            <p:extLst>
              <p:ext uri="{D42A27DB-BD31-4B8C-83A1-F6EECF244321}">
                <p14:modId xmlns:p14="http://schemas.microsoft.com/office/powerpoint/2010/main" val="206370470"/>
              </p:ext>
            </p:extLst>
          </p:nvPr>
        </p:nvGraphicFramePr>
        <p:xfrm>
          <a:off x="1026815" y="1457895"/>
          <a:ext cx="355928" cy="453136"/>
        </p:xfrm>
        <a:graphic>
          <a:graphicData uri="http://schemas.openxmlformats.org/presentationml/2006/ole">
            <mc:AlternateContent xmlns:mc="http://schemas.openxmlformats.org/markup-compatibility/2006">
              <mc:Choice xmlns:v="urn:schemas-microsoft-com:vml" Requires="v">
                <p:oleObj spid="_x0000_s12290" name="Equation" r:id="rId3" imgW="177480" imgH="228600" progId="Equation.DSMT4">
                  <p:embed/>
                </p:oleObj>
              </mc:Choice>
              <mc:Fallback>
                <p:oleObj name="Equation" r:id="rId3" imgW="177480" imgH="228600" progId="Equation.DSMT4">
                  <p:embed/>
                  <p:pic>
                    <p:nvPicPr>
                      <p:cNvPr id="33" name="Object 32">
                        <a:extLst>
                          <a:ext uri="{FF2B5EF4-FFF2-40B4-BE49-F238E27FC236}">
                            <a16:creationId xmlns:a16="http://schemas.microsoft.com/office/drawing/2014/main" id="{9BEFD340-D62B-4F10-BCEE-0E9F4550A179}"/>
                          </a:ext>
                        </a:extLst>
                      </p:cNvPr>
                      <p:cNvPicPr>
                        <a:picLocks noChangeAspect="1" noChangeArrowheads="1"/>
                      </p:cNvPicPr>
                      <p:nvPr/>
                    </p:nvPicPr>
                    <p:blipFill>
                      <a:blip r:embed="rId4"/>
                      <a:srcRect/>
                      <a:stretch>
                        <a:fillRect/>
                      </a:stretch>
                    </p:blipFill>
                    <p:spPr bwMode="auto">
                      <a:xfrm>
                        <a:off x="1026815" y="1457895"/>
                        <a:ext cx="355928" cy="453136"/>
                      </a:xfrm>
                      <a:prstGeom prst="rect">
                        <a:avLst/>
                      </a:prstGeom>
                      <a:noFill/>
                      <a:ln w="38100">
                        <a:noFill/>
                        <a:miter lim="800000"/>
                        <a:headEnd/>
                        <a:tailEnd/>
                      </a:ln>
                    </p:spPr>
                  </p:pic>
                </p:oleObj>
              </mc:Fallback>
            </mc:AlternateContent>
          </a:graphicData>
        </a:graphic>
      </p:graphicFrame>
      <p:sp>
        <p:nvSpPr>
          <p:cNvPr id="6" name="Content Placeholder 5">
            <a:extLst>
              <a:ext uri="{FF2B5EF4-FFF2-40B4-BE49-F238E27FC236}">
                <a16:creationId xmlns:a16="http://schemas.microsoft.com/office/drawing/2014/main" id="{6267C3E9-8C40-450E-9F33-D9B2B6B8060B}"/>
              </a:ext>
            </a:extLst>
          </p:cNvPr>
          <p:cNvSpPr>
            <a:spLocks noGrp="1"/>
          </p:cNvSpPr>
          <p:nvPr>
            <p:ph sz="quarter" idx="14"/>
          </p:nvPr>
        </p:nvSpPr>
        <p:spPr>
          <a:xfrm>
            <a:off x="1439647" y="1503211"/>
            <a:ext cx="390231" cy="344128"/>
          </a:xfrm>
        </p:spPr>
        <p:txBody>
          <a:bodyPr wrap="square" lIns="0" tIns="18000" rIns="0" bIns="18000" anchor="ctr" anchorCtr="0">
            <a:spAutoFit/>
          </a:bodyPr>
          <a:lstStyle/>
          <a:p>
            <a:pPr marL="0" indent="0">
              <a:spcBef>
                <a:spcPts val="600"/>
              </a:spcBef>
              <a:buNone/>
            </a:pPr>
            <a:r>
              <a:rPr lang="en-US" sz="2000" noProof="0" dirty="0"/>
              <a:t>for</a:t>
            </a:r>
          </a:p>
        </p:txBody>
      </p:sp>
      <p:graphicFrame>
        <p:nvGraphicFramePr>
          <p:cNvPr id="34" name="Object 33" descr="v subscript s BaseLine equals 0.4 Volts, 2.0 Volts, 3.5 Volts, negative 0.6 Volts, negative 1.6 Volts,">
            <a:extLst>
              <a:ext uri="{FF2B5EF4-FFF2-40B4-BE49-F238E27FC236}">
                <a16:creationId xmlns:a16="http://schemas.microsoft.com/office/drawing/2014/main" id="{86238EC7-F9FF-4E7B-ABCA-C8DAA2C7725A}"/>
              </a:ext>
            </a:extLst>
          </p:cNvPr>
          <p:cNvGraphicFramePr>
            <a:graphicFrameLocks noChangeAspect="1"/>
          </p:cNvGraphicFramePr>
          <p:nvPr>
            <p:extLst>
              <p:ext uri="{D42A27DB-BD31-4B8C-83A1-F6EECF244321}">
                <p14:modId xmlns:p14="http://schemas.microsoft.com/office/powerpoint/2010/main" val="1854723572"/>
              </p:ext>
            </p:extLst>
          </p:nvPr>
        </p:nvGraphicFramePr>
        <p:xfrm>
          <a:off x="1901882" y="1524394"/>
          <a:ext cx="3905272" cy="343217"/>
        </p:xfrm>
        <a:graphic>
          <a:graphicData uri="http://schemas.openxmlformats.org/presentationml/2006/ole">
            <mc:AlternateContent xmlns:mc="http://schemas.openxmlformats.org/markup-compatibility/2006">
              <mc:Choice xmlns:v="urn:schemas-microsoft-com:vml" Requires="v">
                <p:oleObj spid="_x0000_s12291" name="Equation" r:id="rId5" imgW="2577960" imgH="228600" progId="Equation.DSMT4">
                  <p:embed/>
                </p:oleObj>
              </mc:Choice>
              <mc:Fallback>
                <p:oleObj name="Equation" r:id="rId5" imgW="2577960" imgH="228600" progId="Equation.DSMT4">
                  <p:embed/>
                  <p:pic>
                    <p:nvPicPr>
                      <p:cNvPr id="34" name="Object 33">
                        <a:extLst>
                          <a:ext uri="{FF2B5EF4-FFF2-40B4-BE49-F238E27FC236}">
                            <a16:creationId xmlns:a16="http://schemas.microsoft.com/office/drawing/2014/main" id="{86238EC7-F9FF-4E7B-ABCA-C8DAA2C7725A}"/>
                          </a:ext>
                        </a:extLst>
                      </p:cNvPr>
                      <p:cNvPicPr>
                        <a:picLocks noChangeAspect="1" noChangeArrowheads="1"/>
                      </p:cNvPicPr>
                      <p:nvPr/>
                    </p:nvPicPr>
                    <p:blipFill>
                      <a:blip r:embed="rId6"/>
                      <a:srcRect/>
                      <a:stretch>
                        <a:fillRect/>
                      </a:stretch>
                    </p:blipFill>
                    <p:spPr bwMode="auto">
                      <a:xfrm>
                        <a:off x="1901882" y="1524394"/>
                        <a:ext cx="3905272" cy="343217"/>
                      </a:xfrm>
                      <a:prstGeom prst="rect">
                        <a:avLst/>
                      </a:prstGeom>
                      <a:noFill/>
                      <a:ln w="38100">
                        <a:noFill/>
                        <a:miter lim="800000"/>
                        <a:headEnd/>
                        <a:tailEnd/>
                      </a:ln>
                    </p:spPr>
                  </p:pic>
                </p:oleObj>
              </mc:Fallback>
            </mc:AlternateContent>
          </a:graphicData>
        </a:graphic>
      </p:graphicFrame>
      <p:sp>
        <p:nvSpPr>
          <p:cNvPr id="15" name="Content Placeholder 14">
            <a:extLst>
              <a:ext uri="{FF2B5EF4-FFF2-40B4-BE49-F238E27FC236}">
                <a16:creationId xmlns:a16="http://schemas.microsoft.com/office/drawing/2014/main" id="{8632FC9B-454F-49B3-B01F-269DFD4E753B}"/>
              </a:ext>
            </a:extLst>
          </p:cNvPr>
          <p:cNvSpPr>
            <a:spLocks noGrp="1"/>
          </p:cNvSpPr>
          <p:nvPr>
            <p:ph sz="quarter" idx="15"/>
          </p:nvPr>
        </p:nvSpPr>
        <p:spPr>
          <a:xfrm>
            <a:off x="5936286" y="1503065"/>
            <a:ext cx="464650" cy="344128"/>
          </a:xfrm>
        </p:spPr>
        <p:txBody>
          <a:bodyPr wrap="square" lIns="0" tIns="18000" rIns="0" bIns="18000" anchor="ctr" anchorCtr="0">
            <a:spAutoFit/>
          </a:bodyPr>
          <a:lstStyle/>
          <a:p>
            <a:pPr marL="0" indent="0">
              <a:buNone/>
            </a:pPr>
            <a:r>
              <a:rPr lang="en-US" sz="2000" noProof="0" dirty="0"/>
              <a:t>and</a:t>
            </a:r>
          </a:p>
        </p:txBody>
      </p:sp>
      <p:graphicFrame>
        <p:nvGraphicFramePr>
          <p:cNvPr id="37" name="Object 36" descr="Negative 2.4 Volts.">
            <a:extLst>
              <a:ext uri="{FF2B5EF4-FFF2-40B4-BE49-F238E27FC236}">
                <a16:creationId xmlns:a16="http://schemas.microsoft.com/office/drawing/2014/main" id="{5251BD99-960C-44BF-A8B8-63D7529940B3}"/>
              </a:ext>
            </a:extLst>
          </p:cNvPr>
          <p:cNvGraphicFramePr>
            <a:graphicFrameLocks noChangeAspect="1"/>
          </p:cNvGraphicFramePr>
          <p:nvPr>
            <p:extLst>
              <p:ext uri="{D42A27DB-BD31-4B8C-83A1-F6EECF244321}">
                <p14:modId xmlns:p14="http://schemas.microsoft.com/office/powerpoint/2010/main" val="349128264"/>
              </p:ext>
            </p:extLst>
          </p:nvPr>
        </p:nvGraphicFramePr>
        <p:xfrm>
          <a:off x="6515045" y="1542381"/>
          <a:ext cx="785629" cy="310083"/>
        </p:xfrm>
        <a:graphic>
          <a:graphicData uri="http://schemas.openxmlformats.org/presentationml/2006/ole">
            <mc:AlternateContent xmlns:mc="http://schemas.openxmlformats.org/markup-compatibility/2006">
              <mc:Choice xmlns:v="urn:schemas-microsoft-com:vml" Requires="v">
                <p:oleObj spid="_x0000_s12292" name="Equation" r:id="rId7" imgW="507960" imgH="203040" progId="Equation.DSMT4">
                  <p:embed/>
                </p:oleObj>
              </mc:Choice>
              <mc:Fallback>
                <p:oleObj name="Equation" r:id="rId7" imgW="507960" imgH="203040" progId="Equation.DSMT4">
                  <p:embed/>
                  <p:pic>
                    <p:nvPicPr>
                      <p:cNvPr id="37" name="Object 36">
                        <a:extLst>
                          <a:ext uri="{FF2B5EF4-FFF2-40B4-BE49-F238E27FC236}">
                            <a16:creationId xmlns:a16="http://schemas.microsoft.com/office/drawing/2014/main" id="{5251BD99-960C-44BF-A8B8-63D7529940B3}"/>
                          </a:ext>
                        </a:extLst>
                      </p:cNvPr>
                      <p:cNvPicPr>
                        <a:picLocks noChangeAspect="1" noChangeArrowheads="1"/>
                      </p:cNvPicPr>
                      <p:nvPr/>
                    </p:nvPicPr>
                    <p:blipFill>
                      <a:blip r:embed="rId8"/>
                      <a:srcRect/>
                      <a:stretch>
                        <a:fillRect/>
                      </a:stretch>
                    </p:blipFill>
                    <p:spPr bwMode="auto">
                      <a:xfrm>
                        <a:off x="6515045" y="1542381"/>
                        <a:ext cx="785629" cy="310083"/>
                      </a:xfrm>
                      <a:prstGeom prst="rect">
                        <a:avLst/>
                      </a:prstGeom>
                      <a:noFill/>
                      <a:ln w="38100">
                        <a:noFill/>
                        <a:miter lim="800000"/>
                        <a:headEnd/>
                        <a:tailEnd/>
                      </a:ln>
                    </p:spPr>
                  </p:pic>
                </p:oleObj>
              </mc:Fallback>
            </mc:AlternateContent>
          </a:graphicData>
        </a:graphic>
      </p:graphicFrame>
      <p:sp>
        <p:nvSpPr>
          <p:cNvPr id="16" name="Content Placeholder 15">
            <a:extLst>
              <a:ext uri="{FF2B5EF4-FFF2-40B4-BE49-F238E27FC236}">
                <a16:creationId xmlns:a16="http://schemas.microsoft.com/office/drawing/2014/main" id="{F5B7BC2D-0052-466E-8911-E3E5A4ABB5C2}"/>
              </a:ext>
            </a:extLst>
          </p:cNvPr>
          <p:cNvSpPr>
            <a:spLocks noGrp="1"/>
          </p:cNvSpPr>
          <p:nvPr>
            <p:ph sz="quarter" idx="16"/>
          </p:nvPr>
        </p:nvSpPr>
        <p:spPr>
          <a:xfrm>
            <a:off x="428919" y="1962178"/>
            <a:ext cx="4143081" cy="344128"/>
          </a:xfrm>
        </p:spPr>
        <p:txBody>
          <a:bodyPr wrap="square" lIns="0" tIns="18000" rIns="0" bIns="18000" anchor="ctr" anchorCtr="0">
            <a:spAutoFit/>
          </a:bodyPr>
          <a:lstStyle/>
          <a:p>
            <a:pPr marL="0" indent="0">
              <a:spcBef>
                <a:spcPts val="600"/>
              </a:spcBef>
              <a:buNone/>
            </a:pPr>
            <a:r>
              <a:rPr lang="en-US" sz="2000" noProof="0" dirty="0">
                <a:sym typeface="Symbol"/>
              </a:rPr>
              <a:t>Assume the op amp is ideal.</a:t>
            </a:r>
            <a:endParaRPr lang="en-US" sz="2000" noProof="0" dirty="0"/>
          </a:p>
        </p:txBody>
      </p:sp>
      <p:pic>
        <p:nvPicPr>
          <p:cNvPr id="21" name="Picture 20" descr="A circuit diagram shows an operational amplifier with 10 volts applied to its top vertical terminal and minus 15 volts applied to at its bottom vertical terminal. Voltage source V subscript s is connected to the inverting input through a 16 kilo ohms resistor. Voltage source V subscript s has positive polarity on the upper side and negative polarity on the lower side. A node exists just before the point where the inverting input wire is connected to the operational amplifier. The node on the inverting input wire is connected to the output terminal of the operational amplifier through an 80 kilo ohms resistor. The non inverting input terminal of the operational amplifier is connected to ground. Voltage v subscript o exists between the output terminal of the operational amplifier and ground.">
            <a:extLst>
              <a:ext uri="{FF2B5EF4-FFF2-40B4-BE49-F238E27FC236}">
                <a16:creationId xmlns:a16="http://schemas.microsoft.com/office/drawing/2014/main" id="{7E01F677-2F2E-4B79-80AA-57804BD7381C}"/>
              </a:ext>
            </a:extLst>
          </p:cNvPr>
          <p:cNvPicPr>
            <a:picLocks noChangeAspect="1"/>
          </p:cNvPicPr>
          <p:nvPr/>
        </p:nvPicPr>
        <p:blipFill>
          <a:blip r:embed="rId9"/>
          <a:stretch>
            <a:fillRect/>
          </a:stretch>
        </p:blipFill>
        <p:spPr>
          <a:xfrm>
            <a:off x="3100773" y="2409203"/>
            <a:ext cx="2961306" cy="1964176"/>
          </a:xfrm>
          <a:prstGeom prst="rect">
            <a:avLst/>
          </a:prstGeom>
        </p:spPr>
      </p:pic>
      <p:sp>
        <p:nvSpPr>
          <p:cNvPr id="17" name="Content Placeholder 16">
            <a:extLst>
              <a:ext uri="{FF2B5EF4-FFF2-40B4-BE49-F238E27FC236}">
                <a16:creationId xmlns:a16="http://schemas.microsoft.com/office/drawing/2014/main" id="{E4AF62FB-9FFA-45BA-B9F8-F78DB99636D6}"/>
              </a:ext>
            </a:extLst>
          </p:cNvPr>
          <p:cNvSpPr>
            <a:spLocks noGrp="1"/>
          </p:cNvSpPr>
          <p:nvPr>
            <p:ph sz="quarter" idx="17"/>
          </p:nvPr>
        </p:nvSpPr>
        <p:spPr>
          <a:xfrm>
            <a:off x="428919" y="4499363"/>
            <a:ext cx="8242006" cy="651905"/>
          </a:xfrm>
        </p:spPr>
        <p:txBody>
          <a:bodyPr wrap="square" lIns="0" tIns="18000" rIns="0" bIns="18000" anchor="ctr" anchorCtr="0">
            <a:spAutoFit/>
          </a:bodyPr>
          <a:lstStyle/>
          <a:p>
            <a:pPr marL="342900" indent="-342900">
              <a:spcBef>
                <a:spcPts val="600"/>
              </a:spcBef>
            </a:pPr>
            <a:r>
              <a:rPr lang="en-US" altLang="en-US" sz="2000" noProof="0" dirty="0"/>
              <a:t>Step 3 – Solve the </a:t>
            </a:r>
            <a:r>
              <a:rPr lang="en-US" altLang="en-US" sz="2000" spc="-300" noProof="0" dirty="0"/>
              <a:t>K C </a:t>
            </a:r>
            <a:r>
              <a:rPr lang="en-US" altLang="en-US" sz="2000" noProof="0" dirty="0"/>
              <a:t>L equation and use the solution to find the op amp’s output voltage.</a:t>
            </a:r>
          </a:p>
        </p:txBody>
      </p:sp>
      <p:graphicFrame>
        <p:nvGraphicFramePr>
          <p:cNvPr id="50" name="Object 49" descr="v subscript o BaseLine equals negative StartFraction 80,000 over 16,000 EndFraction v subscript s BaseLine equals negative 5 v subscript s.">
            <a:extLst>
              <a:ext uri="{FF2B5EF4-FFF2-40B4-BE49-F238E27FC236}">
                <a16:creationId xmlns:a16="http://schemas.microsoft.com/office/drawing/2014/main" id="{6B2150D6-45C5-434C-97DE-EF910749D24A}"/>
              </a:ext>
            </a:extLst>
          </p:cNvPr>
          <p:cNvGraphicFramePr>
            <a:graphicFrameLocks noChangeAspect="1"/>
          </p:cNvGraphicFramePr>
          <p:nvPr>
            <p:extLst>
              <p:ext uri="{D42A27DB-BD31-4B8C-83A1-F6EECF244321}">
                <p14:modId xmlns:p14="http://schemas.microsoft.com/office/powerpoint/2010/main" val="1150265113"/>
              </p:ext>
            </p:extLst>
          </p:nvPr>
        </p:nvGraphicFramePr>
        <p:xfrm>
          <a:off x="3420895" y="5391587"/>
          <a:ext cx="2319275" cy="618911"/>
        </p:xfrm>
        <a:graphic>
          <a:graphicData uri="http://schemas.openxmlformats.org/presentationml/2006/ole">
            <mc:AlternateContent xmlns:mc="http://schemas.openxmlformats.org/markup-compatibility/2006">
              <mc:Choice xmlns:v="urn:schemas-microsoft-com:vml" Requires="v">
                <p:oleObj spid="_x0000_s12293" name="Equation" r:id="rId10" imgW="1562040" imgH="419040" progId="Equation.DSMT4">
                  <p:embed/>
                </p:oleObj>
              </mc:Choice>
              <mc:Fallback>
                <p:oleObj name="Equation" r:id="rId10" imgW="1562040" imgH="419040" progId="Equation.DSMT4">
                  <p:embed/>
                  <p:pic>
                    <p:nvPicPr>
                      <p:cNvPr id="50" name="Object 49">
                        <a:extLst>
                          <a:ext uri="{FF2B5EF4-FFF2-40B4-BE49-F238E27FC236}">
                            <a16:creationId xmlns:a16="http://schemas.microsoft.com/office/drawing/2014/main" id="{6B2150D6-45C5-434C-97DE-EF910749D24A}"/>
                          </a:ext>
                        </a:extLst>
                      </p:cNvPr>
                      <p:cNvPicPr>
                        <a:picLocks noChangeAspect="1" noChangeArrowheads="1"/>
                      </p:cNvPicPr>
                      <p:nvPr/>
                    </p:nvPicPr>
                    <p:blipFill>
                      <a:blip r:embed="rId11"/>
                      <a:srcRect/>
                      <a:stretch>
                        <a:fillRect/>
                      </a:stretch>
                    </p:blipFill>
                    <p:spPr bwMode="auto">
                      <a:xfrm>
                        <a:off x="3420895" y="5391587"/>
                        <a:ext cx="2319275" cy="618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06728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919" y="207791"/>
            <a:ext cx="8229600" cy="590349"/>
          </a:xfrm>
        </p:spPr>
        <p:txBody>
          <a:bodyPr wrap="square" lIns="0" tIns="18000" rIns="0" bIns="18000" anchor="ctr" anchorCtr="0">
            <a:spAutoFit/>
          </a:bodyPr>
          <a:lstStyle/>
          <a:p>
            <a:r>
              <a:rPr lang="en-US" noProof="0" dirty="0"/>
              <a:t>Chapter 5 – Op Amps </a:t>
            </a:r>
            <a:r>
              <a:rPr lang="en-US" sz="2800" noProof="0" dirty="0"/>
              <a:t>(18 of 22)</a:t>
            </a:r>
            <a:endParaRPr lang="en-US" noProof="0" dirty="0"/>
          </a:p>
        </p:txBody>
      </p:sp>
      <p:sp>
        <p:nvSpPr>
          <p:cNvPr id="4" name="Content Placeholder 3">
            <a:extLst>
              <a:ext uri="{FF2B5EF4-FFF2-40B4-BE49-F238E27FC236}">
                <a16:creationId xmlns:a16="http://schemas.microsoft.com/office/drawing/2014/main" id="{0DF45FBB-328C-49CD-B455-DFD871B50961}"/>
              </a:ext>
            </a:extLst>
          </p:cNvPr>
          <p:cNvSpPr>
            <a:spLocks noGrp="1"/>
          </p:cNvSpPr>
          <p:nvPr>
            <p:ph sz="quarter" idx="12"/>
          </p:nvPr>
        </p:nvSpPr>
        <p:spPr>
          <a:xfrm>
            <a:off x="428920" y="1040880"/>
            <a:ext cx="953824" cy="313350"/>
          </a:xfrm>
        </p:spPr>
        <p:txBody>
          <a:bodyPr wrap="square" lIns="0" tIns="18000" rIns="0" bIns="18000" anchor="ctr" anchorCtr="0">
            <a:spAutoFit/>
          </a:bodyPr>
          <a:lstStyle/>
          <a:p>
            <a:pPr marL="0" indent="0">
              <a:spcBef>
                <a:spcPts val="600"/>
              </a:spcBef>
              <a:buNone/>
            </a:pPr>
            <a:r>
              <a:rPr lang="en-US" altLang="en-US" sz="1800" noProof="0" dirty="0"/>
              <a:t>Example</a:t>
            </a:r>
            <a:endParaRPr lang="en-US" sz="1800" noProof="0" dirty="0"/>
          </a:p>
        </p:txBody>
      </p:sp>
      <p:sp>
        <p:nvSpPr>
          <p:cNvPr id="5" name="Content Placeholder 4">
            <a:extLst>
              <a:ext uri="{FF2B5EF4-FFF2-40B4-BE49-F238E27FC236}">
                <a16:creationId xmlns:a16="http://schemas.microsoft.com/office/drawing/2014/main" id="{35392F7F-F9B6-41D9-93ED-C158B056014D}"/>
              </a:ext>
            </a:extLst>
          </p:cNvPr>
          <p:cNvSpPr>
            <a:spLocks noGrp="1"/>
          </p:cNvSpPr>
          <p:nvPr>
            <p:ph sz="quarter" idx="13"/>
          </p:nvPr>
        </p:nvSpPr>
        <p:spPr>
          <a:xfrm>
            <a:off x="428920" y="1490025"/>
            <a:ext cx="466509" cy="313350"/>
          </a:xfrm>
        </p:spPr>
        <p:txBody>
          <a:bodyPr wrap="square" lIns="0" tIns="18000" rIns="0" bIns="18000" anchor="ctr" anchorCtr="0">
            <a:spAutoFit/>
          </a:bodyPr>
          <a:lstStyle/>
          <a:p>
            <a:pPr marL="0" indent="0">
              <a:spcBef>
                <a:spcPts val="600"/>
              </a:spcBef>
              <a:buNone/>
            </a:pPr>
            <a:r>
              <a:rPr lang="en-US" sz="1800" noProof="0" dirty="0"/>
              <a:t>Find</a:t>
            </a:r>
          </a:p>
        </p:txBody>
      </p:sp>
      <p:graphicFrame>
        <p:nvGraphicFramePr>
          <p:cNvPr id="33" name="Object 32" descr="V subscript O.">
            <a:extLst>
              <a:ext uri="{FF2B5EF4-FFF2-40B4-BE49-F238E27FC236}">
                <a16:creationId xmlns:a16="http://schemas.microsoft.com/office/drawing/2014/main" id="{9BEFD340-D62B-4F10-BCEE-0E9F4550A179}"/>
              </a:ext>
            </a:extLst>
          </p:cNvPr>
          <p:cNvGraphicFramePr>
            <a:graphicFrameLocks noChangeAspect="1"/>
          </p:cNvGraphicFramePr>
          <p:nvPr/>
        </p:nvGraphicFramePr>
        <p:xfrm>
          <a:off x="980582" y="1476194"/>
          <a:ext cx="297563" cy="378831"/>
        </p:xfrm>
        <a:graphic>
          <a:graphicData uri="http://schemas.openxmlformats.org/presentationml/2006/ole">
            <mc:AlternateContent xmlns:mc="http://schemas.openxmlformats.org/markup-compatibility/2006">
              <mc:Choice xmlns:v="urn:schemas-microsoft-com:vml" Requires="v">
                <p:oleObj spid="_x0000_s13314" name="Equation" r:id="rId3" imgW="177480" imgH="228600" progId="Equation.DSMT4">
                  <p:embed/>
                </p:oleObj>
              </mc:Choice>
              <mc:Fallback>
                <p:oleObj name="Equation" r:id="rId3" imgW="177480" imgH="228600" progId="Equation.DSMT4">
                  <p:embed/>
                  <p:pic>
                    <p:nvPicPr>
                      <p:cNvPr id="33" name="Object 32" descr="V subscript O.">
                        <a:extLst>
                          <a:ext uri="{FF2B5EF4-FFF2-40B4-BE49-F238E27FC236}">
                            <a16:creationId xmlns:a16="http://schemas.microsoft.com/office/drawing/2014/main" id="{9BEFD340-D62B-4F10-BCEE-0E9F4550A179}"/>
                          </a:ext>
                        </a:extLst>
                      </p:cNvPr>
                      <p:cNvPicPr>
                        <a:picLocks noChangeAspect="1" noChangeArrowheads="1"/>
                      </p:cNvPicPr>
                      <p:nvPr/>
                    </p:nvPicPr>
                    <p:blipFill>
                      <a:blip r:embed="rId4"/>
                      <a:srcRect/>
                      <a:stretch>
                        <a:fillRect/>
                      </a:stretch>
                    </p:blipFill>
                    <p:spPr bwMode="auto">
                      <a:xfrm>
                        <a:off x="980582" y="1476194"/>
                        <a:ext cx="297563" cy="378831"/>
                      </a:xfrm>
                      <a:prstGeom prst="rect">
                        <a:avLst/>
                      </a:prstGeom>
                      <a:noFill/>
                      <a:ln w="38100">
                        <a:noFill/>
                        <a:miter lim="800000"/>
                        <a:headEnd/>
                        <a:tailEnd/>
                      </a:ln>
                    </p:spPr>
                  </p:pic>
                </p:oleObj>
              </mc:Fallback>
            </mc:AlternateContent>
          </a:graphicData>
        </a:graphic>
      </p:graphicFrame>
      <p:sp>
        <p:nvSpPr>
          <p:cNvPr id="6" name="Content Placeholder 5">
            <a:extLst>
              <a:ext uri="{FF2B5EF4-FFF2-40B4-BE49-F238E27FC236}">
                <a16:creationId xmlns:a16="http://schemas.microsoft.com/office/drawing/2014/main" id="{6267C3E9-8C40-450E-9F33-D9B2B6B8060B}"/>
              </a:ext>
            </a:extLst>
          </p:cNvPr>
          <p:cNvSpPr>
            <a:spLocks noGrp="1"/>
          </p:cNvSpPr>
          <p:nvPr>
            <p:ph sz="quarter" idx="14"/>
          </p:nvPr>
        </p:nvSpPr>
        <p:spPr>
          <a:xfrm>
            <a:off x="1317100" y="1518600"/>
            <a:ext cx="297564" cy="313350"/>
          </a:xfrm>
        </p:spPr>
        <p:txBody>
          <a:bodyPr wrap="square" lIns="0" tIns="18000" rIns="0" bIns="18000" anchor="ctr" anchorCtr="0">
            <a:spAutoFit/>
          </a:bodyPr>
          <a:lstStyle/>
          <a:p>
            <a:pPr marL="0" indent="0">
              <a:spcBef>
                <a:spcPts val="600"/>
              </a:spcBef>
              <a:buNone/>
            </a:pPr>
            <a:r>
              <a:rPr lang="en-US" sz="1800" noProof="0" dirty="0"/>
              <a:t>for</a:t>
            </a:r>
          </a:p>
        </p:txBody>
      </p:sp>
      <p:graphicFrame>
        <p:nvGraphicFramePr>
          <p:cNvPr id="34" name="Object 33" descr="v subscript s BaseLine equals 0.4 Volts, 2.0 Volts, 3.5 Volts, negative 0.6 Volts, negative 1.6 Volts,">
            <a:extLst>
              <a:ext uri="{FF2B5EF4-FFF2-40B4-BE49-F238E27FC236}">
                <a16:creationId xmlns:a16="http://schemas.microsoft.com/office/drawing/2014/main" id="{86238EC7-F9FF-4E7B-ABCA-C8DAA2C7725A}"/>
              </a:ext>
            </a:extLst>
          </p:cNvPr>
          <p:cNvGraphicFramePr>
            <a:graphicFrameLocks noChangeAspect="1"/>
          </p:cNvGraphicFramePr>
          <p:nvPr/>
        </p:nvGraphicFramePr>
        <p:xfrm>
          <a:off x="1697237" y="1510270"/>
          <a:ext cx="3983768" cy="350115"/>
        </p:xfrm>
        <a:graphic>
          <a:graphicData uri="http://schemas.openxmlformats.org/presentationml/2006/ole">
            <mc:AlternateContent xmlns:mc="http://schemas.openxmlformats.org/markup-compatibility/2006">
              <mc:Choice xmlns:v="urn:schemas-microsoft-com:vml" Requires="v">
                <p:oleObj spid="_x0000_s13315" name="Equation" r:id="rId5" imgW="2577960" imgH="228600" progId="Equation.DSMT4">
                  <p:embed/>
                </p:oleObj>
              </mc:Choice>
              <mc:Fallback>
                <p:oleObj name="Equation" r:id="rId5" imgW="2577960" imgH="228600" progId="Equation.DSMT4">
                  <p:embed/>
                  <p:pic>
                    <p:nvPicPr>
                      <p:cNvPr id="34" name="Object 33" descr="v subscript s BaseLine equals 0.4 Volts, 2.0 Volts, 3.5 Volts, negative 0.6 Volts, negative 1.6 Volts,">
                        <a:extLst>
                          <a:ext uri="{FF2B5EF4-FFF2-40B4-BE49-F238E27FC236}">
                            <a16:creationId xmlns:a16="http://schemas.microsoft.com/office/drawing/2014/main" id="{86238EC7-F9FF-4E7B-ABCA-C8DAA2C7725A}"/>
                          </a:ext>
                        </a:extLst>
                      </p:cNvPr>
                      <p:cNvPicPr>
                        <a:picLocks noChangeAspect="1" noChangeArrowheads="1"/>
                      </p:cNvPicPr>
                      <p:nvPr/>
                    </p:nvPicPr>
                    <p:blipFill>
                      <a:blip r:embed="rId6"/>
                      <a:srcRect/>
                      <a:stretch>
                        <a:fillRect/>
                      </a:stretch>
                    </p:blipFill>
                    <p:spPr bwMode="auto">
                      <a:xfrm>
                        <a:off x="1697237" y="1510270"/>
                        <a:ext cx="3983768" cy="350115"/>
                      </a:xfrm>
                      <a:prstGeom prst="rect">
                        <a:avLst/>
                      </a:prstGeom>
                      <a:noFill/>
                      <a:ln w="38100">
                        <a:noFill/>
                        <a:miter lim="800000"/>
                        <a:headEnd/>
                        <a:tailEnd/>
                      </a:ln>
                    </p:spPr>
                  </p:pic>
                </p:oleObj>
              </mc:Fallback>
            </mc:AlternateContent>
          </a:graphicData>
        </a:graphic>
      </p:graphicFrame>
      <p:sp>
        <p:nvSpPr>
          <p:cNvPr id="15" name="Content Placeholder 14">
            <a:extLst>
              <a:ext uri="{FF2B5EF4-FFF2-40B4-BE49-F238E27FC236}">
                <a16:creationId xmlns:a16="http://schemas.microsoft.com/office/drawing/2014/main" id="{8632FC9B-454F-49B3-B01F-269DFD4E753B}"/>
              </a:ext>
            </a:extLst>
          </p:cNvPr>
          <p:cNvSpPr>
            <a:spLocks noGrp="1"/>
          </p:cNvSpPr>
          <p:nvPr>
            <p:ph sz="quarter" idx="15"/>
          </p:nvPr>
        </p:nvSpPr>
        <p:spPr>
          <a:xfrm>
            <a:off x="440802" y="1924148"/>
            <a:ext cx="417037" cy="313350"/>
          </a:xfrm>
        </p:spPr>
        <p:txBody>
          <a:bodyPr wrap="square" lIns="0" tIns="18000" rIns="0" bIns="18000" anchor="ctr" anchorCtr="0">
            <a:spAutoFit/>
          </a:bodyPr>
          <a:lstStyle/>
          <a:p>
            <a:pPr marL="0" indent="0">
              <a:buNone/>
            </a:pPr>
            <a:r>
              <a:rPr lang="en-US" sz="1800" noProof="0" dirty="0"/>
              <a:t>and</a:t>
            </a:r>
          </a:p>
        </p:txBody>
      </p:sp>
      <p:graphicFrame>
        <p:nvGraphicFramePr>
          <p:cNvPr id="37" name="Object 36" descr="Negative 2.4 Volts.">
            <a:extLst>
              <a:ext uri="{FF2B5EF4-FFF2-40B4-BE49-F238E27FC236}">
                <a16:creationId xmlns:a16="http://schemas.microsoft.com/office/drawing/2014/main" id="{5251BD99-960C-44BF-A8B8-63D7529940B3}"/>
              </a:ext>
            </a:extLst>
          </p:cNvPr>
          <p:cNvGraphicFramePr>
            <a:graphicFrameLocks noChangeAspect="1"/>
          </p:cNvGraphicFramePr>
          <p:nvPr/>
        </p:nvGraphicFramePr>
        <p:xfrm>
          <a:off x="925635" y="1965027"/>
          <a:ext cx="747499" cy="295033"/>
        </p:xfrm>
        <a:graphic>
          <a:graphicData uri="http://schemas.openxmlformats.org/presentationml/2006/ole">
            <mc:AlternateContent xmlns:mc="http://schemas.openxmlformats.org/markup-compatibility/2006">
              <mc:Choice xmlns:v="urn:schemas-microsoft-com:vml" Requires="v">
                <p:oleObj spid="_x0000_s13316" name="Equation" r:id="rId7" imgW="507960" imgH="203040" progId="Equation.DSMT4">
                  <p:embed/>
                </p:oleObj>
              </mc:Choice>
              <mc:Fallback>
                <p:oleObj name="Equation" r:id="rId7" imgW="507960" imgH="203040" progId="Equation.DSMT4">
                  <p:embed/>
                  <p:pic>
                    <p:nvPicPr>
                      <p:cNvPr id="37" name="Object 36" descr="Negative 2.4 Volts.">
                        <a:extLst>
                          <a:ext uri="{FF2B5EF4-FFF2-40B4-BE49-F238E27FC236}">
                            <a16:creationId xmlns:a16="http://schemas.microsoft.com/office/drawing/2014/main" id="{5251BD99-960C-44BF-A8B8-63D7529940B3}"/>
                          </a:ext>
                        </a:extLst>
                      </p:cNvPr>
                      <p:cNvPicPr>
                        <a:picLocks noChangeAspect="1" noChangeArrowheads="1"/>
                      </p:cNvPicPr>
                      <p:nvPr/>
                    </p:nvPicPr>
                    <p:blipFill>
                      <a:blip r:embed="rId8"/>
                      <a:srcRect/>
                      <a:stretch>
                        <a:fillRect/>
                      </a:stretch>
                    </p:blipFill>
                    <p:spPr bwMode="auto">
                      <a:xfrm>
                        <a:off x="925635" y="1965027"/>
                        <a:ext cx="747499" cy="295033"/>
                      </a:xfrm>
                      <a:prstGeom prst="rect">
                        <a:avLst/>
                      </a:prstGeom>
                      <a:noFill/>
                      <a:ln w="38100">
                        <a:noFill/>
                        <a:miter lim="800000"/>
                        <a:headEnd/>
                        <a:tailEnd/>
                      </a:ln>
                    </p:spPr>
                  </p:pic>
                </p:oleObj>
              </mc:Fallback>
            </mc:AlternateContent>
          </a:graphicData>
        </a:graphic>
      </p:graphicFrame>
      <p:sp>
        <p:nvSpPr>
          <p:cNvPr id="16" name="Content Placeholder 15">
            <a:extLst>
              <a:ext uri="{FF2B5EF4-FFF2-40B4-BE49-F238E27FC236}">
                <a16:creationId xmlns:a16="http://schemas.microsoft.com/office/drawing/2014/main" id="{F5B7BC2D-0052-466E-8911-E3E5A4ABB5C2}"/>
              </a:ext>
            </a:extLst>
          </p:cNvPr>
          <p:cNvSpPr>
            <a:spLocks noGrp="1"/>
          </p:cNvSpPr>
          <p:nvPr>
            <p:ph sz="quarter" idx="16"/>
          </p:nvPr>
        </p:nvSpPr>
        <p:spPr>
          <a:xfrm>
            <a:off x="1786375" y="1939859"/>
            <a:ext cx="2983584" cy="313350"/>
          </a:xfrm>
        </p:spPr>
        <p:txBody>
          <a:bodyPr wrap="square" lIns="0" tIns="18000" rIns="0" bIns="18000" anchor="ctr" anchorCtr="0">
            <a:spAutoFit/>
          </a:bodyPr>
          <a:lstStyle/>
          <a:p>
            <a:pPr marL="0" indent="0">
              <a:spcBef>
                <a:spcPts val="600"/>
              </a:spcBef>
              <a:buNone/>
            </a:pPr>
            <a:r>
              <a:rPr lang="en-US" sz="1800" noProof="0" dirty="0">
                <a:sym typeface="Symbol"/>
              </a:rPr>
              <a:t>Assume the op amp is ideal.</a:t>
            </a:r>
            <a:endParaRPr lang="en-US" sz="1800" noProof="0" dirty="0"/>
          </a:p>
        </p:txBody>
      </p:sp>
      <p:sp>
        <p:nvSpPr>
          <p:cNvPr id="17" name="Content Placeholder 16">
            <a:extLst>
              <a:ext uri="{FF2B5EF4-FFF2-40B4-BE49-F238E27FC236}">
                <a16:creationId xmlns:a16="http://schemas.microsoft.com/office/drawing/2014/main" id="{E4AF62FB-9FFA-45BA-B9F8-F78DB99636D6}"/>
              </a:ext>
            </a:extLst>
          </p:cNvPr>
          <p:cNvSpPr>
            <a:spLocks noGrp="1"/>
          </p:cNvSpPr>
          <p:nvPr>
            <p:ph sz="quarter" idx="17"/>
          </p:nvPr>
        </p:nvSpPr>
        <p:spPr>
          <a:xfrm>
            <a:off x="428919" y="2464946"/>
            <a:ext cx="4416458" cy="1421346"/>
          </a:xfrm>
        </p:spPr>
        <p:txBody>
          <a:bodyPr wrap="square" lIns="0" tIns="18000" rIns="0" bIns="18000" anchor="ctr" anchorCtr="0">
            <a:spAutoFit/>
          </a:bodyPr>
          <a:lstStyle/>
          <a:p>
            <a:pPr marL="342900" indent="-342900">
              <a:spcBef>
                <a:spcPts val="600"/>
              </a:spcBef>
            </a:pPr>
            <a:r>
              <a:rPr lang="en-US" altLang="en-US" sz="1800" noProof="0" dirty="0"/>
              <a:t>Step 4 – Compare the op amp’s output voltage with the power supply voltages to determine if the op amp is operating in its linear region or if it is saturated. The results are shown in the table.</a:t>
            </a:r>
          </a:p>
        </p:txBody>
      </p:sp>
      <p:pic>
        <p:nvPicPr>
          <p:cNvPr id="7" name="Picture 6" descr="A circuit diagram shows an operational amplifier with 10 volts applied to its top vertical terminal and minus 15 volts applied to at its bottom vertical terminal. Voltage source V subscript s is connected to the inverting input through a 16 kilo ohms resistor. Voltage source V subscript s has positive polarity on the upper side and negative polarity on the lower side. A node exists just before the point where the inverting input wire is connected to the operational amplifier. The node on the inverting input wire is connected to the output terminal of the operational amplifier through an 80 kilo ohms resistor. The non inverting input terminal of the operational amplifier is connected to ground. Voltage v subscript o exists between the output terminal of the operational amplifier and ground.">
            <a:extLst>
              <a:ext uri="{FF2B5EF4-FFF2-40B4-BE49-F238E27FC236}">
                <a16:creationId xmlns:a16="http://schemas.microsoft.com/office/drawing/2014/main" id="{72B7DA54-D01A-422A-8E62-6B3D5A71FC1A}"/>
              </a:ext>
            </a:extLst>
          </p:cNvPr>
          <p:cNvPicPr>
            <a:picLocks noChangeAspect="1"/>
          </p:cNvPicPr>
          <p:nvPr/>
        </p:nvPicPr>
        <p:blipFill>
          <a:blip r:embed="rId9"/>
          <a:stretch>
            <a:fillRect/>
          </a:stretch>
        </p:blipFill>
        <p:spPr>
          <a:xfrm>
            <a:off x="5247815" y="1927223"/>
            <a:ext cx="3135528" cy="2079734"/>
          </a:xfrm>
          <a:prstGeom prst="rect">
            <a:avLst/>
          </a:prstGeom>
        </p:spPr>
      </p:pic>
      <p:graphicFrame>
        <p:nvGraphicFramePr>
          <p:cNvPr id="14" name="Table 13">
            <a:extLst>
              <a:ext uri="{FF2B5EF4-FFF2-40B4-BE49-F238E27FC236}">
                <a16:creationId xmlns:a16="http://schemas.microsoft.com/office/drawing/2014/main" id="{9A5877D1-0E57-4801-8855-8E8984C8E573}"/>
              </a:ext>
            </a:extLst>
          </p:cNvPr>
          <p:cNvGraphicFramePr>
            <a:graphicFrameLocks noGrp="1"/>
          </p:cNvGraphicFramePr>
          <p:nvPr>
            <p:extLst>
              <p:ext uri="{D42A27DB-BD31-4B8C-83A1-F6EECF244321}">
                <p14:modId xmlns:p14="http://schemas.microsoft.com/office/powerpoint/2010/main" val="2703972798"/>
              </p:ext>
            </p:extLst>
          </p:nvPr>
        </p:nvGraphicFramePr>
        <p:xfrm>
          <a:off x="1106077" y="4069383"/>
          <a:ext cx="6781799" cy="2196846"/>
        </p:xfrm>
        <a:graphic>
          <a:graphicData uri="http://schemas.openxmlformats.org/drawingml/2006/table">
            <a:tbl>
              <a:tblPr firstRow="1" bandRow="1">
                <a:tableStyleId>{5C22544A-7EE6-4342-B048-85BDC9FD1C3A}</a:tableStyleId>
              </a:tblPr>
              <a:tblGrid>
                <a:gridCol w="1574346">
                  <a:extLst>
                    <a:ext uri="{9D8B030D-6E8A-4147-A177-3AD203B41FA5}">
                      <a16:colId xmlns:a16="http://schemas.microsoft.com/office/drawing/2014/main" val="20000"/>
                    </a:ext>
                  </a:extLst>
                </a:gridCol>
                <a:gridCol w="2422071">
                  <a:extLst>
                    <a:ext uri="{9D8B030D-6E8A-4147-A177-3AD203B41FA5}">
                      <a16:colId xmlns:a16="http://schemas.microsoft.com/office/drawing/2014/main" val="20001"/>
                    </a:ext>
                  </a:extLst>
                </a:gridCol>
                <a:gridCol w="2785382">
                  <a:extLst>
                    <a:ext uri="{9D8B030D-6E8A-4147-A177-3AD203B41FA5}">
                      <a16:colId xmlns:a16="http://schemas.microsoft.com/office/drawing/2014/main" val="20002"/>
                    </a:ext>
                  </a:extLst>
                </a:gridCol>
              </a:tblGrid>
              <a:tr h="263806">
                <a:tc>
                  <a:txBody>
                    <a:bodyPr/>
                    <a:lstStyle/>
                    <a:p>
                      <a:pPr algn="ctr"/>
                      <a:r>
                        <a:rPr lang="en-US" sz="100" baseline="-25000" dirty="0">
                          <a:solidFill>
                            <a:schemeClr val="bg1"/>
                          </a:solidFill>
                          <a:latin typeface="Arial" panose="020B0604020202020204" pitchFamily="34" charset="0"/>
                          <a:cs typeface="Arial" panose="020B0604020202020204" pitchFamily="34" charset="0"/>
                        </a:rPr>
                        <a:t>v subscript s Open Square Bracket V Close Square Bracket</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00" baseline="-25000" dirty="0">
                          <a:solidFill>
                            <a:schemeClr val="bg1"/>
                          </a:solidFill>
                          <a:latin typeface="Arial" panose="020B0604020202020204" pitchFamily="34" charset="0"/>
                          <a:cs typeface="Arial" panose="020B0604020202020204" pitchFamily="34" charset="0"/>
                        </a:rPr>
                        <a:t>V subscript O equals negative 5 v subscript s open square bracket V close square bracket</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400" baseline="0" dirty="0">
                          <a:solidFill>
                            <a:schemeClr val="bg1"/>
                          </a:solidFill>
                          <a:latin typeface="Arial" panose="020B0604020202020204" pitchFamily="34" charset="0"/>
                          <a:cs typeface="Arial" panose="020B0604020202020204" pitchFamily="34" charset="0"/>
                        </a:rPr>
                        <a:t>OK?</a:t>
                      </a:r>
                      <a:endParaRPr lang="en-US" sz="1400" baseline="-25000" dirty="0">
                        <a:solidFill>
                          <a:schemeClr val="bg1"/>
                        </a:solidFill>
                        <a:latin typeface="Arial" panose="020B0604020202020204" pitchFamily="34" charset="0"/>
                        <a:cs typeface="Arial" panose="020B0604020202020204" pitchFamily="34" charset="0"/>
                      </a:endParaRP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263824">
                <a:tc>
                  <a:txBody>
                    <a:bodyPr/>
                    <a:lstStyle/>
                    <a:p>
                      <a:pPr algn="ctr"/>
                      <a:r>
                        <a:rPr lang="en-US" sz="100" dirty="0">
                          <a:latin typeface="Arial" panose="020B0604020202020204" pitchFamily="34" charset="0"/>
                          <a:cs typeface="Arial" panose="020B0604020202020204" pitchFamily="34" charset="0"/>
                        </a:rPr>
                        <a:t>0 point 4</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Negative 2 point 0</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latin typeface="Arial" panose="020B0604020202020204" pitchFamily="34" charset="0"/>
                          <a:cs typeface="Arial" panose="020B0604020202020204" pitchFamily="34" charset="0"/>
                        </a:rPr>
                        <a:t>Yes</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263842">
                <a:tc>
                  <a:txBody>
                    <a:bodyPr/>
                    <a:lstStyle/>
                    <a:p>
                      <a:pPr algn="ctr"/>
                      <a:r>
                        <a:rPr lang="en-US" sz="100" dirty="0">
                          <a:latin typeface="Arial" panose="020B0604020202020204" pitchFamily="34" charset="0"/>
                          <a:cs typeface="Arial" panose="020B0604020202020204" pitchFamily="34" charset="0"/>
                        </a:rPr>
                        <a:t>2 point 0</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Negative 10 point 0</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latin typeface="Arial" panose="020B0604020202020204" pitchFamily="34" charset="0"/>
                          <a:cs typeface="Arial" panose="020B0604020202020204" pitchFamily="34" charset="0"/>
                        </a:rPr>
                        <a:t>Yes</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188372">
                <a:tc>
                  <a:txBody>
                    <a:bodyPr/>
                    <a:lstStyle/>
                    <a:p>
                      <a:pPr algn="ctr"/>
                      <a:r>
                        <a:rPr lang="en-US" sz="1400" dirty="0">
                          <a:latin typeface="Arial" panose="020B0604020202020204" pitchFamily="34" charset="0"/>
                          <a:cs typeface="Arial" panose="020B0604020202020204" pitchFamily="34" charset="0"/>
                        </a:rPr>
                        <a:t>3.5</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Negative 17 point 5</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latin typeface="Arial" panose="020B0604020202020204" pitchFamily="34" charset="0"/>
                          <a:cs typeface="Arial" panose="020B0604020202020204" pitchFamily="34" charset="0"/>
                        </a:rPr>
                        <a:t>NO – saturate at −15 V</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140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Negative 0 point 6</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3 point 0</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latin typeface="Arial" panose="020B0604020202020204" pitchFamily="34" charset="0"/>
                          <a:cs typeface="Arial" panose="020B0604020202020204" pitchFamily="34" charset="0"/>
                        </a:rPr>
                        <a:t>Yes</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235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Negative 1 point 6</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8 point 0</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latin typeface="Arial" panose="020B0604020202020204" pitchFamily="34" charset="0"/>
                          <a:cs typeface="Arial" panose="020B0604020202020204" pitchFamily="34" charset="0"/>
                        </a:rPr>
                        <a:t>Yes</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40114">
                <a:tc>
                  <a:txBody>
                    <a:bodyPr/>
                    <a:lstStyle/>
                    <a:p>
                      <a:pPr algn="ctr"/>
                      <a:r>
                        <a:rPr lang="en-US" sz="1400" dirty="0">
                          <a:latin typeface="Arial" panose="020B0604020202020204" pitchFamily="34" charset="0"/>
                          <a:cs typeface="Arial" panose="020B0604020202020204" pitchFamily="34" charset="0"/>
                        </a:rPr>
                        <a:t>−2.4</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12 point 0</a:t>
                      </a: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latin typeface="Arial" panose="020B0604020202020204" pitchFamily="34" charset="0"/>
                          <a:cs typeface="Arial" panose="020B0604020202020204" pitchFamily="34" charset="0"/>
                        </a:rPr>
                        <a:t>NO – saturate at</a:t>
                      </a:r>
                      <a:r>
                        <a:rPr lang="en-US" sz="1400" baseline="0" dirty="0">
                          <a:latin typeface="Arial" panose="020B0604020202020204" pitchFamily="34" charset="0"/>
                          <a:cs typeface="Arial" panose="020B0604020202020204" pitchFamily="34" charset="0"/>
                        </a:rPr>
                        <a:t> 10 V</a:t>
                      </a:r>
                      <a:endParaRPr lang="en-US" sz="1400" dirty="0">
                        <a:latin typeface="Arial" panose="020B0604020202020204" pitchFamily="34" charset="0"/>
                        <a:cs typeface="Arial" panose="020B0604020202020204" pitchFamily="34" charset="0"/>
                      </a:endParaRPr>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bl>
          </a:graphicData>
        </a:graphic>
      </p:graphicFrame>
      <p:graphicFrame>
        <p:nvGraphicFramePr>
          <p:cNvPr id="31" name="Object 30">
            <a:extLst>
              <a:ext uri="{FF2B5EF4-FFF2-40B4-BE49-F238E27FC236}">
                <a16:creationId xmlns:a16="http://schemas.microsoft.com/office/drawing/2014/main" id="{6622AFFA-B21C-4DFA-9D8E-9BC63985AE6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064298664"/>
              </p:ext>
            </p:extLst>
          </p:nvPr>
        </p:nvGraphicFramePr>
        <p:xfrm>
          <a:off x="1697237" y="4081130"/>
          <a:ext cx="474663" cy="277812"/>
        </p:xfrm>
        <a:graphic>
          <a:graphicData uri="http://schemas.openxmlformats.org/presentationml/2006/ole">
            <mc:AlternateContent xmlns:mc="http://schemas.openxmlformats.org/markup-compatibility/2006">
              <mc:Choice xmlns:v="urn:schemas-microsoft-com:vml" Requires="v">
                <p:oleObj spid="_x0000_s13317" name="Equation" r:id="rId10" imgW="431640" imgH="253800" progId="Equation.DSMT4">
                  <p:embed/>
                </p:oleObj>
              </mc:Choice>
              <mc:Fallback>
                <p:oleObj name="Equation" r:id="rId10" imgW="431640" imgH="253800" progId="Equation.DSMT4">
                  <p:embed/>
                  <p:pic>
                    <p:nvPicPr>
                      <p:cNvPr id="31" name="Object 30">
                        <a:extLst>
                          <a:ext uri="{FF2B5EF4-FFF2-40B4-BE49-F238E27FC236}">
                            <a16:creationId xmlns:a16="http://schemas.microsoft.com/office/drawing/2014/main" id="{6622AFFA-B21C-4DFA-9D8E-9BC63985AE67}"/>
                          </a:ext>
                        </a:extLst>
                      </p:cNvPr>
                      <p:cNvPicPr>
                        <a:picLocks noChangeAspect="1" noChangeArrowheads="1"/>
                      </p:cNvPicPr>
                      <p:nvPr/>
                    </p:nvPicPr>
                    <p:blipFill>
                      <a:blip r:embed="rId11"/>
                      <a:srcRect/>
                      <a:stretch>
                        <a:fillRect/>
                      </a:stretch>
                    </p:blipFill>
                    <p:spPr bwMode="auto">
                      <a:xfrm>
                        <a:off x="1697237" y="4081130"/>
                        <a:ext cx="474663" cy="277812"/>
                      </a:xfrm>
                      <a:prstGeom prst="rect">
                        <a:avLst/>
                      </a:prstGeom>
                      <a:solidFill>
                        <a:schemeClr val="tx2"/>
                      </a:solidFill>
                      <a:ln w="38100">
                        <a:noFill/>
                        <a:miter lim="800000"/>
                        <a:headEnd/>
                        <a:tailEnd/>
                      </a:ln>
                    </p:spPr>
                  </p:pic>
                </p:oleObj>
              </mc:Fallback>
            </mc:AlternateContent>
          </a:graphicData>
        </a:graphic>
      </p:graphicFrame>
      <p:graphicFrame>
        <p:nvGraphicFramePr>
          <p:cNvPr id="30" name="Object 29">
            <a:extLst>
              <a:ext uri="{FF2B5EF4-FFF2-40B4-BE49-F238E27FC236}">
                <a16:creationId xmlns:a16="http://schemas.microsoft.com/office/drawing/2014/main" id="{49E5E105-7805-4429-9609-C3EA90C8FFB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336262785"/>
              </p:ext>
            </p:extLst>
          </p:nvPr>
        </p:nvGraphicFramePr>
        <p:xfrm>
          <a:off x="3437174" y="4082337"/>
          <a:ext cx="965200" cy="277812"/>
        </p:xfrm>
        <a:graphic>
          <a:graphicData uri="http://schemas.openxmlformats.org/presentationml/2006/ole">
            <mc:AlternateContent xmlns:mc="http://schemas.openxmlformats.org/markup-compatibility/2006">
              <mc:Choice xmlns:v="urn:schemas-microsoft-com:vml" Requires="v">
                <p:oleObj spid="_x0000_s13318" name="Equation" r:id="rId12" imgW="876240" imgH="253800" progId="Equation.DSMT4">
                  <p:embed/>
                </p:oleObj>
              </mc:Choice>
              <mc:Fallback>
                <p:oleObj name="Equation" r:id="rId12" imgW="876240" imgH="253800" progId="Equation.DSMT4">
                  <p:embed/>
                  <p:pic>
                    <p:nvPicPr>
                      <p:cNvPr id="30" name="Object 29">
                        <a:extLst>
                          <a:ext uri="{FF2B5EF4-FFF2-40B4-BE49-F238E27FC236}">
                            <a16:creationId xmlns:a16="http://schemas.microsoft.com/office/drawing/2014/main" id="{49E5E105-7805-4429-9609-C3EA90C8FFB7}"/>
                          </a:ext>
                        </a:extLst>
                      </p:cNvPr>
                      <p:cNvPicPr>
                        <a:picLocks noChangeAspect="1" noChangeArrowheads="1"/>
                      </p:cNvPicPr>
                      <p:nvPr/>
                    </p:nvPicPr>
                    <p:blipFill>
                      <a:blip r:embed="rId13"/>
                      <a:srcRect/>
                      <a:stretch>
                        <a:fillRect/>
                      </a:stretch>
                    </p:blipFill>
                    <p:spPr bwMode="auto">
                      <a:xfrm>
                        <a:off x="3437174" y="4082337"/>
                        <a:ext cx="965200" cy="277812"/>
                      </a:xfrm>
                      <a:prstGeom prst="rect">
                        <a:avLst/>
                      </a:prstGeom>
                      <a:solidFill>
                        <a:schemeClr val="tx2"/>
                      </a:solidFill>
                      <a:ln w="38100">
                        <a:noFill/>
                        <a:miter lim="800000"/>
                        <a:headEnd/>
                        <a:tailEnd/>
                      </a:ln>
                    </p:spPr>
                  </p:pic>
                </p:oleObj>
              </mc:Fallback>
            </mc:AlternateContent>
          </a:graphicData>
        </a:graphic>
      </p:graphicFrame>
      <p:graphicFrame>
        <p:nvGraphicFramePr>
          <p:cNvPr id="26" name="Object 25">
            <a:extLst>
              <a:ext uri="{FF2B5EF4-FFF2-40B4-BE49-F238E27FC236}">
                <a16:creationId xmlns:a16="http://schemas.microsoft.com/office/drawing/2014/main" id="{95A343B5-9A66-4C0F-A101-30057C3E99A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402076307"/>
              </p:ext>
            </p:extLst>
          </p:nvPr>
        </p:nvGraphicFramePr>
        <p:xfrm>
          <a:off x="1736037" y="4410919"/>
          <a:ext cx="317500" cy="219075"/>
        </p:xfrm>
        <a:graphic>
          <a:graphicData uri="http://schemas.openxmlformats.org/presentationml/2006/ole">
            <mc:AlternateContent xmlns:mc="http://schemas.openxmlformats.org/markup-compatibility/2006">
              <mc:Choice xmlns:v="urn:schemas-microsoft-com:vml" Requires="v">
                <p:oleObj spid="_x0000_s13319" name="Equation" r:id="rId14" imgW="253800" imgH="177480" progId="Equation.DSMT4">
                  <p:embed/>
                </p:oleObj>
              </mc:Choice>
              <mc:Fallback>
                <p:oleObj name="Equation" r:id="rId14" imgW="253800" imgH="177480" progId="Equation.DSMT4">
                  <p:embed/>
                  <p:pic>
                    <p:nvPicPr>
                      <p:cNvPr id="26" name="Object 25">
                        <a:extLst>
                          <a:ext uri="{FF2B5EF4-FFF2-40B4-BE49-F238E27FC236}">
                            <a16:creationId xmlns:a16="http://schemas.microsoft.com/office/drawing/2014/main" id="{95A343B5-9A66-4C0F-A101-30057C3E99A9}"/>
                          </a:ext>
                        </a:extLst>
                      </p:cNvPr>
                      <p:cNvPicPr>
                        <a:picLocks noChangeAspect="1" noChangeArrowheads="1"/>
                      </p:cNvPicPr>
                      <p:nvPr/>
                    </p:nvPicPr>
                    <p:blipFill>
                      <a:blip r:embed="rId15"/>
                      <a:srcRect/>
                      <a:stretch>
                        <a:fillRect/>
                      </a:stretch>
                    </p:blipFill>
                    <p:spPr bwMode="auto">
                      <a:xfrm>
                        <a:off x="1736037" y="4410919"/>
                        <a:ext cx="317500" cy="219075"/>
                      </a:xfrm>
                      <a:prstGeom prst="rect">
                        <a:avLst/>
                      </a:prstGeom>
                      <a:solidFill>
                        <a:srgbClr val="D4EAE4"/>
                      </a:solidFill>
                      <a:ln w="38100">
                        <a:noFill/>
                        <a:miter lim="800000"/>
                        <a:headEnd/>
                        <a:tailEnd/>
                      </a:ln>
                    </p:spPr>
                  </p:pic>
                </p:oleObj>
              </mc:Fallback>
            </mc:AlternateContent>
          </a:graphicData>
        </a:graphic>
      </p:graphicFrame>
      <p:graphicFrame>
        <p:nvGraphicFramePr>
          <p:cNvPr id="18" name="Object 17">
            <a:extLst>
              <a:ext uri="{FF2B5EF4-FFF2-40B4-BE49-F238E27FC236}">
                <a16:creationId xmlns:a16="http://schemas.microsoft.com/office/drawing/2014/main" id="{CE7502B0-D3C4-4EDC-8AB6-F60F9E99320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028353217"/>
              </p:ext>
            </p:extLst>
          </p:nvPr>
        </p:nvGraphicFramePr>
        <p:xfrm>
          <a:off x="3574824" y="4403052"/>
          <a:ext cx="427345" cy="218593"/>
        </p:xfrm>
        <a:graphic>
          <a:graphicData uri="http://schemas.openxmlformats.org/presentationml/2006/ole">
            <mc:AlternateContent xmlns:mc="http://schemas.openxmlformats.org/markup-compatibility/2006">
              <mc:Choice xmlns:v="urn:schemas-microsoft-com:vml" Requires="v">
                <p:oleObj spid="_x0000_s13320" name="Equation" r:id="rId16" imgW="342720" imgH="177480" progId="Equation.DSMT4">
                  <p:embed/>
                </p:oleObj>
              </mc:Choice>
              <mc:Fallback>
                <p:oleObj name="Equation" r:id="rId16" imgW="342720" imgH="177480" progId="Equation.DSMT4">
                  <p:embed/>
                  <p:pic>
                    <p:nvPicPr>
                      <p:cNvPr id="18" name="Object 17">
                        <a:extLst>
                          <a:ext uri="{FF2B5EF4-FFF2-40B4-BE49-F238E27FC236}">
                            <a16:creationId xmlns:a16="http://schemas.microsoft.com/office/drawing/2014/main" id="{CE7502B0-D3C4-4EDC-8AB6-F60F9E99320F}"/>
                          </a:ext>
                        </a:extLst>
                      </p:cNvPr>
                      <p:cNvPicPr>
                        <a:picLocks noChangeAspect="1" noChangeArrowheads="1"/>
                      </p:cNvPicPr>
                      <p:nvPr/>
                    </p:nvPicPr>
                    <p:blipFill>
                      <a:blip r:embed="rId17"/>
                      <a:srcRect/>
                      <a:stretch>
                        <a:fillRect/>
                      </a:stretch>
                    </p:blipFill>
                    <p:spPr bwMode="auto">
                      <a:xfrm>
                        <a:off x="3574824" y="4403052"/>
                        <a:ext cx="427345" cy="218593"/>
                      </a:xfrm>
                      <a:prstGeom prst="rect">
                        <a:avLst/>
                      </a:prstGeom>
                      <a:solidFill>
                        <a:srgbClr val="D4EAE4"/>
                      </a:solidFill>
                      <a:ln w="38100">
                        <a:noFill/>
                        <a:miter lim="800000"/>
                        <a:headEnd/>
                        <a:tailEnd/>
                      </a:ln>
                    </p:spPr>
                  </p:pic>
                </p:oleObj>
              </mc:Fallback>
            </mc:AlternateContent>
          </a:graphicData>
        </a:graphic>
      </p:graphicFrame>
      <p:graphicFrame>
        <p:nvGraphicFramePr>
          <p:cNvPr id="27" name="Object 26">
            <a:extLst>
              <a:ext uri="{FF2B5EF4-FFF2-40B4-BE49-F238E27FC236}">
                <a16:creationId xmlns:a16="http://schemas.microsoft.com/office/drawing/2014/main" id="{A6D30012-8642-4463-969D-4CD8295431C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462469747"/>
              </p:ext>
            </p:extLst>
          </p:nvPr>
        </p:nvGraphicFramePr>
        <p:xfrm>
          <a:off x="1723614" y="4718842"/>
          <a:ext cx="317500" cy="219075"/>
        </p:xfrm>
        <a:graphic>
          <a:graphicData uri="http://schemas.openxmlformats.org/presentationml/2006/ole">
            <mc:AlternateContent xmlns:mc="http://schemas.openxmlformats.org/markup-compatibility/2006">
              <mc:Choice xmlns:v="urn:schemas-microsoft-com:vml" Requires="v">
                <p:oleObj spid="_x0000_s13321" name="Equation" r:id="rId18" imgW="253800" imgH="177480" progId="Equation.DSMT4">
                  <p:embed/>
                </p:oleObj>
              </mc:Choice>
              <mc:Fallback>
                <p:oleObj name="Equation" r:id="rId18" imgW="253800" imgH="177480" progId="Equation.DSMT4">
                  <p:embed/>
                  <p:pic>
                    <p:nvPicPr>
                      <p:cNvPr id="27" name="Object 26">
                        <a:extLst>
                          <a:ext uri="{FF2B5EF4-FFF2-40B4-BE49-F238E27FC236}">
                            <a16:creationId xmlns:a16="http://schemas.microsoft.com/office/drawing/2014/main" id="{A6D30012-8642-4463-969D-4CD8295431C0}"/>
                          </a:ext>
                        </a:extLst>
                      </p:cNvPr>
                      <p:cNvPicPr>
                        <a:picLocks noChangeAspect="1" noChangeArrowheads="1"/>
                      </p:cNvPicPr>
                      <p:nvPr/>
                    </p:nvPicPr>
                    <p:blipFill>
                      <a:blip r:embed="rId19"/>
                      <a:srcRect/>
                      <a:stretch>
                        <a:fillRect/>
                      </a:stretch>
                    </p:blipFill>
                    <p:spPr bwMode="auto">
                      <a:xfrm>
                        <a:off x="1723614" y="4718842"/>
                        <a:ext cx="317500" cy="219075"/>
                      </a:xfrm>
                      <a:prstGeom prst="rect">
                        <a:avLst/>
                      </a:prstGeom>
                      <a:solidFill>
                        <a:srgbClr val="D4EAE4"/>
                      </a:solidFill>
                      <a:ln w="38100">
                        <a:noFill/>
                        <a:miter lim="800000"/>
                        <a:headEnd/>
                        <a:tailEnd/>
                      </a:ln>
                    </p:spPr>
                  </p:pic>
                </p:oleObj>
              </mc:Fallback>
            </mc:AlternateContent>
          </a:graphicData>
        </a:graphic>
      </p:graphicFrame>
      <p:graphicFrame>
        <p:nvGraphicFramePr>
          <p:cNvPr id="19" name="Object 18">
            <a:extLst>
              <a:ext uri="{FF2B5EF4-FFF2-40B4-BE49-F238E27FC236}">
                <a16:creationId xmlns:a16="http://schemas.microsoft.com/office/drawing/2014/main" id="{0CACB425-8A21-440B-A30B-C42FEE818DD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479354273"/>
              </p:ext>
            </p:extLst>
          </p:nvPr>
        </p:nvGraphicFramePr>
        <p:xfrm>
          <a:off x="3473630" y="4714993"/>
          <a:ext cx="538162" cy="219075"/>
        </p:xfrm>
        <a:graphic>
          <a:graphicData uri="http://schemas.openxmlformats.org/presentationml/2006/ole">
            <mc:AlternateContent xmlns:mc="http://schemas.openxmlformats.org/markup-compatibility/2006">
              <mc:Choice xmlns:v="urn:schemas-microsoft-com:vml" Requires="v">
                <p:oleObj spid="_x0000_s13322" name="Equation" r:id="rId20" imgW="431640" imgH="177480" progId="Equation.DSMT4">
                  <p:embed/>
                </p:oleObj>
              </mc:Choice>
              <mc:Fallback>
                <p:oleObj name="Equation" r:id="rId20" imgW="431640" imgH="177480" progId="Equation.DSMT4">
                  <p:embed/>
                  <p:pic>
                    <p:nvPicPr>
                      <p:cNvPr id="19" name="Object 18">
                        <a:extLst>
                          <a:ext uri="{FF2B5EF4-FFF2-40B4-BE49-F238E27FC236}">
                            <a16:creationId xmlns:a16="http://schemas.microsoft.com/office/drawing/2014/main" id="{0CACB425-8A21-440B-A30B-C42FEE818DDC}"/>
                          </a:ext>
                        </a:extLst>
                      </p:cNvPr>
                      <p:cNvPicPr>
                        <a:picLocks noChangeAspect="1" noChangeArrowheads="1"/>
                      </p:cNvPicPr>
                      <p:nvPr/>
                    </p:nvPicPr>
                    <p:blipFill>
                      <a:blip r:embed="rId21"/>
                      <a:srcRect/>
                      <a:stretch>
                        <a:fillRect/>
                      </a:stretch>
                    </p:blipFill>
                    <p:spPr bwMode="auto">
                      <a:xfrm>
                        <a:off x="3473630" y="4714993"/>
                        <a:ext cx="538162" cy="219075"/>
                      </a:xfrm>
                      <a:prstGeom prst="rect">
                        <a:avLst/>
                      </a:prstGeom>
                      <a:solidFill>
                        <a:srgbClr val="D4EAE4"/>
                      </a:solidFill>
                      <a:ln w="38100">
                        <a:noFill/>
                        <a:miter lim="800000"/>
                        <a:headEnd/>
                        <a:tailEnd/>
                      </a:ln>
                    </p:spPr>
                  </p:pic>
                </p:oleObj>
              </mc:Fallback>
            </mc:AlternateContent>
          </a:graphicData>
        </a:graphic>
      </p:graphicFrame>
      <p:graphicFrame>
        <p:nvGraphicFramePr>
          <p:cNvPr id="20" name="Object 19">
            <a:extLst>
              <a:ext uri="{FF2B5EF4-FFF2-40B4-BE49-F238E27FC236}">
                <a16:creationId xmlns:a16="http://schemas.microsoft.com/office/drawing/2014/main" id="{507DF892-9AB6-4403-BAAC-9A4B2778794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19177076"/>
              </p:ext>
            </p:extLst>
          </p:nvPr>
        </p:nvGraphicFramePr>
        <p:xfrm>
          <a:off x="3465772" y="5018225"/>
          <a:ext cx="538162" cy="219075"/>
        </p:xfrm>
        <a:graphic>
          <a:graphicData uri="http://schemas.openxmlformats.org/presentationml/2006/ole">
            <mc:AlternateContent xmlns:mc="http://schemas.openxmlformats.org/markup-compatibility/2006">
              <mc:Choice xmlns:v="urn:schemas-microsoft-com:vml" Requires="v">
                <p:oleObj spid="_x0000_s13323" name="Equation" r:id="rId22" imgW="431640" imgH="177480" progId="Equation.DSMT4">
                  <p:embed/>
                </p:oleObj>
              </mc:Choice>
              <mc:Fallback>
                <p:oleObj name="Equation" r:id="rId22" imgW="431640" imgH="177480" progId="Equation.DSMT4">
                  <p:embed/>
                  <p:pic>
                    <p:nvPicPr>
                      <p:cNvPr id="20" name="Object 19">
                        <a:extLst>
                          <a:ext uri="{FF2B5EF4-FFF2-40B4-BE49-F238E27FC236}">
                            <a16:creationId xmlns:a16="http://schemas.microsoft.com/office/drawing/2014/main" id="{507DF892-9AB6-4403-BAAC-9A4B27787948}"/>
                          </a:ext>
                        </a:extLst>
                      </p:cNvPr>
                      <p:cNvPicPr>
                        <a:picLocks noChangeAspect="1" noChangeArrowheads="1"/>
                      </p:cNvPicPr>
                      <p:nvPr/>
                    </p:nvPicPr>
                    <p:blipFill>
                      <a:blip r:embed="rId23"/>
                      <a:srcRect/>
                      <a:stretch>
                        <a:fillRect/>
                      </a:stretch>
                    </p:blipFill>
                    <p:spPr bwMode="auto">
                      <a:xfrm>
                        <a:off x="3465772" y="5018225"/>
                        <a:ext cx="538162" cy="219075"/>
                      </a:xfrm>
                      <a:prstGeom prst="rect">
                        <a:avLst/>
                      </a:prstGeom>
                      <a:solidFill>
                        <a:srgbClr val="D4EAE4"/>
                      </a:solidFill>
                      <a:ln w="38100">
                        <a:noFill/>
                        <a:miter lim="800000"/>
                        <a:headEnd/>
                        <a:tailEnd/>
                      </a:ln>
                    </p:spPr>
                  </p:pic>
                </p:oleObj>
              </mc:Fallback>
            </mc:AlternateContent>
          </a:graphicData>
        </a:graphic>
      </p:graphicFrame>
      <p:graphicFrame>
        <p:nvGraphicFramePr>
          <p:cNvPr id="28" name="Object 27">
            <a:extLst>
              <a:ext uri="{FF2B5EF4-FFF2-40B4-BE49-F238E27FC236}">
                <a16:creationId xmlns:a16="http://schemas.microsoft.com/office/drawing/2014/main" id="{9471F198-5D52-4870-82D0-EF577F1FC3F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05971006"/>
              </p:ext>
            </p:extLst>
          </p:nvPr>
        </p:nvGraphicFramePr>
        <p:xfrm>
          <a:off x="1629623" y="5325204"/>
          <a:ext cx="416019" cy="212632"/>
        </p:xfrm>
        <a:graphic>
          <a:graphicData uri="http://schemas.openxmlformats.org/presentationml/2006/ole">
            <mc:AlternateContent xmlns:mc="http://schemas.openxmlformats.org/markup-compatibility/2006">
              <mc:Choice xmlns:v="urn:schemas-microsoft-com:vml" Requires="v">
                <p:oleObj spid="_x0000_s13324" name="Equation" r:id="rId24" imgW="342720" imgH="177480" progId="Equation.DSMT4">
                  <p:embed/>
                </p:oleObj>
              </mc:Choice>
              <mc:Fallback>
                <p:oleObj name="Equation" r:id="rId24" imgW="342720" imgH="177480" progId="Equation.DSMT4">
                  <p:embed/>
                  <p:pic>
                    <p:nvPicPr>
                      <p:cNvPr id="28" name="Object 27">
                        <a:extLst>
                          <a:ext uri="{FF2B5EF4-FFF2-40B4-BE49-F238E27FC236}">
                            <a16:creationId xmlns:a16="http://schemas.microsoft.com/office/drawing/2014/main" id="{9471F198-5D52-4870-82D0-EF577F1FC3F4}"/>
                          </a:ext>
                        </a:extLst>
                      </p:cNvPr>
                      <p:cNvPicPr>
                        <a:picLocks noChangeAspect="1" noChangeArrowheads="1"/>
                      </p:cNvPicPr>
                      <p:nvPr/>
                    </p:nvPicPr>
                    <p:blipFill>
                      <a:blip r:embed="rId25"/>
                      <a:srcRect/>
                      <a:stretch>
                        <a:fillRect/>
                      </a:stretch>
                    </p:blipFill>
                    <p:spPr bwMode="auto">
                      <a:xfrm>
                        <a:off x="1629623" y="5325204"/>
                        <a:ext cx="416019" cy="212632"/>
                      </a:xfrm>
                      <a:prstGeom prst="rect">
                        <a:avLst/>
                      </a:prstGeom>
                      <a:solidFill>
                        <a:srgbClr val="D4EAE4"/>
                      </a:solidFill>
                      <a:ln w="38100">
                        <a:noFill/>
                        <a:miter lim="800000"/>
                        <a:headEnd/>
                        <a:tailEnd/>
                      </a:ln>
                    </p:spPr>
                  </p:pic>
                </p:oleObj>
              </mc:Fallback>
            </mc:AlternateContent>
          </a:graphicData>
        </a:graphic>
      </p:graphicFrame>
      <p:graphicFrame>
        <p:nvGraphicFramePr>
          <p:cNvPr id="22" name="Object 21">
            <a:extLst>
              <a:ext uri="{FF2B5EF4-FFF2-40B4-BE49-F238E27FC236}">
                <a16:creationId xmlns:a16="http://schemas.microsoft.com/office/drawing/2014/main" id="{52A3D156-FEBD-480E-BB7B-EDFD2BF4321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74043469"/>
              </p:ext>
            </p:extLst>
          </p:nvPr>
        </p:nvGraphicFramePr>
        <p:xfrm>
          <a:off x="3633478" y="5340780"/>
          <a:ext cx="317500" cy="219075"/>
        </p:xfrm>
        <a:graphic>
          <a:graphicData uri="http://schemas.openxmlformats.org/presentationml/2006/ole">
            <mc:AlternateContent xmlns:mc="http://schemas.openxmlformats.org/markup-compatibility/2006">
              <mc:Choice xmlns:v="urn:schemas-microsoft-com:vml" Requires="v">
                <p:oleObj spid="_x0000_s13325" name="Equation" r:id="rId26" imgW="253800" imgH="177480" progId="Equation.DSMT4">
                  <p:embed/>
                </p:oleObj>
              </mc:Choice>
              <mc:Fallback>
                <p:oleObj name="Equation" r:id="rId26" imgW="253800" imgH="177480" progId="Equation.DSMT4">
                  <p:embed/>
                  <p:pic>
                    <p:nvPicPr>
                      <p:cNvPr id="22" name="Object 21">
                        <a:extLst>
                          <a:ext uri="{FF2B5EF4-FFF2-40B4-BE49-F238E27FC236}">
                            <a16:creationId xmlns:a16="http://schemas.microsoft.com/office/drawing/2014/main" id="{52A3D156-FEBD-480E-BB7B-EDFD2BF4321F}"/>
                          </a:ext>
                        </a:extLst>
                      </p:cNvPr>
                      <p:cNvPicPr>
                        <a:picLocks noChangeAspect="1" noChangeArrowheads="1"/>
                      </p:cNvPicPr>
                      <p:nvPr/>
                    </p:nvPicPr>
                    <p:blipFill>
                      <a:blip r:embed="rId27"/>
                      <a:srcRect/>
                      <a:stretch>
                        <a:fillRect/>
                      </a:stretch>
                    </p:blipFill>
                    <p:spPr bwMode="auto">
                      <a:xfrm>
                        <a:off x="3633478" y="5340780"/>
                        <a:ext cx="317500" cy="219075"/>
                      </a:xfrm>
                      <a:prstGeom prst="rect">
                        <a:avLst/>
                      </a:prstGeom>
                      <a:solidFill>
                        <a:srgbClr val="D4EAE4"/>
                      </a:solidFill>
                      <a:ln w="38100">
                        <a:noFill/>
                        <a:miter lim="800000"/>
                        <a:headEnd/>
                        <a:tailEnd/>
                      </a:ln>
                    </p:spPr>
                  </p:pic>
                </p:oleObj>
              </mc:Fallback>
            </mc:AlternateContent>
          </a:graphicData>
        </a:graphic>
      </p:graphicFrame>
      <p:graphicFrame>
        <p:nvGraphicFramePr>
          <p:cNvPr id="29" name="Object 28">
            <a:extLst>
              <a:ext uri="{FF2B5EF4-FFF2-40B4-BE49-F238E27FC236}">
                <a16:creationId xmlns:a16="http://schemas.microsoft.com/office/drawing/2014/main" id="{6FE921F1-AC48-4D82-9C24-D6C70784D0E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935321902"/>
              </p:ext>
            </p:extLst>
          </p:nvPr>
        </p:nvGraphicFramePr>
        <p:xfrm>
          <a:off x="1607754" y="5647349"/>
          <a:ext cx="424381" cy="216906"/>
        </p:xfrm>
        <a:graphic>
          <a:graphicData uri="http://schemas.openxmlformats.org/presentationml/2006/ole">
            <mc:AlternateContent xmlns:mc="http://schemas.openxmlformats.org/markup-compatibility/2006">
              <mc:Choice xmlns:v="urn:schemas-microsoft-com:vml" Requires="v">
                <p:oleObj spid="_x0000_s13326" name="Equation" r:id="rId28" imgW="342720" imgH="177480" progId="Equation.DSMT4">
                  <p:embed/>
                </p:oleObj>
              </mc:Choice>
              <mc:Fallback>
                <p:oleObj name="Equation" r:id="rId28" imgW="342720" imgH="177480" progId="Equation.DSMT4">
                  <p:embed/>
                  <p:pic>
                    <p:nvPicPr>
                      <p:cNvPr id="29" name="Object 28">
                        <a:extLst>
                          <a:ext uri="{FF2B5EF4-FFF2-40B4-BE49-F238E27FC236}">
                            <a16:creationId xmlns:a16="http://schemas.microsoft.com/office/drawing/2014/main" id="{6FE921F1-AC48-4D82-9C24-D6C70784D0E3}"/>
                          </a:ext>
                        </a:extLst>
                      </p:cNvPr>
                      <p:cNvPicPr>
                        <a:picLocks noChangeAspect="1" noChangeArrowheads="1"/>
                      </p:cNvPicPr>
                      <p:nvPr/>
                    </p:nvPicPr>
                    <p:blipFill>
                      <a:blip r:embed="rId29"/>
                      <a:srcRect/>
                      <a:stretch>
                        <a:fillRect/>
                      </a:stretch>
                    </p:blipFill>
                    <p:spPr bwMode="auto">
                      <a:xfrm>
                        <a:off x="1607754" y="5647349"/>
                        <a:ext cx="424381" cy="216906"/>
                      </a:xfrm>
                      <a:prstGeom prst="rect">
                        <a:avLst/>
                      </a:prstGeom>
                      <a:solidFill>
                        <a:srgbClr val="D4EAE4"/>
                      </a:solidFill>
                      <a:ln w="38100">
                        <a:noFill/>
                        <a:miter lim="800000"/>
                        <a:headEnd/>
                        <a:tailEnd/>
                      </a:ln>
                    </p:spPr>
                  </p:pic>
                </p:oleObj>
              </mc:Fallback>
            </mc:AlternateContent>
          </a:graphicData>
        </a:graphic>
      </p:graphicFrame>
      <p:graphicFrame>
        <p:nvGraphicFramePr>
          <p:cNvPr id="24" name="Object 23">
            <a:extLst>
              <a:ext uri="{FF2B5EF4-FFF2-40B4-BE49-F238E27FC236}">
                <a16:creationId xmlns:a16="http://schemas.microsoft.com/office/drawing/2014/main" id="{685E4BBF-1736-47B4-B058-978FA936FF4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506191225"/>
              </p:ext>
            </p:extLst>
          </p:nvPr>
        </p:nvGraphicFramePr>
        <p:xfrm>
          <a:off x="3627195" y="5650144"/>
          <a:ext cx="317500" cy="219075"/>
        </p:xfrm>
        <a:graphic>
          <a:graphicData uri="http://schemas.openxmlformats.org/presentationml/2006/ole">
            <mc:AlternateContent xmlns:mc="http://schemas.openxmlformats.org/markup-compatibility/2006">
              <mc:Choice xmlns:v="urn:schemas-microsoft-com:vml" Requires="v">
                <p:oleObj spid="_x0000_s13327" name="Equation" r:id="rId30" imgW="253800" imgH="177480" progId="Equation.DSMT4">
                  <p:embed/>
                </p:oleObj>
              </mc:Choice>
              <mc:Fallback>
                <p:oleObj name="Equation" r:id="rId30" imgW="253800" imgH="177480" progId="Equation.DSMT4">
                  <p:embed/>
                  <p:pic>
                    <p:nvPicPr>
                      <p:cNvPr id="24" name="Object 23">
                        <a:extLst>
                          <a:ext uri="{FF2B5EF4-FFF2-40B4-BE49-F238E27FC236}">
                            <a16:creationId xmlns:a16="http://schemas.microsoft.com/office/drawing/2014/main" id="{685E4BBF-1736-47B4-B058-978FA936FF4E}"/>
                          </a:ext>
                        </a:extLst>
                      </p:cNvPr>
                      <p:cNvPicPr>
                        <a:picLocks noChangeAspect="1" noChangeArrowheads="1"/>
                      </p:cNvPicPr>
                      <p:nvPr/>
                    </p:nvPicPr>
                    <p:blipFill>
                      <a:blip r:embed="rId31"/>
                      <a:srcRect/>
                      <a:stretch>
                        <a:fillRect/>
                      </a:stretch>
                    </p:blipFill>
                    <p:spPr bwMode="auto">
                      <a:xfrm>
                        <a:off x="3627195" y="5650144"/>
                        <a:ext cx="317500" cy="219075"/>
                      </a:xfrm>
                      <a:prstGeom prst="rect">
                        <a:avLst/>
                      </a:prstGeom>
                      <a:solidFill>
                        <a:srgbClr val="D4EAE4"/>
                      </a:solidFill>
                      <a:ln w="38100">
                        <a:noFill/>
                        <a:miter lim="800000"/>
                        <a:headEnd/>
                        <a:tailEnd/>
                      </a:ln>
                    </p:spPr>
                  </p:pic>
                </p:oleObj>
              </mc:Fallback>
            </mc:AlternateContent>
          </a:graphicData>
        </a:graphic>
      </p:graphicFrame>
      <p:graphicFrame>
        <p:nvGraphicFramePr>
          <p:cNvPr id="25" name="Object 24">
            <a:extLst>
              <a:ext uri="{FF2B5EF4-FFF2-40B4-BE49-F238E27FC236}">
                <a16:creationId xmlns:a16="http://schemas.microsoft.com/office/drawing/2014/main" id="{79C9451C-F136-449A-A56C-4059438B337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94209107"/>
              </p:ext>
            </p:extLst>
          </p:nvPr>
        </p:nvGraphicFramePr>
        <p:xfrm>
          <a:off x="3561824" y="5976366"/>
          <a:ext cx="412750" cy="219075"/>
        </p:xfrm>
        <a:graphic>
          <a:graphicData uri="http://schemas.openxmlformats.org/presentationml/2006/ole">
            <mc:AlternateContent xmlns:mc="http://schemas.openxmlformats.org/markup-compatibility/2006">
              <mc:Choice xmlns:v="urn:schemas-microsoft-com:vml" Requires="v">
                <p:oleObj spid="_x0000_s13328" name="Equation" r:id="rId32" imgW="330120" imgH="177480" progId="Equation.DSMT4">
                  <p:embed/>
                </p:oleObj>
              </mc:Choice>
              <mc:Fallback>
                <p:oleObj name="Equation" r:id="rId32" imgW="330120" imgH="177480" progId="Equation.DSMT4">
                  <p:embed/>
                  <p:pic>
                    <p:nvPicPr>
                      <p:cNvPr id="25" name="Object 24">
                        <a:extLst>
                          <a:ext uri="{FF2B5EF4-FFF2-40B4-BE49-F238E27FC236}">
                            <a16:creationId xmlns:a16="http://schemas.microsoft.com/office/drawing/2014/main" id="{79C9451C-F136-449A-A56C-4059438B3370}"/>
                          </a:ext>
                        </a:extLst>
                      </p:cNvPr>
                      <p:cNvPicPr>
                        <a:picLocks noChangeAspect="1" noChangeArrowheads="1"/>
                      </p:cNvPicPr>
                      <p:nvPr/>
                    </p:nvPicPr>
                    <p:blipFill>
                      <a:blip r:embed="rId33"/>
                      <a:srcRect/>
                      <a:stretch>
                        <a:fillRect/>
                      </a:stretch>
                    </p:blipFill>
                    <p:spPr bwMode="auto">
                      <a:xfrm>
                        <a:off x="3561824" y="5976366"/>
                        <a:ext cx="412750" cy="219075"/>
                      </a:xfrm>
                      <a:prstGeom prst="rect">
                        <a:avLst/>
                      </a:prstGeom>
                      <a:solidFill>
                        <a:srgbClr val="D4EAE4"/>
                      </a:solidFill>
                      <a:ln w="38100">
                        <a:noFill/>
                        <a:miter lim="800000"/>
                        <a:headEnd/>
                        <a:tailEnd/>
                      </a:ln>
                    </p:spPr>
                  </p:pic>
                </p:oleObj>
              </mc:Fallback>
            </mc:AlternateContent>
          </a:graphicData>
        </a:graphic>
      </p:graphicFrame>
    </p:spTree>
    <p:extLst>
      <p:ext uri="{BB962C8B-B14F-4D97-AF65-F5344CB8AC3E}">
        <p14:creationId xmlns:p14="http://schemas.microsoft.com/office/powerpoint/2010/main" val="2800088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919" y="207791"/>
            <a:ext cx="8229600" cy="590349"/>
          </a:xfrm>
        </p:spPr>
        <p:txBody>
          <a:bodyPr wrap="square" lIns="0" tIns="18000" rIns="0" bIns="18000" anchor="ctr" anchorCtr="0">
            <a:spAutoFit/>
          </a:bodyPr>
          <a:lstStyle/>
          <a:p>
            <a:r>
              <a:rPr lang="en-US" noProof="0" dirty="0"/>
              <a:t>Chapter 5 – Op Amps </a:t>
            </a:r>
            <a:r>
              <a:rPr lang="en-US" sz="2800" noProof="0" dirty="0"/>
              <a:t>(19 of 22)</a:t>
            </a:r>
            <a:endParaRPr lang="en-US" noProof="0" dirty="0"/>
          </a:p>
        </p:txBody>
      </p:sp>
      <p:sp>
        <p:nvSpPr>
          <p:cNvPr id="4" name="Content Placeholder 3">
            <a:extLst>
              <a:ext uri="{FF2B5EF4-FFF2-40B4-BE49-F238E27FC236}">
                <a16:creationId xmlns:a16="http://schemas.microsoft.com/office/drawing/2014/main" id="{0DF45FBB-328C-49CD-B455-DFD871B50961}"/>
              </a:ext>
            </a:extLst>
          </p:cNvPr>
          <p:cNvSpPr>
            <a:spLocks noGrp="1"/>
          </p:cNvSpPr>
          <p:nvPr>
            <p:ph sz="quarter" idx="12"/>
          </p:nvPr>
        </p:nvSpPr>
        <p:spPr>
          <a:xfrm>
            <a:off x="428919" y="1032422"/>
            <a:ext cx="2851609" cy="405683"/>
          </a:xfrm>
        </p:spPr>
        <p:txBody>
          <a:bodyPr wrap="square" lIns="0" tIns="18000" rIns="0" bIns="18000" anchor="ctr" anchorCtr="0">
            <a:spAutoFit/>
          </a:bodyPr>
          <a:lstStyle/>
          <a:p>
            <a:pPr marL="0" indent="0">
              <a:spcBef>
                <a:spcPts val="600"/>
              </a:spcBef>
              <a:buNone/>
            </a:pPr>
            <a:r>
              <a:rPr lang="en-US" altLang="en-US" sz="2400" noProof="0" dirty="0"/>
              <a:t>Example, continued</a:t>
            </a:r>
          </a:p>
        </p:txBody>
      </p:sp>
      <p:sp>
        <p:nvSpPr>
          <p:cNvPr id="5" name="Content Placeholder 4">
            <a:extLst>
              <a:ext uri="{FF2B5EF4-FFF2-40B4-BE49-F238E27FC236}">
                <a16:creationId xmlns:a16="http://schemas.microsoft.com/office/drawing/2014/main" id="{35392F7F-F9B6-41D9-93ED-C158B056014D}"/>
              </a:ext>
            </a:extLst>
          </p:cNvPr>
          <p:cNvSpPr>
            <a:spLocks noGrp="1"/>
          </p:cNvSpPr>
          <p:nvPr>
            <p:ph sz="quarter" idx="13"/>
          </p:nvPr>
        </p:nvSpPr>
        <p:spPr>
          <a:xfrm>
            <a:off x="428920" y="1538129"/>
            <a:ext cx="4381188" cy="405683"/>
          </a:xfrm>
        </p:spPr>
        <p:txBody>
          <a:bodyPr wrap="square" lIns="0" tIns="18000" rIns="0" bIns="18000" anchor="ctr" anchorCtr="0">
            <a:spAutoFit/>
          </a:bodyPr>
          <a:lstStyle/>
          <a:p>
            <a:pPr marL="0" indent="0">
              <a:spcBef>
                <a:spcPts val="600"/>
              </a:spcBef>
              <a:buNone/>
            </a:pPr>
            <a:r>
              <a:rPr lang="en-US" sz="2400" noProof="0" dirty="0"/>
              <a:t>Find the range of input voltages</a:t>
            </a:r>
          </a:p>
        </p:txBody>
      </p:sp>
      <p:graphicFrame>
        <p:nvGraphicFramePr>
          <p:cNvPr id="33" name="Object 32" descr="v subscript s.">
            <a:extLst>
              <a:ext uri="{FF2B5EF4-FFF2-40B4-BE49-F238E27FC236}">
                <a16:creationId xmlns:a16="http://schemas.microsoft.com/office/drawing/2014/main" id="{9BEFD340-D62B-4F10-BCEE-0E9F4550A179}"/>
              </a:ext>
            </a:extLst>
          </p:cNvPr>
          <p:cNvGraphicFramePr>
            <a:graphicFrameLocks noChangeAspect="1"/>
          </p:cNvGraphicFramePr>
          <p:nvPr>
            <p:extLst>
              <p:ext uri="{D42A27DB-BD31-4B8C-83A1-F6EECF244321}">
                <p14:modId xmlns:p14="http://schemas.microsoft.com/office/powerpoint/2010/main" val="1369642122"/>
              </p:ext>
            </p:extLst>
          </p:nvPr>
        </p:nvGraphicFramePr>
        <p:xfrm>
          <a:off x="4868759" y="1460622"/>
          <a:ext cx="382763" cy="523633"/>
        </p:xfrm>
        <a:graphic>
          <a:graphicData uri="http://schemas.openxmlformats.org/presentationml/2006/ole">
            <mc:AlternateContent xmlns:mc="http://schemas.openxmlformats.org/markup-compatibility/2006">
              <mc:Choice xmlns:v="urn:schemas-microsoft-com:vml" Requires="v">
                <p:oleObj spid="_x0000_s14338" name="Equation" r:id="rId3" imgW="164880" imgH="228600" progId="Equation.DSMT4">
                  <p:embed/>
                </p:oleObj>
              </mc:Choice>
              <mc:Fallback>
                <p:oleObj name="Equation" r:id="rId3" imgW="164880" imgH="228600" progId="Equation.DSMT4">
                  <p:embed/>
                  <p:pic>
                    <p:nvPicPr>
                      <p:cNvPr id="33" name="Object 32">
                        <a:extLst>
                          <a:ext uri="{FF2B5EF4-FFF2-40B4-BE49-F238E27FC236}">
                            <a16:creationId xmlns:a16="http://schemas.microsoft.com/office/drawing/2014/main" id="{9BEFD340-D62B-4F10-BCEE-0E9F4550A179}"/>
                          </a:ext>
                        </a:extLst>
                      </p:cNvPr>
                      <p:cNvPicPr>
                        <a:picLocks noChangeAspect="1" noChangeArrowheads="1"/>
                      </p:cNvPicPr>
                      <p:nvPr/>
                    </p:nvPicPr>
                    <p:blipFill>
                      <a:blip r:embed="rId4"/>
                      <a:srcRect/>
                      <a:stretch>
                        <a:fillRect/>
                      </a:stretch>
                    </p:blipFill>
                    <p:spPr bwMode="auto">
                      <a:xfrm>
                        <a:off x="4868759" y="1460622"/>
                        <a:ext cx="382763" cy="523633"/>
                      </a:xfrm>
                      <a:prstGeom prst="rect">
                        <a:avLst/>
                      </a:prstGeom>
                      <a:noFill/>
                      <a:ln w="38100">
                        <a:noFill/>
                        <a:miter lim="800000"/>
                        <a:headEnd/>
                        <a:tailEnd/>
                      </a:ln>
                    </p:spPr>
                  </p:pic>
                </p:oleObj>
              </mc:Fallback>
            </mc:AlternateContent>
          </a:graphicData>
        </a:graphic>
      </p:graphicFrame>
      <p:sp>
        <p:nvSpPr>
          <p:cNvPr id="16" name="Content Placeholder 15">
            <a:extLst>
              <a:ext uri="{FF2B5EF4-FFF2-40B4-BE49-F238E27FC236}">
                <a16:creationId xmlns:a16="http://schemas.microsoft.com/office/drawing/2014/main" id="{F5B7BC2D-0052-466E-8911-E3E5A4ABB5C2}"/>
              </a:ext>
            </a:extLst>
          </p:cNvPr>
          <p:cNvSpPr>
            <a:spLocks noGrp="1"/>
          </p:cNvSpPr>
          <p:nvPr>
            <p:ph sz="quarter" idx="16"/>
          </p:nvPr>
        </p:nvSpPr>
        <p:spPr>
          <a:xfrm>
            <a:off x="5320417" y="1540928"/>
            <a:ext cx="3118503" cy="405683"/>
          </a:xfrm>
        </p:spPr>
        <p:txBody>
          <a:bodyPr wrap="square" lIns="0" tIns="18000" rIns="0" bIns="18000" anchor="ctr" anchorCtr="0">
            <a:spAutoFit/>
          </a:bodyPr>
          <a:lstStyle/>
          <a:p>
            <a:pPr marL="0" indent="0">
              <a:spcBef>
                <a:spcPts val="600"/>
              </a:spcBef>
              <a:buNone/>
            </a:pPr>
            <a:r>
              <a:rPr lang="en-US" sz="2400" noProof="0" dirty="0"/>
              <a:t>for which the op amp</a:t>
            </a:r>
            <a:endParaRPr lang="en-US" altLang="en-US" sz="2400" noProof="0" dirty="0"/>
          </a:p>
        </p:txBody>
      </p:sp>
      <p:sp>
        <p:nvSpPr>
          <p:cNvPr id="17" name="Content Placeholder 16">
            <a:extLst>
              <a:ext uri="{FF2B5EF4-FFF2-40B4-BE49-F238E27FC236}">
                <a16:creationId xmlns:a16="http://schemas.microsoft.com/office/drawing/2014/main" id="{E4AF62FB-9FFA-45BA-B9F8-F78DB99636D6}"/>
              </a:ext>
            </a:extLst>
          </p:cNvPr>
          <p:cNvSpPr>
            <a:spLocks noGrp="1"/>
          </p:cNvSpPr>
          <p:nvPr>
            <p:ph sz="quarter" idx="17"/>
          </p:nvPr>
        </p:nvSpPr>
        <p:spPr>
          <a:xfrm>
            <a:off x="432992" y="2046687"/>
            <a:ext cx="3874603" cy="405683"/>
          </a:xfrm>
        </p:spPr>
        <p:txBody>
          <a:bodyPr wrap="square" lIns="0" tIns="18000" rIns="0" bIns="18000" anchor="ctr" anchorCtr="0">
            <a:spAutoFit/>
          </a:bodyPr>
          <a:lstStyle/>
          <a:p>
            <a:pPr marL="0" indent="0">
              <a:spcBef>
                <a:spcPts val="600"/>
              </a:spcBef>
              <a:buNone/>
            </a:pPr>
            <a:r>
              <a:rPr lang="en-US" altLang="en-US" sz="2400" noProof="0" dirty="0"/>
              <a:t>operates in its linear region.</a:t>
            </a:r>
          </a:p>
        </p:txBody>
      </p:sp>
      <p:pic>
        <p:nvPicPr>
          <p:cNvPr id="11" name="Picture 10" descr="A circuit diagram shows an operational amplifier with 10 volts applied to its top vertical terminal and minus 15 volts applied to at its bottom vertical terminal. Voltage source V subscript s is connected to the inverting input through a 16 kilo ohms resistor. Voltage source V subscript s has positive polarity on the upper side and negative polarity on the lower side. A node exists just before the point where the inverting input wire is connected to the operational amplifier. The node on the inverting input wire is connected to the output terminal of the operational amplifier through an 80 kilo ohms resistor. The non inverting input terminal of the operational amplifier is connected to ground. Voltage v subscript o exists between the output terminal of the operational amplifier and ground.">
            <a:extLst>
              <a:ext uri="{FF2B5EF4-FFF2-40B4-BE49-F238E27FC236}">
                <a16:creationId xmlns:a16="http://schemas.microsoft.com/office/drawing/2014/main" id="{F7A16834-BE8C-48C7-A1C6-18BDC5C33C19}"/>
              </a:ext>
            </a:extLst>
          </p:cNvPr>
          <p:cNvPicPr>
            <a:picLocks noChangeAspect="1"/>
          </p:cNvPicPr>
          <p:nvPr/>
        </p:nvPicPr>
        <p:blipFill>
          <a:blip r:embed="rId5"/>
          <a:stretch>
            <a:fillRect/>
          </a:stretch>
        </p:blipFill>
        <p:spPr>
          <a:xfrm>
            <a:off x="2830214" y="2565939"/>
            <a:ext cx="3483571" cy="2310584"/>
          </a:xfrm>
          <a:prstGeom prst="rect">
            <a:avLst/>
          </a:prstGeom>
        </p:spPr>
      </p:pic>
      <p:graphicFrame>
        <p:nvGraphicFramePr>
          <p:cNvPr id="22" name="Object 21" descr="v subscript o BaseLine equals negative 5 v subscript s BaseLine equals 10, forward arrow, v subscript s BaseLine equals negative 2 Volts.">
            <a:extLst>
              <a:ext uri="{FF2B5EF4-FFF2-40B4-BE49-F238E27FC236}">
                <a16:creationId xmlns:a16="http://schemas.microsoft.com/office/drawing/2014/main" id="{3D101EA2-EDEE-442D-A1C5-A60C9F9CFFCA}"/>
              </a:ext>
            </a:extLst>
          </p:cNvPr>
          <p:cNvGraphicFramePr>
            <a:graphicFrameLocks noChangeAspect="1"/>
          </p:cNvGraphicFramePr>
          <p:nvPr>
            <p:extLst>
              <p:ext uri="{D42A27DB-BD31-4B8C-83A1-F6EECF244321}">
                <p14:modId xmlns:p14="http://schemas.microsoft.com/office/powerpoint/2010/main" val="3093017034"/>
              </p:ext>
            </p:extLst>
          </p:nvPr>
        </p:nvGraphicFramePr>
        <p:xfrm>
          <a:off x="2397125" y="4998482"/>
          <a:ext cx="4368800" cy="406400"/>
        </p:xfrm>
        <a:graphic>
          <a:graphicData uri="http://schemas.openxmlformats.org/presentationml/2006/ole">
            <mc:AlternateContent xmlns:mc="http://schemas.openxmlformats.org/markup-compatibility/2006">
              <mc:Choice xmlns:v="urn:schemas-microsoft-com:vml" Requires="v">
                <p:oleObj spid="_x0000_s14339" name="Equation" r:id="rId6" imgW="2438280" imgH="228600" progId="Equation.DSMT4">
                  <p:embed/>
                </p:oleObj>
              </mc:Choice>
              <mc:Fallback>
                <p:oleObj name="Equation" r:id="rId6" imgW="2438280" imgH="228600" progId="Equation.DSMT4">
                  <p:embed/>
                  <p:pic>
                    <p:nvPicPr>
                      <p:cNvPr id="50" name="Object 49">
                        <a:extLst>
                          <a:ext uri="{FF2B5EF4-FFF2-40B4-BE49-F238E27FC236}">
                            <a16:creationId xmlns:a16="http://schemas.microsoft.com/office/drawing/2014/main" id="{6B2150D6-45C5-434C-97DE-EF910749D24A}"/>
                          </a:ext>
                        </a:extLst>
                      </p:cNvPr>
                      <p:cNvPicPr>
                        <a:picLocks noChangeAspect="1" noChangeArrowheads="1"/>
                      </p:cNvPicPr>
                      <p:nvPr/>
                    </p:nvPicPr>
                    <p:blipFill>
                      <a:blip r:embed="rId7"/>
                      <a:srcRect/>
                      <a:stretch>
                        <a:fillRect/>
                      </a:stretch>
                    </p:blipFill>
                    <p:spPr bwMode="auto">
                      <a:xfrm>
                        <a:off x="2397125" y="4998482"/>
                        <a:ext cx="43688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22" descr="v subscript o BaseLine equals negative 5 v subscript s BaseLine equals negative 15, forward arrow, v subscript s BaseLine equals 3 Volts.">
            <a:extLst>
              <a:ext uri="{FF2B5EF4-FFF2-40B4-BE49-F238E27FC236}">
                <a16:creationId xmlns:a16="http://schemas.microsoft.com/office/drawing/2014/main" id="{4633E7A9-B9D2-4DE4-AA16-9CF31A0DF249}"/>
              </a:ext>
            </a:extLst>
          </p:cNvPr>
          <p:cNvGraphicFramePr>
            <a:graphicFrameLocks noChangeAspect="1"/>
          </p:cNvGraphicFramePr>
          <p:nvPr>
            <p:extLst>
              <p:ext uri="{D42A27DB-BD31-4B8C-83A1-F6EECF244321}">
                <p14:modId xmlns:p14="http://schemas.microsoft.com/office/powerpoint/2010/main" val="795613057"/>
              </p:ext>
            </p:extLst>
          </p:nvPr>
        </p:nvGraphicFramePr>
        <p:xfrm>
          <a:off x="2397125" y="5434290"/>
          <a:ext cx="4391025" cy="406400"/>
        </p:xfrm>
        <a:graphic>
          <a:graphicData uri="http://schemas.openxmlformats.org/presentationml/2006/ole">
            <mc:AlternateContent xmlns:mc="http://schemas.openxmlformats.org/markup-compatibility/2006">
              <mc:Choice xmlns:v="urn:schemas-microsoft-com:vml" Requires="v">
                <p:oleObj spid="_x0000_s14340" name="Equation" r:id="rId8" imgW="2450880" imgH="228600" progId="Equation.DSMT4">
                  <p:embed/>
                </p:oleObj>
              </mc:Choice>
              <mc:Fallback>
                <p:oleObj name="Equation" r:id="rId8" imgW="2450880" imgH="228600" progId="Equation.DSMT4">
                  <p:embed/>
                  <p:pic>
                    <p:nvPicPr>
                      <p:cNvPr id="22" name="Object 21">
                        <a:extLst>
                          <a:ext uri="{FF2B5EF4-FFF2-40B4-BE49-F238E27FC236}">
                            <a16:creationId xmlns:a16="http://schemas.microsoft.com/office/drawing/2014/main" id="{3D101EA2-EDEE-442D-A1C5-A60C9F9CFFCA}"/>
                          </a:ext>
                        </a:extLst>
                      </p:cNvPr>
                      <p:cNvPicPr>
                        <a:picLocks noChangeAspect="1" noChangeArrowheads="1"/>
                      </p:cNvPicPr>
                      <p:nvPr/>
                    </p:nvPicPr>
                    <p:blipFill>
                      <a:blip r:embed="rId9"/>
                      <a:srcRect/>
                      <a:stretch>
                        <a:fillRect/>
                      </a:stretch>
                    </p:blipFill>
                    <p:spPr bwMode="auto">
                      <a:xfrm>
                        <a:off x="2397125" y="5434290"/>
                        <a:ext cx="43910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23" descr="Therefore, negative 2 Volts is less than or equal to v subscript s BaseLine is less than or equal to 3 Volts.">
            <a:extLst>
              <a:ext uri="{FF2B5EF4-FFF2-40B4-BE49-F238E27FC236}">
                <a16:creationId xmlns:a16="http://schemas.microsoft.com/office/drawing/2014/main" id="{305FFC5A-412E-424F-AA66-98553F9FBA68}"/>
              </a:ext>
            </a:extLst>
          </p:cNvPr>
          <p:cNvGraphicFramePr>
            <a:graphicFrameLocks noChangeAspect="1"/>
          </p:cNvGraphicFramePr>
          <p:nvPr>
            <p:extLst>
              <p:ext uri="{D42A27DB-BD31-4B8C-83A1-F6EECF244321}">
                <p14:modId xmlns:p14="http://schemas.microsoft.com/office/powerpoint/2010/main" val="3792441411"/>
              </p:ext>
            </p:extLst>
          </p:nvPr>
        </p:nvGraphicFramePr>
        <p:xfrm>
          <a:off x="2388204" y="5870167"/>
          <a:ext cx="2752725" cy="406400"/>
        </p:xfrm>
        <a:graphic>
          <a:graphicData uri="http://schemas.openxmlformats.org/presentationml/2006/ole">
            <mc:AlternateContent xmlns:mc="http://schemas.openxmlformats.org/markup-compatibility/2006">
              <mc:Choice xmlns:v="urn:schemas-microsoft-com:vml" Requires="v">
                <p:oleObj spid="_x0000_s14341" name="Equation" r:id="rId10" imgW="1536480" imgH="228600" progId="Equation.DSMT4">
                  <p:embed/>
                </p:oleObj>
              </mc:Choice>
              <mc:Fallback>
                <p:oleObj name="Equation" r:id="rId10" imgW="1536480" imgH="228600" progId="Equation.DSMT4">
                  <p:embed/>
                  <p:pic>
                    <p:nvPicPr>
                      <p:cNvPr id="23" name="Object 22">
                        <a:extLst>
                          <a:ext uri="{FF2B5EF4-FFF2-40B4-BE49-F238E27FC236}">
                            <a16:creationId xmlns:a16="http://schemas.microsoft.com/office/drawing/2014/main" id="{4633E7A9-B9D2-4DE4-AA16-9CF31A0DF249}"/>
                          </a:ext>
                        </a:extLst>
                      </p:cNvPr>
                      <p:cNvPicPr>
                        <a:picLocks noChangeAspect="1" noChangeArrowheads="1"/>
                      </p:cNvPicPr>
                      <p:nvPr/>
                    </p:nvPicPr>
                    <p:blipFill>
                      <a:blip r:embed="rId11"/>
                      <a:srcRect/>
                      <a:stretch>
                        <a:fillRect/>
                      </a:stretch>
                    </p:blipFill>
                    <p:spPr bwMode="auto">
                      <a:xfrm>
                        <a:off x="2388204" y="5870167"/>
                        <a:ext cx="27527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19638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7EFD0-6CD2-49E8-C4C1-BD093B5FA0F3}"/>
              </a:ext>
            </a:extLst>
          </p:cNvPr>
          <p:cNvSpPr>
            <a:spLocks noGrp="1"/>
          </p:cNvSpPr>
          <p:nvPr>
            <p:ph type="title"/>
          </p:nvPr>
        </p:nvSpPr>
        <p:spPr>
          <a:xfrm>
            <a:off x="431442" y="220404"/>
            <a:ext cx="8229600" cy="590349"/>
          </a:xfrm>
        </p:spPr>
        <p:txBody>
          <a:bodyPr tIns="18000" bIns="18000" anchor="ctr" anchorCtr="0">
            <a:spAutoFit/>
          </a:bodyPr>
          <a:lstStyle/>
          <a:p>
            <a:r>
              <a:rPr lang="en-US" noProof="0" dirty="0"/>
              <a:t>Chapter 5 – Op Amps </a:t>
            </a:r>
            <a:r>
              <a:rPr lang="en-US" sz="2800" noProof="0" dirty="0"/>
              <a:t>(20 of 22)</a:t>
            </a:r>
            <a:endParaRPr lang="en-US" noProof="0" dirty="0"/>
          </a:p>
        </p:txBody>
      </p:sp>
      <p:sp>
        <p:nvSpPr>
          <p:cNvPr id="3" name="Content Placeholder 2">
            <a:extLst>
              <a:ext uri="{FF2B5EF4-FFF2-40B4-BE49-F238E27FC236}">
                <a16:creationId xmlns:a16="http://schemas.microsoft.com/office/drawing/2014/main" id="{7D8FC19C-191C-0525-CAE2-992A7A38E881}"/>
              </a:ext>
            </a:extLst>
          </p:cNvPr>
          <p:cNvSpPr>
            <a:spLocks noGrp="1"/>
          </p:cNvSpPr>
          <p:nvPr>
            <p:ph sz="quarter" idx="12"/>
          </p:nvPr>
        </p:nvSpPr>
        <p:spPr>
          <a:xfrm>
            <a:off x="431442" y="1100933"/>
            <a:ext cx="2479183" cy="405683"/>
          </a:xfrm>
        </p:spPr>
        <p:txBody>
          <a:bodyPr wrap="square" lIns="0" tIns="18000" rIns="0" bIns="18000" anchor="ctr" anchorCtr="0">
            <a:spAutoFit/>
          </a:bodyPr>
          <a:lstStyle/>
          <a:p>
            <a:pPr marL="0" indent="0">
              <a:buNone/>
            </a:pPr>
            <a:r>
              <a:rPr lang="en-US" altLang="en-US" sz="2400" noProof="0" dirty="0"/>
              <a:t>Inverting Amplifier</a:t>
            </a:r>
          </a:p>
        </p:txBody>
      </p:sp>
      <p:graphicFrame>
        <p:nvGraphicFramePr>
          <p:cNvPr id="21" name="Object 20" descr="v subscript p BaseLine equals 0, forward arrow, v subscript n BaseLine equals v subscript p BaseLine equals 0.">
            <a:extLst>
              <a:ext uri="{FF2B5EF4-FFF2-40B4-BE49-F238E27FC236}">
                <a16:creationId xmlns:a16="http://schemas.microsoft.com/office/drawing/2014/main" id="{5AE064A3-94E1-9937-0D55-A7B6C15C4CF3}"/>
              </a:ext>
            </a:extLst>
          </p:cNvPr>
          <p:cNvGraphicFramePr>
            <a:graphicFrameLocks noChangeAspect="1"/>
          </p:cNvGraphicFramePr>
          <p:nvPr>
            <p:extLst>
              <p:ext uri="{D42A27DB-BD31-4B8C-83A1-F6EECF244321}">
                <p14:modId xmlns:p14="http://schemas.microsoft.com/office/powerpoint/2010/main" val="1127937601"/>
              </p:ext>
            </p:extLst>
          </p:nvPr>
        </p:nvGraphicFramePr>
        <p:xfrm>
          <a:off x="595836" y="1646451"/>
          <a:ext cx="2435225" cy="428625"/>
        </p:xfrm>
        <a:graphic>
          <a:graphicData uri="http://schemas.openxmlformats.org/presentationml/2006/ole">
            <mc:AlternateContent xmlns:mc="http://schemas.openxmlformats.org/markup-compatibility/2006">
              <mc:Choice xmlns:v="urn:schemas-microsoft-com:vml" Requires="v">
                <p:oleObj spid="_x0000_s15362" name="Equation" r:id="rId3" imgW="1358640" imgH="241200" progId="Equation.DSMT4">
                  <p:embed/>
                </p:oleObj>
              </mc:Choice>
              <mc:Fallback>
                <p:oleObj name="Equation" r:id="rId3" imgW="1358640" imgH="241200" progId="Equation.DSMT4">
                  <p:embed/>
                  <p:pic>
                    <p:nvPicPr>
                      <p:cNvPr id="15" name="Object 14" descr="v subscript p BaseLine equals 0, forward arrow, v subscript n BaseLine equals v subscript p BaseLine equals 0.">
                        <a:extLst>
                          <a:ext uri="{FF2B5EF4-FFF2-40B4-BE49-F238E27FC236}">
                            <a16:creationId xmlns:a16="http://schemas.microsoft.com/office/drawing/2014/main" id="{61283B52-6DE0-46AC-985B-701E1BFFFE96}"/>
                          </a:ext>
                        </a:extLst>
                      </p:cNvPr>
                      <p:cNvPicPr>
                        <a:picLocks noChangeAspect="1" noChangeArrowheads="1"/>
                      </p:cNvPicPr>
                      <p:nvPr/>
                    </p:nvPicPr>
                    <p:blipFill>
                      <a:blip r:embed="rId4"/>
                      <a:srcRect/>
                      <a:stretch>
                        <a:fillRect/>
                      </a:stretch>
                    </p:blipFill>
                    <p:spPr bwMode="auto">
                      <a:xfrm>
                        <a:off x="595836" y="1646451"/>
                        <a:ext cx="243522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21" descr="K C L at v subscript n BaseLine: StartFraction 0 minus v subscript s over R subscript i EndFraction plus StartFraction 0 minus v subscript o over R subscript f EndFraction plus 0 equals 0.">
            <a:extLst>
              <a:ext uri="{FF2B5EF4-FFF2-40B4-BE49-F238E27FC236}">
                <a16:creationId xmlns:a16="http://schemas.microsoft.com/office/drawing/2014/main" id="{12B6E08B-B787-C785-D448-E989389AA063}"/>
              </a:ext>
            </a:extLst>
          </p:cNvPr>
          <p:cNvGraphicFramePr>
            <a:graphicFrameLocks noChangeAspect="1"/>
          </p:cNvGraphicFramePr>
          <p:nvPr>
            <p:extLst>
              <p:ext uri="{D42A27DB-BD31-4B8C-83A1-F6EECF244321}">
                <p14:modId xmlns:p14="http://schemas.microsoft.com/office/powerpoint/2010/main" val="3392903137"/>
              </p:ext>
            </p:extLst>
          </p:nvPr>
        </p:nvGraphicFramePr>
        <p:xfrm>
          <a:off x="598586" y="2132228"/>
          <a:ext cx="3935412" cy="790575"/>
        </p:xfrm>
        <a:graphic>
          <a:graphicData uri="http://schemas.openxmlformats.org/presentationml/2006/ole">
            <mc:AlternateContent xmlns:mc="http://schemas.openxmlformats.org/markup-compatibility/2006">
              <mc:Choice xmlns:v="urn:schemas-microsoft-com:vml" Requires="v">
                <p:oleObj spid="_x0000_s15363" name="Equation" r:id="rId5" imgW="2197080" imgH="444240" progId="Equation.DSMT4">
                  <p:embed/>
                </p:oleObj>
              </mc:Choice>
              <mc:Fallback>
                <p:oleObj name="Equation" r:id="rId5" imgW="2197080" imgH="444240" progId="Equation.DSMT4">
                  <p:embed/>
                  <p:pic>
                    <p:nvPicPr>
                      <p:cNvPr id="14" name="Object 13" descr="K C L at v subscript n BaseLine: StartFraction 0 minus v subscript s over R subscript i EndFraction plus StartFraction 0 minus v subscript o over R subscript f EndFraction plus 0 equals 0.">
                        <a:extLst>
                          <a:ext uri="{FF2B5EF4-FFF2-40B4-BE49-F238E27FC236}">
                            <a16:creationId xmlns:a16="http://schemas.microsoft.com/office/drawing/2014/main" id="{49B5F9DB-DB79-4DE3-9C89-CF0460A2FCEB}"/>
                          </a:ext>
                        </a:extLst>
                      </p:cNvPr>
                      <p:cNvPicPr>
                        <a:picLocks noChangeAspect="1" noChangeArrowheads="1"/>
                      </p:cNvPicPr>
                      <p:nvPr/>
                    </p:nvPicPr>
                    <p:blipFill>
                      <a:blip r:embed="rId6"/>
                      <a:srcRect/>
                      <a:stretch>
                        <a:fillRect/>
                      </a:stretch>
                    </p:blipFill>
                    <p:spPr bwMode="auto">
                      <a:xfrm>
                        <a:off x="598586" y="2132228"/>
                        <a:ext cx="3935412"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22" descr="Therefore v subscript o BaseLine equals negative StartFraction uppercase R subscript f over uppercase R subscript i EndFraction v subscript s.">
            <a:extLst>
              <a:ext uri="{FF2B5EF4-FFF2-40B4-BE49-F238E27FC236}">
                <a16:creationId xmlns:a16="http://schemas.microsoft.com/office/drawing/2014/main" id="{09DB97D8-D09E-9380-3B7A-F8CCE2AEC8EB}"/>
              </a:ext>
            </a:extLst>
          </p:cNvPr>
          <p:cNvGraphicFramePr>
            <a:graphicFrameLocks noChangeAspect="1"/>
          </p:cNvGraphicFramePr>
          <p:nvPr>
            <p:extLst>
              <p:ext uri="{D42A27DB-BD31-4B8C-83A1-F6EECF244321}">
                <p14:modId xmlns:p14="http://schemas.microsoft.com/office/powerpoint/2010/main" val="2196027708"/>
              </p:ext>
            </p:extLst>
          </p:nvPr>
        </p:nvGraphicFramePr>
        <p:xfrm>
          <a:off x="617538" y="2981325"/>
          <a:ext cx="2184400" cy="790575"/>
        </p:xfrm>
        <a:graphic>
          <a:graphicData uri="http://schemas.openxmlformats.org/presentationml/2006/ole">
            <mc:AlternateContent xmlns:mc="http://schemas.openxmlformats.org/markup-compatibility/2006">
              <mc:Choice xmlns:v="urn:schemas-microsoft-com:vml" Requires="v">
                <p:oleObj spid="_x0000_s15364" name="Equation" r:id="rId7" imgW="1218960" imgH="444240" progId="Equation.DSMT4">
                  <p:embed/>
                </p:oleObj>
              </mc:Choice>
              <mc:Fallback>
                <p:oleObj name="Equation" r:id="rId7" imgW="1218960" imgH="444240" progId="Equation.DSMT4">
                  <p:embed/>
                  <p:pic>
                    <p:nvPicPr>
                      <p:cNvPr id="13" name="Object 12" descr="Therefore v subscript o BaseLine equals negative StartFraction uppercase R subscript f over uppercase R subscript i EndFraction v subscript s.">
                        <a:extLst>
                          <a:ext uri="{FF2B5EF4-FFF2-40B4-BE49-F238E27FC236}">
                            <a16:creationId xmlns:a16="http://schemas.microsoft.com/office/drawing/2014/main" id="{1ABA6222-B32F-4D4A-AC3F-7904B7C74F6D}"/>
                          </a:ext>
                        </a:extLst>
                      </p:cNvPr>
                      <p:cNvPicPr>
                        <a:picLocks noChangeAspect="1" noChangeArrowheads="1"/>
                      </p:cNvPicPr>
                      <p:nvPr/>
                    </p:nvPicPr>
                    <p:blipFill>
                      <a:blip r:embed="rId8"/>
                      <a:srcRect/>
                      <a:stretch>
                        <a:fillRect/>
                      </a:stretch>
                    </p:blipFill>
                    <p:spPr bwMode="auto">
                      <a:xfrm>
                        <a:off x="617538" y="2981325"/>
                        <a:ext cx="2184400"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6" name="Picture 25" descr="A circuit diagram shows an operational amplifier with voltage V subscript cc applied to its top vertical terminal and voltage minus V subscript cc at its bottom vertical terminal. Voltage source V subscript s is connected to the inverting input through resistor R subscript i. Voltage source V subscript s has positive polarity on the upper side and negative polarity on the lower side. A node exists just before the point where the inverting input wire is connected to the operational amplifier. The node on the inverting input wire is connected to the output terminal of the operational amplifier through resistor R subscript f. The non inverting input terminal of the operational amplifier is connected to ground. Voltage v subscript o exists between the output terminal of the operational amplifier and ground.">
            <a:extLst>
              <a:ext uri="{FF2B5EF4-FFF2-40B4-BE49-F238E27FC236}">
                <a16:creationId xmlns:a16="http://schemas.microsoft.com/office/drawing/2014/main" id="{97DE2F98-6A6A-16FB-0C2F-95BF3180433B}"/>
              </a:ext>
            </a:extLst>
          </p:cNvPr>
          <p:cNvPicPr>
            <a:picLocks noChangeAspect="1"/>
          </p:cNvPicPr>
          <p:nvPr/>
        </p:nvPicPr>
        <p:blipFill>
          <a:blip r:embed="rId9"/>
          <a:stretch>
            <a:fillRect/>
          </a:stretch>
        </p:blipFill>
        <p:spPr>
          <a:xfrm>
            <a:off x="4718182" y="1720249"/>
            <a:ext cx="3765650" cy="2535828"/>
          </a:xfrm>
          <a:prstGeom prst="rect">
            <a:avLst/>
          </a:prstGeom>
        </p:spPr>
      </p:pic>
      <p:sp>
        <p:nvSpPr>
          <p:cNvPr id="4" name="Content Placeholder 3">
            <a:extLst>
              <a:ext uri="{FF2B5EF4-FFF2-40B4-BE49-F238E27FC236}">
                <a16:creationId xmlns:a16="http://schemas.microsoft.com/office/drawing/2014/main" id="{6AE877C8-FA5A-9B5C-ACBC-C603E8D58525}"/>
              </a:ext>
            </a:extLst>
          </p:cNvPr>
          <p:cNvSpPr>
            <a:spLocks noGrp="1"/>
          </p:cNvSpPr>
          <p:nvPr>
            <p:ph sz="quarter" idx="13"/>
          </p:nvPr>
        </p:nvSpPr>
        <p:spPr>
          <a:xfrm>
            <a:off x="431980" y="4575572"/>
            <a:ext cx="2369242" cy="405683"/>
          </a:xfrm>
        </p:spPr>
        <p:txBody>
          <a:bodyPr wrap="square" lIns="0" tIns="18000" rIns="0" bIns="18000" anchor="ctr" anchorCtr="0">
            <a:spAutoFit/>
          </a:bodyPr>
          <a:lstStyle/>
          <a:p>
            <a:pPr marL="0" indent="0">
              <a:buNone/>
            </a:pPr>
            <a:r>
              <a:rPr lang="en-US" sz="2400" noProof="0" dirty="0"/>
              <a:t>Design equation:</a:t>
            </a:r>
          </a:p>
        </p:txBody>
      </p:sp>
      <p:graphicFrame>
        <p:nvGraphicFramePr>
          <p:cNvPr id="24" name="Object 23" descr="Therefore v subscript o BaseLine equals negative StartFraction uppercase R subscript f over uppercase R subscript i EndFraction v subscript s.">
            <a:extLst>
              <a:ext uri="{FF2B5EF4-FFF2-40B4-BE49-F238E27FC236}">
                <a16:creationId xmlns:a16="http://schemas.microsoft.com/office/drawing/2014/main" id="{136C30E1-8D16-8F1B-6033-1F45ED5D8E29}"/>
              </a:ext>
            </a:extLst>
          </p:cNvPr>
          <p:cNvGraphicFramePr>
            <a:graphicFrameLocks noChangeAspect="1"/>
          </p:cNvGraphicFramePr>
          <p:nvPr>
            <p:extLst>
              <p:ext uri="{D42A27DB-BD31-4B8C-83A1-F6EECF244321}">
                <p14:modId xmlns:p14="http://schemas.microsoft.com/office/powerpoint/2010/main" val="3956701347"/>
              </p:ext>
            </p:extLst>
          </p:nvPr>
        </p:nvGraphicFramePr>
        <p:xfrm>
          <a:off x="2204981" y="5402187"/>
          <a:ext cx="1411287" cy="790575"/>
        </p:xfrm>
        <a:graphic>
          <a:graphicData uri="http://schemas.openxmlformats.org/presentationml/2006/ole">
            <mc:AlternateContent xmlns:mc="http://schemas.openxmlformats.org/markup-compatibility/2006">
              <mc:Choice xmlns:v="urn:schemas-microsoft-com:vml" Requires="v">
                <p:oleObj spid="_x0000_s15365" name="Equation" r:id="rId10" imgW="787320" imgH="444240" progId="Equation.DSMT4">
                  <p:embed/>
                </p:oleObj>
              </mc:Choice>
              <mc:Fallback>
                <p:oleObj name="Equation" r:id="rId10" imgW="787320" imgH="444240" progId="Equation.DSMT4">
                  <p:embed/>
                  <p:pic>
                    <p:nvPicPr>
                      <p:cNvPr id="18" name="Object 17">
                        <a:extLst>
                          <a:ext uri="{FF2B5EF4-FFF2-40B4-BE49-F238E27FC236}">
                            <a16:creationId xmlns:a16="http://schemas.microsoft.com/office/drawing/2014/main" id="{2D09BCA3-ED76-480D-B37A-82DA799D9B5A}"/>
                          </a:ext>
                        </a:extLst>
                      </p:cNvPr>
                      <p:cNvPicPr>
                        <a:picLocks noChangeAspect="1" noChangeArrowheads="1"/>
                      </p:cNvPicPr>
                      <p:nvPr/>
                    </p:nvPicPr>
                    <p:blipFill>
                      <a:blip r:embed="rId11"/>
                      <a:srcRect/>
                      <a:stretch>
                        <a:fillRect/>
                      </a:stretch>
                    </p:blipFill>
                    <p:spPr bwMode="auto">
                      <a:xfrm>
                        <a:off x="2204981" y="5402187"/>
                        <a:ext cx="1411287"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Content Placeholder 4">
            <a:extLst>
              <a:ext uri="{FF2B5EF4-FFF2-40B4-BE49-F238E27FC236}">
                <a16:creationId xmlns:a16="http://schemas.microsoft.com/office/drawing/2014/main" id="{DA8C153A-28C4-E914-FECB-66D1D87401EF}"/>
              </a:ext>
            </a:extLst>
          </p:cNvPr>
          <p:cNvSpPr>
            <a:spLocks noGrp="1"/>
          </p:cNvSpPr>
          <p:nvPr>
            <p:ph sz="quarter" idx="14"/>
          </p:nvPr>
        </p:nvSpPr>
        <p:spPr>
          <a:xfrm>
            <a:off x="4150336" y="5591527"/>
            <a:ext cx="843328" cy="405683"/>
          </a:xfrm>
        </p:spPr>
        <p:txBody>
          <a:bodyPr wrap="square" lIns="0" tIns="18000" rIns="0" bIns="18000" anchor="ctr" anchorCtr="0">
            <a:spAutoFit/>
          </a:bodyPr>
          <a:lstStyle/>
          <a:p>
            <a:pPr marL="0" indent="0">
              <a:buNone/>
            </a:pPr>
            <a:r>
              <a:rPr lang="en-US" sz="2400" noProof="0" dirty="0"/>
              <a:t>only if</a:t>
            </a:r>
          </a:p>
        </p:txBody>
      </p:sp>
      <p:graphicFrame>
        <p:nvGraphicFramePr>
          <p:cNvPr id="25" name="Object 24" descr="Negative V subscript C C BaseLine less than or equal to V subscript o BaseLine less than or equal to plus V subscript C C BaseLine.">
            <a:extLst>
              <a:ext uri="{FF2B5EF4-FFF2-40B4-BE49-F238E27FC236}">
                <a16:creationId xmlns:a16="http://schemas.microsoft.com/office/drawing/2014/main" id="{C28F107F-EEA3-B3AB-79BB-636701064172}"/>
              </a:ext>
            </a:extLst>
          </p:cNvPr>
          <p:cNvGraphicFramePr>
            <a:graphicFrameLocks noChangeAspect="1"/>
          </p:cNvGraphicFramePr>
          <p:nvPr>
            <p:extLst>
              <p:ext uri="{D42A27DB-BD31-4B8C-83A1-F6EECF244321}">
                <p14:modId xmlns:p14="http://schemas.microsoft.com/office/powerpoint/2010/main" val="2269409598"/>
              </p:ext>
            </p:extLst>
          </p:nvPr>
        </p:nvGraphicFramePr>
        <p:xfrm>
          <a:off x="5404338" y="5594274"/>
          <a:ext cx="2001838" cy="406400"/>
        </p:xfrm>
        <a:graphic>
          <a:graphicData uri="http://schemas.openxmlformats.org/presentationml/2006/ole">
            <mc:AlternateContent xmlns:mc="http://schemas.openxmlformats.org/markup-compatibility/2006">
              <mc:Choice xmlns:v="urn:schemas-microsoft-com:vml" Requires="v">
                <p:oleObj spid="_x0000_s15366" name="Equation" r:id="rId12" imgW="1117440" imgH="228600" progId="Equation.DSMT4">
                  <p:embed/>
                </p:oleObj>
              </mc:Choice>
              <mc:Fallback>
                <p:oleObj name="Equation" r:id="rId12" imgW="1117440" imgH="228600" progId="Equation.DSMT4">
                  <p:embed/>
                  <p:pic>
                    <p:nvPicPr>
                      <p:cNvPr id="24" name="Object 23">
                        <a:extLst>
                          <a:ext uri="{FF2B5EF4-FFF2-40B4-BE49-F238E27FC236}">
                            <a16:creationId xmlns:a16="http://schemas.microsoft.com/office/drawing/2014/main" id="{136C30E1-8D16-8F1B-6033-1F45ED5D8E29}"/>
                          </a:ext>
                        </a:extLst>
                      </p:cNvPr>
                      <p:cNvPicPr>
                        <a:picLocks noChangeAspect="1" noChangeArrowheads="1"/>
                      </p:cNvPicPr>
                      <p:nvPr/>
                    </p:nvPicPr>
                    <p:blipFill>
                      <a:blip r:embed="rId13"/>
                      <a:srcRect/>
                      <a:stretch>
                        <a:fillRect/>
                      </a:stretch>
                    </p:blipFill>
                    <p:spPr bwMode="auto">
                      <a:xfrm>
                        <a:off x="5404338" y="5594274"/>
                        <a:ext cx="2001838"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Rectangle 6">
            <a:extLst>
              <a:ext uri="{FF2B5EF4-FFF2-40B4-BE49-F238E27FC236}">
                <a16:creationId xmlns:a16="http://schemas.microsoft.com/office/drawing/2014/main" id="{684440F5-9865-98E8-0BFE-89669B3AF5A7}"/>
              </a:ext>
              <a:ext uri="{C183D7F6-B498-43B3-948B-1728B52AA6E4}">
                <adec:decorative xmlns:adec="http://schemas.microsoft.com/office/drawing/2017/decorative" val="1"/>
              </a:ext>
            </a:extLst>
          </p:cNvPr>
          <p:cNvSpPr/>
          <p:nvPr/>
        </p:nvSpPr>
        <p:spPr>
          <a:xfrm>
            <a:off x="2204981" y="5423299"/>
            <a:ext cx="5201195" cy="769463"/>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2412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919" y="207789"/>
            <a:ext cx="8242006" cy="590349"/>
          </a:xfrm>
        </p:spPr>
        <p:txBody>
          <a:bodyPr wrap="square" lIns="0" tIns="18000" rIns="0" bIns="18000" anchor="ctr" anchorCtr="0">
            <a:spAutoFit/>
          </a:bodyPr>
          <a:lstStyle/>
          <a:p>
            <a:r>
              <a:rPr lang="en-US" noProof="0" dirty="0"/>
              <a:t>Chapter 5 – Op Amps </a:t>
            </a:r>
            <a:r>
              <a:rPr lang="en-US" sz="2800" noProof="0" dirty="0"/>
              <a:t>(21 of 22)</a:t>
            </a:r>
          </a:p>
        </p:txBody>
      </p:sp>
      <p:sp>
        <p:nvSpPr>
          <p:cNvPr id="26" name="Content Placeholder 25">
            <a:extLst>
              <a:ext uri="{FF2B5EF4-FFF2-40B4-BE49-F238E27FC236}">
                <a16:creationId xmlns:a16="http://schemas.microsoft.com/office/drawing/2014/main" id="{DF3F5CB0-FA82-432A-93FB-D942ED7641D3}"/>
              </a:ext>
            </a:extLst>
          </p:cNvPr>
          <p:cNvSpPr>
            <a:spLocks noGrp="1"/>
          </p:cNvSpPr>
          <p:nvPr>
            <p:ph sz="quarter" idx="12"/>
          </p:nvPr>
        </p:nvSpPr>
        <p:spPr>
          <a:xfrm>
            <a:off x="428919" y="1060699"/>
            <a:ext cx="8242006" cy="405683"/>
          </a:xfrm>
        </p:spPr>
        <p:txBody>
          <a:bodyPr wrap="square" lIns="0" tIns="18000" rIns="0" bIns="18000" anchor="ctr" anchorCtr="0">
            <a:spAutoFit/>
          </a:bodyPr>
          <a:lstStyle/>
          <a:p>
            <a:pPr marL="0" indent="0">
              <a:spcBef>
                <a:spcPts val="600"/>
              </a:spcBef>
              <a:buNone/>
            </a:pPr>
            <a:r>
              <a:rPr lang="en-US" sz="2400" noProof="0" dirty="0"/>
              <a:t>In describing op amp circuits, the term “inverting” means</a:t>
            </a:r>
          </a:p>
        </p:txBody>
      </p:sp>
      <p:pic>
        <p:nvPicPr>
          <p:cNvPr id="48" name="Picture 1435" descr="Check mark">
            <a:extLst>
              <a:ext uri="{FF2B5EF4-FFF2-40B4-BE49-F238E27FC236}">
                <a16:creationId xmlns:a16="http://schemas.microsoft.com/office/drawing/2014/main" id="{9145C2D9-9FAA-4E81-9C78-C44CB7F404D1}"/>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853608" y="1940488"/>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Content Placeholder 28">
            <a:extLst>
              <a:ext uri="{FF2B5EF4-FFF2-40B4-BE49-F238E27FC236}">
                <a16:creationId xmlns:a16="http://schemas.microsoft.com/office/drawing/2014/main" id="{1C8CAA40-94A2-4F72-B3FD-9B9E53A7A2F0}"/>
              </a:ext>
            </a:extLst>
          </p:cNvPr>
          <p:cNvSpPr>
            <a:spLocks noGrp="1"/>
          </p:cNvSpPr>
          <p:nvPr>
            <p:ph sz="quarter" idx="15"/>
          </p:nvPr>
        </p:nvSpPr>
        <p:spPr>
          <a:xfrm>
            <a:off x="1408370" y="1861390"/>
            <a:ext cx="4106310"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a:t>
            </a:r>
            <a:r>
              <a:rPr lang="en-US" sz="2400" noProof="0" dirty="0"/>
              <a:t> Changing the sign</a:t>
            </a:r>
          </a:p>
        </p:txBody>
      </p:sp>
      <p:pic>
        <p:nvPicPr>
          <p:cNvPr id="45" name="Picture 1436" descr="Cross mark">
            <a:extLst>
              <a:ext uri="{FF2B5EF4-FFF2-40B4-BE49-F238E27FC236}">
                <a16:creationId xmlns:a16="http://schemas.microsoft.com/office/drawing/2014/main" id="{3583F577-5792-48AE-B933-43A97BF02443}"/>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886588" y="2466969"/>
            <a:ext cx="283833" cy="28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Content Placeholder 29">
            <a:extLst>
              <a:ext uri="{FF2B5EF4-FFF2-40B4-BE49-F238E27FC236}">
                <a16:creationId xmlns:a16="http://schemas.microsoft.com/office/drawing/2014/main" id="{CE4863BA-7E97-492E-BC54-CCB67E7D5205}"/>
              </a:ext>
            </a:extLst>
          </p:cNvPr>
          <p:cNvSpPr>
            <a:spLocks noGrp="1"/>
          </p:cNvSpPr>
          <p:nvPr>
            <p:ph sz="quarter" idx="16"/>
          </p:nvPr>
        </p:nvSpPr>
        <p:spPr>
          <a:xfrm>
            <a:off x="1408371" y="2443394"/>
            <a:ext cx="2890252"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a:t>
            </a:r>
            <a:r>
              <a:rPr lang="en-US" sz="2400" noProof="0" dirty="0"/>
              <a:t> Operating linearly</a:t>
            </a:r>
          </a:p>
        </p:txBody>
      </p:sp>
      <p:pic>
        <p:nvPicPr>
          <p:cNvPr id="46" name="Picture 1436" descr="Cross mark">
            <a:extLst>
              <a:ext uri="{FF2B5EF4-FFF2-40B4-BE49-F238E27FC236}">
                <a16:creationId xmlns:a16="http://schemas.microsoft.com/office/drawing/2014/main" id="{1B01DF22-BDB6-4C05-BBC3-B3F117A998F8}"/>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880134" y="3007275"/>
            <a:ext cx="281023" cy="281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Content Placeholder 30">
            <a:extLst>
              <a:ext uri="{FF2B5EF4-FFF2-40B4-BE49-F238E27FC236}">
                <a16:creationId xmlns:a16="http://schemas.microsoft.com/office/drawing/2014/main" id="{66BDB886-9ABA-4095-88AF-6BB1667EC4D4}"/>
              </a:ext>
            </a:extLst>
          </p:cNvPr>
          <p:cNvSpPr>
            <a:spLocks noGrp="1"/>
          </p:cNvSpPr>
          <p:nvPr>
            <p:ph sz="quarter" idx="17"/>
          </p:nvPr>
        </p:nvSpPr>
        <p:spPr>
          <a:xfrm>
            <a:off x="1408370" y="3007936"/>
            <a:ext cx="221152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a:t>
            </a:r>
            <a:r>
              <a:rPr lang="en-US" sz="2400" noProof="0" dirty="0"/>
              <a:t> 1/(the input)</a:t>
            </a:r>
          </a:p>
        </p:txBody>
      </p:sp>
      <p:pic>
        <p:nvPicPr>
          <p:cNvPr id="47" name="Picture 1436" descr="Cross mark">
            <a:extLst>
              <a:ext uri="{FF2B5EF4-FFF2-40B4-BE49-F238E27FC236}">
                <a16:creationId xmlns:a16="http://schemas.microsoft.com/office/drawing/2014/main" id="{BC5ECF5C-2FE7-40B7-89EE-20185394DA84}"/>
              </a:ext>
            </a:extLst>
          </p:cNvPr>
          <p:cNvPicPr>
            <a:picLocks noChangeAspect="1"/>
          </p:cNvPicPr>
          <p:nvPr>
            <p:custDataLst>
              <p:tags r:id="rId4"/>
            </p:custDataLst>
          </p:nvPr>
        </p:nvPicPr>
        <p:blipFill>
          <a:blip r:embed="rId7">
            <a:extLst>
              <a:ext uri="{28A0092B-C50C-407E-A947-70E740481C1C}">
                <a14:useLocalDpi xmlns:a14="http://schemas.microsoft.com/office/drawing/2010/main" val="0"/>
              </a:ext>
            </a:extLst>
          </a:blip>
          <a:srcRect/>
          <a:stretch>
            <a:fillRect/>
          </a:stretch>
        </p:blipFill>
        <p:spPr bwMode="auto">
          <a:xfrm>
            <a:off x="868492" y="3589521"/>
            <a:ext cx="304307" cy="304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Content Placeholder 31">
            <a:extLst>
              <a:ext uri="{FF2B5EF4-FFF2-40B4-BE49-F238E27FC236}">
                <a16:creationId xmlns:a16="http://schemas.microsoft.com/office/drawing/2014/main" id="{E88B61FA-F76D-46A2-8EE3-E32C1E567D40}"/>
              </a:ext>
            </a:extLst>
          </p:cNvPr>
          <p:cNvSpPr>
            <a:spLocks noGrp="1"/>
          </p:cNvSpPr>
          <p:nvPr>
            <p:ph sz="quarter" idx="18"/>
          </p:nvPr>
        </p:nvSpPr>
        <p:spPr>
          <a:xfrm>
            <a:off x="1408370" y="3555623"/>
            <a:ext cx="355012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a:t>
            </a:r>
            <a:r>
              <a:rPr lang="en-US" sz="2400" noProof="0" dirty="0"/>
              <a:t> </a:t>
            </a:r>
            <a:r>
              <a:rPr lang="en-US" altLang="en-US" sz="2400" noProof="0" dirty="0">
                <a:sym typeface="Symbol" pitchFamily="18" charset="2"/>
              </a:rPr>
              <a:t>All of the above</a:t>
            </a:r>
            <a:endParaRPr lang="en-US" sz="2400" noProof="0" dirty="0"/>
          </a:p>
        </p:txBody>
      </p:sp>
    </p:spTree>
    <p:extLst>
      <p:ext uri="{BB962C8B-B14F-4D97-AF65-F5344CB8AC3E}">
        <p14:creationId xmlns:p14="http://schemas.microsoft.com/office/powerpoint/2010/main" val="142116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16688-2DEE-494C-C006-C600AD8FC905}"/>
              </a:ext>
            </a:extLst>
          </p:cNvPr>
          <p:cNvSpPr>
            <a:spLocks noGrp="1"/>
          </p:cNvSpPr>
          <p:nvPr>
            <p:ph type="title"/>
          </p:nvPr>
        </p:nvSpPr>
        <p:spPr>
          <a:xfrm>
            <a:off x="433754" y="220241"/>
            <a:ext cx="8229600" cy="590349"/>
          </a:xfrm>
        </p:spPr>
        <p:txBody>
          <a:bodyPr tIns="18000" bIns="18000" anchor="ctr" anchorCtr="0">
            <a:spAutoFit/>
          </a:bodyPr>
          <a:lstStyle/>
          <a:p>
            <a:r>
              <a:rPr lang="en-US" noProof="0" dirty="0"/>
              <a:t>Chapter 5 – Op Amps </a:t>
            </a:r>
            <a:r>
              <a:rPr lang="en-US" sz="2800" noProof="0" dirty="0"/>
              <a:t>(22 of 22)</a:t>
            </a:r>
            <a:endParaRPr lang="en-US" noProof="0" dirty="0"/>
          </a:p>
        </p:txBody>
      </p:sp>
      <p:sp>
        <p:nvSpPr>
          <p:cNvPr id="3" name="Content Placeholder 2">
            <a:extLst>
              <a:ext uri="{FF2B5EF4-FFF2-40B4-BE49-F238E27FC236}">
                <a16:creationId xmlns:a16="http://schemas.microsoft.com/office/drawing/2014/main" id="{905D28E4-E8BF-ADFB-C7C9-756B078DE591}"/>
              </a:ext>
            </a:extLst>
          </p:cNvPr>
          <p:cNvSpPr>
            <a:spLocks noGrp="1"/>
          </p:cNvSpPr>
          <p:nvPr>
            <p:ph sz="quarter" idx="12"/>
          </p:nvPr>
        </p:nvSpPr>
        <p:spPr>
          <a:xfrm>
            <a:off x="433755" y="1157467"/>
            <a:ext cx="5744308" cy="344128"/>
          </a:xfrm>
        </p:spPr>
        <p:txBody>
          <a:bodyPr wrap="square" lIns="0" tIns="18000" rIns="0" bIns="18000" anchor="ctr" anchorCtr="0">
            <a:spAutoFit/>
          </a:bodyPr>
          <a:lstStyle/>
          <a:p>
            <a:pPr marL="0" indent="0">
              <a:buNone/>
            </a:pPr>
            <a:r>
              <a:rPr lang="en-US" altLang="en-US" sz="2000" noProof="0" dirty="0"/>
              <a:t>Design an inverting amplifier with a gain of 10. Use</a:t>
            </a:r>
            <a:endParaRPr lang="en-US" sz="2000" noProof="0" dirty="0"/>
          </a:p>
        </p:txBody>
      </p:sp>
      <p:graphicFrame>
        <p:nvGraphicFramePr>
          <p:cNvPr id="21" name="Object 20" descr="Plus or minus 12 Volts.">
            <a:extLst>
              <a:ext uri="{FF2B5EF4-FFF2-40B4-BE49-F238E27FC236}">
                <a16:creationId xmlns:a16="http://schemas.microsoft.com/office/drawing/2014/main" id="{C0CCD840-8C21-F46E-21E5-049472F0F707}"/>
              </a:ext>
            </a:extLst>
          </p:cNvPr>
          <p:cNvGraphicFramePr>
            <a:graphicFrameLocks noChangeAspect="1"/>
          </p:cNvGraphicFramePr>
          <p:nvPr>
            <p:extLst>
              <p:ext uri="{D42A27DB-BD31-4B8C-83A1-F6EECF244321}">
                <p14:modId xmlns:p14="http://schemas.microsoft.com/office/powerpoint/2010/main" val="1076018497"/>
              </p:ext>
            </p:extLst>
          </p:nvPr>
        </p:nvGraphicFramePr>
        <p:xfrm>
          <a:off x="6235787" y="1190727"/>
          <a:ext cx="720725" cy="315913"/>
        </p:xfrm>
        <a:graphic>
          <a:graphicData uri="http://schemas.openxmlformats.org/presentationml/2006/ole">
            <mc:AlternateContent xmlns:mc="http://schemas.openxmlformats.org/markup-compatibility/2006">
              <mc:Choice xmlns:v="urn:schemas-microsoft-com:vml" Requires="v">
                <p:oleObj spid="_x0000_s16386" name="Equation" r:id="rId3" imgW="457200" imgH="203040" progId="Equation.DSMT4">
                  <p:embed/>
                </p:oleObj>
              </mc:Choice>
              <mc:Fallback>
                <p:oleObj name="Equation" r:id="rId3" imgW="457200" imgH="203040" progId="Equation.DSMT4">
                  <p:embed/>
                  <p:pic>
                    <p:nvPicPr>
                      <p:cNvPr id="14" name="Object 13" descr="Plus or minus 12 Volts.">
                        <a:extLst>
                          <a:ext uri="{FF2B5EF4-FFF2-40B4-BE49-F238E27FC236}">
                            <a16:creationId xmlns:a16="http://schemas.microsoft.com/office/drawing/2014/main" id="{B9553A04-8603-4947-83D2-8D67D486E93B}"/>
                          </a:ext>
                        </a:extLst>
                      </p:cNvPr>
                      <p:cNvPicPr>
                        <a:picLocks noChangeAspect="1" noChangeArrowheads="1"/>
                      </p:cNvPicPr>
                      <p:nvPr/>
                    </p:nvPicPr>
                    <p:blipFill>
                      <a:blip r:embed="rId4"/>
                      <a:srcRect/>
                      <a:stretch>
                        <a:fillRect/>
                      </a:stretch>
                    </p:blipFill>
                    <p:spPr bwMode="auto">
                      <a:xfrm>
                        <a:off x="6235787" y="1190727"/>
                        <a:ext cx="720725" cy="315913"/>
                      </a:xfrm>
                      <a:prstGeom prst="rect">
                        <a:avLst/>
                      </a:prstGeom>
                      <a:noFill/>
                      <a:ln w="38100">
                        <a:noFill/>
                        <a:miter lim="800000"/>
                        <a:headEnd/>
                        <a:tailEnd/>
                      </a:ln>
                    </p:spPr>
                  </p:pic>
                </p:oleObj>
              </mc:Fallback>
            </mc:AlternateContent>
          </a:graphicData>
        </a:graphic>
      </p:graphicFrame>
      <p:sp>
        <p:nvSpPr>
          <p:cNvPr id="4" name="Content Placeholder 3">
            <a:extLst>
              <a:ext uri="{FF2B5EF4-FFF2-40B4-BE49-F238E27FC236}">
                <a16:creationId xmlns:a16="http://schemas.microsoft.com/office/drawing/2014/main" id="{BC327487-7C8C-A37D-BB27-6897F016D938}"/>
              </a:ext>
            </a:extLst>
          </p:cNvPr>
          <p:cNvSpPr>
            <a:spLocks noGrp="1"/>
          </p:cNvSpPr>
          <p:nvPr>
            <p:ph sz="quarter" idx="13"/>
          </p:nvPr>
        </p:nvSpPr>
        <p:spPr>
          <a:xfrm>
            <a:off x="7014236" y="1153173"/>
            <a:ext cx="738554" cy="344128"/>
          </a:xfrm>
        </p:spPr>
        <p:txBody>
          <a:bodyPr wrap="square" lIns="0" tIns="18000" rIns="0" bIns="18000" anchor="ctr" anchorCtr="0">
            <a:spAutoFit/>
          </a:bodyPr>
          <a:lstStyle/>
          <a:p>
            <a:pPr marL="0" indent="0">
              <a:buNone/>
            </a:pPr>
            <a:r>
              <a:rPr lang="en-US" sz="2000" noProof="0" dirty="0"/>
              <a:t>power</a:t>
            </a:r>
          </a:p>
        </p:txBody>
      </p:sp>
      <p:sp>
        <p:nvSpPr>
          <p:cNvPr id="5" name="Content Placeholder 4">
            <a:extLst>
              <a:ext uri="{FF2B5EF4-FFF2-40B4-BE49-F238E27FC236}">
                <a16:creationId xmlns:a16="http://schemas.microsoft.com/office/drawing/2014/main" id="{301F445A-4517-E2E2-6B88-2492DBB7F5C1}"/>
              </a:ext>
            </a:extLst>
          </p:cNvPr>
          <p:cNvSpPr>
            <a:spLocks noGrp="1"/>
          </p:cNvSpPr>
          <p:nvPr>
            <p:ph sz="quarter" idx="14"/>
          </p:nvPr>
        </p:nvSpPr>
        <p:spPr>
          <a:xfrm>
            <a:off x="433754" y="1551636"/>
            <a:ext cx="8241934" cy="651905"/>
          </a:xfrm>
        </p:spPr>
        <p:txBody>
          <a:bodyPr wrap="square" lIns="0" tIns="18000" rIns="0" bIns="18000" anchor="ctr" anchorCtr="0">
            <a:spAutoFit/>
          </a:bodyPr>
          <a:lstStyle/>
          <a:p>
            <a:pPr marL="0" indent="0">
              <a:buNone/>
            </a:pPr>
            <a:r>
              <a:rPr lang="en-US" sz="2000" noProof="0" dirty="0"/>
              <a:t>Choose a feedback resistor and input resistor such that their ratio is 10 – one possibility is shown below:</a:t>
            </a:r>
          </a:p>
        </p:txBody>
      </p:sp>
      <p:pic>
        <p:nvPicPr>
          <p:cNvPr id="10" name="Picture 9" descr="The op amp has a positive supply voltage of 12V and a negative supply voltage of minus 12V. An independent voltage source, v sub s is connected in series with a 5k ohm resistor between the inverting input terminal and the common node. The non-inverting input terminal is short circuited with the common node. A 50k ohm resistor is connected between the output terminal and the inverting input terminal. The voltage across the output terminal and common node is marked as v sub o.">
            <a:extLst>
              <a:ext uri="{FF2B5EF4-FFF2-40B4-BE49-F238E27FC236}">
                <a16:creationId xmlns:a16="http://schemas.microsoft.com/office/drawing/2014/main" id="{A8C7EE73-58A2-037D-6242-835E85AEB0D3}"/>
              </a:ext>
            </a:extLst>
          </p:cNvPr>
          <p:cNvPicPr>
            <a:picLocks noChangeAspect="1"/>
          </p:cNvPicPr>
          <p:nvPr/>
        </p:nvPicPr>
        <p:blipFill>
          <a:blip r:embed="rId5"/>
          <a:stretch>
            <a:fillRect/>
          </a:stretch>
        </p:blipFill>
        <p:spPr>
          <a:xfrm>
            <a:off x="3048740" y="2413922"/>
            <a:ext cx="3060783" cy="2030157"/>
          </a:xfrm>
          <a:prstGeom prst="rect">
            <a:avLst/>
          </a:prstGeom>
        </p:spPr>
      </p:pic>
      <p:graphicFrame>
        <p:nvGraphicFramePr>
          <p:cNvPr id="9" name="Object 8" descr="v subscript o BaseLine equals negative 10 v subscript s BaseLine equals 12, forward arrow, v subscript s BaseLine equals negative 1.2 Volts.">
            <a:extLst>
              <a:ext uri="{FF2B5EF4-FFF2-40B4-BE49-F238E27FC236}">
                <a16:creationId xmlns:a16="http://schemas.microsoft.com/office/drawing/2014/main" id="{75836678-58DA-7B65-D6CB-0EEAB7D1E077}"/>
              </a:ext>
            </a:extLst>
          </p:cNvPr>
          <p:cNvGraphicFramePr>
            <a:graphicFrameLocks noChangeAspect="1"/>
          </p:cNvGraphicFramePr>
          <p:nvPr>
            <p:extLst>
              <p:ext uri="{D42A27DB-BD31-4B8C-83A1-F6EECF244321}">
                <p14:modId xmlns:p14="http://schemas.microsoft.com/office/powerpoint/2010/main" val="4229066858"/>
              </p:ext>
            </p:extLst>
          </p:nvPr>
        </p:nvGraphicFramePr>
        <p:xfrm>
          <a:off x="2355899" y="4775191"/>
          <a:ext cx="4442069" cy="380539"/>
        </p:xfrm>
        <a:graphic>
          <a:graphicData uri="http://schemas.openxmlformats.org/presentationml/2006/ole">
            <mc:AlternateContent xmlns:mc="http://schemas.openxmlformats.org/markup-compatibility/2006">
              <mc:Choice xmlns:v="urn:schemas-microsoft-com:vml" Requires="v">
                <p:oleObj spid="_x0000_s16387" name="Equation" r:id="rId6" imgW="2654280" imgH="228600" progId="Equation.DSMT4">
                  <p:embed/>
                </p:oleObj>
              </mc:Choice>
              <mc:Fallback>
                <p:oleObj name="Equation" r:id="rId6" imgW="2654280" imgH="228600" progId="Equation.DSMT4">
                  <p:embed/>
                  <p:pic>
                    <p:nvPicPr>
                      <p:cNvPr id="50" name="Object 49" descr="v subscript o BaseLine equals negative 10 v subscript s BaseLine equals 12, forward arrow, v subscript s BaseLine equals negative 1.2 Volts.">
                        <a:extLst>
                          <a:ext uri="{FF2B5EF4-FFF2-40B4-BE49-F238E27FC236}">
                            <a16:creationId xmlns:a16="http://schemas.microsoft.com/office/drawing/2014/main" id="{6B2150D6-45C5-434C-97DE-EF910749D24A}"/>
                          </a:ext>
                        </a:extLst>
                      </p:cNvPr>
                      <p:cNvPicPr>
                        <a:picLocks noChangeAspect="1" noChangeArrowheads="1"/>
                      </p:cNvPicPr>
                      <p:nvPr/>
                    </p:nvPicPr>
                    <p:blipFill>
                      <a:blip r:embed="rId7"/>
                      <a:srcRect/>
                      <a:stretch>
                        <a:fillRect/>
                      </a:stretch>
                    </p:blipFill>
                    <p:spPr bwMode="auto">
                      <a:xfrm>
                        <a:off x="2355899" y="4775191"/>
                        <a:ext cx="4442069" cy="3805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7" descr="v subscript o BaseLine equals negative 10 v subscript s BaseLine equals negative 12, forward arrow, v subscript s BaseLine equals 1.2 Volts.">
            <a:extLst>
              <a:ext uri="{FF2B5EF4-FFF2-40B4-BE49-F238E27FC236}">
                <a16:creationId xmlns:a16="http://schemas.microsoft.com/office/drawing/2014/main" id="{9E39F48F-3E7E-1CC3-6FDE-3F563B8E49D9}"/>
              </a:ext>
            </a:extLst>
          </p:cNvPr>
          <p:cNvGraphicFramePr>
            <a:graphicFrameLocks noChangeAspect="1"/>
          </p:cNvGraphicFramePr>
          <p:nvPr>
            <p:extLst>
              <p:ext uri="{D42A27DB-BD31-4B8C-83A1-F6EECF244321}">
                <p14:modId xmlns:p14="http://schemas.microsoft.com/office/powerpoint/2010/main" val="1206528934"/>
              </p:ext>
            </p:extLst>
          </p:nvPr>
        </p:nvGraphicFramePr>
        <p:xfrm>
          <a:off x="2345750" y="5269011"/>
          <a:ext cx="4442069" cy="380539"/>
        </p:xfrm>
        <a:graphic>
          <a:graphicData uri="http://schemas.openxmlformats.org/presentationml/2006/ole">
            <mc:AlternateContent xmlns:mc="http://schemas.openxmlformats.org/markup-compatibility/2006">
              <mc:Choice xmlns:v="urn:schemas-microsoft-com:vml" Requires="v">
                <p:oleObj spid="_x0000_s16388" name="Equation" r:id="rId8" imgW="2654280" imgH="228600" progId="Equation.DSMT4">
                  <p:embed/>
                </p:oleObj>
              </mc:Choice>
              <mc:Fallback>
                <p:oleObj name="Equation" r:id="rId8" imgW="2654280" imgH="228600" progId="Equation.DSMT4">
                  <p:embed/>
                  <p:pic>
                    <p:nvPicPr>
                      <p:cNvPr id="22" name="Object 21" descr="v subscript o BaseLine equals negative 10 v subscript s BaseLine equals negative 12, forward arrow, v subscript s BaseLine equals 1.2 Volts.">
                        <a:extLst>
                          <a:ext uri="{FF2B5EF4-FFF2-40B4-BE49-F238E27FC236}">
                            <a16:creationId xmlns:a16="http://schemas.microsoft.com/office/drawing/2014/main" id="{C7079E52-549D-4F6A-A08C-F886B90D6362}"/>
                          </a:ext>
                        </a:extLst>
                      </p:cNvPr>
                      <p:cNvPicPr>
                        <a:picLocks noChangeAspect="1" noChangeArrowheads="1"/>
                      </p:cNvPicPr>
                      <p:nvPr/>
                    </p:nvPicPr>
                    <p:blipFill>
                      <a:blip r:embed="rId9"/>
                      <a:srcRect/>
                      <a:stretch>
                        <a:fillRect/>
                      </a:stretch>
                    </p:blipFill>
                    <p:spPr bwMode="auto">
                      <a:xfrm>
                        <a:off x="2345750" y="5269011"/>
                        <a:ext cx="4442069" cy="3805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21" descr="Therefore v subscript o BaseLine equals negative 10 v subscript s.">
            <a:extLst>
              <a:ext uri="{FF2B5EF4-FFF2-40B4-BE49-F238E27FC236}">
                <a16:creationId xmlns:a16="http://schemas.microsoft.com/office/drawing/2014/main" id="{0886FE0E-6205-2600-686A-4A86C8D10A8B}"/>
              </a:ext>
            </a:extLst>
          </p:cNvPr>
          <p:cNvGraphicFramePr>
            <a:graphicFrameLocks noChangeAspect="1"/>
          </p:cNvGraphicFramePr>
          <p:nvPr>
            <p:extLst>
              <p:ext uri="{D42A27DB-BD31-4B8C-83A1-F6EECF244321}">
                <p14:modId xmlns:p14="http://schemas.microsoft.com/office/powerpoint/2010/main" val="1260120820"/>
              </p:ext>
            </p:extLst>
          </p:nvPr>
        </p:nvGraphicFramePr>
        <p:xfrm>
          <a:off x="2363663" y="5742659"/>
          <a:ext cx="1954212" cy="379413"/>
        </p:xfrm>
        <a:graphic>
          <a:graphicData uri="http://schemas.openxmlformats.org/presentationml/2006/ole">
            <mc:AlternateContent xmlns:mc="http://schemas.openxmlformats.org/markup-compatibility/2006">
              <mc:Choice xmlns:v="urn:schemas-microsoft-com:vml" Requires="v">
                <p:oleObj spid="_x0000_s16389" name="Equation" r:id="rId10" imgW="1168200" imgH="228600" progId="Equation.DSMT4">
                  <p:embed/>
                </p:oleObj>
              </mc:Choice>
              <mc:Fallback>
                <p:oleObj name="Equation" r:id="rId10" imgW="1168200" imgH="228600" progId="Equation.DSMT4">
                  <p:embed/>
                  <p:pic>
                    <p:nvPicPr>
                      <p:cNvPr id="23" name="Object 22">
                        <a:extLst>
                          <a:ext uri="{FF2B5EF4-FFF2-40B4-BE49-F238E27FC236}">
                            <a16:creationId xmlns:a16="http://schemas.microsoft.com/office/drawing/2014/main" id="{651A7D1D-B3B8-4FEE-A7EF-E63782AC985F}"/>
                          </a:ext>
                        </a:extLst>
                      </p:cNvPr>
                      <p:cNvPicPr>
                        <a:picLocks noChangeAspect="1" noChangeArrowheads="1"/>
                      </p:cNvPicPr>
                      <p:nvPr/>
                    </p:nvPicPr>
                    <p:blipFill>
                      <a:blip r:embed="rId11"/>
                      <a:srcRect/>
                      <a:stretch>
                        <a:fillRect/>
                      </a:stretch>
                    </p:blipFill>
                    <p:spPr bwMode="auto">
                      <a:xfrm>
                        <a:off x="2363663" y="5742659"/>
                        <a:ext cx="1954212"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Content Placeholder 5">
            <a:extLst>
              <a:ext uri="{FF2B5EF4-FFF2-40B4-BE49-F238E27FC236}">
                <a16:creationId xmlns:a16="http://schemas.microsoft.com/office/drawing/2014/main" id="{46190CB4-6626-FA2A-C2D4-37EFD4B45ACE}"/>
              </a:ext>
            </a:extLst>
          </p:cNvPr>
          <p:cNvSpPr>
            <a:spLocks noGrp="1"/>
          </p:cNvSpPr>
          <p:nvPr>
            <p:ph sz="quarter" idx="15"/>
          </p:nvPr>
        </p:nvSpPr>
        <p:spPr>
          <a:xfrm>
            <a:off x="4745611" y="5742659"/>
            <a:ext cx="309265" cy="344128"/>
          </a:xfrm>
        </p:spPr>
        <p:txBody>
          <a:bodyPr lIns="0" tIns="18000" rIns="0" bIns="18000" anchor="ctr" anchorCtr="0">
            <a:spAutoFit/>
          </a:bodyPr>
          <a:lstStyle/>
          <a:p>
            <a:pPr marL="0" indent="0">
              <a:buNone/>
            </a:pPr>
            <a:r>
              <a:rPr lang="en-US" sz="2000" noProof="0" dirty="0"/>
              <a:t>for</a:t>
            </a:r>
          </a:p>
        </p:txBody>
      </p:sp>
      <p:graphicFrame>
        <p:nvGraphicFramePr>
          <p:cNvPr id="7" name="Object 6" descr="Negative 1.2 Volts less than or equal to v subscript s BaseLine less than or equal to 1.2 Volts.">
            <a:extLst>
              <a:ext uri="{FF2B5EF4-FFF2-40B4-BE49-F238E27FC236}">
                <a16:creationId xmlns:a16="http://schemas.microsoft.com/office/drawing/2014/main" id="{8E377E27-41F6-D044-EAF0-C9DCC985A81C}"/>
              </a:ext>
            </a:extLst>
          </p:cNvPr>
          <p:cNvGraphicFramePr>
            <a:graphicFrameLocks noChangeAspect="1"/>
          </p:cNvGraphicFramePr>
          <p:nvPr>
            <p:extLst>
              <p:ext uri="{D42A27DB-BD31-4B8C-83A1-F6EECF244321}">
                <p14:modId xmlns:p14="http://schemas.microsoft.com/office/powerpoint/2010/main" val="2014077319"/>
              </p:ext>
            </p:extLst>
          </p:nvPr>
        </p:nvGraphicFramePr>
        <p:xfrm>
          <a:off x="5595741" y="5742660"/>
          <a:ext cx="2209800" cy="379412"/>
        </p:xfrm>
        <a:graphic>
          <a:graphicData uri="http://schemas.openxmlformats.org/presentationml/2006/ole">
            <mc:AlternateContent xmlns:mc="http://schemas.openxmlformats.org/markup-compatibility/2006">
              <mc:Choice xmlns:v="urn:schemas-microsoft-com:vml" Requires="v">
                <p:oleObj spid="_x0000_s16390" name="Equation" r:id="rId12" imgW="1320480" imgH="228600" progId="Equation.DSMT4">
                  <p:embed/>
                </p:oleObj>
              </mc:Choice>
              <mc:Fallback>
                <p:oleObj name="Equation" r:id="rId12" imgW="1320480" imgH="228600" progId="Equation.DSMT4">
                  <p:embed/>
                  <p:pic>
                    <p:nvPicPr>
                      <p:cNvPr id="22" name="Object 21">
                        <a:extLst>
                          <a:ext uri="{FF2B5EF4-FFF2-40B4-BE49-F238E27FC236}">
                            <a16:creationId xmlns:a16="http://schemas.microsoft.com/office/drawing/2014/main" id="{0886FE0E-6205-2600-686A-4A86C8D10A8B}"/>
                          </a:ext>
                        </a:extLst>
                      </p:cNvPr>
                      <p:cNvPicPr>
                        <a:picLocks noChangeAspect="1" noChangeArrowheads="1"/>
                      </p:cNvPicPr>
                      <p:nvPr/>
                    </p:nvPicPr>
                    <p:blipFill>
                      <a:blip r:embed="rId13"/>
                      <a:srcRect/>
                      <a:stretch>
                        <a:fillRect/>
                      </a:stretch>
                    </p:blipFill>
                    <p:spPr bwMode="auto">
                      <a:xfrm>
                        <a:off x="5595741" y="5742660"/>
                        <a:ext cx="2209800" cy="379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68582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28400" y="208800"/>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0590"/>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3.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4.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5.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6.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7.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8.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9.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0.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1.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2.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3.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4.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5.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6.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7.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8.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9.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0.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1.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22.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3.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4.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1182</TotalTime>
  <Words>1273</Words>
  <Application>Microsoft Office PowerPoint</Application>
  <PresentationFormat>On-screen Show (4:3)</PresentationFormat>
  <Paragraphs>152</Paragraphs>
  <Slides>25</Slides>
  <Notes>3</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32" baseType="lpstr">
      <vt:lpstr>Symbol</vt:lpstr>
      <vt:lpstr>Verdana</vt:lpstr>
      <vt:lpstr>Arial</vt:lpstr>
      <vt:lpstr>Times New Roman</vt:lpstr>
      <vt:lpstr>USHE</vt:lpstr>
      <vt:lpstr>USHE_slide options</vt:lpstr>
      <vt:lpstr>Equation</vt:lpstr>
      <vt:lpstr>Electric Circuits</vt:lpstr>
      <vt:lpstr>Objectives</vt:lpstr>
      <vt:lpstr>Chapter 5 – Op Amps (1 of 22)</vt:lpstr>
      <vt:lpstr>Chapter 5 – Op Amps (2 of 22)</vt:lpstr>
      <vt:lpstr>Chapter 5 – Op Amps (3 of 22)</vt:lpstr>
      <vt:lpstr>Chapter 5 – Op Amps (4 of 22)</vt:lpstr>
      <vt:lpstr>Chapter 5 – Op Amps (5 of 22)</vt:lpstr>
      <vt:lpstr>Chapter 5 – Op Amps (6 of 22)</vt:lpstr>
      <vt:lpstr>Chapter 5 – Op Amps (7 of 22)</vt:lpstr>
      <vt:lpstr>Chapter 5 – Op Amps (8 of 22)</vt:lpstr>
      <vt:lpstr>Chapter 5 – Op Amps (9 of 22)</vt:lpstr>
      <vt:lpstr>Chapter 5 – Op Amps (10 of 22)</vt:lpstr>
      <vt:lpstr>Chapter 5 – Op Amps (11 of 22)</vt:lpstr>
      <vt:lpstr>Chapter 5 – Op Amps (12 of 22)</vt:lpstr>
      <vt:lpstr>Chapter 5 – Op Amps (13 of 22)</vt:lpstr>
      <vt:lpstr>Chapter 5 – Op Amps (14 of 22)</vt:lpstr>
      <vt:lpstr>Chapter 5 – Op Amps (15 of 22)</vt:lpstr>
      <vt:lpstr>Chapter 5 – Op Amps (16 of 22)</vt:lpstr>
      <vt:lpstr>Chapter 5 – Op Amps (17 of 22)</vt:lpstr>
      <vt:lpstr>Chapter 5 – Op Amps (18 of 22)</vt:lpstr>
      <vt:lpstr>Chapter 5 – Op Amps (19 of 22)</vt:lpstr>
      <vt:lpstr>Chapter 5 – Op Amps (20 of 22)</vt:lpstr>
      <vt:lpstr>Chapter 5 – Op Amps (21 of 22)</vt:lpstr>
      <vt:lpstr>Chapter 5 – Op Amps (22 of 22)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5 – Part 1</dc:title>
  <dc:subject>Engineering</dc:subject>
  <dc:creator>Nilsson and Riedel</dc:creator>
  <cp:keywords/>
  <dc:description/>
  <cp:lastModifiedBy>ss</cp:lastModifiedBy>
  <cp:revision>228</cp:revision>
  <dcterms:modified xsi:type="dcterms:W3CDTF">2024-02-23T08:04:24Z</dcterms:modified>
</cp:coreProperties>
</file>