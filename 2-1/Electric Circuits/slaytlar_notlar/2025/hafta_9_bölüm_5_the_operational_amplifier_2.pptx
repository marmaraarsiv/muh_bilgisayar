
<file path=[Content_Types].xml><?xml version="1.0" encoding="utf-8"?>
<Types xmlns="http://schemas.openxmlformats.org/package/2006/content-types">
  <Default Extension="bin" ContentType="application/vnd.openxmlformats-officedocument.oleObject"/>
  <Default Extension="fntdata" ContentType="application/x-fontdata"/>
  <Default Extension="jp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autoCompressPictures="0">
  <p:sldMasterIdLst>
    <p:sldMasterId id="2147483663" r:id="rId1"/>
    <p:sldMasterId id="2147483659" r:id="rId2"/>
  </p:sldMasterIdLst>
  <p:notesMasterIdLst>
    <p:notesMasterId r:id="rId17"/>
  </p:notesMasterIdLst>
  <p:handoutMasterIdLst>
    <p:handoutMasterId r:id="rId18"/>
  </p:handoutMasterIdLst>
  <p:sldIdLst>
    <p:sldId id="744" r:id="rId3"/>
    <p:sldId id="745" r:id="rId4"/>
    <p:sldId id="746" r:id="rId5"/>
    <p:sldId id="737" r:id="rId6"/>
    <p:sldId id="735" r:id="rId7"/>
    <p:sldId id="736" r:id="rId8"/>
    <p:sldId id="738" r:id="rId9"/>
    <p:sldId id="739" r:id="rId10"/>
    <p:sldId id="740" r:id="rId11"/>
    <p:sldId id="748" r:id="rId12"/>
    <p:sldId id="747" r:id="rId13"/>
    <p:sldId id="742" r:id="rId14"/>
    <p:sldId id="743" r:id="rId15"/>
    <p:sldId id="717" r:id="rId16"/>
  </p:sldIdLst>
  <p:sldSz cx="9144000" cy="6858000" type="screen4x3"/>
  <p:notesSz cx="6858000" cy="9144000"/>
  <p:embeddedFontLst>
    <p:embeddedFont>
      <p:font typeface="Verdana" panose="020B0604030504040204" pitchFamily="34" charset="0"/>
      <p:regular r:id="rId19"/>
      <p:bold r:id="rId20"/>
      <p:italic r:id="rId21"/>
      <p:boldItalic r:id="rId2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427" userDrawn="1">
          <p15:clr>
            <a:srgbClr val="A4A3A4"/>
          </p15:clr>
        </p15:guide>
        <p15:guide id="2" pos="264" userDrawn="1">
          <p15:clr>
            <a:srgbClr val="A4A3A4"/>
          </p15:clr>
        </p15:guide>
        <p15:guide id="3" orient="horz" pos="845" userDrawn="1">
          <p15:clr>
            <a:srgbClr val="A4A3A4"/>
          </p15:clr>
        </p15:guide>
        <p15:guide id="4" pos="2835" userDrawn="1">
          <p15:clr>
            <a:srgbClr val="A4A3A4"/>
          </p15:clr>
        </p15:guide>
        <p15:guide id="5" pos="5462" userDrawn="1">
          <p15:clr>
            <a:srgbClr val="A4A3A4"/>
          </p15:clr>
        </p15:guide>
        <p15:guide id="6" orient="horz" pos="4173" userDrawn="1">
          <p15:clr>
            <a:srgbClr val="A4A3A4"/>
          </p15:clr>
        </p15:guide>
        <p15:guide id="7" orient="horz" pos="2183"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Author" initials="A" lastIdx="0" clrIdx="7"/>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554" autoAdjust="0"/>
    <p:restoredTop sz="95872" autoAdjust="0"/>
  </p:normalViewPr>
  <p:slideViewPr>
    <p:cSldViewPr snapToGrid="0" snapToObjects="1">
      <p:cViewPr>
        <p:scale>
          <a:sx n="128" d="100"/>
          <a:sy n="128" d="100"/>
        </p:scale>
        <p:origin x="208" y="-472"/>
      </p:cViewPr>
      <p:guideLst>
        <p:guide orient="horz" pos="427"/>
        <p:guide pos="264"/>
        <p:guide orient="horz" pos="845"/>
        <p:guide pos="2835"/>
        <p:guide pos="5462"/>
        <p:guide orient="horz" pos="4173"/>
        <p:guide orient="horz" pos="2183"/>
      </p:guideLst>
    </p:cSldViewPr>
  </p:slideViewPr>
  <p:outlineViewPr>
    <p:cViewPr>
      <p:scale>
        <a:sx n="33" d="100"/>
        <a:sy n="33" d="100"/>
      </p:scale>
      <p:origin x="0" y="-4842"/>
    </p:cViewPr>
  </p:outlineViewPr>
  <p:notesTextViewPr>
    <p:cViewPr>
      <p:scale>
        <a:sx n="3" d="2"/>
        <a:sy n="3" d="2"/>
      </p:scale>
      <p:origin x="0" y="0"/>
    </p:cViewPr>
  </p:notesTextViewPr>
  <p:sorterViewPr>
    <p:cViewPr>
      <p:scale>
        <a:sx n="100" d="100"/>
        <a:sy n="100" d="100"/>
      </p:scale>
      <p:origin x="0" y="-3346"/>
    </p:cViewPr>
  </p:sorterViewPr>
  <p:notesViewPr>
    <p:cSldViewPr snapToGrid="0" snapToObjects="1">
      <p:cViewPr varScale="1">
        <p:scale>
          <a:sx n="84" d="100"/>
          <a:sy n="84" d="100"/>
        </p:scale>
        <p:origin x="2226" y="10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handoutMaster" Target="handoutMasters/handoutMaster1.xml"/><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font" Target="fonts/font3.fntdata"/><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commentAuthors" Target="commentAuthors.xml"/><Relationship Id="rId10" Type="http://schemas.openxmlformats.org/officeDocument/2006/relationships/slide" Target="slides/slide8.xml"/><Relationship Id="rId19" Type="http://schemas.openxmlformats.org/officeDocument/2006/relationships/font" Target="fonts/font1.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font" Target="fonts/font4.fntdata"/><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11/17/25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dirty="0"/>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this PowerPoint presentation contains mathematical equations, you may need to check that your computer has the following installed:</a:t>
            </a:r>
          </a:p>
          <a:p>
            <a:r>
              <a:rPr lang="en-US" dirty="0"/>
              <a:t>1</a:t>
            </a:r>
            <a:r>
              <a:rPr lang="en-US"/>
              <a:t>) Math Type </a:t>
            </a:r>
            <a:r>
              <a:rPr lang="en-US" dirty="0"/>
              <a:t>Plugin</a:t>
            </a:r>
          </a:p>
          <a:p>
            <a:r>
              <a:rPr lang="en-US" dirty="0"/>
              <a:t>2) Math Player (free versions available)</a:t>
            </a:r>
          </a:p>
          <a:p>
            <a:r>
              <a:rPr lang="en-US" dirty="0"/>
              <a:t>3) NVDA Reader (free versions available)</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3541993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Long Description 1:</a:t>
            </a:r>
          </a:p>
          <a:p>
            <a:r>
              <a:rPr lang="en-US" noProof="0" dirty="0"/>
              <a:t>v subscript n Base Line: Start Fraction 0 minus v subscript a Base Line over R subscript a Base Line End Fraction plus Start Fraction 0 minus v subscript b Base Line over R subscript b Base Line End Fraction plus Start Fraction 0 minus v subscript c Base Line over R subscript c End Fraction plus Start Fraction 0 minus v subscript o Base Line over R subscript f End Fraction equals 0.</a:t>
            </a:r>
          </a:p>
          <a:p>
            <a:endParaRPr lang="en-US" noProof="0"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noProof="0" dirty="0"/>
              <a:t>Long Description 2:</a:t>
            </a:r>
          </a:p>
          <a:p>
            <a:r>
              <a:rPr lang="en-US" noProof="0" dirty="0"/>
              <a:t>Therefore, v subscript o Base Line equals negative Start Fraction R subscript f Base Line over R subscript a Base Line End Fraction multiplied by v subscript a Base Line minus Start Fraction R subscript f Base Line over R subscript b End Fraction multiplied by v subscript b Base Line minus Start Fraction R subscript f Base Line over R subscript c End Fraction multiplied by v subscript c.</a:t>
            </a:r>
          </a:p>
          <a:p>
            <a:endParaRPr lang="en-US" noProof="0"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noProof="0" dirty="0"/>
              <a:t>Long Description 3:</a:t>
            </a:r>
          </a:p>
          <a:p>
            <a:r>
              <a:rPr lang="en-US" noProof="0" dirty="0"/>
              <a:t>If R subscript a Base Line equals R subscript b Base Line equals R subscript c Base Line equals R subscript s Base Line, therefore, v subscript o Base Line equals negative Start Fraction R subscript f over R subscript s End Fraction Open Parenthesis v subscript a Base Line plus v subscript b Base Line plus v subscript c Base Line Close Parenthesis.</a:t>
            </a:r>
          </a:p>
          <a:p>
            <a:endParaRPr lang="en-US" noProof="0" dirty="0"/>
          </a:p>
          <a:p>
            <a:r>
              <a:rPr lang="en-US" noProof="0" dirty="0"/>
              <a:t>Long Description 4:</a:t>
            </a:r>
          </a:p>
          <a:p>
            <a:r>
              <a:rPr lang="en-US" noProof="0" dirty="0"/>
              <a:t>If R subscript a Base Line equals R subscript b Base Line equals R subscript c Base Line equals R subscript s Base Line equals R subscript f Base Line. Therefore, v subscript o Base Line equals negative Open Parenthesis v subscript a Base Line plus v subscript b Base Line plus v subscript c Close Parenthesis.</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457742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noProof="0" dirty="0"/>
              <a:t>Long Description:</a:t>
            </a:r>
          </a:p>
          <a:p>
            <a:r>
              <a:rPr lang="en-US" dirty="0"/>
              <a:t>v subscript o Base Line equals negative Start Fraction 250,000 over 5000 End Fraction multiplied by v subscript a Base Line minus Start Fraction 250,000 over 25,000 End Fraction multiplied by v subscript b Base Line equals negative 50 v subscript a Base Line minus 10 v subscript b.</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7004260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noProof="0" dirty="0"/>
              <a:t>Long Description:</a:t>
            </a:r>
          </a:p>
          <a:p>
            <a:r>
              <a:rPr lang="en-US" dirty="0"/>
              <a:t>v subscript o Base Line equals negative Start Fraction R subscript f over 5000 End Fraction multiplied by Open Parenthesis 0.1 Close Parenthesis minus Start Fraction R subscript f over 25,000 End Fraction multiplied by Open Parenthesis 0.25 Close Parenthesis equals Start Fraction negative 5 R subscript f Base Line multiplied by Open Parenthesis 0.1 Close Parenthesis minus R subscript f Base Line multiplied by Open Parenthesis 0.25 Close Parenthesis over 25,000 End Fraction.</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644329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noProof="0" dirty="0"/>
              <a:t>Long Description 1:</a:t>
            </a:r>
          </a:p>
          <a:p>
            <a:r>
              <a:rPr lang="en-US" dirty="0"/>
              <a:t>v subscript p Base Line equals v subscript g Base Line equals v subscript n Base Line; K C L at v subscript n Base Line: Start Fraction v subscript g over R subscript s End Fraction plus Start Fraction v subscript g Base Line minus v subscript o over R subscript f End Fraction equals 0.</a:t>
            </a:r>
          </a:p>
          <a:p>
            <a:endParaRPr 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noProof="0" dirty="0"/>
              <a:t>Long Description 2:</a:t>
            </a:r>
          </a:p>
          <a:p>
            <a:r>
              <a:rPr lang="en-US" dirty="0"/>
              <a:t>Forward arrow, v subscript g Base Line Open Parenthesis Start Fraction 1 over R subscript s End Fraction plus Start Fraction 1 over R subscript f End Fraction Close Parenthesis equals Start Fraction v subscript o over R subscript f End Fraction. Therefore, v subscript o Base Line equals v subscript g Base Line Open Parenthesis Start Fraction R subscript f over R subscript s End Fraction plus 1 Close Parenthesis.</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1711962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noProof="0" dirty="0"/>
              <a:t>Long Description 1:</a:t>
            </a:r>
          </a:p>
          <a:p>
            <a:pPr marL="0" marR="0" lvl="0" indent="0" algn="l" defTabSz="457200" rtl="0" eaLnBrk="1" fontAlgn="auto" latinLnBrk="0" hangingPunct="1">
              <a:lnSpc>
                <a:spcPct val="100000"/>
              </a:lnSpc>
              <a:spcBef>
                <a:spcPts val="0"/>
              </a:spcBef>
              <a:spcAft>
                <a:spcPts val="0"/>
              </a:spcAft>
              <a:buClrTx/>
              <a:buSzTx/>
              <a:buFontTx/>
              <a:buNone/>
              <a:tabLst/>
              <a:defRPr/>
            </a:pPr>
            <a:r>
              <a:rPr lang="en-US" noProof="0" dirty="0"/>
              <a:t>v subscript o Base Line equals Open Parenthesis Start Fraction R subscript f over R subscript s End Fraction plus 1 Close Parenthesis v subscript p Base Line equals Open Parenthesis Start Fraction 63,000 over 4500 End Fraction plus 1 Close Parenthesis multiplied by v subscript g Base Line equals 15 v subscript p.</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noProof="0"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noProof="0" dirty="0"/>
              <a:t>Long Description 2:</a:t>
            </a:r>
          </a:p>
          <a:p>
            <a:r>
              <a:rPr lang="en-US" dirty="0"/>
              <a:t>v subscript p Base Line equals Start Fraction R subscript x over R subscript x Base Line plus 15,000 End Fraction multiplied by Open Parenthesis 0.4 Close Parenthesis, forward arrow, v subscript o Base Line equals 15 Start Fraction R subscript x over R subscript x Base Line plus 15,000 End Fraction Open Parenthesis 0.4 Close Parenthesis equals 5.</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8</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1241950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noProof="0" dirty="0"/>
              <a:t>Long Description 1:</a:t>
            </a:r>
          </a:p>
          <a:p>
            <a:pPr marL="0" marR="0" lvl="0" indent="0" algn="l" defTabSz="457200" rtl="0" eaLnBrk="1" fontAlgn="auto" latinLnBrk="0" hangingPunct="1">
              <a:lnSpc>
                <a:spcPct val="100000"/>
              </a:lnSpc>
              <a:spcBef>
                <a:spcPts val="0"/>
              </a:spcBef>
              <a:spcAft>
                <a:spcPts val="0"/>
              </a:spcAft>
              <a:buClrTx/>
              <a:buSzTx/>
              <a:buFontTx/>
              <a:buNone/>
              <a:tabLst/>
              <a:defRPr/>
            </a:pPr>
            <a:r>
              <a:rPr lang="en-US" noProof="0" dirty="0"/>
              <a:t>K C L at v subscript n Base Line: Start Fraction v subscript n Base Line minus v subscript a over R subscript a End Fraction plus Start Fraction v subscript n Base Line minus v subscript o over R subscript b End Fraction equals 0, forward arrow, Start Fraction R subscript b Base Line Open Parenthesis v subscript n Base Line minus v subscript a Close Parenthesis plus R subscript a Base Line multiplied by Open Parenthesis v subscript n Base Line minus v subscript o Close Parenthesis over R subscript a Base Line plus R subscript b End Fraction equals 0.</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noProof="0"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noProof="0" dirty="0"/>
              <a:t>Long Description 2:</a:t>
            </a:r>
          </a:p>
          <a:p>
            <a:pPr marL="0" marR="0" lvl="0" indent="0" algn="l" defTabSz="457200" rtl="0" eaLnBrk="1" fontAlgn="auto" latinLnBrk="0" hangingPunct="1">
              <a:lnSpc>
                <a:spcPct val="100000"/>
              </a:lnSpc>
              <a:spcBef>
                <a:spcPts val="0"/>
              </a:spcBef>
              <a:spcAft>
                <a:spcPts val="0"/>
              </a:spcAft>
              <a:buClrTx/>
              <a:buSzTx/>
              <a:buFontTx/>
              <a:buNone/>
              <a:tabLst/>
              <a:defRPr/>
            </a:pPr>
            <a:r>
              <a:rPr lang="en-US" noProof="0" dirty="0"/>
              <a:t>Forward arrow, v subscript o Base Line equals v subscript n Base Line Start Fraction Open Parenthesis R subscript a Base Line plus R subscript b Close Parenthesis over R subscript a End Fraction minus v subscript a Base Line multiplied by Start Fraction R subscript b over R subscript a End Fraction equals Start Fraction R subscript d over R subscript a End Fraction multiplied by Start Fraction Open Parenthesis R subscript a Base Line plus R subscript b Close Parenthesis over Open Parenthesis R subscript c Base Line plus R subscript d Close Parenthesis End Fraction multiplied by v subscript b Base Line minus v subscript a Base Line Start Fraction R subscript b over R subscript a End Fraction.</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noProof="0"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noProof="0" dirty="0"/>
              <a:t>Long Description 3:</a:t>
            </a:r>
          </a:p>
          <a:p>
            <a:pPr marL="0" marR="0" lvl="0" indent="0" algn="l" defTabSz="457200" rtl="0" eaLnBrk="1" fontAlgn="auto" latinLnBrk="0" hangingPunct="1">
              <a:lnSpc>
                <a:spcPct val="100000"/>
              </a:lnSpc>
              <a:spcBef>
                <a:spcPts val="0"/>
              </a:spcBef>
              <a:spcAft>
                <a:spcPts val="0"/>
              </a:spcAft>
              <a:buClrTx/>
              <a:buSzTx/>
              <a:buFontTx/>
              <a:buNone/>
              <a:tabLst/>
              <a:defRPr/>
            </a:pPr>
            <a:r>
              <a:rPr lang="en-US" noProof="0" dirty="0"/>
              <a:t>Forward arrow, v subscript o Base Line equals Start Fraction R subscript a Base Line R subscript d Base Line plus R subscript b Base Line R subscript d over R subscript a Base Line R subscript c Base Line plus R subscript a Base Line R subscript d End Fraction multiplied by v subscript b Base Line minus v subscript a Base Line Start Fraction R subscript b over R subscript a End Fraction.</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noProof="0"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noProof="0" dirty="0"/>
              <a:t>Long Description 4:</a:t>
            </a:r>
          </a:p>
          <a:p>
            <a:r>
              <a:rPr lang="en-US" dirty="0"/>
              <a:t>Equals Start Fraction R subscript b Base Line R subscript c Base Line plus R subscript b Base Line R subscript d over R subscript a Base Line R subscript c Base Line plus R subscript a Base Line R subscript d End Fraction multiplied by v subscript b Base Line minus v subscript a Base Line Start Fraction R subscript b over R subscript a End Fraction equals Start Fraction R subscript b over R subscript a End Fraction multiplied by Open Parenthesis v subscript b Base Line minus v subscript a Close Parenthesis.</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0013550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Long Description:</a:t>
            </a:r>
          </a:p>
          <a:p>
            <a:r>
              <a:rPr lang="en-US" dirty="0"/>
              <a:t>v subscript o Base Line equals Start Fraction 20,000 over 4000 End Fraction multiplied by Open Parenthesis v subscript b Base Line minus v subscript a Close Parenthesis equals 5 multiplied by Open Parenthesis v subscript b Base Line minus v subscript a Close Parenthesis.</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2311772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a:extLst>
              <a:ext uri="{FF2B5EF4-FFF2-40B4-BE49-F238E27FC236}">
                <a16:creationId xmlns:a16="http://schemas.microsoft.com/office/drawing/2014/main" id="{F9CAA192-07C2-4912-B6C5-CA306F17FBDD}"/>
              </a:ext>
            </a:extLst>
          </p:cNvPr>
          <p:cNvSpPr>
            <a:spLocks noGrp="1" noRot="1" noChangeAspect="1" noTextEdit="1"/>
          </p:cNvSpPr>
          <p:nvPr>
            <p:ph type="sldImg"/>
          </p:nvPr>
        </p:nvSpPr>
        <p:spPr>
          <a:ln>
            <a:headEnd/>
            <a:tailEnd/>
          </a:ln>
        </p:spPr>
      </p:sp>
      <p:sp>
        <p:nvSpPr>
          <p:cNvPr id="48131" name="Notes Placeholder 2">
            <a:extLst>
              <a:ext uri="{FF2B5EF4-FFF2-40B4-BE49-F238E27FC236}">
                <a16:creationId xmlns:a16="http://schemas.microsoft.com/office/drawing/2014/main" id="{D9D7DF65-6D37-4A7E-9EC7-2261A13D3C4B}"/>
              </a:ext>
            </a:extLst>
          </p:cNvPr>
          <p:cNvSpPr txBox="1">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compatLnSpc="1">
            <a:prstTxWarp prst="textNoShape">
              <a:avLst/>
            </a:prstTxWarp>
          </a:bodyPr>
          <a:lstStyle/>
          <a:p>
            <a:pPr>
              <a:spcBef>
                <a:spcPct val="0"/>
              </a:spcBef>
            </a:pPr>
            <a:endParaRPr lang="de-DE" altLang="en-US">
              <a:solidFill>
                <a:srgbClr val="000000"/>
              </a:solidFill>
              <a:latin typeface="Arial" panose="020B0604020202020204" pitchFamily="34" charset="0"/>
              <a:cs typeface="Arial" panose="020B0604020202020204" pitchFamily="34" charset="0"/>
              <a:sym typeface="Arial" panose="020B0604020202020204" pitchFamily="34" charset="0"/>
            </a:endParaRPr>
          </a:p>
        </p:txBody>
      </p:sp>
      <p:sp>
        <p:nvSpPr>
          <p:cNvPr id="48132" name="Slide Number Placeholder 3">
            <a:extLst>
              <a:ext uri="{FF2B5EF4-FFF2-40B4-BE49-F238E27FC236}">
                <a16:creationId xmlns:a16="http://schemas.microsoft.com/office/drawing/2014/main" id="{2998DBAB-D818-4DFB-A086-C98B5573E013}"/>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fld id="{62E8CF15-2268-4E7C-A993-40BF9E4643D2}" type="slidenum">
              <a:rPr lang="en-US" altLang="en-US" sz="1200" smtClean="0"/>
              <a:pPr/>
              <a:t>14</a:t>
            </a:fld>
            <a:endParaRPr lang="en-US" altLang="en-US" sz="1200"/>
          </a:p>
        </p:txBody>
      </p:sp>
    </p:spTree>
    <p:extLst>
      <p:ext uri="{BB962C8B-B14F-4D97-AF65-F5344CB8AC3E}">
        <p14:creationId xmlns:p14="http://schemas.microsoft.com/office/powerpoint/2010/main" val="5145252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buNone/>
              <a:defRPr sz="3000"/>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8"/>
            <a:ext cx="3657600" cy="2873375"/>
          </a:xfrm>
        </p:spPr>
        <p:txBody>
          <a:bodyPr/>
          <a:lstStyle>
            <a:lvl1pPr marL="101600" indent="0">
              <a:buNone/>
              <a:defRPr sz="2200"/>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r>
              <a:rPr lang="en-US" dirty="0">
                <a:cs typeface="Verdana" panose="020B0604030504040204" pitchFamily="34" charset="0"/>
              </a:rPr>
              <a:t>Copyright © 2023, 2019, 2015 Pearson Education, Inc. All Rights Reserved</a:t>
            </a:r>
          </a:p>
        </p:txBody>
      </p:sp>
    </p:spTree>
    <p:extLst>
      <p:ext uri="{BB962C8B-B14F-4D97-AF65-F5344CB8AC3E}">
        <p14:creationId xmlns:p14="http://schemas.microsoft.com/office/powerpoint/2010/main" val="839355990"/>
      </p:ext>
    </p:extLst>
  </p:cSld>
  <p:clrMapOvr>
    <a:masterClrMapping/>
  </p:clrMapOvr>
  <p:extLst>
    <p:ext uri="{DCECCB84-F9BA-43D5-87BE-67443E8EF086}">
      <p15:sldGuideLst xmlns:p15="http://schemas.microsoft.com/office/powerpoint/2012/main">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add copyright">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19" name="Title Placeholder"/>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Content Placeholder"/>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Arial"/>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a:ln>
                <a:noFill/>
              </a:ln>
              <a:solidFill>
                <a:srgbClr val="FFFFFF"/>
              </a:solidFill>
              <a:effectLst/>
              <a:uLnTx/>
              <a:uFillTx/>
              <a:latin typeface="Arial"/>
              <a:cs typeface="Arial"/>
              <a:sym typeface="Arial"/>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13" name="Picture Placeholder 8">
            <a:extLst>
              <a:ext uri="{FF2B5EF4-FFF2-40B4-BE49-F238E27FC236}">
                <a16:creationId xmlns:a16="http://schemas.microsoft.com/office/drawing/2014/main" id="{C6122C06-0248-45C8-9890-FDA2C7B0CDBA}"/>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3" name="Content Placeholder 2">
            <a:extLst>
              <a:ext uri="{FF2B5EF4-FFF2-40B4-BE49-F238E27FC236}">
                <a16:creationId xmlns:a16="http://schemas.microsoft.com/office/drawing/2014/main" id="{B3F9E3F0-3064-41BA-BF34-B5D9350D8D48}"/>
              </a:ext>
            </a:extLst>
          </p:cNvPr>
          <p:cNvSpPr>
            <a:spLocks noGrp="1"/>
          </p:cNvSpPr>
          <p:nvPr>
            <p:ph sz="quarter" idx="17" hasCustomPrompt="1"/>
          </p:nvPr>
        </p:nvSpPr>
        <p:spPr>
          <a:xfrm>
            <a:off x="1836402" y="6400801"/>
            <a:ext cx="6908800" cy="228600"/>
          </a:xfrm>
        </p:spPr>
        <p:txBody>
          <a:bodyPr anchor="ctr"/>
          <a:lstStyle>
            <a:lvl1pPr algn="r">
              <a:buNone/>
              <a:defRPr sz="1200">
                <a:latin typeface="Verdana" panose="020B0604030504040204" pitchFamily="34" charset="0"/>
                <a:ea typeface="Verdana" panose="020B0604030504040204" pitchFamily="34" charset="0"/>
              </a:defRPr>
            </a:lvl1pPr>
          </a:lstStyle>
          <a:p>
            <a:r>
              <a:rPr lang="en-US" dirty="0">
                <a:cs typeface="Verdana" panose="020B0604030504040204" pitchFamily="34" charset="0"/>
              </a:rPr>
              <a:t>Copyright © 2023, 2019, 2015 Pearson Education, Inc. All Rights Reserved</a:t>
            </a:r>
          </a:p>
        </p:txBody>
      </p:sp>
    </p:spTree>
    <p:extLst>
      <p:ext uri="{BB962C8B-B14F-4D97-AF65-F5344CB8AC3E}">
        <p14:creationId xmlns:p14="http://schemas.microsoft.com/office/powerpoint/2010/main" val="421594099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Shape 24"/>
        <p:cNvGrpSpPr/>
        <p:nvPr/>
      </p:nvGrpSpPr>
      <p:grpSpPr>
        <a:xfrm>
          <a:off x="0" y="0"/>
          <a:ext cx="0" cy="0"/>
          <a:chOff x="0" y="0"/>
          <a:chExt cx="0" cy="0"/>
        </a:xfrm>
      </p:grpSpPr>
      <p:sp>
        <p:nvSpPr>
          <p:cNvPr id="25"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00F45AE3-EB76-41DE-97B2-CFE79B73D3C6}"/>
              </a:ext>
            </a:extLst>
          </p:cNvPr>
          <p:cNvSpPr>
            <a:spLocks noGrp="1"/>
          </p:cNvSpPr>
          <p:nvPr>
            <p:ph sz="quarter" idx="13"/>
          </p:nvPr>
        </p:nvSpPr>
        <p:spPr>
          <a:xfrm>
            <a:off x="457200" y="1441450"/>
            <a:ext cx="8232775" cy="470996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8" name="Shape 28"/>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29" name="Shape 29"/>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Thre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 name="Content Placeholder 2">
            <a:extLst>
              <a:ext uri="{FF2B5EF4-FFF2-40B4-BE49-F238E27FC236}">
                <a16:creationId xmlns:a16="http://schemas.microsoft.com/office/drawing/2014/main" id="{6F503D41-401A-43DB-9BC0-38F51965B892}"/>
              </a:ext>
            </a:extLst>
          </p:cNvPr>
          <p:cNvSpPr>
            <a:spLocks noGrp="1"/>
          </p:cNvSpPr>
          <p:nvPr>
            <p:ph sz="quarter" idx="15"/>
          </p:nvPr>
        </p:nvSpPr>
        <p:spPr>
          <a:xfrm>
            <a:off x="457200" y="1556327"/>
            <a:ext cx="3635375" cy="4520623"/>
          </a:xfrm>
        </p:spPr>
        <p:txBody>
          <a:bodyPr/>
          <a:lstStyle/>
          <a:p>
            <a:pPr lvl="0"/>
            <a:r>
              <a:rPr lang="en-US" dirty="0"/>
              <a:t>Edit Master text styles</a:t>
            </a:r>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234542" y="1556327"/>
            <a:ext cx="4452257" cy="2267528"/>
          </a:xfrm>
        </p:spPr>
        <p:txBody>
          <a:bodyPr/>
          <a:lstStyle/>
          <a:p>
            <a:pPr lvl="0"/>
            <a:r>
              <a:rPr lang="en-US" dirty="0"/>
              <a:t>Edit Master text styles</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234542" y="3971925"/>
            <a:ext cx="4452258" cy="2105025"/>
          </a:xfrm>
        </p:spPr>
        <p:txBody>
          <a:bodyPr/>
          <a:lstStyle/>
          <a:p>
            <a:pPr lvl="0"/>
            <a:r>
              <a:rPr lang="en-US" dirty="0"/>
              <a:t>Edit Master text styles</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276906253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Two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457200" y="1552575"/>
            <a:ext cx="3991970" cy="4438650"/>
          </a:xfrm>
        </p:spPr>
        <p:txBody>
          <a:bodyPr/>
          <a:lstStyle>
            <a:lvl1pPr>
              <a:defRPr/>
            </a:lvl1pPr>
          </a:lstStyle>
          <a:p>
            <a:pPr lvl="0"/>
            <a:r>
              <a:rPr lang="en-US" dirty="0"/>
              <a:t>Click to add text</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4694830" y="1552575"/>
            <a:ext cx="3991970" cy="4438650"/>
          </a:xfrm>
        </p:spPr>
        <p:txBody>
          <a:bodyPr/>
          <a:lstStyle/>
          <a:p>
            <a:pPr lvl="0"/>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412611016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457201" y="1552575"/>
            <a:ext cx="2595603" cy="4438650"/>
          </a:xfrm>
        </p:spPr>
        <p:txBody>
          <a:bodyPr/>
          <a:lstStyle/>
          <a:p>
            <a:pPr lvl="0"/>
            <a:r>
              <a:rPr lang="en-US" dirty="0"/>
              <a:t>Click to add text</a:t>
            </a:r>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3274199" y="1552575"/>
            <a:ext cx="2595602" cy="4438650"/>
          </a:xfrm>
        </p:spPr>
        <p:txBody>
          <a:bodyPr/>
          <a:lstStyle>
            <a:lvl1pPr>
              <a:defRPr/>
            </a:lvl1pPr>
          </a:lstStyle>
          <a:p>
            <a:pPr lvl="0"/>
            <a:r>
              <a:rPr lang="en-US" dirty="0"/>
              <a:t>Click to add text</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hasCustomPrompt="1"/>
          </p:nvPr>
        </p:nvSpPr>
        <p:spPr>
          <a:xfrm>
            <a:off x="6091197" y="1552575"/>
            <a:ext cx="2595603" cy="4438650"/>
          </a:xfrm>
        </p:spPr>
        <p:txBody>
          <a:bodyPr/>
          <a:lstStyle/>
          <a:p>
            <a:pPr lvl="0"/>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416443381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457200" y="1552575"/>
            <a:ext cx="1885950" cy="4438650"/>
          </a:xfrm>
        </p:spPr>
        <p:txBody>
          <a:bodyPr/>
          <a:lstStyle>
            <a:lvl1pPr>
              <a:defRPr/>
            </a:lvl1pPr>
          </a:lstStyle>
          <a:p>
            <a:pPr lvl="0"/>
            <a:r>
              <a:rPr lang="en-US" dirty="0"/>
              <a:t>Click to add text</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2572593" y="1552575"/>
            <a:ext cx="1885950" cy="4438650"/>
          </a:xfrm>
        </p:spPr>
        <p:txBody>
          <a:bodyPr/>
          <a:lstStyle/>
          <a:p>
            <a:pPr lvl="0"/>
            <a:r>
              <a:rPr lang="en-US" dirty="0"/>
              <a:t>Click to add text</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hasCustomPrompt="1"/>
          </p:nvPr>
        </p:nvSpPr>
        <p:spPr>
          <a:xfrm>
            <a:off x="4687986" y="1552575"/>
            <a:ext cx="1885950" cy="4438650"/>
          </a:xfrm>
        </p:spPr>
        <p:txBody>
          <a:bodyPr/>
          <a:lstStyle/>
          <a:p>
            <a:pPr lvl="0"/>
            <a:r>
              <a:rPr lang="en-US" dirty="0"/>
              <a:t>Click to add text</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hasCustomPrompt="1"/>
          </p:nvPr>
        </p:nvSpPr>
        <p:spPr>
          <a:xfrm>
            <a:off x="6803378" y="1552575"/>
            <a:ext cx="1885950" cy="4438650"/>
          </a:xfrm>
        </p:spPr>
        <p:txBody>
          <a:bodyPr/>
          <a:lstStyle/>
          <a:p>
            <a:pPr marL="256032" marR="0" lvl="0" indent="-154432" algn="l" defTabSz="914400" rtl="0" eaLnBrk="1" fontAlgn="auto" latinLnBrk="0" hangingPunct="1">
              <a:lnSpc>
                <a:spcPct val="100000"/>
              </a:lnSpc>
              <a:spcBef>
                <a:spcPts val="1500"/>
              </a:spcBef>
              <a:spcAft>
                <a:spcPts val="0"/>
              </a:spcAft>
              <a:buClr>
                <a:srgbClr val="007FA3"/>
              </a:buClr>
              <a:buSzPct val="100000"/>
              <a:buFont typeface="Arial"/>
              <a:buChar char="•"/>
              <a:tabLst/>
              <a:defRPr/>
            </a:pPr>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301121478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Fiv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47C1B-C047-7B02-4D88-804B90233896}"/>
              </a:ext>
            </a:extLst>
          </p:cNvPr>
          <p:cNvSpPr>
            <a:spLocks noGrp="1"/>
          </p:cNvSpPr>
          <p:nvPr>
            <p:ph type="title"/>
          </p:nvPr>
        </p:nvSpPr>
        <p:spPr>
          <a:xfrm>
            <a:off x="457200" y="349194"/>
            <a:ext cx="8229600" cy="590349"/>
          </a:xfrm>
        </p:spPr>
        <p:txBody>
          <a:bodyPr lIns="0" tIns="18000" rIns="0" bIns="18000" anchor="ctr" anchorCtr="0">
            <a:spAutoFit/>
          </a:bodyPr>
          <a:lstStyle>
            <a:lvl1pPr>
              <a:defRPr sz="3600">
                <a:latin typeface="+mj-lt"/>
              </a:defRPr>
            </a:lvl1pPr>
          </a:lstStyle>
          <a:p>
            <a:r>
              <a:rPr lang="en-US"/>
              <a:t>Click to edit Master title style</a:t>
            </a:r>
          </a:p>
        </p:txBody>
      </p:sp>
      <p:sp>
        <p:nvSpPr>
          <p:cNvPr id="3" name="Date Placeholder 2">
            <a:extLst>
              <a:ext uri="{FF2B5EF4-FFF2-40B4-BE49-F238E27FC236}">
                <a16:creationId xmlns:a16="http://schemas.microsoft.com/office/drawing/2014/main" id="{74FD910A-3690-45F8-A412-24DF80B21CB5}"/>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83B3019D-CCCC-2B72-EE55-406C5B5A635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6" name="Content Placeholder 5">
            <a:extLst>
              <a:ext uri="{FF2B5EF4-FFF2-40B4-BE49-F238E27FC236}">
                <a16:creationId xmlns:a16="http://schemas.microsoft.com/office/drawing/2014/main" id="{209443E3-365E-BA1E-8B2A-10A135AD2092}"/>
              </a:ext>
            </a:extLst>
          </p:cNvPr>
          <p:cNvSpPr>
            <a:spLocks noGrp="1"/>
          </p:cNvSpPr>
          <p:nvPr>
            <p:ph sz="quarter" idx="12"/>
          </p:nvPr>
        </p:nvSpPr>
        <p:spPr>
          <a:xfrm>
            <a:off x="457200" y="11287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9044276D-146B-04ED-2584-1F73C8038773}"/>
              </a:ext>
            </a:extLst>
          </p:cNvPr>
          <p:cNvSpPr>
            <a:spLocks noGrp="1"/>
          </p:cNvSpPr>
          <p:nvPr>
            <p:ph sz="quarter" idx="13"/>
          </p:nvPr>
        </p:nvSpPr>
        <p:spPr>
          <a:xfrm>
            <a:off x="457200" y="17192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F891326B-7E5C-52F7-0192-B341BB04E38C}"/>
              </a:ext>
            </a:extLst>
          </p:cNvPr>
          <p:cNvSpPr>
            <a:spLocks noGrp="1"/>
          </p:cNvSpPr>
          <p:nvPr>
            <p:ph sz="quarter" idx="14"/>
          </p:nvPr>
        </p:nvSpPr>
        <p:spPr>
          <a:xfrm>
            <a:off x="457200" y="23098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09284C2C-13D5-AC31-6F9E-7C535AD9B9A7}"/>
              </a:ext>
            </a:extLst>
          </p:cNvPr>
          <p:cNvSpPr>
            <a:spLocks noGrp="1"/>
          </p:cNvSpPr>
          <p:nvPr>
            <p:ph sz="quarter" idx="15"/>
          </p:nvPr>
        </p:nvSpPr>
        <p:spPr>
          <a:xfrm>
            <a:off x="457200" y="29003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8DDCA9F7-C6FB-1AC7-C5ED-58EF2A043F48}"/>
              </a:ext>
            </a:extLst>
          </p:cNvPr>
          <p:cNvSpPr>
            <a:spLocks noGrp="1"/>
          </p:cNvSpPr>
          <p:nvPr>
            <p:ph sz="quarter" idx="16"/>
          </p:nvPr>
        </p:nvSpPr>
        <p:spPr>
          <a:xfrm>
            <a:off x="457200" y="3482367"/>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0C135434-5DEA-7BC0-61C9-0B301DBFF87E}"/>
              </a:ext>
            </a:extLst>
          </p:cNvPr>
          <p:cNvSpPr>
            <a:spLocks noGrp="1"/>
          </p:cNvSpPr>
          <p:nvPr>
            <p:ph sz="quarter" idx="17"/>
          </p:nvPr>
        </p:nvSpPr>
        <p:spPr>
          <a:xfrm>
            <a:off x="457200" y="4046908"/>
            <a:ext cx="4054475"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17">
            <a:extLst>
              <a:ext uri="{FF2B5EF4-FFF2-40B4-BE49-F238E27FC236}">
                <a16:creationId xmlns:a16="http://schemas.microsoft.com/office/drawing/2014/main" id="{59A0236E-3561-F887-304D-CFB6EA8D1A6E}"/>
              </a:ext>
            </a:extLst>
          </p:cNvPr>
          <p:cNvSpPr>
            <a:spLocks noGrp="1"/>
          </p:cNvSpPr>
          <p:nvPr>
            <p:ph sz="quarter" idx="18"/>
          </p:nvPr>
        </p:nvSpPr>
        <p:spPr>
          <a:xfrm>
            <a:off x="457200" y="4594596"/>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19">
            <a:extLst>
              <a:ext uri="{FF2B5EF4-FFF2-40B4-BE49-F238E27FC236}">
                <a16:creationId xmlns:a16="http://schemas.microsoft.com/office/drawing/2014/main" id="{144A09B1-2F29-7C12-1DAC-0B0FFC979105}"/>
              </a:ext>
            </a:extLst>
          </p:cNvPr>
          <p:cNvSpPr>
            <a:spLocks noGrp="1"/>
          </p:cNvSpPr>
          <p:nvPr>
            <p:ph sz="quarter" idx="19"/>
          </p:nvPr>
        </p:nvSpPr>
        <p:spPr>
          <a:xfrm>
            <a:off x="457200" y="51419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21">
            <a:extLst>
              <a:ext uri="{FF2B5EF4-FFF2-40B4-BE49-F238E27FC236}">
                <a16:creationId xmlns:a16="http://schemas.microsoft.com/office/drawing/2014/main" id="{39013FA0-5A0E-D6E7-CEC3-F8E4CF88BD53}"/>
              </a:ext>
            </a:extLst>
          </p:cNvPr>
          <p:cNvSpPr>
            <a:spLocks noGrp="1"/>
          </p:cNvSpPr>
          <p:nvPr>
            <p:ph sz="quarter" idx="20"/>
          </p:nvPr>
        </p:nvSpPr>
        <p:spPr>
          <a:xfrm>
            <a:off x="457200" y="5695104"/>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Content Placeholder 23">
            <a:extLst>
              <a:ext uri="{FF2B5EF4-FFF2-40B4-BE49-F238E27FC236}">
                <a16:creationId xmlns:a16="http://schemas.microsoft.com/office/drawing/2014/main" id="{ABA72FC3-F32D-8062-B6B4-D907293E4A12}"/>
              </a:ext>
            </a:extLst>
          </p:cNvPr>
          <p:cNvSpPr>
            <a:spLocks noGrp="1"/>
          </p:cNvSpPr>
          <p:nvPr>
            <p:ph sz="quarter" idx="21"/>
          </p:nvPr>
        </p:nvSpPr>
        <p:spPr>
          <a:xfrm>
            <a:off x="4827588" y="112871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Content Placeholder 25">
            <a:extLst>
              <a:ext uri="{FF2B5EF4-FFF2-40B4-BE49-F238E27FC236}">
                <a16:creationId xmlns:a16="http://schemas.microsoft.com/office/drawing/2014/main" id="{A809BE10-F6F6-3D2E-28DC-F34EAFA105FA}"/>
              </a:ext>
            </a:extLst>
          </p:cNvPr>
          <p:cNvSpPr>
            <a:spLocks noGrp="1"/>
          </p:cNvSpPr>
          <p:nvPr>
            <p:ph sz="quarter" idx="22"/>
          </p:nvPr>
        </p:nvSpPr>
        <p:spPr>
          <a:xfrm>
            <a:off x="4827588" y="171926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Content Placeholder 27">
            <a:extLst>
              <a:ext uri="{FF2B5EF4-FFF2-40B4-BE49-F238E27FC236}">
                <a16:creationId xmlns:a16="http://schemas.microsoft.com/office/drawing/2014/main" id="{9EAD1F78-8B9D-A751-47AF-C3B21F4ADFEB}"/>
              </a:ext>
            </a:extLst>
          </p:cNvPr>
          <p:cNvSpPr>
            <a:spLocks noGrp="1"/>
          </p:cNvSpPr>
          <p:nvPr>
            <p:ph sz="quarter" idx="23"/>
          </p:nvPr>
        </p:nvSpPr>
        <p:spPr>
          <a:xfrm>
            <a:off x="4827588" y="230981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Content Placeholder 29">
            <a:extLst>
              <a:ext uri="{FF2B5EF4-FFF2-40B4-BE49-F238E27FC236}">
                <a16:creationId xmlns:a16="http://schemas.microsoft.com/office/drawing/2014/main" id="{CB89E724-2231-FC7C-A540-D7989558712C}"/>
              </a:ext>
            </a:extLst>
          </p:cNvPr>
          <p:cNvSpPr>
            <a:spLocks noGrp="1"/>
          </p:cNvSpPr>
          <p:nvPr>
            <p:ph sz="quarter" idx="24"/>
          </p:nvPr>
        </p:nvSpPr>
        <p:spPr>
          <a:xfrm>
            <a:off x="4827588" y="290036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Content Placeholder 31">
            <a:extLst>
              <a:ext uri="{FF2B5EF4-FFF2-40B4-BE49-F238E27FC236}">
                <a16:creationId xmlns:a16="http://schemas.microsoft.com/office/drawing/2014/main" id="{A5F7F3EC-5606-549C-D111-E17C4CD22289}"/>
              </a:ext>
            </a:extLst>
          </p:cNvPr>
          <p:cNvSpPr>
            <a:spLocks noGrp="1"/>
          </p:cNvSpPr>
          <p:nvPr>
            <p:ph sz="quarter" idx="25"/>
          </p:nvPr>
        </p:nvSpPr>
        <p:spPr>
          <a:xfrm>
            <a:off x="4827588" y="3482975"/>
            <a:ext cx="3859212"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4" name="Content Placeholder 33">
            <a:extLst>
              <a:ext uri="{FF2B5EF4-FFF2-40B4-BE49-F238E27FC236}">
                <a16:creationId xmlns:a16="http://schemas.microsoft.com/office/drawing/2014/main" id="{90B31E12-25AA-3878-E140-22F8FF89B670}"/>
              </a:ext>
            </a:extLst>
          </p:cNvPr>
          <p:cNvSpPr>
            <a:spLocks noGrp="1"/>
          </p:cNvSpPr>
          <p:nvPr>
            <p:ph sz="quarter" idx="26"/>
          </p:nvPr>
        </p:nvSpPr>
        <p:spPr>
          <a:xfrm>
            <a:off x="4827588" y="4065588"/>
            <a:ext cx="3859212" cy="3825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6" name="Content Placeholder 35">
            <a:extLst>
              <a:ext uri="{FF2B5EF4-FFF2-40B4-BE49-F238E27FC236}">
                <a16:creationId xmlns:a16="http://schemas.microsoft.com/office/drawing/2014/main" id="{A1A51E1E-F893-E38A-248C-ADEA6288B155}"/>
              </a:ext>
            </a:extLst>
          </p:cNvPr>
          <p:cNvSpPr>
            <a:spLocks noGrp="1"/>
          </p:cNvSpPr>
          <p:nvPr>
            <p:ph sz="quarter" idx="27"/>
          </p:nvPr>
        </p:nvSpPr>
        <p:spPr>
          <a:xfrm>
            <a:off x="4827588" y="4620604"/>
            <a:ext cx="3859212" cy="366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8" name="Content Placeholder 37">
            <a:extLst>
              <a:ext uri="{FF2B5EF4-FFF2-40B4-BE49-F238E27FC236}">
                <a16:creationId xmlns:a16="http://schemas.microsoft.com/office/drawing/2014/main" id="{8C90E203-D626-4BA0-EFEB-1781C3EE1903}"/>
              </a:ext>
            </a:extLst>
          </p:cNvPr>
          <p:cNvSpPr>
            <a:spLocks noGrp="1"/>
          </p:cNvSpPr>
          <p:nvPr>
            <p:ph sz="quarter" idx="28"/>
          </p:nvPr>
        </p:nvSpPr>
        <p:spPr>
          <a:xfrm>
            <a:off x="4827588" y="5159375"/>
            <a:ext cx="3859212"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0" name="Content Placeholder 39">
            <a:extLst>
              <a:ext uri="{FF2B5EF4-FFF2-40B4-BE49-F238E27FC236}">
                <a16:creationId xmlns:a16="http://schemas.microsoft.com/office/drawing/2014/main" id="{DB79D3FE-B20D-0317-2605-222F81CE296C}"/>
              </a:ext>
            </a:extLst>
          </p:cNvPr>
          <p:cNvSpPr>
            <a:spLocks noGrp="1"/>
          </p:cNvSpPr>
          <p:nvPr>
            <p:ph sz="quarter" idx="29"/>
          </p:nvPr>
        </p:nvSpPr>
        <p:spPr>
          <a:xfrm>
            <a:off x="4827588" y="5720742"/>
            <a:ext cx="3859212" cy="40163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801476277"/>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Figure + Caption">
    <p:spTree>
      <p:nvGrpSpPr>
        <p:cNvPr id="1" name="Shape 53"/>
        <p:cNvGrpSpPr/>
        <p:nvPr/>
      </p:nvGrpSpPr>
      <p:grpSpPr>
        <a:xfrm>
          <a:off x="0" y="0"/>
          <a:ext cx="0" cy="0"/>
          <a:chOff x="0" y="0"/>
          <a:chExt cx="0" cy="0"/>
        </a:xfrm>
      </p:grpSpPr>
      <p:sp>
        <p:nvSpPr>
          <p:cNvPr id="54" name="Tile Placeholder"/>
          <p:cNvSpPr txBox="1">
            <a:spLocks noGrp="1"/>
          </p:cNvSpPr>
          <p:nvPr>
            <p:ph type="title" hasCustomPrompt="1"/>
          </p:nvPr>
        </p:nvSpPr>
        <p:spPr>
          <a:xfrm>
            <a:off x="457200" y="228600"/>
            <a:ext cx="8229600" cy="106679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dirty="0"/>
              <a:t>Click to add figure number and title</a:t>
            </a:r>
            <a:endParaRPr dirty="0"/>
          </a:p>
        </p:txBody>
      </p:sp>
      <p:sp>
        <p:nvSpPr>
          <p:cNvPr id="3" name="Picture Placeholder 2">
            <a:extLst>
              <a:ext uri="{FF2B5EF4-FFF2-40B4-BE49-F238E27FC236}">
                <a16:creationId xmlns:a16="http://schemas.microsoft.com/office/drawing/2014/main" id="{AD3CB993-AC2C-41C5-BFB7-F2499EC1A14C}"/>
              </a:ext>
            </a:extLst>
          </p:cNvPr>
          <p:cNvSpPr>
            <a:spLocks noGrp="1"/>
          </p:cNvSpPr>
          <p:nvPr>
            <p:ph type="pic" sz="quarter" idx="13"/>
          </p:nvPr>
        </p:nvSpPr>
        <p:spPr>
          <a:xfrm>
            <a:off x="457200" y="1512888"/>
            <a:ext cx="8232775" cy="3417887"/>
          </a:xfrm>
        </p:spPr>
        <p:txBody>
          <a:bodyPr/>
          <a:lstStyle/>
          <a:p>
            <a:endParaRPr lang="en-US" dirty="0"/>
          </a:p>
        </p:txBody>
      </p:sp>
      <p:sp>
        <p:nvSpPr>
          <p:cNvPr id="55" name="Content Placeholder"/>
          <p:cNvSpPr txBox="1">
            <a:spLocks noGrp="1"/>
          </p:cNvSpPr>
          <p:nvPr>
            <p:ph type="body" idx="1" hasCustomPrompt="1"/>
          </p:nvPr>
        </p:nvSpPr>
        <p:spPr>
          <a:xfrm>
            <a:off x="457200" y="5050971"/>
            <a:ext cx="8229600" cy="1018367"/>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1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r>
              <a:rPr lang="en-US" dirty="0"/>
              <a:t>Click to add caption</a:t>
            </a:r>
            <a:endParaRPr dirty="0"/>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88509755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Figure + Caption">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14F033AD-BE5C-406D-991C-6AC56003E70C}"/>
              </a:ext>
            </a:extLst>
          </p:cNvPr>
          <p:cNvSpPr>
            <a:spLocks noGrp="1"/>
          </p:cNvSpPr>
          <p:nvPr>
            <p:ph type="title" hasCustomPrompt="1"/>
          </p:nvPr>
        </p:nvSpPr>
        <p:spPr/>
        <p:txBody>
          <a:bodyPr/>
          <a:lstStyle>
            <a:lvl1pPr>
              <a:defRPr sz="3600">
                <a:latin typeface="+mj-lt"/>
              </a:defRPr>
            </a:lvl1pPr>
          </a:lstStyle>
          <a:p>
            <a:r>
              <a:rPr lang="en-US" dirty="0"/>
              <a:t>Click to add figure number and title</a:t>
            </a:r>
          </a:p>
        </p:txBody>
      </p:sp>
      <p:sp>
        <p:nvSpPr>
          <p:cNvPr id="7" name="Content Placeholder 6">
            <a:extLst>
              <a:ext uri="{FF2B5EF4-FFF2-40B4-BE49-F238E27FC236}">
                <a16:creationId xmlns:a16="http://schemas.microsoft.com/office/drawing/2014/main" id="{9E6B7D3D-89C9-4133-8D8A-D779EB3D311D}"/>
              </a:ext>
            </a:extLst>
          </p:cNvPr>
          <p:cNvSpPr>
            <a:spLocks noGrp="1"/>
          </p:cNvSpPr>
          <p:nvPr>
            <p:ph sz="quarter" idx="13" hasCustomPrompt="1"/>
          </p:nvPr>
        </p:nvSpPr>
        <p:spPr>
          <a:xfrm>
            <a:off x="457200" y="1481138"/>
            <a:ext cx="4484688" cy="3754437"/>
          </a:xfrm>
        </p:spPr>
        <p:txBody>
          <a:bodyPr/>
          <a:lstStyle>
            <a:lvl1pPr>
              <a:defRPr/>
            </a:lvl1pPr>
          </a:lstStyle>
          <a:p>
            <a:pPr lvl="0"/>
            <a:r>
              <a:rPr lang="en-US" dirty="0"/>
              <a:t>Figure</a:t>
            </a:r>
          </a:p>
        </p:txBody>
      </p:sp>
      <p:sp>
        <p:nvSpPr>
          <p:cNvPr id="12" name="Content Placeholder 11">
            <a:extLst>
              <a:ext uri="{FF2B5EF4-FFF2-40B4-BE49-F238E27FC236}">
                <a16:creationId xmlns:a16="http://schemas.microsoft.com/office/drawing/2014/main" id="{5CAF3FDC-1BE7-4A19-A3D7-02B55407B90B}"/>
              </a:ext>
            </a:extLst>
          </p:cNvPr>
          <p:cNvSpPr>
            <a:spLocks noGrp="1"/>
          </p:cNvSpPr>
          <p:nvPr>
            <p:ph sz="quarter" idx="15" hasCustomPrompt="1"/>
          </p:nvPr>
        </p:nvSpPr>
        <p:spPr>
          <a:xfrm>
            <a:off x="5048250" y="1481138"/>
            <a:ext cx="3638550" cy="3754437"/>
          </a:xfrm>
        </p:spPr>
        <p:txBody>
          <a:bodyPr/>
          <a:lstStyle/>
          <a:p>
            <a:pPr lvl="0"/>
            <a:r>
              <a:rPr lang="en-US" dirty="0"/>
              <a:t>Click to add text</a:t>
            </a:r>
          </a:p>
        </p:txBody>
      </p:sp>
      <p:sp>
        <p:nvSpPr>
          <p:cNvPr id="8" name="Content Placeholder 7">
            <a:extLst>
              <a:ext uri="{FF2B5EF4-FFF2-40B4-BE49-F238E27FC236}">
                <a16:creationId xmlns:a16="http://schemas.microsoft.com/office/drawing/2014/main" id="{BF40E849-7663-4A75-9BC8-012C23AC44DF}"/>
              </a:ext>
            </a:extLst>
          </p:cNvPr>
          <p:cNvSpPr>
            <a:spLocks noGrp="1"/>
          </p:cNvSpPr>
          <p:nvPr>
            <p:ph sz="quarter" idx="14" hasCustomPrompt="1"/>
          </p:nvPr>
        </p:nvSpPr>
        <p:spPr>
          <a:xfrm>
            <a:off x="457200" y="5343525"/>
            <a:ext cx="8229600" cy="533400"/>
          </a:xfrm>
        </p:spPr>
        <p:txBody>
          <a:bodyPr/>
          <a:lstStyle>
            <a:lvl1pPr>
              <a:defRPr/>
            </a:lvl1pPr>
          </a:lstStyle>
          <a:p>
            <a:pPr lvl="0"/>
            <a:r>
              <a:rPr lang="en-US" dirty="0"/>
              <a:t>Caption</a:t>
            </a:r>
          </a:p>
        </p:txBody>
      </p:sp>
      <p:sp>
        <p:nvSpPr>
          <p:cNvPr id="3" name="Date Placeholder 2">
            <a:extLst>
              <a:ext uri="{FF2B5EF4-FFF2-40B4-BE49-F238E27FC236}">
                <a16:creationId xmlns:a16="http://schemas.microsoft.com/office/drawing/2014/main" id="{A50D4E5D-00F7-4DC6-9BB0-713B8A0DA354}"/>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18AF4094-2296-458C-908A-D778D0DF5AF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166042820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abel Layout 1">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065091D3-E16C-46AB-9A90-0F52CA812534}"/>
              </a:ext>
            </a:extLst>
          </p:cNvPr>
          <p:cNvSpPr>
            <a:spLocks noGrp="1"/>
          </p:cNvSpPr>
          <p:nvPr>
            <p:ph type="title" hasCustomPrompt="1"/>
          </p:nvPr>
        </p:nvSpPr>
        <p:spPr/>
        <p:txBody>
          <a:bodyPr/>
          <a:lstStyle>
            <a:lvl1pPr>
              <a:defRPr sz="3600">
                <a:latin typeface="+mj-lt"/>
              </a:defRPr>
            </a:lvl1pPr>
          </a:lstStyle>
          <a:p>
            <a:r>
              <a:rPr lang="en-US" dirty="0"/>
              <a:t>Click to add title</a:t>
            </a:r>
          </a:p>
        </p:txBody>
      </p:sp>
      <p:sp>
        <p:nvSpPr>
          <p:cNvPr id="7" name="Image title">
            <a:extLst>
              <a:ext uri="{FF2B5EF4-FFF2-40B4-BE49-F238E27FC236}">
                <a16:creationId xmlns:a16="http://schemas.microsoft.com/office/drawing/2014/main" id="{CB345607-C53C-44AF-8929-3BDC4C617AB6}"/>
              </a:ext>
            </a:extLst>
          </p:cNvPr>
          <p:cNvSpPr>
            <a:spLocks noGrp="1"/>
          </p:cNvSpPr>
          <p:nvPr>
            <p:ph type="body" sz="quarter" idx="13" hasCustomPrompt="1"/>
          </p:nvPr>
        </p:nvSpPr>
        <p:spPr>
          <a:xfrm>
            <a:off x="2982913" y="4359275"/>
            <a:ext cx="3482975" cy="600075"/>
          </a:xfrm>
        </p:spPr>
        <p:txBody>
          <a:bodyPr/>
          <a:lstStyle>
            <a:lvl1pPr marL="101600" indent="0">
              <a:buNone/>
              <a:defRPr/>
            </a:lvl1pPr>
          </a:lstStyle>
          <a:p>
            <a:pPr lvl="0"/>
            <a:r>
              <a:rPr lang="en-US" dirty="0"/>
              <a:t>Image title</a:t>
            </a:r>
          </a:p>
        </p:txBody>
      </p:sp>
      <p:sp>
        <p:nvSpPr>
          <p:cNvPr id="9" name="Image">
            <a:extLst>
              <a:ext uri="{FF2B5EF4-FFF2-40B4-BE49-F238E27FC236}">
                <a16:creationId xmlns:a16="http://schemas.microsoft.com/office/drawing/2014/main" id="{C2661E64-2E71-47E6-A5A0-AC5348C08F51}"/>
              </a:ext>
            </a:extLst>
          </p:cNvPr>
          <p:cNvSpPr>
            <a:spLocks noGrp="1"/>
          </p:cNvSpPr>
          <p:nvPr>
            <p:ph type="pic" sz="quarter" idx="14" hasCustomPrompt="1"/>
          </p:nvPr>
        </p:nvSpPr>
        <p:spPr>
          <a:xfrm>
            <a:off x="2982912" y="1681163"/>
            <a:ext cx="3482975" cy="2559050"/>
          </a:xfrm>
        </p:spPr>
        <p:txBody>
          <a:bodyPr/>
          <a:lstStyle>
            <a:lvl1pPr marL="101600" indent="0">
              <a:buNone/>
              <a:defRPr/>
            </a:lvl1pPr>
          </a:lstStyle>
          <a:p>
            <a:r>
              <a:rPr lang="en-US" dirty="0"/>
              <a:t>Image</a:t>
            </a:r>
          </a:p>
        </p:txBody>
      </p:sp>
      <p:sp>
        <p:nvSpPr>
          <p:cNvPr id="11" name="Label 1">
            <a:extLst>
              <a:ext uri="{FF2B5EF4-FFF2-40B4-BE49-F238E27FC236}">
                <a16:creationId xmlns:a16="http://schemas.microsoft.com/office/drawing/2014/main" id="{3D0F2ED9-E212-40DC-A528-BE4A28DE88FD}"/>
              </a:ext>
            </a:extLst>
          </p:cNvPr>
          <p:cNvSpPr>
            <a:spLocks noGrp="1"/>
          </p:cNvSpPr>
          <p:nvPr>
            <p:ph type="body" sz="quarter" idx="15" hasCustomPrompt="1"/>
          </p:nvPr>
        </p:nvSpPr>
        <p:spPr>
          <a:xfrm>
            <a:off x="808109" y="1681163"/>
            <a:ext cx="1220716" cy="627062"/>
          </a:xfrm>
        </p:spPr>
        <p:txBody>
          <a:bodyPr/>
          <a:lstStyle>
            <a:lvl1pPr marL="101600" indent="0">
              <a:buNone/>
              <a:defRPr/>
            </a:lvl1pPr>
          </a:lstStyle>
          <a:p>
            <a:pPr lvl="0"/>
            <a:r>
              <a:rPr lang="en-US" dirty="0"/>
              <a:t>Label 1</a:t>
            </a:r>
          </a:p>
        </p:txBody>
      </p:sp>
      <p:sp>
        <p:nvSpPr>
          <p:cNvPr id="13" name="Label 2">
            <a:extLst>
              <a:ext uri="{FF2B5EF4-FFF2-40B4-BE49-F238E27FC236}">
                <a16:creationId xmlns:a16="http://schemas.microsoft.com/office/drawing/2014/main" id="{E8D9AEEF-5E99-48D4-B8C3-C5A995764DCA}"/>
              </a:ext>
            </a:extLst>
          </p:cNvPr>
          <p:cNvSpPr>
            <a:spLocks noGrp="1"/>
          </p:cNvSpPr>
          <p:nvPr>
            <p:ph type="body" sz="quarter" idx="16" hasCustomPrompt="1"/>
          </p:nvPr>
        </p:nvSpPr>
        <p:spPr>
          <a:xfrm>
            <a:off x="808109" y="2647157"/>
            <a:ext cx="1206500" cy="627062"/>
          </a:xfrm>
        </p:spPr>
        <p:txBody>
          <a:bodyPr/>
          <a:lstStyle>
            <a:lvl1pPr marL="101600" indent="0">
              <a:buNone/>
              <a:defRPr/>
            </a:lvl1pPr>
          </a:lstStyle>
          <a:p>
            <a:pPr lvl="0"/>
            <a:r>
              <a:rPr lang="en-US" dirty="0"/>
              <a:t>Label 2</a:t>
            </a:r>
          </a:p>
        </p:txBody>
      </p:sp>
      <p:sp>
        <p:nvSpPr>
          <p:cNvPr id="15" name="Label 3">
            <a:extLst>
              <a:ext uri="{FF2B5EF4-FFF2-40B4-BE49-F238E27FC236}">
                <a16:creationId xmlns:a16="http://schemas.microsoft.com/office/drawing/2014/main" id="{99D329CE-18C4-40A9-A508-1684979AC205}"/>
              </a:ext>
            </a:extLst>
          </p:cNvPr>
          <p:cNvSpPr>
            <a:spLocks noGrp="1"/>
          </p:cNvSpPr>
          <p:nvPr>
            <p:ph type="body" sz="quarter" idx="17" hasCustomPrompt="1"/>
          </p:nvPr>
        </p:nvSpPr>
        <p:spPr>
          <a:xfrm>
            <a:off x="808109" y="3613151"/>
            <a:ext cx="1206500" cy="627062"/>
          </a:xfrm>
        </p:spPr>
        <p:txBody>
          <a:bodyPr/>
          <a:lstStyle>
            <a:lvl1pPr marL="101600" indent="0">
              <a:buNone/>
              <a:defRPr/>
            </a:lvl1pPr>
          </a:lstStyle>
          <a:p>
            <a:pPr lvl="0"/>
            <a:r>
              <a:rPr lang="en-US" dirty="0"/>
              <a:t>Label 3</a:t>
            </a:r>
          </a:p>
        </p:txBody>
      </p:sp>
      <p:sp>
        <p:nvSpPr>
          <p:cNvPr id="17" name="Label 4">
            <a:extLst>
              <a:ext uri="{FF2B5EF4-FFF2-40B4-BE49-F238E27FC236}">
                <a16:creationId xmlns:a16="http://schemas.microsoft.com/office/drawing/2014/main" id="{AAE735D1-F9F4-4525-9ED5-F10A99DECCB8}"/>
              </a:ext>
            </a:extLst>
          </p:cNvPr>
          <p:cNvSpPr>
            <a:spLocks noGrp="1"/>
          </p:cNvSpPr>
          <p:nvPr>
            <p:ph type="body" sz="quarter" idx="18" hasCustomPrompt="1"/>
          </p:nvPr>
        </p:nvSpPr>
        <p:spPr>
          <a:xfrm>
            <a:off x="7381874" y="1681163"/>
            <a:ext cx="1304925" cy="627062"/>
          </a:xfrm>
        </p:spPr>
        <p:txBody>
          <a:bodyPr/>
          <a:lstStyle>
            <a:lvl1pPr marL="101600" indent="0">
              <a:buNone/>
              <a:defRPr/>
            </a:lvl1pPr>
          </a:lstStyle>
          <a:p>
            <a:pPr lvl="0"/>
            <a:r>
              <a:rPr lang="en-US" dirty="0"/>
              <a:t>Label 4</a:t>
            </a:r>
          </a:p>
        </p:txBody>
      </p:sp>
      <p:sp>
        <p:nvSpPr>
          <p:cNvPr id="19" name="Label 5">
            <a:extLst>
              <a:ext uri="{FF2B5EF4-FFF2-40B4-BE49-F238E27FC236}">
                <a16:creationId xmlns:a16="http://schemas.microsoft.com/office/drawing/2014/main" id="{43259E0C-9247-446E-9183-FBF70F8FD41C}"/>
              </a:ext>
            </a:extLst>
          </p:cNvPr>
          <p:cNvSpPr>
            <a:spLocks noGrp="1"/>
          </p:cNvSpPr>
          <p:nvPr>
            <p:ph type="body" sz="quarter" idx="19" hasCustomPrompt="1"/>
          </p:nvPr>
        </p:nvSpPr>
        <p:spPr>
          <a:xfrm>
            <a:off x="7381874" y="2651590"/>
            <a:ext cx="1304925" cy="618196"/>
          </a:xfrm>
        </p:spPr>
        <p:txBody>
          <a:bodyPr/>
          <a:lstStyle>
            <a:lvl1pPr marL="101600" indent="0">
              <a:buNone/>
              <a:defRPr/>
            </a:lvl1pPr>
          </a:lstStyle>
          <a:p>
            <a:pPr lvl="0"/>
            <a:r>
              <a:rPr lang="en-US" dirty="0"/>
              <a:t>Label 5</a:t>
            </a:r>
          </a:p>
        </p:txBody>
      </p:sp>
      <p:sp>
        <p:nvSpPr>
          <p:cNvPr id="21" name="Label 6">
            <a:extLst>
              <a:ext uri="{FF2B5EF4-FFF2-40B4-BE49-F238E27FC236}">
                <a16:creationId xmlns:a16="http://schemas.microsoft.com/office/drawing/2014/main" id="{111F58DF-A1C1-4DD6-ADE5-FC54A39F6757}"/>
              </a:ext>
            </a:extLst>
          </p:cNvPr>
          <p:cNvSpPr>
            <a:spLocks noGrp="1"/>
          </p:cNvSpPr>
          <p:nvPr>
            <p:ph type="body" sz="quarter" idx="20" hasCustomPrompt="1"/>
          </p:nvPr>
        </p:nvSpPr>
        <p:spPr>
          <a:xfrm>
            <a:off x="7381874" y="3613151"/>
            <a:ext cx="1304925" cy="627063"/>
          </a:xfrm>
        </p:spPr>
        <p:txBody>
          <a:bodyPr/>
          <a:lstStyle>
            <a:lvl1pPr marL="101600" indent="0">
              <a:buNone/>
              <a:defRPr/>
            </a:lvl1pPr>
          </a:lstStyle>
          <a:p>
            <a:pPr lvl="0"/>
            <a:r>
              <a:rPr lang="en-US" dirty="0"/>
              <a:t>Label 6</a:t>
            </a:r>
          </a:p>
        </p:txBody>
      </p:sp>
      <p:sp>
        <p:nvSpPr>
          <p:cNvPr id="3" name="Date Placeholder 2">
            <a:extLst>
              <a:ext uri="{FF2B5EF4-FFF2-40B4-BE49-F238E27FC236}">
                <a16:creationId xmlns:a16="http://schemas.microsoft.com/office/drawing/2014/main" id="{D0CEC9E9-2CDA-42DF-A6E1-55B455A7E67B}"/>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5429F10E-ACBA-4EA4-B23A-AC32FC5A681B}"/>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202789916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Label Layout 2">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5AF36A59-5DE4-46F3-8035-460E546D5673}"/>
              </a:ext>
            </a:extLst>
          </p:cNvPr>
          <p:cNvSpPr>
            <a:spLocks noGrp="1"/>
          </p:cNvSpPr>
          <p:nvPr>
            <p:ph type="title"/>
          </p:nvPr>
        </p:nvSpPr>
        <p:spPr/>
        <p:txBody>
          <a:bodyPr/>
          <a:lstStyle>
            <a:lvl1pPr>
              <a:defRPr sz="3600">
                <a:latin typeface="+mj-lt"/>
              </a:defRPr>
            </a:lvl1pPr>
          </a:lstStyle>
          <a:p>
            <a:r>
              <a:rPr lang="en-US" dirty="0"/>
              <a:t>Click to edit Master title style</a:t>
            </a:r>
          </a:p>
        </p:txBody>
      </p:sp>
      <p:sp>
        <p:nvSpPr>
          <p:cNvPr id="7" name="Image 1 title">
            <a:extLst>
              <a:ext uri="{FF2B5EF4-FFF2-40B4-BE49-F238E27FC236}">
                <a16:creationId xmlns:a16="http://schemas.microsoft.com/office/drawing/2014/main" id="{2BEC12FB-EC67-436F-875F-0A306862EF78}"/>
              </a:ext>
            </a:extLst>
          </p:cNvPr>
          <p:cNvSpPr>
            <a:spLocks noGrp="1"/>
          </p:cNvSpPr>
          <p:nvPr>
            <p:ph type="body" sz="quarter" idx="13" hasCustomPrompt="1"/>
          </p:nvPr>
        </p:nvSpPr>
        <p:spPr>
          <a:xfrm>
            <a:off x="457201" y="4392613"/>
            <a:ext cx="2107323" cy="504825"/>
          </a:xfrm>
        </p:spPr>
        <p:txBody>
          <a:bodyPr/>
          <a:lstStyle>
            <a:lvl1pPr marL="101600" indent="0">
              <a:buNone/>
              <a:defRPr/>
            </a:lvl1pPr>
          </a:lstStyle>
          <a:p>
            <a:pPr lvl="0"/>
            <a:r>
              <a:rPr lang="en-US" dirty="0"/>
              <a:t>Image 1 title</a:t>
            </a:r>
          </a:p>
        </p:txBody>
      </p:sp>
      <p:sp>
        <p:nvSpPr>
          <p:cNvPr id="9" name="Image 1">
            <a:extLst>
              <a:ext uri="{FF2B5EF4-FFF2-40B4-BE49-F238E27FC236}">
                <a16:creationId xmlns:a16="http://schemas.microsoft.com/office/drawing/2014/main" id="{1E9C9C32-F8ED-4AA8-AA00-26A2357E73E9}"/>
              </a:ext>
            </a:extLst>
          </p:cNvPr>
          <p:cNvSpPr>
            <a:spLocks noGrp="1"/>
          </p:cNvSpPr>
          <p:nvPr>
            <p:ph type="pic" sz="quarter" idx="14" hasCustomPrompt="1"/>
          </p:nvPr>
        </p:nvSpPr>
        <p:spPr>
          <a:xfrm>
            <a:off x="457200" y="1817688"/>
            <a:ext cx="2107324" cy="2386012"/>
          </a:xfrm>
        </p:spPr>
        <p:txBody>
          <a:bodyPr/>
          <a:lstStyle>
            <a:lvl1pPr marL="101600" indent="0">
              <a:buNone/>
              <a:defRPr/>
            </a:lvl1pPr>
          </a:lstStyle>
          <a:p>
            <a:r>
              <a:rPr lang="en-US" dirty="0"/>
              <a:t>Image 1</a:t>
            </a:r>
          </a:p>
        </p:txBody>
      </p:sp>
      <p:sp>
        <p:nvSpPr>
          <p:cNvPr id="11" name="Label 1.1">
            <a:extLst>
              <a:ext uri="{FF2B5EF4-FFF2-40B4-BE49-F238E27FC236}">
                <a16:creationId xmlns:a16="http://schemas.microsoft.com/office/drawing/2014/main" id="{BD50A136-2F5A-4764-ADDC-D48D703981CC}"/>
              </a:ext>
            </a:extLst>
          </p:cNvPr>
          <p:cNvSpPr>
            <a:spLocks noGrp="1"/>
          </p:cNvSpPr>
          <p:nvPr>
            <p:ph type="body" sz="quarter" idx="15" hasCustomPrompt="1"/>
          </p:nvPr>
        </p:nvSpPr>
        <p:spPr>
          <a:xfrm>
            <a:off x="2774622" y="1794947"/>
            <a:ext cx="1534619" cy="591855"/>
          </a:xfrm>
        </p:spPr>
        <p:txBody>
          <a:bodyPr/>
          <a:lstStyle>
            <a:lvl1pPr marL="101600" indent="0">
              <a:buNone/>
              <a:defRPr/>
            </a:lvl1pPr>
          </a:lstStyle>
          <a:p>
            <a:pPr lvl="0"/>
            <a:r>
              <a:rPr lang="en-US" dirty="0"/>
              <a:t>Label 1.1</a:t>
            </a:r>
          </a:p>
        </p:txBody>
      </p:sp>
      <p:sp>
        <p:nvSpPr>
          <p:cNvPr id="13" name="Label 1.2">
            <a:extLst>
              <a:ext uri="{FF2B5EF4-FFF2-40B4-BE49-F238E27FC236}">
                <a16:creationId xmlns:a16="http://schemas.microsoft.com/office/drawing/2014/main" id="{16926224-3F90-4884-9AC1-A5381D78801B}"/>
              </a:ext>
            </a:extLst>
          </p:cNvPr>
          <p:cNvSpPr>
            <a:spLocks noGrp="1"/>
          </p:cNvSpPr>
          <p:nvPr>
            <p:ph type="body" sz="quarter" idx="16" hasCustomPrompt="1"/>
          </p:nvPr>
        </p:nvSpPr>
        <p:spPr>
          <a:xfrm>
            <a:off x="2774622" y="2707481"/>
            <a:ext cx="1534619" cy="606425"/>
          </a:xfrm>
        </p:spPr>
        <p:txBody>
          <a:bodyPr/>
          <a:lstStyle>
            <a:lvl1pPr marL="101600" indent="0">
              <a:buNone/>
              <a:defRPr/>
            </a:lvl1pPr>
          </a:lstStyle>
          <a:p>
            <a:pPr lvl="0"/>
            <a:r>
              <a:rPr lang="en-US" dirty="0"/>
              <a:t>Label 1.2</a:t>
            </a:r>
          </a:p>
        </p:txBody>
      </p:sp>
      <p:sp>
        <p:nvSpPr>
          <p:cNvPr id="15" name="Label 1.3">
            <a:extLst>
              <a:ext uri="{FF2B5EF4-FFF2-40B4-BE49-F238E27FC236}">
                <a16:creationId xmlns:a16="http://schemas.microsoft.com/office/drawing/2014/main" id="{D4719473-9C3F-493C-B20E-27CDBBA38B68}"/>
              </a:ext>
            </a:extLst>
          </p:cNvPr>
          <p:cNvSpPr>
            <a:spLocks noGrp="1"/>
          </p:cNvSpPr>
          <p:nvPr>
            <p:ph type="body" sz="quarter" idx="17" hasCustomPrompt="1"/>
          </p:nvPr>
        </p:nvSpPr>
        <p:spPr>
          <a:xfrm>
            <a:off x="2774622" y="3597275"/>
            <a:ext cx="1534619" cy="606425"/>
          </a:xfrm>
        </p:spPr>
        <p:txBody>
          <a:bodyPr/>
          <a:lstStyle>
            <a:lvl1pPr marL="101600" indent="0">
              <a:buNone/>
              <a:defRPr/>
            </a:lvl1pPr>
          </a:lstStyle>
          <a:p>
            <a:pPr lvl="0"/>
            <a:r>
              <a:rPr lang="en-US" dirty="0"/>
              <a:t>Label 1.3</a:t>
            </a:r>
          </a:p>
        </p:txBody>
      </p:sp>
      <p:sp>
        <p:nvSpPr>
          <p:cNvPr id="17" name="Image 2 title">
            <a:extLst>
              <a:ext uri="{FF2B5EF4-FFF2-40B4-BE49-F238E27FC236}">
                <a16:creationId xmlns:a16="http://schemas.microsoft.com/office/drawing/2014/main" id="{DC526974-AF8C-4228-AAAA-33D0B8AB71C7}"/>
              </a:ext>
            </a:extLst>
          </p:cNvPr>
          <p:cNvSpPr>
            <a:spLocks noGrp="1"/>
          </p:cNvSpPr>
          <p:nvPr>
            <p:ph type="body" sz="quarter" idx="18" hasCustomPrompt="1"/>
          </p:nvPr>
        </p:nvSpPr>
        <p:spPr>
          <a:xfrm>
            <a:off x="4931596" y="4347439"/>
            <a:ext cx="2107323" cy="504825"/>
          </a:xfrm>
        </p:spPr>
        <p:txBody>
          <a:bodyPr/>
          <a:lstStyle>
            <a:lvl1pPr marL="101600" indent="0">
              <a:buNone/>
              <a:defRPr/>
            </a:lvl1pPr>
          </a:lstStyle>
          <a:p>
            <a:pPr lvl="0"/>
            <a:r>
              <a:rPr lang="en-US" dirty="0"/>
              <a:t>Image 2 title</a:t>
            </a:r>
          </a:p>
        </p:txBody>
      </p:sp>
      <p:sp>
        <p:nvSpPr>
          <p:cNvPr id="19" name="Image 2">
            <a:extLst>
              <a:ext uri="{FF2B5EF4-FFF2-40B4-BE49-F238E27FC236}">
                <a16:creationId xmlns:a16="http://schemas.microsoft.com/office/drawing/2014/main" id="{812D2BB4-4991-47F8-9E82-9C9B41B052FB}"/>
              </a:ext>
            </a:extLst>
          </p:cNvPr>
          <p:cNvSpPr>
            <a:spLocks noGrp="1"/>
          </p:cNvSpPr>
          <p:nvPr>
            <p:ph type="pic" sz="quarter" idx="19" hasCustomPrompt="1"/>
          </p:nvPr>
        </p:nvSpPr>
        <p:spPr>
          <a:xfrm>
            <a:off x="4931596" y="1806537"/>
            <a:ext cx="2107323" cy="2397164"/>
          </a:xfrm>
        </p:spPr>
        <p:txBody>
          <a:bodyPr/>
          <a:lstStyle>
            <a:lvl1pPr marL="101600" indent="0">
              <a:buNone/>
              <a:defRPr/>
            </a:lvl1pPr>
          </a:lstStyle>
          <a:p>
            <a:r>
              <a:rPr lang="en-US" dirty="0"/>
              <a:t>Image 2</a:t>
            </a:r>
          </a:p>
        </p:txBody>
      </p:sp>
      <p:sp>
        <p:nvSpPr>
          <p:cNvPr id="21" name="Label 2.1">
            <a:extLst>
              <a:ext uri="{FF2B5EF4-FFF2-40B4-BE49-F238E27FC236}">
                <a16:creationId xmlns:a16="http://schemas.microsoft.com/office/drawing/2014/main" id="{15D9E78D-62D4-4D7C-8E37-E1A000DA23A2}"/>
              </a:ext>
            </a:extLst>
          </p:cNvPr>
          <p:cNvSpPr>
            <a:spLocks noGrp="1"/>
          </p:cNvSpPr>
          <p:nvPr>
            <p:ph type="body" sz="quarter" idx="20" hasCustomPrompt="1"/>
          </p:nvPr>
        </p:nvSpPr>
        <p:spPr>
          <a:xfrm>
            <a:off x="7304580" y="1794947"/>
            <a:ext cx="1534619" cy="608524"/>
          </a:xfrm>
        </p:spPr>
        <p:txBody>
          <a:bodyPr/>
          <a:lstStyle>
            <a:lvl1pPr marL="101600" indent="0">
              <a:buNone/>
              <a:defRPr/>
            </a:lvl1pPr>
          </a:lstStyle>
          <a:p>
            <a:pPr lvl="0"/>
            <a:r>
              <a:rPr lang="en-US" dirty="0"/>
              <a:t>Label 2.1</a:t>
            </a:r>
          </a:p>
        </p:txBody>
      </p:sp>
      <p:sp>
        <p:nvSpPr>
          <p:cNvPr id="23" name="Label 2.2">
            <a:extLst>
              <a:ext uri="{FF2B5EF4-FFF2-40B4-BE49-F238E27FC236}">
                <a16:creationId xmlns:a16="http://schemas.microsoft.com/office/drawing/2014/main" id="{0ECEA5DA-0702-46DA-A4DD-66B7E7FF424B}"/>
              </a:ext>
            </a:extLst>
          </p:cNvPr>
          <p:cNvSpPr>
            <a:spLocks noGrp="1"/>
          </p:cNvSpPr>
          <p:nvPr>
            <p:ph type="body" sz="quarter" idx="21" hasCustomPrompt="1"/>
          </p:nvPr>
        </p:nvSpPr>
        <p:spPr>
          <a:xfrm>
            <a:off x="7304579" y="2707481"/>
            <a:ext cx="1534619" cy="608524"/>
          </a:xfrm>
        </p:spPr>
        <p:txBody>
          <a:bodyPr/>
          <a:lstStyle>
            <a:lvl1pPr marL="101600" indent="0">
              <a:buNone/>
              <a:defRPr/>
            </a:lvl1pPr>
          </a:lstStyle>
          <a:p>
            <a:pPr lvl="0"/>
            <a:r>
              <a:rPr lang="en-US" dirty="0"/>
              <a:t>Label 2.2</a:t>
            </a:r>
          </a:p>
        </p:txBody>
      </p:sp>
      <p:sp>
        <p:nvSpPr>
          <p:cNvPr id="25" name="Label 2.3">
            <a:extLst>
              <a:ext uri="{FF2B5EF4-FFF2-40B4-BE49-F238E27FC236}">
                <a16:creationId xmlns:a16="http://schemas.microsoft.com/office/drawing/2014/main" id="{64C63D68-E200-46DF-8E34-92DC66FE879B}"/>
              </a:ext>
            </a:extLst>
          </p:cNvPr>
          <p:cNvSpPr>
            <a:spLocks noGrp="1"/>
          </p:cNvSpPr>
          <p:nvPr>
            <p:ph type="body" sz="quarter" idx="22" hasCustomPrompt="1"/>
          </p:nvPr>
        </p:nvSpPr>
        <p:spPr>
          <a:xfrm>
            <a:off x="7304579" y="3579818"/>
            <a:ext cx="1534620" cy="608524"/>
          </a:xfrm>
        </p:spPr>
        <p:txBody>
          <a:bodyPr/>
          <a:lstStyle>
            <a:lvl1pPr marL="101600" indent="0">
              <a:buNone/>
              <a:defRPr/>
            </a:lvl1pPr>
          </a:lstStyle>
          <a:p>
            <a:pPr lvl="0"/>
            <a:r>
              <a:rPr lang="en-US" dirty="0"/>
              <a:t>Label 2.3</a:t>
            </a:r>
          </a:p>
        </p:txBody>
      </p:sp>
      <p:sp>
        <p:nvSpPr>
          <p:cNvPr id="3" name="Date Placeholder 2">
            <a:extLst>
              <a:ext uri="{FF2B5EF4-FFF2-40B4-BE49-F238E27FC236}">
                <a16:creationId xmlns:a16="http://schemas.microsoft.com/office/drawing/2014/main" id="{D8A4DA0A-BA94-4C4E-A521-FB23D113A856}"/>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44569933-5FC5-4C73-96ED-E1AC0FC867FE}"/>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64872148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Title Placeholder"/>
          <p:cNvSpPr txBox="1">
            <a:spLocks noGrp="1"/>
          </p:cNvSpPr>
          <p:nvPr>
            <p:ph type="title" hasCustomPrompt="1"/>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	</a:t>
            </a:r>
            <a:endParaRPr dirty="0"/>
          </a:p>
        </p:txBody>
      </p:sp>
      <p:sp>
        <p:nvSpPr>
          <p:cNvPr id="70" name="Content Placeholder"/>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Arial"/>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dirty="0"/>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5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Picture Placeholder 4"/>
          <p:cNvSpPr>
            <a:spLocks noGrp="1"/>
          </p:cNvSpPr>
          <p:nvPr>
            <p:ph type="pic" sz="quarter" idx="14"/>
          </p:nvPr>
        </p:nvSpPr>
        <p:spPr>
          <a:xfrm>
            <a:off x="457200" y="5181600"/>
            <a:ext cx="8229600" cy="1066800"/>
          </a:xfrm>
        </p:spPr>
        <p:txBody>
          <a:bodyPr/>
          <a:lstStyle/>
          <a:p>
            <a:pPr lvl="0"/>
            <a:endParaRPr lang="en-IN" noProof="0"/>
          </a:p>
        </p:txBody>
      </p:sp>
      <p:sp>
        <p:nvSpPr>
          <p:cNvPr id="6" name="Date Placeholder 3">
            <a:extLst>
              <a:ext uri="{FF2B5EF4-FFF2-40B4-BE49-F238E27FC236}">
                <a16:creationId xmlns:a16="http://schemas.microsoft.com/office/drawing/2014/main" id="{6E921DB6-163E-4185-89B1-CFDC8DF69B49}"/>
              </a:ext>
            </a:extLst>
          </p:cNvPr>
          <p:cNvSpPr>
            <a:spLocks noGrp="1"/>
          </p:cNvSpPr>
          <p:nvPr>
            <p:ph type="dt" sz="half" idx="15"/>
          </p:nvPr>
        </p:nvSpPr>
        <p:spPr/>
        <p:txBody>
          <a:bodyPr/>
          <a:lstStyle>
            <a:lvl1pPr>
              <a:defRPr/>
            </a:lvl1pPr>
          </a:lstStyle>
          <a:p>
            <a:pPr>
              <a:defRPr/>
            </a:pPr>
            <a:fld id="{D828DFCB-A486-4246-B896-85E345F87AD0}" type="datetimeFigureOut">
              <a:rPr lang="en-US"/>
              <a:pPr>
                <a:defRPr/>
              </a:pPr>
              <a:t>11/17/25</a:t>
            </a:fld>
            <a:endParaRPr lang="en-US" dirty="0"/>
          </a:p>
        </p:txBody>
      </p:sp>
      <p:sp>
        <p:nvSpPr>
          <p:cNvPr id="9" name="Slide Number Placeholder 5">
            <a:extLst>
              <a:ext uri="{FF2B5EF4-FFF2-40B4-BE49-F238E27FC236}">
                <a16:creationId xmlns:a16="http://schemas.microsoft.com/office/drawing/2014/main" id="{892865F2-AEF2-4B58-8B49-1C3744D6BDAE}"/>
              </a:ext>
            </a:extLst>
          </p:cNvPr>
          <p:cNvSpPr>
            <a:spLocks noGrp="1"/>
          </p:cNvSpPr>
          <p:nvPr>
            <p:ph type="sldNum" sz="quarter" idx="16"/>
          </p:nvPr>
        </p:nvSpPr>
        <p:spPr/>
        <p:txBody>
          <a:bodyPr/>
          <a:lstStyle>
            <a:lvl1pPr>
              <a:defRPr/>
            </a:lvl1pPr>
          </a:lstStyle>
          <a:p>
            <a:pPr>
              <a:defRPr/>
            </a:pPr>
            <a:fld id="{FD8F1D26-3C1C-4360-9318-83CB049CF007}" type="slidenum">
              <a:rPr lang="en-US"/>
              <a:pPr>
                <a:defRPr/>
              </a:pPr>
              <a:t>‹#›</a:t>
            </a:fld>
            <a:endParaRPr lang="en-US" dirty="0"/>
          </a:p>
        </p:txBody>
      </p:sp>
    </p:spTree>
    <p:extLst>
      <p:ext uri="{BB962C8B-B14F-4D97-AF65-F5344CB8AC3E}">
        <p14:creationId xmlns:p14="http://schemas.microsoft.com/office/powerpoint/2010/main" val="2988353144"/>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theme" Target="../theme/theme2.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slideLayout" Target="../slideLayouts/slideLayout14.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246644562"/>
      </p:ext>
    </p:extLst>
  </p:cSld>
  <p:clrMap bg1="lt1" tx1="dk1" bg2="dk2" tx2="lt2" accent1="accent1" accent2="accent2" accent3="accent3" accent4="accent4" accent5="accent5" accent6="accent6" hlink="hlink" folHlink="folHlink"/>
  <p:sldLayoutIdLst>
    <p:sldLayoutId id="2147483675" r:id="rId1"/>
    <p:sldLayoutId id="2147483664"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userDrawn="1">
          <p15:clr>
            <a:srgbClr val="F26B43"/>
          </p15:clr>
        </p15:guide>
        <p15:guide id="2" pos="288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Content Placeholder"/>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pic>
        <p:nvPicPr>
          <p:cNvPr id="4" name="Picture 3" descr="Pearson Logo">
            <a:extLst>
              <a:ext uri="{FF2B5EF4-FFF2-40B4-BE49-F238E27FC236}">
                <a16:creationId xmlns:a16="http://schemas.microsoft.com/office/drawing/2014/main" id="{712F66FE-1337-EDE8-F038-827B504362BF}"/>
              </a:ext>
            </a:extLst>
          </p:cNvPr>
          <p:cNvPicPr>
            <a:picLocks noChangeAspect="1"/>
          </p:cNvPicPr>
          <p:nvPr userDrawn="1"/>
        </p:nvPicPr>
        <p:blipFill>
          <a:blip r:embed="rId14"/>
          <a:stretch>
            <a:fillRect/>
          </a:stretch>
        </p:blipFill>
        <p:spPr>
          <a:xfrm>
            <a:off x="430085" y="6404072"/>
            <a:ext cx="986560" cy="310866"/>
          </a:xfrm>
          <a:prstGeom prst="rect">
            <a:avLst/>
          </a:prstGeom>
        </p:spPr>
      </p:pic>
      <p:sp>
        <p:nvSpPr>
          <p:cNvPr id="2" name="Content Placeholder 2">
            <a:extLst>
              <a:ext uri="{FF2B5EF4-FFF2-40B4-BE49-F238E27FC236}">
                <a16:creationId xmlns:a16="http://schemas.microsoft.com/office/drawing/2014/main" id="{4E99938C-2996-53F0-ED0D-074C22606DDC}"/>
              </a:ext>
            </a:extLst>
          </p:cNvPr>
          <p:cNvSpPr txBox="1">
            <a:spLocks/>
          </p:cNvSpPr>
          <p:nvPr userDrawn="1"/>
        </p:nvSpPr>
        <p:spPr>
          <a:xfrm>
            <a:off x="1836402" y="6400801"/>
            <a:ext cx="6908800" cy="228600"/>
          </a:xfrm>
          <a:prstGeom prst="rect">
            <a:avLst/>
          </a:prstGeom>
        </p:spPr>
        <p:txBody>
          <a:bodyPr anchor="ctr"/>
          <a:lstStyle>
            <a:defPPr marR="0" lvl="0" algn="l" rtl="0">
              <a:lnSpc>
                <a:spcPct val="100000"/>
              </a:lnSpc>
              <a:spcBef>
                <a:spcPts val="0"/>
              </a:spcBef>
              <a:spcAft>
                <a:spcPts val="0"/>
              </a:spcAft>
            </a:defPPr>
            <a:lvl1pPr marR="0" lvl="0" algn="r" rtl="0">
              <a:lnSpc>
                <a:spcPct val="100000"/>
              </a:lnSpc>
              <a:spcBef>
                <a:spcPts val="0"/>
              </a:spcBef>
              <a:spcAft>
                <a:spcPts val="0"/>
              </a:spcAft>
              <a:buNone/>
              <a:defRPr sz="1200" b="0" i="0" u="none" strike="noStrike" cap="none">
                <a:solidFill>
                  <a:srgbClr val="000000"/>
                </a:solidFill>
                <a:latin typeface="Verdana" panose="020B0604030504040204" pitchFamily="34" charset="0"/>
                <a:ea typeface="Verdana" panose="020B0604030504040204" pitchFamily="34" charset="0"/>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a:lstStyle>
          <a:p>
            <a:r>
              <a:rPr lang="en-US" dirty="0">
                <a:cs typeface="Verdana" panose="020B0604030504040204" pitchFamily="34" charset="0"/>
              </a:rPr>
              <a:t>© 2024 Pearson Education Ltd. All Rights Reserved.</a:t>
            </a:r>
          </a:p>
        </p:txBody>
      </p:sp>
    </p:spTree>
  </p:cSld>
  <p:clrMap bg1="lt1" tx1="dk1" bg2="dk2" tx2="lt2" accent1="accent1" accent2="accent2" accent3="accent3" accent4="accent4" accent5="accent5" accent6="accent6" hlink="hlink" folHlink="folHlink"/>
  <p:sldLayoutIdLst>
    <p:sldLayoutId id="2147483649" r:id="rId1"/>
    <p:sldLayoutId id="2147483676" r:id="rId2"/>
    <p:sldLayoutId id="2147483677" r:id="rId3"/>
    <p:sldLayoutId id="2147483678" r:id="rId4"/>
    <p:sldLayoutId id="2147483679" r:id="rId5"/>
    <p:sldLayoutId id="2147483680" r:id="rId6"/>
    <p:sldLayoutId id="2147483671" r:id="rId7"/>
    <p:sldLayoutId id="2147483673" r:id="rId8"/>
    <p:sldLayoutId id="2147483670" r:id="rId9"/>
    <p:sldLayoutId id="2147483669" r:id="rId10"/>
    <p:sldLayoutId id="2147483655" r:id="rId11"/>
    <p:sldLayoutId id="2147483681"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8" Type="http://schemas.openxmlformats.org/officeDocument/2006/relationships/oleObject" Target="../embeddings/oleObject3.bin"/><Relationship Id="rId13" Type="http://schemas.openxmlformats.org/officeDocument/2006/relationships/image" Target="../media/image8.wmf"/><Relationship Id="rId3" Type="http://schemas.openxmlformats.org/officeDocument/2006/relationships/image" Target="../media/image3.jpg"/><Relationship Id="rId7" Type="http://schemas.openxmlformats.org/officeDocument/2006/relationships/image" Target="../media/image5.wmf"/><Relationship Id="rId12" Type="http://schemas.openxmlformats.org/officeDocument/2006/relationships/oleObject" Target="../embeddings/oleObject5.bin"/><Relationship Id="rId2" Type="http://schemas.openxmlformats.org/officeDocument/2006/relationships/notesSlide" Target="../notesSlides/notesSlide2.xml"/><Relationship Id="rId1" Type="http://schemas.openxmlformats.org/officeDocument/2006/relationships/slideLayout" Target="../slideLayouts/slideLayout8.xml"/><Relationship Id="rId6" Type="http://schemas.openxmlformats.org/officeDocument/2006/relationships/oleObject" Target="../embeddings/oleObject2.bin"/><Relationship Id="rId11" Type="http://schemas.openxmlformats.org/officeDocument/2006/relationships/image" Target="../media/image7.wmf"/><Relationship Id="rId5" Type="http://schemas.openxmlformats.org/officeDocument/2006/relationships/image" Target="../media/image4.wmf"/><Relationship Id="rId15" Type="http://schemas.openxmlformats.org/officeDocument/2006/relationships/image" Target="../media/image9.wmf"/><Relationship Id="rId10" Type="http://schemas.openxmlformats.org/officeDocument/2006/relationships/oleObject" Target="../embeddings/oleObject4.bin"/><Relationship Id="rId4" Type="http://schemas.openxmlformats.org/officeDocument/2006/relationships/oleObject" Target="../embeddings/oleObject1.bin"/><Relationship Id="rId9" Type="http://schemas.openxmlformats.org/officeDocument/2006/relationships/image" Target="../media/image6.wmf"/><Relationship Id="rId14" Type="http://schemas.openxmlformats.org/officeDocument/2006/relationships/oleObject" Target="../embeddings/oleObject6.bin"/></Relationships>
</file>

<file path=ppt/slides/_rels/slide3.xml.rels><?xml version="1.0" encoding="UTF-8" standalone="yes"?>
<Relationships xmlns="http://schemas.openxmlformats.org/package/2006/relationships"><Relationship Id="rId8" Type="http://schemas.openxmlformats.org/officeDocument/2006/relationships/image" Target="../media/image12.wmf"/><Relationship Id="rId13" Type="http://schemas.openxmlformats.org/officeDocument/2006/relationships/image" Target="../media/image15.wmf"/><Relationship Id="rId3" Type="http://schemas.openxmlformats.org/officeDocument/2006/relationships/oleObject" Target="../embeddings/oleObject7.bin"/><Relationship Id="rId7" Type="http://schemas.openxmlformats.org/officeDocument/2006/relationships/oleObject" Target="../embeddings/oleObject9.bin"/><Relationship Id="rId12" Type="http://schemas.openxmlformats.org/officeDocument/2006/relationships/oleObject" Target="../embeddings/oleObject11.bin"/><Relationship Id="rId2" Type="http://schemas.openxmlformats.org/officeDocument/2006/relationships/notesSlide" Target="../notesSlides/notesSlide3.xml"/><Relationship Id="rId1" Type="http://schemas.openxmlformats.org/officeDocument/2006/relationships/slideLayout" Target="../slideLayouts/slideLayout8.xml"/><Relationship Id="rId6" Type="http://schemas.openxmlformats.org/officeDocument/2006/relationships/image" Target="../media/image11.wmf"/><Relationship Id="rId11" Type="http://schemas.openxmlformats.org/officeDocument/2006/relationships/image" Target="../media/image14.wmf"/><Relationship Id="rId5" Type="http://schemas.openxmlformats.org/officeDocument/2006/relationships/oleObject" Target="../embeddings/oleObject8.bin"/><Relationship Id="rId15" Type="http://schemas.openxmlformats.org/officeDocument/2006/relationships/image" Target="../media/image16.wmf"/><Relationship Id="rId10" Type="http://schemas.openxmlformats.org/officeDocument/2006/relationships/oleObject" Target="../embeddings/oleObject10.bin"/><Relationship Id="rId4" Type="http://schemas.openxmlformats.org/officeDocument/2006/relationships/image" Target="../media/image10.wmf"/><Relationship Id="rId9" Type="http://schemas.openxmlformats.org/officeDocument/2006/relationships/image" Target="../media/image13.jpg"/><Relationship Id="rId14" Type="http://schemas.openxmlformats.org/officeDocument/2006/relationships/oleObject" Target="../embeddings/oleObject12.bin"/></Relationships>
</file>

<file path=ppt/slides/_rels/slide4.xml.rels><?xml version="1.0" encoding="UTF-8" standalone="yes"?>
<Relationships xmlns="http://schemas.openxmlformats.org/package/2006/relationships"><Relationship Id="rId8" Type="http://schemas.openxmlformats.org/officeDocument/2006/relationships/image" Target="../media/image19.wmf"/><Relationship Id="rId3" Type="http://schemas.openxmlformats.org/officeDocument/2006/relationships/image" Target="../media/image17.wmf"/><Relationship Id="rId7" Type="http://schemas.openxmlformats.org/officeDocument/2006/relationships/oleObject" Target="../embeddings/oleObject15.bin"/><Relationship Id="rId2" Type="http://schemas.openxmlformats.org/officeDocument/2006/relationships/oleObject" Target="../embeddings/oleObject13.bin"/><Relationship Id="rId1" Type="http://schemas.openxmlformats.org/officeDocument/2006/relationships/slideLayout" Target="../slideLayouts/slideLayout8.xml"/><Relationship Id="rId6" Type="http://schemas.openxmlformats.org/officeDocument/2006/relationships/image" Target="../media/image13.jpg"/><Relationship Id="rId5" Type="http://schemas.openxmlformats.org/officeDocument/2006/relationships/image" Target="../media/image18.wmf"/><Relationship Id="rId10" Type="http://schemas.openxmlformats.org/officeDocument/2006/relationships/image" Target="../media/image20.wmf"/><Relationship Id="rId4" Type="http://schemas.openxmlformats.org/officeDocument/2006/relationships/oleObject" Target="../embeddings/oleObject14.bin"/><Relationship Id="rId9" Type="http://schemas.openxmlformats.org/officeDocument/2006/relationships/oleObject" Target="../embeddings/oleObject16.bin"/></Relationships>
</file>

<file path=ppt/slides/_rels/slide5.xml.rels><?xml version="1.0" encoding="UTF-8" standalone="yes"?>
<Relationships xmlns="http://schemas.openxmlformats.org/package/2006/relationships"><Relationship Id="rId8" Type="http://schemas.openxmlformats.org/officeDocument/2006/relationships/image" Target="../media/image23.wmf"/><Relationship Id="rId13" Type="http://schemas.openxmlformats.org/officeDocument/2006/relationships/image" Target="../media/image25.wmf"/><Relationship Id="rId3" Type="http://schemas.openxmlformats.org/officeDocument/2006/relationships/oleObject" Target="../embeddings/oleObject17.bin"/><Relationship Id="rId7" Type="http://schemas.openxmlformats.org/officeDocument/2006/relationships/oleObject" Target="../embeddings/oleObject19.bin"/><Relationship Id="rId12" Type="http://schemas.openxmlformats.org/officeDocument/2006/relationships/oleObject" Target="../embeddings/oleObject21.bin"/><Relationship Id="rId2" Type="http://schemas.openxmlformats.org/officeDocument/2006/relationships/notesSlide" Target="../notesSlides/notesSlide4.xml"/><Relationship Id="rId1" Type="http://schemas.openxmlformats.org/officeDocument/2006/relationships/slideLayout" Target="../slideLayouts/slideLayout8.xml"/><Relationship Id="rId6" Type="http://schemas.openxmlformats.org/officeDocument/2006/relationships/image" Target="../media/image22.wmf"/><Relationship Id="rId11" Type="http://schemas.openxmlformats.org/officeDocument/2006/relationships/image" Target="../media/image24.wmf"/><Relationship Id="rId5" Type="http://schemas.openxmlformats.org/officeDocument/2006/relationships/oleObject" Target="../embeddings/oleObject18.bin"/><Relationship Id="rId15" Type="http://schemas.openxmlformats.org/officeDocument/2006/relationships/image" Target="../media/image26.wmf"/><Relationship Id="rId10" Type="http://schemas.openxmlformats.org/officeDocument/2006/relationships/oleObject" Target="../embeddings/oleObject20.bin"/><Relationship Id="rId4" Type="http://schemas.openxmlformats.org/officeDocument/2006/relationships/image" Target="../media/image21.wmf"/><Relationship Id="rId9" Type="http://schemas.openxmlformats.org/officeDocument/2006/relationships/image" Target="../media/image13.jpg"/><Relationship Id="rId14" Type="http://schemas.openxmlformats.org/officeDocument/2006/relationships/oleObject" Target="../embeddings/oleObject22.bin"/></Relationships>
</file>

<file path=ppt/slides/_rels/slide6.xml.rels><?xml version="1.0" encoding="UTF-8" standalone="yes"?>
<Relationships xmlns="http://schemas.openxmlformats.org/package/2006/relationships"><Relationship Id="rId3" Type="http://schemas.openxmlformats.org/officeDocument/2006/relationships/image" Target="../media/image27.jpg"/><Relationship Id="rId7" Type="http://schemas.openxmlformats.org/officeDocument/2006/relationships/image" Target="../media/image29.wmf"/><Relationship Id="rId2" Type="http://schemas.openxmlformats.org/officeDocument/2006/relationships/notesSlide" Target="../notesSlides/notesSlide5.xml"/><Relationship Id="rId1" Type="http://schemas.openxmlformats.org/officeDocument/2006/relationships/slideLayout" Target="../slideLayouts/slideLayout8.xml"/><Relationship Id="rId6" Type="http://schemas.openxmlformats.org/officeDocument/2006/relationships/oleObject" Target="../embeddings/oleObject24.bin"/><Relationship Id="rId5" Type="http://schemas.openxmlformats.org/officeDocument/2006/relationships/image" Target="../media/image28.wmf"/><Relationship Id="rId4" Type="http://schemas.openxmlformats.org/officeDocument/2006/relationships/oleObject" Target="../embeddings/oleObject23.bin"/></Relationships>
</file>

<file path=ppt/slides/_rels/slide7.xml.rels><?xml version="1.0" encoding="UTF-8" standalone="yes"?>
<Relationships xmlns="http://schemas.openxmlformats.org/package/2006/relationships"><Relationship Id="rId8" Type="http://schemas.openxmlformats.org/officeDocument/2006/relationships/oleObject" Target="../embeddings/oleObject28.bin"/><Relationship Id="rId13" Type="http://schemas.openxmlformats.org/officeDocument/2006/relationships/image" Target="../media/image35.wmf"/><Relationship Id="rId18" Type="http://schemas.openxmlformats.org/officeDocument/2006/relationships/image" Target="../media/image38.jpg"/><Relationship Id="rId3" Type="http://schemas.openxmlformats.org/officeDocument/2006/relationships/image" Target="../media/image30.wmf"/><Relationship Id="rId7" Type="http://schemas.openxmlformats.org/officeDocument/2006/relationships/image" Target="../media/image32.wmf"/><Relationship Id="rId12" Type="http://schemas.openxmlformats.org/officeDocument/2006/relationships/oleObject" Target="../embeddings/oleObject30.bin"/><Relationship Id="rId17" Type="http://schemas.openxmlformats.org/officeDocument/2006/relationships/image" Target="../media/image37.wmf"/><Relationship Id="rId2" Type="http://schemas.openxmlformats.org/officeDocument/2006/relationships/oleObject" Target="../embeddings/oleObject25.bin"/><Relationship Id="rId16" Type="http://schemas.openxmlformats.org/officeDocument/2006/relationships/oleObject" Target="../embeddings/oleObject32.bin"/><Relationship Id="rId1" Type="http://schemas.openxmlformats.org/officeDocument/2006/relationships/slideLayout" Target="../slideLayouts/slideLayout8.xml"/><Relationship Id="rId6" Type="http://schemas.openxmlformats.org/officeDocument/2006/relationships/oleObject" Target="../embeddings/oleObject27.bin"/><Relationship Id="rId11" Type="http://schemas.openxmlformats.org/officeDocument/2006/relationships/image" Target="../media/image34.wmf"/><Relationship Id="rId5" Type="http://schemas.openxmlformats.org/officeDocument/2006/relationships/image" Target="../media/image31.wmf"/><Relationship Id="rId15" Type="http://schemas.openxmlformats.org/officeDocument/2006/relationships/image" Target="../media/image36.wmf"/><Relationship Id="rId10" Type="http://schemas.openxmlformats.org/officeDocument/2006/relationships/oleObject" Target="../embeddings/oleObject29.bin"/><Relationship Id="rId4" Type="http://schemas.openxmlformats.org/officeDocument/2006/relationships/oleObject" Target="../embeddings/oleObject26.bin"/><Relationship Id="rId9" Type="http://schemas.openxmlformats.org/officeDocument/2006/relationships/image" Target="../media/image33.wmf"/><Relationship Id="rId14" Type="http://schemas.openxmlformats.org/officeDocument/2006/relationships/oleObject" Target="../embeddings/oleObject31.bin"/></Relationships>
</file>

<file path=ppt/slides/_rels/slide8.xml.rels><?xml version="1.0" encoding="UTF-8" standalone="yes"?>
<Relationships xmlns="http://schemas.openxmlformats.org/package/2006/relationships"><Relationship Id="rId8" Type="http://schemas.openxmlformats.org/officeDocument/2006/relationships/oleObject" Target="../embeddings/oleObject35.bin"/><Relationship Id="rId3" Type="http://schemas.openxmlformats.org/officeDocument/2006/relationships/oleObject" Target="../embeddings/oleObject33.bin"/><Relationship Id="rId7" Type="http://schemas.openxmlformats.org/officeDocument/2006/relationships/image" Target="../media/image40.wmf"/><Relationship Id="rId2" Type="http://schemas.openxmlformats.org/officeDocument/2006/relationships/notesSlide" Target="../notesSlides/notesSlide6.xml"/><Relationship Id="rId1" Type="http://schemas.openxmlformats.org/officeDocument/2006/relationships/slideLayout" Target="../slideLayouts/slideLayout8.xml"/><Relationship Id="rId6" Type="http://schemas.openxmlformats.org/officeDocument/2006/relationships/oleObject" Target="../embeddings/oleObject34.bin"/><Relationship Id="rId11" Type="http://schemas.openxmlformats.org/officeDocument/2006/relationships/image" Target="../media/image42.wmf"/><Relationship Id="rId5" Type="http://schemas.openxmlformats.org/officeDocument/2006/relationships/image" Target="../media/image38.jpg"/><Relationship Id="rId10" Type="http://schemas.openxmlformats.org/officeDocument/2006/relationships/oleObject" Target="../embeddings/oleObject36.bin"/><Relationship Id="rId4" Type="http://schemas.openxmlformats.org/officeDocument/2006/relationships/image" Target="../media/image39.wmf"/><Relationship Id="rId9" Type="http://schemas.openxmlformats.org/officeDocument/2006/relationships/image" Target="../media/image41.wmf"/></Relationships>
</file>

<file path=ppt/slides/_rels/slide9.xml.rels><?xml version="1.0" encoding="UTF-8" standalone="yes"?>
<Relationships xmlns="http://schemas.openxmlformats.org/package/2006/relationships"><Relationship Id="rId2" Type="http://schemas.openxmlformats.org/officeDocument/2006/relationships/image" Target="../media/image43.jp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jpg"/><Relationship Id="rId1" Type="http://schemas.openxmlformats.org/officeDocument/2006/relationships/slideLayout" Target="../slideLayouts/slideLayout8.xml"/><Relationship Id="rId4" Type="http://schemas.openxmlformats.org/officeDocument/2006/relationships/image" Target="../media/image45.png"/></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39.bin"/><Relationship Id="rId13" Type="http://schemas.openxmlformats.org/officeDocument/2006/relationships/image" Target="../media/image51.wmf"/><Relationship Id="rId3" Type="http://schemas.openxmlformats.org/officeDocument/2006/relationships/oleObject" Target="../embeddings/oleObject37.bin"/><Relationship Id="rId7" Type="http://schemas.openxmlformats.org/officeDocument/2006/relationships/image" Target="../media/image48.wmf"/><Relationship Id="rId12" Type="http://schemas.openxmlformats.org/officeDocument/2006/relationships/oleObject" Target="../embeddings/oleObject41.bin"/><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oleObject" Target="../embeddings/oleObject38.bin"/><Relationship Id="rId11" Type="http://schemas.openxmlformats.org/officeDocument/2006/relationships/image" Target="../media/image50.wmf"/><Relationship Id="rId5" Type="http://schemas.openxmlformats.org/officeDocument/2006/relationships/image" Target="../media/image47.jpg"/><Relationship Id="rId10" Type="http://schemas.openxmlformats.org/officeDocument/2006/relationships/oleObject" Target="../embeddings/oleObject40.bin"/><Relationship Id="rId4" Type="http://schemas.openxmlformats.org/officeDocument/2006/relationships/image" Target="../media/image46.wmf"/><Relationship Id="rId9" Type="http://schemas.openxmlformats.org/officeDocument/2006/relationships/image" Target="../media/image49.wmf"/><Relationship Id="rId14" Type="http://schemas.openxmlformats.org/officeDocument/2006/relationships/image" Target="../media/image52.png"/></Relationships>
</file>

<file path=ppt/slides/_rels/slide12.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53.wmf"/><Relationship Id="rId7" Type="http://schemas.openxmlformats.org/officeDocument/2006/relationships/image" Target="../media/image45.png"/><Relationship Id="rId2" Type="http://schemas.openxmlformats.org/officeDocument/2006/relationships/oleObject" Target="../embeddings/oleObject42.bin"/><Relationship Id="rId1" Type="http://schemas.openxmlformats.org/officeDocument/2006/relationships/slideLayout" Target="../slideLayouts/slideLayout8.xml"/><Relationship Id="rId6" Type="http://schemas.openxmlformats.org/officeDocument/2006/relationships/image" Target="../media/image55.jpg"/><Relationship Id="rId5" Type="http://schemas.openxmlformats.org/officeDocument/2006/relationships/image" Target="../media/image54.wmf"/><Relationship Id="rId4" Type="http://schemas.openxmlformats.org/officeDocument/2006/relationships/oleObject" Target="../embeddings/oleObject43.bin"/></Relationships>
</file>

<file path=ppt/slides/_rels/slide13.xml.rels><?xml version="1.0" encoding="UTF-8" standalone="yes"?>
<Relationships xmlns="http://schemas.openxmlformats.org/package/2006/relationships"><Relationship Id="rId8" Type="http://schemas.openxmlformats.org/officeDocument/2006/relationships/oleObject" Target="../embeddings/oleObject46.bin"/><Relationship Id="rId13" Type="http://schemas.openxmlformats.org/officeDocument/2006/relationships/image" Target="../media/image60.wmf"/><Relationship Id="rId3" Type="http://schemas.openxmlformats.org/officeDocument/2006/relationships/oleObject" Target="../embeddings/oleObject44.bin"/><Relationship Id="rId7" Type="http://schemas.openxmlformats.org/officeDocument/2006/relationships/image" Target="../media/image55.jpg"/><Relationship Id="rId12" Type="http://schemas.openxmlformats.org/officeDocument/2006/relationships/oleObject" Target="../embeddings/oleObject48.bin"/><Relationship Id="rId2" Type="http://schemas.openxmlformats.org/officeDocument/2006/relationships/notesSlide" Target="../notesSlides/notesSlide8.xml"/><Relationship Id="rId1" Type="http://schemas.openxmlformats.org/officeDocument/2006/relationships/slideLayout" Target="../slideLayouts/slideLayout8.xml"/><Relationship Id="rId6" Type="http://schemas.openxmlformats.org/officeDocument/2006/relationships/image" Target="../media/image57.wmf"/><Relationship Id="rId11" Type="http://schemas.openxmlformats.org/officeDocument/2006/relationships/image" Target="../media/image59.wmf"/><Relationship Id="rId5" Type="http://schemas.openxmlformats.org/officeDocument/2006/relationships/oleObject" Target="../embeddings/oleObject45.bin"/><Relationship Id="rId15" Type="http://schemas.openxmlformats.org/officeDocument/2006/relationships/image" Target="../media/image61.wmf"/><Relationship Id="rId10" Type="http://schemas.openxmlformats.org/officeDocument/2006/relationships/oleObject" Target="../embeddings/oleObject47.bin"/><Relationship Id="rId4" Type="http://schemas.openxmlformats.org/officeDocument/2006/relationships/image" Target="../media/image56.wmf"/><Relationship Id="rId9" Type="http://schemas.openxmlformats.org/officeDocument/2006/relationships/image" Target="../media/image58.wmf"/><Relationship Id="rId14" Type="http://schemas.openxmlformats.org/officeDocument/2006/relationships/oleObject" Target="../embeddings/oleObject49.bin"/></Relationships>
</file>

<file path=ppt/slides/_rels/slide14.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9.xml"/><Relationship Id="rId1" Type="http://schemas.openxmlformats.org/officeDocument/2006/relationships/slideLayout" Target="../slideLayouts/slideLayout14.xml"/><Relationship Id="rId4" Type="http://schemas.openxmlformats.org/officeDocument/2006/relationships/image" Target="../media/image6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98728-A241-43F4-95FF-6C49FEEA0911}"/>
              </a:ext>
            </a:extLst>
          </p:cNvPr>
          <p:cNvSpPr>
            <a:spLocks noGrp="1"/>
          </p:cNvSpPr>
          <p:nvPr>
            <p:ph type="title"/>
          </p:nvPr>
        </p:nvSpPr>
        <p:spPr>
          <a:xfrm>
            <a:off x="430304" y="185875"/>
            <a:ext cx="8239583" cy="590349"/>
          </a:xfrm>
        </p:spPr>
        <p:txBody>
          <a:bodyPr wrap="square" lIns="0" tIns="18000" rIns="0" bIns="18000" anchor="ctr">
            <a:spAutoFit/>
          </a:bodyPr>
          <a:lstStyle/>
          <a:p>
            <a:r>
              <a:rPr lang="en-US" noProof="0" dirty="0"/>
              <a:t>Electric Circuits</a:t>
            </a:r>
          </a:p>
        </p:txBody>
      </p:sp>
      <p:sp>
        <p:nvSpPr>
          <p:cNvPr id="3" name="Content Placeholder 2">
            <a:extLst>
              <a:ext uri="{FF2B5EF4-FFF2-40B4-BE49-F238E27FC236}">
                <a16:creationId xmlns:a16="http://schemas.microsoft.com/office/drawing/2014/main" id="{ABE18F80-D4FC-4D8F-B2BD-E7BEE7E012B5}"/>
              </a:ext>
            </a:extLst>
          </p:cNvPr>
          <p:cNvSpPr>
            <a:spLocks noGrp="1"/>
          </p:cNvSpPr>
          <p:nvPr>
            <p:ph type="body" idx="1"/>
          </p:nvPr>
        </p:nvSpPr>
        <p:spPr>
          <a:xfrm>
            <a:off x="430305" y="1029136"/>
            <a:ext cx="8240620" cy="344128"/>
          </a:xfrm>
        </p:spPr>
        <p:txBody>
          <a:bodyPr wrap="square" lIns="0" tIns="18000" rIns="0" bIns="18000" anchor="ctr">
            <a:spAutoFit/>
          </a:bodyPr>
          <a:lstStyle/>
          <a:p>
            <a:r>
              <a:rPr lang="en-US" noProof="0" dirty="0"/>
              <a:t>Twelfth </a:t>
            </a:r>
            <a:r>
              <a:rPr lang="en-US" dirty="0"/>
              <a:t>Edition, Global Edition</a:t>
            </a:r>
            <a:endParaRPr lang="en-US" noProof="0" dirty="0"/>
          </a:p>
        </p:txBody>
      </p:sp>
      <p:pic>
        <p:nvPicPr>
          <p:cNvPr id="11" name="Picture 10">
            <a:extLst>
              <a:ext uri="{FF2B5EF4-FFF2-40B4-BE49-F238E27FC236}">
                <a16:creationId xmlns:a16="http://schemas.microsoft.com/office/drawing/2014/main" id="{170E337C-9388-4F39-A525-F415A0FBA59A}"/>
              </a:ext>
            </a:extLst>
          </p:cNvPr>
          <p:cNvPicPr>
            <a:picLocks noChangeAspect="1"/>
          </p:cNvPicPr>
          <p:nvPr/>
        </p:nvPicPr>
        <p:blipFill>
          <a:blip r:embed="rId3"/>
          <a:stretch>
            <a:fillRect/>
          </a:stretch>
        </p:blipFill>
        <p:spPr>
          <a:xfrm>
            <a:off x="492662" y="1771328"/>
            <a:ext cx="3609247" cy="4511158"/>
          </a:xfrm>
          <a:prstGeom prst="rect">
            <a:avLst/>
          </a:prstGeom>
        </p:spPr>
      </p:pic>
      <p:sp>
        <p:nvSpPr>
          <p:cNvPr id="5" name="Content Placeholder 4">
            <a:extLst>
              <a:ext uri="{FF2B5EF4-FFF2-40B4-BE49-F238E27FC236}">
                <a16:creationId xmlns:a16="http://schemas.microsoft.com/office/drawing/2014/main" id="{2D222376-7AD7-4443-B67A-120BE12F4DDB}"/>
              </a:ext>
            </a:extLst>
          </p:cNvPr>
          <p:cNvSpPr>
            <a:spLocks noGrp="1"/>
          </p:cNvSpPr>
          <p:nvPr>
            <p:ph sz="quarter" idx="14"/>
          </p:nvPr>
        </p:nvSpPr>
        <p:spPr>
          <a:xfrm>
            <a:off x="4578799" y="2815153"/>
            <a:ext cx="3657600" cy="498016"/>
          </a:xfrm>
        </p:spPr>
        <p:txBody>
          <a:bodyPr lIns="0" tIns="18000" rIns="0" bIns="18000" anchor="ctr">
            <a:spAutoFit/>
          </a:bodyPr>
          <a:lstStyle/>
          <a:p>
            <a:pPr indent="-101600"/>
            <a:r>
              <a:rPr lang="en-US" noProof="0" dirty="0">
                <a:solidFill>
                  <a:schemeClr val="tx1"/>
                </a:solidFill>
              </a:rPr>
              <a:t>Chapter 5 – Part 2</a:t>
            </a:r>
          </a:p>
        </p:txBody>
      </p:sp>
      <p:sp>
        <p:nvSpPr>
          <p:cNvPr id="6" name="Content Placeholder 5">
            <a:extLst>
              <a:ext uri="{FF2B5EF4-FFF2-40B4-BE49-F238E27FC236}">
                <a16:creationId xmlns:a16="http://schemas.microsoft.com/office/drawing/2014/main" id="{82FD4EC9-4778-4E2F-B136-2A176CA2BA69}"/>
              </a:ext>
            </a:extLst>
          </p:cNvPr>
          <p:cNvSpPr>
            <a:spLocks noGrp="1"/>
          </p:cNvSpPr>
          <p:nvPr>
            <p:ph sz="quarter" idx="15"/>
          </p:nvPr>
        </p:nvSpPr>
        <p:spPr>
          <a:xfrm>
            <a:off x="4578798" y="3536908"/>
            <a:ext cx="3987232" cy="374906"/>
          </a:xfrm>
        </p:spPr>
        <p:txBody>
          <a:bodyPr wrap="square" lIns="0" tIns="18000" rIns="0" bIns="18000" anchor="ctr">
            <a:spAutoFit/>
          </a:bodyPr>
          <a:lstStyle/>
          <a:p>
            <a:pPr indent="-101600"/>
            <a:r>
              <a:rPr lang="en-US" noProof="0" dirty="0"/>
              <a:t>The Operational Amplifier</a:t>
            </a:r>
          </a:p>
        </p:txBody>
      </p:sp>
      <p:pic>
        <p:nvPicPr>
          <p:cNvPr id="7" name="Picture 6" descr="Pearson Logo">
            <a:extLst>
              <a:ext uri="{FF2B5EF4-FFF2-40B4-BE49-F238E27FC236}">
                <a16:creationId xmlns:a16="http://schemas.microsoft.com/office/drawing/2014/main" id="{2D6CD67E-9719-942F-6EF3-6FAF10F92244}"/>
              </a:ext>
            </a:extLst>
          </p:cNvPr>
          <p:cNvPicPr>
            <a:picLocks noChangeAspect="1"/>
          </p:cNvPicPr>
          <p:nvPr/>
        </p:nvPicPr>
        <p:blipFill>
          <a:blip r:embed="rId4"/>
          <a:stretch>
            <a:fillRect/>
          </a:stretch>
        </p:blipFill>
        <p:spPr>
          <a:xfrm>
            <a:off x="430085" y="6404072"/>
            <a:ext cx="986560" cy="310866"/>
          </a:xfrm>
          <a:prstGeom prst="rect">
            <a:avLst/>
          </a:prstGeom>
        </p:spPr>
      </p:pic>
      <p:sp>
        <p:nvSpPr>
          <p:cNvPr id="8" name="Content Placeholder 7">
            <a:extLst>
              <a:ext uri="{FF2B5EF4-FFF2-40B4-BE49-F238E27FC236}">
                <a16:creationId xmlns:a16="http://schemas.microsoft.com/office/drawing/2014/main" id="{C8E88D28-1A9F-4FC4-946F-10B4629D1438}"/>
              </a:ext>
            </a:extLst>
          </p:cNvPr>
          <p:cNvSpPr>
            <a:spLocks noGrp="1"/>
          </p:cNvSpPr>
          <p:nvPr>
            <p:ph sz="quarter" idx="17"/>
          </p:nvPr>
        </p:nvSpPr>
        <p:spPr>
          <a:xfrm>
            <a:off x="2492189" y="6455210"/>
            <a:ext cx="6177700" cy="221018"/>
          </a:xfrm>
        </p:spPr>
        <p:txBody>
          <a:bodyPr wrap="square" lIns="0" tIns="18000" rIns="0" bIns="18000" anchor="ctr">
            <a:spAutoFit/>
          </a:bodyPr>
          <a:lstStyle/>
          <a:p>
            <a:r>
              <a:rPr lang="en-US" noProof="0" dirty="0">
                <a:cs typeface="Verdana" panose="020B0604030504040204" pitchFamily="34" charset="0"/>
              </a:rPr>
              <a:t>© 2024 Pearson Education Ltd. All Rights Reserved.</a:t>
            </a:r>
          </a:p>
        </p:txBody>
      </p:sp>
    </p:spTree>
    <p:extLst>
      <p:ext uri="{BB962C8B-B14F-4D97-AF65-F5344CB8AC3E}">
        <p14:creationId xmlns:p14="http://schemas.microsoft.com/office/powerpoint/2010/main" val="29951910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D4DD90-D910-1634-2EA9-BBFDEDF05353}"/>
              </a:ext>
            </a:extLst>
          </p:cNvPr>
          <p:cNvSpPr>
            <a:spLocks noGrp="1"/>
          </p:cNvSpPr>
          <p:nvPr>
            <p:ph type="title"/>
          </p:nvPr>
        </p:nvSpPr>
        <p:spPr>
          <a:xfrm>
            <a:off x="430304" y="175682"/>
            <a:ext cx="8240621" cy="590349"/>
          </a:xfrm>
        </p:spPr>
        <p:txBody>
          <a:bodyPr/>
          <a:lstStyle/>
          <a:p>
            <a:r>
              <a:rPr lang="en-US" noProof="0" dirty="0"/>
              <a:t>Chapter 5 – Op Amps </a:t>
            </a:r>
            <a:r>
              <a:rPr lang="en-US" sz="2800" noProof="0" dirty="0"/>
              <a:t>(1 of 11)</a:t>
            </a:r>
            <a:endParaRPr lang="en-US" noProof="0" dirty="0"/>
          </a:p>
        </p:txBody>
      </p:sp>
      <p:sp>
        <p:nvSpPr>
          <p:cNvPr id="3" name="Content Placeholder 2">
            <a:extLst>
              <a:ext uri="{FF2B5EF4-FFF2-40B4-BE49-F238E27FC236}">
                <a16:creationId xmlns:a16="http://schemas.microsoft.com/office/drawing/2014/main" id="{4D452207-5C81-DDA2-47E8-C93882AF84D0}"/>
              </a:ext>
            </a:extLst>
          </p:cNvPr>
          <p:cNvSpPr>
            <a:spLocks noGrp="1"/>
          </p:cNvSpPr>
          <p:nvPr>
            <p:ph sz="quarter" idx="12"/>
          </p:nvPr>
        </p:nvSpPr>
        <p:spPr>
          <a:xfrm>
            <a:off x="430305" y="850128"/>
            <a:ext cx="4054475" cy="313350"/>
          </a:xfrm>
        </p:spPr>
        <p:txBody>
          <a:bodyPr lIns="0" tIns="18000" rIns="0" bIns="18000" anchor="ctr" anchorCtr="0">
            <a:spAutoFit/>
          </a:bodyPr>
          <a:lstStyle/>
          <a:p>
            <a:pPr marL="0" indent="0">
              <a:buNone/>
            </a:pPr>
            <a:r>
              <a:rPr lang="en-US" sz="1800" noProof="0" dirty="0"/>
              <a:t>Summing Amplifier</a:t>
            </a:r>
          </a:p>
        </p:txBody>
      </p:sp>
      <p:pic>
        <p:nvPicPr>
          <p:cNvPr id="10" name="Picture 9" descr="A circuit diagram shows an operational amplifier on the right and various resistors on the left. Positive voltage v subscript a is applied to the left terminal of resistor R subscript a. Positive voltage v subscript b is applied to the left terminal of resistor R subscript b. Positive voltage v subscript c is applied to the left terminal of resistor R subscript c. The right terminals of resistors R subscript a, R subscript b, and R subscript c are joined to form a node and this node is connected to a node marked as positive on the inverting input wire of the operational amplifier. The voltage between the node marked as positive on the inverting input wire and ground is v subscript n. The node marked as positive is connected to the output terminal of the operational amplifier through resistor R subscript f. Current i subscript n flows from this node marked as positive into the inverting terminal. The non inverting input terminal of the operational amplifier is connected to ground. &#10;Voltage V subscript cc is applied to the operational amplifier’s top vertical terminal and voltage minus V subscript cc at its bottom vertical terminal. Voltage v subscript o exists between the output terminal of the operational amplifier and ground.">
            <a:extLst>
              <a:ext uri="{FF2B5EF4-FFF2-40B4-BE49-F238E27FC236}">
                <a16:creationId xmlns:a16="http://schemas.microsoft.com/office/drawing/2014/main" id="{514F1FB9-B2E3-EADF-E664-5E021B5489F5}"/>
              </a:ext>
            </a:extLst>
          </p:cNvPr>
          <p:cNvPicPr>
            <a:picLocks noChangeAspect="1"/>
          </p:cNvPicPr>
          <p:nvPr/>
        </p:nvPicPr>
        <p:blipFill>
          <a:blip r:embed="rId3"/>
          <a:stretch>
            <a:fillRect/>
          </a:stretch>
        </p:blipFill>
        <p:spPr>
          <a:xfrm>
            <a:off x="794454" y="1324487"/>
            <a:ext cx="2972593" cy="1497361"/>
          </a:xfrm>
          <a:prstGeom prst="rect">
            <a:avLst/>
          </a:prstGeom>
        </p:spPr>
      </p:pic>
      <p:sp>
        <p:nvSpPr>
          <p:cNvPr id="4" name="Content Placeholder 3">
            <a:extLst>
              <a:ext uri="{FF2B5EF4-FFF2-40B4-BE49-F238E27FC236}">
                <a16:creationId xmlns:a16="http://schemas.microsoft.com/office/drawing/2014/main" id="{FCF4A186-3565-E544-D21B-E44317BCA151}"/>
              </a:ext>
            </a:extLst>
          </p:cNvPr>
          <p:cNvSpPr>
            <a:spLocks noGrp="1"/>
          </p:cNvSpPr>
          <p:nvPr>
            <p:ph sz="quarter" idx="13"/>
          </p:nvPr>
        </p:nvSpPr>
        <p:spPr>
          <a:xfrm>
            <a:off x="4509529" y="854870"/>
            <a:ext cx="4161395" cy="1698345"/>
          </a:xfrm>
        </p:spPr>
        <p:txBody>
          <a:bodyPr wrap="square" lIns="0" tIns="18000" rIns="0" bIns="18000" anchor="ctr" anchorCtr="0">
            <a:spAutoFit/>
          </a:bodyPr>
          <a:lstStyle/>
          <a:p>
            <a:pPr marL="0" indent="0">
              <a:buNone/>
            </a:pPr>
            <a:r>
              <a:rPr lang="en-US" sz="1800" noProof="0" dirty="0"/>
              <a:t>There is a negative feedback path, so assume linear operating region (Step 1). Using the ideal op amp assumptions, write a </a:t>
            </a:r>
            <a:r>
              <a:rPr lang="en-US" sz="1800" spc="-200" noProof="0" dirty="0"/>
              <a:t>K C </a:t>
            </a:r>
            <a:r>
              <a:rPr lang="en-US" sz="1800" noProof="0" dirty="0"/>
              <a:t>L equation at the non-inverting input (Step 2) and solve it (Step 3).</a:t>
            </a:r>
          </a:p>
        </p:txBody>
      </p:sp>
      <p:graphicFrame>
        <p:nvGraphicFramePr>
          <p:cNvPr id="22" name="Object 5" descr="v subscript p BaseLine equals 0, forward arrow, v subscript n BaseLine equals 0.">
            <a:extLst>
              <a:ext uri="{FF2B5EF4-FFF2-40B4-BE49-F238E27FC236}">
                <a16:creationId xmlns:a16="http://schemas.microsoft.com/office/drawing/2014/main" id="{8CA4DFE4-87ED-CED1-AC43-E1685C19AEB4}"/>
              </a:ext>
            </a:extLst>
          </p:cNvPr>
          <p:cNvGraphicFramePr>
            <a:graphicFrameLocks noChangeAspect="1"/>
          </p:cNvGraphicFramePr>
          <p:nvPr>
            <p:extLst>
              <p:ext uri="{D42A27DB-BD31-4B8C-83A1-F6EECF244321}">
                <p14:modId xmlns:p14="http://schemas.microsoft.com/office/powerpoint/2010/main" val="1959905974"/>
              </p:ext>
            </p:extLst>
          </p:nvPr>
        </p:nvGraphicFramePr>
        <p:xfrm>
          <a:off x="1143809" y="3040023"/>
          <a:ext cx="2677700" cy="391859"/>
        </p:xfrm>
        <a:graphic>
          <a:graphicData uri="http://schemas.openxmlformats.org/presentationml/2006/ole">
            <mc:AlternateContent xmlns:mc="http://schemas.openxmlformats.org/markup-compatibility/2006">
              <mc:Choice xmlns:v="urn:schemas-microsoft-com:vml" Requires="v">
                <p:oleObj name="Equation" r:id="rId4" imgW="1650960" imgH="241200" progId="Equation.DSMT4">
                  <p:embed/>
                </p:oleObj>
              </mc:Choice>
              <mc:Fallback>
                <p:oleObj name="Equation" r:id="rId4" imgW="1650960" imgH="241200" progId="Equation.DSMT4">
                  <p:embed/>
                  <p:pic>
                    <p:nvPicPr>
                      <p:cNvPr id="4" name="Object 5">
                        <a:extLst>
                          <a:ext uri="{FF2B5EF4-FFF2-40B4-BE49-F238E27FC236}">
                            <a16:creationId xmlns:a16="http://schemas.microsoft.com/office/drawing/2014/main" id="{77B893F9-AD66-340A-7E03-50400A833A67}"/>
                          </a:ext>
                        </a:extLst>
                      </p:cNvPr>
                      <p:cNvPicPr>
                        <a:picLocks noChangeAspect="1" noChangeArrowheads="1"/>
                      </p:cNvPicPr>
                      <p:nvPr/>
                    </p:nvPicPr>
                    <p:blipFill>
                      <a:blip r:embed="rId5"/>
                      <a:srcRect/>
                      <a:stretch>
                        <a:fillRect/>
                      </a:stretch>
                    </p:blipFill>
                    <p:spPr bwMode="auto">
                      <a:xfrm>
                        <a:off x="1143809" y="3040023"/>
                        <a:ext cx="2677700" cy="39185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 name="Content Placeholder 4">
            <a:extLst>
              <a:ext uri="{FF2B5EF4-FFF2-40B4-BE49-F238E27FC236}">
                <a16:creationId xmlns:a16="http://schemas.microsoft.com/office/drawing/2014/main" id="{3F1CFF55-9542-EB83-86EA-8D90CD52A52D}"/>
              </a:ext>
            </a:extLst>
          </p:cNvPr>
          <p:cNvSpPr>
            <a:spLocks noGrp="1"/>
          </p:cNvSpPr>
          <p:nvPr>
            <p:ph sz="quarter" idx="14"/>
          </p:nvPr>
        </p:nvSpPr>
        <p:spPr>
          <a:xfrm>
            <a:off x="1168265" y="3684060"/>
            <a:ext cx="741218" cy="313350"/>
          </a:xfrm>
        </p:spPr>
        <p:txBody>
          <a:bodyPr wrap="square" lIns="0" tIns="18000" rIns="0" bIns="18000" anchor="ctr" anchorCtr="0">
            <a:spAutoFit/>
          </a:bodyPr>
          <a:lstStyle/>
          <a:p>
            <a:pPr marL="0" indent="0">
              <a:buNone/>
            </a:pPr>
            <a:r>
              <a:rPr lang="en-US" sz="1800" spc="-200" noProof="0" dirty="0"/>
              <a:t>K C </a:t>
            </a:r>
            <a:r>
              <a:rPr lang="en-US" sz="1800" noProof="0" dirty="0"/>
              <a:t>L at</a:t>
            </a:r>
          </a:p>
        </p:txBody>
      </p:sp>
      <p:graphicFrame>
        <p:nvGraphicFramePr>
          <p:cNvPr id="25" name="Object 5" descr="The figure illustrates an equation for K C L at v subscript n.&#10;Long description 1 is available in notes, Press F6.">
            <a:extLst>
              <a:ext uri="{FF2B5EF4-FFF2-40B4-BE49-F238E27FC236}">
                <a16:creationId xmlns:a16="http://schemas.microsoft.com/office/drawing/2014/main" id="{4E30929E-2C59-EB12-CBBB-315C8FC5F791}"/>
              </a:ext>
            </a:extLst>
          </p:cNvPr>
          <p:cNvGraphicFramePr>
            <a:graphicFrameLocks noChangeAspect="1"/>
          </p:cNvGraphicFramePr>
          <p:nvPr>
            <p:extLst>
              <p:ext uri="{D42A27DB-BD31-4B8C-83A1-F6EECF244321}">
                <p14:modId xmlns:p14="http://schemas.microsoft.com/office/powerpoint/2010/main" val="1937960806"/>
              </p:ext>
            </p:extLst>
          </p:nvPr>
        </p:nvGraphicFramePr>
        <p:xfrm>
          <a:off x="2041732" y="3547639"/>
          <a:ext cx="3745056" cy="656647"/>
        </p:xfrm>
        <a:graphic>
          <a:graphicData uri="http://schemas.openxmlformats.org/presentationml/2006/ole">
            <mc:AlternateContent xmlns:mc="http://schemas.openxmlformats.org/markup-compatibility/2006">
              <mc:Choice xmlns:v="urn:schemas-microsoft-com:vml" Requires="v">
                <p:oleObj name="Equation" r:id="rId6" imgW="2539800" imgH="444240" progId="Equation.DSMT4">
                  <p:embed/>
                </p:oleObj>
              </mc:Choice>
              <mc:Fallback>
                <p:oleObj name="Equation" r:id="rId6" imgW="2539800" imgH="444240" progId="Equation.DSMT4">
                  <p:embed/>
                  <p:pic>
                    <p:nvPicPr>
                      <p:cNvPr id="22" name="Object 5">
                        <a:extLst>
                          <a:ext uri="{FF2B5EF4-FFF2-40B4-BE49-F238E27FC236}">
                            <a16:creationId xmlns:a16="http://schemas.microsoft.com/office/drawing/2014/main" id="{8CA4DFE4-87ED-CED1-AC43-E1685C19AEB4}"/>
                          </a:ext>
                        </a:extLst>
                      </p:cNvPr>
                      <p:cNvPicPr>
                        <a:picLocks noChangeAspect="1" noChangeArrowheads="1"/>
                      </p:cNvPicPr>
                      <p:nvPr/>
                    </p:nvPicPr>
                    <p:blipFill>
                      <a:blip r:embed="rId7"/>
                      <a:srcRect/>
                      <a:stretch>
                        <a:fillRect/>
                      </a:stretch>
                    </p:blipFill>
                    <p:spPr bwMode="auto">
                      <a:xfrm>
                        <a:off x="2041732" y="3547639"/>
                        <a:ext cx="3745056" cy="65664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 name="Object 5" descr="The figure illustrates an equation for v subscript o.&#10;Long description 2 is available in notes, Press F6.">
            <a:extLst>
              <a:ext uri="{FF2B5EF4-FFF2-40B4-BE49-F238E27FC236}">
                <a16:creationId xmlns:a16="http://schemas.microsoft.com/office/drawing/2014/main" id="{EA15AE8D-2583-E003-D64D-8901143C2525}"/>
              </a:ext>
            </a:extLst>
          </p:cNvPr>
          <p:cNvGraphicFramePr>
            <a:graphicFrameLocks noChangeAspect="1"/>
          </p:cNvGraphicFramePr>
          <p:nvPr>
            <p:extLst>
              <p:ext uri="{D42A27DB-BD31-4B8C-83A1-F6EECF244321}">
                <p14:modId xmlns:p14="http://schemas.microsoft.com/office/powerpoint/2010/main" val="3930238677"/>
              </p:ext>
            </p:extLst>
          </p:nvPr>
        </p:nvGraphicFramePr>
        <p:xfrm>
          <a:off x="1162050" y="4292600"/>
          <a:ext cx="3295650" cy="655638"/>
        </p:xfrm>
        <a:graphic>
          <a:graphicData uri="http://schemas.openxmlformats.org/presentationml/2006/ole">
            <mc:AlternateContent xmlns:mc="http://schemas.openxmlformats.org/markup-compatibility/2006">
              <mc:Choice xmlns:v="urn:schemas-microsoft-com:vml" Requires="v">
                <p:oleObj name="Equation" r:id="rId8" imgW="2234880" imgH="444240" progId="Equation.DSMT4">
                  <p:embed/>
                </p:oleObj>
              </mc:Choice>
              <mc:Fallback>
                <p:oleObj name="Equation" r:id="rId8" imgW="2234880" imgH="444240" progId="Equation.DSMT4">
                  <p:embed/>
                  <p:pic>
                    <p:nvPicPr>
                      <p:cNvPr id="25" name="Object 5">
                        <a:extLst>
                          <a:ext uri="{FF2B5EF4-FFF2-40B4-BE49-F238E27FC236}">
                            <a16:creationId xmlns:a16="http://schemas.microsoft.com/office/drawing/2014/main" id="{4E30929E-2C59-EB12-CBBB-315C8FC5F791}"/>
                          </a:ext>
                        </a:extLst>
                      </p:cNvPr>
                      <p:cNvPicPr>
                        <a:picLocks noChangeAspect="1" noChangeArrowheads="1"/>
                      </p:cNvPicPr>
                      <p:nvPr/>
                    </p:nvPicPr>
                    <p:blipFill>
                      <a:blip r:embed="rId9"/>
                      <a:srcRect/>
                      <a:stretch>
                        <a:fillRect/>
                      </a:stretch>
                    </p:blipFill>
                    <p:spPr bwMode="auto">
                      <a:xfrm>
                        <a:off x="1162050" y="4292600"/>
                        <a:ext cx="3295650" cy="655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 name="Content Placeholder 5">
            <a:extLst>
              <a:ext uri="{FF2B5EF4-FFF2-40B4-BE49-F238E27FC236}">
                <a16:creationId xmlns:a16="http://schemas.microsoft.com/office/drawing/2014/main" id="{6BF43DF8-C87C-13BA-5240-3138824CA6A1}"/>
              </a:ext>
            </a:extLst>
          </p:cNvPr>
          <p:cNvSpPr>
            <a:spLocks noGrp="1"/>
          </p:cNvSpPr>
          <p:nvPr>
            <p:ph sz="quarter" idx="15"/>
          </p:nvPr>
        </p:nvSpPr>
        <p:spPr>
          <a:xfrm>
            <a:off x="4572000" y="4432466"/>
            <a:ext cx="334026" cy="313350"/>
          </a:xfrm>
        </p:spPr>
        <p:txBody>
          <a:bodyPr wrap="square" lIns="0" tIns="18000" rIns="0" bIns="18000" anchor="ctr" anchorCtr="0">
            <a:spAutoFit/>
          </a:bodyPr>
          <a:lstStyle/>
          <a:p>
            <a:pPr marL="0" indent="0">
              <a:buNone/>
            </a:pPr>
            <a:r>
              <a:rPr lang="en-US" sz="1800" noProof="0" dirty="0"/>
              <a:t>for</a:t>
            </a:r>
          </a:p>
        </p:txBody>
      </p:sp>
      <p:graphicFrame>
        <p:nvGraphicFramePr>
          <p:cNvPr id="29" name="Object 5" descr="Negative V subscript C C BaseLine less than or equal to V subscript o BaseLine less than or equal to V subscript C C BaseLine.">
            <a:extLst>
              <a:ext uri="{FF2B5EF4-FFF2-40B4-BE49-F238E27FC236}">
                <a16:creationId xmlns:a16="http://schemas.microsoft.com/office/drawing/2014/main" id="{4EF17231-C7E3-7F4F-692D-CB97E6E6ABE8}"/>
              </a:ext>
            </a:extLst>
          </p:cNvPr>
          <p:cNvGraphicFramePr>
            <a:graphicFrameLocks noChangeAspect="1"/>
          </p:cNvGraphicFramePr>
          <p:nvPr>
            <p:extLst>
              <p:ext uri="{D42A27DB-BD31-4B8C-83A1-F6EECF244321}">
                <p14:modId xmlns:p14="http://schemas.microsoft.com/office/powerpoint/2010/main" val="1764944011"/>
              </p:ext>
            </p:extLst>
          </p:nvPr>
        </p:nvGraphicFramePr>
        <p:xfrm>
          <a:off x="4915692" y="4437952"/>
          <a:ext cx="1517650" cy="336550"/>
        </p:xfrm>
        <a:graphic>
          <a:graphicData uri="http://schemas.openxmlformats.org/presentationml/2006/ole">
            <mc:AlternateContent xmlns:mc="http://schemas.openxmlformats.org/markup-compatibility/2006">
              <mc:Choice xmlns:v="urn:schemas-microsoft-com:vml" Requires="v">
                <p:oleObj name="Equation" r:id="rId10" imgW="1028520" imgH="228600" progId="Equation.DSMT4">
                  <p:embed/>
                </p:oleObj>
              </mc:Choice>
              <mc:Fallback>
                <p:oleObj name="Equation" r:id="rId10" imgW="1028520" imgH="228600" progId="Equation.DSMT4">
                  <p:embed/>
                  <p:pic>
                    <p:nvPicPr>
                      <p:cNvPr id="26" name="Object 5">
                        <a:extLst>
                          <a:ext uri="{FF2B5EF4-FFF2-40B4-BE49-F238E27FC236}">
                            <a16:creationId xmlns:a16="http://schemas.microsoft.com/office/drawing/2014/main" id="{EA15AE8D-2583-E003-D64D-8901143C2525}"/>
                          </a:ext>
                        </a:extLst>
                      </p:cNvPr>
                      <p:cNvPicPr>
                        <a:picLocks noChangeAspect="1" noChangeArrowheads="1"/>
                      </p:cNvPicPr>
                      <p:nvPr/>
                    </p:nvPicPr>
                    <p:blipFill>
                      <a:blip r:embed="rId11"/>
                      <a:srcRect/>
                      <a:stretch>
                        <a:fillRect/>
                      </a:stretch>
                    </p:blipFill>
                    <p:spPr bwMode="auto">
                      <a:xfrm>
                        <a:off x="4915692" y="4437952"/>
                        <a:ext cx="1517650" cy="336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 name="Content Placeholder 6">
            <a:extLst>
              <a:ext uri="{FF2B5EF4-FFF2-40B4-BE49-F238E27FC236}">
                <a16:creationId xmlns:a16="http://schemas.microsoft.com/office/drawing/2014/main" id="{A053C4C0-4C01-FA0C-95EE-9993262B4357}"/>
              </a:ext>
            </a:extLst>
          </p:cNvPr>
          <p:cNvSpPr>
            <a:spLocks noGrp="1"/>
          </p:cNvSpPr>
          <p:nvPr>
            <p:ph sz="quarter" idx="16"/>
          </p:nvPr>
        </p:nvSpPr>
        <p:spPr>
          <a:xfrm>
            <a:off x="1186193" y="5002215"/>
            <a:ext cx="162313" cy="313350"/>
          </a:xfrm>
        </p:spPr>
        <p:txBody>
          <a:bodyPr wrap="square" lIns="0" tIns="18000" rIns="0" bIns="18000" anchor="ctr" anchorCtr="0">
            <a:spAutoFit/>
          </a:bodyPr>
          <a:lstStyle/>
          <a:p>
            <a:pPr marL="0" indent="0">
              <a:buNone/>
            </a:pPr>
            <a:r>
              <a:rPr lang="en-US" sz="1800" noProof="0" dirty="0"/>
              <a:t>If</a:t>
            </a:r>
          </a:p>
        </p:txBody>
      </p:sp>
      <p:graphicFrame>
        <p:nvGraphicFramePr>
          <p:cNvPr id="30" name="Object 5" descr="The figure illustrates an equation for v subscript o when 4 resistors are equal.&#10;Long description 3 is available in notes, Press F6.">
            <a:extLst>
              <a:ext uri="{FF2B5EF4-FFF2-40B4-BE49-F238E27FC236}">
                <a16:creationId xmlns:a16="http://schemas.microsoft.com/office/drawing/2014/main" id="{4B48D45E-38C8-FB3C-467C-85C6F238F794}"/>
              </a:ext>
            </a:extLst>
          </p:cNvPr>
          <p:cNvGraphicFramePr>
            <a:graphicFrameLocks noChangeAspect="1"/>
          </p:cNvGraphicFramePr>
          <p:nvPr>
            <p:extLst>
              <p:ext uri="{D42A27DB-BD31-4B8C-83A1-F6EECF244321}">
                <p14:modId xmlns:p14="http://schemas.microsoft.com/office/powerpoint/2010/main" val="3881914689"/>
              </p:ext>
            </p:extLst>
          </p:nvPr>
        </p:nvGraphicFramePr>
        <p:xfrm>
          <a:off x="1515825" y="4866064"/>
          <a:ext cx="5056188" cy="655638"/>
        </p:xfrm>
        <a:graphic>
          <a:graphicData uri="http://schemas.openxmlformats.org/presentationml/2006/ole">
            <mc:AlternateContent xmlns:mc="http://schemas.openxmlformats.org/markup-compatibility/2006">
              <mc:Choice xmlns:v="urn:schemas-microsoft-com:vml" Requires="v">
                <p:oleObj name="Equation" r:id="rId12" imgW="3429000" imgH="444240" progId="Equation.DSMT4">
                  <p:embed/>
                </p:oleObj>
              </mc:Choice>
              <mc:Fallback>
                <p:oleObj name="Equation" r:id="rId12" imgW="3429000" imgH="444240" progId="Equation.DSMT4">
                  <p:embed/>
                  <p:pic>
                    <p:nvPicPr>
                      <p:cNvPr id="26" name="Object 5">
                        <a:extLst>
                          <a:ext uri="{FF2B5EF4-FFF2-40B4-BE49-F238E27FC236}">
                            <a16:creationId xmlns:a16="http://schemas.microsoft.com/office/drawing/2014/main" id="{EA15AE8D-2583-E003-D64D-8901143C2525}"/>
                          </a:ext>
                        </a:extLst>
                      </p:cNvPr>
                      <p:cNvPicPr>
                        <a:picLocks noChangeAspect="1" noChangeArrowheads="1"/>
                      </p:cNvPicPr>
                      <p:nvPr/>
                    </p:nvPicPr>
                    <p:blipFill>
                      <a:blip r:embed="rId13"/>
                      <a:srcRect/>
                      <a:stretch>
                        <a:fillRect/>
                      </a:stretch>
                    </p:blipFill>
                    <p:spPr bwMode="auto">
                      <a:xfrm>
                        <a:off x="1515825" y="4866064"/>
                        <a:ext cx="5056188" cy="655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 name="Content Placeholder 7">
            <a:extLst>
              <a:ext uri="{FF2B5EF4-FFF2-40B4-BE49-F238E27FC236}">
                <a16:creationId xmlns:a16="http://schemas.microsoft.com/office/drawing/2014/main" id="{81439A8B-7F1A-F18F-67E0-2CABAB6DB31D}"/>
              </a:ext>
            </a:extLst>
          </p:cNvPr>
          <p:cNvSpPr>
            <a:spLocks noGrp="1"/>
          </p:cNvSpPr>
          <p:nvPr>
            <p:ph sz="quarter" idx="17"/>
          </p:nvPr>
        </p:nvSpPr>
        <p:spPr>
          <a:xfrm>
            <a:off x="1168265" y="5561380"/>
            <a:ext cx="162314" cy="313350"/>
          </a:xfrm>
        </p:spPr>
        <p:txBody>
          <a:bodyPr wrap="square" lIns="0" tIns="18000" rIns="0" bIns="18000" anchor="ctr" anchorCtr="0">
            <a:spAutoFit/>
          </a:bodyPr>
          <a:lstStyle/>
          <a:p>
            <a:pPr marL="0" indent="0">
              <a:buNone/>
            </a:pPr>
            <a:r>
              <a:rPr lang="en-US" sz="1800" noProof="0" dirty="0"/>
              <a:t>If</a:t>
            </a:r>
          </a:p>
        </p:txBody>
      </p:sp>
      <p:graphicFrame>
        <p:nvGraphicFramePr>
          <p:cNvPr id="33" name="Object 5" descr="The figure illustrates an equation for v subscript o when 5 resistors are equal.&#10;Long description 4 is available in notes, Press F6.">
            <a:extLst>
              <a:ext uri="{FF2B5EF4-FFF2-40B4-BE49-F238E27FC236}">
                <a16:creationId xmlns:a16="http://schemas.microsoft.com/office/drawing/2014/main" id="{B6C4BE52-EB6C-5626-A1EE-592B37E32581}"/>
              </a:ext>
            </a:extLst>
          </p:cNvPr>
          <p:cNvGraphicFramePr>
            <a:graphicFrameLocks noChangeAspect="1"/>
          </p:cNvGraphicFramePr>
          <p:nvPr>
            <p:extLst>
              <p:ext uri="{D42A27DB-BD31-4B8C-83A1-F6EECF244321}">
                <p14:modId xmlns:p14="http://schemas.microsoft.com/office/powerpoint/2010/main" val="963172006"/>
              </p:ext>
            </p:extLst>
          </p:nvPr>
        </p:nvGraphicFramePr>
        <p:xfrm>
          <a:off x="1520944" y="5576093"/>
          <a:ext cx="5187950" cy="336550"/>
        </p:xfrm>
        <a:graphic>
          <a:graphicData uri="http://schemas.openxmlformats.org/presentationml/2006/ole">
            <mc:AlternateContent xmlns:mc="http://schemas.openxmlformats.org/markup-compatibility/2006">
              <mc:Choice xmlns:v="urn:schemas-microsoft-com:vml" Requires="v">
                <p:oleObj name="Equation" r:id="rId14" imgW="3517560" imgH="228600" progId="Equation.DSMT4">
                  <p:embed/>
                </p:oleObj>
              </mc:Choice>
              <mc:Fallback>
                <p:oleObj name="Equation" r:id="rId14" imgW="3517560" imgH="228600" progId="Equation.DSMT4">
                  <p:embed/>
                  <p:pic>
                    <p:nvPicPr>
                      <p:cNvPr id="30" name="Object 5">
                        <a:extLst>
                          <a:ext uri="{FF2B5EF4-FFF2-40B4-BE49-F238E27FC236}">
                            <a16:creationId xmlns:a16="http://schemas.microsoft.com/office/drawing/2014/main" id="{4B48D45E-38C8-FB3C-467C-85C6F238F794}"/>
                          </a:ext>
                        </a:extLst>
                      </p:cNvPr>
                      <p:cNvPicPr>
                        <a:picLocks noChangeAspect="1" noChangeArrowheads="1"/>
                      </p:cNvPicPr>
                      <p:nvPr/>
                    </p:nvPicPr>
                    <p:blipFill>
                      <a:blip r:embed="rId15"/>
                      <a:srcRect/>
                      <a:stretch>
                        <a:fillRect/>
                      </a:stretch>
                    </p:blipFill>
                    <p:spPr bwMode="auto">
                      <a:xfrm>
                        <a:off x="1520944" y="5576093"/>
                        <a:ext cx="5187950" cy="336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9737273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56B73-C37E-55D8-9470-2C2E84177875}"/>
              </a:ext>
            </a:extLst>
          </p:cNvPr>
          <p:cNvSpPr>
            <a:spLocks noGrp="1"/>
          </p:cNvSpPr>
          <p:nvPr>
            <p:ph type="title"/>
          </p:nvPr>
        </p:nvSpPr>
        <p:spPr>
          <a:xfrm>
            <a:off x="430305" y="175683"/>
            <a:ext cx="8240620" cy="590349"/>
          </a:xfrm>
        </p:spPr>
        <p:txBody>
          <a:bodyPr/>
          <a:lstStyle/>
          <a:p>
            <a:r>
              <a:rPr lang="en-US" noProof="0" dirty="0"/>
              <a:t>Chapter 5 – Op Amps </a:t>
            </a:r>
            <a:r>
              <a:rPr lang="en-US" sz="2800" noProof="0" dirty="0"/>
              <a:t>(2 of 11)</a:t>
            </a:r>
            <a:endParaRPr lang="en-US" noProof="0" dirty="0"/>
          </a:p>
        </p:txBody>
      </p:sp>
      <p:sp>
        <p:nvSpPr>
          <p:cNvPr id="3" name="Content Placeholder 2">
            <a:extLst>
              <a:ext uri="{FF2B5EF4-FFF2-40B4-BE49-F238E27FC236}">
                <a16:creationId xmlns:a16="http://schemas.microsoft.com/office/drawing/2014/main" id="{45FB771E-54B2-5143-D827-F3354D703397}"/>
              </a:ext>
            </a:extLst>
          </p:cNvPr>
          <p:cNvSpPr>
            <a:spLocks noGrp="1"/>
          </p:cNvSpPr>
          <p:nvPr>
            <p:ph sz="quarter" idx="12"/>
          </p:nvPr>
        </p:nvSpPr>
        <p:spPr>
          <a:xfrm>
            <a:off x="430305" y="926926"/>
            <a:ext cx="4054475" cy="374906"/>
          </a:xfrm>
        </p:spPr>
        <p:txBody>
          <a:bodyPr lIns="0" tIns="18000" rIns="0" bIns="18000" anchor="ctr" anchorCtr="0">
            <a:spAutoFit/>
          </a:bodyPr>
          <a:lstStyle/>
          <a:p>
            <a:pPr marL="0" indent="0">
              <a:buNone/>
            </a:pPr>
            <a:r>
              <a:rPr lang="en-US" sz="2200" noProof="0" dirty="0"/>
              <a:t>Summing Amplifier Example</a:t>
            </a:r>
          </a:p>
        </p:txBody>
      </p:sp>
      <p:sp>
        <p:nvSpPr>
          <p:cNvPr id="4" name="Content Placeholder 3">
            <a:extLst>
              <a:ext uri="{FF2B5EF4-FFF2-40B4-BE49-F238E27FC236}">
                <a16:creationId xmlns:a16="http://schemas.microsoft.com/office/drawing/2014/main" id="{4EB898DB-829B-AB84-ADD1-10D87A46F245}"/>
              </a:ext>
            </a:extLst>
          </p:cNvPr>
          <p:cNvSpPr>
            <a:spLocks noGrp="1"/>
          </p:cNvSpPr>
          <p:nvPr>
            <p:ph sz="quarter" idx="13"/>
          </p:nvPr>
        </p:nvSpPr>
        <p:spPr>
          <a:xfrm>
            <a:off x="753036" y="1538738"/>
            <a:ext cx="609599" cy="374906"/>
          </a:xfrm>
        </p:spPr>
        <p:txBody>
          <a:bodyPr wrap="square" lIns="0" tIns="18000" rIns="0" bIns="18000" anchor="ctr" anchorCtr="0">
            <a:spAutoFit/>
          </a:bodyPr>
          <a:lstStyle/>
          <a:p>
            <a:pPr marL="0" indent="0" algn="just">
              <a:buNone/>
            </a:pPr>
            <a:r>
              <a:rPr lang="en-US" sz="2200" noProof="0" dirty="0"/>
              <a:t>Find</a:t>
            </a:r>
          </a:p>
        </p:txBody>
      </p:sp>
      <p:graphicFrame>
        <p:nvGraphicFramePr>
          <p:cNvPr id="21" name="Object 5" descr="v subscript o.">
            <a:extLst>
              <a:ext uri="{FF2B5EF4-FFF2-40B4-BE49-F238E27FC236}">
                <a16:creationId xmlns:a16="http://schemas.microsoft.com/office/drawing/2014/main" id="{03853CD8-B278-EF6F-9C18-78F5147595A0}"/>
              </a:ext>
            </a:extLst>
          </p:cNvPr>
          <p:cNvGraphicFramePr>
            <a:graphicFrameLocks noChangeAspect="1"/>
          </p:cNvGraphicFramePr>
          <p:nvPr>
            <p:extLst>
              <p:ext uri="{D42A27DB-BD31-4B8C-83A1-F6EECF244321}">
                <p14:modId xmlns:p14="http://schemas.microsoft.com/office/powerpoint/2010/main" val="720128939"/>
              </p:ext>
            </p:extLst>
          </p:nvPr>
        </p:nvGraphicFramePr>
        <p:xfrm>
          <a:off x="1364965" y="1516303"/>
          <a:ext cx="348640" cy="448582"/>
        </p:xfrm>
        <a:graphic>
          <a:graphicData uri="http://schemas.openxmlformats.org/presentationml/2006/ole">
            <mc:AlternateContent xmlns:mc="http://schemas.openxmlformats.org/markup-compatibility/2006">
              <mc:Choice xmlns:v="urn:schemas-microsoft-com:vml" Requires="v">
                <p:oleObj name="Equation" r:id="rId3" imgW="177480" imgH="228600" progId="Equation.DSMT4">
                  <p:embed/>
                </p:oleObj>
              </mc:Choice>
              <mc:Fallback>
                <p:oleObj name="Equation" r:id="rId3" imgW="177480" imgH="228600" progId="Equation.DSMT4">
                  <p:embed/>
                  <p:pic>
                    <p:nvPicPr>
                      <p:cNvPr id="22" name="Object 5">
                        <a:extLst>
                          <a:ext uri="{FF2B5EF4-FFF2-40B4-BE49-F238E27FC236}">
                            <a16:creationId xmlns:a16="http://schemas.microsoft.com/office/drawing/2014/main" id="{3A1097D5-3E70-8C64-0116-5D49D4092352}"/>
                          </a:ext>
                        </a:extLst>
                      </p:cNvPr>
                      <p:cNvPicPr>
                        <a:picLocks noChangeAspect="1" noChangeArrowheads="1"/>
                      </p:cNvPicPr>
                      <p:nvPr/>
                    </p:nvPicPr>
                    <p:blipFill>
                      <a:blip r:embed="rId4"/>
                      <a:srcRect/>
                      <a:stretch>
                        <a:fillRect/>
                      </a:stretch>
                    </p:blipFill>
                    <p:spPr bwMode="auto">
                      <a:xfrm>
                        <a:off x="1364965" y="1516303"/>
                        <a:ext cx="348640" cy="448582"/>
                      </a:xfrm>
                      <a:prstGeom prst="rect">
                        <a:avLst/>
                      </a:prstGeom>
                      <a:noFill/>
                      <a:ln>
                        <a:noFill/>
                      </a:ln>
                      <a:effectLst/>
                    </p:spPr>
                  </p:pic>
                </p:oleObj>
              </mc:Fallback>
            </mc:AlternateContent>
          </a:graphicData>
        </a:graphic>
      </p:graphicFrame>
      <p:sp>
        <p:nvSpPr>
          <p:cNvPr id="5" name="Content Placeholder 4">
            <a:extLst>
              <a:ext uri="{FF2B5EF4-FFF2-40B4-BE49-F238E27FC236}">
                <a16:creationId xmlns:a16="http://schemas.microsoft.com/office/drawing/2014/main" id="{0A51962A-2A00-15DB-95E2-635BD3DE998C}"/>
              </a:ext>
            </a:extLst>
          </p:cNvPr>
          <p:cNvSpPr>
            <a:spLocks noGrp="1"/>
          </p:cNvSpPr>
          <p:nvPr>
            <p:ph sz="quarter" idx="14"/>
          </p:nvPr>
        </p:nvSpPr>
        <p:spPr>
          <a:xfrm>
            <a:off x="1751795" y="1530350"/>
            <a:ext cx="179294" cy="374906"/>
          </a:xfrm>
        </p:spPr>
        <p:txBody>
          <a:bodyPr wrap="square" lIns="0" tIns="18000" rIns="0" bIns="18000" anchor="ctr" anchorCtr="0">
            <a:spAutoFit/>
          </a:bodyPr>
          <a:lstStyle/>
          <a:p>
            <a:pPr marL="0" indent="0">
              <a:buNone/>
            </a:pPr>
            <a:r>
              <a:rPr lang="en-US" sz="2200" noProof="0" dirty="0"/>
              <a:t>if</a:t>
            </a:r>
          </a:p>
        </p:txBody>
      </p:sp>
      <p:graphicFrame>
        <p:nvGraphicFramePr>
          <p:cNvPr id="22" name="Object 5" descr="v subscript a BaseLine equals 0.1 Volts.">
            <a:extLst>
              <a:ext uri="{FF2B5EF4-FFF2-40B4-BE49-F238E27FC236}">
                <a16:creationId xmlns:a16="http://schemas.microsoft.com/office/drawing/2014/main" id="{FA7CB35B-C6BB-3C5A-F4F1-5F71982E422D}"/>
              </a:ext>
            </a:extLst>
          </p:cNvPr>
          <p:cNvGraphicFramePr>
            <a:graphicFrameLocks noChangeAspect="1"/>
          </p:cNvGraphicFramePr>
          <p:nvPr>
            <p:extLst>
              <p:ext uri="{D42A27DB-BD31-4B8C-83A1-F6EECF244321}">
                <p14:modId xmlns:p14="http://schemas.microsoft.com/office/powerpoint/2010/main" val="3057794159"/>
              </p:ext>
            </p:extLst>
          </p:nvPr>
        </p:nvGraphicFramePr>
        <p:xfrm>
          <a:off x="2058325" y="1530350"/>
          <a:ext cx="1468931" cy="448582"/>
        </p:xfrm>
        <a:graphic>
          <a:graphicData uri="http://schemas.openxmlformats.org/presentationml/2006/ole">
            <mc:AlternateContent xmlns:mc="http://schemas.openxmlformats.org/markup-compatibility/2006">
              <mc:Choice xmlns:v="urn:schemas-microsoft-com:vml" Requires="v">
                <p:oleObj name="Equation" r:id="rId5" imgW="749160" imgH="228600" progId="Equation.DSMT4">
                  <p:embed/>
                </p:oleObj>
              </mc:Choice>
              <mc:Fallback>
                <p:oleObj name="Equation" r:id="rId5" imgW="749160" imgH="228600" progId="Equation.DSMT4">
                  <p:embed/>
                  <p:pic>
                    <p:nvPicPr>
                      <p:cNvPr id="23" name="Object 5">
                        <a:extLst>
                          <a:ext uri="{FF2B5EF4-FFF2-40B4-BE49-F238E27FC236}">
                            <a16:creationId xmlns:a16="http://schemas.microsoft.com/office/drawing/2014/main" id="{F50238D3-22FA-7660-3F48-EFFD1D5EE7D2}"/>
                          </a:ext>
                        </a:extLst>
                      </p:cNvPr>
                      <p:cNvPicPr>
                        <a:picLocks noChangeAspect="1" noChangeArrowheads="1"/>
                      </p:cNvPicPr>
                      <p:nvPr/>
                    </p:nvPicPr>
                    <p:blipFill>
                      <a:blip r:embed="rId6"/>
                      <a:srcRect/>
                      <a:stretch>
                        <a:fillRect/>
                      </a:stretch>
                    </p:blipFill>
                    <p:spPr bwMode="auto">
                      <a:xfrm>
                        <a:off x="2058325" y="1530350"/>
                        <a:ext cx="1468931" cy="4485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 name="Content Placeholder 5">
            <a:extLst>
              <a:ext uri="{FF2B5EF4-FFF2-40B4-BE49-F238E27FC236}">
                <a16:creationId xmlns:a16="http://schemas.microsoft.com/office/drawing/2014/main" id="{AEE0CEB1-755D-D540-BDCC-DAA138DFC12F}"/>
              </a:ext>
            </a:extLst>
          </p:cNvPr>
          <p:cNvSpPr>
            <a:spLocks noGrp="1"/>
          </p:cNvSpPr>
          <p:nvPr>
            <p:ph sz="quarter" idx="15"/>
          </p:nvPr>
        </p:nvSpPr>
        <p:spPr>
          <a:xfrm>
            <a:off x="726141" y="2014500"/>
            <a:ext cx="475129" cy="374906"/>
          </a:xfrm>
        </p:spPr>
        <p:txBody>
          <a:bodyPr wrap="square" lIns="0" tIns="18000" rIns="0" bIns="18000" anchor="ctr" anchorCtr="0">
            <a:spAutoFit/>
          </a:bodyPr>
          <a:lstStyle/>
          <a:p>
            <a:pPr marL="0" indent="0">
              <a:buNone/>
            </a:pPr>
            <a:r>
              <a:rPr lang="en-US" sz="2200" noProof="0" dirty="0"/>
              <a:t>and</a:t>
            </a:r>
          </a:p>
        </p:txBody>
      </p:sp>
      <p:graphicFrame>
        <p:nvGraphicFramePr>
          <p:cNvPr id="23" name="Object 5" descr="v subscript b BaseLine equals 0.25 Volts.">
            <a:extLst>
              <a:ext uri="{FF2B5EF4-FFF2-40B4-BE49-F238E27FC236}">
                <a16:creationId xmlns:a16="http://schemas.microsoft.com/office/drawing/2014/main" id="{11D7C030-5E4E-89D4-1BEF-5EE882FACD75}"/>
              </a:ext>
            </a:extLst>
          </p:cNvPr>
          <p:cNvGraphicFramePr>
            <a:graphicFrameLocks noChangeAspect="1"/>
          </p:cNvGraphicFramePr>
          <p:nvPr>
            <p:extLst>
              <p:ext uri="{D42A27DB-BD31-4B8C-83A1-F6EECF244321}">
                <p14:modId xmlns:p14="http://schemas.microsoft.com/office/powerpoint/2010/main" val="1894310340"/>
              </p:ext>
            </p:extLst>
          </p:nvPr>
        </p:nvGraphicFramePr>
        <p:xfrm>
          <a:off x="1364965" y="2030428"/>
          <a:ext cx="1745517" cy="448582"/>
        </p:xfrm>
        <a:graphic>
          <a:graphicData uri="http://schemas.openxmlformats.org/presentationml/2006/ole">
            <mc:AlternateContent xmlns:mc="http://schemas.openxmlformats.org/markup-compatibility/2006">
              <mc:Choice xmlns:v="urn:schemas-microsoft-com:vml" Requires="v">
                <p:oleObj name="Equation" r:id="rId7" imgW="888840" imgH="228600" progId="Equation.DSMT4">
                  <p:embed/>
                </p:oleObj>
              </mc:Choice>
              <mc:Fallback>
                <p:oleObj name="Equation" r:id="rId7" imgW="888840" imgH="228600" progId="Equation.DSMT4">
                  <p:embed/>
                  <p:pic>
                    <p:nvPicPr>
                      <p:cNvPr id="24" name="Object 5">
                        <a:extLst>
                          <a:ext uri="{FF2B5EF4-FFF2-40B4-BE49-F238E27FC236}">
                            <a16:creationId xmlns:a16="http://schemas.microsoft.com/office/drawing/2014/main" id="{D3CA05B7-8F05-B885-102C-DEE98236C617}"/>
                          </a:ext>
                        </a:extLst>
                      </p:cNvPr>
                      <p:cNvPicPr>
                        <a:picLocks noChangeAspect="1" noChangeArrowheads="1"/>
                      </p:cNvPicPr>
                      <p:nvPr/>
                    </p:nvPicPr>
                    <p:blipFill>
                      <a:blip r:embed="rId8"/>
                      <a:srcRect/>
                      <a:stretch>
                        <a:fillRect/>
                      </a:stretch>
                    </p:blipFill>
                    <p:spPr bwMode="auto">
                      <a:xfrm>
                        <a:off x="1364965" y="2030428"/>
                        <a:ext cx="1745517" cy="4485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24" name="Picture 23" descr="A circuit diagram shows an operational amplifier on the right and various resistors on the left. Positive voltage v subscript a is applied to the left terminal of a 5 kilo ohms resistor. Positive voltage v subscript b is applied to the left terminal of a 25 kilo ohms resistor. The right terminals of the 5 kilo ohms and the 25 kilo ohms resistors are joined to form a node and this node is connected to a node on the inverting input wire of the operational amplifier. This node on the inverting input is connected to the output terminal of the operational amplifier through a 250 kilo ohms resistor. A 15 volt voltage is applied to the top vertical terminal of the operational amplifier and minus 10 volts applied to its bottom vertical terminal. Voltage v subscript o exists between the output terminal of the operational amplifier and ground.">
            <a:extLst>
              <a:ext uri="{FF2B5EF4-FFF2-40B4-BE49-F238E27FC236}">
                <a16:creationId xmlns:a16="http://schemas.microsoft.com/office/drawing/2014/main" id="{496C39D0-2302-7FCC-8A33-92055F61CF75}"/>
              </a:ext>
            </a:extLst>
          </p:cNvPr>
          <p:cNvPicPr>
            <a:picLocks noChangeAspect="1"/>
          </p:cNvPicPr>
          <p:nvPr/>
        </p:nvPicPr>
        <p:blipFill>
          <a:blip r:embed="rId9"/>
          <a:stretch>
            <a:fillRect/>
          </a:stretch>
        </p:blipFill>
        <p:spPr>
          <a:xfrm>
            <a:off x="4614582" y="1088907"/>
            <a:ext cx="3958785" cy="2131293"/>
          </a:xfrm>
          <a:prstGeom prst="rect">
            <a:avLst/>
          </a:prstGeom>
        </p:spPr>
      </p:pic>
      <p:graphicFrame>
        <p:nvGraphicFramePr>
          <p:cNvPr id="25" name="Object 5" descr="The figure illustrates an equation for v subscript o in terms of v subscript a and v subscript b.&#10;Long description is available in notes, Press F6.">
            <a:extLst>
              <a:ext uri="{FF2B5EF4-FFF2-40B4-BE49-F238E27FC236}">
                <a16:creationId xmlns:a16="http://schemas.microsoft.com/office/drawing/2014/main" id="{77C43AC3-66B8-92D8-3A04-C2D3F914C18A}"/>
              </a:ext>
            </a:extLst>
          </p:cNvPr>
          <p:cNvGraphicFramePr>
            <a:graphicFrameLocks noChangeAspect="1"/>
          </p:cNvGraphicFramePr>
          <p:nvPr>
            <p:extLst>
              <p:ext uri="{D42A27DB-BD31-4B8C-83A1-F6EECF244321}">
                <p14:modId xmlns:p14="http://schemas.microsoft.com/office/powerpoint/2010/main" val="1095654957"/>
              </p:ext>
            </p:extLst>
          </p:nvPr>
        </p:nvGraphicFramePr>
        <p:xfrm>
          <a:off x="1807126" y="3687377"/>
          <a:ext cx="5486977" cy="749011"/>
        </p:xfrm>
        <a:graphic>
          <a:graphicData uri="http://schemas.openxmlformats.org/presentationml/2006/ole">
            <mc:AlternateContent xmlns:mc="http://schemas.openxmlformats.org/markup-compatibility/2006">
              <mc:Choice xmlns:v="urn:schemas-microsoft-com:vml" Requires="v">
                <p:oleObj name="Equation" r:id="rId10" imgW="3073320" imgH="419040" progId="Equation.DSMT4">
                  <p:embed/>
                </p:oleObj>
              </mc:Choice>
              <mc:Fallback>
                <p:oleObj name="Equation" r:id="rId10" imgW="3073320" imgH="419040" progId="Equation.DSMT4">
                  <p:embed/>
                  <p:pic>
                    <p:nvPicPr>
                      <p:cNvPr id="23" name="Object 5">
                        <a:extLst>
                          <a:ext uri="{FF2B5EF4-FFF2-40B4-BE49-F238E27FC236}">
                            <a16:creationId xmlns:a16="http://schemas.microsoft.com/office/drawing/2014/main" id="{11D7C030-5E4E-89D4-1BEF-5EE882FACD75}"/>
                          </a:ext>
                        </a:extLst>
                      </p:cNvPr>
                      <p:cNvPicPr>
                        <a:picLocks noChangeAspect="1" noChangeArrowheads="1"/>
                      </p:cNvPicPr>
                      <p:nvPr/>
                    </p:nvPicPr>
                    <p:blipFill>
                      <a:blip r:embed="rId11"/>
                      <a:srcRect/>
                      <a:stretch>
                        <a:fillRect/>
                      </a:stretch>
                    </p:blipFill>
                    <p:spPr bwMode="auto">
                      <a:xfrm>
                        <a:off x="1807126" y="3687377"/>
                        <a:ext cx="5486977" cy="7490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 name="Object 5" descr="Therefore, v subscript o BaseLine equals negative 50 OpenParenthesis 0.1 CloseParenthesis minus 10 OpenParenthesis 0.25 CloseParenthesis equals negative 7.5 Volts.">
            <a:extLst>
              <a:ext uri="{FF2B5EF4-FFF2-40B4-BE49-F238E27FC236}">
                <a16:creationId xmlns:a16="http://schemas.microsoft.com/office/drawing/2014/main" id="{6D2EE182-5AC3-1B7B-75BC-D8FD2AF3779D}"/>
              </a:ext>
            </a:extLst>
          </p:cNvPr>
          <p:cNvGraphicFramePr>
            <a:graphicFrameLocks noChangeAspect="1"/>
          </p:cNvGraphicFramePr>
          <p:nvPr>
            <p:extLst>
              <p:ext uri="{D42A27DB-BD31-4B8C-83A1-F6EECF244321}">
                <p14:modId xmlns:p14="http://schemas.microsoft.com/office/powerpoint/2010/main" val="1389985212"/>
              </p:ext>
            </p:extLst>
          </p:nvPr>
        </p:nvGraphicFramePr>
        <p:xfrm>
          <a:off x="1817688" y="4702175"/>
          <a:ext cx="4716462" cy="407988"/>
        </p:xfrm>
        <a:graphic>
          <a:graphicData uri="http://schemas.openxmlformats.org/presentationml/2006/ole">
            <mc:AlternateContent xmlns:mc="http://schemas.openxmlformats.org/markup-compatibility/2006">
              <mc:Choice xmlns:v="urn:schemas-microsoft-com:vml" Requires="v">
                <p:oleObj name="Equation" r:id="rId12" imgW="2641320" imgH="228600" progId="Equation.DSMT4">
                  <p:embed/>
                </p:oleObj>
              </mc:Choice>
              <mc:Fallback>
                <p:oleObj name="Equation" r:id="rId12" imgW="2641320" imgH="228600" progId="Equation.DSMT4">
                  <p:embed/>
                  <p:pic>
                    <p:nvPicPr>
                      <p:cNvPr id="25" name="Object 5">
                        <a:extLst>
                          <a:ext uri="{FF2B5EF4-FFF2-40B4-BE49-F238E27FC236}">
                            <a16:creationId xmlns:a16="http://schemas.microsoft.com/office/drawing/2014/main" id="{77C43AC3-66B8-92D8-3A04-C2D3F914C18A}"/>
                          </a:ext>
                        </a:extLst>
                      </p:cNvPr>
                      <p:cNvPicPr>
                        <a:picLocks noChangeAspect="1" noChangeArrowheads="1"/>
                      </p:cNvPicPr>
                      <p:nvPr/>
                    </p:nvPicPr>
                    <p:blipFill>
                      <a:blip r:embed="rId13"/>
                      <a:srcRect/>
                      <a:stretch>
                        <a:fillRect/>
                      </a:stretch>
                    </p:blipFill>
                    <p:spPr bwMode="auto">
                      <a:xfrm>
                        <a:off x="1817688" y="4702175"/>
                        <a:ext cx="4716462" cy="4079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 name="Content Placeholder 6">
            <a:extLst>
              <a:ext uri="{FF2B5EF4-FFF2-40B4-BE49-F238E27FC236}">
                <a16:creationId xmlns:a16="http://schemas.microsoft.com/office/drawing/2014/main" id="{B40CEF42-4DDF-3F6A-8804-F91CD1FC08F1}"/>
              </a:ext>
            </a:extLst>
          </p:cNvPr>
          <p:cNvSpPr>
            <a:spLocks noGrp="1"/>
          </p:cNvSpPr>
          <p:nvPr>
            <p:ph sz="quarter" idx="16"/>
          </p:nvPr>
        </p:nvSpPr>
        <p:spPr>
          <a:xfrm>
            <a:off x="1841404" y="5349324"/>
            <a:ext cx="254756" cy="374906"/>
          </a:xfrm>
        </p:spPr>
        <p:txBody>
          <a:bodyPr wrap="square" lIns="0" tIns="18000" rIns="0" bIns="18000" anchor="ctr" anchorCtr="0">
            <a:spAutoFit/>
          </a:bodyPr>
          <a:lstStyle/>
          <a:p>
            <a:pPr marL="0" indent="0">
              <a:buNone/>
            </a:pPr>
            <a:r>
              <a:rPr lang="en-US" sz="2200" i="1" noProof="0" dirty="0"/>
              <a:t>Is</a:t>
            </a:r>
          </a:p>
        </p:txBody>
      </p:sp>
      <p:graphicFrame>
        <p:nvGraphicFramePr>
          <p:cNvPr id="28" name="Object 5" descr="negative 10 Volts less than or equal to v subscript o BaseLine less than or equal to 15 Volts?">
            <a:extLst>
              <a:ext uri="{FF2B5EF4-FFF2-40B4-BE49-F238E27FC236}">
                <a16:creationId xmlns:a16="http://schemas.microsoft.com/office/drawing/2014/main" id="{3808C540-F818-F511-E4FB-8DE375CB2373}"/>
              </a:ext>
            </a:extLst>
          </p:cNvPr>
          <p:cNvGraphicFramePr>
            <a:graphicFrameLocks noChangeAspect="1"/>
          </p:cNvGraphicFramePr>
          <p:nvPr>
            <p:extLst>
              <p:ext uri="{D42A27DB-BD31-4B8C-83A1-F6EECF244321}">
                <p14:modId xmlns:p14="http://schemas.microsoft.com/office/powerpoint/2010/main" val="588331419"/>
              </p:ext>
            </p:extLst>
          </p:nvPr>
        </p:nvGraphicFramePr>
        <p:xfrm>
          <a:off x="2806700" y="5349875"/>
          <a:ext cx="2403475" cy="407988"/>
        </p:xfrm>
        <a:graphic>
          <a:graphicData uri="http://schemas.openxmlformats.org/presentationml/2006/ole">
            <mc:AlternateContent xmlns:mc="http://schemas.openxmlformats.org/markup-compatibility/2006">
              <mc:Choice xmlns:v="urn:schemas-microsoft-com:vml" Requires="v">
                <p:oleObj name="Equation" r:id="rId14" imgW="1346040" imgH="228600" progId="Equation.DSMT4">
                  <p:embed/>
                </p:oleObj>
              </mc:Choice>
              <mc:Fallback>
                <p:oleObj name="Equation" r:id="rId14" imgW="1346040" imgH="228600" progId="Equation.DSMT4">
                  <p:embed/>
                  <p:pic>
                    <p:nvPicPr>
                      <p:cNvPr id="26" name="Object 5">
                        <a:extLst>
                          <a:ext uri="{FF2B5EF4-FFF2-40B4-BE49-F238E27FC236}">
                            <a16:creationId xmlns:a16="http://schemas.microsoft.com/office/drawing/2014/main" id="{6D2EE182-5AC3-1B7B-75BC-D8FD2AF3779D}"/>
                          </a:ext>
                        </a:extLst>
                      </p:cNvPr>
                      <p:cNvPicPr>
                        <a:picLocks noChangeAspect="1" noChangeArrowheads="1"/>
                      </p:cNvPicPr>
                      <p:nvPr/>
                    </p:nvPicPr>
                    <p:blipFill>
                      <a:blip r:embed="rId15"/>
                      <a:srcRect/>
                      <a:stretch>
                        <a:fillRect/>
                      </a:stretch>
                    </p:blipFill>
                    <p:spPr bwMode="auto">
                      <a:xfrm>
                        <a:off x="2806700" y="5349875"/>
                        <a:ext cx="2403475" cy="4079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 name="Content Placeholder 7">
            <a:extLst>
              <a:ext uri="{FF2B5EF4-FFF2-40B4-BE49-F238E27FC236}">
                <a16:creationId xmlns:a16="http://schemas.microsoft.com/office/drawing/2014/main" id="{6BD80D8C-273F-0DC1-5D0C-37D99615E872}"/>
              </a:ext>
            </a:extLst>
          </p:cNvPr>
          <p:cNvSpPr>
            <a:spLocks noGrp="1"/>
          </p:cNvSpPr>
          <p:nvPr>
            <p:ph sz="quarter" idx="17"/>
          </p:nvPr>
        </p:nvSpPr>
        <p:spPr>
          <a:xfrm>
            <a:off x="5428577" y="5349324"/>
            <a:ext cx="567018" cy="374906"/>
          </a:xfrm>
        </p:spPr>
        <p:txBody>
          <a:bodyPr wrap="square" lIns="0" tIns="18000" rIns="0" bIns="18000" anchor="ctr" anchorCtr="0">
            <a:spAutoFit/>
          </a:bodyPr>
          <a:lstStyle/>
          <a:p>
            <a:pPr marL="0" indent="0">
              <a:buNone/>
            </a:pPr>
            <a:r>
              <a:rPr lang="en-US" sz="2200" i="1" noProof="0" dirty="0"/>
              <a:t>Yes!</a:t>
            </a:r>
          </a:p>
        </p:txBody>
      </p:sp>
    </p:spTree>
    <p:extLst>
      <p:ext uri="{BB962C8B-B14F-4D97-AF65-F5344CB8AC3E}">
        <p14:creationId xmlns:p14="http://schemas.microsoft.com/office/powerpoint/2010/main" val="27159620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1">
            <a:extLst>
              <a:ext uri="{FF2B5EF4-FFF2-40B4-BE49-F238E27FC236}">
                <a16:creationId xmlns:a16="http://schemas.microsoft.com/office/drawing/2014/main" id="{15DB6712-BC19-E0A9-D4BE-1A125EA02E15}"/>
              </a:ext>
            </a:extLst>
          </p:cNvPr>
          <p:cNvSpPr>
            <a:spLocks noGrp="1"/>
          </p:cNvSpPr>
          <p:nvPr>
            <p:ph type="title"/>
          </p:nvPr>
        </p:nvSpPr>
        <p:spPr>
          <a:xfrm>
            <a:off x="431650" y="163613"/>
            <a:ext cx="8242600" cy="590349"/>
          </a:xfrm>
        </p:spPr>
        <p:txBody>
          <a:bodyPr wrap="square" lIns="0" tIns="18000" rIns="0" bIns="18000" anchor="ctr">
            <a:spAutoFit/>
          </a:bodyPr>
          <a:lstStyle/>
          <a:p>
            <a:r>
              <a:rPr lang="en-US" noProof="0" dirty="0"/>
              <a:t>Chapter 5 – Op Amps </a:t>
            </a:r>
            <a:r>
              <a:rPr lang="en-US" sz="2800" noProof="0" dirty="0"/>
              <a:t>(3 of 11)</a:t>
            </a:r>
          </a:p>
        </p:txBody>
      </p:sp>
      <p:sp>
        <p:nvSpPr>
          <p:cNvPr id="3" name="Content Placeholder 2">
            <a:extLst>
              <a:ext uri="{FF2B5EF4-FFF2-40B4-BE49-F238E27FC236}">
                <a16:creationId xmlns:a16="http://schemas.microsoft.com/office/drawing/2014/main" id="{3030DF4B-2329-788C-DDF3-E9378B5D7670}"/>
              </a:ext>
            </a:extLst>
          </p:cNvPr>
          <p:cNvSpPr>
            <a:spLocks noGrp="1"/>
          </p:cNvSpPr>
          <p:nvPr>
            <p:ph sz="quarter" idx="12"/>
          </p:nvPr>
        </p:nvSpPr>
        <p:spPr>
          <a:xfrm>
            <a:off x="428624" y="923004"/>
            <a:ext cx="8245625" cy="374906"/>
          </a:xfrm>
        </p:spPr>
        <p:txBody>
          <a:bodyPr wrap="square" lIns="0" tIns="18000" rIns="0" bIns="18000" anchor="ctr" anchorCtr="0">
            <a:spAutoFit/>
          </a:bodyPr>
          <a:lstStyle/>
          <a:p>
            <a:pPr marL="0" indent="0">
              <a:buNone/>
            </a:pPr>
            <a:r>
              <a:rPr lang="en-US" sz="2200" noProof="0" dirty="0"/>
              <a:t>Summing Amplifier Example, continued</a:t>
            </a:r>
          </a:p>
        </p:txBody>
      </p:sp>
      <p:sp>
        <p:nvSpPr>
          <p:cNvPr id="4" name="Content Placeholder 3">
            <a:extLst>
              <a:ext uri="{FF2B5EF4-FFF2-40B4-BE49-F238E27FC236}">
                <a16:creationId xmlns:a16="http://schemas.microsoft.com/office/drawing/2014/main" id="{81C61AA2-DF5F-C2A0-5F47-B1B157233971}"/>
              </a:ext>
            </a:extLst>
          </p:cNvPr>
          <p:cNvSpPr>
            <a:spLocks noGrp="1"/>
          </p:cNvSpPr>
          <p:nvPr>
            <p:ph sz="quarter" idx="13"/>
          </p:nvPr>
        </p:nvSpPr>
        <p:spPr>
          <a:xfrm>
            <a:off x="428625" y="1380204"/>
            <a:ext cx="180975" cy="374906"/>
          </a:xfrm>
        </p:spPr>
        <p:txBody>
          <a:bodyPr wrap="square" lIns="0" tIns="18000" rIns="0" bIns="18000" anchor="ctr" anchorCtr="0">
            <a:spAutoFit/>
          </a:bodyPr>
          <a:lstStyle/>
          <a:p>
            <a:pPr marL="0" indent="0">
              <a:buNone/>
            </a:pPr>
            <a:r>
              <a:rPr lang="en-US" sz="2200" noProof="0" dirty="0"/>
              <a:t>If</a:t>
            </a:r>
          </a:p>
        </p:txBody>
      </p:sp>
      <p:graphicFrame>
        <p:nvGraphicFramePr>
          <p:cNvPr id="22" name="Object 5" descr="v subscript b BaseLine equals 0.25 Volts,">
            <a:extLst>
              <a:ext uri="{FF2B5EF4-FFF2-40B4-BE49-F238E27FC236}">
                <a16:creationId xmlns:a16="http://schemas.microsoft.com/office/drawing/2014/main" id="{F2614026-CA8D-E255-6BA3-843C9F6E28AE}"/>
              </a:ext>
            </a:extLst>
          </p:cNvPr>
          <p:cNvGraphicFramePr>
            <a:graphicFrameLocks noChangeAspect="1"/>
          </p:cNvGraphicFramePr>
          <p:nvPr>
            <p:extLst>
              <p:ext uri="{D42A27DB-BD31-4B8C-83A1-F6EECF244321}">
                <p14:modId xmlns:p14="http://schemas.microsoft.com/office/powerpoint/2010/main" val="4191154030"/>
              </p:ext>
            </p:extLst>
          </p:nvPr>
        </p:nvGraphicFramePr>
        <p:xfrm>
          <a:off x="709057" y="1391126"/>
          <a:ext cx="1583849" cy="408623"/>
        </p:xfrm>
        <a:graphic>
          <a:graphicData uri="http://schemas.openxmlformats.org/presentationml/2006/ole">
            <mc:AlternateContent xmlns:mc="http://schemas.openxmlformats.org/markup-compatibility/2006">
              <mc:Choice xmlns:v="urn:schemas-microsoft-com:vml" Requires="v">
                <p:oleObj name="Equation" r:id="rId2" imgW="888840" imgH="228600" progId="Equation.DSMT4">
                  <p:embed/>
                </p:oleObj>
              </mc:Choice>
              <mc:Fallback>
                <p:oleObj name="Equation" r:id="rId2" imgW="888840" imgH="228600" progId="Equation.DSMT4">
                  <p:embed/>
                  <p:pic>
                    <p:nvPicPr>
                      <p:cNvPr id="22" name="Object 5">
                        <a:extLst>
                          <a:ext uri="{FF2B5EF4-FFF2-40B4-BE49-F238E27FC236}">
                            <a16:creationId xmlns:a16="http://schemas.microsoft.com/office/drawing/2014/main" id="{AF7C9048-0D03-8782-1765-8ED8461158B5}"/>
                          </a:ext>
                        </a:extLst>
                      </p:cNvPr>
                      <p:cNvPicPr>
                        <a:picLocks noChangeAspect="1" noChangeArrowheads="1"/>
                      </p:cNvPicPr>
                      <p:nvPr/>
                    </p:nvPicPr>
                    <p:blipFill>
                      <a:blip r:embed="rId3"/>
                      <a:srcRect/>
                      <a:stretch>
                        <a:fillRect/>
                      </a:stretch>
                    </p:blipFill>
                    <p:spPr bwMode="auto">
                      <a:xfrm>
                        <a:off x="709057" y="1391126"/>
                        <a:ext cx="1583849" cy="40862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 name="Content Placeholder 4">
            <a:extLst>
              <a:ext uri="{FF2B5EF4-FFF2-40B4-BE49-F238E27FC236}">
                <a16:creationId xmlns:a16="http://schemas.microsoft.com/office/drawing/2014/main" id="{B29D7A9D-0B3F-48AB-829F-4571693C2E1A}"/>
              </a:ext>
            </a:extLst>
          </p:cNvPr>
          <p:cNvSpPr>
            <a:spLocks noGrp="1"/>
          </p:cNvSpPr>
          <p:nvPr>
            <p:ph sz="quarter" idx="14"/>
          </p:nvPr>
        </p:nvSpPr>
        <p:spPr>
          <a:xfrm>
            <a:off x="2409906" y="1382267"/>
            <a:ext cx="1695370" cy="374906"/>
          </a:xfrm>
        </p:spPr>
        <p:txBody>
          <a:bodyPr wrap="square" lIns="0" tIns="18000" rIns="0" bIns="18000" anchor="ctr" anchorCtr="0">
            <a:spAutoFit/>
          </a:bodyPr>
          <a:lstStyle/>
          <a:p>
            <a:pPr marL="0" indent="0">
              <a:buNone/>
            </a:pPr>
            <a:r>
              <a:rPr lang="en-US" sz="2200" noProof="0" dirty="0"/>
              <a:t>what positive</a:t>
            </a:r>
          </a:p>
        </p:txBody>
      </p:sp>
      <p:sp>
        <p:nvSpPr>
          <p:cNvPr id="6" name="Content Placeholder 5">
            <a:extLst>
              <a:ext uri="{FF2B5EF4-FFF2-40B4-BE49-F238E27FC236}">
                <a16:creationId xmlns:a16="http://schemas.microsoft.com/office/drawing/2014/main" id="{6721E3C7-5B2C-F5BE-1EDD-0CFB5F43989C}"/>
              </a:ext>
            </a:extLst>
          </p:cNvPr>
          <p:cNvSpPr>
            <a:spLocks noGrp="1"/>
          </p:cNvSpPr>
          <p:nvPr>
            <p:ph sz="quarter" idx="15"/>
          </p:nvPr>
        </p:nvSpPr>
        <p:spPr>
          <a:xfrm>
            <a:off x="428626" y="1808829"/>
            <a:ext cx="1009650" cy="374906"/>
          </a:xfrm>
        </p:spPr>
        <p:txBody>
          <a:bodyPr wrap="square" lIns="0" tIns="18000" rIns="0" bIns="18000" anchor="ctr" anchorCtr="0">
            <a:spAutoFit/>
          </a:bodyPr>
          <a:lstStyle/>
          <a:p>
            <a:pPr marL="0" indent="0">
              <a:buNone/>
            </a:pPr>
            <a:r>
              <a:rPr lang="en-US" sz="2200" noProof="0" dirty="0"/>
              <a:t>value of</a:t>
            </a:r>
          </a:p>
        </p:txBody>
      </p:sp>
      <p:graphicFrame>
        <p:nvGraphicFramePr>
          <p:cNvPr id="23" name="Object 5" descr="v subscript a.">
            <a:extLst>
              <a:ext uri="{FF2B5EF4-FFF2-40B4-BE49-F238E27FC236}">
                <a16:creationId xmlns:a16="http://schemas.microsoft.com/office/drawing/2014/main" id="{45F035EA-B580-251F-E4CC-667BF0279229}"/>
              </a:ext>
            </a:extLst>
          </p:cNvPr>
          <p:cNvGraphicFramePr>
            <a:graphicFrameLocks noChangeAspect="1"/>
          </p:cNvGraphicFramePr>
          <p:nvPr>
            <p:extLst>
              <p:ext uri="{D42A27DB-BD31-4B8C-83A1-F6EECF244321}">
                <p14:modId xmlns:p14="http://schemas.microsoft.com/office/powerpoint/2010/main" val="4079152998"/>
              </p:ext>
            </p:extLst>
          </p:nvPr>
        </p:nvGraphicFramePr>
        <p:xfrm>
          <a:off x="1533525" y="1819275"/>
          <a:ext cx="315913" cy="409575"/>
        </p:xfrm>
        <a:graphic>
          <a:graphicData uri="http://schemas.openxmlformats.org/presentationml/2006/ole">
            <mc:AlternateContent xmlns:mc="http://schemas.openxmlformats.org/markup-compatibility/2006">
              <mc:Choice xmlns:v="urn:schemas-microsoft-com:vml" Requires="v">
                <p:oleObj name="Equation" r:id="rId4" imgW="177480" imgH="228600" progId="Equation.DSMT4">
                  <p:embed/>
                </p:oleObj>
              </mc:Choice>
              <mc:Fallback>
                <p:oleObj name="Equation" r:id="rId4" imgW="177480" imgH="228600" progId="Equation.DSMT4">
                  <p:embed/>
                  <p:pic>
                    <p:nvPicPr>
                      <p:cNvPr id="22" name="Object 5">
                        <a:extLst>
                          <a:ext uri="{FF2B5EF4-FFF2-40B4-BE49-F238E27FC236}">
                            <a16:creationId xmlns:a16="http://schemas.microsoft.com/office/drawing/2014/main" id="{F2614026-CA8D-E255-6BA3-843C9F6E28AE}"/>
                          </a:ext>
                        </a:extLst>
                      </p:cNvPr>
                      <p:cNvPicPr>
                        <a:picLocks noChangeAspect="1" noChangeArrowheads="1"/>
                      </p:cNvPicPr>
                      <p:nvPr/>
                    </p:nvPicPr>
                    <p:blipFill>
                      <a:blip r:embed="rId5"/>
                      <a:srcRect/>
                      <a:stretch>
                        <a:fillRect/>
                      </a:stretch>
                    </p:blipFill>
                    <p:spPr bwMode="auto">
                      <a:xfrm>
                        <a:off x="1533525" y="1819275"/>
                        <a:ext cx="315913" cy="409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 name="Content Placeholder 6">
            <a:extLst>
              <a:ext uri="{FF2B5EF4-FFF2-40B4-BE49-F238E27FC236}">
                <a16:creationId xmlns:a16="http://schemas.microsoft.com/office/drawing/2014/main" id="{C22A347F-7C82-4EE2-A376-B1EAD852BB7A}"/>
              </a:ext>
            </a:extLst>
          </p:cNvPr>
          <p:cNvSpPr>
            <a:spLocks noGrp="1"/>
          </p:cNvSpPr>
          <p:nvPr>
            <p:ph sz="quarter" idx="16"/>
          </p:nvPr>
        </p:nvSpPr>
        <p:spPr>
          <a:xfrm>
            <a:off x="1944687" y="1819275"/>
            <a:ext cx="2555876" cy="374906"/>
          </a:xfrm>
        </p:spPr>
        <p:txBody>
          <a:bodyPr wrap="square" lIns="0" tIns="18000" rIns="0" bIns="18000" anchor="ctr" anchorCtr="0">
            <a:spAutoFit/>
          </a:bodyPr>
          <a:lstStyle/>
          <a:p>
            <a:pPr marL="0" indent="0">
              <a:buNone/>
            </a:pPr>
            <a:r>
              <a:rPr lang="en-US" sz="2200" noProof="0" dirty="0"/>
              <a:t>causes the op amp</a:t>
            </a:r>
          </a:p>
        </p:txBody>
      </p:sp>
      <p:sp>
        <p:nvSpPr>
          <p:cNvPr id="8" name="Content Placeholder 7">
            <a:extLst>
              <a:ext uri="{FF2B5EF4-FFF2-40B4-BE49-F238E27FC236}">
                <a16:creationId xmlns:a16="http://schemas.microsoft.com/office/drawing/2014/main" id="{F6083DD8-F6C1-E73F-C732-C40D72193887}"/>
              </a:ext>
            </a:extLst>
          </p:cNvPr>
          <p:cNvSpPr>
            <a:spLocks noGrp="1"/>
          </p:cNvSpPr>
          <p:nvPr>
            <p:ph sz="quarter" idx="17"/>
          </p:nvPr>
        </p:nvSpPr>
        <p:spPr>
          <a:xfrm>
            <a:off x="428625" y="2288120"/>
            <a:ext cx="1487487" cy="374906"/>
          </a:xfrm>
        </p:spPr>
        <p:txBody>
          <a:bodyPr wrap="square" lIns="0" tIns="18000" rIns="0" bIns="18000" anchor="ctr" anchorCtr="0">
            <a:spAutoFit/>
          </a:bodyPr>
          <a:lstStyle/>
          <a:p>
            <a:pPr marL="0" indent="0">
              <a:buNone/>
            </a:pPr>
            <a:r>
              <a:rPr lang="en-US" sz="2200" noProof="0" dirty="0"/>
              <a:t>to saturate?</a:t>
            </a:r>
          </a:p>
        </p:txBody>
      </p:sp>
      <p:pic>
        <p:nvPicPr>
          <p:cNvPr id="33" name="Picture 32" descr="A circuit diagram shows an operational amplifier on the right and various resistors on the left. Positive voltage v subscript a is applied to the left terminal of a 5 kilo ohms resistor. Positive voltage v subscript b is applied to the left terminal of a 25 kilo ohms resistor. The right terminals of the 5 kilo ohms and the 25 kilo ohms resistors are joined to form a node and this node is connected to a node on the inverting input wire of the operational amplifier. This node on the inverting input is connected to the output terminal of the operational amplifier through a 250 kilo ohms resistor. A 15 volt voltage is applied to the top vertical terminal of the operational amplifier and minus 10 volts applied to its bottom vertical terminal. Voltage v subscript o exists between the output terminal of the operational amplifier and ground.">
            <a:extLst>
              <a:ext uri="{FF2B5EF4-FFF2-40B4-BE49-F238E27FC236}">
                <a16:creationId xmlns:a16="http://schemas.microsoft.com/office/drawing/2014/main" id="{CCDE65D3-F0A9-A49C-F2D9-38918CC2E6E0}"/>
              </a:ext>
            </a:extLst>
          </p:cNvPr>
          <p:cNvPicPr>
            <a:picLocks noChangeAspect="1"/>
          </p:cNvPicPr>
          <p:nvPr/>
        </p:nvPicPr>
        <p:blipFill>
          <a:blip r:embed="rId6"/>
          <a:stretch>
            <a:fillRect/>
          </a:stretch>
        </p:blipFill>
        <p:spPr>
          <a:xfrm>
            <a:off x="4852239" y="1452004"/>
            <a:ext cx="3564011" cy="1918759"/>
          </a:xfrm>
          <a:prstGeom prst="rect">
            <a:avLst/>
          </a:prstGeom>
        </p:spPr>
      </p:pic>
      <p:graphicFrame>
        <p:nvGraphicFramePr>
          <p:cNvPr id="26" name="Object 5" descr="v subscript o BaseLine equals negative 50 v subscript a BaseLine minus 10 multiplied by OpenParenthesis 0.25 CloseParenthesis equals negative 50 v subscript a BaseLine minus 2.5 equals negative 10 Volts.">
            <a:extLst>
              <a:ext uri="{FF2B5EF4-FFF2-40B4-BE49-F238E27FC236}">
                <a16:creationId xmlns:a16="http://schemas.microsoft.com/office/drawing/2014/main" id="{0BF77EBF-6E7D-17F8-19A2-71CCAF48F5F5}"/>
              </a:ext>
            </a:extLst>
          </p:cNvPr>
          <p:cNvGraphicFramePr>
            <a:graphicFrameLocks noChangeAspect="1"/>
          </p:cNvGraphicFramePr>
          <p:nvPr>
            <p:extLst>
              <p:ext uri="{D42A27DB-BD31-4B8C-83A1-F6EECF244321}">
                <p14:modId xmlns:p14="http://schemas.microsoft.com/office/powerpoint/2010/main" val="4084949542"/>
              </p:ext>
            </p:extLst>
          </p:nvPr>
        </p:nvGraphicFramePr>
        <p:xfrm>
          <a:off x="1355725" y="4111625"/>
          <a:ext cx="5227638" cy="407988"/>
        </p:xfrm>
        <a:graphic>
          <a:graphicData uri="http://schemas.openxmlformats.org/presentationml/2006/ole">
            <mc:AlternateContent xmlns:mc="http://schemas.openxmlformats.org/markup-compatibility/2006">
              <mc:Choice xmlns:v="urn:schemas-microsoft-com:vml" Requires="v">
                <p:oleObj name="Equation" r:id="rId7" imgW="2933640" imgH="228600" progId="Equation.DSMT4">
                  <p:embed/>
                </p:oleObj>
              </mc:Choice>
              <mc:Fallback>
                <p:oleObj name="Equation" r:id="rId7" imgW="2933640" imgH="228600" progId="Equation.DSMT4">
                  <p:embed/>
                  <p:pic>
                    <p:nvPicPr>
                      <p:cNvPr id="22" name="Object 5">
                        <a:extLst>
                          <a:ext uri="{FF2B5EF4-FFF2-40B4-BE49-F238E27FC236}">
                            <a16:creationId xmlns:a16="http://schemas.microsoft.com/office/drawing/2014/main" id="{F2614026-CA8D-E255-6BA3-843C9F6E28AE}"/>
                          </a:ext>
                        </a:extLst>
                      </p:cNvPr>
                      <p:cNvPicPr>
                        <a:picLocks noChangeAspect="1" noChangeArrowheads="1"/>
                      </p:cNvPicPr>
                      <p:nvPr/>
                    </p:nvPicPr>
                    <p:blipFill>
                      <a:blip r:embed="rId8"/>
                      <a:srcRect/>
                      <a:stretch>
                        <a:fillRect/>
                      </a:stretch>
                    </p:blipFill>
                    <p:spPr bwMode="auto">
                      <a:xfrm>
                        <a:off x="1355725" y="4111625"/>
                        <a:ext cx="5227638" cy="4079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 name="Object 5" descr="Therefore, v subscript a BaseLine equals StartFraction negative 10 plus 2.5 over negative 50 EndFraction equals 0.15 Volts.">
            <a:extLst>
              <a:ext uri="{FF2B5EF4-FFF2-40B4-BE49-F238E27FC236}">
                <a16:creationId xmlns:a16="http://schemas.microsoft.com/office/drawing/2014/main" id="{25B82456-C911-F33C-2090-9FBE352CD56C}"/>
              </a:ext>
            </a:extLst>
          </p:cNvPr>
          <p:cNvGraphicFramePr>
            <a:graphicFrameLocks noChangeAspect="1"/>
          </p:cNvGraphicFramePr>
          <p:nvPr>
            <p:extLst>
              <p:ext uri="{D42A27DB-BD31-4B8C-83A1-F6EECF244321}">
                <p14:modId xmlns:p14="http://schemas.microsoft.com/office/powerpoint/2010/main" val="2937554716"/>
              </p:ext>
            </p:extLst>
          </p:nvPr>
        </p:nvGraphicFramePr>
        <p:xfrm>
          <a:off x="1400175" y="4691063"/>
          <a:ext cx="3598863" cy="703262"/>
        </p:xfrm>
        <a:graphic>
          <a:graphicData uri="http://schemas.openxmlformats.org/presentationml/2006/ole">
            <mc:AlternateContent xmlns:mc="http://schemas.openxmlformats.org/markup-compatibility/2006">
              <mc:Choice xmlns:v="urn:schemas-microsoft-com:vml" Requires="v">
                <p:oleObj name="Equation" r:id="rId9" imgW="2019240" imgH="393480" progId="Equation.DSMT4">
                  <p:embed/>
                </p:oleObj>
              </mc:Choice>
              <mc:Fallback>
                <p:oleObj name="Equation" r:id="rId9" imgW="2019240" imgH="393480" progId="Equation.DSMT4">
                  <p:embed/>
                  <p:pic>
                    <p:nvPicPr>
                      <p:cNvPr id="26" name="Object 5">
                        <a:extLst>
                          <a:ext uri="{FF2B5EF4-FFF2-40B4-BE49-F238E27FC236}">
                            <a16:creationId xmlns:a16="http://schemas.microsoft.com/office/drawing/2014/main" id="{0BF77EBF-6E7D-17F8-19A2-71CCAF48F5F5}"/>
                          </a:ext>
                        </a:extLst>
                      </p:cNvPr>
                      <p:cNvPicPr>
                        <a:picLocks noChangeAspect="1" noChangeArrowheads="1"/>
                      </p:cNvPicPr>
                      <p:nvPr/>
                    </p:nvPicPr>
                    <p:blipFill>
                      <a:blip r:embed="rId10"/>
                      <a:srcRect/>
                      <a:stretch>
                        <a:fillRect/>
                      </a:stretch>
                    </p:blipFill>
                    <p:spPr bwMode="auto">
                      <a:xfrm>
                        <a:off x="1400175" y="4691063"/>
                        <a:ext cx="3598863" cy="7032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9072415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1">
            <a:extLst>
              <a:ext uri="{FF2B5EF4-FFF2-40B4-BE49-F238E27FC236}">
                <a16:creationId xmlns:a16="http://schemas.microsoft.com/office/drawing/2014/main" id="{9B418DBC-60DC-1DC3-AADA-3EAD69BB6813}"/>
              </a:ext>
            </a:extLst>
          </p:cNvPr>
          <p:cNvSpPr>
            <a:spLocks noGrp="1"/>
          </p:cNvSpPr>
          <p:nvPr>
            <p:ph type="title"/>
          </p:nvPr>
        </p:nvSpPr>
        <p:spPr>
          <a:xfrm>
            <a:off x="431650" y="163613"/>
            <a:ext cx="8242600" cy="590349"/>
          </a:xfrm>
        </p:spPr>
        <p:txBody>
          <a:bodyPr wrap="square" lIns="0" tIns="18000" rIns="0" bIns="18000" anchor="ctr">
            <a:spAutoFit/>
          </a:bodyPr>
          <a:lstStyle/>
          <a:p>
            <a:r>
              <a:rPr lang="en-US" noProof="0" dirty="0"/>
              <a:t>Chapter 5 – Op Amps </a:t>
            </a:r>
            <a:r>
              <a:rPr lang="en-US" sz="2800" noProof="0" dirty="0"/>
              <a:t>(4 of 11)</a:t>
            </a:r>
          </a:p>
        </p:txBody>
      </p:sp>
      <p:sp>
        <p:nvSpPr>
          <p:cNvPr id="3" name="Content Placeholder 2">
            <a:extLst>
              <a:ext uri="{FF2B5EF4-FFF2-40B4-BE49-F238E27FC236}">
                <a16:creationId xmlns:a16="http://schemas.microsoft.com/office/drawing/2014/main" id="{D7EC70CB-17E2-EB19-89A3-A5C5D74C39ED}"/>
              </a:ext>
            </a:extLst>
          </p:cNvPr>
          <p:cNvSpPr>
            <a:spLocks noGrp="1"/>
          </p:cNvSpPr>
          <p:nvPr>
            <p:ph sz="quarter" idx="12"/>
          </p:nvPr>
        </p:nvSpPr>
        <p:spPr>
          <a:xfrm>
            <a:off x="428625" y="923004"/>
            <a:ext cx="8245625" cy="374906"/>
          </a:xfrm>
        </p:spPr>
        <p:txBody>
          <a:bodyPr wrap="square" lIns="0" tIns="18000" rIns="0" bIns="18000" anchor="ctr" anchorCtr="0">
            <a:spAutoFit/>
          </a:bodyPr>
          <a:lstStyle/>
          <a:p>
            <a:pPr marL="0" indent="0">
              <a:buNone/>
            </a:pPr>
            <a:r>
              <a:rPr lang="en-US" sz="2200" noProof="0" dirty="0"/>
              <a:t>Summing Amplifier Example, continued</a:t>
            </a:r>
          </a:p>
        </p:txBody>
      </p:sp>
      <p:sp>
        <p:nvSpPr>
          <p:cNvPr id="4" name="Content Placeholder 3">
            <a:extLst>
              <a:ext uri="{FF2B5EF4-FFF2-40B4-BE49-F238E27FC236}">
                <a16:creationId xmlns:a16="http://schemas.microsoft.com/office/drawing/2014/main" id="{31033AD6-15B0-D0EC-1493-8F38EABC05B3}"/>
              </a:ext>
            </a:extLst>
          </p:cNvPr>
          <p:cNvSpPr>
            <a:spLocks noGrp="1"/>
          </p:cNvSpPr>
          <p:nvPr>
            <p:ph sz="quarter" idx="13"/>
          </p:nvPr>
        </p:nvSpPr>
        <p:spPr>
          <a:xfrm>
            <a:off x="428626" y="1464969"/>
            <a:ext cx="666750" cy="374906"/>
          </a:xfrm>
        </p:spPr>
        <p:txBody>
          <a:bodyPr wrap="square" lIns="0" tIns="18000" rIns="0" bIns="18000" anchor="ctr" anchorCtr="0">
            <a:spAutoFit/>
          </a:bodyPr>
          <a:lstStyle/>
          <a:p>
            <a:pPr marL="0" indent="0">
              <a:buNone/>
            </a:pPr>
            <a:r>
              <a:rPr lang="en-US" sz="2200" noProof="0" dirty="0"/>
              <a:t>If the</a:t>
            </a:r>
          </a:p>
        </p:txBody>
      </p:sp>
      <p:graphicFrame>
        <p:nvGraphicFramePr>
          <p:cNvPr id="22" name="Object 5" descr="250 kilo-Ohms.">
            <a:extLst>
              <a:ext uri="{FF2B5EF4-FFF2-40B4-BE49-F238E27FC236}">
                <a16:creationId xmlns:a16="http://schemas.microsoft.com/office/drawing/2014/main" id="{AF7C9048-0D03-8782-1765-8ED8461158B5}"/>
              </a:ext>
            </a:extLst>
          </p:cNvPr>
          <p:cNvGraphicFramePr>
            <a:graphicFrameLocks noChangeAspect="1"/>
          </p:cNvGraphicFramePr>
          <p:nvPr>
            <p:extLst>
              <p:ext uri="{D42A27DB-BD31-4B8C-83A1-F6EECF244321}">
                <p14:modId xmlns:p14="http://schemas.microsoft.com/office/powerpoint/2010/main" val="2224211154"/>
              </p:ext>
            </p:extLst>
          </p:nvPr>
        </p:nvGraphicFramePr>
        <p:xfrm>
          <a:off x="1153470" y="1527571"/>
          <a:ext cx="885523" cy="288132"/>
        </p:xfrm>
        <a:graphic>
          <a:graphicData uri="http://schemas.openxmlformats.org/presentationml/2006/ole">
            <mc:AlternateContent xmlns:mc="http://schemas.openxmlformats.org/markup-compatibility/2006">
              <mc:Choice xmlns:v="urn:schemas-microsoft-com:vml" Requires="v">
                <p:oleObj name="Equation" r:id="rId3" imgW="545760" imgH="177480" progId="Equation.DSMT4">
                  <p:embed/>
                </p:oleObj>
              </mc:Choice>
              <mc:Fallback>
                <p:oleObj name="Equation" r:id="rId3" imgW="545760" imgH="177480" progId="Equation.DSMT4">
                  <p:embed/>
                  <p:pic>
                    <p:nvPicPr>
                      <p:cNvPr id="2" name="Object 5">
                        <a:extLst>
                          <a:ext uri="{FF2B5EF4-FFF2-40B4-BE49-F238E27FC236}">
                            <a16:creationId xmlns:a16="http://schemas.microsoft.com/office/drawing/2014/main" id="{EC04052B-2B62-3454-A94A-179BB71EECF6}"/>
                          </a:ext>
                        </a:extLst>
                      </p:cNvPr>
                      <p:cNvPicPr>
                        <a:picLocks noChangeAspect="1" noChangeArrowheads="1"/>
                      </p:cNvPicPr>
                      <p:nvPr/>
                    </p:nvPicPr>
                    <p:blipFill>
                      <a:blip r:embed="rId4"/>
                      <a:srcRect/>
                      <a:stretch>
                        <a:fillRect/>
                      </a:stretch>
                    </p:blipFill>
                    <p:spPr bwMode="auto">
                      <a:xfrm>
                        <a:off x="1153470" y="1527571"/>
                        <a:ext cx="885523" cy="2881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 name="Content Placeholder 4">
            <a:extLst>
              <a:ext uri="{FF2B5EF4-FFF2-40B4-BE49-F238E27FC236}">
                <a16:creationId xmlns:a16="http://schemas.microsoft.com/office/drawing/2014/main" id="{71B75069-3948-9B6B-0467-C67B8B51E92E}"/>
              </a:ext>
            </a:extLst>
          </p:cNvPr>
          <p:cNvSpPr>
            <a:spLocks noGrp="1"/>
          </p:cNvSpPr>
          <p:nvPr>
            <p:ph sz="quarter" idx="14"/>
          </p:nvPr>
        </p:nvSpPr>
        <p:spPr>
          <a:xfrm>
            <a:off x="2127250" y="1455609"/>
            <a:ext cx="2435225" cy="374906"/>
          </a:xfrm>
        </p:spPr>
        <p:txBody>
          <a:bodyPr wrap="square" lIns="0" tIns="18000" rIns="0" bIns="18000" anchor="ctr" anchorCtr="0">
            <a:spAutoFit/>
          </a:bodyPr>
          <a:lstStyle/>
          <a:p>
            <a:pPr marL="0" indent="0">
              <a:buNone/>
            </a:pPr>
            <a:r>
              <a:rPr lang="en-US" sz="2200" noProof="0" dirty="0"/>
              <a:t>feedback resistor is</a:t>
            </a:r>
          </a:p>
        </p:txBody>
      </p:sp>
      <p:sp>
        <p:nvSpPr>
          <p:cNvPr id="6" name="Content Placeholder 5">
            <a:extLst>
              <a:ext uri="{FF2B5EF4-FFF2-40B4-BE49-F238E27FC236}">
                <a16:creationId xmlns:a16="http://schemas.microsoft.com/office/drawing/2014/main" id="{9D71F9D8-9BBD-07ED-22E7-3D4FF2432C84}"/>
              </a:ext>
            </a:extLst>
          </p:cNvPr>
          <p:cNvSpPr>
            <a:spLocks noGrp="1"/>
          </p:cNvSpPr>
          <p:nvPr>
            <p:ph sz="quarter" idx="15"/>
          </p:nvPr>
        </p:nvSpPr>
        <p:spPr>
          <a:xfrm>
            <a:off x="428625" y="1876246"/>
            <a:ext cx="4214813" cy="713460"/>
          </a:xfrm>
        </p:spPr>
        <p:txBody>
          <a:bodyPr wrap="square" lIns="0" tIns="18000" rIns="0" bIns="18000" anchor="ctr" anchorCtr="0">
            <a:spAutoFit/>
          </a:bodyPr>
          <a:lstStyle/>
          <a:p>
            <a:pPr marL="0" indent="0">
              <a:buNone/>
            </a:pPr>
            <a:r>
              <a:rPr lang="en-US" sz="2200" noProof="0" dirty="0"/>
              <a:t>replaced with a variable resistor, how large can it be before the op</a:t>
            </a:r>
          </a:p>
        </p:txBody>
      </p:sp>
      <p:sp>
        <p:nvSpPr>
          <p:cNvPr id="7" name="Content Placeholder 6">
            <a:extLst>
              <a:ext uri="{FF2B5EF4-FFF2-40B4-BE49-F238E27FC236}">
                <a16:creationId xmlns:a16="http://schemas.microsoft.com/office/drawing/2014/main" id="{054E046A-0355-D699-960F-9D16869A8160}"/>
              </a:ext>
            </a:extLst>
          </p:cNvPr>
          <p:cNvSpPr>
            <a:spLocks noGrp="1"/>
          </p:cNvSpPr>
          <p:nvPr>
            <p:ph sz="quarter" idx="16"/>
          </p:nvPr>
        </p:nvSpPr>
        <p:spPr>
          <a:xfrm>
            <a:off x="431650" y="2683265"/>
            <a:ext cx="3063875" cy="374906"/>
          </a:xfrm>
        </p:spPr>
        <p:txBody>
          <a:bodyPr wrap="square" lIns="0" tIns="18000" rIns="0" bIns="18000" anchor="ctr" anchorCtr="0">
            <a:spAutoFit/>
          </a:bodyPr>
          <a:lstStyle/>
          <a:p>
            <a:pPr marL="0" indent="0">
              <a:buNone/>
            </a:pPr>
            <a:r>
              <a:rPr lang="en-US" sz="2200" noProof="0" dirty="0"/>
              <a:t>amp saturates? Assume</a:t>
            </a:r>
          </a:p>
        </p:txBody>
      </p:sp>
      <p:graphicFrame>
        <p:nvGraphicFramePr>
          <p:cNvPr id="23" name="Object 5" descr="v subscript a BaseLine equals 0.1 Volts.">
            <a:extLst>
              <a:ext uri="{FF2B5EF4-FFF2-40B4-BE49-F238E27FC236}">
                <a16:creationId xmlns:a16="http://schemas.microsoft.com/office/drawing/2014/main" id="{A88C09E3-3BAC-F8EC-3226-ACB4524075AF}"/>
              </a:ext>
            </a:extLst>
          </p:cNvPr>
          <p:cNvGraphicFramePr>
            <a:graphicFrameLocks noChangeAspect="1"/>
          </p:cNvGraphicFramePr>
          <p:nvPr>
            <p:extLst>
              <p:ext uri="{D42A27DB-BD31-4B8C-83A1-F6EECF244321}">
                <p14:modId xmlns:p14="http://schemas.microsoft.com/office/powerpoint/2010/main" val="1372147138"/>
              </p:ext>
            </p:extLst>
          </p:nvPr>
        </p:nvGraphicFramePr>
        <p:xfrm>
          <a:off x="415925" y="3171825"/>
          <a:ext cx="1335088" cy="407988"/>
        </p:xfrm>
        <a:graphic>
          <a:graphicData uri="http://schemas.openxmlformats.org/presentationml/2006/ole">
            <mc:AlternateContent xmlns:mc="http://schemas.openxmlformats.org/markup-compatibility/2006">
              <mc:Choice xmlns:v="urn:schemas-microsoft-com:vml" Requires="v">
                <p:oleObj name="Equation" r:id="rId5" imgW="749160" imgH="228600" progId="Equation.DSMT4">
                  <p:embed/>
                </p:oleObj>
              </mc:Choice>
              <mc:Fallback>
                <p:oleObj name="Equation" r:id="rId5" imgW="749160" imgH="228600" progId="Equation.DSMT4">
                  <p:embed/>
                  <p:pic>
                    <p:nvPicPr>
                      <p:cNvPr id="2" name="Object 5">
                        <a:extLst>
                          <a:ext uri="{FF2B5EF4-FFF2-40B4-BE49-F238E27FC236}">
                            <a16:creationId xmlns:a16="http://schemas.microsoft.com/office/drawing/2014/main" id="{EC04052B-2B62-3454-A94A-179BB71EECF6}"/>
                          </a:ext>
                        </a:extLst>
                      </p:cNvPr>
                      <p:cNvPicPr>
                        <a:picLocks noChangeAspect="1" noChangeArrowheads="1"/>
                      </p:cNvPicPr>
                      <p:nvPr/>
                    </p:nvPicPr>
                    <p:blipFill>
                      <a:blip r:embed="rId6"/>
                      <a:srcRect/>
                      <a:stretch>
                        <a:fillRect/>
                      </a:stretch>
                    </p:blipFill>
                    <p:spPr bwMode="auto">
                      <a:xfrm>
                        <a:off x="415925" y="3171825"/>
                        <a:ext cx="1335088" cy="4079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 name="Content Placeholder 7">
            <a:extLst>
              <a:ext uri="{FF2B5EF4-FFF2-40B4-BE49-F238E27FC236}">
                <a16:creationId xmlns:a16="http://schemas.microsoft.com/office/drawing/2014/main" id="{97CB8234-ABF9-D365-708B-CE269C935AD8}"/>
              </a:ext>
            </a:extLst>
          </p:cNvPr>
          <p:cNvSpPr>
            <a:spLocks noGrp="1"/>
          </p:cNvSpPr>
          <p:nvPr>
            <p:ph sz="quarter" idx="17"/>
          </p:nvPr>
        </p:nvSpPr>
        <p:spPr>
          <a:xfrm>
            <a:off x="1858019" y="3142205"/>
            <a:ext cx="485132" cy="374906"/>
          </a:xfrm>
        </p:spPr>
        <p:txBody>
          <a:bodyPr wrap="square" lIns="0" tIns="18000" rIns="0" bIns="18000" anchor="ctr" anchorCtr="0">
            <a:spAutoFit/>
          </a:bodyPr>
          <a:lstStyle/>
          <a:p>
            <a:pPr marL="0" indent="0">
              <a:buNone/>
            </a:pPr>
            <a:r>
              <a:rPr lang="en-US" sz="2200" noProof="0" dirty="0"/>
              <a:t>and</a:t>
            </a:r>
          </a:p>
        </p:txBody>
      </p:sp>
      <p:graphicFrame>
        <p:nvGraphicFramePr>
          <p:cNvPr id="24" name="Object 5" descr="v subscript b BaseLine equals 0.25 Volts.">
            <a:extLst>
              <a:ext uri="{FF2B5EF4-FFF2-40B4-BE49-F238E27FC236}">
                <a16:creationId xmlns:a16="http://schemas.microsoft.com/office/drawing/2014/main" id="{E87EC00E-45DD-83D2-434B-E55B15078D1E}"/>
              </a:ext>
            </a:extLst>
          </p:cNvPr>
          <p:cNvGraphicFramePr>
            <a:graphicFrameLocks noChangeAspect="1"/>
          </p:cNvGraphicFramePr>
          <p:nvPr>
            <p:extLst>
              <p:ext uri="{D42A27DB-BD31-4B8C-83A1-F6EECF244321}">
                <p14:modId xmlns:p14="http://schemas.microsoft.com/office/powerpoint/2010/main" val="3419948797"/>
              </p:ext>
            </p:extLst>
          </p:nvPr>
        </p:nvGraphicFramePr>
        <p:xfrm>
          <a:off x="2420938" y="3151188"/>
          <a:ext cx="1582737" cy="407987"/>
        </p:xfrm>
        <a:graphic>
          <a:graphicData uri="http://schemas.openxmlformats.org/presentationml/2006/ole">
            <mc:AlternateContent xmlns:mc="http://schemas.openxmlformats.org/markup-compatibility/2006">
              <mc:Choice xmlns:v="urn:schemas-microsoft-com:vml" Requires="v">
                <p:oleObj name="Equation" r:id="rId7" imgW="888840" imgH="228600" progId="Equation.DSMT4">
                  <p:embed/>
                </p:oleObj>
              </mc:Choice>
              <mc:Fallback>
                <p:oleObj name="Equation" r:id="rId7" imgW="888840" imgH="228600" progId="Equation.DSMT4">
                  <p:embed/>
                  <p:pic>
                    <p:nvPicPr>
                      <p:cNvPr id="23" name="Object 5">
                        <a:extLst>
                          <a:ext uri="{FF2B5EF4-FFF2-40B4-BE49-F238E27FC236}">
                            <a16:creationId xmlns:a16="http://schemas.microsoft.com/office/drawing/2014/main" id="{A88C09E3-3BAC-F8EC-3226-ACB4524075AF}"/>
                          </a:ext>
                        </a:extLst>
                      </p:cNvPr>
                      <p:cNvPicPr>
                        <a:picLocks noChangeAspect="1" noChangeArrowheads="1"/>
                      </p:cNvPicPr>
                      <p:nvPr/>
                    </p:nvPicPr>
                    <p:blipFill>
                      <a:blip r:embed="rId8"/>
                      <a:srcRect/>
                      <a:stretch>
                        <a:fillRect/>
                      </a:stretch>
                    </p:blipFill>
                    <p:spPr bwMode="auto">
                      <a:xfrm>
                        <a:off x="2420938" y="3151188"/>
                        <a:ext cx="1582737" cy="4079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26" name="Picture 25" descr="A circuit diagram shows an operational amplifier on the right and various resistors on the left. Positive voltage v subscript a is applied to the left terminal of a 5 kilo ohms resistor. Positive voltage v subscript b is applied to the left terminal of a 25 kilo ohms resistor. The right terminals of the 5 kilo ohms and the 25 kilo ohms resistors are joined to form a node and this node is connected to a node on the inverting input wire of the operational amplifier. This node on the inverting input is connected to the output terminal of the operational amplifier through a 250 kilo ohms resistor. A 15 volt voltage is applied to the top vertical terminal of the operational amplifier and minus 15 volts applied to its bottom vertical terminal. Voltage v subscript o exists between the output terminal of the operational amplifier and ground.">
            <a:extLst>
              <a:ext uri="{FF2B5EF4-FFF2-40B4-BE49-F238E27FC236}">
                <a16:creationId xmlns:a16="http://schemas.microsoft.com/office/drawing/2014/main" id="{53E0DEA5-1BB9-6454-4B67-21BAF03AA343}"/>
              </a:ext>
            </a:extLst>
          </p:cNvPr>
          <p:cNvPicPr>
            <a:picLocks noChangeAspect="1"/>
          </p:cNvPicPr>
          <p:nvPr/>
        </p:nvPicPr>
        <p:blipFill>
          <a:blip r:embed="rId9"/>
          <a:stretch>
            <a:fillRect/>
          </a:stretch>
        </p:blipFill>
        <p:spPr>
          <a:xfrm>
            <a:off x="4765125" y="1596654"/>
            <a:ext cx="3728549" cy="2007341"/>
          </a:xfrm>
          <a:prstGeom prst="rect">
            <a:avLst/>
          </a:prstGeom>
        </p:spPr>
      </p:pic>
      <p:graphicFrame>
        <p:nvGraphicFramePr>
          <p:cNvPr id="27" name="Object 5" descr="The figure illustrates an equation for v subscript o in terms of R subscript f.&#10;Long description is available in notes, Press F6.">
            <a:extLst>
              <a:ext uri="{FF2B5EF4-FFF2-40B4-BE49-F238E27FC236}">
                <a16:creationId xmlns:a16="http://schemas.microsoft.com/office/drawing/2014/main" id="{FA15EF69-F153-FBCD-A47D-A01EABA5D519}"/>
              </a:ext>
            </a:extLst>
          </p:cNvPr>
          <p:cNvGraphicFramePr>
            <a:graphicFrameLocks noChangeAspect="1"/>
          </p:cNvGraphicFramePr>
          <p:nvPr>
            <p:extLst>
              <p:ext uri="{D42A27DB-BD31-4B8C-83A1-F6EECF244321}">
                <p14:modId xmlns:p14="http://schemas.microsoft.com/office/powerpoint/2010/main" val="254511577"/>
              </p:ext>
            </p:extLst>
          </p:nvPr>
        </p:nvGraphicFramePr>
        <p:xfrm>
          <a:off x="1286589" y="3803467"/>
          <a:ext cx="5973922" cy="697278"/>
        </p:xfrm>
        <a:graphic>
          <a:graphicData uri="http://schemas.openxmlformats.org/presentationml/2006/ole">
            <mc:AlternateContent xmlns:mc="http://schemas.openxmlformats.org/markup-compatibility/2006">
              <mc:Choice xmlns:v="urn:schemas-microsoft-com:vml" Requires="v">
                <p:oleObj name="Equation" r:id="rId10" imgW="3682800" imgH="431640" progId="Equation.DSMT4">
                  <p:embed/>
                </p:oleObj>
              </mc:Choice>
              <mc:Fallback>
                <p:oleObj name="Equation" r:id="rId10" imgW="3682800" imgH="431640" progId="Equation.DSMT4">
                  <p:embed/>
                  <p:pic>
                    <p:nvPicPr>
                      <p:cNvPr id="5" name="Object 5">
                        <a:extLst>
                          <a:ext uri="{FF2B5EF4-FFF2-40B4-BE49-F238E27FC236}">
                            <a16:creationId xmlns:a16="http://schemas.microsoft.com/office/drawing/2014/main" id="{EDF65168-7603-5232-8D11-C8D3BD96CB65}"/>
                          </a:ext>
                        </a:extLst>
                      </p:cNvPr>
                      <p:cNvPicPr>
                        <a:picLocks noChangeAspect="1" noChangeArrowheads="1"/>
                      </p:cNvPicPr>
                      <p:nvPr/>
                    </p:nvPicPr>
                    <p:blipFill>
                      <a:blip r:embed="rId11"/>
                      <a:srcRect/>
                      <a:stretch>
                        <a:fillRect/>
                      </a:stretch>
                    </p:blipFill>
                    <p:spPr bwMode="auto">
                      <a:xfrm>
                        <a:off x="1286589" y="3803467"/>
                        <a:ext cx="5973922" cy="69727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 name="Object 5" descr="Equals negative StartFraction 0.75 R subscript f over 25,000 EndFraction equals negative 10 Volts.">
            <a:extLst>
              <a:ext uri="{FF2B5EF4-FFF2-40B4-BE49-F238E27FC236}">
                <a16:creationId xmlns:a16="http://schemas.microsoft.com/office/drawing/2014/main" id="{1A552B44-1468-79CF-20EE-3D3A6A94ABE1}"/>
              </a:ext>
            </a:extLst>
          </p:cNvPr>
          <p:cNvGraphicFramePr>
            <a:graphicFrameLocks noChangeAspect="1"/>
          </p:cNvGraphicFramePr>
          <p:nvPr>
            <p:extLst>
              <p:ext uri="{D42A27DB-BD31-4B8C-83A1-F6EECF244321}">
                <p14:modId xmlns:p14="http://schemas.microsoft.com/office/powerpoint/2010/main" val="3166611354"/>
              </p:ext>
            </p:extLst>
          </p:nvPr>
        </p:nvGraphicFramePr>
        <p:xfrm>
          <a:off x="997700" y="4578228"/>
          <a:ext cx="2968712" cy="767006"/>
        </p:xfrm>
        <a:graphic>
          <a:graphicData uri="http://schemas.openxmlformats.org/presentationml/2006/ole">
            <mc:AlternateContent xmlns:mc="http://schemas.openxmlformats.org/markup-compatibility/2006">
              <mc:Choice xmlns:v="urn:schemas-microsoft-com:vml" Requires="v">
                <p:oleObj name="Equation" r:id="rId12" imgW="1663560" imgH="431640" progId="Equation.DSMT4">
                  <p:embed/>
                </p:oleObj>
              </mc:Choice>
              <mc:Fallback>
                <p:oleObj name="Equation" r:id="rId12" imgW="1663560" imgH="431640" progId="Equation.DSMT4">
                  <p:embed/>
                  <p:pic>
                    <p:nvPicPr>
                      <p:cNvPr id="25" name="Object 5">
                        <a:extLst>
                          <a:ext uri="{FF2B5EF4-FFF2-40B4-BE49-F238E27FC236}">
                            <a16:creationId xmlns:a16="http://schemas.microsoft.com/office/drawing/2014/main" id="{6FAFBC06-7CE7-53C2-E9EF-9D9EDBB8A869}"/>
                          </a:ext>
                        </a:extLst>
                      </p:cNvPr>
                      <p:cNvPicPr>
                        <a:picLocks noChangeAspect="1" noChangeArrowheads="1"/>
                      </p:cNvPicPr>
                      <p:nvPr/>
                    </p:nvPicPr>
                    <p:blipFill>
                      <a:blip r:embed="rId13"/>
                      <a:srcRect/>
                      <a:stretch>
                        <a:fillRect/>
                      </a:stretch>
                    </p:blipFill>
                    <p:spPr bwMode="auto">
                      <a:xfrm>
                        <a:off x="997700" y="4578228"/>
                        <a:ext cx="2968712" cy="76700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 name="Object 5" descr="Forward arrow, R subscript f BaseLine equals StartFraction negative 10 multiplied by OpenParenthesis 25,000 CloseParenthesis over negative 0.75 EndFraction equals 333.33 kilo-Ohms.">
            <a:extLst>
              <a:ext uri="{FF2B5EF4-FFF2-40B4-BE49-F238E27FC236}">
                <a16:creationId xmlns:a16="http://schemas.microsoft.com/office/drawing/2014/main" id="{37819001-6BB2-0FB6-41E1-71F65D59FC83}"/>
              </a:ext>
            </a:extLst>
          </p:cNvPr>
          <p:cNvGraphicFramePr>
            <a:graphicFrameLocks noChangeAspect="1"/>
          </p:cNvGraphicFramePr>
          <p:nvPr>
            <p:extLst>
              <p:ext uri="{D42A27DB-BD31-4B8C-83A1-F6EECF244321}">
                <p14:modId xmlns:p14="http://schemas.microsoft.com/office/powerpoint/2010/main" val="1302210678"/>
              </p:ext>
            </p:extLst>
          </p:nvPr>
        </p:nvGraphicFramePr>
        <p:xfrm>
          <a:off x="1267484" y="5462502"/>
          <a:ext cx="4181745" cy="635810"/>
        </p:xfrm>
        <a:graphic>
          <a:graphicData uri="http://schemas.openxmlformats.org/presentationml/2006/ole">
            <mc:AlternateContent xmlns:mc="http://schemas.openxmlformats.org/markup-compatibility/2006">
              <mc:Choice xmlns:v="urn:schemas-microsoft-com:vml" Requires="v">
                <p:oleObj name="Equation" r:id="rId14" imgW="2577960" imgH="393480" progId="Equation.DSMT4">
                  <p:embed/>
                </p:oleObj>
              </mc:Choice>
              <mc:Fallback>
                <p:oleObj name="Equation" r:id="rId14" imgW="2577960" imgH="393480" progId="Equation.DSMT4">
                  <p:embed/>
                  <p:pic>
                    <p:nvPicPr>
                      <p:cNvPr id="26" name="Object 5">
                        <a:extLst>
                          <a:ext uri="{FF2B5EF4-FFF2-40B4-BE49-F238E27FC236}">
                            <a16:creationId xmlns:a16="http://schemas.microsoft.com/office/drawing/2014/main" id="{1630F1A2-7B74-CFE3-0C3E-AF56EEF2264C}"/>
                          </a:ext>
                        </a:extLst>
                      </p:cNvPr>
                      <p:cNvPicPr>
                        <a:picLocks noChangeAspect="1" noChangeArrowheads="1"/>
                      </p:cNvPicPr>
                      <p:nvPr/>
                    </p:nvPicPr>
                    <p:blipFill>
                      <a:blip r:embed="rId15"/>
                      <a:srcRect/>
                      <a:stretch>
                        <a:fillRect/>
                      </a:stretch>
                    </p:blipFill>
                    <p:spPr bwMode="auto">
                      <a:xfrm>
                        <a:off x="1267484" y="5462502"/>
                        <a:ext cx="4181745" cy="6358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8988091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1">
            <a:extLst>
              <a:ext uri="{FF2B5EF4-FFF2-40B4-BE49-F238E27FC236}">
                <a16:creationId xmlns:a16="http://schemas.microsoft.com/office/drawing/2014/main" id="{6308113A-74A7-4695-6DD9-8ABC458B46D1}"/>
              </a:ext>
            </a:extLst>
          </p:cNvPr>
          <p:cNvSpPr>
            <a:spLocks noGrp="1"/>
          </p:cNvSpPr>
          <p:nvPr>
            <p:ph type="title"/>
          </p:nvPr>
        </p:nvSpPr>
        <p:spPr>
          <a:xfrm>
            <a:off x="431650" y="163613"/>
            <a:ext cx="8242600" cy="590349"/>
          </a:xfrm>
        </p:spPr>
        <p:txBody>
          <a:bodyPr wrap="square" lIns="0" tIns="18000" rIns="0" bIns="18000" anchor="ctr">
            <a:spAutoFit/>
          </a:bodyPr>
          <a:lstStyle/>
          <a:p>
            <a:r>
              <a:rPr lang="en-US" noProof="0" dirty="0"/>
              <a:t>Chapter 5 – Op Amps </a:t>
            </a:r>
            <a:r>
              <a:rPr lang="en-US" sz="2800" noProof="0" dirty="0"/>
              <a:t>(5 of 11)</a:t>
            </a:r>
          </a:p>
        </p:txBody>
      </p:sp>
      <p:sp>
        <p:nvSpPr>
          <p:cNvPr id="3" name="Content Placeholder 2">
            <a:extLst>
              <a:ext uri="{FF2B5EF4-FFF2-40B4-BE49-F238E27FC236}">
                <a16:creationId xmlns:a16="http://schemas.microsoft.com/office/drawing/2014/main" id="{86751820-DEB4-B0A4-DC9B-50609DCE932D}"/>
              </a:ext>
            </a:extLst>
          </p:cNvPr>
          <p:cNvSpPr>
            <a:spLocks noGrp="1"/>
          </p:cNvSpPr>
          <p:nvPr>
            <p:ph sz="quarter" idx="12"/>
          </p:nvPr>
        </p:nvSpPr>
        <p:spPr>
          <a:xfrm>
            <a:off x="428625" y="923004"/>
            <a:ext cx="8213725" cy="374906"/>
          </a:xfrm>
        </p:spPr>
        <p:txBody>
          <a:bodyPr wrap="square" lIns="0" tIns="18000" rIns="0" bIns="18000" anchor="ctr" anchorCtr="0">
            <a:spAutoFit/>
          </a:bodyPr>
          <a:lstStyle/>
          <a:p>
            <a:pPr marL="0" indent="0">
              <a:buNone/>
            </a:pPr>
            <a:r>
              <a:rPr lang="en-US" altLang="en-US" sz="2200" noProof="0" dirty="0"/>
              <a:t>Non-inverting Amplifier</a:t>
            </a:r>
          </a:p>
        </p:txBody>
      </p:sp>
      <p:pic>
        <p:nvPicPr>
          <p:cNvPr id="5" name="Picture 4" descr="A circuit diagram shows an operational amplifier with positive voltage V subscript cc applied to its top vertical terminal and negative voltage V subscript cc applied to its bottom vertical terminal. The inverting input wire to the operational amplifier contains resistor R subscript s. Voltage v subscript n exists between the inverting terminal and ground. To the right of resistor R subscript s is a node on the inverting input wire and this node is connected to the output terminal of the operational amplifier through resistor R subscript f. The non inverting input wire to the operational amplifier contains resistor R subscript g. Positive voltage v subscript g is applied to the left terminal of resistor R subscript g. The right terminal of resistor R subscript g is connected to the non inverting terminal. Voltage v subscript p exists between the inverting terminal and ground. Voltage v subscript o exists between the output terminal of the operational amplifier and ground.">
            <a:extLst>
              <a:ext uri="{FF2B5EF4-FFF2-40B4-BE49-F238E27FC236}">
                <a16:creationId xmlns:a16="http://schemas.microsoft.com/office/drawing/2014/main" id="{CDA3CD6D-A7F3-478E-15C9-6F1D4257050F}"/>
              </a:ext>
            </a:extLst>
          </p:cNvPr>
          <p:cNvPicPr>
            <a:picLocks noChangeAspect="1"/>
          </p:cNvPicPr>
          <p:nvPr/>
        </p:nvPicPr>
        <p:blipFill>
          <a:blip r:embed="rId3"/>
          <a:stretch>
            <a:fillRect/>
          </a:stretch>
        </p:blipFill>
        <p:spPr>
          <a:xfrm>
            <a:off x="405412" y="1471496"/>
            <a:ext cx="4065987" cy="2548667"/>
          </a:xfrm>
          <a:prstGeom prst="rect">
            <a:avLst/>
          </a:prstGeom>
        </p:spPr>
      </p:pic>
      <p:sp>
        <p:nvSpPr>
          <p:cNvPr id="4" name="Content Placeholder 3">
            <a:extLst>
              <a:ext uri="{FF2B5EF4-FFF2-40B4-BE49-F238E27FC236}">
                <a16:creationId xmlns:a16="http://schemas.microsoft.com/office/drawing/2014/main" id="{FCB16D7D-189D-622F-B6A5-A0EFA388BE32}"/>
              </a:ext>
            </a:extLst>
          </p:cNvPr>
          <p:cNvSpPr>
            <a:spLocks noGrp="1"/>
          </p:cNvSpPr>
          <p:nvPr>
            <p:ph sz="quarter" idx="13"/>
          </p:nvPr>
        </p:nvSpPr>
        <p:spPr>
          <a:xfrm>
            <a:off x="4578350" y="1536116"/>
            <a:ext cx="4054475" cy="2406231"/>
          </a:xfrm>
        </p:spPr>
        <p:txBody>
          <a:bodyPr lIns="0" tIns="18000" rIns="0" bIns="18000" anchor="ctr" anchorCtr="0">
            <a:spAutoFit/>
          </a:bodyPr>
          <a:lstStyle/>
          <a:p>
            <a:pPr marL="0" indent="0">
              <a:buNone/>
            </a:pPr>
            <a:r>
              <a:rPr lang="en-US" sz="2200" noProof="0" dirty="0"/>
              <a:t>There is a negative feedback path, so assume linear operating region (Step 1). Using the ideal op amp assumptions, write a </a:t>
            </a:r>
            <a:r>
              <a:rPr lang="en-US" sz="2200" spc="-300" noProof="0" dirty="0"/>
              <a:t>K C </a:t>
            </a:r>
            <a:r>
              <a:rPr lang="en-US" sz="2200" noProof="0" dirty="0"/>
              <a:t>L equation at the non-inverting input (Step 2) and solve it (Step 3).</a:t>
            </a:r>
          </a:p>
        </p:txBody>
      </p:sp>
      <p:graphicFrame>
        <p:nvGraphicFramePr>
          <p:cNvPr id="28" name="Object 5" descr="The figure illustrates an equation for K C L at v subscript n when 3 voltages are equal.&#10;Long description 1 is available in notes, Press F6.">
            <a:extLst>
              <a:ext uri="{FF2B5EF4-FFF2-40B4-BE49-F238E27FC236}">
                <a16:creationId xmlns:a16="http://schemas.microsoft.com/office/drawing/2014/main" id="{97B00CC7-AAD1-097F-3EB1-603892D8164B}"/>
              </a:ext>
            </a:extLst>
          </p:cNvPr>
          <p:cNvGraphicFramePr>
            <a:graphicFrameLocks noChangeAspect="1"/>
          </p:cNvGraphicFramePr>
          <p:nvPr>
            <p:extLst>
              <p:ext uri="{D42A27DB-BD31-4B8C-83A1-F6EECF244321}">
                <p14:modId xmlns:p14="http://schemas.microsoft.com/office/powerpoint/2010/main" val="3127445609"/>
              </p:ext>
            </p:extLst>
          </p:nvPr>
        </p:nvGraphicFramePr>
        <p:xfrm>
          <a:off x="1881188" y="4165600"/>
          <a:ext cx="5251450" cy="898525"/>
        </p:xfrm>
        <a:graphic>
          <a:graphicData uri="http://schemas.openxmlformats.org/presentationml/2006/ole">
            <mc:AlternateContent xmlns:mc="http://schemas.openxmlformats.org/markup-compatibility/2006">
              <mc:Choice xmlns:v="urn:schemas-microsoft-com:vml" Requires="v">
                <p:oleObj name="Equation" r:id="rId4" imgW="2679480" imgH="457200" progId="Equation.DSMT4">
                  <p:embed/>
                </p:oleObj>
              </mc:Choice>
              <mc:Fallback>
                <p:oleObj name="Equation" r:id="rId4" imgW="2679480" imgH="457200" progId="Equation.DSMT4">
                  <p:embed/>
                  <p:pic>
                    <p:nvPicPr>
                      <p:cNvPr id="2" name="Object 5">
                        <a:extLst>
                          <a:ext uri="{FF2B5EF4-FFF2-40B4-BE49-F238E27FC236}">
                            <a16:creationId xmlns:a16="http://schemas.microsoft.com/office/drawing/2014/main" id="{EC04052B-2B62-3454-A94A-179BB71EECF6}"/>
                          </a:ext>
                        </a:extLst>
                      </p:cNvPr>
                      <p:cNvPicPr>
                        <a:picLocks noChangeAspect="1" noChangeArrowheads="1"/>
                      </p:cNvPicPr>
                      <p:nvPr/>
                    </p:nvPicPr>
                    <p:blipFill>
                      <a:blip r:embed="rId5"/>
                      <a:srcRect/>
                      <a:stretch>
                        <a:fillRect/>
                      </a:stretch>
                    </p:blipFill>
                    <p:spPr bwMode="auto">
                      <a:xfrm>
                        <a:off x="1881188" y="4165600"/>
                        <a:ext cx="5251450" cy="898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 name="Object 5" descr="The figure illustrates an equation for v subscript o in terms of v subscript g.&#10;Long description 2 is available in notes, Press F6.">
            <a:extLst>
              <a:ext uri="{FF2B5EF4-FFF2-40B4-BE49-F238E27FC236}">
                <a16:creationId xmlns:a16="http://schemas.microsoft.com/office/drawing/2014/main" id="{117CA65F-67BF-5815-2488-9E5C361C3A4B}"/>
              </a:ext>
            </a:extLst>
          </p:cNvPr>
          <p:cNvGraphicFramePr>
            <a:graphicFrameLocks noChangeAspect="1"/>
          </p:cNvGraphicFramePr>
          <p:nvPr>
            <p:extLst>
              <p:ext uri="{D42A27DB-BD31-4B8C-83A1-F6EECF244321}">
                <p14:modId xmlns:p14="http://schemas.microsoft.com/office/powerpoint/2010/main" val="2860519124"/>
              </p:ext>
            </p:extLst>
          </p:nvPr>
        </p:nvGraphicFramePr>
        <p:xfrm>
          <a:off x="1978025" y="5140325"/>
          <a:ext cx="5821363" cy="855663"/>
        </p:xfrm>
        <a:graphic>
          <a:graphicData uri="http://schemas.openxmlformats.org/presentationml/2006/ole">
            <mc:AlternateContent xmlns:mc="http://schemas.openxmlformats.org/markup-compatibility/2006">
              <mc:Choice xmlns:v="urn:schemas-microsoft-com:vml" Requires="v">
                <p:oleObj name="Equation" r:id="rId6" imgW="3263760" imgH="482400" progId="Equation.DSMT4">
                  <p:embed/>
                </p:oleObj>
              </mc:Choice>
              <mc:Fallback>
                <p:oleObj name="Equation" r:id="rId6" imgW="3263760" imgH="482400" progId="Equation.DSMT4">
                  <p:embed/>
                  <p:pic>
                    <p:nvPicPr>
                      <p:cNvPr id="4" name="Object 5">
                        <a:extLst>
                          <a:ext uri="{FF2B5EF4-FFF2-40B4-BE49-F238E27FC236}">
                            <a16:creationId xmlns:a16="http://schemas.microsoft.com/office/drawing/2014/main" id="{3907977B-5B48-609B-9DAE-F7EEA6CE0CBF}"/>
                          </a:ext>
                        </a:extLst>
                      </p:cNvPr>
                      <p:cNvPicPr>
                        <a:picLocks noChangeAspect="1" noChangeArrowheads="1"/>
                      </p:cNvPicPr>
                      <p:nvPr/>
                    </p:nvPicPr>
                    <p:blipFill>
                      <a:blip r:embed="rId7"/>
                      <a:srcRect/>
                      <a:stretch>
                        <a:fillRect/>
                      </a:stretch>
                    </p:blipFill>
                    <p:spPr bwMode="auto">
                      <a:xfrm>
                        <a:off x="1978025" y="5140325"/>
                        <a:ext cx="5821363" cy="855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6058164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1">
            <a:extLst>
              <a:ext uri="{FF2B5EF4-FFF2-40B4-BE49-F238E27FC236}">
                <a16:creationId xmlns:a16="http://schemas.microsoft.com/office/drawing/2014/main" id="{4E64BDBD-078F-AFBA-FFD7-FEC58DC7FD67}"/>
              </a:ext>
            </a:extLst>
          </p:cNvPr>
          <p:cNvSpPr>
            <a:spLocks noGrp="1"/>
          </p:cNvSpPr>
          <p:nvPr>
            <p:ph type="title"/>
          </p:nvPr>
        </p:nvSpPr>
        <p:spPr>
          <a:xfrm>
            <a:off x="431650" y="163613"/>
            <a:ext cx="8242600" cy="590349"/>
          </a:xfrm>
        </p:spPr>
        <p:txBody>
          <a:bodyPr wrap="square" lIns="0" tIns="18000" rIns="0" bIns="18000" anchor="ctr">
            <a:spAutoFit/>
          </a:bodyPr>
          <a:lstStyle/>
          <a:p>
            <a:r>
              <a:rPr lang="en-US" noProof="0" dirty="0"/>
              <a:t>Chapter 5 – Op Amps </a:t>
            </a:r>
            <a:r>
              <a:rPr lang="en-US" sz="2800" noProof="0" dirty="0"/>
              <a:t>(6 of 11)</a:t>
            </a:r>
          </a:p>
        </p:txBody>
      </p:sp>
      <p:sp>
        <p:nvSpPr>
          <p:cNvPr id="3" name="Content Placeholder 2">
            <a:extLst>
              <a:ext uri="{FF2B5EF4-FFF2-40B4-BE49-F238E27FC236}">
                <a16:creationId xmlns:a16="http://schemas.microsoft.com/office/drawing/2014/main" id="{A3D3DC0C-8717-2873-7C59-871E53DC3386}"/>
              </a:ext>
            </a:extLst>
          </p:cNvPr>
          <p:cNvSpPr>
            <a:spLocks noGrp="1"/>
          </p:cNvSpPr>
          <p:nvPr>
            <p:ph sz="quarter" idx="12"/>
          </p:nvPr>
        </p:nvSpPr>
        <p:spPr>
          <a:xfrm>
            <a:off x="428625" y="926971"/>
            <a:ext cx="8251825" cy="374906"/>
          </a:xfrm>
        </p:spPr>
        <p:txBody>
          <a:bodyPr wrap="square" lIns="0" tIns="18000" rIns="0" bIns="18000" anchor="ctr" anchorCtr="0">
            <a:spAutoFit/>
          </a:bodyPr>
          <a:lstStyle/>
          <a:p>
            <a:pPr marL="0" indent="0">
              <a:buNone/>
            </a:pPr>
            <a:r>
              <a:rPr lang="en-US" altLang="en-US" sz="2200" noProof="0" dirty="0"/>
              <a:t>Non-inverting Amplifier Example</a:t>
            </a:r>
            <a:endParaRPr lang="en-US" sz="2200" noProof="0" dirty="0"/>
          </a:p>
        </p:txBody>
      </p:sp>
      <p:sp>
        <p:nvSpPr>
          <p:cNvPr id="4" name="Content Placeholder 3">
            <a:extLst>
              <a:ext uri="{FF2B5EF4-FFF2-40B4-BE49-F238E27FC236}">
                <a16:creationId xmlns:a16="http://schemas.microsoft.com/office/drawing/2014/main" id="{43229989-121D-9390-A5C5-C10E88CE6502}"/>
              </a:ext>
            </a:extLst>
          </p:cNvPr>
          <p:cNvSpPr>
            <a:spLocks noGrp="1"/>
          </p:cNvSpPr>
          <p:nvPr>
            <p:ph sz="quarter" idx="13"/>
          </p:nvPr>
        </p:nvSpPr>
        <p:spPr>
          <a:xfrm>
            <a:off x="428625" y="1361154"/>
            <a:ext cx="1047749" cy="374906"/>
          </a:xfrm>
        </p:spPr>
        <p:txBody>
          <a:bodyPr wrap="square" lIns="0" tIns="18000" rIns="0" bIns="18000" anchor="ctr" anchorCtr="0">
            <a:spAutoFit/>
          </a:bodyPr>
          <a:lstStyle/>
          <a:p>
            <a:pPr marL="0" indent="0">
              <a:buNone/>
            </a:pPr>
            <a:r>
              <a:rPr lang="en-US" sz="2200" noProof="0" dirty="0"/>
              <a:t>Assume</a:t>
            </a:r>
          </a:p>
        </p:txBody>
      </p:sp>
      <p:graphicFrame>
        <p:nvGraphicFramePr>
          <p:cNvPr id="22" name="Object 5" descr="R subscript x BaseLine equals 60 kilo Ohms.">
            <a:extLst>
              <a:ext uri="{FF2B5EF4-FFF2-40B4-BE49-F238E27FC236}">
                <a16:creationId xmlns:a16="http://schemas.microsoft.com/office/drawing/2014/main" id="{78C73E56-B9DE-A401-FF61-023FD89AE95C}"/>
              </a:ext>
            </a:extLst>
          </p:cNvPr>
          <p:cNvGraphicFramePr>
            <a:graphicFrameLocks noChangeAspect="1"/>
          </p:cNvGraphicFramePr>
          <p:nvPr>
            <p:extLst>
              <p:ext uri="{D42A27DB-BD31-4B8C-83A1-F6EECF244321}">
                <p14:modId xmlns:p14="http://schemas.microsoft.com/office/powerpoint/2010/main" val="1044958841"/>
              </p:ext>
            </p:extLst>
          </p:nvPr>
        </p:nvGraphicFramePr>
        <p:xfrm>
          <a:off x="1625323" y="1409136"/>
          <a:ext cx="1357903" cy="372604"/>
        </p:xfrm>
        <a:graphic>
          <a:graphicData uri="http://schemas.openxmlformats.org/presentationml/2006/ole">
            <mc:AlternateContent xmlns:mc="http://schemas.openxmlformats.org/markup-compatibility/2006">
              <mc:Choice xmlns:v="urn:schemas-microsoft-com:vml" Requires="v">
                <p:oleObj name="Equation" r:id="rId2" imgW="838080" imgH="228600" progId="Equation.DSMT4">
                  <p:embed/>
                </p:oleObj>
              </mc:Choice>
              <mc:Fallback>
                <p:oleObj name="Equation" r:id="rId2" imgW="838080" imgH="228600" progId="Equation.DSMT4">
                  <p:embed/>
                  <p:pic>
                    <p:nvPicPr>
                      <p:cNvPr id="28" name="Object 5">
                        <a:extLst>
                          <a:ext uri="{FF2B5EF4-FFF2-40B4-BE49-F238E27FC236}">
                            <a16:creationId xmlns:a16="http://schemas.microsoft.com/office/drawing/2014/main" id="{97B00CC7-AAD1-097F-3EB1-603892D8164B}"/>
                          </a:ext>
                        </a:extLst>
                      </p:cNvPr>
                      <p:cNvPicPr>
                        <a:picLocks noChangeAspect="1" noChangeArrowheads="1"/>
                      </p:cNvPicPr>
                      <p:nvPr/>
                    </p:nvPicPr>
                    <p:blipFill>
                      <a:blip r:embed="rId3"/>
                      <a:srcRect/>
                      <a:stretch>
                        <a:fillRect/>
                      </a:stretch>
                    </p:blipFill>
                    <p:spPr bwMode="auto">
                      <a:xfrm>
                        <a:off x="1625323" y="1409136"/>
                        <a:ext cx="1357903" cy="3726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 name="Content Placeholder 4">
            <a:extLst>
              <a:ext uri="{FF2B5EF4-FFF2-40B4-BE49-F238E27FC236}">
                <a16:creationId xmlns:a16="http://schemas.microsoft.com/office/drawing/2014/main" id="{D1D1216A-C5BC-626B-0284-74B0FE38FA62}"/>
              </a:ext>
            </a:extLst>
          </p:cNvPr>
          <p:cNvSpPr>
            <a:spLocks noGrp="1"/>
          </p:cNvSpPr>
          <p:nvPr>
            <p:ph sz="quarter" idx="14"/>
          </p:nvPr>
        </p:nvSpPr>
        <p:spPr>
          <a:xfrm>
            <a:off x="2990851" y="1358419"/>
            <a:ext cx="571500" cy="374906"/>
          </a:xfrm>
        </p:spPr>
        <p:txBody>
          <a:bodyPr wrap="square" lIns="0" tIns="18000" rIns="0" bIns="18000" anchor="ctr" anchorCtr="0">
            <a:spAutoFit/>
          </a:bodyPr>
          <a:lstStyle/>
          <a:p>
            <a:pPr marL="0" indent="0">
              <a:buNone/>
            </a:pPr>
            <a:r>
              <a:rPr lang="en-US" sz="2200" noProof="0" dirty="0"/>
              <a:t>Find</a:t>
            </a:r>
          </a:p>
        </p:txBody>
      </p:sp>
      <p:graphicFrame>
        <p:nvGraphicFramePr>
          <p:cNvPr id="23" name="Object 5" descr="v subscript o">
            <a:extLst>
              <a:ext uri="{FF2B5EF4-FFF2-40B4-BE49-F238E27FC236}">
                <a16:creationId xmlns:a16="http://schemas.microsoft.com/office/drawing/2014/main" id="{1C77D3C8-596B-A0B2-4253-7FBDB5AA4B26}"/>
              </a:ext>
            </a:extLst>
          </p:cNvPr>
          <p:cNvGraphicFramePr>
            <a:graphicFrameLocks noChangeAspect="1"/>
          </p:cNvGraphicFramePr>
          <p:nvPr>
            <p:extLst>
              <p:ext uri="{D42A27DB-BD31-4B8C-83A1-F6EECF244321}">
                <p14:modId xmlns:p14="http://schemas.microsoft.com/office/powerpoint/2010/main" val="3365473146"/>
              </p:ext>
            </p:extLst>
          </p:nvPr>
        </p:nvGraphicFramePr>
        <p:xfrm>
          <a:off x="3646329" y="1342120"/>
          <a:ext cx="422593" cy="449485"/>
        </p:xfrm>
        <a:graphic>
          <a:graphicData uri="http://schemas.openxmlformats.org/presentationml/2006/ole">
            <mc:AlternateContent xmlns:mc="http://schemas.openxmlformats.org/markup-compatibility/2006">
              <mc:Choice xmlns:v="urn:schemas-microsoft-com:vml" Requires="v">
                <p:oleObj name="Equation" r:id="rId4" imgW="215640" imgH="228600" progId="Equation.DSMT4">
                  <p:embed/>
                </p:oleObj>
              </mc:Choice>
              <mc:Fallback>
                <p:oleObj name="Equation" r:id="rId4" imgW="215640" imgH="228600" progId="Equation.DSMT4">
                  <p:embed/>
                  <p:pic>
                    <p:nvPicPr>
                      <p:cNvPr id="22" name="Object 5">
                        <a:extLst>
                          <a:ext uri="{FF2B5EF4-FFF2-40B4-BE49-F238E27FC236}">
                            <a16:creationId xmlns:a16="http://schemas.microsoft.com/office/drawing/2014/main" id="{78C73E56-B9DE-A401-FF61-023FD89AE95C}"/>
                          </a:ext>
                        </a:extLst>
                      </p:cNvPr>
                      <p:cNvPicPr>
                        <a:picLocks noChangeAspect="1" noChangeArrowheads="1"/>
                      </p:cNvPicPr>
                      <p:nvPr/>
                    </p:nvPicPr>
                    <p:blipFill>
                      <a:blip r:embed="rId5"/>
                      <a:srcRect/>
                      <a:stretch>
                        <a:fillRect/>
                      </a:stretch>
                    </p:blipFill>
                    <p:spPr bwMode="auto">
                      <a:xfrm>
                        <a:off x="3646329" y="1342120"/>
                        <a:ext cx="422593" cy="44948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 name="Content Placeholder 5">
            <a:extLst>
              <a:ext uri="{FF2B5EF4-FFF2-40B4-BE49-F238E27FC236}">
                <a16:creationId xmlns:a16="http://schemas.microsoft.com/office/drawing/2014/main" id="{B68A7386-1222-02AF-8053-54CF3474E690}"/>
              </a:ext>
            </a:extLst>
          </p:cNvPr>
          <p:cNvSpPr>
            <a:spLocks noGrp="1"/>
          </p:cNvSpPr>
          <p:nvPr>
            <p:ph sz="quarter" idx="15"/>
          </p:nvPr>
        </p:nvSpPr>
        <p:spPr>
          <a:xfrm>
            <a:off x="428625" y="1827879"/>
            <a:ext cx="3390900" cy="374906"/>
          </a:xfrm>
        </p:spPr>
        <p:txBody>
          <a:bodyPr wrap="square" lIns="0" tIns="18000" rIns="0" bIns="18000" anchor="ctr" anchorCtr="0">
            <a:spAutoFit/>
          </a:bodyPr>
          <a:lstStyle/>
          <a:p>
            <a:pPr marL="0" indent="0">
              <a:buNone/>
            </a:pPr>
            <a:r>
              <a:rPr lang="en-US" sz="2200" noProof="0" dirty="0"/>
              <a:t>Use voltage division to find</a:t>
            </a:r>
          </a:p>
        </p:txBody>
      </p:sp>
      <p:graphicFrame>
        <p:nvGraphicFramePr>
          <p:cNvPr id="24" name="Object 5" descr="v subscript p:">
            <a:extLst>
              <a:ext uri="{FF2B5EF4-FFF2-40B4-BE49-F238E27FC236}">
                <a16:creationId xmlns:a16="http://schemas.microsoft.com/office/drawing/2014/main" id="{D3E767CA-A1F0-4DA0-387B-21B4D2F03E7A}"/>
              </a:ext>
            </a:extLst>
          </p:cNvPr>
          <p:cNvGraphicFramePr>
            <a:graphicFrameLocks noChangeAspect="1"/>
          </p:cNvGraphicFramePr>
          <p:nvPr>
            <p:extLst>
              <p:ext uri="{D42A27DB-BD31-4B8C-83A1-F6EECF244321}">
                <p14:modId xmlns:p14="http://schemas.microsoft.com/office/powerpoint/2010/main" val="1405050525"/>
              </p:ext>
            </p:extLst>
          </p:nvPr>
        </p:nvGraphicFramePr>
        <p:xfrm>
          <a:off x="3844925" y="1804988"/>
          <a:ext cx="446088" cy="476250"/>
        </p:xfrm>
        <a:graphic>
          <a:graphicData uri="http://schemas.openxmlformats.org/presentationml/2006/ole">
            <mc:AlternateContent xmlns:mc="http://schemas.openxmlformats.org/markup-compatibility/2006">
              <mc:Choice xmlns:v="urn:schemas-microsoft-com:vml" Requires="v">
                <p:oleObj name="Equation" r:id="rId6" imgW="228600" imgH="241200" progId="Equation.DSMT4">
                  <p:embed/>
                </p:oleObj>
              </mc:Choice>
              <mc:Fallback>
                <p:oleObj name="Equation" r:id="rId6" imgW="228600" imgH="241200" progId="Equation.DSMT4">
                  <p:embed/>
                  <p:pic>
                    <p:nvPicPr>
                      <p:cNvPr id="23" name="Object 5">
                        <a:extLst>
                          <a:ext uri="{FF2B5EF4-FFF2-40B4-BE49-F238E27FC236}">
                            <a16:creationId xmlns:a16="http://schemas.microsoft.com/office/drawing/2014/main" id="{1C77D3C8-596B-A0B2-4253-7FBDB5AA4B26}"/>
                          </a:ext>
                        </a:extLst>
                      </p:cNvPr>
                      <p:cNvPicPr>
                        <a:picLocks noChangeAspect="1" noChangeArrowheads="1"/>
                      </p:cNvPicPr>
                      <p:nvPr/>
                    </p:nvPicPr>
                    <p:blipFill>
                      <a:blip r:embed="rId7"/>
                      <a:srcRect/>
                      <a:stretch>
                        <a:fillRect/>
                      </a:stretch>
                    </p:blipFill>
                    <p:spPr bwMode="auto">
                      <a:xfrm>
                        <a:off x="3844925" y="1804988"/>
                        <a:ext cx="446088" cy="476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 name="Object 5" descr="v subscript p BaseLine equals StartFraction 60,000 over 15,000 plus 60,000 EndFraction multiplied by OpenParenthesis 0.4 CloseParenthesis equals 320 millivolts.">
            <a:extLst>
              <a:ext uri="{FF2B5EF4-FFF2-40B4-BE49-F238E27FC236}">
                <a16:creationId xmlns:a16="http://schemas.microsoft.com/office/drawing/2014/main" id="{9B33DF4E-CF2E-EA11-2F0C-F0311C066A52}"/>
              </a:ext>
            </a:extLst>
          </p:cNvPr>
          <p:cNvGraphicFramePr>
            <a:graphicFrameLocks noChangeAspect="1"/>
          </p:cNvGraphicFramePr>
          <p:nvPr>
            <p:extLst>
              <p:ext uri="{D42A27DB-BD31-4B8C-83A1-F6EECF244321}">
                <p14:modId xmlns:p14="http://schemas.microsoft.com/office/powerpoint/2010/main" val="2039274084"/>
              </p:ext>
            </p:extLst>
          </p:nvPr>
        </p:nvGraphicFramePr>
        <p:xfrm>
          <a:off x="409949" y="2407037"/>
          <a:ext cx="3994990" cy="683543"/>
        </p:xfrm>
        <a:graphic>
          <a:graphicData uri="http://schemas.openxmlformats.org/presentationml/2006/ole">
            <mc:AlternateContent xmlns:mc="http://schemas.openxmlformats.org/markup-compatibility/2006">
              <mc:Choice xmlns:v="urn:schemas-microsoft-com:vml" Requires="v">
                <p:oleObj name="Equation" r:id="rId8" imgW="2476440" imgH="419040" progId="Equation.DSMT4">
                  <p:embed/>
                </p:oleObj>
              </mc:Choice>
              <mc:Fallback>
                <p:oleObj name="Equation" r:id="rId8" imgW="2476440" imgH="419040" progId="Equation.DSMT4">
                  <p:embed/>
                  <p:pic>
                    <p:nvPicPr>
                      <p:cNvPr id="24" name="Object 5">
                        <a:extLst>
                          <a:ext uri="{FF2B5EF4-FFF2-40B4-BE49-F238E27FC236}">
                            <a16:creationId xmlns:a16="http://schemas.microsoft.com/office/drawing/2014/main" id="{D3E767CA-A1F0-4DA0-387B-21B4D2F03E7A}"/>
                          </a:ext>
                        </a:extLst>
                      </p:cNvPr>
                      <p:cNvPicPr>
                        <a:picLocks noChangeAspect="1" noChangeArrowheads="1"/>
                      </p:cNvPicPr>
                      <p:nvPr/>
                    </p:nvPicPr>
                    <p:blipFill>
                      <a:blip r:embed="rId9"/>
                      <a:srcRect/>
                      <a:stretch>
                        <a:fillRect/>
                      </a:stretch>
                    </p:blipFill>
                    <p:spPr bwMode="auto">
                      <a:xfrm>
                        <a:off x="409949" y="2407037"/>
                        <a:ext cx="3994990" cy="68354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 name="Content Placeholder 7">
            <a:extLst>
              <a:ext uri="{FF2B5EF4-FFF2-40B4-BE49-F238E27FC236}">
                <a16:creationId xmlns:a16="http://schemas.microsoft.com/office/drawing/2014/main" id="{C5F84F11-28EF-2C7C-9CD7-B378326CFE1C}"/>
              </a:ext>
            </a:extLst>
          </p:cNvPr>
          <p:cNvSpPr>
            <a:spLocks noGrp="1"/>
          </p:cNvSpPr>
          <p:nvPr>
            <p:ph sz="quarter" idx="17"/>
          </p:nvPr>
        </p:nvSpPr>
        <p:spPr>
          <a:xfrm>
            <a:off x="409950" y="3593549"/>
            <a:ext cx="5219325" cy="374906"/>
          </a:xfrm>
        </p:spPr>
        <p:txBody>
          <a:bodyPr wrap="square" lIns="0" tIns="18000" rIns="0" bIns="18000" anchor="ctr" anchorCtr="0">
            <a:spAutoFit/>
          </a:bodyPr>
          <a:lstStyle/>
          <a:p>
            <a:pPr marL="0" indent="0">
              <a:buNone/>
            </a:pPr>
            <a:r>
              <a:rPr lang="en-US" sz="2200" noProof="0" dirty="0"/>
              <a:t>Now use </a:t>
            </a:r>
            <a:r>
              <a:rPr lang="en-US" sz="2200" spc="-300" noProof="0" dirty="0"/>
              <a:t>K C </a:t>
            </a:r>
            <a:r>
              <a:rPr lang="en-US" sz="2200" noProof="0" dirty="0"/>
              <a:t>L at the inverting input to find</a:t>
            </a:r>
          </a:p>
        </p:txBody>
      </p:sp>
      <p:graphicFrame>
        <p:nvGraphicFramePr>
          <p:cNvPr id="28" name="Object 5" descr="v subscript o:">
            <a:extLst>
              <a:ext uri="{FF2B5EF4-FFF2-40B4-BE49-F238E27FC236}">
                <a16:creationId xmlns:a16="http://schemas.microsoft.com/office/drawing/2014/main" id="{B5B160F4-661D-833E-DF65-984E85AFF66D}"/>
              </a:ext>
            </a:extLst>
          </p:cNvPr>
          <p:cNvGraphicFramePr>
            <a:graphicFrameLocks noChangeAspect="1"/>
          </p:cNvGraphicFramePr>
          <p:nvPr>
            <p:extLst>
              <p:ext uri="{D42A27DB-BD31-4B8C-83A1-F6EECF244321}">
                <p14:modId xmlns:p14="http://schemas.microsoft.com/office/powerpoint/2010/main" val="346542173"/>
              </p:ext>
            </p:extLst>
          </p:nvPr>
        </p:nvGraphicFramePr>
        <p:xfrm>
          <a:off x="5659438" y="3578225"/>
          <a:ext cx="446087" cy="450850"/>
        </p:xfrm>
        <a:graphic>
          <a:graphicData uri="http://schemas.openxmlformats.org/presentationml/2006/ole">
            <mc:AlternateContent xmlns:mc="http://schemas.openxmlformats.org/markup-compatibility/2006">
              <mc:Choice xmlns:v="urn:schemas-microsoft-com:vml" Requires="v">
                <p:oleObj name="Equation" r:id="rId10" imgW="228600" imgH="228600" progId="Equation.DSMT4">
                  <p:embed/>
                </p:oleObj>
              </mc:Choice>
              <mc:Fallback>
                <p:oleObj name="Equation" r:id="rId10" imgW="228600" imgH="228600" progId="Equation.DSMT4">
                  <p:embed/>
                  <p:pic>
                    <p:nvPicPr>
                      <p:cNvPr id="24" name="Object 5">
                        <a:extLst>
                          <a:ext uri="{FF2B5EF4-FFF2-40B4-BE49-F238E27FC236}">
                            <a16:creationId xmlns:a16="http://schemas.microsoft.com/office/drawing/2014/main" id="{D3E767CA-A1F0-4DA0-387B-21B4D2F03E7A}"/>
                          </a:ext>
                        </a:extLst>
                      </p:cNvPr>
                      <p:cNvPicPr>
                        <a:picLocks noChangeAspect="1" noChangeArrowheads="1"/>
                      </p:cNvPicPr>
                      <p:nvPr/>
                    </p:nvPicPr>
                    <p:blipFill>
                      <a:blip r:embed="rId11"/>
                      <a:srcRect/>
                      <a:stretch>
                        <a:fillRect/>
                      </a:stretch>
                    </p:blipFill>
                    <p:spPr bwMode="auto">
                      <a:xfrm>
                        <a:off x="5659438" y="3578225"/>
                        <a:ext cx="446087" cy="450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 name="Object 5" descr="StartFraction 0.32 over 4500 EndFraction plus StartFraction 0.32 minus v subscript o over 63,000 EndFraction equals 0.">
            <a:extLst>
              <a:ext uri="{FF2B5EF4-FFF2-40B4-BE49-F238E27FC236}">
                <a16:creationId xmlns:a16="http://schemas.microsoft.com/office/drawing/2014/main" id="{49779BDC-32B1-4948-655B-F0BE9D6C820A}"/>
              </a:ext>
            </a:extLst>
          </p:cNvPr>
          <p:cNvGraphicFramePr>
            <a:graphicFrameLocks noChangeAspect="1"/>
          </p:cNvGraphicFramePr>
          <p:nvPr>
            <p:extLst>
              <p:ext uri="{D42A27DB-BD31-4B8C-83A1-F6EECF244321}">
                <p14:modId xmlns:p14="http://schemas.microsoft.com/office/powerpoint/2010/main" val="1694405563"/>
              </p:ext>
            </p:extLst>
          </p:nvPr>
        </p:nvGraphicFramePr>
        <p:xfrm>
          <a:off x="2941705" y="4158704"/>
          <a:ext cx="2289038" cy="778012"/>
        </p:xfrm>
        <a:graphic>
          <a:graphicData uri="http://schemas.openxmlformats.org/presentationml/2006/ole">
            <mc:AlternateContent xmlns:mc="http://schemas.openxmlformats.org/markup-compatibility/2006">
              <mc:Choice xmlns:v="urn:schemas-microsoft-com:vml" Requires="v">
                <p:oleObj name="Equation" r:id="rId12" imgW="1282680" imgH="431640" progId="Equation.DSMT4">
                  <p:embed/>
                </p:oleObj>
              </mc:Choice>
              <mc:Fallback>
                <p:oleObj name="Equation" r:id="rId12" imgW="1282680" imgH="431640" progId="Equation.DSMT4">
                  <p:embed/>
                  <p:pic>
                    <p:nvPicPr>
                      <p:cNvPr id="28" name="Object 5">
                        <a:extLst>
                          <a:ext uri="{FF2B5EF4-FFF2-40B4-BE49-F238E27FC236}">
                            <a16:creationId xmlns:a16="http://schemas.microsoft.com/office/drawing/2014/main" id="{B5B160F4-661D-833E-DF65-984E85AFF66D}"/>
                          </a:ext>
                        </a:extLst>
                      </p:cNvPr>
                      <p:cNvPicPr>
                        <a:picLocks noChangeAspect="1" noChangeArrowheads="1"/>
                      </p:cNvPicPr>
                      <p:nvPr/>
                    </p:nvPicPr>
                    <p:blipFill>
                      <a:blip r:embed="rId13"/>
                      <a:srcRect/>
                      <a:stretch>
                        <a:fillRect/>
                      </a:stretch>
                    </p:blipFill>
                    <p:spPr bwMode="auto">
                      <a:xfrm>
                        <a:off x="2941705" y="4158704"/>
                        <a:ext cx="2289038" cy="7780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 name="Object 5" descr="Forward arrow, v subscript o BaseLine equals 4.8 Volts.">
            <a:extLst>
              <a:ext uri="{FF2B5EF4-FFF2-40B4-BE49-F238E27FC236}">
                <a16:creationId xmlns:a16="http://schemas.microsoft.com/office/drawing/2014/main" id="{ADCD4719-2B3B-3BD4-EFDF-7C780E0EF702}"/>
              </a:ext>
            </a:extLst>
          </p:cNvPr>
          <p:cNvGraphicFramePr>
            <a:graphicFrameLocks noChangeAspect="1"/>
          </p:cNvGraphicFramePr>
          <p:nvPr>
            <p:extLst>
              <p:ext uri="{D42A27DB-BD31-4B8C-83A1-F6EECF244321}">
                <p14:modId xmlns:p14="http://schemas.microsoft.com/office/powerpoint/2010/main" val="1302724466"/>
              </p:ext>
            </p:extLst>
          </p:nvPr>
        </p:nvGraphicFramePr>
        <p:xfrm>
          <a:off x="2993155" y="5172734"/>
          <a:ext cx="2080368" cy="419036"/>
        </p:xfrm>
        <a:graphic>
          <a:graphicData uri="http://schemas.openxmlformats.org/presentationml/2006/ole">
            <mc:AlternateContent xmlns:mc="http://schemas.openxmlformats.org/markup-compatibility/2006">
              <mc:Choice xmlns:v="urn:schemas-microsoft-com:vml" Requires="v">
                <p:oleObj name="Equation" r:id="rId14" imgW="1143000" imgH="228600" progId="Equation.DSMT4">
                  <p:embed/>
                </p:oleObj>
              </mc:Choice>
              <mc:Fallback>
                <p:oleObj name="Equation" r:id="rId14" imgW="1143000" imgH="228600" progId="Equation.DSMT4">
                  <p:embed/>
                  <p:pic>
                    <p:nvPicPr>
                      <p:cNvPr id="29" name="Object 5">
                        <a:extLst>
                          <a:ext uri="{FF2B5EF4-FFF2-40B4-BE49-F238E27FC236}">
                            <a16:creationId xmlns:a16="http://schemas.microsoft.com/office/drawing/2014/main" id="{49779BDC-32B1-4948-655B-F0BE9D6C820A}"/>
                          </a:ext>
                        </a:extLst>
                      </p:cNvPr>
                      <p:cNvPicPr>
                        <a:picLocks noChangeAspect="1" noChangeArrowheads="1"/>
                      </p:cNvPicPr>
                      <p:nvPr/>
                    </p:nvPicPr>
                    <p:blipFill>
                      <a:blip r:embed="rId15"/>
                      <a:srcRect/>
                      <a:stretch>
                        <a:fillRect/>
                      </a:stretch>
                    </p:blipFill>
                    <p:spPr bwMode="auto">
                      <a:xfrm>
                        <a:off x="2993155" y="5172734"/>
                        <a:ext cx="2080368" cy="4190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 name="Object 5" descr="Is negative 5 Volts less than or equal to v subscript o BaseLine less than or equal to 5 Volts? Yes!">
            <a:extLst>
              <a:ext uri="{FF2B5EF4-FFF2-40B4-BE49-F238E27FC236}">
                <a16:creationId xmlns:a16="http://schemas.microsoft.com/office/drawing/2014/main" id="{68DB8881-6032-9BBA-6F8F-D8AB13EF5A73}"/>
              </a:ext>
            </a:extLst>
          </p:cNvPr>
          <p:cNvGraphicFramePr>
            <a:graphicFrameLocks noChangeAspect="1"/>
          </p:cNvGraphicFramePr>
          <p:nvPr>
            <p:extLst>
              <p:ext uri="{D42A27DB-BD31-4B8C-83A1-F6EECF244321}">
                <p14:modId xmlns:p14="http://schemas.microsoft.com/office/powerpoint/2010/main" val="1046314094"/>
              </p:ext>
            </p:extLst>
          </p:nvPr>
        </p:nvGraphicFramePr>
        <p:xfrm>
          <a:off x="2965265" y="5805669"/>
          <a:ext cx="3198866" cy="423226"/>
        </p:xfrm>
        <a:graphic>
          <a:graphicData uri="http://schemas.openxmlformats.org/presentationml/2006/ole">
            <mc:AlternateContent xmlns:mc="http://schemas.openxmlformats.org/markup-compatibility/2006">
              <mc:Choice xmlns:v="urn:schemas-microsoft-com:vml" Requires="v">
                <p:oleObj name="Equation" r:id="rId16" imgW="1739880" imgH="228600" progId="Equation.DSMT4">
                  <p:embed/>
                </p:oleObj>
              </mc:Choice>
              <mc:Fallback>
                <p:oleObj name="Equation" r:id="rId16" imgW="1739880" imgH="228600" progId="Equation.DSMT4">
                  <p:embed/>
                  <p:pic>
                    <p:nvPicPr>
                      <p:cNvPr id="30" name="Object 5">
                        <a:extLst>
                          <a:ext uri="{FF2B5EF4-FFF2-40B4-BE49-F238E27FC236}">
                            <a16:creationId xmlns:a16="http://schemas.microsoft.com/office/drawing/2014/main" id="{ADCD4719-2B3B-3BD4-EFDF-7C780E0EF702}"/>
                          </a:ext>
                        </a:extLst>
                      </p:cNvPr>
                      <p:cNvPicPr>
                        <a:picLocks noChangeAspect="1" noChangeArrowheads="1"/>
                      </p:cNvPicPr>
                      <p:nvPr/>
                    </p:nvPicPr>
                    <p:blipFill>
                      <a:blip r:embed="rId17"/>
                      <a:srcRect/>
                      <a:stretch>
                        <a:fillRect/>
                      </a:stretch>
                    </p:blipFill>
                    <p:spPr bwMode="auto">
                      <a:xfrm>
                        <a:off x="2965265" y="5805669"/>
                        <a:ext cx="3198866" cy="42322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7" name="Picture 6" descr="A circuit diagram shows an operational amplifier with positive 5 volts applied to its top vertical terminal and negative 5 volts applied to its bottom vertical terminal. The inverting input wire to the operational amplifier contains a 4.5 kilo ohms resistor, to the right of which is a node on the inverting input wire and this node is connected to the output terminal of the operational amplifier through a 63 kilo ohms resistor. Positive 400 milli volts is applied to the left terminal of a 15 kilo ohms resistor, the right terminal of which is connected to a node on the non inverting input wire. This node on the non inverting input wire is also connected to ground through a variable resistor R subscript x. Voltage v subscript o exists between the output terminal of the operational amplifier and ground.">
            <a:extLst>
              <a:ext uri="{FF2B5EF4-FFF2-40B4-BE49-F238E27FC236}">
                <a16:creationId xmlns:a16="http://schemas.microsoft.com/office/drawing/2014/main" id="{40C5B49E-9177-668B-EC2C-1383A3BB997A}"/>
              </a:ext>
            </a:extLst>
          </p:cNvPr>
          <p:cNvPicPr>
            <a:picLocks noChangeAspect="1"/>
          </p:cNvPicPr>
          <p:nvPr/>
        </p:nvPicPr>
        <p:blipFill>
          <a:blip r:embed="rId18"/>
          <a:stretch>
            <a:fillRect/>
          </a:stretch>
        </p:blipFill>
        <p:spPr>
          <a:xfrm>
            <a:off x="4874707" y="1348694"/>
            <a:ext cx="3556674" cy="2079562"/>
          </a:xfrm>
          <a:prstGeom prst="rect">
            <a:avLst/>
          </a:prstGeom>
        </p:spPr>
      </p:pic>
    </p:spTree>
    <p:extLst>
      <p:ext uri="{BB962C8B-B14F-4D97-AF65-F5344CB8AC3E}">
        <p14:creationId xmlns:p14="http://schemas.microsoft.com/office/powerpoint/2010/main" val="28751719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1">
            <a:extLst>
              <a:ext uri="{FF2B5EF4-FFF2-40B4-BE49-F238E27FC236}">
                <a16:creationId xmlns:a16="http://schemas.microsoft.com/office/drawing/2014/main" id="{3996DD51-4E8A-3B85-4CC2-B0CD9D0BB8A4}"/>
              </a:ext>
            </a:extLst>
          </p:cNvPr>
          <p:cNvSpPr>
            <a:spLocks noGrp="1"/>
          </p:cNvSpPr>
          <p:nvPr>
            <p:ph type="title"/>
          </p:nvPr>
        </p:nvSpPr>
        <p:spPr>
          <a:xfrm>
            <a:off x="431650" y="163613"/>
            <a:ext cx="8242600" cy="590349"/>
          </a:xfrm>
        </p:spPr>
        <p:txBody>
          <a:bodyPr wrap="square" lIns="0" tIns="18000" rIns="0" bIns="18000" anchor="ctr">
            <a:spAutoFit/>
          </a:bodyPr>
          <a:lstStyle/>
          <a:p>
            <a:r>
              <a:rPr lang="en-US" noProof="0" dirty="0"/>
              <a:t>Chapter 5 – Op Amps </a:t>
            </a:r>
            <a:r>
              <a:rPr lang="en-US" sz="2800" noProof="0" dirty="0"/>
              <a:t>(7 of 11)</a:t>
            </a:r>
          </a:p>
        </p:txBody>
      </p:sp>
      <p:sp>
        <p:nvSpPr>
          <p:cNvPr id="3" name="Content Placeholder 2">
            <a:extLst>
              <a:ext uri="{FF2B5EF4-FFF2-40B4-BE49-F238E27FC236}">
                <a16:creationId xmlns:a16="http://schemas.microsoft.com/office/drawing/2014/main" id="{CCEA99F9-0406-6157-7223-7B3D477698BB}"/>
              </a:ext>
            </a:extLst>
          </p:cNvPr>
          <p:cNvSpPr>
            <a:spLocks noGrp="1"/>
          </p:cNvSpPr>
          <p:nvPr>
            <p:ph sz="quarter" idx="12"/>
          </p:nvPr>
        </p:nvSpPr>
        <p:spPr>
          <a:xfrm>
            <a:off x="428625" y="923004"/>
            <a:ext cx="8213725" cy="374906"/>
          </a:xfrm>
        </p:spPr>
        <p:txBody>
          <a:bodyPr wrap="square" lIns="0" tIns="18000" rIns="0" bIns="18000" anchor="ctr" anchorCtr="0">
            <a:spAutoFit/>
          </a:bodyPr>
          <a:lstStyle/>
          <a:p>
            <a:pPr marL="0" indent="0">
              <a:buNone/>
            </a:pPr>
            <a:r>
              <a:rPr lang="en-US" sz="2200" noProof="0" dirty="0"/>
              <a:t>Non-inverting Amplifier Example, </a:t>
            </a:r>
            <a:r>
              <a:rPr lang="en-US" altLang="en-US" sz="2200" dirty="0"/>
              <a:t>continued</a:t>
            </a:r>
            <a:endParaRPr lang="en-US" sz="2200" noProof="0" dirty="0"/>
          </a:p>
        </p:txBody>
      </p:sp>
      <p:sp>
        <p:nvSpPr>
          <p:cNvPr id="4" name="Content Placeholder 3">
            <a:extLst>
              <a:ext uri="{FF2B5EF4-FFF2-40B4-BE49-F238E27FC236}">
                <a16:creationId xmlns:a16="http://schemas.microsoft.com/office/drawing/2014/main" id="{94B78241-1B4F-FDCB-699D-CD03C61D697F}"/>
              </a:ext>
            </a:extLst>
          </p:cNvPr>
          <p:cNvSpPr>
            <a:spLocks noGrp="1"/>
          </p:cNvSpPr>
          <p:nvPr>
            <p:ph sz="quarter" idx="13"/>
          </p:nvPr>
        </p:nvSpPr>
        <p:spPr>
          <a:xfrm>
            <a:off x="428625" y="1456404"/>
            <a:ext cx="2105025" cy="374906"/>
          </a:xfrm>
        </p:spPr>
        <p:txBody>
          <a:bodyPr wrap="square" lIns="0" tIns="18000" rIns="0" bIns="18000" anchor="ctr" anchorCtr="0">
            <a:spAutoFit/>
          </a:bodyPr>
          <a:lstStyle/>
          <a:p>
            <a:pPr marL="0" indent="0">
              <a:buNone/>
            </a:pPr>
            <a:r>
              <a:rPr lang="en-US" sz="2200" noProof="0" dirty="0"/>
              <a:t>Find the value of</a:t>
            </a:r>
          </a:p>
        </p:txBody>
      </p:sp>
      <p:graphicFrame>
        <p:nvGraphicFramePr>
          <p:cNvPr id="22" name="Object 5" descr=" R subscript x.">
            <a:extLst>
              <a:ext uri="{FF2B5EF4-FFF2-40B4-BE49-F238E27FC236}">
                <a16:creationId xmlns:a16="http://schemas.microsoft.com/office/drawing/2014/main" id="{B736D12C-511D-809F-5494-1B622BD6EAE2}"/>
              </a:ext>
            </a:extLst>
          </p:cNvPr>
          <p:cNvGraphicFramePr>
            <a:graphicFrameLocks noChangeAspect="1"/>
          </p:cNvGraphicFramePr>
          <p:nvPr>
            <p:extLst>
              <p:ext uri="{D42A27DB-BD31-4B8C-83A1-F6EECF244321}">
                <p14:modId xmlns:p14="http://schemas.microsoft.com/office/powerpoint/2010/main" val="3278843557"/>
              </p:ext>
            </p:extLst>
          </p:nvPr>
        </p:nvGraphicFramePr>
        <p:xfrm>
          <a:off x="2615190" y="1484168"/>
          <a:ext cx="360795" cy="409864"/>
        </p:xfrm>
        <a:graphic>
          <a:graphicData uri="http://schemas.openxmlformats.org/presentationml/2006/ole">
            <mc:AlternateContent xmlns:mc="http://schemas.openxmlformats.org/markup-compatibility/2006">
              <mc:Choice xmlns:v="urn:schemas-microsoft-com:vml" Requires="v">
                <p:oleObj name="Equation" r:id="rId3" imgW="203040" imgH="228600" progId="Equation.DSMT4">
                  <p:embed/>
                </p:oleObj>
              </mc:Choice>
              <mc:Fallback>
                <p:oleObj name="Equation" r:id="rId3" imgW="203040" imgH="228600" progId="Equation.DSMT4">
                  <p:embed/>
                  <p:pic>
                    <p:nvPicPr>
                      <p:cNvPr id="28" name="Object 5">
                        <a:extLst>
                          <a:ext uri="{FF2B5EF4-FFF2-40B4-BE49-F238E27FC236}">
                            <a16:creationId xmlns:a16="http://schemas.microsoft.com/office/drawing/2014/main" id="{B5B160F4-661D-833E-DF65-984E85AFF66D}"/>
                          </a:ext>
                        </a:extLst>
                      </p:cNvPr>
                      <p:cNvPicPr>
                        <a:picLocks noChangeAspect="1" noChangeArrowheads="1"/>
                      </p:cNvPicPr>
                      <p:nvPr/>
                    </p:nvPicPr>
                    <p:blipFill>
                      <a:blip r:embed="rId4"/>
                      <a:srcRect/>
                      <a:stretch>
                        <a:fillRect/>
                      </a:stretch>
                    </p:blipFill>
                    <p:spPr bwMode="auto">
                      <a:xfrm>
                        <a:off x="2615190" y="1484168"/>
                        <a:ext cx="360795" cy="4098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 name="Content Placeholder 4">
            <a:extLst>
              <a:ext uri="{FF2B5EF4-FFF2-40B4-BE49-F238E27FC236}">
                <a16:creationId xmlns:a16="http://schemas.microsoft.com/office/drawing/2014/main" id="{32591225-947F-4BD6-71A1-B3C0208656C9}"/>
              </a:ext>
            </a:extLst>
          </p:cNvPr>
          <p:cNvSpPr>
            <a:spLocks noGrp="1"/>
          </p:cNvSpPr>
          <p:nvPr>
            <p:ph sz="quarter" idx="14"/>
          </p:nvPr>
        </p:nvSpPr>
        <p:spPr>
          <a:xfrm>
            <a:off x="3083935" y="1455593"/>
            <a:ext cx="5558415" cy="374906"/>
          </a:xfrm>
        </p:spPr>
        <p:txBody>
          <a:bodyPr wrap="square" lIns="0" tIns="18000" rIns="0" bIns="18000" anchor="ctr" anchorCtr="0">
            <a:spAutoFit/>
          </a:bodyPr>
          <a:lstStyle/>
          <a:p>
            <a:pPr marL="0" indent="0">
              <a:buNone/>
            </a:pPr>
            <a:r>
              <a:rPr lang="en-US" sz="2200" noProof="0" dirty="0"/>
              <a:t>that will cause the op amp to saturate.</a:t>
            </a:r>
          </a:p>
        </p:txBody>
      </p:sp>
      <p:pic>
        <p:nvPicPr>
          <p:cNvPr id="6" name="Picture 5" descr="A circuit diagram shows an operational amplifier with positive 5 volts applied to its top vertical terminal and negative 5 volts applied to its bottom vertical terminal. The inverting input wire to the operational amplifier contains a 4.5 kilo ohms resistor, to the right of which is a node on the inverting input wire and this node is connected to the output terminal of the operational amplifier through a 63 kilo ohms resistor. Positive 400 milli volts is applied to the left terminal of a 15 kilo ohms resistor, the right terminal of which is connected to a node on the non inverting input wire. This node on the non inverting input wire is also connected to ground through a variable resistor R subscript x. Voltage v subscript o exists between the output terminal of the operational amplifier and ground.">
            <a:extLst>
              <a:ext uri="{FF2B5EF4-FFF2-40B4-BE49-F238E27FC236}">
                <a16:creationId xmlns:a16="http://schemas.microsoft.com/office/drawing/2014/main" id="{28D7D5CA-F120-5319-675E-F2390A0E24B6}"/>
              </a:ext>
            </a:extLst>
          </p:cNvPr>
          <p:cNvPicPr>
            <a:picLocks noChangeAspect="1"/>
          </p:cNvPicPr>
          <p:nvPr/>
        </p:nvPicPr>
        <p:blipFill>
          <a:blip r:embed="rId5"/>
          <a:stretch>
            <a:fillRect/>
          </a:stretch>
        </p:blipFill>
        <p:spPr>
          <a:xfrm>
            <a:off x="3004911" y="1878180"/>
            <a:ext cx="3556674" cy="2079562"/>
          </a:xfrm>
          <a:prstGeom prst="rect">
            <a:avLst/>
          </a:prstGeom>
        </p:spPr>
      </p:pic>
      <p:graphicFrame>
        <p:nvGraphicFramePr>
          <p:cNvPr id="25" name="Object 5" descr="The figure illustrates an equation for v subscript o in terms of v subscript p.&#10;Long description 1 is available in notes, Press F6.">
            <a:extLst>
              <a:ext uri="{FF2B5EF4-FFF2-40B4-BE49-F238E27FC236}">
                <a16:creationId xmlns:a16="http://schemas.microsoft.com/office/drawing/2014/main" id="{DA574AC4-0AA0-06FC-C23C-6791D4107A97}"/>
              </a:ext>
            </a:extLst>
          </p:cNvPr>
          <p:cNvGraphicFramePr>
            <a:graphicFrameLocks noChangeAspect="1"/>
          </p:cNvGraphicFramePr>
          <p:nvPr>
            <p:extLst>
              <p:ext uri="{D42A27DB-BD31-4B8C-83A1-F6EECF244321}">
                <p14:modId xmlns:p14="http://schemas.microsoft.com/office/powerpoint/2010/main" val="2227318435"/>
              </p:ext>
            </p:extLst>
          </p:nvPr>
        </p:nvGraphicFramePr>
        <p:xfrm>
          <a:off x="2069798" y="4077020"/>
          <a:ext cx="3928078" cy="715031"/>
        </p:xfrm>
        <a:graphic>
          <a:graphicData uri="http://schemas.openxmlformats.org/presentationml/2006/ole">
            <mc:AlternateContent xmlns:mc="http://schemas.openxmlformats.org/markup-compatibility/2006">
              <mc:Choice xmlns:v="urn:schemas-microsoft-com:vml" Requires="v">
                <p:oleObj name="Equation" r:id="rId6" imgW="2679480" imgH="482400" progId="Equation.DSMT4">
                  <p:embed/>
                </p:oleObj>
              </mc:Choice>
              <mc:Fallback>
                <p:oleObj name="Equation" r:id="rId6" imgW="2679480" imgH="482400" progId="Equation.DSMT4">
                  <p:embed/>
                  <p:pic>
                    <p:nvPicPr>
                      <p:cNvPr id="22" name="Object 5">
                        <a:extLst>
                          <a:ext uri="{FF2B5EF4-FFF2-40B4-BE49-F238E27FC236}">
                            <a16:creationId xmlns:a16="http://schemas.microsoft.com/office/drawing/2014/main" id="{B736D12C-511D-809F-5494-1B622BD6EAE2}"/>
                          </a:ext>
                        </a:extLst>
                      </p:cNvPr>
                      <p:cNvPicPr>
                        <a:picLocks noChangeAspect="1" noChangeArrowheads="1"/>
                      </p:cNvPicPr>
                      <p:nvPr/>
                    </p:nvPicPr>
                    <p:blipFill>
                      <a:blip r:embed="rId7"/>
                      <a:srcRect/>
                      <a:stretch>
                        <a:fillRect/>
                      </a:stretch>
                    </p:blipFill>
                    <p:spPr bwMode="auto">
                      <a:xfrm>
                        <a:off x="2069798" y="4077020"/>
                        <a:ext cx="3928078" cy="7150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 name="Object 5" descr="The figure illustrates the calculation of v subscript o to obtain an output of 5.&#10;Long description 2 is available in notes, Press F6.">
            <a:extLst>
              <a:ext uri="{FF2B5EF4-FFF2-40B4-BE49-F238E27FC236}">
                <a16:creationId xmlns:a16="http://schemas.microsoft.com/office/drawing/2014/main" id="{530D7804-C1CC-DA06-24E1-C13AE310688A}"/>
              </a:ext>
            </a:extLst>
          </p:cNvPr>
          <p:cNvGraphicFramePr>
            <a:graphicFrameLocks noChangeAspect="1"/>
          </p:cNvGraphicFramePr>
          <p:nvPr>
            <p:extLst>
              <p:ext uri="{D42A27DB-BD31-4B8C-83A1-F6EECF244321}">
                <p14:modId xmlns:p14="http://schemas.microsoft.com/office/powerpoint/2010/main" val="3605100077"/>
              </p:ext>
            </p:extLst>
          </p:nvPr>
        </p:nvGraphicFramePr>
        <p:xfrm>
          <a:off x="2085975" y="4867275"/>
          <a:ext cx="6105525" cy="658813"/>
        </p:xfrm>
        <a:graphic>
          <a:graphicData uri="http://schemas.openxmlformats.org/presentationml/2006/ole">
            <mc:AlternateContent xmlns:mc="http://schemas.openxmlformats.org/markup-compatibility/2006">
              <mc:Choice xmlns:v="urn:schemas-microsoft-com:vml" Requires="v">
                <p:oleObj name="Equation" r:id="rId8" imgW="4165560" imgH="444240" progId="Equation.DSMT4">
                  <p:embed/>
                </p:oleObj>
              </mc:Choice>
              <mc:Fallback>
                <p:oleObj name="Equation" r:id="rId8" imgW="4165560" imgH="444240" progId="Equation.DSMT4">
                  <p:embed/>
                  <p:pic>
                    <p:nvPicPr>
                      <p:cNvPr id="25" name="Object 5">
                        <a:extLst>
                          <a:ext uri="{FF2B5EF4-FFF2-40B4-BE49-F238E27FC236}">
                            <a16:creationId xmlns:a16="http://schemas.microsoft.com/office/drawing/2014/main" id="{DA574AC4-0AA0-06FC-C23C-6791D4107A97}"/>
                          </a:ext>
                        </a:extLst>
                      </p:cNvPr>
                      <p:cNvPicPr>
                        <a:picLocks noChangeAspect="1" noChangeArrowheads="1"/>
                      </p:cNvPicPr>
                      <p:nvPr/>
                    </p:nvPicPr>
                    <p:blipFill>
                      <a:blip r:embed="rId9"/>
                      <a:srcRect/>
                      <a:stretch>
                        <a:fillRect/>
                      </a:stretch>
                    </p:blipFill>
                    <p:spPr bwMode="auto">
                      <a:xfrm>
                        <a:off x="2085975" y="4867275"/>
                        <a:ext cx="6105525" cy="658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7" name="Object 5" descr="Forward arrow, 6 R subscript x BaseLine equals 75,000 plus 5 R subscript x BaseLine, therefore, R subscript x BaseLine equals 75 kilo Ohms.">
            <a:extLst>
              <a:ext uri="{FF2B5EF4-FFF2-40B4-BE49-F238E27FC236}">
                <a16:creationId xmlns:a16="http://schemas.microsoft.com/office/drawing/2014/main" id="{4ABC7538-1ADA-0CB0-BBF6-2D1AEBB2E5A8}"/>
              </a:ext>
            </a:extLst>
          </p:cNvPr>
          <p:cNvGraphicFramePr>
            <a:graphicFrameLocks noChangeAspect="1"/>
          </p:cNvGraphicFramePr>
          <p:nvPr>
            <p:extLst>
              <p:ext uri="{D42A27DB-BD31-4B8C-83A1-F6EECF244321}">
                <p14:modId xmlns:p14="http://schemas.microsoft.com/office/powerpoint/2010/main" val="3371089986"/>
              </p:ext>
            </p:extLst>
          </p:nvPr>
        </p:nvGraphicFramePr>
        <p:xfrm>
          <a:off x="2147888" y="5788025"/>
          <a:ext cx="4894262" cy="339725"/>
        </p:xfrm>
        <a:graphic>
          <a:graphicData uri="http://schemas.openxmlformats.org/presentationml/2006/ole">
            <mc:AlternateContent xmlns:mc="http://schemas.openxmlformats.org/markup-compatibility/2006">
              <mc:Choice xmlns:v="urn:schemas-microsoft-com:vml" Requires="v">
                <p:oleObj name="Equation" r:id="rId10" imgW="3340080" imgH="228600" progId="Equation.DSMT4">
                  <p:embed/>
                </p:oleObj>
              </mc:Choice>
              <mc:Fallback>
                <p:oleObj name="Equation" r:id="rId10" imgW="3340080" imgH="228600" progId="Equation.DSMT4">
                  <p:embed/>
                  <p:pic>
                    <p:nvPicPr>
                      <p:cNvPr id="26" name="Object 5">
                        <a:extLst>
                          <a:ext uri="{FF2B5EF4-FFF2-40B4-BE49-F238E27FC236}">
                            <a16:creationId xmlns:a16="http://schemas.microsoft.com/office/drawing/2014/main" id="{530D7804-C1CC-DA06-24E1-C13AE310688A}"/>
                          </a:ext>
                        </a:extLst>
                      </p:cNvPr>
                      <p:cNvPicPr>
                        <a:picLocks noChangeAspect="1" noChangeArrowheads="1"/>
                      </p:cNvPicPr>
                      <p:nvPr/>
                    </p:nvPicPr>
                    <p:blipFill>
                      <a:blip r:embed="rId11"/>
                      <a:srcRect/>
                      <a:stretch>
                        <a:fillRect/>
                      </a:stretch>
                    </p:blipFill>
                    <p:spPr bwMode="auto">
                      <a:xfrm>
                        <a:off x="2147888" y="5788025"/>
                        <a:ext cx="4894262" cy="339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6548331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1">
            <a:extLst>
              <a:ext uri="{FF2B5EF4-FFF2-40B4-BE49-F238E27FC236}">
                <a16:creationId xmlns:a16="http://schemas.microsoft.com/office/drawing/2014/main" id="{849B1CA7-0279-743C-9BFE-E80654ADBDED}"/>
              </a:ext>
            </a:extLst>
          </p:cNvPr>
          <p:cNvSpPr>
            <a:spLocks noGrp="1"/>
          </p:cNvSpPr>
          <p:nvPr>
            <p:ph type="title"/>
          </p:nvPr>
        </p:nvSpPr>
        <p:spPr>
          <a:xfrm>
            <a:off x="431650" y="163613"/>
            <a:ext cx="8242600" cy="590349"/>
          </a:xfrm>
        </p:spPr>
        <p:txBody>
          <a:bodyPr wrap="square" lIns="0" tIns="18000" rIns="0" bIns="18000" anchor="ctr">
            <a:spAutoFit/>
          </a:bodyPr>
          <a:lstStyle/>
          <a:p>
            <a:r>
              <a:rPr lang="en-US" noProof="0" dirty="0"/>
              <a:t>Chapter 5 – Op Amps </a:t>
            </a:r>
            <a:r>
              <a:rPr lang="en-US" sz="2800" noProof="0" dirty="0"/>
              <a:t>(8 of 11)</a:t>
            </a:r>
          </a:p>
        </p:txBody>
      </p:sp>
      <p:sp>
        <p:nvSpPr>
          <p:cNvPr id="3" name="Content Placeholder 2">
            <a:extLst>
              <a:ext uri="{FF2B5EF4-FFF2-40B4-BE49-F238E27FC236}">
                <a16:creationId xmlns:a16="http://schemas.microsoft.com/office/drawing/2014/main" id="{7B223280-5E0D-31AF-2205-F715CE4B4A4E}"/>
              </a:ext>
            </a:extLst>
          </p:cNvPr>
          <p:cNvSpPr>
            <a:spLocks noGrp="1"/>
          </p:cNvSpPr>
          <p:nvPr>
            <p:ph sz="quarter" idx="12"/>
          </p:nvPr>
        </p:nvSpPr>
        <p:spPr>
          <a:xfrm>
            <a:off x="428625" y="927349"/>
            <a:ext cx="8245625" cy="1052014"/>
          </a:xfrm>
        </p:spPr>
        <p:txBody>
          <a:bodyPr wrap="square" lIns="0" tIns="18000" rIns="0" bIns="18000" anchor="ctr" anchorCtr="0">
            <a:spAutoFit/>
          </a:bodyPr>
          <a:lstStyle/>
          <a:p>
            <a:pPr marL="0" indent="0">
              <a:buNone/>
            </a:pPr>
            <a:r>
              <a:rPr lang="en-US" sz="2200" noProof="0" dirty="0">
                <a:solidFill>
                  <a:srgbClr val="007FA3"/>
                </a:solidFill>
              </a:rPr>
              <a:t>What op amp circuit configuration is shown here? (Hints – how many inputs are there, and where are those inputs connected to the op amp?)</a:t>
            </a:r>
          </a:p>
        </p:txBody>
      </p:sp>
      <p:pic>
        <p:nvPicPr>
          <p:cNvPr id="32" name="Picture 31" descr="A circuit diagram shows an operational amplifier on the right and various resistors on the left. Positive voltage v subscript a is applied to the left terminal of an 80 kilo ohms resistor. Current i subscript a flows through this 80 kilo ohms resistor. Positive voltage v subscript b is applied to the left terminal of a 64 kilo ohms resistor. Current i subscript b flows through this 64 kilo ohms resistor. The right terminals of the 80 kilo ohms and the 64 kilo ohms resistors are joined to form a node and this node is connected to the non inverting input wire of the operational amplifier. &#10;The inverting input wire houses an 18 kilo ohms resistor. The right side of this 18 kilo ohms resistor is connected to the inverting terminal as also to the output terminal of the operational amplifier through a 72 kilo ohms feedback resistor. Positive 9 volts is applied to the top vertical terminal of the operational amplifier and minus 9 volts applied to its bottom vertical terminal. Voltage v subscript o exists across the load resistor of 54 kilo ohms connected between the output terminal of the operational amplifier and ground. Voltage v subscript o has positive polarity at the top and negative at bottom.">
            <a:extLst>
              <a:ext uri="{FF2B5EF4-FFF2-40B4-BE49-F238E27FC236}">
                <a16:creationId xmlns:a16="http://schemas.microsoft.com/office/drawing/2014/main" id="{5E0FAF4D-4C2A-A3A3-664A-E46718931936}"/>
              </a:ext>
            </a:extLst>
          </p:cNvPr>
          <p:cNvPicPr>
            <a:picLocks noChangeAspect="1"/>
          </p:cNvPicPr>
          <p:nvPr/>
        </p:nvPicPr>
        <p:blipFill>
          <a:blip r:embed="rId2"/>
          <a:stretch>
            <a:fillRect/>
          </a:stretch>
        </p:blipFill>
        <p:spPr>
          <a:xfrm>
            <a:off x="2924610" y="2149871"/>
            <a:ext cx="3151905" cy="2003859"/>
          </a:xfrm>
          <a:prstGeom prst="rect">
            <a:avLst/>
          </a:prstGeom>
        </p:spPr>
      </p:pic>
      <p:sp>
        <p:nvSpPr>
          <p:cNvPr id="28" name="Content Placeholder 27">
            <a:extLst>
              <a:ext uri="{FF2B5EF4-FFF2-40B4-BE49-F238E27FC236}">
                <a16:creationId xmlns:a16="http://schemas.microsoft.com/office/drawing/2014/main" id="{EF08A2B9-6629-C3CD-964C-411957631D17}"/>
              </a:ext>
            </a:extLst>
          </p:cNvPr>
          <p:cNvSpPr>
            <a:spLocks noGrp="1"/>
          </p:cNvSpPr>
          <p:nvPr>
            <p:ph sz="quarter" idx="14"/>
          </p:nvPr>
        </p:nvSpPr>
        <p:spPr>
          <a:xfrm>
            <a:off x="1238250" y="4367957"/>
            <a:ext cx="2733675" cy="374906"/>
          </a:xfrm>
        </p:spPr>
        <p:txBody>
          <a:bodyPr wrap="square" lIns="0" tIns="18000" rIns="0" bIns="18000" anchor="ctr" anchorCtr="0">
            <a:spAutoFit/>
          </a:bodyPr>
          <a:lstStyle/>
          <a:p>
            <a:pPr marL="0" indent="0">
              <a:buNone/>
            </a:pPr>
            <a:r>
              <a:rPr lang="en-US" sz="2200" noProof="0" dirty="0">
                <a:solidFill>
                  <a:srgbClr val="007FA3"/>
                </a:solidFill>
              </a:rPr>
              <a:t>A.</a:t>
            </a:r>
            <a:r>
              <a:rPr lang="en-US" sz="2200" noProof="0" dirty="0"/>
              <a:t> Inverting amplifier</a:t>
            </a:r>
          </a:p>
        </p:txBody>
      </p:sp>
      <p:sp>
        <p:nvSpPr>
          <p:cNvPr id="6" name="Content Placeholder 5">
            <a:extLst>
              <a:ext uri="{FF2B5EF4-FFF2-40B4-BE49-F238E27FC236}">
                <a16:creationId xmlns:a16="http://schemas.microsoft.com/office/drawing/2014/main" id="{BAE8A7B0-AF96-8906-48FB-E4FB29BB4749}"/>
              </a:ext>
            </a:extLst>
          </p:cNvPr>
          <p:cNvSpPr>
            <a:spLocks noGrp="1"/>
          </p:cNvSpPr>
          <p:nvPr>
            <p:ph sz="quarter" idx="15"/>
          </p:nvPr>
        </p:nvSpPr>
        <p:spPr>
          <a:xfrm>
            <a:off x="1238250" y="4882725"/>
            <a:ext cx="4054475" cy="374906"/>
          </a:xfrm>
        </p:spPr>
        <p:txBody>
          <a:bodyPr lIns="0" tIns="18000" rIns="0" bIns="18000" anchor="ctr" anchorCtr="0">
            <a:spAutoFit/>
          </a:bodyPr>
          <a:lstStyle/>
          <a:p>
            <a:pPr marL="0" indent="0">
              <a:buNone/>
              <a:defRPr/>
            </a:pPr>
            <a:r>
              <a:rPr lang="en-US" sz="2200" noProof="0" dirty="0">
                <a:solidFill>
                  <a:srgbClr val="007FA3"/>
                </a:solidFill>
              </a:rPr>
              <a:t>B.</a:t>
            </a:r>
            <a:r>
              <a:rPr lang="en-US" sz="2200" noProof="0" dirty="0"/>
              <a:t> Inverting summing amplifier</a:t>
            </a:r>
          </a:p>
        </p:txBody>
      </p:sp>
      <p:sp>
        <p:nvSpPr>
          <p:cNvPr id="7" name="Content Placeholder 6">
            <a:extLst>
              <a:ext uri="{FF2B5EF4-FFF2-40B4-BE49-F238E27FC236}">
                <a16:creationId xmlns:a16="http://schemas.microsoft.com/office/drawing/2014/main" id="{62498DDE-4527-0F44-EF98-5314CFFDB41C}"/>
              </a:ext>
            </a:extLst>
          </p:cNvPr>
          <p:cNvSpPr>
            <a:spLocks noGrp="1"/>
          </p:cNvSpPr>
          <p:nvPr>
            <p:ph sz="quarter" idx="16"/>
          </p:nvPr>
        </p:nvSpPr>
        <p:spPr>
          <a:xfrm>
            <a:off x="1238249" y="5425981"/>
            <a:ext cx="3262313" cy="374906"/>
          </a:xfrm>
        </p:spPr>
        <p:txBody>
          <a:bodyPr wrap="square" lIns="0" tIns="18000" rIns="0" bIns="18000" anchor="ctr" anchorCtr="0">
            <a:spAutoFit/>
          </a:bodyPr>
          <a:lstStyle/>
          <a:p>
            <a:pPr marL="0" indent="0">
              <a:buNone/>
              <a:defRPr/>
            </a:pPr>
            <a:r>
              <a:rPr lang="en-US" sz="2200" noProof="0" dirty="0">
                <a:solidFill>
                  <a:srgbClr val="007BA7"/>
                </a:solidFill>
              </a:rPr>
              <a:t>C.</a:t>
            </a:r>
            <a:r>
              <a:rPr lang="en-US" sz="2200" noProof="0" dirty="0"/>
              <a:t> Non-inverting amplifier</a:t>
            </a:r>
          </a:p>
        </p:txBody>
      </p:sp>
      <p:sp>
        <p:nvSpPr>
          <p:cNvPr id="8" name="Content Placeholder 7">
            <a:extLst>
              <a:ext uri="{FF2B5EF4-FFF2-40B4-BE49-F238E27FC236}">
                <a16:creationId xmlns:a16="http://schemas.microsoft.com/office/drawing/2014/main" id="{6968927B-D424-A0D1-331A-46B10C9612FF}"/>
              </a:ext>
            </a:extLst>
          </p:cNvPr>
          <p:cNvSpPr>
            <a:spLocks noGrp="1"/>
          </p:cNvSpPr>
          <p:nvPr>
            <p:ph sz="quarter" idx="17"/>
          </p:nvPr>
        </p:nvSpPr>
        <p:spPr>
          <a:xfrm>
            <a:off x="1238250" y="5960583"/>
            <a:ext cx="4543425" cy="374906"/>
          </a:xfrm>
        </p:spPr>
        <p:txBody>
          <a:bodyPr wrap="square" lIns="0" tIns="18000" rIns="0" bIns="18000" anchor="ctr" anchorCtr="0">
            <a:spAutoFit/>
          </a:bodyPr>
          <a:lstStyle/>
          <a:p>
            <a:pPr marL="0" indent="0">
              <a:buNone/>
              <a:defRPr/>
            </a:pPr>
            <a:r>
              <a:rPr lang="en-US" sz="2200" noProof="0" dirty="0">
                <a:solidFill>
                  <a:srgbClr val="007FA3"/>
                </a:solidFill>
              </a:rPr>
              <a:t>D.</a:t>
            </a:r>
            <a:r>
              <a:rPr lang="en-US" sz="2200" noProof="0" dirty="0"/>
              <a:t> Non-inverting summing amplifier</a:t>
            </a:r>
          </a:p>
        </p:txBody>
      </p:sp>
    </p:spTree>
    <p:extLst>
      <p:ext uri="{BB962C8B-B14F-4D97-AF65-F5344CB8AC3E}">
        <p14:creationId xmlns:p14="http://schemas.microsoft.com/office/powerpoint/2010/main" val="10136205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CB5E67-7E7F-2F18-42F3-C94930CB8781}"/>
            </a:ext>
          </a:extLst>
        </p:cNvPr>
        <p:cNvGrpSpPr/>
        <p:nvPr/>
      </p:nvGrpSpPr>
      <p:grpSpPr>
        <a:xfrm>
          <a:off x="0" y="0"/>
          <a:ext cx="0" cy="0"/>
          <a:chOff x="0" y="0"/>
          <a:chExt cx="0" cy="0"/>
        </a:xfrm>
      </p:grpSpPr>
      <p:sp>
        <p:nvSpPr>
          <p:cNvPr id="21" name="Title 1">
            <a:extLst>
              <a:ext uri="{FF2B5EF4-FFF2-40B4-BE49-F238E27FC236}">
                <a16:creationId xmlns:a16="http://schemas.microsoft.com/office/drawing/2014/main" id="{DD9804F6-E7F8-1629-7BF1-0B08043CE224}"/>
              </a:ext>
            </a:extLst>
          </p:cNvPr>
          <p:cNvSpPr>
            <a:spLocks noGrp="1"/>
          </p:cNvSpPr>
          <p:nvPr>
            <p:ph type="title"/>
          </p:nvPr>
        </p:nvSpPr>
        <p:spPr>
          <a:xfrm>
            <a:off x="431650" y="163613"/>
            <a:ext cx="8242600" cy="590349"/>
          </a:xfrm>
        </p:spPr>
        <p:txBody>
          <a:bodyPr wrap="square" lIns="0" tIns="18000" rIns="0" bIns="18000" anchor="ctr">
            <a:spAutoFit/>
          </a:bodyPr>
          <a:lstStyle/>
          <a:p>
            <a:r>
              <a:rPr lang="en-US" noProof="0" dirty="0"/>
              <a:t>Chapter 5 – Op Amps </a:t>
            </a:r>
            <a:r>
              <a:rPr lang="en-US" sz="2800" noProof="0" dirty="0"/>
              <a:t>(8 of 11)</a:t>
            </a:r>
          </a:p>
        </p:txBody>
      </p:sp>
      <p:sp>
        <p:nvSpPr>
          <p:cNvPr id="3" name="Content Placeholder 2">
            <a:extLst>
              <a:ext uri="{FF2B5EF4-FFF2-40B4-BE49-F238E27FC236}">
                <a16:creationId xmlns:a16="http://schemas.microsoft.com/office/drawing/2014/main" id="{CD9336EB-B7E7-800F-C861-3282B542628E}"/>
              </a:ext>
            </a:extLst>
          </p:cNvPr>
          <p:cNvSpPr>
            <a:spLocks noGrp="1"/>
          </p:cNvSpPr>
          <p:nvPr>
            <p:ph sz="quarter" idx="12"/>
          </p:nvPr>
        </p:nvSpPr>
        <p:spPr>
          <a:xfrm>
            <a:off x="428625" y="927349"/>
            <a:ext cx="8245625" cy="1052014"/>
          </a:xfrm>
        </p:spPr>
        <p:txBody>
          <a:bodyPr wrap="square" lIns="0" tIns="18000" rIns="0" bIns="18000" anchor="ctr" anchorCtr="0">
            <a:spAutoFit/>
          </a:bodyPr>
          <a:lstStyle/>
          <a:p>
            <a:pPr marL="0" indent="0">
              <a:buNone/>
            </a:pPr>
            <a:r>
              <a:rPr lang="en-US" sz="2200" noProof="0" dirty="0">
                <a:solidFill>
                  <a:srgbClr val="007FA3"/>
                </a:solidFill>
              </a:rPr>
              <a:t>What op amp circuit configuration is shown here? (Hints – how many inputs are there, and where are those inputs connected to the op amp?)</a:t>
            </a:r>
          </a:p>
        </p:txBody>
      </p:sp>
      <p:pic>
        <p:nvPicPr>
          <p:cNvPr id="32" name="Picture 31" descr="A circuit diagram shows an operational amplifier on the right and various resistors on the left. Positive voltage v subscript a is applied to the left terminal of an 80 kilo ohms resistor. Current i subscript a flows through this 80 kilo ohms resistor. Positive voltage v subscript b is applied to the left terminal of a 64 kilo ohms resistor. Current i subscript b flows through this 64 kilo ohms resistor. The right terminals of the 80 kilo ohms and the 64 kilo ohms resistors are joined to form a node and this node is connected to the non inverting input wire of the operational amplifier. &#10;The inverting input wire houses an 18 kilo ohms resistor. The right side of this 18 kilo ohms resistor is connected to the inverting terminal as also to the output terminal of the operational amplifier through a 72 kilo ohms feedback resistor. Positive 9 volts is applied to the top vertical terminal of the operational amplifier and minus 9 volts applied to its bottom vertical terminal. Voltage v subscript o exists across the load resistor of 54 kilo ohms connected between the output terminal of the operational amplifier and ground. Voltage v subscript o has positive polarity at the top and negative at bottom.">
            <a:extLst>
              <a:ext uri="{FF2B5EF4-FFF2-40B4-BE49-F238E27FC236}">
                <a16:creationId xmlns:a16="http://schemas.microsoft.com/office/drawing/2014/main" id="{F0B8C065-0FD8-45F8-21B2-37641175441C}"/>
              </a:ext>
            </a:extLst>
          </p:cNvPr>
          <p:cNvPicPr>
            <a:picLocks noChangeAspect="1"/>
          </p:cNvPicPr>
          <p:nvPr/>
        </p:nvPicPr>
        <p:blipFill>
          <a:blip r:embed="rId2"/>
          <a:stretch>
            <a:fillRect/>
          </a:stretch>
        </p:blipFill>
        <p:spPr>
          <a:xfrm>
            <a:off x="2924610" y="2149871"/>
            <a:ext cx="3151905" cy="2003859"/>
          </a:xfrm>
          <a:prstGeom prst="rect">
            <a:avLst/>
          </a:prstGeom>
        </p:spPr>
      </p:pic>
      <p:pic>
        <p:nvPicPr>
          <p:cNvPr id="30" name="Picture 29" descr="Cross mark">
            <a:extLst>
              <a:ext uri="{FF2B5EF4-FFF2-40B4-BE49-F238E27FC236}">
                <a16:creationId xmlns:a16="http://schemas.microsoft.com/office/drawing/2014/main" id="{AB579718-C847-F8D0-55DF-2697E88F6B26}"/>
              </a:ext>
            </a:extLst>
          </p:cNvPr>
          <p:cNvPicPr>
            <a:picLocks noChangeAspect="1"/>
          </p:cNvPicPr>
          <p:nvPr/>
        </p:nvPicPr>
        <p:blipFill>
          <a:blip r:embed="rId3"/>
          <a:stretch>
            <a:fillRect/>
          </a:stretch>
        </p:blipFill>
        <p:spPr>
          <a:xfrm>
            <a:off x="838200" y="4405945"/>
            <a:ext cx="280440" cy="256054"/>
          </a:xfrm>
          <a:prstGeom prst="rect">
            <a:avLst/>
          </a:prstGeom>
        </p:spPr>
      </p:pic>
      <p:sp>
        <p:nvSpPr>
          <p:cNvPr id="28" name="Content Placeholder 27">
            <a:extLst>
              <a:ext uri="{FF2B5EF4-FFF2-40B4-BE49-F238E27FC236}">
                <a16:creationId xmlns:a16="http://schemas.microsoft.com/office/drawing/2014/main" id="{1E71A8D6-37D4-1ED8-5183-AE524E5C7223}"/>
              </a:ext>
            </a:extLst>
          </p:cNvPr>
          <p:cNvSpPr>
            <a:spLocks noGrp="1"/>
          </p:cNvSpPr>
          <p:nvPr>
            <p:ph sz="quarter" idx="14"/>
          </p:nvPr>
        </p:nvSpPr>
        <p:spPr>
          <a:xfrm>
            <a:off x="1238250" y="4367957"/>
            <a:ext cx="2733675" cy="374906"/>
          </a:xfrm>
        </p:spPr>
        <p:txBody>
          <a:bodyPr wrap="square" lIns="0" tIns="18000" rIns="0" bIns="18000" anchor="ctr" anchorCtr="0">
            <a:spAutoFit/>
          </a:bodyPr>
          <a:lstStyle/>
          <a:p>
            <a:pPr marL="0" indent="0">
              <a:buNone/>
            </a:pPr>
            <a:r>
              <a:rPr lang="en-US" sz="2200" noProof="0" dirty="0">
                <a:solidFill>
                  <a:srgbClr val="007FA3"/>
                </a:solidFill>
              </a:rPr>
              <a:t>A.</a:t>
            </a:r>
            <a:r>
              <a:rPr lang="en-US" sz="2200" noProof="0" dirty="0"/>
              <a:t> Inverting amplifier</a:t>
            </a:r>
          </a:p>
        </p:txBody>
      </p:sp>
      <p:pic>
        <p:nvPicPr>
          <p:cNvPr id="33" name="Picture 32" descr="Cross mark">
            <a:extLst>
              <a:ext uri="{FF2B5EF4-FFF2-40B4-BE49-F238E27FC236}">
                <a16:creationId xmlns:a16="http://schemas.microsoft.com/office/drawing/2014/main" id="{B77F4E95-21B3-2B5D-63DC-EC5DA3F5F480}"/>
              </a:ext>
            </a:extLst>
          </p:cNvPr>
          <p:cNvPicPr>
            <a:picLocks noChangeAspect="1"/>
          </p:cNvPicPr>
          <p:nvPr/>
        </p:nvPicPr>
        <p:blipFill>
          <a:blip r:embed="rId3"/>
          <a:stretch>
            <a:fillRect/>
          </a:stretch>
        </p:blipFill>
        <p:spPr>
          <a:xfrm>
            <a:off x="838200" y="4945676"/>
            <a:ext cx="280440" cy="256054"/>
          </a:xfrm>
          <a:prstGeom prst="rect">
            <a:avLst/>
          </a:prstGeom>
        </p:spPr>
      </p:pic>
      <p:sp>
        <p:nvSpPr>
          <p:cNvPr id="6" name="Content Placeholder 5">
            <a:extLst>
              <a:ext uri="{FF2B5EF4-FFF2-40B4-BE49-F238E27FC236}">
                <a16:creationId xmlns:a16="http://schemas.microsoft.com/office/drawing/2014/main" id="{36CA1E11-9BF3-A5BA-8A3D-4769DF28BCC4}"/>
              </a:ext>
            </a:extLst>
          </p:cNvPr>
          <p:cNvSpPr>
            <a:spLocks noGrp="1"/>
          </p:cNvSpPr>
          <p:nvPr>
            <p:ph sz="quarter" idx="15"/>
          </p:nvPr>
        </p:nvSpPr>
        <p:spPr>
          <a:xfrm>
            <a:off x="1238250" y="4882725"/>
            <a:ext cx="4054475" cy="374906"/>
          </a:xfrm>
        </p:spPr>
        <p:txBody>
          <a:bodyPr lIns="0" tIns="18000" rIns="0" bIns="18000" anchor="ctr" anchorCtr="0">
            <a:spAutoFit/>
          </a:bodyPr>
          <a:lstStyle/>
          <a:p>
            <a:pPr marL="0" indent="0">
              <a:buNone/>
              <a:defRPr/>
            </a:pPr>
            <a:r>
              <a:rPr lang="en-US" sz="2200" noProof="0" dirty="0">
                <a:solidFill>
                  <a:srgbClr val="007FA3"/>
                </a:solidFill>
              </a:rPr>
              <a:t>B.</a:t>
            </a:r>
            <a:r>
              <a:rPr lang="en-US" sz="2200" noProof="0" dirty="0"/>
              <a:t> Inverting summing amplifier</a:t>
            </a:r>
          </a:p>
        </p:txBody>
      </p:sp>
      <p:pic>
        <p:nvPicPr>
          <p:cNvPr id="34" name="Picture 33" descr="Cross mark">
            <a:extLst>
              <a:ext uri="{FF2B5EF4-FFF2-40B4-BE49-F238E27FC236}">
                <a16:creationId xmlns:a16="http://schemas.microsoft.com/office/drawing/2014/main" id="{B7800203-4E64-3395-EE7F-E15337461B7E}"/>
              </a:ext>
            </a:extLst>
          </p:cNvPr>
          <p:cNvPicPr>
            <a:picLocks noChangeAspect="1"/>
          </p:cNvPicPr>
          <p:nvPr/>
        </p:nvPicPr>
        <p:blipFill>
          <a:blip r:embed="rId3"/>
          <a:stretch>
            <a:fillRect/>
          </a:stretch>
        </p:blipFill>
        <p:spPr>
          <a:xfrm>
            <a:off x="838200" y="5485407"/>
            <a:ext cx="280440" cy="256054"/>
          </a:xfrm>
          <a:prstGeom prst="rect">
            <a:avLst/>
          </a:prstGeom>
        </p:spPr>
      </p:pic>
      <p:sp>
        <p:nvSpPr>
          <p:cNvPr id="7" name="Content Placeholder 6">
            <a:extLst>
              <a:ext uri="{FF2B5EF4-FFF2-40B4-BE49-F238E27FC236}">
                <a16:creationId xmlns:a16="http://schemas.microsoft.com/office/drawing/2014/main" id="{36E4AABC-779F-901F-5738-F21CB51EEF35}"/>
              </a:ext>
            </a:extLst>
          </p:cNvPr>
          <p:cNvSpPr>
            <a:spLocks noGrp="1"/>
          </p:cNvSpPr>
          <p:nvPr>
            <p:ph sz="quarter" idx="16"/>
          </p:nvPr>
        </p:nvSpPr>
        <p:spPr>
          <a:xfrm>
            <a:off x="1238249" y="5425981"/>
            <a:ext cx="3262313" cy="374906"/>
          </a:xfrm>
        </p:spPr>
        <p:txBody>
          <a:bodyPr wrap="square" lIns="0" tIns="18000" rIns="0" bIns="18000" anchor="ctr" anchorCtr="0">
            <a:spAutoFit/>
          </a:bodyPr>
          <a:lstStyle/>
          <a:p>
            <a:pPr marL="0" indent="0">
              <a:buNone/>
              <a:defRPr/>
            </a:pPr>
            <a:r>
              <a:rPr lang="en-US" sz="2200" noProof="0" dirty="0">
                <a:solidFill>
                  <a:srgbClr val="007BA7"/>
                </a:solidFill>
              </a:rPr>
              <a:t>C.</a:t>
            </a:r>
            <a:r>
              <a:rPr lang="en-US" sz="2200" noProof="0" dirty="0"/>
              <a:t> Non-inverting amplifier</a:t>
            </a:r>
          </a:p>
        </p:txBody>
      </p:sp>
      <p:pic>
        <p:nvPicPr>
          <p:cNvPr id="38" name="Picture 37" descr="Check mark">
            <a:extLst>
              <a:ext uri="{FF2B5EF4-FFF2-40B4-BE49-F238E27FC236}">
                <a16:creationId xmlns:a16="http://schemas.microsoft.com/office/drawing/2014/main" id="{D0B027DA-8CDF-F524-79EA-7A834B900083}"/>
              </a:ext>
            </a:extLst>
          </p:cNvPr>
          <p:cNvPicPr>
            <a:picLocks noChangeAspect="1"/>
          </p:cNvPicPr>
          <p:nvPr/>
        </p:nvPicPr>
        <p:blipFill>
          <a:blip r:embed="rId4"/>
          <a:stretch>
            <a:fillRect/>
          </a:stretch>
        </p:blipFill>
        <p:spPr>
          <a:xfrm>
            <a:off x="835647" y="6053983"/>
            <a:ext cx="280440" cy="249958"/>
          </a:xfrm>
          <a:prstGeom prst="rect">
            <a:avLst/>
          </a:prstGeom>
        </p:spPr>
      </p:pic>
      <p:sp>
        <p:nvSpPr>
          <p:cNvPr id="8" name="Content Placeholder 7">
            <a:extLst>
              <a:ext uri="{FF2B5EF4-FFF2-40B4-BE49-F238E27FC236}">
                <a16:creationId xmlns:a16="http://schemas.microsoft.com/office/drawing/2014/main" id="{D6781789-2F29-7205-B324-443C56BB2264}"/>
              </a:ext>
            </a:extLst>
          </p:cNvPr>
          <p:cNvSpPr>
            <a:spLocks noGrp="1"/>
          </p:cNvSpPr>
          <p:nvPr>
            <p:ph sz="quarter" idx="17"/>
          </p:nvPr>
        </p:nvSpPr>
        <p:spPr>
          <a:xfrm>
            <a:off x="1238250" y="5960583"/>
            <a:ext cx="4543425" cy="374906"/>
          </a:xfrm>
        </p:spPr>
        <p:txBody>
          <a:bodyPr wrap="square" lIns="0" tIns="18000" rIns="0" bIns="18000" anchor="ctr" anchorCtr="0">
            <a:spAutoFit/>
          </a:bodyPr>
          <a:lstStyle/>
          <a:p>
            <a:pPr marL="0" indent="0">
              <a:buNone/>
              <a:defRPr/>
            </a:pPr>
            <a:r>
              <a:rPr lang="en-US" sz="2200" noProof="0" dirty="0">
                <a:solidFill>
                  <a:srgbClr val="007FA3"/>
                </a:solidFill>
              </a:rPr>
              <a:t>D.</a:t>
            </a:r>
            <a:r>
              <a:rPr lang="en-US" sz="2200" noProof="0" dirty="0"/>
              <a:t> Non-inverting summing amplifier</a:t>
            </a:r>
          </a:p>
        </p:txBody>
      </p:sp>
    </p:spTree>
    <p:extLst>
      <p:ext uri="{BB962C8B-B14F-4D97-AF65-F5344CB8AC3E}">
        <p14:creationId xmlns:p14="http://schemas.microsoft.com/office/powerpoint/2010/main" val="39734696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1">
            <a:extLst>
              <a:ext uri="{FF2B5EF4-FFF2-40B4-BE49-F238E27FC236}">
                <a16:creationId xmlns:a16="http://schemas.microsoft.com/office/drawing/2014/main" id="{3996DD51-4E8A-3B85-4CC2-B0CD9D0BB8A4}"/>
              </a:ext>
            </a:extLst>
          </p:cNvPr>
          <p:cNvSpPr>
            <a:spLocks noGrp="1"/>
          </p:cNvSpPr>
          <p:nvPr>
            <p:ph type="title"/>
          </p:nvPr>
        </p:nvSpPr>
        <p:spPr>
          <a:xfrm>
            <a:off x="431650" y="163613"/>
            <a:ext cx="8242600" cy="590349"/>
          </a:xfrm>
        </p:spPr>
        <p:txBody>
          <a:bodyPr wrap="square" lIns="0" tIns="18000" rIns="0" bIns="18000" anchor="ctr">
            <a:spAutoFit/>
          </a:bodyPr>
          <a:lstStyle/>
          <a:p>
            <a:r>
              <a:rPr lang="en-US" noProof="0" dirty="0"/>
              <a:t>Chapter 5 – Op Amps </a:t>
            </a:r>
            <a:r>
              <a:rPr lang="en-US" sz="2800" noProof="0" dirty="0"/>
              <a:t>(9 of 11)</a:t>
            </a:r>
          </a:p>
        </p:txBody>
      </p:sp>
      <p:sp>
        <p:nvSpPr>
          <p:cNvPr id="3" name="Content Placeholder 2">
            <a:extLst>
              <a:ext uri="{FF2B5EF4-FFF2-40B4-BE49-F238E27FC236}">
                <a16:creationId xmlns:a16="http://schemas.microsoft.com/office/drawing/2014/main" id="{CCEA99F9-0406-6157-7223-7B3D477698BB}"/>
              </a:ext>
            </a:extLst>
          </p:cNvPr>
          <p:cNvSpPr>
            <a:spLocks noGrp="1"/>
          </p:cNvSpPr>
          <p:nvPr>
            <p:ph sz="quarter" idx="12"/>
          </p:nvPr>
        </p:nvSpPr>
        <p:spPr>
          <a:xfrm>
            <a:off x="428625" y="923004"/>
            <a:ext cx="8213725" cy="374906"/>
          </a:xfrm>
        </p:spPr>
        <p:txBody>
          <a:bodyPr wrap="square" lIns="0" tIns="18000" rIns="0" bIns="18000" anchor="ctr" anchorCtr="0">
            <a:spAutoFit/>
          </a:bodyPr>
          <a:lstStyle/>
          <a:p>
            <a:pPr marL="0" indent="0">
              <a:buNone/>
            </a:pPr>
            <a:r>
              <a:rPr lang="en-US" sz="2200" noProof="0" dirty="0"/>
              <a:t>Difference amplifier</a:t>
            </a:r>
          </a:p>
        </p:txBody>
      </p:sp>
      <p:graphicFrame>
        <p:nvGraphicFramePr>
          <p:cNvPr id="27" name="Object 5" descr="Voltage division: v subscript p Baseline equals StartFraction R subscript d over R subscript c Baseline plus R subscript d EndFraction v subscript b Baseline.&#10;">
            <a:extLst>
              <a:ext uri="{FF2B5EF4-FFF2-40B4-BE49-F238E27FC236}">
                <a16:creationId xmlns:a16="http://schemas.microsoft.com/office/drawing/2014/main" id="{4ABC7538-1ADA-0CB0-BBF6-2D1AEBB2E5A8}"/>
              </a:ext>
            </a:extLst>
          </p:cNvPr>
          <p:cNvGraphicFramePr>
            <a:graphicFrameLocks noChangeAspect="1"/>
          </p:cNvGraphicFramePr>
          <p:nvPr/>
        </p:nvGraphicFramePr>
        <p:xfrm>
          <a:off x="773113" y="1522413"/>
          <a:ext cx="3221037" cy="661987"/>
        </p:xfrm>
        <a:graphic>
          <a:graphicData uri="http://schemas.openxmlformats.org/presentationml/2006/ole">
            <mc:AlternateContent xmlns:mc="http://schemas.openxmlformats.org/markup-compatibility/2006">
              <mc:Choice xmlns:v="urn:schemas-microsoft-com:vml" Requires="v">
                <p:oleObj name="Equation" r:id="rId3" imgW="2197080" imgH="444240" progId="Equation.DSMT4">
                  <p:embed/>
                </p:oleObj>
              </mc:Choice>
              <mc:Fallback>
                <p:oleObj name="Equation" r:id="rId3" imgW="2197080" imgH="444240" progId="Equation.DSMT4">
                  <p:embed/>
                  <p:pic>
                    <p:nvPicPr>
                      <p:cNvPr id="27" name="Object 5" descr="Voltage division: v subscript p Baseline equals StartFraction R subscript d over R subscript c Baseline plus R subscript d EndFraction v subscript b Baseline.&#10;">
                        <a:extLst>
                          <a:ext uri="{FF2B5EF4-FFF2-40B4-BE49-F238E27FC236}">
                            <a16:creationId xmlns:a16="http://schemas.microsoft.com/office/drawing/2014/main" id="{4ABC7538-1ADA-0CB0-BBF6-2D1AEBB2E5A8}"/>
                          </a:ext>
                        </a:extLst>
                      </p:cNvPr>
                      <p:cNvPicPr>
                        <a:picLocks noChangeAspect="1" noChangeArrowheads="1"/>
                      </p:cNvPicPr>
                      <p:nvPr/>
                    </p:nvPicPr>
                    <p:blipFill>
                      <a:blip r:embed="rId4"/>
                      <a:srcRect/>
                      <a:stretch>
                        <a:fillRect/>
                      </a:stretch>
                    </p:blipFill>
                    <p:spPr bwMode="auto">
                      <a:xfrm>
                        <a:off x="773113" y="1522413"/>
                        <a:ext cx="3221037" cy="6619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4" name="Picture 3" descr="A circuit diagram shows an operational amplifier with positive voltage V subscript cc applied to its top vertical terminal and negative voltage V subscript cc applied to its bottom vertical terminal. The inverting input wire to the operational amplifier contains resistor R subscript a. Positive voltage v subscript a is applied to the left terminal of resistor R subscript a, the right terminal of which is connected to a node on the inverting input wire. This node on the inverting input wire is connected to the output terminal of the operational amplifier through resistor R subscript b. Current i subscript n flows from this node on the inverting input wire to the inverting terminal of the operational amplifier. &#10;The non inverting input wire to the operational amplifier contains resistor R subscript c. Positive voltage v subscript b is applied to the left terminal of resistor R subscript g. The right terminal of resistor R subscript c is connected to a node on the non inverting terminal. This node on the non inverting terminal is connected to ground through resistor R subscript d. Voltage v subscript n exists between the inverting terminal and ground. Voltage v subscript p exists between the non inverting terminal and ground. Voltage v subscript o exists between the output terminal of the operational amplifier and ground.">
            <a:extLst>
              <a:ext uri="{FF2B5EF4-FFF2-40B4-BE49-F238E27FC236}">
                <a16:creationId xmlns:a16="http://schemas.microsoft.com/office/drawing/2014/main" id="{865D42C0-79C6-0CC5-82D7-E6B9A277FE14}"/>
              </a:ext>
            </a:extLst>
          </p:cNvPr>
          <p:cNvPicPr>
            <a:picLocks noChangeAspect="1"/>
          </p:cNvPicPr>
          <p:nvPr/>
        </p:nvPicPr>
        <p:blipFill>
          <a:blip r:embed="rId5"/>
          <a:srcRect/>
          <a:stretch/>
        </p:blipFill>
        <p:spPr>
          <a:xfrm>
            <a:off x="4937366" y="1373539"/>
            <a:ext cx="2968904" cy="1777631"/>
          </a:xfrm>
          <a:prstGeom prst="rect">
            <a:avLst/>
          </a:prstGeom>
        </p:spPr>
      </p:pic>
      <p:graphicFrame>
        <p:nvGraphicFramePr>
          <p:cNvPr id="12" name="Object 5" descr="Forward arrow, v subscript n BaseLine OpenParenthesis R subscript a BaseLine plus R subscript b CloseParenthesis minus R subscript b BaseLine v subscript a BaseLine equals R subscript a BaseLine v subscript o BaseLine.">
            <a:extLst>
              <a:ext uri="{FF2B5EF4-FFF2-40B4-BE49-F238E27FC236}">
                <a16:creationId xmlns:a16="http://schemas.microsoft.com/office/drawing/2014/main" id="{1D768F33-78F9-5E01-9AD1-E6567FE556CD}"/>
              </a:ext>
            </a:extLst>
          </p:cNvPr>
          <p:cNvGraphicFramePr>
            <a:graphicFrameLocks noChangeAspect="1"/>
          </p:cNvGraphicFramePr>
          <p:nvPr/>
        </p:nvGraphicFramePr>
        <p:xfrm>
          <a:off x="1419225" y="3956050"/>
          <a:ext cx="2708275" cy="307975"/>
        </p:xfrm>
        <a:graphic>
          <a:graphicData uri="http://schemas.openxmlformats.org/presentationml/2006/ole">
            <mc:AlternateContent xmlns:mc="http://schemas.openxmlformats.org/markup-compatibility/2006">
              <mc:Choice xmlns:v="urn:schemas-microsoft-com:vml" Requires="v">
                <p:oleObj name="Equation" r:id="rId6" imgW="2031840" imgH="228600" progId="Equation.DSMT4">
                  <p:embed/>
                </p:oleObj>
              </mc:Choice>
              <mc:Fallback>
                <p:oleObj name="Equation" r:id="rId6" imgW="2031840" imgH="228600" progId="Equation.DSMT4">
                  <p:embed/>
                  <p:pic>
                    <p:nvPicPr>
                      <p:cNvPr id="12" name="Object 5" descr="Forward arrow, v subscript n BaseLine OpenParenthesis R subscript a BaseLine plus R subscript b CloseParenthesis minus R subscript b BaseLine v subscript a BaseLine equals R subscript a BaseLine v subscript o BaseLine.">
                        <a:extLst>
                          <a:ext uri="{FF2B5EF4-FFF2-40B4-BE49-F238E27FC236}">
                            <a16:creationId xmlns:a16="http://schemas.microsoft.com/office/drawing/2014/main" id="{1D768F33-78F9-5E01-9AD1-E6567FE556CD}"/>
                          </a:ext>
                        </a:extLst>
                      </p:cNvPr>
                      <p:cNvPicPr>
                        <a:picLocks noChangeAspect="1" noChangeArrowheads="1"/>
                      </p:cNvPicPr>
                      <p:nvPr/>
                    </p:nvPicPr>
                    <p:blipFill>
                      <a:blip r:embed="rId7"/>
                      <a:srcRect/>
                      <a:stretch>
                        <a:fillRect/>
                      </a:stretch>
                    </p:blipFill>
                    <p:spPr bwMode="auto">
                      <a:xfrm>
                        <a:off x="1419225" y="3956050"/>
                        <a:ext cx="2708275" cy="307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 name="Object 5" descr="The figure illustrates an equation for v subscript o.&#10;Long description 2 is available in notes, Press F6.">
            <a:extLst>
              <a:ext uri="{FF2B5EF4-FFF2-40B4-BE49-F238E27FC236}">
                <a16:creationId xmlns:a16="http://schemas.microsoft.com/office/drawing/2014/main" id="{15CB88B9-2B85-2C22-5D40-B787232899DA}"/>
              </a:ext>
            </a:extLst>
          </p:cNvPr>
          <p:cNvGraphicFramePr>
            <a:graphicFrameLocks noChangeAspect="1"/>
          </p:cNvGraphicFramePr>
          <p:nvPr/>
        </p:nvGraphicFramePr>
        <p:xfrm>
          <a:off x="1419225" y="4352925"/>
          <a:ext cx="4687887" cy="598487"/>
        </p:xfrm>
        <a:graphic>
          <a:graphicData uri="http://schemas.openxmlformats.org/presentationml/2006/ole">
            <mc:AlternateContent xmlns:mc="http://schemas.openxmlformats.org/markup-compatibility/2006">
              <mc:Choice xmlns:v="urn:schemas-microsoft-com:vml" Requires="v">
                <p:oleObj name="Equation" r:id="rId8" imgW="3517560" imgH="444240" progId="Equation.DSMT4">
                  <p:embed/>
                </p:oleObj>
              </mc:Choice>
              <mc:Fallback>
                <p:oleObj name="Equation" r:id="rId8" imgW="3517560" imgH="444240" progId="Equation.DSMT4">
                  <p:embed/>
                  <p:pic>
                    <p:nvPicPr>
                      <p:cNvPr id="13" name="Object 5" descr="The figure illustrates an equation for v subscript o.&#10;Long description 2 is available in notes, Press F6.">
                        <a:extLst>
                          <a:ext uri="{FF2B5EF4-FFF2-40B4-BE49-F238E27FC236}">
                            <a16:creationId xmlns:a16="http://schemas.microsoft.com/office/drawing/2014/main" id="{15CB88B9-2B85-2C22-5D40-B787232899DA}"/>
                          </a:ext>
                        </a:extLst>
                      </p:cNvPr>
                      <p:cNvPicPr>
                        <a:picLocks noChangeAspect="1" noChangeArrowheads="1"/>
                      </p:cNvPicPr>
                      <p:nvPr/>
                    </p:nvPicPr>
                    <p:blipFill>
                      <a:blip r:embed="rId9"/>
                      <a:srcRect/>
                      <a:stretch>
                        <a:fillRect/>
                      </a:stretch>
                    </p:blipFill>
                    <p:spPr bwMode="auto">
                      <a:xfrm>
                        <a:off x="1419225" y="4352925"/>
                        <a:ext cx="4687887" cy="5984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 name="Object 5" descr="The figure illustrates an equation for v subscript o if StartFraction R subscript a over R subscript b EndFraction equals StartFraction R subscript c over R subscript d EndFraction.&#10;Long description 3 is available in notes, Press F6.">
            <a:extLst>
              <a:ext uri="{FF2B5EF4-FFF2-40B4-BE49-F238E27FC236}">
                <a16:creationId xmlns:a16="http://schemas.microsoft.com/office/drawing/2014/main" id="{0B084DC2-98FF-9F11-A230-9AA2E375A5EA}"/>
              </a:ext>
            </a:extLst>
          </p:cNvPr>
          <p:cNvGraphicFramePr>
            <a:graphicFrameLocks noChangeAspect="1"/>
          </p:cNvGraphicFramePr>
          <p:nvPr/>
        </p:nvGraphicFramePr>
        <p:xfrm>
          <a:off x="1419225" y="5081126"/>
          <a:ext cx="4164012" cy="598488"/>
        </p:xfrm>
        <a:graphic>
          <a:graphicData uri="http://schemas.openxmlformats.org/presentationml/2006/ole">
            <mc:AlternateContent xmlns:mc="http://schemas.openxmlformats.org/markup-compatibility/2006">
              <mc:Choice xmlns:v="urn:schemas-microsoft-com:vml" Requires="v">
                <p:oleObj name="Equation" r:id="rId10" imgW="3124080" imgH="444240" progId="Equation.DSMT4">
                  <p:embed/>
                </p:oleObj>
              </mc:Choice>
              <mc:Fallback>
                <p:oleObj name="Equation" r:id="rId10" imgW="3124080" imgH="444240" progId="Equation.DSMT4">
                  <p:embed/>
                  <p:pic>
                    <p:nvPicPr>
                      <p:cNvPr id="14" name="Object 5" descr="The figure illustrates an equation for v subscript o if StartFraction R subscript a over R subscript b EndFraction equals StartFraction R subscript c over R subscript d EndFraction.&#10;Long description 3 is available in notes, Press F6.">
                        <a:extLst>
                          <a:ext uri="{FF2B5EF4-FFF2-40B4-BE49-F238E27FC236}">
                            <a16:creationId xmlns:a16="http://schemas.microsoft.com/office/drawing/2014/main" id="{0B084DC2-98FF-9F11-A230-9AA2E375A5EA}"/>
                          </a:ext>
                        </a:extLst>
                      </p:cNvPr>
                      <p:cNvPicPr>
                        <a:picLocks noChangeAspect="1" noChangeArrowheads="1"/>
                      </p:cNvPicPr>
                      <p:nvPr/>
                    </p:nvPicPr>
                    <p:blipFill>
                      <a:blip r:embed="rId11"/>
                      <a:srcRect/>
                      <a:stretch>
                        <a:fillRect/>
                      </a:stretch>
                    </p:blipFill>
                    <p:spPr bwMode="auto">
                      <a:xfrm>
                        <a:off x="1419225" y="5081126"/>
                        <a:ext cx="4164012" cy="5984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 name="Object 5" descr="The figure illustrates an equation for v subscript o in terms of R subscript a and R subscript b.&#10;Long description 4 is available in notes, Press F6.">
            <a:extLst>
              <a:ext uri="{FF2B5EF4-FFF2-40B4-BE49-F238E27FC236}">
                <a16:creationId xmlns:a16="http://schemas.microsoft.com/office/drawing/2014/main" id="{84A01BDA-383E-5F0C-9EC9-0CC412218AF7}"/>
              </a:ext>
            </a:extLst>
          </p:cNvPr>
          <p:cNvGraphicFramePr>
            <a:graphicFrameLocks noChangeAspect="1"/>
          </p:cNvGraphicFramePr>
          <p:nvPr/>
        </p:nvGraphicFramePr>
        <p:xfrm>
          <a:off x="1565275" y="5772815"/>
          <a:ext cx="4857750" cy="598487"/>
        </p:xfrm>
        <a:graphic>
          <a:graphicData uri="http://schemas.openxmlformats.org/presentationml/2006/ole">
            <mc:AlternateContent xmlns:mc="http://schemas.openxmlformats.org/markup-compatibility/2006">
              <mc:Choice xmlns:v="urn:schemas-microsoft-com:vml" Requires="v">
                <p:oleObj name="Equation" r:id="rId12" imgW="3644640" imgH="444240" progId="Equation.DSMT4">
                  <p:embed/>
                </p:oleObj>
              </mc:Choice>
              <mc:Fallback>
                <p:oleObj name="Equation" r:id="rId12" imgW="3644640" imgH="444240" progId="Equation.DSMT4">
                  <p:embed/>
                  <p:pic>
                    <p:nvPicPr>
                      <p:cNvPr id="15" name="Object 5" descr="The figure illustrates an equation for v subscript o in terms of R subscript a and R subscript b.&#10;Long description 4 is available in notes, Press F6.">
                        <a:extLst>
                          <a:ext uri="{FF2B5EF4-FFF2-40B4-BE49-F238E27FC236}">
                            <a16:creationId xmlns:a16="http://schemas.microsoft.com/office/drawing/2014/main" id="{84A01BDA-383E-5F0C-9EC9-0CC412218AF7}"/>
                          </a:ext>
                        </a:extLst>
                      </p:cNvPr>
                      <p:cNvPicPr>
                        <a:picLocks noChangeAspect="1" noChangeArrowheads="1"/>
                      </p:cNvPicPr>
                      <p:nvPr/>
                    </p:nvPicPr>
                    <p:blipFill>
                      <a:blip r:embed="rId13"/>
                      <a:srcRect/>
                      <a:stretch>
                        <a:fillRect/>
                      </a:stretch>
                    </p:blipFill>
                    <p:spPr bwMode="auto">
                      <a:xfrm>
                        <a:off x="1565275" y="5772815"/>
                        <a:ext cx="4857750" cy="5984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2" name="Picture 1">
            <a:extLst>
              <a:ext uri="{FF2B5EF4-FFF2-40B4-BE49-F238E27FC236}">
                <a16:creationId xmlns:a16="http://schemas.microsoft.com/office/drawing/2014/main" id="{5DBC6D41-6DCC-1DD1-C10A-1146974256EC}"/>
              </a:ext>
            </a:extLst>
          </p:cNvPr>
          <p:cNvPicPr>
            <a:picLocks noChangeAspect="1"/>
          </p:cNvPicPr>
          <p:nvPr/>
        </p:nvPicPr>
        <p:blipFill>
          <a:blip r:embed="rId14"/>
          <a:stretch>
            <a:fillRect/>
          </a:stretch>
        </p:blipFill>
        <p:spPr>
          <a:xfrm>
            <a:off x="1419225" y="3134647"/>
            <a:ext cx="2968904" cy="633468"/>
          </a:xfrm>
          <a:prstGeom prst="rect">
            <a:avLst/>
          </a:prstGeom>
        </p:spPr>
      </p:pic>
    </p:spTree>
    <p:extLst>
      <p:ext uri="{BB962C8B-B14F-4D97-AF65-F5344CB8AC3E}">
        <p14:creationId xmlns:p14="http://schemas.microsoft.com/office/powerpoint/2010/main" val="26717618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1">
            <a:extLst>
              <a:ext uri="{FF2B5EF4-FFF2-40B4-BE49-F238E27FC236}">
                <a16:creationId xmlns:a16="http://schemas.microsoft.com/office/drawing/2014/main" id="{4F96EC4C-D9F6-A3DD-3514-B66E3FF9F483}"/>
              </a:ext>
            </a:extLst>
          </p:cNvPr>
          <p:cNvSpPr>
            <a:spLocks noGrp="1"/>
          </p:cNvSpPr>
          <p:nvPr>
            <p:ph type="title"/>
          </p:nvPr>
        </p:nvSpPr>
        <p:spPr>
          <a:xfrm>
            <a:off x="431650" y="163613"/>
            <a:ext cx="8242600" cy="590349"/>
          </a:xfrm>
        </p:spPr>
        <p:txBody>
          <a:bodyPr wrap="square" lIns="0" tIns="18000" rIns="0" bIns="18000" anchor="ctr">
            <a:spAutoFit/>
          </a:bodyPr>
          <a:lstStyle/>
          <a:p>
            <a:r>
              <a:rPr lang="en-US" noProof="0" dirty="0"/>
              <a:t>Chapter 5 – Op Amps </a:t>
            </a:r>
            <a:r>
              <a:rPr lang="en-US" sz="2800" noProof="0" dirty="0"/>
              <a:t>(10 of 11)</a:t>
            </a:r>
          </a:p>
        </p:txBody>
      </p:sp>
      <p:sp>
        <p:nvSpPr>
          <p:cNvPr id="3" name="Content Placeholder 2">
            <a:extLst>
              <a:ext uri="{FF2B5EF4-FFF2-40B4-BE49-F238E27FC236}">
                <a16:creationId xmlns:a16="http://schemas.microsoft.com/office/drawing/2014/main" id="{2402CF00-A801-F4E3-82CA-9E9F8B8FE78D}"/>
              </a:ext>
            </a:extLst>
          </p:cNvPr>
          <p:cNvSpPr>
            <a:spLocks noGrp="1"/>
          </p:cNvSpPr>
          <p:nvPr>
            <p:ph sz="quarter" idx="12"/>
          </p:nvPr>
        </p:nvSpPr>
        <p:spPr>
          <a:xfrm>
            <a:off x="428626" y="923004"/>
            <a:ext cx="3219450" cy="374906"/>
          </a:xfrm>
        </p:spPr>
        <p:txBody>
          <a:bodyPr wrap="square" lIns="0" tIns="18000" rIns="0" bIns="18000" anchor="ctr" anchorCtr="0">
            <a:spAutoFit/>
          </a:bodyPr>
          <a:lstStyle/>
          <a:p>
            <a:pPr marL="0" indent="0">
              <a:buNone/>
            </a:pPr>
            <a:r>
              <a:rPr lang="en-US" altLang="en-US" sz="2200" noProof="0" dirty="0">
                <a:solidFill>
                  <a:srgbClr val="007FA3"/>
                </a:solidFill>
              </a:rPr>
              <a:t>In a difference amplifier, if</a:t>
            </a:r>
            <a:endParaRPr lang="en-US" sz="2200" noProof="0" dirty="0">
              <a:solidFill>
                <a:srgbClr val="007FA3"/>
              </a:solidFill>
            </a:endParaRPr>
          </a:p>
        </p:txBody>
      </p:sp>
      <p:graphicFrame>
        <p:nvGraphicFramePr>
          <p:cNvPr id="22" name="Object 5" descr="R subscript a BaseLine divided by R subscript b BaseLine equals R subscript c BaseLine divided by R subscript d BaseLine,">
            <a:extLst>
              <a:ext uri="{FF2B5EF4-FFF2-40B4-BE49-F238E27FC236}">
                <a16:creationId xmlns:a16="http://schemas.microsoft.com/office/drawing/2014/main" id="{37B28513-0D1E-15E1-A64D-B3D17BEA8307}"/>
              </a:ext>
            </a:extLst>
          </p:cNvPr>
          <p:cNvGraphicFramePr>
            <a:graphicFrameLocks noChangeAspect="1"/>
          </p:cNvGraphicFramePr>
          <p:nvPr>
            <p:extLst>
              <p:ext uri="{D42A27DB-BD31-4B8C-83A1-F6EECF244321}">
                <p14:modId xmlns:p14="http://schemas.microsoft.com/office/powerpoint/2010/main" val="584404203"/>
              </p:ext>
            </p:extLst>
          </p:nvPr>
        </p:nvGraphicFramePr>
        <p:xfrm>
          <a:off x="3736912" y="940551"/>
          <a:ext cx="2013077" cy="409146"/>
        </p:xfrm>
        <a:graphic>
          <a:graphicData uri="http://schemas.openxmlformats.org/presentationml/2006/ole">
            <mc:AlternateContent xmlns:mc="http://schemas.openxmlformats.org/markup-compatibility/2006">
              <mc:Choice xmlns:v="urn:schemas-microsoft-com:vml" Requires="v">
                <p:oleObj name="Equation" r:id="rId2" imgW="1130040" imgH="228600" progId="Equation.DSMT4">
                  <p:embed/>
                </p:oleObj>
              </mc:Choice>
              <mc:Fallback>
                <p:oleObj name="Equation" r:id="rId2" imgW="1130040" imgH="228600" progId="Equation.DSMT4">
                  <p:embed/>
                  <p:pic>
                    <p:nvPicPr>
                      <p:cNvPr id="27" name="Object 5">
                        <a:extLst>
                          <a:ext uri="{FF2B5EF4-FFF2-40B4-BE49-F238E27FC236}">
                            <a16:creationId xmlns:a16="http://schemas.microsoft.com/office/drawing/2014/main" id="{4ABC7538-1ADA-0CB0-BBF6-2D1AEBB2E5A8}"/>
                          </a:ext>
                        </a:extLst>
                      </p:cNvPr>
                      <p:cNvPicPr>
                        <a:picLocks noChangeAspect="1" noChangeArrowheads="1"/>
                      </p:cNvPicPr>
                      <p:nvPr/>
                    </p:nvPicPr>
                    <p:blipFill>
                      <a:blip r:embed="rId3"/>
                      <a:srcRect/>
                      <a:stretch>
                        <a:fillRect/>
                      </a:stretch>
                    </p:blipFill>
                    <p:spPr bwMode="auto">
                      <a:xfrm>
                        <a:off x="3736912" y="940551"/>
                        <a:ext cx="2013077" cy="4091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 name="Content Placeholder 3">
            <a:extLst>
              <a:ext uri="{FF2B5EF4-FFF2-40B4-BE49-F238E27FC236}">
                <a16:creationId xmlns:a16="http://schemas.microsoft.com/office/drawing/2014/main" id="{633BEBED-C983-9724-78F6-306A153EBEC8}"/>
              </a:ext>
            </a:extLst>
          </p:cNvPr>
          <p:cNvSpPr>
            <a:spLocks noGrp="1"/>
          </p:cNvSpPr>
          <p:nvPr>
            <p:ph sz="quarter" idx="13"/>
          </p:nvPr>
        </p:nvSpPr>
        <p:spPr>
          <a:xfrm>
            <a:off x="5819775" y="931428"/>
            <a:ext cx="2828926" cy="374906"/>
          </a:xfrm>
        </p:spPr>
        <p:txBody>
          <a:bodyPr wrap="square" lIns="0" tIns="18000" rIns="0" bIns="18000" anchor="ctr" anchorCtr="0">
            <a:spAutoFit/>
          </a:bodyPr>
          <a:lstStyle/>
          <a:p>
            <a:pPr marL="0" indent="0">
              <a:buNone/>
            </a:pPr>
            <a:r>
              <a:rPr lang="en-US" altLang="en-US" sz="2200" noProof="0" dirty="0">
                <a:solidFill>
                  <a:srgbClr val="007FA3"/>
                </a:solidFill>
              </a:rPr>
              <a:t>we can use the simple</a:t>
            </a:r>
            <a:endParaRPr lang="en-US" sz="2200" noProof="0" dirty="0">
              <a:solidFill>
                <a:srgbClr val="007FA3"/>
              </a:solidFill>
            </a:endParaRPr>
          </a:p>
        </p:txBody>
      </p:sp>
      <p:sp>
        <p:nvSpPr>
          <p:cNvPr id="5" name="Content Placeholder 4">
            <a:extLst>
              <a:ext uri="{FF2B5EF4-FFF2-40B4-BE49-F238E27FC236}">
                <a16:creationId xmlns:a16="http://schemas.microsoft.com/office/drawing/2014/main" id="{0EE3DED8-B280-050A-6F80-83861E472921}"/>
              </a:ext>
            </a:extLst>
          </p:cNvPr>
          <p:cNvSpPr>
            <a:spLocks noGrp="1"/>
          </p:cNvSpPr>
          <p:nvPr>
            <p:ph sz="quarter" idx="14"/>
          </p:nvPr>
        </p:nvSpPr>
        <p:spPr>
          <a:xfrm>
            <a:off x="428625" y="1386440"/>
            <a:ext cx="1352550" cy="374906"/>
          </a:xfrm>
        </p:spPr>
        <p:txBody>
          <a:bodyPr wrap="square" lIns="0" tIns="18000" rIns="0" bIns="18000" anchor="ctr" anchorCtr="0">
            <a:spAutoFit/>
          </a:bodyPr>
          <a:lstStyle/>
          <a:p>
            <a:pPr marL="0" indent="0">
              <a:buNone/>
            </a:pPr>
            <a:r>
              <a:rPr lang="en-US" altLang="en-US" sz="2200" noProof="0" dirty="0">
                <a:solidFill>
                  <a:srgbClr val="007FA3"/>
                </a:solidFill>
              </a:rPr>
              <a:t>expression</a:t>
            </a:r>
            <a:endParaRPr lang="en-US" sz="2200" noProof="0" dirty="0">
              <a:solidFill>
                <a:srgbClr val="007FA3"/>
              </a:solidFill>
            </a:endParaRPr>
          </a:p>
        </p:txBody>
      </p:sp>
      <p:graphicFrame>
        <p:nvGraphicFramePr>
          <p:cNvPr id="23" name="Object 5" descr="v subscript o BaseLine equals R subscript b BaseLine divided by R subscript a BaseLine multiplied by OpenParenthesis v subscript b BaseLine minus v subscript a CloseParenthesis.">
            <a:extLst>
              <a:ext uri="{FF2B5EF4-FFF2-40B4-BE49-F238E27FC236}">
                <a16:creationId xmlns:a16="http://schemas.microsoft.com/office/drawing/2014/main" id="{C7A07833-79B3-3D1C-9DC2-155CF6DCA0DA}"/>
              </a:ext>
            </a:extLst>
          </p:cNvPr>
          <p:cNvGraphicFramePr>
            <a:graphicFrameLocks noChangeAspect="1"/>
          </p:cNvGraphicFramePr>
          <p:nvPr>
            <p:extLst>
              <p:ext uri="{D42A27DB-BD31-4B8C-83A1-F6EECF244321}">
                <p14:modId xmlns:p14="http://schemas.microsoft.com/office/powerpoint/2010/main" val="1966276149"/>
              </p:ext>
            </p:extLst>
          </p:nvPr>
        </p:nvGraphicFramePr>
        <p:xfrm>
          <a:off x="1907778" y="1414860"/>
          <a:ext cx="2488406" cy="410368"/>
        </p:xfrm>
        <a:graphic>
          <a:graphicData uri="http://schemas.openxmlformats.org/presentationml/2006/ole">
            <mc:AlternateContent xmlns:mc="http://schemas.openxmlformats.org/markup-compatibility/2006">
              <mc:Choice xmlns:v="urn:schemas-microsoft-com:vml" Requires="v">
                <p:oleObj name="Equation" r:id="rId4" imgW="1396800" imgH="228600" progId="Equation.DSMT4">
                  <p:embed/>
                </p:oleObj>
              </mc:Choice>
              <mc:Fallback>
                <p:oleObj name="Equation" r:id="rId4" imgW="1396800" imgH="228600" progId="Equation.DSMT4">
                  <p:embed/>
                  <p:pic>
                    <p:nvPicPr>
                      <p:cNvPr id="22" name="Object 5">
                        <a:extLst>
                          <a:ext uri="{FF2B5EF4-FFF2-40B4-BE49-F238E27FC236}">
                            <a16:creationId xmlns:a16="http://schemas.microsoft.com/office/drawing/2014/main" id="{37B28513-0D1E-15E1-A64D-B3D17BEA8307}"/>
                          </a:ext>
                        </a:extLst>
                      </p:cNvPr>
                      <p:cNvPicPr>
                        <a:picLocks noChangeAspect="1" noChangeArrowheads="1"/>
                      </p:cNvPicPr>
                      <p:nvPr/>
                    </p:nvPicPr>
                    <p:blipFill>
                      <a:blip r:embed="rId5"/>
                      <a:srcRect/>
                      <a:stretch>
                        <a:fillRect/>
                      </a:stretch>
                    </p:blipFill>
                    <p:spPr bwMode="auto">
                      <a:xfrm>
                        <a:off x="1907778" y="1414860"/>
                        <a:ext cx="2488406" cy="4103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 name="Content Placeholder 5">
            <a:extLst>
              <a:ext uri="{FF2B5EF4-FFF2-40B4-BE49-F238E27FC236}">
                <a16:creationId xmlns:a16="http://schemas.microsoft.com/office/drawing/2014/main" id="{6CABB4E3-E64C-E80E-E867-0E947FC295A6}"/>
              </a:ext>
            </a:extLst>
          </p:cNvPr>
          <p:cNvSpPr>
            <a:spLocks noGrp="1"/>
          </p:cNvSpPr>
          <p:nvPr>
            <p:ph sz="quarter" idx="15"/>
          </p:nvPr>
        </p:nvSpPr>
        <p:spPr>
          <a:xfrm>
            <a:off x="428625" y="1894554"/>
            <a:ext cx="8213725" cy="374906"/>
          </a:xfrm>
        </p:spPr>
        <p:txBody>
          <a:bodyPr wrap="square" lIns="0" tIns="18000" rIns="0" bIns="18000" anchor="ctr" anchorCtr="0">
            <a:spAutoFit/>
          </a:bodyPr>
          <a:lstStyle/>
          <a:p>
            <a:pPr marL="0" lvl="1" indent="0">
              <a:buNone/>
            </a:pPr>
            <a:r>
              <a:rPr lang="en-US" altLang="en-US" sz="2200" noProof="0" dirty="0">
                <a:solidFill>
                  <a:srgbClr val="007FA3"/>
                </a:solidFill>
              </a:rPr>
              <a:t>Can we use this simple expression for the circuit shown?</a:t>
            </a:r>
          </a:p>
        </p:txBody>
      </p:sp>
      <p:pic>
        <p:nvPicPr>
          <p:cNvPr id="25" name="Picture 24" descr="A circuit diagram shows an operational amplifier with positive 10 volts applied to its top vertical terminal and negative 10 volts applied to its bottom vertical terminal. The inverting input wire to the operational amplifier contains a 10 kilo ohms resistor. Positive voltage v subscript a is applied to the left terminal of resistor R subscript a, the right terminal of which is connected to a node on the inverting input wire. This node on the inverting input wire is connected to the output terminal of the operational amplifier through a 50 kilo ohms resistor. &#10;The non inverting input wire to the operational amplifier contains a 4 kilo ohms resistor. Positive voltage v subscript b is applied to the left terminal of the 4 kilo ohms resistor, the right terminal of which is connected to a node on the non inverting terminal. This node on the non inverting terminal is connected to ground through a 20 kilo ohms resistor. Voltage v subscript o exists between the output terminal of the operational amplifier and ground.">
            <a:extLst>
              <a:ext uri="{FF2B5EF4-FFF2-40B4-BE49-F238E27FC236}">
                <a16:creationId xmlns:a16="http://schemas.microsoft.com/office/drawing/2014/main" id="{0DF3F654-BEF3-D790-D0AD-B4F951ACB25A}"/>
              </a:ext>
            </a:extLst>
          </p:cNvPr>
          <p:cNvPicPr>
            <a:picLocks noChangeAspect="1"/>
          </p:cNvPicPr>
          <p:nvPr/>
        </p:nvPicPr>
        <p:blipFill>
          <a:blip r:embed="rId6"/>
          <a:stretch>
            <a:fillRect/>
          </a:stretch>
        </p:blipFill>
        <p:spPr>
          <a:xfrm>
            <a:off x="2667258" y="2475927"/>
            <a:ext cx="3676135" cy="2191896"/>
          </a:xfrm>
          <a:prstGeom prst="rect">
            <a:avLst/>
          </a:prstGeom>
        </p:spPr>
      </p:pic>
      <p:pic>
        <p:nvPicPr>
          <p:cNvPr id="27" name="Picture 26" descr="Check mark">
            <a:extLst>
              <a:ext uri="{FF2B5EF4-FFF2-40B4-BE49-F238E27FC236}">
                <a16:creationId xmlns:a16="http://schemas.microsoft.com/office/drawing/2014/main" id="{20ED8A04-C666-326D-C27F-A1BAC4D01B4D}"/>
              </a:ext>
            </a:extLst>
          </p:cNvPr>
          <p:cNvPicPr>
            <a:picLocks noChangeAspect="1"/>
          </p:cNvPicPr>
          <p:nvPr/>
        </p:nvPicPr>
        <p:blipFill>
          <a:blip r:embed="rId7"/>
          <a:stretch>
            <a:fillRect/>
          </a:stretch>
        </p:blipFill>
        <p:spPr>
          <a:xfrm>
            <a:off x="1153242" y="4839011"/>
            <a:ext cx="339332" cy="302449"/>
          </a:xfrm>
          <a:prstGeom prst="rect">
            <a:avLst/>
          </a:prstGeom>
        </p:spPr>
      </p:pic>
      <p:sp>
        <p:nvSpPr>
          <p:cNvPr id="7" name="Content Placeholder 6">
            <a:extLst>
              <a:ext uri="{FF2B5EF4-FFF2-40B4-BE49-F238E27FC236}">
                <a16:creationId xmlns:a16="http://schemas.microsoft.com/office/drawing/2014/main" id="{C099CF9B-7B32-7592-860F-E7E019CC695F}"/>
              </a:ext>
            </a:extLst>
          </p:cNvPr>
          <p:cNvSpPr>
            <a:spLocks noGrp="1"/>
          </p:cNvSpPr>
          <p:nvPr>
            <p:ph sz="quarter" idx="16"/>
          </p:nvPr>
        </p:nvSpPr>
        <p:spPr>
          <a:xfrm>
            <a:off x="1676400" y="4805265"/>
            <a:ext cx="885825" cy="374906"/>
          </a:xfrm>
        </p:spPr>
        <p:txBody>
          <a:bodyPr wrap="square" lIns="0" tIns="18000" rIns="0" bIns="18000" anchor="ctr" anchorCtr="0">
            <a:spAutoFit/>
          </a:bodyPr>
          <a:lstStyle/>
          <a:p>
            <a:pPr marL="0" indent="0">
              <a:buNone/>
            </a:pPr>
            <a:r>
              <a:rPr lang="en-US" sz="2200" noProof="0" dirty="0">
                <a:solidFill>
                  <a:srgbClr val="007FA3"/>
                </a:solidFill>
              </a:rPr>
              <a:t>A.</a:t>
            </a:r>
            <a:r>
              <a:rPr lang="en-US" sz="2200" noProof="0" dirty="0"/>
              <a:t> Yes</a:t>
            </a:r>
          </a:p>
        </p:txBody>
      </p:sp>
      <p:pic>
        <p:nvPicPr>
          <p:cNvPr id="29" name="Picture 28" descr="Cross mark">
            <a:extLst>
              <a:ext uri="{FF2B5EF4-FFF2-40B4-BE49-F238E27FC236}">
                <a16:creationId xmlns:a16="http://schemas.microsoft.com/office/drawing/2014/main" id="{753180BC-ECAF-E780-3075-0B9AC9FE65BD}"/>
              </a:ext>
            </a:extLst>
          </p:cNvPr>
          <p:cNvPicPr>
            <a:picLocks noChangeAspect="1"/>
          </p:cNvPicPr>
          <p:nvPr/>
        </p:nvPicPr>
        <p:blipFill>
          <a:blip r:embed="rId8"/>
          <a:stretch>
            <a:fillRect/>
          </a:stretch>
        </p:blipFill>
        <p:spPr>
          <a:xfrm>
            <a:off x="1212134" y="5471560"/>
            <a:ext cx="280440" cy="256054"/>
          </a:xfrm>
          <a:prstGeom prst="rect">
            <a:avLst/>
          </a:prstGeom>
        </p:spPr>
      </p:pic>
      <p:sp>
        <p:nvSpPr>
          <p:cNvPr id="8" name="Content Placeholder 7">
            <a:extLst>
              <a:ext uri="{FF2B5EF4-FFF2-40B4-BE49-F238E27FC236}">
                <a16:creationId xmlns:a16="http://schemas.microsoft.com/office/drawing/2014/main" id="{510FA54A-714F-E245-6240-D9ACB9F586BA}"/>
              </a:ext>
            </a:extLst>
          </p:cNvPr>
          <p:cNvSpPr>
            <a:spLocks noGrp="1"/>
          </p:cNvSpPr>
          <p:nvPr>
            <p:ph sz="quarter" idx="17"/>
          </p:nvPr>
        </p:nvSpPr>
        <p:spPr>
          <a:xfrm>
            <a:off x="1676400" y="5412863"/>
            <a:ext cx="704850" cy="374906"/>
          </a:xfrm>
        </p:spPr>
        <p:txBody>
          <a:bodyPr wrap="square" lIns="0" tIns="18000" rIns="0" bIns="18000" anchor="ctr" anchorCtr="0">
            <a:spAutoFit/>
          </a:bodyPr>
          <a:lstStyle/>
          <a:p>
            <a:pPr marL="0" indent="0">
              <a:buNone/>
              <a:defRPr/>
            </a:pPr>
            <a:r>
              <a:rPr lang="en-US" sz="2200" noProof="0" dirty="0">
                <a:solidFill>
                  <a:srgbClr val="007FA3"/>
                </a:solidFill>
              </a:rPr>
              <a:t>B.</a:t>
            </a:r>
            <a:r>
              <a:rPr lang="en-US" sz="2200" noProof="0" dirty="0"/>
              <a:t> No</a:t>
            </a:r>
          </a:p>
        </p:txBody>
      </p:sp>
    </p:spTree>
    <p:extLst>
      <p:ext uri="{BB962C8B-B14F-4D97-AF65-F5344CB8AC3E}">
        <p14:creationId xmlns:p14="http://schemas.microsoft.com/office/powerpoint/2010/main" val="28253683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1">
            <a:extLst>
              <a:ext uri="{FF2B5EF4-FFF2-40B4-BE49-F238E27FC236}">
                <a16:creationId xmlns:a16="http://schemas.microsoft.com/office/drawing/2014/main" id="{AFECA5DC-8C06-BB21-01F1-7A05C0BA05C1}"/>
              </a:ext>
            </a:extLst>
          </p:cNvPr>
          <p:cNvSpPr>
            <a:spLocks noGrp="1"/>
          </p:cNvSpPr>
          <p:nvPr>
            <p:ph type="title"/>
          </p:nvPr>
        </p:nvSpPr>
        <p:spPr>
          <a:xfrm>
            <a:off x="431650" y="163613"/>
            <a:ext cx="8242600" cy="590349"/>
          </a:xfrm>
        </p:spPr>
        <p:txBody>
          <a:bodyPr wrap="square" lIns="0" tIns="18000" rIns="0" bIns="18000" anchor="ctr">
            <a:spAutoFit/>
          </a:bodyPr>
          <a:lstStyle/>
          <a:p>
            <a:r>
              <a:rPr lang="en-US" noProof="0" dirty="0"/>
              <a:t>Chapter 5 – Op Amps </a:t>
            </a:r>
            <a:r>
              <a:rPr lang="en-US" sz="2800" noProof="0" dirty="0"/>
              <a:t>(11 of 11)</a:t>
            </a:r>
          </a:p>
        </p:txBody>
      </p:sp>
      <p:sp>
        <p:nvSpPr>
          <p:cNvPr id="3" name="Content Placeholder 2">
            <a:extLst>
              <a:ext uri="{FF2B5EF4-FFF2-40B4-BE49-F238E27FC236}">
                <a16:creationId xmlns:a16="http://schemas.microsoft.com/office/drawing/2014/main" id="{9610E064-73E2-95A1-FD71-B5441918FBD8}"/>
              </a:ext>
            </a:extLst>
          </p:cNvPr>
          <p:cNvSpPr>
            <a:spLocks noGrp="1"/>
          </p:cNvSpPr>
          <p:nvPr>
            <p:ph sz="quarter" idx="12"/>
          </p:nvPr>
        </p:nvSpPr>
        <p:spPr>
          <a:xfrm>
            <a:off x="428624" y="922566"/>
            <a:ext cx="8242301" cy="356730"/>
          </a:xfrm>
        </p:spPr>
        <p:txBody>
          <a:bodyPr wrap="square" lIns="0" tIns="18000" rIns="0" bIns="0" anchor="ctr" anchorCtr="0">
            <a:spAutoFit/>
          </a:bodyPr>
          <a:lstStyle/>
          <a:p>
            <a:pPr marL="0" indent="0">
              <a:spcBef>
                <a:spcPts val="600"/>
              </a:spcBef>
              <a:buNone/>
            </a:pPr>
            <a:r>
              <a:rPr lang="en-US" altLang="en-US" sz="2200" noProof="0" dirty="0"/>
              <a:t>Difference amplifier Example</a:t>
            </a:r>
            <a:endParaRPr lang="en-US" sz="2200" noProof="0" dirty="0"/>
          </a:p>
        </p:txBody>
      </p:sp>
      <p:sp>
        <p:nvSpPr>
          <p:cNvPr id="4" name="Content Placeholder 3">
            <a:extLst>
              <a:ext uri="{FF2B5EF4-FFF2-40B4-BE49-F238E27FC236}">
                <a16:creationId xmlns:a16="http://schemas.microsoft.com/office/drawing/2014/main" id="{9FA346DC-2B5B-6E47-1D49-10B041884170}"/>
              </a:ext>
            </a:extLst>
          </p:cNvPr>
          <p:cNvSpPr>
            <a:spLocks noGrp="1"/>
          </p:cNvSpPr>
          <p:nvPr>
            <p:ph sz="quarter" idx="13"/>
          </p:nvPr>
        </p:nvSpPr>
        <p:spPr>
          <a:xfrm>
            <a:off x="428626" y="1456404"/>
            <a:ext cx="1123950" cy="374906"/>
          </a:xfrm>
        </p:spPr>
        <p:txBody>
          <a:bodyPr wrap="square" lIns="0" tIns="18000" rIns="0" bIns="18000" anchor="ctr" anchorCtr="0">
            <a:spAutoFit/>
          </a:bodyPr>
          <a:lstStyle/>
          <a:p>
            <a:pPr marL="0" indent="0">
              <a:spcBef>
                <a:spcPts val="600"/>
              </a:spcBef>
              <a:buNone/>
            </a:pPr>
            <a:r>
              <a:rPr lang="en-US" sz="2200" noProof="0" dirty="0"/>
              <a:t>Suppose</a:t>
            </a:r>
          </a:p>
        </p:txBody>
      </p:sp>
      <p:graphicFrame>
        <p:nvGraphicFramePr>
          <p:cNvPr id="22" name="Object 5" descr="v subscript b BaseLine equals 4 Volts.">
            <a:extLst>
              <a:ext uri="{FF2B5EF4-FFF2-40B4-BE49-F238E27FC236}">
                <a16:creationId xmlns:a16="http://schemas.microsoft.com/office/drawing/2014/main" id="{8C46CE65-12A0-65E6-47D8-A3448D620D73}"/>
              </a:ext>
            </a:extLst>
          </p:cNvPr>
          <p:cNvGraphicFramePr>
            <a:graphicFrameLocks noChangeAspect="1"/>
          </p:cNvGraphicFramePr>
          <p:nvPr>
            <p:extLst>
              <p:ext uri="{D42A27DB-BD31-4B8C-83A1-F6EECF244321}">
                <p14:modId xmlns:p14="http://schemas.microsoft.com/office/powerpoint/2010/main" val="2272565640"/>
              </p:ext>
            </p:extLst>
          </p:nvPr>
        </p:nvGraphicFramePr>
        <p:xfrm>
          <a:off x="1617995" y="1484987"/>
          <a:ext cx="1148684" cy="412988"/>
        </p:xfrm>
        <a:graphic>
          <a:graphicData uri="http://schemas.openxmlformats.org/presentationml/2006/ole">
            <mc:AlternateContent xmlns:mc="http://schemas.openxmlformats.org/markup-compatibility/2006">
              <mc:Choice xmlns:v="urn:schemas-microsoft-com:vml" Requires="v">
                <p:oleObj name="Equation" r:id="rId3" imgW="647640" imgH="228600" progId="Equation.DSMT4">
                  <p:embed/>
                </p:oleObj>
              </mc:Choice>
              <mc:Fallback>
                <p:oleObj name="Equation" r:id="rId3" imgW="647640" imgH="228600" progId="Equation.DSMT4">
                  <p:embed/>
                  <p:pic>
                    <p:nvPicPr>
                      <p:cNvPr id="27" name="Object 5">
                        <a:extLst>
                          <a:ext uri="{FF2B5EF4-FFF2-40B4-BE49-F238E27FC236}">
                            <a16:creationId xmlns:a16="http://schemas.microsoft.com/office/drawing/2014/main" id="{4ABC7538-1ADA-0CB0-BBF6-2D1AEBB2E5A8}"/>
                          </a:ext>
                        </a:extLst>
                      </p:cNvPr>
                      <p:cNvPicPr>
                        <a:picLocks noChangeAspect="1" noChangeArrowheads="1"/>
                      </p:cNvPicPr>
                      <p:nvPr/>
                    </p:nvPicPr>
                    <p:blipFill>
                      <a:blip r:embed="rId4"/>
                      <a:srcRect/>
                      <a:stretch>
                        <a:fillRect/>
                      </a:stretch>
                    </p:blipFill>
                    <p:spPr bwMode="auto">
                      <a:xfrm>
                        <a:off x="1617995" y="1484987"/>
                        <a:ext cx="1148684" cy="4129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 name="Content Placeholder 4">
            <a:extLst>
              <a:ext uri="{FF2B5EF4-FFF2-40B4-BE49-F238E27FC236}">
                <a16:creationId xmlns:a16="http://schemas.microsoft.com/office/drawing/2014/main" id="{81AC261E-4BAC-38CA-69CA-A6D65AECAED4}"/>
              </a:ext>
            </a:extLst>
          </p:cNvPr>
          <p:cNvSpPr>
            <a:spLocks noGrp="1"/>
          </p:cNvSpPr>
          <p:nvPr>
            <p:ph sz="quarter" idx="14"/>
          </p:nvPr>
        </p:nvSpPr>
        <p:spPr>
          <a:xfrm>
            <a:off x="2856248" y="1456404"/>
            <a:ext cx="1458578" cy="374906"/>
          </a:xfrm>
        </p:spPr>
        <p:txBody>
          <a:bodyPr wrap="square" lIns="0" tIns="18000" rIns="0" bIns="18000" anchor="ctr" anchorCtr="0">
            <a:spAutoFit/>
          </a:bodyPr>
          <a:lstStyle/>
          <a:p>
            <a:pPr marL="0" indent="0">
              <a:buNone/>
            </a:pPr>
            <a:r>
              <a:rPr lang="en-US" sz="2200" noProof="0" dirty="0"/>
              <a:t>What range</a:t>
            </a:r>
          </a:p>
        </p:txBody>
      </p:sp>
      <p:sp>
        <p:nvSpPr>
          <p:cNvPr id="6" name="Content Placeholder 5">
            <a:extLst>
              <a:ext uri="{FF2B5EF4-FFF2-40B4-BE49-F238E27FC236}">
                <a16:creationId xmlns:a16="http://schemas.microsoft.com/office/drawing/2014/main" id="{40C4A38B-9A08-7878-2DE2-9CE107069E92}"/>
              </a:ext>
            </a:extLst>
          </p:cNvPr>
          <p:cNvSpPr>
            <a:spLocks noGrp="1"/>
          </p:cNvSpPr>
          <p:nvPr>
            <p:ph sz="quarter" idx="15"/>
          </p:nvPr>
        </p:nvSpPr>
        <p:spPr>
          <a:xfrm>
            <a:off x="428625" y="1951704"/>
            <a:ext cx="1533525" cy="374906"/>
          </a:xfrm>
        </p:spPr>
        <p:txBody>
          <a:bodyPr wrap="square" lIns="0" tIns="18000" rIns="0" bIns="18000" anchor="ctr" anchorCtr="0">
            <a:spAutoFit/>
          </a:bodyPr>
          <a:lstStyle/>
          <a:p>
            <a:pPr marL="0" indent="0">
              <a:buNone/>
            </a:pPr>
            <a:r>
              <a:rPr lang="en-US" sz="2200" noProof="0" dirty="0"/>
              <a:t>of values for</a:t>
            </a:r>
          </a:p>
        </p:txBody>
      </p:sp>
      <p:graphicFrame>
        <p:nvGraphicFramePr>
          <p:cNvPr id="23" name="Object 5" descr="v subscript a">
            <a:extLst>
              <a:ext uri="{FF2B5EF4-FFF2-40B4-BE49-F238E27FC236}">
                <a16:creationId xmlns:a16="http://schemas.microsoft.com/office/drawing/2014/main" id="{7508BC8D-BA8F-ED39-DAD2-49650891654E}"/>
              </a:ext>
            </a:extLst>
          </p:cNvPr>
          <p:cNvGraphicFramePr>
            <a:graphicFrameLocks noChangeAspect="1"/>
          </p:cNvGraphicFramePr>
          <p:nvPr>
            <p:extLst>
              <p:ext uri="{D42A27DB-BD31-4B8C-83A1-F6EECF244321}">
                <p14:modId xmlns:p14="http://schemas.microsoft.com/office/powerpoint/2010/main" val="3473241355"/>
              </p:ext>
            </p:extLst>
          </p:nvPr>
        </p:nvGraphicFramePr>
        <p:xfrm>
          <a:off x="2052638" y="1960563"/>
          <a:ext cx="315912" cy="414337"/>
        </p:xfrm>
        <a:graphic>
          <a:graphicData uri="http://schemas.openxmlformats.org/presentationml/2006/ole">
            <mc:AlternateContent xmlns:mc="http://schemas.openxmlformats.org/markup-compatibility/2006">
              <mc:Choice xmlns:v="urn:schemas-microsoft-com:vml" Requires="v">
                <p:oleObj name="Equation" r:id="rId5" imgW="177480" imgH="228600" progId="Equation.DSMT4">
                  <p:embed/>
                </p:oleObj>
              </mc:Choice>
              <mc:Fallback>
                <p:oleObj name="Equation" r:id="rId5" imgW="177480" imgH="228600" progId="Equation.DSMT4">
                  <p:embed/>
                  <p:pic>
                    <p:nvPicPr>
                      <p:cNvPr id="22" name="Object 5">
                        <a:extLst>
                          <a:ext uri="{FF2B5EF4-FFF2-40B4-BE49-F238E27FC236}">
                            <a16:creationId xmlns:a16="http://schemas.microsoft.com/office/drawing/2014/main" id="{8C46CE65-12A0-65E6-47D8-A3448D620D73}"/>
                          </a:ext>
                        </a:extLst>
                      </p:cNvPr>
                      <p:cNvPicPr>
                        <a:picLocks noChangeAspect="1" noChangeArrowheads="1"/>
                      </p:cNvPicPr>
                      <p:nvPr/>
                    </p:nvPicPr>
                    <p:blipFill>
                      <a:blip r:embed="rId6"/>
                      <a:srcRect/>
                      <a:stretch>
                        <a:fillRect/>
                      </a:stretch>
                    </p:blipFill>
                    <p:spPr bwMode="auto">
                      <a:xfrm>
                        <a:off x="2052638" y="1960563"/>
                        <a:ext cx="315912" cy="4143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 name="Content Placeholder 6">
            <a:extLst>
              <a:ext uri="{FF2B5EF4-FFF2-40B4-BE49-F238E27FC236}">
                <a16:creationId xmlns:a16="http://schemas.microsoft.com/office/drawing/2014/main" id="{9EA3F76A-3C61-D1C7-C6EA-75E3568FB79E}"/>
              </a:ext>
            </a:extLst>
          </p:cNvPr>
          <p:cNvSpPr>
            <a:spLocks noGrp="1"/>
          </p:cNvSpPr>
          <p:nvPr>
            <p:ph sz="quarter" idx="16"/>
          </p:nvPr>
        </p:nvSpPr>
        <p:spPr>
          <a:xfrm>
            <a:off x="2504740" y="1951904"/>
            <a:ext cx="1886286" cy="374906"/>
          </a:xfrm>
        </p:spPr>
        <p:txBody>
          <a:bodyPr wrap="square" lIns="0" tIns="18000" rIns="0" bIns="18000" anchor="ctr" anchorCtr="0">
            <a:spAutoFit/>
          </a:bodyPr>
          <a:lstStyle/>
          <a:p>
            <a:pPr marL="0" indent="0">
              <a:buNone/>
            </a:pPr>
            <a:r>
              <a:rPr lang="en-US" sz="2200" noProof="0" dirty="0"/>
              <a:t>will assure that</a:t>
            </a:r>
          </a:p>
        </p:txBody>
      </p:sp>
      <p:sp>
        <p:nvSpPr>
          <p:cNvPr id="8" name="Content Placeholder 7">
            <a:extLst>
              <a:ext uri="{FF2B5EF4-FFF2-40B4-BE49-F238E27FC236}">
                <a16:creationId xmlns:a16="http://schemas.microsoft.com/office/drawing/2014/main" id="{AFA07E36-88B1-7757-E130-306EDE726605}"/>
              </a:ext>
            </a:extLst>
          </p:cNvPr>
          <p:cNvSpPr>
            <a:spLocks noGrp="1"/>
          </p:cNvSpPr>
          <p:nvPr>
            <p:ph sz="quarter" idx="17"/>
          </p:nvPr>
        </p:nvSpPr>
        <p:spPr>
          <a:xfrm>
            <a:off x="428625" y="2366997"/>
            <a:ext cx="4054475" cy="713460"/>
          </a:xfrm>
        </p:spPr>
        <p:txBody>
          <a:bodyPr lIns="0" tIns="18000" rIns="0" bIns="18000" anchor="ctr" anchorCtr="0">
            <a:spAutoFit/>
          </a:bodyPr>
          <a:lstStyle/>
          <a:p>
            <a:pPr marL="0" indent="0">
              <a:spcBef>
                <a:spcPts val="600"/>
              </a:spcBef>
              <a:buNone/>
            </a:pPr>
            <a:r>
              <a:rPr lang="en-US" sz="2200" noProof="0" dirty="0"/>
              <a:t>the op amp operates within its linear region?</a:t>
            </a:r>
          </a:p>
        </p:txBody>
      </p:sp>
      <p:pic>
        <p:nvPicPr>
          <p:cNvPr id="25" name="Picture 24" descr="A circuit diagram shows an operational amplifier with positive 10 volts applied to its top vertical terminal and negative 10 volts applied to its bottom vertical terminal. The inverting input wire to the operational amplifier contains a 10 kilo ohms resistor. Positive voltage v subscript a is applied to the left terminal of resistor R subscript a, the right terminal of which is connected to a node on the inverting input wire. This node on the inverting input wire is connected to the output terminal of the operational amplifier through a 50 kilo ohms resistor. &#10;The non inverting input wire to the operational amplifier contains a 4 kilo ohms resistor. Positive voltage v subscript b is applied to the left terminal of the 4 kilo ohms resistor, the right terminal of which is connected to a node on the non inverting terminal. This node on the non inverting terminal is connected to ground through a 20 kilo ohms resistor. Voltage v subscript o exists between the output terminal of the operational amplifier and ground.&#10;">
            <a:extLst>
              <a:ext uri="{FF2B5EF4-FFF2-40B4-BE49-F238E27FC236}">
                <a16:creationId xmlns:a16="http://schemas.microsoft.com/office/drawing/2014/main" id="{80396E29-FBD8-0EB4-2A2C-93B124BD42B5}"/>
              </a:ext>
            </a:extLst>
          </p:cNvPr>
          <p:cNvPicPr>
            <a:picLocks noChangeAspect="1"/>
          </p:cNvPicPr>
          <p:nvPr/>
        </p:nvPicPr>
        <p:blipFill>
          <a:blip r:embed="rId7"/>
          <a:stretch>
            <a:fillRect/>
          </a:stretch>
        </p:blipFill>
        <p:spPr>
          <a:xfrm>
            <a:off x="5084870" y="1368578"/>
            <a:ext cx="3110576" cy="1854681"/>
          </a:xfrm>
          <a:prstGeom prst="rect">
            <a:avLst/>
          </a:prstGeom>
        </p:spPr>
      </p:pic>
      <p:sp>
        <p:nvSpPr>
          <p:cNvPr id="9" name="Content Placeholder 8">
            <a:extLst>
              <a:ext uri="{FF2B5EF4-FFF2-40B4-BE49-F238E27FC236}">
                <a16:creationId xmlns:a16="http://schemas.microsoft.com/office/drawing/2014/main" id="{0A2AA394-8559-2B75-06ED-3EBFFF4348DC}"/>
              </a:ext>
            </a:extLst>
          </p:cNvPr>
          <p:cNvSpPr>
            <a:spLocks noGrp="1"/>
          </p:cNvSpPr>
          <p:nvPr>
            <p:ph sz="quarter" idx="18"/>
          </p:nvPr>
        </p:nvSpPr>
        <p:spPr>
          <a:xfrm>
            <a:off x="428625" y="3283987"/>
            <a:ext cx="8143875" cy="374906"/>
          </a:xfrm>
        </p:spPr>
        <p:txBody>
          <a:bodyPr wrap="square" lIns="0" tIns="18000" rIns="0" bIns="18000" anchor="ctr" anchorCtr="0">
            <a:spAutoFit/>
          </a:bodyPr>
          <a:lstStyle/>
          <a:p>
            <a:pPr marL="0" indent="0">
              <a:buNone/>
              <a:defRPr/>
            </a:pPr>
            <a:r>
              <a:rPr lang="en-US" sz="2200" noProof="0" dirty="0"/>
              <a:t>Use the simplified equation:</a:t>
            </a:r>
          </a:p>
        </p:txBody>
      </p:sp>
      <p:graphicFrame>
        <p:nvGraphicFramePr>
          <p:cNvPr id="26" name="Object 5" descr="The figure illustrates an equation for v subscript o in terms of v subscript b and v subscript a.&#10;Long description is available in notes, Press F6.">
            <a:extLst>
              <a:ext uri="{FF2B5EF4-FFF2-40B4-BE49-F238E27FC236}">
                <a16:creationId xmlns:a16="http://schemas.microsoft.com/office/drawing/2014/main" id="{9095A3B3-C2FF-F740-C646-372E5C88B7AF}"/>
              </a:ext>
            </a:extLst>
          </p:cNvPr>
          <p:cNvGraphicFramePr>
            <a:graphicFrameLocks noChangeAspect="1"/>
          </p:cNvGraphicFramePr>
          <p:nvPr>
            <p:extLst>
              <p:ext uri="{D42A27DB-BD31-4B8C-83A1-F6EECF244321}">
                <p14:modId xmlns:p14="http://schemas.microsoft.com/office/powerpoint/2010/main" val="61352543"/>
              </p:ext>
            </p:extLst>
          </p:nvPr>
        </p:nvGraphicFramePr>
        <p:xfrm>
          <a:off x="1379538" y="3743325"/>
          <a:ext cx="3875087" cy="712788"/>
        </p:xfrm>
        <a:graphic>
          <a:graphicData uri="http://schemas.openxmlformats.org/presentationml/2006/ole">
            <mc:AlternateContent xmlns:mc="http://schemas.openxmlformats.org/markup-compatibility/2006">
              <mc:Choice xmlns:v="urn:schemas-microsoft-com:vml" Requires="v">
                <p:oleObj name="Equation" r:id="rId8" imgW="2184120" imgH="393480" progId="Equation.DSMT4">
                  <p:embed/>
                </p:oleObj>
              </mc:Choice>
              <mc:Fallback>
                <p:oleObj name="Equation" r:id="rId8" imgW="2184120" imgH="393480" progId="Equation.DSMT4">
                  <p:embed/>
                  <p:pic>
                    <p:nvPicPr>
                      <p:cNvPr id="22" name="Object 5">
                        <a:extLst>
                          <a:ext uri="{FF2B5EF4-FFF2-40B4-BE49-F238E27FC236}">
                            <a16:creationId xmlns:a16="http://schemas.microsoft.com/office/drawing/2014/main" id="{8C46CE65-12A0-65E6-47D8-A3448D620D73}"/>
                          </a:ext>
                        </a:extLst>
                      </p:cNvPr>
                      <p:cNvPicPr>
                        <a:picLocks noChangeAspect="1" noChangeArrowheads="1"/>
                      </p:cNvPicPr>
                      <p:nvPr/>
                    </p:nvPicPr>
                    <p:blipFill>
                      <a:blip r:embed="rId9"/>
                      <a:srcRect/>
                      <a:stretch>
                        <a:fillRect/>
                      </a:stretch>
                    </p:blipFill>
                    <p:spPr bwMode="auto">
                      <a:xfrm>
                        <a:off x="1379538" y="3743325"/>
                        <a:ext cx="3875087" cy="712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7" name="Object 5" descr="5 OpenParenthesis 4 minus v subscript a CloseParenthesis equals 10, forward arrow, v subscript a BaseLine equals 2 Volts.">
            <a:extLst>
              <a:ext uri="{FF2B5EF4-FFF2-40B4-BE49-F238E27FC236}">
                <a16:creationId xmlns:a16="http://schemas.microsoft.com/office/drawing/2014/main" id="{36715C9D-D1E3-53D1-E511-58E60999ACB5}"/>
              </a:ext>
            </a:extLst>
          </p:cNvPr>
          <p:cNvGraphicFramePr>
            <a:graphicFrameLocks noChangeAspect="1"/>
          </p:cNvGraphicFramePr>
          <p:nvPr>
            <p:extLst>
              <p:ext uri="{D42A27DB-BD31-4B8C-83A1-F6EECF244321}">
                <p14:modId xmlns:p14="http://schemas.microsoft.com/office/powerpoint/2010/main" val="2711263866"/>
              </p:ext>
            </p:extLst>
          </p:nvPr>
        </p:nvGraphicFramePr>
        <p:xfrm>
          <a:off x="1379538" y="4532313"/>
          <a:ext cx="4078287" cy="414337"/>
        </p:xfrm>
        <a:graphic>
          <a:graphicData uri="http://schemas.openxmlformats.org/presentationml/2006/ole">
            <mc:AlternateContent xmlns:mc="http://schemas.openxmlformats.org/markup-compatibility/2006">
              <mc:Choice xmlns:v="urn:schemas-microsoft-com:vml" Requires="v">
                <p:oleObj name="Equation" r:id="rId10" imgW="2298600" imgH="228600" progId="Equation.DSMT4">
                  <p:embed/>
                </p:oleObj>
              </mc:Choice>
              <mc:Fallback>
                <p:oleObj name="Equation" r:id="rId10" imgW="2298600" imgH="228600" progId="Equation.DSMT4">
                  <p:embed/>
                  <p:pic>
                    <p:nvPicPr>
                      <p:cNvPr id="26" name="Object 5">
                        <a:extLst>
                          <a:ext uri="{FF2B5EF4-FFF2-40B4-BE49-F238E27FC236}">
                            <a16:creationId xmlns:a16="http://schemas.microsoft.com/office/drawing/2014/main" id="{9095A3B3-C2FF-F740-C646-372E5C88B7AF}"/>
                          </a:ext>
                        </a:extLst>
                      </p:cNvPr>
                      <p:cNvPicPr>
                        <a:picLocks noChangeAspect="1" noChangeArrowheads="1"/>
                      </p:cNvPicPr>
                      <p:nvPr/>
                    </p:nvPicPr>
                    <p:blipFill>
                      <a:blip r:embed="rId11"/>
                      <a:srcRect/>
                      <a:stretch>
                        <a:fillRect/>
                      </a:stretch>
                    </p:blipFill>
                    <p:spPr bwMode="auto">
                      <a:xfrm>
                        <a:off x="1379538" y="4532313"/>
                        <a:ext cx="4078287" cy="4143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 name="Object 5" descr="5 OpenParenthesis 4 minus v subscript a CloseParenthesis equals negative 10, forward arrow v subscript a BaseLine equals 6 Volts.">
            <a:extLst>
              <a:ext uri="{FF2B5EF4-FFF2-40B4-BE49-F238E27FC236}">
                <a16:creationId xmlns:a16="http://schemas.microsoft.com/office/drawing/2014/main" id="{531CD9E0-1210-57A3-864C-D51D171DB18F}"/>
              </a:ext>
            </a:extLst>
          </p:cNvPr>
          <p:cNvGraphicFramePr>
            <a:graphicFrameLocks noChangeAspect="1"/>
          </p:cNvGraphicFramePr>
          <p:nvPr>
            <p:extLst>
              <p:ext uri="{D42A27DB-BD31-4B8C-83A1-F6EECF244321}">
                <p14:modId xmlns:p14="http://schemas.microsoft.com/office/powerpoint/2010/main" val="3954735648"/>
              </p:ext>
            </p:extLst>
          </p:nvPr>
        </p:nvGraphicFramePr>
        <p:xfrm>
          <a:off x="1379538" y="5065713"/>
          <a:ext cx="4257675" cy="414337"/>
        </p:xfrm>
        <a:graphic>
          <a:graphicData uri="http://schemas.openxmlformats.org/presentationml/2006/ole">
            <mc:AlternateContent xmlns:mc="http://schemas.openxmlformats.org/markup-compatibility/2006">
              <mc:Choice xmlns:v="urn:schemas-microsoft-com:vml" Requires="v">
                <p:oleObj name="Equation" r:id="rId12" imgW="2400120" imgH="228600" progId="Equation.DSMT4">
                  <p:embed/>
                </p:oleObj>
              </mc:Choice>
              <mc:Fallback>
                <p:oleObj name="Equation" r:id="rId12" imgW="2400120" imgH="228600" progId="Equation.DSMT4">
                  <p:embed/>
                  <p:pic>
                    <p:nvPicPr>
                      <p:cNvPr id="27" name="Object 5">
                        <a:extLst>
                          <a:ext uri="{FF2B5EF4-FFF2-40B4-BE49-F238E27FC236}">
                            <a16:creationId xmlns:a16="http://schemas.microsoft.com/office/drawing/2014/main" id="{36715C9D-D1E3-53D1-E511-58E60999ACB5}"/>
                          </a:ext>
                        </a:extLst>
                      </p:cNvPr>
                      <p:cNvPicPr>
                        <a:picLocks noChangeAspect="1" noChangeArrowheads="1"/>
                      </p:cNvPicPr>
                      <p:nvPr/>
                    </p:nvPicPr>
                    <p:blipFill>
                      <a:blip r:embed="rId13"/>
                      <a:srcRect/>
                      <a:stretch>
                        <a:fillRect/>
                      </a:stretch>
                    </p:blipFill>
                    <p:spPr bwMode="auto">
                      <a:xfrm>
                        <a:off x="1379538" y="5065713"/>
                        <a:ext cx="4257675" cy="4143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 name="Object 5" descr="Therefore, 2 Volts less than or equal to v subscript a BaseLine less than or equal to 6 Volts.">
            <a:extLst>
              <a:ext uri="{FF2B5EF4-FFF2-40B4-BE49-F238E27FC236}">
                <a16:creationId xmlns:a16="http://schemas.microsoft.com/office/drawing/2014/main" id="{F4756E25-BE0B-93E4-6BFE-31AFD829E8E8}"/>
              </a:ext>
            </a:extLst>
          </p:cNvPr>
          <p:cNvGraphicFramePr>
            <a:graphicFrameLocks noChangeAspect="1"/>
          </p:cNvGraphicFramePr>
          <p:nvPr>
            <p:extLst>
              <p:ext uri="{D42A27DB-BD31-4B8C-83A1-F6EECF244321}">
                <p14:modId xmlns:p14="http://schemas.microsoft.com/office/powerpoint/2010/main" val="2832399584"/>
              </p:ext>
            </p:extLst>
          </p:nvPr>
        </p:nvGraphicFramePr>
        <p:xfrm>
          <a:off x="1390650" y="5645893"/>
          <a:ext cx="2500313" cy="414337"/>
        </p:xfrm>
        <a:graphic>
          <a:graphicData uri="http://schemas.openxmlformats.org/presentationml/2006/ole">
            <mc:AlternateContent xmlns:mc="http://schemas.openxmlformats.org/markup-compatibility/2006">
              <mc:Choice xmlns:v="urn:schemas-microsoft-com:vml" Requires="v">
                <p:oleObj name="Equation" r:id="rId14" imgW="1409400" imgH="228600" progId="Equation.DSMT4">
                  <p:embed/>
                </p:oleObj>
              </mc:Choice>
              <mc:Fallback>
                <p:oleObj name="Equation" r:id="rId14" imgW="1409400" imgH="228600" progId="Equation.DSMT4">
                  <p:embed/>
                  <p:pic>
                    <p:nvPicPr>
                      <p:cNvPr id="28" name="Object 5">
                        <a:extLst>
                          <a:ext uri="{FF2B5EF4-FFF2-40B4-BE49-F238E27FC236}">
                            <a16:creationId xmlns:a16="http://schemas.microsoft.com/office/drawing/2014/main" id="{531CD9E0-1210-57A3-864C-D51D171DB18F}"/>
                          </a:ext>
                        </a:extLst>
                      </p:cNvPr>
                      <p:cNvPicPr>
                        <a:picLocks noChangeAspect="1" noChangeArrowheads="1"/>
                      </p:cNvPicPr>
                      <p:nvPr/>
                    </p:nvPicPr>
                    <p:blipFill>
                      <a:blip r:embed="rId15"/>
                      <a:srcRect/>
                      <a:stretch>
                        <a:fillRect/>
                      </a:stretch>
                    </p:blipFill>
                    <p:spPr bwMode="auto">
                      <a:xfrm>
                        <a:off x="1390650" y="5645893"/>
                        <a:ext cx="2500313" cy="4143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6155459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7D58C-9F1B-4866-A98E-52818AA14994}"/>
              </a:ext>
            </a:extLst>
          </p:cNvPr>
          <p:cNvSpPr>
            <a:spLocks noGrp="1"/>
          </p:cNvSpPr>
          <p:nvPr>
            <p:ph type="title"/>
          </p:nvPr>
        </p:nvSpPr>
        <p:spPr>
          <a:xfrm>
            <a:off x="430704" y="209602"/>
            <a:ext cx="8240665" cy="590349"/>
          </a:xfrm>
        </p:spPr>
        <p:txBody>
          <a:bodyPr wrap="square" lIns="0" tIns="18000" rIns="0" bIns="18000" rtlCol="0" anchor="ctr">
            <a:spAutoFit/>
          </a:bodyPr>
          <a:lstStyle/>
          <a:p>
            <a:pPr eaLnBrk="1" fontAlgn="auto" hangingPunct="1">
              <a:spcAft>
                <a:spcPts val="0"/>
              </a:spcAft>
              <a:defRPr/>
            </a:pPr>
            <a:r>
              <a:rPr lang="en-US" sz="3600" noProof="0" dirty="0">
                <a:latin typeface="+mj-lt"/>
              </a:rPr>
              <a:t>Copyright</a:t>
            </a:r>
            <a:endParaRPr lang="en-US" sz="3600" b="0" noProof="0" dirty="0">
              <a:latin typeface="+mj-lt"/>
            </a:endParaRPr>
          </a:p>
        </p:txBody>
      </p:sp>
      <p:pic>
        <p:nvPicPr>
          <p:cNvPr id="3" name="Graphic 2" descr="Warning">
            <a:extLst>
              <a:ext uri="{FF2B5EF4-FFF2-40B4-BE49-F238E27FC236}">
                <a16:creationId xmlns:a16="http://schemas.microsoft.com/office/drawing/2014/main" id="{45663BD5-7D18-BDA4-9C4E-DA879AC1029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79831" y="2317359"/>
            <a:ext cx="1277815" cy="1434026"/>
          </a:xfrm>
          <a:prstGeom prst="rect">
            <a:avLst/>
          </a:prstGeom>
        </p:spPr>
      </p:pic>
      <p:sp>
        <p:nvSpPr>
          <p:cNvPr id="47108" name="Content Placeholder 2">
            <a:extLst>
              <a:ext uri="{FF2B5EF4-FFF2-40B4-BE49-F238E27FC236}">
                <a16:creationId xmlns:a16="http://schemas.microsoft.com/office/drawing/2014/main" id="{D426AB61-8455-4298-A667-9E3A95FC73C1}"/>
              </a:ext>
            </a:extLst>
          </p:cNvPr>
          <p:cNvSpPr>
            <a:spLocks noGrp="1"/>
          </p:cNvSpPr>
          <p:nvPr>
            <p:ph idx="1"/>
          </p:nvPr>
        </p:nvSpPr>
        <p:spPr bwMode="auto">
          <a:xfrm>
            <a:off x="1851965" y="1889826"/>
            <a:ext cx="6810440" cy="2832998"/>
          </a:xfrm>
          <a:ln w="28575">
            <a:solidFill>
              <a:schemeClr val="tx1"/>
            </a:solidFill>
            <a:miter lim="800000"/>
            <a:headEnd/>
            <a:tailEnd/>
          </a:ln>
        </p:spPr>
        <p:txBody>
          <a:bodyPr wrap="square" lIns="183600" tIns="183600" rIns="183600" bIns="183600" numCol="1" anchor="ctr" anchorCtr="0" compatLnSpc="1">
            <a:prstTxWarp prst="textNoShape">
              <a:avLst/>
            </a:prstTxWarp>
            <a:spAutoFit/>
          </a:bodyPr>
          <a:lstStyle/>
          <a:p>
            <a:pPr marL="0" indent="0" eaLnBrk="1" hangingPunct="1">
              <a:buFont typeface="Arial" panose="020B0604020202020204" pitchFamily="34" charset="0"/>
              <a:buNone/>
            </a:pPr>
            <a:r>
              <a:rPr lang="en-US" altLang="en-US" b="1" noProof="0" dirty="0">
                <a:latin typeface="Arial" panose="020B0604020202020204" pitchFamily="34" charset="0"/>
                <a:cs typeface="Arial" panose="020B0604020202020204" pitchFamily="34" charset="0"/>
              </a:rPr>
              <a:t>This work is protected by </a:t>
            </a:r>
            <a:r>
              <a:rPr lang="en-US" altLang="en-US" b="1" noProof="0">
                <a:latin typeface="Arial" panose="020B0604020202020204" pitchFamily="34" charset="0"/>
                <a:cs typeface="Arial" panose="020B0604020202020204" pitchFamily="34" charset="0"/>
              </a:rPr>
              <a:t>United Kingdom </a:t>
            </a:r>
            <a:r>
              <a:rPr lang="en-US" altLang="en-US" b="1" noProof="0" dirty="0">
                <a:latin typeface="Arial" panose="020B0604020202020204" pitchFamily="34" charset="0"/>
                <a:cs typeface="Arial" panose="020B0604020202020204" pitchFamily="34" charset="0"/>
              </a:rPr>
              <a:t>copyright laws and is 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p>
        </p:txBody>
      </p:sp>
    </p:spTree>
    <p:extLst>
      <p:ext uri="{BB962C8B-B14F-4D97-AF65-F5344CB8AC3E}">
        <p14:creationId xmlns:p14="http://schemas.microsoft.com/office/powerpoint/2010/main" val="693870804"/>
      </p:ext>
    </p:extLst>
  </p:cSld>
  <p:clrMapOvr>
    <a:masterClrMapping/>
  </p:clrMapOvr>
</p:sld>
</file>

<file path=ppt/theme/theme1.xml><?xml version="1.0" encoding="utf-8"?>
<a:theme xmlns:a="http://schemas.openxmlformats.org/drawingml/2006/main" name="USH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USHE_slide options">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1157</TotalTime>
  <Words>1813</Words>
  <Application>Microsoft Macintosh PowerPoint</Application>
  <PresentationFormat>On-screen Show (4:3)</PresentationFormat>
  <Paragraphs>128</Paragraphs>
  <Slides>14</Slides>
  <Notes>9</Notes>
  <HiddenSlides>0</HiddenSlides>
  <MMClips>0</MMClips>
  <ScaleCrop>false</ScaleCrop>
  <HeadingPairs>
    <vt:vector size="8" baseType="variant">
      <vt:variant>
        <vt:lpstr>Fonts Used</vt:lpstr>
      </vt:variant>
      <vt:variant>
        <vt:i4>3</vt:i4>
      </vt:variant>
      <vt:variant>
        <vt:lpstr>Theme</vt:lpstr>
      </vt:variant>
      <vt:variant>
        <vt:i4>2</vt:i4>
      </vt:variant>
      <vt:variant>
        <vt:lpstr>Embedded OLE Servers</vt:lpstr>
      </vt:variant>
      <vt:variant>
        <vt:i4>1</vt:i4>
      </vt:variant>
      <vt:variant>
        <vt:lpstr>Slide Titles</vt:lpstr>
      </vt:variant>
      <vt:variant>
        <vt:i4>14</vt:i4>
      </vt:variant>
    </vt:vector>
  </HeadingPairs>
  <TitlesOfParts>
    <vt:vector size="20" baseType="lpstr">
      <vt:lpstr>Verdana</vt:lpstr>
      <vt:lpstr>Arial</vt:lpstr>
      <vt:lpstr>Times New Roman</vt:lpstr>
      <vt:lpstr>USHE</vt:lpstr>
      <vt:lpstr>USHE_slide options</vt:lpstr>
      <vt:lpstr>Equation</vt:lpstr>
      <vt:lpstr>Electric Circuits</vt:lpstr>
      <vt:lpstr>Chapter 5 – Op Amps (1 of 11)</vt:lpstr>
      <vt:lpstr>Chapter 5 – Op Amps (2 of 11)</vt:lpstr>
      <vt:lpstr>Chapter 5 – Op Amps (3 of 11)</vt:lpstr>
      <vt:lpstr>Chapter 5 – Op Amps (4 of 11)</vt:lpstr>
      <vt:lpstr>Chapter 5 – Op Amps (5 of 11)</vt:lpstr>
      <vt:lpstr>Chapter 5 – Op Amps (6 of 11)</vt:lpstr>
      <vt:lpstr>Chapter 5 – Op Amps (7 of 11)</vt:lpstr>
      <vt:lpstr>Chapter 5 – Op Amps (8 of 11)</vt:lpstr>
      <vt:lpstr>Chapter 5 – Op Amps (8 of 11)</vt:lpstr>
      <vt:lpstr>Chapter 5 – Op Amps (9 of 11)</vt:lpstr>
      <vt:lpstr>Chapter 5 – Op Amps (10 of 11)</vt:lpstr>
      <vt:lpstr>Chapter 5 – Op Amps (11 of 11)</vt:lpstr>
      <vt:lpstr>Copyright</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Electric Circuits, Twelfth Edition, Chapter 5 – Part 2</dc:title>
  <dc:subject>Engineering</dc:subject>
  <dc:creator>Nilsson and Riedel</dc:creator>
  <cp:keywords/>
  <dc:description/>
  <cp:lastModifiedBy>Kamil Erdayandi</cp:lastModifiedBy>
  <cp:revision>272</cp:revision>
  <dcterms:modified xsi:type="dcterms:W3CDTF">2025-11-17T19:18:09Z</dcterms:modified>
</cp:coreProperties>
</file>