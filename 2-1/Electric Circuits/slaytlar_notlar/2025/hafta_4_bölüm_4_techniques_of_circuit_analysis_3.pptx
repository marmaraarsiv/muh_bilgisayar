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1"/>
  </p:notesMasterIdLst>
  <p:handoutMasterIdLst>
    <p:handoutMasterId r:id="rId22"/>
  </p:handoutMasterIdLst>
  <p:sldIdLst>
    <p:sldId id="330" r:id="rId3"/>
    <p:sldId id="718" r:id="rId4"/>
    <p:sldId id="720" r:id="rId5"/>
    <p:sldId id="734" r:id="rId6"/>
    <p:sldId id="743" r:id="rId7"/>
    <p:sldId id="736" r:id="rId8"/>
    <p:sldId id="737" r:id="rId9"/>
    <p:sldId id="738" r:id="rId10"/>
    <p:sldId id="724" r:id="rId11"/>
    <p:sldId id="744" r:id="rId12"/>
    <p:sldId id="726" r:id="rId13"/>
    <p:sldId id="727" r:id="rId14"/>
    <p:sldId id="739" r:id="rId15"/>
    <p:sldId id="740" r:id="rId16"/>
    <p:sldId id="741" r:id="rId17"/>
    <p:sldId id="745" r:id="rId18"/>
    <p:sldId id="742" r:id="rId19"/>
    <p:sldId id="717" r:id="rId20"/>
  </p:sldIdLst>
  <p:sldSz cx="9144000" cy="6858000" type="screen4x3"/>
  <p:notesSz cx="6858000" cy="9144000"/>
  <p:embeddedFontLst>
    <p:embeddedFont>
      <p:font typeface="Verdana" panose="020B060403050404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57" userDrawn="1">
          <p15:clr>
            <a:srgbClr val="A4A3A4"/>
          </p15:clr>
        </p15:guide>
        <p15:guide id="2" pos="249"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60" userDrawn="1">
          <p15:clr>
            <a:srgbClr val="A4A3A4"/>
          </p15:clr>
        </p15:guide>
        <p15:guide id="8" orient="horz" pos="43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97" autoAdjust="0"/>
    <p:restoredTop sz="91462" autoAdjust="0"/>
  </p:normalViewPr>
  <p:slideViewPr>
    <p:cSldViewPr snapToGrid="0" snapToObjects="1">
      <p:cViewPr varScale="1">
        <p:scale>
          <a:sx n="100" d="100"/>
          <a:sy n="100" d="100"/>
        </p:scale>
        <p:origin x="2070" y="90"/>
      </p:cViewPr>
      <p:guideLst>
        <p:guide orient="horz" pos="3657"/>
        <p:guide pos="249"/>
        <p:guide orient="horz" pos="1139"/>
        <p:guide pos="2880"/>
        <p:guide pos="5465"/>
        <p:guide orient="horz" pos="4042"/>
        <p:guide orient="horz" pos="2160"/>
        <p:guide orient="horz" pos="436"/>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noProof="0" dirty="0">
                <a:latin typeface="Arial" panose="020B0604020202020204" pitchFamily="34" charset="0"/>
                <a:cs typeface="Arial" panose="020B0604020202020204" pitchFamily="34" charset="0"/>
              </a:rPr>
              <a:t>Long Description 1:</a:t>
            </a:r>
          </a:p>
          <a:p>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 negative 80 plus 5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Close Parenthesis plus 26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Close Parenthesis equals 0.Close Parenthesis</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2:</a:t>
            </a:r>
          </a:p>
          <a:p>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Parenthesis30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Close Parenthesis plus 90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Close Parenthesis plus 5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Close Parenthesis equals 0.Close Parenthesis</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3:</a:t>
            </a:r>
          </a:p>
          <a:p>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Parenthesis8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Close Parenthesis plus 26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Close Parenthesis plus 90 Open Parenthesis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minus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Close Parenthesis equals 0.Close Parenthesis</a:t>
            </a:r>
            <a:r>
              <a:rPr lang="en-US" sz="1200" noProof="0" dirty="0">
                <a:latin typeface="Arial" panose="020B060402020202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Long Description 4:</a:t>
            </a:r>
          </a:p>
          <a:p>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Parenthesis1: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5 plus 26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Open Parenthesis negative 5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Open Parenthesis negative 26 Close Parenthesis equals 80.Close Parenthesis</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Parenthesis2.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negative 5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Open Parenthesis 30 plus 90 plus 5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Open Parenthesis negative 90 Close Parenthesis equals 0.Close Parenthesis</a:t>
            </a:r>
            <a:br>
              <a:rPr lang="en-US" sz="1200" b="0" i="0" u="none" strike="noStrike" noProof="0" dirty="0">
                <a:solidFill>
                  <a:srgbClr val="000000"/>
                </a:solidFill>
                <a:effectLst/>
                <a:latin typeface="Arial" panose="020B0604020202020204" pitchFamily="34" charset="0"/>
                <a:cs typeface="Arial" panose="020B0604020202020204" pitchFamily="34" charset="0"/>
              </a:rPr>
            </a:br>
            <a:r>
              <a:rPr lang="en-US" sz="1200" b="0" i="0" u="none" strike="noStrike" noProof="0" dirty="0">
                <a:solidFill>
                  <a:srgbClr val="000000"/>
                </a:solidFill>
                <a:effectLst/>
                <a:latin typeface="Arial" panose="020B0604020202020204" pitchFamily="34" charset="0"/>
                <a:cs typeface="Arial" panose="020B0604020202020204" pitchFamily="34" charset="0"/>
              </a:rPr>
              <a:t>Close Parenthesis3.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1 Base Line Open Parenthesis negative 26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2 Base Line Open Parenthesis negative 90 Close Parenthesis plus </a:t>
            </a:r>
            <a:r>
              <a:rPr lang="en-US" sz="1200" b="0" i="0" u="none" strike="noStrike" noProof="0" dirty="0" err="1">
                <a:solidFill>
                  <a:srgbClr val="000000"/>
                </a:solidFill>
                <a:effectLst/>
                <a:latin typeface="Arial" panose="020B0604020202020204" pitchFamily="34" charset="0"/>
                <a:cs typeface="Arial" panose="020B0604020202020204" pitchFamily="34" charset="0"/>
              </a:rPr>
              <a:t>i</a:t>
            </a:r>
            <a:r>
              <a:rPr lang="en-US" sz="1200" b="0" i="0" u="none" strike="noStrike" noProof="0" dirty="0">
                <a:solidFill>
                  <a:srgbClr val="000000"/>
                </a:solidFill>
                <a:effectLst/>
                <a:latin typeface="Arial" panose="020B0604020202020204" pitchFamily="34" charset="0"/>
                <a:cs typeface="Arial" panose="020B0604020202020204" pitchFamily="34" charset="0"/>
              </a:rPr>
              <a:t> subscript 3 Base Line Open Parenthesis 8 plus 26 plus 90 Close Parenthesis equals 0.Close Parenthesis</a:t>
            </a:r>
            <a:r>
              <a:rPr lang="en-US" sz="1200" noProof="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8399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 1:</a:t>
            </a:r>
          </a:p>
          <a:p>
            <a:r>
              <a:rPr lang="en-IN" sz="1800" b="0" i="0" u="none" strike="noStrike" dirty="0">
                <a:solidFill>
                  <a:srgbClr val="000000"/>
                </a:solidFill>
                <a:effectLst/>
                <a:latin typeface="Calibri" panose="020F0502020204030204" pitchFamily="34" charset="0"/>
              </a:rPr>
              <a:t>Close Parenthesis2 i subscript 1 Base Line plus 8 Open Parenthesis i subscript 1 Base Line minus i subscript 2 Base Line Close Parenthesis plus 6 Open Parenthesis i subscript 1 Base Line minus i subscript 3 Base Line Close Parenthesis equals 0.Close Parenthesis</a:t>
            </a:r>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Long Description 2:</a:t>
            </a:r>
          </a:p>
          <a:p>
            <a:r>
              <a:rPr lang="en-IN" sz="1800" b="0" i="0" u="none" strike="noStrike" dirty="0">
                <a:solidFill>
                  <a:srgbClr val="000000"/>
                </a:solidFill>
                <a:effectLst/>
                <a:latin typeface="Calibri" panose="020F0502020204030204" pitchFamily="34" charset="0"/>
              </a:rPr>
              <a:t>Close Parenthesis5 i subscript Phi Base Line plus 8 Open Parenthesis i subscript 2 Base Line minus i subscript 3 Base Line Close Parenthesis plus 8 Open Parenthesis i subscript 2 Base Line minus i subscript 1 Base Line Close Parenthesis equals 0.Close Parenthesis</a:t>
            </a:r>
            <a:r>
              <a:rPr lang="en-IN" dirty="0"/>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Long Description 3:</a:t>
            </a:r>
          </a:p>
          <a:p>
            <a:r>
              <a:rPr lang="en-IN" sz="1800" b="0" i="0" u="none" strike="noStrike" dirty="0">
                <a:solidFill>
                  <a:srgbClr val="000000"/>
                </a:solidFill>
                <a:effectLst/>
                <a:latin typeface="Calibri" panose="020F0502020204030204" pitchFamily="34" charset="0"/>
              </a:rPr>
              <a:t>Close Parenthesis negative 25 plus 6 Open Parenthesis i subscript 3 Base Line minus i subscript 1 Base Line Close Parenthesis plus 8 Open Parenthesis i subscript 3 Base Line minus i subscript 2 Base Line Close Parenthesis equals 0.Close Parenthesis</a:t>
            </a:r>
            <a:r>
              <a:rPr lang="en-IN" dirty="0"/>
              <a:t> </a:t>
            </a:r>
          </a:p>
          <a:p>
            <a:r>
              <a:rPr lang="en-IN" dirty="0"/>
              <a:t>Long Description 4:</a:t>
            </a:r>
          </a:p>
          <a:p>
            <a:r>
              <a:rPr lang="en-IN" sz="1800" b="0" i="0" u="none" strike="noStrike" dirty="0">
                <a:solidFill>
                  <a:srgbClr val="000000"/>
                </a:solidFill>
                <a:effectLst/>
                <a:latin typeface="Calibri" panose="020F0502020204030204" pitchFamily="34" charset="0"/>
              </a:rPr>
              <a:t>Close Parenthesis1. i subscript 1 Base Line Open Parenthesis 2 plus 8 plus 6 Close Parenthesis plus i subscript 2 Base Line Open Parenthesis negative 8 Close Parenthesis plus i subscript 3 Base Line Open Parenthesis negative 6 Close Parenthesis equals 0.Close Parenthesis</a:t>
            </a:r>
            <a:br>
              <a:rPr lang="en-IN" sz="1800" b="0" i="0" u="none" strike="noStrike" dirty="0">
                <a:solidFill>
                  <a:srgbClr val="000000"/>
                </a:solidFill>
                <a:effectLst/>
                <a:latin typeface="Calibri" panose="020F0502020204030204" pitchFamily="34" charset="0"/>
              </a:rPr>
            </a:br>
            <a:r>
              <a:rPr lang="en-IN" sz="1800" b="0" i="0" u="none" strike="noStrike" dirty="0">
                <a:solidFill>
                  <a:srgbClr val="000000"/>
                </a:solidFill>
                <a:effectLst/>
                <a:latin typeface="Calibri" panose="020F0502020204030204" pitchFamily="34" charset="0"/>
              </a:rPr>
              <a:t>Close Parenthesis2. i subscript 1 Base Line Open Parenthesis negative 8 Close Parenthesis plus i subscript 2 Base Line Open Parenthesis 8 plus 8 Close Parenthesis plus i subscript 3 Base Line Open Parenthesis 5 minus 8 Close Parenthesis equals 0.Close Parenthesis</a:t>
            </a:r>
            <a:br>
              <a:rPr lang="en-IN" sz="1800" b="0" i="0" u="none" strike="noStrike" dirty="0">
                <a:solidFill>
                  <a:srgbClr val="000000"/>
                </a:solidFill>
                <a:effectLst/>
                <a:latin typeface="Calibri" panose="020F0502020204030204" pitchFamily="34" charset="0"/>
              </a:rPr>
            </a:br>
            <a:r>
              <a:rPr lang="en-IN" sz="1800" b="0" i="0" u="none" strike="noStrike" dirty="0">
                <a:solidFill>
                  <a:srgbClr val="000000"/>
                </a:solidFill>
                <a:effectLst/>
                <a:latin typeface="Calibri" panose="020F0502020204030204" pitchFamily="34" charset="0"/>
              </a:rPr>
              <a:t>Close Parenthesis3. i subscript 1 Base Line Open Parenthesis negative 6 Close Parenthesis plus i subscript 2 Base Line Open Parenthesis negative 8 Close Parenthesis plus i subscript 3 Base Line Open Parenthesis 6 plus 8 Close Parenthesis equals 25.Close Parenthesis</a:t>
            </a:r>
            <a:r>
              <a:rPr lang="en-IN"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86723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18</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10/13/2025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9" name="Picture 8" descr="Pearson Logo">
            <a:extLst>
              <a:ext uri="{FF2B5EF4-FFF2-40B4-BE49-F238E27FC236}">
                <a16:creationId xmlns:a16="http://schemas.microsoft.com/office/drawing/2014/main" id="{BF78A88B-5B46-4129-BAB7-ABCD85202943}"/>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12" name="Content Placeholder 7">
            <a:extLst>
              <a:ext uri="{FF2B5EF4-FFF2-40B4-BE49-F238E27FC236}">
                <a16:creationId xmlns:a16="http://schemas.microsoft.com/office/drawing/2014/main" id="{61E1A978-47B9-48A3-90F1-80401FE2493E}"/>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8.xml"/><Relationship Id="rId5" Type="http://schemas.openxmlformats.org/officeDocument/2006/relationships/image" Target="../media/image8.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3.wmf"/><Relationship Id="rId18" Type="http://schemas.openxmlformats.org/officeDocument/2006/relationships/oleObject" Target="../embeddings/oleObject8.bin"/><Relationship Id="rId3" Type="http://schemas.openxmlformats.org/officeDocument/2006/relationships/oleObject" Target="../embeddings/oleObject1.bin"/><Relationship Id="rId21" Type="http://schemas.openxmlformats.org/officeDocument/2006/relationships/image" Target="../media/image17.wmf"/><Relationship Id="rId7" Type="http://schemas.openxmlformats.org/officeDocument/2006/relationships/image" Target="../media/image10.wmf"/><Relationship Id="rId12" Type="http://schemas.openxmlformats.org/officeDocument/2006/relationships/oleObject" Target="../embeddings/oleObject5.bin"/><Relationship Id="rId17" Type="http://schemas.openxmlformats.org/officeDocument/2006/relationships/image" Target="../media/image15.wmf"/><Relationship Id="rId25" Type="http://schemas.openxmlformats.org/officeDocument/2006/relationships/image" Target="../media/image19.wmf"/><Relationship Id="rId2" Type="http://schemas.openxmlformats.org/officeDocument/2006/relationships/notesSlide" Target="../notesSlides/notesSlide2.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slideLayout" Target="../slideLayouts/slideLayout8.xml"/><Relationship Id="rId6" Type="http://schemas.openxmlformats.org/officeDocument/2006/relationships/oleObject" Target="../embeddings/oleObject2.bin"/><Relationship Id="rId11" Type="http://schemas.openxmlformats.org/officeDocument/2006/relationships/image" Target="../media/image12.wmf"/><Relationship Id="rId24" Type="http://schemas.openxmlformats.org/officeDocument/2006/relationships/oleObject" Target="../embeddings/oleObject11.bin"/><Relationship Id="rId5" Type="http://schemas.openxmlformats.org/officeDocument/2006/relationships/image" Target="../media/image9.jpg"/><Relationship Id="rId15" Type="http://schemas.openxmlformats.org/officeDocument/2006/relationships/image" Target="../media/image14.wmf"/><Relationship Id="rId23" Type="http://schemas.openxmlformats.org/officeDocument/2006/relationships/image" Target="../media/image18.wmf"/><Relationship Id="rId10" Type="http://schemas.openxmlformats.org/officeDocument/2006/relationships/oleObject" Target="../embeddings/oleObject4.bin"/><Relationship Id="rId19" Type="http://schemas.openxmlformats.org/officeDocument/2006/relationships/image" Target="../media/image16.wmf"/><Relationship Id="rId4" Type="http://schemas.openxmlformats.org/officeDocument/2006/relationships/image" Target="../media/image6.wmf"/><Relationship Id="rId9" Type="http://schemas.openxmlformats.org/officeDocument/2006/relationships/image" Target="../media/image11.wmf"/><Relationship Id="rId14" Type="http://schemas.openxmlformats.org/officeDocument/2006/relationships/oleObject" Target="../embeddings/oleObject6.bin"/><Relationship Id="rId22"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7.bin"/><Relationship Id="rId18" Type="http://schemas.openxmlformats.org/officeDocument/2006/relationships/image" Target="../media/image28.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25.wmf"/><Relationship Id="rId17" Type="http://schemas.openxmlformats.org/officeDocument/2006/relationships/oleObject" Target="../embeddings/oleObject19.bin"/><Relationship Id="rId2" Type="http://schemas.openxmlformats.org/officeDocument/2006/relationships/image" Target="../media/image20.jpg"/><Relationship Id="rId16" Type="http://schemas.openxmlformats.org/officeDocument/2006/relationships/image" Target="../media/image27.wmf"/><Relationship Id="rId20" Type="http://schemas.openxmlformats.org/officeDocument/2006/relationships/image" Target="../media/image29.wmf"/><Relationship Id="rId1" Type="http://schemas.openxmlformats.org/officeDocument/2006/relationships/slideLayout" Target="../slideLayouts/slideLayout8.xml"/><Relationship Id="rId6" Type="http://schemas.openxmlformats.org/officeDocument/2006/relationships/image" Target="../media/image22.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24.wmf"/><Relationship Id="rId19" Type="http://schemas.openxmlformats.org/officeDocument/2006/relationships/oleObject" Target="../embeddings/oleObject20.bin"/><Relationship Id="rId4" Type="http://schemas.openxmlformats.org/officeDocument/2006/relationships/image" Target="../media/image21.wmf"/><Relationship Id="rId9" Type="http://schemas.openxmlformats.org/officeDocument/2006/relationships/oleObject" Target="../embeddings/oleObject15.bin"/><Relationship Id="rId14" Type="http://schemas.openxmlformats.org/officeDocument/2006/relationships/image" Target="../media/image26.wmf"/><Relationship Id="rId22" Type="http://schemas.openxmlformats.org/officeDocument/2006/relationships/image" Target="../media/image30.wmf"/></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8.xml"/><Relationship Id="rId5" Type="http://schemas.openxmlformats.org/officeDocument/2006/relationships/image" Target="../media/image33.jpg"/><Relationship Id="rId4" Type="http://schemas.openxmlformats.org/officeDocument/2006/relationships/image" Target="../media/image32.jp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8.wmf"/><Relationship Id="rId18" Type="http://schemas.openxmlformats.org/officeDocument/2006/relationships/oleObject" Target="../embeddings/oleObject29.bin"/><Relationship Id="rId26" Type="http://schemas.openxmlformats.org/officeDocument/2006/relationships/oleObject" Target="../embeddings/oleObject33.bin"/><Relationship Id="rId3" Type="http://schemas.openxmlformats.org/officeDocument/2006/relationships/oleObject" Target="../embeddings/oleObject22.bin"/><Relationship Id="rId21" Type="http://schemas.openxmlformats.org/officeDocument/2006/relationships/image" Target="../media/image42.wmf"/><Relationship Id="rId7" Type="http://schemas.openxmlformats.org/officeDocument/2006/relationships/image" Target="../media/image35.wmf"/><Relationship Id="rId12" Type="http://schemas.openxmlformats.org/officeDocument/2006/relationships/oleObject" Target="../embeddings/oleObject26.bin"/><Relationship Id="rId17" Type="http://schemas.openxmlformats.org/officeDocument/2006/relationships/image" Target="../media/image40.wmf"/><Relationship Id="rId25" Type="http://schemas.openxmlformats.org/officeDocument/2006/relationships/image" Target="../media/image44.wmf"/><Relationship Id="rId2" Type="http://schemas.openxmlformats.org/officeDocument/2006/relationships/notesSlide" Target="../notesSlides/notesSlide3.xml"/><Relationship Id="rId16" Type="http://schemas.openxmlformats.org/officeDocument/2006/relationships/oleObject" Target="../embeddings/oleObject28.bin"/><Relationship Id="rId20"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oleObject" Target="../embeddings/oleObject23.bin"/><Relationship Id="rId11" Type="http://schemas.openxmlformats.org/officeDocument/2006/relationships/image" Target="../media/image37.wmf"/><Relationship Id="rId24" Type="http://schemas.openxmlformats.org/officeDocument/2006/relationships/oleObject" Target="../embeddings/oleObject32.bin"/><Relationship Id="rId5" Type="http://schemas.openxmlformats.org/officeDocument/2006/relationships/image" Target="../media/image34.jpg"/><Relationship Id="rId15" Type="http://schemas.openxmlformats.org/officeDocument/2006/relationships/image" Target="../media/image39.wmf"/><Relationship Id="rId23" Type="http://schemas.openxmlformats.org/officeDocument/2006/relationships/image" Target="../media/image43.wmf"/><Relationship Id="rId10" Type="http://schemas.openxmlformats.org/officeDocument/2006/relationships/oleObject" Target="../embeddings/oleObject25.bin"/><Relationship Id="rId19" Type="http://schemas.openxmlformats.org/officeDocument/2006/relationships/image" Target="../media/image41.wmf"/><Relationship Id="rId4" Type="http://schemas.openxmlformats.org/officeDocument/2006/relationships/image" Target="../media/image31.wmf"/><Relationship Id="rId9" Type="http://schemas.openxmlformats.org/officeDocument/2006/relationships/image" Target="../media/image36.wmf"/><Relationship Id="rId14" Type="http://schemas.openxmlformats.org/officeDocument/2006/relationships/oleObject" Target="../embeddings/oleObject27.bin"/><Relationship Id="rId22" Type="http://schemas.openxmlformats.org/officeDocument/2006/relationships/oleObject" Target="../embeddings/oleObject31.bin"/><Relationship Id="rId27" Type="http://schemas.openxmlformats.org/officeDocument/2006/relationships/image" Target="../media/image45.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34.bin"/><Relationship Id="rId1" Type="http://schemas.openxmlformats.org/officeDocument/2006/relationships/slideLayout" Target="../slideLayouts/slideLayout8.xml"/><Relationship Id="rId6" Type="http://schemas.openxmlformats.org/officeDocument/2006/relationships/oleObject" Target="../embeddings/oleObject36.bin"/><Relationship Id="rId5" Type="http://schemas.openxmlformats.org/officeDocument/2006/relationships/image" Target="../media/image47.wmf"/><Relationship Id="rId10" Type="http://schemas.openxmlformats.org/officeDocument/2006/relationships/image" Target="../media/image50.jpg"/><Relationship Id="rId4" Type="http://schemas.openxmlformats.org/officeDocument/2006/relationships/oleObject" Target="../embeddings/oleObject35.bin"/><Relationship Id="rId9" Type="http://schemas.openxmlformats.org/officeDocument/2006/relationships/image" Target="../media/image49.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46.wmf"/><Relationship Id="rId7" Type="http://schemas.openxmlformats.org/officeDocument/2006/relationships/image" Target="../media/image48.wmf"/><Relationship Id="rId12" Type="http://schemas.openxmlformats.org/officeDocument/2006/relationships/image" Target="../media/image4.png"/><Relationship Id="rId2" Type="http://schemas.openxmlformats.org/officeDocument/2006/relationships/oleObject" Target="../embeddings/oleObject34.bin"/><Relationship Id="rId1" Type="http://schemas.openxmlformats.org/officeDocument/2006/relationships/slideLayout" Target="../slideLayouts/slideLayout8.xml"/><Relationship Id="rId6" Type="http://schemas.openxmlformats.org/officeDocument/2006/relationships/oleObject" Target="../embeddings/oleObject36.bin"/><Relationship Id="rId11" Type="http://schemas.openxmlformats.org/officeDocument/2006/relationships/image" Target="../media/image5.png"/><Relationship Id="rId5" Type="http://schemas.openxmlformats.org/officeDocument/2006/relationships/image" Target="../media/image47.wmf"/><Relationship Id="rId10" Type="http://schemas.openxmlformats.org/officeDocument/2006/relationships/image" Target="../media/image50.jpg"/><Relationship Id="rId4" Type="http://schemas.openxmlformats.org/officeDocument/2006/relationships/oleObject" Target="../embeddings/oleObject35.bin"/><Relationship Id="rId9" Type="http://schemas.openxmlformats.org/officeDocument/2006/relationships/image" Target="../media/image49.wmf"/></Relationships>
</file>

<file path=ppt/slides/_rels/slide17.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3.bin"/><Relationship Id="rId18" Type="http://schemas.openxmlformats.org/officeDocument/2006/relationships/image" Target="../media/image59.wmf"/><Relationship Id="rId3" Type="http://schemas.openxmlformats.org/officeDocument/2006/relationships/image" Target="../media/image51.wmf"/><Relationship Id="rId7" Type="http://schemas.openxmlformats.org/officeDocument/2006/relationships/oleObject" Target="../embeddings/oleObject40.bin"/><Relationship Id="rId12" Type="http://schemas.openxmlformats.org/officeDocument/2006/relationships/image" Target="../media/image56.wmf"/><Relationship Id="rId17" Type="http://schemas.openxmlformats.org/officeDocument/2006/relationships/oleObject" Target="../embeddings/oleObject45.bin"/><Relationship Id="rId2" Type="http://schemas.openxmlformats.org/officeDocument/2006/relationships/oleObject" Target="../embeddings/oleObject38.bin"/><Relationship Id="rId16" Type="http://schemas.openxmlformats.org/officeDocument/2006/relationships/image" Target="../media/image58.wmf"/><Relationship Id="rId20" Type="http://schemas.openxmlformats.org/officeDocument/2006/relationships/image" Target="../media/image60.wmf"/><Relationship Id="rId1" Type="http://schemas.openxmlformats.org/officeDocument/2006/relationships/slideLayout" Target="../slideLayouts/slideLayout8.xml"/><Relationship Id="rId6" Type="http://schemas.openxmlformats.org/officeDocument/2006/relationships/image" Target="../media/image53.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oleObject" Target="../embeddings/oleObject44.bin"/><Relationship Id="rId10" Type="http://schemas.openxmlformats.org/officeDocument/2006/relationships/image" Target="../media/image55.wmf"/><Relationship Id="rId19" Type="http://schemas.openxmlformats.org/officeDocument/2006/relationships/oleObject" Target="../embeddings/oleObject46.bin"/><Relationship Id="rId4" Type="http://schemas.openxmlformats.org/officeDocument/2006/relationships/image" Target="../media/image52.jpg"/><Relationship Id="rId9" Type="http://schemas.openxmlformats.org/officeDocument/2006/relationships/oleObject" Target="../embeddings/oleObject41.bin"/><Relationship Id="rId14" Type="http://schemas.openxmlformats.org/officeDocument/2006/relationships/image" Target="../media/image57.wmf"/></Relationships>
</file>

<file path=ppt/slides/_rels/slide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6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1125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991DBD9F-29AA-4373-BB37-E3EC6B9C3C0B}"/>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4 – Part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545534"/>
            <a:ext cx="3797451" cy="374906"/>
          </a:xfrm>
        </p:spPr>
        <p:txBody>
          <a:bodyPr wrap="square" lIns="0" tIns="18000" rIns="0" bIns="18000" anchor="ctr">
            <a:spAutoFit/>
          </a:bodyPr>
          <a:lstStyle/>
          <a:p>
            <a:pPr indent="-101600"/>
            <a:r>
              <a:rPr lang="en-US" noProof="0" dirty="0"/>
              <a:t>Techniques of Circuit Analysis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92189" y="6455210"/>
            <a:ext cx="6177700" cy="221018"/>
          </a:xfrm>
        </p:spPr>
        <p:txBody>
          <a:bodyPr wrap="square" lIns="0" tIns="18000" rIns="0" bIns="18000" anchor="ctr">
            <a:spAutoFit/>
          </a:bodyPr>
          <a:lstStyle/>
          <a:p>
            <a:r>
              <a:rPr lang="en-US" noProof="0"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545"/>
            <a:ext cx="8232775" cy="1144347"/>
          </a:xfrm>
        </p:spPr>
        <p:txBody>
          <a:bodyPr/>
          <a:lstStyle/>
          <a:p>
            <a:r>
              <a:rPr lang="en-US" noProof="0" dirty="0"/>
              <a:t>Chapter 4 – techniques of circuit analysis </a:t>
            </a:r>
            <a:r>
              <a:rPr lang="en-US" sz="2800" noProof="0" dirty="0"/>
              <a:t>(1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486816"/>
            <a:ext cx="8232775" cy="2560119"/>
          </a:xfrm>
        </p:spPr>
        <p:txBody>
          <a:bodyPr wrap="square" lIns="0" tIns="18000" rIns="0" bIns="18000" anchor="ctr">
            <a:spAutoFit/>
          </a:bodyPr>
          <a:lstStyle/>
          <a:p>
            <a:pPr marL="342900" indent="-342900">
              <a:spcBef>
                <a:spcPts val="600"/>
              </a:spcBef>
            </a:pPr>
            <a:r>
              <a:rPr lang="en-US" sz="2400" noProof="0" dirty="0"/>
              <a:t>The mesh current method:</a:t>
            </a:r>
          </a:p>
          <a:p>
            <a:pPr marL="829818" lvl="1" indent="-342900"/>
            <a:r>
              <a:rPr lang="en-US" sz="2400" noProof="0" dirty="0"/>
              <a:t>The </a:t>
            </a:r>
            <a:r>
              <a:rPr lang="en-US" sz="2400" b="1" noProof="0" dirty="0"/>
              <a:t>dual of the node voltage method</a:t>
            </a:r>
          </a:p>
          <a:p>
            <a:pPr marL="829818" lvl="1" indent="-342900"/>
            <a:r>
              <a:rPr lang="en-US" sz="2400" noProof="0" dirty="0"/>
              <a:t>Uses </a:t>
            </a:r>
            <a:r>
              <a:rPr lang="en-US" sz="2400" b="1" spc="-300" noProof="0" dirty="0"/>
              <a:t>K V </a:t>
            </a:r>
            <a:r>
              <a:rPr lang="en-US" sz="2400" b="1" noProof="0" dirty="0"/>
              <a:t>L equations around meshes</a:t>
            </a:r>
          </a:p>
          <a:p>
            <a:pPr marL="829818" lvl="1" indent="-342900"/>
            <a:r>
              <a:rPr lang="en-US" sz="2400" noProof="0" dirty="0"/>
              <a:t>Solves </a:t>
            </a:r>
            <a:r>
              <a:rPr lang="en-US" sz="2400" b="1" noProof="0" dirty="0"/>
              <a:t>directly for currents</a:t>
            </a:r>
          </a:p>
          <a:p>
            <a:pPr marL="829818" lvl="1" indent="-342900"/>
            <a:r>
              <a:rPr lang="en-US" sz="2400" b="1" noProof="0" dirty="0"/>
              <a:t>Special cases for dependent sources and for current sources in a mesh.</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545"/>
            <a:ext cx="8232775" cy="1144347"/>
          </a:xfrm>
        </p:spPr>
        <p:txBody>
          <a:bodyPr/>
          <a:lstStyle/>
          <a:p>
            <a:r>
              <a:rPr lang="en-US" noProof="0" dirty="0"/>
              <a:t>Chapter 4 – techniques of circuit analysis </a:t>
            </a:r>
            <a:r>
              <a:rPr lang="en-US" sz="2800" noProof="0" dirty="0"/>
              <a:t>(2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3" y="1491393"/>
            <a:ext cx="8232775" cy="4114391"/>
          </a:xfrm>
        </p:spPr>
        <p:txBody>
          <a:bodyPr wrap="square" lIns="0" tIns="18000" rIns="0" bIns="18000" anchor="ctr">
            <a:spAutoFit/>
          </a:bodyPr>
          <a:lstStyle/>
          <a:p>
            <a:pPr marL="342900" indent="-342900">
              <a:spcBef>
                <a:spcPts val="600"/>
              </a:spcBef>
            </a:pPr>
            <a:r>
              <a:rPr lang="en-US" sz="2400" noProof="0" dirty="0"/>
              <a:t>The basic mesh current method recipe:</a:t>
            </a:r>
          </a:p>
          <a:p>
            <a:pPr marL="829818" lvl="1" indent="-342900"/>
            <a:r>
              <a:rPr lang="en-US" sz="2400" noProof="0" dirty="0"/>
              <a:t>Step 1 – Identify the meshes with curved directed arrows that follow the perimeter of each mesh.</a:t>
            </a:r>
          </a:p>
          <a:p>
            <a:pPr marL="829818" lvl="1" indent="-342900"/>
            <a:r>
              <a:rPr lang="en-US" sz="2400" noProof="0" dirty="0"/>
              <a:t>Step 2 – Label the mesh currents for each mesh.</a:t>
            </a:r>
          </a:p>
          <a:p>
            <a:pPr marL="829818" lvl="1" indent="-342900"/>
            <a:r>
              <a:rPr lang="en-US" sz="2400" noProof="0" dirty="0"/>
              <a:t>Step 3 – Write a </a:t>
            </a:r>
            <a:r>
              <a:rPr lang="en-US" sz="2400" spc="-300" noProof="0" dirty="0"/>
              <a:t>K V </a:t>
            </a:r>
            <a:r>
              <a:rPr lang="en-US" sz="2400" noProof="0" dirty="0"/>
              <a:t>L equation for each mesh.</a:t>
            </a:r>
          </a:p>
          <a:p>
            <a:pPr marL="829818" lvl="1" indent="-342900"/>
            <a:r>
              <a:rPr lang="en-US" sz="2400" noProof="0" dirty="0"/>
              <a:t>Step 4 – Solve the </a:t>
            </a:r>
            <a:r>
              <a:rPr lang="en-US" sz="2400" spc="-300" noProof="0" dirty="0"/>
              <a:t>K V </a:t>
            </a:r>
            <a:r>
              <a:rPr lang="en-US" sz="2400" noProof="0" dirty="0"/>
              <a:t>L equations to find the mesh current values.</a:t>
            </a:r>
          </a:p>
          <a:p>
            <a:pPr marL="829818" lvl="1" indent="-342900"/>
            <a:r>
              <a:rPr lang="en-US" sz="2400" noProof="0" dirty="0"/>
              <a:t>Step 5 – Solve the circuit using mesh currents from Step 4 to find component currents, voltages, and power values.</a:t>
            </a:r>
          </a:p>
        </p:txBody>
      </p:sp>
    </p:spTree>
    <p:extLst>
      <p:ext uri="{BB962C8B-B14F-4D97-AF65-F5344CB8AC3E}">
        <p14:creationId xmlns:p14="http://schemas.microsoft.com/office/powerpoint/2010/main" val="393448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8676" y="206444"/>
            <a:ext cx="8229600" cy="1144347"/>
          </a:xfrm>
        </p:spPr>
        <p:txBody>
          <a:bodyPr/>
          <a:lstStyle/>
          <a:p>
            <a:r>
              <a:rPr lang="en-US" noProof="0" dirty="0"/>
              <a:t>Chapter 4 – techniques of circuit analysis </a:t>
            </a:r>
            <a:r>
              <a:rPr lang="en-US" sz="2800" noProof="0" dirty="0"/>
              <a:t>(3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6779"/>
            <a:ext cx="8229600" cy="405683"/>
          </a:xfrm>
        </p:spPr>
        <p:txBody>
          <a:bodyPr wrap="square" lIns="0" tIns="18000" rIns="0" bIns="18000" anchor="ctr">
            <a:spAutoFit/>
          </a:bodyPr>
          <a:lstStyle/>
          <a:p>
            <a:pPr marL="0" indent="0">
              <a:spcBef>
                <a:spcPts val="600"/>
              </a:spcBef>
              <a:buNone/>
            </a:pPr>
            <a:r>
              <a:rPr lang="en-US" sz="2400" noProof="0" dirty="0"/>
              <a:t>How many meshes does this circuit contain?</a:t>
            </a:r>
          </a:p>
        </p:txBody>
      </p:sp>
      <p:pic>
        <p:nvPicPr>
          <p:cNvPr id="2" name="Picture 1"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
            <a:extLst>
              <a:ext uri="{FF2B5EF4-FFF2-40B4-BE49-F238E27FC236}">
                <a16:creationId xmlns:a16="http://schemas.microsoft.com/office/drawing/2014/main" id="{C9F0CD33-2EFA-ECE4-BC73-07A761B9B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345" y="2122647"/>
            <a:ext cx="4606636" cy="2153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27884" y="4458669"/>
            <a:ext cx="760922"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1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712333" y="4924073"/>
            <a:ext cx="605646"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2</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700207" y="5411669"/>
            <a:ext cx="633323"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3</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719160" y="5853741"/>
            <a:ext cx="633323"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4</a:t>
            </a:r>
          </a:p>
        </p:txBody>
      </p:sp>
    </p:spTree>
    <p:extLst>
      <p:ext uri="{BB962C8B-B14F-4D97-AF65-F5344CB8AC3E}">
        <p14:creationId xmlns:p14="http://schemas.microsoft.com/office/powerpoint/2010/main" val="2591511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08E53-1106-FB9F-210A-9BC40C103AA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05A222A-B51C-F0EB-515C-7F4D3B009F70}"/>
              </a:ext>
            </a:extLst>
          </p:cNvPr>
          <p:cNvSpPr>
            <a:spLocks noGrp="1"/>
          </p:cNvSpPr>
          <p:nvPr>
            <p:ph type="title"/>
          </p:nvPr>
        </p:nvSpPr>
        <p:spPr>
          <a:xfrm>
            <a:off x="408676" y="206444"/>
            <a:ext cx="8229600" cy="1144347"/>
          </a:xfrm>
        </p:spPr>
        <p:txBody>
          <a:bodyPr/>
          <a:lstStyle/>
          <a:p>
            <a:r>
              <a:rPr lang="en-US" noProof="0" dirty="0"/>
              <a:t>Chapter 4 – techniques of circuit analysis </a:t>
            </a:r>
            <a:r>
              <a:rPr lang="en-US" sz="2800" noProof="0" dirty="0"/>
              <a:t>(3 of 13)</a:t>
            </a:r>
          </a:p>
        </p:txBody>
      </p:sp>
      <p:sp>
        <p:nvSpPr>
          <p:cNvPr id="7" name="Content Placeholder 6">
            <a:extLst>
              <a:ext uri="{FF2B5EF4-FFF2-40B4-BE49-F238E27FC236}">
                <a16:creationId xmlns:a16="http://schemas.microsoft.com/office/drawing/2014/main" id="{149850AC-0AA4-D91B-BF59-DB1797C89EAC}"/>
              </a:ext>
            </a:extLst>
          </p:cNvPr>
          <p:cNvSpPr>
            <a:spLocks noGrp="1"/>
          </p:cNvSpPr>
          <p:nvPr>
            <p:ph sz="quarter" idx="12"/>
          </p:nvPr>
        </p:nvSpPr>
        <p:spPr>
          <a:xfrm>
            <a:off x="438150" y="1496779"/>
            <a:ext cx="8229600" cy="405683"/>
          </a:xfrm>
        </p:spPr>
        <p:txBody>
          <a:bodyPr wrap="square" lIns="0" tIns="18000" rIns="0" bIns="18000" anchor="ctr">
            <a:spAutoFit/>
          </a:bodyPr>
          <a:lstStyle/>
          <a:p>
            <a:pPr marL="0" indent="0">
              <a:spcBef>
                <a:spcPts val="600"/>
              </a:spcBef>
              <a:buNone/>
            </a:pPr>
            <a:r>
              <a:rPr lang="en-US" sz="2400" noProof="0" dirty="0"/>
              <a:t>How many meshes does this circuit contain?</a:t>
            </a:r>
          </a:p>
        </p:txBody>
      </p:sp>
      <p:pic>
        <p:nvPicPr>
          <p:cNvPr id="2" name="Picture 1"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
            <a:extLst>
              <a:ext uri="{FF2B5EF4-FFF2-40B4-BE49-F238E27FC236}">
                <a16:creationId xmlns:a16="http://schemas.microsoft.com/office/drawing/2014/main" id="{8F0D12A8-6D48-2545-1510-C4C0C233C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345" y="2122647"/>
            <a:ext cx="4606636" cy="2153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Cross mark">
            <a:extLst>
              <a:ext uri="{FF2B5EF4-FFF2-40B4-BE49-F238E27FC236}">
                <a16:creationId xmlns:a16="http://schemas.microsoft.com/office/drawing/2014/main" id="{35E67439-382E-6848-A53A-7FFFAE794B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4100" y="453176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FA40A3AF-5C75-5F0D-B79F-0E699B297CC9}"/>
              </a:ext>
            </a:extLst>
          </p:cNvPr>
          <p:cNvSpPr>
            <a:spLocks noGrp="1"/>
          </p:cNvSpPr>
          <p:nvPr>
            <p:ph sz="quarter" idx="13"/>
          </p:nvPr>
        </p:nvSpPr>
        <p:spPr>
          <a:xfrm>
            <a:off x="1727884" y="4458669"/>
            <a:ext cx="760922"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1 </a:t>
            </a:r>
          </a:p>
        </p:txBody>
      </p:sp>
      <p:pic>
        <p:nvPicPr>
          <p:cNvPr id="4" name="Picture 3" descr="Cross mark">
            <a:extLst>
              <a:ext uri="{FF2B5EF4-FFF2-40B4-BE49-F238E27FC236}">
                <a16:creationId xmlns:a16="http://schemas.microsoft.com/office/drawing/2014/main" id="{06565359-475E-ECEA-D58D-B5C6BE8585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4100" y="499717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2B25092B-7B75-DC20-AC95-049D73BF9A33}"/>
              </a:ext>
            </a:extLst>
          </p:cNvPr>
          <p:cNvSpPr>
            <a:spLocks noGrp="1"/>
          </p:cNvSpPr>
          <p:nvPr>
            <p:ph sz="quarter" idx="14"/>
          </p:nvPr>
        </p:nvSpPr>
        <p:spPr>
          <a:xfrm>
            <a:off x="1712333" y="4924073"/>
            <a:ext cx="605646"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2</a:t>
            </a:r>
          </a:p>
        </p:txBody>
      </p:sp>
      <p:pic>
        <p:nvPicPr>
          <p:cNvPr id="5" name="Picture 4" descr="Check mark">
            <a:extLst>
              <a:ext uri="{FF2B5EF4-FFF2-40B4-BE49-F238E27FC236}">
                <a16:creationId xmlns:a16="http://schemas.microsoft.com/office/drawing/2014/main" id="{055FEC29-3065-A4CE-DC07-00306F0D94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4100" y="5491389"/>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B7DA53C3-63CA-DA58-1764-91711F78413E}"/>
              </a:ext>
            </a:extLst>
          </p:cNvPr>
          <p:cNvSpPr>
            <a:spLocks noGrp="1"/>
          </p:cNvSpPr>
          <p:nvPr>
            <p:ph sz="quarter" idx="15"/>
          </p:nvPr>
        </p:nvSpPr>
        <p:spPr>
          <a:xfrm>
            <a:off x="1700207" y="5411669"/>
            <a:ext cx="633323"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3</a:t>
            </a:r>
          </a:p>
        </p:txBody>
      </p:sp>
      <p:pic>
        <p:nvPicPr>
          <p:cNvPr id="25" name="Picture 24" descr="Cross mark">
            <a:extLst>
              <a:ext uri="{FF2B5EF4-FFF2-40B4-BE49-F238E27FC236}">
                <a16:creationId xmlns:a16="http://schemas.microsoft.com/office/drawing/2014/main" id="{021170CC-A0B4-53AF-07E2-7C4060E448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2129" y="5931765"/>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66DF86FE-0511-0114-E58C-855A1CE22708}"/>
              </a:ext>
            </a:extLst>
          </p:cNvPr>
          <p:cNvSpPr>
            <a:spLocks noGrp="1"/>
          </p:cNvSpPr>
          <p:nvPr>
            <p:ph sz="quarter" idx="16"/>
          </p:nvPr>
        </p:nvSpPr>
        <p:spPr>
          <a:xfrm>
            <a:off x="1719160" y="5853741"/>
            <a:ext cx="633323"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4</a:t>
            </a:r>
          </a:p>
        </p:txBody>
      </p:sp>
    </p:spTree>
    <p:extLst>
      <p:ext uri="{BB962C8B-B14F-4D97-AF65-F5344CB8AC3E}">
        <p14:creationId xmlns:p14="http://schemas.microsoft.com/office/powerpoint/2010/main" val="346856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359"/>
            <a:ext cx="8229600" cy="1144347"/>
          </a:xfrm>
        </p:spPr>
        <p:txBody>
          <a:bodyPr/>
          <a:lstStyle/>
          <a:p>
            <a:r>
              <a:rPr lang="en-US" noProof="0" dirty="0"/>
              <a:t>Chapter 4 – techniques of circuit analysis </a:t>
            </a:r>
            <a:r>
              <a:rPr lang="en-US" sz="2800" noProof="0" dirty="0"/>
              <a:t>(4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5925" y="1502160"/>
            <a:ext cx="7908925" cy="405683"/>
          </a:xfrm>
        </p:spPr>
        <p:txBody>
          <a:bodyPr wrap="square" lIns="0" tIns="18000" rIns="0" bIns="18000" anchor="ctr">
            <a:spAutoFit/>
          </a:bodyPr>
          <a:lstStyle/>
          <a:p>
            <a:pPr marL="0" indent="0">
              <a:spcBef>
                <a:spcPts val="600"/>
              </a:spcBef>
              <a:buNone/>
            </a:pPr>
            <a:r>
              <a:rPr lang="en-US" altLang="en-US" sz="2400" noProof="0" dirty="0"/>
              <a:t>Find the power associated with the voltage source and the</a:t>
            </a:r>
            <a:endParaRPr lang="en-US" sz="2400" noProof="0" dirty="0"/>
          </a:p>
        </p:txBody>
      </p:sp>
      <p:graphicFrame>
        <p:nvGraphicFramePr>
          <p:cNvPr id="54" name="Object 53" descr="8 Ohms.">
            <a:extLst>
              <a:ext uri="{FF2B5EF4-FFF2-40B4-BE49-F238E27FC236}">
                <a16:creationId xmlns:a16="http://schemas.microsoft.com/office/drawing/2014/main" id="{91CEFA06-D646-7AB7-C08B-A014B73DD8EB}"/>
              </a:ext>
            </a:extLst>
          </p:cNvPr>
          <p:cNvGraphicFramePr>
            <a:graphicFrameLocks noChangeAspect="1"/>
          </p:cNvGraphicFramePr>
          <p:nvPr/>
        </p:nvGraphicFramePr>
        <p:xfrm>
          <a:off x="414331" y="2015557"/>
          <a:ext cx="524015" cy="397238"/>
        </p:xfrm>
        <a:graphic>
          <a:graphicData uri="http://schemas.openxmlformats.org/presentationml/2006/ole">
            <mc:AlternateContent xmlns:mc="http://schemas.openxmlformats.org/markup-compatibility/2006">
              <mc:Choice xmlns:v="urn:schemas-microsoft-com:vml" Requires="v">
                <p:oleObj name="Equation" r:id="rId2" imgW="266400" imgH="203040" progId="Equation.DSMT4">
                  <p:embed/>
                </p:oleObj>
              </mc:Choice>
              <mc:Fallback>
                <p:oleObj name="Equation" r:id="rId2" imgW="266400" imgH="203040" progId="Equation.DSMT4">
                  <p:embed/>
                  <p:pic>
                    <p:nvPicPr>
                      <p:cNvPr id="54" name="Object 53" descr="8 Ohms.">
                        <a:extLst>
                          <a:ext uri="{FF2B5EF4-FFF2-40B4-BE49-F238E27FC236}">
                            <a16:creationId xmlns:a16="http://schemas.microsoft.com/office/drawing/2014/main" id="{91CEFA06-D646-7AB7-C08B-A014B73DD8EB}"/>
                          </a:ext>
                        </a:extLst>
                      </p:cNvPr>
                      <p:cNvPicPr>
                        <a:picLocks noChangeAspect="1" noChangeArrowheads="1"/>
                      </p:cNvPicPr>
                      <p:nvPr/>
                    </p:nvPicPr>
                    <p:blipFill>
                      <a:blip r:embed="rId3"/>
                      <a:srcRect/>
                      <a:stretch>
                        <a:fillRect/>
                      </a:stretch>
                    </p:blipFill>
                    <p:spPr bwMode="auto">
                      <a:xfrm>
                        <a:off x="414331" y="2015557"/>
                        <a:ext cx="524015" cy="39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988414" y="1967243"/>
            <a:ext cx="5568381" cy="405683"/>
          </a:xfrm>
        </p:spPr>
        <p:txBody>
          <a:bodyPr wrap="square" lIns="0" tIns="18000" rIns="0" bIns="18000" anchor="ctr">
            <a:spAutoFit/>
          </a:bodyPr>
          <a:lstStyle/>
          <a:p>
            <a:pPr marL="0" indent="0">
              <a:spcBef>
                <a:spcPts val="600"/>
              </a:spcBef>
              <a:buNone/>
            </a:pPr>
            <a:r>
              <a:rPr lang="en-US" altLang="en-US" sz="2400" noProof="0" dirty="0"/>
              <a:t>resistor, using the mesh current method.</a:t>
            </a:r>
            <a:endParaRPr lang="en-US" sz="2400" noProof="0" dirty="0"/>
          </a:p>
        </p:txBody>
      </p:sp>
      <p:pic>
        <p:nvPicPr>
          <p:cNvPr id="3" name="Picture 2"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
            <a:extLst>
              <a:ext uri="{FF2B5EF4-FFF2-40B4-BE49-F238E27FC236}">
                <a16:creationId xmlns:a16="http://schemas.microsoft.com/office/drawing/2014/main" id="{ADF0DD78-80DE-C329-099A-F7B4AD208A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04705" y="2435406"/>
            <a:ext cx="2770751" cy="129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8305" y="3885485"/>
            <a:ext cx="8251825" cy="775015"/>
          </a:xfrm>
        </p:spPr>
        <p:txBody>
          <a:bodyPr wrap="square" lIns="0" tIns="18000" rIns="0" bIns="18000" anchor="ctr">
            <a:spAutoFit/>
          </a:bodyPr>
          <a:lstStyle/>
          <a:p>
            <a:pPr marL="0" indent="0">
              <a:buNone/>
              <a:defRPr/>
            </a:pPr>
            <a:r>
              <a:rPr lang="en-US" sz="2400" noProof="0" dirty="0"/>
              <a:t>After Step 1 (identifying the meshes) and Step 2 (labeling the mesh currents):</a:t>
            </a:r>
          </a:p>
        </p:txBody>
      </p:sp>
      <p:pic>
        <p:nvPicPr>
          <p:cNvPr id="4" name="Picture 2"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Current i subscript 1 flows clockwise through the lower left part of the circuit through the 5-ohm resistor and the 26-ohm resistor. Current i subscript 3 flows clockwise through the lower right part of the circuit through the 90-ohm resistor and the 8-ohm resistor. Current i subscript 2 flows clockwise through the upper part of the circuit through the 30-ohm resistor. ">
            <a:extLst>
              <a:ext uri="{FF2B5EF4-FFF2-40B4-BE49-F238E27FC236}">
                <a16:creationId xmlns:a16="http://schemas.microsoft.com/office/drawing/2014/main" id="{9FD29627-0A65-91DA-E070-304B47BCF5AB}"/>
              </a:ext>
            </a:extLst>
          </p:cNvPr>
          <p:cNvPicPr>
            <a:picLocks noChangeAspect="1" noChangeArrowheads="1"/>
          </p:cNvPicPr>
          <p:nvPr/>
        </p:nvPicPr>
        <p:blipFill>
          <a:blip r:embed="rId5"/>
          <a:srcRect/>
          <a:stretch/>
        </p:blipFill>
        <p:spPr bwMode="auto">
          <a:xfrm>
            <a:off x="3019359" y="4811773"/>
            <a:ext cx="2897255" cy="1418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0902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6665"/>
            <a:ext cx="8229600" cy="1144347"/>
          </a:xfrm>
        </p:spPr>
        <p:txBody>
          <a:bodyPr/>
          <a:lstStyle/>
          <a:p>
            <a:r>
              <a:rPr lang="en-US" noProof="0" dirty="0"/>
              <a:t>Chapter 4 – techniques of circuit analysis </a:t>
            </a:r>
            <a:r>
              <a:rPr lang="en-US" sz="2800" noProof="0" dirty="0"/>
              <a:t>(5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0610" y="1566665"/>
            <a:ext cx="5915025" cy="313350"/>
          </a:xfrm>
        </p:spPr>
        <p:txBody>
          <a:bodyPr wrap="square" lIns="0" tIns="18000" rIns="0" bIns="18000" anchor="ctr">
            <a:spAutoFit/>
          </a:bodyPr>
          <a:lstStyle/>
          <a:p>
            <a:pPr marL="0" indent="0">
              <a:spcBef>
                <a:spcPts val="600"/>
              </a:spcBef>
              <a:buNone/>
            </a:pPr>
            <a:r>
              <a:rPr lang="en-US" sz="1800" noProof="0" dirty="0"/>
              <a:t>Find the power associated with the voltage source and the</a:t>
            </a:r>
          </a:p>
        </p:txBody>
      </p:sp>
      <p:graphicFrame>
        <p:nvGraphicFramePr>
          <p:cNvPr id="25" name="Object 24" descr="8 Ohms.">
            <a:extLst>
              <a:ext uri="{FF2B5EF4-FFF2-40B4-BE49-F238E27FC236}">
                <a16:creationId xmlns:a16="http://schemas.microsoft.com/office/drawing/2014/main" id="{5D5ADC17-68E4-4266-8E8F-5B169DE09541}"/>
              </a:ext>
            </a:extLst>
          </p:cNvPr>
          <p:cNvGraphicFramePr>
            <a:graphicFrameLocks noChangeAspect="1"/>
          </p:cNvGraphicFramePr>
          <p:nvPr/>
        </p:nvGraphicFramePr>
        <p:xfrm>
          <a:off x="6381657" y="1612171"/>
          <a:ext cx="393700" cy="298450"/>
        </p:xfrm>
        <a:graphic>
          <a:graphicData uri="http://schemas.openxmlformats.org/presentationml/2006/ole">
            <mc:AlternateContent xmlns:mc="http://schemas.openxmlformats.org/markup-compatibility/2006">
              <mc:Choice xmlns:v="urn:schemas-microsoft-com:vml" Requires="v">
                <p:oleObj name="Equation" r:id="rId3" imgW="266400" imgH="203040" progId="Equation.DSMT4">
                  <p:embed/>
                </p:oleObj>
              </mc:Choice>
              <mc:Fallback>
                <p:oleObj name="Equation" r:id="rId3" imgW="266400" imgH="203040" progId="Equation.DSMT4">
                  <p:embed/>
                  <p:pic>
                    <p:nvPicPr>
                      <p:cNvPr id="25" name="Object 24" descr="8 Ohms.">
                        <a:extLst>
                          <a:ext uri="{FF2B5EF4-FFF2-40B4-BE49-F238E27FC236}">
                            <a16:creationId xmlns:a16="http://schemas.microsoft.com/office/drawing/2014/main" id="{5D5ADC17-68E4-4266-8E8F-5B169DE09541}"/>
                          </a:ext>
                        </a:extLst>
                      </p:cNvPr>
                      <p:cNvPicPr>
                        <a:picLocks noChangeAspect="1" noChangeArrowheads="1"/>
                      </p:cNvPicPr>
                      <p:nvPr/>
                    </p:nvPicPr>
                    <p:blipFill>
                      <a:blip r:embed="rId4"/>
                      <a:srcRect/>
                      <a:stretch>
                        <a:fillRect/>
                      </a:stretch>
                    </p:blipFill>
                    <p:spPr bwMode="auto">
                      <a:xfrm>
                        <a:off x="6381657" y="1612171"/>
                        <a:ext cx="393700" cy="298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832414" y="1574446"/>
            <a:ext cx="1447799" cy="313350"/>
          </a:xfrm>
        </p:spPr>
        <p:txBody>
          <a:bodyPr wrap="square" lIns="0" tIns="18000" rIns="0" bIns="18000" anchor="ctr">
            <a:spAutoFit/>
          </a:bodyPr>
          <a:lstStyle/>
          <a:p>
            <a:pPr marL="0" indent="0">
              <a:spcBef>
                <a:spcPts val="600"/>
              </a:spcBef>
              <a:buNone/>
            </a:pPr>
            <a:r>
              <a:rPr lang="en-US" sz="1800" noProof="0" dirty="0"/>
              <a:t>resistor, using</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0610" y="1940489"/>
            <a:ext cx="2609850" cy="313350"/>
          </a:xfrm>
        </p:spPr>
        <p:txBody>
          <a:bodyPr wrap="square" lIns="0" tIns="18000" rIns="0" bIns="18000" anchor="ctr">
            <a:spAutoFit/>
          </a:bodyPr>
          <a:lstStyle/>
          <a:p>
            <a:pPr marL="0" indent="0">
              <a:spcBef>
                <a:spcPts val="600"/>
              </a:spcBef>
              <a:buNone/>
            </a:pPr>
            <a:r>
              <a:rPr lang="en-US" sz="1800" noProof="0" dirty="0"/>
              <a:t>the mesh current method.</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00610" y="2352413"/>
            <a:ext cx="3971925" cy="1221291"/>
          </a:xfrm>
        </p:spPr>
        <p:txBody>
          <a:bodyPr wrap="square" lIns="0" tIns="18000" rIns="0" bIns="18000" anchor="ctr">
            <a:spAutoFit/>
          </a:bodyPr>
          <a:lstStyle/>
          <a:p>
            <a:pPr marL="285750" indent="-285750">
              <a:spcBef>
                <a:spcPts val="600"/>
              </a:spcBef>
            </a:pPr>
            <a:r>
              <a:rPr lang="en-US" sz="1800" noProof="0" dirty="0"/>
              <a:t>Step 3 – Write a </a:t>
            </a:r>
            <a:r>
              <a:rPr lang="en-US" sz="1800" spc="-250" noProof="0" dirty="0"/>
              <a:t>K V </a:t>
            </a:r>
            <a:r>
              <a:rPr lang="en-US" sz="1800" noProof="0" dirty="0"/>
              <a:t>L equation for each mesh.</a:t>
            </a:r>
          </a:p>
          <a:p>
            <a:pPr marL="285750" indent="-285750">
              <a:spcBef>
                <a:spcPts val="600"/>
              </a:spcBef>
            </a:pPr>
            <a:r>
              <a:rPr lang="en-US" sz="1800" noProof="0" dirty="0"/>
              <a:t>Step 4 – Solve the </a:t>
            </a:r>
            <a:r>
              <a:rPr lang="en-US" sz="1800" spc="-250" noProof="0" dirty="0"/>
              <a:t>K V </a:t>
            </a:r>
            <a:r>
              <a:rPr lang="en-US" sz="1800" noProof="0" dirty="0"/>
              <a:t>L equations to find the mesh current values.</a:t>
            </a:r>
          </a:p>
        </p:txBody>
      </p:sp>
      <p:pic>
        <p:nvPicPr>
          <p:cNvPr id="26" name="Picture 25"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Current i subscript 1 flows clockwise through the lower left part of the circuit through the 5-ohm resistor and the 26-ohm resistor. Current i subscript 3 flows clockwise through the lower right part of the circuit through the 90-ohm resistor and the 8-ohm resistor. Current i subscript 2 flows clockwise through the upper part of the circuit through the 30-ohm resistor. ">
            <a:extLst>
              <a:ext uri="{FF2B5EF4-FFF2-40B4-BE49-F238E27FC236}">
                <a16:creationId xmlns:a16="http://schemas.microsoft.com/office/drawing/2014/main" id="{6FAAC3D2-1E82-4F8B-9458-2D01482D4D8B}"/>
              </a:ext>
            </a:extLst>
          </p:cNvPr>
          <p:cNvPicPr>
            <a:picLocks noChangeAspect="1" noChangeArrowheads="1"/>
          </p:cNvPicPr>
          <p:nvPr/>
        </p:nvPicPr>
        <p:blipFill>
          <a:blip r:embed="rId5"/>
          <a:srcRect/>
          <a:stretch/>
        </p:blipFill>
        <p:spPr bwMode="auto">
          <a:xfrm>
            <a:off x="4825000" y="1967964"/>
            <a:ext cx="3330320" cy="16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26" descr="i subscript 1 BaseLine">
            <a:extLst>
              <a:ext uri="{FF2B5EF4-FFF2-40B4-BE49-F238E27FC236}">
                <a16:creationId xmlns:a16="http://schemas.microsoft.com/office/drawing/2014/main" id="{F4CE4538-A385-4B1A-B56F-14CE9E1B2D5A}"/>
              </a:ext>
            </a:extLst>
          </p:cNvPr>
          <p:cNvGraphicFramePr>
            <a:graphicFrameLocks noChangeAspect="1"/>
          </p:cNvGraphicFramePr>
          <p:nvPr/>
        </p:nvGraphicFramePr>
        <p:xfrm>
          <a:off x="2046288" y="3794220"/>
          <a:ext cx="155575" cy="312738"/>
        </p:xfrm>
        <a:graphic>
          <a:graphicData uri="http://schemas.openxmlformats.org/presentationml/2006/ole">
            <mc:AlternateContent xmlns:mc="http://schemas.openxmlformats.org/markup-compatibility/2006">
              <mc:Choice xmlns:v="urn:schemas-microsoft-com:vml" Requires="v">
                <p:oleObj name="Equation" r:id="rId6" imgW="114120" imgH="228600" progId="Equation.DSMT4">
                  <p:embed/>
                </p:oleObj>
              </mc:Choice>
              <mc:Fallback>
                <p:oleObj name="Equation" r:id="rId6" imgW="114120" imgH="228600" progId="Equation.DSMT4">
                  <p:embed/>
                  <p:pic>
                    <p:nvPicPr>
                      <p:cNvPr id="27" name="Object 26" descr="i subscript 1 BaseLine">
                        <a:extLst>
                          <a:ext uri="{FF2B5EF4-FFF2-40B4-BE49-F238E27FC236}">
                            <a16:creationId xmlns:a16="http://schemas.microsoft.com/office/drawing/2014/main" id="{F4CE4538-A385-4B1A-B56F-14CE9E1B2D5A}"/>
                          </a:ext>
                        </a:extLst>
                      </p:cNvPr>
                      <p:cNvPicPr>
                        <a:picLocks noChangeAspect="1" noChangeArrowheads="1"/>
                      </p:cNvPicPr>
                      <p:nvPr/>
                    </p:nvPicPr>
                    <p:blipFill>
                      <a:blip r:embed="rId7"/>
                      <a:srcRect/>
                      <a:stretch>
                        <a:fillRect/>
                      </a:stretch>
                    </p:blipFill>
                    <p:spPr bwMode="auto">
                      <a:xfrm>
                        <a:off x="2046288" y="3794220"/>
                        <a:ext cx="155575" cy="31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2333625" y="3784866"/>
            <a:ext cx="657225"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28" name="Object 27" descr="The figure illustrates an equation for i subscript 1 BaseLine mesh.&#10;Long description 1 is available in notes, press F6.">
            <a:extLst>
              <a:ext uri="{FF2B5EF4-FFF2-40B4-BE49-F238E27FC236}">
                <a16:creationId xmlns:a16="http://schemas.microsoft.com/office/drawing/2014/main" id="{131247E6-0805-42BE-9CCE-D8CFA450921F}"/>
              </a:ext>
            </a:extLst>
          </p:cNvPr>
          <p:cNvGraphicFramePr>
            <a:graphicFrameLocks noChangeAspect="1"/>
          </p:cNvGraphicFramePr>
          <p:nvPr/>
        </p:nvGraphicFramePr>
        <p:xfrm>
          <a:off x="3044031" y="3798984"/>
          <a:ext cx="2674938" cy="312737"/>
        </p:xfrm>
        <a:graphic>
          <a:graphicData uri="http://schemas.openxmlformats.org/presentationml/2006/ole">
            <mc:AlternateContent xmlns:mc="http://schemas.openxmlformats.org/markup-compatibility/2006">
              <mc:Choice xmlns:v="urn:schemas-microsoft-com:vml" Requires="v">
                <p:oleObj name="Equation" r:id="rId8" imgW="1955520" imgH="228600" progId="Equation.DSMT4">
                  <p:embed/>
                </p:oleObj>
              </mc:Choice>
              <mc:Fallback>
                <p:oleObj name="Equation" r:id="rId8" imgW="1955520" imgH="228600" progId="Equation.DSMT4">
                  <p:embed/>
                  <p:pic>
                    <p:nvPicPr>
                      <p:cNvPr id="28" name="Object 27" descr="The figure illustrates an equation for i subscript 1 BaseLine mesh.&#10;Long description 1 is available in notes, press F6.">
                        <a:extLst>
                          <a:ext uri="{FF2B5EF4-FFF2-40B4-BE49-F238E27FC236}">
                            <a16:creationId xmlns:a16="http://schemas.microsoft.com/office/drawing/2014/main" id="{131247E6-0805-42BE-9CCE-D8CFA450921F}"/>
                          </a:ext>
                        </a:extLst>
                      </p:cNvPr>
                      <p:cNvPicPr>
                        <a:picLocks noChangeAspect="1" noChangeArrowheads="1"/>
                      </p:cNvPicPr>
                      <p:nvPr/>
                    </p:nvPicPr>
                    <p:blipFill>
                      <a:blip r:embed="rId9"/>
                      <a:srcRect/>
                      <a:stretch>
                        <a:fillRect/>
                      </a:stretch>
                    </p:blipFill>
                    <p:spPr bwMode="auto">
                      <a:xfrm>
                        <a:off x="3044031" y="3798984"/>
                        <a:ext cx="2674938"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i subscript 2 BaseLine">
            <a:extLst>
              <a:ext uri="{FF2B5EF4-FFF2-40B4-BE49-F238E27FC236}">
                <a16:creationId xmlns:a16="http://schemas.microsoft.com/office/drawing/2014/main" id="{B462399F-D811-4AAC-A365-F6BB381A3DC0}"/>
              </a:ext>
            </a:extLst>
          </p:cNvPr>
          <p:cNvGraphicFramePr>
            <a:graphicFrameLocks noChangeAspect="1"/>
          </p:cNvGraphicFramePr>
          <p:nvPr/>
        </p:nvGraphicFramePr>
        <p:xfrm>
          <a:off x="2046288" y="4148217"/>
          <a:ext cx="190500" cy="312737"/>
        </p:xfrm>
        <a:graphic>
          <a:graphicData uri="http://schemas.openxmlformats.org/presentationml/2006/ole">
            <mc:AlternateContent xmlns:mc="http://schemas.openxmlformats.org/markup-compatibility/2006">
              <mc:Choice xmlns:v="urn:schemas-microsoft-com:vml" Requires="v">
                <p:oleObj name="Equation" r:id="rId10" imgW="139680" imgH="228600" progId="Equation.DSMT4">
                  <p:embed/>
                </p:oleObj>
              </mc:Choice>
              <mc:Fallback>
                <p:oleObj name="Equation" r:id="rId10" imgW="139680" imgH="228600" progId="Equation.DSMT4">
                  <p:embed/>
                  <p:pic>
                    <p:nvPicPr>
                      <p:cNvPr id="29" name="Object 28" descr="i subscript 2 BaseLine">
                        <a:extLst>
                          <a:ext uri="{FF2B5EF4-FFF2-40B4-BE49-F238E27FC236}">
                            <a16:creationId xmlns:a16="http://schemas.microsoft.com/office/drawing/2014/main" id="{B462399F-D811-4AAC-A365-F6BB381A3DC0}"/>
                          </a:ext>
                        </a:extLst>
                      </p:cNvPr>
                      <p:cNvPicPr>
                        <a:picLocks noChangeAspect="1" noChangeArrowheads="1"/>
                      </p:cNvPicPr>
                      <p:nvPr/>
                    </p:nvPicPr>
                    <p:blipFill>
                      <a:blip r:embed="rId11"/>
                      <a:srcRect/>
                      <a:stretch>
                        <a:fillRect/>
                      </a:stretch>
                    </p:blipFill>
                    <p:spPr bwMode="auto">
                      <a:xfrm>
                        <a:off x="2046288" y="4148217"/>
                        <a:ext cx="190500"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333625" y="4144704"/>
            <a:ext cx="647700"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30" name="Object 29" descr="The figure illustrates an equation for i subscript 2 BaseLine mesh.&#10;Long description 2 is available in notes, press F6.">
            <a:extLst>
              <a:ext uri="{FF2B5EF4-FFF2-40B4-BE49-F238E27FC236}">
                <a16:creationId xmlns:a16="http://schemas.microsoft.com/office/drawing/2014/main" id="{662E3160-E698-4C4D-955C-88EE14F4AF7A}"/>
              </a:ext>
            </a:extLst>
          </p:cNvPr>
          <p:cNvGraphicFramePr>
            <a:graphicFrameLocks noChangeAspect="1"/>
          </p:cNvGraphicFramePr>
          <p:nvPr/>
        </p:nvGraphicFramePr>
        <p:xfrm>
          <a:off x="3148012" y="4144704"/>
          <a:ext cx="2847975" cy="311150"/>
        </p:xfrm>
        <a:graphic>
          <a:graphicData uri="http://schemas.openxmlformats.org/presentationml/2006/ole">
            <mc:AlternateContent xmlns:mc="http://schemas.openxmlformats.org/markup-compatibility/2006">
              <mc:Choice xmlns:v="urn:schemas-microsoft-com:vml" Requires="v">
                <p:oleObj name="Equation" r:id="rId12" imgW="2082600" imgH="228600" progId="Equation.DSMT4">
                  <p:embed/>
                </p:oleObj>
              </mc:Choice>
              <mc:Fallback>
                <p:oleObj name="Equation" r:id="rId12" imgW="2082600" imgH="228600" progId="Equation.DSMT4">
                  <p:embed/>
                  <p:pic>
                    <p:nvPicPr>
                      <p:cNvPr id="30" name="Object 29" descr="The figure illustrates an equation for i subscript 2 BaseLine mesh.&#10;Long description 2 is available in notes, press F6.">
                        <a:extLst>
                          <a:ext uri="{FF2B5EF4-FFF2-40B4-BE49-F238E27FC236}">
                            <a16:creationId xmlns:a16="http://schemas.microsoft.com/office/drawing/2014/main" id="{662E3160-E698-4C4D-955C-88EE14F4AF7A}"/>
                          </a:ext>
                        </a:extLst>
                      </p:cNvPr>
                      <p:cNvPicPr>
                        <a:picLocks noChangeAspect="1" noChangeArrowheads="1"/>
                      </p:cNvPicPr>
                      <p:nvPr/>
                    </p:nvPicPr>
                    <p:blipFill>
                      <a:blip r:embed="rId13"/>
                      <a:srcRect/>
                      <a:stretch>
                        <a:fillRect/>
                      </a:stretch>
                    </p:blipFill>
                    <p:spPr bwMode="auto">
                      <a:xfrm>
                        <a:off x="3148012" y="4144704"/>
                        <a:ext cx="284797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descr="i subscript 3 BaseLine">
            <a:extLst>
              <a:ext uri="{FF2B5EF4-FFF2-40B4-BE49-F238E27FC236}">
                <a16:creationId xmlns:a16="http://schemas.microsoft.com/office/drawing/2014/main" id="{AEFE7815-4442-407D-8254-8E8AFABC236E}"/>
              </a:ext>
            </a:extLst>
          </p:cNvPr>
          <p:cNvGraphicFramePr>
            <a:graphicFrameLocks noChangeAspect="1"/>
          </p:cNvGraphicFramePr>
          <p:nvPr/>
        </p:nvGraphicFramePr>
        <p:xfrm>
          <a:off x="2028825" y="4519683"/>
          <a:ext cx="190500" cy="311150"/>
        </p:xfrm>
        <a:graphic>
          <a:graphicData uri="http://schemas.openxmlformats.org/presentationml/2006/ole">
            <mc:AlternateContent xmlns:mc="http://schemas.openxmlformats.org/markup-compatibility/2006">
              <mc:Choice xmlns:v="urn:schemas-microsoft-com:vml" Requires="v">
                <p:oleObj name="Equation" r:id="rId14" imgW="139680" imgH="228600" progId="Equation.DSMT4">
                  <p:embed/>
                </p:oleObj>
              </mc:Choice>
              <mc:Fallback>
                <p:oleObj name="Equation" r:id="rId14" imgW="139680" imgH="228600" progId="Equation.DSMT4">
                  <p:embed/>
                  <p:pic>
                    <p:nvPicPr>
                      <p:cNvPr id="31" name="Object 30" descr="i subscript 3 BaseLine">
                        <a:extLst>
                          <a:ext uri="{FF2B5EF4-FFF2-40B4-BE49-F238E27FC236}">
                            <a16:creationId xmlns:a16="http://schemas.microsoft.com/office/drawing/2014/main" id="{AEFE7815-4442-407D-8254-8E8AFABC236E}"/>
                          </a:ext>
                        </a:extLst>
                      </p:cNvPr>
                      <p:cNvPicPr>
                        <a:picLocks noChangeAspect="1" noChangeArrowheads="1"/>
                      </p:cNvPicPr>
                      <p:nvPr/>
                    </p:nvPicPr>
                    <p:blipFill>
                      <a:blip r:embed="rId15"/>
                      <a:srcRect/>
                      <a:stretch>
                        <a:fillRect/>
                      </a:stretch>
                    </p:blipFill>
                    <p:spPr bwMode="auto">
                      <a:xfrm>
                        <a:off x="2028825" y="4519683"/>
                        <a:ext cx="1905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2333625" y="4504542"/>
            <a:ext cx="628649"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32" name="Object 31" descr="The figure illustrates an equation for i subscript 3 BaseLine mesh.&#10;Long description 3 is available in notes, press F6.">
            <a:extLst>
              <a:ext uri="{FF2B5EF4-FFF2-40B4-BE49-F238E27FC236}">
                <a16:creationId xmlns:a16="http://schemas.microsoft.com/office/drawing/2014/main" id="{B73460FB-FF00-45BC-899A-A968969E45A1}"/>
              </a:ext>
            </a:extLst>
          </p:cNvPr>
          <p:cNvGraphicFramePr>
            <a:graphicFrameLocks noChangeAspect="1"/>
          </p:cNvGraphicFramePr>
          <p:nvPr/>
        </p:nvGraphicFramePr>
        <p:xfrm>
          <a:off x="3146425" y="4505154"/>
          <a:ext cx="2849562" cy="312738"/>
        </p:xfrm>
        <a:graphic>
          <a:graphicData uri="http://schemas.openxmlformats.org/presentationml/2006/ole">
            <mc:AlternateContent xmlns:mc="http://schemas.openxmlformats.org/markup-compatibility/2006">
              <mc:Choice xmlns:v="urn:schemas-microsoft-com:vml" Requires="v">
                <p:oleObj name="Equation" r:id="rId16" imgW="2082600" imgH="228600" progId="Equation.DSMT4">
                  <p:embed/>
                </p:oleObj>
              </mc:Choice>
              <mc:Fallback>
                <p:oleObj name="Equation" r:id="rId16" imgW="2082600" imgH="228600" progId="Equation.DSMT4">
                  <p:embed/>
                  <p:pic>
                    <p:nvPicPr>
                      <p:cNvPr id="32" name="Object 31" descr="The figure illustrates an equation for i subscript 3 BaseLine mesh.&#10;Long description 3 is available in notes, press F6.">
                        <a:extLst>
                          <a:ext uri="{FF2B5EF4-FFF2-40B4-BE49-F238E27FC236}">
                            <a16:creationId xmlns:a16="http://schemas.microsoft.com/office/drawing/2014/main" id="{B73460FB-FF00-45BC-899A-A968969E45A1}"/>
                          </a:ext>
                        </a:extLst>
                      </p:cNvPr>
                      <p:cNvPicPr>
                        <a:picLocks noChangeAspect="1" noChangeArrowheads="1"/>
                      </p:cNvPicPr>
                      <p:nvPr/>
                    </p:nvPicPr>
                    <p:blipFill>
                      <a:blip r:embed="rId17"/>
                      <a:srcRect/>
                      <a:stretch>
                        <a:fillRect/>
                      </a:stretch>
                    </p:blipFill>
                    <p:spPr bwMode="auto">
                      <a:xfrm>
                        <a:off x="3146425" y="4505154"/>
                        <a:ext cx="2849562" cy="31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046288" y="5179323"/>
            <a:ext cx="1516062" cy="313350"/>
          </a:xfrm>
        </p:spPr>
        <p:txBody>
          <a:bodyPr wrap="square" lIns="0" tIns="18000" rIns="0" bIns="18000" anchor="ctr">
            <a:spAutoFit/>
          </a:bodyPr>
          <a:lstStyle/>
          <a:p>
            <a:pPr marL="0" indent="0">
              <a:spcBef>
                <a:spcPts val="600"/>
              </a:spcBef>
              <a:buNone/>
            </a:pPr>
            <a:r>
              <a:rPr lang="en-US" sz="1800" noProof="0" dirty="0"/>
              <a:t>Standard form:</a:t>
            </a:r>
          </a:p>
        </p:txBody>
      </p:sp>
      <p:graphicFrame>
        <p:nvGraphicFramePr>
          <p:cNvPr id="33" name="Object 32" descr="The figure illustrates 3 equations in standard form.&#10;Long description 4 is available in notes, press F6.">
            <a:extLst>
              <a:ext uri="{FF2B5EF4-FFF2-40B4-BE49-F238E27FC236}">
                <a16:creationId xmlns:a16="http://schemas.microsoft.com/office/drawing/2014/main" id="{0B68CAD7-1B41-4EC7-918F-4E2DABD58219}"/>
              </a:ext>
            </a:extLst>
          </p:cNvPr>
          <p:cNvGraphicFramePr>
            <a:graphicFrameLocks noChangeAspect="1"/>
          </p:cNvGraphicFramePr>
          <p:nvPr/>
        </p:nvGraphicFramePr>
        <p:xfrm>
          <a:off x="3702050" y="4886554"/>
          <a:ext cx="3786187" cy="938213"/>
        </p:xfrm>
        <a:graphic>
          <a:graphicData uri="http://schemas.openxmlformats.org/presentationml/2006/ole">
            <mc:AlternateContent xmlns:mc="http://schemas.openxmlformats.org/markup-compatibility/2006">
              <mc:Choice xmlns:v="urn:schemas-microsoft-com:vml" Requires="v">
                <p:oleObj name="Equation" r:id="rId18" imgW="2768400" imgH="685800" progId="Equation.DSMT4">
                  <p:embed/>
                </p:oleObj>
              </mc:Choice>
              <mc:Fallback>
                <p:oleObj name="Equation" r:id="rId18" imgW="2768400" imgH="685800" progId="Equation.DSMT4">
                  <p:embed/>
                  <p:pic>
                    <p:nvPicPr>
                      <p:cNvPr id="33" name="Object 32" descr="The figure illustrates 3 equations in standard form.&#10;Long description 4 is available in notes, press F6.">
                        <a:extLst>
                          <a:ext uri="{FF2B5EF4-FFF2-40B4-BE49-F238E27FC236}">
                            <a16:creationId xmlns:a16="http://schemas.microsoft.com/office/drawing/2014/main" id="{0B68CAD7-1B41-4EC7-918F-4E2DABD58219}"/>
                          </a:ext>
                        </a:extLst>
                      </p:cNvPr>
                      <p:cNvPicPr>
                        <a:picLocks noChangeAspect="1" noChangeArrowheads="1"/>
                      </p:cNvPicPr>
                      <p:nvPr/>
                    </p:nvPicPr>
                    <p:blipFill>
                      <a:blip r:embed="rId19"/>
                      <a:srcRect/>
                      <a:stretch>
                        <a:fillRect/>
                      </a:stretch>
                    </p:blipFill>
                    <p:spPr bwMode="auto">
                      <a:xfrm>
                        <a:off x="3702050" y="4886554"/>
                        <a:ext cx="3786187"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2046288" y="5933032"/>
            <a:ext cx="914400" cy="313350"/>
          </a:xfrm>
        </p:spPr>
        <p:txBody>
          <a:bodyPr wrap="square" lIns="0" tIns="18000" rIns="0" bIns="18000" anchor="ctr">
            <a:spAutoFit/>
          </a:bodyPr>
          <a:lstStyle/>
          <a:p>
            <a:pPr marL="0" indent="0">
              <a:spcBef>
                <a:spcPts val="600"/>
              </a:spcBef>
              <a:buNone/>
            </a:pPr>
            <a:r>
              <a:rPr lang="en-US" sz="1800" noProof="0" dirty="0"/>
              <a:t>Solution:</a:t>
            </a:r>
          </a:p>
        </p:txBody>
      </p:sp>
      <p:graphicFrame>
        <p:nvGraphicFramePr>
          <p:cNvPr id="34" name="Object 33" descr="i subscript 1 BaseLine equals 5 Amperes;&#10;">
            <a:extLst>
              <a:ext uri="{FF2B5EF4-FFF2-40B4-BE49-F238E27FC236}">
                <a16:creationId xmlns:a16="http://schemas.microsoft.com/office/drawing/2014/main" id="{726FE95F-510E-40B0-A078-7D1E549B53B0}"/>
              </a:ext>
            </a:extLst>
          </p:cNvPr>
          <p:cNvGraphicFramePr>
            <a:graphicFrameLocks noChangeAspect="1"/>
          </p:cNvGraphicFramePr>
          <p:nvPr/>
        </p:nvGraphicFramePr>
        <p:xfrm>
          <a:off x="3148012" y="5983827"/>
          <a:ext cx="765175" cy="312738"/>
        </p:xfrm>
        <a:graphic>
          <a:graphicData uri="http://schemas.openxmlformats.org/presentationml/2006/ole">
            <mc:AlternateContent xmlns:mc="http://schemas.openxmlformats.org/markup-compatibility/2006">
              <mc:Choice xmlns:v="urn:schemas-microsoft-com:vml" Requires="v">
                <p:oleObj name="Equation" r:id="rId20" imgW="558720" imgH="228600" progId="Equation.DSMT4">
                  <p:embed/>
                </p:oleObj>
              </mc:Choice>
              <mc:Fallback>
                <p:oleObj name="Equation" r:id="rId20" imgW="558720" imgH="228600" progId="Equation.DSMT4">
                  <p:embed/>
                  <p:pic>
                    <p:nvPicPr>
                      <p:cNvPr id="34" name="Object 33" descr="i subscript 1 BaseLine equals 5 Amperes;&#10;">
                        <a:extLst>
                          <a:ext uri="{FF2B5EF4-FFF2-40B4-BE49-F238E27FC236}">
                            <a16:creationId xmlns:a16="http://schemas.microsoft.com/office/drawing/2014/main" id="{726FE95F-510E-40B0-A078-7D1E549B53B0}"/>
                          </a:ext>
                        </a:extLst>
                      </p:cNvPr>
                      <p:cNvPicPr>
                        <a:picLocks noChangeAspect="1" noChangeArrowheads="1"/>
                      </p:cNvPicPr>
                      <p:nvPr/>
                    </p:nvPicPr>
                    <p:blipFill>
                      <a:blip r:embed="rId21"/>
                      <a:srcRect/>
                      <a:stretch>
                        <a:fillRect/>
                      </a:stretch>
                    </p:blipFill>
                    <p:spPr bwMode="auto">
                      <a:xfrm>
                        <a:off x="3148012" y="5983827"/>
                        <a:ext cx="765175" cy="31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34" descr="i subscript 2 BaseLine equals 2 Amperes;">
            <a:extLst>
              <a:ext uri="{FF2B5EF4-FFF2-40B4-BE49-F238E27FC236}">
                <a16:creationId xmlns:a16="http://schemas.microsoft.com/office/drawing/2014/main" id="{72F51A3E-930B-44DD-8944-0ACD71CA8DE8}"/>
              </a:ext>
            </a:extLst>
          </p:cNvPr>
          <p:cNvGraphicFramePr>
            <a:graphicFrameLocks noChangeAspect="1"/>
          </p:cNvGraphicFramePr>
          <p:nvPr/>
        </p:nvGraphicFramePr>
        <p:xfrm>
          <a:off x="4100511" y="5986123"/>
          <a:ext cx="799783" cy="312579"/>
        </p:xfrm>
        <a:graphic>
          <a:graphicData uri="http://schemas.openxmlformats.org/presentationml/2006/ole">
            <mc:AlternateContent xmlns:mc="http://schemas.openxmlformats.org/markup-compatibility/2006">
              <mc:Choice xmlns:v="urn:schemas-microsoft-com:vml" Requires="v">
                <p:oleObj name="Equation" r:id="rId22" imgW="583920" imgH="228600" progId="Equation.DSMT4">
                  <p:embed/>
                </p:oleObj>
              </mc:Choice>
              <mc:Fallback>
                <p:oleObj name="Equation" r:id="rId22" imgW="583920" imgH="228600" progId="Equation.DSMT4">
                  <p:embed/>
                  <p:pic>
                    <p:nvPicPr>
                      <p:cNvPr id="35" name="Object 34" descr="i subscript 2 BaseLine equals 2 Amperes;">
                        <a:extLst>
                          <a:ext uri="{FF2B5EF4-FFF2-40B4-BE49-F238E27FC236}">
                            <a16:creationId xmlns:a16="http://schemas.microsoft.com/office/drawing/2014/main" id="{72F51A3E-930B-44DD-8944-0ACD71CA8DE8}"/>
                          </a:ext>
                        </a:extLst>
                      </p:cNvPr>
                      <p:cNvPicPr>
                        <a:picLocks noChangeAspect="1" noChangeArrowheads="1"/>
                      </p:cNvPicPr>
                      <p:nvPr/>
                    </p:nvPicPr>
                    <p:blipFill>
                      <a:blip r:embed="rId23"/>
                      <a:srcRect/>
                      <a:stretch>
                        <a:fillRect/>
                      </a:stretch>
                    </p:blipFill>
                    <p:spPr bwMode="auto">
                      <a:xfrm>
                        <a:off x="4100511" y="5986123"/>
                        <a:ext cx="799783" cy="312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35" descr="i subscript 3 BaseLine equals 2.5 Amperes.">
            <a:extLst>
              <a:ext uri="{FF2B5EF4-FFF2-40B4-BE49-F238E27FC236}">
                <a16:creationId xmlns:a16="http://schemas.microsoft.com/office/drawing/2014/main" id="{097DC98D-7134-44D1-9024-D2A5591A0C5E}"/>
              </a:ext>
            </a:extLst>
          </p:cNvPr>
          <p:cNvGraphicFramePr>
            <a:graphicFrameLocks noChangeAspect="1"/>
          </p:cNvGraphicFramePr>
          <p:nvPr/>
        </p:nvGraphicFramePr>
        <p:xfrm>
          <a:off x="5088416" y="5983827"/>
          <a:ext cx="937736" cy="312579"/>
        </p:xfrm>
        <a:graphic>
          <a:graphicData uri="http://schemas.openxmlformats.org/presentationml/2006/ole">
            <mc:AlternateContent xmlns:mc="http://schemas.openxmlformats.org/markup-compatibility/2006">
              <mc:Choice xmlns:v="urn:schemas-microsoft-com:vml" Requires="v">
                <p:oleObj name="Equation" r:id="rId24" imgW="685800" imgH="228600" progId="Equation.DSMT4">
                  <p:embed/>
                </p:oleObj>
              </mc:Choice>
              <mc:Fallback>
                <p:oleObj name="Equation" r:id="rId24" imgW="685800" imgH="228600" progId="Equation.DSMT4">
                  <p:embed/>
                  <p:pic>
                    <p:nvPicPr>
                      <p:cNvPr id="36" name="Object 35" descr="i subscript 3 BaseLine equals 2.5 Amperes.">
                        <a:extLst>
                          <a:ext uri="{FF2B5EF4-FFF2-40B4-BE49-F238E27FC236}">
                            <a16:creationId xmlns:a16="http://schemas.microsoft.com/office/drawing/2014/main" id="{097DC98D-7134-44D1-9024-D2A5591A0C5E}"/>
                          </a:ext>
                        </a:extLst>
                      </p:cNvPr>
                      <p:cNvPicPr>
                        <a:picLocks noChangeAspect="1" noChangeArrowheads="1"/>
                      </p:cNvPicPr>
                      <p:nvPr/>
                    </p:nvPicPr>
                    <p:blipFill>
                      <a:blip r:embed="rId25"/>
                      <a:srcRect/>
                      <a:stretch>
                        <a:fillRect/>
                      </a:stretch>
                    </p:blipFill>
                    <p:spPr bwMode="auto">
                      <a:xfrm>
                        <a:off x="5088416" y="5983827"/>
                        <a:ext cx="937736" cy="312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76881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 uri="{C183D7F6-B498-43B3-948B-1728B52AA6E4}">
                <adec:decorative xmlns:adec="http://schemas.microsoft.com/office/drawing/2017/decorative" val="0"/>
              </a:ext>
            </a:extLst>
          </p:cNvPr>
          <p:cNvSpPr>
            <a:spLocks noGrp="1"/>
          </p:cNvSpPr>
          <p:nvPr>
            <p:ph type="title"/>
          </p:nvPr>
        </p:nvSpPr>
        <p:spPr>
          <a:xfrm>
            <a:off x="409575" y="205360"/>
            <a:ext cx="8229600" cy="1144347"/>
          </a:xfrm>
        </p:spPr>
        <p:txBody>
          <a:bodyPr/>
          <a:lstStyle/>
          <a:p>
            <a:r>
              <a:rPr lang="en-US" noProof="0" dirty="0"/>
              <a:t>Chapter 4 – techniques of circuit analysis </a:t>
            </a:r>
            <a:r>
              <a:rPr lang="en-US" sz="2800" noProof="0" dirty="0"/>
              <a:t>(6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33162"/>
            <a:ext cx="4370388" cy="1575234"/>
          </a:xfrm>
        </p:spPr>
        <p:txBody>
          <a:bodyPr wrap="square" lIns="0" tIns="18000" rIns="0" bIns="18000" anchor="ctr">
            <a:spAutoFit/>
          </a:bodyPr>
          <a:lstStyle/>
          <a:p>
            <a:pPr marL="342900" indent="-342900">
              <a:spcBef>
                <a:spcPts val="600"/>
              </a:spcBef>
            </a:pPr>
            <a:r>
              <a:rPr lang="en-US" altLang="en-US" sz="2000" noProof="0" dirty="0"/>
              <a:t>Step 5 – Solve the circuit using mesh currents from Step 4 to find component currents, voltages, and power values. Here we check that the power balances</a:t>
            </a:r>
            <a:endParaRPr lang="en-US" sz="2000" noProof="0" dirty="0"/>
          </a:p>
        </p:txBody>
      </p:sp>
      <p:pic>
        <p:nvPicPr>
          <p:cNvPr id="2" name="Picture 1"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 &#10;A current of 5 amperes flows clockwise through the lower left part of the circuit through the 5-ohm resistor and the 26-ohm resistor. A current of 2.5 amperes flows clockwise through the lower right part of the circuit through the 90-ohm resistor and the 8-ohm resistor. A current of 2 amperes flows clockwise through the upper part of the circuit through the 30-ohm resistor.">
            <a:extLst>
              <a:ext uri="{FF2B5EF4-FFF2-40B4-BE49-F238E27FC236}">
                <a16:creationId xmlns:a16="http://schemas.microsoft.com/office/drawing/2014/main" id="{5B542C1B-427D-9982-2AAF-AD168441F4E4}"/>
              </a:ext>
            </a:extLst>
          </p:cNvPr>
          <p:cNvPicPr>
            <a:picLocks noChangeAspect="1" noChangeArrowheads="1"/>
          </p:cNvPicPr>
          <p:nvPr/>
        </p:nvPicPr>
        <p:blipFill>
          <a:blip r:embed="rId2"/>
          <a:srcRect/>
          <a:stretch/>
        </p:blipFill>
        <p:spPr bwMode="auto">
          <a:xfrm>
            <a:off x="4969731" y="1538279"/>
            <a:ext cx="3478886" cy="170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33924477-CC23-9BC0-5816-BCA291C601FC}"/>
              </a:ext>
            </a:extLst>
          </p:cNvPr>
          <p:cNvGraphicFramePr>
            <a:graphicFrameLocks noGrp="1"/>
          </p:cNvGraphicFramePr>
          <p:nvPr/>
        </p:nvGraphicFramePr>
        <p:xfrm>
          <a:off x="1522561" y="3474800"/>
          <a:ext cx="6098877" cy="2468683"/>
        </p:xfrm>
        <a:graphic>
          <a:graphicData uri="http://schemas.openxmlformats.org/drawingml/2006/table">
            <a:tbl>
              <a:tblPr firstRow="1" bandRow="1">
                <a:tableStyleId>{3B4B98B0-60AC-42C2-AFA5-B58CD77FA1E5}</a:tableStyleId>
              </a:tblPr>
              <a:tblGrid>
                <a:gridCol w="2032959">
                  <a:extLst>
                    <a:ext uri="{9D8B030D-6E8A-4147-A177-3AD203B41FA5}">
                      <a16:colId xmlns:a16="http://schemas.microsoft.com/office/drawing/2014/main" val="2973525773"/>
                    </a:ext>
                  </a:extLst>
                </a:gridCol>
                <a:gridCol w="2032959">
                  <a:extLst>
                    <a:ext uri="{9D8B030D-6E8A-4147-A177-3AD203B41FA5}">
                      <a16:colId xmlns:a16="http://schemas.microsoft.com/office/drawing/2014/main" val="757825634"/>
                    </a:ext>
                  </a:extLst>
                </a:gridCol>
                <a:gridCol w="2032959">
                  <a:extLst>
                    <a:ext uri="{9D8B030D-6E8A-4147-A177-3AD203B41FA5}">
                      <a16:colId xmlns:a16="http://schemas.microsoft.com/office/drawing/2014/main" val="1602549246"/>
                    </a:ext>
                  </a:extLst>
                </a:gridCol>
              </a:tblGrid>
              <a:tr h="352669">
                <a:tc>
                  <a:txBody>
                    <a:bodyPr/>
                    <a:lstStyle/>
                    <a:p>
                      <a:pPr algn="ctr"/>
                      <a:r>
                        <a:rPr lang="en-US" noProof="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dirty="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p[W]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698868214"/>
                  </a:ext>
                </a:extLst>
              </a:tr>
              <a:tr h="352669">
                <a:tc>
                  <a:txBody>
                    <a:bodyPr/>
                    <a:lstStyle/>
                    <a:p>
                      <a:pPr algn="ctr"/>
                      <a:r>
                        <a:rPr lang="en-US" noProof="0">
                          <a:latin typeface="Arial" panose="020B0604020202020204" pitchFamily="34" charset="0"/>
                          <a:cs typeface="Arial" panose="020B0604020202020204" pitchFamily="34" charset="0"/>
                        </a:rPr>
                        <a:t>80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a:solidFill>
                            <a:schemeClr val="tx1"/>
                          </a:solidFill>
                          <a:effectLst/>
                          <a:latin typeface="Arial" panose="020B0604020202020204" pitchFamily="34" charset="0"/>
                          <a:ea typeface="+mn-ea"/>
                          <a:cs typeface="Arial" panose="020B0604020202020204" pitchFamily="34" charset="0"/>
                          <a:sym typeface="Arial"/>
                        </a:rPr>
                        <a:t>−</a:t>
                      </a:r>
                      <a:r>
                        <a:rPr lang="en-US" noProof="0">
                          <a:latin typeface="Arial" panose="020B0604020202020204" pitchFamily="34" charset="0"/>
                          <a:cs typeface="Arial" panose="020B0604020202020204" pitchFamily="34" charset="0"/>
                          <a:sym typeface="Symbol"/>
                        </a:rPr>
                        <a:t>(5)(80)</a:t>
                      </a:r>
                      <a:endParaRPr lang="en-US" noProof="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1" noProof="0">
                          <a:solidFill>
                            <a:schemeClr val="bg2"/>
                          </a:solidFill>
                          <a:latin typeface="Arial" panose="020B0604020202020204" pitchFamily="34" charset="0"/>
                          <a:cs typeface="Arial" panose="020B0604020202020204" pitchFamily="34" charset="0"/>
                          <a:sym typeface="Symbol"/>
                        </a:rPr>
                        <a:t>−400</a:t>
                      </a:r>
                      <a:endParaRPr lang="en-US" b="1"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480086130"/>
                  </a:ext>
                </a:extLst>
              </a:tr>
              <a:tr h="3526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5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5 minus 2 Close Parenthesis squared multiplied by Open Parenthesis 5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dirty="0">
                          <a:solidFill>
                            <a:schemeClr val="bg2"/>
                          </a:solidFill>
                          <a:latin typeface="Arial" panose="020B0604020202020204" pitchFamily="34" charset="0"/>
                          <a:cs typeface="Arial" panose="020B0604020202020204" pitchFamily="34" charset="0"/>
                          <a:sym typeface="Symbol"/>
                        </a:rPr>
                        <a:t>45</a:t>
                      </a:r>
                      <a:endParaRPr lang="en-US" b="0" noProof="0" dirty="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831300502"/>
                  </a:ext>
                </a:extLst>
              </a:tr>
              <a:tr h="352669">
                <a:tc>
                  <a:txBody>
                    <a:bodyPr/>
                    <a:lstStyle/>
                    <a:p>
                      <a:pPr algn="ctr"/>
                      <a:r>
                        <a:rPr lang="en-US" sz="100" noProof="0" dirty="0">
                          <a:latin typeface="Arial" panose="020B0604020202020204" pitchFamily="34" charset="0"/>
                          <a:cs typeface="Arial" panose="020B0604020202020204" pitchFamily="34" charset="0"/>
                        </a:rPr>
                        <a:t>90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2.5 minus 2 Close Parenthesis squared multiplied by Open Parenthesis 90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dirty="0">
                          <a:solidFill>
                            <a:schemeClr val="bg2"/>
                          </a:solidFill>
                          <a:latin typeface="Arial" panose="020B0604020202020204" pitchFamily="34" charset="0"/>
                          <a:cs typeface="Arial" panose="020B0604020202020204" pitchFamily="34" charset="0"/>
                          <a:sym typeface="Symbol"/>
                        </a:rPr>
                        <a:t>22.5</a:t>
                      </a:r>
                      <a:endParaRPr lang="en-US" b="1" noProof="0" dirty="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011640227"/>
                  </a:ext>
                </a:extLst>
              </a:tr>
              <a:tr h="352669">
                <a:tc>
                  <a:txBody>
                    <a:bodyPr/>
                    <a:lstStyle/>
                    <a:p>
                      <a:pPr algn="ctr"/>
                      <a:r>
                        <a:rPr lang="en-US" sz="100" noProof="0" dirty="0">
                          <a:latin typeface="Arial" panose="020B0604020202020204" pitchFamily="34" charset="0"/>
                          <a:cs typeface="Arial" panose="020B0604020202020204" pitchFamily="34" charset="0"/>
                        </a:rPr>
                        <a:t>30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2 Close Parenthesis squared multiplied by Open Parenthesis 30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228556320"/>
                  </a:ext>
                </a:extLst>
              </a:tr>
              <a:tr h="352669">
                <a:tc>
                  <a:txBody>
                    <a:bodyPr/>
                    <a:lstStyle/>
                    <a:p>
                      <a:pPr algn="ctr"/>
                      <a:r>
                        <a:rPr lang="en-US" sz="100" noProof="0" dirty="0">
                          <a:latin typeface="Arial" panose="020B0604020202020204" pitchFamily="34" charset="0"/>
                          <a:cs typeface="Arial" panose="020B0604020202020204" pitchFamily="34" charset="0"/>
                        </a:rPr>
                        <a:t>26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5 minus 2.5 Close Parenthesis squared multiplied by Open Parenthesis 26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162.5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64190257"/>
                  </a:ext>
                </a:extLst>
              </a:tr>
              <a:tr h="35266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8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2.5 Close Parenthesis squared multiplied by Open Parenthesis 8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1" noProof="0" dirty="0">
                          <a:latin typeface="Arial" panose="020B0604020202020204" pitchFamily="34" charset="0"/>
                          <a:cs typeface="Arial" panose="020B0604020202020204" pitchFamily="34"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678427634"/>
                  </a:ext>
                </a:extLst>
              </a:tr>
            </a:tbl>
          </a:graphicData>
        </a:graphic>
      </p:graphicFrame>
      <p:graphicFrame>
        <p:nvGraphicFramePr>
          <p:cNvPr id="5" name="Object 4">
            <a:extLst>
              <a:ext uri="{FF2B5EF4-FFF2-40B4-BE49-F238E27FC236}">
                <a16:creationId xmlns:a16="http://schemas.microsoft.com/office/drawing/2014/main" id="{1CB3B333-7D14-ADED-17D9-0B3DB2765024}"/>
              </a:ext>
              <a:ext uri="{C183D7F6-B498-43B3-948B-1728B52AA6E4}">
                <adec:decorative xmlns:adec="http://schemas.microsoft.com/office/drawing/2017/decorative" val="1"/>
              </a:ext>
            </a:extLst>
          </p:cNvPr>
          <p:cNvGraphicFramePr>
            <a:graphicFrameLocks noChangeAspect="1"/>
          </p:cNvGraphicFramePr>
          <p:nvPr/>
        </p:nvGraphicFramePr>
        <p:xfrm>
          <a:off x="2375210" y="4260367"/>
          <a:ext cx="353580" cy="246785"/>
        </p:xfrm>
        <a:graphic>
          <a:graphicData uri="http://schemas.openxmlformats.org/presentationml/2006/ole">
            <mc:AlternateContent xmlns:mc="http://schemas.openxmlformats.org/markup-compatibility/2006">
              <mc:Choice xmlns:v="urn:schemas-microsoft-com:vml" Requires="v">
                <p:oleObj name="Equation" r:id="rId3" imgW="291960" imgH="203040" progId="Equation.DSMT4">
                  <p:embed/>
                </p:oleObj>
              </mc:Choice>
              <mc:Fallback>
                <p:oleObj name="Equation" r:id="rId3" imgW="291960" imgH="203040" progId="Equation.DSMT4">
                  <p:embed/>
                  <p:pic>
                    <p:nvPicPr>
                      <p:cNvPr id="5" name="Object 4">
                        <a:extLst>
                          <a:ext uri="{FF2B5EF4-FFF2-40B4-BE49-F238E27FC236}">
                            <a16:creationId xmlns:a16="http://schemas.microsoft.com/office/drawing/2014/main" id="{1CB3B333-7D14-ADED-17D9-0B3DB2765024}"/>
                          </a:ext>
                          <a:ext uri="{C183D7F6-B498-43B3-948B-1728B52AA6E4}">
                            <adec:decorative xmlns:adec="http://schemas.microsoft.com/office/drawing/2017/decorative" val="1"/>
                          </a:ext>
                        </a:extLst>
                      </p:cNvPr>
                      <p:cNvPicPr>
                        <a:picLocks noChangeAspect="1" noChangeArrowheads="1"/>
                      </p:cNvPicPr>
                      <p:nvPr/>
                    </p:nvPicPr>
                    <p:blipFill>
                      <a:blip r:embed="rId4"/>
                      <a:srcRect/>
                      <a:stretch>
                        <a:fillRect/>
                      </a:stretch>
                    </p:blipFill>
                    <p:spPr bwMode="auto">
                      <a:xfrm>
                        <a:off x="2375210" y="4260367"/>
                        <a:ext cx="353580" cy="246785"/>
                      </a:xfrm>
                      <a:prstGeom prst="rect">
                        <a:avLst/>
                      </a:prstGeom>
                      <a:solidFill>
                        <a:srgbClr val="D4EAE4"/>
                      </a:solidFill>
                      <a:ln>
                        <a:noFill/>
                      </a:ln>
                      <a:effectLst/>
                    </p:spPr>
                  </p:pic>
                </p:oleObj>
              </mc:Fallback>
            </mc:AlternateContent>
          </a:graphicData>
        </a:graphic>
      </p:graphicFrame>
      <p:graphicFrame>
        <p:nvGraphicFramePr>
          <p:cNvPr id="25" name="Object 24">
            <a:extLst>
              <a:ext uri="{FF2B5EF4-FFF2-40B4-BE49-F238E27FC236}">
                <a16:creationId xmlns:a16="http://schemas.microsoft.com/office/drawing/2014/main" id="{68B10B7E-C0B3-1D2F-4AA8-C50E11C6F5CD}"/>
              </a:ext>
              <a:ext uri="{C183D7F6-B498-43B3-948B-1728B52AA6E4}">
                <adec:decorative xmlns:adec="http://schemas.microsoft.com/office/drawing/2017/decorative" val="1"/>
              </a:ext>
            </a:extLst>
          </p:cNvPr>
          <p:cNvGraphicFramePr>
            <a:graphicFrameLocks noChangeAspect="1"/>
          </p:cNvGraphicFramePr>
          <p:nvPr/>
        </p:nvGraphicFramePr>
        <p:xfrm>
          <a:off x="4147741" y="4203700"/>
          <a:ext cx="846931" cy="279400"/>
        </p:xfrm>
        <a:graphic>
          <a:graphicData uri="http://schemas.openxmlformats.org/presentationml/2006/ole">
            <mc:AlternateContent xmlns:mc="http://schemas.openxmlformats.org/markup-compatibility/2006">
              <mc:Choice xmlns:v="urn:schemas-microsoft-com:vml" Requires="v">
                <p:oleObj name="Equation" r:id="rId5" imgW="698400" imgH="228600" progId="Equation.DSMT4">
                  <p:embed/>
                </p:oleObj>
              </mc:Choice>
              <mc:Fallback>
                <p:oleObj name="Equation" r:id="rId5" imgW="698400" imgH="228600" progId="Equation.DSMT4">
                  <p:embed/>
                  <p:pic>
                    <p:nvPicPr>
                      <p:cNvPr id="25" name="Object 24">
                        <a:extLst>
                          <a:ext uri="{FF2B5EF4-FFF2-40B4-BE49-F238E27FC236}">
                            <a16:creationId xmlns:a16="http://schemas.microsoft.com/office/drawing/2014/main" id="{68B10B7E-C0B3-1D2F-4AA8-C50E11C6F5CD}"/>
                          </a:ext>
                          <a:ext uri="{C183D7F6-B498-43B3-948B-1728B52AA6E4}">
                            <adec:decorative xmlns:adec="http://schemas.microsoft.com/office/drawing/2017/decorative" val="1"/>
                          </a:ext>
                        </a:extLst>
                      </p:cNvPr>
                      <p:cNvPicPr>
                        <a:picLocks noChangeAspect="1" noChangeArrowheads="1"/>
                      </p:cNvPicPr>
                      <p:nvPr/>
                    </p:nvPicPr>
                    <p:blipFill>
                      <a:blip r:embed="rId6"/>
                      <a:srcRect/>
                      <a:stretch>
                        <a:fillRect/>
                      </a:stretch>
                    </p:blipFill>
                    <p:spPr bwMode="auto">
                      <a:xfrm>
                        <a:off x="4147741" y="4203700"/>
                        <a:ext cx="846931" cy="279400"/>
                      </a:xfrm>
                      <a:prstGeom prst="rect">
                        <a:avLst/>
                      </a:prstGeom>
                      <a:solidFill>
                        <a:srgbClr val="D4EAE4"/>
                      </a:solidFill>
                      <a:ln>
                        <a:noFill/>
                      </a:ln>
                      <a:effectLst/>
                    </p:spPr>
                  </p:pic>
                </p:oleObj>
              </mc:Fallback>
            </mc:AlternateContent>
          </a:graphicData>
        </a:graphic>
      </p:graphicFrame>
      <p:graphicFrame>
        <p:nvGraphicFramePr>
          <p:cNvPr id="26" name="Object 25">
            <a:extLst>
              <a:ext uri="{FF2B5EF4-FFF2-40B4-BE49-F238E27FC236}">
                <a16:creationId xmlns:a16="http://schemas.microsoft.com/office/drawing/2014/main" id="{44049716-2919-B31C-B689-DB48EEF5A557}"/>
              </a:ext>
              <a:ext uri="{C183D7F6-B498-43B3-948B-1728B52AA6E4}">
                <adec:decorative xmlns:adec="http://schemas.microsoft.com/office/drawing/2017/decorative" val="1"/>
              </a:ext>
            </a:extLst>
          </p:cNvPr>
          <p:cNvGraphicFramePr>
            <a:graphicFrameLocks noChangeAspect="1"/>
          </p:cNvGraphicFramePr>
          <p:nvPr/>
        </p:nvGraphicFramePr>
        <p:xfrm>
          <a:off x="2320925" y="4586288"/>
          <a:ext cx="461963" cy="246062"/>
        </p:xfrm>
        <a:graphic>
          <a:graphicData uri="http://schemas.openxmlformats.org/presentationml/2006/ole">
            <mc:AlternateContent xmlns:mc="http://schemas.openxmlformats.org/markup-compatibility/2006">
              <mc:Choice xmlns:v="urn:schemas-microsoft-com:vml" Requires="v">
                <p:oleObj name="Equation" r:id="rId7" imgW="380880" imgH="203040" progId="Equation.DSMT4">
                  <p:embed/>
                </p:oleObj>
              </mc:Choice>
              <mc:Fallback>
                <p:oleObj name="Equation" r:id="rId7" imgW="380880" imgH="203040" progId="Equation.DSMT4">
                  <p:embed/>
                  <p:pic>
                    <p:nvPicPr>
                      <p:cNvPr id="26" name="Object 25">
                        <a:extLst>
                          <a:ext uri="{FF2B5EF4-FFF2-40B4-BE49-F238E27FC236}">
                            <a16:creationId xmlns:a16="http://schemas.microsoft.com/office/drawing/2014/main" id="{44049716-2919-B31C-B689-DB48EEF5A557}"/>
                          </a:ext>
                          <a:ext uri="{C183D7F6-B498-43B3-948B-1728B52AA6E4}">
                            <adec:decorative xmlns:adec="http://schemas.microsoft.com/office/drawing/2017/decorative" val="1"/>
                          </a:ext>
                        </a:extLst>
                      </p:cNvPr>
                      <p:cNvPicPr>
                        <a:picLocks noChangeAspect="1" noChangeArrowheads="1"/>
                      </p:cNvPicPr>
                      <p:nvPr/>
                    </p:nvPicPr>
                    <p:blipFill>
                      <a:blip r:embed="rId8"/>
                      <a:srcRect/>
                      <a:stretch>
                        <a:fillRect/>
                      </a:stretch>
                    </p:blipFill>
                    <p:spPr bwMode="auto">
                      <a:xfrm>
                        <a:off x="2320925" y="4586288"/>
                        <a:ext cx="461963" cy="246062"/>
                      </a:xfrm>
                      <a:prstGeom prst="rect">
                        <a:avLst/>
                      </a:prstGeom>
                      <a:solidFill>
                        <a:srgbClr val="D4EAE4"/>
                      </a:solidFill>
                      <a:ln>
                        <a:noFill/>
                      </a:ln>
                      <a:effectLst/>
                    </p:spPr>
                  </p:pic>
                </p:oleObj>
              </mc:Fallback>
            </mc:AlternateContent>
          </a:graphicData>
        </a:graphic>
      </p:graphicFrame>
      <p:graphicFrame>
        <p:nvGraphicFramePr>
          <p:cNvPr id="27" name="Object 26">
            <a:extLst>
              <a:ext uri="{FF2B5EF4-FFF2-40B4-BE49-F238E27FC236}">
                <a16:creationId xmlns:a16="http://schemas.microsoft.com/office/drawing/2014/main" id="{70525EA5-478F-818E-8EF9-97888788F316}"/>
              </a:ext>
              <a:ext uri="{C183D7F6-B498-43B3-948B-1728B52AA6E4}">
                <adec:decorative xmlns:adec="http://schemas.microsoft.com/office/drawing/2017/decorative" val="1"/>
              </a:ext>
            </a:extLst>
          </p:cNvPr>
          <p:cNvGraphicFramePr>
            <a:graphicFrameLocks noChangeAspect="1"/>
          </p:cNvGraphicFramePr>
          <p:nvPr/>
        </p:nvGraphicFramePr>
        <p:xfrm>
          <a:off x="4012010" y="4576763"/>
          <a:ext cx="1108868" cy="279400"/>
        </p:xfrm>
        <a:graphic>
          <a:graphicData uri="http://schemas.openxmlformats.org/presentationml/2006/ole">
            <mc:AlternateContent xmlns:mc="http://schemas.openxmlformats.org/markup-compatibility/2006">
              <mc:Choice xmlns:v="urn:schemas-microsoft-com:vml" Requires="v">
                <p:oleObj name="Equation" r:id="rId9" imgW="914400" imgH="228600" progId="Equation.DSMT4">
                  <p:embed/>
                </p:oleObj>
              </mc:Choice>
              <mc:Fallback>
                <p:oleObj name="Equation" r:id="rId9" imgW="914400" imgH="228600" progId="Equation.DSMT4">
                  <p:embed/>
                  <p:pic>
                    <p:nvPicPr>
                      <p:cNvPr id="27" name="Object 26">
                        <a:extLst>
                          <a:ext uri="{FF2B5EF4-FFF2-40B4-BE49-F238E27FC236}">
                            <a16:creationId xmlns:a16="http://schemas.microsoft.com/office/drawing/2014/main" id="{70525EA5-478F-818E-8EF9-97888788F316}"/>
                          </a:ext>
                          <a:ext uri="{C183D7F6-B498-43B3-948B-1728B52AA6E4}">
                            <adec:decorative xmlns:adec="http://schemas.microsoft.com/office/drawing/2017/decorative" val="1"/>
                          </a:ext>
                        </a:extLst>
                      </p:cNvPr>
                      <p:cNvPicPr>
                        <a:picLocks noChangeAspect="1" noChangeArrowheads="1"/>
                      </p:cNvPicPr>
                      <p:nvPr/>
                    </p:nvPicPr>
                    <p:blipFill>
                      <a:blip r:embed="rId10"/>
                      <a:srcRect/>
                      <a:stretch>
                        <a:fillRect/>
                      </a:stretch>
                    </p:blipFill>
                    <p:spPr bwMode="auto">
                      <a:xfrm>
                        <a:off x="4012010" y="4576763"/>
                        <a:ext cx="1108868" cy="279400"/>
                      </a:xfrm>
                      <a:prstGeom prst="rect">
                        <a:avLst/>
                      </a:prstGeom>
                      <a:solidFill>
                        <a:srgbClr val="D4EAE4"/>
                      </a:solidFill>
                      <a:ln>
                        <a:noFill/>
                      </a:ln>
                      <a:effectLst/>
                    </p:spPr>
                  </p:pic>
                </p:oleObj>
              </mc:Fallback>
            </mc:AlternateContent>
          </a:graphicData>
        </a:graphic>
      </p:graphicFrame>
      <p:graphicFrame>
        <p:nvGraphicFramePr>
          <p:cNvPr id="28" name="Object 27">
            <a:extLst>
              <a:ext uri="{FF2B5EF4-FFF2-40B4-BE49-F238E27FC236}">
                <a16:creationId xmlns:a16="http://schemas.microsoft.com/office/drawing/2014/main" id="{7D7448C2-7207-262B-901C-D51A876BAF3C}"/>
              </a:ext>
              <a:ext uri="{C183D7F6-B498-43B3-948B-1728B52AA6E4}">
                <adec:decorative xmlns:adec="http://schemas.microsoft.com/office/drawing/2017/decorative" val="1"/>
              </a:ext>
            </a:extLst>
          </p:cNvPr>
          <p:cNvGraphicFramePr>
            <a:graphicFrameLocks noChangeAspect="1"/>
          </p:cNvGraphicFramePr>
          <p:nvPr/>
        </p:nvGraphicFramePr>
        <p:xfrm>
          <a:off x="2320924" y="4956363"/>
          <a:ext cx="461963" cy="246062"/>
        </p:xfrm>
        <a:graphic>
          <a:graphicData uri="http://schemas.openxmlformats.org/presentationml/2006/ole">
            <mc:AlternateContent xmlns:mc="http://schemas.openxmlformats.org/markup-compatibility/2006">
              <mc:Choice xmlns:v="urn:schemas-microsoft-com:vml" Requires="v">
                <p:oleObj name="Equation" r:id="rId11" imgW="380880" imgH="203040" progId="Equation.DSMT4">
                  <p:embed/>
                </p:oleObj>
              </mc:Choice>
              <mc:Fallback>
                <p:oleObj name="Equation" r:id="rId11" imgW="380880" imgH="203040" progId="Equation.DSMT4">
                  <p:embed/>
                  <p:pic>
                    <p:nvPicPr>
                      <p:cNvPr id="28" name="Object 27">
                        <a:extLst>
                          <a:ext uri="{FF2B5EF4-FFF2-40B4-BE49-F238E27FC236}">
                            <a16:creationId xmlns:a16="http://schemas.microsoft.com/office/drawing/2014/main" id="{7D7448C2-7207-262B-901C-D51A876BAF3C}"/>
                          </a:ext>
                          <a:ext uri="{C183D7F6-B498-43B3-948B-1728B52AA6E4}">
                            <adec:decorative xmlns:adec="http://schemas.microsoft.com/office/drawing/2017/decorative" val="1"/>
                          </a:ext>
                        </a:extLst>
                      </p:cNvPr>
                      <p:cNvPicPr>
                        <a:picLocks noChangeAspect="1" noChangeArrowheads="1"/>
                      </p:cNvPicPr>
                      <p:nvPr/>
                    </p:nvPicPr>
                    <p:blipFill>
                      <a:blip r:embed="rId12"/>
                      <a:srcRect/>
                      <a:stretch>
                        <a:fillRect/>
                      </a:stretch>
                    </p:blipFill>
                    <p:spPr bwMode="auto">
                      <a:xfrm>
                        <a:off x="2320924" y="4956363"/>
                        <a:ext cx="461963" cy="246062"/>
                      </a:xfrm>
                      <a:prstGeom prst="rect">
                        <a:avLst/>
                      </a:prstGeom>
                      <a:solidFill>
                        <a:srgbClr val="D4EAE4"/>
                      </a:solidFill>
                      <a:ln>
                        <a:noFill/>
                      </a:ln>
                      <a:effectLst/>
                    </p:spPr>
                  </p:pic>
                </p:oleObj>
              </mc:Fallback>
            </mc:AlternateContent>
          </a:graphicData>
        </a:graphic>
      </p:graphicFrame>
      <p:graphicFrame>
        <p:nvGraphicFramePr>
          <p:cNvPr id="29" name="Object 28">
            <a:extLst>
              <a:ext uri="{FF2B5EF4-FFF2-40B4-BE49-F238E27FC236}">
                <a16:creationId xmlns:a16="http://schemas.microsoft.com/office/drawing/2014/main" id="{E230739F-4F3B-A830-812C-E7A9E9D39591}"/>
              </a:ext>
              <a:ext uri="{C183D7F6-B498-43B3-948B-1728B52AA6E4}">
                <adec:decorative xmlns:adec="http://schemas.microsoft.com/office/drawing/2017/decorative" val="1"/>
              </a:ext>
            </a:extLst>
          </p:cNvPr>
          <p:cNvGraphicFramePr>
            <a:graphicFrameLocks noChangeAspect="1"/>
          </p:cNvGraphicFramePr>
          <p:nvPr/>
        </p:nvGraphicFramePr>
        <p:xfrm>
          <a:off x="4226243" y="4935538"/>
          <a:ext cx="691515" cy="279400"/>
        </p:xfrm>
        <a:graphic>
          <a:graphicData uri="http://schemas.openxmlformats.org/presentationml/2006/ole">
            <mc:AlternateContent xmlns:mc="http://schemas.openxmlformats.org/markup-compatibility/2006">
              <mc:Choice xmlns:v="urn:schemas-microsoft-com:vml" Requires="v">
                <p:oleObj name="Equation" r:id="rId13" imgW="571320" imgH="228600" progId="Equation.DSMT4">
                  <p:embed/>
                </p:oleObj>
              </mc:Choice>
              <mc:Fallback>
                <p:oleObj name="Equation" r:id="rId13" imgW="571320" imgH="228600" progId="Equation.DSMT4">
                  <p:embed/>
                  <p:pic>
                    <p:nvPicPr>
                      <p:cNvPr id="29" name="Object 28">
                        <a:extLst>
                          <a:ext uri="{FF2B5EF4-FFF2-40B4-BE49-F238E27FC236}">
                            <a16:creationId xmlns:a16="http://schemas.microsoft.com/office/drawing/2014/main" id="{E230739F-4F3B-A830-812C-E7A9E9D39591}"/>
                          </a:ext>
                          <a:ext uri="{C183D7F6-B498-43B3-948B-1728B52AA6E4}">
                            <adec:decorative xmlns:adec="http://schemas.microsoft.com/office/drawing/2017/decorative" val="1"/>
                          </a:ext>
                        </a:extLst>
                      </p:cNvPr>
                      <p:cNvPicPr>
                        <a:picLocks noChangeAspect="1" noChangeArrowheads="1"/>
                      </p:cNvPicPr>
                      <p:nvPr/>
                    </p:nvPicPr>
                    <p:blipFill>
                      <a:blip r:embed="rId14"/>
                      <a:srcRect/>
                      <a:stretch>
                        <a:fillRect/>
                      </a:stretch>
                    </p:blipFill>
                    <p:spPr bwMode="auto">
                      <a:xfrm>
                        <a:off x="4226243" y="4935538"/>
                        <a:ext cx="691515" cy="279400"/>
                      </a:xfrm>
                      <a:prstGeom prst="rect">
                        <a:avLst/>
                      </a:prstGeom>
                      <a:solidFill>
                        <a:srgbClr val="D4EAE4"/>
                      </a:solidFill>
                      <a:ln>
                        <a:noFill/>
                      </a:ln>
                      <a:effectLst/>
                    </p:spPr>
                  </p:pic>
                </p:oleObj>
              </mc:Fallback>
            </mc:AlternateContent>
          </a:graphicData>
        </a:graphic>
      </p:graphicFrame>
      <p:graphicFrame>
        <p:nvGraphicFramePr>
          <p:cNvPr id="30" name="Object 29">
            <a:extLst>
              <a:ext uri="{FF2B5EF4-FFF2-40B4-BE49-F238E27FC236}">
                <a16:creationId xmlns:a16="http://schemas.microsoft.com/office/drawing/2014/main" id="{F2FB7A1C-FB2B-AA24-B0D2-99FB838C952E}"/>
              </a:ext>
              <a:ext uri="{C183D7F6-B498-43B3-948B-1728B52AA6E4}">
                <adec:decorative xmlns:adec="http://schemas.microsoft.com/office/drawing/2017/decorative" val="1"/>
              </a:ext>
            </a:extLst>
          </p:cNvPr>
          <p:cNvGraphicFramePr>
            <a:graphicFrameLocks noChangeAspect="1"/>
          </p:cNvGraphicFramePr>
          <p:nvPr/>
        </p:nvGraphicFramePr>
        <p:xfrm>
          <a:off x="2320923" y="5286018"/>
          <a:ext cx="461963" cy="246062"/>
        </p:xfrm>
        <a:graphic>
          <a:graphicData uri="http://schemas.openxmlformats.org/presentationml/2006/ole">
            <mc:AlternateContent xmlns:mc="http://schemas.openxmlformats.org/markup-compatibility/2006">
              <mc:Choice xmlns:v="urn:schemas-microsoft-com:vml" Requires="v">
                <p:oleObj name="Equation" r:id="rId15" imgW="380880" imgH="203040" progId="Equation.DSMT4">
                  <p:embed/>
                </p:oleObj>
              </mc:Choice>
              <mc:Fallback>
                <p:oleObj name="Equation" r:id="rId15" imgW="380880" imgH="203040" progId="Equation.DSMT4">
                  <p:embed/>
                  <p:pic>
                    <p:nvPicPr>
                      <p:cNvPr id="30" name="Object 29">
                        <a:extLst>
                          <a:ext uri="{FF2B5EF4-FFF2-40B4-BE49-F238E27FC236}">
                            <a16:creationId xmlns:a16="http://schemas.microsoft.com/office/drawing/2014/main" id="{F2FB7A1C-FB2B-AA24-B0D2-99FB838C952E}"/>
                          </a:ext>
                          <a:ext uri="{C183D7F6-B498-43B3-948B-1728B52AA6E4}">
                            <adec:decorative xmlns:adec="http://schemas.microsoft.com/office/drawing/2017/decorative" val="1"/>
                          </a:ext>
                        </a:extLst>
                      </p:cNvPr>
                      <p:cNvPicPr>
                        <a:picLocks noChangeAspect="1" noChangeArrowheads="1"/>
                      </p:cNvPicPr>
                      <p:nvPr/>
                    </p:nvPicPr>
                    <p:blipFill>
                      <a:blip r:embed="rId16"/>
                      <a:srcRect/>
                      <a:stretch>
                        <a:fillRect/>
                      </a:stretch>
                    </p:blipFill>
                    <p:spPr bwMode="auto">
                      <a:xfrm>
                        <a:off x="2320923" y="5286018"/>
                        <a:ext cx="461963" cy="246062"/>
                      </a:xfrm>
                      <a:prstGeom prst="rect">
                        <a:avLst/>
                      </a:prstGeom>
                      <a:solidFill>
                        <a:srgbClr val="D4EAE4"/>
                      </a:solidFill>
                      <a:ln>
                        <a:noFill/>
                      </a:ln>
                      <a:effectLst/>
                    </p:spPr>
                  </p:pic>
                </p:oleObj>
              </mc:Fallback>
            </mc:AlternateContent>
          </a:graphicData>
        </a:graphic>
      </p:graphicFrame>
      <p:graphicFrame>
        <p:nvGraphicFramePr>
          <p:cNvPr id="31" name="Object 30">
            <a:extLst>
              <a:ext uri="{FF2B5EF4-FFF2-40B4-BE49-F238E27FC236}">
                <a16:creationId xmlns:a16="http://schemas.microsoft.com/office/drawing/2014/main" id="{056D9516-AD2F-C5B0-FBF2-8E850122EF1B}"/>
              </a:ext>
              <a:ext uri="{C183D7F6-B498-43B3-948B-1728B52AA6E4}">
                <adec:decorative xmlns:adec="http://schemas.microsoft.com/office/drawing/2017/decorative" val="1"/>
              </a:ext>
            </a:extLst>
          </p:cNvPr>
          <p:cNvGraphicFramePr>
            <a:graphicFrameLocks noChangeAspect="1"/>
          </p:cNvGraphicFramePr>
          <p:nvPr/>
        </p:nvGraphicFramePr>
        <p:xfrm>
          <a:off x="4011454" y="5275263"/>
          <a:ext cx="1121093" cy="279400"/>
        </p:xfrm>
        <a:graphic>
          <a:graphicData uri="http://schemas.openxmlformats.org/presentationml/2006/ole">
            <mc:AlternateContent xmlns:mc="http://schemas.openxmlformats.org/markup-compatibility/2006">
              <mc:Choice xmlns:v="urn:schemas-microsoft-com:vml" Requires="v">
                <p:oleObj name="Equation" r:id="rId17" imgW="927000" imgH="228600" progId="Equation.DSMT4">
                  <p:embed/>
                </p:oleObj>
              </mc:Choice>
              <mc:Fallback>
                <p:oleObj name="Equation" r:id="rId17" imgW="927000" imgH="228600" progId="Equation.DSMT4">
                  <p:embed/>
                  <p:pic>
                    <p:nvPicPr>
                      <p:cNvPr id="31" name="Object 30">
                        <a:extLst>
                          <a:ext uri="{FF2B5EF4-FFF2-40B4-BE49-F238E27FC236}">
                            <a16:creationId xmlns:a16="http://schemas.microsoft.com/office/drawing/2014/main" id="{056D9516-AD2F-C5B0-FBF2-8E850122EF1B}"/>
                          </a:ext>
                          <a:ext uri="{C183D7F6-B498-43B3-948B-1728B52AA6E4}">
                            <adec:decorative xmlns:adec="http://schemas.microsoft.com/office/drawing/2017/decorative" val="1"/>
                          </a:ext>
                        </a:extLst>
                      </p:cNvPr>
                      <p:cNvPicPr>
                        <a:picLocks noChangeAspect="1" noChangeArrowheads="1"/>
                      </p:cNvPicPr>
                      <p:nvPr/>
                    </p:nvPicPr>
                    <p:blipFill>
                      <a:blip r:embed="rId18"/>
                      <a:srcRect/>
                      <a:stretch>
                        <a:fillRect/>
                      </a:stretch>
                    </p:blipFill>
                    <p:spPr bwMode="auto">
                      <a:xfrm>
                        <a:off x="4011454" y="5275263"/>
                        <a:ext cx="1121093" cy="279400"/>
                      </a:xfrm>
                      <a:prstGeom prst="rect">
                        <a:avLst/>
                      </a:prstGeom>
                      <a:solidFill>
                        <a:srgbClr val="D4EAE4"/>
                      </a:solidFill>
                      <a:ln>
                        <a:noFill/>
                      </a:ln>
                      <a:effectLst/>
                    </p:spPr>
                  </p:pic>
                </p:oleObj>
              </mc:Fallback>
            </mc:AlternateContent>
          </a:graphicData>
        </a:graphic>
      </p:graphicFrame>
      <p:graphicFrame>
        <p:nvGraphicFramePr>
          <p:cNvPr id="32" name="Object 31">
            <a:extLst>
              <a:ext uri="{FF2B5EF4-FFF2-40B4-BE49-F238E27FC236}">
                <a16:creationId xmlns:a16="http://schemas.microsoft.com/office/drawing/2014/main" id="{3EEE7C22-7DE3-A8E0-37BC-AA6B8B147F66}"/>
              </a:ext>
              <a:ext uri="{C183D7F6-B498-43B3-948B-1728B52AA6E4}">
                <adec:decorative xmlns:adec="http://schemas.microsoft.com/office/drawing/2017/decorative" val="1"/>
              </a:ext>
            </a:extLst>
          </p:cNvPr>
          <p:cNvGraphicFramePr>
            <a:graphicFrameLocks noChangeAspect="1"/>
          </p:cNvGraphicFramePr>
          <p:nvPr/>
        </p:nvGraphicFramePr>
        <p:xfrm>
          <a:off x="2374900" y="5635625"/>
          <a:ext cx="354013" cy="246063"/>
        </p:xfrm>
        <a:graphic>
          <a:graphicData uri="http://schemas.openxmlformats.org/presentationml/2006/ole">
            <mc:AlternateContent xmlns:mc="http://schemas.openxmlformats.org/markup-compatibility/2006">
              <mc:Choice xmlns:v="urn:schemas-microsoft-com:vml" Requires="v">
                <p:oleObj name="Equation" r:id="rId19" imgW="291960" imgH="203040" progId="Equation.DSMT4">
                  <p:embed/>
                </p:oleObj>
              </mc:Choice>
              <mc:Fallback>
                <p:oleObj name="Equation" r:id="rId19" imgW="291960" imgH="203040" progId="Equation.DSMT4">
                  <p:embed/>
                  <p:pic>
                    <p:nvPicPr>
                      <p:cNvPr id="32" name="Object 31">
                        <a:extLst>
                          <a:ext uri="{FF2B5EF4-FFF2-40B4-BE49-F238E27FC236}">
                            <a16:creationId xmlns:a16="http://schemas.microsoft.com/office/drawing/2014/main" id="{3EEE7C22-7DE3-A8E0-37BC-AA6B8B147F66}"/>
                          </a:ext>
                          <a:ext uri="{C183D7F6-B498-43B3-948B-1728B52AA6E4}">
                            <adec:decorative xmlns:adec="http://schemas.microsoft.com/office/drawing/2017/decorative" val="1"/>
                          </a:ext>
                        </a:extLst>
                      </p:cNvPr>
                      <p:cNvPicPr>
                        <a:picLocks noChangeAspect="1" noChangeArrowheads="1"/>
                      </p:cNvPicPr>
                      <p:nvPr/>
                    </p:nvPicPr>
                    <p:blipFill>
                      <a:blip r:embed="rId20"/>
                      <a:srcRect/>
                      <a:stretch>
                        <a:fillRect/>
                      </a:stretch>
                    </p:blipFill>
                    <p:spPr bwMode="auto">
                      <a:xfrm>
                        <a:off x="2374900" y="5635625"/>
                        <a:ext cx="354013" cy="246063"/>
                      </a:xfrm>
                      <a:prstGeom prst="rect">
                        <a:avLst/>
                      </a:prstGeom>
                      <a:solidFill>
                        <a:srgbClr val="D4EAE4"/>
                      </a:solidFill>
                      <a:ln>
                        <a:noFill/>
                      </a:ln>
                      <a:effectLst/>
                    </p:spPr>
                  </p:pic>
                </p:oleObj>
              </mc:Fallback>
            </mc:AlternateContent>
          </a:graphicData>
        </a:graphic>
      </p:graphicFrame>
      <p:graphicFrame>
        <p:nvGraphicFramePr>
          <p:cNvPr id="33" name="Object 32">
            <a:extLst>
              <a:ext uri="{FF2B5EF4-FFF2-40B4-BE49-F238E27FC236}">
                <a16:creationId xmlns:a16="http://schemas.microsoft.com/office/drawing/2014/main" id="{C25D5961-520A-BE56-4799-21EF1981083B}"/>
              </a:ext>
              <a:ext uri="{C183D7F6-B498-43B3-948B-1728B52AA6E4}">
                <adec:decorative xmlns:adec="http://schemas.microsoft.com/office/drawing/2017/decorative" val="1"/>
              </a:ext>
            </a:extLst>
          </p:cNvPr>
          <p:cNvGraphicFramePr>
            <a:graphicFrameLocks noChangeAspect="1"/>
          </p:cNvGraphicFramePr>
          <p:nvPr/>
        </p:nvGraphicFramePr>
        <p:xfrm>
          <a:off x="4203541" y="5605463"/>
          <a:ext cx="736918" cy="279400"/>
        </p:xfrm>
        <a:graphic>
          <a:graphicData uri="http://schemas.openxmlformats.org/presentationml/2006/ole">
            <mc:AlternateContent xmlns:mc="http://schemas.openxmlformats.org/markup-compatibility/2006">
              <mc:Choice xmlns:v="urn:schemas-microsoft-com:vml" Requires="v">
                <p:oleObj name="Equation" r:id="rId21" imgW="609480" imgH="228600" progId="Equation.DSMT4">
                  <p:embed/>
                </p:oleObj>
              </mc:Choice>
              <mc:Fallback>
                <p:oleObj name="Equation" r:id="rId21" imgW="609480" imgH="228600" progId="Equation.DSMT4">
                  <p:embed/>
                  <p:pic>
                    <p:nvPicPr>
                      <p:cNvPr id="33" name="Object 32">
                        <a:extLst>
                          <a:ext uri="{FF2B5EF4-FFF2-40B4-BE49-F238E27FC236}">
                            <a16:creationId xmlns:a16="http://schemas.microsoft.com/office/drawing/2014/main" id="{C25D5961-520A-BE56-4799-21EF1981083B}"/>
                          </a:ext>
                          <a:ext uri="{C183D7F6-B498-43B3-948B-1728B52AA6E4}">
                            <adec:decorative xmlns:adec="http://schemas.microsoft.com/office/drawing/2017/decorative" val="1"/>
                          </a:ext>
                        </a:extLst>
                      </p:cNvPr>
                      <p:cNvPicPr>
                        <a:picLocks noChangeAspect="1" noChangeArrowheads="1"/>
                      </p:cNvPicPr>
                      <p:nvPr/>
                    </p:nvPicPr>
                    <p:blipFill>
                      <a:blip r:embed="rId22"/>
                      <a:srcRect/>
                      <a:stretch>
                        <a:fillRect/>
                      </a:stretch>
                    </p:blipFill>
                    <p:spPr bwMode="auto">
                      <a:xfrm>
                        <a:off x="4203541" y="5605463"/>
                        <a:ext cx="736918" cy="279400"/>
                      </a:xfrm>
                      <a:prstGeom prst="rect">
                        <a:avLst/>
                      </a:prstGeom>
                      <a:solidFill>
                        <a:srgbClr val="D4EAE4"/>
                      </a:solidFill>
                      <a:ln>
                        <a:noFill/>
                      </a:ln>
                      <a:effectLst/>
                    </p:spPr>
                  </p:pic>
                </p:oleObj>
              </mc:Fallback>
            </mc:AlternateContent>
          </a:graphicData>
        </a:graphic>
      </p:graphicFrame>
    </p:spTree>
    <p:extLst>
      <p:ext uri="{BB962C8B-B14F-4D97-AF65-F5344CB8AC3E}">
        <p14:creationId xmlns:p14="http://schemas.microsoft.com/office/powerpoint/2010/main" val="2202274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0474" y="205366"/>
            <a:ext cx="8229600" cy="1144347"/>
          </a:xfrm>
        </p:spPr>
        <p:txBody>
          <a:bodyPr/>
          <a:lstStyle/>
          <a:p>
            <a:r>
              <a:rPr lang="en-US" noProof="0" dirty="0"/>
              <a:t>Chapter 4 – techniques of circuit analysis </a:t>
            </a:r>
            <a:r>
              <a:rPr lang="en-US" sz="2800" noProof="0" dirty="0"/>
              <a:t>(7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1400"/>
            <a:ext cx="8229600" cy="713460"/>
          </a:xfrm>
        </p:spPr>
        <p:txBody>
          <a:bodyPr wrap="square" lIns="0" tIns="18000" rIns="0" bIns="18000" anchor="ctr">
            <a:spAutoFit/>
          </a:bodyPr>
          <a:lstStyle/>
          <a:p>
            <a:pPr marL="0" indent="0">
              <a:spcBef>
                <a:spcPts val="600"/>
              </a:spcBef>
              <a:buNone/>
            </a:pPr>
            <a:r>
              <a:rPr lang="en-US" altLang="en-US" sz="2200" noProof="0" dirty="0"/>
              <a:t>If you were asked to use the Node Voltage method, how many equations would you write and solve?</a:t>
            </a:r>
            <a:endParaRPr lang="en-US" sz="2200" noProof="0" dirty="0"/>
          </a:p>
        </p:txBody>
      </p:sp>
      <p:pic>
        <p:nvPicPr>
          <p:cNvPr id="2" name="Picture 1"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10;">
            <a:extLst>
              <a:ext uri="{FF2B5EF4-FFF2-40B4-BE49-F238E27FC236}">
                <a16:creationId xmlns:a16="http://schemas.microsoft.com/office/drawing/2014/main" id="{6FDBF8CA-C6EC-DC3C-67FD-64D91C91F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437" y="2472504"/>
            <a:ext cx="3612850" cy="1688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59380" y="4388862"/>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A. </a:t>
            </a:r>
            <a:r>
              <a:rPr lang="en-US" sz="2200" noProof="0" dirty="0"/>
              <a:t>3 </a:t>
            </a:r>
            <a:r>
              <a:rPr lang="en-US" sz="2200" spc="-250" noProof="0" dirty="0"/>
              <a:t>K C </a:t>
            </a:r>
            <a:r>
              <a:rPr lang="en-US" sz="2200" noProof="0" dirty="0"/>
              <a:t>L, 0 constraint</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59380" y="4871552"/>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B. </a:t>
            </a:r>
            <a:r>
              <a:rPr lang="en-US" sz="2200" noProof="0" dirty="0"/>
              <a:t>2 </a:t>
            </a:r>
            <a:r>
              <a:rPr lang="en-US" sz="2200" spc="-250" noProof="0" dirty="0"/>
              <a:t>K C </a:t>
            </a:r>
            <a:r>
              <a:rPr lang="en-US" sz="2200" noProof="0" dirty="0"/>
              <a:t>L, 1 constraint</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59380" y="5371495"/>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C. </a:t>
            </a:r>
            <a:r>
              <a:rPr lang="en-US" sz="2200" noProof="0" dirty="0"/>
              <a:t>1 </a:t>
            </a:r>
            <a:r>
              <a:rPr lang="en-US" sz="2200" spc="-250" noProof="0" dirty="0"/>
              <a:t>K C </a:t>
            </a:r>
            <a:r>
              <a:rPr lang="en-US" sz="2200" noProof="0" dirty="0"/>
              <a:t>L, 2 constraint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59380" y="5835544"/>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D. </a:t>
            </a:r>
            <a:r>
              <a:rPr lang="en-US" sz="2200" noProof="0" dirty="0"/>
              <a:t>2 </a:t>
            </a:r>
            <a:r>
              <a:rPr lang="en-US" sz="2200" spc="-250" noProof="0" dirty="0"/>
              <a:t>K C </a:t>
            </a:r>
            <a:r>
              <a:rPr lang="en-US" sz="2200" noProof="0" dirty="0"/>
              <a:t>L, 0 constraint</a:t>
            </a:r>
          </a:p>
        </p:txBody>
      </p:sp>
    </p:spTree>
    <p:extLst>
      <p:ext uri="{BB962C8B-B14F-4D97-AF65-F5344CB8AC3E}">
        <p14:creationId xmlns:p14="http://schemas.microsoft.com/office/powerpoint/2010/main" val="2393985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2EA58-932D-8595-FB16-C224B4CEB7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E1B29B-F6CB-2C3A-EC48-6823BEDE7BE2}"/>
              </a:ext>
            </a:extLst>
          </p:cNvPr>
          <p:cNvSpPr>
            <a:spLocks noGrp="1"/>
          </p:cNvSpPr>
          <p:nvPr>
            <p:ph type="title"/>
          </p:nvPr>
        </p:nvSpPr>
        <p:spPr>
          <a:xfrm>
            <a:off x="410474" y="205366"/>
            <a:ext cx="8229600" cy="1144347"/>
          </a:xfrm>
        </p:spPr>
        <p:txBody>
          <a:bodyPr/>
          <a:lstStyle/>
          <a:p>
            <a:r>
              <a:rPr lang="en-US" noProof="0" dirty="0"/>
              <a:t>Chapter 4 – techniques of circuit analysis </a:t>
            </a:r>
            <a:r>
              <a:rPr lang="en-US" sz="2800" noProof="0" dirty="0"/>
              <a:t>(7 of 13)</a:t>
            </a:r>
          </a:p>
        </p:txBody>
      </p:sp>
      <p:sp>
        <p:nvSpPr>
          <p:cNvPr id="7" name="Content Placeholder 6">
            <a:extLst>
              <a:ext uri="{FF2B5EF4-FFF2-40B4-BE49-F238E27FC236}">
                <a16:creationId xmlns:a16="http://schemas.microsoft.com/office/drawing/2014/main" id="{996B5201-D752-9A24-960A-C79DFDEB4E8F}"/>
              </a:ext>
            </a:extLst>
          </p:cNvPr>
          <p:cNvSpPr>
            <a:spLocks noGrp="1"/>
          </p:cNvSpPr>
          <p:nvPr>
            <p:ph sz="quarter" idx="12"/>
          </p:nvPr>
        </p:nvSpPr>
        <p:spPr>
          <a:xfrm>
            <a:off x="429524" y="1531400"/>
            <a:ext cx="8229600" cy="713460"/>
          </a:xfrm>
        </p:spPr>
        <p:txBody>
          <a:bodyPr wrap="square" lIns="0" tIns="18000" rIns="0" bIns="18000" anchor="ctr">
            <a:spAutoFit/>
          </a:bodyPr>
          <a:lstStyle/>
          <a:p>
            <a:pPr marL="0" indent="0">
              <a:spcBef>
                <a:spcPts val="600"/>
              </a:spcBef>
              <a:buNone/>
            </a:pPr>
            <a:r>
              <a:rPr lang="en-US" altLang="en-US" sz="2200" noProof="0" dirty="0"/>
              <a:t>If you were asked to use the Node Voltage method, how many equations would you write and solve?</a:t>
            </a:r>
            <a:endParaRPr lang="en-US" sz="2200" noProof="0" dirty="0"/>
          </a:p>
        </p:txBody>
      </p:sp>
      <p:pic>
        <p:nvPicPr>
          <p:cNvPr id="2" name="Picture 1" descr="A circuit diagram shows a two layered circuit. In the lower part of the circuit, an 80 volt independent voltage source with positive polarity at the top end and negative at the bottom forms the left most wire. Connected in parallel to the 80 volt independent voltage source from left to right in that order are a 26-ohm resistor and an 8-ohm resistor. Three nodes are marked where the wires housing the 80 volt independent voltage source, the 26-ohm resistor, and the 8-ohm resistor connect to the second wire from the top in the circuit. A node is separately marked where the wire housing the 26-ohm resistor connects with the bottom wire in the circuit. A 5-ohm resistor is located between the nodes where the wires housing the 80 volt independent voltage source and the 26-ohm resistor connect to the second wire from top. A 90-ohm resistor is located between the nodes where the wires housing the 26-ohm resistor and the 8-ohm resistor connect to the second wire from top. &#10;A 30-ohm resistor forms the topmost wire in the circuit and is connected to the nodes where the wires housing the 80 volt independent voltage source and the 8-ohm resistor connect to the second wire from the top.&#10;">
            <a:extLst>
              <a:ext uri="{FF2B5EF4-FFF2-40B4-BE49-F238E27FC236}">
                <a16:creationId xmlns:a16="http://schemas.microsoft.com/office/drawing/2014/main" id="{9FEEFB39-EFD6-7A66-CB2C-F5FF17FD8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437" y="2472504"/>
            <a:ext cx="3612850" cy="1688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Cross mark">
            <a:extLst>
              <a:ext uri="{FF2B5EF4-FFF2-40B4-BE49-F238E27FC236}">
                <a16:creationId xmlns:a16="http://schemas.microsoft.com/office/drawing/2014/main" id="{AA628751-BE16-F564-350D-FED1A4DB94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415" y="444657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8D6C58AB-E0CB-9ACE-41D5-C22A16F14A54}"/>
              </a:ext>
            </a:extLst>
          </p:cNvPr>
          <p:cNvSpPr>
            <a:spLocks noGrp="1"/>
          </p:cNvSpPr>
          <p:nvPr>
            <p:ph sz="quarter" idx="13"/>
          </p:nvPr>
        </p:nvSpPr>
        <p:spPr>
          <a:xfrm>
            <a:off x="1359380" y="4388862"/>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A. </a:t>
            </a:r>
            <a:r>
              <a:rPr lang="en-US" sz="2200" noProof="0" dirty="0"/>
              <a:t>3 </a:t>
            </a:r>
            <a:r>
              <a:rPr lang="en-US" sz="2200" spc="-250" noProof="0" dirty="0"/>
              <a:t>K C </a:t>
            </a:r>
            <a:r>
              <a:rPr lang="en-US" sz="2200" noProof="0" dirty="0"/>
              <a:t>L, 0 constraint</a:t>
            </a:r>
          </a:p>
        </p:txBody>
      </p:sp>
      <p:pic>
        <p:nvPicPr>
          <p:cNvPr id="4" name="Picture 3" descr="Cross mark">
            <a:extLst>
              <a:ext uri="{FF2B5EF4-FFF2-40B4-BE49-F238E27FC236}">
                <a16:creationId xmlns:a16="http://schemas.microsoft.com/office/drawing/2014/main" id="{96AF24DA-AA48-C15C-DCA1-4078CFAFCE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415" y="4929264"/>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E4D8A5E7-7705-40C1-12CB-14E793A76D8E}"/>
              </a:ext>
            </a:extLst>
          </p:cNvPr>
          <p:cNvSpPr>
            <a:spLocks noGrp="1"/>
          </p:cNvSpPr>
          <p:nvPr>
            <p:ph sz="quarter" idx="14"/>
          </p:nvPr>
        </p:nvSpPr>
        <p:spPr>
          <a:xfrm>
            <a:off x="1359380" y="4871552"/>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B. </a:t>
            </a:r>
            <a:r>
              <a:rPr lang="en-US" sz="2200" noProof="0" dirty="0"/>
              <a:t>2 </a:t>
            </a:r>
            <a:r>
              <a:rPr lang="en-US" sz="2200" spc="-250" noProof="0" dirty="0"/>
              <a:t>K C </a:t>
            </a:r>
            <a:r>
              <a:rPr lang="en-US" sz="2200" noProof="0" dirty="0"/>
              <a:t>L, 1 constraint</a:t>
            </a:r>
          </a:p>
        </p:txBody>
      </p:sp>
      <p:pic>
        <p:nvPicPr>
          <p:cNvPr id="5" name="Picture 4" descr="Cross mark">
            <a:extLst>
              <a:ext uri="{FF2B5EF4-FFF2-40B4-BE49-F238E27FC236}">
                <a16:creationId xmlns:a16="http://schemas.microsoft.com/office/drawing/2014/main" id="{C3233777-E630-A981-83E8-0BA5CFD0C9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415" y="5429207"/>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733F5174-AA3E-4D6C-F185-30E61B574ACC}"/>
              </a:ext>
            </a:extLst>
          </p:cNvPr>
          <p:cNvSpPr>
            <a:spLocks noGrp="1"/>
          </p:cNvSpPr>
          <p:nvPr>
            <p:ph sz="quarter" idx="15"/>
          </p:nvPr>
        </p:nvSpPr>
        <p:spPr>
          <a:xfrm>
            <a:off x="1359380" y="5371495"/>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C. </a:t>
            </a:r>
            <a:r>
              <a:rPr lang="en-US" sz="2200" noProof="0" dirty="0"/>
              <a:t>1 </a:t>
            </a:r>
            <a:r>
              <a:rPr lang="en-US" sz="2200" spc="-250" noProof="0" dirty="0"/>
              <a:t>K C </a:t>
            </a:r>
            <a:r>
              <a:rPr lang="en-US" sz="2200" noProof="0" dirty="0"/>
              <a:t>L, 2 constraint</a:t>
            </a:r>
          </a:p>
        </p:txBody>
      </p:sp>
      <p:pic>
        <p:nvPicPr>
          <p:cNvPr id="25" name="Picture 24" descr="Check mark">
            <a:extLst>
              <a:ext uri="{FF2B5EF4-FFF2-40B4-BE49-F238E27FC236}">
                <a16:creationId xmlns:a16="http://schemas.microsoft.com/office/drawing/2014/main" id="{629565F4-0978-F96F-9614-BAB74F7281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0415" y="590583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C6F1A928-D862-E568-CA9C-72ED27CC581B}"/>
              </a:ext>
            </a:extLst>
          </p:cNvPr>
          <p:cNvSpPr>
            <a:spLocks noGrp="1"/>
          </p:cNvSpPr>
          <p:nvPr>
            <p:ph sz="quarter" idx="16"/>
          </p:nvPr>
        </p:nvSpPr>
        <p:spPr>
          <a:xfrm>
            <a:off x="1359380" y="5835544"/>
            <a:ext cx="3184944" cy="374906"/>
          </a:xfrm>
        </p:spPr>
        <p:txBody>
          <a:bodyPr wrap="square" lIns="0" tIns="18000" rIns="0" bIns="18000" anchor="ctr">
            <a:spAutoFit/>
          </a:bodyPr>
          <a:lstStyle/>
          <a:p>
            <a:pPr marL="0" indent="0">
              <a:spcBef>
                <a:spcPts val="600"/>
              </a:spcBef>
              <a:buNone/>
            </a:pPr>
            <a:r>
              <a:rPr lang="en-US" sz="2200" noProof="0" dirty="0">
                <a:solidFill>
                  <a:srgbClr val="007FA3"/>
                </a:solidFill>
              </a:rPr>
              <a:t>D. </a:t>
            </a:r>
            <a:r>
              <a:rPr lang="en-US" sz="2200" noProof="0" dirty="0"/>
              <a:t>2 </a:t>
            </a:r>
            <a:r>
              <a:rPr lang="en-US" sz="2200" spc="-250" noProof="0" dirty="0"/>
              <a:t>K C </a:t>
            </a:r>
            <a:r>
              <a:rPr lang="en-US" sz="2200" noProof="0" dirty="0"/>
              <a:t>L, 0 constraint</a:t>
            </a:r>
          </a:p>
        </p:txBody>
      </p:sp>
    </p:spTree>
    <p:extLst>
      <p:ext uri="{BB962C8B-B14F-4D97-AF65-F5344CB8AC3E}">
        <p14:creationId xmlns:p14="http://schemas.microsoft.com/office/powerpoint/2010/main" val="224508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545"/>
            <a:ext cx="8229600" cy="1144347"/>
          </a:xfrm>
        </p:spPr>
        <p:txBody>
          <a:bodyPr/>
          <a:lstStyle/>
          <a:p>
            <a:r>
              <a:rPr lang="en-US" noProof="0" dirty="0"/>
              <a:t>Chapter 4 – techniques of circuit analysis </a:t>
            </a:r>
            <a:r>
              <a:rPr lang="en-US" sz="2800" noProof="0" dirty="0"/>
              <a:t>(8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4813" y="1485172"/>
            <a:ext cx="8232775" cy="1744511"/>
          </a:xfrm>
        </p:spPr>
        <p:txBody>
          <a:bodyPr wrap="square" lIns="0" tIns="18000" rIns="0" bIns="18000" anchor="ctr">
            <a:spAutoFit/>
          </a:bodyPr>
          <a:lstStyle/>
          <a:p>
            <a:pPr marL="342900" indent="-342900"/>
            <a:r>
              <a:rPr lang="en-US" altLang="en-US" sz="2400" noProof="0" dirty="0"/>
              <a:t>Mesh current method, special cases:</a:t>
            </a:r>
          </a:p>
          <a:p>
            <a:pPr marL="829818" lvl="1" indent="-342900"/>
            <a:r>
              <a:rPr lang="en-US" altLang="en-US" sz="2400" noProof="0" dirty="0"/>
              <a:t>Dependent sources</a:t>
            </a:r>
          </a:p>
          <a:p>
            <a:pPr marL="829818" lvl="1" indent="-342900"/>
            <a:r>
              <a:rPr lang="en-US" altLang="en-US" sz="2400" noProof="0" dirty="0"/>
              <a:t>Current source on the perimeter of a mesh</a:t>
            </a:r>
          </a:p>
          <a:p>
            <a:pPr marL="829818" lvl="1" indent="-342900"/>
            <a:r>
              <a:rPr lang="en-US" altLang="en-US" sz="2400" noProof="0" dirty="0"/>
              <a:t>Current source shared between two meshes</a:t>
            </a:r>
            <a:endParaRPr lang="en-US" sz="2400" noProof="0" dirty="0"/>
          </a:p>
        </p:txBody>
      </p:sp>
    </p:spTree>
    <p:extLst>
      <p:ext uri="{BB962C8B-B14F-4D97-AF65-F5344CB8AC3E}">
        <p14:creationId xmlns:p14="http://schemas.microsoft.com/office/powerpoint/2010/main" val="1932548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545"/>
            <a:ext cx="8229600" cy="1144347"/>
          </a:xfrm>
        </p:spPr>
        <p:txBody>
          <a:bodyPr/>
          <a:lstStyle/>
          <a:p>
            <a:r>
              <a:rPr lang="en-US" noProof="0" dirty="0"/>
              <a:t>Chapter 4 – techniques of circuit analysis </a:t>
            </a:r>
            <a:r>
              <a:rPr lang="en-US" sz="2800" noProof="0" dirty="0"/>
              <a:t>(9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11162" y="1508934"/>
            <a:ext cx="8258175" cy="4560667"/>
          </a:xfrm>
        </p:spPr>
        <p:txBody>
          <a:bodyPr wrap="square" lIns="0" tIns="18000" rIns="0" bIns="18000" anchor="ctr">
            <a:spAutoFit/>
          </a:bodyPr>
          <a:lstStyle/>
          <a:p>
            <a:pPr marL="342900" indent="-342900">
              <a:spcBef>
                <a:spcPts val="600"/>
              </a:spcBef>
            </a:pPr>
            <a:r>
              <a:rPr lang="en-US" sz="2200" noProof="0" dirty="0"/>
              <a:t>Modify the mesh current analysis method to handle circuits with dependent sources:</a:t>
            </a:r>
          </a:p>
          <a:p>
            <a:pPr marL="829818" lvl="1" indent="-342900"/>
            <a:r>
              <a:rPr lang="en-US" sz="2200" noProof="0" dirty="0"/>
              <a:t>Step 1 – Identify the meshes with curved directed arrows that follow the perimeter of each mesh.</a:t>
            </a:r>
          </a:p>
          <a:p>
            <a:pPr marL="829818" lvl="1" indent="-342900"/>
            <a:r>
              <a:rPr lang="en-US" sz="2200" noProof="0" dirty="0"/>
              <a:t>Step 2 – Label the mesh currents for each mesh.</a:t>
            </a:r>
          </a:p>
          <a:p>
            <a:pPr marL="829818" lvl="1" indent="-342900"/>
            <a:r>
              <a:rPr lang="en-US" sz="2200" noProof="0" dirty="0"/>
              <a:t>Step 3 – Write a </a:t>
            </a:r>
            <a:r>
              <a:rPr lang="en-US" sz="2200" spc="-250" noProof="0" dirty="0"/>
              <a:t>K V </a:t>
            </a:r>
            <a:r>
              <a:rPr lang="en-US" sz="2200" noProof="0" dirty="0"/>
              <a:t>L equation for each mesh.</a:t>
            </a:r>
          </a:p>
          <a:p>
            <a:pPr marL="1229868" lvl="2" indent="-342900"/>
            <a:r>
              <a:rPr lang="en-US" sz="2200" noProof="0" dirty="0">
                <a:solidFill>
                  <a:srgbClr val="007FA3"/>
                </a:solidFill>
              </a:rPr>
              <a:t>If there are dependent sources, write a dependent source constraint equation for each.</a:t>
            </a:r>
          </a:p>
          <a:p>
            <a:pPr marL="829818" lvl="1" indent="-342900"/>
            <a:r>
              <a:rPr lang="en-US" sz="2200" noProof="0" dirty="0"/>
              <a:t>Step 4 – Solve the </a:t>
            </a:r>
            <a:r>
              <a:rPr lang="en-US" sz="2200" spc="-250" noProof="0" dirty="0"/>
              <a:t>K V </a:t>
            </a:r>
            <a:r>
              <a:rPr lang="en-US" sz="2200" noProof="0" dirty="0"/>
              <a:t>L equations to find the mesh current values.</a:t>
            </a:r>
          </a:p>
          <a:p>
            <a:pPr marL="829818" lvl="1" indent="-342900"/>
            <a:r>
              <a:rPr lang="en-US" sz="2200" noProof="0" dirty="0"/>
              <a:t>Step 5 – Solve the circuit using mesh currents from Step 4 to find component currents, voltages, and power values.</a:t>
            </a:r>
          </a:p>
        </p:txBody>
      </p:sp>
    </p:spTree>
    <p:extLst>
      <p:ext uri="{BB962C8B-B14F-4D97-AF65-F5344CB8AC3E}">
        <p14:creationId xmlns:p14="http://schemas.microsoft.com/office/powerpoint/2010/main" val="2915404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9575" y="205545"/>
            <a:ext cx="8229600" cy="1144347"/>
          </a:xfrm>
        </p:spPr>
        <p:txBody>
          <a:bodyPr/>
          <a:lstStyle/>
          <a:p>
            <a:r>
              <a:rPr lang="en-US" noProof="0" dirty="0"/>
              <a:t>Chapter 4 – techniques of circuit analysis </a:t>
            </a:r>
            <a:r>
              <a:rPr lang="en-US" sz="2800" noProof="0" dirty="0"/>
              <a:t>(10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9576" y="1491924"/>
            <a:ext cx="628650" cy="405683"/>
          </a:xfrm>
        </p:spPr>
        <p:txBody>
          <a:bodyPr wrap="square" lIns="0" tIns="18000" rIns="0" bIns="18000" anchor="ctr">
            <a:spAutoFit/>
          </a:bodyPr>
          <a:lstStyle/>
          <a:p>
            <a:pPr marL="0" indent="0">
              <a:spcBef>
                <a:spcPts val="600"/>
              </a:spcBef>
              <a:buNone/>
            </a:pPr>
            <a:r>
              <a:rPr lang="en-US" altLang="en-US" sz="2400" noProof="0" dirty="0"/>
              <a:t>Find</a:t>
            </a:r>
            <a:endParaRPr lang="en-US" sz="2400" noProof="0" dirty="0"/>
          </a:p>
        </p:txBody>
      </p:sp>
      <p:graphicFrame>
        <p:nvGraphicFramePr>
          <p:cNvPr id="2" name="Object 1" descr="V subscript o.">
            <a:extLst>
              <a:ext uri="{FF2B5EF4-FFF2-40B4-BE49-F238E27FC236}">
                <a16:creationId xmlns:a16="http://schemas.microsoft.com/office/drawing/2014/main" id="{58B40A0C-35D4-5689-9965-6125ABAB854F}"/>
              </a:ext>
            </a:extLst>
          </p:cNvPr>
          <p:cNvGraphicFramePr>
            <a:graphicFrameLocks noChangeAspect="1"/>
          </p:cNvGraphicFramePr>
          <p:nvPr/>
        </p:nvGraphicFramePr>
        <p:xfrm>
          <a:off x="1061904" y="1528025"/>
          <a:ext cx="330046" cy="425338"/>
        </p:xfrm>
        <a:graphic>
          <a:graphicData uri="http://schemas.openxmlformats.org/presentationml/2006/ole">
            <mc:AlternateContent xmlns:mc="http://schemas.openxmlformats.org/markup-compatibility/2006">
              <mc:Choice xmlns:v="urn:schemas-microsoft-com:vml" Requires="v">
                <p:oleObj name="Equation" r:id="rId2" imgW="177480" imgH="228600" progId="Equation.DSMT4">
                  <p:embed/>
                </p:oleObj>
              </mc:Choice>
              <mc:Fallback>
                <p:oleObj name="Equation" r:id="rId2" imgW="177480" imgH="228600" progId="Equation.DSMT4">
                  <p:embed/>
                  <p:pic>
                    <p:nvPicPr>
                      <p:cNvPr id="2" name="Object 1" descr="V subscript o.">
                        <a:extLst>
                          <a:ext uri="{FF2B5EF4-FFF2-40B4-BE49-F238E27FC236}">
                            <a16:creationId xmlns:a16="http://schemas.microsoft.com/office/drawing/2014/main" id="{58B40A0C-35D4-5689-9965-6125ABAB854F}"/>
                          </a:ext>
                        </a:extLst>
                      </p:cNvPr>
                      <p:cNvPicPr>
                        <a:picLocks noChangeAspect="1" noChangeArrowheads="1"/>
                      </p:cNvPicPr>
                      <p:nvPr/>
                    </p:nvPicPr>
                    <p:blipFill>
                      <a:blip r:embed="rId3"/>
                      <a:srcRect/>
                      <a:stretch>
                        <a:fillRect/>
                      </a:stretch>
                    </p:blipFill>
                    <p:spPr bwMode="auto">
                      <a:xfrm>
                        <a:off x="1061904" y="1528025"/>
                        <a:ext cx="330046" cy="42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24254" y="1491923"/>
            <a:ext cx="4476750" cy="405683"/>
          </a:xfrm>
        </p:spPr>
        <p:txBody>
          <a:bodyPr wrap="square" lIns="0" tIns="18000" rIns="0" bIns="18000" anchor="ctr">
            <a:spAutoFit/>
          </a:bodyPr>
          <a:lstStyle/>
          <a:p>
            <a:pPr marL="0" indent="0">
              <a:spcBef>
                <a:spcPts val="600"/>
              </a:spcBef>
              <a:buNone/>
            </a:pPr>
            <a:r>
              <a:rPr lang="en-US" sz="2400" noProof="0" dirty="0"/>
              <a:t>using the mesh current method.</a:t>
            </a:r>
          </a:p>
        </p:txBody>
      </p:sp>
      <p:pic>
        <p:nvPicPr>
          <p:cNvPr id="3" name="Picture 2"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
            <a:extLst>
              <a:ext uri="{FF2B5EF4-FFF2-40B4-BE49-F238E27FC236}">
                <a16:creationId xmlns:a16="http://schemas.microsoft.com/office/drawing/2014/main" id="{BEF57E60-E010-5A5C-6D59-3E05CE7111B3}"/>
              </a:ext>
            </a:extLst>
          </p:cNvPr>
          <p:cNvPicPr>
            <a:picLocks noChangeAspect="1" noChangeArrowheads="1"/>
          </p:cNvPicPr>
          <p:nvPr/>
        </p:nvPicPr>
        <p:blipFill>
          <a:blip r:embed="rId4"/>
          <a:stretch>
            <a:fillRect/>
          </a:stretch>
        </p:blipFill>
        <p:spPr bwMode="auto">
          <a:xfrm>
            <a:off x="2803920" y="1988983"/>
            <a:ext cx="3174209" cy="1658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9575" y="3796974"/>
            <a:ext cx="2733675" cy="405683"/>
          </a:xfrm>
        </p:spPr>
        <p:txBody>
          <a:bodyPr wrap="square" lIns="0" tIns="18000" rIns="0" bIns="18000" anchor="ctr">
            <a:spAutoFit/>
          </a:bodyPr>
          <a:lstStyle/>
          <a:p>
            <a:pPr marL="0" indent="0">
              <a:spcBef>
                <a:spcPts val="600"/>
              </a:spcBef>
              <a:buNone/>
            </a:pPr>
            <a:r>
              <a:rPr lang="en-US" sz="2400" noProof="0" dirty="0"/>
              <a:t>After Steps 1 and 2:</a:t>
            </a:r>
          </a:p>
        </p:txBody>
      </p:sp>
      <p:pic>
        <p:nvPicPr>
          <p:cNvPr id="4" name="Picture 3"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Current i subscript 1 flows clockwise through the upper part of the circuit through the 2-ohm resistor. Current i subscript 2 flows clockwise through the lower right part of the circuit through the 8-ohm resistor and the current dependent voltage source 5i subscript theta. Current i subscript 3 flows clockwise through the lower left part of the circuit through the 6-ohm and the 8-ohm resistor. ">
            <a:extLst>
              <a:ext uri="{FF2B5EF4-FFF2-40B4-BE49-F238E27FC236}">
                <a16:creationId xmlns:a16="http://schemas.microsoft.com/office/drawing/2014/main" id="{F8095EFF-3B03-1770-382D-00A2F0A5FAC3}"/>
              </a:ext>
            </a:extLst>
          </p:cNvPr>
          <p:cNvPicPr>
            <a:picLocks noChangeAspect="1" noChangeArrowheads="1"/>
          </p:cNvPicPr>
          <p:nvPr/>
        </p:nvPicPr>
        <p:blipFill>
          <a:blip r:embed="rId5"/>
          <a:srcRect/>
          <a:stretch/>
        </p:blipFill>
        <p:spPr bwMode="auto">
          <a:xfrm>
            <a:off x="2733858" y="4246016"/>
            <a:ext cx="3211172" cy="1768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3347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1815" y="206673"/>
            <a:ext cx="8229600" cy="1144347"/>
          </a:xfrm>
        </p:spPr>
        <p:txBody>
          <a:bodyPr/>
          <a:lstStyle/>
          <a:p>
            <a:r>
              <a:rPr lang="en-US" noProof="0" dirty="0"/>
              <a:t>Chapter 4 – techniques of circuit analysis </a:t>
            </a:r>
            <a:r>
              <a:rPr lang="en-US" sz="2800" noProof="0" dirty="0"/>
              <a:t>(11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2293" y="1567226"/>
            <a:ext cx="477336" cy="313350"/>
          </a:xfrm>
        </p:spPr>
        <p:txBody>
          <a:bodyPr wrap="square" lIns="0" tIns="18000" rIns="0" bIns="18000" anchor="ctr">
            <a:spAutoFit/>
          </a:bodyPr>
          <a:lstStyle/>
          <a:p>
            <a:pPr marL="0" indent="0">
              <a:spcBef>
                <a:spcPts val="600"/>
              </a:spcBef>
              <a:buNone/>
            </a:pPr>
            <a:r>
              <a:rPr lang="en-US" sz="1800" noProof="0" dirty="0"/>
              <a:t>Find</a:t>
            </a:r>
          </a:p>
        </p:txBody>
      </p:sp>
      <p:graphicFrame>
        <p:nvGraphicFramePr>
          <p:cNvPr id="25" name="Object 24" descr="V subscript o.">
            <a:extLst>
              <a:ext uri="{FF2B5EF4-FFF2-40B4-BE49-F238E27FC236}">
                <a16:creationId xmlns:a16="http://schemas.microsoft.com/office/drawing/2014/main" id="{D7A5BD1E-3CEA-402F-AC8F-3E31C252B39A}"/>
              </a:ext>
            </a:extLst>
          </p:cNvPr>
          <p:cNvGraphicFramePr>
            <a:graphicFrameLocks noChangeAspect="1"/>
          </p:cNvGraphicFramePr>
          <p:nvPr/>
        </p:nvGraphicFramePr>
        <p:xfrm>
          <a:off x="919286" y="1547359"/>
          <a:ext cx="293901" cy="386671"/>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25" name="Object 24" descr="V subscript o.">
                        <a:extLst>
                          <a:ext uri="{FF2B5EF4-FFF2-40B4-BE49-F238E27FC236}">
                            <a16:creationId xmlns:a16="http://schemas.microsoft.com/office/drawing/2014/main" id="{D7A5BD1E-3CEA-402F-AC8F-3E31C252B39A}"/>
                          </a:ext>
                        </a:extLst>
                      </p:cNvPr>
                      <p:cNvPicPr>
                        <a:picLocks noChangeAspect="1" noChangeArrowheads="1"/>
                      </p:cNvPicPr>
                      <p:nvPr/>
                    </p:nvPicPr>
                    <p:blipFill>
                      <a:blip r:embed="rId4"/>
                      <a:srcRect/>
                      <a:stretch>
                        <a:fillRect/>
                      </a:stretch>
                    </p:blipFill>
                    <p:spPr bwMode="auto">
                      <a:xfrm>
                        <a:off x="919286" y="1547359"/>
                        <a:ext cx="293901" cy="386671"/>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262899" y="1570006"/>
            <a:ext cx="3309102" cy="313350"/>
          </a:xfrm>
        </p:spPr>
        <p:txBody>
          <a:bodyPr wrap="square" lIns="0" tIns="18000" rIns="0" bIns="18000" anchor="ctr">
            <a:spAutoFit/>
          </a:bodyPr>
          <a:lstStyle/>
          <a:p>
            <a:pPr marL="0" indent="0">
              <a:spcBef>
                <a:spcPts val="600"/>
              </a:spcBef>
              <a:buNone/>
            </a:pPr>
            <a:r>
              <a:rPr lang="en-US" sz="1800" noProof="0" dirty="0"/>
              <a:t>using the mesh current method.</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02290" y="2023091"/>
            <a:ext cx="4133850" cy="867348"/>
          </a:xfrm>
        </p:spPr>
        <p:txBody>
          <a:bodyPr wrap="square" lIns="0" tIns="18000" rIns="0" bIns="18000" anchor="ctr">
            <a:spAutoFit/>
          </a:bodyPr>
          <a:lstStyle/>
          <a:p>
            <a:pPr marL="0" indent="0">
              <a:spcBef>
                <a:spcPts val="600"/>
              </a:spcBef>
              <a:buNone/>
            </a:pPr>
            <a:r>
              <a:rPr lang="en-US" sz="1800" noProof="0" dirty="0"/>
              <a:t>Write the </a:t>
            </a:r>
            <a:r>
              <a:rPr lang="en-US" sz="1800" spc="-250" noProof="0" dirty="0"/>
              <a:t>K V </a:t>
            </a:r>
            <a:r>
              <a:rPr lang="en-US" sz="1800" noProof="0" dirty="0"/>
              <a:t>L and dependent source equations (Step 3) and solve them (Step 4).</a:t>
            </a:r>
          </a:p>
        </p:txBody>
      </p:sp>
      <p:pic>
        <p:nvPicPr>
          <p:cNvPr id="26" name="Picture 3"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Current i subscript 1 flows clockwise through the upper part of the circuit through the 2-ohm resistor. Current i subscript 2 flows clockwise through the lower right part of the circuit through the 8-ohm resistor and the current dependent voltage source 5i subscript theta. Current i subscript 3 flows clockwise through the lower left part of the circuit through the 6-ohm and the 8-ohm resistor.">
            <a:extLst>
              <a:ext uri="{FF2B5EF4-FFF2-40B4-BE49-F238E27FC236}">
                <a16:creationId xmlns:a16="http://schemas.microsoft.com/office/drawing/2014/main" id="{5BC9FE88-4599-47D5-95C6-67D2D1A1B89A}"/>
              </a:ext>
            </a:extLst>
          </p:cNvPr>
          <p:cNvPicPr>
            <a:picLocks noChangeAspect="1" noChangeArrowheads="1"/>
          </p:cNvPicPr>
          <p:nvPr/>
        </p:nvPicPr>
        <p:blipFill>
          <a:blip r:embed="rId5"/>
          <a:srcRect/>
          <a:stretch/>
        </p:blipFill>
        <p:spPr bwMode="auto">
          <a:xfrm>
            <a:off x="5178443" y="1406661"/>
            <a:ext cx="3116731" cy="171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26" descr="i subscript 1 BaseLine">
            <a:extLst>
              <a:ext uri="{FF2B5EF4-FFF2-40B4-BE49-F238E27FC236}">
                <a16:creationId xmlns:a16="http://schemas.microsoft.com/office/drawing/2014/main" id="{60FB32EB-4420-4AEF-8A4B-D971B80A953D}"/>
              </a:ext>
            </a:extLst>
          </p:cNvPr>
          <p:cNvGraphicFramePr>
            <a:graphicFrameLocks noChangeAspect="1"/>
          </p:cNvGraphicFramePr>
          <p:nvPr/>
        </p:nvGraphicFramePr>
        <p:xfrm>
          <a:off x="1957169" y="3217362"/>
          <a:ext cx="142875" cy="288925"/>
        </p:xfrm>
        <a:graphic>
          <a:graphicData uri="http://schemas.openxmlformats.org/presentationml/2006/ole">
            <mc:AlternateContent xmlns:mc="http://schemas.openxmlformats.org/markup-compatibility/2006">
              <mc:Choice xmlns:v="urn:schemas-microsoft-com:vml" Requires="v">
                <p:oleObj name="Equation" r:id="rId6" imgW="114120" imgH="228600" progId="Equation.DSMT4">
                  <p:embed/>
                </p:oleObj>
              </mc:Choice>
              <mc:Fallback>
                <p:oleObj name="Equation" r:id="rId6" imgW="114120" imgH="228600" progId="Equation.DSMT4">
                  <p:embed/>
                  <p:pic>
                    <p:nvPicPr>
                      <p:cNvPr id="27" name="Object 26" descr="i subscript 1 BaseLine">
                        <a:extLst>
                          <a:ext uri="{FF2B5EF4-FFF2-40B4-BE49-F238E27FC236}">
                            <a16:creationId xmlns:a16="http://schemas.microsoft.com/office/drawing/2014/main" id="{60FB32EB-4420-4AEF-8A4B-D971B80A953D}"/>
                          </a:ext>
                        </a:extLst>
                      </p:cNvPr>
                      <p:cNvPicPr>
                        <a:picLocks noChangeAspect="1" noChangeArrowheads="1"/>
                      </p:cNvPicPr>
                      <p:nvPr/>
                    </p:nvPicPr>
                    <p:blipFill>
                      <a:blip r:embed="rId7"/>
                      <a:srcRect/>
                      <a:stretch>
                        <a:fillRect/>
                      </a:stretch>
                    </p:blipFill>
                    <p:spPr bwMode="auto">
                      <a:xfrm>
                        <a:off x="1957169" y="3217362"/>
                        <a:ext cx="142875" cy="288925"/>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195233" y="3186545"/>
            <a:ext cx="637614"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28" name="Object 27" descr="The figure illustrates i subscript 1 BaseLine mesh equation. &#10;Long description 1 is available in notes, press F6.">
            <a:extLst>
              <a:ext uri="{FF2B5EF4-FFF2-40B4-BE49-F238E27FC236}">
                <a16:creationId xmlns:a16="http://schemas.microsoft.com/office/drawing/2014/main" id="{BB42D64C-791B-4CBA-8105-0DEEE3E586EF}"/>
              </a:ext>
            </a:extLst>
          </p:cNvPr>
          <p:cNvGraphicFramePr>
            <a:graphicFrameLocks noChangeAspect="1"/>
          </p:cNvGraphicFramePr>
          <p:nvPr/>
        </p:nvGraphicFramePr>
        <p:xfrm>
          <a:off x="2945963" y="3244151"/>
          <a:ext cx="2193925" cy="288925"/>
        </p:xfrm>
        <a:graphic>
          <a:graphicData uri="http://schemas.openxmlformats.org/presentationml/2006/ole">
            <mc:AlternateContent xmlns:mc="http://schemas.openxmlformats.org/markup-compatibility/2006">
              <mc:Choice xmlns:v="urn:schemas-microsoft-com:vml" Requires="v">
                <p:oleObj name="Equation" r:id="rId8" imgW="1765080" imgH="228600" progId="Equation.DSMT4">
                  <p:embed/>
                </p:oleObj>
              </mc:Choice>
              <mc:Fallback>
                <p:oleObj name="Equation" r:id="rId8" imgW="1765080" imgH="228600" progId="Equation.DSMT4">
                  <p:embed/>
                  <p:pic>
                    <p:nvPicPr>
                      <p:cNvPr id="28" name="Object 27" descr="The figure illustrates i subscript 1 BaseLine mesh equation. &#10;Long description 1 is available in notes, press F6.">
                        <a:extLst>
                          <a:ext uri="{FF2B5EF4-FFF2-40B4-BE49-F238E27FC236}">
                            <a16:creationId xmlns:a16="http://schemas.microsoft.com/office/drawing/2014/main" id="{BB42D64C-791B-4CBA-8105-0DEEE3E586EF}"/>
                          </a:ext>
                        </a:extLst>
                      </p:cNvPr>
                      <p:cNvPicPr>
                        <a:picLocks noChangeAspect="1" noChangeArrowheads="1"/>
                      </p:cNvPicPr>
                      <p:nvPr/>
                    </p:nvPicPr>
                    <p:blipFill>
                      <a:blip r:embed="rId9"/>
                      <a:srcRect/>
                      <a:stretch>
                        <a:fillRect/>
                      </a:stretch>
                    </p:blipFill>
                    <p:spPr bwMode="auto">
                      <a:xfrm>
                        <a:off x="2945963" y="3244151"/>
                        <a:ext cx="2193925" cy="288925"/>
                      </a:xfrm>
                      <a:prstGeom prst="rect">
                        <a:avLst/>
                      </a:prstGeom>
                      <a:noFill/>
                      <a:ln>
                        <a:noFill/>
                      </a:ln>
                      <a:effectLst/>
                    </p:spPr>
                  </p:pic>
                </p:oleObj>
              </mc:Fallback>
            </mc:AlternateContent>
          </a:graphicData>
        </a:graphic>
      </p:graphicFrame>
      <p:graphicFrame>
        <p:nvGraphicFramePr>
          <p:cNvPr id="29" name="Object 28" descr="i subscript 2 BaseLine">
            <a:extLst>
              <a:ext uri="{FF2B5EF4-FFF2-40B4-BE49-F238E27FC236}">
                <a16:creationId xmlns:a16="http://schemas.microsoft.com/office/drawing/2014/main" id="{79809445-64DF-476C-BB7A-7A2B178DAC8E}"/>
              </a:ext>
            </a:extLst>
          </p:cNvPr>
          <p:cNvGraphicFramePr>
            <a:graphicFrameLocks noChangeAspect="1"/>
          </p:cNvGraphicFramePr>
          <p:nvPr/>
        </p:nvGraphicFramePr>
        <p:xfrm>
          <a:off x="1941513" y="3622675"/>
          <a:ext cx="174625" cy="290513"/>
        </p:xfrm>
        <a:graphic>
          <a:graphicData uri="http://schemas.openxmlformats.org/presentationml/2006/ole">
            <mc:AlternateContent xmlns:mc="http://schemas.openxmlformats.org/markup-compatibility/2006">
              <mc:Choice xmlns:v="urn:schemas-microsoft-com:vml" Requires="v">
                <p:oleObj name="Equation" r:id="rId10" imgW="139680" imgH="228600" progId="Equation.DSMT4">
                  <p:embed/>
                </p:oleObj>
              </mc:Choice>
              <mc:Fallback>
                <p:oleObj name="Equation" r:id="rId10" imgW="139680" imgH="228600" progId="Equation.DSMT4">
                  <p:embed/>
                  <p:pic>
                    <p:nvPicPr>
                      <p:cNvPr id="29" name="Object 28" descr="i subscript 2 BaseLine">
                        <a:extLst>
                          <a:ext uri="{FF2B5EF4-FFF2-40B4-BE49-F238E27FC236}">
                            <a16:creationId xmlns:a16="http://schemas.microsoft.com/office/drawing/2014/main" id="{79809445-64DF-476C-BB7A-7A2B178DAC8E}"/>
                          </a:ext>
                        </a:extLst>
                      </p:cNvPr>
                      <p:cNvPicPr>
                        <a:picLocks noChangeAspect="1" noChangeArrowheads="1"/>
                      </p:cNvPicPr>
                      <p:nvPr/>
                    </p:nvPicPr>
                    <p:blipFill>
                      <a:blip r:embed="rId11"/>
                      <a:srcRect/>
                      <a:stretch>
                        <a:fillRect/>
                      </a:stretch>
                    </p:blipFill>
                    <p:spPr bwMode="auto">
                      <a:xfrm>
                        <a:off x="1941513" y="3622675"/>
                        <a:ext cx="174625" cy="290513"/>
                      </a:xfrm>
                      <a:prstGeom prst="rect">
                        <a:avLst/>
                      </a:prstGeom>
                      <a:noFill/>
                      <a:ln>
                        <a:noFill/>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2204756" y="3608015"/>
            <a:ext cx="637614"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30" name="Object 29" descr="The figure illustrates i subscript 2 BaseLine mesh equation. &#10;Long description 2 is available in notes, press F6.">
            <a:extLst>
              <a:ext uri="{FF2B5EF4-FFF2-40B4-BE49-F238E27FC236}">
                <a16:creationId xmlns:a16="http://schemas.microsoft.com/office/drawing/2014/main" id="{16DC6A27-0495-45B9-B7AD-B453E67658C6}"/>
              </a:ext>
            </a:extLst>
          </p:cNvPr>
          <p:cNvGraphicFramePr>
            <a:graphicFrameLocks noChangeAspect="1"/>
          </p:cNvGraphicFramePr>
          <p:nvPr/>
        </p:nvGraphicFramePr>
        <p:xfrm>
          <a:off x="2943225" y="3624263"/>
          <a:ext cx="2241550" cy="306387"/>
        </p:xfrm>
        <a:graphic>
          <a:graphicData uri="http://schemas.openxmlformats.org/presentationml/2006/ole">
            <mc:AlternateContent xmlns:mc="http://schemas.openxmlformats.org/markup-compatibility/2006">
              <mc:Choice xmlns:v="urn:schemas-microsoft-com:vml" Requires="v">
                <p:oleObj name="Equation" r:id="rId12" imgW="1803240" imgH="241200" progId="Equation.DSMT4">
                  <p:embed/>
                </p:oleObj>
              </mc:Choice>
              <mc:Fallback>
                <p:oleObj name="Equation" r:id="rId12" imgW="1803240" imgH="241200" progId="Equation.DSMT4">
                  <p:embed/>
                  <p:pic>
                    <p:nvPicPr>
                      <p:cNvPr id="30" name="Object 29" descr="The figure illustrates i subscript 2 BaseLine mesh equation. &#10;Long description 2 is available in notes, press F6.">
                        <a:extLst>
                          <a:ext uri="{FF2B5EF4-FFF2-40B4-BE49-F238E27FC236}">
                            <a16:creationId xmlns:a16="http://schemas.microsoft.com/office/drawing/2014/main" id="{16DC6A27-0495-45B9-B7AD-B453E67658C6}"/>
                          </a:ext>
                        </a:extLst>
                      </p:cNvPr>
                      <p:cNvPicPr>
                        <a:picLocks noChangeAspect="1" noChangeArrowheads="1"/>
                      </p:cNvPicPr>
                      <p:nvPr/>
                    </p:nvPicPr>
                    <p:blipFill>
                      <a:blip r:embed="rId13"/>
                      <a:srcRect/>
                      <a:stretch>
                        <a:fillRect/>
                      </a:stretch>
                    </p:blipFill>
                    <p:spPr bwMode="auto">
                      <a:xfrm>
                        <a:off x="2943225" y="3624263"/>
                        <a:ext cx="2241550" cy="306387"/>
                      </a:xfrm>
                      <a:prstGeom prst="rect">
                        <a:avLst/>
                      </a:prstGeom>
                      <a:noFill/>
                      <a:ln>
                        <a:noFill/>
                      </a:ln>
                      <a:effectLst/>
                    </p:spPr>
                  </p:pic>
                </p:oleObj>
              </mc:Fallback>
            </mc:AlternateContent>
          </a:graphicData>
        </a:graphic>
      </p:graphicFrame>
      <p:graphicFrame>
        <p:nvGraphicFramePr>
          <p:cNvPr id="31" name="Object 30" descr="i subscript 3 BaseLine">
            <a:extLst>
              <a:ext uri="{FF2B5EF4-FFF2-40B4-BE49-F238E27FC236}">
                <a16:creationId xmlns:a16="http://schemas.microsoft.com/office/drawing/2014/main" id="{655F5ECA-857A-42F4-BE4F-3C0BF96EB656}"/>
              </a:ext>
            </a:extLst>
          </p:cNvPr>
          <p:cNvGraphicFramePr>
            <a:graphicFrameLocks noChangeAspect="1"/>
          </p:cNvGraphicFramePr>
          <p:nvPr/>
        </p:nvGraphicFramePr>
        <p:xfrm>
          <a:off x="1957169" y="4023238"/>
          <a:ext cx="173037" cy="290513"/>
        </p:xfrm>
        <a:graphic>
          <a:graphicData uri="http://schemas.openxmlformats.org/presentationml/2006/ole">
            <mc:AlternateContent xmlns:mc="http://schemas.openxmlformats.org/markup-compatibility/2006">
              <mc:Choice xmlns:v="urn:schemas-microsoft-com:vml" Requires="v">
                <p:oleObj name="Equation" r:id="rId14" imgW="139680" imgH="228600" progId="Equation.DSMT4">
                  <p:embed/>
                </p:oleObj>
              </mc:Choice>
              <mc:Fallback>
                <p:oleObj name="Equation" r:id="rId14" imgW="139680" imgH="228600" progId="Equation.DSMT4">
                  <p:embed/>
                  <p:pic>
                    <p:nvPicPr>
                      <p:cNvPr id="31" name="Object 30" descr="i subscript 3 BaseLine">
                        <a:extLst>
                          <a:ext uri="{FF2B5EF4-FFF2-40B4-BE49-F238E27FC236}">
                            <a16:creationId xmlns:a16="http://schemas.microsoft.com/office/drawing/2014/main" id="{655F5ECA-857A-42F4-BE4F-3C0BF96EB656}"/>
                          </a:ext>
                        </a:extLst>
                      </p:cNvPr>
                      <p:cNvPicPr>
                        <a:picLocks noChangeAspect="1" noChangeArrowheads="1"/>
                      </p:cNvPicPr>
                      <p:nvPr/>
                    </p:nvPicPr>
                    <p:blipFill>
                      <a:blip r:embed="rId15"/>
                      <a:srcRect/>
                      <a:stretch>
                        <a:fillRect/>
                      </a:stretch>
                    </p:blipFill>
                    <p:spPr bwMode="auto">
                      <a:xfrm>
                        <a:off x="1957169" y="4023238"/>
                        <a:ext cx="173037" cy="290513"/>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2204757" y="4012426"/>
            <a:ext cx="637614" cy="313350"/>
          </a:xfrm>
        </p:spPr>
        <p:txBody>
          <a:bodyPr wrap="square" lIns="0" tIns="18000" rIns="0" bIns="18000" anchor="ctr">
            <a:spAutoFit/>
          </a:bodyPr>
          <a:lstStyle/>
          <a:p>
            <a:pPr marL="0" indent="0">
              <a:spcBef>
                <a:spcPts val="600"/>
              </a:spcBef>
              <a:buNone/>
            </a:pPr>
            <a:r>
              <a:rPr lang="en-US" sz="1800" noProof="0" dirty="0"/>
              <a:t>mesh:</a:t>
            </a:r>
          </a:p>
        </p:txBody>
      </p:sp>
      <p:graphicFrame>
        <p:nvGraphicFramePr>
          <p:cNvPr id="32" name="Object 31" descr="The figure illustrates i subscript 3 BaseLine mesh equation. &#10;Long description 3 is available in notes, press F6.">
            <a:extLst>
              <a:ext uri="{FF2B5EF4-FFF2-40B4-BE49-F238E27FC236}">
                <a16:creationId xmlns:a16="http://schemas.microsoft.com/office/drawing/2014/main" id="{317CA27B-18CE-4217-8FE0-0C63E53B2C6D}"/>
              </a:ext>
            </a:extLst>
          </p:cNvPr>
          <p:cNvGraphicFramePr>
            <a:graphicFrameLocks noChangeAspect="1"/>
          </p:cNvGraphicFramePr>
          <p:nvPr/>
        </p:nvGraphicFramePr>
        <p:xfrm>
          <a:off x="2928032" y="4053829"/>
          <a:ext cx="2303463" cy="290512"/>
        </p:xfrm>
        <a:graphic>
          <a:graphicData uri="http://schemas.openxmlformats.org/presentationml/2006/ole">
            <mc:AlternateContent xmlns:mc="http://schemas.openxmlformats.org/markup-compatibility/2006">
              <mc:Choice xmlns:v="urn:schemas-microsoft-com:vml" Requires="v">
                <p:oleObj name="Equation" r:id="rId16" imgW="1854000" imgH="228600" progId="Equation.DSMT4">
                  <p:embed/>
                </p:oleObj>
              </mc:Choice>
              <mc:Fallback>
                <p:oleObj name="Equation" r:id="rId16" imgW="1854000" imgH="228600" progId="Equation.DSMT4">
                  <p:embed/>
                  <p:pic>
                    <p:nvPicPr>
                      <p:cNvPr id="32" name="Object 31" descr="The figure illustrates i subscript 3 BaseLine mesh equation. &#10;Long description 3 is available in notes, press F6.">
                        <a:extLst>
                          <a:ext uri="{FF2B5EF4-FFF2-40B4-BE49-F238E27FC236}">
                            <a16:creationId xmlns:a16="http://schemas.microsoft.com/office/drawing/2014/main" id="{317CA27B-18CE-4217-8FE0-0C63E53B2C6D}"/>
                          </a:ext>
                        </a:extLst>
                      </p:cNvPr>
                      <p:cNvPicPr>
                        <a:picLocks noChangeAspect="1" noChangeArrowheads="1"/>
                      </p:cNvPicPr>
                      <p:nvPr/>
                    </p:nvPicPr>
                    <p:blipFill>
                      <a:blip r:embed="rId17"/>
                      <a:srcRect/>
                      <a:stretch>
                        <a:fillRect/>
                      </a:stretch>
                    </p:blipFill>
                    <p:spPr bwMode="auto">
                      <a:xfrm>
                        <a:off x="2928032" y="4053829"/>
                        <a:ext cx="2303463" cy="290512"/>
                      </a:xfrm>
                      <a:prstGeom prst="rect">
                        <a:avLst/>
                      </a:prstGeom>
                      <a:noFill/>
                      <a:ln>
                        <a:noFill/>
                      </a:ln>
                      <a:effec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957169" y="4450315"/>
            <a:ext cx="1087409" cy="313350"/>
          </a:xfrm>
        </p:spPr>
        <p:txBody>
          <a:bodyPr wrap="square" lIns="0" tIns="18000" rIns="0" bIns="18000" anchor="ctr">
            <a:spAutoFit/>
          </a:bodyPr>
          <a:lstStyle/>
          <a:p>
            <a:pPr marL="0" indent="0">
              <a:spcBef>
                <a:spcPts val="600"/>
              </a:spcBef>
              <a:buNone/>
            </a:pPr>
            <a:r>
              <a:rPr lang="en-US" sz="1800" noProof="0" dirty="0"/>
              <a:t>constraint:</a:t>
            </a:r>
          </a:p>
        </p:txBody>
      </p:sp>
      <p:graphicFrame>
        <p:nvGraphicFramePr>
          <p:cNvPr id="33" name="Object 32" descr="i subscript Uppercase Phi BaseLine equals i subscript 3 BaseLine.">
            <a:extLst>
              <a:ext uri="{FF2B5EF4-FFF2-40B4-BE49-F238E27FC236}">
                <a16:creationId xmlns:a16="http://schemas.microsoft.com/office/drawing/2014/main" id="{9DC9A7DE-6B79-4938-AE98-77449DE3D32A}"/>
              </a:ext>
            </a:extLst>
          </p:cNvPr>
          <p:cNvGraphicFramePr>
            <a:graphicFrameLocks noChangeAspect="1"/>
          </p:cNvGraphicFramePr>
          <p:nvPr/>
        </p:nvGraphicFramePr>
        <p:xfrm>
          <a:off x="3174066" y="4467943"/>
          <a:ext cx="514350" cy="306388"/>
        </p:xfrm>
        <a:graphic>
          <a:graphicData uri="http://schemas.openxmlformats.org/presentationml/2006/ole">
            <mc:AlternateContent xmlns:mc="http://schemas.openxmlformats.org/markup-compatibility/2006">
              <mc:Choice xmlns:v="urn:schemas-microsoft-com:vml" Requires="v">
                <p:oleObj name="Equation" r:id="rId18" imgW="406080" imgH="241200" progId="Equation.DSMT4">
                  <p:embed/>
                </p:oleObj>
              </mc:Choice>
              <mc:Fallback>
                <p:oleObj name="Equation" r:id="rId18" imgW="406080" imgH="241200" progId="Equation.DSMT4">
                  <p:embed/>
                  <p:pic>
                    <p:nvPicPr>
                      <p:cNvPr id="33" name="Object 32" descr="i subscript Uppercase Phi BaseLine equals i subscript 3 BaseLine.">
                        <a:extLst>
                          <a:ext uri="{FF2B5EF4-FFF2-40B4-BE49-F238E27FC236}">
                            <a16:creationId xmlns:a16="http://schemas.microsoft.com/office/drawing/2014/main" id="{9DC9A7DE-6B79-4938-AE98-77449DE3D32A}"/>
                          </a:ext>
                        </a:extLst>
                      </p:cNvPr>
                      <p:cNvPicPr>
                        <a:picLocks noChangeAspect="1" noChangeArrowheads="1"/>
                      </p:cNvPicPr>
                      <p:nvPr/>
                    </p:nvPicPr>
                    <p:blipFill>
                      <a:blip r:embed="rId19"/>
                      <a:srcRect/>
                      <a:stretch>
                        <a:fillRect/>
                      </a:stretch>
                    </p:blipFill>
                    <p:spPr bwMode="auto">
                      <a:xfrm>
                        <a:off x="3174066" y="4467943"/>
                        <a:ext cx="514350" cy="306388"/>
                      </a:xfrm>
                      <a:prstGeom prst="rect">
                        <a:avLst/>
                      </a:prstGeom>
                      <a:noFill/>
                      <a:ln>
                        <a:noFill/>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1957169" y="5105056"/>
            <a:ext cx="1610784" cy="313350"/>
          </a:xfrm>
        </p:spPr>
        <p:txBody>
          <a:bodyPr wrap="square" lIns="0" tIns="18000" rIns="0" bIns="18000" anchor="ctr">
            <a:spAutoFit/>
          </a:bodyPr>
          <a:lstStyle/>
          <a:p>
            <a:pPr marL="0" indent="0">
              <a:spcBef>
                <a:spcPts val="600"/>
              </a:spcBef>
              <a:buNone/>
            </a:pPr>
            <a:r>
              <a:rPr lang="en-US" sz="1800" noProof="0" dirty="0"/>
              <a:t>Standard form:</a:t>
            </a:r>
          </a:p>
        </p:txBody>
      </p:sp>
      <p:graphicFrame>
        <p:nvGraphicFramePr>
          <p:cNvPr id="34" name="Object 33" descr="The figure illustrates three standard-form equations.&#10;Long description 4 is available in notes, press F6.">
            <a:extLst>
              <a:ext uri="{FF2B5EF4-FFF2-40B4-BE49-F238E27FC236}">
                <a16:creationId xmlns:a16="http://schemas.microsoft.com/office/drawing/2014/main" id="{E41C6CF4-FCD1-4E54-B9FC-F429A7081366}"/>
              </a:ext>
            </a:extLst>
          </p:cNvPr>
          <p:cNvGraphicFramePr>
            <a:graphicFrameLocks noChangeAspect="1"/>
          </p:cNvGraphicFramePr>
          <p:nvPr/>
        </p:nvGraphicFramePr>
        <p:xfrm>
          <a:off x="3673290" y="4816129"/>
          <a:ext cx="3073400" cy="869950"/>
        </p:xfrm>
        <a:graphic>
          <a:graphicData uri="http://schemas.openxmlformats.org/presentationml/2006/ole">
            <mc:AlternateContent xmlns:mc="http://schemas.openxmlformats.org/markup-compatibility/2006">
              <mc:Choice xmlns:v="urn:schemas-microsoft-com:vml" Requires="v">
                <p:oleObj name="Equation" r:id="rId20" imgW="2425680" imgH="685800" progId="Equation.DSMT4">
                  <p:embed/>
                </p:oleObj>
              </mc:Choice>
              <mc:Fallback>
                <p:oleObj name="Equation" r:id="rId20" imgW="2425680" imgH="685800" progId="Equation.DSMT4">
                  <p:embed/>
                  <p:pic>
                    <p:nvPicPr>
                      <p:cNvPr id="34" name="Object 33" descr="The figure illustrates three standard-form equations.&#10;Long description 4 is available in notes, press F6.">
                        <a:extLst>
                          <a:ext uri="{FF2B5EF4-FFF2-40B4-BE49-F238E27FC236}">
                            <a16:creationId xmlns:a16="http://schemas.microsoft.com/office/drawing/2014/main" id="{E41C6CF4-FCD1-4E54-B9FC-F429A7081366}"/>
                          </a:ext>
                        </a:extLst>
                      </p:cNvPr>
                      <p:cNvPicPr>
                        <a:picLocks noChangeAspect="1" noChangeArrowheads="1"/>
                      </p:cNvPicPr>
                      <p:nvPr/>
                    </p:nvPicPr>
                    <p:blipFill>
                      <a:blip r:embed="rId21"/>
                      <a:srcRect/>
                      <a:stretch>
                        <a:fillRect/>
                      </a:stretch>
                    </p:blipFill>
                    <p:spPr bwMode="auto">
                      <a:xfrm>
                        <a:off x="3673290" y="4816129"/>
                        <a:ext cx="3073400" cy="869950"/>
                      </a:xfrm>
                      <a:prstGeom prst="rect">
                        <a:avLst/>
                      </a:prstGeom>
                      <a:noFill/>
                      <a:ln>
                        <a:noFill/>
                      </a:ln>
                      <a:effec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1975100" y="5828150"/>
            <a:ext cx="961898" cy="313350"/>
          </a:xfrm>
        </p:spPr>
        <p:txBody>
          <a:bodyPr wrap="square" lIns="0" tIns="18000" rIns="0" bIns="18000" anchor="ctr">
            <a:spAutoFit/>
          </a:bodyPr>
          <a:lstStyle/>
          <a:p>
            <a:pPr marL="0" indent="0">
              <a:spcBef>
                <a:spcPts val="600"/>
              </a:spcBef>
              <a:buNone/>
            </a:pPr>
            <a:r>
              <a:rPr lang="en-US" sz="1800" noProof="0" dirty="0"/>
              <a:t>Solution:</a:t>
            </a:r>
          </a:p>
        </p:txBody>
      </p:sp>
      <p:graphicFrame>
        <p:nvGraphicFramePr>
          <p:cNvPr id="35" name="Object 34" descr="i subscript 1 BaseLine equals 2.5 Amperes;">
            <a:extLst>
              <a:ext uri="{FF2B5EF4-FFF2-40B4-BE49-F238E27FC236}">
                <a16:creationId xmlns:a16="http://schemas.microsoft.com/office/drawing/2014/main" id="{B330CB64-B78C-4DA5-9E29-80237C1D5CEB}"/>
              </a:ext>
            </a:extLst>
          </p:cNvPr>
          <p:cNvGraphicFramePr>
            <a:graphicFrameLocks noChangeAspect="1"/>
          </p:cNvGraphicFramePr>
          <p:nvPr/>
        </p:nvGraphicFramePr>
        <p:xfrm>
          <a:off x="3145555" y="5857590"/>
          <a:ext cx="884237" cy="288925"/>
        </p:xfrm>
        <a:graphic>
          <a:graphicData uri="http://schemas.openxmlformats.org/presentationml/2006/ole">
            <mc:AlternateContent xmlns:mc="http://schemas.openxmlformats.org/markup-compatibility/2006">
              <mc:Choice xmlns:v="urn:schemas-microsoft-com:vml" Requires="v">
                <p:oleObj name="Equation" r:id="rId22" imgW="698400" imgH="228600" progId="Equation.DSMT4">
                  <p:embed/>
                </p:oleObj>
              </mc:Choice>
              <mc:Fallback>
                <p:oleObj name="Equation" r:id="rId22" imgW="698400" imgH="228600" progId="Equation.DSMT4">
                  <p:embed/>
                  <p:pic>
                    <p:nvPicPr>
                      <p:cNvPr id="35" name="Object 34" descr="i subscript 1 BaseLine equals 2.5 Amperes;">
                        <a:extLst>
                          <a:ext uri="{FF2B5EF4-FFF2-40B4-BE49-F238E27FC236}">
                            <a16:creationId xmlns:a16="http://schemas.microsoft.com/office/drawing/2014/main" id="{B330CB64-B78C-4DA5-9E29-80237C1D5CEB}"/>
                          </a:ext>
                        </a:extLst>
                      </p:cNvPr>
                      <p:cNvPicPr>
                        <a:picLocks noChangeAspect="1" noChangeArrowheads="1"/>
                      </p:cNvPicPr>
                      <p:nvPr/>
                    </p:nvPicPr>
                    <p:blipFill>
                      <a:blip r:embed="rId23"/>
                      <a:srcRect/>
                      <a:stretch>
                        <a:fillRect/>
                      </a:stretch>
                    </p:blipFill>
                    <p:spPr bwMode="auto">
                      <a:xfrm>
                        <a:off x="3145555" y="5857590"/>
                        <a:ext cx="884237" cy="288925"/>
                      </a:xfrm>
                      <a:prstGeom prst="rect">
                        <a:avLst/>
                      </a:prstGeom>
                      <a:noFill/>
                      <a:ln>
                        <a:noFill/>
                      </a:ln>
                      <a:effectLst/>
                    </p:spPr>
                  </p:pic>
                </p:oleObj>
              </mc:Fallback>
            </mc:AlternateContent>
          </a:graphicData>
        </a:graphic>
      </p:graphicFrame>
      <p:graphicFrame>
        <p:nvGraphicFramePr>
          <p:cNvPr id="36" name="Object 35" descr="i subscript 2 BaseLine equals 2 Amperes;">
            <a:extLst>
              <a:ext uri="{FF2B5EF4-FFF2-40B4-BE49-F238E27FC236}">
                <a16:creationId xmlns:a16="http://schemas.microsoft.com/office/drawing/2014/main" id="{4C74AFF3-42FE-4930-9648-9F0900B0937C}"/>
              </a:ext>
            </a:extLst>
          </p:cNvPr>
          <p:cNvGraphicFramePr>
            <a:graphicFrameLocks noChangeAspect="1"/>
          </p:cNvGraphicFramePr>
          <p:nvPr/>
        </p:nvGraphicFramePr>
        <p:xfrm>
          <a:off x="4147202" y="5857590"/>
          <a:ext cx="739775" cy="288925"/>
        </p:xfrm>
        <a:graphic>
          <a:graphicData uri="http://schemas.openxmlformats.org/presentationml/2006/ole">
            <mc:AlternateContent xmlns:mc="http://schemas.openxmlformats.org/markup-compatibility/2006">
              <mc:Choice xmlns:v="urn:schemas-microsoft-com:vml" Requires="v">
                <p:oleObj name="Equation" r:id="rId24" imgW="583920" imgH="228600" progId="Equation.DSMT4">
                  <p:embed/>
                </p:oleObj>
              </mc:Choice>
              <mc:Fallback>
                <p:oleObj name="Equation" r:id="rId24" imgW="583920" imgH="228600" progId="Equation.DSMT4">
                  <p:embed/>
                  <p:pic>
                    <p:nvPicPr>
                      <p:cNvPr id="36" name="Object 35" descr="i subscript 2 BaseLine equals 2 Amperes;">
                        <a:extLst>
                          <a:ext uri="{FF2B5EF4-FFF2-40B4-BE49-F238E27FC236}">
                            <a16:creationId xmlns:a16="http://schemas.microsoft.com/office/drawing/2014/main" id="{4C74AFF3-42FE-4930-9648-9F0900B0937C}"/>
                          </a:ext>
                        </a:extLst>
                      </p:cNvPr>
                      <p:cNvPicPr>
                        <a:picLocks noChangeAspect="1" noChangeArrowheads="1"/>
                      </p:cNvPicPr>
                      <p:nvPr/>
                    </p:nvPicPr>
                    <p:blipFill>
                      <a:blip r:embed="rId25"/>
                      <a:srcRect/>
                      <a:stretch>
                        <a:fillRect/>
                      </a:stretch>
                    </p:blipFill>
                    <p:spPr bwMode="auto">
                      <a:xfrm>
                        <a:off x="4147202" y="5857590"/>
                        <a:ext cx="739775" cy="288925"/>
                      </a:xfrm>
                      <a:prstGeom prst="rect">
                        <a:avLst/>
                      </a:prstGeom>
                      <a:noFill/>
                      <a:ln>
                        <a:noFill/>
                      </a:ln>
                      <a:effectLst/>
                    </p:spPr>
                  </p:pic>
                </p:oleObj>
              </mc:Fallback>
            </mc:AlternateContent>
          </a:graphicData>
        </a:graphic>
      </p:graphicFrame>
      <p:graphicFrame>
        <p:nvGraphicFramePr>
          <p:cNvPr id="37" name="Object 36" descr="i subscript 3 BaseLine equals i subscript Uppercase Phi BaseLine equals 4 Amperes.&#10;">
            <a:extLst>
              <a:ext uri="{FF2B5EF4-FFF2-40B4-BE49-F238E27FC236}">
                <a16:creationId xmlns:a16="http://schemas.microsoft.com/office/drawing/2014/main" id="{3D8095D8-98E7-4282-A8E0-69B4DCB45E0C}"/>
              </a:ext>
            </a:extLst>
          </p:cNvPr>
          <p:cNvGraphicFramePr>
            <a:graphicFrameLocks noChangeAspect="1"/>
          </p:cNvGraphicFramePr>
          <p:nvPr/>
        </p:nvGraphicFramePr>
        <p:xfrm>
          <a:off x="5021731" y="5847954"/>
          <a:ext cx="1046162" cy="306388"/>
        </p:xfrm>
        <a:graphic>
          <a:graphicData uri="http://schemas.openxmlformats.org/presentationml/2006/ole">
            <mc:AlternateContent xmlns:mc="http://schemas.openxmlformats.org/markup-compatibility/2006">
              <mc:Choice xmlns:v="urn:schemas-microsoft-com:vml" Requires="v">
                <p:oleObj name="Equation" r:id="rId26" imgW="825480" imgH="241200" progId="Equation.DSMT4">
                  <p:embed/>
                </p:oleObj>
              </mc:Choice>
              <mc:Fallback>
                <p:oleObj name="Equation" r:id="rId26" imgW="825480" imgH="241200" progId="Equation.DSMT4">
                  <p:embed/>
                  <p:pic>
                    <p:nvPicPr>
                      <p:cNvPr id="37" name="Object 36" descr="i subscript 3 BaseLine equals i subscript Uppercase Phi BaseLine equals 4 Amperes.&#10;">
                        <a:extLst>
                          <a:ext uri="{FF2B5EF4-FFF2-40B4-BE49-F238E27FC236}">
                            <a16:creationId xmlns:a16="http://schemas.microsoft.com/office/drawing/2014/main" id="{3D8095D8-98E7-4282-A8E0-69B4DCB45E0C}"/>
                          </a:ext>
                        </a:extLst>
                      </p:cNvPr>
                      <p:cNvPicPr>
                        <a:picLocks noChangeAspect="1" noChangeArrowheads="1"/>
                      </p:cNvPicPr>
                      <p:nvPr/>
                    </p:nvPicPr>
                    <p:blipFill>
                      <a:blip r:embed="rId27"/>
                      <a:srcRect/>
                      <a:stretch>
                        <a:fillRect/>
                      </a:stretch>
                    </p:blipFill>
                    <p:spPr bwMode="auto">
                      <a:xfrm>
                        <a:off x="5021731" y="5847954"/>
                        <a:ext cx="1046162" cy="3063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08412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13171" y="205364"/>
            <a:ext cx="8229600" cy="1144347"/>
          </a:xfrm>
        </p:spPr>
        <p:txBody>
          <a:bodyPr/>
          <a:lstStyle/>
          <a:p>
            <a:r>
              <a:rPr lang="en-US" noProof="0" dirty="0"/>
              <a:t>Chapter 4 – techniques of circuit analysis </a:t>
            </a:r>
            <a:r>
              <a:rPr lang="en-US" sz="2800" noProof="0" dirty="0"/>
              <a:t>(12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03647" y="1499971"/>
            <a:ext cx="191578" cy="405683"/>
          </a:xfrm>
        </p:spPr>
        <p:txBody>
          <a:bodyPr wrap="square" lIns="0" tIns="18000" rIns="0" bIns="18000" anchor="ctr">
            <a:spAutoFit/>
          </a:bodyPr>
          <a:lstStyle/>
          <a:p>
            <a:pPr marL="0" indent="0">
              <a:spcBef>
                <a:spcPts val="600"/>
              </a:spcBef>
              <a:buNone/>
            </a:pPr>
            <a:r>
              <a:rPr lang="en-US" sz="2400" noProof="0" dirty="0"/>
              <a:t>If</a:t>
            </a:r>
          </a:p>
        </p:txBody>
      </p:sp>
      <p:graphicFrame>
        <p:nvGraphicFramePr>
          <p:cNvPr id="2" name="Object 1" descr="i subscript 1 BaseLine equals 2.5 Amperes,">
            <a:extLst>
              <a:ext uri="{FF2B5EF4-FFF2-40B4-BE49-F238E27FC236}">
                <a16:creationId xmlns:a16="http://schemas.microsoft.com/office/drawing/2014/main" id="{DF190592-644C-F296-0511-DC1D437C1CD3}"/>
              </a:ext>
            </a:extLst>
          </p:cNvPr>
          <p:cNvGraphicFramePr>
            <a:graphicFrameLocks noChangeAspect="1"/>
          </p:cNvGraphicFramePr>
          <p:nvPr/>
        </p:nvGraphicFramePr>
        <p:xfrm>
          <a:off x="622300" y="1555750"/>
          <a:ext cx="1092200" cy="384175"/>
        </p:xfrm>
        <a:graphic>
          <a:graphicData uri="http://schemas.openxmlformats.org/presentationml/2006/ole">
            <mc:AlternateContent xmlns:mc="http://schemas.openxmlformats.org/markup-compatibility/2006">
              <mc:Choice xmlns:v="urn:schemas-microsoft-com:vml" Requires="v">
                <p:oleObj name="Equation" r:id="rId2" imgW="660240" imgH="228600" progId="Equation.DSMT4">
                  <p:embed/>
                </p:oleObj>
              </mc:Choice>
              <mc:Fallback>
                <p:oleObj name="Equation" r:id="rId2" imgW="660240" imgH="228600" progId="Equation.DSMT4">
                  <p:embed/>
                  <p:pic>
                    <p:nvPicPr>
                      <p:cNvPr id="2" name="Object 1" descr="i subscript 1 BaseLine equals 2.5 Amperes,">
                        <a:extLst>
                          <a:ext uri="{FF2B5EF4-FFF2-40B4-BE49-F238E27FC236}">
                            <a16:creationId xmlns:a16="http://schemas.microsoft.com/office/drawing/2014/main" id="{DF190592-644C-F296-0511-DC1D437C1CD3}"/>
                          </a:ext>
                        </a:extLst>
                      </p:cNvPr>
                      <p:cNvPicPr>
                        <a:picLocks noChangeAspect="1" noChangeArrowheads="1"/>
                      </p:cNvPicPr>
                      <p:nvPr/>
                    </p:nvPicPr>
                    <p:blipFill>
                      <a:blip r:embed="rId3"/>
                      <a:srcRect/>
                      <a:stretch>
                        <a:fillRect/>
                      </a:stretch>
                    </p:blipFill>
                    <p:spPr bwMode="auto">
                      <a:xfrm>
                        <a:off x="622300" y="1555750"/>
                        <a:ext cx="1092200" cy="384175"/>
                      </a:xfrm>
                      <a:prstGeom prst="rect">
                        <a:avLst/>
                      </a:prstGeom>
                      <a:noFill/>
                      <a:ln>
                        <a:noFill/>
                      </a:ln>
                      <a:effectLst/>
                    </p:spPr>
                  </p:pic>
                </p:oleObj>
              </mc:Fallback>
            </mc:AlternateContent>
          </a:graphicData>
        </a:graphic>
      </p:graphicFrame>
      <p:graphicFrame>
        <p:nvGraphicFramePr>
          <p:cNvPr id="3" name="Object 2" descr="i subscript 1 BaseLine equals 2 Amperes,&#10;">
            <a:extLst>
              <a:ext uri="{FF2B5EF4-FFF2-40B4-BE49-F238E27FC236}">
                <a16:creationId xmlns:a16="http://schemas.microsoft.com/office/drawing/2014/main" id="{9ACEB089-50F7-66BF-876B-6CE071A6386F}"/>
              </a:ext>
            </a:extLst>
          </p:cNvPr>
          <p:cNvGraphicFramePr>
            <a:graphicFrameLocks noChangeAspect="1"/>
          </p:cNvGraphicFramePr>
          <p:nvPr/>
        </p:nvGraphicFramePr>
        <p:xfrm>
          <a:off x="1709738" y="1560513"/>
          <a:ext cx="923925" cy="384175"/>
        </p:xfrm>
        <a:graphic>
          <a:graphicData uri="http://schemas.openxmlformats.org/presentationml/2006/ole">
            <mc:AlternateContent xmlns:mc="http://schemas.openxmlformats.org/markup-compatibility/2006">
              <mc:Choice xmlns:v="urn:schemas-microsoft-com:vml" Requires="v">
                <p:oleObj name="Equation" r:id="rId4" imgW="558720" imgH="228600" progId="Equation.DSMT4">
                  <p:embed/>
                </p:oleObj>
              </mc:Choice>
              <mc:Fallback>
                <p:oleObj name="Equation" r:id="rId4" imgW="558720" imgH="228600" progId="Equation.DSMT4">
                  <p:embed/>
                  <p:pic>
                    <p:nvPicPr>
                      <p:cNvPr id="3" name="Object 2" descr="i subscript 1 BaseLine equals 2 Amperes,&#10;">
                        <a:extLst>
                          <a:ext uri="{FF2B5EF4-FFF2-40B4-BE49-F238E27FC236}">
                            <a16:creationId xmlns:a16="http://schemas.microsoft.com/office/drawing/2014/main" id="{9ACEB089-50F7-66BF-876B-6CE071A6386F}"/>
                          </a:ext>
                        </a:extLst>
                      </p:cNvPr>
                      <p:cNvPicPr>
                        <a:picLocks noChangeAspect="1" noChangeArrowheads="1"/>
                      </p:cNvPicPr>
                      <p:nvPr/>
                    </p:nvPicPr>
                    <p:blipFill>
                      <a:blip r:embed="rId5"/>
                      <a:srcRect/>
                      <a:stretch>
                        <a:fillRect/>
                      </a:stretch>
                    </p:blipFill>
                    <p:spPr bwMode="auto">
                      <a:xfrm>
                        <a:off x="1709738" y="1560513"/>
                        <a:ext cx="923925" cy="384175"/>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647238" y="1499971"/>
            <a:ext cx="528008" cy="405683"/>
          </a:xfrm>
        </p:spPr>
        <p:txBody>
          <a:bodyPr wrap="square" lIns="0" tIns="18000" rIns="0" bIns="18000" anchor="ctr">
            <a:spAutoFit/>
          </a:bodyPr>
          <a:lstStyle/>
          <a:p>
            <a:pPr marL="0" indent="0">
              <a:spcBef>
                <a:spcPts val="600"/>
              </a:spcBef>
              <a:buNone/>
            </a:pPr>
            <a:r>
              <a:rPr lang="en-US" sz="2400" noProof="0" dirty="0"/>
              <a:t>and</a:t>
            </a:r>
          </a:p>
        </p:txBody>
      </p:sp>
      <p:graphicFrame>
        <p:nvGraphicFramePr>
          <p:cNvPr id="4" name="Object 3" descr="i subscript 3 BaseLine equals 4 Amperes.">
            <a:extLst>
              <a:ext uri="{FF2B5EF4-FFF2-40B4-BE49-F238E27FC236}">
                <a16:creationId xmlns:a16="http://schemas.microsoft.com/office/drawing/2014/main" id="{4BA7A01E-8214-7A02-4951-9FDCB8C82F9C}"/>
              </a:ext>
            </a:extLst>
          </p:cNvPr>
          <p:cNvGraphicFramePr>
            <a:graphicFrameLocks noChangeAspect="1"/>
          </p:cNvGraphicFramePr>
          <p:nvPr/>
        </p:nvGraphicFramePr>
        <p:xfrm>
          <a:off x="3200400" y="1560513"/>
          <a:ext cx="884238" cy="384175"/>
        </p:xfrm>
        <a:graphic>
          <a:graphicData uri="http://schemas.openxmlformats.org/presentationml/2006/ole">
            <mc:AlternateContent xmlns:mc="http://schemas.openxmlformats.org/markup-compatibility/2006">
              <mc:Choice xmlns:v="urn:schemas-microsoft-com:vml" Requires="v">
                <p:oleObj name="Equation" r:id="rId6" imgW="533160" imgH="228600" progId="Equation.DSMT4">
                  <p:embed/>
                </p:oleObj>
              </mc:Choice>
              <mc:Fallback>
                <p:oleObj name="Equation" r:id="rId6" imgW="533160" imgH="228600" progId="Equation.DSMT4">
                  <p:embed/>
                  <p:pic>
                    <p:nvPicPr>
                      <p:cNvPr id="4" name="Object 3" descr="i subscript 3 BaseLine equals 4 Amperes.">
                        <a:extLst>
                          <a:ext uri="{FF2B5EF4-FFF2-40B4-BE49-F238E27FC236}">
                            <a16:creationId xmlns:a16="http://schemas.microsoft.com/office/drawing/2014/main" id="{4BA7A01E-8214-7A02-4951-9FDCB8C82F9C}"/>
                          </a:ext>
                        </a:extLst>
                      </p:cNvPr>
                      <p:cNvPicPr>
                        <a:picLocks noChangeAspect="1" noChangeArrowheads="1"/>
                      </p:cNvPicPr>
                      <p:nvPr/>
                    </p:nvPicPr>
                    <p:blipFill>
                      <a:blip r:embed="rId7"/>
                      <a:srcRect/>
                      <a:stretch>
                        <a:fillRect/>
                      </a:stretch>
                    </p:blipFill>
                    <p:spPr bwMode="auto">
                      <a:xfrm>
                        <a:off x="3200400" y="1560513"/>
                        <a:ext cx="884238" cy="384175"/>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111690" y="1490320"/>
            <a:ext cx="493503" cy="405683"/>
          </a:xfrm>
        </p:spPr>
        <p:txBody>
          <a:bodyPr wrap="square" lIns="0" tIns="18000" rIns="0" bIns="18000" anchor="ctr">
            <a:spAutoFit/>
          </a:bodyPr>
          <a:lstStyle/>
          <a:p>
            <a:pPr marL="0" indent="0">
              <a:spcBef>
                <a:spcPts val="600"/>
              </a:spcBef>
              <a:buNone/>
            </a:pPr>
            <a:r>
              <a:rPr lang="en-US" sz="2400" noProof="0" dirty="0"/>
              <a:t>find</a:t>
            </a:r>
          </a:p>
        </p:txBody>
      </p:sp>
      <p:graphicFrame>
        <p:nvGraphicFramePr>
          <p:cNvPr id="5" name="Object 4" descr="v subscript 0 BaseLine">
            <a:extLst>
              <a:ext uri="{FF2B5EF4-FFF2-40B4-BE49-F238E27FC236}">
                <a16:creationId xmlns:a16="http://schemas.microsoft.com/office/drawing/2014/main" id="{29514F8D-2A6C-09F3-C6F2-7B5F314B1DDF}"/>
              </a:ext>
            </a:extLst>
          </p:cNvPr>
          <p:cNvGraphicFramePr>
            <a:graphicFrameLocks noChangeAspect="1"/>
          </p:cNvGraphicFramePr>
          <p:nvPr/>
        </p:nvGraphicFramePr>
        <p:xfrm>
          <a:off x="4656738" y="1535113"/>
          <a:ext cx="393700" cy="425450"/>
        </p:xfrm>
        <a:graphic>
          <a:graphicData uri="http://schemas.openxmlformats.org/presentationml/2006/ole">
            <mc:AlternateContent xmlns:mc="http://schemas.openxmlformats.org/markup-compatibility/2006">
              <mc:Choice xmlns:v="urn:schemas-microsoft-com:vml" Requires="v">
                <p:oleObj name="Equation" r:id="rId8" imgW="215640" imgH="228600" progId="Equation.DSMT4">
                  <p:embed/>
                </p:oleObj>
              </mc:Choice>
              <mc:Fallback>
                <p:oleObj name="Equation" r:id="rId8" imgW="215640" imgH="228600" progId="Equation.DSMT4">
                  <p:embed/>
                  <p:pic>
                    <p:nvPicPr>
                      <p:cNvPr id="5" name="Object 4" descr="v subscript 0 BaseLine">
                        <a:extLst>
                          <a:ext uri="{FF2B5EF4-FFF2-40B4-BE49-F238E27FC236}">
                            <a16:creationId xmlns:a16="http://schemas.microsoft.com/office/drawing/2014/main" id="{29514F8D-2A6C-09F3-C6F2-7B5F314B1DDF}"/>
                          </a:ext>
                        </a:extLst>
                      </p:cNvPr>
                      <p:cNvPicPr>
                        <a:picLocks noChangeAspect="1" noChangeArrowheads="1"/>
                      </p:cNvPicPr>
                      <p:nvPr/>
                    </p:nvPicPr>
                    <p:blipFill>
                      <a:blip r:embed="rId9"/>
                      <a:srcRect/>
                      <a:stretch>
                        <a:fillRect/>
                      </a:stretch>
                    </p:blipFill>
                    <p:spPr bwMode="auto">
                      <a:xfrm>
                        <a:off x="4656738" y="1535113"/>
                        <a:ext cx="393700" cy="425450"/>
                      </a:xfrm>
                      <a:prstGeom prst="rect">
                        <a:avLst/>
                      </a:prstGeom>
                      <a:noFill/>
                      <a:ln>
                        <a:noFill/>
                      </a:ln>
                      <a:effectLst/>
                    </p:spPr>
                  </p:pic>
                </p:oleObj>
              </mc:Fallback>
            </mc:AlternateContent>
          </a:graphicData>
        </a:graphic>
      </p:graphicFrame>
      <p:pic>
        <p:nvPicPr>
          <p:cNvPr id="25" name="Picture 3"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A current of 2.5 amperes flows clockwise through the upper part of the circuit through the 2-ohm resistor. A current of 2 amperes flows clockwise through the lower right part of the circuit through the 8-ohm resistor and the current dependent voltage source 5i subscript theta. A current of 4 amperes flows clockwise through the lower left part of the circuit through the 6-ohm and the 8-ohm resistor.">
            <a:extLst>
              <a:ext uri="{FF2B5EF4-FFF2-40B4-BE49-F238E27FC236}">
                <a16:creationId xmlns:a16="http://schemas.microsoft.com/office/drawing/2014/main" id="{271DC70C-6307-A082-B1FA-41B187B0FB05}"/>
              </a:ext>
            </a:extLst>
          </p:cNvPr>
          <p:cNvPicPr>
            <a:picLocks noChangeAspect="1" noChangeArrowheads="1"/>
          </p:cNvPicPr>
          <p:nvPr/>
        </p:nvPicPr>
        <p:blipFill>
          <a:blip r:embed="rId10"/>
          <a:srcRect/>
          <a:stretch/>
        </p:blipFill>
        <p:spPr bwMode="auto">
          <a:xfrm>
            <a:off x="2509945" y="2067876"/>
            <a:ext cx="3547132" cy="195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837889" y="4310968"/>
            <a:ext cx="1008828"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16 V</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837889" y="4772081"/>
            <a:ext cx="1008828"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32 V</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837889" y="5233194"/>
            <a:ext cx="88169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 V</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834025" y="5689814"/>
            <a:ext cx="1301749" cy="405683"/>
          </a:xfrm>
        </p:spPr>
        <p:txBody>
          <a:bodyPr wrap="square" lIns="0" tIns="18000" rIns="0" bIns="18000" anchor="ctr">
            <a:spAutoFit/>
          </a:bodyPr>
          <a:lstStyle/>
          <a:p>
            <a:pPr marL="0" indent="0">
              <a:spcBef>
                <a:spcPts val="600"/>
              </a:spcBef>
              <a:buNone/>
            </a:pPr>
            <a:r>
              <a:rPr lang="en-US" sz="2400" noProof="0" dirty="0">
                <a:solidFill>
                  <a:srgbClr val="007FA3"/>
                </a:solidFill>
                <a:latin typeface="Arial" panose="020B0604020202020204" pitchFamily="34" charset="0"/>
                <a:cs typeface="Arial" panose="020B0604020202020204" pitchFamily="34" charset="0"/>
              </a:rPr>
              <a:t>D.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sz="2400" noProof="0" dirty="0">
                <a:latin typeface="Arial" panose="020B0604020202020204" pitchFamily="34" charset="0"/>
                <a:cs typeface="Arial" panose="020B0604020202020204" pitchFamily="34" charset="0"/>
              </a:rPr>
              <a:t>16 V</a:t>
            </a:r>
          </a:p>
        </p:txBody>
      </p:sp>
    </p:spTree>
    <p:extLst>
      <p:ext uri="{BB962C8B-B14F-4D97-AF65-F5344CB8AC3E}">
        <p14:creationId xmlns:p14="http://schemas.microsoft.com/office/powerpoint/2010/main" val="3971867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AFBC-5BBA-96AF-9D78-8D24A08EFD9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94FF18C-81F0-0697-9D1C-4D7E25ABA20B}"/>
              </a:ext>
            </a:extLst>
          </p:cNvPr>
          <p:cNvSpPr>
            <a:spLocks noGrp="1"/>
          </p:cNvSpPr>
          <p:nvPr>
            <p:ph type="title"/>
          </p:nvPr>
        </p:nvSpPr>
        <p:spPr>
          <a:xfrm>
            <a:off x="413171" y="205364"/>
            <a:ext cx="8229600" cy="1144347"/>
          </a:xfrm>
        </p:spPr>
        <p:txBody>
          <a:bodyPr/>
          <a:lstStyle/>
          <a:p>
            <a:r>
              <a:rPr lang="en-US" noProof="0" dirty="0"/>
              <a:t>Chapter 4 – techniques of circuit analysis </a:t>
            </a:r>
            <a:r>
              <a:rPr lang="en-US" sz="2800" noProof="0" dirty="0"/>
              <a:t>(12 of 13)</a:t>
            </a:r>
          </a:p>
        </p:txBody>
      </p:sp>
      <p:sp>
        <p:nvSpPr>
          <p:cNvPr id="7" name="Content Placeholder 6">
            <a:extLst>
              <a:ext uri="{FF2B5EF4-FFF2-40B4-BE49-F238E27FC236}">
                <a16:creationId xmlns:a16="http://schemas.microsoft.com/office/drawing/2014/main" id="{A2EC87F2-CFB6-A5BC-09E4-B61EA0F26F2B}"/>
              </a:ext>
            </a:extLst>
          </p:cNvPr>
          <p:cNvSpPr>
            <a:spLocks noGrp="1"/>
          </p:cNvSpPr>
          <p:nvPr>
            <p:ph sz="quarter" idx="12"/>
          </p:nvPr>
        </p:nvSpPr>
        <p:spPr>
          <a:xfrm>
            <a:off x="403647" y="1499971"/>
            <a:ext cx="191578" cy="405683"/>
          </a:xfrm>
        </p:spPr>
        <p:txBody>
          <a:bodyPr wrap="square" lIns="0" tIns="18000" rIns="0" bIns="18000" anchor="ctr">
            <a:spAutoFit/>
          </a:bodyPr>
          <a:lstStyle/>
          <a:p>
            <a:pPr marL="0" indent="0">
              <a:spcBef>
                <a:spcPts val="600"/>
              </a:spcBef>
              <a:buNone/>
            </a:pPr>
            <a:r>
              <a:rPr lang="en-US" sz="2400" noProof="0" dirty="0"/>
              <a:t>If</a:t>
            </a:r>
          </a:p>
        </p:txBody>
      </p:sp>
      <p:graphicFrame>
        <p:nvGraphicFramePr>
          <p:cNvPr id="2" name="Object 1" descr="i subscript 1 BaseLine equals 2.5 Amperes,">
            <a:extLst>
              <a:ext uri="{FF2B5EF4-FFF2-40B4-BE49-F238E27FC236}">
                <a16:creationId xmlns:a16="http://schemas.microsoft.com/office/drawing/2014/main" id="{8D115E8B-090A-CF84-AFCE-41E7EF213DCA}"/>
              </a:ext>
            </a:extLst>
          </p:cNvPr>
          <p:cNvGraphicFramePr>
            <a:graphicFrameLocks noChangeAspect="1"/>
          </p:cNvGraphicFramePr>
          <p:nvPr/>
        </p:nvGraphicFramePr>
        <p:xfrm>
          <a:off x="622300" y="1555750"/>
          <a:ext cx="1092200" cy="384175"/>
        </p:xfrm>
        <a:graphic>
          <a:graphicData uri="http://schemas.openxmlformats.org/presentationml/2006/ole">
            <mc:AlternateContent xmlns:mc="http://schemas.openxmlformats.org/markup-compatibility/2006">
              <mc:Choice xmlns:v="urn:schemas-microsoft-com:vml" Requires="v">
                <p:oleObj name="Equation" r:id="rId2" imgW="660240" imgH="228600" progId="Equation.DSMT4">
                  <p:embed/>
                </p:oleObj>
              </mc:Choice>
              <mc:Fallback>
                <p:oleObj name="Equation" r:id="rId2" imgW="660240" imgH="228600" progId="Equation.DSMT4">
                  <p:embed/>
                  <p:pic>
                    <p:nvPicPr>
                      <p:cNvPr id="2" name="Object 1" descr="i subscript 1 BaseLine equals 2.5 Amperes,">
                        <a:extLst>
                          <a:ext uri="{FF2B5EF4-FFF2-40B4-BE49-F238E27FC236}">
                            <a16:creationId xmlns:a16="http://schemas.microsoft.com/office/drawing/2014/main" id="{DF190592-644C-F296-0511-DC1D437C1CD3}"/>
                          </a:ext>
                        </a:extLst>
                      </p:cNvPr>
                      <p:cNvPicPr>
                        <a:picLocks noChangeAspect="1" noChangeArrowheads="1"/>
                      </p:cNvPicPr>
                      <p:nvPr/>
                    </p:nvPicPr>
                    <p:blipFill>
                      <a:blip r:embed="rId3"/>
                      <a:srcRect/>
                      <a:stretch>
                        <a:fillRect/>
                      </a:stretch>
                    </p:blipFill>
                    <p:spPr bwMode="auto">
                      <a:xfrm>
                        <a:off x="622300" y="1555750"/>
                        <a:ext cx="1092200" cy="384175"/>
                      </a:xfrm>
                      <a:prstGeom prst="rect">
                        <a:avLst/>
                      </a:prstGeom>
                      <a:noFill/>
                      <a:ln>
                        <a:noFill/>
                      </a:ln>
                      <a:effectLst/>
                    </p:spPr>
                  </p:pic>
                </p:oleObj>
              </mc:Fallback>
            </mc:AlternateContent>
          </a:graphicData>
        </a:graphic>
      </p:graphicFrame>
      <p:graphicFrame>
        <p:nvGraphicFramePr>
          <p:cNvPr id="3" name="Object 2" descr="i subscript 1 BaseLine equals 2 Amperes,&#10;">
            <a:extLst>
              <a:ext uri="{FF2B5EF4-FFF2-40B4-BE49-F238E27FC236}">
                <a16:creationId xmlns:a16="http://schemas.microsoft.com/office/drawing/2014/main" id="{53180077-F3B4-61BC-FEC2-8F53417AFCA7}"/>
              </a:ext>
            </a:extLst>
          </p:cNvPr>
          <p:cNvGraphicFramePr>
            <a:graphicFrameLocks noChangeAspect="1"/>
          </p:cNvGraphicFramePr>
          <p:nvPr/>
        </p:nvGraphicFramePr>
        <p:xfrm>
          <a:off x="1709738" y="1560513"/>
          <a:ext cx="923925" cy="384175"/>
        </p:xfrm>
        <a:graphic>
          <a:graphicData uri="http://schemas.openxmlformats.org/presentationml/2006/ole">
            <mc:AlternateContent xmlns:mc="http://schemas.openxmlformats.org/markup-compatibility/2006">
              <mc:Choice xmlns:v="urn:schemas-microsoft-com:vml" Requires="v">
                <p:oleObj name="Equation" r:id="rId4" imgW="558720" imgH="228600" progId="Equation.DSMT4">
                  <p:embed/>
                </p:oleObj>
              </mc:Choice>
              <mc:Fallback>
                <p:oleObj name="Equation" r:id="rId4" imgW="558720" imgH="228600" progId="Equation.DSMT4">
                  <p:embed/>
                  <p:pic>
                    <p:nvPicPr>
                      <p:cNvPr id="3" name="Object 2" descr="i subscript 1 BaseLine equals 2 Amperes,&#10;">
                        <a:extLst>
                          <a:ext uri="{FF2B5EF4-FFF2-40B4-BE49-F238E27FC236}">
                            <a16:creationId xmlns:a16="http://schemas.microsoft.com/office/drawing/2014/main" id="{9ACEB089-50F7-66BF-876B-6CE071A6386F}"/>
                          </a:ext>
                        </a:extLst>
                      </p:cNvPr>
                      <p:cNvPicPr>
                        <a:picLocks noChangeAspect="1" noChangeArrowheads="1"/>
                      </p:cNvPicPr>
                      <p:nvPr/>
                    </p:nvPicPr>
                    <p:blipFill>
                      <a:blip r:embed="rId5"/>
                      <a:srcRect/>
                      <a:stretch>
                        <a:fillRect/>
                      </a:stretch>
                    </p:blipFill>
                    <p:spPr bwMode="auto">
                      <a:xfrm>
                        <a:off x="1709738" y="1560513"/>
                        <a:ext cx="923925" cy="384175"/>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227392D5-F6C5-7093-7751-9B3F2CA48A96}"/>
              </a:ext>
            </a:extLst>
          </p:cNvPr>
          <p:cNvSpPr>
            <a:spLocks noGrp="1"/>
          </p:cNvSpPr>
          <p:nvPr>
            <p:ph sz="quarter" idx="13"/>
          </p:nvPr>
        </p:nvSpPr>
        <p:spPr>
          <a:xfrm>
            <a:off x="2647238" y="1499971"/>
            <a:ext cx="528008" cy="405683"/>
          </a:xfrm>
        </p:spPr>
        <p:txBody>
          <a:bodyPr wrap="square" lIns="0" tIns="18000" rIns="0" bIns="18000" anchor="ctr">
            <a:spAutoFit/>
          </a:bodyPr>
          <a:lstStyle/>
          <a:p>
            <a:pPr marL="0" indent="0">
              <a:spcBef>
                <a:spcPts val="600"/>
              </a:spcBef>
              <a:buNone/>
            </a:pPr>
            <a:r>
              <a:rPr lang="en-US" sz="2400" noProof="0" dirty="0"/>
              <a:t>and</a:t>
            </a:r>
          </a:p>
        </p:txBody>
      </p:sp>
      <p:graphicFrame>
        <p:nvGraphicFramePr>
          <p:cNvPr id="4" name="Object 3" descr="i subscript 3 BaseLine equals 4 Amperes.">
            <a:extLst>
              <a:ext uri="{FF2B5EF4-FFF2-40B4-BE49-F238E27FC236}">
                <a16:creationId xmlns:a16="http://schemas.microsoft.com/office/drawing/2014/main" id="{5C44DAD7-53D9-A270-DF29-23EC78A79BE8}"/>
              </a:ext>
            </a:extLst>
          </p:cNvPr>
          <p:cNvGraphicFramePr>
            <a:graphicFrameLocks noChangeAspect="1"/>
          </p:cNvGraphicFramePr>
          <p:nvPr/>
        </p:nvGraphicFramePr>
        <p:xfrm>
          <a:off x="3200400" y="1560513"/>
          <a:ext cx="884238" cy="384175"/>
        </p:xfrm>
        <a:graphic>
          <a:graphicData uri="http://schemas.openxmlformats.org/presentationml/2006/ole">
            <mc:AlternateContent xmlns:mc="http://schemas.openxmlformats.org/markup-compatibility/2006">
              <mc:Choice xmlns:v="urn:schemas-microsoft-com:vml" Requires="v">
                <p:oleObj name="Equation" r:id="rId6" imgW="533160" imgH="228600" progId="Equation.DSMT4">
                  <p:embed/>
                </p:oleObj>
              </mc:Choice>
              <mc:Fallback>
                <p:oleObj name="Equation" r:id="rId6" imgW="533160" imgH="228600" progId="Equation.DSMT4">
                  <p:embed/>
                  <p:pic>
                    <p:nvPicPr>
                      <p:cNvPr id="4" name="Object 3" descr="i subscript 3 BaseLine equals 4 Amperes.">
                        <a:extLst>
                          <a:ext uri="{FF2B5EF4-FFF2-40B4-BE49-F238E27FC236}">
                            <a16:creationId xmlns:a16="http://schemas.microsoft.com/office/drawing/2014/main" id="{4BA7A01E-8214-7A02-4951-9FDCB8C82F9C}"/>
                          </a:ext>
                        </a:extLst>
                      </p:cNvPr>
                      <p:cNvPicPr>
                        <a:picLocks noChangeAspect="1" noChangeArrowheads="1"/>
                      </p:cNvPicPr>
                      <p:nvPr/>
                    </p:nvPicPr>
                    <p:blipFill>
                      <a:blip r:embed="rId7"/>
                      <a:srcRect/>
                      <a:stretch>
                        <a:fillRect/>
                      </a:stretch>
                    </p:blipFill>
                    <p:spPr bwMode="auto">
                      <a:xfrm>
                        <a:off x="3200400" y="1560513"/>
                        <a:ext cx="884238" cy="384175"/>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D3615601-4A76-2EE2-DE73-4AEEB0E7F03C}"/>
              </a:ext>
            </a:extLst>
          </p:cNvPr>
          <p:cNvSpPr>
            <a:spLocks noGrp="1"/>
          </p:cNvSpPr>
          <p:nvPr>
            <p:ph sz="quarter" idx="14"/>
          </p:nvPr>
        </p:nvSpPr>
        <p:spPr>
          <a:xfrm>
            <a:off x="4111690" y="1490320"/>
            <a:ext cx="493503" cy="405683"/>
          </a:xfrm>
        </p:spPr>
        <p:txBody>
          <a:bodyPr wrap="square" lIns="0" tIns="18000" rIns="0" bIns="18000" anchor="ctr">
            <a:spAutoFit/>
          </a:bodyPr>
          <a:lstStyle/>
          <a:p>
            <a:pPr marL="0" indent="0">
              <a:spcBef>
                <a:spcPts val="600"/>
              </a:spcBef>
              <a:buNone/>
            </a:pPr>
            <a:r>
              <a:rPr lang="en-US" sz="2400" noProof="0" dirty="0"/>
              <a:t>find</a:t>
            </a:r>
          </a:p>
        </p:txBody>
      </p:sp>
      <p:graphicFrame>
        <p:nvGraphicFramePr>
          <p:cNvPr id="5" name="Object 4" descr="v subscript 0 BaseLine">
            <a:extLst>
              <a:ext uri="{FF2B5EF4-FFF2-40B4-BE49-F238E27FC236}">
                <a16:creationId xmlns:a16="http://schemas.microsoft.com/office/drawing/2014/main" id="{C815C460-8B86-7426-26D6-646544AC2791}"/>
              </a:ext>
            </a:extLst>
          </p:cNvPr>
          <p:cNvGraphicFramePr>
            <a:graphicFrameLocks noChangeAspect="1"/>
          </p:cNvGraphicFramePr>
          <p:nvPr/>
        </p:nvGraphicFramePr>
        <p:xfrm>
          <a:off x="4656738" y="1535113"/>
          <a:ext cx="393700" cy="425450"/>
        </p:xfrm>
        <a:graphic>
          <a:graphicData uri="http://schemas.openxmlformats.org/presentationml/2006/ole">
            <mc:AlternateContent xmlns:mc="http://schemas.openxmlformats.org/markup-compatibility/2006">
              <mc:Choice xmlns:v="urn:schemas-microsoft-com:vml" Requires="v">
                <p:oleObj name="Equation" r:id="rId8" imgW="215640" imgH="228600" progId="Equation.DSMT4">
                  <p:embed/>
                </p:oleObj>
              </mc:Choice>
              <mc:Fallback>
                <p:oleObj name="Equation" r:id="rId8" imgW="215640" imgH="228600" progId="Equation.DSMT4">
                  <p:embed/>
                  <p:pic>
                    <p:nvPicPr>
                      <p:cNvPr id="5" name="Object 4" descr="v subscript 0 BaseLine">
                        <a:extLst>
                          <a:ext uri="{FF2B5EF4-FFF2-40B4-BE49-F238E27FC236}">
                            <a16:creationId xmlns:a16="http://schemas.microsoft.com/office/drawing/2014/main" id="{29514F8D-2A6C-09F3-C6F2-7B5F314B1DDF}"/>
                          </a:ext>
                        </a:extLst>
                      </p:cNvPr>
                      <p:cNvPicPr>
                        <a:picLocks noChangeAspect="1" noChangeArrowheads="1"/>
                      </p:cNvPicPr>
                      <p:nvPr/>
                    </p:nvPicPr>
                    <p:blipFill>
                      <a:blip r:embed="rId9"/>
                      <a:srcRect/>
                      <a:stretch>
                        <a:fillRect/>
                      </a:stretch>
                    </p:blipFill>
                    <p:spPr bwMode="auto">
                      <a:xfrm>
                        <a:off x="4656738" y="1535113"/>
                        <a:ext cx="393700" cy="425450"/>
                      </a:xfrm>
                      <a:prstGeom prst="rect">
                        <a:avLst/>
                      </a:prstGeom>
                      <a:noFill/>
                      <a:ln>
                        <a:noFill/>
                      </a:ln>
                      <a:effectLst/>
                    </p:spPr>
                  </p:pic>
                </p:oleObj>
              </mc:Fallback>
            </mc:AlternateContent>
          </a:graphicData>
        </a:graphic>
      </p:graphicFrame>
      <p:pic>
        <p:nvPicPr>
          <p:cNvPr id="25" name="Picture 3"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A current of 2.5 amperes flows clockwise through the upper part of the circuit through the 2-ohm resistor. A current of 2 amperes flows clockwise through the lower right part of the circuit through the 8-ohm resistor and the current dependent voltage source 5i subscript theta. A current of 4 amperes flows clockwise through the lower left part of the circuit through the 6-ohm and the 8-ohm resistor.">
            <a:extLst>
              <a:ext uri="{FF2B5EF4-FFF2-40B4-BE49-F238E27FC236}">
                <a16:creationId xmlns:a16="http://schemas.microsoft.com/office/drawing/2014/main" id="{800A01DA-DC6D-5082-2FBC-3F29DB1D4187}"/>
              </a:ext>
            </a:extLst>
          </p:cNvPr>
          <p:cNvPicPr>
            <a:picLocks noChangeAspect="1" noChangeArrowheads="1"/>
          </p:cNvPicPr>
          <p:nvPr/>
        </p:nvPicPr>
        <p:blipFill>
          <a:blip r:embed="rId10"/>
          <a:srcRect/>
          <a:stretch/>
        </p:blipFill>
        <p:spPr bwMode="auto">
          <a:xfrm>
            <a:off x="2509945" y="2067876"/>
            <a:ext cx="3547132" cy="195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descr="Check mark">
            <a:extLst>
              <a:ext uri="{FF2B5EF4-FFF2-40B4-BE49-F238E27FC236}">
                <a16:creationId xmlns:a16="http://schemas.microsoft.com/office/drawing/2014/main" id="{69701BAC-4C33-4B18-3BF2-1D571F0641C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318261" y="4390688"/>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07BF2622-98CE-B3FF-41BD-20B38E8B30C3}"/>
              </a:ext>
            </a:extLst>
          </p:cNvPr>
          <p:cNvSpPr>
            <a:spLocks noGrp="1"/>
          </p:cNvSpPr>
          <p:nvPr>
            <p:ph sz="quarter" idx="15"/>
          </p:nvPr>
        </p:nvSpPr>
        <p:spPr>
          <a:xfrm>
            <a:off x="1837889" y="4310968"/>
            <a:ext cx="1008828" cy="405683"/>
          </a:xfrm>
        </p:spPr>
        <p:txBody>
          <a:bodyPr wrap="square" lIns="0" tIns="18000" rIns="0" bIns="18000" anchor="ctr">
            <a:spAutoFit/>
          </a:bodyPr>
          <a:lstStyle/>
          <a:p>
            <a:pPr marL="0" indent="0">
              <a:spcBef>
                <a:spcPts val="600"/>
              </a:spcBef>
              <a:buNone/>
            </a:pPr>
            <a:r>
              <a:rPr lang="en-US" sz="2400" noProof="0" dirty="0">
                <a:solidFill>
                  <a:srgbClr val="007FA3"/>
                </a:solidFill>
              </a:rPr>
              <a:t>A. </a:t>
            </a:r>
            <a:r>
              <a:rPr lang="en-US" sz="2400" noProof="0" dirty="0"/>
              <a:t>16 V</a:t>
            </a:r>
          </a:p>
        </p:txBody>
      </p:sp>
      <p:pic>
        <p:nvPicPr>
          <p:cNvPr id="27" name="Picture 4" descr="Cross mark">
            <a:extLst>
              <a:ext uri="{FF2B5EF4-FFF2-40B4-BE49-F238E27FC236}">
                <a16:creationId xmlns:a16="http://schemas.microsoft.com/office/drawing/2014/main" id="{CCC43120-E560-1DF1-CC41-4C6C30DC60E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18261" y="484518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817A0D57-68A5-74EB-68DD-5A8E47FA782A}"/>
              </a:ext>
            </a:extLst>
          </p:cNvPr>
          <p:cNvSpPr>
            <a:spLocks noGrp="1"/>
          </p:cNvSpPr>
          <p:nvPr>
            <p:ph sz="quarter" idx="16"/>
          </p:nvPr>
        </p:nvSpPr>
        <p:spPr>
          <a:xfrm>
            <a:off x="1837889" y="4772081"/>
            <a:ext cx="1008828"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32 V</a:t>
            </a:r>
          </a:p>
        </p:txBody>
      </p:sp>
      <p:pic>
        <p:nvPicPr>
          <p:cNvPr id="28" name="Picture 4" descr="Cross mark">
            <a:extLst>
              <a:ext uri="{FF2B5EF4-FFF2-40B4-BE49-F238E27FC236}">
                <a16:creationId xmlns:a16="http://schemas.microsoft.com/office/drawing/2014/main" id="{EC025F8D-51D9-6D9C-C0D8-BF3352877B2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16290" y="530243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Content Placeholder 11">
            <a:extLst>
              <a:ext uri="{FF2B5EF4-FFF2-40B4-BE49-F238E27FC236}">
                <a16:creationId xmlns:a16="http://schemas.microsoft.com/office/drawing/2014/main" id="{8D0D7A78-3312-CF0E-FF91-4D83FC0963BD}"/>
              </a:ext>
            </a:extLst>
          </p:cNvPr>
          <p:cNvSpPr>
            <a:spLocks noGrp="1"/>
          </p:cNvSpPr>
          <p:nvPr>
            <p:ph sz="quarter" idx="17"/>
          </p:nvPr>
        </p:nvSpPr>
        <p:spPr>
          <a:xfrm>
            <a:off x="1837889" y="5233194"/>
            <a:ext cx="881692"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2 V</a:t>
            </a:r>
          </a:p>
        </p:txBody>
      </p:sp>
      <p:pic>
        <p:nvPicPr>
          <p:cNvPr id="29" name="Picture 4" descr="Cross mark">
            <a:extLst>
              <a:ext uri="{FF2B5EF4-FFF2-40B4-BE49-F238E27FC236}">
                <a16:creationId xmlns:a16="http://schemas.microsoft.com/office/drawing/2014/main" id="{29012A69-4C68-A279-3256-CA71C477797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16290" y="5775121"/>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ontent Placeholder 12">
            <a:extLst>
              <a:ext uri="{FF2B5EF4-FFF2-40B4-BE49-F238E27FC236}">
                <a16:creationId xmlns:a16="http://schemas.microsoft.com/office/drawing/2014/main" id="{A735192A-3E12-6BEF-2C76-ED3408C0EEF4}"/>
              </a:ext>
            </a:extLst>
          </p:cNvPr>
          <p:cNvSpPr>
            <a:spLocks noGrp="1"/>
          </p:cNvSpPr>
          <p:nvPr>
            <p:ph sz="quarter" idx="18"/>
          </p:nvPr>
        </p:nvSpPr>
        <p:spPr>
          <a:xfrm>
            <a:off x="1834025" y="5689814"/>
            <a:ext cx="1301749" cy="405683"/>
          </a:xfrm>
        </p:spPr>
        <p:txBody>
          <a:bodyPr wrap="square" lIns="0" tIns="18000" rIns="0" bIns="18000" anchor="ctr">
            <a:spAutoFit/>
          </a:bodyPr>
          <a:lstStyle/>
          <a:p>
            <a:pPr marL="0" indent="0">
              <a:spcBef>
                <a:spcPts val="600"/>
              </a:spcBef>
              <a:buNone/>
            </a:pPr>
            <a:r>
              <a:rPr lang="en-US" sz="2400" noProof="0" dirty="0">
                <a:solidFill>
                  <a:srgbClr val="007FA3"/>
                </a:solidFill>
                <a:latin typeface="Arial" panose="020B0604020202020204" pitchFamily="34" charset="0"/>
                <a:cs typeface="Arial" panose="020B0604020202020204" pitchFamily="34" charset="0"/>
              </a:rPr>
              <a:t>D. </a:t>
            </a:r>
            <a:r>
              <a:rPr lang="en-US" sz="2400" noProof="0" dirty="0">
                <a:effectLst/>
                <a:latin typeface="Arial" panose="020B0604020202020204" pitchFamily="34" charset="0"/>
                <a:ea typeface="Calibri" panose="020F0502020204030204" pitchFamily="34" charset="0"/>
                <a:cs typeface="Arial" panose="020B0604020202020204" pitchFamily="34" charset="0"/>
              </a:rPr>
              <a:t>−</a:t>
            </a:r>
            <a:r>
              <a:rPr lang="en-US" sz="2400" noProof="0" dirty="0">
                <a:latin typeface="Arial" panose="020B0604020202020204" pitchFamily="34" charset="0"/>
                <a:cs typeface="Arial" panose="020B0604020202020204" pitchFamily="34" charset="0"/>
              </a:rPr>
              <a:t>16 V</a:t>
            </a:r>
          </a:p>
        </p:txBody>
      </p:sp>
    </p:spTree>
    <p:extLst>
      <p:ext uri="{BB962C8B-B14F-4D97-AF65-F5344CB8AC3E}">
        <p14:creationId xmlns:p14="http://schemas.microsoft.com/office/powerpoint/2010/main" val="2380651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04813" y="206236"/>
            <a:ext cx="8229600" cy="1144347"/>
          </a:xfrm>
        </p:spPr>
        <p:txBody>
          <a:bodyPr/>
          <a:lstStyle/>
          <a:p>
            <a:r>
              <a:rPr lang="en-US" noProof="0" dirty="0"/>
              <a:t>Chapter 4 – techniques of circuit analysis </a:t>
            </a:r>
            <a:r>
              <a:rPr lang="en-US" sz="2800" noProof="0" dirty="0"/>
              <a:t>(13 of 13)</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395289" y="1537993"/>
            <a:ext cx="4513141" cy="959681"/>
          </a:xfrm>
        </p:spPr>
        <p:txBody>
          <a:bodyPr wrap="square" lIns="0" tIns="18000" rIns="0" bIns="18000" anchor="ctr">
            <a:spAutoFit/>
          </a:bodyPr>
          <a:lstStyle/>
          <a:p>
            <a:pPr marL="0" indent="0">
              <a:spcBef>
                <a:spcPts val="600"/>
              </a:spcBef>
              <a:buNone/>
            </a:pPr>
            <a:r>
              <a:rPr lang="en-US" sz="2000" noProof="0" dirty="0"/>
              <a:t>Step 5 – Solve the circuit using mesh currents from Step 4 to find component currents, voltages, and power values.</a:t>
            </a:r>
          </a:p>
        </p:txBody>
      </p:sp>
      <p:graphicFrame>
        <p:nvGraphicFramePr>
          <p:cNvPr id="3" name="Object 2" descr="v subscript 0 BaseLine equals 8 multiplied by OpenParenthesis 4 minus 2 CloseParenthesis equals 16 Volts.">
            <a:extLst>
              <a:ext uri="{FF2B5EF4-FFF2-40B4-BE49-F238E27FC236}">
                <a16:creationId xmlns:a16="http://schemas.microsoft.com/office/drawing/2014/main" id="{9CF9F4B1-BC54-E249-80DC-EAD7DFBB2F1F}"/>
              </a:ext>
            </a:extLst>
          </p:cNvPr>
          <p:cNvGraphicFramePr>
            <a:graphicFrameLocks noChangeAspect="1"/>
          </p:cNvGraphicFramePr>
          <p:nvPr/>
        </p:nvGraphicFramePr>
        <p:xfrm>
          <a:off x="1032077" y="2711390"/>
          <a:ext cx="1848705" cy="338731"/>
        </p:xfrm>
        <a:graphic>
          <a:graphicData uri="http://schemas.openxmlformats.org/presentationml/2006/ole">
            <mc:AlternateContent xmlns:mc="http://schemas.openxmlformats.org/markup-compatibility/2006">
              <mc:Choice xmlns:v="urn:schemas-microsoft-com:vml" Requires="v">
                <p:oleObj name="Equation" r:id="rId2" imgW="1384200" imgH="253800" progId="Equation.DSMT4">
                  <p:embed/>
                </p:oleObj>
              </mc:Choice>
              <mc:Fallback>
                <p:oleObj name="Equation" r:id="rId2" imgW="1384200" imgH="253800" progId="Equation.DSMT4">
                  <p:embed/>
                  <p:pic>
                    <p:nvPicPr>
                      <p:cNvPr id="3" name="Object 2" descr="v subscript 0 BaseLine equals 8 multiplied by OpenParenthesis 4 minus 2 CloseParenthesis equals 16 Volts.">
                        <a:extLst>
                          <a:ext uri="{FF2B5EF4-FFF2-40B4-BE49-F238E27FC236}">
                            <a16:creationId xmlns:a16="http://schemas.microsoft.com/office/drawing/2014/main" id="{9CF9F4B1-BC54-E249-80DC-EAD7DFBB2F1F}"/>
                          </a:ext>
                        </a:extLst>
                      </p:cNvPr>
                      <p:cNvPicPr>
                        <a:picLocks noChangeAspect="1" noChangeArrowheads="1"/>
                      </p:cNvPicPr>
                      <p:nvPr/>
                    </p:nvPicPr>
                    <p:blipFill>
                      <a:blip r:embed="rId3"/>
                      <a:srcRect/>
                      <a:stretch>
                        <a:fillRect/>
                      </a:stretch>
                    </p:blipFill>
                    <p:spPr bwMode="auto">
                      <a:xfrm>
                        <a:off x="1032077" y="2711390"/>
                        <a:ext cx="1848705" cy="338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39" descr="A circuit diagram shows a two layered circuit. In the lower part of the circuit, a 25 volt independent voltage source with positive polarity at the top end and negative at the bottom forms the left most wire. Connected in parallel to the 25 volt independent voltage source from left to right in that order are an 8-ohm resistor and a current dependent voltage source 5i subscript theta with positive polarity at its top end and negative at the bottom. Three nodes are marked where the wires housing the 25 volt independent voltage source, the 8-ohm resistor, and the current dependent voltage source 5i subscript theta connect to the second wire from the top in the circuit. A node is separately marked where the wire housing the 8-ohm resistor connects with the bottom wire in the circuit. A 6-ohm resistor is located between the nodes where the wires housing the 25 volt independent voltage source and the 8-ohm resistor connect to the second wire from top. An 8-ohm resistor is located between the nodes where the wires housing the 26-ohm resistor and the 8-ohm resistor connect to the second wire from top. Current i subscript theta flows upwards through the 25 volt independent voltage source. Voltage v subscript o develops across the top and bottom nodes of the 8-ohm resistor that is parallel to the 25 volt independent voltage source.&#10;A 2-ohm resistor forms the topmost wire in the circuit and is connected to the nodes where the wires housing the 25 volt independent voltage source and the current dependent voltage source 5i subscript theta connect to the second wire from the top. &#10;A current of 2.5 amperes flows clockwise through the upper part of the circuit through the 2-ohm resistor. A current of 2 amperes flows clockwise through the lower right part of the circuit through the 8-ohm resistor and the current dependent voltage source 5i subscript theta. A current of 4 amperes flows clockwise through the lower left part of the circuit through the 6-ohm and the 8-ohm resistor.">
            <a:extLst>
              <a:ext uri="{FF2B5EF4-FFF2-40B4-BE49-F238E27FC236}">
                <a16:creationId xmlns:a16="http://schemas.microsoft.com/office/drawing/2014/main" id="{CBCB00E0-E16F-2730-D9FC-0DB9E74A29E7}"/>
              </a:ext>
            </a:extLst>
          </p:cNvPr>
          <p:cNvPicPr>
            <a:picLocks noChangeAspect="1" noChangeArrowheads="1"/>
          </p:cNvPicPr>
          <p:nvPr/>
        </p:nvPicPr>
        <p:blipFill>
          <a:blip r:embed="rId4"/>
          <a:srcRect/>
          <a:stretch/>
        </p:blipFill>
        <p:spPr bwMode="auto">
          <a:xfrm>
            <a:off x="5315709" y="1534686"/>
            <a:ext cx="3249722" cy="178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2272" y="3238285"/>
            <a:ext cx="1839224" cy="344128"/>
          </a:xfrm>
        </p:spPr>
        <p:txBody>
          <a:bodyPr wrap="square" lIns="0" tIns="18000" rIns="0" bIns="18000" anchor="ctr">
            <a:spAutoFit/>
          </a:bodyPr>
          <a:lstStyle/>
          <a:p>
            <a:pPr marL="0" indent="0">
              <a:spcBef>
                <a:spcPts val="600"/>
              </a:spcBef>
              <a:buNone/>
            </a:pPr>
            <a:r>
              <a:rPr lang="en-US" sz="2000" noProof="0" dirty="0"/>
              <a:t>Power balance:</a:t>
            </a:r>
          </a:p>
        </p:txBody>
      </p:sp>
      <p:graphicFrame>
        <p:nvGraphicFramePr>
          <p:cNvPr id="27" name="Table 26">
            <a:extLst>
              <a:ext uri="{FF2B5EF4-FFF2-40B4-BE49-F238E27FC236}">
                <a16:creationId xmlns:a16="http://schemas.microsoft.com/office/drawing/2014/main" id="{31F38383-FEB1-87AB-259C-417E641C2BD3}"/>
              </a:ext>
            </a:extLst>
          </p:cNvPr>
          <p:cNvGraphicFramePr>
            <a:graphicFrameLocks noGrp="1"/>
          </p:cNvGraphicFramePr>
          <p:nvPr/>
        </p:nvGraphicFramePr>
        <p:xfrm>
          <a:off x="1534821" y="3702510"/>
          <a:ext cx="6098877" cy="2468683"/>
        </p:xfrm>
        <a:graphic>
          <a:graphicData uri="http://schemas.openxmlformats.org/drawingml/2006/table">
            <a:tbl>
              <a:tblPr firstRow="1" bandRow="1">
                <a:tableStyleId>{3B4B98B0-60AC-42C2-AFA5-B58CD77FA1E5}</a:tableStyleId>
              </a:tblPr>
              <a:tblGrid>
                <a:gridCol w="2032959">
                  <a:extLst>
                    <a:ext uri="{9D8B030D-6E8A-4147-A177-3AD203B41FA5}">
                      <a16:colId xmlns:a16="http://schemas.microsoft.com/office/drawing/2014/main" val="20000"/>
                    </a:ext>
                  </a:extLst>
                </a:gridCol>
                <a:gridCol w="2032959">
                  <a:extLst>
                    <a:ext uri="{9D8B030D-6E8A-4147-A177-3AD203B41FA5}">
                      <a16:colId xmlns:a16="http://schemas.microsoft.com/office/drawing/2014/main" val="20001"/>
                    </a:ext>
                  </a:extLst>
                </a:gridCol>
                <a:gridCol w="2032959">
                  <a:extLst>
                    <a:ext uri="{9D8B030D-6E8A-4147-A177-3AD203B41FA5}">
                      <a16:colId xmlns:a16="http://schemas.microsoft.com/office/drawing/2014/main" val="20002"/>
                    </a:ext>
                  </a:extLst>
                </a:gridCol>
              </a:tblGrid>
              <a:tr h="352669">
                <a:tc>
                  <a:txBody>
                    <a:bodyPr/>
                    <a:lstStyle/>
                    <a:p>
                      <a:pPr algn="ctr"/>
                      <a:r>
                        <a:rPr lang="en-US" noProof="0" dirty="0">
                          <a:solidFill>
                            <a:schemeClr val="bg1"/>
                          </a:solidFill>
                          <a:latin typeface="Arial" panose="020B0604020202020204" pitchFamily="34" charset="0"/>
                          <a:cs typeface="Arial" panose="020B0604020202020204" pitchFamily="34"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algn="ctr"/>
                      <a:r>
                        <a:rPr lang="en-US" noProof="0">
                          <a:solidFill>
                            <a:schemeClr val="bg1"/>
                          </a:solidFill>
                          <a:latin typeface="Arial" panose="020B0604020202020204" pitchFamily="34" charset="0"/>
                          <a:cs typeface="Arial" panose="020B0604020202020204" pitchFamily="34" charset="0"/>
                        </a:rPr>
                        <a:t>p [W]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52669">
                <a:tc>
                  <a:txBody>
                    <a:bodyPr/>
                    <a:lstStyle/>
                    <a:p>
                      <a:pPr algn="ctr"/>
                      <a:r>
                        <a:rPr lang="en-US" noProof="0" dirty="0">
                          <a:latin typeface="Arial" panose="020B0604020202020204" pitchFamily="34" charset="0"/>
                          <a:cs typeface="Arial" panose="020B0604020202020204" pitchFamily="34" charset="0"/>
                        </a:rPr>
                        <a:t>25 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400" b="0" i="0" u="none" strike="noStrike" cap="none" noProof="0" dirty="0">
                          <a:solidFill>
                            <a:schemeClr val="tx1"/>
                          </a:solidFill>
                          <a:effectLst/>
                          <a:latin typeface="Arial" panose="020B0604020202020204" pitchFamily="34" charset="0"/>
                          <a:ea typeface="+mn-ea"/>
                          <a:cs typeface="Arial" panose="020B0604020202020204" pitchFamily="34" charset="0"/>
                          <a:sym typeface="Arial"/>
                        </a:rPr>
                        <a:t>−</a:t>
                      </a:r>
                      <a:r>
                        <a:rPr lang="en-US" noProof="0" dirty="0">
                          <a:latin typeface="Arial" panose="020B0604020202020204" pitchFamily="34" charset="0"/>
                          <a:cs typeface="Arial" panose="020B0604020202020204" pitchFamily="34" charset="0"/>
                          <a:sym typeface="Symbol"/>
                        </a:rPr>
                        <a:t>(4)(25)</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−100</a:t>
                      </a:r>
                      <a:endParaRPr lang="en-US" b="0"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526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Dep.</a:t>
                      </a:r>
                      <a:r>
                        <a:rPr lang="en-US" baseline="0" noProof="0" dirty="0">
                          <a:latin typeface="Arial" panose="020B0604020202020204" pitchFamily="34" charset="0"/>
                          <a:cs typeface="Arial" panose="020B0604020202020204" pitchFamily="34" charset="0"/>
                        </a:rPr>
                        <a:t> Source</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sym typeface="Symbol"/>
                        </a:rPr>
                        <a:t>(2) [5(4)]</a:t>
                      </a:r>
                      <a:endParaRPr lang="en-US" noProof="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a:solidFill>
                            <a:schemeClr val="bg2"/>
                          </a:solidFill>
                          <a:latin typeface="Arial" panose="020B0604020202020204" pitchFamily="34" charset="0"/>
                          <a:cs typeface="Arial" panose="020B0604020202020204" pitchFamily="34" charset="0"/>
                          <a:sym typeface="Symbol"/>
                        </a:rPr>
                        <a:t>40</a:t>
                      </a:r>
                      <a:endParaRPr lang="en-US" b="0" noProof="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52669">
                <a:tc>
                  <a:txBody>
                    <a:bodyPr/>
                    <a:lstStyle/>
                    <a:p>
                      <a:pPr algn="ctr"/>
                      <a:r>
                        <a:rPr lang="en-US" sz="100" noProof="0" dirty="0">
                          <a:latin typeface="Arial" panose="020B0604020202020204" pitchFamily="34" charset="0"/>
                          <a:cs typeface="Arial" panose="020B0604020202020204" pitchFamily="34" charset="0"/>
                        </a:rPr>
                        <a:t>6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4 minus 2.5 Close Parenthesis squared multiplied by Open Parenthesis 6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b="0" noProof="0" dirty="0">
                          <a:solidFill>
                            <a:schemeClr val="bg2"/>
                          </a:solidFill>
                          <a:latin typeface="Arial" panose="020B0604020202020204" pitchFamily="34" charset="0"/>
                          <a:cs typeface="Arial" panose="020B0604020202020204" pitchFamily="34" charset="0"/>
                          <a:sym typeface="Symbol"/>
                        </a:rPr>
                        <a:t>13.5</a:t>
                      </a:r>
                      <a:endParaRPr lang="en-US" b="1" noProof="0" dirty="0">
                        <a:solidFill>
                          <a:schemeClr val="bg2"/>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52669">
                <a:tc>
                  <a:txBody>
                    <a:bodyPr/>
                    <a:lstStyle/>
                    <a:p>
                      <a:pPr algn="ctr"/>
                      <a:r>
                        <a:rPr lang="en-US" sz="100" noProof="0" dirty="0">
                          <a:latin typeface="Arial" panose="020B0604020202020204" pitchFamily="34" charset="0"/>
                          <a:cs typeface="Arial" panose="020B0604020202020204" pitchFamily="34" charset="0"/>
                        </a:rPr>
                        <a:t>2 Ohms.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2.5 Close Parenthesis squared multiplied by Open Parenthesis 2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52669">
                <a:tc>
                  <a:txBody>
                    <a:bodyPr/>
                    <a:lstStyle/>
                    <a:p>
                      <a:pPr algn="ctr"/>
                      <a:r>
                        <a:rPr lang="en-US" sz="100" noProof="0" dirty="0">
                          <a:latin typeface="Arial" panose="020B0604020202020204" pitchFamily="34" charset="0"/>
                          <a:cs typeface="Arial" panose="020B0604020202020204" pitchFamily="34" charset="0"/>
                        </a:rPr>
                        <a:t>8 Ohms Open Parenthesis middle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sz="100" noProof="0" dirty="0">
                          <a:latin typeface="Arial" panose="020B0604020202020204" pitchFamily="34" charset="0"/>
                          <a:cs typeface="Arial" panose="020B0604020202020204" pitchFamily="34" charset="0"/>
                        </a:rPr>
                        <a:t>Open Parenthesis 4 minus 2 Close Parenthesis squared multiplied by Open Parenthesis 8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5266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8 Ohms Open Parenthesis right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Open Parenthesis 2 minus 2.5 Close Parenthesis squared multiplied by Open Parenthesis 8 Close Parenthesis.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algn="ctr"/>
                      <a:r>
                        <a:rPr lang="en-US" noProof="0" dirty="0">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28" name="Object 27">
            <a:extLst>
              <a:ext uri="{FF2B5EF4-FFF2-40B4-BE49-F238E27FC236}">
                <a16:creationId xmlns:a16="http://schemas.microsoft.com/office/drawing/2014/main" id="{858E46D4-4907-8534-35AD-EF37BB1ABB30}"/>
              </a:ext>
              <a:ext uri="{C183D7F6-B498-43B3-948B-1728B52AA6E4}">
                <adec:decorative xmlns:adec="http://schemas.microsoft.com/office/drawing/2017/decorative" val="1"/>
              </a:ext>
            </a:extLst>
          </p:cNvPr>
          <p:cNvGraphicFramePr>
            <a:graphicFrameLocks noChangeAspect="1"/>
          </p:cNvGraphicFramePr>
          <p:nvPr/>
        </p:nvGraphicFramePr>
        <p:xfrm>
          <a:off x="2357958" y="4838339"/>
          <a:ext cx="353580" cy="246785"/>
        </p:xfrm>
        <a:graphic>
          <a:graphicData uri="http://schemas.openxmlformats.org/presentationml/2006/ole">
            <mc:AlternateContent xmlns:mc="http://schemas.openxmlformats.org/markup-compatibility/2006">
              <mc:Choice xmlns:v="urn:schemas-microsoft-com:vml" Requires="v">
                <p:oleObj name="Equation" r:id="rId5" imgW="291960" imgH="203040" progId="Equation.DSMT4">
                  <p:embed/>
                </p:oleObj>
              </mc:Choice>
              <mc:Fallback>
                <p:oleObj name="Equation" r:id="rId5" imgW="291960" imgH="203040" progId="Equation.DSMT4">
                  <p:embed/>
                  <p:pic>
                    <p:nvPicPr>
                      <p:cNvPr id="28" name="Object 27">
                        <a:extLst>
                          <a:ext uri="{FF2B5EF4-FFF2-40B4-BE49-F238E27FC236}">
                            <a16:creationId xmlns:a16="http://schemas.microsoft.com/office/drawing/2014/main" id="{858E46D4-4907-8534-35AD-EF37BB1ABB30}"/>
                          </a:ext>
                          <a:ext uri="{C183D7F6-B498-43B3-948B-1728B52AA6E4}">
                            <adec:decorative xmlns:adec="http://schemas.microsoft.com/office/drawing/2017/decorative" val="1"/>
                          </a:ext>
                        </a:extLst>
                      </p:cNvPr>
                      <p:cNvPicPr>
                        <a:picLocks noChangeAspect="1" noChangeArrowheads="1"/>
                      </p:cNvPicPr>
                      <p:nvPr/>
                    </p:nvPicPr>
                    <p:blipFill>
                      <a:blip r:embed="rId6"/>
                      <a:srcRect/>
                      <a:stretch>
                        <a:fillRect/>
                      </a:stretch>
                    </p:blipFill>
                    <p:spPr bwMode="auto">
                      <a:xfrm>
                        <a:off x="2357958" y="4838339"/>
                        <a:ext cx="353580" cy="246785"/>
                      </a:xfrm>
                      <a:prstGeom prst="rect">
                        <a:avLst/>
                      </a:prstGeom>
                      <a:solidFill>
                        <a:srgbClr val="D4EAE4"/>
                      </a:solidFill>
                      <a:ln>
                        <a:noFill/>
                      </a:ln>
                      <a:effectLst/>
                    </p:spPr>
                  </p:pic>
                </p:oleObj>
              </mc:Fallback>
            </mc:AlternateContent>
          </a:graphicData>
        </a:graphic>
      </p:graphicFrame>
      <p:graphicFrame>
        <p:nvGraphicFramePr>
          <p:cNvPr id="29" name="Object 28">
            <a:extLst>
              <a:ext uri="{FF2B5EF4-FFF2-40B4-BE49-F238E27FC236}">
                <a16:creationId xmlns:a16="http://schemas.microsoft.com/office/drawing/2014/main" id="{0F619F8E-555E-6587-63ED-3661A9D87248}"/>
              </a:ext>
              <a:ext uri="{C183D7F6-B498-43B3-948B-1728B52AA6E4}">
                <adec:decorative xmlns:adec="http://schemas.microsoft.com/office/drawing/2017/decorative" val="1"/>
              </a:ext>
            </a:extLst>
          </p:cNvPr>
          <p:cNvGraphicFramePr>
            <a:graphicFrameLocks noChangeAspect="1"/>
          </p:cNvGraphicFramePr>
          <p:nvPr/>
        </p:nvGraphicFramePr>
        <p:xfrm>
          <a:off x="4108802" y="4830029"/>
          <a:ext cx="1014572" cy="279400"/>
        </p:xfrm>
        <a:graphic>
          <a:graphicData uri="http://schemas.openxmlformats.org/presentationml/2006/ole">
            <mc:AlternateContent xmlns:mc="http://schemas.openxmlformats.org/markup-compatibility/2006">
              <mc:Choice xmlns:v="urn:schemas-microsoft-com:vml" Requires="v">
                <p:oleObj name="Equation" r:id="rId7" imgW="838080" imgH="228600" progId="Equation.DSMT4">
                  <p:embed/>
                </p:oleObj>
              </mc:Choice>
              <mc:Fallback>
                <p:oleObj name="Equation" r:id="rId7" imgW="838080" imgH="228600" progId="Equation.DSMT4">
                  <p:embed/>
                  <p:pic>
                    <p:nvPicPr>
                      <p:cNvPr id="29" name="Object 28">
                        <a:extLst>
                          <a:ext uri="{FF2B5EF4-FFF2-40B4-BE49-F238E27FC236}">
                            <a16:creationId xmlns:a16="http://schemas.microsoft.com/office/drawing/2014/main" id="{0F619F8E-555E-6587-63ED-3661A9D87248}"/>
                          </a:ext>
                          <a:ext uri="{C183D7F6-B498-43B3-948B-1728B52AA6E4}">
                            <adec:decorative xmlns:adec="http://schemas.microsoft.com/office/drawing/2017/decorative" val="1"/>
                          </a:ext>
                        </a:extLst>
                      </p:cNvPr>
                      <p:cNvPicPr>
                        <a:picLocks noChangeAspect="1" noChangeArrowheads="1"/>
                      </p:cNvPicPr>
                      <p:nvPr/>
                    </p:nvPicPr>
                    <p:blipFill>
                      <a:blip r:embed="rId8"/>
                      <a:srcRect/>
                      <a:stretch>
                        <a:fillRect/>
                      </a:stretch>
                    </p:blipFill>
                    <p:spPr bwMode="auto">
                      <a:xfrm>
                        <a:off x="4108802" y="4830029"/>
                        <a:ext cx="1014572" cy="279400"/>
                      </a:xfrm>
                      <a:prstGeom prst="rect">
                        <a:avLst/>
                      </a:prstGeom>
                      <a:solidFill>
                        <a:srgbClr val="D4EAE4"/>
                      </a:solidFill>
                      <a:ln>
                        <a:noFill/>
                      </a:ln>
                      <a:effectLst/>
                    </p:spPr>
                  </p:pic>
                </p:oleObj>
              </mc:Fallback>
            </mc:AlternateContent>
          </a:graphicData>
        </a:graphic>
      </p:graphicFrame>
      <p:graphicFrame>
        <p:nvGraphicFramePr>
          <p:cNvPr id="30" name="Object 29">
            <a:extLst>
              <a:ext uri="{FF2B5EF4-FFF2-40B4-BE49-F238E27FC236}">
                <a16:creationId xmlns:a16="http://schemas.microsoft.com/office/drawing/2014/main" id="{B944D8E9-3110-098C-56D6-4CE86B3FEA92}"/>
              </a:ext>
              <a:ext uri="{C183D7F6-B498-43B3-948B-1728B52AA6E4}">
                <adec:decorative xmlns:adec="http://schemas.microsoft.com/office/drawing/2017/decorative" val="1"/>
              </a:ext>
            </a:extLst>
          </p:cNvPr>
          <p:cNvGraphicFramePr>
            <a:graphicFrameLocks noChangeAspect="1"/>
          </p:cNvGraphicFramePr>
          <p:nvPr/>
        </p:nvGraphicFramePr>
        <p:xfrm>
          <a:off x="2357958" y="5146598"/>
          <a:ext cx="353580" cy="246785"/>
        </p:xfrm>
        <a:graphic>
          <a:graphicData uri="http://schemas.openxmlformats.org/presentationml/2006/ole">
            <mc:AlternateContent xmlns:mc="http://schemas.openxmlformats.org/markup-compatibility/2006">
              <mc:Choice xmlns:v="urn:schemas-microsoft-com:vml" Requires="v">
                <p:oleObj name="Equation" r:id="rId9" imgW="291960" imgH="203040" progId="Equation.DSMT4">
                  <p:embed/>
                </p:oleObj>
              </mc:Choice>
              <mc:Fallback>
                <p:oleObj name="Equation" r:id="rId9" imgW="291960" imgH="203040" progId="Equation.DSMT4">
                  <p:embed/>
                  <p:pic>
                    <p:nvPicPr>
                      <p:cNvPr id="30" name="Object 29">
                        <a:extLst>
                          <a:ext uri="{FF2B5EF4-FFF2-40B4-BE49-F238E27FC236}">
                            <a16:creationId xmlns:a16="http://schemas.microsoft.com/office/drawing/2014/main" id="{B944D8E9-3110-098C-56D6-4CE86B3FEA92}"/>
                          </a:ext>
                          <a:ext uri="{C183D7F6-B498-43B3-948B-1728B52AA6E4}">
                            <adec:decorative xmlns:adec="http://schemas.microsoft.com/office/drawing/2017/decorative" val="1"/>
                          </a:ext>
                        </a:extLst>
                      </p:cNvPr>
                      <p:cNvPicPr>
                        <a:picLocks noChangeAspect="1" noChangeArrowheads="1"/>
                      </p:cNvPicPr>
                      <p:nvPr/>
                    </p:nvPicPr>
                    <p:blipFill>
                      <a:blip r:embed="rId10"/>
                      <a:srcRect/>
                      <a:stretch>
                        <a:fillRect/>
                      </a:stretch>
                    </p:blipFill>
                    <p:spPr bwMode="auto">
                      <a:xfrm>
                        <a:off x="2357958" y="5146598"/>
                        <a:ext cx="353580" cy="246785"/>
                      </a:xfrm>
                      <a:prstGeom prst="rect">
                        <a:avLst/>
                      </a:prstGeom>
                      <a:solidFill>
                        <a:srgbClr val="D4EAE4"/>
                      </a:solidFill>
                      <a:ln>
                        <a:noFill/>
                      </a:ln>
                      <a:effectLst/>
                    </p:spPr>
                  </p:pic>
                </p:oleObj>
              </mc:Fallback>
            </mc:AlternateContent>
          </a:graphicData>
        </a:graphic>
      </p:graphicFrame>
      <p:graphicFrame>
        <p:nvGraphicFramePr>
          <p:cNvPr id="31" name="Object 30">
            <a:extLst>
              <a:ext uri="{FF2B5EF4-FFF2-40B4-BE49-F238E27FC236}">
                <a16:creationId xmlns:a16="http://schemas.microsoft.com/office/drawing/2014/main" id="{39A5CBDE-0602-58F4-9DA8-6F14352B85A6}"/>
              </a:ext>
              <a:ext uri="{C183D7F6-B498-43B3-948B-1728B52AA6E4}">
                <adec:decorative xmlns:adec="http://schemas.microsoft.com/office/drawing/2017/decorative" val="1"/>
              </a:ext>
            </a:extLst>
          </p:cNvPr>
          <p:cNvGraphicFramePr>
            <a:graphicFrameLocks noChangeAspect="1"/>
          </p:cNvGraphicFramePr>
          <p:nvPr/>
        </p:nvGraphicFramePr>
        <p:xfrm>
          <a:off x="4238740" y="5146753"/>
          <a:ext cx="738663" cy="279400"/>
        </p:xfrm>
        <a:graphic>
          <a:graphicData uri="http://schemas.openxmlformats.org/presentationml/2006/ole">
            <mc:AlternateContent xmlns:mc="http://schemas.openxmlformats.org/markup-compatibility/2006">
              <mc:Choice xmlns:v="urn:schemas-microsoft-com:vml" Requires="v">
                <p:oleObj name="Equation" r:id="rId11" imgW="609480" imgH="228600" progId="Equation.DSMT4">
                  <p:embed/>
                </p:oleObj>
              </mc:Choice>
              <mc:Fallback>
                <p:oleObj name="Equation" r:id="rId11" imgW="609480" imgH="228600" progId="Equation.DSMT4">
                  <p:embed/>
                  <p:pic>
                    <p:nvPicPr>
                      <p:cNvPr id="31" name="Object 30">
                        <a:extLst>
                          <a:ext uri="{FF2B5EF4-FFF2-40B4-BE49-F238E27FC236}">
                            <a16:creationId xmlns:a16="http://schemas.microsoft.com/office/drawing/2014/main" id="{39A5CBDE-0602-58F4-9DA8-6F14352B85A6}"/>
                          </a:ext>
                          <a:ext uri="{C183D7F6-B498-43B3-948B-1728B52AA6E4}">
                            <adec:decorative xmlns:adec="http://schemas.microsoft.com/office/drawing/2017/decorative" val="1"/>
                          </a:ext>
                        </a:extLst>
                      </p:cNvPr>
                      <p:cNvPicPr>
                        <a:picLocks noChangeAspect="1" noChangeArrowheads="1"/>
                      </p:cNvPicPr>
                      <p:nvPr/>
                    </p:nvPicPr>
                    <p:blipFill>
                      <a:blip r:embed="rId12"/>
                      <a:srcRect/>
                      <a:stretch>
                        <a:fillRect/>
                      </a:stretch>
                    </p:blipFill>
                    <p:spPr bwMode="auto">
                      <a:xfrm>
                        <a:off x="4238740" y="5146753"/>
                        <a:ext cx="738663" cy="279400"/>
                      </a:xfrm>
                      <a:prstGeom prst="rect">
                        <a:avLst/>
                      </a:prstGeom>
                      <a:solidFill>
                        <a:srgbClr val="D4EAE4"/>
                      </a:solidFill>
                      <a:ln>
                        <a:noFill/>
                      </a:ln>
                      <a:effectLst/>
                    </p:spPr>
                  </p:pic>
                </p:oleObj>
              </mc:Fallback>
            </mc:AlternateContent>
          </a:graphicData>
        </a:graphic>
      </p:graphicFrame>
      <p:graphicFrame>
        <p:nvGraphicFramePr>
          <p:cNvPr id="32" name="Object 31">
            <a:extLst>
              <a:ext uri="{FF2B5EF4-FFF2-40B4-BE49-F238E27FC236}">
                <a16:creationId xmlns:a16="http://schemas.microsoft.com/office/drawing/2014/main" id="{CF05B92B-C6DE-C4D0-EF8B-4BE4C9455D9F}"/>
              </a:ext>
              <a:ext uri="{C183D7F6-B498-43B3-948B-1728B52AA6E4}">
                <adec:decorative xmlns:adec="http://schemas.microsoft.com/office/drawing/2017/decorative" val="1"/>
              </a:ext>
            </a:extLst>
          </p:cNvPr>
          <p:cNvGraphicFramePr>
            <a:graphicFrameLocks noChangeAspect="1"/>
          </p:cNvGraphicFramePr>
          <p:nvPr/>
        </p:nvGraphicFramePr>
        <p:xfrm>
          <a:off x="1996585" y="5512714"/>
          <a:ext cx="1076325" cy="247650"/>
        </p:xfrm>
        <a:graphic>
          <a:graphicData uri="http://schemas.openxmlformats.org/presentationml/2006/ole">
            <mc:AlternateContent xmlns:mc="http://schemas.openxmlformats.org/markup-compatibility/2006">
              <mc:Choice xmlns:v="urn:schemas-microsoft-com:vml" Requires="v">
                <p:oleObj name="Equation" r:id="rId13" imgW="888840" imgH="203040" progId="Equation.DSMT4">
                  <p:embed/>
                </p:oleObj>
              </mc:Choice>
              <mc:Fallback>
                <p:oleObj name="Equation" r:id="rId13" imgW="888840" imgH="203040" progId="Equation.DSMT4">
                  <p:embed/>
                  <p:pic>
                    <p:nvPicPr>
                      <p:cNvPr id="32" name="Object 31">
                        <a:extLst>
                          <a:ext uri="{FF2B5EF4-FFF2-40B4-BE49-F238E27FC236}">
                            <a16:creationId xmlns:a16="http://schemas.microsoft.com/office/drawing/2014/main" id="{CF05B92B-C6DE-C4D0-EF8B-4BE4C9455D9F}"/>
                          </a:ext>
                          <a:ext uri="{C183D7F6-B498-43B3-948B-1728B52AA6E4}">
                            <adec:decorative xmlns:adec="http://schemas.microsoft.com/office/drawing/2017/decorative" val="1"/>
                          </a:ext>
                        </a:extLst>
                      </p:cNvPr>
                      <p:cNvPicPr>
                        <a:picLocks noChangeAspect="1" noChangeArrowheads="1"/>
                      </p:cNvPicPr>
                      <p:nvPr/>
                    </p:nvPicPr>
                    <p:blipFill>
                      <a:blip r:embed="rId14"/>
                      <a:srcRect/>
                      <a:stretch>
                        <a:fillRect/>
                      </a:stretch>
                    </p:blipFill>
                    <p:spPr bwMode="auto">
                      <a:xfrm>
                        <a:off x="1996585" y="5512714"/>
                        <a:ext cx="1076325" cy="247650"/>
                      </a:xfrm>
                      <a:prstGeom prst="rect">
                        <a:avLst/>
                      </a:prstGeom>
                      <a:solidFill>
                        <a:srgbClr val="D4EAE4"/>
                      </a:solidFill>
                      <a:ln>
                        <a:noFill/>
                      </a:ln>
                      <a:effectLst/>
                    </p:spPr>
                  </p:pic>
                </p:oleObj>
              </mc:Fallback>
            </mc:AlternateContent>
          </a:graphicData>
        </a:graphic>
      </p:graphicFrame>
      <p:graphicFrame>
        <p:nvGraphicFramePr>
          <p:cNvPr id="33" name="Object 32">
            <a:extLst>
              <a:ext uri="{FF2B5EF4-FFF2-40B4-BE49-F238E27FC236}">
                <a16:creationId xmlns:a16="http://schemas.microsoft.com/office/drawing/2014/main" id="{9A3DC303-5DAE-72A5-25F6-422BB77A2725}"/>
              </a:ext>
              <a:ext uri="{C183D7F6-B498-43B3-948B-1728B52AA6E4}">
                <adec:decorative xmlns:adec="http://schemas.microsoft.com/office/drawing/2017/decorative" val="1"/>
              </a:ext>
            </a:extLst>
          </p:cNvPr>
          <p:cNvGraphicFramePr>
            <a:graphicFrameLocks noChangeAspect="1"/>
          </p:cNvGraphicFramePr>
          <p:nvPr/>
        </p:nvGraphicFramePr>
        <p:xfrm>
          <a:off x="4176396" y="5492682"/>
          <a:ext cx="860902" cy="279400"/>
        </p:xfrm>
        <a:graphic>
          <a:graphicData uri="http://schemas.openxmlformats.org/presentationml/2006/ole">
            <mc:AlternateContent xmlns:mc="http://schemas.openxmlformats.org/markup-compatibility/2006">
              <mc:Choice xmlns:v="urn:schemas-microsoft-com:vml" Requires="v">
                <p:oleObj name="Equation" r:id="rId15" imgW="711000" imgH="228600" progId="Equation.DSMT4">
                  <p:embed/>
                </p:oleObj>
              </mc:Choice>
              <mc:Fallback>
                <p:oleObj name="Equation" r:id="rId15" imgW="711000" imgH="228600" progId="Equation.DSMT4">
                  <p:embed/>
                  <p:pic>
                    <p:nvPicPr>
                      <p:cNvPr id="33" name="Object 32">
                        <a:extLst>
                          <a:ext uri="{FF2B5EF4-FFF2-40B4-BE49-F238E27FC236}">
                            <a16:creationId xmlns:a16="http://schemas.microsoft.com/office/drawing/2014/main" id="{9A3DC303-5DAE-72A5-25F6-422BB77A2725}"/>
                          </a:ext>
                          <a:ext uri="{C183D7F6-B498-43B3-948B-1728B52AA6E4}">
                            <adec:decorative xmlns:adec="http://schemas.microsoft.com/office/drawing/2017/decorative" val="1"/>
                          </a:ext>
                        </a:extLst>
                      </p:cNvPr>
                      <p:cNvPicPr>
                        <a:picLocks noChangeAspect="1" noChangeArrowheads="1"/>
                      </p:cNvPicPr>
                      <p:nvPr/>
                    </p:nvPicPr>
                    <p:blipFill>
                      <a:blip r:embed="rId16"/>
                      <a:srcRect/>
                      <a:stretch>
                        <a:fillRect/>
                      </a:stretch>
                    </p:blipFill>
                    <p:spPr bwMode="auto">
                      <a:xfrm>
                        <a:off x="4176396" y="5492682"/>
                        <a:ext cx="860902" cy="279400"/>
                      </a:xfrm>
                      <a:prstGeom prst="rect">
                        <a:avLst/>
                      </a:prstGeom>
                      <a:solidFill>
                        <a:srgbClr val="D4EAE4"/>
                      </a:solidFill>
                      <a:ln>
                        <a:noFill/>
                      </a:ln>
                      <a:effectLst/>
                    </p:spPr>
                  </p:pic>
                </p:oleObj>
              </mc:Fallback>
            </mc:AlternateContent>
          </a:graphicData>
        </a:graphic>
      </p:graphicFrame>
      <p:graphicFrame>
        <p:nvGraphicFramePr>
          <p:cNvPr id="34" name="Object 33">
            <a:extLst>
              <a:ext uri="{FF2B5EF4-FFF2-40B4-BE49-F238E27FC236}">
                <a16:creationId xmlns:a16="http://schemas.microsoft.com/office/drawing/2014/main" id="{846E6589-CF3D-20E0-20E5-F2C20B2B9E14}"/>
              </a:ext>
              <a:ext uri="{C183D7F6-B498-43B3-948B-1728B52AA6E4}">
                <adec:decorative xmlns:adec="http://schemas.microsoft.com/office/drawing/2017/decorative" val="1"/>
              </a:ext>
            </a:extLst>
          </p:cNvPr>
          <p:cNvGraphicFramePr>
            <a:graphicFrameLocks noChangeAspect="1"/>
          </p:cNvGraphicFramePr>
          <p:nvPr/>
        </p:nvGraphicFramePr>
        <p:xfrm>
          <a:off x="2089150" y="5862638"/>
          <a:ext cx="892175" cy="247650"/>
        </p:xfrm>
        <a:graphic>
          <a:graphicData uri="http://schemas.openxmlformats.org/presentationml/2006/ole">
            <mc:AlternateContent xmlns:mc="http://schemas.openxmlformats.org/markup-compatibility/2006">
              <mc:Choice xmlns:v="urn:schemas-microsoft-com:vml" Requires="v">
                <p:oleObj name="Equation" r:id="rId17" imgW="736560" imgH="203040" progId="Equation.DSMT4">
                  <p:embed/>
                </p:oleObj>
              </mc:Choice>
              <mc:Fallback>
                <p:oleObj name="Equation" r:id="rId17" imgW="736560" imgH="203040" progId="Equation.DSMT4">
                  <p:embed/>
                  <p:pic>
                    <p:nvPicPr>
                      <p:cNvPr id="34" name="Object 33">
                        <a:extLst>
                          <a:ext uri="{FF2B5EF4-FFF2-40B4-BE49-F238E27FC236}">
                            <a16:creationId xmlns:a16="http://schemas.microsoft.com/office/drawing/2014/main" id="{846E6589-CF3D-20E0-20E5-F2C20B2B9E14}"/>
                          </a:ext>
                          <a:ext uri="{C183D7F6-B498-43B3-948B-1728B52AA6E4}">
                            <adec:decorative xmlns:adec="http://schemas.microsoft.com/office/drawing/2017/decorative" val="1"/>
                          </a:ext>
                        </a:extLst>
                      </p:cNvPr>
                      <p:cNvPicPr>
                        <a:picLocks noChangeAspect="1" noChangeArrowheads="1"/>
                      </p:cNvPicPr>
                      <p:nvPr/>
                    </p:nvPicPr>
                    <p:blipFill>
                      <a:blip r:embed="rId18"/>
                      <a:srcRect/>
                      <a:stretch>
                        <a:fillRect/>
                      </a:stretch>
                    </p:blipFill>
                    <p:spPr bwMode="auto">
                      <a:xfrm>
                        <a:off x="2089150" y="5862638"/>
                        <a:ext cx="892175" cy="247650"/>
                      </a:xfrm>
                      <a:prstGeom prst="rect">
                        <a:avLst/>
                      </a:prstGeom>
                      <a:solidFill>
                        <a:srgbClr val="D4EAE4"/>
                      </a:solidFill>
                      <a:ln>
                        <a:noFill/>
                      </a:ln>
                      <a:effectLst/>
                    </p:spPr>
                  </p:pic>
                </p:oleObj>
              </mc:Fallback>
            </mc:AlternateContent>
          </a:graphicData>
        </a:graphic>
      </p:graphicFrame>
      <p:graphicFrame>
        <p:nvGraphicFramePr>
          <p:cNvPr id="35" name="Object 34">
            <a:extLst>
              <a:ext uri="{FF2B5EF4-FFF2-40B4-BE49-F238E27FC236}">
                <a16:creationId xmlns:a16="http://schemas.microsoft.com/office/drawing/2014/main" id="{3FEF510D-1904-A7CA-0180-769E4D986B11}"/>
              </a:ext>
              <a:ext uri="{C183D7F6-B498-43B3-948B-1728B52AA6E4}">
                <adec:decorative xmlns:adec="http://schemas.microsoft.com/office/drawing/2017/decorative" val="1"/>
              </a:ext>
            </a:extLst>
          </p:cNvPr>
          <p:cNvGraphicFramePr>
            <a:graphicFrameLocks noChangeAspect="1"/>
          </p:cNvGraphicFramePr>
          <p:nvPr/>
        </p:nvGraphicFramePr>
        <p:xfrm>
          <a:off x="4100390" y="5826111"/>
          <a:ext cx="1014572" cy="279400"/>
        </p:xfrm>
        <a:graphic>
          <a:graphicData uri="http://schemas.openxmlformats.org/presentationml/2006/ole">
            <mc:AlternateContent xmlns:mc="http://schemas.openxmlformats.org/markup-compatibility/2006">
              <mc:Choice xmlns:v="urn:schemas-microsoft-com:vml" Requires="v">
                <p:oleObj name="Equation" r:id="rId19" imgW="838080" imgH="228600" progId="Equation.DSMT4">
                  <p:embed/>
                </p:oleObj>
              </mc:Choice>
              <mc:Fallback>
                <p:oleObj name="Equation" r:id="rId19" imgW="838080" imgH="228600" progId="Equation.DSMT4">
                  <p:embed/>
                  <p:pic>
                    <p:nvPicPr>
                      <p:cNvPr id="35" name="Object 34">
                        <a:extLst>
                          <a:ext uri="{FF2B5EF4-FFF2-40B4-BE49-F238E27FC236}">
                            <a16:creationId xmlns:a16="http://schemas.microsoft.com/office/drawing/2014/main" id="{3FEF510D-1904-A7CA-0180-769E4D986B11}"/>
                          </a:ext>
                          <a:ext uri="{C183D7F6-B498-43B3-948B-1728B52AA6E4}">
                            <adec:decorative xmlns:adec="http://schemas.microsoft.com/office/drawing/2017/decorative" val="1"/>
                          </a:ext>
                        </a:extLst>
                      </p:cNvPr>
                      <p:cNvPicPr>
                        <a:picLocks noChangeAspect="1" noChangeArrowheads="1"/>
                      </p:cNvPicPr>
                      <p:nvPr/>
                    </p:nvPicPr>
                    <p:blipFill>
                      <a:blip r:embed="rId20"/>
                      <a:srcRect/>
                      <a:stretch>
                        <a:fillRect/>
                      </a:stretch>
                    </p:blipFill>
                    <p:spPr bwMode="auto">
                      <a:xfrm>
                        <a:off x="4100390" y="5826111"/>
                        <a:ext cx="1014572" cy="279400"/>
                      </a:xfrm>
                      <a:prstGeom prst="rect">
                        <a:avLst/>
                      </a:prstGeom>
                      <a:solidFill>
                        <a:srgbClr val="D4EAE4"/>
                      </a:solidFill>
                      <a:ln>
                        <a:noFill/>
                      </a:ln>
                      <a:effectLst/>
                    </p:spPr>
                  </p:pic>
                </p:oleObj>
              </mc:Fallback>
            </mc:AlternateContent>
          </a:graphicData>
        </a:graphic>
      </p:graphicFrame>
    </p:spTree>
    <p:extLst>
      <p:ext uri="{BB962C8B-B14F-4D97-AF65-F5344CB8AC3E}">
        <p14:creationId xmlns:p14="http://schemas.microsoft.com/office/powerpoint/2010/main" val="3918650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02129"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1237</TotalTime>
  <Words>1839</Words>
  <Application>Microsoft Office PowerPoint</Application>
  <PresentationFormat>On-screen Show (4:3)</PresentationFormat>
  <Paragraphs>173</Paragraphs>
  <Slides>18</Slides>
  <Notes>4</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5" baseType="lpstr">
      <vt:lpstr>Verdana</vt:lpstr>
      <vt:lpstr>Arial</vt:lpstr>
      <vt:lpstr>Times New Roman</vt:lpstr>
      <vt:lpstr>Calibri</vt:lpstr>
      <vt:lpstr>USHE</vt:lpstr>
      <vt:lpstr>USHE_slide options</vt:lpstr>
      <vt:lpstr>Equation</vt:lpstr>
      <vt:lpstr>Electric Circuits</vt:lpstr>
      <vt:lpstr>Chapter 4 – techniques of circuit analysis (1 of 13)</vt:lpstr>
      <vt:lpstr>Chapter 4 – techniques of circuit analysis (2 of 13)</vt:lpstr>
      <vt:lpstr>Chapter 4 – techniques of circuit analysis (3 of 13)</vt:lpstr>
      <vt:lpstr>Chapter 4 – techniques of circuit analysis (3 of 13)</vt:lpstr>
      <vt:lpstr>Chapter 4 – techniques of circuit analysis (4 of 13)</vt:lpstr>
      <vt:lpstr>Chapter 4 – techniques of circuit analysis (5 of 13)</vt:lpstr>
      <vt:lpstr>Chapter 4 – techniques of circuit analysis (6 of 13)</vt:lpstr>
      <vt:lpstr>Chapter 4 – techniques of circuit analysis (7 of 13)</vt:lpstr>
      <vt:lpstr>Chapter 4 – techniques of circuit analysis (7 of 13)</vt:lpstr>
      <vt:lpstr>Chapter 4 – techniques of circuit analysis (8 of 13)</vt:lpstr>
      <vt:lpstr>Chapter 4 – techniques of circuit analysis (9 of 13)</vt:lpstr>
      <vt:lpstr>Chapter 4 – techniques of circuit analysis (10 of 13)</vt:lpstr>
      <vt:lpstr>Chapter 4 – techniques of circuit analysis (11 of 13)</vt:lpstr>
      <vt:lpstr>Chapter 4 – techniques of circuit analysis (12 of 13)</vt:lpstr>
      <vt:lpstr>Chapter 4 – techniques of circuit analysis (12 of 13)</vt:lpstr>
      <vt:lpstr>Chapter 4 – techniques of circuit analysis (13 of 13)</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4 – Part 3</dc:title>
  <dc:subject>Engineering</dc:subject>
  <dc:creator>Nilsson and Riedel</dc:creator>
  <cp:keywords/>
  <dc:description/>
  <cp:lastModifiedBy>kml erd</cp:lastModifiedBy>
  <cp:revision>225</cp:revision>
  <dcterms:modified xsi:type="dcterms:W3CDTF">2025-10-13T11:36:49Z</dcterms:modified>
</cp:coreProperties>
</file>