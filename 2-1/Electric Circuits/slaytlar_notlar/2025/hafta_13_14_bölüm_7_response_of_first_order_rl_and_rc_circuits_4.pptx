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36"/>
  </p:notesMasterIdLst>
  <p:handoutMasterIdLst>
    <p:handoutMasterId r:id="rId37"/>
  </p:handoutMasterIdLst>
  <p:sldIdLst>
    <p:sldId id="330" r:id="rId3"/>
    <p:sldId id="718" r:id="rId4"/>
    <p:sldId id="719" r:id="rId5"/>
    <p:sldId id="720" r:id="rId6"/>
    <p:sldId id="723" r:id="rId7"/>
    <p:sldId id="724" r:id="rId8"/>
    <p:sldId id="725" r:id="rId9"/>
    <p:sldId id="744" r:id="rId10"/>
    <p:sldId id="726" r:id="rId11"/>
    <p:sldId id="727" r:id="rId12"/>
    <p:sldId id="745" r:id="rId13"/>
    <p:sldId id="728" r:id="rId14"/>
    <p:sldId id="729" r:id="rId15"/>
    <p:sldId id="730" r:id="rId16"/>
    <p:sldId id="746" r:id="rId17"/>
    <p:sldId id="731" r:id="rId18"/>
    <p:sldId id="747" r:id="rId19"/>
    <p:sldId id="732" r:id="rId20"/>
    <p:sldId id="733" r:id="rId21"/>
    <p:sldId id="734" r:id="rId22"/>
    <p:sldId id="735" r:id="rId23"/>
    <p:sldId id="736" r:id="rId24"/>
    <p:sldId id="748" r:id="rId25"/>
    <p:sldId id="737" r:id="rId26"/>
    <p:sldId id="738" r:id="rId27"/>
    <p:sldId id="749" r:id="rId28"/>
    <p:sldId id="739" r:id="rId29"/>
    <p:sldId id="750" r:id="rId30"/>
    <p:sldId id="740" r:id="rId31"/>
    <p:sldId id="741" r:id="rId32"/>
    <p:sldId id="742" r:id="rId33"/>
    <p:sldId id="743" r:id="rId34"/>
    <p:sldId id="717" r:id="rId35"/>
  </p:sldIdLst>
  <p:sldSz cx="9144000" cy="6858000" type="screen4x3"/>
  <p:notesSz cx="6858000" cy="9144000"/>
  <p:embeddedFontLst>
    <p:embeddedFont>
      <p:font typeface="Verdana" panose="020B0604030504040204" pitchFamily="3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6" userDrawn="1">
          <p15:clr>
            <a:srgbClr val="A4A3A4"/>
          </p15:clr>
        </p15:guide>
        <p15:guide id="2" pos="272" userDrawn="1">
          <p15:clr>
            <a:srgbClr val="A4A3A4"/>
          </p15:clr>
        </p15:guide>
        <p15:guide id="3" orient="horz" pos="1117" userDrawn="1">
          <p15:clr>
            <a:srgbClr val="A4A3A4"/>
          </p15:clr>
        </p15:guide>
        <p15:guide id="4" pos="2925" userDrawn="1">
          <p15:clr>
            <a:srgbClr val="A4A3A4"/>
          </p15:clr>
        </p15:guide>
        <p15:guide id="5" pos="5462" userDrawn="1">
          <p15:clr>
            <a:srgbClr val="A4A3A4"/>
          </p15:clr>
        </p15:guide>
        <p15:guide id="7" orient="horz" pos="2137" userDrawn="1">
          <p15:clr>
            <a:srgbClr val="A4A3A4"/>
          </p15:clr>
        </p15:guide>
        <p15:guide id="8" orient="horz" pos="150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39" autoAdjust="0"/>
    <p:restoredTop sz="68187" autoAdjust="0"/>
  </p:normalViewPr>
  <p:slideViewPr>
    <p:cSldViewPr snapToGrid="0" snapToObjects="1">
      <p:cViewPr varScale="1">
        <p:scale>
          <a:sx n="107" d="100"/>
          <a:sy n="107" d="100"/>
        </p:scale>
        <p:origin x="1890" y="102"/>
      </p:cViewPr>
      <p:guideLst>
        <p:guide orient="horz" pos="436"/>
        <p:guide pos="272"/>
        <p:guide orient="horz" pos="1117"/>
        <p:guide pos="2925"/>
        <p:guide pos="5462"/>
        <p:guide orient="horz" pos="2137"/>
        <p:guide orient="horz" pos="1502"/>
      </p:guideLst>
    </p:cSldViewPr>
  </p:slideViewPr>
  <p:outlineViewPr>
    <p:cViewPr>
      <p:scale>
        <a:sx n="33" d="100"/>
        <a:sy n="33" d="100"/>
      </p:scale>
      <p:origin x="0" y="-12276"/>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2.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1.fntdata"/><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font" Target="fonts/font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12/22/2025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Arial" panose="020B0604020202020204" pitchFamily="34" charset="0"/>
                <a:cs typeface="Arial" panose="020B0604020202020204" pitchFamily="34" charset="0"/>
              </a:rPr>
              <a:t>Long Description:</a:t>
            </a:r>
          </a:p>
          <a:p>
            <a:r>
              <a:rPr lang="en-US" sz="1200" b="0" i="0" u="none" strike="noStrike" dirty="0" err="1">
                <a:solidFill>
                  <a:srgbClr val="000000"/>
                </a:solidFill>
                <a:effectLst/>
                <a:latin typeface="Arial" panose="020B0604020202020204" pitchFamily="34" charset="0"/>
                <a:cs typeface="Arial" panose="020B0604020202020204" pitchFamily="34" charset="0"/>
              </a:rPr>
              <a:t>i</a:t>
            </a:r>
            <a:r>
              <a:rPr lang="en-US" sz="1200" b="0" i="0" u="none" strike="noStrike" dirty="0">
                <a:solidFill>
                  <a:srgbClr val="000000"/>
                </a:solidFill>
                <a:effectLst/>
                <a:latin typeface="Arial" panose="020B0604020202020204" pitchFamily="34" charset="0"/>
                <a:cs typeface="Arial" panose="020B0604020202020204" pitchFamily="34" charset="0"/>
              </a:rPr>
              <a:t> subscript L baseline (t) equals I subscript f baseline plus Open Parenthesis I subscript 0 baseline minus I subscript f baseline Close Parenthesis e to the negative open square bracket Open Parenthesis t minus t subscript 0 Close Parenthesis divided by tau close square bracket power.</a:t>
            </a:r>
            <a:r>
              <a:rPr lang="en-US" sz="1200" dirty="0">
                <a:latin typeface="Arial" panose="020B0604020202020204" pitchFamily="34" charset="0"/>
                <a:cs typeface="Arial" panose="020B0604020202020204" pitchFamily="34" charset="0"/>
              </a:rPr>
              <a:t> </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82572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33</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3" name="Content Placeholder 2">
            <a:extLst>
              <a:ext uri="{FF2B5EF4-FFF2-40B4-BE49-F238E27FC236}">
                <a16:creationId xmlns:a16="http://schemas.microsoft.com/office/drawing/2014/main" id="{B3F9E3F0-3064-41BA-BF34-B5D9350D8D48}"/>
              </a:ext>
            </a:extLst>
          </p:cNvPr>
          <p:cNvSpPr>
            <a:spLocks noGrp="1"/>
          </p:cNvSpPr>
          <p:nvPr>
            <p:ph sz="quarter" idx="17" hasCustomPrompt="1"/>
          </p:nvPr>
        </p:nvSpPr>
        <p:spPr>
          <a:xfrm>
            <a:off x="1836402" y="6400801"/>
            <a:ext cx="6908800"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p:nvPr>
        </p:nvSpPr>
        <p:spPr>
          <a:xfrm>
            <a:off x="457200" y="11287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p:nvPr>
        </p:nvSpPr>
        <p:spPr>
          <a:xfrm>
            <a:off x="457200" y="17192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p:nvPr>
        </p:nvSpPr>
        <p:spPr>
          <a:xfrm>
            <a:off x="457200" y="23098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p:nvPr>
        </p:nvSpPr>
        <p:spPr>
          <a:xfrm>
            <a:off x="457200" y="290036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p:nvPr>
        </p:nvSpPr>
        <p:spPr>
          <a:xfrm>
            <a:off x="457200" y="3482367"/>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p:nvPr>
        </p:nvSpPr>
        <p:spPr>
          <a:xfrm>
            <a:off x="457200" y="4046908"/>
            <a:ext cx="4054475"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p:nvPr>
        </p:nvSpPr>
        <p:spPr>
          <a:xfrm>
            <a:off x="457200" y="4594596"/>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p:nvPr>
        </p:nvSpPr>
        <p:spPr>
          <a:xfrm>
            <a:off x="457200" y="5141913"/>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p:nvPr>
        </p:nvSpPr>
        <p:spPr>
          <a:xfrm>
            <a:off x="457200" y="5695104"/>
            <a:ext cx="4054475"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p:nvPr>
        </p:nvSpPr>
        <p:spPr>
          <a:xfrm>
            <a:off x="4827588" y="11287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p:nvPr>
        </p:nvSpPr>
        <p:spPr>
          <a:xfrm>
            <a:off x="4827588" y="17192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p:nvPr>
        </p:nvSpPr>
        <p:spPr>
          <a:xfrm>
            <a:off x="4827588" y="230981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p:nvPr>
        </p:nvSpPr>
        <p:spPr>
          <a:xfrm>
            <a:off x="4827588" y="2900363"/>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A5F7F3EC-5606-549C-D111-E17C4CD22289}"/>
              </a:ext>
            </a:extLst>
          </p:cNvPr>
          <p:cNvSpPr>
            <a:spLocks noGrp="1"/>
          </p:cNvSpPr>
          <p:nvPr>
            <p:ph sz="quarter" idx="25"/>
          </p:nvPr>
        </p:nvSpPr>
        <p:spPr>
          <a:xfrm>
            <a:off x="4827588" y="34829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90B31E12-25AA-3878-E140-22F8FF89B670}"/>
              </a:ext>
            </a:extLst>
          </p:cNvPr>
          <p:cNvSpPr>
            <a:spLocks noGrp="1"/>
          </p:cNvSpPr>
          <p:nvPr>
            <p:ph sz="quarter" idx="26"/>
          </p:nvPr>
        </p:nvSpPr>
        <p:spPr>
          <a:xfrm>
            <a:off x="4827588" y="4065588"/>
            <a:ext cx="3859212" cy="3825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A1A51E1E-F893-E38A-248C-ADEA6288B155}"/>
              </a:ext>
            </a:extLst>
          </p:cNvPr>
          <p:cNvSpPr>
            <a:spLocks noGrp="1"/>
          </p:cNvSpPr>
          <p:nvPr>
            <p:ph sz="quarter" idx="27"/>
          </p:nvPr>
        </p:nvSpPr>
        <p:spPr>
          <a:xfrm>
            <a:off x="4827588" y="4620604"/>
            <a:ext cx="3859212" cy="366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8C90E203-D626-4BA0-EFEB-1781C3EE1903}"/>
              </a:ext>
            </a:extLst>
          </p:cNvPr>
          <p:cNvSpPr>
            <a:spLocks noGrp="1"/>
          </p:cNvSpPr>
          <p:nvPr>
            <p:ph sz="quarter" idx="28"/>
          </p:nvPr>
        </p:nvSpPr>
        <p:spPr>
          <a:xfrm>
            <a:off x="4827588" y="5159375"/>
            <a:ext cx="3859212" cy="4016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DB79D3FE-B20D-0317-2605-222F81CE296C}"/>
              </a:ext>
            </a:extLst>
          </p:cNvPr>
          <p:cNvSpPr>
            <a:spLocks noGrp="1"/>
          </p:cNvSpPr>
          <p:nvPr>
            <p:ph sz="quarter" idx="29"/>
          </p:nvPr>
        </p:nvSpPr>
        <p:spPr>
          <a:xfrm>
            <a:off x="4827588" y="5720742"/>
            <a:ext cx="3859212" cy="401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12/22/2025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3917837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4" name="Picture 3" descr="Pearson Logo">
            <a:extLst>
              <a:ext uri="{FF2B5EF4-FFF2-40B4-BE49-F238E27FC236}">
                <a16:creationId xmlns:a16="http://schemas.microsoft.com/office/drawing/2014/main" id="{712F66FE-1337-EDE8-F038-827B504362BF}"/>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6" name="Content Placeholder 7">
            <a:extLst>
              <a:ext uri="{FF2B5EF4-FFF2-40B4-BE49-F238E27FC236}">
                <a16:creationId xmlns:a16="http://schemas.microsoft.com/office/drawing/2014/main" id="{67B5DD31-F4D7-7F29-F15C-8478039E4FC8}"/>
              </a:ext>
            </a:extLst>
          </p:cNvPr>
          <p:cNvSpPr txBox="1">
            <a:spLocks/>
          </p:cNvSpPr>
          <p:nvPr userDrawn="1"/>
        </p:nvSpPr>
        <p:spPr>
          <a:xfrm>
            <a:off x="2555193" y="6455210"/>
            <a:ext cx="6114695"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8.wmf"/><Relationship Id="rId18" Type="http://schemas.openxmlformats.org/officeDocument/2006/relationships/oleObject" Target="../embeddings/oleObject9.bin"/><Relationship Id="rId3" Type="http://schemas.openxmlformats.org/officeDocument/2006/relationships/image" Target="../media/image3.wmf"/><Relationship Id="rId21" Type="http://schemas.openxmlformats.org/officeDocument/2006/relationships/image" Target="../media/image12.wmf"/><Relationship Id="rId7" Type="http://schemas.openxmlformats.org/officeDocument/2006/relationships/image" Target="../media/image5.wmf"/><Relationship Id="rId12" Type="http://schemas.openxmlformats.org/officeDocument/2006/relationships/oleObject" Target="../embeddings/oleObject6.bin"/><Relationship Id="rId17" Type="http://schemas.openxmlformats.org/officeDocument/2006/relationships/image" Target="../media/image10.w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8.xml"/><Relationship Id="rId6" Type="http://schemas.openxmlformats.org/officeDocument/2006/relationships/oleObject" Target="../embeddings/oleObject3.bin"/><Relationship Id="rId11" Type="http://schemas.openxmlformats.org/officeDocument/2006/relationships/image" Target="../media/image7.wmf"/><Relationship Id="rId5" Type="http://schemas.openxmlformats.org/officeDocument/2006/relationships/image" Target="../media/image4.wmf"/><Relationship Id="rId15" Type="http://schemas.openxmlformats.org/officeDocument/2006/relationships/image" Target="../media/image9.wmf"/><Relationship Id="rId10" Type="http://schemas.openxmlformats.org/officeDocument/2006/relationships/oleObject" Target="../embeddings/oleObject5.bin"/><Relationship Id="rId19" Type="http://schemas.openxmlformats.org/officeDocument/2006/relationships/image" Target="../media/image11.wmf"/><Relationship Id="rId4" Type="http://schemas.openxmlformats.org/officeDocument/2006/relationships/oleObject" Target="../embeddings/oleObject2.bin"/><Relationship Id="rId9" Type="http://schemas.openxmlformats.org/officeDocument/2006/relationships/image" Target="../media/image6.wmf"/><Relationship Id="rId14"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1.bin"/><Relationship Id="rId1" Type="http://schemas.openxmlformats.org/officeDocument/2006/relationships/slideLayout" Target="../slideLayouts/slideLayout8.xml"/><Relationship Id="rId5" Type="http://schemas.openxmlformats.org/officeDocument/2006/relationships/image" Target="../media/image10.wmf"/><Relationship Id="rId4" Type="http://schemas.openxmlformats.org/officeDocument/2006/relationships/oleObject" Target="../embeddings/oleObject8.bin"/></Relationships>
</file>

<file path=ppt/slides/_rels/slide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2.bin"/><Relationship Id="rId1" Type="http://schemas.openxmlformats.org/officeDocument/2006/relationships/slideLayout" Target="../slideLayouts/slideLayout8.xml"/><Relationship Id="rId4" Type="http://schemas.openxmlformats.org/officeDocument/2006/relationships/image" Target="../media/image15.jpg"/></Relationships>
</file>

<file path=ppt/slides/_rels/slide7.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3.bin"/><Relationship Id="rId1" Type="http://schemas.openxmlformats.org/officeDocument/2006/relationships/slideLayout" Target="../slideLayouts/slideLayout8.xml"/><Relationship Id="rId4" Type="http://schemas.openxmlformats.org/officeDocument/2006/relationships/image" Target="../media/image15.jp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3.xml"/><Relationship Id="rId7" Type="http://schemas.openxmlformats.org/officeDocument/2006/relationships/image" Target="../media/image15.jp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6.wmf"/><Relationship Id="rId5" Type="http://schemas.openxmlformats.org/officeDocument/2006/relationships/oleObject" Target="../embeddings/oleObject13.bin"/><Relationship Id="rId4" Type="http://schemas.openxmlformats.org/officeDocument/2006/relationships/slideLayout" Target="../slideLayouts/slideLayout8.xml"/><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oleObject" Target="../embeddings/oleObject18.bin"/><Relationship Id="rId3" Type="http://schemas.openxmlformats.org/officeDocument/2006/relationships/image" Target="../media/image14.wmf"/><Relationship Id="rId7" Type="http://schemas.openxmlformats.org/officeDocument/2006/relationships/oleObject" Target="../embeddings/oleObject15.bin"/><Relationship Id="rId12" Type="http://schemas.openxmlformats.org/officeDocument/2006/relationships/image" Target="../media/image22.wmf"/><Relationship Id="rId2" Type="http://schemas.openxmlformats.org/officeDocument/2006/relationships/oleObject" Target="../embeddings/oleObject12.bin"/><Relationship Id="rId1" Type="http://schemas.openxmlformats.org/officeDocument/2006/relationships/slideLayout" Target="../slideLayouts/slideLayout8.xml"/><Relationship Id="rId6" Type="http://schemas.openxmlformats.org/officeDocument/2006/relationships/image" Target="../media/image19.wmf"/><Relationship Id="rId11" Type="http://schemas.openxmlformats.org/officeDocument/2006/relationships/oleObject" Target="../embeddings/oleObject17.bin"/><Relationship Id="rId5" Type="http://schemas.openxmlformats.org/officeDocument/2006/relationships/oleObject" Target="../embeddings/oleObject14.bin"/><Relationship Id="rId10" Type="http://schemas.openxmlformats.org/officeDocument/2006/relationships/image" Target="../media/image21.wmf"/><Relationship Id="rId4" Type="http://schemas.openxmlformats.org/officeDocument/2006/relationships/image" Target="../media/image15.jpg"/><Relationship Id="rId9" Type="http://schemas.openxmlformats.org/officeDocument/2006/relationships/oleObject" Target="../embeddings/oleObject16.bin"/><Relationship Id="rId14" Type="http://schemas.openxmlformats.org/officeDocument/2006/relationships/image" Target="../media/image23.wmf"/></Relationships>
</file>

<file path=ppt/slides/_rels/slide10.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image" Target="../media/image23.wmf"/><Relationship Id="rId7" Type="http://schemas.openxmlformats.org/officeDocument/2006/relationships/oleObject" Target="../embeddings/oleObject20.bin"/><Relationship Id="rId12" Type="http://schemas.openxmlformats.org/officeDocument/2006/relationships/image" Target="../media/image28.wmf"/><Relationship Id="rId2" Type="http://schemas.openxmlformats.org/officeDocument/2006/relationships/oleObject" Target="../embeddings/oleObject18.bin"/><Relationship Id="rId1" Type="http://schemas.openxmlformats.org/officeDocument/2006/relationships/slideLayout" Target="../slideLayouts/slideLayout8.xml"/><Relationship Id="rId6" Type="http://schemas.openxmlformats.org/officeDocument/2006/relationships/image" Target="../media/image25.jpg"/><Relationship Id="rId11" Type="http://schemas.openxmlformats.org/officeDocument/2006/relationships/oleObject" Target="../embeddings/oleObject22.bin"/><Relationship Id="rId5" Type="http://schemas.openxmlformats.org/officeDocument/2006/relationships/image" Target="../media/image24.wmf"/><Relationship Id="rId10" Type="http://schemas.openxmlformats.org/officeDocument/2006/relationships/image" Target="../media/image27.wmf"/><Relationship Id="rId4" Type="http://schemas.openxmlformats.org/officeDocument/2006/relationships/oleObject" Target="../embeddings/oleObject19.bin"/><Relationship Id="rId9" Type="http://schemas.openxmlformats.org/officeDocument/2006/relationships/oleObject" Target="../embeddings/oleObject21.bin"/></Relationships>
</file>

<file path=ppt/slides/_rels/slide11.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image" Target="../media/image17.png"/><Relationship Id="rId3" Type="http://schemas.openxmlformats.org/officeDocument/2006/relationships/tags" Target="../tags/tag6.xml"/><Relationship Id="rId7" Type="http://schemas.openxmlformats.org/officeDocument/2006/relationships/oleObject" Target="../embeddings/oleObject19.bin"/><Relationship Id="rId12" Type="http://schemas.openxmlformats.org/officeDocument/2006/relationships/image" Target="../media/image26.wmf"/><Relationship Id="rId17" Type="http://schemas.openxmlformats.org/officeDocument/2006/relationships/image" Target="../media/image28.wmf"/><Relationship Id="rId2" Type="http://schemas.openxmlformats.org/officeDocument/2006/relationships/tags" Target="../tags/tag5.xml"/><Relationship Id="rId16" Type="http://schemas.openxmlformats.org/officeDocument/2006/relationships/oleObject" Target="../embeddings/oleObject22.bin"/><Relationship Id="rId1" Type="http://schemas.openxmlformats.org/officeDocument/2006/relationships/tags" Target="../tags/tag4.xml"/><Relationship Id="rId6" Type="http://schemas.openxmlformats.org/officeDocument/2006/relationships/image" Target="../media/image23.wmf"/><Relationship Id="rId11" Type="http://schemas.openxmlformats.org/officeDocument/2006/relationships/oleObject" Target="../embeddings/oleObject20.bin"/><Relationship Id="rId5" Type="http://schemas.openxmlformats.org/officeDocument/2006/relationships/oleObject" Target="../embeddings/oleObject18.bin"/><Relationship Id="rId15" Type="http://schemas.openxmlformats.org/officeDocument/2006/relationships/image" Target="../media/image27.wmf"/><Relationship Id="rId10" Type="http://schemas.openxmlformats.org/officeDocument/2006/relationships/image" Target="../media/image18.png"/><Relationship Id="rId4" Type="http://schemas.openxmlformats.org/officeDocument/2006/relationships/slideLayout" Target="../slideLayouts/slideLayout8.xml"/><Relationship Id="rId9" Type="http://schemas.openxmlformats.org/officeDocument/2006/relationships/image" Target="../media/image25.jpg"/><Relationship Id="rId14" Type="http://schemas.openxmlformats.org/officeDocument/2006/relationships/oleObject" Target="../embeddings/oleObject21.bin"/></Relationships>
</file>

<file path=ppt/slides/_rels/slide12.xml.rels><?xml version="1.0" encoding="UTF-8" standalone="yes"?>
<Relationships xmlns="http://schemas.openxmlformats.org/package/2006/relationships"><Relationship Id="rId8" Type="http://schemas.openxmlformats.org/officeDocument/2006/relationships/image" Target="../media/image29.wmf"/><Relationship Id="rId13" Type="http://schemas.openxmlformats.org/officeDocument/2006/relationships/oleObject" Target="../embeddings/oleObject24.bin"/><Relationship Id="rId18" Type="http://schemas.openxmlformats.org/officeDocument/2006/relationships/oleObject" Target="../embeddings/oleObject26.bin"/><Relationship Id="rId3" Type="http://schemas.openxmlformats.org/officeDocument/2006/relationships/image" Target="../media/image14.wmf"/><Relationship Id="rId21" Type="http://schemas.openxmlformats.org/officeDocument/2006/relationships/image" Target="../media/image34.wmf"/><Relationship Id="rId7" Type="http://schemas.openxmlformats.org/officeDocument/2006/relationships/oleObject" Target="../embeddings/oleObject23.bin"/><Relationship Id="rId12" Type="http://schemas.openxmlformats.org/officeDocument/2006/relationships/image" Target="../media/image23.wmf"/><Relationship Id="rId17" Type="http://schemas.openxmlformats.org/officeDocument/2006/relationships/image" Target="../media/image32.wmf"/><Relationship Id="rId2" Type="http://schemas.openxmlformats.org/officeDocument/2006/relationships/oleObject" Target="../embeddings/oleObject12.bin"/><Relationship Id="rId16" Type="http://schemas.openxmlformats.org/officeDocument/2006/relationships/oleObject" Target="../embeddings/oleObject25.bin"/><Relationship Id="rId20" Type="http://schemas.openxmlformats.org/officeDocument/2006/relationships/oleObject" Target="../embeddings/oleObject27.bin"/><Relationship Id="rId1" Type="http://schemas.openxmlformats.org/officeDocument/2006/relationships/slideLayout" Target="../slideLayouts/slideLayout8.xml"/><Relationship Id="rId6" Type="http://schemas.openxmlformats.org/officeDocument/2006/relationships/image" Target="../media/image19.wmf"/><Relationship Id="rId11" Type="http://schemas.openxmlformats.org/officeDocument/2006/relationships/oleObject" Target="../embeddings/oleObject18.bin"/><Relationship Id="rId5" Type="http://schemas.openxmlformats.org/officeDocument/2006/relationships/oleObject" Target="../embeddings/oleObject14.bin"/><Relationship Id="rId15" Type="http://schemas.openxmlformats.org/officeDocument/2006/relationships/image" Target="../media/image31.jpg"/><Relationship Id="rId10" Type="http://schemas.openxmlformats.org/officeDocument/2006/relationships/image" Target="../media/image22.wmf"/><Relationship Id="rId19" Type="http://schemas.openxmlformats.org/officeDocument/2006/relationships/image" Target="../media/image33.wmf"/><Relationship Id="rId4" Type="http://schemas.openxmlformats.org/officeDocument/2006/relationships/image" Target="../media/image15.jpg"/><Relationship Id="rId9" Type="http://schemas.openxmlformats.org/officeDocument/2006/relationships/oleObject" Target="../embeddings/oleObject17.bin"/><Relationship Id="rId14" Type="http://schemas.openxmlformats.org/officeDocument/2006/relationships/image" Target="../media/image30.wmf"/></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9.xml"/><Relationship Id="rId7" Type="http://schemas.openxmlformats.org/officeDocument/2006/relationships/image" Target="../media/image15.jp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35.wmf"/><Relationship Id="rId5" Type="http://schemas.openxmlformats.org/officeDocument/2006/relationships/oleObject" Target="../embeddings/oleObject28.bin"/><Relationship Id="rId4" Type="http://schemas.openxmlformats.org/officeDocument/2006/relationships/slideLayout" Target="../slideLayouts/slideLayout8.xml"/><Relationship Id="rId9"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17.png"/><Relationship Id="rId5" Type="http://schemas.openxmlformats.org/officeDocument/2006/relationships/image" Target="../media/image18.png"/><Relationship Id="rId4" Type="http://schemas.openxmlformats.org/officeDocument/2006/relationships/image" Target="../media/image36.jpg"/></Relationships>
</file>

<file path=ppt/slides/_rels/slide16.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image" Target="../media/image37.jpg"/><Relationship Id="rId1" Type="http://schemas.openxmlformats.org/officeDocument/2006/relationships/slideLayout" Target="../slideLayouts/slideLayout8.xml"/><Relationship Id="rId6" Type="http://schemas.openxmlformats.org/officeDocument/2006/relationships/image" Target="../media/image39.wmf"/><Relationship Id="rId5" Type="http://schemas.openxmlformats.org/officeDocument/2006/relationships/oleObject" Target="../embeddings/oleObject30.bin"/><Relationship Id="rId4" Type="http://schemas.openxmlformats.org/officeDocument/2006/relationships/image" Target="../media/image38.wmf"/></Relationships>
</file>

<file path=ppt/slides/_rels/slide17.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image" Target="../media/image40.wmf"/><Relationship Id="rId3" Type="http://schemas.openxmlformats.org/officeDocument/2006/relationships/tags" Target="../tags/tag14.xml"/><Relationship Id="rId7" Type="http://schemas.openxmlformats.org/officeDocument/2006/relationships/oleObject" Target="../embeddings/oleObject29.bin"/><Relationship Id="rId12" Type="http://schemas.openxmlformats.org/officeDocument/2006/relationships/oleObject" Target="../embeddings/oleObject31.bin"/><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17.png"/><Relationship Id="rId11" Type="http://schemas.openxmlformats.org/officeDocument/2006/relationships/image" Target="../media/image18.png"/><Relationship Id="rId5" Type="http://schemas.openxmlformats.org/officeDocument/2006/relationships/image" Target="../media/image37.jpg"/><Relationship Id="rId10" Type="http://schemas.openxmlformats.org/officeDocument/2006/relationships/image" Target="../media/image39.wmf"/><Relationship Id="rId4" Type="http://schemas.openxmlformats.org/officeDocument/2006/relationships/slideLayout" Target="../slideLayouts/slideLayout8.xml"/><Relationship Id="rId9" Type="http://schemas.openxmlformats.org/officeDocument/2006/relationships/oleObject" Target="../embeddings/oleObject30.bin"/></Relationships>
</file>

<file path=ppt/slides/_rels/slide18.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image" Target="../media/image43.wmf"/><Relationship Id="rId18" Type="http://schemas.openxmlformats.org/officeDocument/2006/relationships/oleObject" Target="../embeddings/oleObject36.bin"/><Relationship Id="rId3" Type="http://schemas.openxmlformats.org/officeDocument/2006/relationships/image" Target="../media/image14.wmf"/><Relationship Id="rId7" Type="http://schemas.openxmlformats.org/officeDocument/2006/relationships/oleObject" Target="../embeddings/oleObject32.bin"/><Relationship Id="rId12" Type="http://schemas.openxmlformats.org/officeDocument/2006/relationships/oleObject" Target="../embeddings/oleObject33.bin"/><Relationship Id="rId17" Type="http://schemas.openxmlformats.org/officeDocument/2006/relationships/image" Target="../media/image45.wmf"/><Relationship Id="rId2" Type="http://schemas.openxmlformats.org/officeDocument/2006/relationships/oleObject" Target="../embeddings/oleObject12.bin"/><Relationship Id="rId16" Type="http://schemas.openxmlformats.org/officeDocument/2006/relationships/oleObject" Target="../embeddings/oleObject35.bin"/><Relationship Id="rId1" Type="http://schemas.openxmlformats.org/officeDocument/2006/relationships/slideLayout" Target="../slideLayouts/slideLayout8.xml"/><Relationship Id="rId6" Type="http://schemas.openxmlformats.org/officeDocument/2006/relationships/image" Target="../media/image19.wmf"/><Relationship Id="rId11" Type="http://schemas.openxmlformats.org/officeDocument/2006/relationships/image" Target="../media/image42.jpg"/><Relationship Id="rId5" Type="http://schemas.openxmlformats.org/officeDocument/2006/relationships/oleObject" Target="../embeddings/oleObject14.bin"/><Relationship Id="rId15" Type="http://schemas.openxmlformats.org/officeDocument/2006/relationships/image" Target="../media/image44.wmf"/><Relationship Id="rId10" Type="http://schemas.openxmlformats.org/officeDocument/2006/relationships/image" Target="../media/image30.wmf"/><Relationship Id="rId19" Type="http://schemas.openxmlformats.org/officeDocument/2006/relationships/image" Target="../media/image46.wmf"/><Relationship Id="rId4" Type="http://schemas.openxmlformats.org/officeDocument/2006/relationships/image" Target="../media/image15.jpg"/><Relationship Id="rId9" Type="http://schemas.openxmlformats.org/officeDocument/2006/relationships/oleObject" Target="../embeddings/oleObject24.bin"/><Relationship Id="rId14" Type="http://schemas.openxmlformats.org/officeDocument/2006/relationships/oleObject" Target="../embeddings/oleObject34.bin"/></Relationships>
</file>

<file path=ppt/slides/_rels/slide19.xml.rels><?xml version="1.0" encoding="UTF-8" standalone="yes"?>
<Relationships xmlns="http://schemas.openxmlformats.org/package/2006/relationships"><Relationship Id="rId8" Type="http://schemas.openxmlformats.org/officeDocument/2006/relationships/image" Target="../media/image47.wmf"/><Relationship Id="rId13" Type="http://schemas.openxmlformats.org/officeDocument/2006/relationships/image" Target="../media/image50.wmf"/><Relationship Id="rId3" Type="http://schemas.openxmlformats.org/officeDocument/2006/relationships/image" Target="../media/image14.wmf"/><Relationship Id="rId7" Type="http://schemas.openxmlformats.org/officeDocument/2006/relationships/oleObject" Target="../embeddings/oleObject37.bin"/><Relationship Id="rId12" Type="http://schemas.openxmlformats.org/officeDocument/2006/relationships/oleObject" Target="../embeddings/oleObject39.bin"/><Relationship Id="rId2" Type="http://schemas.openxmlformats.org/officeDocument/2006/relationships/oleObject" Target="../embeddings/oleObject12.bin"/><Relationship Id="rId1" Type="http://schemas.openxmlformats.org/officeDocument/2006/relationships/slideLayout" Target="../slideLayouts/slideLayout8.xml"/><Relationship Id="rId6" Type="http://schemas.openxmlformats.org/officeDocument/2006/relationships/image" Target="../media/image19.wmf"/><Relationship Id="rId11" Type="http://schemas.openxmlformats.org/officeDocument/2006/relationships/image" Target="../media/image49.jpg"/><Relationship Id="rId5" Type="http://schemas.openxmlformats.org/officeDocument/2006/relationships/oleObject" Target="../embeddings/oleObject14.bin"/><Relationship Id="rId10" Type="http://schemas.openxmlformats.org/officeDocument/2006/relationships/image" Target="../media/image48.wmf"/><Relationship Id="rId4" Type="http://schemas.openxmlformats.org/officeDocument/2006/relationships/image" Target="../media/image15.jpg"/><Relationship Id="rId9" Type="http://schemas.openxmlformats.org/officeDocument/2006/relationships/oleObject" Target="../embeddings/oleObject38.bin"/></Relationships>
</file>

<file path=ppt/slides/_rels/slide20.xml.rels><?xml version="1.0" encoding="UTF-8" standalone="yes"?>
<Relationships xmlns="http://schemas.openxmlformats.org/package/2006/relationships"><Relationship Id="rId8" Type="http://schemas.openxmlformats.org/officeDocument/2006/relationships/image" Target="../media/image51.wmf"/><Relationship Id="rId13" Type="http://schemas.openxmlformats.org/officeDocument/2006/relationships/oleObject" Target="../embeddings/oleObject43.bin"/><Relationship Id="rId3" Type="http://schemas.openxmlformats.org/officeDocument/2006/relationships/image" Target="../media/image14.wmf"/><Relationship Id="rId7" Type="http://schemas.openxmlformats.org/officeDocument/2006/relationships/oleObject" Target="../embeddings/oleObject40.bin"/><Relationship Id="rId12" Type="http://schemas.openxmlformats.org/officeDocument/2006/relationships/image" Target="../media/image53.wmf"/><Relationship Id="rId2" Type="http://schemas.openxmlformats.org/officeDocument/2006/relationships/oleObject" Target="../embeddings/oleObject12.bin"/><Relationship Id="rId1" Type="http://schemas.openxmlformats.org/officeDocument/2006/relationships/slideLayout" Target="../slideLayouts/slideLayout8.xml"/><Relationship Id="rId6" Type="http://schemas.openxmlformats.org/officeDocument/2006/relationships/image" Target="../media/image19.wmf"/><Relationship Id="rId11" Type="http://schemas.openxmlformats.org/officeDocument/2006/relationships/oleObject" Target="../embeddings/oleObject42.bin"/><Relationship Id="rId5" Type="http://schemas.openxmlformats.org/officeDocument/2006/relationships/oleObject" Target="../embeddings/oleObject14.bin"/><Relationship Id="rId10" Type="http://schemas.openxmlformats.org/officeDocument/2006/relationships/image" Target="../media/image52.wmf"/><Relationship Id="rId4" Type="http://schemas.openxmlformats.org/officeDocument/2006/relationships/image" Target="../media/image15.jpg"/><Relationship Id="rId9" Type="http://schemas.openxmlformats.org/officeDocument/2006/relationships/oleObject" Target="../embeddings/oleObject41.bin"/><Relationship Id="rId14" Type="http://schemas.openxmlformats.org/officeDocument/2006/relationships/image" Target="../media/image54.wmf"/></Relationships>
</file>

<file path=ppt/slides/_rels/slide21.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image" Target="../media/image14.wmf"/><Relationship Id="rId7" Type="http://schemas.openxmlformats.org/officeDocument/2006/relationships/oleObject" Target="../embeddings/oleObject45.bin"/><Relationship Id="rId12" Type="http://schemas.openxmlformats.org/officeDocument/2006/relationships/image" Target="../media/image58.wmf"/><Relationship Id="rId2" Type="http://schemas.openxmlformats.org/officeDocument/2006/relationships/oleObject" Target="../embeddings/oleObject12.bin"/><Relationship Id="rId1" Type="http://schemas.openxmlformats.org/officeDocument/2006/relationships/slideLayout" Target="../slideLayouts/slideLayout8.xml"/><Relationship Id="rId6" Type="http://schemas.openxmlformats.org/officeDocument/2006/relationships/image" Target="../media/image55.wmf"/><Relationship Id="rId11" Type="http://schemas.openxmlformats.org/officeDocument/2006/relationships/oleObject" Target="../embeddings/oleObject47.bin"/><Relationship Id="rId5" Type="http://schemas.openxmlformats.org/officeDocument/2006/relationships/oleObject" Target="../embeddings/oleObject44.bin"/><Relationship Id="rId10" Type="http://schemas.openxmlformats.org/officeDocument/2006/relationships/image" Target="../media/image57.wmf"/><Relationship Id="rId4" Type="http://schemas.openxmlformats.org/officeDocument/2006/relationships/image" Target="../media/image15.jpg"/><Relationship Id="rId9" Type="http://schemas.openxmlformats.org/officeDocument/2006/relationships/oleObject" Target="../embeddings/oleObject46.bin"/></Relationships>
</file>

<file path=ppt/slides/_rels/slide22.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image" Target="../media/image59.jpg"/><Relationship Id="rId1" Type="http://schemas.openxmlformats.org/officeDocument/2006/relationships/slideLayout" Target="../slideLayouts/slideLayout8.xml"/><Relationship Id="rId6" Type="http://schemas.openxmlformats.org/officeDocument/2006/relationships/image" Target="../media/image60.wmf"/><Relationship Id="rId5" Type="http://schemas.openxmlformats.org/officeDocument/2006/relationships/oleObject" Target="../embeddings/oleObject48.bin"/><Relationship Id="rId4" Type="http://schemas.openxmlformats.org/officeDocument/2006/relationships/image" Target="../media/image38.wmf"/></Relationships>
</file>

<file path=ppt/slides/_rels/slide23.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image" Target="../media/image40.wmf"/><Relationship Id="rId3" Type="http://schemas.openxmlformats.org/officeDocument/2006/relationships/tags" Target="../tags/tag17.xml"/><Relationship Id="rId7" Type="http://schemas.openxmlformats.org/officeDocument/2006/relationships/oleObject" Target="../embeddings/oleObject29.bin"/><Relationship Id="rId12" Type="http://schemas.openxmlformats.org/officeDocument/2006/relationships/oleObject" Target="../embeddings/oleObject31.bin"/><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17.png"/><Relationship Id="rId11" Type="http://schemas.openxmlformats.org/officeDocument/2006/relationships/image" Target="../media/image60.wmf"/><Relationship Id="rId5" Type="http://schemas.openxmlformats.org/officeDocument/2006/relationships/image" Target="../media/image59.jpg"/><Relationship Id="rId10" Type="http://schemas.openxmlformats.org/officeDocument/2006/relationships/oleObject" Target="../embeddings/oleObject48.bin"/><Relationship Id="rId4" Type="http://schemas.openxmlformats.org/officeDocument/2006/relationships/slideLayout" Target="../slideLayouts/slideLayout8.xml"/><Relationship Id="rId9" Type="http://schemas.openxmlformats.org/officeDocument/2006/relationships/image" Target="../media/image18.png"/></Relationships>
</file>

<file path=ppt/slides/_rels/slide24.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image" Target="../media/image63.wmf"/><Relationship Id="rId3" Type="http://schemas.openxmlformats.org/officeDocument/2006/relationships/image" Target="../media/image14.wmf"/><Relationship Id="rId7" Type="http://schemas.openxmlformats.org/officeDocument/2006/relationships/oleObject" Target="../embeddings/oleObject32.bin"/><Relationship Id="rId12" Type="http://schemas.openxmlformats.org/officeDocument/2006/relationships/oleObject" Target="../embeddings/oleObject50.bin"/><Relationship Id="rId2" Type="http://schemas.openxmlformats.org/officeDocument/2006/relationships/oleObject" Target="../embeddings/oleObject12.bin"/><Relationship Id="rId1" Type="http://schemas.openxmlformats.org/officeDocument/2006/relationships/slideLayout" Target="../slideLayouts/slideLayout8.xml"/><Relationship Id="rId6" Type="http://schemas.openxmlformats.org/officeDocument/2006/relationships/image" Target="../media/image55.wmf"/><Relationship Id="rId11" Type="http://schemas.openxmlformats.org/officeDocument/2006/relationships/image" Target="../media/image62.wmf"/><Relationship Id="rId5" Type="http://schemas.openxmlformats.org/officeDocument/2006/relationships/oleObject" Target="../embeddings/oleObject44.bin"/><Relationship Id="rId15" Type="http://schemas.openxmlformats.org/officeDocument/2006/relationships/image" Target="../media/image64.wmf"/><Relationship Id="rId10" Type="http://schemas.openxmlformats.org/officeDocument/2006/relationships/oleObject" Target="../embeddings/oleObject49.bin"/><Relationship Id="rId4" Type="http://schemas.openxmlformats.org/officeDocument/2006/relationships/image" Target="../media/image15.jpg"/><Relationship Id="rId9" Type="http://schemas.openxmlformats.org/officeDocument/2006/relationships/image" Target="../media/image61.jpg"/><Relationship Id="rId14" Type="http://schemas.openxmlformats.org/officeDocument/2006/relationships/oleObject" Target="../embeddings/oleObject51.bin"/></Relationships>
</file>

<file path=ppt/slides/_rels/slide25.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oleObject" Target="../embeddings/oleObject52.bin"/><Relationship Id="rId1" Type="http://schemas.openxmlformats.org/officeDocument/2006/relationships/slideLayout" Target="../slideLayouts/slideLayout8.xml"/><Relationship Id="rId4" Type="http://schemas.openxmlformats.org/officeDocument/2006/relationships/image" Target="../media/image15.jpg"/></Relationships>
</file>

<file path=ppt/slides/_rels/slide2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20.xml"/><Relationship Id="rId7" Type="http://schemas.openxmlformats.org/officeDocument/2006/relationships/image" Target="../media/image15.jp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65.wmf"/><Relationship Id="rId5" Type="http://schemas.openxmlformats.org/officeDocument/2006/relationships/oleObject" Target="../embeddings/oleObject52.bin"/><Relationship Id="rId4" Type="http://schemas.openxmlformats.org/officeDocument/2006/relationships/slideLayout" Target="../slideLayouts/slideLayout8.xml"/><Relationship Id="rId9"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7.png"/><Relationship Id="rId5" Type="http://schemas.openxmlformats.org/officeDocument/2006/relationships/image" Target="../media/image18.png"/><Relationship Id="rId4" Type="http://schemas.openxmlformats.org/officeDocument/2006/relationships/image" Target="../media/image66.jpg"/></Relationships>
</file>

<file path=ppt/slides/_rels/slide29.xml.rels><?xml version="1.0" encoding="UTF-8" standalone="yes"?>
<Relationships xmlns="http://schemas.openxmlformats.org/package/2006/relationships"><Relationship Id="rId8" Type="http://schemas.openxmlformats.org/officeDocument/2006/relationships/image" Target="../media/image67.wmf"/><Relationship Id="rId13" Type="http://schemas.openxmlformats.org/officeDocument/2006/relationships/image" Target="../media/image69.wmf"/><Relationship Id="rId3" Type="http://schemas.openxmlformats.org/officeDocument/2006/relationships/image" Target="../media/image14.wmf"/><Relationship Id="rId7" Type="http://schemas.openxmlformats.org/officeDocument/2006/relationships/oleObject" Target="../embeddings/oleObject53.bin"/><Relationship Id="rId12" Type="http://schemas.openxmlformats.org/officeDocument/2006/relationships/oleObject" Target="../embeddings/oleObject54.bin"/><Relationship Id="rId2" Type="http://schemas.openxmlformats.org/officeDocument/2006/relationships/oleObject" Target="../embeddings/oleObject12.bin"/><Relationship Id="rId1" Type="http://schemas.openxmlformats.org/officeDocument/2006/relationships/slideLayout" Target="../slideLayouts/slideLayout8.xml"/><Relationship Id="rId6" Type="http://schemas.openxmlformats.org/officeDocument/2006/relationships/image" Target="../media/image55.wmf"/><Relationship Id="rId11" Type="http://schemas.openxmlformats.org/officeDocument/2006/relationships/image" Target="../media/image68.jpg"/><Relationship Id="rId5" Type="http://schemas.openxmlformats.org/officeDocument/2006/relationships/oleObject" Target="../embeddings/oleObject44.bin"/><Relationship Id="rId10" Type="http://schemas.openxmlformats.org/officeDocument/2006/relationships/image" Target="../media/image48.wmf"/><Relationship Id="rId4" Type="http://schemas.openxmlformats.org/officeDocument/2006/relationships/image" Target="../media/image15.jpg"/><Relationship Id="rId9" Type="http://schemas.openxmlformats.org/officeDocument/2006/relationships/oleObject" Target="../embeddings/oleObject38.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71.wmf"/><Relationship Id="rId3" Type="http://schemas.openxmlformats.org/officeDocument/2006/relationships/oleObject" Target="../embeddings/oleObject12.bin"/><Relationship Id="rId7" Type="http://schemas.openxmlformats.org/officeDocument/2006/relationships/image" Target="../media/image55.wmf"/><Relationship Id="rId12" Type="http://schemas.openxmlformats.org/officeDocument/2006/relationships/oleObject" Target="../embeddings/oleObject56.bin"/><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oleObject" Target="../embeddings/oleObject44.bin"/><Relationship Id="rId11" Type="http://schemas.openxmlformats.org/officeDocument/2006/relationships/image" Target="../media/image70.wmf"/><Relationship Id="rId5" Type="http://schemas.openxmlformats.org/officeDocument/2006/relationships/image" Target="../media/image15.jpg"/><Relationship Id="rId15" Type="http://schemas.openxmlformats.org/officeDocument/2006/relationships/image" Target="../media/image72.wmf"/><Relationship Id="rId10" Type="http://schemas.openxmlformats.org/officeDocument/2006/relationships/oleObject" Target="../embeddings/oleObject55.bin"/><Relationship Id="rId4" Type="http://schemas.openxmlformats.org/officeDocument/2006/relationships/image" Target="../media/image14.wmf"/><Relationship Id="rId9" Type="http://schemas.openxmlformats.org/officeDocument/2006/relationships/image" Target="../media/image22.wmf"/><Relationship Id="rId14" Type="http://schemas.openxmlformats.org/officeDocument/2006/relationships/oleObject" Target="../embeddings/oleObject57.bin"/></Relationships>
</file>

<file path=ppt/slides/_rels/slide31.x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image" Target="../media/image14.wmf"/><Relationship Id="rId7" Type="http://schemas.openxmlformats.org/officeDocument/2006/relationships/oleObject" Target="../embeddings/oleObject59.bin"/><Relationship Id="rId2" Type="http://schemas.openxmlformats.org/officeDocument/2006/relationships/oleObject" Target="../embeddings/oleObject12.bin"/><Relationship Id="rId1" Type="http://schemas.openxmlformats.org/officeDocument/2006/relationships/slideLayout" Target="../slideLayouts/slideLayout8.xml"/><Relationship Id="rId6" Type="http://schemas.openxmlformats.org/officeDocument/2006/relationships/image" Target="../media/image73.wmf"/><Relationship Id="rId5" Type="http://schemas.openxmlformats.org/officeDocument/2006/relationships/oleObject" Target="../embeddings/oleObject58.bin"/><Relationship Id="rId4" Type="http://schemas.openxmlformats.org/officeDocument/2006/relationships/image" Target="../media/image15.jpg"/></Relationships>
</file>

<file path=ppt/slides/_rels/slide32.xml.rels><?xml version="1.0" encoding="UTF-8" standalone="yes"?>
<Relationships xmlns="http://schemas.openxmlformats.org/package/2006/relationships"><Relationship Id="rId8" Type="http://schemas.openxmlformats.org/officeDocument/2006/relationships/image" Target="../media/image76.wmf"/><Relationship Id="rId13" Type="http://schemas.openxmlformats.org/officeDocument/2006/relationships/oleObject" Target="../embeddings/oleObject64.bin"/><Relationship Id="rId3" Type="http://schemas.openxmlformats.org/officeDocument/2006/relationships/image" Target="../media/image14.wmf"/><Relationship Id="rId7" Type="http://schemas.openxmlformats.org/officeDocument/2006/relationships/oleObject" Target="../embeddings/oleObject61.bin"/><Relationship Id="rId12" Type="http://schemas.openxmlformats.org/officeDocument/2006/relationships/image" Target="../media/image78.wmf"/><Relationship Id="rId2" Type="http://schemas.openxmlformats.org/officeDocument/2006/relationships/oleObject" Target="../embeddings/oleObject12.bin"/><Relationship Id="rId1" Type="http://schemas.openxmlformats.org/officeDocument/2006/relationships/slideLayout" Target="../slideLayouts/slideLayout8.xml"/><Relationship Id="rId6" Type="http://schemas.openxmlformats.org/officeDocument/2006/relationships/image" Target="../media/image75.wmf"/><Relationship Id="rId11" Type="http://schemas.openxmlformats.org/officeDocument/2006/relationships/oleObject" Target="../embeddings/oleObject63.bin"/><Relationship Id="rId5" Type="http://schemas.openxmlformats.org/officeDocument/2006/relationships/oleObject" Target="../embeddings/oleObject60.bin"/><Relationship Id="rId10" Type="http://schemas.openxmlformats.org/officeDocument/2006/relationships/image" Target="../media/image77.wmf"/><Relationship Id="rId4" Type="http://schemas.openxmlformats.org/officeDocument/2006/relationships/image" Target="../media/image15.jpg"/><Relationship Id="rId9" Type="http://schemas.openxmlformats.org/officeDocument/2006/relationships/oleObject" Target="../embeddings/oleObject62.bin"/><Relationship Id="rId14" Type="http://schemas.openxmlformats.org/officeDocument/2006/relationships/image" Target="../media/image79.wmf"/></Relationships>
</file>

<file path=ppt/slides/_rels/slide3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8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23997"/>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106770"/>
            <a:ext cx="8240620" cy="344128"/>
          </a:xfrm>
        </p:spPr>
        <p:txBody>
          <a:bodyPr wrap="square" lIns="0" tIns="18000" rIns="0" bIns="18000" anchor="ctr">
            <a:spAutoFit/>
          </a:bodyPr>
          <a:lstStyle/>
          <a:p>
            <a:r>
              <a:rPr lang="en-US" noProof="0" dirty="0"/>
              <a:t>Twelfth Edition, </a:t>
            </a:r>
            <a:r>
              <a:rPr lang="en-US" dirty="0"/>
              <a:t>Global Edition</a:t>
            </a:r>
            <a:endParaRPr lang="en-US" noProof="0" dirty="0"/>
          </a:p>
        </p:txBody>
      </p:sp>
      <p:pic>
        <p:nvPicPr>
          <p:cNvPr id="12" name="Picture 11">
            <a:extLst>
              <a:ext uri="{FF2B5EF4-FFF2-40B4-BE49-F238E27FC236}">
                <a16:creationId xmlns:a16="http://schemas.microsoft.com/office/drawing/2014/main" id="{42D257CC-0C28-71A3-2065-767CAFB1F7FF}"/>
              </a:ext>
            </a:extLst>
          </p:cNvPr>
          <p:cNvPicPr>
            <a:picLocks noChangeAspect="1"/>
          </p:cNvPicPr>
          <p:nvPr/>
        </p:nvPicPr>
        <p:blipFill>
          <a:blip r:embed="rId3"/>
          <a:stretch>
            <a:fillRect/>
          </a:stretch>
        </p:blipFill>
        <p:spPr>
          <a:xfrm>
            <a:off x="429105" y="1769717"/>
            <a:ext cx="3427532" cy="4284034"/>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t>Chapter 7 – Part 4</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376257"/>
            <a:ext cx="3657600" cy="713460"/>
          </a:xfrm>
        </p:spPr>
        <p:txBody>
          <a:bodyPr lIns="0" tIns="18000" rIns="0" bIns="18000" anchor="ctr">
            <a:spAutoFit/>
          </a:bodyPr>
          <a:lstStyle/>
          <a:p>
            <a:pPr marL="0"/>
            <a:r>
              <a:rPr lang="en-US" noProof="0" dirty="0"/>
              <a:t>Response of First-Order </a:t>
            </a:r>
            <a:r>
              <a:rPr lang="en-US" i="1" spc="-300" noProof="0" dirty="0"/>
              <a:t>R </a:t>
            </a:r>
            <a:r>
              <a:rPr lang="en-US" i="1" noProof="0" dirty="0"/>
              <a:t>L </a:t>
            </a:r>
            <a:r>
              <a:rPr lang="en-US" noProof="0" dirty="0"/>
              <a:t>and </a:t>
            </a:r>
            <a:r>
              <a:rPr lang="en-US" i="1" spc="-300" noProof="0" dirty="0"/>
              <a:t>R </a:t>
            </a:r>
            <a:r>
              <a:rPr lang="en-US" i="1" noProof="0" dirty="0"/>
              <a:t>C </a:t>
            </a:r>
            <a:r>
              <a:rPr lang="en-US" noProof="0" dirty="0"/>
              <a:t>Circuits</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74111" y="636536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613804" y="6455210"/>
            <a:ext cx="6056085" cy="221018"/>
          </a:xfrm>
        </p:spPr>
        <p:txBody>
          <a:bodyPr wrap="square" lIns="0" tIns="18000" rIns="0" bIns="18000" anchor="ctr">
            <a:spAutoFit/>
          </a:bodyPr>
          <a:lstStyle/>
          <a:p>
            <a:pPr algn="r"/>
            <a:r>
              <a:rPr lang="en-US" sz="1200" noProof="0" dirty="0">
                <a:latin typeface="Verdana" panose="020B0604030504040204" pitchFamily="34" charset="0"/>
                <a:ea typeface="Verdana" panose="020B0604030504040204" pitchFamily="34" charset="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13986"/>
            <a:ext cx="8229600" cy="1144347"/>
          </a:xfrm>
        </p:spPr>
        <p:txBody>
          <a:bodyPr/>
          <a:lstStyle/>
          <a:p>
            <a:r>
              <a:rPr lang="en-US" noProof="0" dirty="0"/>
              <a:t>Chapter 7 – Sequential Switching Problems </a:t>
            </a:r>
            <a:r>
              <a:rPr lang="en-US" sz="2800" noProof="0" dirty="0"/>
              <a:t>(1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7726" y="1446181"/>
            <a:ext cx="8220974" cy="3221839"/>
          </a:xfrm>
        </p:spPr>
        <p:txBody>
          <a:bodyPr wrap="square" lIns="0" tIns="18000" rIns="0" bIns="18000" anchor="ctr">
            <a:spAutoFit/>
          </a:bodyPr>
          <a:lstStyle/>
          <a:p>
            <a:pPr marL="0" indent="0">
              <a:spcBef>
                <a:spcPts val="600"/>
              </a:spcBef>
              <a:buNone/>
            </a:pPr>
            <a:r>
              <a:rPr lang="en-US" sz="2400" noProof="0" dirty="0"/>
              <a:t>Sometimes first-order </a:t>
            </a:r>
            <a:r>
              <a:rPr lang="en-US" sz="2400" spc="-300" noProof="0" dirty="0"/>
              <a:t>R </a:t>
            </a:r>
            <a:r>
              <a:rPr lang="en-US" sz="2400" noProof="0" dirty="0"/>
              <a:t>L/</a:t>
            </a:r>
            <a:r>
              <a:rPr lang="en-US" sz="2400" spc="-300" noProof="0" dirty="0"/>
              <a:t>R </a:t>
            </a:r>
            <a:r>
              <a:rPr lang="en-US" sz="2400" noProof="0" dirty="0"/>
              <a:t>C circuits have multiple switching times. This can happen when a circuit has</a:t>
            </a:r>
          </a:p>
          <a:p>
            <a:pPr marL="342900" indent="-342900">
              <a:spcBef>
                <a:spcPts val="600"/>
              </a:spcBef>
            </a:pPr>
            <a:r>
              <a:rPr lang="en-US" sz="2400" noProof="0" dirty="0"/>
              <a:t>One switch that goes back and forth between two positions at different times</a:t>
            </a:r>
          </a:p>
          <a:p>
            <a:pPr marL="342900" indent="-342900">
              <a:spcBef>
                <a:spcPts val="600"/>
              </a:spcBef>
            </a:pPr>
            <a:r>
              <a:rPr lang="en-US" sz="2400" noProof="0" dirty="0"/>
              <a:t>One switch that has three or more positions and at least two different switching times</a:t>
            </a:r>
          </a:p>
          <a:p>
            <a:pPr marL="342900" indent="-342900">
              <a:spcBef>
                <a:spcPts val="600"/>
              </a:spcBef>
            </a:pPr>
            <a:r>
              <a:rPr lang="en-US" sz="2400" noProof="0" dirty="0"/>
              <a:t>Two or more switches whose positions change at different times.</a:t>
            </a:r>
          </a:p>
        </p:txBody>
      </p:sp>
    </p:spTree>
    <p:extLst>
      <p:ext uri="{BB962C8B-B14F-4D97-AF65-F5344CB8AC3E}">
        <p14:creationId xmlns:p14="http://schemas.microsoft.com/office/powerpoint/2010/main" val="3865518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13988"/>
            <a:ext cx="8229600" cy="1144347"/>
          </a:xfrm>
        </p:spPr>
        <p:txBody>
          <a:bodyPr/>
          <a:lstStyle/>
          <a:p>
            <a:r>
              <a:rPr lang="en-US" noProof="0" dirty="0"/>
              <a:t>Chapter 7 – Sequential Switching Problems </a:t>
            </a:r>
            <a:r>
              <a:rPr lang="en-US" sz="2800" noProof="0" dirty="0"/>
              <a:t>(2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53221"/>
            <a:ext cx="8241401" cy="3144895"/>
          </a:xfrm>
        </p:spPr>
        <p:txBody>
          <a:bodyPr wrap="square" lIns="0" tIns="18000" rIns="0" bIns="18000" anchor="ctr">
            <a:spAutoFit/>
          </a:bodyPr>
          <a:lstStyle/>
          <a:p>
            <a:pPr marL="342900" indent="-342900">
              <a:spcBef>
                <a:spcPts val="600"/>
              </a:spcBef>
            </a:pPr>
            <a:r>
              <a:rPr lang="en-US" sz="2400" noProof="0" dirty="0"/>
              <a:t>Such circuits can exhibit the natural response, the step response, or both!</a:t>
            </a:r>
          </a:p>
          <a:p>
            <a:pPr marL="342900" indent="-342900">
              <a:spcBef>
                <a:spcPts val="600"/>
              </a:spcBef>
            </a:pPr>
            <a:r>
              <a:rPr lang="en-US" sz="2400" noProof="0" dirty="0"/>
              <a:t>We analyze the behavior of a sequential switching circuit using the same analysis method used for first-order circuits with only one switching time, repeating the process for each time segment!</a:t>
            </a:r>
          </a:p>
          <a:p>
            <a:pPr marL="342900" indent="-342900">
              <a:spcBef>
                <a:spcPts val="600"/>
              </a:spcBef>
            </a:pPr>
            <a:r>
              <a:rPr lang="en-US" sz="2400" noProof="0" dirty="0"/>
              <a:t>The next slide reviews the analysis method. Examples will be used to illustrate.</a:t>
            </a:r>
          </a:p>
        </p:txBody>
      </p:sp>
    </p:spTree>
    <p:extLst>
      <p:ext uri="{BB962C8B-B14F-4D97-AF65-F5344CB8AC3E}">
        <p14:creationId xmlns:p14="http://schemas.microsoft.com/office/powerpoint/2010/main" val="1074977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9524" y="213986"/>
            <a:ext cx="8229600" cy="1144347"/>
          </a:xfrm>
        </p:spPr>
        <p:txBody>
          <a:bodyPr/>
          <a:lstStyle/>
          <a:p>
            <a:r>
              <a:rPr lang="en-US" noProof="0" dirty="0"/>
              <a:t>Chapter 7 – </a:t>
            </a:r>
            <a:r>
              <a:rPr lang="en-US" i="1" spc="-500" noProof="0" dirty="0"/>
              <a:t>R </a:t>
            </a:r>
            <a:r>
              <a:rPr lang="en-US" i="1" noProof="0" dirty="0"/>
              <a:t>L</a:t>
            </a:r>
            <a:r>
              <a:rPr lang="en-US" noProof="0" dirty="0"/>
              <a:t>/</a:t>
            </a:r>
            <a:r>
              <a:rPr lang="en-US" i="1" spc="-500" noProof="0" dirty="0"/>
              <a:t>R </a:t>
            </a:r>
            <a:r>
              <a:rPr lang="en-US" i="1" noProof="0" dirty="0"/>
              <a:t>C</a:t>
            </a:r>
            <a:r>
              <a:rPr lang="en-US" noProof="0" dirty="0"/>
              <a:t> Natural and Step Response </a:t>
            </a:r>
            <a:r>
              <a:rPr lang="en-US" sz="2800" noProof="0" dirty="0"/>
              <a:t>(1 of 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532577"/>
            <a:ext cx="8220974" cy="590349"/>
          </a:xfrm>
        </p:spPr>
        <p:txBody>
          <a:bodyPr wrap="square" lIns="0" tIns="18000" rIns="0" bIns="18000" anchor="ctr">
            <a:spAutoFit/>
          </a:bodyPr>
          <a:lstStyle/>
          <a:p>
            <a:pPr marL="0" indent="0">
              <a:spcBef>
                <a:spcPts val="600"/>
              </a:spcBef>
              <a:buNone/>
            </a:pPr>
            <a:r>
              <a:rPr lang="en-US" sz="1800" noProof="0" dirty="0"/>
              <a:t>This is a general solution method for both the natural and step responses of first-order circuits. A circuit exhibiting a natural response has no independent source</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9525" y="2143424"/>
            <a:ext cx="307075" cy="313350"/>
          </a:xfrm>
        </p:spPr>
        <p:txBody>
          <a:bodyPr wrap="square" lIns="0" tIns="18000" rIns="0" bIns="18000" anchor="ctr">
            <a:spAutoFit/>
          </a:bodyPr>
          <a:lstStyle/>
          <a:p>
            <a:pPr marL="0" indent="0">
              <a:spcBef>
                <a:spcPts val="600"/>
              </a:spcBef>
              <a:buNone/>
            </a:pPr>
            <a:r>
              <a:rPr lang="en-US" sz="1800" noProof="0" dirty="0"/>
              <a:t>as</a:t>
            </a:r>
          </a:p>
        </p:txBody>
      </p:sp>
      <p:graphicFrame>
        <p:nvGraphicFramePr>
          <p:cNvPr id="2" name="Object 1" descr="t right arrow, infinity,&#10;">
            <a:extLst>
              <a:ext uri="{FF2B5EF4-FFF2-40B4-BE49-F238E27FC236}">
                <a16:creationId xmlns:a16="http://schemas.microsoft.com/office/drawing/2014/main" id="{E3F3411F-148E-D954-1C6C-FEF92B957644}"/>
              </a:ext>
            </a:extLst>
          </p:cNvPr>
          <p:cNvGraphicFramePr>
            <a:graphicFrameLocks noChangeAspect="1"/>
          </p:cNvGraphicFramePr>
          <p:nvPr>
            <p:extLst>
              <p:ext uri="{D42A27DB-BD31-4B8C-83A1-F6EECF244321}">
                <p14:modId xmlns:p14="http://schemas.microsoft.com/office/powerpoint/2010/main" val="2958588891"/>
              </p:ext>
            </p:extLst>
          </p:nvPr>
        </p:nvGraphicFramePr>
        <p:xfrm>
          <a:off x="756627" y="2176792"/>
          <a:ext cx="682258" cy="284137"/>
        </p:xfrm>
        <a:graphic>
          <a:graphicData uri="http://schemas.openxmlformats.org/presentationml/2006/ole">
            <mc:AlternateContent xmlns:mc="http://schemas.openxmlformats.org/markup-compatibility/2006">
              <mc:Choice xmlns:v="urn:schemas-microsoft-com:vml" Requires="v">
                <p:oleObj name="Equation" r:id="rId2" imgW="457200" imgH="190440" progId="Equation.DSMT4">
                  <p:embed/>
                </p:oleObj>
              </mc:Choice>
              <mc:Fallback>
                <p:oleObj name="Equation" r:id="rId2" imgW="457200" imgH="190440" progId="Equation.DSMT4">
                  <p:embed/>
                  <p:pic>
                    <p:nvPicPr>
                      <p:cNvPr id="6" name="Object 5"/>
                      <p:cNvPicPr>
                        <a:picLocks noChangeAspect="1" noChangeArrowheads="1"/>
                      </p:cNvPicPr>
                      <p:nvPr/>
                    </p:nvPicPr>
                    <p:blipFill>
                      <a:blip r:embed="rId3"/>
                      <a:srcRect/>
                      <a:stretch>
                        <a:fillRect/>
                      </a:stretch>
                    </p:blipFill>
                    <p:spPr bwMode="auto">
                      <a:xfrm>
                        <a:off x="756627" y="2176792"/>
                        <a:ext cx="682258" cy="284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453074" y="2146979"/>
            <a:ext cx="1633206" cy="313350"/>
          </a:xfrm>
        </p:spPr>
        <p:txBody>
          <a:bodyPr wrap="square" lIns="0" tIns="18000" rIns="0" bIns="18000" anchor="ctr">
            <a:spAutoFit/>
          </a:bodyPr>
          <a:lstStyle/>
          <a:p>
            <a:pPr marL="0" indent="0">
              <a:spcBef>
                <a:spcPts val="600"/>
              </a:spcBef>
              <a:buNone/>
            </a:pPr>
            <a:r>
              <a:rPr lang="en-US" sz="1800" noProof="0" dirty="0"/>
              <a:t>so its final value </a:t>
            </a:r>
          </a:p>
        </p:txBody>
      </p:sp>
      <p:graphicFrame>
        <p:nvGraphicFramePr>
          <p:cNvPr id="3" name="Object 2" descr="X subscript f baseline equals 0.&#10;">
            <a:extLst>
              <a:ext uri="{FF2B5EF4-FFF2-40B4-BE49-F238E27FC236}">
                <a16:creationId xmlns:a16="http://schemas.microsoft.com/office/drawing/2014/main" id="{E5F54385-41F7-B75D-5BF1-37114BA5B2AB}"/>
              </a:ext>
            </a:extLst>
          </p:cNvPr>
          <p:cNvGraphicFramePr>
            <a:graphicFrameLocks noChangeAspect="1"/>
          </p:cNvGraphicFramePr>
          <p:nvPr>
            <p:extLst>
              <p:ext uri="{D42A27DB-BD31-4B8C-83A1-F6EECF244321}">
                <p14:modId xmlns:p14="http://schemas.microsoft.com/office/powerpoint/2010/main" val="41650796"/>
              </p:ext>
            </p:extLst>
          </p:nvPr>
        </p:nvGraphicFramePr>
        <p:xfrm>
          <a:off x="3143250" y="2207733"/>
          <a:ext cx="587375" cy="271463"/>
        </p:xfrm>
        <a:graphic>
          <a:graphicData uri="http://schemas.openxmlformats.org/presentationml/2006/ole">
            <mc:AlternateContent xmlns:mc="http://schemas.openxmlformats.org/markup-compatibility/2006">
              <mc:Choice xmlns:v="urn:schemas-microsoft-com:vml" Requires="v">
                <p:oleObj name="Equation" r:id="rId4" imgW="495000" imgH="228600" progId="Equation.DSMT4">
                  <p:embed/>
                </p:oleObj>
              </mc:Choice>
              <mc:Fallback>
                <p:oleObj name="Equation" r:id="rId4" imgW="495000" imgH="228600" progId="Equation.DSMT4">
                  <p:embed/>
                  <p:pic>
                    <p:nvPicPr>
                      <p:cNvPr id="2" name="Object 1">
                        <a:extLst>
                          <a:ext uri="{FF2B5EF4-FFF2-40B4-BE49-F238E27FC236}">
                            <a16:creationId xmlns:a16="http://schemas.microsoft.com/office/drawing/2014/main" id="{E3F3411F-148E-D954-1C6C-FEF92B957644}"/>
                          </a:ext>
                        </a:extLst>
                      </p:cNvPr>
                      <p:cNvPicPr>
                        <a:picLocks noChangeAspect="1" noChangeArrowheads="1"/>
                      </p:cNvPicPr>
                      <p:nvPr/>
                    </p:nvPicPr>
                    <p:blipFill>
                      <a:blip r:embed="rId5"/>
                      <a:srcRect/>
                      <a:stretch>
                        <a:fillRect/>
                      </a:stretch>
                    </p:blipFill>
                    <p:spPr bwMode="auto">
                      <a:xfrm>
                        <a:off x="3143250" y="2207733"/>
                        <a:ext cx="587375" cy="271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29524" y="2562361"/>
            <a:ext cx="8220974" cy="590349"/>
          </a:xfrm>
        </p:spPr>
        <p:txBody>
          <a:bodyPr wrap="square" lIns="0" tIns="18000" rIns="0" bIns="18000" anchor="ctr">
            <a:spAutoFit/>
          </a:bodyPr>
          <a:lstStyle/>
          <a:p>
            <a:pPr marL="342900" indent="-342900">
              <a:spcBef>
                <a:spcPts val="600"/>
              </a:spcBef>
            </a:pPr>
            <a:r>
              <a:rPr lang="en-US" sz="1800" noProof="0" dirty="0"/>
              <a:t>Step 1 – Identify the variable </a:t>
            </a:r>
            <a:r>
              <a:rPr lang="en-US" sz="1800" i="1" noProof="0" dirty="0"/>
              <a:t>x</a:t>
            </a:r>
            <a:r>
              <a:rPr lang="en-US" sz="1800" noProof="0" dirty="0"/>
              <a:t>(</a:t>
            </a:r>
            <a:r>
              <a:rPr lang="en-US" sz="1800" i="1" noProof="0" dirty="0"/>
              <a:t>t</a:t>
            </a:r>
            <a:r>
              <a:rPr lang="en-US" sz="1800" noProof="0" dirty="0"/>
              <a:t>), which is the inductor current for </a:t>
            </a:r>
            <a:r>
              <a:rPr lang="en-US" sz="1800" i="1" spc="-250" noProof="0" dirty="0"/>
              <a:t>R </a:t>
            </a:r>
            <a:r>
              <a:rPr lang="en-US" sz="1800" i="1" noProof="0" dirty="0"/>
              <a:t>L </a:t>
            </a:r>
            <a:r>
              <a:rPr lang="en-US" sz="1800" noProof="0" dirty="0"/>
              <a:t>circuits and capacitor voltage for </a:t>
            </a:r>
            <a:r>
              <a:rPr lang="en-US" sz="1800" i="1" spc="-250" noProof="0" dirty="0"/>
              <a:t>R </a:t>
            </a:r>
            <a:r>
              <a:rPr lang="en-US" sz="1800" i="1" noProof="0" dirty="0"/>
              <a:t>C</a:t>
            </a:r>
            <a:r>
              <a:rPr lang="en-US" sz="1800" noProof="0" dirty="0"/>
              <a:t> circuits</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38150" y="3221653"/>
            <a:ext cx="3788793" cy="313350"/>
          </a:xfrm>
        </p:spPr>
        <p:txBody>
          <a:bodyPr wrap="square" lIns="0" tIns="18000" rIns="0" bIns="18000" anchor="ctr">
            <a:spAutoFit/>
          </a:bodyPr>
          <a:lstStyle/>
          <a:p>
            <a:pPr marL="342900" indent="-342900">
              <a:spcBef>
                <a:spcPts val="600"/>
              </a:spcBef>
            </a:pPr>
            <a:r>
              <a:rPr lang="en-US" sz="1800" noProof="0" dirty="0"/>
              <a:t>Step 2 – Calculate the initial value </a:t>
            </a:r>
          </a:p>
        </p:txBody>
      </p:sp>
      <p:graphicFrame>
        <p:nvGraphicFramePr>
          <p:cNvPr id="4" name="Object 3" descr="X subscript 0.&#10;">
            <a:extLst>
              <a:ext uri="{FF2B5EF4-FFF2-40B4-BE49-F238E27FC236}">
                <a16:creationId xmlns:a16="http://schemas.microsoft.com/office/drawing/2014/main" id="{91A0032D-6FC0-AF16-8098-D2FAA6832B3D}"/>
              </a:ext>
            </a:extLst>
          </p:cNvPr>
          <p:cNvGraphicFramePr>
            <a:graphicFrameLocks noChangeAspect="1"/>
          </p:cNvGraphicFramePr>
          <p:nvPr>
            <p:extLst>
              <p:ext uri="{D42A27DB-BD31-4B8C-83A1-F6EECF244321}">
                <p14:modId xmlns:p14="http://schemas.microsoft.com/office/powerpoint/2010/main" val="487522865"/>
              </p:ext>
            </p:extLst>
          </p:nvPr>
        </p:nvGraphicFramePr>
        <p:xfrm>
          <a:off x="4320705" y="3288384"/>
          <a:ext cx="255837" cy="271580"/>
        </p:xfrm>
        <a:graphic>
          <a:graphicData uri="http://schemas.openxmlformats.org/presentationml/2006/ole">
            <mc:AlternateContent xmlns:mc="http://schemas.openxmlformats.org/markup-compatibility/2006">
              <mc:Choice xmlns:v="urn:schemas-microsoft-com:vml" Requires="v">
                <p:oleObj name="Equation" r:id="rId6" imgW="215640" imgH="228600" progId="Equation.DSMT4">
                  <p:embed/>
                </p:oleObj>
              </mc:Choice>
              <mc:Fallback>
                <p:oleObj name="Equation" r:id="rId6" imgW="215640" imgH="228600" progId="Equation.DSMT4">
                  <p:embed/>
                  <p:pic>
                    <p:nvPicPr>
                      <p:cNvPr id="3" name="Object 2">
                        <a:extLst>
                          <a:ext uri="{FF2B5EF4-FFF2-40B4-BE49-F238E27FC236}">
                            <a16:creationId xmlns:a16="http://schemas.microsoft.com/office/drawing/2014/main" id="{E5F54385-41F7-B75D-5BF1-37114BA5B2AB}"/>
                          </a:ext>
                        </a:extLst>
                      </p:cNvPr>
                      <p:cNvPicPr>
                        <a:picLocks noChangeAspect="1" noChangeArrowheads="1"/>
                      </p:cNvPicPr>
                      <p:nvPr/>
                    </p:nvPicPr>
                    <p:blipFill>
                      <a:blip r:embed="rId7"/>
                      <a:srcRect/>
                      <a:stretch>
                        <a:fillRect/>
                      </a:stretch>
                    </p:blipFill>
                    <p:spPr bwMode="auto">
                      <a:xfrm>
                        <a:off x="4320705" y="3288384"/>
                        <a:ext cx="255837" cy="2715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4696851" y="3221653"/>
            <a:ext cx="3788793" cy="313350"/>
          </a:xfrm>
        </p:spPr>
        <p:txBody>
          <a:bodyPr wrap="square" lIns="0" tIns="18000" rIns="0" bIns="18000" anchor="ctr">
            <a:spAutoFit/>
          </a:bodyPr>
          <a:lstStyle/>
          <a:p>
            <a:pPr marL="0" indent="0">
              <a:spcBef>
                <a:spcPts val="600"/>
              </a:spcBef>
              <a:buNone/>
            </a:pPr>
            <a:r>
              <a:rPr lang="en-US" sz="1800" noProof="0" dirty="0"/>
              <a:t>by analyzing the circuit to find </a:t>
            </a:r>
            <a:r>
              <a:rPr lang="en-US" sz="1800" i="1" noProof="0" dirty="0"/>
              <a:t>x</a:t>
            </a:r>
            <a:r>
              <a:rPr lang="en-US" sz="1800" noProof="0" dirty="0"/>
              <a:t>(</a:t>
            </a:r>
            <a:r>
              <a:rPr lang="en-US" sz="1800" i="1" noProof="0" dirty="0"/>
              <a:t>t</a:t>
            </a:r>
            <a:r>
              <a:rPr lang="en-US" sz="1800" noProof="0" dirty="0"/>
              <a:t>) for </a:t>
            </a:r>
          </a:p>
        </p:txBody>
      </p:sp>
      <p:graphicFrame>
        <p:nvGraphicFramePr>
          <p:cNvPr id="5" name="Object 4" descr="t is less than 0.&#10;">
            <a:extLst>
              <a:ext uri="{FF2B5EF4-FFF2-40B4-BE49-F238E27FC236}">
                <a16:creationId xmlns:a16="http://schemas.microsoft.com/office/drawing/2014/main" id="{A0C8F654-F9C4-8848-02EF-FEAEE6742C56}"/>
              </a:ext>
            </a:extLst>
          </p:cNvPr>
          <p:cNvGraphicFramePr>
            <a:graphicFrameLocks noChangeAspect="1"/>
          </p:cNvGraphicFramePr>
          <p:nvPr>
            <p:extLst>
              <p:ext uri="{D42A27DB-BD31-4B8C-83A1-F6EECF244321}">
                <p14:modId xmlns:p14="http://schemas.microsoft.com/office/powerpoint/2010/main" val="3464350337"/>
              </p:ext>
            </p:extLst>
          </p:nvPr>
        </p:nvGraphicFramePr>
        <p:xfrm>
          <a:off x="791086" y="3600709"/>
          <a:ext cx="546966" cy="254000"/>
        </p:xfrm>
        <a:graphic>
          <a:graphicData uri="http://schemas.openxmlformats.org/presentationml/2006/ole">
            <mc:AlternateContent xmlns:mc="http://schemas.openxmlformats.org/markup-compatibility/2006">
              <mc:Choice xmlns:v="urn:schemas-microsoft-com:vml" Requires="v">
                <p:oleObj name="Equation" r:id="rId8" imgW="380880" imgH="177480" progId="Equation.DSMT4">
                  <p:embed/>
                </p:oleObj>
              </mc:Choice>
              <mc:Fallback>
                <p:oleObj name="Equation" r:id="rId8" imgW="380880" imgH="177480" progId="Equation.DSMT4">
                  <p:embed/>
                  <p:pic>
                    <p:nvPicPr>
                      <p:cNvPr id="2" name="Object 1">
                        <a:extLst>
                          <a:ext uri="{FF2B5EF4-FFF2-40B4-BE49-F238E27FC236}">
                            <a16:creationId xmlns:a16="http://schemas.microsoft.com/office/drawing/2014/main" id="{E3F3411F-148E-D954-1C6C-FEF92B957644}"/>
                          </a:ext>
                        </a:extLst>
                      </p:cNvPr>
                      <p:cNvPicPr>
                        <a:picLocks noChangeAspect="1" noChangeArrowheads="1"/>
                      </p:cNvPicPr>
                      <p:nvPr/>
                    </p:nvPicPr>
                    <p:blipFill>
                      <a:blip r:embed="rId9"/>
                      <a:srcRect/>
                      <a:stretch>
                        <a:fillRect/>
                      </a:stretch>
                    </p:blipFill>
                    <p:spPr bwMode="auto">
                      <a:xfrm>
                        <a:off x="791086" y="3600709"/>
                        <a:ext cx="546966"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427249" y="3927834"/>
            <a:ext cx="4030333" cy="313350"/>
          </a:xfrm>
        </p:spPr>
        <p:txBody>
          <a:bodyPr wrap="square" lIns="0" tIns="18000" rIns="0" bIns="18000" anchor="ctr">
            <a:spAutoFit/>
          </a:bodyPr>
          <a:lstStyle/>
          <a:p>
            <a:pPr marL="342900" indent="-342900">
              <a:spcBef>
                <a:spcPts val="600"/>
              </a:spcBef>
            </a:pPr>
            <a:r>
              <a:rPr lang="en-US" sz="1800" noProof="0" dirty="0"/>
              <a:t>Step 3 – Calculate the time constant</a:t>
            </a:r>
          </a:p>
        </p:txBody>
      </p:sp>
      <p:graphicFrame>
        <p:nvGraphicFramePr>
          <p:cNvPr id="25" name="Object 24" descr="Tau semicolon.&#10;">
            <a:extLst>
              <a:ext uri="{FF2B5EF4-FFF2-40B4-BE49-F238E27FC236}">
                <a16:creationId xmlns:a16="http://schemas.microsoft.com/office/drawing/2014/main" id="{C322841C-0652-8DCB-A19C-2989D90465EB}"/>
              </a:ext>
            </a:extLst>
          </p:cNvPr>
          <p:cNvGraphicFramePr>
            <a:graphicFrameLocks noChangeAspect="1"/>
          </p:cNvGraphicFramePr>
          <p:nvPr>
            <p:extLst>
              <p:ext uri="{D42A27DB-BD31-4B8C-83A1-F6EECF244321}">
                <p14:modId xmlns:p14="http://schemas.microsoft.com/office/powerpoint/2010/main" val="900604230"/>
              </p:ext>
            </p:extLst>
          </p:nvPr>
        </p:nvGraphicFramePr>
        <p:xfrm>
          <a:off x="4524592" y="3995917"/>
          <a:ext cx="240983" cy="263683"/>
        </p:xfrm>
        <a:graphic>
          <a:graphicData uri="http://schemas.openxmlformats.org/presentationml/2006/ole">
            <mc:AlternateContent xmlns:mc="http://schemas.openxmlformats.org/markup-compatibility/2006">
              <mc:Choice xmlns:v="urn:schemas-microsoft-com:vml" Requires="v">
                <p:oleObj name="Equation" r:id="rId10" imgW="152280" imgH="164880" progId="Equation.DSMT4">
                  <p:embed/>
                </p:oleObj>
              </mc:Choice>
              <mc:Fallback>
                <p:oleObj name="Equation" r:id="rId10" imgW="152280" imgH="164880" progId="Equation.DSMT4">
                  <p:embed/>
                  <p:pic>
                    <p:nvPicPr>
                      <p:cNvPr id="3" name="Object 2">
                        <a:extLst>
                          <a:ext uri="{FF2B5EF4-FFF2-40B4-BE49-F238E27FC236}">
                            <a16:creationId xmlns:a16="http://schemas.microsoft.com/office/drawing/2014/main" id="{E5F54385-41F7-B75D-5BF1-37114BA5B2AB}"/>
                          </a:ext>
                        </a:extLst>
                      </p:cNvPr>
                      <p:cNvPicPr>
                        <a:picLocks noChangeAspect="1" noChangeArrowheads="1"/>
                      </p:cNvPicPr>
                      <p:nvPr/>
                    </p:nvPicPr>
                    <p:blipFill>
                      <a:blip r:embed="rId11"/>
                      <a:srcRect/>
                      <a:stretch>
                        <a:fillRect/>
                      </a:stretch>
                    </p:blipFill>
                    <p:spPr bwMode="auto">
                      <a:xfrm>
                        <a:off x="4524592" y="3995917"/>
                        <a:ext cx="240983" cy="2636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Content Placeholder 14">
            <a:extLst>
              <a:ext uri="{FF2B5EF4-FFF2-40B4-BE49-F238E27FC236}">
                <a16:creationId xmlns:a16="http://schemas.microsoft.com/office/drawing/2014/main" id="{62DC30B9-3DB8-2802-F476-A17B44BACA31}"/>
              </a:ext>
            </a:extLst>
          </p:cNvPr>
          <p:cNvSpPr>
            <a:spLocks noGrp="1"/>
          </p:cNvSpPr>
          <p:nvPr>
            <p:ph sz="quarter" idx="20"/>
          </p:nvPr>
        </p:nvSpPr>
        <p:spPr>
          <a:xfrm>
            <a:off x="4828545" y="3927807"/>
            <a:ext cx="1488325" cy="313350"/>
          </a:xfrm>
        </p:spPr>
        <p:txBody>
          <a:bodyPr wrap="square" lIns="0" tIns="18000" rIns="0" bIns="18000" anchor="ctr">
            <a:spAutoFit/>
          </a:bodyPr>
          <a:lstStyle/>
          <a:p>
            <a:pPr marL="0" indent="0">
              <a:spcBef>
                <a:spcPts val="600"/>
              </a:spcBef>
              <a:buNone/>
            </a:pPr>
            <a:r>
              <a:rPr lang="en-US" sz="1800" noProof="0" dirty="0"/>
              <a:t>for </a:t>
            </a:r>
            <a:r>
              <a:rPr lang="en-US" sz="1800" i="1" spc="-250" noProof="0" dirty="0"/>
              <a:t>R </a:t>
            </a:r>
            <a:r>
              <a:rPr lang="en-US" sz="1800" i="1" noProof="0" dirty="0"/>
              <a:t>L</a:t>
            </a:r>
            <a:r>
              <a:rPr lang="en-US" sz="1800" noProof="0" dirty="0"/>
              <a:t> circuits, </a:t>
            </a:r>
          </a:p>
        </p:txBody>
      </p:sp>
      <p:graphicFrame>
        <p:nvGraphicFramePr>
          <p:cNvPr id="26" name="Object 25" descr="tau equals R divided by L.&#10;">
            <a:extLst>
              <a:ext uri="{FF2B5EF4-FFF2-40B4-BE49-F238E27FC236}">
                <a16:creationId xmlns:a16="http://schemas.microsoft.com/office/drawing/2014/main" id="{4B65E7DC-5E0B-4F63-4DD9-D420365F3F9F}"/>
              </a:ext>
            </a:extLst>
          </p:cNvPr>
          <p:cNvGraphicFramePr>
            <a:graphicFrameLocks noChangeAspect="1"/>
          </p:cNvGraphicFramePr>
          <p:nvPr>
            <p:extLst>
              <p:ext uri="{D42A27DB-BD31-4B8C-83A1-F6EECF244321}">
                <p14:modId xmlns:p14="http://schemas.microsoft.com/office/powerpoint/2010/main" val="2608495418"/>
              </p:ext>
            </p:extLst>
          </p:nvPr>
        </p:nvGraphicFramePr>
        <p:xfrm>
          <a:off x="6387814" y="3969865"/>
          <a:ext cx="747713" cy="255588"/>
        </p:xfrm>
        <a:graphic>
          <a:graphicData uri="http://schemas.openxmlformats.org/presentationml/2006/ole">
            <mc:AlternateContent xmlns:mc="http://schemas.openxmlformats.org/markup-compatibility/2006">
              <mc:Choice xmlns:v="urn:schemas-microsoft-com:vml" Requires="v">
                <p:oleObj name="Equation" r:id="rId12" imgW="520560" imgH="177480" progId="Equation.DSMT4">
                  <p:embed/>
                </p:oleObj>
              </mc:Choice>
              <mc:Fallback>
                <p:oleObj name="Equation" r:id="rId12" imgW="520560" imgH="177480" progId="Equation.DSMT4">
                  <p:embed/>
                  <p:pic>
                    <p:nvPicPr>
                      <p:cNvPr id="3" name="Object 2">
                        <a:extLst>
                          <a:ext uri="{FF2B5EF4-FFF2-40B4-BE49-F238E27FC236}">
                            <a16:creationId xmlns:a16="http://schemas.microsoft.com/office/drawing/2014/main" id="{E5F54385-41F7-B75D-5BF1-37114BA5B2AB}"/>
                          </a:ext>
                        </a:extLst>
                      </p:cNvPr>
                      <p:cNvPicPr>
                        <a:picLocks noChangeAspect="1" noChangeArrowheads="1"/>
                      </p:cNvPicPr>
                      <p:nvPr/>
                    </p:nvPicPr>
                    <p:blipFill>
                      <a:blip r:embed="rId13"/>
                      <a:srcRect/>
                      <a:stretch>
                        <a:fillRect/>
                      </a:stretch>
                    </p:blipFill>
                    <p:spPr bwMode="auto">
                      <a:xfrm>
                        <a:off x="6387814" y="3969865"/>
                        <a:ext cx="747713" cy="255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Content Placeholder 15">
            <a:extLst>
              <a:ext uri="{FF2B5EF4-FFF2-40B4-BE49-F238E27FC236}">
                <a16:creationId xmlns:a16="http://schemas.microsoft.com/office/drawing/2014/main" id="{842C75F5-1F7A-16F9-4F1F-28A4FF9F9A72}"/>
              </a:ext>
            </a:extLst>
          </p:cNvPr>
          <p:cNvSpPr>
            <a:spLocks noGrp="1"/>
          </p:cNvSpPr>
          <p:nvPr>
            <p:ph sz="quarter" idx="21"/>
          </p:nvPr>
        </p:nvSpPr>
        <p:spPr>
          <a:xfrm>
            <a:off x="7206471" y="3927807"/>
            <a:ext cx="1218363" cy="313350"/>
          </a:xfrm>
        </p:spPr>
        <p:txBody>
          <a:bodyPr wrap="square" lIns="0" tIns="18000" rIns="0" bIns="18000" anchor="ctr">
            <a:spAutoFit/>
          </a:bodyPr>
          <a:lstStyle/>
          <a:p>
            <a:pPr marL="0" indent="0">
              <a:spcBef>
                <a:spcPts val="600"/>
              </a:spcBef>
              <a:buNone/>
            </a:pPr>
            <a:r>
              <a:rPr lang="en-US" sz="1800" noProof="0" dirty="0"/>
              <a:t>and for </a:t>
            </a:r>
            <a:r>
              <a:rPr lang="en-US" sz="1800" i="1" spc="-250" noProof="0" dirty="0"/>
              <a:t>R </a:t>
            </a:r>
            <a:r>
              <a:rPr lang="en-US" sz="1800" i="1" noProof="0" dirty="0"/>
              <a:t>C</a:t>
            </a:r>
          </a:p>
        </p:txBody>
      </p:sp>
      <p:sp>
        <p:nvSpPr>
          <p:cNvPr id="17" name="Content Placeholder 16">
            <a:extLst>
              <a:ext uri="{FF2B5EF4-FFF2-40B4-BE49-F238E27FC236}">
                <a16:creationId xmlns:a16="http://schemas.microsoft.com/office/drawing/2014/main" id="{12401441-FD92-F4F7-BE98-19DC7CBBBB17}"/>
              </a:ext>
            </a:extLst>
          </p:cNvPr>
          <p:cNvSpPr>
            <a:spLocks noGrp="1"/>
          </p:cNvSpPr>
          <p:nvPr>
            <p:ph sz="quarter" idx="22"/>
          </p:nvPr>
        </p:nvSpPr>
        <p:spPr>
          <a:xfrm>
            <a:off x="800462" y="4275650"/>
            <a:ext cx="778172" cy="313350"/>
          </a:xfrm>
        </p:spPr>
        <p:txBody>
          <a:bodyPr wrap="square" lIns="0" tIns="18000" rIns="0" bIns="18000" anchor="ctr">
            <a:spAutoFit/>
          </a:bodyPr>
          <a:lstStyle/>
          <a:p>
            <a:pPr marL="0" indent="0">
              <a:spcBef>
                <a:spcPts val="600"/>
              </a:spcBef>
              <a:buNone/>
            </a:pPr>
            <a:r>
              <a:rPr lang="en-US" sz="1800" noProof="0" dirty="0"/>
              <a:t>circuits,</a:t>
            </a:r>
          </a:p>
        </p:txBody>
      </p:sp>
      <p:graphicFrame>
        <p:nvGraphicFramePr>
          <p:cNvPr id="27" name="Object 26" descr="tau equals R C.&#10;">
            <a:extLst>
              <a:ext uri="{FF2B5EF4-FFF2-40B4-BE49-F238E27FC236}">
                <a16:creationId xmlns:a16="http://schemas.microsoft.com/office/drawing/2014/main" id="{16CBC028-7AAA-7506-6B24-FA711B6583C1}"/>
              </a:ext>
            </a:extLst>
          </p:cNvPr>
          <p:cNvGraphicFramePr>
            <a:graphicFrameLocks noChangeAspect="1"/>
          </p:cNvGraphicFramePr>
          <p:nvPr>
            <p:extLst>
              <p:ext uri="{D42A27DB-BD31-4B8C-83A1-F6EECF244321}">
                <p14:modId xmlns:p14="http://schemas.microsoft.com/office/powerpoint/2010/main" val="3224350818"/>
              </p:ext>
            </p:extLst>
          </p:nvPr>
        </p:nvGraphicFramePr>
        <p:xfrm>
          <a:off x="1687513" y="4319588"/>
          <a:ext cx="747712" cy="273050"/>
        </p:xfrm>
        <a:graphic>
          <a:graphicData uri="http://schemas.openxmlformats.org/presentationml/2006/ole">
            <mc:AlternateContent xmlns:mc="http://schemas.openxmlformats.org/markup-compatibility/2006">
              <mc:Choice xmlns:v="urn:schemas-microsoft-com:vml" Requires="v">
                <p:oleObj name="Equation" r:id="rId14" imgW="520560" imgH="190440" progId="Equation.DSMT4">
                  <p:embed/>
                </p:oleObj>
              </mc:Choice>
              <mc:Fallback>
                <p:oleObj name="Equation" r:id="rId14" imgW="520560" imgH="190440" progId="Equation.DSMT4">
                  <p:embed/>
                  <p:pic>
                    <p:nvPicPr>
                      <p:cNvPr id="26" name="Object 25">
                        <a:extLst>
                          <a:ext uri="{FF2B5EF4-FFF2-40B4-BE49-F238E27FC236}">
                            <a16:creationId xmlns:a16="http://schemas.microsoft.com/office/drawing/2014/main" id="{4B65E7DC-5E0B-4F63-4DD9-D420365F3F9F}"/>
                          </a:ext>
                        </a:extLst>
                      </p:cNvPr>
                      <p:cNvPicPr>
                        <a:picLocks noChangeAspect="1" noChangeArrowheads="1"/>
                      </p:cNvPicPr>
                      <p:nvPr/>
                    </p:nvPicPr>
                    <p:blipFill>
                      <a:blip r:embed="rId15"/>
                      <a:srcRect/>
                      <a:stretch>
                        <a:fillRect/>
                      </a:stretch>
                    </p:blipFill>
                    <p:spPr bwMode="auto">
                      <a:xfrm>
                        <a:off x="1687513" y="4319588"/>
                        <a:ext cx="747712"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Content Placeholder 17">
            <a:extLst>
              <a:ext uri="{FF2B5EF4-FFF2-40B4-BE49-F238E27FC236}">
                <a16:creationId xmlns:a16="http://schemas.microsoft.com/office/drawing/2014/main" id="{9CF46FE1-A0D0-DDEC-AE98-1CBAEC0C4CD9}"/>
              </a:ext>
            </a:extLst>
          </p:cNvPr>
          <p:cNvSpPr>
            <a:spLocks noGrp="1"/>
          </p:cNvSpPr>
          <p:nvPr>
            <p:ph sz="quarter" idx="23"/>
          </p:nvPr>
        </p:nvSpPr>
        <p:spPr>
          <a:xfrm>
            <a:off x="2561154" y="4278565"/>
            <a:ext cx="6100246" cy="313350"/>
          </a:xfrm>
        </p:spPr>
        <p:txBody>
          <a:bodyPr wrap="square" lIns="0" tIns="18000" rIns="0" bIns="18000" anchor="ctr">
            <a:spAutoFit/>
          </a:bodyPr>
          <a:lstStyle/>
          <a:p>
            <a:pPr marL="0" indent="0">
              <a:spcBef>
                <a:spcPts val="600"/>
              </a:spcBef>
              <a:buNone/>
            </a:pPr>
            <a:r>
              <a:rPr lang="en-US" sz="1800" noProof="0" dirty="0"/>
              <a:t>where </a:t>
            </a:r>
            <a:r>
              <a:rPr lang="en-US" sz="1800" i="1" noProof="0" dirty="0"/>
              <a:t>R</a:t>
            </a:r>
            <a:r>
              <a:rPr lang="en-US" sz="1800" noProof="0" dirty="0"/>
              <a:t> is the equivalent resistance connected to the</a:t>
            </a:r>
          </a:p>
        </p:txBody>
      </p:sp>
      <p:sp>
        <p:nvSpPr>
          <p:cNvPr id="19" name="Content Placeholder 18">
            <a:extLst>
              <a:ext uri="{FF2B5EF4-FFF2-40B4-BE49-F238E27FC236}">
                <a16:creationId xmlns:a16="http://schemas.microsoft.com/office/drawing/2014/main" id="{02C5F337-56B2-6E39-6CFC-F394D7F1734E}"/>
              </a:ext>
            </a:extLst>
          </p:cNvPr>
          <p:cNvSpPr>
            <a:spLocks noGrp="1"/>
          </p:cNvSpPr>
          <p:nvPr>
            <p:ph sz="quarter" idx="24"/>
          </p:nvPr>
        </p:nvSpPr>
        <p:spPr>
          <a:xfrm>
            <a:off x="813625" y="4641814"/>
            <a:ext cx="2412175" cy="313350"/>
          </a:xfrm>
        </p:spPr>
        <p:txBody>
          <a:bodyPr wrap="square" lIns="0" tIns="18000" rIns="0" bIns="18000" anchor="ctr">
            <a:spAutoFit/>
          </a:bodyPr>
          <a:lstStyle/>
          <a:p>
            <a:pPr marL="0" indent="0">
              <a:spcBef>
                <a:spcPts val="600"/>
              </a:spcBef>
              <a:buNone/>
            </a:pPr>
            <a:r>
              <a:rPr lang="en-US" sz="1800" noProof="0" dirty="0"/>
              <a:t>inductor or capacitor for</a:t>
            </a:r>
          </a:p>
        </p:txBody>
      </p:sp>
      <p:graphicFrame>
        <p:nvGraphicFramePr>
          <p:cNvPr id="28" name="Object 27" descr="t is less than or equal to 0">
            <a:extLst>
              <a:ext uri="{FF2B5EF4-FFF2-40B4-BE49-F238E27FC236}">
                <a16:creationId xmlns:a16="http://schemas.microsoft.com/office/drawing/2014/main" id="{C42A1BDD-F898-65DC-917C-35E84BEDE26B}"/>
              </a:ext>
            </a:extLst>
          </p:cNvPr>
          <p:cNvGraphicFramePr>
            <a:graphicFrameLocks noChangeAspect="1"/>
          </p:cNvGraphicFramePr>
          <p:nvPr>
            <p:extLst>
              <p:ext uri="{D42A27DB-BD31-4B8C-83A1-F6EECF244321}">
                <p14:modId xmlns:p14="http://schemas.microsoft.com/office/powerpoint/2010/main" val="3679628924"/>
              </p:ext>
            </p:extLst>
          </p:nvPr>
        </p:nvGraphicFramePr>
        <p:xfrm>
          <a:off x="3307856" y="4679475"/>
          <a:ext cx="546966" cy="254000"/>
        </p:xfrm>
        <a:graphic>
          <a:graphicData uri="http://schemas.openxmlformats.org/presentationml/2006/ole">
            <mc:AlternateContent xmlns:mc="http://schemas.openxmlformats.org/markup-compatibility/2006">
              <mc:Choice xmlns:v="urn:schemas-microsoft-com:vml" Requires="v">
                <p:oleObj name="Equation" r:id="rId16" imgW="380880" imgH="177480" progId="Equation.DSMT4">
                  <p:embed/>
                </p:oleObj>
              </mc:Choice>
              <mc:Fallback>
                <p:oleObj name="Equation" r:id="rId16" imgW="380880" imgH="177480" progId="Equation.DSMT4">
                  <p:embed/>
                  <p:pic>
                    <p:nvPicPr>
                      <p:cNvPr id="5" name="Object 4">
                        <a:extLst>
                          <a:ext uri="{FF2B5EF4-FFF2-40B4-BE49-F238E27FC236}">
                            <a16:creationId xmlns:a16="http://schemas.microsoft.com/office/drawing/2014/main" id="{A0C8F654-F9C4-8848-02EF-FEAEE6742C56}"/>
                          </a:ext>
                        </a:extLst>
                      </p:cNvPr>
                      <p:cNvPicPr>
                        <a:picLocks noChangeAspect="1" noChangeArrowheads="1"/>
                      </p:cNvPicPr>
                      <p:nvPr/>
                    </p:nvPicPr>
                    <p:blipFill>
                      <a:blip r:embed="rId17"/>
                      <a:srcRect/>
                      <a:stretch>
                        <a:fillRect/>
                      </a:stretch>
                    </p:blipFill>
                    <p:spPr bwMode="auto">
                      <a:xfrm>
                        <a:off x="3307856" y="4679475"/>
                        <a:ext cx="546966"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Content Placeholder 19">
            <a:extLst>
              <a:ext uri="{FF2B5EF4-FFF2-40B4-BE49-F238E27FC236}">
                <a16:creationId xmlns:a16="http://schemas.microsoft.com/office/drawing/2014/main" id="{3387E383-338D-B601-C7D5-2936C5B7C4C7}"/>
              </a:ext>
            </a:extLst>
          </p:cNvPr>
          <p:cNvSpPr>
            <a:spLocks noGrp="1"/>
          </p:cNvSpPr>
          <p:nvPr>
            <p:ph sz="quarter" idx="25"/>
          </p:nvPr>
        </p:nvSpPr>
        <p:spPr>
          <a:xfrm>
            <a:off x="438150" y="5105759"/>
            <a:ext cx="3629025" cy="313350"/>
          </a:xfrm>
        </p:spPr>
        <p:txBody>
          <a:bodyPr wrap="square" lIns="0" tIns="18000" rIns="0" bIns="18000" anchor="ctr">
            <a:spAutoFit/>
          </a:bodyPr>
          <a:lstStyle/>
          <a:p>
            <a:pPr marL="285750" indent="-285750">
              <a:spcBef>
                <a:spcPts val="600"/>
              </a:spcBef>
            </a:pPr>
            <a:r>
              <a:rPr lang="en-US" sz="1800" noProof="0" dirty="0"/>
              <a:t>Step 4 – Calculate the final value</a:t>
            </a:r>
          </a:p>
        </p:txBody>
      </p:sp>
      <p:graphicFrame>
        <p:nvGraphicFramePr>
          <p:cNvPr id="32" name="Object 31" descr="X subscript f.&#10;">
            <a:extLst>
              <a:ext uri="{FF2B5EF4-FFF2-40B4-BE49-F238E27FC236}">
                <a16:creationId xmlns:a16="http://schemas.microsoft.com/office/drawing/2014/main" id="{8717CA2D-5832-9530-3A7A-3612A5B5E466}"/>
              </a:ext>
            </a:extLst>
          </p:cNvPr>
          <p:cNvGraphicFramePr>
            <a:graphicFrameLocks noChangeAspect="1"/>
          </p:cNvGraphicFramePr>
          <p:nvPr>
            <p:extLst>
              <p:ext uri="{D42A27DB-BD31-4B8C-83A1-F6EECF244321}">
                <p14:modId xmlns:p14="http://schemas.microsoft.com/office/powerpoint/2010/main" val="288371223"/>
              </p:ext>
            </p:extLst>
          </p:nvPr>
        </p:nvGraphicFramePr>
        <p:xfrm>
          <a:off x="4148138" y="5156200"/>
          <a:ext cx="239712" cy="273050"/>
        </p:xfrm>
        <a:graphic>
          <a:graphicData uri="http://schemas.openxmlformats.org/presentationml/2006/ole">
            <mc:AlternateContent xmlns:mc="http://schemas.openxmlformats.org/markup-compatibility/2006">
              <mc:Choice xmlns:v="urn:schemas-microsoft-com:vml" Requires="v">
                <p:oleObj name="Equation" r:id="rId18" imgW="203040" imgH="228600" progId="Equation.DSMT4">
                  <p:embed/>
                </p:oleObj>
              </mc:Choice>
              <mc:Fallback>
                <p:oleObj name="Equation" r:id="rId18" imgW="203040" imgH="228600" progId="Equation.DSMT4">
                  <p:embed/>
                  <p:pic>
                    <p:nvPicPr>
                      <p:cNvPr id="3" name="Object 2">
                        <a:extLst>
                          <a:ext uri="{FF2B5EF4-FFF2-40B4-BE49-F238E27FC236}">
                            <a16:creationId xmlns:a16="http://schemas.microsoft.com/office/drawing/2014/main" id="{E5F54385-41F7-B75D-5BF1-37114BA5B2AB}"/>
                          </a:ext>
                        </a:extLst>
                      </p:cNvPr>
                      <p:cNvPicPr>
                        <a:picLocks noChangeAspect="1" noChangeArrowheads="1"/>
                      </p:cNvPicPr>
                      <p:nvPr/>
                    </p:nvPicPr>
                    <p:blipFill>
                      <a:blip r:embed="rId19"/>
                      <a:srcRect/>
                      <a:stretch>
                        <a:fillRect/>
                      </a:stretch>
                    </p:blipFill>
                    <p:spPr bwMode="auto">
                      <a:xfrm>
                        <a:off x="4148138" y="5156200"/>
                        <a:ext cx="239712" cy="27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4509012" y="5107030"/>
            <a:ext cx="3739638" cy="313350"/>
          </a:xfrm>
        </p:spPr>
        <p:txBody>
          <a:bodyPr wrap="square" lIns="0" tIns="18000" rIns="0" bIns="18000" anchor="ctr">
            <a:spAutoFit/>
          </a:bodyPr>
          <a:lstStyle/>
          <a:p>
            <a:pPr marL="0" indent="0">
              <a:spcBef>
                <a:spcPts val="600"/>
              </a:spcBef>
              <a:buNone/>
            </a:pPr>
            <a:r>
              <a:rPr lang="en-US" sz="1800" noProof="0" dirty="0"/>
              <a:t>by analyzing the circuit to find </a:t>
            </a:r>
            <a:r>
              <a:rPr lang="en-US" sz="1800" i="1" noProof="0" dirty="0"/>
              <a:t>x</a:t>
            </a:r>
            <a:r>
              <a:rPr lang="en-US" sz="1800" noProof="0" dirty="0"/>
              <a:t>(</a:t>
            </a:r>
            <a:r>
              <a:rPr lang="en-US" sz="1800" i="1" noProof="0" dirty="0"/>
              <a:t>t</a:t>
            </a:r>
            <a:r>
              <a:rPr lang="en-US" sz="1800" noProof="0" dirty="0"/>
              <a:t>) as</a:t>
            </a:r>
          </a:p>
        </p:txBody>
      </p:sp>
      <p:graphicFrame>
        <p:nvGraphicFramePr>
          <p:cNvPr id="33" name="Object 32" descr="t right arrow, infinity,&#10;">
            <a:extLst>
              <a:ext uri="{FF2B5EF4-FFF2-40B4-BE49-F238E27FC236}">
                <a16:creationId xmlns:a16="http://schemas.microsoft.com/office/drawing/2014/main" id="{A4DF3C7E-683E-B607-4913-1BCD8CED50B3}"/>
              </a:ext>
            </a:extLst>
          </p:cNvPr>
          <p:cNvGraphicFramePr>
            <a:graphicFrameLocks noChangeAspect="1"/>
          </p:cNvGraphicFramePr>
          <p:nvPr>
            <p:extLst>
              <p:ext uri="{D42A27DB-BD31-4B8C-83A1-F6EECF244321}">
                <p14:modId xmlns:p14="http://schemas.microsoft.com/office/powerpoint/2010/main" val="234834478"/>
              </p:ext>
            </p:extLst>
          </p:nvPr>
        </p:nvGraphicFramePr>
        <p:xfrm>
          <a:off x="738188" y="5499100"/>
          <a:ext cx="657225" cy="254000"/>
        </p:xfrm>
        <a:graphic>
          <a:graphicData uri="http://schemas.openxmlformats.org/presentationml/2006/ole">
            <mc:AlternateContent xmlns:mc="http://schemas.openxmlformats.org/markup-compatibility/2006">
              <mc:Choice xmlns:v="urn:schemas-microsoft-com:vml" Requires="v">
                <p:oleObj name="Equation" r:id="rId20" imgW="457200" imgH="177480" progId="Equation.DSMT4">
                  <p:embed/>
                </p:oleObj>
              </mc:Choice>
              <mc:Fallback>
                <p:oleObj name="Equation" r:id="rId20" imgW="457200" imgH="177480" progId="Equation.DSMT4">
                  <p:embed/>
                  <p:pic>
                    <p:nvPicPr>
                      <p:cNvPr id="2" name="Object 1">
                        <a:extLst>
                          <a:ext uri="{FF2B5EF4-FFF2-40B4-BE49-F238E27FC236}">
                            <a16:creationId xmlns:a16="http://schemas.microsoft.com/office/drawing/2014/main" id="{E3F3411F-148E-D954-1C6C-FEF92B957644}"/>
                          </a:ext>
                        </a:extLst>
                      </p:cNvPr>
                      <p:cNvPicPr>
                        <a:picLocks noChangeAspect="1" noChangeArrowheads="1"/>
                      </p:cNvPicPr>
                      <p:nvPr/>
                    </p:nvPicPr>
                    <p:blipFill>
                      <a:blip r:embed="rId21"/>
                      <a:srcRect/>
                      <a:stretch>
                        <a:fillRect/>
                      </a:stretch>
                    </p:blipFill>
                    <p:spPr bwMode="auto">
                      <a:xfrm>
                        <a:off x="738188" y="5499100"/>
                        <a:ext cx="657225"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072328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5450" y="217346"/>
            <a:ext cx="8229600" cy="1144347"/>
          </a:xfrm>
        </p:spPr>
        <p:txBody>
          <a:bodyPr/>
          <a:lstStyle/>
          <a:p>
            <a:r>
              <a:rPr lang="en-US" noProof="0" dirty="0"/>
              <a:t>Chapter 7 – R L/R C Natural and Step Response </a:t>
            </a:r>
            <a:r>
              <a:rPr lang="en-US" sz="2800" noProof="0" dirty="0"/>
              <a:t>(2 of 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8625" y="1530975"/>
            <a:ext cx="3905250" cy="313350"/>
          </a:xfrm>
        </p:spPr>
        <p:txBody>
          <a:bodyPr wrap="square" lIns="0" tIns="18000" rIns="0" bIns="18000" anchor="ctr">
            <a:spAutoFit/>
          </a:bodyPr>
          <a:lstStyle/>
          <a:p>
            <a:pPr marL="285750" indent="-285750">
              <a:spcBef>
                <a:spcPts val="600"/>
              </a:spcBef>
            </a:pPr>
            <a:r>
              <a:rPr lang="en-US" sz="1800" noProof="0" dirty="0"/>
              <a:t>Step 5 – Write the equation for </a:t>
            </a:r>
            <a:r>
              <a:rPr lang="en-US" sz="1800" i="1" noProof="0" dirty="0"/>
              <a:t>x</a:t>
            </a:r>
            <a:r>
              <a:rPr lang="en-US" sz="1800" noProof="0" dirty="0"/>
              <a:t>(</a:t>
            </a:r>
            <a:r>
              <a:rPr lang="en-US" sz="1800" i="1" noProof="0" dirty="0"/>
              <a:t>t</a:t>
            </a:r>
            <a:r>
              <a:rPr lang="en-US" sz="1800" noProof="0" dirty="0"/>
              <a:t>),</a:t>
            </a:r>
          </a:p>
        </p:txBody>
      </p:sp>
      <p:graphicFrame>
        <p:nvGraphicFramePr>
          <p:cNvPr id="2" name="Object 1" descr="x (t) equals X subscript f baseline plus Open Parenthesis X subscript 0 baseline minus X subscript f Close Parenthesis e to the negative t divided by tau power.&#10;">
            <a:extLst>
              <a:ext uri="{FF2B5EF4-FFF2-40B4-BE49-F238E27FC236}">
                <a16:creationId xmlns:a16="http://schemas.microsoft.com/office/drawing/2014/main" id="{46A304CF-B11B-D92A-2405-CB2736F235BB}"/>
              </a:ext>
            </a:extLst>
          </p:cNvPr>
          <p:cNvGraphicFramePr>
            <a:graphicFrameLocks noChangeAspect="1"/>
          </p:cNvGraphicFramePr>
          <p:nvPr>
            <p:extLst>
              <p:ext uri="{D42A27DB-BD31-4B8C-83A1-F6EECF244321}">
                <p14:modId xmlns:p14="http://schemas.microsoft.com/office/powerpoint/2010/main" val="2599159658"/>
              </p:ext>
            </p:extLst>
          </p:nvPr>
        </p:nvGraphicFramePr>
        <p:xfrm>
          <a:off x="1547066" y="2020646"/>
          <a:ext cx="2331943" cy="345758"/>
        </p:xfrm>
        <a:graphic>
          <a:graphicData uri="http://schemas.openxmlformats.org/presentationml/2006/ole">
            <mc:AlternateContent xmlns:mc="http://schemas.openxmlformats.org/markup-compatibility/2006">
              <mc:Choice xmlns:v="urn:schemas-microsoft-com:vml" Requires="v">
                <p:oleObj name="Equation" r:id="rId2" imgW="1625400" imgH="241200" progId="Equation.DSMT4">
                  <p:embed/>
                </p:oleObj>
              </mc:Choice>
              <mc:Fallback>
                <p:oleObj name="Equation" r:id="rId2" imgW="1625400" imgH="241200" progId="Equation.DSMT4">
                  <p:embed/>
                  <p:pic>
                    <p:nvPicPr>
                      <p:cNvPr id="2" name="Object 1">
                        <a:extLst>
                          <a:ext uri="{FF2B5EF4-FFF2-40B4-BE49-F238E27FC236}">
                            <a16:creationId xmlns:a16="http://schemas.microsoft.com/office/drawing/2014/main" id="{BF7BA8FB-AD77-956A-7FFB-173D81AE5C2E}"/>
                          </a:ext>
                        </a:extLst>
                      </p:cNvPr>
                      <p:cNvPicPr>
                        <a:picLocks noChangeAspect="1" noChangeArrowheads="1"/>
                      </p:cNvPicPr>
                      <p:nvPr/>
                    </p:nvPicPr>
                    <p:blipFill>
                      <a:blip r:embed="rId3"/>
                      <a:srcRect/>
                      <a:stretch>
                        <a:fillRect/>
                      </a:stretch>
                    </p:blipFill>
                    <p:spPr bwMode="auto">
                      <a:xfrm>
                        <a:off x="1547066" y="2020646"/>
                        <a:ext cx="2331943" cy="3457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3926635" y="2053054"/>
            <a:ext cx="266700" cy="313350"/>
          </a:xfrm>
        </p:spPr>
        <p:txBody>
          <a:bodyPr wrap="square" lIns="0" tIns="18000" rIns="0" bIns="18000" anchor="ctr">
            <a:spAutoFit/>
          </a:bodyPr>
          <a:lstStyle/>
          <a:p>
            <a:pPr marL="0" indent="0">
              <a:spcBef>
                <a:spcPts val="600"/>
              </a:spcBef>
              <a:buNone/>
            </a:pPr>
            <a:r>
              <a:rPr lang="en-US" sz="1800" noProof="0" dirty="0"/>
              <a:t>for</a:t>
            </a:r>
          </a:p>
        </p:txBody>
      </p:sp>
      <p:graphicFrame>
        <p:nvGraphicFramePr>
          <p:cNvPr id="3" name="Object 2" descr="t is greater than or equal to 0 &#10;">
            <a:extLst>
              <a:ext uri="{FF2B5EF4-FFF2-40B4-BE49-F238E27FC236}">
                <a16:creationId xmlns:a16="http://schemas.microsoft.com/office/drawing/2014/main" id="{43A08D70-0332-0BAF-9E13-72FB9A395E07}"/>
              </a:ext>
            </a:extLst>
          </p:cNvPr>
          <p:cNvGraphicFramePr>
            <a:graphicFrameLocks noChangeAspect="1"/>
          </p:cNvGraphicFramePr>
          <p:nvPr>
            <p:extLst>
              <p:ext uri="{D42A27DB-BD31-4B8C-83A1-F6EECF244321}">
                <p14:modId xmlns:p14="http://schemas.microsoft.com/office/powerpoint/2010/main" val="54892659"/>
              </p:ext>
            </p:extLst>
          </p:nvPr>
        </p:nvGraphicFramePr>
        <p:xfrm>
          <a:off x="4240961" y="2087004"/>
          <a:ext cx="601663" cy="279400"/>
        </p:xfrm>
        <a:graphic>
          <a:graphicData uri="http://schemas.openxmlformats.org/presentationml/2006/ole">
            <mc:AlternateContent xmlns:mc="http://schemas.openxmlformats.org/markup-compatibility/2006">
              <mc:Choice xmlns:v="urn:schemas-microsoft-com:vml" Requires="v">
                <p:oleObj name="Equation" r:id="rId4" imgW="380880" imgH="177480" progId="Equation.DSMT4">
                  <p:embed/>
                </p:oleObj>
              </mc:Choice>
              <mc:Fallback>
                <p:oleObj name="Equation" r:id="rId4" imgW="380880" imgH="177480" progId="Equation.DSMT4">
                  <p:embed/>
                  <p:pic>
                    <p:nvPicPr>
                      <p:cNvPr id="3" name="Object 2">
                        <a:extLst>
                          <a:ext uri="{FF2B5EF4-FFF2-40B4-BE49-F238E27FC236}">
                            <a16:creationId xmlns:a16="http://schemas.microsoft.com/office/drawing/2014/main" id="{F592191D-1613-9CFD-6EC9-BFFDEA088FCD}"/>
                          </a:ext>
                        </a:extLst>
                      </p:cNvPr>
                      <p:cNvPicPr>
                        <a:picLocks noChangeAspect="1" noChangeArrowheads="1"/>
                      </p:cNvPicPr>
                      <p:nvPr/>
                    </p:nvPicPr>
                    <p:blipFill>
                      <a:blip r:embed="rId5"/>
                      <a:srcRect/>
                      <a:stretch>
                        <a:fillRect/>
                      </a:stretch>
                    </p:blipFill>
                    <p:spPr bwMode="auto">
                      <a:xfrm>
                        <a:off x="4240961" y="2087004"/>
                        <a:ext cx="601663"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2611243"/>
            <a:ext cx="5924550" cy="313350"/>
          </a:xfrm>
        </p:spPr>
        <p:txBody>
          <a:bodyPr wrap="square" lIns="0" tIns="18000" rIns="0" bIns="18000" anchor="ctr">
            <a:spAutoFit/>
          </a:bodyPr>
          <a:lstStyle/>
          <a:p>
            <a:pPr marL="285750" indent="-285750">
              <a:spcBef>
                <a:spcPts val="600"/>
              </a:spcBef>
            </a:pPr>
            <a:r>
              <a:rPr lang="en-US" sz="1800" noProof="0" dirty="0"/>
              <a:t>Step 6 – Calculate other quantities of interest using </a:t>
            </a:r>
            <a:r>
              <a:rPr lang="en-US" sz="1800" i="1" noProof="0" dirty="0"/>
              <a:t>x</a:t>
            </a:r>
            <a:r>
              <a:rPr lang="en-US" sz="1800" noProof="0" dirty="0"/>
              <a:t>(</a:t>
            </a:r>
            <a:r>
              <a:rPr lang="en-US" sz="1800" i="1" noProof="0" dirty="0"/>
              <a:t>t</a:t>
            </a:r>
            <a:r>
              <a:rPr lang="en-US" sz="1800" noProof="0" dirty="0"/>
              <a:t>).</a:t>
            </a:r>
          </a:p>
        </p:txBody>
      </p:sp>
    </p:spTree>
    <p:extLst>
      <p:ext uri="{BB962C8B-B14F-4D97-AF65-F5344CB8AC3E}">
        <p14:creationId xmlns:p14="http://schemas.microsoft.com/office/powerpoint/2010/main" val="2459291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19779"/>
            <a:ext cx="8229600" cy="1144347"/>
          </a:xfrm>
        </p:spPr>
        <p:txBody>
          <a:bodyPr/>
          <a:lstStyle/>
          <a:p>
            <a:r>
              <a:rPr lang="en-US" noProof="0" dirty="0"/>
              <a:t>Chapter 7 – Sequential Switching Problems </a:t>
            </a:r>
            <a:r>
              <a:rPr lang="en-US" sz="2800" noProof="0" dirty="0"/>
              <a:t>(3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29524" y="1464066"/>
            <a:ext cx="8232775" cy="1144347"/>
          </a:xfrm>
        </p:spPr>
        <p:txBody>
          <a:bodyPr wrap="square" lIns="0" tIns="18000" rIns="0" bIns="18000" anchor="ctr">
            <a:spAutoFit/>
          </a:bodyPr>
          <a:lstStyle/>
          <a:p>
            <a:pPr marL="0" indent="0">
              <a:spcBef>
                <a:spcPts val="600"/>
              </a:spcBef>
              <a:buNone/>
            </a:pPr>
            <a:r>
              <a:rPr lang="en-US" sz="2400" noProof="0" dirty="0"/>
              <a:t>Both switches have been closed for a long time. At t = 0, switch 1 is opened and stays open. Switch 2 opens 35 m</a:t>
            </a:r>
            <a:r>
              <a:rPr lang="en-US" sz="100" noProof="0" dirty="0"/>
              <a:t> </a:t>
            </a:r>
            <a:r>
              <a:rPr lang="en-US" sz="2400" noProof="0" dirty="0"/>
              <a:t>s later and stays open. Find the expression for the voltage </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1" y="2674114"/>
            <a:ext cx="3728408" cy="405683"/>
          </a:xfrm>
        </p:spPr>
        <p:txBody>
          <a:bodyPr wrap="square" lIns="0" tIns="18000" rIns="0" bIns="18000" anchor="ctr">
            <a:spAutoFit/>
          </a:bodyPr>
          <a:lstStyle/>
          <a:p>
            <a:pPr marL="0" indent="0">
              <a:spcBef>
                <a:spcPts val="600"/>
              </a:spcBef>
              <a:buNone/>
            </a:pPr>
            <a:r>
              <a:rPr lang="en-US" sz="2400" noProof="0" dirty="0"/>
              <a:t>drop across the inductor for </a:t>
            </a:r>
          </a:p>
        </p:txBody>
      </p:sp>
      <p:graphicFrame>
        <p:nvGraphicFramePr>
          <p:cNvPr id="2" name="Object 1" descr="t is greater than or equal to 0 superscript plus &#10;">
            <a:extLst>
              <a:ext uri="{FF2B5EF4-FFF2-40B4-BE49-F238E27FC236}">
                <a16:creationId xmlns:a16="http://schemas.microsoft.com/office/drawing/2014/main" id="{2A2BEAA5-3A62-6F42-67A6-7705B085D66D}"/>
              </a:ext>
            </a:extLst>
          </p:cNvPr>
          <p:cNvGraphicFramePr>
            <a:graphicFrameLocks noChangeAspect="1"/>
          </p:cNvGraphicFramePr>
          <p:nvPr>
            <p:extLst>
              <p:ext uri="{D42A27DB-BD31-4B8C-83A1-F6EECF244321}">
                <p14:modId xmlns:p14="http://schemas.microsoft.com/office/powerpoint/2010/main" val="2091311810"/>
              </p:ext>
            </p:extLst>
          </p:nvPr>
        </p:nvGraphicFramePr>
        <p:xfrm>
          <a:off x="4213225" y="2675302"/>
          <a:ext cx="800100" cy="387350"/>
        </p:xfrm>
        <a:graphic>
          <a:graphicData uri="http://schemas.openxmlformats.org/presentationml/2006/ole">
            <mc:AlternateContent xmlns:mc="http://schemas.openxmlformats.org/markup-compatibility/2006">
              <mc:Choice xmlns:v="urn:schemas-microsoft-com:vml" Requires="v">
                <p:oleObj name="Equation" r:id="rId2" imgW="419040" imgH="203040" progId="Equation.DSMT4">
                  <p:embed/>
                </p:oleObj>
              </mc:Choice>
              <mc:Fallback>
                <p:oleObj name="Equation" r:id="rId2" imgW="419040" imgH="203040" progId="Equation.DSMT4">
                  <p:embed/>
                  <p:pic>
                    <p:nvPicPr>
                      <p:cNvPr id="3" name="Object 2">
                        <a:extLst>
                          <a:ext uri="{FF2B5EF4-FFF2-40B4-BE49-F238E27FC236}">
                            <a16:creationId xmlns:a16="http://schemas.microsoft.com/office/drawing/2014/main" id="{43A08D70-0332-0BAF-9E13-72FB9A395E07}"/>
                          </a:ext>
                        </a:extLst>
                      </p:cNvPr>
                      <p:cNvPicPr>
                        <a:picLocks noChangeAspect="1" noChangeArrowheads="1"/>
                      </p:cNvPicPr>
                      <p:nvPr/>
                    </p:nvPicPr>
                    <p:blipFill>
                      <a:blip r:embed="rId3"/>
                      <a:srcRect/>
                      <a:stretch>
                        <a:fillRect/>
                      </a:stretch>
                    </p:blipFill>
                    <p:spPr bwMode="auto">
                      <a:xfrm>
                        <a:off x="4213225" y="2675302"/>
                        <a:ext cx="800100"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 name="Picture 2"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Switch 1 is located in the top wire between the wires for the 12 ohm resistor and the 6 ohms resistor. A 3 ohms resistor is located in the top wire between the wires for the 6 ohms resistor and the 150 milli Henry inductor. Switch 2 is located in the top wire between the wires for the milli Henry inductor and the 18 ohms resistor. Switch 1 is opened when time t is zero. Switch 2 is opened when time t is 35 milli seconds. Voltage v subscript L exists across the 150 milli Henry inductor with positive polarity at the top node and negative polarity at the bottom. Current i subscript L flows through the 150 milli Henry inductor from the top node to the bottom node. ">
            <a:extLst>
              <a:ext uri="{FF2B5EF4-FFF2-40B4-BE49-F238E27FC236}">
                <a16:creationId xmlns:a16="http://schemas.microsoft.com/office/drawing/2014/main" id="{5214637E-EE05-D252-B967-805936162B8E}"/>
              </a:ext>
            </a:extLst>
          </p:cNvPr>
          <p:cNvPicPr>
            <a:picLocks noChangeAspect="1" noChangeArrowheads="1"/>
          </p:cNvPicPr>
          <p:nvPr/>
        </p:nvPicPr>
        <p:blipFill>
          <a:blip r:embed="rId4"/>
          <a:srcRect/>
          <a:stretch/>
        </p:blipFill>
        <p:spPr bwMode="auto">
          <a:xfrm>
            <a:off x="1663951" y="3430806"/>
            <a:ext cx="5816098" cy="23165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64254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24595"/>
            <a:ext cx="8229600" cy="1144347"/>
          </a:xfrm>
        </p:spPr>
        <p:txBody>
          <a:bodyPr/>
          <a:lstStyle/>
          <a:p>
            <a:r>
              <a:rPr lang="en-US" noProof="0" dirty="0"/>
              <a:t>Chapter 7 – Sequential Switching Problems </a:t>
            </a:r>
            <a:r>
              <a:rPr lang="en-US" sz="2800" noProof="0" dirty="0"/>
              <a:t>(4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53824"/>
            <a:ext cx="8220075" cy="405683"/>
          </a:xfrm>
        </p:spPr>
        <p:txBody>
          <a:bodyPr wrap="square" lIns="0" tIns="18000" rIns="0" bIns="18000" anchor="ctr">
            <a:spAutoFit/>
          </a:bodyPr>
          <a:lstStyle/>
          <a:p>
            <a:pPr marL="0" indent="0">
              <a:spcBef>
                <a:spcPts val="600"/>
              </a:spcBef>
              <a:buNone/>
            </a:pPr>
            <a:r>
              <a:rPr lang="en-US" sz="2400" noProof="0" dirty="0"/>
              <a:t>How many different time segments are defined for this circuit</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8625" y="1926182"/>
            <a:ext cx="371475" cy="405683"/>
          </a:xfrm>
        </p:spPr>
        <p:txBody>
          <a:bodyPr wrap="square" lIns="0" tIns="18000" rIns="0" bIns="18000" anchor="ctr">
            <a:spAutoFit/>
          </a:bodyPr>
          <a:lstStyle/>
          <a:p>
            <a:pPr marL="0" indent="0">
              <a:spcBef>
                <a:spcPts val="600"/>
              </a:spcBef>
              <a:buNone/>
            </a:pPr>
            <a:r>
              <a:rPr lang="en-US" sz="2400" noProof="0" dirty="0"/>
              <a:t>for</a:t>
            </a:r>
          </a:p>
        </p:txBody>
      </p:sp>
      <p:graphicFrame>
        <p:nvGraphicFramePr>
          <p:cNvPr id="2" name="Object 1" descr="t is greater than or equal to 0 superscript plus baseline question mark.&#10;">
            <a:extLst>
              <a:ext uri="{FF2B5EF4-FFF2-40B4-BE49-F238E27FC236}">
                <a16:creationId xmlns:a16="http://schemas.microsoft.com/office/drawing/2014/main" id="{4540BB96-D39D-D749-0FDF-A65E5580954C}"/>
              </a:ext>
            </a:extLst>
          </p:cNvPr>
          <p:cNvGraphicFramePr>
            <a:graphicFrameLocks noChangeAspect="1"/>
          </p:cNvGraphicFramePr>
          <p:nvPr>
            <p:extLst>
              <p:ext uri="{D42A27DB-BD31-4B8C-83A1-F6EECF244321}">
                <p14:modId xmlns:p14="http://schemas.microsoft.com/office/powerpoint/2010/main" val="1559238888"/>
              </p:ext>
            </p:extLst>
          </p:nvPr>
        </p:nvGraphicFramePr>
        <p:xfrm>
          <a:off x="903288" y="1926182"/>
          <a:ext cx="944562" cy="387350"/>
        </p:xfrm>
        <a:graphic>
          <a:graphicData uri="http://schemas.openxmlformats.org/presentationml/2006/ole">
            <mc:AlternateContent xmlns:mc="http://schemas.openxmlformats.org/markup-compatibility/2006">
              <mc:Choice xmlns:v="urn:schemas-microsoft-com:vml" Requires="v">
                <p:oleObj name="Equation" r:id="rId2" imgW="495000" imgH="203040" progId="Equation.DSMT4">
                  <p:embed/>
                </p:oleObj>
              </mc:Choice>
              <mc:Fallback>
                <p:oleObj name="Equation" r:id="rId2" imgW="495000" imgH="203040" progId="Equation.DSMT4">
                  <p:embed/>
                  <p:pic>
                    <p:nvPicPr>
                      <p:cNvPr id="2" name="Object 1">
                        <a:extLst>
                          <a:ext uri="{FF2B5EF4-FFF2-40B4-BE49-F238E27FC236}">
                            <a16:creationId xmlns:a16="http://schemas.microsoft.com/office/drawing/2014/main" id="{2A2BEAA5-3A62-6F42-67A6-7705B085D66D}"/>
                          </a:ext>
                        </a:extLst>
                      </p:cNvPr>
                      <p:cNvPicPr>
                        <a:picLocks noChangeAspect="1" noChangeArrowheads="1"/>
                      </p:cNvPicPr>
                      <p:nvPr/>
                    </p:nvPicPr>
                    <p:blipFill>
                      <a:blip r:embed="rId3"/>
                      <a:srcRect/>
                      <a:stretch>
                        <a:fillRect/>
                      </a:stretch>
                    </p:blipFill>
                    <p:spPr bwMode="auto">
                      <a:xfrm>
                        <a:off x="903288" y="1926182"/>
                        <a:ext cx="944562"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 name="Picture 86"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Switch 1 is located in the top wire between the wires for the 12 ohm resistor and the 6 ohms resistor. A 3 ohms resistor is located in the top wire between the wires for the 6 ohms resistor and the 150 milli Henry inductor. Switch 2 is located in the top wire between the wires for the milli Henry inductor and the 18 ohms resistor. Switch 1 is opened when time t is zero. Switch 2 is opened when time t is 35 milli seconds. Voltage v subscript L exists across the 150 milli Henry inductor with positive polarity at the top node and negative polarity at the bottom. Current i subscript L flows through the 150 milli Henry inductor from the top node to the bottom node. ">
            <a:extLst>
              <a:ext uri="{FF2B5EF4-FFF2-40B4-BE49-F238E27FC236}">
                <a16:creationId xmlns:a16="http://schemas.microsoft.com/office/drawing/2014/main" id="{E20ED445-C5B0-F84A-CF85-90C9E3AFF5D8}"/>
              </a:ext>
            </a:extLst>
          </p:cNvPr>
          <p:cNvPicPr>
            <a:picLocks noChangeAspect="1" noChangeArrowheads="1"/>
          </p:cNvPicPr>
          <p:nvPr/>
        </p:nvPicPr>
        <p:blipFill>
          <a:blip r:embed="rId4"/>
          <a:srcRect/>
          <a:stretch/>
        </p:blipFill>
        <p:spPr bwMode="auto">
          <a:xfrm>
            <a:off x="2140079" y="2528909"/>
            <a:ext cx="4806693" cy="1914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463994" y="4691709"/>
            <a:ext cx="55245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1</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472865" y="5200410"/>
            <a:ext cx="561976"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2</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463994" y="5736966"/>
            <a:ext cx="561976"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3</a:t>
            </a:r>
          </a:p>
        </p:txBody>
      </p:sp>
    </p:spTree>
    <p:extLst>
      <p:ext uri="{BB962C8B-B14F-4D97-AF65-F5344CB8AC3E}">
        <p14:creationId xmlns:p14="http://schemas.microsoft.com/office/powerpoint/2010/main" val="226550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28625" y="224595"/>
            <a:ext cx="8229600" cy="1144347"/>
          </a:xfrm>
        </p:spPr>
        <p:txBody>
          <a:bodyPr/>
          <a:lstStyle/>
          <a:p>
            <a:r>
              <a:rPr lang="en-US" noProof="0" dirty="0"/>
              <a:t>Chapter 7 – Sequential Switching Problems </a:t>
            </a:r>
            <a:r>
              <a:rPr lang="en-US" sz="2800" noProof="0" dirty="0"/>
              <a:t>(4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53824"/>
            <a:ext cx="8220075" cy="405683"/>
          </a:xfrm>
        </p:spPr>
        <p:txBody>
          <a:bodyPr wrap="square" lIns="0" tIns="18000" rIns="0" bIns="18000" anchor="ctr">
            <a:spAutoFit/>
          </a:bodyPr>
          <a:lstStyle/>
          <a:p>
            <a:pPr marL="0" indent="0">
              <a:spcBef>
                <a:spcPts val="600"/>
              </a:spcBef>
              <a:buNone/>
            </a:pPr>
            <a:r>
              <a:rPr lang="en-US" sz="2400" noProof="0" dirty="0"/>
              <a:t>How many different time segments are defined for this circuit</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28625" y="1926182"/>
            <a:ext cx="371475" cy="405683"/>
          </a:xfrm>
        </p:spPr>
        <p:txBody>
          <a:bodyPr wrap="square" lIns="0" tIns="18000" rIns="0" bIns="18000" anchor="ctr">
            <a:spAutoFit/>
          </a:bodyPr>
          <a:lstStyle/>
          <a:p>
            <a:pPr marL="0" indent="0">
              <a:spcBef>
                <a:spcPts val="600"/>
              </a:spcBef>
              <a:buNone/>
            </a:pPr>
            <a:r>
              <a:rPr lang="en-US" sz="2400" noProof="0" dirty="0"/>
              <a:t>for</a:t>
            </a:r>
          </a:p>
        </p:txBody>
      </p:sp>
      <p:graphicFrame>
        <p:nvGraphicFramePr>
          <p:cNvPr id="2" name="Object 1" descr="t is greater than or equal to 0 superscript plus baseline question mark.&#10;">
            <a:extLst>
              <a:ext uri="{FF2B5EF4-FFF2-40B4-BE49-F238E27FC236}">
                <a16:creationId xmlns:a16="http://schemas.microsoft.com/office/drawing/2014/main" id="{4540BB96-D39D-D749-0FDF-A65E5580954C}"/>
              </a:ext>
            </a:extLst>
          </p:cNvPr>
          <p:cNvGraphicFramePr>
            <a:graphicFrameLocks noChangeAspect="1"/>
          </p:cNvGraphicFramePr>
          <p:nvPr/>
        </p:nvGraphicFramePr>
        <p:xfrm>
          <a:off x="903288" y="1926182"/>
          <a:ext cx="944562" cy="387350"/>
        </p:xfrm>
        <a:graphic>
          <a:graphicData uri="http://schemas.openxmlformats.org/presentationml/2006/ole">
            <mc:AlternateContent xmlns:mc="http://schemas.openxmlformats.org/markup-compatibility/2006">
              <mc:Choice xmlns:v="urn:schemas-microsoft-com:vml" Requires="v">
                <p:oleObj name="Equation" r:id="rId5" imgW="495000" imgH="203040" progId="Equation.DSMT4">
                  <p:embed/>
                </p:oleObj>
              </mc:Choice>
              <mc:Fallback>
                <p:oleObj name="Equation" r:id="rId5" imgW="495000" imgH="203040" progId="Equation.DSMT4">
                  <p:embed/>
                  <p:pic>
                    <p:nvPicPr>
                      <p:cNvPr id="2" name="Object 1" descr="t is greater than or equal to 0 superscript plus baseline question mark.&#10;">
                        <a:extLst>
                          <a:ext uri="{FF2B5EF4-FFF2-40B4-BE49-F238E27FC236}">
                            <a16:creationId xmlns:a16="http://schemas.microsoft.com/office/drawing/2014/main" id="{4540BB96-D39D-D749-0FDF-A65E5580954C}"/>
                          </a:ext>
                        </a:extLst>
                      </p:cNvPr>
                      <p:cNvPicPr>
                        <a:picLocks noChangeAspect="1" noChangeArrowheads="1"/>
                      </p:cNvPicPr>
                      <p:nvPr/>
                    </p:nvPicPr>
                    <p:blipFill>
                      <a:blip r:embed="rId6"/>
                      <a:srcRect/>
                      <a:stretch>
                        <a:fillRect/>
                      </a:stretch>
                    </p:blipFill>
                    <p:spPr bwMode="auto">
                      <a:xfrm>
                        <a:off x="903288" y="1926182"/>
                        <a:ext cx="944562" cy="38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 name="Picture 86"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Switch 1 is located in the top wire between the wires for the 12 ohm resistor and the 6 ohms resistor. A 3 ohms resistor is located in the top wire between the wires for the 6 ohms resistor and the 150 milli Henry inductor. Switch 2 is located in the top wire between the wires for the milli Henry inductor and the 18 ohms resistor. Switch 1 is opened when time t is zero. Switch 2 is opened when time t is 35 milli seconds. Voltage v subscript L exists across the 150 milli Henry inductor with positive polarity at the top node and negative polarity at the bottom. Current i subscript L flows through the 150 milli Henry inductor from the top node to the bottom node. ">
            <a:extLst>
              <a:ext uri="{FF2B5EF4-FFF2-40B4-BE49-F238E27FC236}">
                <a16:creationId xmlns:a16="http://schemas.microsoft.com/office/drawing/2014/main" id="{E20ED445-C5B0-F84A-CF85-90C9E3AFF5D8}"/>
              </a:ext>
            </a:extLst>
          </p:cNvPr>
          <p:cNvPicPr>
            <a:picLocks noChangeAspect="1" noChangeArrowheads="1"/>
          </p:cNvPicPr>
          <p:nvPr/>
        </p:nvPicPr>
        <p:blipFill>
          <a:blip r:embed="rId7"/>
          <a:srcRect/>
          <a:stretch/>
        </p:blipFill>
        <p:spPr bwMode="auto">
          <a:xfrm>
            <a:off x="2140079" y="2528909"/>
            <a:ext cx="4806693" cy="1914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9" name="Picture 1434" descr="Cross mark">
            <a:extLst>
              <a:ext uri="{FF2B5EF4-FFF2-40B4-BE49-F238E27FC236}">
                <a16:creationId xmlns:a16="http://schemas.microsoft.com/office/drawing/2014/main" id="{328988FF-BFEE-205B-9599-4C2267FB6675}"/>
              </a:ext>
            </a:extLst>
          </p:cNvPr>
          <p:cNvPicPr>
            <a:picLocks/>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808247" y="4723100"/>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463994" y="4691709"/>
            <a:ext cx="55245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1</a:t>
            </a:r>
          </a:p>
        </p:txBody>
      </p:sp>
      <p:pic>
        <p:nvPicPr>
          <p:cNvPr id="50" name="Picture 1435" descr="Check mark">
            <a:extLst>
              <a:ext uri="{FF2B5EF4-FFF2-40B4-BE49-F238E27FC236}">
                <a16:creationId xmlns:a16="http://schemas.microsoft.com/office/drawing/2014/main" id="{FDFD2754-1138-F348-ED34-1DD62A9D0242}"/>
              </a:ext>
            </a:extLst>
          </p:cNvPr>
          <p:cNvPicPr>
            <a:picLocks/>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810044" y="5231801"/>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472865" y="5200410"/>
            <a:ext cx="561976"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2</a:t>
            </a:r>
          </a:p>
        </p:txBody>
      </p:sp>
      <p:pic>
        <p:nvPicPr>
          <p:cNvPr id="51" name="Picture 1436" descr="Cross mark">
            <a:extLst>
              <a:ext uri="{FF2B5EF4-FFF2-40B4-BE49-F238E27FC236}">
                <a16:creationId xmlns:a16="http://schemas.microsoft.com/office/drawing/2014/main" id="{2ACFC3E7-0C39-64FF-27C2-5D756A692CE4}"/>
              </a:ext>
            </a:extLst>
          </p:cNvPr>
          <p:cNvPicPr>
            <a:picLocks/>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808247" y="5768357"/>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463994" y="5736966"/>
            <a:ext cx="561976"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3</a:t>
            </a:r>
          </a:p>
        </p:txBody>
      </p:sp>
    </p:spTree>
    <p:extLst>
      <p:ext uri="{BB962C8B-B14F-4D97-AF65-F5344CB8AC3E}">
        <p14:creationId xmlns:p14="http://schemas.microsoft.com/office/powerpoint/2010/main" val="2482878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23515"/>
            <a:ext cx="8229600" cy="1144347"/>
          </a:xfrm>
        </p:spPr>
        <p:txBody>
          <a:bodyPr/>
          <a:lstStyle/>
          <a:p>
            <a:r>
              <a:rPr lang="en-US" noProof="0" dirty="0"/>
              <a:t>Chapter 7 – Sequential Switching Problems </a:t>
            </a:r>
            <a:r>
              <a:rPr lang="en-US" sz="2800" noProof="0" dirty="0"/>
              <a:t>(5 of 22)</a:t>
            </a:r>
            <a:r>
              <a:rPr lang="en-US" noProof="0" dirty="0"/>
              <a:t> </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97343"/>
            <a:ext cx="4211488" cy="1575234"/>
          </a:xfrm>
        </p:spPr>
        <p:txBody>
          <a:bodyPr wrap="square" lIns="0" tIns="18000" rIns="0" bIns="18000" anchor="ctr">
            <a:spAutoFit/>
          </a:bodyPr>
          <a:lstStyle/>
          <a:p>
            <a:pPr marL="0" indent="0">
              <a:spcBef>
                <a:spcPts val="600"/>
              </a:spcBef>
              <a:buNone/>
            </a:pPr>
            <a:r>
              <a:rPr lang="en-US" sz="2000" noProof="0" dirty="0"/>
              <a:t>Both switches have been closed for a long time. At t = 0, switch 1 is opened and stays open. Switch 2 opens 35 m</a:t>
            </a:r>
            <a:r>
              <a:rPr lang="en-US" sz="100" noProof="0" dirty="0"/>
              <a:t> </a:t>
            </a:r>
            <a:r>
              <a:rPr lang="en-US" sz="2000" noProof="0" dirty="0"/>
              <a:t>s later and stays open. Find the expression for the voltage drop </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3100257"/>
            <a:ext cx="2520710" cy="344128"/>
          </a:xfrm>
        </p:spPr>
        <p:txBody>
          <a:bodyPr wrap="square" lIns="0" tIns="18000" rIns="0" bIns="18000" anchor="ctr">
            <a:spAutoFit/>
          </a:bodyPr>
          <a:lstStyle/>
          <a:p>
            <a:pPr marL="0" indent="0">
              <a:spcBef>
                <a:spcPts val="600"/>
              </a:spcBef>
              <a:buNone/>
            </a:pPr>
            <a:r>
              <a:rPr lang="en-US" sz="2000" noProof="0" dirty="0"/>
              <a:t>across the inductor for</a:t>
            </a:r>
          </a:p>
        </p:txBody>
      </p:sp>
      <p:graphicFrame>
        <p:nvGraphicFramePr>
          <p:cNvPr id="2" name="Object 1" descr="t is greater than or equal to 0 superscript plus.&#10;">
            <a:extLst>
              <a:ext uri="{FF2B5EF4-FFF2-40B4-BE49-F238E27FC236}">
                <a16:creationId xmlns:a16="http://schemas.microsoft.com/office/drawing/2014/main" id="{D67721D6-1417-C265-3D3A-BF0969D393D3}"/>
              </a:ext>
            </a:extLst>
          </p:cNvPr>
          <p:cNvGraphicFramePr>
            <a:graphicFrameLocks noChangeAspect="1"/>
          </p:cNvGraphicFramePr>
          <p:nvPr>
            <p:extLst>
              <p:ext uri="{D42A27DB-BD31-4B8C-83A1-F6EECF244321}">
                <p14:modId xmlns:p14="http://schemas.microsoft.com/office/powerpoint/2010/main" val="3214426358"/>
              </p:ext>
            </p:extLst>
          </p:nvPr>
        </p:nvGraphicFramePr>
        <p:xfrm>
          <a:off x="3019180" y="3107009"/>
          <a:ext cx="661240" cy="320124"/>
        </p:xfrm>
        <a:graphic>
          <a:graphicData uri="http://schemas.openxmlformats.org/presentationml/2006/ole">
            <mc:AlternateContent xmlns:mc="http://schemas.openxmlformats.org/markup-compatibility/2006">
              <mc:Choice xmlns:v="urn:schemas-microsoft-com:vml" Requires="v">
                <p:oleObj name="Equation" r:id="rId2" imgW="419040" imgH="203040" progId="Equation.DSMT4">
                  <p:embed/>
                </p:oleObj>
              </mc:Choice>
              <mc:Fallback>
                <p:oleObj name="Equation" r:id="rId2" imgW="419040" imgH="203040" progId="Equation.DSMT4">
                  <p:embed/>
                  <p:pic>
                    <p:nvPicPr>
                      <p:cNvPr id="2" name="Object 1">
                        <a:extLst>
                          <a:ext uri="{FF2B5EF4-FFF2-40B4-BE49-F238E27FC236}">
                            <a16:creationId xmlns:a16="http://schemas.microsoft.com/office/drawing/2014/main" id="{2A2BEAA5-3A62-6F42-67A6-7705B085D66D}"/>
                          </a:ext>
                        </a:extLst>
                      </p:cNvPr>
                      <p:cNvPicPr>
                        <a:picLocks noChangeAspect="1" noChangeArrowheads="1"/>
                      </p:cNvPicPr>
                      <p:nvPr/>
                    </p:nvPicPr>
                    <p:blipFill>
                      <a:blip r:embed="rId3"/>
                      <a:srcRect/>
                      <a:stretch>
                        <a:fillRect/>
                      </a:stretch>
                    </p:blipFill>
                    <p:spPr bwMode="auto">
                      <a:xfrm>
                        <a:off x="3019180" y="3107009"/>
                        <a:ext cx="661240" cy="320124"/>
                      </a:xfrm>
                      <a:prstGeom prst="rect">
                        <a:avLst/>
                      </a:prstGeom>
                      <a:noFill/>
                      <a:ln>
                        <a:noFill/>
                      </a:ln>
                      <a:effectLst/>
                    </p:spPr>
                  </p:pic>
                </p:oleObj>
              </mc:Fallback>
            </mc:AlternateContent>
          </a:graphicData>
        </a:graphic>
      </p:graphicFrame>
      <p:pic>
        <p:nvPicPr>
          <p:cNvPr id="3" name="Picture 2"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Switch 1 is located in the top wire between the wires for the 12 ohm resistor and the 6 ohms resistor. A 3 ohms resistor is located in the top wire between the wires for the 6 ohms resistor and the 150 milli Henry inductor. Switch 2 is located in the top wire between the wires for the milli Henry inductor and the 18 ohms resistor. Switch 1 is opened when time t is zero. Switch 2 is opened when time t is 35 milli seconds. Voltage v subscript L exists across the 150 milli Henry inductor with positive polarity at the top node and negative polarity at the bottom. Current i subscript L flows through the 150 milli Henry inductor from the top node to the bottom node. ">
            <a:extLst>
              <a:ext uri="{FF2B5EF4-FFF2-40B4-BE49-F238E27FC236}">
                <a16:creationId xmlns:a16="http://schemas.microsoft.com/office/drawing/2014/main" id="{EB71BCB0-0AA5-CEC0-589B-1429C5AF45EE}"/>
              </a:ext>
            </a:extLst>
          </p:cNvPr>
          <p:cNvPicPr>
            <a:picLocks noChangeAspect="1" noChangeArrowheads="1"/>
          </p:cNvPicPr>
          <p:nvPr/>
        </p:nvPicPr>
        <p:blipFill>
          <a:blip r:embed="rId4"/>
          <a:srcRect/>
          <a:stretch/>
        </p:blipFill>
        <p:spPr bwMode="auto">
          <a:xfrm>
            <a:off x="5094790" y="1569876"/>
            <a:ext cx="3286708" cy="13090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3570047"/>
            <a:ext cx="4289125" cy="344128"/>
          </a:xfrm>
        </p:spPr>
        <p:txBody>
          <a:bodyPr wrap="square" lIns="0" tIns="18000" rIns="0" bIns="18000" anchor="ctr">
            <a:spAutoFit/>
          </a:bodyPr>
          <a:lstStyle/>
          <a:p>
            <a:pPr marL="342900" indent="-342900">
              <a:spcBef>
                <a:spcPts val="600"/>
              </a:spcBef>
            </a:pPr>
            <a:r>
              <a:rPr lang="en-US" sz="2000" noProof="0" dirty="0"/>
              <a:t>Analysis for the first time segment, </a:t>
            </a:r>
          </a:p>
        </p:txBody>
      </p:sp>
      <p:graphicFrame>
        <p:nvGraphicFramePr>
          <p:cNvPr id="4" name="Object 3" descr="0 is less than or equal to t is less than or equal to 35 milliseconds.&#10;">
            <a:extLst>
              <a:ext uri="{FF2B5EF4-FFF2-40B4-BE49-F238E27FC236}">
                <a16:creationId xmlns:a16="http://schemas.microsoft.com/office/drawing/2014/main" id="{D5EA2A21-9E18-D033-98C0-9C37632D3865}"/>
              </a:ext>
            </a:extLst>
          </p:cNvPr>
          <p:cNvGraphicFramePr>
            <a:graphicFrameLocks noChangeAspect="1"/>
          </p:cNvGraphicFramePr>
          <p:nvPr>
            <p:extLst>
              <p:ext uri="{D42A27DB-BD31-4B8C-83A1-F6EECF244321}">
                <p14:modId xmlns:p14="http://schemas.microsoft.com/office/powerpoint/2010/main" val="202434425"/>
              </p:ext>
            </p:extLst>
          </p:nvPr>
        </p:nvGraphicFramePr>
        <p:xfrm>
          <a:off x="4775573" y="3614853"/>
          <a:ext cx="1484313" cy="319087"/>
        </p:xfrm>
        <a:graphic>
          <a:graphicData uri="http://schemas.openxmlformats.org/presentationml/2006/ole">
            <mc:AlternateContent xmlns:mc="http://schemas.openxmlformats.org/markup-compatibility/2006">
              <mc:Choice xmlns:v="urn:schemas-microsoft-com:vml" Requires="v">
                <p:oleObj name="Equation" r:id="rId5" imgW="939600" imgH="203040" progId="Equation.DSMT4">
                  <p:embed/>
                </p:oleObj>
              </mc:Choice>
              <mc:Fallback>
                <p:oleObj name="Equation" r:id="rId5" imgW="939600" imgH="203040" progId="Equation.DSMT4">
                  <p:embed/>
                  <p:pic>
                    <p:nvPicPr>
                      <p:cNvPr id="2" name="Object 1">
                        <a:extLst>
                          <a:ext uri="{FF2B5EF4-FFF2-40B4-BE49-F238E27FC236}">
                            <a16:creationId xmlns:a16="http://schemas.microsoft.com/office/drawing/2014/main" id="{D67721D6-1417-C265-3D3A-BF0969D393D3}"/>
                          </a:ext>
                        </a:extLst>
                      </p:cNvPr>
                      <p:cNvPicPr>
                        <a:picLocks noChangeAspect="1" noChangeArrowheads="1"/>
                      </p:cNvPicPr>
                      <p:nvPr/>
                    </p:nvPicPr>
                    <p:blipFill>
                      <a:blip r:embed="rId6"/>
                      <a:srcRect/>
                      <a:stretch>
                        <a:fillRect/>
                      </a:stretch>
                    </p:blipFill>
                    <p:spPr bwMode="auto">
                      <a:xfrm>
                        <a:off x="4775573" y="3614853"/>
                        <a:ext cx="1484313" cy="319087"/>
                      </a:xfrm>
                      <a:prstGeom prst="rect">
                        <a:avLst/>
                      </a:prstGeom>
                      <a:noFill/>
                      <a:ln>
                        <a:noFill/>
                      </a:ln>
                      <a:effec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0" y="3996687"/>
            <a:ext cx="7800076" cy="344128"/>
          </a:xfrm>
        </p:spPr>
        <p:txBody>
          <a:bodyPr wrap="square" lIns="0" tIns="18000" rIns="0" bIns="18000" anchor="ctr">
            <a:spAutoFit/>
          </a:bodyPr>
          <a:lstStyle/>
          <a:p>
            <a:pPr marL="829818" lvl="1" indent="-342900"/>
            <a:r>
              <a:rPr lang="en-US" sz="2000" noProof="0" dirty="0"/>
              <a:t>Step 1 – Identify the variable </a:t>
            </a:r>
            <a:r>
              <a:rPr lang="en-US" sz="2000" i="1" noProof="0" dirty="0"/>
              <a:t>x</a:t>
            </a:r>
            <a:r>
              <a:rPr lang="en-US" sz="2000" noProof="0" dirty="0"/>
              <a:t>(</a:t>
            </a:r>
            <a:r>
              <a:rPr lang="en-US" sz="2000" i="1" noProof="0" dirty="0"/>
              <a:t>t</a:t>
            </a:r>
            <a:r>
              <a:rPr lang="en-US" sz="2000" noProof="0" dirty="0"/>
              <a:t>), which is the inductor current </a:t>
            </a:r>
          </a:p>
        </p:txBody>
      </p:sp>
      <p:graphicFrame>
        <p:nvGraphicFramePr>
          <p:cNvPr id="5" name="Object 4" descr="i subscript L.&#10;">
            <a:extLst>
              <a:ext uri="{FF2B5EF4-FFF2-40B4-BE49-F238E27FC236}">
                <a16:creationId xmlns:a16="http://schemas.microsoft.com/office/drawing/2014/main" id="{D0E8FD82-E65D-4DFA-6AB6-72B6FE930EC7}"/>
              </a:ext>
            </a:extLst>
          </p:cNvPr>
          <p:cNvGraphicFramePr>
            <a:graphicFrameLocks noChangeAspect="1"/>
          </p:cNvGraphicFramePr>
          <p:nvPr>
            <p:extLst>
              <p:ext uri="{D42A27DB-BD31-4B8C-83A1-F6EECF244321}">
                <p14:modId xmlns:p14="http://schemas.microsoft.com/office/powerpoint/2010/main" val="1231906336"/>
              </p:ext>
            </p:extLst>
          </p:nvPr>
        </p:nvGraphicFramePr>
        <p:xfrm>
          <a:off x="8338368" y="4031191"/>
          <a:ext cx="280987" cy="360363"/>
        </p:xfrm>
        <a:graphic>
          <a:graphicData uri="http://schemas.openxmlformats.org/presentationml/2006/ole">
            <mc:AlternateContent xmlns:mc="http://schemas.openxmlformats.org/markup-compatibility/2006">
              <mc:Choice xmlns:v="urn:schemas-microsoft-com:vml" Requires="v">
                <p:oleObj name="Equation" r:id="rId7" imgW="177480" imgH="228600" progId="Equation.DSMT4">
                  <p:embed/>
                </p:oleObj>
              </mc:Choice>
              <mc:Fallback>
                <p:oleObj name="Equation" r:id="rId7" imgW="177480" imgH="228600" progId="Equation.DSMT4">
                  <p:embed/>
                  <p:pic>
                    <p:nvPicPr>
                      <p:cNvPr id="2" name="Object 1">
                        <a:extLst>
                          <a:ext uri="{FF2B5EF4-FFF2-40B4-BE49-F238E27FC236}">
                            <a16:creationId xmlns:a16="http://schemas.microsoft.com/office/drawing/2014/main" id="{D67721D6-1417-C265-3D3A-BF0969D393D3}"/>
                          </a:ext>
                        </a:extLst>
                      </p:cNvPr>
                      <p:cNvPicPr>
                        <a:picLocks noChangeAspect="1" noChangeArrowheads="1"/>
                      </p:cNvPicPr>
                      <p:nvPr/>
                    </p:nvPicPr>
                    <p:blipFill>
                      <a:blip r:embed="rId8"/>
                      <a:srcRect/>
                      <a:stretch>
                        <a:fillRect/>
                      </a:stretch>
                    </p:blipFill>
                    <p:spPr bwMode="auto">
                      <a:xfrm>
                        <a:off x="8338368" y="4031191"/>
                        <a:ext cx="280987" cy="360363"/>
                      </a:xfrm>
                      <a:prstGeom prst="rect">
                        <a:avLst/>
                      </a:prstGeom>
                      <a:noFill/>
                      <a:ln>
                        <a:noFill/>
                      </a:ln>
                      <a:effec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438151" y="4404137"/>
            <a:ext cx="4656639" cy="344128"/>
          </a:xfrm>
        </p:spPr>
        <p:txBody>
          <a:bodyPr wrap="square" lIns="0" tIns="18000" rIns="0" bIns="18000" anchor="ctr">
            <a:spAutoFit/>
          </a:bodyPr>
          <a:lstStyle/>
          <a:p>
            <a:pPr marL="829818" lvl="1" indent="-342900"/>
            <a:r>
              <a:rPr lang="en-US" sz="2000" noProof="0" dirty="0"/>
              <a:t>Step 2 – Calculate the initial value </a:t>
            </a:r>
          </a:p>
        </p:txBody>
      </p:sp>
      <p:graphicFrame>
        <p:nvGraphicFramePr>
          <p:cNvPr id="25" name="Object 24" descr="I subscript 0.&#10;">
            <a:extLst>
              <a:ext uri="{FF2B5EF4-FFF2-40B4-BE49-F238E27FC236}">
                <a16:creationId xmlns:a16="http://schemas.microsoft.com/office/drawing/2014/main" id="{E923043D-296A-A6CE-A45A-7D41533C6404}"/>
              </a:ext>
            </a:extLst>
          </p:cNvPr>
          <p:cNvGraphicFramePr>
            <a:graphicFrameLocks noChangeAspect="1"/>
          </p:cNvGraphicFramePr>
          <p:nvPr>
            <p:extLst>
              <p:ext uri="{D42A27DB-BD31-4B8C-83A1-F6EECF244321}">
                <p14:modId xmlns:p14="http://schemas.microsoft.com/office/powerpoint/2010/main" val="4223708253"/>
              </p:ext>
            </p:extLst>
          </p:nvPr>
        </p:nvGraphicFramePr>
        <p:xfrm>
          <a:off x="5163813" y="4436585"/>
          <a:ext cx="220663" cy="360362"/>
        </p:xfrm>
        <a:graphic>
          <a:graphicData uri="http://schemas.openxmlformats.org/presentationml/2006/ole">
            <mc:AlternateContent xmlns:mc="http://schemas.openxmlformats.org/markup-compatibility/2006">
              <mc:Choice xmlns:v="urn:schemas-microsoft-com:vml" Requires="v">
                <p:oleObj name="Equation" r:id="rId9" imgW="139680" imgH="228600" progId="Equation.DSMT4">
                  <p:embed/>
                </p:oleObj>
              </mc:Choice>
              <mc:Fallback>
                <p:oleObj name="Equation" r:id="rId9" imgW="139680" imgH="228600" progId="Equation.DSMT4">
                  <p:embed/>
                  <p:pic>
                    <p:nvPicPr>
                      <p:cNvPr id="5" name="Object 4">
                        <a:extLst>
                          <a:ext uri="{FF2B5EF4-FFF2-40B4-BE49-F238E27FC236}">
                            <a16:creationId xmlns:a16="http://schemas.microsoft.com/office/drawing/2014/main" id="{D0E8FD82-E65D-4DFA-6AB6-72B6FE930EC7}"/>
                          </a:ext>
                        </a:extLst>
                      </p:cNvPr>
                      <p:cNvPicPr>
                        <a:picLocks noChangeAspect="1" noChangeArrowheads="1"/>
                      </p:cNvPicPr>
                      <p:nvPr/>
                    </p:nvPicPr>
                    <p:blipFill>
                      <a:blip r:embed="rId10"/>
                      <a:srcRect/>
                      <a:stretch>
                        <a:fillRect/>
                      </a:stretch>
                    </p:blipFill>
                    <p:spPr bwMode="auto">
                      <a:xfrm>
                        <a:off x="5163813" y="4436585"/>
                        <a:ext cx="220663" cy="360362"/>
                      </a:xfrm>
                      <a:prstGeom prst="rect">
                        <a:avLst/>
                      </a:prstGeom>
                      <a:noFill/>
                      <a:ln>
                        <a:noFill/>
                      </a:ln>
                      <a:effec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5453499" y="4405862"/>
            <a:ext cx="2884869" cy="344128"/>
          </a:xfrm>
        </p:spPr>
        <p:txBody>
          <a:bodyPr wrap="square" lIns="0" tIns="18000" rIns="0" bIns="18000" anchor="ctr">
            <a:spAutoFit/>
          </a:bodyPr>
          <a:lstStyle/>
          <a:p>
            <a:pPr marL="485775" lvl="1" indent="-485775">
              <a:buNone/>
            </a:pPr>
            <a:r>
              <a:rPr lang="en-US" sz="2000" noProof="0" dirty="0"/>
              <a:t>by analyzing the circuit to</a:t>
            </a:r>
          </a:p>
        </p:txBody>
      </p:sp>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1289708" y="4847554"/>
            <a:ext cx="441746" cy="344128"/>
          </a:xfrm>
        </p:spPr>
        <p:txBody>
          <a:bodyPr wrap="square" lIns="0" tIns="18000" rIns="0" bIns="18000" anchor="ctr">
            <a:spAutoFit/>
          </a:bodyPr>
          <a:lstStyle/>
          <a:p>
            <a:pPr marL="485775" lvl="1" indent="-693738">
              <a:buNone/>
            </a:pPr>
            <a:r>
              <a:rPr lang="en-US" sz="2000" noProof="0" dirty="0"/>
              <a:t>find</a:t>
            </a:r>
          </a:p>
        </p:txBody>
      </p:sp>
      <p:graphicFrame>
        <p:nvGraphicFramePr>
          <p:cNvPr id="26" name="Object 25" descr="i subscript L baseline (t).&#10;">
            <a:extLst>
              <a:ext uri="{FF2B5EF4-FFF2-40B4-BE49-F238E27FC236}">
                <a16:creationId xmlns:a16="http://schemas.microsoft.com/office/drawing/2014/main" id="{016D4B12-3408-3A1F-6159-26928186E9C8}"/>
              </a:ext>
            </a:extLst>
          </p:cNvPr>
          <p:cNvGraphicFramePr>
            <a:graphicFrameLocks noChangeAspect="1"/>
          </p:cNvGraphicFramePr>
          <p:nvPr>
            <p:extLst>
              <p:ext uri="{D42A27DB-BD31-4B8C-83A1-F6EECF244321}">
                <p14:modId xmlns:p14="http://schemas.microsoft.com/office/powerpoint/2010/main" val="3218415344"/>
              </p:ext>
            </p:extLst>
          </p:nvPr>
        </p:nvGraphicFramePr>
        <p:xfrm>
          <a:off x="1779493" y="4879076"/>
          <a:ext cx="481013" cy="360363"/>
        </p:xfrm>
        <a:graphic>
          <a:graphicData uri="http://schemas.openxmlformats.org/presentationml/2006/ole">
            <mc:AlternateContent xmlns:mc="http://schemas.openxmlformats.org/markup-compatibility/2006">
              <mc:Choice xmlns:v="urn:schemas-microsoft-com:vml" Requires="v">
                <p:oleObj name="Equation" r:id="rId11" imgW="304560" imgH="228600" progId="Equation.DSMT4">
                  <p:embed/>
                </p:oleObj>
              </mc:Choice>
              <mc:Fallback>
                <p:oleObj name="Equation" r:id="rId11" imgW="304560" imgH="228600" progId="Equation.DSMT4">
                  <p:embed/>
                  <p:pic>
                    <p:nvPicPr>
                      <p:cNvPr id="5" name="Object 4">
                        <a:extLst>
                          <a:ext uri="{FF2B5EF4-FFF2-40B4-BE49-F238E27FC236}">
                            <a16:creationId xmlns:a16="http://schemas.microsoft.com/office/drawing/2014/main" id="{D0E8FD82-E65D-4DFA-6AB6-72B6FE930EC7}"/>
                          </a:ext>
                        </a:extLst>
                      </p:cNvPr>
                      <p:cNvPicPr>
                        <a:picLocks noChangeAspect="1" noChangeArrowheads="1"/>
                      </p:cNvPicPr>
                      <p:nvPr/>
                    </p:nvPicPr>
                    <p:blipFill>
                      <a:blip r:embed="rId12"/>
                      <a:srcRect/>
                      <a:stretch>
                        <a:fillRect/>
                      </a:stretch>
                    </p:blipFill>
                    <p:spPr bwMode="auto">
                      <a:xfrm>
                        <a:off x="1779493" y="4879076"/>
                        <a:ext cx="481013" cy="360363"/>
                      </a:xfrm>
                      <a:prstGeom prst="rect">
                        <a:avLst/>
                      </a:prstGeom>
                      <a:noFill/>
                      <a:ln>
                        <a:noFill/>
                      </a:ln>
                      <a:effectLst/>
                    </p:spPr>
                  </p:pic>
                </p:oleObj>
              </mc:Fallback>
            </mc:AlternateContent>
          </a:graphicData>
        </a:graphic>
      </p:graphicFrame>
      <p:sp>
        <p:nvSpPr>
          <p:cNvPr id="14" name="Content Placeholder 13">
            <a:extLst>
              <a:ext uri="{FF2B5EF4-FFF2-40B4-BE49-F238E27FC236}">
                <a16:creationId xmlns:a16="http://schemas.microsoft.com/office/drawing/2014/main" id="{D2CA0551-6BCB-940D-A7FE-FB579489F370}"/>
              </a:ext>
            </a:extLst>
          </p:cNvPr>
          <p:cNvSpPr>
            <a:spLocks noGrp="1"/>
          </p:cNvSpPr>
          <p:nvPr>
            <p:ph sz="quarter" idx="19"/>
          </p:nvPr>
        </p:nvSpPr>
        <p:spPr>
          <a:xfrm>
            <a:off x="2309212" y="4844079"/>
            <a:ext cx="312349" cy="344128"/>
          </a:xfrm>
        </p:spPr>
        <p:txBody>
          <a:bodyPr wrap="square" lIns="0" tIns="18000" rIns="0" bIns="18000" anchor="ctr">
            <a:spAutoFit/>
          </a:bodyPr>
          <a:lstStyle/>
          <a:p>
            <a:pPr marL="485775" lvl="1" indent="-819150">
              <a:buNone/>
            </a:pPr>
            <a:r>
              <a:rPr lang="en-US" sz="2000" noProof="0" dirty="0"/>
              <a:t>for</a:t>
            </a:r>
          </a:p>
        </p:txBody>
      </p:sp>
      <p:graphicFrame>
        <p:nvGraphicFramePr>
          <p:cNvPr id="27" name="Object 26" descr="t is less than 0.&#10;">
            <a:extLst>
              <a:ext uri="{FF2B5EF4-FFF2-40B4-BE49-F238E27FC236}">
                <a16:creationId xmlns:a16="http://schemas.microsoft.com/office/drawing/2014/main" id="{2CE563D9-69ED-44FB-9CEC-C7AE94D9635F}"/>
              </a:ext>
            </a:extLst>
          </p:cNvPr>
          <p:cNvGraphicFramePr>
            <a:graphicFrameLocks noChangeAspect="1"/>
          </p:cNvGraphicFramePr>
          <p:nvPr>
            <p:extLst>
              <p:ext uri="{D42A27DB-BD31-4B8C-83A1-F6EECF244321}">
                <p14:modId xmlns:p14="http://schemas.microsoft.com/office/powerpoint/2010/main" val="3383261783"/>
              </p:ext>
            </p:extLst>
          </p:nvPr>
        </p:nvGraphicFramePr>
        <p:xfrm>
          <a:off x="2670267" y="4902321"/>
          <a:ext cx="582612" cy="279400"/>
        </p:xfrm>
        <a:graphic>
          <a:graphicData uri="http://schemas.openxmlformats.org/presentationml/2006/ole">
            <mc:AlternateContent xmlns:mc="http://schemas.openxmlformats.org/markup-compatibility/2006">
              <mc:Choice xmlns:v="urn:schemas-microsoft-com:vml" Requires="v">
                <p:oleObj name="Equation" r:id="rId13" imgW="368280" imgH="177480" progId="Equation.DSMT4">
                  <p:embed/>
                </p:oleObj>
              </mc:Choice>
              <mc:Fallback>
                <p:oleObj name="Equation" r:id="rId13" imgW="368280" imgH="177480" progId="Equation.DSMT4">
                  <p:embed/>
                  <p:pic>
                    <p:nvPicPr>
                      <p:cNvPr id="2" name="Object 1">
                        <a:extLst>
                          <a:ext uri="{FF2B5EF4-FFF2-40B4-BE49-F238E27FC236}">
                            <a16:creationId xmlns:a16="http://schemas.microsoft.com/office/drawing/2014/main" id="{D67721D6-1417-C265-3D3A-BF0969D393D3}"/>
                          </a:ext>
                        </a:extLst>
                      </p:cNvPr>
                      <p:cNvPicPr>
                        <a:picLocks noChangeAspect="1" noChangeArrowheads="1"/>
                      </p:cNvPicPr>
                      <p:nvPr/>
                    </p:nvPicPr>
                    <p:blipFill>
                      <a:blip r:embed="rId14"/>
                      <a:srcRect/>
                      <a:stretch>
                        <a:fillRect/>
                      </a:stretch>
                    </p:blipFill>
                    <p:spPr bwMode="auto">
                      <a:xfrm>
                        <a:off x="2670267" y="4902321"/>
                        <a:ext cx="582612" cy="2794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287340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24595"/>
            <a:ext cx="8229600" cy="1144347"/>
          </a:xfrm>
        </p:spPr>
        <p:txBody>
          <a:bodyPr/>
          <a:lstStyle/>
          <a:p>
            <a:r>
              <a:rPr lang="en-US" noProof="0" dirty="0"/>
              <a:t>Chapter 7 – Sequential Switching Problems </a:t>
            </a:r>
            <a:r>
              <a:rPr lang="en-US" sz="2800" noProof="0" dirty="0"/>
              <a:t>(6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1" y="1459450"/>
            <a:ext cx="2819400" cy="405683"/>
          </a:xfrm>
        </p:spPr>
        <p:txBody>
          <a:bodyPr wrap="square" lIns="0" tIns="18000" rIns="0" bIns="18000" anchor="ctr">
            <a:spAutoFit/>
          </a:bodyPr>
          <a:lstStyle/>
          <a:p>
            <a:pPr marL="0" indent="0">
              <a:spcBef>
                <a:spcPts val="600"/>
              </a:spcBef>
              <a:buNone/>
            </a:pPr>
            <a:r>
              <a:rPr lang="en-US" sz="2400" noProof="0" dirty="0"/>
              <a:t>Here is the circuit for </a:t>
            </a:r>
          </a:p>
        </p:txBody>
      </p:sp>
      <p:graphicFrame>
        <p:nvGraphicFramePr>
          <p:cNvPr id="2" name="Object 1" descr="t is less than 0.&#10;">
            <a:extLst>
              <a:ext uri="{FF2B5EF4-FFF2-40B4-BE49-F238E27FC236}">
                <a16:creationId xmlns:a16="http://schemas.microsoft.com/office/drawing/2014/main" id="{F5D9FAA1-39B8-B3B6-D505-781051080C2C}"/>
              </a:ext>
            </a:extLst>
          </p:cNvPr>
          <p:cNvGraphicFramePr>
            <a:graphicFrameLocks noChangeAspect="1"/>
          </p:cNvGraphicFramePr>
          <p:nvPr>
            <p:extLst>
              <p:ext uri="{D42A27DB-BD31-4B8C-83A1-F6EECF244321}">
                <p14:modId xmlns:p14="http://schemas.microsoft.com/office/powerpoint/2010/main" val="137877266"/>
              </p:ext>
            </p:extLst>
          </p:nvPr>
        </p:nvGraphicFramePr>
        <p:xfrm>
          <a:off x="3323468" y="1504934"/>
          <a:ext cx="704960" cy="338074"/>
        </p:xfrm>
        <a:graphic>
          <a:graphicData uri="http://schemas.openxmlformats.org/presentationml/2006/ole">
            <mc:AlternateContent xmlns:mc="http://schemas.openxmlformats.org/markup-compatibility/2006">
              <mc:Choice xmlns:v="urn:schemas-microsoft-com:vml" Requires="v">
                <p:oleObj name="Equation" r:id="rId2" imgW="368280" imgH="177480" progId="Equation.DSMT4">
                  <p:embed/>
                </p:oleObj>
              </mc:Choice>
              <mc:Fallback>
                <p:oleObj name="Equation" r:id="rId2" imgW="368280" imgH="177480" progId="Equation.DSMT4">
                  <p:embed/>
                  <p:pic>
                    <p:nvPicPr>
                      <p:cNvPr id="27" name="Object 26">
                        <a:extLst>
                          <a:ext uri="{FF2B5EF4-FFF2-40B4-BE49-F238E27FC236}">
                            <a16:creationId xmlns:a16="http://schemas.microsoft.com/office/drawing/2014/main" id="{2CE563D9-69ED-44FB-9CEC-C7AE94D9635F}"/>
                          </a:ext>
                        </a:extLst>
                      </p:cNvPr>
                      <p:cNvPicPr>
                        <a:picLocks noChangeAspect="1" noChangeArrowheads="1"/>
                      </p:cNvPicPr>
                      <p:nvPr/>
                    </p:nvPicPr>
                    <p:blipFill>
                      <a:blip r:embed="rId3"/>
                      <a:srcRect/>
                      <a:stretch>
                        <a:fillRect/>
                      </a:stretch>
                    </p:blipFill>
                    <p:spPr bwMode="auto">
                      <a:xfrm>
                        <a:off x="3323468" y="1504934"/>
                        <a:ext cx="704960" cy="338074"/>
                      </a:xfrm>
                      <a:prstGeom prst="rect">
                        <a:avLst/>
                      </a:prstGeom>
                      <a:noFill/>
                      <a:ln>
                        <a:noFill/>
                      </a:ln>
                      <a:effec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103871" y="1456557"/>
            <a:ext cx="1571625" cy="405683"/>
          </a:xfrm>
        </p:spPr>
        <p:txBody>
          <a:bodyPr wrap="square" lIns="0" tIns="18000" rIns="0" bIns="18000" anchor="ctr">
            <a:spAutoFit/>
          </a:bodyPr>
          <a:lstStyle/>
          <a:p>
            <a:pPr marL="0" indent="0">
              <a:spcBef>
                <a:spcPts val="600"/>
              </a:spcBef>
              <a:buNone/>
            </a:pPr>
            <a:r>
              <a:rPr lang="en-US" sz="2400" noProof="0" dirty="0"/>
              <a:t>The current</a:t>
            </a:r>
          </a:p>
        </p:txBody>
      </p:sp>
      <p:graphicFrame>
        <p:nvGraphicFramePr>
          <p:cNvPr id="3" name="Object 2" descr="I subscript 0.&#10;">
            <a:extLst>
              <a:ext uri="{FF2B5EF4-FFF2-40B4-BE49-F238E27FC236}">
                <a16:creationId xmlns:a16="http://schemas.microsoft.com/office/drawing/2014/main" id="{C018557C-6EB5-0F29-5A74-AA2C363DF9F8}"/>
              </a:ext>
            </a:extLst>
          </p:cNvPr>
          <p:cNvGraphicFramePr>
            <a:graphicFrameLocks noChangeAspect="1"/>
          </p:cNvGraphicFramePr>
          <p:nvPr>
            <p:extLst>
              <p:ext uri="{D42A27DB-BD31-4B8C-83A1-F6EECF244321}">
                <p14:modId xmlns:p14="http://schemas.microsoft.com/office/powerpoint/2010/main" val="266525257"/>
              </p:ext>
            </p:extLst>
          </p:nvPr>
        </p:nvGraphicFramePr>
        <p:xfrm>
          <a:off x="5750939" y="1466850"/>
          <a:ext cx="242888" cy="434975"/>
        </p:xfrm>
        <a:graphic>
          <a:graphicData uri="http://schemas.openxmlformats.org/presentationml/2006/ole">
            <mc:AlternateContent xmlns:mc="http://schemas.openxmlformats.org/markup-compatibility/2006">
              <mc:Choice xmlns:v="urn:schemas-microsoft-com:vml" Requires="v">
                <p:oleObj name="Equation" r:id="rId4" imgW="126720" imgH="228600" progId="Equation.DSMT4">
                  <p:embed/>
                </p:oleObj>
              </mc:Choice>
              <mc:Fallback>
                <p:oleObj name="Equation" r:id="rId4" imgW="126720" imgH="228600" progId="Equation.DSMT4">
                  <p:embed/>
                  <p:pic>
                    <p:nvPicPr>
                      <p:cNvPr id="2" name="Object 1">
                        <a:extLst>
                          <a:ext uri="{FF2B5EF4-FFF2-40B4-BE49-F238E27FC236}">
                            <a16:creationId xmlns:a16="http://schemas.microsoft.com/office/drawing/2014/main" id="{F5D9FAA1-39B8-B3B6-D505-781051080C2C}"/>
                          </a:ext>
                        </a:extLst>
                      </p:cNvPr>
                      <p:cNvPicPr>
                        <a:picLocks noChangeAspect="1" noChangeArrowheads="1"/>
                      </p:cNvPicPr>
                      <p:nvPr/>
                    </p:nvPicPr>
                    <p:blipFill>
                      <a:blip r:embed="rId5"/>
                      <a:srcRect/>
                      <a:stretch>
                        <a:fillRect/>
                      </a:stretch>
                    </p:blipFill>
                    <p:spPr bwMode="auto">
                      <a:xfrm>
                        <a:off x="5750939" y="1466850"/>
                        <a:ext cx="242888" cy="434975"/>
                      </a:xfrm>
                      <a:prstGeom prst="rect">
                        <a:avLst/>
                      </a:prstGeom>
                      <a:noFill/>
                      <a:ln>
                        <a:noFill/>
                      </a:ln>
                      <a:effec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6069270" y="1456375"/>
            <a:ext cx="2085975" cy="405683"/>
          </a:xfrm>
        </p:spPr>
        <p:txBody>
          <a:bodyPr wrap="square" lIns="0" tIns="18000" rIns="0" bIns="18000" anchor="ctr">
            <a:spAutoFit/>
          </a:bodyPr>
          <a:lstStyle/>
          <a:p>
            <a:pPr marL="0" indent="0">
              <a:spcBef>
                <a:spcPts val="600"/>
              </a:spcBef>
              <a:buNone/>
            </a:pPr>
            <a:r>
              <a:rPr lang="en-US" sz="2400" noProof="0" dirty="0"/>
              <a:t>is the current in </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1" y="1955641"/>
            <a:ext cx="2105025" cy="405683"/>
          </a:xfrm>
        </p:spPr>
        <p:txBody>
          <a:bodyPr wrap="square" lIns="0" tIns="18000" rIns="0" bIns="18000" anchor="ctr">
            <a:spAutoFit/>
          </a:bodyPr>
          <a:lstStyle/>
          <a:p>
            <a:pPr marL="0" indent="0">
              <a:spcBef>
                <a:spcPts val="600"/>
              </a:spcBef>
              <a:buNone/>
            </a:pPr>
            <a:r>
              <a:rPr lang="en-US" sz="2400" noProof="0" dirty="0"/>
              <a:t>which resistor?</a:t>
            </a:r>
          </a:p>
        </p:txBody>
      </p:sp>
      <p:pic>
        <p:nvPicPr>
          <p:cNvPr id="4" name="Picture 2"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a wire with current I subscript 0 flowing through it, and a 18 ohms resistor. A 4 ohms resistor is located in the top wire between the wires for the 60 volt source and the 12 ohm resistor. A 3 ohms resistor is located in the top wire between the wires for the 6 ohms resistor and the wire carrying current I subscript 0. ">
            <a:extLst>
              <a:ext uri="{FF2B5EF4-FFF2-40B4-BE49-F238E27FC236}">
                <a16:creationId xmlns:a16="http://schemas.microsoft.com/office/drawing/2014/main" id="{2874AE26-9C31-A6D9-9081-252576C5799A}"/>
              </a:ext>
            </a:extLst>
          </p:cNvPr>
          <p:cNvPicPr>
            <a:picLocks noChangeAspect="1" noChangeArrowheads="1"/>
          </p:cNvPicPr>
          <p:nvPr/>
        </p:nvPicPr>
        <p:blipFill>
          <a:blip r:embed="rId6"/>
          <a:stretch>
            <a:fillRect/>
          </a:stretch>
        </p:blipFill>
        <p:spPr bwMode="auto">
          <a:xfrm>
            <a:off x="2347472" y="2630118"/>
            <a:ext cx="4758304" cy="1597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438276" y="4674253"/>
            <a:ext cx="40005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t>
            </a:r>
          </a:p>
        </p:txBody>
      </p:sp>
      <p:graphicFrame>
        <p:nvGraphicFramePr>
          <p:cNvPr id="5" name="Object 4" descr="3 Ohms.&#10;">
            <a:extLst>
              <a:ext uri="{FF2B5EF4-FFF2-40B4-BE49-F238E27FC236}">
                <a16:creationId xmlns:a16="http://schemas.microsoft.com/office/drawing/2014/main" id="{5CFD4D5D-6C54-58F6-51F2-9AD6E16400FD}"/>
              </a:ext>
            </a:extLst>
          </p:cNvPr>
          <p:cNvGraphicFramePr>
            <a:graphicFrameLocks noChangeAspect="1"/>
          </p:cNvGraphicFramePr>
          <p:nvPr>
            <p:extLst>
              <p:ext uri="{D42A27DB-BD31-4B8C-83A1-F6EECF244321}">
                <p14:modId xmlns:p14="http://schemas.microsoft.com/office/powerpoint/2010/main" val="4114735640"/>
              </p:ext>
            </p:extLst>
          </p:nvPr>
        </p:nvGraphicFramePr>
        <p:xfrm>
          <a:off x="1911350" y="4728517"/>
          <a:ext cx="558800" cy="385762"/>
        </p:xfrm>
        <a:graphic>
          <a:graphicData uri="http://schemas.openxmlformats.org/presentationml/2006/ole">
            <mc:AlternateContent xmlns:mc="http://schemas.openxmlformats.org/markup-compatibility/2006">
              <mc:Choice xmlns:v="urn:schemas-microsoft-com:vml" Requires="v">
                <p:oleObj name="Equation" r:id="rId7" imgW="291960" imgH="203040" progId="Equation.DSMT4">
                  <p:embed/>
                </p:oleObj>
              </mc:Choice>
              <mc:Fallback>
                <p:oleObj name="Equation" r:id="rId7" imgW="291960" imgH="203040" progId="Equation.DSMT4">
                  <p:embed/>
                  <p:pic>
                    <p:nvPicPr>
                      <p:cNvPr id="2" name="Object 1">
                        <a:extLst>
                          <a:ext uri="{FF2B5EF4-FFF2-40B4-BE49-F238E27FC236}">
                            <a16:creationId xmlns:a16="http://schemas.microsoft.com/office/drawing/2014/main" id="{F5D9FAA1-39B8-B3B6-D505-781051080C2C}"/>
                          </a:ext>
                        </a:extLst>
                      </p:cNvPr>
                      <p:cNvPicPr>
                        <a:picLocks noChangeAspect="1" noChangeArrowheads="1"/>
                      </p:cNvPicPr>
                      <p:nvPr/>
                    </p:nvPicPr>
                    <p:blipFill>
                      <a:blip r:embed="rId8"/>
                      <a:srcRect/>
                      <a:stretch>
                        <a:fillRect/>
                      </a:stretch>
                    </p:blipFill>
                    <p:spPr bwMode="auto">
                      <a:xfrm>
                        <a:off x="1911350" y="4728517"/>
                        <a:ext cx="558800" cy="385762"/>
                      </a:xfrm>
                      <a:prstGeom prst="rect">
                        <a:avLst/>
                      </a:prstGeom>
                      <a:noFill/>
                      <a:ln>
                        <a:noFill/>
                      </a:ln>
                      <a:effec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438276" y="5255183"/>
            <a:ext cx="40005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p>
        </p:txBody>
      </p:sp>
      <p:graphicFrame>
        <p:nvGraphicFramePr>
          <p:cNvPr id="25" name="Object 24" descr="18 Ohms.&#10;">
            <a:extLst>
              <a:ext uri="{FF2B5EF4-FFF2-40B4-BE49-F238E27FC236}">
                <a16:creationId xmlns:a16="http://schemas.microsoft.com/office/drawing/2014/main" id="{A26F3A33-00DE-5040-DC62-031D1BF011DA}"/>
              </a:ext>
            </a:extLst>
          </p:cNvPr>
          <p:cNvGraphicFramePr>
            <a:graphicFrameLocks noChangeAspect="1"/>
          </p:cNvGraphicFramePr>
          <p:nvPr>
            <p:extLst>
              <p:ext uri="{D42A27DB-BD31-4B8C-83A1-F6EECF244321}">
                <p14:modId xmlns:p14="http://schemas.microsoft.com/office/powerpoint/2010/main" val="1521774019"/>
              </p:ext>
            </p:extLst>
          </p:nvPr>
        </p:nvGraphicFramePr>
        <p:xfrm>
          <a:off x="1911350" y="5299205"/>
          <a:ext cx="704850" cy="385762"/>
        </p:xfrm>
        <a:graphic>
          <a:graphicData uri="http://schemas.openxmlformats.org/presentationml/2006/ole">
            <mc:AlternateContent xmlns:mc="http://schemas.openxmlformats.org/markup-compatibility/2006">
              <mc:Choice xmlns:v="urn:schemas-microsoft-com:vml" Requires="v">
                <p:oleObj name="Equation" r:id="rId9" imgW="368280" imgH="203040" progId="Equation.DSMT4">
                  <p:embed/>
                </p:oleObj>
              </mc:Choice>
              <mc:Fallback>
                <p:oleObj name="Equation" r:id="rId9" imgW="368280" imgH="203040" progId="Equation.DSMT4">
                  <p:embed/>
                  <p:pic>
                    <p:nvPicPr>
                      <p:cNvPr id="5" name="Object 4">
                        <a:extLst>
                          <a:ext uri="{FF2B5EF4-FFF2-40B4-BE49-F238E27FC236}">
                            <a16:creationId xmlns:a16="http://schemas.microsoft.com/office/drawing/2014/main" id="{5CFD4D5D-6C54-58F6-51F2-9AD6E16400FD}"/>
                          </a:ext>
                        </a:extLst>
                      </p:cNvPr>
                      <p:cNvPicPr>
                        <a:picLocks noChangeAspect="1" noChangeArrowheads="1"/>
                      </p:cNvPicPr>
                      <p:nvPr/>
                    </p:nvPicPr>
                    <p:blipFill>
                      <a:blip r:embed="rId10"/>
                      <a:srcRect/>
                      <a:stretch>
                        <a:fillRect/>
                      </a:stretch>
                    </p:blipFill>
                    <p:spPr bwMode="auto">
                      <a:xfrm>
                        <a:off x="1911350" y="5299205"/>
                        <a:ext cx="704850" cy="385762"/>
                      </a:xfrm>
                      <a:prstGeom prst="rect">
                        <a:avLst/>
                      </a:prstGeom>
                      <a:noFill/>
                      <a:ln>
                        <a:noFill/>
                      </a:ln>
                      <a:effectLst/>
                    </p:spPr>
                  </p:pic>
                </p:oleObj>
              </mc:Fallback>
            </mc:AlternateContent>
          </a:graphicData>
        </a:graphic>
      </p:graphicFrame>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1438275" y="5830799"/>
            <a:ext cx="400051"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p>
        </p:txBody>
      </p:sp>
      <p:graphicFrame>
        <p:nvGraphicFramePr>
          <p:cNvPr id="26" name="Object 25" descr="4 Ohms.&#10;">
            <a:extLst>
              <a:ext uri="{FF2B5EF4-FFF2-40B4-BE49-F238E27FC236}">
                <a16:creationId xmlns:a16="http://schemas.microsoft.com/office/drawing/2014/main" id="{A1BC2734-31B3-CEE1-6584-E60F7E4F9D71}"/>
              </a:ext>
            </a:extLst>
          </p:cNvPr>
          <p:cNvGraphicFramePr>
            <a:graphicFrameLocks noChangeAspect="1"/>
          </p:cNvGraphicFramePr>
          <p:nvPr>
            <p:extLst>
              <p:ext uri="{D42A27DB-BD31-4B8C-83A1-F6EECF244321}">
                <p14:modId xmlns:p14="http://schemas.microsoft.com/office/powerpoint/2010/main" val="1438318305"/>
              </p:ext>
            </p:extLst>
          </p:nvPr>
        </p:nvGraphicFramePr>
        <p:xfrm>
          <a:off x="1911350" y="5867267"/>
          <a:ext cx="558800" cy="385763"/>
        </p:xfrm>
        <a:graphic>
          <a:graphicData uri="http://schemas.openxmlformats.org/presentationml/2006/ole">
            <mc:AlternateContent xmlns:mc="http://schemas.openxmlformats.org/markup-compatibility/2006">
              <mc:Choice xmlns:v="urn:schemas-microsoft-com:vml" Requires="v">
                <p:oleObj name="Equation" r:id="rId11" imgW="291960" imgH="203040" progId="Equation.DSMT4">
                  <p:embed/>
                </p:oleObj>
              </mc:Choice>
              <mc:Fallback>
                <p:oleObj name="Equation" r:id="rId11" imgW="291960" imgH="203040" progId="Equation.DSMT4">
                  <p:embed/>
                  <p:pic>
                    <p:nvPicPr>
                      <p:cNvPr id="25" name="Object 24">
                        <a:extLst>
                          <a:ext uri="{FF2B5EF4-FFF2-40B4-BE49-F238E27FC236}">
                            <a16:creationId xmlns:a16="http://schemas.microsoft.com/office/drawing/2014/main" id="{A26F3A33-00DE-5040-DC62-031D1BF011DA}"/>
                          </a:ext>
                        </a:extLst>
                      </p:cNvPr>
                      <p:cNvPicPr>
                        <a:picLocks noChangeAspect="1" noChangeArrowheads="1"/>
                      </p:cNvPicPr>
                      <p:nvPr/>
                    </p:nvPicPr>
                    <p:blipFill>
                      <a:blip r:embed="rId12"/>
                      <a:srcRect/>
                      <a:stretch>
                        <a:fillRect/>
                      </a:stretch>
                    </p:blipFill>
                    <p:spPr bwMode="auto">
                      <a:xfrm>
                        <a:off x="1911350" y="5867267"/>
                        <a:ext cx="558800" cy="38576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536164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24595"/>
            <a:ext cx="8229600" cy="1144347"/>
          </a:xfrm>
        </p:spPr>
        <p:txBody>
          <a:bodyPr/>
          <a:lstStyle/>
          <a:p>
            <a:r>
              <a:rPr lang="en-US" noProof="0" dirty="0"/>
              <a:t>Chapter 7 – Sequential Switching Problems </a:t>
            </a:r>
            <a:r>
              <a:rPr lang="en-US" sz="2800" noProof="0" dirty="0"/>
              <a:t>(6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1" y="1459450"/>
            <a:ext cx="2819400" cy="405683"/>
          </a:xfrm>
        </p:spPr>
        <p:txBody>
          <a:bodyPr wrap="square" lIns="0" tIns="18000" rIns="0" bIns="18000" anchor="ctr">
            <a:spAutoFit/>
          </a:bodyPr>
          <a:lstStyle/>
          <a:p>
            <a:pPr marL="0" indent="0">
              <a:spcBef>
                <a:spcPts val="600"/>
              </a:spcBef>
              <a:buNone/>
            </a:pPr>
            <a:r>
              <a:rPr lang="en-US" sz="2400" noProof="0" dirty="0"/>
              <a:t>Here is the circuit for </a:t>
            </a:r>
          </a:p>
        </p:txBody>
      </p:sp>
      <p:graphicFrame>
        <p:nvGraphicFramePr>
          <p:cNvPr id="2" name="Object 1" descr="t is less than 0.&#10;">
            <a:extLst>
              <a:ext uri="{FF2B5EF4-FFF2-40B4-BE49-F238E27FC236}">
                <a16:creationId xmlns:a16="http://schemas.microsoft.com/office/drawing/2014/main" id="{F5D9FAA1-39B8-B3B6-D505-781051080C2C}"/>
              </a:ext>
            </a:extLst>
          </p:cNvPr>
          <p:cNvGraphicFramePr>
            <a:graphicFrameLocks noChangeAspect="1"/>
          </p:cNvGraphicFramePr>
          <p:nvPr/>
        </p:nvGraphicFramePr>
        <p:xfrm>
          <a:off x="3323468" y="1504934"/>
          <a:ext cx="704960" cy="338074"/>
        </p:xfrm>
        <a:graphic>
          <a:graphicData uri="http://schemas.openxmlformats.org/presentationml/2006/ole">
            <mc:AlternateContent xmlns:mc="http://schemas.openxmlformats.org/markup-compatibility/2006">
              <mc:Choice xmlns:v="urn:schemas-microsoft-com:vml" Requires="v">
                <p:oleObj name="Equation" r:id="rId5" imgW="368280" imgH="177480" progId="Equation.DSMT4">
                  <p:embed/>
                </p:oleObj>
              </mc:Choice>
              <mc:Fallback>
                <p:oleObj name="Equation" r:id="rId5" imgW="368280" imgH="177480" progId="Equation.DSMT4">
                  <p:embed/>
                  <p:pic>
                    <p:nvPicPr>
                      <p:cNvPr id="2" name="Object 1" descr="t is less than 0.&#10;">
                        <a:extLst>
                          <a:ext uri="{FF2B5EF4-FFF2-40B4-BE49-F238E27FC236}">
                            <a16:creationId xmlns:a16="http://schemas.microsoft.com/office/drawing/2014/main" id="{F5D9FAA1-39B8-B3B6-D505-781051080C2C}"/>
                          </a:ext>
                        </a:extLst>
                      </p:cNvPr>
                      <p:cNvPicPr>
                        <a:picLocks noChangeAspect="1" noChangeArrowheads="1"/>
                      </p:cNvPicPr>
                      <p:nvPr/>
                    </p:nvPicPr>
                    <p:blipFill>
                      <a:blip r:embed="rId6"/>
                      <a:srcRect/>
                      <a:stretch>
                        <a:fillRect/>
                      </a:stretch>
                    </p:blipFill>
                    <p:spPr bwMode="auto">
                      <a:xfrm>
                        <a:off x="3323468" y="1504934"/>
                        <a:ext cx="704960" cy="338074"/>
                      </a:xfrm>
                      <a:prstGeom prst="rect">
                        <a:avLst/>
                      </a:prstGeom>
                      <a:noFill/>
                      <a:ln>
                        <a:noFill/>
                      </a:ln>
                      <a:effec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103871" y="1456557"/>
            <a:ext cx="1571625" cy="405683"/>
          </a:xfrm>
        </p:spPr>
        <p:txBody>
          <a:bodyPr wrap="square" lIns="0" tIns="18000" rIns="0" bIns="18000" anchor="ctr">
            <a:spAutoFit/>
          </a:bodyPr>
          <a:lstStyle/>
          <a:p>
            <a:pPr marL="0" indent="0">
              <a:spcBef>
                <a:spcPts val="600"/>
              </a:spcBef>
              <a:buNone/>
            </a:pPr>
            <a:r>
              <a:rPr lang="en-US" sz="2400" noProof="0" dirty="0"/>
              <a:t>The current</a:t>
            </a:r>
          </a:p>
        </p:txBody>
      </p:sp>
      <p:graphicFrame>
        <p:nvGraphicFramePr>
          <p:cNvPr id="3" name="Object 2" descr="I subscript 0.&#10;">
            <a:extLst>
              <a:ext uri="{FF2B5EF4-FFF2-40B4-BE49-F238E27FC236}">
                <a16:creationId xmlns:a16="http://schemas.microsoft.com/office/drawing/2014/main" id="{C018557C-6EB5-0F29-5A74-AA2C363DF9F8}"/>
              </a:ext>
            </a:extLst>
          </p:cNvPr>
          <p:cNvGraphicFramePr>
            <a:graphicFrameLocks noChangeAspect="1"/>
          </p:cNvGraphicFramePr>
          <p:nvPr/>
        </p:nvGraphicFramePr>
        <p:xfrm>
          <a:off x="5750939" y="1466850"/>
          <a:ext cx="242888" cy="434975"/>
        </p:xfrm>
        <a:graphic>
          <a:graphicData uri="http://schemas.openxmlformats.org/presentationml/2006/ole">
            <mc:AlternateContent xmlns:mc="http://schemas.openxmlformats.org/markup-compatibility/2006">
              <mc:Choice xmlns:v="urn:schemas-microsoft-com:vml" Requires="v">
                <p:oleObj name="Equation" r:id="rId7" imgW="126720" imgH="228600" progId="Equation.DSMT4">
                  <p:embed/>
                </p:oleObj>
              </mc:Choice>
              <mc:Fallback>
                <p:oleObj name="Equation" r:id="rId7" imgW="126720" imgH="228600" progId="Equation.DSMT4">
                  <p:embed/>
                  <p:pic>
                    <p:nvPicPr>
                      <p:cNvPr id="3" name="Object 2" descr="I subscript 0.&#10;">
                        <a:extLst>
                          <a:ext uri="{FF2B5EF4-FFF2-40B4-BE49-F238E27FC236}">
                            <a16:creationId xmlns:a16="http://schemas.microsoft.com/office/drawing/2014/main" id="{C018557C-6EB5-0F29-5A74-AA2C363DF9F8}"/>
                          </a:ext>
                        </a:extLst>
                      </p:cNvPr>
                      <p:cNvPicPr>
                        <a:picLocks noChangeAspect="1" noChangeArrowheads="1"/>
                      </p:cNvPicPr>
                      <p:nvPr/>
                    </p:nvPicPr>
                    <p:blipFill>
                      <a:blip r:embed="rId8"/>
                      <a:srcRect/>
                      <a:stretch>
                        <a:fillRect/>
                      </a:stretch>
                    </p:blipFill>
                    <p:spPr bwMode="auto">
                      <a:xfrm>
                        <a:off x="5750939" y="1466850"/>
                        <a:ext cx="242888" cy="434975"/>
                      </a:xfrm>
                      <a:prstGeom prst="rect">
                        <a:avLst/>
                      </a:prstGeom>
                      <a:noFill/>
                      <a:ln>
                        <a:noFill/>
                      </a:ln>
                      <a:effec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6069270" y="1456375"/>
            <a:ext cx="2085975" cy="405683"/>
          </a:xfrm>
        </p:spPr>
        <p:txBody>
          <a:bodyPr wrap="square" lIns="0" tIns="18000" rIns="0" bIns="18000" anchor="ctr">
            <a:spAutoFit/>
          </a:bodyPr>
          <a:lstStyle/>
          <a:p>
            <a:pPr marL="0" indent="0">
              <a:spcBef>
                <a:spcPts val="600"/>
              </a:spcBef>
              <a:buNone/>
            </a:pPr>
            <a:r>
              <a:rPr lang="en-US" sz="2400" noProof="0" dirty="0"/>
              <a:t>is the current in </a:t>
            </a:r>
          </a:p>
        </p:txBody>
      </p:sp>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1" y="1955641"/>
            <a:ext cx="2105025" cy="405683"/>
          </a:xfrm>
        </p:spPr>
        <p:txBody>
          <a:bodyPr wrap="square" lIns="0" tIns="18000" rIns="0" bIns="18000" anchor="ctr">
            <a:spAutoFit/>
          </a:bodyPr>
          <a:lstStyle/>
          <a:p>
            <a:pPr marL="0" indent="0">
              <a:spcBef>
                <a:spcPts val="600"/>
              </a:spcBef>
              <a:buNone/>
            </a:pPr>
            <a:r>
              <a:rPr lang="en-US" sz="2400" noProof="0" dirty="0"/>
              <a:t>which resistor?</a:t>
            </a:r>
          </a:p>
        </p:txBody>
      </p:sp>
      <p:pic>
        <p:nvPicPr>
          <p:cNvPr id="4" name="Picture 2"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a wire with current I subscript 0 flowing through it, and a 18 ohms resistor. A 4 ohms resistor is located in the top wire between the wires for the 60 volt source and the 12 ohm resistor. A 3 ohms resistor is located in the top wire between the wires for the 6 ohms resistor and the wire carrying current I subscript 0. ">
            <a:extLst>
              <a:ext uri="{FF2B5EF4-FFF2-40B4-BE49-F238E27FC236}">
                <a16:creationId xmlns:a16="http://schemas.microsoft.com/office/drawing/2014/main" id="{2874AE26-9C31-A6D9-9081-252576C5799A}"/>
              </a:ext>
            </a:extLst>
          </p:cNvPr>
          <p:cNvPicPr>
            <a:picLocks noChangeAspect="1" noChangeArrowheads="1"/>
          </p:cNvPicPr>
          <p:nvPr/>
        </p:nvPicPr>
        <p:blipFill>
          <a:blip r:embed="rId9"/>
          <a:stretch>
            <a:fillRect/>
          </a:stretch>
        </p:blipFill>
        <p:spPr bwMode="auto">
          <a:xfrm>
            <a:off x="2347472" y="2630118"/>
            <a:ext cx="4758304" cy="1597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1435" descr="Check mark">
            <a:extLst>
              <a:ext uri="{FF2B5EF4-FFF2-40B4-BE49-F238E27FC236}">
                <a16:creationId xmlns:a16="http://schemas.microsoft.com/office/drawing/2014/main" id="{4D8136B2-3E98-BE77-7768-06E985B8218B}"/>
              </a:ext>
            </a:extLst>
          </p:cNvPr>
          <p:cNvPicPr>
            <a:picLocks/>
          </p:cNvPicPr>
          <p:nvPr>
            <p:custDataLst>
              <p:tags r:id="rId1"/>
            </p:custDataLst>
          </p:nvPr>
        </p:nvPicPr>
        <p:blipFill>
          <a:blip r:embed="rId10">
            <a:extLst>
              <a:ext uri="{28A0092B-C50C-407E-A947-70E740481C1C}">
                <a14:useLocalDpi xmlns:a14="http://schemas.microsoft.com/office/drawing/2010/main" val="0"/>
              </a:ext>
            </a:extLst>
          </a:blip>
          <a:srcRect/>
          <a:stretch>
            <a:fillRect/>
          </a:stretch>
        </p:blipFill>
        <p:spPr bwMode="auto">
          <a:xfrm>
            <a:off x="831415" y="4705644"/>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438276" y="4674253"/>
            <a:ext cx="40005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t>
            </a:r>
          </a:p>
        </p:txBody>
      </p:sp>
      <p:graphicFrame>
        <p:nvGraphicFramePr>
          <p:cNvPr id="5" name="Object 4" descr="3 Ohms.&#10;">
            <a:extLst>
              <a:ext uri="{FF2B5EF4-FFF2-40B4-BE49-F238E27FC236}">
                <a16:creationId xmlns:a16="http://schemas.microsoft.com/office/drawing/2014/main" id="{5CFD4D5D-6C54-58F6-51F2-9AD6E16400FD}"/>
              </a:ext>
            </a:extLst>
          </p:cNvPr>
          <p:cNvGraphicFramePr>
            <a:graphicFrameLocks noChangeAspect="1"/>
          </p:cNvGraphicFramePr>
          <p:nvPr/>
        </p:nvGraphicFramePr>
        <p:xfrm>
          <a:off x="1911350" y="4728517"/>
          <a:ext cx="558800" cy="385762"/>
        </p:xfrm>
        <a:graphic>
          <a:graphicData uri="http://schemas.openxmlformats.org/presentationml/2006/ole">
            <mc:AlternateContent xmlns:mc="http://schemas.openxmlformats.org/markup-compatibility/2006">
              <mc:Choice xmlns:v="urn:schemas-microsoft-com:vml" Requires="v">
                <p:oleObj name="Equation" r:id="rId11" imgW="291960" imgH="203040" progId="Equation.DSMT4">
                  <p:embed/>
                </p:oleObj>
              </mc:Choice>
              <mc:Fallback>
                <p:oleObj name="Equation" r:id="rId11" imgW="291960" imgH="203040" progId="Equation.DSMT4">
                  <p:embed/>
                  <p:pic>
                    <p:nvPicPr>
                      <p:cNvPr id="5" name="Object 4" descr="3 Ohms.&#10;">
                        <a:extLst>
                          <a:ext uri="{FF2B5EF4-FFF2-40B4-BE49-F238E27FC236}">
                            <a16:creationId xmlns:a16="http://schemas.microsoft.com/office/drawing/2014/main" id="{5CFD4D5D-6C54-58F6-51F2-9AD6E16400FD}"/>
                          </a:ext>
                        </a:extLst>
                      </p:cNvPr>
                      <p:cNvPicPr>
                        <a:picLocks noChangeAspect="1" noChangeArrowheads="1"/>
                      </p:cNvPicPr>
                      <p:nvPr/>
                    </p:nvPicPr>
                    <p:blipFill>
                      <a:blip r:embed="rId12"/>
                      <a:srcRect/>
                      <a:stretch>
                        <a:fillRect/>
                      </a:stretch>
                    </p:blipFill>
                    <p:spPr bwMode="auto">
                      <a:xfrm>
                        <a:off x="1911350" y="4728517"/>
                        <a:ext cx="558800" cy="385762"/>
                      </a:xfrm>
                      <a:prstGeom prst="rect">
                        <a:avLst/>
                      </a:prstGeom>
                      <a:noFill/>
                      <a:ln>
                        <a:noFill/>
                      </a:ln>
                      <a:effectLst/>
                    </p:spPr>
                  </p:pic>
                </p:oleObj>
              </mc:Fallback>
            </mc:AlternateContent>
          </a:graphicData>
        </a:graphic>
      </p:graphicFrame>
      <p:pic>
        <p:nvPicPr>
          <p:cNvPr id="28" name="Picture 1434" descr="Cross mark">
            <a:extLst>
              <a:ext uri="{FF2B5EF4-FFF2-40B4-BE49-F238E27FC236}">
                <a16:creationId xmlns:a16="http://schemas.microsoft.com/office/drawing/2014/main" id="{D40A4B8D-8B5A-B3B6-5CAC-3335424C6F7E}"/>
              </a:ext>
            </a:extLst>
          </p:cNvPr>
          <p:cNvPicPr>
            <a:picLocks/>
          </p:cNvPicPr>
          <p:nvPr>
            <p:custDataLst>
              <p:tags r:id="rId2"/>
            </p:custDataLst>
          </p:nvPr>
        </p:nvPicPr>
        <p:blipFill>
          <a:blip r:embed="rId13">
            <a:extLst>
              <a:ext uri="{28A0092B-C50C-407E-A947-70E740481C1C}">
                <a14:useLocalDpi xmlns:a14="http://schemas.microsoft.com/office/drawing/2010/main" val="0"/>
              </a:ext>
            </a:extLst>
          </a:blip>
          <a:srcRect/>
          <a:stretch>
            <a:fillRect/>
          </a:stretch>
        </p:blipFill>
        <p:spPr bwMode="auto">
          <a:xfrm>
            <a:off x="853205" y="5285189"/>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438276" y="5255183"/>
            <a:ext cx="40005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p>
        </p:txBody>
      </p:sp>
      <p:graphicFrame>
        <p:nvGraphicFramePr>
          <p:cNvPr id="25" name="Object 24" descr="18 Ohms.&#10;">
            <a:extLst>
              <a:ext uri="{FF2B5EF4-FFF2-40B4-BE49-F238E27FC236}">
                <a16:creationId xmlns:a16="http://schemas.microsoft.com/office/drawing/2014/main" id="{A26F3A33-00DE-5040-DC62-031D1BF011DA}"/>
              </a:ext>
            </a:extLst>
          </p:cNvPr>
          <p:cNvGraphicFramePr>
            <a:graphicFrameLocks noChangeAspect="1"/>
          </p:cNvGraphicFramePr>
          <p:nvPr/>
        </p:nvGraphicFramePr>
        <p:xfrm>
          <a:off x="1911350" y="5299205"/>
          <a:ext cx="704850" cy="385762"/>
        </p:xfrm>
        <a:graphic>
          <a:graphicData uri="http://schemas.openxmlformats.org/presentationml/2006/ole">
            <mc:AlternateContent xmlns:mc="http://schemas.openxmlformats.org/markup-compatibility/2006">
              <mc:Choice xmlns:v="urn:schemas-microsoft-com:vml" Requires="v">
                <p:oleObj name="Equation" r:id="rId14" imgW="368280" imgH="203040" progId="Equation.DSMT4">
                  <p:embed/>
                </p:oleObj>
              </mc:Choice>
              <mc:Fallback>
                <p:oleObj name="Equation" r:id="rId14" imgW="368280" imgH="203040" progId="Equation.DSMT4">
                  <p:embed/>
                  <p:pic>
                    <p:nvPicPr>
                      <p:cNvPr id="25" name="Object 24" descr="18 Ohms.&#10;">
                        <a:extLst>
                          <a:ext uri="{FF2B5EF4-FFF2-40B4-BE49-F238E27FC236}">
                            <a16:creationId xmlns:a16="http://schemas.microsoft.com/office/drawing/2014/main" id="{A26F3A33-00DE-5040-DC62-031D1BF011DA}"/>
                          </a:ext>
                        </a:extLst>
                      </p:cNvPr>
                      <p:cNvPicPr>
                        <a:picLocks noChangeAspect="1" noChangeArrowheads="1"/>
                      </p:cNvPicPr>
                      <p:nvPr/>
                    </p:nvPicPr>
                    <p:blipFill>
                      <a:blip r:embed="rId15"/>
                      <a:srcRect/>
                      <a:stretch>
                        <a:fillRect/>
                      </a:stretch>
                    </p:blipFill>
                    <p:spPr bwMode="auto">
                      <a:xfrm>
                        <a:off x="1911350" y="5299205"/>
                        <a:ext cx="704850" cy="385762"/>
                      </a:xfrm>
                      <a:prstGeom prst="rect">
                        <a:avLst/>
                      </a:prstGeom>
                      <a:noFill/>
                      <a:ln>
                        <a:noFill/>
                      </a:ln>
                      <a:effectLst/>
                    </p:spPr>
                  </p:pic>
                </p:oleObj>
              </mc:Fallback>
            </mc:AlternateContent>
          </a:graphicData>
        </a:graphic>
      </p:graphicFrame>
      <p:pic>
        <p:nvPicPr>
          <p:cNvPr id="29" name="Picture 1436" descr="Cross mark">
            <a:extLst>
              <a:ext uri="{FF2B5EF4-FFF2-40B4-BE49-F238E27FC236}">
                <a16:creationId xmlns:a16="http://schemas.microsoft.com/office/drawing/2014/main" id="{EE8CC73F-8027-A2E9-D5F3-72214500A991}"/>
              </a:ext>
            </a:extLst>
          </p:cNvPr>
          <p:cNvPicPr>
            <a:picLocks/>
          </p:cNvPicPr>
          <p:nvPr>
            <p:custDataLst>
              <p:tags r:id="rId3"/>
            </p:custDataLst>
          </p:nvPr>
        </p:nvPicPr>
        <p:blipFill>
          <a:blip r:embed="rId13">
            <a:extLst>
              <a:ext uri="{28A0092B-C50C-407E-A947-70E740481C1C}">
                <a14:useLocalDpi xmlns:a14="http://schemas.microsoft.com/office/drawing/2010/main" val="0"/>
              </a:ext>
            </a:extLst>
          </a:blip>
          <a:srcRect/>
          <a:stretch>
            <a:fillRect/>
          </a:stretch>
        </p:blipFill>
        <p:spPr bwMode="auto">
          <a:xfrm>
            <a:off x="837592" y="5857457"/>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1438275" y="5830799"/>
            <a:ext cx="400051"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p>
        </p:txBody>
      </p:sp>
      <p:graphicFrame>
        <p:nvGraphicFramePr>
          <p:cNvPr id="26" name="Object 25" descr="4 Ohms.&#10;">
            <a:extLst>
              <a:ext uri="{FF2B5EF4-FFF2-40B4-BE49-F238E27FC236}">
                <a16:creationId xmlns:a16="http://schemas.microsoft.com/office/drawing/2014/main" id="{A1BC2734-31B3-CEE1-6584-E60F7E4F9D71}"/>
              </a:ext>
            </a:extLst>
          </p:cNvPr>
          <p:cNvGraphicFramePr>
            <a:graphicFrameLocks noChangeAspect="1"/>
          </p:cNvGraphicFramePr>
          <p:nvPr/>
        </p:nvGraphicFramePr>
        <p:xfrm>
          <a:off x="1911350" y="5867267"/>
          <a:ext cx="558800" cy="385763"/>
        </p:xfrm>
        <a:graphic>
          <a:graphicData uri="http://schemas.openxmlformats.org/presentationml/2006/ole">
            <mc:AlternateContent xmlns:mc="http://schemas.openxmlformats.org/markup-compatibility/2006">
              <mc:Choice xmlns:v="urn:schemas-microsoft-com:vml" Requires="v">
                <p:oleObj name="Equation" r:id="rId16" imgW="291960" imgH="203040" progId="Equation.DSMT4">
                  <p:embed/>
                </p:oleObj>
              </mc:Choice>
              <mc:Fallback>
                <p:oleObj name="Equation" r:id="rId16" imgW="291960" imgH="203040" progId="Equation.DSMT4">
                  <p:embed/>
                  <p:pic>
                    <p:nvPicPr>
                      <p:cNvPr id="26" name="Object 25" descr="4 Ohms.&#10;">
                        <a:extLst>
                          <a:ext uri="{FF2B5EF4-FFF2-40B4-BE49-F238E27FC236}">
                            <a16:creationId xmlns:a16="http://schemas.microsoft.com/office/drawing/2014/main" id="{A1BC2734-31B3-CEE1-6584-E60F7E4F9D71}"/>
                          </a:ext>
                        </a:extLst>
                      </p:cNvPr>
                      <p:cNvPicPr>
                        <a:picLocks noChangeAspect="1" noChangeArrowheads="1"/>
                      </p:cNvPicPr>
                      <p:nvPr/>
                    </p:nvPicPr>
                    <p:blipFill>
                      <a:blip r:embed="rId17"/>
                      <a:srcRect/>
                      <a:stretch>
                        <a:fillRect/>
                      </a:stretch>
                    </p:blipFill>
                    <p:spPr bwMode="auto">
                      <a:xfrm>
                        <a:off x="1911350" y="5867267"/>
                        <a:ext cx="558800" cy="38576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426967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3988"/>
            <a:ext cx="8229600" cy="1144347"/>
          </a:xfrm>
        </p:spPr>
        <p:txBody>
          <a:bodyPr/>
          <a:lstStyle/>
          <a:p>
            <a:r>
              <a:rPr lang="en-US" noProof="0" dirty="0"/>
              <a:t>Chapter 7 – Sequential Switching Problems </a:t>
            </a:r>
            <a:r>
              <a:rPr lang="en-US" sz="2800" noProof="0" dirty="0"/>
              <a:t>(7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97339"/>
            <a:ext cx="4054475" cy="1575234"/>
          </a:xfrm>
        </p:spPr>
        <p:txBody>
          <a:bodyPr lIns="0" tIns="18000" rIns="0" bIns="18000" anchor="ctr">
            <a:spAutoFit/>
          </a:bodyPr>
          <a:lstStyle/>
          <a:p>
            <a:pPr marL="0" indent="0">
              <a:spcBef>
                <a:spcPts val="600"/>
              </a:spcBef>
              <a:buNone/>
            </a:pPr>
            <a:r>
              <a:rPr lang="en-US" sz="2000" noProof="0" dirty="0"/>
              <a:t>Both switches have been closed for a long time. At t = 0, switch 1 is opened and stays open. Switch 2 opens 35 m</a:t>
            </a:r>
            <a:r>
              <a:rPr lang="en-US" sz="100" noProof="0" dirty="0"/>
              <a:t> </a:t>
            </a:r>
            <a:r>
              <a:rPr lang="en-US" sz="2000" noProof="0" dirty="0"/>
              <a:t>s later and stays open. Find the expression for the voltage</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1" y="3117504"/>
            <a:ext cx="3098680" cy="344128"/>
          </a:xfrm>
        </p:spPr>
        <p:txBody>
          <a:bodyPr wrap="square" lIns="0" tIns="18000" rIns="0" bIns="18000" anchor="ctr">
            <a:spAutoFit/>
          </a:bodyPr>
          <a:lstStyle/>
          <a:p>
            <a:pPr marL="0" indent="0">
              <a:spcBef>
                <a:spcPts val="600"/>
              </a:spcBef>
              <a:buNone/>
            </a:pPr>
            <a:r>
              <a:rPr lang="en-US" sz="2000" noProof="0" dirty="0"/>
              <a:t>drop across the inductor for </a:t>
            </a:r>
          </a:p>
        </p:txBody>
      </p:sp>
      <p:graphicFrame>
        <p:nvGraphicFramePr>
          <p:cNvPr id="2" name="Object 1" descr="t is greater than or equal to 0 superscript plus.&#10;">
            <a:extLst>
              <a:ext uri="{FF2B5EF4-FFF2-40B4-BE49-F238E27FC236}">
                <a16:creationId xmlns:a16="http://schemas.microsoft.com/office/drawing/2014/main" id="{BEE20CF2-866B-0D02-D683-5D36B756F0C6}"/>
              </a:ext>
            </a:extLst>
          </p:cNvPr>
          <p:cNvGraphicFramePr>
            <a:graphicFrameLocks noChangeAspect="1"/>
          </p:cNvGraphicFramePr>
          <p:nvPr>
            <p:extLst>
              <p:ext uri="{D42A27DB-BD31-4B8C-83A1-F6EECF244321}">
                <p14:modId xmlns:p14="http://schemas.microsoft.com/office/powerpoint/2010/main" val="3115779401"/>
              </p:ext>
            </p:extLst>
          </p:nvPr>
        </p:nvGraphicFramePr>
        <p:xfrm>
          <a:off x="3618421" y="3129506"/>
          <a:ext cx="661240" cy="320124"/>
        </p:xfrm>
        <a:graphic>
          <a:graphicData uri="http://schemas.openxmlformats.org/presentationml/2006/ole">
            <mc:AlternateContent xmlns:mc="http://schemas.openxmlformats.org/markup-compatibility/2006">
              <mc:Choice xmlns:v="urn:schemas-microsoft-com:vml" Requires="v">
                <p:oleObj name="Equation" r:id="rId2" imgW="419040" imgH="203040" progId="Equation.DSMT4">
                  <p:embed/>
                </p:oleObj>
              </mc:Choice>
              <mc:Fallback>
                <p:oleObj name="Equation" r:id="rId2" imgW="419040" imgH="203040" progId="Equation.DSMT4">
                  <p:embed/>
                  <p:pic>
                    <p:nvPicPr>
                      <p:cNvPr id="2" name="Object 1">
                        <a:extLst>
                          <a:ext uri="{FF2B5EF4-FFF2-40B4-BE49-F238E27FC236}">
                            <a16:creationId xmlns:a16="http://schemas.microsoft.com/office/drawing/2014/main" id="{D67721D6-1417-C265-3D3A-BF0969D393D3}"/>
                          </a:ext>
                        </a:extLst>
                      </p:cNvPr>
                      <p:cNvPicPr>
                        <a:picLocks noChangeAspect="1" noChangeArrowheads="1"/>
                      </p:cNvPicPr>
                      <p:nvPr/>
                    </p:nvPicPr>
                    <p:blipFill>
                      <a:blip r:embed="rId3"/>
                      <a:srcRect/>
                      <a:stretch>
                        <a:fillRect/>
                      </a:stretch>
                    </p:blipFill>
                    <p:spPr bwMode="auto">
                      <a:xfrm>
                        <a:off x="3618421" y="3129506"/>
                        <a:ext cx="661240" cy="320124"/>
                      </a:xfrm>
                      <a:prstGeom prst="rect">
                        <a:avLst/>
                      </a:prstGeom>
                      <a:noFill/>
                      <a:ln>
                        <a:noFill/>
                      </a:ln>
                      <a:effectLst/>
                    </p:spPr>
                  </p:pic>
                </p:oleObj>
              </mc:Fallback>
            </mc:AlternateContent>
          </a:graphicData>
        </a:graphic>
      </p:graphicFrame>
      <p:pic>
        <p:nvPicPr>
          <p:cNvPr id="3" name="Picture 3"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Switch 1 is located in the top wire between the wires for the 12 ohm resistor and the 6 ohms resistor. A 3 ohms resistor is located in the top wire between the wires for the 6 ohms resistor and the 150 milli Henry inductor. Switch 2 is located in the top wire between the wires for the milli Henry inductor and the 18 ohms resistor. Switch 1 is opened when time t is zero. Switch 2 is opened when time t is 35 milli seconds. Voltage v subscript L exists across the 150 milli Henry inductor with positive polarity at the top node and negative polarity at the bottom. Current i subscript L flows through the 150 milli Henry inductor from the top node to the bottom node. ">
            <a:extLst>
              <a:ext uri="{FF2B5EF4-FFF2-40B4-BE49-F238E27FC236}">
                <a16:creationId xmlns:a16="http://schemas.microsoft.com/office/drawing/2014/main" id="{D1F106AA-C1B3-0F8B-4542-B6159B10FCE1}"/>
              </a:ext>
            </a:extLst>
          </p:cNvPr>
          <p:cNvPicPr>
            <a:picLocks noChangeAspect="1" noChangeArrowheads="1"/>
          </p:cNvPicPr>
          <p:nvPr/>
        </p:nvPicPr>
        <p:blipFill>
          <a:blip r:embed="rId4"/>
          <a:srcRect/>
          <a:stretch/>
        </p:blipFill>
        <p:spPr bwMode="auto">
          <a:xfrm>
            <a:off x="4648426" y="1631678"/>
            <a:ext cx="3934985" cy="15672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1" y="3552795"/>
            <a:ext cx="4297748" cy="344128"/>
          </a:xfrm>
        </p:spPr>
        <p:txBody>
          <a:bodyPr wrap="square" lIns="0" tIns="18000" rIns="0" bIns="18000" anchor="ctr">
            <a:spAutoFit/>
          </a:bodyPr>
          <a:lstStyle/>
          <a:p>
            <a:pPr marL="342900" indent="-342900">
              <a:spcBef>
                <a:spcPts val="600"/>
              </a:spcBef>
            </a:pPr>
            <a:r>
              <a:rPr lang="en-US" sz="2000" noProof="0" dirty="0"/>
              <a:t>Analysis for the first time segment, </a:t>
            </a:r>
          </a:p>
        </p:txBody>
      </p:sp>
      <p:graphicFrame>
        <p:nvGraphicFramePr>
          <p:cNvPr id="4" name="Object 3" descr="0 is less than or equal to t is less than or equal to 35 milliseconds.&#10;">
            <a:extLst>
              <a:ext uri="{FF2B5EF4-FFF2-40B4-BE49-F238E27FC236}">
                <a16:creationId xmlns:a16="http://schemas.microsoft.com/office/drawing/2014/main" id="{52BFA8AC-E6F1-AEDC-A85C-991460BE3037}"/>
              </a:ext>
            </a:extLst>
          </p:cNvPr>
          <p:cNvGraphicFramePr>
            <a:graphicFrameLocks noChangeAspect="1"/>
          </p:cNvGraphicFramePr>
          <p:nvPr>
            <p:extLst>
              <p:ext uri="{D42A27DB-BD31-4B8C-83A1-F6EECF244321}">
                <p14:modId xmlns:p14="http://schemas.microsoft.com/office/powerpoint/2010/main" val="680342551"/>
              </p:ext>
            </p:extLst>
          </p:nvPr>
        </p:nvGraphicFramePr>
        <p:xfrm>
          <a:off x="4813533" y="3615909"/>
          <a:ext cx="1484313" cy="319087"/>
        </p:xfrm>
        <a:graphic>
          <a:graphicData uri="http://schemas.openxmlformats.org/presentationml/2006/ole">
            <mc:AlternateContent xmlns:mc="http://schemas.openxmlformats.org/markup-compatibility/2006">
              <mc:Choice xmlns:v="urn:schemas-microsoft-com:vml" Requires="v">
                <p:oleObj name="Equation" r:id="rId5" imgW="939600" imgH="203040" progId="Equation.DSMT4">
                  <p:embed/>
                </p:oleObj>
              </mc:Choice>
              <mc:Fallback>
                <p:oleObj name="Equation" r:id="rId5" imgW="939600" imgH="203040" progId="Equation.DSMT4">
                  <p:embed/>
                  <p:pic>
                    <p:nvPicPr>
                      <p:cNvPr id="4" name="Object 3">
                        <a:extLst>
                          <a:ext uri="{FF2B5EF4-FFF2-40B4-BE49-F238E27FC236}">
                            <a16:creationId xmlns:a16="http://schemas.microsoft.com/office/drawing/2014/main" id="{D5EA2A21-9E18-D033-98C0-9C37632D3865}"/>
                          </a:ext>
                        </a:extLst>
                      </p:cNvPr>
                      <p:cNvPicPr>
                        <a:picLocks noChangeAspect="1" noChangeArrowheads="1"/>
                      </p:cNvPicPr>
                      <p:nvPr/>
                    </p:nvPicPr>
                    <p:blipFill>
                      <a:blip r:embed="rId6"/>
                      <a:srcRect/>
                      <a:stretch>
                        <a:fillRect/>
                      </a:stretch>
                    </p:blipFill>
                    <p:spPr bwMode="auto">
                      <a:xfrm>
                        <a:off x="4813533" y="3615909"/>
                        <a:ext cx="1484313" cy="319087"/>
                      </a:xfrm>
                      <a:prstGeom prst="rect">
                        <a:avLst/>
                      </a:prstGeom>
                      <a:noFill/>
                      <a:ln>
                        <a:noFill/>
                      </a:ln>
                      <a:effec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0" y="3985357"/>
            <a:ext cx="4668688" cy="344128"/>
          </a:xfrm>
        </p:spPr>
        <p:txBody>
          <a:bodyPr wrap="square" lIns="0" tIns="18000" rIns="0" bIns="18000" anchor="ctr">
            <a:spAutoFit/>
          </a:bodyPr>
          <a:lstStyle/>
          <a:p>
            <a:pPr marL="829818" lvl="1" indent="-342900"/>
            <a:r>
              <a:rPr lang="en-US" sz="2000" noProof="0" dirty="0"/>
              <a:t>Step 2 – Calculate the initial value </a:t>
            </a:r>
          </a:p>
        </p:txBody>
      </p:sp>
      <p:graphicFrame>
        <p:nvGraphicFramePr>
          <p:cNvPr id="5" name="Object 4" descr="I subscript 0.&#10;">
            <a:extLst>
              <a:ext uri="{FF2B5EF4-FFF2-40B4-BE49-F238E27FC236}">
                <a16:creationId xmlns:a16="http://schemas.microsoft.com/office/drawing/2014/main" id="{A0E84EEC-214B-70B4-9B2F-225D8AB50ECC}"/>
              </a:ext>
            </a:extLst>
          </p:cNvPr>
          <p:cNvGraphicFramePr>
            <a:graphicFrameLocks noChangeAspect="1"/>
          </p:cNvGraphicFramePr>
          <p:nvPr>
            <p:extLst>
              <p:ext uri="{D42A27DB-BD31-4B8C-83A1-F6EECF244321}">
                <p14:modId xmlns:p14="http://schemas.microsoft.com/office/powerpoint/2010/main" val="901247297"/>
              </p:ext>
            </p:extLst>
          </p:nvPr>
        </p:nvGraphicFramePr>
        <p:xfrm>
          <a:off x="5129579" y="3980148"/>
          <a:ext cx="220663" cy="360362"/>
        </p:xfrm>
        <a:graphic>
          <a:graphicData uri="http://schemas.openxmlformats.org/presentationml/2006/ole">
            <mc:AlternateContent xmlns:mc="http://schemas.openxmlformats.org/markup-compatibility/2006">
              <mc:Choice xmlns:v="urn:schemas-microsoft-com:vml" Requires="v">
                <p:oleObj name="Equation" r:id="rId7" imgW="139680" imgH="228600" progId="Equation.DSMT4">
                  <p:embed/>
                </p:oleObj>
              </mc:Choice>
              <mc:Fallback>
                <p:oleObj name="Equation" r:id="rId7" imgW="139680" imgH="228600" progId="Equation.DSMT4">
                  <p:embed/>
                  <p:pic>
                    <p:nvPicPr>
                      <p:cNvPr id="25" name="Object 24">
                        <a:extLst>
                          <a:ext uri="{FF2B5EF4-FFF2-40B4-BE49-F238E27FC236}">
                            <a16:creationId xmlns:a16="http://schemas.microsoft.com/office/drawing/2014/main" id="{E923043D-296A-A6CE-A45A-7D41533C6404}"/>
                          </a:ext>
                        </a:extLst>
                      </p:cNvPr>
                      <p:cNvPicPr>
                        <a:picLocks noChangeAspect="1" noChangeArrowheads="1"/>
                      </p:cNvPicPr>
                      <p:nvPr/>
                    </p:nvPicPr>
                    <p:blipFill>
                      <a:blip r:embed="rId8"/>
                      <a:srcRect/>
                      <a:stretch>
                        <a:fillRect/>
                      </a:stretch>
                    </p:blipFill>
                    <p:spPr bwMode="auto">
                      <a:xfrm>
                        <a:off x="5129579" y="3980148"/>
                        <a:ext cx="220663" cy="360362"/>
                      </a:xfrm>
                      <a:prstGeom prst="rect">
                        <a:avLst/>
                      </a:prstGeom>
                      <a:noFill/>
                      <a:ln>
                        <a:noFill/>
                      </a:ln>
                      <a:effec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5373772" y="3977174"/>
            <a:ext cx="3332078" cy="344128"/>
          </a:xfrm>
        </p:spPr>
        <p:txBody>
          <a:bodyPr wrap="square" lIns="0" tIns="18000" rIns="0" bIns="18000" anchor="ctr">
            <a:spAutoFit/>
          </a:bodyPr>
          <a:lstStyle/>
          <a:p>
            <a:pPr marL="0" indent="0">
              <a:spcBef>
                <a:spcPts val="600"/>
              </a:spcBef>
              <a:buNone/>
            </a:pPr>
            <a:r>
              <a:rPr lang="en-US" sz="2000" noProof="0" dirty="0"/>
              <a:t>by analyzing the circuit to find</a:t>
            </a:r>
          </a:p>
        </p:txBody>
      </p:sp>
      <p:graphicFrame>
        <p:nvGraphicFramePr>
          <p:cNvPr id="25" name="Object 24" descr="i subscript L baseline (t).&#10;">
            <a:extLst>
              <a:ext uri="{FF2B5EF4-FFF2-40B4-BE49-F238E27FC236}">
                <a16:creationId xmlns:a16="http://schemas.microsoft.com/office/drawing/2014/main" id="{BE0B3F73-179B-2CBB-965A-F1696234CA1F}"/>
              </a:ext>
            </a:extLst>
          </p:cNvPr>
          <p:cNvGraphicFramePr>
            <a:graphicFrameLocks noChangeAspect="1"/>
          </p:cNvGraphicFramePr>
          <p:nvPr>
            <p:extLst>
              <p:ext uri="{D42A27DB-BD31-4B8C-83A1-F6EECF244321}">
                <p14:modId xmlns:p14="http://schemas.microsoft.com/office/powerpoint/2010/main" val="1999851235"/>
              </p:ext>
            </p:extLst>
          </p:nvPr>
        </p:nvGraphicFramePr>
        <p:xfrm>
          <a:off x="1298480" y="4402110"/>
          <a:ext cx="481013" cy="360363"/>
        </p:xfrm>
        <a:graphic>
          <a:graphicData uri="http://schemas.openxmlformats.org/presentationml/2006/ole">
            <mc:AlternateContent xmlns:mc="http://schemas.openxmlformats.org/markup-compatibility/2006">
              <mc:Choice xmlns:v="urn:schemas-microsoft-com:vml" Requires="v">
                <p:oleObj name="Equation" r:id="rId9" imgW="304560" imgH="228600" progId="Equation.DSMT4">
                  <p:embed/>
                </p:oleObj>
              </mc:Choice>
              <mc:Fallback>
                <p:oleObj name="Equation" r:id="rId9" imgW="304560" imgH="228600" progId="Equation.DSMT4">
                  <p:embed/>
                  <p:pic>
                    <p:nvPicPr>
                      <p:cNvPr id="26" name="Object 25">
                        <a:extLst>
                          <a:ext uri="{FF2B5EF4-FFF2-40B4-BE49-F238E27FC236}">
                            <a16:creationId xmlns:a16="http://schemas.microsoft.com/office/drawing/2014/main" id="{016D4B12-3408-3A1F-6159-26928186E9C8}"/>
                          </a:ext>
                        </a:extLst>
                      </p:cNvPr>
                      <p:cNvPicPr>
                        <a:picLocks noChangeAspect="1" noChangeArrowheads="1"/>
                      </p:cNvPicPr>
                      <p:nvPr/>
                    </p:nvPicPr>
                    <p:blipFill>
                      <a:blip r:embed="rId10"/>
                      <a:srcRect/>
                      <a:stretch>
                        <a:fillRect/>
                      </a:stretch>
                    </p:blipFill>
                    <p:spPr bwMode="auto">
                      <a:xfrm>
                        <a:off x="1298480" y="4402110"/>
                        <a:ext cx="481013" cy="360363"/>
                      </a:xfrm>
                      <a:prstGeom prst="rect">
                        <a:avLst/>
                      </a:prstGeom>
                      <a:noFill/>
                      <a:ln>
                        <a:noFill/>
                      </a:ln>
                      <a:effectLst/>
                    </p:spPr>
                  </p:pic>
                </p:oleObj>
              </mc:Fallback>
            </mc:AlternateContent>
          </a:graphicData>
        </a:graphic>
      </p:graphicFrame>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836501" y="4414265"/>
            <a:ext cx="355480" cy="344128"/>
          </a:xfrm>
        </p:spPr>
        <p:txBody>
          <a:bodyPr wrap="square" lIns="0" tIns="18000" rIns="0" bIns="18000" anchor="ctr">
            <a:spAutoFit/>
          </a:bodyPr>
          <a:lstStyle/>
          <a:p>
            <a:pPr marL="0" indent="0">
              <a:spcBef>
                <a:spcPts val="600"/>
              </a:spcBef>
              <a:buNone/>
            </a:pPr>
            <a:r>
              <a:rPr lang="en-US" sz="2000" noProof="0" dirty="0"/>
              <a:t>for</a:t>
            </a:r>
          </a:p>
        </p:txBody>
      </p:sp>
      <p:graphicFrame>
        <p:nvGraphicFramePr>
          <p:cNvPr id="26" name="Object 25" descr="t is less than 0.&#10;">
            <a:extLst>
              <a:ext uri="{FF2B5EF4-FFF2-40B4-BE49-F238E27FC236}">
                <a16:creationId xmlns:a16="http://schemas.microsoft.com/office/drawing/2014/main" id="{527F3C8A-8F4D-5695-AB98-AEF1916424E5}"/>
              </a:ext>
            </a:extLst>
          </p:cNvPr>
          <p:cNvGraphicFramePr>
            <a:graphicFrameLocks noChangeAspect="1"/>
          </p:cNvGraphicFramePr>
          <p:nvPr>
            <p:extLst>
              <p:ext uri="{D42A27DB-BD31-4B8C-83A1-F6EECF244321}">
                <p14:modId xmlns:p14="http://schemas.microsoft.com/office/powerpoint/2010/main" val="110450714"/>
              </p:ext>
            </p:extLst>
          </p:nvPr>
        </p:nvGraphicFramePr>
        <p:xfrm>
          <a:off x="2248989" y="4450079"/>
          <a:ext cx="582612" cy="279400"/>
        </p:xfrm>
        <a:graphic>
          <a:graphicData uri="http://schemas.openxmlformats.org/presentationml/2006/ole">
            <mc:AlternateContent xmlns:mc="http://schemas.openxmlformats.org/markup-compatibility/2006">
              <mc:Choice xmlns:v="urn:schemas-microsoft-com:vml" Requires="v">
                <p:oleObj name="Equation" r:id="rId11" imgW="368280" imgH="177480" progId="Equation.DSMT4">
                  <p:embed/>
                </p:oleObj>
              </mc:Choice>
              <mc:Fallback>
                <p:oleObj name="Equation" r:id="rId11" imgW="368280" imgH="177480" progId="Equation.DSMT4">
                  <p:embed/>
                  <p:pic>
                    <p:nvPicPr>
                      <p:cNvPr id="27" name="Object 26">
                        <a:extLst>
                          <a:ext uri="{FF2B5EF4-FFF2-40B4-BE49-F238E27FC236}">
                            <a16:creationId xmlns:a16="http://schemas.microsoft.com/office/drawing/2014/main" id="{2CE563D9-69ED-44FB-9CEC-C7AE94D9635F}"/>
                          </a:ext>
                        </a:extLst>
                      </p:cNvPr>
                      <p:cNvPicPr>
                        <a:picLocks noChangeAspect="1" noChangeArrowheads="1"/>
                      </p:cNvPicPr>
                      <p:nvPr/>
                    </p:nvPicPr>
                    <p:blipFill>
                      <a:blip r:embed="rId12"/>
                      <a:srcRect/>
                      <a:stretch>
                        <a:fillRect/>
                      </a:stretch>
                    </p:blipFill>
                    <p:spPr bwMode="auto">
                      <a:xfrm>
                        <a:off x="2248989" y="4450079"/>
                        <a:ext cx="582612" cy="279400"/>
                      </a:xfrm>
                      <a:prstGeom prst="rect">
                        <a:avLst/>
                      </a:prstGeom>
                      <a:noFill/>
                      <a:ln>
                        <a:noFill/>
                      </a:ln>
                      <a:effectLst/>
                    </p:spPr>
                  </p:pic>
                </p:oleObj>
              </mc:Fallback>
            </mc:AlternateContent>
          </a:graphicData>
        </a:graphic>
      </p:graphicFrame>
      <p:sp>
        <p:nvSpPr>
          <p:cNvPr id="13" name="Content Placeholder 12">
            <a:extLst>
              <a:ext uri="{FF2B5EF4-FFF2-40B4-BE49-F238E27FC236}">
                <a16:creationId xmlns:a16="http://schemas.microsoft.com/office/drawing/2014/main" id="{2AD7BC50-6A59-651E-A4D9-6D606933D89E}"/>
              </a:ext>
            </a:extLst>
          </p:cNvPr>
          <p:cNvSpPr>
            <a:spLocks noGrp="1"/>
          </p:cNvSpPr>
          <p:nvPr>
            <p:ph sz="quarter" idx="18"/>
          </p:nvPr>
        </p:nvSpPr>
        <p:spPr>
          <a:xfrm>
            <a:off x="2888609" y="4411814"/>
            <a:ext cx="2555215" cy="344128"/>
          </a:xfrm>
        </p:spPr>
        <p:txBody>
          <a:bodyPr wrap="square" lIns="0" tIns="18000" rIns="0" bIns="18000" anchor="ctr">
            <a:spAutoFit/>
          </a:bodyPr>
          <a:lstStyle/>
          <a:p>
            <a:pPr marL="0" indent="0">
              <a:spcBef>
                <a:spcPts val="600"/>
              </a:spcBef>
              <a:buNone/>
            </a:pPr>
            <a:r>
              <a:rPr lang="en-US" sz="2000" noProof="0" dirty="0"/>
              <a:t>Write a </a:t>
            </a:r>
            <a:r>
              <a:rPr lang="en-US" sz="2000" spc="-250" noProof="0" dirty="0"/>
              <a:t>K V </a:t>
            </a:r>
            <a:r>
              <a:rPr lang="en-US" sz="2000" noProof="0" dirty="0"/>
              <a:t>L equation.</a:t>
            </a:r>
          </a:p>
        </p:txBody>
      </p:sp>
      <p:graphicFrame>
        <p:nvGraphicFramePr>
          <p:cNvPr id="31" name="Object 30" descr="t is less than 0.&#10;">
            <a:extLst>
              <a:ext uri="{FF2B5EF4-FFF2-40B4-BE49-F238E27FC236}">
                <a16:creationId xmlns:a16="http://schemas.microsoft.com/office/drawing/2014/main" id="{151EAA2F-84D7-11CB-1694-D25FCE6711FF}"/>
              </a:ext>
            </a:extLst>
          </p:cNvPr>
          <p:cNvGraphicFramePr>
            <a:graphicFrameLocks noChangeAspect="1"/>
          </p:cNvGraphicFramePr>
          <p:nvPr>
            <p:extLst>
              <p:ext uri="{D42A27DB-BD31-4B8C-83A1-F6EECF244321}">
                <p14:modId xmlns:p14="http://schemas.microsoft.com/office/powerpoint/2010/main" val="4067352483"/>
              </p:ext>
            </p:extLst>
          </p:nvPr>
        </p:nvGraphicFramePr>
        <p:xfrm>
          <a:off x="512916" y="4996843"/>
          <a:ext cx="563563" cy="279400"/>
        </p:xfrm>
        <a:graphic>
          <a:graphicData uri="http://schemas.openxmlformats.org/presentationml/2006/ole">
            <mc:AlternateContent xmlns:mc="http://schemas.openxmlformats.org/markup-compatibility/2006">
              <mc:Choice xmlns:v="urn:schemas-microsoft-com:vml" Requires="v">
                <p:oleObj name="Equation" r:id="rId13" imgW="355320" imgH="177480" progId="Equation.DSMT4">
                  <p:embed/>
                </p:oleObj>
              </mc:Choice>
              <mc:Fallback>
                <p:oleObj name="Equation" r:id="rId13" imgW="355320" imgH="177480" progId="Equation.DSMT4">
                  <p:embed/>
                  <p:pic>
                    <p:nvPicPr>
                      <p:cNvPr id="26" name="Object 25">
                        <a:extLst>
                          <a:ext uri="{FF2B5EF4-FFF2-40B4-BE49-F238E27FC236}">
                            <a16:creationId xmlns:a16="http://schemas.microsoft.com/office/drawing/2014/main" id="{527F3C8A-8F4D-5695-AB98-AEF1916424E5}"/>
                          </a:ext>
                        </a:extLst>
                      </p:cNvPr>
                      <p:cNvPicPr>
                        <a:picLocks noChangeAspect="1" noChangeArrowheads="1"/>
                      </p:cNvPicPr>
                      <p:nvPr/>
                    </p:nvPicPr>
                    <p:blipFill>
                      <a:blip r:embed="rId14"/>
                      <a:srcRect/>
                      <a:stretch>
                        <a:fillRect/>
                      </a:stretch>
                    </p:blipFill>
                    <p:spPr bwMode="auto">
                      <a:xfrm>
                        <a:off x="512916" y="4996843"/>
                        <a:ext cx="563563" cy="279400"/>
                      </a:xfrm>
                      <a:prstGeom prst="rect">
                        <a:avLst/>
                      </a:prstGeom>
                      <a:noFill/>
                      <a:ln>
                        <a:noFill/>
                      </a:ln>
                      <a:effectLst/>
                    </p:spPr>
                  </p:pic>
                </p:oleObj>
              </mc:Fallback>
            </mc:AlternateContent>
          </a:graphicData>
        </a:graphic>
      </p:graphicFrame>
      <p:pic>
        <p:nvPicPr>
          <p:cNvPr id="27" name="Picture 4"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a wire with current I subscript 0 flowing through it, and a 18 ohms resistor. A 4 ohms resistor is located in the top wire between the wires for the 60 volt source and the 12 ohm resistor. A 3 ohms resistor is located in the top wire between the wires for the 6 ohms resistor and the wire carrying current I subscript 0.">
            <a:extLst>
              <a:ext uri="{FF2B5EF4-FFF2-40B4-BE49-F238E27FC236}">
                <a16:creationId xmlns:a16="http://schemas.microsoft.com/office/drawing/2014/main" id="{0BC9C2F3-5438-6E23-B82D-4C4EFCEFC115}"/>
              </a:ext>
            </a:extLst>
          </p:cNvPr>
          <p:cNvPicPr>
            <a:picLocks noChangeAspect="1" noChangeArrowheads="1"/>
          </p:cNvPicPr>
          <p:nvPr/>
        </p:nvPicPr>
        <p:blipFill>
          <a:blip r:embed="rId15"/>
          <a:stretch>
            <a:fillRect/>
          </a:stretch>
        </p:blipFill>
        <p:spPr bwMode="auto">
          <a:xfrm>
            <a:off x="1449169" y="4948460"/>
            <a:ext cx="3542650" cy="13290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8" name="Object 27" descr="StartFraction v minus 60 over 4 EndFraction plus StartFraction v over 12 EndFraction plus StartFraction v over 6 EndFraction plus StartFraction v over 3 EndFraction equals 0.&#10;">
            <a:extLst>
              <a:ext uri="{FF2B5EF4-FFF2-40B4-BE49-F238E27FC236}">
                <a16:creationId xmlns:a16="http://schemas.microsoft.com/office/drawing/2014/main" id="{61368345-D890-AFE6-9122-43E27323745E}"/>
              </a:ext>
            </a:extLst>
          </p:cNvPr>
          <p:cNvGraphicFramePr>
            <a:graphicFrameLocks noChangeAspect="1"/>
          </p:cNvGraphicFramePr>
          <p:nvPr>
            <p:extLst>
              <p:ext uri="{D42A27DB-BD31-4B8C-83A1-F6EECF244321}">
                <p14:modId xmlns:p14="http://schemas.microsoft.com/office/powerpoint/2010/main" val="2205436063"/>
              </p:ext>
            </p:extLst>
          </p:nvPr>
        </p:nvGraphicFramePr>
        <p:xfrm>
          <a:off x="5803873" y="4874552"/>
          <a:ext cx="2425700" cy="620713"/>
        </p:xfrm>
        <a:graphic>
          <a:graphicData uri="http://schemas.openxmlformats.org/presentationml/2006/ole">
            <mc:AlternateContent xmlns:mc="http://schemas.openxmlformats.org/markup-compatibility/2006">
              <mc:Choice xmlns:v="urn:schemas-microsoft-com:vml" Requires="v">
                <p:oleObj name="Equation" r:id="rId16" imgW="1536480" imgH="393480" progId="Equation.DSMT4">
                  <p:embed/>
                </p:oleObj>
              </mc:Choice>
              <mc:Fallback>
                <p:oleObj name="Equation" r:id="rId16" imgW="1536480" imgH="393480" progId="Equation.DSMT4">
                  <p:embed/>
                  <p:pic>
                    <p:nvPicPr>
                      <p:cNvPr id="6" name="Object 5"/>
                      <p:cNvPicPr>
                        <a:picLocks noChangeAspect="1" noChangeArrowheads="1"/>
                      </p:cNvPicPr>
                      <p:nvPr/>
                    </p:nvPicPr>
                    <p:blipFill>
                      <a:blip r:embed="rId17"/>
                      <a:srcRect/>
                      <a:stretch>
                        <a:fillRect/>
                      </a:stretch>
                    </p:blipFill>
                    <p:spPr bwMode="auto">
                      <a:xfrm>
                        <a:off x="5803873" y="4874552"/>
                        <a:ext cx="2425700"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28" descr="right double arrow v equals 18 Volts.&#10;">
            <a:extLst>
              <a:ext uri="{FF2B5EF4-FFF2-40B4-BE49-F238E27FC236}">
                <a16:creationId xmlns:a16="http://schemas.microsoft.com/office/drawing/2014/main" id="{67C7ED28-A511-C8C7-0350-F3C0074C5857}"/>
              </a:ext>
            </a:extLst>
          </p:cNvPr>
          <p:cNvGraphicFramePr>
            <a:graphicFrameLocks noChangeAspect="1"/>
          </p:cNvGraphicFramePr>
          <p:nvPr>
            <p:extLst>
              <p:ext uri="{D42A27DB-BD31-4B8C-83A1-F6EECF244321}">
                <p14:modId xmlns:p14="http://schemas.microsoft.com/office/powerpoint/2010/main" val="91168284"/>
              </p:ext>
            </p:extLst>
          </p:nvPr>
        </p:nvGraphicFramePr>
        <p:xfrm>
          <a:off x="5813685" y="5559092"/>
          <a:ext cx="1722437" cy="339725"/>
        </p:xfrm>
        <a:graphic>
          <a:graphicData uri="http://schemas.openxmlformats.org/presentationml/2006/ole">
            <mc:AlternateContent xmlns:mc="http://schemas.openxmlformats.org/markup-compatibility/2006">
              <mc:Choice xmlns:v="urn:schemas-microsoft-com:vml" Requires="v">
                <p:oleObj name="Equation" r:id="rId18" imgW="1091880" imgH="215640" progId="Equation.DSMT4">
                  <p:embed/>
                </p:oleObj>
              </mc:Choice>
              <mc:Fallback>
                <p:oleObj name="Equation" r:id="rId18" imgW="1091880" imgH="215640" progId="Equation.DSMT4">
                  <p:embed/>
                  <p:pic>
                    <p:nvPicPr>
                      <p:cNvPr id="28" name="Object 27">
                        <a:extLst>
                          <a:ext uri="{FF2B5EF4-FFF2-40B4-BE49-F238E27FC236}">
                            <a16:creationId xmlns:a16="http://schemas.microsoft.com/office/drawing/2014/main" id="{61368345-D890-AFE6-9122-43E27323745E}"/>
                          </a:ext>
                        </a:extLst>
                      </p:cNvPr>
                      <p:cNvPicPr>
                        <a:picLocks noChangeAspect="1" noChangeArrowheads="1"/>
                      </p:cNvPicPr>
                      <p:nvPr/>
                    </p:nvPicPr>
                    <p:blipFill>
                      <a:blip r:embed="rId19"/>
                      <a:srcRect/>
                      <a:stretch>
                        <a:fillRect/>
                      </a:stretch>
                    </p:blipFill>
                    <p:spPr bwMode="auto">
                      <a:xfrm>
                        <a:off x="5813685" y="5559092"/>
                        <a:ext cx="1722437"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29" descr="right double arrow I subscript 0 baseline equals 18 divided by 3 equals 6 Amperes.&#10;">
            <a:extLst>
              <a:ext uri="{FF2B5EF4-FFF2-40B4-BE49-F238E27FC236}">
                <a16:creationId xmlns:a16="http://schemas.microsoft.com/office/drawing/2014/main" id="{3351EB32-40C1-6349-4D03-FF62461721D1}"/>
              </a:ext>
            </a:extLst>
          </p:cNvPr>
          <p:cNvGraphicFramePr>
            <a:graphicFrameLocks noChangeAspect="1"/>
          </p:cNvGraphicFramePr>
          <p:nvPr>
            <p:extLst>
              <p:ext uri="{D42A27DB-BD31-4B8C-83A1-F6EECF244321}">
                <p14:modId xmlns:p14="http://schemas.microsoft.com/office/powerpoint/2010/main" val="3287783689"/>
              </p:ext>
            </p:extLst>
          </p:nvPr>
        </p:nvGraphicFramePr>
        <p:xfrm>
          <a:off x="5805061" y="5962644"/>
          <a:ext cx="2363787" cy="360363"/>
        </p:xfrm>
        <a:graphic>
          <a:graphicData uri="http://schemas.openxmlformats.org/presentationml/2006/ole">
            <mc:AlternateContent xmlns:mc="http://schemas.openxmlformats.org/markup-compatibility/2006">
              <mc:Choice xmlns:v="urn:schemas-microsoft-com:vml" Requires="v">
                <p:oleObj name="Equation" r:id="rId20" imgW="1498320" imgH="228600" progId="Equation.DSMT4">
                  <p:embed/>
                </p:oleObj>
              </mc:Choice>
              <mc:Fallback>
                <p:oleObj name="Equation" r:id="rId20" imgW="1498320" imgH="228600" progId="Equation.DSMT4">
                  <p:embed/>
                  <p:pic>
                    <p:nvPicPr>
                      <p:cNvPr id="29" name="Object 28">
                        <a:extLst>
                          <a:ext uri="{FF2B5EF4-FFF2-40B4-BE49-F238E27FC236}">
                            <a16:creationId xmlns:a16="http://schemas.microsoft.com/office/drawing/2014/main" id="{67C7ED28-A511-C8C7-0350-F3C0074C5857}"/>
                          </a:ext>
                        </a:extLst>
                      </p:cNvPr>
                      <p:cNvPicPr>
                        <a:picLocks noChangeAspect="1" noChangeArrowheads="1"/>
                      </p:cNvPicPr>
                      <p:nvPr/>
                    </p:nvPicPr>
                    <p:blipFill>
                      <a:blip r:embed="rId21"/>
                      <a:srcRect/>
                      <a:stretch>
                        <a:fillRect/>
                      </a:stretch>
                    </p:blipFill>
                    <p:spPr bwMode="auto">
                      <a:xfrm>
                        <a:off x="5805061" y="5962644"/>
                        <a:ext cx="2363787" cy="36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75558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6192"/>
            <a:ext cx="8229600" cy="1144347"/>
          </a:xfrm>
        </p:spPr>
        <p:txBody>
          <a:bodyPr/>
          <a:lstStyle/>
          <a:p>
            <a:r>
              <a:rPr lang="en-US" noProof="0" dirty="0"/>
              <a:t>Chapter 7 – Sequential Switching Problems </a:t>
            </a:r>
            <a:r>
              <a:rPr lang="en-US" sz="2800" noProof="0" dirty="0"/>
              <a:t>(8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58307"/>
            <a:ext cx="8229600" cy="405683"/>
          </a:xfrm>
        </p:spPr>
        <p:txBody>
          <a:bodyPr wrap="square" lIns="0" tIns="18000" rIns="0" bIns="18000" anchor="ctr">
            <a:spAutoFit/>
          </a:bodyPr>
          <a:lstStyle/>
          <a:p>
            <a:pPr marL="0" indent="0">
              <a:spcBef>
                <a:spcPts val="600"/>
              </a:spcBef>
              <a:buNone/>
            </a:pPr>
            <a:r>
              <a:rPr lang="en-US" sz="2400" noProof="0" dirty="0"/>
              <a:t>Next we need to find the final value of the inductor current, </a:t>
            </a:r>
          </a:p>
        </p:txBody>
      </p:sp>
      <p:graphicFrame>
        <p:nvGraphicFramePr>
          <p:cNvPr id="2" name="Object 1" descr="i subscript L baseline (infinity) equals l subscript F.&#10;">
            <a:extLst>
              <a:ext uri="{FF2B5EF4-FFF2-40B4-BE49-F238E27FC236}">
                <a16:creationId xmlns:a16="http://schemas.microsoft.com/office/drawing/2014/main" id="{F3AA5F09-E033-D994-40B3-06FC3425B47D}"/>
              </a:ext>
            </a:extLst>
          </p:cNvPr>
          <p:cNvGraphicFramePr>
            <a:graphicFrameLocks noChangeAspect="1"/>
          </p:cNvGraphicFramePr>
          <p:nvPr>
            <p:extLst>
              <p:ext uri="{D42A27DB-BD31-4B8C-83A1-F6EECF244321}">
                <p14:modId xmlns:p14="http://schemas.microsoft.com/office/powerpoint/2010/main" val="1229634618"/>
              </p:ext>
            </p:extLst>
          </p:nvPr>
        </p:nvGraphicFramePr>
        <p:xfrm>
          <a:off x="427101" y="1901221"/>
          <a:ext cx="1238964" cy="434118"/>
        </p:xfrm>
        <a:graphic>
          <a:graphicData uri="http://schemas.openxmlformats.org/presentationml/2006/ole">
            <mc:AlternateContent xmlns:mc="http://schemas.openxmlformats.org/markup-compatibility/2006">
              <mc:Choice xmlns:v="urn:schemas-microsoft-com:vml" Requires="v">
                <p:oleObj name="Equation" r:id="rId5" imgW="647640" imgH="228600" progId="Equation.DSMT4">
                  <p:embed/>
                </p:oleObj>
              </mc:Choice>
              <mc:Fallback>
                <p:oleObj name="Equation" r:id="rId5" imgW="647640" imgH="228600" progId="Equation.DSMT4">
                  <p:embed/>
                  <p:pic>
                    <p:nvPicPr>
                      <p:cNvPr id="4" name="Object 3">
                        <a:extLst>
                          <a:ext uri="{FF2B5EF4-FFF2-40B4-BE49-F238E27FC236}">
                            <a16:creationId xmlns:a16="http://schemas.microsoft.com/office/drawing/2014/main" id="{52BFA8AC-E6F1-AEDC-A85C-991460BE3037}"/>
                          </a:ext>
                        </a:extLst>
                      </p:cNvPr>
                      <p:cNvPicPr>
                        <a:picLocks noChangeAspect="1" noChangeArrowheads="1"/>
                      </p:cNvPicPr>
                      <p:nvPr/>
                    </p:nvPicPr>
                    <p:blipFill>
                      <a:blip r:embed="rId6"/>
                      <a:srcRect/>
                      <a:stretch>
                        <a:fillRect/>
                      </a:stretch>
                    </p:blipFill>
                    <p:spPr bwMode="auto">
                      <a:xfrm>
                        <a:off x="427101" y="1901221"/>
                        <a:ext cx="1238964" cy="434118"/>
                      </a:xfrm>
                      <a:prstGeom prst="rect">
                        <a:avLst/>
                      </a:prstGeom>
                      <a:noFill/>
                      <a:ln>
                        <a:noFill/>
                      </a:ln>
                      <a:effec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737785" y="1929656"/>
            <a:ext cx="6670862" cy="405683"/>
          </a:xfrm>
        </p:spPr>
        <p:txBody>
          <a:bodyPr wrap="square" lIns="0" tIns="18000" rIns="0" bIns="18000" anchor="ctr">
            <a:spAutoFit/>
          </a:bodyPr>
          <a:lstStyle/>
          <a:p>
            <a:pPr marL="0" indent="0">
              <a:spcBef>
                <a:spcPts val="600"/>
              </a:spcBef>
              <a:buNone/>
            </a:pPr>
            <a:r>
              <a:rPr lang="en-US" sz="2400" noProof="0" dirty="0"/>
              <a:t>To do this, analyze the circuit with the switches in</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2406323"/>
            <a:ext cx="3084979" cy="405683"/>
          </a:xfrm>
        </p:spPr>
        <p:txBody>
          <a:bodyPr wrap="square" lIns="0" tIns="18000" rIns="0" bIns="18000" anchor="ctr">
            <a:spAutoFit/>
          </a:bodyPr>
          <a:lstStyle/>
          <a:p>
            <a:pPr marL="0" indent="0">
              <a:spcBef>
                <a:spcPts val="600"/>
              </a:spcBef>
              <a:buNone/>
            </a:pPr>
            <a:r>
              <a:rPr lang="en-US" sz="2400" noProof="0" dirty="0"/>
              <a:t>the following positions:</a:t>
            </a:r>
          </a:p>
        </p:txBody>
      </p:sp>
      <p:pic>
        <p:nvPicPr>
          <p:cNvPr id="3" name="Picture 2"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Switch 1 is located in the top wire between the wires for the 12 ohm resistor and the 6 ohms resistor. A 3 ohms resistor is located in the top wire between the wires for the 6 ohms resistor and the 150 milli Henry inductor. Switch 2 is located in the top wire between the wires for the milli Henry inductor and the 18 ohms resistor. Switch 1 is opened when time t is zero. Switch 2 is opened when time t is 35 milli seconds. Voltage v subscript L exists across the 150 milli Henry inductor with positive polarity at the top node and negative polarity at the bottom. Current i subscript L flows through the 150 milli Henry inductor from the top node to the bottom node. ">
            <a:extLst>
              <a:ext uri="{FF2B5EF4-FFF2-40B4-BE49-F238E27FC236}">
                <a16:creationId xmlns:a16="http://schemas.microsoft.com/office/drawing/2014/main" id="{E5A43E81-DEAE-6FE6-431D-61716554F70A}"/>
              </a:ext>
            </a:extLst>
          </p:cNvPr>
          <p:cNvPicPr>
            <a:picLocks noChangeAspect="1" noChangeArrowheads="1"/>
          </p:cNvPicPr>
          <p:nvPr/>
        </p:nvPicPr>
        <p:blipFill>
          <a:blip r:embed="rId7"/>
          <a:srcRect/>
          <a:stretch/>
        </p:blipFill>
        <p:spPr bwMode="auto">
          <a:xfrm>
            <a:off x="2404601" y="2939685"/>
            <a:ext cx="4407824" cy="17556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1434" descr="Cross mark">
            <a:extLst>
              <a:ext uri="{FF2B5EF4-FFF2-40B4-BE49-F238E27FC236}">
                <a16:creationId xmlns:a16="http://schemas.microsoft.com/office/drawing/2014/main" id="{F75FB92B-325E-1544-0563-33495CC3F709}"/>
              </a:ext>
            </a:extLst>
          </p:cNvPr>
          <p:cNvPicPr>
            <a:picLocks/>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703683" y="4874992"/>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352554" y="4843601"/>
            <a:ext cx="4054475" cy="405683"/>
          </a:xfrm>
        </p:spPr>
        <p:txBody>
          <a:bodyPr lIns="0" tIns="18000" rIns="0" bIns="18000" anchor="ctr">
            <a:spAutoFit/>
          </a:bodyPr>
          <a:lstStyle/>
          <a:p>
            <a:pPr marL="0" indent="0">
              <a:spcBef>
                <a:spcPts val="600"/>
              </a:spcBef>
              <a:buNone/>
            </a:pPr>
            <a:r>
              <a:rPr lang="en-US" sz="2400" noProof="0" dirty="0">
                <a:solidFill>
                  <a:srgbClr val="007FA3"/>
                </a:solidFill>
              </a:rPr>
              <a:t>A.</a:t>
            </a:r>
            <a:r>
              <a:rPr lang="en-US" sz="2400" noProof="0" dirty="0"/>
              <a:t> SW 1 closed, SW 2 closed</a:t>
            </a:r>
          </a:p>
        </p:txBody>
      </p:sp>
      <p:pic>
        <p:nvPicPr>
          <p:cNvPr id="5" name="Picture 1435" descr="Check mark">
            <a:extLst>
              <a:ext uri="{FF2B5EF4-FFF2-40B4-BE49-F238E27FC236}">
                <a16:creationId xmlns:a16="http://schemas.microsoft.com/office/drawing/2014/main" id="{5DDBF522-1F36-8FD5-C6C4-A1E2EA843664}"/>
              </a:ext>
            </a:extLst>
          </p:cNvPr>
          <p:cNvPicPr>
            <a:picLocks/>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703683" y="5375856"/>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352554" y="5344927"/>
            <a:ext cx="3766297"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SW 1 open, SW 2 closed</a:t>
            </a:r>
          </a:p>
        </p:txBody>
      </p:sp>
      <p:pic>
        <p:nvPicPr>
          <p:cNvPr id="25" name="Picture 1436" descr="Cross mark">
            <a:extLst>
              <a:ext uri="{FF2B5EF4-FFF2-40B4-BE49-F238E27FC236}">
                <a16:creationId xmlns:a16="http://schemas.microsoft.com/office/drawing/2014/main" id="{F7B4E794-0D00-B115-6277-D73D78D846BD}"/>
              </a:ext>
            </a:extLst>
          </p:cNvPr>
          <p:cNvPicPr>
            <a:picLocks/>
          </p:cNvPicPr>
          <p:nvPr>
            <p:custDataLst>
              <p:tags r:id="rId3"/>
            </p:custDataLst>
          </p:nvPr>
        </p:nvPicPr>
        <p:blipFill>
          <a:blip r:embed="rId8">
            <a:extLst>
              <a:ext uri="{28A0092B-C50C-407E-A947-70E740481C1C}">
                <a14:useLocalDpi xmlns:a14="http://schemas.microsoft.com/office/drawing/2010/main" val="0"/>
              </a:ext>
            </a:extLst>
          </a:blip>
          <a:srcRect/>
          <a:stretch>
            <a:fillRect/>
          </a:stretch>
        </p:blipFill>
        <p:spPr bwMode="auto">
          <a:xfrm>
            <a:off x="703683" y="5896032"/>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352555" y="5864641"/>
            <a:ext cx="3595968"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SW 1 open, SW 2 open</a:t>
            </a:r>
          </a:p>
        </p:txBody>
      </p:sp>
    </p:spTree>
    <p:extLst>
      <p:ext uri="{BB962C8B-B14F-4D97-AF65-F5344CB8AC3E}">
        <p14:creationId xmlns:p14="http://schemas.microsoft.com/office/powerpoint/2010/main" val="4070121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6192"/>
            <a:ext cx="8229600" cy="1144347"/>
          </a:xfrm>
        </p:spPr>
        <p:txBody>
          <a:bodyPr/>
          <a:lstStyle/>
          <a:p>
            <a:r>
              <a:rPr lang="en-US" noProof="0" dirty="0"/>
              <a:t>Chapter 7 – Sequential Switching Problems </a:t>
            </a:r>
            <a:r>
              <a:rPr lang="en-US" sz="2800" noProof="0" dirty="0"/>
              <a:t>(9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51157"/>
            <a:ext cx="8229600" cy="1513679"/>
          </a:xfrm>
        </p:spPr>
        <p:txBody>
          <a:bodyPr wrap="square" lIns="0" tIns="18000" rIns="0" bIns="18000" anchor="ctr">
            <a:spAutoFit/>
          </a:bodyPr>
          <a:lstStyle/>
          <a:p>
            <a:pPr marL="0" indent="0">
              <a:spcBef>
                <a:spcPts val="600"/>
              </a:spcBef>
              <a:buNone/>
            </a:pPr>
            <a:r>
              <a:rPr lang="en-US" sz="2400" noProof="0" dirty="0"/>
              <a:t>Here is the circuit used to determine the final value of the current in the first time segment. For this time segment, is the response form the natural response or the step response?</a:t>
            </a:r>
          </a:p>
        </p:txBody>
      </p:sp>
      <p:pic>
        <p:nvPicPr>
          <p:cNvPr id="2" name="Picture 2"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a wire with current I subscript F flowing through it, and a 18 ohms resistor. A 4 ohms resistor is located in the top wire between the wires for the 60 volt source and the 12 ohm resistor. A 3 ohms resistor is located in the top wire between the wires for the 6 ohms resistor and the wire carrying current I subscript F. There is a discontinuity in the top wire of the circuit between wires where the 12 ohms and 6 ohms resistors are located.">
            <a:extLst>
              <a:ext uri="{FF2B5EF4-FFF2-40B4-BE49-F238E27FC236}">
                <a16:creationId xmlns:a16="http://schemas.microsoft.com/office/drawing/2014/main" id="{CBBAF6EF-F556-D2FF-F841-D67B1F7A553A}"/>
              </a:ext>
            </a:extLst>
          </p:cNvPr>
          <p:cNvPicPr>
            <a:picLocks noChangeAspect="1" noChangeArrowheads="1"/>
          </p:cNvPicPr>
          <p:nvPr/>
        </p:nvPicPr>
        <p:blipFill>
          <a:blip r:embed="rId2"/>
          <a:stretch>
            <a:fillRect/>
          </a:stretch>
        </p:blipFill>
        <p:spPr bwMode="auto">
          <a:xfrm>
            <a:off x="2138743" y="3104602"/>
            <a:ext cx="4707764" cy="17597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379445" y="5096855"/>
            <a:ext cx="2699497"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Natural response</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379446" y="5633616"/>
            <a:ext cx="2349874"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Step response</a:t>
            </a:r>
          </a:p>
        </p:txBody>
      </p:sp>
    </p:spTree>
    <p:extLst>
      <p:ext uri="{BB962C8B-B14F-4D97-AF65-F5344CB8AC3E}">
        <p14:creationId xmlns:p14="http://schemas.microsoft.com/office/powerpoint/2010/main" val="1629873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F5675-F31E-60F4-920D-2AD3A2B33E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0CCB4AA-6C46-F66F-ED2B-573FDA608A27}"/>
              </a:ext>
            </a:extLst>
          </p:cNvPr>
          <p:cNvSpPr>
            <a:spLocks noGrp="1"/>
          </p:cNvSpPr>
          <p:nvPr>
            <p:ph type="title"/>
          </p:nvPr>
        </p:nvSpPr>
        <p:spPr>
          <a:xfrm>
            <a:off x="438150" y="216192"/>
            <a:ext cx="8229600" cy="1144347"/>
          </a:xfrm>
        </p:spPr>
        <p:txBody>
          <a:bodyPr/>
          <a:lstStyle/>
          <a:p>
            <a:r>
              <a:rPr lang="en-US" noProof="0" dirty="0"/>
              <a:t>Chapter 7 – Sequential Switching Problems </a:t>
            </a:r>
            <a:r>
              <a:rPr lang="en-US" sz="2800" noProof="0" dirty="0"/>
              <a:t>(9 of 22)</a:t>
            </a:r>
          </a:p>
        </p:txBody>
      </p:sp>
      <p:sp>
        <p:nvSpPr>
          <p:cNvPr id="7" name="Content Placeholder 6">
            <a:extLst>
              <a:ext uri="{FF2B5EF4-FFF2-40B4-BE49-F238E27FC236}">
                <a16:creationId xmlns:a16="http://schemas.microsoft.com/office/drawing/2014/main" id="{968B4706-4977-15BC-A6FA-73C899E47E02}"/>
              </a:ext>
            </a:extLst>
          </p:cNvPr>
          <p:cNvSpPr>
            <a:spLocks noGrp="1"/>
          </p:cNvSpPr>
          <p:nvPr>
            <p:ph sz="quarter" idx="12"/>
          </p:nvPr>
        </p:nvSpPr>
        <p:spPr>
          <a:xfrm>
            <a:off x="438150" y="1451157"/>
            <a:ext cx="8229600" cy="1513679"/>
          </a:xfrm>
        </p:spPr>
        <p:txBody>
          <a:bodyPr wrap="square" lIns="0" tIns="18000" rIns="0" bIns="18000" anchor="ctr">
            <a:spAutoFit/>
          </a:bodyPr>
          <a:lstStyle/>
          <a:p>
            <a:pPr marL="0" indent="0">
              <a:spcBef>
                <a:spcPts val="600"/>
              </a:spcBef>
              <a:buNone/>
            </a:pPr>
            <a:r>
              <a:rPr lang="en-US" sz="2400" noProof="0" dirty="0"/>
              <a:t>Here is the circuit used to determine the final value of the current in the first time segment. For this time segment, is the response form the natural response or the step response?</a:t>
            </a:r>
          </a:p>
        </p:txBody>
      </p:sp>
      <p:pic>
        <p:nvPicPr>
          <p:cNvPr id="2" name="Picture 2"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a wire with current I subscript F flowing through it, and a 18 ohms resistor. A 4 ohms resistor is located in the top wire between the wires for the 60 volt source and the 12 ohm resistor. A 3 ohms resistor is located in the top wire between the wires for the 6 ohms resistor and the wire carrying current I subscript F. There is a discontinuity in the top wire of the circuit between wires where the 12 ohms and 6 ohms resistors are located.">
            <a:extLst>
              <a:ext uri="{FF2B5EF4-FFF2-40B4-BE49-F238E27FC236}">
                <a16:creationId xmlns:a16="http://schemas.microsoft.com/office/drawing/2014/main" id="{9D17EA3D-0E51-CAC9-F5F3-5C5C88666DED}"/>
              </a:ext>
            </a:extLst>
          </p:cNvPr>
          <p:cNvPicPr>
            <a:picLocks noChangeAspect="1" noChangeArrowheads="1"/>
          </p:cNvPicPr>
          <p:nvPr/>
        </p:nvPicPr>
        <p:blipFill>
          <a:blip r:embed="rId4"/>
          <a:stretch>
            <a:fillRect/>
          </a:stretch>
        </p:blipFill>
        <p:spPr bwMode="auto">
          <a:xfrm>
            <a:off x="2138743" y="3104602"/>
            <a:ext cx="4707764" cy="17597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1435" descr="Check mark">
            <a:extLst>
              <a:ext uri="{FF2B5EF4-FFF2-40B4-BE49-F238E27FC236}">
                <a16:creationId xmlns:a16="http://schemas.microsoft.com/office/drawing/2014/main" id="{B5E46DB0-777E-C33A-8C94-D328C84FD269}"/>
              </a:ext>
            </a:extLst>
          </p:cNvPr>
          <p:cNvPicPr>
            <a:picLocks/>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795523" y="5128246"/>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84421791-A8C1-BF8C-0F48-1F9CB3DC01AC}"/>
              </a:ext>
            </a:extLst>
          </p:cNvPr>
          <p:cNvSpPr>
            <a:spLocks noGrp="1"/>
          </p:cNvSpPr>
          <p:nvPr>
            <p:ph sz="quarter" idx="13"/>
          </p:nvPr>
        </p:nvSpPr>
        <p:spPr>
          <a:xfrm>
            <a:off x="1379445" y="5096855"/>
            <a:ext cx="2699497"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Natural response</a:t>
            </a:r>
          </a:p>
        </p:txBody>
      </p:sp>
      <p:pic>
        <p:nvPicPr>
          <p:cNvPr id="4" name="Picture 1434" descr="Cross mark">
            <a:extLst>
              <a:ext uri="{FF2B5EF4-FFF2-40B4-BE49-F238E27FC236}">
                <a16:creationId xmlns:a16="http://schemas.microsoft.com/office/drawing/2014/main" id="{0B938715-B442-43EA-B479-F47167F8593A}"/>
              </a:ext>
            </a:extLst>
          </p:cNvPr>
          <p:cNvPicPr>
            <a:picLocks/>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796691" y="5658700"/>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360656A6-F571-EDFA-07F6-107957609DCA}"/>
              </a:ext>
            </a:extLst>
          </p:cNvPr>
          <p:cNvSpPr>
            <a:spLocks noGrp="1"/>
          </p:cNvSpPr>
          <p:nvPr>
            <p:ph sz="quarter" idx="14"/>
          </p:nvPr>
        </p:nvSpPr>
        <p:spPr>
          <a:xfrm>
            <a:off x="1379446" y="5633616"/>
            <a:ext cx="2349874"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Step response</a:t>
            </a:r>
          </a:p>
        </p:txBody>
      </p:sp>
    </p:spTree>
    <p:extLst>
      <p:ext uri="{BB962C8B-B14F-4D97-AF65-F5344CB8AC3E}">
        <p14:creationId xmlns:p14="http://schemas.microsoft.com/office/powerpoint/2010/main" val="1086865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24595"/>
            <a:ext cx="8229600" cy="1144347"/>
          </a:xfrm>
        </p:spPr>
        <p:txBody>
          <a:bodyPr/>
          <a:lstStyle/>
          <a:p>
            <a:r>
              <a:rPr lang="en-US" noProof="0" dirty="0"/>
              <a:t>Chapter 7 – Sequential Switching Problems </a:t>
            </a:r>
            <a:r>
              <a:rPr lang="en-US" sz="2800" noProof="0" dirty="0"/>
              <a:t>(10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55967"/>
            <a:ext cx="8232775" cy="1144347"/>
          </a:xfrm>
        </p:spPr>
        <p:txBody>
          <a:bodyPr wrap="square" lIns="0" tIns="18000" rIns="0" bIns="18000" anchor="ctr">
            <a:spAutoFit/>
          </a:bodyPr>
          <a:lstStyle/>
          <a:p>
            <a:pPr marL="0" indent="0">
              <a:spcBef>
                <a:spcPts val="600"/>
              </a:spcBef>
              <a:buNone/>
            </a:pPr>
            <a:r>
              <a:rPr lang="en-US" sz="2400" noProof="0" dirty="0"/>
              <a:t>Next, calculate the time constant for this time segment. To do this, find the equivalent resistance seen by the inductor for the circuit that exists in this time segment.</a:t>
            </a:r>
          </a:p>
        </p:txBody>
      </p:sp>
      <p:pic>
        <p:nvPicPr>
          <p:cNvPr id="2" name="Picture 2"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A 3 ohms resistor is located in the top wire between the wires for the 6 ohms resistor and the 150 milli Henry inductor. There is a discontinuity in the top wire of the circuit between wires where the 12 ohms and 6 ohms resistors are located.">
            <a:extLst>
              <a:ext uri="{FF2B5EF4-FFF2-40B4-BE49-F238E27FC236}">
                <a16:creationId xmlns:a16="http://schemas.microsoft.com/office/drawing/2014/main" id="{F1088795-2FF7-4C1F-705C-6991093F7F71}"/>
              </a:ext>
            </a:extLst>
          </p:cNvPr>
          <p:cNvPicPr>
            <a:picLocks noChangeAspect="1" noChangeArrowheads="1"/>
          </p:cNvPicPr>
          <p:nvPr/>
        </p:nvPicPr>
        <p:blipFill>
          <a:blip r:embed="rId2"/>
          <a:stretch>
            <a:fillRect/>
          </a:stretch>
        </p:blipFill>
        <p:spPr bwMode="auto">
          <a:xfrm>
            <a:off x="1994403" y="2781913"/>
            <a:ext cx="5228219" cy="1736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457325" y="4797099"/>
            <a:ext cx="371475"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t>
            </a:r>
          </a:p>
        </p:txBody>
      </p:sp>
      <p:graphicFrame>
        <p:nvGraphicFramePr>
          <p:cNvPr id="3" name="Object 2" descr="OpenParenthesis 6 plus 3 plus 18 CloseParenthesis Ohm.&#10;">
            <a:extLst>
              <a:ext uri="{FF2B5EF4-FFF2-40B4-BE49-F238E27FC236}">
                <a16:creationId xmlns:a16="http://schemas.microsoft.com/office/drawing/2014/main" id="{D73842C0-DBE3-7F8B-03C9-A47860731DB6}"/>
              </a:ext>
            </a:extLst>
          </p:cNvPr>
          <p:cNvGraphicFramePr>
            <a:graphicFrameLocks noChangeAspect="1"/>
          </p:cNvGraphicFramePr>
          <p:nvPr>
            <p:extLst>
              <p:ext uri="{D42A27DB-BD31-4B8C-83A1-F6EECF244321}">
                <p14:modId xmlns:p14="http://schemas.microsoft.com/office/powerpoint/2010/main" val="2497122340"/>
              </p:ext>
            </p:extLst>
          </p:nvPr>
        </p:nvGraphicFramePr>
        <p:xfrm>
          <a:off x="1922462" y="4833834"/>
          <a:ext cx="1770063" cy="385762"/>
        </p:xfrm>
        <a:graphic>
          <a:graphicData uri="http://schemas.openxmlformats.org/presentationml/2006/ole">
            <mc:AlternateContent xmlns:mc="http://schemas.openxmlformats.org/markup-compatibility/2006">
              <mc:Choice xmlns:v="urn:schemas-microsoft-com:vml" Requires="v">
                <p:oleObj name="Equation" r:id="rId3" imgW="927000" imgH="203040" progId="Equation.DSMT4">
                  <p:embed/>
                </p:oleObj>
              </mc:Choice>
              <mc:Fallback>
                <p:oleObj name="Equation" r:id="rId3" imgW="927000" imgH="203040" progId="Equation.DSMT4">
                  <p:embed/>
                  <p:pic>
                    <p:nvPicPr>
                      <p:cNvPr id="4" name="Object 3">
                        <a:extLst>
                          <a:ext uri="{FF2B5EF4-FFF2-40B4-BE49-F238E27FC236}">
                            <a16:creationId xmlns:a16="http://schemas.microsoft.com/office/drawing/2014/main" id="{52BFA8AC-E6F1-AEDC-A85C-991460BE3037}"/>
                          </a:ext>
                        </a:extLst>
                      </p:cNvPr>
                      <p:cNvPicPr>
                        <a:picLocks noChangeAspect="1" noChangeArrowheads="1"/>
                      </p:cNvPicPr>
                      <p:nvPr/>
                    </p:nvPicPr>
                    <p:blipFill>
                      <a:blip r:embed="rId4"/>
                      <a:srcRect/>
                      <a:stretch>
                        <a:fillRect/>
                      </a:stretch>
                    </p:blipFill>
                    <p:spPr bwMode="auto">
                      <a:xfrm>
                        <a:off x="1922462" y="4833834"/>
                        <a:ext cx="1770063" cy="385762"/>
                      </a:xfrm>
                      <a:prstGeom prst="rect">
                        <a:avLst/>
                      </a:prstGeom>
                      <a:noFill/>
                      <a:ln>
                        <a:noFill/>
                      </a:ln>
                      <a:effec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457325" y="5368950"/>
            <a:ext cx="40005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p>
        </p:txBody>
      </p:sp>
      <p:graphicFrame>
        <p:nvGraphicFramePr>
          <p:cNvPr id="4" name="Object 3" descr="open square bracket OpenParenthesis 4 parallel to 12 parallel to 6 CloseParenthesis plus 3 close square bracket Ohm.&#10;">
            <a:extLst>
              <a:ext uri="{FF2B5EF4-FFF2-40B4-BE49-F238E27FC236}">
                <a16:creationId xmlns:a16="http://schemas.microsoft.com/office/drawing/2014/main" id="{242BF61D-F919-D7F5-27F3-BCBD6BE11E0F}"/>
              </a:ext>
            </a:extLst>
          </p:cNvPr>
          <p:cNvGraphicFramePr>
            <a:graphicFrameLocks noChangeAspect="1"/>
          </p:cNvGraphicFramePr>
          <p:nvPr>
            <p:extLst>
              <p:ext uri="{D42A27DB-BD31-4B8C-83A1-F6EECF244321}">
                <p14:modId xmlns:p14="http://schemas.microsoft.com/office/powerpoint/2010/main" val="2520114737"/>
              </p:ext>
            </p:extLst>
          </p:nvPr>
        </p:nvGraphicFramePr>
        <p:xfrm>
          <a:off x="1922462" y="5398189"/>
          <a:ext cx="2327275" cy="385762"/>
        </p:xfrm>
        <a:graphic>
          <a:graphicData uri="http://schemas.openxmlformats.org/presentationml/2006/ole">
            <mc:AlternateContent xmlns:mc="http://schemas.openxmlformats.org/markup-compatibility/2006">
              <mc:Choice xmlns:v="urn:schemas-microsoft-com:vml" Requires="v">
                <p:oleObj name="Equation" r:id="rId5" imgW="1218960" imgH="203040" progId="Equation.DSMT4">
                  <p:embed/>
                </p:oleObj>
              </mc:Choice>
              <mc:Fallback>
                <p:oleObj name="Equation" r:id="rId5" imgW="1218960" imgH="203040" progId="Equation.DSMT4">
                  <p:embed/>
                  <p:pic>
                    <p:nvPicPr>
                      <p:cNvPr id="3" name="Object 2">
                        <a:extLst>
                          <a:ext uri="{FF2B5EF4-FFF2-40B4-BE49-F238E27FC236}">
                            <a16:creationId xmlns:a16="http://schemas.microsoft.com/office/drawing/2014/main" id="{D73842C0-DBE3-7F8B-03C9-A47860731DB6}"/>
                          </a:ext>
                        </a:extLst>
                      </p:cNvPr>
                      <p:cNvPicPr>
                        <a:picLocks noChangeAspect="1" noChangeArrowheads="1"/>
                      </p:cNvPicPr>
                      <p:nvPr/>
                    </p:nvPicPr>
                    <p:blipFill>
                      <a:blip r:embed="rId6"/>
                      <a:srcRect/>
                      <a:stretch>
                        <a:fillRect/>
                      </a:stretch>
                    </p:blipFill>
                    <p:spPr bwMode="auto">
                      <a:xfrm>
                        <a:off x="1922462" y="5398189"/>
                        <a:ext cx="2327275" cy="385762"/>
                      </a:xfrm>
                      <a:prstGeom prst="rect">
                        <a:avLst/>
                      </a:prstGeom>
                      <a:noFill/>
                      <a:ln>
                        <a:noFill/>
                      </a:ln>
                      <a:effec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447800" y="5931027"/>
            <a:ext cx="381000"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p>
        </p:txBody>
      </p:sp>
      <p:graphicFrame>
        <p:nvGraphicFramePr>
          <p:cNvPr id="5" name="Object 4" descr="open square bracket OpenParenthesis 6 plus 3 CloseParenthesis parallel to 18 close square bracket Ohm.&#10;">
            <a:extLst>
              <a:ext uri="{FF2B5EF4-FFF2-40B4-BE49-F238E27FC236}">
                <a16:creationId xmlns:a16="http://schemas.microsoft.com/office/drawing/2014/main" id="{2901E4B9-8D26-B50C-E255-2239AE0D50A8}"/>
              </a:ext>
            </a:extLst>
          </p:cNvPr>
          <p:cNvGraphicFramePr>
            <a:graphicFrameLocks noChangeAspect="1"/>
          </p:cNvGraphicFramePr>
          <p:nvPr>
            <p:extLst>
              <p:ext uri="{D42A27DB-BD31-4B8C-83A1-F6EECF244321}">
                <p14:modId xmlns:p14="http://schemas.microsoft.com/office/powerpoint/2010/main" val="3878257706"/>
              </p:ext>
            </p:extLst>
          </p:nvPr>
        </p:nvGraphicFramePr>
        <p:xfrm>
          <a:off x="1922462" y="5951538"/>
          <a:ext cx="1916112" cy="385762"/>
        </p:xfrm>
        <a:graphic>
          <a:graphicData uri="http://schemas.openxmlformats.org/presentationml/2006/ole">
            <mc:AlternateContent xmlns:mc="http://schemas.openxmlformats.org/markup-compatibility/2006">
              <mc:Choice xmlns:v="urn:schemas-microsoft-com:vml" Requires="v">
                <p:oleObj name="Equation" r:id="rId7" imgW="1002960" imgH="203040" progId="Equation.DSMT4">
                  <p:embed/>
                </p:oleObj>
              </mc:Choice>
              <mc:Fallback>
                <p:oleObj name="Equation" r:id="rId7" imgW="1002960" imgH="203040" progId="Equation.DSMT4">
                  <p:embed/>
                  <p:pic>
                    <p:nvPicPr>
                      <p:cNvPr id="4" name="Object 3">
                        <a:extLst>
                          <a:ext uri="{FF2B5EF4-FFF2-40B4-BE49-F238E27FC236}">
                            <a16:creationId xmlns:a16="http://schemas.microsoft.com/office/drawing/2014/main" id="{242BF61D-F919-D7F5-27F3-BCBD6BE11E0F}"/>
                          </a:ext>
                        </a:extLst>
                      </p:cNvPr>
                      <p:cNvPicPr>
                        <a:picLocks noChangeAspect="1" noChangeArrowheads="1"/>
                      </p:cNvPicPr>
                      <p:nvPr/>
                    </p:nvPicPr>
                    <p:blipFill>
                      <a:blip r:embed="rId8"/>
                      <a:srcRect/>
                      <a:stretch>
                        <a:fillRect/>
                      </a:stretch>
                    </p:blipFill>
                    <p:spPr bwMode="auto">
                      <a:xfrm>
                        <a:off x="1922462" y="5951538"/>
                        <a:ext cx="1916112" cy="38576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4516889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D3D4D-BC43-B450-1070-9B17AF74F93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B4C5689-C8D1-461F-3ADA-712059934DF3}"/>
              </a:ext>
            </a:extLst>
          </p:cNvPr>
          <p:cNvSpPr>
            <a:spLocks noGrp="1"/>
          </p:cNvSpPr>
          <p:nvPr>
            <p:ph type="title"/>
          </p:nvPr>
        </p:nvSpPr>
        <p:spPr>
          <a:xfrm>
            <a:off x="438150" y="224595"/>
            <a:ext cx="8229600" cy="1144347"/>
          </a:xfrm>
        </p:spPr>
        <p:txBody>
          <a:bodyPr/>
          <a:lstStyle/>
          <a:p>
            <a:r>
              <a:rPr lang="en-US" noProof="0" dirty="0"/>
              <a:t>Chapter 7 – Sequential Switching Problems </a:t>
            </a:r>
            <a:r>
              <a:rPr lang="en-US" sz="2800" noProof="0" dirty="0"/>
              <a:t>(10 of 22)</a:t>
            </a:r>
          </a:p>
        </p:txBody>
      </p:sp>
      <p:sp>
        <p:nvSpPr>
          <p:cNvPr id="7" name="Content Placeholder 6">
            <a:extLst>
              <a:ext uri="{FF2B5EF4-FFF2-40B4-BE49-F238E27FC236}">
                <a16:creationId xmlns:a16="http://schemas.microsoft.com/office/drawing/2014/main" id="{6EA0FE4F-A68F-309B-EA48-C635F8DC4F7A}"/>
              </a:ext>
            </a:extLst>
          </p:cNvPr>
          <p:cNvSpPr>
            <a:spLocks noGrp="1"/>
          </p:cNvSpPr>
          <p:nvPr>
            <p:ph sz="quarter" idx="12"/>
          </p:nvPr>
        </p:nvSpPr>
        <p:spPr>
          <a:xfrm>
            <a:off x="438150" y="1455967"/>
            <a:ext cx="8232775" cy="1144347"/>
          </a:xfrm>
        </p:spPr>
        <p:txBody>
          <a:bodyPr wrap="square" lIns="0" tIns="18000" rIns="0" bIns="18000" anchor="ctr">
            <a:spAutoFit/>
          </a:bodyPr>
          <a:lstStyle/>
          <a:p>
            <a:pPr marL="0" indent="0">
              <a:spcBef>
                <a:spcPts val="600"/>
              </a:spcBef>
              <a:buNone/>
            </a:pPr>
            <a:r>
              <a:rPr lang="en-US" sz="2400" noProof="0" dirty="0"/>
              <a:t>Next, calculate the time constant for this time segment. To do this, find the equivalent resistance seen by the inductor for the circuit that exists in this time segment.</a:t>
            </a:r>
          </a:p>
        </p:txBody>
      </p:sp>
      <p:pic>
        <p:nvPicPr>
          <p:cNvPr id="2" name="Picture 2"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A 3 ohms resistor is located in the top wire between the wires for the 6 ohms resistor and the 150 milli Henry inductor. There is a discontinuity in the top wire of the circuit between wires where the 12 ohms and 6 ohms resistors are located.">
            <a:extLst>
              <a:ext uri="{FF2B5EF4-FFF2-40B4-BE49-F238E27FC236}">
                <a16:creationId xmlns:a16="http://schemas.microsoft.com/office/drawing/2014/main" id="{BA452D0A-3D0F-C0BB-6971-AF15F4DCE410}"/>
              </a:ext>
            </a:extLst>
          </p:cNvPr>
          <p:cNvPicPr>
            <a:picLocks noChangeAspect="1" noChangeArrowheads="1"/>
          </p:cNvPicPr>
          <p:nvPr/>
        </p:nvPicPr>
        <p:blipFill>
          <a:blip r:embed="rId5"/>
          <a:stretch>
            <a:fillRect/>
          </a:stretch>
        </p:blipFill>
        <p:spPr bwMode="auto">
          <a:xfrm>
            <a:off x="1994403" y="2781913"/>
            <a:ext cx="5228219" cy="1736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1434" descr="Cross mark">
            <a:extLst>
              <a:ext uri="{FF2B5EF4-FFF2-40B4-BE49-F238E27FC236}">
                <a16:creationId xmlns:a16="http://schemas.microsoft.com/office/drawing/2014/main" id="{5D81304A-42F1-F384-BD25-3501E2C2DE6D}"/>
              </a:ext>
            </a:extLst>
          </p:cNvPr>
          <p:cNvPicPr>
            <a:picLocks/>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832829" y="4834459"/>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71E855C3-8F9D-136D-C866-90BD02B73CE7}"/>
              </a:ext>
            </a:extLst>
          </p:cNvPr>
          <p:cNvSpPr>
            <a:spLocks noGrp="1"/>
          </p:cNvSpPr>
          <p:nvPr>
            <p:ph sz="quarter" idx="13"/>
          </p:nvPr>
        </p:nvSpPr>
        <p:spPr>
          <a:xfrm>
            <a:off x="1457325" y="4797099"/>
            <a:ext cx="371475"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t>
            </a:r>
          </a:p>
        </p:txBody>
      </p:sp>
      <p:graphicFrame>
        <p:nvGraphicFramePr>
          <p:cNvPr id="3" name="Object 2" descr="OpenParenthesis 6 plus 3 plus 18 CloseParenthesis Ohm.&#10;">
            <a:extLst>
              <a:ext uri="{FF2B5EF4-FFF2-40B4-BE49-F238E27FC236}">
                <a16:creationId xmlns:a16="http://schemas.microsoft.com/office/drawing/2014/main" id="{9BEA31E1-76B6-C917-4770-B4AD9AE415D6}"/>
              </a:ext>
            </a:extLst>
          </p:cNvPr>
          <p:cNvGraphicFramePr>
            <a:graphicFrameLocks noChangeAspect="1"/>
          </p:cNvGraphicFramePr>
          <p:nvPr/>
        </p:nvGraphicFramePr>
        <p:xfrm>
          <a:off x="1922462" y="4833834"/>
          <a:ext cx="1770063" cy="385762"/>
        </p:xfrm>
        <a:graphic>
          <a:graphicData uri="http://schemas.openxmlformats.org/presentationml/2006/ole">
            <mc:AlternateContent xmlns:mc="http://schemas.openxmlformats.org/markup-compatibility/2006">
              <mc:Choice xmlns:v="urn:schemas-microsoft-com:vml" Requires="v">
                <p:oleObj name="Equation" r:id="rId7" imgW="927000" imgH="203040" progId="Equation.DSMT4">
                  <p:embed/>
                </p:oleObj>
              </mc:Choice>
              <mc:Fallback>
                <p:oleObj name="Equation" r:id="rId7" imgW="927000" imgH="203040" progId="Equation.DSMT4">
                  <p:embed/>
                  <p:pic>
                    <p:nvPicPr>
                      <p:cNvPr id="3" name="Object 2" descr="OpenParenthesis 6 plus 3 plus 18 CloseParenthesis Ohm.&#10;">
                        <a:extLst>
                          <a:ext uri="{FF2B5EF4-FFF2-40B4-BE49-F238E27FC236}">
                            <a16:creationId xmlns:a16="http://schemas.microsoft.com/office/drawing/2014/main" id="{D73842C0-DBE3-7F8B-03C9-A47860731DB6}"/>
                          </a:ext>
                        </a:extLst>
                      </p:cNvPr>
                      <p:cNvPicPr>
                        <a:picLocks noChangeAspect="1" noChangeArrowheads="1"/>
                      </p:cNvPicPr>
                      <p:nvPr/>
                    </p:nvPicPr>
                    <p:blipFill>
                      <a:blip r:embed="rId8"/>
                      <a:srcRect/>
                      <a:stretch>
                        <a:fillRect/>
                      </a:stretch>
                    </p:blipFill>
                    <p:spPr bwMode="auto">
                      <a:xfrm>
                        <a:off x="1922462" y="4833834"/>
                        <a:ext cx="1770063" cy="385762"/>
                      </a:xfrm>
                      <a:prstGeom prst="rect">
                        <a:avLst/>
                      </a:prstGeom>
                      <a:noFill/>
                      <a:ln>
                        <a:noFill/>
                      </a:ln>
                      <a:effectLst/>
                    </p:spPr>
                  </p:pic>
                </p:oleObj>
              </mc:Fallback>
            </mc:AlternateContent>
          </a:graphicData>
        </a:graphic>
      </p:graphicFrame>
      <p:pic>
        <p:nvPicPr>
          <p:cNvPr id="26" name="Picture 1436" descr="Cross mark">
            <a:extLst>
              <a:ext uri="{FF2B5EF4-FFF2-40B4-BE49-F238E27FC236}">
                <a16:creationId xmlns:a16="http://schemas.microsoft.com/office/drawing/2014/main" id="{245417A0-3AD8-AED6-2B17-811A05528CF8}"/>
              </a:ext>
            </a:extLst>
          </p:cNvPr>
          <p:cNvPicPr>
            <a:picLocks/>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832829" y="5406286"/>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CFC1551F-9FD8-4A51-E836-B66D80DDA056}"/>
              </a:ext>
            </a:extLst>
          </p:cNvPr>
          <p:cNvSpPr>
            <a:spLocks noGrp="1"/>
          </p:cNvSpPr>
          <p:nvPr>
            <p:ph sz="quarter" idx="14"/>
          </p:nvPr>
        </p:nvSpPr>
        <p:spPr>
          <a:xfrm>
            <a:off x="1457325" y="5368950"/>
            <a:ext cx="40005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p>
        </p:txBody>
      </p:sp>
      <p:graphicFrame>
        <p:nvGraphicFramePr>
          <p:cNvPr id="4" name="Object 3" descr="open square bracket OpenParenthesis 4 parallel to 12 parallel to 6 CloseParenthesis plus 3 close square bracket Ohm.&#10;">
            <a:extLst>
              <a:ext uri="{FF2B5EF4-FFF2-40B4-BE49-F238E27FC236}">
                <a16:creationId xmlns:a16="http://schemas.microsoft.com/office/drawing/2014/main" id="{2B35A7DE-8F60-48E7-233C-04684D596126}"/>
              </a:ext>
            </a:extLst>
          </p:cNvPr>
          <p:cNvGraphicFramePr>
            <a:graphicFrameLocks noChangeAspect="1"/>
          </p:cNvGraphicFramePr>
          <p:nvPr/>
        </p:nvGraphicFramePr>
        <p:xfrm>
          <a:off x="1922462" y="5398189"/>
          <a:ext cx="2327275" cy="385762"/>
        </p:xfrm>
        <a:graphic>
          <a:graphicData uri="http://schemas.openxmlformats.org/presentationml/2006/ole">
            <mc:AlternateContent xmlns:mc="http://schemas.openxmlformats.org/markup-compatibility/2006">
              <mc:Choice xmlns:v="urn:schemas-microsoft-com:vml" Requires="v">
                <p:oleObj name="Equation" r:id="rId9" imgW="1218960" imgH="203040" progId="Equation.DSMT4">
                  <p:embed/>
                </p:oleObj>
              </mc:Choice>
              <mc:Fallback>
                <p:oleObj name="Equation" r:id="rId9" imgW="1218960" imgH="203040" progId="Equation.DSMT4">
                  <p:embed/>
                  <p:pic>
                    <p:nvPicPr>
                      <p:cNvPr id="4" name="Object 3" descr="open square bracket OpenParenthesis 4 parallel to 12 parallel to 6 CloseParenthesis plus 3 close square bracket Ohm.&#10;">
                        <a:extLst>
                          <a:ext uri="{FF2B5EF4-FFF2-40B4-BE49-F238E27FC236}">
                            <a16:creationId xmlns:a16="http://schemas.microsoft.com/office/drawing/2014/main" id="{242BF61D-F919-D7F5-27F3-BCBD6BE11E0F}"/>
                          </a:ext>
                        </a:extLst>
                      </p:cNvPr>
                      <p:cNvPicPr>
                        <a:picLocks noChangeAspect="1" noChangeArrowheads="1"/>
                      </p:cNvPicPr>
                      <p:nvPr/>
                    </p:nvPicPr>
                    <p:blipFill>
                      <a:blip r:embed="rId10"/>
                      <a:srcRect/>
                      <a:stretch>
                        <a:fillRect/>
                      </a:stretch>
                    </p:blipFill>
                    <p:spPr bwMode="auto">
                      <a:xfrm>
                        <a:off x="1922462" y="5398189"/>
                        <a:ext cx="2327275" cy="385762"/>
                      </a:xfrm>
                      <a:prstGeom prst="rect">
                        <a:avLst/>
                      </a:prstGeom>
                      <a:noFill/>
                      <a:ln>
                        <a:noFill/>
                      </a:ln>
                      <a:effectLst/>
                    </p:spPr>
                  </p:pic>
                </p:oleObj>
              </mc:Fallback>
            </mc:AlternateContent>
          </a:graphicData>
        </a:graphic>
      </p:graphicFrame>
      <p:pic>
        <p:nvPicPr>
          <p:cNvPr id="27" name="Picture 1435" descr="Check mark">
            <a:extLst>
              <a:ext uri="{FF2B5EF4-FFF2-40B4-BE49-F238E27FC236}">
                <a16:creationId xmlns:a16="http://schemas.microsoft.com/office/drawing/2014/main" id="{EFABEEAE-1866-F6A3-2630-32762A60C8DE}"/>
              </a:ext>
            </a:extLst>
          </p:cNvPr>
          <p:cNvPicPr>
            <a:picLocks/>
          </p:cNvPicPr>
          <p:nvPr>
            <p:custDataLst>
              <p:tags r:id="rId3"/>
            </p:custDataLst>
          </p:nvPr>
        </p:nvPicPr>
        <p:blipFill>
          <a:blip r:embed="rId11">
            <a:extLst>
              <a:ext uri="{28A0092B-C50C-407E-A947-70E740481C1C}">
                <a14:useLocalDpi xmlns:a14="http://schemas.microsoft.com/office/drawing/2010/main" val="0"/>
              </a:ext>
            </a:extLst>
          </a:blip>
          <a:srcRect/>
          <a:stretch>
            <a:fillRect/>
          </a:stretch>
        </p:blipFill>
        <p:spPr bwMode="auto">
          <a:xfrm>
            <a:off x="831415" y="5962418"/>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0CC39B40-2771-AD73-5A3C-34147B10DD62}"/>
              </a:ext>
            </a:extLst>
          </p:cNvPr>
          <p:cNvSpPr>
            <a:spLocks noGrp="1"/>
          </p:cNvSpPr>
          <p:nvPr>
            <p:ph sz="quarter" idx="15"/>
          </p:nvPr>
        </p:nvSpPr>
        <p:spPr>
          <a:xfrm>
            <a:off x="1447800" y="5931027"/>
            <a:ext cx="381000"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p>
        </p:txBody>
      </p:sp>
      <p:graphicFrame>
        <p:nvGraphicFramePr>
          <p:cNvPr id="5" name="Object 4" descr="open square bracket OpenParenthesis 6 plus 3 CloseParenthesis parallel to 18 close square bracket Ohm.&#10;">
            <a:extLst>
              <a:ext uri="{FF2B5EF4-FFF2-40B4-BE49-F238E27FC236}">
                <a16:creationId xmlns:a16="http://schemas.microsoft.com/office/drawing/2014/main" id="{AE971FF9-CFDE-67ED-F751-66E1EB19F4BB}"/>
              </a:ext>
            </a:extLst>
          </p:cNvPr>
          <p:cNvGraphicFramePr>
            <a:graphicFrameLocks noChangeAspect="1"/>
          </p:cNvGraphicFramePr>
          <p:nvPr/>
        </p:nvGraphicFramePr>
        <p:xfrm>
          <a:off x="1922462" y="5951538"/>
          <a:ext cx="1916112" cy="385762"/>
        </p:xfrm>
        <a:graphic>
          <a:graphicData uri="http://schemas.openxmlformats.org/presentationml/2006/ole">
            <mc:AlternateContent xmlns:mc="http://schemas.openxmlformats.org/markup-compatibility/2006">
              <mc:Choice xmlns:v="urn:schemas-microsoft-com:vml" Requires="v">
                <p:oleObj name="Equation" r:id="rId12" imgW="1002960" imgH="203040" progId="Equation.DSMT4">
                  <p:embed/>
                </p:oleObj>
              </mc:Choice>
              <mc:Fallback>
                <p:oleObj name="Equation" r:id="rId12" imgW="1002960" imgH="203040" progId="Equation.DSMT4">
                  <p:embed/>
                  <p:pic>
                    <p:nvPicPr>
                      <p:cNvPr id="5" name="Object 4" descr="open square bracket OpenParenthesis 6 plus 3 CloseParenthesis parallel to 18 close square bracket Ohm.&#10;">
                        <a:extLst>
                          <a:ext uri="{FF2B5EF4-FFF2-40B4-BE49-F238E27FC236}">
                            <a16:creationId xmlns:a16="http://schemas.microsoft.com/office/drawing/2014/main" id="{2901E4B9-8D26-B50C-E255-2239AE0D50A8}"/>
                          </a:ext>
                        </a:extLst>
                      </p:cNvPr>
                      <p:cNvPicPr>
                        <a:picLocks noChangeAspect="1" noChangeArrowheads="1"/>
                      </p:cNvPicPr>
                      <p:nvPr/>
                    </p:nvPicPr>
                    <p:blipFill>
                      <a:blip r:embed="rId13"/>
                      <a:srcRect/>
                      <a:stretch>
                        <a:fillRect/>
                      </a:stretch>
                    </p:blipFill>
                    <p:spPr bwMode="auto">
                      <a:xfrm>
                        <a:off x="1922462" y="5951538"/>
                        <a:ext cx="1916112" cy="38576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451594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24595"/>
            <a:ext cx="8229600" cy="1144347"/>
          </a:xfrm>
        </p:spPr>
        <p:txBody>
          <a:bodyPr/>
          <a:lstStyle/>
          <a:p>
            <a:r>
              <a:rPr lang="en-US" noProof="0" dirty="0"/>
              <a:t>Chapter 7 – Sequential Switching Problems </a:t>
            </a:r>
            <a:r>
              <a:rPr lang="en-US" sz="2800" noProof="0" dirty="0"/>
              <a:t>(11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97697"/>
            <a:ext cx="4054475" cy="1575234"/>
          </a:xfrm>
        </p:spPr>
        <p:txBody>
          <a:bodyPr wrap="square" lIns="0" tIns="18000" rIns="0" bIns="18000" anchor="ctr">
            <a:spAutoFit/>
          </a:bodyPr>
          <a:lstStyle/>
          <a:p>
            <a:pPr marL="0" indent="0">
              <a:spcBef>
                <a:spcPts val="600"/>
              </a:spcBef>
              <a:buNone/>
            </a:pPr>
            <a:r>
              <a:rPr lang="en-US" sz="2000" noProof="0" dirty="0"/>
              <a:t>Both switches have been closed for a long time. At t = 0, switch 1 is opened and stays open. Switch 2 opens 35 m</a:t>
            </a:r>
            <a:r>
              <a:rPr lang="en-US" sz="100" noProof="0" dirty="0"/>
              <a:t> </a:t>
            </a:r>
            <a:r>
              <a:rPr lang="en-US" sz="2000" noProof="0" dirty="0"/>
              <a:t>s later and stays open. Find the expression for the voltage</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1" y="3122901"/>
            <a:ext cx="3105150" cy="344128"/>
          </a:xfrm>
        </p:spPr>
        <p:txBody>
          <a:bodyPr wrap="square" lIns="0" tIns="18000" rIns="0" bIns="18000" anchor="ctr">
            <a:spAutoFit/>
          </a:bodyPr>
          <a:lstStyle/>
          <a:p>
            <a:pPr marL="0" indent="0">
              <a:spcBef>
                <a:spcPts val="600"/>
              </a:spcBef>
              <a:buNone/>
            </a:pPr>
            <a:r>
              <a:rPr lang="en-US" sz="2000" noProof="0" dirty="0"/>
              <a:t>drop across the inductor for </a:t>
            </a:r>
          </a:p>
        </p:txBody>
      </p:sp>
      <p:graphicFrame>
        <p:nvGraphicFramePr>
          <p:cNvPr id="2" name="Object 1" descr="t is greater than or equal to 0 superscript plus.&#10;">
            <a:extLst>
              <a:ext uri="{FF2B5EF4-FFF2-40B4-BE49-F238E27FC236}">
                <a16:creationId xmlns:a16="http://schemas.microsoft.com/office/drawing/2014/main" id="{93E4FF26-08A5-C0B7-042C-2B65975DE6D3}"/>
              </a:ext>
            </a:extLst>
          </p:cNvPr>
          <p:cNvGraphicFramePr>
            <a:graphicFrameLocks noChangeAspect="1"/>
          </p:cNvGraphicFramePr>
          <p:nvPr>
            <p:extLst>
              <p:ext uri="{D42A27DB-BD31-4B8C-83A1-F6EECF244321}">
                <p14:modId xmlns:p14="http://schemas.microsoft.com/office/powerpoint/2010/main" val="35168175"/>
              </p:ext>
            </p:extLst>
          </p:nvPr>
        </p:nvGraphicFramePr>
        <p:xfrm>
          <a:off x="3608896" y="3122901"/>
          <a:ext cx="661240" cy="320124"/>
        </p:xfrm>
        <a:graphic>
          <a:graphicData uri="http://schemas.openxmlformats.org/presentationml/2006/ole">
            <mc:AlternateContent xmlns:mc="http://schemas.openxmlformats.org/markup-compatibility/2006">
              <mc:Choice xmlns:v="urn:schemas-microsoft-com:vml" Requires="v">
                <p:oleObj name="Equation" r:id="rId2" imgW="419040" imgH="203040" progId="Equation.DSMT4">
                  <p:embed/>
                </p:oleObj>
              </mc:Choice>
              <mc:Fallback>
                <p:oleObj name="Equation" r:id="rId2" imgW="419040" imgH="203040" progId="Equation.DSMT4">
                  <p:embed/>
                  <p:pic>
                    <p:nvPicPr>
                      <p:cNvPr id="2" name="Object 1">
                        <a:extLst>
                          <a:ext uri="{FF2B5EF4-FFF2-40B4-BE49-F238E27FC236}">
                            <a16:creationId xmlns:a16="http://schemas.microsoft.com/office/drawing/2014/main" id="{BEE20CF2-866B-0D02-D683-5D36B756F0C6}"/>
                          </a:ext>
                        </a:extLst>
                      </p:cNvPr>
                      <p:cNvPicPr>
                        <a:picLocks noChangeAspect="1" noChangeArrowheads="1"/>
                      </p:cNvPicPr>
                      <p:nvPr/>
                    </p:nvPicPr>
                    <p:blipFill>
                      <a:blip r:embed="rId3"/>
                      <a:srcRect/>
                      <a:stretch>
                        <a:fillRect/>
                      </a:stretch>
                    </p:blipFill>
                    <p:spPr bwMode="auto">
                      <a:xfrm>
                        <a:off x="3608896" y="3122901"/>
                        <a:ext cx="661240" cy="320124"/>
                      </a:xfrm>
                      <a:prstGeom prst="rect">
                        <a:avLst/>
                      </a:prstGeom>
                      <a:noFill/>
                      <a:ln>
                        <a:noFill/>
                      </a:ln>
                      <a:effectLst/>
                    </p:spPr>
                  </p:pic>
                </p:oleObj>
              </mc:Fallback>
            </mc:AlternateContent>
          </a:graphicData>
        </a:graphic>
      </p:graphicFrame>
      <p:pic>
        <p:nvPicPr>
          <p:cNvPr id="3" name="Picture 3"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Switch 1 is located in the top wire between the wires for the 12 ohm resistor and the 6 ohms resistor. A 3 ohms resistor is located in the top wire between the wires for the 6 ohms resistor and the 150 milli Henry inductor. Switch 2 is located in the top wire between the wires for the milli Henry inductor and the 18 ohms resistor. Switch 1 is opened when time t is zero. Switch 2 is opened when time t is 35 milli seconds. Voltage v subscript L exists across the 150 milli Henry inductor with positive polarity at the top node and negative polarity at the bottom. Current i subscript L flows through the 150 milli Henry inductor from the top node to the bottom node. ">
            <a:extLst>
              <a:ext uri="{FF2B5EF4-FFF2-40B4-BE49-F238E27FC236}">
                <a16:creationId xmlns:a16="http://schemas.microsoft.com/office/drawing/2014/main" id="{94D97086-EC59-388A-3820-9CBEE29A1377}"/>
              </a:ext>
            </a:extLst>
          </p:cNvPr>
          <p:cNvPicPr>
            <a:picLocks noChangeAspect="1" noChangeArrowheads="1"/>
          </p:cNvPicPr>
          <p:nvPr/>
        </p:nvPicPr>
        <p:blipFill>
          <a:blip r:embed="rId4"/>
          <a:srcRect/>
          <a:stretch/>
        </p:blipFill>
        <p:spPr bwMode="auto">
          <a:xfrm>
            <a:off x="4696769" y="1652166"/>
            <a:ext cx="3934985" cy="15672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3589626"/>
            <a:ext cx="4235958" cy="344128"/>
          </a:xfrm>
        </p:spPr>
        <p:txBody>
          <a:bodyPr wrap="square" lIns="0" tIns="18000" rIns="0" bIns="18000" anchor="ctr">
            <a:spAutoFit/>
          </a:bodyPr>
          <a:lstStyle/>
          <a:p>
            <a:pPr marL="342900" indent="-342900">
              <a:spcBef>
                <a:spcPts val="600"/>
              </a:spcBef>
            </a:pPr>
            <a:r>
              <a:rPr lang="en-US" sz="2000" noProof="0" dirty="0"/>
              <a:t>Analysis for the first time segment, </a:t>
            </a:r>
          </a:p>
        </p:txBody>
      </p:sp>
      <p:graphicFrame>
        <p:nvGraphicFramePr>
          <p:cNvPr id="4" name="Object 3" descr="0 is less than or equal to t is less than or equal to 35 milliseconds.&#10;">
            <a:extLst>
              <a:ext uri="{FF2B5EF4-FFF2-40B4-BE49-F238E27FC236}">
                <a16:creationId xmlns:a16="http://schemas.microsoft.com/office/drawing/2014/main" id="{2FE2CF9B-4BC6-CADD-EE64-194F6EFF79FF}"/>
              </a:ext>
            </a:extLst>
          </p:cNvPr>
          <p:cNvGraphicFramePr>
            <a:graphicFrameLocks noChangeAspect="1"/>
          </p:cNvGraphicFramePr>
          <p:nvPr>
            <p:extLst>
              <p:ext uri="{D42A27DB-BD31-4B8C-83A1-F6EECF244321}">
                <p14:modId xmlns:p14="http://schemas.microsoft.com/office/powerpoint/2010/main" val="3880754122"/>
              </p:ext>
            </p:extLst>
          </p:nvPr>
        </p:nvGraphicFramePr>
        <p:xfrm>
          <a:off x="4740783" y="3615909"/>
          <a:ext cx="1484313" cy="319087"/>
        </p:xfrm>
        <a:graphic>
          <a:graphicData uri="http://schemas.openxmlformats.org/presentationml/2006/ole">
            <mc:AlternateContent xmlns:mc="http://schemas.openxmlformats.org/markup-compatibility/2006">
              <mc:Choice xmlns:v="urn:schemas-microsoft-com:vml" Requires="v">
                <p:oleObj name="Equation" r:id="rId5" imgW="939600" imgH="203040" progId="Equation.DSMT4">
                  <p:embed/>
                </p:oleObj>
              </mc:Choice>
              <mc:Fallback>
                <p:oleObj name="Equation" r:id="rId5" imgW="939600" imgH="203040" progId="Equation.DSMT4">
                  <p:embed/>
                  <p:pic>
                    <p:nvPicPr>
                      <p:cNvPr id="4" name="Object 3">
                        <a:extLst>
                          <a:ext uri="{FF2B5EF4-FFF2-40B4-BE49-F238E27FC236}">
                            <a16:creationId xmlns:a16="http://schemas.microsoft.com/office/drawing/2014/main" id="{52BFA8AC-E6F1-AEDC-A85C-991460BE3037}"/>
                          </a:ext>
                        </a:extLst>
                      </p:cNvPr>
                      <p:cNvPicPr>
                        <a:picLocks noChangeAspect="1" noChangeArrowheads="1"/>
                      </p:cNvPicPr>
                      <p:nvPr/>
                    </p:nvPicPr>
                    <p:blipFill>
                      <a:blip r:embed="rId6"/>
                      <a:srcRect/>
                      <a:stretch>
                        <a:fillRect/>
                      </a:stretch>
                    </p:blipFill>
                    <p:spPr bwMode="auto">
                      <a:xfrm>
                        <a:off x="4740783" y="3615909"/>
                        <a:ext cx="1484313" cy="319087"/>
                      </a:xfrm>
                      <a:prstGeom prst="rect">
                        <a:avLst/>
                      </a:prstGeom>
                      <a:noFill/>
                      <a:ln>
                        <a:noFill/>
                      </a:ln>
                      <a:effec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0" y="4037301"/>
            <a:ext cx="4962525" cy="344128"/>
          </a:xfrm>
        </p:spPr>
        <p:txBody>
          <a:bodyPr wrap="square" lIns="0" tIns="18000" rIns="0" bIns="18000" anchor="ctr">
            <a:spAutoFit/>
          </a:bodyPr>
          <a:lstStyle/>
          <a:p>
            <a:pPr marL="829818" lvl="1" indent="-342900"/>
            <a:r>
              <a:rPr lang="en-US" sz="2000" noProof="0" dirty="0"/>
              <a:t>Step 3 – Calculate the time constant </a:t>
            </a:r>
          </a:p>
        </p:txBody>
      </p:sp>
      <p:graphicFrame>
        <p:nvGraphicFramePr>
          <p:cNvPr id="25" name="Object 24" descr="tau equals L divided by R.&#10;">
            <a:extLst>
              <a:ext uri="{FF2B5EF4-FFF2-40B4-BE49-F238E27FC236}">
                <a16:creationId xmlns:a16="http://schemas.microsoft.com/office/drawing/2014/main" id="{A1C30181-C336-A219-2BCD-1ABDE5E226B3}"/>
              </a:ext>
            </a:extLst>
          </p:cNvPr>
          <p:cNvGraphicFramePr>
            <a:graphicFrameLocks noChangeAspect="1"/>
          </p:cNvGraphicFramePr>
          <p:nvPr>
            <p:extLst>
              <p:ext uri="{D42A27DB-BD31-4B8C-83A1-F6EECF244321}">
                <p14:modId xmlns:p14="http://schemas.microsoft.com/office/powerpoint/2010/main" val="387272671"/>
              </p:ext>
            </p:extLst>
          </p:nvPr>
        </p:nvGraphicFramePr>
        <p:xfrm>
          <a:off x="5482939" y="4070459"/>
          <a:ext cx="860425" cy="277812"/>
        </p:xfrm>
        <a:graphic>
          <a:graphicData uri="http://schemas.openxmlformats.org/presentationml/2006/ole">
            <mc:AlternateContent xmlns:mc="http://schemas.openxmlformats.org/markup-compatibility/2006">
              <mc:Choice xmlns:v="urn:schemas-microsoft-com:vml" Requires="v">
                <p:oleObj name="Equation" r:id="rId7" imgW="545760" imgH="177480" progId="Equation.DSMT4">
                  <p:embed/>
                </p:oleObj>
              </mc:Choice>
              <mc:Fallback>
                <p:oleObj name="Equation" r:id="rId7" imgW="545760" imgH="177480" progId="Equation.DSMT4">
                  <p:embed/>
                  <p:pic>
                    <p:nvPicPr>
                      <p:cNvPr id="2" name="Object 1">
                        <a:extLst>
                          <a:ext uri="{FF2B5EF4-FFF2-40B4-BE49-F238E27FC236}">
                            <a16:creationId xmlns:a16="http://schemas.microsoft.com/office/drawing/2014/main" id="{93E4FF26-08A5-C0B7-042C-2B65975DE6D3}"/>
                          </a:ext>
                        </a:extLst>
                      </p:cNvPr>
                      <p:cNvPicPr>
                        <a:picLocks noChangeAspect="1" noChangeArrowheads="1"/>
                      </p:cNvPicPr>
                      <p:nvPr/>
                    </p:nvPicPr>
                    <p:blipFill>
                      <a:blip r:embed="rId8"/>
                      <a:srcRect/>
                      <a:stretch>
                        <a:fillRect/>
                      </a:stretch>
                    </p:blipFill>
                    <p:spPr bwMode="auto">
                      <a:xfrm>
                        <a:off x="5482939" y="4070459"/>
                        <a:ext cx="860425" cy="277812"/>
                      </a:xfrm>
                      <a:prstGeom prst="rect">
                        <a:avLst/>
                      </a:prstGeom>
                      <a:noFill/>
                      <a:ln>
                        <a:noFill/>
                      </a:ln>
                      <a:effectLst/>
                    </p:spPr>
                  </p:pic>
                </p:oleObj>
              </mc:Fallback>
            </mc:AlternateContent>
          </a:graphicData>
        </a:graphic>
      </p:graphicFrame>
      <p:graphicFrame>
        <p:nvGraphicFramePr>
          <p:cNvPr id="26" name="Object 25" descr="t is less than 0.&#10;">
            <a:extLst>
              <a:ext uri="{FF2B5EF4-FFF2-40B4-BE49-F238E27FC236}">
                <a16:creationId xmlns:a16="http://schemas.microsoft.com/office/drawing/2014/main" id="{FE75F296-2DEB-8098-A7C3-877288CFABA2}"/>
              </a:ext>
            </a:extLst>
          </p:cNvPr>
          <p:cNvGraphicFramePr>
            <a:graphicFrameLocks noChangeAspect="1"/>
          </p:cNvGraphicFramePr>
          <p:nvPr>
            <p:extLst>
              <p:ext uri="{D42A27DB-BD31-4B8C-83A1-F6EECF244321}">
                <p14:modId xmlns:p14="http://schemas.microsoft.com/office/powerpoint/2010/main" val="2267824475"/>
              </p:ext>
            </p:extLst>
          </p:nvPr>
        </p:nvGraphicFramePr>
        <p:xfrm>
          <a:off x="512916" y="4749193"/>
          <a:ext cx="563563" cy="279400"/>
        </p:xfrm>
        <a:graphic>
          <a:graphicData uri="http://schemas.openxmlformats.org/presentationml/2006/ole">
            <mc:AlternateContent xmlns:mc="http://schemas.openxmlformats.org/markup-compatibility/2006">
              <mc:Choice xmlns:v="urn:schemas-microsoft-com:vml" Requires="v">
                <p:oleObj name="Equation" r:id="rId9" imgW="355320" imgH="177480" progId="Equation.DSMT4">
                  <p:embed/>
                </p:oleObj>
              </mc:Choice>
              <mc:Fallback>
                <p:oleObj name="Equation" r:id="rId9" imgW="355320" imgH="177480" progId="Equation.DSMT4">
                  <p:embed/>
                  <p:pic>
                    <p:nvPicPr>
                      <p:cNvPr id="31" name="Object 30">
                        <a:extLst>
                          <a:ext uri="{FF2B5EF4-FFF2-40B4-BE49-F238E27FC236}">
                            <a16:creationId xmlns:a16="http://schemas.microsoft.com/office/drawing/2014/main" id="{151EAA2F-84D7-11CB-1694-D25FCE6711FF}"/>
                          </a:ext>
                        </a:extLst>
                      </p:cNvPr>
                      <p:cNvPicPr>
                        <a:picLocks noChangeAspect="1" noChangeArrowheads="1"/>
                      </p:cNvPicPr>
                      <p:nvPr/>
                    </p:nvPicPr>
                    <p:blipFill>
                      <a:blip r:embed="rId10"/>
                      <a:srcRect/>
                      <a:stretch>
                        <a:fillRect/>
                      </a:stretch>
                    </p:blipFill>
                    <p:spPr bwMode="auto">
                      <a:xfrm>
                        <a:off x="512916" y="4749193"/>
                        <a:ext cx="563563" cy="279400"/>
                      </a:xfrm>
                      <a:prstGeom prst="rect">
                        <a:avLst/>
                      </a:prstGeom>
                      <a:noFill/>
                      <a:ln>
                        <a:noFill/>
                      </a:ln>
                      <a:effectLst/>
                    </p:spPr>
                  </p:pic>
                </p:oleObj>
              </mc:Fallback>
            </mc:AlternateContent>
          </a:graphicData>
        </a:graphic>
      </p:graphicFrame>
      <p:pic>
        <p:nvPicPr>
          <p:cNvPr id="27" name="Picture 7"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A 3 ohms resistor is located in the top wire between the wires for the 6 ohms resistor and the 150 milli Henry inductor. There is a discontinuity in the top wire of the circuit between wires where the 12 ohms and 6 ohms resistors are located.">
            <a:extLst>
              <a:ext uri="{FF2B5EF4-FFF2-40B4-BE49-F238E27FC236}">
                <a16:creationId xmlns:a16="http://schemas.microsoft.com/office/drawing/2014/main" id="{CAAC61C0-F47E-AD7A-8C58-EBA7EA88660E}"/>
              </a:ext>
            </a:extLst>
          </p:cNvPr>
          <p:cNvPicPr>
            <a:picLocks noChangeAspect="1" noChangeArrowheads="1"/>
          </p:cNvPicPr>
          <p:nvPr/>
        </p:nvPicPr>
        <p:blipFill>
          <a:blip r:embed="rId11"/>
          <a:stretch>
            <a:fillRect/>
          </a:stretch>
        </p:blipFill>
        <p:spPr bwMode="auto">
          <a:xfrm>
            <a:off x="1208692" y="4686021"/>
            <a:ext cx="4274247" cy="1419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8" name="Object 27" descr="R subscript e q baseline equals OpenParenthesis 6 plus 3 CloseParenthesis parallel to 18.&#10;">
            <a:extLst>
              <a:ext uri="{FF2B5EF4-FFF2-40B4-BE49-F238E27FC236}">
                <a16:creationId xmlns:a16="http://schemas.microsoft.com/office/drawing/2014/main" id="{0F0C1595-3CC2-9E01-DCAB-2CE6EDCCCF59}"/>
              </a:ext>
            </a:extLst>
          </p:cNvPr>
          <p:cNvGraphicFramePr>
            <a:graphicFrameLocks noChangeAspect="1"/>
          </p:cNvGraphicFramePr>
          <p:nvPr>
            <p:extLst>
              <p:ext uri="{D42A27DB-BD31-4B8C-83A1-F6EECF244321}">
                <p14:modId xmlns:p14="http://schemas.microsoft.com/office/powerpoint/2010/main" val="2649799647"/>
              </p:ext>
            </p:extLst>
          </p:nvPr>
        </p:nvGraphicFramePr>
        <p:xfrm>
          <a:off x="6186996" y="4524881"/>
          <a:ext cx="1801812" cy="381000"/>
        </p:xfrm>
        <a:graphic>
          <a:graphicData uri="http://schemas.openxmlformats.org/presentationml/2006/ole">
            <mc:AlternateContent xmlns:mc="http://schemas.openxmlformats.org/markup-compatibility/2006">
              <mc:Choice xmlns:v="urn:schemas-microsoft-com:vml" Requires="v">
                <p:oleObj name="Equation" r:id="rId12" imgW="1143000" imgH="241200" progId="Equation.DSMT4">
                  <p:embed/>
                </p:oleObj>
              </mc:Choice>
              <mc:Fallback>
                <p:oleObj name="Equation" r:id="rId12" imgW="1143000" imgH="241200" progId="Equation.DSMT4">
                  <p:embed/>
                  <p:pic>
                    <p:nvPicPr>
                      <p:cNvPr id="7" name="Object 6"/>
                      <p:cNvPicPr>
                        <a:picLocks noChangeAspect="1" noChangeArrowheads="1"/>
                      </p:cNvPicPr>
                      <p:nvPr/>
                    </p:nvPicPr>
                    <p:blipFill>
                      <a:blip r:embed="rId13"/>
                      <a:srcRect/>
                      <a:stretch>
                        <a:fillRect/>
                      </a:stretch>
                    </p:blipFill>
                    <p:spPr bwMode="auto">
                      <a:xfrm>
                        <a:off x="6186996" y="4524881"/>
                        <a:ext cx="18018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28" descr="equals 9 parallel to 18 equals 6 Ohms.&#10;">
            <a:extLst>
              <a:ext uri="{FF2B5EF4-FFF2-40B4-BE49-F238E27FC236}">
                <a16:creationId xmlns:a16="http://schemas.microsoft.com/office/drawing/2014/main" id="{6476BDB9-8D23-5801-22AC-F9959FC25FB5}"/>
              </a:ext>
            </a:extLst>
          </p:cNvPr>
          <p:cNvGraphicFramePr>
            <a:graphicFrameLocks noChangeAspect="1"/>
          </p:cNvGraphicFramePr>
          <p:nvPr>
            <p:extLst>
              <p:ext uri="{D42A27DB-BD31-4B8C-83A1-F6EECF244321}">
                <p14:modId xmlns:p14="http://schemas.microsoft.com/office/powerpoint/2010/main" val="3120659906"/>
              </p:ext>
            </p:extLst>
          </p:nvPr>
        </p:nvGraphicFramePr>
        <p:xfrm>
          <a:off x="6616636" y="5010151"/>
          <a:ext cx="1441450" cy="322263"/>
        </p:xfrm>
        <a:graphic>
          <a:graphicData uri="http://schemas.openxmlformats.org/presentationml/2006/ole">
            <mc:AlternateContent xmlns:mc="http://schemas.openxmlformats.org/markup-compatibility/2006">
              <mc:Choice xmlns:v="urn:schemas-microsoft-com:vml" Requires="v">
                <p:oleObj name="Equation" r:id="rId14" imgW="914400" imgH="203040" progId="Equation.DSMT4">
                  <p:embed/>
                </p:oleObj>
              </mc:Choice>
              <mc:Fallback>
                <p:oleObj name="Equation" r:id="rId14" imgW="914400" imgH="203040" progId="Equation.DSMT4">
                  <p:embed/>
                  <p:pic>
                    <p:nvPicPr>
                      <p:cNvPr id="28" name="Object 27">
                        <a:extLst>
                          <a:ext uri="{FF2B5EF4-FFF2-40B4-BE49-F238E27FC236}">
                            <a16:creationId xmlns:a16="http://schemas.microsoft.com/office/drawing/2014/main" id="{0F0C1595-3CC2-9E01-DCAB-2CE6EDCCCF59}"/>
                          </a:ext>
                        </a:extLst>
                      </p:cNvPr>
                      <p:cNvPicPr>
                        <a:picLocks noChangeAspect="1" noChangeArrowheads="1"/>
                      </p:cNvPicPr>
                      <p:nvPr/>
                    </p:nvPicPr>
                    <p:blipFill>
                      <a:blip r:embed="rId15"/>
                      <a:srcRect/>
                      <a:stretch>
                        <a:fillRect/>
                      </a:stretch>
                    </p:blipFill>
                    <p:spPr bwMode="auto">
                      <a:xfrm>
                        <a:off x="6616636" y="5010151"/>
                        <a:ext cx="1441450" cy="322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29" descr="tau equals L divided by R subscript e q baseline equals 0.15 divided by 6.&#10;">
            <a:extLst>
              <a:ext uri="{FF2B5EF4-FFF2-40B4-BE49-F238E27FC236}">
                <a16:creationId xmlns:a16="http://schemas.microsoft.com/office/drawing/2014/main" id="{135CB03E-9EAA-6611-C98E-AF19BD16CC9E}"/>
              </a:ext>
            </a:extLst>
          </p:cNvPr>
          <p:cNvGraphicFramePr>
            <a:graphicFrameLocks noChangeAspect="1"/>
          </p:cNvGraphicFramePr>
          <p:nvPr>
            <p:extLst>
              <p:ext uri="{D42A27DB-BD31-4B8C-83A1-F6EECF244321}">
                <p14:modId xmlns:p14="http://schemas.microsoft.com/office/powerpoint/2010/main" val="3876293985"/>
              </p:ext>
            </p:extLst>
          </p:nvPr>
        </p:nvGraphicFramePr>
        <p:xfrm>
          <a:off x="6225096" y="5408352"/>
          <a:ext cx="1962150" cy="381000"/>
        </p:xfrm>
        <a:graphic>
          <a:graphicData uri="http://schemas.openxmlformats.org/presentationml/2006/ole">
            <mc:AlternateContent xmlns:mc="http://schemas.openxmlformats.org/markup-compatibility/2006">
              <mc:Choice xmlns:v="urn:schemas-microsoft-com:vml" Requires="v">
                <p:oleObj name="Equation" r:id="rId16" imgW="1244520" imgH="241200" progId="Equation.DSMT4">
                  <p:embed/>
                </p:oleObj>
              </mc:Choice>
              <mc:Fallback>
                <p:oleObj name="Equation" r:id="rId16" imgW="1244520" imgH="241200" progId="Equation.DSMT4">
                  <p:embed/>
                  <p:pic>
                    <p:nvPicPr>
                      <p:cNvPr id="29" name="Object 28">
                        <a:extLst>
                          <a:ext uri="{FF2B5EF4-FFF2-40B4-BE49-F238E27FC236}">
                            <a16:creationId xmlns:a16="http://schemas.microsoft.com/office/drawing/2014/main" id="{6476BDB9-8D23-5801-22AC-F9959FC25FB5}"/>
                          </a:ext>
                        </a:extLst>
                      </p:cNvPr>
                      <p:cNvPicPr>
                        <a:picLocks noChangeAspect="1" noChangeArrowheads="1"/>
                      </p:cNvPicPr>
                      <p:nvPr/>
                    </p:nvPicPr>
                    <p:blipFill>
                      <a:blip r:embed="rId17"/>
                      <a:srcRect/>
                      <a:stretch>
                        <a:fillRect/>
                      </a:stretch>
                    </p:blipFill>
                    <p:spPr bwMode="auto">
                      <a:xfrm>
                        <a:off x="6225096" y="5408352"/>
                        <a:ext cx="19621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30" descr="equals 0.025 seconds.&#10;">
            <a:extLst>
              <a:ext uri="{FF2B5EF4-FFF2-40B4-BE49-F238E27FC236}">
                <a16:creationId xmlns:a16="http://schemas.microsoft.com/office/drawing/2014/main" id="{6237E8B1-E7CF-EACE-2D54-DB035D7019A4}"/>
              </a:ext>
            </a:extLst>
          </p:cNvPr>
          <p:cNvGraphicFramePr>
            <a:graphicFrameLocks noChangeAspect="1"/>
          </p:cNvGraphicFramePr>
          <p:nvPr>
            <p:extLst>
              <p:ext uri="{D42A27DB-BD31-4B8C-83A1-F6EECF244321}">
                <p14:modId xmlns:p14="http://schemas.microsoft.com/office/powerpoint/2010/main" val="4034080287"/>
              </p:ext>
            </p:extLst>
          </p:nvPr>
        </p:nvGraphicFramePr>
        <p:xfrm>
          <a:off x="6732588" y="5920038"/>
          <a:ext cx="1062037" cy="279400"/>
        </p:xfrm>
        <a:graphic>
          <a:graphicData uri="http://schemas.openxmlformats.org/presentationml/2006/ole">
            <mc:AlternateContent xmlns:mc="http://schemas.openxmlformats.org/markup-compatibility/2006">
              <mc:Choice xmlns:v="urn:schemas-microsoft-com:vml" Requires="v">
                <p:oleObj name="Equation" r:id="rId18" imgW="672840" imgH="177480" progId="Equation.DSMT4">
                  <p:embed/>
                </p:oleObj>
              </mc:Choice>
              <mc:Fallback>
                <p:oleObj name="Equation" r:id="rId18" imgW="672840" imgH="177480" progId="Equation.DSMT4">
                  <p:embed/>
                  <p:pic>
                    <p:nvPicPr>
                      <p:cNvPr id="30" name="Object 29">
                        <a:extLst>
                          <a:ext uri="{FF2B5EF4-FFF2-40B4-BE49-F238E27FC236}">
                            <a16:creationId xmlns:a16="http://schemas.microsoft.com/office/drawing/2014/main" id="{135CB03E-9EAA-6611-C98E-AF19BD16CC9E}"/>
                          </a:ext>
                        </a:extLst>
                      </p:cNvPr>
                      <p:cNvPicPr>
                        <a:picLocks noChangeAspect="1" noChangeArrowheads="1"/>
                      </p:cNvPicPr>
                      <p:nvPr/>
                    </p:nvPicPr>
                    <p:blipFill>
                      <a:blip r:embed="rId19"/>
                      <a:srcRect/>
                      <a:stretch>
                        <a:fillRect/>
                      </a:stretch>
                    </p:blipFill>
                    <p:spPr bwMode="auto">
                      <a:xfrm>
                        <a:off x="6732588" y="5920038"/>
                        <a:ext cx="1062037" cy="27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87958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6190"/>
            <a:ext cx="8229600" cy="1144347"/>
          </a:xfrm>
        </p:spPr>
        <p:txBody>
          <a:bodyPr/>
          <a:lstStyle/>
          <a:p>
            <a:r>
              <a:rPr lang="en-US" noProof="0" dirty="0"/>
              <a:t>Chapter 7 – Sequential Switching Problems </a:t>
            </a:r>
            <a:r>
              <a:rPr lang="en-US" sz="2800" noProof="0" dirty="0"/>
              <a:t>(12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01061"/>
            <a:ext cx="4054475" cy="1575234"/>
          </a:xfrm>
        </p:spPr>
        <p:txBody>
          <a:bodyPr lIns="0" tIns="18000" rIns="0" bIns="18000" anchor="ctr">
            <a:spAutoFit/>
          </a:bodyPr>
          <a:lstStyle/>
          <a:p>
            <a:pPr marL="0" indent="0">
              <a:spcBef>
                <a:spcPts val="600"/>
              </a:spcBef>
              <a:buNone/>
            </a:pPr>
            <a:r>
              <a:rPr lang="en-US" sz="2000" noProof="0" dirty="0"/>
              <a:t>Both switches have been closed for a long time. At t = 0, switch 1 is opened and stays open. Switch 2 opens 35 m</a:t>
            </a:r>
            <a:r>
              <a:rPr lang="en-US" sz="100" noProof="0" dirty="0"/>
              <a:t> </a:t>
            </a:r>
            <a:r>
              <a:rPr lang="en-US" sz="2000" noProof="0" dirty="0"/>
              <a:t>s later and stays open. Find the expression for the voltage</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1" y="3119431"/>
            <a:ext cx="3093944" cy="344128"/>
          </a:xfrm>
        </p:spPr>
        <p:txBody>
          <a:bodyPr wrap="square" lIns="0" tIns="18000" rIns="0" bIns="18000" anchor="ctr">
            <a:spAutoFit/>
          </a:bodyPr>
          <a:lstStyle/>
          <a:p>
            <a:pPr marL="0" indent="0">
              <a:spcBef>
                <a:spcPts val="600"/>
              </a:spcBef>
              <a:buNone/>
            </a:pPr>
            <a:r>
              <a:rPr lang="en-US" sz="2000" noProof="0" dirty="0"/>
              <a:t>drop across the inductor for </a:t>
            </a:r>
          </a:p>
        </p:txBody>
      </p:sp>
      <p:graphicFrame>
        <p:nvGraphicFramePr>
          <p:cNvPr id="4" name="Object 3" descr="t is greater than or equal to 0 superscript plus.&#10;">
            <a:extLst>
              <a:ext uri="{FF2B5EF4-FFF2-40B4-BE49-F238E27FC236}">
                <a16:creationId xmlns:a16="http://schemas.microsoft.com/office/drawing/2014/main" id="{D40CD4D5-52C1-F2E8-CE5A-52599870154B}"/>
              </a:ext>
            </a:extLst>
          </p:cNvPr>
          <p:cNvGraphicFramePr>
            <a:graphicFrameLocks noChangeAspect="1"/>
          </p:cNvGraphicFramePr>
          <p:nvPr>
            <p:extLst>
              <p:ext uri="{D42A27DB-BD31-4B8C-83A1-F6EECF244321}">
                <p14:modId xmlns:p14="http://schemas.microsoft.com/office/powerpoint/2010/main" val="4170215950"/>
              </p:ext>
            </p:extLst>
          </p:nvPr>
        </p:nvGraphicFramePr>
        <p:xfrm>
          <a:off x="3608896" y="3140831"/>
          <a:ext cx="661240" cy="320124"/>
        </p:xfrm>
        <a:graphic>
          <a:graphicData uri="http://schemas.openxmlformats.org/presentationml/2006/ole">
            <mc:AlternateContent xmlns:mc="http://schemas.openxmlformats.org/markup-compatibility/2006">
              <mc:Choice xmlns:v="urn:schemas-microsoft-com:vml" Requires="v">
                <p:oleObj name="Equation" r:id="rId2" imgW="419040" imgH="203040" progId="Equation.DSMT4">
                  <p:embed/>
                </p:oleObj>
              </mc:Choice>
              <mc:Fallback>
                <p:oleObj name="Equation" r:id="rId2" imgW="419040" imgH="203040" progId="Equation.DSMT4">
                  <p:embed/>
                  <p:pic>
                    <p:nvPicPr>
                      <p:cNvPr id="2" name="Object 1">
                        <a:extLst>
                          <a:ext uri="{FF2B5EF4-FFF2-40B4-BE49-F238E27FC236}">
                            <a16:creationId xmlns:a16="http://schemas.microsoft.com/office/drawing/2014/main" id="{93E4FF26-08A5-C0B7-042C-2B65975DE6D3}"/>
                          </a:ext>
                        </a:extLst>
                      </p:cNvPr>
                      <p:cNvPicPr>
                        <a:picLocks noChangeAspect="1" noChangeArrowheads="1"/>
                      </p:cNvPicPr>
                      <p:nvPr/>
                    </p:nvPicPr>
                    <p:blipFill>
                      <a:blip r:embed="rId3"/>
                      <a:srcRect/>
                      <a:stretch>
                        <a:fillRect/>
                      </a:stretch>
                    </p:blipFill>
                    <p:spPr bwMode="auto">
                      <a:xfrm>
                        <a:off x="3608896" y="3140831"/>
                        <a:ext cx="661240" cy="320124"/>
                      </a:xfrm>
                      <a:prstGeom prst="rect">
                        <a:avLst/>
                      </a:prstGeom>
                      <a:noFill/>
                      <a:ln>
                        <a:noFill/>
                      </a:ln>
                      <a:effectLst/>
                    </p:spPr>
                  </p:pic>
                </p:oleObj>
              </mc:Fallback>
            </mc:AlternateContent>
          </a:graphicData>
        </a:graphic>
      </p:graphicFrame>
      <p:pic>
        <p:nvPicPr>
          <p:cNvPr id="2" name="Picture 4"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Switch 1 is located in the top wire between the wires for the 12 ohm resistor and the 6 ohms resistor. A 3 ohms resistor is located in the top wire between the wires for the 6 ohms resistor and the 150 milli Henry inductor. Switch 2 is located in the top wire between the wires for the milli Henry inductor and the 18 ohms resistor. Switch 1 is opened when time t is zero. Switch 2 is opened when time t is 35 milli seconds. Voltage v subscript L exists across the 150 milli Henry inductor with positive polarity at the top node and negative polarity at the bottom. Current i subscript L flows through the 150 milli Henry inductor from the top node to the bottom node. ">
            <a:extLst>
              <a:ext uri="{FF2B5EF4-FFF2-40B4-BE49-F238E27FC236}">
                <a16:creationId xmlns:a16="http://schemas.microsoft.com/office/drawing/2014/main" id="{A15195DE-2837-DB72-E5D9-C7DCE3CEF867}"/>
              </a:ext>
            </a:extLst>
          </p:cNvPr>
          <p:cNvPicPr>
            <a:picLocks noChangeAspect="1" noChangeArrowheads="1"/>
          </p:cNvPicPr>
          <p:nvPr/>
        </p:nvPicPr>
        <p:blipFill>
          <a:blip r:embed="rId4"/>
          <a:srcRect/>
          <a:stretch/>
        </p:blipFill>
        <p:spPr bwMode="auto">
          <a:xfrm>
            <a:off x="4660911" y="1503968"/>
            <a:ext cx="3938163" cy="1568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3522948"/>
            <a:ext cx="4311598" cy="344128"/>
          </a:xfrm>
        </p:spPr>
        <p:txBody>
          <a:bodyPr wrap="square" lIns="0" tIns="18000" rIns="0" bIns="18000" anchor="ctr">
            <a:spAutoFit/>
          </a:bodyPr>
          <a:lstStyle/>
          <a:p>
            <a:pPr marL="342900" indent="-342900">
              <a:spcBef>
                <a:spcPts val="600"/>
              </a:spcBef>
            </a:pPr>
            <a:r>
              <a:rPr lang="en-US" sz="2000" noProof="0" dirty="0"/>
              <a:t>Analysis for the first time segment, </a:t>
            </a:r>
          </a:p>
        </p:txBody>
      </p:sp>
      <p:graphicFrame>
        <p:nvGraphicFramePr>
          <p:cNvPr id="3" name="Object 2" descr="0 is less than or equal to t is less than or equal to 35 milliseconds.&#10;">
            <a:extLst>
              <a:ext uri="{FF2B5EF4-FFF2-40B4-BE49-F238E27FC236}">
                <a16:creationId xmlns:a16="http://schemas.microsoft.com/office/drawing/2014/main" id="{5BCA299A-6266-83C5-4056-08C7767E943A}"/>
              </a:ext>
            </a:extLst>
          </p:cNvPr>
          <p:cNvGraphicFramePr>
            <a:graphicFrameLocks noChangeAspect="1"/>
          </p:cNvGraphicFramePr>
          <p:nvPr>
            <p:extLst>
              <p:ext uri="{D42A27DB-BD31-4B8C-83A1-F6EECF244321}">
                <p14:modId xmlns:p14="http://schemas.microsoft.com/office/powerpoint/2010/main" val="2454619968"/>
              </p:ext>
            </p:extLst>
          </p:nvPr>
        </p:nvGraphicFramePr>
        <p:xfrm>
          <a:off x="4821466" y="3553218"/>
          <a:ext cx="1484313" cy="319087"/>
        </p:xfrm>
        <a:graphic>
          <a:graphicData uri="http://schemas.openxmlformats.org/presentationml/2006/ole">
            <mc:AlternateContent xmlns:mc="http://schemas.openxmlformats.org/markup-compatibility/2006">
              <mc:Choice xmlns:v="urn:schemas-microsoft-com:vml" Requires="v">
                <p:oleObj name="Equation" r:id="rId5" imgW="939600" imgH="203040" progId="Equation.DSMT4">
                  <p:embed/>
                </p:oleObj>
              </mc:Choice>
              <mc:Fallback>
                <p:oleObj name="Equation" r:id="rId5" imgW="939600" imgH="203040" progId="Equation.DSMT4">
                  <p:embed/>
                  <p:pic>
                    <p:nvPicPr>
                      <p:cNvPr id="4" name="Object 3">
                        <a:extLst>
                          <a:ext uri="{FF2B5EF4-FFF2-40B4-BE49-F238E27FC236}">
                            <a16:creationId xmlns:a16="http://schemas.microsoft.com/office/drawing/2014/main" id="{2FE2CF9B-4BC6-CADD-EE64-194F6EFF79FF}"/>
                          </a:ext>
                        </a:extLst>
                      </p:cNvPr>
                      <p:cNvPicPr>
                        <a:picLocks noChangeAspect="1" noChangeArrowheads="1"/>
                      </p:cNvPicPr>
                      <p:nvPr/>
                    </p:nvPicPr>
                    <p:blipFill>
                      <a:blip r:embed="rId6"/>
                      <a:srcRect/>
                      <a:stretch>
                        <a:fillRect/>
                      </a:stretch>
                    </p:blipFill>
                    <p:spPr bwMode="auto">
                      <a:xfrm>
                        <a:off x="4821466" y="3553218"/>
                        <a:ext cx="1484313" cy="319087"/>
                      </a:xfrm>
                      <a:prstGeom prst="rect">
                        <a:avLst/>
                      </a:prstGeom>
                      <a:noFill/>
                      <a:ln>
                        <a:noFill/>
                      </a:ln>
                      <a:effec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0" y="3924116"/>
            <a:ext cx="4546226" cy="344128"/>
          </a:xfrm>
        </p:spPr>
        <p:txBody>
          <a:bodyPr wrap="square" lIns="0" tIns="18000" rIns="0" bIns="18000" anchor="ctr">
            <a:spAutoFit/>
          </a:bodyPr>
          <a:lstStyle/>
          <a:p>
            <a:pPr marL="829818" lvl="1" indent="-342900"/>
            <a:r>
              <a:rPr lang="en-US" sz="2000" noProof="0" dirty="0"/>
              <a:t>Step 4 – Calculate the final value </a:t>
            </a:r>
          </a:p>
        </p:txBody>
      </p:sp>
      <p:graphicFrame>
        <p:nvGraphicFramePr>
          <p:cNvPr id="5" name="Object 4" descr="I subscript f.&#10;">
            <a:extLst>
              <a:ext uri="{FF2B5EF4-FFF2-40B4-BE49-F238E27FC236}">
                <a16:creationId xmlns:a16="http://schemas.microsoft.com/office/drawing/2014/main" id="{6EA9CCBD-AB74-9E8C-B453-CB4021DD0638}"/>
              </a:ext>
            </a:extLst>
          </p:cNvPr>
          <p:cNvGraphicFramePr>
            <a:graphicFrameLocks noChangeAspect="1"/>
          </p:cNvGraphicFramePr>
          <p:nvPr>
            <p:extLst>
              <p:ext uri="{D42A27DB-BD31-4B8C-83A1-F6EECF244321}">
                <p14:modId xmlns:p14="http://schemas.microsoft.com/office/powerpoint/2010/main" val="2316733839"/>
              </p:ext>
            </p:extLst>
          </p:nvPr>
        </p:nvGraphicFramePr>
        <p:xfrm>
          <a:off x="5082890" y="3965725"/>
          <a:ext cx="235238" cy="326159"/>
        </p:xfrm>
        <a:graphic>
          <a:graphicData uri="http://schemas.openxmlformats.org/presentationml/2006/ole">
            <mc:AlternateContent xmlns:mc="http://schemas.openxmlformats.org/markup-compatibility/2006">
              <mc:Choice xmlns:v="urn:schemas-microsoft-com:vml" Requires="v">
                <p:oleObj name="Equation" r:id="rId7" imgW="164880" imgH="228600" progId="Equation.DSMT4">
                  <p:embed/>
                </p:oleObj>
              </mc:Choice>
              <mc:Fallback>
                <p:oleObj name="Equation" r:id="rId7" imgW="164880" imgH="228600" progId="Equation.DSMT4">
                  <p:embed/>
                  <p:pic>
                    <p:nvPicPr>
                      <p:cNvPr id="3" name="Object 2">
                        <a:extLst>
                          <a:ext uri="{FF2B5EF4-FFF2-40B4-BE49-F238E27FC236}">
                            <a16:creationId xmlns:a16="http://schemas.microsoft.com/office/drawing/2014/main" id="{C018557C-6EB5-0F29-5A74-AA2C363DF9F8}"/>
                          </a:ext>
                        </a:extLst>
                      </p:cNvPr>
                      <p:cNvPicPr>
                        <a:picLocks noChangeAspect="1" noChangeArrowheads="1"/>
                      </p:cNvPicPr>
                      <p:nvPr/>
                    </p:nvPicPr>
                    <p:blipFill>
                      <a:blip r:embed="rId8"/>
                      <a:srcRect/>
                      <a:stretch>
                        <a:fillRect/>
                      </a:stretch>
                    </p:blipFill>
                    <p:spPr bwMode="auto">
                      <a:xfrm>
                        <a:off x="5082890" y="3965725"/>
                        <a:ext cx="235238" cy="326159"/>
                      </a:xfrm>
                      <a:prstGeom prst="rect">
                        <a:avLst/>
                      </a:prstGeom>
                      <a:noFill/>
                      <a:ln>
                        <a:noFill/>
                      </a:ln>
                      <a:effectLst/>
                    </p:spPr>
                  </p:pic>
                </p:oleObj>
              </mc:Fallback>
            </mc:AlternateContent>
          </a:graphicData>
        </a:graphic>
      </p:graphicFrame>
      <p:graphicFrame>
        <p:nvGraphicFramePr>
          <p:cNvPr id="29" name="Object 28" descr="t right arrow, infinity,&#10;">
            <a:extLst>
              <a:ext uri="{FF2B5EF4-FFF2-40B4-BE49-F238E27FC236}">
                <a16:creationId xmlns:a16="http://schemas.microsoft.com/office/drawing/2014/main" id="{5C366EDE-2479-279E-9BFA-EF34392B6691}"/>
              </a:ext>
            </a:extLst>
          </p:cNvPr>
          <p:cNvGraphicFramePr>
            <a:graphicFrameLocks noChangeAspect="1"/>
          </p:cNvGraphicFramePr>
          <p:nvPr>
            <p:extLst>
              <p:ext uri="{D42A27DB-BD31-4B8C-83A1-F6EECF244321}">
                <p14:modId xmlns:p14="http://schemas.microsoft.com/office/powerpoint/2010/main" val="2629106214"/>
              </p:ext>
            </p:extLst>
          </p:nvPr>
        </p:nvGraphicFramePr>
        <p:xfrm>
          <a:off x="523315" y="4590197"/>
          <a:ext cx="723900" cy="279400"/>
        </p:xfrm>
        <a:graphic>
          <a:graphicData uri="http://schemas.openxmlformats.org/presentationml/2006/ole">
            <mc:AlternateContent xmlns:mc="http://schemas.openxmlformats.org/markup-compatibility/2006">
              <mc:Choice xmlns:v="urn:schemas-microsoft-com:vml" Requires="v">
                <p:oleObj name="Equation" r:id="rId9" imgW="457200" imgH="177480" progId="Equation.DSMT4">
                  <p:embed/>
                </p:oleObj>
              </mc:Choice>
              <mc:Fallback>
                <p:oleObj name="Equation" r:id="rId9" imgW="457200" imgH="177480" progId="Equation.DSMT4">
                  <p:embed/>
                  <p:pic>
                    <p:nvPicPr>
                      <p:cNvPr id="26" name="Object 25">
                        <a:extLst>
                          <a:ext uri="{FF2B5EF4-FFF2-40B4-BE49-F238E27FC236}">
                            <a16:creationId xmlns:a16="http://schemas.microsoft.com/office/drawing/2014/main" id="{FE75F296-2DEB-8098-A7C3-877288CFABA2}"/>
                          </a:ext>
                        </a:extLst>
                      </p:cNvPr>
                      <p:cNvPicPr>
                        <a:picLocks noChangeAspect="1" noChangeArrowheads="1"/>
                      </p:cNvPicPr>
                      <p:nvPr/>
                    </p:nvPicPr>
                    <p:blipFill>
                      <a:blip r:embed="rId10"/>
                      <a:srcRect/>
                      <a:stretch>
                        <a:fillRect/>
                      </a:stretch>
                    </p:blipFill>
                    <p:spPr bwMode="auto">
                      <a:xfrm>
                        <a:off x="523315" y="4590197"/>
                        <a:ext cx="723900" cy="279400"/>
                      </a:xfrm>
                      <a:prstGeom prst="rect">
                        <a:avLst/>
                      </a:prstGeom>
                      <a:noFill/>
                      <a:ln>
                        <a:noFill/>
                      </a:ln>
                      <a:effectLst/>
                    </p:spPr>
                  </p:pic>
                </p:oleObj>
              </mc:Fallback>
            </mc:AlternateContent>
          </a:graphicData>
        </a:graphic>
      </p:graphicFrame>
      <p:pic>
        <p:nvPicPr>
          <p:cNvPr id="25" name="Picture 3"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a wire with current I subscript F flowing through it, and a 18 ohms resistor. A 4 ohms resistor is located in the top wire between the wires for the 60 volt source and the 12 ohm resistor. A 3 ohms resistor is located in the top wire between the wires for the 6 ohms resistor and the wire carrying current I subscript F. There is a discontinuity in the top wire of the circuit between wires where the 12 ohms and 6 ohms resistors are located.">
            <a:extLst>
              <a:ext uri="{FF2B5EF4-FFF2-40B4-BE49-F238E27FC236}">
                <a16:creationId xmlns:a16="http://schemas.microsoft.com/office/drawing/2014/main" id="{780E4389-07FB-BF38-61BE-431CDB6415B3}"/>
              </a:ext>
            </a:extLst>
          </p:cNvPr>
          <p:cNvPicPr>
            <a:picLocks noChangeAspect="1" noChangeArrowheads="1"/>
          </p:cNvPicPr>
          <p:nvPr/>
        </p:nvPicPr>
        <p:blipFill>
          <a:blip r:embed="rId11"/>
          <a:stretch>
            <a:fillRect/>
          </a:stretch>
        </p:blipFill>
        <p:spPr bwMode="auto">
          <a:xfrm>
            <a:off x="1639464" y="4487416"/>
            <a:ext cx="4301292" cy="16078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6502451" y="4894716"/>
            <a:ext cx="2004170" cy="344128"/>
          </a:xfrm>
        </p:spPr>
        <p:txBody>
          <a:bodyPr wrap="square" lIns="0" tIns="18000" rIns="0" bIns="18000" anchor="ctr">
            <a:spAutoFit/>
          </a:bodyPr>
          <a:lstStyle/>
          <a:p>
            <a:pPr marL="0" indent="0">
              <a:spcBef>
                <a:spcPts val="600"/>
              </a:spcBef>
              <a:buNone/>
            </a:pPr>
            <a:r>
              <a:rPr lang="en-US" sz="2000" noProof="0" dirty="0"/>
              <a:t>Natural response!</a:t>
            </a:r>
          </a:p>
        </p:txBody>
      </p:sp>
      <p:graphicFrame>
        <p:nvGraphicFramePr>
          <p:cNvPr id="26" name="Object 25" descr="right double arrow I subscript f baseline equals 0 Ampere.&#10;">
            <a:extLst>
              <a:ext uri="{FF2B5EF4-FFF2-40B4-BE49-F238E27FC236}">
                <a16:creationId xmlns:a16="http://schemas.microsoft.com/office/drawing/2014/main" id="{85D6A1D8-D3C9-9EA4-6E56-A86C4613C1FB}"/>
              </a:ext>
            </a:extLst>
          </p:cNvPr>
          <p:cNvGraphicFramePr>
            <a:graphicFrameLocks noChangeAspect="1"/>
          </p:cNvGraphicFramePr>
          <p:nvPr>
            <p:extLst>
              <p:ext uri="{D42A27DB-BD31-4B8C-83A1-F6EECF244321}">
                <p14:modId xmlns:p14="http://schemas.microsoft.com/office/powerpoint/2010/main" val="1384623017"/>
              </p:ext>
            </p:extLst>
          </p:nvPr>
        </p:nvGraphicFramePr>
        <p:xfrm>
          <a:off x="6522413" y="5432627"/>
          <a:ext cx="1474788" cy="327025"/>
        </p:xfrm>
        <a:graphic>
          <a:graphicData uri="http://schemas.openxmlformats.org/presentationml/2006/ole">
            <mc:AlternateContent xmlns:mc="http://schemas.openxmlformats.org/markup-compatibility/2006">
              <mc:Choice xmlns:v="urn:schemas-microsoft-com:vml" Requires="v">
                <p:oleObj name="Equation" r:id="rId12" imgW="1028520" imgH="228600" progId="Equation.DSMT4">
                  <p:embed/>
                </p:oleObj>
              </mc:Choice>
              <mc:Fallback>
                <p:oleObj name="Equation" r:id="rId12" imgW="1028520" imgH="228600" progId="Equation.DSMT4">
                  <p:embed/>
                  <p:pic>
                    <p:nvPicPr>
                      <p:cNvPr id="6" name="Object 5"/>
                      <p:cNvPicPr>
                        <a:picLocks noChangeAspect="1" noChangeArrowheads="1"/>
                      </p:cNvPicPr>
                      <p:nvPr/>
                    </p:nvPicPr>
                    <p:blipFill>
                      <a:blip r:embed="rId13"/>
                      <a:srcRect/>
                      <a:stretch>
                        <a:fillRect/>
                      </a:stretch>
                    </p:blipFill>
                    <p:spPr bwMode="auto">
                      <a:xfrm>
                        <a:off x="6522413" y="5432627"/>
                        <a:ext cx="1474788" cy="32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32896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6191"/>
            <a:ext cx="8229600" cy="1144347"/>
          </a:xfrm>
        </p:spPr>
        <p:txBody>
          <a:bodyPr/>
          <a:lstStyle/>
          <a:p>
            <a:r>
              <a:rPr lang="en-US" noProof="0" dirty="0"/>
              <a:t>Chapter 7 – Sequential Switching Problems </a:t>
            </a:r>
            <a:r>
              <a:rPr lang="en-US" sz="2800" noProof="0" dirty="0"/>
              <a:t>(13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01059"/>
            <a:ext cx="4054475" cy="1575234"/>
          </a:xfrm>
        </p:spPr>
        <p:txBody>
          <a:bodyPr wrap="square" lIns="0" tIns="18000" rIns="0" bIns="18000" anchor="ctr">
            <a:spAutoFit/>
          </a:bodyPr>
          <a:lstStyle/>
          <a:p>
            <a:pPr marL="0" indent="0">
              <a:spcBef>
                <a:spcPts val="600"/>
              </a:spcBef>
              <a:buNone/>
            </a:pPr>
            <a:r>
              <a:rPr lang="en-US" sz="2000" noProof="0" dirty="0"/>
              <a:t>Both switches have been closed for a long time. At t = 0, switch 1 is opened and stays open. Switch 2 opens 35 m</a:t>
            </a:r>
            <a:r>
              <a:rPr lang="en-US" sz="100" noProof="0" dirty="0"/>
              <a:t> </a:t>
            </a:r>
            <a:r>
              <a:rPr lang="en-US" sz="2000" noProof="0" dirty="0"/>
              <a:t>s later and stays open. Find the expression for the voltage</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3111925"/>
            <a:ext cx="3102909" cy="344128"/>
          </a:xfrm>
        </p:spPr>
        <p:txBody>
          <a:bodyPr wrap="square" lIns="0" tIns="18000" rIns="0" bIns="18000" anchor="ctr">
            <a:spAutoFit/>
          </a:bodyPr>
          <a:lstStyle/>
          <a:p>
            <a:pPr marL="0" indent="0">
              <a:spcBef>
                <a:spcPts val="600"/>
              </a:spcBef>
              <a:buNone/>
            </a:pPr>
            <a:r>
              <a:rPr lang="en-US" sz="2000" noProof="0" dirty="0"/>
              <a:t>drop across the inductor for </a:t>
            </a:r>
          </a:p>
        </p:txBody>
      </p:sp>
      <p:graphicFrame>
        <p:nvGraphicFramePr>
          <p:cNvPr id="3" name="Object 2" descr="t is greater than or equal to 0 superscript plus.&#10;">
            <a:extLst>
              <a:ext uri="{FF2B5EF4-FFF2-40B4-BE49-F238E27FC236}">
                <a16:creationId xmlns:a16="http://schemas.microsoft.com/office/drawing/2014/main" id="{60FDFC18-369F-9CAB-B4C7-39D31F2D97D8}"/>
              </a:ext>
            </a:extLst>
          </p:cNvPr>
          <p:cNvGraphicFramePr>
            <a:graphicFrameLocks noChangeAspect="1"/>
          </p:cNvGraphicFramePr>
          <p:nvPr>
            <p:extLst>
              <p:ext uri="{D42A27DB-BD31-4B8C-83A1-F6EECF244321}">
                <p14:modId xmlns:p14="http://schemas.microsoft.com/office/powerpoint/2010/main" val="19371827"/>
              </p:ext>
            </p:extLst>
          </p:nvPr>
        </p:nvGraphicFramePr>
        <p:xfrm>
          <a:off x="3599931" y="3115292"/>
          <a:ext cx="661240" cy="320124"/>
        </p:xfrm>
        <a:graphic>
          <a:graphicData uri="http://schemas.openxmlformats.org/presentationml/2006/ole">
            <mc:AlternateContent xmlns:mc="http://schemas.openxmlformats.org/markup-compatibility/2006">
              <mc:Choice xmlns:v="urn:schemas-microsoft-com:vml" Requires="v">
                <p:oleObj name="Equation" r:id="rId2" imgW="419040" imgH="203040" progId="Equation.DSMT4">
                  <p:embed/>
                </p:oleObj>
              </mc:Choice>
              <mc:Fallback>
                <p:oleObj name="Equation" r:id="rId2" imgW="419040" imgH="203040" progId="Equation.DSMT4">
                  <p:embed/>
                  <p:pic>
                    <p:nvPicPr>
                      <p:cNvPr id="4" name="Object 3">
                        <a:extLst>
                          <a:ext uri="{FF2B5EF4-FFF2-40B4-BE49-F238E27FC236}">
                            <a16:creationId xmlns:a16="http://schemas.microsoft.com/office/drawing/2014/main" id="{D40CD4D5-52C1-F2E8-CE5A-52599870154B}"/>
                          </a:ext>
                        </a:extLst>
                      </p:cNvPr>
                      <p:cNvPicPr>
                        <a:picLocks noChangeAspect="1" noChangeArrowheads="1"/>
                      </p:cNvPicPr>
                      <p:nvPr/>
                    </p:nvPicPr>
                    <p:blipFill>
                      <a:blip r:embed="rId3"/>
                      <a:srcRect/>
                      <a:stretch>
                        <a:fillRect/>
                      </a:stretch>
                    </p:blipFill>
                    <p:spPr bwMode="auto">
                      <a:xfrm>
                        <a:off x="3599931" y="3115292"/>
                        <a:ext cx="661240" cy="320124"/>
                      </a:xfrm>
                      <a:prstGeom prst="rect">
                        <a:avLst/>
                      </a:prstGeom>
                      <a:noFill/>
                      <a:ln>
                        <a:noFill/>
                      </a:ln>
                      <a:effectLst/>
                    </p:spPr>
                  </p:pic>
                </p:oleObj>
              </mc:Fallback>
            </mc:AlternateContent>
          </a:graphicData>
        </a:graphic>
      </p:graphicFrame>
      <p:pic>
        <p:nvPicPr>
          <p:cNvPr id="2" name="Picture 4"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Switch 1 is located in the top wire between the wires for the 12 ohm resistor and the 6 ohms resistor. A 3 ohms resistor is located in the top wire between the wires for the 6 ohms resistor and the 150 milli Henry inductor. Switch 2 is located in the top wire between the wires for the milli Henry inductor and the 18 ohms resistor. Switch 1 is opened when time t is zero. Switch 2 is opened when time t is 35 milli seconds. Voltage v subscript L exists across the 150 milli Henry inductor with positive polarity at the top node and negative polarity at the bottom. Current i subscript L flows through the 150 milli Henry inductor from the top node to the bottom node. ">
            <a:extLst>
              <a:ext uri="{FF2B5EF4-FFF2-40B4-BE49-F238E27FC236}">
                <a16:creationId xmlns:a16="http://schemas.microsoft.com/office/drawing/2014/main" id="{715C67B5-A4CF-8FC3-BD3F-DD250382CDA8}"/>
              </a:ext>
            </a:extLst>
          </p:cNvPr>
          <p:cNvPicPr>
            <a:picLocks noChangeAspect="1" noChangeArrowheads="1"/>
          </p:cNvPicPr>
          <p:nvPr/>
        </p:nvPicPr>
        <p:blipFill>
          <a:blip r:embed="rId4"/>
          <a:srcRect/>
          <a:stretch/>
        </p:blipFill>
        <p:spPr bwMode="auto">
          <a:xfrm>
            <a:off x="4660911" y="1545405"/>
            <a:ext cx="3938163" cy="1568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1800" y="3648326"/>
            <a:ext cx="4304179" cy="344128"/>
          </a:xfrm>
        </p:spPr>
        <p:txBody>
          <a:bodyPr wrap="square" lIns="0" tIns="18000" rIns="0" bIns="18000" anchor="ctr">
            <a:spAutoFit/>
          </a:bodyPr>
          <a:lstStyle/>
          <a:p>
            <a:pPr marL="342900" indent="-342900">
              <a:spcBef>
                <a:spcPts val="600"/>
              </a:spcBef>
            </a:pPr>
            <a:r>
              <a:rPr lang="en-US" sz="2000" noProof="0" dirty="0"/>
              <a:t>Analysis for the first time segment, </a:t>
            </a:r>
          </a:p>
        </p:txBody>
      </p:sp>
      <p:graphicFrame>
        <p:nvGraphicFramePr>
          <p:cNvPr id="4" name="Object 3" descr="0 is less than or equal to t is less than or equal to 35 milliseconds.&#10;">
            <a:extLst>
              <a:ext uri="{FF2B5EF4-FFF2-40B4-BE49-F238E27FC236}">
                <a16:creationId xmlns:a16="http://schemas.microsoft.com/office/drawing/2014/main" id="{948E6F96-6209-8FAC-2CF4-54EF4BE7BCC9}"/>
              </a:ext>
            </a:extLst>
          </p:cNvPr>
          <p:cNvGraphicFramePr>
            <a:graphicFrameLocks noChangeAspect="1"/>
          </p:cNvGraphicFramePr>
          <p:nvPr>
            <p:extLst>
              <p:ext uri="{D42A27DB-BD31-4B8C-83A1-F6EECF244321}">
                <p14:modId xmlns:p14="http://schemas.microsoft.com/office/powerpoint/2010/main" val="2473739982"/>
              </p:ext>
            </p:extLst>
          </p:nvPr>
        </p:nvGraphicFramePr>
        <p:xfrm>
          <a:off x="4821466" y="3674669"/>
          <a:ext cx="1484313" cy="319087"/>
        </p:xfrm>
        <a:graphic>
          <a:graphicData uri="http://schemas.openxmlformats.org/presentationml/2006/ole">
            <mc:AlternateContent xmlns:mc="http://schemas.openxmlformats.org/markup-compatibility/2006">
              <mc:Choice xmlns:v="urn:schemas-microsoft-com:vml" Requires="v">
                <p:oleObj name="Equation" r:id="rId5" imgW="939600" imgH="203040" progId="Equation.DSMT4">
                  <p:embed/>
                </p:oleObj>
              </mc:Choice>
              <mc:Fallback>
                <p:oleObj name="Equation" r:id="rId5" imgW="939600" imgH="203040" progId="Equation.DSMT4">
                  <p:embed/>
                  <p:pic>
                    <p:nvPicPr>
                      <p:cNvPr id="3" name="Object 2">
                        <a:extLst>
                          <a:ext uri="{FF2B5EF4-FFF2-40B4-BE49-F238E27FC236}">
                            <a16:creationId xmlns:a16="http://schemas.microsoft.com/office/drawing/2014/main" id="{5BCA299A-6266-83C5-4056-08C7767E943A}"/>
                          </a:ext>
                        </a:extLst>
                      </p:cNvPr>
                      <p:cNvPicPr>
                        <a:picLocks noChangeAspect="1" noChangeArrowheads="1"/>
                      </p:cNvPicPr>
                      <p:nvPr/>
                    </p:nvPicPr>
                    <p:blipFill>
                      <a:blip r:embed="rId6"/>
                      <a:srcRect/>
                      <a:stretch>
                        <a:fillRect/>
                      </a:stretch>
                    </p:blipFill>
                    <p:spPr bwMode="auto">
                      <a:xfrm>
                        <a:off x="4821466" y="3674669"/>
                        <a:ext cx="1484313" cy="319087"/>
                      </a:xfrm>
                      <a:prstGeom prst="rect">
                        <a:avLst/>
                      </a:prstGeom>
                      <a:noFill/>
                      <a:ln>
                        <a:noFill/>
                      </a:ln>
                      <a:effec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40765" y="4113398"/>
            <a:ext cx="4297829" cy="344128"/>
          </a:xfrm>
        </p:spPr>
        <p:txBody>
          <a:bodyPr wrap="square" lIns="0" tIns="18000" rIns="0" bIns="18000" anchor="ctr">
            <a:spAutoFit/>
          </a:bodyPr>
          <a:lstStyle/>
          <a:p>
            <a:pPr marL="829818" lvl="1" indent="-342900"/>
            <a:r>
              <a:rPr lang="en-US" sz="2000" noProof="0" dirty="0"/>
              <a:t>Step 5 – Write the equation for </a:t>
            </a:r>
          </a:p>
        </p:txBody>
      </p:sp>
      <p:graphicFrame>
        <p:nvGraphicFramePr>
          <p:cNvPr id="5" name="Object 4" descr="i subscript L baseline (t).&#10;">
            <a:extLst>
              <a:ext uri="{FF2B5EF4-FFF2-40B4-BE49-F238E27FC236}">
                <a16:creationId xmlns:a16="http://schemas.microsoft.com/office/drawing/2014/main" id="{79715667-EE07-1856-41C1-FF14D671C4FC}"/>
              </a:ext>
            </a:extLst>
          </p:cNvPr>
          <p:cNvGraphicFramePr>
            <a:graphicFrameLocks noChangeAspect="1"/>
          </p:cNvGraphicFramePr>
          <p:nvPr>
            <p:extLst>
              <p:ext uri="{D42A27DB-BD31-4B8C-83A1-F6EECF244321}">
                <p14:modId xmlns:p14="http://schemas.microsoft.com/office/powerpoint/2010/main" val="2788835667"/>
              </p:ext>
            </p:extLst>
          </p:nvPr>
        </p:nvGraphicFramePr>
        <p:xfrm>
          <a:off x="4792663" y="4114800"/>
          <a:ext cx="541337" cy="360363"/>
        </p:xfrm>
        <a:graphic>
          <a:graphicData uri="http://schemas.openxmlformats.org/presentationml/2006/ole">
            <mc:AlternateContent xmlns:mc="http://schemas.openxmlformats.org/markup-compatibility/2006">
              <mc:Choice xmlns:v="urn:schemas-microsoft-com:vml" Requires="v">
                <p:oleObj name="Equation" r:id="rId7" imgW="342720" imgH="228600" progId="Equation.DSMT4">
                  <p:embed/>
                </p:oleObj>
              </mc:Choice>
              <mc:Fallback>
                <p:oleObj name="Equation" r:id="rId7" imgW="342720" imgH="228600" progId="Equation.DSMT4">
                  <p:embed/>
                  <p:pic>
                    <p:nvPicPr>
                      <p:cNvPr id="25" name="Object 24">
                        <a:extLst>
                          <a:ext uri="{FF2B5EF4-FFF2-40B4-BE49-F238E27FC236}">
                            <a16:creationId xmlns:a16="http://schemas.microsoft.com/office/drawing/2014/main" id="{BE0B3F73-179B-2CBB-965A-F1696234CA1F}"/>
                          </a:ext>
                        </a:extLst>
                      </p:cNvPr>
                      <p:cNvPicPr>
                        <a:picLocks noChangeAspect="1" noChangeArrowheads="1"/>
                      </p:cNvPicPr>
                      <p:nvPr/>
                    </p:nvPicPr>
                    <p:blipFill>
                      <a:blip r:embed="rId8"/>
                      <a:srcRect/>
                      <a:stretch>
                        <a:fillRect/>
                      </a:stretch>
                    </p:blipFill>
                    <p:spPr bwMode="auto">
                      <a:xfrm>
                        <a:off x="4792663" y="4114800"/>
                        <a:ext cx="541337" cy="360363"/>
                      </a:xfrm>
                      <a:prstGeom prst="rect">
                        <a:avLst/>
                      </a:prstGeom>
                      <a:noFill/>
                      <a:ln>
                        <a:noFill/>
                      </a:ln>
                      <a:effectLst/>
                    </p:spPr>
                  </p:pic>
                </p:oleObj>
              </mc:Fallback>
            </mc:AlternateContent>
          </a:graphicData>
        </a:graphic>
      </p:graphicFrame>
      <p:graphicFrame>
        <p:nvGraphicFramePr>
          <p:cNvPr id="25" name="Object 24" descr="i subscript L baseline (t) equals I subscript f baseline plus OpenParenthesis I subscript 0 baseline minus I subscript f baseline CloseParenthesis e to the negative t divided by tau power.&#10;">
            <a:extLst>
              <a:ext uri="{FF2B5EF4-FFF2-40B4-BE49-F238E27FC236}">
                <a16:creationId xmlns:a16="http://schemas.microsoft.com/office/drawing/2014/main" id="{83EBA057-D47E-4B1B-F664-26CE41B067AD}"/>
              </a:ext>
            </a:extLst>
          </p:cNvPr>
          <p:cNvGraphicFramePr>
            <a:graphicFrameLocks noChangeAspect="1"/>
          </p:cNvGraphicFramePr>
          <p:nvPr>
            <p:extLst>
              <p:ext uri="{D42A27DB-BD31-4B8C-83A1-F6EECF244321}">
                <p14:modId xmlns:p14="http://schemas.microsoft.com/office/powerpoint/2010/main" val="2701508894"/>
              </p:ext>
            </p:extLst>
          </p:nvPr>
        </p:nvGraphicFramePr>
        <p:xfrm>
          <a:off x="3028670" y="4767551"/>
          <a:ext cx="2171700" cy="374650"/>
        </p:xfrm>
        <a:graphic>
          <a:graphicData uri="http://schemas.openxmlformats.org/presentationml/2006/ole">
            <mc:AlternateContent xmlns:mc="http://schemas.openxmlformats.org/markup-compatibility/2006">
              <mc:Choice xmlns:v="urn:schemas-microsoft-com:vml" Requires="v">
                <p:oleObj name="Equation" r:id="rId9" imgW="1396800" imgH="241200" progId="Equation.DSMT4">
                  <p:embed/>
                </p:oleObj>
              </mc:Choice>
              <mc:Fallback>
                <p:oleObj name="Equation" r:id="rId9" imgW="1396800" imgH="241200" progId="Equation.DSMT4">
                  <p:embed/>
                  <p:pic>
                    <p:nvPicPr>
                      <p:cNvPr id="8" name="Object 7"/>
                      <p:cNvPicPr>
                        <a:picLocks noChangeAspect="1" noChangeArrowheads="1"/>
                      </p:cNvPicPr>
                      <p:nvPr/>
                    </p:nvPicPr>
                    <p:blipFill>
                      <a:blip r:embed="rId10"/>
                      <a:srcRect/>
                      <a:stretch>
                        <a:fillRect/>
                      </a:stretch>
                    </p:blipFill>
                    <p:spPr bwMode="auto">
                      <a:xfrm>
                        <a:off x="3028670" y="4767551"/>
                        <a:ext cx="2171700"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5" descr="equals 0 plus OpenParenthesis 6 minus 0 CloseParenthesis e to the negative t divided by 0.025 power.&#10;">
            <a:extLst>
              <a:ext uri="{FF2B5EF4-FFF2-40B4-BE49-F238E27FC236}">
                <a16:creationId xmlns:a16="http://schemas.microsoft.com/office/drawing/2014/main" id="{7E570816-73B4-8770-A15E-019183699500}"/>
              </a:ext>
            </a:extLst>
          </p:cNvPr>
          <p:cNvGraphicFramePr>
            <a:graphicFrameLocks noChangeAspect="1"/>
          </p:cNvGraphicFramePr>
          <p:nvPr>
            <p:extLst>
              <p:ext uri="{D42A27DB-BD31-4B8C-83A1-F6EECF244321}">
                <p14:modId xmlns:p14="http://schemas.microsoft.com/office/powerpoint/2010/main" val="816008268"/>
              </p:ext>
            </p:extLst>
          </p:nvPr>
        </p:nvGraphicFramePr>
        <p:xfrm>
          <a:off x="3497355" y="5256940"/>
          <a:ext cx="1936750" cy="355600"/>
        </p:xfrm>
        <a:graphic>
          <a:graphicData uri="http://schemas.openxmlformats.org/presentationml/2006/ole">
            <mc:AlternateContent xmlns:mc="http://schemas.openxmlformats.org/markup-compatibility/2006">
              <mc:Choice xmlns:v="urn:schemas-microsoft-com:vml" Requires="v">
                <p:oleObj name="Equation" r:id="rId11" imgW="1244520" imgH="228600" progId="Equation.DSMT4">
                  <p:embed/>
                </p:oleObj>
              </mc:Choice>
              <mc:Fallback>
                <p:oleObj name="Equation" r:id="rId11" imgW="1244520" imgH="228600" progId="Equation.DSMT4">
                  <p:embed/>
                  <p:pic>
                    <p:nvPicPr>
                      <p:cNvPr id="25" name="Object 24">
                        <a:extLst>
                          <a:ext uri="{FF2B5EF4-FFF2-40B4-BE49-F238E27FC236}">
                            <a16:creationId xmlns:a16="http://schemas.microsoft.com/office/drawing/2014/main" id="{83EBA057-D47E-4B1B-F664-26CE41B067AD}"/>
                          </a:ext>
                        </a:extLst>
                      </p:cNvPr>
                      <p:cNvPicPr>
                        <a:picLocks noChangeAspect="1" noChangeArrowheads="1"/>
                      </p:cNvPicPr>
                      <p:nvPr/>
                    </p:nvPicPr>
                    <p:blipFill>
                      <a:blip r:embed="rId12"/>
                      <a:srcRect/>
                      <a:stretch>
                        <a:fillRect/>
                      </a:stretch>
                    </p:blipFill>
                    <p:spPr bwMode="auto">
                      <a:xfrm>
                        <a:off x="3497355" y="5256940"/>
                        <a:ext cx="1936750" cy="35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26" descr="equals 6 e to the negative 40 t power baseline Ampere comma 0 is less than or equal to t is less than or equal to 35 milliseconds.&#10;">
            <a:extLst>
              <a:ext uri="{FF2B5EF4-FFF2-40B4-BE49-F238E27FC236}">
                <a16:creationId xmlns:a16="http://schemas.microsoft.com/office/drawing/2014/main" id="{9C469D23-E8FE-FD5F-8153-A1DC0AB9574B}"/>
              </a:ext>
            </a:extLst>
          </p:cNvPr>
          <p:cNvGraphicFramePr>
            <a:graphicFrameLocks noChangeAspect="1"/>
          </p:cNvGraphicFramePr>
          <p:nvPr>
            <p:extLst>
              <p:ext uri="{D42A27DB-BD31-4B8C-83A1-F6EECF244321}">
                <p14:modId xmlns:p14="http://schemas.microsoft.com/office/powerpoint/2010/main" val="973841794"/>
              </p:ext>
            </p:extLst>
          </p:nvPr>
        </p:nvGraphicFramePr>
        <p:xfrm>
          <a:off x="3505199" y="5677365"/>
          <a:ext cx="2646363" cy="336550"/>
        </p:xfrm>
        <a:graphic>
          <a:graphicData uri="http://schemas.openxmlformats.org/presentationml/2006/ole">
            <mc:AlternateContent xmlns:mc="http://schemas.openxmlformats.org/markup-compatibility/2006">
              <mc:Choice xmlns:v="urn:schemas-microsoft-com:vml" Requires="v">
                <p:oleObj name="Equation" r:id="rId13" imgW="1701720" imgH="215640" progId="Equation.DSMT4">
                  <p:embed/>
                </p:oleObj>
              </mc:Choice>
              <mc:Fallback>
                <p:oleObj name="Equation" r:id="rId13" imgW="1701720" imgH="215640" progId="Equation.DSMT4">
                  <p:embed/>
                  <p:pic>
                    <p:nvPicPr>
                      <p:cNvPr id="26" name="Object 25">
                        <a:extLst>
                          <a:ext uri="{FF2B5EF4-FFF2-40B4-BE49-F238E27FC236}">
                            <a16:creationId xmlns:a16="http://schemas.microsoft.com/office/drawing/2014/main" id="{7E570816-73B4-8770-A15E-019183699500}"/>
                          </a:ext>
                        </a:extLst>
                      </p:cNvPr>
                      <p:cNvPicPr>
                        <a:picLocks noChangeAspect="1" noChangeArrowheads="1"/>
                      </p:cNvPicPr>
                      <p:nvPr/>
                    </p:nvPicPr>
                    <p:blipFill>
                      <a:blip r:embed="rId14"/>
                      <a:srcRect/>
                      <a:stretch>
                        <a:fillRect/>
                      </a:stretch>
                    </p:blipFill>
                    <p:spPr bwMode="auto">
                      <a:xfrm>
                        <a:off x="3505199" y="5677365"/>
                        <a:ext cx="264636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02217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6192"/>
            <a:ext cx="8229600" cy="1144347"/>
          </a:xfrm>
        </p:spPr>
        <p:txBody>
          <a:bodyPr/>
          <a:lstStyle/>
          <a:p>
            <a:r>
              <a:rPr lang="en-US" noProof="0" dirty="0"/>
              <a:t>Chapter 7 – Sequential Switching Problems </a:t>
            </a:r>
            <a:r>
              <a:rPr lang="en-US" sz="2800" noProof="0" dirty="0"/>
              <a:t>(14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01061"/>
            <a:ext cx="4054475" cy="1575234"/>
          </a:xfrm>
        </p:spPr>
        <p:txBody>
          <a:bodyPr wrap="square" lIns="0" tIns="18000" rIns="0" bIns="18000" anchor="ctr">
            <a:spAutoFit/>
          </a:bodyPr>
          <a:lstStyle/>
          <a:p>
            <a:pPr marL="0" indent="0">
              <a:spcBef>
                <a:spcPts val="600"/>
              </a:spcBef>
              <a:buNone/>
            </a:pPr>
            <a:r>
              <a:rPr lang="en-US" sz="2000" noProof="0" dirty="0"/>
              <a:t>Both switches have been closed for a long time. At t = 0, switch 1 is opened and stays open. Switch 2 opens 35 m</a:t>
            </a:r>
            <a:r>
              <a:rPr lang="en-US" sz="100" noProof="0" dirty="0"/>
              <a:t> </a:t>
            </a:r>
            <a:r>
              <a:rPr lang="en-US" sz="2000" noProof="0" dirty="0"/>
              <a:t>s later and stays open. Find the expression for the voltage</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3121641"/>
            <a:ext cx="3102909" cy="344128"/>
          </a:xfrm>
        </p:spPr>
        <p:txBody>
          <a:bodyPr wrap="square" lIns="0" tIns="18000" rIns="0" bIns="18000" anchor="ctr">
            <a:spAutoFit/>
          </a:bodyPr>
          <a:lstStyle/>
          <a:p>
            <a:pPr marL="0" indent="0">
              <a:spcBef>
                <a:spcPts val="600"/>
              </a:spcBef>
              <a:buNone/>
            </a:pPr>
            <a:r>
              <a:rPr lang="en-US" altLang="en-US" sz="2000" noProof="0" dirty="0"/>
              <a:t>drop across the inductor for</a:t>
            </a:r>
            <a:endParaRPr lang="en-US" sz="2000" noProof="0" dirty="0"/>
          </a:p>
        </p:txBody>
      </p:sp>
      <p:graphicFrame>
        <p:nvGraphicFramePr>
          <p:cNvPr id="2" name="Object 1" descr="t is greater than or equal to 0 superscript plus.&#10;">
            <a:extLst>
              <a:ext uri="{FF2B5EF4-FFF2-40B4-BE49-F238E27FC236}">
                <a16:creationId xmlns:a16="http://schemas.microsoft.com/office/drawing/2014/main" id="{8C0755A0-507B-BFC4-2661-74F4AB0D83FC}"/>
              </a:ext>
            </a:extLst>
          </p:cNvPr>
          <p:cNvGraphicFramePr>
            <a:graphicFrameLocks noChangeAspect="1"/>
          </p:cNvGraphicFramePr>
          <p:nvPr>
            <p:extLst>
              <p:ext uri="{D42A27DB-BD31-4B8C-83A1-F6EECF244321}">
                <p14:modId xmlns:p14="http://schemas.microsoft.com/office/powerpoint/2010/main" val="4202066016"/>
              </p:ext>
            </p:extLst>
          </p:nvPr>
        </p:nvGraphicFramePr>
        <p:xfrm>
          <a:off x="3599931" y="3131866"/>
          <a:ext cx="661240" cy="320124"/>
        </p:xfrm>
        <a:graphic>
          <a:graphicData uri="http://schemas.openxmlformats.org/presentationml/2006/ole">
            <mc:AlternateContent xmlns:mc="http://schemas.openxmlformats.org/markup-compatibility/2006">
              <mc:Choice xmlns:v="urn:schemas-microsoft-com:vml" Requires="v">
                <p:oleObj name="Equation" r:id="rId2" imgW="419040" imgH="203040" progId="Equation.DSMT4">
                  <p:embed/>
                </p:oleObj>
              </mc:Choice>
              <mc:Fallback>
                <p:oleObj name="Equation" r:id="rId2" imgW="419040" imgH="203040" progId="Equation.DSMT4">
                  <p:embed/>
                  <p:pic>
                    <p:nvPicPr>
                      <p:cNvPr id="3" name="Object 2">
                        <a:extLst>
                          <a:ext uri="{FF2B5EF4-FFF2-40B4-BE49-F238E27FC236}">
                            <a16:creationId xmlns:a16="http://schemas.microsoft.com/office/drawing/2014/main" id="{60FDFC18-369F-9CAB-B4C7-39D31F2D97D8}"/>
                          </a:ext>
                        </a:extLst>
                      </p:cNvPr>
                      <p:cNvPicPr>
                        <a:picLocks noChangeAspect="1" noChangeArrowheads="1"/>
                      </p:cNvPicPr>
                      <p:nvPr/>
                    </p:nvPicPr>
                    <p:blipFill>
                      <a:blip r:embed="rId3"/>
                      <a:srcRect/>
                      <a:stretch>
                        <a:fillRect/>
                      </a:stretch>
                    </p:blipFill>
                    <p:spPr bwMode="auto">
                      <a:xfrm>
                        <a:off x="3599931" y="3131866"/>
                        <a:ext cx="661240" cy="320124"/>
                      </a:xfrm>
                      <a:prstGeom prst="rect">
                        <a:avLst/>
                      </a:prstGeom>
                      <a:noFill/>
                      <a:ln>
                        <a:noFill/>
                      </a:ln>
                      <a:effectLst/>
                    </p:spPr>
                  </p:pic>
                </p:oleObj>
              </mc:Fallback>
            </mc:AlternateContent>
          </a:graphicData>
        </a:graphic>
      </p:graphicFrame>
      <p:pic>
        <p:nvPicPr>
          <p:cNvPr id="3" name="Picture 2"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Switch 1 is located in the top wire between the wires for the 12 ohm resistor and the 6 ohms resistor. A 3 ohms resistor is located in the top wire between the wires for the 6 ohms resistor and the 150 milli Henry inductor. Switch 2 is located in the top wire between the wires for the milli Henry inductor and the 18 ohms resistor. Switch 1 is opened when time t is zero. Switch 2 is opened when time t is 35 milli seconds. Voltage v subscript L exists across the 150 milli Henry inductor with positive polarity at the top node and negative polarity at the bottom. Current i subscript L flows through the 150 milli Henry inductor from the top node to the bottom node. ">
            <a:extLst>
              <a:ext uri="{FF2B5EF4-FFF2-40B4-BE49-F238E27FC236}">
                <a16:creationId xmlns:a16="http://schemas.microsoft.com/office/drawing/2014/main" id="{AD1B3EEA-1F05-201F-3022-7E829FE17091}"/>
              </a:ext>
            </a:extLst>
          </p:cNvPr>
          <p:cNvPicPr>
            <a:picLocks noChangeAspect="1" noChangeArrowheads="1"/>
          </p:cNvPicPr>
          <p:nvPr/>
        </p:nvPicPr>
        <p:blipFill>
          <a:blip r:embed="rId4"/>
          <a:srcRect/>
          <a:stretch/>
        </p:blipFill>
        <p:spPr bwMode="auto">
          <a:xfrm>
            <a:off x="4608513" y="1697678"/>
            <a:ext cx="3954699" cy="15751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3611476"/>
            <a:ext cx="4637368" cy="344128"/>
          </a:xfrm>
        </p:spPr>
        <p:txBody>
          <a:bodyPr wrap="square" lIns="0" tIns="18000" rIns="0" bIns="18000" anchor="ctr">
            <a:spAutoFit/>
          </a:bodyPr>
          <a:lstStyle/>
          <a:p>
            <a:pPr marL="342900" indent="-342900">
              <a:spcBef>
                <a:spcPts val="600"/>
              </a:spcBef>
            </a:pPr>
            <a:r>
              <a:rPr lang="en-US" sz="2000" noProof="0" dirty="0"/>
              <a:t>Analysis for the second time segment, </a:t>
            </a:r>
          </a:p>
        </p:txBody>
      </p:sp>
      <p:graphicFrame>
        <p:nvGraphicFramePr>
          <p:cNvPr id="4" name="Object 3" descr="t is greater than or equal to 35 milliseconds.&#10;">
            <a:extLst>
              <a:ext uri="{FF2B5EF4-FFF2-40B4-BE49-F238E27FC236}">
                <a16:creationId xmlns:a16="http://schemas.microsoft.com/office/drawing/2014/main" id="{B075C3BF-03B5-F815-F22E-D48CA65F2B74}"/>
              </a:ext>
            </a:extLst>
          </p:cNvPr>
          <p:cNvGraphicFramePr>
            <a:graphicFrameLocks noChangeAspect="1"/>
          </p:cNvGraphicFramePr>
          <p:nvPr>
            <p:extLst>
              <p:ext uri="{D42A27DB-BD31-4B8C-83A1-F6EECF244321}">
                <p14:modId xmlns:p14="http://schemas.microsoft.com/office/powerpoint/2010/main" val="1623758726"/>
              </p:ext>
            </p:extLst>
          </p:nvPr>
        </p:nvGraphicFramePr>
        <p:xfrm>
          <a:off x="5132668" y="3664105"/>
          <a:ext cx="1103312" cy="319087"/>
        </p:xfrm>
        <a:graphic>
          <a:graphicData uri="http://schemas.openxmlformats.org/presentationml/2006/ole">
            <mc:AlternateContent xmlns:mc="http://schemas.openxmlformats.org/markup-compatibility/2006">
              <mc:Choice xmlns:v="urn:schemas-microsoft-com:vml" Requires="v">
                <p:oleObj name="Equation" r:id="rId5" imgW="698400" imgH="203040" progId="Equation.DSMT4">
                  <p:embed/>
                </p:oleObj>
              </mc:Choice>
              <mc:Fallback>
                <p:oleObj name="Equation" r:id="rId5" imgW="698400" imgH="203040" progId="Equation.DSMT4">
                  <p:embed/>
                  <p:pic>
                    <p:nvPicPr>
                      <p:cNvPr id="4" name="Object 3">
                        <a:extLst>
                          <a:ext uri="{FF2B5EF4-FFF2-40B4-BE49-F238E27FC236}">
                            <a16:creationId xmlns:a16="http://schemas.microsoft.com/office/drawing/2014/main" id="{948E6F96-6209-8FAC-2CF4-54EF4BE7BCC9}"/>
                          </a:ext>
                        </a:extLst>
                      </p:cNvPr>
                      <p:cNvPicPr>
                        <a:picLocks noChangeAspect="1" noChangeArrowheads="1"/>
                      </p:cNvPicPr>
                      <p:nvPr/>
                    </p:nvPicPr>
                    <p:blipFill>
                      <a:blip r:embed="rId6"/>
                      <a:srcRect/>
                      <a:stretch>
                        <a:fillRect/>
                      </a:stretch>
                    </p:blipFill>
                    <p:spPr bwMode="auto">
                      <a:xfrm>
                        <a:off x="5132668" y="3664105"/>
                        <a:ext cx="1103312" cy="319087"/>
                      </a:xfrm>
                      <a:prstGeom prst="rect">
                        <a:avLst/>
                      </a:prstGeom>
                      <a:noFill/>
                      <a:ln>
                        <a:noFill/>
                      </a:ln>
                      <a:effec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0" y="4031694"/>
            <a:ext cx="4662768" cy="344128"/>
          </a:xfrm>
        </p:spPr>
        <p:txBody>
          <a:bodyPr wrap="square" lIns="0" tIns="18000" rIns="0" bIns="18000" anchor="ctr">
            <a:spAutoFit/>
          </a:bodyPr>
          <a:lstStyle/>
          <a:p>
            <a:pPr marL="829818" lvl="1" indent="-342900"/>
            <a:r>
              <a:rPr lang="en-US" sz="2000" noProof="0" dirty="0"/>
              <a:t>Step 2 – Calculate the initial value </a:t>
            </a:r>
          </a:p>
        </p:txBody>
      </p:sp>
      <p:graphicFrame>
        <p:nvGraphicFramePr>
          <p:cNvPr id="5" name="Object 4" descr="I subscript 0.&#10;">
            <a:extLst>
              <a:ext uri="{FF2B5EF4-FFF2-40B4-BE49-F238E27FC236}">
                <a16:creationId xmlns:a16="http://schemas.microsoft.com/office/drawing/2014/main" id="{705BB8F6-17F7-3FC9-AA83-6123CBCD41E8}"/>
              </a:ext>
            </a:extLst>
          </p:cNvPr>
          <p:cNvGraphicFramePr>
            <a:graphicFrameLocks noChangeAspect="1"/>
          </p:cNvGraphicFramePr>
          <p:nvPr>
            <p:extLst>
              <p:ext uri="{D42A27DB-BD31-4B8C-83A1-F6EECF244321}">
                <p14:modId xmlns:p14="http://schemas.microsoft.com/office/powerpoint/2010/main" val="867896967"/>
              </p:ext>
            </p:extLst>
          </p:nvPr>
        </p:nvGraphicFramePr>
        <p:xfrm>
          <a:off x="5168199" y="4060825"/>
          <a:ext cx="280987" cy="360363"/>
        </p:xfrm>
        <a:graphic>
          <a:graphicData uri="http://schemas.openxmlformats.org/presentationml/2006/ole">
            <mc:AlternateContent xmlns:mc="http://schemas.openxmlformats.org/markup-compatibility/2006">
              <mc:Choice xmlns:v="urn:schemas-microsoft-com:vml" Requires="v">
                <p:oleObj name="Equation" r:id="rId7" imgW="177480" imgH="228600" progId="Equation.DSMT4">
                  <p:embed/>
                </p:oleObj>
              </mc:Choice>
              <mc:Fallback>
                <p:oleObj name="Equation" r:id="rId7" imgW="177480" imgH="228600" progId="Equation.DSMT4">
                  <p:embed/>
                  <p:pic>
                    <p:nvPicPr>
                      <p:cNvPr id="5" name="Object 4">
                        <a:extLst>
                          <a:ext uri="{FF2B5EF4-FFF2-40B4-BE49-F238E27FC236}">
                            <a16:creationId xmlns:a16="http://schemas.microsoft.com/office/drawing/2014/main" id="{79715667-EE07-1856-41C1-FF14D671C4FC}"/>
                          </a:ext>
                        </a:extLst>
                      </p:cNvPr>
                      <p:cNvPicPr>
                        <a:picLocks noChangeAspect="1" noChangeArrowheads="1"/>
                      </p:cNvPicPr>
                      <p:nvPr/>
                    </p:nvPicPr>
                    <p:blipFill>
                      <a:blip r:embed="rId8"/>
                      <a:srcRect/>
                      <a:stretch>
                        <a:fillRect/>
                      </a:stretch>
                    </p:blipFill>
                    <p:spPr bwMode="auto">
                      <a:xfrm>
                        <a:off x="5168199" y="4060825"/>
                        <a:ext cx="280987" cy="360363"/>
                      </a:xfrm>
                      <a:prstGeom prst="rect">
                        <a:avLst/>
                      </a:prstGeom>
                      <a:noFill/>
                      <a:ln>
                        <a:noFill/>
                      </a:ln>
                      <a:effectLst/>
                    </p:spPr>
                  </p:pic>
                </p:oleObj>
              </mc:Fallback>
            </mc:AlternateContent>
          </a:graphicData>
        </a:graphic>
      </p:graphicFrame>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5516467" y="4040675"/>
            <a:ext cx="2937251" cy="344128"/>
          </a:xfrm>
        </p:spPr>
        <p:txBody>
          <a:bodyPr wrap="square" lIns="0" tIns="18000" rIns="0" bIns="18000" anchor="ctr">
            <a:spAutoFit/>
          </a:bodyPr>
          <a:lstStyle/>
          <a:p>
            <a:pPr marL="0" indent="0">
              <a:spcBef>
                <a:spcPts val="600"/>
              </a:spcBef>
              <a:buNone/>
            </a:pPr>
            <a:r>
              <a:rPr lang="en-US" sz="2000" noProof="0" dirty="0"/>
              <a:t>Since the inductor current</a:t>
            </a:r>
          </a:p>
        </p:txBody>
      </p:sp>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272986" y="4468537"/>
            <a:ext cx="7358903" cy="651905"/>
          </a:xfrm>
        </p:spPr>
        <p:txBody>
          <a:bodyPr wrap="square" lIns="0" tIns="18000" rIns="0" bIns="18000" anchor="ctr">
            <a:spAutoFit/>
          </a:bodyPr>
          <a:lstStyle/>
          <a:p>
            <a:pPr marL="0" indent="0">
              <a:spcBef>
                <a:spcPts val="600"/>
              </a:spcBef>
              <a:buNone/>
            </a:pPr>
            <a:r>
              <a:rPr lang="en-US" sz="2000" noProof="0" dirty="0"/>
              <a:t>must be continuous for all time, this is the value of the inductor current at the end of the last time segment.</a:t>
            </a:r>
          </a:p>
        </p:txBody>
      </p:sp>
      <p:graphicFrame>
        <p:nvGraphicFramePr>
          <p:cNvPr id="25" name="Object 24" descr="I subscript 0 baseline equals i subscript L baseline (35 milliseconds).&#10;">
            <a:extLst>
              <a:ext uri="{FF2B5EF4-FFF2-40B4-BE49-F238E27FC236}">
                <a16:creationId xmlns:a16="http://schemas.microsoft.com/office/drawing/2014/main" id="{FF744AF2-324E-3EC6-2C7F-77AF311B41E5}"/>
              </a:ext>
            </a:extLst>
          </p:cNvPr>
          <p:cNvGraphicFramePr>
            <a:graphicFrameLocks noChangeAspect="1"/>
          </p:cNvGraphicFramePr>
          <p:nvPr>
            <p:extLst>
              <p:ext uri="{D42A27DB-BD31-4B8C-83A1-F6EECF244321}">
                <p14:modId xmlns:p14="http://schemas.microsoft.com/office/powerpoint/2010/main" val="2145764229"/>
              </p:ext>
            </p:extLst>
          </p:nvPr>
        </p:nvGraphicFramePr>
        <p:xfrm>
          <a:off x="3743325" y="5347242"/>
          <a:ext cx="1460500" cy="356465"/>
        </p:xfrm>
        <a:graphic>
          <a:graphicData uri="http://schemas.openxmlformats.org/presentationml/2006/ole">
            <mc:AlternateContent xmlns:mc="http://schemas.openxmlformats.org/markup-compatibility/2006">
              <mc:Choice xmlns:v="urn:schemas-microsoft-com:vml" Requires="v">
                <p:oleObj name="Equation" r:id="rId9" imgW="939600" imgH="228600" progId="Equation.DSMT4">
                  <p:embed/>
                </p:oleObj>
              </mc:Choice>
              <mc:Fallback>
                <p:oleObj name="Equation" r:id="rId9" imgW="939600" imgH="228600" progId="Equation.DSMT4">
                  <p:embed/>
                  <p:pic>
                    <p:nvPicPr>
                      <p:cNvPr id="5" name="Object 4"/>
                      <p:cNvPicPr>
                        <a:picLocks noChangeAspect="1" noChangeArrowheads="1"/>
                      </p:cNvPicPr>
                      <p:nvPr/>
                    </p:nvPicPr>
                    <p:blipFill>
                      <a:blip r:embed="rId10"/>
                      <a:srcRect/>
                      <a:stretch>
                        <a:fillRect/>
                      </a:stretch>
                    </p:blipFill>
                    <p:spPr bwMode="auto">
                      <a:xfrm>
                        <a:off x="3743325" y="5347242"/>
                        <a:ext cx="1460500" cy="3564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25" descr="equals 6 e to the negative 40 (0.035) power baseline equals 1.48 Amperes.&#10;">
            <a:extLst>
              <a:ext uri="{FF2B5EF4-FFF2-40B4-BE49-F238E27FC236}">
                <a16:creationId xmlns:a16="http://schemas.microsoft.com/office/drawing/2014/main" id="{E328556E-C892-024B-EA76-C19A0A1CF634}"/>
              </a:ext>
            </a:extLst>
          </p:cNvPr>
          <p:cNvGraphicFramePr>
            <a:graphicFrameLocks noChangeAspect="1"/>
          </p:cNvGraphicFramePr>
          <p:nvPr>
            <p:extLst>
              <p:ext uri="{D42A27DB-BD31-4B8C-83A1-F6EECF244321}">
                <p14:modId xmlns:p14="http://schemas.microsoft.com/office/powerpoint/2010/main" val="3220717332"/>
              </p:ext>
            </p:extLst>
          </p:nvPr>
        </p:nvGraphicFramePr>
        <p:xfrm>
          <a:off x="4047954" y="5797461"/>
          <a:ext cx="2348057" cy="314614"/>
        </p:xfrm>
        <a:graphic>
          <a:graphicData uri="http://schemas.openxmlformats.org/presentationml/2006/ole">
            <mc:AlternateContent xmlns:mc="http://schemas.openxmlformats.org/markup-compatibility/2006">
              <mc:Choice xmlns:v="urn:schemas-microsoft-com:vml" Requires="v">
                <p:oleObj name="Equation" r:id="rId11" imgW="1511280" imgH="203040" progId="Equation.DSMT4">
                  <p:embed/>
                </p:oleObj>
              </mc:Choice>
              <mc:Fallback>
                <p:oleObj name="Equation" r:id="rId11" imgW="1511280" imgH="203040" progId="Equation.DSMT4">
                  <p:embed/>
                  <p:pic>
                    <p:nvPicPr>
                      <p:cNvPr id="25" name="Object 24">
                        <a:extLst>
                          <a:ext uri="{FF2B5EF4-FFF2-40B4-BE49-F238E27FC236}">
                            <a16:creationId xmlns:a16="http://schemas.microsoft.com/office/drawing/2014/main" id="{FF744AF2-324E-3EC6-2C7F-77AF311B41E5}"/>
                          </a:ext>
                        </a:extLst>
                      </p:cNvPr>
                      <p:cNvPicPr>
                        <a:picLocks noChangeAspect="1" noChangeArrowheads="1"/>
                      </p:cNvPicPr>
                      <p:nvPr/>
                    </p:nvPicPr>
                    <p:blipFill>
                      <a:blip r:embed="rId12"/>
                      <a:srcRect/>
                      <a:stretch>
                        <a:fillRect/>
                      </a:stretch>
                    </p:blipFill>
                    <p:spPr bwMode="auto">
                      <a:xfrm>
                        <a:off x="4047954" y="5797461"/>
                        <a:ext cx="2348057" cy="3146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5251903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6190"/>
            <a:ext cx="8229600" cy="1144347"/>
          </a:xfrm>
        </p:spPr>
        <p:txBody>
          <a:bodyPr/>
          <a:lstStyle/>
          <a:p>
            <a:r>
              <a:rPr lang="en-US" noProof="0" dirty="0"/>
              <a:t>Chapter 7 – Sequential Switching Problems </a:t>
            </a:r>
            <a:r>
              <a:rPr lang="en-US" sz="2800" noProof="0" dirty="0"/>
              <a:t>(15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56527"/>
            <a:ext cx="8229600" cy="1144347"/>
          </a:xfrm>
        </p:spPr>
        <p:txBody>
          <a:bodyPr wrap="square" lIns="0" tIns="18000" rIns="0" bIns="18000" anchor="ctr">
            <a:spAutoFit/>
          </a:bodyPr>
          <a:lstStyle/>
          <a:p>
            <a:pPr marL="0" indent="0">
              <a:spcBef>
                <a:spcPts val="600"/>
              </a:spcBef>
              <a:buNone/>
            </a:pPr>
            <a:r>
              <a:rPr lang="en-US" sz="2400" noProof="0" dirty="0"/>
              <a:t>Next, calculate the time constant for this time segment. To do this, find the equivalent resistance seen by the inductor for the circuit that exists in this time segment.</a:t>
            </a:r>
          </a:p>
        </p:txBody>
      </p:sp>
      <p:pic>
        <p:nvPicPr>
          <p:cNvPr id="2" name="Picture 2"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A 3 ohms resistor is located in the top wire between the wires for the 6 ohms resistor and the 150 milli Henry inductor. There is a discontinuity in the top wire of the circuit between wires where the 12 ohms and 6 ohms resistors are located. There is a discontinuity in the top wire of the circuit between wires where the 150 milli Henry inductor and the 18 ohms resistors are located.">
            <a:extLst>
              <a:ext uri="{FF2B5EF4-FFF2-40B4-BE49-F238E27FC236}">
                <a16:creationId xmlns:a16="http://schemas.microsoft.com/office/drawing/2014/main" id="{76E1C755-EC13-0D5C-D063-A35373C4DA8B}"/>
              </a:ext>
            </a:extLst>
          </p:cNvPr>
          <p:cNvPicPr>
            <a:picLocks noChangeAspect="1" noChangeArrowheads="1"/>
          </p:cNvPicPr>
          <p:nvPr/>
        </p:nvPicPr>
        <p:blipFill>
          <a:blip r:embed="rId2"/>
          <a:stretch>
            <a:fillRect/>
          </a:stretch>
        </p:blipFill>
        <p:spPr bwMode="auto">
          <a:xfrm>
            <a:off x="2253556" y="2841547"/>
            <a:ext cx="4709914" cy="1564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406337" y="4711371"/>
            <a:ext cx="44039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t>
            </a:r>
          </a:p>
        </p:txBody>
      </p:sp>
      <p:graphicFrame>
        <p:nvGraphicFramePr>
          <p:cNvPr id="3" name="Object 2" descr="OpenParenthesis 6 plus 3 plus 18 CloseParenthesis Ohm.&#10;">
            <a:extLst>
              <a:ext uri="{FF2B5EF4-FFF2-40B4-BE49-F238E27FC236}">
                <a16:creationId xmlns:a16="http://schemas.microsoft.com/office/drawing/2014/main" id="{C03DFC2D-FF61-1262-815D-44AF27449F26}"/>
              </a:ext>
            </a:extLst>
          </p:cNvPr>
          <p:cNvGraphicFramePr>
            <a:graphicFrameLocks noChangeAspect="1"/>
          </p:cNvGraphicFramePr>
          <p:nvPr>
            <p:extLst>
              <p:ext uri="{D42A27DB-BD31-4B8C-83A1-F6EECF244321}">
                <p14:modId xmlns:p14="http://schemas.microsoft.com/office/powerpoint/2010/main" val="2453872680"/>
              </p:ext>
            </p:extLst>
          </p:nvPr>
        </p:nvGraphicFramePr>
        <p:xfrm>
          <a:off x="1898036" y="4721331"/>
          <a:ext cx="1770063" cy="385762"/>
        </p:xfrm>
        <a:graphic>
          <a:graphicData uri="http://schemas.openxmlformats.org/presentationml/2006/ole">
            <mc:AlternateContent xmlns:mc="http://schemas.openxmlformats.org/markup-compatibility/2006">
              <mc:Choice xmlns:v="urn:schemas-microsoft-com:vml" Requires="v">
                <p:oleObj name="Equation" r:id="rId3" imgW="927000" imgH="203040" progId="Equation.DSMT4">
                  <p:embed/>
                </p:oleObj>
              </mc:Choice>
              <mc:Fallback>
                <p:oleObj name="Equation" r:id="rId3" imgW="927000" imgH="203040" progId="Equation.DSMT4">
                  <p:embed/>
                  <p:pic>
                    <p:nvPicPr>
                      <p:cNvPr id="3" name="Object 2">
                        <a:extLst>
                          <a:ext uri="{FF2B5EF4-FFF2-40B4-BE49-F238E27FC236}">
                            <a16:creationId xmlns:a16="http://schemas.microsoft.com/office/drawing/2014/main" id="{D73842C0-DBE3-7F8B-03C9-A47860731DB6}"/>
                          </a:ext>
                        </a:extLst>
                      </p:cNvPr>
                      <p:cNvPicPr>
                        <a:picLocks noChangeAspect="1" noChangeArrowheads="1"/>
                      </p:cNvPicPr>
                      <p:nvPr/>
                    </p:nvPicPr>
                    <p:blipFill>
                      <a:blip r:embed="rId4"/>
                      <a:srcRect/>
                      <a:stretch>
                        <a:fillRect/>
                      </a:stretch>
                    </p:blipFill>
                    <p:spPr bwMode="auto">
                      <a:xfrm>
                        <a:off x="1898036" y="4721331"/>
                        <a:ext cx="1770063" cy="385762"/>
                      </a:xfrm>
                      <a:prstGeom prst="rect">
                        <a:avLst/>
                      </a:prstGeom>
                      <a:noFill/>
                      <a:ln>
                        <a:noFill/>
                      </a:ln>
                      <a:effectLst/>
                    </p:spPr>
                  </p:pic>
                </p:oleObj>
              </mc:Fallback>
            </mc:AlternateContent>
          </a:graphicData>
        </a:graphic>
      </p:graphicFrame>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406337" y="5275029"/>
            <a:ext cx="44039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p>
        </p:txBody>
      </p:sp>
      <p:graphicFrame>
        <p:nvGraphicFramePr>
          <p:cNvPr id="4" name="Object 3" descr="OpenParenthesis 6 plus 3 CloseParenthesis Ohm.&#10;">
            <a:extLst>
              <a:ext uri="{FF2B5EF4-FFF2-40B4-BE49-F238E27FC236}">
                <a16:creationId xmlns:a16="http://schemas.microsoft.com/office/drawing/2014/main" id="{CAB7CF79-0E1B-3D3B-A03D-AD4A9282037A}"/>
              </a:ext>
            </a:extLst>
          </p:cNvPr>
          <p:cNvGraphicFramePr>
            <a:graphicFrameLocks noChangeAspect="1"/>
          </p:cNvGraphicFramePr>
          <p:nvPr>
            <p:extLst>
              <p:ext uri="{D42A27DB-BD31-4B8C-83A1-F6EECF244321}">
                <p14:modId xmlns:p14="http://schemas.microsoft.com/office/powerpoint/2010/main" val="378823135"/>
              </p:ext>
            </p:extLst>
          </p:nvPr>
        </p:nvGraphicFramePr>
        <p:xfrm>
          <a:off x="1896626" y="5246688"/>
          <a:ext cx="1108075" cy="460375"/>
        </p:xfrm>
        <a:graphic>
          <a:graphicData uri="http://schemas.openxmlformats.org/presentationml/2006/ole">
            <mc:AlternateContent xmlns:mc="http://schemas.openxmlformats.org/markup-compatibility/2006">
              <mc:Choice xmlns:v="urn:schemas-microsoft-com:vml" Requires="v">
                <p:oleObj name="Equation" r:id="rId5" imgW="609480" imgH="253800" progId="Equation.DSMT4">
                  <p:embed/>
                </p:oleObj>
              </mc:Choice>
              <mc:Fallback>
                <p:oleObj name="Equation" r:id="rId5" imgW="609480" imgH="253800" progId="Equation.DSMT4">
                  <p:embed/>
                  <p:pic>
                    <p:nvPicPr>
                      <p:cNvPr id="4" name="Object 3">
                        <a:extLst>
                          <a:ext uri="{FF2B5EF4-FFF2-40B4-BE49-F238E27FC236}">
                            <a16:creationId xmlns:a16="http://schemas.microsoft.com/office/drawing/2014/main" id="{242BF61D-F919-D7F5-27F3-BCBD6BE11E0F}"/>
                          </a:ext>
                        </a:extLst>
                      </p:cNvPr>
                      <p:cNvPicPr>
                        <a:picLocks noChangeAspect="1" noChangeArrowheads="1"/>
                      </p:cNvPicPr>
                      <p:nvPr/>
                    </p:nvPicPr>
                    <p:blipFill>
                      <a:blip r:embed="rId6"/>
                      <a:srcRect/>
                      <a:stretch>
                        <a:fillRect/>
                      </a:stretch>
                    </p:blipFill>
                    <p:spPr bwMode="auto">
                      <a:xfrm>
                        <a:off x="1896626" y="5246688"/>
                        <a:ext cx="1108075" cy="460375"/>
                      </a:xfrm>
                      <a:prstGeom prst="rect">
                        <a:avLst/>
                      </a:prstGeom>
                      <a:noFill/>
                      <a:ln>
                        <a:noFill/>
                      </a:ln>
                      <a:effec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406336" y="5838685"/>
            <a:ext cx="440391"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p>
        </p:txBody>
      </p:sp>
      <p:graphicFrame>
        <p:nvGraphicFramePr>
          <p:cNvPr id="5" name="Object 4" descr="open square bracket OpenParenthesis 6 plus 3 CloseParenthesis parallel to 18 close square bracket Ohm.&#10;">
            <a:extLst>
              <a:ext uri="{FF2B5EF4-FFF2-40B4-BE49-F238E27FC236}">
                <a16:creationId xmlns:a16="http://schemas.microsoft.com/office/drawing/2014/main" id="{FCC2151C-AEA8-F63E-A0DA-52FB90417603}"/>
              </a:ext>
            </a:extLst>
          </p:cNvPr>
          <p:cNvGraphicFramePr>
            <a:graphicFrameLocks noChangeAspect="1"/>
          </p:cNvGraphicFramePr>
          <p:nvPr>
            <p:extLst>
              <p:ext uri="{D42A27DB-BD31-4B8C-83A1-F6EECF244321}">
                <p14:modId xmlns:p14="http://schemas.microsoft.com/office/powerpoint/2010/main" val="1100815602"/>
              </p:ext>
            </p:extLst>
          </p:nvPr>
        </p:nvGraphicFramePr>
        <p:xfrm>
          <a:off x="1898036" y="5828034"/>
          <a:ext cx="1916112" cy="385762"/>
        </p:xfrm>
        <a:graphic>
          <a:graphicData uri="http://schemas.openxmlformats.org/presentationml/2006/ole">
            <mc:AlternateContent xmlns:mc="http://schemas.openxmlformats.org/markup-compatibility/2006">
              <mc:Choice xmlns:v="urn:schemas-microsoft-com:vml" Requires="v">
                <p:oleObj name="Equation" r:id="rId7" imgW="1002960" imgH="203040" progId="Equation.DSMT4">
                  <p:embed/>
                </p:oleObj>
              </mc:Choice>
              <mc:Fallback>
                <p:oleObj name="Equation" r:id="rId7" imgW="1002960" imgH="203040" progId="Equation.DSMT4">
                  <p:embed/>
                  <p:pic>
                    <p:nvPicPr>
                      <p:cNvPr id="5" name="Object 4">
                        <a:extLst>
                          <a:ext uri="{FF2B5EF4-FFF2-40B4-BE49-F238E27FC236}">
                            <a16:creationId xmlns:a16="http://schemas.microsoft.com/office/drawing/2014/main" id="{2901E4B9-8D26-B50C-E255-2239AE0D50A8}"/>
                          </a:ext>
                        </a:extLst>
                      </p:cNvPr>
                      <p:cNvPicPr>
                        <a:picLocks noChangeAspect="1" noChangeArrowheads="1"/>
                      </p:cNvPicPr>
                      <p:nvPr/>
                    </p:nvPicPr>
                    <p:blipFill>
                      <a:blip r:embed="rId8"/>
                      <a:srcRect/>
                      <a:stretch>
                        <a:fillRect/>
                      </a:stretch>
                    </p:blipFill>
                    <p:spPr bwMode="auto">
                      <a:xfrm>
                        <a:off x="1898036" y="5828034"/>
                        <a:ext cx="1916112" cy="38576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8427207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BC319-C3FA-BDD8-512F-0717ED56968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7327FC9-3AC5-529D-1B41-D6E192A22C93}"/>
              </a:ext>
            </a:extLst>
          </p:cNvPr>
          <p:cNvSpPr>
            <a:spLocks noGrp="1"/>
          </p:cNvSpPr>
          <p:nvPr>
            <p:ph type="title"/>
          </p:nvPr>
        </p:nvSpPr>
        <p:spPr>
          <a:xfrm>
            <a:off x="438150" y="216190"/>
            <a:ext cx="8229600" cy="1144347"/>
          </a:xfrm>
        </p:spPr>
        <p:txBody>
          <a:bodyPr/>
          <a:lstStyle/>
          <a:p>
            <a:r>
              <a:rPr lang="en-US" noProof="0" dirty="0"/>
              <a:t>Chapter 7 – Sequential Switching Problems </a:t>
            </a:r>
            <a:r>
              <a:rPr lang="en-US" sz="2800" noProof="0" dirty="0"/>
              <a:t>(15 of 22)</a:t>
            </a:r>
          </a:p>
        </p:txBody>
      </p:sp>
      <p:sp>
        <p:nvSpPr>
          <p:cNvPr id="7" name="Content Placeholder 6">
            <a:extLst>
              <a:ext uri="{FF2B5EF4-FFF2-40B4-BE49-F238E27FC236}">
                <a16:creationId xmlns:a16="http://schemas.microsoft.com/office/drawing/2014/main" id="{6FF73EC7-2032-8B2A-9184-688FA09F620F}"/>
              </a:ext>
            </a:extLst>
          </p:cNvPr>
          <p:cNvSpPr>
            <a:spLocks noGrp="1"/>
          </p:cNvSpPr>
          <p:nvPr>
            <p:ph sz="quarter" idx="12"/>
          </p:nvPr>
        </p:nvSpPr>
        <p:spPr>
          <a:xfrm>
            <a:off x="438150" y="1456527"/>
            <a:ext cx="8229600" cy="1144347"/>
          </a:xfrm>
        </p:spPr>
        <p:txBody>
          <a:bodyPr wrap="square" lIns="0" tIns="18000" rIns="0" bIns="18000" anchor="ctr">
            <a:spAutoFit/>
          </a:bodyPr>
          <a:lstStyle/>
          <a:p>
            <a:pPr marL="0" indent="0">
              <a:spcBef>
                <a:spcPts val="600"/>
              </a:spcBef>
              <a:buNone/>
            </a:pPr>
            <a:r>
              <a:rPr lang="en-US" sz="2400" noProof="0" dirty="0"/>
              <a:t>Next, calculate the time constant for this time segment. To do this, find the equivalent resistance seen by the inductor for the circuit that exists in this time segment.</a:t>
            </a:r>
          </a:p>
        </p:txBody>
      </p:sp>
      <p:pic>
        <p:nvPicPr>
          <p:cNvPr id="2" name="Picture 2"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A 3 ohms resistor is located in the top wire between the wires for the 6 ohms resistor and the 150 milli Henry inductor. There is a discontinuity in the top wire of the circuit between wires where the 12 ohms and 6 ohms resistors are located. There is a discontinuity in the top wire of the circuit between wires where the 150 milli Henry inductor and the 18 ohms resistors are located.">
            <a:extLst>
              <a:ext uri="{FF2B5EF4-FFF2-40B4-BE49-F238E27FC236}">
                <a16:creationId xmlns:a16="http://schemas.microsoft.com/office/drawing/2014/main" id="{8B855390-1A3C-66EB-3C05-09A219378A28}"/>
              </a:ext>
            </a:extLst>
          </p:cNvPr>
          <p:cNvPicPr>
            <a:picLocks noChangeAspect="1" noChangeArrowheads="1"/>
          </p:cNvPicPr>
          <p:nvPr/>
        </p:nvPicPr>
        <p:blipFill>
          <a:blip r:embed="rId5"/>
          <a:stretch>
            <a:fillRect/>
          </a:stretch>
        </p:blipFill>
        <p:spPr bwMode="auto">
          <a:xfrm>
            <a:off x="2253556" y="2841547"/>
            <a:ext cx="4709914" cy="1564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1434" descr="Cross mark">
            <a:extLst>
              <a:ext uri="{FF2B5EF4-FFF2-40B4-BE49-F238E27FC236}">
                <a16:creationId xmlns:a16="http://schemas.microsoft.com/office/drawing/2014/main" id="{4139DB41-0DDE-8039-E3C2-0F87D57F93AE}"/>
              </a:ext>
            </a:extLst>
          </p:cNvPr>
          <p:cNvPicPr>
            <a:picLocks/>
          </p:cNvPicPr>
          <p:nvPr>
            <p:custDataLst>
              <p:tags r:id="rId1"/>
            </p:custDataLst>
          </p:nvPr>
        </p:nvPicPr>
        <p:blipFill>
          <a:blip r:embed="rId6">
            <a:extLst>
              <a:ext uri="{28A0092B-C50C-407E-A947-70E740481C1C}">
                <a14:useLocalDpi xmlns:a14="http://schemas.microsoft.com/office/drawing/2010/main" val="0"/>
              </a:ext>
            </a:extLst>
          </a:blip>
          <a:srcRect/>
          <a:stretch>
            <a:fillRect/>
          </a:stretch>
        </p:blipFill>
        <p:spPr bwMode="auto">
          <a:xfrm>
            <a:off x="815802" y="4738693"/>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10AE0CCD-9FDD-186B-5456-46246AC72D78}"/>
              </a:ext>
            </a:extLst>
          </p:cNvPr>
          <p:cNvSpPr>
            <a:spLocks noGrp="1"/>
          </p:cNvSpPr>
          <p:nvPr>
            <p:ph sz="quarter" idx="13"/>
          </p:nvPr>
        </p:nvSpPr>
        <p:spPr>
          <a:xfrm>
            <a:off x="1406337" y="4711371"/>
            <a:ext cx="440390" cy="405683"/>
          </a:xfrm>
        </p:spPr>
        <p:txBody>
          <a:bodyPr wrap="square" lIns="0" tIns="18000" rIns="0" bIns="18000" anchor="ctr">
            <a:spAutoFit/>
          </a:bodyPr>
          <a:lstStyle/>
          <a:p>
            <a:pPr marL="0" indent="0">
              <a:spcBef>
                <a:spcPts val="600"/>
              </a:spcBef>
              <a:buNone/>
            </a:pPr>
            <a:r>
              <a:rPr lang="en-US" sz="2400" noProof="0" dirty="0">
                <a:solidFill>
                  <a:srgbClr val="007FA3"/>
                </a:solidFill>
              </a:rPr>
              <a:t>A.</a:t>
            </a:r>
            <a:r>
              <a:rPr lang="en-US" sz="2400" noProof="0" dirty="0"/>
              <a:t> </a:t>
            </a:r>
          </a:p>
        </p:txBody>
      </p:sp>
      <p:graphicFrame>
        <p:nvGraphicFramePr>
          <p:cNvPr id="3" name="Object 2" descr="OpenParenthesis 6 plus 3 plus 18 CloseParenthesis Ohm.&#10;">
            <a:extLst>
              <a:ext uri="{FF2B5EF4-FFF2-40B4-BE49-F238E27FC236}">
                <a16:creationId xmlns:a16="http://schemas.microsoft.com/office/drawing/2014/main" id="{FF83375D-EFC4-C369-D7C3-92101C5CDAB9}"/>
              </a:ext>
            </a:extLst>
          </p:cNvPr>
          <p:cNvGraphicFramePr>
            <a:graphicFrameLocks noChangeAspect="1"/>
          </p:cNvGraphicFramePr>
          <p:nvPr/>
        </p:nvGraphicFramePr>
        <p:xfrm>
          <a:off x="1898036" y="4721331"/>
          <a:ext cx="1770063" cy="385762"/>
        </p:xfrm>
        <a:graphic>
          <a:graphicData uri="http://schemas.openxmlformats.org/presentationml/2006/ole">
            <mc:AlternateContent xmlns:mc="http://schemas.openxmlformats.org/markup-compatibility/2006">
              <mc:Choice xmlns:v="urn:schemas-microsoft-com:vml" Requires="v">
                <p:oleObj name="Equation" r:id="rId7" imgW="927000" imgH="203040" progId="Equation.DSMT4">
                  <p:embed/>
                </p:oleObj>
              </mc:Choice>
              <mc:Fallback>
                <p:oleObj name="Equation" r:id="rId7" imgW="927000" imgH="203040" progId="Equation.DSMT4">
                  <p:embed/>
                  <p:pic>
                    <p:nvPicPr>
                      <p:cNvPr id="3" name="Object 2" descr="OpenParenthesis 6 plus 3 plus 18 CloseParenthesis Ohm.&#10;">
                        <a:extLst>
                          <a:ext uri="{FF2B5EF4-FFF2-40B4-BE49-F238E27FC236}">
                            <a16:creationId xmlns:a16="http://schemas.microsoft.com/office/drawing/2014/main" id="{C03DFC2D-FF61-1262-815D-44AF27449F26}"/>
                          </a:ext>
                        </a:extLst>
                      </p:cNvPr>
                      <p:cNvPicPr>
                        <a:picLocks noChangeAspect="1" noChangeArrowheads="1"/>
                      </p:cNvPicPr>
                      <p:nvPr/>
                    </p:nvPicPr>
                    <p:blipFill>
                      <a:blip r:embed="rId8"/>
                      <a:srcRect/>
                      <a:stretch>
                        <a:fillRect/>
                      </a:stretch>
                    </p:blipFill>
                    <p:spPr bwMode="auto">
                      <a:xfrm>
                        <a:off x="1898036" y="4721331"/>
                        <a:ext cx="1770063" cy="385762"/>
                      </a:xfrm>
                      <a:prstGeom prst="rect">
                        <a:avLst/>
                      </a:prstGeom>
                      <a:noFill/>
                      <a:ln>
                        <a:noFill/>
                      </a:ln>
                      <a:effectLst/>
                    </p:spPr>
                  </p:pic>
                </p:oleObj>
              </mc:Fallback>
            </mc:AlternateContent>
          </a:graphicData>
        </a:graphic>
      </p:graphicFrame>
      <p:pic>
        <p:nvPicPr>
          <p:cNvPr id="26" name="Picture 1435" descr="Check mark">
            <a:extLst>
              <a:ext uri="{FF2B5EF4-FFF2-40B4-BE49-F238E27FC236}">
                <a16:creationId xmlns:a16="http://schemas.microsoft.com/office/drawing/2014/main" id="{2225BBCA-2E2E-7772-6149-ED440E6B1E63}"/>
              </a:ext>
            </a:extLst>
          </p:cNvPr>
          <p:cNvPicPr>
            <a:picLocks/>
          </p:cNvPicPr>
          <p:nvPr>
            <p:custDataLst>
              <p:tags r:id="rId2"/>
            </p:custDataLst>
          </p:nvPr>
        </p:nvPicPr>
        <p:blipFill>
          <a:blip r:embed="rId9">
            <a:extLst>
              <a:ext uri="{28A0092B-C50C-407E-A947-70E740481C1C}">
                <a14:useLocalDpi xmlns:a14="http://schemas.microsoft.com/office/drawing/2010/main" val="0"/>
              </a:ext>
            </a:extLst>
          </a:blip>
          <a:srcRect/>
          <a:stretch>
            <a:fillRect/>
          </a:stretch>
        </p:blipFill>
        <p:spPr bwMode="auto">
          <a:xfrm>
            <a:off x="815802" y="5304845"/>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3F9448E7-5AC6-F8A3-78AD-B212778BB779}"/>
              </a:ext>
            </a:extLst>
          </p:cNvPr>
          <p:cNvSpPr>
            <a:spLocks noGrp="1"/>
          </p:cNvSpPr>
          <p:nvPr>
            <p:ph sz="quarter" idx="14"/>
          </p:nvPr>
        </p:nvSpPr>
        <p:spPr>
          <a:xfrm>
            <a:off x="1406337" y="5275029"/>
            <a:ext cx="440390" cy="405683"/>
          </a:xfrm>
        </p:spPr>
        <p:txBody>
          <a:bodyPr wrap="square" lIns="0" tIns="18000" rIns="0" bIns="18000" anchor="ctr">
            <a:spAutoFit/>
          </a:bodyPr>
          <a:lstStyle/>
          <a:p>
            <a:pPr marL="0" indent="0">
              <a:spcBef>
                <a:spcPts val="600"/>
              </a:spcBef>
              <a:buNone/>
            </a:pPr>
            <a:r>
              <a:rPr lang="en-US" sz="2400" noProof="0" dirty="0">
                <a:solidFill>
                  <a:srgbClr val="007FA3"/>
                </a:solidFill>
              </a:rPr>
              <a:t>B.</a:t>
            </a:r>
            <a:r>
              <a:rPr lang="en-US" sz="2400" noProof="0" dirty="0"/>
              <a:t> </a:t>
            </a:r>
          </a:p>
        </p:txBody>
      </p:sp>
      <p:graphicFrame>
        <p:nvGraphicFramePr>
          <p:cNvPr id="4" name="Object 3" descr="OpenParenthesis 6 plus 3 CloseParenthesis Ohm.&#10;">
            <a:extLst>
              <a:ext uri="{FF2B5EF4-FFF2-40B4-BE49-F238E27FC236}">
                <a16:creationId xmlns:a16="http://schemas.microsoft.com/office/drawing/2014/main" id="{B645A285-6307-7445-0FED-AA6AA63BD65E}"/>
              </a:ext>
            </a:extLst>
          </p:cNvPr>
          <p:cNvGraphicFramePr>
            <a:graphicFrameLocks noChangeAspect="1"/>
          </p:cNvGraphicFramePr>
          <p:nvPr/>
        </p:nvGraphicFramePr>
        <p:xfrm>
          <a:off x="1896626" y="5246688"/>
          <a:ext cx="1108075" cy="460375"/>
        </p:xfrm>
        <a:graphic>
          <a:graphicData uri="http://schemas.openxmlformats.org/presentationml/2006/ole">
            <mc:AlternateContent xmlns:mc="http://schemas.openxmlformats.org/markup-compatibility/2006">
              <mc:Choice xmlns:v="urn:schemas-microsoft-com:vml" Requires="v">
                <p:oleObj name="Equation" r:id="rId10" imgW="609480" imgH="253800" progId="Equation.DSMT4">
                  <p:embed/>
                </p:oleObj>
              </mc:Choice>
              <mc:Fallback>
                <p:oleObj name="Equation" r:id="rId10" imgW="609480" imgH="253800" progId="Equation.DSMT4">
                  <p:embed/>
                  <p:pic>
                    <p:nvPicPr>
                      <p:cNvPr id="4" name="Object 3" descr="OpenParenthesis 6 plus 3 CloseParenthesis Ohm.&#10;">
                        <a:extLst>
                          <a:ext uri="{FF2B5EF4-FFF2-40B4-BE49-F238E27FC236}">
                            <a16:creationId xmlns:a16="http://schemas.microsoft.com/office/drawing/2014/main" id="{CAB7CF79-0E1B-3D3B-A03D-AD4A9282037A}"/>
                          </a:ext>
                        </a:extLst>
                      </p:cNvPr>
                      <p:cNvPicPr>
                        <a:picLocks noChangeAspect="1" noChangeArrowheads="1"/>
                      </p:cNvPicPr>
                      <p:nvPr/>
                    </p:nvPicPr>
                    <p:blipFill>
                      <a:blip r:embed="rId11"/>
                      <a:srcRect/>
                      <a:stretch>
                        <a:fillRect/>
                      </a:stretch>
                    </p:blipFill>
                    <p:spPr bwMode="auto">
                      <a:xfrm>
                        <a:off x="1896626" y="5246688"/>
                        <a:ext cx="1108075" cy="460375"/>
                      </a:xfrm>
                      <a:prstGeom prst="rect">
                        <a:avLst/>
                      </a:prstGeom>
                      <a:noFill/>
                      <a:ln>
                        <a:noFill/>
                      </a:ln>
                      <a:effectLst/>
                    </p:spPr>
                  </p:pic>
                </p:oleObj>
              </mc:Fallback>
            </mc:AlternateContent>
          </a:graphicData>
        </a:graphic>
      </p:graphicFrame>
      <p:pic>
        <p:nvPicPr>
          <p:cNvPr id="27" name="Picture 1436" descr="Cross mark">
            <a:extLst>
              <a:ext uri="{FF2B5EF4-FFF2-40B4-BE49-F238E27FC236}">
                <a16:creationId xmlns:a16="http://schemas.microsoft.com/office/drawing/2014/main" id="{1D6046B6-F5D4-903B-C793-026948F11E5F}"/>
              </a:ext>
            </a:extLst>
          </p:cNvPr>
          <p:cNvPicPr>
            <a:picLocks/>
          </p:cNvPicPr>
          <p:nvPr>
            <p:custDataLst>
              <p:tags r:id="rId3"/>
            </p:custDataLst>
          </p:nvPr>
        </p:nvPicPr>
        <p:blipFill>
          <a:blip r:embed="rId6">
            <a:extLst>
              <a:ext uri="{28A0092B-C50C-407E-A947-70E740481C1C}">
                <a14:useLocalDpi xmlns:a14="http://schemas.microsoft.com/office/drawing/2010/main" val="0"/>
              </a:ext>
            </a:extLst>
          </a:blip>
          <a:srcRect/>
          <a:stretch>
            <a:fillRect/>
          </a:stretch>
        </p:blipFill>
        <p:spPr bwMode="auto">
          <a:xfrm>
            <a:off x="815802" y="5850993"/>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3B34EBCC-43C6-C7D2-3AE8-1F2EDC42E4CE}"/>
              </a:ext>
            </a:extLst>
          </p:cNvPr>
          <p:cNvSpPr>
            <a:spLocks noGrp="1"/>
          </p:cNvSpPr>
          <p:nvPr>
            <p:ph sz="quarter" idx="15"/>
          </p:nvPr>
        </p:nvSpPr>
        <p:spPr>
          <a:xfrm>
            <a:off x="1406336" y="5838685"/>
            <a:ext cx="440391" cy="405683"/>
          </a:xfrm>
        </p:spPr>
        <p:txBody>
          <a:bodyPr wrap="square" lIns="0" tIns="18000" rIns="0" bIns="18000" anchor="ctr">
            <a:spAutoFit/>
          </a:bodyPr>
          <a:lstStyle/>
          <a:p>
            <a:pPr marL="0" indent="0">
              <a:spcBef>
                <a:spcPts val="600"/>
              </a:spcBef>
              <a:buNone/>
            </a:pPr>
            <a:r>
              <a:rPr lang="en-US" sz="2400" noProof="0" dirty="0">
                <a:solidFill>
                  <a:srgbClr val="007FA3"/>
                </a:solidFill>
              </a:rPr>
              <a:t>C.</a:t>
            </a:r>
            <a:r>
              <a:rPr lang="en-US" sz="2400" noProof="0" dirty="0"/>
              <a:t> </a:t>
            </a:r>
          </a:p>
        </p:txBody>
      </p:sp>
      <p:graphicFrame>
        <p:nvGraphicFramePr>
          <p:cNvPr id="5" name="Object 4" descr="open square bracket OpenParenthesis 6 plus 3 CloseParenthesis parallel to 18 close square bracket Ohm.&#10;">
            <a:extLst>
              <a:ext uri="{FF2B5EF4-FFF2-40B4-BE49-F238E27FC236}">
                <a16:creationId xmlns:a16="http://schemas.microsoft.com/office/drawing/2014/main" id="{A5C83BAB-FA11-D741-86EF-0895A6074C4C}"/>
              </a:ext>
            </a:extLst>
          </p:cNvPr>
          <p:cNvGraphicFramePr>
            <a:graphicFrameLocks noChangeAspect="1"/>
          </p:cNvGraphicFramePr>
          <p:nvPr/>
        </p:nvGraphicFramePr>
        <p:xfrm>
          <a:off x="1898036" y="5828034"/>
          <a:ext cx="1916112" cy="385762"/>
        </p:xfrm>
        <a:graphic>
          <a:graphicData uri="http://schemas.openxmlformats.org/presentationml/2006/ole">
            <mc:AlternateContent xmlns:mc="http://schemas.openxmlformats.org/markup-compatibility/2006">
              <mc:Choice xmlns:v="urn:schemas-microsoft-com:vml" Requires="v">
                <p:oleObj name="Equation" r:id="rId12" imgW="1002960" imgH="203040" progId="Equation.DSMT4">
                  <p:embed/>
                </p:oleObj>
              </mc:Choice>
              <mc:Fallback>
                <p:oleObj name="Equation" r:id="rId12" imgW="1002960" imgH="203040" progId="Equation.DSMT4">
                  <p:embed/>
                  <p:pic>
                    <p:nvPicPr>
                      <p:cNvPr id="5" name="Object 4" descr="open square bracket OpenParenthesis 6 plus 3 CloseParenthesis parallel to 18 close square bracket Ohm.&#10;">
                        <a:extLst>
                          <a:ext uri="{FF2B5EF4-FFF2-40B4-BE49-F238E27FC236}">
                            <a16:creationId xmlns:a16="http://schemas.microsoft.com/office/drawing/2014/main" id="{FCC2151C-AEA8-F63E-A0DA-52FB90417603}"/>
                          </a:ext>
                        </a:extLst>
                      </p:cNvPr>
                      <p:cNvPicPr>
                        <a:picLocks noChangeAspect="1" noChangeArrowheads="1"/>
                      </p:cNvPicPr>
                      <p:nvPr/>
                    </p:nvPicPr>
                    <p:blipFill>
                      <a:blip r:embed="rId13"/>
                      <a:srcRect/>
                      <a:stretch>
                        <a:fillRect/>
                      </a:stretch>
                    </p:blipFill>
                    <p:spPr bwMode="auto">
                      <a:xfrm>
                        <a:off x="1898036" y="5828034"/>
                        <a:ext cx="1916112" cy="38576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677193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24595"/>
            <a:ext cx="8229600" cy="1144347"/>
          </a:xfrm>
        </p:spPr>
        <p:txBody>
          <a:bodyPr/>
          <a:lstStyle/>
          <a:p>
            <a:r>
              <a:rPr lang="en-US" noProof="0" dirty="0"/>
              <a:t>Chapter 7 – Sequential Switching Problems </a:t>
            </a:r>
            <a:r>
              <a:rPr lang="en-US" sz="2800" noProof="0" dirty="0"/>
              <a:t>(16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97697"/>
            <a:ext cx="4054475" cy="1575234"/>
          </a:xfrm>
        </p:spPr>
        <p:txBody>
          <a:bodyPr wrap="square" lIns="0" tIns="18000" rIns="0" bIns="18000" anchor="ctr">
            <a:spAutoFit/>
          </a:bodyPr>
          <a:lstStyle/>
          <a:p>
            <a:pPr marL="0" indent="0">
              <a:spcBef>
                <a:spcPts val="600"/>
              </a:spcBef>
              <a:buNone/>
            </a:pPr>
            <a:r>
              <a:rPr lang="en-US" sz="2000" noProof="0" dirty="0"/>
              <a:t>Both switches have been closed for a long time. At t = 0, switch 1 is opened and stays open. Switch 2 opens 35 m</a:t>
            </a:r>
            <a:r>
              <a:rPr lang="en-US" sz="100" noProof="0" dirty="0"/>
              <a:t> </a:t>
            </a:r>
            <a:r>
              <a:rPr lang="en-US" sz="2000" noProof="0" dirty="0"/>
              <a:t>s later and stays open. Find the expression for the voltage </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1" y="3122901"/>
            <a:ext cx="3105150" cy="344128"/>
          </a:xfrm>
        </p:spPr>
        <p:txBody>
          <a:bodyPr wrap="square" lIns="0" tIns="18000" rIns="0" bIns="18000" anchor="ctr">
            <a:spAutoFit/>
          </a:bodyPr>
          <a:lstStyle/>
          <a:p>
            <a:pPr marL="0" indent="0">
              <a:spcBef>
                <a:spcPts val="600"/>
              </a:spcBef>
              <a:buNone/>
            </a:pPr>
            <a:r>
              <a:rPr lang="en-US" sz="2000" noProof="0" dirty="0"/>
              <a:t>drop across the inductor for </a:t>
            </a:r>
          </a:p>
        </p:txBody>
      </p:sp>
      <p:graphicFrame>
        <p:nvGraphicFramePr>
          <p:cNvPr id="2" name="Object 1" descr="t is greater than or equal to 0 superscript plus.&#10;">
            <a:extLst>
              <a:ext uri="{FF2B5EF4-FFF2-40B4-BE49-F238E27FC236}">
                <a16:creationId xmlns:a16="http://schemas.microsoft.com/office/drawing/2014/main" id="{BD0E1F94-3D63-007B-62F9-679C1A55130D}"/>
              </a:ext>
            </a:extLst>
          </p:cNvPr>
          <p:cNvGraphicFramePr>
            <a:graphicFrameLocks noChangeAspect="1"/>
          </p:cNvGraphicFramePr>
          <p:nvPr>
            <p:extLst>
              <p:ext uri="{D42A27DB-BD31-4B8C-83A1-F6EECF244321}">
                <p14:modId xmlns:p14="http://schemas.microsoft.com/office/powerpoint/2010/main" val="4160684281"/>
              </p:ext>
            </p:extLst>
          </p:nvPr>
        </p:nvGraphicFramePr>
        <p:xfrm>
          <a:off x="3638031" y="3131866"/>
          <a:ext cx="661240" cy="320124"/>
        </p:xfrm>
        <a:graphic>
          <a:graphicData uri="http://schemas.openxmlformats.org/presentationml/2006/ole">
            <mc:AlternateContent xmlns:mc="http://schemas.openxmlformats.org/markup-compatibility/2006">
              <mc:Choice xmlns:v="urn:schemas-microsoft-com:vml" Requires="v">
                <p:oleObj name="Equation" r:id="rId2" imgW="419040" imgH="203040" progId="Equation.DSMT4">
                  <p:embed/>
                </p:oleObj>
              </mc:Choice>
              <mc:Fallback>
                <p:oleObj name="Equation" r:id="rId2" imgW="419040" imgH="203040" progId="Equation.DSMT4">
                  <p:embed/>
                  <p:pic>
                    <p:nvPicPr>
                      <p:cNvPr id="2" name="Object 1">
                        <a:extLst>
                          <a:ext uri="{FF2B5EF4-FFF2-40B4-BE49-F238E27FC236}">
                            <a16:creationId xmlns:a16="http://schemas.microsoft.com/office/drawing/2014/main" id="{8C0755A0-507B-BFC4-2661-74F4AB0D83FC}"/>
                          </a:ext>
                        </a:extLst>
                      </p:cNvPr>
                      <p:cNvPicPr>
                        <a:picLocks noChangeAspect="1" noChangeArrowheads="1"/>
                      </p:cNvPicPr>
                      <p:nvPr/>
                    </p:nvPicPr>
                    <p:blipFill>
                      <a:blip r:embed="rId3"/>
                      <a:srcRect/>
                      <a:stretch>
                        <a:fillRect/>
                      </a:stretch>
                    </p:blipFill>
                    <p:spPr bwMode="auto">
                      <a:xfrm>
                        <a:off x="3638031" y="3131866"/>
                        <a:ext cx="661240" cy="320124"/>
                      </a:xfrm>
                      <a:prstGeom prst="rect">
                        <a:avLst/>
                      </a:prstGeom>
                      <a:noFill/>
                      <a:ln>
                        <a:noFill/>
                      </a:ln>
                      <a:effectLst/>
                    </p:spPr>
                  </p:pic>
                </p:oleObj>
              </mc:Fallback>
            </mc:AlternateContent>
          </a:graphicData>
        </a:graphic>
      </p:graphicFrame>
      <p:pic>
        <p:nvPicPr>
          <p:cNvPr id="3" name="Picture 4"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Switch 1 is located in the top wire between the wires for the 12 ohm resistor and the 6 ohms resistor. A 3 ohms resistor is located in the top wire between the wires for the 6 ohms resistor and the 150 milli Henry inductor. Switch 2 is located in the top wire between the wires for the milli Henry inductor and the 18 ohms resistor. Switch 1 is opened when time t is zero. Switch 2 is opened when time t is 35 milli seconds. Voltage v subscript L exists across the 150 milli Henry inductor with positive polarity at the top node and negative polarity at the bottom. Current i subscript L flows through the 150 milli Henry inductor from the top node to the bottom node. ">
            <a:extLst>
              <a:ext uri="{FF2B5EF4-FFF2-40B4-BE49-F238E27FC236}">
                <a16:creationId xmlns:a16="http://schemas.microsoft.com/office/drawing/2014/main" id="{D617E86C-5D93-6D18-92C7-C7CBEC072139}"/>
              </a:ext>
            </a:extLst>
          </p:cNvPr>
          <p:cNvPicPr>
            <a:picLocks noChangeAspect="1" noChangeArrowheads="1"/>
          </p:cNvPicPr>
          <p:nvPr/>
        </p:nvPicPr>
        <p:blipFill>
          <a:blip r:embed="rId4"/>
          <a:srcRect/>
          <a:stretch/>
        </p:blipFill>
        <p:spPr bwMode="auto">
          <a:xfrm>
            <a:off x="4711318" y="1640527"/>
            <a:ext cx="3938163" cy="1568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49" y="3599151"/>
            <a:ext cx="4638675" cy="344128"/>
          </a:xfrm>
        </p:spPr>
        <p:txBody>
          <a:bodyPr wrap="square" lIns="0" tIns="18000" rIns="0" bIns="18000" anchor="ctr">
            <a:spAutoFit/>
          </a:bodyPr>
          <a:lstStyle/>
          <a:p>
            <a:pPr marL="342900" indent="-342900">
              <a:spcBef>
                <a:spcPts val="600"/>
              </a:spcBef>
            </a:pPr>
            <a:r>
              <a:rPr lang="en-US" sz="2000" noProof="0" dirty="0"/>
              <a:t>Analysis for the second time segment, </a:t>
            </a:r>
          </a:p>
        </p:txBody>
      </p:sp>
      <p:graphicFrame>
        <p:nvGraphicFramePr>
          <p:cNvPr id="4" name="Object 3" descr="t is greater than or equal to 35 milliseconds.&#10;">
            <a:extLst>
              <a:ext uri="{FF2B5EF4-FFF2-40B4-BE49-F238E27FC236}">
                <a16:creationId xmlns:a16="http://schemas.microsoft.com/office/drawing/2014/main" id="{B6ABD4B7-77EE-F893-710B-6519E34E89B1}"/>
              </a:ext>
            </a:extLst>
          </p:cNvPr>
          <p:cNvGraphicFramePr>
            <a:graphicFrameLocks noChangeAspect="1"/>
          </p:cNvGraphicFramePr>
          <p:nvPr>
            <p:extLst>
              <p:ext uri="{D42A27DB-BD31-4B8C-83A1-F6EECF244321}">
                <p14:modId xmlns:p14="http://schemas.microsoft.com/office/powerpoint/2010/main" val="2685372782"/>
              </p:ext>
            </p:extLst>
          </p:nvPr>
        </p:nvGraphicFramePr>
        <p:xfrm>
          <a:off x="5142193" y="3648924"/>
          <a:ext cx="1103312" cy="319087"/>
        </p:xfrm>
        <a:graphic>
          <a:graphicData uri="http://schemas.openxmlformats.org/presentationml/2006/ole">
            <mc:AlternateContent xmlns:mc="http://schemas.openxmlformats.org/markup-compatibility/2006">
              <mc:Choice xmlns:v="urn:schemas-microsoft-com:vml" Requires="v">
                <p:oleObj name="Equation" r:id="rId5" imgW="698400" imgH="203040" progId="Equation.DSMT4">
                  <p:embed/>
                </p:oleObj>
              </mc:Choice>
              <mc:Fallback>
                <p:oleObj name="Equation" r:id="rId5" imgW="698400" imgH="203040" progId="Equation.DSMT4">
                  <p:embed/>
                  <p:pic>
                    <p:nvPicPr>
                      <p:cNvPr id="4" name="Object 3">
                        <a:extLst>
                          <a:ext uri="{FF2B5EF4-FFF2-40B4-BE49-F238E27FC236}">
                            <a16:creationId xmlns:a16="http://schemas.microsoft.com/office/drawing/2014/main" id="{B075C3BF-03B5-F815-F22E-D48CA65F2B74}"/>
                          </a:ext>
                        </a:extLst>
                      </p:cNvPr>
                      <p:cNvPicPr>
                        <a:picLocks noChangeAspect="1" noChangeArrowheads="1"/>
                      </p:cNvPicPr>
                      <p:nvPr/>
                    </p:nvPicPr>
                    <p:blipFill>
                      <a:blip r:embed="rId6"/>
                      <a:srcRect/>
                      <a:stretch>
                        <a:fillRect/>
                      </a:stretch>
                    </p:blipFill>
                    <p:spPr bwMode="auto">
                      <a:xfrm>
                        <a:off x="5142193" y="3648924"/>
                        <a:ext cx="1103312" cy="319087"/>
                      </a:xfrm>
                      <a:prstGeom prst="rect">
                        <a:avLst/>
                      </a:prstGeom>
                      <a:noFill/>
                      <a:ln>
                        <a:noFill/>
                      </a:ln>
                      <a:effec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41326" y="4018649"/>
            <a:ext cx="4943475" cy="344128"/>
          </a:xfrm>
        </p:spPr>
        <p:txBody>
          <a:bodyPr wrap="square" lIns="0" tIns="18000" rIns="0" bIns="18000" anchor="ctr">
            <a:spAutoFit/>
          </a:bodyPr>
          <a:lstStyle/>
          <a:p>
            <a:pPr marL="829818" lvl="1" indent="-342900"/>
            <a:r>
              <a:rPr lang="en-US" sz="2000" noProof="0" dirty="0"/>
              <a:t>Step 3 – Calculate the time constant </a:t>
            </a:r>
          </a:p>
        </p:txBody>
      </p:sp>
      <p:graphicFrame>
        <p:nvGraphicFramePr>
          <p:cNvPr id="5" name="Object 4" descr="tau equals L divided by R.&#10;">
            <a:extLst>
              <a:ext uri="{FF2B5EF4-FFF2-40B4-BE49-F238E27FC236}">
                <a16:creationId xmlns:a16="http://schemas.microsoft.com/office/drawing/2014/main" id="{5ACC0AED-F7DF-AEEC-FE7B-F27E0BDEC8C3}"/>
              </a:ext>
            </a:extLst>
          </p:cNvPr>
          <p:cNvGraphicFramePr>
            <a:graphicFrameLocks noChangeAspect="1"/>
          </p:cNvGraphicFramePr>
          <p:nvPr>
            <p:extLst>
              <p:ext uri="{D42A27DB-BD31-4B8C-83A1-F6EECF244321}">
                <p14:modId xmlns:p14="http://schemas.microsoft.com/office/powerpoint/2010/main" val="3841885768"/>
              </p:ext>
            </p:extLst>
          </p:nvPr>
        </p:nvGraphicFramePr>
        <p:xfrm>
          <a:off x="5461280" y="4034524"/>
          <a:ext cx="860425" cy="277812"/>
        </p:xfrm>
        <a:graphic>
          <a:graphicData uri="http://schemas.openxmlformats.org/presentationml/2006/ole">
            <mc:AlternateContent xmlns:mc="http://schemas.openxmlformats.org/markup-compatibility/2006">
              <mc:Choice xmlns:v="urn:schemas-microsoft-com:vml" Requires="v">
                <p:oleObj name="Equation" r:id="rId7" imgW="545760" imgH="177480" progId="Equation.DSMT4">
                  <p:embed/>
                </p:oleObj>
              </mc:Choice>
              <mc:Fallback>
                <p:oleObj name="Equation" r:id="rId7" imgW="545760" imgH="177480" progId="Equation.DSMT4">
                  <p:embed/>
                  <p:pic>
                    <p:nvPicPr>
                      <p:cNvPr id="25" name="Object 24">
                        <a:extLst>
                          <a:ext uri="{FF2B5EF4-FFF2-40B4-BE49-F238E27FC236}">
                            <a16:creationId xmlns:a16="http://schemas.microsoft.com/office/drawing/2014/main" id="{A1C30181-C336-A219-2BCD-1ABDE5E226B3}"/>
                          </a:ext>
                        </a:extLst>
                      </p:cNvPr>
                      <p:cNvPicPr>
                        <a:picLocks noChangeAspect="1" noChangeArrowheads="1"/>
                      </p:cNvPicPr>
                      <p:nvPr/>
                    </p:nvPicPr>
                    <p:blipFill>
                      <a:blip r:embed="rId8"/>
                      <a:srcRect/>
                      <a:stretch>
                        <a:fillRect/>
                      </a:stretch>
                    </p:blipFill>
                    <p:spPr bwMode="auto">
                      <a:xfrm>
                        <a:off x="5461280" y="4034524"/>
                        <a:ext cx="860425" cy="277812"/>
                      </a:xfrm>
                      <a:prstGeom prst="rect">
                        <a:avLst/>
                      </a:prstGeom>
                      <a:noFill/>
                      <a:ln>
                        <a:noFill/>
                      </a:ln>
                      <a:effectLst/>
                    </p:spPr>
                  </p:pic>
                </p:oleObj>
              </mc:Fallback>
            </mc:AlternateContent>
          </a:graphicData>
        </a:graphic>
      </p:graphicFrame>
      <p:graphicFrame>
        <p:nvGraphicFramePr>
          <p:cNvPr id="29" name="Object 28" descr="t is greater than or equal to 35 milliseconds.&#10;">
            <a:extLst>
              <a:ext uri="{FF2B5EF4-FFF2-40B4-BE49-F238E27FC236}">
                <a16:creationId xmlns:a16="http://schemas.microsoft.com/office/drawing/2014/main" id="{C1736C37-B11F-AE11-CF40-7B62AC1B78B5}"/>
              </a:ext>
            </a:extLst>
          </p:cNvPr>
          <p:cNvGraphicFramePr>
            <a:graphicFrameLocks noChangeAspect="1"/>
          </p:cNvGraphicFramePr>
          <p:nvPr>
            <p:extLst>
              <p:ext uri="{D42A27DB-BD31-4B8C-83A1-F6EECF244321}">
                <p14:modId xmlns:p14="http://schemas.microsoft.com/office/powerpoint/2010/main" val="4185794602"/>
              </p:ext>
            </p:extLst>
          </p:nvPr>
        </p:nvGraphicFramePr>
        <p:xfrm>
          <a:off x="512285" y="4538259"/>
          <a:ext cx="1103312" cy="319087"/>
        </p:xfrm>
        <a:graphic>
          <a:graphicData uri="http://schemas.openxmlformats.org/presentationml/2006/ole">
            <mc:AlternateContent xmlns:mc="http://schemas.openxmlformats.org/markup-compatibility/2006">
              <mc:Choice xmlns:v="urn:schemas-microsoft-com:vml" Requires="v">
                <p:oleObj name="Equation" r:id="rId5" imgW="698400" imgH="203040" progId="Equation.DSMT4">
                  <p:embed/>
                </p:oleObj>
              </mc:Choice>
              <mc:Fallback>
                <p:oleObj name="Equation" r:id="rId5" imgW="698400" imgH="203040" progId="Equation.DSMT4">
                  <p:embed/>
                  <p:pic>
                    <p:nvPicPr>
                      <p:cNvPr id="4" name="Object 3">
                        <a:extLst>
                          <a:ext uri="{FF2B5EF4-FFF2-40B4-BE49-F238E27FC236}">
                            <a16:creationId xmlns:a16="http://schemas.microsoft.com/office/drawing/2014/main" id="{B6ABD4B7-77EE-F893-710B-6519E34E89B1}"/>
                          </a:ext>
                        </a:extLst>
                      </p:cNvPr>
                      <p:cNvPicPr>
                        <a:picLocks noChangeAspect="1" noChangeArrowheads="1"/>
                      </p:cNvPicPr>
                      <p:nvPr/>
                    </p:nvPicPr>
                    <p:blipFill>
                      <a:blip r:embed="rId6"/>
                      <a:srcRect/>
                      <a:stretch>
                        <a:fillRect/>
                      </a:stretch>
                    </p:blipFill>
                    <p:spPr bwMode="auto">
                      <a:xfrm>
                        <a:off x="512285" y="4538259"/>
                        <a:ext cx="1103312" cy="319087"/>
                      </a:xfrm>
                      <a:prstGeom prst="rect">
                        <a:avLst/>
                      </a:prstGeom>
                      <a:noFill/>
                      <a:ln>
                        <a:noFill/>
                      </a:ln>
                      <a:effectLst/>
                    </p:spPr>
                  </p:pic>
                </p:oleObj>
              </mc:Fallback>
            </mc:AlternateContent>
          </a:graphicData>
        </a:graphic>
      </p:graphicFrame>
      <p:pic>
        <p:nvPicPr>
          <p:cNvPr id="25" name="Picture 3"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A 3 ohms resistor is located in the top wire between the wires for the 6 ohms resistor and the 150 milli Henry inductor. There is a discontinuity in the top wire of the circuit between wires where the 12 ohms and 6 ohms resistors are located. There is a discontinuity in the top wire of the circuit between wires where the 150 milli Henry inductor and the 18 ohms resistors are located.">
            <a:extLst>
              <a:ext uri="{FF2B5EF4-FFF2-40B4-BE49-F238E27FC236}">
                <a16:creationId xmlns:a16="http://schemas.microsoft.com/office/drawing/2014/main" id="{E1BC7FF5-9DBC-2965-F58E-E53F5ED74567}"/>
              </a:ext>
            </a:extLst>
          </p:cNvPr>
          <p:cNvPicPr>
            <a:picLocks noChangeAspect="1" noChangeArrowheads="1"/>
          </p:cNvPicPr>
          <p:nvPr/>
        </p:nvPicPr>
        <p:blipFill>
          <a:blip r:embed="rId9"/>
          <a:stretch>
            <a:fillRect/>
          </a:stretch>
        </p:blipFill>
        <p:spPr bwMode="auto">
          <a:xfrm>
            <a:off x="1825337" y="4537965"/>
            <a:ext cx="4286628" cy="14236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6" name="Object 25" descr="R subscript e q baseline equals (6 plus 3) equals 9 Ohms.&#10;">
            <a:extLst>
              <a:ext uri="{FF2B5EF4-FFF2-40B4-BE49-F238E27FC236}">
                <a16:creationId xmlns:a16="http://schemas.microsoft.com/office/drawing/2014/main" id="{CF095D1B-3468-A0C3-C3C1-FCAE5A060D53}"/>
              </a:ext>
            </a:extLst>
          </p:cNvPr>
          <p:cNvGraphicFramePr>
            <a:graphicFrameLocks noChangeAspect="1"/>
          </p:cNvGraphicFramePr>
          <p:nvPr>
            <p:extLst>
              <p:ext uri="{D42A27DB-BD31-4B8C-83A1-F6EECF244321}">
                <p14:modId xmlns:p14="http://schemas.microsoft.com/office/powerpoint/2010/main" val="570008728"/>
              </p:ext>
            </p:extLst>
          </p:nvPr>
        </p:nvGraphicFramePr>
        <p:xfrm>
          <a:off x="6450013" y="4927600"/>
          <a:ext cx="1901825" cy="381000"/>
        </p:xfrm>
        <a:graphic>
          <a:graphicData uri="http://schemas.openxmlformats.org/presentationml/2006/ole">
            <mc:AlternateContent xmlns:mc="http://schemas.openxmlformats.org/markup-compatibility/2006">
              <mc:Choice xmlns:v="urn:schemas-microsoft-com:vml" Requires="v">
                <p:oleObj name="Equation" r:id="rId10" imgW="1206360" imgH="241200" progId="Equation.DSMT4">
                  <p:embed/>
                </p:oleObj>
              </mc:Choice>
              <mc:Fallback>
                <p:oleObj name="Equation" r:id="rId10" imgW="1206360" imgH="241200" progId="Equation.DSMT4">
                  <p:embed/>
                  <p:pic>
                    <p:nvPicPr>
                      <p:cNvPr id="7" name="Object 6"/>
                      <p:cNvPicPr>
                        <a:picLocks noChangeAspect="1" noChangeArrowheads="1"/>
                      </p:cNvPicPr>
                      <p:nvPr/>
                    </p:nvPicPr>
                    <p:blipFill>
                      <a:blip r:embed="rId11"/>
                      <a:srcRect/>
                      <a:stretch>
                        <a:fillRect/>
                      </a:stretch>
                    </p:blipFill>
                    <p:spPr bwMode="auto">
                      <a:xfrm>
                        <a:off x="6450013" y="4927600"/>
                        <a:ext cx="1901825"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29" descr="tau equals L divided by R subscript e q baseline equals 0.15 divided by 9.&#10;">
            <a:extLst>
              <a:ext uri="{FF2B5EF4-FFF2-40B4-BE49-F238E27FC236}">
                <a16:creationId xmlns:a16="http://schemas.microsoft.com/office/drawing/2014/main" id="{3942DF92-30ED-2832-2D1A-A9385E1E8A1B}"/>
              </a:ext>
            </a:extLst>
          </p:cNvPr>
          <p:cNvGraphicFramePr>
            <a:graphicFrameLocks noChangeAspect="1"/>
          </p:cNvGraphicFramePr>
          <p:nvPr>
            <p:extLst>
              <p:ext uri="{D42A27DB-BD31-4B8C-83A1-F6EECF244321}">
                <p14:modId xmlns:p14="http://schemas.microsoft.com/office/powerpoint/2010/main" val="1905613128"/>
              </p:ext>
            </p:extLst>
          </p:nvPr>
        </p:nvGraphicFramePr>
        <p:xfrm>
          <a:off x="6450013" y="5348288"/>
          <a:ext cx="1962150" cy="381000"/>
        </p:xfrm>
        <a:graphic>
          <a:graphicData uri="http://schemas.openxmlformats.org/presentationml/2006/ole">
            <mc:AlternateContent xmlns:mc="http://schemas.openxmlformats.org/markup-compatibility/2006">
              <mc:Choice xmlns:v="urn:schemas-microsoft-com:vml" Requires="v">
                <p:oleObj name="Equation" r:id="rId12" imgW="1244520" imgH="241200" progId="Equation.DSMT4">
                  <p:embed/>
                </p:oleObj>
              </mc:Choice>
              <mc:Fallback>
                <p:oleObj name="Equation" r:id="rId12" imgW="1244520" imgH="241200" progId="Equation.DSMT4">
                  <p:embed/>
                  <p:pic>
                    <p:nvPicPr>
                      <p:cNvPr id="26" name="Object 25">
                        <a:extLst>
                          <a:ext uri="{FF2B5EF4-FFF2-40B4-BE49-F238E27FC236}">
                            <a16:creationId xmlns:a16="http://schemas.microsoft.com/office/drawing/2014/main" id="{CF095D1B-3468-A0C3-C3C1-FCAE5A060D53}"/>
                          </a:ext>
                        </a:extLst>
                      </p:cNvPr>
                      <p:cNvPicPr>
                        <a:picLocks noChangeAspect="1" noChangeArrowheads="1"/>
                      </p:cNvPicPr>
                      <p:nvPr/>
                    </p:nvPicPr>
                    <p:blipFill>
                      <a:blip r:embed="rId13"/>
                      <a:srcRect/>
                      <a:stretch>
                        <a:fillRect/>
                      </a:stretch>
                    </p:blipFill>
                    <p:spPr bwMode="auto">
                      <a:xfrm>
                        <a:off x="6450013" y="5348288"/>
                        <a:ext cx="1962150"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30" descr="Equals 0.0167 seconds.&#10;">
            <a:extLst>
              <a:ext uri="{FF2B5EF4-FFF2-40B4-BE49-F238E27FC236}">
                <a16:creationId xmlns:a16="http://schemas.microsoft.com/office/drawing/2014/main" id="{B27457A4-558D-3373-2CDA-7905D316C916}"/>
              </a:ext>
            </a:extLst>
          </p:cNvPr>
          <p:cNvGraphicFramePr>
            <a:graphicFrameLocks noChangeAspect="1"/>
          </p:cNvGraphicFramePr>
          <p:nvPr>
            <p:extLst>
              <p:ext uri="{D42A27DB-BD31-4B8C-83A1-F6EECF244321}">
                <p14:modId xmlns:p14="http://schemas.microsoft.com/office/powerpoint/2010/main" val="870304686"/>
              </p:ext>
            </p:extLst>
          </p:nvPr>
        </p:nvGraphicFramePr>
        <p:xfrm>
          <a:off x="6830219" y="5804671"/>
          <a:ext cx="1201738" cy="280987"/>
        </p:xfrm>
        <a:graphic>
          <a:graphicData uri="http://schemas.openxmlformats.org/presentationml/2006/ole">
            <mc:AlternateContent xmlns:mc="http://schemas.openxmlformats.org/markup-compatibility/2006">
              <mc:Choice xmlns:v="urn:schemas-microsoft-com:vml" Requires="v">
                <p:oleObj name="Equation" r:id="rId14" imgW="761760" imgH="177480" progId="Equation.DSMT4">
                  <p:embed/>
                </p:oleObj>
              </mc:Choice>
              <mc:Fallback>
                <p:oleObj name="Equation" r:id="rId14" imgW="761760" imgH="177480" progId="Equation.DSMT4">
                  <p:embed/>
                  <p:pic>
                    <p:nvPicPr>
                      <p:cNvPr id="30" name="Object 29">
                        <a:extLst>
                          <a:ext uri="{FF2B5EF4-FFF2-40B4-BE49-F238E27FC236}">
                            <a16:creationId xmlns:a16="http://schemas.microsoft.com/office/drawing/2014/main" id="{3942DF92-30ED-2832-2D1A-A9385E1E8A1B}"/>
                          </a:ext>
                        </a:extLst>
                      </p:cNvPr>
                      <p:cNvPicPr>
                        <a:picLocks noChangeAspect="1" noChangeArrowheads="1"/>
                      </p:cNvPicPr>
                      <p:nvPr/>
                    </p:nvPicPr>
                    <p:blipFill>
                      <a:blip r:embed="rId15"/>
                      <a:srcRect/>
                      <a:stretch>
                        <a:fillRect/>
                      </a:stretch>
                    </p:blipFill>
                    <p:spPr bwMode="auto">
                      <a:xfrm>
                        <a:off x="6830219" y="5804671"/>
                        <a:ext cx="1201738" cy="280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1048777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24595"/>
            <a:ext cx="8229600" cy="1144347"/>
          </a:xfrm>
        </p:spPr>
        <p:txBody>
          <a:bodyPr/>
          <a:lstStyle/>
          <a:p>
            <a:r>
              <a:rPr lang="en-US" noProof="0" dirty="0"/>
              <a:t>Chapter 7 – Sequential Switching Problems </a:t>
            </a:r>
            <a:r>
              <a:rPr lang="en-US" sz="2800" noProof="0" dirty="0"/>
              <a:t>(17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54405"/>
            <a:ext cx="7943850" cy="405683"/>
          </a:xfrm>
        </p:spPr>
        <p:txBody>
          <a:bodyPr wrap="square" lIns="0" tIns="18000" rIns="0" bIns="18000" anchor="ctr">
            <a:spAutoFit/>
          </a:bodyPr>
          <a:lstStyle/>
          <a:p>
            <a:pPr marL="0" indent="0">
              <a:spcBef>
                <a:spcPts val="600"/>
              </a:spcBef>
              <a:buNone/>
            </a:pPr>
            <a:r>
              <a:rPr lang="en-US" sz="2400" noProof="0" dirty="0"/>
              <a:t>Next we need to find the final value of the inductor current, </a:t>
            </a:r>
          </a:p>
        </p:txBody>
      </p:sp>
      <p:graphicFrame>
        <p:nvGraphicFramePr>
          <p:cNvPr id="2" name="Object 1" descr="i subscript L baseline (infinity) equals I subscript F.&#10;">
            <a:extLst>
              <a:ext uri="{FF2B5EF4-FFF2-40B4-BE49-F238E27FC236}">
                <a16:creationId xmlns:a16="http://schemas.microsoft.com/office/drawing/2014/main" id="{03EAF561-0035-A093-EA80-DC161A504D08}"/>
              </a:ext>
            </a:extLst>
          </p:cNvPr>
          <p:cNvGraphicFramePr>
            <a:graphicFrameLocks noChangeAspect="1"/>
          </p:cNvGraphicFramePr>
          <p:nvPr>
            <p:extLst>
              <p:ext uri="{D42A27DB-BD31-4B8C-83A1-F6EECF244321}">
                <p14:modId xmlns:p14="http://schemas.microsoft.com/office/powerpoint/2010/main" val="3592557457"/>
              </p:ext>
            </p:extLst>
          </p:nvPr>
        </p:nvGraphicFramePr>
        <p:xfrm>
          <a:off x="420688" y="1901825"/>
          <a:ext cx="1116012" cy="433388"/>
        </p:xfrm>
        <a:graphic>
          <a:graphicData uri="http://schemas.openxmlformats.org/presentationml/2006/ole">
            <mc:AlternateContent xmlns:mc="http://schemas.openxmlformats.org/markup-compatibility/2006">
              <mc:Choice xmlns:v="urn:schemas-microsoft-com:vml" Requires="v">
                <p:oleObj name="Equation" r:id="rId2" imgW="583920" imgH="228600" progId="Equation.DSMT4">
                  <p:embed/>
                </p:oleObj>
              </mc:Choice>
              <mc:Fallback>
                <p:oleObj name="Equation" r:id="rId2" imgW="583920" imgH="228600" progId="Equation.DSMT4">
                  <p:embed/>
                  <p:pic>
                    <p:nvPicPr>
                      <p:cNvPr id="2" name="Object 1">
                        <a:extLst>
                          <a:ext uri="{FF2B5EF4-FFF2-40B4-BE49-F238E27FC236}">
                            <a16:creationId xmlns:a16="http://schemas.microsoft.com/office/drawing/2014/main" id="{F3AA5F09-E033-D994-40B3-06FC3425B47D}"/>
                          </a:ext>
                        </a:extLst>
                      </p:cNvPr>
                      <p:cNvPicPr>
                        <a:picLocks noChangeAspect="1" noChangeArrowheads="1"/>
                      </p:cNvPicPr>
                      <p:nvPr/>
                    </p:nvPicPr>
                    <p:blipFill>
                      <a:blip r:embed="rId3"/>
                      <a:srcRect/>
                      <a:stretch>
                        <a:fillRect/>
                      </a:stretch>
                    </p:blipFill>
                    <p:spPr bwMode="auto">
                      <a:xfrm>
                        <a:off x="420688" y="1901825"/>
                        <a:ext cx="1116012" cy="433388"/>
                      </a:xfrm>
                      <a:prstGeom prst="rect">
                        <a:avLst/>
                      </a:prstGeom>
                      <a:noFill/>
                      <a:ln>
                        <a:noFill/>
                      </a:ln>
                      <a:effectLst/>
                    </p:spPr>
                  </p:pic>
                </p:oleObj>
              </mc:Fallback>
            </mc:AlternateContent>
          </a:graphicData>
        </a:graphic>
      </p:graphicFrame>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600200" y="1907849"/>
            <a:ext cx="6581775" cy="405683"/>
          </a:xfrm>
        </p:spPr>
        <p:txBody>
          <a:bodyPr wrap="square" lIns="0" tIns="18000" rIns="0" bIns="18000" anchor="ctr">
            <a:spAutoFit/>
          </a:bodyPr>
          <a:lstStyle/>
          <a:p>
            <a:pPr marL="0" indent="0">
              <a:spcBef>
                <a:spcPts val="600"/>
              </a:spcBef>
              <a:buNone/>
            </a:pPr>
            <a:r>
              <a:rPr lang="en-US" sz="2400" noProof="0" dirty="0"/>
              <a:t>for the second time segment. To do this, analyze </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2377749"/>
            <a:ext cx="7191375" cy="405683"/>
          </a:xfrm>
        </p:spPr>
        <p:txBody>
          <a:bodyPr wrap="square" lIns="0" tIns="18000" rIns="0" bIns="18000" anchor="ctr">
            <a:spAutoFit/>
          </a:bodyPr>
          <a:lstStyle/>
          <a:p>
            <a:pPr marL="0" indent="0">
              <a:spcBef>
                <a:spcPts val="600"/>
              </a:spcBef>
              <a:buNone/>
            </a:pPr>
            <a:r>
              <a:rPr lang="en-US" sz="2400" noProof="0" dirty="0"/>
              <a:t>the circuit with the switches in the following positions:</a:t>
            </a:r>
          </a:p>
        </p:txBody>
      </p:sp>
      <p:pic>
        <p:nvPicPr>
          <p:cNvPr id="3" name="Picture 2"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Switch 1 is located in the top wire between the wires for the 12 ohm resistor and the 6 ohms resistor. A 3 ohms resistor is located in the top wire between the wires for the 6 ohms resistor and the 150 milli Henry inductor. Switch 2 is located in the top wire between the wires for the milli Henry inductor and the 18 ohms resistor. Switch 1 is opened when time t is zero. Switch 2 is opened when time t is 35 milli seconds. Voltage v subscript L exists across the 150 milli Henry inductor with positive polarity at the top node and negative polarity at the bottom. Current i subscript L flows through the 150 milli Henry inductor from the top node to the bottom node. ">
            <a:extLst>
              <a:ext uri="{FF2B5EF4-FFF2-40B4-BE49-F238E27FC236}">
                <a16:creationId xmlns:a16="http://schemas.microsoft.com/office/drawing/2014/main" id="{EB791769-78A5-3434-C281-601FF5456E62}"/>
              </a:ext>
            </a:extLst>
          </p:cNvPr>
          <p:cNvPicPr>
            <a:picLocks noChangeAspect="1" noChangeArrowheads="1"/>
          </p:cNvPicPr>
          <p:nvPr/>
        </p:nvPicPr>
        <p:blipFill>
          <a:blip r:embed="rId4"/>
          <a:srcRect/>
          <a:stretch/>
        </p:blipFill>
        <p:spPr bwMode="auto">
          <a:xfrm>
            <a:off x="2425108" y="2937076"/>
            <a:ext cx="4436661" cy="17670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1495425" y="4911421"/>
            <a:ext cx="4054475" cy="405683"/>
          </a:xfrm>
        </p:spPr>
        <p:txBody>
          <a:bodyPr lIns="0" tIns="18000" rIns="0" bIns="18000" anchor="ctr">
            <a:spAutoFit/>
          </a:bodyPr>
          <a:lstStyle/>
          <a:p>
            <a:pPr marL="0" indent="0">
              <a:spcBef>
                <a:spcPts val="600"/>
              </a:spcBef>
              <a:buNone/>
            </a:pPr>
            <a:r>
              <a:rPr lang="en-US" sz="2400" noProof="0" dirty="0">
                <a:solidFill>
                  <a:srgbClr val="007FA3"/>
                </a:solidFill>
              </a:rPr>
              <a:t>A. </a:t>
            </a:r>
            <a:r>
              <a:rPr lang="en-US" sz="2400" noProof="0" dirty="0"/>
              <a:t>SW 1 closed, SW 2 closed</a:t>
            </a:r>
          </a:p>
        </p:txBody>
      </p:sp>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1495874" y="5427347"/>
            <a:ext cx="3771900"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SW 1 open, SW 2 closed</a:t>
            </a:r>
          </a:p>
        </p:txBody>
      </p:sp>
      <p:sp>
        <p:nvSpPr>
          <p:cNvPr id="12" name="Content Placeholder 11">
            <a:extLst>
              <a:ext uri="{FF2B5EF4-FFF2-40B4-BE49-F238E27FC236}">
                <a16:creationId xmlns:a16="http://schemas.microsoft.com/office/drawing/2014/main" id="{F1B353EF-A997-2CEA-3EBE-21ECEBC3CE7F}"/>
              </a:ext>
            </a:extLst>
          </p:cNvPr>
          <p:cNvSpPr>
            <a:spLocks noGrp="1"/>
          </p:cNvSpPr>
          <p:nvPr>
            <p:ph sz="quarter" idx="17"/>
          </p:nvPr>
        </p:nvSpPr>
        <p:spPr>
          <a:xfrm>
            <a:off x="1495425" y="5932144"/>
            <a:ext cx="3590925"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SW 1 open, SW 2 open</a:t>
            </a:r>
          </a:p>
        </p:txBody>
      </p:sp>
    </p:spTree>
    <p:extLst>
      <p:ext uri="{BB962C8B-B14F-4D97-AF65-F5344CB8AC3E}">
        <p14:creationId xmlns:p14="http://schemas.microsoft.com/office/powerpoint/2010/main" val="21016189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6A9D2A-5C8E-C824-B7A0-9CDE2A34E4B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3DC7E5D-68D5-745A-0761-7AECC2BBCDBE}"/>
              </a:ext>
            </a:extLst>
          </p:cNvPr>
          <p:cNvSpPr>
            <a:spLocks noGrp="1"/>
          </p:cNvSpPr>
          <p:nvPr>
            <p:ph type="title"/>
          </p:nvPr>
        </p:nvSpPr>
        <p:spPr>
          <a:xfrm>
            <a:off x="438150" y="224595"/>
            <a:ext cx="8229600" cy="1144347"/>
          </a:xfrm>
        </p:spPr>
        <p:txBody>
          <a:bodyPr/>
          <a:lstStyle/>
          <a:p>
            <a:r>
              <a:rPr lang="en-US" noProof="0" dirty="0"/>
              <a:t>Chapter 7 – Sequential Switching Problems </a:t>
            </a:r>
            <a:r>
              <a:rPr lang="en-US" sz="2800" noProof="0" dirty="0"/>
              <a:t>(17 of 22)</a:t>
            </a:r>
          </a:p>
        </p:txBody>
      </p:sp>
      <p:sp>
        <p:nvSpPr>
          <p:cNvPr id="7" name="Content Placeholder 6">
            <a:extLst>
              <a:ext uri="{FF2B5EF4-FFF2-40B4-BE49-F238E27FC236}">
                <a16:creationId xmlns:a16="http://schemas.microsoft.com/office/drawing/2014/main" id="{57E01F79-7429-9592-4244-288ADA9F17DD}"/>
              </a:ext>
            </a:extLst>
          </p:cNvPr>
          <p:cNvSpPr>
            <a:spLocks noGrp="1"/>
          </p:cNvSpPr>
          <p:nvPr>
            <p:ph sz="quarter" idx="12"/>
          </p:nvPr>
        </p:nvSpPr>
        <p:spPr>
          <a:xfrm>
            <a:off x="438150" y="1454405"/>
            <a:ext cx="7943850" cy="405683"/>
          </a:xfrm>
        </p:spPr>
        <p:txBody>
          <a:bodyPr wrap="square" lIns="0" tIns="18000" rIns="0" bIns="18000" anchor="ctr">
            <a:spAutoFit/>
          </a:bodyPr>
          <a:lstStyle/>
          <a:p>
            <a:pPr marL="0" indent="0">
              <a:spcBef>
                <a:spcPts val="600"/>
              </a:spcBef>
              <a:buNone/>
            </a:pPr>
            <a:r>
              <a:rPr lang="en-US" sz="2400" noProof="0" dirty="0"/>
              <a:t>Next we need to find the final value of the inductor current, </a:t>
            </a:r>
          </a:p>
        </p:txBody>
      </p:sp>
      <p:graphicFrame>
        <p:nvGraphicFramePr>
          <p:cNvPr id="2" name="Object 1" descr="i subscript L baseline (infinity) equals I subscript F.&#10;">
            <a:extLst>
              <a:ext uri="{FF2B5EF4-FFF2-40B4-BE49-F238E27FC236}">
                <a16:creationId xmlns:a16="http://schemas.microsoft.com/office/drawing/2014/main" id="{E9673E6E-5AA4-2CA5-F5C2-9EB97AD9C7A4}"/>
              </a:ext>
            </a:extLst>
          </p:cNvPr>
          <p:cNvGraphicFramePr>
            <a:graphicFrameLocks noChangeAspect="1"/>
          </p:cNvGraphicFramePr>
          <p:nvPr/>
        </p:nvGraphicFramePr>
        <p:xfrm>
          <a:off x="420688" y="1901825"/>
          <a:ext cx="1116012" cy="433388"/>
        </p:xfrm>
        <a:graphic>
          <a:graphicData uri="http://schemas.openxmlformats.org/presentationml/2006/ole">
            <mc:AlternateContent xmlns:mc="http://schemas.openxmlformats.org/markup-compatibility/2006">
              <mc:Choice xmlns:v="urn:schemas-microsoft-com:vml" Requires="v">
                <p:oleObj name="Equation" r:id="rId5" imgW="583920" imgH="228600" progId="Equation.DSMT4">
                  <p:embed/>
                </p:oleObj>
              </mc:Choice>
              <mc:Fallback>
                <p:oleObj name="Equation" r:id="rId5" imgW="583920" imgH="228600" progId="Equation.DSMT4">
                  <p:embed/>
                  <p:pic>
                    <p:nvPicPr>
                      <p:cNvPr id="2" name="Object 1" descr="i subscript L baseline (infinity) equals I subscript F.&#10;">
                        <a:extLst>
                          <a:ext uri="{FF2B5EF4-FFF2-40B4-BE49-F238E27FC236}">
                            <a16:creationId xmlns:a16="http://schemas.microsoft.com/office/drawing/2014/main" id="{03EAF561-0035-A093-EA80-DC161A504D08}"/>
                          </a:ext>
                        </a:extLst>
                      </p:cNvPr>
                      <p:cNvPicPr>
                        <a:picLocks noChangeAspect="1" noChangeArrowheads="1"/>
                      </p:cNvPicPr>
                      <p:nvPr/>
                    </p:nvPicPr>
                    <p:blipFill>
                      <a:blip r:embed="rId6"/>
                      <a:srcRect/>
                      <a:stretch>
                        <a:fillRect/>
                      </a:stretch>
                    </p:blipFill>
                    <p:spPr bwMode="auto">
                      <a:xfrm>
                        <a:off x="420688" y="1901825"/>
                        <a:ext cx="1116012" cy="433388"/>
                      </a:xfrm>
                      <a:prstGeom prst="rect">
                        <a:avLst/>
                      </a:prstGeom>
                      <a:noFill/>
                      <a:ln>
                        <a:noFill/>
                      </a:ln>
                      <a:effectLst/>
                    </p:spPr>
                  </p:pic>
                </p:oleObj>
              </mc:Fallback>
            </mc:AlternateContent>
          </a:graphicData>
        </a:graphic>
      </p:graphicFrame>
      <p:sp>
        <p:nvSpPr>
          <p:cNvPr id="8" name="Content Placeholder 7">
            <a:extLst>
              <a:ext uri="{FF2B5EF4-FFF2-40B4-BE49-F238E27FC236}">
                <a16:creationId xmlns:a16="http://schemas.microsoft.com/office/drawing/2014/main" id="{0F5ADB78-4194-30EB-C109-F6FBBD1CEA22}"/>
              </a:ext>
            </a:extLst>
          </p:cNvPr>
          <p:cNvSpPr>
            <a:spLocks noGrp="1"/>
          </p:cNvSpPr>
          <p:nvPr>
            <p:ph sz="quarter" idx="13"/>
          </p:nvPr>
        </p:nvSpPr>
        <p:spPr>
          <a:xfrm>
            <a:off x="1600200" y="1907849"/>
            <a:ext cx="6581775" cy="405683"/>
          </a:xfrm>
        </p:spPr>
        <p:txBody>
          <a:bodyPr wrap="square" lIns="0" tIns="18000" rIns="0" bIns="18000" anchor="ctr">
            <a:spAutoFit/>
          </a:bodyPr>
          <a:lstStyle/>
          <a:p>
            <a:pPr marL="0" indent="0">
              <a:spcBef>
                <a:spcPts val="600"/>
              </a:spcBef>
              <a:buNone/>
            </a:pPr>
            <a:r>
              <a:rPr lang="en-US" sz="2400" noProof="0" dirty="0"/>
              <a:t>for the second time segment. To do this, analyze </a:t>
            </a:r>
          </a:p>
        </p:txBody>
      </p:sp>
      <p:sp>
        <p:nvSpPr>
          <p:cNvPr id="9" name="Content Placeholder 8">
            <a:extLst>
              <a:ext uri="{FF2B5EF4-FFF2-40B4-BE49-F238E27FC236}">
                <a16:creationId xmlns:a16="http://schemas.microsoft.com/office/drawing/2014/main" id="{A3BB3F14-C76C-00BC-14D5-07DEBD8221FF}"/>
              </a:ext>
            </a:extLst>
          </p:cNvPr>
          <p:cNvSpPr>
            <a:spLocks noGrp="1"/>
          </p:cNvSpPr>
          <p:nvPr>
            <p:ph sz="quarter" idx="14"/>
          </p:nvPr>
        </p:nvSpPr>
        <p:spPr>
          <a:xfrm>
            <a:off x="438150" y="2377749"/>
            <a:ext cx="7191375" cy="405683"/>
          </a:xfrm>
        </p:spPr>
        <p:txBody>
          <a:bodyPr wrap="square" lIns="0" tIns="18000" rIns="0" bIns="18000" anchor="ctr">
            <a:spAutoFit/>
          </a:bodyPr>
          <a:lstStyle/>
          <a:p>
            <a:pPr marL="0" indent="0">
              <a:spcBef>
                <a:spcPts val="600"/>
              </a:spcBef>
              <a:buNone/>
            </a:pPr>
            <a:r>
              <a:rPr lang="en-US" sz="2400" noProof="0" dirty="0"/>
              <a:t>the circuit with the switches in the following positions:</a:t>
            </a:r>
          </a:p>
        </p:txBody>
      </p:sp>
      <p:pic>
        <p:nvPicPr>
          <p:cNvPr id="3" name="Picture 2"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Switch 1 is located in the top wire between the wires for the 12 ohm resistor and the 6 ohms resistor. A 3 ohms resistor is located in the top wire between the wires for the 6 ohms resistor and the 150 milli Henry inductor. Switch 2 is located in the top wire between the wires for the milli Henry inductor and the 18 ohms resistor. Switch 1 is opened when time t is zero. Switch 2 is opened when time t is 35 milli seconds. Voltage v subscript L exists across the 150 milli Henry inductor with positive polarity at the top node and negative polarity at the bottom. Current i subscript L flows through the 150 milli Henry inductor from the top node to the bottom node. ">
            <a:extLst>
              <a:ext uri="{FF2B5EF4-FFF2-40B4-BE49-F238E27FC236}">
                <a16:creationId xmlns:a16="http://schemas.microsoft.com/office/drawing/2014/main" id="{4677E86E-66AB-7E77-2DF8-34677D071101}"/>
              </a:ext>
            </a:extLst>
          </p:cNvPr>
          <p:cNvPicPr>
            <a:picLocks noChangeAspect="1" noChangeArrowheads="1"/>
          </p:cNvPicPr>
          <p:nvPr/>
        </p:nvPicPr>
        <p:blipFill>
          <a:blip r:embed="rId7"/>
          <a:srcRect/>
          <a:stretch/>
        </p:blipFill>
        <p:spPr bwMode="auto">
          <a:xfrm>
            <a:off x="2425108" y="2937076"/>
            <a:ext cx="4436661" cy="17670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1434" descr="Cross mark">
            <a:extLst>
              <a:ext uri="{FF2B5EF4-FFF2-40B4-BE49-F238E27FC236}">
                <a16:creationId xmlns:a16="http://schemas.microsoft.com/office/drawing/2014/main" id="{8E42B120-E8B9-271C-F697-600F28EAFE1F}"/>
              </a:ext>
            </a:extLst>
          </p:cNvPr>
          <p:cNvPicPr>
            <a:picLocks/>
          </p:cNvPicPr>
          <p:nvPr>
            <p:custDataLst>
              <p:tags r:id="rId1"/>
            </p:custDataLst>
          </p:nvPr>
        </p:nvPicPr>
        <p:blipFill>
          <a:blip r:embed="rId8">
            <a:extLst>
              <a:ext uri="{28A0092B-C50C-407E-A947-70E740481C1C}">
                <a14:useLocalDpi xmlns:a14="http://schemas.microsoft.com/office/drawing/2010/main" val="0"/>
              </a:ext>
            </a:extLst>
          </a:blip>
          <a:srcRect/>
          <a:stretch>
            <a:fillRect/>
          </a:stretch>
        </p:blipFill>
        <p:spPr bwMode="auto">
          <a:xfrm>
            <a:off x="867223" y="4942812"/>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Content Placeholder 9">
            <a:extLst>
              <a:ext uri="{FF2B5EF4-FFF2-40B4-BE49-F238E27FC236}">
                <a16:creationId xmlns:a16="http://schemas.microsoft.com/office/drawing/2014/main" id="{FE66D77F-485A-0E03-A53F-5EBB9A08B9EF}"/>
              </a:ext>
            </a:extLst>
          </p:cNvPr>
          <p:cNvSpPr>
            <a:spLocks noGrp="1"/>
          </p:cNvSpPr>
          <p:nvPr>
            <p:ph sz="quarter" idx="15"/>
          </p:nvPr>
        </p:nvSpPr>
        <p:spPr>
          <a:xfrm>
            <a:off x="1495425" y="4911421"/>
            <a:ext cx="4054475" cy="405683"/>
          </a:xfrm>
        </p:spPr>
        <p:txBody>
          <a:bodyPr lIns="0" tIns="18000" rIns="0" bIns="18000" anchor="ctr">
            <a:spAutoFit/>
          </a:bodyPr>
          <a:lstStyle/>
          <a:p>
            <a:pPr marL="0" indent="0">
              <a:spcBef>
                <a:spcPts val="600"/>
              </a:spcBef>
              <a:buNone/>
            </a:pPr>
            <a:r>
              <a:rPr lang="en-US" sz="2400" noProof="0" dirty="0">
                <a:solidFill>
                  <a:srgbClr val="007FA3"/>
                </a:solidFill>
              </a:rPr>
              <a:t>A. </a:t>
            </a:r>
            <a:r>
              <a:rPr lang="en-US" sz="2400" noProof="0" dirty="0"/>
              <a:t>SW 1 closed, SW 2 closed</a:t>
            </a:r>
          </a:p>
        </p:txBody>
      </p:sp>
      <p:pic>
        <p:nvPicPr>
          <p:cNvPr id="5" name="Picture 1436" descr="Cross mark">
            <a:extLst>
              <a:ext uri="{FF2B5EF4-FFF2-40B4-BE49-F238E27FC236}">
                <a16:creationId xmlns:a16="http://schemas.microsoft.com/office/drawing/2014/main" id="{CFC39A74-5B4A-31DD-E066-E4244D437663}"/>
              </a:ext>
            </a:extLst>
          </p:cNvPr>
          <p:cNvPicPr>
            <a:picLocks/>
          </p:cNvPicPr>
          <p:nvPr>
            <p:custDataLst>
              <p:tags r:id="rId2"/>
            </p:custDataLst>
          </p:nvPr>
        </p:nvPicPr>
        <p:blipFill>
          <a:blip r:embed="rId8">
            <a:extLst>
              <a:ext uri="{28A0092B-C50C-407E-A947-70E740481C1C}">
                <a14:useLocalDpi xmlns:a14="http://schemas.microsoft.com/office/drawing/2010/main" val="0"/>
              </a:ext>
            </a:extLst>
          </a:blip>
          <a:srcRect/>
          <a:stretch>
            <a:fillRect/>
          </a:stretch>
        </p:blipFill>
        <p:spPr bwMode="auto">
          <a:xfrm>
            <a:off x="871019" y="5458738"/>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a:extLst>
              <a:ext uri="{FF2B5EF4-FFF2-40B4-BE49-F238E27FC236}">
                <a16:creationId xmlns:a16="http://schemas.microsoft.com/office/drawing/2014/main" id="{EA7241DB-3243-2732-E041-A5D80113BFEF}"/>
              </a:ext>
            </a:extLst>
          </p:cNvPr>
          <p:cNvSpPr>
            <a:spLocks noGrp="1"/>
          </p:cNvSpPr>
          <p:nvPr>
            <p:ph sz="quarter" idx="16"/>
          </p:nvPr>
        </p:nvSpPr>
        <p:spPr>
          <a:xfrm>
            <a:off x="1495874" y="5427347"/>
            <a:ext cx="3771900" cy="405683"/>
          </a:xfrm>
        </p:spPr>
        <p:txBody>
          <a:bodyPr wrap="square" lIns="0" tIns="18000" rIns="0" bIns="18000" anchor="ctr">
            <a:spAutoFit/>
          </a:bodyPr>
          <a:lstStyle/>
          <a:p>
            <a:pPr marL="0" indent="0">
              <a:spcBef>
                <a:spcPts val="600"/>
              </a:spcBef>
              <a:buNone/>
            </a:pPr>
            <a:r>
              <a:rPr lang="en-US" sz="2400" noProof="0" dirty="0">
                <a:solidFill>
                  <a:srgbClr val="007FA3"/>
                </a:solidFill>
              </a:rPr>
              <a:t>B. </a:t>
            </a:r>
            <a:r>
              <a:rPr lang="en-US" sz="2400" noProof="0" dirty="0"/>
              <a:t>SW 1 open, SW 2 closed</a:t>
            </a:r>
          </a:p>
        </p:txBody>
      </p:sp>
      <p:pic>
        <p:nvPicPr>
          <p:cNvPr id="25" name="Picture 1435" descr="Check mark">
            <a:extLst>
              <a:ext uri="{FF2B5EF4-FFF2-40B4-BE49-F238E27FC236}">
                <a16:creationId xmlns:a16="http://schemas.microsoft.com/office/drawing/2014/main" id="{CB3C511C-CD3A-526C-3B88-A96D155004CF}"/>
              </a:ext>
            </a:extLst>
          </p:cNvPr>
          <p:cNvPicPr>
            <a:picLocks/>
          </p:cNvPicPr>
          <p:nvPr>
            <p:custDataLst>
              <p:tags r:id="rId3"/>
            </p:custDataLst>
          </p:nvPr>
        </p:nvPicPr>
        <p:blipFill>
          <a:blip r:embed="rId9">
            <a:extLst>
              <a:ext uri="{28A0092B-C50C-407E-A947-70E740481C1C}">
                <a14:useLocalDpi xmlns:a14="http://schemas.microsoft.com/office/drawing/2010/main" val="0"/>
              </a:ext>
            </a:extLst>
          </a:blip>
          <a:srcRect/>
          <a:stretch>
            <a:fillRect/>
          </a:stretch>
        </p:blipFill>
        <p:spPr bwMode="auto">
          <a:xfrm>
            <a:off x="871019" y="5963535"/>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11">
            <a:extLst>
              <a:ext uri="{FF2B5EF4-FFF2-40B4-BE49-F238E27FC236}">
                <a16:creationId xmlns:a16="http://schemas.microsoft.com/office/drawing/2014/main" id="{8C78E889-8F5B-4711-FB2E-3D5300EF4D08}"/>
              </a:ext>
            </a:extLst>
          </p:cNvPr>
          <p:cNvSpPr>
            <a:spLocks noGrp="1"/>
          </p:cNvSpPr>
          <p:nvPr>
            <p:ph sz="quarter" idx="17"/>
          </p:nvPr>
        </p:nvSpPr>
        <p:spPr>
          <a:xfrm>
            <a:off x="1495425" y="5932144"/>
            <a:ext cx="3590925" cy="405683"/>
          </a:xfrm>
        </p:spPr>
        <p:txBody>
          <a:bodyPr wrap="square" lIns="0" tIns="18000" rIns="0" bIns="18000" anchor="ctr">
            <a:spAutoFit/>
          </a:bodyPr>
          <a:lstStyle/>
          <a:p>
            <a:pPr marL="0" indent="0">
              <a:spcBef>
                <a:spcPts val="600"/>
              </a:spcBef>
              <a:buNone/>
            </a:pPr>
            <a:r>
              <a:rPr lang="en-US" sz="2400" noProof="0" dirty="0">
                <a:solidFill>
                  <a:srgbClr val="007FA3"/>
                </a:solidFill>
              </a:rPr>
              <a:t>C. </a:t>
            </a:r>
            <a:r>
              <a:rPr lang="en-US" sz="2400" noProof="0" dirty="0"/>
              <a:t>SW 1 open, SW 2 open</a:t>
            </a:r>
          </a:p>
        </p:txBody>
      </p:sp>
    </p:spTree>
    <p:extLst>
      <p:ext uri="{BB962C8B-B14F-4D97-AF65-F5344CB8AC3E}">
        <p14:creationId xmlns:p14="http://schemas.microsoft.com/office/powerpoint/2010/main" val="26809724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6191"/>
            <a:ext cx="8229600" cy="1144347"/>
          </a:xfrm>
        </p:spPr>
        <p:txBody>
          <a:bodyPr/>
          <a:lstStyle/>
          <a:p>
            <a:r>
              <a:rPr lang="en-US" noProof="0" dirty="0"/>
              <a:t>Chapter 7 – Sequential Switching Problems </a:t>
            </a:r>
            <a:r>
              <a:rPr lang="en-US" sz="2800" noProof="0" dirty="0"/>
              <a:t>(18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51153"/>
            <a:ext cx="8232775" cy="1513679"/>
          </a:xfrm>
        </p:spPr>
        <p:txBody>
          <a:bodyPr wrap="square" lIns="0" tIns="18000" rIns="0" bIns="18000" anchor="ctr">
            <a:spAutoFit/>
          </a:bodyPr>
          <a:lstStyle/>
          <a:p>
            <a:pPr marL="0" indent="0">
              <a:spcBef>
                <a:spcPts val="600"/>
              </a:spcBef>
              <a:buNone/>
            </a:pPr>
            <a:r>
              <a:rPr lang="en-US" sz="2400" noProof="0" dirty="0"/>
              <a:t>Here is the circuit used to determine the final value of the current in the second time segment. For this time segment, is the response form the natural response or the step response?</a:t>
            </a:r>
          </a:p>
        </p:txBody>
      </p:sp>
      <p:pic>
        <p:nvPicPr>
          <p:cNvPr id="2" name="Picture 2"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a wire with current I subscript F flowing from top node to bottom node, and a 18 ohms resistor. A 4 ohms resistor is located in the top wire between the wires for the 60 volt source and the 12 ohm resistor. A 3 ohms resistor is located in the top wire between the wires for the 6 ohms resistor and the wire with current I subscript F. There is a discontinuity in the top wire of the circuit between wires where the 12 ohms and 6 ohms resistors are located. There is a discontinuity in the top wire of the circuit between the wire carrying current I subscript F and the wire with 18 ohms resistor.">
            <a:extLst>
              <a:ext uri="{FF2B5EF4-FFF2-40B4-BE49-F238E27FC236}">
                <a16:creationId xmlns:a16="http://schemas.microsoft.com/office/drawing/2014/main" id="{E06FED77-1758-52D0-52FC-79CBC1E8965B}"/>
              </a:ext>
            </a:extLst>
          </p:cNvPr>
          <p:cNvPicPr>
            <a:picLocks noChangeAspect="1" noChangeArrowheads="1"/>
          </p:cNvPicPr>
          <p:nvPr/>
        </p:nvPicPr>
        <p:blipFill>
          <a:blip r:embed="rId2"/>
          <a:stretch>
            <a:fillRect/>
          </a:stretch>
        </p:blipFill>
        <p:spPr bwMode="auto">
          <a:xfrm>
            <a:off x="2241686" y="3038630"/>
            <a:ext cx="4651599" cy="17387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1289800" y="5096853"/>
            <a:ext cx="2708462" cy="405683"/>
          </a:xfrm>
        </p:spPr>
        <p:txBody>
          <a:bodyPr wrap="square" lIns="0" tIns="18000" rIns="0" bIns="18000" anchor="ctr">
            <a:spAutoFit/>
          </a:bodyPr>
          <a:lstStyle/>
          <a:p>
            <a:pPr marL="0" indent="0">
              <a:spcBef>
                <a:spcPts val="600"/>
              </a:spcBef>
              <a:buNone/>
            </a:pPr>
            <a:r>
              <a:rPr lang="en-US" sz="2400" noProof="0" dirty="0"/>
              <a:t>A. Natural response</a:t>
            </a:r>
          </a:p>
        </p:txBody>
      </p:sp>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1289800" y="5640275"/>
            <a:ext cx="2376768" cy="405683"/>
          </a:xfrm>
        </p:spPr>
        <p:txBody>
          <a:bodyPr wrap="square" lIns="0" tIns="18000" rIns="0" bIns="18000" anchor="ctr">
            <a:spAutoFit/>
          </a:bodyPr>
          <a:lstStyle/>
          <a:p>
            <a:pPr marL="0" indent="0">
              <a:spcBef>
                <a:spcPts val="600"/>
              </a:spcBef>
              <a:buNone/>
            </a:pPr>
            <a:r>
              <a:rPr lang="en-US" sz="2400" noProof="0" dirty="0"/>
              <a:t>B. Step response</a:t>
            </a:r>
          </a:p>
        </p:txBody>
      </p:sp>
    </p:spTree>
    <p:extLst>
      <p:ext uri="{BB962C8B-B14F-4D97-AF65-F5344CB8AC3E}">
        <p14:creationId xmlns:p14="http://schemas.microsoft.com/office/powerpoint/2010/main" val="31637817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0AEFF-C498-BB8D-45FD-F3A2CCF3CAC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630224A-E941-90A5-BF33-997ABC7035B6}"/>
              </a:ext>
            </a:extLst>
          </p:cNvPr>
          <p:cNvSpPr>
            <a:spLocks noGrp="1"/>
          </p:cNvSpPr>
          <p:nvPr>
            <p:ph type="title"/>
          </p:nvPr>
        </p:nvSpPr>
        <p:spPr>
          <a:xfrm>
            <a:off x="438150" y="216191"/>
            <a:ext cx="8229600" cy="1144347"/>
          </a:xfrm>
        </p:spPr>
        <p:txBody>
          <a:bodyPr/>
          <a:lstStyle/>
          <a:p>
            <a:r>
              <a:rPr lang="en-US" noProof="0" dirty="0"/>
              <a:t>Chapter 7 – Sequential Switching Problems </a:t>
            </a:r>
            <a:r>
              <a:rPr lang="en-US" sz="2800" noProof="0" dirty="0"/>
              <a:t>(18 of 22)</a:t>
            </a:r>
          </a:p>
        </p:txBody>
      </p:sp>
      <p:sp>
        <p:nvSpPr>
          <p:cNvPr id="7" name="Content Placeholder 6">
            <a:extLst>
              <a:ext uri="{FF2B5EF4-FFF2-40B4-BE49-F238E27FC236}">
                <a16:creationId xmlns:a16="http://schemas.microsoft.com/office/drawing/2014/main" id="{3DC148E9-7E40-97AD-C290-D9DB42FE021D}"/>
              </a:ext>
            </a:extLst>
          </p:cNvPr>
          <p:cNvSpPr>
            <a:spLocks noGrp="1"/>
          </p:cNvSpPr>
          <p:nvPr>
            <p:ph sz="quarter" idx="12"/>
          </p:nvPr>
        </p:nvSpPr>
        <p:spPr>
          <a:xfrm>
            <a:off x="438150" y="1451153"/>
            <a:ext cx="8232775" cy="1513679"/>
          </a:xfrm>
        </p:spPr>
        <p:txBody>
          <a:bodyPr wrap="square" lIns="0" tIns="18000" rIns="0" bIns="18000" anchor="ctr">
            <a:spAutoFit/>
          </a:bodyPr>
          <a:lstStyle/>
          <a:p>
            <a:pPr marL="0" indent="0">
              <a:spcBef>
                <a:spcPts val="600"/>
              </a:spcBef>
              <a:buNone/>
            </a:pPr>
            <a:r>
              <a:rPr lang="en-US" sz="2400" noProof="0" dirty="0"/>
              <a:t>Here is the circuit used to determine the final value of the current in the second time segment. For this time segment, is the response form the natural response or the step response?</a:t>
            </a:r>
          </a:p>
        </p:txBody>
      </p:sp>
      <p:pic>
        <p:nvPicPr>
          <p:cNvPr id="2" name="Picture 2"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a wire with current I subscript F flowing from top node to bottom node, and a 18 ohms resistor. A 4 ohms resistor is located in the top wire between the wires for the 60 volt source and the 12 ohm resistor. A 3 ohms resistor is located in the top wire between the wires for the 6 ohms resistor and the wire with current I subscript F. There is a discontinuity in the top wire of the circuit between wires where the 12 ohms and 6 ohms resistors are located. There is a discontinuity in the top wire of the circuit between the wire carrying current I subscript F and the wire with 18 ohms resistor.">
            <a:extLst>
              <a:ext uri="{FF2B5EF4-FFF2-40B4-BE49-F238E27FC236}">
                <a16:creationId xmlns:a16="http://schemas.microsoft.com/office/drawing/2014/main" id="{C11DC73D-8D82-60A0-E0F9-1FF010412C35}"/>
              </a:ext>
            </a:extLst>
          </p:cNvPr>
          <p:cNvPicPr>
            <a:picLocks noChangeAspect="1" noChangeArrowheads="1"/>
          </p:cNvPicPr>
          <p:nvPr/>
        </p:nvPicPr>
        <p:blipFill>
          <a:blip r:embed="rId4"/>
          <a:stretch>
            <a:fillRect/>
          </a:stretch>
        </p:blipFill>
        <p:spPr bwMode="auto">
          <a:xfrm>
            <a:off x="2241686" y="3038630"/>
            <a:ext cx="4651599" cy="17387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1435" descr="Check mark">
            <a:extLst>
              <a:ext uri="{FF2B5EF4-FFF2-40B4-BE49-F238E27FC236}">
                <a16:creationId xmlns:a16="http://schemas.microsoft.com/office/drawing/2014/main" id="{E2B02258-87F5-DD17-8D6E-005DAFD37931}"/>
              </a:ext>
            </a:extLst>
          </p:cNvPr>
          <p:cNvPicPr>
            <a:picLocks/>
          </p:cNvPicPr>
          <p:nvPr>
            <p:custDataLst>
              <p:tags r:id="rId1"/>
            </p:custDataLst>
          </p:nvPr>
        </p:nvPicPr>
        <p:blipFill>
          <a:blip r:embed="rId5">
            <a:extLst>
              <a:ext uri="{28A0092B-C50C-407E-A947-70E740481C1C}">
                <a14:useLocalDpi xmlns:a14="http://schemas.microsoft.com/office/drawing/2010/main" val="0"/>
              </a:ext>
            </a:extLst>
          </a:blip>
          <a:srcRect/>
          <a:stretch>
            <a:fillRect/>
          </a:stretch>
        </p:blipFill>
        <p:spPr bwMode="auto">
          <a:xfrm>
            <a:off x="741768" y="5128244"/>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7">
            <a:extLst>
              <a:ext uri="{FF2B5EF4-FFF2-40B4-BE49-F238E27FC236}">
                <a16:creationId xmlns:a16="http://schemas.microsoft.com/office/drawing/2014/main" id="{D864FF65-E937-AFFA-69D2-A24883B83D7E}"/>
              </a:ext>
            </a:extLst>
          </p:cNvPr>
          <p:cNvSpPr>
            <a:spLocks noGrp="1"/>
          </p:cNvSpPr>
          <p:nvPr>
            <p:ph sz="quarter" idx="13"/>
          </p:nvPr>
        </p:nvSpPr>
        <p:spPr>
          <a:xfrm>
            <a:off x="1289800" y="5096853"/>
            <a:ext cx="2708462" cy="405683"/>
          </a:xfrm>
        </p:spPr>
        <p:txBody>
          <a:bodyPr wrap="square" lIns="0" tIns="18000" rIns="0" bIns="18000" anchor="ctr">
            <a:spAutoFit/>
          </a:bodyPr>
          <a:lstStyle/>
          <a:p>
            <a:pPr marL="0" indent="0">
              <a:spcBef>
                <a:spcPts val="600"/>
              </a:spcBef>
              <a:buNone/>
            </a:pPr>
            <a:r>
              <a:rPr lang="en-US" sz="2400" noProof="0" dirty="0"/>
              <a:t>A. Natural response</a:t>
            </a:r>
          </a:p>
        </p:txBody>
      </p:sp>
      <p:pic>
        <p:nvPicPr>
          <p:cNvPr id="4" name="Picture 1434" descr="Cross mark">
            <a:extLst>
              <a:ext uri="{FF2B5EF4-FFF2-40B4-BE49-F238E27FC236}">
                <a16:creationId xmlns:a16="http://schemas.microsoft.com/office/drawing/2014/main" id="{66BE0D86-547C-1879-3163-AF07ECF3E5AC}"/>
              </a:ext>
            </a:extLst>
          </p:cNvPr>
          <p:cNvPicPr>
            <a:picLocks/>
          </p:cNvPicPr>
          <p:nvPr>
            <p:custDataLst>
              <p:tags r:id="rId2"/>
            </p:custDataLst>
          </p:nvPr>
        </p:nvPicPr>
        <p:blipFill>
          <a:blip r:embed="rId6">
            <a:extLst>
              <a:ext uri="{28A0092B-C50C-407E-A947-70E740481C1C}">
                <a14:useLocalDpi xmlns:a14="http://schemas.microsoft.com/office/drawing/2010/main" val="0"/>
              </a:ext>
            </a:extLst>
          </a:blip>
          <a:srcRect/>
          <a:stretch>
            <a:fillRect/>
          </a:stretch>
        </p:blipFill>
        <p:spPr bwMode="auto">
          <a:xfrm>
            <a:off x="741768" y="5671666"/>
            <a:ext cx="3429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BDD16943-27A7-DC07-4E68-96CBD9013FE3}"/>
              </a:ext>
            </a:extLst>
          </p:cNvPr>
          <p:cNvSpPr>
            <a:spLocks noGrp="1"/>
          </p:cNvSpPr>
          <p:nvPr>
            <p:ph sz="quarter" idx="14"/>
          </p:nvPr>
        </p:nvSpPr>
        <p:spPr>
          <a:xfrm>
            <a:off x="1289800" y="5640275"/>
            <a:ext cx="2376768" cy="405683"/>
          </a:xfrm>
        </p:spPr>
        <p:txBody>
          <a:bodyPr wrap="square" lIns="0" tIns="18000" rIns="0" bIns="18000" anchor="ctr">
            <a:spAutoFit/>
          </a:bodyPr>
          <a:lstStyle/>
          <a:p>
            <a:pPr marL="0" indent="0">
              <a:spcBef>
                <a:spcPts val="600"/>
              </a:spcBef>
              <a:buNone/>
            </a:pPr>
            <a:r>
              <a:rPr lang="en-US" sz="2400" noProof="0" dirty="0"/>
              <a:t>B. Step response</a:t>
            </a:r>
          </a:p>
        </p:txBody>
      </p:sp>
    </p:spTree>
    <p:extLst>
      <p:ext uri="{BB962C8B-B14F-4D97-AF65-F5344CB8AC3E}">
        <p14:creationId xmlns:p14="http://schemas.microsoft.com/office/powerpoint/2010/main" val="2892643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6193"/>
            <a:ext cx="8229600" cy="1144347"/>
          </a:xfrm>
        </p:spPr>
        <p:txBody>
          <a:bodyPr/>
          <a:lstStyle/>
          <a:p>
            <a:r>
              <a:rPr lang="en-US" noProof="0" dirty="0"/>
              <a:t>Chapter 7 – Sequential Switching Problems </a:t>
            </a:r>
            <a:r>
              <a:rPr lang="en-US" sz="2800" noProof="0" dirty="0"/>
              <a:t>(19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01056"/>
            <a:ext cx="4054475" cy="1575234"/>
          </a:xfrm>
        </p:spPr>
        <p:txBody>
          <a:bodyPr lIns="0" tIns="18000" rIns="0" bIns="18000" anchor="ctr">
            <a:spAutoFit/>
          </a:bodyPr>
          <a:lstStyle/>
          <a:p>
            <a:pPr marL="0" indent="0">
              <a:spcBef>
                <a:spcPts val="600"/>
              </a:spcBef>
              <a:buNone/>
            </a:pPr>
            <a:r>
              <a:rPr lang="en-US" sz="2000" noProof="0" dirty="0"/>
              <a:t>Both switches have been closed for a long time. At t = 0, switch 1 is opened and stays open. Switch 2 opens 35 m</a:t>
            </a:r>
            <a:r>
              <a:rPr lang="en-US" sz="100" noProof="0" dirty="0"/>
              <a:t> </a:t>
            </a:r>
            <a:r>
              <a:rPr lang="en-US" sz="2000" noProof="0" dirty="0"/>
              <a:t>s later and stays open. Find the expression for the voltage</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40765" y="3119537"/>
            <a:ext cx="3111874" cy="344128"/>
          </a:xfrm>
        </p:spPr>
        <p:txBody>
          <a:bodyPr wrap="square" lIns="0" tIns="18000" rIns="0" bIns="18000" anchor="ctr">
            <a:spAutoFit/>
          </a:bodyPr>
          <a:lstStyle/>
          <a:p>
            <a:pPr marL="0" indent="0">
              <a:spcBef>
                <a:spcPts val="600"/>
              </a:spcBef>
              <a:buNone/>
            </a:pPr>
            <a:r>
              <a:rPr lang="en-US" sz="2000" noProof="0" dirty="0"/>
              <a:t>drop across the inductor for </a:t>
            </a:r>
          </a:p>
        </p:txBody>
      </p:sp>
      <p:graphicFrame>
        <p:nvGraphicFramePr>
          <p:cNvPr id="2" name="Object 1" descr="t is greater than or equal to 0 superscript plus.&#10;">
            <a:extLst>
              <a:ext uri="{FF2B5EF4-FFF2-40B4-BE49-F238E27FC236}">
                <a16:creationId xmlns:a16="http://schemas.microsoft.com/office/drawing/2014/main" id="{FE1D5C69-EC36-95C0-2CB7-65DE121D08D9}"/>
              </a:ext>
            </a:extLst>
          </p:cNvPr>
          <p:cNvGraphicFramePr>
            <a:graphicFrameLocks noChangeAspect="1"/>
          </p:cNvGraphicFramePr>
          <p:nvPr>
            <p:extLst>
              <p:ext uri="{D42A27DB-BD31-4B8C-83A1-F6EECF244321}">
                <p14:modId xmlns:p14="http://schemas.microsoft.com/office/powerpoint/2010/main" val="4215552415"/>
              </p:ext>
            </p:extLst>
          </p:nvPr>
        </p:nvGraphicFramePr>
        <p:xfrm>
          <a:off x="3620101" y="3131866"/>
          <a:ext cx="661240" cy="320124"/>
        </p:xfrm>
        <a:graphic>
          <a:graphicData uri="http://schemas.openxmlformats.org/presentationml/2006/ole">
            <mc:AlternateContent xmlns:mc="http://schemas.openxmlformats.org/markup-compatibility/2006">
              <mc:Choice xmlns:v="urn:schemas-microsoft-com:vml" Requires="v">
                <p:oleObj name="Equation" r:id="rId2" imgW="419040" imgH="203040" progId="Equation.DSMT4">
                  <p:embed/>
                </p:oleObj>
              </mc:Choice>
              <mc:Fallback>
                <p:oleObj name="Equation" r:id="rId2" imgW="419040" imgH="203040" progId="Equation.DSMT4">
                  <p:embed/>
                  <p:pic>
                    <p:nvPicPr>
                      <p:cNvPr id="2" name="Object 1">
                        <a:extLst>
                          <a:ext uri="{FF2B5EF4-FFF2-40B4-BE49-F238E27FC236}">
                            <a16:creationId xmlns:a16="http://schemas.microsoft.com/office/drawing/2014/main" id="{BD0E1F94-3D63-007B-62F9-679C1A55130D}"/>
                          </a:ext>
                        </a:extLst>
                      </p:cNvPr>
                      <p:cNvPicPr>
                        <a:picLocks noChangeAspect="1" noChangeArrowheads="1"/>
                      </p:cNvPicPr>
                      <p:nvPr/>
                    </p:nvPicPr>
                    <p:blipFill>
                      <a:blip r:embed="rId3"/>
                      <a:srcRect/>
                      <a:stretch>
                        <a:fillRect/>
                      </a:stretch>
                    </p:blipFill>
                    <p:spPr bwMode="auto">
                      <a:xfrm>
                        <a:off x="3620101" y="3131866"/>
                        <a:ext cx="661240" cy="320124"/>
                      </a:xfrm>
                      <a:prstGeom prst="rect">
                        <a:avLst/>
                      </a:prstGeom>
                      <a:noFill/>
                      <a:ln>
                        <a:noFill/>
                      </a:ln>
                      <a:effectLst/>
                    </p:spPr>
                  </p:pic>
                </p:oleObj>
              </mc:Fallback>
            </mc:AlternateContent>
          </a:graphicData>
        </a:graphic>
      </p:graphicFrame>
      <p:pic>
        <p:nvPicPr>
          <p:cNvPr id="3" name="Picture 3"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Switch 1 is located in the top wire between the wires for the 12 ohm resistor and the 6 ohms resistor. A 3 ohms resistor is located in the top wire between the wires for the 6 ohms resistor and the 150 milli Henry inductor. Switch 2 is located in the top wire between the wires for the milli Henry inductor and the 18 ohms resistor. Switch 1 is opened when time t is zero. Switch 2 is opened when time t is 35 milli seconds. Voltage v subscript L exists across the 150 milli Henry inductor with positive polarity at the top node and negative polarity at the bottom. Current i subscript L flows through the 150 milli Henry inductor from the top node to the bottom node. ">
            <a:extLst>
              <a:ext uri="{FF2B5EF4-FFF2-40B4-BE49-F238E27FC236}">
                <a16:creationId xmlns:a16="http://schemas.microsoft.com/office/drawing/2014/main" id="{77B606EC-F16B-50A6-CB2A-914051CBA3B8}"/>
              </a:ext>
            </a:extLst>
          </p:cNvPr>
          <p:cNvPicPr>
            <a:picLocks noChangeAspect="1" noChangeArrowheads="1"/>
          </p:cNvPicPr>
          <p:nvPr/>
        </p:nvPicPr>
        <p:blipFill>
          <a:blip r:embed="rId4"/>
          <a:srcRect/>
          <a:stretch/>
        </p:blipFill>
        <p:spPr bwMode="auto">
          <a:xfrm>
            <a:off x="4633447" y="1732697"/>
            <a:ext cx="3974393" cy="15829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3575617"/>
            <a:ext cx="4644838" cy="344128"/>
          </a:xfrm>
        </p:spPr>
        <p:txBody>
          <a:bodyPr wrap="square" lIns="0" tIns="18000" rIns="0" bIns="18000" anchor="ctr">
            <a:spAutoFit/>
          </a:bodyPr>
          <a:lstStyle/>
          <a:p>
            <a:pPr marL="342900" indent="-342900">
              <a:spcBef>
                <a:spcPts val="600"/>
              </a:spcBef>
            </a:pPr>
            <a:r>
              <a:rPr lang="en-US" sz="2000" noProof="0" dirty="0"/>
              <a:t>Analysis for the second time segment, </a:t>
            </a:r>
          </a:p>
        </p:txBody>
      </p:sp>
      <p:graphicFrame>
        <p:nvGraphicFramePr>
          <p:cNvPr id="4" name="Object 3" descr="t is greater than or equal to 35 milliseconds.&#10;">
            <a:extLst>
              <a:ext uri="{FF2B5EF4-FFF2-40B4-BE49-F238E27FC236}">
                <a16:creationId xmlns:a16="http://schemas.microsoft.com/office/drawing/2014/main" id="{599D46D2-499F-6F23-509C-EE59E61B634A}"/>
              </a:ext>
            </a:extLst>
          </p:cNvPr>
          <p:cNvGraphicFramePr>
            <a:graphicFrameLocks noChangeAspect="1"/>
          </p:cNvGraphicFramePr>
          <p:nvPr>
            <p:extLst>
              <p:ext uri="{D42A27DB-BD31-4B8C-83A1-F6EECF244321}">
                <p14:modId xmlns:p14="http://schemas.microsoft.com/office/powerpoint/2010/main" val="2541164362"/>
              </p:ext>
            </p:extLst>
          </p:nvPr>
        </p:nvGraphicFramePr>
        <p:xfrm>
          <a:off x="5142193" y="3613064"/>
          <a:ext cx="1103312" cy="319087"/>
        </p:xfrm>
        <a:graphic>
          <a:graphicData uri="http://schemas.openxmlformats.org/presentationml/2006/ole">
            <mc:AlternateContent xmlns:mc="http://schemas.openxmlformats.org/markup-compatibility/2006">
              <mc:Choice xmlns:v="urn:schemas-microsoft-com:vml" Requires="v">
                <p:oleObj name="Equation" r:id="rId5" imgW="698400" imgH="203040" progId="Equation.DSMT4">
                  <p:embed/>
                </p:oleObj>
              </mc:Choice>
              <mc:Fallback>
                <p:oleObj name="Equation" r:id="rId5" imgW="698400" imgH="203040" progId="Equation.DSMT4">
                  <p:embed/>
                  <p:pic>
                    <p:nvPicPr>
                      <p:cNvPr id="4" name="Object 3">
                        <a:extLst>
                          <a:ext uri="{FF2B5EF4-FFF2-40B4-BE49-F238E27FC236}">
                            <a16:creationId xmlns:a16="http://schemas.microsoft.com/office/drawing/2014/main" id="{B6ABD4B7-77EE-F893-710B-6519E34E89B1}"/>
                          </a:ext>
                        </a:extLst>
                      </p:cNvPr>
                      <p:cNvPicPr>
                        <a:picLocks noChangeAspect="1" noChangeArrowheads="1"/>
                      </p:cNvPicPr>
                      <p:nvPr/>
                    </p:nvPicPr>
                    <p:blipFill>
                      <a:blip r:embed="rId6"/>
                      <a:srcRect/>
                      <a:stretch>
                        <a:fillRect/>
                      </a:stretch>
                    </p:blipFill>
                    <p:spPr bwMode="auto">
                      <a:xfrm>
                        <a:off x="5142193" y="3613064"/>
                        <a:ext cx="1103312" cy="319087"/>
                      </a:xfrm>
                      <a:prstGeom prst="rect">
                        <a:avLst/>
                      </a:prstGeom>
                      <a:noFill/>
                      <a:ln>
                        <a:noFill/>
                      </a:ln>
                      <a:effec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0" y="3986870"/>
            <a:ext cx="4555191" cy="344128"/>
          </a:xfrm>
        </p:spPr>
        <p:txBody>
          <a:bodyPr wrap="square" lIns="0" tIns="18000" rIns="0" bIns="18000" anchor="ctr">
            <a:spAutoFit/>
          </a:bodyPr>
          <a:lstStyle/>
          <a:p>
            <a:pPr marL="829818" lvl="1" indent="-342900"/>
            <a:r>
              <a:rPr lang="en-US" sz="2000" noProof="0" dirty="0"/>
              <a:t>Step 4 – Calculate the final value </a:t>
            </a:r>
          </a:p>
        </p:txBody>
      </p:sp>
      <p:graphicFrame>
        <p:nvGraphicFramePr>
          <p:cNvPr id="5" name="Object 4" descr="I subscript f.&#10;">
            <a:extLst>
              <a:ext uri="{FF2B5EF4-FFF2-40B4-BE49-F238E27FC236}">
                <a16:creationId xmlns:a16="http://schemas.microsoft.com/office/drawing/2014/main" id="{BB7E69FD-BADD-4953-3140-CF55AE17625D}"/>
              </a:ext>
            </a:extLst>
          </p:cNvPr>
          <p:cNvGraphicFramePr>
            <a:graphicFrameLocks noChangeAspect="1"/>
          </p:cNvGraphicFramePr>
          <p:nvPr>
            <p:extLst>
              <p:ext uri="{D42A27DB-BD31-4B8C-83A1-F6EECF244321}">
                <p14:modId xmlns:p14="http://schemas.microsoft.com/office/powerpoint/2010/main" val="1245591573"/>
              </p:ext>
            </p:extLst>
          </p:nvPr>
        </p:nvGraphicFramePr>
        <p:xfrm>
          <a:off x="5079810" y="4024965"/>
          <a:ext cx="261938" cy="360363"/>
        </p:xfrm>
        <a:graphic>
          <a:graphicData uri="http://schemas.openxmlformats.org/presentationml/2006/ole">
            <mc:AlternateContent xmlns:mc="http://schemas.openxmlformats.org/markup-compatibility/2006">
              <mc:Choice xmlns:v="urn:schemas-microsoft-com:vml" Requires="v">
                <p:oleObj name="Equation" r:id="rId7" imgW="164880" imgH="228600" progId="Equation.DSMT4">
                  <p:embed/>
                </p:oleObj>
              </mc:Choice>
              <mc:Fallback>
                <p:oleObj name="Equation" r:id="rId7" imgW="164880" imgH="228600" progId="Equation.DSMT4">
                  <p:embed/>
                  <p:pic>
                    <p:nvPicPr>
                      <p:cNvPr id="5" name="Object 4">
                        <a:extLst>
                          <a:ext uri="{FF2B5EF4-FFF2-40B4-BE49-F238E27FC236}">
                            <a16:creationId xmlns:a16="http://schemas.microsoft.com/office/drawing/2014/main" id="{705BB8F6-17F7-3FC9-AA83-6123CBCD41E8}"/>
                          </a:ext>
                        </a:extLst>
                      </p:cNvPr>
                      <p:cNvPicPr>
                        <a:picLocks noChangeAspect="1" noChangeArrowheads="1"/>
                      </p:cNvPicPr>
                      <p:nvPr/>
                    </p:nvPicPr>
                    <p:blipFill>
                      <a:blip r:embed="rId8"/>
                      <a:srcRect/>
                      <a:stretch>
                        <a:fillRect/>
                      </a:stretch>
                    </p:blipFill>
                    <p:spPr bwMode="auto">
                      <a:xfrm>
                        <a:off x="5079810" y="4024965"/>
                        <a:ext cx="261938" cy="360363"/>
                      </a:xfrm>
                      <a:prstGeom prst="rect">
                        <a:avLst/>
                      </a:prstGeom>
                      <a:noFill/>
                      <a:ln>
                        <a:noFill/>
                      </a:ln>
                      <a:effectLst/>
                    </p:spPr>
                  </p:pic>
                </p:oleObj>
              </mc:Fallback>
            </mc:AlternateContent>
          </a:graphicData>
        </a:graphic>
      </p:graphicFrame>
      <p:graphicFrame>
        <p:nvGraphicFramePr>
          <p:cNvPr id="26" name="Object 25" descr="t right arrow, infinity,&#10;">
            <a:extLst>
              <a:ext uri="{FF2B5EF4-FFF2-40B4-BE49-F238E27FC236}">
                <a16:creationId xmlns:a16="http://schemas.microsoft.com/office/drawing/2014/main" id="{3ECC8B25-E260-3CF8-90C0-34B3402D99B2}"/>
              </a:ext>
            </a:extLst>
          </p:cNvPr>
          <p:cNvGraphicFramePr>
            <a:graphicFrameLocks noChangeAspect="1"/>
          </p:cNvGraphicFramePr>
          <p:nvPr>
            <p:extLst>
              <p:ext uri="{D42A27DB-BD31-4B8C-83A1-F6EECF244321}">
                <p14:modId xmlns:p14="http://schemas.microsoft.com/office/powerpoint/2010/main" val="1983941802"/>
              </p:ext>
            </p:extLst>
          </p:nvPr>
        </p:nvGraphicFramePr>
        <p:xfrm>
          <a:off x="496419" y="4590197"/>
          <a:ext cx="723900" cy="279400"/>
        </p:xfrm>
        <a:graphic>
          <a:graphicData uri="http://schemas.openxmlformats.org/presentationml/2006/ole">
            <mc:AlternateContent xmlns:mc="http://schemas.openxmlformats.org/markup-compatibility/2006">
              <mc:Choice xmlns:v="urn:schemas-microsoft-com:vml" Requires="v">
                <p:oleObj name="Equation" r:id="rId9" imgW="457200" imgH="177480" progId="Equation.DSMT4">
                  <p:embed/>
                </p:oleObj>
              </mc:Choice>
              <mc:Fallback>
                <p:oleObj name="Equation" r:id="rId9" imgW="457200" imgH="177480" progId="Equation.DSMT4">
                  <p:embed/>
                  <p:pic>
                    <p:nvPicPr>
                      <p:cNvPr id="29" name="Object 28">
                        <a:extLst>
                          <a:ext uri="{FF2B5EF4-FFF2-40B4-BE49-F238E27FC236}">
                            <a16:creationId xmlns:a16="http://schemas.microsoft.com/office/drawing/2014/main" id="{5C366EDE-2479-279E-9BFA-EF34392B6691}"/>
                          </a:ext>
                        </a:extLst>
                      </p:cNvPr>
                      <p:cNvPicPr>
                        <a:picLocks noChangeAspect="1" noChangeArrowheads="1"/>
                      </p:cNvPicPr>
                      <p:nvPr/>
                    </p:nvPicPr>
                    <p:blipFill>
                      <a:blip r:embed="rId10"/>
                      <a:srcRect/>
                      <a:stretch>
                        <a:fillRect/>
                      </a:stretch>
                    </p:blipFill>
                    <p:spPr bwMode="auto">
                      <a:xfrm>
                        <a:off x="496419" y="4590197"/>
                        <a:ext cx="723900" cy="279400"/>
                      </a:xfrm>
                      <a:prstGeom prst="rect">
                        <a:avLst/>
                      </a:prstGeom>
                      <a:noFill/>
                      <a:ln>
                        <a:noFill/>
                      </a:ln>
                      <a:effectLst/>
                    </p:spPr>
                  </p:pic>
                </p:oleObj>
              </mc:Fallback>
            </mc:AlternateContent>
          </a:graphicData>
        </a:graphic>
      </p:graphicFrame>
      <p:pic>
        <p:nvPicPr>
          <p:cNvPr id="25" name="Picture 4"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a wire with current I subscript F flowing from top node to bottom node, and a 18 ohms resistor. A 4 ohms resistor is located in the top wire between the wires for the 60 volt source and the 12 ohm resistor. A 3 ohms resistor is located in the top wire between the wires for the 6 ohms resistor and the wire with current I subscript F. There is a discontinuity in the top wire of the circuit between wires where the 12 ohms and 6 ohms resistors are located. There is a discontinuity in the top wire of the circuit between the wire carrying current I subscript F and the wire with 18 ohms resistor.">
            <a:extLst>
              <a:ext uri="{FF2B5EF4-FFF2-40B4-BE49-F238E27FC236}">
                <a16:creationId xmlns:a16="http://schemas.microsoft.com/office/drawing/2014/main" id="{0C605749-A77A-57AE-B54A-3D4B45BCC88E}"/>
              </a:ext>
            </a:extLst>
          </p:cNvPr>
          <p:cNvPicPr>
            <a:picLocks noChangeAspect="1" noChangeArrowheads="1"/>
          </p:cNvPicPr>
          <p:nvPr/>
        </p:nvPicPr>
        <p:blipFill>
          <a:blip r:embed="rId11"/>
          <a:stretch>
            <a:fillRect/>
          </a:stretch>
        </p:blipFill>
        <p:spPr bwMode="auto">
          <a:xfrm>
            <a:off x="1852544" y="4458506"/>
            <a:ext cx="4257983" cy="15916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ontent Placeholder 10">
            <a:extLst>
              <a:ext uri="{FF2B5EF4-FFF2-40B4-BE49-F238E27FC236}">
                <a16:creationId xmlns:a16="http://schemas.microsoft.com/office/drawing/2014/main" id="{F2D073E9-9822-CBB6-5144-9C7134299EE5}"/>
              </a:ext>
            </a:extLst>
          </p:cNvPr>
          <p:cNvSpPr>
            <a:spLocks noGrp="1"/>
          </p:cNvSpPr>
          <p:nvPr>
            <p:ph sz="quarter" idx="16"/>
          </p:nvPr>
        </p:nvSpPr>
        <p:spPr>
          <a:xfrm>
            <a:off x="6499225" y="4737706"/>
            <a:ext cx="2012015" cy="344128"/>
          </a:xfrm>
        </p:spPr>
        <p:txBody>
          <a:bodyPr wrap="square" lIns="0" tIns="18000" rIns="0" bIns="18000" anchor="ctr">
            <a:spAutoFit/>
          </a:bodyPr>
          <a:lstStyle/>
          <a:p>
            <a:pPr marL="0" indent="0">
              <a:spcBef>
                <a:spcPts val="600"/>
              </a:spcBef>
              <a:buNone/>
            </a:pPr>
            <a:r>
              <a:rPr lang="en-US" sz="2000" noProof="0" dirty="0"/>
              <a:t>Natural response!</a:t>
            </a:r>
          </a:p>
        </p:txBody>
      </p:sp>
      <p:graphicFrame>
        <p:nvGraphicFramePr>
          <p:cNvPr id="27" name="Object 26" descr="right double arrow I subscript f baseline equals 0 Ampere.&#10;">
            <a:extLst>
              <a:ext uri="{FF2B5EF4-FFF2-40B4-BE49-F238E27FC236}">
                <a16:creationId xmlns:a16="http://schemas.microsoft.com/office/drawing/2014/main" id="{384A5F87-EBD3-F672-7D34-AFA8CAB2BFDA}"/>
              </a:ext>
            </a:extLst>
          </p:cNvPr>
          <p:cNvGraphicFramePr>
            <a:graphicFrameLocks noChangeAspect="1"/>
          </p:cNvGraphicFramePr>
          <p:nvPr>
            <p:extLst>
              <p:ext uri="{D42A27DB-BD31-4B8C-83A1-F6EECF244321}">
                <p14:modId xmlns:p14="http://schemas.microsoft.com/office/powerpoint/2010/main" val="3266042530"/>
              </p:ext>
            </p:extLst>
          </p:nvPr>
        </p:nvGraphicFramePr>
        <p:xfrm>
          <a:off x="6499225" y="5226597"/>
          <a:ext cx="1828800" cy="395287"/>
        </p:xfrm>
        <a:graphic>
          <a:graphicData uri="http://schemas.openxmlformats.org/presentationml/2006/ole">
            <mc:AlternateContent xmlns:mc="http://schemas.openxmlformats.org/markup-compatibility/2006">
              <mc:Choice xmlns:v="urn:schemas-microsoft-com:vml" Requires="v">
                <p:oleObj name="Equation" r:id="rId12" imgW="1054080" imgH="228600" progId="Equation.DSMT4">
                  <p:embed/>
                </p:oleObj>
              </mc:Choice>
              <mc:Fallback>
                <p:oleObj name="Equation" r:id="rId12" imgW="1054080" imgH="228600" progId="Equation.DSMT4">
                  <p:embed/>
                  <p:pic>
                    <p:nvPicPr>
                      <p:cNvPr id="6" name="Object 5"/>
                      <p:cNvPicPr>
                        <a:picLocks noChangeAspect="1" noChangeArrowheads="1"/>
                      </p:cNvPicPr>
                      <p:nvPr/>
                    </p:nvPicPr>
                    <p:blipFill>
                      <a:blip r:embed="rId13"/>
                      <a:srcRect/>
                      <a:stretch>
                        <a:fillRect/>
                      </a:stretch>
                    </p:blipFill>
                    <p:spPr bwMode="auto">
                      <a:xfrm>
                        <a:off x="6499225" y="5226597"/>
                        <a:ext cx="1828800" cy="395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734677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16191"/>
            <a:ext cx="8229600" cy="1144347"/>
          </a:xfrm>
        </p:spPr>
        <p:txBody>
          <a:bodyPr/>
          <a:lstStyle/>
          <a:p>
            <a:r>
              <a:rPr lang="en-US" noProof="0" dirty="0"/>
              <a:t>Chapter 7 – Sequential Switching Problems </a:t>
            </a:r>
            <a:r>
              <a:rPr lang="en-US" sz="2800" noProof="0" dirty="0"/>
              <a:t>(20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501063"/>
            <a:ext cx="4054475" cy="1575234"/>
          </a:xfrm>
        </p:spPr>
        <p:txBody>
          <a:bodyPr lIns="0" tIns="18000" rIns="0" bIns="18000" anchor="ctr">
            <a:spAutoFit/>
          </a:bodyPr>
          <a:lstStyle/>
          <a:p>
            <a:pPr marL="0" indent="0">
              <a:spcBef>
                <a:spcPts val="600"/>
              </a:spcBef>
              <a:buNone/>
            </a:pPr>
            <a:r>
              <a:rPr lang="en-US" sz="2000" noProof="0" dirty="0"/>
              <a:t>Both switches have been closed for a long time. At t = 0, switch 1 is opened and stays open. Switch 2 opens 35 m</a:t>
            </a:r>
            <a:r>
              <a:rPr lang="en-US" sz="100" noProof="0" dirty="0"/>
              <a:t> </a:t>
            </a:r>
            <a:r>
              <a:rPr lang="en-US" sz="2000" noProof="0" dirty="0"/>
              <a:t>s later and stays open. Find the expression for the voltage</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1" y="3119535"/>
            <a:ext cx="3093944" cy="344128"/>
          </a:xfrm>
        </p:spPr>
        <p:txBody>
          <a:bodyPr wrap="square" lIns="0" tIns="18000" rIns="0" bIns="18000" anchor="ctr">
            <a:spAutoFit/>
          </a:bodyPr>
          <a:lstStyle/>
          <a:p>
            <a:pPr marL="0" indent="0">
              <a:spcBef>
                <a:spcPts val="600"/>
              </a:spcBef>
              <a:buNone/>
            </a:pPr>
            <a:r>
              <a:rPr lang="en-US" sz="2000" noProof="0" dirty="0"/>
              <a:t>drop across the inductor for </a:t>
            </a:r>
          </a:p>
        </p:txBody>
      </p:sp>
      <p:graphicFrame>
        <p:nvGraphicFramePr>
          <p:cNvPr id="4" name="Object 3" descr="t is greater than or equal to 0 superscript plus.&#10;">
            <a:extLst>
              <a:ext uri="{FF2B5EF4-FFF2-40B4-BE49-F238E27FC236}">
                <a16:creationId xmlns:a16="http://schemas.microsoft.com/office/drawing/2014/main" id="{D06557E5-7085-3C04-3654-084FE66DAEB4}"/>
              </a:ext>
            </a:extLst>
          </p:cNvPr>
          <p:cNvGraphicFramePr>
            <a:graphicFrameLocks noChangeAspect="1"/>
          </p:cNvGraphicFramePr>
          <p:nvPr>
            <p:extLst>
              <p:ext uri="{D42A27DB-BD31-4B8C-83A1-F6EECF244321}">
                <p14:modId xmlns:p14="http://schemas.microsoft.com/office/powerpoint/2010/main" val="173328985"/>
              </p:ext>
            </p:extLst>
          </p:nvPr>
        </p:nvGraphicFramePr>
        <p:xfrm>
          <a:off x="3620101" y="3131866"/>
          <a:ext cx="661240" cy="320124"/>
        </p:xfrm>
        <a:graphic>
          <a:graphicData uri="http://schemas.openxmlformats.org/presentationml/2006/ole">
            <mc:AlternateContent xmlns:mc="http://schemas.openxmlformats.org/markup-compatibility/2006">
              <mc:Choice xmlns:v="urn:schemas-microsoft-com:vml" Requires="v">
                <p:oleObj name="Equation" r:id="rId3" imgW="419040" imgH="203040" progId="Equation.DSMT4">
                  <p:embed/>
                </p:oleObj>
              </mc:Choice>
              <mc:Fallback>
                <p:oleObj name="Equation" r:id="rId3" imgW="419040" imgH="203040" progId="Equation.DSMT4">
                  <p:embed/>
                  <p:pic>
                    <p:nvPicPr>
                      <p:cNvPr id="2" name="Object 1">
                        <a:extLst>
                          <a:ext uri="{FF2B5EF4-FFF2-40B4-BE49-F238E27FC236}">
                            <a16:creationId xmlns:a16="http://schemas.microsoft.com/office/drawing/2014/main" id="{FE1D5C69-EC36-95C0-2CB7-65DE121D08D9}"/>
                          </a:ext>
                        </a:extLst>
                      </p:cNvPr>
                      <p:cNvPicPr>
                        <a:picLocks noChangeAspect="1" noChangeArrowheads="1"/>
                      </p:cNvPicPr>
                      <p:nvPr/>
                    </p:nvPicPr>
                    <p:blipFill>
                      <a:blip r:embed="rId4"/>
                      <a:srcRect/>
                      <a:stretch>
                        <a:fillRect/>
                      </a:stretch>
                    </p:blipFill>
                    <p:spPr bwMode="auto">
                      <a:xfrm>
                        <a:off x="3620101" y="3131866"/>
                        <a:ext cx="661240" cy="320124"/>
                      </a:xfrm>
                      <a:prstGeom prst="rect">
                        <a:avLst/>
                      </a:prstGeom>
                      <a:noFill/>
                      <a:ln>
                        <a:noFill/>
                      </a:ln>
                      <a:effectLst/>
                    </p:spPr>
                  </p:pic>
                </p:oleObj>
              </mc:Fallback>
            </mc:AlternateContent>
          </a:graphicData>
        </a:graphic>
      </p:graphicFrame>
      <p:pic>
        <p:nvPicPr>
          <p:cNvPr id="5" name="Picture 3"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Switch 1 is located in the top wire between the wires for the 12 ohm resistor and the 6 ohms resistor. A 3 ohms resistor is located in the top wire between the wires for the 6 ohms resistor and the 150 milli Henry inductor. Switch 2 is located in the top wire between the wires for the milli Henry inductor and the 18 ohms resistor. Switch 1 is opened when time t is zero. Switch 2 is opened when time t is 35 milli seconds. Voltage v subscript L exists across the 150 milli Henry inductor with positive polarity at the top node and negative polarity at the bottom. Current i subscript L flows through the 150 milli Henry inductor from the top node to the bottom node. ">
            <a:extLst>
              <a:ext uri="{FF2B5EF4-FFF2-40B4-BE49-F238E27FC236}">
                <a16:creationId xmlns:a16="http://schemas.microsoft.com/office/drawing/2014/main" id="{B7882E86-A48D-28A0-DCCC-CA0B25113EBC}"/>
              </a:ext>
            </a:extLst>
          </p:cNvPr>
          <p:cNvPicPr>
            <a:picLocks noChangeAspect="1" noChangeArrowheads="1"/>
          </p:cNvPicPr>
          <p:nvPr/>
        </p:nvPicPr>
        <p:blipFill>
          <a:blip r:embed="rId5"/>
          <a:srcRect/>
          <a:stretch/>
        </p:blipFill>
        <p:spPr bwMode="auto">
          <a:xfrm>
            <a:off x="4677889" y="1706451"/>
            <a:ext cx="3976917" cy="15839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3530792"/>
            <a:ext cx="4635874" cy="344128"/>
          </a:xfrm>
        </p:spPr>
        <p:txBody>
          <a:bodyPr wrap="square" lIns="0" tIns="18000" rIns="0" bIns="18000" anchor="ctr">
            <a:spAutoFit/>
          </a:bodyPr>
          <a:lstStyle/>
          <a:p>
            <a:pPr marL="342900" indent="-342900">
              <a:spcBef>
                <a:spcPts val="600"/>
              </a:spcBef>
            </a:pPr>
            <a:r>
              <a:rPr lang="en-US" sz="2000" noProof="0" dirty="0"/>
              <a:t>Analysis for the second time segment, </a:t>
            </a:r>
          </a:p>
        </p:txBody>
      </p:sp>
      <p:graphicFrame>
        <p:nvGraphicFramePr>
          <p:cNvPr id="25" name="Object 24" descr="t is greater than or equal to 35 milliseconds.&#10;">
            <a:extLst>
              <a:ext uri="{FF2B5EF4-FFF2-40B4-BE49-F238E27FC236}">
                <a16:creationId xmlns:a16="http://schemas.microsoft.com/office/drawing/2014/main" id="{3E2E180E-CC34-E675-D4ED-E5081E2D2B70}"/>
              </a:ext>
            </a:extLst>
          </p:cNvPr>
          <p:cNvGraphicFramePr>
            <a:graphicFrameLocks noChangeAspect="1"/>
          </p:cNvGraphicFramePr>
          <p:nvPr>
            <p:extLst>
              <p:ext uri="{D42A27DB-BD31-4B8C-83A1-F6EECF244321}">
                <p14:modId xmlns:p14="http://schemas.microsoft.com/office/powerpoint/2010/main" val="3679865819"/>
              </p:ext>
            </p:extLst>
          </p:nvPr>
        </p:nvGraphicFramePr>
        <p:xfrm>
          <a:off x="5142193" y="3577205"/>
          <a:ext cx="1103312" cy="319087"/>
        </p:xfrm>
        <a:graphic>
          <a:graphicData uri="http://schemas.openxmlformats.org/presentationml/2006/ole">
            <mc:AlternateContent xmlns:mc="http://schemas.openxmlformats.org/markup-compatibility/2006">
              <mc:Choice xmlns:v="urn:schemas-microsoft-com:vml" Requires="v">
                <p:oleObj name="Equation" r:id="rId6" imgW="698400" imgH="203040" progId="Equation.DSMT4">
                  <p:embed/>
                </p:oleObj>
              </mc:Choice>
              <mc:Fallback>
                <p:oleObj name="Equation" r:id="rId6" imgW="698400" imgH="203040" progId="Equation.DSMT4">
                  <p:embed/>
                  <p:pic>
                    <p:nvPicPr>
                      <p:cNvPr id="4" name="Object 3">
                        <a:extLst>
                          <a:ext uri="{FF2B5EF4-FFF2-40B4-BE49-F238E27FC236}">
                            <a16:creationId xmlns:a16="http://schemas.microsoft.com/office/drawing/2014/main" id="{599D46D2-499F-6F23-509C-EE59E61B634A}"/>
                          </a:ext>
                        </a:extLst>
                      </p:cNvPr>
                      <p:cNvPicPr>
                        <a:picLocks noChangeAspect="1" noChangeArrowheads="1"/>
                      </p:cNvPicPr>
                      <p:nvPr/>
                    </p:nvPicPr>
                    <p:blipFill>
                      <a:blip r:embed="rId7"/>
                      <a:srcRect/>
                      <a:stretch>
                        <a:fillRect/>
                      </a:stretch>
                    </p:blipFill>
                    <p:spPr bwMode="auto">
                      <a:xfrm>
                        <a:off x="5142193" y="3577205"/>
                        <a:ext cx="1103312" cy="319087"/>
                      </a:xfrm>
                      <a:prstGeom prst="rect">
                        <a:avLst/>
                      </a:prstGeom>
                      <a:noFill/>
                      <a:ln>
                        <a:noFill/>
                      </a:ln>
                      <a:effectLst/>
                    </p:spPr>
                  </p:pic>
                </p:oleObj>
              </mc:Fallback>
            </mc:AlternateContent>
          </a:graphicData>
        </a:graphic>
      </p:graphicFrame>
      <p:sp>
        <p:nvSpPr>
          <p:cNvPr id="10" name="Content Placeholder 9">
            <a:extLst>
              <a:ext uri="{FF2B5EF4-FFF2-40B4-BE49-F238E27FC236}">
                <a16:creationId xmlns:a16="http://schemas.microsoft.com/office/drawing/2014/main" id="{49421B9A-C9FF-E0C8-F993-51BCA03C7BDC}"/>
              </a:ext>
            </a:extLst>
          </p:cNvPr>
          <p:cNvSpPr>
            <a:spLocks noGrp="1"/>
          </p:cNvSpPr>
          <p:nvPr>
            <p:ph sz="quarter" idx="15"/>
          </p:nvPr>
        </p:nvSpPr>
        <p:spPr>
          <a:xfrm>
            <a:off x="438150" y="3933081"/>
            <a:ext cx="4304179" cy="344128"/>
          </a:xfrm>
        </p:spPr>
        <p:txBody>
          <a:bodyPr wrap="square" lIns="0" tIns="18000" rIns="0" bIns="18000" anchor="ctr">
            <a:spAutoFit/>
          </a:bodyPr>
          <a:lstStyle/>
          <a:p>
            <a:pPr marL="829818" lvl="1" indent="-342900"/>
            <a:r>
              <a:rPr lang="en-US" sz="2000" noProof="0" dirty="0"/>
              <a:t>Step 5 – Write the equation for </a:t>
            </a:r>
          </a:p>
        </p:txBody>
      </p:sp>
      <p:graphicFrame>
        <p:nvGraphicFramePr>
          <p:cNvPr id="26" name="Object 25" descr="i subscript L baseline (t).&#10;">
            <a:extLst>
              <a:ext uri="{FF2B5EF4-FFF2-40B4-BE49-F238E27FC236}">
                <a16:creationId xmlns:a16="http://schemas.microsoft.com/office/drawing/2014/main" id="{6AFF88AB-A790-18FC-2C74-55B4D2D85979}"/>
              </a:ext>
            </a:extLst>
          </p:cNvPr>
          <p:cNvGraphicFramePr>
            <a:graphicFrameLocks noChangeAspect="1"/>
          </p:cNvGraphicFramePr>
          <p:nvPr>
            <p:extLst>
              <p:ext uri="{D42A27DB-BD31-4B8C-83A1-F6EECF244321}">
                <p14:modId xmlns:p14="http://schemas.microsoft.com/office/powerpoint/2010/main" val="3620679084"/>
              </p:ext>
            </p:extLst>
          </p:nvPr>
        </p:nvGraphicFramePr>
        <p:xfrm>
          <a:off x="4826468" y="3958726"/>
          <a:ext cx="481013" cy="360363"/>
        </p:xfrm>
        <a:graphic>
          <a:graphicData uri="http://schemas.openxmlformats.org/presentationml/2006/ole">
            <mc:AlternateContent xmlns:mc="http://schemas.openxmlformats.org/markup-compatibility/2006">
              <mc:Choice xmlns:v="urn:schemas-microsoft-com:vml" Requires="v">
                <p:oleObj name="Equation" r:id="rId8" imgW="304560" imgH="228600" progId="Equation.DSMT4">
                  <p:embed/>
                </p:oleObj>
              </mc:Choice>
              <mc:Fallback>
                <p:oleObj name="Equation" r:id="rId8" imgW="304560" imgH="228600" progId="Equation.DSMT4">
                  <p:embed/>
                  <p:pic>
                    <p:nvPicPr>
                      <p:cNvPr id="5" name="Object 4">
                        <a:extLst>
                          <a:ext uri="{FF2B5EF4-FFF2-40B4-BE49-F238E27FC236}">
                            <a16:creationId xmlns:a16="http://schemas.microsoft.com/office/drawing/2014/main" id="{79715667-EE07-1856-41C1-FF14D671C4FC}"/>
                          </a:ext>
                        </a:extLst>
                      </p:cNvPr>
                      <p:cNvPicPr>
                        <a:picLocks noChangeAspect="1" noChangeArrowheads="1"/>
                      </p:cNvPicPr>
                      <p:nvPr/>
                    </p:nvPicPr>
                    <p:blipFill>
                      <a:blip r:embed="rId9"/>
                      <a:srcRect/>
                      <a:stretch>
                        <a:fillRect/>
                      </a:stretch>
                    </p:blipFill>
                    <p:spPr bwMode="auto">
                      <a:xfrm>
                        <a:off x="4826468" y="3958726"/>
                        <a:ext cx="481013" cy="360363"/>
                      </a:xfrm>
                      <a:prstGeom prst="rect">
                        <a:avLst/>
                      </a:prstGeom>
                      <a:noFill/>
                      <a:ln>
                        <a:noFill/>
                      </a:ln>
                      <a:effectLst/>
                    </p:spPr>
                  </p:pic>
                </p:oleObj>
              </mc:Fallback>
            </mc:AlternateContent>
          </a:graphicData>
        </a:graphic>
      </p:graphicFrame>
      <p:graphicFrame>
        <p:nvGraphicFramePr>
          <p:cNvPr id="27" name="Object 26" descr="The figure illustrates the expression for i subscript L baseline (t).&#10;Long description is available in notes, press F6.&#10;">
            <a:extLst>
              <a:ext uri="{FF2B5EF4-FFF2-40B4-BE49-F238E27FC236}">
                <a16:creationId xmlns:a16="http://schemas.microsoft.com/office/drawing/2014/main" id="{4755FC71-1AC8-1FCD-7D40-D0967F9FF390}"/>
              </a:ext>
            </a:extLst>
          </p:cNvPr>
          <p:cNvGraphicFramePr>
            <a:graphicFrameLocks noChangeAspect="1"/>
          </p:cNvGraphicFramePr>
          <p:nvPr>
            <p:extLst>
              <p:ext uri="{D42A27DB-BD31-4B8C-83A1-F6EECF244321}">
                <p14:modId xmlns:p14="http://schemas.microsoft.com/office/powerpoint/2010/main" val="3896660975"/>
              </p:ext>
            </p:extLst>
          </p:nvPr>
        </p:nvGraphicFramePr>
        <p:xfrm>
          <a:off x="2712570" y="4638114"/>
          <a:ext cx="2563813" cy="374650"/>
        </p:xfrm>
        <a:graphic>
          <a:graphicData uri="http://schemas.openxmlformats.org/presentationml/2006/ole">
            <mc:AlternateContent xmlns:mc="http://schemas.openxmlformats.org/markup-compatibility/2006">
              <mc:Choice xmlns:v="urn:schemas-microsoft-com:vml" Requires="v">
                <p:oleObj name="Equation" r:id="rId10" imgW="1650960" imgH="241200" progId="Equation.DSMT4">
                  <p:embed/>
                </p:oleObj>
              </mc:Choice>
              <mc:Fallback>
                <p:oleObj name="Equation" r:id="rId10" imgW="1650960" imgH="241200" progId="Equation.DSMT4">
                  <p:embed/>
                  <p:pic>
                    <p:nvPicPr>
                      <p:cNvPr id="5" name="Object 4"/>
                      <p:cNvPicPr>
                        <a:picLocks noChangeAspect="1" noChangeArrowheads="1"/>
                      </p:cNvPicPr>
                      <p:nvPr/>
                    </p:nvPicPr>
                    <p:blipFill>
                      <a:blip r:embed="rId11"/>
                      <a:srcRect/>
                      <a:stretch>
                        <a:fillRect/>
                      </a:stretch>
                    </p:blipFill>
                    <p:spPr bwMode="auto">
                      <a:xfrm>
                        <a:off x="2712570" y="4638114"/>
                        <a:ext cx="2563813"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 name="Object 27" descr="equals 0 plus OpenParenthesis 1.48 minus 0 CloseParenthesis e to the negative OpenParenthesis t minus 0.035 CloseParenthesis divided by 0.0167 power.&#10;">
            <a:extLst>
              <a:ext uri="{FF2B5EF4-FFF2-40B4-BE49-F238E27FC236}">
                <a16:creationId xmlns:a16="http://schemas.microsoft.com/office/drawing/2014/main" id="{70948499-9CE9-9746-3834-AA208CD5350A}"/>
              </a:ext>
            </a:extLst>
          </p:cNvPr>
          <p:cNvGraphicFramePr>
            <a:graphicFrameLocks noChangeAspect="1"/>
          </p:cNvGraphicFramePr>
          <p:nvPr>
            <p:extLst>
              <p:ext uri="{D42A27DB-BD31-4B8C-83A1-F6EECF244321}">
                <p14:modId xmlns:p14="http://schemas.microsoft.com/office/powerpoint/2010/main" val="1237541704"/>
              </p:ext>
            </p:extLst>
          </p:nvPr>
        </p:nvGraphicFramePr>
        <p:xfrm>
          <a:off x="2677171" y="5054827"/>
          <a:ext cx="3355975" cy="357187"/>
        </p:xfrm>
        <a:graphic>
          <a:graphicData uri="http://schemas.openxmlformats.org/presentationml/2006/ole">
            <mc:AlternateContent xmlns:mc="http://schemas.openxmlformats.org/markup-compatibility/2006">
              <mc:Choice xmlns:v="urn:schemas-microsoft-com:vml" Requires="v">
                <p:oleObj name="Equation" r:id="rId12" imgW="2158920" imgH="228600" progId="Equation.DSMT4">
                  <p:embed/>
                </p:oleObj>
              </mc:Choice>
              <mc:Fallback>
                <p:oleObj name="Equation" r:id="rId12" imgW="2158920" imgH="228600" progId="Equation.DSMT4">
                  <p:embed/>
                  <p:pic>
                    <p:nvPicPr>
                      <p:cNvPr id="27" name="Object 26">
                        <a:extLst>
                          <a:ext uri="{FF2B5EF4-FFF2-40B4-BE49-F238E27FC236}">
                            <a16:creationId xmlns:a16="http://schemas.microsoft.com/office/drawing/2014/main" id="{4755FC71-1AC8-1FCD-7D40-D0967F9FF390}"/>
                          </a:ext>
                        </a:extLst>
                      </p:cNvPr>
                      <p:cNvPicPr>
                        <a:picLocks noChangeAspect="1" noChangeArrowheads="1"/>
                      </p:cNvPicPr>
                      <p:nvPr/>
                    </p:nvPicPr>
                    <p:blipFill>
                      <a:blip r:embed="rId13"/>
                      <a:srcRect/>
                      <a:stretch>
                        <a:fillRect/>
                      </a:stretch>
                    </p:blipFill>
                    <p:spPr bwMode="auto">
                      <a:xfrm>
                        <a:off x="2677171" y="5054827"/>
                        <a:ext cx="3355975" cy="357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28" descr="equals 1.48 e to the negative 60 OpenParenthesis t minus 0.035 CloseParenthesis power Ampere comma t is greater than or equal to 35 milliseconds.&#10;">
            <a:extLst>
              <a:ext uri="{FF2B5EF4-FFF2-40B4-BE49-F238E27FC236}">
                <a16:creationId xmlns:a16="http://schemas.microsoft.com/office/drawing/2014/main" id="{733A3136-0FA1-EAAE-F265-D81A34C53761}"/>
              </a:ext>
            </a:extLst>
          </p:cNvPr>
          <p:cNvGraphicFramePr>
            <a:graphicFrameLocks noChangeAspect="1"/>
          </p:cNvGraphicFramePr>
          <p:nvPr>
            <p:extLst>
              <p:ext uri="{D42A27DB-BD31-4B8C-83A1-F6EECF244321}">
                <p14:modId xmlns:p14="http://schemas.microsoft.com/office/powerpoint/2010/main" val="1532343413"/>
              </p:ext>
            </p:extLst>
          </p:nvPr>
        </p:nvGraphicFramePr>
        <p:xfrm>
          <a:off x="3241358" y="5467901"/>
          <a:ext cx="3026154" cy="326652"/>
        </p:xfrm>
        <a:graphic>
          <a:graphicData uri="http://schemas.openxmlformats.org/presentationml/2006/ole">
            <mc:AlternateContent xmlns:mc="http://schemas.openxmlformats.org/markup-compatibility/2006">
              <mc:Choice xmlns:v="urn:schemas-microsoft-com:vml" Requires="v">
                <p:oleObj name="Equation" r:id="rId14" imgW="2006280" imgH="215640" progId="Equation.DSMT4">
                  <p:embed/>
                </p:oleObj>
              </mc:Choice>
              <mc:Fallback>
                <p:oleObj name="Equation" r:id="rId14" imgW="2006280" imgH="215640" progId="Equation.DSMT4">
                  <p:embed/>
                  <p:pic>
                    <p:nvPicPr>
                      <p:cNvPr id="28" name="Object 27">
                        <a:extLst>
                          <a:ext uri="{FF2B5EF4-FFF2-40B4-BE49-F238E27FC236}">
                            <a16:creationId xmlns:a16="http://schemas.microsoft.com/office/drawing/2014/main" id="{70948499-9CE9-9746-3834-AA208CD5350A}"/>
                          </a:ext>
                        </a:extLst>
                      </p:cNvPr>
                      <p:cNvPicPr>
                        <a:picLocks noChangeAspect="1" noChangeArrowheads="1"/>
                      </p:cNvPicPr>
                      <p:nvPr/>
                    </p:nvPicPr>
                    <p:blipFill>
                      <a:blip r:embed="rId15"/>
                      <a:srcRect/>
                      <a:stretch>
                        <a:fillRect/>
                      </a:stretch>
                    </p:blipFill>
                    <p:spPr bwMode="auto">
                      <a:xfrm>
                        <a:off x="3241358" y="5467901"/>
                        <a:ext cx="3026154" cy="3266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448060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24595"/>
            <a:ext cx="8229600" cy="1144347"/>
          </a:xfrm>
        </p:spPr>
        <p:txBody>
          <a:bodyPr/>
          <a:lstStyle/>
          <a:p>
            <a:r>
              <a:rPr lang="en-US" noProof="0" dirty="0"/>
              <a:t>Chapter 7 – Sequential Switching Problems </a:t>
            </a:r>
            <a:r>
              <a:rPr lang="en-US" sz="2800" noProof="0" dirty="0"/>
              <a:t>(21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97698"/>
            <a:ext cx="4205288" cy="1575234"/>
          </a:xfrm>
        </p:spPr>
        <p:txBody>
          <a:bodyPr wrap="square" lIns="0" tIns="18000" rIns="0" bIns="18000" anchor="ctr">
            <a:spAutoFit/>
          </a:bodyPr>
          <a:lstStyle/>
          <a:p>
            <a:pPr marL="0" indent="0">
              <a:spcBef>
                <a:spcPts val="600"/>
              </a:spcBef>
              <a:buNone/>
            </a:pPr>
            <a:r>
              <a:rPr lang="en-US" sz="2000" noProof="0" dirty="0"/>
              <a:t>Both switches have been closed for a long time. At t = 0, switch 1 is opened and stays open. Switch 2 opens 35 m</a:t>
            </a:r>
            <a:r>
              <a:rPr lang="en-US" sz="100" noProof="0" dirty="0"/>
              <a:t> </a:t>
            </a:r>
            <a:r>
              <a:rPr lang="en-US" sz="2000" noProof="0" dirty="0"/>
              <a:t>s later and stays open. Find the expression for the voltage</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0" y="3151476"/>
            <a:ext cx="3143249" cy="344128"/>
          </a:xfrm>
        </p:spPr>
        <p:txBody>
          <a:bodyPr wrap="square" lIns="0" tIns="18000" rIns="0" bIns="18000" anchor="ctr">
            <a:spAutoFit/>
          </a:bodyPr>
          <a:lstStyle/>
          <a:p>
            <a:pPr marL="0" indent="0">
              <a:spcBef>
                <a:spcPts val="600"/>
              </a:spcBef>
              <a:buNone/>
            </a:pPr>
            <a:r>
              <a:rPr lang="en-US" sz="2000" noProof="0" dirty="0"/>
              <a:t>drop across the inductor for</a:t>
            </a:r>
          </a:p>
        </p:txBody>
      </p:sp>
      <p:graphicFrame>
        <p:nvGraphicFramePr>
          <p:cNvPr id="2" name="Object 1" descr="t is greater than or equal to 0 superscript plus.&#10;">
            <a:extLst>
              <a:ext uri="{FF2B5EF4-FFF2-40B4-BE49-F238E27FC236}">
                <a16:creationId xmlns:a16="http://schemas.microsoft.com/office/drawing/2014/main" id="{DA86D1C1-93FA-9C34-13A2-C136929ED3B4}"/>
              </a:ext>
            </a:extLst>
          </p:cNvPr>
          <p:cNvGraphicFramePr>
            <a:graphicFrameLocks noChangeAspect="1"/>
          </p:cNvGraphicFramePr>
          <p:nvPr>
            <p:extLst>
              <p:ext uri="{D42A27DB-BD31-4B8C-83A1-F6EECF244321}">
                <p14:modId xmlns:p14="http://schemas.microsoft.com/office/powerpoint/2010/main" val="4278557700"/>
              </p:ext>
            </p:extLst>
          </p:nvPr>
        </p:nvGraphicFramePr>
        <p:xfrm>
          <a:off x="3620101" y="3141391"/>
          <a:ext cx="661240" cy="320124"/>
        </p:xfrm>
        <a:graphic>
          <a:graphicData uri="http://schemas.openxmlformats.org/presentationml/2006/ole">
            <mc:AlternateContent xmlns:mc="http://schemas.openxmlformats.org/markup-compatibility/2006">
              <mc:Choice xmlns:v="urn:schemas-microsoft-com:vml" Requires="v">
                <p:oleObj name="Equation" r:id="rId2" imgW="419040" imgH="203040" progId="Equation.DSMT4">
                  <p:embed/>
                </p:oleObj>
              </mc:Choice>
              <mc:Fallback>
                <p:oleObj name="Equation" r:id="rId2" imgW="419040" imgH="203040" progId="Equation.DSMT4">
                  <p:embed/>
                  <p:pic>
                    <p:nvPicPr>
                      <p:cNvPr id="4" name="Object 3">
                        <a:extLst>
                          <a:ext uri="{FF2B5EF4-FFF2-40B4-BE49-F238E27FC236}">
                            <a16:creationId xmlns:a16="http://schemas.microsoft.com/office/drawing/2014/main" id="{D06557E5-7085-3C04-3654-084FE66DAEB4}"/>
                          </a:ext>
                        </a:extLst>
                      </p:cNvPr>
                      <p:cNvPicPr>
                        <a:picLocks noChangeAspect="1" noChangeArrowheads="1"/>
                      </p:cNvPicPr>
                      <p:nvPr/>
                    </p:nvPicPr>
                    <p:blipFill>
                      <a:blip r:embed="rId3"/>
                      <a:srcRect/>
                      <a:stretch>
                        <a:fillRect/>
                      </a:stretch>
                    </p:blipFill>
                    <p:spPr bwMode="auto">
                      <a:xfrm>
                        <a:off x="3620101" y="3141391"/>
                        <a:ext cx="661240" cy="320124"/>
                      </a:xfrm>
                      <a:prstGeom prst="rect">
                        <a:avLst/>
                      </a:prstGeom>
                      <a:noFill/>
                      <a:ln>
                        <a:noFill/>
                      </a:ln>
                      <a:effectLst/>
                    </p:spPr>
                  </p:pic>
                </p:oleObj>
              </mc:Fallback>
            </mc:AlternateContent>
          </a:graphicData>
        </a:graphic>
      </p:graphicFrame>
      <p:pic>
        <p:nvPicPr>
          <p:cNvPr id="3" name="Picture 3"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Switch 1 is located in the top wire between the wires for the 12 ohm resistor and the 6 ohms resistor. A 3 ohms resistor is located in the top wire between the wires for the 6 ohms resistor and the 150 milli Henry inductor. Switch 2 is located in the top wire between the wires for the milli Henry inductor and the 18 ohms resistor. Switch 1 is opened when time t is zero. Switch 2 is opened when time t is 35 milli seconds. Voltage v subscript L exists across the 150 milli Henry inductor with positive polarity at the top node and negative polarity at the bottom. Current i subscript L flows through the 150 milli Henry inductor from the top node to the bottom node. ">
            <a:extLst>
              <a:ext uri="{FF2B5EF4-FFF2-40B4-BE49-F238E27FC236}">
                <a16:creationId xmlns:a16="http://schemas.microsoft.com/office/drawing/2014/main" id="{D7F7AF4F-D473-5632-DCDA-9B23EF9F6784}"/>
              </a:ext>
            </a:extLst>
          </p:cNvPr>
          <p:cNvPicPr>
            <a:picLocks noChangeAspect="1" noChangeArrowheads="1"/>
          </p:cNvPicPr>
          <p:nvPr/>
        </p:nvPicPr>
        <p:blipFill>
          <a:blip r:embed="rId4"/>
          <a:srcRect/>
          <a:stretch/>
        </p:blipFill>
        <p:spPr bwMode="auto">
          <a:xfrm>
            <a:off x="4728933" y="1778451"/>
            <a:ext cx="3976917" cy="15839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0" y="3751551"/>
            <a:ext cx="1238250" cy="344128"/>
          </a:xfrm>
        </p:spPr>
        <p:txBody>
          <a:bodyPr wrap="square" lIns="0" tIns="18000" rIns="0" bIns="18000" anchor="ctr">
            <a:spAutoFit/>
          </a:bodyPr>
          <a:lstStyle/>
          <a:p>
            <a:pPr marL="0" indent="0">
              <a:spcBef>
                <a:spcPts val="600"/>
              </a:spcBef>
              <a:buNone/>
            </a:pPr>
            <a:r>
              <a:rPr lang="en-US" sz="2000" noProof="0" dirty="0"/>
              <a:t>Summary:</a:t>
            </a:r>
          </a:p>
        </p:txBody>
      </p:sp>
      <p:graphicFrame>
        <p:nvGraphicFramePr>
          <p:cNvPr id="4" name="Object 3" descr="i subscript L baseline (t) equals 6 e to the negative 40 t power baseline Ampere comma 0 is less than or equal to t is less than or equal to 35 milliseconds.&#10;">
            <a:extLst>
              <a:ext uri="{FF2B5EF4-FFF2-40B4-BE49-F238E27FC236}">
                <a16:creationId xmlns:a16="http://schemas.microsoft.com/office/drawing/2014/main" id="{8327148D-1EF2-FD14-170B-FC5601D06248}"/>
              </a:ext>
            </a:extLst>
          </p:cNvPr>
          <p:cNvGraphicFramePr>
            <a:graphicFrameLocks noChangeAspect="1"/>
          </p:cNvGraphicFramePr>
          <p:nvPr>
            <p:extLst>
              <p:ext uri="{D42A27DB-BD31-4B8C-83A1-F6EECF244321}">
                <p14:modId xmlns:p14="http://schemas.microsoft.com/office/powerpoint/2010/main" val="1133719724"/>
              </p:ext>
            </p:extLst>
          </p:nvPr>
        </p:nvGraphicFramePr>
        <p:xfrm>
          <a:off x="2667328" y="4357604"/>
          <a:ext cx="3226732" cy="381168"/>
        </p:xfrm>
        <a:graphic>
          <a:graphicData uri="http://schemas.openxmlformats.org/presentationml/2006/ole">
            <mc:AlternateContent xmlns:mc="http://schemas.openxmlformats.org/markup-compatibility/2006">
              <mc:Choice xmlns:v="urn:schemas-microsoft-com:vml" Requires="v">
                <p:oleObj name="Equation" r:id="rId5" imgW="2044440" imgH="241200" progId="Equation.DSMT4">
                  <p:embed/>
                </p:oleObj>
              </mc:Choice>
              <mc:Fallback>
                <p:oleObj name="Equation" r:id="rId5" imgW="2044440" imgH="241200" progId="Equation.DSMT4">
                  <p:embed/>
                  <p:pic>
                    <p:nvPicPr>
                      <p:cNvPr id="6" name="Object 5"/>
                      <p:cNvPicPr>
                        <a:picLocks noChangeAspect="1" noChangeArrowheads="1"/>
                      </p:cNvPicPr>
                      <p:nvPr/>
                    </p:nvPicPr>
                    <p:blipFill>
                      <a:blip r:embed="rId6"/>
                      <a:srcRect/>
                      <a:stretch>
                        <a:fillRect/>
                      </a:stretch>
                    </p:blipFill>
                    <p:spPr bwMode="auto">
                      <a:xfrm>
                        <a:off x="2667328" y="4357604"/>
                        <a:ext cx="3226732" cy="381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4" descr="i subscript L baseline (t) equals 1.48 e to the negative 60 OpenParenthesis t minus 0.035 CloseParenthesis power Ampere comma t is greater than or equal to 35 milliseconds.&#10;">
            <a:extLst>
              <a:ext uri="{FF2B5EF4-FFF2-40B4-BE49-F238E27FC236}">
                <a16:creationId xmlns:a16="http://schemas.microsoft.com/office/drawing/2014/main" id="{63E14BBB-886A-AA56-EF7B-4F71F2BBBF79}"/>
              </a:ext>
            </a:extLst>
          </p:cNvPr>
          <p:cNvGraphicFramePr>
            <a:graphicFrameLocks noChangeAspect="1"/>
          </p:cNvGraphicFramePr>
          <p:nvPr>
            <p:extLst>
              <p:ext uri="{D42A27DB-BD31-4B8C-83A1-F6EECF244321}">
                <p14:modId xmlns:p14="http://schemas.microsoft.com/office/powerpoint/2010/main" val="3646165350"/>
              </p:ext>
            </p:extLst>
          </p:nvPr>
        </p:nvGraphicFramePr>
        <p:xfrm>
          <a:off x="2709961" y="4921068"/>
          <a:ext cx="3611367" cy="377394"/>
        </p:xfrm>
        <a:graphic>
          <a:graphicData uri="http://schemas.openxmlformats.org/presentationml/2006/ole">
            <mc:AlternateContent xmlns:mc="http://schemas.openxmlformats.org/markup-compatibility/2006">
              <mc:Choice xmlns:v="urn:schemas-microsoft-com:vml" Requires="v">
                <p:oleObj name="Equation" r:id="rId7" imgW="2311200" imgH="241200" progId="Equation.DSMT4">
                  <p:embed/>
                </p:oleObj>
              </mc:Choice>
              <mc:Fallback>
                <p:oleObj name="Equation" r:id="rId7" imgW="2311200" imgH="241200" progId="Equation.DSMT4">
                  <p:embed/>
                  <p:pic>
                    <p:nvPicPr>
                      <p:cNvPr id="4" name="Object 3">
                        <a:extLst>
                          <a:ext uri="{FF2B5EF4-FFF2-40B4-BE49-F238E27FC236}">
                            <a16:creationId xmlns:a16="http://schemas.microsoft.com/office/drawing/2014/main" id="{8327148D-1EF2-FD14-170B-FC5601D06248}"/>
                          </a:ext>
                        </a:extLst>
                      </p:cNvPr>
                      <p:cNvPicPr>
                        <a:picLocks noChangeAspect="1" noChangeArrowheads="1"/>
                      </p:cNvPicPr>
                      <p:nvPr/>
                    </p:nvPicPr>
                    <p:blipFill>
                      <a:blip r:embed="rId8"/>
                      <a:srcRect/>
                      <a:stretch>
                        <a:fillRect/>
                      </a:stretch>
                    </p:blipFill>
                    <p:spPr bwMode="auto">
                      <a:xfrm>
                        <a:off x="2709961" y="4921068"/>
                        <a:ext cx="3611367" cy="3773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491220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5909D6-A296-E241-EEA2-76B97946AD2C}"/>
              </a:ext>
            </a:extLst>
          </p:cNvPr>
          <p:cNvSpPr>
            <a:spLocks noGrp="1"/>
          </p:cNvSpPr>
          <p:nvPr>
            <p:ph type="title"/>
          </p:nvPr>
        </p:nvSpPr>
        <p:spPr>
          <a:xfrm>
            <a:off x="438150" y="224595"/>
            <a:ext cx="8229600" cy="1144347"/>
          </a:xfrm>
        </p:spPr>
        <p:txBody>
          <a:bodyPr/>
          <a:lstStyle/>
          <a:p>
            <a:r>
              <a:rPr lang="en-US" noProof="0" dirty="0"/>
              <a:t>Chapter 7 – Sequential Switching Problems </a:t>
            </a:r>
            <a:r>
              <a:rPr lang="en-US" sz="2800" noProof="0" dirty="0"/>
              <a:t>(22 of 22)</a:t>
            </a:r>
          </a:p>
        </p:txBody>
      </p:sp>
      <p:sp>
        <p:nvSpPr>
          <p:cNvPr id="7" name="Content Placeholder 6">
            <a:extLst>
              <a:ext uri="{FF2B5EF4-FFF2-40B4-BE49-F238E27FC236}">
                <a16:creationId xmlns:a16="http://schemas.microsoft.com/office/drawing/2014/main" id="{820FA4CC-CF9B-0CF4-A205-E646AF0DC072}"/>
              </a:ext>
            </a:extLst>
          </p:cNvPr>
          <p:cNvSpPr>
            <a:spLocks noGrp="1"/>
          </p:cNvSpPr>
          <p:nvPr>
            <p:ph sz="quarter" idx="12"/>
          </p:nvPr>
        </p:nvSpPr>
        <p:spPr>
          <a:xfrm>
            <a:off x="438150" y="1497697"/>
            <a:ext cx="4054475" cy="1575234"/>
          </a:xfrm>
        </p:spPr>
        <p:txBody>
          <a:bodyPr lIns="0" tIns="18000" rIns="0" bIns="18000" anchor="ctr">
            <a:spAutoFit/>
          </a:bodyPr>
          <a:lstStyle/>
          <a:p>
            <a:pPr marL="0" indent="0">
              <a:spcBef>
                <a:spcPts val="600"/>
              </a:spcBef>
              <a:buNone/>
            </a:pPr>
            <a:r>
              <a:rPr lang="en-US" sz="2000" noProof="0" dirty="0"/>
              <a:t>Both switches have been closed for a long time. At t = 0, switch 1 is opened and stays open. Switch 2 opens 35 m</a:t>
            </a:r>
            <a:r>
              <a:rPr lang="en-US" sz="100" noProof="0" dirty="0"/>
              <a:t> </a:t>
            </a:r>
            <a:r>
              <a:rPr lang="en-US" sz="2000" noProof="0" dirty="0"/>
              <a:t>s later and stays open. Find the expression for the voltage</a:t>
            </a:r>
          </a:p>
        </p:txBody>
      </p:sp>
      <p:sp>
        <p:nvSpPr>
          <p:cNvPr id="8" name="Content Placeholder 7">
            <a:extLst>
              <a:ext uri="{FF2B5EF4-FFF2-40B4-BE49-F238E27FC236}">
                <a16:creationId xmlns:a16="http://schemas.microsoft.com/office/drawing/2014/main" id="{35A46DF3-C551-29A5-B0D9-C5F9659EC66C}"/>
              </a:ext>
            </a:extLst>
          </p:cNvPr>
          <p:cNvSpPr>
            <a:spLocks noGrp="1"/>
          </p:cNvSpPr>
          <p:nvPr>
            <p:ph sz="quarter" idx="13"/>
          </p:nvPr>
        </p:nvSpPr>
        <p:spPr>
          <a:xfrm>
            <a:off x="438151" y="3141951"/>
            <a:ext cx="3086100" cy="344128"/>
          </a:xfrm>
        </p:spPr>
        <p:txBody>
          <a:bodyPr wrap="square" lIns="0" tIns="18000" rIns="0" bIns="18000" anchor="ctr">
            <a:spAutoFit/>
          </a:bodyPr>
          <a:lstStyle/>
          <a:p>
            <a:pPr marL="0" indent="0">
              <a:spcBef>
                <a:spcPts val="600"/>
              </a:spcBef>
              <a:buNone/>
            </a:pPr>
            <a:r>
              <a:rPr lang="en-US" sz="2000" noProof="0" dirty="0"/>
              <a:t>drop across the inductor for</a:t>
            </a:r>
          </a:p>
        </p:txBody>
      </p:sp>
      <p:graphicFrame>
        <p:nvGraphicFramePr>
          <p:cNvPr id="2" name="Object 1" descr="t is greater than or equal to 0 superscript plus.&#10;">
            <a:extLst>
              <a:ext uri="{FF2B5EF4-FFF2-40B4-BE49-F238E27FC236}">
                <a16:creationId xmlns:a16="http://schemas.microsoft.com/office/drawing/2014/main" id="{920486A5-0D4B-B601-0399-1956B6E5A6A0}"/>
              </a:ext>
            </a:extLst>
          </p:cNvPr>
          <p:cNvGraphicFramePr>
            <a:graphicFrameLocks noChangeAspect="1"/>
          </p:cNvGraphicFramePr>
          <p:nvPr>
            <p:extLst>
              <p:ext uri="{D42A27DB-BD31-4B8C-83A1-F6EECF244321}">
                <p14:modId xmlns:p14="http://schemas.microsoft.com/office/powerpoint/2010/main" val="2986915916"/>
              </p:ext>
            </p:extLst>
          </p:nvPr>
        </p:nvGraphicFramePr>
        <p:xfrm>
          <a:off x="3620101" y="3153953"/>
          <a:ext cx="661240" cy="320124"/>
        </p:xfrm>
        <a:graphic>
          <a:graphicData uri="http://schemas.openxmlformats.org/presentationml/2006/ole">
            <mc:AlternateContent xmlns:mc="http://schemas.openxmlformats.org/markup-compatibility/2006">
              <mc:Choice xmlns:v="urn:schemas-microsoft-com:vml" Requires="v">
                <p:oleObj name="Equation" r:id="rId2" imgW="419040" imgH="203040" progId="Equation.DSMT4">
                  <p:embed/>
                </p:oleObj>
              </mc:Choice>
              <mc:Fallback>
                <p:oleObj name="Equation" r:id="rId2" imgW="419040" imgH="203040" progId="Equation.DSMT4">
                  <p:embed/>
                  <p:pic>
                    <p:nvPicPr>
                      <p:cNvPr id="2" name="Object 1">
                        <a:extLst>
                          <a:ext uri="{FF2B5EF4-FFF2-40B4-BE49-F238E27FC236}">
                            <a16:creationId xmlns:a16="http://schemas.microsoft.com/office/drawing/2014/main" id="{DA86D1C1-93FA-9C34-13A2-C136929ED3B4}"/>
                          </a:ext>
                        </a:extLst>
                      </p:cNvPr>
                      <p:cNvPicPr>
                        <a:picLocks noChangeAspect="1" noChangeArrowheads="1"/>
                      </p:cNvPicPr>
                      <p:nvPr/>
                    </p:nvPicPr>
                    <p:blipFill>
                      <a:blip r:embed="rId3"/>
                      <a:srcRect/>
                      <a:stretch>
                        <a:fillRect/>
                      </a:stretch>
                    </p:blipFill>
                    <p:spPr bwMode="auto">
                      <a:xfrm>
                        <a:off x="3620101" y="3153953"/>
                        <a:ext cx="661240" cy="320124"/>
                      </a:xfrm>
                      <a:prstGeom prst="rect">
                        <a:avLst/>
                      </a:prstGeom>
                      <a:noFill/>
                      <a:ln>
                        <a:noFill/>
                      </a:ln>
                      <a:effectLst/>
                    </p:spPr>
                  </p:pic>
                </p:oleObj>
              </mc:Fallback>
            </mc:AlternateContent>
          </a:graphicData>
        </a:graphic>
      </p:graphicFrame>
      <p:pic>
        <p:nvPicPr>
          <p:cNvPr id="3" name="Picture 3" descr="A circuit diagram shows a voltage source with 60 volt capacity as the leftmost wire in the circuit. The 60 volt source has positive polarity at the top node and negative at the bottom. Connected in parallel to the 60 volt source from left to right in that order are a 12 ohms resistor, a 6 ohms resistor, 150 micro Henry inductor, and a 18 ohms resistor. A 4 ohms resistor is located in the top wire between the wires for the 60 volt source and the 12 ohm resistor. Switch 1 is located in the top wire between the wires for the 12 ohm resistor and the 6 ohms resistor. A 3 ohms resistor is located in the top wire between the wires for the 6 ohms resistor and the 150 milli Henry inductor. Switch 2 is located in the top wire between the wires for the milli Henry inductor and the 18 ohms resistor. Switch 1 is opened when time t is zero. Switch 2 is opened when time t is 35 milli seconds. Voltage v subscript L exists across the 150 milli Henry inductor with positive polarity at the top node and negative polarity at the bottom. Current i subscript L flows through the 150 milli Henry inductor from the top node to the bottom node. ">
            <a:extLst>
              <a:ext uri="{FF2B5EF4-FFF2-40B4-BE49-F238E27FC236}">
                <a16:creationId xmlns:a16="http://schemas.microsoft.com/office/drawing/2014/main" id="{C2054F08-1686-1593-8906-A15B8CC184A2}"/>
              </a:ext>
            </a:extLst>
          </p:cNvPr>
          <p:cNvPicPr>
            <a:picLocks noChangeAspect="1" noChangeArrowheads="1"/>
          </p:cNvPicPr>
          <p:nvPr/>
        </p:nvPicPr>
        <p:blipFill>
          <a:blip r:embed="rId4"/>
          <a:srcRect/>
          <a:stretch/>
        </p:blipFill>
        <p:spPr bwMode="auto">
          <a:xfrm>
            <a:off x="4651377" y="1699978"/>
            <a:ext cx="3976917" cy="15839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8">
            <a:extLst>
              <a:ext uri="{FF2B5EF4-FFF2-40B4-BE49-F238E27FC236}">
                <a16:creationId xmlns:a16="http://schemas.microsoft.com/office/drawing/2014/main" id="{AE71D1E2-D191-5C75-DAF0-705986F2DAC9}"/>
              </a:ext>
            </a:extLst>
          </p:cNvPr>
          <p:cNvSpPr>
            <a:spLocks noGrp="1"/>
          </p:cNvSpPr>
          <p:nvPr>
            <p:ph sz="quarter" idx="14"/>
          </p:nvPr>
        </p:nvSpPr>
        <p:spPr>
          <a:xfrm>
            <a:off x="438151" y="3646776"/>
            <a:ext cx="6572250" cy="344128"/>
          </a:xfrm>
        </p:spPr>
        <p:txBody>
          <a:bodyPr wrap="square" lIns="0" tIns="18000" rIns="0" bIns="18000" anchor="ctr">
            <a:spAutoFit/>
          </a:bodyPr>
          <a:lstStyle/>
          <a:p>
            <a:pPr marL="829818" lvl="1" indent="-342900"/>
            <a:r>
              <a:rPr lang="en-US" sz="2000" noProof="0" dirty="0"/>
              <a:t>Step 6 – Calculate other quantities of interest using </a:t>
            </a:r>
          </a:p>
        </p:txBody>
      </p:sp>
      <p:graphicFrame>
        <p:nvGraphicFramePr>
          <p:cNvPr id="4" name="Object 3" descr="i subscript L baseline (t).&#10;">
            <a:extLst>
              <a:ext uri="{FF2B5EF4-FFF2-40B4-BE49-F238E27FC236}">
                <a16:creationId xmlns:a16="http://schemas.microsoft.com/office/drawing/2014/main" id="{007130A2-C9C8-35BF-99FB-E1C31C5A8382}"/>
              </a:ext>
            </a:extLst>
          </p:cNvPr>
          <p:cNvGraphicFramePr>
            <a:graphicFrameLocks noChangeAspect="1"/>
          </p:cNvGraphicFramePr>
          <p:nvPr>
            <p:extLst>
              <p:ext uri="{D42A27DB-BD31-4B8C-83A1-F6EECF244321}">
                <p14:modId xmlns:p14="http://schemas.microsoft.com/office/powerpoint/2010/main" val="4190915949"/>
              </p:ext>
            </p:extLst>
          </p:nvPr>
        </p:nvGraphicFramePr>
        <p:xfrm>
          <a:off x="7119938" y="3675063"/>
          <a:ext cx="541337" cy="360362"/>
        </p:xfrm>
        <a:graphic>
          <a:graphicData uri="http://schemas.openxmlformats.org/presentationml/2006/ole">
            <mc:AlternateContent xmlns:mc="http://schemas.openxmlformats.org/markup-compatibility/2006">
              <mc:Choice xmlns:v="urn:schemas-microsoft-com:vml" Requires="v">
                <p:oleObj name="Equation" r:id="rId5" imgW="342720" imgH="228600" progId="Equation.DSMT4">
                  <p:embed/>
                </p:oleObj>
              </mc:Choice>
              <mc:Fallback>
                <p:oleObj name="Equation" r:id="rId5" imgW="342720" imgH="228600" progId="Equation.DSMT4">
                  <p:embed/>
                  <p:pic>
                    <p:nvPicPr>
                      <p:cNvPr id="26" name="Object 25">
                        <a:extLst>
                          <a:ext uri="{FF2B5EF4-FFF2-40B4-BE49-F238E27FC236}">
                            <a16:creationId xmlns:a16="http://schemas.microsoft.com/office/drawing/2014/main" id="{6AFF88AB-A790-18FC-2C74-55B4D2D85979}"/>
                          </a:ext>
                        </a:extLst>
                      </p:cNvPr>
                      <p:cNvPicPr>
                        <a:picLocks noChangeAspect="1" noChangeArrowheads="1"/>
                      </p:cNvPicPr>
                      <p:nvPr/>
                    </p:nvPicPr>
                    <p:blipFill>
                      <a:blip r:embed="rId6"/>
                      <a:srcRect/>
                      <a:stretch>
                        <a:fillRect/>
                      </a:stretch>
                    </p:blipFill>
                    <p:spPr bwMode="auto">
                      <a:xfrm>
                        <a:off x="7119938" y="3675063"/>
                        <a:ext cx="541337" cy="360362"/>
                      </a:xfrm>
                      <a:prstGeom prst="rect">
                        <a:avLst/>
                      </a:prstGeom>
                      <a:noFill/>
                      <a:ln>
                        <a:noFill/>
                      </a:ln>
                      <a:effectLst/>
                    </p:spPr>
                  </p:pic>
                </p:oleObj>
              </mc:Fallback>
            </mc:AlternateContent>
          </a:graphicData>
        </a:graphic>
      </p:graphicFrame>
      <p:graphicFrame>
        <p:nvGraphicFramePr>
          <p:cNvPr id="5" name="Object 4" descr="v subscript L baseline (t) equals L StartFraction d i subscript L baseline (t) over d t EndFraction.&#10;">
            <a:extLst>
              <a:ext uri="{FF2B5EF4-FFF2-40B4-BE49-F238E27FC236}">
                <a16:creationId xmlns:a16="http://schemas.microsoft.com/office/drawing/2014/main" id="{53B8C4CF-EA75-AD18-2972-63AD40E810A0}"/>
              </a:ext>
            </a:extLst>
          </p:cNvPr>
          <p:cNvGraphicFramePr>
            <a:graphicFrameLocks noChangeAspect="1"/>
          </p:cNvGraphicFramePr>
          <p:nvPr>
            <p:extLst>
              <p:ext uri="{D42A27DB-BD31-4B8C-83A1-F6EECF244321}">
                <p14:modId xmlns:p14="http://schemas.microsoft.com/office/powerpoint/2010/main" val="767446623"/>
              </p:ext>
            </p:extLst>
          </p:nvPr>
        </p:nvGraphicFramePr>
        <p:xfrm>
          <a:off x="1968500" y="4168775"/>
          <a:ext cx="1489075" cy="619125"/>
        </p:xfrm>
        <a:graphic>
          <a:graphicData uri="http://schemas.openxmlformats.org/presentationml/2006/ole">
            <mc:AlternateContent xmlns:mc="http://schemas.openxmlformats.org/markup-compatibility/2006">
              <mc:Choice xmlns:v="urn:schemas-microsoft-com:vml" Requires="v">
                <p:oleObj name="Equation" r:id="rId7" imgW="977760" imgH="406080" progId="Equation.DSMT4">
                  <p:embed/>
                </p:oleObj>
              </mc:Choice>
              <mc:Fallback>
                <p:oleObj name="Equation" r:id="rId7" imgW="977760" imgH="406080" progId="Equation.DSMT4">
                  <p:embed/>
                  <p:pic>
                    <p:nvPicPr>
                      <p:cNvPr id="5" name="Object 4"/>
                      <p:cNvPicPr>
                        <a:picLocks noChangeAspect="1" noChangeArrowheads="1"/>
                      </p:cNvPicPr>
                      <p:nvPr/>
                    </p:nvPicPr>
                    <p:blipFill>
                      <a:blip r:embed="rId8"/>
                      <a:srcRect/>
                      <a:stretch>
                        <a:fillRect/>
                      </a:stretch>
                    </p:blipFill>
                    <p:spPr bwMode="auto">
                      <a:xfrm>
                        <a:off x="1968500" y="4168775"/>
                        <a:ext cx="1489075" cy="619125"/>
                      </a:xfrm>
                      <a:prstGeom prst="rect">
                        <a:avLst/>
                      </a:prstGeom>
                      <a:noFill/>
                      <a:ln>
                        <a:noFill/>
                      </a:ln>
                      <a:effectLst/>
                    </p:spPr>
                  </p:pic>
                </p:oleObj>
              </mc:Fallback>
            </mc:AlternateContent>
          </a:graphicData>
        </a:graphic>
      </p:graphicFrame>
      <p:graphicFrame>
        <p:nvGraphicFramePr>
          <p:cNvPr id="26" name="Object 25" descr="v subscript L baseline (t) equals (0.15) (negative 40) (6 e to the negative 40 t power) equals negative 36 e to the negative 40 t power baseline Volts comma 0 is less than or equal to t is less than or equal to 35 milliseconds.&#10;">
            <a:extLst>
              <a:ext uri="{FF2B5EF4-FFF2-40B4-BE49-F238E27FC236}">
                <a16:creationId xmlns:a16="http://schemas.microsoft.com/office/drawing/2014/main" id="{0DA54244-F83C-36A0-E738-03692A296D2A}"/>
              </a:ext>
            </a:extLst>
          </p:cNvPr>
          <p:cNvGraphicFramePr>
            <a:graphicFrameLocks noChangeAspect="1"/>
          </p:cNvGraphicFramePr>
          <p:nvPr>
            <p:extLst>
              <p:ext uri="{D42A27DB-BD31-4B8C-83A1-F6EECF244321}">
                <p14:modId xmlns:p14="http://schemas.microsoft.com/office/powerpoint/2010/main" val="3265055072"/>
              </p:ext>
            </p:extLst>
          </p:nvPr>
        </p:nvGraphicFramePr>
        <p:xfrm>
          <a:off x="1919288" y="4910138"/>
          <a:ext cx="5448300" cy="368300"/>
        </p:xfrm>
        <a:graphic>
          <a:graphicData uri="http://schemas.openxmlformats.org/presentationml/2006/ole">
            <mc:AlternateContent xmlns:mc="http://schemas.openxmlformats.org/markup-compatibility/2006">
              <mc:Choice xmlns:v="urn:schemas-microsoft-com:vml" Requires="v">
                <p:oleObj name="Equation" r:id="rId9" imgW="3581280" imgH="241200" progId="Equation.DSMT4">
                  <p:embed/>
                </p:oleObj>
              </mc:Choice>
              <mc:Fallback>
                <p:oleObj name="Equation" r:id="rId9" imgW="3581280" imgH="241200" progId="Equation.DSMT4">
                  <p:embed/>
                  <p:pic>
                    <p:nvPicPr>
                      <p:cNvPr id="5" name="Object 4">
                        <a:extLst>
                          <a:ext uri="{FF2B5EF4-FFF2-40B4-BE49-F238E27FC236}">
                            <a16:creationId xmlns:a16="http://schemas.microsoft.com/office/drawing/2014/main" id="{53B8C4CF-EA75-AD18-2972-63AD40E810A0}"/>
                          </a:ext>
                        </a:extLst>
                      </p:cNvPr>
                      <p:cNvPicPr>
                        <a:picLocks noChangeAspect="1" noChangeArrowheads="1"/>
                      </p:cNvPicPr>
                      <p:nvPr/>
                    </p:nvPicPr>
                    <p:blipFill>
                      <a:blip r:embed="rId10"/>
                      <a:srcRect/>
                      <a:stretch>
                        <a:fillRect/>
                      </a:stretch>
                    </p:blipFill>
                    <p:spPr bwMode="auto">
                      <a:xfrm>
                        <a:off x="1919288" y="4910138"/>
                        <a:ext cx="5448300" cy="368300"/>
                      </a:xfrm>
                      <a:prstGeom prst="rect">
                        <a:avLst/>
                      </a:prstGeom>
                      <a:noFill/>
                      <a:ln>
                        <a:noFill/>
                      </a:ln>
                      <a:effectLst/>
                    </p:spPr>
                  </p:pic>
                </p:oleObj>
              </mc:Fallback>
            </mc:AlternateContent>
          </a:graphicData>
        </a:graphic>
      </p:graphicFrame>
      <p:graphicFrame>
        <p:nvGraphicFramePr>
          <p:cNvPr id="27" name="Object 26" descr="v subscript L baseline (t) equals (0.15) (negative 60) (1.48 e to the negative 60 (t minus 0.035) power).&#10;">
            <a:extLst>
              <a:ext uri="{FF2B5EF4-FFF2-40B4-BE49-F238E27FC236}">
                <a16:creationId xmlns:a16="http://schemas.microsoft.com/office/drawing/2014/main" id="{30AF13FE-BA09-63D7-E9F7-C4372E485AE2}"/>
              </a:ext>
            </a:extLst>
          </p:cNvPr>
          <p:cNvGraphicFramePr>
            <a:graphicFrameLocks noChangeAspect="1"/>
          </p:cNvGraphicFramePr>
          <p:nvPr>
            <p:extLst>
              <p:ext uri="{D42A27DB-BD31-4B8C-83A1-F6EECF244321}">
                <p14:modId xmlns:p14="http://schemas.microsoft.com/office/powerpoint/2010/main" val="2298880774"/>
              </p:ext>
            </p:extLst>
          </p:nvPr>
        </p:nvGraphicFramePr>
        <p:xfrm>
          <a:off x="1919288" y="5389563"/>
          <a:ext cx="3497262" cy="368300"/>
        </p:xfrm>
        <a:graphic>
          <a:graphicData uri="http://schemas.openxmlformats.org/presentationml/2006/ole">
            <mc:AlternateContent xmlns:mc="http://schemas.openxmlformats.org/markup-compatibility/2006">
              <mc:Choice xmlns:v="urn:schemas-microsoft-com:vml" Requires="v">
                <p:oleObj name="Equation" r:id="rId11" imgW="2298600" imgH="241200" progId="Equation.DSMT4">
                  <p:embed/>
                </p:oleObj>
              </mc:Choice>
              <mc:Fallback>
                <p:oleObj name="Equation" r:id="rId11" imgW="2298600" imgH="241200" progId="Equation.DSMT4">
                  <p:embed/>
                  <p:pic>
                    <p:nvPicPr>
                      <p:cNvPr id="26" name="Object 25">
                        <a:extLst>
                          <a:ext uri="{FF2B5EF4-FFF2-40B4-BE49-F238E27FC236}">
                            <a16:creationId xmlns:a16="http://schemas.microsoft.com/office/drawing/2014/main" id="{0DA54244-F83C-36A0-E738-03692A296D2A}"/>
                          </a:ext>
                        </a:extLst>
                      </p:cNvPr>
                      <p:cNvPicPr>
                        <a:picLocks noChangeAspect="1" noChangeArrowheads="1"/>
                      </p:cNvPicPr>
                      <p:nvPr/>
                    </p:nvPicPr>
                    <p:blipFill>
                      <a:blip r:embed="rId12"/>
                      <a:srcRect/>
                      <a:stretch>
                        <a:fillRect/>
                      </a:stretch>
                    </p:blipFill>
                    <p:spPr bwMode="auto">
                      <a:xfrm>
                        <a:off x="1919288" y="5389563"/>
                        <a:ext cx="3497262" cy="368300"/>
                      </a:xfrm>
                      <a:prstGeom prst="rect">
                        <a:avLst/>
                      </a:prstGeom>
                      <a:noFill/>
                      <a:ln>
                        <a:noFill/>
                      </a:ln>
                      <a:effectLst/>
                    </p:spPr>
                  </p:pic>
                </p:oleObj>
              </mc:Fallback>
            </mc:AlternateContent>
          </a:graphicData>
        </a:graphic>
      </p:graphicFrame>
      <p:graphicFrame>
        <p:nvGraphicFramePr>
          <p:cNvPr id="28" name="Object 27" descr="equals negative 13.32 e to the negative 60 (t minus 0.035) power Volt comma t is greater than or equal to 35 milliseconds.&#10;">
            <a:extLst>
              <a:ext uri="{FF2B5EF4-FFF2-40B4-BE49-F238E27FC236}">
                <a16:creationId xmlns:a16="http://schemas.microsoft.com/office/drawing/2014/main" id="{EEB9BA21-DCFC-43E2-6AEE-467DD0D587CC}"/>
              </a:ext>
            </a:extLst>
          </p:cNvPr>
          <p:cNvGraphicFramePr>
            <a:graphicFrameLocks noChangeAspect="1"/>
          </p:cNvGraphicFramePr>
          <p:nvPr>
            <p:extLst>
              <p:ext uri="{D42A27DB-BD31-4B8C-83A1-F6EECF244321}">
                <p14:modId xmlns:p14="http://schemas.microsoft.com/office/powerpoint/2010/main" val="2474887464"/>
              </p:ext>
            </p:extLst>
          </p:nvPr>
        </p:nvGraphicFramePr>
        <p:xfrm>
          <a:off x="2465387" y="5906768"/>
          <a:ext cx="3321050" cy="328612"/>
        </p:xfrm>
        <a:graphic>
          <a:graphicData uri="http://schemas.openxmlformats.org/presentationml/2006/ole">
            <mc:AlternateContent xmlns:mc="http://schemas.openxmlformats.org/markup-compatibility/2006">
              <mc:Choice xmlns:v="urn:schemas-microsoft-com:vml" Requires="v">
                <p:oleObj name="Equation" r:id="rId13" imgW="2184120" imgH="215640" progId="Equation.DSMT4">
                  <p:embed/>
                </p:oleObj>
              </mc:Choice>
              <mc:Fallback>
                <p:oleObj name="Equation" r:id="rId13" imgW="2184120" imgH="215640" progId="Equation.DSMT4">
                  <p:embed/>
                  <p:pic>
                    <p:nvPicPr>
                      <p:cNvPr id="27" name="Object 26">
                        <a:extLst>
                          <a:ext uri="{FF2B5EF4-FFF2-40B4-BE49-F238E27FC236}">
                            <a16:creationId xmlns:a16="http://schemas.microsoft.com/office/drawing/2014/main" id="{30AF13FE-BA09-63D7-E9F7-C4372E485AE2}"/>
                          </a:ext>
                        </a:extLst>
                      </p:cNvPr>
                      <p:cNvPicPr>
                        <a:picLocks noChangeAspect="1" noChangeArrowheads="1"/>
                      </p:cNvPicPr>
                      <p:nvPr/>
                    </p:nvPicPr>
                    <p:blipFill>
                      <a:blip r:embed="rId14"/>
                      <a:srcRect/>
                      <a:stretch>
                        <a:fillRect/>
                      </a:stretch>
                    </p:blipFill>
                    <p:spPr bwMode="auto">
                      <a:xfrm>
                        <a:off x="2465387" y="5906768"/>
                        <a:ext cx="3321050" cy="32861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8021246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United Kingdom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2.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3.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4.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5.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6.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7.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8.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9.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0.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1.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2.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3.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4.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5.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6.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17.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18.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ags/tag19.xml><?xml version="1.0" encoding="utf-8"?>
<p:tagLst xmlns:a="http://schemas.openxmlformats.org/drawingml/2006/main" xmlns:r="http://schemas.openxmlformats.org/officeDocument/2006/relationships" xmlns:p="http://schemas.openxmlformats.org/presentationml/2006/main">
  <p:tag name="CPSSHAPETYPE" val="Incorrect"/>
  <p:tag name="ANSWERSTEMINDEX" val="2"/>
</p:tagLst>
</file>

<file path=ppt/tags/tag20.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21.xml><?xml version="1.0" encoding="utf-8"?>
<p:tagLst xmlns:a="http://schemas.openxmlformats.org/drawingml/2006/main" xmlns:r="http://schemas.openxmlformats.org/officeDocument/2006/relationships" xmlns:p="http://schemas.openxmlformats.org/presentationml/2006/main">
  <p:tag name="CPSSHAPETYPE" val="Correct"/>
  <p:tag name="ANSWERSTEMINDEX" val="1"/>
</p:tagLst>
</file>

<file path=ppt/tags/tag22.xml><?xml version="1.0" encoding="utf-8"?>
<p:tagLst xmlns:a="http://schemas.openxmlformats.org/drawingml/2006/main" xmlns:r="http://schemas.openxmlformats.org/officeDocument/2006/relationships" xmlns:p="http://schemas.openxmlformats.org/presentationml/2006/main">
  <p:tag name="CPSSHAPETYPE" val="Incorrect"/>
  <p:tag name="ANSWERSTEMINDEX" val="0"/>
</p:tagLst>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999</TotalTime>
  <Words>2203</Words>
  <Application>Microsoft Office PowerPoint</Application>
  <PresentationFormat>On-screen Show (4:3)</PresentationFormat>
  <Paragraphs>196</Paragraphs>
  <Slides>33</Slides>
  <Notes>3</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33</vt:i4>
      </vt:variant>
    </vt:vector>
  </HeadingPairs>
  <TitlesOfParts>
    <vt:vector size="39" baseType="lpstr">
      <vt:lpstr>Arial</vt:lpstr>
      <vt:lpstr>Verdana</vt:lpstr>
      <vt:lpstr>Times New Roman</vt:lpstr>
      <vt:lpstr>USHE</vt:lpstr>
      <vt:lpstr>USHE_slide options</vt:lpstr>
      <vt:lpstr>Equation</vt:lpstr>
      <vt:lpstr>Electric Circuits</vt:lpstr>
      <vt:lpstr>Chapter 7 – Sequential Switching Problems (1 of 22)</vt:lpstr>
      <vt:lpstr>Chapter 7 – Sequential Switching Problems (2 of 22)</vt:lpstr>
      <vt:lpstr>Chapter 7 – R L/R C Natural and Step Response (1 of 2)</vt:lpstr>
      <vt:lpstr>Chapter 7 – R L/R C Natural and Step Response (2 of 2)</vt:lpstr>
      <vt:lpstr>Chapter 7 – Sequential Switching Problems (3 of 22)</vt:lpstr>
      <vt:lpstr>Chapter 7 – Sequential Switching Problems (4 of 22)</vt:lpstr>
      <vt:lpstr>Chapter 7 – Sequential Switching Problems (4 of 22)</vt:lpstr>
      <vt:lpstr>Chapter 7 – Sequential Switching Problems (5 of 22) </vt:lpstr>
      <vt:lpstr>Chapter 7 – Sequential Switching Problems (6 of 22)</vt:lpstr>
      <vt:lpstr>Chapter 7 – Sequential Switching Problems (6 of 22)</vt:lpstr>
      <vt:lpstr>Chapter 7 – Sequential Switching Problems (7 of 22)</vt:lpstr>
      <vt:lpstr>Chapter 7 – Sequential Switching Problems (8 of 22)</vt:lpstr>
      <vt:lpstr>Chapter 7 – Sequential Switching Problems (9 of 22)</vt:lpstr>
      <vt:lpstr>Chapter 7 – Sequential Switching Problems (9 of 22)</vt:lpstr>
      <vt:lpstr>Chapter 7 – Sequential Switching Problems (10 of 22)</vt:lpstr>
      <vt:lpstr>Chapter 7 – Sequential Switching Problems (10 of 22)</vt:lpstr>
      <vt:lpstr>Chapter 7 – Sequential Switching Problems (11 of 22)</vt:lpstr>
      <vt:lpstr>Chapter 7 – Sequential Switching Problems (12 of 22)</vt:lpstr>
      <vt:lpstr>Chapter 7 – Sequential Switching Problems (13 of 22)</vt:lpstr>
      <vt:lpstr>Chapter 7 – Sequential Switching Problems (14 of 22)</vt:lpstr>
      <vt:lpstr>Chapter 7 – Sequential Switching Problems (15 of 22)</vt:lpstr>
      <vt:lpstr>Chapter 7 – Sequential Switching Problems (15 of 22)</vt:lpstr>
      <vt:lpstr>Chapter 7 – Sequential Switching Problems (16 of 22)</vt:lpstr>
      <vt:lpstr>Chapter 7 – Sequential Switching Problems (17 of 22)</vt:lpstr>
      <vt:lpstr>Chapter 7 – Sequential Switching Problems (17 of 22)</vt:lpstr>
      <vt:lpstr>Chapter 7 – Sequential Switching Problems (18 of 22)</vt:lpstr>
      <vt:lpstr>Chapter 7 – Sequential Switching Problems (18 of 22)</vt:lpstr>
      <vt:lpstr>Chapter 7 – Sequential Switching Problems (19 of 22)</vt:lpstr>
      <vt:lpstr>Chapter 7 – Sequential Switching Problems (20 of 22)</vt:lpstr>
      <vt:lpstr>Chapter 7 – Sequential Switching Problems (21 of 22)</vt:lpstr>
      <vt:lpstr>Chapter 7 – Sequential Switching Problems (22 of 22)</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7 – Part 4</dc:title>
  <dc:subject>Engineering</dc:subject>
  <dc:creator>Nilsson and Riedel</dc:creator>
  <cp:keywords/>
  <dc:description/>
  <cp:lastModifiedBy>kml erd</cp:lastModifiedBy>
  <cp:revision>134</cp:revision>
  <dcterms:modified xsi:type="dcterms:W3CDTF">2025-12-22T11:01:37Z</dcterms:modified>
</cp:coreProperties>
</file>