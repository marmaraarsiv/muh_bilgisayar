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8"/>
  </p:notesMasterIdLst>
  <p:handoutMasterIdLst>
    <p:handoutMasterId r:id="rId29"/>
  </p:handoutMasterIdLst>
  <p:sldIdLst>
    <p:sldId id="330" r:id="rId3"/>
    <p:sldId id="324" r:id="rId4"/>
    <p:sldId id="720" r:id="rId5"/>
    <p:sldId id="719" r:id="rId6"/>
    <p:sldId id="721" r:id="rId7"/>
    <p:sldId id="737" r:id="rId8"/>
    <p:sldId id="734" r:id="rId9"/>
    <p:sldId id="724" r:id="rId10"/>
    <p:sldId id="739" r:id="rId11"/>
    <p:sldId id="723" r:id="rId12"/>
    <p:sldId id="740" r:id="rId13"/>
    <p:sldId id="725" r:id="rId14"/>
    <p:sldId id="726" r:id="rId15"/>
    <p:sldId id="727" r:id="rId16"/>
    <p:sldId id="741" r:id="rId17"/>
    <p:sldId id="728" r:id="rId18"/>
    <p:sldId id="743" r:id="rId19"/>
    <p:sldId id="729" r:id="rId20"/>
    <p:sldId id="735" r:id="rId21"/>
    <p:sldId id="736" r:id="rId22"/>
    <p:sldId id="732" r:id="rId23"/>
    <p:sldId id="744" r:id="rId24"/>
    <p:sldId id="733" r:id="rId25"/>
    <p:sldId id="745" r:id="rId26"/>
    <p:sldId id="717" r:id="rId27"/>
  </p:sldIdLst>
  <p:sldSz cx="9144000" cy="6858000" type="screen4x3"/>
  <p:notesSz cx="6858000" cy="9144000"/>
  <p:embeddedFontLst>
    <p:embeddedFont>
      <p:font typeface="Verdana" panose="020B060403050404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72" userDrawn="1">
          <p15:clr>
            <a:srgbClr val="A4A3A4"/>
          </p15:clr>
        </p15:guide>
        <p15:guide id="3" orient="horz" pos="1162" userDrawn="1">
          <p15:clr>
            <a:srgbClr val="A4A3A4"/>
          </p15:clr>
        </p15:guide>
        <p15:guide id="4" pos="2880" userDrawn="1">
          <p15:clr>
            <a:srgbClr val="A4A3A4"/>
          </p15:clr>
        </p15:guide>
        <p15:guide id="5" pos="5465" userDrawn="1">
          <p15:clr>
            <a:srgbClr val="A4A3A4"/>
          </p15:clr>
        </p15:guide>
        <p15:guide id="6" orient="horz" pos="4042" userDrawn="1">
          <p15:clr>
            <a:srgbClr val="A4A3A4"/>
          </p15:clr>
        </p15:guide>
        <p15:guide id="7" orient="horz" pos="2183" userDrawn="1">
          <p15:clr>
            <a:srgbClr val="A4A3A4"/>
          </p15:clr>
        </p15:guide>
        <p15:guide id="8" orient="horz" pos="43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05" autoAdjust="0"/>
    <p:restoredTop sz="92515" autoAdjust="0"/>
  </p:normalViewPr>
  <p:slideViewPr>
    <p:cSldViewPr snapToGrid="0" snapToObjects="1">
      <p:cViewPr varScale="1">
        <p:scale>
          <a:sx n="107" d="100"/>
          <a:sy n="107" d="100"/>
        </p:scale>
        <p:origin x="1896" y="102"/>
      </p:cViewPr>
      <p:guideLst>
        <p:guide pos="272"/>
        <p:guide orient="horz" pos="1162"/>
        <p:guide pos="2880"/>
        <p:guide pos="5465"/>
        <p:guide orient="horz" pos="4042"/>
        <p:guide orient="horz" pos="2183"/>
        <p:guide orient="horz" pos="436"/>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L Open Parenthesis negative R divided by L Close Parenthesis multiplied by I subscript S baseline e to the negative Open Parenthesis R divided by L Close Parenthesis t power plus R I subscript S Baseline e to the negative Open Parenthesis R divided by L Close Parenthesis t power.</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63845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25</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12/15/2025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555193" y="6455210"/>
            <a:ext cx="6114695"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jpg"/><Relationship Id="rId1" Type="http://schemas.openxmlformats.org/officeDocument/2006/relationships/slideLayout" Target="../slideLayouts/slideLayout8.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3.jpg"/><Relationship Id="rId1" Type="http://schemas.openxmlformats.org/officeDocument/2006/relationships/slideLayout" Target="../slideLayouts/slideLayout8.xml"/><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4.bin"/><Relationship Id="rId1" Type="http://schemas.openxmlformats.org/officeDocument/2006/relationships/slideLayout" Target="../slideLayouts/slideLayout8.xml"/><Relationship Id="rId6" Type="http://schemas.openxmlformats.org/officeDocument/2006/relationships/oleObject" Target="../embeddings/oleObject6.bin"/><Relationship Id="rId5" Type="http://schemas.openxmlformats.org/officeDocument/2006/relationships/image" Target="../media/image8.wmf"/><Relationship Id="rId4" Type="http://schemas.openxmlformats.org/officeDocument/2006/relationships/oleObject" Target="../embeddings/oleObject5.bin"/><Relationship Id="rId9" Type="http://schemas.openxmlformats.org/officeDocument/2006/relationships/image" Target="../media/image10.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7.wmf"/><Relationship Id="rId7" Type="http://schemas.openxmlformats.org/officeDocument/2006/relationships/image" Target="../media/image12.png"/><Relationship Id="rId2" Type="http://schemas.openxmlformats.org/officeDocument/2006/relationships/oleObject" Target="../embeddings/oleObject4.bin"/><Relationship Id="rId1" Type="http://schemas.openxmlformats.org/officeDocument/2006/relationships/slideLayout" Target="../slideLayouts/slideLayout8.xml"/><Relationship Id="rId6" Type="http://schemas.openxmlformats.org/officeDocument/2006/relationships/image" Target="../media/image8.wmf"/><Relationship Id="rId11" Type="http://schemas.openxmlformats.org/officeDocument/2006/relationships/image" Target="../media/image10.wmf"/><Relationship Id="rId5" Type="http://schemas.openxmlformats.org/officeDocument/2006/relationships/oleObject" Target="../embeddings/oleObject5.bin"/><Relationship Id="rId10" Type="http://schemas.openxmlformats.org/officeDocument/2006/relationships/oleObject" Target="../embeddings/oleObject7.bin"/><Relationship Id="rId4" Type="http://schemas.openxmlformats.org/officeDocument/2006/relationships/image" Target="../media/image11.png"/><Relationship Id="rId9" Type="http://schemas.openxmlformats.org/officeDocument/2006/relationships/image" Target="../media/image9.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6.wmf"/><Relationship Id="rId18" Type="http://schemas.openxmlformats.org/officeDocument/2006/relationships/oleObject" Target="../embeddings/oleObject14.bin"/><Relationship Id="rId26" Type="http://schemas.openxmlformats.org/officeDocument/2006/relationships/oleObject" Target="../embeddings/oleObject18.bin"/><Relationship Id="rId3" Type="http://schemas.openxmlformats.org/officeDocument/2006/relationships/image" Target="../media/image3.jpg"/><Relationship Id="rId21" Type="http://schemas.openxmlformats.org/officeDocument/2006/relationships/image" Target="../media/image20.wmf"/><Relationship Id="rId7" Type="http://schemas.openxmlformats.org/officeDocument/2006/relationships/image" Target="../media/image13.wmf"/><Relationship Id="rId12" Type="http://schemas.openxmlformats.org/officeDocument/2006/relationships/oleObject" Target="../embeddings/oleObject11.bin"/><Relationship Id="rId17" Type="http://schemas.openxmlformats.org/officeDocument/2006/relationships/image" Target="../media/image18.wmf"/><Relationship Id="rId25" Type="http://schemas.openxmlformats.org/officeDocument/2006/relationships/image" Target="../media/image22.wmf"/><Relationship Id="rId2" Type="http://schemas.openxmlformats.org/officeDocument/2006/relationships/notesSlide" Target="../notesSlides/notesSlide2.xml"/><Relationship Id="rId16" Type="http://schemas.openxmlformats.org/officeDocument/2006/relationships/oleObject" Target="../embeddings/oleObject13.bin"/><Relationship Id="rId20" Type="http://schemas.openxmlformats.org/officeDocument/2006/relationships/oleObject" Target="../embeddings/oleObject15.bin"/><Relationship Id="rId29" Type="http://schemas.openxmlformats.org/officeDocument/2006/relationships/image" Target="../media/image24.wmf"/><Relationship Id="rId1" Type="http://schemas.openxmlformats.org/officeDocument/2006/relationships/slideLayout" Target="../slideLayouts/slideLayout8.xml"/><Relationship Id="rId6" Type="http://schemas.openxmlformats.org/officeDocument/2006/relationships/oleObject" Target="../embeddings/oleObject8.bin"/><Relationship Id="rId11" Type="http://schemas.openxmlformats.org/officeDocument/2006/relationships/image" Target="../media/image15.wmf"/><Relationship Id="rId24" Type="http://schemas.openxmlformats.org/officeDocument/2006/relationships/oleObject" Target="../embeddings/oleObject17.bin"/><Relationship Id="rId5" Type="http://schemas.openxmlformats.org/officeDocument/2006/relationships/image" Target="../media/image7.wmf"/><Relationship Id="rId15" Type="http://schemas.openxmlformats.org/officeDocument/2006/relationships/image" Target="../media/image17.wmf"/><Relationship Id="rId23" Type="http://schemas.openxmlformats.org/officeDocument/2006/relationships/image" Target="../media/image21.wmf"/><Relationship Id="rId28" Type="http://schemas.openxmlformats.org/officeDocument/2006/relationships/oleObject" Target="../embeddings/oleObject19.bin"/><Relationship Id="rId10" Type="http://schemas.openxmlformats.org/officeDocument/2006/relationships/oleObject" Target="../embeddings/oleObject10.bin"/><Relationship Id="rId19" Type="http://schemas.openxmlformats.org/officeDocument/2006/relationships/image" Target="../media/image19.wmf"/><Relationship Id="rId4" Type="http://schemas.openxmlformats.org/officeDocument/2006/relationships/oleObject" Target="../embeddings/oleObject4.bin"/><Relationship Id="rId9" Type="http://schemas.openxmlformats.org/officeDocument/2006/relationships/image" Target="../media/image14.wmf"/><Relationship Id="rId14" Type="http://schemas.openxmlformats.org/officeDocument/2006/relationships/oleObject" Target="../embeddings/oleObject12.bin"/><Relationship Id="rId22" Type="http://schemas.openxmlformats.org/officeDocument/2006/relationships/oleObject" Target="../embeddings/oleObject16.bin"/><Relationship Id="rId27" Type="http://schemas.openxmlformats.org/officeDocument/2006/relationships/image" Target="../media/image23.wmf"/></Relationships>
</file>

<file path=ppt/slides/_rels/slide8.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slideLayout" Target="../slideLayouts/slideLayout8.xml"/><Relationship Id="rId4" Type="http://schemas.openxmlformats.org/officeDocument/2006/relationships/image" Target="../media/image26.jpg"/></Relationships>
</file>

<file path=ppt/slides/_rels/slide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6.jpg"/></Relationships>
</file>

<file path=ppt/slides/_rels/slide10.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5.wmf"/><Relationship Id="rId7" Type="http://schemas.openxmlformats.org/officeDocument/2006/relationships/oleObject" Target="../embeddings/oleObject22.bin"/><Relationship Id="rId2" Type="http://schemas.openxmlformats.org/officeDocument/2006/relationships/oleObject" Target="../embeddings/oleObject20.bin"/><Relationship Id="rId1" Type="http://schemas.openxmlformats.org/officeDocument/2006/relationships/slideLayout" Target="../slideLayouts/slideLayout8.xml"/><Relationship Id="rId6" Type="http://schemas.openxmlformats.org/officeDocument/2006/relationships/image" Target="../media/image27.wmf"/><Relationship Id="rId5" Type="http://schemas.openxmlformats.org/officeDocument/2006/relationships/oleObject" Target="../embeddings/oleObject21.bin"/><Relationship Id="rId10" Type="http://schemas.openxmlformats.org/officeDocument/2006/relationships/image" Target="../media/image29.wmf"/><Relationship Id="rId4" Type="http://schemas.openxmlformats.org/officeDocument/2006/relationships/image" Target="../media/image26.jpg"/><Relationship Id="rId9" Type="http://schemas.openxmlformats.org/officeDocument/2006/relationships/oleObject" Target="../embeddings/oleObject23.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5.wmf"/><Relationship Id="rId7" Type="http://schemas.openxmlformats.org/officeDocument/2006/relationships/image" Target="../media/image27.wmf"/><Relationship Id="rId12" Type="http://schemas.openxmlformats.org/officeDocument/2006/relationships/image" Target="../media/image29.wmf"/><Relationship Id="rId2" Type="http://schemas.openxmlformats.org/officeDocument/2006/relationships/oleObject" Target="../embeddings/oleObject20.bin"/><Relationship Id="rId1" Type="http://schemas.openxmlformats.org/officeDocument/2006/relationships/slideLayout" Target="../slideLayouts/slideLayout8.xml"/><Relationship Id="rId6" Type="http://schemas.openxmlformats.org/officeDocument/2006/relationships/oleObject" Target="../embeddings/oleObject21.bin"/><Relationship Id="rId11" Type="http://schemas.openxmlformats.org/officeDocument/2006/relationships/oleObject" Target="../embeddings/oleObject23.bin"/><Relationship Id="rId5" Type="http://schemas.openxmlformats.org/officeDocument/2006/relationships/image" Target="../media/image11.png"/><Relationship Id="rId10" Type="http://schemas.openxmlformats.org/officeDocument/2006/relationships/image" Target="../media/image12.png"/><Relationship Id="rId4" Type="http://schemas.openxmlformats.org/officeDocument/2006/relationships/image" Target="../media/image26.jpg"/><Relationship Id="rId9" Type="http://schemas.openxmlformats.org/officeDocument/2006/relationships/image" Target="../media/image28.wmf"/></Relationships>
</file>

<file path=ppt/slides/_rels/slide12.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oleObject" Target="../embeddings/oleObject24.bin"/><Relationship Id="rId7" Type="http://schemas.openxmlformats.org/officeDocument/2006/relationships/image" Target="../media/image32.wmf"/><Relationship Id="rId12" Type="http://schemas.openxmlformats.org/officeDocument/2006/relationships/image" Target="../media/image35.wmf"/><Relationship Id="rId2" Type="http://schemas.openxmlformats.org/officeDocument/2006/relationships/image" Target="../media/image26.jpg"/><Relationship Id="rId1" Type="http://schemas.openxmlformats.org/officeDocument/2006/relationships/slideLayout" Target="../slideLayouts/slideLayout8.xml"/><Relationship Id="rId6" Type="http://schemas.openxmlformats.org/officeDocument/2006/relationships/oleObject" Target="../embeddings/oleObject25.bin"/><Relationship Id="rId11" Type="http://schemas.openxmlformats.org/officeDocument/2006/relationships/oleObject" Target="../embeddings/oleObject27.bin"/><Relationship Id="rId5" Type="http://schemas.openxmlformats.org/officeDocument/2006/relationships/image" Target="../media/image31.jpg"/><Relationship Id="rId10" Type="http://schemas.openxmlformats.org/officeDocument/2006/relationships/image" Target="../media/image34.wmf"/><Relationship Id="rId4" Type="http://schemas.openxmlformats.org/officeDocument/2006/relationships/image" Target="../media/image30.wmf"/><Relationship Id="rId9" Type="http://schemas.openxmlformats.org/officeDocument/2006/relationships/oleObject" Target="../embeddings/oleObject26.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image" Target="../media/image36.jpg"/><Relationship Id="rId1" Type="http://schemas.openxmlformats.org/officeDocument/2006/relationships/slideLayout" Target="../slideLayouts/slideLayout8.xml"/><Relationship Id="rId6" Type="http://schemas.openxmlformats.org/officeDocument/2006/relationships/image" Target="../media/image38.wmf"/><Relationship Id="rId5" Type="http://schemas.openxmlformats.org/officeDocument/2006/relationships/oleObject" Target="../embeddings/oleObject29.bin"/><Relationship Id="rId4" Type="http://schemas.openxmlformats.org/officeDocument/2006/relationships/image" Target="../media/image37.wmf"/></Relationships>
</file>

<file path=ppt/slides/_rels/slide14.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30.bin"/><Relationship Id="rId1" Type="http://schemas.openxmlformats.org/officeDocument/2006/relationships/slideLayout" Target="../slideLayouts/slideLayout8.xml"/><Relationship Id="rId4" Type="http://schemas.openxmlformats.org/officeDocument/2006/relationships/image" Target="../media/image40.jpg"/></Relationships>
</file>

<file path=ppt/slides/_rels/slide15.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30.bin"/><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40.jpg"/></Relationships>
</file>

<file path=ppt/slides/_rels/slide16.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9.wmf"/><Relationship Id="rId7" Type="http://schemas.openxmlformats.org/officeDocument/2006/relationships/oleObject" Target="../embeddings/oleObject32.bin"/><Relationship Id="rId2" Type="http://schemas.openxmlformats.org/officeDocument/2006/relationships/oleObject" Target="../embeddings/oleObject30.bin"/><Relationship Id="rId1" Type="http://schemas.openxmlformats.org/officeDocument/2006/relationships/slideLayout" Target="../slideLayouts/slideLayout8.xml"/><Relationship Id="rId6" Type="http://schemas.openxmlformats.org/officeDocument/2006/relationships/image" Target="../media/image42.wmf"/><Relationship Id="rId5" Type="http://schemas.openxmlformats.org/officeDocument/2006/relationships/oleObject" Target="../embeddings/oleObject31.bin"/><Relationship Id="rId10" Type="http://schemas.openxmlformats.org/officeDocument/2006/relationships/image" Target="../media/image44.wmf"/><Relationship Id="rId4" Type="http://schemas.openxmlformats.org/officeDocument/2006/relationships/image" Target="../media/image41.jpg"/><Relationship Id="rId9" Type="http://schemas.openxmlformats.org/officeDocument/2006/relationships/oleObject" Target="../embeddings/oleObject33.bin"/></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9.wmf"/><Relationship Id="rId7" Type="http://schemas.openxmlformats.org/officeDocument/2006/relationships/image" Target="../media/image42.wmf"/><Relationship Id="rId12" Type="http://schemas.openxmlformats.org/officeDocument/2006/relationships/image" Target="../media/image44.wmf"/><Relationship Id="rId2" Type="http://schemas.openxmlformats.org/officeDocument/2006/relationships/oleObject" Target="../embeddings/oleObject30.bin"/><Relationship Id="rId1" Type="http://schemas.openxmlformats.org/officeDocument/2006/relationships/slideLayout" Target="../slideLayouts/slideLayout8.xml"/><Relationship Id="rId6" Type="http://schemas.openxmlformats.org/officeDocument/2006/relationships/oleObject" Target="../embeddings/oleObject31.bin"/><Relationship Id="rId11" Type="http://schemas.openxmlformats.org/officeDocument/2006/relationships/oleObject" Target="../embeddings/oleObject33.bin"/><Relationship Id="rId5" Type="http://schemas.openxmlformats.org/officeDocument/2006/relationships/image" Target="../media/image12.png"/><Relationship Id="rId10" Type="http://schemas.openxmlformats.org/officeDocument/2006/relationships/image" Target="../media/image43.wmf"/><Relationship Id="rId4" Type="http://schemas.openxmlformats.org/officeDocument/2006/relationships/image" Target="../media/image41.jpg"/><Relationship Id="rId9" Type="http://schemas.openxmlformats.org/officeDocument/2006/relationships/oleObject" Target="../embeddings/oleObject32.bin"/></Relationships>
</file>

<file path=ppt/slides/_rels/slide18.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image" Target="../media/image45.wmf"/><Relationship Id="rId7" Type="http://schemas.openxmlformats.org/officeDocument/2006/relationships/oleObject" Target="../embeddings/oleObject36.bin"/><Relationship Id="rId12" Type="http://schemas.openxmlformats.org/officeDocument/2006/relationships/image" Target="../media/image50.wmf"/><Relationship Id="rId2" Type="http://schemas.openxmlformats.org/officeDocument/2006/relationships/oleObject" Target="../embeddings/oleObject34.bin"/><Relationship Id="rId1" Type="http://schemas.openxmlformats.org/officeDocument/2006/relationships/slideLayout" Target="../slideLayouts/slideLayout8.xml"/><Relationship Id="rId6" Type="http://schemas.openxmlformats.org/officeDocument/2006/relationships/image" Target="../media/image47.w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49.wmf"/><Relationship Id="rId4" Type="http://schemas.openxmlformats.org/officeDocument/2006/relationships/image" Target="../media/image46.jpg"/><Relationship Id="rId9" Type="http://schemas.openxmlformats.org/officeDocument/2006/relationships/oleObject" Target="../embeddings/oleObject37.bin"/></Relationships>
</file>

<file path=ppt/slides/_rels/slide19.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44.bin"/><Relationship Id="rId18" Type="http://schemas.openxmlformats.org/officeDocument/2006/relationships/image" Target="../media/image59.wmf"/><Relationship Id="rId3" Type="http://schemas.openxmlformats.org/officeDocument/2006/relationships/image" Target="../media/image51.wmf"/><Relationship Id="rId21" Type="http://schemas.openxmlformats.org/officeDocument/2006/relationships/oleObject" Target="../embeddings/oleObject48.bin"/><Relationship Id="rId7" Type="http://schemas.openxmlformats.org/officeDocument/2006/relationships/oleObject" Target="../embeddings/oleObject41.bin"/><Relationship Id="rId12" Type="http://schemas.openxmlformats.org/officeDocument/2006/relationships/image" Target="../media/image56.wmf"/><Relationship Id="rId17" Type="http://schemas.openxmlformats.org/officeDocument/2006/relationships/oleObject" Target="../embeddings/oleObject46.bin"/><Relationship Id="rId2" Type="http://schemas.openxmlformats.org/officeDocument/2006/relationships/oleObject" Target="../embeddings/oleObject39.bin"/><Relationship Id="rId16" Type="http://schemas.openxmlformats.org/officeDocument/2006/relationships/image" Target="../media/image58.wmf"/><Relationship Id="rId20" Type="http://schemas.openxmlformats.org/officeDocument/2006/relationships/image" Target="../media/image60.wmf"/><Relationship Id="rId1" Type="http://schemas.openxmlformats.org/officeDocument/2006/relationships/slideLayout" Target="../slideLayouts/slideLayout8.xml"/><Relationship Id="rId6" Type="http://schemas.openxmlformats.org/officeDocument/2006/relationships/image" Target="../media/image53.wmf"/><Relationship Id="rId11" Type="http://schemas.openxmlformats.org/officeDocument/2006/relationships/oleObject" Target="../embeddings/oleObject43.bin"/><Relationship Id="rId24" Type="http://schemas.openxmlformats.org/officeDocument/2006/relationships/image" Target="../media/image62.wmf"/><Relationship Id="rId5" Type="http://schemas.openxmlformats.org/officeDocument/2006/relationships/oleObject" Target="../embeddings/oleObject40.bin"/><Relationship Id="rId15" Type="http://schemas.openxmlformats.org/officeDocument/2006/relationships/oleObject" Target="../embeddings/oleObject45.bin"/><Relationship Id="rId23" Type="http://schemas.openxmlformats.org/officeDocument/2006/relationships/oleObject" Target="../embeddings/oleObject49.bin"/><Relationship Id="rId10" Type="http://schemas.openxmlformats.org/officeDocument/2006/relationships/image" Target="../media/image55.wmf"/><Relationship Id="rId19" Type="http://schemas.openxmlformats.org/officeDocument/2006/relationships/oleObject" Target="../embeddings/oleObject47.bin"/><Relationship Id="rId4" Type="http://schemas.openxmlformats.org/officeDocument/2006/relationships/image" Target="../media/image52.jpg"/><Relationship Id="rId9" Type="http://schemas.openxmlformats.org/officeDocument/2006/relationships/oleObject" Target="../embeddings/oleObject42.bin"/><Relationship Id="rId14" Type="http://schemas.openxmlformats.org/officeDocument/2006/relationships/image" Target="../media/image57.wmf"/><Relationship Id="rId22" Type="http://schemas.openxmlformats.org/officeDocument/2006/relationships/image" Target="../media/image61.wmf"/></Relationships>
</file>

<file path=ppt/slides/_rels/slide20.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image" Target="../media/image68.wmf"/><Relationship Id="rId18" Type="http://schemas.openxmlformats.org/officeDocument/2006/relationships/oleObject" Target="../embeddings/oleObject57.bin"/><Relationship Id="rId3" Type="http://schemas.openxmlformats.org/officeDocument/2006/relationships/oleObject" Target="../embeddings/oleObject50.bin"/><Relationship Id="rId21" Type="http://schemas.openxmlformats.org/officeDocument/2006/relationships/image" Target="../media/image72.wmf"/><Relationship Id="rId7" Type="http://schemas.openxmlformats.org/officeDocument/2006/relationships/oleObject" Target="../embeddings/oleObject52.bin"/><Relationship Id="rId12" Type="http://schemas.openxmlformats.org/officeDocument/2006/relationships/oleObject" Target="../embeddings/oleObject54.bin"/><Relationship Id="rId17" Type="http://schemas.openxmlformats.org/officeDocument/2006/relationships/image" Target="../media/image70.wmf"/><Relationship Id="rId25" Type="http://schemas.openxmlformats.org/officeDocument/2006/relationships/image" Target="../media/image75.png"/><Relationship Id="rId2" Type="http://schemas.openxmlformats.org/officeDocument/2006/relationships/image" Target="../media/image26.jpg"/><Relationship Id="rId16" Type="http://schemas.openxmlformats.org/officeDocument/2006/relationships/oleObject" Target="../embeddings/oleObject56.bin"/><Relationship Id="rId20" Type="http://schemas.openxmlformats.org/officeDocument/2006/relationships/oleObject" Target="../embeddings/oleObject58.bin"/><Relationship Id="rId1" Type="http://schemas.openxmlformats.org/officeDocument/2006/relationships/slideLayout" Target="../slideLayouts/slideLayout8.xml"/><Relationship Id="rId6" Type="http://schemas.openxmlformats.org/officeDocument/2006/relationships/image" Target="../media/image64.wmf"/><Relationship Id="rId11" Type="http://schemas.openxmlformats.org/officeDocument/2006/relationships/image" Target="../media/image67.jpg"/><Relationship Id="rId24" Type="http://schemas.openxmlformats.org/officeDocument/2006/relationships/image" Target="../media/image74.png"/><Relationship Id="rId5" Type="http://schemas.openxmlformats.org/officeDocument/2006/relationships/oleObject" Target="../embeddings/oleObject51.bin"/><Relationship Id="rId15" Type="http://schemas.openxmlformats.org/officeDocument/2006/relationships/image" Target="../media/image69.wmf"/><Relationship Id="rId23" Type="http://schemas.openxmlformats.org/officeDocument/2006/relationships/image" Target="../media/image73.wmf"/><Relationship Id="rId10" Type="http://schemas.openxmlformats.org/officeDocument/2006/relationships/image" Target="../media/image66.wmf"/><Relationship Id="rId19" Type="http://schemas.openxmlformats.org/officeDocument/2006/relationships/image" Target="../media/image71.wmf"/><Relationship Id="rId4" Type="http://schemas.openxmlformats.org/officeDocument/2006/relationships/image" Target="../media/image63.wmf"/><Relationship Id="rId9" Type="http://schemas.openxmlformats.org/officeDocument/2006/relationships/oleObject" Target="../embeddings/oleObject53.bin"/><Relationship Id="rId14" Type="http://schemas.openxmlformats.org/officeDocument/2006/relationships/oleObject" Target="../embeddings/oleObject55.bin"/><Relationship Id="rId22" Type="http://schemas.openxmlformats.org/officeDocument/2006/relationships/oleObject" Target="../embeddings/oleObject59.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76.wmf"/><Relationship Id="rId7" Type="http://schemas.openxmlformats.org/officeDocument/2006/relationships/image" Target="../media/image78.wmf"/><Relationship Id="rId2" Type="http://schemas.openxmlformats.org/officeDocument/2006/relationships/oleObject" Target="../embeddings/oleObject60.bin"/><Relationship Id="rId1" Type="http://schemas.openxmlformats.org/officeDocument/2006/relationships/slideLayout" Target="../slideLayouts/slideLayout8.xml"/><Relationship Id="rId6" Type="http://schemas.openxmlformats.org/officeDocument/2006/relationships/oleObject" Target="../embeddings/oleObject62.bin"/><Relationship Id="rId11" Type="http://schemas.openxmlformats.org/officeDocument/2006/relationships/image" Target="../media/image75.png"/><Relationship Id="rId5" Type="http://schemas.openxmlformats.org/officeDocument/2006/relationships/image" Target="../media/image77.wmf"/><Relationship Id="rId10" Type="http://schemas.openxmlformats.org/officeDocument/2006/relationships/image" Target="../media/image74.png"/><Relationship Id="rId4" Type="http://schemas.openxmlformats.org/officeDocument/2006/relationships/oleObject" Target="../embeddings/oleObject61.bin"/><Relationship Id="rId9" Type="http://schemas.openxmlformats.org/officeDocument/2006/relationships/image" Target="../media/image79.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76.wmf"/><Relationship Id="rId7" Type="http://schemas.openxmlformats.org/officeDocument/2006/relationships/image" Target="../media/image11.png"/><Relationship Id="rId2" Type="http://schemas.openxmlformats.org/officeDocument/2006/relationships/oleObject" Target="../embeddings/oleObject60.bin"/><Relationship Id="rId1" Type="http://schemas.openxmlformats.org/officeDocument/2006/relationships/slideLayout" Target="../slideLayouts/slideLayout8.xml"/><Relationship Id="rId6" Type="http://schemas.openxmlformats.org/officeDocument/2006/relationships/image" Target="../media/image12.png"/><Relationship Id="rId11" Type="http://schemas.openxmlformats.org/officeDocument/2006/relationships/image" Target="../media/image79.wmf"/><Relationship Id="rId5" Type="http://schemas.openxmlformats.org/officeDocument/2006/relationships/image" Target="../media/image77.wmf"/><Relationship Id="rId10" Type="http://schemas.openxmlformats.org/officeDocument/2006/relationships/oleObject" Target="../embeddings/oleObject63.bin"/><Relationship Id="rId4" Type="http://schemas.openxmlformats.org/officeDocument/2006/relationships/oleObject" Target="../embeddings/oleObject61.bin"/><Relationship Id="rId9" Type="http://schemas.openxmlformats.org/officeDocument/2006/relationships/image" Target="../media/image78.wmf"/></Relationships>
</file>

<file path=ppt/slides/_rels/slide23.xml.rels><?xml version="1.0" encoding="UTF-8" standalone="yes"?>
<Relationships xmlns="http://schemas.openxmlformats.org/package/2006/relationships"><Relationship Id="rId3" Type="http://schemas.openxmlformats.org/officeDocument/2006/relationships/image" Target="../media/image80.wmf"/><Relationship Id="rId7" Type="http://schemas.openxmlformats.org/officeDocument/2006/relationships/image" Target="../media/image77.wmf"/><Relationship Id="rId2" Type="http://schemas.openxmlformats.org/officeDocument/2006/relationships/oleObject" Target="../embeddings/oleObject64.bin"/><Relationship Id="rId1" Type="http://schemas.openxmlformats.org/officeDocument/2006/relationships/slideLayout" Target="../slideLayouts/slideLayout8.xml"/><Relationship Id="rId6" Type="http://schemas.openxmlformats.org/officeDocument/2006/relationships/oleObject" Target="../embeddings/oleObject61.bin"/><Relationship Id="rId5" Type="http://schemas.openxmlformats.org/officeDocument/2006/relationships/image" Target="../media/image81.wmf"/><Relationship Id="rId4" Type="http://schemas.openxmlformats.org/officeDocument/2006/relationships/oleObject" Target="../embeddings/oleObject65.bin"/></Relationships>
</file>

<file path=ppt/slides/_rels/slide2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0.wmf"/><Relationship Id="rId7" Type="http://schemas.openxmlformats.org/officeDocument/2006/relationships/image" Target="../media/image77.wmf"/><Relationship Id="rId2" Type="http://schemas.openxmlformats.org/officeDocument/2006/relationships/oleObject" Target="../embeddings/oleObject64.bin"/><Relationship Id="rId1" Type="http://schemas.openxmlformats.org/officeDocument/2006/relationships/slideLayout" Target="../slideLayouts/slideLayout8.xml"/><Relationship Id="rId6" Type="http://schemas.openxmlformats.org/officeDocument/2006/relationships/oleObject" Target="../embeddings/oleObject61.bin"/><Relationship Id="rId5" Type="http://schemas.openxmlformats.org/officeDocument/2006/relationships/image" Target="../media/image81.wmf"/><Relationship Id="rId4" Type="http://schemas.openxmlformats.org/officeDocument/2006/relationships/oleObject" Target="../embeddings/oleObject65.bin"/><Relationship Id="rId9"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8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3442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Edition, </a:t>
            </a:r>
            <a:r>
              <a:rPr lang="en-US" dirty="0"/>
              <a:t>Global Edition</a:t>
            </a:r>
            <a:endParaRPr lang="en-US" noProof="0" dirty="0"/>
          </a:p>
        </p:txBody>
      </p:sp>
      <p:pic>
        <p:nvPicPr>
          <p:cNvPr id="12" name="Picture 11">
            <a:extLst>
              <a:ext uri="{FF2B5EF4-FFF2-40B4-BE49-F238E27FC236}">
                <a16:creationId xmlns:a16="http://schemas.microsoft.com/office/drawing/2014/main" id="{42D257CC-0C28-71A3-2065-767CAFB1F7FF}"/>
              </a:ext>
            </a:extLst>
          </p:cNvPr>
          <p:cNvPicPr>
            <a:picLocks noChangeAspect="1"/>
          </p:cNvPicPr>
          <p:nvPr/>
        </p:nvPicPr>
        <p:blipFill>
          <a:blip r:embed="rId3"/>
          <a:stretch>
            <a:fillRect/>
          </a:stretch>
        </p:blipFill>
        <p:spPr>
          <a:xfrm>
            <a:off x="429105" y="1769717"/>
            <a:ext cx="3427532" cy="4284034"/>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t>Chapter 7 – Part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637517"/>
            <a:ext cx="4091089" cy="713460"/>
          </a:xfrm>
        </p:spPr>
        <p:txBody>
          <a:bodyPr wrap="square" lIns="0" tIns="18000" rIns="0" bIns="18000" anchor="ctr">
            <a:spAutoFit/>
          </a:bodyPr>
          <a:lstStyle/>
          <a:p>
            <a:pPr marL="0"/>
            <a:r>
              <a:rPr lang="en-US" noProof="0" dirty="0"/>
              <a:t>Response of First-Order </a:t>
            </a:r>
            <a:r>
              <a:rPr lang="en-US" i="1" spc="-250" noProof="0" dirty="0"/>
              <a:t>R </a:t>
            </a:r>
            <a:r>
              <a:rPr lang="en-US" i="1" noProof="0" dirty="0"/>
              <a:t>L</a:t>
            </a:r>
            <a:r>
              <a:rPr lang="en-US" noProof="0" dirty="0"/>
              <a:t> and </a:t>
            </a:r>
            <a:r>
              <a:rPr lang="en-US" i="1" spc="-250" noProof="0" dirty="0"/>
              <a:t>R </a:t>
            </a:r>
            <a:r>
              <a:rPr lang="en-US" i="1" noProof="0" dirty="0"/>
              <a:t>C</a:t>
            </a:r>
            <a:r>
              <a:rPr lang="en-US" noProof="0" dirty="0"/>
              <a:t> Circuits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13804" y="6455210"/>
            <a:ext cx="6056085"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AD912-8EF2-4BD8-A87C-20C7322F06AA}"/>
              </a:ext>
            </a:extLst>
          </p:cNvPr>
          <p:cNvSpPr>
            <a:spLocks noGrp="1"/>
          </p:cNvSpPr>
          <p:nvPr>
            <p:ph type="title"/>
          </p:nvPr>
        </p:nvSpPr>
        <p:spPr>
          <a:xfrm>
            <a:off x="439073" y="218864"/>
            <a:ext cx="8229600" cy="1144347"/>
          </a:xfrm>
        </p:spPr>
        <p:txBody>
          <a:bodyPr lIns="0" tIns="18000" rIns="0" bIns="18000" anchor="ctr">
            <a:spAutoFit/>
          </a:bodyPr>
          <a:lstStyle/>
          <a:p>
            <a:r>
              <a:rPr lang="en-US" sz="3600" noProof="0" dirty="0">
                <a:latin typeface="+mj-lt"/>
              </a:rPr>
              <a:t>Chapter 7 – Response of First-Order </a:t>
            </a:r>
            <a:r>
              <a:rPr lang="en-US" sz="3600" i="1" spc="-400" noProof="0" dirty="0">
                <a:latin typeface="+mj-lt"/>
              </a:rPr>
              <a:t>R </a:t>
            </a:r>
            <a:r>
              <a:rPr lang="en-US" sz="3600" i="1" noProof="0" dirty="0">
                <a:latin typeface="+mj-lt"/>
              </a:rPr>
              <a:t>L</a:t>
            </a:r>
            <a:r>
              <a:rPr lang="en-US" sz="3600" noProof="0" dirty="0">
                <a:latin typeface="+mj-lt"/>
              </a:rPr>
              <a:t>/</a:t>
            </a:r>
            <a:r>
              <a:rPr lang="en-US" sz="3600" i="1" spc="-400" noProof="0" dirty="0">
                <a:latin typeface="+mj-lt"/>
              </a:rPr>
              <a:t>R </a:t>
            </a:r>
            <a:r>
              <a:rPr lang="en-US" sz="3600" i="1" noProof="0" dirty="0">
                <a:latin typeface="+mj-lt"/>
              </a:rPr>
              <a:t>C </a:t>
            </a:r>
            <a:r>
              <a:rPr lang="en-US" sz="3600" noProof="0" dirty="0">
                <a:latin typeface="+mj-lt"/>
              </a:rPr>
              <a:t>Circuits</a:t>
            </a:r>
            <a:endParaRPr lang="en-US" noProof="0" dirty="0"/>
          </a:p>
        </p:txBody>
      </p:sp>
      <p:sp>
        <p:nvSpPr>
          <p:cNvPr id="5" name="Content Placeholder 4">
            <a:extLst>
              <a:ext uri="{FF2B5EF4-FFF2-40B4-BE49-F238E27FC236}">
                <a16:creationId xmlns:a16="http://schemas.microsoft.com/office/drawing/2014/main" id="{9D121100-505B-4390-8EAB-8E81ECD541F1}"/>
              </a:ext>
            </a:extLst>
          </p:cNvPr>
          <p:cNvSpPr>
            <a:spLocks noGrp="1"/>
          </p:cNvSpPr>
          <p:nvPr>
            <p:ph sz="quarter" idx="13"/>
          </p:nvPr>
        </p:nvSpPr>
        <p:spPr>
          <a:xfrm>
            <a:off x="429524" y="1482607"/>
            <a:ext cx="8232775" cy="3214145"/>
          </a:xfrm>
        </p:spPr>
        <p:txBody>
          <a:bodyPr lIns="0" tIns="18000" rIns="0" bIns="18000" anchor="ctr">
            <a:spAutoFit/>
          </a:bodyPr>
          <a:lstStyle/>
          <a:p>
            <a:pPr marL="0" indent="0">
              <a:spcBef>
                <a:spcPts val="600"/>
              </a:spcBef>
              <a:buNone/>
            </a:pPr>
            <a:r>
              <a:rPr lang="en-US" sz="2400" noProof="0" dirty="0"/>
              <a:t>Objectives:</a:t>
            </a:r>
          </a:p>
          <a:p>
            <a:pPr marL="614363" indent="-614363">
              <a:buNone/>
            </a:pPr>
            <a:r>
              <a:rPr lang="en-US" sz="2400" b="1" noProof="0" dirty="0">
                <a:solidFill>
                  <a:srgbClr val="007FA3"/>
                </a:solidFill>
              </a:rPr>
              <a:t>7.1	</a:t>
            </a:r>
            <a:r>
              <a:rPr lang="en-US" sz="2400" noProof="0" dirty="0"/>
              <a:t>Natural response of </a:t>
            </a:r>
            <a:r>
              <a:rPr lang="en-US" sz="2400" spc="-300" noProof="0" dirty="0"/>
              <a:t>R </a:t>
            </a:r>
            <a:r>
              <a:rPr lang="en-US" sz="2400" noProof="0" dirty="0"/>
              <a:t>L/</a:t>
            </a:r>
            <a:r>
              <a:rPr lang="en-US" sz="2400" spc="-300" noProof="0" dirty="0"/>
              <a:t>R </a:t>
            </a:r>
            <a:r>
              <a:rPr lang="en-US" sz="2400" noProof="0" dirty="0"/>
              <a:t>C circuits</a:t>
            </a:r>
          </a:p>
          <a:p>
            <a:pPr marL="614363" indent="-614363">
              <a:buNone/>
            </a:pPr>
            <a:r>
              <a:rPr lang="en-US" sz="2400" b="1" noProof="0" dirty="0">
                <a:solidFill>
                  <a:srgbClr val="007FA3"/>
                </a:solidFill>
              </a:rPr>
              <a:t>7.2	</a:t>
            </a:r>
            <a:r>
              <a:rPr lang="en-US" sz="2400" noProof="0" dirty="0"/>
              <a:t>Step response of </a:t>
            </a:r>
            <a:r>
              <a:rPr lang="en-US" sz="2400" spc="-300" noProof="0" dirty="0"/>
              <a:t>R </a:t>
            </a:r>
            <a:r>
              <a:rPr lang="en-US" sz="2400" noProof="0" dirty="0"/>
              <a:t>L/</a:t>
            </a:r>
            <a:r>
              <a:rPr lang="en-US" sz="2400" spc="-300" noProof="0" dirty="0"/>
              <a:t>R </a:t>
            </a:r>
            <a:r>
              <a:rPr lang="en-US" sz="2400" noProof="0" dirty="0"/>
              <a:t>C circuits</a:t>
            </a:r>
          </a:p>
          <a:p>
            <a:pPr marL="614363" indent="-614363">
              <a:buNone/>
            </a:pPr>
            <a:r>
              <a:rPr lang="en-US" sz="2400" b="1" noProof="0" dirty="0">
                <a:solidFill>
                  <a:srgbClr val="007FA3"/>
                </a:solidFill>
              </a:rPr>
              <a:t>7.3	</a:t>
            </a:r>
            <a:r>
              <a:rPr lang="en-US" sz="2400" noProof="0" dirty="0"/>
              <a:t>Sequential switching in first-order circuits</a:t>
            </a:r>
          </a:p>
          <a:p>
            <a:pPr marL="614363" indent="-614363">
              <a:buNone/>
            </a:pPr>
            <a:r>
              <a:rPr lang="en-US" sz="2400" b="1" noProof="0" dirty="0">
                <a:solidFill>
                  <a:srgbClr val="007FA3"/>
                </a:solidFill>
              </a:rPr>
              <a:t>7.4	</a:t>
            </a:r>
            <a:r>
              <a:rPr lang="en-US" sz="2400" noProof="0" dirty="0"/>
              <a:t>Unbounded response</a:t>
            </a:r>
          </a:p>
          <a:p>
            <a:pPr marL="614363" indent="-614363">
              <a:buNone/>
            </a:pPr>
            <a:r>
              <a:rPr lang="en-US" sz="2400" b="1" noProof="0" dirty="0">
                <a:solidFill>
                  <a:srgbClr val="007FA3"/>
                </a:solidFill>
              </a:rPr>
              <a:t>7.5	</a:t>
            </a:r>
            <a:r>
              <a:rPr lang="en-US" altLang="en-US" sz="2400" noProof="0" dirty="0"/>
              <a:t>Integrating amplifier</a:t>
            </a:r>
            <a:endParaRPr lang="en-US" sz="2400" noProof="0" dirty="0"/>
          </a:p>
        </p:txBody>
      </p:sp>
    </p:spTree>
    <p:extLst>
      <p:ext uri="{BB962C8B-B14F-4D97-AF65-F5344CB8AC3E}">
        <p14:creationId xmlns:p14="http://schemas.microsoft.com/office/powerpoint/2010/main" val="104531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9972" y="215062"/>
            <a:ext cx="8229600" cy="1021237"/>
          </a:xfrm>
        </p:spPr>
        <p:txBody>
          <a:bodyPr/>
          <a:lstStyle/>
          <a:p>
            <a:r>
              <a:rPr lang="en-US" noProof="0" dirty="0"/>
              <a:t>Chapter 7 – </a:t>
            </a:r>
            <a:r>
              <a:rPr lang="en-US" i="1" spc="-400" noProof="0" dirty="0"/>
              <a:t>R </a:t>
            </a:r>
            <a:r>
              <a:rPr lang="en-US" i="1" noProof="0" dirty="0"/>
              <a:t>L </a:t>
            </a:r>
            <a:r>
              <a:rPr lang="en-US" noProof="0" dirty="0"/>
              <a:t>Natural Response      </a:t>
            </a:r>
            <a:r>
              <a:rPr lang="en-US" sz="2800" noProof="0" dirty="0"/>
              <a:t>(1 of 7)</a:t>
            </a:r>
          </a:p>
        </p:txBody>
      </p:sp>
      <p:pic>
        <p:nvPicPr>
          <p:cNvPr id="2" name="Picture 1" descr="A circuit diagram shows an inductor L on the left wire of the circuit and resistor R on the right wire of the circuit. The Current i of (0) equals I subscript s, is flowing through the inductor L in vertically upward direction at the beginning. The current flowing through the circuit is denoted by i, which changes with time. The flow of current i through the resistor R creates a voltage v across the resistor R with positive polarity at the upper end of the resistor R and negative polarity at the lower end. ">
            <a:extLst>
              <a:ext uri="{FF2B5EF4-FFF2-40B4-BE49-F238E27FC236}">
                <a16:creationId xmlns:a16="http://schemas.microsoft.com/office/drawing/2014/main" id="{5D8895A7-BF23-18F0-1E98-F4FDDD75EFE7}"/>
              </a:ext>
            </a:extLst>
          </p:cNvPr>
          <p:cNvPicPr>
            <a:picLocks noChangeAspect="1" noChangeArrowheads="1"/>
          </p:cNvPicPr>
          <p:nvPr/>
        </p:nvPicPr>
        <p:blipFill>
          <a:blip r:embed="rId2"/>
          <a:srcRect/>
          <a:stretch/>
        </p:blipFill>
        <p:spPr bwMode="auto">
          <a:xfrm>
            <a:off x="3011441" y="1578994"/>
            <a:ext cx="2294659" cy="1179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19100" y="2990515"/>
            <a:ext cx="8251825" cy="405683"/>
          </a:xfrm>
        </p:spPr>
        <p:txBody>
          <a:bodyPr wrap="square" lIns="0" tIns="18000" rIns="0" bIns="18000" anchor="ctr">
            <a:spAutoFit/>
          </a:bodyPr>
          <a:lstStyle/>
          <a:p>
            <a:pPr marL="0" indent="0">
              <a:spcBef>
                <a:spcPts val="600"/>
              </a:spcBef>
              <a:buNone/>
            </a:pPr>
            <a:r>
              <a:rPr lang="en-US" altLang="en-US" sz="2400" noProof="0" dirty="0"/>
              <a:t>The problem: Given an initial current </a:t>
            </a:r>
            <a:r>
              <a:rPr lang="en-US" altLang="en-US" sz="2400" i="1" noProof="0" dirty="0" err="1"/>
              <a:t>i</a:t>
            </a:r>
            <a:r>
              <a:rPr lang="en-US" altLang="en-US" sz="2400" i="1" noProof="0" dirty="0"/>
              <a:t>(0)</a:t>
            </a:r>
            <a:r>
              <a:rPr lang="en-US" altLang="en-US" sz="2400" noProof="0" dirty="0"/>
              <a:t> through </a:t>
            </a:r>
            <a:r>
              <a:rPr lang="en-US" altLang="en-US" sz="2400" i="1" noProof="0" dirty="0"/>
              <a:t>L</a:t>
            </a:r>
            <a:r>
              <a:rPr lang="en-US" altLang="en-US" sz="2400" noProof="0" dirty="0"/>
              <a:t> at </a:t>
            </a:r>
            <a:r>
              <a:rPr lang="en-US" altLang="en-US" sz="2400" i="1" noProof="0" dirty="0"/>
              <a:t>t</a:t>
            </a:r>
            <a:r>
              <a:rPr lang="en-US" altLang="en-US" sz="2400" noProof="0" dirty="0"/>
              <a:t> = </a:t>
            </a:r>
            <a:r>
              <a:rPr lang="en-US" altLang="en-US" sz="2400" i="1" noProof="0" dirty="0"/>
              <a:t>0</a:t>
            </a:r>
            <a:r>
              <a:rPr lang="en-US" altLang="en-US" sz="2400" noProof="0" dirty="0"/>
              <a:t>, </a:t>
            </a:r>
            <a:endParaRPr lang="en-US" sz="24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4" y="3492442"/>
            <a:ext cx="1407902" cy="405683"/>
          </a:xfrm>
        </p:spPr>
        <p:txBody>
          <a:bodyPr wrap="square" lIns="0" tIns="18000" rIns="0" bIns="18000" anchor="ctr">
            <a:spAutoFit/>
          </a:bodyPr>
          <a:lstStyle/>
          <a:p>
            <a:pPr marL="0" indent="0">
              <a:spcBef>
                <a:spcPts val="600"/>
              </a:spcBef>
              <a:buNone/>
            </a:pPr>
            <a:r>
              <a:rPr lang="en-US" sz="2400" noProof="0" dirty="0"/>
              <a:t>find </a:t>
            </a:r>
            <a:r>
              <a:rPr lang="en-US" sz="2400" i="1" noProof="0" dirty="0" err="1"/>
              <a:t>i</a:t>
            </a:r>
            <a:r>
              <a:rPr lang="en-US" sz="2400" i="1" noProof="0" dirty="0"/>
              <a:t>(t)</a:t>
            </a:r>
            <a:r>
              <a:rPr lang="en-US" sz="2400" noProof="0" dirty="0"/>
              <a:t> for </a:t>
            </a:r>
          </a:p>
        </p:txBody>
      </p:sp>
      <p:graphicFrame>
        <p:nvGraphicFramePr>
          <p:cNvPr id="5" name="Object 2" descr="t greater than or equal to 0.&#10;">
            <a:extLst>
              <a:ext uri="{FF2B5EF4-FFF2-40B4-BE49-F238E27FC236}">
                <a16:creationId xmlns:a16="http://schemas.microsoft.com/office/drawing/2014/main" id="{26DB75D4-FBB0-8A60-E5E3-C8E6B31D830E}"/>
              </a:ext>
            </a:extLst>
          </p:cNvPr>
          <p:cNvGraphicFramePr>
            <a:graphicFrameLocks noChangeAspect="1"/>
          </p:cNvGraphicFramePr>
          <p:nvPr>
            <p:extLst>
              <p:ext uri="{D42A27DB-BD31-4B8C-83A1-F6EECF244321}">
                <p14:modId xmlns:p14="http://schemas.microsoft.com/office/powerpoint/2010/main" val="2277168065"/>
              </p:ext>
            </p:extLst>
          </p:nvPr>
        </p:nvGraphicFramePr>
        <p:xfrm>
          <a:off x="1846052" y="3556269"/>
          <a:ext cx="682625" cy="330200"/>
        </p:xfrm>
        <a:graphic>
          <a:graphicData uri="http://schemas.openxmlformats.org/presentationml/2006/ole">
            <mc:AlternateContent xmlns:mc="http://schemas.openxmlformats.org/markup-compatibility/2006">
              <mc:Choice xmlns:v="urn:schemas-microsoft-com:vml" Requires="v">
                <p:oleObj name="Equation" r:id="rId3" imgW="368280" imgH="177480" progId="Equation.DSMT4">
                  <p:embed/>
                </p:oleObj>
              </mc:Choice>
              <mc:Fallback>
                <p:oleObj name="Equation" r:id="rId3" imgW="368280" imgH="177480" progId="Equation.DSMT4">
                  <p:embed/>
                  <p:pic>
                    <p:nvPicPr>
                      <p:cNvPr id="6" name="Object 2"/>
                      <p:cNvPicPr>
                        <a:picLocks noChangeAspect="1" noChangeArrowheads="1"/>
                      </p:cNvPicPr>
                      <p:nvPr/>
                    </p:nvPicPr>
                    <p:blipFill>
                      <a:blip r:embed="rId4"/>
                      <a:srcRect/>
                      <a:stretch>
                        <a:fillRect/>
                      </a:stretch>
                    </p:blipFill>
                    <p:spPr bwMode="auto">
                      <a:xfrm>
                        <a:off x="1846052" y="3556269"/>
                        <a:ext cx="682625"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186240"/>
            <a:ext cx="8220974" cy="405683"/>
          </a:xfrm>
        </p:spPr>
        <p:txBody>
          <a:bodyPr wrap="square" lIns="0" tIns="18000" rIns="0" bIns="18000" anchor="ctr">
            <a:spAutoFit/>
          </a:bodyPr>
          <a:lstStyle/>
          <a:p>
            <a:pPr marL="0" indent="0">
              <a:spcBef>
                <a:spcPts val="600"/>
              </a:spcBef>
              <a:buNone/>
            </a:pPr>
            <a:r>
              <a:rPr lang="en-US" sz="2400" noProof="0" dirty="0"/>
              <a:t>Note: this is the “natural” response of this circuit because for </a:t>
            </a:r>
          </a:p>
        </p:txBody>
      </p:sp>
      <p:graphicFrame>
        <p:nvGraphicFramePr>
          <p:cNvPr id="25" name="Object 2" descr="t greater than or equal to 0.&#10;">
            <a:extLst>
              <a:ext uri="{FF2B5EF4-FFF2-40B4-BE49-F238E27FC236}">
                <a16:creationId xmlns:a16="http://schemas.microsoft.com/office/drawing/2014/main" id="{A489F9AC-AA42-02EB-6592-BCDDEE51B2A8}"/>
              </a:ext>
            </a:extLst>
          </p:cNvPr>
          <p:cNvGraphicFramePr>
            <a:graphicFrameLocks noChangeAspect="1"/>
          </p:cNvGraphicFramePr>
          <p:nvPr>
            <p:extLst>
              <p:ext uri="{D42A27DB-BD31-4B8C-83A1-F6EECF244321}">
                <p14:modId xmlns:p14="http://schemas.microsoft.com/office/powerpoint/2010/main" val="4169341503"/>
              </p:ext>
            </p:extLst>
          </p:nvPr>
        </p:nvGraphicFramePr>
        <p:xfrm>
          <a:off x="428147" y="4695825"/>
          <a:ext cx="611188" cy="330200"/>
        </p:xfrm>
        <a:graphic>
          <a:graphicData uri="http://schemas.openxmlformats.org/presentationml/2006/ole">
            <mc:AlternateContent xmlns:mc="http://schemas.openxmlformats.org/markup-compatibility/2006">
              <mc:Choice xmlns:v="urn:schemas-microsoft-com:vml" Requires="v">
                <p:oleObj name="Equation" r:id="rId5" imgW="330120" imgH="177480" progId="Equation.DSMT4">
                  <p:embed/>
                </p:oleObj>
              </mc:Choice>
              <mc:Fallback>
                <p:oleObj name="Equation" r:id="rId5" imgW="330120" imgH="177480" progId="Equation.DSMT4">
                  <p:embed/>
                  <p:pic>
                    <p:nvPicPr>
                      <p:cNvPr id="5" name="Object 2">
                        <a:extLst>
                          <a:ext uri="{FF2B5EF4-FFF2-40B4-BE49-F238E27FC236}">
                            <a16:creationId xmlns:a16="http://schemas.microsoft.com/office/drawing/2014/main" id="{26DB75D4-FBB0-8A60-E5E3-C8E6B31D830E}"/>
                          </a:ext>
                        </a:extLst>
                      </p:cNvPr>
                      <p:cNvPicPr>
                        <a:picLocks noChangeAspect="1" noChangeArrowheads="1"/>
                      </p:cNvPicPr>
                      <p:nvPr/>
                    </p:nvPicPr>
                    <p:blipFill>
                      <a:blip r:embed="rId6"/>
                      <a:srcRect/>
                      <a:stretch>
                        <a:fillRect/>
                      </a:stretch>
                    </p:blipFill>
                    <p:spPr bwMode="auto">
                      <a:xfrm>
                        <a:off x="428147" y="4695825"/>
                        <a:ext cx="611188"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116223" y="4652270"/>
            <a:ext cx="7544699" cy="405683"/>
          </a:xfrm>
        </p:spPr>
        <p:txBody>
          <a:bodyPr wrap="square" lIns="0" tIns="18000" rIns="0" bIns="18000" anchor="ctr">
            <a:spAutoFit/>
          </a:bodyPr>
          <a:lstStyle/>
          <a:p>
            <a:pPr marL="0" indent="0">
              <a:spcBef>
                <a:spcPts val="600"/>
              </a:spcBef>
              <a:buNone/>
            </a:pPr>
            <a:r>
              <a:rPr lang="en-US" sz="2400" noProof="0" dirty="0"/>
              <a:t>there is no independent source in the circuit </a:t>
            </a:r>
            <a:r>
              <a:rPr lang="en-US" sz="2400" noProof="0" dirty="0">
                <a:effectLst/>
                <a:latin typeface="Arial" panose="020B0604020202020204" pitchFamily="34" charset="0"/>
                <a:ea typeface="Calibri" panose="020F0502020204030204" pitchFamily="34" charset="0"/>
                <a:cs typeface="Arial" panose="020B0604020202020204" pitchFamily="34" charset="0"/>
              </a:rPr>
              <a:t>–</a:t>
            </a:r>
            <a:r>
              <a:rPr lang="en-US" sz="2400" noProof="0" dirty="0"/>
              <a:t> the </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0" y="5105100"/>
            <a:ext cx="8220974" cy="775015"/>
          </a:xfrm>
        </p:spPr>
        <p:txBody>
          <a:bodyPr wrap="square" lIns="0" tIns="18000" rIns="0" bIns="18000" anchor="ctr">
            <a:spAutoFit/>
          </a:bodyPr>
          <a:lstStyle/>
          <a:p>
            <a:pPr marL="0" indent="0">
              <a:spcBef>
                <a:spcPts val="600"/>
              </a:spcBef>
              <a:buNone/>
            </a:pPr>
            <a:r>
              <a:rPr lang="en-US" sz="2400" noProof="0" dirty="0"/>
              <a:t>response is due only to the “nature” of the components and their interconnection. </a:t>
            </a:r>
          </a:p>
        </p:txBody>
      </p:sp>
    </p:spTree>
    <p:extLst>
      <p:ext uri="{BB962C8B-B14F-4D97-AF65-F5344CB8AC3E}">
        <p14:creationId xmlns:p14="http://schemas.microsoft.com/office/powerpoint/2010/main" val="1432410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75" y="215249"/>
            <a:ext cx="8229600" cy="1021237"/>
          </a:xfrm>
        </p:spPr>
        <p:txBody>
          <a:bodyPr/>
          <a:lstStyle/>
          <a:p>
            <a:r>
              <a:rPr lang="en-US" noProof="0" dirty="0"/>
              <a:t>Chapter 7 – </a:t>
            </a:r>
            <a:r>
              <a:rPr lang="en-US" i="1" spc="-400" noProof="0" dirty="0"/>
              <a:t>R </a:t>
            </a:r>
            <a:r>
              <a:rPr lang="en-US" i="1" noProof="0" dirty="0"/>
              <a:t>L</a:t>
            </a:r>
            <a:r>
              <a:rPr lang="en-US" noProof="0" dirty="0"/>
              <a:t> Natural Response      </a:t>
            </a:r>
            <a:r>
              <a:rPr lang="en-US" sz="2800" noProof="0" dirty="0"/>
              <a:t>(2 of 7)</a:t>
            </a:r>
          </a:p>
        </p:txBody>
      </p:sp>
      <p:pic>
        <p:nvPicPr>
          <p:cNvPr id="2" name="Picture 7" descr="A circuit diagram shows an inductor L on the left wire of the circuit and resistor R on the right wire of the circuit. The Current i of (0) equals I subscript s, is flowing through the inductor L in vertically upward direction at the beginning. The current flowing through the circuit is denoted by i, which changes with time. The flow of current i through the resistor R creates a voltage v across the resistor R with positive polarity at the upper end of the resistor R and negative polarity at the lower end. ">
            <a:extLst>
              <a:ext uri="{FF2B5EF4-FFF2-40B4-BE49-F238E27FC236}">
                <a16:creationId xmlns:a16="http://schemas.microsoft.com/office/drawing/2014/main" id="{33713B65-E528-4794-CB40-7D0F3971D4D4}"/>
              </a:ext>
            </a:extLst>
          </p:cNvPr>
          <p:cNvPicPr>
            <a:picLocks noChangeAspect="1" noChangeArrowheads="1"/>
          </p:cNvPicPr>
          <p:nvPr/>
        </p:nvPicPr>
        <p:blipFill>
          <a:blip r:embed="rId2"/>
          <a:srcRect/>
          <a:stretch/>
        </p:blipFill>
        <p:spPr bwMode="auto">
          <a:xfrm>
            <a:off x="1077117" y="1683710"/>
            <a:ext cx="2776538" cy="1426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Object 2" descr="K V L: L multiplied by StartFraction d i (t) over d t EndFraction plus R i (t) equals 0.&#10;">
            <a:extLst>
              <a:ext uri="{FF2B5EF4-FFF2-40B4-BE49-F238E27FC236}">
                <a16:creationId xmlns:a16="http://schemas.microsoft.com/office/drawing/2014/main" id="{4BB414A6-5E41-9AB8-D00B-53F0DBA95F4D}"/>
              </a:ext>
            </a:extLst>
          </p:cNvPr>
          <p:cNvGraphicFramePr>
            <a:graphicFrameLocks noChangeAspect="1"/>
          </p:cNvGraphicFramePr>
          <p:nvPr>
            <p:extLst>
              <p:ext uri="{D42A27DB-BD31-4B8C-83A1-F6EECF244321}">
                <p14:modId xmlns:p14="http://schemas.microsoft.com/office/powerpoint/2010/main" val="529398403"/>
              </p:ext>
            </p:extLst>
          </p:nvPr>
        </p:nvGraphicFramePr>
        <p:xfrm>
          <a:off x="4689692" y="2074718"/>
          <a:ext cx="3020579" cy="663864"/>
        </p:xfrm>
        <a:graphic>
          <a:graphicData uri="http://schemas.openxmlformats.org/presentationml/2006/ole">
            <mc:AlternateContent xmlns:mc="http://schemas.openxmlformats.org/markup-compatibility/2006">
              <mc:Choice xmlns:v="urn:schemas-microsoft-com:vml" Requires="v">
                <p:oleObj name="Equation" r:id="rId3" imgW="1790640" imgH="393480" progId="Equation.DSMT4">
                  <p:embed/>
                </p:oleObj>
              </mc:Choice>
              <mc:Fallback>
                <p:oleObj name="Equation" r:id="rId3" imgW="1790640" imgH="393480" progId="Equation.DSMT4">
                  <p:embed/>
                  <p:pic>
                    <p:nvPicPr>
                      <p:cNvPr id="6" name="Object 2"/>
                      <p:cNvPicPr>
                        <a:picLocks noChangeAspect="1" noChangeArrowheads="1"/>
                      </p:cNvPicPr>
                      <p:nvPr/>
                    </p:nvPicPr>
                    <p:blipFill>
                      <a:blip r:embed="rId4"/>
                      <a:srcRect/>
                      <a:stretch>
                        <a:fillRect/>
                      </a:stretch>
                    </p:blipFill>
                    <p:spPr bwMode="auto">
                      <a:xfrm>
                        <a:off x="4689692" y="2074718"/>
                        <a:ext cx="3020579" cy="6638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3586159"/>
            <a:ext cx="8232775" cy="2637064"/>
          </a:xfrm>
        </p:spPr>
        <p:txBody>
          <a:bodyPr wrap="square" lIns="0" tIns="18000" rIns="0" bIns="18000" anchor="ctr">
            <a:spAutoFit/>
          </a:bodyPr>
          <a:lstStyle/>
          <a:p>
            <a:pPr marL="342900" indent="-342900">
              <a:spcBef>
                <a:spcPts val="600"/>
              </a:spcBef>
            </a:pPr>
            <a:r>
              <a:rPr lang="en-US" sz="2400" noProof="0" dirty="0"/>
              <a:t>This equation is a</a:t>
            </a:r>
          </a:p>
          <a:p>
            <a:pPr marL="829818" lvl="1" indent="-342900"/>
            <a:r>
              <a:rPr lang="en-US" sz="2400" noProof="0" dirty="0"/>
              <a:t>First-order (the highest derivative is a first derivative)</a:t>
            </a:r>
          </a:p>
          <a:p>
            <a:pPr marL="829818" lvl="1" indent="-342900"/>
            <a:r>
              <a:rPr lang="en-US" sz="2400" noProof="0" dirty="0"/>
              <a:t>Homogeneous (the right-hand side is 0)</a:t>
            </a:r>
          </a:p>
          <a:p>
            <a:pPr marL="829818" lvl="1" indent="-342900"/>
            <a:r>
              <a:rPr lang="en-US" sz="2400" noProof="0" dirty="0"/>
              <a:t>Ordinary differential equation</a:t>
            </a:r>
          </a:p>
          <a:p>
            <a:pPr marL="829818" lvl="1" indent="-342900"/>
            <a:r>
              <a:rPr lang="en-US" sz="2400" noProof="0" dirty="0"/>
              <a:t>With constant coefficients</a:t>
            </a:r>
          </a:p>
          <a:p>
            <a:pPr marL="0" indent="0">
              <a:spcBef>
                <a:spcPts val="600"/>
              </a:spcBef>
              <a:buNone/>
            </a:pPr>
            <a:endParaRPr lang="en-US" sz="2400" noProof="0" dirty="0"/>
          </a:p>
        </p:txBody>
      </p:sp>
    </p:spTree>
    <p:extLst>
      <p:ext uri="{BB962C8B-B14F-4D97-AF65-F5344CB8AC3E}">
        <p14:creationId xmlns:p14="http://schemas.microsoft.com/office/powerpoint/2010/main" val="1074977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9762" y="220934"/>
            <a:ext cx="8229600" cy="1021237"/>
          </a:xfrm>
        </p:spPr>
        <p:txBody>
          <a:bodyPr/>
          <a:lstStyle/>
          <a:p>
            <a:r>
              <a:rPr lang="en-US" noProof="0" dirty="0"/>
              <a:t>Chapter 7 – </a:t>
            </a:r>
            <a:r>
              <a:rPr lang="en-US" i="1" spc="-400" noProof="0" dirty="0"/>
              <a:t>R </a:t>
            </a:r>
            <a:r>
              <a:rPr lang="en-US" i="1" noProof="0" dirty="0"/>
              <a:t>L</a:t>
            </a:r>
            <a:r>
              <a:rPr lang="en-US" noProof="0" dirty="0"/>
              <a:t> Natural Response      </a:t>
            </a:r>
            <a:r>
              <a:rPr lang="en-US" sz="2800" noProof="0" dirty="0"/>
              <a:t>(3 of 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38001"/>
            <a:ext cx="8229600" cy="1513679"/>
          </a:xfrm>
        </p:spPr>
        <p:txBody>
          <a:bodyPr wrap="square" lIns="0" tIns="18000" rIns="0" bIns="18000" anchor="ctr">
            <a:spAutoFit/>
          </a:bodyPr>
          <a:lstStyle/>
          <a:p>
            <a:pPr marL="0" indent="0">
              <a:spcBef>
                <a:spcPts val="600"/>
              </a:spcBef>
              <a:buNone/>
            </a:pPr>
            <a:r>
              <a:rPr lang="en-US" sz="2400" noProof="0" dirty="0"/>
              <a:t>The solution to the differential equation, repeated below, must be a function whose first-derivative has the same form as the function. Which one of these functions exhibits this behavior?</a:t>
            </a:r>
          </a:p>
        </p:txBody>
      </p:sp>
      <p:graphicFrame>
        <p:nvGraphicFramePr>
          <p:cNvPr id="2" name="Object 1" descr="K V L: L multiplied by StartFraction d i (t) over d t EndFraction plus R i (t) equals 0.&#10;">
            <a:extLst>
              <a:ext uri="{FF2B5EF4-FFF2-40B4-BE49-F238E27FC236}">
                <a16:creationId xmlns:a16="http://schemas.microsoft.com/office/drawing/2014/main" id="{14C70748-C40D-C1C2-C1AE-422C456BF102}"/>
              </a:ext>
            </a:extLst>
          </p:cNvPr>
          <p:cNvGraphicFramePr>
            <a:graphicFrameLocks noChangeAspect="1"/>
          </p:cNvGraphicFramePr>
          <p:nvPr>
            <p:extLst>
              <p:ext uri="{D42A27DB-BD31-4B8C-83A1-F6EECF244321}">
                <p14:modId xmlns:p14="http://schemas.microsoft.com/office/powerpoint/2010/main" val="408277281"/>
              </p:ext>
            </p:extLst>
          </p:nvPr>
        </p:nvGraphicFramePr>
        <p:xfrm>
          <a:off x="2901950" y="3101975"/>
          <a:ext cx="3322638" cy="730250"/>
        </p:xfrm>
        <a:graphic>
          <a:graphicData uri="http://schemas.openxmlformats.org/presentationml/2006/ole">
            <mc:AlternateContent xmlns:mc="http://schemas.openxmlformats.org/markup-compatibility/2006">
              <mc:Choice xmlns:v="urn:schemas-microsoft-com:vml" Requires="v">
                <p:oleObj name="Equation" r:id="rId2" imgW="1790640" imgH="393480" progId="Equation.DSMT4">
                  <p:embed/>
                </p:oleObj>
              </mc:Choice>
              <mc:Fallback>
                <p:oleObj name="Equation" r:id="rId2" imgW="1790640" imgH="393480" progId="Equation.DSMT4">
                  <p:embed/>
                  <p:pic>
                    <p:nvPicPr>
                      <p:cNvPr id="4" name="Object 3"/>
                      <p:cNvPicPr>
                        <a:picLocks noChangeAspect="1" noChangeArrowheads="1"/>
                      </p:cNvPicPr>
                      <p:nvPr/>
                    </p:nvPicPr>
                    <p:blipFill>
                      <a:blip r:embed="rId3"/>
                      <a:srcRect/>
                      <a:stretch>
                        <a:fillRect/>
                      </a:stretch>
                    </p:blipFill>
                    <p:spPr bwMode="auto">
                      <a:xfrm>
                        <a:off x="2901950" y="3101975"/>
                        <a:ext cx="332263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03337" y="4168449"/>
            <a:ext cx="35401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4" name="Object 3" descr="K sine omega t.&#10;">
            <a:extLst>
              <a:ext uri="{FF2B5EF4-FFF2-40B4-BE49-F238E27FC236}">
                <a16:creationId xmlns:a16="http://schemas.microsoft.com/office/drawing/2014/main" id="{583A8E9F-284F-C81F-19BF-900CE398D793}"/>
              </a:ext>
            </a:extLst>
          </p:cNvPr>
          <p:cNvGraphicFramePr>
            <a:graphicFrameLocks noChangeAspect="1"/>
          </p:cNvGraphicFramePr>
          <p:nvPr>
            <p:extLst>
              <p:ext uri="{D42A27DB-BD31-4B8C-83A1-F6EECF244321}">
                <p14:modId xmlns:p14="http://schemas.microsoft.com/office/powerpoint/2010/main" val="924329135"/>
              </p:ext>
            </p:extLst>
          </p:nvPr>
        </p:nvGraphicFramePr>
        <p:xfrm>
          <a:off x="1695450" y="4214813"/>
          <a:ext cx="1014413" cy="330200"/>
        </p:xfrm>
        <a:graphic>
          <a:graphicData uri="http://schemas.openxmlformats.org/presentationml/2006/ole">
            <mc:AlternateContent xmlns:mc="http://schemas.openxmlformats.org/markup-compatibility/2006">
              <mc:Choice xmlns:v="urn:schemas-microsoft-com:vml" Requires="v">
                <p:oleObj name="Equation" r:id="rId4" imgW="545760" imgH="177480" progId="Equation.DSMT4">
                  <p:embed/>
                </p:oleObj>
              </mc:Choice>
              <mc:Fallback>
                <p:oleObj name="Equation" r:id="rId4" imgW="545760" imgH="177480" progId="Equation.DSMT4">
                  <p:embed/>
                  <p:pic>
                    <p:nvPicPr>
                      <p:cNvPr id="2" name="Object 1">
                        <a:extLst>
                          <a:ext uri="{FF2B5EF4-FFF2-40B4-BE49-F238E27FC236}">
                            <a16:creationId xmlns:a16="http://schemas.microsoft.com/office/drawing/2014/main" id="{14C70748-C40D-C1C2-C1AE-422C456BF102}"/>
                          </a:ext>
                        </a:extLst>
                      </p:cNvPr>
                      <p:cNvPicPr>
                        <a:picLocks noChangeAspect="1" noChangeArrowheads="1"/>
                      </p:cNvPicPr>
                      <p:nvPr/>
                    </p:nvPicPr>
                    <p:blipFill>
                      <a:blip r:embed="rId5"/>
                      <a:srcRect/>
                      <a:stretch>
                        <a:fillRect/>
                      </a:stretch>
                    </p:blipFill>
                    <p:spPr bwMode="auto">
                      <a:xfrm>
                        <a:off x="1695450" y="4214813"/>
                        <a:ext cx="10144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03337" y="4664096"/>
            <a:ext cx="40005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5" name="Object 4" descr="K e to the negative a t power.&#10;">
            <a:extLst>
              <a:ext uri="{FF2B5EF4-FFF2-40B4-BE49-F238E27FC236}">
                <a16:creationId xmlns:a16="http://schemas.microsoft.com/office/drawing/2014/main" id="{295F9162-108E-9018-AC82-8B6013BB5DF2}"/>
              </a:ext>
            </a:extLst>
          </p:cNvPr>
          <p:cNvGraphicFramePr>
            <a:graphicFrameLocks noChangeAspect="1"/>
          </p:cNvGraphicFramePr>
          <p:nvPr>
            <p:extLst>
              <p:ext uri="{D42A27DB-BD31-4B8C-83A1-F6EECF244321}">
                <p14:modId xmlns:p14="http://schemas.microsoft.com/office/powerpoint/2010/main" val="1074490121"/>
              </p:ext>
            </p:extLst>
          </p:nvPr>
        </p:nvGraphicFramePr>
        <p:xfrm>
          <a:off x="1695449" y="4649448"/>
          <a:ext cx="684212" cy="377825"/>
        </p:xfrm>
        <a:graphic>
          <a:graphicData uri="http://schemas.openxmlformats.org/presentationml/2006/ole">
            <mc:AlternateContent xmlns:mc="http://schemas.openxmlformats.org/markup-compatibility/2006">
              <mc:Choice xmlns:v="urn:schemas-microsoft-com:vml" Requires="v">
                <p:oleObj name="Equation" r:id="rId6" imgW="368280" imgH="203040" progId="Equation.DSMT4">
                  <p:embed/>
                </p:oleObj>
              </mc:Choice>
              <mc:Fallback>
                <p:oleObj name="Equation" r:id="rId6" imgW="368280" imgH="203040" progId="Equation.DSMT4">
                  <p:embed/>
                  <p:pic>
                    <p:nvPicPr>
                      <p:cNvPr id="4" name="Object 3">
                        <a:extLst>
                          <a:ext uri="{FF2B5EF4-FFF2-40B4-BE49-F238E27FC236}">
                            <a16:creationId xmlns:a16="http://schemas.microsoft.com/office/drawing/2014/main" id="{583A8E9F-284F-C81F-19BF-900CE398D793}"/>
                          </a:ext>
                        </a:extLst>
                      </p:cNvPr>
                      <p:cNvPicPr>
                        <a:picLocks noChangeAspect="1" noChangeArrowheads="1"/>
                      </p:cNvPicPr>
                      <p:nvPr/>
                    </p:nvPicPr>
                    <p:blipFill>
                      <a:blip r:embed="rId7"/>
                      <a:srcRect/>
                      <a:stretch>
                        <a:fillRect/>
                      </a:stretch>
                    </p:blipFill>
                    <p:spPr bwMode="auto">
                      <a:xfrm>
                        <a:off x="1695449" y="4649448"/>
                        <a:ext cx="68421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03336" y="5163759"/>
            <a:ext cx="39211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26" name="Object 25" descr="K t squared.&#10;">
            <a:extLst>
              <a:ext uri="{FF2B5EF4-FFF2-40B4-BE49-F238E27FC236}">
                <a16:creationId xmlns:a16="http://schemas.microsoft.com/office/drawing/2014/main" id="{92491AD0-52C8-BA31-A23E-3E1F93722E47}"/>
              </a:ext>
            </a:extLst>
          </p:cNvPr>
          <p:cNvGraphicFramePr>
            <a:graphicFrameLocks noChangeAspect="1"/>
          </p:cNvGraphicFramePr>
          <p:nvPr>
            <p:extLst>
              <p:ext uri="{D42A27DB-BD31-4B8C-83A1-F6EECF244321}">
                <p14:modId xmlns:p14="http://schemas.microsoft.com/office/powerpoint/2010/main" val="405193091"/>
              </p:ext>
            </p:extLst>
          </p:nvPr>
        </p:nvGraphicFramePr>
        <p:xfrm>
          <a:off x="1718683" y="5145088"/>
          <a:ext cx="471487" cy="377825"/>
        </p:xfrm>
        <a:graphic>
          <a:graphicData uri="http://schemas.openxmlformats.org/presentationml/2006/ole">
            <mc:AlternateContent xmlns:mc="http://schemas.openxmlformats.org/markup-compatibility/2006">
              <mc:Choice xmlns:v="urn:schemas-microsoft-com:vml" Requires="v">
                <p:oleObj name="Equation" r:id="rId8" imgW="253800" imgH="203040" progId="Equation.DSMT4">
                  <p:embed/>
                </p:oleObj>
              </mc:Choice>
              <mc:Fallback>
                <p:oleObj name="Equation" r:id="rId8" imgW="253800" imgH="203040" progId="Equation.DSMT4">
                  <p:embed/>
                  <p:pic>
                    <p:nvPicPr>
                      <p:cNvPr id="5" name="Object 4">
                        <a:extLst>
                          <a:ext uri="{FF2B5EF4-FFF2-40B4-BE49-F238E27FC236}">
                            <a16:creationId xmlns:a16="http://schemas.microsoft.com/office/drawing/2014/main" id="{295F9162-108E-9018-AC82-8B6013BB5DF2}"/>
                          </a:ext>
                        </a:extLst>
                      </p:cNvPr>
                      <p:cNvPicPr>
                        <a:picLocks noChangeAspect="1" noChangeArrowheads="1"/>
                      </p:cNvPicPr>
                      <p:nvPr/>
                    </p:nvPicPr>
                    <p:blipFill>
                      <a:blip r:embed="rId9"/>
                      <a:srcRect/>
                      <a:stretch>
                        <a:fillRect/>
                      </a:stretch>
                    </p:blipFill>
                    <p:spPr bwMode="auto">
                      <a:xfrm>
                        <a:off x="1718683" y="5145088"/>
                        <a:ext cx="471487"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13519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9762" y="220934"/>
            <a:ext cx="8229600" cy="1021237"/>
          </a:xfrm>
        </p:spPr>
        <p:txBody>
          <a:bodyPr/>
          <a:lstStyle/>
          <a:p>
            <a:r>
              <a:rPr lang="en-US" noProof="0" dirty="0"/>
              <a:t>Chapter 7 – </a:t>
            </a:r>
            <a:r>
              <a:rPr lang="en-US" i="1" spc="-400" noProof="0" dirty="0"/>
              <a:t>R </a:t>
            </a:r>
            <a:r>
              <a:rPr lang="en-US" i="1" noProof="0" dirty="0"/>
              <a:t>L</a:t>
            </a:r>
            <a:r>
              <a:rPr lang="en-US" noProof="0" dirty="0"/>
              <a:t> Natural Response      </a:t>
            </a:r>
            <a:r>
              <a:rPr lang="en-US" sz="2800" noProof="0" dirty="0"/>
              <a:t>(3 of 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38001"/>
            <a:ext cx="8229600" cy="1513679"/>
          </a:xfrm>
        </p:spPr>
        <p:txBody>
          <a:bodyPr wrap="square" lIns="0" tIns="18000" rIns="0" bIns="18000" anchor="ctr">
            <a:spAutoFit/>
          </a:bodyPr>
          <a:lstStyle/>
          <a:p>
            <a:pPr marL="0" indent="0">
              <a:spcBef>
                <a:spcPts val="600"/>
              </a:spcBef>
              <a:buNone/>
            </a:pPr>
            <a:r>
              <a:rPr lang="en-US" sz="2400" noProof="0" dirty="0"/>
              <a:t>The solution to the differential equation, repeated below, must be a function whose first-derivative has the same form as the function. Which one of these functions exhibits this behavior?</a:t>
            </a:r>
          </a:p>
        </p:txBody>
      </p:sp>
      <p:graphicFrame>
        <p:nvGraphicFramePr>
          <p:cNvPr id="2" name="Object 1" descr="K V L: L multiplied by StartFraction d i (t) over d t EndFraction plus R i (t) equals 0.&#10;">
            <a:extLst>
              <a:ext uri="{FF2B5EF4-FFF2-40B4-BE49-F238E27FC236}">
                <a16:creationId xmlns:a16="http://schemas.microsoft.com/office/drawing/2014/main" id="{14C70748-C40D-C1C2-C1AE-422C456BF102}"/>
              </a:ext>
            </a:extLst>
          </p:cNvPr>
          <p:cNvGraphicFramePr>
            <a:graphicFrameLocks noChangeAspect="1"/>
          </p:cNvGraphicFramePr>
          <p:nvPr/>
        </p:nvGraphicFramePr>
        <p:xfrm>
          <a:off x="2901950" y="3101975"/>
          <a:ext cx="3322638" cy="730250"/>
        </p:xfrm>
        <a:graphic>
          <a:graphicData uri="http://schemas.openxmlformats.org/presentationml/2006/ole">
            <mc:AlternateContent xmlns:mc="http://schemas.openxmlformats.org/markup-compatibility/2006">
              <mc:Choice xmlns:v="urn:schemas-microsoft-com:vml" Requires="v">
                <p:oleObj name="Equation" r:id="rId2" imgW="1790640" imgH="393480" progId="Equation.DSMT4">
                  <p:embed/>
                </p:oleObj>
              </mc:Choice>
              <mc:Fallback>
                <p:oleObj name="Equation" r:id="rId2" imgW="1790640" imgH="393480" progId="Equation.DSMT4">
                  <p:embed/>
                  <p:pic>
                    <p:nvPicPr>
                      <p:cNvPr id="2" name="Object 1" descr="K V L: L multiplied by StartFraction d i (t) over d t EndFraction plus R i (t) equals 0.&#10;">
                        <a:extLst>
                          <a:ext uri="{FF2B5EF4-FFF2-40B4-BE49-F238E27FC236}">
                            <a16:creationId xmlns:a16="http://schemas.microsoft.com/office/drawing/2014/main" id="{14C70748-C40D-C1C2-C1AE-422C456BF102}"/>
                          </a:ext>
                        </a:extLst>
                      </p:cNvPr>
                      <p:cNvPicPr>
                        <a:picLocks noChangeAspect="1" noChangeArrowheads="1"/>
                      </p:cNvPicPr>
                      <p:nvPr/>
                    </p:nvPicPr>
                    <p:blipFill>
                      <a:blip r:embed="rId3"/>
                      <a:srcRect/>
                      <a:stretch>
                        <a:fillRect/>
                      </a:stretch>
                    </p:blipFill>
                    <p:spPr bwMode="auto">
                      <a:xfrm>
                        <a:off x="2901950" y="3101975"/>
                        <a:ext cx="332263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5" descr="Cross mark">
            <a:extLst>
              <a:ext uri="{FF2B5EF4-FFF2-40B4-BE49-F238E27FC236}">
                <a16:creationId xmlns:a16="http://schemas.microsoft.com/office/drawing/2014/main" id="{81BE9C89-3E3F-DF98-D959-ACB4AB39820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0117" y="4252662"/>
            <a:ext cx="258274" cy="237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03337" y="4168449"/>
            <a:ext cx="354013"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endParaRPr lang="en-US" sz="2400" noProof="0" dirty="0"/>
          </a:p>
        </p:txBody>
      </p:sp>
      <p:graphicFrame>
        <p:nvGraphicFramePr>
          <p:cNvPr id="4" name="Object 3" descr="K sine omega t.&#10;">
            <a:extLst>
              <a:ext uri="{FF2B5EF4-FFF2-40B4-BE49-F238E27FC236}">
                <a16:creationId xmlns:a16="http://schemas.microsoft.com/office/drawing/2014/main" id="{583A8E9F-284F-C81F-19BF-900CE398D793}"/>
              </a:ext>
            </a:extLst>
          </p:cNvPr>
          <p:cNvGraphicFramePr>
            <a:graphicFrameLocks noChangeAspect="1"/>
          </p:cNvGraphicFramePr>
          <p:nvPr/>
        </p:nvGraphicFramePr>
        <p:xfrm>
          <a:off x="1695450" y="4214813"/>
          <a:ext cx="1014413" cy="330200"/>
        </p:xfrm>
        <a:graphic>
          <a:graphicData uri="http://schemas.openxmlformats.org/presentationml/2006/ole">
            <mc:AlternateContent xmlns:mc="http://schemas.openxmlformats.org/markup-compatibility/2006">
              <mc:Choice xmlns:v="urn:schemas-microsoft-com:vml" Requires="v">
                <p:oleObj name="Equation" r:id="rId5" imgW="545760" imgH="177480" progId="Equation.DSMT4">
                  <p:embed/>
                </p:oleObj>
              </mc:Choice>
              <mc:Fallback>
                <p:oleObj name="Equation" r:id="rId5" imgW="545760" imgH="177480" progId="Equation.DSMT4">
                  <p:embed/>
                  <p:pic>
                    <p:nvPicPr>
                      <p:cNvPr id="4" name="Object 3" descr="K sine omega t.&#10;">
                        <a:extLst>
                          <a:ext uri="{FF2B5EF4-FFF2-40B4-BE49-F238E27FC236}">
                            <a16:creationId xmlns:a16="http://schemas.microsoft.com/office/drawing/2014/main" id="{583A8E9F-284F-C81F-19BF-900CE398D793}"/>
                          </a:ext>
                        </a:extLst>
                      </p:cNvPr>
                      <p:cNvPicPr>
                        <a:picLocks noChangeAspect="1" noChangeArrowheads="1"/>
                      </p:cNvPicPr>
                      <p:nvPr/>
                    </p:nvPicPr>
                    <p:blipFill>
                      <a:blip r:embed="rId6"/>
                      <a:srcRect/>
                      <a:stretch>
                        <a:fillRect/>
                      </a:stretch>
                    </p:blipFill>
                    <p:spPr bwMode="auto">
                      <a:xfrm>
                        <a:off x="1695450" y="4214813"/>
                        <a:ext cx="10144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5" name="Picture 2" descr="Check mark">
            <a:extLst>
              <a:ext uri="{FF2B5EF4-FFF2-40B4-BE49-F238E27FC236}">
                <a16:creationId xmlns:a16="http://schemas.microsoft.com/office/drawing/2014/main" id="{46EED899-F3BE-2F15-66B9-2FDEA6202B1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8018" y="4715241"/>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03337" y="4664096"/>
            <a:ext cx="40005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5" name="Object 4" descr="K e to the negative a t power.&#10;">
            <a:extLst>
              <a:ext uri="{FF2B5EF4-FFF2-40B4-BE49-F238E27FC236}">
                <a16:creationId xmlns:a16="http://schemas.microsoft.com/office/drawing/2014/main" id="{295F9162-108E-9018-AC82-8B6013BB5DF2}"/>
              </a:ext>
            </a:extLst>
          </p:cNvPr>
          <p:cNvGraphicFramePr>
            <a:graphicFrameLocks noChangeAspect="1"/>
          </p:cNvGraphicFramePr>
          <p:nvPr/>
        </p:nvGraphicFramePr>
        <p:xfrm>
          <a:off x="1695449" y="4649448"/>
          <a:ext cx="684212" cy="377825"/>
        </p:xfrm>
        <a:graphic>
          <a:graphicData uri="http://schemas.openxmlformats.org/presentationml/2006/ole">
            <mc:AlternateContent xmlns:mc="http://schemas.openxmlformats.org/markup-compatibility/2006">
              <mc:Choice xmlns:v="urn:schemas-microsoft-com:vml" Requires="v">
                <p:oleObj name="Equation" r:id="rId8" imgW="368280" imgH="203040" progId="Equation.DSMT4">
                  <p:embed/>
                </p:oleObj>
              </mc:Choice>
              <mc:Fallback>
                <p:oleObj name="Equation" r:id="rId8" imgW="368280" imgH="203040" progId="Equation.DSMT4">
                  <p:embed/>
                  <p:pic>
                    <p:nvPicPr>
                      <p:cNvPr id="5" name="Object 4" descr="K e to the negative a t power.&#10;">
                        <a:extLst>
                          <a:ext uri="{FF2B5EF4-FFF2-40B4-BE49-F238E27FC236}">
                            <a16:creationId xmlns:a16="http://schemas.microsoft.com/office/drawing/2014/main" id="{295F9162-108E-9018-AC82-8B6013BB5DF2}"/>
                          </a:ext>
                        </a:extLst>
                      </p:cNvPr>
                      <p:cNvPicPr>
                        <a:picLocks noChangeAspect="1" noChangeArrowheads="1"/>
                      </p:cNvPicPr>
                      <p:nvPr/>
                    </p:nvPicPr>
                    <p:blipFill>
                      <a:blip r:embed="rId9"/>
                      <a:srcRect/>
                      <a:stretch>
                        <a:fillRect/>
                      </a:stretch>
                    </p:blipFill>
                    <p:spPr bwMode="auto">
                      <a:xfrm>
                        <a:off x="1695449" y="4649448"/>
                        <a:ext cx="68421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7" name="Picture 5" descr="Cross mark">
            <a:extLst>
              <a:ext uri="{FF2B5EF4-FFF2-40B4-BE49-F238E27FC236}">
                <a16:creationId xmlns:a16="http://schemas.microsoft.com/office/drawing/2014/main" id="{7CCEF550-8ABA-2BB9-79F2-41DA5D47ED2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8018" y="520425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03336" y="5163759"/>
            <a:ext cx="39211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26" name="Object 25" descr="K t squared.&#10;">
            <a:extLst>
              <a:ext uri="{FF2B5EF4-FFF2-40B4-BE49-F238E27FC236}">
                <a16:creationId xmlns:a16="http://schemas.microsoft.com/office/drawing/2014/main" id="{92491AD0-52C8-BA31-A23E-3E1F93722E47}"/>
              </a:ext>
            </a:extLst>
          </p:cNvPr>
          <p:cNvGraphicFramePr>
            <a:graphicFrameLocks noChangeAspect="1"/>
          </p:cNvGraphicFramePr>
          <p:nvPr/>
        </p:nvGraphicFramePr>
        <p:xfrm>
          <a:off x="1718683" y="5145088"/>
          <a:ext cx="471487" cy="377825"/>
        </p:xfrm>
        <a:graphic>
          <a:graphicData uri="http://schemas.openxmlformats.org/presentationml/2006/ole">
            <mc:AlternateContent xmlns:mc="http://schemas.openxmlformats.org/markup-compatibility/2006">
              <mc:Choice xmlns:v="urn:schemas-microsoft-com:vml" Requires="v">
                <p:oleObj name="Equation" r:id="rId10" imgW="253800" imgH="203040" progId="Equation.DSMT4">
                  <p:embed/>
                </p:oleObj>
              </mc:Choice>
              <mc:Fallback>
                <p:oleObj name="Equation" r:id="rId10" imgW="253800" imgH="203040" progId="Equation.DSMT4">
                  <p:embed/>
                  <p:pic>
                    <p:nvPicPr>
                      <p:cNvPr id="26" name="Object 25" descr="K t squared.&#10;">
                        <a:extLst>
                          <a:ext uri="{FF2B5EF4-FFF2-40B4-BE49-F238E27FC236}">
                            <a16:creationId xmlns:a16="http://schemas.microsoft.com/office/drawing/2014/main" id="{92491AD0-52C8-BA31-A23E-3E1F93722E47}"/>
                          </a:ext>
                        </a:extLst>
                      </p:cNvPr>
                      <p:cNvPicPr>
                        <a:picLocks noChangeAspect="1" noChangeArrowheads="1"/>
                      </p:cNvPicPr>
                      <p:nvPr/>
                    </p:nvPicPr>
                    <p:blipFill>
                      <a:blip r:embed="rId11"/>
                      <a:srcRect/>
                      <a:stretch>
                        <a:fillRect/>
                      </a:stretch>
                    </p:blipFill>
                    <p:spPr bwMode="auto">
                      <a:xfrm>
                        <a:off x="1718683" y="5145088"/>
                        <a:ext cx="471487"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03499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97"/>
            <a:ext cx="8229600" cy="1021237"/>
          </a:xfrm>
        </p:spPr>
        <p:txBody>
          <a:bodyPr/>
          <a:lstStyle/>
          <a:p>
            <a:r>
              <a:rPr lang="en-US" noProof="0" dirty="0"/>
              <a:t>Chapter 7 – </a:t>
            </a:r>
            <a:r>
              <a:rPr lang="en-US" i="1" spc="-350" noProof="0" dirty="0"/>
              <a:t>R </a:t>
            </a:r>
            <a:r>
              <a:rPr lang="en-US" i="1" noProof="0" dirty="0"/>
              <a:t>L </a:t>
            </a:r>
            <a:r>
              <a:rPr lang="en-US" noProof="0" dirty="0"/>
              <a:t>Natural Response      </a:t>
            </a:r>
            <a:r>
              <a:rPr lang="en-US" sz="2800" noProof="0" dirty="0"/>
              <a:t>(4 of 7)</a:t>
            </a:r>
          </a:p>
        </p:txBody>
      </p:sp>
      <p:pic>
        <p:nvPicPr>
          <p:cNvPr id="25" name="Picture 8" descr="A circuit diagram shows an inductor L on the left wire of the circuit and resistor R on the right wire of the circuit. The Current i of (0) equals I subscript s, is flowing through the inductor L in vertically upward direction at the beginning. The current flowing through the circuit is denoted by i, which changes with time. The flow of current i through the resistor R creates a voltage v across the resistor R with positive polarity at the upper end of the resistor R and negative polarity at the lower end. ">
            <a:extLst>
              <a:ext uri="{FF2B5EF4-FFF2-40B4-BE49-F238E27FC236}">
                <a16:creationId xmlns:a16="http://schemas.microsoft.com/office/drawing/2014/main" id="{32B4C427-A6F3-40C5-BE51-943EAD6976FE}"/>
              </a:ext>
            </a:extLst>
          </p:cNvPr>
          <p:cNvPicPr>
            <a:picLocks noChangeAspect="1" noChangeArrowheads="1"/>
          </p:cNvPicPr>
          <p:nvPr/>
        </p:nvPicPr>
        <p:blipFill>
          <a:blip r:embed="rId3"/>
          <a:srcRect/>
          <a:stretch/>
        </p:blipFill>
        <p:spPr bwMode="auto">
          <a:xfrm>
            <a:off x="1205273" y="1438012"/>
            <a:ext cx="2174154" cy="1117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Object 2" descr="K V L: L multiplied by StartFraction d i (t) over d t EndFraction plus R i (t) equals 0.&#10;">
            <a:extLst>
              <a:ext uri="{FF2B5EF4-FFF2-40B4-BE49-F238E27FC236}">
                <a16:creationId xmlns:a16="http://schemas.microsoft.com/office/drawing/2014/main" id="{57AC3628-F8DB-075D-9275-333BA882C7D5}"/>
              </a:ext>
            </a:extLst>
          </p:cNvPr>
          <p:cNvGraphicFramePr>
            <a:graphicFrameLocks noChangeAspect="1"/>
          </p:cNvGraphicFramePr>
          <p:nvPr>
            <p:extLst>
              <p:ext uri="{D42A27DB-BD31-4B8C-83A1-F6EECF244321}">
                <p14:modId xmlns:p14="http://schemas.microsoft.com/office/powerpoint/2010/main" val="773803985"/>
              </p:ext>
            </p:extLst>
          </p:nvPr>
        </p:nvGraphicFramePr>
        <p:xfrm>
          <a:off x="4710149" y="1620424"/>
          <a:ext cx="2496347" cy="548648"/>
        </p:xfrm>
        <a:graphic>
          <a:graphicData uri="http://schemas.openxmlformats.org/presentationml/2006/ole">
            <mc:AlternateContent xmlns:mc="http://schemas.openxmlformats.org/markup-compatibility/2006">
              <mc:Choice xmlns:v="urn:schemas-microsoft-com:vml" Requires="v">
                <p:oleObj name="Equation" r:id="rId4" imgW="1790640" imgH="393480" progId="Equation.DSMT4">
                  <p:embed/>
                </p:oleObj>
              </mc:Choice>
              <mc:Fallback>
                <p:oleObj name="Equation" r:id="rId4" imgW="1790640" imgH="393480" progId="Equation.DSMT4">
                  <p:embed/>
                  <p:pic>
                    <p:nvPicPr>
                      <p:cNvPr id="2" name="Object 1" descr="K V L: L multiplied by StartFraction d i (t) over d t EndFraction plus R i (t) equals 0.&#10;">
                        <a:extLst>
                          <a:ext uri="{FF2B5EF4-FFF2-40B4-BE49-F238E27FC236}">
                            <a16:creationId xmlns:a16="http://schemas.microsoft.com/office/drawing/2014/main" id="{1BD9C984-3959-5C45-424E-D333253E3D5C}"/>
                          </a:ext>
                        </a:extLst>
                      </p:cNvPr>
                      <p:cNvPicPr>
                        <a:picLocks noChangeAspect="1" noChangeArrowheads="1"/>
                      </p:cNvPicPr>
                      <p:nvPr/>
                    </p:nvPicPr>
                    <p:blipFill>
                      <a:blip r:embed="rId5"/>
                      <a:srcRect/>
                      <a:stretch>
                        <a:fillRect/>
                      </a:stretch>
                    </p:blipFill>
                    <p:spPr bwMode="auto">
                      <a:xfrm>
                        <a:off x="4710149" y="1620424"/>
                        <a:ext cx="2496347" cy="54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205273" y="2755774"/>
            <a:ext cx="449356" cy="313350"/>
          </a:xfrm>
        </p:spPr>
        <p:txBody>
          <a:bodyPr wrap="square" lIns="0" tIns="18000" rIns="0" bIns="18000" anchor="ctr">
            <a:spAutoFit/>
          </a:bodyPr>
          <a:lstStyle/>
          <a:p>
            <a:pPr marL="0" indent="0">
              <a:spcBef>
                <a:spcPts val="600"/>
              </a:spcBef>
              <a:buNone/>
            </a:pPr>
            <a:r>
              <a:rPr lang="en-US" sz="1800" noProof="0" dirty="0"/>
              <a:t>Let</a:t>
            </a:r>
          </a:p>
        </p:txBody>
      </p:sp>
      <p:graphicFrame>
        <p:nvGraphicFramePr>
          <p:cNvPr id="27" name="Object 26" descr="i (t) equals e to the negative a t power.&#10;">
            <a:extLst>
              <a:ext uri="{FF2B5EF4-FFF2-40B4-BE49-F238E27FC236}">
                <a16:creationId xmlns:a16="http://schemas.microsoft.com/office/drawing/2014/main" id="{91537395-6BD2-4DCD-A0DA-0475FC6D7077}"/>
              </a:ext>
            </a:extLst>
          </p:cNvPr>
          <p:cNvGraphicFramePr>
            <a:graphicFrameLocks noChangeAspect="1"/>
          </p:cNvGraphicFramePr>
          <p:nvPr>
            <p:extLst>
              <p:ext uri="{D42A27DB-BD31-4B8C-83A1-F6EECF244321}">
                <p14:modId xmlns:p14="http://schemas.microsoft.com/office/powerpoint/2010/main" val="2737914762"/>
              </p:ext>
            </p:extLst>
          </p:nvPr>
        </p:nvGraphicFramePr>
        <p:xfrm>
          <a:off x="1934176" y="2757487"/>
          <a:ext cx="949614" cy="342035"/>
        </p:xfrm>
        <a:graphic>
          <a:graphicData uri="http://schemas.openxmlformats.org/presentationml/2006/ole">
            <mc:AlternateContent xmlns:mc="http://schemas.openxmlformats.org/markup-compatibility/2006">
              <mc:Choice xmlns:v="urn:schemas-microsoft-com:vml" Requires="v">
                <p:oleObj name="Equation" r:id="rId6" imgW="634680" imgH="228600" progId="Equation.DSMT4">
                  <p:embed/>
                </p:oleObj>
              </mc:Choice>
              <mc:Fallback>
                <p:oleObj name="Equation" r:id="rId6" imgW="634680" imgH="228600" progId="Equation.DSMT4">
                  <p:embed/>
                  <p:pic>
                    <p:nvPicPr>
                      <p:cNvPr id="4" name="Object 3">
                        <a:extLst>
                          <a:ext uri="{FF2B5EF4-FFF2-40B4-BE49-F238E27FC236}">
                            <a16:creationId xmlns:a16="http://schemas.microsoft.com/office/drawing/2014/main" id="{CA2A7C7D-E65C-3C01-F20D-746717E227CD}"/>
                          </a:ext>
                        </a:extLst>
                      </p:cNvPr>
                      <p:cNvPicPr>
                        <a:picLocks noChangeAspect="1" noChangeArrowheads="1"/>
                      </p:cNvPicPr>
                      <p:nvPr/>
                    </p:nvPicPr>
                    <p:blipFill>
                      <a:blip r:embed="rId7"/>
                      <a:srcRect/>
                      <a:stretch>
                        <a:fillRect/>
                      </a:stretch>
                    </p:blipFill>
                    <p:spPr bwMode="auto">
                      <a:xfrm>
                        <a:off x="1934176" y="2757487"/>
                        <a:ext cx="949614" cy="3420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3450293" y="2771829"/>
            <a:ext cx="422461" cy="313350"/>
          </a:xfrm>
        </p:spPr>
        <p:txBody>
          <a:bodyPr wrap="square" lIns="0" tIns="18000" rIns="0" bIns="18000" anchor="ctr">
            <a:spAutoFit/>
          </a:bodyPr>
          <a:lstStyle/>
          <a:p>
            <a:pPr marL="0" indent="0">
              <a:spcBef>
                <a:spcPts val="600"/>
              </a:spcBef>
              <a:buNone/>
            </a:pPr>
            <a:r>
              <a:rPr lang="en-US" sz="1800" noProof="0" dirty="0"/>
              <a:t>and</a:t>
            </a:r>
          </a:p>
        </p:txBody>
      </p:sp>
      <p:graphicFrame>
        <p:nvGraphicFramePr>
          <p:cNvPr id="28" name="Object 27" descr="StartFraction d i (t) over d t EndFraction equals negative a e to the negative a t power.&#10;">
            <a:extLst>
              <a:ext uri="{FF2B5EF4-FFF2-40B4-BE49-F238E27FC236}">
                <a16:creationId xmlns:a16="http://schemas.microsoft.com/office/drawing/2014/main" id="{7E834502-E0CA-4818-A324-35E0C4F0A698}"/>
              </a:ext>
            </a:extLst>
          </p:cNvPr>
          <p:cNvGraphicFramePr>
            <a:graphicFrameLocks noChangeAspect="1"/>
          </p:cNvGraphicFramePr>
          <p:nvPr>
            <p:extLst>
              <p:ext uri="{D42A27DB-BD31-4B8C-83A1-F6EECF244321}">
                <p14:modId xmlns:p14="http://schemas.microsoft.com/office/powerpoint/2010/main" val="1626468639"/>
              </p:ext>
            </p:extLst>
          </p:nvPr>
        </p:nvGraphicFramePr>
        <p:xfrm>
          <a:off x="4492625" y="2634095"/>
          <a:ext cx="1366694" cy="588818"/>
        </p:xfrm>
        <a:graphic>
          <a:graphicData uri="http://schemas.openxmlformats.org/presentationml/2006/ole">
            <mc:AlternateContent xmlns:mc="http://schemas.openxmlformats.org/markup-compatibility/2006">
              <mc:Choice xmlns:v="urn:schemas-microsoft-com:vml" Requires="v">
                <p:oleObj name="Equation" r:id="rId8" imgW="914400" imgH="393480" progId="Equation.DSMT4">
                  <p:embed/>
                </p:oleObj>
              </mc:Choice>
              <mc:Fallback>
                <p:oleObj name="Equation" r:id="rId8" imgW="914400" imgH="393480" progId="Equation.DSMT4">
                  <p:embed/>
                  <p:pic>
                    <p:nvPicPr>
                      <p:cNvPr id="27" name="Object 26">
                        <a:extLst>
                          <a:ext uri="{FF2B5EF4-FFF2-40B4-BE49-F238E27FC236}">
                            <a16:creationId xmlns:a16="http://schemas.microsoft.com/office/drawing/2014/main" id="{91537395-6BD2-4DCD-A0DA-0475FC6D7077}"/>
                          </a:ext>
                        </a:extLst>
                      </p:cNvPr>
                      <p:cNvPicPr>
                        <a:picLocks noChangeAspect="1" noChangeArrowheads="1"/>
                      </p:cNvPicPr>
                      <p:nvPr/>
                    </p:nvPicPr>
                    <p:blipFill>
                      <a:blip r:embed="rId9"/>
                      <a:srcRect/>
                      <a:stretch>
                        <a:fillRect/>
                      </a:stretch>
                    </p:blipFill>
                    <p:spPr bwMode="auto">
                      <a:xfrm>
                        <a:off x="4492625" y="2634095"/>
                        <a:ext cx="1366694" cy="588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205273" y="3302222"/>
            <a:ext cx="1292038" cy="313350"/>
          </a:xfrm>
        </p:spPr>
        <p:txBody>
          <a:bodyPr wrap="square" lIns="0" tIns="18000" rIns="0" bIns="18000" anchor="ctr">
            <a:spAutoFit/>
          </a:bodyPr>
          <a:lstStyle/>
          <a:p>
            <a:pPr marL="0" indent="0">
              <a:spcBef>
                <a:spcPts val="600"/>
              </a:spcBef>
              <a:buNone/>
            </a:pPr>
            <a:r>
              <a:rPr lang="en-US" sz="1800" noProof="0" dirty="0"/>
              <a:t>Substituting,</a:t>
            </a:r>
          </a:p>
        </p:txBody>
      </p:sp>
      <p:graphicFrame>
        <p:nvGraphicFramePr>
          <p:cNvPr id="29" name="Object 28" descr="L OpenParenthesis negative a e to the negative a t power CloseParenthesis baseline plus R e to the negative a t power baseline equals 0.&#10;">
            <a:extLst>
              <a:ext uri="{FF2B5EF4-FFF2-40B4-BE49-F238E27FC236}">
                <a16:creationId xmlns:a16="http://schemas.microsoft.com/office/drawing/2014/main" id="{52AABAF7-1629-4E3A-846C-DA3EB56842C6}"/>
              </a:ext>
            </a:extLst>
          </p:cNvPr>
          <p:cNvGraphicFramePr>
            <a:graphicFrameLocks noChangeAspect="1"/>
          </p:cNvGraphicFramePr>
          <p:nvPr>
            <p:extLst>
              <p:ext uri="{D42A27DB-BD31-4B8C-83A1-F6EECF244321}">
                <p14:modId xmlns:p14="http://schemas.microsoft.com/office/powerpoint/2010/main" val="2502636848"/>
              </p:ext>
            </p:extLst>
          </p:nvPr>
        </p:nvGraphicFramePr>
        <p:xfrm>
          <a:off x="2884488" y="3290888"/>
          <a:ext cx="2106612" cy="341312"/>
        </p:xfrm>
        <a:graphic>
          <a:graphicData uri="http://schemas.openxmlformats.org/presentationml/2006/ole">
            <mc:AlternateContent xmlns:mc="http://schemas.openxmlformats.org/markup-compatibility/2006">
              <mc:Choice xmlns:v="urn:schemas-microsoft-com:vml" Requires="v">
                <p:oleObj name="Equation" r:id="rId10" imgW="1409400" imgH="228600" progId="Equation.DSMT4">
                  <p:embed/>
                </p:oleObj>
              </mc:Choice>
              <mc:Fallback>
                <p:oleObj name="Equation" r:id="rId10" imgW="1409400" imgH="228600" progId="Equation.DSMT4">
                  <p:embed/>
                  <p:pic>
                    <p:nvPicPr>
                      <p:cNvPr id="5" name="Object 4">
                        <a:extLst>
                          <a:ext uri="{FF2B5EF4-FFF2-40B4-BE49-F238E27FC236}">
                            <a16:creationId xmlns:a16="http://schemas.microsoft.com/office/drawing/2014/main" id="{1558A55B-AA2A-22AF-338D-6C29BE49F3F0}"/>
                          </a:ext>
                        </a:extLst>
                      </p:cNvPr>
                      <p:cNvPicPr>
                        <a:picLocks noChangeAspect="1" noChangeArrowheads="1"/>
                      </p:cNvPicPr>
                      <p:nvPr/>
                    </p:nvPicPr>
                    <p:blipFill>
                      <a:blip r:embed="rId11"/>
                      <a:srcRect/>
                      <a:stretch>
                        <a:fillRect/>
                      </a:stretch>
                    </p:blipFill>
                    <p:spPr bwMode="auto">
                      <a:xfrm>
                        <a:off x="2884488" y="3290888"/>
                        <a:ext cx="2106612" cy="34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205273" y="3750327"/>
            <a:ext cx="1363755" cy="313350"/>
          </a:xfrm>
        </p:spPr>
        <p:txBody>
          <a:bodyPr wrap="square" lIns="0" tIns="18000" rIns="0" bIns="18000" anchor="ctr">
            <a:spAutoFit/>
          </a:bodyPr>
          <a:lstStyle/>
          <a:p>
            <a:pPr marL="0" indent="0">
              <a:spcBef>
                <a:spcPts val="600"/>
              </a:spcBef>
              <a:buNone/>
            </a:pPr>
            <a:r>
              <a:rPr lang="en-US" sz="1800" noProof="0" dirty="0"/>
              <a:t>Rearranging,</a:t>
            </a:r>
          </a:p>
        </p:txBody>
      </p:sp>
      <p:graphicFrame>
        <p:nvGraphicFramePr>
          <p:cNvPr id="30" name="Object 29" descr="OpenParenthesis R minus a L CloseParenthesis e to the negative a t power baseline equals 0.&#10;">
            <a:extLst>
              <a:ext uri="{FF2B5EF4-FFF2-40B4-BE49-F238E27FC236}">
                <a16:creationId xmlns:a16="http://schemas.microsoft.com/office/drawing/2014/main" id="{830E1252-C381-4B6F-8017-B227E015E21F}"/>
              </a:ext>
            </a:extLst>
          </p:cNvPr>
          <p:cNvGraphicFramePr>
            <a:graphicFrameLocks noChangeAspect="1"/>
          </p:cNvGraphicFramePr>
          <p:nvPr>
            <p:extLst>
              <p:ext uri="{D42A27DB-BD31-4B8C-83A1-F6EECF244321}">
                <p14:modId xmlns:p14="http://schemas.microsoft.com/office/powerpoint/2010/main" val="285875623"/>
              </p:ext>
            </p:extLst>
          </p:nvPr>
        </p:nvGraphicFramePr>
        <p:xfrm>
          <a:off x="2883790" y="3764453"/>
          <a:ext cx="1575955" cy="342035"/>
        </p:xfrm>
        <a:graphic>
          <a:graphicData uri="http://schemas.openxmlformats.org/presentationml/2006/ole">
            <mc:AlternateContent xmlns:mc="http://schemas.openxmlformats.org/markup-compatibility/2006">
              <mc:Choice xmlns:v="urn:schemas-microsoft-com:vml" Requires="v">
                <p:oleObj name="Equation" r:id="rId12" imgW="1054080" imgH="228600" progId="Equation.DSMT4">
                  <p:embed/>
                </p:oleObj>
              </mc:Choice>
              <mc:Fallback>
                <p:oleObj name="Equation" r:id="rId12" imgW="1054080" imgH="228600" progId="Equation.DSMT4">
                  <p:embed/>
                  <p:pic>
                    <p:nvPicPr>
                      <p:cNvPr id="25" name="Object 24">
                        <a:extLst>
                          <a:ext uri="{FF2B5EF4-FFF2-40B4-BE49-F238E27FC236}">
                            <a16:creationId xmlns:a16="http://schemas.microsoft.com/office/drawing/2014/main" id="{717DE8C2-77E7-D0D4-2A13-206B45D4E913}"/>
                          </a:ext>
                        </a:extLst>
                      </p:cNvPr>
                      <p:cNvPicPr>
                        <a:picLocks noChangeAspect="1" noChangeArrowheads="1"/>
                      </p:cNvPicPr>
                      <p:nvPr/>
                    </p:nvPicPr>
                    <p:blipFill>
                      <a:blip r:embed="rId13"/>
                      <a:srcRect/>
                      <a:stretch>
                        <a:fillRect/>
                      </a:stretch>
                    </p:blipFill>
                    <p:spPr bwMode="auto">
                      <a:xfrm>
                        <a:off x="2883790" y="3764453"/>
                        <a:ext cx="1575955" cy="3420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823619" y="3727691"/>
            <a:ext cx="279026" cy="313350"/>
          </a:xfrm>
        </p:spPr>
        <p:txBody>
          <a:bodyPr wrap="square" lIns="0" tIns="18000" rIns="0" bIns="18000" anchor="ctr">
            <a:spAutoFit/>
          </a:bodyPr>
          <a:lstStyle/>
          <a:p>
            <a:pPr marL="0" indent="0">
              <a:spcBef>
                <a:spcPts val="600"/>
              </a:spcBef>
              <a:buNone/>
            </a:pPr>
            <a:r>
              <a:rPr lang="en-US" sz="1800" noProof="0" dirty="0"/>
              <a:t>so</a:t>
            </a:r>
          </a:p>
        </p:txBody>
      </p:sp>
      <p:graphicFrame>
        <p:nvGraphicFramePr>
          <p:cNvPr id="31" name="Object 30" descr="R minus a L equals 0.&#10;">
            <a:extLst>
              <a:ext uri="{FF2B5EF4-FFF2-40B4-BE49-F238E27FC236}">
                <a16:creationId xmlns:a16="http://schemas.microsoft.com/office/drawing/2014/main" id="{8D77F09C-C47B-4F77-979C-B60E982C3026}"/>
              </a:ext>
            </a:extLst>
          </p:cNvPr>
          <p:cNvGraphicFramePr>
            <a:graphicFrameLocks noChangeAspect="1"/>
          </p:cNvGraphicFramePr>
          <p:nvPr>
            <p:extLst>
              <p:ext uri="{D42A27DB-BD31-4B8C-83A1-F6EECF244321}">
                <p14:modId xmlns:p14="http://schemas.microsoft.com/office/powerpoint/2010/main" val="2714971267"/>
              </p:ext>
            </p:extLst>
          </p:nvPr>
        </p:nvGraphicFramePr>
        <p:xfrm>
          <a:off x="5466519" y="3773507"/>
          <a:ext cx="1062182" cy="266989"/>
        </p:xfrm>
        <a:graphic>
          <a:graphicData uri="http://schemas.openxmlformats.org/presentationml/2006/ole">
            <mc:AlternateContent xmlns:mc="http://schemas.openxmlformats.org/markup-compatibility/2006">
              <mc:Choice xmlns:v="urn:schemas-microsoft-com:vml" Requires="v">
                <p:oleObj name="Equation" r:id="rId14" imgW="711000" imgH="177480" progId="Equation.DSMT4">
                  <p:embed/>
                </p:oleObj>
              </mc:Choice>
              <mc:Fallback>
                <p:oleObj name="Equation" r:id="rId14" imgW="711000" imgH="177480" progId="Equation.DSMT4">
                  <p:embed/>
                  <p:pic>
                    <p:nvPicPr>
                      <p:cNvPr id="30" name="Object 29">
                        <a:extLst>
                          <a:ext uri="{FF2B5EF4-FFF2-40B4-BE49-F238E27FC236}">
                            <a16:creationId xmlns:a16="http://schemas.microsoft.com/office/drawing/2014/main" id="{830E1252-C381-4B6F-8017-B227E015E21F}"/>
                          </a:ext>
                        </a:extLst>
                      </p:cNvPr>
                      <p:cNvPicPr>
                        <a:picLocks noChangeAspect="1" noChangeArrowheads="1"/>
                      </p:cNvPicPr>
                      <p:nvPr/>
                    </p:nvPicPr>
                    <p:blipFill>
                      <a:blip r:embed="rId15"/>
                      <a:srcRect/>
                      <a:stretch>
                        <a:fillRect/>
                      </a:stretch>
                    </p:blipFill>
                    <p:spPr bwMode="auto">
                      <a:xfrm>
                        <a:off x="5466519" y="3773507"/>
                        <a:ext cx="1062182" cy="266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205273" y="4234938"/>
            <a:ext cx="879662" cy="313350"/>
          </a:xfrm>
        </p:spPr>
        <p:txBody>
          <a:bodyPr wrap="square" lIns="0" tIns="18000" rIns="0" bIns="18000" anchor="ctr">
            <a:spAutoFit/>
          </a:bodyPr>
          <a:lstStyle/>
          <a:p>
            <a:pPr marL="0" indent="0">
              <a:spcBef>
                <a:spcPts val="600"/>
              </a:spcBef>
              <a:buNone/>
            </a:pPr>
            <a:r>
              <a:rPr lang="en-US" sz="1800" noProof="0" dirty="0"/>
              <a:t>Solving,</a:t>
            </a:r>
          </a:p>
        </p:txBody>
      </p:sp>
      <p:graphicFrame>
        <p:nvGraphicFramePr>
          <p:cNvPr id="32" name="Object 31" descr="a equals R divided by L.&#10;">
            <a:extLst>
              <a:ext uri="{FF2B5EF4-FFF2-40B4-BE49-F238E27FC236}">
                <a16:creationId xmlns:a16="http://schemas.microsoft.com/office/drawing/2014/main" id="{5A4C6753-19ED-4167-860F-20A164EAC1D3}"/>
              </a:ext>
            </a:extLst>
          </p:cNvPr>
          <p:cNvGraphicFramePr>
            <a:graphicFrameLocks noChangeAspect="1"/>
          </p:cNvGraphicFramePr>
          <p:nvPr>
            <p:extLst>
              <p:ext uri="{D42A27DB-BD31-4B8C-83A1-F6EECF244321}">
                <p14:modId xmlns:p14="http://schemas.microsoft.com/office/powerpoint/2010/main" val="1190487586"/>
              </p:ext>
            </p:extLst>
          </p:nvPr>
        </p:nvGraphicFramePr>
        <p:xfrm>
          <a:off x="2924560" y="4224291"/>
          <a:ext cx="815397" cy="323273"/>
        </p:xfrm>
        <a:graphic>
          <a:graphicData uri="http://schemas.openxmlformats.org/presentationml/2006/ole">
            <mc:AlternateContent xmlns:mc="http://schemas.openxmlformats.org/markup-compatibility/2006">
              <mc:Choice xmlns:v="urn:schemas-microsoft-com:vml" Requires="v">
                <p:oleObj name="Equation" r:id="rId16" imgW="545760" imgH="215640" progId="Equation.DSMT4">
                  <p:embed/>
                </p:oleObj>
              </mc:Choice>
              <mc:Fallback>
                <p:oleObj name="Equation" r:id="rId16" imgW="545760" imgH="215640" progId="Equation.DSMT4">
                  <p:embed/>
                  <p:pic>
                    <p:nvPicPr>
                      <p:cNvPr id="26" name="Object 25">
                        <a:extLst>
                          <a:ext uri="{FF2B5EF4-FFF2-40B4-BE49-F238E27FC236}">
                            <a16:creationId xmlns:a16="http://schemas.microsoft.com/office/drawing/2014/main" id="{016EBF0F-5759-1B20-87D6-1C41F9EBC537}"/>
                          </a:ext>
                        </a:extLst>
                      </p:cNvPr>
                      <p:cNvPicPr>
                        <a:picLocks noChangeAspect="1" noChangeArrowheads="1"/>
                      </p:cNvPicPr>
                      <p:nvPr/>
                    </p:nvPicPr>
                    <p:blipFill>
                      <a:blip r:embed="rId17"/>
                      <a:srcRect/>
                      <a:stretch>
                        <a:fillRect/>
                      </a:stretch>
                    </p:blipFill>
                    <p:spPr bwMode="auto">
                      <a:xfrm>
                        <a:off x="2924560" y="4224291"/>
                        <a:ext cx="815397" cy="3232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1232167" y="4683538"/>
            <a:ext cx="395568" cy="313350"/>
          </a:xfrm>
        </p:spPr>
        <p:txBody>
          <a:bodyPr wrap="square" lIns="0" tIns="18000" rIns="0" bIns="18000" anchor="ctr">
            <a:spAutoFit/>
          </a:bodyPr>
          <a:lstStyle/>
          <a:p>
            <a:pPr marL="0" indent="0">
              <a:spcBef>
                <a:spcPts val="600"/>
              </a:spcBef>
              <a:buNone/>
            </a:pPr>
            <a:r>
              <a:rPr lang="en-US" sz="1800" noProof="0" dirty="0"/>
              <a:t>But</a:t>
            </a:r>
          </a:p>
        </p:txBody>
      </p:sp>
      <p:graphicFrame>
        <p:nvGraphicFramePr>
          <p:cNvPr id="33" name="Object 32" descr="i (0) equals I subscript S.&#10;">
            <a:extLst>
              <a:ext uri="{FF2B5EF4-FFF2-40B4-BE49-F238E27FC236}">
                <a16:creationId xmlns:a16="http://schemas.microsoft.com/office/drawing/2014/main" id="{4D205369-4BD3-4D61-AB08-1CB4FC9C37F9}"/>
              </a:ext>
            </a:extLst>
          </p:cNvPr>
          <p:cNvGraphicFramePr>
            <a:graphicFrameLocks noChangeAspect="1"/>
          </p:cNvGraphicFramePr>
          <p:nvPr>
            <p:extLst>
              <p:ext uri="{D42A27DB-BD31-4B8C-83A1-F6EECF244321}">
                <p14:modId xmlns:p14="http://schemas.microsoft.com/office/powerpoint/2010/main" val="1749113827"/>
              </p:ext>
            </p:extLst>
          </p:nvPr>
        </p:nvGraphicFramePr>
        <p:xfrm>
          <a:off x="2085711" y="4669196"/>
          <a:ext cx="798079" cy="342034"/>
        </p:xfrm>
        <a:graphic>
          <a:graphicData uri="http://schemas.openxmlformats.org/presentationml/2006/ole">
            <mc:AlternateContent xmlns:mc="http://schemas.openxmlformats.org/markup-compatibility/2006">
              <mc:Choice xmlns:v="urn:schemas-microsoft-com:vml" Requires="v">
                <p:oleObj name="Equation" r:id="rId18" imgW="533160" imgH="228600" progId="Equation.DSMT4">
                  <p:embed/>
                </p:oleObj>
              </mc:Choice>
              <mc:Fallback>
                <p:oleObj name="Equation" r:id="rId18" imgW="533160" imgH="228600" progId="Equation.DSMT4">
                  <p:embed/>
                  <p:pic>
                    <p:nvPicPr>
                      <p:cNvPr id="27" name="Object 26">
                        <a:extLst>
                          <a:ext uri="{FF2B5EF4-FFF2-40B4-BE49-F238E27FC236}">
                            <a16:creationId xmlns:a16="http://schemas.microsoft.com/office/drawing/2014/main" id="{83925E7D-D02B-483C-DF19-BBB831DA5E59}"/>
                          </a:ext>
                        </a:extLst>
                      </p:cNvPr>
                      <p:cNvPicPr>
                        <a:picLocks noChangeAspect="1" noChangeArrowheads="1"/>
                      </p:cNvPicPr>
                      <p:nvPr/>
                    </p:nvPicPr>
                    <p:blipFill>
                      <a:blip r:embed="rId19"/>
                      <a:srcRect/>
                      <a:stretch>
                        <a:fillRect/>
                      </a:stretch>
                    </p:blipFill>
                    <p:spPr bwMode="auto">
                      <a:xfrm>
                        <a:off x="2085711" y="4669196"/>
                        <a:ext cx="798079" cy="342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3539939" y="4681898"/>
            <a:ext cx="243168" cy="313350"/>
          </a:xfrm>
        </p:spPr>
        <p:txBody>
          <a:bodyPr wrap="square" lIns="0" tIns="18000" rIns="0" bIns="18000" anchor="ctr">
            <a:spAutoFit/>
          </a:bodyPr>
          <a:lstStyle/>
          <a:p>
            <a:pPr marL="0" indent="0">
              <a:spcBef>
                <a:spcPts val="600"/>
              </a:spcBef>
              <a:buNone/>
            </a:pPr>
            <a:r>
              <a:rPr lang="en-US" sz="1800" noProof="0" dirty="0"/>
              <a:t>so</a:t>
            </a:r>
          </a:p>
        </p:txBody>
      </p:sp>
      <p:graphicFrame>
        <p:nvGraphicFramePr>
          <p:cNvPr id="34" name="Object 33" descr="i (t) equals I subscript S baseline e to the negative OpenParenthesis R divided by L CloseParenthesis t power.&#10;">
            <a:extLst>
              <a:ext uri="{FF2B5EF4-FFF2-40B4-BE49-F238E27FC236}">
                <a16:creationId xmlns:a16="http://schemas.microsoft.com/office/drawing/2014/main" id="{058F67DF-9A95-4B62-A6EB-AEFEE9B715EF}"/>
              </a:ext>
            </a:extLst>
          </p:cNvPr>
          <p:cNvGraphicFramePr>
            <a:graphicFrameLocks noChangeAspect="1"/>
          </p:cNvGraphicFramePr>
          <p:nvPr>
            <p:extLst>
              <p:ext uri="{D42A27DB-BD31-4B8C-83A1-F6EECF244321}">
                <p14:modId xmlns:p14="http://schemas.microsoft.com/office/powerpoint/2010/main" val="1941953697"/>
              </p:ext>
            </p:extLst>
          </p:nvPr>
        </p:nvGraphicFramePr>
        <p:xfrm>
          <a:off x="4437032" y="4650435"/>
          <a:ext cx="1404215" cy="360795"/>
        </p:xfrm>
        <a:graphic>
          <a:graphicData uri="http://schemas.openxmlformats.org/presentationml/2006/ole">
            <mc:AlternateContent xmlns:mc="http://schemas.openxmlformats.org/markup-compatibility/2006">
              <mc:Choice xmlns:v="urn:schemas-microsoft-com:vml" Requires="v">
                <p:oleObj name="Equation" r:id="rId20" imgW="939600" imgH="241200" progId="Equation.DSMT4">
                  <p:embed/>
                </p:oleObj>
              </mc:Choice>
              <mc:Fallback>
                <p:oleObj name="Equation" r:id="rId20" imgW="939600" imgH="241200" progId="Equation.DSMT4">
                  <p:embed/>
                  <p:pic>
                    <p:nvPicPr>
                      <p:cNvPr id="33" name="Object 32">
                        <a:extLst>
                          <a:ext uri="{FF2B5EF4-FFF2-40B4-BE49-F238E27FC236}">
                            <a16:creationId xmlns:a16="http://schemas.microsoft.com/office/drawing/2014/main" id="{4D205369-4BD3-4D61-AB08-1CB4FC9C37F9}"/>
                          </a:ext>
                        </a:extLst>
                      </p:cNvPr>
                      <p:cNvPicPr>
                        <a:picLocks noChangeAspect="1" noChangeArrowheads="1"/>
                      </p:cNvPicPr>
                      <p:nvPr/>
                    </p:nvPicPr>
                    <p:blipFill>
                      <a:blip r:embed="rId21"/>
                      <a:srcRect/>
                      <a:stretch>
                        <a:fillRect/>
                      </a:stretch>
                    </p:blipFill>
                    <p:spPr bwMode="auto">
                      <a:xfrm>
                        <a:off x="4437032" y="4650435"/>
                        <a:ext cx="1404215" cy="3607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34" descr="t is greater than or equal to 0.&#10;">
            <a:extLst>
              <a:ext uri="{FF2B5EF4-FFF2-40B4-BE49-F238E27FC236}">
                <a16:creationId xmlns:a16="http://schemas.microsoft.com/office/drawing/2014/main" id="{7E4C2BD9-D9FE-4579-AADE-B18D03A27526}"/>
              </a:ext>
            </a:extLst>
          </p:cNvPr>
          <p:cNvGraphicFramePr>
            <a:graphicFrameLocks noChangeAspect="1"/>
          </p:cNvGraphicFramePr>
          <p:nvPr>
            <p:extLst>
              <p:ext uri="{D42A27DB-BD31-4B8C-83A1-F6EECF244321}">
                <p14:modId xmlns:p14="http://schemas.microsoft.com/office/powerpoint/2010/main" val="812544180"/>
              </p:ext>
            </p:extLst>
          </p:nvPr>
        </p:nvGraphicFramePr>
        <p:xfrm>
          <a:off x="6495171" y="4676894"/>
          <a:ext cx="513773" cy="265545"/>
        </p:xfrm>
        <a:graphic>
          <a:graphicData uri="http://schemas.openxmlformats.org/presentationml/2006/ole">
            <mc:AlternateContent xmlns:mc="http://schemas.openxmlformats.org/markup-compatibility/2006">
              <mc:Choice xmlns:v="urn:schemas-microsoft-com:vml" Requires="v">
                <p:oleObj name="Equation" r:id="rId22" imgW="342720" imgH="177480" progId="Equation.DSMT4">
                  <p:embed/>
                </p:oleObj>
              </mc:Choice>
              <mc:Fallback>
                <p:oleObj name="Equation" r:id="rId22" imgW="342720" imgH="177480" progId="Equation.DSMT4">
                  <p:embed/>
                  <p:pic>
                    <p:nvPicPr>
                      <p:cNvPr id="34" name="Object 33">
                        <a:extLst>
                          <a:ext uri="{FF2B5EF4-FFF2-40B4-BE49-F238E27FC236}">
                            <a16:creationId xmlns:a16="http://schemas.microsoft.com/office/drawing/2014/main" id="{058F67DF-9A95-4B62-A6EB-AEFEE9B715EF}"/>
                          </a:ext>
                        </a:extLst>
                      </p:cNvPr>
                      <p:cNvPicPr>
                        <a:picLocks noChangeAspect="1" noChangeArrowheads="1"/>
                      </p:cNvPicPr>
                      <p:nvPr/>
                    </p:nvPicPr>
                    <p:blipFill>
                      <a:blip r:embed="rId23"/>
                      <a:srcRect/>
                      <a:stretch>
                        <a:fillRect/>
                      </a:stretch>
                    </p:blipFill>
                    <p:spPr bwMode="auto">
                      <a:xfrm>
                        <a:off x="6495171" y="4676894"/>
                        <a:ext cx="513773" cy="2655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Content Placeholder 15">
            <a:extLst>
              <a:ext uri="{FF2B5EF4-FFF2-40B4-BE49-F238E27FC236}">
                <a16:creationId xmlns:a16="http://schemas.microsoft.com/office/drawing/2014/main" id="{842C75F5-1F7A-16F9-4F1F-28A4FF9F9A72}"/>
              </a:ext>
            </a:extLst>
          </p:cNvPr>
          <p:cNvSpPr>
            <a:spLocks noGrp="1"/>
          </p:cNvSpPr>
          <p:nvPr>
            <p:ph sz="quarter" idx="21"/>
          </p:nvPr>
        </p:nvSpPr>
        <p:spPr>
          <a:xfrm>
            <a:off x="1229661" y="5134078"/>
            <a:ext cx="780054" cy="313350"/>
          </a:xfrm>
        </p:spPr>
        <p:txBody>
          <a:bodyPr wrap="square" lIns="0" tIns="18000" rIns="0" bIns="18000" anchor="ctr">
            <a:spAutoFit/>
          </a:bodyPr>
          <a:lstStyle/>
          <a:p>
            <a:pPr marL="0" indent="0">
              <a:spcBef>
                <a:spcPts val="600"/>
              </a:spcBef>
              <a:buNone/>
            </a:pPr>
            <a:r>
              <a:rPr lang="en-US" sz="1800" noProof="0" dirty="0"/>
              <a:t>Check:</a:t>
            </a:r>
          </a:p>
        </p:txBody>
      </p:sp>
      <p:graphicFrame>
        <p:nvGraphicFramePr>
          <p:cNvPr id="36" name="Object 35" descr="The figure illustrates the addition of two expressions.&#10;Long description is available in notes, Press F6.">
            <a:extLst>
              <a:ext uri="{FF2B5EF4-FFF2-40B4-BE49-F238E27FC236}">
                <a16:creationId xmlns:a16="http://schemas.microsoft.com/office/drawing/2014/main" id="{21089B00-1EAB-4CE3-A552-246719E10DF5}"/>
              </a:ext>
            </a:extLst>
          </p:cNvPr>
          <p:cNvGraphicFramePr>
            <a:graphicFrameLocks noChangeAspect="1"/>
          </p:cNvGraphicFramePr>
          <p:nvPr>
            <p:extLst>
              <p:ext uri="{D42A27DB-BD31-4B8C-83A1-F6EECF244321}">
                <p14:modId xmlns:p14="http://schemas.microsoft.com/office/powerpoint/2010/main" val="1546531438"/>
              </p:ext>
            </p:extLst>
          </p:nvPr>
        </p:nvGraphicFramePr>
        <p:xfrm>
          <a:off x="2271469" y="5147453"/>
          <a:ext cx="2519008" cy="327995"/>
        </p:xfrm>
        <a:graphic>
          <a:graphicData uri="http://schemas.openxmlformats.org/presentationml/2006/ole">
            <mc:AlternateContent xmlns:mc="http://schemas.openxmlformats.org/markup-compatibility/2006">
              <mc:Choice xmlns:v="urn:schemas-microsoft-com:vml" Requires="v">
                <p:oleObj name="Equation" r:id="rId24" imgW="1854000" imgH="241200" progId="Equation.DSMT4">
                  <p:embed/>
                </p:oleObj>
              </mc:Choice>
              <mc:Fallback>
                <p:oleObj name="Equation" r:id="rId24" imgW="1854000" imgH="241200" progId="Equation.DSMT4">
                  <p:embed/>
                  <p:pic>
                    <p:nvPicPr>
                      <p:cNvPr id="28" name="Object 27">
                        <a:extLst>
                          <a:ext uri="{FF2B5EF4-FFF2-40B4-BE49-F238E27FC236}">
                            <a16:creationId xmlns:a16="http://schemas.microsoft.com/office/drawing/2014/main" id="{7B989800-DFA9-4856-DB19-BE097037A5A2}"/>
                          </a:ext>
                        </a:extLst>
                      </p:cNvPr>
                      <p:cNvPicPr>
                        <a:picLocks noChangeAspect="1" noChangeArrowheads="1"/>
                      </p:cNvPicPr>
                      <p:nvPr/>
                    </p:nvPicPr>
                    <p:blipFill>
                      <a:blip r:embed="rId25"/>
                      <a:srcRect/>
                      <a:stretch>
                        <a:fillRect/>
                      </a:stretch>
                    </p:blipFill>
                    <p:spPr bwMode="auto">
                      <a:xfrm>
                        <a:off x="2271469" y="5147453"/>
                        <a:ext cx="2519008" cy="3279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36" descr="equals negative R I subscript S baseline e to the negative OpenParenthesis R divided by L CloseParenthesis t power Baseline plus R I subscript S baseline e to the negative OpenParenthesis R divided by L CloseParenthesis t power Baseline equals 0.&#10;">
            <a:extLst>
              <a:ext uri="{FF2B5EF4-FFF2-40B4-BE49-F238E27FC236}">
                <a16:creationId xmlns:a16="http://schemas.microsoft.com/office/drawing/2014/main" id="{13250971-E370-4D4C-AA62-EB7C495E7E94}"/>
              </a:ext>
            </a:extLst>
          </p:cNvPr>
          <p:cNvGraphicFramePr>
            <a:graphicFrameLocks noChangeAspect="1"/>
          </p:cNvGraphicFramePr>
          <p:nvPr>
            <p:extLst>
              <p:ext uri="{D42A27DB-BD31-4B8C-83A1-F6EECF244321}">
                <p14:modId xmlns:p14="http://schemas.microsoft.com/office/powerpoint/2010/main" val="447087828"/>
              </p:ext>
            </p:extLst>
          </p:nvPr>
        </p:nvGraphicFramePr>
        <p:xfrm>
          <a:off x="2266035" y="5570290"/>
          <a:ext cx="2811463" cy="360362"/>
        </p:xfrm>
        <a:graphic>
          <a:graphicData uri="http://schemas.openxmlformats.org/presentationml/2006/ole">
            <mc:AlternateContent xmlns:mc="http://schemas.openxmlformats.org/markup-compatibility/2006">
              <mc:Choice xmlns:v="urn:schemas-microsoft-com:vml" Requires="v">
                <p:oleObj name="Equation" r:id="rId26" imgW="1879560" imgH="241200" progId="Equation.DSMT4">
                  <p:embed/>
                </p:oleObj>
              </mc:Choice>
              <mc:Fallback>
                <p:oleObj name="Equation" r:id="rId26" imgW="1879560" imgH="241200" progId="Equation.DSMT4">
                  <p:embed/>
                  <p:pic>
                    <p:nvPicPr>
                      <p:cNvPr id="30" name="Object 29">
                        <a:extLst>
                          <a:ext uri="{FF2B5EF4-FFF2-40B4-BE49-F238E27FC236}">
                            <a16:creationId xmlns:a16="http://schemas.microsoft.com/office/drawing/2014/main" id="{0107EE14-9D3F-42E0-1888-6CF36B5037F1}"/>
                          </a:ext>
                        </a:extLst>
                      </p:cNvPr>
                      <p:cNvPicPr>
                        <a:picLocks noChangeAspect="1" noChangeArrowheads="1"/>
                      </p:cNvPicPr>
                      <p:nvPr/>
                    </p:nvPicPr>
                    <p:blipFill>
                      <a:blip r:embed="rId27"/>
                      <a:srcRect/>
                      <a:stretch>
                        <a:fillRect/>
                      </a:stretch>
                    </p:blipFill>
                    <p:spPr bwMode="auto">
                      <a:xfrm>
                        <a:off x="2266035" y="5570290"/>
                        <a:ext cx="2811463" cy="360362"/>
                      </a:xfrm>
                      <a:prstGeom prst="rect">
                        <a:avLst/>
                      </a:prstGeom>
                      <a:noFill/>
                    </p:spPr>
                  </p:pic>
                </p:oleObj>
              </mc:Fallback>
            </mc:AlternateContent>
          </a:graphicData>
        </a:graphic>
      </p:graphicFrame>
      <p:graphicFrame>
        <p:nvGraphicFramePr>
          <p:cNvPr id="38" name="Object 37" descr="i (0) equals I subscript S Baseline e to the negative OpenParenthesis R divided by L CloseParenthesis OpenParenthesis 0 CloseParenthesis power equals I subscript S.&#10;">
            <a:extLst>
              <a:ext uri="{FF2B5EF4-FFF2-40B4-BE49-F238E27FC236}">
                <a16:creationId xmlns:a16="http://schemas.microsoft.com/office/drawing/2014/main" id="{CE3664FD-F102-4DDB-BBDF-F387753938C8}"/>
              </a:ext>
            </a:extLst>
          </p:cNvPr>
          <p:cNvGraphicFramePr>
            <a:graphicFrameLocks noChangeAspect="1"/>
          </p:cNvGraphicFramePr>
          <p:nvPr>
            <p:extLst>
              <p:ext uri="{D42A27DB-BD31-4B8C-83A1-F6EECF244321}">
                <p14:modId xmlns:p14="http://schemas.microsoft.com/office/powerpoint/2010/main" val="3506347759"/>
              </p:ext>
            </p:extLst>
          </p:nvPr>
        </p:nvGraphicFramePr>
        <p:xfrm>
          <a:off x="2292350" y="5988924"/>
          <a:ext cx="1917700" cy="361950"/>
        </p:xfrm>
        <a:graphic>
          <a:graphicData uri="http://schemas.openxmlformats.org/presentationml/2006/ole">
            <mc:AlternateContent xmlns:mc="http://schemas.openxmlformats.org/markup-compatibility/2006">
              <mc:Choice xmlns:v="urn:schemas-microsoft-com:vml" Requires="v">
                <p:oleObj name="Equation" r:id="rId28" imgW="1282680" imgH="241200" progId="Equation.DSMT4">
                  <p:embed/>
                </p:oleObj>
              </mc:Choice>
              <mc:Fallback>
                <p:oleObj name="Equation" r:id="rId28" imgW="1282680" imgH="241200" progId="Equation.DSMT4">
                  <p:embed/>
                  <p:pic>
                    <p:nvPicPr>
                      <p:cNvPr id="29" name="Object 28">
                        <a:extLst>
                          <a:ext uri="{FF2B5EF4-FFF2-40B4-BE49-F238E27FC236}">
                            <a16:creationId xmlns:a16="http://schemas.microsoft.com/office/drawing/2014/main" id="{8DC4BDDA-F8C4-A590-22AC-FD70491D4875}"/>
                          </a:ext>
                        </a:extLst>
                      </p:cNvPr>
                      <p:cNvPicPr>
                        <a:picLocks noChangeAspect="1" noChangeArrowheads="1"/>
                      </p:cNvPicPr>
                      <p:nvPr/>
                    </p:nvPicPr>
                    <p:blipFill>
                      <a:blip r:embed="rId29"/>
                      <a:srcRect/>
                      <a:stretch>
                        <a:fillRect/>
                      </a:stretch>
                    </p:blipFill>
                    <p:spPr bwMode="auto">
                      <a:xfrm>
                        <a:off x="2292350" y="5988924"/>
                        <a:ext cx="191770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44263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489" y="215384"/>
            <a:ext cx="8229600" cy="1021237"/>
          </a:xfrm>
        </p:spPr>
        <p:txBody>
          <a:bodyPr/>
          <a:lstStyle/>
          <a:p>
            <a:r>
              <a:rPr lang="en-US" noProof="0" dirty="0"/>
              <a:t>Chapter 7 – </a:t>
            </a:r>
            <a:r>
              <a:rPr lang="en-US" i="1" spc="-400" noProof="0" dirty="0"/>
              <a:t>R </a:t>
            </a:r>
            <a:r>
              <a:rPr lang="en-US" i="1" noProof="0" dirty="0"/>
              <a:t>L</a:t>
            </a:r>
            <a:r>
              <a:rPr lang="en-US" noProof="0" dirty="0"/>
              <a:t> Natural Response      </a:t>
            </a:r>
            <a:r>
              <a:rPr lang="en-US" sz="2800" noProof="0" dirty="0"/>
              <a:t>(5 of 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0018"/>
            <a:ext cx="8241401" cy="405683"/>
          </a:xfrm>
        </p:spPr>
        <p:txBody>
          <a:bodyPr wrap="square" lIns="0" tIns="18000" rIns="0" bIns="18000" anchor="ctr">
            <a:spAutoFit/>
          </a:bodyPr>
          <a:lstStyle/>
          <a:p>
            <a:pPr marL="0" indent="0">
              <a:spcBef>
                <a:spcPts val="600"/>
              </a:spcBef>
              <a:buNone/>
            </a:pPr>
            <a:r>
              <a:rPr lang="en-US" sz="2400" noProof="0" dirty="0"/>
              <a:t>Here is one circuit that can be used to establish the initial </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1991182"/>
            <a:ext cx="4444402" cy="405683"/>
          </a:xfrm>
        </p:spPr>
        <p:txBody>
          <a:bodyPr wrap="square" lIns="0" tIns="18000" rIns="0" bIns="18000" anchor="ctr">
            <a:spAutoFit/>
          </a:bodyPr>
          <a:lstStyle/>
          <a:p>
            <a:pPr marL="0" indent="0">
              <a:spcBef>
                <a:spcPts val="600"/>
              </a:spcBef>
              <a:buNone/>
            </a:pPr>
            <a:r>
              <a:rPr lang="en-US" sz="2400" noProof="0" dirty="0"/>
              <a:t>current through the inductor. For</a:t>
            </a:r>
          </a:p>
        </p:txBody>
      </p:sp>
      <p:graphicFrame>
        <p:nvGraphicFramePr>
          <p:cNvPr id="2" name="Object 2" descr="t less than 0.&#10;">
            <a:extLst>
              <a:ext uri="{FF2B5EF4-FFF2-40B4-BE49-F238E27FC236}">
                <a16:creationId xmlns:a16="http://schemas.microsoft.com/office/drawing/2014/main" id="{65303713-8E06-2A93-6BA5-0A2387D0AFE4}"/>
              </a:ext>
            </a:extLst>
          </p:cNvPr>
          <p:cNvGraphicFramePr>
            <a:graphicFrameLocks noChangeAspect="1"/>
          </p:cNvGraphicFramePr>
          <p:nvPr>
            <p:extLst>
              <p:ext uri="{D42A27DB-BD31-4B8C-83A1-F6EECF244321}">
                <p14:modId xmlns:p14="http://schemas.microsoft.com/office/powerpoint/2010/main" val="2754281738"/>
              </p:ext>
            </p:extLst>
          </p:nvPr>
        </p:nvGraphicFramePr>
        <p:xfrm>
          <a:off x="4936226" y="2017713"/>
          <a:ext cx="658813" cy="352425"/>
        </p:xfrm>
        <a:graphic>
          <a:graphicData uri="http://schemas.openxmlformats.org/presentationml/2006/ole">
            <mc:AlternateContent xmlns:mc="http://schemas.openxmlformats.org/markup-compatibility/2006">
              <mc:Choice xmlns:v="urn:schemas-microsoft-com:vml" Requires="v">
                <p:oleObj name="Equation" r:id="rId2" imgW="355320" imgH="190440" progId="Equation.DSMT4">
                  <p:embed/>
                </p:oleObj>
              </mc:Choice>
              <mc:Fallback>
                <p:oleObj name="Equation" r:id="rId2" imgW="355320" imgH="190440" progId="Equation.DSMT4">
                  <p:embed/>
                  <p:pic>
                    <p:nvPicPr>
                      <p:cNvPr id="5" name="Object 2">
                        <a:extLst>
                          <a:ext uri="{FF2B5EF4-FFF2-40B4-BE49-F238E27FC236}">
                            <a16:creationId xmlns:a16="http://schemas.microsoft.com/office/drawing/2014/main" id="{26DB75D4-FBB0-8A60-E5E3-C8E6B31D830E}"/>
                          </a:ext>
                        </a:extLst>
                      </p:cNvPr>
                      <p:cNvPicPr>
                        <a:picLocks noChangeAspect="1" noChangeArrowheads="1"/>
                      </p:cNvPicPr>
                      <p:nvPr/>
                    </p:nvPicPr>
                    <p:blipFill>
                      <a:blip r:embed="rId3"/>
                      <a:srcRect/>
                      <a:stretch>
                        <a:fillRect/>
                      </a:stretch>
                    </p:blipFill>
                    <p:spPr bwMode="auto">
                      <a:xfrm>
                        <a:off x="4936226" y="2017713"/>
                        <a:ext cx="658813"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5648712" y="1964455"/>
            <a:ext cx="2624227" cy="405683"/>
          </a:xfrm>
        </p:spPr>
        <p:txBody>
          <a:bodyPr wrap="square" lIns="0" tIns="18000" rIns="0" bIns="18000" anchor="ctr">
            <a:spAutoFit/>
          </a:bodyPr>
          <a:lstStyle/>
          <a:p>
            <a:pPr marL="0" indent="0">
              <a:spcBef>
                <a:spcPts val="600"/>
              </a:spcBef>
              <a:buNone/>
            </a:pPr>
            <a:r>
              <a:rPr lang="en-US" sz="2400" noProof="0" dirty="0"/>
              <a:t>the inductor can be </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1" y="2464922"/>
            <a:ext cx="1606310" cy="405683"/>
          </a:xfrm>
        </p:spPr>
        <p:txBody>
          <a:bodyPr wrap="square" lIns="0" tIns="18000" rIns="0" bIns="18000" anchor="ctr">
            <a:spAutoFit/>
          </a:bodyPr>
          <a:lstStyle/>
          <a:p>
            <a:pPr marL="0" indent="0">
              <a:spcBef>
                <a:spcPts val="600"/>
              </a:spcBef>
              <a:buNone/>
            </a:pPr>
            <a:r>
              <a:rPr lang="en-US" sz="2400" noProof="0" dirty="0"/>
              <a:t>replaced by</a:t>
            </a:r>
          </a:p>
        </p:txBody>
      </p:sp>
      <p:pic>
        <p:nvPicPr>
          <p:cNvPr id="3" name="Picture 8" descr="A circuit diagram shows an independent current source which produces constant current I subscript s. The current source forms the leftmost wire of the circuit. Resistor R subscript 0, inductor L, and resistor R are all connected in parallel across the current source and respectively form the second, third, and fourth wires of the circuit when counted from the left. Two nodes are marked for resistor R subscript 0, one each at the point where resistor R subscript 0 connects to the top and bottom wire of the circuit. Two nodes are also marked for inductor L, one each at the point where inductor L connects to the top and bottom wire of the circuit. A switch connects the nodes in the top wire between the resistor R subscript 0 and inductor L. The switch is opened at the beginning, that is when time t equals zero. Current i flows through rightmost resistor R. Voltage v forms across the resistor R with positive polarity at the upper end and negative polarity at the lower end of resistor R.">
            <a:extLst>
              <a:ext uri="{FF2B5EF4-FFF2-40B4-BE49-F238E27FC236}">
                <a16:creationId xmlns:a16="http://schemas.microsoft.com/office/drawing/2014/main" id="{D3139194-9059-046E-2577-6B079B37D8A0}"/>
              </a:ext>
            </a:extLst>
          </p:cNvPr>
          <p:cNvPicPr>
            <a:picLocks noChangeAspect="1" noChangeArrowheads="1"/>
          </p:cNvPicPr>
          <p:nvPr/>
        </p:nvPicPr>
        <p:blipFill>
          <a:blip r:embed="rId4"/>
          <a:srcRect/>
          <a:stretch/>
        </p:blipFill>
        <p:spPr bwMode="auto">
          <a:xfrm>
            <a:off x="2685185" y="3073674"/>
            <a:ext cx="3662580" cy="1383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18951" y="4626926"/>
            <a:ext cx="2417192"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An open circuit</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18951" y="5079299"/>
            <a:ext cx="2247035"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 short circuit</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318951" y="5544578"/>
            <a:ext cx="1683948"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 resistor</a:t>
            </a:r>
          </a:p>
        </p:txBody>
      </p:sp>
    </p:spTree>
    <p:extLst>
      <p:ext uri="{BB962C8B-B14F-4D97-AF65-F5344CB8AC3E}">
        <p14:creationId xmlns:p14="http://schemas.microsoft.com/office/powerpoint/2010/main" val="1507901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9133C-C881-AB4D-1689-589A63DFCE0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95C762-CF17-B4D6-F83C-94EAFFB24F19}"/>
              </a:ext>
            </a:extLst>
          </p:cNvPr>
          <p:cNvSpPr>
            <a:spLocks noGrp="1"/>
          </p:cNvSpPr>
          <p:nvPr>
            <p:ph type="title"/>
          </p:nvPr>
        </p:nvSpPr>
        <p:spPr>
          <a:xfrm>
            <a:off x="438489" y="215384"/>
            <a:ext cx="8229600" cy="1021237"/>
          </a:xfrm>
        </p:spPr>
        <p:txBody>
          <a:bodyPr/>
          <a:lstStyle/>
          <a:p>
            <a:r>
              <a:rPr lang="en-US" noProof="0" dirty="0"/>
              <a:t>Chapter 7 – </a:t>
            </a:r>
            <a:r>
              <a:rPr lang="en-US" i="1" spc="-400" noProof="0" dirty="0"/>
              <a:t>R </a:t>
            </a:r>
            <a:r>
              <a:rPr lang="en-US" i="1" noProof="0" dirty="0"/>
              <a:t>L</a:t>
            </a:r>
            <a:r>
              <a:rPr lang="en-US" noProof="0" dirty="0"/>
              <a:t> Natural Response      </a:t>
            </a:r>
            <a:r>
              <a:rPr lang="en-US" sz="2800" noProof="0" dirty="0"/>
              <a:t>(5 of 7)</a:t>
            </a:r>
          </a:p>
        </p:txBody>
      </p:sp>
      <p:sp>
        <p:nvSpPr>
          <p:cNvPr id="7" name="Content Placeholder 6">
            <a:extLst>
              <a:ext uri="{FF2B5EF4-FFF2-40B4-BE49-F238E27FC236}">
                <a16:creationId xmlns:a16="http://schemas.microsoft.com/office/drawing/2014/main" id="{958830D5-C9A5-6E15-CFCA-8554E069EA88}"/>
              </a:ext>
            </a:extLst>
          </p:cNvPr>
          <p:cNvSpPr>
            <a:spLocks noGrp="1"/>
          </p:cNvSpPr>
          <p:nvPr>
            <p:ph sz="quarter" idx="12"/>
          </p:nvPr>
        </p:nvSpPr>
        <p:spPr>
          <a:xfrm>
            <a:off x="429524" y="1530018"/>
            <a:ext cx="8241401" cy="405683"/>
          </a:xfrm>
        </p:spPr>
        <p:txBody>
          <a:bodyPr wrap="square" lIns="0" tIns="18000" rIns="0" bIns="18000" anchor="ctr">
            <a:spAutoFit/>
          </a:bodyPr>
          <a:lstStyle/>
          <a:p>
            <a:pPr marL="0" indent="0">
              <a:spcBef>
                <a:spcPts val="600"/>
              </a:spcBef>
              <a:buNone/>
            </a:pPr>
            <a:r>
              <a:rPr lang="en-US" sz="2400" noProof="0" dirty="0"/>
              <a:t>Here is one circuit that can be used to establish the initial </a:t>
            </a:r>
          </a:p>
        </p:txBody>
      </p:sp>
      <p:sp>
        <p:nvSpPr>
          <p:cNvPr id="8" name="Content Placeholder 7">
            <a:extLst>
              <a:ext uri="{FF2B5EF4-FFF2-40B4-BE49-F238E27FC236}">
                <a16:creationId xmlns:a16="http://schemas.microsoft.com/office/drawing/2014/main" id="{87A7E8E4-AC1E-7C56-0A8B-200DD68568E5}"/>
              </a:ext>
            </a:extLst>
          </p:cNvPr>
          <p:cNvSpPr>
            <a:spLocks noGrp="1"/>
          </p:cNvSpPr>
          <p:nvPr>
            <p:ph sz="quarter" idx="13"/>
          </p:nvPr>
        </p:nvSpPr>
        <p:spPr>
          <a:xfrm>
            <a:off x="438151" y="1991182"/>
            <a:ext cx="4444402" cy="405683"/>
          </a:xfrm>
        </p:spPr>
        <p:txBody>
          <a:bodyPr wrap="square" lIns="0" tIns="18000" rIns="0" bIns="18000" anchor="ctr">
            <a:spAutoFit/>
          </a:bodyPr>
          <a:lstStyle/>
          <a:p>
            <a:pPr marL="0" indent="0">
              <a:spcBef>
                <a:spcPts val="600"/>
              </a:spcBef>
              <a:buNone/>
            </a:pPr>
            <a:r>
              <a:rPr lang="en-US" sz="2400" noProof="0" dirty="0"/>
              <a:t>current through the inductor. For</a:t>
            </a:r>
          </a:p>
        </p:txBody>
      </p:sp>
      <p:graphicFrame>
        <p:nvGraphicFramePr>
          <p:cNvPr id="2" name="Object 2" descr="t less than 0.&#10;">
            <a:extLst>
              <a:ext uri="{FF2B5EF4-FFF2-40B4-BE49-F238E27FC236}">
                <a16:creationId xmlns:a16="http://schemas.microsoft.com/office/drawing/2014/main" id="{EBFD4D3B-B79F-E468-0ECB-0CA1DF07838F}"/>
              </a:ext>
            </a:extLst>
          </p:cNvPr>
          <p:cNvGraphicFramePr>
            <a:graphicFrameLocks noChangeAspect="1"/>
          </p:cNvGraphicFramePr>
          <p:nvPr/>
        </p:nvGraphicFramePr>
        <p:xfrm>
          <a:off x="4936226" y="2017713"/>
          <a:ext cx="658813" cy="352425"/>
        </p:xfrm>
        <a:graphic>
          <a:graphicData uri="http://schemas.openxmlformats.org/presentationml/2006/ole">
            <mc:AlternateContent xmlns:mc="http://schemas.openxmlformats.org/markup-compatibility/2006">
              <mc:Choice xmlns:v="urn:schemas-microsoft-com:vml" Requires="v">
                <p:oleObj name="Equation" r:id="rId2" imgW="355320" imgH="190440" progId="Equation.DSMT4">
                  <p:embed/>
                </p:oleObj>
              </mc:Choice>
              <mc:Fallback>
                <p:oleObj name="Equation" r:id="rId2" imgW="355320" imgH="190440" progId="Equation.DSMT4">
                  <p:embed/>
                  <p:pic>
                    <p:nvPicPr>
                      <p:cNvPr id="2" name="Object 2" descr="t less than 0.&#10;">
                        <a:extLst>
                          <a:ext uri="{FF2B5EF4-FFF2-40B4-BE49-F238E27FC236}">
                            <a16:creationId xmlns:a16="http://schemas.microsoft.com/office/drawing/2014/main" id="{25B0C80F-15DE-1AE8-8E8F-179A32938D28}"/>
                          </a:ext>
                        </a:extLst>
                      </p:cNvPr>
                      <p:cNvPicPr>
                        <a:picLocks noChangeAspect="1" noChangeArrowheads="1"/>
                      </p:cNvPicPr>
                      <p:nvPr/>
                    </p:nvPicPr>
                    <p:blipFill>
                      <a:blip r:embed="rId3"/>
                      <a:srcRect/>
                      <a:stretch>
                        <a:fillRect/>
                      </a:stretch>
                    </p:blipFill>
                    <p:spPr bwMode="auto">
                      <a:xfrm>
                        <a:off x="4936226" y="2017713"/>
                        <a:ext cx="658813"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CC739A61-4C09-1B7E-AD87-50CABF4192C1}"/>
              </a:ext>
            </a:extLst>
          </p:cNvPr>
          <p:cNvSpPr>
            <a:spLocks noGrp="1"/>
          </p:cNvSpPr>
          <p:nvPr>
            <p:ph sz="quarter" idx="14"/>
          </p:nvPr>
        </p:nvSpPr>
        <p:spPr>
          <a:xfrm>
            <a:off x="5648712" y="1964455"/>
            <a:ext cx="2624227" cy="405683"/>
          </a:xfrm>
        </p:spPr>
        <p:txBody>
          <a:bodyPr wrap="square" lIns="0" tIns="18000" rIns="0" bIns="18000" anchor="ctr">
            <a:spAutoFit/>
          </a:bodyPr>
          <a:lstStyle/>
          <a:p>
            <a:pPr marL="0" indent="0">
              <a:spcBef>
                <a:spcPts val="600"/>
              </a:spcBef>
              <a:buNone/>
            </a:pPr>
            <a:r>
              <a:rPr lang="en-US" sz="2400" noProof="0" dirty="0"/>
              <a:t>the inductor can be </a:t>
            </a:r>
          </a:p>
        </p:txBody>
      </p:sp>
      <p:sp>
        <p:nvSpPr>
          <p:cNvPr id="10" name="Content Placeholder 9">
            <a:extLst>
              <a:ext uri="{FF2B5EF4-FFF2-40B4-BE49-F238E27FC236}">
                <a16:creationId xmlns:a16="http://schemas.microsoft.com/office/drawing/2014/main" id="{A2FA0CA3-9334-34E8-F83A-90C880335984}"/>
              </a:ext>
            </a:extLst>
          </p:cNvPr>
          <p:cNvSpPr>
            <a:spLocks noGrp="1"/>
          </p:cNvSpPr>
          <p:nvPr>
            <p:ph sz="quarter" idx="15"/>
          </p:nvPr>
        </p:nvSpPr>
        <p:spPr>
          <a:xfrm>
            <a:off x="438151" y="2464922"/>
            <a:ext cx="1606310" cy="405683"/>
          </a:xfrm>
        </p:spPr>
        <p:txBody>
          <a:bodyPr wrap="square" lIns="0" tIns="18000" rIns="0" bIns="18000" anchor="ctr">
            <a:spAutoFit/>
          </a:bodyPr>
          <a:lstStyle/>
          <a:p>
            <a:pPr marL="0" indent="0">
              <a:spcBef>
                <a:spcPts val="600"/>
              </a:spcBef>
              <a:buNone/>
            </a:pPr>
            <a:r>
              <a:rPr lang="en-US" sz="2400" noProof="0" dirty="0"/>
              <a:t>replaced by</a:t>
            </a:r>
          </a:p>
        </p:txBody>
      </p:sp>
      <p:pic>
        <p:nvPicPr>
          <p:cNvPr id="3" name="Picture 8" descr="A circuit diagram shows an independent current source which produces constant current I subscript s. The current source forms the leftmost wire of the circuit. Resistor R subscript 0, inductor L, and resistor R are all connected in parallel across the current source and respectively form the second, third, and fourth wires of the circuit when counted from the left. Two nodes are marked for resistor R subscript 0, one each at the point where resistor R subscript 0 connects to the top and bottom wire of the circuit. Two nodes are also marked for inductor L, one each at the point where inductor L connects to the top and bottom wire of the circuit. A switch connects the nodes in the top wire between the resistor R subscript 0 and inductor L. The switch is opened at the beginning, that is when time t equals zero. Current i flows through rightmost resistor R. Voltage v forms across the resistor R with positive polarity at the upper end and negative polarity at the lower end of resistor R.">
            <a:extLst>
              <a:ext uri="{FF2B5EF4-FFF2-40B4-BE49-F238E27FC236}">
                <a16:creationId xmlns:a16="http://schemas.microsoft.com/office/drawing/2014/main" id="{78A470A0-32CA-A659-1E19-EB1B597D70DD}"/>
              </a:ext>
            </a:extLst>
          </p:cNvPr>
          <p:cNvPicPr>
            <a:picLocks noChangeAspect="1" noChangeArrowheads="1"/>
          </p:cNvPicPr>
          <p:nvPr/>
        </p:nvPicPr>
        <p:blipFill>
          <a:blip r:embed="rId4"/>
          <a:srcRect/>
          <a:stretch/>
        </p:blipFill>
        <p:spPr bwMode="auto">
          <a:xfrm>
            <a:off x="2685185" y="3073674"/>
            <a:ext cx="3662580" cy="1383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5" descr="Cross mark">
            <a:extLst>
              <a:ext uri="{FF2B5EF4-FFF2-40B4-BE49-F238E27FC236}">
                <a16:creationId xmlns:a16="http://schemas.microsoft.com/office/drawing/2014/main" id="{ECFCD0B9-FD8F-C30A-4905-E7D87D741BC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8031" y="470002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75112CDE-6914-4FA3-26FB-E1C84B44D374}"/>
              </a:ext>
            </a:extLst>
          </p:cNvPr>
          <p:cNvSpPr>
            <a:spLocks noGrp="1"/>
          </p:cNvSpPr>
          <p:nvPr>
            <p:ph sz="quarter" idx="16"/>
          </p:nvPr>
        </p:nvSpPr>
        <p:spPr>
          <a:xfrm>
            <a:off x="1318951" y="4626926"/>
            <a:ext cx="2417192"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An open circuit</a:t>
            </a:r>
          </a:p>
        </p:txBody>
      </p:sp>
      <p:pic>
        <p:nvPicPr>
          <p:cNvPr id="25" name="Picture 2" descr="Check mark">
            <a:extLst>
              <a:ext uri="{FF2B5EF4-FFF2-40B4-BE49-F238E27FC236}">
                <a16:creationId xmlns:a16="http://schemas.microsoft.com/office/drawing/2014/main" id="{A9415E11-0418-CD68-A63E-30B53842EBE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0002" y="5165906"/>
            <a:ext cx="280501" cy="255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BDDE88DF-1B96-D39D-764A-110BC7AD692B}"/>
              </a:ext>
            </a:extLst>
          </p:cNvPr>
          <p:cNvSpPr>
            <a:spLocks noGrp="1"/>
          </p:cNvSpPr>
          <p:nvPr>
            <p:ph sz="quarter" idx="17"/>
          </p:nvPr>
        </p:nvSpPr>
        <p:spPr>
          <a:xfrm>
            <a:off x="1318951" y="5079299"/>
            <a:ext cx="2247035"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 short circuit</a:t>
            </a:r>
          </a:p>
        </p:txBody>
      </p:sp>
      <p:pic>
        <p:nvPicPr>
          <p:cNvPr id="5" name="Picture 5" descr="Cross mark">
            <a:extLst>
              <a:ext uri="{FF2B5EF4-FFF2-40B4-BE49-F238E27FC236}">
                <a16:creationId xmlns:a16="http://schemas.microsoft.com/office/drawing/2014/main" id="{2BAA2260-A90E-28D5-F3AE-54BCEE908D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8031" y="5627597"/>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Content Placeholder 12">
            <a:extLst>
              <a:ext uri="{FF2B5EF4-FFF2-40B4-BE49-F238E27FC236}">
                <a16:creationId xmlns:a16="http://schemas.microsoft.com/office/drawing/2014/main" id="{6891ABB1-57FA-0A90-7A63-3032AD51724D}"/>
              </a:ext>
            </a:extLst>
          </p:cNvPr>
          <p:cNvSpPr>
            <a:spLocks noGrp="1"/>
          </p:cNvSpPr>
          <p:nvPr>
            <p:ph sz="quarter" idx="18"/>
          </p:nvPr>
        </p:nvSpPr>
        <p:spPr>
          <a:xfrm>
            <a:off x="1318951" y="5544578"/>
            <a:ext cx="1683948"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 resistor</a:t>
            </a:r>
          </a:p>
        </p:txBody>
      </p:sp>
    </p:spTree>
    <p:extLst>
      <p:ext uri="{BB962C8B-B14F-4D97-AF65-F5344CB8AC3E}">
        <p14:creationId xmlns:p14="http://schemas.microsoft.com/office/powerpoint/2010/main" val="4195694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7590" y="218261"/>
            <a:ext cx="8229600" cy="1021237"/>
          </a:xfrm>
        </p:spPr>
        <p:txBody>
          <a:bodyPr/>
          <a:lstStyle/>
          <a:p>
            <a:r>
              <a:rPr lang="en-US" noProof="0" dirty="0"/>
              <a:t>Chapter 7 – </a:t>
            </a:r>
            <a:r>
              <a:rPr lang="en-US" i="1" spc="-400" noProof="0" dirty="0"/>
              <a:t>R </a:t>
            </a:r>
            <a:r>
              <a:rPr lang="en-US" i="1" noProof="0" dirty="0"/>
              <a:t>L</a:t>
            </a:r>
            <a:r>
              <a:rPr lang="en-US" noProof="0" dirty="0"/>
              <a:t> Natural Response      </a:t>
            </a:r>
            <a:r>
              <a:rPr lang="en-US" sz="2800" noProof="0" dirty="0"/>
              <a:t>(6 of 7)</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539549"/>
            <a:ext cx="5610225" cy="405683"/>
          </a:xfrm>
        </p:spPr>
        <p:txBody>
          <a:bodyPr wrap="square" lIns="0" tIns="18000" rIns="0" bIns="18000" anchor="ctr">
            <a:spAutoFit/>
          </a:bodyPr>
          <a:lstStyle/>
          <a:p>
            <a:pPr marL="0" indent="0">
              <a:spcBef>
                <a:spcPts val="600"/>
              </a:spcBef>
              <a:buNone/>
            </a:pPr>
            <a:r>
              <a:rPr lang="en-US" sz="2400" noProof="0" dirty="0"/>
              <a:t>To evaluate the current in the inductor for </a:t>
            </a:r>
          </a:p>
        </p:txBody>
      </p:sp>
      <p:graphicFrame>
        <p:nvGraphicFramePr>
          <p:cNvPr id="2" name="Object 2" descr="t less than 0.&#10;">
            <a:extLst>
              <a:ext uri="{FF2B5EF4-FFF2-40B4-BE49-F238E27FC236}">
                <a16:creationId xmlns:a16="http://schemas.microsoft.com/office/drawing/2014/main" id="{550E9F9F-2D6E-A5F6-D6EF-A5699A24ABB4}"/>
              </a:ext>
            </a:extLst>
          </p:cNvPr>
          <p:cNvGraphicFramePr>
            <a:graphicFrameLocks noChangeAspect="1"/>
          </p:cNvGraphicFramePr>
          <p:nvPr>
            <p:extLst>
              <p:ext uri="{D42A27DB-BD31-4B8C-83A1-F6EECF244321}">
                <p14:modId xmlns:p14="http://schemas.microsoft.com/office/powerpoint/2010/main" val="2355033692"/>
              </p:ext>
            </p:extLst>
          </p:nvPr>
        </p:nvGraphicFramePr>
        <p:xfrm>
          <a:off x="6079331" y="1591220"/>
          <a:ext cx="658813" cy="352425"/>
        </p:xfrm>
        <a:graphic>
          <a:graphicData uri="http://schemas.openxmlformats.org/presentationml/2006/ole">
            <mc:AlternateContent xmlns:mc="http://schemas.openxmlformats.org/markup-compatibility/2006">
              <mc:Choice xmlns:v="urn:schemas-microsoft-com:vml" Requires="v">
                <p:oleObj name="Equation" r:id="rId2" imgW="355320" imgH="190440" progId="Equation.DSMT4">
                  <p:embed/>
                </p:oleObj>
              </mc:Choice>
              <mc:Fallback>
                <p:oleObj name="Equation" r:id="rId2" imgW="355320" imgH="190440" progId="Equation.DSMT4">
                  <p:embed/>
                  <p:pic>
                    <p:nvPicPr>
                      <p:cNvPr id="2" name="Object 2">
                        <a:extLst>
                          <a:ext uri="{FF2B5EF4-FFF2-40B4-BE49-F238E27FC236}">
                            <a16:creationId xmlns:a16="http://schemas.microsoft.com/office/drawing/2014/main" id="{65303713-8E06-2A93-6BA5-0A2387D0AFE4}"/>
                          </a:ext>
                        </a:extLst>
                      </p:cNvPr>
                      <p:cNvPicPr>
                        <a:picLocks noChangeAspect="1" noChangeArrowheads="1"/>
                      </p:cNvPicPr>
                      <p:nvPr/>
                    </p:nvPicPr>
                    <p:blipFill>
                      <a:blip r:embed="rId3"/>
                      <a:srcRect/>
                      <a:stretch>
                        <a:fillRect/>
                      </a:stretch>
                    </p:blipFill>
                    <p:spPr bwMode="auto">
                      <a:xfrm>
                        <a:off x="6079331" y="1591220"/>
                        <a:ext cx="658813"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778625" y="1536629"/>
            <a:ext cx="1238250" cy="405683"/>
          </a:xfrm>
        </p:spPr>
        <p:txBody>
          <a:bodyPr wrap="square" lIns="0" tIns="18000" rIns="0" bIns="18000" anchor="ctr">
            <a:spAutoFit/>
          </a:bodyPr>
          <a:lstStyle/>
          <a:p>
            <a:pPr marL="0" indent="0">
              <a:spcBef>
                <a:spcPts val="600"/>
              </a:spcBef>
              <a:buNone/>
            </a:pPr>
            <a:r>
              <a:rPr lang="en-US" sz="2400" noProof="0" dirty="0"/>
              <a:t>close the </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625" y="2014240"/>
            <a:ext cx="8229600" cy="775015"/>
          </a:xfrm>
        </p:spPr>
        <p:txBody>
          <a:bodyPr wrap="square" lIns="0" tIns="18000" rIns="0" bIns="18000" anchor="ctr">
            <a:spAutoFit/>
          </a:bodyPr>
          <a:lstStyle/>
          <a:p>
            <a:pPr marL="0" indent="0">
              <a:spcBef>
                <a:spcPts val="600"/>
              </a:spcBef>
              <a:buNone/>
            </a:pPr>
            <a:r>
              <a:rPr lang="en-US" sz="2400" noProof="0" dirty="0"/>
              <a:t>switch and replace the inductor with a short circuit. The current from bottom to top in the short circuit is</a:t>
            </a:r>
          </a:p>
        </p:txBody>
      </p:sp>
      <p:pic>
        <p:nvPicPr>
          <p:cNvPr id="3" name="Picture 8" descr="A circuit diagram shows an independent current source which produces constant current I subscript s. The current source forms the leftmost wire of the circuit. Resistor R subscript 0, inductor L, and resistor R are all connected in parallel across the current source and respectively form the second, third, and fourth wires of the circuit when counted from the left. Two nodes are marked for resistor R subscript 0, one each at the point where resistor R subscript 0 connects to the top and bottom wire of the circuit. Two nodes are also marked for inductor L, one each at the point where inductor L connects to the top and bottom wire of the circuit. A switch connects the nodes in the top wire between the resistor R subscript 0 and inductor L. The switch is opened at the beginning, that is when time t equals zero. Current i flows through rightmost resistor R. Voltage v forms across the resistor R with positive polarity at the upper end and negative polarity at the lower end of resistor R.">
            <a:extLst>
              <a:ext uri="{FF2B5EF4-FFF2-40B4-BE49-F238E27FC236}">
                <a16:creationId xmlns:a16="http://schemas.microsoft.com/office/drawing/2014/main" id="{9F58B9D3-D36D-3551-E762-6CDB8BDFB6FA}"/>
              </a:ext>
            </a:extLst>
          </p:cNvPr>
          <p:cNvPicPr>
            <a:picLocks noChangeAspect="1" noChangeArrowheads="1"/>
          </p:cNvPicPr>
          <p:nvPr/>
        </p:nvPicPr>
        <p:blipFill>
          <a:blip r:embed="rId4"/>
          <a:srcRect/>
          <a:stretch/>
        </p:blipFill>
        <p:spPr bwMode="auto">
          <a:xfrm>
            <a:off x="2829590" y="3014236"/>
            <a:ext cx="3484819" cy="1316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771650" y="4549793"/>
            <a:ext cx="37147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5" name="Object 2" descr="negative I subscript S.&#10;">
            <a:extLst>
              <a:ext uri="{FF2B5EF4-FFF2-40B4-BE49-F238E27FC236}">
                <a16:creationId xmlns:a16="http://schemas.microsoft.com/office/drawing/2014/main" id="{9A666D6D-FE54-993F-F2F3-41DC35479BFF}"/>
              </a:ext>
            </a:extLst>
          </p:cNvPr>
          <p:cNvGraphicFramePr>
            <a:graphicFrameLocks noChangeAspect="1"/>
          </p:cNvGraphicFramePr>
          <p:nvPr>
            <p:extLst>
              <p:ext uri="{D42A27DB-BD31-4B8C-83A1-F6EECF244321}">
                <p14:modId xmlns:p14="http://schemas.microsoft.com/office/powerpoint/2010/main" val="3449731602"/>
              </p:ext>
            </p:extLst>
          </p:nvPr>
        </p:nvGraphicFramePr>
        <p:xfrm>
          <a:off x="2190750" y="4549793"/>
          <a:ext cx="423862" cy="423862"/>
        </p:xfrm>
        <a:graphic>
          <a:graphicData uri="http://schemas.openxmlformats.org/presentationml/2006/ole">
            <mc:AlternateContent xmlns:mc="http://schemas.openxmlformats.org/markup-compatibility/2006">
              <mc:Choice xmlns:v="urn:schemas-microsoft-com:vml" Requires="v">
                <p:oleObj name="Equation" r:id="rId5" imgW="228600" imgH="228600" progId="Equation.DSMT4">
                  <p:embed/>
                </p:oleObj>
              </mc:Choice>
              <mc:Fallback>
                <p:oleObj name="Equation" r:id="rId5" imgW="228600" imgH="228600" progId="Equation.DSMT4">
                  <p:embed/>
                  <p:pic>
                    <p:nvPicPr>
                      <p:cNvPr id="2" name="Object 2">
                        <a:extLst>
                          <a:ext uri="{FF2B5EF4-FFF2-40B4-BE49-F238E27FC236}">
                            <a16:creationId xmlns:a16="http://schemas.microsoft.com/office/drawing/2014/main" id="{550E9F9F-2D6E-A5F6-D6EF-A5699A24ABB4}"/>
                          </a:ext>
                        </a:extLst>
                      </p:cNvPr>
                      <p:cNvPicPr>
                        <a:picLocks noChangeAspect="1" noChangeArrowheads="1"/>
                      </p:cNvPicPr>
                      <p:nvPr/>
                    </p:nvPicPr>
                    <p:blipFill>
                      <a:blip r:embed="rId6"/>
                      <a:srcRect/>
                      <a:stretch>
                        <a:fillRect/>
                      </a:stretch>
                    </p:blipFill>
                    <p:spPr bwMode="auto">
                      <a:xfrm>
                        <a:off x="2190750" y="4549793"/>
                        <a:ext cx="423862" cy="423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771650" y="5039960"/>
            <a:ext cx="447675"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 </a:t>
            </a:r>
          </a:p>
        </p:txBody>
      </p:sp>
      <p:graphicFrame>
        <p:nvGraphicFramePr>
          <p:cNvPr id="26" name="Object 2" descr=" R I subscript S Baseline I multiplied by OpenParenthesis R plus R subscript 0 CloseParenthesis.&#10;">
            <a:extLst>
              <a:ext uri="{FF2B5EF4-FFF2-40B4-BE49-F238E27FC236}">
                <a16:creationId xmlns:a16="http://schemas.microsoft.com/office/drawing/2014/main" id="{D77262D6-4D32-3D8D-F78A-DA8DBFEF4850}"/>
              </a:ext>
            </a:extLst>
          </p:cNvPr>
          <p:cNvGraphicFramePr>
            <a:graphicFrameLocks noChangeAspect="1"/>
          </p:cNvGraphicFramePr>
          <p:nvPr>
            <p:extLst>
              <p:ext uri="{D42A27DB-BD31-4B8C-83A1-F6EECF244321}">
                <p14:modId xmlns:p14="http://schemas.microsoft.com/office/powerpoint/2010/main" val="3564943108"/>
              </p:ext>
            </p:extLst>
          </p:nvPr>
        </p:nvGraphicFramePr>
        <p:xfrm>
          <a:off x="2190750" y="5061077"/>
          <a:ext cx="1695450" cy="423863"/>
        </p:xfrm>
        <a:graphic>
          <a:graphicData uri="http://schemas.openxmlformats.org/presentationml/2006/ole">
            <mc:AlternateContent xmlns:mc="http://schemas.openxmlformats.org/markup-compatibility/2006">
              <mc:Choice xmlns:v="urn:schemas-microsoft-com:vml" Requires="v">
                <p:oleObj name="Equation" r:id="rId7" imgW="914400" imgH="228600" progId="Equation.DSMT4">
                  <p:embed/>
                </p:oleObj>
              </mc:Choice>
              <mc:Fallback>
                <p:oleObj name="Equation" r:id="rId7" imgW="914400" imgH="228600" progId="Equation.DSMT4">
                  <p:embed/>
                  <p:pic>
                    <p:nvPicPr>
                      <p:cNvPr id="5" name="Object 2">
                        <a:extLst>
                          <a:ext uri="{FF2B5EF4-FFF2-40B4-BE49-F238E27FC236}">
                            <a16:creationId xmlns:a16="http://schemas.microsoft.com/office/drawing/2014/main" id="{9A666D6D-FE54-993F-F2F3-41DC35479BFF}"/>
                          </a:ext>
                        </a:extLst>
                      </p:cNvPr>
                      <p:cNvPicPr>
                        <a:picLocks noChangeAspect="1" noChangeArrowheads="1"/>
                      </p:cNvPicPr>
                      <p:nvPr/>
                    </p:nvPicPr>
                    <p:blipFill>
                      <a:blip r:embed="rId8"/>
                      <a:srcRect/>
                      <a:stretch>
                        <a:fillRect/>
                      </a:stretch>
                    </p:blipFill>
                    <p:spPr bwMode="auto">
                      <a:xfrm>
                        <a:off x="2190750" y="5061077"/>
                        <a:ext cx="169545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771650" y="5533154"/>
            <a:ext cx="447675"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28" name="Object 2" descr=" I subscript S.&#10;">
            <a:extLst>
              <a:ext uri="{FF2B5EF4-FFF2-40B4-BE49-F238E27FC236}">
                <a16:creationId xmlns:a16="http://schemas.microsoft.com/office/drawing/2014/main" id="{ABEA3426-6B88-CCEF-8E93-573A2CFAB398}"/>
              </a:ext>
            </a:extLst>
          </p:cNvPr>
          <p:cNvGraphicFramePr>
            <a:graphicFrameLocks noChangeAspect="1"/>
          </p:cNvGraphicFramePr>
          <p:nvPr>
            <p:extLst>
              <p:ext uri="{D42A27DB-BD31-4B8C-83A1-F6EECF244321}">
                <p14:modId xmlns:p14="http://schemas.microsoft.com/office/powerpoint/2010/main" val="2914855388"/>
              </p:ext>
            </p:extLst>
          </p:nvPr>
        </p:nvGraphicFramePr>
        <p:xfrm>
          <a:off x="2215856" y="5553664"/>
          <a:ext cx="266200" cy="433387"/>
        </p:xfrm>
        <a:graphic>
          <a:graphicData uri="http://schemas.openxmlformats.org/presentationml/2006/ole">
            <mc:AlternateContent xmlns:mc="http://schemas.openxmlformats.org/markup-compatibility/2006">
              <mc:Choice xmlns:v="urn:schemas-microsoft-com:vml" Requires="v">
                <p:oleObj name="Equation" r:id="rId9" imgW="139680" imgH="228600" progId="Equation.DSMT4">
                  <p:embed/>
                </p:oleObj>
              </mc:Choice>
              <mc:Fallback>
                <p:oleObj name="Equation" r:id="rId9" imgW="139680" imgH="228600" progId="Equation.DSMT4">
                  <p:embed/>
                  <p:pic>
                    <p:nvPicPr>
                      <p:cNvPr id="5" name="Object 2">
                        <a:extLst>
                          <a:ext uri="{FF2B5EF4-FFF2-40B4-BE49-F238E27FC236}">
                            <a16:creationId xmlns:a16="http://schemas.microsoft.com/office/drawing/2014/main" id="{9A666D6D-FE54-993F-F2F3-41DC35479BFF}"/>
                          </a:ext>
                        </a:extLst>
                      </p:cNvPr>
                      <p:cNvPicPr>
                        <a:picLocks noChangeAspect="1" noChangeArrowheads="1"/>
                      </p:cNvPicPr>
                      <p:nvPr/>
                    </p:nvPicPr>
                    <p:blipFill>
                      <a:blip r:embed="rId10"/>
                      <a:srcRect/>
                      <a:stretch>
                        <a:fillRect/>
                      </a:stretch>
                    </p:blipFill>
                    <p:spPr bwMode="auto">
                      <a:xfrm>
                        <a:off x="2215856" y="5553664"/>
                        <a:ext cx="266200" cy="433387"/>
                      </a:xfrm>
                      <a:prstGeom prst="rect">
                        <a:avLst/>
                      </a:prstGeom>
                      <a:noFill/>
                    </p:spPr>
                  </p:pic>
                </p:oleObj>
              </mc:Fallback>
            </mc:AlternateContent>
          </a:graphicData>
        </a:graphic>
      </p:graphicFrame>
    </p:spTree>
    <p:extLst>
      <p:ext uri="{BB962C8B-B14F-4D97-AF65-F5344CB8AC3E}">
        <p14:creationId xmlns:p14="http://schemas.microsoft.com/office/powerpoint/2010/main" val="3714621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76BEA-A123-23DD-95DB-83A8DBBB77D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A4C8065-9E13-4062-D722-BD9BF096F56E}"/>
              </a:ext>
            </a:extLst>
          </p:cNvPr>
          <p:cNvSpPr>
            <a:spLocks noGrp="1"/>
          </p:cNvSpPr>
          <p:nvPr>
            <p:ph type="title"/>
          </p:nvPr>
        </p:nvSpPr>
        <p:spPr>
          <a:xfrm>
            <a:off x="437590" y="218261"/>
            <a:ext cx="8229600" cy="1021237"/>
          </a:xfrm>
        </p:spPr>
        <p:txBody>
          <a:bodyPr/>
          <a:lstStyle/>
          <a:p>
            <a:r>
              <a:rPr lang="en-US" noProof="0" dirty="0"/>
              <a:t>Chapter 7 – </a:t>
            </a:r>
            <a:r>
              <a:rPr lang="en-US" i="1" spc="-400" noProof="0" dirty="0"/>
              <a:t>R </a:t>
            </a:r>
            <a:r>
              <a:rPr lang="en-US" i="1" noProof="0" dirty="0"/>
              <a:t>L</a:t>
            </a:r>
            <a:r>
              <a:rPr lang="en-US" noProof="0" dirty="0"/>
              <a:t> Natural Response      </a:t>
            </a:r>
            <a:r>
              <a:rPr lang="en-US" sz="2800" noProof="0" dirty="0"/>
              <a:t>(6 of 7)</a:t>
            </a:r>
          </a:p>
        </p:txBody>
      </p:sp>
      <p:sp>
        <p:nvSpPr>
          <p:cNvPr id="7" name="Content Placeholder 6">
            <a:extLst>
              <a:ext uri="{FF2B5EF4-FFF2-40B4-BE49-F238E27FC236}">
                <a16:creationId xmlns:a16="http://schemas.microsoft.com/office/drawing/2014/main" id="{7BBCD5E3-E833-EAF2-F8BF-6771B32F1BE9}"/>
              </a:ext>
            </a:extLst>
          </p:cNvPr>
          <p:cNvSpPr>
            <a:spLocks noGrp="1"/>
          </p:cNvSpPr>
          <p:nvPr>
            <p:ph sz="quarter" idx="12"/>
          </p:nvPr>
        </p:nvSpPr>
        <p:spPr>
          <a:xfrm>
            <a:off x="428625" y="1539549"/>
            <a:ext cx="5610225" cy="405683"/>
          </a:xfrm>
        </p:spPr>
        <p:txBody>
          <a:bodyPr wrap="square" lIns="0" tIns="18000" rIns="0" bIns="18000" anchor="ctr">
            <a:spAutoFit/>
          </a:bodyPr>
          <a:lstStyle/>
          <a:p>
            <a:pPr marL="0" indent="0">
              <a:spcBef>
                <a:spcPts val="600"/>
              </a:spcBef>
              <a:buNone/>
            </a:pPr>
            <a:r>
              <a:rPr lang="en-US" sz="2400" noProof="0" dirty="0"/>
              <a:t>To evaluate the current in the inductor for </a:t>
            </a:r>
          </a:p>
        </p:txBody>
      </p:sp>
      <p:graphicFrame>
        <p:nvGraphicFramePr>
          <p:cNvPr id="2" name="Object 2" descr="t less than 0.&#10;">
            <a:extLst>
              <a:ext uri="{FF2B5EF4-FFF2-40B4-BE49-F238E27FC236}">
                <a16:creationId xmlns:a16="http://schemas.microsoft.com/office/drawing/2014/main" id="{E8E28976-3378-D033-6CF4-740DF743C3C7}"/>
              </a:ext>
            </a:extLst>
          </p:cNvPr>
          <p:cNvGraphicFramePr>
            <a:graphicFrameLocks noChangeAspect="1"/>
          </p:cNvGraphicFramePr>
          <p:nvPr/>
        </p:nvGraphicFramePr>
        <p:xfrm>
          <a:off x="6079331" y="1591220"/>
          <a:ext cx="658813" cy="352425"/>
        </p:xfrm>
        <a:graphic>
          <a:graphicData uri="http://schemas.openxmlformats.org/presentationml/2006/ole">
            <mc:AlternateContent xmlns:mc="http://schemas.openxmlformats.org/markup-compatibility/2006">
              <mc:Choice xmlns:v="urn:schemas-microsoft-com:vml" Requires="v">
                <p:oleObj name="Equation" r:id="rId2" imgW="355320" imgH="190440" progId="Equation.DSMT4">
                  <p:embed/>
                </p:oleObj>
              </mc:Choice>
              <mc:Fallback>
                <p:oleObj name="Equation" r:id="rId2" imgW="355320" imgH="190440" progId="Equation.DSMT4">
                  <p:embed/>
                  <p:pic>
                    <p:nvPicPr>
                      <p:cNvPr id="2" name="Object 2" descr="t less than 0.&#10;">
                        <a:extLst>
                          <a:ext uri="{FF2B5EF4-FFF2-40B4-BE49-F238E27FC236}">
                            <a16:creationId xmlns:a16="http://schemas.microsoft.com/office/drawing/2014/main" id="{550E9F9F-2D6E-A5F6-D6EF-A5699A24ABB4}"/>
                          </a:ext>
                        </a:extLst>
                      </p:cNvPr>
                      <p:cNvPicPr>
                        <a:picLocks noChangeAspect="1" noChangeArrowheads="1"/>
                      </p:cNvPicPr>
                      <p:nvPr/>
                    </p:nvPicPr>
                    <p:blipFill>
                      <a:blip r:embed="rId3"/>
                      <a:srcRect/>
                      <a:stretch>
                        <a:fillRect/>
                      </a:stretch>
                    </p:blipFill>
                    <p:spPr bwMode="auto">
                      <a:xfrm>
                        <a:off x="6079331" y="1591220"/>
                        <a:ext cx="658813"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BE91DDD9-966D-A08D-914E-1B991962EBCC}"/>
              </a:ext>
            </a:extLst>
          </p:cNvPr>
          <p:cNvSpPr>
            <a:spLocks noGrp="1"/>
          </p:cNvSpPr>
          <p:nvPr>
            <p:ph sz="quarter" idx="13"/>
          </p:nvPr>
        </p:nvSpPr>
        <p:spPr>
          <a:xfrm>
            <a:off x="6778625" y="1536629"/>
            <a:ext cx="1238250" cy="405683"/>
          </a:xfrm>
        </p:spPr>
        <p:txBody>
          <a:bodyPr wrap="square" lIns="0" tIns="18000" rIns="0" bIns="18000" anchor="ctr">
            <a:spAutoFit/>
          </a:bodyPr>
          <a:lstStyle/>
          <a:p>
            <a:pPr marL="0" indent="0">
              <a:spcBef>
                <a:spcPts val="600"/>
              </a:spcBef>
              <a:buNone/>
            </a:pPr>
            <a:r>
              <a:rPr lang="en-US" sz="2400" noProof="0" dirty="0"/>
              <a:t>close the </a:t>
            </a:r>
          </a:p>
        </p:txBody>
      </p:sp>
      <p:sp>
        <p:nvSpPr>
          <p:cNvPr id="9" name="Content Placeholder 8">
            <a:extLst>
              <a:ext uri="{FF2B5EF4-FFF2-40B4-BE49-F238E27FC236}">
                <a16:creationId xmlns:a16="http://schemas.microsoft.com/office/drawing/2014/main" id="{50E3573B-70C5-4AB8-E088-2C89E7A01509}"/>
              </a:ext>
            </a:extLst>
          </p:cNvPr>
          <p:cNvSpPr>
            <a:spLocks noGrp="1"/>
          </p:cNvSpPr>
          <p:nvPr>
            <p:ph sz="quarter" idx="14"/>
          </p:nvPr>
        </p:nvSpPr>
        <p:spPr>
          <a:xfrm>
            <a:off x="428625" y="2014240"/>
            <a:ext cx="8229600" cy="775015"/>
          </a:xfrm>
        </p:spPr>
        <p:txBody>
          <a:bodyPr wrap="square" lIns="0" tIns="18000" rIns="0" bIns="18000" anchor="ctr">
            <a:spAutoFit/>
          </a:bodyPr>
          <a:lstStyle/>
          <a:p>
            <a:pPr marL="0" indent="0">
              <a:spcBef>
                <a:spcPts val="600"/>
              </a:spcBef>
              <a:buNone/>
            </a:pPr>
            <a:r>
              <a:rPr lang="en-US" sz="2400" noProof="0" dirty="0"/>
              <a:t>switch and replace the inductor with a short circuit. The current from bottom to top in the short circuit is</a:t>
            </a:r>
          </a:p>
        </p:txBody>
      </p:sp>
      <p:pic>
        <p:nvPicPr>
          <p:cNvPr id="3" name="Picture 8" descr="A circuit diagram shows an independent current source which produces constant current I subscript s. The current source forms the leftmost wire of the circuit. Resistor R subscript 0, inductor L, and resistor R are all connected in parallel across the current source and respectively form the second, third, and fourth wires of the circuit when counted from the left. Two nodes are marked for resistor R subscript 0, one each at the point where resistor R subscript 0 connects to the top and bottom wire of the circuit. Two nodes are also marked for inductor L, one each at the point where inductor L connects to the top and bottom wire of the circuit. A switch connects the nodes in the top wire between the resistor R subscript 0 and inductor L. The switch is opened at the beginning, that is when time t equals zero. Current i flows through rightmost resistor R. Voltage v forms across the resistor R with positive polarity at the upper end and negative polarity at the lower end of resistor R.">
            <a:extLst>
              <a:ext uri="{FF2B5EF4-FFF2-40B4-BE49-F238E27FC236}">
                <a16:creationId xmlns:a16="http://schemas.microsoft.com/office/drawing/2014/main" id="{0B84E3BA-CBD6-FE86-067B-9DECEB1FA2B3}"/>
              </a:ext>
            </a:extLst>
          </p:cNvPr>
          <p:cNvPicPr>
            <a:picLocks noChangeAspect="1" noChangeArrowheads="1"/>
          </p:cNvPicPr>
          <p:nvPr/>
        </p:nvPicPr>
        <p:blipFill>
          <a:blip r:embed="rId4"/>
          <a:srcRect/>
          <a:stretch/>
        </p:blipFill>
        <p:spPr bwMode="auto">
          <a:xfrm>
            <a:off x="2829590" y="3014236"/>
            <a:ext cx="3484819" cy="1316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5" descr="Cross mark">
            <a:extLst>
              <a:ext uri="{FF2B5EF4-FFF2-40B4-BE49-F238E27FC236}">
                <a16:creationId xmlns:a16="http://schemas.microsoft.com/office/drawing/2014/main" id="{AC8EAC67-D060-DA1D-16CF-FB55CCCE9ED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06168" y="4624992"/>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E601DA42-4127-DA56-B202-A594D6F140D9}"/>
              </a:ext>
            </a:extLst>
          </p:cNvPr>
          <p:cNvSpPr>
            <a:spLocks noGrp="1"/>
          </p:cNvSpPr>
          <p:nvPr>
            <p:ph sz="quarter" idx="15"/>
          </p:nvPr>
        </p:nvSpPr>
        <p:spPr>
          <a:xfrm>
            <a:off x="1771650" y="4549793"/>
            <a:ext cx="37147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5" name="Object 2" descr="negative I subscript S.&#10;">
            <a:extLst>
              <a:ext uri="{FF2B5EF4-FFF2-40B4-BE49-F238E27FC236}">
                <a16:creationId xmlns:a16="http://schemas.microsoft.com/office/drawing/2014/main" id="{A5CE3E0C-1CED-27A9-F14F-4874340814A6}"/>
              </a:ext>
            </a:extLst>
          </p:cNvPr>
          <p:cNvGraphicFramePr>
            <a:graphicFrameLocks noChangeAspect="1"/>
          </p:cNvGraphicFramePr>
          <p:nvPr/>
        </p:nvGraphicFramePr>
        <p:xfrm>
          <a:off x="2190750" y="4549793"/>
          <a:ext cx="423862" cy="423862"/>
        </p:xfrm>
        <a:graphic>
          <a:graphicData uri="http://schemas.openxmlformats.org/presentationml/2006/ole">
            <mc:AlternateContent xmlns:mc="http://schemas.openxmlformats.org/markup-compatibility/2006">
              <mc:Choice xmlns:v="urn:schemas-microsoft-com:vml" Requires="v">
                <p:oleObj name="Equation" r:id="rId6" imgW="228600" imgH="228600" progId="Equation.DSMT4">
                  <p:embed/>
                </p:oleObj>
              </mc:Choice>
              <mc:Fallback>
                <p:oleObj name="Equation" r:id="rId6" imgW="228600" imgH="228600" progId="Equation.DSMT4">
                  <p:embed/>
                  <p:pic>
                    <p:nvPicPr>
                      <p:cNvPr id="5" name="Object 2" descr="negative I subscript S.&#10;">
                        <a:extLst>
                          <a:ext uri="{FF2B5EF4-FFF2-40B4-BE49-F238E27FC236}">
                            <a16:creationId xmlns:a16="http://schemas.microsoft.com/office/drawing/2014/main" id="{9A666D6D-FE54-993F-F2F3-41DC35479BFF}"/>
                          </a:ext>
                        </a:extLst>
                      </p:cNvPr>
                      <p:cNvPicPr>
                        <a:picLocks noChangeAspect="1" noChangeArrowheads="1"/>
                      </p:cNvPicPr>
                      <p:nvPr/>
                    </p:nvPicPr>
                    <p:blipFill>
                      <a:blip r:embed="rId7"/>
                      <a:srcRect/>
                      <a:stretch>
                        <a:fillRect/>
                      </a:stretch>
                    </p:blipFill>
                    <p:spPr bwMode="auto">
                      <a:xfrm>
                        <a:off x="2190750" y="4549793"/>
                        <a:ext cx="423862" cy="423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 name="Picture 5" descr="Cross mark">
            <a:extLst>
              <a:ext uri="{FF2B5EF4-FFF2-40B4-BE49-F238E27FC236}">
                <a16:creationId xmlns:a16="http://schemas.microsoft.com/office/drawing/2014/main" id="{C5898F6D-3FAD-F600-0B7B-7CD2BD5DB20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06168" y="509711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77D5B9FF-B8ED-DA85-0934-BEA8D89E7DCB}"/>
              </a:ext>
            </a:extLst>
          </p:cNvPr>
          <p:cNvSpPr>
            <a:spLocks noGrp="1"/>
          </p:cNvSpPr>
          <p:nvPr>
            <p:ph sz="quarter" idx="16"/>
          </p:nvPr>
        </p:nvSpPr>
        <p:spPr>
          <a:xfrm>
            <a:off x="1771650" y="5039960"/>
            <a:ext cx="447675"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 </a:t>
            </a:r>
          </a:p>
        </p:txBody>
      </p:sp>
      <p:graphicFrame>
        <p:nvGraphicFramePr>
          <p:cNvPr id="26" name="Object 2" descr=" R I subscript S Baseline I multiplied by OpenParenthesis R plus R subscript 0 CloseParenthesis.&#10;">
            <a:extLst>
              <a:ext uri="{FF2B5EF4-FFF2-40B4-BE49-F238E27FC236}">
                <a16:creationId xmlns:a16="http://schemas.microsoft.com/office/drawing/2014/main" id="{CD3901D3-BDEF-766B-4280-4D7C6BF2A4C6}"/>
              </a:ext>
            </a:extLst>
          </p:cNvPr>
          <p:cNvGraphicFramePr>
            <a:graphicFrameLocks noChangeAspect="1"/>
          </p:cNvGraphicFramePr>
          <p:nvPr/>
        </p:nvGraphicFramePr>
        <p:xfrm>
          <a:off x="2190750" y="5061077"/>
          <a:ext cx="1695450" cy="423863"/>
        </p:xfrm>
        <a:graphic>
          <a:graphicData uri="http://schemas.openxmlformats.org/presentationml/2006/ole">
            <mc:AlternateContent xmlns:mc="http://schemas.openxmlformats.org/markup-compatibility/2006">
              <mc:Choice xmlns:v="urn:schemas-microsoft-com:vml" Requires="v">
                <p:oleObj name="Equation" r:id="rId8" imgW="914400" imgH="228600" progId="Equation.DSMT4">
                  <p:embed/>
                </p:oleObj>
              </mc:Choice>
              <mc:Fallback>
                <p:oleObj name="Equation" r:id="rId8" imgW="914400" imgH="228600" progId="Equation.DSMT4">
                  <p:embed/>
                  <p:pic>
                    <p:nvPicPr>
                      <p:cNvPr id="26" name="Object 2" descr=" R I subscript S Baseline I multiplied by OpenParenthesis R plus R subscript 0 CloseParenthesis.&#10;">
                        <a:extLst>
                          <a:ext uri="{FF2B5EF4-FFF2-40B4-BE49-F238E27FC236}">
                            <a16:creationId xmlns:a16="http://schemas.microsoft.com/office/drawing/2014/main" id="{D77262D6-4D32-3D8D-F78A-DA8DBFEF4850}"/>
                          </a:ext>
                        </a:extLst>
                      </p:cNvPr>
                      <p:cNvPicPr>
                        <a:picLocks noChangeAspect="1" noChangeArrowheads="1"/>
                      </p:cNvPicPr>
                      <p:nvPr/>
                    </p:nvPicPr>
                    <p:blipFill>
                      <a:blip r:embed="rId9"/>
                      <a:srcRect/>
                      <a:stretch>
                        <a:fillRect/>
                      </a:stretch>
                    </p:blipFill>
                    <p:spPr bwMode="auto">
                      <a:xfrm>
                        <a:off x="2190750" y="5061077"/>
                        <a:ext cx="169545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7" name="Picture 2" descr="Check mark">
            <a:extLst>
              <a:ext uri="{FF2B5EF4-FFF2-40B4-BE49-F238E27FC236}">
                <a16:creationId xmlns:a16="http://schemas.microsoft.com/office/drawing/2014/main" id="{606A443A-EBAA-5C17-1958-07E3AA57DE4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206168" y="5612874"/>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13ED5116-C5F7-A3AC-B1C3-2625233E5D50}"/>
              </a:ext>
            </a:extLst>
          </p:cNvPr>
          <p:cNvSpPr>
            <a:spLocks noGrp="1"/>
          </p:cNvSpPr>
          <p:nvPr>
            <p:ph sz="quarter" idx="17"/>
          </p:nvPr>
        </p:nvSpPr>
        <p:spPr>
          <a:xfrm>
            <a:off x="1771650" y="5533154"/>
            <a:ext cx="447675"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28" name="Object 2" descr=" I subscript S.&#10;">
            <a:extLst>
              <a:ext uri="{FF2B5EF4-FFF2-40B4-BE49-F238E27FC236}">
                <a16:creationId xmlns:a16="http://schemas.microsoft.com/office/drawing/2014/main" id="{DC10D97F-C22E-C732-31D7-652CF915BACE}"/>
              </a:ext>
            </a:extLst>
          </p:cNvPr>
          <p:cNvGraphicFramePr>
            <a:graphicFrameLocks noChangeAspect="1"/>
          </p:cNvGraphicFramePr>
          <p:nvPr/>
        </p:nvGraphicFramePr>
        <p:xfrm>
          <a:off x="2215856" y="5553664"/>
          <a:ext cx="266200" cy="433387"/>
        </p:xfrm>
        <a:graphic>
          <a:graphicData uri="http://schemas.openxmlformats.org/presentationml/2006/ole">
            <mc:AlternateContent xmlns:mc="http://schemas.openxmlformats.org/markup-compatibility/2006">
              <mc:Choice xmlns:v="urn:schemas-microsoft-com:vml" Requires="v">
                <p:oleObj name="Equation" r:id="rId11" imgW="139680" imgH="228600" progId="Equation.DSMT4">
                  <p:embed/>
                </p:oleObj>
              </mc:Choice>
              <mc:Fallback>
                <p:oleObj name="Equation" r:id="rId11" imgW="139680" imgH="228600" progId="Equation.DSMT4">
                  <p:embed/>
                  <p:pic>
                    <p:nvPicPr>
                      <p:cNvPr id="28" name="Object 2" descr=" I subscript S.&#10;">
                        <a:extLst>
                          <a:ext uri="{FF2B5EF4-FFF2-40B4-BE49-F238E27FC236}">
                            <a16:creationId xmlns:a16="http://schemas.microsoft.com/office/drawing/2014/main" id="{ABEA3426-6B88-CCEF-8E93-573A2CFAB398}"/>
                          </a:ext>
                        </a:extLst>
                      </p:cNvPr>
                      <p:cNvPicPr>
                        <a:picLocks noChangeAspect="1" noChangeArrowheads="1"/>
                      </p:cNvPicPr>
                      <p:nvPr/>
                    </p:nvPicPr>
                    <p:blipFill>
                      <a:blip r:embed="rId12"/>
                      <a:srcRect/>
                      <a:stretch>
                        <a:fillRect/>
                      </a:stretch>
                    </p:blipFill>
                    <p:spPr bwMode="auto">
                      <a:xfrm>
                        <a:off x="2215856" y="5553664"/>
                        <a:ext cx="266200" cy="433387"/>
                      </a:xfrm>
                      <a:prstGeom prst="rect">
                        <a:avLst/>
                      </a:prstGeom>
                      <a:noFill/>
                    </p:spPr>
                  </p:pic>
                </p:oleObj>
              </mc:Fallback>
            </mc:AlternateContent>
          </a:graphicData>
        </a:graphic>
      </p:graphicFrame>
    </p:spTree>
    <p:extLst>
      <p:ext uri="{BB962C8B-B14F-4D97-AF65-F5344CB8AC3E}">
        <p14:creationId xmlns:p14="http://schemas.microsoft.com/office/powerpoint/2010/main" val="3779278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7590" y="220934"/>
            <a:ext cx="8229600" cy="1021237"/>
          </a:xfrm>
        </p:spPr>
        <p:txBody>
          <a:bodyPr/>
          <a:lstStyle/>
          <a:p>
            <a:r>
              <a:rPr lang="en-US" noProof="0" dirty="0"/>
              <a:t>Chapter 7 – </a:t>
            </a:r>
            <a:r>
              <a:rPr lang="en-US" i="1" spc="-400" noProof="0" dirty="0"/>
              <a:t>R </a:t>
            </a:r>
            <a:r>
              <a:rPr lang="en-US" i="1" noProof="0" dirty="0"/>
              <a:t>L</a:t>
            </a:r>
            <a:r>
              <a:rPr lang="en-US" noProof="0" dirty="0"/>
              <a:t> Natural Response      </a:t>
            </a:r>
            <a:r>
              <a:rPr lang="en-US" sz="2800" noProof="0" dirty="0"/>
              <a:t>(7 of 7)</a:t>
            </a:r>
          </a:p>
        </p:txBody>
      </p:sp>
      <p:pic>
        <p:nvPicPr>
          <p:cNvPr id="2" name="Picture 15" descr="A circuit diagram shows an independent current source which produces constant current I subscript s. The current source forms the leftmost wire of the circuit. Resistor R subscript 0, inductor L, and resistor R are all connected in parallel across the current source and respectively form the second, third, and fourth wires of the circuit when counted from the left. Two nodes are marked for resistor R subscript 0, one each at the point where resistor R subscript 0 connects to the top and bottom wire of the circuit. Two nodes are also marked for inductor L, one each at the point where inductor L connects to the top and bottom wire of the circuit. A switch connects the nodes in the top wire between the resistor R subscript 0 and inductor L. The switch is opened at the beginning, that is when time t equals zero. Current i flows through rightmost resistor R. Voltage v forms across the resistor R with positive polarity at the upper end and negative polarity at the lower end of resistor R.">
            <a:extLst>
              <a:ext uri="{FF2B5EF4-FFF2-40B4-BE49-F238E27FC236}">
                <a16:creationId xmlns:a16="http://schemas.microsoft.com/office/drawing/2014/main" id="{7EF40EFA-873C-D726-A15C-75A0362890D2}"/>
              </a:ext>
            </a:extLst>
          </p:cNvPr>
          <p:cNvPicPr>
            <a:picLocks noChangeAspect="1" noChangeArrowheads="1"/>
          </p:cNvPicPr>
          <p:nvPr/>
        </p:nvPicPr>
        <p:blipFill>
          <a:blip r:embed="rId2"/>
          <a:srcRect/>
          <a:stretch/>
        </p:blipFill>
        <p:spPr bwMode="auto">
          <a:xfrm>
            <a:off x="2722397" y="1425615"/>
            <a:ext cx="3699206" cy="1397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Object 5" descr="t less than 0 colon.&#10;">
            <a:extLst>
              <a:ext uri="{FF2B5EF4-FFF2-40B4-BE49-F238E27FC236}">
                <a16:creationId xmlns:a16="http://schemas.microsoft.com/office/drawing/2014/main" id="{3C39CC4F-D178-61A5-7789-9F851BF2F7A5}"/>
              </a:ext>
            </a:extLst>
          </p:cNvPr>
          <p:cNvGraphicFramePr>
            <a:graphicFrameLocks noChangeAspect="1"/>
          </p:cNvGraphicFramePr>
          <p:nvPr>
            <p:extLst>
              <p:ext uri="{D42A27DB-BD31-4B8C-83A1-F6EECF244321}">
                <p14:modId xmlns:p14="http://schemas.microsoft.com/office/powerpoint/2010/main" val="3807661182"/>
              </p:ext>
            </p:extLst>
          </p:nvPr>
        </p:nvGraphicFramePr>
        <p:xfrm>
          <a:off x="1804988" y="3089275"/>
          <a:ext cx="682625" cy="298450"/>
        </p:xfrm>
        <a:graphic>
          <a:graphicData uri="http://schemas.openxmlformats.org/presentationml/2006/ole">
            <mc:AlternateContent xmlns:mc="http://schemas.openxmlformats.org/markup-compatibility/2006">
              <mc:Choice xmlns:v="urn:schemas-microsoft-com:vml" Requires="v">
                <p:oleObj name="Equation" r:id="rId3" imgW="406080" imgH="177480" progId="Equation.DSMT4">
                  <p:embed/>
                </p:oleObj>
              </mc:Choice>
              <mc:Fallback>
                <p:oleObj name="Equation" r:id="rId3" imgW="406080" imgH="177480" progId="Equation.DSMT4">
                  <p:embed/>
                  <p:pic>
                    <p:nvPicPr>
                      <p:cNvPr id="16" name="Object 5"/>
                      <p:cNvPicPr>
                        <a:picLocks noChangeAspect="1" noChangeArrowheads="1"/>
                      </p:cNvPicPr>
                      <p:nvPr/>
                    </p:nvPicPr>
                    <p:blipFill>
                      <a:blip r:embed="rId4"/>
                      <a:srcRect/>
                      <a:stretch>
                        <a:fillRect/>
                      </a:stretch>
                    </p:blipFill>
                    <p:spPr bwMode="auto">
                      <a:xfrm>
                        <a:off x="1804988" y="3089275"/>
                        <a:ext cx="682625" cy="298450"/>
                      </a:xfrm>
                      <a:prstGeom prst="rect">
                        <a:avLst/>
                      </a:prstGeom>
                      <a:noFill/>
                    </p:spPr>
                  </p:pic>
                </p:oleObj>
              </mc:Fallback>
            </mc:AlternateContent>
          </a:graphicData>
        </a:graphic>
      </p:graphicFrame>
      <p:pic>
        <p:nvPicPr>
          <p:cNvPr id="4" name="Picture 4" descr="A circuit diagram shows the conditions in a circuit before the switch is opened, that is when time t is less than zero. The circuit shows an independent current source which produces constant current I subscript s. The current source forms the leftmost wire of the circuit. Resistor R subscript 0, inductor L, and resistor R are all connected in parallel across the current source and respectively form the second, third, and fourth wires of the circuit when counted from the left. Two nodes are marked for resistor R subscript 0, one each at the point where resistor R subscript 0 connects to the top and bottom wire of the circuit. Two nodes are also marked for inductor L, one each at the point where inductor L connects to the top and bottom wire of the circuit. Current i that flows upwards through the inductor L and downwards through rightmost resistor R equals the constant current I subscript s when time t equals zero. Voltage v forms across the resistor R with positive polarity at the upper end and negative polarity at the lower end of resistor R.">
            <a:extLst>
              <a:ext uri="{FF2B5EF4-FFF2-40B4-BE49-F238E27FC236}">
                <a16:creationId xmlns:a16="http://schemas.microsoft.com/office/drawing/2014/main" id="{75705EC4-11F2-D15F-A8C2-EE3F7E2C9257}"/>
              </a:ext>
            </a:extLst>
          </p:cNvPr>
          <p:cNvPicPr>
            <a:picLocks noChangeAspect="1" noChangeArrowheads="1"/>
          </p:cNvPicPr>
          <p:nvPr/>
        </p:nvPicPr>
        <p:blipFill>
          <a:blip r:embed="rId5"/>
          <a:stretch>
            <a:fillRect/>
          </a:stretch>
        </p:blipFill>
        <p:spPr bwMode="auto">
          <a:xfrm>
            <a:off x="2679282" y="2985352"/>
            <a:ext cx="3785436" cy="1167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6" descr="t is greater than or equal to 0 colon.&#10;">
            <a:extLst>
              <a:ext uri="{FF2B5EF4-FFF2-40B4-BE49-F238E27FC236}">
                <a16:creationId xmlns:a16="http://schemas.microsoft.com/office/drawing/2014/main" id="{1D539CE1-EE41-4844-B471-BD9AAA5E3E4E}"/>
              </a:ext>
            </a:extLst>
          </p:cNvPr>
          <p:cNvGraphicFramePr>
            <a:graphicFrameLocks noChangeAspect="1"/>
          </p:cNvGraphicFramePr>
          <p:nvPr>
            <p:extLst>
              <p:ext uri="{D42A27DB-BD31-4B8C-83A1-F6EECF244321}">
                <p14:modId xmlns:p14="http://schemas.microsoft.com/office/powerpoint/2010/main" val="2981569018"/>
              </p:ext>
            </p:extLst>
          </p:nvPr>
        </p:nvGraphicFramePr>
        <p:xfrm>
          <a:off x="1798638" y="4608513"/>
          <a:ext cx="681037" cy="298450"/>
        </p:xfrm>
        <a:graphic>
          <a:graphicData uri="http://schemas.openxmlformats.org/presentationml/2006/ole">
            <mc:AlternateContent xmlns:mc="http://schemas.openxmlformats.org/markup-compatibility/2006">
              <mc:Choice xmlns:v="urn:schemas-microsoft-com:vml" Requires="v">
                <p:oleObj name="Equation" r:id="rId6" imgW="406080" imgH="177480" progId="Equation.DSMT4">
                  <p:embed/>
                </p:oleObj>
              </mc:Choice>
              <mc:Fallback>
                <p:oleObj name="Equation" r:id="rId6" imgW="406080" imgH="177480" progId="Equation.DSMT4">
                  <p:embed/>
                  <p:pic>
                    <p:nvPicPr>
                      <p:cNvPr id="18" name="Object 6"/>
                      <p:cNvPicPr>
                        <a:picLocks noChangeAspect="1" noChangeArrowheads="1"/>
                      </p:cNvPicPr>
                      <p:nvPr/>
                    </p:nvPicPr>
                    <p:blipFill>
                      <a:blip r:embed="rId7"/>
                      <a:srcRect/>
                      <a:stretch>
                        <a:fillRect/>
                      </a:stretch>
                    </p:blipFill>
                    <p:spPr bwMode="auto">
                      <a:xfrm>
                        <a:off x="1798638" y="4608513"/>
                        <a:ext cx="681037"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 name="Picture 7" descr="A circuit diagram shows the conditions in a circuit after the switch is opened, that is when time t is equal to or more than zero. The circuit shows an independent current source which produces constant current I subscript s. The current source forms the leftmost wire of the circuit. Resistor R subscript 0, inductor L, and resistor R are all connected in parallel across the current source and respectively form the second, third, and fourth wires of the circuit when counted from the left. Two nodes are marked for resistor R subscript 0, one each at the point where resistor R subscript 0 connects to the top and bottom wire of the circuit. Two nodes are also marked for inductor L, one each at the point where inductor L connects to the top and bottom wire of the circuit. The upper nodes of resistor R subscript 0 and inductor L are not connected. Current i that flows upwards through the inductor L and downwards through rightmost resistor R is a function of the constant current I subscript s, time t, resistor R, and inductor L. Voltage v forms across the resistor R with positive polarity at the upper end and negative polarity at the lower end of resistor R.">
            <a:extLst>
              <a:ext uri="{FF2B5EF4-FFF2-40B4-BE49-F238E27FC236}">
                <a16:creationId xmlns:a16="http://schemas.microsoft.com/office/drawing/2014/main" id="{BC09B33A-E392-7F41-C98C-F7ADEFE6585F}"/>
              </a:ext>
            </a:extLst>
          </p:cNvPr>
          <p:cNvPicPr>
            <a:picLocks noChangeAspect="1" noChangeArrowheads="1"/>
          </p:cNvPicPr>
          <p:nvPr/>
        </p:nvPicPr>
        <p:blipFill>
          <a:blip r:embed="rId8"/>
          <a:stretch>
            <a:fillRect/>
          </a:stretch>
        </p:blipFill>
        <p:spPr bwMode="auto">
          <a:xfrm>
            <a:off x="2679282" y="4363600"/>
            <a:ext cx="3768189" cy="1162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 name="Object 8" descr="i (t) equals I subscript S baseline e to the negative OpenParenthesis R divided by L CloseParenthesis t power.&#10;">
            <a:extLst>
              <a:ext uri="{FF2B5EF4-FFF2-40B4-BE49-F238E27FC236}">
                <a16:creationId xmlns:a16="http://schemas.microsoft.com/office/drawing/2014/main" id="{B3EB2FB1-7F8F-45EB-31DD-8B08F7918936}"/>
              </a:ext>
            </a:extLst>
          </p:cNvPr>
          <p:cNvGraphicFramePr>
            <a:graphicFrameLocks noChangeAspect="1"/>
          </p:cNvGraphicFramePr>
          <p:nvPr>
            <p:extLst>
              <p:ext uri="{D42A27DB-BD31-4B8C-83A1-F6EECF244321}">
                <p14:modId xmlns:p14="http://schemas.microsoft.com/office/powerpoint/2010/main" val="3334428963"/>
              </p:ext>
            </p:extLst>
          </p:nvPr>
        </p:nvGraphicFramePr>
        <p:xfrm>
          <a:off x="5178425" y="5796751"/>
          <a:ext cx="1622425" cy="417513"/>
        </p:xfrm>
        <a:graphic>
          <a:graphicData uri="http://schemas.openxmlformats.org/presentationml/2006/ole">
            <mc:AlternateContent xmlns:mc="http://schemas.openxmlformats.org/markup-compatibility/2006">
              <mc:Choice xmlns:v="urn:schemas-microsoft-com:vml" Requires="v">
                <p:oleObj name="Equation" r:id="rId9" imgW="939600" imgH="241200" progId="Equation.DSMT4">
                  <p:embed/>
                </p:oleObj>
              </mc:Choice>
              <mc:Fallback>
                <p:oleObj name="Equation" r:id="rId9" imgW="939600" imgH="241200" progId="Equation.DSMT4">
                  <p:embed/>
                  <p:pic>
                    <p:nvPicPr>
                      <p:cNvPr id="22" name="Object 8"/>
                      <p:cNvPicPr>
                        <a:picLocks noChangeAspect="1" noChangeArrowheads="1"/>
                      </p:cNvPicPr>
                      <p:nvPr/>
                    </p:nvPicPr>
                    <p:blipFill>
                      <a:blip r:embed="rId10"/>
                      <a:srcRect/>
                      <a:stretch>
                        <a:fillRect/>
                      </a:stretch>
                    </p:blipFill>
                    <p:spPr bwMode="auto">
                      <a:xfrm>
                        <a:off x="5178425" y="5796751"/>
                        <a:ext cx="1622425"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8" descr="t is greater than or equal to 0.&#10;">
            <a:extLst>
              <a:ext uri="{FF2B5EF4-FFF2-40B4-BE49-F238E27FC236}">
                <a16:creationId xmlns:a16="http://schemas.microsoft.com/office/drawing/2014/main" id="{DE199E67-C16B-2644-F70A-E095186B174F}"/>
              </a:ext>
            </a:extLst>
          </p:cNvPr>
          <p:cNvGraphicFramePr>
            <a:graphicFrameLocks noChangeAspect="1"/>
          </p:cNvGraphicFramePr>
          <p:nvPr>
            <p:extLst>
              <p:ext uri="{D42A27DB-BD31-4B8C-83A1-F6EECF244321}">
                <p14:modId xmlns:p14="http://schemas.microsoft.com/office/powerpoint/2010/main" val="2479447058"/>
              </p:ext>
            </p:extLst>
          </p:nvPr>
        </p:nvGraphicFramePr>
        <p:xfrm>
          <a:off x="7248525" y="5852313"/>
          <a:ext cx="592137" cy="306387"/>
        </p:xfrm>
        <a:graphic>
          <a:graphicData uri="http://schemas.openxmlformats.org/presentationml/2006/ole">
            <mc:AlternateContent xmlns:mc="http://schemas.openxmlformats.org/markup-compatibility/2006">
              <mc:Choice xmlns:v="urn:schemas-microsoft-com:vml" Requires="v">
                <p:oleObj name="Equation" r:id="rId11" imgW="342720" imgH="177480" progId="Equation.DSMT4">
                  <p:embed/>
                </p:oleObj>
              </mc:Choice>
              <mc:Fallback>
                <p:oleObj name="Equation" r:id="rId11" imgW="342720" imgH="177480" progId="Equation.DSMT4">
                  <p:embed/>
                  <p:pic>
                    <p:nvPicPr>
                      <p:cNvPr id="26" name="Object 8">
                        <a:extLst>
                          <a:ext uri="{FF2B5EF4-FFF2-40B4-BE49-F238E27FC236}">
                            <a16:creationId xmlns:a16="http://schemas.microsoft.com/office/drawing/2014/main" id="{B3EB2FB1-7F8F-45EB-31DD-8B08F7918936}"/>
                          </a:ext>
                        </a:extLst>
                      </p:cNvPr>
                      <p:cNvPicPr>
                        <a:picLocks noChangeAspect="1" noChangeArrowheads="1"/>
                      </p:cNvPicPr>
                      <p:nvPr/>
                    </p:nvPicPr>
                    <p:blipFill>
                      <a:blip r:embed="rId12"/>
                      <a:srcRect/>
                      <a:stretch>
                        <a:fillRect/>
                      </a:stretch>
                    </p:blipFill>
                    <p:spPr bwMode="auto">
                      <a:xfrm>
                        <a:off x="7248525" y="5852313"/>
                        <a:ext cx="592137" cy="306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30045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7590" y="221090"/>
            <a:ext cx="8229600" cy="1021237"/>
          </a:xfrm>
        </p:spPr>
        <p:txBody>
          <a:bodyPr/>
          <a:lstStyle/>
          <a:p>
            <a:r>
              <a:rPr lang="en-US" noProof="0" dirty="0"/>
              <a:t>Chapter 7 – </a:t>
            </a:r>
            <a:r>
              <a:rPr lang="en-US" i="1" spc="-400" noProof="0" dirty="0"/>
              <a:t>R </a:t>
            </a:r>
            <a:r>
              <a:rPr lang="en-US" i="1" noProof="0" dirty="0"/>
              <a:t>C </a:t>
            </a:r>
            <a:r>
              <a:rPr lang="en-US" noProof="0" dirty="0"/>
              <a:t>Natural Response      </a:t>
            </a:r>
            <a:r>
              <a:rPr lang="en-US" sz="2800" noProof="0" dirty="0"/>
              <a:t>(1 of 5)</a:t>
            </a:r>
          </a:p>
        </p:txBody>
      </p:sp>
      <p:pic>
        <p:nvPicPr>
          <p:cNvPr id="2" name="Picture 1" descr="A circuit diagram shows a DC voltage source V subscript g as the leftmost wire in the circuit. Polarity of the voltage source V subscript g is positive at the top and negative at the bottom. Resistor R subscript 1 is connected to the voltage source V subscript g in the top wire of the circuit before the second wire from left. The second wire from left contains a capacitor C and a switch, both connected in parallel to the voltage source V subscript g. Voltage across the capacitor is v with positive polarity on the top side and negative at the bottom. The rightmost wire in the circuit is Resistor R connected in parallel to voltage source V subscript g. Switch is at position a before time t is zero. At position a, the switch charges the capacitor C by connecting it to the voltage source V subscript g through resistor R subscript 1. Switch is at position b when time t is zero. At position b, the switch discharges the capacitor C through resistor R. ">
            <a:extLst>
              <a:ext uri="{FF2B5EF4-FFF2-40B4-BE49-F238E27FC236}">
                <a16:creationId xmlns:a16="http://schemas.microsoft.com/office/drawing/2014/main" id="{AE41CE2A-F44F-1DAB-5ED6-3E2A1E4AD181}"/>
              </a:ext>
            </a:extLst>
          </p:cNvPr>
          <p:cNvPicPr>
            <a:picLocks noChangeAspect="1" noChangeArrowheads="1"/>
          </p:cNvPicPr>
          <p:nvPr/>
        </p:nvPicPr>
        <p:blipFill>
          <a:blip r:embed="rId2"/>
          <a:stretch>
            <a:fillRect/>
          </a:stretch>
        </p:blipFill>
        <p:spPr bwMode="auto">
          <a:xfrm>
            <a:off x="2890837" y="1472056"/>
            <a:ext cx="3362325" cy="165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6" y="3530274"/>
            <a:ext cx="3448050" cy="405683"/>
          </a:xfrm>
        </p:spPr>
        <p:txBody>
          <a:bodyPr wrap="square" lIns="0" tIns="18000" rIns="0" bIns="18000" anchor="ctr">
            <a:spAutoFit/>
          </a:bodyPr>
          <a:lstStyle/>
          <a:p>
            <a:pPr marL="0" indent="0">
              <a:spcBef>
                <a:spcPts val="600"/>
              </a:spcBef>
              <a:buNone/>
            </a:pPr>
            <a:r>
              <a:rPr lang="en-US" sz="2400" noProof="0" dirty="0"/>
              <a:t>The problem: Find </a:t>
            </a:r>
            <a:r>
              <a:rPr lang="en-US" sz="2400" i="1" noProof="0" dirty="0"/>
              <a:t>v(t)</a:t>
            </a:r>
            <a:r>
              <a:rPr lang="en-US" sz="2400" noProof="0" dirty="0"/>
              <a:t> for </a:t>
            </a:r>
          </a:p>
        </p:txBody>
      </p:sp>
      <p:graphicFrame>
        <p:nvGraphicFramePr>
          <p:cNvPr id="3" name="Object 8" descr="t is greater than or equal to 0.&#10;">
            <a:extLst>
              <a:ext uri="{FF2B5EF4-FFF2-40B4-BE49-F238E27FC236}">
                <a16:creationId xmlns:a16="http://schemas.microsoft.com/office/drawing/2014/main" id="{E33F041D-D388-3C49-C481-4D9D1BD4E665}"/>
              </a:ext>
            </a:extLst>
          </p:cNvPr>
          <p:cNvGraphicFramePr>
            <a:graphicFrameLocks noChangeAspect="1"/>
          </p:cNvGraphicFramePr>
          <p:nvPr>
            <p:extLst>
              <p:ext uri="{D42A27DB-BD31-4B8C-83A1-F6EECF244321}">
                <p14:modId xmlns:p14="http://schemas.microsoft.com/office/powerpoint/2010/main" val="133720411"/>
              </p:ext>
            </p:extLst>
          </p:nvPr>
        </p:nvGraphicFramePr>
        <p:xfrm>
          <a:off x="3959225" y="3619500"/>
          <a:ext cx="635000" cy="306388"/>
        </p:xfrm>
        <a:graphic>
          <a:graphicData uri="http://schemas.openxmlformats.org/presentationml/2006/ole">
            <mc:AlternateContent xmlns:mc="http://schemas.openxmlformats.org/markup-compatibility/2006">
              <mc:Choice xmlns:v="urn:schemas-microsoft-com:vml" Requires="v">
                <p:oleObj name="Equation" r:id="rId3" imgW="368280" imgH="177480" progId="Equation.DSMT4">
                  <p:embed/>
                </p:oleObj>
              </mc:Choice>
              <mc:Fallback>
                <p:oleObj name="Equation" r:id="rId3" imgW="368280" imgH="177480" progId="Equation.DSMT4">
                  <p:embed/>
                  <p:pic>
                    <p:nvPicPr>
                      <p:cNvPr id="27" name="Object 8">
                        <a:extLst>
                          <a:ext uri="{FF2B5EF4-FFF2-40B4-BE49-F238E27FC236}">
                            <a16:creationId xmlns:a16="http://schemas.microsoft.com/office/drawing/2014/main" id="{DE199E67-C16B-2644-F70A-E095186B174F}"/>
                          </a:ext>
                        </a:extLst>
                      </p:cNvPr>
                      <p:cNvPicPr>
                        <a:picLocks noChangeAspect="1" noChangeArrowheads="1"/>
                      </p:cNvPicPr>
                      <p:nvPr/>
                    </p:nvPicPr>
                    <p:blipFill>
                      <a:blip r:embed="rId4"/>
                      <a:srcRect/>
                      <a:stretch>
                        <a:fillRect/>
                      </a:stretch>
                    </p:blipFill>
                    <p:spPr bwMode="auto">
                      <a:xfrm>
                        <a:off x="3959225" y="3619500"/>
                        <a:ext cx="635000" cy="306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676775" y="3530274"/>
            <a:ext cx="3509963" cy="405683"/>
          </a:xfrm>
        </p:spPr>
        <p:txBody>
          <a:bodyPr wrap="square" lIns="0" tIns="18000" rIns="0" bIns="18000" anchor="ctr">
            <a:spAutoFit/>
          </a:bodyPr>
          <a:lstStyle/>
          <a:p>
            <a:pPr marL="0" indent="0">
              <a:spcBef>
                <a:spcPts val="600"/>
              </a:spcBef>
              <a:buNone/>
            </a:pPr>
            <a:r>
              <a:rPr lang="en-US" sz="2400" noProof="0" dirty="0"/>
              <a:t>Note that the circuit to the </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625" y="4035105"/>
            <a:ext cx="8247063" cy="405683"/>
          </a:xfrm>
        </p:spPr>
        <p:txBody>
          <a:bodyPr wrap="square" lIns="0" tIns="18000" rIns="0" bIns="18000" anchor="ctr">
            <a:spAutoFit/>
          </a:bodyPr>
          <a:lstStyle/>
          <a:p>
            <a:pPr marL="0" indent="0">
              <a:spcBef>
                <a:spcPts val="600"/>
              </a:spcBef>
              <a:buNone/>
            </a:pPr>
            <a:r>
              <a:rPr lang="en-US" sz="2400" noProof="0" dirty="0"/>
              <a:t>left of the capacitor establishes an initial voltage drop </a:t>
            </a:r>
            <a:r>
              <a:rPr lang="en-US" sz="2400" i="1" noProof="0" dirty="0"/>
              <a:t>v(0)</a:t>
            </a:r>
            <a:r>
              <a:rPr lang="en-US" sz="2400" noProof="0" dirty="0"/>
              <a:t> </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8626" y="4511349"/>
            <a:ext cx="1562100" cy="405683"/>
          </a:xfrm>
        </p:spPr>
        <p:txBody>
          <a:bodyPr wrap="square" lIns="0" tIns="18000" rIns="0" bIns="18000" anchor="ctr">
            <a:spAutoFit/>
          </a:bodyPr>
          <a:lstStyle/>
          <a:p>
            <a:pPr marL="0" indent="0">
              <a:spcBef>
                <a:spcPts val="600"/>
              </a:spcBef>
              <a:buNone/>
            </a:pPr>
            <a:r>
              <a:rPr lang="en-US" sz="2400" noProof="0" dirty="0"/>
              <a:t>across </a:t>
            </a:r>
            <a:r>
              <a:rPr lang="en-US" sz="2400" i="1" noProof="0" dirty="0"/>
              <a:t>C</a:t>
            </a:r>
            <a:r>
              <a:rPr lang="en-US" sz="2400" noProof="0" dirty="0"/>
              <a:t> at </a:t>
            </a:r>
          </a:p>
        </p:txBody>
      </p:sp>
      <p:graphicFrame>
        <p:nvGraphicFramePr>
          <p:cNvPr id="4" name="Object 8" descr="t equals 0.&#10;">
            <a:extLst>
              <a:ext uri="{FF2B5EF4-FFF2-40B4-BE49-F238E27FC236}">
                <a16:creationId xmlns:a16="http://schemas.microsoft.com/office/drawing/2014/main" id="{606B001D-C872-E8E8-359D-3D2D28DEFA26}"/>
              </a:ext>
            </a:extLst>
          </p:cNvPr>
          <p:cNvGraphicFramePr>
            <a:graphicFrameLocks noChangeAspect="1"/>
          </p:cNvGraphicFramePr>
          <p:nvPr>
            <p:extLst>
              <p:ext uri="{D42A27DB-BD31-4B8C-83A1-F6EECF244321}">
                <p14:modId xmlns:p14="http://schemas.microsoft.com/office/powerpoint/2010/main" val="3879658235"/>
              </p:ext>
            </p:extLst>
          </p:nvPr>
        </p:nvGraphicFramePr>
        <p:xfrm>
          <a:off x="2098674" y="4582422"/>
          <a:ext cx="657225" cy="306388"/>
        </p:xfrm>
        <a:graphic>
          <a:graphicData uri="http://schemas.openxmlformats.org/presentationml/2006/ole">
            <mc:AlternateContent xmlns:mc="http://schemas.openxmlformats.org/markup-compatibility/2006">
              <mc:Choice xmlns:v="urn:schemas-microsoft-com:vml" Requires="v">
                <p:oleObj name="Equation" r:id="rId5" imgW="380880" imgH="177480" progId="Equation.DSMT4">
                  <p:embed/>
                </p:oleObj>
              </mc:Choice>
              <mc:Fallback>
                <p:oleObj name="Equation" r:id="rId5" imgW="380880" imgH="177480" progId="Equation.DSMT4">
                  <p:embed/>
                  <p:pic>
                    <p:nvPicPr>
                      <p:cNvPr id="3" name="Object 8">
                        <a:extLst>
                          <a:ext uri="{FF2B5EF4-FFF2-40B4-BE49-F238E27FC236}">
                            <a16:creationId xmlns:a16="http://schemas.microsoft.com/office/drawing/2014/main" id="{E33F041D-D388-3C49-C481-4D9D1BD4E665}"/>
                          </a:ext>
                        </a:extLst>
                      </p:cNvPr>
                      <p:cNvPicPr>
                        <a:picLocks noChangeAspect="1" noChangeArrowheads="1"/>
                      </p:cNvPicPr>
                      <p:nvPr/>
                    </p:nvPicPr>
                    <p:blipFill>
                      <a:blip r:embed="rId6"/>
                      <a:srcRect/>
                      <a:stretch>
                        <a:fillRect/>
                      </a:stretch>
                    </p:blipFill>
                    <p:spPr bwMode="auto">
                      <a:xfrm>
                        <a:off x="2098674" y="4582422"/>
                        <a:ext cx="657225" cy="306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97739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7801" y="216256"/>
            <a:ext cx="8229600" cy="1021237"/>
          </a:xfrm>
        </p:spPr>
        <p:txBody>
          <a:bodyPr/>
          <a:lstStyle/>
          <a:p>
            <a:r>
              <a:rPr lang="en-US" noProof="0" dirty="0"/>
              <a:t>Chapter 7 – </a:t>
            </a:r>
            <a:r>
              <a:rPr lang="en-US" i="1" spc="-400" noProof="0" dirty="0"/>
              <a:t>R </a:t>
            </a:r>
            <a:r>
              <a:rPr lang="en-US" i="1" noProof="0" dirty="0"/>
              <a:t>C </a:t>
            </a:r>
            <a:r>
              <a:rPr lang="en-US" noProof="0" dirty="0"/>
              <a:t>Natural Response      </a:t>
            </a:r>
            <a:r>
              <a:rPr lang="en-US" sz="2800" noProof="0" dirty="0"/>
              <a:t>(2 of 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8652"/>
            <a:ext cx="8246164" cy="405683"/>
          </a:xfrm>
        </p:spPr>
        <p:txBody>
          <a:bodyPr wrap="square" lIns="0" tIns="18000" rIns="0" bIns="18000" anchor="ctr">
            <a:spAutoFit/>
          </a:bodyPr>
          <a:lstStyle/>
          <a:p>
            <a:pPr marL="0" indent="0">
              <a:spcBef>
                <a:spcPts val="600"/>
              </a:spcBef>
              <a:buNone/>
            </a:pPr>
            <a:r>
              <a:rPr lang="en-US" sz="2400" noProof="0" dirty="0"/>
              <a:t>Here is the circuit for the </a:t>
            </a:r>
            <a:r>
              <a:rPr lang="en-US" sz="2400" i="1" spc="-300" noProof="0" dirty="0"/>
              <a:t>R </a:t>
            </a:r>
            <a:r>
              <a:rPr lang="en-US" sz="2400" i="1" noProof="0" dirty="0"/>
              <a:t>C </a:t>
            </a:r>
            <a:r>
              <a:rPr lang="en-US" sz="2400" noProof="0" dirty="0"/>
              <a:t>natural response problem. For</a:t>
            </a:r>
          </a:p>
        </p:txBody>
      </p:sp>
      <p:graphicFrame>
        <p:nvGraphicFramePr>
          <p:cNvPr id="2" name="Object 8" descr="t less than 0.&#10;">
            <a:extLst>
              <a:ext uri="{FF2B5EF4-FFF2-40B4-BE49-F238E27FC236}">
                <a16:creationId xmlns:a16="http://schemas.microsoft.com/office/drawing/2014/main" id="{21FA8EB5-DB6B-2402-85D8-AF29A77ABAB5}"/>
              </a:ext>
            </a:extLst>
          </p:cNvPr>
          <p:cNvGraphicFramePr>
            <a:graphicFrameLocks noChangeAspect="1"/>
          </p:cNvGraphicFramePr>
          <p:nvPr>
            <p:extLst>
              <p:ext uri="{D42A27DB-BD31-4B8C-83A1-F6EECF244321}">
                <p14:modId xmlns:p14="http://schemas.microsoft.com/office/powerpoint/2010/main" val="3543069359"/>
              </p:ext>
            </p:extLst>
          </p:nvPr>
        </p:nvGraphicFramePr>
        <p:xfrm>
          <a:off x="428507" y="2063369"/>
          <a:ext cx="657225" cy="327025"/>
        </p:xfrm>
        <a:graphic>
          <a:graphicData uri="http://schemas.openxmlformats.org/presentationml/2006/ole">
            <mc:AlternateContent xmlns:mc="http://schemas.openxmlformats.org/markup-compatibility/2006">
              <mc:Choice xmlns:v="urn:schemas-microsoft-com:vml" Requires="v">
                <p:oleObj name="Equation" r:id="rId2" imgW="380880" imgH="190440" progId="Equation.DSMT4">
                  <p:embed/>
                </p:oleObj>
              </mc:Choice>
              <mc:Fallback>
                <p:oleObj name="Equation" r:id="rId2" imgW="380880" imgH="190440" progId="Equation.DSMT4">
                  <p:embed/>
                  <p:pic>
                    <p:nvPicPr>
                      <p:cNvPr id="3" name="Object 8">
                        <a:extLst>
                          <a:ext uri="{FF2B5EF4-FFF2-40B4-BE49-F238E27FC236}">
                            <a16:creationId xmlns:a16="http://schemas.microsoft.com/office/drawing/2014/main" id="{E33F041D-D388-3C49-C481-4D9D1BD4E665}"/>
                          </a:ext>
                        </a:extLst>
                      </p:cNvPr>
                      <p:cNvPicPr>
                        <a:picLocks noChangeAspect="1" noChangeArrowheads="1"/>
                      </p:cNvPicPr>
                      <p:nvPr/>
                    </p:nvPicPr>
                    <p:blipFill>
                      <a:blip r:embed="rId3"/>
                      <a:srcRect/>
                      <a:stretch>
                        <a:fillRect/>
                      </a:stretch>
                    </p:blipFill>
                    <p:spPr bwMode="auto">
                      <a:xfrm>
                        <a:off x="428507" y="2063369"/>
                        <a:ext cx="657225"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154142" y="2024039"/>
            <a:ext cx="4487533" cy="405683"/>
          </a:xfrm>
        </p:spPr>
        <p:txBody>
          <a:bodyPr wrap="square" lIns="0" tIns="18000" rIns="0" bIns="18000" anchor="ctr">
            <a:spAutoFit/>
          </a:bodyPr>
          <a:lstStyle/>
          <a:p>
            <a:pPr marL="0" indent="0">
              <a:spcBef>
                <a:spcPts val="600"/>
              </a:spcBef>
              <a:buNone/>
            </a:pPr>
            <a:r>
              <a:rPr lang="en-US" sz="2400" noProof="0" dirty="0"/>
              <a:t>the capacitor can be replaced by</a:t>
            </a:r>
          </a:p>
        </p:txBody>
      </p:sp>
      <p:pic>
        <p:nvPicPr>
          <p:cNvPr id="3" name="Picture 5" descr="A circuit diagram shows a DC voltage source V subscript g as the leftmost wire in the circuit. Polarity of the voltage source V subscript g is positive at the top and negative at the bottom. Resistor R subscript 1 is connected to the voltage source V subscript g in the top wire of the circuit before the second wire from left. The second wire from left contains a capacitor C and a switch, both connected in parallel to the voltage source V subscript g. Voltage across the capacitor is v with positive polarity on the top side and negative at the bottom. The rightmost wire in the circuit is Resistor R connected in parallel to voltage source V subscript g. Switch is at position a before time t is zero. At position a, the switch charges the capacitor C by connecting it to the voltage source V subscript g through resistor R subscript 1. Switch is at position b when time t is zero. At position b, the switch discharges the capacitor C through resistor R. ">
            <a:extLst>
              <a:ext uri="{FF2B5EF4-FFF2-40B4-BE49-F238E27FC236}">
                <a16:creationId xmlns:a16="http://schemas.microsoft.com/office/drawing/2014/main" id="{B1443B75-4D57-05F8-3A6A-E29D90C0C4E3}"/>
              </a:ext>
            </a:extLst>
          </p:cNvPr>
          <p:cNvPicPr>
            <a:picLocks noChangeAspect="1" noChangeArrowheads="1"/>
          </p:cNvPicPr>
          <p:nvPr/>
        </p:nvPicPr>
        <p:blipFill>
          <a:blip r:embed="rId4"/>
          <a:stretch>
            <a:fillRect/>
          </a:stretch>
        </p:blipFill>
        <p:spPr bwMode="auto">
          <a:xfrm>
            <a:off x="2890837" y="2554660"/>
            <a:ext cx="3362325" cy="165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61181" y="4479544"/>
            <a:ext cx="2452686"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An open circuit</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61181" y="4972198"/>
            <a:ext cx="2236039"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 short circuit</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61181" y="5472834"/>
            <a:ext cx="2865767"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A constant current</a:t>
            </a:r>
          </a:p>
        </p:txBody>
      </p:sp>
    </p:spTree>
    <p:extLst>
      <p:ext uri="{BB962C8B-B14F-4D97-AF65-F5344CB8AC3E}">
        <p14:creationId xmlns:p14="http://schemas.microsoft.com/office/powerpoint/2010/main" val="3634843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708C0-8EA8-BF95-8010-CD22EE99F24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BBB843C-B9CE-11DB-B4C0-F13BB1187B14}"/>
              </a:ext>
            </a:extLst>
          </p:cNvPr>
          <p:cNvSpPr>
            <a:spLocks noGrp="1"/>
          </p:cNvSpPr>
          <p:nvPr>
            <p:ph type="title"/>
          </p:nvPr>
        </p:nvSpPr>
        <p:spPr>
          <a:xfrm>
            <a:off x="437801" y="216256"/>
            <a:ext cx="8229600" cy="1021237"/>
          </a:xfrm>
        </p:spPr>
        <p:txBody>
          <a:bodyPr/>
          <a:lstStyle/>
          <a:p>
            <a:r>
              <a:rPr lang="en-US" noProof="0" dirty="0"/>
              <a:t>Chapter 7 – </a:t>
            </a:r>
            <a:r>
              <a:rPr lang="en-US" i="1" spc="-400" noProof="0" dirty="0"/>
              <a:t>R </a:t>
            </a:r>
            <a:r>
              <a:rPr lang="en-US" i="1" noProof="0" dirty="0"/>
              <a:t>C </a:t>
            </a:r>
            <a:r>
              <a:rPr lang="en-US" noProof="0" dirty="0"/>
              <a:t>Natural Response      </a:t>
            </a:r>
            <a:r>
              <a:rPr lang="en-US" sz="2800" noProof="0" dirty="0"/>
              <a:t>(2 of 5)</a:t>
            </a:r>
          </a:p>
        </p:txBody>
      </p:sp>
      <p:sp>
        <p:nvSpPr>
          <p:cNvPr id="7" name="Content Placeholder 6">
            <a:extLst>
              <a:ext uri="{FF2B5EF4-FFF2-40B4-BE49-F238E27FC236}">
                <a16:creationId xmlns:a16="http://schemas.microsoft.com/office/drawing/2014/main" id="{1346BBBA-81D5-2343-168F-8102499534B9}"/>
              </a:ext>
            </a:extLst>
          </p:cNvPr>
          <p:cNvSpPr>
            <a:spLocks noGrp="1"/>
          </p:cNvSpPr>
          <p:nvPr>
            <p:ph sz="quarter" idx="12"/>
          </p:nvPr>
        </p:nvSpPr>
        <p:spPr>
          <a:xfrm>
            <a:off x="429524" y="1538652"/>
            <a:ext cx="8246164" cy="405683"/>
          </a:xfrm>
        </p:spPr>
        <p:txBody>
          <a:bodyPr wrap="square" lIns="0" tIns="18000" rIns="0" bIns="18000" anchor="ctr">
            <a:spAutoFit/>
          </a:bodyPr>
          <a:lstStyle/>
          <a:p>
            <a:pPr marL="0" indent="0">
              <a:spcBef>
                <a:spcPts val="600"/>
              </a:spcBef>
              <a:buNone/>
            </a:pPr>
            <a:r>
              <a:rPr lang="en-US" sz="2400" noProof="0" dirty="0"/>
              <a:t>Here is the circuit for the </a:t>
            </a:r>
            <a:r>
              <a:rPr lang="en-US" sz="2400" i="1" spc="-300" noProof="0" dirty="0"/>
              <a:t>R </a:t>
            </a:r>
            <a:r>
              <a:rPr lang="en-US" sz="2400" i="1" noProof="0" dirty="0"/>
              <a:t>C </a:t>
            </a:r>
            <a:r>
              <a:rPr lang="en-US" sz="2400" noProof="0" dirty="0"/>
              <a:t>natural response problem. For</a:t>
            </a:r>
          </a:p>
        </p:txBody>
      </p:sp>
      <p:graphicFrame>
        <p:nvGraphicFramePr>
          <p:cNvPr id="2" name="Object 8" descr="t less than 0.&#10;">
            <a:extLst>
              <a:ext uri="{FF2B5EF4-FFF2-40B4-BE49-F238E27FC236}">
                <a16:creationId xmlns:a16="http://schemas.microsoft.com/office/drawing/2014/main" id="{2864E90B-A65D-01F8-2B6C-6AF11F07702C}"/>
              </a:ext>
            </a:extLst>
          </p:cNvPr>
          <p:cNvGraphicFramePr>
            <a:graphicFrameLocks noChangeAspect="1"/>
          </p:cNvGraphicFramePr>
          <p:nvPr/>
        </p:nvGraphicFramePr>
        <p:xfrm>
          <a:off x="428507" y="2063369"/>
          <a:ext cx="657225" cy="327025"/>
        </p:xfrm>
        <a:graphic>
          <a:graphicData uri="http://schemas.openxmlformats.org/presentationml/2006/ole">
            <mc:AlternateContent xmlns:mc="http://schemas.openxmlformats.org/markup-compatibility/2006">
              <mc:Choice xmlns:v="urn:schemas-microsoft-com:vml" Requires="v">
                <p:oleObj name="Equation" r:id="rId2" imgW="380880" imgH="190440" progId="Equation.DSMT4">
                  <p:embed/>
                </p:oleObj>
              </mc:Choice>
              <mc:Fallback>
                <p:oleObj name="Equation" r:id="rId2" imgW="380880" imgH="190440" progId="Equation.DSMT4">
                  <p:embed/>
                  <p:pic>
                    <p:nvPicPr>
                      <p:cNvPr id="2" name="Object 8" descr="t less than 0.&#10;">
                        <a:extLst>
                          <a:ext uri="{FF2B5EF4-FFF2-40B4-BE49-F238E27FC236}">
                            <a16:creationId xmlns:a16="http://schemas.microsoft.com/office/drawing/2014/main" id="{21FA8EB5-DB6B-2402-85D8-AF29A77ABAB5}"/>
                          </a:ext>
                        </a:extLst>
                      </p:cNvPr>
                      <p:cNvPicPr>
                        <a:picLocks noChangeAspect="1" noChangeArrowheads="1"/>
                      </p:cNvPicPr>
                      <p:nvPr/>
                    </p:nvPicPr>
                    <p:blipFill>
                      <a:blip r:embed="rId3"/>
                      <a:srcRect/>
                      <a:stretch>
                        <a:fillRect/>
                      </a:stretch>
                    </p:blipFill>
                    <p:spPr bwMode="auto">
                      <a:xfrm>
                        <a:off x="428507" y="2063369"/>
                        <a:ext cx="657225"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03C00267-1864-29C5-0E54-A92A2984584F}"/>
              </a:ext>
            </a:extLst>
          </p:cNvPr>
          <p:cNvSpPr>
            <a:spLocks noGrp="1"/>
          </p:cNvSpPr>
          <p:nvPr>
            <p:ph sz="quarter" idx="13"/>
          </p:nvPr>
        </p:nvSpPr>
        <p:spPr>
          <a:xfrm>
            <a:off x="1154142" y="2024039"/>
            <a:ext cx="4487533" cy="405683"/>
          </a:xfrm>
        </p:spPr>
        <p:txBody>
          <a:bodyPr wrap="square" lIns="0" tIns="18000" rIns="0" bIns="18000" anchor="ctr">
            <a:spAutoFit/>
          </a:bodyPr>
          <a:lstStyle/>
          <a:p>
            <a:pPr marL="0" indent="0">
              <a:spcBef>
                <a:spcPts val="600"/>
              </a:spcBef>
              <a:buNone/>
            </a:pPr>
            <a:r>
              <a:rPr lang="en-US" sz="2400" noProof="0" dirty="0"/>
              <a:t>the capacitor can be replaced by</a:t>
            </a:r>
          </a:p>
        </p:txBody>
      </p:sp>
      <p:pic>
        <p:nvPicPr>
          <p:cNvPr id="3" name="Picture 5" descr="A circuit diagram shows a DC voltage source V subscript g as the leftmost wire in the circuit. Polarity of the voltage source V subscript g is positive at the top and negative at the bottom. Resistor R subscript 1 is connected to the voltage source V subscript g in the top wire of the circuit before the second wire from left. The second wire from left contains a capacitor C and a switch, both connected in parallel to the voltage source V subscript g. Voltage across the capacitor is v with positive polarity on the top side and negative at the bottom. The rightmost wire in the circuit is Resistor R connected in parallel to voltage source V subscript g. Switch is at position a before time t is zero. At position a, the switch charges the capacitor C by connecting it to the voltage source V subscript g through resistor R subscript 1. Switch is at position b when time t is zero. At position b, the switch discharges the capacitor C through resistor R. ">
            <a:extLst>
              <a:ext uri="{FF2B5EF4-FFF2-40B4-BE49-F238E27FC236}">
                <a16:creationId xmlns:a16="http://schemas.microsoft.com/office/drawing/2014/main" id="{4390FEB5-7600-804D-66FB-203A7417BA02}"/>
              </a:ext>
            </a:extLst>
          </p:cNvPr>
          <p:cNvPicPr>
            <a:picLocks noChangeAspect="1" noChangeArrowheads="1"/>
          </p:cNvPicPr>
          <p:nvPr/>
        </p:nvPicPr>
        <p:blipFill>
          <a:blip r:embed="rId4"/>
          <a:stretch>
            <a:fillRect/>
          </a:stretch>
        </p:blipFill>
        <p:spPr bwMode="auto">
          <a:xfrm>
            <a:off x="2890837" y="2554660"/>
            <a:ext cx="3362325" cy="165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Check mark">
            <a:extLst>
              <a:ext uri="{FF2B5EF4-FFF2-40B4-BE49-F238E27FC236}">
                <a16:creationId xmlns:a16="http://schemas.microsoft.com/office/drawing/2014/main" id="{B4B4D86A-B917-BA32-AB7E-0CFBF73BBB1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3112" y="455803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00542FEC-CF0D-CEC2-922F-6466302AB75F}"/>
              </a:ext>
            </a:extLst>
          </p:cNvPr>
          <p:cNvSpPr>
            <a:spLocks noGrp="1"/>
          </p:cNvSpPr>
          <p:nvPr>
            <p:ph sz="quarter" idx="14"/>
          </p:nvPr>
        </p:nvSpPr>
        <p:spPr>
          <a:xfrm>
            <a:off x="1361181" y="4479544"/>
            <a:ext cx="2452686"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An open circuit</a:t>
            </a:r>
          </a:p>
        </p:txBody>
      </p:sp>
      <p:pic>
        <p:nvPicPr>
          <p:cNvPr id="5" name="Picture 5" descr="Cross mark">
            <a:extLst>
              <a:ext uri="{FF2B5EF4-FFF2-40B4-BE49-F238E27FC236}">
                <a16:creationId xmlns:a16="http://schemas.microsoft.com/office/drawing/2014/main" id="{0C3B6EE2-BF76-C189-BEB7-29FA67B5899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7716" y="504529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F3CB2FC2-28E1-CE83-1805-B03E9BCA7A3D}"/>
              </a:ext>
            </a:extLst>
          </p:cNvPr>
          <p:cNvSpPr>
            <a:spLocks noGrp="1"/>
          </p:cNvSpPr>
          <p:nvPr>
            <p:ph sz="quarter" idx="15"/>
          </p:nvPr>
        </p:nvSpPr>
        <p:spPr>
          <a:xfrm>
            <a:off x="1361181" y="4972198"/>
            <a:ext cx="2236039"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 short circuit</a:t>
            </a:r>
          </a:p>
        </p:txBody>
      </p:sp>
      <p:pic>
        <p:nvPicPr>
          <p:cNvPr id="25" name="Picture 5" descr="Cross mark">
            <a:extLst>
              <a:ext uri="{FF2B5EF4-FFF2-40B4-BE49-F238E27FC236}">
                <a16:creationId xmlns:a16="http://schemas.microsoft.com/office/drawing/2014/main" id="{7027A868-4406-B15A-60C9-B272215940C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7716" y="5545936"/>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A61D1380-B625-FAFA-7659-A5AACCE7A3C4}"/>
              </a:ext>
            </a:extLst>
          </p:cNvPr>
          <p:cNvSpPr>
            <a:spLocks noGrp="1"/>
          </p:cNvSpPr>
          <p:nvPr>
            <p:ph sz="quarter" idx="16"/>
          </p:nvPr>
        </p:nvSpPr>
        <p:spPr>
          <a:xfrm>
            <a:off x="1361181" y="5472834"/>
            <a:ext cx="2865767"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A constant current</a:t>
            </a:r>
          </a:p>
        </p:txBody>
      </p:sp>
    </p:spTree>
    <p:extLst>
      <p:ext uri="{BB962C8B-B14F-4D97-AF65-F5344CB8AC3E}">
        <p14:creationId xmlns:p14="http://schemas.microsoft.com/office/powerpoint/2010/main" val="4250535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489" y="215378"/>
            <a:ext cx="8229600" cy="1021237"/>
          </a:xfrm>
        </p:spPr>
        <p:txBody>
          <a:bodyPr/>
          <a:lstStyle/>
          <a:p>
            <a:r>
              <a:rPr lang="en-US" noProof="0" dirty="0"/>
              <a:t>Chapter 7 – </a:t>
            </a:r>
            <a:r>
              <a:rPr lang="en-US" i="1" spc="-400" noProof="0" dirty="0"/>
              <a:t>R </a:t>
            </a:r>
            <a:r>
              <a:rPr lang="en-US" i="1" noProof="0" dirty="0"/>
              <a:t>C</a:t>
            </a:r>
            <a:r>
              <a:rPr lang="en-US" noProof="0" dirty="0"/>
              <a:t> Natural Response      </a:t>
            </a:r>
            <a:r>
              <a:rPr lang="en-US" sz="2800" noProof="0" dirty="0"/>
              <a:t>(3 of 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0025"/>
            <a:ext cx="7135842" cy="405683"/>
          </a:xfrm>
        </p:spPr>
        <p:txBody>
          <a:bodyPr wrap="square" lIns="0" tIns="18000" rIns="0" bIns="18000" anchor="ctr">
            <a:spAutoFit/>
          </a:bodyPr>
          <a:lstStyle/>
          <a:p>
            <a:pPr marL="0" indent="0">
              <a:spcBef>
                <a:spcPts val="600"/>
              </a:spcBef>
              <a:buNone/>
            </a:pPr>
            <a:r>
              <a:rPr lang="en-US" sz="2400" noProof="0" dirty="0"/>
              <a:t>To evaluate the voltage drop across the capacitor for</a:t>
            </a:r>
          </a:p>
        </p:txBody>
      </p:sp>
      <p:graphicFrame>
        <p:nvGraphicFramePr>
          <p:cNvPr id="2" name="Object 8" descr="t less than 0.&#10;">
            <a:extLst>
              <a:ext uri="{FF2B5EF4-FFF2-40B4-BE49-F238E27FC236}">
                <a16:creationId xmlns:a16="http://schemas.microsoft.com/office/drawing/2014/main" id="{5F7FC638-A49D-E2A2-B81D-6B9A386BF09D}"/>
              </a:ext>
            </a:extLst>
          </p:cNvPr>
          <p:cNvGraphicFramePr>
            <a:graphicFrameLocks noChangeAspect="1"/>
          </p:cNvGraphicFramePr>
          <p:nvPr>
            <p:extLst>
              <p:ext uri="{D42A27DB-BD31-4B8C-83A1-F6EECF244321}">
                <p14:modId xmlns:p14="http://schemas.microsoft.com/office/powerpoint/2010/main" val="2377508247"/>
              </p:ext>
            </p:extLst>
          </p:nvPr>
        </p:nvGraphicFramePr>
        <p:xfrm>
          <a:off x="7631565" y="1608683"/>
          <a:ext cx="657225" cy="327025"/>
        </p:xfrm>
        <a:graphic>
          <a:graphicData uri="http://schemas.openxmlformats.org/presentationml/2006/ole">
            <mc:AlternateContent xmlns:mc="http://schemas.openxmlformats.org/markup-compatibility/2006">
              <mc:Choice xmlns:v="urn:schemas-microsoft-com:vml" Requires="v">
                <p:oleObj name="Equation" r:id="rId2" imgW="380880" imgH="190440" progId="Equation.DSMT4">
                  <p:embed/>
                </p:oleObj>
              </mc:Choice>
              <mc:Fallback>
                <p:oleObj name="Equation" r:id="rId2" imgW="380880" imgH="190440" progId="Equation.DSMT4">
                  <p:embed/>
                  <p:pic>
                    <p:nvPicPr>
                      <p:cNvPr id="2" name="Object 8">
                        <a:extLst>
                          <a:ext uri="{FF2B5EF4-FFF2-40B4-BE49-F238E27FC236}">
                            <a16:creationId xmlns:a16="http://schemas.microsoft.com/office/drawing/2014/main" id="{21FA8EB5-DB6B-2402-85D8-AF29A77ABAB5}"/>
                          </a:ext>
                        </a:extLst>
                      </p:cNvPr>
                      <p:cNvPicPr>
                        <a:picLocks noChangeAspect="1" noChangeArrowheads="1"/>
                      </p:cNvPicPr>
                      <p:nvPr/>
                    </p:nvPicPr>
                    <p:blipFill>
                      <a:blip r:embed="rId3"/>
                      <a:srcRect/>
                      <a:stretch>
                        <a:fillRect/>
                      </a:stretch>
                    </p:blipFill>
                    <p:spPr bwMode="auto">
                      <a:xfrm>
                        <a:off x="7631565" y="1608683"/>
                        <a:ext cx="657225"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4" y="1991345"/>
            <a:ext cx="8246164" cy="1144347"/>
          </a:xfrm>
        </p:spPr>
        <p:txBody>
          <a:bodyPr wrap="square" lIns="0" tIns="18000" rIns="0" bIns="18000" anchor="ctr">
            <a:spAutoFit/>
          </a:bodyPr>
          <a:lstStyle/>
          <a:p>
            <a:pPr marL="0" indent="0">
              <a:spcBef>
                <a:spcPts val="600"/>
              </a:spcBef>
              <a:buNone/>
            </a:pPr>
            <a:r>
              <a:rPr lang="en-US" sz="2400" noProof="0" dirty="0"/>
              <a:t>put the switch in the “a” position and replace the capacitor with an open circuit. The voltage drop across the open circuit, positive at the top, is</a:t>
            </a:r>
          </a:p>
        </p:txBody>
      </p:sp>
      <p:pic>
        <p:nvPicPr>
          <p:cNvPr id="3" name="Picture 5" descr="A circuit diagram shows a DC voltage source V subscript g as the leftmost wire in the circuit. Polarity of the voltage source V subscript g is positive at the top and negative at the bottom. Resistor R subscript 1 is connected to the voltage source V subscript g in the top wire of the circuit before the second wire from left. The second wire from left contains a capacitor C and a switch, both connected in parallel to the voltage source V subscript g. Voltage across the capacitor is v with positive polarity on the top side and negative at the bottom. The rightmost wire in the circuit is Resistor R connected in parallel to voltage source V subscript g. Switch is at position a before time t is zero. At position a, the switch charges the capacitor C by connecting it to the voltage source V subscript g through resistor R subscript 1. Switch is at position b when time t is zero. At position b, the switch discharges the capacitor C through resistor R. ">
            <a:extLst>
              <a:ext uri="{FF2B5EF4-FFF2-40B4-BE49-F238E27FC236}">
                <a16:creationId xmlns:a16="http://schemas.microsoft.com/office/drawing/2014/main" id="{539D00F0-9A65-0F8E-2C15-6A5F90BA8F63}"/>
              </a:ext>
            </a:extLst>
          </p:cNvPr>
          <p:cNvPicPr>
            <a:picLocks noChangeAspect="1" noChangeArrowheads="1"/>
          </p:cNvPicPr>
          <p:nvPr/>
        </p:nvPicPr>
        <p:blipFill>
          <a:blip r:embed="rId4"/>
          <a:stretch>
            <a:fillRect/>
          </a:stretch>
        </p:blipFill>
        <p:spPr bwMode="auto">
          <a:xfrm>
            <a:off x="3080053" y="3292982"/>
            <a:ext cx="2983893" cy="1473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04313" y="4929651"/>
            <a:ext cx="424492" cy="405683"/>
          </a:xfrm>
        </p:spPr>
        <p:txBody>
          <a:bodyPr wrap="square" lIns="0" tIns="18000" rIns="0" bIns="18000" anchor="ctr">
            <a:spAutoFit/>
          </a:bodyPr>
          <a:lstStyle/>
          <a:p>
            <a:pPr marL="0" indent="0">
              <a:spcBef>
                <a:spcPts val="600"/>
              </a:spcBef>
              <a:buNone/>
            </a:pPr>
            <a:r>
              <a:rPr lang="en-US" sz="2400" noProof="0" dirty="0"/>
              <a:t>A.  </a:t>
            </a:r>
          </a:p>
        </p:txBody>
      </p:sp>
      <p:graphicFrame>
        <p:nvGraphicFramePr>
          <p:cNvPr id="4" name="Object 8" descr="V subscript g.&#10;">
            <a:extLst>
              <a:ext uri="{FF2B5EF4-FFF2-40B4-BE49-F238E27FC236}">
                <a16:creationId xmlns:a16="http://schemas.microsoft.com/office/drawing/2014/main" id="{408D6718-ACFE-E471-4D1A-2C42A5BF0E00}"/>
              </a:ext>
            </a:extLst>
          </p:cNvPr>
          <p:cNvGraphicFramePr>
            <a:graphicFrameLocks noChangeAspect="1"/>
          </p:cNvGraphicFramePr>
          <p:nvPr>
            <p:extLst>
              <p:ext uri="{D42A27DB-BD31-4B8C-83A1-F6EECF244321}">
                <p14:modId xmlns:p14="http://schemas.microsoft.com/office/powerpoint/2010/main" val="20055499"/>
              </p:ext>
            </p:extLst>
          </p:nvPr>
        </p:nvGraphicFramePr>
        <p:xfrm>
          <a:off x="1864688" y="5022367"/>
          <a:ext cx="306388" cy="414338"/>
        </p:xfrm>
        <a:graphic>
          <a:graphicData uri="http://schemas.openxmlformats.org/presentationml/2006/ole">
            <mc:AlternateContent xmlns:mc="http://schemas.openxmlformats.org/markup-compatibility/2006">
              <mc:Choice xmlns:v="urn:schemas-microsoft-com:vml" Requires="v">
                <p:oleObj name="Equation" r:id="rId5" imgW="177480" imgH="241200" progId="Equation.DSMT4">
                  <p:embed/>
                </p:oleObj>
              </mc:Choice>
              <mc:Fallback>
                <p:oleObj name="Equation" r:id="rId5" imgW="177480" imgH="241200" progId="Equation.DSMT4">
                  <p:embed/>
                  <p:pic>
                    <p:nvPicPr>
                      <p:cNvPr id="2" name="Object 8">
                        <a:extLst>
                          <a:ext uri="{FF2B5EF4-FFF2-40B4-BE49-F238E27FC236}">
                            <a16:creationId xmlns:a16="http://schemas.microsoft.com/office/drawing/2014/main" id="{5F7FC638-A49D-E2A2-B81D-6B9A386BF09D}"/>
                          </a:ext>
                        </a:extLst>
                      </p:cNvPr>
                      <p:cNvPicPr>
                        <a:picLocks noChangeAspect="1" noChangeArrowheads="1"/>
                      </p:cNvPicPr>
                      <p:nvPr/>
                    </p:nvPicPr>
                    <p:blipFill>
                      <a:blip r:embed="rId6"/>
                      <a:srcRect/>
                      <a:stretch>
                        <a:fillRect/>
                      </a:stretch>
                    </p:blipFill>
                    <p:spPr bwMode="auto">
                      <a:xfrm>
                        <a:off x="1864688" y="5022367"/>
                        <a:ext cx="306388"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95687" y="5430420"/>
            <a:ext cx="433118" cy="405683"/>
          </a:xfrm>
        </p:spPr>
        <p:txBody>
          <a:bodyPr wrap="square" lIns="0" tIns="18000" rIns="0" bIns="18000" anchor="ctr">
            <a:spAutoFit/>
          </a:bodyPr>
          <a:lstStyle/>
          <a:p>
            <a:pPr marL="0" indent="0">
              <a:spcBef>
                <a:spcPts val="600"/>
              </a:spcBef>
              <a:buNone/>
            </a:pPr>
            <a:r>
              <a:rPr lang="en-US" sz="2400" noProof="0" dirty="0"/>
              <a:t>B.  </a:t>
            </a:r>
          </a:p>
        </p:txBody>
      </p:sp>
      <p:graphicFrame>
        <p:nvGraphicFramePr>
          <p:cNvPr id="25" name="Object 8" descr="negative V subscript g.&#10;">
            <a:extLst>
              <a:ext uri="{FF2B5EF4-FFF2-40B4-BE49-F238E27FC236}">
                <a16:creationId xmlns:a16="http://schemas.microsoft.com/office/drawing/2014/main" id="{FD36AC38-EEDD-4631-5687-B5E8686080D8}"/>
              </a:ext>
            </a:extLst>
          </p:cNvPr>
          <p:cNvGraphicFramePr>
            <a:graphicFrameLocks noChangeAspect="1"/>
          </p:cNvGraphicFramePr>
          <p:nvPr>
            <p:extLst>
              <p:ext uri="{D42A27DB-BD31-4B8C-83A1-F6EECF244321}">
                <p14:modId xmlns:p14="http://schemas.microsoft.com/office/powerpoint/2010/main" val="3840104321"/>
              </p:ext>
            </p:extLst>
          </p:nvPr>
        </p:nvGraphicFramePr>
        <p:xfrm>
          <a:off x="1833088" y="5487699"/>
          <a:ext cx="460375" cy="414337"/>
        </p:xfrm>
        <a:graphic>
          <a:graphicData uri="http://schemas.openxmlformats.org/presentationml/2006/ole">
            <mc:AlternateContent xmlns:mc="http://schemas.openxmlformats.org/markup-compatibility/2006">
              <mc:Choice xmlns:v="urn:schemas-microsoft-com:vml" Requires="v">
                <p:oleObj name="Equation" r:id="rId7" imgW="266400" imgH="241200" progId="Equation.DSMT4">
                  <p:embed/>
                </p:oleObj>
              </mc:Choice>
              <mc:Fallback>
                <p:oleObj name="Equation" r:id="rId7" imgW="266400" imgH="241200" progId="Equation.DSMT4">
                  <p:embed/>
                  <p:pic>
                    <p:nvPicPr>
                      <p:cNvPr id="4" name="Object 8">
                        <a:extLst>
                          <a:ext uri="{FF2B5EF4-FFF2-40B4-BE49-F238E27FC236}">
                            <a16:creationId xmlns:a16="http://schemas.microsoft.com/office/drawing/2014/main" id="{408D6718-ACFE-E471-4D1A-2C42A5BF0E00}"/>
                          </a:ext>
                        </a:extLst>
                      </p:cNvPr>
                      <p:cNvPicPr>
                        <a:picLocks noChangeAspect="1" noChangeArrowheads="1"/>
                      </p:cNvPicPr>
                      <p:nvPr/>
                    </p:nvPicPr>
                    <p:blipFill>
                      <a:blip r:embed="rId8"/>
                      <a:srcRect/>
                      <a:stretch>
                        <a:fillRect/>
                      </a:stretch>
                    </p:blipFill>
                    <p:spPr bwMode="auto">
                      <a:xfrm>
                        <a:off x="1833088" y="5487699"/>
                        <a:ext cx="460375"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04313" y="5931993"/>
            <a:ext cx="460375" cy="405683"/>
          </a:xfrm>
        </p:spPr>
        <p:txBody>
          <a:bodyPr wrap="square" lIns="0" tIns="18000" rIns="0" bIns="18000" anchor="ctr">
            <a:spAutoFit/>
          </a:bodyPr>
          <a:lstStyle/>
          <a:p>
            <a:pPr marL="0" indent="0">
              <a:spcBef>
                <a:spcPts val="600"/>
              </a:spcBef>
              <a:buNone/>
            </a:pPr>
            <a:r>
              <a:rPr lang="en-US" sz="2400" noProof="0" dirty="0"/>
              <a:t>C.   </a:t>
            </a:r>
          </a:p>
        </p:txBody>
      </p:sp>
      <p:graphicFrame>
        <p:nvGraphicFramePr>
          <p:cNvPr id="28" name="Object 8" descr=" R V subscript g Baseline divided by OpenParenthesis R plus R subscript 1 CloseParenthesis.&#10;">
            <a:extLst>
              <a:ext uri="{FF2B5EF4-FFF2-40B4-BE49-F238E27FC236}">
                <a16:creationId xmlns:a16="http://schemas.microsoft.com/office/drawing/2014/main" id="{78A22917-525D-B6CA-E006-3481386A496D}"/>
              </a:ext>
            </a:extLst>
          </p:cNvPr>
          <p:cNvGraphicFramePr>
            <a:graphicFrameLocks noChangeAspect="1"/>
          </p:cNvGraphicFramePr>
          <p:nvPr>
            <p:extLst>
              <p:ext uri="{D42A27DB-BD31-4B8C-83A1-F6EECF244321}">
                <p14:modId xmlns:p14="http://schemas.microsoft.com/office/powerpoint/2010/main" val="2678420382"/>
              </p:ext>
            </p:extLst>
          </p:nvPr>
        </p:nvGraphicFramePr>
        <p:xfrm>
          <a:off x="1833088" y="5966500"/>
          <a:ext cx="1600200" cy="414338"/>
        </p:xfrm>
        <a:graphic>
          <a:graphicData uri="http://schemas.openxmlformats.org/presentationml/2006/ole">
            <mc:AlternateContent xmlns:mc="http://schemas.openxmlformats.org/markup-compatibility/2006">
              <mc:Choice xmlns:v="urn:schemas-microsoft-com:vml" Requires="v">
                <p:oleObj name="Equation" r:id="rId9" imgW="927000" imgH="241200" progId="Equation.DSMT4">
                  <p:embed/>
                </p:oleObj>
              </mc:Choice>
              <mc:Fallback>
                <p:oleObj name="Equation" r:id="rId9" imgW="927000" imgH="241200" progId="Equation.DSMT4">
                  <p:embed/>
                  <p:pic>
                    <p:nvPicPr>
                      <p:cNvPr id="25" name="Object 8">
                        <a:extLst>
                          <a:ext uri="{FF2B5EF4-FFF2-40B4-BE49-F238E27FC236}">
                            <a16:creationId xmlns:a16="http://schemas.microsoft.com/office/drawing/2014/main" id="{FD36AC38-EEDD-4631-5687-B5E8686080D8}"/>
                          </a:ext>
                        </a:extLst>
                      </p:cNvPr>
                      <p:cNvPicPr>
                        <a:picLocks noChangeAspect="1" noChangeArrowheads="1"/>
                      </p:cNvPicPr>
                      <p:nvPr/>
                    </p:nvPicPr>
                    <p:blipFill>
                      <a:blip r:embed="rId10"/>
                      <a:srcRect/>
                      <a:stretch>
                        <a:fillRect/>
                      </a:stretch>
                    </p:blipFill>
                    <p:spPr bwMode="auto">
                      <a:xfrm>
                        <a:off x="1833088" y="5966500"/>
                        <a:ext cx="1600200"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37504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D67AD-D049-41B6-E66A-240360C0BDB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6D7D12B-4A74-F2A7-82B2-3268AFA606B8}"/>
              </a:ext>
            </a:extLst>
          </p:cNvPr>
          <p:cNvSpPr>
            <a:spLocks noGrp="1"/>
          </p:cNvSpPr>
          <p:nvPr>
            <p:ph type="title"/>
          </p:nvPr>
        </p:nvSpPr>
        <p:spPr>
          <a:xfrm>
            <a:off x="438489" y="215378"/>
            <a:ext cx="8229600" cy="1021237"/>
          </a:xfrm>
        </p:spPr>
        <p:txBody>
          <a:bodyPr/>
          <a:lstStyle/>
          <a:p>
            <a:r>
              <a:rPr lang="en-US" noProof="0" dirty="0"/>
              <a:t>Chapter 7 – </a:t>
            </a:r>
            <a:r>
              <a:rPr lang="en-US" i="1" spc="-400" noProof="0" dirty="0"/>
              <a:t>R </a:t>
            </a:r>
            <a:r>
              <a:rPr lang="en-US" i="1" noProof="0" dirty="0"/>
              <a:t>C</a:t>
            </a:r>
            <a:r>
              <a:rPr lang="en-US" noProof="0" dirty="0"/>
              <a:t> Natural Response      </a:t>
            </a:r>
            <a:r>
              <a:rPr lang="en-US" sz="2800" noProof="0" dirty="0"/>
              <a:t>(3 of 5)</a:t>
            </a:r>
          </a:p>
        </p:txBody>
      </p:sp>
      <p:sp>
        <p:nvSpPr>
          <p:cNvPr id="7" name="Content Placeholder 6">
            <a:extLst>
              <a:ext uri="{FF2B5EF4-FFF2-40B4-BE49-F238E27FC236}">
                <a16:creationId xmlns:a16="http://schemas.microsoft.com/office/drawing/2014/main" id="{CB07AC6B-FACE-BC99-70B1-AC0094F95ED4}"/>
              </a:ext>
            </a:extLst>
          </p:cNvPr>
          <p:cNvSpPr>
            <a:spLocks noGrp="1"/>
          </p:cNvSpPr>
          <p:nvPr>
            <p:ph sz="quarter" idx="12"/>
          </p:nvPr>
        </p:nvSpPr>
        <p:spPr>
          <a:xfrm>
            <a:off x="429524" y="1530025"/>
            <a:ext cx="7135842" cy="405683"/>
          </a:xfrm>
        </p:spPr>
        <p:txBody>
          <a:bodyPr wrap="square" lIns="0" tIns="18000" rIns="0" bIns="18000" anchor="ctr">
            <a:spAutoFit/>
          </a:bodyPr>
          <a:lstStyle/>
          <a:p>
            <a:pPr marL="0" indent="0">
              <a:spcBef>
                <a:spcPts val="600"/>
              </a:spcBef>
              <a:buNone/>
            </a:pPr>
            <a:r>
              <a:rPr lang="en-US" sz="2400" noProof="0" dirty="0"/>
              <a:t>To evaluate the voltage drop across the capacitor for</a:t>
            </a:r>
          </a:p>
        </p:txBody>
      </p:sp>
      <p:graphicFrame>
        <p:nvGraphicFramePr>
          <p:cNvPr id="2" name="Object 8" descr="t less than 0.&#10;">
            <a:extLst>
              <a:ext uri="{FF2B5EF4-FFF2-40B4-BE49-F238E27FC236}">
                <a16:creationId xmlns:a16="http://schemas.microsoft.com/office/drawing/2014/main" id="{F3ECB777-85D1-BC95-AFAF-CAC30BB1793C}"/>
              </a:ext>
            </a:extLst>
          </p:cNvPr>
          <p:cNvGraphicFramePr>
            <a:graphicFrameLocks noChangeAspect="1"/>
          </p:cNvGraphicFramePr>
          <p:nvPr/>
        </p:nvGraphicFramePr>
        <p:xfrm>
          <a:off x="7631565" y="1608683"/>
          <a:ext cx="657225" cy="327025"/>
        </p:xfrm>
        <a:graphic>
          <a:graphicData uri="http://schemas.openxmlformats.org/presentationml/2006/ole">
            <mc:AlternateContent xmlns:mc="http://schemas.openxmlformats.org/markup-compatibility/2006">
              <mc:Choice xmlns:v="urn:schemas-microsoft-com:vml" Requires="v">
                <p:oleObj name="Equation" r:id="rId2" imgW="380880" imgH="190440" progId="Equation.DSMT4">
                  <p:embed/>
                </p:oleObj>
              </mc:Choice>
              <mc:Fallback>
                <p:oleObj name="Equation" r:id="rId2" imgW="380880" imgH="190440" progId="Equation.DSMT4">
                  <p:embed/>
                  <p:pic>
                    <p:nvPicPr>
                      <p:cNvPr id="2" name="Object 8" descr="t less than 0.&#10;">
                        <a:extLst>
                          <a:ext uri="{FF2B5EF4-FFF2-40B4-BE49-F238E27FC236}">
                            <a16:creationId xmlns:a16="http://schemas.microsoft.com/office/drawing/2014/main" id="{5F7FC638-A49D-E2A2-B81D-6B9A386BF09D}"/>
                          </a:ext>
                        </a:extLst>
                      </p:cNvPr>
                      <p:cNvPicPr>
                        <a:picLocks noChangeAspect="1" noChangeArrowheads="1"/>
                      </p:cNvPicPr>
                      <p:nvPr/>
                    </p:nvPicPr>
                    <p:blipFill>
                      <a:blip r:embed="rId3"/>
                      <a:srcRect/>
                      <a:stretch>
                        <a:fillRect/>
                      </a:stretch>
                    </p:blipFill>
                    <p:spPr bwMode="auto">
                      <a:xfrm>
                        <a:off x="7631565" y="1608683"/>
                        <a:ext cx="657225"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BAB7BB61-C2F4-9674-2E29-CE5F5235E0A8}"/>
              </a:ext>
            </a:extLst>
          </p:cNvPr>
          <p:cNvSpPr>
            <a:spLocks noGrp="1"/>
          </p:cNvSpPr>
          <p:nvPr>
            <p:ph sz="quarter" idx="13"/>
          </p:nvPr>
        </p:nvSpPr>
        <p:spPr>
          <a:xfrm>
            <a:off x="429524" y="1991345"/>
            <a:ext cx="8246164" cy="1144347"/>
          </a:xfrm>
        </p:spPr>
        <p:txBody>
          <a:bodyPr wrap="square" lIns="0" tIns="18000" rIns="0" bIns="18000" anchor="ctr">
            <a:spAutoFit/>
          </a:bodyPr>
          <a:lstStyle/>
          <a:p>
            <a:pPr marL="0" indent="0">
              <a:spcBef>
                <a:spcPts val="600"/>
              </a:spcBef>
              <a:buNone/>
            </a:pPr>
            <a:r>
              <a:rPr lang="en-US" sz="2400" noProof="0" dirty="0"/>
              <a:t>put the switch in the “a” position and replace the capacitor with an open circuit. The voltage drop across the open circuit, positive at the top, is</a:t>
            </a:r>
          </a:p>
        </p:txBody>
      </p:sp>
      <p:pic>
        <p:nvPicPr>
          <p:cNvPr id="3" name="Picture 5" descr="A circuit diagram shows a DC voltage source V subscript g as the leftmost wire in the circuit. Polarity of the voltage source V subscript g is positive at the top and negative at the bottom. Resistor R subscript 1 is connected to the voltage source V subscript g in the top wire of the circuit before the second wire from left. The second wire from left contains a capacitor C and a switch, both connected in parallel to the voltage source V subscript g. Voltage across the capacitor is v with positive polarity on the top side and negative at the bottom. The rightmost wire in the circuit is Resistor R connected in parallel to voltage source V subscript g. Switch is at position a before time t is zero. At position a, the switch charges the capacitor C by connecting it to the voltage source V subscript g through resistor R subscript 1. Switch is at position b when time t is zero. At position b, the switch discharges the capacitor C through resistor R. ">
            <a:extLst>
              <a:ext uri="{FF2B5EF4-FFF2-40B4-BE49-F238E27FC236}">
                <a16:creationId xmlns:a16="http://schemas.microsoft.com/office/drawing/2014/main" id="{022E4428-D8CC-4C41-E37B-9AE09B350D11}"/>
              </a:ext>
            </a:extLst>
          </p:cNvPr>
          <p:cNvPicPr>
            <a:picLocks noChangeAspect="1" noChangeArrowheads="1"/>
          </p:cNvPicPr>
          <p:nvPr/>
        </p:nvPicPr>
        <p:blipFill>
          <a:blip r:embed="rId4"/>
          <a:stretch>
            <a:fillRect/>
          </a:stretch>
        </p:blipFill>
        <p:spPr bwMode="auto">
          <a:xfrm>
            <a:off x="3080053" y="3292982"/>
            <a:ext cx="2983893" cy="1473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Check mark">
            <a:extLst>
              <a:ext uri="{FF2B5EF4-FFF2-40B4-BE49-F238E27FC236}">
                <a16:creationId xmlns:a16="http://schemas.microsoft.com/office/drawing/2014/main" id="{B3E5C73A-418E-BF97-210A-08C6D7DBA37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1734" y="5003373"/>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96ED383F-0AD1-2E88-1647-65A5CAEDF756}"/>
              </a:ext>
            </a:extLst>
          </p:cNvPr>
          <p:cNvSpPr>
            <a:spLocks noGrp="1"/>
          </p:cNvSpPr>
          <p:nvPr>
            <p:ph sz="quarter" idx="14"/>
          </p:nvPr>
        </p:nvSpPr>
        <p:spPr>
          <a:xfrm>
            <a:off x="1404313" y="4929651"/>
            <a:ext cx="424492" cy="405683"/>
          </a:xfrm>
        </p:spPr>
        <p:txBody>
          <a:bodyPr wrap="square" lIns="0" tIns="18000" rIns="0" bIns="18000" anchor="ctr">
            <a:spAutoFit/>
          </a:bodyPr>
          <a:lstStyle/>
          <a:p>
            <a:pPr marL="0" indent="0">
              <a:spcBef>
                <a:spcPts val="600"/>
              </a:spcBef>
              <a:buNone/>
            </a:pPr>
            <a:r>
              <a:rPr lang="en-US" sz="2400" noProof="0" dirty="0"/>
              <a:t>A.  </a:t>
            </a:r>
          </a:p>
        </p:txBody>
      </p:sp>
      <p:graphicFrame>
        <p:nvGraphicFramePr>
          <p:cNvPr id="4" name="Object 8" descr="V subscript g.&#10;">
            <a:extLst>
              <a:ext uri="{FF2B5EF4-FFF2-40B4-BE49-F238E27FC236}">
                <a16:creationId xmlns:a16="http://schemas.microsoft.com/office/drawing/2014/main" id="{394CACB3-7A97-BE4F-354A-2EABD7F0C4C8}"/>
              </a:ext>
            </a:extLst>
          </p:cNvPr>
          <p:cNvGraphicFramePr>
            <a:graphicFrameLocks noChangeAspect="1"/>
          </p:cNvGraphicFramePr>
          <p:nvPr/>
        </p:nvGraphicFramePr>
        <p:xfrm>
          <a:off x="1864688" y="5022367"/>
          <a:ext cx="306388" cy="414338"/>
        </p:xfrm>
        <a:graphic>
          <a:graphicData uri="http://schemas.openxmlformats.org/presentationml/2006/ole">
            <mc:AlternateContent xmlns:mc="http://schemas.openxmlformats.org/markup-compatibility/2006">
              <mc:Choice xmlns:v="urn:schemas-microsoft-com:vml" Requires="v">
                <p:oleObj name="Equation" r:id="rId6" imgW="177480" imgH="241200" progId="Equation.DSMT4">
                  <p:embed/>
                </p:oleObj>
              </mc:Choice>
              <mc:Fallback>
                <p:oleObj name="Equation" r:id="rId6" imgW="177480" imgH="241200" progId="Equation.DSMT4">
                  <p:embed/>
                  <p:pic>
                    <p:nvPicPr>
                      <p:cNvPr id="4" name="Object 8" descr="V subscript g.&#10;">
                        <a:extLst>
                          <a:ext uri="{FF2B5EF4-FFF2-40B4-BE49-F238E27FC236}">
                            <a16:creationId xmlns:a16="http://schemas.microsoft.com/office/drawing/2014/main" id="{408D6718-ACFE-E471-4D1A-2C42A5BF0E00}"/>
                          </a:ext>
                        </a:extLst>
                      </p:cNvPr>
                      <p:cNvPicPr>
                        <a:picLocks noChangeAspect="1" noChangeArrowheads="1"/>
                      </p:cNvPicPr>
                      <p:nvPr/>
                    </p:nvPicPr>
                    <p:blipFill>
                      <a:blip r:embed="rId7"/>
                      <a:srcRect/>
                      <a:stretch>
                        <a:fillRect/>
                      </a:stretch>
                    </p:blipFill>
                    <p:spPr bwMode="auto">
                      <a:xfrm>
                        <a:off x="1864688" y="5022367"/>
                        <a:ext cx="306388"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25" descr="Cross mark">
            <a:extLst>
              <a:ext uri="{FF2B5EF4-FFF2-40B4-BE49-F238E27FC236}">
                <a16:creationId xmlns:a16="http://schemas.microsoft.com/office/drawing/2014/main" id="{99872AD9-B041-D977-833C-C7D16E2957A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9763" y="550082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0DD7738A-7705-3468-C6AD-0BB153F4314B}"/>
              </a:ext>
            </a:extLst>
          </p:cNvPr>
          <p:cNvSpPr>
            <a:spLocks noGrp="1"/>
          </p:cNvSpPr>
          <p:nvPr>
            <p:ph sz="quarter" idx="15"/>
          </p:nvPr>
        </p:nvSpPr>
        <p:spPr>
          <a:xfrm>
            <a:off x="1395687" y="5430420"/>
            <a:ext cx="433118" cy="405683"/>
          </a:xfrm>
        </p:spPr>
        <p:txBody>
          <a:bodyPr wrap="square" lIns="0" tIns="18000" rIns="0" bIns="18000" anchor="ctr">
            <a:spAutoFit/>
          </a:bodyPr>
          <a:lstStyle/>
          <a:p>
            <a:pPr marL="0" indent="0">
              <a:spcBef>
                <a:spcPts val="600"/>
              </a:spcBef>
              <a:buNone/>
            </a:pPr>
            <a:r>
              <a:rPr lang="en-US" sz="2400" noProof="0" dirty="0"/>
              <a:t>B.  </a:t>
            </a:r>
          </a:p>
        </p:txBody>
      </p:sp>
      <p:graphicFrame>
        <p:nvGraphicFramePr>
          <p:cNvPr id="25" name="Object 8" descr="negative V subscript g.&#10;">
            <a:extLst>
              <a:ext uri="{FF2B5EF4-FFF2-40B4-BE49-F238E27FC236}">
                <a16:creationId xmlns:a16="http://schemas.microsoft.com/office/drawing/2014/main" id="{2036FC79-FD6E-AE93-FAA4-396330945E33}"/>
              </a:ext>
            </a:extLst>
          </p:cNvPr>
          <p:cNvGraphicFramePr>
            <a:graphicFrameLocks noChangeAspect="1"/>
          </p:cNvGraphicFramePr>
          <p:nvPr/>
        </p:nvGraphicFramePr>
        <p:xfrm>
          <a:off x="1833088" y="5487699"/>
          <a:ext cx="460375" cy="414337"/>
        </p:xfrm>
        <a:graphic>
          <a:graphicData uri="http://schemas.openxmlformats.org/presentationml/2006/ole">
            <mc:AlternateContent xmlns:mc="http://schemas.openxmlformats.org/markup-compatibility/2006">
              <mc:Choice xmlns:v="urn:schemas-microsoft-com:vml" Requires="v">
                <p:oleObj name="Equation" r:id="rId9" imgW="266400" imgH="241200" progId="Equation.DSMT4">
                  <p:embed/>
                </p:oleObj>
              </mc:Choice>
              <mc:Fallback>
                <p:oleObj name="Equation" r:id="rId9" imgW="266400" imgH="241200" progId="Equation.DSMT4">
                  <p:embed/>
                  <p:pic>
                    <p:nvPicPr>
                      <p:cNvPr id="25" name="Object 8" descr="negative V subscript g.&#10;">
                        <a:extLst>
                          <a:ext uri="{FF2B5EF4-FFF2-40B4-BE49-F238E27FC236}">
                            <a16:creationId xmlns:a16="http://schemas.microsoft.com/office/drawing/2014/main" id="{FD36AC38-EEDD-4631-5687-B5E8686080D8}"/>
                          </a:ext>
                        </a:extLst>
                      </p:cNvPr>
                      <p:cNvPicPr>
                        <a:picLocks noChangeAspect="1" noChangeArrowheads="1"/>
                      </p:cNvPicPr>
                      <p:nvPr/>
                    </p:nvPicPr>
                    <p:blipFill>
                      <a:blip r:embed="rId10"/>
                      <a:srcRect/>
                      <a:stretch>
                        <a:fillRect/>
                      </a:stretch>
                    </p:blipFill>
                    <p:spPr bwMode="auto">
                      <a:xfrm>
                        <a:off x="1833088" y="5487699"/>
                        <a:ext cx="460375"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7" name="Picture 26" descr="Cross mark">
            <a:extLst>
              <a:ext uri="{FF2B5EF4-FFF2-40B4-BE49-F238E27FC236}">
                <a16:creationId xmlns:a16="http://schemas.microsoft.com/office/drawing/2014/main" id="{E577F615-2074-C05F-231D-0C98CE2D2FA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1734" y="600509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AFA2BA06-8B8E-8FA2-EE51-2A7451EB7945}"/>
              </a:ext>
            </a:extLst>
          </p:cNvPr>
          <p:cNvSpPr>
            <a:spLocks noGrp="1"/>
          </p:cNvSpPr>
          <p:nvPr>
            <p:ph sz="quarter" idx="16"/>
          </p:nvPr>
        </p:nvSpPr>
        <p:spPr>
          <a:xfrm>
            <a:off x="1404313" y="5931993"/>
            <a:ext cx="460375" cy="405683"/>
          </a:xfrm>
        </p:spPr>
        <p:txBody>
          <a:bodyPr wrap="square" lIns="0" tIns="18000" rIns="0" bIns="18000" anchor="ctr">
            <a:spAutoFit/>
          </a:bodyPr>
          <a:lstStyle/>
          <a:p>
            <a:pPr marL="0" indent="0">
              <a:spcBef>
                <a:spcPts val="600"/>
              </a:spcBef>
              <a:buNone/>
            </a:pPr>
            <a:r>
              <a:rPr lang="en-US" sz="2400" noProof="0" dirty="0"/>
              <a:t>C.   </a:t>
            </a:r>
          </a:p>
        </p:txBody>
      </p:sp>
      <p:graphicFrame>
        <p:nvGraphicFramePr>
          <p:cNvPr id="28" name="Object 8" descr=" R V subscript g Baseline divided by OpenParenthesis R plus R subscript 1 CloseParenthesis.&#10;">
            <a:extLst>
              <a:ext uri="{FF2B5EF4-FFF2-40B4-BE49-F238E27FC236}">
                <a16:creationId xmlns:a16="http://schemas.microsoft.com/office/drawing/2014/main" id="{FF36C96F-5432-B966-4330-A1478E1F702E}"/>
              </a:ext>
            </a:extLst>
          </p:cNvPr>
          <p:cNvGraphicFramePr>
            <a:graphicFrameLocks noChangeAspect="1"/>
          </p:cNvGraphicFramePr>
          <p:nvPr/>
        </p:nvGraphicFramePr>
        <p:xfrm>
          <a:off x="1833088" y="5966500"/>
          <a:ext cx="1600200" cy="414338"/>
        </p:xfrm>
        <a:graphic>
          <a:graphicData uri="http://schemas.openxmlformats.org/presentationml/2006/ole">
            <mc:AlternateContent xmlns:mc="http://schemas.openxmlformats.org/markup-compatibility/2006">
              <mc:Choice xmlns:v="urn:schemas-microsoft-com:vml" Requires="v">
                <p:oleObj name="Equation" r:id="rId11" imgW="927000" imgH="241200" progId="Equation.DSMT4">
                  <p:embed/>
                </p:oleObj>
              </mc:Choice>
              <mc:Fallback>
                <p:oleObj name="Equation" r:id="rId11" imgW="927000" imgH="241200" progId="Equation.DSMT4">
                  <p:embed/>
                  <p:pic>
                    <p:nvPicPr>
                      <p:cNvPr id="28" name="Object 8" descr=" R V subscript g Baseline divided by OpenParenthesis R plus R subscript 1 CloseParenthesis.&#10;">
                        <a:extLst>
                          <a:ext uri="{FF2B5EF4-FFF2-40B4-BE49-F238E27FC236}">
                            <a16:creationId xmlns:a16="http://schemas.microsoft.com/office/drawing/2014/main" id="{78A22917-525D-B6CA-E006-3481386A496D}"/>
                          </a:ext>
                        </a:extLst>
                      </p:cNvPr>
                      <p:cNvPicPr>
                        <a:picLocks noChangeAspect="1" noChangeArrowheads="1"/>
                      </p:cNvPicPr>
                      <p:nvPr/>
                    </p:nvPicPr>
                    <p:blipFill>
                      <a:blip r:embed="rId12"/>
                      <a:srcRect/>
                      <a:stretch>
                        <a:fillRect/>
                      </a:stretch>
                    </p:blipFill>
                    <p:spPr bwMode="auto">
                      <a:xfrm>
                        <a:off x="1833088" y="5966500"/>
                        <a:ext cx="1600200"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17139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7590" y="220934"/>
            <a:ext cx="8229600" cy="1021237"/>
          </a:xfrm>
        </p:spPr>
        <p:txBody>
          <a:bodyPr/>
          <a:lstStyle/>
          <a:p>
            <a:r>
              <a:rPr lang="en-US" noProof="0" dirty="0"/>
              <a:t>Chapter 7 – </a:t>
            </a:r>
            <a:r>
              <a:rPr lang="en-US" i="1" spc="-400" noProof="0" dirty="0"/>
              <a:t>R </a:t>
            </a:r>
            <a:r>
              <a:rPr lang="en-US" i="1" noProof="0" dirty="0"/>
              <a:t>C </a:t>
            </a:r>
            <a:r>
              <a:rPr lang="en-US" noProof="0" dirty="0"/>
              <a:t>Natural Response      </a:t>
            </a:r>
            <a:r>
              <a:rPr lang="en-US" sz="2800" noProof="0" dirty="0"/>
              <a:t>(4 of 5)</a:t>
            </a:r>
          </a:p>
        </p:txBody>
      </p:sp>
      <p:graphicFrame>
        <p:nvGraphicFramePr>
          <p:cNvPr id="4" name="Object 3" descr="t less than 0 colon.&#10;">
            <a:extLst>
              <a:ext uri="{FF2B5EF4-FFF2-40B4-BE49-F238E27FC236}">
                <a16:creationId xmlns:a16="http://schemas.microsoft.com/office/drawing/2014/main" id="{B7BF956A-DAC9-02E4-3EBC-666F7FB41CC7}"/>
              </a:ext>
            </a:extLst>
          </p:cNvPr>
          <p:cNvGraphicFramePr>
            <a:graphicFrameLocks noChangeAspect="1"/>
          </p:cNvGraphicFramePr>
          <p:nvPr>
            <p:extLst>
              <p:ext uri="{D42A27DB-BD31-4B8C-83A1-F6EECF244321}">
                <p14:modId xmlns:p14="http://schemas.microsoft.com/office/powerpoint/2010/main" val="148859246"/>
              </p:ext>
            </p:extLst>
          </p:nvPr>
        </p:nvGraphicFramePr>
        <p:xfrm>
          <a:off x="1728788" y="1463708"/>
          <a:ext cx="746125" cy="327025"/>
        </p:xfrm>
        <a:graphic>
          <a:graphicData uri="http://schemas.openxmlformats.org/presentationml/2006/ole">
            <mc:AlternateContent xmlns:mc="http://schemas.openxmlformats.org/markup-compatibility/2006">
              <mc:Choice xmlns:v="urn:schemas-microsoft-com:vml" Requires="v">
                <p:oleObj name="Equation" r:id="rId2" imgW="406080" imgH="177480" progId="Equation.DSMT4">
                  <p:embed/>
                </p:oleObj>
              </mc:Choice>
              <mc:Fallback>
                <p:oleObj name="Equation" r:id="rId2" imgW="406080" imgH="177480" progId="Equation.DSMT4">
                  <p:embed/>
                  <p:pic>
                    <p:nvPicPr>
                      <p:cNvPr id="12" name="Object 3"/>
                      <p:cNvPicPr>
                        <a:picLocks noChangeAspect="1" noChangeArrowheads="1"/>
                      </p:cNvPicPr>
                      <p:nvPr/>
                    </p:nvPicPr>
                    <p:blipFill>
                      <a:blip r:embed="rId3"/>
                      <a:srcRect/>
                      <a:stretch>
                        <a:fillRect/>
                      </a:stretch>
                    </p:blipFill>
                    <p:spPr bwMode="auto">
                      <a:xfrm>
                        <a:off x="1728788" y="1463708"/>
                        <a:ext cx="746125"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2" descr="A circuit diagram shows a DC voltage source V subscript g as the leftmost wire in the circuit. Polarity of the voltage source V subscript g is positive at the top and negative at the bottom. Resistor R subscript 1 is connected to the voltage source V subscript g in the top wire of the circuit before the second wire from left. The second wire from left contains a capacitor C and a switch, both connected in parallel to the voltage source V subscript g. Voltage across the capacitor is v with positive polarity on the top side and negative at the bottom. The rightmost wire in the circuit is Resistor R connected in parallel to voltage source V subscript g. Switch is at position a before time t is zero. At position a, the switch charges the capacitor C by connecting it to the voltage source V subscript g through resistor R subscript 1. Voltage across the capacitor is v, which equals the source V subscript g.">
            <a:extLst>
              <a:ext uri="{FF2B5EF4-FFF2-40B4-BE49-F238E27FC236}">
                <a16:creationId xmlns:a16="http://schemas.microsoft.com/office/drawing/2014/main" id="{D6500E37-8FBE-83E1-CF36-19FDE3D79A63}"/>
              </a:ext>
            </a:extLst>
          </p:cNvPr>
          <p:cNvPicPr>
            <a:picLocks noChangeAspect="1" noChangeArrowheads="1"/>
          </p:cNvPicPr>
          <p:nvPr/>
        </p:nvPicPr>
        <p:blipFill>
          <a:blip r:embed="rId4"/>
          <a:stretch>
            <a:fillRect/>
          </a:stretch>
        </p:blipFill>
        <p:spPr bwMode="auto">
          <a:xfrm>
            <a:off x="3230335" y="1310671"/>
            <a:ext cx="2683329" cy="138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2907487"/>
            <a:ext cx="8237538" cy="374906"/>
          </a:xfrm>
        </p:spPr>
        <p:txBody>
          <a:bodyPr wrap="square" lIns="0" tIns="18000" rIns="0" bIns="18000" anchor="ctr">
            <a:spAutoFit/>
          </a:bodyPr>
          <a:lstStyle/>
          <a:p>
            <a:pPr marL="0" indent="0">
              <a:spcBef>
                <a:spcPts val="600"/>
              </a:spcBef>
              <a:buNone/>
            </a:pPr>
            <a:r>
              <a:rPr lang="en-US" sz="2200" noProof="0" dirty="0"/>
              <a:t>There is an open circuit here, so the current in this circuit is 0, and </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364687"/>
            <a:ext cx="3806825" cy="374906"/>
          </a:xfrm>
        </p:spPr>
        <p:txBody>
          <a:bodyPr wrap="square" lIns="0" tIns="18000" rIns="0" bIns="18000" anchor="ctr">
            <a:spAutoFit/>
          </a:bodyPr>
          <a:lstStyle/>
          <a:p>
            <a:pPr marL="0" indent="0">
              <a:spcBef>
                <a:spcPts val="600"/>
              </a:spcBef>
              <a:buNone/>
            </a:pPr>
            <a:r>
              <a:rPr lang="en-US" sz="2200" noProof="0" dirty="0"/>
              <a:t>0, and the voltage drop across </a:t>
            </a:r>
          </a:p>
        </p:txBody>
      </p:sp>
      <p:graphicFrame>
        <p:nvGraphicFramePr>
          <p:cNvPr id="25" name="Object 24" descr="R subscript 1.&#10;">
            <a:extLst>
              <a:ext uri="{FF2B5EF4-FFF2-40B4-BE49-F238E27FC236}">
                <a16:creationId xmlns:a16="http://schemas.microsoft.com/office/drawing/2014/main" id="{BFB9C9F6-E016-929B-F3DB-FD97099B507B}"/>
              </a:ext>
            </a:extLst>
          </p:cNvPr>
          <p:cNvGraphicFramePr>
            <a:graphicFrameLocks noChangeAspect="1"/>
          </p:cNvGraphicFramePr>
          <p:nvPr>
            <p:extLst>
              <p:ext uri="{D42A27DB-BD31-4B8C-83A1-F6EECF244321}">
                <p14:modId xmlns:p14="http://schemas.microsoft.com/office/powerpoint/2010/main" val="2491263820"/>
              </p:ext>
            </p:extLst>
          </p:nvPr>
        </p:nvGraphicFramePr>
        <p:xfrm>
          <a:off x="4298229" y="3415813"/>
          <a:ext cx="318943" cy="382444"/>
        </p:xfrm>
        <a:graphic>
          <a:graphicData uri="http://schemas.openxmlformats.org/presentationml/2006/ole">
            <mc:AlternateContent xmlns:mc="http://schemas.openxmlformats.org/markup-compatibility/2006">
              <mc:Choice xmlns:v="urn:schemas-microsoft-com:vml" Requires="v">
                <p:oleObj name="Equation" r:id="rId5" imgW="190440" imgH="228600" progId="Equation.DSMT4">
                  <p:embed/>
                </p:oleObj>
              </mc:Choice>
              <mc:Fallback>
                <p:oleObj name="Equation" r:id="rId5" imgW="190440" imgH="228600" progId="Equation.DSMT4">
                  <p:embed/>
                  <p:pic>
                    <p:nvPicPr>
                      <p:cNvPr id="4" name="Object 3">
                        <a:extLst>
                          <a:ext uri="{FF2B5EF4-FFF2-40B4-BE49-F238E27FC236}">
                            <a16:creationId xmlns:a16="http://schemas.microsoft.com/office/drawing/2014/main" id="{B7BF956A-DAC9-02E4-3EBC-666F7FB41CC7}"/>
                          </a:ext>
                        </a:extLst>
                      </p:cNvPr>
                      <p:cNvPicPr>
                        <a:picLocks noChangeAspect="1" noChangeArrowheads="1"/>
                      </p:cNvPicPr>
                      <p:nvPr/>
                    </p:nvPicPr>
                    <p:blipFill>
                      <a:blip r:embed="rId6"/>
                      <a:srcRect/>
                      <a:stretch>
                        <a:fillRect/>
                      </a:stretch>
                    </p:blipFill>
                    <p:spPr bwMode="auto">
                      <a:xfrm>
                        <a:off x="4298229" y="3415813"/>
                        <a:ext cx="318943" cy="3824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670426" y="3364687"/>
            <a:ext cx="1428750" cy="374906"/>
          </a:xfrm>
        </p:spPr>
        <p:txBody>
          <a:bodyPr wrap="square" lIns="0" tIns="18000" rIns="0" bIns="18000" anchor="ctr">
            <a:spAutoFit/>
          </a:bodyPr>
          <a:lstStyle/>
          <a:p>
            <a:pPr marL="0" indent="0">
              <a:spcBef>
                <a:spcPts val="600"/>
              </a:spcBef>
              <a:buNone/>
            </a:pPr>
            <a:r>
              <a:rPr lang="en-US" sz="2200" noProof="0" dirty="0"/>
              <a:t>is 0. Thus,</a:t>
            </a:r>
          </a:p>
        </p:txBody>
      </p:sp>
      <p:graphicFrame>
        <p:nvGraphicFramePr>
          <p:cNvPr id="26" name="Object 25" descr="v equals V subscript g.&#10;">
            <a:extLst>
              <a:ext uri="{FF2B5EF4-FFF2-40B4-BE49-F238E27FC236}">
                <a16:creationId xmlns:a16="http://schemas.microsoft.com/office/drawing/2014/main" id="{8DC84189-724E-0748-AB04-1E1CD448CA43}"/>
              </a:ext>
            </a:extLst>
          </p:cNvPr>
          <p:cNvGraphicFramePr>
            <a:graphicFrameLocks noChangeAspect="1"/>
          </p:cNvGraphicFramePr>
          <p:nvPr>
            <p:extLst>
              <p:ext uri="{D42A27DB-BD31-4B8C-83A1-F6EECF244321}">
                <p14:modId xmlns:p14="http://schemas.microsoft.com/office/powerpoint/2010/main" val="306581373"/>
              </p:ext>
            </p:extLst>
          </p:nvPr>
        </p:nvGraphicFramePr>
        <p:xfrm>
          <a:off x="3545249" y="3931678"/>
          <a:ext cx="832715" cy="428625"/>
        </p:xfrm>
        <a:graphic>
          <a:graphicData uri="http://schemas.openxmlformats.org/presentationml/2006/ole">
            <mc:AlternateContent xmlns:mc="http://schemas.openxmlformats.org/markup-compatibility/2006">
              <mc:Choice xmlns:v="urn:schemas-microsoft-com:vml" Requires="v">
                <p:oleObj name="Equation" r:id="rId7" imgW="469800" imgH="241200" progId="Equation.DSMT4">
                  <p:embed/>
                </p:oleObj>
              </mc:Choice>
              <mc:Fallback>
                <p:oleObj name="Equation" r:id="rId7" imgW="469800" imgH="241200" progId="Equation.DSMT4">
                  <p:embed/>
                  <p:pic>
                    <p:nvPicPr>
                      <p:cNvPr id="9" name="Object 8"/>
                      <p:cNvPicPr>
                        <a:picLocks noChangeAspect="1" noChangeArrowheads="1"/>
                      </p:cNvPicPr>
                      <p:nvPr/>
                    </p:nvPicPr>
                    <p:blipFill>
                      <a:blip r:embed="rId8"/>
                      <a:srcRect/>
                      <a:stretch>
                        <a:fillRect/>
                      </a:stretch>
                    </p:blipFill>
                    <p:spPr bwMode="auto">
                      <a:xfrm>
                        <a:off x="3545249" y="3931678"/>
                        <a:ext cx="83271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6" descr="t less than 0.&#10;">
            <a:extLst>
              <a:ext uri="{FF2B5EF4-FFF2-40B4-BE49-F238E27FC236}">
                <a16:creationId xmlns:a16="http://schemas.microsoft.com/office/drawing/2014/main" id="{AAAAD797-1673-1492-6A31-3D9161B32481}"/>
              </a:ext>
            </a:extLst>
          </p:cNvPr>
          <p:cNvGraphicFramePr>
            <a:graphicFrameLocks noChangeAspect="1"/>
          </p:cNvGraphicFramePr>
          <p:nvPr>
            <p:extLst>
              <p:ext uri="{D42A27DB-BD31-4B8C-83A1-F6EECF244321}">
                <p14:modId xmlns:p14="http://schemas.microsoft.com/office/powerpoint/2010/main" val="2971866501"/>
              </p:ext>
            </p:extLst>
          </p:nvPr>
        </p:nvGraphicFramePr>
        <p:xfrm>
          <a:off x="4838917" y="3988682"/>
          <a:ext cx="607580" cy="314614"/>
        </p:xfrm>
        <a:graphic>
          <a:graphicData uri="http://schemas.openxmlformats.org/presentationml/2006/ole">
            <mc:AlternateContent xmlns:mc="http://schemas.openxmlformats.org/markup-compatibility/2006">
              <mc:Choice xmlns:v="urn:schemas-microsoft-com:vml" Requires="v">
                <p:oleObj name="Equation" r:id="rId9" imgW="342720" imgH="177480" progId="Equation.DSMT4">
                  <p:embed/>
                </p:oleObj>
              </mc:Choice>
              <mc:Fallback>
                <p:oleObj name="Equation" r:id="rId9" imgW="342720" imgH="177480" progId="Equation.DSMT4">
                  <p:embed/>
                  <p:pic>
                    <p:nvPicPr>
                      <p:cNvPr id="26" name="Object 25">
                        <a:extLst>
                          <a:ext uri="{FF2B5EF4-FFF2-40B4-BE49-F238E27FC236}">
                            <a16:creationId xmlns:a16="http://schemas.microsoft.com/office/drawing/2014/main" id="{8DC84189-724E-0748-AB04-1E1CD448CA43}"/>
                          </a:ext>
                        </a:extLst>
                      </p:cNvPr>
                      <p:cNvPicPr>
                        <a:picLocks noChangeAspect="1" noChangeArrowheads="1"/>
                      </p:cNvPicPr>
                      <p:nvPr/>
                    </p:nvPicPr>
                    <p:blipFill>
                      <a:blip r:embed="rId10"/>
                      <a:srcRect/>
                      <a:stretch>
                        <a:fillRect/>
                      </a:stretch>
                    </p:blipFill>
                    <p:spPr bwMode="auto">
                      <a:xfrm>
                        <a:off x="4838917" y="3988682"/>
                        <a:ext cx="607580" cy="314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417" y="4540201"/>
            <a:ext cx="8247063" cy="1052014"/>
          </a:xfrm>
        </p:spPr>
        <p:txBody>
          <a:bodyPr wrap="square" lIns="0" tIns="18000" rIns="0" bIns="18000" anchor="ctr">
            <a:spAutoFit/>
          </a:bodyPr>
          <a:lstStyle/>
          <a:p>
            <a:pPr marL="0" indent="0">
              <a:spcBef>
                <a:spcPts val="600"/>
              </a:spcBef>
              <a:buNone/>
            </a:pPr>
            <a:r>
              <a:rPr lang="en-US" sz="2200" noProof="0" dirty="0"/>
              <a:t>Remember the continuity requirement for capacitors – the voltage drop across the capacitor must be continuous everywhere, so that the current through the capacitor remains finite. Thus,</a:t>
            </a:r>
          </a:p>
        </p:txBody>
      </p:sp>
      <p:graphicFrame>
        <p:nvGraphicFramePr>
          <p:cNvPr id="28" name="Object 27" descr="v (0) equals V subscript g.&#10;">
            <a:extLst>
              <a:ext uri="{FF2B5EF4-FFF2-40B4-BE49-F238E27FC236}">
                <a16:creationId xmlns:a16="http://schemas.microsoft.com/office/drawing/2014/main" id="{14D99494-B709-CBA6-82D6-307D6578C772}"/>
              </a:ext>
            </a:extLst>
          </p:cNvPr>
          <p:cNvGraphicFramePr>
            <a:graphicFrameLocks noChangeAspect="1"/>
          </p:cNvGraphicFramePr>
          <p:nvPr>
            <p:extLst>
              <p:ext uri="{D42A27DB-BD31-4B8C-83A1-F6EECF244321}">
                <p14:modId xmlns:p14="http://schemas.microsoft.com/office/powerpoint/2010/main" val="3803594428"/>
              </p:ext>
            </p:extLst>
          </p:nvPr>
        </p:nvGraphicFramePr>
        <p:xfrm>
          <a:off x="3944258" y="5769144"/>
          <a:ext cx="1166813" cy="461962"/>
        </p:xfrm>
        <a:graphic>
          <a:graphicData uri="http://schemas.openxmlformats.org/presentationml/2006/ole">
            <mc:AlternateContent xmlns:mc="http://schemas.openxmlformats.org/markup-compatibility/2006">
              <mc:Choice xmlns:v="urn:schemas-microsoft-com:vml" Requires="v">
                <p:oleObj name="Equation" r:id="rId11" imgW="609480" imgH="241200" progId="Equation.DSMT4">
                  <p:embed/>
                </p:oleObj>
              </mc:Choice>
              <mc:Fallback>
                <p:oleObj name="Equation" r:id="rId11" imgW="609480" imgH="241200" progId="Equation.DSMT4">
                  <p:embed/>
                  <p:pic>
                    <p:nvPicPr>
                      <p:cNvPr id="10" name="Object 9"/>
                      <p:cNvPicPr>
                        <a:picLocks noChangeAspect="1" noChangeArrowheads="1"/>
                      </p:cNvPicPr>
                      <p:nvPr/>
                    </p:nvPicPr>
                    <p:blipFill>
                      <a:blip r:embed="rId12"/>
                      <a:srcRect/>
                      <a:stretch>
                        <a:fillRect/>
                      </a:stretch>
                    </p:blipFill>
                    <p:spPr bwMode="auto">
                      <a:xfrm>
                        <a:off x="3944258" y="5769144"/>
                        <a:ext cx="11668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40658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0595"/>
            <a:ext cx="8229600" cy="1021237"/>
          </a:xfrm>
        </p:spPr>
        <p:txBody>
          <a:bodyPr/>
          <a:lstStyle/>
          <a:p>
            <a:r>
              <a:rPr lang="en-US" noProof="0" dirty="0"/>
              <a:t>Chapter 7 – </a:t>
            </a:r>
            <a:r>
              <a:rPr lang="en-US" i="1" spc="-350" noProof="0" dirty="0"/>
              <a:t>R </a:t>
            </a:r>
            <a:r>
              <a:rPr lang="en-US" i="1" noProof="0" dirty="0"/>
              <a:t>C </a:t>
            </a:r>
            <a:r>
              <a:rPr lang="en-US" noProof="0" dirty="0"/>
              <a:t>Natural Response      </a:t>
            </a:r>
            <a:r>
              <a:rPr lang="en-US" sz="2800" noProof="0" dirty="0"/>
              <a:t>(5 of 5)</a:t>
            </a:r>
          </a:p>
        </p:txBody>
      </p:sp>
      <p:graphicFrame>
        <p:nvGraphicFramePr>
          <p:cNvPr id="25" name="Object 2" descr="t is greater than or equal to 0.&#10;">
            <a:extLst>
              <a:ext uri="{FF2B5EF4-FFF2-40B4-BE49-F238E27FC236}">
                <a16:creationId xmlns:a16="http://schemas.microsoft.com/office/drawing/2014/main" id="{638D95F9-2586-42BA-8107-A1FF21D65E7B}"/>
              </a:ext>
            </a:extLst>
          </p:cNvPr>
          <p:cNvGraphicFramePr>
            <a:graphicFrameLocks noChangeAspect="1"/>
          </p:cNvGraphicFramePr>
          <p:nvPr>
            <p:extLst>
              <p:ext uri="{D42A27DB-BD31-4B8C-83A1-F6EECF244321}">
                <p14:modId xmlns:p14="http://schemas.microsoft.com/office/powerpoint/2010/main" val="377354413"/>
              </p:ext>
            </p:extLst>
          </p:nvPr>
        </p:nvGraphicFramePr>
        <p:xfrm>
          <a:off x="993125" y="1627909"/>
          <a:ext cx="685512" cy="300182"/>
        </p:xfrm>
        <a:graphic>
          <a:graphicData uri="http://schemas.openxmlformats.org/presentationml/2006/ole">
            <mc:AlternateContent xmlns:mc="http://schemas.openxmlformats.org/markup-compatibility/2006">
              <mc:Choice xmlns:v="urn:schemas-microsoft-com:vml" Requires="v">
                <p:oleObj name="Equation" r:id="rId2" imgW="406080" imgH="177480" progId="Equation.DSMT4">
                  <p:embed/>
                </p:oleObj>
              </mc:Choice>
              <mc:Fallback>
                <p:oleObj name="Equation" r:id="rId2" imgW="406080" imgH="177480" progId="Equation.DSMT4">
                  <p:embed/>
                  <p:pic>
                    <p:nvPicPr>
                      <p:cNvPr id="2" name="Object 2">
                        <a:extLst>
                          <a:ext uri="{FF2B5EF4-FFF2-40B4-BE49-F238E27FC236}">
                            <a16:creationId xmlns:a16="http://schemas.microsoft.com/office/drawing/2014/main" id="{EE92B410-8D5F-C873-5E9B-95A6C83C117F}"/>
                          </a:ext>
                        </a:extLst>
                      </p:cNvPr>
                      <p:cNvPicPr>
                        <a:picLocks noChangeAspect="1" noChangeArrowheads="1"/>
                      </p:cNvPicPr>
                      <p:nvPr/>
                    </p:nvPicPr>
                    <p:blipFill>
                      <a:blip r:embed="rId3"/>
                      <a:srcRect/>
                      <a:stretch>
                        <a:fillRect/>
                      </a:stretch>
                    </p:blipFill>
                    <p:spPr bwMode="auto">
                      <a:xfrm>
                        <a:off x="993125" y="1627909"/>
                        <a:ext cx="685512" cy="3001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6" descr="A circuit diagram shows a DC voltage source V subscript g as the leftmost wire in the circuit. Polarity of the voltage source V subscript g is positive at the top and negative at the bottom. Resistor R subscript 1 is connected to the voltage source V subscript g in the top wire of the circuit before the second wire from left. The second wire from left contains a capacitor C and a switch, both connected in parallel to the voltage source V subscript g. Voltage across the capacitor is v with positive polarity on the top side and negative at the bottom. The rightmost wire in the circuit is Resistor R connected in parallel to voltage source V subscript g. Switch is at position a before time t is zero. Switch is at position b when time t is zero. At position b, the switch discharges the capacitor C through resistor R. ">
            <a:extLst>
              <a:ext uri="{FF2B5EF4-FFF2-40B4-BE49-F238E27FC236}">
                <a16:creationId xmlns:a16="http://schemas.microsoft.com/office/drawing/2014/main" id="{97E3F189-3AC4-41DB-9510-345644536638}"/>
              </a:ext>
            </a:extLst>
          </p:cNvPr>
          <p:cNvPicPr>
            <a:picLocks noChangeAspect="1" noChangeArrowheads="1"/>
          </p:cNvPicPr>
          <p:nvPr/>
        </p:nvPicPr>
        <p:blipFill>
          <a:blip r:embed="rId4"/>
          <a:stretch>
            <a:fillRect/>
          </a:stretch>
        </p:blipFill>
        <p:spPr bwMode="auto">
          <a:xfrm>
            <a:off x="2153082" y="1466843"/>
            <a:ext cx="3048000" cy="1504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5675527" y="2002200"/>
            <a:ext cx="571500" cy="313350"/>
          </a:xfrm>
        </p:spPr>
        <p:txBody>
          <a:bodyPr wrap="square" lIns="0" tIns="18000" rIns="0" bIns="18000" anchor="ctr">
            <a:spAutoFit/>
          </a:bodyPr>
          <a:lstStyle/>
          <a:p>
            <a:pPr marL="0" indent="0">
              <a:spcBef>
                <a:spcPts val="600"/>
              </a:spcBef>
              <a:buNone/>
            </a:pPr>
            <a:r>
              <a:rPr lang="en-US" sz="1800" spc="-250" noProof="0" dirty="0"/>
              <a:t>K C </a:t>
            </a:r>
            <a:r>
              <a:rPr lang="en-US" sz="1800" noProof="0" dirty="0"/>
              <a:t>L:</a:t>
            </a:r>
          </a:p>
        </p:txBody>
      </p:sp>
      <p:graphicFrame>
        <p:nvGraphicFramePr>
          <p:cNvPr id="27" name="Object 7" descr="C StartFraction d v (t) over d t EndFraction plus StartFraction v (t) over R EndFraction equals 0.&#10;">
            <a:extLst>
              <a:ext uri="{FF2B5EF4-FFF2-40B4-BE49-F238E27FC236}">
                <a16:creationId xmlns:a16="http://schemas.microsoft.com/office/drawing/2014/main" id="{D51656BE-5E9C-4499-9911-273DECADA9C9}"/>
              </a:ext>
            </a:extLst>
          </p:cNvPr>
          <p:cNvGraphicFramePr>
            <a:graphicFrameLocks noChangeAspect="1"/>
          </p:cNvGraphicFramePr>
          <p:nvPr>
            <p:extLst>
              <p:ext uri="{D42A27DB-BD31-4B8C-83A1-F6EECF244321}">
                <p14:modId xmlns:p14="http://schemas.microsoft.com/office/powerpoint/2010/main" val="173993953"/>
              </p:ext>
            </p:extLst>
          </p:nvPr>
        </p:nvGraphicFramePr>
        <p:xfrm>
          <a:off x="6489771" y="1860457"/>
          <a:ext cx="1811194" cy="603250"/>
        </p:xfrm>
        <a:graphic>
          <a:graphicData uri="http://schemas.openxmlformats.org/presentationml/2006/ole">
            <mc:AlternateContent xmlns:mc="http://schemas.openxmlformats.org/markup-compatibility/2006">
              <mc:Choice xmlns:v="urn:schemas-microsoft-com:vml" Requires="v">
                <p:oleObj name="Equation" r:id="rId5" imgW="1180800" imgH="393480" progId="Equation.DSMT4">
                  <p:embed/>
                </p:oleObj>
              </mc:Choice>
              <mc:Fallback>
                <p:oleObj name="Equation" r:id="rId5" imgW="1180800" imgH="393480" progId="Equation.DSMT4">
                  <p:embed/>
                  <p:pic>
                    <p:nvPicPr>
                      <p:cNvPr id="4" name="Object 7">
                        <a:extLst>
                          <a:ext uri="{FF2B5EF4-FFF2-40B4-BE49-F238E27FC236}">
                            <a16:creationId xmlns:a16="http://schemas.microsoft.com/office/drawing/2014/main" id="{902E9D3B-C508-F84F-5BE2-5682381A6FC8}"/>
                          </a:ext>
                        </a:extLst>
                      </p:cNvPr>
                      <p:cNvPicPr>
                        <a:picLocks noChangeAspect="1" noChangeArrowheads="1"/>
                      </p:cNvPicPr>
                      <p:nvPr/>
                    </p:nvPicPr>
                    <p:blipFill>
                      <a:blip r:embed="rId6"/>
                      <a:srcRect/>
                      <a:stretch>
                        <a:fillRect/>
                      </a:stretch>
                    </p:blipFill>
                    <p:spPr bwMode="auto">
                      <a:xfrm>
                        <a:off x="6489771" y="1860457"/>
                        <a:ext cx="1811194"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240487" y="3265624"/>
            <a:ext cx="438150" cy="313350"/>
          </a:xfrm>
        </p:spPr>
        <p:txBody>
          <a:bodyPr wrap="square" lIns="0" tIns="18000" rIns="0" bIns="18000" anchor="ctr">
            <a:spAutoFit/>
          </a:bodyPr>
          <a:lstStyle/>
          <a:p>
            <a:pPr marL="0" indent="0">
              <a:spcBef>
                <a:spcPts val="600"/>
              </a:spcBef>
              <a:buNone/>
            </a:pPr>
            <a:r>
              <a:rPr lang="en-US" sz="1800" noProof="0" dirty="0"/>
              <a:t>Let</a:t>
            </a:r>
          </a:p>
        </p:txBody>
      </p:sp>
      <p:graphicFrame>
        <p:nvGraphicFramePr>
          <p:cNvPr id="28" name="Object 8" descr="v (t) equals e to the negative a t power.&#10;">
            <a:extLst>
              <a:ext uri="{FF2B5EF4-FFF2-40B4-BE49-F238E27FC236}">
                <a16:creationId xmlns:a16="http://schemas.microsoft.com/office/drawing/2014/main" id="{B85A8EAA-EB3B-4352-9D06-243B0B619F35}"/>
              </a:ext>
            </a:extLst>
          </p:cNvPr>
          <p:cNvGraphicFramePr>
            <a:graphicFrameLocks noChangeAspect="1"/>
          </p:cNvGraphicFramePr>
          <p:nvPr>
            <p:extLst>
              <p:ext uri="{D42A27DB-BD31-4B8C-83A1-F6EECF244321}">
                <p14:modId xmlns:p14="http://schemas.microsoft.com/office/powerpoint/2010/main" val="1755865164"/>
              </p:ext>
            </p:extLst>
          </p:nvPr>
        </p:nvGraphicFramePr>
        <p:xfrm>
          <a:off x="2043834" y="3248602"/>
          <a:ext cx="1062182" cy="360795"/>
        </p:xfrm>
        <a:graphic>
          <a:graphicData uri="http://schemas.openxmlformats.org/presentationml/2006/ole">
            <mc:AlternateContent xmlns:mc="http://schemas.openxmlformats.org/markup-compatibility/2006">
              <mc:Choice xmlns:v="urn:schemas-microsoft-com:vml" Requires="v">
                <p:oleObj name="Equation" r:id="rId7" imgW="672840" imgH="228600" progId="Equation.DSMT4">
                  <p:embed/>
                </p:oleObj>
              </mc:Choice>
              <mc:Fallback>
                <p:oleObj name="Equation" r:id="rId7" imgW="672840" imgH="228600" progId="Equation.DSMT4">
                  <p:embed/>
                  <p:pic>
                    <p:nvPicPr>
                      <p:cNvPr id="5" name="Object 8">
                        <a:extLst>
                          <a:ext uri="{FF2B5EF4-FFF2-40B4-BE49-F238E27FC236}">
                            <a16:creationId xmlns:a16="http://schemas.microsoft.com/office/drawing/2014/main" id="{8C980015-8C88-ACE1-7659-3BCDCE998470}"/>
                          </a:ext>
                        </a:extLst>
                      </p:cNvPr>
                      <p:cNvPicPr>
                        <a:picLocks noChangeAspect="1" noChangeArrowheads="1"/>
                      </p:cNvPicPr>
                      <p:nvPr/>
                    </p:nvPicPr>
                    <p:blipFill>
                      <a:blip r:embed="rId8"/>
                      <a:srcRect/>
                      <a:stretch>
                        <a:fillRect/>
                      </a:stretch>
                    </p:blipFill>
                    <p:spPr bwMode="auto">
                      <a:xfrm>
                        <a:off x="2043834" y="3248602"/>
                        <a:ext cx="1062182" cy="3607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3477057" y="3283936"/>
            <a:ext cx="400050" cy="313350"/>
          </a:xfrm>
        </p:spPr>
        <p:txBody>
          <a:bodyPr wrap="square" lIns="0" tIns="18000" rIns="0" bIns="18000" anchor="ctr">
            <a:spAutoFit/>
          </a:bodyPr>
          <a:lstStyle/>
          <a:p>
            <a:pPr marL="0" indent="0">
              <a:spcBef>
                <a:spcPts val="600"/>
              </a:spcBef>
              <a:buNone/>
            </a:pPr>
            <a:r>
              <a:rPr lang="en-US" sz="1800" noProof="0" dirty="0"/>
              <a:t>and</a:t>
            </a:r>
          </a:p>
        </p:txBody>
      </p:sp>
      <p:graphicFrame>
        <p:nvGraphicFramePr>
          <p:cNvPr id="29" name="Object 8" descr="StartFraction d v (t) over d t EndFraction equals negative a e to the negative a t power.&#10;">
            <a:extLst>
              <a:ext uri="{FF2B5EF4-FFF2-40B4-BE49-F238E27FC236}">
                <a16:creationId xmlns:a16="http://schemas.microsoft.com/office/drawing/2014/main" id="{2DC5B77E-500D-4D65-9894-EE81AE2AB39C}"/>
              </a:ext>
            </a:extLst>
          </p:cNvPr>
          <p:cNvGraphicFramePr>
            <a:graphicFrameLocks noChangeAspect="1"/>
          </p:cNvGraphicFramePr>
          <p:nvPr>
            <p:extLst>
              <p:ext uri="{D42A27DB-BD31-4B8C-83A1-F6EECF244321}">
                <p14:modId xmlns:p14="http://schemas.microsoft.com/office/powerpoint/2010/main" val="2346610094"/>
              </p:ext>
            </p:extLst>
          </p:nvPr>
        </p:nvGraphicFramePr>
        <p:xfrm>
          <a:off x="4248148" y="3160318"/>
          <a:ext cx="1524000" cy="622011"/>
        </p:xfrm>
        <a:graphic>
          <a:graphicData uri="http://schemas.openxmlformats.org/presentationml/2006/ole">
            <mc:AlternateContent xmlns:mc="http://schemas.openxmlformats.org/markup-compatibility/2006">
              <mc:Choice xmlns:v="urn:schemas-microsoft-com:vml" Requires="v">
                <p:oleObj name="Equation" r:id="rId9" imgW="965160" imgH="393480" progId="Equation.DSMT4">
                  <p:embed/>
                </p:oleObj>
              </mc:Choice>
              <mc:Fallback>
                <p:oleObj name="Equation" r:id="rId9" imgW="965160" imgH="393480" progId="Equation.DSMT4">
                  <p:embed/>
                  <p:pic>
                    <p:nvPicPr>
                      <p:cNvPr id="28" name="Object 8">
                        <a:extLst>
                          <a:ext uri="{FF2B5EF4-FFF2-40B4-BE49-F238E27FC236}">
                            <a16:creationId xmlns:a16="http://schemas.microsoft.com/office/drawing/2014/main" id="{B85A8EAA-EB3B-4352-9D06-243B0B619F35}"/>
                          </a:ext>
                        </a:extLst>
                      </p:cNvPr>
                      <p:cNvPicPr>
                        <a:picLocks noChangeAspect="1" noChangeArrowheads="1"/>
                      </p:cNvPicPr>
                      <p:nvPr/>
                    </p:nvPicPr>
                    <p:blipFill>
                      <a:blip r:embed="rId10"/>
                      <a:srcRect/>
                      <a:stretch>
                        <a:fillRect/>
                      </a:stretch>
                    </p:blipFill>
                    <p:spPr bwMode="auto">
                      <a:xfrm>
                        <a:off x="4248148" y="3160318"/>
                        <a:ext cx="1524000" cy="622011"/>
                      </a:xfrm>
                      <a:prstGeom prst="rect">
                        <a:avLst/>
                      </a:prstGeom>
                      <a:noFill/>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240487" y="3890808"/>
            <a:ext cx="1309181" cy="313350"/>
          </a:xfrm>
        </p:spPr>
        <p:txBody>
          <a:bodyPr wrap="square" lIns="0" tIns="18000" rIns="0" bIns="18000" anchor="ctr">
            <a:spAutoFit/>
          </a:bodyPr>
          <a:lstStyle/>
          <a:p>
            <a:pPr marL="0" indent="0">
              <a:spcBef>
                <a:spcPts val="600"/>
              </a:spcBef>
              <a:buNone/>
            </a:pPr>
            <a:r>
              <a:rPr lang="en-US" sz="1800" noProof="0" dirty="0"/>
              <a:t>Substituting,</a:t>
            </a:r>
          </a:p>
        </p:txBody>
      </p:sp>
      <p:graphicFrame>
        <p:nvGraphicFramePr>
          <p:cNvPr id="30" name="Object 8" descr="C (negative a e to the negative a t power) plus StartFraction e to the negative a t power over R EndFraction equals 0.&#10;">
            <a:extLst>
              <a:ext uri="{FF2B5EF4-FFF2-40B4-BE49-F238E27FC236}">
                <a16:creationId xmlns:a16="http://schemas.microsoft.com/office/drawing/2014/main" id="{05D0FBAB-F5D8-4811-A70F-3B69C4FAE00F}"/>
              </a:ext>
            </a:extLst>
          </p:cNvPr>
          <p:cNvGraphicFramePr>
            <a:graphicFrameLocks noChangeAspect="1"/>
          </p:cNvGraphicFramePr>
          <p:nvPr>
            <p:extLst>
              <p:ext uri="{D42A27DB-BD31-4B8C-83A1-F6EECF244321}">
                <p14:modId xmlns:p14="http://schemas.microsoft.com/office/powerpoint/2010/main" val="3410736507"/>
              </p:ext>
            </p:extLst>
          </p:nvPr>
        </p:nvGraphicFramePr>
        <p:xfrm>
          <a:off x="2837150" y="3867086"/>
          <a:ext cx="2363932" cy="360795"/>
        </p:xfrm>
        <a:graphic>
          <a:graphicData uri="http://schemas.openxmlformats.org/presentationml/2006/ole">
            <mc:AlternateContent xmlns:mc="http://schemas.openxmlformats.org/markup-compatibility/2006">
              <mc:Choice xmlns:v="urn:schemas-microsoft-com:vml" Requires="v">
                <p:oleObj name="Equation" r:id="rId11" imgW="1498320" imgH="228600" progId="Equation.DSMT4">
                  <p:embed/>
                </p:oleObj>
              </mc:Choice>
              <mc:Fallback>
                <p:oleObj name="Equation" r:id="rId11" imgW="1498320" imgH="228600" progId="Equation.DSMT4">
                  <p:embed/>
                  <p:pic>
                    <p:nvPicPr>
                      <p:cNvPr id="25" name="Object 8">
                        <a:extLst>
                          <a:ext uri="{FF2B5EF4-FFF2-40B4-BE49-F238E27FC236}">
                            <a16:creationId xmlns:a16="http://schemas.microsoft.com/office/drawing/2014/main" id="{194C6EC9-132B-31A4-E41C-DC427136F673}"/>
                          </a:ext>
                        </a:extLst>
                      </p:cNvPr>
                      <p:cNvPicPr>
                        <a:picLocks noChangeAspect="1" noChangeArrowheads="1"/>
                      </p:cNvPicPr>
                      <p:nvPr/>
                    </p:nvPicPr>
                    <p:blipFill>
                      <a:blip r:embed="rId12"/>
                      <a:srcRect/>
                      <a:stretch>
                        <a:fillRect/>
                      </a:stretch>
                    </p:blipFill>
                    <p:spPr bwMode="auto">
                      <a:xfrm>
                        <a:off x="2837150" y="3867086"/>
                        <a:ext cx="2363932" cy="3607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240487" y="4345299"/>
            <a:ext cx="1409700" cy="313350"/>
          </a:xfrm>
        </p:spPr>
        <p:txBody>
          <a:bodyPr wrap="square" lIns="0" tIns="18000" rIns="0" bIns="18000" anchor="ctr">
            <a:spAutoFit/>
          </a:bodyPr>
          <a:lstStyle/>
          <a:p>
            <a:pPr marL="0" indent="0">
              <a:spcBef>
                <a:spcPts val="600"/>
              </a:spcBef>
              <a:buNone/>
            </a:pPr>
            <a:r>
              <a:rPr lang="en-US" sz="1800" noProof="0" dirty="0"/>
              <a:t>Rearranging,</a:t>
            </a:r>
          </a:p>
        </p:txBody>
      </p:sp>
      <p:graphicFrame>
        <p:nvGraphicFramePr>
          <p:cNvPr id="31" name="Object 8" descr=" OpenParenthesis 1 divided by R minus a C CloseParenthesis e to the negative a t power equals 0.&#10;">
            <a:extLst>
              <a:ext uri="{FF2B5EF4-FFF2-40B4-BE49-F238E27FC236}">
                <a16:creationId xmlns:a16="http://schemas.microsoft.com/office/drawing/2014/main" id="{1F65BFB2-CBC4-4368-B278-ED02AE20E168}"/>
              </a:ext>
            </a:extLst>
          </p:cNvPr>
          <p:cNvGraphicFramePr>
            <a:graphicFrameLocks noChangeAspect="1"/>
          </p:cNvGraphicFramePr>
          <p:nvPr>
            <p:extLst>
              <p:ext uri="{D42A27DB-BD31-4B8C-83A1-F6EECF244321}">
                <p14:modId xmlns:p14="http://schemas.microsoft.com/office/powerpoint/2010/main" val="3112042177"/>
              </p:ext>
            </p:extLst>
          </p:nvPr>
        </p:nvGraphicFramePr>
        <p:xfrm>
          <a:off x="2837150" y="4348066"/>
          <a:ext cx="1883352" cy="360795"/>
        </p:xfrm>
        <a:graphic>
          <a:graphicData uri="http://schemas.openxmlformats.org/presentationml/2006/ole">
            <mc:AlternateContent xmlns:mc="http://schemas.openxmlformats.org/markup-compatibility/2006">
              <mc:Choice xmlns:v="urn:schemas-microsoft-com:vml" Requires="v">
                <p:oleObj name="Equation" r:id="rId13" imgW="1193760" imgH="228600" progId="Equation.DSMT4">
                  <p:embed/>
                </p:oleObj>
              </mc:Choice>
              <mc:Fallback>
                <p:oleObj name="Equation" r:id="rId13" imgW="1193760" imgH="228600" progId="Equation.DSMT4">
                  <p:embed/>
                  <p:pic>
                    <p:nvPicPr>
                      <p:cNvPr id="27" name="Object 8">
                        <a:extLst>
                          <a:ext uri="{FF2B5EF4-FFF2-40B4-BE49-F238E27FC236}">
                            <a16:creationId xmlns:a16="http://schemas.microsoft.com/office/drawing/2014/main" id="{A45D9B59-AE99-A91C-3248-EEB4DD1407D3}"/>
                          </a:ext>
                        </a:extLst>
                      </p:cNvPr>
                      <p:cNvPicPr>
                        <a:picLocks noChangeAspect="1" noChangeArrowheads="1"/>
                      </p:cNvPicPr>
                      <p:nvPr/>
                    </p:nvPicPr>
                    <p:blipFill>
                      <a:blip r:embed="rId14"/>
                      <a:srcRect/>
                      <a:stretch>
                        <a:fillRect/>
                      </a:stretch>
                    </p:blipFill>
                    <p:spPr bwMode="auto">
                      <a:xfrm>
                        <a:off x="2837150" y="4348066"/>
                        <a:ext cx="1883352" cy="3607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5218328" y="4348066"/>
            <a:ext cx="247650" cy="313350"/>
          </a:xfrm>
        </p:spPr>
        <p:txBody>
          <a:bodyPr wrap="square" lIns="0" tIns="18000" rIns="0" bIns="18000" anchor="ctr">
            <a:spAutoFit/>
          </a:bodyPr>
          <a:lstStyle/>
          <a:p>
            <a:pPr marL="0" indent="0">
              <a:spcBef>
                <a:spcPts val="600"/>
              </a:spcBef>
              <a:buNone/>
            </a:pPr>
            <a:r>
              <a:rPr lang="en-US" sz="1800" noProof="0" dirty="0"/>
              <a:t>so</a:t>
            </a:r>
          </a:p>
        </p:txBody>
      </p:sp>
      <p:graphicFrame>
        <p:nvGraphicFramePr>
          <p:cNvPr id="32" name="Object 8" descr="1 divided by R minus a C equals 0.&#10;">
            <a:extLst>
              <a:ext uri="{FF2B5EF4-FFF2-40B4-BE49-F238E27FC236}">
                <a16:creationId xmlns:a16="http://schemas.microsoft.com/office/drawing/2014/main" id="{1F224D57-0DE2-4E68-B1C3-A294C778C9E5}"/>
              </a:ext>
            </a:extLst>
          </p:cNvPr>
          <p:cNvGraphicFramePr>
            <a:graphicFrameLocks noChangeAspect="1"/>
          </p:cNvGraphicFramePr>
          <p:nvPr>
            <p:extLst>
              <p:ext uri="{D42A27DB-BD31-4B8C-83A1-F6EECF244321}">
                <p14:modId xmlns:p14="http://schemas.microsoft.com/office/powerpoint/2010/main" val="537191901"/>
              </p:ext>
            </p:extLst>
          </p:nvPr>
        </p:nvGraphicFramePr>
        <p:xfrm>
          <a:off x="5961277" y="4358167"/>
          <a:ext cx="1362364" cy="340591"/>
        </p:xfrm>
        <a:graphic>
          <a:graphicData uri="http://schemas.openxmlformats.org/presentationml/2006/ole">
            <mc:AlternateContent xmlns:mc="http://schemas.openxmlformats.org/markup-compatibility/2006">
              <mc:Choice xmlns:v="urn:schemas-microsoft-com:vml" Requires="v">
                <p:oleObj name="Equation" r:id="rId15" imgW="863280" imgH="215640" progId="Equation.DSMT4">
                  <p:embed/>
                </p:oleObj>
              </mc:Choice>
              <mc:Fallback>
                <p:oleObj name="Equation" r:id="rId15" imgW="863280" imgH="215640" progId="Equation.DSMT4">
                  <p:embed/>
                  <p:pic>
                    <p:nvPicPr>
                      <p:cNvPr id="31" name="Object 8">
                        <a:extLst>
                          <a:ext uri="{FF2B5EF4-FFF2-40B4-BE49-F238E27FC236}">
                            <a16:creationId xmlns:a16="http://schemas.microsoft.com/office/drawing/2014/main" id="{1F65BFB2-CBC4-4368-B278-ED02AE20E168}"/>
                          </a:ext>
                        </a:extLst>
                      </p:cNvPr>
                      <p:cNvPicPr>
                        <a:picLocks noChangeAspect="1" noChangeArrowheads="1"/>
                      </p:cNvPicPr>
                      <p:nvPr/>
                    </p:nvPicPr>
                    <p:blipFill>
                      <a:blip r:embed="rId16"/>
                      <a:srcRect/>
                      <a:stretch>
                        <a:fillRect/>
                      </a:stretch>
                    </p:blipFill>
                    <p:spPr bwMode="auto">
                      <a:xfrm>
                        <a:off x="5961277" y="4358167"/>
                        <a:ext cx="1362364" cy="3405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240487" y="4868960"/>
            <a:ext cx="885825" cy="313350"/>
          </a:xfrm>
        </p:spPr>
        <p:txBody>
          <a:bodyPr wrap="square" lIns="0" tIns="18000" rIns="0" bIns="18000" anchor="ctr">
            <a:spAutoFit/>
          </a:bodyPr>
          <a:lstStyle/>
          <a:p>
            <a:pPr marL="0" indent="0">
              <a:spcBef>
                <a:spcPts val="600"/>
              </a:spcBef>
              <a:buNone/>
            </a:pPr>
            <a:r>
              <a:rPr lang="en-US" sz="1800" noProof="0" dirty="0"/>
              <a:t>Solving,</a:t>
            </a:r>
          </a:p>
        </p:txBody>
      </p:sp>
      <p:graphicFrame>
        <p:nvGraphicFramePr>
          <p:cNvPr id="33" name="Object 8" descr="a equals 1 divided by R C.&#10;">
            <a:extLst>
              <a:ext uri="{FF2B5EF4-FFF2-40B4-BE49-F238E27FC236}">
                <a16:creationId xmlns:a16="http://schemas.microsoft.com/office/drawing/2014/main" id="{76676020-B4C9-4D93-A984-341CC9C80700}"/>
              </a:ext>
            </a:extLst>
          </p:cNvPr>
          <p:cNvGraphicFramePr>
            <a:graphicFrameLocks noChangeAspect="1"/>
          </p:cNvGraphicFramePr>
          <p:nvPr>
            <p:extLst>
              <p:ext uri="{D42A27DB-BD31-4B8C-83A1-F6EECF244321}">
                <p14:modId xmlns:p14="http://schemas.microsoft.com/office/powerpoint/2010/main" val="4279487254"/>
              </p:ext>
            </p:extLst>
          </p:nvPr>
        </p:nvGraphicFramePr>
        <p:xfrm>
          <a:off x="2564531" y="4860091"/>
          <a:ext cx="952503" cy="331976"/>
        </p:xfrm>
        <a:graphic>
          <a:graphicData uri="http://schemas.openxmlformats.org/presentationml/2006/ole">
            <mc:AlternateContent xmlns:mc="http://schemas.openxmlformats.org/markup-compatibility/2006">
              <mc:Choice xmlns:v="urn:schemas-microsoft-com:vml" Requires="v">
                <p:oleObj name="Equation" r:id="rId17" imgW="622080" imgH="215640" progId="Equation.DSMT4">
                  <p:embed/>
                </p:oleObj>
              </mc:Choice>
              <mc:Fallback>
                <p:oleObj name="Equation" r:id="rId17" imgW="622080" imgH="215640" progId="Equation.DSMT4">
                  <p:embed/>
                  <p:pic>
                    <p:nvPicPr>
                      <p:cNvPr id="26" name="Object 8">
                        <a:extLst>
                          <a:ext uri="{FF2B5EF4-FFF2-40B4-BE49-F238E27FC236}">
                            <a16:creationId xmlns:a16="http://schemas.microsoft.com/office/drawing/2014/main" id="{5D7314C8-A8CC-5DAC-1CC0-4132CAF67843}"/>
                          </a:ext>
                        </a:extLst>
                      </p:cNvPr>
                      <p:cNvPicPr>
                        <a:picLocks noChangeAspect="1" noChangeArrowheads="1"/>
                      </p:cNvPicPr>
                      <p:nvPr/>
                    </p:nvPicPr>
                    <p:blipFill>
                      <a:blip r:embed="rId18"/>
                      <a:srcRect/>
                      <a:stretch>
                        <a:fillRect/>
                      </a:stretch>
                    </p:blipFill>
                    <p:spPr bwMode="auto">
                      <a:xfrm>
                        <a:off x="2564531" y="4860091"/>
                        <a:ext cx="952503" cy="3319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1240487" y="5419107"/>
            <a:ext cx="378549" cy="313350"/>
          </a:xfrm>
        </p:spPr>
        <p:txBody>
          <a:bodyPr wrap="square" lIns="0" tIns="18000" rIns="0" bIns="18000" anchor="ctr">
            <a:spAutoFit/>
          </a:bodyPr>
          <a:lstStyle/>
          <a:p>
            <a:pPr marL="0" indent="0">
              <a:spcBef>
                <a:spcPts val="600"/>
              </a:spcBef>
              <a:buNone/>
            </a:pPr>
            <a:r>
              <a:rPr lang="en-US" sz="1800" noProof="0" dirty="0"/>
              <a:t>But</a:t>
            </a:r>
          </a:p>
        </p:txBody>
      </p:sp>
      <p:graphicFrame>
        <p:nvGraphicFramePr>
          <p:cNvPr id="35" name="Object 8" descr="v (0) equals V subscript g.&#10;">
            <a:extLst>
              <a:ext uri="{FF2B5EF4-FFF2-40B4-BE49-F238E27FC236}">
                <a16:creationId xmlns:a16="http://schemas.microsoft.com/office/drawing/2014/main" id="{E2A0FC5A-7FA3-4BE2-B054-295875A3872B}"/>
              </a:ext>
            </a:extLst>
          </p:cNvPr>
          <p:cNvGraphicFramePr>
            <a:graphicFrameLocks noChangeAspect="1"/>
          </p:cNvGraphicFramePr>
          <p:nvPr>
            <p:extLst>
              <p:ext uri="{D42A27DB-BD31-4B8C-83A1-F6EECF244321}">
                <p14:modId xmlns:p14="http://schemas.microsoft.com/office/powerpoint/2010/main" val="4087291317"/>
              </p:ext>
            </p:extLst>
          </p:nvPr>
        </p:nvGraphicFramePr>
        <p:xfrm>
          <a:off x="1984976" y="5422650"/>
          <a:ext cx="875093" cy="345051"/>
        </p:xfrm>
        <a:graphic>
          <a:graphicData uri="http://schemas.openxmlformats.org/presentationml/2006/ole">
            <mc:AlternateContent xmlns:mc="http://schemas.openxmlformats.org/markup-compatibility/2006">
              <mc:Choice xmlns:v="urn:schemas-microsoft-com:vml" Requires="v">
                <p:oleObj name="Equation" r:id="rId19" imgW="609480" imgH="241200" progId="Equation.DSMT4">
                  <p:embed/>
                </p:oleObj>
              </mc:Choice>
              <mc:Fallback>
                <p:oleObj name="Equation" r:id="rId19" imgW="609480" imgH="241200" progId="Equation.DSMT4">
                  <p:embed/>
                  <p:pic>
                    <p:nvPicPr>
                      <p:cNvPr id="29" name="Object 8">
                        <a:extLst>
                          <a:ext uri="{FF2B5EF4-FFF2-40B4-BE49-F238E27FC236}">
                            <a16:creationId xmlns:a16="http://schemas.microsoft.com/office/drawing/2014/main" id="{3F26E3DC-8479-5681-81D1-12DF5465BDB5}"/>
                          </a:ext>
                        </a:extLst>
                      </p:cNvPr>
                      <p:cNvPicPr>
                        <a:picLocks noChangeAspect="1" noChangeArrowheads="1"/>
                      </p:cNvPicPr>
                      <p:nvPr/>
                    </p:nvPicPr>
                    <p:blipFill>
                      <a:blip r:embed="rId20"/>
                      <a:srcRect/>
                      <a:stretch>
                        <a:fillRect/>
                      </a:stretch>
                    </p:blipFill>
                    <p:spPr bwMode="auto">
                      <a:xfrm>
                        <a:off x="1984976" y="5422650"/>
                        <a:ext cx="875093" cy="3450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3289440" y="5424785"/>
            <a:ext cx="378549" cy="313350"/>
          </a:xfrm>
        </p:spPr>
        <p:txBody>
          <a:bodyPr wrap="square" lIns="0" tIns="18000" rIns="0" bIns="18000" anchor="ctr">
            <a:spAutoFit/>
          </a:bodyPr>
          <a:lstStyle/>
          <a:p>
            <a:pPr marL="0" indent="0">
              <a:spcBef>
                <a:spcPts val="600"/>
              </a:spcBef>
              <a:buNone/>
            </a:pPr>
            <a:r>
              <a:rPr lang="en-US" sz="1800" noProof="0" dirty="0"/>
              <a:t>so</a:t>
            </a:r>
          </a:p>
        </p:txBody>
      </p:sp>
      <p:graphicFrame>
        <p:nvGraphicFramePr>
          <p:cNvPr id="34" name="Object 8" descr="v (t) equals V subscript g baseline e to the negative OpenParenthesis 1 divided by R C CloseParenthesis t.&#10;">
            <a:extLst>
              <a:ext uri="{FF2B5EF4-FFF2-40B4-BE49-F238E27FC236}">
                <a16:creationId xmlns:a16="http://schemas.microsoft.com/office/drawing/2014/main" id="{A1C24570-B2F2-4DF8-B351-756A0C008F43}"/>
              </a:ext>
            </a:extLst>
          </p:cNvPr>
          <p:cNvGraphicFramePr>
            <a:graphicFrameLocks noChangeAspect="1"/>
          </p:cNvGraphicFramePr>
          <p:nvPr>
            <p:extLst>
              <p:ext uri="{D42A27DB-BD31-4B8C-83A1-F6EECF244321}">
                <p14:modId xmlns:p14="http://schemas.microsoft.com/office/powerpoint/2010/main" val="1600847517"/>
              </p:ext>
            </p:extLst>
          </p:nvPr>
        </p:nvGraphicFramePr>
        <p:xfrm>
          <a:off x="4034268" y="5375901"/>
          <a:ext cx="1682750" cy="399761"/>
        </p:xfrm>
        <a:graphic>
          <a:graphicData uri="http://schemas.openxmlformats.org/presentationml/2006/ole">
            <mc:AlternateContent xmlns:mc="http://schemas.openxmlformats.org/markup-compatibility/2006">
              <mc:Choice xmlns:v="urn:schemas-microsoft-com:vml" Requires="v">
                <p:oleObj name="Equation" r:id="rId21" imgW="1066680" imgH="253800" progId="Equation.DSMT4">
                  <p:embed/>
                </p:oleObj>
              </mc:Choice>
              <mc:Fallback>
                <p:oleObj name="Equation" r:id="rId21" imgW="1066680" imgH="253800" progId="Equation.DSMT4">
                  <p:embed/>
                  <p:pic>
                    <p:nvPicPr>
                      <p:cNvPr id="29" name="Object 8">
                        <a:extLst>
                          <a:ext uri="{FF2B5EF4-FFF2-40B4-BE49-F238E27FC236}">
                            <a16:creationId xmlns:a16="http://schemas.microsoft.com/office/drawing/2014/main" id="{3F26E3DC-8479-5681-81D1-12DF5465BDB5}"/>
                          </a:ext>
                        </a:extLst>
                      </p:cNvPr>
                      <p:cNvPicPr>
                        <a:picLocks noChangeAspect="1" noChangeArrowheads="1"/>
                      </p:cNvPicPr>
                      <p:nvPr/>
                    </p:nvPicPr>
                    <p:blipFill>
                      <a:blip r:embed="rId22"/>
                      <a:srcRect/>
                      <a:stretch>
                        <a:fillRect/>
                      </a:stretch>
                    </p:blipFill>
                    <p:spPr bwMode="auto">
                      <a:xfrm>
                        <a:off x="4034268" y="5375901"/>
                        <a:ext cx="1682750" cy="3997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8" descr="t is greater than or equal to 0.&#10;">
            <a:extLst>
              <a:ext uri="{FF2B5EF4-FFF2-40B4-BE49-F238E27FC236}">
                <a16:creationId xmlns:a16="http://schemas.microsoft.com/office/drawing/2014/main" id="{80559DAD-5E69-4458-AF20-42146714ED99}"/>
              </a:ext>
            </a:extLst>
          </p:cNvPr>
          <p:cNvGraphicFramePr>
            <a:graphicFrameLocks noChangeAspect="1"/>
          </p:cNvGraphicFramePr>
          <p:nvPr>
            <p:extLst>
              <p:ext uri="{D42A27DB-BD31-4B8C-83A1-F6EECF244321}">
                <p14:modId xmlns:p14="http://schemas.microsoft.com/office/powerpoint/2010/main" val="2522221612"/>
              </p:ext>
            </p:extLst>
          </p:nvPr>
        </p:nvGraphicFramePr>
        <p:xfrm>
          <a:off x="6143617" y="5487724"/>
          <a:ext cx="539750" cy="279977"/>
        </p:xfrm>
        <a:graphic>
          <a:graphicData uri="http://schemas.openxmlformats.org/presentationml/2006/ole">
            <mc:AlternateContent xmlns:mc="http://schemas.openxmlformats.org/markup-compatibility/2006">
              <mc:Choice xmlns:v="urn:schemas-microsoft-com:vml" Requires="v">
                <p:oleObj name="Equation" r:id="rId23" imgW="342720" imgH="177480" progId="Equation.DSMT4">
                  <p:embed/>
                </p:oleObj>
              </mc:Choice>
              <mc:Fallback>
                <p:oleObj name="Equation" r:id="rId23" imgW="342720" imgH="177480" progId="Equation.DSMT4">
                  <p:embed/>
                  <p:pic>
                    <p:nvPicPr>
                      <p:cNvPr id="34" name="Object 8">
                        <a:extLst>
                          <a:ext uri="{FF2B5EF4-FFF2-40B4-BE49-F238E27FC236}">
                            <a16:creationId xmlns:a16="http://schemas.microsoft.com/office/drawing/2014/main" id="{A1C24570-B2F2-4DF8-B351-756A0C008F43}"/>
                          </a:ext>
                        </a:extLst>
                      </p:cNvPr>
                      <p:cNvPicPr>
                        <a:picLocks noChangeAspect="1" noChangeArrowheads="1"/>
                      </p:cNvPicPr>
                      <p:nvPr/>
                    </p:nvPicPr>
                    <p:blipFill>
                      <a:blip r:embed="rId24"/>
                      <a:srcRect/>
                      <a:stretch>
                        <a:fillRect/>
                      </a:stretch>
                    </p:blipFill>
                    <p:spPr bwMode="auto">
                      <a:xfrm>
                        <a:off x="6143617" y="5487724"/>
                        <a:ext cx="539750" cy="2799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09065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2" descr="A circuit diagram shows an independent current source which produces constant current I subscript s. The current source forms the leftmost wire of the circuit. Resistor R subscript 0, inductor L, and resistor R are all connected in parallel across the current source and respectively form the second, third, and fourth wires of the circuit when counted from the left. Two nodes are marked for resistor R subscript 0, one each at the point where resistor R subscript 0 connects to the top and bottom wire of the circuit. Two nodes are also marked for inductor L, one each at the point where inductor L connects to the top and bottom wire of the circuit. A switch connects the nodes in the top wire between the resistor R subscript 0 and inductor L. The switch is opened at the beginning, that is when time t equals zero. Current i flows through rightmost resistor R. Voltage v forms across the resistor R with positive polarity at the upper end and negative polarity at the lower end of resistor R.">
            <a:extLst>
              <a:ext uri="{FF2B5EF4-FFF2-40B4-BE49-F238E27FC236}">
                <a16:creationId xmlns:a16="http://schemas.microsoft.com/office/drawing/2014/main" id="{5104FC9F-174E-47E0-BC2A-53C2658D9047}"/>
              </a:ext>
            </a:extLst>
          </p:cNvPr>
          <p:cNvPicPr>
            <a:picLocks noChangeAspect="1" noChangeArrowheads="1"/>
          </p:cNvPicPr>
          <p:nvPr/>
        </p:nvPicPr>
        <p:blipFill>
          <a:blip r:embed="rId2"/>
          <a:srcRect/>
          <a:stretch/>
        </p:blipFill>
        <p:spPr bwMode="auto">
          <a:xfrm>
            <a:off x="751248" y="129869"/>
            <a:ext cx="3382331" cy="1277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899726" y="1706181"/>
            <a:ext cx="495300" cy="313350"/>
          </a:xfrm>
        </p:spPr>
        <p:txBody>
          <a:bodyPr wrap="square" lIns="0" tIns="18000" rIns="0" bIns="18000" anchor="ctr">
            <a:spAutoFit/>
          </a:bodyPr>
          <a:lstStyle/>
          <a:p>
            <a:pPr marL="0" indent="0">
              <a:spcBef>
                <a:spcPts val="600"/>
              </a:spcBef>
              <a:buNone/>
            </a:pPr>
            <a:r>
              <a:rPr lang="en-US" sz="1800" spc="-250" noProof="0" dirty="0"/>
              <a:t>K V </a:t>
            </a:r>
            <a:r>
              <a:rPr lang="en-US" sz="1800" noProof="0" dirty="0"/>
              <a:t>L:</a:t>
            </a:r>
          </a:p>
        </p:txBody>
      </p:sp>
      <p:graphicFrame>
        <p:nvGraphicFramePr>
          <p:cNvPr id="27" name="Object 5" descr="L StartFraction d i (t) over d t EndFraction plus R i (t) equals 0.&#10;">
            <a:extLst>
              <a:ext uri="{FF2B5EF4-FFF2-40B4-BE49-F238E27FC236}">
                <a16:creationId xmlns:a16="http://schemas.microsoft.com/office/drawing/2014/main" id="{6BFC9352-014A-4C81-AB43-53418F4906A1}"/>
              </a:ext>
            </a:extLst>
          </p:cNvPr>
          <p:cNvGraphicFramePr>
            <a:graphicFrameLocks noChangeAspect="1"/>
          </p:cNvGraphicFramePr>
          <p:nvPr>
            <p:extLst>
              <p:ext uri="{D42A27DB-BD31-4B8C-83A1-F6EECF244321}">
                <p14:modId xmlns:p14="http://schemas.microsoft.com/office/powerpoint/2010/main" val="1619786113"/>
              </p:ext>
            </p:extLst>
          </p:nvPr>
        </p:nvGraphicFramePr>
        <p:xfrm>
          <a:off x="1732055" y="1585132"/>
          <a:ext cx="1611313" cy="547688"/>
        </p:xfrm>
        <a:graphic>
          <a:graphicData uri="http://schemas.openxmlformats.org/presentationml/2006/ole">
            <mc:AlternateContent xmlns:mc="http://schemas.openxmlformats.org/markup-compatibility/2006">
              <mc:Choice xmlns:v="urn:schemas-microsoft-com:vml" Requires="v">
                <p:oleObj name="Equation" r:id="rId3" imgW="1155600" imgH="393480" progId="Equation.DSMT4">
                  <p:embed/>
                </p:oleObj>
              </mc:Choice>
              <mc:Fallback>
                <p:oleObj name="Equation" r:id="rId3" imgW="1155600" imgH="393480" progId="Equation.DSMT4">
                  <p:embed/>
                  <p:pic>
                    <p:nvPicPr>
                      <p:cNvPr id="4" name="Object 5">
                        <a:extLst>
                          <a:ext uri="{FF2B5EF4-FFF2-40B4-BE49-F238E27FC236}">
                            <a16:creationId xmlns:a16="http://schemas.microsoft.com/office/drawing/2014/main" id="{258A87A4-A6F7-CCDF-EB88-734BE98BE13A}"/>
                          </a:ext>
                        </a:extLst>
                      </p:cNvPr>
                      <p:cNvPicPr>
                        <a:picLocks noChangeAspect="1" noChangeArrowheads="1"/>
                      </p:cNvPicPr>
                      <p:nvPr/>
                    </p:nvPicPr>
                    <p:blipFill>
                      <a:blip r:embed="rId4"/>
                      <a:srcRect/>
                      <a:stretch>
                        <a:fillRect/>
                      </a:stretch>
                    </p:blipFill>
                    <p:spPr bwMode="auto">
                      <a:xfrm>
                        <a:off x="1732055" y="1585132"/>
                        <a:ext cx="1611313"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7" descr="i (0) equals I subscript S.&#10;">
            <a:extLst>
              <a:ext uri="{FF2B5EF4-FFF2-40B4-BE49-F238E27FC236}">
                <a16:creationId xmlns:a16="http://schemas.microsoft.com/office/drawing/2014/main" id="{FA5D05CD-2834-41AD-94CB-A1F31551D067}"/>
              </a:ext>
            </a:extLst>
          </p:cNvPr>
          <p:cNvGraphicFramePr>
            <a:graphicFrameLocks noChangeAspect="1"/>
          </p:cNvGraphicFramePr>
          <p:nvPr>
            <p:extLst>
              <p:ext uri="{D42A27DB-BD31-4B8C-83A1-F6EECF244321}">
                <p14:modId xmlns:p14="http://schemas.microsoft.com/office/powerpoint/2010/main" val="2722744899"/>
              </p:ext>
            </p:extLst>
          </p:nvPr>
        </p:nvGraphicFramePr>
        <p:xfrm>
          <a:off x="899726" y="2411319"/>
          <a:ext cx="764886" cy="329045"/>
        </p:xfrm>
        <a:graphic>
          <a:graphicData uri="http://schemas.openxmlformats.org/presentationml/2006/ole">
            <mc:AlternateContent xmlns:mc="http://schemas.openxmlformats.org/markup-compatibility/2006">
              <mc:Choice xmlns:v="urn:schemas-microsoft-com:vml" Requires="v">
                <p:oleObj name="Equation" r:id="rId5" imgW="533160" imgH="228600" progId="Equation.DSMT4">
                  <p:embed/>
                </p:oleObj>
              </mc:Choice>
              <mc:Fallback>
                <p:oleObj name="Equation" r:id="rId5" imgW="533160" imgH="228600" progId="Equation.DSMT4">
                  <p:embed/>
                  <p:pic>
                    <p:nvPicPr>
                      <p:cNvPr id="25" name="Object 7">
                        <a:extLst>
                          <a:ext uri="{FF2B5EF4-FFF2-40B4-BE49-F238E27FC236}">
                            <a16:creationId xmlns:a16="http://schemas.microsoft.com/office/drawing/2014/main" id="{35F0BB77-CB29-02CF-E063-BA23E506A221}"/>
                          </a:ext>
                        </a:extLst>
                      </p:cNvPr>
                      <p:cNvPicPr>
                        <a:picLocks noChangeAspect="1" noChangeArrowheads="1"/>
                      </p:cNvPicPr>
                      <p:nvPr/>
                    </p:nvPicPr>
                    <p:blipFill>
                      <a:blip r:embed="rId6"/>
                      <a:srcRect/>
                      <a:stretch>
                        <a:fillRect/>
                      </a:stretch>
                    </p:blipFill>
                    <p:spPr bwMode="auto">
                      <a:xfrm>
                        <a:off x="899726" y="2411319"/>
                        <a:ext cx="764886" cy="3290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7" descr="i (t) equals I subscript S baseline e to the negative OpenParenthesis R divided by L CloseParenthesis t power.&#10;">
            <a:extLst>
              <a:ext uri="{FF2B5EF4-FFF2-40B4-BE49-F238E27FC236}">
                <a16:creationId xmlns:a16="http://schemas.microsoft.com/office/drawing/2014/main" id="{A59C5F35-BD2E-4DBF-A76E-16CE3D9494C4}"/>
              </a:ext>
            </a:extLst>
          </p:cNvPr>
          <p:cNvGraphicFramePr>
            <a:graphicFrameLocks noChangeAspect="1"/>
          </p:cNvGraphicFramePr>
          <p:nvPr>
            <p:extLst>
              <p:ext uri="{D42A27DB-BD31-4B8C-83A1-F6EECF244321}">
                <p14:modId xmlns:p14="http://schemas.microsoft.com/office/powerpoint/2010/main" val="2785519305"/>
              </p:ext>
            </p:extLst>
          </p:nvPr>
        </p:nvGraphicFramePr>
        <p:xfrm>
          <a:off x="899726" y="2828745"/>
          <a:ext cx="1349375" cy="346364"/>
        </p:xfrm>
        <a:graphic>
          <a:graphicData uri="http://schemas.openxmlformats.org/presentationml/2006/ole">
            <mc:AlternateContent xmlns:mc="http://schemas.openxmlformats.org/markup-compatibility/2006">
              <mc:Choice xmlns:v="urn:schemas-microsoft-com:vml" Requires="v">
                <p:oleObj name="Equation" r:id="rId7" imgW="939600" imgH="241200" progId="Equation.DSMT4">
                  <p:embed/>
                </p:oleObj>
              </mc:Choice>
              <mc:Fallback>
                <p:oleObj name="Equation" r:id="rId7" imgW="939600" imgH="241200" progId="Equation.DSMT4">
                  <p:embed/>
                  <p:pic>
                    <p:nvPicPr>
                      <p:cNvPr id="29" name="Object 7">
                        <a:extLst>
                          <a:ext uri="{FF2B5EF4-FFF2-40B4-BE49-F238E27FC236}">
                            <a16:creationId xmlns:a16="http://schemas.microsoft.com/office/drawing/2014/main" id="{F0031A88-C3D6-357E-777C-234E3B5E2150}"/>
                          </a:ext>
                        </a:extLst>
                      </p:cNvPr>
                      <p:cNvPicPr>
                        <a:picLocks noChangeAspect="1" noChangeArrowheads="1"/>
                      </p:cNvPicPr>
                      <p:nvPr/>
                    </p:nvPicPr>
                    <p:blipFill>
                      <a:blip r:embed="rId8"/>
                      <a:srcRect/>
                      <a:stretch>
                        <a:fillRect/>
                      </a:stretch>
                    </p:blipFill>
                    <p:spPr bwMode="auto">
                      <a:xfrm>
                        <a:off x="899726" y="2828745"/>
                        <a:ext cx="1349375" cy="3463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7" descr="t is greater than or equal to 0.&#10;">
            <a:extLst>
              <a:ext uri="{FF2B5EF4-FFF2-40B4-BE49-F238E27FC236}">
                <a16:creationId xmlns:a16="http://schemas.microsoft.com/office/drawing/2014/main" id="{23F5BBF6-C5F7-4428-A111-FEBA353C040D}"/>
              </a:ext>
            </a:extLst>
          </p:cNvPr>
          <p:cNvGraphicFramePr>
            <a:graphicFrameLocks noChangeAspect="1"/>
          </p:cNvGraphicFramePr>
          <p:nvPr>
            <p:extLst>
              <p:ext uri="{D42A27DB-BD31-4B8C-83A1-F6EECF244321}">
                <p14:modId xmlns:p14="http://schemas.microsoft.com/office/powerpoint/2010/main" val="266047335"/>
              </p:ext>
            </p:extLst>
          </p:nvPr>
        </p:nvGraphicFramePr>
        <p:xfrm>
          <a:off x="2731181" y="2919665"/>
          <a:ext cx="493568" cy="255444"/>
        </p:xfrm>
        <a:graphic>
          <a:graphicData uri="http://schemas.openxmlformats.org/presentationml/2006/ole">
            <mc:AlternateContent xmlns:mc="http://schemas.openxmlformats.org/markup-compatibility/2006">
              <mc:Choice xmlns:v="urn:schemas-microsoft-com:vml" Requires="v">
                <p:oleObj name="Equation" r:id="rId9" imgW="342720" imgH="177480" progId="Equation.DSMT4">
                  <p:embed/>
                </p:oleObj>
              </mc:Choice>
              <mc:Fallback>
                <p:oleObj name="Equation" r:id="rId9" imgW="342720" imgH="177480" progId="Equation.DSMT4">
                  <p:embed/>
                  <p:pic>
                    <p:nvPicPr>
                      <p:cNvPr id="26" name="Object 7">
                        <a:extLst>
                          <a:ext uri="{FF2B5EF4-FFF2-40B4-BE49-F238E27FC236}">
                            <a16:creationId xmlns:a16="http://schemas.microsoft.com/office/drawing/2014/main" id="{A98AECB8-628B-3E87-FD36-EEE57060B756}"/>
                          </a:ext>
                        </a:extLst>
                      </p:cNvPr>
                      <p:cNvPicPr>
                        <a:picLocks noChangeAspect="1" noChangeArrowheads="1"/>
                      </p:cNvPicPr>
                      <p:nvPr/>
                    </p:nvPicPr>
                    <p:blipFill>
                      <a:blip r:embed="rId10"/>
                      <a:srcRect/>
                      <a:stretch>
                        <a:fillRect/>
                      </a:stretch>
                    </p:blipFill>
                    <p:spPr bwMode="auto">
                      <a:xfrm>
                        <a:off x="2731181" y="2919665"/>
                        <a:ext cx="493568" cy="2554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5" descr="A circuit diagram shows a DC voltage source V subscript g as the leftmost wire in the circuit. Polarity of the voltage source V subscript g is positive at the top and negative at the bottom. Resistor R subscript 1 is connected to the voltage source V subscript g in the top wire of the circuit before the second wire from left. The second wire from left contains a capacitor C and a switch, both connected in parallel to the voltage source V subscript g. Voltage across the capacitor is v with positive polarity on the top side and negative at the bottom. The rightmost wire in the circuit is Resistor R connected in parallel to voltage source V subscript g. Switch is at position a before time t is zero. At position a, the switch charges the capacitor C by connecting it to the voltage source V subscript g through resistor R subscript 1. Switch is at position b when time t is zero. At position b, the switch discharges the capacitor C through resistor R. ">
            <a:extLst>
              <a:ext uri="{FF2B5EF4-FFF2-40B4-BE49-F238E27FC236}">
                <a16:creationId xmlns:a16="http://schemas.microsoft.com/office/drawing/2014/main" id="{1C0F750E-FA8C-4F3F-ADE0-20C69B112379}"/>
              </a:ext>
            </a:extLst>
          </p:cNvPr>
          <p:cNvPicPr>
            <a:picLocks noChangeAspect="1" noChangeArrowheads="1"/>
          </p:cNvPicPr>
          <p:nvPr/>
        </p:nvPicPr>
        <p:blipFill>
          <a:blip r:embed="rId11"/>
          <a:stretch>
            <a:fillRect/>
          </a:stretch>
        </p:blipFill>
        <p:spPr bwMode="auto">
          <a:xfrm>
            <a:off x="5307379" y="95518"/>
            <a:ext cx="2621835" cy="1294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5300397" y="1702301"/>
            <a:ext cx="555145" cy="313350"/>
          </a:xfrm>
        </p:spPr>
        <p:txBody>
          <a:bodyPr wrap="square" lIns="0" tIns="18000" rIns="0" bIns="18000" anchor="ctr">
            <a:spAutoFit/>
          </a:bodyPr>
          <a:lstStyle/>
          <a:p>
            <a:pPr marL="0" indent="0">
              <a:spcBef>
                <a:spcPts val="600"/>
              </a:spcBef>
              <a:buNone/>
            </a:pPr>
            <a:r>
              <a:rPr lang="en-US" sz="1800" spc="-250" noProof="0" dirty="0"/>
              <a:t>K C </a:t>
            </a:r>
            <a:r>
              <a:rPr lang="en-US" sz="1800" noProof="0" dirty="0"/>
              <a:t>L:</a:t>
            </a:r>
          </a:p>
        </p:txBody>
      </p:sp>
      <p:graphicFrame>
        <p:nvGraphicFramePr>
          <p:cNvPr id="28" name="Object 6" descr="C StartFraction d v (t) over d t EndFraction plus StartFraction v (t) over R EndFraction equals 0.&#10;">
            <a:extLst>
              <a:ext uri="{FF2B5EF4-FFF2-40B4-BE49-F238E27FC236}">
                <a16:creationId xmlns:a16="http://schemas.microsoft.com/office/drawing/2014/main" id="{3F54B486-98A0-4093-A1A4-1F93C1F32FBE}"/>
              </a:ext>
            </a:extLst>
          </p:cNvPr>
          <p:cNvGraphicFramePr>
            <a:graphicFrameLocks noChangeAspect="1"/>
          </p:cNvGraphicFramePr>
          <p:nvPr>
            <p:extLst>
              <p:ext uri="{D42A27DB-BD31-4B8C-83A1-F6EECF244321}">
                <p14:modId xmlns:p14="http://schemas.microsoft.com/office/powerpoint/2010/main" val="1482770064"/>
              </p:ext>
            </p:extLst>
          </p:nvPr>
        </p:nvGraphicFramePr>
        <p:xfrm>
          <a:off x="6190503" y="1622928"/>
          <a:ext cx="1568450" cy="522287"/>
        </p:xfrm>
        <a:graphic>
          <a:graphicData uri="http://schemas.openxmlformats.org/presentationml/2006/ole">
            <mc:AlternateContent xmlns:mc="http://schemas.openxmlformats.org/markup-compatibility/2006">
              <mc:Choice xmlns:v="urn:schemas-microsoft-com:vml" Requires="v">
                <p:oleObj name="Equation" r:id="rId12" imgW="1180800" imgH="393480" progId="Equation.DSMT4">
                  <p:embed/>
                </p:oleObj>
              </mc:Choice>
              <mc:Fallback>
                <p:oleObj name="Equation" r:id="rId12" imgW="1180800" imgH="393480" progId="Equation.DSMT4">
                  <p:embed/>
                  <p:pic>
                    <p:nvPicPr>
                      <p:cNvPr id="5" name="Object 6">
                        <a:extLst>
                          <a:ext uri="{FF2B5EF4-FFF2-40B4-BE49-F238E27FC236}">
                            <a16:creationId xmlns:a16="http://schemas.microsoft.com/office/drawing/2014/main" id="{95F7A29A-1DAE-43DB-DE7E-FEA060DB92E1}"/>
                          </a:ext>
                        </a:extLst>
                      </p:cNvPr>
                      <p:cNvPicPr>
                        <a:picLocks noChangeAspect="1" noChangeArrowheads="1"/>
                      </p:cNvPicPr>
                      <p:nvPr/>
                    </p:nvPicPr>
                    <p:blipFill>
                      <a:blip r:embed="rId13"/>
                      <a:srcRect/>
                      <a:stretch>
                        <a:fillRect/>
                      </a:stretch>
                    </p:blipFill>
                    <p:spPr bwMode="auto">
                      <a:xfrm>
                        <a:off x="6190503" y="1622928"/>
                        <a:ext cx="1568450"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8" descr="v (0) equals V subscript g.&#10;">
            <a:extLst>
              <a:ext uri="{FF2B5EF4-FFF2-40B4-BE49-F238E27FC236}">
                <a16:creationId xmlns:a16="http://schemas.microsoft.com/office/drawing/2014/main" id="{1E19325D-B301-45DB-B44D-359DA90B6E19}"/>
              </a:ext>
            </a:extLst>
          </p:cNvPr>
          <p:cNvGraphicFramePr>
            <a:graphicFrameLocks noChangeAspect="1"/>
          </p:cNvGraphicFramePr>
          <p:nvPr>
            <p:extLst>
              <p:ext uri="{D42A27DB-BD31-4B8C-83A1-F6EECF244321}">
                <p14:modId xmlns:p14="http://schemas.microsoft.com/office/powerpoint/2010/main" val="1854046"/>
              </p:ext>
            </p:extLst>
          </p:nvPr>
        </p:nvGraphicFramePr>
        <p:xfrm>
          <a:off x="5307379" y="2375049"/>
          <a:ext cx="832716" cy="329045"/>
        </p:xfrm>
        <a:graphic>
          <a:graphicData uri="http://schemas.openxmlformats.org/presentationml/2006/ole">
            <mc:AlternateContent xmlns:mc="http://schemas.openxmlformats.org/markup-compatibility/2006">
              <mc:Choice xmlns:v="urn:schemas-microsoft-com:vml" Requires="v">
                <p:oleObj name="Equation" r:id="rId14" imgW="609480" imgH="241200" progId="Equation.DSMT4">
                  <p:embed/>
                </p:oleObj>
              </mc:Choice>
              <mc:Fallback>
                <p:oleObj name="Equation" r:id="rId14" imgW="609480" imgH="241200" progId="Equation.DSMT4">
                  <p:embed/>
                  <p:pic>
                    <p:nvPicPr>
                      <p:cNvPr id="27" name="Object 8">
                        <a:extLst>
                          <a:ext uri="{FF2B5EF4-FFF2-40B4-BE49-F238E27FC236}">
                            <a16:creationId xmlns:a16="http://schemas.microsoft.com/office/drawing/2014/main" id="{A6A36FC0-02B4-E317-3672-0D69A3810210}"/>
                          </a:ext>
                        </a:extLst>
                      </p:cNvPr>
                      <p:cNvPicPr>
                        <a:picLocks noChangeAspect="1" noChangeArrowheads="1"/>
                      </p:cNvPicPr>
                      <p:nvPr/>
                    </p:nvPicPr>
                    <p:blipFill>
                      <a:blip r:embed="rId15"/>
                      <a:srcRect/>
                      <a:stretch>
                        <a:fillRect/>
                      </a:stretch>
                    </p:blipFill>
                    <p:spPr bwMode="auto">
                      <a:xfrm>
                        <a:off x="5307379" y="2375049"/>
                        <a:ext cx="832716" cy="3290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8" descr="v (t) equals V subscript g baseline e to the negative OpenParenthesis 1 divided by R C CloseParenthesis t.&#10;">
            <a:extLst>
              <a:ext uri="{FF2B5EF4-FFF2-40B4-BE49-F238E27FC236}">
                <a16:creationId xmlns:a16="http://schemas.microsoft.com/office/drawing/2014/main" id="{A6CAC187-CDCF-4DC1-BD34-84A831B5B542}"/>
              </a:ext>
            </a:extLst>
          </p:cNvPr>
          <p:cNvGraphicFramePr>
            <a:graphicFrameLocks noChangeAspect="1"/>
          </p:cNvGraphicFramePr>
          <p:nvPr>
            <p:extLst>
              <p:ext uri="{D42A27DB-BD31-4B8C-83A1-F6EECF244321}">
                <p14:modId xmlns:p14="http://schemas.microsoft.com/office/powerpoint/2010/main" val="4052281285"/>
              </p:ext>
            </p:extLst>
          </p:nvPr>
        </p:nvGraphicFramePr>
        <p:xfrm>
          <a:off x="5300397" y="2827303"/>
          <a:ext cx="1457614" cy="347806"/>
        </p:xfrm>
        <a:graphic>
          <a:graphicData uri="http://schemas.openxmlformats.org/presentationml/2006/ole">
            <mc:AlternateContent xmlns:mc="http://schemas.openxmlformats.org/markup-compatibility/2006">
              <mc:Choice xmlns:v="urn:schemas-microsoft-com:vml" Requires="v">
                <p:oleObj name="Equation" r:id="rId16" imgW="1066680" imgH="253800" progId="Equation.DSMT4">
                  <p:embed/>
                </p:oleObj>
              </mc:Choice>
              <mc:Fallback>
                <p:oleObj name="Equation" r:id="rId16" imgW="1066680" imgH="253800" progId="Equation.DSMT4">
                  <p:embed/>
                  <p:pic>
                    <p:nvPicPr>
                      <p:cNvPr id="28" name="Object 8">
                        <a:extLst>
                          <a:ext uri="{FF2B5EF4-FFF2-40B4-BE49-F238E27FC236}">
                            <a16:creationId xmlns:a16="http://schemas.microsoft.com/office/drawing/2014/main" id="{CFF70640-4925-D7E6-0224-A22345132997}"/>
                          </a:ext>
                        </a:extLst>
                      </p:cNvPr>
                      <p:cNvPicPr>
                        <a:picLocks noChangeAspect="1" noChangeArrowheads="1"/>
                      </p:cNvPicPr>
                      <p:nvPr/>
                    </p:nvPicPr>
                    <p:blipFill>
                      <a:blip r:embed="rId17"/>
                      <a:srcRect/>
                      <a:stretch>
                        <a:fillRect/>
                      </a:stretch>
                    </p:blipFill>
                    <p:spPr bwMode="auto">
                      <a:xfrm>
                        <a:off x="5300397" y="2827303"/>
                        <a:ext cx="1457614" cy="3478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8" descr="t is greater than or equal to 0.&#10;">
            <a:extLst>
              <a:ext uri="{FF2B5EF4-FFF2-40B4-BE49-F238E27FC236}">
                <a16:creationId xmlns:a16="http://schemas.microsoft.com/office/drawing/2014/main" id="{E907E9C8-DDE0-4794-8C2A-A0A173B44A9F}"/>
              </a:ext>
            </a:extLst>
          </p:cNvPr>
          <p:cNvGraphicFramePr>
            <a:graphicFrameLocks noChangeAspect="1"/>
          </p:cNvGraphicFramePr>
          <p:nvPr>
            <p:extLst>
              <p:ext uri="{D42A27DB-BD31-4B8C-83A1-F6EECF244321}">
                <p14:modId xmlns:p14="http://schemas.microsoft.com/office/powerpoint/2010/main" val="3420731560"/>
              </p:ext>
            </p:extLst>
          </p:nvPr>
        </p:nvGraphicFramePr>
        <p:xfrm>
          <a:off x="7276951" y="2919665"/>
          <a:ext cx="467591" cy="243898"/>
        </p:xfrm>
        <a:graphic>
          <a:graphicData uri="http://schemas.openxmlformats.org/presentationml/2006/ole">
            <mc:AlternateContent xmlns:mc="http://schemas.openxmlformats.org/markup-compatibility/2006">
              <mc:Choice xmlns:v="urn:schemas-microsoft-com:vml" Requires="v">
                <p:oleObj name="Equation" r:id="rId18" imgW="342720" imgH="177480" progId="Equation.DSMT4">
                  <p:embed/>
                </p:oleObj>
              </mc:Choice>
              <mc:Fallback>
                <p:oleObj name="Equation" r:id="rId18" imgW="342720" imgH="177480" progId="Equation.DSMT4">
                  <p:embed/>
                  <p:pic>
                    <p:nvPicPr>
                      <p:cNvPr id="30" name="Object 8">
                        <a:extLst>
                          <a:ext uri="{FF2B5EF4-FFF2-40B4-BE49-F238E27FC236}">
                            <a16:creationId xmlns:a16="http://schemas.microsoft.com/office/drawing/2014/main" id="{DA089142-5D3F-3633-1EA5-E17BE62829C4}"/>
                          </a:ext>
                        </a:extLst>
                      </p:cNvPr>
                      <p:cNvPicPr>
                        <a:picLocks noChangeAspect="1" noChangeArrowheads="1"/>
                      </p:cNvPicPr>
                      <p:nvPr/>
                    </p:nvPicPr>
                    <p:blipFill>
                      <a:blip r:embed="rId19"/>
                      <a:srcRect/>
                      <a:stretch>
                        <a:fillRect/>
                      </a:stretch>
                    </p:blipFill>
                    <p:spPr bwMode="auto">
                      <a:xfrm>
                        <a:off x="7276951" y="2919665"/>
                        <a:ext cx="467591" cy="2438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755855"/>
            <a:ext cx="8229600" cy="313350"/>
          </a:xfrm>
        </p:spPr>
        <p:txBody>
          <a:bodyPr wrap="square" lIns="0" tIns="18000" rIns="0" bIns="18000" anchor="ctr">
            <a:spAutoFit/>
          </a:bodyPr>
          <a:lstStyle/>
          <a:p>
            <a:pPr marL="0" indent="0">
              <a:spcBef>
                <a:spcPts val="600"/>
              </a:spcBef>
              <a:buNone/>
            </a:pPr>
            <a:r>
              <a:rPr lang="en-US" sz="1800" noProof="0" dirty="0"/>
              <a:t>The form of the natural response is the same:</a:t>
            </a:r>
          </a:p>
        </p:txBody>
      </p:sp>
      <p:graphicFrame>
        <p:nvGraphicFramePr>
          <p:cNvPr id="35" name="Object 34" descr="I C e to the negative t divided by tau power.&#10;">
            <a:extLst>
              <a:ext uri="{FF2B5EF4-FFF2-40B4-BE49-F238E27FC236}">
                <a16:creationId xmlns:a16="http://schemas.microsoft.com/office/drawing/2014/main" id="{A984679E-00CC-4303-8BED-D0BC194A9F89}"/>
              </a:ext>
            </a:extLst>
          </p:cNvPr>
          <p:cNvGraphicFramePr>
            <a:graphicFrameLocks noChangeAspect="1"/>
          </p:cNvGraphicFramePr>
          <p:nvPr>
            <p:extLst>
              <p:ext uri="{D42A27DB-BD31-4B8C-83A1-F6EECF244321}">
                <p14:modId xmlns:p14="http://schemas.microsoft.com/office/powerpoint/2010/main" val="937943582"/>
              </p:ext>
            </p:extLst>
          </p:nvPr>
        </p:nvGraphicFramePr>
        <p:xfrm>
          <a:off x="4245119" y="5167405"/>
          <a:ext cx="653762" cy="297295"/>
        </p:xfrm>
        <a:graphic>
          <a:graphicData uri="http://schemas.openxmlformats.org/presentationml/2006/ole">
            <mc:AlternateContent xmlns:mc="http://schemas.openxmlformats.org/markup-compatibility/2006">
              <mc:Choice xmlns:v="urn:schemas-microsoft-com:vml" Requires="v">
                <p:oleObj name="Equation" r:id="rId20" imgW="444240" imgH="203040" progId="Equation.DSMT4">
                  <p:embed/>
                </p:oleObj>
              </mc:Choice>
              <mc:Fallback>
                <p:oleObj name="Equation" r:id="rId20" imgW="444240" imgH="203040" progId="Equation.DSMT4">
                  <p:embed/>
                  <p:pic>
                    <p:nvPicPr>
                      <p:cNvPr id="31" name="Object 30">
                        <a:extLst>
                          <a:ext uri="{FF2B5EF4-FFF2-40B4-BE49-F238E27FC236}">
                            <a16:creationId xmlns:a16="http://schemas.microsoft.com/office/drawing/2014/main" id="{8A0E934A-A8BB-60C0-40AF-C1B7B674AC45}"/>
                          </a:ext>
                        </a:extLst>
                      </p:cNvPr>
                      <p:cNvPicPr>
                        <a:picLocks noChangeAspect="1" noChangeArrowheads="1"/>
                      </p:cNvPicPr>
                      <p:nvPr/>
                    </p:nvPicPr>
                    <p:blipFill>
                      <a:blip r:embed="rId21"/>
                      <a:srcRect/>
                      <a:stretch>
                        <a:fillRect/>
                      </a:stretch>
                    </p:blipFill>
                    <p:spPr bwMode="auto">
                      <a:xfrm>
                        <a:off x="4245119" y="5167405"/>
                        <a:ext cx="653762" cy="297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5536905"/>
            <a:ext cx="2880169" cy="313350"/>
          </a:xfrm>
        </p:spPr>
        <p:txBody>
          <a:bodyPr wrap="square" lIns="0" tIns="18000" rIns="0" bIns="18000" anchor="ctr">
            <a:spAutoFit/>
          </a:bodyPr>
          <a:lstStyle/>
          <a:p>
            <a:pPr marL="0" indent="0">
              <a:spcBef>
                <a:spcPts val="600"/>
              </a:spcBef>
              <a:buNone/>
            </a:pPr>
            <a:r>
              <a:rPr lang="en-US" sz="1800" spc="-250" noProof="0" dirty="0"/>
              <a:t>I </a:t>
            </a:r>
            <a:r>
              <a:rPr lang="en-US" sz="1800" noProof="0" dirty="0"/>
              <a:t>C is the initial condition and </a:t>
            </a:r>
          </a:p>
        </p:txBody>
      </p:sp>
      <p:graphicFrame>
        <p:nvGraphicFramePr>
          <p:cNvPr id="36" name="Object 35" descr="tau.&#10;">
            <a:extLst>
              <a:ext uri="{FF2B5EF4-FFF2-40B4-BE49-F238E27FC236}">
                <a16:creationId xmlns:a16="http://schemas.microsoft.com/office/drawing/2014/main" id="{86F2E904-F6FF-40A1-A6B2-F33A367CF3C1}"/>
              </a:ext>
            </a:extLst>
          </p:cNvPr>
          <p:cNvGraphicFramePr>
            <a:graphicFrameLocks noChangeAspect="1"/>
          </p:cNvGraphicFramePr>
          <p:nvPr>
            <p:extLst>
              <p:ext uri="{D42A27DB-BD31-4B8C-83A1-F6EECF244321}">
                <p14:modId xmlns:p14="http://schemas.microsoft.com/office/powerpoint/2010/main" val="3311054175"/>
              </p:ext>
            </p:extLst>
          </p:nvPr>
        </p:nvGraphicFramePr>
        <p:xfrm>
          <a:off x="3363913" y="5608584"/>
          <a:ext cx="184150" cy="225425"/>
        </p:xfrm>
        <a:graphic>
          <a:graphicData uri="http://schemas.openxmlformats.org/presentationml/2006/ole">
            <mc:AlternateContent xmlns:mc="http://schemas.openxmlformats.org/markup-compatibility/2006">
              <mc:Choice xmlns:v="urn:schemas-microsoft-com:vml" Requires="v">
                <p:oleObj name="Equation" r:id="rId22" imgW="114120" imgH="139680" progId="Equation.DSMT4">
                  <p:embed/>
                </p:oleObj>
              </mc:Choice>
              <mc:Fallback>
                <p:oleObj name="Equation" r:id="rId22" imgW="114120" imgH="139680" progId="Equation.DSMT4">
                  <p:embed/>
                  <p:pic>
                    <p:nvPicPr>
                      <p:cNvPr id="32" name="Object 31">
                        <a:extLst>
                          <a:ext uri="{FF2B5EF4-FFF2-40B4-BE49-F238E27FC236}">
                            <a16:creationId xmlns:a16="http://schemas.microsoft.com/office/drawing/2014/main" id="{5E50ACB4-6576-E738-B2B5-A6D70B386767}"/>
                          </a:ext>
                        </a:extLst>
                      </p:cNvPr>
                      <p:cNvPicPr>
                        <a:picLocks noChangeAspect="1" noChangeArrowheads="1"/>
                      </p:cNvPicPr>
                      <p:nvPr/>
                    </p:nvPicPr>
                    <p:blipFill>
                      <a:blip r:embed="rId23"/>
                      <a:srcRect/>
                      <a:stretch>
                        <a:fillRect/>
                      </a:stretch>
                    </p:blipFill>
                    <p:spPr bwMode="auto">
                      <a:xfrm>
                        <a:off x="3363913" y="5608584"/>
                        <a:ext cx="184150"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3587750" y="5536905"/>
            <a:ext cx="5080000" cy="313350"/>
          </a:xfrm>
        </p:spPr>
        <p:txBody>
          <a:bodyPr wrap="square" lIns="0" tIns="18000" rIns="0" bIns="18000" anchor="ctr">
            <a:spAutoFit/>
          </a:bodyPr>
          <a:lstStyle/>
          <a:p>
            <a:pPr marL="0" indent="0">
              <a:spcBef>
                <a:spcPts val="600"/>
              </a:spcBef>
              <a:buNone/>
            </a:pPr>
            <a:r>
              <a:rPr lang="en-US" sz="1800" noProof="0" dirty="0"/>
              <a:t>is the </a:t>
            </a:r>
            <a:r>
              <a:rPr lang="en-US" sz="1800" b="1" noProof="0" dirty="0"/>
              <a:t>time constant</a:t>
            </a:r>
            <a:r>
              <a:rPr lang="en-US" sz="1800" noProof="0" dirty="0"/>
              <a:t>, a measure of how quickly</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38150" y="5940500"/>
            <a:ext cx="3389779" cy="313350"/>
          </a:xfrm>
        </p:spPr>
        <p:txBody>
          <a:bodyPr wrap="square" lIns="0" tIns="18000" rIns="0" bIns="18000" anchor="ctr">
            <a:spAutoFit/>
          </a:bodyPr>
          <a:lstStyle/>
          <a:p>
            <a:pPr marL="0" indent="0">
              <a:spcBef>
                <a:spcPts val="600"/>
              </a:spcBef>
              <a:buNone/>
            </a:pPr>
            <a:r>
              <a:rPr lang="en-US" sz="1800" noProof="0" dirty="0"/>
              <a:t>or slowly the exponential decays.</a:t>
            </a:r>
          </a:p>
        </p:txBody>
      </p:sp>
      <p:pic>
        <p:nvPicPr>
          <p:cNvPr id="5" name="Picture 4" descr="A blue line with a point&#10;&#10;AI-generated content may be incorrect.">
            <a:extLst>
              <a:ext uri="{FF2B5EF4-FFF2-40B4-BE49-F238E27FC236}">
                <a16:creationId xmlns:a16="http://schemas.microsoft.com/office/drawing/2014/main" id="{A601E92D-5CD6-E6FC-D95E-BB39DD384B0B}"/>
              </a:ext>
            </a:extLst>
          </p:cNvPr>
          <p:cNvPicPr>
            <a:picLocks noChangeAspect="1"/>
          </p:cNvPicPr>
          <p:nvPr/>
        </p:nvPicPr>
        <p:blipFill>
          <a:blip r:embed="rId24"/>
          <a:stretch>
            <a:fillRect/>
          </a:stretch>
        </p:blipFill>
        <p:spPr>
          <a:xfrm>
            <a:off x="968229" y="3310416"/>
            <a:ext cx="2703745" cy="1445439"/>
          </a:xfrm>
          <a:prstGeom prst="rect">
            <a:avLst/>
          </a:prstGeom>
        </p:spPr>
      </p:pic>
      <p:pic>
        <p:nvPicPr>
          <p:cNvPr id="14" name="Picture 13">
            <a:extLst>
              <a:ext uri="{FF2B5EF4-FFF2-40B4-BE49-F238E27FC236}">
                <a16:creationId xmlns:a16="http://schemas.microsoft.com/office/drawing/2014/main" id="{9D11D49B-2F5B-D680-7441-5387396C5584}"/>
              </a:ext>
            </a:extLst>
          </p:cNvPr>
          <p:cNvPicPr>
            <a:picLocks noChangeAspect="1"/>
          </p:cNvPicPr>
          <p:nvPr/>
        </p:nvPicPr>
        <p:blipFill>
          <a:blip r:embed="rId25"/>
          <a:stretch>
            <a:fillRect/>
          </a:stretch>
        </p:blipFill>
        <p:spPr>
          <a:xfrm>
            <a:off x="5308417" y="3266025"/>
            <a:ext cx="2899187" cy="1534222"/>
          </a:xfrm>
          <a:prstGeom prst="rect">
            <a:avLst/>
          </a:prstGeom>
        </p:spPr>
      </p:pic>
    </p:spTree>
    <p:extLst>
      <p:ext uri="{BB962C8B-B14F-4D97-AF65-F5344CB8AC3E}">
        <p14:creationId xmlns:p14="http://schemas.microsoft.com/office/powerpoint/2010/main" val="278724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6691" y="216258"/>
            <a:ext cx="8229600" cy="1021237"/>
          </a:xfrm>
        </p:spPr>
        <p:txBody>
          <a:bodyPr/>
          <a:lstStyle/>
          <a:p>
            <a:r>
              <a:rPr lang="en-US" noProof="0" dirty="0"/>
              <a:t>Chapter 7 – </a:t>
            </a:r>
            <a:r>
              <a:rPr lang="en-US" spc="-400" noProof="0" dirty="0"/>
              <a:t>R </a:t>
            </a:r>
            <a:r>
              <a:rPr lang="en-US" noProof="0" dirty="0"/>
              <a:t>L/</a:t>
            </a:r>
            <a:r>
              <a:rPr lang="en-US" spc="-400" noProof="0" dirty="0"/>
              <a:t>R </a:t>
            </a:r>
            <a:r>
              <a:rPr lang="en-US" noProof="0" dirty="0"/>
              <a:t>C Natural Response </a:t>
            </a:r>
            <a:r>
              <a:rPr lang="en-US" sz="2800" noProof="0" dirty="0"/>
              <a:t>(2 of 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3878"/>
            <a:ext cx="8237538" cy="405683"/>
          </a:xfrm>
        </p:spPr>
        <p:txBody>
          <a:bodyPr wrap="square" lIns="0" tIns="18000" rIns="0" bIns="18000" anchor="ctr">
            <a:spAutoFit/>
          </a:bodyPr>
          <a:lstStyle/>
          <a:p>
            <a:pPr marL="0" indent="0">
              <a:spcBef>
                <a:spcPts val="600"/>
              </a:spcBef>
              <a:buNone/>
            </a:pPr>
            <a:r>
              <a:rPr lang="en-US" sz="2400" noProof="0" dirty="0"/>
              <a:t>The form of the </a:t>
            </a:r>
            <a:r>
              <a:rPr lang="en-US" sz="2400" i="1" spc="-300" noProof="0" dirty="0"/>
              <a:t>R </a:t>
            </a:r>
            <a:r>
              <a:rPr lang="en-US" sz="2400" i="1" noProof="0" dirty="0"/>
              <a:t>L</a:t>
            </a:r>
            <a:r>
              <a:rPr lang="en-US" sz="2400" noProof="0" dirty="0"/>
              <a:t>/</a:t>
            </a:r>
            <a:r>
              <a:rPr lang="en-US" sz="2400" i="1" spc="-300" noProof="0" dirty="0"/>
              <a:t>R </a:t>
            </a:r>
            <a:r>
              <a:rPr lang="en-US" sz="2400" i="1" noProof="0" dirty="0"/>
              <a:t>C</a:t>
            </a:r>
            <a:r>
              <a:rPr lang="en-US" sz="2400" noProof="0" dirty="0"/>
              <a:t> natural response is</a:t>
            </a:r>
          </a:p>
        </p:txBody>
      </p:sp>
      <p:graphicFrame>
        <p:nvGraphicFramePr>
          <p:cNvPr id="2" name="Object 1" descr="I C e to the negative t divided by tau power.&#10;">
            <a:extLst>
              <a:ext uri="{FF2B5EF4-FFF2-40B4-BE49-F238E27FC236}">
                <a16:creationId xmlns:a16="http://schemas.microsoft.com/office/drawing/2014/main" id="{EBD263FA-4D44-7E4E-EEB4-B4F142C3589E}"/>
              </a:ext>
            </a:extLst>
          </p:cNvPr>
          <p:cNvGraphicFramePr>
            <a:graphicFrameLocks noChangeAspect="1"/>
          </p:cNvGraphicFramePr>
          <p:nvPr>
            <p:extLst>
              <p:ext uri="{D42A27DB-BD31-4B8C-83A1-F6EECF244321}">
                <p14:modId xmlns:p14="http://schemas.microsoft.com/office/powerpoint/2010/main" val="3551733538"/>
              </p:ext>
            </p:extLst>
          </p:nvPr>
        </p:nvGraphicFramePr>
        <p:xfrm>
          <a:off x="4148263" y="2141532"/>
          <a:ext cx="968244" cy="440826"/>
        </p:xfrm>
        <a:graphic>
          <a:graphicData uri="http://schemas.openxmlformats.org/presentationml/2006/ole">
            <mc:AlternateContent xmlns:mc="http://schemas.openxmlformats.org/markup-compatibility/2006">
              <mc:Choice xmlns:v="urn:schemas-microsoft-com:vml" Requires="v">
                <p:oleObj name="Equation" r:id="rId2" imgW="444240" imgH="203040" progId="Equation.DSMT4">
                  <p:embed/>
                </p:oleObj>
              </mc:Choice>
              <mc:Fallback>
                <p:oleObj name="Equation" r:id="rId2" imgW="444240" imgH="203040" progId="Equation.DSMT4">
                  <p:embed/>
                  <p:pic>
                    <p:nvPicPr>
                      <p:cNvPr id="9" name="Object 8"/>
                      <p:cNvPicPr>
                        <a:picLocks noChangeAspect="1" noChangeArrowheads="1"/>
                      </p:cNvPicPr>
                      <p:nvPr/>
                    </p:nvPicPr>
                    <p:blipFill>
                      <a:blip r:embed="rId3"/>
                      <a:srcRect/>
                      <a:stretch>
                        <a:fillRect/>
                      </a:stretch>
                    </p:blipFill>
                    <p:spPr bwMode="auto">
                      <a:xfrm>
                        <a:off x="4148263" y="2141532"/>
                        <a:ext cx="968244" cy="440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4" y="2758679"/>
            <a:ext cx="4194235" cy="405683"/>
          </a:xfrm>
        </p:spPr>
        <p:txBody>
          <a:bodyPr wrap="square" lIns="0" tIns="18000" rIns="0" bIns="18000" anchor="ctr">
            <a:spAutoFit/>
          </a:bodyPr>
          <a:lstStyle/>
          <a:p>
            <a:pPr marL="0" indent="0">
              <a:spcBef>
                <a:spcPts val="600"/>
              </a:spcBef>
              <a:buNone/>
            </a:pPr>
            <a:r>
              <a:rPr lang="en-US" sz="2400" noProof="0" dirty="0"/>
              <a:t>The units for the time constant,</a:t>
            </a:r>
          </a:p>
        </p:txBody>
      </p:sp>
      <p:graphicFrame>
        <p:nvGraphicFramePr>
          <p:cNvPr id="3" name="Object 2" descr="tau.&#10;">
            <a:extLst>
              <a:ext uri="{FF2B5EF4-FFF2-40B4-BE49-F238E27FC236}">
                <a16:creationId xmlns:a16="http://schemas.microsoft.com/office/drawing/2014/main" id="{FFDAE779-6C8B-7936-7D23-2AD010A01564}"/>
              </a:ext>
            </a:extLst>
          </p:cNvPr>
          <p:cNvGraphicFramePr>
            <a:graphicFrameLocks noChangeAspect="1"/>
          </p:cNvGraphicFramePr>
          <p:nvPr>
            <p:extLst>
              <p:ext uri="{D42A27DB-BD31-4B8C-83A1-F6EECF244321}">
                <p14:modId xmlns:p14="http://schemas.microsoft.com/office/powerpoint/2010/main" val="3333274347"/>
              </p:ext>
            </p:extLst>
          </p:nvPr>
        </p:nvGraphicFramePr>
        <p:xfrm>
          <a:off x="4632385" y="2897662"/>
          <a:ext cx="244475" cy="266700"/>
        </p:xfrm>
        <a:graphic>
          <a:graphicData uri="http://schemas.openxmlformats.org/presentationml/2006/ole">
            <mc:AlternateContent xmlns:mc="http://schemas.openxmlformats.org/markup-compatibility/2006">
              <mc:Choice xmlns:v="urn:schemas-microsoft-com:vml" Requires="v">
                <p:oleObj name="Equation" r:id="rId4" imgW="152280" imgH="164880" progId="Equation.DSMT4">
                  <p:embed/>
                </p:oleObj>
              </mc:Choice>
              <mc:Fallback>
                <p:oleObj name="Equation" r:id="rId4" imgW="152280" imgH="164880" progId="Equation.DSMT4">
                  <p:embed/>
                  <p:pic>
                    <p:nvPicPr>
                      <p:cNvPr id="32" name="Object 31">
                        <a:extLst>
                          <a:ext uri="{FF2B5EF4-FFF2-40B4-BE49-F238E27FC236}">
                            <a16:creationId xmlns:a16="http://schemas.microsoft.com/office/drawing/2014/main" id="{5E50ACB4-6576-E738-B2B5-A6D70B386767}"/>
                          </a:ext>
                        </a:extLst>
                      </p:cNvPr>
                      <p:cNvPicPr>
                        <a:picLocks noChangeAspect="1" noChangeArrowheads="1"/>
                      </p:cNvPicPr>
                      <p:nvPr/>
                    </p:nvPicPr>
                    <p:blipFill>
                      <a:blip r:embed="rId5"/>
                      <a:srcRect/>
                      <a:stretch>
                        <a:fillRect/>
                      </a:stretch>
                    </p:blipFill>
                    <p:spPr bwMode="auto">
                      <a:xfrm>
                        <a:off x="4632385" y="2897662"/>
                        <a:ext cx="2444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949766" y="2758678"/>
            <a:ext cx="1097352" cy="405683"/>
          </a:xfrm>
        </p:spPr>
        <p:txBody>
          <a:bodyPr wrap="square" lIns="0" tIns="18000" rIns="0" bIns="18000" anchor="ctr">
            <a:spAutoFit/>
          </a:bodyPr>
          <a:lstStyle/>
          <a:p>
            <a:pPr marL="0" indent="0">
              <a:spcBef>
                <a:spcPts val="600"/>
              </a:spcBef>
              <a:buNone/>
            </a:pPr>
            <a:r>
              <a:rPr lang="en-US" sz="2400" noProof="0" dirty="0"/>
              <a:t>must be</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542331" y="3592805"/>
            <a:ext cx="196862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s (seconds)</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542331" y="4140122"/>
            <a:ext cx="346075"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4" name="Object 3" descr=" S inverse.&#10;">
            <a:extLst>
              <a:ext uri="{FF2B5EF4-FFF2-40B4-BE49-F238E27FC236}">
                <a16:creationId xmlns:a16="http://schemas.microsoft.com/office/drawing/2014/main" id="{48A5C5DE-3CE5-CAE5-F139-3C80C46616C7}"/>
              </a:ext>
            </a:extLst>
          </p:cNvPr>
          <p:cNvGraphicFramePr>
            <a:graphicFrameLocks noChangeAspect="1"/>
          </p:cNvGraphicFramePr>
          <p:nvPr>
            <p:extLst>
              <p:ext uri="{D42A27DB-BD31-4B8C-83A1-F6EECF244321}">
                <p14:modId xmlns:p14="http://schemas.microsoft.com/office/powerpoint/2010/main" val="2920172670"/>
              </p:ext>
            </p:extLst>
          </p:nvPr>
        </p:nvGraphicFramePr>
        <p:xfrm>
          <a:off x="1926225" y="4169312"/>
          <a:ext cx="346075" cy="328613"/>
        </p:xfrm>
        <a:graphic>
          <a:graphicData uri="http://schemas.openxmlformats.org/presentationml/2006/ole">
            <mc:AlternateContent xmlns:mc="http://schemas.openxmlformats.org/markup-compatibility/2006">
              <mc:Choice xmlns:v="urn:schemas-microsoft-com:vml" Requires="v">
                <p:oleObj name="Equation" r:id="rId6" imgW="215640" imgH="203040" progId="Equation.DSMT4">
                  <p:embed/>
                </p:oleObj>
              </mc:Choice>
              <mc:Fallback>
                <p:oleObj name="Equation" r:id="rId6" imgW="215640" imgH="203040" progId="Equation.DSMT4">
                  <p:embed/>
                  <p:pic>
                    <p:nvPicPr>
                      <p:cNvPr id="3" name="Object 2">
                        <a:extLst>
                          <a:ext uri="{FF2B5EF4-FFF2-40B4-BE49-F238E27FC236}">
                            <a16:creationId xmlns:a16="http://schemas.microsoft.com/office/drawing/2014/main" id="{FFDAE779-6C8B-7936-7D23-2AD010A01564}"/>
                          </a:ext>
                        </a:extLst>
                      </p:cNvPr>
                      <p:cNvPicPr>
                        <a:picLocks noChangeAspect="1" noChangeArrowheads="1"/>
                      </p:cNvPicPr>
                      <p:nvPr/>
                    </p:nvPicPr>
                    <p:blipFill>
                      <a:blip r:embed="rId7"/>
                      <a:srcRect/>
                      <a:stretch>
                        <a:fillRect/>
                      </a:stretch>
                    </p:blipFill>
                    <p:spPr bwMode="auto">
                      <a:xfrm>
                        <a:off x="1926225" y="4169312"/>
                        <a:ext cx="3460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2310119" y="4145736"/>
            <a:ext cx="2408567" cy="405683"/>
          </a:xfrm>
        </p:spPr>
        <p:txBody>
          <a:bodyPr wrap="square" lIns="0" tIns="18000" rIns="0" bIns="18000" anchor="ctr">
            <a:spAutoFit/>
          </a:bodyPr>
          <a:lstStyle/>
          <a:p>
            <a:pPr marL="0" indent="0">
              <a:spcBef>
                <a:spcPts val="600"/>
              </a:spcBef>
              <a:buNone/>
            </a:pPr>
            <a:r>
              <a:rPr lang="en-US" sz="2400" noProof="0" dirty="0"/>
              <a:t>(inverse seconds)</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542331" y="4687439"/>
            <a:ext cx="338227"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5" name="Object 4" descr="tau.&#10;">
            <a:extLst>
              <a:ext uri="{FF2B5EF4-FFF2-40B4-BE49-F238E27FC236}">
                <a16:creationId xmlns:a16="http://schemas.microsoft.com/office/drawing/2014/main" id="{A73F7414-0099-98AD-D630-DD18188BD5CA}"/>
              </a:ext>
            </a:extLst>
          </p:cNvPr>
          <p:cNvGraphicFramePr>
            <a:graphicFrameLocks noChangeAspect="1"/>
          </p:cNvGraphicFramePr>
          <p:nvPr>
            <p:extLst>
              <p:ext uri="{D42A27DB-BD31-4B8C-83A1-F6EECF244321}">
                <p14:modId xmlns:p14="http://schemas.microsoft.com/office/powerpoint/2010/main" val="3299777114"/>
              </p:ext>
            </p:extLst>
          </p:nvPr>
        </p:nvGraphicFramePr>
        <p:xfrm>
          <a:off x="1952625" y="4829175"/>
          <a:ext cx="184150" cy="225425"/>
        </p:xfrm>
        <a:graphic>
          <a:graphicData uri="http://schemas.openxmlformats.org/presentationml/2006/ole">
            <mc:AlternateContent xmlns:mc="http://schemas.openxmlformats.org/markup-compatibility/2006">
              <mc:Choice xmlns:v="urn:schemas-microsoft-com:vml" Requires="v">
                <p:oleObj name="Equation" r:id="rId8" imgW="114120" imgH="139680" progId="Equation.DSMT4">
                  <p:embed/>
                </p:oleObj>
              </mc:Choice>
              <mc:Fallback>
                <p:oleObj name="Equation" r:id="rId8" imgW="114120" imgH="139680" progId="Equation.DSMT4">
                  <p:embed/>
                  <p:pic>
                    <p:nvPicPr>
                      <p:cNvPr id="3" name="Object 2">
                        <a:extLst>
                          <a:ext uri="{FF2B5EF4-FFF2-40B4-BE49-F238E27FC236}">
                            <a16:creationId xmlns:a16="http://schemas.microsoft.com/office/drawing/2014/main" id="{FFDAE779-6C8B-7936-7D23-2AD010A01564}"/>
                          </a:ext>
                        </a:extLst>
                      </p:cNvPr>
                      <p:cNvPicPr>
                        <a:picLocks noChangeAspect="1" noChangeArrowheads="1"/>
                      </p:cNvPicPr>
                      <p:nvPr/>
                    </p:nvPicPr>
                    <p:blipFill>
                      <a:blip r:embed="rId9"/>
                      <a:srcRect/>
                      <a:stretch>
                        <a:fillRect/>
                      </a:stretch>
                    </p:blipFill>
                    <p:spPr bwMode="auto">
                      <a:xfrm>
                        <a:off x="1952625" y="4829175"/>
                        <a:ext cx="184150"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2208842" y="4718339"/>
            <a:ext cx="1729235" cy="405683"/>
          </a:xfrm>
        </p:spPr>
        <p:txBody>
          <a:bodyPr wrap="square" lIns="0" tIns="18000" rIns="0" bIns="18000" anchor="ctr">
            <a:spAutoFit/>
          </a:bodyPr>
          <a:lstStyle/>
          <a:p>
            <a:pPr marL="0" indent="0">
              <a:spcBef>
                <a:spcPts val="600"/>
              </a:spcBef>
              <a:buNone/>
            </a:pPr>
            <a:r>
              <a:rPr lang="en-US" sz="2400" noProof="0" dirty="0"/>
              <a:t>has no units</a:t>
            </a:r>
          </a:p>
        </p:txBody>
      </p:sp>
      <p:pic>
        <p:nvPicPr>
          <p:cNvPr id="15" name="Picture 14" descr="A blue line with a point&#10;&#10;AI-generated content may be incorrect.">
            <a:extLst>
              <a:ext uri="{FF2B5EF4-FFF2-40B4-BE49-F238E27FC236}">
                <a16:creationId xmlns:a16="http://schemas.microsoft.com/office/drawing/2014/main" id="{5B7BBA23-972D-022B-9136-4AE2EF277A9E}"/>
              </a:ext>
            </a:extLst>
          </p:cNvPr>
          <p:cNvPicPr>
            <a:picLocks noChangeAspect="1"/>
          </p:cNvPicPr>
          <p:nvPr/>
        </p:nvPicPr>
        <p:blipFill>
          <a:blip r:embed="rId10"/>
          <a:stretch>
            <a:fillRect/>
          </a:stretch>
        </p:blipFill>
        <p:spPr>
          <a:xfrm>
            <a:off x="5116507" y="3069641"/>
            <a:ext cx="3211705" cy="1716998"/>
          </a:xfrm>
          <a:prstGeom prst="rect">
            <a:avLst/>
          </a:prstGeom>
        </p:spPr>
      </p:pic>
      <p:pic>
        <p:nvPicPr>
          <p:cNvPr id="16" name="Picture 15">
            <a:extLst>
              <a:ext uri="{FF2B5EF4-FFF2-40B4-BE49-F238E27FC236}">
                <a16:creationId xmlns:a16="http://schemas.microsoft.com/office/drawing/2014/main" id="{9B2E719E-5E67-E644-9AF5-7A62C4D8128F}"/>
              </a:ext>
            </a:extLst>
          </p:cNvPr>
          <p:cNvPicPr>
            <a:picLocks noChangeAspect="1"/>
          </p:cNvPicPr>
          <p:nvPr/>
        </p:nvPicPr>
        <p:blipFill>
          <a:blip r:embed="rId11"/>
          <a:stretch>
            <a:fillRect/>
          </a:stretch>
        </p:blipFill>
        <p:spPr>
          <a:xfrm>
            <a:off x="5205925" y="4718339"/>
            <a:ext cx="2899187" cy="1534222"/>
          </a:xfrm>
          <a:prstGeom prst="rect">
            <a:avLst/>
          </a:prstGeom>
        </p:spPr>
      </p:pic>
    </p:spTree>
    <p:extLst>
      <p:ext uri="{BB962C8B-B14F-4D97-AF65-F5344CB8AC3E}">
        <p14:creationId xmlns:p14="http://schemas.microsoft.com/office/powerpoint/2010/main" val="502922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AFA60-6464-CD77-D44A-06A6820C727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AA502C5-B47C-DA4F-00B6-ADC10781ECBC}"/>
              </a:ext>
            </a:extLst>
          </p:cNvPr>
          <p:cNvSpPr>
            <a:spLocks noGrp="1"/>
          </p:cNvSpPr>
          <p:nvPr>
            <p:ph type="title"/>
          </p:nvPr>
        </p:nvSpPr>
        <p:spPr>
          <a:xfrm>
            <a:off x="436691" y="216258"/>
            <a:ext cx="8229600" cy="1021237"/>
          </a:xfrm>
        </p:spPr>
        <p:txBody>
          <a:bodyPr/>
          <a:lstStyle/>
          <a:p>
            <a:r>
              <a:rPr lang="en-US" noProof="0" dirty="0"/>
              <a:t>Chapter 7 – </a:t>
            </a:r>
            <a:r>
              <a:rPr lang="en-US" spc="-400" noProof="0" dirty="0"/>
              <a:t>R </a:t>
            </a:r>
            <a:r>
              <a:rPr lang="en-US" noProof="0" dirty="0"/>
              <a:t>L/</a:t>
            </a:r>
            <a:r>
              <a:rPr lang="en-US" spc="-400" noProof="0" dirty="0"/>
              <a:t>R </a:t>
            </a:r>
            <a:r>
              <a:rPr lang="en-US" noProof="0" dirty="0"/>
              <a:t>C Natural Response </a:t>
            </a:r>
            <a:r>
              <a:rPr lang="en-US" sz="2800" noProof="0" dirty="0"/>
              <a:t>(2 of 3)</a:t>
            </a:r>
          </a:p>
        </p:txBody>
      </p:sp>
      <p:sp>
        <p:nvSpPr>
          <p:cNvPr id="7" name="Content Placeholder 6">
            <a:extLst>
              <a:ext uri="{FF2B5EF4-FFF2-40B4-BE49-F238E27FC236}">
                <a16:creationId xmlns:a16="http://schemas.microsoft.com/office/drawing/2014/main" id="{8E86901D-235B-6B33-C141-E74D555EFE39}"/>
              </a:ext>
            </a:extLst>
          </p:cNvPr>
          <p:cNvSpPr>
            <a:spLocks noGrp="1"/>
          </p:cNvSpPr>
          <p:nvPr>
            <p:ph sz="quarter" idx="12"/>
          </p:nvPr>
        </p:nvSpPr>
        <p:spPr>
          <a:xfrm>
            <a:off x="429524" y="1533878"/>
            <a:ext cx="8237538" cy="405683"/>
          </a:xfrm>
        </p:spPr>
        <p:txBody>
          <a:bodyPr wrap="square" lIns="0" tIns="18000" rIns="0" bIns="18000" anchor="ctr">
            <a:spAutoFit/>
          </a:bodyPr>
          <a:lstStyle/>
          <a:p>
            <a:pPr marL="0" indent="0">
              <a:spcBef>
                <a:spcPts val="600"/>
              </a:spcBef>
              <a:buNone/>
            </a:pPr>
            <a:r>
              <a:rPr lang="en-US" sz="2400" noProof="0" dirty="0"/>
              <a:t>The form of the </a:t>
            </a:r>
            <a:r>
              <a:rPr lang="en-US" sz="2400" i="1" spc="-300" noProof="0" dirty="0"/>
              <a:t>R </a:t>
            </a:r>
            <a:r>
              <a:rPr lang="en-US" sz="2400" i="1" noProof="0" dirty="0"/>
              <a:t>L</a:t>
            </a:r>
            <a:r>
              <a:rPr lang="en-US" sz="2400" noProof="0" dirty="0"/>
              <a:t>/</a:t>
            </a:r>
            <a:r>
              <a:rPr lang="en-US" sz="2400" i="1" spc="-300" noProof="0" dirty="0"/>
              <a:t>R </a:t>
            </a:r>
            <a:r>
              <a:rPr lang="en-US" sz="2400" i="1" noProof="0" dirty="0"/>
              <a:t>C</a:t>
            </a:r>
            <a:r>
              <a:rPr lang="en-US" sz="2400" noProof="0" dirty="0"/>
              <a:t> natural response is</a:t>
            </a:r>
          </a:p>
        </p:txBody>
      </p:sp>
      <p:graphicFrame>
        <p:nvGraphicFramePr>
          <p:cNvPr id="2" name="Object 1" descr="I C e to the negative t divided by tau power.&#10;">
            <a:extLst>
              <a:ext uri="{FF2B5EF4-FFF2-40B4-BE49-F238E27FC236}">
                <a16:creationId xmlns:a16="http://schemas.microsoft.com/office/drawing/2014/main" id="{1F62934A-B832-9C66-E639-F47D7D287DE9}"/>
              </a:ext>
            </a:extLst>
          </p:cNvPr>
          <p:cNvGraphicFramePr>
            <a:graphicFrameLocks noChangeAspect="1"/>
          </p:cNvGraphicFramePr>
          <p:nvPr/>
        </p:nvGraphicFramePr>
        <p:xfrm>
          <a:off x="4148263" y="2141532"/>
          <a:ext cx="968244" cy="440826"/>
        </p:xfrm>
        <a:graphic>
          <a:graphicData uri="http://schemas.openxmlformats.org/presentationml/2006/ole">
            <mc:AlternateContent xmlns:mc="http://schemas.openxmlformats.org/markup-compatibility/2006">
              <mc:Choice xmlns:v="urn:schemas-microsoft-com:vml" Requires="v">
                <p:oleObj name="Equation" r:id="rId2" imgW="444240" imgH="203040" progId="Equation.DSMT4">
                  <p:embed/>
                </p:oleObj>
              </mc:Choice>
              <mc:Fallback>
                <p:oleObj name="Equation" r:id="rId2" imgW="444240" imgH="203040" progId="Equation.DSMT4">
                  <p:embed/>
                  <p:pic>
                    <p:nvPicPr>
                      <p:cNvPr id="2" name="Object 1" descr="I C e to the negative t divided by tau power.&#10;">
                        <a:extLst>
                          <a:ext uri="{FF2B5EF4-FFF2-40B4-BE49-F238E27FC236}">
                            <a16:creationId xmlns:a16="http://schemas.microsoft.com/office/drawing/2014/main" id="{EBD263FA-4D44-7E4E-EEB4-B4F142C3589E}"/>
                          </a:ext>
                        </a:extLst>
                      </p:cNvPr>
                      <p:cNvPicPr>
                        <a:picLocks noChangeAspect="1" noChangeArrowheads="1"/>
                      </p:cNvPicPr>
                      <p:nvPr/>
                    </p:nvPicPr>
                    <p:blipFill>
                      <a:blip r:embed="rId3"/>
                      <a:srcRect/>
                      <a:stretch>
                        <a:fillRect/>
                      </a:stretch>
                    </p:blipFill>
                    <p:spPr bwMode="auto">
                      <a:xfrm>
                        <a:off x="4148263" y="2141532"/>
                        <a:ext cx="968244" cy="440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A810AF69-072D-DAEE-89D8-CDE07274982B}"/>
              </a:ext>
            </a:extLst>
          </p:cNvPr>
          <p:cNvSpPr>
            <a:spLocks noGrp="1"/>
          </p:cNvSpPr>
          <p:nvPr>
            <p:ph sz="quarter" idx="13"/>
          </p:nvPr>
        </p:nvSpPr>
        <p:spPr>
          <a:xfrm>
            <a:off x="429524" y="2758679"/>
            <a:ext cx="4194235" cy="405683"/>
          </a:xfrm>
        </p:spPr>
        <p:txBody>
          <a:bodyPr wrap="square" lIns="0" tIns="18000" rIns="0" bIns="18000" anchor="ctr">
            <a:spAutoFit/>
          </a:bodyPr>
          <a:lstStyle/>
          <a:p>
            <a:pPr marL="0" indent="0">
              <a:spcBef>
                <a:spcPts val="600"/>
              </a:spcBef>
              <a:buNone/>
            </a:pPr>
            <a:r>
              <a:rPr lang="en-US" sz="2400" noProof="0" dirty="0"/>
              <a:t>The units for the time constant,</a:t>
            </a:r>
          </a:p>
        </p:txBody>
      </p:sp>
      <p:graphicFrame>
        <p:nvGraphicFramePr>
          <p:cNvPr id="3" name="Object 2" descr="tau.&#10;">
            <a:extLst>
              <a:ext uri="{FF2B5EF4-FFF2-40B4-BE49-F238E27FC236}">
                <a16:creationId xmlns:a16="http://schemas.microsoft.com/office/drawing/2014/main" id="{631ED02D-3FD9-3293-84C4-6EDA6D5DB541}"/>
              </a:ext>
            </a:extLst>
          </p:cNvPr>
          <p:cNvGraphicFramePr>
            <a:graphicFrameLocks noChangeAspect="1"/>
          </p:cNvGraphicFramePr>
          <p:nvPr/>
        </p:nvGraphicFramePr>
        <p:xfrm>
          <a:off x="4632385" y="2897662"/>
          <a:ext cx="244475" cy="266700"/>
        </p:xfrm>
        <a:graphic>
          <a:graphicData uri="http://schemas.openxmlformats.org/presentationml/2006/ole">
            <mc:AlternateContent xmlns:mc="http://schemas.openxmlformats.org/markup-compatibility/2006">
              <mc:Choice xmlns:v="urn:schemas-microsoft-com:vml" Requires="v">
                <p:oleObj name="Equation" r:id="rId4" imgW="152280" imgH="164880" progId="Equation.DSMT4">
                  <p:embed/>
                </p:oleObj>
              </mc:Choice>
              <mc:Fallback>
                <p:oleObj name="Equation" r:id="rId4" imgW="152280" imgH="164880" progId="Equation.DSMT4">
                  <p:embed/>
                  <p:pic>
                    <p:nvPicPr>
                      <p:cNvPr id="3" name="Object 2" descr="tau.&#10;">
                        <a:extLst>
                          <a:ext uri="{FF2B5EF4-FFF2-40B4-BE49-F238E27FC236}">
                            <a16:creationId xmlns:a16="http://schemas.microsoft.com/office/drawing/2014/main" id="{FFDAE779-6C8B-7936-7D23-2AD010A01564}"/>
                          </a:ext>
                        </a:extLst>
                      </p:cNvPr>
                      <p:cNvPicPr>
                        <a:picLocks noChangeAspect="1" noChangeArrowheads="1"/>
                      </p:cNvPicPr>
                      <p:nvPr/>
                    </p:nvPicPr>
                    <p:blipFill>
                      <a:blip r:embed="rId5"/>
                      <a:srcRect/>
                      <a:stretch>
                        <a:fillRect/>
                      </a:stretch>
                    </p:blipFill>
                    <p:spPr bwMode="auto">
                      <a:xfrm>
                        <a:off x="4632385" y="2897662"/>
                        <a:ext cx="2444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806AF6C7-F865-9B0F-14F5-0DDCC2C41F7D}"/>
              </a:ext>
            </a:extLst>
          </p:cNvPr>
          <p:cNvSpPr>
            <a:spLocks noGrp="1"/>
          </p:cNvSpPr>
          <p:nvPr>
            <p:ph sz="quarter" idx="14"/>
          </p:nvPr>
        </p:nvSpPr>
        <p:spPr>
          <a:xfrm>
            <a:off x="4949766" y="2758678"/>
            <a:ext cx="1097352" cy="405683"/>
          </a:xfrm>
        </p:spPr>
        <p:txBody>
          <a:bodyPr wrap="square" lIns="0" tIns="18000" rIns="0" bIns="18000" anchor="ctr">
            <a:spAutoFit/>
          </a:bodyPr>
          <a:lstStyle/>
          <a:p>
            <a:pPr marL="0" indent="0">
              <a:spcBef>
                <a:spcPts val="600"/>
              </a:spcBef>
              <a:buNone/>
            </a:pPr>
            <a:r>
              <a:rPr lang="en-US" sz="2400" noProof="0" dirty="0"/>
              <a:t>must be</a:t>
            </a:r>
          </a:p>
        </p:txBody>
      </p:sp>
      <p:pic>
        <p:nvPicPr>
          <p:cNvPr id="25" name="Picture 2" descr="Check mark">
            <a:extLst>
              <a:ext uri="{FF2B5EF4-FFF2-40B4-BE49-F238E27FC236}">
                <a16:creationId xmlns:a16="http://schemas.microsoft.com/office/drawing/2014/main" id="{B186FF4E-EF9E-6F36-11B7-B61F3B30578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58967" y="3672525"/>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F58C7A5-E219-A847-4A0D-9BF0D558DADD}"/>
              </a:ext>
            </a:extLst>
          </p:cNvPr>
          <p:cNvSpPr>
            <a:spLocks noGrp="1"/>
          </p:cNvSpPr>
          <p:nvPr>
            <p:ph sz="quarter" idx="15"/>
          </p:nvPr>
        </p:nvSpPr>
        <p:spPr>
          <a:xfrm>
            <a:off x="1542331" y="3592805"/>
            <a:ext cx="196862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s (seconds)</a:t>
            </a:r>
          </a:p>
        </p:txBody>
      </p:sp>
      <p:pic>
        <p:nvPicPr>
          <p:cNvPr id="26" name="Picture 5" descr="Cross mark">
            <a:extLst>
              <a:ext uri="{FF2B5EF4-FFF2-40B4-BE49-F238E27FC236}">
                <a16:creationId xmlns:a16="http://schemas.microsoft.com/office/drawing/2014/main" id="{D68F1716-4C11-8F66-C677-3ABB391B609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58967" y="421295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0A77E6EA-60D8-F9CA-029D-D87AD6901A4C}"/>
              </a:ext>
            </a:extLst>
          </p:cNvPr>
          <p:cNvSpPr>
            <a:spLocks noGrp="1"/>
          </p:cNvSpPr>
          <p:nvPr>
            <p:ph sz="quarter" idx="16"/>
          </p:nvPr>
        </p:nvSpPr>
        <p:spPr>
          <a:xfrm>
            <a:off x="1542331" y="4140122"/>
            <a:ext cx="346075"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4" name="Object 3" descr=" S inverse.&#10;">
            <a:extLst>
              <a:ext uri="{FF2B5EF4-FFF2-40B4-BE49-F238E27FC236}">
                <a16:creationId xmlns:a16="http://schemas.microsoft.com/office/drawing/2014/main" id="{B5AF1D2D-AB5D-7BA2-2FC1-5C4A112F3A5F}"/>
              </a:ext>
            </a:extLst>
          </p:cNvPr>
          <p:cNvGraphicFramePr>
            <a:graphicFrameLocks noChangeAspect="1"/>
          </p:cNvGraphicFramePr>
          <p:nvPr/>
        </p:nvGraphicFramePr>
        <p:xfrm>
          <a:off x="1926225" y="4169312"/>
          <a:ext cx="346075" cy="328613"/>
        </p:xfrm>
        <a:graphic>
          <a:graphicData uri="http://schemas.openxmlformats.org/presentationml/2006/ole">
            <mc:AlternateContent xmlns:mc="http://schemas.openxmlformats.org/markup-compatibility/2006">
              <mc:Choice xmlns:v="urn:schemas-microsoft-com:vml" Requires="v">
                <p:oleObj name="Equation" r:id="rId8" imgW="215640" imgH="203040" progId="Equation.DSMT4">
                  <p:embed/>
                </p:oleObj>
              </mc:Choice>
              <mc:Fallback>
                <p:oleObj name="Equation" r:id="rId8" imgW="215640" imgH="203040" progId="Equation.DSMT4">
                  <p:embed/>
                  <p:pic>
                    <p:nvPicPr>
                      <p:cNvPr id="4" name="Object 3" descr=" S inverse.&#10;">
                        <a:extLst>
                          <a:ext uri="{FF2B5EF4-FFF2-40B4-BE49-F238E27FC236}">
                            <a16:creationId xmlns:a16="http://schemas.microsoft.com/office/drawing/2014/main" id="{48A5C5DE-3CE5-CAE5-F139-3C80C46616C7}"/>
                          </a:ext>
                        </a:extLst>
                      </p:cNvPr>
                      <p:cNvPicPr>
                        <a:picLocks noChangeAspect="1" noChangeArrowheads="1"/>
                      </p:cNvPicPr>
                      <p:nvPr/>
                    </p:nvPicPr>
                    <p:blipFill>
                      <a:blip r:embed="rId9"/>
                      <a:srcRect/>
                      <a:stretch>
                        <a:fillRect/>
                      </a:stretch>
                    </p:blipFill>
                    <p:spPr bwMode="auto">
                      <a:xfrm>
                        <a:off x="1926225" y="4169312"/>
                        <a:ext cx="3460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424BE5F8-1050-DE2B-D16A-29F756258558}"/>
              </a:ext>
            </a:extLst>
          </p:cNvPr>
          <p:cNvSpPr>
            <a:spLocks noGrp="1"/>
          </p:cNvSpPr>
          <p:nvPr>
            <p:ph sz="quarter" idx="17"/>
          </p:nvPr>
        </p:nvSpPr>
        <p:spPr>
          <a:xfrm>
            <a:off x="2310119" y="4145736"/>
            <a:ext cx="2408567" cy="405683"/>
          </a:xfrm>
        </p:spPr>
        <p:txBody>
          <a:bodyPr wrap="square" lIns="0" tIns="18000" rIns="0" bIns="18000" anchor="ctr">
            <a:spAutoFit/>
          </a:bodyPr>
          <a:lstStyle/>
          <a:p>
            <a:pPr marL="0" indent="0">
              <a:spcBef>
                <a:spcPts val="600"/>
              </a:spcBef>
              <a:buNone/>
            </a:pPr>
            <a:r>
              <a:rPr lang="en-US" sz="2400" noProof="0" dirty="0"/>
              <a:t>(inverse seconds)</a:t>
            </a:r>
          </a:p>
        </p:txBody>
      </p:sp>
      <p:pic>
        <p:nvPicPr>
          <p:cNvPr id="27" name="Picture 5" descr="Cross mark">
            <a:extLst>
              <a:ext uri="{FF2B5EF4-FFF2-40B4-BE49-F238E27FC236}">
                <a16:creationId xmlns:a16="http://schemas.microsoft.com/office/drawing/2014/main" id="{D99898F4-44A0-342F-C4DA-717D7AF705F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1516" y="476053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Content Placeholder 12">
            <a:extLst>
              <a:ext uri="{FF2B5EF4-FFF2-40B4-BE49-F238E27FC236}">
                <a16:creationId xmlns:a16="http://schemas.microsoft.com/office/drawing/2014/main" id="{7658B902-4CAA-D34D-1EDE-313E9DA78336}"/>
              </a:ext>
            </a:extLst>
          </p:cNvPr>
          <p:cNvSpPr>
            <a:spLocks noGrp="1"/>
          </p:cNvSpPr>
          <p:nvPr>
            <p:ph sz="quarter" idx="18"/>
          </p:nvPr>
        </p:nvSpPr>
        <p:spPr>
          <a:xfrm>
            <a:off x="1542331" y="4687439"/>
            <a:ext cx="338227"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5" name="Object 4" descr="tau.&#10;">
            <a:extLst>
              <a:ext uri="{FF2B5EF4-FFF2-40B4-BE49-F238E27FC236}">
                <a16:creationId xmlns:a16="http://schemas.microsoft.com/office/drawing/2014/main" id="{79255FAB-B88D-8B18-7ACC-16BBEE4601D9}"/>
              </a:ext>
            </a:extLst>
          </p:cNvPr>
          <p:cNvGraphicFramePr>
            <a:graphicFrameLocks noChangeAspect="1"/>
          </p:cNvGraphicFramePr>
          <p:nvPr/>
        </p:nvGraphicFramePr>
        <p:xfrm>
          <a:off x="1952625" y="4829175"/>
          <a:ext cx="184150" cy="225425"/>
        </p:xfrm>
        <a:graphic>
          <a:graphicData uri="http://schemas.openxmlformats.org/presentationml/2006/ole">
            <mc:AlternateContent xmlns:mc="http://schemas.openxmlformats.org/markup-compatibility/2006">
              <mc:Choice xmlns:v="urn:schemas-microsoft-com:vml" Requires="v">
                <p:oleObj name="Equation" r:id="rId10" imgW="114120" imgH="139680" progId="Equation.DSMT4">
                  <p:embed/>
                </p:oleObj>
              </mc:Choice>
              <mc:Fallback>
                <p:oleObj name="Equation" r:id="rId10" imgW="114120" imgH="139680" progId="Equation.DSMT4">
                  <p:embed/>
                  <p:pic>
                    <p:nvPicPr>
                      <p:cNvPr id="5" name="Object 4" descr="tau.&#10;">
                        <a:extLst>
                          <a:ext uri="{FF2B5EF4-FFF2-40B4-BE49-F238E27FC236}">
                            <a16:creationId xmlns:a16="http://schemas.microsoft.com/office/drawing/2014/main" id="{A73F7414-0099-98AD-D630-DD18188BD5CA}"/>
                          </a:ext>
                        </a:extLst>
                      </p:cNvPr>
                      <p:cNvPicPr>
                        <a:picLocks noChangeAspect="1" noChangeArrowheads="1"/>
                      </p:cNvPicPr>
                      <p:nvPr/>
                    </p:nvPicPr>
                    <p:blipFill>
                      <a:blip r:embed="rId11"/>
                      <a:srcRect/>
                      <a:stretch>
                        <a:fillRect/>
                      </a:stretch>
                    </p:blipFill>
                    <p:spPr bwMode="auto">
                      <a:xfrm>
                        <a:off x="1952625" y="4829175"/>
                        <a:ext cx="184150"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Content Placeholder 13">
            <a:extLst>
              <a:ext uri="{FF2B5EF4-FFF2-40B4-BE49-F238E27FC236}">
                <a16:creationId xmlns:a16="http://schemas.microsoft.com/office/drawing/2014/main" id="{EB518F8B-9D93-2196-4ED9-786B94A27444}"/>
              </a:ext>
            </a:extLst>
          </p:cNvPr>
          <p:cNvSpPr>
            <a:spLocks noGrp="1"/>
          </p:cNvSpPr>
          <p:nvPr>
            <p:ph sz="quarter" idx="19"/>
          </p:nvPr>
        </p:nvSpPr>
        <p:spPr>
          <a:xfrm>
            <a:off x="2208842" y="4718339"/>
            <a:ext cx="1729235" cy="405683"/>
          </a:xfrm>
        </p:spPr>
        <p:txBody>
          <a:bodyPr wrap="square" lIns="0" tIns="18000" rIns="0" bIns="18000" anchor="ctr">
            <a:spAutoFit/>
          </a:bodyPr>
          <a:lstStyle/>
          <a:p>
            <a:pPr marL="0" indent="0">
              <a:spcBef>
                <a:spcPts val="600"/>
              </a:spcBef>
              <a:buNone/>
            </a:pPr>
            <a:r>
              <a:rPr lang="en-US" sz="2400" noProof="0" dirty="0"/>
              <a:t>has no units</a:t>
            </a:r>
          </a:p>
        </p:txBody>
      </p:sp>
    </p:spTree>
    <p:extLst>
      <p:ext uri="{BB962C8B-B14F-4D97-AF65-F5344CB8AC3E}">
        <p14:creationId xmlns:p14="http://schemas.microsoft.com/office/powerpoint/2010/main" val="1223213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489" y="215377"/>
            <a:ext cx="8229600" cy="1021237"/>
          </a:xfrm>
        </p:spPr>
        <p:txBody>
          <a:bodyPr/>
          <a:lstStyle/>
          <a:p>
            <a:r>
              <a:rPr lang="en-US" noProof="0" dirty="0"/>
              <a:t>Chapter 7 – </a:t>
            </a:r>
            <a:r>
              <a:rPr lang="en-US" spc="-400" noProof="0" dirty="0"/>
              <a:t>R </a:t>
            </a:r>
            <a:r>
              <a:rPr lang="en-US" noProof="0" dirty="0"/>
              <a:t>L/</a:t>
            </a:r>
            <a:r>
              <a:rPr lang="en-US" spc="-400" noProof="0" dirty="0"/>
              <a:t>R </a:t>
            </a:r>
            <a:r>
              <a:rPr lang="en-US" noProof="0" dirty="0"/>
              <a:t>C Natural Response        </a:t>
            </a:r>
            <a:r>
              <a:rPr lang="en-US" sz="2800" noProof="0" dirty="0"/>
              <a:t>(3 of 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34216"/>
            <a:ext cx="4054475" cy="405683"/>
          </a:xfrm>
        </p:spPr>
        <p:txBody>
          <a:bodyPr lIns="0" tIns="18000" rIns="0" bIns="18000" anchor="ctr">
            <a:spAutoFit/>
          </a:bodyPr>
          <a:lstStyle/>
          <a:p>
            <a:pPr marL="0" indent="0">
              <a:spcBef>
                <a:spcPts val="600"/>
              </a:spcBef>
              <a:buNone/>
            </a:pPr>
            <a:r>
              <a:rPr lang="en-US" sz="2400" noProof="0" dirty="0"/>
              <a:t>The </a:t>
            </a:r>
            <a:r>
              <a:rPr lang="en-US" sz="2400" i="1" spc="-300" noProof="0" dirty="0"/>
              <a:t>R </a:t>
            </a:r>
            <a:r>
              <a:rPr lang="en-US" sz="2400" i="1" noProof="0" dirty="0"/>
              <a:t>L</a:t>
            </a:r>
            <a:r>
              <a:rPr lang="en-US" sz="2400" noProof="0" dirty="0"/>
              <a:t> natural response is</a:t>
            </a:r>
          </a:p>
        </p:txBody>
      </p:sp>
      <p:graphicFrame>
        <p:nvGraphicFramePr>
          <p:cNvPr id="2" name="Object 1" descr="i (t) equals I subscript S baseline e to the negative OpenParenthesis R divided by L CloseParenthesis t power.&#10;">
            <a:extLst>
              <a:ext uri="{FF2B5EF4-FFF2-40B4-BE49-F238E27FC236}">
                <a16:creationId xmlns:a16="http://schemas.microsoft.com/office/drawing/2014/main" id="{7AFCAB3B-22F6-B32E-EACB-9A85FC5C3C49}"/>
              </a:ext>
            </a:extLst>
          </p:cNvPr>
          <p:cNvGraphicFramePr>
            <a:graphicFrameLocks noChangeAspect="1"/>
          </p:cNvGraphicFramePr>
          <p:nvPr>
            <p:extLst>
              <p:ext uri="{D42A27DB-BD31-4B8C-83A1-F6EECF244321}">
                <p14:modId xmlns:p14="http://schemas.microsoft.com/office/powerpoint/2010/main" val="921599631"/>
              </p:ext>
            </p:extLst>
          </p:nvPr>
        </p:nvGraphicFramePr>
        <p:xfrm>
          <a:off x="2700338" y="2189259"/>
          <a:ext cx="1792287" cy="461962"/>
        </p:xfrm>
        <a:graphic>
          <a:graphicData uri="http://schemas.openxmlformats.org/presentationml/2006/ole">
            <mc:AlternateContent xmlns:mc="http://schemas.openxmlformats.org/markup-compatibility/2006">
              <mc:Choice xmlns:v="urn:schemas-microsoft-com:vml" Requires="v">
                <p:oleObj name="Equation" r:id="rId2" imgW="939600" imgH="241200" progId="Equation.DSMT4">
                  <p:embed/>
                </p:oleObj>
              </mc:Choice>
              <mc:Fallback>
                <p:oleObj name="Equation" r:id="rId2" imgW="939600" imgH="241200" progId="Equation.DSMT4">
                  <p:embed/>
                  <p:pic>
                    <p:nvPicPr>
                      <p:cNvPr id="8" name="Object 7"/>
                      <p:cNvPicPr>
                        <a:picLocks noChangeAspect="1" noChangeArrowheads="1"/>
                      </p:cNvPicPr>
                      <p:nvPr/>
                    </p:nvPicPr>
                    <p:blipFill>
                      <a:blip r:embed="rId3"/>
                      <a:srcRect/>
                      <a:stretch>
                        <a:fillRect/>
                      </a:stretch>
                    </p:blipFill>
                    <p:spPr bwMode="auto">
                      <a:xfrm>
                        <a:off x="2700338" y="2189259"/>
                        <a:ext cx="1792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t is greater than or equal to 0.&#10;">
            <a:extLst>
              <a:ext uri="{FF2B5EF4-FFF2-40B4-BE49-F238E27FC236}">
                <a16:creationId xmlns:a16="http://schemas.microsoft.com/office/drawing/2014/main" id="{2314125F-99D2-940F-A576-15EA5E2DBDF3}"/>
              </a:ext>
            </a:extLst>
          </p:cNvPr>
          <p:cNvGraphicFramePr>
            <a:graphicFrameLocks noChangeAspect="1"/>
          </p:cNvGraphicFramePr>
          <p:nvPr>
            <p:extLst>
              <p:ext uri="{D42A27DB-BD31-4B8C-83A1-F6EECF244321}">
                <p14:modId xmlns:p14="http://schemas.microsoft.com/office/powerpoint/2010/main" val="3321973682"/>
              </p:ext>
            </p:extLst>
          </p:nvPr>
        </p:nvGraphicFramePr>
        <p:xfrm>
          <a:off x="4808538" y="2249584"/>
          <a:ext cx="654050" cy="341312"/>
        </p:xfrm>
        <a:graphic>
          <a:graphicData uri="http://schemas.openxmlformats.org/presentationml/2006/ole">
            <mc:AlternateContent xmlns:mc="http://schemas.openxmlformats.org/markup-compatibility/2006">
              <mc:Choice xmlns:v="urn:schemas-microsoft-com:vml" Requires="v">
                <p:oleObj name="Equation" r:id="rId4" imgW="342720" imgH="177480" progId="Equation.DSMT4">
                  <p:embed/>
                </p:oleObj>
              </mc:Choice>
              <mc:Fallback>
                <p:oleObj name="Equation" r:id="rId4" imgW="342720" imgH="177480" progId="Equation.DSMT4">
                  <p:embed/>
                  <p:pic>
                    <p:nvPicPr>
                      <p:cNvPr id="2" name="Object 1">
                        <a:extLst>
                          <a:ext uri="{FF2B5EF4-FFF2-40B4-BE49-F238E27FC236}">
                            <a16:creationId xmlns:a16="http://schemas.microsoft.com/office/drawing/2014/main" id="{7AFCAB3B-22F6-B32E-EACB-9A85FC5C3C49}"/>
                          </a:ext>
                        </a:extLst>
                      </p:cNvPr>
                      <p:cNvPicPr>
                        <a:picLocks noChangeAspect="1" noChangeArrowheads="1"/>
                      </p:cNvPicPr>
                      <p:nvPr/>
                    </p:nvPicPr>
                    <p:blipFill>
                      <a:blip r:embed="rId5"/>
                      <a:srcRect/>
                      <a:stretch>
                        <a:fillRect/>
                      </a:stretch>
                    </p:blipFill>
                    <p:spPr bwMode="auto">
                      <a:xfrm>
                        <a:off x="4808538" y="2249584"/>
                        <a:ext cx="65405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827940"/>
            <a:ext cx="3900937" cy="405683"/>
          </a:xfrm>
        </p:spPr>
        <p:txBody>
          <a:bodyPr wrap="square" lIns="0" tIns="18000" rIns="0" bIns="18000" anchor="ctr">
            <a:spAutoFit/>
          </a:bodyPr>
          <a:lstStyle/>
          <a:p>
            <a:pPr marL="0" indent="0">
              <a:spcBef>
                <a:spcPts val="600"/>
              </a:spcBef>
              <a:buNone/>
            </a:pPr>
            <a:r>
              <a:rPr lang="en-US" sz="2400" noProof="0" dirty="0"/>
              <a:t>Therefore, the time constant, </a:t>
            </a:r>
          </a:p>
        </p:txBody>
      </p:sp>
      <p:graphicFrame>
        <p:nvGraphicFramePr>
          <p:cNvPr id="4" name="Object 3" descr="tau.&#10;">
            <a:extLst>
              <a:ext uri="{FF2B5EF4-FFF2-40B4-BE49-F238E27FC236}">
                <a16:creationId xmlns:a16="http://schemas.microsoft.com/office/drawing/2014/main" id="{A0B57065-7CF5-86EF-4EC4-CF4F4EF81E3F}"/>
              </a:ext>
            </a:extLst>
          </p:cNvPr>
          <p:cNvGraphicFramePr>
            <a:graphicFrameLocks noChangeAspect="1"/>
          </p:cNvGraphicFramePr>
          <p:nvPr>
            <p:extLst>
              <p:ext uri="{D42A27DB-BD31-4B8C-83A1-F6EECF244321}">
                <p14:modId xmlns:p14="http://schemas.microsoft.com/office/powerpoint/2010/main" val="807423811"/>
              </p:ext>
            </p:extLst>
          </p:nvPr>
        </p:nvGraphicFramePr>
        <p:xfrm>
          <a:off x="4390847" y="2966923"/>
          <a:ext cx="244475" cy="266700"/>
        </p:xfrm>
        <a:graphic>
          <a:graphicData uri="http://schemas.openxmlformats.org/presentationml/2006/ole">
            <mc:AlternateContent xmlns:mc="http://schemas.openxmlformats.org/markup-compatibility/2006">
              <mc:Choice xmlns:v="urn:schemas-microsoft-com:vml" Requires="v">
                <p:oleObj name="Equation" r:id="rId6" imgW="152280" imgH="164880" progId="Equation.DSMT4">
                  <p:embed/>
                </p:oleObj>
              </mc:Choice>
              <mc:Fallback>
                <p:oleObj name="Equation" r:id="rId6" imgW="152280" imgH="164880" progId="Equation.DSMT4">
                  <p:embed/>
                  <p:pic>
                    <p:nvPicPr>
                      <p:cNvPr id="3" name="Object 2">
                        <a:extLst>
                          <a:ext uri="{FF2B5EF4-FFF2-40B4-BE49-F238E27FC236}">
                            <a16:creationId xmlns:a16="http://schemas.microsoft.com/office/drawing/2014/main" id="{FFDAE779-6C8B-7936-7D23-2AD010A01564}"/>
                          </a:ext>
                        </a:extLst>
                      </p:cNvPr>
                      <p:cNvPicPr>
                        <a:picLocks noChangeAspect="1" noChangeArrowheads="1"/>
                      </p:cNvPicPr>
                      <p:nvPr/>
                    </p:nvPicPr>
                    <p:blipFill>
                      <a:blip r:embed="rId7"/>
                      <a:srcRect/>
                      <a:stretch>
                        <a:fillRect/>
                      </a:stretch>
                    </p:blipFill>
                    <p:spPr bwMode="auto">
                      <a:xfrm>
                        <a:off x="4390847" y="2966923"/>
                        <a:ext cx="2444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687082" y="2827940"/>
            <a:ext cx="2546590" cy="405683"/>
          </a:xfrm>
        </p:spPr>
        <p:txBody>
          <a:bodyPr wrap="square" lIns="0" tIns="18000" rIns="0" bIns="18000" anchor="ctr">
            <a:spAutoFit/>
          </a:bodyPr>
          <a:lstStyle/>
          <a:p>
            <a:pPr marL="0" indent="0">
              <a:spcBef>
                <a:spcPts val="600"/>
              </a:spcBef>
              <a:buNone/>
            </a:pPr>
            <a:r>
              <a:rPr lang="en-US" sz="2400" noProof="0" dirty="0"/>
              <a:t>for the </a:t>
            </a:r>
            <a:r>
              <a:rPr lang="en-US" sz="2400" i="1" spc="-300" noProof="0" dirty="0"/>
              <a:t>R </a:t>
            </a:r>
            <a:r>
              <a:rPr lang="en-US" sz="2400" i="1" noProof="0" dirty="0"/>
              <a:t>L</a:t>
            </a:r>
            <a:r>
              <a:rPr lang="en-US" sz="2400" noProof="0" dirty="0"/>
              <a:t> circuit is</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646121" y="3554272"/>
            <a:ext cx="890318"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R/L</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646121" y="4044330"/>
            <a:ext cx="117499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sz="2400" i="1" noProof="0" dirty="0"/>
              <a:t>(L/R)t</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646121" y="4534388"/>
            <a:ext cx="1200869"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sz="2400" i="1" noProof="0" dirty="0"/>
              <a:t>(L/R)</a:t>
            </a:r>
          </a:p>
        </p:txBody>
      </p:sp>
    </p:spTree>
    <p:extLst>
      <p:ext uri="{BB962C8B-B14F-4D97-AF65-F5344CB8AC3E}">
        <p14:creationId xmlns:p14="http://schemas.microsoft.com/office/powerpoint/2010/main" val="3755065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4EB19-BB78-C8AF-A408-C9BAD5122BB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A2F6901-DE95-5DEC-3289-D905E240B36E}"/>
              </a:ext>
            </a:extLst>
          </p:cNvPr>
          <p:cNvSpPr>
            <a:spLocks noGrp="1"/>
          </p:cNvSpPr>
          <p:nvPr>
            <p:ph type="title"/>
          </p:nvPr>
        </p:nvSpPr>
        <p:spPr>
          <a:xfrm>
            <a:off x="438489" y="215377"/>
            <a:ext cx="8229600" cy="1021237"/>
          </a:xfrm>
        </p:spPr>
        <p:txBody>
          <a:bodyPr/>
          <a:lstStyle/>
          <a:p>
            <a:r>
              <a:rPr lang="en-US" noProof="0" dirty="0"/>
              <a:t>Chapter 7 – </a:t>
            </a:r>
            <a:r>
              <a:rPr lang="en-US" spc="-400" noProof="0" dirty="0"/>
              <a:t>R </a:t>
            </a:r>
            <a:r>
              <a:rPr lang="en-US" noProof="0" dirty="0"/>
              <a:t>L/</a:t>
            </a:r>
            <a:r>
              <a:rPr lang="en-US" spc="-400" noProof="0" dirty="0"/>
              <a:t>R </a:t>
            </a:r>
            <a:r>
              <a:rPr lang="en-US" noProof="0" dirty="0"/>
              <a:t>C Natural Response        </a:t>
            </a:r>
            <a:r>
              <a:rPr lang="en-US" sz="2800" noProof="0" dirty="0"/>
              <a:t>(3 of 3)</a:t>
            </a:r>
          </a:p>
        </p:txBody>
      </p:sp>
      <p:sp>
        <p:nvSpPr>
          <p:cNvPr id="7" name="Content Placeholder 6">
            <a:extLst>
              <a:ext uri="{FF2B5EF4-FFF2-40B4-BE49-F238E27FC236}">
                <a16:creationId xmlns:a16="http://schemas.microsoft.com/office/drawing/2014/main" id="{984A744C-7FB7-F2DF-C1E3-F07CD30524FC}"/>
              </a:ext>
            </a:extLst>
          </p:cNvPr>
          <p:cNvSpPr>
            <a:spLocks noGrp="1"/>
          </p:cNvSpPr>
          <p:nvPr>
            <p:ph sz="quarter" idx="12"/>
          </p:nvPr>
        </p:nvSpPr>
        <p:spPr>
          <a:xfrm>
            <a:off x="438150" y="1534216"/>
            <a:ext cx="4054475" cy="405683"/>
          </a:xfrm>
        </p:spPr>
        <p:txBody>
          <a:bodyPr lIns="0" tIns="18000" rIns="0" bIns="18000" anchor="ctr">
            <a:spAutoFit/>
          </a:bodyPr>
          <a:lstStyle/>
          <a:p>
            <a:pPr marL="0" indent="0">
              <a:spcBef>
                <a:spcPts val="600"/>
              </a:spcBef>
              <a:buNone/>
            </a:pPr>
            <a:r>
              <a:rPr lang="en-US" sz="2400" noProof="0" dirty="0"/>
              <a:t>The </a:t>
            </a:r>
            <a:r>
              <a:rPr lang="en-US" sz="2400" i="1" spc="-300" noProof="0" dirty="0"/>
              <a:t>R </a:t>
            </a:r>
            <a:r>
              <a:rPr lang="en-US" sz="2400" i="1" noProof="0" dirty="0"/>
              <a:t>L</a:t>
            </a:r>
            <a:r>
              <a:rPr lang="en-US" sz="2400" noProof="0" dirty="0"/>
              <a:t> natural response is</a:t>
            </a:r>
          </a:p>
        </p:txBody>
      </p:sp>
      <p:graphicFrame>
        <p:nvGraphicFramePr>
          <p:cNvPr id="2" name="Object 1" descr="i (t) equals I subscript S baseline e to the negative OpenParenthesis R divided by L CloseParenthesis t power.&#10;">
            <a:extLst>
              <a:ext uri="{FF2B5EF4-FFF2-40B4-BE49-F238E27FC236}">
                <a16:creationId xmlns:a16="http://schemas.microsoft.com/office/drawing/2014/main" id="{F59833C2-92C3-4F3F-71F7-BC09031AD81E}"/>
              </a:ext>
            </a:extLst>
          </p:cNvPr>
          <p:cNvGraphicFramePr>
            <a:graphicFrameLocks noChangeAspect="1"/>
          </p:cNvGraphicFramePr>
          <p:nvPr/>
        </p:nvGraphicFramePr>
        <p:xfrm>
          <a:off x="2700338" y="2189259"/>
          <a:ext cx="1792287" cy="461962"/>
        </p:xfrm>
        <a:graphic>
          <a:graphicData uri="http://schemas.openxmlformats.org/presentationml/2006/ole">
            <mc:AlternateContent xmlns:mc="http://schemas.openxmlformats.org/markup-compatibility/2006">
              <mc:Choice xmlns:v="urn:schemas-microsoft-com:vml" Requires="v">
                <p:oleObj name="Equation" r:id="rId2" imgW="939600" imgH="241200" progId="Equation.DSMT4">
                  <p:embed/>
                </p:oleObj>
              </mc:Choice>
              <mc:Fallback>
                <p:oleObj name="Equation" r:id="rId2" imgW="939600" imgH="241200" progId="Equation.DSMT4">
                  <p:embed/>
                  <p:pic>
                    <p:nvPicPr>
                      <p:cNvPr id="2" name="Object 1" descr="i (t) equals I subscript S baseline e to the negative OpenParenthesis R divided by L CloseParenthesis t power.&#10;">
                        <a:extLst>
                          <a:ext uri="{FF2B5EF4-FFF2-40B4-BE49-F238E27FC236}">
                            <a16:creationId xmlns:a16="http://schemas.microsoft.com/office/drawing/2014/main" id="{7AFCAB3B-22F6-B32E-EACB-9A85FC5C3C49}"/>
                          </a:ext>
                        </a:extLst>
                      </p:cNvPr>
                      <p:cNvPicPr>
                        <a:picLocks noChangeAspect="1" noChangeArrowheads="1"/>
                      </p:cNvPicPr>
                      <p:nvPr/>
                    </p:nvPicPr>
                    <p:blipFill>
                      <a:blip r:embed="rId3"/>
                      <a:srcRect/>
                      <a:stretch>
                        <a:fillRect/>
                      </a:stretch>
                    </p:blipFill>
                    <p:spPr bwMode="auto">
                      <a:xfrm>
                        <a:off x="2700338" y="2189259"/>
                        <a:ext cx="1792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t is greater than or equal to 0.&#10;">
            <a:extLst>
              <a:ext uri="{FF2B5EF4-FFF2-40B4-BE49-F238E27FC236}">
                <a16:creationId xmlns:a16="http://schemas.microsoft.com/office/drawing/2014/main" id="{80992DA7-DDAB-A752-102E-D2A43638EC16}"/>
              </a:ext>
            </a:extLst>
          </p:cNvPr>
          <p:cNvGraphicFramePr>
            <a:graphicFrameLocks noChangeAspect="1"/>
          </p:cNvGraphicFramePr>
          <p:nvPr/>
        </p:nvGraphicFramePr>
        <p:xfrm>
          <a:off x="4808538" y="2249584"/>
          <a:ext cx="654050" cy="341312"/>
        </p:xfrm>
        <a:graphic>
          <a:graphicData uri="http://schemas.openxmlformats.org/presentationml/2006/ole">
            <mc:AlternateContent xmlns:mc="http://schemas.openxmlformats.org/markup-compatibility/2006">
              <mc:Choice xmlns:v="urn:schemas-microsoft-com:vml" Requires="v">
                <p:oleObj name="Equation" r:id="rId4" imgW="342720" imgH="177480" progId="Equation.DSMT4">
                  <p:embed/>
                </p:oleObj>
              </mc:Choice>
              <mc:Fallback>
                <p:oleObj name="Equation" r:id="rId4" imgW="342720" imgH="177480" progId="Equation.DSMT4">
                  <p:embed/>
                  <p:pic>
                    <p:nvPicPr>
                      <p:cNvPr id="3" name="Object 2" descr="t is greater than or equal to 0.&#10;">
                        <a:extLst>
                          <a:ext uri="{FF2B5EF4-FFF2-40B4-BE49-F238E27FC236}">
                            <a16:creationId xmlns:a16="http://schemas.microsoft.com/office/drawing/2014/main" id="{2314125F-99D2-940F-A576-15EA5E2DBDF3}"/>
                          </a:ext>
                        </a:extLst>
                      </p:cNvPr>
                      <p:cNvPicPr>
                        <a:picLocks noChangeAspect="1" noChangeArrowheads="1"/>
                      </p:cNvPicPr>
                      <p:nvPr/>
                    </p:nvPicPr>
                    <p:blipFill>
                      <a:blip r:embed="rId5"/>
                      <a:srcRect/>
                      <a:stretch>
                        <a:fillRect/>
                      </a:stretch>
                    </p:blipFill>
                    <p:spPr bwMode="auto">
                      <a:xfrm>
                        <a:off x="4808538" y="2249584"/>
                        <a:ext cx="65405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758807FC-31E7-BE98-5C56-C2A09B58AE8E}"/>
              </a:ext>
            </a:extLst>
          </p:cNvPr>
          <p:cNvSpPr>
            <a:spLocks noGrp="1"/>
          </p:cNvSpPr>
          <p:nvPr>
            <p:ph sz="quarter" idx="13"/>
          </p:nvPr>
        </p:nvSpPr>
        <p:spPr>
          <a:xfrm>
            <a:off x="438150" y="2827940"/>
            <a:ext cx="3900937" cy="405683"/>
          </a:xfrm>
        </p:spPr>
        <p:txBody>
          <a:bodyPr wrap="square" lIns="0" tIns="18000" rIns="0" bIns="18000" anchor="ctr">
            <a:spAutoFit/>
          </a:bodyPr>
          <a:lstStyle/>
          <a:p>
            <a:pPr marL="0" indent="0">
              <a:spcBef>
                <a:spcPts val="600"/>
              </a:spcBef>
              <a:buNone/>
            </a:pPr>
            <a:r>
              <a:rPr lang="en-US" sz="2400" noProof="0" dirty="0"/>
              <a:t>Therefore, the time constant, </a:t>
            </a:r>
          </a:p>
        </p:txBody>
      </p:sp>
      <p:graphicFrame>
        <p:nvGraphicFramePr>
          <p:cNvPr id="4" name="Object 3" descr="tau.&#10;">
            <a:extLst>
              <a:ext uri="{FF2B5EF4-FFF2-40B4-BE49-F238E27FC236}">
                <a16:creationId xmlns:a16="http://schemas.microsoft.com/office/drawing/2014/main" id="{201C9AE2-8BB8-0001-295C-3A2D5E8DE733}"/>
              </a:ext>
            </a:extLst>
          </p:cNvPr>
          <p:cNvGraphicFramePr>
            <a:graphicFrameLocks noChangeAspect="1"/>
          </p:cNvGraphicFramePr>
          <p:nvPr/>
        </p:nvGraphicFramePr>
        <p:xfrm>
          <a:off x="4390847" y="2966923"/>
          <a:ext cx="244475" cy="266700"/>
        </p:xfrm>
        <a:graphic>
          <a:graphicData uri="http://schemas.openxmlformats.org/presentationml/2006/ole">
            <mc:AlternateContent xmlns:mc="http://schemas.openxmlformats.org/markup-compatibility/2006">
              <mc:Choice xmlns:v="urn:schemas-microsoft-com:vml" Requires="v">
                <p:oleObj name="Equation" r:id="rId6" imgW="152280" imgH="164880" progId="Equation.DSMT4">
                  <p:embed/>
                </p:oleObj>
              </mc:Choice>
              <mc:Fallback>
                <p:oleObj name="Equation" r:id="rId6" imgW="152280" imgH="164880" progId="Equation.DSMT4">
                  <p:embed/>
                  <p:pic>
                    <p:nvPicPr>
                      <p:cNvPr id="4" name="Object 3" descr="tau.&#10;">
                        <a:extLst>
                          <a:ext uri="{FF2B5EF4-FFF2-40B4-BE49-F238E27FC236}">
                            <a16:creationId xmlns:a16="http://schemas.microsoft.com/office/drawing/2014/main" id="{A0B57065-7CF5-86EF-4EC4-CF4F4EF81E3F}"/>
                          </a:ext>
                        </a:extLst>
                      </p:cNvPr>
                      <p:cNvPicPr>
                        <a:picLocks noChangeAspect="1" noChangeArrowheads="1"/>
                      </p:cNvPicPr>
                      <p:nvPr/>
                    </p:nvPicPr>
                    <p:blipFill>
                      <a:blip r:embed="rId7"/>
                      <a:srcRect/>
                      <a:stretch>
                        <a:fillRect/>
                      </a:stretch>
                    </p:blipFill>
                    <p:spPr bwMode="auto">
                      <a:xfrm>
                        <a:off x="4390847" y="2966923"/>
                        <a:ext cx="2444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E73C99D8-7E08-2705-8DD5-9ABC1B099E1B}"/>
              </a:ext>
            </a:extLst>
          </p:cNvPr>
          <p:cNvSpPr>
            <a:spLocks noGrp="1"/>
          </p:cNvSpPr>
          <p:nvPr>
            <p:ph sz="quarter" idx="14"/>
          </p:nvPr>
        </p:nvSpPr>
        <p:spPr>
          <a:xfrm>
            <a:off x="4687082" y="2827940"/>
            <a:ext cx="2546590" cy="405683"/>
          </a:xfrm>
        </p:spPr>
        <p:txBody>
          <a:bodyPr wrap="square" lIns="0" tIns="18000" rIns="0" bIns="18000" anchor="ctr">
            <a:spAutoFit/>
          </a:bodyPr>
          <a:lstStyle/>
          <a:p>
            <a:pPr marL="0" indent="0">
              <a:spcBef>
                <a:spcPts val="600"/>
              </a:spcBef>
              <a:buNone/>
            </a:pPr>
            <a:r>
              <a:rPr lang="en-US" sz="2400" noProof="0" dirty="0"/>
              <a:t>for the </a:t>
            </a:r>
            <a:r>
              <a:rPr lang="en-US" sz="2400" i="1" spc="-300" noProof="0" dirty="0"/>
              <a:t>R </a:t>
            </a:r>
            <a:r>
              <a:rPr lang="en-US" sz="2400" i="1" noProof="0" dirty="0"/>
              <a:t>L</a:t>
            </a:r>
            <a:r>
              <a:rPr lang="en-US" sz="2400" noProof="0" dirty="0"/>
              <a:t> circuit is</a:t>
            </a:r>
          </a:p>
        </p:txBody>
      </p:sp>
      <p:pic>
        <p:nvPicPr>
          <p:cNvPr id="5" name="Picture 3" descr="Cross mark">
            <a:extLst>
              <a:ext uri="{FF2B5EF4-FFF2-40B4-BE49-F238E27FC236}">
                <a16:creationId xmlns:a16="http://schemas.microsoft.com/office/drawing/2014/main" id="{3B95423A-F554-D583-2404-FA9F3F09D82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44472" y="362437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2666D756-FA35-A48A-3FF1-EF1E358A4551}"/>
              </a:ext>
            </a:extLst>
          </p:cNvPr>
          <p:cNvSpPr>
            <a:spLocks noGrp="1"/>
          </p:cNvSpPr>
          <p:nvPr>
            <p:ph sz="quarter" idx="15"/>
          </p:nvPr>
        </p:nvSpPr>
        <p:spPr>
          <a:xfrm>
            <a:off x="1646121" y="3554272"/>
            <a:ext cx="890318"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R/L</a:t>
            </a:r>
          </a:p>
        </p:txBody>
      </p:sp>
      <p:pic>
        <p:nvPicPr>
          <p:cNvPr id="25" name="Picture 3" descr="Cross mark">
            <a:extLst>
              <a:ext uri="{FF2B5EF4-FFF2-40B4-BE49-F238E27FC236}">
                <a16:creationId xmlns:a16="http://schemas.microsoft.com/office/drawing/2014/main" id="{24971B18-51B6-A2E4-BF89-B7079B3200E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44472" y="4117432"/>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903AFB03-D28B-5AF5-020F-373F091B1746}"/>
              </a:ext>
            </a:extLst>
          </p:cNvPr>
          <p:cNvSpPr>
            <a:spLocks noGrp="1"/>
          </p:cNvSpPr>
          <p:nvPr>
            <p:ph sz="quarter" idx="16"/>
          </p:nvPr>
        </p:nvSpPr>
        <p:spPr>
          <a:xfrm>
            <a:off x="1646121" y="4044330"/>
            <a:ext cx="117499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r>
              <a:rPr lang="en-US" sz="2400" i="1" noProof="0" dirty="0"/>
              <a:t>(L/R)t</a:t>
            </a:r>
          </a:p>
        </p:txBody>
      </p:sp>
      <p:pic>
        <p:nvPicPr>
          <p:cNvPr id="26" name="Picture 2" descr="Check mark">
            <a:extLst>
              <a:ext uri="{FF2B5EF4-FFF2-40B4-BE49-F238E27FC236}">
                <a16:creationId xmlns:a16="http://schemas.microsoft.com/office/drawing/2014/main" id="{C7E6A7E4-4441-00C6-198C-4AD9F3C46FF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46443" y="4610486"/>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D09F3669-B46F-0920-C5B1-5BCF41440648}"/>
              </a:ext>
            </a:extLst>
          </p:cNvPr>
          <p:cNvSpPr>
            <a:spLocks noGrp="1"/>
          </p:cNvSpPr>
          <p:nvPr>
            <p:ph sz="quarter" idx="17"/>
          </p:nvPr>
        </p:nvSpPr>
        <p:spPr>
          <a:xfrm>
            <a:off x="1646121" y="4534388"/>
            <a:ext cx="1200869"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r>
              <a:rPr lang="en-US" sz="2400" i="1" noProof="0" dirty="0"/>
              <a:t>(L/R)</a:t>
            </a:r>
          </a:p>
        </p:txBody>
      </p:sp>
    </p:spTree>
    <p:extLst>
      <p:ext uri="{BB962C8B-B14F-4D97-AF65-F5344CB8AC3E}">
        <p14:creationId xmlns:p14="http://schemas.microsoft.com/office/powerpoint/2010/main" val="360641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9669" y="220247"/>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1035</TotalTime>
  <Words>1352</Words>
  <Application>Microsoft Office PowerPoint</Application>
  <PresentationFormat>On-screen Show (4:3)</PresentationFormat>
  <Paragraphs>168</Paragraphs>
  <Slides>25</Slides>
  <Notes>3</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1" baseType="lpstr">
      <vt:lpstr>Arial</vt:lpstr>
      <vt:lpstr>Verdana</vt:lpstr>
      <vt:lpstr>Times New Roman</vt:lpstr>
      <vt:lpstr>USHE</vt:lpstr>
      <vt:lpstr>USHE_slide options</vt:lpstr>
      <vt:lpstr>Equation</vt:lpstr>
      <vt:lpstr>Electric Circuits</vt:lpstr>
      <vt:lpstr>Chapter 7 – Response of First-Order R L/R C Circuits</vt:lpstr>
      <vt:lpstr>Chapter 7 – R L Natural Response      (1 of 7)</vt:lpstr>
      <vt:lpstr>Chapter 7 – R L Natural Response      (2 of 7)</vt:lpstr>
      <vt:lpstr>Chapter 7 – R L Natural Response      (3 of 7)</vt:lpstr>
      <vt:lpstr>Chapter 7 – R L Natural Response      (3 of 7)</vt:lpstr>
      <vt:lpstr>Chapter 7 – R L Natural Response      (4 of 7)</vt:lpstr>
      <vt:lpstr>Chapter 7 – R L Natural Response      (5 of 7)</vt:lpstr>
      <vt:lpstr>Chapter 7 – R L Natural Response      (5 of 7)</vt:lpstr>
      <vt:lpstr>Chapter 7 – R L Natural Response      (6 of 7)</vt:lpstr>
      <vt:lpstr>Chapter 7 – R L Natural Response      (6 of 7)</vt:lpstr>
      <vt:lpstr>Chapter 7 – R L Natural Response      (7 of 7)</vt:lpstr>
      <vt:lpstr>Chapter 7 – R C Natural Response      (1 of 5)</vt:lpstr>
      <vt:lpstr>Chapter 7 – R C Natural Response      (2 of 5)</vt:lpstr>
      <vt:lpstr>Chapter 7 – R C Natural Response      (2 of 5)</vt:lpstr>
      <vt:lpstr>Chapter 7 – R C Natural Response      (3 of 5)</vt:lpstr>
      <vt:lpstr>Chapter 7 – R C Natural Response      (3 of 5)</vt:lpstr>
      <vt:lpstr>Chapter 7 – R C Natural Response      (4 of 5)</vt:lpstr>
      <vt:lpstr>Chapter 7 – R C Natural Response      (5 of 5)</vt:lpstr>
      <vt:lpstr>PowerPoint Presentation</vt:lpstr>
      <vt:lpstr>Chapter 7 – R L/R C Natural Response (2 of 3)</vt:lpstr>
      <vt:lpstr>Chapter 7 – R L/R C Natural Response (2 of 3)</vt:lpstr>
      <vt:lpstr>Chapter 7 – R L/R C Natural Response        (3 of 3)</vt:lpstr>
      <vt:lpstr>Chapter 7 – R L/R C Natural Response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7 – Part 1</dc:title>
  <dc:subject>Engineering</dc:subject>
  <dc:creator>Nilsson and Riedel</dc:creator>
  <cp:keywords/>
  <dc:description/>
  <cp:lastModifiedBy>kml erd</cp:lastModifiedBy>
  <cp:revision>233</cp:revision>
  <dcterms:modified xsi:type="dcterms:W3CDTF">2025-12-15T10:52:33Z</dcterms:modified>
</cp:coreProperties>
</file>