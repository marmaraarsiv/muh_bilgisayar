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56" r:id="rId2"/>
    <p:sldId id="257" r:id="rId3"/>
    <p:sldId id="289" r:id="rId4"/>
    <p:sldId id="368" r:id="rId5"/>
    <p:sldId id="290" r:id="rId6"/>
    <p:sldId id="369" r:id="rId7"/>
    <p:sldId id="370" r:id="rId8"/>
    <p:sldId id="371" r:id="rId9"/>
    <p:sldId id="720" r:id="rId10"/>
    <p:sldId id="719" r:id="rId11"/>
    <p:sldId id="309" r:id="rId12"/>
    <p:sldId id="310" r:id="rId13"/>
    <p:sldId id="311" r:id="rId14"/>
    <p:sldId id="313" r:id="rId15"/>
    <p:sldId id="314" r:id="rId16"/>
    <p:sldId id="312" r:id="rId17"/>
    <p:sldId id="315" r:id="rId18"/>
    <p:sldId id="319" r:id="rId19"/>
    <p:sldId id="318" r:id="rId20"/>
    <p:sldId id="320" r:id="rId21"/>
    <p:sldId id="317" r:id="rId22"/>
    <p:sldId id="316" r:id="rId23"/>
    <p:sldId id="322" r:id="rId24"/>
    <p:sldId id="327" r:id="rId25"/>
    <p:sldId id="326" r:id="rId26"/>
    <p:sldId id="325" r:id="rId27"/>
    <p:sldId id="329" r:id="rId28"/>
    <p:sldId id="328" r:id="rId29"/>
    <p:sldId id="336" r:id="rId30"/>
    <p:sldId id="335" r:id="rId31"/>
    <p:sldId id="334" r:id="rId32"/>
    <p:sldId id="332" r:id="rId33"/>
    <p:sldId id="331" r:id="rId34"/>
    <p:sldId id="330" r:id="rId35"/>
    <p:sldId id="341" r:id="rId36"/>
    <p:sldId id="340" r:id="rId37"/>
    <p:sldId id="339" r:id="rId38"/>
    <p:sldId id="338" r:id="rId39"/>
    <p:sldId id="344" r:id="rId40"/>
    <p:sldId id="343" r:id="rId41"/>
    <p:sldId id="342" r:id="rId42"/>
    <p:sldId id="337" r:id="rId43"/>
    <p:sldId id="718" r:id="rId44"/>
    <p:sldId id="721" r:id="rId45"/>
    <p:sldId id="722" r:id="rId46"/>
    <p:sldId id="723" r:id="rId47"/>
    <p:sldId id="724" r:id="rId48"/>
    <p:sldId id="725" r:id="rId49"/>
    <p:sldId id="726" r:id="rId50"/>
    <p:sldId id="727" r:id="rId51"/>
    <p:sldId id="728" r:id="rId52"/>
    <p:sldId id="729" r:id="rId53"/>
    <p:sldId id="730" r:id="rId54"/>
    <p:sldId id="345" r:id="rId55"/>
    <p:sldId id="732" r:id="rId56"/>
    <p:sldId id="734" r:id="rId57"/>
    <p:sldId id="735" r:id="rId58"/>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456"/>
    <p:restoredTop sz="95872"/>
  </p:normalViewPr>
  <p:slideViewPr>
    <p:cSldViewPr>
      <p:cViewPr varScale="1">
        <p:scale>
          <a:sx n="216" d="100"/>
          <a:sy n="216" d="100"/>
        </p:scale>
        <p:origin x="944" y="176"/>
      </p:cViewPr>
      <p:guideLst>
        <p:guide orient="horz" pos="2880"/>
        <p:guide pos="2160"/>
      </p:guideLst>
    </p:cSldViewPr>
  </p:slideViewPr>
  <p:outlineViewPr>
    <p:cViewPr>
      <p:scale>
        <a:sx n="33" d="100"/>
        <a:sy n="33" d="100"/>
      </p:scale>
      <p:origin x="0" y="-341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F6B63681-5468-F14A-8D2C-23F24D433609}" type="datetimeFigureOut">
              <a:rPr lang="en-US" smtClean="0"/>
              <a:t>9/27/25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132DD88E-2E6C-C341-B2D0-12B811A95010}" type="slidenum">
              <a:rPr lang="en-US" smtClean="0"/>
              <a:t>‹#›</a:t>
            </a:fld>
            <a:endParaRPr lang="en-US"/>
          </a:p>
        </p:txBody>
      </p:sp>
    </p:spTree>
    <p:extLst>
      <p:ext uri="{BB962C8B-B14F-4D97-AF65-F5344CB8AC3E}">
        <p14:creationId xmlns:p14="http://schemas.microsoft.com/office/powerpoint/2010/main" val="188913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2</a:t>
            </a:fld>
            <a:endParaRPr lang="en-US"/>
          </a:p>
        </p:txBody>
      </p:sp>
    </p:spTree>
    <p:extLst>
      <p:ext uri="{BB962C8B-B14F-4D97-AF65-F5344CB8AC3E}">
        <p14:creationId xmlns:p14="http://schemas.microsoft.com/office/powerpoint/2010/main" val="756580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10</a:t>
            </a:fld>
            <a:endParaRPr lang="en-US"/>
          </a:p>
        </p:txBody>
      </p:sp>
    </p:spTree>
    <p:extLst>
      <p:ext uri="{BB962C8B-B14F-4D97-AF65-F5344CB8AC3E}">
        <p14:creationId xmlns:p14="http://schemas.microsoft.com/office/powerpoint/2010/main" val="392965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11</a:t>
            </a:fld>
            <a:endParaRPr lang="en-US"/>
          </a:p>
        </p:txBody>
      </p:sp>
    </p:spTree>
    <p:extLst>
      <p:ext uri="{BB962C8B-B14F-4D97-AF65-F5344CB8AC3E}">
        <p14:creationId xmlns:p14="http://schemas.microsoft.com/office/powerpoint/2010/main" val="3662244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12</a:t>
            </a:fld>
            <a:endParaRPr lang="en-US"/>
          </a:p>
        </p:txBody>
      </p:sp>
    </p:spTree>
    <p:extLst>
      <p:ext uri="{BB962C8B-B14F-4D97-AF65-F5344CB8AC3E}">
        <p14:creationId xmlns:p14="http://schemas.microsoft.com/office/powerpoint/2010/main" val="3297364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13</a:t>
            </a:fld>
            <a:endParaRPr lang="en-US"/>
          </a:p>
        </p:txBody>
      </p:sp>
    </p:spTree>
    <p:extLst>
      <p:ext uri="{BB962C8B-B14F-4D97-AF65-F5344CB8AC3E}">
        <p14:creationId xmlns:p14="http://schemas.microsoft.com/office/powerpoint/2010/main" val="2991945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14</a:t>
            </a:fld>
            <a:endParaRPr lang="en-US"/>
          </a:p>
        </p:txBody>
      </p:sp>
    </p:spTree>
    <p:extLst>
      <p:ext uri="{BB962C8B-B14F-4D97-AF65-F5344CB8AC3E}">
        <p14:creationId xmlns:p14="http://schemas.microsoft.com/office/powerpoint/2010/main" val="4171137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15</a:t>
            </a:fld>
            <a:endParaRPr lang="en-US"/>
          </a:p>
        </p:txBody>
      </p:sp>
    </p:spTree>
    <p:extLst>
      <p:ext uri="{BB962C8B-B14F-4D97-AF65-F5344CB8AC3E}">
        <p14:creationId xmlns:p14="http://schemas.microsoft.com/office/powerpoint/2010/main" val="1521509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16</a:t>
            </a:fld>
            <a:endParaRPr lang="en-US"/>
          </a:p>
        </p:txBody>
      </p:sp>
    </p:spTree>
    <p:extLst>
      <p:ext uri="{BB962C8B-B14F-4D97-AF65-F5344CB8AC3E}">
        <p14:creationId xmlns:p14="http://schemas.microsoft.com/office/powerpoint/2010/main" val="1003577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17</a:t>
            </a:fld>
            <a:endParaRPr lang="en-US"/>
          </a:p>
        </p:txBody>
      </p:sp>
    </p:spTree>
    <p:extLst>
      <p:ext uri="{BB962C8B-B14F-4D97-AF65-F5344CB8AC3E}">
        <p14:creationId xmlns:p14="http://schemas.microsoft.com/office/powerpoint/2010/main" val="2193747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18</a:t>
            </a:fld>
            <a:endParaRPr lang="en-US"/>
          </a:p>
        </p:txBody>
      </p:sp>
    </p:spTree>
    <p:extLst>
      <p:ext uri="{BB962C8B-B14F-4D97-AF65-F5344CB8AC3E}">
        <p14:creationId xmlns:p14="http://schemas.microsoft.com/office/powerpoint/2010/main" val="2781231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19</a:t>
            </a:fld>
            <a:endParaRPr lang="en-US"/>
          </a:p>
        </p:txBody>
      </p:sp>
    </p:spTree>
    <p:extLst>
      <p:ext uri="{BB962C8B-B14F-4D97-AF65-F5344CB8AC3E}">
        <p14:creationId xmlns:p14="http://schemas.microsoft.com/office/powerpoint/2010/main" val="621929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20</a:t>
            </a:fld>
            <a:endParaRPr lang="en-US"/>
          </a:p>
        </p:txBody>
      </p:sp>
    </p:spTree>
    <p:extLst>
      <p:ext uri="{BB962C8B-B14F-4D97-AF65-F5344CB8AC3E}">
        <p14:creationId xmlns:p14="http://schemas.microsoft.com/office/powerpoint/2010/main" val="800445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21</a:t>
            </a:fld>
            <a:endParaRPr lang="en-US"/>
          </a:p>
        </p:txBody>
      </p:sp>
    </p:spTree>
    <p:extLst>
      <p:ext uri="{BB962C8B-B14F-4D97-AF65-F5344CB8AC3E}">
        <p14:creationId xmlns:p14="http://schemas.microsoft.com/office/powerpoint/2010/main" val="3260952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DD88E-2E6C-C341-B2D0-12B811A95010}" type="slidenum">
              <a:rPr lang="en-US" smtClean="0"/>
              <a:t>22</a:t>
            </a:fld>
            <a:endParaRPr lang="en-US"/>
          </a:p>
        </p:txBody>
      </p:sp>
    </p:spTree>
    <p:extLst>
      <p:ext uri="{BB962C8B-B14F-4D97-AF65-F5344CB8AC3E}">
        <p14:creationId xmlns:p14="http://schemas.microsoft.com/office/powerpoint/2010/main" val="1439490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8472D-074F-5E15-BDB0-AD5F3BA67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77CB5-3545-B859-D32E-89D2D0B33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3FB4C-3125-BCD3-7A73-520471F34B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C0A36F-BDE5-F1C8-6A8B-467F88DC38A2}"/>
              </a:ext>
            </a:extLst>
          </p:cNvPr>
          <p:cNvSpPr>
            <a:spLocks noGrp="1"/>
          </p:cNvSpPr>
          <p:nvPr>
            <p:ph type="sldNum" sz="quarter" idx="5"/>
          </p:nvPr>
        </p:nvSpPr>
        <p:spPr/>
        <p:txBody>
          <a:bodyPr/>
          <a:lstStyle/>
          <a:p>
            <a:fld id="{132DD88E-2E6C-C341-B2D0-12B811A95010}" type="slidenum">
              <a:rPr lang="en-US" smtClean="0"/>
              <a:t>23</a:t>
            </a:fld>
            <a:endParaRPr lang="en-US"/>
          </a:p>
        </p:txBody>
      </p:sp>
    </p:spTree>
    <p:extLst>
      <p:ext uri="{BB962C8B-B14F-4D97-AF65-F5344CB8AC3E}">
        <p14:creationId xmlns:p14="http://schemas.microsoft.com/office/powerpoint/2010/main" val="2435082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141A8-1B24-0671-BD11-80D769C22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49988-D0C8-940A-F49D-178CFDCB4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193DA-05B7-AE8F-10DF-D3BC28F296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E05CEF-1672-63EF-BC46-6897A26BFBB5}"/>
              </a:ext>
            </a:extLst>
          </p:cNvPr>
          <p:cNvSpPr>
            <a:spLocks noGrp="1"/>
          </p:cNvSpPr>
          <p:nvPr>
            <p:ph type="sldNum" sz="quarter" idx="5"/>
          </p:nvPr>
        </p:nvSpPr>
        <p:spPr/>
        <p:txBody>
          <a:bodyPr/>
          <a:lstStyle/>
          <a:p>
            <a:fld id="{132DD88E-2E6C-C341-B2D0-12B811A95010}" type="slidenum">
              <a:rPr lang="en-US" smtClean="0"/>
              <a:t>24</a:t>
            </a:fld>
            <a:endParaRPr lang="en-US"/>
          </a:p>
        </p:txBody>
      </p:sp>
    </p:spTree>
    <p:extLst>
      <p:ext uri="{BB962C8B-B14F-4D97-AF65-F5344CB8AC3E}">
        <p14:creationId xmlns:p14="http://schemas.microsoft.com/office/powerpoint/2010/main" val="29958832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E8AB4-5DB5-31BE-76E8-248D9E95F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A4D65-CD0F-A563-644E-21E7A9E9D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0D05-A797-E8A9-9989-3FC73D04A5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4F9A4B-326E-A4E5-3274-4F2D3ED5AF1C}"/>
              </a:ext>
            </a:extLst>
          </p:cNvPr>
          <p:cNvSpPr>
            <a:spLocks noGrp="1"/>
          </p:cNvSpPr>
          <p:nvPr>
            <p:ph type="sldNum" sz="quarter" idx="5"/>
          </p:nvPr>
        </p:nvSpPr>
        <p:spPr/>
        <p:txBody>
          <a:bodyPr/>
          <a:lstStyle/>
          <a:p>
            <a:fld id="{132DD88E-2E6C-C341-B2D0-12B811A95010}" type="slidenum">
              <a:rPr lang="en-US" smtClean="0"/>
              <a:t>25</a:t>
            </a:fld>
            <a:endParaRPr lang="en-US"/>
          </a:p>
        </p:txBody>
      </p:sp>
    </p:spTree>
    <p:extLst>
      <p:ext uri="{BB962C8B-B14F-4D97-AF65-F5344CB8AC3E}">
        <p14:creationId xmlns:p14="http://schemas.microsoft.com/office/powerpoint/2010/main" val="766054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EC612-69CA-DC83-82A8-7B66645D4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26322-BD06-D362-670E-50F35E4D2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F0FAB2-B807-8AA1-9296-34ED286B91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0930B5-38AC-5CE7-C091-8F94943951D5}"/>
              </a:ext>
            </a:extLst>
          </p:cNvPr>
          <p:cNvSpPr>
            <a:spLocks noGrp="1"/>
          </p:cNvSpPr>
          <p:nvPr>
            <p:ph type="sldNum" sz="quarter" idx="5"/>
          </p:nvPr>
        </p:nvSpPr>
        <p:spPr/>
        <p:txBody>
          <a:bodyPr/>
          <a:lstStyle/>
          <a:p>
            <a:fld id="{132DD88E-2E6C-C341-B2D0-12B811A95010}" type="slidenum">
              <a:rPr lang="en-US" smtClean="0"/>
              <a:t>26</a:t>
            </a:fld>
            <a:endParaRPr lang="en-US"/>
          </a:p>
        </p:txBody>
      </p:sp>
    </p:spTree>
    <p:extLst>
      <p:ext uri="{BB962C8B-B14F-4D97-AF65-F5344CB8AC3E}">
        <p14:creationId xmlns:p14="http://schemas.microsoft.com/office/powerpoint/2010/main" val="1918288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F07EA-92B0-ACDD-B495-053975C74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FF5D0-EBFC-5ECB-013B-7336DB29C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310E3-7AA7-6B67-E194-DFBBD5109A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608BBA-7F8B-3D75-81C5-7E442F48342B}"/>
              </a:ext>
            </a:extLst>
          </p:cNvPr>
          <p:cNvSpPr>
            <a:spLocks noGrp="1"/>
          </p:cNvSpPr>
          <p:nvPr>
            <p:ph type="sldNum" sz="quarter" idx="5"/>
          </p:nvPr>
        </p:nvSpPr>
        <p:spPr/>
        <p:txBody>
          <a:bodyPr/>
          <a:lstStyle/>
          <a:p>
            <a:fld id="{132DD88E-2E6C-C341-B2D0-12B811A95010}" type="slidenum">
              <a:rPr lang="en-US" smtClean="0"/>
              <a:t>27</a:t>
            </a:fld>
            <a:endParaRPr lang="en-US"/>
          </a:p>
        </p:txBody>
      </p:sp>
    </p:spTree>
    <p:extLst>
      <p:ext uri="{BB962C8B-B14F-4D97-AF65-F5344CB8AC3E}">
        <p14:creationId xmlns:p14="http://schemas.microsoft.com/office/powerpoint/2010/main" val="20977191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50F4B-6665-E2E4-1ABC-6BB15A4F7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35C18-AFBE-1BF7-B522-4B4C9DE97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2B1C5-C76E-2DB3-6483-0B7DF2D085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B12102-E07B-8243-55C6-8A62A26B7499}"/>
              </a:ext>
            </a:extLst>
          </p:cNvPr>
          <p:cNvSpPr>
            <a:spLocks noGrp="1"/>
          </p:cNvSpPr>
          <p:nvPr>
            <p:ph type="sldNum" sz="quarter" idx="5"/>
          </p:nvPr>
        </p:nvSpPr>
        <p:spPr/>
        <p:txBody>
          <a:bodyPr/>
          <a:lstStyle/>
          <a:p>
            <a:fld id="{132DD88E-2E6C-C341-B2D0-12B811A95010}" type="slidenum">
              <a:rPr lang="en-US" smtClean="0"/>
              <a:t>28</a:t>
            </a:fld>
            <a:endParaRPr lang="en-US"/>
          </a:p>
        </p:txBody>
      </p:sp>
    </p:spTree>
    <p:extLst>
      <p:ext uri="{BB962C8B-B14F-4D97-AF65-F5344CB8AC3E}">
        <p14:creationId xmlns:p14="http://schemas.microsoft.com/office/powerpoint/2010/main" val="3732548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6BA47-72DB-A824-5AF1-4374F3F3C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CB1A5-F54D-B28A-5397-8968BFC75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C062E9-2352-8A91-1F9C-136E7CA4B5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283E4F-1A98-A3C0-708D-5F62C0C8A9BF}"/>
              </a:ext>
            </a:extLst>
          </p:cNvPr>
          <p:cNvSpPr>
            <a:spLocks noGrp="1"/>
          </p:cNvSpPr>
          <p:nvPr>
            <p:ph type="sldNum" sz="quarter" idx="5"/>
          </p:nvPr>
        </p:nvSpPr>
        <p:spPr/>
        <p:txBody>
          <a:bodyPr/>
          <a:lstStyle/>
          <a:p>
            <a:fld id="{132DD88E-2E6C-C341-B2D0-12B811A95010}" type="slidenum">
              <a:rPr lang="en-US" smtClean="0"/>
              <a:t>29</a:t>
            </a:fld>
            <a:endParaRPr lang="en-US"/>
          </a:p>
        </p:txBody>
      </p:sp>
    </p:spTree>
    <p:extLst>
      <p:ext uri="{BB962C8B-B14F-4D97-AF65-F5344CB8AC3E}">
        <p14:creationId xmlns:p14="http://schemas.microsoft.com/office/powerpoint/2010/main" val="39420194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3D043-409D-415F-DB85-C99D6FEB9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6424F-4AC3-F97C-415B-5EB09976D8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D5F61-9283-F1D9-C278-CE7083EF98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04F2E1-F930-D36E-B979-0E896392CCFE}"/>
              </a:ext>
            </a:extLst>
          </p:cNvPr>
          <p:cNvSpPr>
            <a:spLocks noGrp="1"/>
          </p:cNvSpPr>
          <p:nvPr>
            <p:ph type="sldNum" sz="quarter" idx="5"/>
          </p:nvPr>
        </p:nvSpPr>
        <p:spPr/>
        <p:txBody>
          <a:bodyPr/>
          <a:lstStyle/>
          <a:p>
            <a:fld id="{132DD88E-2E6C-C341-B2D0-12B811A95010}" type="slidenum">
              <a:rPr lang="en-US" smtClean="0"/>
              <a:t>30</a:t>
            </a:fld>
            <a:endParaRPr lang="en-US"/>
          </a:p>
        </p:txBody>
      </p:sp>
    </p:spTree>
    <p:extLst>
      <p:ext uri="{BB962C8B-B14F-4D97-AF65-F5344CB8AC3E}">
        <p14:creationId xmlns:p14="http://schemas.microsoft.com/office/powerpoint/2010/main" val="16228075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3E737-C084-149F-34C7-EA305A135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87FCE-AF40-D71C-D140-C34889602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A8AEC-0EBC-C13A-0B61-521C324C2E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2991D0-8652-39FD-C229-4F7F5EABA4A2}"/>
              </a:ext>
            </a:extLst>
          </p:cNvPr>
          <p:cNvSpPr>
            <a:spLocks noGrp="1"/>
          </p:cNvSpPr>
          <p:nvPr>
            <p:ph type="sldNum" sz="quarter" idx="5"/>
          </p:nvPr>
        </p:nvSpPr>
        <p:spPr/>
        <p:txBody>
          <a:bodyPr/>
          <a:lstStyle/>
          <a:p>
            <a:fld id="{132DD88E-2E6C-C341-B2D0-12B811A95010}" type="slidenum">
              <a:rPr lang="en-US" smtClean="0"/>
              <a:t>31</a:t>
            </a:fld>
            <a:endParaRPr lang="en-US"/>
          </a:p>
        </p:txBody>
      </p:sp>
    </p:spTree>
    <p:extLst>
      <p:ext uri="{BB962C8B-B14F-4D97-AF65-F5344CB8AC3E}">
        <p14:creationId xmlns:p14="http://schemas.microsoft.com/office/powerpoint/2010/main" val="1587971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D22E3-FBF6-5575-E693-9C8723F24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30F20-A0FB-EEED-928F-ED579B78A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0B96A-2DD6-3E3F-E2CD-6EB65D575D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A037C5-538A-F47A-ADE2-1A0DC2A364F5}"/>
              </a:ext>
            </a:extLst>
          </p:cNvPr>
          <p:cNvSpPr>
            <a:spLocks noGrp="1"/>
          </p:cNvSpPr>
          <p:nvPr>
            <p:ph type="sldNum" sz="quarter" idx="5"/>
          </p:nvPr>
        </p:nvSpPr>
        <p:spPr/>
        <p:txBody>
          <a:bodyPr/>
          <a:lstStyle/>
          <a:p>
            <a:fld id="{132DD88E-2E6C-C341-B2D0-12B811A95010}" type="slidenum">
              <a:rPr lang="en-US" smtClean="0"/>
              <a:t>32</a:t>
            </a:fld>
            <a:endParaRPr lang="en-US"/>
          </a:p>
        </p:txBody>
      </p:sp>
    </p:spTree>
    <p:extLst>
      <p:ext uri="{BB962C8B-B14F-4D97-AF65-F5344CB8AC3E}">
        <p14:creationId xmlns:p14="http://schemas.microsoft.com/office/powerpoint/2010/main" val="13185350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0B094-59FA-8122-3BCE-AC0F07405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6BD0A-FE20-BE2C-6F16-B486A47CEE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F9603-E016-96A0-6B76-74AA8B062B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DE7424-514D-8344-231A-17CBA6FBB5E7}"/>
              </a:ext>
            </a:extLst>
          </p:cNvPr>
          <p:cNvSpPr>
            <a:spLocks noGrp="1"/>
          </p:cNvSpPr>
          <p:nvPr>
            <p:ph type="sldNum" sz="quarter" idx="5"/>
          </p:nvPr>
        </p:nvSpPr>
        <p:spPr/>
        <p:txBody>
          <a:bodyPr/>
          <a:lstStyle/>
          <a:p>
            <a:fld id="{132DD88E-2E6C-C341-B2D0-12B811A95010}" type="slidenum">
              <a:rPr lang="en-US" smtClean="0"/>
              <a:t>33</a:t>
            </a:fld>
            <a:endParaRPr lang="en-US"/>
          </a:p>
        </p:txBody>
      </p:sp>
    </p:spTree>
    <p:extLst>
      <p:ext uri="{BB962C8B-B14F-4D97-AF65-F5344CB8AC3E}">
        <p14:creationId xmlns:p14="http://schemas.microsoft.com/office/powerpoint/2010/main" val="18556131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63DA3-A1C6-5948-FA70-BACF0965E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D2904-07D6-5A7B-729E-B8995A4D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7142C3-76D8-10EB-6FA3-4A8472A418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662433-8E13-7335-371F-2EB974FABE83}"/>
              </a:ext>
            </a:extLst>
          </p:cNvPr>
          <p:cNvSpPr>
            <a:spLocks noGrp="1"/>
          </p:cNvSpPr>
          <p:nvPr>
            <p:ph type="sldNum" sz="quarter" idx="5"/>
          </p:nvPr>
        </p:nvSpPr>
        <p:spPr/>
        <p:txBody>
          <a:bodyPr/>
          <a:lstStyle/>
          <a:p>
            <a:fld id="{132DD88E-2E6C-C341-B2D0-12B811A95010}" type="slidenum">
              <a:rPr lang="en-US" smtClean="0"/>
              <a:t>34</a:t>
            </a:fld>
            <a:endParaRPr lang="en-US"/>
          </a:p>
        </p:txBody>
      </p:sp>
    </p:spTree>
    <p:extLst>
      <p:ext uri="{BB962C8B-B14F-4D97-AF65-F5344CB8AC3E}">
        <p14:creationId xmlns:p14="http://schemas.microsoft.com/office/powerpoint/2010/main" val="1344059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D09A-4FD1-2C4B-4C23-000491ECA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C8765-BE56-AD78-A029-C94776E67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FD4F3-B437-38B6-243A-EFE90D0A3F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6D041B-E2AE-E3AB-E147-0C5ADF1D79FE}"/>
              </a:ext>
            </a:extLst>
          </p:cNvPr>
          <p:cNvSpPr>
            <a:spLocks noGrp="1"/>
          </p:cNvSpPr>
          <p:nvPr>
            <p:ph type="sldNum" sz="quarter" idx="5"/>
          </p:nvPr>
        </p:nvSpPr>
        <p:spPr/>
        <p:txBody>
          <a:bodyPr/>
          <a:lstStyle/>
          <a:p>
            <a:fld id="{132DD88E-2E6C-C341-B2D0-12B811A95010}" type="slidenum">
              <a:rPr lang="en-US" smtClean="0"/>
              <a:t>35</a:t>
            </a:fld>
            <a:endParaRPr lang="en-US"/>
          </a:p>
        </p:txBody>
      </p:sp>
    </p:spTree>
    <p:extLst>
      <p:ext uri="{BB962C8B-B14F-4D97-AF65-F5344CB8AC3E}">
        <p14:creationId xmlns:p14="http://schemas.microsoft.com/office/powerpoint/2010/main" val="20612567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92A5F-A160-436B-E210-C41C673BB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02DBB-1369-3630-8AFF-BE9DE6C0B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00AEE-1733-114B-353C-43C064FEC4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7ED86D-B90C-5C85-A0EC-4F651E61ADF3}"/>
              </a:ext>
            </a:extLst>
          </p:cNvPr>
          <p:cNvSpPr>
            <a:spLocks noGrp="1"/>
          </p:cNvSpPr>
          <p:nvPr>
            <p:ph type="sldNum" sz="quarter" idx="5"/>
          </p:nvPr>
        </p:nvSpPr>
        <p:spPr/>
        <p:txBody>
          <a:bodyPr/>
          <a:lstStyle/>
          <a:p>
            <a:fld id="{132DD88E-2E6C-C341-B2D0-12B811A95010}" type="slidenum">
              <a:rPr lang="en-US" smtClean="0"/>
              <a:t>36</a:t>
            </a:fld>
            <a:endParaRPr lang="en-US"/>
          </a:p>
        </p:txBody>
      </p:sp>
    </p:spTree>
    <p:extLst>
      <p:ext uri="{BB962C8B-B14F-4D97-AF65-F5344CB8AC3E}">
        <p14:creationId xmlns:p14="http://schemas.microsoft.com/office/powerpoint/2010/main" val="36189164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758CC-3D39-C9CB-37A1-8470A1F28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702FD-AB07-5D61-D08C-0D4ECD6EF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AC9D4-9BA0-8D5D-F845-C7CF16255C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A44C21-A8EE-93B1-A9C8-FD052397CB18}"/>
              </a:ext>
            </a:extLst>
          </p:cNvPr>
          <p:cNvSpPr>
            <a:spLocks noGrp="1"/>
          </p:cNvSpPr>
          <p:nvPr>
            <p:ph type="sldNum" sz="quarter" idx="5"/>
          </p:nvPr>
        </p:nvSpPr>
        <p:spPr/>
        <p:txBody>
          <a:bodyPr/>
          <a:lstStyle/>
          <a:p>
            <a:fld id="{132DD88E-2E6C-C341-B2D0-12B811A95010}" type="slidenum">
              <a:rPr lang="en-US" smtClean="0"/>
              <a:t>37</a:t>
            </a:fld>
            <a:endParaRPr lang="en-US"/>
          </a:p>
        </p:txBody>
      </p:sp>
    </p:spTree>
    <p:extLst>
      <p:ext uri="{BB962C8B-B14F-4D97-AF65-F5344CB8AC3E}">
        <p14:creationId xmlns:p14="http://schemas.microsoft.com/office/powerpoint/2010/main" val="39975017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4E7A5-23AE-77EA-B289-EF527754B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1B5D4-A784-DBCA-E3A9-8831A2819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3DC2D-E80B-4659-C391-7681708D46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49FE81-6530-51BC-F90A-28EBC28B7E83}"/>
              </a:ext>
            </a:extLst>
          </p:cNvPr>
          <p:cNvSpPr>
            <a:spLocks noGrp="1"/>
          </p:cNvSpPr>
          <p:nvPr>
            <p:ph type="sldNum" sz="quarter" idx="5"/>
          </p:nvPr>
        </p:nvSpPr>
        <p:spPr/>
        <p:txBody>
          <a:bodyPr/>
          <a:lstStyle/>
          <a:p>
            <a:fld id="{132DD88E-2E6C-C341-B2D0-12B811A95010}" type="slidenum">
              <a:rPr lang="en-US" smtClean="0"/>
              <a:t>38</a:t>
            </a:fld>
            <a:endParaRPr lang="en-US"/>
          </a:p>
        </p:txBody>
      </p:sp>
    </p:spTree>
    <p:extLst>
      <p:ext uri="{BB962C8B-B14F-4D97-AF65-F5344CB8AC3E}">
        <p14:creationId xmlns:p14="http://schemas.microsoft.com/office/powerpoint/2010/main" val="2041636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2A96D-17C7-9EF2-2085-ED9541646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D81AB-8535-0401-489F-A59F372C89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712FB7-F24B-0A58-6815-99AAAE2D6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B83311-8FDA-0884-D939-DEBC0B489F98}"/>
              </a:ext>
            </a:extLst>
          </p:cNvPr>
          <p:cNvSpPr>
            <a:spLocks noGrp="1"/>
          </p:cNvSpPr>
          <p:nvPr>
            <p:ph type="sldNum" sz="quarter" idx="5"/>
          </p:nvPr>
        </p:nvSpPr>
        <p:spPr/>
        <p:txBody>
          <a:bodyPr/>
          <a:lstStyle/>
          <a:p>
            <a:fld id="{132DD88E-2E6C-C341-B2D0-12B811A95010}" type="slidenum">
              <a:rPr lang="en-US" smtClean="0"/>
              <a:t>39</a:t>
            </a:fld>
            <a:endParaRPr lang="en-US"/>
          </a:p>
        </p:txBody>
      </p:sp>
    </p:spTree>
    <p:extLst>
      <p:ext uri="{BB962C8B-B14F-4D97-AF65-F5344CB8AC3E}">
        <p14:creationId xmlns:p14="http://schemas.microsoft.com/office/powerpoint/2010/main" val="2312817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96756-4A2C-EB94-1643-808247F73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30507-FDA0-9DF5-8D0F-5D108E5612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590F0-691F-139E-107A-0746A659FF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6D195A-658C-CC09-81EC-9B8211A77DC4}"/>
              </a:ext>
            </a:extLst>
          </p:cNvPr>
          <p:cNvSpPr>
            <a:spLocks noGrp="1"/>
          </p:cNvSpPr>
          <p:nvPr>
            <p:ph type="sldNum" sz="quarter" idx="5"/>
          </p:nvPr>
        </p:nvSpPr>
        <p:spPr/>
        <p:txBody>
          <a:bodyPr/>
          <a:lstStyle/>
          <a:p>
            <a:fld id="{132DD88E-2E6C-C341-B2D0-12B811A95010}" type="slidenum">
              <a:rPr lang="en-US" smtClean="0"/>
              <a:t>40</a:t>
            </a:fld>
            <a:endParaRPr lang="en-US"/>
          </a:p>
        </p:txBody>
      </p:sp>
    </p:spTree>
    <p:extLst>
      <p:ext uri="{BB962C8B-B14F-4D97-AF65-F5344CB8AC3E}">
        <p14:creationId xmlns:p14="http://schemas.microsoft.com/office/powerpoint/2010/main" val="31527166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3774B-83AF-EAB8-DCBF-6461B2ABB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6802B-5600-A26D-CE5A-78C5DEC87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48FDC-3C95-33CA-89B4-DDEB3C7C11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2D2E5B-4F00-E77D-D68F-724FFC7C1BFC}"/>
              </a:ext>
            </a:extLst>
          </p:cNvPr>
          <p:cNvSpPr>
            <a:spLocks noGrp="1"/>
          </p:cNvSpPr>
          <p:nvPr>
            <p:ph type="sldNum" sz="quarter" idx="5"/>
          </p:nvPr>
        </p:nvSpPr>
        <p:spPr/>
        <p:txBody>
          <a:bodyPr/>
          <a:lstStyle/>
          <a:p>
            <a:fld id="{132DD88E-2E6C-C341-B2D0-12B811A95010}" type="slidenum">
              <a:rPr lang="en-US" smtClean="0"/>
              <a:t>41</a:t>
            </a:fld>
            <a:endParaRPr lang="en-US"/>
          </a:p>
        </p:txBody>
      </p:sp>
    </p:spTree>
    <p:extLst>
      <p:ext uri="{BB962C8B-B14F-4D97-AF65-F5344CB8AC3E}">
        <p14:creationId xmlns:p14="http://schemas.microsoft.com/office/powerpoint/2010/main" val="4352396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46C90-70B9-3BB5-FFCF-703D88FEA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DC385-3D6B-BE91-F410-C7DF41394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E85C29-B2A7-05E0-0999-A7B43163FE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0C99CA-8EEB-7B90-F79C-B9914240CC0B}"/>
              </a:ext>
            </a:extLst>
          </p:cNvPr>
          <p:cNvSpPr>
            <a:spLocks noGrp="1"/>
          </p:cNvSpPr>
          <p:nvPr>
            <p:ph type="sldNum" sz="quarter" idx="5"/>
          </p:nvPr>
        </p:nvSpPr>
        <p:spPr/>
        <p:txBody>
          <a:bodyPr/>
          <a:lstStyle/>
          <a:p>
            <a:fld id="{132DD88E-2E6C-C341-B2D0-12B811A95010}" type="slidenum">
              <a:rPr lang="en-US" smtClean="0"/>
              <a:t>42</a:t>
            </a:fld>
            <a:endParaRPr lang="en-US"/>
          </a:p>
        </p:txBody>
      </p:sp>
    </p:spTree>
    <p:extLst>
      <p:ext uri="{BB962C8B-B14F-4D97-AF65-F5344CB8AC3E}">
        <p14:creationId xmlns:p14="http://schemas.microsoft.com/office/powerpoint/2010/main" val="759048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a:t>
            </a:r>
          </a:p>
          <a:p>
            <a:r>
              <a:rPr lang="en-US" sz="1200" b="0" i="0" u="none" strike="noStrike" kern="1200" cap="none" noProof="0" dirty="0">
                <a:solidFill>
                  <a:schemeClr val="dk1"/>
                </a:solidFill>
                <a:effectLst/>
                <a:latin typeface="Arial"/>
                <a:ea typeface="Arial"/>
                <a:cs typeface="Arial"/>
                <a:sym typeface="Arial"/>
              </a:rPr>
              <a:t>q subscript total Base Line equals Integral from 0 to infinity of 20 e to the negative 5000 t power d t plus 0 equals Start Fraction 20 over negative 5000 End Fraction e to the negative 5000 t power, evaluation at upper limit infinity and lower limit 0.</a:t>
            </a:r>
            <a:r>
              <a:rPr lang="en-US" noProof="0"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123970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 1:</a:t>
            </a:r>
          </a:p>
          <a:p>
            <a:r>
              <a:rPr lang="en-US" sz="1200" b="0" i="0" u="none" strike="noStrike" kern="1200" cap="none" noProof="0" dirty="0">
                <a:solidFill>
                  <a:schemeClr val="dk1"/>
                </a:solidFill>
                <a:effectLst/>
                <a:latin typeface="Arial"/>
                <a:ea typeface="Arial"/>
                <a:cs typeface="Arial"/>
                <a:sym typeface="Arial"/>
              </a:rPr>
              <a:t>w equals Integral from 0 to infinity Open Parenthesis 20 times e to the negative 5000 t power Close Parenthesis Open Parenthesis 10 to the 4 power times e to the negative 5000 t power Close Parenthesis d t plus 0 equals 2 multiplied by 10 to the 5 power Integral from 0 to infinity of e to the negative 10,000 t power d t.</a:t>
            </a:r>
            <a:r>
              <a:rPr lang="en-US" noProof="0" dirty="0"/>
              <a:t> </a:t>
            </a:r>
          </a:p>
          <a:p>
            <a:endParaRPr lang="en-US" noProof="0" dirty="0"/>
          </a:p>
          <a:p>
            <a:r>
              <a:rPr lang="en-US" noProof="0" dirty="0"/>
              <a:t>Long Description 2:</a:t>
            </a:r>
          </a:p>
          <a:p>
            <a:r>
              <a:rPr lang="en-US" sz="1200" b="0" i="0" u="none" strike="noStrike" kern="1200" cap="none" noProof="0" dirty="0">
                <a:solidFill>
                  <a:schemeClr val="dk1"/>
                </a:solidFill>
                <a:effectLst/>
                <a:latin typeface="Arial"/>
                <a:ea typeface="Arial"/>
                <a:cs typeface="Arial"/>
                <a:sym typeface="Arial"/>
              </a:rPr>
              <a:t>equals Start Fraction 2 multiplied by 10 to the 5 power over negative 10,000 End Fraction e to the negative 10,000 t power Evaluation at the upper limit of infinity and the lower limit of 0 equals Start Fraction 2 multiplied by 10 to the 5 power over negative 10,000 End Fraction Open Parenthesis 0 minus 1 Close Parenthesis equals 20 Joules.</a:t>
            </a:r>
            <a:r>
              <a:rPr lang="en-US" noProof="0"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07907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11835" y="489176"/>
            <a:ext cx="3386429" cy="47180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230505" y="167339"/>
            <a:ext cx="4149090" cy="315659"/>
          </a:xfrm>
        </p:spPr>
        <p:txBody>
          <a:bodyPr lIns="0" tIns="18000" rIns="0" bIns="18000" anchor="ctr" anchorCtr="0">
            <a:spAutoFit/>
          </a:bodyPr>
          <a:lstStyle>
            <a:lvl1pPr>
              <a:defRPr sz="1815">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a:xfrm>
            <a:off x="230505" y="3218497"/>
            <a:ext cx="1060323" cy="276999"/>
          </a:xfrm>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a:xfrm>
            <a:off x="1673466" y="1624149"/>
            <a:ext cx="534580" cy="69891"/>
          </a:xfrm>
        </p:spPr>
        <p:txBody>
          <a:bodyPr/>
          <a:lstStyle/>
          <a:p>
            <a:pPr rtl="0">
              <a:buSzPct val="25000"/>
            </a:pPr>
            <a:fld id="{00000000-1234-1234-1234-123412341234}" type="slidenum">
              <a:rPr lang="en-US" sz="454" smtClean="0">
                <a:solidFill>
                  <a:schemeClr val="lt1"/>
                </a:solidFill>
                <a:latin typeface="Arial"/>
                <a:ea typeface="Arial"/>
                <a:cs typeface="Arial"/>
                <a:sym typeface="Arial"/>
              </a:rPr>
              <a:pPr rtl="0">
                <a:buSzPct val="25000"/>
              </a:pPr>
              <a:t>‹#›</a:t>
            </a:fld>
            <a:endParaRPr lang="en-US" sz="454">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230505" y="569582"/>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230505" y="867591"/>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230505" y="1165600"/>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230505" y="1463609"/>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230505" y="1757306"/>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230505" y="2042190"/>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230505" y="2318569"/>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230505" y="2594762"/>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230505" y="2873918"/>
            <a:ext cx="2044131" cy="2939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2433909" y="569582"/>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2433909" y="867591"/>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2433909" y="1165600"/>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2433909" y="1463609"/>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2433909" y="1757613"/>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2433909" y="2051616"/>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2433909" y="2331694"/>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2433909" y="2603574"/>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2433909" y="2886856"/>
            <a:ext cx="1945686" cy="43242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546411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300" y="59814"/>
            <a:ext cx="3369310"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347294" y="750453"/>
            <a:ext cx="3867150" cy="1898014"/>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9/27/25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1.bin"/><Relationship Id="rId1" Type="http://schemas.openxmlformats.org/officeDocument/2006/relationships/slideLayout" Target="../slideLayouts/slideLayout6.xml"/><Relationship Id="rId5" Type="http://schemas.openxmlformats.org/officeDocument/2006/relationships/image" Target="../media/image41.wmf"/><Relationship Id="rId4"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5.bin"/><Relationship Id="rId1" Type="http://schemas.openxmlformats.org/officeDocument/2006/relationships/slideLayout" Target="../slideLayouts/slideLayout6.xml"/><Relationship Id="rId5" Type="http://schemas.openxmlformats.org/officeDocument/2006/relationships/image" Target="../media/image46.wmf"/><Relationship Id="rId4" Type="http://schemas.openxmlformats.org/officeDocument/2006/relationships/oleObject" Target="../embeddings/oleObject6.bin"/></Relationships>
</file>

<file path=ppt/slides/_rels/slide48.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7.bin"/><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48.jpg"/><Relationship Id="rId1" Type="http://schemas.openxmlformats.org/officeDocument/2006/relationships/slideLayout" Target="../slideLayouts/slideLayout6.xml"/><Relationship Id="rId4" Type="http://schemas.openxmlformats.org/officeDocument/2006/relationships/image" Target="../media/image49.wmf"/></Relationships>
</file>

<file path=ppt/slides/_rels/slide50.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9.bin"/><Relationship Id="rId7" Type="http://schemas.openxmlformats.org/officeDocument/2006/relationships/oleObject" Target="../embeddings/oleObject10.bin"/><Relationship Id="rId2" Type="http://schemas.openxmlformats.org/officeDocument/2006/relationships/image" Target="../media/image50.jpg"/><Relationship Id="rId1" Type="http://schemas.openxmlformats.org/officeDocument/2006/relationships/slideLayout" Target="../slideLayouts/slideLayout6.xml"/><Relationship Id="rId6" Type="http://schemas.openxmlformats.org/officeDocument/2006/relationships/image" Target="../media/image53.jpg"/><Relationship Id="rId5" Type="http://schemas.openxmlformats.org/officeDocument/2006/relationships/image" Target="../media/image52.jpg"/><Relationship Id="rId4" Type="http://schemas.openxmlformats.org/officeDocument/2006/relationships/image" Target="../media/image51.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55.jpg"/><Relationship Id="rId1" Type="http://schemas.openxmlformats.org/officeDocument/2006/relationships/slideLayout" Target="../slideLayouts/slideLayout6.xml"/><Relationship Id="rId4" Type="http://schemas.openxmlformats.org/officeDocument/2006/relationships/image" Target="../media/image57.jpg"/></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62.wmf"/><Relationship Id="rId18" Type="http://schemas.openxmlformats.org/officeDocument/2006/relationships/oleObject" Target="../embeddings/oleObject18.bin"/><Relationship Id="rId3" Type="http://schemas.openxmlformats.org/officeDocument/2006/relationships/image" Target="../media/image55.jpg"/><Relationship Id="rId7" Type="http://schemas.openxmlformats.org/officeDocument/2006/relationships/image" Target="../media/image59.wmf"/><Relationship Id="rId12" Type="http://schemas.openxmlformats.org/officeDocument/2006/relationships/oleObject" Target="../embeddings/oleObject15.bin"/><Relationship Id="rId17" Type="http://schemas.openxmlformats.org/officeDocument/2006/relationships/image" Target="../media/image64.wmf"/><Relationship Id="rId2" Type="http://schemas.openxmlformats.org/officeDocument/2006/relationships/notesSlide" Target="../notesSlides/notesSlide35.xml"/><Relationship Id="rId16" Type="http://schemas.openxmlformats.org/officeDocument/2006/relationships/oleObject" Target="../embeddings/oleObject17.bin"/><Relationship Id="rId1" Type="http://schemas.openxmlformats.org/officeDocument/2006/relationships/slideLayout" Target="../slideLayouts/slideLayout6.xml"/><Relationship Id="rId6" Type="http://schemas.openxmlformats.org/officeDocument/2006/relationships/oleObject" Target="../embeddings/oleObject12.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14.bin"/><Relationship Id="rId19" Type="http://schemas.openxmlformats.org/officeDocument/2006/relationships/image" Target="../media/image65.wmf"/><Relationship Id="rId4" Type="http://schemas.openxmlformats.org/officeDocument/2006/relationships/oleObject" Target="../embeddings/oleObject11.bin"/><Relationship Id="rId9" Type="http://schemas.openxmlformats.org/officeDocument/2006/relationships/image" Target="../media/image60.wmf"/><Relationship Id="rId14" Type="http://schemas.openxmlformats.org/officeDocument/2006/relationships/oleObject" Target="../embeddings/oleObject16.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19.bin"/><Relationship Id="rId7" Type="http://schemas.openxmlformats.org/officeDocument/2006/relationships/image" Target="../media/image69.jpg"/><Relationship Id="rId2" Type="http://schemas.openxmlformats.org/officeDocument/2006/relationships/image" Target="../media/image66.jpg"/><Relationship Id="rId1" Type="http://schemas.openxmlformats.org/officeDocument/2006/relationships/slideLayout" Target="../slideLayouts/slideLayout6.xml"/><Relationship Id="rId6" Type="http://schemas.openxmlformats.org/officeDocument/2006/relationships/image" Target="../media/image68.wmf"/><Relationship Id="rId11" Type="http://schemas.openxmlformats.org/officeDocument/2006/relationships/image" Target="../media/image71.wmf"/><Relationship Id="rId5" Type="http://schemas.openxmlformats.org/officeDocument/2006/relationships/oleObject" Target="../embeddings/oleObject20.bin"/><Relationship Id="rId10" Type="http://schemas.openxmlformats.org/officeDocument/2006/relationships/oleObject" Target="../embeddings/oleObject22.bin"/><Relationship Id="rId4" Type="http://schemas.openxmlformats.org/officeDocument/2006/relationships/image" Target="../media/image67.wmf"/><Relationship Id="rId9" Type="http://schemas.openxmlformats.org/officeDocument/2006/relationships/image" Target="../media/image70.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77.wmf"/><Relationship Id="rId18" Type="http://schemas.openxmlformats.org/officeDocument/2006/relationships/oleObject" Target="../embeddings/oleObject30.bin"/><Relationship Id="rId3" Type="http://schemas.openxmlformats.org/officeDocument/2006/relationships/image" Target="../media/image72.jpg"/><Relationship Id="rId21" Type="http://schemas.openxmlformats.org/officeDocument/2006/relationships/image" Target="../media/image81.wmf"/><Relationship Id="rId7" Type="http://schemas.openxmlformats.org/officeDocument/2006/relationships/image" Target="../media/image74.wmf"/><Relationship Id="rId12" Type="http://schemas.openxmlformats.org/officeDocument/2006/relationships/oleObject" Target="../embeddings/oleObject27.bin"/><Relationship Id="rId17" Type="http://schemas.openxmlformats.org/officeDocument/2006/relationships/image" Target="../media/image79.wmf"/><Relationship Id="rId25" Type="http://schemas.openxmlformats.org/officeDocument/2006/relationships/image" Target="../media/image83.wmf"/><Relationship Id="rId2" Type="http://schemas.openxmlformats.org/officeDocument/2006/relationships/notesSlide" Target="../notesSlides/notesSlide36.xml"/><Relationship Id="rId16" Type="http://schemas.openxmlformats.org/officeDocument/2006/relationships/oleObject" Target="../embeddings/oleObject29.bin"/><Relationship Id="rId20" Type="http://schemas.openxmlformats.org/officeDocument/2006/relationships/oleObject" Target="../embeddings/oleObject31.bin"/><Relationship Id="rId1" Type="http://schemas.openxmlformats.org/officeDocument/2006/relationships/slideLayout" Target="../slideLayouts/slideLayout6.xml"/><Relationship Id="rId6" Type="http://schemas.openxmlformats.org/officeDocument/2006/relationships/oleObject" Target="../embeddings/oleObject24.bin"/><Relationship Id="rId11" Type="http://schemas.openxmlformats.org/officeDocument/2006/relationships/image" Target="../media/image76.wmf"/><Relationship Id="rId24" Type="http://schemas.openxmlformats.org/officeDocument/2006/relationships/oleObject" Target="../embeddings/oleObject33.bin"/><Relationship Id="rId5" Type="http://schemas.openxmlformats.org/officeDocument/2006/relationships/image" Target="../media/image73.wmf"/><Relationship Id="rId15" Type="http://schemas.openxmlformats.org/officeDocument/2006/relationships/image" Target="../media/image78.wmf"/><Relationship Id="rId23" Type="http://schemas.openxmlformats.org/officeDocument/2006/relationships/image" Target="../media/image82.wmf"/><Relationship Id="rId10" Type="http://schemas.openxmlformats.org/officeDocument/2006/relationships/oleObject" Target="../embeddings/oleObject26.bin"/><Relationship Id="rId19" Type="http://schemas.openxmlformats.org/officeDocument/2006/relationships/image" Target="../media/image80.wmf"/><Relationship Id="rId4" Type="http://schemas.openxmlformats.org/officeDocument/2006/relationships/oleObject" Target="../embeddings/oleObject23.bin"/><Relationship Id="rId9" Type="http://schemas.openxmlformats.org/officeDocument/2006/relationships/image" Target="../media/image75.wmf"/><Relationship Id="rId14" Type="http://schemas.openxmlformats.org/officeDocument/2006/relationships/oleObject" Target="../embeddings/oleObject28.bin"/><Relationship Id="rId22" Type="http://schemas.openxmlformats.org/officeDocument/2006/relationships/oleObject" Target="../embeddings/oleObject32.bin"/></Relationships>
</file>

<file path=ppt/slides/_rels/slide56.xml.rels><?xml version="1.0" encoding="UTF-8" standalone="yes"?>
<Relationships xmlns="http://schemas.openxmlformats.org/package/2006/relationships"><Relationship Id="rId8" Type="http://schemas.openxmlformats.org/officeDocument/2006/relationships/image" Target="../media/image87.wmf"/><Relationship Id="rId13" Type="http://schemas.openxmlformats.org/officeDocument/2006/relationships/oleObject" Target="../embeddings/oleObject39.bin"/><Relationship Id="rId18" Type="http://schemas.openxmlformats.org/officeDocument/2006/relationships/image" Target="../media/image92.wmf"/><Relationship Id="rId26" Type="http://schemas.openxmlformats.org/officeDocument/2006/relationships/image" Target="../media/image96.wmf"/><Relationship Id="rId3" Type="http://schemas.openxmlformats.org/officeDocument/2006/relationships/oleObject" Target="../embeddings/oleObject34.bin"/><Relationship Id="rId21" Type="http://schemas.openxmlformats.org/officeDocument/2006/relationships/oleObject" Target="../embeddings/oleObject43.bin"/><Relationship Id="rId7" Type="http://schemas.openxmlformats.org/officeDocument/2006/relationships/oleObject" Target="../embeddings/oleObject36.bin"/><Relationship Id="rId12" Type="http://schemas.openxmlformats.org/officeDocument/2006/relationships/image" Target="../media/image89.wmf"/><Relationship Id="rId17" Type="http://schemas.openxmlformats.org/officeDocument/2006/relationships/oleObject" Target="../embeddings/oleObject41.bin"/><Relationship Id="rId25" Type="http://schemas.openxmlformats.org/officeDocument/2006/relationships/oleObject" Target="../embeddings/oleObject45.bin"/><Relationship Id="rId2" Type="http://schemas.openxmlformats.org/officeDocument/2006/relationships/image" Target="../media/image84.jpg"/><Relationship Id="rId16" Type="http://schemas.openxmlformats.org/officeDocument/2006/relationships/image" Target="../media/image91.wmf"/><Relationship Id="rId20" Type="http://schemas.openxmlformats.org/officeDocument/2006/relationships/image" Target="../media/image93.wmf"/><Relationship Id="rId1" Type="http://schemas.openxmlformats.org/officeDocument/2006/relationships/slideLayout" Target="../slideLayouts/slideLayout6.xml"/><Relationship Id="rId6" Type="http://schemas.openxmlformats.org/officeDocument/2006/relationships/image" Target="../media/image86.wmf"/><Relationship Id="rId11" Type="http://schemas.openxmlformats.org/officeDocument/2006/relationships/oleObject" Target="../embeddings/oleObject38.bin"/><Relationship Id="rId24" Type="http://schemas.openxmlformats.org/officeDocument/2006/relationships/image" Target="../media/image95.wmf"/><Relationship Id="rId5" Type="http://schemas.openxmlformats.org/officeDocument/2006/relationships/oleObject" Target="../embeddings/oleObject35.bin"/><Relationship Id="rId15" Type="http://schemas.openxmlformats.org/officeDocument/2006/relationships/oleObject" Target="../embeddings/oleObject40.bin"/><Relationship Id="rId23" Type="http://schemas.openxmlformats.org/officeDocument/2006/relationships/oleObject" Target="../embeddings/oleObject44.bin"/><Relationship Id="rId10" Type="http://schemas.openxmlformats.org/officeDocument/2006/relationships/image" Target="../media/image88.wmf"/><Relationship Id="rId19" Type="http://schemas.openxmlformats.org/officeDocument/2006/relationships/oleObject" Target="../embeddings/oleObject42.bin"/><Relationship Id="rId4" Type="http://schemas.openxmlformats.org/officeDocument/2006/relationships/image" Target="../media/image85.wmf"/><Relationship Id="rId9" Type="http://schemas.openxmlformats.org/officeDocument/2006/relationships/oleObject" Target="../embeddings/oleObject37.bin"/><Relationship Id="rId14" Type="http://schemas.openxmlformats.org/officeDocument/2006/relationships/image" Target="../media/image90.wmf"/><Relationship Id="rId22" Type="http://schemas.openxmlformats.org/officeDocument/2006/relationships/image" Target="../media/image94.wmf"/></Relationships>
</file>

<file path=ppt/slides/_rels/slide57.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image" Target="../media/image97.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1F18EC-22CD-39B1-CC2D-0EC73DDA5238}"/>
              </a:ext>
            </a:extLst>
          </p:cNvPr>
          <p:cNvSpPr txBox="1"/>
          <p:nvPr/>
        </p:nvSpPr>
        <p:spPr>
          <a:xfrm>
            <a:off x="1355298" y="1958975"/>
            <a:ext cx="2032167" cy="457200"/>
          </a:xfrm>
          <a:prstGeom prst="rect">
            <a:avLst/>
          </a:prstGeom>
        </p:spPr>
        <p:txBody>
          <a:bodyPr vert="horz" lIns="91440" tIns="45720" rIns="91440" bIns="45720" rtlCol="0" anchor="t">
            <a:normAutofit/>
          </a:bodyPr>
          <a:lstStyle/>
          <a:p>
            <a:pPr algn="l" rtl="0">
              <a:lnSpc>
                <a:spcPct val="90000"/>
              </a:lnSpc>
              <a:spcBef>
                <a:spcPct val="0"/>
              </a:spcBef>
              <a:spcAft>
                <a:spcPts val="600"/>
              </a:spcAft>
            </a:pPr>
            <a:r>
              <a:rPr lang="en-US" sz="1400" b="1" kern="1200" spc="-10" noProof="0" dirty="0">
                <a:solidFill>
                  <a:schemeClr val="tx1"/>
                </a:solidFill>
                <a:latin typeface="+mj-lt"/>
                <a:ea typeface="+mj-ea"/>
                <a:cs typeface="+mj-cs"/>
              </a:rPr>
              <a:t>EE 2031 </a:t>
            </a:r>
            <a:r>
              <a:rPr lang="en-US" sz="1400" b="1" kern="1200" spc="-10" dirty="0">
                <a:solidFill>
                  <a:schemeClr val="tx1"/>
                </a:solidFill>
                <a:latin typeface="+mj-lt"/>
                <a:ea typeface="+mj-ea"/>
                <a:cs typeface="+mj-cs"/>
              </a:rPr>
              <a:t>Electric Circuits</a:t>
            </a:r>
            <a:endParaRPr lang="en-US" sz="1400" b="1" kern="1200" spc="-10" noProof="0" dirty="0">
              <a:solidFill>
                <a:schemeClr val="tx1"/>
              </a:solidFill>
              <a:latin typeface="+mj-lt"/>
              <a:ea typeface="+mj-ea"/>
              <a:cs typeface="+mj-cs"/>
            </a:endParaRPr>
          </a:p>
        </p:txBody>
      </p:sp>
      <p:pic>
        <p:nvPicPr>
          <p:cNvPr id="2" name="Picture 2" descr="A green and black pattern&#10;&#10;Description automatically generated with medium confidence">
            <a:extLst>
              <a:ext uri="{FF2B5EF4-FFF2-40B4-BE49-F238E27FC236}">
                <a16:creationId xmlns:a16="http://schemas.microsoft.com/office/drawing/2014/main" id="{49739AEB-768E-369F-B8A9-CD2CEF17E0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3051" r="-2" b="706"/>
          <a:stretch>
            <a:fillRect/>
          </a:stretch>
        </p:blipFill>
        <p:spPr bwMode="auto">
          <a:xfrm>
            <a:off x="20" y="10"/>
            <a:ext cx="4610080" cy="1730365"/>
          </a:xfrm>
          <a:prstGeom prst="rect">
            <a:avLst/>
          </a:prstGeom>
          <a:noFill/>
          <a:extLst>
            <a:ext uri="{909E8E84-426E-40DD-AFC4-6F175D3DCCD1}">
              <a14:hiddenFill xmlns:a14="http://schemas.microsoft.com/office/drawing/2010/main">
                <a:solidFill>
                  <a:srgbClr val="FFFFFF"/>
                </a:solidFill>
              </a14:hiddenFill>
            </a:ext>
          </a:extLst>
        </p:spPr>
      </p:pic>
      <p:grpSp>
        <p:nvGrpSpPr>
          <p:cNvPr id="1038" name="Group 1037">
            <a:extLst>
              <a:ext uri="{FF2B5EF4-FFF2-40B4-BE49-F238E27FC236}">
                <a16:creationId xmlns:a16="http://schemas.microsoft.com/office/drawing/2014/main" id="{5EC81CC9-EAC3-3907-9268-3A583E3B63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73" y="1716678"/>
            <a:ext cx="4615846" cy="62252"/>
            <a:chOff x="-5025" y="6737718"/>
            <a:chExt cx="12207200" cy="123363"/>
          </a:xfrm>
        </p:grpSpPr>
        <p:sp>
          <p:nvSpPr>
            <p:cNvPr id="1039" name="Rectangle 1038">
              <a:extLst>
                <a:ext uri="{FF2B5EF4-FFF2-40B4-BE49-F238E27FC236}">
                  <a16:creationId xmlns:a16="http://schemas.microsoft.com/office/drawing/2014/main" id="{665915B0-4647-B7BB-3CDF-D62A16FCB0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EA416CD1-48B0-ADCA-33F6-A12FBD9EE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object 3"/>
          <p:cNvSpPr txBox="1"/>
          <p:nvPr/>
        </p:nvSpPr>
        <p:spPr>
          <a:xfrm>
            <a:off x="1355298" y="2339975"/>
            <a:ext cx="2273383" cy="762000"/>
          </a:xfrm>
          <a:prstGeom prst="rect">
            <a:avLst/>
          </a:prstGeom>
        </p:spPr>
        <p:txBody>
          <a:bodyPr vert="horz" lIns="91440" tIns="45720" rIns="91440" bIns="45720" rtlCol="0" anchor="t">
            <a:normAutofit fontScale="92500" lnSpcReduction="20000"/>
          </a:bodyPr>
          <a:lstStyle/>
          <a:p>
            <a:pPr algn="l" rtl="0">
              <a:lnSpc>
                <a:spcPct val="90000"/>
              </a:lnSpc>
              <a:spcBef>
                <a:spcPts val="220"/>
              </a:spcBef>
            </a:pPr>
            <a:r>
              <a:rPr lang="en-US" sz="1400" b="1" kern="1200" noProof="0" dirty="0">
                <a:solidFill>
                  <a:schemeClr val="tx1"/>
                </a:solidFill>
                <a:latin typeface="+mn-lt"/>
                <a:ea typeface="+mn-ea"/>
                <a:cs typeface="+mn-cs"/>
              </a:rPr>
              <a:t>Week 1 </a:t>
            </a:r>
            <a:endParaRPr lang="en-US" sz="1400" b="1" kern="1200" dirty="0">
              <a:solidFill>
                <a:schemeClr val="tx1"/>
              </a:solidFill>
              <a:latin typeface="+mn-lt"/>
              <a:ea typeface="+mn-ea"/>
              <a:cs typeface="+mn-cs"/>
            </a:endParaRPr>
          </a:p>
          <a:p>
            <a:pPr marL="285750" indent="-285750" algn="l" rtl="0">
              <a:lnSpc>
                <a:spcPct val="90000"/>
              </a:lnSpc>
              <a:spcBef>
                <a:spcPts val="220"/>
              </a:spcBef>
              <a:buFont typeface="Arial" panose="020B0604020202020204" pitchFamily="34" charset="0"/>
              <a:buChar char="•"/>
            </a:pPr>
            <a:r>
              <a:rPr lang="en-US" sz="1400" kern="1200" noProof="0" dirty="0">
                <a:solidFill>
                  <a:schemeClr val="tx1"/>
                </a:solidFill>
                <a:latin typeface="+mn-lt"/>
                <a:ea typeface="+mn-ea"/>
                <a:cs typeface="+mn-cs"/>
              </a:rPr>
              <a:t>Introduction</a:t>
            </a:r>
          </a:p>
          <a:p>
            <a:pPr marL="285750" indent="-285750" algn="l" rtl="0">
              <a:lnSpc>
                <a:spcPct val="90000"/>
              </a:lnSpc>
              <a:spcBef>
                <a:spcPts val="220"/>
              </a:spcBef>
              <a:buFont typeface="Arial" panose="020B0604020202020204" pitchFamily="34" charset="0"/>
              <a:buChar char="•"/>
            </a:pPr>
            <a:r>
              <a:rPr lang="en-US" sz="1400" kern="1200" dirty="0">
                <a:solidFill>
                  <a:schemeClr val="tx1"/>
                </a:solidFill>
                <a:latin typeface="+mn-lt"/>
                <a:ea typeface="+mn-ea"/>
                <a:cs typeface="+mn-cs"/>
              </a:rPr>
              <a:t>Circuit variables</a:t>
            </a:r>
          </a:p>
          <a:p>
            <a:pPr marL="285750" indent="-285750" algn="l" rtl="0">
              <a:lnSpc>
                <a:spcPct val="90000"/>
              </a:lnSpc>
              <a:spcBef>
                <a:spcPts val="220"/>
              </a:spcBef>
              <a:buFont typeface="Arial" panose="020B0604020202020204" pitchFamily="34" charset="0"/>
              <a:buChar char="•"/>
            </a:pPr>
            <a:r>
              <a:rPr lang="en-US" sz="1400" kern="1200" noProof="0" dirty="0">
                <a:solidFill>
                  <a:schemeClr val="tx1"/>
                </a:solidFill>
                <a:latin typeface="+mn-lt"/>
                <a:ea typeface="+mn-ea"/>
                <a:cs typeface="+mn-cs"/>
              </a:rPr>
              <a:t>Circuit elements</a:t>
            </a:r>
          </a:p>
          <a:p>
            <a:pPr indent="-228600" algn="l" rtl="0">
              <a:lnSpc>
                <a:spcPct val="90000"/>
              </a:lnSpc>
              <a:spcBef>
                <a:spcPts val="5"/>
              </a:spcBef>
              <a:buFont typeface="Arial" panose="020B0604020202020204" pitchFamily="34" charset="0"/>
              <a:buChar char="•"/>
            </a:pPr>
            <a:endParaRPr lang="en-US" sz="1400" kern="1200" noProof="0" dirty="0">
              <a:solidFill>
                <a:schemeClr val="tx1"/>
              </a:solidFill>
              <a:latin typeface="+mn-lt"/>
              <a:ea typeface="+mn-ea"/>
              <a:cs typeface="+mn-cs"/>
            </a:endParaRPr>
          </a:p>
          <a:p>
            <a:pPr indent="-228600" algn="l" rtl="0">
              <a:lnSpc>
                <a:spcPct val="90000"/>
              </a:lnSpc>
              <a:spcBef>
                <a:spcPts val="465"/>
              </a:spcBef>
              <a:buFont typeface="Arial" panose="020B0604020202020204" pitchFamily="34" charset="0"/>
              <a:buChar char="•"/>
            </a:pPr>
            <a:endParaRPr lang="en-US" sz="1400" kern="1200" noProof="0" dirty="0">
              <a:solidFill>
                <a:schemeClr val="tx1"/>
              </a:solidFill>
              <a:latin typeface="+mn-lt"/>
              <a:ea typeface="+mn-ea"/>
              <a:cs typeface="+mn-cs"/>
            </a:endParaRPr>
          </a:p>
          <a:p>
            <a:pPr marR="20320" indent="-228600" algn="l" rtl="0">
              <a:lnSpc>
                <a:spcPct val="90000"/>
              </a:lnSpc>
              <a:buFont typeface="Arial" panose="020B0604020202020204" pitchFamily="34" charset="0"/>
              <a:buChar char="•"/>
            </a:pPr>
            <a:endParaRPr lang="en-US" sz="1400" kern="1200" noProof="0" dirty="0">
              <a:solidFill>
                <a:schemeClr val="tx1"/>
              </a:solidFill>
              <a:latin typeface="+mn-lt"/>
              <a:ea typeface="+mn-ea"/>
              <a:cs typeface="+mn-cs"/>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Preliminaries</a:t>
            </a:r>
          </a:p>
        </p:txBody>
      </p:sp>
      <p:graphicFrame>
        <p:nvGraphicFramePr>
          <p:cNvPr id="4" name="Table 3">
            <a:extLst>
              <a:ext uri="{FF2B5EF4-FFF2-40B4-BE49-F238E27FC236}">
                <a16:creationId xmlns:a16="http://schemas.microsoft.com/office/drawing/2014/main" id="{BCE72B6C-5835-4880-D4B7-4ED5AD02928B}"/>
              </a:ext>
            </a:extLst>
          </p:cNvPr>
          <p:cNvGraphicFramePr>
            <a:graphicFrameLocks noGrp="1"/>
          </p:cNvGraphicFramePr>
          <p:nvPr>
            <p:extLst>
              <p:ext uri="{D42A27DB-BD31-4B8C-83A1-F6EECF244321}">
                <p14:modId xmlns:p14="http://schemas.microsoft.com/office/powerpoint/2010/main" val="3248941608"/>
              </p:ext>
            </p:extLst>
          </p:nvPr>
        </p:nvGraphicFramePr>
        <p:xfrm>
          <a:off x="371475" y="968375"/>
          <a:ext cx="3867150" cy="1389206"/>
        </p:xfrm>
        <a:graphic>
          <a:graphicData uri="http://schemas.openxmlformats.org/drawingml/2006/table">
            <a:tbl>
              <a:tblPr>
                <a:tableStyleId>{5C22544A-7EE6-4342-B048-85BDC9FD1C3A}</a:tableStyleId>
              </a:tblPr>
              <a:tblGrid>
                <a:gridCol w="913259">
                  <a:extLst>
                    <a:ext uri="{9D8B030D-6E8A-4147-A177-3AD203B41FA5}">
                      <a16:colId xmlns:a16="http://schemas.microsoft.com/office/drawing/2014/main" val="2789345356"/>
                    </a:ext>
                  </a:extLst>
                </a:gridCol>
                <a:gridCol w="2953891">
                  <a:extLst>
                    <a:ext uri="{9D8B030D-6E8A-4147-A177-3AD203B41FA5}">
                      <a16:colId xmlns:a16="http://schemas.microsoft.com/office/drawing/2014/main" val="2031551354"/>
                    </a:ext>
                  </a:extLst>
                </a:gridCol>
              </a:tblGrid>
              <a:tr h="107863">
                <a:tc>
                  <a:txBody>
                    <a:bodyPr/>
                    <a:lstStyle/>
                    <a:p>
                      <a:r>
                        <a:rPr lang="en-US" sz="1100">
                          <a:solidFill>
                            <a:srgbClr val="3333B2"/>
                          </a:solidFill>
                          <a:latin typeface="Arial"/>
                          <a:cs typeface="Arial"/>
                        </a:rPr>
                        <a:t>Class schedule:</a:t>
                      </a:r>
                      <a:endParaRPr lang="tr-TR" sz="1100">
                        <a:solidFill>
                          <a:srgbClr val="3333B2"/>
                        </a:solidFill>
                        <a:latin typeface="Arial"/>
                        <a:cs typeface="Arial"/>
                      </a:endParaRPr>
                    </a:p>
                  </a:txBody>
                  <a:tcPr marL="44126" marR="44126" marT="0" marB="0">
                    <a:solidFill>
                      <a:schemeClr val="bg1"/>
                    </a:solidFill>
                  </a:tcPr>
                </a:tc>
                <a:tc>
                  <a:txBody>
                    <a:bodyPr/>
                    <a:lstStyle/>
                    <a:p>
                      <a:r>
                        <a:rPr lang="en-US" sz="1100" dirty="0">
                          <a:latin typeface="Arial"/>
                          <a:cs typeface="Arial"/>
                        </a:rPr>
                        <a:t>Monday 15:00 – 17:00 (M1.Z01)</a:t>
                      </a:r>
                    </a:p>
                    <a:p>
                      <a:pPr marL="0" marR="0" lvl="0" indent="0" defTabSz="914400" eaLnBrk="1" fontAlgn="auto" latinLnBrk="0" hangingPunct="1">
                        <a:lnSpc>
                          <a:spcPct val="100000"/>
                        </a:lnSpc>
                        <a:spcBef>
                          <a:spcPts val="0"/>
                        </a:spcBef>
                        <a:spcAft>
                          <a:spcPts val="0"/>
                        </a:spcAft>
                        <a:buClrTx/>
                        <a:buSzTx/>
                        <a:buFontTx/>
                        <a:buNone/>
                        <a:tabLst/>
                        <a:defRPr/>
                      </a:pPr>
                      <a:r>
                        <a:rPr lang="en-US" sz="1100" dirty="0">
                          <a:latin typeface="Arial"/>
                          <a:cs typeface="Arial"/>
                        </a:rPr>
                        <a:t>Tuesday 15:00 – 16:00 (M2.Z11)</a:t>
                      </a:r>
                      <a:endParaRPr lang="tr-TR" sz="1100" dirty="0">
                        <a:latin typeface="Arial"/>
                        <a:cs typeface="Arial"/>
                      </a:endParaRPr>
                    </a:p>
                    <a:p>
                      <a:endParaRPr lang="tr-TR" sz="1100" dirty="0">
                        <a:latin typeface="Arial"/>
                        <a:cs typeface="Arial"/>
                      </a:endParaRPr>
                    </a:p>
                  </a:txBody>
                  <a:tcPr marL="44126" marR="44126" marT="0" marB="0">
                    <a:solidFill>
                      <a:schemeClr val="bg1"/>
                    </a:solidFill>
                  </a:tcPr>
                </a:tc>
                <a:extLst>
                  <a:ext uri="{0D108BD9-81ED-4DB2-BD59-A6C34878D82A}">
                    <a16:rowId xmlns:a16="http://schemas.microsoft.com/office/drawing/2014/main" val="3085299891"/>
                  </a:ext>
                </a:extLst>
              </a:tr>
              <a:tr h="107863">
                <a:tc>
                  <a:txBody>
                    <a:bodyPr/>
                    <a:lstStyle/>
                    <a:p>
                      <a:r>
                        <a:rPr lang="en-US" sz="700">
                          <a:effectLst/>
                        </a:rPr>
                        <a:t> </a:t>
                      </a:r>
                      <a:endParaRPr lang="tr-TR" sz="600">
                        <a:effectLst/>
                        <a:latin typeface="Times New Roman" panose="02020603050405020304" pitchFamily="18" charset="0"/>
                        <a:ea typeface="Times New Roman" panose="02020603050405020304" pitchFamily="18" charset="0"/>
                      </a:endParaRPr>
                    </a:p>
                  </a:txBody>
                  <a:tcPr marL="44126" marR="44126" marT="0" marB="0">
                    <a:solidFill>
                      <a:schemeClr val="bg1"/>
                    </a:solidFill>
                  </a:tcPr>
                </a:tc>
                <a:tc>
                  <a:txBody>
                    <a:bodyPr/>
                    <a:lstStyle/>
                    <a:p>
                      <a:r>
                        <a:rPr lang="en-US" sz="600">
                          <a:effectLst/>
                        </a:rPr>
                        <a:t> </a:t>
                      </a:r>
                      <a:endParaRPr lang="tr-TR" sz="600">
                        <a:effectLst/>
                        <a:latin typeface="Times New Roman" panose="02020603050405020304" pitchFamily="18" charset="0"/>
                        <a:ea typeface="Times New Roman" panose="02020603050405020304" pitchFamily="18" charset="0"/>
                      </a:endParaRPr>
                    </a:p>
                  </a:txBody>
                  <a:tcPr marL="44126" marR="44126" marT="0" marB="0">
                    <a:solidFill>
                      <a:schemeClr val="bg1"/>
                    </a:solidFill>
                  </a:tcPr>
                </a:tc>
                <a:extLst>
                  <a:ext uri="{0D108BD9-81ED-4DB2-BD59-A6C34878D82A}">
                    <a16:rowId xmlns:a16="http://schemas.microsoft.com/office/drawing/2014/main" val="2459950374"/>
                  </a:ext>
                </a:extLst>
              </a:tr>
              <a:tr h="196115">
                <a:tc>
                  <a:txBody>
                    <a:bodyPr/>
                    <a:lstStyle/>
                    <a:p>
                      <a:r>
                        <a:rPr lang="en-US" sz="1100">
                          <a:solidFill>
                            <a:srgbClr val="3333B2"/>
                          </a:solidFill>
                          <a:latin typeface="Arial"/>
                          <a:ea typeface="+mn-ea"/>
                          <a:cs typeface="Arial"/>
                        </a:rPr>
                        <a:t>Instructor</a:t>
                      </a:r>
                      <a:r>
                        <a:rPr lang="en-US" sz="1100">
                          <a:solidFill>
                            <a:srgbClr val="3333B2"/>
                          </a:solidFill>
                          <a:latin typeface="Arial"/>
                          <a:cs typeface="Arial"/>
                        </a:rPr>
                        <a:t>:</a:t>
                      </a:r>
                      <a:endParaRPr lang="tr-TR" sz="1100">
                        <a:solidFill>
                          <a:srgbClr val="3333B2"/>
                        </a:solidFill>
                        <a:latin typeface="Arial"/>
                        <a:cs typeface="Arial"/>
                      </a:endParaRPr>
                    </a:p>
                  </a:txBody>
                  <a:tcPr marL="44126" marR="44126" marT="0" marB="0">
                    <a:solidFill>
                      <a:schemeClr val="bg1"/>
                    </a:solidFill>
                  </a:tcPr>
                </a:tc>
                <a:tc>
                  <a:txBody>
                    <a:bodyPr/>
                    <a:lstStyle/>
                    <a:p>
                      <a:pPr marL="0"/>
                      <a:r>
                        <a:rPr lang="fr-FR" sz="1100" dirty="0">
                          <a:solidFill>
                            <a:schemeClr val="dk1"/>
                          </a:solidFill>
                          <a:latin typeface="Arial"/>
                          <a:ea typeface="+mn-ea"/>
                          <a:cs typeface="Arial"/>
                        </a:rPr>
                        <a:t>Dr. </a:t>
                      </a:r>
                      <a:r>
                        <a:rPr lang="fr-FR" sz="1100" dirty="0" err="1">
                          <a:solidFill>
                            <a:schemeClr val="dk1"/>
                          </a:solidFill>
                          <a:latin typeface="Arial"/>
                          <a:ea typeface="+mn-ea"/>
                          <a:cs typeface="Arial"/>
                        </a:rPr>
                        <a:t>Kamil</a:t>
                      </a:r>
                      <a:r>
                        <a:rPr lang="fr-FR" sz="1100" dirty="0">
                          <a:solidFill>
                            <a:schemeClr val="dk1"/>
                          </a:solidFill>
                          <a:latin typeface="Arial"/>
                          <a:ea typeface="+mn-ea"/>
                          <a:cs typeface="Arial"/>
                        </a:rPr>
                        <a:t> </a:t>
                      </a:r>
                      <a:r>
                        <a:rPr lang="fr-FR" sz="1100" dirty="0" err="1">
                          <a:solidFill>
                            <a:schemeClr val="dk1"/>
                          </a:solidFill>
                          <a:latin typeface="Arial"/>
                          <a:ea typeface="+mn-ea"/>
                          <a:cs typeface="Arial"/>
                        </a:rPr>
                        <a:t>Erdayandı</a:t>
                      </a:r>
                      <a:r>
                        <a:rPr lang="fr-FR" sz="1100" dirty="0">
                          <a:solidFill>
                            <a:schemeClr val="dk1"/>
                          </a:solidFill>
                          <a:latin typeface="Arial"/>
                          <a:ea typeface="+mn-ea"/>
                          <a:cs typeface="Arial"/>
                        </a:rPr>
                        <a:t>, </a:t>
                      </a:r>
                      <a:r>
                        <a:rPr lang="fr-FR" sz="1100" dirty="0" err="1">
                          <a:solidFill>
                            <a:schemeClr val="dk1"/>
                          </a:solidFill>
                          <a:latin typeface="Arial"/>
                          <a:ea typeface="+mn-ea"/>
                          <a:cs typeface="Arial"/>
                        </a:rPr>
                        <a:t>kamil.erdayandi</a:t>
                      </a:r>
                      <a:r>
                        <a:rPr lang="en-GB" sz="1100" dirty="0">
                          <a:solidFill>
                            <a:schemeClr val="dk1"/>
                          </a:solidFill>
                          <a:latin typeface="Arial"/>
                          <a:ea typeface="+mn-ea"/>
                          <a:cs typeface="Arial"/>
                        </a:rPr>
                        <a:t>@</a:t>
                      </a:r>
                      <a:r>
                        <a:rPr lang="en-GB" sz="1100" dirty="0" err="1">
                          <a:solidFill>
                            <a:schemeClr val="dk1"/>
                          </a:solidFill>
                          <a:latin typeface="Arial"/>
                          <a:ea typeface="+mn-ea"/>
                          <a:cs typeface="Arial"/>
                        </a:rPr>
                        <a:t>marmara.edu.tr</a:t>
                      </a:r>
                      <a:endParaRPr lang="tr-TR" sz="1100" dirty="0">
                        <a:solidFill>
                          <a:schemeClr val="dk1"/>
                        </a:solidFill>
                        <a:latin typeface="Arial"/>
                        <a:ea typeface="+mn-ea"/>
                        <a:cs typeface="Arial"/>
                      </a:endParaRPr>
                    </a:p>
                    <a:p>
                      <a:pPr marL="0"/>
                      <a:r>
                        <a:rPr lang="en-US" sz="1100" dirty="0">
                          <a:solidFill>
                            <a:schemeClr val="dk1"/>
                          </a:solidFill>
                          <a:latin typeface="Arial"/>
                          <a:ea typeface="+mn-ea"/>
                          <a:cs typeface="Arial"/>
                        </a:rPr>
                        <a:t>Office: M2-232, Phone: (216) 777 3535</a:t>
                      </a:r>
                      <a:endParaRPr lang="tr-TR" sz="1100" dirty="0">
                        <a:solidFill>
                          <a:schemeClr val="dk1"/>
                        </a:solidFill>
                        <a:latin typeface="Arial"/>
                        <a:ea typeface="+mn-ea"/>
                        <a:cs typeface="Arial"/>
                      </a:endParaRPr>
                    </a:p>
                  </a:txBody>
                  <a:tcPr marL="44126" marR="44126" marT="0" marB="0">
                    <a:solidFill>
                      <a:schemeClr val="bg1"/>
                    </a:solidFill>
                  </a:tcPr>
                </a:tc>
                <a:extLst>
                  <a:ext uri="{0D108BD9-81ED-4DB2-BD59-A6C34878D82A}">
                    <a16:rowId xmlns:a16="http://schemas.microsoft.com/office/drawing/2014/main" val="4013844126"/>
                  </a:ext>
                </a:extLst>
              </a:tr>
              <a:tr h="107863">
                <a:tc>
                  <a:txBody>
                    <a:bodyPr/>
                    <a:lstStyle/>
                    <a:p>
                      <a:r>
                        <a:rPr lang="en-US" sz="700">
                          <a:effectLst/>
                        </a:rPr>
                        <a:t> </a:t>
                      </a:r>
                      <a:endParaRPr lang="tr-TR" sz="600">
                        <a:effectLst/>
                        <a:latin typeface="Times New Roman" panose="02020603050405020304" pitchFamily="18" charset="0"/>
                        <a:ea typeface="Times New Roman" panose="02020603050405020304" pitchFamily="18" charset="0"/>
                      </a:endParaRPr>
                    </a:p>
                  </a:txBody>
                  <a:tcPr marL="44126" marR="44126" marT="0" marB="0">
                    <a:solidFill>
                      <a:schemeClr val="bg1"/>
                    </a:solidFill>
                  </a:tcPr>
                </a:tc>
                <a:tc>
                  <a:txBody>
                    <a:bodyPr/>
                    <a:lstStyle/>
                    <a:p>
                      <a:pPr indent="260985"/>
                      <a:r>
                        <a:rPr lang="en-US" sz="600">
                          <a:effectLst/>
                        </a:rPr>
                        <a:t> </a:t>
                      </a:r>
                      <a:endParaRPr lang="tr-TR" sz="600">
                        <a:effectLst/>
                        <a:latin typeface="Times New Roman" panose="02020603050405020304" pitchFamily="18" charset="0"/>
                        <a:ea typeface="Times New Roman" panose="02020603050405020304" pitchFamily="18" charset="0"/>
                      </a:endParaRPr>
                    </a:p>
                  </a:txBody>
                  <a:tcPr marL="44126" marR="44126" marT="0" marB="0">
                    <a:solidFill>
                      <a:schemeClr val="bg1"/>
                    </a:solidFill>
                  </a:tcPr>
                </a:tc>
                <a:extLst>
                  <a:ext uri="{0D108BD9-81ED-4DB2-BD59-A6C34878D82A}">
                    <a16:rowId xmlns:a16="http://schemas.microsoft.com/office/drawing/2014/main" val="1101036143"/>
                  </a:ext>
                </a:extLst>
              </a:tr>
              <a:tr h="107863">
                <a:tc>
                  <a:txBody>
                    <a:bodyPr/>
                    <a:lstStyle/>
                    <a:p>
                      <a:endParaRPr lang="tr-TR" sz="1100" dirty="0">
                        <a:solidFill>
                          <a:srgbClr val="3333B2"/>
                        </a:solidFill>
                        <a:latin typeface="Arial"/>
                        <a:ea typeface="+mn-ea"/>
                        <a:cs typeface="Arial"/>
                      </a:endParaRPr>
                    </a:p>
                  </a:txBody>
                  <a:tcPr marL="44126" marR="44126" marT="0" marB="0">
                    <a:solidFill>
                      <a:schemeClr val="bg1"/>
                    </a:solidFill>
                  </a:tcPr>
                </a:tc>
                <a:tc>
                  <a:txBody>
                    <a:bodyPr/>
                    <a:lstStyle/>
                    <a:p>
                      <a:pPr marL="0"/>
                      <a:endParaRPr lang="tr-TR" sz="1100" dirty="0">
                        <a:solidFill>
                          <a:schemeClr val="dk1"/>
                        </a:solidFill>
                        <a:latin typeface="Arial"/>
                        <a:ea typeface="+mn-ea"/>
                        <a:cs typeface="Arial"/>
                      </a:endParaRPr>
                    </a:p>
                  </a:txBody>
                  <a:tcPr marL="44126" marR="44126" marT="0" marB="0">
                    <a:solidFill>
                      <a:schemeClr val="bg1"/>
                    </a:solidFill>
                  </a:tcPr>
                </a:tc>
                <a:extLst>
                  <a:ext uri="{0D108BD9-81ED-4DB2-BD59-A6C34878D82A}">
                    <a16:rowId xmlns:a16="http://schemas.microsoft.com/office/drawing/2014/main" val="2853574378"/>
                  </a:ext>
                </a:extLst>
              </a:tr>
            </a:tbl>
          </a:graphicData>
        </a:graphic>
      </p:graphicFrame>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Preliminaries </a:t>
            </a:r>
            <a:endParaRPr spc="-10" dirty="0"/>
          </a:p>
        </p:txBody>
      </p:sp>
      <p:graphicFrame>
        <p:nvGraphicFramePr>
          <p:cNvPr id="3" name="Table 2">
            <a:extLst>
              <a:ext uri="{FF2B5EF4-FFF2-40B4-BE49-F238E27FC236}">
                <a16:creationId xmlns:a16="http://schemas.microsoft.com/office/drawing/2014/main" id="{A602BE79-39AB-AD8A-B053-3697D43BEC7C}"/>
              </a:ext>
            </a:extLst>
          </p:cNvPr>
          <p:cNvGraphicFramePr>
            <a:graphicFrameLocks noGrp="1"/>
          </p:cNvGraphicFramePr>
          <p:nvPr>
            <p:extLst>
              <p:ext uri="{D42A27DB-BD31-4B8C-83A1-F6EECF244321}">
                <p14:modId xmlns:p14="http://schemas.microsoft.com/office/powerpoint/2010/main" val="1892550474"/>
              </p:ext>
            </p:extLst>
          </p:nvPr>
        </p:nvGraphicFramePr>
        <p:xfrm>
          <a:off x="190550" y="892175"/>
          <a:ext cx="4419550" cy="1261794"/>
        </p:xfrm>
        <a:graphic>
          <a:graphicData uri="http://schemas.openxmlformats.org/drawingml/2006/table">
            <a:tbl>
              <a:tblPr>
                <a:tableStyleId>{5C22544A-7EE6-4342-B048-85BDC9FD1C3A}</a:tableStyleId>
              </a:tblPr>
              <a:tblGrid>
                <a:gridCol w="1043711">
                  <a:extLst>
                    <a:ext uri="{9D8B030D-6E8A-4147-A177-3AD203B41FA5}">
                      <a16:colId xmlns:a16="http://schemas.microsoft.com/office/drawing/2014/main" val="3780052535"/>
                    </a:ext>
                  </a:extLst>
                </a:gridCol>
                <a:gridCol w="3375839">
                  <a:extLst>
                    <a:ext uri="{9D8B030D-6E8A-4147-A177-3AD203B41FA5}">
                      <a16:colId xmlns:a16="http://schemas.microsoft.com/office/drawing/2014/main" val="936332972"/>
                    </a:ext>
                  </a:extLst>
                </a:gridCol>
              </a:tblGrid>
              <a:tr h="133868">
                <a:tc>
                  <a:txBody>
                    <a:bodyPr/>
                    <a:lstStyle/>
                    <a:p>
                      <a:r>
                        <a:rPr lang="en-US" sz="1100" dirty="0">
                          <a:effectLst/>
                          <a:latin typeface="Arial" panose="020B0604020202020204" pitchFamily="34" charset="0"/>
                          <a:cs typeface="Arial" panose="020B0604020202020204" pitchFamily="34" charset="0"/>
                        </a:rPr>
                        <a:t> </a:t>
                      </a:r>
                      <a:endParaRPr lang="tr-TR" sz="1100" dirty="0">
                        <a:effectLst/>
                        <a:latin typeface="Arial" panose="020B0604020202020204" pitchFamily="34" charset="0"/>
                        <a:ea typeface="Times New Roman" panose="02020603050405020304" pitchFamily="18" charset="0"/>
                        <a:cs typeface="Arial" panose="020B0604020202020204" pitchFamily="34" charset="0"/>
                      </a:endParaRPr>
                    </a:p>
                  </a:txBody>
                  <a:tcPr marL="26267" marR="26267" marT="0" marB="0">
                    <a:no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 </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noFill/>
                  </a:tcPr>
                </a:tc>
                <a:extLst>
                  <a:ext uri="{0D108BD9-81ED-4DB2-BD59-A6C34878D82A}">
                    <a16:rowId xmlns:a16="http://schemas.microsoft.com/office/drawing/2014/main" val="2713854543"/>
                  </a:ext>
                </a:extLst>
              </a:tr>
              <a:tr h="133868">
                <a:tc>
                  <a:txBody>
                    <a:bodyPr/>
                    <a:lstStyle/>
                    <a:p>
                      <a:pPr marL="0"/>
                      <a:r>
                        <a:rPr lang="en-US" sz="1100" dirty="0">
                          <a:solidFill>
                            <a:srgbClr val="3333B2"/>
                          </a:solidFill>
                          <a:latin typeface="Arial"/>
                          <a:ea typeface="+mn-ea"/>
                          <a:cs typeface="Arial"/>
                        </a:rPr>
                        <a:t>Attendance:</a:t>
                      </a:r>
                      <a:endParaRPr lang="tr-TR" sz="1100" dirty="0">
                        <a:solidFill>
                          <a:srgbClr val="3333B2"/>
                        </a:solidFill>
                        <a:latin typeface="Arial"/>
                        <a:ea typeface="+mn-ea"/>
                        <a:cs typeface="Arial"/>
                      </a:endParaRPr>
                    </a:p>
                  </a:txBody>
                  <a:tcPr marL="26267" marR="26267" marT="0" marB="0">
                    <a:noFill/>
                  </a:tcPr>
                </a:tc>
                <a:tc>
                  <a:txBody>
                    <a:bodyPr/>
                    <a:lstStyle/>
                    <a:p>
                      <a:r>
                        <a:rPr lang="en-US" sz="1100">
                          <a:solidFill>
                            <a:schemeClr val="dk1"/>
                          </a:solidFill>
                          <a:latin typeface="Arial" panose="020B0604020202020204" pitchFamily="34" charset="0"/>
                          <a:ea typeface="+mn-ea"/>
                          <a:cs typeface="Arial" panose="020B0604020202020204" pitchFamily="34" charset="0"/>
                        </a:rPr>
                        <a:t>Classroom attendance (%70) is mandatory. </a:t>
                      </a:r>
                      <a:endParaRPr lang="tr-TR" sz="1100">
                        <a:solidFill>
                          <a:schemeClr val="dk1"/>
                        </a:solidFill>
                        <a:latin typeface="Arial" panose="020B0604020202020204" pitchFamily="34" charset="0"/>
                        <a:ea typeface="+mn-ea"/>
                        <a:cs typeface="Arial" panose="020B0604020202020204" pitchFamily="34" charset="0"/>
                      </a:endParaRPr>
                    </a:p>
                  </a:txBody>
                  <a:tcPr marL="26267" marR="26267" marT="0" marB="0">
                    <a:noFill/>
                  </a:tcPr>
                </a:tc>
                <a:extLst>
                  <a:ext uri="{0D108BD9-81ED-4DB2-BD59-A6C34878D82A}">
                    <a16:rowId xmlns:a16="http://schemas.microsoft.com/office/drawing/2014/main" val="3506975710"/>
                  </a:ext>
                </a:extLst>
              </a:tr>
              <a:tr h="133868">
                <a:tc>
                  <a:txBody>
                    <a:bodyPr/>
                    <a:lstStyle/>
                    <a:p>
                      <a:r>
                        <a:rPr lang="en-US" sz="1100">
                          <a:effectLst/>
                          <a:latin typeface="Arial" panose="020B0604020202020204" pitchFamily="34" charset="0"/>
                          <a:cs typeface="Arial" panose="020B0604020202020204" pitchFamily="34" charset="0"/>
                        </a:rPr>
                        <a:t> </a:t>
                      </a:r>
                      <a:endParaRPr lang="tr-TR" sz="1100">
                        <a:effectLst/>
                        <a:latin typeface="Arial" panose="020B0604020202020204" pitchFamily="34" charset="0"/>
                        <a:ea typeface="Times New Roman" panose="02020603050405020304" pitchFamily="18" charset="0"/>
                        <a:cs typeface="Arial" panose="020B0604020202020204" pitchFamily="34" charset="0"/>
                      </a:endParaRPr>
                    </a:p>
                  </a:txBody>
                  <a:tcPr marL="26267" marR="26267" marT="0" marB="0">
                    <a:no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 </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noFill/>
                  </a:tcPr>
                </a:tc>
                <a:extLst>
                  <a:ext uri="{0D108BD9-81ED-4DB2-BD59-A6C34878D82A}">
                    <a16:rowId xmlns:a16="http://schemas.microsoft.com/office/drawing/2014/main" val="2037420444"/>
                  </a:ext>
                </a:extLst>
              </a:tr>
              <a:tr h="133868">
                <a:tc>
                  <a:txBody>
                    <a:bodyPr/>
                    <a:lstStyle/>
                    <a:p>
                      <a:pPr marL="0"/>
                      <a:r>
                        <a:rPr lang="en-US" sz="1100">
                          <a:solidFill>
                            <a:srgbClr val="3333B2"/>
                          </a:solidFill>
                          <a:latin typeface="Arial"/>
                          <a:ea typeface="+mn-ea"/>
                          <a:cs typeface="Arial"/>
                        </a:rPr>
                        <a:t>Quizzes:</a:t>
                      </a:r>
                      <a:endParaRPr lang="tr-TR" sz="1100">
                        <a:solidFill>
                          <a:srgbClr val="3333B2"/>
                        </a:solidFill>
                        <a:latin typeface="Arial"/>
                        <a:ea typeface="+mn-ea"/>
                        <a:cs typeface="Arial"/>
                      </a:endParaRPr>
                    </a:p>
                  </a:txBody>
                  <a:tcPr marL="26267" marR="26267" marT="0" marB="0">
                    <a:no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There will be three quizzes.</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noFill/>
                  </a:tcPr>
                </a:tc>
                <a:extLst>
                  <a:ext uri="{0D108BD9-81ED-4DB2-BD59-A6C34878D82A}">
                    <a16:rowId xmlns:a16="http://schemas.microsoft.com/office/drawing/2014/main" val="1078325002"/>
                  </a:ext>
                </a:extLst>
              </a:tr>
              <a:tr h="133868">
                <a:tc>
                  <a:txBody>
                    <a:bodyPr/>
                    <a:lstStyle/>
                    <a:p>
                      <a:r>
                        <a:rPr lang="en-US" sz="1100">
                          <a:effectLst/>
                          <a:latin typeface="Arial" panose="020B0604020202020204" pitchFamily="34" charset="0"/>
                          <a:cs typeface="Arial" panose="020B0604020202020204" pitchFamily="34" charset="0"/>
                        </a:rPr>
                        <a:t> </a:t>
                      </a:r>
                      <a:endParaRPr lang="tr-TR" sz="1100">
                        <a:effectLst/>
                        <a:latin typeface="Arial" panose="020B0604020202020204" pitchFamily="34" charset="0"/>
                        <a:ea typeface="Times New Roman" panose="02020603050405020304" pitchFamily="18" charset="0"/>
                        <a:cs typeface="Arial" panose="020B0604020202020204" pitchFamily="34" charset="0"/>
                      </a:endParaRPr>
                    </a:p>
                  </a:txBody>
                  <a:tcPr marL="26267" marR="26267" marT="0" marB="0">
                    <a:noFill/>
                  </a:tcPr>
                </a:tc>
                <a:tc>
                  <a:txBody>
                    <a:bodyPr/>
                    <a:lstStyle/>
                    <a:p>
                      <a:pPr>
                        <a:tabLst>
                          <a:tab pos="3303270" algn="l"/>
                        </a:tabLst>
                      </a:pPr>
                      <a:r>
                        <a:rPr lang="en-US" sz="1100">
                          <a:solidFill>
                            <a:schemeClr val="dk1"/>
                          </a:solidFill>
                          <a:latin typeface="Arial" panose="020B0604020202020204" pitchFamily="34" charset="0"/>
                          <a:ea typeface="+mn-ea"/>
                          <a:cs typeface="Arial" panose="020B0604020202020204" pitchFamily="34" charset="0"/>
                        </a:rPr>
                        <a:t> </a:t>
                      </a:r>
                      <a:endParaRPr lang="tr-TR" sz="1100">
                        <a:solidFill>
                          <a:schemeClr val="dk1"/>
                        </a:solidFill>
                        <a:latin typeface="Arial" panose="020B0604020202020204" pitchFamily="34" charset="0"/>
                        <a:ea typeface="+mn-ea"/>
                        <a:cs typeface="Arial" panose="020B0604020202020204" pitchFamily="34" charset="0"/>
                      </a:endParaRPr>
                    </a:p>
                  </a:txBody>
                  <a:tcPr marL="26267" marR="26267" marT="0" marB="0">
                    <a:noFill/>
                  </a:tcPr>
                </a:tc>
                <a:extLst>
                  <a:ext uri="{0D108BD9-81ED-4DB2-BD59-A6C34878D82A}">
                    <a16:rowId xmlns:a16="http://schemas.microsoft.com/office/drawing/2014/main" val="3758526611"/>
                  </a:ext>
                </a:extLst>
              </a:tr>
              <a:tr h="211797">
                <a:tc>
                  <a:txBody>
                    <a:bodyPr/>
                    <a:lstStyle/>
                    <a:p>
                      <a:pPr marL="0"/>
                      <a:r>
                        <a:rPr lang="en-US" sz="1100" dirty="0">
                          <a:solidFill>
                            <a:srgbClr val="3333B2"/>
                          </a:solidFill>
                          <a:latin typeface="Arial"/>
                          <a:ea typeface="+mn-ea"/>
                          <a:cs typeface="Arial"/>
                        </a:rPr>
                        <a:t>Homework(s):</a:t>
                      </a:r>
                      <a:endParaRPr lang="tr-TR" sz="1100" dirty="0">
                        <a:solidFill>
                          <a:srgbClr val="3333B2"/>
                        </a:solidFill>
                        <a:latin typeface="Arial"/>
                        <a:ea typeface="+mn-ea"/>
                        <a:cs typeface="Arial"/>
                      </a:endParaRPr>
                    </a:p>
                  </a:txBody>
                  <a:tcPr marL="26267" marR="26267" marT="0" marB="0">
                    <a:noFill/>
                  </a:tcPr>
                </a:tc>
                <a:tc>
                  <a:txBody>
                    <a:bodyPr/>
                    <a:lstStyle/>
                    <a:p>
                      <a:pPr>
                        <a:tabLst>
                          <a:tab pos="3303270" algn="l"/>
                        </a:tabLst>
                      </a:pPr>
                      <a:r>
                        <a:rPr lang="en-US" sz="1100">
                          <a:solidFill>
                            <a:schemeClr val="dk1"/>
                          </a:solidFill>
                          <a:latin typeface="Arial" panose="020B0604020202020204" pitchFamily="34" charset="0"/>
                          <a:ea typeface="+mn-ea"/>
                          <a:cs typeface="Arial" panose="020B0604020202020204" pitchFamily="34" charset="0"/>
                        </a:rPr>
                        <a:t>There may be some homework assignments.</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noFill/>
                  </a:tcPr>
                </a:tc>
                <a:extLst>
                  <a:ext uri="{0D108BD9-81ED-4DB2-BD59-A6C34878D82A}">
                    <a16:rowId xmlns:a16="http://schemas.microsoft.com/office/drawing/2014/main" val="1242589612"/>
                  </a:ext>
                </a:extLst>
              </a:tr>
              <a:tr h="211797">
                <a:tc>
                  <a:txBody>
                    <a:bodyPr/>
                    <a:lstStyle/>
                    <a:p>
                      <a:pPr marL="0"/>
                      <a:r>
                        <a:rPr lang="tr-TR" sz="1100" dirty="0">
                          <a:solidFill>
                            <a:srgbClr val="3333B2"/>
                          </a:solidFill>
                          <a:latin typeface="Arial"/>
                          <a:ea typeface="+mn-ea"/>
                          <a:cs typeface="Arial"/>
                        </a:rPr>
                        <a:t>P.S.</a:t>
                      </a:r>
                    </a:p>
                  </a:txBody>
                  <a:tcPr marL="26267" marR="26267" marT="0" marB="0">
                    <a:noFill/>
                  </a:tcPr>
                </a:tc>
                <a:tc>
                  <a:txBody>
                    <a:bodyPr/>
                    <a:lstStyle/>
                    <a:p>
                      <a:pPr>
                        <a:tabLst>
                          <a:tab pos="3303270" algn="l"/>
                        </a:tabLst>
                      </a:pPr>
                      <a:r>
                        <a:rPr lang="en-US" sz="1100" dirty="0">
                          <a:solidFill>
                            <a:schemeClr val="dk1"/>
                          </a:solidFill>
                          <a:latin typeface="Arial" panose="020B0604020202020204" pitchFamily="34" charset="0"/>
                          <a:ea typeface="+mn-ea"/>
                          <a:cs typeface="Arial" panose="020B0604020202020204" pitchFamily="34" charset="0"/>
                        </a:rPr>
                        <a:t>There may be problem sessions before the exams.</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noFill/>
                  </a:tcPr>
                </a:tc>
                <a:extLst>
                  <a:ext uri="{0D108BD9-81ED-4DB2-BD59-A6C34878D82A}">
                    <a16:rowId xmlns:a16="http://schemas.microsoft.com/office/drawing/2014/main" val="2024053513"/>
                  </a:ext>
                </a:extLst>
              </a:tr>
            </a:tbl>
          </a:graphicData>
        </a:graphic>
      </p:graphicFrame>
    </p:spTree>
    <p:extLst>
      <p:ext uri="{BB962C8B-B14F-4D97-AF65-F5344CB8AC3E}">
        <p14:creationId xmlns:p14="http://schemas.microsoft.com/office/powerpoint/2010/main" val="2431978157"/>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Recommended textbook</a:t>
            </a:r>
            <a:endParaRPr spc="-10" dirty="0"/>
          </a:p>
        </p:txBody>
      </p:sp>
      <p:pic>
        <p:nvPicPr>
          <p:cNvPr id="4" name="Picture 3">
            <a:extLst>
              <a:ext uri="{FF2B5EF4-FFF2-40B4-BE49-F238E27FC236}">
                <a16:creationId xmlns:a16="http://schemas.microsoft.com/office/drawing/2014/main" id="{FB46D041-6AE1-76BE-92B3-58B7515291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46111" y="511175"/>
            <a:ext cx="2117877" cy="2647111"/>
          </a:xfrm>
          <a:prstGeom prst="rect">
            <a:avLst/>
          </a:prstGeom>
        </p:spPr>
      </p:pic>
    </p:spTree>
    <p:extLst>
      <p:ext uri="{BB962C8B-B14F-4D97-AF65-F5344CB8AC3E}">
        <p14:creationId xmlns:p14="http://schemas.microsoft.com/office/powerpoint/2010/main" val="4276730085"/>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Syllabus</a:t>
            </a:r>
            <a:endParaRPr spc="-10" dirty="0"/>
          </a:p>
        </p:txBody>
      </p:sp>
      <p:graphicFrame>
        <p:nvGraphicFramePr>
          <p:cNvPr id="3" name="Table 2">
            <a:extLst>
              <a:ext uri="{FF2B5EF4-FFF2-40B4-BE49-F238E27FC236}">
                <a16:creationId xmlns:a16="http://schemas.microsoft.com/office/drawing/2014/main" id="{A602BE79-39AB-AD8A-B053-3697D43BEC7C}"/>
              </a:ext>
            </a:extLst>
          </p:cNvPr>
          <p:cNvGraphicFramePr>
            <a:graphicFrameLocks noGrp="1"/>
          </p:cNvGraphicFramePr>
          <p:nvPr>
            <p:extLst>
              <p:ext uri="{D42A27DB-BD31-4B8C-83A1-F6EECF244321}">
                <p14:modId xmlns:p14="http://schemas.microsoft.com/office/powerpoint/2010/main" val="2027215640"/>
              </p:ext>
            </p:extLst>
          </p:nvPr>
        </p:nvGraphicFramePr>
        <p:xfrm>
          <a:off x="95300" y="771911"/>
          <a:ext cx="4419550" cy="1510335"/>
        </p:xfrm>
        <a:graphic>
          <a:graphicData uri="http://schemas.openxmlformats.org/drawingml/2006/table">
            <a:tbl>
              <a:tblPr>
                <a:tableStyleId>{5C22544A-7EE6-4342-B048-85BDC9FD1C3A}</a:tableStyleId>
              </a:tblPr>
              <a:tblGrid>
                <a:gridCol w="1043712">
                  <a:extLst>
                    <a:ext uri="{9D8B030D-6E8A-4147-A177-3AD203B41FA5}">
                      <a16:colId xmlns:a16="http://schemas.microsoft.com/office/drawing/2014/main" val="3780052535"/>
                    </a:ext>
                  </a:extLst>
                </a:gridCol>
                <a:gridCol w="1547038">
                  <a:extLst>
                    <a:ext uri="{9D8B030D-6E8A-4147-A177-3AD203B41FA5}">
                      <a16:colId xmlns:a16="http://schemas.microsoft.com/office/drawing/2014/main" val="936332972"/>
                    </a:ext>
                  </a:extLst>
                </a:gridCol>
                <a:gridCol w="1828800">
                  <a:extLst>
                    <a:ext uri="{9D8B030D-6E8A-4147-A177-3AD203B41FA5}">
                      <a16:colId xmlns:a16="http://schemas.microsoft.com/office/drawing/2014/main" val="3813094965"/>
                    </a:ext>
                  </a:extLst>
                </a:gridCol>
              </a:tblGrid>
              <a:tr h="167955">
                <a:tc>
                  <a:txBody>
                    <a:bodyPr/>
                    <a:lstStyle/>
                    <a:p>
                      <a:r>
                        <a:rPr lang="en-US" sz="1100">
                          <a:effectLst/>
                          <a:latin typeface="Arial" panose="020B0604020202020204" pitchFamily="34" charset="0"/>
                          <a:cs typeface="Arial" panose="020B0604020202020204" pitchFamily="34" charset="0"/>
                        </a:rPr>
                        <a:t> </a:t>
                      </a:r>
                      <a:endParaRPr lang="tr-TR" sz="1100">
                        <a:effectLst/>
                        <a:latin typeface="Arial" panose="020B0604020202020204" pitchFamily="34" charset="0"/>
                        <a:ea typeface="Times New Roman" panose="02020603050405020304" pitchFamily="18" charset="0"/>
                        <a:cs typeface="Arial" panose="020B0604020202020204" pitchFamily="34" charset="0"/>
                      </a:endParaRPr>
                    </a:p>
                  </a:txBody>
                  <a:tcPr marL="26267" marR="26267" marT="0" marB="0">
                    <a:solidFill>
                      <a:schemeClr val="bg1"/>
                    </a:solidFill>
                  </a:tcPr>
                </a:tc>
                <a:tc gridSpan="2">
                  <a:txBody>
                    <a:bodyPr/>
                    <a:lstStyle/>
                    <a:p>
                      <a:pPr>
                        <a:tabLst>
                          <a:tab pos="3303270" algn="l"/>
                        </a:tabLst>
                      </a:pPr>
                      <a:r>
                        <a:rPr lang="en-US" sz="1100" dirty="0">
                          <a:solidFill>
                            <a:schemeClr val="dk1"/>
                          </a:solidFill>
                          <a:latin typeface="Arial" panose="020B0604020202020204" pitchFamily="34" charset="0"/>
                          <a:ea typeface="+mn-ea"/>
                          <a:cs typeface="Arial" panose="020B0604020202020204" pitchFamily="34" charset="0"/>
                        </a:rPr>
                        <a:t> </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tc hMerge="1">
                  <a:txBody>
                    <a:bodyPr/>
                    <a:lstStyle/>
                    <a:p>
                      <a:endParaRPr lang="tr-TR"/>
                    </a:p>
                  </a:txBody>
                  <a:tcPr/>
                </a:tc>
                <a:extLst>
                  <a:ext uri="{0D108BD9-81ED-4DB2-BD59-A6C34878D82A}">
                    <a16:rowId xmlns:a16="http://schemas.microsoft.com/office/drawing/2014/main" val="3583426913"/>
                  </a:ext>
                </a:extLst>
              </a:tr>
              <a:tr h="167955">
                <a:tc>
                  <a:txBody>
                    <a:bodyPr/>
                    <a:lstStyle/>
                    <a:p>
                      <a:pPr marL="0"/>
                      <a:r>
                        <a:rPr lang="en-US" sz="1100" b="0" i="0" spc="-10">
                          <a:solidFill>
                            <a:srgbClr val="3333B2"/>
                          </a:solidFill>
                          <a:latin typeface="Arial" panose="020B0604020202020204" pitchFamily="34" charset="0"/>
                          <a:ea typeface="+mj-ea"/>
                          <a:cs typeface="Arial" panose="020B0604020202020204" pitchFamily="34" charset="0"/>
                        </a:rPr>
                        <a:t>Grading:</a:t>
                      </a:r>
                      <a:endParaRPr lang="tr-TR" sz="1100" b="0" i="0" spc="-10">
                        <a:solidFill>
                          <a:srgbClr val="3333B2"/>
                        </a:solidFill>
                        <a:latin typeface="Arial" panose="020B0604020202020204" pitchFamily="34" charset="0"/>
                        <a:ea typeface="+mj-ea"/>
                        <a:cs typeface="Arial" panose="020B0604020202020204" pitchFamily="34" charset="0"/>
                      </a:endParaRPr>
                    </a:p>
                  </a:txBody>
                  <a:tcPr marL="26267" marR="26267" marT="0" marB="0">
                    <a:solidFill>
                      <a:schemeClr val="bg1"/>
                    </a:solidFill>
                  </a:tcPr>
                </a:tc>
                <a:tc>
                  <a:txBody>
                    <a:bodyPr/>
                    <a:lstStyle/>
                    <a:p>
                      <a:r>
                        <a:rPr lang="en-US" sz="1100">
                          <a:solidFill>
                            <a:schemeClr val="dk1"/>
                          </a:solidFill>
                          <a:latin typeface="Arial" panose="020B0604020202020204" pitchFamily="34" charset="0"/>
                          <a:ea typeface="+mn-ea"/>
                          <a:cs typeface="Arial" panose="020B0604020202020204" pitchFamily="34" charset="0"/>
                        </a:rPr>
                        <a:t> </a:t>
                      </a:r>
                      <a:endParaRPr lang="tr-TR" sz="110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tc>
                  <a:txBody>
                    <a:bodyPr/>
                    <a:lstStyle/>
                    <a:p>
                      <a:r>
                        <a:rPr lang="en-US" sz="1100">
                          <a:solidFill>
                            <a:schemeClr val="dk1"/>
                          </a:solidFill>
                          <a:latin typeface="Arial" panose="020B0604020202020204" pitchFamily="34" charset="0"/>
                          <a:ea typeface="+mn-ea"/>
                          <a:cs typeface="Arial" panose="020B0604020202020204" pitchFamily="34" charset="0"/>
                        </a:rPr>
                        <a:t> </a:t>
                      </a:r>
                      <a:endParaRPr lang="tr-TR" sz="110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extLst>
                  <a:ext uri="{0D108BD9-81ED-4DB2-BD59-A6C34878D82A}">
                    <a16:rowId xmlns:a16="http://schemas.microsoft.com/office/drawing/2014/main" val="815581295"/>
                  </a:ext>
                </a:extLst>
              </a:tr>
              <a:tr h="167955">
                <a:tc>
                  <a:txBody>
                    <a:bodyPr/>
                    <a:lstStyle/>
                    <a:p>
                      <a:r>
                        <a:rPr lang="en-US" sz="1100">
                          <a:effectLst/>
                          <a:latin typeface="Arial" panose="020B0604020202020204" pitchFamily="34" charset="0"/>
                          <a:cs typeface="Arial" panose="020B0604020202020204" pitchFamily="34" charset="0"/>
                        </a:rPr>
                        <a:t> </a:t>
                      </a:r>
                      <a:endParaRPr lang="tr-TR" sz="1100">
                        <a:effectLst/>
                        <a:latin typeface="Arial" panose="020B0604020202020204" pitchFamily="34" charset="0"/>
                        <a:ea typeface="Times New Roman" panose="02020603050405020304" pitchFamily="18" charset="0"/>
                        <a:cs typeface="Arial" panose="020B0604020202020204" pitchFamily="34" charset="0"/>
                      </a:endParaRPr>
                    </a:p>
                  </a:txBody>
                  <a:tcPr marL="26267" marR="26267" marT="0" marB="0">
                    <a:solidFill>
                      <a:schemeClr val="bg1"/>
                    </a:solid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Quizzes</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15%</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extLst>
                  <a:ext uri="{0D108BD9-81ED-4DB2-BD59-A6C34878D82A}">
                    <a16:rowId xmlns:a16="http://schemas.microsoft.com/office/drawing/2014/main" val="577232255"/>
                  </a:ext>
                </a:extLst>
              </a:tr>
              <a:tr h="167955">
                <a:tc>
                  <a:txBody>
                    <a:bodyPr/>
                    <a:lstStyle/>
                    <a:p>
                      <a:r>
                        <a:rPr lang="en-US" sz="1100">
                          <a:effectLst/>
                          <a:latin typeface="Arial" panose="020B0604020202020204" pitchFamily="34" charset="0"/>
                          <a:cs typeface="Arial" panose="020B0604020202020204" pitchFamily="34" charset="0"/>
                        </a:rPr>
                        <a:t> </a:t>
                      </a:r>
                      <a:endParaRPr lang="tr-TR" sz="1100">
                        <a:effectLst/>
                        <a:latin typeface="Arial" panose="020B0604020202020204" pitchFamily="34" charset="0"/>
                        <a:ea typeface="Times New Roman" panose="02020603050405020304" pitchFamily="18" charset="0"/>
                        <a:cs typeface="Arial" panose="020B0604020202020204" pitchFamily="34" charset="0"/>
                      </a:endParaRPr>
                    </a:p>
                  </a:txBody>
                  <a:tcPr marL="26267" marR="26267" marT="0" marB="0">
                    <a:solidFill>
                      <a:schemeClr val="bg1"/>
                    </a:solid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HW</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(N</a:t>
                      </a:r>
                      <a:r>
                        <a:rPr lang="en-US" sz="1100" baseline="-25000" dirty="0">
                          <a:solidFill>
                            <a:schemeClr val="dk1"/>
                          </a:solidFill>
                          <a:latin typeface="Arial" panose="020B0604020202020204" pitchFamily="34" charset="0"/>
                          <a:ea typeface="+mn-ea"/>
                          <a:cs typeface="Arial" panose="020B0604020202020204" pitchFamily="34" charset="0"/>
                        </a:rPr>
                        <a:t>H </a:t>
                      </a:r>
                      <a:r>
                        <a:rPr lang="en-US" sz="1100" baseline="0" dirty="0">
                          <a:solidFill>
                            <a:schemeClr val="dk1"/>
                          </a:solidFill>
                          <a:latin typeface="Arial" panose="020B0604020202020204" pitchFamily="34" charset="0"/>
                          <a:ea typeface="+mn-ea"/>
                          <a:cs typeface="Arial" panose="020B0604020202020204" pitchFamily="34" charset="0"/>
                        </a:rPr>
                        <a:t>x 5) </a:t>
                      </a:r>
                      <a:r>
                        <a:rPr lang="en-US" sz="1100" dirty="0">
                          <a:solidFill>
                            <a:schemeClr val="dk1"/>
                          </a:solidFill>
                          <a:latin typeface="Arial" panose="020B0604020202020204" pitchFamily="34" charset="0"/>
                          <a:ea typeface="+mn-ea"/>
                          <a:cs typeface="Arial" panose="020B0604020202020204" pitchFamily="34" charset="0"/>
                        </a:rPr>
                        <a:t>%</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extLst>
                  <a:ext uri="{0D108BD9-81ED-4DB2-BD59-A6C34878D82A}">
                    <a16:rowId xmlns:a16="http://schemas.microsoft.com/office/drawing/2014/main" val="204864426"/>
                  </a:ext>
                </a:extLst>
              </a:tr>
              <a:tr h="167955">
                <a:tc>
                  <a:txBody>
                    <a:bodyPr/>
                    <a:lstStyle/>
                    <a:p>
                      <a:r>
                        <a:rPr lang="en-US" sz="1100">
                          <a:effectLst/>
                          <a:latin typeface="Arial" panose="020B0604020202020204" pitchFamily="34" charset="0"/>
                          <a:cs typeface="Arial" panose="020B0604020202020204" pitchFamily="34" charset="0"/>
                        </a:rPr>
                        <a:t> </a:t>
                      </a:r>
                      <a:endParaRPr lang="tr-TR" sz="1100">
                        <a:effectLst/>
                        <a:latin typeface="Arial" panose="020B0604020202020204" pitchFamily="34" charset="0"/>
                        <a:ea typeface="Times New Roman" panose="02020603050405020304" pitchFamily="18" charset="0"/>
                        <a:cs typeface="Arial" panose="020B0604020202020204" pitchFamily="34" charset="0"/>
                      </a:endParaRPr>
                    </a:p>
                  </a:txBody>
                  <a:tcPr marL="26267" marR="26267" marT="0" marB="0">
                    <a:solidFill>
                      <a:schemeClr val="bg1"/>
                    </a:solidFill>
                  </a:tcPr>
                </a:tc>
                <a:tc>
                  <a:txBody>
                    <a:bodyPr/>
                    <a:lstStyle/>
                    <a:p>
                      <a:r>
                        <a:rPr lang="en-US" sz="1100">
                          <a:solidFill>
                            <a:schemeClr val="dk1"/>
                          </a:solidFill>
                          <a:latin typeface="Arial" panose="020B0604020202020204" pitchFamily="34" charset="0"/>
                          <a:ea typeface="+mn-ea"/>
                          <a:cs typeface="Arial" panose="020B0604020202020204" pitchFamily="34" charset="0"/>
                        </a:rPr>
                        <a:t>Midterm</a:t>
                      </a:r>
                      <a:endParaRPr lang="tr-TR" sz="110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45 - (N</a:t>
                      </a:r>
                      <a:r>
                        <a:rPr lang="en-US" sz="1100" baseline="-25000" dirty="0">
                          <a:solidFill>
                            <a:schemeClr val="dk1"/>
                          </a:solidFill>
                          <a:latin typeface="Arial" panose="020B0604020202020204" pitchFamily="34" charset="0"/>
                          <a:ea typeface="+mn-ea"/>
                          <a:cs typeface="Arial" panose="020B0604020202020204" pitchFamily="34" charset="0"/>
                        </a:rPr>
                        <a:t>H </a:t>
                      </a:r>
                      <a:r>
                        <a:rPr lang="en-US" sz="1100" baseline="0" dirty="0">
                          <a:solidFill>
                            <a:schemeClr val="dk1"/>
                          </a:solidFill>
                          <a:latin typeface="Arial" panose="020B0604020202020204" pitchFamily="34" charset="0"/>
                          <a:ea typeface="+mn-ea"/>
                          <a:cs typeface="Arial" panose="020B0604020202020204" pitchFamily="34" charset="0"/>
                        </a:rPr>
                        <a:t>x 5) </a:t>
                      </a:r>
                      <a:r>
                        <a:rPr lang="en-US" sz="1100" dirty="0">
                          <a:solidFill>
                            <a:schemeClr val="dk1"/>
                          </a:solidFill>
                          <a:latin typeface="Arial" panose="020B0604020202020204" pitchFamily="34" charset="0"/>
                          <a:ea typeface="+mn-ea"/>
                          <a:cs typeface="Arial" panose="020B0604020202020204" pitchFamily="34" charset="0"/>
                        </a:rPr>
                        <a:t>%</a:t>
                      </a:r>
                      <a:endParaRPr lang="tr-TR" sz="1100" dirty="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extLst>
                  <a:ext uri="{0D108BD9-81ED-4DB2-BD59-A6C34878D82A}">
                    <a16:rowId xmlns:a16="http://schemas.microsoft.com/office/drawing/2014/main" val="3637222637"/>
                  </a:ext>
                </a:extLst>
              </a:tr>
              <a:tr h="256559">
                <a:tc>
                  <a:txBody>
                    <a:bodyPr/>
                    <a:lstStyle/>
                    <a:p>
                      <a:r>
                        <a:rPr lang="en-US" sz="1100">
                          <a:effectLst/>
                          <a:latin typeface="Arial" panose="020B0604020202020204" pitchFamily="34" charset="0"/>
                          <a:cs typeface="Arial" panose="020B0604020202020204" pitchFamily="34" charset="0"/>
                        </a:rPr>
                        <a:t> </a:t>
                      </a:r>
                      <a:endParaRPr lang="tr-TR" sz="1100">
                        <a:effectLst/>
                        <a:latin typeface="Arial" panose="020B0604020202020204" pitchFamily="34" charset="0"/>
                        <a:ea typeface="Times New Roman" panose="02020603050405020304" pitchFamily="18" charset="0"/>
                        <a:cs typeface="Arial" panose="020B0604020202020204" pitchFamily="34" charset="0"/>
                      </a:endParaRPr>
                    </a:p>
                  </a:txBody>
                  <a:tcPr marL="26267" marR="26267" marT="0" marB="0">
                    <a:solidFill>
                      <a:schemeClr val="bg1"/>
                    </a:solidFill>
                  </a:tcPr>
                </a:tc>
                <a:tc>
                  <a:txBody>
                    <a:bodyPr/>
                    <a:lstStyle/>
                    <a:p>
                      <a:r>
                        <a:rPr lang="en-US" sz="1100">
                          <a:solidFill>
                            <a:schemeClr val="dk1"/>
                          </a:solidFill>
                          <a:latin typeface="Arial" panose="020B0604020202020204" pitchFamily="34" charset="0"/>
                          <a:ea typeface="+mn-ea"/>
                          <a:cs typeface="Arial" panose="020B0604020202020204" pitchFamily="34" charset="0"/>
                        </a:rPr>
                        <a:t>Comprehensive Final</a:t>
                      </a:r>
                      <a:endParaRPr lang="tr-TR" sz="1100">
                        <a:solidFill>
                          <a:schemeClr val="dk1"/>
                        </a:solidFill>
                        <a:latin typeface="Arial" panose="020B0604020202020204" pitchFamily="34" charset="0"/>
                        <a:ea typeface="+mn-ea"/>
                        <a:cs typeface="Arial" panose="020B0604020202020204" pitchFamily="34" charset="0"/>
                      </a:endParaRPr>
                    </a:p>
                  </a:txBody>
                  <a:tcPr marL="26267" marR="26267" marT="0" marB="0">
                    <a:solidFill>
                      <a:schemeClr val="bg1"/>
                    </a:solidFill>
                  </a:tcPr>
                </a:tc>
                <a:tc>
                  <a:txBody>
                    <a:bodyPr/>
                    <a:lstStyle/>
                    <a:p>
                      <a:r>
                        <a:rPr lang="en-US" sz="1100" dirty="0">
                          <a:solidFill>
                            <a:schemeClr val="dk1"/>
                          </a:solidFill>
                          <a:latin typeface="Arial" panose="020B0604020202020204" pitchFamily="34" charset="0"/>
                          <a:ea typeface="+mn-ea"/>
                          <a:cs typeface="Arial" panose="020B0604020202020204" pitchFamily="34" charset="0"/>
                        </a:rPr>
                        <a:t>40%</a:t>
                      </a:r>
                    </a:p>
                    <a:p>
                      <a:endParaRPr lang="en-US" sz="1100" dirty="0">
                        <a:solidFill>
                          <a:schemeClr val="dk1"/>
                        </a:solidFill>
                        <a:latin typeface="Arial" panose="020B0604020202020204" pitchFamily="34" charset="0"/>
                        <a:ea typeface="+mn-ea"/>
                        <a:cs typeface="Arial" panose="020B0604020202020204" pitchFamily="34" charset="0"/>
                      </a:endParaRPr>
                    </a:p>
                    <a:p>
                      <a:r>
                        <a:rPr lang="en-US" sz="1100" dirty="0">
                          <a:solidFill>
                            <a:schemeClr val="dk1"/>
                          </a:solidFill>
                          <a:latin typeface="Arial" panose="020B0604020202020204" pitchFamily="34" charset="0"/>
                          <a:ea typeface="+mn-ea"/>
                          <a:cs typeface="Arial" panose="020B0604020202020204" pitchFamily="34" charset="0"/>
                        </a:rPr>
                        <a:t>N</a:t>
                      </a:r>
                      <a:r>
                        <a:rPr lang="en-US" sz="1100" baseline="-25000" dirty="0">
                          <a:solidFill>
                            <a:schemeClr val="dk1"/>
                          </a:solidFill>
                          <a:latin typeface="Arial" panose="020B0604020202020204" pitchFamily="34" charset="0"/>
                          <a:ea typeface="+mn-ea"/>
                          <a:cs typeface="Arial" panose="020B0604020202020204" pitchFamily="34" charset="0"/>
                        </a:rPr>
                        <a:t>H </a:t>
                      </a:r>
                      <a:r>
                        <a:rPr lang="en-US" sz="1100" baseline="0" dirty="0">
                          <a:solidFill>
                            <a:schemeClr val="dk1"/>
                          </a:solidFill>
                          <a:latin typeface="Arial" panose="020B0604020202020204" pitchFamily="34" charset="0"/>
                          <a:ea typeface="+mn-ea"/>
                          <a:cs typeface="Arial" panose="020B0604020202020204" pitchFamily="34" charset="0"/>
                        </a:rPr>
                        <a:t>: Number of homework assignments</a:t>
                      </a:r>
                      <a:r>
                        <a:rPr lang="tr-TR" sz="1100" baseline="0" dirty="0">
                          <a:solidFill>
                            <a:schemeClr val="dk1"/>
                          </a:solidFill>
                          <a:latin typeface="Arial" panose="020B0604020202020204" pitchFamily="34" charset="0"/>
                          <a:ea typeface="+mn-ea"/>
                          <a:cs typeface="Arial" panose="020B0604020202020204" pitchFamily="34" charset="0"/>
                        </a:rPr>
                        <a:t>.</a:t>
                      </a:r>
                    </a:p>
                  </a:txBody>
                  <a:tcPr marL="26267" marR="26267" marT="0" marB="0">
                    <a:solidFill>
                      <a:schemeClr val="bg1"/>
                    </a:solidFill>
                  </a:tcPr>
                </a:tc>
                <a:extLst>
                  <a:ext uri="{0D108BD9-81ED-4DB2-BD59-A6C34878D82A}">
                    <a16:rowId xmlns:a16="http://schemas.microsoft.com/office/drawing/2014/main" val="3442787417"/>
                  </a:ext>
                </a:extLst>
              </a:tr>
            </a:tbl>
          </a:graphicData>
        </a:graphic>
      </p:graphicFrame>
    </p:spTree>
    <p:extLst>
      <p:ext uri="{BB962C8B-B14F-4D97-AF65-F5344CB8AC3E}">
        <p14:creationId xmlns:p14="http://schemas.microsoft.com/office/powerpoint/2010/main" val="1989112461"/>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1FE09-151E-C34C-6220-B13C774222EF}"/>
              </a:ext>
            </a:extLst>
          </p:cNvPr>
          <p:cNvSpPr>
            <a:spLocks noGrp="1"/>
          </p:cNvSpPr>
          <p:nvPr>
            <p:ph type="title"/>
          </p:nvPr>
        </p:nvSpPr>
        <p:spPr>
          <a:xfrm>
            <a:off x="68908" y="59089"/>
            <a:ext cx="4514800" cy="215444"/>
          </a:xfrm>
        </p:spPr>
        <p:txBody>
          <a:bodyPr/>
          <a:lstStyle/>
          <a:p>
            <a:r>
              <a:rPr lang="en-US" dirty="0"/>
              <a:t>Electric Circuits Applications – Communication Systems</a:t>
            </a:r>
          </a:p>
        </p:txBody>
      </p:sp>
      <p:sp>
        <p:nvSpPr>
          <p:cNvPr id="3" name="Text Placeholder 2">
            <a:extLst>
              <a:ext uri="{FF2B5EF4-FFF2-40B4-BE49-F238E27FC236}">
                <a16:creationId xmlns:a16="http://schemas.microsoft.com/office/drawing/2014/main" id="{81330126-8125-C9E8-588C-DCF5D38AA90C}"/>
              </a:ext>
            </a:extLst>
          </p:cNvPr>
          <p:cNvSpPr>
            <a:spLocks noGrp="1"/>
          </p:cNvSpPr>
          <p:nvPr>
            <p:ph type="body" idx="1"/>
          </p:nvPr>
        </p:nvSpPr>
        <p:spPr/>
        <p:txBody>
          <a:bodyPr/>
          <a:lstStyle/>
          <a:p>
            <a:endParaRPr lang="en-US"/>
          </a:p>
        </p:txBody>
      </p:sp>
      <p:pic>
        <p:nvPicPr>
          <p:cNvPr id="2050" name="Picture 2">
            <a:extLst>
              <a:ext uri="{FF2B5EF4-FFF2-40B4-BE49-F238E27FC236}">
                <a16:creationId xmlns:a16="http://schemas.microsoft.com/office/drawing/2014/main" id="{B4DFCE0C-28DA-9525-E456-1902BFF8A0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390983"/>
            <a:ext cx="4004916" cy="3015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439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1FE09-151E-C34C-6220-B13C774222EF}"/>
              </a:ext>
            </a:extLst>
          </p:cNvPr>
          <p:cNvSpPr>
            <a:spLocks noGrp="1"/>
          </p:cNvSpPr>
          <p:nvPr>
            <p:ph type="title"/>
          </p:nvPr>
        </p:nvSpPr>
        <p:spPr>
          <a:xfrm>
            <a:off x="68908" y="59089"/>
            <a:ext cx="4514800" cy="215444"/>
          </a:xfrm>
        </p:spPr>
        <p:txBody>
          <a:bodyPr/>
          <a:lstStyle/>
          <a:p>
            <a:r>
              <a:rPr lang="en-US" dirty="0"/>
              <a:t>Electric Circuits Applications – Computing Systems</a:t>
            </a:r>
          </a:p>
        </p:txBody>
      </p:sp>
      <p:sp>
        <p:nvSpPr>
          <p:cNvPr id="3" name="Text Placeholder 2">
            <a:extLst>
              <a:ext uri="{FF2B5EF4-FFF2-40B4-BE49-F238E27FC236}">
                <a16:creationId xmlns:a16="http://schemas.microsoft.com/office/drawing/2014/main" id="{81330126-8125-C9E8-588C-DCF5D38AA90C}"/>
              </a:ext>
            </a:extLst>
          </p:cNvPr>
          <p:cNvSpPr>
            <a:spLocks noGrp="1"/>
          </p:cNvSpPr>
          <p:nvPr>
            <p:ph type="body" idx="1"/>
          </p:nvPr>
        </p:nvSpPr>
        <p:spPr>
          <a:xfrm>
            <a:off x="96424" y="358775"/>
            <a:ext cx="4342225" cy="507831"/>
          </a:xfrm>
        </p:spPr>
        <p:txBody>
          <a:bodyPr/>
          <a:lstStyle/>
          <a:p>
            <a:r>
              <a:rPr lang="en-GB" altLang="tr-TR" dirty="0"/>
              <a:t>Our current modern PCs could be made possible thanks to electric circuit.</a:t>
            </a:r>
            <a:endParaRPr lang="en-US" dirty="0"/>
          </a:p>
          <a:p>
            <a:endParaRPr lang="en-US" dirty="0"/>
          </a:p>
        </p:txBody>
      </p:sp>
      <p:pic>
        <p:nvPicPr>
          <p:cNvPr id="4" name="Picture 2">
            <a:extLst>
              <a:ext uri="{FF2B5EF4-FFF2-40B4-BE49-F238E27FC236}">
                <a16:creationId xmlns:a16="http://schemas.microsoft.com/office/drawing/2014/main" id="{3349FE9E-EADC-9953-0F83-D992454064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11" y="866606"/>
            <a:ext cx="3280994" cy="2192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0262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C5C4C-2369-5887-E434-AC8557AEFDC9}"/>
              </a:ext>
            </a:extLst>
          </p:cNvPr>
          <p:cNvSpPr>
            <a:spLocks noGrp="1"/>
          </p:cNvSpPr>
          <p:nvPr>
            <p:ph type="title"/>
          </p:nvPr>
        </p:nvSpPr>
        <p:spPr>
          <a:xfrm>
            <a:off x="0" y="59814"/>
            <a:ext cx="4610100" cy="430887"/>
          </a:xfrm>
        </p:spPr>
        <p:txBody>
          <a:bodyPr/>
          <a:lstStyle/>
          <a:p>
            <a:r>
              <a:rPr lang="en-US" dirty="0"/>
              <a:t>Electric Circuits Applications – Signal Processing Systems</a:t>
            </a:r>
          </a:p>
        </p:txBody>
      </p:sp>
      <p:sp>
        <p:nvSpPr>
          <p:cNvPr id="3" name="Text Placeholder 2">
            <a:extLst>
              <a:ext uri="{FF2B5EF4-FFF2-40B4-BE49-F238E27FC236}">
                <a16:creationId xmlns:a16="http://schemas.microsoft.com/office/drawing/2014/main" id="{2DAF0BA2-B1B8-8CF8-D6EA-D3F72590D00E}"/>
              </a:ext>
            </a:extLst>
          </p:cNvPr>
          <p:cNvSpPr>
            <a:spLocks noGrp="1"/>
          </p:cNvSpPr>
          <p:nvPr>
            <p:ph type="body" idx="1"/>
          </p:nvPr>
        </p:nvSpPr>
        <p:spPr/>
        <p:txBody>
          <a:bodyPr/>
          <a:lstStyle/>
          <a:p>
            <a:endParaRPr lang="en-US"/>
          </a:p>
        </p:txBody>
      </p:sp>
      <p:pic>
        <p:nvPicPr>
          <p:cNvPr id="5122" name="Picture 2">
            <a:extLst>
              <a:ext uri="{FF2B5EF4-FFF2-40B4-BE49-F238E27FC236}">
                <a16:creationId xmlns:a16="http://schemas.microsoft.com/office/drawing/2014/main" id="{1944FE7F-B731-C139-9BC3-2FEE0FA6C9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656" y="490701"/>
            <a:ext cx="3282950" cy="2857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294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(3 of 21)</a:t>
            </a:r>
            <a:endParaRPr lang="en-US"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216945" y="629038"/>
            <a:ext cx="4154646" cy="429209"/>
          </a:xfrm>
        </p:spPr>
        <p:txBody>
          <a:bodyPr wrap="square" lIns="0" tIns="9075" rIns="0" bIns="9075" anchor="ctr" anchorCtr="0">
            <a:spAutoFit/>
          </a:bodyPr>
          <a:lstStyle/>
          <a:p>
            <a:pPr>
              <a:spcBef>
                <a:spcPts val="303"/>
              </a:spcBef>
            </a:pPr>
            <a:r>
              <a:rPr lang="en-US" altLang="en-US" sz="1210" dirty="0"/>
              <a:t>Section 1.3</a:t>
            </a:r>
          </a:p>
          <a:p>
            <a:pPr marL="172890" indent="-172890">
              <a:spcBef>
                <a:spcPts val="303"/>
              </a:spcBef>
            </a:pPr>
            <a:r>
              <a:rPr lang="en-US" altLang="en-US" sz="1210" dirty="0"/>
              <a:t>How does circuit theory fit into the overall scheme of things?</a:t>
            </a:r>
            <a:endParaRPr lang="en-US" sz="1109" dirty="0"/>
          </a:p>
        </p:txBody>
      </p:sp>
      <p:pic>
        <p:nvPicPr>
          <p:cNvPr id="4" name="Picture 3" descr="A flow chart illustrates circuit variables. It shows need which is connected to design specification, design specification is connected to three parts concept, circuit model and physical prototype, which are interconnected to each other. Below the flow chart three processes are shows refinement based on analysis, laboratory measurement and refinement based on measurement.  ">
            <a:extLst>
              <a:ext uri="{FF2B5EF4-FFF2-40B4-BE49-F238E27FC236}">
                <a16:creationId xmlns:a16="http://schemas.microsoft.com/office/drawing/2014/main" id="{AAA09978-D452-614C-AF83-82C8C3A4B764}"/>
              </a:ext>
            </a:extLst>
          </p:cNvPr>
          <p:cNvPicPr>
            <a:picLocks noChangeAspect="1"/>
          </p:cNvPicPr>
          <p:nvPr/>
        </p:nvPicPr>
        <p:blipFill>
          <a:blip r:embed="rId2"/>
          <a:srcRect/>
          <a:stretch/>
        </p:blipFill>
        <p:spPr>
          <a:xfrm>
            <a:off x="1485809" y="1209517"/>
            <a:ext cx="1638482" cy="2027015"/>
          </a:xfrm>
          <a:prstGeom prst="rect">
            <a:avLst/>
          </a:prstGeom>
        </p:spPr>
      </p:pic>
    </p:spTree>
    <p:extLst>
      <p:ext uri="{BB962C8B-B14F-4D97-AF65-F5344CB8AC3E}">
        <p14:creationId xmlns:p14="http://schemas.microsoft.com/office/powerpoint/2010/main" val="1953683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216945" y="25072"/>
            <a:ext cx="4154646" cy="297634"/>
          </a:xfrm>
        </p:spPr>
        <p:txBody>
          <a:bodyPr wrap="square" lIns="0" tIns="9075" rIns="0" bIns="9075" anchor="ctr" anchorCtr="0">
            <a:spAutoFit/>
          </a:bodyPr>
          <a:lstStyle/>
          <a:p>
            <a:r>
              <a:rPr lang="en-US" dirty="0"/>
              <a:t>Chapter 1 – Circuit Variables </a:t>
            </a:r>
            <a:r>
              <a:rPr lang="en-US" sz="1412" dirty="0"/>
              <a:t>(2 of 21)</a:t>
            </a:r>
            <a:endParaRPr lang="en-US"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216945" y="337750"/>
            <a:ext cx="4154646" cy="189015"/>
          </a:xfrm>
        </p:spPr>
        <p:txBody>
          <a:bodyPr wrap="square" lIns="0" tIns="9075" rIns="0" bIns="9075" anchor="ctr" anchorCtr="0">
            <a:spAutoFit/>
          </a:bodyPr>
          <a:lstStyle/>
          <a:p>
            <a:pPr>
              <a:spcBef>
                <a:spcPts val="303"/>
              </a:spcBef>
            </a:pPr>
            <a:r>
              <a:rPr lang="en-US" altLang="en-US" sz="1109" dirty="0"/>
              <a:t>Memorize the boxed prefixes – we use them ALL THE TIME!!</a:t>
            </a:r>
            <a:endParaRPr lang="en-US" sz="1109" dirty="0"/>
          </a:p>
        </p:txBody>
      </p:sp>
      <p:sp>
        <p:nvSpPr>
          <p:cNvPr id="10" name="Content Placeholder 9">
            <a:extLst>
              <a:ext uri="{FF2B5EF4-FFF2-40B4-BE49-F238E27FC236}">
                <a16:creationId xmlns:a16="http://schemas.microsoft.com/office/drawing/2014/main" id="{9C2AEBF5-9AA9-2809-5ACA-399BA4646977}"/>
              </a:ext>
            </a:extLst>
          </p:cNvPr>
          <p:cNvSpPr>
            <a:spLocks noGrp="1"/>
          </p:cNvSpPr>
          <p:nvPr>
            <p:ph sz="quarter" idx="13"/>
          </p:nvPr>
        </p:nvSpPr>
        <p:spPr>
          <a:xfrm>
            <a:off x="227727" y="583538"/>
            <a:ext cx="4154646" cy="189015"/>
          </a:xfrm>
        </p:spPr>
        <p:txBody>
          <a:bodyPr wrap="square" lIns="0" tIns="9075" rIns="0" bIns="9075" anchor="ctr" anchorCtr="0">
            <a:spAutoFit/>
          </a:bodyPr>
          <a:lstStyle/>
          <a:p>
            <a:pPr>
              <a:spcBef>
                <a:spcPts val="303"/>
              </a:spcBef>
            </a:pPr>
            <a:r>
              <a:rPr lang="en-US" altLang="en-US" sz="1109" b="1" dirty="0"/>
              <a:t>Table 1.3 </a:t>
            </a:r>
            <a:r>
              <a:rPr lang="en-US" altLang="en-US" sz="1109" dirty="0"/>
              <a:t>Standardized Prefixes to Signify Powers of 10</a:t>
            </a:r>
            <a:endParaRPr lang="en-US" sz="1109" dirty="0"/>
          </a:p>
        </p:txBody>
      </p:sp>
      <p:pic>
        <p:nvPicPr>
          <p:cNvPr id="3" name="Picture 2" descr="A table illustrates various information on Prefix, Symbol, and Power. The information of Prefix is listed as atto, femto, pico, nano, micro, milli, centi, deci, deka, hecto, kilo, mega, giga, tera, and the corresponding. Symbols are listed as a, f, p, n, µ, m, c, d, da, h, k, M, G, and T along with the corresponding values of Power are 10 raised to negative 18 power, 10 raised to negative 15 power, 10 raised to negative 12 power, 10 raised to negative 9 power, 10 raised to negative 6 power, 10 raised to negative 3 power, 10 raised to negative 2 power, 10 raised to negative 1 power, 10, 10 squared, 10 cubed, 10 raised to 3 power, 10 raised to 6 power, 10 raised to 9 power, and 10 raised to 12 power. The values for pico, nano, micro, milli, kilo, and mega are boxed and marked as important.">
            <a:extLst>
              <a:ext uri="{FF2B5EF4-FFF2-40B4-BE49-F238E27FC236}">
                <a16:creationId xmlns:a16="http://schemas.microsoft.com/office/drawing/2014/main" id="{4FD3122B-9FAD-CAA6-5D1E-2B56C94A5187}"/>
              </a:ext>
            </a:extLst>
          </p:cNvPr>
          <p:cNvPicPr>
            <a:picLocks noChangeAspect="1"/>
          </p:cNvPicPr>
          <p:nvPr/>
        </p:nvPicPr>
        <p:blipFill rotWithShape="1">
          <a:blip r:embed="rId3"/>
          <a:srcRect t="11335" r="6473"/>
          <a:stretch/>
        </p:blipFill>
        <p:spPr>
          <a:xfrm>
            <a:off x="1390650" y="999056"/>
            <a:ext cx="1696070" cy="2139534"/>
          </a:xfrm>
          <a:prstGeom prst="rect">
            <a:avLst/>
          </a:prstGeom>
        </p:spPr>
      </p:pic>
    </p:spTree>
    <p:extLst>
      <p:ext uri="{BB962C8B-B14F-4D97-AF65-F5344CB8AC3E}">
        <p14:creationId xmlns:p14="http://schemas.microsoft.com/office/powerpoint/2010/main" val="625310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a:extLst>
              <a:ext uri="{FF2B5EF4-FFF2-40B4-BE49-F238E27FC236}">
                <a16:creationId xmlns:a16="http://schemas.microsoft.com/office/drawing/2014/main" id="{5ECB3331-D7B2-0C62-A9CF-FFF53F029C01}"/>
              </a:ext>
            </a:extLst>
          </p:cNvPr>
          <p:cNvPicPr>
            <a:picLocks noChangeAspect="1"/>
          </p:cNvPicPr>
          <p:nvPr/>
        </p:nvPicPr>
        <p:blipFill>
          <a:blip r:embed="rId3"/>
          <a:stretch>
            <a:fillRect/>
          </a:stretch>
        </p:blipFill>
        <p:spPr>
          <a:xfrm>
            <a:off x="0" y="347345"/>
            <a:ext cx="4610100" cy="2766060"/>
          </a:xfrm>
          <a:prstGeom prst="rect">
            <a:avLst/>
          </a:prstGeom>
        </p:spPr>
      </p:pic>
    </p:spTree>
    <p:extLst>
      <p:ext uri="{BB962C8B-B14F-4D97-AF65-F5344CB8AC3E}">
        <p14:creationId xmlns:p14="http://schemas.microsoft.com/office/powerpoint/2010/main" val="3875255968"/>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3" name="Picture 2">
            <a:extLst>
              <a:ext uri="{FF2B5EF4-FFF2-40B4-BE49-F238E27FC236}">
                <a16:creationId xmlns:a16="http://schemas.microsoft.com/office/drawing/2014/main" id="{20882958-6DED-6A6B-4DCF-1EF0CFFEEC51}"/>
              </a:ext>
            </a:extLst>
          </p:cNvPr>
          <p:cNvPicPr>
            <a:picLocks noChangeAspect="1"/>
          </p:cNvPicPr>
          <p:nvPr/>
        </p:nvPicPr>
        <p:blipFill>
          <a:blip r:embed="rId3"/>
          <a:stretch>
            <a:fillRect/>
          </a:stretch>
        </p:blipFill>
        <p:spPr>
          <a:xfrm>
            <a:off x="0" y="739775"/>
            <a:ext cx="4610100" cy="2385929"/>
          </a:xfrm>
          <a:prstGeom prst="rect">
            <a:avLst/>
          </a:prstGeom>
        </p:spPr>
      </p:pic>
    </p:spTree>
    <p:extLst>
      <p:ext uri="{BB962C8B-B14F-4D97-AF65-F5344CB8AC3E}">
        <p14:creationId xmlns:p14="http://schemas.microsoft.com/office/powerpoint/2010/main" val="1914488070"/>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3" name="Picture 2">
            <a:extLst>
              <a:ext uri="{FF2B5EF4-FFF2-40B4-BE49-F238E27FC236}">
                <a16:creationId xmlns:a16="http://schemas.microsoft.com/office/drawing/2014/main" id="{8C6E9502-2BA8-EA5F-4963-B52CACFF5E03}"/>
              </a:ext>
            </a:extLst>
          </p:cNvPr>
          <p:cNvPicPr>
            <a:picLocks noChangeAspect="1"/>
          </p:cNvPicPr>
          <p:nvPr/>
        </p:nvPicPr>
        <p:blipFill>
          <a:blip r:embed="rId3"/>
          <a:stretch>
            <a:fillRect/>
          </a:stretch>
        </p:blipFill>
        <p:spPr>
          <a:xfrm>
            <a:off x="0" y="400906"/>
            <a:ext cx="4610100" cy="2658937"/>
          </a:xfrm>
          <a:prstGeom prst="rect">
            <a:avLst/>
          </a:prstGeom>
        </p:spPr>
      </p:pic>
    </p:spTree>
    <p:extLst>
      <p:ext uri="{BB962C8B-B14F-4D97-AF65-F5344CB8AC3E}">
        <p14:creationId xmlns:p14="http://schemas.microsoft.com/office/powerpoint/2010/main" val="4253932534"/>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3" name="Picture 2">
            <a:extLst>
              <a:ext uri="{FF2B5EF4-FFF2-40B4-BE49-F238E27FC236}">
                <a16:creationId xmlns:a16="http://schemas.microsoft.com/office/drawing/2014/main" id="{A9652FC6-E080-211F-D6D4-89FD8F600E62}"/>
              </a:ext>
            </a:extLst>
          </p:cNvPr>
          <p:cNvPicPr>
            <a:picLocks noChangeAspect="1"/>
          </p:cNvPicPr>
          <p:nvPr/>
        </p:nvPicPr>
        <p:blipFill>
          <a:blip r:embed="rId3"/>
          <a:stretch>
            <a:fillRect/>
          </a:stretch>
        </p:blipFill>
        <p:spPr>
          <a:xfrm>
            <a:off x="0" y="415978"/>
            <a:ext cx="4610100" cy="2628793"/>
          </a:xfrm>
          <a:prstGeom prst="rect">
            <a:avLst/>
          </a:prstGeom>
        </p:spPr>
      </p:pic>
    </p:spTree>
    <p:extLst>
      <p:ext uri="{BB962C8B-B14F-4D97-AF65-F5344CB8AC3E}">
        <p14:creationId xmlns:p14="http://schemas.microsoft.com/office/powerpoint/2010/main" val="2489028259"/>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3" name="Picture 2">
            <a:extLst>
              <a:ext uri="{FF2B5EF4-FFF2-40B4-BE49-F238E27FC236}">
                <a16:creationId xmlns:a16="http://schemas.microsoft.com/office/drawing/2014/main" id="{1170AD2A-C55B-E5DD-B768-40810E5570A6}"/>
              </a:ext>
            </a:extLst>
          </p:cNvPr>
          <p:cNvPicPr>
            <a:picLocks noChangeAspect="1"/>
          </p:cNvPicPr>
          <p:nvPr/>
        </p:nvPicPr>
        <p:blipFill>
          <a:blip r:embed="rId3"/>
          <a:stretch>
            <a:fillRect/>
          </a:stretch>
        </p:blipFill>
        <p:spPr>
          <a:xfrm>
            <a:off x="0" y="359267"/>
            <a:ext cx="4610100" cy="2742215"/>
          </a:xfrm>
          <a:prstGeom prst="rect">
            <a:avLst/>
          </a:prstGeom>
        </p:spPr>
      </p:pic>
    </p:spTree>
    <p:extLst>
      <p:ext uri="{BB962C8B-B14F-4D97-AF65-F5344CB8AC3E}">
        <p14:creationId xmlns:p14="http://schemas.microsoft.com/office/powerpoint/2010/main" val="3980386718"/>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3" name="Picture 2">
            <a:extLst>
              <a:ext uri="{FF2B5EF4-FFF2-40B4-BE49-F238E27FC236}">
                <a16:creationId xmlns:a16="http://schemas.microsoft.com/office/drawing/2014/main" id="{D0C7BE8C-BAA4-D0BA-4568-388ABF2D288C}"/>
              </a:ext>
            </a:extLst>
          </p:cNvPr>
          <p:cNvPicPr>
            <a:picLocks noChangeAspect="1"/>
          </p:cNvPicPr>
          <p:nvPr/>
        </p:nvPicPr>
        <p:blipFill>
          <a:blip r:embed="rId3"/>
          <a:stretch>
            <a:fillRect/>
          </a:stretch>
        </p:blipFill>
        <p:spPr>
          <a:xfrm>
            <a:off x="0" y="342215"/>
            <a:ext cx="4610100" cy="2776319"/>
          </a:xfrm>
          <a:prstGeom prst="rect">
            <a:avLst/>
          </a:prstGeom>
        </p:spPr>
      </p:pic>
    </p:spTree>
    <p:extLst>
      <p:ext uri="{BB962C8B-B14F-4D97-AF65-F5344CB8AC3E}">
        <p14:creationId xmlns:p14="http://schemas.microsoft.com/office/powerpoint/2010/main" val="677164309"/>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a:extLst>
              <a:ext uri="{FF2B5EF4-FFF2-40B4-BE49-F238E27FC236}">
                <a16:creationId xmlns:a16="http://schemas.microsoft.com/office/drawing/2014/main" id="{7B49441A-C765-8A0A-E1E6-5B7C4227B073}"/>
              </a:ext>
            </a:extLst>
          </p:cNvPr>
          <p:cNvPicPr>
            <a:picLocks noChangeAspect="1"/>
          </p:cNvPicPr>
          <p:nvPr/>
        </p:nvPicPr>
        <p:blipFill>
          <a:blip r:embed="rId3"/>
          <a:stretch>
            <a:fillRect/>
          </a:stretch>
        </p:blipFill>
        <p:spPr>
          <a:xfrm>
            <a:off x="0" y="415500"/>
            <a:ext cx="4610100" cy="2629750"/>
          </a:xfrm>
          <a:prstGeom prst="rect">
            <a:avLst/>
          </a:prstGeom>
        </p:spPr>
      </p:pic>
    </p:spTree>
    <p:extLst>
      <p:ext uri="{BB962C8B-B14F-4D97-AF65-F5344CB8AC3E}">
        <p14:creationId xmlns:p14="http://schemas.microsoft.com/office/powerpoint/2010/main" val="2019503196"/>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3" name="Picture 2">
            <a:extLst>
              <a:ext uri="{FF2B5EF4-FFF2-40B4-BE49-F238E27FC236}">
                <a16:creationId xmlns:a16="http://schemas.microsoft.com/office/drawing/2014/main" id="{EA121100-4FAF-9EB0-245B-85AF0F4162C0}"/>
              </a:ext>
            </a:extLst>
          </p:cNvPr>
          <p:cNvPicPr>
            <a:picLocks noChangeAspect="1"/>
          </p:cNvPicPr>
          <p:nvPr/>
        </p:nvPicPr>
        <p:blipFill>
          <a:blip r:embed="rId3"/>
          <a:stretch>
            <a:fillRect/>
          </a:stretch>
        </p:blipFill>
        <p:spPr>
          <a:xfrm>
            <a:off x="0" y="447284"/>
            <a:ext cx="4610100" cy="2566182"/>
          </a:xfrm>
          <a:prstGeom prst="rect">
            <a:avLst/>
          </a:prstGeom>
        </p:spPr>
      </p:pic>
    </p:spTree>
    <p:extLst>
      <p:ext uri="{BB962C8B-B14F-4D97-AF65-F5344CB8AC3E}">
        <p14:creationId xmlns:p14="http://schemas.microsoft.com/office/powerpoint/2010/main" val="1781352157"/>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3" name="Picture 2">
            <a:extLst>
              <a:ext uri="{FF2B5EF4-FFF2-40B4-BE49-F238E27FC236}">
                <a16:creationId xmlns:a16="http://schemas.microsoft.com/office/drawing/2014/main" id="{F12889C9-9C3E-F853-AC5C-404BB9543F68}"/>
              </a:ext>
            </a:extLst>
          </p:cNvPr>
          <p:cNvPicPr>
            <a:picLocks noChangeAspect="1"/>
          </p:cNvPicPr>
          <p:nvPr/>
        </p:nvPicPr>
        <p:blipFill>
          <a:blip r:embed="rId3"/>
          <a:stretch>
            <a:fillRect/>
          </a:stretch>
        </p:blipFill>
        <p:spPr>
          <a:xfrm>
            <a:off x="0" y="397062"/>
            <a:ext cx="4610100" cy="2666626"/>
          </a:xfrm>
          <a:prstGeom prst="rect">
            <a:avLst/>
          </a:prstGeom>
        </p:spPr>
      </p:pic>
    </p:spTree>
    <p:extLst>
      <p:ext uri="{BB962C8B-B14F-4D97-AF65-F5344CB8AC3E}">
        <p14:creationId xmlns:p14="http://schemas.microsoft.com/office/powerpoint/2010/main" val="2052114725"/>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close-up of a device&#10;&#10;AI-generated content may be incorrect.">
            <a:extLst>
              <a:ext uri="{FF2B5EF4-FFF2-40B4-BE49-F238E27FC236}">
                <a16:creationId xmlns:a16="http://schemas.microsoft.com/office/drawing/2014/main" id="{02B53A26-BABB-EAFE-CC09-3DBEBAE225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5314"/>
            <a:ext cx="4610100" cy="2710121"/>
          </a:xfrm>
          <a:prstGeom prst="rect">
            <a:avLst/>
          </a:prstGeom>
        </p:spPr>
      </p:pic>
    </p:spTree>
    <p:extLst>
      <p:ext uri="{BB962C8B-B14F-4D97-AF65-F5344CB8AC3E}">
        <p14:creationId xmlns:p14="http://schemas.microsoft.com/office/powerpoint/2010/main" val="1332747823"/>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electrical current&#10;&#10;AI-generated content may be incorrect.">
            <a:extLst>
              <a:ext uri="{FF2B5EF4-FFF2-40B4-BE49-F238E27FC236}">
                <a16:creationId xmlns:a16="http://schemas.microsoft.com/office/drawing/2014/main" id="{7AEB5609-C1D1-A256-E5F2-EE8FD758D5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5964"/>
            <a:ext cx="4610100" cy="2688822"/>
          </a:xfrm>
          <a:prstGeom prst="rect">
            <a:avLst/>
          </a:prstGeom>
        </p:spPr>
      </p:pic>
    </p:spTree>
    <p:extLst>
      <p:ext uri="{BB962C8B-B14F-4D97-AF65-F5344CB8AC3E}">
        <p14:creationId xmlns:p14="http://schemas.microsoft.com/office/powerpoint/2010/main" val="2185485707"/>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4AAE39-5728-4A0C-5DAC-67032FBD93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4ABBCF-71F6-1AF4-48B3-F12BB0D8483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traffic jam on a street&#10;&#10;AI-generated content may be incorrect.">
            <a:extLst>
              <a:ext uri="{FF2B5EF4-FFF2-40B4-BE49-F238E27FC236}">
                <a16:creationId xmlns:a16="http://schemas.microsoft.com/office/drawing/2014/main" id="{A7C16679-3C10-C36F-106B-7B9B600D17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1136"/>
            <a:ext cx="4610100" cy="2698477"/>
          </a:xfrm>
          <a:prstGeom prst="rect">
            <a:avLst/>
          </a:prstGeom>
        </p:spPr>
      </p:pic>
    </p:spTree>
    <p:extLst>
      <p:ext uri="{BB962C8B-B14F-4D97-AF65-F5344CB8AC3E}">
        <p14:creationId xmlns:p14="http://schemas.microsoft.com/office/powerpoint/2010/main" val="2046619494"/>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9B8AE8-6C8C-4F97-5927-2AD2EC46C69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14B3987-AA52-F6D4-4FB5-A2C93C7CF42A}"/>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water current and a dam&#10;&#10;AI-generated content may be incorrect.">
            <a:extLst>
              <a:ext uri="{FF2B5EF4-FFF2-40B4-BE49-F238E27FC236}">
                <a16:creationId xmlns:a16="http://schemas.microsoft.com/office/drawing/2014/main" id="{1B40B5C7-266E-A287-D554-BA4313B82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6730"/>
            <a:ext cx="4610100" cy="2707290"/>
          </a:xfrm>
          <a:prstGeom prst="rect">
            <a:avLst/>
          </a:prstGeom>
        </p:spPr>
      </p:pic>
    </p:spTree>
    <p:extLst>
      <p:ext uri="{BB962C8B-B14F-4D97-AF65-F5344CB8AC3E}">
        <p14:creationId xmlns:p14="http://schemas.microsoft.com/office/powerpoint/2010/main" val="3674702851"/>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F1BE10-64C8-CE43-327B-877DF306005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21FA80-D011-AE0E-57A9-8961A6ACF2E4}"/>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a battery&#10;&#10;AI-generated content may be incorrect.">
            <a:extLst>
              <a:ext uri="{FF2B5EF4-FFF2-40B4-BE49-F238E27FC236}">
                <a16:creationId xmlns:a16="http://schemas.microsoft.com/office/drawing/2014/main" id="{2E26B5B5-8ACF-C225-8AF7-BF899B608E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8471"/>
            <a:ext cx="4610100" cy="2603808"/>
          </a:xfrm>
          <a:prstGeom prst="rect">
            <a:avLst/>
          </a:prstGeom>
        </p:spPr>
      </p:pic>
    </p:spTree>
    <p:extLst>
      <p:ext uri="{BB962C8B-B14F-4D97-AF65-F5344CB8AC3E}">
        <p14:creationId xmlns:p14="http://schemas.microsoft.com/office/powerpoint/2010/main" val="2685815551"/>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DFCE1C2-93C0-EC4B-46E4-63DDF9A5ED0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7C1CD8B-F61F-990D-36F4-EDE6D194F5FD}"/>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battery and a battery&#10;&#10;AI-generated content may be incorrect.">
            <a:extLst>
              <a:ext uri="{FF2B5EF4-FFF2-40B4-BE49-F238E27FC236}">
                <a16:creationId xmlns:a16="http://schemas.microsoft.com/office/drawing/2014/main" id="{8BCBB248-E909-CEF2-E354-56373DE59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3467"/>
            <a:ext cx="4610100" cy="2713816"/>
          </a:xfrm>
          <a:prstGeom prst="rect">
            <a:avLst/>
          </a:prstGeom>
        </p:spPr>
      </p:pic>
    </p:spTree>
    <p:extLst>
      <p:ext uri="{BB962C8B-B14F-4D97-AF65-F5344CB8AC3E}">
        <p14:creationId xmlns:p14="http://schemas.microsoft.com/office/powerpoint/2010/main" val="1342573895"/>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651917E-6B6F-74A9-5E45-0481CDBFC14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635C539-58F3-E34D-3377-1066787F1BCC}"/>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a simple ac circuit&#10;&#10;AI-generated content may be incorrect.">
            <a:extLst>
              <a:ext uri="{FF2B5EF4-FFF2-40B4-BE49-F238E27FC236}">
                <a16:creationId xmlns:a16="http://schemas.microsoft.com/office/drawing/2014/main" id="{595B790E-EB39-001C-FBA7-4B81D9EB2E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3570"/>
            <a:ext cx="4610100" cy="2533610"/>
          </a:xfrm>
          <a:prstGeom prst="rect">
            <a:avLst/>
          </a:prstGeom>
        </p:spPr>
      </p:pic>
    </p:spTree>
    <p:extLst>
      <p:ext uri="{BB962C8B-B14F-4D97-AF65-F5344CB8AC3E}">
        <p14:creationId xmlns:p14="http://schemas.microsoft.com/office/powerpoint/2010/main" val="4087301008"/>
      </p:ext>
    </p:extLst>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048DD4-812C-970D-E768-AFFE81CDCB6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458A0C-698B-DA67-23BE-BACDE33CC18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map with blue squares and yellow text&#10;&#10;AI-generated content may be incorrect.">
            <a:extLst>
              <a:ext uri="{FF2B5EF4-FFF2-40B4-BE49-F238E27FC236}">
                <a16:creationId xmlns:a16="http://schemas.microsoft.com/office/drawing/2014/main" id="{7494611E-A925-6CBC-FCC9-08013E27D9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4241"/>
            <a:ext cx="4610100" cy="2732268"/>
          </a:xfrm>
          <a:prstGeom prst="rect">
            <a:avLst/>
          </a:prstGeom>
        </p:spPr>
      </p:pic>
    </p:spTree>
    <p:extLst>
      <p:ext uri="{BB962C8B-B14F-4D97-AF65-F5344CB8AC3E}">
        <p14:creationId xmlns:p14="http://schemas.microsoft.com/office/powerpoint/2010/main" val="1119162670"/>
      </p:ext>
    </p:extLst>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F8208C3-7A19-B7F0-72BC-3E2F80BBC9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DAE501A-425F-C42B-C3BE-F234C763EC6B}"/>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a hand with red circles&#10;&#10;AI-generated content may be incorrect.">
            <a:extLst>
              <a:ext uri="{FF2B5EF4-FFF2-40B4-BE49-F238E27FC236}">
                <a16:creationId xmlns:a16="http://schemas.microsoft.com/office/drawing/2014/main" id="{8C06A04E-EE66-772B-A988-C0E1A7311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2808"/>
            <a:ext cx="4610100" cy="2735133"/>
          </a:xfrm>
          <a:prstGeom prst="rect">
            <a:avLst/>
          </a:prstGeom>
        </p:spPr>
      </p:pic>
    </p:spTree>
    <p:extLst>
      <p:ext uri="{BB962C8B-B14F-4D97-AF65-F5344CB8AC3E}">
        <p14:creationId xmlns:p14="http://schemas.microsoft.com/office/powerpoint/2010/main" val="60938357"/>
      </p:ext>
    </p:extLst>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D98A012-E2D2-5A21-9C93-12F92C880B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BCB86A-A944-C8F3-3570-D8EF1A5A7865}"/>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a diagram of a person's hand&#10;&#10;AI-generated content may be incorrect.">
            <a:extLst>
              <a:ext uri="{FF2B5EF4-FFF2-40B4-BE49-F238E27FC236}">
                <a16:creationId xmlns:a16="http://schemas.microsoft.com/office/drawing/2014/main" id="{A0729330-F459-A3A0-67EB-8DFA3D8AFF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5560"/>
            <a:ext cx="4610100" cy="2749630"/>
          </a:xfrm>
          <a:prstGeom prst="rect">
            <a:avLst/>
          </a:prstGeom>
        </p:spPr>
      </p:pic>
    </p:spTree>
    <p:extLst>
      <p:ext uri="{BB962C8B-B14F-4D97-AF65-F5344CB8AC3E}">
        <p14:creationId xmlns:p14="http://schemas.microsoft.com/office/powerpoint/2010/main" val="3831251130"/>
      </p:ext>
    </p:extLst>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3C56C8-28A7-5BB6-4111-E259959E574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5AC8744-40C5-211D-87AF-1841D70C923B}"/>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horse pulling a cart&#10;&#10;AI-generated content may be incorrect.">
            <a:extLst>
              <a:ext uri="{FF2B5EF4-FFF2-40B4-BE49-F238E27FC236}">
                <a16:creationId xmlns:a16="http://schemas.microsoft.com/office/drawing/2014/main" id="{178FA611-ED19-243A-0F2E-2240F324C1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7199"/>
            <a:ext cx="4610100" cy="2726351"/>
          </a:xfrm>
          <a:prstGeom prst="rect">
            <a:avLst/>
          </a:prstGeom>
        </p:spPr>
      </p:pic>
    </p:spTree>
    <p:extLst>
      <p:ext uri="{BB962C8B-B14F-4D97-AF65-F5344CB8AC3E}">
        <p14:creationId xmlns:p14="http://schemas.microsoft.com/office/powerpoint/2010/main" val="2975959746"/>
      </p:ext>
    </p:extLst>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72D9C4-527F-5305-2CC2-2F6F08243DB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5FE5E32-1E7B-494F-BB7E-89BCB34543A1}"/>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a mechanical energy&#10;&#10;AI-generated content may be incorrect.">
            <a:extLst>
              <a:ext uri="{FF2B5EF4-FFF2-40B4-BE49-F238E27FC236}">
                <a16:creationId xmlns:a16="http://schemas.microsoft.com/office/drawing/2014/main" id="{F52563F1-DCDB-76AC-E821-45F0DC2B3A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5762"/>
            <a:ext cx="4610100" cy="2689225"/>
          </a:xfrm>
          <a:prstGeom prst="rect">
            <a:avLst/>
          </a:prstGeom>
        </p:spPr>
      </p:pic>
    </p:spTree>
    <p:extLst>
      <p:ext uri="{BB962C8B-B14F-4D97-AF65-F5344CB8AC3E}">
        <p14:creationId xmlns:p14="http://schemas.microsoft.com/office/powerpoint/2010/main" val="1445583114"/>
      </p:ext>
    </p:extLst>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1C77917-E1EB-1A57-0CDD-4B412CF828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9D2664E-2CB2-6BF5-4AE1-4A2BFE33D48F}"/>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a cart with horses and electrical energy&#10;&#10;AI-generated content may be incorrect.">
            <a:extLst>
              <a:ext uri="{FF2B5EF4-FFF2-40B4-BE49-F238E27FC236}">
                <a16:creationId xmlns:a16="http://schemas.microsoft.com/office/drawing/2014/main" id="{917F5D3C-218C-173A-41CD-C7D6E89CC9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7179"/>
            <a:ext cx="4610100" cy="2686391"/>
          </a:xfrm>
          <a:prstGeom prst="rect">
            <a:avLst/>
          </a:prstGeom>
        </p:spPr>
      </p:pic>
    </p:spTree>
    <p:extLst>
      <p:ext uri="{BB962C8B-B14F-4D97-AF65-F5344CB8AC3E}">
        <p14:creationId xmlns:p14="http://schemas.microsoft.com/office/powerpoint/2010/main" val="3567865436"/>
      </p:ext>
    </p:extLst>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5863AB5-E2DF-52D9-15C8-ED75EC2BD04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332183-774D-5C86-C26B-88189672A26E}"/>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electrical power&#10;&#10;AI-generated content may be incorrect.">
            <a:extLst>
              <a:ext uri="{FF2B5EF4-FFF2-40B4-BE49-F238E27FC236}">
                <a16:creationId xmlns:a16="http://schemas.microsoft.com/office/drawing/2014/main" id="{C279A831-7155-C324-59DD-CD214C6E8C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36509"/>
            <a:ext cx="4610100" cy="2787731"/>
          </a:xfrm>
          <a:prstGeom prst="rect">
            <a:avLst/>
          </a:prstGeom>
        </p:spPr>
      </p:pic>
    </p:spTree>
    <p:extLst>
      <p:ext uri="{BB962C8B-B14F-4D97-AF65-F5344CB8AC3E}">
        <p14:creationId xmlns:p14="http://schemas.microsoft.com/office/powerpoint/2010/main" val="1566292962"/>
      </p:ext>
    </p:extLst>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AAB5B10-6D7D-675E-12FF-A297DDAE010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94903A-A769-14EC-539B-A3BDCFF1F005}"/>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a mechanical power&#10;&#10;AI-generated content may be incorrect.">
            <a:extLst>
              <a:ext uri="{FF2B5EF4-FFF2-40B4-BE49-F238E27FC236}">
                <a16:creationId xmlns:a16="http://schemas.microsoft.com/office/drawing/2014/main" id="{51630E4B-3C5A-71A6-B63B-2970EAA7BA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93875"/>
            <a:ext cx="4610100" cy="2473000"/>
          </a:xfrm>
          <a:prstGeom prst="rect">
            <a:avLst/>
          </a:prstGeom>
        </p:spPr>
      </p:pic>
    </p:spTree>
    <p:extLst>
      <p:ext uri="{BB962C8B-B14F-4D97-AF65-F5344CB8AC3E}">
        <p14:creationId xmlns:p14="http://schemas.microsoft.com/office/powerpoint/2010/main" val="1132472701"/>
      </p:ext>
    </p:extLst>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D0ACD32-9823-F25D-D21E-042F00DA43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ED30ECD-D5F4-DE81-10D8-7175070EFECF}"/>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electrical power&#10;&#10;AI-generated content may be incorrect.">
            <a:extLst>
              <a:ext uri="{FF2B5EF4-FFF2-40B4-BE49-F238E27FC236}">
                <a16:creationId xmlns:a16="http://schemas.microsoft.com/office/drawing/2014/main" id="{8EB2DED7-1DD9-FE56-9C29-33BC47AEC8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2437"/>
            <a:ext cx="4610100" cy="2715875"/>
          </a:xfrm>
          <a:prstGeom prst="rect">
            <a:avLst/>
          </a:prstGeom>
        </p:spPr>
      </p:pic>
    </p:spTree>
    <p:extLst>
      <p:ext uri="{BB962C8B-B14F-4D97-AF65-F5344CB8AC3E}">
        <p14:creationId xmlns:p14="http://schemas.microsoft.com/office/powerpoint/2010/main" val="3231226373"/>
      </p:ext>
    </p:extLst>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BC999E-1C20-1C89-2879-788B4E7170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639FC5B-6A92-BC48-002D-F47FA483DF9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electrical power&#10;&#10;AI-generated content may be incorrect.">
            <a:extLst>
              <a:ext uri="{FF2B5EF4-FFF2-40B4-BE49-F238E27FC236}">
                <a16:creationId xmlns:a16="http://schemas.microsoft.com/office/drawing/2014/main" id="{43F6CD61-3A33-6347-B282-B48E62A589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2666"/>
            <a:ext cx="4610100" cy="2675417"/>
          </a:xfrm>
          <a:prstGeom prst="rect">
            <a:avLst/>
          </a:prstGeom>
        </p:spPr>
      </p:pic>
    </p:spTree>
    <p:extLst>
      <p:ext uri="{BB962C8B-B14F-4D97-AF65-F5344CB8AC3E}">
        <p14:creationId xmlns:p14="http://schemas.microsoft.com/office/powerpoint/2010/main" val="224594862"/>
      </p:ext>
    </p:extLst>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8BCBE34-DE74-4B78-F5A0-3C7AC8E3976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0A4F97-132B-911F-D9DA-215F6A76CBAC}"/>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a voltage and a voltage diagram&#10;&#10;AI-generated content may be incorrect.">
            <a:extLst>
              <a:ext uri="{FF2B5EF4-FFF2-40B4-BE49-F238E27FC236}">
                <a16:creationId xmlns:a16="http://schemas.microsoft.com/office/drawing/2014/main" id="{D498BEAC-A3C7-8357-11DB-F6A5CFEE0D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642"/>
            <a:ext cx="4610100" cy="2503465"/>
          </a:xfrm>
          <a:prstGeom prst="rect">
            <a:avLst/>
          </a:prstGeom>
        </p:spPr>
      </p:pic>
    </p:spTree>
    <p:extLst>
      <p:ext uri="{BB962C8B-B14F-4D97-AF65-F5344CB8AC3E}">
        <p14:creationId xmlns:p14="http://schemas.microsoft.com/office/powerpoint/2010/main" val="3705959252"/>
      </p:ext>
    </p:extLst>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0048A9-4847-F37B-9210-71C33036BD2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FBCAAAC-3547-D48B-D718-191EB34F38CD}"/>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electrical wiring&#10;&#10;AI-generated content may be incorrect.">
            <a:extLst>
              <a:ext uri="{FF2B5EF4-FFF2-40B4-BE49-F238E27FC236}">
                <a16:creationId xmlns:a16="http://schemas.microsoft.com/office/drawing/2014/main" id="{70E84694-A844-37AB-A1AF-395E0DD67E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3655"/>
            <a:ext cx="4610100" cy="2553439"/>
          </a:xfrm>
          <a:prstGeom prst="rect">
            <a:avLst/>
          </a:prstGeom>
        </p:spPr>
      </p:pic>
    </p:spTree>
    <p:extLst>
      <p:ext uri="{BB962C8B-B14F-4D97-AF65-F5344CB8AC3E}">
        <p14:creationId xmlns:p14="http://schemas.microsoft.com/office/powerpoint/2010/main" val="3378727638"/>
      </p:ext>
    </p:extLst>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4538B6-A87F-518A-0D05-4088F7D930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B6DDBF6-B0C3-8661-564F-B1394DE075A4}"/>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electrical energy&#10;&#10;AI-generated content may be incorrect.">
            <a:extLst>
              <a:ext uri="{FF2B5EF4-FFF2-40B4-BE49-F238E27FC236}">
                <a16:creationId xmlns:a16="http://schemas.microsoft.com/office/drawing/2014/main" id="{5CDCD676-4A5C-C22C-A8A0-D467C77380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08479"/>
            <a:ext cx="4610100" cy="2443791"/>
          </a:xfrm>
          <a:prstGeom prst="rect">
            <a:avLst/>
          </a:prstGeom>
        </p:spPr>
      </p:pic>
    </p:spTree>
    <p:extLst>
      <p:ext uri="{BB962C8B-B14F-4D97-AF65-F5344CB8AC3E}">
        <p14:creationId xmlns:p14="http://schemas.microsoft.com/office/powerpoint/2010/main" val="2466955445"/>
      </p:ext>
    </p:extLst>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A80CA3D-E23E-8637-DAE0-9C158F71BFB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0A2301B-ACE6-590D-8AA9-F8685CA588E4}"/>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electrical energy&#10;&#10;AI-generated content may be incorrect.">
            <a:extLst>
              <a:ext uri="{FF2B5EF4-FFF2-40B4-BE49-F238E27FC236}">
                <a16:creationId xmlns:a16="http://schemas.microsoft.com/office/drawing/2014/main" id="{E8362A83-FF13-11F8-DF06-0F51DCDFF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4510"/>
            <a:ext cx="4610100" cy="2731729"/>
          </a:xfrm>
          <a:prstGeom prst="rect">
            <a:avLst/>
          </a:prstGeom>
        </p:spPr>
      </p:pic>
    </p:spTree>
    <p:extLst>
      <p:ext uri="{BB962C8B-B14F-4D97-AF65-F5344CB8AC3E}">
        <p14:creationId xmlns:p14="http://schemas.microsoft.com/office/powerpoint/2010/main" val="3916742461"/>
      </p:ext>
    </p:extLst>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F0EF5B5-2B65-B421-CDA8-9E026904BB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2199E0-46B3-81E5-2E81-CD5C71EF56E2}"/>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a:extLst>
              <a:ext uri="{FF2B5EF4-FFF2-40B4-BE49-F238E27FC236}">
                <a16:creationId xmlns:a16="http://schemas.microsoft.com/office/drawing/2014/main" id="{3B227B74-B22C-0B9D-305A-2945865F464E}"/>
              </a:ext>
            </a:extLst>
          </p:cNvPr>
          <p:cNvPicPr>
            <a:picLocks noChangeAspect="1"/>
          </p:cNvPicPr>
          <p:nvPr/>
        </p:nvPicPr>
        <p:blipFill>
          <a:blip r:embed="rId3"/>
          <a:stretch>
            <a:fillRect/>
          </a:stretch>
        </p:blipFill>
        <p:spPr>
          <a:xfrm>
            <a:off x="0" y="370492"/>
            <a:ext cx="4610100" cy="2719766"/>
          </a:xfrm>
          <a:prstGeom prst="rect">
            <a:avLst/>
          </a:prstGeom>
        </p:spPr>
      </p:pic>
    </p:spTree>
    <p:extLst>
      <p:ext uri="{BB962C8B-B14F-4D97-AF65-F5344CB8AC3E}">
        <p14:creationId xmlns:p14="http://schemas.microsoft.com/office/powerpoint/2010/main" val="3772342899"/>
      </p:ext>
    </p:extLst>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1387D0-6476-9A26-B49B-3EC1A082E3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B968FBB-1E4E-D824-232C-68DDF01362FB}"/>
              </a:ext>
            </a:extLst>
          </p:cNvPr>
          <p:cNvSpPr txBox="1">
            <a:spLocks noGrp="1"/>
          </p:cNvSpPr>
          <p:nvPr>
            <p:ph type="title"/>
          </p:nvPr>
        </p:nvSpPr>
        <p:spPr>
          <a:xfrm>
            <a:off x="95300" y="59814"/>
            <a:ext cx="3369310" cy="232756"/>
          </a:xfrm>
          <a:prstGeom prst="rect">
            <a:avLst/>
          </a:prstGeom>
        </p:spPr>
        <p:txBody>
          <a:bodyPr vert="horz" wrap="square" lIns="0" tIns="17145" rIns="0" bIns="0" rtlCol="0">
            <a:spAutoFit/>
          </a:bodyPr>
          <a:lstStyle/>
          <a:p>
            <a:pPr marL="12700">
              <a:lnSpc>
                <a:spcPct val="100000"/>
              </a:lnSpc>
              <a:spcBef>
                <a:spcPts val="135"/>
              </a:spcBef>
            </a:pPr>
            <a:r>
              <a:rPr lang="en-GB" spc="-10" dirty="0"/>
              <a:t>Basic Principles</a:t>
            </a:r>
            <a:endParaRPr spc="-10" dirty="0"/>
          </a:p>
        </p:txBody>
      </p:sp>
      <p:pic>
        <p:nvPicPr>
          <p:cNvPr id="4" name="Picture 3" descr="A diagram of voltage and voltage&#10;&#10;AI-generated content may be incorrect.">
            <a:extLst>
              <a:ext uri="{FF2B5EF4-FFF2-40B4-BE49-F238E27FC236}">
                <a16:creationId xmlns:a16="http://schemas.microsoft.com/office/drawing/2014/main" id="{80ED2D53-AFE0-22C3-B163-493009F3C6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3037"/>
            <a:ext cx="4610100" cy="2714675"/>
          </a:xfrm>
          <a:prstGeom prst="rect">
            <a:avLst/>
          </a:prstGeom>
        </p:spPr>
      </p:pic>
    </p:spTree>
    <p:extLst>
      <p:ext uri="{BB962C8B-B14F-4D97-AF65-F5344CB8AC3E}">
        <p14:creationId xmlns:p14="http://schemas.microsoft.com/office/powerpoint/2010/main" val="2903270382"/>
      </p:ext>
    </p:extLst>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5E701-CCD6-D96B-6EBA-45F696CB7F07}"/>
              </a:ext>
            </a:extLst>
          </p:cNvPr>
          <p:cNvSpPr>
            <a:spLocks noGrp="1"/>
          </p:cNvSpPr>
          <p:nvPr>
            <p:ph type="title"/>
          </p:nvPr>
        </p:nvSpPr>
        <p:spPr>
          <a:xfrm>
            <a:off x="214234" y="103543"/>
            <a:ext cx="4149090" cy="315659"/>
          </a:xfrm>
        </p:spPr>
        <p:txBody>
          <a:bodyPr>
            <a:spAutoFit/>
          </a:bodyPr>
          <a:lstStyle/>
          <a:p>
            <a:r>
              <a:rPr lang="en-US" dirty="0"/>
              <a:t>Chapter 1 – Circuit Variables </a:t>
            </a:r>
            <a:r>
              <a:rPr lang="en-US" sz="1412" dirty="0"/>
              <a:t>(4 of 21)</a:t>
            </a:r>
            <a:endParaRPr lang="en-US" dirty="0"/>
          </a:p>
        </p:txBody>
      </p:sp>
      <p:sp>
        <p:nvSpPr>
          <p:cNvPr id="3" name="Content Placeholder 2">
            <a:extLst>
              <a:ext uri="{FF2B5EF4-FFF2-40B4-BE49-F238E27FC236}">
                <a16:creationId xmlns:a16="http://schemas.microsoft.com/office/drawing/2014/main" id="{68FD2A13-D1E9-9F51-2ADF-A572C0A8BB4A}"/>
              </a:ext>
            </a:extLst>
          </p:cNvPr>
          <p:cNvSpPr>
            <a:spLocks noGrp="1"/>
          </p:cNvSpPr>
          <p:nvPr>
            <p:ph sz="quarter" idx="12"/>
          </p:nvPr>
        </p:nvSpPr>
        <p:spPr>
          <a:xfrm>
            <a:off x="214234" y="550816"/>
            <a:ext cx="4149090" cy="615414"/>
          </a:xfrm>
        </p:spPr>
        <p:txBody>
          <a:bodyPr wrap="square" lIns="0" tIns="9075" rIns="0" bIns="9075" anchor="ctr">
            <a:spAutoFit/>
          </a:bodyPr>
          <a:lstStyle/>
          <a:p>
            <a:pPr>
              <a:spcBef>
                <a:spcPts val="303"/>
              </a:spcBef>
            </a:pPr>
            <a:r>
              <a:rPr lang="en-US" altLang="en-US" sz="1210" dirty="0"/>
              <a:t>Section 1.4</a:t>
            </a:r>
          </a:p>
          <a:p>
            <a:pPr marL="172890" indent="-172890">
              <a:spcBef>
                <a:spcPts val="303"/>
              </a:spcBef>
            </a:pPr>
            <a:r>
              <a:rPr lang="en-US" altLang="en-US" sz="1210" dirty="0"/>
              <a:t>Voltage </a:t>
            </a:r>
          </a:p>
          <a:p>
            <a:pPr marL="418394" lvl="1" indent="-172890"/>
            <a:r>
              <a:rPr lang="en-US" altLang="en-US" sz="1210" dirty="0"/>
              <a:t>Definition – the energy per unit charge created when +</a:t>
            </a:r>
            <a:endParaRPr lang="en-US" dirty="0"/>
          </a:p>
        </p:txBody>
      </p:sp>
      <p:sp>
        <p:nvSpPr>
          <p:cNvPr id="6" name="Content Placeholder 5">
            <a:extLst>
              <a:ext uri="{FF2B5EF4-FFF2-40B4-BE49-F238E27FC236}">
                <a16:creationId xmlns:a16="http://schemas.microsoft.com/office/drawing/2014/main" id="{D3CCC4A3-0FB4-2BC7-5EF8-EFBA984D338F}"/>
              </a:ext>
            </a:extLst>
          </p:cNvPr>
          <p:cNvSpPr>
            <a:spLocks noGrp="1"/>
          </p:cNvSpPr>
          <p:nvPr>
            <p:ph sz="quarter" idx="15"/>
          </p:nvPr>
        </p:nvSpPr>
        <p:spPr>
          <a:xfrm>
            <a:off x="631869" y="1259787"/>
            <a:ext cx="272435" cy="204532"/>
          </a:xfrm>
        </p:spPr>
        <p:txBody>
          <a:bodyPr wrap="square" lIns="0" tIns="9075" rIns="0" bIns="9075" anchor="ctr">
            <a:spAutoFit/>
          </a:bodyPr>
          <a:lstStyle/>
          <a:p>
            <a:pPr marL="296154" lvl="1" indent="-296154"/>
            <a:r>
              <a:rPr lang="en-US" altLang="en-US" sz="1210" dirty="0"/>
              <a:t>and</a:t>
            </a:r>
            <a:endParaRPr lang="en-US" sz="1210" dirty="0"/>
          </a:p>
        </p:txBody>
      </p:sp>
      <p:graphicFrame>
        <p:nvGraphicFramePr>
          <p:cNvPr id="22" name="Object 21" descr="minus&#10;">
            <a:extLst>
              <a:ext uri="{FF2B5EF4-FFF2-40B4-BE49-F238E27FC236}">
                <a16:creationId xmlns:a16="http://schemas.microsoft.com/office/drawing/2014/main" id="{1203CD16-E45B-E875-28C1-D6C002DDFBD8}"/>
              </a:ext>
            </a:extLst>
          </p:cNvPr>
          <p:cNvGraphicFramePr>
            <a:graphicFrameLocks noChangeAspect="1"/>
          </p:cNvGraphicFramePr>
          <p:nvPr/>
        </p:nvGraphicFramePr>
        <p:xfrm>
          <a:off x="967377" y="1341143"/>
          <a:ext cx="124857" cy="99245"/>
        </p:xfrm>
        <a:graphic>
          <a:graphicData uri="http://schemas.openxmlformats.org/presentationml/2006/ole">
            <mc:AlternateContent xmlns:mc="http://schemas.openxmlformats.org/markup-compatibility/2006">
              <mc:Choice xmlns:v="urn:schemas-microsoft-com:vml" Requires="v">
                <p:oleObj name="Equation" r:id="rId2" imgW="126720" imgH="101520" progId="Equation.DSMT4">
                  <p:embed/>
                </p:oleObj>
              </mc:Choice>
              <mc:Fallback>
                <p:oleObj name="Equation" r:id="rId2" imgW="126720" imgH="101520" progId="Equation.DSMT4">
                  <p:embed/>
                  <p:pic>
                    <p:nvPicPr>
                      <p:cNvPr id="22" name="Object 21" descr="minus&#10;">
                        <a:extLst>
                          <a:ext uri="{FF2B5EF4-FFF2-40B4-BE49-F238E27FC236}">
                            <a16:creationId xmlns:a16="http://schemas.microsoft.com/office/drawing/2014/main" id="{1203CD16-E45B-E875-28C1-D6C002DDFBD8}"/>
                          </a:ext>
                        </a:extLst>
                      </p:cNvPr>
                      <p:cNvPicPr>
                        <a:picLocks noChangeAspect="1" noChangeArrowheads="1"/>
                      </p:cNvPicPr>
                      <p:nvPr/>
                    </p:nvPicPr>
                    <p:blipFill>
                      <a:blip r:embed="rId3"/>
                      <a:srcRect/>
                      <a:stretch>
                        <a:fillRect/>
                      </a:stretch>
                    </p:blipFill>
                    <p:spPr bwMode="auto">
                      <a:xfrm>
                        <a:off x="967377" y="1341143"/>
                        <a:ext cx="124857" cy="992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4A399077-96A8-B023-2464-8DA84985D5BE}"/>
              </a:ext>
            </a:extLst>
          </p:cNvPr>
          <p:cNvSpPr>
            <a:spLocks noGrp="1"/>
          </p:cNvSpPr>
          <p:nvPr>
            <p:ph sz="quarter" idx="16"/>
          </p:nvPr>
        </p:nvSpPr>
        <p:spPr>
          <a:xfrm>
            <a:off x="1136098" y="1277514"/>
            <a:ext cx="1619938" cy="204532"/>
          </a:xfrm>
        </p:spPr>
        <p:txBody>
          <a:bodyPr wrap="square" lIns="0" tIns="9075" rIns="0" bIns="9075" anchor="ctr">
            <a:spAutoFit/>
          </a:bodyPr>
          <a:lstStyle/>
          <a:p>
            <a:pPr marL="0" lvl="1"/>
            <a:r>
              <a:rPr lang="en-US" altLang="en-US" sz="1210" dirty="0"/>
              <a:t>charges are separated.</a:t>
            </a:r>
            <a:endParaRPr lang="en-US" sz="1210" dirty="0"/>
          </a:p>
        </p:txBody>
      </p:sp>
      <p:sp>
        <p:nvSpPr>
          <p:cNvPr id="8" name="Content Placeholder 7">
            <a:extLst>
              <a:ext uri="{FF2B5EF4-FFF2-40B4-BE49-F238E27FC236}">
                <a16:creationId xmlns:a16="http://schemas.microsoft.com/office/drawing/2014/main" id="{1740FDF2-D2CA-FC50-D741-7F87CE49D9DA}"/>
              </a:ext>
            </a:extLst>
          </p:cNvPr>
          <p:cNvSpPr>
            <a:spLocks noGrp="1"/>
          </p:cNvSpPr>
          <p:nvPr>
            <p:ph sz="quarter" idx="17"/>
          </p:nvPr>
        </p:nvSpPr>
        <p:spPr>
          <a:xfrm>
            <a:off x="214234" y="1625541"/>
            <a:ext cx="1671161" cy="204532"/>
          </a:xfrm>
        </p:spPr>
        <p:txBody>
          <a:bodyPr wrap="square" lIns="0" tIns="9075" rIns="0" bIns="9075" anchor="ctr">
            <a:spAutoFit/>
          </a:bodyPr>
          <a:lstStyle/>
          <a:p>
            <a:pPr marL="418394" lvl="1" indent="-172890"/>
            <a:r>
              <a:rPr lang="en-US" altLang="en-US" sz="1210" dirty="0"/>
              <a:t>Defining equation:</a:t>
            </a:r>
            <a:endParaRPr lang="en-US" sz="1210" dirty="0"/>
          </a:p>
        </p:txBody>
      </p:sp>
      <p:graphicFrame>
        <p:nvGraphicFramePr>
          <p:cNvPr id="21" name="Object 20" descr="v equals StartFraction d w over d q EndFraction.&#10;">
            <a:extLst>
              <a:ext uri="{FF2B5EF4-FFF2-40B4-BE49-F238E27FC236}">
                <a16:creationId xmlns:a16="http://schemas.microsoft.com/office/drawing/2014/main" id="{1F566711-4E86-398D-3D91-20DB0D7545E2}"/>
              </a:ext>
            </a:extLst>
          </p:cNvPr>
          <p:cNvGraphicFramePr>
            <a:graphicFrameLocks noChangeAspect="1"/>
          </p:cNvGraphicFramePr>
          <p:nvPr/>
        </p:nvGraphicFramePr>
        <p:xfrm>
          <a:off x="1937683" y="1530284"/>
          <a:ext cx="538645" cy="410587"/>
        </p:xfrm>
        <a:graphic>
          <a:graphicData uri="http://schemas.openxmlformats.org/presentationml/2006/ole">
            <mc:AlternateContent xmlns:mc="http://schemas.openxmlformats.org/markup-compatibility/2006">
              <mc:Choice xmlns:v="urn:schemas-microsoft-com:vml" Requires="v">
                <p:oleObj name="Equation" r:id="rId4" imgW="545760" imgH="419040" progId="Equation.DSMT4">
                  <p:embed/>
                </p:oleObj>
              </mc:Choice>
              <mc:Fallback>
                <p:oleObj name="Equation" r:id="rId4" imgW="545760" imgH="419040" progId="Equation.DSMT4">
                  <p:embed/>
                  <p:pic>
                    <p:nvPicPr>
                      <p:cNvPr id="21" name="Object 20" descr="v equals StartFraction d w over d q EndFraction.&#10;">
                        <a:extLst>
                          <a:ext uri="{FF2B5EF4-FFF2-40B4-BE49-F238E27FC236}">
                            <a16:creationId xmlns:a16="http://schemas.microsoft.com/office/drawing/2014/main" id="{1F566711-4E86-398D-3D91-20DB0D7545E2}"/>
                          </a:ext>
                        </a:extLst>
                      </p:cNvPr>
                      <p:cNvPicPr>
                        <a:picLocks noChangeAspect="1" noChangeArrowheads="1"/>
                      </p:cNvPicPr>
                      <p:nvPr/>
                    </p:nvPicPr>
                    <p:blipFill>
                      <a:blip r:embed="rId5"/>
                      <a:srcRect/>
                      <a:stretch>
                        <a:fillRect/>
                      </a:stretch>
                    </p:blipFill>
                    <p:spPr bwMode="auto">
                      <a:xfrm>
                        <a:off x="1937683" y="1530284"/>
                        <a:ext cx="538645" cy="410587"/>
                      </a:xfrm>
                      <a:prstGeom prst="rect">
                        <a:avLst/>
                      </a:prstGeom>
                      <a:noFill/>
                      <a:ln w="28575">
                        <a:solidFill>
                          <a:srgbClr val="007FA3"/>
                        </a:solidFill>
                      </a:ln>
                    </p:spPr>
                  </p:pic>
                </p:oleObj>
              </mc:Fallback>
            </mc:AlternateContent>
          </a:graphicData>
        </a:graphic>
      </p:graphicFrame>
      <p:sp>
        <p:nvSpPr>
          <p:cNvPr id="9" name="Content Placeholder 8">
            <a:extLst>
              <a:ext uri="{FF2B5EF4-FFF2-40B4-BE49-F238E27FC236}">
                <a16:creationId xmlns:a16="http://schemas.microsoft.com/office/drawing/2014/main" id="{7723F1D3-A0D9-09E9-D43D-572BBA6670CA}"/>
              </a:ext>
            </a:extLst>
          </p:cNvPr>
          <p:cNvSpPr>
            <a:spLocks noGrp="1"/>
          </p:cNvSpPr>
          <p:nvPr>
            <p:ph sz="quarter" idx="18"/>
          </p:nvPr>
        </p:nvSpPr>
        <p:spPr>
          <a:xfrm>
            <a:off x="214234" y="2083387"/>
            <a:ext cx="4149090" cy="878563"/>
          </a:xfrm>
        </p:spPr>
        <p:txBody>
          <a:bodyPr wrap="square" lIns="0" tIns="9075" rIns="0" bIns="9075" anchor="ctr">
            <a:spAutoFit/>
          </a:bodyPr>
          <a:lstStyle/>
          <a:p>
            <a:pPr>
              <a:spcBef>
                <a:spcPts val="303"/>
              </a:spcBef>
            </a:pPr>
            <a:r>
              <a:rPr lang="en-US" sz="1210" dirty="0"/>
              <a:t>where</a:t>
            </a:r>
          </a:p>
          <a:p>
            <a:pPr marL="360989">
              <a:spcBef>
                <a:spcPts val="303"/>
              </a:spcBef>
            </a:pPr>
            <a:r>
              <a:rPr lang="en-US" sz="1210" i="1" dirty="0"/>
              <a:t>v</a:t>
            </a:r>
            <a:r>
              <a:rPr lang="en-US" sz="1210" dirty="0"/>
              <a:t>  is voltage in volts [V]</a:t>
            </a:r>
          </a:p>
          <a:p>
            <a:pPr marL="360989">
              <a:spcBef>
                <a:spcPts val="303"/>
              </a:spcBef>
            </a:pPr>
            <a:r>
              <a:rPr lang="en-US" sz="1210" i="1" dirty="0"/>
              <a:t>w</a:t>
            </a:r>
            <a:r>
              <a:rPr lang="en-US" sz="1210" dirty="0"/>
              <a:t>  is energy in joules [J]</a:t>
            </a:r>
          </a:p>
          <a:p>
            <a:pPr marL="360989">
              <a:spcBef>
                <a:spcPts val="303"/>
              </a:spcBef>
            </a:pPr>
            <a:r>
              <a:rPr lang="en-US" sz="1210" i="1" dirty="0"/>
              <a:t>q</a:t>
            </a:r>
            <a:r>
              <a:rPr lang="en-US" sz="1210" dirty="0"/>
              <a:t>  is charge in coulombs [C]</a:t>
            </a:r>
          </a:p>
        </p:txBody>
      </p:sp>
    </p:spTree>
    <p:extLst>
      <p:ext uri="{BB962C8B-B14F-4D97-AF65-F5344CB8AC3E}">
        <p14:creationId xmlns:p14="http://schemas.microsoft.com/office/powerpoint/2010/main" val="3653991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476-FE9D-439B-64DB-C4F398F6E051}"/>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(5 of 21)</a:t>
            </a:r>
            <a:endParaRPr lang="en-US" noProof="0" dirty="0"/>
          </a:p>
        </p:txBody>
      </p:sp>
      <p:sp>
        <p:nvSpPr>
          <p:cNvPr id="3" name="Content Placeholder 2">
            <a:extLst>
              <a:ext uri="{FF2B5EF4-FFF2-40B4-BE49-F238E27FC236}">
                <a16:creationId xmlns:a16="http://schemas.microsoft.com/office/drawing/2014/main" id="{AF79C699-6EBC-60AE-F317-1B51095FDA57}"/>
              </a:ext>
            </a:extLst>
          </p:cNvPr>
          <p:cNvSpPr>
            <a:spLocks noGrp="1"/>
          </p:cNvSpPr>
          <p:nvPr>
            <p:ph sz="quarter" idx="12"/>
          </p:nvPr>
        </p:nvSpPr>
        <p:spPr>
          <a:xfrm>
            <a:off x="216945" y="554013"/>
            <a:ext cx="4154646" cy="615414"/>
          </a:xfrm>
        </p:spPr>
        <p:txBody>
          <a:bodyPr wrap="square" lIns="0" tIns="9075" rIns="0" bIns="9075" anchor="ctr" anchorCtr="0">
            <a:spAutoFit/>
          </a:bodyPr>
          <a:lstStyle/>
          <a:p>
            <a:pPr>
              <a:spcBef>
                <a:spcPts val="303"/>
              </a:spcBef>
            </a:pPr>
            <a:r>
              <a:rPr lang="en-US" altLang="en-US" sz="1210" dirty="0"/>
              <a:t>Section 1.4 (continued)</a:t>
            </a:r>
          </a:p>
          <a:p>
            <a:pPr marL="172890" indent="-172890">
              <a:spcBef>
                <a:spcPts val="303"/>
              </a:spcBef>
            </a:pPr>
            <a:r>
              <a:rPr lang="en-US" altLang="en-US" sz="1210" dirty="0"/>
              <a:t>Current</a:t>
            </a:r>
          </a:p>
          <a:p>
            <a:pPr marL="418394" lvl="1" indent="-172890"/>
            <a:r>
              <a:rPr lang="en-US" altLang="en-US" sz="1210" dirty="0"/>
              <a:t>Definition – the time rate of change of charge flow.</a:t>
            </a:r>
            <a:endParaRPr lang="en-US" noProof="0" dirty="0"/>
          </a:p>
        </p:txBody>
      </p:sp>
      <p:sp>
        <p:nvSpPr>
          <p:cNvPr id="4" name="Content Placeholder 3">
            <a:extLst>
              <a:ext uri="{FF2B5EF4-FFF2-40B4-BE49-F238E27FC236}">
                <a16:creationId xmlns:a16="http://schemas.microsoft.com/office/drawing/2014/main" id="{B2831C1D-C345-6C85-E0D0-B57566E6E27A}"/>
              </a:ext>
            </a:extLst>
          </p:cNvPr>
          <p:cNvSpPr>
            <a:spLocks noGrp="1"/>
          </p:cNvSpPr>
          <p:nvPr>
            <p:ph sz="quarter" idx="13"/>
          </p:nvPr>
        </p:nvSpPr>
        <p:spPr>
          <a:xfrm>
            <a:off x="216946" y="1274137"/>
            <a:ext cx="1663252" cy="204532"/>
          </a:xfrm>
        </p:spPr>
        <p:txBody>
          <a:bodyPr wrap="square" lIns="0" tIns="9075" rIns="0" bIns="9075" anchor="ctr" anchorCtr="0">
            <a:spAutoFit/>
          </a:bodyPr>
          <a:lstStyle/>
          <a:p>
            <a:pPr marL="418394" lvl="1" indent="-172890"/>
            <a:r>
              <a:rPr lang="en-US" altLang="en-US" sz="1210" dirty="0"/>
              <a:t>Defining equation:</a:t>
            </a:r>
            <a:endParaRPr lang="en-US" sz="1210" dirty="0"/>
          </a:p>
        </p:txBody>
      </p:sp>
      <p:graphicFrame>
        <p:nvGraphicFramePr>
          <p:cNvPr id="22" name="Object 21" descr="i equals StartFraction d q over d t EndFraction.&#10;">
            <a:extLst>
              <a:ext uri="{FF2B5EF4-FFF2-40B4-BE49-F238E27FC236}">
                <a16:creationId xmlns:a16="http://schemas.microsoft.com/office/drawing/2014/main" id="{66822249-91F0-3D0B-3B6D-235322417C53}"/>
              </a:ext>
            </a:extLst>
          </p:cNvPr>
          <p:cNvGraphicFramePr>
            <a:graphicFrameLocks noChangeAspect="1"/>
          </p:cNvGraphicFramePr>
          <p:nvPr/>
        </p:nvGraphicFramePr>
        <p:xfrm>
          <a:off x="1907929" y="1202841"/>
          <a:ext cx="464211" cy="384975"/>
        </p:xfrm>
        <a:graphic>
          <a:graphicData uri="http://schemas.openxmlformats.org/presentationml/2006/ole">
            <mc:AlternateContent xmlns:mc="http://schemas.openxmlformats.org/markup-compatibility/2006">
              <mc:Choice xmlns:v="urn:schemas-microsoft-com:vml" Requires="v">
                <p:oleObj name="Equation" r:id="rId2" imgW="469800" imgH="393480" progId="Equation.DSMT4">
                  <p:embed/>
                </p:oleObj>
              </mc:Choice>
              <mc:Fallback>
                <p:oleObj name="Equation" r:id="rId2" imgW="469800" imgH="393480" progId="Equation.DSMT4">
                  <p:embed/>
                  <p:pic>
                    <p:nvPicPr>
                      <p:cNvPr id="22" name="Object 21" descr="i equals StartFraction d q over d t EndFraction.&#10;">
                        <a:extLst>
                          <a:ext uri="{FF2B5EF4-FFF2-40B4-BE49-F238E27FC236}">
                            <a16:creationId xmlns:a16="http://schemas.microsoft.com/office/drawing/2014/main" id="{66822249-91F0-3D0B-3B6D-235322417C53}"/>
                          </a:ext>
                        </a:extLst>
                      </p:cNvPr>
                      <p:cNvPicPr>
                        <a:picLocks noChangeAspect="1" noChangeArrowheads="1"/>
                      </p:cNvPicPr>
                      <p:nvPr/>
                    </p:nvPicPr>
                    <p:blipFill>
                      <a:blip r:embed="rId3"/>
                      <a:srcRect/>
                      <a:stretch>
                        <a:fillRect/>
                      </a:stretch>
                    </p:blipFill>
                    <p:spPr bwMode="auto">
                      <a:xfrm>
                        <a:off x="1907929" y="1202841"/>
                        <a:ext cx="464211" cy="384975"/>
                      </a:xfrm>
                      <a:prstGeom prst="rect">
                        <a:avLst/>
                      </a:prstGeom>
                      <a:noFill/>
                      <a:ln w="28575">
                        <a:solidFill>
                          <a:srgbClr val="007FA3"/>
                        </a:solidFill>
                      </a:ln>
                    </p:spPr>
                  </p:pic>
                </p:oleObj>
              </mc:Fallback>
            </mc:AlternateContent>
          </a:graphicData>
        </a:graphic>
      </p:graphicFrame>
      <p:sp>
        <p:nvSpPr>
          <p:cNvPr id="5" name="Content Placeholder 4">
            <a:extLst>
              <a:ext uri="{FF2B5EF4-FFF2-40B4-BE49-F238E27FC236}">
                <a16:creationId xmlns:a16="http://schemas.microsoft.com/office/drawing/2014/main" id="{901404D1-C29D-09A0-32A3-4FAFD8A8256B}"/>
              </a:ext>
            </a:extLst>
          </p:cNvPr>
          <p:cNvSpPr>
            <a:spLocks noGrp="1"/>
          </p:cNvSpPr>
          <p:nvPr>
            <p:ph sz="quarter" idx="14"/>
          </p:nvPr>
        </p:nvSpPr>
        <p:spPr>
          <a:xfrm>
            <a:off x="216945" y="1628068"/>
            <a:ext cx="4154646" cy="878563"/>
          </a:xfrm>
        </p:spPr>
        <p:txBody>
          <a:bodyPr wrap="square" lIns="0" tIns="9075" rIns="0" bIns="9075" anchor="ctr" anchorCtr="0">
            <a:spAutoFit/>
          </a:bodyPr>
          <a:lstStyle/>
          <a:p>
            <a:r>
              <a:rPr lang="en-US" sz="1210" dirty="0"/>
              <a:t>where</a:t>
            </a:r>
          </a:p>
          <a:p>
            <a:pPr marL="361209">
              <a:spcBef>
                <a:spcPts val="303"/>
              </a:spcBef>
            </a:pPr>
            <a:r>
              <a:rPr lang="en-US" sz="1210" i="1" dirty="0" err="1"/>
              <a:t>i</a:t>
            </a:r>
            <a:r>
              <a:rPr lang="en-US" sz="1210" i="1" dirty="0"/>
              <a:t> </a:t>
            </a:r>
            <a:r>
              <a:rPr lang="en-US" sz="1210" dirty="0"/>
              <a:t> is current in amperes [A]</a:t>
            </a:r>
          </a:p>
          <a:p>
            <a:pPr marL="361209">
              <a:spcBef>
                <a:spcPts val="303"/>
              </a:spcBef>
            </a:pPr>
            <a:r>
              <a:rPr lang="en-US" sz="1210" i="1" dirty="0"/>
              <a:t>q</a:t>
            </a:r>
            <a:r>
              <a:rPr lang="en-US" sz="1210" dirty="0"/>
              <a:t>  is charge in coulombs [C]</a:t>
            </a:r>
          </a:p>
          <a:p>
            <a:pPr marL="361209">
              <a:spcBef>
                <a:spcPts val="303"/>
              </a:spcBef>
            </a:pPr>
            <a:r>
              <a:rPr lang="en-US" sz="1210" i="1" dirty="0"/>
              <a:t>t</a:t>
            </a:r>
            <a:r>
              <a:rPr lang="en-US" sz="1210" dirty="0"/>
              <a:t>  is time in seconds [s]</a:t>
            </a:r>
          </a:p>
        </p:txBody>
      </p:sp>
    </p:spTree>
    <p:extLst>
      <p:ext uri="{BB962C8B-B14F-4D97-AF65-F5344CB8AC3E}">
        <p14:creationId xmlns:p14="http://schemas.microsoft.com/office/powerpoint/2010/main" val="16900416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476-FE9D-439B-64DB-C4F398F6E051}"/>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(6 of 21)</a:t>
            </a:r>
            <a:endParaRPr lang="en-US" noProof="0" dirty="0"/>
          </a:p>
        </p:txBody>
      </p:sp>
      <p:sp>
        <p:nvSpPr>
          <p:cNvPr id="3" name="Content Placeholder 2">
            <a:extLst>
              <a:ext uri="{FF2B5EF4-FFF2-40B4-BE49-F238E27FC236}">
                <a16:creationId xmlns:a16="http://schemas.microsoft.com/office/drawing/2014/main" id="{AF79C699-6EBC-60AE-F317-1B51095FDA57}"/>
              </a:ext>
            </a:extLst>
          </p:cNvPr>
          <p:cNvSpPr>
            <a:spLocks noGrp="1"/>
          </p:cNvSpPr>
          <p:nvPr>
            <p:ph sz="quarter" idx="12"/>
          </p:nvPr>
        </p:nvSpPr>
        <p:spPr>
          <a:xfrm>
            <a:off x="216945" y="638163"/>
            <a:ext cx="4154646" cy="1507966"/>
          </a:xfrm>
        </p:spPr>
        <p:txBody>
          <a:bodyPr wrap="square" lIns="0" tIns="9075" rIns="0" bIns="9075" anchor="ctr" anchorCtr="0">
            <a:spAutoFit/>
          </a:bodyPr>
          <a:lstStyle/>
          <a:p>
            <a:pPr>
              <a:spcBef>
                <a:spcPts val="303"/>
              </a:spcBef>
            </a:pPr>
            <a:r>
              <a:rPr lang="en-US" altLang="en-US" sz="1210" dirty="0"/>
              <a:t>Section 1.5</a:t>
            </a:r>
          </a:p>
          <a:p>
            <a:pPr marL="172890" indent="-172890"/>
            <a:r>
              <a:rPr lang="en-US" altLang="en-US" sz="1210" dirty="0"/>
              <a:t>Ideal Basic Circuit Element </a:t>
            </a:r>
          </a:p>
          <a:p>
            <a:pPr marL="418394" lvl="1" indent="-172890"/>
            <a:r>
              <a:rPr lang="en-US" altLang="en-US" sz="1210" dirty="0"/>
              <a:t>Ideal – the element can be described solely in terms of the relationship between its voltage and its current.</a:t>
            </a:r>
          </a:p>
          <a:p>
            <a:pPr marL="418394" lvl="1" indent="-172890"/>
            <a:r>
              <a:rPr lang="en-US" altLang="en-US" sz="1210" dirty="0"/>
              <a:t>Basic – the element cannot be sub-divided into simpler elements.</a:t>
            </a:r>
          </a:p>
          <a:p>
            <a:pPr marL="418394" lvl="1" indent="-172890"/>
            <a:r>
              <a:rPr lang="en-US" altLang="en-US" sz="1210" dirty="0"/>
              <a:t>Circuit Element – the element has two terminals used to connect it to other elements and form a circuit.</a:t>
            </a:r>
            <a:endParaRPr lang="en-US" noProof="0" dirty="0"/>
          </a:p>
        </p:txBody>
      </p:sp>
      <p:pic>
        <p:nvPicPr>
          <p:cNvPr id="14" name="Picture 13" descr="The first circuit diagram shows a power source with two terminals 1 and 2 of voltage supply V placed across it and a current i is entering through the terminal. &#10;&#10;The second diagram shows a circuit which is flowing through an element which represents the element as block box which is connected between terminals 1 and 2. Circuit is flowing in from terminal 1 and flows out by the terminal 2 shown by the arrow, a voltage supply V placed across it and current i is entering from the left.&#10;">
            <a:extLst>
              <a:ext uri="{FF2B5EF4-FFF2-40B4-BE49-F238E27FC236}">
                <a16:creationId xmlns:a16="http://schemas.microsoft.com/office/drawing/2014/main" id="{2204500C-D7E5-86FB-234E-AA3522EFAC30}"/>
              </a:ext>
            </a:extLst>
          </p:cNvPr>
          <p:cNvPicPr>
            <a:picLocks noChangeAspect="1"/>
          </p:cNvPicPr>
          <p:nvPr/>
        </p:nvPicPr>
        <p:blipFill>
          <a:blip r:embed="rId2"/>
          <a:stretch>
            <a:fillRect/>
          </a:stretch>
        </p:blipFill>
        <p:spPr>
          <a:xfrm>
            <a:off x="1111187" y="2389071"/>
            <a:ext cx="2387860" cy="764549"/>
          </a:xfrm>
          <a:prstGeom prst="rect">
            <a:avLst/>
          </a:prstGeom>
        </p:spPr>
      </p:pic>
    </p:spTree>
    <p:extLst>
      <p:ext uri="{BB962C8B-B14F-4D97-AF65-F5344CB8AC3E}">
        <p14:creationId xmlns:p14="http://schemas.microsoft.com/office/powerpoint/2010/main" val="27135880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8E3C-3E7D-4D45-6BD2-0DC87A184ABB}"/>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(7 of 21)</a:t>
            </a:r>
            <a:endParaRPr lang="en-US" noProof="0" dirty="0"/>
          </a:p>
        </p:txBody>
      </p:sp>
      <p:sp>
        <p:nvSpPr>
          <p:cNvPr id="3" name="Content Placeholder 2">
            <a:extLst>
              <a:ext uri="{FF2B5EF4-FFF2-40B4-BE49-F238E27FC236}">
                <a16:creationId xmlns:a16="http://schemas.microsoft.com/office/drawing/2014/main" id="{A815D378-0C69-FCB2-E5D9-79063EF5CF28}"/>
              </a:ext>
            </a:extLst>
          </p:cNvPr>
          <p:cNvSpPr>
            <a:spLocks noGrp="1"/>
          </p:cNvSpPr>
          <p:nvPr>
            <p:ph sz="quarter" idx="12"/>
          </p:nvPr>
        </p:nvSpPr>
        <p:spPr>
          <a:xfrm>
            <a:off x="216945" y="554014"/>
            <a:ext cx="4154646" cy="615414"/>
          </a:xfrm>
        </p:spPr>
        <p:txBody>
          <a:bodyPr wrap="square" lIns="0" tIns="9075" rIns="0" bIns="9075" anchor="ctr" anchorCtr="0">
            <a:spAutoFit/>
          </a:bodyPr>
          <a:lstStyle/>
          <a:p>
            <a:pPr>
              <a:spcBef>
                <a:spcPts val="303"/>
              </a:spcBef>
            </a:pPr>
            <a:r>
              <a:rPr lang="en-US" altLang="en-US" sz="1210" dirty="0"/>
              <a:t>Section 1.6</a:t>
            </a:r>
          </a:p>
          <a:p>
            <a:pPr marL="172890" indent="-172890">
              <a:spcBef>
                <a:spcPts val="303"/>
              </a:spcBef>
            </a:pPr>
            <a:r>
              <a:rPr lang="en-US" altLang="en-US" sz="1210" dirty="0"/>
              <a:t>Power</a:t>
            </a:r>
          </a:p>
          <a:p>
            <a:pPr marL="418394" lvl="1" indent="-172890"/>
            <a:r>
              <a:rPr lang="en-US" altLang="en-US" sz="1210" dirty="0"/>
              <a:t>Definition – the time rate of change of energy.</a:t>
            </a:r>
            <a:endParaRPr lang="en-US" noProof="0" dirty="0"/>
          </a:p>
        </p:txBody>
      </p:sp>
      <p:sp>
        <p:nvSpPr>
          <p:cNvPr id="4" name="Content Placeholder 3">
            <a:extLst>
              <a:ext uri="{FF2B5EF4-FFF2-40B4-BE49-F238E27FC236}">
                <a16:creationId xmlns:a16="http://schemas.microsoft.com/office/drawing/2014/main" id="{C81F0481-5D86-2D86-5CC2-71BE700D79D7}"/>
              </a:ext>
            </a:extLst>
          </p:cNvPr>
          <p:cNvSpPr>
            <a:spLocks noGrp="1"/>
          </p:cNvSpPr>
          <p:nvPr>
            <p:ph sz="quarter" idx="13"/>
          </p:nvPr>
        </p:nvSpPr>
        <p:spPr>
          <a:xfrm>
            <a:off x="216946" y="1301256"/>
            <a:ext cx="1663252" cy="204532"/>
          </a:xfrm>
        </p:spPr>
        <p:txBody>
          <a:bodyPr wrap="square" lIns="0" tIns="9075" rIns="0" bIns="9075" anchor="ctr" anchorCtr="0">
            <a:spAutoFit/>
          </a:bodyPr>
          <a:lstStyle/>
          <a:p>
            <a:pPr marL="418394" lvl="1" indent="-172890"/>
            <a:r>
              <a:rPr lang="en-US" sz="1210" dirty="0"/>
              <a:t>Defining equation:</a:t>
            </a:r>
          </a:p>
        </p:txBody>
      </p:sp>
      <p:graphicFrame>
        <p:nvGraphicFramePr>
          <p:cNvPr id="21" name="Object 20" descr="p equals StartFraction d w over d t EndFraction.&#10;">
            <a:extLst>
              <a:ext uri="{FF2B5EF4-FFF2-40B4-BE49-F238E27FC236}">
                <a16:creationId xmlns:a16="http://schemas.microsoft.com/office/drawing/2014/main" id="{899FA088-49D2-BB18-9308-6B0C793B2E3C}"/>
              </a:ext>
            </a:extLst>
          </p:cNvPr>
          <p:cNvGraphicFramePr>
            <a:graphicFrameLocks noChangeAspect="1"/>
          </p:cNvGraphicFramePr>
          <p:nvPr/>
        </p:nvGraphicFramePr>
        <p:xfrm>
          <a:off x="1902090" y="1202935"/>
          <a:ext cx="539446" cy="384975"/>
        </p:xfrm>
        <a:graphic>
          <a:graphicData uri="http://schemas.openxmlformats.org/presentationml/2006/ole">
            <mc:AlternateContent xmlns:mc="http://schemas.openxmlformats.org/markup-compatibility/2006">
              <mc:Choice xmlns:v="urn:schemas-microsoft-com:vml" Requires="v">
                <p:oleObj name="Equation" r:id="rId2" imgW="545760" imgH="393480" progId="Equation.DSMT4">
                  <p:embed/>
                </p:oleObj>
              </mc:Choice>
              <mc:Fallback>
                <p:oleObj name="Equation" r:id="rId2" imgW="545760" imgH="393480" progId="Equation.DSMT4">
                  <p:embed/>
                  <p:pic>
                    <p:nvPicPr>
                      <p:cNvPr id="21" name="Object 20" descr="p equals StartFraction d w over d t EndFraction.&#10;">
                        <a:extLst>
                          <a:ext uri="{FF2B5EF4-FFF2-40B4-BE49-F238E27FC236}">
                            <a16:creationId xmlns:a16="http://schemas.microsoft.com/office/drawing/2014/main" id="{899FA088-49D2-BB18-9308-6B0C793B2E3C}"/>
                          </a:ext>
                        </a:extLst>
                      </p:cNvPr>
                      <p:cNvPicPr>
                        <a:picLocks noChangeAspect="1" noChangeArrowheads="1"/>
                      </p:cNvPicPr>
                      <p:nvPr/>
                    </p:nvPicPr>
                    <p:blipFill>
                      <a:blip r:embed="rId3"/>
                      <a:srcRect/>
                      <a:stretch>
                        <a:fillRect/>
                      </a:stretch>
                    </p:blipFill>
                    <p:spPr bwMode="auto">
                      <a:xfrm>
                        <a:off x="1902090" y="1202935"/>
                        <a:ext cx="539446" cy="384975"/>
                      </a:xfrm>
                      <a:prstGeom prst="rect">
                        <a:avLst/>
                      </a:prstGeom>
                      <a:noFill/>
                      <a:ln w="28575">
                        <a:solidFill>
                          <a:srgbClr val="007FA3"/>
                        </a:solidFill>
                      </a:ln>
                    </p:spPr>
                  </p:pic>
                </p:oleObj>
              </mc:Fallback>
            </mc:AlternateContent>
          </a:graphicData>
        </a:graphic>
      </p:graphicFrame>
      <p:sp>
        <p:nvSpPr>
          <p:cNvPr id="5" name="Content Placeholder 4">
            <a:extLst>
              <a:ext uri="{FF2B5EF4-FFF2-40B4-BE49-F238E27FC236}">
                <a16:creationId xmlns:a16="http://schemas.microsoft.com/office/drawing/2014/main" id="{ABEB2365-671E-17DA-C22D-7021853485D1}"/>
              </a:ext>
            </a:extLst>
          </p:cNvPr>
          <p:cNvSpPr>
            <a:spLocks noGrp="1"/>
          </p:cNvSpPr>
          <p:nvPr>
            <p:ph sz="quarter" idx="14"/>
          </p:nvPr>
        </p:nvSpPr>
        <p:spPr>
          <a:xfrm>
            <a:off x="216946" y="1637110"/>
            <a:ext cx="4154646" cy="878563"/>
          </a:xfrm>
        </p:spPr>
        <p:txBody>
          <a:bodyPr wrap="square" lIns="0" tIns="9075" rIns="0" bIns="9075" anchor="ctr" anchorCtr="0">
            <a:spAutoFit/>
          </a:bodyPr>
          <a:lstStyle/>
          <a:p>
            <a:pPr>
              <a:spcBef>
                <a:spcPts val="303"/>
              </a:spcBef>
            </a:pPr>
            <a:r>
              <a:rPr lang="en-US" sz="1210" dirty="0"/>
              <a:t>where</a:t>
            </a:r>
          </a:p>
          <a:p>
            <a:pPr marL="361209">
              <a:spcBef>
                <a:spcPts val="303"/>
              </a:spcBef>
            </a:pPr>
            <a:r>
              <a:rPr lang="en-US" sz="1210" i="1" dirty="0"/>
              <a:t>p </a:t>
            </a:r>
            <a:r>
              <a:rPr lang="en-US" sz="1210" dirty="0"/>
              <a:t> is power in watts [W]</a:t>
            </a:r>
          </a:p>
          <a:p>
            <a:pPr marL="361209">
              <a:spcBef>
                <a:spcPts val="303"/>
              </a:spcBef>
            </a:pPr>
            <a:r>
              <a:rPr lang="en-US" sz="1210" i="1" dirty="0"/>
              <a:t>w</a:t>
            </a:r>
            <a:r>
              <a:rPr lang="en-US" sz="1210" dirty="0"/>
              <a:t>  is energy in joules [J]</a:t>
            </a:r>
          </a:p>
          <a:p>
            <a:pPr marL="361209">
              <a:spcBef>
                <a:spcPts val="303"/>
              </a:spcBef>
            </a:pPr>
            <a:r>
              <a:rPr lang="en-US" sz="1210" i="1" dirty="0"/>
              <a:t>t</a:t>
            </a:r>
            <a:r>
              <a:rPr lang="en-US" sz="1210" dirty="0"/>
              <a:t>  is time in seconds [s]</a:t>
            </a:r>
          </a:p>
        </p:txBody>
      </p:sp>
      <p:sp>
        <p:nvSpPr>
          <p:cNvPr id="6" name="Content Placeholder 5">
            <a:extLst>
              <a:ext uri="{FF2B5EF4-FFF2-40B4-BE49-F238E27FC236}">
                <a16:creationId xmlns:a16="http://schemas.microsoft.com/office/drawing/2014/main" id="{60EF4A77-84A0-1F0D-55A6-FBF1EBF8C6D5}"/>
              </a:ext>
            </a:extLst>
          </p:cNvPr>
          <p:cNvSpPr>
            <a:spLocks noGrp="1"/>
          </p:cNvSpPr>
          <p:nvPr>
            <p:ph sz="quarter" idx="15"/>
          </p:nvPr>
        </p:nvSpPr>
        <p:spPr>
          <a:xfrm>
            <a:off x="216946" y="2552082"/>
            <a:ext cx="4154646" cy="204532"/>
          </a:xfrm>
        </p:spPr>
        <p:txBody>
          <a:bodyPr wrap="square" lIns="0" tIns="9075" rIns="0" bIns="9075" anchor="ctr" anchorCtr="0">
            <a:spAutoFit/>
          </a:bodyPr>
          <a:lstStyle/>
          <a:p>
            <a:pPr marL="418394" lvl="1" indent="-172890"/>
            <a:r>
              <a:rPr lang="en-US" sz="1210" dirty="0"/>
              <a:t>Note that energy is the integral over time of power!</a:t>
            </a:r>
          </a:p>
        </p:txBody>
      </p:sp>
    </p:spTree>
    <p:extLst>
      <p:ext uri="{BB962C8B-B14F-4D97-AF65-F5344CB8AC3E}">
        <p14:creationId xmlns:p14="http://schemas.microsoft.com/office/powerpoint/2010/main" val="61049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8E3C-3E7D-4D45-6BD2-0DC87A184ABB}"/>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(8 of 21)</a:t>
            </a:r>
            <a:endParaRPr lang="en-US" noProof="0" dirty="0"/>
          </a:p>
        </p:txBody>
      </p:sp>
      <p:sp>
        <p:nvSpPr>
          <p:cNvPr id="3" name="Content Placeholder 2">
            <a:extLst>
              <a:ext uri="{FF2B5EF4-FFF2-40B4-BE49-F238E27FC236}">
                <a16:creationId xmlns:a16="http://schemas.microsoft.com/office/drawing/2014/main" id="{A815D378-0C69-FCB2-E5D9-79063EF5CF28}"/>
              </a:ext>
            </a:extLst>
          </p:cNvPr>
          <p:cNvSpPr>
            <a:spLocks noGrp="1"/>
          </p:cNvSpPr>
          <p:nvPr>
            <p:ph sz="quarter" idx="12"/>
          </p:nvPr>
        </p:nvSpPr>
        <p:spPr>
          <a:xfrm>
            <a:off x="216945" y="538644"/>
            <a:ext cx="4154646" cy="429209"/>
          </a:xfrm>
        </p:spPr>
        <p:txBody>
          <a:bodyPr wrap="square" lIns="0" tIns="9075" rIns="0" bIns="9075" anchor="ctr" anchorCtr="0">
            <a:spAutoFit/>
          </a:bodyPr>
          <a:lstStyle/>
          <a:p>
            <a:pPr>
              <a:spcBef>
                <a:spcPts val="303"/>
              </a:spcBef>
            </a:pPr>
            <a:r>
              <a:rPr lang="en-US" altLang="en-US" sz="1210" dirty="0"/>
              <a:t>Section 1.6 (continued)</a:t>
            </a:r>
          </a:p>
          <a:p>
            <a:pPr marL="172890" indent="-172890">
              <a:spcBef>
                <a:spcPts val="303"/>
              </a:spcBef>
            </a:pPr>
            <a:r>
              <a:rPr lang="en-US" altLang="en-US" sz="1210" dirty="0"/>
              <a:t>More on power:</a:t>
            </a:r>
            <a:endParaRPr lang="en-US" noProof="0" dirty="0"/>
          </a:p>
        </p:txBody>
      </p:sp>
      <p:graphicFrame>
        <p:nvGraphicFramePr>
          <p:cNvPr id="21" name="Object 20" descr="p equals StartFraction d w over d t EndFraction equals StartFraction d w over d q EndFraction multiplied by StartFraction d q over d t EndFraction equals v i.&#10;">
            <a:extLst>
              <a:ext uri="{FF2B5EF4-FFF2-40B4-BE49-F238E27FC236}">
                <a16:creationId xmlns:a16="http://schemas.microsoft.com/office/drawing/2014/main" id="{899FA088-49D2-BB18-9308-6B0C793B2E3C}"/>
              </a:ext>
            </a:extLst>
          </p:cNvPr>
          <p:cNvGraphicFramePr>
            <a:graphicFrameLocks noChangeAspect="1"/>
          </p:cNvGraphicFramePr>
          <p:nvPr/>
        </p:nvGraphicFramePr>
        <p:xfrm>
          <a:off x="1428394" y="1014177"/>
          <a:ext cx="1487591" cy="401712"/>
        </p:xfrm>
        <a:graphic>
          <a:graphicData uri="http://schemas.openxmlformats.org/presentationml/2006/ole">
            <mc:AlternateContent xmlns:mc="http://schemas.openxmlformats.org/markup-compatibility/2006">
              <mc:Choice xmlns:v="urn:schemas-microsoft-com:vml" Requires="v">
                <p:oleObj name="Equation" r:id="rId2" imgW="1536480" imgH="419040" progId="Equation.DSMT4">
                  <p:embed/>
                </p:oleObj>
              </mc:Choice>
              <mc:Fallback>
                <p:oleObj name="Equation" r:id="rId2" imgW="1536480" imgH="419040" progId="Equation.DSMT4">
                  <p:embed/>
                  <p:pic>
                    <p:nvPicPr>
                      <p:cNvPr id="21" name="Object 20" descr="p equals StartFraction d w over d t EndFraction equals StartFraction d w over d q EndFraction multiplied by StartFraction d q over d t EndFraction equals v i.&#10;">
                        <a:extLst>
                          <a:ext uri="{FF2B5EF4-FFF2-40B4-BE49-F238E27FC236}">
                            <a16:creationId xmlns:a16="http://schemas.microsoft.com/office/drawing/2014/main" id="{899FA088-49D2-BB18-9308-6B0C793B2E3C}"/>
                          </a:ext>
                        </a:extLst>
                      </p:cNvPr>
                      <p:cNvPicPr>
                        <a:picLocks noChangeAspect="1" noChangeArrowheads="1"/>
                      </p:cNvPicPr>
                      <p:nvPr/>
                    </p:nvPicPr>
                    <p:blipFill>
                      <a:blip r:embed="rId3"/>
                      <a:srcRect/>
                      <a:stretch>
                        <a:fillRect/>
                      </a:stretch>
                    </p:blipFill>
                    <p:spPr bwMode="auto">
                      <a:xfrm>
                        <a:off x="1428394" y="1014177"/>
                        <a:ext cx="1487591" cy="401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descr="p equals v i.&#10;">
            <a:extLst>
              <a:ext uri="{FF2B5EF4-FFF2-40B4-BE49-F238E27FC236}">
                <a16:creationId xmlns:a16="http://schemas.microsoft.com/office/drawing/2014/main" id="{EE434D58-5CD7-BE4C-5BD8-A51F738BFDF3}"/>
              </a:ext>
            </a:extLst>
          </p:cNvPr>
          <p:cNvGraphicFramePr>
            <a:graphicFrameLocks noChangeAspect="1"/>
          </p:cNvGraphicFramePr>
          <p:nvPr/>
        </p:nvGraphicFramePr>
        <p:xfrm>
          <a:off x="1428651" y="1533485"/>
          <a:ext cx="417790" cy="195289"/>
        </p:xfrm>
        <a:graphic>
          <a:graphicData uri="http://schemas.openxmlformats.org/presentationml/2006/ole">
            <mc:AlternateContent xmlns:mc="http://schemas.openxmlformats.org/markup-compatibility/2006">
              <mc:Choice xmlns:v="urn:schemas-microsoft-com:vml" Requires="v">
                <p:oleObj name="Equation" r:id="rId4" imgW="431640" imgH="203040" progId="Equation.DSMT4">
                  <p:embed/>
                </p:oleObj>
              </mc:Choice>
              <mc:Fallback>
                <p:oleObj name="Equation" r:id="rId4" imgW="431640" imgH="203040" progId="Equation.DSMT4">
                  <p:embed/>
                  <p:pic>
                    <p:nvPicPr>
                      <p:cNvPr id="7" name="Object 6" descr="p equals v i.&#10;">
                        <a:extLst>
                          <a:ext uri="{FF2B5EF4-FFF2-40B4-BE49-F238E27FC236}">
                            <a16:creationId xmlns:a16="http://schemas.microsoft.com/office/drawing/2014/main" id="{EE434D58-5CD7-BE4C-5BD8-A51F738BFDF3}"/>
                          </a:ext>
                        </a:extLst>
                      </p:cNvPr>
                      <p:cNvPicPr>
                        <a:picLocks noChangeAspect="1" noChangeArrowheads="1"/>
                      </p:cNvPicPr>
                      <p:nvPr/>
                    </p:nvPicPr>
                    <p:blipFill>
                      <a:blip r:embed="rId5"/>
                      <a:srcRect/>
                      <a:stretch>
                        <a:fillRect/>
                      </a:stretch>
                    </p:blipFill>
                    <p:spPr bwMode="auto">
                      <a:xfrm>
                        <a:off x="1428651" y="1533485"/>
                        <a:ext cx="417790" cy="195289"/>
                      </a:xfrm>
                      <a:prstGeom prst="rect">
                        <a:avLst/>
                      </a:prstGeom>
                      <a:noFill/>
                      <a:ln w="28575">
                        <a:solidFill>
                          <a:srgbClr val="007FA3"/>
                        </a:solidFill>
                      </a:ln>
                    </p:spPr>
                  </p:pic>
                </p:oleObj>
              </mc:Fallback>
            </mc:AlternateContent>
          </a:graphicData>
        </a:graphic>
      </p:graphicFrame>
      <p:sp>
        <p:nvSpPr>
          <p:cNvPr id="5" name="Content Placeholder 4">
            <a:extLst>
              <a:ext uri="{FF2B5EF4-FFF2-40B4-BE49-F238E27FC236}">
                <a16:creationId xmlns:a16="http://schemas.microsoft.com/office/drawing/2014/main" id="{ABEB2365-671E-17DA-C22D-7021853485D1}"/>
              </a:ext>
            </a:extLst>
          </p:cNvPr>
          <p:cNvSpPr>
            <a:spLocks noGrp="1"/>
          </p:cNvSpPr>
          <p:nvPr>
            <p:ph sz="quarter" idx="14"/>
          </p:nvPr>
        </p:nvSpPr>
        <p:spPr>
          <a:xfrm>
            <a:off x="1939532" y="1506047"/>
            <a:ext cx="1050414" cy="204532"/>
          </a:xfrm>
        </p:spPr>
        <p:txBody>
          <a:bodyPr wrap="square" lIns="0" tIns="9075" rIns="0" bIns="9075" anchor="ctr" anchorCtr="0">
            <a:spAutoFit/>
          </a:bodyPr>
          <a:lstStyle/>
          <a:p>
            <a:r>
              <a:rPr lang="en-US" sz="1210" dirty="0">
                <a:solidFill>
                  <a:schemeClr val="tx2"/>
                </a:solidFill>
              </a:rPr>
              <a:t>Memorize this!!</a:t>
            </a:r>
          </a:p>
        </p:txBody>
      </p:sp>
    </p:spTree>
    <p:extLst>
      <p:ext uri="{BB962C8B-B14F-4D97-AF65-F5344CB8AC3E}">
        <p14:creationId xmlns:p14="http://schemas.microsoft.com/office/powerpoint/2010/main" val="18525789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95FB-7D4D-7895-B30B-E18324377753}"/>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(9 of 21)</a:t>
            </a:r>
            <a:endParaRPr lang="en-US" noProof="0" dirty="0"/>
          </a:p>
        </p:txBody>
      </p:sp>
      <p:sp>
        <p:nvSpPr>
          <p:cNvPr id="3" name="Content Placeholder 2">
            <a:extLst>
              <a:ext uri="{FF2B5EF4-FFF2-40B4-BE49-F238E27FC236}">
                <a16:creationId xmlns:a16="http://schemas.microsoft.com/office/drawing/2014/main" id="{D93298D0-7EAD-5700-BD14-21EE29E867FA}"/>
              </a:ext>
            </a:extLst>
          </p:cNvPr>
          <p:cNvSpPr>
            <a:spLocks noGrp="1"/>
          </p:cNvSpPr>
          <p:nvPr>
            <p:ph sz="quarter" idx="12"/>
          </p:nvPr>
        </p:nvSpPr>
        <p:spPr>
          <a:xfrm>
            <a:off x="216945" y="538644"/>
            <a:ext cx="4154646" cy="429209"/>
          </a:xfrm>
        </p:spPr>
        <p:txBody>
          <a:bodyPr wrap="square" lIns="0" tIns="9075" rIns="0" bIns="9075" anchor="ctr" anchorCtr="0">
            <a:spAutoFit/>
          </a:bodyPr>
          <a:lstStyle/>
          <a:p>
            <a:pPr>
              <a:spcBef>
                <a:spcPts val="303"/>
              </a:spcBef>
            </a:pPr>
            <a:r>
              <a:rPr lang="en-US" altLang="en-US" sz="1210" dirty="0"/>
              <a:t>Section 1.6 (continued)</a:t>
            </a:r>
          </a:p>
          <a:p>
            <a:pPr marL="172890" indent="-172890">
              <a:spcBef>
                <a:spcPts val="303"/>
              </a:spcBef>
            </a:pPr>
            <a:r>
              <a:rPr lang="en-US" altLang="en-US" sz="1210" dirty="0"/>
              <a:t>More on power:</a:t>
            </a:r>
            <a:endParaRPr lang="en-US" sz="1210" dirty="0"/>
          </a:p>
        </p:txBody>
      </p:sp>
      <p:sp>
        <p:nvSpPr>
          <p:cNvPr id="4" name="Content Placeholder 3">
            <a:extLst>
              <a:ext uri="{FF2B5EF4-FFF2-40B4-BE49-F238E27FC236}">
                <a16:creationId xmlns:a16="http://schemas.microsoft.com/office/drawing/2014/main" id="{9491BDA5-6A6D-8176-7B97-50611BC37273}"/>
              </a:ext>
            </a:extLst>
          </p:cNvPr>
          <p:cNvSpPr>
            <a:spLocks noGrp="1"/>
          </p:cNvSpPr>
          <p:nvPr>
            <p:ph sz="quarter" idx="13"/>
          </p:nvPr>
        </p:nvSpPr>
        <p:spPr>
          <a:xfrm>
            <a:off x="216946" y="993913"/>
            <a:ext cx="836146" cy="204532"/>
          </a:xfrm>
        </p:spPr>
        <p:txBody>
          <a:bodyPr wrap="square" lIns="0" tIns="9075" rIns="0" bIns="9075" anchor="ctr" anchorCtr="0">
            <a:spAutoFit/>
          </a:bodyPr>
          <a:lstStyle/>
          <a:p>
            <a:pPr marL="245504" lvl="1"/>
            <a:r>
              <a:rPr lang="en-US" sz="1210" dirty="0"/>
              <a:t>Actually,</a:t>
            </a:r>
          </a:p>
        </p:txBody>
      </p:sp>
      <p:graphicFrame>
        <p:nvGraphicFramePr>
          <p:cNvPr id="21" name="Object 20" descr="p equals plus or minus v i.&#10;">
            <a:extLst>
              <a:ext uri="{FF2B5EF4-FFF2-40B4-BE49-F238E27FC236}">
                <a16:creationId xmlns:a16="http://schemas.microsoft.com/office/drawing/2014/main" id="{3978574A-1A75-AE9F-58F2-078A4CC620A1}"/>
              </a:ext>
            </a:extLst>
          </p:cNvPr>
          <p:cNvGraphicFramePr>
            <a:graphicFrameLocks noChangeAspect="1"/>
          </p:cNvGraphicFramePr>
          <p:nvPr/>
        </p:nvGraphicFramePr>
        <p:xfrm>
          <a:off x="1070840" y="1021120"/>
          <a:ext cx="540246" cy="195289"/>
        </p:xfrm>
        <a:graphic>
          <a:graphicData uri="http://schemas.openxmlformats.org/presentationml/2006/ole">
            <mc:AlternateContent xmlns:mc="http://schemas.openxmlformats.org/markup-compatibility/2006">
              <mc:Choice xmlns:v="urn:schemas-microsoft-com:vml" Requires="v">
                <p:oleObj name="Equation" r:id="rId2" imgW="558720" imgH="203040" progId="Equation.DSMT4">
                  <p:embed/>
                </p:oleObj>
              </mc:Choice>
              <mc:Fallback>
                <p:oleObj name="Equation" r:id="rId2" imgW="558720" imgH="203040" progId="Equation.DSMT4">
                  <p:embed/>
                  <p:pic>
                    <p:nvPicPr>
                      <p:cNvPr id="21" name="Object 20" descr="p equals plus or minus v i.&#10;">
                        <a:extLst>
                          <a:ext uri="{FF2B5EF4-FFF2-40B4-BE49-F238E27FC236}">
                            <a16:creationId xmlns:a16="http://schemas.microsoft.com/office/drawing/2014/main" id="{3978574A-1A75-AE9F-58F2-078A4CC620A1}"/>
                          </a:ext>
                        </a:extLst>
                      </p:cNvPr>
                      <p:cNvPicPr>
                        <a:picLocks noChangeAspect="1" noChangeArrowheads="1"/>
                      </p:cNvPicPr>
                      <p:nvPr/>
                    </p:nvPicPr>
                    <p:blipFill>
                      <a:blip r:embed="rId3"/>
                      <a:srcRect/>
                      <a:stretch>
                        <a:fillRect/>
                      </a:stretch>
                    </p:blipFill>
                    <p:spPr bwMode="auto">
                      <a:xfrm>
                        <a:off x="1070840" y="1021120"/>
                        <a:ext cx="540246" cy="195289"/>
                      </a:xfrm>
                      <a:prstGeom prst="rect">
                        <a:avLst/>
                      </a:prstGeom>
                      <a:noFill/>
                      <a:ln w="28575">
                        <a:solidFill>
                          <a:srgbClr val="007FA3"/>
                        </a:solidFill>
                      </a:ln>
                    </p:spPr>
                  </p:pic>
                </p:oleObj>
              </mc:Fallback>
            </mc:AlternateContent>
          </a:graphicData>
        </a:graphic>
      </p:graphicFrame>
      <p:sp>
        <p:nvSpPr>
          <p:cNvPr id="5" name="Content Placeholder 4">
            <a:extLst>
              <a:ext uri="{FF2B5EF4-FFF2-40B4-BE49-F238E27FC236}">
                <a16:creationId xmlns:a16="http://schemas.microsoft.com/office/drawing/2014/main" id="{8824F086-C508-B21F-BA26-AF06F22A424A}"/>
              </a:ext>
            </a:extLst>
          </p:cNvPr>
          <p:cNvSpPr>
            <a:spLocks noGrp="1"/>
          </p:cNvSpPr>
          <p:nvPr>
            <p:ph sz="quarter" idx="14"/>
          </p:nvPr>
        </p:nvSpPr>
        <p:spPr>
          <a:xfrm>
            <a:off x="216946" y="1250972"/>
            <a:ext cx="4154646" cy="204532"/>
          </a:xfrm>
        </p:spPr>
        <p:txBody>
          <a:bodyPr wrap="square" lIns="0" tIns="9075" rIns="0" bIns="9075" anchor="ctr" anchorCtr="0">
            <a:spAutoFit/>
          </a:bodyPr>
          <a:lstStyle/>
          <a:p>
            <a:pPr marL="245504" lvl="1"/>
            <a:r>
              <a:rPr lang="en-US" sz="1210" dirty="0"/>
              <a:t>How do you know which sign to use???</a:t>
            </a:r>
          </a:p>
        </p:txBody>
      </p:sp>
      <p:sp>
        <p:nvSpPr>
          <p:cNvPr id="6" name="Content Placeholder 5">
            <a:extLst>
              <a:ext uri="{FF2B5EF4-FFF2-40B4-BE49-F238E27FC236}">
                <a16:creationId xmlns:a16="http://schemas.microsoft.com/office/drawing/2014/main" id="{95BF1AE4-7F25-4683-4601-EC4AE93ED194}"/>
              </a:ext>
            </a:extLst>
          </p:cNvPr>
          <p:cNvSpPr>
            <a:spLocks noGrp="1"/>
          </p:cNvSpPr>
          <p:nvPr>
            <p:ph sz="quarter" idx="15"/>
          </p:nvPr>
        </p:nvSpPr>
        <p:spPr>
          <a:xfrm>
            <a:off x="216945" y="1544205"/>
            <a:ext cx="4154646" cy="1135556"/>
          </a:xfrm>
        </p:spPr>
        <p:txBody>
          <a:bodyPr wrap="square" lIns="0" tIns="9075" rIns="0" bIns="9075" anchor="ctr" anchorCtr="0">
            <a:spAutoFit/>
          </a:bodyPr>
          <a:lstStyle/>
          <a:p>
            <a:pPr marL="172890" indent="-172890">
              <a:spcBef>
                <a:spcPts val="303"/>
              </a:spcBef>
            </a:pPr>
            <a:r>
              <a:rPr lang="en-US" sz="1210" dirty="0"/>
              <a:t>The passive sign convention:</a:t>
            </a:r>
          </a:p>
          <a:p>
            <a:pPr marL="245504" lvl="1"/>
            <a:r>
              <a:rPr lang="en-US" sz="1210" dirty="0">
                <a:solidFill>
                  <a:schemeClr val="tx2"/>
                </a:solidFill>
              </a:rPr>
              <a:t>“Whenever the reference direction for the current in an element is in the direction of the reference voltage drop across the element, use a positive sign in any expression that relates the voltage to the current. Otherwise, use a  negative sign.”</a:t>
            </a:r>
            <a:endParaRPr lang="en-US" noProof="0" dirty="0">
              <a:solidFill>
                <a:schemeClr val="tx2"/>
              </a:solidFill>
            </a:endParaRPr>
          </a:p>
        </p:txBody>
      </p:sp>
    </p:spTree>
    <p:extLst>
      <p:ext uri="{BB962C8B-B14F-4D97-AF65-F5344CB8AC3E}">
        <p14:creationId xmlns:p14="http://schemas.microsoft.com/office/powerpoint/2010/main" val="33452999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F8D-4EAD-4B59-B981-87AFA5DA4ED3}"/>
              </a:ext>
            </a:extLst>
          </p:cNvPr>
          <p:cNvSpPr>
            <a:spLocks noGrp="1"/>
          </p:cNvSpPr>
          <p:nvPr>
            <p:ph type="title"/>
          </p:nvPr>
        </p:nvSpPr>
        <p:spPr>
          <a:xfrm>
            <a:off x="216945" y="109844"/>
            <a:ext cx="4154646" cy="297634"/>
          </a:xfrm>
        </p:spPr>
        <p:txBody>
          <a:bodyPr wrap="square" lIns="0" tIns="9075" rIns="0" bIns="9075" anchor="ctr" anchorCtr="0">
            <a:spAutoFit/>
          </a:bodyPr>
          <a:lstStyle/>
          <a:p>
            <a:r>
              <a:rPr lang="en-US" dirty="0"/>
              <a:t>Chapter 1 – Circuit Variables </a:t>
            </a:r>
            <a:r>
              <a:rPr lang="en-US" sz="1412" dirty="0"/>
              <a:t>(10 of 21)</a:t>
            </a:r>
            <a:endParaRPr lang="en-US" noProof="0" dirty="0"/>
          </a:p>
        </p:txBody>
      </p:sp>
      <p:sp>
        <p:nvSpPr>
          <p:cNvPr id="3" name="Content Placeholder 2">
            <a:extLst>
              <a:ext uri="{FF2B5EF4-FFF2-40B4-BE49-F238E27FC236}">
                <a16:creationId xmlns:a16="http://schemas.microsoft.com/office/drawing/2014/main" id="{049147F8-9775-AA12-26CD-A96338923BE2}"/>
              </a:ext>
            </a:extLst>
          </p:cNvPr>
          <p:cNvSpPr>
            <a:spLocks noGrp="1"/>
          </p:cNvSpPr>
          <p:nvPr>
            <p:ph sz="quarter" idx="12"/>
          </p:nvPr>
        </p:nvSpPr>
        <p:spPr>
          <a:xfrm>
            <a:off x="216945" y="538644"/>
            <a:ext cx="4154646" cy="429209"/>
          </a:xfrm>
        </p:spPr>
        <p:txBody>
          <a:bodyPr wrap="square" lIns="0" tIns="9075" rIns="0" bIns="9075" anchor="ctr" anchorCtr="0">
            <a:spAutoFit/>
          </a:bodyPr>
          <a:lstStyle/>
          <a:p>
            <a:pPr>
              <a:spcBef>
                <a:spcPts val="303"/>
              </a:spcBef>
            </a:pPr>
            <a:r>
              <a:rPr lang="en-US" altLang="en-US" sz="1210" dirty="0"/>
              <a:t>Section 1.6 (continued)</a:t>
            </a:r>
          </a:p>
          <a:p>
            <a:pPr marL="172890" indent="-172890">
              <a:spcBef>
                <a:spcPts val="303"/>
              </a:spcBef>
            </a:pPr>
            <a:r>
              <a:rPr lang="en-US" altLang="en-US" sz="1210" dirty="0"/>
              <a:t>The </a:t>
            </a:r>
            <a:r>
              <a:rPr lang="en-US" altLang="en-US" sz="1210" u="sng" dirty="0"/>
              <a:t>practical</a:t>
            </a:r>
            <a:r>
              <a:rPr lang="en-US" altLang="en-US" sz="1210" dirty="0"/>
              <a:t> passive sign convention:</a:t>
            </a:r>
            <a:endParaRPr lang="en-US" sz="1210" dirty="0"/>
          </a:p>
        </p:txBody>
      </p:sp>
      <p:pic>
        <p:nvPicPr>
          <p:cNvPr id="23" name="Picture 22" descr="Diagram shows a circuit which is flowing through an element which represents the element as block box which is connected between terminals 1 and 2. A circuit is flowing in from terminal 1 and flows out by the terminal 2 shown by the arrow, a voltage supply V placed across it and current i is entering from the left.">
            <a:extLst>
              <a:ext uri="{FF2B5EF4-FFF2-40B4-BE49-F238E27FC236}">
                <a16:creationId xmlns:a16="http://schemas.microsoft.com/office/drawing/2014/main" id="{A96055A5-0056-01D7-4AB1-23B7EEF4C206}"/>
              </a:ext>
            </a:extLst>
          </p:cNvPr>
          <p:cNvPicPr>
            <a:picLocks noChangeAspect="1"/>
          </p:cNvPicPr>
          <p:nvPr/>
        </p:nvPicPr>
        <p:blipFill>
          <a:blip r:embed="rId2"/>
          <a:stretch>
            <a:fillRect/>
          </a:stretch>
        </p:blipFill>
        <p:spPr>
          <a:xfrm>
            <a:off x="1640211" y="1075079"/>
            <a:ext cx="1329811" cy="561636"/>
          </a:xfrm>
          <a:prstGeom prst="rect">
            <a:avLst/>
          </a:prstGeom>
        </p:spPr>
      </p:pic>
      <p:sp>
        <p:nvSpPr>
          <p:cNvPr id="4" name="Content Placeholder 3">
            <a:extLst>
              <a:ext uri="{FF2B5EF4-FFF2-40B4-BE49-F238E27FC236}">
                <a16:creationId xmlns:a16="http://schemas.microsoft.com/office/drawing/2014/main" id="{1D629DF8-0869-D565-0A34-3E32C56D25DF}"/>
              </a:ext>
            </a:extLst>
          </p:cNvPr>
          <p:cNvSpPr>
            <a:spLocks noGrp="1"/>
          </p:cNvSpPr>
          <p:nvPr>
            <p:ph sz="quarter" idx="13"/>
          </p:nvPr>
        </p:nvSpPr>
        <p:spPr>
          <a:xfrm>
            <a:off x="216945" y="1711398"/>
            <a:ext cx="4154646" cy="615414"/>
          </a:xfrm>
        </p:spPr>
        <p:txBody>
          <a:bodyPr wrap="square" lIns="0" tIns="9075" rIns="0" bIns="9075" anchor="ctr" anchorCtr="0">
            <a:spAutoFit/>
          </a:bodyPr>
          <a:lstStyle/>
          <a:p>
            <a:pPr>
              <a:spcBef>
                <a:spcPts val="303"/>
              </a:spcBef>
            </a:pPr>
            <a:r>
              <a:rPr lang="en-US" sz="1210" dirty="0">
                <a:latin typeface="Arial" panose="020B0604020202020204" pitchFamily="34" charset="0"/>
                <a:cs typeface="Arial" panose="020B0604020202020204" pitchFamily="34" charset="0"/>
              </a:rPr>
              <a:t>If the current arrow points to the + terminal of the voltage, use a + sign in the equation. Otherwise, use a </a:t>
            </a:r>
            <a:r>
              <a:rPr lang="en-US" sz="1210" dirty="0">
                <a:latin typeface="Arial" panose="020B0604020202020204" pitchFamily="34" charset="0"/>
                <a:ea typeface="Calibri" panose="020F0502020204030204" pitchFamily="34" charset="0"/>
                <a:cs typeface="Arial" panose="020B0604020202020204" pitchFamily="34" charset="0"/>
              </a:rPr>
              <a:t>− </a:t>
            </a:r>
            <a:r>
              <a:rPr lang="en-US" sz="1210" dirty="0">
                <a:latin typeface="Arial" panose="020B0604020202020204" pitchFamily="34" charset="0"/>
                <a:cs typeface="Arial" panose="020B0604020202020204" pitchFamily="34" charset="0"/>
              </a:rPr>
              <a:t>sign.</a:t>
            </a:r>
          </a:p>
          <a:p>
            <a:pPr>
              <a:spcBef>
                <a:spcPts val="303"/>
              </a:spcBef>
            </a:pPr>
            <a:r>
              <a:rPr lang="en-US" sz="1210" dirty="0">
                <a:latin typeface="Arial" panose="020B0604020202020204" pitchFamily="34" charset="0"/>
                <a:cs typeface="Arial" panose="020B0604020202020204" pitchFamily="34" charset="0"/>
              </a:rPr>
              <a:t>For the ideal basic circuit element above,</a:t>
            </a:r>
          </a:p>
        </p:txBody>
      </p:sp>
      <p:graphicFrame>
        <p:nvGraphicFramePr>
          <p:cNvPr id="21" name="Object 20" descr="p equals plus v i equals v i.&#10;">
            <a:extLst>
              <a:ext uri="{FF2B5EF4-FFF2-40B4-BE49-F238E27FC236}">
                <a16:creationId xmlns:a16="http://schemas.microsoft.com/office/drawing/2014/main" id="{EC55369D-8EF2-1FA4-0BEF-21920AB802EF}"/>
              </a:ext>
            </a:extLst>
          </p:cNvPr>
          <p:cNvGraphicFramePr>
            <a:graphicFrameLocks noChangeAspect="1"/>
          </p:cNvGraphicFramePr>
          <p:nvPr/>
        </p:nvGraphicFramePr>
        <p:xfrm>
          <a:off x="1892645" y="2392305"/>
          <a:ext cx="830365" cy="203218"/>
        </p:xfrm>
        <a:graphic>
          <a:graphicData uri="http://schemas.openxmlformats.org/presentationml/2006/ole">
            <mc:AlternateContent xmlns:mc="http://schemas.openxmlformats.org/markup-compatibility/2006">
              <mc:Choice xmlns:v="urn:schemas-microsoft-com:vml" Requires="v">
                <p:oleObj name="Equation" r:id="rId3" imgW="825480" imgH="203040" progId="Equation.DSMT4">
                  <p:embed/>
                </p:oleObj>
              </mc:Choice>
              <mc:Fallback>
                <p:oleObj name="Equation" r:id="rId3" imgW="825480" imgH="203040" progId="Equation.DSMT4">
                  <p:embed/>
                  <p:pic>
                    <p:nvPicPr>
                      <p:cNvPr id="21" name="Object 20" descr="p equals plus v i equals v i.&#10;">
                        <a:extLst>
                          <a:ext uri="{FF2B5EF4-FFF2-40B4-BE49-F238E27FC236}">
                            <a16:creationId xmlns:a16="http://schemas.microsoft.com/office/drawing/2014/main" id="{EC55369D-8EF2-1FA4-0BEF-21920AB802EF}"/>
                          </a:ext>
                        </a:extLst>
                      </p:cNvPr>
                      <p:cNvPicPr>
                        <a:picLocks noChangeAspect="1" noChangeArrowheads="1"/>
                      </p:cNvPicPr>
                      <p:nvPr/>
                    </p:nvPicPr>
                    <p:blipFill>
                      <a:blip r:embed="rId4"/>
                      <a:srcRect/>
                      <a:stretch>
                        <a:fillRect/>
                      </a:stretch>
                    </p:blipFill>
                    <p:spPr bwMode="auto">
                      <a:xfrm>
                        <a:off x="1892645" y="2392305"/>
                        <a:ext cx="830365" cy="203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67345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F8D-4EAD-4B59-B981-87AFA5DA4ED3}"/>
              </a:ext>
            </a:extLst>
          </p:cNvPr>
          <p:cNvSpPr>
            <a:spLocks noGrp="1"/>
          </p:cNvSpPr>
          <p:nvPr>
            <p:ph type="title"/>
          </p:nvPr>
        </p:nvSpPr>
        <p:spPr>
          <a:xfrm>
            <a:off x="216945" y="109844"/>
            <a:ext cx="4154646" cy="297634"/>
          </a:xfrm>
        </p:spPr>
        <p:txBody>
          <a:bodyPr wrap="square" lIns="0" tIns="9075" rIns="0" bIns="9075" anchor="ctr" anchorCtr="0">
            <a:spAutoFit/>
          </a:bodyPr>
          <a:lstStyle/>
          <a:p>
            <a:r>
              <a:rPr lang="en-US" dirty="0"/>
              <a:t>Chapter 1 – Circuit Variables </a:t>
            </a:r>
            <a:r>
              <a:rPr lang="en-US" sz="1412" dirty="0"/>
              <a:t>(11 of 21)</a:t>
            </a:r>
            <a:endParaRPr lang="en-US" noProof="0" dirty="0"/>
          </a:p>
        </p:txBody>
      </p:sp>
      <p:sp>
        <p:nvSpPr>
          <p:cNvPr id="3" name="Content Placeholder 2">
            <a:extLst>
              <a:ext uri="{FF2B5EF4-FFF2-40B4-BE49-F238E27FC236}">
                <a16:creationId xmlns:a16="http://schemas.microsoft.com/office/drawing/2014/main" id="{049147F8-9775-AA12-26CD-A96338923BE2}"/>
              </a:ext>
            </a:extLst>
          </p:cNvPr>
          <p:cNvSpPr>
            <a:spLocks noGrp="1"/>
          </p:cNvSpPr>
          <p:nvPr>
            <p:ph sz="quarter" idx="12"/>
          </p:nvPr>
        </p:nvSpPr>
        <p:spPr>
          <a:xfrm>
            <a:off x="216945" y="538644"/>
            <a:ext cx="4154646" cy="429209"/>
          </a:xfrm>
        </p:spPr>
        <p:txBody>
          <a:bodyPr wrap="square" lIns="0" tIns="9075" rIns="0" bIns="9075" anchor="ctr" anchorCtr="0">
            <a:spAutoFit/>
          </a:bodyPr>
          <a:lstStyle/>
          <a:p>
            <a:pPr>
              <a:spcBef>
                <a:spcPts val="303"/>
              </a:spcBef>
            </a:pPr>
            <a:r>
              <a:rPr lang="en-US" altLang="en-US" sz="1210" dirty="0"/>
              <a:t>Section 1.6 (continued)</a:t>
            </a:r>
          </a:p>
          <a:p>
            <a:pPr marL="172890" indent="-172890">
              <a:spcBef>
                <a:spcPts val="303"/>
              </a:spcBef>
            </a:pPr>
            <a:r>
              <a:rPr lang="en-US" altLang="en-US" sz="1210" dirty="0"/>
              <a:t>Passive sign convention examples:</a:t>
            </a:r>
            <a:endParaRPr lang="en-US" sz="1210" dirty="0"/>
          </a:p>
        </p:txBody>
      </p:sp>
      <p:pic>
        <p:nvPicPr>
          <p:cNvPr id="6" name="Picture 5" descr="Diagram shows a circuit which is flowing through an element which represents the element as block box which is connected between terminals 1 and 2. A circuit is flowing in from terminal 1 and flows out by the terminal 2 shown by the arrow, a voltage supply V placed across it and current i is entering from the left.">
            <a:extLst>
              <a:ext uri="{FF2B5EF4-FFF2-40B4-BE49-F238E27FC236}">
                <a16:creationId xmlns:a16="http://schemas.microsoft.com/office/drawing/2014/main" id="{5C8C09BE-9887-C38A-113E-658437A8015D}"/>
              </a:ext>
            </a:extLst>
          </p:cNvPr>
          <p:cNvPicPr>
            <a:picLocks noChangeAspect="1"/>
          </p:cNvPicPr>
          <p:nvPr/>
        </p:nvPicPr>
        <p:blipFill>
          <a:blip r:embed="rId2"/>
          <a:stretch>
            <a:fillRect/>
          </a:stretch>
        </p:blipFill>
        <p:spPr>
          <a:xfrm>
            <a:off x="1168172" y="1171435"/>
            <a:ext cx="1184442" cy="321677"/>
          </a:xfrm>
          <a:prstGeom prst="rect">
            <a:avLst/>
          </a:prstGeom>
        </p:spPr>
      </p:pic>
      <p:graphicFrame>
        <p:nvGraphicFramePr>
          <p:cNvPr id="11" name="Object 10" descr="p equals negative v i.&#10;">
            <a:extLst>
              <a:ext uri="{FF2B5EF4-FFF2-40B4-BE49-F238E27FC236}">
                <a16:creationId xmlns:a16="http://schemas.microsoft.com/office/drawing/2014/main" id="{39EB4EB2-E77E-8533-0241-2D3FEDEF2CC5}"/>
              </a:ext>
            </a:extLst>
          </p:cNvPr>
          <p:cNvGraphicFramePr>
            <a:graphicFrameLocks noChangeAspect="1"/>
          </p:cNvGraphicFramePr>
          <p:nvPr/>
        </p:nvGraphicFramePr>
        <p:xfrm>
          <a:off x="2377694" y="1191524"/>
          <a:ext cx="537044" cy="203293"/>
        </p:xfrm>
        <a:graphic>
          <a:graphicData uri="http://schemas.openxmlformats.org/presentationml/2006/ole">
            <mc:AlternateContent xmlns:mc="http://schemas.openxmlformats.org/markup-compatibility/2006">
              <mc:Choice xmlns:v="urn:schemas-microsoft-com:vml" Requires="v">
                <p:oleObj name="Equation" r:id="rId3" imgW="533160" imgH="203040" progId="Equation.DSMT4">
                  <p:embed/>
                </p:oleObj>
              </mc:Choice>
              <mc:Fallback>
                <p:oleObj name="Equation" r:id="rId3" imgW="533160" imgH="203040" progId="Equation.DSMT4">
                  <p:embed/>
                  <p:pic>
                    <p:nvPicPr>
                      <p:cNvPr id="11" name="Object 10" descr="p equals negative v i.&#10;">
                        <a:extLst>
                          <a:ext uri="{FF2B5EF4-FFF2-40B4-BE49-F238E27FC236}">
                            <a16:creationId xmlns:a16="http://schemas.microsoft.com/office/drawing/2014/main" id="{39EB4EB2-E77E-8533-0241-2D3FEDEF2CC5}"/>
                          </a:ext>
                        </a:extLst>
                      </p:cNvPr>
                      <p:cNvPicPr>
                        <a:picLocks noChangeAspect="1" noChangeArrowheads="1"/>
                      </p:cNvPicPr>
                      <p:nvPr/>
                    </p:nvPicPr>
                    <p:blipFill>
                      <a:blip r:embed="rId4"/>
                      <a:srcRect/>
                      <a:stretch>
                        <a:fillRect/>
                      </a:stretch>
                    </p:blipFill>
                    <p:spPr bwMode="auto">
                      <a:xfrm>
                        <a:off x="2377694" y="1191524"/>
                        <a:ext cx="537044" cy="2032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descr="Diagram shows a circuit which is flowing through an element which represents the element as block box which is connected between terminals 1 and 2. A circuit is flowing in from terminal 1 and flows out by the terminal 2 shown by the arrow, a voltage supply V placed across it and current i is exit from the right.">
            <a:extLst>
              <a:ext uri="{FF2B5EF4-FFF2-40B4-BE49-F238E27FC236}">
                <a16:creationId xmlns:a16="http://schemas.microsoft.com/office/drawing/2014/main" id="{1056B99E-CFFF-BC2E-396D-5F9EA774FFDB}"/>
              </a:ext>
            </a:extLst>
          </p:cNvPr>
          <p:cNvPicPr>
            <a:picLocks noChangeAspect="1"/>
          </p:cNvPicPr>
          <p:nvPr/>
        </p:nvPicPr>
        <p:blipFill>
          <a:blip r:embed="rId5"/>
          <a:stretch>
            <a:fillRect/>
          </a:stretch>
        </p:blipFill>
        <p:spPr>
          <a:xfrm>
            <a:off x="1130322" y="1701007"/>
            <a:ext cx="1221631" cy="317959"/>
          </a:xfrm>
          <a:prstGeom prst="rect">
            <a:avLst/>
          </a:prstGeom>
        </p:spPr>
      </p:pic>
      <p:graphicFrame>
        <p:nvGraphicFramePr>
          <p:cNvPr id="12" name="Object 11" descr="p equals negative v i.&#10;">
            <a:extLst>
              <a:ext uri="{FF2B5EF4-FFF2-40B4-BE49-F238E27FC236}">
                <a16:creationId xmlns:a16="http://schemas.microsoft.com/office/drawing/2014/main" id="{A5F8DCF5-3815-6169-DD6D-AD9ACAC04FF4}"/>
              </a:ext>
            </a:extLst>
          </p:cNvPr>
          <p:cNvGraphicFramePr>
            <a:graphicFrameLocks noChangeAspect="1"/>
          </p:cNvGraphicFramePr>
          <p:nvPr/>
        </p:nvGraphicFramePr>
        <p:xfrm>
          <a:off x="2377694" y="1730375"/>
          <a:ext cx="537044" cy="203293"/>
        </p:xfrm>
        <a:graphic>
          <a:graphicData uri="http://schemas.openxmlformats.org/presentationml/2006/ole">
            <mc:AlternateContent xmlns:mc="http://schemas.openxmlformats.org/markup-compatibility/2006">
              <mc:Choice xmlns:v="urn:schemas-microsoft-com:vml" Requires="v">
                <p:oleObj name="Equation" r:id="rId3" imgW="533160" imgH="203040" progId="Equation.DSMT4">
                  <p:embed/>
                </p:oleObj>
              </mc:Choice>
              <mc:Fallback>
                <p:oleObj name="Equation" r:id="rId3" imgW="533160" imgH="203040" progId="Equation.DSMT4">
                  <p:embed/>
                  <p:pic>
                    <p:nvPicPr>
                      <p:cNvPr id="12" name="Object 11" descr="p equals negative v i.&#10;">
                        <a:extLst>
                          <a:ext uri="{FF2B5EF4-FFF2-40B4-BE49-F238E27FC236}">
                            <a16:creationId xmlns:a16="http://schemas.microsoft.com/office/drawing/2014/main" id="{A5F8DCF5-3815-6169-DD6D-AD9ACAC04FF4}"/>
                          </a:ext>
                        </a:extLst>
                      </p:cNvPr>
                      <p:cNvPicPr>
                        <a:picLocks noChangeAspect="1" noChangeArrowheads="1"/>
                      </p:cNvPicPr>
                      <p:nvPr/>
                    </p:nvPicPr>
                    <p:blipFill>
                      <a:blip r:embed="rId4"/>
                      <a:srcRect/>
                      <a:stretch>
                        <a:fillRect/>
                      </a:stretch>
                    </p:blipFill>
                    <p:spPr bwMode="auto">
                      <a:xfrm>
                        <a:off x="2377694" y="1730375"/>
                        <a:ext cx="537044" cy="2032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9" descr="Diagram shows a circuit which is flowing through an element which represents the element as block box which is connected between terminals 1 and 2. A circuit is flowing in from terminal 1 and flows out by the terminal 2 shown by the arrow, a voltage supply V placed across it and current i is entering from the right.">
            <a:extLst>
              <a:ext uri="{FF2B5EF4-FFF2-40B4-BE49-F238E27FC236}">
                <a16:creationId xmlns:a16="http://schemas.microsoft.com/office/drawing/2014/main" id="{24B0C594-D060-F149-7FB3-34CDEA2EBB24}"/>
              </a:ext>
            </a:extLst>
          </p:cNvPr>
          <p:cNvPicPr>
            <a:picLocks noChangeAspect="1"/>
          </p:cNvPicPr>
          <p:nvPr/>
        </p:nvPicPr>
        <p:blipFill>
          <a:blip r:embed="rId6"/>
          <a:stretch>
            <a:fillRect/>
          </a:stretch>
        </p:blipFill>
        <p:spPr>
          <a:xfrm>
            <a:off x="1135009" y="2285894"/>
            <a:ext cx="1221631" cy="310521"/>
          </a:xfrm>
          <a:prstGeom prst="rect">
            <a:avLst/>
          </a:prstGeom>
        </p:spPr>
      </p:pic>
      <p:graphicFrame>
        <p:nvGraphicFramePr>
          <p:cNvPr id="13" name="Object 12" descr="p equals plus v i equals v i.&#10;">
            <a:extLst>
              <a:ext uri="{FF2B5EF4-FFF2-40B4-BE49-F238E27FC236}">
                <a16:creationId xmlns:a16="http://schemas.microsoft.com/office/drawing/2014/main" id="{FC675C57-EFFE-513C-0BE3-E881EE1C4842}"/>
              </a:ext>
            </a:extLst>
          </p:cNvPr>
          <p:cNvGraphicFramePr>
            <a:graphicFrameLocks noChangeAspect="1"/>
          </p:cNvGraphicFramePr>
          <p:nvPr/>
        </p:nvGraphicFramePr>
        <p:xfrm>
          <a:off x="2377694" y="2310790"/>
          <a:ext cx="882002" cy="203293"/>
        </p:xfrm>
        <a:graphic>
          <a:graphicData uri="http://schemas.openxmlformats.org/presentationml/2006/ole">
            <mc:AlternateContent xmlns:mc="http://schemas.openxmlformats.org/markup-compatibility/2006">
              <mc:Choice xmlns:v="urn:schemas-microsoft-com:vml" Requires="v">
                <p:oleObj name="Equation" r:id="rId7" imgW="876240" imgH="203040" progId="Equation.DSMT4">
                  <p:embed/>
                </p:oleObj>
              </mc:Choice>
              <mc:Fallback>
                <p:oleObj name="Equation" r:id="rId7" imgW="876240" imgH="203040" progId="Equation.DSMT4">
                  <p:embed/>
                  <p:pic>
                    <p:nvPicPr>
                      <p:cNvPr id="13" name="Object 12" descr="p equals plus v i equals v i.&#10;">
                        <a:extLst>
                          <a:ext uri="{FF2B5EF4-FFF2-40B4-BE49-F238E27FC236}">
                            <a16:creationId xmlns:a16="http://schemas.microsoft.com/office/drawing/2014/main" id="{FC675C57-EFFE-513C-0BE3-E881EE1C4842}"/>
                          </a:ext>
                        </a:extLst>
                      </p:cNvPr>
                      <p:cNvPicPr>
                        <a:picLocks noChangeAspect="1" noChangeArrowheads="1"/>
                      </p:cNvPicPr>
                      <p:nvPr/>
                    </p:nvPicPr>
                    <p:blipFill>
                      <a:blip r:embed="rId8"/>
                      <a:srcRect/>
                      <a:stretch>
                        <a:fillRect/>
                      </a:stretch>
                    </p:blipFill>
                    <p:spPr bwMode="auto">
                      <a:xfrm>
                        <a:off x="2377694" y="2310790"/>
                        <a:ext cx="882002" cy="2032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759236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F8D-4EAD-4B59-B981-87AFA5DA4ED3}"/>
              </a:ext>
            </a:extLst>
          </p:cNvPr>
          <p:cNvSpPr>
            <a:spLocks noGrp="1"/>
          </p:cNvSpPr>
          <p:nvPr>
            <p:ph type="title"/>
          </p:nvPr>
        </p:nvSpPr>
        <p:spPr>
          <a:xfrm>
            <a:off x="216945" y="109844"/>
            <a:ext cx="4154646" cy="297634"/>
          </a:xfrm>
        </p:spPr>
        <p:txBody>
          <a:bodyPr wrap="square" lIns="0" tIns="9075" rIns="0" bIns="9075" anchor="ctr" anchorCtr="0">
            <a:spAutoFit/>
          </a:bodyPr>
          <a:lstStyle/>
          <a:p>
            <a:r>
              <a:rPr lang="en-US" dirty="0"/>
              <a:t>Chapter 1 – Circuit Variables </a:t>
            </a:r>
            <a:r>
              <a:rPr lang="en-US" sz="1412" dirty="0"/>
              <a:t>(12 of 21)</a:t>
            </a:r>
            <a:endParaRPr lang="en-US" noProof="0" dirty="0"/>
          </a:p>
        </p:txBody>
      </p:sp>
      <p:sp>
        <p:nvSpPr>
          <p:cNvPr id="3" name="Content Placeholder 2">
            <a:extLst>
              <a:ext uri="{FF2B5EF4-FFF2-40B4-BE49-F238E27FC236}">
                <a16:creationId xmlns:a16="http://schemas.microsoft.com/office/drawing/2014/main" id="{049147F8-9775-AA12-26CD-A96338923BE2}"/>
              </a:ext>
            </a:extLst>
          </p:cNvPr>
          <p:cNvSpPr>
            <a:spLocks noGrp="1"/>
          </p:cNvSpPr>
          <p:nvPr>
            <p:ph sz="quarter" idx="12"/>
          </p:nvPr>
        </p:nvSpPr>
        <p:spPr>
          <a:xfrm>
            <a:off x="216945" y="662506"/>
            <a:ext cx="4154646" cy="1546438"/>
          </a:xfrm>
        </p:spPr>
        <p:txBody>
          <a:bodyPr wrap="square" lIns="0" tIns="9075" rIns="0" bIns="9075" anchor="ctr" anchorCtr="0">
            <a:spAutoFit/>
          </a:bodyPr>
          <a:lstStyle/>
          <a:p>
            <a:pPr>
              <a:spcBef>
                <a:spcPts val="303"/>
              </a:spcBef>
            </a:pPr>
            <a:r>
              <a:rPr lang="en-US" altLang="en-US" sz="1210" dirty="0"/>
              <a:t>Section 1.6 (continued)</a:t>
            </a:r>
          </a:p>
          <a:p>
            <a:pPr marL="172890" indent="-172890">
              <a:spcBef>
                <a:spcPts val="303"/>
              </a:spcBef>
            </a:pPr>
            <a:r>
              <a:rPr lang="en-US" altLang="en-US" sz="1210" dirty="0"/>
              <a:t>What is the meaning of positive power and negative power?</a:t>
            </a:r>
          </a:p>
          <a:p>
            <a:pPr marL="418394" lvl="1" indent="-172890"/>
            <a:r>
              <a:rPr lang="en-US" altLang="en-US" sz="1210" dirty="0"/>
              <a:t>When the power associated with a circuit element is negative, the circuit element is generating (delivering, supplying) power to the circuit.</a:t>
            </a:r>
          </a:p>
          <a:p>
            <a:pPr marL="418394" lvl="1" indent="-172890"/>
            <a:r>
              <a:rPr lang="en-US" altLang="en-US" sz="1210" dirty="0"/>
              <a:t>When the power associated with a circuit element is positive, the circuit element is absorbing (dissipating) power from the circuit.</a:t>
            </a:r>
            <a:endParaRPr lang="en-US" sz="1210" dirty="0"/>
          </a:p>
        </p:txBody>
      </p:sp>
    </p:spTree>
    <p:extLst>
      <p:ext uri="{BB962C8B-B14F-4D97-AF65-F5344CB8AC3E}">
        <p14:creationId xmlns:p14="http://schemas.microsoft.com/office/powerpoint/2010/main" val="21662013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185DB-E2D6-D625-7A0F-84ACB7313354}"/>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(13 of 21)</a:t>
            </a:r>
            <a:endParaRPr lang="en-US" noProof="0" dirty="0"/>
          </a:p>
        </p:txBody>
      </p:sp>
      <p:sp>
        <p:nvSpPr>
          <p:cNvPr id="3" name="Content Placeholder 2">
            <a:extLst>
              <a:ext uri="{FF2B5EF4-FFF2-40B4-BE49-F238E27FC236}">
                <a16:creationId xmlns:a16="http://schemas.microsoft.com/office/drawing/2014/main" id="{2362E03B-EF22-22EB-D51C-64CED43BA157}"/>
              </a:ext>
            </a:extLst>
          </p:cNvPr>
          <p:cNvSpPr>
            <a:spLocks noGrp="1"/>
          </p:cNvSpPr>
          <p:nvPr>
            <p:ph sz="quarter" idx="12"/>
          </p:nvPr>
        </p:nvSpPr>
        <p:spPr>
          <a:xfrm>
            <a:off x="216945" y="538645"/>
            <a:ext cx="4154646" cy="429209"/>
          </a:xfrm>
        </p:spPr>
        <p:txBody>
          <a:bodyPr wrap="square" lIns="0" tIns="9075" rIns="0" bIns="9075" anchor="ctr" anchorCtr="0">
            <a:spAutoFit/>
          </a:bodyPr>
          <a:lstStyle/>
          <a:p>
            <a:pPr>
              <a:spcBef>
                <a:spcPts val="303"/>
              </a:spcBef>
            </a:pPr>
            <a:r>
              <a:rPr lang="en-US" altLang="en-US" sz="1210" dirty="0"/>
              <a:t>Section 1.6 (continued)</a:t>
            </a:r>
          </a:p>
          <a:p>
            <a:pPr marL="172890" indent="-172890">
              <a:spcBef>
                <a:spcPts val="303"/>
              </a:spcBef>
            </a:pPr>
            <a:r>
              <a:rPr lang="en-US" altLang="en-US" sz="1210" dirty="0"/>
              <a:t>Examples of interpreting the algebraic sign of power:</a:t>
            </a:r>
            <a:endParaRPr lang="en-US" sz="1210" dirty="0"/>
          </a:p>
        </p:txBody>
      </p:sp>
      <p:pic>
        <p:nvPicPr>
          <p:cNvPr id="22" name="Picture 21" descr="A circuit diagram shows power source with two terminals 1 and 2 of voltage supply v placed across it and a current i is entering through terminal 1.">
            <a:extLst>
              <a:ext uri="{FF2B5EF4-FFF2-40B4-BE49-F238E27FC236}">
                <a16:creationId xmlns:a16="http://schemas.microsoft.com/office/drawing/2014/main" id="{6722E241-9837-F29D-654C-F51B76913EFA}"/>
              </a:ext>
            </a:extLst>
          </p:cNvPr>
          <p:cNvPicPr>
            <a:picLocks noChangeAspect="1"/>
          </p:cNvPicPr>
          <p:nvPr/>
        </p:nvPicPr>
        <p:blipFill>
          <a:blip r:embed="rId2"/>
          <a:stretch>
            <a:fillRect/>
          </a:stretch>
        </p:blipFill>
        <p:spPr>
          <a:xfrm>
            <a:off x="271004" y="1177870"/>
            <a:ext cx="1076766" cy="289053"/>
          </a:xfrm>
          <a:prstGeom prst="rect">
            <a:avLst/>
          </a:prstGeom>
        </p:spPr>
      </p:pic>
      <p:sp>
        <p:nvSpPr>
          <p:cNvPr id="4" name="Content Placeholder 3">
            <a:extLst>
              <a:ext uri="{FF2B5EF4-FFF2-40B4-BE49-F238E27FC236}">
                <a16:creationId xmlns:a16="http://schemas.microsoft.com/office/drawing/2014/main" id="{336AF6E4-9061-ADA8-A759-57646C993317}"/>
              </a:ext>
            </a:extLst>
          </p:cNvPr>
          <p:cNvSpPr>
            <a:spLocks noGrp="1"/>
          </p:cNvSpPr>
          <p:nvPr>
            <p:ph sz="quarter" idx="13"/>
          </p:nvPr>
        </p:nvSpPr>
        <p:spPr>
          <a:xfrm>
            <a:off x="1414799" y="1183743"/>
            <a:ext cx="2803180" cy="204532"/>
          </a:xfrm>
        </p:spPr>
        <p:txBody>
          <a:bodyPr wrap="square" lIns="0" tIns="9075" rIns="0" bIns="9075" anchor="ctr" anchorCtr="0">
            <a:spAutoFit/>
          </a:bodyPr>
          <a:lstStyle/>
          <a:p>
            <a:r>
              <a:rPr lang="en-US" sz="1210" dirty="0"/>
              <a:t>Is power supplied or absorbed? </a:t>
            </a:r>
            <a:r>
              <a:rPr lang="en-US" sz="1210" dirty="0">
                <a:solidFill>
                  <a:schemeClr val="tx2"/>
                </a:solidFill>
              </a:rPr>
              <a:t>Supplied</a:t>
            </a:r>
          </a:p>
        </p:txBody>
      </p:sp>
      <p:pic>
        <p:nvPicPr>
          <p:cNvPr id="24" name="Picture 23" descr="A circuit diagram shows power source with two terminals 1 and 2 of voltage supply v placed across it and a current i is leaving through terminal 1.">
            <a:extLst>
              <a:ext uri="{FF2B5EF4-FFF2-40B4-BE49-F238E27FC236}">
                <a16:creationId xmlns:a16="http://schemas.microsoft.com/office/drawing/2014/main" id="{7EDC5BE7-E8E4-F0F0-C8A0-0B3E1220EF53}"/>
              </a:ext>
            </a:extLst>
          </p:cNvPr>
          <p:cNvPicPr>
            <a:picLocks noChangeAspect="1"/>
          </p:cNvPicPr>
          <p:nvPr/>
        </p:nvPicPr>
        <p:blipFill>
          <a:blip r:embed="rId3"/>
          <a:stretch>
            <a:fillRect/>
          </a:stretch>
        </p:blipFill>
        <p:spPr>
          <a:xfrm>
            <a:off x="246419" y="1738673"/>
            <a:ext cx="1110573" cy="289053"/>
          </a:xfrm>
          <a:prstGeom prst="rect">
            <a:avLst/>
          </a:prstGeom>
        </p:spPr>
      </p:pic>
      <p:sp>
        <p:nvSpPr>
          <p:cNvPr id="5" name="Content Placeholder 4">
            <a:extLst>
              <a:ext uri="{FF2B5EF4-FFF2-40B4-BE49-F238E27FC236}">
                <a16:creationId xmlns:a16="http://schemas.microsoft.com/office/drawing/2014/main" id="{33815CB5-A8F3-6744-9821-C8E9973EC84E}"/>
              </a:ext>
            </a:extLst>
          </p:cNvPr>
          <p:cNvSpPr>
            <a:spLocks noGrp="1"/>
          </p:cNvSpPr>
          <p:nvPr>
            <p:ph sz="quarter" idx="14"/>
          </p:nvPr>
        </p:nvSpPr>
        <p:spPr>
          <a:xfrm>
            <a:off x="1414799" y="1641148"/>
            <a:ext cx="2791450" cy="390737"/>
          </a:xfrm>
        </p:spPr>
        <p:txBody>
          <a:bodyPr wrap="square" lIns="0" tIns="9075" rIns="0" bIns="9075" anchor="ctr" anchorCtr="0">
            <a:spAutoFit/>
          </a:bodyPr>
          <a:lstStyle/>
          <a:p>
            <a:r>
              <a:rPr lang="en-US" sz="1210" dirty="0"/>
              <a:t>Is power supplied or absorbed? </a:t>
            </a:r>
            <a:r>
              <a:rPr lang="en-US" sz="1210" dirty="0">
                <a:solidFill>
                  <a:schemeClr val="tx2"/>
                </a:solidFill>
              </a:rPr>
              <a:t>Supplied</a:t>
            </a:r>
          </a:p>
        </p:txBody>
      </p:sp>
      <p:pic>
        <p:nvPicPr>
          <p:cNvPr id="26" name="Picture 25" descr="A circuit diagram shows power source with two terminals 1 and 2 of voltage supply v placed across it and a current i is entering through terminal 2.">
            <a:extLst>
              <a:ext uri="{FF2B5EF4-FFF2-40B4-BE49-F238E27FC236}">
                <a16:creationId xmlns:a16="http://schemas.microsoft.com/office/drawing/2014/main" id="{C0D675D8-B76D-10C5-CCC2-FDFB1982CDEF}"/>
              </a:ext>
            </a:extLst>
          </p:cNvPr>
          <p:cNvPicPr>
            <a:picLocks noChangeAspect="1"/>
          </p:cNvPicPr>
          <p:nvPr/>
        </p:nvPicPr>
        <p:blipFill>
          <a:blip r:embed="rId4"/>
          <a:stretch>
            <a:fillRect/>
          </a:stretch>
        </p:blipFill>
        <p:spPr>
          <a:xfrm>
            <a:off x="269700" y="2301167"/>
            <a:ext cx="1110573" cy="282292"/>
          </a:xfrm>
          <a:prstGeom prst="rect">
            <a:avLst/>
          </a:prstGeom>
        </p:spPr>
      </p:pic>
      <p:sp>
        <p:nvSpPr>
          <p:cNvPr id="6" name="Content Placeholder 5">
            <a:extLst>
              <a:ext uri="{FF2B5EF4-FFF2-40B4-BE49-F238E27FC236}">
                <a16:creationId xmlns:a16="http://schemas.microsoft.com/office/drawing/2014/main" id="{38A8A909-4072-4FAE-45DD-75A42E9B0C42}"/>
              </a:ext>
            </a:extLst>
          </p:cNvPr>
          <p:cNvSpPr>
            <a:spLocks noGrp="1"/>
          </p:cNvSpPr>
          <p:nvPr>
            <p:ph sz="quarter" idx="15"/>
          </p:nvPr>
        </p:nvSpPr>
        <p:spPr>
          <a:xfrm>
            <a:off x="1414799" y="2307357"/>
            <a:ext cx="2852073" cy="204532"/>
          </a:xfrm>
        </p:spPr>
        <p:txBody>
          <a:bodyPr wrap="square" lIns="0" tIns="9075" rIns="0" bIns="9075" anchor="ctr" anchorCtr="0">
            <a:spAutoFit/>
          </a:bodyPr>
          <a:lstStyle/>
          <a:p>
            <a:r>
              <a:rPr lang="en-US" sz="1210" dirty="0"/>
              <a:t>Is power supplied or absorbed? </a:t>
            </a:r>
            <a:r>
              <a:rPr lang="en-US" sz="1210" dirty="0">
                <a:solidFill>
                  <a:schemeClr val="tx2"/>
                </a:solidFill>
              </a:rPr>
              <a:t>Absorbed</a:t>
            </a:r>
          </a:p>
        </p:txBody>
      </p:sp>
    </p:spTree>
    <p:extLst>
      <p:ext uri="{BB962C8B-B14F-4D97-AF65-F5344CB8AC3E}">
        <p14:creationId xmlns:p14="http://schemas.microsoft.com/office/powerpoint/2010/main" val="30308602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798E3-6FE2-EE07-3212-F88CC8AE233F}"/>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(14 of 21)</a:t>
            </a:r>
            <a:endParaRPr lang="en-US" noProof="0" dirty="0"/>
          </a:p>
        </p:txBody>
      </p:sp>
      <p:sp>
        <p:nvSpPr>
          <p:cNvPr id="3" name="Content Placeholder 2">
            <a:extLst>
              <a:ext uri="{FF2B5EF4-FFF2-40B4-BE49-F238E27FC236}">
                <a16:creationId xmlns:a16="http://schemas.microsoft.com/office/drawing/2014/main" id="{DB829B6C-4C67-C835-7679-C14733A0CE5E}"/>
              </a:ext>
            </a:extLst>
          </p:cNvPr>
          <p:cNvSpPr>
            <a:spLocks noGrp="1"/>
          </p:cNvSpPr>
          <p:nvPr>
            <p:ph sz="quarter" idx="12"/>
          </p:nvPr>
        </p:nvSpPr>
        <p:spPr>
          <a:xfrm>
            <a:off x="216945" y="538645"/>
            <a:ext cx="4154646" cy="429209"/>
          </a:xfrm>
        </p:spPr>
        <p:txBody>
          <a:bodyPr wrap="square" lIns="0" tIns="9075" rIns="0" bIns="9075" anchor="ctr" anchorCtr="0">
            <a:spAutoFit/>
          </a:bodyPr>
          <a:lstStyle/>
          <a:p>
            <a:pPr>
              <a:spcBef>
                <a:spcPts val="303"/>
              </a:spcBef>
            </a:pPr>
            <a:r>
              <a:rPr lang="en-US" altLang="en-US" sz="1210" dirty="0"/>
              <a:t>Chapter 1 examples: </a:t>
            </a:r>
          </a:p>
          <a:p>
            <a:pPr>
              <a:spcBef>
                <a:spcPts val="303"/>
              </a:spcBef>
            </a:pPr>
            <a:r>
              <a:rPr lang="en-US" altLang="en-US" sz="1210" dirty="0"/>
              <a:t>Find the total charge entering terminal 1.</a:t>
            </a:r>
            <a:endParaRPr lang="en-US" sz="1210" dirty="0"/>
          </a:p>
        </p:txBody>
      </p:sp>
      <p:pic>
        <p:nvPicPr>
          <p:cNvPr id="24" name="Picture 23" descr="A circuit diagram shows power source with two terminals 1 and 2 of voltage supply v placed across it and a current i is entering through terminal 1.">
            <a:extLst>
              <a:ext uri="{FF2B5EF4-FFF2-40B4-BE49-F238E27FC236}">
                <a16:creationId xmlns:a16="http://schemas.microsoft.com/office/drawing/2014/main" id="{82C22B2B-A1CC-5DFD-3450-E81AFB40A468}"/>
              </a:ext>
            </a:extLst>
          </p:cNvPr>
          <p:cNvPicPr>
            <a:picLocks noChangeAspect="1"/>
          </p:cNvPicPr>
          <p:nvPr/>
        </p:nvPicPr>
        <p:blipFill>
          <a:blip r:embed="rId3"/>
          <a:stretch>
            <a:fillRect/>
          </a:stretch>
        </p:blipFill>
        <p:spPr>
          <a:xfrm>
            <a:off x="711103" y="1104442"/>
            <a:ext cx="1184442" cy="317959"/>
          </a:xfrm>
          <a:prstGeom prst="rect">
            <a:avLst/>
          </a:prstGeom>
        </p:spPr>
      </p:pic>
      <p:graphicFrame>
        <p:nvGraphicFramePr>
          <p:cNvPr id="33" name="Object 32" descr="i equals 0,&#10;">
            <a:extLst>
              <a:ext uri="{FF2B5EF4-FFF2-40B4-BE49-F238E27FC236}">
                <a16:creationId xmlns:a16="http://schemas.microsoft.com/office/drawing/2014/main" id="{560D4728-FDE2-6DD1-A5B8-A23F5FB62656}"/>
              </a:ext>
            </a:extLst>
          </p:cNvPr>
          <p:cNvGraphicFramePr>
            <a:graphicFrameLocks noChangeAspect="1"/>
          </p:cNvGraphicFramePr>
          <p:nvPr/>
        </p:nvGraphicFramePr>
        <p:xfrm>
          <a:off x="2145166" y="1038718"/>
          <a:ext cx="360965" cy="191287"/>
        </p:xfrm>
        <a:graphic>
          <a:graphicData uri="http://schemas.openxmlformats.org/presentationml/2006/ole">
            <mc:AlternateContent xmlns:mc="http://schemas.openxmlformats.org/markup-compatibility/2006">
              <mc:Choice xmlns:v="urn:schemas-microsoft-com:vml" Requires="v">
                <p:oleObj name="Equation" r:id="rId4" imgW="380880" imgH="203040" progId="Equation.DSMT4">
                  <p:embed/>
                </p:oleObj>
              </mc:Choice>
              <mc:Fallback>
                <p:oleObj name="Equation" r:id="rId4" imgW="380880" imgH="203040" progId="Equation.DSMT4">
                  <p:embed/>
                  <p:pic>
                    <p:nvPicPr>
                      <p:cNvPr id="33" name="Object 32" descr="i equals 0,&#10;">
                        <a:extLst>
                          <a:ext uri="{FF2B5EF4-FFF2-40B4-BE49-F238E27FC236}">
                            <a16:creationId xmlns:a16="http://schemas.microsoft.com/office/drawing/2014/main" id="{560D4728-FDE2-6DD1-A5B8-A23F5FB62656}"/>
                          </a:ext>
                        </a:extLst>
                      </p:cNvPr>
                      <p:cNvPicPr>
                        <a:picLocks noChangeAspect="1" noChangeArrowheads="1"/>
                      </p:cNvPicPr>
                      <p:nvPr/>
                    </p:nvPicPr>
                    <p:blipFill>
                      <a:blip r:embed="rId5"/>
                      <a:srcRect/>
                      <a:stretch>
                        <a:fillRect/>
                      </a:stretch>
                    </p:blipFill>
                    <p:spPr bwMode="auto">
                      <a:xfrm>
                        <a:off x="2145166" y="1038718"/>
                        <a:ext cx="360965" cy="19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31" descr="t is less than 0.&#10;">
            <a:extLst>
              <a:ext uri="{FF2B5EF4-FFF2-40B4-BE49-F238E27FC236}">
                <a16:creationId xmlns:a16="http://schemas.microsoft.com/office/drawing/2014/main" id="{4B415926-0634-DE68-7EC5-D41DE5DE4B91}"/>
              </a:ext>
            </a:extLst>
          </p:cNvPr>
          <p:cNvGraphicFramePr>
            <a:graphicFrameLocks noChangeAspect="1"/>
          </p:cNvGraphicFramePr>
          <p:nvPr/>
        </p:nvGraphicFramePr>
        <p:xfrm>
          <a:off x="2763566" y="1039005"/>
          <a:ext cx="336953" cy="191287"/>
        </p:xfrm>
        <a:graphic>
          <a:graphicData uri="http://schemas.openxmlformats.org/presentationml/2006/ole">
            <mc:AlternateContent xmlns:mc="http://schemas.openxmlformats.org/markup-compatibility/2006">
              <mc:Choice xmlns:v="urn:schemas-microsoft-com:vml" Requires="v">
                <p:oleObj name="Equation" r:id="rId6" imgW="355320" imgH="203040" progId="Equation.DSMT4">
                  <p:embed/>
                </p:oleObj>
              </mc:Choice>
              <mc:Fallback>
                <p:oleObj name="Equation" r:id="rId6" imgW="355320" imgH="203040" progId="Equation.DSMT4">
                  <p:embed/>
                  <p:pic>
                    <p:nvPicPr>
                      <p:cNvPr id="32" name="Object 31" descr="t is less than 0.&#10;">
                        <a:extLst>
                          <a:ext uri="{FF2B5EF4-FFF2-40B4-BE49-F238E27FC236}">
                            <a16:creationId xmlns:a16="http://schemas.microsoft.com/office/drawing/2014/main" id="{4B415926-0634-DE68-7EC5-D41DE5DE4B91}"/>
                          </a:ext>
                        </a:extLst>
                      </p:cNvPr>
                      <p:cNvPicPr>
                        <a:picLocks noChangeAspect="1" noChangeArrowheads="1"/>
                      </p:cNvPicPr>
                      <p:nvPr/>
                    </p:nvPicPr>
                    <p:blipFill>
                      <a:blip r:embed="rId7"/>
                      <a:srcRect/>
                      <a:stretch>
                        <a:fillRect/>
                      </a:stretch>
                    </p:blipFill>
                    <p:spPr bwMode="auto">
                      <a:xfrm>
                        <a:off x="2763566" y="1039005"/>
                        <a:ext cx="336953" cy="19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34" descr="i equals 20 times e to the negative 5000 t power Ampere,&#10;">
            <a:extLst>
              <a:ext uri="{FF2B5EF4-FFF2-40B4-BE49-F238E27FC236}">
                <a16:creationId xmlns:a16="http://schemas.microsoft.com/office/drawing/2014/main" id="{D8A1CF82-85EA-8CBC-EF35-2A6B439B65FC}"/>
              </a:ext>
            </a:extLst>
          </p:cNvPr>
          <p:cNvGraphicFramePr>
            <a:graphicFrameLocks noChangeAspect="1"/>
          </p:cNvGraphicFramePr>
          <p:nvPr/>
        </p:nvGraphicFramePr>
        <p:xfrm>
          <a:off x="2131608" y="1294333"/>
          <a:ext cx="962838" cy="215298"/>
        </p:xfrm>
        <a:graphic>
          <a:graphicData uri="http://schemas.openxmlformats.org/presentationml/2006/ole">
            <mc:AlternateContent xmlns:mc="http://schemas.openxmlformats.org/markup-compatibility/2006">
              <mc:Choice xmlns:v="urn:schemas-microsoft-com:vml" Requires="v">
                <p:oleObj name="Equation" r:id="rId8" imgW="1015920" imgH="228600" progId="Equation.DSMT4">
                  <p:embed/>
                </p:oleObj>
              </mc:Choice>
              <mc:Fallback>
                <p:oleObj name="Equation" r:id="rId8" imgW="1015920" imgH="228600" progId="Equation.DSMT4">
                  <p:embed/>
                  <p:pic>
                    <p:nvPicPr>
                      <p:cNvPr id="35" name="Object 34" descr="i equals 20 times e to the negative 5000 t power Ampere,&#10;">
                        <a:extLst>
                          <a:ext uri="{FF2B5EF4-FFF2-40B4-BE49-F238E27FC236}">
                            <a16:creationId xmlns:a16="http://schemas.microsoft.com/office/drawing/2014/main" id="{D8A1CF82-85EA-8CBC-EF35-2A6B439B65FC}"/>
                          </a:ext>
                        </a:extLst>
                      </p:cNvPr>
                      <p:cNvPicPr>
                        <a:picLocks noChangeAspect="1" noChangeArrowheads="1"/>
                      </p:cNvPicPr>
                      <p:nvPr/>
                    </p:nvPicPr>
                    <p:blipFill>
                      <a:blip r:embed="rId9"/>
                      <a:srcRect/>
                      <a:stretch>
                        <a:fillRect/>
                      </a:stretch>
                    </p:blipFill>
                    <p:spPr bwMode="auto">
                      <a:xfrm>
                        <a:off x="2131608" y="1294333"/>
                        <a:ext cx="962838" cy="2152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33" descr="t is greater than or equal to 0.&#10;">
            <a:extLst>
              <a:ext uri="{FF2B5EF4-FFF2-40B4-BE49-F238E27FC236}">
                <a16:creationId xmlns:a16="http://schemas.microsoft.com/office/drawing/2014/main" id="{0F2ACF4D-725E-CFED-1CFF-5DFC562C8E08}"/>
              </a:ext>
            </a:extLst>
          </p:cNvPr>
          <p:cNvGraphicFramePr>
            <a:graphicFrameLocks noChangeAspect="1"/>
          </p:cNvGraphicFramePr>
          <p:nvPr/>
        </p:nvGraphicFramePr>
        <p:xfrm>
          <a:off x="3350326" y="1321511"/>
          <a:ext cx="336954" cy="191287"/>
        </p:xfrm>
        <a:graphic>
          <a:graphicData uri="http://schemas.openxmlformats.org/presentationml/2006/ole">
            <mc:AlternateContent xmlns:mc="http://schemas.openxmlformats.org/markup-compatibility/2006">
              <mc:Choice xmlns:v="urn:schemas-microsoft-com:vml" Requires="v">
                <p:oleObj name="Equation" r:id="rId10" imgW="355320" imgH="203040" progId="Equation.DSMT4">
                  <p:embed/>
                </p:oleObj>
              </mc:Choice>
              <mc:Fallback>
                <p:oleObj name="Equation" r:id="rId10" imgW="355320" imgH="203040" progId="Equation.DSMT4">
                  <p:embed/>
                  <p:pic>
                    <p:nvPicPr>
                      <p:cNvPr id="34" name="Object 33" descr="t is greater than or equal to 0.&#10;">
                        <a:extLst>
                          <a:ext uri="{FF2B5EF4-FFF2-40B4-BE49-F238E27FC236}">
                            <a16:creationId xmlns:a16="http://schemas.microsoft.com/office/drawing/2014/main" id="{0F2ACF4D-725E-CFED-1CFF-5DFC562C8E08}"/>
                          </a:ext>
                        </a:extLst>
                      </p:cNvPr>
                      <p:cNvPicPr>
                        <a:picLocks noChangeAspect="1" noChangeArrowheads="1"/>
                      </p:cNvPicPr>
                      <p:nvPr/>
                    </p:nvPicPr>
                    <p:blipFill>
                      <a:blip r:embed="rId11"/>
                      <a:srcRect/>
                      <a:stretch>
                        <a:fillRect/>
                      </a:stretch>
                    </p:blipFill>
                    <p:spPr bwMode="auto">
                      <a:xfrm>
                        <a:off x="3350326" y="1321511"/>
                        <a:ext cx="336954" cy="19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7" descr="i equals StartFraction d q over d t EndFraction, forward arrow, q subscript total BaseLine equals Integral from 0 to infinity of i d t plus q OpenParenthesis 0 CloseParenthesis.&#10;">
            <a:extLst>
              <a:ext uri="{FF2B5EF4-FFF2-40B4-BE49-F238E27FC236}">
                <a16:creationId xmlns:a16="http://schemas.microsoft.com/office/drawing/2014/main" id="{C13DAF19-22DF-5C83-43E8-A8C65BABB1DB}"/>
              </a:ext>
            </a:extLst>
          </p:cNvPr>
          <p:cNvGraphicFramePr>
            <a:graphicFrameLocks noChangeAspect="1"/>
          </p:cNvGraphicFramePr>
          <p:nvPr/>
        </p:nvGraphicFramePr>
        <p:xfrm>
          <a:off x="1345212" y="1622139"/>
          <a:ext cx="2370188" cy="367692"/>
        </p:xfrm>
        <a:graphic>
          <a:graphicData uri="http://schemas.openxmlformats.org/presentationml/2006/ole">
            <mc:AlternateContent xmlns:mc="http://schemas.openxmlformats.org/markup-compatibility/2006">
              <mc:Choice xmlns:v="urn:schemas-microsoft-com:vml" Requires="v">
                <p:oleObj name="Equation" r:id="rId12" imgW="2527200" imgH="393480" progId="Equation.DSMT4">
                  <p:embed/>
                </p:oleObj>
              </mc:Choice>
              <mc:Fallback>
                <p:oleObj name="Equation" r:id="rId12" imgW="2527200" imgH="393480" progId="Equation.DSMT4">
                  <p:embed/>
                  <p:pic>
                    <p:nvPicPr>
                      <p:cNvPr id="28" name="Object 27" descr="i equals StartFraction d q over d t EndFraction, forward arrow, q subscript total BaseLine equals Integral from 0 to infinity of i d t plus q OpenParenthesis 0 CloseParenthesis.&#10;">
                        <a:extLst>
                          <a:ext uri="{FF2B5EF4-FFF2-40B4-BE49-F238E27FC236}">
                            <a16:creationId xmlns:a16="http://schemas.microsoft.com/office/drawing/2014/main" id="{C13DAF19-22DF-5C83-43E8-A8C65BABB1DB}"/>
                          </a:ext>
                        </a:extLst>
                      </p:cNvPr>
                      <p:cNvPicPr>
                        <a:picLocks noChangeAspect="1" noChangeArrowheads="1"/>
                      </p:cNvPicPr>
                      <p:nvPr/>
                    </p:nvPicPr>
                    <p:blipFill>
                      <a:blip r:embed="rId13"/>
                      <a:srcRect/>
                      <a:stretch>
                        <a:fillRect/>
                      </a:stretch>
                    </p:blipFill>
                    <p:spPr bwMode="auto">
                      <a:xfrm>
                        <a:off x="1345212" y="1622139"/>
                        <a:ext cx="2370188" cy="3676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8" descr="The figure illustrates an expression for q subscript total.&#10;Long description is available in notes, press F6.">
            <a:extLst>
              <a:ext uri="{FF2B5EF4-FFF2-40B4-BE49-F238E27FC236}">
                <a16:creationId xmlns:a16="http://schemas.microsoft.com/office/drawing/2014/main" id="{4D83D824-D9FE-2E2B-F1CE-611C7689795D}"/>
              </a:ext>
            </a:extLst>
          </p:cNvPr>
          <p:cNvGraphicFramePr>
            <a:graphicFrameLocks noChangeAspect="1"/>
          </p:cNvGraphicFramePr>
          <p:nvPr/>
        </p:nvGraphicFramePr>
        <p:xfrm>
          <a:off x="1345211" y="2014956"/>
          <a:ext cx="2535017" cy="445352"/>
        </p:xfrm>
        <a:graphic>
          <a:graphicData uri="http://schemas.openxmlformats.org/presentationml/2006/ole">
            <mc:AlternateContent xmlns:mc="http://schemas.openxmlformats.org/markup-compatibility/2006">
              <mc:Choice xmlns:v="urn:schemas-microsoft-com:vml" Requires="v">
                <p:oleObj name="Equation" r:id="rId14" imgW="2730240" imgH="482400" progId="Equation.DSMT4">
                  <p:embed/>
                </p:oleObj>
              </mc:Choice>
              <mc:Fallback>
                <p:oleObj name="Equation" r:id="rId14" imgW="2730240" imgH="482400" progId="Equation.DSMT4">
                  <p:embed/>
                  <p:pic>
                    <p:nvPicPr>
                      <p:cNvPr id="29" name="Object 28" descr="The figure illustrates an expression for q subscript total.&#10;Long description is available in notes, press F6.">
                        <a:extLst>
                          <a:ext uri="{FF2B5EF4-FFF2-40B4-BE49-F238E27FC236}">
                            <a16:creationId xmlns:a16="http://schemas.microsoft.com/office/drawing/2014/main" id="{4D83D824-D9FE-2E2B-F1CE-611C7689795D}"/>
                          </a:ext>
                        </a:extLst>
                      </p:cNvPr>
                      <p:cNvPicPr>
                        <a:picLocks noChangeAspect="1" noChangeArrowheads="1"/>
                      </p:cNvPicPr>
                      <p:nvPr/>
                    </p:nvPicPr>
                    <p:blipFill>
                      <a:blip r:embed="rId15"/>
                      <a:srcRect/>
                      <a:stretch>
                        <a:fillRect/>
                      </a:stretch>
                    </p:blipFill>
                    <p:spPr bwMode="auto">
                      <a:xfrm>
                        <a:off x="1345211" y="2014956"/>
                        <a:ext cx="2535017" cy="4453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29" descr="Equals Start Fraction 20 over negative 5000 End Fraction Open Parenthesis 0 Close Parenthesis minus Start Fraction 20 over negative 5000 End Fraction Open Parenthesis 1 Close Parenthesis.&#10;">
            <a:extLst>
              <a:ext uri="{FF2B5EF4-FFF2-40B4-BE49-F238E27FC236}">
                <a16:creationId xmlns:a16="http://schemas.microsoft.com/office/drawing/2014/main" id="{757C9264-68E6-7A28-F53A-6A7E3DBF9219}"/>
              </a:ext>
            </a:extLst>
          </p:cNvPr>
          <p:cNvGraphicFramePr>
            <a:graphicFrameLocks noChangeAspect="1"/>
          </p:cNvGraphicFramePr>
          <p:nvPr/>
        </p:nvGraphicFramePr>
        <p:xfrm>
          <a:off x="1632743" y="2487427"/>
          <a:ext cx="1523894" cy="366567"/>
        </p:xfrm>
        <a:graphic>
          <a:graphicData uri="http://schemas.openxmlformats.org/presentationml/2006/ole">
            <mc:AlternateContent xmlns:mc="http://schemas.openxmlformats.org/markup-compatibility/2006">
              <mc:Choice xmlns:v="urn:schemas-microsoft-com:vml" Requires="v">
                <p:oleObj name="Equation" r:id="rId16" imgW="1625400" imgH="393480" progId="Equation.DSMT4">
                  <p:embed/>
                </p:oleObj>
              </mc:Choice>
              <mc:Fallback>
                <p:oleObj name="Equation" r:id="rId16" imgW="1625400" imgH="393480" progId="Equation.DSMT4">
                  <p:embed/>
                  <p:pic>
                    <p:nvPicPr>
                      <p:cNvPr id="30" name="Object 29" descr="Equals Start Fraction 20 over negative 5000 End Fraction Open Parenthesis 0 Close Parenthesis minus Start Fraction 20 over negative 5000 End Fraction Open Parenthesis 1 Close Parenthesis.&#10;">
                        <a:extLst>
                          <a:ext uri="{FF2B5EF4-FFF2-40B4-BE49-F238E27FC236}">
                            <a16:creationId xmlns:a16="http://schemas.microsoft.com/office/drawing/2014/main" id="{757C9264-68E6-7A28-F53A-6A7E3DBF9219}"/>
                          </a:ext>
                        </a:extLst>
                      </p:cNvPr>
                      <p:cNvPicPr>
                        <a:picLocks noChangeAspect="1" noChangeArrowheads="1"/>
                      </p:cNvPicPr>
                      <p:nvPr/>
                    </p:nvPicPr>
                    <p:blipFill>
                      <a:blip r:embed="rId17"/>
                      <a:srcRect/>
                      <a:stretch>
                        <a:fillRect/>
                      </a:stretch>
                    </p:blipFill>
                    <p:spPr bwMode="auto">
                      <a:xfrm>
                        <a:off x="1632743" y="2487427"/>
                        <a:ext cx="1523894" cy="3665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30" descr="Equals 0.004 C equals 4 mC equals 4000 Mu C.&#10;">
            <a:extLst>
              <a:ext uri="{FF2B5EF4-FFF2-40B4-BE49-F238E27FC236}">
                <a16:creationId xmlns:a16="http://schemas.microsoft.com/office/drawing/2014/main" id="{A7A844F7-88E0-D0BC-BECA-DE3901E732FB}"/>
              </a:ext>
            </a:extLst>
          </p:cNvPr>
          <p:cNvGraphicFramePr>
            <a:graphicFrameLocks noChangeAspect="1"/>
          </p:cNvGraphicFramePr>
          <p:nvPr/>
        </p:nvGraphicFramePr>
        <p:xfrm>
          <a:off x="1616736" y="2915715"/>
          <a:ext cx="1808824" cy="186485"/>
        </p:xfrm>
        <a:graphic>
          <a:graphicData uri="http://schemas.openxmlformats.org/presentationml/2006/ole">
            <mc:AlternateContent xmlns:mc="http://schemas.openxmlformats.org/markup-compatibility/2006">
              <mc:Choice xmlns:v="urn:schemas-microsoft-com:vml" Requires="v">
                <p:oleObj name="Equation" r:id="rId18" imgW="1968480" imgH="203040" progId="Equation.DSMT4">
                  <p:embed/>
                </p:oleObj>
              </mc:Choice>
              <mc:Fallback>
                <p:oleObj name="Equation" r:id="rId18" imgW="1968480" imgH="203040" progId="Equation.DSMT4">
                  <p:embed/>
                  <p:pic>
                    <p:nvPicPr>
                      <p:cNvPr id="31" name="Object 30" descr="Equals 0.004 C equals 4 mC equals 4000 Mu C.&#10;">
                        <a:extLst>
                          <a:ext uri="{FF2B5EF4-FFF2-40B4-BE49-F238E27FC236}">
                            <a16:creationId xmlns:a16="http://schemas.microsoft.com/office/drawing/2014/main" id="{A7A844F7-88E0-D0BC-BECA-DE3901E732FB}"/>
                          </a:ext>
                        </a:extLst>
                      </p:cNvPr>
                      <p:cNvPicPr>
                        <a:picLocks noChangeAspect="1" noChangeArrowheads="1"/>
                      </p:cNvPicPr>
                      <p:nvPr/>
                    </p:nvPicPr>
                    <p:blipFill>
                      <a:blip r:embed="rId19"/>
                      <a:srcRect/>
                      <a:stretch>
                        <a:fillRect/>
                      </a:stretch>
                    </p:blipFill>
                    <p:spPr bwMode="auto">
                      <a:xfrm>
                        <a:off x="1616736" y="2915715"/>
                        <a:ext cx="1808824" cy="186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394853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C8D85-73CE-7005-8F0B-7AEB9439B3E1}"/>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(16 of 21)</a:t>
            </a:r>
            <a:endParaRPr lang="en-US" noProof="0" dirty="0"/>
          </a:p>
        </p:txBody>
      </p:sp>
      <p:sp>
        <p:nvSpPr>
          <p:cNvPr id="3" name="Content Placeholder 2">
            <a:extLst>
              <a:ext uri="{FF2B5EF4-FFF2-40B4-BE49-F238E27FC236}">
                <a16:creationId xmlns:a16="http://schemas.microsoft.com/office/drawing/2014/main" id="{36F6A586-DDD8-FB57-6DCC-FCA27ACAA018}"/>
              </a:ext>
            </a:extLst>
          </p:cNvPr>
          <p:cNvSpPr>
            <a:spLocks noGrp="1"/>
          </p:cNvSpPr>
          <p:nvPr>
            <p:ph sz="quarter" idx="12"/>
          </p:nvPr>
        </p:nvSpPr>
        <p:spPr>
          <a:xfrm>
            <a:off x="216945" y="550488"/>
            <a:ext cx="4154646" cy="615414"/>
          </a:xfrm>
        </p:spPr>
        <p:txBody>
          <a:bodyPr wrap="square" lIns="0" tIns="9075" rIns="0" bIns="9075" anchor="ctr" anchorCtr="0">
            <a:spAutoFit/>
          </a:bodyPr>
          <a:lstStyle/>
          <a:p>
            <a:pPr>
              <a:spcBef>
                <a:spcPts val="303"/>
              </a:spcBef>
            </a:pPr>
            <a:r>
              <a:rPr lang="en-US" sz="1210" dirty="0"/>
              <a:t>Chapter 1 examples: Assessment Problem 1.5 (modified)</a:t>
            </a:r>
          </a:p>
          <a:p>
            <a:pPr marL="172890" indent="-172890">
              <a:spcBef>
                <a:spcPts val="303"/>
              </a:spcBef>
            </a:pPr>
            <a:r>
              <a:rPr lang="en-US" sz="1210" dirty="0"/>
              <a:t>Find the power associated with the circuit elements below. State whether the power is generated or absorbed.</a:t>
            </a:r>
            <a:endParaRPr lang="en-US" noProof="0" dirty="0"/>
          </a:p>
        </p:txBody>
      </p:sp>
      <p:pic>
        <p:nvPicPr>
          <p:cNvPr id="22" name="Picture 21" descr="A circuit diagram shows a power source with two terminals 1 and 2 that has a voltage supply of 20 volt placed across it. A current of 4 ampere enters through terminal 2. ">
            <a:extLst>
              <a:ext uri="{FF2B5EF4-FFF2-40B4-BE49-F238E27FC236}">
                <a16:creationId xmlns:a16="http://schemas.microsoft.com/office/drawing/2014/main" id="{73E3ECA7-E17B-B78A-ABF6-75AAEF4265F2}"/>
              </a:ext>
            </a:extLst>
          </p:cNvPr>
          <p:cNvPicPr>
            <a:picLocks noChangeAspect="1"/>
          </p:cNvPicPr>
          <p:nvPr/>
        </p:nvPicPr>
        <p:blipFill>
          <a:blip r:embed="rId2"/>
          <a:stretch>
            <a:fillRect/>
          </a:stretch>
        </p:blipFill>
        <p:spPr>
          <a:xfrm>
            <a:off x="781742" y="1318606"/>
            <a:ext cx="888834" cy="844990"/>
          </a:xfrm>
          <a:prstGeom prst="rect">
            <a:avLst/>
          </a:prstGeom>
        </p:spPr>
      </p:pic>
      <p:graphicFrame>
        <p:nvGraphicFramePr>
          <p:cNvPr id="25" name="Object 24" descr="p equals negative v i equals negative (20) multiplied by (4) equals negative 80 Watts.&#10;">
            <a:extLst>
              <a:ext uri="{FF2B5EF4-FFF2-40B4-BE49-F238E27FC236}">
                <a16:creationId xmlns:a16="http://schemas.microsoft.com/office/drawing/2014/main" id="{1F2B6DD2-F02B-98F2-72F4-8AB1D3E9DB99}"/>
              </a:ext>
            </a:extLst>
          </p:cNvPr>
          <p:cNvGraphicFramePr>
            <a:graphicFrameLocks noChangeAspect="1"/>
          </p:cNvGraphicFramePr>
          <p:nvPr/>
        </p:nvGraphicFramePr>
        <p:xfrm>
          <a:off x="447983" y="2361455"/>
          <a:ext cx="1897102" cy="193355"/>
        </p:xfrm>
        <a:graphic>
          <a:graphicData uri="http://schemas.openxmlformats.org/presentationml/2006/ole">
            <mc:AlternateContent xmlns:mc="http://schemas.openxmlformats.org/markup-compatibility/2006">
              <mc:Choice xmlns:v="urn:schemas-microsoft-com:vml" Requires="v">
                <p:oleObj name="Equation" r:id="rId3" imgW="1981080" imgH="203040" progId="Equation.DSMT4">
                  <p:embed/>
                </p:oleObj>
              </mc:Choice>
              <mc:Fallback>
                <p:oleObj name="Equation" r:id="rId3" imgW="1981080" imgH="203040" progId="Equation.DSMT4">
                  <p:embed/>
                  <p:pic>
                    <p:nvPicPr>
                      <p:cNvPr id="25" name="Object 24" descr="p equals negative v i equals negative (20) multiplied by (4) equals negative 80 Watts.&#10;">
                        <a:extLst>
                          <a:ext uri="{FF2B5EF4-FFF2-40B4-BE49-F238E27FC236}">
                            <a16:creationId xmlns:a16="http://schemas.microsoft.com/office/drawing/2014/main" id="{1F2B6DD2-F02B-98F2-72F4-8AB1D3E9DB99}"/>
                          </a:ext>
                        </a:extLst>
                      </p:cNvPr>
                      <p:cNvPicPr>
                        <a:picLocks noChangeAspect="1" noChangeArrowheads="1"/>
                      </p:cNvPicPr>
                      <p:nvPr/>
                    </p:nvPicPr>
                    <p:blipFill>
                      <a:blip r:embed="rId4"/>
                      <a:srcRect/>
                      <a:stretch>
                        <a:fillRect/>
                      </a:stretch>
                    </p:blipFill>
                    <p:spPr bwMode="auto">
                      <a:xfrm>
                        <a:off x="447983" y="2361455"/>
                        <a:ext cx="1897102" cy="1933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25" descr="Forward arrow, 80 Watts generated.&#10;">
            <a:extLst>
              <a:ext uri="{FF2B5EF4-FFF2-40B4-BE49-F238E27FC236}">
                <a16:creationId xmlns:a16="http://schemas.microsoft.com/office/drawing/2014/main" id="{61C4E73D-701B-A365-CF1A-414A75540289}"/>
              </a:ext>
            </a:extLst>
          </p:cNvPr>
          <p:cNvGraphicFramePr>
            <a:graphicFrameLocks noChangeAspect="1"/>
          </p:cNvGraphicFramePr>
          <p:nvPr/>
        </p:nvGraphicFramePr>
        <p:xfrm>
          <a:off x="447983" y="2623929"/>
          <a:ext cx="1556352" cy="205242"/>
        </p:xfrm>
        <a:graphic>
          <a:graphicData uri="http://schemas.openxmlformats.org/presentationml/2006/ole">
            <mc:AlternateContent xmlns:mc="http://schemas.openxmlformats.org/markup-compatibility/2006">
              <mc:Choice xmlns:v="urn:schemas-microsoft-com:vml" Requires="v">
                <p:oleObj name="Equation" r:id="rId5" imgW="1625400" imgH="215640" progId="Equation.DSMT4">
                  <p:embed/>
                </p:oleObj>
              </mc:Choice>
              <mc:Fallback>
                <p:oleObj name="Equation" r:id="rId5" imgW="1625400" imgH="215640" progId="Equation.DSMT4">
                  <p:embed/>
                  <p:pic>
                    <p:nvPicPr>
                      <p:cNvPr id="26" name="Object 25" descr="Forward arrow, 80 Watts generated.&#10;">
                        <a:extLst>
                          <a:ext uri="{FF2B5EF4-FFF2-40B4-BE49-F238E27FC236}">
                            <a16:creationId xmlns:a16="http://schemas.microsoft.com/office/drawing/2014/main" id="{61C4E73D-701B-A365-CF1A-414A75540289}"/>
                          </a:ext>
                        </a:extLst>
                      </p:cNvPr>
                      <p:cNvPicPr>
                        <a:picLocks noChangeAspect="1" noChangeArrowheads="1"/>
                      </p:cNvPicPr>
                      <p:nvPr/>
                    </p:nvPicPr>
                    <p:blipFill>
                      <a:blip r:embed="rId6"/>
                      <a:srcRect/>
                      <a:stretch>
                        <a:fillRect/>
                      </a:stretch>
                    </p:blipFill>
                    <p:spPr bwMode="auto">
                      <a:xfrm>
                        <a:off x="447983" y="2623929"/>
                        <a:ext cx="1556352" cy="205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4" name="Picture 23" descr="A circuit diagram shows a power source with two terminals 1 and 2 that has a voltage supply of 20 volt placed across it. A current of 4 ampere leaves through terminal 2. ">
            <a:extLst>
              <a:ext uri="{FF2B5EF4-FFF2-40B4-BE49-F238E27FC236}">
                <a16:creationId xmlns:a16="http://schemas.microsoft.com/office/drawing/2014/main" id="{59DE35B6-1B6F-02AF-85F9-6EB2F57985DA}"/>
              </a:ext>
            </a:extLst>
          </p:cNvPr>
          <p:cNvPicPr>
            <a:picLocks noChangeAspect="1"/>
          </p:cNvPicPr>
          <p:nvPr/>
        </p:nvPicPr>
        <p:blipFill>
          <a:blip r:embed="rId7"/>
          <a:stretch>
            <a:fillRect/>
          </a:stretch>
        </p:blipFill>
        <p:spPr>
          <a:xfrm>
            <a:off x="2762002" y="1303019"/>
            <a:ext cx="888834" cy="844990"/>
          </a:xfrm>
          <a:prstGeom prst="rect">
            <a:avLst/>
          </a:prstGeom>
        </p:spPr>
      </p:pic>
      <p:graphicFrame>
        <p:nvGraphicFramePr>
          <p:cNvPr id="27" name="Object 26" descr="p equals v i equals (20) multiplied by (4) equals 80 Watts.&#10;">
            <a:extLst>
              <a:ext uri="{FF2B5EF4-FFF2-40B4-BE49-F238E27FC236}">
                <a16:creationId xmlns:a16="http://schemas.microsoft.com/office/drawing/2014/main" id="{2649E36C-1B78-1AC4-915E-E86C02F52D59}"/>
              </a:ext>
            </a:extLst>
          </p:cNvPr>
          <p:cNvGraphicFramePr>
            <a:graphicFrameLocks noChangeAspect="1"/>
          </p:cNvGraphicFramePr>
          <p:nvPr/>
        </p:nvGraphicFramePr>
        <p:xfrm>
          <a:off x="2601169" y="2362877"/>
          <a:ext cx="1553183" cy="190978"/>
        </p:xfrm>
        <a:graphic>
          <a:graphicData uri="http://schemas.openxmlformats.org/presentationml/2006/ole">
            <mc:AlternateContent xmlns:mc="http://schemas.openxmlformats.org/markup-compatibility/2006">
              <mc:Choice xmlns:v="urn:schemas-microsoft-com:vml" Requires="v">
                <p:oleObj name="Equation" r:id="rId8" imgW="1638000" imgH="203040" progId="Equation.DSMT4">
                  <p:embed/>
                </p:oleObj>
              </mc:Choice>
              <mc:Fallback>
                <p:oleObj name="Equation" r:id="rId8" imgW="1638000" imgH="203040" progId="Equation.DSMT4">
                  <p:embed/>
                  <p:pic>
                    <p:nvPicPr>
                      <p:cNvPr id="27" name="Object 26" descr="p equals v i equals (20) multiplied by (4) equals 80 Watts.&#10;">
                        <a:extLst>
                          <a:ext uri="{FF2B5EF4-FFF2-40B4-BE49-F238E27FC236}">
                            <a16:creationId xmlns:a16="http://schemas.microsoft.com/office/drawing/2014/main" id="{2649E36C-1B78-1AC4-915E-E86C02F52D59}"/>
                          </a:ext>
                        </a:extLst>
                      </p:cNvPr>
                      <p:cNvPicPr>
                        <a:picLocks noChangeAspect="1" noChangeArrowheads="1"/>
                      </p:cNvPicPr>
                      <p:nvPr/>
                    </p:nvPicPr>
                    <p:blipFill>
                      <a:blip r:embed="rId9"/>
                      <a:srcRect/>
                      <a:stretch>
                        <a:fillRect/>
                      </a:stretch>
                    </p:blipFill>
                    <p:spPr bwMode="auto">
                      <a:xfrm>
                        <a:off x="2601169" y="2362877"/>
                        <a:ext cx="1553183" cy="1909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7" descr="Forward arrow, 80 Watts absorbed.&#10;">
            <a:extLst>
              <a:ext uri="{FF2B5EF4-FFF2-40B4-BE49-F238E27FC236}">
                <a16:creationId xmlns:a16="http://schemas.microsoft.com/office/drawing/2014/main" id="{0A88783D-3C81-A87E-0443-F5F5CF78674A}"/>
              </a:ext>
            </a:extLst>
          </p:cNvPr>
          <p:cNvGraphicFramePr>
            <a:graphicFrameLocks noChangeAspect="1"/>
          </p:cNvGraphicFramePr>
          <p:nvPr/>
        </p:nvGraphicFramePr>
        <p:xfrm>
          <a:off x="2600868" y="2625292"/>
          <a:ext cx="1492957" cy="202865"/>
        </p:xfrm>
        <a:graphic>
          <a:graphicData uri="http://schemas.openxmlformats.org/presentationml/2006/ole">
            <mc:AlternateContent xmlns:mc="http://schemas.openxmlformats.org/markup-compatibility/2006">
              <mc:Choice xmlns:v="urn:schemas-microsoft-com:vml" Requires="v">
                <p:oleObj name="Equation" r:id="rId10" imgW="1574640" imgH="215640" progId="Equation.DSMT4">
                  <p:embed/>
                </p:oleObj>
              </mc:Choice>
              <mc:Fallback>
                <p:oleObj name="Equation" r:id="rId10" imgW="1574640" imgH="215640" progId="Equation.DSMT4">
                  <p:embed/>
                  <p:pic>
                    <p:nvPicPr>
                      <p:cNvPr id="28" name="Object 27" descr="Forward arrow, 80 Watts absorbed.&#10;">
                        <a:extLst>
                          <a:ext uri="{FF2B5EF4-FFF2-40B4-BE49-F238E27FC236}">
                            <a16:creationId xmlns:a16="http://schemas.microsoft.com/office/drawing/2014/main" id="{0A88783D-3C81-A87E-0443-F5F5CF78674A}"/>
                          </a:ext>
                        </a:extLst>
                      </p:cNvPr>
                      <p:cNvPicPr>
                        <a:picLocks noChangeAspect="1" noChangeArrowheads="1"/>
                      </p:cNvPicPr>
                      <p:nvPr/>
                    </p:nvPicPr>
                    <p:blipFill>
                      <a:blip r:embed="rId11"/>
                      <a:srcRect/>
                      <a:stretch>
                        <a:fillRect/>
                      </a:stretch>
                    </p:blipFill>
                    <p:spPr bwMode="auto">
                      <a:xfrm>
                        <a:off x="2600868" y="2625292"/>
                        <a:ext cx="1492957" cy="2028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950534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C8D85-73CE-7005-8F0B-7AEB9439B3E1}"/>
              </a:ext>
            </a:extLst>
          </p:cNvPr>
          <p:cNvSpPr>
            <a:spLocks noGrp="1"/>
          </p:cNvSpPr>
          <p:nvPr>
            <p:ph type="title"/>
          </p:nvPr>
        </p:nvSpPr>
        <p:spPr>
          <a:xfrm>
            <a:off x="216945" y="109845"/>
            <a:ext cx="4154646" cy="297634"/>
          </a:xfrm>
        </p:spPr>
        <p:txBody>
          <a:bodyPr wrap="square" lIns="0" tIns="9075" rIns="0" bIns="9075" anchor="ctr" anchorCtr="0">
            <a:spAutoFit/>
          </a:bodyPr>
          <a:lstStyle/>
          <a:p>
            <a:r>
              <a:rPr lang="en-US" dirty="0"/>
              <a:t>Chapter 1 – Circuit Variables </a:t>
            </a:r>
            <a:r>
              <a:rPr lang="en-US" sz="1412" dirty="0"/>
              <a:t>(17 of 21)</a:t>
            </a:r>
            <a:endParaRPr lang="en-US" noProof="0" dirty="0"/>
          </a:p>
        </p:txBody>
      </p:sp>
      <p:sp>
        <p:nvSpPr>
          <p:cNvPr id="3" name="Content Placeholder 2">
            <a:extLst>
              <a:ext uri="{FF2B5EF4-FFF2-40B4-BE49-F238E27FC236}">
                <a16:creationId xmlns:a16="http://schemas.microsoft.com/office/drawing/2014/main" id="{36F6A586-DDD8-FB57-6DCC-FCA27ACAA018}"/>
              </a:ext>
            </a:extLst>
          </p:cNvPr>
          <p:cNvSpPr>
            <a:spLocks noGrp="1"/>
          </p:cNvSpPr>
          <p:nvPr>
            <p:ph sz="quarter" idx="12"/>
          </p:nvPr>
        </p:nvSpPr>
        <p:spPr>
          <a:xfrm>
            <a:off x="216945" y="535279"/>
            <a:ext cx="4154646" cy="390737"/>
          </a:xfrm>
        </p:spPr>
        <p:txBody>
          <a:bodyPr wrap="square" lIns="0" tIns="9075" rIns="0" bIns="9075" anchor="ctr" anchorCtr="0">
            <a:spAutoFit/>
          </a:bodyPr>
          <a:lstStyle/>
          <a:p>
            <a:pPr>
              <a:spcBef>
                <a:spcPts val="303"/>
              </a:spcBef>
            </a:pPr>
            <a:r>
              <a:rPr lang="en-US" altLang="en-US" sz="1210" dirty="0"/>
              <a:t>Chapter 1 examples: Find the total energy delivered to the circuit element.</a:t>
            </a:r>
            <a:endParaRPr lang="en-US" noProof="0" dirty="0"/>
          </a:p>
        </p:txBody>
      </p:sp>
      <p:pic>
        <p:nvPicPr>
          <p:cNvPr id="5" name="Picture 4" descr="A circuit diagram shows a circuit element which is represented as a block box connected between terminals 1 and 2. A current i is flowing in from terminal 1 shown by an arrow and a voltage source V is placed below the block box.">
            <a:extLst>
              <a:ext uri="{FF2B5EF4-FFF2-40B4-BE49-F238E27FC236}">
                <a16:creationId xmlns:a16="http://schemas.microsoft.com/office/drawing/2014/main" id="{0088D4CE-6BA4-8ED3-6FA7-4DFCFDE06D8B}"/>
              </a:ext>
            </a:extLst>
          </p:cNvPr>
          <p:cNvPicPr>
            <a:picLocks noChangeAspect="1"/>
          </p:cNvPicPr>
          <p:nvPr/>
        </p:nvPicPr>
        <p:blipFill>
          <a:blip r:embed="rId3"/>
          <a:stretch>
            <a:fillRect/>
          </a:stretch>
        </p:blipFill>
        <p:spPr>
          <a:xfrm>
            <a:off x="420897" y="1108614"/>
            <a:ext cx="1433175" cy="389229"/>
          </a:xfrm>
          <a:prstGeom prst="rect">
            <a:avLst/>
          </a:prstGeom>
        </p:spPr>
      </p:pic>
      <p:graphicFrame>
        <p:nvGraphicFramePr>
          <p:cNvPr id="6" name="Object 5" descr="i equals 0,">
            <a:extLst>
              <a:ext uri="{FF2B5EF4-FFF2-40B4-BE49-F238E27FC236}">
                <a16:creationId xmlns:a16="http://schemas.microsoft.com/office/drawing/2014/main" id="{567F0DFA-6ACF-404B-A1DD-C0B908DA9943}"/>
              </a:ext>
            </a:extLst>
          </p:cNvPr>
          <p:cNvGraphicFramePr>
            <a:graphicFrameLocks noChangeAspect="1"/>
          </p:cNvGraphicFramePr>
          <p:nvPr/>
        </p:nvGraphicFramePr>
        <p:xfrm>
          <a:off x="2101199" y="963626"/>
          <a:ext cx="349759" cy="179282"/>
        </p:xfrm>
        <a:graphic>
          <a:graphicData uri="http://schemas.openxmlformats.org/presentationml/2006/ole">
            <mc:AlternateContent xmlns:mc="http://schemas.openxmlformats.org/markup-compatibility/2006">
              <mc:Choice xmlns:v="urn:schemas-microsoft-com:vml" Requires="v">
                <p:oleObj name="Equation" r:id="rId4" imgW="368280" imgH="190440" progId="Equation.DSMT4">
                  <p:embed/>
                </p:oleObj>
              </mc:Choice>
              <mc:Fallback>
                <p:oleObj name="Equation" r:id="rId4" imgW="368280" imgH="190440" progId="Equation.DSMT4">
                  <p:embed/>
                  <p:pic>
                    <p:nvPicPr>
                      <p:cNvPr id="6" name="Object 5" descr="i equals 0,">
                        <a:extLst>
                          <a:ext uri="{FF2B5EF4-FFF2-40B4-BE49-F238E27FC236}">
                            <a16:creationId xmlns:a16="http://schemas.microsoft.com/office/drawing/2014/main" id="{567F0DFA-6ACF-404B-A1DD-C0B908DA9943}"/>
                          </a:ext>
                        </a:extLst>
                      </p:cNvPr>
                      <p:cNvPicPr>
                        <a:picLocks noChangeAspect="1" noChangeArrowheads="1"/>
                      </p:cNvPicPr>
                      <p:nvPr/>
                    </p:nvPicPr>
                    <p:blipFill>
                      <a:blip r:embed="rId5"/>
                      <a:srcRect/>
                      <a:stretch>
                        <a:fillRect/>
                      </a:stretch>
                    </p:blipFill>
                    <p:spPr bwMode="auto">
                      <a:xfrm>
                        <a:off x="2101199" y="963626"/>
                        <a:ext cx="349759" cy="179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descr="t is less than 0&#10;">
            <a:extLst>
              <a:ext uri="{FF2B5EF4-FFF2-40B4-BE49-F238E27FC236}">
                <a16:creationId xmlns:a16="http://schemas.microsoft.com/office/drawing/2014/main" id="{87064C88-B802-C81B-F82F-4CC126987C48}"/>
              </a:ext>
            </a:extLst>
          </p:cNvPr>
          <p:cNvGraphicFramePr>
            <a:graphicFrameLocks noChangeAspect="1"/>
          </p:cNvGraphicFramePr>
          <p:nvPr/>
        </p:nvGraphicFramePr>
        <p:xfrm>
          <a:off x="2702596" y="961558"/>
          <a:ext cx="336954" cy="191287"/>
        </p:xfrm>
        <a:graphic>
          <a:graphicData uri="http://schemas.openxmlformats.org/presentationml/2006/ole">
            <mc:AlternateContent xmlns:mc="http://schemas.openxmlformats.org/markup-compatibility/2006">
              <mc:Choice xmlns:v="urn:schemas-microsoft-com:vml" Requires="v">
                <p:oleObj name="Equation" r:id="rId6" imgW="355320" imgH="203040" progId="Equation.DSMT4">
                  <p:embed/>
                </p:oleObj>
              </mc:Choice>
              <mc:Fallback>
                <p:oleObj name="Equation" r:id="rId6" imgW="355320" imgH="203040" progId="Equation.DSMT4">
                  <p:embed/>
                  <p:pic>
                    <p:nvPicPr>
                      <p:cNvPr id="13" name="Object 12" descr="t is less than 0&#10;">
                        <a:extLst>
                          <a:ext uri="{FF2B5EF4-FFF2-40B4-BE49-F238E27FC236}">
                            <a16:creationId xmlns:a16="http://schemas.microsoft.com/office/drawing/2014/main" id="{87064C88-B802-C81B-F82F-4CC126987C48}"/>
                          </a:ext>
                        </a:extLst>
                      </p:cNvPr>
                      <p:cNvPicPr>
                        <a:picLocks noChangeAspect="1" noChangeArrowheads="1"/>
                      </p:cNvPicPr>
                      <p:nvPr/>
                    </p:nvPicPr>
                    <p:blipFill>
                      <a:blip r:embed="rId7"/>
                      <a:srcRect/>
                      <a:stretch>
                        <a:fillRect/>
                      </a:stretch>
                    </p:blipFill>
                    <p:spPr bwMode="auto">
                      <a:xfrm>
                        <a:off x="2702596" y="961558"/>
                        <a:ext cx="336954" cy="19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descr="i equals 20 e to the negative 5000 t power Ampere,&#10;">
            <a:extLst>
              <a:ext uri="{FF2B5EF4-FFF2-40B4-BE49-F238E27FC236}">
                <a16:creationId xmlns:a16="http://schemas.microsoft.com/office/drawing/2014/main" id="{502F58C1-5627-0D0C-5CA1-531E531C8762}"/>
              </a:ext>
            </a:extLst>
          </p:cNvPr>
          <p:cNvGraphicFramePr>
            <a:graphicFrameLocks noChangeAspect="1"/>
          </p:cNvGraphicFramePr>
          <p:nvPr/>
        </p:nvGraphicFramePr>
        <p:xfrm>
          <a:off x="2096061" y="1186127"/>
          <a:ext cx="962838" cy="215298"/>
        </p:xfrm>
        <a:graphic>
          <a:graphicData uri="http://schemas.openxmlformats.org/presentationml/2006/ole">
            <mc:AlternateContent xmlns:mc="http://schemas.openxmlformats.org/markup-compatibility/2006">
              <mc:Choice xmlns:v="urn:schemas-microsoft-com:vml" Requires="v">
                <p:oleObj name="Equation" r:id="rId8" imgW="1015920" imgH="228600" progId="Equation.DSMT4">
                  <p:embed/>
                </p:oleObj>
              </mc:Choice>
              <mc:Fallback>
                <p:oleObj name="Equation" r:id="rId8" imgW="1015920" imgH="228600" progId="Equation.DSMT4">
                  <p:embed/>
                  <p:pic>
                    <p:nvPicPr>
                      <p:cNvPr id="7" name="Object 6" descr="i equals 20 e to the negative 5000 t power Ampere,&#10;">
                        <a:extLst>
                          <a:ext uri="{FF2B5EF4-FFF2-40B4-BE49-F238E27FC236}">
                            <a16:creationId xmlns:a16="http://schemas.microsoft.com/office/drawing/2014/main" id="{502F58C1-5627-0D0C-5CA1-531E531C8762}"/>
                          </a:ext>
                        </a:extLst>
                      </p:cNvPr>
                      <p:cNvPicPr>
                        <a:picLocks noChangeAspect="1" noChangeArrowheads="1"/>
                      </p:cNvPicPr>
                      <p:nvPr/>
                    </p:nvPicPr>
                    <p:blipFill>
                      <a:blip r:embed="rId9"/>
                      <a:srcRect/>
                      <a:stretch>
                        <a:fillRect/>
                      </a:stretch>
                    </p:blipFill>
                    <p:spPr bwMode="auto">
                      <a:xfrm>
                        <a:off x="2096061" y="1186127"/>
                        <a:ext cx="962838" cy="2152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descr="t is greater than or equal to 0.&#10;">
            <a:extLst>
              <a:ext uri="{FF2B5EF4-FFF2-40B4-BE49-F238E27FC236}">
                <a16:creationId xmlns:a16="http://schemas.microsoft.com/office/drawing/2014/main" id="{AD3F378D-BC7D-E3C6-A376-CB86D7EDF0B9}"/>
              </a:ext>
            </a:extLst>
          </p:cNvPr>
          <p:cNvGraphicFramePr>
            <a:graphicFrameLocks noChangeAspect="1"/>
          </p:cNvGraphicFramePr>
          <p:nvPr/>
        </p:nvGraphicFramePr>
        <p:xfrm>
          <a:off x="3293876" y="1210278"/>
          <a:ext cx="336954" cy="191287"/>
        </p:xfrm>
        <a:graphic>
          <a:graphicData uri="http://schemas.openxmlformats.org/presentationml/2006/ole">
            <mc:AlternateContent xmlns:mc="http://schemas.openxmlformats.org/markup-compatibility/2006">
              <mc:Choice xmlns:v="urn:schemas-microsoft-com:vml" Requires="v">
                <p:oleObj name="Equation" r:id="rId10" imgW="355320" imgH="203040" progId="Equation.DSMT4">
                  <p:embed/>
                </p:oleObj>
              </mc:Choice>
              <mc:Fallback>
                <p:oleObj name="Equation" r:id="rId10" imgW="355320" imgH="203040" progId="Equation.DSMT4">
                  <p:embed/>
                  <p:pic>
                    <p:nvPicPr>
                      <p:cNvPr id="14" name="Object 13" descr="t is greater than or equal to 0.&#10;">
                        <a:extLst>
                          <a:ext uri="{FF2B5EF4-FFF2-40B4-BE49-F238E27FC236}">
                            <a16:creationId xmlns:a16="http://schemas.microsoft.com/office/drawing/2014/main" id="{AD3F378D-BC7D-E3C6-A376-CB86D7EDF0B9}"/>
                          </a:ext>
                        </a:extLst>
                      </p:cNvPr>
                      <p:cNvPicPr>
                        <a:picLocks noChangeAspect="1" noChangeArrowheads="1"/>
                      </p:cNvPicPr>
                      <p:nvPr/>
                    </p:nvPicPr>
                    <p:blipFill>
                      <a:blip r:embed="rId11"/>
                      <a:srcRect/>
                      <a:stretch>
                        <a:fillRect/>
                      </a:stretch>
                    </p:blipFill>
                    <p:spPr bwMode="auto">
                      <a:xfrm>
                        <a:off x="3293876" y="1210278"/>
                        <a:ext cx="336954" cy="19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descr="v equals 0,&#10;">
            <a:extLst>
              <a:ext uri="{FF2B5EF4-FFF2-40B4-BE49-F238E27FC236}">
                <a16:creationId xmlns:a16="http://schemas.microsoft.com/office/drawing/2014/main" id="{A2EAB539-A35A-DB34-5B16-C6121B128F85}"/>
              </a:ext>
            </a:extLst>
          </p:cNvPr>
          <p:cNvGraphicFramePr>
            <a:graphicFrameLocks noChangeAspect="1"/>
          </p:cNvGraphicFramePr>
          <p:nvPr/>
        </p:nvGraphicFramePr>
        <p:xfrm>
          <a:off x="2064139" y="1447846"/>
          <a:ext cx="396981" cy="191287"/>
        </p:xfrm>
        <a:graphic>
          <a:graphicData uri="http://schemas.openxmlformats.org/presentationml/2006/ole">
            <mc:AlternateContent xmlns:mc="http://schemas.openxmlformats.org/markup-compatibility/2006">
              <mc:Choice xmlns:v="urn:schemas-microsoft-com:vml" Requires="v">
                <p:oleObj name="Equation" r:id="rId12" imgW="419040" imgH="203040" progId="Equation.DSMT4">
                  <p:embed/>
                </p:oleObj>
              </mc:Choice>
              <mc:Fallback>
                <p:oleObj name="Equation" r:id="rId12" imgW="419040" imgH="203040" progId="Equation.DSMT4">
                  <p:embed/>
                  <p:pic>
                    <p:nvPicPr>
                      <p:cNvPr id="8" name="Object 7" descr="v equals 0,&#10;">
                        <a:extLst>
                          <a:ext uri="{FF2B5EF4-FFF2-40B4-BE49-F238E27FC236}">
                            <a16:creationId xmlns:a16="http://schemas.microsoft.com/office/drawing/2014/main" id="{A2EAB539-A35A-DB34-5B16-C6121B128F85}"/>
                          </a:ext>
                        </a:extLst>
                      </p:cNvPr>
                      <p:cNvPicPr>
                        <a:picLocks noChangeAspect="1" noChangeArrowheads="1"/>
                      </p:cNvPicPr>
                      <p:nvPr/>
                    </p:nvPicPr>
                    <p:blipFill>
                      <a:blip r:embed="rId13"/>
                      <a:srcRect/>
                      <a:stretch>
                        <a:fillRect/>
                      </a:stretch>
                    </p:blipFill>
                    <p:spPr bwMode="auto">
                      <a:xfrm>
                        <a:off x="2064139" y="1447846"/>
                        <a:ext cx="396981" cy="19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descr="t is less than 0.&#10;">
            <a:extLst>
              <a:ext uri="{FF2B5EF4-FFF2-40B4-BE49-F238E27FC236}">
                <a16:creationId xmlns:a16="http://schemas.microsoft.com/office/drawing/2014/main" id="{F6801057-CEC5-7B57-8999-4EF8B91C3D99}"/>
              </a:ext>
            </a:extLst>
          </p:cNvPr>
          <p:cNvGraphicFramePr>
            <a:graphicFrameLocks noChangeAspect="1"/>
          </p:cNvGraphicFramePr>
          <p:nvPr/>
        </p:nvGraphicFramePr>
        <p:xfrm>
          <a:off x="2723500" y="1455742"/>
          <a:ext cx="336953" cy="192088"/>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15" name="Object 14" descr="t is less than 0.&#10;">
                        <a:extLst>
                          <a:ext uri="{FF2B5EF4-FFF2-40B4-BE49-F238E27FC236}">
                            <a16:creationId xmlns:a16="http://schemas.microsoft.com/office/drawing/2014/main" id="{F6801057-CEC5-7B57-8999-4EF8B91C3D99}"/>
                          </a:ext>
                        </a:extLst>
                      </p:cNvPr>
                      <p:cNvPicPr>
                        <a:picLocks noChangeAspect="1" noChangeArrowheads="1"/>
                      </p:cNvPicPr>
                      <p:nvPr/>
                    </p:nvPicPr>
                    <p:blipFill>
                      <a:blip r:embed="rId15"/>
                      <a:srcRect/>
                      <a:stretch>
                        <a:fillRect/>
                      </a:stretch>
                    </p:blipFill>
                    <p:spPr bwMode="auto">
                      <a:xfrm>
                        <a:off x="2723500" y="1455742"/>
                        <a:ext cx="336953" cy="1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descr="v equals 10 e to the negative 5000 t power kilovolts,&#10;">
            <a:extLst>
              <a:ext uri="{FF2B5EF4-FFF2-40B4-BE49-F238E27FC236}">
                <a16:creationId xmlns:a16="http://schemas.microsoft.com/office/drawing/2014/main" id="{E57E5599-B6DC-5299-3BD6-09B573FF6AED}"/>
              </a:ext>
            </a:extLst>
          </p:cNvPr>
          <p:cNvGraphicFramePr>
            <a:graphicFrameLocks noChangeAspect="1"/>
          </p:cNvGraphicFramePr>
          <p:nvPr/>
        </p:nvGraphicFramePr>
        <p:xfrm>
          <a:off x="2062540" y="1679952"/>
          <a:ext cx="1070087" cy="216899"/>
        </p:xfrm>
        <a:graphic>
          <a:graphicData uri="http://schemas.openxmlformats.org/presentationml/2006/ole">
            <mc:AlternateContent xmlns:mc="http://schemas.openxmlformats.org/markup-compatibility/2006">
              <mc:Choice xmlns:v="urn:schemas-microsoft-com:vml" Requires="v">
                <p:oleObj name="Equation" r:id="rId16" imgW="1117440" imgH="228600" progId="Equation.DSMT4">
                  <p:embed/>
                </p:oleObj>
              </mc:Choice>
              <mc:Fallback>
                <p:oleObj name="Equation" r:id="rId16" imgW="1117440" imgH="228600" progId="Equation.DSMT4">
                  <p:embed/>
                  <p:pic>
                    <p:nvPicPr>
                      <p:cNvPr id="9" name="Object 8" descr="v equals 10 e to the negative 5000 t power kilovolts,&#10;">
                        <a:extLst>
                          <a:ext uri="{FF2B5EF4-FFF2-40B4-BE49-F238E27FC236}">
                            <a16:creationId xmlns:a16="http://schemas.microsoft.com/office/drawing/2014/main" id="{E57E5599-B6DC-5299-3BD6-09B573FF6AED}"/>
                          </a:ext>
                        </a:extLst>
                      </p:cNvPr>
                      <p:cNvPicPr>
                        <a:picLocks noChangeAspect="1" noChangeArrowheads="1"/>
                      </p:cNvPicPr>
                      <p:nvPr/>
                    </p:nvPicPr>
                    <p:blipFill>
                      <a:blip r:embed="rId17"/>
                      <a:srcRect/>
                      <a:stretch>
                        <a:fillRect/>
                      </a:stretch>
                    </p:blipFill>
                    <p:spPr bwMode="auto">
                      <a:xfrm>
                        <a:off x="2062540" y="1679952"/>
                        <a:ext cx="1070087" cy="2168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descr="t is greater than or equal to 0.&#10;">
            <a:extLst>
              <a:ext uri="{FF2B5EF4-FFF2-40B4-BE49-F238E27FC236}">
                <a16:creationId xmlns:a16="http://schemas.microsoft.com/office/drawing/2014/main" id="{1DC07D38-B8AA-12F7-2424-A81BDADD764A}"/>
              </a:ext>
            </a:extLst>
          </p:cNvPr>
          <p:cNvGraphicFramePr>
            <a:graphicFrameLocks noChangeAspect="1"/>
          </p:cNvGraphicFramePr>
          <p:nvPr/>
        </p:nvGraphicFramePr>
        <p:xfrm>
          <a:off x="3310590" y="1712354"/>
          <a:ext cx="340155" cy="192088"/>
        </p:xfrm>
        <a:graphic>
          <a:graphicData uri="http://schemas.openxmlformats.org/presentationml/2006/ole">
            <mc:AlternateContent xmlns:mc="http://schemas.openxmlformats.org/markup-compatibility/2006">
              <mc:Choice xmlns:v="urn:schemas-microsoft-com:vml" Requires="v">
                <p:oleObj name="Equation" r:id="rId18" imgW="355320" imgH="203040" progId="Equation.DSMT4">
                  <p:embed/>
                </p:oleObj>
              </mc:Choice>
              <mc:Fallback>
                <p:oleObj name="Equation" r:id="rId18" imgW="355320" imgH="203040" progId="Equation.DSMT4">
                  <p:embed/>
                  <p:pic>
                    <p:nvPicPr>
                      <p:cNvPr id="16" name="Object 15" descr="t is greater than or equal to 0.&#10;">
                        <a:extLst>
                          <a:ext uri="{FF2B5EF4-FFF2-40B4-BE49-F238E27FC236}">
                            <a16:creationId xmlns:a16="http://schemas.microsoft.com/office/drawing/2014/main" id="{1DC07D38-B8AA-12F7-2424-A81BDADD764A}"/>
                          </a:ext>
                        </a:extLst>
                      </p:cNvPr>
                      <p:cNvPicPr>
                        <a:picLocks noChangeAspect="1" noChangeArrowheads="1"/>
                      </p:cNvPicPr>
                      <p:nvPr/>
                    </p:nvPicPr>
                    <p:blipFill>
                      <a:blip r:embed="rId19"/>
                      <a:srcRect/>
                      <a:stretch>
                        <a:fillRect/>
                      </a:stretch>
                    </p:blipFill>
                    <p:spPr bwMode="auto">
                      <a:xfrm>
                        <a:off x="3310590" y="1712354"/>
                        <a:ext cx="340155" cy="1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p equals v i equals StartFraction d w over d t EndFraction forward arrow w equals Integral from 0 to infinity of v i d t plus w OpenParenthesis 0 CloseParenthesis.&#10;">
            <a:extLst>
              <a:ext uri="{FF2B5EF4-FFF2-40B4-BE49-F238E27FC236}">
                <a16:creationId xmlns:a16="http://schemas.microsoft.com/office/drawing/2014/main" id="{1094F85E-CB13-8AE9-BA94-43C58EB87DA4}"/>
              </a:ext>
            </a:extLst>
          </p:cNvPr>
          <p:cNvGraphicFramePr>
            <a:graphicFrameLocks noChangeAspect="1"/>
          </p:cNvGraphicFramePr>
          <p:nvPr/>
        </p:nvGraphicFramePr>
        <p:xfrm>
          <a:off x="556489" y="1936080"/>
          <a:ext cx="2806879" cy="373771"/>
        </p:xfrm>
        <a:graphic>
          <a:graphicData uri="http://schemas.openxmlformats.org/presentationml/2006/ole">
            <mc:AlternateContent xmlns:mc="http://schemas.openxmlformats.org/markup-compatibility/2006">
              <mc:Choice xmlns:v="urn:schemas-microsoft-com:vml" Requires="v">
                <p:oleObj name="Equation" r:id="rId20" imgW="2933640" imgH="393480" progId="Equation.DSMT4">
                  <p:embed/>
                </p:oleObj>
              </mc:Choice>
              <mc:Fallback>
                <p:oleObj name="Equation" r:id="rId20" imgW="2933640" imgH="393480" progId="Equation.DSMT4">
                  <p:embed/>
                  <p:pic>
                    <p:nvPicPr>
                      <p:cNvPr id="10" name="Object 9" descr="p equals v i equals StartFraction d w over d t EndFraction forward arrow w equals Integral from 0 to infinity of v i d t plus w OpenParenthesis 0 CloseParenthesis.&#10;">
                        <a:extLst>
                          <a:ext uri="{FF2B5EF4-FFF2-40B4-BE49-F238E27FC236}">
                            <a16:creationId xmlns:a16="http://schemas.microsoft.com/office/drawing/2014/main" id="{1094F85E-CB13-8AE9-BA94-43C58EB87DA4}"/>
                          </a:ext>
                        </a:extLst>
                      </p:cNvPr>
                      <p:cNvPicPr>
                        <a:picLocks noChangeAspect="1" noChangeArrowheads="1"/>
                      </p:cNvPicPr>
                      <p:nvPr/>
                    </p:nvPicPr>
                    <p:blipFill>
                      <a:blip r:embed="rId21"/>
                      <a:srcRect/>
                      <a:stretch>
                        <a:fillRect/>
                      </a:stretch>
                    </p:blipFill>
                    <p:spPr bwMode="auto">
                      <a:xfrm>
                        <a:off x="556489" y="1936080"/>
                        <a:ext cx="2806879" cy="3737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The figure illustrates the calculation of work, w.&#10;Long description 1 is available in notes, press F6.">
            <a:extLst>
              <a:ext uri="{FF2B5EF4-FFF2-40B4-BE49-F238E27FC236}">
                <a16:creationId xmlns:a16="http://schemas.microsoft.com/office/drawing/2014/main" id="{99828B5A-4CB5-0531-23B2-A438A64FF8B6}"/>
              </a:ext>
            </a:extLst>
          </p:cNvPr>
          <p:cNvGraphicFramePr>
            <a:graphicFrameLocks noChangeAspect="1"/>
          </p:cNvGraphicFramePr>
          <p:nvPr/>
        </p:nvGraphicFramePr>
        <p:xfrm>
          <a:off x="556489" y="2332449"/>
          <a:ext cx="3548016" cy="313743"/>
        </p:xfrm>
        <a:graphic>
          <a:graphicData uri="http://schemas.openxmlformats.org/presentationml/2006/ole">
            <mc:AlternateContent xmlns:mc="http://schemas.openxmlformats.org/markup-compatibility/2006">
              <mc:Choice xmlns:v="urn:schemas-microsoft-com:vml" Requires="v">
                <p:oleObj name="Equation" r:id="rId22" imgW="3708360" imgH="330120" progId="Equation.DSMT4">
                  <p:embed/>
                </p:oleObj>
              </mc:Choice>
              <mc:Fallback>
                <p:oleObj name="Equation" r:id="rId22" imgW="3708360" imgH="330120" progId="Equation.DSMT4">
                  <p:embed/>
                  <p:pic>
                    <p:nvPicPr>
                      <p:cNvPr id="11" name="Object 10" descr="The figure illustrates the calculation of work, w.&#10;Long description 1 is available in notes, press F6.">
                        <a:extLst>
                          <a:ext uri="{FF2B5EF4-FFF2-40B4-BE49-F238E27FC236}">
                            <a16:creationId xmlns:a16="http://schemas.microsoft.com/office/drawing/2014/main" id="{99828B5A-4CB5-0531-23B2-A438A64FF8B6}"/>
                          </a:ext>
                        </a:extLst>
                      </p:cNvPr>
                      <p:cNvPicPr>
                        <a:picLocks noChangeAspect="1" noChangeArrowheads="1"/>
                      </p:cNvPicPr>
                      <p:nvPr/>
                    </p:nvPicPr>
                    <p:blipFill>
                      <a:blip r:embed="rId23"/>
                      <a:srcRect/>
                      <a:stretch>
                        <a:fillRect/>
                      </a:stretch>
                    </p:blipFill>
                    <p:spPr bwMode="auto">
                      <a:xfrm>
                        <a:off x="556489" y="2332449"/>
                        <a:ext cx="3548016" cy="3137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descr="The figure illustrates the simplification of an expression to get an output of 20 Joules.&#10;Long description 2 is available in notes, press F6.">
            <a:extLst>
              <a:ext uri="{FF2B5EF4-FFF2-40B4-BE49-F238E27FC236}">
                <a16:creationId xmlns:a16="http://schemas.microsoft.com/office/drawing/2014/main" id="{85191E83-C4A9-F9F1-7839-526FFC7EEEE0}"/>
              </a:ext>
            </a:extLst>
          </p:cNvPr>
          <p:cNvGraphicFramePr>
            <a:graphicFrameLocks noChangeAspect="1"/>
          </p:cNvGraphicFramePr>
          <p:nvPr/>
        </p:nvGraphicFramePr>
        <p:xfrm>
          <a:off x="712984" y="2673311"/>
          <a:ext cx="2854901" cy="482620"/>
        </p:xfrm>
        <a:graphic>
          <a:graphicData uri="http://schemas.openxmlformats.org/presentationml/2006/ole">
            <mc:AlternateContent xmlns:mc="http://schemas.openxmlformats.org/markup-compatibility/2006">
              <mc:Choice xmlns:v="urn:schemas-microsoft-com:vml" Requires="v">
                <p:oleObj name="Equation" r:id="rId24" imgW="2984400" imgH="507960" progId="Equation.DSMT4">
                  <p:embed/>
                </p:oleObj>
              </mc:Choice>
              <mc:Fallback>
                <p:oleObj name="Equation" r:id="rId24" imgW="2984400" imgH="507960" progId="Equation.DSMT4">
                  <p:embed/>
                  <p:pic>
                    <p:nvPicPr>
                      <p:cNvPr id="12" name="Object 11" descr="The figure illustrates the simplification of an expression to get an output of 20 Joules.&#10;Long description 2 is available in notes, press F6.">
                        <a:extLst>
                          <a:ext uri="{FF2B5EF4-FFF2-40B4-BE49-F238E27FC236}">
                            <a16:creationId xmlns:a16="http://schemas.microsoft.com/office/drawing/2014/main" id="{85191E83-C4A9-F9F1-7839-526FFC7EEEE0}"/>
                          </a:ext>
                        </a:extLst>
                      </p:cNvPr>
                      <p:cNvPicPr>
                        <a:picLocks noChangeAspect="1" noChangeArrowheads="1"/>
                      </p:cNvPicPr>
                      <p:nvPr/>
                    </p:nvPicPr>
                    <p:blipFill>
                      <a:blip r:embed="rId25"/>
                      <a:srcRect/>
                      <a:stretch>
                        <a:fillRect/>
                      </a:stretch>
                    </p:blipFill>
                    <p:spPr bwMode="auto">
                      <a:xfrm>
                        <a:off x="712984" y="2673311"/>
                        <a:ext cx="2854901" cy="4826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42597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64B88-C75D-10D3-AD14-1FE9614D3342}"/>
              </a:ext>
            </a:extLst>
          </p:cNvPr>
          <p:cNvSpPr>
            <a:spLocks noGrp="1"/>
          </p:cNvSpPr>
          <p:nvPr>
            <p:ph type="title"/>
          </p:nvPr>
        </p:nvSpPr>
        <p:spPr>
          <a:xfrm>
            <a:off x="216945" y="109846"/>
            <a:ext cx="4154646" cy="297634"/>
          </a:xfrm>
        </p:spPr>
        <p:txBody>
          <a:bodyPr wrap="square" lIns="0" tIns="9075" rIns="0" bIns="9075" anchor="ctr" anchorCtr="0">
            <a:spAutoFit/>
          </a:bodyPr>
          <a:lstStyle/>
          <a:p>
            <a:r>
              <a:rPr lang="en-US" dirty="0"/>
              <a:t>Chapter 1 – Circuit Variables </a:t>
            </a:r>
            <a:r>
              <a:rPr lang="en-US" sz="1412" dirty="0"/>
              <a:t>(19 of 21)</a:t>
            </a:r>
            <a:endParaRPr lang="en-US" noProof="0" dirty="0"/>
          </a:p>
        </p:txBody>
      </p:sp>
      <p:sp>
        <p:nvSpPr>
          <p:cNvPr id="3" name="Content Placeholder 2">
            <a:extLst>
              <a:ext uri="{FF2B5EF4-FFF2-40B4-BE49-F238E27FC236}">
                <a16:creationId xmlns:a16="http://schemas.microsoft.com/office/drawing/2014/main" id="{79D448AE-D307-B347-8C5F-00B0AF2090BF}"/>
              </a:ext>
            </a:extLst>
          </p:cNvPr>
          <p:cNvSpPr>
            <a:spLocks noGrp="1"/>
          </p:cNvSpPr>
          <p:nvPr>
            <p:ph sz="quarter" idx="12"/>
          </p:nvPr>
        </p:nvSpPr>
        <p:spPr>
          <a:xfrm>
            <a:off x="216945" y="535281"/>
            <a:ext cx="4154646" cy="390737"/>
          </a:xfrm>
        </p:spPr>
        <p:txBody>
          <a:bodyPr wrap="square" lIns="0" tIns="9075" rIns="0" bIns="9075" anchor="ctr" anchorCtr="0">
            <a:spAutoFit/>
          </a:bodyPr>
          <a:lstStyle/>
          <a:p>
            <a:r>
              <a:rPr lang="en-US" altLang="en-US" sz="1210" dirty="0"/>
              <a:t>Chapter 1 examples: Find the power associated with each circuit element in the circuit below.</a:t>
            </a:r>
            <a:endParaRPr lang="en-US" sz="1210" dirty="0"/>
          </a:p>
        </p:txBody>
      </p:sp>
      <p:pic>
        <p:nvPicPr>
          <p:cNvPr id="14" name="Picture 13" descr="A circuit connection shows circuit element represented as block boxes a and b connected in series which is also connected to the block box c in series, while block box d is connected in parallel with the series combination of block c and block a and b. Block box d is connected in series with block box e which is further connected in series with block box f. A current i subscript a is flowing in through block box a shown by an arrow and a voltage source V subscript a is placed below the block box. A current i subscript b is flowing in through block box b shown by an arrow and a voltage source V subscript b is placed below the block box. A current i subscript c is flowing in the downward direction through block box c shown by a downward arrow and a voltage source V subscript c is placed across the block box c.  A current i subscript d is flowing in the upward direction through block box d shown by an upward arrow and a voltage source V subscript d is placed across the block box d.  A current i subscript e is flowing towards block box e shown by an arrow and a voltage source V subscript e is placed below the block box e.  A current i subscript f is flowing towards block box f shown by an arrow and a voltage source V subscript e is placed below the block box e. ">
            <a:extLst>
              <a:ext uri="{FF2B5EF4-FFF2-40B4-BE49-F238E27FC236}">
                <a16:creationId xmlns:a16="http://schemas.microsoft.com/office/drawing/2014/main" id="{795E74CD-BCC0-A96B-5F98-7013464212DE}"/>
              </a:ext>
            </a:extLst>
          </p:cNvPr>
          <p:cNvPicPr>
            <a:picLocks noChangeAspect="1"/>
          </p:cNvPicPr>
          <p:nvPr/>
        </p:nvPicPr>
        <p:blipFill>
          <a:blip r:embed="rId2"/>
          <a:stretch>
            <a:fillRect/>
          </a:stretch>
        </p:blipFill>
        <p:spPr>
          <a:xfrm>
            <a:off x="1063865" y="1006676"/>
            <a:ext cx="2491502" cy="1395481"/>
          </a:xfrm>
          <a:prstGeom prst="rect">
            <a:avLst/>
          </a:prstGeom>
        </p:spPr>
      </p:pic>
      <p:graphicFrame>
        <p:nvGraphicFramePr>
          <p:cNvPr id="15" name="Object 14" descr="v subscript a BaseLine equals negative 8 Volts.&#10;">
            <a:extLst>
              <a:ext uri="{FF2B5EF4-FFF2-40B4-BE49-F238E27FC236}">
                <a16:creationId xmlns:a16="http://schemas.microsoft.com/office/drawing/2014/main" id="{E311161B-3B95-6583-82C1-E31C06F8CB3A}"/>
              </a:ext>
            </a:extLst>
          </p:cNvPr>
          <p:cNvGraphicFramePr>
            <a:graphicFrameLocks noChangeAspect="1"/>
          </p:cNvGraphicFramePr>
          <p:nvPr/>
        </p:nvGraphicFramePr>
        <p:xfrm>
          <a:off x="216945" y="2503573"/>
          <a:ext cx="649896" cy="214498"/>
        </p:xfrm>
        <a:graphic>
          <a:graphicData uri="http://schemas.openxmlformats.org/presentationml/2006/ole">
            <mc:AlternateContent xmlns:mc="http://schemas.openxmlformats.org/markup-compatibility/2006">
              <mc:Choice xmlns:v="urn:schemas-microsoft-com:vml" Requires="v">
                <p:oleObj name="Equation" r:id="rId3" imgW="685800" imgH="228600" progId="Equation.DSMT4">
                  <p:embed/>
                </p:oleObj>
              </mc:Choice>
              <mc:Fallback>
                <p:oleObj name="Equation" r:id="rId3" imgW="685800" imgH="228600" progId="Equation.DSMT4">
                  <p:embed/>
                  <p:pic>
                    <p:nvPicPr>
                      <p:cNvPr id="15" name="Object 14" descr="v subscript a BaseLine equals negative 8 Volts.&#10;">
                        <a:extLst>
                          <a:ext uri="{FF2B5EF4-FFF2-40B4-BE49-F238E27FC236}">
                            <a16:creationId xmlns:a16="http://schemas.microsoft.com/office/drawing/2014/main" id="{E311161B-3B95-6583-82C1-E31C06F8CB3A}"/>
                          </a:ext>
                        </a:extLst>
                      </p:cNvPr>
                      <p:cNvPicPr>
                        <a:picLocks noChangeAspect="1" noChangeArrowheads="1"/>
                      </p:cNvPicPr>
                      <p:nvPr/>
                    </p:nvPicPr>
                    <p:blipFill>
                      <a:blip r:embed="rId4"/>
                      <a:srcRect/>
                      <a:stretch>
                        <a:fillRect/>
                      </a:stretch>
                    </p:blipFill>
                    <p:spPr bwMode="auto">
                      <a:xfrm>
                        <a:off x="216945" y="2503573"/>
                        <a:ext cx="649896" cy="214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descr="v subscript b BaseLine equals negative 2 Volts.&#10;">
            <a:extLst>
              <a:ext uri="{FF2B5EF4-FFF2-40B4-BE49-F238E27FC236}">
                <a16:creationId xmlns:a16="http://schemas.microsoft.com/office/drawing/2014/main" id="{D04DCE8D-CF29-AEDE-19AB-F296A33E405B}"/>
              </a:ext>
            </a:extLst>
          </p:cNvPr>
          <p:cNvGraphicFramePr>
            <a:graphicFrameLocks noChangeAspect="1"/>
          </p:cNvGraphicFramePr>
          <p:nvPr/>
        </p:nvGraphicFramePr>
        <p:xfrm>
          <a:off x="925692" y="2503573"/>
          <a:ext cx="661902" cy="214498"/>
        </p:xfrm>
        <a:graphic>
          <a:graphicData uri="http://schemas.openxmlformats.org/presentationml/2006/ole">
            <mc:AlternateContent xmlns:mc="http://schemas.openxmlformats.org/markup-compatibility/2006">
              <mc:Choice xmlns:v="urn:schemas-microsoft-com:vml" Requires="v">
                <p:oleObj name="Equation" r:id="rId5" imgW="698400" imgH="228600" progId="Equation.DSMT4">
                  <p:embed/>
                </p:oleObj>
              </mc:Choice>
              <mc:Fallback>
                <p:oleObj name="Equation" r:id="rId5" imgW="698400" imgH="228600" progId="Equation.DSMT4">
                  <p:embed/>
                  <p:pic>
                    <p:nvPicPr>
                      <p:cNvPr id="16" name="Object 15" descr="v subscript b BaseLine equals negative 2 Volts.&#10;">
                        <a:extLst>
                          <a:ext uri="{FF2B5EF4-FFF2-40B4-BE49-F238E27FC236}">
                            <a16:creationId xmlns:a16="http://schemas.microsoft.com/office/drawing/2014/main" id="{D04DCE8D-CF29-AEDE-19AB-F296A33E405B}"/>
                          </a:ext>
                        </a:extLst>
                      </p:cNvPr>
                      <p:cNvPicPr>
                        <a:picLocks noChangeAspect="1" noChangeArrowheads="1"/>
                      </p:cNvPicPr>
                      <p:nvPr/>
                    </p:nvPicPr>
                    <p:blipFill>
                      <a:blip r:embed="rId6"/>
                      <a:srcRect/>
                      <a:stretch>
                        <a:fillRect/>
                      </a:stretch>
                    </p:blipFill>
                    <p:spPr bwMode="auto">
                      <a:xfrm>
                        <a:off x="925692" y="2503573"/>
                        <a:ext cx="661902" cy="214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descr="v subscript c BaseLine equals 10 Volts.&#10;">
            <a:extLst>
              <a:ext uri="{FF2B5EF4-FFF2-40B4-BE49-F238E27FC236}">
                <a16:creationId xmlns:a16="http://schemas.microsoft.com/office/drawing/2014/main" id="{2AED32A6-0344-2052-16FC-2485F6389CC3}"/>
              </a:ext>
            </a:extLst>
          </p:cNvPr>
          <p:cNvGraphicFramePr>
            <a:graphicFrameLocks noChangeAspect="1"/>
          </p:cNvGraphicFramePr>
          <p:nvPr/>
        </p:nvGraphicFramePr>
        <p:xfrm>
          <a:off x="1646445" y="2503527"/>
          <a:ext cx="613079" cy="214498"/>
        </p:xfrm>
        <a:graphic>
          <a:graphicData uri="http://schemas.openxmlformats.org/presentationml/2006/ole">
            <mc:AlternateContent xmlns:mc="http://schemas.openxmlformats.org/markup-compatibility/2006">
              <mc:Choice xmlns:v="urn:schemas-microsoft-com:vml" Requires="v">
                <p:oleObj name="Equation" r:id="rId7" imgW="647640" imgH="228600" progId="Equation.DSMT4">
                  <p:embed/>
                </p:oleObj>
              </mc:Choice>
              <mc:Fallback>
                <p:oleObj name="Equation" r:id="rId7" imgW="647640" imgH="228600" progId="Equation.DSMT4">
                  <p:embed/>
                  <p:pic>
                    <p:nvPicPr>
                      <p:cNvPr id="17" name="Object 16" descr="v subscript c BaseLine equals 10 Volts.&#10;">
                        <a:extLst>
                          <a:ext uri="{FF2B5EF4-FFF2-40B4-BE49-F238E27FC236}">
                            <a16:creationId xmlns:a16="http://schemas.microsoft.com/office/drawing/2014/main" id="{2AED32A6-0344-2052-16FC-2485F6389CC3}"/>
                          </a:ext>
                        </a:extLst>
                      </p:cNvPr>
                      <p:cNvPicPr>
                        <a:picLocks noChangeAspect="1" noChangeArrowheads="1"/>
                      </p:cNvPicPr>
                      <p:nvPr/>
                    </p:nvPicPr>
                    <p:blipFill>
                      <a:blip r:embed="rId8"/>
                      <a:srcRect/>
                      <a:stretch>
                        <a:fillRect/>
                      </a:stretch>
                    </p:blipFill>
                    <p:spPr bwMode="auto">
                      <a:xfrm>
                        <a:off x="1646445" y="2503527"/>
                        <a:ext cx="613079" cy="214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descr="v subscript d BaseLine equals 10 Volts.&#10;">
            <a:extLst>
              <a:ext uri="{FF2B5EF4-FFF2-40B4-BE49-F238E27FC236}">
                <a16:creationId xmlns:a16="http://schemas.microsoft.com/office/drawing/2014/main" id="{D747DA31-65B2-5B52-D565-AA7FD6A16BC9}"/>
              </a:ext>
            </a:extLst>
          </p:cNvPr>
          <p:cNvGraphicFramePr>
            <a:graphicFrameLocks noChangeAspect="1"/>
          </p:cNvGraphicFramePr>
          <p:nvPr/>
        </p:nvGraphicFramePr>
        <p:xfrm>
          <a:off x="2318376" y="2503527"/>
          <a:ext cx="625084" cy="214498"/>
        </p:xfrm>
        <a:graphic>
          <a:graphicData uri="http://schemas.openxmlformats.org/presentationml/2006/ole">
            <mc:AlternateContent xmlns:mc="http://schemas.openxmlformats.org/markup-compatibility/2006">
              <mc:Choice xmlns:v="urn:schemas-microsoft-com:vml" Requires="v">
                <p:oleObj name="Equation" r:id="rId9" imgW="660240" imgH="228600" progId="Equation.DSMT4">
                  <p:embed/>
                </p:oleObj>
              </mc:Choice>
              <mc:Fallback>
                <p:oleObj name="Equation" r:id="rId9" imgW="660240" imgH="228600" progId="Equation.DSMT4">
                  <p:embed/>
                  <p:pic>
                    <p:nvPicPr>
                      <p:cNvPr id="18" name="Object 17" descr="v subscript d BaseLine equals 10 Volts.&#10;">
                        <a:extLst>
                          <a:ext uri="{FF2B5EF4-FFF2-40B4-BE49-F238E27FC236}">
                            <a16:creationId xmlns:a16="http://schemas.microsoft.com/office/drawing/2014/main" id="{D747DA31-65B2-5B52-D565-AA7FD6A16BC9}"/>
                          </a:ext>
                        </a:extLst>
                      </p:cNvPr>
                      <p:cNvPicPr>
                        <a:picLocks noChangeAspect="1" noChangeArrowheads="1"/>
                      </p:cNvPicPr>
                      <p:nvPr/>
                    </p:nvPicPr>
                    <p:blipFill>
                      <a:blip r:embed="rId10"/>
                      <a:srcRect/>
                      <a:stretch>
                        <a:fillRect/>
                      </a:stretch>
                    </p:blipFill>
                    <p:spPr bwMode="auto">
                      <a:xfrm>
                        <a:off x="2318376" y="2503527"/>
                        <a:ext cx="625084" cy="214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descr="v subscript e BaseLine equals negative 6 Volts.&#10;">
            <a:extLst>
              <a:ext uri="{FF2B5EF4-FFF2-40B4-BE49-F238E27FC236}">
                <a16:creationId xmlns:a16="http://schemas.microsoft.com/office/drawing/2014/main" id="{90D8D2C0-81BA-E42D-CCE0-BF06753A9EF4}"/>
              </a:ext>
            </a:extLst>
          </p:cNvPr>
          <p:cNvGraphicFramePr>
            <a:graphicFrameLocks noChangeAspect="1"/>
          </p:cNvGraphicFramePr>
          <p:nvPr/>
        </p:nvGraphicFramePr>
        <p:xfrm>
          <a:off x="3002311" y="2503527"/>
          <a:ext cx="637090" cy="214498"/>
        </p:xfrm>
        <a:graphic>
          <a:graphicData uri="http://schemas.openxmlformats.org/presentationml/2006/ole">
            <mc:AlternateContent xmlns:mc="http://schemas.openxmlformats.org/markup-compatibility/2006">
              <mc:Choice xmlns:v="urn:schemas-microsoft-com:vml" Requires="v">
                <p:oleObj name="Equation" r:id="rId11" imgW="672840" imgH="228600" progId="Equation.DSMT4">
                  <p:embed/>
                </p:oleObj>
              </mc:Choice>
              <mc:Fallback>
                <p:oleObj name="Equation" r:id="rId11" imgW="672840" imgH="228600" progId="Equation.DSMT4">
                  <p:embed/>
                  <p:pic>
                    <p:nvPicPr>
                      <p:cNvPr id="19" name="Object 18" descr="v subscript e BaseLine equals negative 6 Volts.&#10;">
                        <a:extLst>
                          <a:ext uri="{FF2B5EF4-FFF2-40B4-BE49-F238E27FC236}">
                            <a16:creationId xmlns:a16="http://schemas.microsoft.com/office/drawing/2014/main" id="{90D8D2C0-81BA-E42D-CCE0-BF06753A9EF4}"/>
                          </a:ext>
                        </a:extLst>
                      </p:cNvPr>
                      <p:cNvPicPr>
                        <a:picLocks noChangeAspect="1" noChangeArrowheads="1"/>
                      </p:cNvPicPr>
                      <p:nvPr/>
                    </p:nvPicPr>
                    <p:blipFill>
                      <a:blip r:embed="rId12"/>
                      <a:srcRect/>
                      <a:stretch>
                        <a:fillRect/>
                      </a:stretch>
                    </p:blipFill>
                    <p:spPr bwMode="auto">
                      <a:xfrm>
                        <a:off x="3002311" y="2503527"/>
                        <a:ext cx="637090" cy="214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descr="v subscript f BaseLine equals negative 4 V.&#10;">
            <a:extLst>
              <a:ext uri="{FF2B5EF4-FFF2-40B4-BE49-F238E27FC236}">
                <a16:creationId xmlns:a16="http://schemas.microsoft.com/office/drawing/2014/main" id="{3C99E69E-DEAE-8E3C-F306-7EA9114F1E92}"/>
              </a:ext>
            </a:extLst>
          </p:cNvPr>
          <p:cNvGraphicFramePr>
            <a:graphicFrameLocks noChangeAspect="1"/>
          </p:cNvGraphicFramePr>
          <p:nvPr/>
        </p:nvGraphicFramePr>
        <p:xfrm>
          <a:off x="3698252" y="2503527"/>
          <a:ext cx="625085" cy="214498"/>
        </p:xfrm>
        <a:graphic>
          <a:graphicData uri="http://schemas.openxmlformats.org/presentationml/2006/ole">
            <mc:AlternateContent xmlns:mc="http://schemas.openxmlformats.org/markup-compatibility/2006">
              <mc:Choice xmlns:v="urn:schemas-microsoft-com:vml" Requires="v">
                <p:oleObj name="Equation" r:id="rId13" imgW="660240" imgH="228600" progId="Equation.DSMT4">
                  <p:embed/>
                </p:oleObj>
              </mc:Choice>
              <mc:Fallback>
                <p:oleObj name="Equation" r:id="rId13" imgW="660240" imgH="228600" progId="Equation.DSMT4">
                  <p:embed/>
                  <p:pic>
                    <p:nvPicPr>
                      <p:cNvPr id="20" name="Object 19" descr="v subscript f BaseLine equals negative 4 V.&#10;">
                        <a:extLst>
                          <a:ext uri="{FF2B5EF4-FFF2-40B4-BE49-F238E27FC236}">
                            <a16:creationId xmlns:a16="http://schemas.microsoft.com/office/drawing/2014/main" id="{3C99E69E-DEAE-8E3C-F306-7EA9114F1E92}"/>
                          </a:ext>
                        </a:extLst>
                      </p:cNvPr>
                      <p:cNvPicPr>
                        <a:picLocks noChangeAspect="1" noChangeArrowheads="1"/>
                      </p:cNvPicPr>
                      <p:nvPr/>
                    </p:nvPicPr>
                    <p:blipFill>
                      <a:blip r:embed="rId14"/>
                      <a:srcRect/>
                      <a:stretch>
                        <a:fillRect/>
                      </a:stretch>
                    </p:blipFill>
                    <p:spPr bwMode="auto">
                      <a:xfrm>
                        <a:off x="3698252" y="2503527"/>
                        <a:ext cx="625085" cy="214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0" descr="i subscript a BaseLine equals 7 Amperes.&#10;">
            <a:extLst>
              <a:ext uri="{FF2B5EF4-FFF2-40B4-BE49-F238E27FC236}">
                <a16:creationId xmlns:a16="http://schemas.microsoft.com/office/drawing/2014/main" id="{881D67AD-6EB2-1C9B-B9CF-A0A75A5D5CA5}"/>
              </a:ext>
            </a:extLst>
          </p:cNvPr>
          <p:cNvGraphicFramePr>
            <a:graphicFrameLocks noChangeAspect="1"/>
          </p:cNvGraphicFramePr>
          <p:nvPr/>
        </p:nvGraphicFramePr>
        <p:xfrm>
          <a:off x="248584" y="2794860"/>
          <a:ext cx="529841" cy="214498"/>
        </p:xfrm>
        <a:graphic>
          <a:graphicData uri="http://schemas.openxmlformats.org/presentationml/2006/ole">
            <mc:AlternateContent xmlns:mc="http://schemas.openxmlformats.org/markup-compatibility/2006">
              <mc:Choice xmlns:v="urn:schemas-microsoft-com:vml" Requires="v">
                <p:oleObj name="Equation" r:id="rId15" imgW="558720" imgH="228600" progId="Equation.DSMT4">
                  <p:embed/>
                </p:oleObj>
              </mc:Choice>
              <mc:Fallback>
                <p:oleObj name="Equation" r:id="rId15" imgW="558720" imgH="228600" progId="Equation.DSMT4">
                  <p:embed/>
                  <p:pic>
                    <p:nvPicPr>
                      <p:cNvPr id="21" name="Object 20" descr="i subscript a BaseLine equals 7 Amperes.&#10;">
                        <a:extLst>
                          <a:ext uri="{FF2B5EF4-FFF2-40B4-BE49-F238E27FC236}">
                            <a16:creationId xmlns:a16="http://schemas.microsoft.com/office/drawing/2014/main" id="{881D67AD-6EB2-1C9B-B9CF-A0A75A5D5CA5}"/>
                          </a:ext>
                        </a:extLst>
                      </p:cNvPr>
                      <p:cNvPicPr>
                        <a:picLocks noChangeAspect="1" noChangeArrowheads="1"/>
                      </p:cNvPicPr>
                      <p:nvPr/>
                    </p:nvPicPr>
                    <p:blipFill>
                      <a:blip r:embed="rId16"/>
                      <a:srcRect/>
                      <a:stretch>
                        <a:fillRect/>
                      </a:stretch>
                    </p:blipFill>
                    <p:spPr bwMode="auto">
                      <a:xfrm>
                        <a:off x="248584" y="2794860"/>
                        <a:ext cx="529841" cy="214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3" descr="i subscript b BaseLine equals negative 7 Amperes.&#10;">
            <a:extLst>
              <a:ext uri="{FF2B5EF4-FFF2-40B4-BE49-F238E27FC236}">
                <a16:creationId xmlns:a16="http://schemas.microsoft.com/office/drawing/2014/main" id="{B7CE036A-1086-C520-8D5E-1FC53D7E2955}"/>
              </a:ext>
            </a:extLst>
          </p:cNvPr>
          <p:cNvGraphicFramePr>
            <a:graphicFrameLocks noChangeAspect="1"/>
          </p:cNvGraphicFramePr>
          <p:nvPr/>
        </p:nvGraphicFramePr>
        <p:xfrm>
          <a:off x="957331" y="2784455"/>
          <a:ext cx="638691" cy="214498"/>
        </p:xfrm>
        <a:graphic>
          <a:graphicData uri="http://schemas.openxmlformats.org/presentationml/2006/ole">
            <mc:AlternateContent xmlns:mc="http://schemas.openxmlformats.org/markup-compatibility/2006">
              <mc:Choice xmlns:v="urn:schemas-microsoft-com:vml" Requires="v">
                <p:oleObj name="Equation" r:id="rId17" imgW="672840" imgH="228600" progId="Equation.DSMT4">
                  <p:embed/>
                </p:oleObj>
              </mc:Choice>
              <mc:Fallback>
                <p:oleObj name="Equation" r:id="rId17" imgW="672840" imgH="228600" progId="Equation.DSMT4">
                  <p:embed/>
                  <p:pic>
                    <p:nvPicPr>
                      <p:cNvPr id="24" name="Object 23" descr="i subscript b BaseLine equals negative 7 Amperes.&#10;">
                        <a:extLst>
                          <a:ext uri="{FF2B5EF4-FFF2-40B4-BE49-F238E27FC236}">
                            <a16:creationId xmlns:a16="http://schemas.microsoft.com/office/drawing/2014/main" id="{B7CE036A-1086-C520-8D5E-1FC53D7E2955}"/>
                          </a:ext>
                        </a:extLst>
                      </p:cNvPr>
                      <p:cNvPicPr>
                        <a:picLocks noChangeAspect="1" noChangeArrowheads="1"/>
                      </p:cNvPicPr>
                      <p:nvPr/>
                    </p:nvPicPr>
                    <p:blipFill>
                      <a:blip r:embed="rId18"/>
                      <a:srcRect/>
                      <a:stretch>
                        <a:fillRect/>
                      </a:stretch>
                    </p:blipFill>
                    <p:spPr bwMode="auto">
                      <a:xfrm>
                        <a:off x="957331" y="2784455"/>
                        <a:ext cx="638691" cy="214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4" descr="i subscript c BaseLine equals 15 Amperes.&#10;">
            <a:extLst>
              <a:ext uri="{FF2B5EF4-FFF2-40B4-BE49-F238E27FC236}">
                <a16:creationId xmlns:a16="http://schemas.microsoft.com/office/drawing/2014/main" id="{1B114A0B-2C0A-617F-4B96-55368D00452F}"/>
              </a:ext>
            </a:extLst>
          </p:cNvPr>
          <p:cNvGraphicFramePr>
            <a:graphicFrameLocks noChangeAspect="1"/>
          </p:cNvGraphicFramePr>
          <p:nvPr/>
        </p:nvGraphicFramePr>
        <p:xfrm>
          <a:off x="1678084" y="2796984"/>
          <a:ext cx="596707" cy="212374"/>
        </p:xfrm>
        <a:graphic>
          <a:graphicData uri="http://schemas.openxmlformats.org/presentationml/2006/ole">
            <mc:AlternateContent xmlns:mc="http://schemas.openxmlformats.org/markup-compatibility/2006">
              <mc:Choice xmlns:v="urn:schemas-microsoft-com:vml" Requires="v">
                <p:oleObj name="Equation" r:id="rId19" imgW="634680" imgH="228600" progId="Equation.DSMT4">
                  <p:embed/>
                </p:oleObj>
              </mc:Choice>
              <mc:Fallback>
                <p:oleObj name="Equation" r:id="rId19" imgW="634680" imgH="228600" progId="Equation.DSMT4">
                  <p:embed/>
                  <p:pic>
                    <p:nvPicPr>
                      <p:cNvPr id="25" name="Object 24" descr="i subscript c BaseLine equals 15 Amperes.&#10;">
                        <a:extLst>
                          <a:ext uri="{FF2B5EF4-FFF2-40B4-BE49-F238E27FC236}">
                            <a16:creationId xmlns:a16="http://schemas.microsoft.com/office/drawing/2014/main" id="{1B114A0B-2C0A-617F-4B96-55368D00452F}"/>
                          </a:ext>
                        </a:extLst>
                      </p:cNvPr>
                      <p:cNvPicPr>
                        <a:picLocks noChangeAspect="1" noChangeArrowheads="1"/>
                      </p:cNvPicPr>
                      <p:nvPr/>
                    </p:nvPicPr>
                    <p:blipFill>
                      <a:blip r:embed="rId20"/>
                      <a:srcRect/>
                      <a:stretch>
                        <a:fillRect/>
                      </a:stretch>
                    </p:blipFill>
                    <p:spPr bwMode="auto">
                      <a:xfrm>
                        <a:off x="1678084" y="2796984"/>
                        <a:ext cx="596707" cy="2123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8" descr="i subscript d BaseLine equals 5 Amperes.&#10;">
            <a:extLst>
              <a:ext uri="{FF2B5EF4-FFF2-40B4-BE49-F238E27FC236}">
                <a16:creationId xmlns:a16="http://schemas.microsoft.com/office/drawing/2014/main" id="{9B7410E5-3262-783F-8EB4-6A50B03F3BF3}"/>
              </a:ext>
            </a:extLst>
          </p:cNvPr>
          <p:cNvGraphicFramePr>
            <a:graphicFrameLocks noChangeAspect="1"/>
          </p:cNvGraphicFramePr>
          <p:nvPr/>
        </p:nvGraphicFramePr>
        <p:xfrm>
          <a:off x="2353826" y="2797262"/>
          <a:ext cx="536244" cy="212096"/>
        </p:xfrm>
        <a:graphic>
          <a:graphicData uri="http://schemas.openxmlformats.org/presentationml/2006/ole">
            <mc:AlternateContent xmlns:mc="http://schemas.openxmlformats.org/markup-compatibility/2006">
              <mc:Choice xmlns:v="urn:schemas-microsoft-com:vml" Requires="v">
                <p:oleObj name="Equation" r:id="rId21" imgW="571320" imgH="228600" progId="Equation.DSMT4">
                  <p:embed/>
                </p:oleObj>
              </mc:Choice>
              <mc:Fallback>
                <p:oleObj name="Equation" r:id="rId21" imgW="571320" imgH="228600" progId="Equation.DSMT4">
                  <p:embed/>
                  <p:pic>
                    <p:nvPicPr>
                      <p:cNvPr id="29" name="Object 28" descr="i subscript d BaseLine equals 5 Amperes.&#10;">
                        <a:extLst>
                          <a:ext uri="{FF2B5EF4-FFF2-40B4-BE49-F238E27FC236}">
                            <a16:creationId xmlns:a16="http://schemas.microsoft.com/office/drawing/2014/main" id="{9B7410E5-3262-783F-8EB4-6A50B03F3BF3}"/>
                          </a:ext>
                        </a:extLst>
                      </p:cNvPr>
                      <p:cNvPicPr>
                        <a:picLocks noChangeAspect="1" noChangeArrowheads="1"/>
                      </p:cNvPicPr>
                      <p:nvPr/>
                    </p:nvPicPr>
                    <p:blipFill>
                      <a:blip r:embed="rId22"/>
                      <a:srcRect/>
                      <a:stretch>
                        <a:fillRect/>
                      </a:stretch>
                    </p:blipFill>
                    <p:spPr bwMode="auto">
                      <a:xfrm>
                        <a:off x="2353826" y="2797262"/>
                        <a:ext cx="536244" cy="2120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29" descr="i subscript e BaseLine equals 3 Amperes.&#10;">
            <a:extLst>
              <a:ext uri="{FF2B5EF4-FFF2-40B4-BE49-F238E27FC236}">
                <a16:creationId xmlns:a16="http://schemas.microsoft.com/office/drawing/2014/main" id="{9590EA52-8E65-4E09-9F42-CA8C91456E36}"/>
              </a:ext>
            </a:extLst>
          </p:cNvPr>
          <p:cNvGraphicFramePr>
            <a:graphicFrameLocks noChangeAspect="1"/>
          </p:cNvGraphicFramePr>
          <p:nvPr/>
        </p:nvGraphicFramePr>
        <p:xfrm>
          <a:off x="3036679" y="2786857"/>
          <a:ext cx="524239" cy="212096"/>
        </p:xfrm>
        <a:graphic>
          <a:graphicData uri="http://schemas.openxmlformats.org/presentationml/2006/ole">
            <mc:AlternateContent xmlns:mc="http://schemas.openxmlformats.org/markup-compatibility/2006">
              <mc:Choice xmlns:v="urn:schemas-microsoft-com:vml" Requires="v">
                <p:oleObj name="Equation" r:id="rId23" imgW="558720" imgH="228600" progId="Equation.DSMT4">
                  <p:embed/>
                </p:oleObj>
              </mc:Choice>
              <mc:Fallback>
                <p:oleObj name="Equation" r:id="rId23" imgW="558720" imgH="228600" progId="Equation.DSMT4">
                  <p:embed/>
                  <p:pic>
                    <p:nvPicPr>
                      <p:cNvPr id="30" name="Object 29" descr="i subscript e BaseLine equals 3 Amperes.&#10;">
                        <a:extLst>
                          <a:ext uri="{FF2B5EF4-FFF2-40B4-BE49-F238E27FC236}">
                            <a16:creationId xmlns:a16="http://schemas.microsoft.com/office/drawing/2014/main" id="{9590EA52-8E65-4E09-9F42-CA8C91456E36}"/>
                          </a:ext>
                        </a:extLst>
                      </p:cNvPr>
                      <p:cNvPicPr>
                        <a:picLocks noChangeAspect="1" noChangeArrowheads="1"/>
                      </p:cNvPicPr>
                      <p:nvPr/>
                    </p:nvPicPr>
                    <p:blipFill>
                      <a:blip r:embed="rId24"/>
                      <a:srcRect/>
                      <a:stretch>
                        <a:fillRect/>
                      </a:stretch>
                    </p:blipFill>
                    <p:spPr bwMode="auto">
                      <a:xfrm>
                        <a:off x="3036679" y="2786857"/>
                        <a:ext cx="524239" cy="2120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30" descr="i subscript f BaseLine equals 3 Amperes.&#10;">
            <a:extLst>
              <a:ext uri="{FF2B5EF4-FFF2-40B4-BE49-F238E27FC236}">
                <a16:creationId xmlns:a16="http://schemas.microsoft.com/office/drawing/2014/main" id="{E962182C-E48A-E76D-9AC8-3772E8E7DB26}"/>
              </a:ext>
            </a:extLst>
          </p:cNvPr>
          <p:cNvGraphicFramePr>
            <a:graphicFrameLocks noChangeAspect="1"/>
          </p:cNvGraphicFramePr>
          <p:nvPr/>
        </p:nvGraphicFramePr>
        <p:xfrm>
          <a:off x="3732466" y="2797262"/>
          <a:ext cx="512233" cy="212096"/>
        </p:xfrm>
        <a:graphic>
          <a:graphicData uri="http://schemas.openxmlformats.org/presentationml/2006/ole">
            <mc:AlternateContent xmlns:mc="http://schemas.openxmlformats.org/markup-compatibility/2006">
              <mc:Choice xmlns:v="urn:schemas-microsoft-com:vml" Requires="v">
                <p:oleObj name="Equation" r:id="rId25" imgW="545760" imgH="228600" progId="Equation.DSMT4">
                  <p:embed/>
                </p:oleObj>
              </mc:Choice>
              <mc:Fallback>
                <p:oleObj name="Equation" r:id="rId25" imgW="545760" imgH="228600" progId="Equation.DSMT4">
                  <p:embed/>
                  <p:pic>
                    <p:nvPicPr>
                      <p:cNvPr id="31" name="Object 30" descr="i subscript f BaseLine equals 3 Amperes.&#10;">
                        <a:extLst>
                          <a:ext uri="{FF2B5EF4-FFF2-40B4-BE49-F238E27FC236}">
                            <a16:creationId xmlns:a16="http://schemas.microsoft.com/office/drawing/2014/main" id="{E962182C-E48A-E76D-9AC8-3772E8E7DB26}"/>
                          </a:ext>
                        </a:extLst>
                      </p:cNvPr>
                      <p:cNvPicPr>
                        <a:picLocks noChangeAspect="1" noChangeArrowheads="1"/>
                      </p:cNvPicPr>
                      <p:nvPr/>
                    </p:nvPicPr>
                    <p:blipFill>
                      <a:blip r:embed="rId26"/>
                      <a:srcRect/>
                      <a:stretch>
                        <a:fillRect/>
                      </a:stretch>
                    </p:blipFill>
                    <p:spPr bwMode="auto">
                      <a:xfrm>
                        <a:off x="3732466" y="2797262"/>
                        <a:ext cx="512233" cy="2120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374721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64B88-C75D-10D3-AD14-1FE9614D3342}"/>
              </a:ext>
            </a:extLst>
          </p:cNvPr>
          <p:cNvSpPr>
            <a:spLocks noGrp="1"/>
          </p:cNvSpPr>
          <p:nvPr>
            <p:ph type="title"/>
          </p:nvPr>
        </p:nvSpPr>
        <p:spPr>
          <a:xfrm>
            <a:off x="216945" y="109846"/>
            <a:ext cx="4154646" cy="297634"/>
          </a:xfrm>
        </p:spPr>
        <p:txBody>
          <a:bodyPr wrap="square" lIns="0" tIns="9075" rIns="0" bIns="9075" anchor="ctr" anchorCtr="0">
            <a:spAutoFit/>
          </a:bodyPr>
          <a:lstStyle/>
          <a:p>
            <a:r>
              <a:rPr lang="en-US" dirty="0"/>
              <a:t>Chapter 1 – Circuit Variables </a:t>
            </a:r>
            <a:r>
              <a:rPr lang="en-US" sz="1412" dirty="0"/>
              <a:t>(20 of 21)</a:t>
            </a:r>
            <a:endParaRPr lang="en-US" noProof="0" dirty="0"/>
          </a:p>
        </p:txBody>
      </p:sp>
      <p:pic>
        <p:nvPicPr>
          <p:cNvPr id="5" name="Picture 4" descr="A circuit connection shows circuit element represented as block boxes a and b connected in series which is also connected to the block box c in series, while block box d is connected in parallel with the series combination of block c and block a and b. Block box d is connected in series with block box e which is further connected in series with block box f. A current i subscript a is flowing in through block box a shown by an arrow and a voltage source V subscript a is placed below the block box. A current i subscript b is flowing in through block box b shown by an arrow and a voltage source V subscript b is placed below the block box. A current i subscript c is flowing in the downward direction through block box c shown by a downward arrow and a voltage source V subscript c is placed across the block box c.  A current i subscript d is flowing in the upward direction through block box d shown by an upward arrow and a voltage source V subscript d is placed across the block box d.  A current i subscript e is flowing towards block box e shown by an arrow and a voltage source V subscript e is placed below the block box e.  A current i subscript f is flowing towards block box f shown by an arrow and a voltage source V subscript e is placed below the block box e. ">
            <a:extLst>
              <a:ext uri="{FF2B5EF4-FFF2-40B4-BE49-F238E27FC236}">
                <a16:creationId xmlns:a16="http://schemas.microsoft.com/office/drawing/2014/main" id="{46DBFAF4-F925-D5CB-571B-844FE8E2C823}"/>
              </a:ext>
            </a:extLst>
          </p:cNvPr>
          <p:cNvPicPr>
            <a:picLocks noChangeAspect="1"/>
          </p:cNvPicPr>
          <p:nvPr/>
        </p:nvPicPr>
        <p:blipFill>
          <a:blip r:embed="rId2"/>
          <a:stretch>
            <a:fillRect/>
          </a:stretch>
        </p:blipFill>
        <p:spPr>
          <a:xfrm>
            <a:off x="1373418" y="540179"/>
            <a:ext cx="1871902" cy="1048446"/>
          </a:xfrm>
          <a:prstGeom prst="rect">
            <a:avLst/>
          </a:prstGeom>
        </p:spPr>
      </p:pic>
      <p:pic>
        <p:nvPicPr>
          <p:cNvPr id="7" name="Picture 6" descr="A table illustrates various values of voltage in volts, current in ampere, sign convention, equation, power in watt and supply and absorb for various components. &#10;Component a has voltage of negative 8 volts, current of 7 amps, positive sign convention, equation of (negative 8)(7), power of negative 56 watts and is a supply.&#10;Component b has voltage of negative 2 volts, current of negative 7 amps, negative sign convention, equation of negative (negative 2)(negative 7), power of negative 14 watts and is a supply.&#10;Component c has voltage of 10 volts, current of 15 amps, positive sign convention, equation of (10)(15), power of 150 watts and is a absorb.&#10;Component d has voltage of 10 volts, current of 5 amps, negative sign convention, equation of (negative 10)(5), power of negative 50 watts and is a supply.&#10;Component e has voltage of negative 6 volts, current of 3 amps, positive sign convention, equation of (negative6)(3), power of negative 18 watts and is a supply.&#10;Component f has voltage of negative 4 volts, current of 3 amps, positive sign convention, equation of (negative 4)(3), power of negative 12 watts and is a supply.&#10;And the total of power column is labeled as 0.">
            <a:extLst>
              <a:ext uri="{FF2B5EF4-FFF2-40B4-BE49-F238E27FC236}">
                <a16:creationId xmlns:a16="http://schemas.microsoft.com/office/drawing/2014/main" id="{20AC26B5-6605-7F5D-2B80-1BB5C3C2CCE2}"/>
              </a:ext>
            </a:extLst>
          </p:cNvPr>
          <p:cNvPicPr>
            <a:picLocks noChangeAspect="1"/>
          </p:cNvPicPr>
          <p:nvPr/>
        </p:nvPicPr>
        <p:blipFill>
          <a:blip r:embed="rId3"/>
          <a:stretch>
            <a:fillRect/>
          </a:stretch>
        </p:blipFill>
        <p:spPr>
          <a:xfrm>
            <a:off x="738305" y="1687707"/>
            <a:ext cx="3142528" cy="1500909"/>
          </a:xfrm>
          <a:prstGeom prst="rect">
            <a:avLst/>
          </a:prstGeom>
        </p:spPr>
      </p:pic>
    </p:spTree>
    <p:extLst>
      <p:ext uri="{BB962C8B-B14F-4D97-AF65-F5344CB8AC3E}">
        <p14:creationId xmlns:p14="http://schemas.microsoft.com/office/powerpoint/2010/main" val="207115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1349</TotalTime>
  <Words>1197</Words>
  <Application>Microsoft Macintosh PowerPoint</Application>
  <PresentationFormat>Custom</PresentationFormat>
  <Paragraphs>215</Paragraphs>
  <Slides>57</Slides>
  <Notes>36</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62" baseType="lpstr">
      <vt:lpstr>Arial</vt:lpstr>
      <vt:lpstr>Calibri</vt:lpstr>
      <vt:lpstr>Times New Roman</vt:lpstr>
      <vt:lpstr>Office Theme</vt:lpstr>
      <vt:lpstr>Equation</vt:lpstr>
      <vt:lpstr>PowerPoint Presentation</vt:lpstr>
      <vt:lpstr>Preliminaries</vt:lpstr>
      <vt:lpstr>Preliminaries </vt:lpstr>
      <vt:lpstr>Recommended textbook</vt:lpstr>
      <vt:lpstr>Syllabus</vt:lpstr>
      <vt:lpstr>Electric Circuits Applications – Communication Systems</vt:lpstr>
      <vt:lpstr>Electric Circuits Applications – Computing Systems</vt:lpstr>
      <vt:lpstr>Electric Circuits Applications – Signal Processing Systems</vt:lpstr>
      <vt:lpstr>Chapter 1 – Circuit Variables (3 of 21)</vt:lpstr>
      <vt:lpstr>Chapter 1 – Circuit Variables (2 of 21)</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Basic Principles</vt:lpstr>
      <vt:lpstr>Chapter 1 – Circuit Variables (4 of 21)</vt:lpstr>
      <vt:lpstr>Chapter 1 – Circuit Variables (5 of 21)</vt:lpstr>
      <vt:lpstr>Chapter 1 – Circuit Variables (6 of 21)</vt:lpstr>
      <vt:lpstr>Chapter 1 – Circuit Variables (7 of 21)</vt:lpstr>
      <vt:lpstr>Chapter 1 – Circuit Variables (8 of 21)</vt:lpstr>
      <vt:lpstr>Chapter 1 – Circuit Variables (9 of 21)</vt:lpstr>
      <vt:lpstr>Chapter 1 – Circuit Variables (10 of 21)</vt:lpstr>
      <vt:lpstr>Chapter 1 – Circuit Variables (11 of 21)</vt:lpstr>
      <vt:lpstr>Chapter 1 – Circuit Variables (12 of 21)</vt:lpstr>
      <vt:lpstr>Chapter 1 – Circuit Variables (13 of 21)</vt:lpstr>
      <vt:lpstr>Chapter 1 – Circuit Variables (14 of 21)</vt:lpstr>
      <vt:lpstr>Chapter 1 – Circuit Variables (16 of 21)</vt:lpstr>
      <vt:lpstr>Chapter 1 – Circuit Variables (17 of 21)</vt:lpstr>
      <vt:lpstr>Chapter 1 – Circuit Variables (19 of 21)</vt:lpstr>
      <vt:lpstr>Chapter 1 – Circuit Variables (20 of 21)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34111 — Artificial Intelligence and Games</dc:title>
  <dc:subject>Game theory</dc:subject>
  <dc:creator>Jonathan Shapiro</dc:creator>
  <cp:keywords>reinforcement learning</cp:keywords>
  <cp:lastModifiedBy>Kamil Erdayandi</cp:lastModifiedBy>
  <cp:revision>254</cp:revision>
  <dcterms:created xsi:type="dcterms:W3CDTF">2025-02-16T13:35:32Z</dcterms:created>
  <dcterms:modified xsi:type="dcterms:W3CDTF">2025-09-27T13:12:53Z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2021-09-29T00:00:00Z</vt:filetime>
  </property>
  <property fmtid="{D5CDD505-2E9C-101B-9397-08002B2CF9AE}" pid="3" name="Creator">
    <vt:lpwstr>LaTeX with Beamer class</vt:lpwstr>
  </property>
  <property fmtid="{D5CDD505-2E9C-101B-9397-08002B2CF9AE}" pid="4" name="LastSaved">
    <vt:filetime>2025-02-16T00:00:00Z</vt:filetime>
  </property>
  <property fmtid="{D5CDD505-2E9C-101B-9397-08002B2CF9AE}" pid="5" name="PTEX.Fullbanner">
    <vt:lpwstr>This is pdfTeX, Version 3.14159265-2.6-1.40.21 (TeX Live 2020) kpathsea version 6.3.2</vt:lpwstr>
  </property>
  <property fmtid="{D5CDD505-2E9C-101B-9397-08002B2CF9AE}" pid="6" name="Producer">
    <vt:lpwstr>pdfTeX-1.40.21</vt:lpwstr>
  </property>
</Properties>
</file>