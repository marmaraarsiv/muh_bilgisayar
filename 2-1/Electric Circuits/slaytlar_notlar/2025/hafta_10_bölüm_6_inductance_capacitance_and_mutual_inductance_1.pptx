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3"/>
  </p:notesMasterIdLst>
  <p:handoutMasterIdLst>
    <p:handoutMasterId r:id="rId24"/>
  </p:handoutMasterIdLst>
  <p:sldIdLst>
    <p:sldId id="330" r:id="rId3"/>
    <p:sldId id="718" r:id="rId4"/>
    <p:sldId id="745" r:id="rId5"/>
    <p:sldId id="746" r:id="rId6"/>
    <p:sldId id="764" r:id="rId7"/>
    <p:sldId id="747" r:id="rId8"/>
    <p:sldId id="765" r:id="rId9"/>
    <p:sldId id="750" r:id="rId10"/>
    <p:sldId id="762" r:id="rId11"/>
    <p:sldId id="752" r:id="rId12"/>
    <p:sldId id="753" r:id="rId13"/>
    <p:sldId id="754" r:id="rId14"/>
    <p:sldId id="755" r:id="rId15"/>
    <p:sldId id="756" r:id="rId16"/>
    <p:sldId id="763" r:id="rId17"/>
    <p:sldId id="758" r:id="rId18"/>
    <p:sldId id="759" r:id="rId19"/>
    <p:sldId id="760" r:id="rId20"/>
    <p:sldId id="761" r:id="rId21"/>
    <p:sldId id="717" r:id="rId22"/>
  </p:sldIdLst>
  <p:sldSz cx="9144000" cy="6858000" type="screen4x3"/>
  <p:notesSz cx="6858000" cy="9144000"/>
  <p:embeddedFontLst>
    <p:embeddedFont>
      <p:font typeface="Verdana" panose="020B060403050404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1139" userDrawn="1">
          <p15:clr>
            <a:srgbClr val="A4A3A4"/>
          </p15:clr>
        </p15:guide>
        <p15:guide id="4" pos="2880" userDrawn="1">
          <p15:clr>
            <a:srgbClr val="A4A3A4"/>
          </p15:clr>
        </p15:guide>
        <p15:guide id="5" pos="5465" userDrawn="1">
          <p15:clr>
            <a:srgbClr val="A4A3A4"/>
          </p15:clr>
        </p15:guide>
        <p15:guide id="6" orient="horz" pos="4042" userDrawn="1">
          <p15:clr>
            <a:srgbClr val="A4A3A4"/>
          </p15:clr>
        </p15:guide>
        <p15:guide id="7" orient="horz" pos="2137" userDrawn="1">
          <p15:clr>
            <a:srgbClr val="A4A3A4"/>
          </p15:clr>
        </p15:guide>
        <p15:guide id="8"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87" autoAdjust="0"/>
    <p:restoredTop sz="96374" autoAdjust="0"/>
  </p:normalViewPr>
  <p:slideViewPr>
    <p:cSldViewPr snapToGrid="0" snapToObjects="1">
      <p:cViewPr varScale="1">
        <p:scale>
          <a:sx n="107" d="100"/>
          <a:sy n="107" d="100"/>
        </p:scale>
        <p:origin x="1524" y="102"/>
      </p:cViewPr>
      <p:guideLst>
        <p:guide orient="horz" pos="427"/>
        <p:guide pos="264"/>
        <p:guide orient="horz" pos="1139"/>
        <p:guide pos="2880"/>
        <p:guide pos="5465"/>
        <p:guide orient="horz" pos="4042"/>
        <p:guide orient="horz" pos="2137"/>
        <p:guide orient="horz" pos="822"/>
      </p:guideLst>
    </p:cSldViewPr>
  </p:slideViewPr>
  <p:outlineViewPr>
    <p:cViewPr>
      <p:scale>
        <a:sx n="33" d="100"/>
        <a:sy n="33" d="100"/>
      </p:scale>
      <p:origin x="0" y="-766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99419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Long Description:</a:t>
            </a:r>
          </a:p>
          <a:p>
            <a:r>
              <a:rPr lang="en-US" dirty="0"/>
              <a:t>equals Open Parenthesis 0.004 Close Parenthesis Open </a:t>
            </a:r>
            <a:r>
              <a:rPr lang="en-US" dirty="0" err="1"/>
              <a:t>SquareBracket</a:t>
            </a:r>
            <a:r>
              <a:rPr lang="en-US" dirty="0"/>
              <a:t> Open Parenthesis negative 300 Close Parenthesis 8 e to the negative 300 t power minus Open Parenthesis negative 1200 Close Parenthesis 8 e to the negative 1200 t power Close </a:t>
            </a:r>
            <a:r>
              <a:rPr lang="en-US" dirty="0" err="1"/>
              <a:t>SquareBracket</a:t>
            </a:r>
            <a:r>
              <a:rPr lang="en-US" dirty="0"/>
              <a: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1582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Long Description 1:</a:t>
            </a:r>
          </a:p>
          <a:p>
            <a:r>
              <a:rPr lang="en-IN" dirty="0" err="1"/>
              <a:t>i</a:t>
            </a:r>
            <a:r>
              <a:rPr lang="en-IN" dirty="0"/>
              <a:t> subscript 1 Base Line equals Start Fraction 1 over L subscript 1 End Fraction Integral from t subscript 0 Base Line to t of v d Tau plus </a:t>
            </a:r>
            <a:r>
              <a:rPr lang="en-IN" dirty="0" err="1"/>
              <a:t>i</a:t>
            </a:r>
            <a:r>
              <a:rPr lang="en-IN" dirty="0"/>
              <a:t> subscript 1 Base Line Open Parenthesis t subscript 0 Close Parenthesis, </a:t>
            </a:r>
            <a:r>
              <a:rPr lang="en-IN" dirty="0" err="1"/>
              <a:t>i</a:t>
            </a:r>
            <a:r>
              <a:rPr lang="en-IN" dirty="0"/>
              <a:t> subscript 2 Base Line equals Start Fraction 1 over L subscript 2 End Fraction Integral from t subscript 0 Base Line to t of v d Tau plus </a:t>
            </a:r>
            <a:r>
              <a:rPr lang="en-IN" dirty="0" err="1"/>
              <a:t>i</a:t>
            </a:r>
            <a:r>
              <a:rPr lang="en-IN" dirty="0"/>
              <a:t> subscript 2 Base Line Open Parenthesis t subscript 0 Close Parenthesis, </a:t>
            </a:r>
            <a:r>
              <a:rPr lang="en-IN" dirty="0" err="1"/>
              <a:t>i</a:t>
            </a:r>
            <a:r>
              <a:rPr lang="en-IN" dirty="0"/>
              <a:t> subscript 3 Base Line equals Start Fraction 1 over L subscript 3 End Fraction Integral from t subscript 0 Base Line to t of v d Tau plus </a:t>
            </a:r>
            <a:r>
              <a:rPr lang="en-IN" dirty="0" err="1"/>
              <a:t>i</a:t>
            </a:r>
            <a:r>
              <a:rPr lang="en-IN" dirty="0"/>
              <a:t> subscript 3 Base Line Open Parenthesis t subscript 0 Close Parenthesis.</a:t>
            </a:r>
          </a:p>
          <a:p>
            <a:endParaRPr lang="en-IN" dirty="0"/>
          </a:p>
          <a:p>
            <a:r>
              <a:rPr lang="en-IN" dirty="0"/>
              <a:t>Long Description 2:</a:t>
            </a:r>
          </a:p>
          <a:p>
            <a:r>
              <a:rPr lang="en-IN" dirty="0" err="1"/>
              <a:t>i</a:t>
            </a:r>
            <a:r>
              <a:rPr lang="en-IN" dirty="0"/>
              <a:t> equals Open Parenthesis Start Fraction 1 over L subscript 1 End Fraction plus Start Fraction 1 over L subscript 2 End Fraction plus Start Fraction 1 over L subscript 3 End Fraction Close Parenthesis Integral from t subscript 0 Base Line to t of v d Tau plus </a:t>
            </a:r>
            <a:r>
              <a:rPr lang="en-IN" dirty="0" err="1"/>
              <a:t>i</a:t>
            </a:r>
            <a:r>
              <a:rPr lang="en-IN" dirty="0"/>
              <a:t> subscript 1 Base Line Open Parenthesis t subscript 0 Close Parenthesis plus </a:t>
            </a:r>
            <a:r>
              <a:rPr lang="en-IN" dirty="0" err="1"/>
              <a:t>i</a:t>
            </a:r>
            <a:r>
              <a:rPr lang="en-IN" dirty="0"/>
              <a:t> subscript 2 Base Line Open Parenthesis t subscript 0 Close Parenthesis plus </a:t>
            </a:r>
            <a:r>
              <a:rPr lang="en-IN" dirty="0" err="1"/>
              <a:t>i</a:t>
            </a:r>
            <a:r>
              <a:rPr lang="en-IN" dirty="0"/>
              <a:t> subscript 3 Base Line Open Parenthesis t subscript 0 Close Parenthesis.</a:t>
            </a:r>
          </a:p>
          <a:p>
            <a:endParaRPr lang="en-IN" dirty="0"/>
          </a:p>
          <a:p>
            <a:r>
              <a:rPr lang="en-IN" dirty="0"/>
              <a:t>Long Description 3:</a:t>
            </a:r>
          </a:p>
          <a:p>
            <a:r>
              <a:rPr lang="en-US" dirty="0"/>
              <a:t>Start Fraction 1 over L subscript eq End Fraction equals Start Fraction 1 over L subscript 1 End Fraction plus Start Fraction 1 over L subscript 2 End Fraction plus Start Fraction 1 over L subscript 3 End Fraction</a:t>
            </a:r>
          </a:p>
          <a:p>
            <a:r>
              <a:rPr lang="en-US" dirty="0" err="1"/>
              <a:t>i</a:t>
            </a:r>
            <a:r>
              <a:rPr lang="en-US" dirty="0"/>
              <a:t> Open Parenthesis t subscript 0 Close Parenthesis equals </a:t>
            </a:r>
            <a:r>
              <a:rPr lang="en-US" dirty="0" err="1"/>
              <a:t>i</a:t>
            </a:r>
            <a:r>
              <a:rPr lang="en-US" dirty="0"/>
              <a:t> subscript 1 Base Line Open Parenthesis t subscript 0 Close Parenthesis plus </a:t>
            </a:r>
            <a:r>
              <a:rPr lang="en-US" dirty="0" err="1"/>
              <a:t>i</a:t>
            </a:r>
            <a:r>
              <a:rPr lang="en-US" dirty="0"/>
              <a:t> subscript 2 Base Line Open Parenthesis t subscript 0 Close Parenthesis plus </a:t>
            </a:r>
            <a:r>
              <a:rPr lang="en-US" dirty="0" err="1"/>
              <a:t>i</a:t>
            </a:r>
            <a:r>
              <a:rPr lang="en-US" dirty="0"/>
              <a:t> subscript 3 Base Line Open Parenthesis t subscript 0 Close Parenthesis.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7103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81382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20</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2" name="Content Placeholder 7">
            <a:extLst>
              <a:ext uri="{FF2B5EF4-FFF2-40B4-BE49-F238E27FC236}">
                <a16:creationId xmlns:a16="http://schemas.microsoft.com/office/drawing/2014/main" id="{8ED74FB4-2E30-E6C1-70D5-18552BFD555A}"/>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hasCustomPrompt="1"/>
          </p:nvPr>
        </p:nvSpPr>
        <p:spPr>
          <a:xfrm>
            <a:off x="-1371600" y="154663"/>
            <a:ext cx="551783" cy="282573"/>
          </a:xfrm>
        </p:spPr>
        <p:txBody>
          <a:bodyPr wrap="square" lIns="0" tIns="18000" rIns="0" bIns="18000" anchor="ctr" anchorCtr="0">
            <a:spAutoFit/>
          </a:bodyPr>
          <a:lstStyle>
            <a:lvl1pPr>
              <a:defRPr/>
            </a:lvl1pPr>
          </a:lstStyle>
          <a:p>
            <a:pPr lvl="0"/>
            <a:r>
              <a:rPr lang="en-US" dirty="0"/>
              <a:t>1</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hasCustomPrompt="1"/>
          </p:nvPr>
        </p:nvSpPr>
        <p:spPr>
          <a:xfrm>
            <a:off x="-1533970" y="637654"/>
            <a:ext cx="508475" cy="282573"/>
          </a:xfrm>
        </p:spPr>
        <p:txBody>
          <a:bodyPr wrap="square" lIns="0" tIns="18000" rIns="0" bIns="18000" anchor="ctr" anchorCtr="0">
            <a:spAutoFit/>
          </a:bodyPr>
          <a:lstStyle>
            <a:lvl1pPr>
              <a:defRPr/>
            </a:lvl1pPr>
          </a:lstStyle>
          <a:p>
            <a:pPr lvl="0"/>
            <a:r>
              <a:rPr lang="en-US" dirty="0"/>
              <a:t>2</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hasCustomPrompt="1"/>
          </p:nvPr>
        </p:nvSpPr>
        <p:spPr>
          <a:xfrm>
            <a:off x="-1580973" y="1179370"/>
            <a:ext cx="602479" cy="282573"/>
          </a:xfrm>
        </p:spPr>
        <p:txBody>
          <a:bodyPr wrap="square" lIns="0" tIns="18000" rIns="0" bIns="18000" anchor="ctr" anchorCtr="0">
            <a:spAutoFit/>
          </a:bodyPr>
          <a:lstStyle>
            <a:lvl1pPr>
              <a:defRPr/>
            </a:lvl1pPr>
          </a:lstStyle>
          <a:p>
            <a:pPr lvl="0"/>
            <a:r>
              <a:rPr lang="en-US" dirty="0"/>
              <a:t>3</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hasCustomPrompt="1"/>
          </p:nvPr>
        </p:nvSpPr>
        <p:spPr>
          <a:xfrm>
            <a:off x="-1533970" y="1778794"/>
            <a:ext cx="568295" cy="282573"/>
          </a:xfrm>
        </p:spPr>
        <p:txBody>
          <a:bodyPr wrap="square" lIns="0" tIns="18000" rIns="0" bIns="18000" anchor="ctr" anchorCtr="0">
            <a:spAutoFit/>
          </a:bodyPr>
          <a:lstStyle>
            <a:lvl1pPr>
              <a:defRPr/>
            </a:lvl1pPr>
          </a:lstStyle>
          <a:p>
            <a:pPr lvl="0"/>
            <a:r>
              <a:rPr lang="en-US" dirty="0"/>
              <a:t>4</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hasCustomPrompt="1"/>
          </p:nvPr>
        </p:nvSpPr>
        <p:spPr>
          <a:xfrm>
            <a:off x="-1533970" y="2357364"/>
            <a:ext cx="602479" cy="282573"/>
          </a:xfrm>
        </p:spPr>
        <p:txBody>
          <a:bodyPr wrap="square" lIns="0" tIns="18000" rIns="0" bIns="18000" anchor="ctr" anchorCtr="0">
            <a:spAutoFit/>
          </a:bodyPr>
          <a:lstStyle>
            <a:lvl1pPr>
              <a:defRPr/>
            </a:lvl1pPr>
          </a:lstStyle>
          <a:p>
            <a:pPr lvl="0"/>
            <a:r>
              <a:rPr lang="en-US" dirty="0"/>
              <a:t>5</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hasCustomPrompt="1"/>
          </p:nvPr>
        </p:nvSpPr>
        <p:spPr>
          <a:xfrm>
            <a:off x="-1525425" y="2853922"/>
            <a:ext cx="559750" cy="282573"/>
          </a:xfrm>
        </p:spPr>
        <p:txBody>
          <a:bodyPr wrap="square" lIns="0" tIns="18000" rIns="0" bIns="18000" anchor="ctr" anchorCtr="0">
            <a:spAutoFit/>
          </a:bodyPr>
          <a:lstStyle>
            <a:lvl1pPr>
              <a:defRPr/>
            </a:lvl1pPr>
          </a:lstStyle>
          <a:p>
            <a:pPr lvl="0"/>
            <a:r>
              <a:rPr lang="en-US" dirty="0"/>
              <a:t>6</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hasCustomPrompt="1"/>
          </p:nvPr>
        </p:nvSpPr>
        <p:spPr>
          <a:xfrm>
            <a:off x="-1525425" y="3381361"/>
            <a:ext cx="653753" cy="282573"/>
          </a:xfrm>
        </p:spPr>
        <p:txBody>
          <a:bodyPr wrap="square" lIns="0" tIns="18000" rIns="0" bIns="18000" anchor="ctr" anchorCtr="0">
            <a:spAutoFit/>
          </a:bodyPr>
          <a:lstStyle>
            <a:lvl1pPr>
              <a:defRPr/>
            </a:lvl1pPr>
          </a:lstStyle>
          <a:p>
            <a:pPr lvl="0"/>
            <a:r>
              <a:rPr lang="en-US" dirty="0"/>
              <a:t>7</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hasCustomPrompt="1"/>
          </p:nvPr>
        </p:nvSpPr>
        <p:spPr>
          <a:xfrm>
            <a:off x="-1508334" y="3908800"/>
            <a:ext cx="457200" cy="282573"/>
          </a:xfrm>
        </p:spPr>
        <p:txBody>
          <a:bodyPr wrap="square" lIns="0" tIns="18000" rIns="0" bIns="18000" anchor="ctr" anchorCtr="0">
            <a:spAutoFit/>
          </a:bodyPr>
          <a:lstStyle>
            <a:lvl1pPr>
              <a:defRPr/>
            </a:lvl1pPr>
          </a:lstStyle>
          <a:p>
            <a:pPr lvl="0"/>
            <a:r>
              <a:rPr lang="en-US" dirty="0"/>
              <a:t>8</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hasCustomPrompt="1"/>
          </p:nvPr>
        </p:nvSpPr>
        <p:spPr>
          <a:xfrm>
            <a:off x="-1619428" y="4418778"/>
            <a:ext cx="653753" cy="282573"/>
          </a:xfrm>
        </p:spPr>
        <p:txBody>
          <a:bodyPr wrap="square" lIns="0" tIns="18000" rIns="0" bIns="18000" anchor="ctr" anchorCtr="0">
            <a:spAutoFit/>
          </a:bodyPr>
          <a:lstStyle>
            <a:lvl1pPr>
              <a:defRPr/>
            </a:lvl1pPr>
          </a:lstStyle>
          <a:p>
            <a:pPr lvl="0"/>
            <a:r>
              <a:rPr lang="en-US" dirty="0"/>
              <a:t>9</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hasCustomPrompt="1"/>
          </p:nvPr>
        </p:nvSpPr>
        <p:spPr>
          <a:xfrm>
            <a:off x="-1627974" y="5018202"/>
            <a:ext cx="602479" cy="282573"/>
          </a:xfrm>
        </p:spPr>
        <p:txBody>
          <a:bodyPr wrap="square" lIns="0" tIns="18000" rIns="0" bIns="18000" anchor="ctr" anchorCtr="0">
            <a:spAutoFit/>
          </a:bodyPr>
          <a:lstStyle>
            <a:lvl1pPr>
              <a:defRPr/>
            </a:lvl1pPr>
          </a:lstStyle>
          <a:p>
            <a:pPr lvl="0"/>
            <a:r>
              <a:rPr lang="en-US" dirty="0"/>
              <a:t>10</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hasCustomPrompt="1"/>
          </p:nvPr>
        </p:nvSpPr>
        <p:spPr>
          <a:xfrm>
            <a:off x="-1645852" y="5537343"/>
            <a:ext cx="667358" cy="282573"/>
          </a:xfrm>
        </p:spPr>
        <p:txBody>
          <a:bodyPr wrap="square" lIns="0" tIns="18000" rIns="0" bIns="18000" anchor="ctr" anchorCtr="0">
            <a:spAutoFit/>
          </a:bodyPr>
          <a:lstStyle>
            <a:lvl1pPr>
              <a:defRPr/>
            </a:lvl1pPr>
          </a:lstStyle>
          <a:p>
            <a:pPr lvl="0"/>
            <a:r>
              <a:rPr lang="en-US" dirty="0"/>
              <a:t>11</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hasCustomPrompt="1"/>
          </p:nvPr>
        </p:nvSpPr>
        <p:spPr>
          <a:xfrm>
            <a:off x="-1627974" y="6070414"/>
            <a:ext cx="539171" cy="282573"/>
          </a:xfrm>
        </p:spPr>
        <p:txBody>
          <a:bodyPr wrap="square" lIns="0" tIns="18000" rIns="0" bIns="18000" anchor="ctr" anchorCtr="0">
            <a:spAutoFit/>
          </a:bodyPr>
          <a:lstStyle>
            <a:lvl1pPr>
              <a:defRPr/>
            </a:lvl1pPr>
          </a:lstStyle>
          <a:p>
            <a:pPr lvl="0"/>
            <a:r>
              <a:rPr lang="en-US" dirty="0"/>
              <a:t>12</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hasCustomPrompt="1"/>
          </p:nvPr>
        </p:nvSpPr>
        <p:spPr>
          <a:xfrm>
            <a:off x="-1651475" y="6548784"/>
            <a:ext cx="559750" cy="282573"/>
          </a:xfrm>
        </p:spPr>
        <p:txBody>
          <a:bodyPr wrap="square" lIns="0" tIns="18000" rIns="0" bIns="18000" anchor="ctr" anchorCtr="0">
            <a:spAutoFit/>
          </a:bodyPr>
          <a:lstStyle>
            <a:lvl1pPr>
              <a:defRPr/>
            </a:lvl1pPr>
          </a:lstStyle>
          <a:p>
            <a:pPr lvl="0"/>
            <a:r>
              <a:rPr lang="en-US" dirty="0"/>
              <a:t>13</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hasCustomPrompt="1"/>
          </p:nvPr>
        </p:nvSpPr>
        <p:spPr>
          <a:xfrm>
            <a:off x="-871672" y="2040841"/>
            <a:ext cx="653753" cy="282573"/>
          </a:xfrm>
        </p:spPr>
        <p:txBody>
          <a:bodyPr wrap="square" lIns="0" tIns="18000" rIns="0" bIns="18000" anchor="ctr" anchorCtr="0">
            <a:spAutoFit/>
          </a:bodyPr>
          <a:lstStyle>
            <a:lvl1pPr>
              <a:defRPr/>
            </a:lvl1pPr>
          </a:lstStyle>
          <a:p>
            <a:pPr lvl="0"/>
            <a:r>
              <a:rPr lang="en-US" dirty="0"/>
              <a:t>14</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hasCustomPrompt="1"/>
          </p:nvPr>
        </p:nvSpPr>
        <p:spPr>
          <a:xfrm>
            <a:off x="-816330" y="2631994"/>
            <a:ext cx="556262" cy="282573"/>
          </a:xfrm>
        </p:spPr>
        <p:txBody>
          <a:bodyPr wrap="square" lIns="0" tIns="18000" rIns="0" bIns="18000" anchor="ctr" anchorCtr="0">
            <a:spAutoFit/>
          </a:bodyPr>
          <a:lstStyle>
            <a:lvl1pPr>
              <a:defRPr/>
            </a:lvl1pPr>
          </a:lstStyle>
          <a:p>
            <a:pPr lvl="0"/>
            <a:r>
              <a:rPr lang="en-US" dirty="0"/>
              <a:t>15</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hasCustomPrompt="1"/>
          </p:nvPr>
        </p:nvSpPr>
        <p:spPr>
          <a:xfrm>
            <a:off x="-865076" y="3802147"/>
            <a:ext cx="653753" cy="282573"/>
          </a:xfrm>
        </p:spPr>
        <p:txBody>
          <a:bodyPr wrap="square" lIns="0" tIns="18000" rIns="0" bIns="18000" anchor="ctr" anchorCtr="0">
            <a:spAutoFit/>
          </a:bodyPr>
          <a:lstStyle>
            <a:lvl1pPr>
              <a:defRPr/>
            </a:lvl1pPr>
          </a:lstStyle>
          <a:p>
            <a:pPr lvl="0"/>
            <a:r>
              <a:rPr lang="en-US" dirty="0"/>
              <a:t>16</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hasCustomPrompt="1"/>
          </p:nvPr>
        </p:nvSpPr>
        <p:spPr>
          <a:xfrm>
            <a:off x="-813802" y="4559732"/>
            <a:ext cx="602479" cy="282573"/>
          </a:xfrm>
        </p:spPr>
        <p:txBody>
          <a:bodyPr wrap="square" lIns="0" tIns="18000" rIns="0" bIns="18000" anchor="ctr" anchorCtr="0">
            <a:spAutoFit/>
          </a:bodyPr>
          <a:lstStyle>
            <a:lvl1pPr>
              <a:defRPr/>
            </a:lvl1pPr>
          </a:lstStyle>
          <a:p>
            <a:pPr lvl="0"/>
            <a:r>
              <a:rPr lang="en-US" dirty="0"/>
              <a:t>17</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hasCustomPrompt="1"/>
          </p:nvPr>
        </p:nvSpPr>
        <p:spPr>
          <a:xfrm>
            <a:off x="-846242" y="5320217"/>
            <a:ext cx="667358" cy="282573"/>
          </a:xfrm>
        </p:spPr>
        <p:txBody>
          <a:bodyPr wrap="square" lIns="0" tIns="18000" rIns="0" bIns="18000" anchor="ctr" anchorCtr="0">
            <a:spAutoFit/>
          </a:bodyPr>
          <a:lstStyle>
            <a:lvl1pPr>
              <a:defRPr/>
            </a:lvl1pPr>
          </a:lstStyle>
          <a:p>
            <a:pPr lvl="0"/>
            <a:r>
              <a:rPr lang="en-US" dirty="0"/>
              <a:t>18</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11/24/2025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120280509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FF48BABE-32F2-41CF-B06A-17C26C4ECD27}"/>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9" name="Content Placeholder 7">
            <a:extLst>
              <a:ext uri="{FF2B5EF4-FFF2-40B4-BE49-F238E27FC236}">
                <a16:creationId xmlns:a16="http://schemas.microsoft.com/office/drawing/2014/main" id="{C838A386-0074-44FE-AD57-11F728F3DCA4}"/>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jpg"/><Relationship Id="rId1" Type="http://schemas.openxmlformats.org/officeDocument/2006/relationships/slideLayout" Target="../slideLayouts/slideLayout8.xml"/><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8.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8.xml"/><Relationship Id="rId6" Type="http://schemas.openxmlformats.org/officeDocument/2006/relationships/image" Target="../media/image3.jp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8.xml"/><Relationship Id="rId6" Type="http://schemas.openxmlformats.org/officeDocument/2006/relationships/oleObject" Target="../embeddings/oleObject5.bin"/><Relationship Id="rId5" Type="http://schemas.openxmlformats.org/officeDocument/2006/relationships/image" Target="../media/image9.w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6.bin"/><Relationship Id="rId1" Type="http://schemas.openxmlformats.org/officeDocument/2006/relationships/slideLayout" Target="../slideLayouts/slideLayout8.xml"/><Relationship Id="rId6" Type="http://schemas.openxmlformats.org/officeDocument/2006/relationships/oleObject" Target="../embeddings/oleObject8.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4.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1.wmf"/><Relationship Id="rId3" Type="http://schemas.openxmlformats.org/officeDocument/2006/relationships/image" Target="../media/image16.jpg"/><Relationship Id="rId7" Type="http://schemas.openxmlformats.org/officeDocument/2006/relationships/image" Target="../media/image18.wmf"/><Relationship Id="rId12" Type="http://schemas.openxmlformats.org/officeDocument/2006/relationships/oleObject" Target="../embeddings/oleObject15.bin"/><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oleObject" Target="../embeddings/oleObject12.bin"/><Relationship Id="rId11" Type="http://schemas.openxmlformats.org/officeDocument/2006/relationships/image" Target="../media/image20.wmf"/><Relationship Id="rId5" Type="http://schemas.openxmlformats.org/officeDocument/2006/relationships/image" Target="../media/image17.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9.wmf"/></Relationships>
</file>

<file path=ppt/slides/_rels/slide13.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1.bin"/><Relationship Id="rId7" Type="http://schemas.openxmlformats.org/officeDocument/2006/relationships/oleObject" Target="../embeddings/oleObject16.bin"/><Relationship Id="rId12" Type="http://schemas.openxmlformats.org/officeDocument/2006/relationships/image" Target="../media/image24.wmf"/><Relationship Id="rId2" Type="http://schemas.openxmlformats.org/officeDocument/2006/relationships/image" Target="../media/image16.jpg"/><Relationship Id="rId1" Type="http://schemas.openxmlformats.org/officeDocument/2006/relationships/slideLayout" Target="../slideLayouts/slideLayout8.xml"/><Relationship Id="rId6" Type="http://schemas.openxmlformats.org/officeDocument/2006/relationships/image" Target="../media/image18.wmf"/><Relationship Id="rId11" Type="http://schemas.openxmlformats.org/officeDocument/2006/relationships/oleObject" Target="../embeddings/oleObject18.bin"/><Relationship Id="rId5" Type="http://schemas.openxmlformats.org/officeDocument/2006/relationships/oleObject" Target="../embeddings/oleObject12.bin"/><Relationship Id="rId10" Type="http://schemas.openxmlformats.org/officeDocument/2006/relationships/image" Target="../media/image23.wmf"/><Relationship Id="rId4" Type="http://schemas.openxmlformats.org/officeDocument/2006/relationships/image" Target="../media/image17.wmf"/><Relationship Id="rId9"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1.bin"/><Relationship Id="rId7" Type="http://schemas.openxmlformats.org/officeDocument/2006/relationships/oleObject" Target="../embeddings/oleObject19.bin"/><Relationship Id="rId12" Type="http://schemas.openxmlformats.org/officeDocument/2006/relationships/image" Target="../media/image27.wmf"/><Relationship Id="rId2" Type="http://schemas.openxmlformats.org/officeDocument/2006/relationships/image" Target="../media/image16.jpg"/><Relationship Id="rId1" Type="http://schemas.openxmlformats.org/officeDocument/2006/relationships/slideLayout" Target="../slideLayouts/slideLayout8.xml"/><Relationship Id="rId6" Type="http://schemas.openxmlformats.org/officeDocument/2006/relationships/image" Target="../media/image18.wmf"/><Relationship Id="rId11" Type="http://schemas.openxmlformats.org/officeDocument/2006/relationships/oleObject" Target="../embeddings/oleObject21.bin"/><Relationship Id="rId5" Type="http://schemas.openxmlformats.org/officeDocument/2006/relationships/oleObject" Target="../embeddings/oleObject12.bin"/><Relationship Id="rId10" Type="http://schemas.openxmlformats.org/officeDocument/2006/relationships/image" Target="../media/image26.wmf"/><Relationship Id="rId4" Type="http://schemas.openxmlformats.org/officeDocument/2006/relationships/image" Target="../media/image17.wmf"/><Relationship Id="rId9" Type="http://schemas.openxmlformats.org/officeDocument/2006/relationships/oleObject" Target="../embeddings/oleObject20.bin"/></Relationships>
</file>

<file path=ppt/slides/_rels/slide15.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image" Target="../media/image28.jpg"/><Relationship Id="rId1" Type="http://schemas.openxmlformats.org/officeDocument/2006/relationships/slideLayout" Target="../slideLayouts/slideLayout8.xml"/><Relationship Id="rId6" Type="http://schemas.openxmlformats.org/officeDocument/2006/relationships/image" Target="../media/image30.wmf"/><Relationship Id="rId5" Type="http://schemas.openxmlformats.org/officeDocument/2006/relationships/oleObject" Target="../embeddings/oleObject23.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25.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8.wmf"/><Relationship Id="rId3" Type="http://schemas.openxmlformats.org/officeDocument/2006/relationships/image" Target="../media/image33.jpg"/><Relationship Id="rId7" Type="http://schemas.openxmlformats.org/officeDocument/2006/relationships/image" Target="../media/image35.wmf"/><Relationship Id="rId12" Type="http://schemas.openxmlformats.org/officeDocument/2006/relationships/oleObject" Target="../embeddings/oleObject30.bin"/><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oleObject" Target="../embeddings/oleObject27.bin"/><Relationship Id="rId11" Type="http://schemas.openxmlformats.org/officeDocument/2006/relationships/image" Target="../media/image37.wmf"/><Relationship Id="rId5" Type="http://schemas.openxmlformats.org/officeDocument/2006/relationships/image" Target="../media/image34.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6.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oleObject" Target="../embeddings/oleObject35.bin"/><Relationship Id="rId3" Type="http://schemas.openxmlformats.org/officeDocument/2006/relationships/image" Target="../media/image39.wmf"/><Relationship Id="rId7" Type="http://schemas.openxmlformats.org/officeDocument/2006/relationships/image" Target="../media/image42.png"/><Relationship Id="rId12" Type="http://schemas.openxmlformats.org/officeDocument/2006/relationships/image" Target="../media/image45.png"/><Relationship Id="rId2" Type="http://schemas.openxmlformats.org/officeDocument/2006/relationships/oleObject" Target="../embeddings/oleObject31.bin"/><Relationship Id="rId1" Type="http://schemas.openxmlformats.org/officeDocument/2006/relationships/slideLayout" Target="../slideLayouts/slideLayout8.xml"/><Relationship Id="rId6" Type="http://schemas.openxmlformats.org/officeDocument/2006/relationships/image" Target="../media/image41.jpg"/><Relationship Id="rId11" Type="http://schemas.openxmlformats.org/officeDocument/2006/relationships/image" Target="../media/image44.wmf"/><Relationship Id="rId5" Type="http://schemas.openxmlformats.org/officeDocument/2006/relationships/image" Target="../media/image40.wmf"/><Relationship Id="rId10" Type="http://schemas.openxmlformats.org/officeDocument/2006/relationships/oleObject" Target="../embeddings/oleObject34.bin"/><Relationship Id="rId4" Type="http://schemas.openxmlformats.org/officeDocument/2006/relationships/oleObject" Target="../embeddings/oleObject32.bin"/><Relationship Id="rId9" Type="http://schemas.openxmlformats.org/officeDocument/2006/relationships/image" Target="../media/image43.wmf"/><Relationship Id="rId14" Type="http://schemas.openxmlformats.org/officeDocument/2006/relationships/image" Target="../media/image46.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36.bin"/><Relationship Id="rId1" Type="http://schemas.openxmlformats.org/officeDocument/2006/relationships/slideLayout" Target="../slideLayouts/slideLayout8.xml"/><Relationship Id="rId6" Type="http://schemas.openxmlformats.org/officeDocument/2006/relationships/oleObject" Target="../embeddings/oleObject38.bin"/><Relationship Id="rId5" Type="http://schemas.openxmlformats.org/officeDocument/2006/relationships/image" Target="../media/image48.wmf"/><Relationship Id="rId10" Type="http://schemas.openxmlformats.org/officeDocument/2006/relationships/image" Target="../media/image3.jpg"/><Relationship Id="rId4" Type="http://schemas.openxmlformats.org/officeDocument/2006/relationships/oleObject" Target="../embeddings/oleObject37.bin"/><Relationship Id="rId9" Type="http://schemas.openxmlformats.org/officeDocument/2006/relationships/image" Target="../media/image50.wmf"/></Relationships>
</file>

<file path=ppt/slides/_rels/slide19.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oleObject" Target="../embeddings/oleObject45.bin"/><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55.wmf"/><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52.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43.bin"/><Relationship Id="rId14" Type="http://schemas.openxmlformats.org/officeDocument/2006/relationships/image" Target="../media/image56.wmf"/></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5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029136"/>
            <a:ext cx="8240620" cy="344128"/>
          </a:xfrm>
        </p:spPr>
        <p:txBody>
          <a:bodyPr wrap="square" lIns="0" tIns="18000" rIns="0" bIns="18000" anchor="ctr">
            <a:spAutoFit/>
          </a:bodyPr>
          <a:lstStyle/>
          <a:p>
            <a:r>
              <a:rPr lang="en-US" noProof="0" dirty="0"/>
              <a:t>Twelfth Edition, </a:t>
            </a:r>
            <a:r>
              <a:rPr lang="en-US" dirty="0"/>
              <a:t>Global Edition</a:t>
            </a:r>
            <a:endParaRPr lang="en-US" noProof="0" dirty="0"/>
          </a:p>
        </p:txBody>
      </p:sp>
      <p:pic>
        <p:nvPicPr>
          <p:cNvPr id="11" name="Picture 10">
            <a:extLst>
              <a:ext uri="{FF2B5EF4-FFF2-40B4-BE49-F238E27FC236}">
                <a16:creationId xmlns:a16="http://schemas.microsoft.com/office/drawing/2014/main" id="{170E337C-9388-4F39-A525-F415A0FBA59A}"/>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6 – Part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663723"/>
            <a:ext cx="3987232" cy="713460"/>
          </a:xfrm>
        </p:spPr>
        <p:txBody>
          <a:bodyPr wrap="square" lIns="0" tIns="18000" rIns="0" bIns="18000" anchor="ctr">
            <a:spAutoFit/>
          </a:bodyPr>
          <a:lstStyle/>
          <a:p>
            <a:pPr marL="0"/>
            <a:r>
              <a:rPr lang="en-US" noProof="0" dirty="0"/>
              <a:t>Inductance, Capacitance, and Mutual Inductance</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36215" y="6455210"/>
            <a:ext cx="6177700" cy="221018"/>
          </a:xfrm>
        </p:spPr>
        <p:txBody>
          <a:bodyPr wrap="square" lIns="0" tIns="18000" rIns="0" bIns="18000" anchor="ctr">
            <a:spAutoFit/>
          </a:bodyPr>
          <a:lstStyle/>
          <a:p>
            <a:r>
              <a:rPr lang="en-US"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58549"/>
            <a:ext cx="8229600" cy="1144347"/>
          </a:xfrm>
        </p:spPr>
        <p:txBody>
          <a:bodyPr anchor="ctr" anchorCtr="0"/>
          <a:lstStyle/>
          <a:p>
            <a:r>
              <a:rPr lang="en-US" noProof="0" dirty="0"/>
              <a:t>Chapter 6 – Inductance and Capacitance</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60769"/>
            <a:ext cx="8240024" cy="4868444"/>
          </a:xfrm>
        </p:spPr>
        <p:txBody>
          <a:bodyPr wrap="square" lIns="0" tIns="18000" rIns="0" bIns="18000" anchor="ctr" anchorCtr="0">
            <a:spAutoFit/>
          </a:bodyPr>
          <a:lstStyle/>
          <a:p>
            <a:pPr marL="0" indent="0">
              <a:spcBef>
                <a:spcPts val="600"/>
              </a:spcBef>
              <a:buNone/>
            </a:pPr>
            <a:r>
              <a:rPr lang="en-US" sz="2400" noProof="0" dirty="0"/>
              <a:t>Objectives:</a:t>
            </a:r>
          </a:p>
          <a:p>
            <a:pPr marL="627063" indent="-627063">
              <a:spcBef>
                <a:spcPts val="600"/>
              </a:spcBef>
              <a:buNone/>
            </a:pPr>
            <a:r>
              <a:rPr lang="en-US" sz="2400" b="1" dirty="0">
                <a:solidFill>
                  <a:srgbClr val="007FA3"/>
                </a:solidFill>
              </a:rPr>
              <a:t>6.1</a:t>
            </a:r>
            <a:r>
              <a:rPr lang="en-US" sz="2400" dirty="0"/>
              <a:t>	</a:t>
            </a:r>
            <a:r>
              <a:rPr lang="en-US" sz="2400" noProof="0" dirty="0"/>
              <a:t>Inductor</a:t>
            </a:r>
            <a:endParaRPr lang="en-US" sz="2400" dirty="0"/>
          </a:p>
          <a:p>
            <a:pPr marL="1524000" lvl="1" indent="-896938">
              <a:buNone/>
            </a:pPr>
            <a:r>
              <a:rPr lang="en-US" sz="2400" b="1" noProof="0" dirty="0">
                <a:solidFill>
                  <a:srgbClr val="007FA3"/>
                </a:solidFill>
              </a:rPr>
              <a:t>6.1.1</a:t>
            </a:r>
            <a:r>
              <a:rPr lang="en-US" sz="2400" noProof="0" dirty="0"/>
              <a:t>	Equations for v, </a:t>
            </a:r>
            <a:r>
              <a:rPr lang="en-US" sz="2400" noProof="0" dirty="0" err="1"/>
              <a:t>i</a:t>
            </a:r>
            <a:r>
              <a:rPr lang="en-US" sz="2400" noProof="0" dirty="0"/>
              <a:t>, p, and w</a:t>
            </a:r>
          </a:p>
          <a:p>
            <a:pPr marL="1524000" lvl="1" indent="-896938">
              <a:buNone/>
            </a:pPr>
            <a:r>
              <a:rPr lang="en-US" sz="2400" b="1" dirty="0">
                <a:solidFill>
                  <a:srgbClr val="007FA3"/>
                </a:solidFill>
              </a:rPr>
              <a:t>6.1.2</a:t>
            </a:r>
            <a:r>
              <a:rPr lang="en-US" sz="2400" dirty="0"/>
              <a:t>	</a:t>
            </a:r>
            <a:r>
              <a:rPr lang="en-US" sz="2400" noProof="0" dirty="0"/>
              <a:t>Behavior in the presence of constant current</a:t>
            </a:r>
          </a:p>
          <a:p>
            <a:pPr marL="1524000" lvl="1" indent="-896938">
              <a:buNone/>
            </a:pPr>
            <a:r>
              <a:rPr lang="en-US" sz="2400" b="1" dirty="0">
                <a:solidFill>
                  <a:srgbClr val="007FA3"/>
                </a:solidFill>
              </a:rPr>
              <a:t>6.1.3</a:t>
            </a:r>
            <a:r>
              <a:rPr lang="en-US" sz="2400" dirty="0"/>
              <a:t>	</a:t>
            </a:r>
            <a:r>
              <a:rPr lang="en-US" sz="2400" noProof="0" dirty="0"/>
              <a:t>Continuity requirements</a:t>
            </a:r>
          </a:p>
          <a:p>
            <a:pPr marL="1524000" lvl="1" indent="-896938">
              <a:buNone/>
            </a:pPr>
            <a:r>
              <a:rPr lang="en-US" sz="2400" b="1" dirty="0">
                <a:solidFill>
                  <a:srgbClr val="007FA3"/>
                </a:solidFill>
              </a:rPr>
              <a:t>6.1.4</a:t>
            </a:r>
            <a:r>
              <a:rPr lang="en-US" sz="2400" dirty="0"/>
              <a:t>	</a:t>
            </a:r>
            <a:r>
              <a:rPr lang="en-US" sz="2400" noProof="0" dirty="0"/>
              <a:t>Combine in series and in parallel</a:t>
            </a:r>
          </a:p>
          <a:p>
            <a:pPr marL="627063" indent="-627063">
              <a:spcBef>
                <a:spcPts val="600"/>
              </a:spcBef>
              <a:buNone/>
            </a:pPr>
            <a:r>
              <a:rPr lang="en-US" sz="2400" b="1" dirty="0">
                <a:solidFill>
                  <a:srgbClr val="007FA3"/>
                </a:solidFill>
              </a:rPr>
              <a:t>6.2</a:t>
            </a:r>
            <a:r>
              <a:rPr lang="en-US" sz="2400" dirty="0"/>
              <a:t>	</a:t>
            </a:r>
            <a:r>
              <a:rPr lang="en-US" sz="2400" noProof="0" dirty="0"/>
              <a:t>Capacitor</a:t>
            </a:r>
            <a:endParaRPr lang="en-US" sz="2400" dirty="0"/>
          </a:p>
          <a:p>
            <a:pPr marL="1524000" lvl="1" indent="-896938">
              <a:buNone/>
            </a:pPr>
            <a:r>
              <a:rPr lang="en-US" sz="2400" b="1" noProof="0" dirty="0">
                <a:solidFill>
                  <a:srgbClr val="007FA3"/>
                </a:solidFill>
              </a:rPr>
              <a:t>6.2.1</a:t>
            </a:r>
            <a:r>
              <a:rPr lang="en-US" sz="2400" noProof="0" dirty="0"/>
              <a:t>	Equations for v, </a:t>
            </a:r>
            <a:r>
              <a:rPr lang="en-US" sz="2400" noProof="0" dirty="0" err="1"/>
              <a:t>i</a:t>
            </a:r>
            <a:r>
              <a:rPr lang="en-US" sz="2400" noProof="0" dirty="0"/>
              <a:t>, p, and w</a:t>
            </a:r>
          </a:p>
          <a:p>
            <a:pPr marL="1524000" lvl="1" indent="-896938">
              <a:buNone/>
            </a:pPr>
            <a:r>
              <a:rPr lang="en-US" sz="2400" b="1" dirty="0">
                <a:solidFill>
                  <a:srgbClr val="007FA3"/>
                </a:solidFill>
              </a:rPr>
              <a:t>6.2.2</a:t>
            </a:r>
            <a:r>
              <a:rPr lang="en-US" sz="2400" dirty="0"/>
              <a:t>	</a:t>
            </a:r>
            <a:r>
              <a:rPr lang="en-US" sz="2400" noProof="0" dirty="0"/>
              <a:t>Behavior in the presence of constant voltage</a:t>
            </a:r>
          </a:p>
          <a:p>
            <a:pPr marL="1524000" lvl="1" indent="-896938">
              <a:buNone/>
            </a:pPr>
            <a:r>
              <a:rPr lang="en-US" sz="2400" b="1" dirty="0">
                <a:solidFill>
                  <a:srgbClr val="007FA3"/>
                </a:solidFill>
              </a:rPr>
              <a:t>6.2.3</a:t>
            </a:r>
            <a:r>
              <a:rPr lang="en-US" sz="2400" dirty="0"/>
              <a:t>	</a:t>
            </a:r>
            <a:r>
              <a:rPr lang="en-US" sz="2400" noProof="0" dirty="0"/>
              <a:t>Continuity requirements</a:t>
            </a:r>
          </a:p>
          <a:p>
            <a:pPr marL="1524000" lvl="1" indent="-896938">
              <a:buNone/>
            </a:pPr>
            <a:r>
              <a:rPr lang="en-US" sz="2400" b="1" noProof="0" dirty="0">
                <a:solidFill>
                  <a:srgbClr val="007FA3"/>
                </a:solidFill>
              </a:rPr>
              <a:t>6.2.4</a:t>
            </a:r>
            <a:r>
              <a:rPr lang="en-US" sz="2400" noProof="0" dirty="0"/>
              <a:t>	Combine in series and in parallel</a:t>
            </a:r>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79D44-B7D6-9734-73C7-B355E87EAB82}"/>
              </a:ext>
            </a:extLst>
          </p:cNvPr>
          <p:cNvSpPr>
            <a:spLocks noGrp="1"/>
          </p:cNvSpPr>
          <p:nvPr>
            <p:ph type="title"/>
          </p:nvPr>
        </p:nvSpPr>
        <p:spPr>
          <a:xfrm>
            <a:off x="430304" y="160934"/>
            <a:ext cx="8256495" cy="590349"/>
          </a:xfrm>
        </p:spPr>
        <p:txBody>
          <a:bodyPr/>
          <a:lstStyle/>
          <a:p>
            <a:r>
              <a:rPr lang="en-US" dirty="0"/>
              <a:t>Chapter 6 – Inductors </a:t>
            </a:r>
            <a:r>
              <a:rPr lang="en-US" sz="2800" dirty="0"/>
              <a:t>(1 of 17)</a:t>
            </a:r>
          </a:p>
        </p:txBody>
      </p:sp>
      <p:pic>
        <p:nvPicPr>
          <p:cNvPr id="7" name="Picture 6" descr="A coiled wire drawn between two terminals is shown as a graphic symbol for an inductor. Inductance value is marked as L henrys.">
            <a:extLst>
              <a:ext uri="{FF2B5EF4-FFF2-40B4-BE49-F238E27FC236}">
                <a16:creationId xmlns:a16="http://schemas.microsoft.com/office/drawing/2014/main" id="{6349DD61-C1C1-B886-6DAF-23C0DB615292}"/>
              </a:ext>
            </a:extLst>
          </p:cNvPr>
          <p:cNvPicPr>
            <a:picLocks noChangeAspect="1"/>
          </p:cNvPicPr>
          <p:nvPr/>
        </p:nvPicPr>
        <p:blipFill rotWithShape="1">
          <a:blip r:embed="rId2"/>
          <a:srcRect t="42479" b="15594"/>
          <a:stretch/>
        </p:blipFill>
        <p:spPr>
          <a:xfrm>
            <a:off x="3146862" y="982624"/>
            <a:ext cx="2814416" cy="1887017"/>
          </a:xfrm>
          <a:prstGeom prst="rect">
            <a:avLst/>
          </a:prstGeom>
        </p:spPr>
      </p:pic>
      <p:sp>
        <p:nvSpPr>
          <p:cNvPr id="3" name="Content Placeholder 2">
            <a:extLst>
              <a:ext uri="{FF2B5EF4-FFF2-40B4-BE49-F238E27FC236}">
                <a16:creationId xmlns:a16="http://schemas.microsoft.com/office/drawing/2014/main" id="{E3DD835F-03BF-B325-8950-C210A9BDBFB1}"/>
              </a:ext>
            </a:extLst>
          </p:cNvPr>
          <p:cNvSpPr>
            <a:spLocks noGrp="1"/>
          </p:cNvSpPr>
          <p:nvPr>
            <p:ph sz="quarter" idx="12"/>
          </p:nvPr>
        </p:nvSpPr>
        <p:spPr>
          <a:xfrm>
            <a:off x="428066" y="3057404"/>
            <a:ext cx="8256494" cy="1205903"/>
          </a:xfrm>
        </p:spPr>
        <p:txBody>
          <a:bodyPr wrap="square" lIns="0" tIns="18000" rIns="0" bIns="18000" anchor="ctr" anchorCtr="0">
            <a:spAutoFit/>
          </a:bodyPr>
          <a:lstStyle/>
          <a:p>
            <a:pPr marL="342900" indent="-342900">
              <a:spcBef>
                <a:spcPts val="600"/>
              </a:spcBef>
            </a:pPr>
            <a:r>
              <a:rPr lang="en-US" altLang="en-US" sz="2200" dirty="0"/>
              <a:t>Coil of wire with time-varying current</a:t>
            </a:r>
          </a:p>
          <a:p>
            <a:pPr marL="829818" lvl="1" indent="-342900"/>
            <a:r>
              <a:rPr lang="en-US" altLang="en-US" sz="2200" dirty="0"/>
              <a:t>time-varying magnetic field</a:t>
            </a:r>
          </a:p>
          <a:p>
            <a:pPr marL="829818" lvl="1" indent="-342900"/>
            <a:r>
              <a:rPr lang="en-US" altLang="en-US" sz="2200" dirty="0"/>
              <a:t>time-varying voltage drop</a:t>
            </a:r>
            <a:endParaRPr lang="en-US" dirty="0"/>
          </a:p>
        </p:txBody>
      </p:sp>
      <p:sp>
        <p:nvSpPr>
          <p:cNvPr id="4" name="Content Placeholder 3">
            <a:extLst>
              <a:ext uri="{FF2B5EF4-FFF2-40B4-BE49-F238E27FC236}">
                <a16:creationId xmlns:a16="http://schemas.microsoft.com/office/drawing/2014/main" id="{131C4990-4F66-C0EF-B18B-3A28EB866756}"/>
              </a:ext>
            </a:extLst>
          </p:cNvPr>
          <p:cNvSpPr>
            <a:spLocks noGrp="1"/>
          </p:cNvSpPr>
          <p:nvPr>
            <p:ph sz="quarter" idx="13"/>
          </p:nvPr>
        </p:nvSpPr>
        <p:spPr>
          <a:xfrm>
            <a:off x="430304" y="4431072"/>
            <a:ext cx="2617694" cy="374906"/>
          </a:xfrm>
        </p:spPr>
        <p:txBody>
          <a:bodyPr wrap="square" lIns="0" tIns="18000" rIns="0" bIns="18000" anchor="ctr" anchorCtr="0">
            <a:spAutoFit/>
          </a:bodyPr>
          <a:lstStyle/>
          <a:p>
            <a:pPr marL="342900" indent="-342900">
              <a:spcBef>
                <a:spcPts val="600"/>
              </a:spcBef>
            </a:pPr>
            <a:r>
              <a:rPr lang="en-US" sz="2200" dirty="0"/>
              <a:t>Inductor equation:</a:t>
            </a:r>
          </a:p>
        </p:txBody>
      </p:sp>
      <p:graphicFrame>
        <p:nvGraphicFramePr>
          <p:cNvPr id="25" name="Object 24" descr="v OpenParenthesis t CloseParenthesis equals L StartFraction d i OpenParenthesis t CloseParenthesis over d t EndFraction.">
            <a:extLst>
              <a:ext uri="{FF2B5EF4-FFF2-40B4-BE49-F238E27FC236}">
                <a16:creationId xmlns:a16="http://schemas.microsoft.com/office/drawing/2014/main" id="{1E8F0FED-0A76-8138-4A8E-54D1A2A4B794}"/>
              </a:ext>
            </a:extLst>
          </p:cNvPr>
          <p:cNvGraphicFramePr>
            <a:graphicFrameLocks noChangeAspect="1"/>
          </p:cNvGraphicFramePr>
          <p:nvPr>
            <p:extLst>
              <p:ext uri="{D42A27DB-BD31-4B8C-83A1-F6EECF244321}">
                <p14:modId xmlns:p14="http://schemas.microsoft.com/office/powerpoint/2010/main" val="3305709519"/>
              </p:ext>
            </p:extLst>
          </p:nvPr>
        </p:nvGraphicFramePr>
        <p:xfrm>
          <a:off x="3749676" y="4680301"/>
          <a:ext cx="1630791" cy="743262"/>
        </p:xfrm>
        <a:graphic>
          <a:graphicData uri="http://schemas.openxmlformats.org/presentationml/2006/ole">
            <mc:AlternateContent xmlns:mc="http://schemas.openxmlformats.org/markup-compatibility/2006">
              <mc:Choice xmlns:v="urn:schemas-microsoft-com:vml" Requires="v">
                <p:oleObj name="Equation" r:id="rId3" imgW="863280" imgH="393480" progId="Equation.DSMT4">
                  <p:embed/>
                </p:oleObj>
              </mc:Choice>
              <mc:Fallback>
                <p:oleObj name="Equation" r:id="rId3" imgW="863280" imgH="393480" progId="Equation.DSMT4">
                  <p:embed/>
                  <p:pic>
                    <p:nvPicPr>
                      <p:cNvPr id="6" name="Object 5"/>
                      <p:cNvPicPr>
                        <a:picLocks noChangeAspect="1" noChangeArrowheads="1"/>
                      </p:cNvPicPr>
                      <p:nvPr/>
                    </p:nvPicPr>
                    <p:blipFill>
                      <a:blip r:embed="rId4"/>
                      <a:srcRect/>
                      <a:stretch>
                        <a:fillRect/>
                      </a:stretch>
                    </p:blipFill>
                    <p:spPr bwMode="auto">
                      <a:xfrm>
                        <a:off x="3749676" y="4680301"/>
                        <a:ext cx="1630791" cy="743262"/>
                      </a:xfrm>
                      <a:prstGeom prst="rect">
                        <a:avLst/>
                      </a:prstGeom>
                      <a:noFill/>
                      <a:ln w="28575">
                        <a:solidFill>
                          <a:srgbClr val="007FA3"/>
                        </a:solidFill>
                        <a:miter lim="800000"/>
                        <a:headEnd/>
                        <a:tailEnd/>
                      </a:ln>
                    </p:spPr>
                  </p:pic>
                </p:oleObj>
              </mc:Fallback>
            </mc:AlternateContent>
          </a:graphicData>
        </a:graphic>
      </p:graphicFrame>
      <p:sp>
        <p:nvSpPr>
          <p:cNvPr id="5" name="Content Placeholder 4">
            <a:extLst>
              <a:ext uri="{FF2B5EF4-FFF2-40B4-BE49-F238E27FC236}">
                <a16:creationId xmlns:a16="http://schemas.microsoft.com/office/drawing/2014/main" id="{4D30DEAA-7376-690F-AC97-147DF50CC9FF}"/>
              </a:ext>
            </a:extLst>
          </p:cNvPr>
          <p:cNvSpPr>
            <a:spLocks noGrp="1"/>
          </p:cNvSpPr>
          <p:nvPr>
            <p:ph sz="quarter" idx="14"/>
          </p:nvPr>
        </p:nvSpPr>
        <p:spPr>
          <a:xfrm>
            <a:off x="431378" y="5595623"/>
            <a:ext cx="8245384" cy="374906"/>
          </a:xfrm>
        </p:spPr>
        <p:txBody>
          <a:bodyPr wrap="square" lIns="0" tIns="18000" rIns="0" bIns="18000" anchor="ctr" anchorCtr="0">
            <a:spAutoFit/>
          </a:bodyPr>
          <a:lstStyle/>
          <a:p>
            <a:pPr marL="342900" indent="-342900"/>
            <a:r>
              <a:rPr lang="en-US" sz="2200" dirty="0"/>
              <a:t>Units: v(t) is volts, </a:t>
            </a:r>
            <a:r>
              <a:rPr lang="en-US" sz="2200" dirty="0" err="1"/>
              <a:t>i</a:t>
            </a:r>
            <a:r>
              <a:rPr lang="en-US" sz="2200" dirty="0"/>
              <a:t>(t) is amps, and L is </a:t>
            </a:r>
            <a:r>
              <a:rPr lang="en-US" sz="2200" dirty="0" err="1"/>
              <a:t>henries</a:t>
            </a:r>
            <a:r>
              <a:rPr lang="en-US" sz="2200" dirty="0"/>
              <a:t> [H]</a:t>
            </a:r>
          </a:p>
        </p:txBody>
      </p:sp>
    </p:spTree>
    <p:extLst>
      <p:ext uri="{BB962C8B-B14F-4D97-AF65-F5344CB8AC3E}">
        <p14:creationId xmlns:p14="http://schemas.microsoft.com/office/powerpoint/2010/main" val="1986321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129F5AF-E98A-D56C-6177-797612AE00FB}"/>
              </a:ext>
            </a:extLst>
          </p:cNvPr>
          <p:cNvSpPr>
            <a:spLocks noGrp="1"/>
          </p:cNvSpPr>
          <p:nvPr>
            <p:ph type="title"/>
          </p:nvPr>
        </p:nvSpPr>
        <p:spPr>
          <a:xfrm>
            <a:off x="430304" y="160934"/>
            <a:ext cx="8256495" cy="590349"/>
          </a:xfrm>
        </p:spPr>
        <p:txBody>
          <a:bodyPr/>
          <a:lstStyle/>
          <a:p>
            <a:r>
              <a:rPr lang="en-US" dirty="0"/>
              <a:t>Chapter 6 – Inductors </a:t>
            </a:r>
            <a:r>
              <a:rPr lang="en-US" sz="2800" dirty="0"/>
              <a:t>(2 of 17)</a:t>
            </a:r>
          </a:p>
        </p:txBody>
      </p:sp>
      <p:sp>
        <p:nvSpPr>
          <p:cNvPr id="3" name="Content Placeholder 2">
            <a:extLst>
              <a:ext uri="{FF2B5EF4-FFF2-40B4-BE49-F238E27FC236}">
                <a16:creationId xmlns:a16="http://schemas.microsoft.com/office/drawing/2014/main" id="{F05DC9F3-EF95-568B-D6BE-2D2E9E0B214A}"/>
              </a:ext>
            </a:extLst>
          </p:cNvPr>
          <p:cNvSpPr>
            <a:spLocks noGrp="1"/>
          </p:cNvSpPr>
          <p:nvPr>
            <p:ph sz="quarter" idx="12"/>
          </p:nvPr>
        </p:nvSpPr>
        <p:spPr>
          <a:xfrm>
            <a:off x="430304" y="892934"/>
            <a:ext cx="8245383" cy="374906"/>
          </a:xfrm>
        </p:spPr>
        <p:txBody>
          <a:bodyPr/>
          <a:lstStyle/>
          <a:p>
            <a:pPr marL="0" indent="0">
              <a:buNone/>
            </a:pPr>
            <a:r>
              <a:rPr lang="en-US" sz="2200" dirty="0"/>
              <a:t>Look at the inductor equation again:</a:t>
            </a:r>
          </a:p>
        </p:txBody>
      </p:sp>
      <p:graphicFrame>
        <p:nvGraphicFramePr>
          <p:cNvPr id="22" name="Object 21" descr="v OpenParenthesis t CloseParenthesis equals L StartFraction d i OpenParenthesis t CloseParenthesis over d t EndFraction.">
            <a:extLst>
              <a:ext uri="{FF2B5EF4-FFF2-40B4-BE49-F238E27FC236}">
                <a16:creationId xmlns:a16="http://schemas.microsoft.com/office/drawing/2014/main" id="{9B80C1CC-FA43-1CA4-0DA6-7545C5F5F07A}"/>
              </a:ext>
            </a:extLst>
          </p:cNvPr>
          <p:cNvGraphicFramePr>
            <a:graphicFrameLocks noChangeAspect="1"/>
          </p:cNvGraphicFramePr>
          <p:nvPr>
            <p:extLst>
              <p:ext uri="{D42A27DB-BD31-4B8C-83A1-F6EECF244321}">
                <p14:modId xmlns:p14="http://schemas.microsoft.com/office/powerpoint/2010/main" val="2207058911"/>
              </p:ext>
            </p:extLst>
          </p:nvPr>
        </p:nvGraphicFramePr>
        <p:xfrm>
          <a:off x="1885762" y="1636878"/>
          <a:ext cx="1599923" cy="728616"/>
        </p:xfrm>
        <a:graphic>
          <a:graphicData uri="http://schemas.openxmlformats.org/presentationml/2006/ole">
            <mc:AlternateContent xmlns:mc="http://schemas.openxmlformats.org/markup-compatibility/2006">
              <mc:Choice xmlns:v="urn:schemas-microsoft-com:vml" Requires="v">
                <p:oleObj name="Equation" r:id="rId2" imgW="863280" imgH="393480" progId="Equation.DSMT4">
                  <p:embed/>
                </p:oleObj>
              </mc:Choice>
              <mc:Fallback>
                <p:oleObj name="Equation" r:id="rId2" imgW="863280" imgH="393480" progId="Equation.DSMT4">
                  <p:embed/>
                  <p:pic>
                    <p:nvPicPr>
                      <p:cNvPr id="8" name="Object 7"/>
                      <p:cNvPicPr>
                        <a:picLocks noChangeAspect="1" noChangeArrowheads="1"/>
                      </p:cNvPicPr>
                      <p:nvPr/>
                    </p:nvPicPr>
                    <p:blipFill>
                      <a:blip r:embed="rId3"/>
                      <a:srcRect/>
                      <a:stretch>
                        <a:fillRect/>
                      </a:stretch>
                    </p:blipFill>
                    <p:spPr bwMode="auto">
                      <a:xfrm>
                        <a:off x="1885762" y="1636878"/>
                        <a:ext cx="1599923" cy="72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3A1DE043-8D42-CD4F-A0D9-6AB1AA5E13DE}"/>
              </a:ext>
            </a:extLst>
          </p:cNvPr>
          <p:cNvSpPr>
            <a:spLocks noGrp="1"/>
          </p:cNvSpPr>
          <p:nvPr>
            <p:ph sz="quarter" idx="13"/>
          </p:nvPr>
        </p:nvSpPr>
        <p:spPr>
          <a:xfrm>
            <a:off x="428065" y="2683583"/>
            <a:ext cx="8256587" cy="374906"/>
          </a:xfrm>
        </p:spPr>
        <p:txBody>
          <a:bodyPr wrap="square">
            <a:spAutoFit/>
          </a:bodyPr>
          <a:lstStyle/>
          <a:p>
            <a:pPr marL="0" indent="0">
              <a:buNone/>
            </a:pPr>
            <a:r>
              <a:rPr lang="en-US" sz="2200" dirty="0"/>
              <a:t>Suppose </a:t>
            </a:r>
            <a:r>
              <a:rPr lang="en-US" sz="2200" dirty="0" err="1"/>
              <a:t>i</a:t>
            </a:r>
            <a:r>
              <a:rPr lang="en-US" sz="2200" dirty="0"/>
              <a:t>(t) is constant. Then v(t) =</a:t>
            </a:r>
          </a:p>
        </p:txBody>
      </p:sp>
      <p:sp>
        <p:nvSpPr>
          <p:cNvPr id="6" name="Content Placeholder 5">
            <a:extLst>
              <a:ext uri="{FF2B5EF4-FFF2-40B4-BE49-F238E27FC236}">
                <a16:creationId xmlns:a16="http://schemas.microsoft.com/office/drawing/2014/main" id="{7308418E-A3EC-8B7F-21AF-285A3BE09D01}"/>
              </a:ext>
            </a:extLst>
          </p:cNvPr>
          <p:cNvSpPr>
            <a:spLocks noGrp="1"/>
          </p:cNvSpPr>
          <p:nvPr>
            <p:ph sz="quarter" idx="15"/>
          </p:nvPr>
        </p:nvSpPr>
        <p:spPr>
          <a:xfrm>
            <a:off x="1137512" y="3400764"/>
            <a:ext cx="538888" cy="374906"/>
          </a:xfrm>
        </p:spPr>
        <p:txBody>
          <a:bodyPr/>
          <a:lstStyle/>
          <a:p>
            <a:pPr marL="0" indent="0">
              <a:buNone/>
            </a:pPr>
            <a:r>
              <a:rPr lang="en-US" sz="2200" dirty="0">
                <a:solidFill>
                  <a:srgbClr val="007FA3"/>
                </a:solidFill>
              </a:rPr>
              <a:t>A. </a:t>
            </a:r>
            <a:r>
              <a:rPr lang="en-US" sz="2200" dirty="0">
                <a:solidFill>
                  <a:srgbClr val="000000"/>
                </a:solidFill>
              </a:rPr>
              <a:t>L</a:t>
            </a:r>
          </a:p>
        </p:txBody>
      </p:sp>
      <p:sp>
        <p:nvSpPr>
          <p:cNvPr id="8" name="Content Placeholder 7">
            <a:extLst>
              <a:ext uri="{FF2B5EF4-FFF2-40B4-BE49-F238E27FC236}">
                <a16:creationId xmlns:a16="http://schemas.microsoft.com/office/drawing/2014/main" id="{1D98F692-5F7B-FDDF-0C26-2C5A0CC40CD2}"/>
              </a:ext>
            </a:extLst>
          </p:cNvPr>
          <p:cNvSpPr>
            <a:spLocks noGrp="1"/>
          </p:cNvSpPr>
          <p:nvPr>
            <p:ph sz="quarter" idx="17"/>
          </p:nvPr>
        </p:nvSpPr>
        <p:spPr>
          <a:xfrm>
            <a:off x="1137512" y="3947909"/>
            <a:ext cx="559750" cy="374906"/>
          </a:xfrm>
        </p:spPr>
        <p:txBody>
          <a:bodyPr/>
          <a:lstStyle/>
          <a:p>
            <a:pPr marL="0" indent="0">
              <a:buNone/>
            </a:pPr>
            <a:r>
              <a:rPr lang="en-US" sz="2200" dirty="0">
                <a:solidFill>
                  <a:srgbClr val="007FA3"/>
                </a:solidFill>
              </a:rPr>
              <a:t>B.</a:t>
            </a:r>
            <a:r>
              <a:rPr lang="en-US" sz="2200" dirty="0"/>
              <a:t> 0</a:t>
            </a:r>
          </a:p>
        </p:txBody>
      </p:sp>
      <p:sp>
        <p:nvSpPr>
          <p:cNvPr id="10" name="Content Placeholder 9">
            <a:extLst>
              <a:ext uri="{FF2B5EF4-FFF2-40B4-BE49-F238E27FC236}">
                <a16:creationId xmlns:a16="http://schemas.microsoft.com/office/drawing/2014/main" id="{74DA3EFA-50CB-55BF-D4E2-8EFCA2168AB4}"/>
              </a:ext>
            </a:extLst>
          </p:cNvPr>
          <p:cNvSpPr>
            <a:spLocks noGrp="1"/>
          </p:cNvSpPr>
          <p:nvPr>
            <p:ph sz="quarter" idx="19"/>
          </p:nvPr>
        </p:nvSpPr>
        <p:spPr>
          <a:xfrm>
            <a:off x="1137512" y="4513898"/>
            <a:ext cx="1672781" cy="374906"/>
          </a:xfrm>
        </p:spPr>
        <p:txBody>
          <a:bodyPr>
            <a:spAutoFit/>
          </a:bodyPr>
          <a:lstStyle/>
          <a:p>
            <a:pPr marL="0" indent="0">
              <a:buNone/>
            </a:pPr>
            <a:r>
              <a:rPr lang="en-US" sz="2200" dirty="0">
                <a:solidFill>
                  <a:srgbClr val="007FA3"/>
                </a:solidFill>
              </a:rPr>
              <a:t>C.</a:t>
            </a:r>
            <a:r>
              <a:rPr lang="en-US" sz="2200" dirty="0"/>
              <a:t> Undefined</a:t>
            </a:r>
          </a:p>
        </p:txBody>
      </p:sp>
      <p:pic>
        <p:nvPicPr>
          <p:cNvPr id="2" name="Picture 1" descr="A coiled wire drawn between two terminals is shown as a graphic symbol for an inductor. Inductance value is marked as L henrys.">
            <a:extLst>
              <a:ext uri="{FF2B5EF4-FFF2-40B4-BE49-F238E27FC236}">
                <a16:creationId xmlns:a16="http://schemas.microsoft.com/office/drawing/2014/main" id="{6CE7F829-4EE1-A734-5B11-F03D8EB0F699}"/>
              </a:ext>
            </a:extLst>
          </p:cNvPr>
          <p:cNvPicPr>
            <a:picLocks noChangeAspect="1"/>
          </p:cNvPicPr>
          <p:nvPr/>
        </p:nvPicPr>
        <p:blipFill rotWithShape="1">
          <a:blip r:embed="rId4"/>
          <a:srcRect t="42479" b="15594"/>
          <a:stretch/>
        </p:blipFill>
        <p:spPr>
          <a:xfrm>
            <a:off x="5528053" y="932250"/>
            <a:ext cx="2814416" cy="1887017"/>
          </a:xfrm>
          <a:prstGeom prst="rect">
            <a:avLst/>
          </a:prstGeom>
        </p:spPr>
      </p:pic>
    </p:spTree>
    <p:extLst>
      <p:ext uri="{BB962C8B-B14F-4D97-AF65-F5344CB8AC3E}">
        <p14:creationId xmlns:p14="http://schemas.microsoft.com/office/powerpoint/2010/main" val="4011644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4B17A-658E-57C0-9508-4904F196A7D1}"/>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32C5ECAE-D9F0-DBC0-5F82-8EE62EED9398}"/>
              </a:ext>
            </a:extLst>
          </p:cNvPr>
          <p:cNvSpPr>
            <a:spLocks noGrp="1"/>
          </p:cNvSpPr>
          <p:nvPr>
            <p:ph type="title"/>
          </p:nvPr>
        </p:nvSpPr>
        <p:spPr>
          <a:xfrm>
            <a:off x="430304" y="160934"/>
            <a:ext cx="8256495" cy="590349"/>
          </a:xfrm>
        </p:spPr>
        <p:txBody>
          <a:bodyPr/>
          <a:lstStyle/>
          <a:p>
            <a:r>
              <a:rPr lang="en-US" dirty="0"/>
              <a:t>Chapter 6 – Inductors </a:t>
            </a:r>
            <a:r>
              <a:rPr lang="en-US" sz="2800" dirty="0"/>
              <a:t>(2 of 17)</a:t>
            </a:r>
          </a:p>
        </p:txBody>
      </p:sp>
      <p:sp>
        <p:nvSpPr>
          <p:cNvPr id="3" name="Content Placeholder 2">
            <a:extLst>
              <a:ext uri="{FF2B5EF4-FFF2-40B4-BE49-F238E27FC236}">
                <a16:creationId xmlns:a16="http://schemas.microsoft.com/office/drawing/2014/main" id="{6BD3C659-6B4E-2E07-0ECF-BB65D01177D9}"/>
              </a:ext>
            </a:extLst>
          </p:cNvPr>
          <p:cNvSpPr>
            <a:spLocks noGrp="1"/>
          </p:cNvSpPr>
          <p:nvPr>
            <p:ph sz="quarter" idx="12"/>
          </p:nvPr>
        </p:nvSpPr>
        <p:spPr>
          <a:xfrm>
            <a:off x="430304" y="892934"/>
            <a:ext cx="8245383" cy="374906"/>
          </a:xfrm>
        </p:spPr>
        <p:txBody>
          <a:bodyPr/>
          <a:lstStyle/>
          <a:p>
            <a:pPr marL="0" indent="0">
              <a:buNone/>
            </a:pPr>
            <a:r>
              <a:rPr lang="en-US" sz="2200" dirty="0"/>
              <a:t>Look at the inductor equation again:</a:t>
            </a:r>
          </a:p>
        </p:txBody>
      </p:sp>
      <p:graphicFrame>
        <p:nvGraphicFramePr>
          <p:cNvPr id="22" name="Object 21" descr="v OpenParenthesis t CloseParenthesis equals L StartFraction d i OpenParenthesis t CloseParenthesis over d t EndFraction.">
            <a:extLst>
              <a:ext uri="{FF2B5EF4-FFF2-40B4-BE49-F238E27FC236}">
                <a16:creationId xmlns:a16="http://schemas.microsoft.com/office/drawing/2014/main" id="{A5CA7509-F056-EA0B-450C-636738010907}"/>
              </a:ext>
            </a:extLst>
          </p:cNvPr>
          <p:cNvGraphicFramePr>
            <a:graphicFrameLocks noChangeAspect="1"/>
          </p:cNvGraphicFramePr>
          <p:nvPr>
            <p:extLst>
              <p:ext uri="{D42A27DB-BD31-4B8C-83A1-F6EECF244321}">
                <p14:modId xmlns:p14="http://schemas.microsoft.com/office/powerpoint/2010/main" val="3601511729"/>
              </p:ext>
            </p:extLst>
          </p:nvPr>
        </p:nvGraphicFramePr>
        <p:xfrm>
          <a:off x="2096710" y="1591571"/>
          <a:ext cx="1599923" cy="728616"/>
        </p:xfrm>
        <a:graphic>
          <a:graphicData uri="http://schemas.openxmlformats.org/presentationml/2006/ole">
            <mc:AlternateContent xmlns:mc="http://schemas.openxmlformats.org/markup-compatibility/2006">
              <mc:Choice xmlns:v="urn:schemas-microsoft-com:vml" Requires="v">
                <p:oleObj name="Equation" r:id="rId2" imgW="863280" imgH="393480" progId="Equation.DSMT4">
                  <p:embed/>
                </p:oleObj>
              </mc:Choice>
              <mc:Fallback>
                <p:oleObj name="Equation" r:id="rId2" imgW="863280" imgH="393480" progId="Equation.DSMT4">
                  <p:embed/>
                  <p:pic>
                    <p:nvPicPr>
                      <p:cNvPr id="22" name="Object 21" descr="v OpenParenthesis t CloseParenthesis equals L StartFraction d i OpenParenthesis t CloseParenthesis over d t EndFraction.">
                        <a:extLst>
                          <a:ext uri="{FF2B5EF4-FFF2-40B4-BE49-F238E27FC236}">
                            <a16:creationId xmlns:a16="http://schemas.microsoft.com/office/drawing/2014/main" id="{9B80C1CC-FA43-1CA4-0DA6-7545C5F5F07A}"/>
                          </a:ext>
                        </a:extLst>
                      </p:cNvPr>
                      <p:cNvPicPr>
                        <a:picLocks noChangeAspect="1" noChangeArrowheads="1"/>
                      </p:cNvPicPr>
                      <p:nvPr/>
                    </p:nvPicPr>
                    <p:blipFill>
                      <a:blip r:embed="rId3"/>
                      <a:srcRect/>
                      <a:stretch>
                        <a:fillRect/>
                      </a:stretch>
                    </p:blipFill>
                    <p:spPr bwMode="auto">
                      <a:xfrm>
                        <a:off x="2096710" y="1591571"/>
                        <a:ext cx="1599923" cy="72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CD7F5574-37B4-F33C-0375-694F88C75A6E}"/>
              </a:ext>
            </a:extLst>
          </p:cNvPr>
          <p:cNvSpPr>
            <a:spLocks noGrp="1"/>
          </p:cNvSpPr>
          <p:nvPr>
            <p:ph sz="quarter" idx="13"/>
          </p:nvPr>
        </p:nvSpPr>
        <p:spPr>
          <a:xfrm>
            <a:off x="428065" y="2683583"/>
            <a:ext cx="8256587" cy="374906"/>
          </a:xfrm>
        </p:spPr>
        <p:txBody>
          <a:bodyPr wrap="square">
            <a:spAutoFit/>
          </a:bodyPr>
          <a:lstStyle/>
          <a:p>
            <a:pPr marL="0" indent="0">
              <a:buNone/>
            </a:pPr>
            <a:r>
              <a:rPr lang="en-US" sz="2200" dirty="0"/>
              <a:t>Suppose </a:t>
            </a:r>
            <a:r>
              <a:rPr lang="en-US" sz="2200" dirty="0" err="1"/>
              <a:t>i</a:t>
            </a:r>
            <a:r>
              <a:rPr lang="en-US" sz="2200" dirty="0"/>
              <a:t>(t) is constant. Then v(t) =</a:t>
            </a:r>
          </a:p>
        </p:txBody>
      </p:sp>
      <p:pic>
        <p:nvPicPr>
          <p:cNvPr id="34" name="Picture 33" descr="Cross mark">
            <a:extLst>
              <a:ext uri="{FF2B5EF4-FFF2-40B4-BE49-F238E27FC236}">
                <a16:creationId xmlns:a16="http://schemas.microsoft.com/office/drawing/2014/main" id="{3235B570-F20A-E03F-D7BC-53712422E348}"/>
              </a:ext>
            </a:extLst>
          </p:cNvPr>
          <p:cNvPicPr>
            <a:picLocks noChangeAspect="1"/>
          </p:cNvPicPr>
          <p:nvPr/>
        </p:nvPicPr>
        <p:blipFill>
          <a:blip r:embed="rId4"/>
          <a:stretch>
            <a:fillRect/>
          </a:stretch>
        </p:blipFill>
        <p:spPr>
          <a:xfrm>
            <a:off x="665802" y="3447387"/>
            <a:ext cx="308484" cy="281659"/>
          </a:xfrm>
          <a:prstGeom prst="rect">
            <a:avLst/>
          </a:prstGeom>
        </p:spPr>
      </p:pic>
      <p:sp>
        <p:nvSpPr>
          <p:cNvPr id="6" name="Content Placeholder 5">
            <a:extLst>
              <a:ext uri="{FF2B5EF4-FFF2-40B4-BE49-F238E27FC236}">
                <a16:creationId xmlns:a16="http://schemas.microsoft.com/office/drawing/2014/main" id="{E53E39FC-14F2-CE3E-B132-A974D0B8D141}"/>
              </a:ext>
            </a:extLst>
          </p:cNvPr>
          <p:cNvSpPr>
            <a:spLocks noGrp="1"/>
          </p:cNvSpPr>
          <p:nvPr>
            <p:ph sz="quarter" idx="15"/>
          </p:nvPr>
        </p:nvSpPr>
        <p:spPr>
          <a:xfrm>
            <a:off x="1137512" y="3400764"/>
            <a:ext cx="538888" cy="374906"/>
          </a:xfrm>
        </p:spPr>
        <p:txBody>
          <a:bodyPr/>
          <a:lstStyle/>
          <a:p>
            <a:pPr marL="0" indent="0">
              <a:buNone/>
            </a:pPr>
            <a:r>
              <a:rPr lang="en-US" sz="2200" dirty="0">
                <a:solidFill>
                  <a:srgbClr val="007FA3"/>
                </a:solidFill>
              </a:rPr>
              <a:t>A. </a:t>
            </a:r>
            <a:r>
              <a:rPr lang="en-US" sz="2200" dirty="0">
                <a:solidFill>
                  <a:srgbClr val="000000"/>
                </a:solidFill>
              </a:rPr>
              <a:t>L</a:t>
            </a:r>
          </a:p>
        </p:txBody>
      </p:sp>
      <p:pic>
        <p:nvPicPr>
          <p:cNvPr id="36" name="Picture 35" descr="Check mark">
            <a:extLst>
              <a:ext uri="{FF2B5EF4-FFF2-40B4-BE49-F238E27FC236}">
                <a16:creationId xmlns:a16="http://schemas.microsoft.com/office/drawing/2014/main" id="{57797E6F-7D29-CEF1-EE00-C9D400B1A4D2}"/>
              </a:ext>
            </a:extLst>
          </p:cNvPr>
          <p:cNvPicPr>
            <a:picLocks noChangeAspect="1"/>
          </p:cNvPicPr>
          <p:nvPr/>
        </p:nvPicPr>
        <p:blipFill>
          <a:blip r:embed="rId5"/>
          <a:stretch>
            <a:fillRect/>
          </a:stretch>
        </p:blipFill>
        <p:spPr>
          <a:xfrm>
            <a:off x="622214" y="4020366"/>
            <a:ext cx="339332" cy="302449"/>
          </a:xfrm>
          <a:prstGeom prst="rect">
            <a:avLst/>
          </a:prstGeom>
        </p:spPr>
      </p:pic>
      <p:sp>
        <p:nvSpPr>
          <p:cNvPr id="8" name="Content Placeholder 7">
            <a:extLst>
              <a:ext uri="{FF2B5EF4-FFF2-40B4-BE49-F238E27FC236}">
                <a16:creationId xmlns:a16="http://schemas.microsoft.com/office/drawing/2014/main" id="{6F977405-3162-4764-1935-A8756C26057A}"/>
              </a:ext>
            </a:extLst>
          </p:cNvPr>
          <p:cNvSpPr>
            <a:spLocks noGrp="1"/>
          </p:cNvSpPr>
          <p:nvPr>
            <p:ph sz="quarter" idx="17"/>
          </p:nvPr>
        </p:nvSpPr>
        <p:spPr>
          <a:xfrm>
            <a:off x="1137512" y="3947909"/>
            <a:ext cx="559750" cy="374906"/>
          </a:xfrm>
        </p:spPr>
        <p:txBody>
          <a:bodyPr/>
          <a:lstStyle/>
          <a:p>
            <a:pPr marL="0" indent="0">
              <a:buNone/>
            </a:pPr>
            <a:r>
              <a:rPr lang="en-US" sz="2200" dirty="0">
                <a:solidFill>
                  <a:srgbClr val="007FA3"/>
                </a:solidFill>
              </a:rPr>
              <a:t>B.</a:t>
            </a:r>
            <a:r>
              <a:rPr lang="en-US" sz="2200" dirty="0"/>
              <a:t> 0</a:t>
            </a:r>
          </a:p>
        </p:txBody>
      </p:sp>
      <p:pic>
        <p:nvPicPr>
          <p:cNvPr id="35" name="Picture 34" descr="Cross mark">
            <a:extLst>
              <a:ext uri="{FF2B5EF4-FFF2-40B4-BE49-F238E27FC236}">
                <a16:creationId xmlns:a16="http://schemas.microsoft.com/office/drawing/2014/main" id="{CE73BA07-7140-CF28-4565-7BA0C1B247CC}"/>
              </a:ext>
            </a:extLst>
          </p:cNvPr>
          <p:cNvPicPr>
            <a:picLocks noChangeAspect="1"/>
          </p:cNvPicPr>
          <p:nvPr/>
        </p:nvPicPr>
        <p:blipFill>
          <a:blip r:embed="rId4"/>
          <a:stretch>
            <a:fillRect/>
          </a:stretch>
        </p:blipFill>
        <p:spPr>
          <a:xfrm>
            <a:off x="665802" y="4561651"/>
            <a:ext cx="308484" cy="281659"/>
          </a:xfrm>
          <a:prstGeom prst="rect">
            <a:avLst/>
          </a:prstGeom>
        </p:spPr>
      </p:pic>
      <p:sp>
        <p:nvSpPr>
          <p:cNvPr id="10" name="Content Placeholder 9">
            <a:extLst>
              <a:ext uri="{FF2B5EF4-FFF2-40B4-BE49-F238E27FC236}">
                <a16:creationId xmlns:a16="http://schemas.microsoft.com/office/drawing/2014/main" id="{4599841A-6325-43EC-D7D2-D29ABFBEC82A}"/>
              </a:ext>
            </a:extLst>
          </p:cNvPr>
          <p:cNvSpPr>
            <a:spLocks noGrp="1"/>
          </p:cNvSpPr>
          <p:nvPr>
            <p:ph sz="quarter" idx="19"/>
          </p:nvPr>
        </p:nvSpPr>
        <p:spPr>
          <a:xfrm>
            <a:off x="1137512" y="4513898"/>
            <a:ext cx="1672781" cy="374906"/>
          </a:xfrm>
        </p:spPr>
        <p:txBody>
          <a:bodyPr>
            <a:spAutoFit/>
          </a:bodyPr>
          <a:lstStyle/>
          <a:p>
            <a:pPr marL="0" indent="0">
              <a:buNone/>
            </a:pPr>
            <a:r>
              <a:rPr lang="en-US" sz="2200" dirty="0">
                <a:solidFill>
                  <a:srgbClr val="007FA3"/>
                </a:solidFill>
              </a:rPr>
              <a:t>C.</a:t>
            </a:r>
            <a:r>
              <a:rPr lang="en-US" sz="2200" dirty="0"/>
              <a:t> Undefined</a:t>
            </a:r>
          </a:p>
        </p:txBody>
      </p:sp>
      <p:pic>
        <p:nvPicPr>
          <p:cNvPr id="2" name="Picture 1" descr="A coiled wire drawn between two terminals is shown as a graphic symbol for an inductor. Inductance value is marked as L henrys.">
            <a:extLst>
              <a:ext uri="{FF2B5EF4-FFF2-40B4-BE49-F238E27FC236}">
                <a16:creationId xmlns:a16="http://schemas.microsoft.com/office/drawing/2014/main" id="{56F1F9AA-9372-CDBE-EAC9-E1B5E36FE53A}"/>
              </a:ext>
            </a:extLst>
          </p:cNvPr>
          <p:cNvPicPr>
            <a:picLocks noChangeAspect="1"/>
          </p:cNvPicPr>
          <p:nvPr/>
        </p:nvPicPr>
        <p:blipFill rotWithShape="1">
          <a:blip r:embed="rId6"/>
          <a:srcRect t="42479" b="15594"/>
          <a:stretch/>
        </p:blipFill>
        <p:spPr>
          <a:xfrm>
            <a:off x="5447369" y="1080387"/>
            <a:ext cx="2814416" cy="1887017"/>
          </a:xfrm>
          <a:prstGeom prst="rect">
            <a:avLst/>
          </a:prstGeom>
        </p:spPr>
      </p:pic>
    </p:spTree>
    <p:extLst>
      <p:ext uri="{BB962C8B-B14F-4D97-AF65-F5344CB8AC3E}">
        <p14:creationId xmlns:p14="http://schemas.microsoft.com/office/powerpoint/2010/main" val="1883194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7C6A5C15-3E9E-C2F8-BA01-50BA7FEC8169}"/>
              </a:ext>
            </a:extLst>
          </p:cNvPr>
          <p:cNvSpPr>
            <a:spLocks noGrp="1"/>
          </p:cNvSpPr>
          <p:nvPr>
            <p:ph type="title"/>
          </p:nvPr>
        </p:nvSpPr>
        <p:spPr>
          <a:xfrm>
            <a:off x="430304" y="160934"/>
            <a:ext cx="8256495" cy="590349"/>
          </a:xfrm>
        </p:spPr>
        <p:txBody>
          <a:bodyPr/>
          <a:lstStyle/>
          <a:p>
            <a:r>
              <a:rPr lang="en-US" dirty="0"/>
              <a:t>Chapter 6 – Inductors </a:t>
            </a:r>
            <a:r>
              <a:rPr lang="en-US" sz="2800" dirty="0"/>
              <a:t>(3 of 17)</a:t>
            </a:r>
          </a:p>
        </p:txBody>
      </p:sp>
      <p:sp>
        <p:nvSpPr>
          <p:cNvPr id="3" name="Content Placeholder 2">
            <a:extLst>
              <a:ext uri="{FF2B5EF4-FFF2-40B4-BE49-F238E27FC236}">
                <a16:creationId xmlns:a16="http://schemas.microsoft.com/office/drawing/2014/main" id="{58601785-3498-9F45-7F38-735042157237}"/>
              </a:ext>
            </a:extLst>
          </p:cNvPr>
          <p:cNvSpPr>
            <a:spLocks noGrp="1"/>
          </p:cNvSpPr>
          <p:nvPr>
            <p:ph sz="quarter" idx="12"/>
          </p:nvPr>
        </p:nvSpPr>
        <p:spPr>
          <a:xfrm>
            <a:off x="430303" y="896223"/>
            <a:ext cx="8256495" cy="775015"/>
          </a:xfrm>
        </p:spPr>
        <p:txBody>
          <a:bodyPr wrap="square">
            <a:spAutoFit/>
          </a:bodyPr>
          <a:lstStyle/>
          <a:p>
            <a:pPr marL="0" indent="0">
              <a:buNone/>
            </a:pPr>
            <a:r>
              <a:rPr lang="en-US" sz="2400" dirty="0"/>
              <a:t>So, if the current in an inductor is constant, its voltage drop is 0, so the inductor can be replaced by</a:t>
            </a:r>
          </a:p>
        </p:txBody>
      </p:sp>
      <p:sp>
        <p:nvSpPr>
          <p:cNvPr id="5" name="Content Placeholder 4">
            <a:extLst>
              <a:ext uri="{FF2B5EF4-FFF2-40B4-BE49-F238E27FC236}">
                <a16:creationId xmlns:a16="http://schemas.microsoft.com/office/drawing/2014/main" id="{170874DA-2B30-8F8E-F92E-E96010367280}"/>
              </a:ext>
            </a:extLst>
          </p:cNvPr>
          <p:cNvSpPr>
            <a:spLocks noGrp="1"/>
          </p:cNvSpPr>
          <p:nvPr>
            <p:ph sz="quarter" idx="14"/>
          </p:nvPr>
        </p:nvSpPr>
        <p:spPr>
          <a:xfrm>
            <a:off x="1475990" y="2067094"/>
            <a:ext cx="2342973" cy="405683"/>
          </a:xfrm>
        </p:spPr>
        <p:txBody>
          <a:bodyPr wrap="square">
            <a:spAutoFit/>
          </a:bodyPr>
          <a:lstStyle/>
          <a:p>
            <a:pPr marL="0" indent="0">
              <a:buNone/>
              <a:defRPr/>
            </a:pPr>
            <a:r>
              <a:rPr lang="en-US" sz="2400" dirty="0">
                <a:solidFill>
                  <a:srgbClr val="007FA3"/>
                </a:solidFill>
              </a:rPr>
              <a:t>A.</a:t>
            </a:r>
            <a:r>
              <a:rPr lang="en-US" sz="2400" dirty="0"/>
              <a:t> A short circuit</a:t>
            </a:r>
          </a:p>
        </p:txBody>
      </p:sp>
      <p:sp>
        <p:nvSpPr>
          <p:cNvPr id="7" name="Content Placeholder 6">
            <a:extLst>
              <a:ext uri="{FF2B5EF4-FFF2-40B4-BE49-F238E27FC236}">
                <a16:creationId xmlns:a16="http://schemas.microsoft.com/office/drawing/2014/main" id="{D773CE4E-81E9-3152-ABE0-B1EF164D7A24}"/>
              </a:ext>
            </a:extLst>
          </p:cNvPr>
          <p:cNvSpPr>
            <a:spLocks noGrp="1"/>
          </p:cNvSpPr>
          <p:nvPr>
            <p:ph sz="quarter" idx="16"/>
          </p:nvPr>
        </p:nvSpPr>
        <p:spPr>
          <a:xfrm>
            <a:off x="1475990" y="2651080"/>
            <a:ext cx="2419427" cy="405683"/>
          </a:xfrm>
        </p:spPr>
        <p:txBody>
          <a:bodyPr wrap="square">
            <a:spAutoFit/>
          </a:bodyPr>
          <a:lstStyle/>
          <a:p>
            <a:pPr marL="0" indent="0">
              <a:buNone/>
            </a:pPr>
            <a:r>
              <a:rPr lang="en-US" sz="2400" dirty="0">
                <a:solidFill>
                  <a:srgbClr val="007FA3"/>
                </a:solidFill>
              </a:rPr>
              <a:t>B.</a:t>
            </a:r>
            <a:r>
              <a:rPr lang="en-US" sz="2400" dirty="0"/>
              <a:t> An open circuit</a:t>
            </a:r>
          </a:p>
        </p:txBody>
      </p:sp>
      <p:sp>
        <p:nvSpPr>
          <p:cNvPr id="8" name="Content Placeholder 7">
            <a:extLst>
              <a:ext uri="{FF2B5EF4-FFF2-40B4-BE49-F238E27FC236}">
                <a16:creationId xmlns:a16="http://schemas.microsoft.com/office/drawing/2014/main" id="{F92EC550-B670-A9E8-AD44-3E7ECB17E247}"/>
              </a:ext>
            </a:extLst>
          </p:cNvPr>
          <p:cNvSpPr>
            <a:spLocks noGrp="1"/>
          </p:cNvSpPr>
          <p:nvPr>
            <p:ph sz="quarter" idx="17"/>
          </p:nvPr>
        </p:nvSpPr>
        <p:spPr>
          <a:xfrm>
            <a:off x="1475990" y="3201331"/>
            <a:ext cx="1973658" cy="405683"/>
          </a:xfrm>
        </p:spPr>
        <p:txBody>
          <a:bodyPr wrap="square">
            <a:spAutoFit/>
          </a:bodyPr>
          <a:lstStyle/>
          <a:p>
            <a:pPr marL="0" indent="0">
              <a:buNone/>
            </a:pPr>
            <a:r>
              <a:rPr lang="en-US" sz="2400" dirty="0">
                <a:solidFill>
                  <a:srgbClr val="007FA3"/>
                </a:solidFill>
              </a:rPr>
              <a:t>C.</a:t>
            </a:r>
            <a:r>
              <a:rPr lang="en-US" sz="2400" dirty="0"/>
              <a:t> A capacitor</a:t>
            </a:r>
          </a:p>
        </p:txBody>
      </p:sp>
      <p:pic>
        <p:nvPicPr>
          <p:cNvPr id="4" name="Picture 3" descr="A coiled wire drawn between two terminals is shown as a graphic symbol for an inductor. Inductance value is marked as L henrys.">
            <a:extLst>
              <a:ext uri="{FF2B5EF4-FFF2-40B4-BE49-F238E27FC236}">
                <a16:creationId xmlns:a16="http://schemas.microsoft.com/office/drawing/2014/main" id="{0FC970F7-3A13-87F1-8FFA-F7035A11DB40}"/>
              </a:ext>
            </a:extLst>
          </p:cNvPr>
          <p:cNvPicPr>
            <a:picLocks noChangeAspect="1"/>
          </p:cNvPicPr>
          <p:nvPr/>
        </p:nvPicPr>
        <p:blipFill rotWithShape="1">
          <a:blip r:embed="rId2"/>
          <a:srcRect t="42479" b="15594"/>
          <a:stretch/>
        </p:blipFill>
        <p:spPr>
          <a:xfrm>
            <a:off x="4853594" y="3607014"/>
            <a:ext cx="2814416" cy="1887017"/>
          </a:xfrm>
          <a:prstGeom prst="rect">
            <a:avLst/>
          </a:prstGeom>
        </p:spPr>
      </p:pic>
    </p:spTree>
    <p:extLst>
      <p:ext uri="{BB962C8B-B14F-4D97-AF65-F5344CB8AC3E}">
        <p14:creationId xmlns:p14="http://schemas.microsoft.com/office/powerpoint/2010/main" val="3299171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A867E-B1EC-C317-8BC7-FB26DA725EEC}"/>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EB03BFD2-D74B-11E5-998E-A77F6042B148}"/>
              </a:ext>
            </a:extLst>
          </p:cNvPr>
          <p:cNvSpPr>
            <a:spLocks noGrp="1"/>
          </p:cNvSpPr>
          <p:nvPr>
            <p:ph type="title"/>
          </p:nvPr>
        </p:nvSpPr>
        <p:spPr>
          <a:xfrm>
            <a:off x="430304" y="160934"/>
            <a:ext cx="8256495" cy="590349"/>
          </a:xfrm>
        </p:spPr>
        <p:txBody>
          <a:bodyPr/>
          <a:lstStyle/>
          <a:p>
            <a:r>
              <a:rPr lang="en-US" dirty="0"/>
              <a:t>Chapter 6 – Inductors </a:t>
            </a:r>
            <a:r>
              <a:rPr lang="en-US" sz="2800" dirty="0"/>
              <a:t>(3 of 17)</a:t>
            </a:r>
          </a:p>
        </p:txBody>
      </p:sp>
      <p:sp>
        <p:nvSpPr>
          <p:cNvPr id="3" name="Content Placeholder 2">
            <a:extLst>
              <a:ext uri="{FF2B5EF4-FFF2-40B4-BE49-F238E27FC236}">
                <a16:creationId xmlns:a16="http://schemas.microsoft.com/office/drawing/2014/main" id="{D1549424-6F50-8DB1-594F-BF78B464051F}"/>
              </a:ext>
            </a:extLst>
          </p:cNvPr>
          <p:cNvSpPr>
            <a:spLocks noGrp="1"/>
          </p:cNvSpPr>
          <p:nvPr>
            <p:ph sz="quarter" idx="12"/>
          </p:nvPr>
        </p:nvSpPr>
        <p:spPr>
          <a:xfrm>
            <a:off x="430303" y="896223"/>
            <a:ext cx="8256495" cy="775015"/>
          </a:xfrm>
        </p:spPr>
        <p:txBody>
          <a:bodyPr wrap="square">
            <a:spAutoFit/>
          </a:bodyPr>
          <a:lstStyle/>
          <a:p>
            <a:pPr marL="0" indent="0">
              <a:buNone/>
            </a:pPr>
            <a:r>
              <a:rPr lang="en-US" sz="2400" dirty="0"/>
              <a:t>So, if the current in an inductor is constant, its voltage drop is 0, so the inductor can be replaced by</a:t>
            </a:r>
          </a:p>
        </p:txBody>
      </p:sp>
      <p:pic>
        <p:nvPicPr>
          <p:cNvPr id="32" name="Picture 31" descr="Check mark">
            <a:extLst>
              <a:ext uri="{FF2B5EF4-FFF2-40B4-BE49-F238E27FC236}">
                <a16:creationId xmlns:a16="http://schemas.microsoft.com/office/drawing/2014/main" id="{A32842C4-6774-ACE4-B6DE-38A247B1A7B5}"/>
              </a:ext>
            </a:extLst>
          </p:cNvPr>
          <p:cNvPicPr>
            <a:picLocks noChangeAspect="1"/>
          </p:cNvPicPr>
          <p:nvPr/>
        </p:nvPicPr>
        <p:blipFill>
          <a:blip r:embed="rId2"/>
          <a:stretch>
            <a:fillRect/>
          </a:stretch>
        </p:blipFill>
        <p:spPr>
          <a:xfrm>
            <a:off x="968838" y="2118710"/>
            <a:ext cx="339332" cy="302449"/>
          </a:xfrm>
          <a:prstGeom prst="rect">
            <a:avLst/>
          </a:prstGeom>
        </p:spPr>
      </p:pic>
      <p:sp>
        <p:nvSpPr>
          <p:cNvPr id="5" name="Content Placeholder 4">
            <a:extLst>
              <a:ext uri="{FF2B5EF4-FFF2-40B4-BE49-F238E27FC236}">
                <a16:creationId xmlns:a16="http://schemas.microsoft.com/office/drawing/2014/main" id="{13BA4827-AC08-AB1F-5943-92681F141E65}"/>
              </a:ext>
            </a:extLst>
          </p:cNvPr>
          <p:cNvSpPr>
            <a:spLocks noGrp="1"/>
          </p:cNvSpPr>
          <p:nvPr>
            <p:ph sz="quarter" idx="14"/>
          </p:nvPr>
        </p:nvSpPr>
        <p:spPr>
          <a:xfrm>
            <a:off x="1475990" y="2067094"/>
            <a:ext cx="2342973" cy="405683"/>
          </a:xfrm>
        </p:spPr>
        <p:txBody>
          <a:bodyPr wrap="square">
            <a:spAutoFit/>
          </a:bodyPr>
          <a:lstStyle/>
          <a:p>
            <a:pPr marL="0" indent="0">
              <a:buNone/>
              <a:defRPr/>
            </a:pPr>
            <a:r>
              <a:rPr lang="en-US" sz="2400" dirty="0">
                <a:solidFill>
                  <a:srgbClr val="007FA3"/>
                </a:solidFill>
              </a:rPr>
              <a:t>A.</a:t>
            </a:r>
            <a:r>
              <a:rPr lang="en-US" sz="2400" dirty="0"/>
              <a:t> A short circuit</a:t>
            </a:r>
          </a:p>
        </p:txBody>
      </p:sp>
      <p:pic>
        <p:nvPicPr>
          <p:cNvPr id="36" name="Picture 35" descr="Cross mark">
            <a:extLst>
              <a:ext uri="{FF2B5EF4-FFF2-40B4-BE49-F238E27FC236}">
                <a16:creationId xmlns:a16="http://schemas.microsoft.com/office/drawing/2014/main" id="{5B346095-08B8-9CD5-D0B6-3D144EEE0BEC}"/>
              </a:ext>
            </a:extLst>
          </p:cNvPr>
          <p:cNvPicPr>
            <a:picLocks noChangeAspect="1"/>
          </p:cNvPicPr>
          <p:nvPr/>
        </p:nvPicPr>
        <p:blipFill>
          <a:blip r:embed="rId3"/>
          <a:stretch>
            <a:fillRect/>
          </a:stretch>
        </p:blipFill>
        <p:spPr>
          <a:xfrm>
            <a:off x="999686" y="2700906"/>
            <a:ext cx="308484" cy="281659"/>
          </a:xfrm>
          <a:prstGeom prst="rect">
            <a:avLst/>
          </a:prstGeom>
        </p:spPr>
      </p:pic>
      <p:sp>
        <p:nvSpPr>
          <p:cNvPr id="7" name="Content Placeholder 6">
            <a:extLst>
              <a:ext uri="{FF2B5EF4-FFF2-40B4-BE49-F238E27FC236}">
                <a16:creationId xmlns:a16="http://schemas.microsoft.com/office/drawing/2014/main" id="{09A5C277-85DA-0721-9ACC-0F6C078F59E5}"/>
              </a:ext>
            </a:extLst>
          </p:cNvPr>
          <p:cNvSpPr>
            <a:spLocks noGrp="1"/>
          </p:cNvSpPr>
          <p:nvPr>
            <p:ph sz="quarter" idx="16"/>
          </p:nvPr>
        </p:nvSpPr>
        <p:spPr>
          <a:xfrm>
            <a:off x="1475990" y="2651080"/>
            <a:ext cx="2419427" cy="405683"/>
          </a:xfrm>
        </p:spPr>
        <p:txBody>
          <a:bodyPr wrap="square">
            <a:spAutoFit/>
          </a:bodyPr>
          <a:lstStyle/>
          <a:p>
            <a:pPr marL="0" indent="0">
              <a:buNone/>
            </a:pPr>
            <a:r>
              <a:rPr lang="en-US" sz="2400" dirty="0">
                <a:solidFill>
                  <a:srgbClr val="007FA3"/>
                </a:solidFill>
              </a:rPr>
              <a:t>B.</a:t>
            </a:r>
            <a:r>
              <a:rPr lang="en-US" sz="2400" dirty="0"/>
              <a:t> An open circuit</a:t>
            </a:r>
          </a:p>
        </p:txBody>
      </p:sp>
      <p:pic>
        <p:nvPicPr>
          <p:cNvPr id="37" name="Picture 36" descr="Cross mark">
            <a:extLst>
              <a:ext uri="{FF2B5EF4-FFF2-40B4-BE49-F238E27FC236}">
                <a16:creationId xmlns:a16="http://schemas.microsoft.com/office/drawing/2014/main" id="{2D311EFA-FA7A-D4DF-79C8-117F68ECA1AB}"/>
              </a:ext>
            </a:extLst>
          </p:cNvPr>
          <p:cNvPicPr>
            <a:picLocks noChangeAspect="1"/>
          </p:cNvPicPr>
          <p:nvPr/>
        </p:nvPicPr>
        <p:blipFill>
          <a:blip r:embed="rId3"/>
          <a:stretch>
            <a:fillRect/>
          </a:stretch>
        </p:blipFill>
        <p:spPr>
          <a:xfrm>
            <a:off x="997844" y="3278934"/>
            <a:ext cx="308484" cy="281659"/>
          </a:xfrm>
          <a:prstGeom prst="rect">
            <a:avLst/>
          </a:prstGeom>
        </p:spPr>
      </p:pic>
      <p:sp>
        <p:nvSpPr>
          <p:cNvPr id="8" name="Content Placeholder 7">
            <a:extLst>
              <a:ext uri="{FF2B5EF4-FFF2-40B4-BE49-F238E27FC236}">
                <a16:creationId xmlns:a16="http://schemas.microsoft.com/office/drawing/2014/main" id="{B90459BF-4ADF-6A34-D8F9-F5D0315212FB}"/>
              </a:ext>
            </a:extLst>
          </p:cNvPr>
          <p:cNvSpPr>
            <a:spLocks noGrp="1"/>
          </p:cNvSpPr>
          <p:nvPr>
            <p:ph sz="quarter" idx="17"/>
          </p:nvPr>
        </p:nvSpPr>
        <p:spPr>
          <a:xfrm>
            <a:off x="1475990" y="3201331"/>
            <a:ext cx="1973658" cy="405683"/>
          </a:xfrm>
        </p:spPr>
        <p:txBody>
          <a:bodyPr wrap="square">
            <a:spAutoFit/>
          </a:bodyPr>
          <a:lstStyle/>
          <a:p>
            <a:pPr marL="0" indent="0">
              <a:buNone/>
            </a:pPr>
            <a:r>
              <a:rPr lang="en-US" sz="2400" dirty="0">
                <a:solidFill>
                  <a:srgbClr val="007FA3"/>
                </a:solidFill>
              </a:rPr>
              <a:t>C.</a:t>
            </a:r>
            <a:r>
              <a:rPr lang="en-US" sz="2400" dirty="0"/>
              <a:t> A capacitor</a:t>
            </a:r>
          </a:p>
        </p:txBody>
      </p:sp>
      <p:pic>
        <p:nvPicPr>
          <p:cNvPr id="2" name="Picture 1" descr="A coiled wire drawn between two terminals is shown as a graphic symbol for an inductor. Inductance value is marked as L henrys.">
            <a:extLst>
              <a:ext uri="{FF2B5EF4-FFF2-40B4-BE49-F238E27FC236}">
                <a16:creationId xmlns:a16="http://schemas.microsoft.com/office/drawing/2014/main" id="{3A523BEC-38CF-9ABC-A14F-4D3ACC46C01C}"/>
              </a:ext>
            </a:extLst>
          </p:cNvPr>
          <p:cNvPicPr>
            <a:picLocks noChangeAspect="1"/>
          </p:cNvPicPr>
          <p:nvPr/>
        </p:nvPicPr>
        <p:blipFill rotWithShape="1">
          <a:blip r:embed="rId4"/>
          <a:srcRect t="42479" b="15594"/>
          <a:stretch/>
        </p:blipFill>
        <p:spPr>
          <a:xfrm>
            <a:off x="4912909" y="3815472"/>
            <a:ext cx="2814416" cy="1887017"/>
          </a:xfrm>
          <a:prstGeom prst="rect">
            <a:avLst/>
          </a:prstGeom>
        </p:spPr>
      </p:pic>
    </p:spTree>
    <p:extLst>
      <p:ext uri="{BB962C8B-B14F-4D97-AF65-F5344CB8AC3E}">
        <p14:creationId xmlns:p14="http://schemas.microsoft.com/office/powerpoint/2010/main" val="4034807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129F5AF-E98A-D56C-6177-797612AE00FB}"/>
              </a:ext>
            </a:extLst>
          </p:cNvPr>
          <p:cNvSpPr>
            <a:spLocks noGrp="1"/>
          </p:cNvSpPr>
          <p:nvPr>
            <p:ph type="title"/>
          </p:nvPr>
        </p:nvSpPr>
        <p:spPr>
          <a:xfrm>
            <a:off x="430304" y="160934"/>
            <a:ext cx="8256495" cy="590349"/>
          </a:xfrm>
        </p:spPr>
        <p:txBody>
          <a:bodyPr/>
          <a:lstStyle/>
          <a:p>
            <a:r>
              <a:rPr lang="en-US" dirty="0"/>
              <a:t>Chapter 6 – Inductors </a:t>
            </a:r>
            <a:r>
              <a:rPr lang="en-US" sz="2800" dirty="0"/>
              <a:t>(6 of 17)</a:t>
            </a:r>
          </a:p>
        </p:txBody>
      </p:sp>
      <p:sp>
        <p:nvSpPr>
          <p:cNvPr id="3" name="Content Placeholder 2">
            <a:extLst>
              <a:ext uri="{FF2B5EF4-FFF2-40B4-BE49-F238E27FC236}">
                <a16:creationId xmlns:a16="http://schemas.microsoft.com/office/drawing/2014/main" id="{F05DC9F3-EF95-568B-D6BE-2D2E9E0B214A}"/>
              </a:ext>
            </a:extLst>
          </p:cNvPr>
          <p:cNvSpPr>
            <a:spLocks noGrp="1"/>
          </p:cNvSpPr>
          <p:nvPr>
            <p:ph sz="quarter" idx="12"/>
          </p:nvPr>
        </p:nvSpPr>
        <p:spPr>
          <a:xfrm>
            <a:off x="430304" y="894826"/>
            <a:ext cx="8245383" cy="374906"/>
          </a:xfrm>
        </p:spPr>
        <p:txBody>
          <a:bodyPr/>
          <a:lstStyle/>
          <a:p>
            <a:pPr marL="342900" indent="-342900">
              <a:spcBef>
                <a:spcPts val="600"/>
              </a:spcBef>
            </a:pPr>
            <a:r>
              <a:rPr lang="en-US" altLang="en-US" sz="2200" dirty="0"/>
              <a:t>The equation for current in terms of voltage:</a:t>
            </a:r>
          </a:p>
        </p:txBody>
      </p:sp>
      <p:graphicFrame>
        <p:nvGraphicFramePr>
          <p:cNvPr id="9" name="Object 8" descr="v OpenParenthesis t CloseParenthesis equals L StartFraction d i OpenParenthesis t CloseParenthesis over d t EndFraction, forward arrow, v OpenParenthesis t CloseParenthesis d t equals L d i OpenParenthesis t CloseParenthesis.">
            <a:extLst>
              <a:ext uri="{FF2B5EF4-FFF2-40B4-BE49-F238E27FC236}">
                <a16:creationId xmlns:a16="http://schemas.microsoft.com/office/drawing/2014/main" id="{1EF4A8B7-F4AD-046D-4D7E-ADD86C2CD078}"/>
              </a:ext>
            </a:extLst>
          </p:cNvPr>
          <p:cNvGraphicFramePr>
            <a:graphicFrameLocks noChangeAspect="1"/>
          </p:cNvGraphicFramePr>
          <p:nvPr>
            <p:extLst>
              <p:ext uri="{D42A27DB-BD31-4B8C-83A1-F6EECF244321}">
                <p14:modId xmlns:p14="http://schemas.microsoft.com/office/powerpoint/2010/main" val="2107498687"/>
              </p:ext>
            </p:extLst>
          </p:nvPr>
        </p:nvGraphicFramePr>
        <p:xfrm>
          <a:off x="2292852" y="1551230"/>
          <a:ext cx="4405897" cy="668999"/>
        </p:xfrm>
        <a:graphic>
          <a:graphicData uri="http://schemas.openxmlformats.org/presentationml/2006/ole">
            <mc:AlternateContent xmlns:mc="http://schemas.openxmlformats.org/markup-compatibility/2006">
              <mc:Choice xmlns:v="urn:schemas-microsoft-com:vml" Requires="v">
                <p:oleObj name="Equation" r:id="rId2" imgW="2590560" imgH="393480" progId="Equation.DSMT4">
                  <p:embed/>
                </p:oleObj>
              </mc:Choice>
              <mc:Fallback>
                <p:oleObj name="Equation" r:id="rId2" imgW="2590560" imgH="393480" progId="Equation.DSMT4">
                  <p:embed/>
                  <p:pic>
                    <p:nvPicPr>
                      <p:cNvPr id="22" name="Object 21">
                        <a:extLst>
                          <a:ext uri="{FF2B5EF4-FFF2-40B4-BE49-F238E27FC236}">
                            <a16:creationId xmlns:a16="http://schemas.microsoft.com/office/drawing/2014/main" id="{9B80C1CC-FA43-1CA4-0DA6-7545C5F5F07A}"/>
                          </a:ext>
                        </a:extLst>
                      </p:cNvPr>
                      <p:cNvPicPr>
                        <a:picLocks noChangeAspect="1" noChangeArrowheads="1"/>
                      </p:cNvPicPr>
                      <p:nvPr/>
                    </p:nvPicPr>
                    <p:blipFill>
                      <a:blip r:embed="rId3"/>
                      <a:srcRect/>
                      <a:stretch>
                        <a:fillRect/>
                      </a:stretch>
                    </p:blipFill>
                    <p:spPr bwMode="auto">
                      <a:xfrm>
                        <a:off x="2292852" y="1551230"/>
                        <a:ext cx="4405897" cy="668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descr="Forward arrow, Integral from t subscript o BaseLine to t of v OpenParenthesis Tau CloseParenthesis d Tau equals L Integral from i OpenParenthesis t subscript o CloseParenthesis to i OpenParenthesis t CloseParenthesis d x.">
            <a:extLst>
              <a:ext uri="{FF2B5EF4-FFF2-40B4-BE49-F238E27FC236}">
                <a16:creationId xmlns:a16="http://schemas.microsoft.com/office/drawing/2014/main" id="{FDAC2F2A-7F12-70DC-3C52-D392795325B4}"/>
              </a:ext>
            </a:extLst>
          </p:cNvPr>
          <p:cNvGraphicFramePr>
            <a:graphicFrameLocks noChangeAspect="1"/>
          </p:cNvGraphicFramePr>
          <p:nvPr>
            <p:extLst>
              <p:ext uri="{D42A27DB-BD31-4B8C-83A1-F6EECF244321}">
                <p14:modId xmlns:p14="http://schemas.microsoft.com/office/powerpoint/2010/main" val="3439306173"/>
              </p:ext>
            </p:extLst>
          </p:nvPr>
        </p:nvGraphicFramePr>
        <p:xfrm>
          <a:off x="2147139" y="2418850"/>
          <a:ext cx="3023953" cy="604536"/>
        </p:xfrm>
        <a:graphic>
          <a:graphicData uri="http://schemas.openxmlformats.org/presentationml/2006/ole">
            <mc:AlternateContent xmlns:mc="http://schemas.openxmlformats.org/markup-compatibility/2006">
              <mc:Choice xmlns:v="urn:schemas-microsoft-com:vml" Requires="v">
                <p:oleObj name="Equation" r:id="rId4" imgW="1777680" imgH="355320" progId="Equation.DSMT4">
                  <p:embed/>
                </p:oleObj>
              </mc:Choice>
              <mc:Fallback>
                <p:oleObj name="Equation" r:id="rId4" imgW="1777680" imgH="355320" progId="Equation.DSMT4">
                  <p:embed/>
                  <p:pic>
                    <p:nvPicPr>
                      <p:cNvPr id="9" name="Object 8">
                        <a:extLst>
                          <a:ext uri="{FF2B5EF4-FFF2-40B4-BE49-F238E27FC236}">
                            <a16:creationId xmlns:a16="http://schemas.microsoft.com/office/drawing/2014/main" id="{1EF4A8B7-F4AD-046D-4D7E-ADD86C2CD078}"/>
                          </a:ext>
                        </a:extLst>
                      </p:cNvPr>
                      <p:cNvPicPr>
                        <a:picLocks noChangeAspect="1" noChangeArrowheads="1"/>
                      </p:cNvPicPr>
                      <p:nvPr/>
                    </p:nvPicPr>
                    <p:blipFill>
                      <a:blip r:embed="rId5"/>
                      <a:srcRect/>
                      <a:stretch>
                        <a:fillRect/>
                      </a:stretch>
                    </p:blipFill>
                    <p:spPr bwMode="auto">
                      <a:xfrm>
                        <a:off x="2147139" y="2418850"/>
                        <a:ext cx="3023953" cy="60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descr="Forward arrow, i OpenParenthesis t CloseParenthesis equals StartFraction 1 over L EndFraction Integral from t subscript o Baseline to t of v OpenParenthesis Tau CloseParenthesis d Tau plus i OpenParenthesis t subscript o CloseParenthesis. ">
            <a:extLst>
              <a:ext uri="{FF2B5EF4-FFF2-40B4-BE49-F238E27FC236}">
                <a16:creationId xmlns:a16="http://schemas.microsoft.com/office/drawing/2014/main" id="{C06E2DDD-5882-1EC8-6280-64E4096F40B8}"/>
              </a:ext>
            </a:extLst>
          </p:cNvPr>
          <p:cNvGraphicFramePr>
            <a:graphicFrameLocks noChangeAspect="1"/>
          </p:cNvGraphicFramePr>
          <p:nvPr>
            <p:extLst>
              <p:ext uri="{D42A27DB-BD31-4B8C-83A1-F6EECF244321}">
                <p14:modId xmlns:p14="http://schemas.microsoft.com/office/powerpoint/2010/main" val="1143821840"/>
              </p:ext>
            </p:extLst>
          </p:nvPr>
        </p:nvGraphicFramePr>
        <p:xfrm>
          <a:off x="2193690" y="3249758"/>
          <a:ext cx="3456311" cy="691262"/>
        </p:xfrm>
        <a:graphic>
          <a:graphicData uri="http://schemas.openxmlformats.org/presentationml/2006/ole">
            <mc:AlternateContent xmlns:mc="http://schemas.openxmlformats.org/markup-compatibility/2006">
              <mc:Choice xmlns:v="urn:schemas-microsoft-com:vml" Requires="v">
                <p:oleObj name="Equation" r:id="rId6" imgW="2031840" imgH="406080" progId="Equation.DSMT4">
                  <p:embed/>
                </p:oleObj>
              </mc:Choice>
              <mc:Fallback>
                <p:oleObj name="Equation" r:id="rId6" imgW="2031840" imgH="406080" progId="Equation.DSMT4">
                  <p:embed/>
                  <p:pic>
                    <p:nvPicPr>
                      <p:cNvPr id="10" name="Object 9">
                        <a:extLst>
                          <a:ext uri="{FF2B5EF4-FFF2-40B4-BE49-F238E27FC236}">
                            <a16:creationId xmlns:a16="http://schemas.microsoft.com/office/drawing/2014/main" id="{FDAC2F2A-7F12-70DC-3C52-D392795325B4}"/>
                          </a:ext>
                        </a:extLst>
                      </p:cNvPr>
                      <p:cNvPicPr>
                        <a:picLocks noChangeAspect="1" noChangeArrowheads="1"/>
                      </p:cNvPicPr>
                      <p:nvPr/>
                    </p:nvPicPr>
                    <p:blipFill>
                      <a:blip r:embed="rId7"/>
                      <a:srcRect/>
                      <a:stretch>
                        <a:fillRect/>
                      </a:stretch>
                    </p:blipFill>
                    <p:spPr bwMode="auto">
                      <a:xfrm>
                        <a:off x="2193690" y="3249758"/>
                        <a:ext cx="3456311" cy="69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76699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5B699-CFED-EF78-F14F-205F70090176}"/>
              </a:ext>
            </a:extLst>
          </p:cNvPr>
          <p:cNvSpPr>
            <a:spLocks noGrp="1"/>
          </p:cNvSpPr>
          <p:nvPr>
            <p:ph type="title"/>
          </p:nvPr>
        </p:nvSpPr>
        <p:spPr>
          <a:xfrm>
            <a:off x="430304" y="160936"/>
            <a:ext cx="8245383" cy="590349"/>
          </a:xfrm>
        </p:spPr>
        <p:txBody>
          <a:bodyPr/>
          <a:lstStyle/>
          <a:p>
            <a:r>
              <a:rPr lang="en-US" dirty="0"/>
              <a:t>Chapter 6 – Inductors </a:t>
            </a:r>
            <a:r>
              <a:rPr lang="en-US" sz="2800" dirty="0"/>
              <a:t>(7 of 17)</a:t>
            </a:r>
            <a:endParaRPr lang="en-US" dirty="0"/>
          </a:p>
        </p:txBody>
      </p:sp>
      <p:sp>
        <p:nvSpPr>
          <p:cNvPr id="3" name="Content Placeholder 2">
            <a:extLst>
              <a:ext uri="{FF2B5EF4-FFF2-40B4-BE49-F238E27FC236}">
                <a16:creationId xmlns:a16="http://schemas.microsoft.com/office/drawing/2014/main" id="{2D21D79B-DB30-684D-B056-1058B25B5299}"/>
              </a:ext>
            </a:extLst>
          </p:cNvPr>
          <p:cNvSpPr>
            <a:spLocks noGrp="1"/>
          </p:cNvSpPr>
          <p:nvPr>
            <p:ph sz="quarter" idx="12"/>
          </p:nvPr>
        </p:nvSpPr>
        <p:spPr>
          <a:xfrm>
            <a:off x="430304" y="900925"/>
            <a:ext cx="2617693" cy="374906"/>
          </a:xfrm>
        </p:spPr>
        <p:txBody>
          <a:bodyPr wrap="square">
            <a:spAutoFit/>
          </a:bodyPr>
          <a:lstStyle/>
          <a:p>
            <a:pPr marL="342900" indent="-342900"/>
            <a:r>
              <a:rPr lang="en-US" altLang="en-US" sz="2200" dirty="0"/>
              <a:t>Power and energy</a:t>
            </a:r>
          </a:p>
        </p:txBody>
      </p:sp>
      <p:graphicFrame>
        <p:nvGraphicFramePr>
          <p:cNvPr id="21" name="Object 20" descr="p OpenParenthesis t CloseParenthesis equals v OpenParenthesis t CloseParenthesis i OpenParenthesis t CloseParenthesis equals L i OpenParenthesis t CloseParenthesis StartFraction d i OpenParenthesis t CloseParenthesis over d t EndFraction. ">
            <a:extLst>
              <a:ext uri="{FF2B5EF4-FFF2-40B4-BE49-F238E27FC236}">
                <a16:creationId xmlns:a16="http://schemas.microsoft.com/office/drawing/2014/main" id="{27A3347F-AD3D-F3F2-D2E3-29B5F3D23DA2}"/>
              </a:ext>
            </a:extLst>
          </p:cNvPr>
          <p:cNvGraphicFramePr>
            <a:graphicFrameLocks noChangeAspect="1"/>
          </p:cNvGraphicFramePr>
          <p:nvPr>
            <p:extLst>
              <p:ext uri="{D42A27DB-BD31-4B8C-83A1-F6EECF244321}">
                <p14:modId xmlns:p14="http://schemas.microsoft.com/office/powerpoint/2010/main" val="1784673116"/>
              </p:ext>
            </p:extLst>
          </p:nvPr>
        </p:nvGraphicFramePr>
        <p:xfrm>
          <a:off x="1570034" y="1613802"/>
          <a:ext cx="2955925" cy="709612"/>
        </p:xfrm>
        <a:graphic>
          <a:graphicData uri="http://schemas.openxmlformats.org/presentationml/2006/ole">
            <mc:AlternateContent xmlns:mc="http://schemas.openxmlformats.org/markup-compatibility/2006">
              <mc:Choice xmlns:v="urn:schemas-microsoft-com:vml" Requires="v">
                <p:oleObj name="Equation" r:id="rId2" imgW="1688760" imgH="406080" progId="Equation.DSMT4">
                  <p:embed/>
                </p:oleObj>
              </mc:Choice>
              <mc:Fallback>
                <p:oleObj name="Equation" r:id="rId2" imgW="1688760" imgH="406080" progId="Equation.DSMT4">
                  <p:embed/>
                  <p:pic>
                    <p:nvPicPr>
                      <p:cNvPr id="22" name="Object 21">
                        <a:extLst>
                          <a:ext uri="{FF2B5EF4-FFF2-40B4-BE49-F238E27FC236}">
                            <a16:creationId xmlns:a16="http://schemas.microsoft.com/office/drawing/2014/main" id="{CA75FCB3-854B-AF1E-DA00-121A41356FAA}"/>
                          </a:ext>
                        </a:extLst>
                      </p:cNvPr>
                      <p:cNvPicPr>
                        <a:picLocks noChangeAspect="1" noChangeArrowheads="1"/>
                      </p:cNvPicPr>
                      <p:nvPr/>
                    </p:nvPicPr>
                    <p:blipFill>
                      <a:blip r:embed="rId3"/>
                      <a:srcRect/>
                      <a:stretch>
                        <a:fillRect/>
                      </a:stretch>
                    </p:blipFill>
                    <p:spPr bwMode="auto">
                      <a:xfrm>
                        <a:off x="1570034" y="1613802"/>
                        <a:ext cx="2955925"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21" descr="p OpenParenthesis t CloseParenthesis equals StartFraction d w OpenParenthesis t CloseParenthesis over d t EndFraction equals L i OpenParenthesis t CloseParenthesis StartFraction d i OpenParenthesis t CloseParenthesis over d t EndFraction. ">
            <a:extLst>
              <a:ext uri="{FF2B5EF4-FFF2-40B4-BE49-F238E27FC236}">
                <a16:creationId xmlns:a16="http://schemas.microsoft.com/office/drawing/2014/main" id="{10A3C2BF-917A-2196-B1A0-241CF29BF105}"/>
              </a:ext>
            </a:extLst>
          </p:cNvPr>
          <p:cNvGraphicFramePr>
            <a:graphicFrameLocks noChangeAspect="1"/>
          </p:cNvGraphicFramePr>
          <p:nvPr>
            <p:extLst>
              <p:ext uri="{D42A27DB-BD31-4B8C-83A1-F6EECF244321}">
                <p14:modId xmlns:p14="http://schemas.microsoft.com/office/powerpoint/2010/main" val="3479094973"/>
              </p:ext>
            </p:extLst>
          </p:nvPr>
        </p:nvGraphicFramePr>
        <p:xfrm>
          <a:off x="1549679" y="2437376"/>
          <a:ext cx="2843212" cy="709612"/>
        </p:xfrm>
        <a:graphic>
          <a:graphicData uri="http://schemas.openxmlformats.org/presentationml/2006/ole">
            <mc:AlternateContent xmlns:mc="http://schemas.openxmlformats.org/markup-compatibility/2006">
              <mc:Choice xmlns:v="urn:schemas-microsoft-com:vml" Requires="v">
                <p:oleObj name="Equation" r:id="rId4" imgW="1625400" imgH="406080" progId="Equation.DSMT4">
                  <p:embed/>
                </p:oleObj>
              </mc:Choice>
              <mc:Fallback>
                <p:oleObj name="Equation" r:id="rId4" imgW="1625400" imgH="406080" progId="Equation.DSMT4">
                  <p:embed/>
                  <p:pic>
                    <p:nvPicPr>
                      <p:cNvPr id="23" name="Object 22">
                        <a:extLst>
                          <a:ext uri="{FF2B5EF4-FFF2-40B4-BE49-F238E27FC236}">
                            <a16:creationId xmlns:a16="http://schemas.microsoft.com/office/drawing/2014/main" id="{D1524A77-6556-A2C8-0B63-D4610DA81607}"/>
                          </a:ext>
                        </a:extLst>
                      </p:cNvPr>
                      <p:cNvPicPr>
                        <a:picLocks noChangeAspect="1" noChangeArrowheads="1"/>
                      </p:cNvPicPr>
                      <p:nvPr/>
                    </p:nvPicPr>
                    <p:blipFill>
                      <a:blip r:embed="rId5"/>
                      <a:srcRect/>
                      <a:stretch>
                        <a:fillRect/>
                      </a:stretch>
                    </p:blipFill>
                    <p:spPr bwMode="auto">
                      <a:xfrm>
                        <a:off x="1549679" y="2437376"/>
                        <a:ext cx="2843212"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2" descr="Forward arrow, d w OpenParenthesis Tau CloseParenthesis equals L i OpenParenthesis Tau CloseParenthesis d i OpenParenthesis Tau CloseParenthesis.">
            <a:extLst>
              <a:ext uri="{FF2B5EF4-FFF2-40B4-BE49-F238E27FC236}">
                <a16:creationId xmlns:a16="http://schemas.microsoft.com/office/drawing/2014/main" id="{84B0D46E-EA67-F677-1888-1605F3F20DCA}"/>
              </a:ext>
            </a:extLst>
          </p:cNvPr>
          <p:cNvGraphicFramePr>
            <a:graphicFrameLocks noChangeAspect="1"/>
          </p:cNvGraphicFramePr>
          <p:nvPr>
            <p:extLst>
              <p:ext uri="{D42A27DB-BD31-4B8C-83A1-F6EECF244321}">
                <p14:modId xmlns:p14="http://schemas.microsoft.com/office/powerpoint/2010/main" val="1050704029"/>
              </p:ext>
            </p:extLst>
          </p:nvPr>
        </p:nvGraphicFramePr>
        <p:xfrm>
          <a:off x="1608885" y="3345988"/>
          <a:ext cx="2976562" cy="377825"/>
        </p:xfrm>
        <a:graphic>
          <a:graphicData uri="http://schemas.openxmlformats.org/presentationml/2006/ole">
            <mc:AlternateContent xmlns:mc="http://schemas.openxmlformats.org/markup-compatibility/2006">
              <mc:Choice xmlns:v="urn:schemas-microsoft-com:vml" Requires="v">
                <p:oleObj name="Equation" r:id="rId6" imgW="1701720" imgH="215640" progId="Equation.DSMT4">
                  <p:embed/>
                </p:oleObj>
              </mc:Choice>
              <mc:Fallback>
                <p:oleObj name="Equation" r:id="rId6" imgW="1701720" imgH="215640" progId="Equation.DSMT4">
                  <p:embed/>
                  <p:pic>
                    <p:nvPicPr>
                      <p:cNvPr id="24" name="Object 23">
                        <a:extLst>
                          <a:ext uri="{FF2B5EF4-FFF2-40B4-BE49-F238E27FC236}">
                            <a16:creationId xmlns:a16="http://schemas.microsoft.com/office/drawing/2014/main" id="{71DD6BB4-FED3-4542-1ED1-50EBF9CCECA7}"/>
                          </a:ext>
                        </a:extLst>
                      </p:cNvPr>
                      <p:cNvPicPr>
                        <a:picLocks noChangeAspect="1" noChangeArrowheads="1"/>
                      </p:cNvPicPr>
                      <p:nvPr/>
                    </p:nvPicPr>
                    <p:blipFill>
                      <a:blip r:embed="rId7"/>
                      <a:srcRect/>
                      <a:stretch>
                        <a:fillRect/>
                      </a:stretch>
                    </p:blipFill>
                    <p:spPr bwMode="auto">
                      <a:xfrm>
                        <a:off x="1608885" y="3345988"/>
                        <a:ext cx="297656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3" descr="Forward arrow, Integral from 0 to w OpenParenthesis t CloseParenthesis of d x equals L Integral from 0 to i OpenParenthesis t CloseParenthesis of y OpenParenthesis Tau CloseParenthesis d Tau.">
            <a:extLst>
              <a:ext uri="{FF2B5EF4-FFF2-40B4-BE49-F238E27FC236}">
                <a16:creationId xmlns:a16="http://schemas.microsoft.com/office/drawing/2014/main" id="{7FD0FFBA-AAB2-2561-A87C-FD1247319671}"/>
              </a:ext>
            </a:extLst>
          </p:cNvPr>
          <p:cNvGraphicFramePr>
            <a:graphicFrameLocks noChangeAspect="1"/>
          </p:cNvGraphicFramePr>
          <p:nvPr>
            <p:extLst>
              <p:ext uri="{D42A27DB-BD31-4B8C-83A1-F6EECF244321}">
                <p14:modId xmlns:p14="http://schemas.microsoft.com/office/powerpoint/2010/main" val="970807003"/>
              </p:ext>
            </p:extLst>
          </p:nvPr>
        </p:nvGraphicFramePr>
        <p:xfrm>
          <a:off x="1617663" y="3883025"/>
          <a:ext cx="3354387" cy="577850"/>
        </p:xfrm>
        <a:graphic>
          <a:graphicData uri="http://schemas.openxmlformats.org/presentationml/2006/ole">
            <mc:AlternateContent xmlns:mc="http://schemas.openxmlformats.org/markup-compatibility/2006">
              <mc:Choice xmlns:v="urn:schemas-microsoft-com:vml" Requires="v">
                <p:oleObj name="Equation" r:id="rId8" imgW="1917360" imgH="330120" progId="Equation.DSMT4">
                  <p:embed/>
                </p:oleObj>
              </mc:Choice>
              <mc:Fallback>
                <p:oleObj name="Equation" r:id="rId8" imgW="1917360" imgH="330120" progId="Equation.DSMT4">
                  <p:embed/>
                  <p:pic>
                    <p:nvPicPr>
                      <p:cNvPr id="25" name="Object 24">
                        <a:extLst>
                          <a:ext uri="{FF2B5EF4-FFF2-40B4-BE49-F238E27FC236}">
                            <a16:creationId xmlns:a16="http://schemas.microsoft.com/office/drawing/2014/main" id="{87C0A298-39C8-B49D-96F8-4E1F86B1399B}"/>
                          </a:ext>
                        </a:extLst>
                      </p:cNvPr>
                      <p:cNvPicPr>
                        <a:picLocks noChangeAspect="1" noChangeArrowheads="1"/>
                      </p:cNvPicPr>
                      <p:nvPr/>
                    </p:nvPicPr>
                    <p:blipFill>
                      <a:blip r:embed="rId9"/>
                      <a:srcRect/>
                      <a:stretch>
                        <a:fillRect/>
                      </a:stretch>
                    </p:blipFill>
                    <p:spPr bwMode="auto">
                      <a:xfrm>
                        <a:off x="1617663" y="3883025"/>
                        <a:ext cx="3354387"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4" descr="Forward arrow, w OpenParenthesis t CloseParenthesis equals StartFraction 1 over 2 EndFraction L i OpenParenthesis t CloseParenthesis squared.">
            <a:extLst>
              <a:ext uri="{FF2B5EF4-FFF2-40B4-BE49-F238E27FC236}">
                <a16:creationId xmlns:a16="http://schemas.microsoft.com/office/drawing/2014/main" id="{6590AE02-8570-A043-4C74-EED2B0D9021C}"/>
              </a:ext>
            </a:extLst>
          </p:cNvPr>
          <p:cNvGraphicFramePr>
            <a:graphicFrameLocks noChangeAspect="1"/>
          </p:cNvGraphicFramePr>
          <p:nvPr>
            <p:extLst>
              <p:ext uri="{D42A27DB-BD31-4B8C-83A1-F6EECF244321}">
                <p14:modId xmlns:p14="http://schemas.microsoft.com/office/powerpoint/2010/main" val="2776974362"/>
              </p:ext>
            </p:extLst>
          </p:nvPr>
        </p:nvGraphicFramePr>
        <p:xfrm>
          <a:off x="1621955" y="4651099"/>
          <a:ext cx="2465387" cy="422275"/>
        </p:xfrm>
        <a:graphic>
          <a:graphicData uri="http://schemas.openxmlformats.org/presentationml/2006/ole">
            <mc:AlternateContent xmlns:mc="http://schemas.openxmlformats.org/markup-compatibility/2006">
              <mc:Choice xmlns:v="urn:schemas-microsoft-com:vml" Requires="v">
                <p:oleObj name="Equation" r:id="rId10" imgW="1409400" imgH="241200" progId="Equation.DSMT4">
                  <p:embed/>
                </p:oleObj>
              </mc:Choice>
              <mc:Fallback>
                <p:oleObj name="Equation" r:id="rId10" imgW="1409400" imgH="241200" progId="Equation.DSMT4">
                  <p:embed/>
                  <p:pic>
                    <p:nvPicPr>
                      <p:cNvPr id="26" name="Object 25">
                        <a:extLst>
                          <a:ext uri="{FF2B5EF4-FFF2-40B4-BE49-F238E27FC236}">
                            <a16:creationId xmlns:a16="http://schemas.microsoft.com/office/drawing/2014/main" id="{03569A29-0C60-11D8-0A49-A07BFD9B526A}"/>
                          </a:ext>
                        </a:extLst>
                      </p:cNvPr>
                      <p:cNvPicPr>
                        <a:picLocks noChangeAspect="1" noChangeArrowheads="1"/>
                      </p:cNvPicPr>
                      <p:nvPr/>
                    </p:nvPicPr>
                    <p:blipFill>
                      <a:blip r:embed="rId11"/>
                      <a:srcRect/>
                      <a:stretch>
                        <a:fillRect/>
                      </a:stretch>
                    </p:blipFill>
                    <p:spPr bwMode="auto">
                      <a:xfrm>
                        <a:off x="1621955" y="4651099"/>
                        <a:ext cx="24653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a:extLst>
              <a:ext uri="{FF2B5EF4-FFF2-40B4-BE49-F238E27FC236}">
                <a16:creationId xmlns:a16="http://schemas.microsoft.com/office/drawing/2014/main" id="{3A570856-2262-13B8-E119-7CAACD364B81}"/>
              </a:ext>
            </a:extLst>
          </p:cNvPr>
          <p:cNvSpPr>
            <a:spLocks noGrp="1"/>
          </p:cNvSpPr>
          <p:nvPr>
            <p:ph sz="quarter" idx="13"/>
          </p:nvPr>
        </p:nvSpPr>
        <p:spPr/>
        <p:txBody>
          <a:bodyPr/>
          <a:lstStyle/>
          <a:p>
            <a:endParaRPr lang="tr-TR"/>
          </a:p>
        </p:txBody>
      </p:sp>
    </p:spTree>
    <p:extLst>
      <p:ext uri="{BB962C8B-B14F-4D97-AF65-F5344CB8AC3E}">
        <p14:creationId xmlns:p14="http://schemas.microsoft.com/office/powerpoint/2010/main" val="1215053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129F5AF-E98A-D56C-6177-797612AE00FB}"/>
              </a:ext>
            </a:extLst>
          </p:cNvPr>
          <p:cNvSpPr>
            <a:spLocks noGrp="1"/>
          </p:cNvSpPr>
          <p:nvPr>
            <p:ph type="title"/>
          </p:nvPr>
        </p:nvSpPr>
        <p:spPr>
          <a:xfrm>
            <a:off x="430304" y="160934"/>
            <a:ext cx="8256495" cy="590349"/>
          </a:xfrm>
        </p:spPr>
        <p:txBody>
          <a:bodyPr/>
          <a:lstStyle/>
          <a:p>
            <a:r>
              <a:rPr lang="en-US" dirty="0"/>
              <a:t>Chapter 6 – Inductors </a:t>
            </a:r>
            <a:r>
              <a:rPr lang="en-US" sz="2800" dirty="0"/>
              <a:t>(8 of 17)</a:t>
            </a:r>
          </a:p>
        </p:txBody>
      </p:sp>
      <p:sp>
        <p:nvSpPr>
          <p:cNvPr id="3" name="Content Placeholder 2">
            <a:extLst>
              <a:ext uri="{FF2B5EF4-FFF2-40B4-BE49-F238E27FC236}">
                <a16:creationId xmlns:a16="http://schemas.microsoft.com/office/drawing/2014/main" id="{F05DC9F3-EF95-568B-D6BE-2D2E9E0B214A}"/>
              </a:ext>
            </a:extLst>
          </p:cNvPr>
          <p:cNvSpPr>
            <a:spLocks noGrp="1"/>
          </p:cNvSpPr>
          <p:nvPr>
            <p:ph sz="quarter" idx="12"/>
          </p:nvPr>
        </p:nvSpPr>
        <p:spPr>
          <a:xfrm>
            <a:off x="430304" y="892972"/>
            <a:ext cx="8245383" cy="1221291"/>
          </a:xfrm>
        </p:spPr>
        <p:txBody>
          <a:bodyPr/>
          <a:lstStyle/>
          <a:p>
            <a:pPr marL="342900" indent="-342900">
              <a:spcBef>
                <a:spcPts val="600"/>
              </a:spcBef>
            </a:pPr>
            <a:r>
              <a:rPr lang="en-US" altLang="en-US" sz="2400" dirty="0"/>
              <a:t>Inductors are </a:t>
            </a:r>
            <a:r>
              <a:rPr lang="en-US" altLang="en-US" sz="2400" b="1" dirty="0"/>
              <a:t>energy storage devices</a:t>
            </a:r>
            <a:r>
              <a:rPr lang="en-US" altLang="en-US" sz="2400" dirty="0"/>
              <a:t>!</a:t>
            </a:r>
          </a:p>
          <a:p>
            <a:pPr marL="829818" lvl="1" indent="-342900"/>
            <a:r>
              <a:rPr lang="en-US" altLang="en-US" sz="2400" dirty="0"/>
              <a:t>If the initial current through the inductor is non-zero, the inductor is storing energy.</a:t>
            </a:r>
          </a:p>
        </p:txBody>
      </p:sp>
    </p:spTree>
    <p:extLst>
      <p:ext uri="{BB962C8B-B14F-4D97-AF65-F5344CB8AC3E}">
        <p14:creationId xmlns:p14="http://schemas.microsoft.com/office/powerpoint/2010/main" val="1789736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7C6A5C15-3E9E-C2F8-BA01-50BA7FEC8169}"/>
              </a:ext>
            </a:extLst>
          </p:cNvPr>
          <p:cNvSpPr>
            <a:spLocks noGrp="1"/>
          </p:cNvSpPr>
          <p:nvPr>
            <p:ph type="title"/>
          </p:nvPr>
        </p:nvSpPr>
        <p:spPr>
          <a:xfrm>
            <a:off x="430304" y="160934"/>
            <a:ext cx="8256495" cy="590349"/>
          </a:xfrm>
        </p:spPr>
        <p:txBody>
          <a:bodyPr/>
          <a:lstStyle/>
          <a:p>
            <a:r>
              <a:rPr lang="en-US" dirty="0"/>
              <a:t>Chapter 6 – Inductors </a:t>
            </a:r>
            <a:r>
              <a:rPr lang="en-US" sz="2800" dirty="0"/>
              <a:t>(9 of 17)</a:t>
            </a:r>
          </a:p>
        </p:txBody>
      </p:sp>
      <p:sp>
        <p:nvSpPr>
          <p:cNvPr id="3" name="Content Placeholder 2">
            <a:extLst>
              <a:ext uri="{FF2B5EF4-FFF2-40B4-BE49-F238E27FC236}">
                <a16:creationId xmlns:a16="http://schemas.microsoft.com/office/drawing/2014/main" id="{58601785-3498-9F45-7F38-735042157237}"/>
              </a:ext>
            </a:extLst>
          </p:cNvPr>
          <p:cNvSpPr>
            <a:spLocks noGrp="1"/>
          </p:cNvSpPr>
          <p:nvPr>
            <p:ph sz="quarter" idx="12"/>
          </p:nvPr>
        </p:nvSpPr>
        <p:spPr>
          <a:xfrm>
            <a:off x="430303" y="896223"/>
            <a:ext cx="8256495" cy="775015"/>
          </a:xfrm>
        </p:spPr>
        <p:txBody>
          <a:bodyPr wrap="square">
            <a:spAutoFit/>
          </a:bodyPr>
          <a:lstStyle/>
          <a:p>
            <a:pPr marL="0" indent="0">
              <a:buNone/>
            </a:pPr>
            <a:r>
              <a:rPr lang="en-US" altLang="en-US" sz="2400" dirty="0"/>
              <a:t>Suppose the initial current through a 2 m</a:t>
            </a:r>
            <a:r>
              <a:rPr lang="en-US" altLang="en-US" sz="100" dirty="0"/>
              <a:t> </a:t>
            </a:r>
            <a:r>
              <a:rPr lang="en-US" altLang="en-US" sz="2400" dirty="0"/>
              <a:t>H inductor is 1 A. The initial energy stored in the inductor is</a:t>
            </a:r>
            <a:endParaRPr lang="en-US" sz="2400" dirty="0"/>
          </a:p>
        </p:txBody>
      </p:sp>
      <p:pic>
        <p:nvPicPr>
          <p:cNvPr id="32" name="Picture 31" descr="Check mark">
            <a:extLst>
              <a:ext uri="{FF2B5EF4-FFF2-40B4-BE49-F238E27FC236}">
                <a16:creationId xmlns:a16="http://schemas.microsoft.com/office/drawing/2014/main" id="{FAF45DB3-C62F-5974-8DDD-15145ABB3056}"/>
              </a:ext>
            </a:extLst>
          </p:cNvPr>
          <p:cNvPicPr>
            <a:picLocks noChangeAspect="1"/>
          </p:cNvPicPr>
          <p:nvPr/>
        </p:nvPicPr>
        <p:blipFill>
          <a:blip r:embed="rId2"/>
          <a:stretch>
            <a:fillRect/>
          </a:stretch>
        </p:blipFill>
        <p:spPr>
          <a:xfrm>
            <a:off x="968838" y="2118710"/>
            <a:ext cx="339332" cy="302449"/>
          </a:xfrm>
          <a:prstGeom prst="rect">
            <a:avLst/>
          </a:prstGeom>
        </p:spPr>
      </p:pic>
      <p:sp>
        <p:nvSpPr>
          <p:cNvPr id="5" name="Content Placeholder 4">
            <a:extLst>
              <a:ext uri="{FF2B5EF4-FFF2-40B4-BE49-F238E27FC236}">
                <a16:creationId xmlns:a16="http://schemas.microsoft.com/office/drawing/2014/main" id="{170874DA-2B30-8F8E-F92E-E96010367280}"/>
              </a:ext>
            </a:extLst>
          </p:cNvPr>
          <p:cNvSpPr>
            <a:spLocks noGrp="1"/>
          </p:cNvSpPr>
          <p:nvPr>
            <p:ph sz="quarter" idx="14"/>
          </p:nvPr>
        </p:nvSpPr>
        <p:spPr>
          <a:xfrm>
            <a:off x="1475991" y="2067094"/>
            <a:ext cx="1069986" cy="405683"/>
          </a:xfrm>
        </p:spPr>
        <p:txBody>
          <a:bodyPr wrap="square">
            <a:spAutoFit/>
          </a:bodyPr>
          <a:lstStyle/>
          <a:p>
            <a:pPr marL="0" indent="0">
              <a:buNone/>
              <a:defRPr/>
            </a:pPr>
            <a:r>
              <a:rPr lang="en-US" sz="2400" dirty="0">
                <a:solidFill>
                  <a:srgbClr val="007FA3"/>
                </a:solidFill>
              </a:rPr>
              <a:t>A.</a:t>
            </a:r>
            <a:r>
              <a:rPr lang="en-US" sz="2400" dirty="0"/>
              <a:t> 1 m</a:t>
            </a:r>
            <a:r>
              <a:rPr lang="en-US" sz="100" dirty="0"/>
              <a:t> </a:t>
            </a:r>
            <a:r>
              <a:rPr lang="en-US" sz="2400" dirty="0"/>
              <a:t>J</a:t>
            </a:r>
          </a:p>
        </p:txBody>
      </p:sp>
      <p:pic>
        <p:nvPicPr>
          <p:cNvPr id="36" name="Picture 35" descr="Cross mark">
            <a:extLst>
              <a:ext uri="{FF2B5EF4-FFF2-40B4-BE49-F238E27FC236}">
                <a16:creationId xmlns:a16="http://schemas.microsoft.com/office/drawing/2014/main" id="{7D06AA21-BC93-4981-AA59-92099B017455}"/>
              </a:ext>
            </a:extLst>
          </p:cNvPr>
          <p:cNvPicPr>
            <a:picLocks noChangeAspect="1"/>
          </p:cNvPicPr>
          <p:nvPr/>
        </p:nvPicPr>
        <p:blipFill>
          <a:blip r:embed="rId3"/>
          <a:stretch>
            <a:fillRect/>
          </a:stretch>
        </p:blipFill>
        <p:spPr>
          <a:xfrm>
            <a:off x="999686" y="2700906"/>
            <a:ext cx="308484" cy="281659"/>
          </a:xfrm>
          <a:prstGeom prst="rect">
            <a:avLst/>
          </a:prstGeom>
        </p:spPr>
      </p:pic>
      <p:sp>
        <p:nvSpPr>
          <p:cNvPr id="7" name="Content Placeholder 6">
            <a:extLst>
              <a:ext uri="{FF2B5EF4-FFF2-40B4-BE49-F238E27FC236}">
                <a16:creationId xmlns:a16="http://schemas.microsoft.com/office/drawing/2014/main" id="{D773CE4E-81E9-3152-ABE0-B1EF164D7A24}"/>
              </a:ext>
            </a:extLst>
          </p:cNvPr>
          <p:cNvSpPr>
            <a:spLocks noGrp="1"/>
          </p:cNvSpPr>
          <p:nvPr>
            <p:ph sz="quarter" idx="16"/>
          </p:nvPr>
        </p:nvSpPr>
        <p:spPr>
          <a:xfrm>
            <a:off x="1475990" y="2651080"/>
            <a:ext cx="1069987" cy="405683"/>
          </a:xfrm>
        </p:spPr>
        <p:txBody>
          <a:bodyPr wrap="square">
            <a:spAutoFit/>
          </a:bodyPr>
          <a:lstStyle/>
          <a:p>
            <a:pPr marL="0" indent="0">
              <a:buNone/>
            </a:pPr>
            <a:r>
              <a:rPr lang="en-US" sz="2400" dirty="0">
                <a:solidFill>
                  <a:srgbClr val="007FA3"/>
                </a:solidFill>
              </a:rPr>
              <a:t>B.</a:t>
            </a:r>
            <a:r>
              <a:rPr lang="en-US" sz="2400" dirty="0"/>
              <a:t> 2 m</a:t>
            </a:r>
            <a:r>
              <a:rPr lang="en-US" sz="100" dirty="0"/>
              <a:t> </a:t>
            </a:r>
            <a:r>
              <a:rPr lang="en-US" sz="2400" dirty="0"/>
              <a:t>J</a:t>
            </a:r>
          </a:p>
        </p:txBody>
      </p:sp>
      <p:pic>
        <p:nvPicPr>
          <p:cNvPr id="37" name="Picture 36" descr="Cross mark">
            <a:extLst>
              <a:ext uri="{FF2B5EF4-FFF2-40B4-BE49-F238E27FC236}">
                <a16:creationId xmlns:a16="http://schemas.microsoft.com/office/drawing/2014/main" id="{D0926D34-5035-F7A8-7A76-C70D6F9EFDC9}"/>
              </a:ext>
            </a:extLst>
          </p:cNvPr>
          <p:cNvPicPr>
            <a:picLocks noChangeAspect="1"/>
          </p:cNvPicPr>
          <p:nvPr/>
        </p:nvPicPr>
        <p:blipFill>
          <a:blip r:embed="rId3"/>
          <a:stretch>
            <a:fillRect/>
          </a:stretch>
        </p:blipFill>
        <p:spPr>
          <a:xfrm>
            <a:off x="997844" y="3278934"/>
            <a:ext cx="308484" cy="281659"/>
          </a:xfrm>
          <a:prstGeom prst="rect">
            <a:avLst/>
          </a:prstGeom>
        </p:spPr>
      </p:pic>
      <p:sp>
        <p:nvSpPr>
          <p:cNvPr id="8" name="Content Placeholder 7">
            <a:extLst>
              <a:ext uri="{FF2B5EF4-FFF2-40B4-BE49-F238E27FC236}">
                <a16:creationId xmlns:a16="http://schemas.microsoft.com/office/drawing/2014/main" id="{F92EC550-B670-A9E8-AD44-3E7ECB17E247}"/>
              </a:ext>
            </a:extLst>
          </p:cNvPr>
          <p:cNvSpPr>
            <a:spLocks noGrp="1"/>
          </p:cNvSpPr>
          <p:nvPr>
            <p:ph sz="quarter" idx="17"/>
          </p:nvPr>
        </p:nvSpPr>
        <p:spPr>
          <a:xfrm>
            <a:off x="1475990" y="3201331"/>
            <a:ext cx="1069987" cy="405683"/>
          </a:xfrm>
        </p:spPr>
        <p:txBody>
          <a:bodyPr wrap="square">
            <a:spAutoFit/>
          </a:bodyPr>
          <a:lstStyle/>
          <a:p>
            <a:pPr marL="0" indent="0">
              <a:buNone/>
            </a:pPr>
            <a:r>
              <a:rPr lang="en-US" sz="2400" dirty="0">
                <a:solidFill>
                  <a:srgbClr val="007FA3"/>
                </a:solidFill>
              </a:rPr>
              <a:t>C.</a:t>
            </a:r>
            <a:r>
              <a:rPr lang="en-US" sz="2400" dirty="0"/>
              <a:t> 4 m</a:t>
            </a:r>
            <a:r>
              <a:rPr lang="en-US" sz="100" dirty="0"/>
              <a:t> </a:t>
            </a:r>
            <a:r>
              <a:rPr lang="en-US" sz="2400" dirty="0"/>
              <a:t>J</a:t>
            </a:r>
          </a:p>
        </p:txBody>
      </p:sp>
    </p:spTree>
    <p:extLst>
      <p:ext uri="{BB962C8B-B14F-4D97-AF65-F5344CB8AC3E}">
        <p14:creationId xmlns:p14="http://schemas.microsoft.com/office/powerpoint/2010/main" val="2524533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63E4EA5D-7A0A-2F13-CB86-7DAE1C48DD1F}"/>
              </a:ext>
            </a:extLst>
          </p:cNvPr>
          <p:cNvSpPr>
            <a:spLocks noGrp="1"/>
          </p:cNvSpPr>
          <p:nvPr>
            <p:ph type="title"/>
          </p:nvPr>
        </p:nvSpPr>
        <p:spPr>
          <a:xfrm>
            <a:off x="430304" y="160934"/>
            <a:ext cx="8256495" cy="590349"/>
          </a:xfrm>
        </p:spPr>
        <p:txBody>
          <a:bodyPr/>
          <a:lstStyle/>
          <a:p>
            <a:r>
              <a:rPr lang="en-US" dirty="0"/>
              <a:t>Chapter 6 – Inductors </a:t>
            </a:r>
            <a:r>
              <a:rPr lang="en-US" sz="2800" dirty="0"/>
              <a:t>(10 of 17)</a:t>
            </a:r>
          </a:p>
        </p:txBody>
      </p:sp>
      <p:sp>
        <p:nvSpPr>
          <p:cNvPr id="3" name="Content Placeholder 2">
            <a:extLst>
              <a:ext uri="{FF2B5EF4-FFF2-40B4-BE49-F238E27FC236}">
                <a16:creationId xmlns:a16="http://schemas.microsoft.com/office/drawing/2014/main" id="{81E03F64-5CDB-4A43-ADF2-55246DB462FA}"/>
              </a:ext>
            </a:extLst>
          </p:cNvPr>
          <p:cNvSpPr>
            <a:spLocks noGrp="1"/>
          </p:cNvSpPr>
          <p:nvPr>
            <p:ph sz="quarter" idx="12"/>
          </p:nvPr>
        </p:nvSpPr>
        <p:spPr>
          <a:xfrm>
            <a:off x="429490" y="948006"/>
            <a:ext cx="1556328" cy="405683"/>
          </a:xfrm>
        </p:spPr>
        <p:txBody>
          <a:bodyPr wrap="square">
            <a:spAutoFit/>
          </a:bodyPr>
          <a:lstStyle/>
          <a:p>
            <a:pPr marL="342900" indent="-342900">
              <a:spcBef>
                <a:spcPts val="600"/>
              </a:spcBef>
            </a:pPr>
            <a:r>
              <a:rPr lang="en-US" altLang="en-US" sz="2400" dirty="0"/>
              <a:t>Example</a:t>
            </a:r>
          </a:p>
        </p:txBody>
      </p:sp>
      <p:pic>
        <p:nvPicPr>
          <p:cNvPr id="26" name="Picture 25" descr="Circuit diagram shows a parallel connection of a current source and a 4 mH inductor.">
            <a:extLst>
              <a:ext uri="{FF2B5EF4-FFF2-40B4-BE49-F238E27FC236}">
                <a16:creationId xmlns:a16="http://schemas.microsoft.com/office/drawing/2014/main" id="{193B8DFB-0DD6-2585-EF21-8EA2D21E0382}"/>
              </a:ext>
            </a:extLst>
          </p:cNvPr>
          <p:cNvPicPr>
            <a:picLocks noChangeAspect="1" noChangeArrowheads="1"/>
          </p:cNvPicPr>
          <p:nvPr/>
        </p:nvPicPr>
        <p:blipFill>
          <a:blip r:embed="rId3"/>
          <a:stretch>
            <a:fillRect/>
          </a:stretch>
        </p:blipFill>
        <p:spPr bwMode="auto">
          <a:xfrm>
            <a:off x="1010336" y="1560829"/>
            <a:ext cx="2531984" cy="13706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4" name="Object 23" descr="i subscript g BaseLine OpenParenthesis t CloseParenthesis equals 0, t is less than 0,">
            <a:extLst>
              <a:ext uri="{FF2B5EF4-FFF2-40B4-BE49-F238E27FC236}">
                <a16:creationId xmlns:a16="http://schemas.microsoft.com/office/drawing/2014/main" id="{1ECCFDE1-6909-5BCE-7CA0-1E5630EFFE43}"/>
              </a:ext>
            </a:extLst>
          </p:cNvPr>
          <p:cNvGraphicFramePr>
            <a:graphicFrameLocks noChangeAspect="1"/>
          </p:cNvGraphicFramePr>
          <p:nvPr>
            <p:extLst>
              <p:ext uri="{D42A27DB-BD31-4B8C-83A1-F6EECF244321}">
                <p14:modId xmlns:p14="http://schemas.microsoft.com/office/powerpoint/2010/main" val="2827952420"/>
              </p:ext>
            </p:extLst>
          </p:nvPr>
        </p:nvGraphicFramePr>
        <p:xfrm>
          <a:off x="4411958" y="1743510"/>
          <a:ext cx="2220912" cy="422275"/>
        </p:xfrm>
        <a:graphic>
          <a:graphicData uri="http://schemas.openxmlformats.org/presentationml/2006/ole">
            <mc:AlternateContent xmlns:mc="http://schemas.openxmlformats.org/markup-compatibility/2006">
              <mc:Choice xmlns:v="urn:schemas-microsoft-com:vml" Requires="v">
                <p:oleObj name="Equation" r:id="rId4" imgW="1269720" imgH="241200" progId="Equation.DSMT4">
                  <p:embed/>
                </p:oleObj>
              </mc:Choice>
              <mc:Fallback>
                <p:oleObj name="Equation" r:id="rId4" imgW="1269720" imgH="241200" progId="Equation.DSMT4">
                  <p:embed/>
                  <p:pic>
                    <p:nvPicPr>
                      <p:cNvPr id="26" name="Object 25">
                        <a:extLst>
                          <a:ext uri="{FF2B5EF4-FFF2-40B4-BE49-F238E27FC236}">
                            <a16:creationId xmlns:a16="http://schemas.microsoft.com/office/drawing/2014/main" id="{03569A29-0C60-11D8-0A49-A07BFD9B526A}"/>
                          </a:ext>
                        </a:extLst>
                      </p:cNvPr>
                      <p:cNvPicPr>
                        <a:picLocks noChangeAspect="1" noChangeArrowheads="1"/>
                      </p:cNvPicPr>
                      <p:nvPr/>
                    </p:nvPicPr>
                    <p:blipFill>
                      <a:blip r:embed="rId5"/>
                      <a:srcRect/>
                      <a:stretch>
                        <a:fillRect/>
                      </a:stretch>
                    </p:blipFill>
                    <p:spPr bwMode="auto">
                      <a:xfrm>
                        <a:off x="4411958" y="1743510"/>
                        <a:ext cx="22209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4" descr="i subscript g BaseLine OpenParenthesis t CloseParenthesis equals 8 e to the negative 300 t power minus 8 e to the negative 1200 t power Amperes, t is greater than or equal to 0.&#10;">
            <a:extLst>
              <a:ext uri="{FF2B5EF4-FFF2-40B4-BE49-F238E27FC236}">
                <a16:creationId xmlns:a16="http://schemas.microsoft.com/office/drawing/2014/main" id="{6B836025-9E43-2B93-32D5-3A947611B716}"/>
              </a:ext>
            </a:extLst>
          </p:cNvPr>
          <p:cNvGraphicFramePr>
            <a:graphicFrameLocks noChangeAspect="1"/>
          </p:cNvGraphicFramePr>
          <p:nvPr>
            <p:extLst>
              <p:ext uri="{D42A27DB-BD31-4B8C-83A1-F6EECF244321}">
                <p14:modId xmlns:p14="http://schemas.microsoft.com/office/powerpoint/2010/main" val="235418228"/>
              </p:ext>
            </p:extLst>
          </p:nvPr>
        </p:nvGraphicFramePr>
        <p:xfrm>
          <a:off x="4417866" y="2355699"/>
          <a:ext cx="4176713" cy="444500"/>
        </p:xfrm>
        <a:graphic>
          <a:graphicData uri="http://schemas.openxmlformats.org/presentationml/2006/ole">
            <mc:AlternateContent xmlns:mc="http://schemas.openxmlformats.org/markup-compatibility/2006">
              <mc:Choice xmlns:v="urn:schemas-microsoft-com:vml" Requires="v">
                <p:oleObj name="Equation" r:id="rId6" imgW="2387520" imgH="253800" progId="Equation.DSMT4">
                  <p:embed/>
                </p:oleObj>
              </mc:Choice>
              <mc:Fallback>
                <p:oleObj name="Equation" r:id="rId6" imgW="2387520" imgH="253800" progId="Equation.DSMT4">
                  <p:embed/>
                  <p:pic>
                    <p:nvPicPr>
                      <p:cNvPr id="24" name="Object 23">
                        <a:extLst>
                          <a:ext uri="{FF2B5EF4-FFF2-40B4-BE49-F238E27FC236}">
                            <a16:creationId xmlns:a16="http://schemas.microsoft.com/office/drawing/2014/main" id="{1ECCFDE1-6909-5BCE-7CA0-1E5630EFFE43}"/>
                          </a:ext>
                        </a:extLst>
                      </p:cNvPr>
                      <p:cNvPicPr>
                        <a:picLocks noChangeAspect="1" noChangeArrowheads="1"/>
                      </p:cNvPicPr>
                      <p:nvPr/>
                    </p:nvPicPr>
                    <p:blipFill>
                      <a:blip r:embed="rId7"/>
                      <a:srcRect/>
                      <a:stretch>
                        <a:fillRect/>
                      </a:stretch>
                    </p:blipFill>
                    <p:spPr bwMode="auto">
                      <a:xfrm>
                        <a:off x="4417866" y="2355699"/>
                        <a:ext cx="41767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6" descr="v OpenParenthesis t CloseParenthesis equals 0, t is less than 0.">
            <a:extLst>
              <a:ext uri="{FF2B5EF4-FFF2-40B4-BE49-F238E27FC236}">
                <a16:creationId xmlns:a16="http://schemas.microsoft.com/office/drawing/2014/main" id="{3DB5FF40-80E4-9D63-2F65-90CF0016A042}"/>
              </a:ext>
            </a:extLst>
          </p:cNvPr>
          <p:cNvGraphicFramePr>
            <a:graphicFrameLocks noChangeAspect="1"/>
          </p:cNvGraphicFramePr>
          <p:nvPr>
            <p:extLst>
              <p:ext uri="{D42A27DB-BD31-4B8C-83A1-F6EECF244321}">
                <p14:modId xmlns:p14="http://schemas.microsoft.com/office/powerpoint/2010/main" val="3083295565"/>
              </p:ext>
            </p:extLst>
          </p:nvPr>
        </p:nvGraphicFramePr>
        <p:xfrm>
          <a:off x="859705" y="4071943"/>
          <a:ext cx="2065337" cy="377825"/>
        </p:xfrm>
        <a:graphic>
          <a:graphicData uri="http://schemas.openxmlformats.org/presentationml/2006/ole">
            <mc:AlternateContent xmlns:mc="http://schemas.openxmlformats.org/markup-compatibility/2006">
              <mc:Choice xmlns:v="urn:schemas-microsoft-com:vml" Requires="v">
                <p:oleObj name="Equation" r:id="rId8" imgW="1180800" imgH="215640" progId="Equation.DSMT4">
                  <p:embed/>
                </p:oleObj>
              </mc:Choice>
              <mc:Fallback>
                <p:oleObj name="Equation" r:id="rId8" imgW="1180800" imgH="215640" progId="Equation.DSMT4">
                  <p:embed/>
                  <p:pic>
                    <p:nvPicPr>
                      <p:cNvPr id="25" name="Object 24">
                        <a:extLst>
                          <a:ext uri="{FF2B5EF4-FFF2-40B4-BE49-F238E27FC236}">
                            <a16:creationId xmlns:a16="http://schemas.microsoft.com/office/drawing/2014/main" id="{6B836025-9E43-2B93-32D5-3A947611B716}"/>
                          </a:ext>
                        </a:extLst>
                      </p:cNvPr>
                      <p:cNvPicPr>
                        <a:picLocks noChangeAspect="1" noChangeArrowheads="1"/>
                      </p:cNvPicPr>
                      <p:nvPr/>
                    </p:nvPicPr>
                    <p:blipFill>
                      <a:blip r:embed="rId9"/>
                      <a:srcRect/>
                      <a:stretch>
                        <a:fillRect/>
                      </a:stretch>
                    </p:blipFill>
                    <p:spPr bwMode="auto">
                      <a:xfrm>
                        <a:off x="859705" y="4071943"/>
                        <a:ext cx="2065337"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27" descr="The figure illustrates v OpenParenthesis t CloseParenthesis equals L StartFraction d i OpenParenthesis t CloseParenthesis over d t EndFraction.&#10;Long description is available in notes, Press F6.">
            <a:extLst>
              <a:ext uri="{FF2B5EF4-FFF2-40B4-BE49-F238E27FC236}">
                <a16:creationId xmlns:a16="http://schemas.microsoft.com/office/drawing/2014/main" id="{A34FAA42-6351-6A8F-5C5A-108FAB4802B9}"/>
              </a:ext>
            </a:extLst>
          </p:cNvPr>
          <p:cNvGraphicFramePr>
            <a:graphicFrameLocks noChangeAspect="1"/>
          </p:cNvGraphicFramePr>
          <p:nvPr>
            <p:extLst>
              <p:ext uri="{D42A27DB-BD31-4B8C-83A1-F6EECF244321}">
                <p14:modId xmlns:p14="http://schemas.microsoft.com/office/powerpoint/2010/main" val="3716415070"/>
              </p:ext>
            </p:extLst>
          </p:nvPr>
        </p:nvGraphicFramePr>
        <p:xfrm>
          <a:off x="828675" y="4510378"/>
          <a:ext cx="6329363" cy="711200"/>
        </p:xfrm>
        <a:graphic>
          <a:graphicData uri="http://schemas.openxmlformats.org/presentationml/2006/ole">
            <mc:AlternateContent xmlns:mc="http://schemas.openxmlformats.org/markup-compatibility/2006">
              <mc:Choice xmlns:v="urn:schemas-microsoft-com:vml" Requires="v">
                <p:oleObj name="Equation" r:id="rId10" imgW="3619440" imgH="406080" progId="Equation.DSMT4">
                  <p:embed/>
                </p:oleObj>
              </mc:Choice>
              <mc:Fallback>
                <p:oleObj name="Equation" r:id="rId10" imgW="3619440" imgH="406080" progId="Equation.DSMT4">
                  <p:embed/>
                  <p:pic>
                    <p:nvPicPr>
                      <p:cNvPr id="27" name="Object 26">
                        <a:extLst>
                          <a:ext uri="{FF2B5EF4-FFF2-40B4-BE49-F238E27FC236}">
                            <a16:creationId xmlns:a16="http://schemas.microsoft.com/office/drawing/2014/main" id="{3DB5FF40-80E4-9D63-2F65-90CF0016A042}"/>
                          </a:ext>
                        </a:extLst>
                      </p:cNvPr>
                      <p:cNvPicPr>
                        <a:picLocks noChangeAspect="1" noChangeArrowheads="1"/>
                      </p:cNvPicPr>
                      <p:nvPr/>
                    </p:nvPicPr>
                    <p:blipFill>
                      <a:blip r:embed="rId11"/>
                      <a:srcRect/>
                      <a:stretch>
                        <a:fillRect/>
                      </a:stretch>
                    </p:blipFill>
                    <p:spPr bwMode="auto">
                      <a:xfrm>
                        <a:off x="828675" y="4510378"/>
                        <a:ext cx="6329363"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8" descr="Equals negative 9.6 e to the negative 300 t power plus 38.4 e to the negative 1200 t power Volts, t is greater than or equal to 0.">
            <a:extLst>
              <a:ext uri="{FF2B5EF4-FFF2-40B4-BE49-F238E27FC236}">
                <a16:creationId xmlns:a16="http://schemas.microsoft.com/office/drawing/2014/main" id="{51549A96-A677-6A5E-8C88-76EE856AF9E2}"/>
              </a:ext>
            </a:extLst>
          </p:cNvPr>
          <p:cNvGraphicFramePr>
            <a:graphicFrameLocks noChangeAspect="1"/>
          </p:cNvGraphicFramePr>
          <p:nvPr>
            <p:extLst>
              <p:ext uri="{D42A27DB-BD31-4B8C-83A1-F6EECF244321}">
                <p14:modId xmlns:p14="http://schemas.microsoft.com/office/powerpoint/2010/main" val="2713507180"/>
              </p:ext>
            </p:extLst>
          </p:nvPr>
        </p:nvGraphicFramePr>
        <p:xfrm>
          <a:off x="746560" y="5279742"/>
          <a:ext cx="4840287" cy="400050"/>
        </p:xfrm>
        <a:graphic>
          <a:graphicData uri="http://schemas.openxmlformats.org/presentationml/2006/ole">
            <mc:AlternateContent xmlns:mc="http://schemas.openxmlformats.org/markup-compatibility/2006">
              <mc:Choice xmlns:v="urn:schemas-microsoft-com:vml" Requires="v">
                <p:oleObj name="Equation" r:id="rId12" imgW="2768400" imgH="228600" progId="Equation.DSMT4">
                  <p:embed/>
                </p:oleObj>
              </mc:Choice>
              <mc:Fallback>
                <p:oleObj name="Equation" r:id="rId12" imgW="2768400" imgH="228600" progId="Equation.DSMT4">
                  <p:embed/>
                  <p:pic>
                    <p:nvPicPr>
                      <p:cNvPr id="28" name="Object 27">
                        <a:extLst>
                          <a:ext uri="{FF2B5EF4-FFF2-40B4-BE49-F238E27FC236}">
                            <a16:creationId xmlns:a16="http://schemas.microsoft.com/office/drawing/2014/main" id="{A34FAA42-6351-6A8F-5C5A-108FAB4802B9}"/>
                          </a:ext>
                        </a:extLst>
                      </p:cNvPr>
                      <p:cNvPicPr>
                        <a:picLocks noChangeAspect="1" noChangeArrowheads="1"/>
                      </p:cNvPicPr>
                      <p:nvPr/>
                    </p:nvPicPr>
                    <p:blipFill>
                      <a:blip r:embed="rId13"/>
                      <a:srcRect/>
                      <a:stretch>
                        <a:fillRect/>
                      </a:stretch>
                    </p:blipFill>
                    <p:spPr bwMode="auto">
                      <a:xfrm>
                        <a:off x="746560" y="5279742"/>
                        <a:ext cx="4840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a:extLst>
              <a:ext uri="{FF2B5EF4-FFF2-40B4-BE49-F238E27FC236}">
                <a16:creationId xmlns:a16="http://schemas.microsoft.com/office/drawing/2014/main" id="{7EF78417-7DF9-47CB-9D62-050FE54AA079}"/>
              </a:ext>
            </a:extLst>
          </p:cNvPr>
          <p:cNvSpPr>
            <a:spLocks noGrp="1"/>
          </p:cNvSpPr>
          <p:nvPr>
            <p:ph sz="quarter" idx="14"/>
          </p:nvPr>
        </p:nvSpPr>
        <p:spPr/>
        <p:txBody>
          <a:bodyPr/>
          <a:lstStyle/>
          <a:p>
            <a:endParaRPr lang="tr-TR"/>
          </a:p>
        </p:txBody>
      </p:sp>
      <p:sp>
        <p:nvSpPr>
          <p:cNvPr id="8" name="Content Placeholder 7">
            <a:extLst>
              <a:ext uri="{FF2B5EF4-FFF2-40B4-BE49-F238E27FC236}">
                <a16:creationId xmlns:a16="http://schemas.microsoft.com/office/drawing/2014/main" id="{1F85F5DD-1890-1A56-3473-7A5DB12A0361}"/>
              </a:ext>
            </a:extLst>
          </p:cNvPr>
          <p:cNvSpPr>
            <a:spLocks noGrp="1"/>
          </p:cNvSpPr>
          <p:nvPr>
            <p:ph sz="quarter" idx="13"/>
          </p:nvPr>
        </p:nvSpPr>
        <p:spPr/>
        <p:txBody>
          <a:bodyPr/>
          <a:lstStyle/>
          <a:p>
            <a:endParaRPr lang="tr-TR"/>
          </a:p>
        </p:txBody>
      </p:sp>
    </p:spTree>
    <p:extLst>
      <p:ext uri="{BB962C8B-B14F-4D97-AF65-F5344CB8AC3E}">
        <p14:creationId xmlns:p14="http://schemas.microsoft.com/office/powerpoint/2010/main" val="1866728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7A574851-C969-EABD-457E-720A41D38ACA}"/>
              </a:ext>
            </a:extLst>
          </p:cNvPr>
          <p:cNvSpPr>
            <a:spLocks noGrp="1"/>
          </p:cNvSpPr>
          <p:nvPr>
            <p:ph type="title"/>
          </p:nvPr>
        </p:nvSpPr>
        <p:spPr>
          <a:xfrm>
            <a:off x="430304" y="160934"/>
            <a:ext cx="8256495" cy="590349"/>
          </a:xfrm>
        </p:spPr>
        <p:txBody>
          <a:bodyPr/>
          <a:lstStyle/>
          <a:p>
            <a:r>
              <a:rPr lang="en-US" dirty="0"/>
              <a:t>Chapter 6 – Inductors </a:t>
            </a:r>
            <a:r>
              <a:rPr lang="en-US" sz="2800" dirty="0"/>
              <a:t>(11 of 17)</a:t>
            </a:r>
          </a:p>
        </p:txBody>
      </p:sp>
      <p:sp>
        <p:nvSpPr>
          <p:cNvPr id="3" name="Content Placeholder 2">
            <a:extLst>
              <a:ext uri="{FF2B5EF4-FFF2-40B4-BE49-F238E27FC236}">
                <a16:creationId xmlns:a16="http://schemas.microsoft.com/office/drawing/2014/main" id="{1D055001-F9C6-9482-525F-6BCFF1500500}"/>
              </a:ext>
            </a:extLst>
          </p:cNvPr>
          <p:cNvSpPr>
            <a:spLocks noGrp="1"/>
          </p:cNvSpPr>
          <p:nvPr>
            <p:ph sz="quarter" idx="12"/>
          </p:nvPr>
        </p:nvSpPr>
        <p:spPr>
          <a:xfrm>
            <a:off x="420266" y="919134"/>
            <a:ext cx="2969490" cy="374906"/>
          </a:xfrm>
        </p:spPr>
        <p:txBody>
          <a:bodyPr wrap="square">
            <a:spAutoFit/>
          </a:bodyPr>
          <a:lstStyle/>
          <a:p>
            <a:pPr marL="342900" indent="-342900">
              <a:spcBef>
                <a:spcPts val="600"/>
              </a:spcBef>
              <a:buFont typeface="Arial" panose="020B0604020202020204" pitchFamily="34" charset="0"/>
              <a:buChar char="•"/>
            </a:pPr>
            <a:r>
              <a:rPr lang="en-US" altLang="en-US" sz="2200" dirty="0"/>
              <a:t>Example (continued)</a:t>
            </a:r>
          </a:p>
        </p:txBody>
      </p:sp>
      <p:pic>
        <p:nvPicPr>
          <p:cNvPr id="22" name="Picture 12" descr="Circuit diagram shows a parallel connection of a current source and a 4 mH inductor.">
            <a:extLst>
              <a:ext uri="{FF2B5EF4-FFF2-40B4-BE49-F238E27FC236}">
                <a16:creationId xmlns:a16="http://schemas.microsoft.com/office/drawing/2014/main" id="{C67B754C-51B1-4839-9B26-BD7AEB822471}"/>
              </a:ext>
            </a:extLst>
          </p:cNvPr>
          <p:cNvPicPr>
            <a:picLocks noChangeAspect="1" noChangeArrowheads="1"/>
          </p:cNvPicPr>
          <p:nvPr/>
        </p:nvPicPr>
        <p:blipFill>
          <a:blip r:embed="rId2"/>
          <a:stretch>
            <a:fillRect/>
          </a:stretch>
        </p:blipFill>
        <p:spPr bwMode="auto">
          <a:xfrm>
            <a:off x="901934" y="1573518"/>
            <a:ext cx="2841164" cy="15380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3" name="Object 22" descr="i subscript g BaseLine OpenParenthesis t CloseParenthesis equals 0, t is less than 0,">
            <a:extLst>
              <a:ext uri="{FF2B5EF4-FFF2-40B4-BE49-F238E27FC236}">
                <a16:creationId xmlns:a16="http://schemas.microsoft.com/office/drawing/2014/main" id="{06D999F9-1983-BA42-B4E1-D92CE4AB504A}"/>
              </a:ext>
            </a:extLst>
          </p:cNvPr>
          <p:cNvGraphicFramePr>
            <a:graphicFrameLocks noChangeAspect="1"/>
          </p:cNvGraphicFramePr>
          <p:nvPr>
            <p:extLst>
              <p:ext uri="{D42A27DB-BD31-4B8C-83A1-F6EECF244321}">
                <p14:modId xmlns:p14="http://schemas.microsoft.com/office/powerpoint/2010/main" val="1976765116"/>
              </p:ext>
            </p:extLst>
          </p:nvPr>
        </p:nvGraphicFramePr>
        <p:xfrm>
          <a:off x="4411958" y="1743510"/>
          <a:ext cx="2220912" cy="422275"/>
        </p:xfrm>
        <a:graphic>
          <a:graphicData uri="http://schemas.openxmlformats.org/presentationml/2006/ole">
            <mc:AlternateContent xmlns:mc="http://schemas.openxmlformats.org/markup-compatibility/2006">
              <mc:Choice xmlns:v="urn:schemas-microsoft-com:vml" Requires="v">
                <p:oleObj name="Equation" r:id="rId3" imgW="1269720" imgH="241200" progId="Equation.DSMT4">
                  <p:embed/>
                </p:oleObj>
              </mc:Choice>
              <mc:Fallback>
                <p:oleObj name="Equation" r:id="rId3" imgW="1269720" imgH="241200" progId="Equation.DSMT4">
                  <p:embed/>
                  <p:pic>
                    <p:nvPicPr>
                      <p:cNvPr id="24" name="Object 23">
                        <a:extLst>
                          <a:ext uri="{FF2B5EF4-FFF2-40B4-BE49-F238E27FC236}">
                            <a16:creationId xmlns:a16="http://schemas.microsoft.com/office/drawing/2014/main" id="{1ECCFDE1-6909-5BCE-7CA0-1E5630EFFE43}"/>
                          </a:ext>
                        </a:extLst>
                      </p:cNvPr>
                      <p:cNvPicPr>
                        <a:picLocks noChangeAspect="1" noChangeArrowheads="1"/>
                      </p:cNvPicPr>
                      <p:nvPr/>
                    </p:nvPicPr>
                    <p:blipFill>
                      <a:blip r:embed="rId4"/>
                      <a:srcRect/>
                      <a:stretch>
                        <a:fillRect/>
                      </a:stretch>
                    </p:blipFill>
                    <p:spPr bwMode="auto">
                      <a:xfrm>
                        <a:off x="4411958" y="1743510"/>
                        <a:ext cx="22209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3" descr="i subscript g BaseLine OpenParenthesis t CloseParenthesis equals 8 e to the negative 300 t power minus 8 e to the negative 1200 t power Amperes, t is greater than or equal to 0.">
            <a:extLst>
              <a:ext uri="{FF2B5EF4-FFF2-40B4-BE49-F238E27FC236}">
                <a16:creationId xmlns:a16="http://schemas.microsoft.com/office/drawing/2014/main" id="{6BE19336-CE2F-D2F1-DC84-3C05F1CE44A2}"/>
              </a:ext>
            </a:extLst>
          </p:cNvPr>
          <p:cNvGraphicFramePr>
            <a:graphicFrameLocks noChangeAspect="1"/>
          </p:cNvGraphicFramePr>
          <p:nvPr>
            <p:extLst>
              <p:ext uri="{D42A27DB-BD31-4B8C-83A1-F6EECF244321}">
                <p14:modId xmlns:p14="http://schemas.microsoft.com/office/powerpoint/2010/main" val="535800484"/>
              </p:ext>
            </p:extLst>
          </p:nvPr>
        </p:nvGraphicFramePr>
        <p:xfrm>
          <a:off x="4417866" y="2355699"/>
          <a:ext cx="4176713" cy="444500"/>
        </p:xfrm>
        <a:graphic>
          <a:graphicData uri="http://schemas.openxmlformats.org/presentationml/2006/ole">
            <mc:AlternateContent xmlns:mc="http://schemas.openxmlformats.org/markup-compatibility/2006">
              <mc:Choice xmlns:v="urn:schemas-microsoft-com:vml" Requires="v">
                <p:oleObj name="Equation" r:id="rId5" imgW="2387520" imgH="253800" progId="Equation.DSMT4">
                  <p:embed/>
                </p:oleObj>
              </mc:Choice>
              <mc:Fallback>
                <p:oleObj name="Equation" r:id="rId5" imgW="2387520" imgH="253800" progId="Equation.DSMT4">
                  <p:embed/>
                  <p:pic>
                    <p:nvPicPr>
                      <p:cNvPr id="25" name="Object 24">
                        <a:extLst>
                          <a:ext uri="{FF2B5EF4-FFF2-40B4-BE49-F238E27FC236}">
                            <a16:creationId xmlns:a16="http://schemas.microsoft.com/office/drawing/2014/main" id="{6B836025-9E43-2B93-32D5-3A947611B716}"/>
                          </a:ext>
                        </a:extLst>
                      </p:cNvPr>
                      <p:cNvPicPr>
                        <a:picLocks noChangeAspect="1" noChangeArrowheads="1"/>
                      </p:cNvPicPr>
                      <p:nvPr/>
                    </p:nvPicPr>
                    <p:blipFill>
                      <a:blip r:embed="rId6"/>
                      <a:srcRect/>
                      <a:stretch>
                        <a:fillRect/>
                      </a:stretch>
                    </p:blipFill>
                    <p:spPr bwMode="auto">
                      <a:xfrm>
                        <a:off x="4417866" y="2355699"/>
                        <a:ext cx="41767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F14F7221-612A-0EBB-F04D-41BBA1CCBE49}"/>
              </a:ext>
            </a:extLst>
          </p:cNvPr>
          <p:cNvSpPr>
            <a:spLocks noGrp="1"/>
          </p:cNvSpPr>
          <p:nvPr>
            <p:ph sz="quarter" idx="13"/>
          </p:nvPr>
        </p:nvSpPr>
        <p:spPr>
          <a:xfrm>
            <a:off x="423936" y="3230807"/>
            <a:ext cx="4157300" cy="374906"/>
          </a:xfrm>
        </p:spPr>
        <p:txBody>
          <a:bodyPr wrap="square">
            <a:spAutoFit/>
          </a:bodyPr>
          <a:lstStyle/>
          <a:p>
            <a:pPr marL="0" indent="0">
              <a:buNone/>
              <a:defRPr/>
            </a:pPr>
            <a:r>
              <a:rPr lang="en-US" sz="2200" dirty="0"/>
              <a:t>Find the power for the inductor:</a:t>
            </a:r>
          </a:p>
        </p:txBody>
      </p:sp>
      <p:graphicFrame>
        <p:nvGraphicFramePr>
          <p:cNvPr id="25" name="Object 24" descr="p OpenParenthesis t CloseParenthesis equals v OpenParenthesis t CloseParenthesis i OpenParenthesis t CloseParenthesis.">
            <a:extLst>
              <a:ext uri="{FF2B5EF4-FFF2-40B4-BE49-F238E27FC236}">
                <a16:creationId xmlns:a16="http://schemas.microsoft.com/office/drawing/2014/main" id="{C5A3FF21-2663-AD8B-E3D3-047D1C05193A}"/>
              </a:ext>
            </a:extLst>
          </p:cNvPr>
          <p:cNvGraphicFramePr>
            <a:graphicFrameLocks noChangeAspect="1"/>
          </p:cNvGraphicFramePr>
          <p:nvPr>
            <p:extLst>
              <p:ext uri="{D42A27DB-BD31-4B8C-83A1-F6EECF244321}">
                <p14:modId xmlns:p14="http://schemas.microsoft.com/office/powerpoint/2010/main" val="1705428352"/>
              </p:ext>
            </p:extLst>
          </p:nvPr>
        </p:nvGraphicFramePr>
        <p:xfrm>
          <a:off x="1324697" y="3709787"/>
          <a:ext cx="1577975" cy="355600"/>
        </p:xfrm>
        <a:graphic>
          <a:graphicData uri="http://schemas.openxmlformats.org/presentationml/2006/ole">
            <mc:AlternateContent xmlns:mc="http://schemas.openxmlformats.org/markup-compatibility/2006">
              <mc:Choice xmlns:v="urn:schemas-microsoft-com:vml" Requires="v">
                <p:oleObj name="Equation" r:id="rId7" imgW="901440" imgH="203040" progId="Equation.DSMT4">
                  <p:embed/>
                </p:oleObj>
              </mc:Choice>
              <mc:Fallback>
                <p:oleObj name="Equation" r:id="rId7" imgW="901440" imgH="203040" progId="Equation.DSMT4">
                  <p:embed/>
                  <p:pic>
                    <p:nvPicPr>
                      <p:cNvPr id="24" name="Object 23">
                        <a:extLst>
                          <a:ext uri="{FF2B5EF4-FFF2-40B4-BE49-F238E27FC236}">
                            <a16:creationId xmlns:a16="http://schemas.microsoft.com/office/drawing/2014/main" id="{6BE19336-CE2F-D2F1-DC84-3C05F1CE44A2}"/>
                          </a:ext>
                        </a:extLst>
                      </p:cNvPr>
                      <p:cNvPicPr>
                        <a:picLocks noChangeAspect="1" noChangeArrowheads="1"/>
                      </p:cNvPicPr>
                      <p:nvPr/>
                    </p:nvPicPr>
                    <p:blipFill>
                      <a:blip r:embed="rId8"/>
                      <a:srcRect/>
                      <a:stretch>
                        <a:fillRect/>
                      </a:stretch>
                    </p:blipFill>
                    <p:spPr bwMode="auto">
                      <a:xfrm>
                        <a:off x="1324697" y="3709787"/>
                        <a:ext cx="15779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5" descr="Equals OpenParenthesis negative 9.6 e to the negative 300 t power plus 38.4 e to the negative 1200 t power CloseParenthesis OpenParenthesis 8 e to the negative 300 t power minus 8 e to the negative 1200 t power CloseParenthesis.">
            <a:extLst>
              <a:ext uri="{FF2B5EF4-FFF2-40B4-BE49-F238E27FC236}">
                <a16:creationId xmlns:a16="http://schemas.microsoft.com/office/drawing/2014/main" id="{2B98BA4E-CE0C-12A0-F2E2-61ADD923653C}"/>
              </a:ext>
            </a:extLst>
          </p:cNvPr>
          <p:cNvGraphicFramePr>
            <a:graphicFrameLocks noChangeAspect="1"/>
          </p:cNvGraphicFramePr>
          <p:nvPr>
            <p:extLst>
              <p:ext uri="{D42A27DB-BD31-4B8C-83A1-F6EECF244321}">
                <p14:modId xmlns:p14="http://schemas.microsoft.com/office/powerpoint/2010/main" val="2903716823"/>
              </p:ext>
            </p:extLst>
          </p:nvPr>
        </p:nvGraphicFramePr>
        <p:xfrm>
          <a:off x="1264222" y="4126487"/>
          <a:ext cx="5622925" cy="400050"/>
        </p:xfrm>
        <a:graphic>
          <a:graphicData uri="http://schemas.openxmlformats.org/presentationml/2006/ole">
            <mc:AlternateContent xmlns:mc="http://schemas.openxmlformats.org/markup-compatibility/2006">
              <mc:Choice xmlns:v="urn:schemas-microsoft-com:vml" Requires="v">
                <p:oleObj name="Equation" r:id="rId9" imgW="3213000" imgH="228600" progId="Equation.DSMT4">
                  <p:embed/>
                </p:oleObj>
              </mc:Choice>
              <mc:Fallback>
                <p:oleObj name="Equation" r:id="rId9" imgW="3213000" imgH="228600" progId="Equation.DSMT4">
                  <p:embed/>
                  <p:pic>
                    <p:nvPicPr>
                      <p:cNvPr id="25" name="Object 24">
                        <a:extLst>
                          <a:ext uri="{FF2B5EF4-FFF2-40B4-BE49-F238E27FC236}">
                            <a16:creationId xmlns:a16="http://schemas.microsoft.com/office/drawing/2014/main" id="{C5A3FF21-2663-AD8B-E3D3-047D1C05193A}"/>
                          </a:ext>
                        </a:extLst>
                      </p:cNvPr>
                      <p:cNvPicPr>
                        <a:picLocks noChangeAspect="1" noChangeArrowheads="1"/>
                      </p:cNvPicPr>
                      <p:nvPr/>
                    </p:nvPicPr>
                    <p:blipFill>
                      <a:blip r:embed="rId10"/>
                      <a:srcRect/>
                      <a:stretch>
                        <a:fillRect/>
                      </a:stretch>
                    </p:blipFill>
                    <p:spPr bwMode="auto">
                      <a:xfrm>
                        <a:off x="1264222" y="4126487"/>
                        <a:ext cx="5622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6" descr="Equals negative 76.8 e to the negative 600 t power plus 384 e to the negative 1500 t power minus 307.2 e to the negative 2400 t power Watts.">
            <a:extLst>
              <a:ext uri="{FF2B5EF4-FFF2-40B4-BE49-F238E27FC236}">
                <a16:creationId xmlns:a16="http://schemas.microsoft.com/office/drawing/2014/main" id="{E700AB11-0E46-C0D8-1748-7377C4A1B5DF}"/>
              </a:ext>
            </a:extLst>
          </p:cNvPr>
          <p:cNvGraphicFramePr>
            <a:graphicFrameLocks noChangeAspect="1"/>
          </p:cNvGraphicFramePr>
          <p:nvPr>
            <p:extLst>
              <p:ext uri="{D42A27DB-BD31-4B8C-83A1-F6EECF244321}">
                <p14:modId xmlns:p14="http://schemas.microsoft.com/office/powerpoint/2010/main" val="2377210558"/>
              </p:ext>
            </p:extLst>
          </p:nvPr>
        </p:nvGraphicFramePr>
        <p:xfrm>
          <a:off x="1261054" y="4684714"/>
          <a:ext cx="5489575" cy="400050"/>
        </p:xfrm>
        <a:graphic>
          <a:graphicData uri="http://schemas.openxmlformats.org/presentationml/2006/ole">
            <mc:AlternateContent xmlns:mc="http://schemas.openxmlformats.org/markup-compatibility/2006">
              <mc:Choice xmlns:v="urn:schemas-microsoft-com:vml" Requires="v">
                <p:oleObj name="Equation" r:id="rId11" imgW="3136680" imgH="228600" progId="Equation.DSMT4">
                  <p:embed/>
                </p:oleObj>
              </mc:Choice>
              <mc:Fallback>
                <p:oleObj name="Equation" r:id="rId11" imgW="3136680" imgH="228600" progId="Equation.DSMT4">
                  <p:embed/>
                  <p:pic>
                    <p:nvPicPr>
                      <p:cNvPr id="26" name="Object 25">
                        <a:extLst>
                          <a:ext uri="{FF2B5EF4-FFF2-40B4-BE49-F238E27FC236}">
                            <a16:creationId xmlns:a16="http://schemas.microsoft.com/office/drawing/2014/main" id="{2B98BA4E-CE0C-12A0-F2E2-61ADD923653C}"/>
                          </a:ext>
                        </a:extLst>
                      </p:cNvPr>
                      <p:cNvPicPr>
                        <a:picLocks noChangeAspect="1" noChangeArrowheads="1"/>
                      </p:cNvPicPr>
                      <p:nvPr/>
                    </p:nvPicPr>
                    <p:blipFill>
                      <a:blip r:embed="rId12"/>
                      <a:srcRect/>
                      <a:stretch>
                        <a:fillRect/>
                      </a:stretch>
                    </p:blipFill>
                    <p:spPr bwMode="auto">
                      <a:xfrm>
                        <a:off x="1261054" y="4684714"/>
                        <a:ext cx="5489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965E4E38-9F91-8CBB-7CC7-40B181FB2690}"/>
              </a:ext>
            </a:extLst>
          </p:cNvPr>
          <p:cNvSpPr>
            <a:spLocks noGrp="1"/>
          </p:cNvSpPr>
          <p:nvPr>
            <p:ph sz="quarter" idx="14"/>
          </p:nvPr>
        </p:nvSpPr>
        <p:spPr>
          <a:xfrm>
            <a:off x="421068" y="5264944"/>
            <a:ext cx="8245384" cy="713460"/>
          </a:xfrm>
        </p:spPr>
        <p:txBody>
          <a:bodyPr wrap="square">
            <a:spAutoFit/>
          </a:bodyPr>
          <a:lstStyle/>
          <a:p>
            <a:pPr marL="0" indent="0">
              <a:buNone/>
              <a:defRPr/>
            </a:pPr>
            <a:r>
              <a:rPr lang="en-US" sz="2200" dirty="0"/>
              <a:t>To find the max power and the time at which the power is max, take the first derivative of p(t) and set it equal to 0.</a:t>
            </a:r>
          </a:p>
        </p:txBody>
      </p:sp>
    </p:spTree>
    <p:extLst>
      <p:ext uri="{BB962C8B-B14F-4D97-AF65-F5344CB8AC3E}">
        <p14:creationId xmlns:p14="http://schemas.microsoft.com/office/powerpoint/2010/main" val="1212849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7A574851-C969-EABD-457E-720A41D38ACA}"/>
              </a:ext>
            </a:extLst>
          </p:cNvPr>
          <p:cNvSpPr>
            <a:spLocks noGrp="1"/>
          </p:cNvSpPr>
          <p:nvPr>
            <p:ph type="title"/>
          </p:nvPr>
        </p:nvSpPr>
        <p:spPr>
          <a:xfrm>
            <a:off x="430304" y="160934"/>
            <a:ext cx="8256495" cy="590349"/>
          </a:xfrm>
        </p:spPr>
        <p:txBody>
          <a:bodyPr/>
          <a:lstStyle/>
          <a:p>
            <a:r>
              <a:rPr lang="en-US" dirty="0"/>
              <a:t>Chapter 6 – Inductors </a:t>
            </a:r>
            <a:r>
              <a:rPr lang="en-US" sz="2800" dirty="0"/>
              <a:t>(12 of 17)</a:t>
            </a:r>
          </a:p>
        </p:txBody>
      </p:sp>
      <p:sp>
        <p:nvSpPr>
          <p:cNvPr id="3" name="Content Placeholder 2">
            <a:extLst>
              <a:ext uri="{FF2B5EF4-FFF2-40B4-BE49-F238E27FC236}">
                <a16:creationId xmlns:a16="http://schemas.microsoft.com/office/drawing/2014/main" id="{1D055001-F9C6-9482-525F-6BCFF1500500}"/>
              </a:ext>
            </a:extLst>
          </p:cNvPr>
          <p:cNvSpPr>
            <a:spLocks noGrp="1"/>
          </p:cNvSpPr>
          <p:nvPr>
            <p:ph sz="quarter" idx="12"/>
          </p:nvPr>
        </p:nvSpPr>
        <p:spPr>
          <a:xfrm>
            <a:off x="420266" y="919134"/>
            <a:ext cx="2969490" cy="374906"/>
          </a:xfrm>
        </p:spPr>
        <p:txBody>
          <a:bodyPr wrap="square">
            <a:spAutoFit/>
          </a:bodyPr>
          <a:lstStyle/>
          <a:p>
            <a:pPr marL="342900" indent="-342900">
              <a:spcBef>
                <a:spcPts val="600"/>
              </a:spcBef>
              <a:buFont typeface="Arial" panose="020B0604020202020204" pitchFamily="34" charset="0"/>
              <a:buChar char="•"/>
            </a:pPr>
            <a:r>
              <a:rPr lang="en-US" altLang="en-US" sz="2200" dirty="0"/>
              <a:t>Example (continued)</a:t>
            </a:r>
          </a:p>
        </p:txBody>
      </p:sp>
      <p:pic>
        <p:nvPicPr>
          <p:cNvPr id="2" name="Picture 1" descr="Circuit diagram shows a parallel connection of a current source and a 4 mH inductor.">
            <a:extLst>
              <a:ext uri="{FF2B5EF4-FFF2-40B4-BE49-F238E27FC236}">
                <a16:creationId xmlns:a16="http://schemas.microsoft.com/office/drawing/2014/main" id="{6CCCB6C9-0BFA-2C1E-10DA-F5021D25712F}"/>
              </a:ext>
            </a:extLst>
          </p:cNvPr>
          <p:cNvPicPr>
            <a:picLocks noChangeAspect="1" noChangeArrowheads="1"/>
          </p:cNvPicPr>
          <p:nvPr/>
        </p:nvPicPr>
        <p:blipFill>
          <a:blip r:embed="rId2"/>
          <a:stretch>
            <a:fillRect/>
          </a:stretch>
        </p:blipFill>
        <p:spPr bwMode="auto">
          <a:xfrm>
            <a:off x="1168344" y="1649591"/>
            <a:ext cx="2470841" cy="13375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3" name="Object 22" descr="i subscript g BaseLine OpenParenthesis t CloseParenthesis equals 0, t is less than 0,">
            <a:extLst>
              <a:ext uri="{FF2B5EF4-FFF2-40B4-BE49-F238E27FC236}">
                <a16:creationId xmlns:a16="http://schemas.microsoft.com/office/drawing/2014/main" id="{06D999F9-1983-BA42-B4E1-D92CE4AB504A}"/>
              </a:ext>
            </a:extLst>
          </p:cNvPr>
          <p:cNvGraphicFramePr>
            <a:graphicFrameLocks noChangeAspect="1"/>
          </p:cNvGraphicFramePr>
          <p:nvPr>
            <p:extLst>
              <p:ext uri="{D42A27DB-BD31-4B8C-83A1-F6EECF244321}">
                <p14:modId xmlns:p14="http://schemas.microsoft.com/office/powerpoint/2010/main" val="2281435442"/>
              </p:ext>
            </p:extLst>
          </p:nvPr>
        </p:nvGraphicFramePr>
        <p:xfrm>
          <a:off x="4411958" y="1743510"/>
          <a:ext cx="2220912" cy="422275"/>
        </p:xfrm>
        <a:graphic>
          <a:graphicData uri="http://schemas.openxmlformats.org/presentationml/2006/ole">
            <mc:AlternateContent xmlns:mc="http://schemas.openxmlformats.org/markup-compatibility/2006">
              <mc:Choice xmlns:v="urn:schemas-microsoft-com:vml" Requires="v">
                <p:oleObj name="Equation" r:id="rId3" imgW="1269720" imgH="241200" progId="Equation.DSMT4">
                  <p:embed/>
                </p:oleObj>
              </mc:Choice>
              <mc:Fallback>
                <p:oleObj name="Equation" r:id="rId3" imgW="1269720" imgH="241200" progId="Equation.DSMT4">
                  <p:embed/>
                  <p:pic>
                    <p:nvPicPr>
                      <p:cNvPr id="23" name="Object 22">
                        <a:extLst>
                          <a:ext uri="{FF2B5EF4-FFF2-40B4-BE49-F238E27FC236}">
                            <a16:creationId xmlns:a16="http://schemas.microsoft.com/office/drawing/2014/main" id="{06D999F9-1983-BA42-B4E1-D92CE4AB504A}"/>
                          </a:ext>
                        </a:extLst>
                      </p:cNvPr>
                      <p:cNvPicPr>
                        <a:picLocks noChangeAspect="1" noChangeArrowheads="1"/>
                      </p:cNvPicPr>
                      <p:nvPr/>
                    </p:nvPicPr>
                    <p:blipFill>
                      <a:blip r:embed="rId4"/>
                      <a:srcRect/>
                      <a:stretch>
                        <a:fillRect/>
                      </a:stretch>
                    </p:blipFill>
                    <p:spPr bwMode="auto">
                      <a:xfrm>
                        <a:off x="4411958" y="1743510"/>
                        <a:ext cx="22209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3" descr="i subscript g BaseLine OpenParenthesis t CloseParenthesis equals 8 e to the negative 300 t power minus 8 e to the negative 1200 t power Amperes, t is greater than or equal to 0.">
            <a:extLst>
              <a:ext uri="{FF2B5EF4-FFF2-40B4-BE49-F238E27FC236}">
                <a16:creationId xmlns:a16="http://schemas.microsoft.com/office/drawing/2014/main" id="{6BE19336-CE2F-D2F1-DC84-3C05F1CE44A2}"/>
              </a:ext>
            </a:extLst>
          </p:cNvPr>
          <p:cNvGraphicFramePr>
            <a:graphicFrameLocks noChangeAspect="1"/>
          </p:cNvGraphicFramePr>
          <p:nvPr>
            <p:extLst>
              <p:ext uri="{D42A27DB-BD31-4B8C-83A1-F6EECF244321}">
                <p14:modId xmlns:p14="http://schemas.microsoft.com/office/powerpoint/2010/main" val="2047507624"/>
              </p:ext>
            </p:extLst>
          </p:nvPr>
        </p:nvGraphicFramePr>
        <p:xfrm>
          <a:off x="4417866" y="2355699"/>
          <a:ext cx="4176713" cy="444500"/>
        </p:xfrm>
        <a:graphic>
          <a:graphicData uri="http://schemas.openxmlformats.org/presentationml/2006/ole">
            <mc:AlternateContent xmlns:mc="http://schemas.openxmlformats.org/markup-compatibility/2006">
              <mc:Choice xmlns:v="urn:schemas-microsoft-com:vml" Requires="v">
                <p:oleObj name="Equation" r:id="rId5" imgW="2387520" imgH="253800" progId="Equation.DSMT4">
                  <p:embed/>
                </p:oleObj>
              </mc:Choice>
              <mc:Fallback>
                <p:oleObj name="Equation" r:id="rId5" imgW="2387520" imgH="253800" progId="Equation.DSMT4">
                  <p:embed/>
                  <p:pic>
                    <p:nvPicPr>
                      <p:cNvPr id="24" name="Object 23">
                        <a:extLst>
                          <a:ext uri="{FF2B5EF4-FFF2-40B4-BE49-F238E27FC236}">
                            <a16:creationId xmlns:a16="http://schemas.microsoft.com/office/drawing/2014/main" id="{6BE19336-CE2F-D2F1-DC84-3C05F1CE44A2}"/>
                          </a:ext>
                        </a:extLst>
                      </p:cNvPr>
                      <p:cNvPicPr>
                        <a:picLocks noChangeAspect="1" noChangeArrowheads="1"/>
                      </p:cNvPicPr>
                      <p:nvPr/>
                    </p:nvPicPr>
                    <p:blipFill>
                      <a:blip r:embed="rId6"/>
                      <a:srcRect/>
                      <a:stretch>
                        <a:fillRect/>
                      </a:stretch>
                    </p:blipFill>
                    <p:spPr bwMode="auto">
                      <a:xfrm>
                        <a:off x="4417866" y="2355699"/>
                        <a:ext cx="41767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F14F7221-612A-0EBB-F04D-41BBA1CCBE49}"/>
              </a:ext>
            </a:extLst>
          </p:cNvPr>
          <p:cNvSpPr>
            <a:spLocks noGrp="1"/>
          </p:cNvSpPr>
          <p:nvPr>
            <p:ph sz="quarter" idx="13"/>
          </p:nvPr>
        </p:nvSpPr>
        <p:spPr>
          <a:xfrm>
            <a:off x="423936" y="3230807"/>
            <a:ext cx="4157300" cy="374906"/>
          </a:xfrm>
        </p:spPr>
        <p:txBody>
          <a:bodyPr wrap="square">
            <a:spAutoFit/>
          </a:bodyPr>
          <a:lstStyle/>
          <a:p>
            <a:pPr marL="0" indent="0">
              <a:buNone/>
              <a:defRPr/>
            </a:pPr>
            <a:r>
              <a:rPr lang="en-US" sz="2200" dirty="0"/>
              <a:t>Find the energy for the inductor:</a:t>
            </a:r>
          </a:p>
        </p:txBody>
      </p:sp>
      <p:graphicFrame>
        <p:nvGraphicFramePr>
          <p:cNvPr id="25" name="Object 24" descr="w OpenParenthesis t CloseParenthesis equals StartFraction 1 over 2 EndFraction L i OpenParenthesis t CloseParenthesis squared.">
            <a:extLst>
              <a:ext uri="{FF2B5EF4-FFF2-40B4-BE49-F238E27FC236}">
                <a16:creationId xmlns:a16="http://schemas.microsoft.com/office/drawing/2014/main" id="{C5A3FF21-2663-AD8B-E3D3-047D1C05193A}"/>
              </a:ext>
            </a:extLst>
          </p:cNvPr>
          <p:cNvGraphicFramePr>
            <a:graphicFrameLocks noChangeAspect="1"/>
          </p:cNvGraphicFramePr>
          <p:nvPr>
            <p:extLst>
              <p:ext uri="{D42A27DB-BD31-4B8C-83A1-F6EECF244321}">
                <p14:modId xmlns:p14="http://schemas.microsoft.com/office/powerpoint/2010/main" val="4099469950"/>
              </p:ext>
            </p:extLst>
          </p:nvPr>
        </p:nvGraphicFramePr>
        <p:xfrm>
          <a:off x="1312863" y="3676650"/>
          <a:ext cx="1600200" cy="422275"/>
        </p:xfrm>
        <a:graphic>
          <a:graphicData uri="http://schemas.openxmlformats.org/presentationml/2006/ole">
            <mc:AlternateContent xmlns:mc="http://schemas.openxmlformats.org/markup-compatibility/2006">
              <mc:Choice xmlns:v="urn:schemas-microsoft-com:vml" Requires="v">
                <p:oleObj name="Equation" r:id="rId7" imgW="914400" imgH="241200" progId="Equation.DSMT4">
                  <p:embed/>
                </p:oleObj>
              </mc:Choice>
              <mc:Fallback>
                <p:oleObj name="Equation" r:id="rId7" imgW="914400" imgH="241200" progId="Equation.DSMT4">
                  <p:embed/>
                  <p:pic>
                    <p:nvPicPr>
                      <p:cNvPr id="25" name="Object 24">
                        <a:extLst>
                          <a:ext uri="{FF2B5EF4-FFF2-40B4-BE49-F238E27FC236}">
                            <a16:creationId xmlns:a16="http://schemas.microsoft.com/office/drawing/2014/main" id="{C5A3FF21-2663-AD8B-E3D3-047D1C05193A}"/>
                          </a:ext>
                        </a:extLst>
                      </p:cNvPr>
                      <p:cNvPicPr>
                        <a:picLocks noChangeAspect="1" noChangeArrowheads="1"/>
                      </p:cNvPicPr>
                      <p:nvPr/>
                    </p:nvPicPr>
                    <p:blipFill>
                      <a:blip r:embed="rId8"/>
                      <a:srcRect/>
                      <a:stretch>
                        <a:fillRect/>
                      </a:stretch>
                    </p:blipFill>
                    <p:spPr bwMode="auto">
                      <a:xfrm>
                        <a:off x="1312863" y="3676650"/>
                        <a:ext cx="16002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5" descr="Equals StartFraction 1 over 2 EndFraction OpenParenthesis 0.004 CloseParenthesis OpenParenthesis 8 e to the negative 300 t power minus 8 e to the negative 1200 t power CloseParenthesis squared.">
            <a:extLst>
              <a:ext uri="{FF2B5EF4-FFF2-40B4-BE49-F238E27FC236}">
                <a16:creationId xmlns:a16="http://schemas.microsoft.com/office/drawing/2014/main" id="{2B98BA4E-CE0C-12A0-F2E2-61ADD923653C}"/>
              </a:ext>
            </a:extLst>
          </p:cNvPr>
          <p:cNvGraphicFramePr>
            <a:graphicFrameLocks noChangeAspect="1"/>
          </p:cNvGraphicFramePr>
          <p:nvPr>
            <p:extLst>
              <p:ext uri="{D42A27DB-BD31-4B8C-83A1-F6EECF244321}">
                <p14:modId xmlns:p14="http://schemas.microsoft.com/office/powerpoint/2010/main" val="2617764710"/>
              </p:ext>
            </p:extLst>
          </p:nvPr>
        </p:nvGraphicFramePr>
        <p:xfrm>
          <a:off x="1291650" y="4197931"/>
          <a:ext cx="3978275" cy="422275"/>
        </p:xfrm>
        <a:graphic>
          <a:graphicData uri="http://schemas.openxmlformats.org/presentationml/2006/ole">
            <mc:AlternateContent xmlns:mc="http://schemas.openxmlformats.org/markup-compatibility/2006">
              <mc:Choice xmlns:v="urn:schemas-microsoft-com:vml" Requires="v">
                <p:oleObj name="Equation" r:id="rId9" imgW="2273040" imgH="241200" progId="Equation.DSMT4">
                  <p:embed/>
                </p:oleObj>
              </mc:Choice>
              <mc:Fallback>
                <p:oleObj name="Equation" r:id="rId9" imgW="2273040" imgH="241200" progId="Equation.DSMT4">
                  <p:embed/>
                  <p:pic>
                    <p:nvPicPr>
                      <p:cNvPr id="26" name="Object 25">
                        <a:extLst>
                          <a:ext uri="{FF2B5EF4-FFF2-40B4-BE49-F238E27FC236}">
                            <a16:creationId xmlns:a16="http://schemas.microsoft.com/office/drawing/2014/main" id="{2B98BA4E-CE0C-12A0-F2E2-61ADD923653C}"/>
                          </a:ext>
                        </a:extLst>
                      </p:cNvPr>
                      <p:cNvPicPr>
                        <a:picLocks noChangeAspect="1" noChangeArrowheads="1"/>
                      </p:cNvPicPr>
                      <p:nvPr/>
                    </p:nvPicPr>
                    <p:blipFill>
                      <a:blip r:embed="rId10"/>
                      <a:srcRect/>
                      <a:stretch>
                        <a:fillRect/>
                      </a:stretch>
                    </p:blipFill>
                    <p:spPr bwMode="auto">
                      <a:xfrm>
                        <a:off x="1291650" y="4197931"/>
                        <a:ext cx="39782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6" descr="Equals 128 OpenParenthesis e to the negative 600 t power minus 2 e to the negative 1500 t power plus e to the negative 2400 t power CloseParenthesis millijoules.">
            <a:extLst>
              <a:ext uri="{FF2B5EF4-FFF2-40B4-BE49-F238E27FC236}">
                <a16:creationId xmlns:a16="http://schemas.microsoft.com/office/drawing/2014/main" id="{E700AB11-0E46-C0D8-1748-7377C4A1B5DF}"/>
              </a:ext>
            </a:extLst>
          </p:cNvPr>
          <p:cNvGraphicFramePr>
            <a:graphicFrameLocks noChangeAspect="1"/>
          </p:cNvGraphicFramePr>
          <p:nvPr>
            <p:extLst>
              <p:ext uri="{D42A27DB-BD31-4B8C-83A1-F6EECF244321}">
                <p14:modId xmlns:p14="http://schemas.microsoft.com/office/powerpoint/2010/main" val="4204560390"/>
              </p:ext>
            </p:extLst>
          </p:nvPr>
        </p:nvGraphicFramePr>
        <p:xfrm>
          <a:off x="1287608" y="4703184"/>
          <a:ext cx="4511675" cy="400050"/>
        </p:xfrm>
        <a:graphic>
          <a:graphicData uri="http://schemas.openxmlformats.org/presentationml/2006/ole">
            <mc:AlternateContent xmlns:mc="http://schemas.openxmlformats.org/markup-compatibility/2006">
              <mc:Choice xmlns:v="urn:schemas-microsoft-com:vml" Requires="v">
                <p:oleObj name="Equation" r:id="rId11" imgW="2577960" imgH="228600" progId="Equation.DSMT4">
                  <p:embed/>
                </p:oleObj>
              </mc:Choice>
              <mc:Fallback>
                <p:oleObj name="Equation" r:id="rId11" imgW="2577960" imgH="228600" progId="Equation.DSMT4">
                  <p:embed/>
                  <p:pic>
                    <p:nvPicPr>
                      <p:cNvPr id="27" name="Object 26">
                        <a:extLst>
                          <a:ext uri="{FF2B5EF4-FFF2-40B4-BE49-F238E27FC236}">
                            <a16:creationId xmlns:a16="http://schemas.microsoft.com/office/drawing/2014/main" id="{E700AB11-0E46-C0D8-1748-7377C4A1B5DF}"/>
                          </a:ext>
                        </a:extLst>
                      </p:cNvPr>
                      <p:cNvPicPr>
                        <a:picLocks noChangeAspect="1" noChangeArrowheads="1"/>
                      </p:cNvPicPr>
                      <p:nvPr/>
                    </p:nvPicPr>
                    <p:blipFill>
                      <a:blip r:embed="rId12"/>
                      <a:srcRect/>
                      <a:stretch>
                        <a:fillRect/>
                      </a:stretch>
                    </p:blipFill>
                    <p:spPr bwMode="auto">
                      <a:xfrm>
                        <a:off x="1287608" y="4703184"/>
                        <a:ext cx="451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965E4E38-9F91-8CBB-7CC7-40B181FB2690}"/>
              </a:ext>
            </a:extLst>
          </p:cNvPr>
          <p:cNvSpPr>
            <a:spLocks noGrp="1"/>
          </p:cNvSpPr>
          <p:nvPr>
            <p:ph sz="quarter" idx="14"/>
          </p:nvPr>
        </p:nvSpPr>
        <p:spPr>
          <a:xfrm>
            <a:off x="421068" y="5252682"/>
            <a:ext cx="8245384" cy="1052014"/>
          </a:xfrm>
        </p:spPr>
        <p:txBody>
          <a:bodyPr wrap="square">
            <a:spAutoFit/>
          </a:bodyPr>
          <a:lstStyle/>
          <a:p>
            <a:pPr marL="0" indent="0">
              <a:buNone/>
              <a:defRPr/>
            </a:pPr>
            <a:r>
              <a:rPr lang="en-US" sz="2200" dirty="0"/>
              <a:t>To find the max energy and the time at which the energy is max, take the first derivative of w(t) and set it equal to 0. Or if you don’t have w(t) yet, do the same for </a:t>
            </a:r>
            <a:r>
              <a:rPr lang="en-US" sz="2200" dirty="0" err="1"/>
              <a:t>i</a:t>
            </a:r>
            <a:r>
              <a:rPr lang="en-US" sz="2200" dirty="0"/>
              <a:t>(t)!</a:t>
            </a:r>
          </a:p>
        </p:txBody>
      </p:sp>
    </p:spTree>
    <p:extLst>
      <p:ext uri="{BB962C8B-B14F-4D97-AF65-F5344CB8AC3E}">
        <p14:creationId xmlns:p14="http://schemas.microsoft.com/office/powerpoint/2010/main" val="2120950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648ED-7D08-E668-071B-68C73BDBE332}"/>
              </a:ext>
            </a:extLst>
          </p:cNvPr>
          <p:cNvSpPr>
            <a:spLocks noGrp="1"/>
          </p:cNvSpPr>
          <p:nvPr>
            <p:ph type="title"/>
          </p:nvPr>
        </p:nvSpPr>
        <p:spPr>
          <a:xfrm>
            <a:off x="433754" y="177002"/>
            <a:ext cx="8229600" cy="590349"/>
          </a:xfrm>
        </p:spPr>
        <p:txBody>
          <a:bodyPr/>
          <a:lstStyle/>
          <a:p>
            <a:r>
              <a:rPr lang="en-US" dirty="0"/>
              <a:t>Chapter 6 – Inductors </a:t>
            </a:r>
            <a:r>
              <a:rPr lang="en-US" sz="2800" dirty="0"/>
              <a:t>(13 of 17)</a:t>
            </a:r>
            <a:endParaRPr lang="en-US" dirty="0"/>
          </a:p>
        </p:txBody>
      </p:sp>
      <p:sp>
        <p:nvSpPr>
          <p:cNvPr id="3" name="Content Placeholder 2">
            <a:extLst>
              <a:ext uri="{FF2B5EF4-FFF2-40B4-BE49-F238E27FC236}">
                <a16:creationId xmlns:a16="http://schemas.microsoft.com/office/drawing/2014/main" id="{068369CE-925D-A414-782E-EC80C30A65E4}"/>
              </a:ext>
            </a:extLst>
          </p:cNvPr>
          <p:cNvSpPr>
            <a:spLocks noGrp="1"/>
          </p:cNvSpPr>
          <p:nvPr>
            <p:ph sz="quarter" idx="12"/>
          </p:nvPr>
        </p:nvSpPr>
        <p:spPr>
          <a:xfrm>
            <a:off x="430822" y="983241"/>
            <a:ext cx="8229599" cy="405683"/>
          </a:xfrm>
        </p:spPr>
        <p:txBody>
          <a:bodyPr/>
          <a:lstStyle/>
          <a:p>
            <a:pPr marL="0" indent="0">
              <a:buNone/>
            </a:pPr>
            <a:r>
              <a:rPr lang="en-US" altLang="en-US" sz="2400" dirty="0"/>
              <a:t>Inductors connected in series:</a:t>
            </a:r>
          </a:p>
        </p:txBody>
      </p:sp>
      <p:pic>
        <p:nvPicPr>
          <p:cNvPr id="21" name="Picture 8" descr="Circuit diagram shows a series connection of three inductors L subscript 1, L subscript 2 and L subscript 3 with voltage v subscript 1, v subscript 2 and v subscript 3 respectively.">
            <a:extLst>
              <a:ext uri="{FF2B5EF4-FFF2-40B4-BE49-F238E27FC236}">
                <a16:creationId xmlns:a16="http://schemas.microsoft.com/office/drawing/2014/main" id="{DE40D30C-2125-BD2D-D0B0-A12A2DBFD317}"/>
              </a:ext>
            </a:extLst>
          </p:cNvPr>
          <p:cNvPicPr>
            <a:picLocks noChangeAspect="1" noChangeArrowheads="1"/>
          </p:cNvPicPr>
          <p:nvPr/>
        </p:nvPicPr>
        <p:blipFill>
          <a:blip r:embed="rId2"/>
          <a:stretch>
            <a:fillRect/>
          </a:stretch>
        </p:blipFill>
        <p:spPr bwMode="auto">
          <a:xfrm>
            <a:off x="2105889" y="1484934"/>
            <a:ext cx="4933950" cy="1405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2" name="Object 21" descr="v subscript 1 BaseLine equals L subscript 1 BaseLine StartFraction d i over d t EndFraction,">
            <a:extLst>
              <a:ext uri="{FF2B5EF4-FFF2-40B4-BE49-F238E27FC236}">
                <a16:creationId xmlns:a16="http://schemas.microsoft.com/office/drawing/2014/main" id="{DB49B05B-1DFB-D1F5-5DD8-CC506C49D1F4}"/>
              </a:ext>
            </a:extLst>
          </p:cNvPr>
          <p:cNvGraphicFramePr>
            <a:graphicFrameLocks noChangeAspect="1"/>
          </p:cNvGraphicFramePr>
          <p:nvPr>
            <p:extLst>
              <p:ext uri="{D42A27DB-BD31-4B8C-83A1-F6EECF244321}">
                <p14:modId xmlns:p14="http://schemas.microsoft.com/office/powerpoint/2010/main" val="1421524543"/>
              </p:ext>
            </p:extLst>
          </p:nvPr>
        </p:nvGraphicFramePr>
        <p:xfrm>
          <a:off x="1722976" y="3054104"/>
          <a:ext cx="1268412" cy="771525"/>
        </p:xfrm>
        <a:graphic>
          <a:graphicData uri="http://schemas.openxmlformats.org/presentationml/2006/ole">
            <mc:AlternateContent xmlns:mc="http://schemas.openxmlformats.org/markup-compatibility/2006">
              <mc:Choice xmlns:v="urn:schemas-microsoft-com:vml" Requires="v">
                <p:oleObj name="Equation" r:id="rId3" imgW="647640" imgH="393480" progId="Equation.DSMT4">
                  <p:embed/>
                </p:oleObj>
              </mc:Choice>
              <mc:Fallback>
                <p:oleObj name="Equation" r:id="rId3" imgW="647640" imgH="393480" progId="Equation.DSMT4">
                  <p:embed/>
                  <p:pic>
                    <p:nvPicPr>
                      <p:cNvPr id="23" name="Object 22">
                        <a:extLst>
                          <a:ext uri="{FF2B5EF4-FFF2-40B4-BE49-F238E27FC236}">
                            <a16:creationId xmlns:a16="http://schemas.microsoft.com/office/drawing/2014/main" id="{E88CA823-E314-8A4B-0B55-0D249C3465D0}"/>
                          </a:ext>
                        </a:extLst>
                      </p:cNvPr>
                      <p:cNvPicPr/>
                      <p:nvPr/>
                    </p:nvPicPr>
                    <p:blipFill>
                      <a:blip r:embed="rId4"/>
                      <a:stretch>
                        <a:fillRect/>
                      </a:stretch>
                    </p:blipFill>
                    <p:spPr>
                      <a:xfrm>
                        <a:off x="1722976" y="3054104"/>
                        <a:ext cx="1268412" cy="771525"/>
                      </a:xfrm>
                      <a:prstGeom prst="rect">
                        <a:avLst/>
                      </a:prstGeom>
                    </p:spPr>
                  </p:pic>
                </p:oleObj>
              </mc:Fallback>
            </mc:AlternateContent>
          </a:graphicData>
        </a:graphic>
      </p:graphicFrame>
      <p:graphicFrame>
        <p:nvGraphicFramePr>
          <p:cNvPr id="7" name="Object 6" descr="v subscript 2 BaseLine equals L subscript 2 BaseLine StartFraction d i over d t EndFraction,">
            <a:extLst>
              <a:ext uri="{FF2B5EF4-FFF2-40B4-BE49-F238E27FC236}">
                <a16:creationId xmlns:a16="http://schemas.microsoft.com/office/drawing/2014/main" id="{BBCCACEB-EDD4-DF30-3E3A-7A16584ABEAB}"/>
              </a:ext>
            </a:extLst>
          </p:cNvPr>
          <p:cNvGraphicFramePr>
            <a:graphicFrameLocks noChangeAspect="1"/>
          </p:cNvGraphicFramePr>
          <p:nvPr>
            <p:extLst>
              <p:ext uri="{D42A27DB-BD31-4B8C-83A1-F6EECF244321}">
                <p14:modId xmlns:p14="http://schemas.microsoft.com/office/powerpoint/2010/main" val="858568786"/>
              </p:ext>
            </p:extLst>
          </p:nvPr>
        </p:nvGraphicFramePr>
        <p:xfrm>
          <a:off x="3541631" y="3058366"/>
          <a:ext cx="1317625" cy="771525"/>
        </p:xfrm>
        <a:graphic>
          <a:graphicData uri="http://schemas.openxmlformats.org/presentationml/2006/ole">
            <mc:AlternateContent xmlns:mc="http://schemas.openxmlformats.org/markup-compatibility/2006">
              <mc:Choice xmlns:v="urn:schemas-microsoft-com:vml" Requires="v">
                <p:oleObj name="Equation" r:id="rId5" imgW="672840" imgH="393480" progId="Equation.DSMT4">
                  <p:embed/>
                </p:oleObj>
              </mc:Choice>
              <mc:Fallback>
                <p:oleObj name="Equation" r:id="rId5" imgW="672840" imgH="393480" progId="Equation.DSMT4">
                  <p:embed/>
                  <p:pic>
                    <p:nvPicPr>
                      <p:cNvPr id="22" name="Object 21">
                        <a:extLst>
                          <a:ext uri="{FF2B5EF4-FFF2-40B4-BE49-F238E27FC236}">
                            <a16:creationId xmlns:a16="http://schemas.microsoft.com/office/drawing/2014/main" id="{DB49B05B-1DFB-D1F5-5DD8-CC506C49D1F4}"/>
                          </a:ext>
                        </a:extLst>
                      </p:cNvPr>
                      <p:cNvPicPr/>
                      <p:nvPr/>
                    </p:nvPicPr>
                    <p:blipFill>
                      <a:blip r:embed="rId6"/>
                      <a:stretch>
                        <a:fillRect/>
                      </a:stretch>
                    </p:blipFill>
                    <p:spPr>
                      <a:xfrm>
                        <a:off x="3541631" y="3058366"/>
                        <a:ext cx="1317625" cy="77152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DAF15DB9-3577-1C35-9320-6BDE01FFBC5C}"/>
              </a:ext>
            </a:extLst>
          </p:cNvPr>
          <p:cNvSpPr>
            <a:spLocks noGrp="1"/>
          </p:cNvSpPr>
          <p:nvPr>
            <p:ph sz="quarter" idx="13"/>
          </p:nvPr>
        </p:nvSpPr>
        <p:spPr>
          <a:xfrm>
            <a:off x="5409499" y="3211534"/>
            <a:ext cx="551320" cy="405683"/>
          </a:xfrm>
        </p:spPr>
        <p:txBody>
          <a:bodyPr/>
          <a:lstStyle/>
          <a:p>
            <a:pPr marL="0" indent="0">
              <a:buNone/>
            </a:pPr>
            <a:r>
              <a:rPr lang="en-US" sz="2400" dirty="0"/>
              <a:t>and</a:t>
            </a:r>
          </a:p>
        </p:txBody>
      </p:sp>
      <p:graphicFrame>
        <p:nvGraphicFramePr>
          <p:cNvPr id="8" name="Object 7" descr="v subscript 3 BaseLine equals L subscript 3 BaseLine StartFraction d i over d t EndFraction.">
            <a:extLst>
              <a:ext uri="{FF2B5EF4-FFF2-40B4-BE49-F238E27FC236}">
                <a16:creationId xmlns:a16="http://schemas.microsoft.com/office/drawing/2014/main" id="{5B90469B-064F-A3EE-799F-3975175E1C64}"/>
              </a:ext>
            </a:extLst>
          </p:cNvPr>
          <p:cNvGraphicFramePr>
            <a:graphicFrameLocks noChangeAspect="1"/>
          </p:cNvGraphicFramePr>
          <p:nvPr>
            <p:extLst>
              <p:ext uri="{D42A27DB-BD31-4B8C-83A1-F6EECF244321}">
                <p14:modId xmlns:p14="http://schemas.microsoft.com/office/powerpoint/2010/main" val="4125967102"/>
              </p:ext>
            </p:extLst>
          </p:nvPr>
        </p:nvGraphicFramePr>
        <p:xfrm>
          <a:off x="6299732" y="3028612"/>
          <a:ext cx="1317625" cy="771525"/>
        </p:xfrm>
        <a:graphic>
          <a:graphicData uri="http://schemas.openxmlformats.org/presentationml/2006/ole">
            <mc:AlternateContent xmlns:mc="http://schemas.openxmlformats.org/markup-compatibility/2006">
              <mc:Choice xmlns:v="urn:schemas-microsoft-com:vml" Requires="v">
                <p:oleObj name="Equation" r:id="rId7" imgW="672840" imgH="393480" progId="Equation.DSMT4">
                  <p:embed/>
                </p:oleObj>
              </mc:Choice>
              <mc:Fallback>
                <p:oleObj name="Equation" r:id="rId7" imgW="672840" imgH="393480" progId="Equation.DSMT4">
                  <p:embed/>
                  <p:pic>
                    <p:nvPicPr>
                      <p:cNvPr id="22" name="Object 21">
                        <a:extLst>
                          <a:ext uri="{FF2B5EF4-FFF2-40B4-BE49-F238E27FC236}">
                            <a16:creationId xmlns:a16="http://schemas.microsoft.com/office/drawing/2014/main" id="{DB49B05B-1DFB-D1F5-5DD8-CC506C49D1F4}"/>
                          </a:ext>
                        </a:extLst>
                      </p:cNvPr>
                      <p:cNvPicPr/>
                      <p:nvPr/>
                    </p:nvPicPr>
                    <p:blipFill>
                      <a:blip r:embed="rId8"/>
                      <a:stretch>
                        <a:fillRect/>
                      </a:stretch>
                    </p:blipFill>
                    <p:spPr>
                      <a:xfrm>
                        <a:off x="6299732" y="3028612"/>
                        <a:ext cx="1317625" cy="77152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3013477-AD7F-A914-168A-AB45BF565E5B}"/>
              </a:ext>
            </a:extLst>
          </p:cNvPr>
          <p:cNvSpPr>
            <a:spLocks noGrp="1"/>
          </p:cNvSpPr>
          <p:nvPr>
            <p:ph sz="quarter" idx="14"/>
          </p:nvPr>
        </p:nvSpPr>
        <p:spPr>
          <a:xfrm>
            <a:off x="435916" y="4330365"/>
            <a:ext cx="714636" cy="405683"/>
          </a:xfrm>
        </p:spPr>
        <p:txBody>
          <a:bodyPr/>
          <a:lstStyle/>
          <a:p>
            <a:pPr marL="0" indent="0">
              <a:buNone/>
            </a:pPr>
            <a:r>
              <a:rPr lang="en-US" sz="2400" spc="-300" dirty="0"/>
              <a:t>K V </a:t>
            </a:r>
            <a:r>
              <a:rPr lang="en-US" sz="2400" dirty="0"/>
              <a:t>L:</a:t>
            </a:r>
          </a:p>
        </p:txBody>
      </p:sp>
      <p:graphicFrame>
        <p:nvGraphicFramePr>
          <p:cNvPr id="9" name="Object 8" descr="v equals v subscript 1 BaseLine plus v subscript 2 BaseLine plus v subscript 3 BaseLine equals OpenParenthesis L subscript 1 BaseLine plus L subscript 2 BaseLine plus L subscript 3 CloseParenthesis StartFraction d i over d t EndFraction,">
            <a:extLst>
              <a:ext uri="{FF2B5EF4-FFF2-40B4-BE49-F238E27FC236}">
                <a16:creationId xmlns:a16="http://schemas.microsoft.com/office/drawing/2014/main" id="{19F75326-C0DD-1CA5-BA08-8802CC0D81A4}"/>
              </a:ext>
            </a:extLst>
          </p:cNvPr>
          <p:cNvGraphicFramePr>
            <a:graphicFrameLocks noChangeAspect="1"/>
          </p:cNvGraphicFramePr>
          <p:nvPr>
            <p:extLst>
              <p:ext uri="{D42A27DB-BD31-4B8C-83A1-F6EECF244321}">
                <p14:modId xmlns:p14="http://schemas.microsoft.com/office/powerpoint/2010/main" val="3828947852"/>
              </p:ext>
            </p:extLst>
          </p:nvPr>
        </p:nvGraphicFramePr>
        <p:xfrm>
          <a:off x="2397558" y="4176351"/>
          <a:ext cx="3984625" cy="766762"/>
        </p:xfrm>
        <a:graphic>
          <a:graphicData uri="http://schemas.openxmlformats.org/presentationml/2006/ole">
            <mc:AlternateContent xmlns:mc="http://schemas.openxmlformats.org/markup-compatibility/2006">
              <mc:Choice xmlns:v="urn:schemas-microsoft-com:vml" Requires="v">
                <p:oleObj name="Equation" r:id="rId9" imgW="2044440" imgH="393480" progId="Equation.DSMT4">
                  <p:embed/>
                </p:oleObj>
              </mc:Choice>
              <mc:Fallback>
                <p:oleObj name="Equation" r:id="rId9" imgW="2044440" imgH="393480" progId="Equation.DSMT4">
                  <p:embed/>
                  <p:pic>
                    <p:nvPicPr>
                      <p:cNvPr id="24" name="Object 23" descr="v equals v subscript 1 BaseLine plus v subscript 2 BaseLine plus v subscript 3 BaseLine equals OpenParenthesis L subscript 1 BaseLine plus L subscript 2 BaseLine plus L subscript 3 CloseParenthesis StartFraction d i over d t EndFraction,">
                        <a:extLst>
                          <a:ext uri="{FF2B5EF4-FFF2-40B4-BE49-F238E27FC236}">
                            <a16:creationId xmlns:a16="http://schemas.microsoft.com/office/drawing/2014/main" id="{69CAEC43-AC9E-328B-B996-3693B887198F}"/>
                          </a:ext>
                        </a:extLst>
                      </p:cNvPr>
                      <p:cNvPicPr/>
                      <p:nvPr/>
                    </p:nvPicPr>
                    <p:blipFill>
                      <a:blip r:embed="rId10"/>
                      <a:stretch>
                        <a:fillRect/>
                      </a:stretch>
                    </p:blipFill>
                    <p:spPr>
                      <a:xfrm>
                        <a:off x="2397558" y="4176351"/>
                        <a:ext cx="3984625" cy="766762"/>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651DF368-1E43-E062-9174-E6F36EC94573}"/>
              </a:ext>
            </a:extLst>
          </p:cNvPr>
          <p:cNvSpPr>
            <a:spLocks noGrp="1"/>
          </p:cNvSpPr>
          <p:nvPr>
            <p:ph sz="quarter" idx="15"/>
          </p:nvPr>
        </p:nvSpPr>
        <p:spPr>
          <a:xfrm>
            <a:off x="2899789" y="5469076"/>
            <a:ext cx="3399944" cy="405683"/>
          </a:xfrm>
          <a:ln w="28575">
            <a:solidFill>
              <a:srgbClr val="007FA3"/>
            </a:solidFill>
          </a:ln>
        </p:spPr>
        <p:txBody>
          <a:bodyPr wrap="square" lIns="54000" rIns="54000">
            <a:spAutoFit/>
          </a:bodyPr>
          <a:lstStyle/>
          <a:p>
            <a:pPr marL="0" indent="0">
              <a:buNone/>
            </a:pPr>
            <a:r>
              <a:rPr lang="en-US" sz="2400" dirty="0"/>
              <a:t>Inductors in series ADD.</a:t>
            </a:r>
          </a:p>
        </p:txBody>
      </p:sp>
    </p:spTree>
    <p:extLst>
      <p:ext uri="{BB962C8B-B14F-4D97-AF65-F5344CB8AC3E}">
        <p14:creationId xmlns:p14="http://schemas.microsoft.com/office/powerpoint/2010/main" val="829833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6AA1D149-8C56-FF80-890B-D1B738FE56E5}"/>
              </a:ext>
            </a:extLst>
          </p:cNvPr>
          <p:cNvSpPr>
            <a:spLocks noGrp="1"/>
          </p:cNvSpPr>
          <p:nvPr>
            <p:ph type="title"/>
          </p:nvPr>
        </p:nvSpPr>
        <p:spPr>
          <a:xfrm>
            <a:off x="430304" y="160934"/>
            <a:ext cx="8256495" cy="590349"/>
          </a:xfrm>
        </p:spPr>
        <p:txBody>
          <a:bodyPr/>
          <a:lstStyle/>
          <a:p>
            <a:r>
              <a:rPr lang="en-US" dirty="0"/>
              <a:t>Chapter 6 – Inductors </a:t>
            </a:r>
            <a:r>
              <a:rPr lang="en-US" sz="2800" dirty="0"/>
              <a:t>(14 of 17)</a:t>
            </a:r>
          </a:p>
        </p:txBody>
      </p:sp>
      <p:sp>
        <p:nvSpPr>
          <p:cNvPr id="3" name="Content Placeholder 2">
            <a:extLst>
              <a:ext uri="{FF2B5EF4-FFF2-40B4-BE49-F238E27FC236}">
                <a16:creationId xmlns:a16="http://schemas.microsoft.com/office/drawing/2014/main" id="{A8A3D819-7486-BFA3-6918-0D040C9C7F89}"/>
              </a:ext>
            </a:extLst>
          </p:cNvPr>
          <p:cNvSpPr>
            <a:spLocks noGrp="1"/>
          </p:cNvSpPr>
          <p:nvPr>
            <p:ph sz="quarter" idx="12"/>
          </p:nvPr>
        </p:nvSpPr>
        <p:spPr>
          <a:xfrm>
            <a:off x="428336" y="919162"/>
            <a:ext cx="8256588" cy="405683"/>
          </a:xfrm>
        </p:spPr>
        <p:txBody>
          <a:bodyPr wrap="square">
            <a:spAutoFit/>
          </a:bodyPr>
          <a:lstStyle/>
          <a:p>
            <a:pPr marL="0" indent="0">
              <a:buNone/>
            </a:pPr>
            <a:r>
              <a:rPr lang="en-US" altLang="en-US" sz="2400" dirty="0"/>
              <a:t>Inductors connected in parallel:</a:t>
            </a:r>
          </a:p>
        </p:txBody>
      </p:sp>
      <p:pic>
        <p:nvPicPr>
          <p:cNvPr id="6" name="Picture 5" descr="A rectangular circuit shows two vertical cross wires connecting two pairs of nodes on the top and bottom wires. Three inductors are located on the left cross wire, right cross wire, and right wire, with the respective inductances marked as L1, L2, and L3. The left wire is removed and the two open terminals marked on the top and bottom wires show a voltage drop of v.&#10;Current i flows through the top wire from left to right. Current and initial current flowing from top to bottom through the three inductors are as follows:&#10;L1: i1; i1 of t sub 0&#10;L2: i2; i2 of t sub 0&#10;L3: i3; i3 of t sub 0">
            <a:extLst>
              <a:ext uri="{FF2B5EF4-FFF2-40B4-BE49-F238E27FC236}">
                <a16:creationId xmlns:a16="http://schemas.microsoft.com/office/drawing/2014/main" id="{16CE0E80-BD96-D2F5-03BA-AEC0F223B79E}"/>
              </a:ext>
            </a:extLst>
          </p:cNvPr>
          <p:cNvPicPr>
            <a:picLocks noChangeAspect="1"/>
          </p:cNvPicPr>
          <p:nvPr/>
        </p:nvPicPr>
        <p:blipFill>
          <a:blip r:embed="rId3"/>
          <a:stretch>
            <a:fillRect/>
          </a:stretch>
        </p:blipFill>
        <p:spPr>
          <a:xfrm>
            <a:off x="2913672" y="1401488"/>
            <a:ext cx="3316656" cy="1277333"/>
          </a:xfrm>
          <a:prstGeom prst="rect">
            <a:avLst/>
          </a:prstGeom>
        </p:spPr>
      </p:pic>
      <p:graphicFrame>
        <p:nvGraphicFramePr>
          <p:cNvPr id="23" name="Object 22" descr="The figure illustrates the currents i subscript 1, i subscript 2, and i subscript 3.&#10;Long description 1 is available in notes, Press F6.">
            <a:extLst>
              <a:ext uri="{FF2B5EF4-FFF2-40B4-BE49-F238E27FC236}">
                <a16:creationId xmlns:a16="http://schemas.microsoft.com/office/drawing/2014/main" id="{EBFFCB06-B321-1E36-2C15-A1F6EF8D7FBF}"/>
              </a:ext>
            </a:extLst>
          </p:cNvPr>
          <p:cNvGraphicFramePr>
            <a:graphicFrameLocks noChangeAspect="1"/>
          </p:cNvGraphicFramePr>
          <p:nvPr>
            <p:extLst>
              <p:ext uri="{D42A27DB-BD31-4B8C-83A1-F6EECF244321}">
                <p14:modId xmlns:p14="http://schemas.microsoft.com/office/powerpoint/2010/main" val="1261328129"/>
              </p:ext>
            </p:extLst>
          </p:nvPr>
        </p:nvGraphicFramePr>
        <p:xfrm>
          <a:off x="1422400" y="2799992"/>
          <a:ext cx="6254750" cy="607579"/>
        </p:xfrm>
        <a:graphic>
          <a:graphicData uri="http://schemas.openxmlformats.org/presentationml/2006/ole">
            <mc:AlternateContent xmlns:mc="http://schemas.openxmlformats.org/markup-compatibility/2006">
              <mc:Choice xmlns:v="urn:schemas-microsoft-com:vml" Requires="v">
                <p:oleObj name="Equation" r:id="rId4" imgW="4698720" imgH="457200" progId="Equation.DSMT4">
                  <p:embed/>
                </p:oleObj>
              </mc:Choice>
              <mc:Fallback>
                <p:oleObj name="Equation" r:id="rId4" imgW="4698720" imgH="457200" progId="Equation.DSMT4">
                  <p:embed/>
                  <p:pic>
                    <p:nvPicPr>
                      <p:cNvPr id="7" name="Object 6"/>
                      <p:cNvPicPr/>
                      <p:nvPr/>
                    </p:nvPicPr>
                    <p:blipFill>
                      <a:blip r:embed="rId5"/>
                      <a:stretch>
                        <a:fillRect/>
                      </a:stretch>
                    </p:blipFill>
                    <p:spPr>
                      <a:xfrm>
                        <a:off x="1422400" y="2799992"/>
                        <a:ext cx="6254750" cy="607579"/>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5A778ECD-978E-2433-52F6-FAE3E6A456B4}"/>
              </a:ext>
            </a:extLst>
          </p:cNvPr>
          <p:cNvSpPr>
            <a:spLocks noGrp="1"/>
          </p:cNvSpPr>
          <p:nvPr>
            <p:ph sz="quarter" idx="13"/>
          </p:nvPr>
        </p:nvSpPr>
        <p:spPr>
          <a:xfrm>
            <a:off x="739842" y="3630611"/>
            <a:ext cx="739642" cy="405683"/>
          </a:xfrm>
        </p:spPr>
        <p:txBody>
          <a:bodyPr wrap="square">
            <a:spAutoFit/>
          </a:bodyPr>
          <a:lstStyle/>
          <a:p>
            <a:pPr marL="0" indent="0">
              <a:buNone/>
              <a:defRPr/>
            </a:pPr>
            <a:r>
              <a:rPr lang="en-US" sz="2400" spc="-300" dirty="0"/>
              <a:t>K C </a:t>
            </a:r>
            <a:r>
              <a:rPr lang="en-US" sz="2400" dirty="0"/>
              <a:t>L:</a:t>
            </a:r>
          </a:p>
        </p:txBody>
      </p:sp>
      <p:graphicFrame>
        <p:nvGraphicFramePr>
          <p:cNvPr id="24" name="Object 23" descr="i equals i subscript 1 BaseLine plus i subscript 2 BaseLine plus i subscript 3 BaseLine.">
            <a:extLst>
              <a:ext uri="{FF2B5EF4-FFF2-40B4-BE49-F238E27FC236}">
                <a16:creationId xmlns:a16="http://schemas.microsoft.com/office/drawing/2014/main" id="{7073771B-438D-96C9-8358-309D398066E2}"/>
              </a:ext>
            </a:extLst>
          </p:cNvPr>
          <p:cNvGraphicFramePr>
            <a:graphicFrameLocks noChangeAspect="1"/>
          </p:cNvGraphicFramePr>
          <p:nvPr>
            <p:extLst>
              <p:ext uri="{D42A27DB-BD31-4B8C-83A1-F6EECF244321}">
                <p14:modId xmlns:p14="http://schemas.microsoft.com/office/powerpoint/2010/main" val="669504153"/>
              </p:ext>
            </p:extLst>
          </p:nvPr>
        </p:nvGraphicFramePr>
        <p:xfrm>
          <a:off x="1992315" y="3647427"/>
          <a:ext cx="1506682" cy="405534"/>
        </p:xfrm>
        <a:graphic>
          <a:graphicData uri="http://schemas.openxmlformats.org/presentationml/2006/ole">
            <mc:AlternateContent xmlns:mc="http://schemas.openxmlformats.org/markup-compatibility/2006">
              <mc:Choice xmlns:v="urn:schemas-microsoft-com:vml" Requires="v">
                <p:oleObj name="Equation" r:id="rId6" imgW="850680" imgH="228600" progId="Equation.DSMT4">
                  <p:embed/>
                </p:oleObj>
              </mc:Choice>
              <mc:Fallback>
                <p:oleObj name="Equation" r:id="rId6" imgW="850680" imgH="228600" progId="Equation.DSMT4">
                  <p:embed/>
                  <p:pic>
                    <p:nvPicPr>
                      <p:cNvPr id="8" name="Object 7"/>
                      <p:cNvPicPr/>
                      <p:nvPr/>
                    </p:nvPicPr>
                    <p:blipFill>
                      <a:blip r:embed="rId7"/>
                      <a:stretch>
                        <a:fillRect/>
                      </a:stretch>
                    </p:blipFill>
                    <p:spPr>
                      <a:xfrm>
                        <a:off x="1992315" y="3647427"/>
                        <a:ext cx="1506682" cy="405534"/>
                      </a:xfrm>
                      <a:prstGeom prst="rect">
                        <a:avLst/>
                      </a:prstGeom>
                    </p:spPr>
                  </p:pic>
                </p:oleObj>
              </mc:Fallback>
            </mc:AlternateContent>
          </a:graphicData>
        </a:graphic>
      </p:graphicFrame>
      <p:graphicFrame>
        <p:nvGraphicFramePr>
          <p:cNvPr id="25" name="Object 24" descr="The figure illustrates the current labeled i.&#10;Long description 2 is available in notes, Press F6.">
            <a:extLst>
              <a:ext uri="{FF2B5EF4-FFF2-40B4-BE49-F238E27FC236}">
                <a16:creationId xmlns:a16="http://schemas.microsoft.com/office/drawing/2014/main" id="{2B75E8D4-8AEC-6284-6D89-1D94FB6965A3}"/>
              </a:ext>
            </a:extLst>
          </p:cNvPr>
          <p:cNvGraphicFramePr>
            <a:graphicFrameLocks noChangeAspect="1"/>
          </p:cNvGraphicFramePr>
          <p:nvPr>
            <p:extLst>
              <p:ext uri="{D42A27DB-BD31-4B8C-83A1-F6EECF244321}">
                <p14:modId xmlns:p14="http://schemas.microsoft.com/office/powerpoint/2010/main" val="2761948234"/>
              </p:ext>
            </p:extLst>
          </p:nvPr>
        </p:nvGraphicFramePr>
        <p:xfrm>
          <a:off x="1729005" y="4220805"/>
          <a:ext cx="4258829" cy="642216"/>
        </p:xfrm>
        <a:graphic>
          <a:graphicData uri="http://schemas.openxmlformats.org/presentationml/2006/ole">
            <mc:AlternateContent xmlns:mc="http://schemas.openxmlformats.org/markup-compatibility/2006">
              <mc:Choice xmlns:v="urn:schemas-microsoft-com:vml" Requires="v">
                <p:oleObj name="Equation" r:id="rId8" imgW="3200400" imgH="482400" progId="Equation.DSMT4">
                  <p:embed/>
                </p:oleObj>
              </mc:Choice>
              <mc:Fallback>
                <p:oleObj name="Equation" r:id="rId8" imgW="3200400" imgH="482400" progId="Equation.DSMT4">
                  <p:embed/>
                  <p:pic>
                    <p:nvPicPr>
                      <p:cNvPr id="9" name="Object 8"/>
                      <p:cNvPicPr/>
                      <p:nvPr/>
                    </p:nvPicPr>
                    <p:blipFill>
                      <a:blip r:embed="rId9"/>
                      <a:stretch>
                        <a:fillRect/>
                      </a:stretch>
                    </p:blipFill>
                    <p:spPr>
                      <a:xfrm>
                        <a:off x="1729005" y="4220805"/>
                        <a:ext cx="4258829" cy="642216"/>
                      </a:xfrm>
                      <a:prstGeom prst="rect">
                        <a:avLst/>
                      </a:prstGeom>
                    </p:spPr>
                  </p:pic>
                </p:oleObj>
              </mc:Fallback>
            </mc:AlternateContent>
          </a:graphicData>
        </a:graphic>
      </p:graphicFrame>
      <p:graphicFrame>
        <p:nvGraphicFramePr>
          <p:cNvPr id="26" name="Object 25" descr="i equals StartFraction 1 over L subscript eq EndFraction Integral from t subscript 0 BaseLine to t of v d Tau plus i OpenParenthesis t subscript 0 CloseParenthesis.">
            <a:extLst>
              <a:ext uri="{FF2B5EF4-FFF2-40B4-BE49-F238E27FC236}">
                <a16:creationId xmlns:a16="http://schemas.microsoft.com/office/drawing/2014/main" id="{09230CE5-06EF-09C0-73F7-96DE5C1B16AA}"/>
              </a:ext>
            </a:extLst>
          </p:cNvPr>
          <p:cNvGraphicFramePr>
            <a:graphicFrameLocks noChangeAspect="1"/>
          </p:cNvGraphicFramePr>
          <p:nvPr>
            <p:extLst>
              <p:ext uri="{D42A27DB-BD31-4B8C-83A1-F6EECF244321}">
                <p14:modId xmlns:p14="http://schemas.microsoft.com/office/powerpoint/2010/main" val="988551134"/>
              </p:ext>
            </p:extLst>
          </p:nvPr>
        </p:nvGraphicFramePr>
        <p:xfrm>
          <a:off x="861513" y="5078704"/>
          <a:ext cx="1767897" cy="568614"/>
        </p:xfrm>
        <a:graphic>
          <a:graphicData uri="http://schemas.openxmlformats.org/presentationml/2006/ole">
            <mc:AlternateContent xmlns:mc="http://schemas.openxmlformats.org/markup-compatibility/2006">
              <mc:Choice xmlns:v="urn:schemas-microsoft-com:vml" Requires="v">
                <p:oleObj name="Equation" r:id="rId10" imgW="1460160" imgH="469800" progId="Equation.DSMT4">
                  <p:embed/>
                </p:oleObj>
              </mc:Choice>
              <mc:Fallback>
                <p:oleObj name="Equation" r:id="rId10" imgW="1460160" imgH="469800" progId="Equation.DSMT4">
                  <p:embed/>
                  <p:pic>
                    <p:nvPicPr>
                      <p:cNvPr id="10" name="Object 9"/>
                      <p:cNvPicPr/>
                      <p:nvPr/>
                    </p:nvPicPr>
                    <p:blipFill>
                      <a:blip r:embed="rId11"/>
                      <a:stretch>
                        <a:fillRect/>
                      </a:stretch>
                    </p:blipFill>
                    <p:spPr>
                      <a:xfrm>
                        <a:off x="861513" y="5078704"/>
                        <a:ext cx="1767897" cy="568614"/>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30E7804D-2278-7D5E-95B3-2E60DA567A9E}"/>
              </a:ext>
            </a:extLst>
          </p:cNvPr>
          <p:cNvSpPr>
            <a:spLocks noGrp="1"/>
          </p:cNvSpPr>
          <p:nvPr>
            <p:ph sz="quarter" idx="14"/>
          </p:nvPr>
        </p:nvSpPr>
        <p:spPr>
          <a:xfrm>
            <a:off x="3315859" y="4983439"/>
            <a:ext cx="5221288" cy="775015"/>
          </a:xfrm>
          <a:ln w="28575">
            <a:solidFill>
              <a:srgbClr val="007FA3"/>
            </a:solidFill>
          </a:ln>
        </p:spPr>
        <p:txBody>
          <a:bodyPr wrap="square" lIns="54000" rIns="54000">
            <a:spAutoFit/>
          </a:bodyPr>
          <a:lstStyle/>
          <a:p>
            <a:pPr marL="0" indent="0">
              <a:buNone/>
              <a:defRPr/>
            </a:pPr>
            <a:r>
              <a:rPr lang="en-US" sz="2400" b="1" dirty="0"/>
              <a:t>Inductors combine in parallel like resistors combine in parallel.</a:t>
            </a:r>
          </a:p>
        </p:txBody>
      </p:sp>
      <p:graphicFrame>
        <p:nvGraphicFramePr>
          <p:cNvPr id="27" name="Object 26" descr="The figure illustrates StartFraction 1 over L subscript L eq EndFraction.&#10;Long description 3 is available in notes, Press F6.">
            <a:extLst>
              <a:ext uri="{FF2B5EF4-FFF2-40B4-BE49-F238E27FC236}">
                <a16:creationId xmlns:a16="http://schemas.microsoft.com/office/drawing/2014/main" id="{03897F40-BA30-5017-E222-405F6F75FB83}"/>
              </a:ext>
            </a:extLst>
          </p:cNvPr>
          <p:cNvGraphicFramePr>
            <a:graphicFrameLocks noChangeAspect="1"/>
          </p:cNvGraphicFramePr>
          <p:nvPr>
            <p:extLst>
              <p:ext uri="{D42A27DB-BD31-4B8C-83A1-F6EECF244321}">
                <p14:modId xmlns:p14="http://schemas.microsoft.com/office/powerpoint/2010/main" val="487529363"/>
              </p:ext>
            </p:extLst>
          </p:nvPr>
        </p:nvGraphicFramePr>
        <p:xfrm>
          <a:off x="2682948" y="5851738"/>
          <a:ext cx="3779693" cy="538306"/>
        </p:xfrm>
        <a:graphic>
          <a:graphicData uri="http://schemas.openxmlformats.org/presentationml/2006/ole">
            <mc:AlternateContent xmlns:mc="http://schemas.openxmlformats.org/markup-compatibility/2006">
              <mc:Choice xmlns:v="urn:schemas-microsoft-com:vml" Requires="v">
                <p:oleObj name="Equation" r:id="rId12" imgW="3124080" imgH="444240" progId="Equation.DSMT4">
                  <p:embed/>
                </p:oleObj>
              </mc:Choice>
              <mc:Fallback>
                <p:oleObj name="Equation" r:id="rId12" imgW="3124080" imgH="444240" progId="Equation.DSMT4">
                  <p:embed/>
                  <p:pic>
                    <p:nvPicPr>
                      <p:cNvPr id="14" name="Object 13"/>
                      <p:cNvPicPr/>
                      <p:nvPr/>
                    </p:nvPicPr>
                    <p:blipFill>
                      <a:blip r:embed="rId13"/>
                      <a:stretch>
                        <a:fillRect/>
                      </a:stretch>
                    </p:blipFill>
                    <p:spPr>
                      <a:xfrm>
                        <a:off x="2682948" y="5851738"/>
                        <a:ext cx="3779693" cy="538306"/>
                      </a:xfrm>
                      <a:prstGeom prst="rect">
                        <a:avLst/>
                      </a:prstGeom>
                    </p:spPr>
                  </p:pic>
                </p:oleObj>
              </mc:Fallback>
            </mc:AlternateContent>
          </a:graphicData>
        </a:graphic>
      </p:graphicFrame>
    </p:spTree>
    <p:extLst>
      <p:ext uri="{BB962C8B-B14F-4D97-AF65-F5344CB8AC3E}">
        <p14:creationId xmlns:p14="http://schemas.microsoft.com/office/powerpoint/2010/main" val="3537369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15C70B4A-7AA5-0958-3871-376019D68A1C}"/>
              </a:ext>
            </a:extLst>
          </p:cNvPr>
          <p:cNvSpPr>
            <a:spLocks noGrp="1"/>
          </p:cNvSpPr>
          <p:nvPr>
            <p:ph type="title"/>
          </p:nvPr>
        </p:nvSpPr>
        <p:spPr>
          <a:xfrm>
            <a:off x="430304" y="160934"/>
            <a:ext cx="8256495" cy="590349"/>
          </a:xfrm>
        </p:spPr>
        <p:txBody>
          <a:bodyPr/>
          <a:lstStyle/>
          <a:p>
            <a:r>
              <a:rPr lang="en-US" dirty="0"/>
              <a:t>Chapter 6 – Inductors </a:t>
            </a:r>
            <a:r>
              <a:rPr lang="en-US" sz="2800" dirty="0"/>
              <a:t>(15 of 17)</a:t>
            </a:r>
          </a:p>
        </p:txBody>
      </p:sp>
      <p:sp>
        <p:nvSpPr>
          <p:cNvPr id="3" name="Content Placeholder 2">
            <a:extLst>
              <a:ext uri="{FF2B5EF4-FFF2-40B4-BE49-F238E27FC236}">
                <a16:creationId xmlns:a16="http://schemas.microsoft.com/office/drawing/2014/main" id="{CDBE0B31-CEFB-B192-45FE-22EBCEB157D0}"/>
              </a:ext>
            </a:extLst>
          </p:cNvPr>
          <p:cNvSpPr>
            <a:spLocks noGrp="1"/>
          </p:cNvSpPr>
          <p:nvPr>
            <p:ph sz="quarter" idx="12"/>
          </p:nvPr>
        </p:nvSpPr>
        <p:spPr>
          <a:xfrm>
            <a:off x="430304" y="921665"/>
            <a:ext cx="8245384" cy="374906"/>
          </a:xfrm>
        </p:spPr>
        <p:txBody>
          <a:bodyPr wrap="square">
            <a:spAutoFit/>
          </a:bodyPr>
          <a:lstStyle/>
          <a:p>
            <a:pPr marL="0" indent="0">
              <a:buNone/>
            </a:pPr>
            <a:r>
              <a:rPr lang="en-US" altLang="en-US" sz="2200" dirty="0"/>
              <a:t>Find the equivalent inductance for the circuit below, assuming</a:t>
            </a:r>
            <a:endParaRPr lang="en-US" sz="2200" dirty="0"/>
          </a:p>
        </p:txBody>
      </p:sp>
      <p:graphicFrame>
        <p:nvGraphicFramePr>
          <p:cNvPr id="22" name="Object 21" descr="i subscript 1 BaseLine equals 6 Amperes.">
            <a:extLst>
              <a:ext uri="{FF2B5EF4-FFF2-40B4-BE49-F238E27FC236}">
                <a16:creationId xmlns:a16="http://schemas.microsoft.com/office/drawing/2014/main" id="{5D179115-BFB1-A630-D3B6-CF5039C774C4}"/>
              </a:ext>
            </a:extLst>
          </p:cNvPr>
          <p:cNvGraphicFramePr>
            <a:graphicFrameLocks noChangeAspect="1"/>
          </p:cNvGraphicFramePr>
          <p:nvPr>
            <p:extLst>
              <p:ext uri="{D42A27DB-BD31-4B8C-83A1-F6EECF244321}">
                <p14:modId xmlns:p14="http://schemas.microsoft.com/office/powerpoint/2010/main" val="3418049530"/>
              </p:ext>
            </p:extLst>
          </p:nvPr>
        </p:nvGraphicFramePr>
        <p:xfrm>
          <a:off x="439269" y="1403350"/>
          <a:ext cx="876300" cy="404813"/>
        </p:xfrm>
        <a:graphic>
          <a:graphicData uri="http://schemas.openxmlformats.org/presentationml/2006/ole">
            <mc:AlternateContent xmlns:mc="http://schemas.openxmlformats.org/markup-compatibility/2006">
              <mc:Choice xmlns:v="urn:schemas-microsoft-com:vml" Requires="v">
                <p:oleObj name="Equation" r:id="rId2" imgW="495000" imgH="228600" progId="Equation.DSMT4">
                  <p:embed/>
                </p:oleObj>
              </mc:Choice>
              <mc:Fallback>
                <p:oleObj name="Equation" r:id="rId2" imgW="495000" imgH="228600" progId="Equation.DSMT4">
                  <p:embed/>
                  <p:pic>
                    <p:nvPicPr>
                      <p:cNvPr id="24" name="Object 23">
                        <a:extLst>
                          <a:ext uri="{FF2B5EF4-FFF2-40B4-BE49-F238E27FC236}">
                            <a16:creationId xmlns:a16="http://schemas.microsoft.com/office/drawing/2014/main" id="{7073771B-438D-96C9-8358-309D398066E2}"/>
                          </a:ext>
                        </a:extLst>
                      </p:cNvPr>
                      <p:cNvPicPr/>
                      <p:nvPr/>
                    </p:nvPicPr>
                    <p:blipFill>
                      <a:blip r:embed="rId3"/>
                      <a:stretch>
                        <a:fillRect/>
                      </a:stretch>
                    </p:blipFill>
                    <p:spPr>
                      <a:xfrm>
                        <a:off x="439269" y="1403350"/>
                        <a:ext cx="876300" cy="40481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3A24BC86-39EC-0958-29B6-00836D963DE6}"/>
              </a:ext>
            </a:extLst>
          </p:cNvPr>
          <p:cNvSpPr>
            <a:spLocks noGrp="1"/>
          </p:cNvSpPr>
          <p:nvPr>
            <p:ph sz="quarter" idx="13"/>
          </p:nvPr>
        </p:nvSpPr>
        <p:spPr>
          <a:xfrm>
            <a:off x="1433347" y="1376826"/>
            <a:ext cx="508475" cy="374906"/>
          </a:xfrm>
        </p:spPr>
        <p:txBody>
          <a:bodyPr/>
          <a:lstStyle/>
          <a:p>
            <a:pPr marL="0" indent="0">
              <a:buNone/>
            </a:pPr>
            <a:r>
              <a:rPr lang="en-US" sz="2200" dirty="0"/>
              <a:t>and</a:t>
            </a:r>
          </a:p>
        </p:txBody>
      </p:sp>
      <p:graphicFrame>
        <p:nvGraphicFramePr>
          <p:cNvPr id="23" name="Object 22" descr="i subscript 2 BaseLine equals negative 3 Amperes.">
            <a:extLst>
              <a:ext uri="{FF2B5EF4-FFF2-40B4-BE49-F238E27FC236}">
                <a16:creationId xmlns:a16="http://schemas.microsoft.com/office/drawing/2014/main" id="{A2880158-59CB-D8FC-87B5-9757B9A9CAF5}"/>
              </a:ext>
            </a:extLst>
          </p:cNvPr>
          <p:cNvGraphicFramePr>
            <a:graphicFrameLocks noChangeAspect="1"/>
          </p:cNvGraphicFramePr>
          <p:nvPr>
            <p:extLst>
              <p:ext uri="{D42A27DB-BD31-4B8C-83A1-F6EECF244321}">
                <p14:modId xmlns:p14="http://schemas.microsoft.com/office/powerpoint/2010/main" val="1544237200"/>
              </p:ext>
            </p:extLst>
          </p:nvPr>
        </p:nvGraphicFramePr>
        <p:xfrm>
          <a:off x="2057357" y="1403350"/>
          <a:ext cx="1123950" cy="404813"/>
        </p:xfrm>
        <a:graphic>
          <a:graphicData uri="http://schemas.openxmlformats.org/presentationml/2006/ole">
            <mc:AlternateContent xmlns:mc="http://schemas.openxmlformats.org/markup-compatibility/2006">
              <mc:Choice xmlns:v="urn:schemas-microsoft-com:vml" Requires="v">
                <p:oleObj name="Equation" r:id="rId4" imgW="634680" imgH="228600" progId="Equation.DSMT4">
                  <p:embed/>
                </p:oleObj>
              </mc:Choice>
              <mc:Fallback>
                <p:oleObj name="Equation" r:id="rId4" imgW="634680" imgH="228600" progId="Equation.DSMT4">
                  <p:embed/>
                  <p:pic>
                    <p:nvPicPr>
                      <p:cNvPr id="22" name="Object 21">
                        <a:extLst>
                          <a:ext uri="{FF2B5EF4-FFF2-40B4-BE49-F238E27FC236}">
                            <a16:creationId xmlns:a16="http://schemas.microsoft.com/office/drawing/2014/main" id="{5D179115-BFB1-A630-D3B6-CF5039C774C4}"/>
                          </a:ext>
                        </a:extLst>
                      </p:cNvPr>
                      <p:cNvPicPr/>
                      <p:nvPr/>
                    </p:nvPicPr>
                    <p:blipFill>
                      <a:blip r:embed="rId5"/>
                      <a:stretch>
                        <a:fillRect/>
                      </a:stretch>
                    </p:blipFill>
                    <p:spPr>
                      <a:xfrm>
                        <a:off x="2057357" y="1403350"/>
                        <a:ext cx="1123950" cy="404813"/>
                      </a:xfrm>
                      <a:prstGeom prst="rect">
                        <a:avLst/>
                      </a:prstGeom>
                    </p:spPr>
                  </p:pic>
                </p:oleObj>
              </mc:Fallback>
            </mc:AlternateContent>
          </a:graphicData>
        </a:graphic>
      </p:graphicFrame>
      <p:pic>
        <p:nvPicPr>
          <p:cNvPr id="24" name="Picture 2" descr="The circuit shows two nodes on the top and bottom wires. A 240 mH inductor is placed on the left of the top wire. The right portion of the circuit diagram shows a parallel connection of two 60 mH inductors. The left wire is removed and the voltage drop across the two open terminals at the left ends of the top and bottom wires is marked as v. Current i of t, i subscript 1 of t and i subscript 2 of t is flowing through 240 mH, 60 mH and 60 mH inductors.">
            <a:extLst>
              <a:ext uri="{FF2B5EF4-FFF2-40B4-BE49-F238E27FC236}">
                <a16:creationId xmlns:a16="http://schemas.microsoft.com/office/drawing/2014/main" id="{87DC4C91-841E-078B-7E45-E2B95F6D7C39}"/>
              </a:ext>
            </a:extLst>
          </p:cNvPr>
          <p:cNvPicPr>
            <a:picLocks noChangeAspect="1" noChangeArrowheads="1"/>
          </p:cNvPicPr>
          <p:nvPr/>
        </p:nvPicPr>
        <p:blipFill>
          <a:blip r:embed="rId6"/>
          <a:stretch>
            <a:fillRect/>
          </a:stretch>
        </p:blipFill>
        <p:spPr bwMode="auto">
          <a:xfrm>
            <a:off x="2414025" y="1963270"/>
            <a:ext cx="4304297"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3" descr="Cross mark">
            <a:extLst>
              <a:ext uri="{FF2B5EF4-FFF2-40B4-BE49-F238E27FC236}">
                <a16:creationId xmlns:a16="http://schemas.microsoft.com/office/drawing/2014/main" id="{E9AE006A-D8E3-85FF-30E1-23EEDEB7101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50875" y="4559732"/>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EECFD3E8-8FBA-3533-8E25-906F25D0B345}"/>
              </a:ext>
            </a:extLst>
          </p:cNvPr>
          <p:cNvSpPr>
            <a:spLocks noGrp="1"/>
          </p:cNvSpPr>
          <p:nvPr>
            <p:ph sz="quarter" idx="14"/>
          </p:nvPr>
        </p:nvSpPr>
        <p:spPr>
          <a:xfrm>
            <a:off x="1640582" y="4513565"/>
            <a:ext cx="282473" cy="374906"/>
          </a:xfrm>
        </p:spPr>
        <p:txBody>
          <a:bodyPr/>
          <a:lstStyle/>
          <a:p>
            <a:pPr marL="0" indent="0">
              <a:buNone/>
            </a:pPr>
            <a:r>
              <a:rPr lang="en-US" sz="2200" cap="small" dirty="0">
                <a:solidFill>
                  <a:srgbClr val="007FA3"/>
                </a:solidFill>
              </a:rPr>
              <a:t>A.</a:t>
            </a:r>
          </a:p>
        </p:txBody>
      </p:sp>
      <p:graphicFrame>
        <p:nvGraphicFramePr>
          <p:cNvPr id="26" name="Object 25" descr="L subscript eq BaseLine equals 300 milliHenry, i OpenParenthesis t CloseParenthesis equals 6 Amperes.">
            <a:extLst>
              <a:ext uri="{FF2B5EF4-FFF2-40B4-BE49-F238E27FC236}">
                <a16:creationId xmlns:a16="http://schemas.microsoft.com/office/drawing/2014/main" id="{FD0F559E-C550-B457-686D-F0C726367CB5}"/>
              </a:ext>
            </a:extLst>
          </p:cNvPr>
          <p:cNvGraphicFramePr>
            <a:graphicFrameLocks noChangeAspect="1"/>
          </p:cNvGraphicFramePr>
          <p:nvPr>
            <p:extLst>
              <p:ext uri="{D42A27DB-BD31-4B8C-83A1-F6EECF244321}">
                <p14:modId xmlns:p14="http://schemas.microsoft.com/office/powerpoint/2010/main" val="1155408052"/>
              </p:ext>
            </p:extLst>
          </p:nvPr>
        </p:nvGraphicFramePr>
        <p:xfrm>
          <a:off x="2057357" y="4504600"/>
          <a:ext cx="2989262" cy="449263"/>
        </p:xfrm>
        <a:graphic>
          <a:graphicData uri="http://schemas.openxmlformats.org/presentationml/2006/ole">
            <mc:AlternateContent xmlns:mc="http://schemas.openxmlformats.org/markup-compatibility/2006">
              <mc:Choice xmlns:v="urn:schemas-microsoft-com:vml" Requires="v">
                <p:oleObj name="Equation" r:id="rId8" imgW="1688760" imgH="253800" progId="Equation.DSMT4">
                  <p:embed/>
                </p:oleObj>
              </mc:Choice>
              <mc:Fallback>
                <p:oleObj name="Equation" r:id="rId8" imgW="1688760" imgH="253800" progId="Equation.DSMT4">
                  <p:embed/>
                  <p:pic>
                    <p:nvPicPr>
                      <p:cNvPr id="23" name="Object 22">
                        <a:extLst>
                          <a:ext uri="{FF2B5EF4-FFF2-40B4-BE49-F238E27FC236}">
                            <a16:creationId xmlns:a16="http://schemas.microsoft.com/office/drawing/2014/main" id="{A2880158-59CB-D8FC-87B5-9757B9A9CAF5}"/>
                          </a:ext>
                        </a:extLst>
                      </p:cNvPr>
                      <p:cNvPicPr/>
                      <p:nvPr/>
                    </p:nvPicPr>
                    <p:blipFill>
                      <a:blip r:embed="rId9"/>
                      <a:stretch>
                        <a:fillRect/>
                      </a:stretch>
                    </p:blipFill>
                    <p:spPr>
                      <a:xfrm>
                        <a:off x="2057357" y="4504600"/>
                        <a:ext cx="2989262" cy="449263"/>
                      </a:xfrm>
                      <a:prstGeom prst="rect">
                        <a:avLst/>
                      </a:prstGeom>
                    </p:spPr>
                  </p:pic>
                </p:oleObj>
              </mc:Fallback>
            </mc:AlternateContent>
          </a:graphicData>
        </a:graphic>
      </p:graphicFrame>
      <p:pic>
        <p:nvPicPr>
          <p:cNvPr id="27" name="Picture 3" descr="Cross mark">
            <a:extLst>
              <a:ext uri="{FF2B5EF4-FFF2-40B4-BE49-F238E27FC236}">
                <a16:creationId xmlns:a16="http://schemas.microsoft.com/office/drawing/2014/main" id="{64C0ED7D-CFF9-DD63-62A3-2E6A3CBAC81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50875" y="506073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98E07E7E-7497-783F-C2A2-16A55914423A}"/>
              </a:ext>
            </a:extLst>
          </p:cNvPr>
          <p:cNvSpPr>
            <a:spLocks noGrp="1"/>
          </p:cNvSpPr>
          <p:nvPr>
            <p:ph sz="quarter" idx="15"/>
          </p:nvPr>
        </p:nvSpPr>
        <p:spPr>
          <a:xfrm>
            <a:off x="1642801" y="5018202"/>
            <a:ext cx="282473" cy="374906"/>
          </a:xfrm>
        </p:spPr>
        <p:txBody>
          <a:bodyPr/>
          <a:lstStyle/>
          <a:p>
            <a:pPr marL="0" indent="0">
              <a:buNone/>
            </a:pPr>
            <a:r>
              <a:rPr lang="en-US" sz="2200" dirty="0">
                <a:solidFill>
                  <a:srgbClr val="007FA3"/>
                </a:solidFill>
              </a:rPr>
              <a:t>B.</a:t>
            </a:r>
          </a:p>
        </p:txBody>
      </p:sp>
      <p:graphicFrame>
        <p:nvGraphicFramePr>
          <p:cNvPr id="28" name="Object 27" descr="L subscript eq BaseLine equals 270 milliHenry, i OpenParenthesis t CloseParenthesis equals negative 3 Amperes.">
            <a:extLst>
              <a:ext uri="{FF2B5EF4-FFF2-40B4-BE49-F238E27FC236}">
                <a16:creationId xmlns:a16="http://schemas.microsoft.com/office/drawing/2014/main" id="{C3F49264-4E0F-C3DD-7D99-80440B6545F4}"/>
              </a:ext>
            </a:extLst>
          </p:cNvPr>
          <p:cNvGraphicFramePr>
            <a:graphicFrameLocks noChangeAspect="1"/>
          </p:cNvGraphicFramePr>
          <p:nvPr>
            <p:extLst>
              <p:ext uri="{D42A27DB-BD31-4B8C-83A1-F6EECF244321}">
                <p14:modId xmlns:p14="http://schemas.microsoft.com/office/powerpoint/2010/main" val="1471773651"/>
              </p:ext>
            </p:extLst>
          </p:nvPr>
        </p:nvGraphicFramePr>
        <p:xfrm>
          <a:off x="2057357" y="5005387"/>
          <a:ext cx="3259138" cy="449263"/>
        </p:xfrm>
        <a:graphic>
          <a:graphicData uri="http://schemas.openxmlformats.org/presentationml/2006/ole">
            <mc:AlternateContent xmlns:mc="http://schemas.openxmlformats.org/markup-compatibility/2006">
              <mc:Choice xmlns:v="urn:schemas-microsoft-com:vml" Requires="v">
                <p:oleObj name="Equation" r:id="rId10" imgW="1841400" imgH="253800" progId="Equation.DSMT4">
                  <p:embed/>
                </p:oleObj>
              </mc:Choice>
              <mc:Fallback>
                <p:oleObj name="Equation" r:id="rId10" imgW="1841400" imgH="253800" progId="Equation.DSMT4">
                  <p:embed/>
                  <p:pic>
                    <p:nvPicPr>
                      <p:cNvPr id="26" name="Object 25">
                        <a:extLst>
                          <a:ext uri="{FF2B5EF4-FFF2-40B4-BE49-F238E27FC236}">
                            <a16:creationId xmlns:a16="http://schemas.microsoft.com/office/drawing/2014/main" id="{FD0F559E-C550-B457-686D-F0C726367CB5}"/>
                          </a:ext>
                        </a:extLst>
                      </p:cNvPr>
                      <p:cNvPicPr/>
                      <p:nvPr/>
                    </p:nvPicPr>
                    <p:blipFill>
                      <a:blip r:embed="rId11"/>
                      <a:stretch>
                        <a:fillRect/>
                      </a:stretch>
                    </p:blipFill>
                    <p:spPr>
                      <a:xfrm>
                        <a:off x="2057357" y="5005387"/>
                        <a:ext cx="3259138" cy="449263"/>
                      </a:xfrm>
                      <a:prstGeom prst="rect">
                        <a:avLst/>
                      </a:prstGeom>
                    </p:spPr>
                  </p:pic>
                </p:oleObj>
              </mc:Fallback>
            </mc:AlternateContent>
          </a:graphicData>
        </a:graphic>
      </p:graphicFrame>
      <p:pic>
        <p:nvPicPr>
          <p:cNvPr id="29" name="Picture 2" descr="Check mark">
            <a:extLst>
              <a:ext uri="{FF2B5EF4-FFF2-40B4-BE49-F238E27FC236}">
                <a16:creationId xmlns:a16="http://schemas.microsoft.com/office/drawing/2014/main" id="{8B752ABD-EDCE-ADD3-7E66-3A336EB70858}"/>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124796" y="5613454"/>
            <a:ext cx="308551" cy="270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E14A895A-4C59-EFC8-7A44-52E172CCFD88}"/>
              </a:ext>
            </a:extLst>
          </p:cNvPr>
          <p:cNvSpPr>
            <a:spLocks noGrp="1"/>
          </p:cNvSpPr>
          <p:nvPr>
            <p:ph sz="quarter" idx="16"/>
          </p:nvPr>
        </p:nvSpPr>
        <p:spPr>
          <a:xfrm>
            <a:off x="1640581" y="5561433"/>
            <a:ext cx="282473" cy="374906"/>
          </a:xfrm>
        </p:spPr>
        <p:txBody>
          <a:bodyPr/>
          <a:lstStyle/>
          <a:p>
            <a:pPr marL="0" indent="0">
              <a:buNone/>
            </a:pPr>
            <a:r>
              <a:rPr lang="en-US" sz="2200" dirty="0">
                <a:solidFill>
                  <a:srgbClr val="007FA3"/>
                </a:solidFill>
              </a:rPr>
              <a:t>C.</a:t>
            </a:r>
          </a:p>
        </p:txBody>
      </p:sp>
      <p:graphicFrame>
        <p:nvGraphicFramePr>
          <p:cNvPr id="30" name="Object 29" descr="L subscript eq BaseLine equals 300 milliHenry, i OpenParenthesis t CloseParenthesis equals 3 Amperes.">
            <a:extLst>
              <a:ext uri="{FF2B5EF4-FFF2-40B4-BE49-F238E27FC236}">
                <a16:creationId xmlns:a16="http://schemas.microsoft.com/office/drawing/2014/main" id="{1B8349C3-C43B-30DA-2A58-EA5C159C5C18}"/>
              </a:ext>
            </a:extLst>
          </p:cNvPr>
          <p:cNvGraphicFramePr>
            <a:graphicFrameLocks noChangeAspect="1"/>
          </p:cNvGraphicFramePr>
          <p:nvPr>
            <p:extLst>
              <p:ext uri="{D42A27DB-BD31-4B8C-83A1-F6EECF244321}">
                <p14:modId xmlns:p14="http://schemas.microsoft.com/office/powerpoint/2010/main" val="2161790386"/>
              </p:ext>
            </p:extLst>
          </p:nvPr>
        </p:nvGraphicFramePr>
        <p:xfrm>
          <a:off x="2050971" y="5529752"/>
          <a:ext cx="2989262" cy="449263"/>
        </p:xfrm>
        <a:graphic>
          <a:graphicData uri="http://schemas.openxmlformats.org/presentationml/2006/ole">
            <mc:AlternateContent xmlns:mc="http://schemas.openxmlformats.org/markup-compatibility/2006">
              <mc:Choice xmlns:v="urn:schemas-microsoft-com:vml" Requires="v">
                <p:oleObj name="Equation" r:id="rId13" imgW="1688760" imgH="253800" progId="Equation.DSMT4">
                  <p:embed/>
                </p:oleObj>
              </mc:Choice>
              <mc:Fallback>
                <p:oleObj name="Equation" r:id="rId13" imgW="1688760" imgH="253800" progId="Equation.DSMT4">
                  <p:embed/>
                  <p:pic>
                    <p:nvPicPr>
                      <p:cNvPr id="28" name="Object 27">
                        <a:extLst>
                          <a:ext uri="{FF2B5EF4-FFF2-40B4-BE49-F238E27FC236}">
                            <a16:creationId xmlns:a16="http://schemas.microsoft.com/office/drawing/2014/main" id="{C3F49264-4E0F-C3DD-7D99-80440B6545F4}"/>
                          </a:ext>
                        </a:extLst>
                      </p:cNvPr>
                      <p:cNvPicPr/>
                      <p:nvPr/>
                    </p:nvPicPr>
                    <p:blipFill>
                      <a:blip r:embed="rId14"/>
                      <a:stretch>
                        <a:fillRect/>
                      </a:stretch>
                    </p:blipFill>
                    <p:spPr>
                      <a:xfrm>
                        <a:off x="2050971" y="5529752"/>
                        <a:ext cx="2989262" cy="449263"/>
                      </a:xfrm>
                      <a:prstGeom prst="rect">
                        <a:avLst/>
                      </a:prstGeom>
                    </p:spPr>
                  </p:pic>
                </p:oleObj>
              </mc:Fallback>
            </mc:AlternateContent>
          </a:graphicData>
        </a:graphic>
      </p:graphicFrame>
    </p:spTree>
    <p:extLst>
      <p:ext uri="{BB962C8B-B14F-4D97-AF65-F5344CB8AC3E}">
        <p14:creationId xmlns:p14="http://schemas.microsoft.com/office/powerpoint/2010/main" val="1218169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F558586B-B791-8FE2-664A-C9EC92762798}"/>
              </a:ext>
            </a:extLst>
          </p:cNvPr>
          <p:cNvSpPr>
            <a:spLocks noGrp="1"/>
          </p:cNvSpPr>
          <p:nvPr>
            <p:ph type="title"/>
          </p:nvPr>
        </p:nvSpPr>
        <p:spPr>
          <a:xfrm>
            <a:off x="430304" y="160934"/>
            <a:ext cx="8256495" cy="590349"/>
          </a:xfrm>
        </p:spPr>
        <p:txBody>
          <a:bodyPr/>
          <a:lstStyle/>
          <a:p>
            <a:r>
              <a:rPr lang="en-US" dirty="0"/>
              <a:t>Chapter 6 – Inductors </a:t>
            </a:r>
            <a:r>
              <a:rPr lang="en-US" sz="2800" dirty="0"/>
              <a:t>(16 of 17)</a:t>
            </a:r>
          </a:p>
        </p:txBody>
      </p:sp>
      <p:sp>
        <p:nvSpPr>
          <p:cNvPr id="3" name="Content Placeholder 2">
            <a:extLst>
              <a:ext uri="{FF2B5EF4-FFF2-40B4-BE49-F238E27FC236}">
                <a16:creationId xmlns:a16="http://schemas.microsoft.com/office/drawing/2014/main" id="{F05DC9F3-EF95-568B-D6BE-2D2E9E0B214A}"/>
              </a:ext>
            </a:extLst>
          </p:cNvPr>
          <p:cNvSpPr>
            <a:spLocks noGrp="1"/>
          </p:cNvSpPr>
          <p:nvPr>
            <p:ph sz="quarter" idx="12"/>
          </p:nvPr>
        </p:nvSpPr>
        <p:spPr>
          <a:xfrm>
            <a:off x="428159" y="926475"/>
            <a:ext cx="8229600" cy="405683"/>
          </a:xfrm>
        </p:spPr>
        <p:txBody>
          <a:bodyPr wrap="square">
            <a:spAutoFit/>
          </a:bodyPr>
          <a:lstStyle/>
          <a:p>
            <a:pPr marL="0" indent="0">
              <a:buNone/>
            </a:pPr>
            <a:r>
              <a:rPr lang="en-US" altLang="en-US" sz="2400" dirty="0"/>
              <a:t>Inductor summary</a:t>
            </a:r>
          </a:p>
        </p:txBody>
      </p:sp>
      <p:graphicFrame>
        <p:nvGraphicFramePr>
          <p:cNvPr id="2" name="Table 1">
            <a:extLst>
              <a:ext uri="{FF2B5EF4-FFF2-40B4-BE49-F238E27FC236}">
                <a16:creationId xmlns:a16="http://schemas.microsoft.com/office/drawing/2014/main" id="{2DB292D2-5F07-D52A-8ABC-F88C891DE5DC}"/>
              </a:ext>
            </a:extLst>
          </p:cNvPr>
          <p:cNvGraphicFramePr>
            <a:graphicFrameLocks noGrp="1"/>
          </p:cNvGraphicFramePr>
          <p:nvPr>
            <p:extLst>
              <p:ext uri="{D42A27DB-BD31-4B8C-83A1-F6EECF244321}">
                <p14:modId xmlns:p14="http://schemas.microsoft.com/office/powerpoint/2010/main" val="1487540860"/>
              </p:ext>
            </p:extLst>
          </p:nvPr>
        </p:nvGraphicFramePr>
        <p:xfrm>
          <a:off x="951105" y="1502879"/>
          <a:ext cx="7237496" cy="4803140"/>
        </p:xfrm>
        <a:graphic>
          <a:graphicData uri="http://schemas.openxmlformats.org/drawingml/2006/table">
            <a:tbl>
              <a:tblPr firstRow="1" bandRow="1">
                <a:tableStyleId>{3B4B98B0-60AC-42C2-AFA5-B58CD77FA1E5}</a:tableStyleId>
              </a:tblPr>
              <a:tblGrid>
                <a:gridCol w="3618748">
                  <a:extLst>
                    <a:ext uri="{9D8B030D-6E8A-4147-A177-3AD203B41FA5}">
                      <a16:colId xmlns:a16="http://schemas.microsoft.com/office/drawing/2014/main" val="20000"/>
                    </a:ext>
                  </a:extLst>
                </a:gridCol>
                <a:gridCol w="3618748">
                  <a:extLst>
                    <a:ext uri="{9D8B030D-6E8A-4147-A177-3AD203B41FA5}">
                      <a16:colId xmlns:a16="http://schemas.microsoft.com/office/drawing/2014/main" val="20001"/>
                    </a:ext>
                  </a:extLst>
                </a:gridCol>
              </a:tblGrid>
              <a:tr h="436455">
                <a:tc>
                  <a:txBody>
                    <a:bodyPr/>
                    <a:lstStyle/>
                    <a:p>
                      <a:pPr algn="ctr"/>
                      <a:r>
                        <a:rPr lang="en-US" sz="1800" b="1" i="0" u="none" strike="noStrike" cap="none" dirty="0">
                          <a:solidFill>
                            <a:schemeClr val="bg1"/>
                          </a:solidFill>
                          <a:effectLst/>
                          <a:latin typeface="Arial" panose="020B0604020202020204" pitchFamily="34" charset="0"/>
                          <a:ea typeface="+mn-ea"/>
                          <a:cs typeface="Arial" panose="020B0604020202020204" pitchFamily="34" charset="0"/>
                          <a:sym typeface="Arial"/>
                        </a:rPr>
                        <a:t>Equation Type</a:t>
                      </a:r>
                      <a:endParaRPr lang="en-US" sz="1800" b="1" u="none" dirty="0">
                        <a:solidFill>
                          <a:schemeClr val="bg1"/>
                        </a:solidFill>
                        <a:latin typeface="Arial" panose="020B0604020202020204" pitchFamily="34" charset="0"/>
                        <a:cs typeface="Arial" panose="020B0604020202020204" pitchFamily="34" charset="0"/>
                      </a:endParaRP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800" b="1" i="0" u="none" strike="noStrike" cap="none" dirty="0">
                          <a:solidFill>
                            <a:schemeClr val="bg1"/>
                          </a:solidFill>
                          <a:effectLst/>
                          <a:latin typeface="Arial" panose="020B0604020202020204" pitchFamily="34" charset="0"/>
                          <a:ea typeface="+mn-ea"/>
                          <a:cs typeface="Arial" panose="020B0604020202020204" pitchFamily="34" charset="0"/>
                          <a:sym typeface="Arial"/>
                        </a:rPr>
                        <a:t>Equation</a:t>
                      </a:r>
                      <a:endParaRPr lang="en-US" sz="1800" b="1" u="none" dirty="0">
                        <a:solidFill>
                          <a:schemeClr val="bg1"/>
                        </a:solidFill>
                        <a:latin typeface="Arial" panose="020B0604020202020204" pitchFamily="34" charset="0"/>
                        <a:cs typeface="Arial" panose="020B0604020202020204" pitchFamily="34" charset="0"/>
                      </a:endParaRP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292060426"/>
                  </a:ext>
                </a:extLst>
              </a:tr>
              <a:tr h="834931">
                <a:tc>
                  <a:txBody>
                    <a:bodyPr/>
                    <a:lstStyle/>
                    <a:p>
                      <a:pPr algn="ctr"/>
                      <a:endParaRPr lang="en-US" sz="1800" b="1" dirty="0">
                        <a:solidFill>
                          <a:schemeClr val="tx1"/>
                        </a:solidFill>
                        <a:latin typeface="Arial" panose="020B0604020202020204" pitchFamily="34" charset="0"/>
                        <a:cs typeface="Arial" panose="020B0604020202020204" pitchFamily="34" charset="0"/>
                      </a:endParaRPr>
                    </a:p>
                    <a:p>
                      <a:pPr algn="ctr"/>
                      <a:r>
                        <a:rPr lang="en-US" sz="1800" b="1" dirty="0">
                          <a:solidFill>
                            <a:schemeClr val="tx1"/>
                          </a:solidFill>
                          <a:latin typeface="Arial" panose="020B0604020202020204" pitchFamily="34" charset="0"/>
                          <a:cs typeface="Arial" panose="020B0604020202020204" pitchFamily="34" charset="0"/>
                        </a:rPr>
                        <a:t>Symbol</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latin typeface="Arial" panose="020B0604020202020204" pitchFamily="34" charset="0"/>
                          <a:cs typeface="Arial" panose="020B0604020202020204" pitchFamily="34" charset="0"/>
                        </a:rPr>
                        <a:t>An image shows an inductor with an inductance of L henrys, and two terminals marked with positive and negative polarities. Its voltage is marked as v, while current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flows rightward in the direction of voltage drop.</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0"/>
                  </a:ext>
                </a:extLst>
              </a:tr>
              <a:tr h="367168">
                <a:tc>
                  <a:txBody>
                    <a:bodyPr/>
                    <a:lstStyle/>
                    <a:p>
                      <a:pPr algn="ctr"/>
                      <a:r>
                        <a:rPr lang="en-US" sz="1800" b="1" dirty="0">
                          <a:solidFill>
                            <a:schemeClr val="tx1"/>
                          </a:solidFill>
                          <a:latin typeface="Arial" panose="020B0604020202020204" pitchFamily="34" charset="0"/>
                          <a:cs typeface="Arial" panose="020B0604020202020204" pitchFamily="34" charset="0"/>
                        </a:rPr>
                        <a:t>Units</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800" dirty="0">
                          <a:solidFill>
                            <a:schemeClr val="tx1"/>
                          </a:solidFill>
                          <a:latin typeface="Arial" panose="020B0604020202020204" pitchFamily="34" charset="0"/>
                          <a:cs typeface="Arial" panose="020B0604020202020204" pitchFamily="34" charset="0"/>
                        </a:rPr>
                        <a:t>Henries [H]</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764515">
                <a:tc>
                  <a:txBody>
                    <a:bodyPr/>
                    <a:lstStyle/>
                    <a:p>
                      <a:pPr algn="ctr"/>
                      <a:r>
                        <a:rPr lang="en-US" sz="1800" b="1" dirty="0">
                          <a:solidFill>
                            <a:schemeClr val="tx1"/>
                          </a:solidFill>
                          <a:latin typeface="Arial" panose="020B0604020202020204" pitchFamily="34" charset="0"/>
                          <a:cs typeface="Arial" panose="020B0604020202020204" pitchFamily="34" charset="0"/>
                        </a:rPr>
                        <a:t>Describing equation</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dirty="0">
                          <a:solidFill>
                            <a:schemeClr val="tx1"/>
                          </a:solidFill>
                          <a:latin typeface="Arial" panose="020B0604020202020204" pitchFamily="34" charset="0"/>
                          <a:cs typeface="Arial" panose="020B0604020202020204" pitchFamily="34" charset="0"/>
                        </a:rPr>
                        <a:t>v Open Parenthesis t Close Parenthesis equals L Start Fraction d </a:t>
                      </a:r>
                      <a:r>
                        <a:rPr lang="en-US" sz="100" i="1" dirty="0" err="1">
                          <a:solidFill>
                            <a:schemeClr val="tx1"/>
                          </a:solidFill>
                          <a:latin typeface="Arial" panose="020B0604020202020204" pitchFamily="34" charset="0"/>
                          <a:cs typeface="Arial" panose="020B0604020202020204" pitchFamily="34" charset="0"/>
                        </a:rPr>
                        <a:t>i</a:t>
                      </a:r>
                      <a:r>
                        <a:rPr lang="en-US" sz="100" i="1" dirty="0">
                          <a:solidFill>
                            <a:schemeClr val="tx1"/>
                          </a:solidFill>
                          <a:latin typeface="Arial" panose="020B0604020202020204" pitchFamily="34" charset="0"/>
                          <a:cs typeface="Arial" panose="020B0604020202020204" pitchFamily="34" charset="0"/>
                        </a:rPr>
                        <a:t> Open Parenthesis t Close Parenthesis over d t End Fraction.</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754455">
                <a:tc>
                  <a:txBody>
                    <a:bodyPr/>
                    <a:lstStyle/>
                    <a:p>
                      <a:pPr algn="ctr"/>
                      <a:r>
                        <a:rPr lang="en-US" sz="1800" b="1" dirty="0">
                          <a:solidFill>
                            <a:schemeClr val="tx1"/>
                          </a:solidFill>
                          <a:latin typeface="Arial" panose="020B0604020202020204" pitchFamily="34" charset="0"/>
                          <a:cs typeface="Arial" panose="020B0604020202020204" pitchFamily="34" charset="0"/>
                        </a:rPr>
                        <a:t>Other equation</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t Close Parenthesis equals Start Fraction 1 over L End Fraction Integral from t subscript o Base Line to t of v Open Parenthesis Tau Close Parenthesis d Tau plus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t subscript o Close Parenthesis.</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67168">
                <a:tc>
                  <a:txBody>
                    <a:bodyPr/>
                    <a:lstStyle/>
                    <a:p>
                      <a:pPr algn="ctr"/>
                      <a:r>
                        <a:rPr lang="en-US" sz="1800" b="1" dirty="0">
                          <a:solidFill>
                            <a:schemeClr val="tx1"/>
                          </a:solidFill>
                          <a:latin typeface="Arial" panose="020B0604020202020204" pitchFamily="34" charset="0"/>
                          <a:cs typeface="Arial" panose="020B0604020202020204" pitchFamily="34" charset="0"/>
                        </a:rPr>
                        <a:t> Initial condition</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dirty="0" err="1">
                          <a:solidFill>
                            <a:schemeClr val="tx1"/>
                          </a:solidFill>
                          <a:latin typeface="Arial" panose="020B0604020202020204" pitchFamily="34" charset="0"/>
                          <a:cs typeface="Arial" panose="020B0604020202020204" pitchFamily="34" charset="0"/>
                        </a:rPr>
                        <a:t>i</a:t>
                      </a:r>
                      <a:r>
                        <a:rPr lang="en-US" sz="100" i="1" dirty="0">
                          <a:solidFill>
                            <a:schemeClr val="tx1"/>
                          </a:solidFill>
                          <a:latin typeface="Arial" panose="020B0604020202020204" pitchFamily="34" charset="0"/>
                          <a:cs typeface="Arial" panose="020B0604020202020204" pitchFamily="34" charset="0"/>
                        </a:rPr>
                        <a:t> Open Parenthesis t subscript o Close Parenthesis.</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639224">
                <a:tc>
                  <a:txBody>
                    <a:bodyPr/>
                    <a:lstStyle/>
                    <a:p>
                      <a:pPr algn="ctr"/>
                      <a:r>
                        <a:rPr lang="en-US" sz="1800" b="1" dirty="0">
                          <a:solidFill>
                            <a:schemeClr val="tx1"/>
                          </a:solidFill>
                          <a:latin typeface="Arial" panose="020B0604020202020204" pitchFamily="34" charset="0"/>
                          <a:cs typeface="Arial" panose="020B0604020202020204" pitchFamily="34" charset="0"/>
                        </a:rPr>
                        <a:t>Behavior with const. source</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Arial" panose="020B0604020202020204" pitchFamily="34" charset="0"/>
                          <a:cs typeface="Arial" panose="020B0604020202020204" pitchFamily="34" charset="0"/>
                        </a:rPr>
                        <a:t>If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t Close Parenthesis equals I, v Open Parenthesis t Close Parenthesis equals 0 tends to.</a:t>
                      </a:r>
                      <a:r>
                        <a:rPr lang="en-US" sz="1800" dirty="0">
                          <a:solidFill>
                            <a:schemeClr val="tx1"/>
                          </a:solidFill>
                          <a:latin typeface="Arial" panose="020B0604020202020204" pitchFamily="34" charset="0"/>
                          <a:cs typeface="Arial" panose="020B0604020202020204" pitchFamily="34" charset="0"/>
                        </a:rPr>
                        <a:t>                 </a:t>
                      </a:r>
                      <a:r>
                        <a:rPr lang="en-US" sz="1800" dirty="0">
                          <a:solidFill>
                            <a:schemeClr val="tx1"/>
                          </a:solidFill>
                          <a:latin typeface="Arial" panose="020B0604020202020204" pitchFamily="34" charset="0"/>
                          <a:cs typeface="Arial" panose="020B0604020202020204" pitchFamily="34" charset="0"/>
                          <a:sym typeface="Symbol"/>
                        </a:rPr>
                        <a:t>short circuit</a:t>
                      </a:r>
                      <a:endParaRPr lang="en-IN" sz="1800" dirty="0">
                        <a:latin typeface="Arial" panose="020B0604020202020204" pitchFamily="34" charset="0"/>
                        <a:cs typeface="Arial" panose="020B0604020202020204" pitchFamily="34" charset="0"/>
                      </a:endParaRP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639224">
                <a:tc>
                  <a:txBody>
                    <a:bodyPr/>
                    <a:lstStyle/>
                    <a:p>
                      <a:pPr algn="ctr"/>
                      <a:r>
                        <a:rPr lang="en-US" sz="1800" b="1" dirty="0">
                          <a:solidFill>
                            <a:schemeClr val="tx1"/>
                          </a:solidFill>
                          <a:latin typeface="Arial" panose="020B0604020202020204" pitchFamily="34" charset="0"/>
                          <a:cs typeface="Arial" panose="020B0604020202020204" pitchFamily="34" charset="0"/>
                        </a:rPr>
                        <a:t>Continuity requirement</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800" i="1" dirty="0" err="1">
                          <a:solidFill>
                            <a:schemeClr val="tx1"/>
                          </a:solidFill>
                          <a:latin typeface="Arial" panose="020B0604020202020204" pitchFamily="34" charset="0"/>
                          <a:cs typeface="Arial" panose="020B0604020202020204" pitchFamily="34" charset="0"/>
                        </a:rPr>
                        <a:t>i</a:t>
                      </a:r>
                      <a:r>
                        <a:rPr lang="en-US" sz="1800" i="1" dirty="0">
                          <a:solidFill>
                            <a:schemeClr val="tx1"/>
                          </a:solidFill>
                          <a:latin typeface="Arial" panose="020B0604020202020204" pitchFamily="34" charset="0"/>
                          <a:cs typeface="Arial" panose="020B0604020202020204" pitchFamily="34" charset="0"/>
                        </a:rPr>
                        <a:t>(t) </a:t>
                      </a:r>
                      <a:r>
                        <a:rPr lang="en-US" sz="1800" dirty="0">
                          <a:solidFill>
                            <a:schemeClr val="tx1"/>
                          </a:solidFill>
                          <a:latin typeface="Arial" panose="020B0604020202020204" pitchFamily="34" charset="0"/>
                          <a:cs typeface="Arial" panose="020B0604020202020204" pitchFamily="34" charset="0"/>
                        </a:rPr>
                        <a:t>is continuous so </a:t>
                      </a:r>
                      <a:r>
                        <a:rPr lang="en-US" sz="1800" i="1" dirty="0">
                          <a:solidFill>
                            <a:schemeClr val="tx1"/>
                          </a:solidFill>
                          <a:latin typeface="Arial" panose="020B0604020202020204" pitchFamily="34" charset="0"/>
                          <a:cs typeface="Arial" panose="020B0604020202020204" pitchFamily="34" charset="0"/>
                        </a:rPr>
                        <a:t>v(t) </a:t>
                      </a:r>
                      <a:r>
                        <a:rPr lang="en-US" sz="1800" dirty="0">
                          <a:solidFill>
                            <a:schemeClr val="tx1"/>
                          </a:solidFill>
                          <a:latin typeface="Arial" panose="020B0604020202020204" pitchFamily="34" charset="0"/>
                          <a:cs typeface="Arial" panose="020B0604020202020204" pitchFamily="34" charset="0"/>
                        </a:rPr>
                        <a:t>is finite</a:t>
                      </a: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graphicFrame>
        <p:nvGraphicFramePr>
          <p:cNvPr id="5" name="Object 4">
            <a:extLst>
              <a:ext uri="{FF2B5EF4-FFF2-40B4-BE49-F238E27FC236}">
                <a16:creationId xmlns:a16="http://schemas.microsoft.com/office/drawing/2014/main" id="{B95F5030-07A2-A385-E5D2-1509A823FB9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42973850"/>
              </p:ext>
            </p:extLst>
          </p:nvPr>
        </p:nvGraphicFramePr>
        <p:xfrm>
          <a:off x="5572704" y="3228602"/>
          <a:ext cx="1227138" cy="560387"/>
        </p:xfrm>
        <a:graphic>
          <a:graphicData uri="http://schemas.openxmlformats.org/presentationml/2006/ole">
            <mc:AlternateContent xmlns:mc="http://schemas.openxmlformats.org/markup-compatibility/2006">
              <mc:Choice xmlns:v="urn:schemas-microsoft-com:vml" Requires="v">
                <p:oleObj name="Equation" r:id="rId2" imgW="863280" imgH="393480" progId="Equation.DSMT4">
                  <p:embed/>
                </p:oleObj>
              </mc:Choice>
              <mc:Fallback>
                <p:oleObj name="Equation" r:id="rId2" imgW="863280" imgH="393480" progId="Equation.DSMT4">
                  <p:embed/>
                  <p:pic>
                    <p:nvPicPr>
                      <p:cNvPr id="12" name="Object 11"/>
                      <p:cNvPicPr>
                        <a:picLocks noChangeAspect="1" noChangeArrowheads="1"/>
                      </p:cNvPicPr>
                      <p:nvPr/>
                    </p:nvPicPr>
                    <p:blipFill>
                      <a:blip r:embed="rId3"/>
                      <a:srcRect/>
                      <a:stretch>
                        <a:fillRect/>
                      </a:stretch>
                    </p:blipFill>
                    <p:spPr bwMode="auto">
                      <a:xfrm>
                        <a:off x="5572704" y="3228602"/>
                        <a:ext cx="1227138" cy="560387"/>
                      </a:xfrm>
                      <a:prstGeom prst="rect">
                        <a:avLst/>
                      </a:prstGeom>
                      <a:solidFill>
                        <a:srgbClr val="D4EAE4"/>
                      </a:solidFill>
                      <a:ln>
                        <a:noFill/>
                      </a:ln>
                    </p:spPr>
                  </p:pic>
                </p:oleObj>
              </mc:Fallback>
            </mc:AlternateContent>
          </a:graphicData>
        </a:graphic>
      </p:graphicFrame>
      <p:graphicFrame>
        <p:nvGraphicFramePr>
          <p:cNvPr id="7" name="Object 6">
            <a:extLst>
              <a:ext uri="{FF2B5EF4-FFF2-40B4-BE49-F238E27FC236}">
                <a16:creationId xmlns:a16="http://schemas.microsoft.com/office/drawing/2014/main" id="{7576C7AB-1FF0-AD60-F293-CF0EFA99330F}"/>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660182223"/>
              </p:ext>
            </p:extLst>
          </p:nvPr>
        </p:nvGraphicFramePr>
        <p:xfrm>
          <a:off x="5108575" y="4002450"/>
          <a:ext cx="2178050" cy="561975"/>
        </p:xfrm>
        <a:graphic>
          <a:graphicData uri="http://schemas.openxmlformats.org/presentationml/2006/ole">
            <mc:AlternateContent xmlns:mc="http://schemas.openxmlformats.org/markup-compatibility/2006">
              <mc:Choice xmlns:v="urn:schemas-microsoft-com:vml" Requires="v">
                <p:oleObj name="Equation" r:id="rId4" imgW="1523880" imgH="393480" progId="Equation.DSMT4">
                  <p:embed/>
                </p:oleObj>
              </mc:Choice>
              <mc:Fallback>
                <p:oleObj name="Equation" r:id="rId4" imgW="1523880" imgH="393480" progId="Equation.DSMT4">
                  <p:embed/>
                  <p:pic>
                    <p:nvPicPr>
                      <p:cNvPr id="13" name="Object 12"/>
                      <p:cNvPicPr>
                        <a:picLocks noChangeAspect="1" noChangeArrowheads="1"/>
                      </p:cNvPicPr>
                      <p:nvPr/>
                    </p:nvPicPr>
                    <p:blipFill>
                      <a:blip r:embed="rId5"/>
                      <a:srcRect/>
                      <a:stretch>
                        <a:fillRect/>
                      </a:stretch>
                    </p:blipFill>
                    <p:spPr bwMode="auto">
                      <a:xfrm>
                        <a:off x="5108575" y="4002450"/>
                        <a:ext cx="2178050" cy="561975"/>
                      </a:xfrm>
                      <a:prstGeom prst="rect">
                        <a:avLst/>
                      </a:prstGeom>
                      <a:solidFill>
                        <a:srgbClr val="D4EAE4"/>
                      </a:solidFill>
                      <a:ln>
                        <a:noFill/>
                      </a:ln>
                    </p:spPr>
                  </p:pic>
                </p:oleObj>
              </mc:Fallback>
            </mc:AlternateContent>
          </a:graphicData>
        </a:graphic>
      </p:graphicFrame>
      <p:graphicFrame>
        <p:nvGraphicFramePr>
          <p:cNvPr id="8" name="Object 7">
            <a:extLst>
              <a:ext uri="{FF2B5EF4-FFF2-40B4-BE49-F238E27FC236}">
                <a16:creationId xmlns:a16="http://schemas.microsoft.com/office/drawing/2014/main" id="{EFBDC139-5702-A226-3AB2-8B1BFFC7508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54825947"/>
              </p:ext>
            </p:extLst>
          </p:nvPr>
        </p:nvGraphicFramePr>
        <p:xfrm>
          <a:off x="6059341" y="4707805"/>
          <a:ext cx="395432" cy="295853"/>
        </p:xfrm>
        <a:graphic>
          <a:graphicData uri="http://schemas.openxmlformats.org/presentationml/2006/ole">
            <mc:AlternateContent xmlns:mc="http://schemas.openxmlformats.org/markup-compatibility/2006">
              <mc:Choice xmlns:v="urn:schemas-microsoft-com:vml" Requires="v">
                <p:oleObj name="Equation" r:id="rId6" imgW="304560" imgH="228600" progId="Equation.DSMT4">
                  <p:embed/>
                </p:oleObj>
              </mc:Choice>
              <mc:Fallback>
                <p:oleObj name="Equation" r:id="rId6" imgW="304560" imgH="228600" progId="Equation.DSMT4">
                  <p:embed/>
                  <p:pic>
                    <p:nvPicPr>
                      <p:cNvPr id="7" name="Object 6">
                        <a:extLst>
                          <a:ext uri="{FF2B5EF4-FFF2-40B4-BE49-F238E27FC236}">
                            <a16:creationId xmlns:a16="http://schemas.microsoft.com/office/drawing/2014/main" id="{7576C7AB-1FF0-AD60-F293-CF0EFA99330F}"/>
                          </a:ext>
                        </a:extLst>
                      </p:cNvPr>
                      <p:cNvPicPr>
                        <a:picLocks noChangeAspect="1" noChangeArrowheads="1"/>
                      </p:cNvPicPr>
                      <p:nvPr/>
                    </p:nvPicPr>
                    <p:blipFill>
                      <a:blip r:embed="rId7"/>
                      <a:srcRect/>
                      <a:stretch>
                        <a:fillRect/>
                      </a:stretch>
                    </p:blipFill>
                    <p:spPr bwMode="auto">
                      <a:xfrm>
                        <a:off x="6059341" y="4707805"/>
                        <a:ext cx="395432" cy="295853"/>
                      </a:xfrm>
                      <a:prstGeom prst="rect">
                        <a:avLst/>
                      </a:prstGeom>
                      <a:solidFill>
                        <a:srgbClr val="D4EAE4"/>
                      </a:solidFill>
                      <a:ln>
                        <a:noFill/>
                      </a:ln>
                    </p:spPr>
                  </p:pic>
                </p:oleObj>
              </mc:Fallback>
            </mc:AlternateContent>
          </a:graphicData>
        </a:graphic>
      </p:graphicFrame>
      <p:graphicFrame>
        <p:nvGraphicFramePr>
          <p:cNvPr id="9" name="Object 8">
            <a:extLst>
              <a:ext uri="{FF2B5EF4-FFF2-40B4-BE49-F238E27FC236}">
                <a16:creationId xmlns:a16="http://schemas.microsoft.com/office/drawing/2014/main" id="{93926996-D7DC-A75B-EA53-1771F91F5E3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78116517"/>
              </p:ext>
            </p:extLst>
          </p:nvPr>
        </p:nvGraphicFramePr>
        <p:xfrm>
          <a:off x="4877236" y="5231175"/>
          <a:ext cx="1576387" cy="288925"/>
        </p:xfrm>
        <a:graphic>
          <a:graphicData uri="http://schemas.openxmlformats.org/presentationml/2006/ole">
            <mc:AlternateContent xmlns:mc="http://schemas.openxmlformats.org/markup-compatibility/2006">
              <mc:Choice xmlns:v="urn:schemas-microsoft-com:vml" Requires="v">
                <p:oleObj name="Equation" r:id="rId8" imgW="1104840" imgH="203040" progId="Equation.DSMT4">
                  <p:embed/>
                </p:oleObj>
              </mc:Choice>
              <mc:Fallback>
                <p:oleObj name="Equation" r:id="rId8" imgW="1104840" imgH="203040" progId="Equation.DSMT4">
                  <p:embed/>
                  <p:pic>
                    <p:nvPicPr>
                      <p:cNvPr id="8" name="Object 7">
                        <a:extLst>
                          <a:ext uri="{FF2B5EF4-FFF2-40B4-BE49-F238E27FC236}">
                            <a16:creationId xmlns:a16="http://schemas.microsoft.com/office/drawing/2014/main" id="{EFBDC139-5702-A226-3AB2-8B1BFFC75086}"/>
                          </a:ext>
                        </a:extLst>
                      </p:cNvPr>
                      <p:cNvPicPr>
                        <a:picLocks noChangeAspect="1" noChangeArrowheads="1"/>
                      </p:cNvPicPr>
                      <p:nvPr/>
                    </p:nvPicPr>
                    <p:blipFill>
                      <a:blip r:embed="rId9"/>
                      <a:srcRect/>
                      <a:stretch>
                        <a:fillRect/>
                      </a:stretch>
                    </p:blipFill>
                    <p:spPr bwMode="auto">
                      <a:xfrm>
                        <a:off x="4877236" y="5231175"/>
                        <a:ext cx="1576387" cy="288925"/>
                      </a:xfrm>
                      <a:prstGeom prst="rect">
                        <a:avLst/>
                      </a:prstGeom>
                      <a:solidFill>
                        <a:srgbClr val="D4EAE4"/>
                      </a:solidFill>
                      <a:ln>
                        <a:noFill/>
                      </a:ln>
                    </p:spPr>
                  </p:pic>
                </p:oleObj>
              </mc:Fallback>
            </mc:AlternateContent>
          </a:graphicData>
        </a:graphic>
      </p:graphicFrame>
      <p:pic>
        <p:nvPicPr>
          <p:cNvPr id="6" name="Picture 5">
            <a:extLst>
              <a:ext uri="{FF2B5EF4-FFF2-40B4-BE49-F238E27FC236}">
                <a16:creationId xmlns:a16="http://schemas.microsoft.com/office/drawing/2014/main" id="{B179DE45-B28E-D84D-A2D1-31E2589B5028}"/>
              </a:ext>
              <a:ext uri="{C183D7F6-B498-43B3-948B-1728B52AA6E4}">
                <adec:decorative xmlns:adec="http://schemas.microsoft.com/office/drawing/2017/decorative" val="1"/>
              </a:ext>
            </a:extLst>
          </p:cNvPr>
          <p:cNvPicPr>
            <a:picLocks noChangeAspect="1"/>
          </p:cNvPicPr>
          <p:nvPr/>
        </p:nvPicPr>
        <p:blipFill rotWithShape="1">
          <a:blip r:embed="rId10"/>
          <a:srcRect t="42479" b="15594"/>
          <a:stretch/>
        </p:blipFill>
        <p:spPr>
          <a:xfrm>
            <a:off x="5842324" y="1976405"/>
            <a:ext cx="1115577" cy="747978"/>
          </a:xfrm>
          <a:prstGeom prst="rect">
            <a:avLst/>
          </a:prstGeom>
        </p:spPr>
      </p:pic>
    </p:spTree>
    <p:extLst>
      <p:ext uri="{BB962C8B-B14F-4D97-AF65-F5344CB8AC3E}">
        <p14:creationId xmlns:p14="http://schemas.microsoft.com/office/powerpoint/2010/main" val="458706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F558586B-B791-8FE2-664A-C9EC92762798}"/>
              </a:ext>
            </a:extLst>
          </p:cNvPr>
          <p:cNvSpPr>
            <a:spLocks noGrp="1"/>
          </p:cNvSpPr>
          <p:nvPr>
            <p:ph type="title"/>
          </p:nvPr>
        </p:nvSpPr>
        <p:spPr>
          <a:xfrm>
            <a:off x="430304" y="160934"/>
            <a:ext cx="8256495" cy="590349"/>
          </a:xfrm>
        </p:spPr>
        <p:txBody>
          <a:bodyPr/>
          <a:lstStyle/>
          <a:p>
            <a:r>
              <a:rPr lang="en-US" dirty="0"/>
              <a:t>Chapter 6 – Inductors </a:t>
            </a:r>
            <a:r>
              <a:rPr lang="en-US" sz="2800" dirty="0"/>
              <a:t>(17 of 17)</a:t>
            </a:r>
          </a:p>
        </p:txBody>
      </p:sp>
      <p:sp>
        <p:nvSpPr>
          <p:cNvPr id="3" name="Content Placeholder 2">
            <a:extLst>
              <a:ext uri="{FF2B5EF4-FFF2-40B4-BE49-F238E27FC236}">
                <a16:creationId xmlns:a16="http://schemas.microsoft.com/office/drawing/2014/main" id="{F05DC9F3-EF95-568B-D6BE-2D2E9E0B214A}"/>
              </a:ext>
            </a:extLst>
          </p:cNvPr>
          <p:cNvSpPr>
            <a:spLocks noGrp="1"/>
          </p:cNvSpPr>
          <p:nvPr>
            <p:ph sz="quarter" idx="12"/>
          </p:nvPr>
        </p:nvSpPr>
        <p:spPr>
          <a:xfrm>
            <a:off x="428159" y="926475"/>
            <a:ext cx="8229600" cy="405683"/>
          </a:xfrm>
        </p:spPr>
        <p:txBody>
          <a:bodyPr wrap="square">
            <a:spAutoFit/>
          </a:bodyPr>
          <a:lstStyle/>
          <a:p>
            <a:pPr marL="0" indent="0">
              <a:buNone/>
            </a:pPr>
            <a:r>
              <a:rPr lang="en-US" altLang="en-US" sz="2400" dirty="0"/>
              <a:t>Inductor summary</a:t>
            </a:r>
          </a:p>
        </p:txBody>
      </p:sp>
      <p:graphicFrame>
        <p:nvGraphicFramePr>
          <p:cNvPr id="6" name="Table 5">
            <a:extLst>
              <a:ext uri="{FF2B5EF4-FFF2-40B4-BE49-F238E27FC236}">
                <a16:creationId xmlns:a16="http://schemas.microsoft.com/office/drawing/2014/main" id="{B5832248-46F2-5125-C796-F03E9990BA8C}"/>
              </a:ext>
            </a:extLst>
          </p:cNvPr>
          <p:cNvGraphicFramePr>
            <a:graphicFrameLocks noGrp="1"/>
          </p:cNvGraphicFramePr>
          <p:nvPr>
            <p:extLst>
              <p:ext uri="{D42A27DB-BD31-4B8C-83A1-F6EECF244321}">
                <p14:modId xmlns:p14="http://schemas.microsoft.com/office/powerpoint/2010/main" val="1300682714"/>
              </p:ext>
            </p:extLst>
          </p:nvPr>
        </p:nvGraphicFramePr>
        <p:xfrm>
          <a:off x="1171575" y="1446458"/>
          <a:ext cx="6477000" cy="4830524"/>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29937">
                <a:tc>
                  <a:txBody>
                    <a:bodyPr/>
                    <a:lstStyle/>
                    <a:p>
                      <a:pPr algn="ctr"/>
                      <a:r>
                        <a:rPr lang="en-US" sz="1600" b="1" i="0" u="none" strike="noStrike" cap="none" dirty="0">
                          <a:solidFill>
                            <a:schemeClr val="bg1"/>
                          </a:solidFill>
                          <a:effectLst/>
                          <a:latin typeface="Arial" panose="020B0604020202020204" pitchFamily="34" charset="0"/>
                          <a:ea typeface="+mn-ea"/>
                          <a:cs typeface="Arial" panose="020B0604020202020204" pitchFamily="34" charset="0"/>
                          <a:sym typeface="Arial"/>
                        </a:rPr>
                        <a:t>Equation Type</a:t>
                      </a:r>
                      <a:endParaRPr lang="en-US" sz="1600" b="1" u="none" dirty="0">
                        <a:solidFill>
                          <a:schemeClr val="bg1"/>
                        </a:solidFill>
                        <a:latin typeface="Arial" panose="020B0604020202020204" pitchFamily="34" charset="0"/>
                        <a:cs typeface="Arial" panose="020B0604020202020204" pitchFamily="34" charset="0"/>
                      </a:endParaRP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sz="1600" b="1" i="0" u="none" strike="noStrike" cap="none" dirty="0">
                          <a:solidFill>
                            <a:schemeClr val="bg1"/>
                          </a:solidFill>
                          <a:effectLst/>
                          <a:latin typeface="Arial" panose="020B0604020202020204" pitchFamily="34" charset="0"/>
                          <a:ea typeface="+mn-ea"/>
                          <a:cs typeface="Arial" panose="020B0604020202020204" pitchFamily="34" charset="0"/>
                          <a:sym typeface="Arial"/>
                        </a:rPr>
                        <a:t>Equation</a:t>
                      </a:r>
                      <a:endParaRPr lang="en-US" sz="1600" b="1" u="none" dirty="0">
                        <a:solidFill>
                          <a:schemeClr val="bg1"/>
                        </a:solidFill>
                        <a:latin typeface="Arial" panose="020B0604020202020204" pitchFamily="34" charset="0"/>
                        <a:cs typeface="Arial" panose="020B0604020202020204" pitchFamily="34" charset="0"/>
                      </a:endParaRPr>
                    </a:p>
                  </a:txBody>
                  <a:tcPr marL="102176" marR="102176" marT="45264" marB="452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281054919"/>
                  </a:ext>
                </a:extLst>
              </a:tr>
              <a:tr h="760688">
                <a:tc>
                  <a:txBody>
                    <a:bodyPr/>
                    <a:lstStyle/>
                    <a:p>
                      <a:pPr algn="ctr"/>
                      <a:r>
                        <a:rPr lang="en-US" sz="1600" dirty="0">
                          <a:latin typeface="Arial" panose="020B0604020202020204" pitchFamily="34" charset="0"/>
                          <a:cs typeface="Arial" panose="020B0604020202020204" pitchFamily="34" charset="0"/>
                        </a:rPr>
                        <a:t>Power</a:t>
                      </a:r>
                      <a:endParaRPr lang="en-US" sz="16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latin typeface="Arial" panose="020B0604020202020204" pitchFamily="34" charset="0"/>
                          <a:cs typeface="Arial" panose="020B0604020202020204" pitchFamily="34" charset="0"/>
                        </a:rPr>
                        <a:t>p Open Parenthesis t Close Parenthesis equals v Open Parenthesis t Close Parenthesis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t Close Parenthesis equals L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t Close Parenthesis Start Fraction d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t Close Parenthesis over d t End 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0"/>
                  </a:ext>
                </a:extLst>
              </a:tr>
              <a:tr h="618632">
                <a:tc>
                  <a:txBody>
                    <a:bodyPr/>
                    <a:lstStyle/>
                    <a:p>
                      <a:pPr algn="ctr"/>
                      <a:r>
                        <a:rPr lang="en-US" sz="1600" dirty="0">
                          <a:latin typeface="Arial" panose="020B0604020202020204" pitchFamily="34" charset="0"/>
                          <a:cs typeface="Arial" panose="020B0604020202020204" pitchFamily="34" charset="0"/>
                        </a:rPr>
                        <a:t>Energy</a:t>
                      </a:r>
                      <a:endParaRPr lang="en-US" sz="16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latin typeface="Arial" panose="020B0604020202020204" pitchFamily="34" charset="0"/>
                          <a:cs typeface="Arial" panose="020B0604020202020204" pitchFamily="34" charset="0"/>
                        </a:rPr>
                        <a:t>w Open Parenthesis t Close Parenthesis equals Start Fraction 1 over 2 End Fraction L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t Close Parenthesis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549895">
                <a:tc>
                  <a:txBody>
                    <a:bodyPr/>
                    <a:lstStyle/>
                    <a:p>
                      <a:pPr algn="ctr"/>
                      <a:r>
                        <a:rPr lang="en-US" sz="1600" dirty="0">
                          <a:latin typeface="Arial" panose="020B0604020202020204" pitchFamily="34" charset="0"/>
                          <a:cs typeface="Arial" panose="020B0604020202020204" pitchFamily="34" charset="0"/>
                        </a:rPr>
                        <a:t>Initial</a:t>
                      </a:r>
                      <a:r>
                        <a:rPr lang="en-US" sz="1600" baseline="0" dirty="0">
                          <a:latin typeface="Arial" panose="020B0604020202020204" pitchFamily="34" charset="0"/>
                          <a:cs typeface="Arial" panose="020B0604020202020204" pitchFamily="34" charset="0"/>
                        </a:rPr>
                        <a:t> energy</a:t>
                      </a:r>
                      <a:endParaRPr lang="en-US" sz="16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latin typeface="Arial" panose="020B0604020202020204" pitchFamily="34" charset="0"/>
                          <a:cs typeface="Arial" panose="020B0604020202020204" pitchFamily="34" charset="0"/>
                        </a:rPr>
                        <a:t>w subscript o Base Line Open Parenthesis t Close Parenthesis equals Start Fraction 1 over 2 End Fraction L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t subscript o Close Parenthesis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710322">
                <a:tc>
                  <a:txBody>
                    <a:bodyPr/>
                    <a:lstStyle/>
                    <a:p>
                      <a:pPr algn="ctr"/>
                      <a:r>
                        <a:rPr lang="en-US" sz="1600" dirty="0">
                          <a:latin typeface="Arial" panose="020B0604020202020204" pitchFamily="34" charset="0"/>
                          <a:cs typeface="Arial" panose="020B0604020202020204" pitchFamily="34" charset="0"/>
                        </a:rPr>
                        <a:t>Trapped energy</a:t>
                      </a:r>
                      <a:endParaRPr lang="en-US" sz="16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solidFill>
                            <a:schemeClr val="tx1"/>
                          </a:solidFill>
                          <a:latin typeface="Arial" panose="020B0604020202020204" pitchFamily="34" charset="0"/>
                          <a:cs typeface="Arial" panose="020B0604020202020204" pitchFamily="34" charset="0"/>
                        </a:rPr>
                        <a:t>w Open Parenthesis infinity Close Parenthesis equals Start Fraction 1 over 2 End Fraction L </a:t>
                      </a:r>
                      <a:r>
                        <a:rPr lang="en-US" sz="100" dirty="0" err="1">
                          <a:solidFill>
                            <a:schemeClr val="tx1"/>
                          </a:solidFill>
                          <a:latin typeface="Arial" panose="020B0604020202020204" pitchFamily="34" charset="0"/>
                          <a:cs typeface="Arial" panose="020B0604020202020204" pitchFamily="34" charset="0"/>
                        </a:rPr>
                        <a:t>i</a:t>
                      </a:r>
                      <a:r>
                        <a:rPr lang="en-US" sz="100" dirty="0">
                          <a:solidFill>
                            <a:schemeClr val="tx1"/>
                          </a:solidFill>
                          <a:latin typeface="Arial" panose="020B0604020202020204" pitchFamily="34" charset="0"/>
                          <a:cs typeface="Arial" panose="020B0604020202020204" pitchFamily="34" charset="0"/>
                        </a:rPr>
                        <a:t> Open Parenthesis infinity Close Parenthesis squared.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894303">
                <a:tc>
                  <a:txBody>
                    <a:bodyPr/>
                    <a:lstStyle/>
                    <a:p>
                      <a:pPr algn="ctr"/>
                      <a:r>
                        <a:rPr lang="en-US" sz="1600" dirty="0">
                          <a:latin typeface="Arial" panose="020B0604020202020204" pitchFamily="34" charset="0"/>
                          <a:cs typeface="Arial" panose="020B0604020202020204" pitchFamily="34" charset="0"/>
                        </a:rPr>
                        <a:t>Series-connected</a:t>
                      </a:r>
                      <a:endParaRPr lang="en-US" sz="16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i="1" baseline="0" dirty="0">
                          <a:solidFill>
                            <a:schemeClr val="tx1"/>
                          </a:solidFill>
                          <a:latin typeface="Arial" panose="020B0604020202020204" pitchFamily="34" charset="0"/>
                          <a:cs typeface="Arial" panose="020B0604020202020204" pitchFamily="34" charset="0"/>
                        </a:rPr>
                        <a:t>L subscript e q Base Line equals L subscript 1 Base Line plus L subscript 2 Base Line plus L subscript 2. </a:t>
                      </a:r>
                      <a:r>
                        <a:rPr lang="en-US" sz="100" i="1" baseline="0" dirty="0" err="1">
                          <a:solidFill>
                            <a:schemeClr val="tx1"/>
                          </a:solidFill>
                          <a:latin typeface="Arial" panose="020B0604020202020204" pitchFamily="34" charset="0"/>
                          <a:cs typeface="Arial" panose="020B0604020202020204" pitchFamily="34" charset="0"/>
                        </a:rPr>
                        <a:t>i</a:t>
                      </a:r>
                      <a:r>
                        <a:rPr lang="en-US" sz="100" i="1" baseline="0" dirty="0">
                          <a:solidFill>
                            <a:schemeClr val="tx1"/>
                          </a:solidFill>
                          <a:latin typeface="Arial" panose="020B0604020202020204" pitchFamily="34" charset="0"/>
                          <a:cs typeface="Arial" panose="020B0604020202020204" pitchFamily="34" charset="0"/>
                        </a:rPr>
                        <a:t> subscript e q Base Line Open Parenthesis t subscript 0 Close Parenthesis equals </a:t>
                      </a:r>
                      <a:r>
                        <a:rPr lang="en-US" sz="100" i="1" baseline="0" dirty="0" err="1">
                          <a:solidFill>
                            <a:schemeClr val="tx1"/>
                          </a:solidFill>
                          <a:latin typeface="Arial" panose="020B0604020202020204" pitchFamily="34" charset="0"/>
                          <a:cs typeface="Arial" panose="020B0604020202020204" pitchFamily="34" charset="0"/>
                        </a:rPr>
                        <a:t>i</a:t>
                      </a:r>
                      <a:r>
                        <a:rPr lang="en-US" sz="100" i="1" baseline="0" dirty="0">
                          <a:solidFill>
                            <a:schemeClr val="tx1"/>
                          </a:solidFill>
                          <a:latin typeface="Arial" panose="020B0604020202020204" pitchFamily="34" charset="0"/>
                          <a:cs typeface="Arial" panose="020B0604020202020204" pitchFamily="34" charset="0"/>
                        </a:rPr>
                        <a:t> Open Parenthesis t subscript 0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962316">
                <a:tc>
                  <a:txBody>
                    <a:bodyPr/>
                    <a:lstStyle/>
                    <a:p>
                      <a:pPr algn="ctr"/>
                      <a:r>
                        <a:rPr lang="en-US" sz="1600" dirty="0">
                          <a:latin typeface="Arial" panose="020B0604020202020204" pitchFamily="34" charset="0"/>
                          <a:cs typeface="Arial" panose="020B0604020202020204" pitchFamily="34" charset="0"/>
                        </a:rPr>
                        <a:t>Parallel-connected</a:t>
                      </a:r>
                      <a:endParaRPr lang="en-US" sz="16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dirty="0">
                          <a:latin typeface="Arial" panose="020B0604020202020204" pitchFamily="34" charset="0"/>
                          <a:cs typeface="Arial" panose="020B0604020202020204" pitchFamily="34" charset="0"/>
                        </a:rPr>
                        <a:t>Start Fraction 1 over L subscript e q End Fraction equals Start Fraction 1 over L subscript 1 End Fraction plus Start Fraction 1 over L subscript 2 End Fraction plus Start Fraction 1 over L subscript 3 End Fraction.</a:t>
                      </a:r>
                    </a:p>
                    <a:p>
                      <a:pPr algn="ct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subscript e q Base Line Open Parenthesis t subscript o Close Parenthesis equals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subscript 1 Base Line Open Parenthesis t subscript o Close Parenthesis plus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subscript 2 Base Line Open Parenthesis t subscript o Close Parenthesis plus </a:t>
                      </a:r>
                      <a:r>
                        <a:rPr lang="en-US" sz="100" dirty="0" err="1">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subscript 3 Base Line Open Parenthesis t subscript o Close Parenthesis.</a:t>
                      </a:r>
                    </a:p>
                    <a:p>
                      <a:pPr algn="ctr"/>
                      <a:endParaRPr lang="en-US" sz="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bl>
          </a:graphicData>
        </a:graphic>
      </p:graphicFrame>
      <p:graphicFrame>
        <p:nvGraphicFramePr>
          <p:cNvPr id="10" name="Object 9">
            <a:extLst>
              <a:ext uri="{FF2B5EF4-FFF2-40B4-BE49-F238E27FC236}">
                <a16:creationId xmlns:a16="http://schemas.microsoft.com/office/drawing/2014/main" id="{21CB29C6-CBBE-5B7D-C276-F7A88B1E37D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837221394"/>
              </p:ext>
            </p:extLst>
          </p:nvPr>
        </p:nvGraphicFramePr>
        <p:xfrm>
          <a:off x="4749198" y="1878287"/>
          <a:ext cx="2518980" cy="591709"/>
        </p:xfrm>
        <a:graphic>
          <a:graphicData uri="http://schemas.openxmlformats.org/presentationml/2006/ole">
            <mc:AlternateContent xmlns:mc="http://schemas.openxmlformats.org/markup-compatibility/2006">
              <mc:Choice xmlns:v="urn:schemas-microsoft-com:vml" Requires="v">
                <p:oleObj name="Equation" r:id="rId3" imgW="1676160" imgH="393480" progId="Equation.DSMT4">
                  <p:embed/>
                </p:oleObj>
              </mc:Choice>
              <mc:Fallback>
                <p:oleObj name="Equation" r:id="rId3" imgW="1676160" imgH="393480" progId="Equation.DSMT4">
                  <p:embed/>
                  <p:pic>
                    <p:nvPicPr>
                      <p:cNvPr id="4" name="Object 3"/>
                      <p:cNvPicPr>
                        <a:picLocks noChangeAspect="1" noChangeArrowheads="1"/>
                      </p:cNvPicPr>
                      <p:nvPr/>
                    </p:nvPicPr>
                    <p:blipFill>
                      <a:blip r:embed="rId4"/>
                      <a:srcRect/>
                      <a:stretch>
                        <a:fillRect/>
                      </a:stretch>
                    </p:blipFill>
                    <p:spPr bwMode="auto">
                      <a:xfrm>
                        <a:off x="4749198" y="1878287"/>
                        <a:ext cx="2518980" cy="591709"/>
                      </a:xfrm>
                      <a:prstGeom prst="rect">
                        <a:avLst/>
                      </a:prstGeom>
                      <a:solidFill>
                        <a:srgbClr val="D4EAE4"/>
                      </a:solidFill>
                      <a:ln>
                        <a:noFill/>
                      </a:ln>
                    </p:spPr>
                  </p:pic>
                </p:oleObj>
              </mc:Fallback>
            </mc:AlternateContent>
          </a:graphicData>
        </a:graphic>
      </p:graphicFrame>
      <p:graphicFrame>
        <p:nvGraphicFramePr>
          <p:cNvPr id="11" name="Object 10">
            <a:extLst>
              <a:ext uri="{FF2B5EF4-FFF2-40B4-BE49-F238E27FC236}">
                <a16:creationId xmlns:a16="http://schemas.microsoft.com/office/drawing/2014/main" id="{3E5F18D6-73F4-728A-B554-F4769EF5CDD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3173330"/>
              </p:ext>
            </p:extLst>
          </p:nvPr>
        </p:nvGraphicFramePr>
        <p:xfrm>
          <a:off x="5163259" y="2668515"/>
          <a:ext cx="1405109" cy="370794"/>
        </p:xfrm>
        <a:graphic>
          <a:graphicData uri="http://schemas.openxmlformats.org/presentationml/2006/ole">
            <mc:AlternateContent xmlns:mc="http://schemas.openxmlformats.org/markup-compatibility/2006">
              <mc:Choice xmlns:v="urn:schemas-microsoft-com:vml" Requires="v">
                <p:oleObj name="Equation" r:id="rId5" imgW="914400" imgH="241200" progId="Equation.DSMT4">
                  <p:embed/>
                </p:oleObj>
              </mc:Choice>
              <mc:Fallback>
                <p:oleObj name="Equation" r:id="rId5" imgW="914400" imgH="241200" progId="Equation.DSMT4">
                  <p:embed/>
                  <p:pic>
                    <p:nvPicPr>
                      <p:cNvPr id="5" name="Object 4"/>
                      <p:cNvPicPr>
                        <a:picLocks noChangeAspect="1" noChangeArrowheads="1"/>
                      </p:cNvPicPr>
                      <p:nvPr/>
                    </p:nvPicPr>
                    <p:blipFill>
                      <a:blip r:embed="rId6"/>
                      <a:srcRect/>
                      <a:stretch>
                        <a:fillRect/>
                      </a:stretch>
                    </p:blipFill>
                    <p:spPr bwMode="auto">
                      <a:xfrm>
                        <a:off x="5163259" y="2668515"/>
                        <a:ext cx="1405109" cy="370794"/>
                      </a:xfrm>
                      <a:prstGeom prst="rect">
                        <a:avLst/>
                      </a:prstGeom>
                      <a:solidFill>
                        <a:srgbClr val="D4EAE4"/>
                      </a:solidFill>
                      <a:ln>
                        <a:noFill/>
                      </a:ln>
                    </p:spPr>
                  </p:pic>
                </p:oleObj>
              </mc:Fallback>
            </mc:AlternateContent>
          </a:graphicData>
        </a:graphic>
      </p:graphicFrame>
      <p:graphicFrame>
        <p:nvGraphicFramePr>
          <p:cNvPr id="12" name="Object 11">
            <a:extLst>
              <a:ext uri="{FF2B5EF4-FFF2-40B4-BE49-F238E27FC236}">
                <a16:creationId xmlns:a16="http://schemas.microsoft.com/office/drawing/2014/main" id="{61B77616-7218-878A-2EB1-93FB6236B4B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32464051"/>
              </p:ext>
            </p:extLst>
          </p:nvPr>
        </p:nvGraphicFramePr>
        <p:xfrm>
          <a:off x="5076266" y="3271516"/>
          <a:ext cx="1596556" cy="374502"/>
        </p:xfrm>
        <a:graphic>
          <a:graphicData uri="http://schemas.openxmlformats.org/presentationml/2006/ole">
            <mc:AlternateContent xmlns:mc="http://schemas.openxmlformats.org/markup-compatibility/2006">
              <mc:Choice xmlns:v="urn:schemas-microsoft-com:vml" Requires="v">
                <p:oleObj name="Equation" r:id="rId7" imgW="1028520" imgH="241200" progId="Equation.DSMT4">
                  <p:embed/>
                </p:oleObj>
              </mc:Choice>
              <mc:Fallback>
                <p:oleObj name="Equation" r:id="rId7" imgW="1028520" imgH="241200" progId="Equation.DSMT4">
                  <p:embed/>
                  <p:pic>
                    <p:nvPicPr>
                      <p:cNvPr id="6" name="Object 5"/>
                      <p:cNvPicPr>
                        <a:picLocks noChangeAspect="1" noChangeArrowheads="1"/>
                      </p:cNvPicPr>
                      <p:nvPr/>
                    </p:nvPicPr>
                    <p:blipFill>
                      <a:blip r:embed="rId8"/>
                      <a:srcRect/>
                      <a:stretch>
                        <a:fillRect/>
                      </a:stretch>
                    </p:blipFill>
                    <p:spPr bwMode="auto">
                      <a:xfrm>
                        <a:off x="5076266" y="3271516"/>
                        <a:ext cx="1596556" cy="374502"/>
                      </a:xfrm>
                      <a:prstGeom prst="rect">
                        <a:avLst/>
                      </a:prstGeom>
                      <a:solidFill>
                        <a:srgbClr val="D4EAE4"/>
                      </a:solidFill>
                      <a:ln>
                        <a:noFill/>
                      </a:ln>
                    </p:spPr>
                  </p:pic>
                </p:oleObj>
              </mc:Fallback>
            </mc:AlternateContent>
          </a:graphicData>
        </a:graphic>
      </p:graphicFrame>
      <p:graphicFrame>
        <p:nvGraphicFramePr>
          <p:cNvPr id="13" name="Object 12">
            <a:extLst>
              <a:ext uri="{FF2B5EF4-FFF2-40B4-BE49-F238E27FC236}">
                <a16:creationId xmlns:a16="http://schemas.microsoft.com/office/drawing/2014/main" id="{A7398FC5-715D-2CF1-0CEF-EA0C3582085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39319032"/>
              </p:ext>
            </p:extLst>
          </p:nvPr>
        </p:nvGraphicFramePr>
        <p:xfrm>
          <a:off x="5104220" y="3852694"/>
          <a:ext cx="1612523" cy="378248"/>
        </p:xfrm>
        <a:graphic>
          <a:graphicData uri="http://schemas.openxmlformats.org/presentationml/2006/ole">
            <mc:AlternateContent xmlns:mc="http://schemas.openxmlformats.org/markup-compatibility/2006">
              <mc:Choice xmlns:v="urn:schemas-microsoft-com:vml" Requires="v">
                <p:oleObj name="Equation" r:id="rId9" imgW="1028520" imgH="241200" progId="Equation.DSMT4">
                  <p:embed/>
                </p:oleObj>
              </mc:Choice>
              <mc:Fallback>
                <p:oleObj name="Equation" r:id="rId9" imgW="1028520" imgH="241200" progId="Equation.DSMT4">
                  <p:embed/>
                  <p:pic>
                    <p:nvPicPr>
                      <p:cNvPr id="7" name="Object 6"/>
                      <p:cNvPicPr>
                        <a:picLocks noChangeAspect="1" noChangeArrowheads="1"/>
                      </p:cNvPicPr>
                      <p:nvPr/>
                    </p:nvPicPr>
                    <p:blipFill>
                      <a:blip r:embed="rId10"/>
                      <a:srcRect/>
                      <a:stretch>
                        <a:fillRect/>
                      </a:stretch>
                    </p:blipFill>
                    <p:spPr bwMode="auto">
                      <a:xfrm>
                        <a:off x="5104220" y="3852694"/>
                        <a:ext cx="1612523" cy="378248"/>
                      </a:xfrm>
                      <a:prstGeom prst="rect">
                        <a:avLst/>
                      </a:prstGeom>
                      <a:solidFill>
                        <a:srgbClr val="D4EAE4"/>
                      </a:solidFill>
                      <a:ln>
                        <a:noFill/>
                      </a:ln>
                    </p:spPr>
                  </p:pic>
                </p:oleObj>
              </mc:Fallback>
            </mc:AlternateContent>
          </a:graphicData>
        </a:graphic>
      </p:graphicFrame>
      <p:graphicFrame>
        <p:nvGraphicFramePr>
          <p:cNvPr id="14" name="Object 13">
            <a:extLst>
              <a:ext uri="{FF2B5EF4-FFF2-40B4-BE49-F238E27FC236}">
                <a16:creationId xmlns:a16="http://schemas.microsoft.com/office/drawing/2014/main" id="{E4C351F0-52AC-1C05-38AF-F35BBDC62D3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55280246"/>
              </p:ext>
            </p:extLst>
          </p:nvPr>
        </p:nvGraphicFramePr>
        <p:xfrm>
          <a:off x="5034436" y="4454771"/>
          <a:ext cx="1771177" cy="708471"/>
        </p:xfrm>
        <a:graphic>
          <a:graphicData uri="http://schemas.openxmlformats.org/presentationml/2006/ole">
            <mc:AlternateContent xmlns:mc="http://schemas.openxmlformats.org/markup-compatibility/2006">
              <mc:Choice xmlns:v="urn:schemas-microsoft-com:vml" Requires="v">
                <p:oleObj name="Equation" r:id="rId11" imgW="1143000" imgH="457200" progId="Equation.DSMT4">
                  <p:embed/>
                </p:oleObj>
              </mc:Choice>
              <mc:Fallback>
                <p:oleObj name="Equation" r:id="rId11" imgW="1143000" imgH="457200" progId="Equation.DSMT4">
                  <p:embed/>
                  <p:pic>
                    <p:nvPicPr>
                      <p:cNvPr id="13" name="Object 12">
                        <a:extLst>
                          <a:ext uri="{FF2B5EF4-FFF2-40B4-BE49-F238E27FC236}">
                            <a16:creationId xmlns:a16="http://schemas.microsoft.com/office/drawing/2014/main" id="{A7398FC5-715D-2CF1-0CEF-EA0C35820857}"/>
                          </a:ext>
                        </a:extLst>
                      </p:cNvPr>
                      <p:cNvPicPr>
                        <a:picLocks noChangeAspect="1" noChangeArrowheads="1"/>
                      </p:cNvPicPr>
                      <p:nvPr/>
                    </p:nvPicPr>
                    <p:blipFill>
                      <a:blip r:embed="rId12"/>
                      <a:srcRect/>
                      <a:stretch>
                        <a:fillRect/>
                      </a:stretch>
                    </p:blipFill>
                    <p:spPr bwMode="auto">
                      <a:xfrm>
                        <a:off x="5034436" y="4454771"/>
                        <a:ext cx="1771177" cy="708471"/>
                      </a:xfrm>
                      <a:prstGeom prst="rect">
                        <a:avLst/>
                      </a:prstGeom>
                      <a:solidFill>
                        <a:srgbClr val="D4EAE4"/>
                      </a:solidFill>
                      <a:ln>
                        <a:noFill/>
                      </a:ln>
                    </p:spPr>
                  </p:pic>
                </p:oleObj>
              </mc:Fallback>
            </mc:AlternateContent>
          </a:graphicData>
        </a:graphic>
      </p:graphicFrame>
      <p:graphicFrame>
        <p:nvGraphicFramePr>
          <p:cNvPr id="16" name="Object 15">
            <a:extLst>
              <a:ext uri="{FF2B5EF4-FFF2-40B4-BE49-F238E27FC236}">
                <a16:creationId xmlns:a16="http://schemas.microsoft.com/office/drawing/2014/main" id="{E953AA74-B5D6-760B-1EA3-0048532D3B2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8290999"/>
              </p:ext>
            </p:extLst>
          </p:nvPr>
        </p:nvGraphicFramePr>
        <p:xfrm>
          <a:off x="5079485" y="5368047"/>
          <a:ext cx="1966356" cy="841033"/>
        </p:xfrm>
        <a:graphic>
          <a:graphicData uri="http://schemas.openxmlformats.org/presentationml/2006/ole">
            <mc:AlternateContent xmlns:mc="http://schemas.openxmlformats.org/markup-compatibility/2006">
              <mc:Choice xmlns:v="urn:schemas-microsoft-com:vml" Requires="v">
                <p:oleObj name="Equation" r:id="rId13" imgW="1803240" imgH="711000" progId="Equation.DSMT4">
                  <p:embed/>
                </p:oleObj>
              </mc:Choice>
              <mc:Fallback>
                <p:oleObj name="Equation" r:id="rId13" imgW="1803240" imgH="711000" progId="Equation.DSMT4">
                  <p:embed/>
                  <p:pic>
                    <p:nvPicPr>
                      <p:cNvPr id="20" name="Object 19"/>
                      <p:cNvPicPr>
                        <a:picLocks noChangeAspect="1" noChangeArrowheads="1"/>
                      </p:cNvPicPr>
                      <p:nvPr/>
                    </p:nvPicPr>
                    <p:blipFill>
                      <a:blip r:embed="rId14"/>
                      <a:srcRect/>
                      <a:stretch>
                        <a:fillRect/>
                      </a:stretch>
                    </p:blipFill>
                    <p:spPr bwMode="auto">
                      <a:xfrm>
                        <a:off x="5079485" y="5368047"/>
                        <a:ext cx="1966356" cy="841033"/>
                      </a:xfrm>
                      <a:prstGeom prst="rect">
                        <a:avLst/>
                      </a:prstGeom>
                      <a:solidFill>
                        <a:srgbClr val="D4EAE4"/>
                      </a:solidFill>
                      <a:ln>
                        <a:noFill/>
                      </a:ln>
                    </p:spPr>
                  </p:pic>
                </p:oleObj>
              </mc:Fallback>
            </mc:AlternateContent>
          </a:graphicData>
        </a:graphic>
      </p:graphicFrame>
    </p:spTree>
    <p:extLst>
      <p:ext uri="{BB962C8B-B14F-4D97-AF65-F5344CB8AC3E}">
        <p14:creationId xmlns:p14="http://schemas.microsoft.com/office/powerpoint/2010/main" val="12531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1290</TotalTime>
  <Words>1626</Words>
  <Application>Microsoft Office PowerPoint</Application>
  <PresentationFormat>On-screen Show (4:3)</PresentationFormat>
  <Paragraphs>141</Paragraphs>
  <Slides>20</Slides>
  <Notes>6</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26" baseType="lpstr">
      <vt:lpstr>Verdana</vt:lpstr>
      <vt:lpstr>Arial</vt:lpstr>
      <vt:lpstr>Times New Roman</vt:lpstr>
      <vt:lpstr>USHE</vt:lpstr>
      <vt:lpstr>USHE_slide options</vt:lpstr>
      <vt:lpstr>Equation</vt:lpstr>
      <vt:lpstr>Electric Circuits</vt:lpstr>
      <vt:lpstr>Chapter 6 – Inductance and Capacitance</vt:lpstr>
      <vt:lpstr>Chapter 6 – Inductors (1 of 17)</vt:lpstr>
      <vt:lpstr>Chapter 6 – Inductors (2 of 17)</vt:lpstr>
      <vt:lpstr>Chapter 6 – Inductors (2 of 17)</vt:lpstr>
      <vt:lpstr>Chapter 6 – Inductors (3 of 17)</vt:lpstr>
      <vt:lpstr>Chapter 6 – Inductors (3 of 17)</vt:lpstr>
      <vt:lpstr>Chapter 6 – Inductors (6 of 17)</vt:lpstr>
      <vt:lpstr>Chapter 6 – Inductors (7 of 17)</vt:lpstr>
      <vt:lpstr>Chapter 6 – Inductors (8 of 17)</vt:lpstr>
      <vt:lpstr>Chapter 6 – Inductors (9 of 17)</vt:lpstr>
      <vt:lpstr>Chapter 6 – Inductors (10 of 17)</vt:lpstr>
      <vt:lpstr>Chapter 6 – Inductors (11 of 17)</vt:lpstr>
      <vt:lpstr>Chapter 6 – Inductors (12 of 17)</vt:lpstr>
      <vt:lpstr>Chapter 6 – Inductors (13 of 17)</vt:lpstr>
      <vt:lpstr>Chapter 6 – Inductors (14 of 17)</vt:lpstr>
      <vt:lpstr>Chapter 6 – Inductors (15 of 17)</vt:lpstr>
      <vt:lpstr>Chapter 6 – Inductors (16 of 17)</vt:lpstr>
      <vt:lpstr>Chapter 6 – Inductors (17 of 17)</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6 – Part 1</dc:title>
  <dc:subject>Engineering</dc:subject>
  <dc:creator>Nilsson and Riedel</dc:creator>
  <cp:keywords/>
  <dc:description>Alt text for images/ math equations within table cells have been placed behind the object intentionally to provide a better screen reader user experience.</dc:description>
  <cp:lastModifiedBy>kml erd</cp:lastModifiedBy>
  <cp:revision>225</cp:revision>
  <dcterms:modified xsi:type="dcterms:W3CDTF">2025-11-24T11:06:10Z</dcterms:modified>
</cp:coreProperties>
</file>