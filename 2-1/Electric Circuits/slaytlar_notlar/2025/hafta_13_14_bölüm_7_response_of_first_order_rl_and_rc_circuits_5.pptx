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13"/>
  </p:notesMasterIdLst>
  <p:handoutMasterIdLst>
    <p:handoutMasterId r:id="rId14"/>
  </p:handoutMasterIdLst>
  <p:sldIdLst>
    <p:sldId id="330" r:id="rId3"/>
    <p:sldId id="718" r:id="rId4"/>
    <p:sldId id="719" r:id="rId5"/>
    <p:sldId id="724" r:id="rId6"/>
    <p:sldId id="720" r:id="rId7"/>
    <p:sldId id="725" r:id="rId8"/>
    <p:sldId id="722" r:id="rId9"/>
    <p:sldId id="721" r:id="rId10"/>
    <p:sldId id="723" r:id="rId11"/>
    <p:sldId id="717" r:id="rId12"/>
  </p:sldIdLst>
  <p:sldSz cx="9144000" cy="6858000" type="screen4x3"/>
  <p:notesSz cx="6858000" cy="9144000"/>
  <p:embeddedFontLst>
    <p:embeddedFont>
      <p:font typeface="Verdana" panose="020B060403050404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867" userDrawn="1">
          <p15:clr>
            <a:srgbClr val="A4A3A4"/>
          </p15:clr>
        </p15:guide>
        <p15:guide id="4" pos="2903" userDrawn="1">
          <p15:clr>
            <a:srgbClr val="A4A3A4"/>
          </p15:clr>
        </p15:guide>
        <p15:guide id="5" pos="5443" userDrawn="1">
          <p15:clr>
            <a:srgbClr val="A4A3A4"/>
          </p15:clr>
        </p15:guide>
        <p15:guide id="6" orient="horz" pos="4042" userDrawn="1">
          <p15:clr>
            <a:srgbClr val="A4A3A4"/>
          </p15:clr>
        </p15:guide>
        <p15:guide id="7" orient="horz" pos="220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05" autoAdjust="0"/>
    <p:restoredTop sz="72281" autoAdjust="0"/>
  </p:normalViewPr>
  <p:slideViewPr>
    <p:cSldViewPr snapToGrid="0" snapToObjects="1">
      <p:cViewPr varScale="1">
        <p:scale>
          <a:sx n="107" d="100"/>
          <a:sy n="107" d="100"/>
        </p:scale>
        <p:origin x="1896" y="102"/>
      </p:cViewPr>
      <p:guideLst>
        <p:guide orient="horz" pos="427"/>
        <p:guide pos="264"/>
        <p:guide orient="horz" pos="867"/>
        <p:guide pos="2903"/>
        <p:guide pos="5443"/>
        <p:guide orient="horz" pos="4042"/>
        <p:guide orient="horz" pos="2205"/>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v subscript o </a:t>
            </a:r>
            <a:r>
              <a:rPr lang="en-US" sz="1200" b="0" i="0" u="none" strike="noStrike" dirty="0" err="1">
                <a:solidFill>
                  <a:srgbClr val="000000"/>
                </a:solidFill>
                <a:effectLst/>
                <a:latin typeface="Arial" panose="020B0604020202020204" pitchFamily="34" charset="0"/>
                <a:cs typeface="Arial" panose="020B0604020202020204" pitchFamily="34" charset="0"/>
              </a:rPr>
              <a:t>BaseLine</a:t>
            </a:r>
            <a:r>
              <a:rPr lang="en-US" sz="1200" b="0" i="0" u="none" strike="noStrike" dirty="0">
                <a:solidFill>
                  <a:srgbClr val="000000"/>
                </a:solidFill>
                <a:effectLst/>
                <a:latin typeface="Arial" panose="020B0604020202020204" pitchFamily="34" charset="0"/>
                <a:cs typeface="Arial" panose="020B0604020202020204" pitchFamily="34" charset="0"/>
              </a:rPr>
              <a:t> Open Parenthesis t Close Parenthesis equals negative Start Fraction 1 over R subscript s </a:t>
            </a:r>
            <a:r>
              <a:rPr lang="en-US" sz="1200" b="0" i="0" u="none" strike="noStrike" dirty="0" err="1">
                <a:solidFill>
                  <a:srgbClr val="000000"/>
                </a:solidFill>
                <a:effectLst/>
                <a:latin typeface="Arial" panose="020B0604020202020204" pitchFamily="34" charset="0"/>
                <a:cs typeface="Arial" panose="020B0604020202020204" pitchFamily="34" charset="0"/>
              </a:rPr>
              <a:t>BaseLine</a:t>
            </a:r>
            <a:r>
              <a:rPr lang="en-US" sz="1200" b="0" i="0" u="none" strike="noStrike" dirty="0">
                <a:solidFill>
                  <a:srgbClr val="000000"/>
                </a:solidFill>
                <a:effectLst/>
                <a:latin typeface="Arial" panose="020B0604020202020204" pitchFamily="34" charset="0"/>
                <a:cs typeface="Arial" panose="020B0604020202020204" pitchFamily="34" charset="0"/>
              </a:rPr>
              <a:t> C subscript f </a:t>
            </a:r>
            <a:r>
              <a:rPr lang="en-US" sz="1200" b="0" i="0" u="none" strike="noStrike" dirty="0" err="1">
                <a:solidFill>
                  <a:srgbClr val="000000"/>
                </a:solidFill>
                <a:effectLst/>
                <a:latin typeface="Arial" panose="020B0604020202020204" pitchFamily="34" charset="0"/>
                <a:cs typeface="Arial" panose="020B0604020202020204" pitchFamily="34" charset="0"/>
              </a:rPr>
              <a:t>BaseLine</a:t>
            </a:r>
            <a:r>
              <a:rPr lang="en-US" sz="1200" b="0" i="0" u="none" strike="noStrike" dirty="0">
                <a:solidFill>
                  <a:srgbClr val="000000"/>
                </a:solidFill>
                <a:effectLst/>
                <a:latin typeface="Arial" panose="020B0604020202020204" pitchFamily="34" charset="0"/>
                <a:cs typeface="Arial" panose="020B0604020202020204" pitchFamily="34" charset="0"/>
              </a:rPr>
              <a:t> </a:t>
            </a:r>
            <a:r>
              <a:rPr lang="en-US" sz="1200" b="0" i="0" u="none" strike="noStrike" dirty="0" err="1">
                <a:solidFill>
                  <a:srgbClr val="000000"/>
                </a:solidFill>
                <a:effectLst/>
                <a:latin typeface="Arial" panose="020B0604020202020204" pitchFamily="34" charset="0"/>
                <a:cs typeface="Arial" panose="020B0604020202020204" pitchFamily="34" charset="0"/>
              </a:rPr>
              <a:t>EndFraction</a:t>
            </a:r>
            <a:r>
              <a:rPr lang="en-US" sz="1200" b="0" i="0" u="none" strike="noStrike" dirty="0">
                <a:solidFill>
                  <a:srgbClr val="000000"/>
                </a:solidFill>
                <a:effectLst/>
                <a:latin typeface="Arial" panose="020B0604020202020204" pitchFamily="34" charset="0"/>
                <a:cs typeface="Arial" panose="020B0604020202020204" pitchFamily="34" charset="0"/>
              </a:rPr>
              <a:t> Integral from t subscript 0 to t of v subscript s </a:t>
            </a:r>
            <a:r>
              <a:rPr lang="en-US" sz="1200" b="0" i="0" u="none" strike="noStrike" dirty="0" err="1">
                <a:solidFill>
                  <a:srgbClr val="000000"/>
                </a:solidFill>
                <a:effectLst/>
                <a:latin typeface="Arial" panose="020B0604020202020204" pitchFamily="34" charset="0"/>
                <a:cs typeface="Arial" panose="020B0604020202020204" pitchFamily="34" charset="0"/>
              </a:rPr>
              <a:t>BaseLine</a:t>
            </a:r>
            <a:r>
              <a:rPr lang="en-US" sz="1200" b="0" i="0" u="none" strike="noStrike" dirty="0">
                <a:solidFill>
                  <a:srgbClr val="000000"/>
                </a:solidFill>
                <a:effectLst/>
                <a:latin typeface="Arial" panose="020B0604020202020204" pitchFamily="34" charset="0"/>
                <a:cs typeface="Arial" panose="020B0604020202020204" pitchFamily="34" charset="0"/>
              </a:rPr>
              <a:t> d t plus v subscript o </a:t>
            </a:r>
            <a:r>
              <a:rPr lang="en-US" sz="1200" b="0" i="0" u="none" strike="noStrike" dirty="0" err="1">
                <a:solidFill>
                  <a:srgbClr val="000000"/>
                </a:solidFill>
                <a:effectLst/>
                <a:latin typeface="Arial" panose="020B0604020202020204" pitchFamily="34" charset="0"/>
                <a:cs typeface="Arial" panose="020B0604020202020204" pitchFamily="34" charset="0"/>
              </a:rPr>
              <a:t>BaseLine</a:t>
            </a:r>
            <a:r>
              <a:rPr lang="en-US" sz="1200" b="0" i="0" u="none" strike="noStrike" dirty="0">
                <a:solidFill>
                  <a:srgbClr val="000000"/>
                </a:solidFill>
                <a:effectLst/>
                <a:latin typeface="Arial" panose="020B0604020202020204" pitchFamily="34" charset="0"/>
                <a:cs typeface="Arial" panose="020B0604020202020204" pitchFamily="34" charset="0"/>
              </a:rPr>
              <a:t> Open Parenthesis t subscript 0 </a:t>
            </a:r>
            <a:r>
              <a:rPr lang="en-US" sz="1200" b="0" i="0" u="none" strike="noStrike" dirty="0" err="1">
                <a:solidFill>
                  <a:srgbClr val="000000"/>
                </a:solidFill>
                <a:effectLst/>
                <a:latin typeface="Arial" panose="020B0604020202020204" pitchFamily="34" charset="0"/>
                <a:cs typeface="Arial" panose="020B0604020202020204" pitchFamily="34" charset="0"/>
              </a:rPr>
              <a:t>BaseLine</a:t>
            </a:r>
            <a:r>
              <a:rPr lang="en-US" sz="1200" b="0" i="0" u="none" strike="noStrike" dirty="0">
                <a:solidFill>
                  <a:srgbClr val="000000"/>
                </a:solidFill>
                <a:effectLst/>
                <a:latin typeface="Arial" panose="020B0604020202020204" pitchFamily="34" charset="0"/>
                <a:cs typeface="Arial" panose="020B0604020202020204" pitchFamily="34" charset="0"/>
              </a:rPr>
              <a:t> Close Parenthesis.</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29821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Long Description:</a:t>
            </a:r>
          </a:p>
          <a:p>
            <a:r>
              <a:rPr lang="en-US" sz="1800" b="0" i="0" u="none" strike="noStrike" dirty="0">
                <a:solidFill>
                  <a:srgbClr val="000000"/>
                </a:solidFill>
                <a:effectLst/>
                <a:latin typeface="Calibri" panose="020F0502020204030204" pitchFamily="34" charset="0"/>
              </a:rPr>
              <a:t>v subscript o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equals negative Start Fraction 1 over Open Parenthesis 100 k Close Parenthesis Open Parenthesis 0.1 mu Close Parenthesis </a:t>
            </a:r>
            <a:r>
              <a:rPr lang="en-US" sz="1800" b="0" i="0" u="none" strike="noStrike" dirty="0" err="1">
                <a:solidFill>
                  <a:srgbClr val="000000"/>
                </a:solidFill>
                <a:effectLst/>
                <a:latin typeface="Calibri" panose="020F0502020204030204" pitchFamily="34" charset="0"/>
              </a:rPr>
              <a:t>EndFraction</a:t>
            </a:r>
            <a:r>
              <a:rPr lang="en-US" sz="1800" b="0" i="0" u="none" strike="noStrike" dirty="0">
                <a:solidFill>
                  <a:srgbClr val="000000"/>
                </a:solidFill>
                <a:effectLst/>
                <a:latin typeface="Calibri" panose="020F0502020204030204" pitchFamily="34" charset="0"/>
              </a:rPr>
              <a:t> Integral from 9 m to t of 8 d y plus Open Parenthesis 4 Close Parenthesis equals negative 800 Open Parenthesis t minus 0.009 Close Parenthesis equals Open Parenthesis 11.2 minus 800 t Close Parenthesis Volts.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49272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10</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12/22/2025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555193" y="6455210"/>
            <a:ext cx="611469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jpg"/><Relationship Id="rId1" Type="http://schemas.openxmlformats.org/officeDocument/2006/relationships/slideLayout" Target="../slideLayouts/slideLayout8.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tags" Target="../tags/tag3.xml"/><Relationship Id="rId7" Type="http://schemas.openxmlformats.org/officeDocument/2006/relationships/oleObject" Target="../embeddings/oleObject1.bin"/><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7.png"/><Relationship Id="rId11" Type="http://schemas.openxmlformats.org/officeDocument/2006/relationships/image" Target="../media/image8.png"/><Relationship Id="rId5" Type="http://schemas.openxmlformats.org/officeDocument/2006/relationships/image" Target="../media/image4.jpg"/><Relationship Id="rId10" Type="http://schemas.openxmlformats.org/officeDocument/2006/relationships/image" Target="../media/image6.wmf"/><Relationship Id="rId4" Type="http://schemas.openxmlformats.org/officeDocument/2006/relationships/slideLayout" Target="../slideLayouts/slideLayout8.xml"/><Relationship Id="rId9"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9.jpg"/><Relationship Id="rId1" Type="http://schemas.openxmlformats.org/officeDocument/2006/relationships/slideLayout" Target="../slideLayouts/slideLayout8.x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6.xml"/><Relationship Id="rId7" Type="http://schemas.openxmlformats.org/officeDocument/2006/relationships/image" Target="../media/image7.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8.png"/><Relationship Id="rId11" Type="http://schemas.openxmlformats.org/officeDocument/2006/relationships/image" Target="../media/image11.wmf"/><Relationship Id="rId5" Type="http://schemas.openxmlformats.org/officeDocument/2006/relationships/image" Target="../media/image9.jpg"/><Relationship Id="rId10" Type="http://schemas.openxmlformats.org/officeDocument/2006/relationships/oleObject" Target="../embeddings/oleObject4.bin"/><Relationship Id="rId4" Type="http://schemas.openxmlformats.org/officeDocument/2006/relationships/slideLayout" Target="../slideLayouts/slideLayout8.xml"/><Relationship Id="rId9" Type="http://schemas.openxmlformats.org/officeDocument/2006/relationships/image" Target="../media/image10.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2.jpg"/><Relationship Id="rId7" Type="http://schemas.openxmlformats.org/officeDocument/2006/relationships/image" Target="../media/image14.wmf"/><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oleObject" Target="../embeddings/oleObject6.bin"/><Relationship Id="rId11" Type="http://schemas.openxmlformats.org/officeDocument/2006/relationships/image" Target="../media/image16.wmf"/><Relationship Id="rId5" Type="http://schemas.openxmlformats.org/officeDocument/2006/relationships/image" Target="../media/image13.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5.wmf"/></Relationships>
</file>

<file path=ppt/slides/_rels/slide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8.jpg"/><Relationship Id="rId7" Type="http://schemas.openxmlformats.org/officeDocument/2006/relationships/image" Target="../media/image20.wmf"/><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oleObject" Target="../embeddings/oleObject10.bin"/><Relationship Id="rId11" Type="http://schemas.openxmlformats.org/officeDocument/2006/relationships/image" Target="../media/image22.wmf"/><Relationship Id="rId5" Type="http://schemas.openxmlformats.org/officeDocument/2006/relationships/image" Target="../media/image19.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21.wmf"/></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12" name="Picture 11">
            <a:extLst>
              <a:ext uri="{FF2B5EF4-FFF2-40B4-BE49-F238E27FC236}">
                <a16:creationId xmlns:a16="http://schemas.microsoft.com/office/drawing/2014/main" id="{42D257CC-0C28-71A3-2065-767CAFB1F7FF}"/>
              </a:ext>
            </a:extLst>
          </p:cNvPr>
          <p:cNvPicPr>
            <a:picLocks noChangeAspect="1"/>
          </p:cNvPicPr>
          <p:nvPr/>
        </p:nvPicPr>
        <p:blipFill>
          <a:blip r:embed="rId3"/>
          <a:stretch>
            <a:fillRect/>
          </a:stretch>
        </p:blipFill>
        <p:spPr>
          <a:xfrm>
            <a:off x="429105" y="1769717"/>
            <a:ext cx="3427532" cy="4284034"/>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7 – Part 5</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376257"/>
            <a:ext cx="3657600" cy="713460"/>
          </a:xfrm>
        </p:spPr>
        <p:txBody>
          <a:bodyPr lIns="0" tIns="18000" rIns="0" bIns="18000" anchor="ctr">
            <a:spAutoFit/>
          </a:bodyPr>
          <a:lstStyle/>
          <a:p>
            <a:pPr marL="0"/>
            <a:r>
              <a:rPr lang="en-US" noProof="0" dirty="0"/>
              <a:t>Response of First-Order </a:t>
            </a:r>
            <a:r>
              <a:rPr lang="en-US" i="1" noProof="0" dirty="0"/>
              <a:t>RL</a:t>
            </a:r>
            <a:r>
              <a:rPr lang="en-US" noProof="0" dirty="0"/>
              <a:t> and </a:t>
            </a:r>
            <a:r>
              <a:rPr lang="en-US" i="1" noProof="0" dirty="0"/>
              <a:t>RC</a:t>
            </a:r>
            <a:r>
              <a:rPr lang="en-US" noProof="0" dirty="0"/>
              <a:t> Circuits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13804" y="6455210"/>
            <a:ext cx="6056085"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065" y="242735"/>
            <a:ext cx="8229600" cy="559572"/>
          </a:xfrm>
        </p:spPr>
        <p:txBody>
          <a:bodyPr/>
          <a:lstStyle/>
          <a:p>
            <a:r>
              <a:rPr lang="en-US" sz="3400" noProof="0" dirty="0"/>
              <a:t>Chapter 7 – Integrating Amplifier </a:t>
            </a:r>
            <a:r>
              <a:rPr lang="en-US" sz="2600" noProof="0" dirty="0"/>
              <a:t>(1 of 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3369" y="1067484"/>
            <a:ext cx="8241401" cy="1144347"/>
          </a:xfrm>
        </p:spPr>
        <p:txBody>
          <a:bodyPr wrap="square" lIns="0" tIns="18000" rIns="0" bIns="18000" anchor="ctr">
            <a:spAutoFit/>
          </a:bodyPr>
          <a:lstStyle/>
          <a:p>
            <a:pPr marL="0" indent="0">
              <a:spcBef>
                <a:spcPts val="600"/>
              </a:spcBef>
              <a:buNone/>
            </a:pPr>
            <a:r>
              <a:rPr lang="en-US" sz="2400" noProof="0" dirty="0"/>
              <a:t>The integrating amplifier, shown here, is another example of a first-order circuit, because its output voltage is described by a first-order differential equation.</a:t>
            </a:r>
          </a:p>
        </p:txBody>
      </p:sp>
      <p:pic>
        <p:nvPicPr>
          <p:cNvPr id="2" name="Picture 3" descr="A circuit diagram shows an operational amplifier with voltage V subscript cc applied to its top vertical terminal and voltage minus V subscript cc at its bottom vertical terminal. The inverting input of the operational amplifier is designated with a negative sign at the point where it connects to the operational amplifier. The non inverting input of the operational amplifier is designated with a positive sign at the point where it connects to the operational amplifier. Voltage source V subscript s is connected to the inverting input through resistor R subscript s. Voltage source V subscript s has positive polarity on the upper side and negative polarity on the lower side. Current i subscript s flows through the resistor R subscript s from left to right in the inverting input wire towards the operational amplifier. A node with a positive sign exists just before the point where the inverting input wire is connected to the operational amplifier. The node on the inverting input wire is connected to the output terminal of the operational amplifier through capacitor C subscript f. Current i subscript f flows from the output terminal to the node on the inverting input wire, the direction of this current being from right to left. The non inverting input terminal of the operational amplifier is connected to ground. Voltage v subscript n exists between the node on the inverting input wire and ground. Voltage v subscript p exists between the non inverting input terminal and ground. Voltage v subscript o exists between the output terminal of the operational amplifier and ground.">
            <a:extLst>
              <a:ext uri="{FF2B5EF4-FFF2-40B4-BE49-F238E27FC236}">
                <a16:creationId xmlns:a16="http://schemas.microsoft.com/office/drawing/2014/main" id="{A7FB9300-F856-1587-6533-EA020AA14F76}"/>
              </a:ext>
            </a:extLst>
          </p:cNvPr>
          <p:cNvPicPr>
            <a:picLocks noChangeAspect="1" noChangeArrowheads="1"/>
          </p:cNvPicPr>
          <p:nvPr/>
        </p:nvPicPr>
        <p:blipFill>
          <a:blip r:embed="rId2"/>
          <a:stretch>
            <a:fillRect/>
          </a:stretch>
        </p:blipFill>
        <p:spPr bwMode="auto">
          <a:xfrm>
            <a:off x="1621082" y="2666640"/>
            <a:ext cx="5743085" cy="2986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48484"/>
            <a:ext cx="8229600" cy="559572"/>
          </a:xfrm>
        </p:spPr>
        <p:txBody>
          <a:bodyPr/>
          <a:lstStyle/>
          <a:p>
            <a:r>
              <a:rPr lang="en-US" sz="3400" noProof="0" dirty="0"/>
              <a:t>Chapter 7 – Integrating Amplifier </a:t>
            </a:r>
            <a:r>
              <a:rPr lang="en-US" sz="2600" noProof="0" dirty="0"/>
              <a:t>(2 of 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92558"/>
            <a:ext cx="8242300" cy="1052014"/>
          </a:xfrm>
        </p:spPr>
        <p:txBody>
          <a:bodyPr wrap="square" lIns="0" tIns="18000" rIns="0" bIns="18000" anchor="ctr">
            <a:spAutoFit/>
          </a:bodyPr>
          <a:lstStyle/>
          <a:p>
            <a:pPr marL="0" indent="0">
              <a:spcBef>
                <a:spcPts val="600"/>
              </a:spcBef>
              <a:buNone/>
            </a:pPr>
            <a:r>
              <a:rPr lang="en-US" sz="2200" noProof="0" dirty="0"/>
              <a:t>To analyze this circuit, we write a KCL equation at the op amp’s inverting input node. Assuming the op amp is ideal, the voltage at this node with respect to the reference node is</a:t>
            </a:r>
          </a:p>
        </p:txBody>
      </p:sp>
      <p:pic>
        <p:nvPicPr>
          <p:cNvPr id="2" name="Picture 2" descr="A circuit diagram shows an operational amplifier with voltage V subscript cc applied to its top vertical terminal and voltage minus V subscript cc at its bottom vertical terminal. The inverting input of the operational amplifier is designated with a negative sign at the point where it connects to the operational amplifier. The non inverting input of the operational amplifier is designated with a positive sign at the point where it connects to the operational amplifier. Voltage source V subscript s is connected to the inverting input through resistor R subscript s. Voltage source V subscript s has positive polarity on the upper side and negative polarity on the lower side. Current i subscript s flows through the resistor R subscript s from left to right in the inverting input wire towards the operational amplifier. A node with a positive sign exists just before the point where the inverting input wire is connected to the operational amplifier. The node on the inverting input wire is connected to the output terminal of the operational amplifier through capacitor C subscript f. Current i subscript f flows from the output terminal to the node on the inverting input wire, the direction of this current being from right to left. The non inverting input terminal of the operational amplifier is connected to ground. Voltage v subscript n exists between the node on the inverting input wire and ground. Voltage v subscript p exists between the non inverting input terminal and ground. Voltage v subscript o exists between the output terminal of the operational amplifier and ground.">
            <a:extLst>
              <a:ext uri="{FF2B5EF4-FFF2-40B4-BE49-F238E27FC236}">
                <a16:creationId xmlns:a16="http://schemas.microsoft.com/office/drawing/2014/main" id="{AB5DFD92-3E95-7E6D-D893-A4AA5A88A6B8}"/>
              </a:ext>
            </a:extLst>
          </p:cNvPr>
          <p:cNvPicPr>
            <a:picLocks noChangeAspect="1" noChangeArrowheads="1"/>
          </p:cNvPicPr>
          <p:nvPr/>
        </p:nvPicPr>
        <p:blipFill>
          <a:blip r:embed="rId2"/>
          <a:stretch>
            <a:fillRect/>
          </a:stretch>
        </p:blipFill>
        <p:spPr bwMode="auto">
          <a:xfrm>
            <a:off x="2438069" y="2292602"/>
            <a:ext cx="4267861" cy="2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66662" y="4692933"/>
            <a:ext cx="304800" cy="405683"/>
          </a:xfrm>
        </p:spPr>
        <p:txBody>
          <a:bodyPr wrap="square" lIns="0" tIns="18000" rIns="0" bIns="18000" anchor="ctr">
            <a:spAutoFit/>
          </a:bodyPr>
          <a:lstStyle/>
          <a:p>
            <a:pPr marL="0" indent="0">
              <a:spcBef>
                <a:spcPts val="600"/>
              </a:spcBef>
              <a:buNone/>
            </a:pPr>
            <a:r>
              <a:rPr lang="en-US" sz="2200" noProof="0" dirty="0">
                <a:solidFill>
                  <a:srgbClr val="007FA3"/>
                </a:solidFill>
              </a:rPr>
              <a:t>A.</a:t>
            </a:r>
            <a:r>
              <a:rPr lang="en-US" sz="2400" noProof="0" dirty="0"/>
              <a:t> </a:t>
            </a:r>
          </a:p>
        </p:txBody>
      </p:sp>
      <p:graphicFrame>
        <p:nvGraphicFramePr>
          <p:cNvPr id="3" name="Object 2" descr="V subscript s.&#10;">
            <a:extLst>
              <a:ext uri="{FF2B5EF4-FFF2-40B4-BE49-F238E27FC236}">
                <a16:creationId xmlns:a16="http://schemas.microsoft.com/office/drawing/2014/main" id="{1C94FDB4-17B7-922E-B18E-FFF847C90AEE}"/>
              </a:ext>
            </a:extLst>
          </p:cNvPr>
          <p:cNvGraphicFramePr>
            <a:graphicFrameLocks noChangeAspect="1"/>
          </p:cNvGraphicFramePr>
          <p:nvPr>
            <p:extLst>
              <p:ext uri="{D42A27DB-BD31-4B8C-83A1-F6EECF244321}">
                <p14:modId xmlns:p14="http://schemas.microsoft.com/office/powerpoint/2010/main" val="1341379994"/>
              </p:ext>
            </p:extLst>
          </p:nvPr>
        </p:nvGraphicFramePr>
        <p:xfrm>
          <a:off x="1869209" y="4784074"/>
          <a:ext cx="268432" cy="344921"/>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8" name="Object 7"/>
                      <p:cNvPicPr>
                        <a:picLocks noChangeAspect="1" noChangeArrowheads="1"/>
                      </p:cNvPicPr>
                      <p:nvPr/>
                    </p:nvPicPr>
                    <p:blipFill>
                      <a:blip r:embed="rId4"/>
                      <a:srcRect/>
                      <a:stretch>
                        <a:fillRect/>
                      </a:stretch>
                    </p:blipFill>
                    <p:spPr bwMode="auto">
                      <a:xfrm>
                        <a:off x="1869209" y="4784074"/>
                        <a:ext cx="268432" cy="344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66662" y="5197094"/>
            <a:ext cx="276225" cy="374906"/>
          </a:xfrm>
        </p:spPr>
        <p:txBody>
          <a:bodyPr wrap="square" lIns="0" tIns="18000" rIns="0" bIns="18000" anchor="ctr">
            <a:spAutoFit/>
          </a:bodyPr>
          <a:lstStyle/>
          <a:p>
            <a:pPr marL="0" indent="0">
              <a:spcBef>
                <a:spcPts val="600"/>
              </a:spcBef>
              <a:buNone/>
            </a:pPr>
            <a:r>
              <a:rPr lang="en-US" sz="2200" noProof="0" dirty="0">
                <a:solidFill>
                  <a:srgbClr val="007FA3"/>
                </a:solidFill>
              </a:rPr>
              <a:t>B.</a:t>
            </a:r>
            <a:r>
              <a:rPr lang="en-US" sz="2200" noProof="0" dirty="0"/>
              <a:t> </a:t>
            </a:r>
          </a:p>
        </p:txBody>
      </p:sp>
      <p:graphicFrame>
        <p:nvGraphicFramePr>
          <p:cNvPr id="5" name="Object 4" descr="V subscript o.&#10;">
            <a:extLst>
              <a:ext uri="{FF2B5EF4-FFF2-40B4-BE49-F238E27FC236}">
                <a16:creationId xmlns:a16="http://schemas.microsoft.com/office/drawing/2014/main" id="{1AD8D3D4-115C-7FFA-732B-E02411C111BA}"/>
              </a:ext>
            </a:extLst>
          </p:cNvPr>
          <p:cNvGraphicFramePr>
            <a:graphicFrameLocks noChangeAspect="1"/>
          </p:cNvGraphicFramePr>
          <p:nvPr>
            <p:extLst>
              <p:ext uri="{D42A27DB-BD31-4B8C-83A1-F6EECF244321}">
                <p14:modId xmlns:p14="http://schemas.microsoft.com/office/powerpoint/2010/main" val="1037034337"/>
              </p:ext>
            </p:extLst>
          </p:nvPr>
        </p:nvGraphicFramePr>
        <p:xfrm>
          <a:off x="1821584" y="5272354"/>
          <a:ext cx="268432" cy="344921"/>
        </p:xfrm>
        <a:graphic>
          <a:graphicData uri="http://schemas.openxmlformats.org/presentationml/2006/ole">
            <mc:AlternateContent xmlns:mc="http://schemas.openxmlformats.org/markup-compatibility/2006">
              <mc:Choice xmlns:v="urn:schemas-microsoft-com:vml" Requires="v">
                <p:oleObj name="Equation" r:id="rId5" imgW="177480" imgH="228600" progId="Equation.DSMT4">
                  <p:embed/>
                </p:oleObj>
              </mc:Choice>
              <mc:Fallback>
                <p:oleObj name="Equation" r:id="rId5" imgW="177480" imgH="228600" progId="Equation.DSMT4">
                  <p:embed/>
                  <p:pic>
                    <p:nvPicPr>
                      <p:cNvPr id="3" name="Object 2">
                        <a:extLst>
                          <a:ext uri="{FF2B5EF4-FFF2-40B4-BE49-F238E27FC236}">
                            <a16:creationId xmlns:a16="http://schemas.microsoft.com/office/drawing/2014/main" id="{1C94FDB4-17B7-922E-B18E-FFF847C90AEE}"/>
                          </a:ext>
                        </a:extLst>
                      </p:cNvPr>
                      <p:cNvPicPr>
                        <a:picLocks noChangeAspect="1" noChangeArrowheads="1"/>
                      </p:cNvPicPr>
                      <p:nvPr/>
                    </p:nvPicPr>
                    <p:blipFill>
                      <a:blip r:embed="rId6"/>
                      <a:srcRect/>
                      <a:stretch>
                        <a:fillRect/>
                      </a:stretch>
                    </p:blipFill>
                    <p:spPr bwMode="auto">
                      <a:xfrm>
                        <a:off x="1821584" y="5272354"/>
                        <a:ext cx="268432" cy="344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66662" y="5690770"/>
            <a:ext cx="790763" cy="374906"/>
          </a:xfrm>
        </p:spPr>
        <p:txBody>
          <a:bodyPr wrap="square" lIns="0" tIns="18000" rIns="0" bIns="18000" anchor="ctr">
            <a:spAutoFit/>
          </a:bodyPr>
          <a:lstStyle/>
          <a:p>
            <a:pPr marL="0" indent="0">
              <a:spcBef>
                <a:spcPts val="600"/>
              </a:spcBef>
              <a:buNone/>
            </a:pPr>
            <a:r>
              <a:rPr lang="en-US" sz="2200" noProof="0" dirty="0">
                <a:solidFill>
                  <a:srgbClr val="007FA3"/>
                </a:solidFill>
              </a:rPr>
              <a:t>C. </a:t>
            </a:r>
            <a:r>
              <a:rPr lang="en-US" sz="2200" noProof="0" dirty="0">
                <a:solidFill>
                  <a:schemeClr val="tx1"/>
                </a:solidFill>
              </a:rPr>
              <a:t>0</a:t>
            </a:r>
            <a:r>
              <a:rPr lang="en-US" sz="2200" noProof="0" dirty="0">
                <a:solidFill>
                  <a:srgbClr val="007FA3"/>
                </a:solidFill>
              </a:rPr>
              <a:t> </a:t>
            </a:r>
          </a:p>
        </p:txBody>
      </p:sp>
    </p:spTree>
    <p:extLst>
      <p:ext uri="{BB962C8B-B14F-4D97-AF65-F5344CB8AC3E}">
        <p14:creationId xmlns:p14="http://schemas.microsoft.com/office/powerpoint/2010/main" val="1074977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48484"/>
            <a:ext cx="8229600" cy="559572"/>
          </a:xfrm>
        </p:spPr>
        <p:txBody>
          <a:bodyPr/>
          <a:lstStyle/>
          <a:p>
            <a:r>
              <a:rPr lang="en-US" sz="3400" noProof="0" dirty="0"/>
              <a:t>Chapter 7 – Integrating Amplifier </a:t>
            </a:r>
            <a:r>
              <a:rPr lang="en-US" sz="2600" noProof="0" dirty="0"/>
              <a:t>(2 of 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92558"/>
            <a:ext cx="8242300" cy="1052014"/>
          </a:xfrm>
        </p:spPr>
        <p:txBody>
          <a:bodyPr wrap="square" lIns="0" tIns="18000" rIns="0" bIns="18000" anchor="ctr">
            <a:spAutoFit/>
          </a:bodyPr>
          <a:lstStyle/>
          <a:p>
            <a:pPr marL="0" indent="0">
              <a:spcBef>
                <a:spcPts val="600"/>
              </a:spcBef>
              <a:buNone/>
            </a:pPr>
            <a:r>
              <a:rPr lang="en-US" sz="2200" noProof="0" dirty="0"/>
              <a:t>To analyze this circuit, we write a KCL equation at the op amp’s inverting input node. Assuming the op amp is ideal, the voltage at this node with respect to the reference node is</a:t>
            </a:r>
          </a:p>
        </p:txBody>
      </p:sp>
      <p:pic>
        <p:nvPicPr>
          <p:cNvPr id="2" name="Picture 2" descr="A circuit diagram shows an operational amplifier with voltage V subscript cc applied to its top vertical terminal and voltage minus V subscript cc at its bottom vertical terminal. The inverting input of the operational amplifier is designated with a negative sign at the point where it connects to the operational amplifier. The non inverting input of the operational amplifier is designated with a positive sign at the point where it connects to the operational amplifier. Voltage source V subscript s is connected to the inverting input through resistor R subscript s. Voltage source V subscript s has positive polarity on the upper side and negative polarity on the lower side. Current i subscript s flows through the resistor R subscript s from left to right in the inverting input wire towards the operational amplifier. A node with a positive sign exists just before the point where the inverting input wire is connected to the operational amplifier. The node on the inverting input wire is connected to the output terminal of the operational amplifier through capacitor C subscript f. Current i subscript f flows from the output terminal to the node on the inverting input wire, the direction of this current being from right to left. The non inverting input terminal of the operational amplifier is connected to ground. Voltage v subscript n exists between the node on the inverting input wire and ground. Voltage v subscript p exists between the non inverting input terminal and ground. Voltage v subscript o exists between the output terminal of the operational amplifier and ground.">
            <a:extLst>
              <a:ext uri="{FF2B5EF4-FFF2-40B4-BE49-F238E27FC236}">
                <a16:creationId xmlns:a16="http://schemas.microsoft.com/office/drawing/2014/main" id="{AB5DFD92-3E95-7E6D-D893-A4AA5A88A6B8}"/>
              </a:ext>
            </a:extLst>
          </p:cNvPr>
          <p:cNvPicPr>
            <a:picLocks noChangeAspect="1" noChangeArrowheads="1"/>
          </p:cNvPicPr>
          <p:nvPr/>
        </p:nvPicPr>
        <p:blipFill>
          <a:blip r:embed="rId5"/>
          <a:stretch>
            <a:fillRect/>
          </a:stretch>
        </p:blipFill>
        <p:spPr bwMode="auto">
          <a:xfrm>
            <a:off x="2438069" y="2292602"/>
            <a:ext cx="4267861" cy="2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1434" descr="Cross mark">
            <a:extLst>
              <a:ext uri="{FF2B5EF4-FFF2-40B4-BE49-F238E27FC236}">
                <a16:creationId xmlns:a16="http://schemas.microsoft.com/office/drawing/2014/main" id="{D8C29543-911E-2D50-650B-D4C4487FF77A}"/>
              </a:ext>
            </a:extLst>
          </p:cNvPr>
          <p:cNvPicPr>
            <a:picLocks/>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52999" y="4769118"/>
            <a:ext cx="342900" cy="28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66662" y="4692933"/>
            <a:ext cx="304800" cy="405683"/>
          </a:xfrm>
        </p:spPr>
        <p:txBody>
          <a:bodyPr wrap="square" lIns="0" tIns="18000" rIns="0" bIns="18000" anchor="ctr">
            <a:spAutoFit/>
          </a:bodyPr>
          <a:lstStyle/>
          <a:p>
            <a:pPr marL="0" indent="0">
              <a:spcBef>
                <a:spcPts val="600"/>
              </a:spcBef>
              <a:buNone/>
            </a:pPr>
            <a:r>
              <a:rPr lang="en-US" sz="2200" noProof="0" dirty="0">
                <a:solidFill>
                  <a:srgbClr val="007FA3"/>
                </a:solidFill>
              </a:rPr>
              <a:t>A.</a:t>
            </a:r>
            <a:r>
              <a:rPr lang="en-US" sz="2400" noProof="0" dirty="0"/>
              <a:t> </a:t>
            </a:r>
          </a:p>
        </p:txBody>
      </p:sp>
      <p:graphicFrame>
        <p:nvGraphicFramePr>
          <p:cNvPr id="3" name="Object 2" descr="V subscript s.&#10;">
            <a:extLst>
              <a:ext uri="{FF2B5EF4-FFF2-40B4-BE49-F238E27FC236}">
                <a16:creationId xmlns:a16="http://schemas.microsoft.com/office/drawing/2014/main" id="{1C94FDB4-17B7-922E-B18E-FFF847C90AEE}"/>
              </a:ext>
            </a:extLst>
          </p:cNvPr>
          <p:cNvGraphicFramePr>
            <a:graphicFrameLocks noChangeAspect="1"/>
          </p:cNvGraphicFramePr>
          <p:nvPr/>
        </p:nvGraphicFramePr>
        <p:xfrm>
          <a:off x="1869209" y="4784074"/>
          <a:ext cx="268432" cy="344921"/>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3" name="Object 2" descr="V subscript s.&#10;">
                        <a:extLst>
                          <a:ext uri="{FF2B5EF4-FFF2-40B4-BE49-F238E27FC236}">
                            <a16:creationId xmlns:a16="http://schemas.microsoft.com/office/drawing/2014/main" id="{1C94FDB4-17B7-922E-B18E-FFF847C90AEE}"/>
                          </a:ext>
                        </a:extLst>
                      </p:cNvPr>
                      <p:cNvPicPr>
                        <a:picLocks noChangeAspect="1" noChangeArrowheads="1"/>
                      </p:cNvPicPr>
                      <p:nvPr/>
                    </p:nvPicPr>
                    <p:blipFill>
                      <a:blip r:embed="rId8"/>
                      <a:srcRect/>
                      <a:stretch>
                        <a:fillRect/>
                      </a:stretch>
                    </p:blipFill>
                    <p:spPr bwMode="auto">
                      <a:xfrm>
                        <a:off x="1869209" y="4784074"/>
                        <a:ext cx="268432" cy="344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5" name="Picture 1434" descr="Cross mark">
            <a:extLst>
              <a:ext uri="{FF2B5EF4-FFF2-40B4-BE49-F238E27FC236}">
                <a16:creationId xmlns:a16="http://schemas.microsoft.com/office/drawing/2014/main" id="{75B6545D-E710-B613-8EFE-CDD1914FCA71}"/>
              </a:ext>
            </a:extLst>
          </p:cNvPr>
          <p:cNvPicPr>
            <a:picLocks/>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852999" y="5259355"/>
            <a:ext cx="342900" cy="28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66662" y="5197094"/>
            <a:ext cx="276225" cy="374906"/>
          </a:xfrm>
        </p:spPr>
        <p:txBody>
          <a:bodyPr wrap="square" lIns="0" tIns="18000" rIns="0" bIns="18000" anchor="ctr">
            <a:spAutoFit/>
          </a:bodyPr>
          <a:lstStyle/>
          <a:p>
            <a:pPr marL="0" indent="0">
              <a:spcBef>
                <a:spcPts val="600"/>
              </a:spcBef>
              <a:buNone/>
            </a:pPr>
            <a:r>
              <a:rPr lang="en-US" sz="2200" noProof="0" dirty="0">
                <a:solidFill>
                  <a:srgbClr val="007FA3"/>
                </a:solidFill>
              </a:rPr>
              <a:t>B.</a:t>
            </a:r>
            <a:r>
              <a:rPr lang="en-US" sz="2200" noProof="0" dirty="0"/>
              <a:t> </a:t>
            </a:r>
          </a:p>
        </p:txBody>
      </p:sp>
      <p:graphicFrame>
        <p:nvGraphicFramePr>
          <p:cNvPr id="5" name="Object 4" descr="V subscript o.&#10;">
            <a:extLst>
              <a:ext uri="{FF2B5EF4-FFF2-40B4-BE49-F238E27FC236}">
                <a16:creationId xmlns:a16="http://schemas.microsoft.com/office/drawing/2014/main" id="{1AD8D3D4-115C-7FFA-732B-E02411C111BA}"/>
              </a:ext>
            </a:extLst>
          </p:cNvPr>
          <p:cNvGraphicFramePr>
            <a:graphicFrameLocks noChangeAspect="1"/>
          </p:cNvGraphicFramePr>
          <p:nvPr/>
        </p:nvGraphicFramePr>
        <p:xfrm>
          <a:off x="1821584" y="5272354"/>
          <a:ext cx="268432" cy="344921"/>
        </p:xfrm>
        <a:graphic>
          <a:graphicData uri="http://schemas.openxmlformats.org/presentationml/2006/ole">
            <mc:AlternateContent xmlns:mc="http://schemas.openxmlformats.org/markup-compatibility/2006">
              <mc:Choice xmlns:v="urn:schemas-microsoft-com:vml" Requires="v">
                <p:oleObj name="Equation" r:id="rId9" imgW="177480" imgH="228600" progId="Equation.DSMT4">
                  <p:embed/>
                </p:oleObj>
              </mc:Choice>
              <mc:Fallback>
                <p:oleObj name="Equation" r:id="rId9" imgW="177480" imgH="228600" progId="Equation.DSMT4">
                  <p:embed/>
                  <p:pic>
                    <p:nvPicPr>
                      <p:cNvPr id="5" name="Object 4" descr="V subscript o.&#10;">
                        <a:extLst>
                          <a:ext uri="{FF2B5EF4-FFF2-40B4-BE49-F238E27FC236}">
                            <a16:creationId xmlns:a16="http://schemas.microsoft.com/office/drawing/2014/main" id="{1AD8D3D4-115C-7FFA-732B-E02411C111BA}"/>
                          </a:ext>
                        </a:extLst>
                      </p:cNvPr>
                      <p:cNvPicPr>
                        <a:picLocks noChangeAspect="1" noChangeArrowheads="1"/>
                      </p:cNvPicPr>
                      <p:nvPr/>
                    </p:nvPicPr>
                    <p:blipFill>
                      <a:blip r:embed="rId10"/>
                      <a:srcRect/>
                      <a:stretch>
                        <a:fillRect/>
                      </a:stretch>
                    </p:blipFill>
                    <p:spPr bwMode="auto">
                      <a:xfrm>
                        <a:off x="1821584" y="5272354"/>
                        <a:ext cx="268432" cy="344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6" name="Picture 1435" descr="Check mark">
            <a:extLst>
              <a:ext uri="{FF2B5EF4-FFF2-40B4-BE49-F238E27FC236}">
                <a16:creationId xmlns:a16="http://schemas.microsoft.com/office/drawing/2014/main" id="{3D9D2660-87C2-6B97-6822-E93C9BE7B63F}"/>
              </a:ext>
            </a:extLst>
          </p:cNvPr>
          <p:cNvPicPr>
            <a:picLocks/>
          </p:cNvPicPr>
          <p:nvPr>
            <p:custDataLst>
              <p:tags r:id="rId3"/>
            </p:custDataLst>
          </p:nvPr>
        </p:nvPicPr>
        <p:blipFill>
          <a:blip r:embed="rId11">
            <a:extLst>
              <a:ext uri="{28A0092B-C50C-407E-A947-70E740481C1C}">
                <a14:useLocalDpi xmlns:a14="http://schemas.microsoft.com/office/drawing/2010/main" val="0"/>
              </a:ext>
            </a:extLst>
          </a:blip>
          <a:srcRect/>
          <a:stretch>
            <a:fillRect/>
          </a:stretch>
        </p:blipFill>
        <p:spPr bwMode="auto">
          <a:xfrm>
            <a:off x="852999" y="570677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66662" y="5690770"/>
            <a:ext cx="790763" cy="374906"/>
          </a:xfrm>
        </p:spPr>
        <p:txBody>
          <a:bodyPr wrap="square" lIns="0" tIns="18000" rIns="0" bIns="18000" anchor="ctr">
            <a:spAutoFit/>
          </a:bodyPr>
          <a:lstStyle/>
          <a:p>
            <a:pPr marL="0" indent="0">
              <a:spcBef>
                <a:spcPts val="600"/>
              </a:spcBef>
              <a:buNone/>
            </a:pPr>
            <a:r>
              <a:rPr lang="en-US" sz="2200" noProof="0" dirty="0">
                <a:solidFill>
                  <a:srgbClr val="007FA3"/>
                </a:solidFill>
              </a:rPr>
              <a:t>C. </a:t>
            </a:r>
            <a:r>
              <a:rPr lang="en-US" sz="2200" noProof="0" dirty="0">
                <a:solidFill>
                  <a:schemeClr val="tx1"/>
                </a:solidFill>
              </a:rPr>
              <a:t>0</a:t>
            </a:r>
            <a:r>
              <a:rPr lang="en-US" sz="2200" noProof="0" dirty="0">
                <a:solidFill>
                  <a:srgbClr val="007FA3"/>
                </a:solidFill>
              </a:rPr>
              <a:t> </a:t>
            </a:r>
          </a:p>
        </p:txBody>
      </p:sp>
    </p:spTree>
    <p:extLst>
      <p:ext uri="{BB962C8B-B14F-4D97-AF65-F5344CB8AC3E}">
        <p14:creationId xmlns:p14="http://schemas.microsoft.com/office/powerpoint/2010/main" val="3605858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50282"/>
            <a:ext cx="8229600" cy="559572"/>
          </a:xfrm>
        </p:spPr>
        <p:txBody>
          <a:bodyPr/>
          <a:lstStyle/>
          <a:p>
            <a:r>
              <a:rPr lang="en-US" sz="3400" noProof="0" dirty="0"/>
              <a:t>Chapter 7 – Integrating Amplifier </a:t>
            </a:r>
            <a:r>
              <a:rPr lang="en-US" sz="2600" noProof="0" dirty="0"/>
              <a:t>(3 of 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87154"/>
            <a:ext cx="8286750" cy="1052014"/>
          </a:xfrm>
        </p:spPr>
        <p:txBody>
          <a:bodyPr wrap="square" lIns="0" tIns="18000" rIns="0" bIns="18000" anchor="ctr">
            <a:spAutoFit/>
          </a:bodyPr>
          <a:lstStyle/>
          <a:p>
            <a:pPr marL="0" indent="0">
              <a:spcBef>
                <a:spcPts val="600"/>
              </a:spcBef>
              <a:buNone/>
            </a:pPr>
            <a:r>
              <a:rPr lang="en-US" sz="2200" noProof="0" dirty="0"/>
              <a:t>To analyze this circuit, we write a KCL equation at the op amp’s inverting input node. Assuming the op amp is ideal, the current leaving this node and entering the op amp is</a:t>
            </a:r>
          </a:p>
        </p:txBody>
      </p:sp>
      <p:pic>
        <p:nvPicPr>
          <p:cNvPr id="2" name="Picture 2" descr="A circuit diagram shows an operational amplifier with voltage V subscript cc applied to its top vertical terminal and voltage minus V subscript cc at its bottom vertical terminal. The inverting input of the operational amplifier is designated with a negative sign at the point where it connects to the operational amplifier. The non inverting input of the operational amplifier is designated with a positive sign at the point where it connects to the operational amplifier. Voltage source V subscript s is connected to the inverting input through resistor R subscript s. Voltage source V subscript s has positive polarity on the upper side and negative polarity on the lower side. Current i subscript s flows through the resistor R subscript s from left to right in the inverting input wire towards the operational amplifier. A node with a positive sign exists just before the point where the inverting input wire is connected to the operational amplifier. The node on the inverting input wire is connected to the output terminal of the operational amplifier through capacitor C subscript f. Current i subscript f flows from the output terminal to the node on the inverting input wire, the direction of this current being from right to left. The non inverting input terminal of the operational amplifier is connected to ground. Voltage v subscript n exists between the node on the inverting input wire and ground. Voltage v subscript p exists between the non inverting input terminal and ground. Voltage v subscript o exists between the output terminal of the operational amplifier and ground.">
            <a:extLst>
              <a:ext uri="{FF2B5EF4-FFF2-40B4-BE49-F238E27FC236}">
                <a16:creationId xmlns:a16="http://schemas.microsoft.com/office/drawing/2014/main" id="{0BA3DBF0-F742-51FC-258B-905FE378F3CE}"/>
              </a:ext>
            </a:extLst>
          </p:cNvPr>
          <p:cNvPicPr>
            <a:picLocks noChangeAspect="1" noChangeArrowheads="1"/>
          </p:cNvPicPr>
          <p:nvPr/>
        </p:nvPicPr>
        <p:blipFill>
          <a:blip r:embed="rId2"/>
          <a:stretch>
            <a:fillRect/>
          </a:stretch>
        </p:blipFill>
        <p:spPr bwMode="auto">
          <a:xfrm>
            <a:off x="2528495" y="2378703"/>
            <a:ext cx="4258460" cy="2214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0651" y="4782061"/>
            <a:ext cx="571500" cy="405683"/>
          </a:xfrm>
        </p:spPr>
        <p:txBody>
          <a:bodyPr wrap="square" lIns="0" tIns="18000" rIns="0" bIns="18000" anchor="ctr">
            <a:spAutoFit/>
          </a:bodyPr>
          <a:lstStyle/>
          <a:p>
            <a:pPr marL="0" indent="0">
              <a:spcBef>
                <a:spcPts val="600"/>
              </a:spcBef>
              <a:buNone/>
            </a:pPr>
            <a:r>
              <a:rPr lang="en-US" sz="2400" noProof="0" dirty="0"/>
              <a:t>A. 0</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90651" y="5319311"/>
            <a:ext cx="336114" cy="405683"/>
          </a:xfrm>
        </p:spPr>
        <p:txBody>
          <a:bodyPr wrap="square" lIns="0" tIns="18000" rIns="0" bIns="18000" anchor="ctr">
            <a:spAutoFit/>
          </a:bodyPr>
          <a:lstStyle/>
          <a:p>
            <a:pPr marL="0" indent="0">
              <a:spcBef>
                <a:spcPts val="600"/>
              </a:spcBef>
              <a:buNone/>
            </a:pPr>
            <a:r>
              <a:rPr lang="en-US" sz="2400" noProof="0" dirty="0"/>
              <a:t>B. </a:t>
            </a:r>
          </a:p>
        </p:txBody>
      </p:sp>
      <p:graphicFrame>
        <p:nvGraphicFramePr>
          <p:cNvPr id="4" name="Object 3" descr="i subscript s.&#10;">
            <a:extLst>
              <a:ext uri="{FF2B5EF4-FFF2-40B4-BE49-F238E27FC236}">
                <a16:creationId xmlns:a16="http://schemas.microsoft.com/office/drawing/2014/main" id="{701D9C34-5258-B074-0234-C03851639700}"/>
              </a:ext>
            </a:extLst>
          </p:cNvPr>
          <p:cNvGraphicFramePr>
            <a:graphicFrameLocks noChangeAspect="1"/>
          </p:cNvGraphicFramePr>
          <p:nvPr>
            <p:extLst>
              <p:ext uri="{D42A27DB-BD31-4B8C-83A1-F6EECF244321}">
                <p14:modId xmlns:p14="http://schemas.microsoft.com/office/powerpoint/2010/main" val="968528664"/>
              </p:ext>
            </p:extLst>
          </p:nvPr>
        </p:nvGraphicFramePr>
        <p:xfrm>
          <a:off x="1779111" y="5348368"/>
          <a:ext cx="254953" cy="417353"/>
        </p:xfrm>
        <a:graphic>
          <a:graphicData uri="http://schemas.openxmlformats.org/presentationml/2006/ole">
            <mc:AlternateContent xmlns:mc="http://schemas.openxmlformats.org/markup-compatibility/2006">
              <mc:Choice xmlns:v="urn:schemas-microsoft-com:vml" Requires="v">
                <p:oleObj name="Equation" r:id="rId3" imgW="139680" imgH="228600" progId="Equation.DSMT4">
                  <p:embed/>
                </p:oleObj>
              </mc:Choice>
              <mc:Fallback>
                <p:oleObj name="Equation" r:id="rId3" imgW="139680" imgH="228600" progId="Equation.DSMT4">
                  <p:embed/>
                  <p:pic>
                    <p:nvPicPr>
                      <p:cNvPr id="3" name="Object 2">
                        <a:extLst>
                          <a:ext uri="{FF2B5EF4-FFF2-40B4-BE49-F238E27FC236}">
                            <a16:creationId xmlns:a16="http://schemas.microsoft.com/office/drawing/2014/main" id="{1C94FDB4-17B7-922E-B18E-FFF847C90AEE}"/>
                          </a:ext>
                        </a:extLst>
                      </p:cNvPr>
                      <p:cNvPicPr>
                        <a:picLocks noChangeAspect="1" noChangeArrowheads="1"/>
                      </p:cNvPicPr>
                      <p:nvPr/>
                    </p:nvPicPr>
                    <p:blipFill>
                      <a:blip r:embed="rId4"/>
                      <a:srcRect/>
                      <a:stretch>
                        <a:fillRect/>
                      </a:stretch>
                    </p:blipFill>
                    <p:spPr bwMode="auto">
                      <a:xfrm>
                        <a:off x="1779111" y="5348368"/>
                        <a:ext cx="254953" cy="417353"/>
                      </a:xfrm>
                      <a:prstGeom prst="rect">
                        <a:avLst/>
                      </a:prstGeom>
                      <a:noFill/>
                      <a:ln>
                        <a:noFill/>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0650" y="5855257"/>
            <a:ext cx="336115" cy="405683"/>
          </a:xfrm>
        </p:spPr>
        <p:txBody>
          <a:bodyPr wrap="square" lIns="0" tIns="18000" rIns="0" bIns="18000" anchor="ctr">
            <a:spAutoFit/>
          </a:bodyPr>
          <a:lstStyle/>
          <a:p>
            <a:pPr marL="0" indent="0">
              <a:spcBef>
                <a:spcPts val="600"/>
              </a:spcBef>
              <a:buNone/>
            </a:pPr>
            <a:r>
              <a:rPr lang="en-US" sz="2400" noProof="0" dirty="0"/>
              <a:t>C. </a:t>
            </a:r>
          </a:p>
        </p:txBody>
      </p:sp>
      <p:graphicFrame>
        <p:nvGraphicFramePr>
          <p:cNvPr id="25" name="Object 24" descr="i subscript f.&#10;">
            <a:extLst>
              <a:ext uri="{FF2B5EF4-FFF2-40B4-BE49-F238E27FC236}">
                <a16:creationId xmlns:a16="http://schemas.microsoft.com/office/drawing/2014/main" id="{A416DB4F-4C28-298F-B9AE-96F0664062D5}"/>
              </a:ext>
            </a:extLst>
          </p:cNvPr>
          <p:cNvGraphicFramePr>
            <a:graphicFrameLocks noChangeAspect="1"/>
          </p:cNvGraphicFramePr>
          <p:nvPr>
            <p:extLst>
              <p:ext uri="{D42A27DB-BD31-4B8C-83A1-F6EECF244321}">
                <p14:modId xmlns:p14="http://schemas.microsoft.com/office/powerpoint/2010/main" val="3869192606"/>
              </p:ext>
            </p:extLst>
          </p:nvPr>
        </p:nvGraphicFramePr>
        <p:xfrm>
          <a:off x="1779111" y="5890926"/>
          <a:ext cx="232252" cy="417353"/>
        </p:xfrm>
        <a:graphic>
          <a:graphicData uri="http://schemas.openxmlformats.org/presentationml/2006/ole">
            <mc:AlternateContent xmlns:mc="http://schemas.openxmlformats.org/markup-compatibility/2006">
              <mc:Choice xmlns:v="urn:schemas-microsoft-com:vml" Requires="v">
                <p:oleObj name="Equation" r:id="rId5" imgW="126720" imgH="228600" progId="Equation.DSMT4">
                  <p:embed/>
                </p:oleObj>
              </mc:Choice>
              <mc:Fallback>
                <p:oleObj name="Equation" r:id="rId5" imgW="126720" imgH="228600" progId="Equation.DSMT4">
                  <p:embed/>
                  <p:pic>
                    <p:nvPicPr>
                      <p:cNvPr id="4" name="Object 3">
                        <a:extLst>
                          <a:ext uri="{FF2B5EF4-FFF2-40B4-BE49-F238E27FC236}">
                            <a16:creationId xmlns:a16="http://schemas.microsoft.com/office/drawing/2014/main" id="{701D9C34-5258-B074-0234-C03851639700}"/>
                          </a:ext>
                        </a:extLst>
                      </p:cNvPr>
                      <p:cNvPicPr>
                        <a:picLocks noChangeAspect="1" noChangeArrowheads="1"/>
                      </p:cNvPicPr>
                      <p:nvPr/>
                    </p:nvPicPr>
                    <p:blipFill>
                      <a:blip r:embed="rId6"/>
                      <a:srcRect/>
                      <a:stretch>
                        <a:fillRect/>
                      </a:stretch>
                    </p:blipFill>
                    <p:spPr bwMode="auto">
                      <a:xfrm>
                        <a:off x="1779111" y="5890926"/>
                        <a:ext cx="232252" cy="41735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40288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B48B-C1D4-B1DE-D013-EDDDC873C6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0BDC1B-13C9-62B1-926A-112A7F6EBFC3}"/>
              </a:ext>
            </a:extLst>
          </p:cNvPr>
          <p:cNvSpPr>
            <a:spLocks noGrp="1"/>
          </p:cNvSpPr>
          <p:nvPr>
            <p:ph type="title"/>
          </p:nvPr>
        </p:nvSpPr>
        <p:spPr>
          <a:xfrm>
            <a:off x="428625" y="250282"/>
            <a:ext cx="8229600" cy="559572"/>
          </a:xfrm>
        </p:spPr>
        <p:txBody>
          <a:bodyPr/>
          <a:lstStyle/>
          <a:p>
            <a:r>
              <a:rPr lang="en-US" sz="3400" noProof="0" dirty="0"/>
              <a:t>Chapter 7 – Integrating Amplifier </a:t>
            </a:r>
            <a:r>
              <a:rPr lang="en-US" sz="2600" noProof="0" dirty="0"/>
              <a:t>(3 of 6)</a:t>
            </a:r>
          </a:p>
        </p:txBody>
      </p:sp>
      <p:sp>
        <p:nvSpPr>
          <p:cNvPr id="7" name="Content Placeholder 6">
            <a:extLst>
              <a:ext uri="{FF2B5EF4-FFF2-40B4-BE49-F238E27FC236}">
                <a16:creationId xmlns:a16="http://schemas.microsoft.com/office/drawing/2014/main" id="{E4B32224-22FE-89F4-F0EF-A6D966E99767}"/>
              </a:ext>
            </a:extLst>
          </p:cNvPr>
          <p:cNvSpPr>
            <a:spLocks noGrp="1"/>
          </p:cNvSpPr>
          <p:nvPr>
            <p:ph sz="quarter" idx="12"/>
          </p:nvPr>
        </p:nvSpPr>
        <p:spPr>
          <a:xfrm>
            <a:off x="428625" y="1087154"/>
            <a:ext cx="8286750" cy="1052014"/>
          </a:xfrm>
        </p:spPr>
        <p:txBody>
          <a:bodyPr wrap="square" lIns="0" tIns="18000" rIns="0" bIns="18000" anchor="ctr">
            <a:spAutoFit/>
          </a:bodyPr>
          <a:lstStyle/>
          <a:p>
            <a:pPr marL="0" indent="0">
              <a:spcBef>
                <a:spcPts val="600"/>
              </a:spcBef>
              <a:buNone/>
            </a:pPr>
            <a:r>
              <a:rPr lang="en-US" sz="2200" noProof="0" dirty="0"/>
              <a:t>To analyze this circuit, we write a KCL equation at the op amp’s inverting input node. Assuming the op amp is ideal, the current leaving this node and entering the op amp is</a:t>
            </a:r>
          </a:p>
        </p:txBody>
      </p:sp>
      <p:pic>
        <p:nvPicPr>
          <p:cNvPr id="2" name="Picture 2" descr="A circuit diagram shows an operational amplifier with voltage V subscript cc applied to its top vertical terminal and voltage minus V subscript cc at its bottom vertical terminal. The inverting input of the operational amplifier is designated with a negative sign at the point where it connects to the operational amplifier. The non inverting input of the operational amplifier is designated with a positive sign at the point where it connects to the operational amplifier. Voltage source V subscript s is connected to the inverting input through resistor R subscript s. Voltage source V subscript s has positive polarity on the upper side and negative polarity on the lower side. Current i subscript s flows through the resistor R subscript s from left to right in the inverting input wire towards the operational amplifier. A node with a positive sign exists just before the point where the inverting input wire is connected to the operational amplifier. The node on the inverting input wire is connected to the output terminal of the operational amplifier through capacitor C subscript f. Current i subscript f flows from the output terminal to the node on the inverting input wire, the direction of this current being from right to left. The non inverting input terminal of the operational amplifier is connected to ground. Voltage v subscript n exists between the node on the inverting input wire and ground. Voltage v subscript p exists between the non inverting input terminal and ground. Voltage v subscript o exists between the output terminal of the operational amplifier and ground.">
            <a:extLst>
              <a:ext uri="{FF2B5EF4-FFF2-40B4-BE49-F238E27FC236}">
                <a16:creationId xmlns:a16="http://schemas.microsoft.com/office/drawing/2014/main" id="{54C2155B-C3FD-8944-52AA-BBB1B0C37B65}"/>
              </a:ext>
            </a:extLst>
          </p:cNvPr>
          <p:cNvPicPr>
            <a:picLocks noChangeAspect="1" noChangeArrowheads="1"/>
          </p:cNvPicPr>
          <p:nvPr/>
        </p:nvPicPr>
        <p:blipFill>
          <a:blip r:embed="rId5"/>
          <a:stretch>
            <a:fillRect/>
          </a:stretch>
        </p:blipFill>
        <p:spPr bwMode="auto">
          <a:xfrm>
            <a:off x="2528495" y="2378703"/>
            <a:ext cx="4258460" cy="2214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1435" descr="Check mark">
            <a:extLst>
              <a:ext uri="{FF2B5EF4-FFF2-40B4-BE49-F238E27FC236}">
                <a16:creationId xmlns:a16="http://schemas.microsoft.com/office/drawing/2014/main" id="{FA4E2869-F2C5-4E24-4976-6B3C2A2CDC98}"/>
              </a:ext>
            </a:extLst>
          </p:cNvPr>
          <p:cNvPicPr>
            <a:picLocks/>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774265" y="481345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451B4CCC-CD7B-884A-71F6-78F1CCEB8F11}"/>
              </a:ext>
            </a:extLst>
          </p:cNvPr>
          <p:cNvSpPr>
            <a:spLocks noGrp="1"/>
          </p:cNvSpPr>
          <p:nvPr>
            <p:ph sz="quarter" idx="13"/>
          </p:nvPr>
        </p:nvSpPr>
        <p:spPr>
          <a:xfrm>
            <a:off x="1390651" y="4782061"/>
            <a:ext cx="571500" cy="405683"/>
          </a:xfrm>
        </p:spPr>
        <p:txBody>
          <a:bodyPr wrap="square" lIns="0" tIns="18000" rIns="0" bIns="18000" anchor="ctr">
            <a:spAutoFit/>
          </a:bodyPr>
          <a:lstStyle/>
          <a:p>
            <a:pPr marL="0" indent="0">
              <a:spcBef>
                <a:spcPts val="600"/>
              </a:spcBef>
              <a:buNone/>
            </a:pPr>
            <a:r>
              <a:rPr lang="en-US" sz="2400" noProof="0" dirty="0"/>
              <a:t>A. 0</a:t>
            </a:r>
          </a:p>
        </p:txBody>
      </p:sp>
      <p:pic>
        <p:nvPicPr>
          <p:cNvPr id="5" name="Picture 1434" descr="Cross mark">
            <a:extLst>
              <a:ext uri="{FF2B5EF4-FFF2-40B4-BE49-F238E27FC236}">
                <a16:creationId xmlns:a16="http://schemas.microsoft.com/office/drawing/2014/main" id="{5E6A568E-FB5B-ACC4-8444-8BBA02B3E9E3}"/>
              </a:ext>
            </a:extLst>
          </p:cNvPr>
          <p:cNvPicPr>
            <a:picLocks/>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774265" y="5374474"/>
            <a:ext cx="342900"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4231FFF9-3D88-EA50-1863-2FF9E6107CB1}"/>
              </a:ext>
            </a:extLst>
          </p:cNvPr>
          <p:cNvSpPr>
            <a:spLocks noGrp="1"/>
          </p:cNvSpPr>
          <p:nvPr>
            <p:ph sz="quarter" idx="14"/>
          </p:nvPr>
        </p:nvSpPr>
        <p:spPr>
          <a:xfrm>
            <a:off x="1390651" y="5319311"/>
            <a:ext cx="336114" cy="405683"/>
          </a:xfrm>
        </p:spPr>
        <p:txBody>
          <a:bodyPr wrap="square" lIns="0" tIns="18000" rIns="0" bIns="18000" anchor="ctr">
            <a:spAutoFit/>
          </a:bodyPr>
          <a:lstStyle/>
          <a:p>
            <a:pPr marL="0" indent="0">
              <a:spcBef>
                <a:spcPts val="600"/>
              </a:spcBef>
              <a:buNone/>
            </a:pPr>
            <a:r>
              <a:rPr lang="en-US" sz="2400" noProof="0" dirty="0"/>
              <a:t>B. </a:t>
            </a:r>
          </a:p>
        </p:txBody>
      </p:sp>
      <p:graphicFrame>
        <p:nvGraphicFramePr>
          <p:cNvPr id="4" name="Object 3" descr="i subscript s.&#10;">
            <a:extLst>
              <a:ext uri="{FF2B5EF4-FFF2-40B4-BE49-F238E27FC236}">
                <a16:creationId xmlns:a16="http://schemas.microsoft.com/office/drawing/2014/main" id="{1468A12C-FC86-CD20-AF71-62F59C01515C}"/>
              </a:ext>
            </a:extLst>
          </p:cNvPr>
          <p:cNvGraphicFramePr>
            <a:graphicFrameLocks noChangeAspect="1"/>
          </p:cNvGraphicFramePr>
          <p:nvPr/>
        </p:nvGraphicFramePr>
        <p:xfrm>
          <a:off x="1779111" y="5348368"/>
          <a:ext cx="254953" cy="417353"/>
        </p:xfrm>
        <a:graphic>
          <a:graphicData uri="http://schemas.openxmlformats.org/presentationml/2006/ole">
            <mc:AlternateContent xmlns:mc="http://schemas.openxmlformats.org/markup-compatibility/2006">
              <mc:Choice xmlns:v="urn:schemas-microsoft-com:vml" Requires="v">
                <p:oleObj name="Equation" r:id="rId8" imgW="139680" imgH="228600" progId="Equation.DSMT4">
                  <p:embed/>
                </p:oleObj>
              </mc:Choice>
              <mc:Fallback>
                <p:oleObj name="Equation" r:id="rId8" imgW="139680" imgH="228600" progId="Equation.DSMT4">
                  <p:embed/>
                  <p:pic>
                    <p:nvPicPr>
                      <p:cNvPr id="4" name="Object 3" descr="i subscript s.&#10;">
                        <a:extLst>
                          <a:ext uri="{FF2B5EF4-FFF2-40B4-BE49-F238E27FC236}">
                            <a16:creationId xmlns:a16="http://schemas.microsoft.com/office/drawing/2014/main" id="{701D9C34-5258-B074-0234-C03851639700}"/>
                          </a:ext>
                        </a:extLst>
                      </p:cNvPr>
                      <p:cNvPicPr>
                        <a:picLocks noChangeAspect="1" noChangeArrowheads="1"/>
                      </p:cNvPicPr>
                      <p:nvPr/>
                    </p:nvPicPr>
                    <p:blipFill>
                      <a:blip r:embed="rId9"/>
                      <a:srcRect/>
                      <a:stretch>
                        <a:fillRect/>
                      </a:stretch>
                    </p:blipFill>
                    <p:spPr bwMode="auto">
                      <a:xfrm>
                        <a:off x="1779111" y="5348368"/>
                        <a:ext cx="254953" cy="417353"/>
                      </a:xfrm>
                      <a:prstGeom prst="rect">
                        <a:avLst/>
                      </a:prstGeom>
                      <a:noFill/>
                      <a:ln>
                        <a:noFill/>
                      </a:ln>
                    </p:spPr>
                  </p:pic>
                </p:oleObj>
              </mc:Fallback>
            </mc:AlternateContent>
          </a:graphicData>
        </a:graphic>
      </p:graphicFrame>
      <p:pic>
        <p:nvPicPr>
          <p:cNvPr id="26" name="Picture 1434" descr="Cross mark">
            <a:extLst>
              <a:ext uri="{FF2B5EF4-FFF2-40B4-BE49-F238E27FC236}">
                <a16:creationId xmlns:a16="http://schemas.microsoft.com/office/drawing/2014/main" id="{9035E0EC-39BE-B4A8-8E03-1FB08DA5FA89}"/>
              </a:ext>
            </a:extLst>
          </p:cNvPr>
          <p:cNvPicPr>
            <a:picLocks/>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774265" y="5923716"/>
            <a:ext cx="342900"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17A775BC-B532-C839-85DB-20618EA409DE}"/>
              </a:ext>
            </a:extLst>
          </p:cNvPr>
          <p:cNvSpPr>
            <a:spLocks noGrp="1"/>
          </p:cNvSpPr>
          <p:nvPr>
            <p:ph sz="quarter" idx="15"/>
          </p:nvPr>
        </p:nvSpPr>
        <p:spPr>
          <a:xfrm>
            <a:off x="1390650" y="5855257"/>
            <a:ext cx="336115" cy="405683"/>
          </a:xfrm>
        </p:spPr>
        <p:txBody>
          <a:bodyPr wrap="square" lIns="0" tIns="18000" rIns="0" bIns="18000" anchor="ctr">
            <a:spAutoFit/>
          </a:bodyPr>
          <a:lstStyle/>
          <a:p>
            <a:pPr marL="0" indent="0">
              <a:spcBef>
                <a:spcPts val="600"/>
              </a:spcBef>
              <a:buNone/>
            </a:pPr>
            <a:r>
              <a:rPr lang="en-US" sz="2400" noProof="0" dirty="0"/>
              <a:t>C. </a:t>
            </a:r>
          </a:p>
        </p:txBody>
      </p:sp>
      <p:graphicFrame>
        <p:nvGraphicFramePr>
          <p:cNvPr id="25" name="Object 24" descr="i subscript f.&#10;">
            <a:extLst>
              <a:ext uri="{FF2B5EF4-FFF2-40B4-BE49-F238E27FC236}">
                <a16:creationId xmlns:a16="http://schemas.microsoft.com/office/drawing/2014/main" id="{F17439AD-92F0-E1EF-8966-A9ABE40FDAC0}"/>
              </a:ext>
            </a:extLst>
          </p:cNvPr>
          <p:cNvGraphicFramePr>
            <a:graphicFrameLocks noChangeAspect="1"/>
          </p:cNvGraphicFramePr>
          <p:nvPr/>
        </p:nvGraphicFramePr>
        <p:xfrm>
          <a:off x="1779111" y="5890926"/>
          <a:ext cx="232252" cy="417353"/>
        </p:xfrm>
        <a:graphic>
          <a:graphicData uri="http://schemas.openxmlformats.org/presentationml/2006/ole">
            <mc:AlternateContent xmlns:mc="http://schemas.openxmlformats.org/markup-compatibility/2006">
              <mc:Choice xmlns:v="urn:schemas-microsoft-com:vml" Requires="v">
                <p:oleObj name="Equation" r:id="rId10" imgW="126720" imgH="228600" progId="Equation.DSMT4">
                  <p:embed/>
                </p:oleObj>
              </mc:Choice>
              <mc:Fallback>
                <p:oleObj name="Equation" r:id="rId10" imgW="126720" imgH="228600" progId="Equation.DSMT4">
                  <p:embed/>
                  <p:pic>
                    <p:nvPicPr>
                      <p:cNvPr id="25" name="Object 24" descr="i subscript f.&#10;">
                        <a:extLst>
                          <a:ext uri="{FF2B5EF4-FFF2-40B4-BE49-F238E27FC236}">
                            <a16:creationId xmlns:a16="http://schemas.microsoft.com/office/drawing/2014/main" id="{A416DB4F-4C28-298F-B9AE-96F0664062D5}"/>
                          </a:ext>
                        </a:extLst>
                      </p:cNvPr>
                      <p:cNvPicPr>
                        <a:picLocks noChangeAspect="1" noChangeArrowheads="1"/>
                      </p:cNvPicPr>
                      <p:nvPr/>
                    </p:nvPicPr>
                    <p:blipFill>
                      <a:blip r:embed="rId11"/>
                      <a:srcRect/>
                      <a:stretch>
                        <a:fillRect/>
                      </a:stretch>
                    </p:blipFill>
                    <p:spPr bwMode="auto">
                      <a:xfrm>
                        <a:off x="1779111" y="5890926"/>
                        <a:ext cx="232252" cy="41735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8089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50282"/>
            <a:ext cx="8229600" cy="559572"/>
          </a:xfrm>
        </p:spPr>
        <p:txBody>
          <a:bodyPr/>
          <a:lstStyle/>
          <a:p>
            <a:r>
              <a:rPr lang="en-US" sz="3400" noProof="0" dirty="0"/>
              <a:t>Chapter 7 – Integrating Amplifier </a:t>
            </a:r>
            <a:r>
              <a:rPr lang="en-US" sz="2600" noProof="0" dirty="0"/>
              <a:t>(4 of 6)</a:t>
            </a:r>
          </a:p>
        </p:txBody>
      </p:sp>
      <p:pic>
        <p:nvPicPr>
          <p:cNvPr id="2" name="Picture 45" descr="A circuit diagram shows an operational amplifier with voltage V subscript cc applied to its top vertical terminal and voltage minus V subscript cc at its bottom vertical terminal. The inverting input of the operational amplifier is designated with a negative sign at the point where it connects to the operational amplifier. The non inverting input of the operational amplifier is designated with a positive sign at the point where it connects to the operational amplifier. Voltage source V subscript s is connected to the inverting input through resistor R subscript s. Voltage source V subscript s has positive polarity on the upper side and negative polarity on the lower side. Current i subscript s flows through the resistor R subscript s from left to right in the inverting input wire towards the operational amplifier. A node with a positive sign exists just before the point where the inverting input wire is connected to the operational amplifier. The node on the inverting input wire is connected to the output terminal of the operational amplifier through capacitor C subscript f. Current i subscript f flows from the output terminal to the node on the inverting input wire, the direction of this current being from right to left. The non inverting input terminal of the operational amplifier is connected to ground. Voltage v subscript n exists between the node on the inverting input wire and ground. Voltage v subscript p exists between the non inverting input terminal and ground. Voltage v subscript o exists between the output terminal of the operational amplifier and ground.">
            <a:extLst>
              <a:ext uri="{FF2B5EF4-FFF2-40B4-BE49-F238E27FC236}">
                <a16:creationId xmlns:a16="http://schemas.microsoft.com/office/drawing/2014/main" id="{B085FD80-8932-4C3C-1EE3-99A1D5F2647D}"/>
              </a:ext>
            </a:extLst>
          </p:cNvPr>
          <p:cNvPicPr>
            <a:picLocks noChangeAspect="1" noChangeArrowheads="1"/>
          </p:cNvPicPr>
          <p:nvPr/>
        </p:nvPicPr>
        <p:blipFill>
          <a:blip r:embed="rId3"/>
          <a:stretch>
            <a:fillRect/>
          </a:stretch>
        </p:blipFill>
        <p:spPr bwMode="auto">
          <a:xfrm>
            <a:off x="2630197" y="1076896"/>
            <a:ext cx="3883605" cy="2019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3396924"/>
            <a:ext cx="942975" cy="405683"/>
          </a:xfrm>
        </p:spPr>
        <p:txBody>
          <a:bodyPr wrap="square" lIns="0" tIns="18000" rIns="0" bIns="18000" anchor="ctr">
            <a:spAutoFit/>
          </a:bodyPr>
          <a:lstStyle/>
          <a:p>
            <a:pPr marL="0" indent="0">
              <a:spcBef>
                <a:spcPts val="600"/>
              </a:spcBef>
              <a:buNone/>
            </a:pPr>
            <a:r>
              <a:rPr lang="en-US" sz="2400" noProof="0" dirty="0"/>
              <a:t>KCL at </a:t>
            </a:r>
          </a:p>
        </p:txBody>
      </p:sp>
      <p:graphicFrame>
        <p:nvGraphicFramePr>
          <p:cNvPr id="3" name="Object 2" descr="V subscript n Baseline:&#10;">
            <a:extLst>
              <a:ext uri="{FF2B5EF4-FFF2-40B4-BE49-F238E27FC236}">
                <a16:creationId xmlns:a16="http://schemas.microsoft.com/office/drawing/2014/main" id="{983FB6C8-1CDE-95EA-5E58-E2986333F77B}"/>
              </a:ext>
            </a:extLst>
          </p:cNvPr>
          <p:cNvGraphicFramePr>
            <a:graphicFrameLocks noChangeAspect="1"/>
          </p:cNvGraphicFramePr>
          <p:nvPr>
            <p:extLst>
              <p:ext uri="{D42A27DB-BD31-4B8C-83A1-F6EECF244321}">
                <p14:modId xmlns:p14="http://schemas.microsoft.com/office/powerpoint/2010/main" val="1903944312"/>
              </p:ext>
            </p:extLst>
          </p:nvPr>
        </p:nvGraphicFramePr>
        <p:xfrm>
          <a:off x="1445578" y="3398599"/>
          <a:ext cx="433070" cy="459264"/>
        </p:xfrm>
        <a:graphic>
          <a:graphicData uri="http://schemas.openxmlformats.org/presentationml/2006/ole">
            <mc:AlternateContent xmlns:mc="http://schemas.openxmlformats.org/markup-compatibility/2006">
              <mc:Choice xmlns:v="urn:schemas-microsoft-com:vml" Requires="v">
                <p:oleObj name="Equation" r:id="rId4" imgW="215640" imgH="228600" progId="Equation.DSMT4">
                  <p:embed/>
                </p:oleObj>
              </mc:Choice>
              <mc:Fallback>
                <p:oleObj name="Equation" r:id="rId4" imgW="215640" imgH="228600" progId="Equation.DSMT4">
                  <p:embed/>
                  <p:pic>
                    <p:nvPicPr>
                      <p:cNvPr id="4" name="Object 3">
                        <a:extLst>
                          <a:ext uri="{FF2B5EF4-FFF2-40B4-BE49-F238E27FC236}">
                            <a16:creationId xmlns:a16="http://schemas.microsoft.com/office/drawing/2014/main" id="{701D9C34-5258-B074-0234-C03851639700}"/>
                          </a:ext>
                        </a:extLst>
                      </p:cNvPr>
                      <p:cNvPicPr>
                        <a:picLocks noChangeAspect="1" noChangeArrowheads="1"/>
                      </p:cNvPicPr>
                      <p:nvPr/>
                    </p:nvPicPr>
                    <p:blipFill>
                      <a:blip r:embed="rId5"/>
                      <a:srcRect/>
                      <a:stretch>
                        <a:fillRect/>
                      </a:stretch>
                    </p:blipFill>
                    <p:spPr bwMode="auto">
                      <a:xfrm>
                        <a:off x="1445578" y="3398599"/>
                        <a:ext cx="433070" cy="459264"/>
                      </a:xfrm>
                      <a:prstGeom prst="rect">
                        <a:avLst/>
                      </a:prstGeom>
                      <a:noFill/>
                      <a:ln>
                        <a:noFill/>
                      </a:ln>
                    </p:spPr>
                  </p:pic>
                </p:oleObj>
              </mc:Fallback>
            </mc:AlternateContent>
          </a:graphicData>
        </a:graphic>
      </p:graphicFrame>
      <p:graphicFrame>
        <p:nvGraphicFramePr>
          <p:cNvPr id="4" name="Object 3" descr="i subscript f BaseLine plus i subscript s BaseLine equals 0. Forward arrow, C subscript f BaseLine Start Fraction d v subscript o BaseLine over d t End Fraction plus Start Fraction v subscript s BaseLine over R End Fraction equals 0.&#10;">
            <a:extLst>
              <a:ext uri="{FF2B5EF4-FFF2-40B4-BE49-F238E27FC236}">
                <a16:creationId xmlns:a16="http://schemas.microsoft.com/office/drawing/2014/main" id="{8C8A0668-26E3-1818-7173-C3326865FBD2}"/>
              </a:ext>
            </a:extLst>
          </p:cNvPr>
          <p:cNvGraphicFramePr>
            <a:graphicFrameLocks noChangeAspect="1"/>
          </p:cNvGraphicFramePr>
          <p:nvPr>
            <p:extLst>
              <p:ext uri="{D42A27DB-BD31-4B8C-83A1-F6EECF244321}">
                <p14:modId xmlns:p14="http://schemas.microsoft.com/office/powerpoint/2010/main" val="1687617963"/>
              </p:ext>
            </p:extLst>
          </p:nvPr>
        </p:nvGraphicFramePr>
        <p:xfrm>
          <a:off x="3087688" y="3267075"/>
          <a:ext cx="3694112" cy="674688"/>
        </p:xfrm>
        <a:graphic>
          <a:graphicData uri="http://schemas.openxmlformats.org/presentationml/2006/ole">
            <mc:AlternateContent xmlns:mc="http://schemas.openxmlformats.org/markup-compatibility/2006">
              <mc:Choice xmlns:v="urn:schemas-microsoft-com:vml" Requires="v">
                <p:oleObj name="Equation" r:id="rId6" imgW="2222280" imgH="406080" progId="Equation.DSMT4">
                  <p:embed/>
                </p:oleObj>
              </mc:Choice>
              <mc:Fallback>
                <p:oleObj name="Equation" r:id="rId6" imgW="2222280" imgH="406080" progId="Equation.DSMT4">
                  <p:embed/>
                  <p:pic>
                    <p:nvPicPr>
                      <p:cNvPr id="8" name="Object 7"/>
                      <p:cNvPicPr>
                        <a:picLocks noChangeAspect="1" noChangeArrowheads="1"/>
                      </p:cNvPicPr>
                      <p:nvPr/>
                    </p:nvPicPr>
                    <p:blipFill>
                      <a:blip r:embed="rId7"/>
                      <a:srcRect/>
                      <a:stretch>
                        <a:fillRect/>
                      </a:stretch>
                    </p:blipFill>
                    <p:spPr bwMode="auto">
                      <a:xfrm>
                        <a:off x="3087688" y="3267075"/>
                        <a:ext cx="369411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4187499"/>
            <a:ext cx="1514475" cy="405683"/>
          </a:xfrm>
        </p:spPr>
        <p:txBody>
          <a:bodyPr wrap="square" lIns="0" tIns="18000" rIns="0" bIns="18000" anchor="ctr">
            <a:spAutoFit/>
          </a:bodyPr>
          <a:lstStyle/>
          <a:p>
            <a:pPr marL="0" indent="0">
              <a:spcBef>
                <a:spcPts val="600"/>
              </a:spcBef>
              <a:buNone/>
            </a:pPr>
            <a:r>
              <a:rPr lang="en-US" sz="2400" noProof="0" dirty="0"/>
              <a:t>Solving for </a:t>
            </a:r>
          </a:p>
        </p:txBody>
      </p:sp>
      <p:graphicFrame>
        <p:nvGraphicFramePr>
          <p:cNvPr id="5" name="Object 4" descr="V subscript 0 BaseLine:&#10;">
            <a:extLst>
              <a:ext uri="{FF2B5EF4-FFF2-40B4-BE49-F238E27FC236}">
                <a16:creationId xmlns:a16="http://schemas.microsoft.com/office/drawing/2014/main" id="{DD934D27-E921-567E-19BA-B13748B0FDBB}"/>
              </a:ext>
            </a:extLst>
          </p:cNvPr>
          <p:cNvGraphicFramePr>
            <a:graphicFrameLocks noChangeAspect="1"/>
          </p:cNvGraphicFramePr>
          <p:nvPr>
            <p:extLst>
              <p:ext uri="{D42A27DB-BD31-4B8C-83A1-F6EECF244321}">
                <p14:modId xmlns:p14="http://schemas.microsoft.com/office/powerpoint/2010/main" val="4065205022"/>
              </p:ext>
            </p:extLst>
          </p:nvPr>
        </p:nvGraphicFramePr>
        <p:xfrm>
          <a:off x="1977390" y="4187499"/>
          <a:ext cx="433070" cy="459264"/>
        </p:xfrm>
        <a:graphic>
          <a:graphicData uri="http://schemas.openxmlformats.org/presentationml/2006/ole">
            <mc:AlternateContent xmlns:mc="http://schemas.openxmlformats.org/markup-compatibility/2006">
              <mc:Choice xmlns:v="urn:schemas-microsoft-com:vml" Requires="v">
                <p:oleObj name="Equation" r:id="rId8" imgW="215640" imgH="228600" progId="Equation.DSMT4">
                  <p:embed/>
                </p:oleObj>
              </mc:Choice>
              <mc:Fallback>
                <p:oleObj name="Equation" r:id="rId8" imgW="215640" imgH="228600" progId="Equation.DSMT4">
                  <p:embed/>
                  <p:pic>
                    <p:nvPicPr>
                      <p:cNvPr id="3" name="Object 2">
                        <a:extLst>
                          <a:ext uri="{FF2B5EF4-FFF2-40B4-BE49-F238E27FC236}">
                            <a16:creationId xmlns:a16="http://schemas.microsoft.com/office/drawing/2014/main" id="{983FB6C8-1CDE-95EA-5E58-E2986333F77B}"/>
                          </a:ext>
                        </a:extLst>
                      </p:cNvPr>
                      <p:cNvPicPr>
                        <a:picLocks noChangeAspect="1" noChangeArrowheads="1"/>
                      </p:cNvPicPr>
                      <p:nvPr/>
                    </p:nvPicPr>
                    <p:blipFill>
                      <a:blip r:embed="rId9"/>
                      <a:srcRect/>
                      <a:stretch>
                        <a:fillRect/>
                      </a:stretch>
                    </p:blipFill>
                    <p:spPr bwMode="auto">
                      <a:xfrm>
                        <a:off x="1977390" y="4187499"/>
                        <a:ext cx="433070" cy="459264"/>
                      </a:xfrm>
                      <a:prstGeom prst="rect">
                        <a:avLst/>
                      </a:prstGeom>
                      <a:noFill/>
                      <a:ln>
                        <a:noFill/>
                      </a:ln>
                    </p:spPr>
                  </p:pic>
                </p:oleObj>
              </mc:Fallback>
            </mc:AlternateContent>
          </a:graphicData>
        </a:graphic>
      </p:graphicFrame>
      <p:graphicFrame>
        <p:nvGraphicFramePr>
          <p:cNvPr id="25" name="Object 24" descr="The figure illustrates the equation for v subscript o BaseLine (t).&#10;Long description is available in notes, press F6.">
            <a:extLst>
              <a:ext uri="{FF2B5EF4-FFF2-40B4-BE49-F238E27FC236}">
                <a16:creationId xmlns:a16="http://schemas.microsoft.com/office/drawing/2014/main" id="{6BE27F97-507B-623D-CE92-D38D0D03BA9E}"/>
              </a:ext>
            </a:extLst>
          </p:cNvPr>
          <p:cNvGraphicFramePr>
            <a:graphicFrameLocks noChangeAspect="1"/>
          </p:cNvGraphicFramePr>
          <p:nvPr>
            <p:extLst>
              <p:ext uri="{D42A27DB-BD31-4B8C-83A1-F6EECF244321}">
                <p14:modId xmlns:p14="http://schemas.microsoft.com/office/powerpoint/2010/main" val="2556239571"/>
              </p:ext>
            </p:extLst>
          </p:nvPr>
        </p:nvGraphicFramePr>
        <p:xfrm>
          <a:off x="3032125" y="4048125"/>
          <a:ext cx="3354388" cy="717550"/>
        </p:xfrm>
        <a:graphic>
          <a:graphicData uri="http://schemas.openxmlformats.org/presentationml/2006/ole">
            <mc:AlternateContent xmlns:mc="http://schemas.openxmlformats.org/markup-compatibility/2006">
              <mc:Choice xmlns:v="urn:schemas-microsoft-com:vml" Requires="v">
                <p:oleObj name="Equation" r:id="rId10" imgW="2019240" imgH="431640" progId="Equation.DSMT4">
                  <p:embed/>
                </p:oleObj>
              </mc:Choice>
              <mc:Fallback>
                <p:oleObj name="Equation" r:id="rId10" imgW="2019240" imgH="431640" progId="Equation.DSMT4">
                  <p:embed/>
                  <p:pic>
                    <p:nvPicPr>
                      <p:cNvPr id="7" name="Object 6"/>
                      <p:cNvPicPr>
                        <a:picLocks noChangeAspect="1" noChangeArrowheads="1"/>
                      </p:cNvPicPr>
                      <p:nvPr/>
                    </p:nvPicPr>
                    <p:blipFill>
                      <a:blip r:embed="rId11"/>
                      <a:srcRect/>
                      <a:stretch>
                        <a:fillRect/>
                      </a:stretch>
                    </p:blipFill>
                    <p:spPr bwMode="auto">
                      <a:xfrm>
                        <a:off x="3032125" y="4048125"/>
                        <a:ext cx="3354388"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625" y="4989742"/>
            <a:ext cx="8212138" cy="1144347"/>
          </a:xfrm>
        </p:spPr>
        <p:txBody>
          <a:bodyPr wrap="square" lIns="0" tIns="18000" rIns="0" bIns="18000" anchor="ctr">
            <a:spAutoFit/>
          </a:bodyPr>
          <a:lstStyle/>
          <a:p>
            <a:pPr marL="0" indent="0">
              <a:spcBef>
                <a:spcPts val="600"/>
              </a:spcBef>
              <a:buNone/>
            </a:pPr>
            <a:r>
              <a:rPr lang="en-US" sz="2400" noProof="0" dirty="0"/>
              <a:t>So the output of the integrating amplifier is proportional to the integral of the input, limited by the power supply voltages.</a:t>
            </a:r>
          </a:p>
        </p:txBody>
      </p:sp>
    </p:spTree>
    <p:extLst>
      <p:ext uri="{BB962C8B-B14F-4D97-AF65-F5344CB8AC3E}">
        <p14:creationId xmlns:p14="http://schemas.microsoft.com/office/powerpoint/2010/main" val="1195295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50282"/>
            <a:ext cx="8229600" cy="559572"/>
          </a:xfrm>
        </p:spPr>
        <p:txBody>
          <a:bodyPr/>
          <a:lstStyle/>
          <a:p>
            <a:r>
              <a:rPr lang="en-US" sz="3400" noProof="0" dirty="0"/>
              <a:t>Chapter 7 – Integrating Amplifier </a:t>
            </a:r>
            <a:r>
              <a:rPr lang="en-US" sz="2600" noProof="0" dirty="0"/>
              <a:t>(5 of 6)</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63386"/>
            <a:ext cx="8202613" cy="1883011"/>
          </a:xfrm>
        </p:spPr>
        <p:txBody>
          <a:bodyPr wrap="square" lIns="0" tIns="18000" rIns="0" bIns="18000" anchor="ctr">
            <a:spAutoFit/>
          </a:bodyPr>
          <a:lstStyle/>
          <a:p>
            <a:pPr marL="0" indent="0">
              <a:spcBef>
                <a:spcPts val="600"/>
              </a:spcBef>
              <a:buNone/>
            </a:pPr>
            <a:r>
              <a:rPr lang="en-US" sz="2400" noProof="0" dirty="0"/>
              <a:t>Example – At the instant the switch makes contact with terminal a in this circuit, the voltage on the capacitor is 5 V. The switch remains at terminal a for 9 </a:t>
            </a:r>
            <a:r>
              <a:rPr lang="en-US" sz="2400" noProof="0" dirty="0" err="1"/>
              <a:t>ms</a:t>
            </a:r>
            <a:r>
              <a:rPr lang="en-US" sz="2400" noProof="0" dirty="0"/>
              <a:t>, then moves instantaneously to terminal b. How many millisecond after making contact with terminal b does the op amp saturate?</a:t>
            </a:r>
          </a:p>
        </p:txBody>
      </p:sp>
      <p:pic>
        <p:nvPicPr>
          <p:cNvPr id="2" name="Picture 2" descr="A circuit diagram shows an operational amplifier with voltage +6 volts applied to its top vertical terminal and voltage minus 6 volts applied at its bottom vertical terminal. The inverting input of the operational amplifier has a switch to choose between two inputs. To the right of this switch on the inverting input wire is a 100 kilo ohm resistor. At position a, the switch on the inverting input wire is connected to the negative terminal of a 10 volt supply. When time t equals 9 milli seconds, the switch on the inverting input wire is put on position b where it connects with the positive terminal of a 8 volt supply. To the right of the 100 kilo ohm resistor on the inverting input wire is the node which is connected to the output terminal of the operational amplifier through a 0.1 micro farad capacitor. Voltage of 5 volts exists across the 0.1 micro farad capacitor with the left side of the capacitor having positive polarity and the right side having negative polarity. The non inverting input of the operational amplifier is connected to ground. Voltage v subscript o exists between the output terminal of the operational amplifier and ground. ">
            <a:extLst>
              <a:ext uri="{FF2B5EF4-FFF2-40B4-BE49-F238E27FC236}">
                <a16:creationId xmlns:a16="http://schemas.microsoft.com/office/drawing/2014/main" id="{042440B6-3B3F-BC45-68D0-AFEED653F6B1}"/>
              </a:ext>
            </a:extLst>
          </p:cNvPr>
          <p:cNvPicPr>
            <a:picLocks noChangeAspect="1" noChangeArrowheads="1"/>
          </p:cNvPicPr>
          <p:nvPr/>
        </p:nvPicPr>
        <p:blipFill>
          <a:blip r:embed="rId2"/>
          <a:stretch>
            <a:fillRect/>
          </a:stretch>
        </p:blipFill>
        <p:spPr bwMode="auto">
          <a:xfrm>
            <a:off x="1846110" y="3215890"/>
            <a:ext cx="5451779" cy="3108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0417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50282"/>
            <a:ext cx="8229600" cy="559572"/>
          </a:xfrm>
        </p:spPr>
        <p:txBody>
          <a:bodyPr/>
          <a:lstStyle/>
          <a:p>
            <a:r>
              <a:rPr lang="en-US" sz="3400" noProof="0" dirty="0"/>
              <a:t>Chapter 7 – Integrating Amplifier </a:t>
            </a:r>
            <a:r>
              <a:rPr lang="en-US" sz="2600" noProof="0" dirty="0"/>
              <a:t>(6 of 6)</a:t>
            </a:r>
          </a:p>
        </p:txBody>
      </p:sp>
      <p:pic>
        <p:nvPicPr>
          <p:cNvPr id="2" name="Picture 2" descr="A circuit diagram shows an operational amplifier with voltage +6 volts applied to its top vertical terminal and voltage minus 6 volts applied at its bottom vertical terminal. The inverting input of the operational amplifier has a switch to choose between two inputs. To the right of this switch on the inverting input wire is a 100 kilo ohm resistor. At position a, the switch on the inverting input wire is connected to the negative terminal of a 10 volt supply. When time t equals 9 milli seconds, the switch on the inverting input wire is put on position b where it connects with the positive terminal of a 8 volt supply. To the right of the 100 kilo ohm resistor on the inverting input wire is the node which is connected to the output terminal of the operational amplifier through a 0.1 micro farad capacitor. Voltage of 5 volts exists across the 0.1 micro farad capacitor with the left side of the capacitor having positive polarity and the right side having negative polarity. The non inverting input of the operational amplifier is connected to ground. Voltage v subscript o exists between the output terminal of the operational amplifier and ground. ">
            <a:extLst>
              <a:ext uri="{FF2B5EF4-FFF2-40B4-BE49-F238E27FC236}">
                <a16:creationId xmlns:a16="http://schemas.microsoft.com/office/drawing/2014/main" id="{D5E67ED9-E519-874E-D86A-0C3E3F2206EB}"/>
              </a:ext>
            </a:extLst>
          </p:cNvPr>
          <p:cNvPicPr>
            <a:picLocks noChangeAspect="1" noChangeArrowheads="1"/>
          </p:cNvPicPr>
          <p:nvPr/>
        </p:nvPicPr>
        <p:blipFill>
          <a:blip r:embed="rId3"/>
          <a:stretch>
            <a:fillRect/>
          </a:stretch>
        </p:blipFill>
        <p:spPr bwMode="auto">
          <a:xfrm>
            <a:off x="612228" y="993142"/>
            <a:ext cx="3514350" cy="20037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581525" y="1163074"/>
            <a:ext cx="4054475" cy="651905"/>
          </a:xfrm>
        </p:spPr>
        <p:txBody>
          <a:bodyPr lIns="0" tIns="18000" rIns="0" bIns="18000" anchor="ctr">
            <a:spAutoFit/>
          </a:bodyPr>
          <a:lstStyle/>
          <a:p>
            <a:pPr marL="0" indent="0">
              <a:spcBef>
                <a:spcPts val="600"/>
              </a:spcBef>
              <a:buNone/>
            </a:pPr>
            <a:r>
              <a:rPr lang="en-US" sz="2000" noProof="0" dirty="0"/>
              <a:t>While the switch is a terminal a, the output voltage is</a:t>
            </a:r>
          </a:p>
        </p:txBody>
      </p:sp>
      <p:graphicFrame>
        <p:nvGraphicFramePr>
          <p:cNvPr id="3" name="Object 2" descr="v subscript o BaseLine equals negative StartFraction 1 over OpenParenthesis 100 k CloseParenthesis OpenParenthesis 0.1 mu CloseParenthesis EndFraction Integral from 0 to t of negative 10 d y plus OpenParenthesis negative 5 CloseParenthesis equals OpenParenthesis 1000 t minus 5 CloseParenthesis Volts.&#10;&#10;">
            <a:extLst>
              <a:ext uri="{FF2B5EF4-FFF2-40B4-BE49-F238E27FC236}">
                <a16:creationId xmlns:a16="http://schemas.microsoft.com/office/drawing/2014/main" id="{F541C6AA-1D4F-5452-A3C1-E67441FA2422}"/>
              </a:ext>
            </a:extLst>
          </p:cNvPr>
          <p:cNvGraphicFramePr>
            <a:graphicFrameLocks noChangeAspect="1"/>
          </p:cNvGraphicFramePr>
          <p:nvPr>
            <p:extLst>
              <p:ext uri="{D42A27DB-BD31-4B8C-83A1-F6EECF244321}">
                <p14:modId xmlns:p14="http://schemas.microsoft.com/office/powerpoint/2010/main" val="373920741"/>
              </p:ext>
            </p:extLst>
          </p:nvPr>
        </p:nvGraphicFramePr>
        <p:xfrm>
          <a:off x="4799013" y="1952625"/>
          <a:ext cx="3616325" cy="1019175"/>
        </p:xfrm>
        <a:graphic>
          <a:graphicData uri="http://schemas.openxmlformats.org/presentationml/2006/ole">
            <mc:AlternateContent xmlns:mc="http://schemas.openxmlformats.org/markup-compatibility/2006">
              <mc:Choice xmlns:v="urn:schemas-microsoft-com:vml" Requires="v">
                <p:oleObj name="Equation" r:id="rId4" imgW="2527200" imgH="711000" progId="Equation.DSMT4">
                  <p:embed/>
                </p:oleObj>
              </mc:Choice>
              <mc:Fallback>
                <p:oleObj name="Equation" r:id="rId4" imgW="2527200" imgH="711000" progId="Equation.DSMT4">
                  <p:embed/>
                  <p:pic>
                    <p:nvPicPr>
                      <p:cNvPr id="12" name="Object 11"/>
                      <p:cNvPicPr>
                        <a:picLocks noChangeAspect="1" noChangeArrowheads="1"/>
                      </p:cNvPicPr>
                      <p:nvPr/>
                    </p:nvPicPr>
                    <p:blipFill>
                      <a:blip r:embed="rId5"/>
                      <a:srcRect/>
                      <a:stretch>
                        <a:fillRect/>
                      </a:stretch>
                    </p:blipFill>
                    <p:spPr bwMode="auto">
                      <a:xfrm>
                        <a:off x="4799013" y="1952625"/>
                        <a:ext cx="361632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6" y="3170526"/>
            <a:ext cx="3352800" cy="344128"/>
          </a:xfrm>
        </p:spPr>
        <p:txBody>
          <a:bodyPr wrap="square" lIns="0" tIns="18000" rIns="0" bIns="18000" anchor="ctr">
            <a:spAutoFit/>
          </a:bodyPr>
          <a:lstStyle/>
          <a:p>
            <a:pPr marL="0" indent="0">
              <a:spcBef>
                <a:spcPts val="600"/>
              </a:spcBef>
              <a:buNone/>
            </a:pPr>
            <a:r>
              <a:rPr lang="en-US" sz="2000" noProof="0" dirty="0"/>
              <a:t>At 9 </a:t>
            </a:r>
            <a:r>
              <a:rPr lang="en-US" sz="2000" noProof="0" dirty="0" err="1"/>
              <a:t>ms</a:t>
            </a:r>
            <a:r>
              <a:rPr lang="en-US" sz="2000" noProof="0" dirty="0"/>
              <a:t>, the output voltage is</a:t>
            </a:r>
          </a:p>
        </p:txBody>
      </p:sp>
      <p:graphicFrame>
        <p:nvGraphicFramePr>
          <p:cNvPr id="4" name="Object 3" descr="v subscript o BaseLine Open Parenthesis 9 milliseconds Close Parenthesis equals Open SquareBracket 1000 OpenParenthesis 0.009 CloseParenthesis minus 5 CloseSquareBracket equals 4 Volts OpenParenthesis no saturation CloseParenthesis.&#10;">
            <a:extLst>
              <a:ext uri="{FF2B5EF4-FFF2-40B4-BE49-F238E27FC236}">
                <a16:creationId xmlns:a16="http://schemas.microsoft.com/office/drawing/2014/main" id="{492A490B-334C-664A-0E39-704955BA34DC}"/>
              </a:ext>
            </a:extLst>
          </p:cNvPr>
          <p:cNvGraphicFramePr>
            <a:graphicFrameLocks noChangeAspect="1"/>
          </p:cNvGraphicFramePr>
          <p:nvPr>
            <p:extLst>
              <p:ext uri="{D42A27DB-BD31-4B8C-83A1-F6EECF244321}">
                <p14:modId xmlns:p14="http://schemas.microsoft.com/office/powerpoint/2010/main" val="415885716"/>
              </p:ext>
            </p:extLst>
          </p:nvPr>
        </p:nvGraphicFramePr>
        <p:xfrm>
          <a:off x="1692275" y="3622675"/>
          <a:ext cx="4908550" cy="393700"/>
        </p:xfrm>
        <a:graphic>
          <a:graphicData uri="http://schemas.openxmlformats.org/presentationml/2006/ole">
            <mc:AlternateContent xmlns:mc="http://schemas.openxmlformats.org/markup-compatibility/2006">
              <mc:Choice xmlns:v="urn:schemas-microsoft-com:vml" Requires="v">
                <p:oleObj name="Equation" r:id="rId6" imgW="3492360" imgH="279360" progId="Equation.DSMT4">
                  <p:embed/>
                </p:oleObj>
              </mc:Choice>
              <mc:Fallback>
                <p:oleObj name="Equation" r:id="rId6" imgW="3492360" imgH="279360" progId="Equation.DSMT4">
                  <p:embed/>
                  <p:pic>
                    <p:nvPicPr>
                      <p:cNvPr id="9" name="Object 8"/>
                      <p:cNvPicPr>
                        <a:picLocks noChangeAspect="1" noChangeArrowheads="1"/>
                      </p:cNvPicPr>
                      <p:nvPr/>
                    </p:nvPicPr>
                    <p:blipFill>
                      <a:blip r:embed="rId7"/>
                      <a:srcRect/>
                      <a:stretch>
                        <a:fillRect/>
                      </a:stretch>
                    </p:blipFill>
                    <p:spPr bwMode="auto">
                      <a:xfrm>
                        <a:off x="1692275" y="3622675"/>
                        <a:ext cx="4908550" cy="393700"/>
                      </a:xfrm>
                      <a:prstGeom prst="rect">
                        <a:avLst/>
                      </a:prstGeom>
                      <a:noFill/>
                      <a:ln>
                        <a:noFill/>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073477"/>
            <a:ext cx="3688428" cy="344128"/>
          </a:xfrm>
        </p:spPr>
        <p:txBody>
          <a:bodyPr wrap="square" lIns="0" tIns="18000" rIns="0" bIns="18000" anchor="ctr">
            <a:spAutoFit/>
          </a:bodyPr>
          <a:lstStyle/>
          <a:p>
            <a:pPr marL="0" indent="0">
              <a:spcBef>
                <a:spcPts val="600"/>
              </a:spcBef>
              <a:buNone/>
            </a:pPr>
            <a:r>
              <a:rPr lang="en-US" sz="2000" noProof="0" dirty="0"/>
              <a:t>After 9 </a:t>
            </a:r>
            <a:r>
              <a:rPr lang="en-US" sz="2000" noProof="0" dirty="0" err="1"/>
              <a:t>ms</a:t>
            </a:r>
            <a:r>
              <a:rPr lang="en-US" sz="2000" noProof="0" dirty="0"/>
              <a:t>, the output voltage is</a:t>
            </a:r>
          </a:p>
        </p:txBody>
      </p:sp>
      <p:graphicFrame>
        <p:nvGraphicFramePr>
          <p:cNvPr id="5" name="Object 4" descr="The figure illustrates the calculation of v subscript o.&#10;Long description is available in notes, press F6.">
            <a:extLst>
              <a:ext uri="{FF2B5EF4-FFF2-40B4-BE49-F238E27FC236}">
                <a16:creationId xmlns:a16="http://schemas.microsoft.com/office/drawing/2014/main" id="{7F0A159F-7D8C-0E4B-2596-B0D185CDBC09}"/>
              </a:ext>
            </a:extLst>
          </p:cNvPr>
          <p:cNvGraphicFramePr>
            <a:graphicFrameLocks noChangeAspect="1"/>
          </p:cNvGraphicFramePr>
          <p:nvPr>
            <p:extLst>
              <p:ext uri="{D42A27DB-BD31-4B8C-83A1-F6EECF244321}">
                <p14:modId xmlns:p14="http://schemas.microsoft.com/office/powerpoint/2010/main" val="2057270836"/>
              </p:ext>
            </p:extLst>
          </p:nvPr>
        </p:nvGraphicFramePr>
        <p:xfrm>
          <a:off x="1250950" y="4497388"/>
          <a:ext cx="6716713" cy="627062"/>
        </p:xfrm>
        <a:graphic>
          <a:graphicData uri="http://schemas.openxmlformats.org/presentationml/2006/ole">
            <mc:AlternateContent xmlns:mc="http://schemas.openxmlformats.org/markup-compatibility/2006">
              <mc:Choice xmlns:v="urn:schemas-microsoft-com:vml" Requires="v">
                <p:oleObj name="Equation" r:id="rId8" imgW="4775040" imgH="444240" progId="Equation.DSMT4">
                  <p:embed/>
                </p:oleObj>
              </mc:Choice>
              <mc:Fallback>
                <p:oleObj name="Equation" r:id="rId8" imgW="4775040" imgH="444240" progId="Equation.DSMT4">
                  <p:embed/>
                  <p:pic>
                    <p:nvPicPr>
                      <p:cNvPr id="10" name="Object 9"/>
                      <p:cNvPicPr>
                        <a:picLocks noChangeAspect="1" noChangeArrowheads="1"/>
                      </p:cNvPicPr>
                      <p:nvPr/>
                    </p:nvPicPr>
                    <p:blipFill>
                      <a:blip r:embed="rId9"/>
                      <a:srcRect/>
                      <a:stretch>
                        <a:fillRect/>
                      </a:stretch>
                    </p:blipFill>
                    <p:spPr bwMode="auto">
                      <a:xfrm>
                        <a:off x="1250950" y="4497388"/>
                        <a:ext cx="6716713" cy="627062"/>
                      </a:xfrm>
                      <a:prstGeom prst="rect">
                        <a:avLst/>
                      </a:prstGeom>
                      <a:noFill/>
                      <a:ln>
                        <a:noFill/>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8625" y="5207388"/>
            <a:ext cx="8220075" cy="651905"/>
          </a:xfrm>
        </p:spPr>
        <p:txBody>
          <a:bodyPr wrap="square" lIns="0" tIns="18000" rIns="0" bIns="18000" anchor="ctr">
            <a:spAutoFit/>
          </a:bodyPr>
          <a:lstStyle/>
          <a:p>
            <a:pPr marL="0" indent="0">
              <a:spcBef>
                <a:spcPts val="600"/>
              </a:spcBef>
              <a:buNone/>
            </a:pPr>
            <a:r>
              <a:rPr lang="en-US" sz="2000" noProof="0" dirty="0"/>
              <a:t>After 9 </a:t>
            </a:r>
            <a:r>
              <a:rPr lang="en-US" sz="2000" noProof="0" dirty="0" err="1"/>
              <a:t>ms</a:t>
            </a:r>
            <a:r>
              <a:rPr lang="en-US" sz="2000" noProof="0" dirty="0"/>
              <a:t>, the output voltage is decreasing from 4 V so saturates at </a:t>
            </a:r>
            <a:r>
              <a:rPr lang="en-US" sz="2000" noProof="0" dirty="0">
                <a:effectLst/>
                <a:latin typeface="Arial" panose="020B0604020202020204" pitchFamily="34" charset="0"/>
                <a:ea typeface="Calibri" panose="020F0502020204030204" pitchFamily="34" charset="0"/>
                <a:cs typeface="Arial" panose="020B0604020202020204" pitchFamily="34" charset="0"/>
              </a:rPr>
              <a:t>−</a:t>
            </a:r>
            <a:r>
              <a:rPr lang="en-US" sz="2000" noProof="0" dirty="0"/>
              <a:t>6 V:</a:t>
            </a:r>
          </a:p>
        </p:txBody>
      </p:sp>
      <p:graphicFrame>
        <p:nvGraphicFramePr>
          <p:cNvPr id="25" name="Object 24" descr="11.2 minus 800 t equals negative 6; Forward arrow t equals 21.5 milliseconds.&#10;">
            <a:extLst>
              <a:ext uri="{FF2B5EF4-FFF2-40B4-BE49-F238E27FC236}">
                <a16:creationId xmlns:a16="http://schemas.microsoft.com/office/drawing/2014/main" id="{E7F0CF31-BDB1-A51F-99AE-EEA4093635AF}"/>
              </a:ext>
            </a:extLst>
          </p:cNvPr>
          <p:cNvGraphicFramePr>
            <a:graphicFrameLocks noChangeAspect="1"/>
          </p:cNvGraphicFramePr>
          <p:nvPr>
            <p:extLst>
              <p:ext uri="{D42A27DB-BD31-4B8C-83A1-F6EECF244321}">
                <p14:modId xmlns:p14="http://schemas.microsoft.com/office/powerpoint/2010/main" val="1633759932"/>
              </p:ext>
            </p:extLst>
          </p:nvPr>
        </p:nvGraphicFramePr>
        <p:xfrm>
          <a:off x="2874327" y="5944223"/>
          <a:ext cx="3562035" cy="308316"/>
        </p:xfrm>
        <a:graphic>
          <a:graphicData uri="http://schemas.openxmlformats.org/presentationml/2006/ole">
            <mc:AlternateContent xmlns:mc="http://schemas.openxmlformats.org/markup-compatibility/2006">
              <mc:Choice xmlns:v="urn:schemas-microsoft-com:vml" Requires="v">
                <p:oleObj name="Equation" r:id="rId10" imgW="2489040" imgH="215640" progId="Equation.DSMT4">
                  <p:embed/>
                </p:oleObj>
              </mc:Choice>
              <mc:Fallback>
                <p:oleObj name="Equation" r:id="rId10" imgW="2489040" imgH="215640" progId="Equation.DSMT4">
                  <p:embed/>
                  <p:pic>
                    <p:nvPicPr>
                      <p:cNvPr id="11" name="Object 10"/>
                      <p:cNvPicPr>
                        <a:picLocks noChangeAspect="1" noChangeArrowheads="1"/>
                      </p:cNvPicPr>
                      <p:nvPr/>
                    </p:nvPicPr>
                    <p:blipFill>
                      <a:blip r:embed="rId11"/>
                      <a:srcRect/>
                      <a:stretch>
                        <a:fillRect/>
                      </a:stretch>
                    </p:blipFill>
                    <p:spPr bwMode="auto">
                      <a:xfrm>
                        <a:off x="2874327" y="5944223"/>
                        <a:ext cx="3562035" cy="308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53433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3.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523</TotalTime>
  <Words>719</Words>
  <Application>Microsoft Office PowerPoint</Application>
  <PresentationFormat>On-screen Show (4:3)</PresentationFormat>
  <Paragraphs>52</Paragraphs>
  <Slides>10</Slides>
  <Notes>4</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10</vt:i4>
      </vt:variant>
    </vt:vector>
  </HeadingPairs>
  <TitlesOfParts>
    <vt:vector size="17" baseType="lpstr">
      <vt:lpstr>Calibri</vt:lpstr>
      <vt:lpstr>Arial</vt:lpstr>
      <vt:lpstr>Verdana</vt:lpstr>
      <vt:lpstr>Times New Roman</vt:lpstr>
      <vt:lpstr>USHE</vt:lpstr>
      <vt:lpstr>USHE_slide options</vt:lpstr>
      <vt:lpstr>Equation</vt:lpstr>
      <vt:lpstr>Electric Circuits</vt:lpstr>
      <vt:lpstr>Chapter 7 – Integrating Amplifier (1 of 6)</vt:lpstr>
      <vt:lpstr>Chapter 7 – Integrating Amplifier (2 of 6)</vt:lpstr>
      <vt:lpstr>Chapter 7 – Integrating Amplifier (2 of 6)</vt:lpstr>
      <vt:lpstr>Chapter 7 – Integrating Amplifier (3 of 6)</vt:lpstr>
      <vt:lpstr>Chapter 7 – Integrating Amplifier (3 of 6)</vt:lpstr>
      <vt:lpstr>Chapter 7 – Integrating Amplifier (4 of 6)</vt:lpstr>
      <vt:lpstr>Chapter 7 – Integrating Amplifier (5 of 6)</vt:lpstr>
      <vt:lpstr>Chapter 7 – Integrating Amplifier (6 of 6)</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7 – Part 5</dc:title>
  <dc:subject>Engineering</dc:subject>
  <dc:creator>Nilsson and Riedel</dc:creator>
  <cp:keywords/>
  <dc:description/>
  <cp:lastModifiedBy>kml erd</cp:lastModifiedBy>
  <cp:revision>86</cp:revision>
  <dcterms:modified xsi:type="dcterms:W3CDTF">2025-12-22T11:06:39Z</dcterms:modified>
</cp:coreProperties>
</file>