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7"/>
  </p:notesMasterIdLst>
  <p:handoutMasterIdLst>
    <p:handoutMasterId r:id="rId38"/>
  </p:handoutMasterIdLst>
  <p:sldIdLst>
    <p:sldId id="330" r:id="rId3"/>
    <p:sldId id="718" r:id="rId4"/>
    <p:sldId id="719" r:id="rId5"/>
    <p:sldId id="720" r:id="rId6"/>
    <p:sldId id="741" r:id="rId7"/>
    <p:sldId id="721" r:id="rId8"/>
    <p:sldId id="742" r:id="rId9"/>
    <p:sldId id="722" r:id="rId10"/>
    <p:sldId id="743" r:id="rId11"/>
    <p:sldId id="723" r:id="rId12"/>
    <p:sldId id="724" r:id="rId13"/>
    <p:sldId id="725" r:id="rId14"/>
    <p:sldId id="726" r:id="rId15"/>
    <p:sldId id="744" r:id="rId16"/>
    <p:sldId id="727" r:id="rId17"/>
    <p:sldId id="745" r:id="rId18"/>
    <p:sldId id="728" r:id="rId19"/>
    <p:sldId id="729" r:id="rId20"/>
    <p:sldId id="730" r:id="rId21"/>
    <p:sldId id="746" r:id="rId22"/>
    <p:sldId id="731" r:id="rId23"/>
    <p:sldId id="732" r:id="rId24"/>
    <p:sldId id="733" r:id="rId25"/>
    <p:sldId id="747" r:id="rId26"/>
    <p:sldId id="734" r:id="rId27"/>
    <p:sldId id="748" r:id="rId28"/>
    <p:sldId id="735" r:id="rId29"/>
    <p:sldId id="736" r:id="rId30"/>
    <p:sldId id="749" r:id="rId31"/>
    <p:sldId id="737" r:id="rId32"/>
    <p:sldId id="738" r:id="rId33"/>
    <p:sldId id="739" r:id="rId34"/>
    <p:sldId id="740" r:id="rId35"/>
    <p:sldId id="717" r:id="rId36"/>
  </p:sldIdLst>
  <p:sldSz cx="9144000" cy="6858000" type="screen4x3"/>
  <p:notesSz cx="6858000" cy="9144000"/>
  <p:embeddedFontLs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60" userDrawn="1">
          <p15:clr>
            <a:srgbClr val="A4A3A4"/>
          </p15:clr>
        </p15:guide>
        <p15:guide id="8"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99" autoAdjust="0"/>
    <p:restoredTop sz="68421" autoAdjust="0"/>
  </p:normalViewPr>
  <p:slideViewPr>
    <p:cSldViewPr snapToGrid="0" snapToObjects="1">
      <p:cViewPr varScale="1">
        <p:scale>
          <a:sx n="107" d="100"/>
          <a:sy n="107" d="100"/>
        </p:scale>
        <p:origin x="1812" y="102"/>
      </p:cViewPr>
      <p:guideLst>
        <p:guide orient="horz" pos="427"/>
        <p:guide pos="264"/>
        <p:guide orient="horz" pos="1139"/>
        <p:guide pos="2880"/>
        <p:guide pos="5465"/>
        <p:guide orient="horz" pos="4042"/>
        <p:guide orient="horz" pos="2160"/>
        <p:guide orient="horz" pos="822"/>
      </p:guideLst>
    </p:cSldViewPr>
  </p:slideViewPr>
  <p:outlineViewPr>
    <p:cViewPr>
      <p:scale>
        <a:sx n="33" d="100"/>
        <a:sy n="33" d="100"/>
      </p:scale>
      <p:origin x="0" y="-1960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9419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(0) equals I subscript F baseline plus Open Parenthesis I subscript 0 baseline minus I subscript F Close Parenthesis e to the negative Open Parenthesis R divided by L Close Parenthesis (0) power equals I subscript F baseline plus I subscript 0 baseline minus I subscript F baseline equals I subscript 0.</a:t>
            </a:r>
            <a:r>
              <a:rPr lang="en-US" noProof="0" dirty="0"/>
              <a:t> </a:t>
            </a:r>
          </a:p>
          <a:p>
            <a:endParaRPr lang="en-US" noProof="0" dirty="0"/>
          </a:p>
          <a:p>
            <a:r>
              <a:rPr lang="en-US" noProof="0" dirty="0"/>
              <a:t>Long Description 2:</a:t>
            </a:r>
          </a:p>
          <a:p>
            <a:r>
              <a:rPr lang="en-US" sz="1200" b="0" i="0" u="none" strike="noStrike" kern="1200" cap="none" noProof="0" dirty="0">
                <a:solidFill>
                  <a:schemeClr val="dk1"/>
                </a:solidFill>
                <a:effectLst/>
                <a:latin typeface="Arial"/>
                <a:ea typeface="Arial"/>
                <a:cs typeface="Arial"/>
                <a:sym typeface="Arial"/>
              </a:rPr>
              <a:t>L open square bracket negative (R divided by L ) Open Parenthesis I subscript 0 baseline minus I subscript F Close Parenthesis e to the negative Open Parenthesis R divided by L Close Parenthesis t power close square bracket plus R open square bracket I subscript F baseline plus Open Parenthesis I subscript 0 baseline minus I subscript F baseline Close Parenthesis e to the negative Open Parenthesis R divided by L Close Parenthesis t power close square bracket equals R I subscript F baseline equals V subscript S.</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6517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sz="1200" b="0" i="0" u="none" strike="noStrike" kern="1200" cap="none" noProof="0" dirty="0">
                <a:solidFill>
                  <a:schemeClr val="dk1"/>
                </a:solidFill>
                <a:effectLst/>
                <a:latin typeface="Arial"/>
                <a:ea typeface="Arial"/>
                <a:cs typeface="Arial"/>
                <a:sym typeface="Arial"/>
              </a:rPr>
              <a:t>v (t) equals V subscript f baseline plus Open Parenthesis V subscript 0 baseline minus V subscript f baseline Close Parenthesis e to the negative t divided by tau power equals 90 plus open square bracket negative 30 minus 90 close square bracket e to the negative t divided by 0.2 power.</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35402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34</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7">
            <a:extLst>
              <a:ext uri="{FF2B5EF4-FFF2-40B4-BE49-F238E27FC236}">
                <a16:creationId xmlns:a16="http://schemas.microsoft.com/office/drawing/2014/main" id="{8ED74FB4-2E30-E6C1-70D5-18552BFD555A}"/>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hasCustomPrompt="1"/>
          </p:nvPr>
        </p:nvSpPr>
        <p:spPr>
          <a:xfrm>
            <a:off x="-1371600" y="154663"/>
            <a:ext cx="551783" cy="282573"/>
          </a:xfrm>
        </p:spPr>
        <p:txBody>
          <a:bodyPr wrap="square" lIns="0" tIns="18000" rIns="0" bIns="18000" anchor="ctr" anchorCtr="0">
            <a:spAutoFit/>
          </a:bodyPr>
          <a:lstStyle>
            <a:lvl1pPr>
              <a:defRPr/>
            </a:lvl1pPr>
          </a:lstStyle>
          <a:p>
            <a:pPr lvl="0"/>
            <a:r>
              <a:rPr lang="en-US" dirty="0"/>
              <a:t>1</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hasCustomPrompt="1"/>
          </p:nvPr>
        </p:nvSpPr>
        <p:spPr>
          <a:xfrm>
            <a:off x="-1533970" y="637654"/>
            <a:ext cx="508475" cy="282573"/>
          </a:xfrm>
        </p:spPr>
        <p:txBody>
          <a:bodyPr wrap="square" lIns="0" tIns="18000" rIns="0" bIns="18000" anchor="ctr" anchorCtr="0">
            <a:spAutoFit/>
          </a:bodyPr>
          <a:lstStyle>
            <a:lvl1pPr>
              <a:defRPr/>
            </a:lvl1pPr>
          </a:lstStyle>
          <a:p>
            <a:pPr lvl="0"/>
            <a:r>
              <a:rPr lang="en-US" dirty="0"/>
              <a:t>2</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hasCustomPrompt="1"/>
          </p:nvPr>
        </p:nvSpPr>
        <p:spPr>
          <a:xfrm>
            <a:off x="-1580973" y="1179370"/>
            <a:ext cx="602479" cy="282573"/>
          </a:xfrm>
        </p:spPr>
        <p:txBody>
          <a:bodyPr wrap="square" lIns="0" tIns="18000" rIns="0" bIns="18000" anchor="ctr" anchorCtr="0">
            <a:spAutoFit/>
          </a:bodyPr>
          <a:lstStyle>
            <a:lvl1pPr>
              <a:defRPr/>
            </a:lvl1pPr>
          </a:lstStyle>
          <a:p>
            <a:pPr lvl="0"/>
            <a:r>
              <a:rPr lang="en-US" dirty="0"/>
              <a:t>3</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hasCustomPrompt="1"/>
          </p:nvPr>
        </p:nvSpPr>
        <p:spPr>
          <a:xfrm>
            <a:off x="-1533970" y="1778794"/>
            <a:ext cx="568295" cy="282573"/>
          </a:xfrm>
        </p:spPr>
        <p:txBody>
          <a:bodyPr wrap="square" lIns="0" tIns="18000" rIns="0" bIns="18000" anchor="ctr" anchorCtr="0">
            <a:spAutoFit/>
          </a:bodyPr>
          <a:lstStyle>
            <a:lvl1pPr>
              <a:defRPr/>
            </a:lvl1pPr>
          </a:lstStyle>
          <a:p>
            <a:pPr lvl="0"/>
            <a:r>
              <a:rPr lang="en-US" dirty="0"/>
              <a:t>4</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hasCustomPrompt="1"/>
          </p:nvPr>
        </p:nvSpPr>
        <p:spPr>
          <a:xfrm>
            <a:off x="-1533970" y="2357364"/>
            <a:ext cx="602479" cy="282573"/>
          </a:xfrm>
        </p:spPr>
        <p:txBody>
          <a:bodyPr wrap="square" lIns="0" tIns="18000" rIns="0" bIns="18000" anchor="ctr" anchorCtr="0">
            <a:spAutoFit/>
          </a:bodyPr>
          <a:lstStyle>
            <a:lvl1pPr>
              <a:defRPr/>
            </a:lvl1pPr>
          </a:lstStyle>
          <a:p>
            <a:pPr lvl="0"/>
            <a:r>
              <a:rPr lang="en-US" dirty="0"/>
              <a:t>5</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hasCustomPrompt="1"/>
          </p:nvPr>
        </p:nvSpPr>
        <p:spPr>
          <a:xfrm>
            <a:off x="-1525425" y="2853922"/>
            <a:ext cx="559750" cy="282573"/>
          </a:xfrm>
        </p:spPr>
        <p:txBody>
          <a:bodyPr wrap="square" lIns="0" tIns="18000" rIns="0" bIns="18000" anchor="ctr" anchorCtr="0">
            <a:spAutoFit/>
          </a:bodyPr>
          <a:lstStyle>
            <a:lvl1pPr>
              <a:defRPr/>
            </a:lvl1pPr>
          </a:lstStyle>
          <a:p>
            <a:pPr lvl="0"/>
            <a:r>
              <a:rPr lang="en-US" dirty="0"/>
              <a:t>6</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hasCustomPrompt="1"/>
          </p:nvPr>
        </p:nvSpPr>
        <p:spPr>
          <a:xfrm>
            <a:off x="-1525425" y="3381361"/>
            <a:ext cx="653753" cy="282573"/>
          </a:xfrm>
        </p:spPr>
        <p:txBody>
          <a:bodyPr wrap="square" lIns="0" tIns="18000" rIns="0" bIns="18000" anchor="ctr" anchorCtr="0">
            <a:spAutoFit/>
          </a:bodyPr>
          <a:lstStyle>
            <a:lvl1pPr>
              <a:defRPr/>
            </a:lvl1pPr>
          </a:lstStyle>
          <a:p>
            <a:pPr lvl="0"/>
            <a:r>
              <a:rPr lang="en-US" dirty="0"/>
              <a:t>7</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hasCustomPrompt="1"/>
          </p:nvPr>
        </p:nvSpPr>
        <p:spPr>
          <a:xfrm>
            <a:off x="-1508334" y="3908800"/>
            <a:ext cx="457200" cy="282573"/>
          </a:xfrm>
        </p:spPr>
        <p:txBody>
          <a:bodyPr wrap="square" lIns="0" tIns="18000" rIns="0" bIns="18000" anchor="ctr" anchorCtr="0">
            <a:spAutoFit/>
          </a:bodyPr>
          <a:lstStyle>
            <a:lvl1pPr>
              <a:defRPr/>
            </a:lvl1pPr>
          </a:lstStyle>
          <a:p>
            <a:pPr lvl="0"/>
            <a:r>
              <a:rPr lang="en-US" dirty="0"/>
              <a:t>8</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hasCustomPrompt="1"/>
          </p:nvPr>
        </p:nvSpPr>
        <p:spPr>
          <a:xfrm>
            <a:off x="-1619428" y="4418778"/>
            <a:ext cx="653753" cy="282573"/>
          </a:xfrm>
        </p:spPr>
        <p:txBody>
          <a:bodyPr wrap="square" lIns="0" tIns="18000" rIns="0" bIns="18000" anchor="ctr" anchorCtr="0">
            <a:spAutoFit/>
          </a:bodyPr>
          <a:lstStyle>
            <a:lvl1pPr>
              <a:defRPr/>
            </a:lvl1pPr>
          </a:lstStyle>
          <a:p>
            <a:pPr lvl="0"/>
            <a:r>
              <a:rPr lang="en-US" dirty="0"/>
              <a:t>9</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hasCustomPrompt="1"/>
          </p:nvPr>
        </p:nvSpPr>
        <p:spPr>
          <a:xfrm>
            <a:off x="-1627974" y="5018202"/>
            <a:ext cx="602479" cy="282573"/>
          </a:xfrm>
        </p:spPr>
        <p:txBody>
          <a:bodyPr wrap="square" lIns="0" tIns="18000" rIns="0" bIns="18000" anchor="ctr" anchorCtr="0">
            <a:spAutoFit/>
          </a:bodyPr>
          <a:lstStyle>
            <a:lvl1pPr>
              <a:defRPr/>
            </a:lvl1pPr>
          </a:lstStyle>
          <a:p>
            <a:pPr lvl="0"/>
            <a:r>
              <a:rPr lang="en-US" dirty="0"/>
              <a:t>10</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hasCustomPrompt="1"/>
          </p:nvPr>
        </p:nvSpPr>
        <p:spPr>
          <a:xfrm>
            <a:off x="-1645852" y="5537343"/>
            <a:ext cx="667358" cy="282573"/>
          </a:xfrm>
        </p:spPr>
        <p:txBody>
          <a:bodyPr wrap="square" lIns="0" tIns="18000" rIns="0" bIns="18000" anchor="ctr" anchorCtr="0">
            <a:spAutoFit/>
          </a:bodyPr>
          <a:lstStyle>
            <a:lvl1pPr>
              <a:defRPr/>
            </a:lvl1pPr>
          </a:lstStyle>
          <a:p>
            <a:pPr lvl="0"/>
            <a:r>
              <a:rPr lang="en-US" dirty="0"/>
              <a:t>11</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hasCustomPrompt="1"/>
          </p:nvPr>
        </p:nvSpPr>
        <p:spPr>
          <a:xfrm>
            <a:off x="-1627974" y="6070414"/>
            <a:ext cx="539171" cy="282573"/>
          </a:xfrm>
        </p:spPr>
        <p:txBody>
          <a:bodyPr wrap="square" lIns="0" tIns="18000" rIns="0" bIns="18000" anchor="ctr" anchorCtr="0">
            <a:spAutoFit/>
          </a:bodyPr>
          <a:lstStyle>
            <a:lvl1pPr>
              <a:defRPr/>
            </a:lvl1pPr>
          </a:lstStyle>
          <a:p>
            <a:pPr lvl="0"/>
            <a:r>
              <a:rPr lang="en-US" dirty="0"/>
              <a:t>12</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hasCustomPrompt="1"/>
          </p:nvPr>
        </p:nvSpPr>
        <p:spPr>
          <a:xfrm>
            <a:off x="-1651475" y="6548784"/>
            <a:ext cx="559750" cy="282573"/>
          </a:xfrm>
        </p:spPr>
        <p:txBody>
          <a:bodyPr wrap="square" lIns="0" tIns="18000" rIns="0" bIns="18000" anchor="ctr" anchorCtr="0">
            <a:spAutoFit/>
          </a:bodyPr>
          <a:lstStyle>
            <a:lvl1pPr>
              <a:defRPr/>
            </a:lvl1pPr>
          </a:lstStyle>
          <a:p>
            <a:pPr lvl="0"/>
            <a:r>
              <a:rPr lang="en-US" dirty="0"/>
              <a:t>13</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hasCustomPrompt="1"/>
          </p:nvPr>
        </p:nvSpPr>
        <p:spPr>
          <a:xfrm>
            <a:off x="-871672" y="2040841"/>
            <a:ext cx="653753" cy="282573"/>
          </a:xfrm>
        </p:spPr>
        <p:txBody>
          <a:bodyPr wrap="square" lIns="0" tIns="18000" rIns="0" bIns="18000" anchor="ctr" anchorCtr="0">
            <a:spAutoFit/>
          </a:bodyPr>
          <a:lstStyle>
            <a:lvl1pPr>
              <a:defRPr/>
            </a:lvl1pPr>
          </a:lstStyle>
          <a:p>
            <a:pPr lvl="0"/>
            <a:r>
              <a:rPr lang="en-US" dirty="0"/>
              <a:t>14</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hasCustomPrompt="1"/>
          </p:nvPr>
        </p:nvSpPr>
        <p:spPr>
          <a:xfrm>
            <a:off x="-816330" y="2631994"/>
            <a:ext cx="556262" cy="282573"/>
          </a:xfrm>
        </p:spPr>
        <p:txBody>
          <a:bodyPr wrap="square" lIns="0" tIns="18000" rIns="0" bIns="18000" anchor="ctr" anchorCtr="0">
            <a:spAutoFit/>
          </a:bodyPr>
          <a:lstStyle>
            <a:lvl1pPr>
              <a:defRPr/>
            </a:lvl1pPr>
          </a:lstStyle>
          <a:p>
            <a:pPr lvl="0"/>
            <a:r>
              <a:rPr lang="en-US" dirty="0"/>
              <a:t>15</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hasCustomPrompt="1"/>
          </p:nvPr>
        </p:nvSpPr>
        <p:spPr>
          <a:xfrm>
            <a:off x="-865076" y="3802147"/>
            <a:ext cx="653753" cy="282573"/>
          </a:xfrm>
        </p:spPr>
        <p:txBody>
          <a:bodyPr wrap="square" lIns="0" tIns="18000" rIns="0" bIns="18000" anchor="ctr" anchorCtr="0">
            <a:spAutoFit/>
          </a:bodyPr>
          <a:lstStyle>
            <a:lvl1pPr>
              <a:defRPr/>
            </a:lvl1pPr>
          </a:lstStyle>
          <a:p>
            <a:pPr lvl="0"/>
            <a:r>
              <a:rPr lang="en-US" dirty="0"/>
              <a:t>16</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hasCustomPrompt="1"/>
          </p:nvPr>
        </p:nvSpPr>
        <p:spPr>
          <a:xfrm>
            <a:off x="-813802" y="4559732"/>
            <a:ext cx="602479" cy="282573"/>
          </a:xfrm>
        </p:spPr>
        <p:txBody>
          <a:bodyPr wrap="square" lIns="0" tIns="18000" rIns="0" bIns="18000" anchor="ctr" anchorCtr="0">
            <a:spAutoFit/>
          </a:bodyPr>
          <a:lstStyle>
            <a:lvl1pPr>
              <a:defRPr/>
            </a:lvl1pPr>
          </a:lstStyle>
          <a:p>
            <a:pPr lvl="0"/>
            <a:r>
              <a:rPr lang="en-US" dirty="0"/>
              <a:t>17</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hasCustomPrompt="1"/>
          </p:nvPr>
        </p:nvSpPr>
        <p:spPr>
          <a:xfrm>
            <a:off x="-846242" y="5320217"/>
            <a:ext cx="667358" cy="282573"/>
          </a:xfrm>
        </p:spPr>
        <p:txBody>
          <a:bodyPr wrap="square" lIns="0" tIns="18000" rIns="0" bIns="18000" anchor="ctr" anchorCtr="0">
            <a:spAutoFit/>
          </a:bodyPr>
          <a:lstStyle>
            <a:lvl1pPr>
              <a:defRPr/>
            </a:lvl1pPr>
          </a:lstStyle>
          <a:p>
            <a:pPr lvl="0"/>
            <a:r>
              <a:rPr lang="en-US" dirty="0"/>
              <a:t>18</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12/16/2025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3348267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F48BABE-32F2-41CF-B06A-17C26C4ECD27}"/>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C838A386-0074-44FE-AD57-11F728F3DCA4}"/>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2.bin"/><Relationship Id="rId5" Type="http://schemas.openxmlformats.org/officeDocument/2006/relationships/image" Target="../media/image4.jpg"/><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6.jpg"/><Relationship Id="rId1" Type="http://schemas.openxmlformats.org/officeDocument/2006/relationships/slideLayout" Target="../slideLayouts/slideLayout8.xml"/><Relationship Id="rId6" Type="http://schemas.openxmlformats.org/officeDocument/2006/relationships/image" Target="../media/image8.wmf"/><Relationship Id="rId5" Type="http://schemas.openxmlformats.org/officeDocument/2006/relationships/oleObject" Target="../embeddings/oleObject4.bin"/><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0.bin"/><Relationship Id="rId3" Type="http://schemas.openxmlformats.org/officeDocument/2006/relationships/image" Target="../media/image3.wmf"/><Relationship Id="rId7" Type="http://schemas.openxmlformats.org/officeDocument/2006/relationships/oleObject" Target="../embeddings/oleObject7.bin"/><Relationship Id="rId12"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8.xml"/><Relationship Id="rId6" Type="http://schemas.openxmlformats.org/officeDocument/2006/relationships/image" Target="../media/image11.jpg"/><Relationship Id="rId11" Type="http://schemas.openxmlformats.org/officeDocument/2006/relationships/oleObject" Target="../embeddings/oleObject9.bin"/><Relationship Id="rId5" Type="http://schemas.openxmlformats.org/officeDocument/2006/relationships/image" Target="../media/image10.wmf"/><Relationship Id="rId10" Type="http://schemas.openxmlformats.org/officeDocument/2006/relationships/image" Target="../media/image13.wmf"/><Relationship Id="rId4" Type="http://schemas.openxmlformats.org/officeDocument/2006/relationships/oleObject" Target="../embeddings/oleObject6.bin"/><Relationship Id="rId9" Type="http://schemas.openxmlformats.org/officeDocument/2006/relationships/oleObject" Target="../embeddings/oleObject8.bin"/><Relationship Id="rId14" Type="http://schemas.openxmlformats.org/officeDocument/2006/relationships/image" Target="../media/image15.wmf"/></Relationships>
</file>

<file path=ppt/slides/_rels/slide5.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image" Target="../media/image13.wmf"/><Relationship Id="rId18" Type="http://schemas.openxmlformats.org/officeDocument/2006/relationships/oleObject" Target="../embeddings/oleObject10.bin"/><Relationship Id="rId3" Type="http://schemas.openxmlformats.org/officeDocument/2006/relationships/tags" Target="../tags/tag3.xml"/><Relationship Id="rId7" Type="http://schemas.openxmlformats.org/officeDocument/2006/relationships/oleObject" Target="../embeddings/oleObject6.bin"/><Relationship Id="rId12" Type="http://schemas.openxmlformats.org/officeDocument/2006/relationships/oleObject" Target="../embeddings/oleObject8.bin"/><Relationship Id="rId17" Type="http://schemas.openxmlformats.org/officeDocument/2006/relationships/image" Target="../media/image14.wmf"/><Relationship Id="rId2" Type="http://schemas.openxmlformats.org/officeDocument/2006/relationships/tags" Target="../tags/tag2.xml"/><Relationship Id="rId16" Type="http://schemas.openxmlformats.org/officeDocument/2006/relationships/oleObject" Target="../embeddings/oleObject9.bin"/><Relationship Id="rId1" Type="http://schemas.openxmlformats.org/officeDocument/2006/relationships/tags" Target="../tags/tag1.xml"/><Relationship Id="rId6" Type="http://schemas.openxmlformats.org/officeDocument/2006/relationships/image" Target="../media/image3.wmf"/><Relationship Id="rId11" Type="http://schemas.openxmlformats.org/officeDocument/2006/relationships/image" Target="../media/image12.wmf"/><Relationship Id="rId5" Type="http://schemas.openxmlformats.org/officeDocument/2006/relationships/oleObject" Target="../embeddings/oleObject1.bin"/><Relationship Id="rId15" Type="http://schemas.openxmlformats.org/officeDocument/2006/relationships/image" Target="../media/image17.png"/><Relationship Id="rId10" Type="http://schemas.openxmlformats.org/officeDocument/2006/relationships/oleObject" Target="../embeddings/oleObject7.bin"/><Relationship Id="rId19" Type="http://schemas.openxmlformats.org/officeDocument/2006/relationships/image" Target="../media/image15.wmf"/><Relationship Id="rId4" Type="http://schemas.openxmlformats.org/officeDocument/2006/relationships/slideLayout" Target="../slideLayouts/slideLayout8.xml"/><Relationship Id="rId9" Type="http://schemas.openxmlformats.org/officeDocument/2006/relationships/image" Target="../media/image11.jp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1.bin"/><Relationship Id="rId1" Type="http://schemas.openxmlformats.org/officeDocument/2006/relationships/slideLayout" Target="../slideLayouts/slideLayout8.xml"/><Relationship Id="rId6" Type="http://schemas.openxmlformats.org/officeDocument/2006/relationships/image" Target="../media/image20.jpg"/><Relationship Id="rId5" Type="http://schemas.openxmlformats.org/officeDocument/2006/relationships/image" Target="../media/image19.w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tags" Target="../tags/tag6.xml"/><Relationship Id="rId7" Type="http://schemas.openxmlformats.org/officeDocument/2006/relationships/oleObject" Target="../embeddings/oleObject12.bin"/><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8.wmf"/><Relationship Id="rId11" Type="http://schemas.openxmlformats.org/officeDocument/2006/relationships/image" Target="../media/image16.png"/><Relationship Id="rId5" Type="http://schemas.openxmlformats.org/officeDocument/2006/relationships/oleObject" Target="../embeddings/oleObject11.bin"/><Relationship Id="rId10" Type="http://schemas.openxmlformats.org/officeDocument/2006/relationships/image" Target="../media/image17.png"/><Relationship Id="rId4" Type="http://schemas.openxmlformats.org/officeDocument/2006/relationships/slideLayout" Target="../slideLayouts/slideLayout8.xml"/><Relationship Id="rId9" Type="http://schemas.openxmlformats.org/officeDocument/2006/relationships/image" Target="../media/image20.jpg"/></Relationships>
</file>

<file path=ppt/slides/_rels/slide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22.wmf"/><Relationship Id="rId5" Type="http://schemas.openxmlformats.org/officeDocument/2006/relationships/oleObject" Target="../embeddings/oleObject13.bin"/><Relationship Id="rId4" Type="http://schemas.openxmlformats.org/officeDocument/2006/relationships/image" Target="../media/image21.jp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9.xml"/><Relationship Id="rId7" Type="http://schemas.openxmlformats.org/officeDocument/2006/relationships/image" Target="../media/image21.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9.wmf"/><Relationship Id="rId11" Type="http://schemas.openxmlformats.org/officeDocument/2006/relationships/image" Target="../media/image22.wmf"/><Relationship Id="rId5" Type="http://schemas.openxmlformats.org/officeDocument/2006/relationships/oleObject" Target="../embeddings/oleObject12.bin"/><Relationship Id="rId10" Type="http://schemas.openxmlformats.org/officeDocument/2006/relationships/oleObject" Target="../embeddings/oleObject13.bin"/><Relationship Id="rId4" Type="http://schemas.openxmlformats.org/officeDocument/2006/relationships/slideLayout" Target="../slideLayouts/slideLayout8.xml"/><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19.bin"/><Relationship Id="rId18" Type="http://schemas.openxmlformats.org/officeDocument/2006/relationships/image" Target="../media/image31.wmf"/><Relationship Id="rId3" Type="http://schemas.openxmlformats.org/officeDocument/2006/relationships/oleObject" Target="../embeddings/oleObject14.bin"/><Relationship Id="rId21" Type="http://schemas.openxmlformats.org/officeDocument/2006/relationships/oleObject" Target="../embeddings/oleObject23.bin"/><Relationship Id="rId7" Type="http://schemas.openxmlformats.org/officeDocument/2006/relationships/oleObject" Target="../embeddings/oleObject16.bin"/><Relationship Id="rId12" Type="http://schemas.openxmlformats.org/officeDocument/2006/relationships/image" Target="../media/image28.wmf"/><Relationship Id="rId17" Type="http://schemas.openxmlformats.org/officeDocument/2006/relationships/oleObject" Target="../embeddings/oleObject21.bin"/><Relationship Id="rId2" Type="http://schemas.openxmlformats.org/officeDocument/2006/relationships/image" Target="../media/image23.jpg"/><Relationship Id="rId16" Type="http://schemas.openxmlformats.org/officeDocument/2006/relationships/image" Target="../media/image30.wmf"/><Relationship Id="rId20" Type="http://schemas.openxmlformats.org/officeDocument/2006/relationships/image" Target="../media/image32.wmf"/><Relationship Id="rId1" Type="http://schemas.openxmlformats.org/officeDocument/2006/relationships/slideLayout" Target="../slideLayouts/slideLayout8.xml"/><Relationship Id="rId6" Type="http://schemas.openxmlformats.org/officeDocument/2006/relationships/image" Target="../media/image25.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27.wmf"/><Relationship Id="rId19" Type="http://schemas.openxmlformats.org/officeDocument/2006/relationships/oleObject" Target="../embeddings/oleObject22.bin"/><Relationship Id="rId4" Type="http://schemas.openxmlformats.org/officeDocument/2006/relationships/image" Target="../media/image24.wmf"/><Relationship Id="rId9" Type="http://schemas.openxmlformats.org/officeDocument/2006/relationships/oleObject" Target="../embeddings/oleObject17.bin"/><Relationship Id="rId14" Type="http://schemas.openxmlformats.org/officeDocument/2006/relationships/image" Target="../media/image29.wmf"/><Relationship Id="rId22" Type="http://schemas.openxmlformats.org/officeDocument/2006/relationships/image" Target="../media/image3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9.wmf"/><Relationship Id="rId3" Type="http://schemas.openxmlformats.org/officeDocument/2006/relationships/image" Target="../media/image34.jpg"/><Relationship Id="rId7" Type="http://schemas.openxmlformats.org/officeDocument/2006/relationships/image" Target="../media/image36.wmf"/><Relationship Id="rId12" Type="http://schemas.openxmlformats.org/officeDocument/2006/relationships/oleObject" Target="../embeddings/oleObject28.bin"/><Relationship Id="rId17" Type="http://schemas.openxmlformats.org/officeDocument/2006/relationships/image" Target="../media/image41.wmf"/><Relationship Id="rId2" Type="http://schemas.openxmlformats.org/officeDocument/2006/relationships/notesSlide" Target="../notesSlides/notesSlide3.xml"/><Relationship Id="rId16" Type="http://schemas.openxmlformats.org/officeDocument/2006/relationships/oleObject" Target="../embeddings/oleObject30.bin"/><Relationship Id="rId1" Type="http://schemas.openxmlformats.org/officeDocument/2006/relationships/slideLayout" Target="../slideLayouts/slideLayout8.xml"/><Relationship Id="rId6" Type="http://schemas.openxmlformats.org/officeDocument/2006/relationships/oleObject" Target="../embeddings/oleObject25.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37.wmf"/><Relationship Id="rId14" Type="http://schemas.openxmlformats.org/officeDocument/2006/relationships/oleObject" Target="../embeddings/oleObject29.bin"/></Relationships>
</file>

<file path=ppt/slides/_rels/slide12.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47.wmf"/><Relationship Id="rId2" Type="http://schemas.openxmlformats.org/officeDocument/2006/relationships/image" Target="../media/image42.jpg"/><Relationship Id="rId1" Type="http://schemas.openxmlformats.org/officeDocument/2006/relationships/slideLayout" Target="../slideLayouts/slideLayout8.xml"/><Relationship Id="rId6" Type="http://schemas.openxmlformats.org/officeDocument/2006/relationships/image" Target="../media/image44.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34.bin"/><Relationship Id="rId14" Type="http://schemas.openxmlformats.org/officeDocument/2006/relationships/image" Target="../media/image48.wmf"/></Relationships>
</file>

<file path=ppt/slides/_rels/slide13.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7.bin"/><Relationship Id="rId1" Type="http://schemas.openxmlformats.org/officeDocument/2006/relationships/slideLayout" Target="../slideLayouts/slideLayout8.xml"/><Relationship Id="rId4" Type="http://schemas.openxmlformats.org/officeDocument/2006/relationships/image" Target="../media/image50.jp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12.xml"/><Relationship Id="rId7" Type="http://schemas.openxmlformats.org/officeDocument/2006/relationships/image" Target="../media/image50.jp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9.wmf"/><Relationship Id="rId5" Type="http://schemas.openxmlformats.org/officeDocument/2006/relationships/oleObject" Target="../embeddings/oleObject37.bin"/><Relationship Id="rId4" Type="http://schemas.openxmlformats.org/officeDocument/2006/relationships/slideLayout" Target="../slideLayouts/slideLayout8.xml"/><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37.bin"/><Relationship Id="rId1" Type="http://schemas.openxmlformats.org/officeDocument/2006/relationships/slideLayout" Target="../slideLayouts/slideLayout8.xml"/><Relationship Id="rId6" Type="http://schemas.openxmlformats.org/officeDocument/2006/relationships/image" Target="../media/image52.wmf"/><Relationship Id="rId5" Type="http://schemas.openxmlformats.org/officeDocument/2006/relationships/oleObject" Target="../embeddings/oleObject38.bin"/><Relationship Id="rId4" Type="http://schemas.openxmlformats.org/officeDocument/2006/relationships/image" Target="../media/image51.jpg"/></Relationships>
</file>

<file path=ppt/slides/_rels/slide1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15.xml"/><Relationship Id="rId7" Type="http://schemas.openxmlformats.org/officeDocument/2006/relationships/image" Target="../media/image51.jp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49.wmf"/><Relationship Id="rId11" Type="http://schemas.openxmlformats.org/officeDocument/2006/relationships/image" Target="../media/image52.wmf"/><Relationship Id="rId5" Type="http://schemas.openxmlformats.org/officeDocument/2006/relationships/oleObject" Target="../embeddings/oleObject37.bin"/><Relationship Id="rId10" Type="http://schemas.openxmlformats.org/officeDocument/2006/relationships/oleObject" Target="../embeddings/oleObject38.bin"/><Relationship Id="rId4" Type="http://schemas.openxmlformats.org/officeDocument/2006/relationships/slideLayout" Target="../slideLayouts/slideLayout8.xml"/><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58.wmf"/><Relationship Id="rId18" Type="http://schemas.openxmlformats.org/officeDocument/2006/relationships/oleObject" Target="../embeddings/oleObject47.bin"/><Relationship Id="rId3" Type="http://schemas.openxmlformats.org/officeDocument/2006/relationships/image" Target="../media/image53.wmf"/><Relationship Id="rId7" Type="http://schemas.openxmlformats.org/officeDocument/2006/relationships/image" Target="../media/image55.wmf"/><Relationship Id="rId12" Type="http://schemas.openxmlformats.org/officeDocument/2006/relationships/oleObject" Target="../embeddings/oleObject44.bin"/><Relationship Id="rId17" Type="http://schemas.openxmlformats.org/officeDocument/2006/relationships/image" Target="../media/image60.wmf"/><Relationship Id="rId2" Type="http://schemas.openxmlformats.org/officeDocument/2006/relationships/oleObject" Target="../embeddings/oleObject39.bin"/><Relationship Id="rId16" Type="http://schemas.openxmlformats.org/officeDocument/2006/relationships/oleObject" Target="../embeddings/oleObject46.bin"/><Relationship Id="rId1" Type="http://schemas.openxmlformats.org/officeDocument/2006/relationships/slideLayout" Target="../slideLayouts/slideLayout8.xml"/><Relationship Id="rId6" Type="http://schemas.openxmlformats.org/officeDocument/2006/relationships/oleObject" Target="../embeddings/oleObject41.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59.wmf"/><Relationship Id="rId10" Type="http://schemas.openxmlformats.org/officeDocument/2006/relationships/oleObject" Target="../embeddings/oleObject43.bin"/><Relationship Id="rId19" Type="http://schemas.openxmlformats.org/officeDocument/2006/relationships/image" Target="../media/image61.wmf"/><Relationship Id="rId4" Type="http://schemas.openxmlformats.org/officeDocument/2006/relationships/oleObject" Target="../embeddings/oleObject40.bin"/><Relationship Id="rId9" Type="http://schemas.openxmlformats.org/officeDocument/2006/relationships/image" Target="../media/image56.wmf"/><Relationship Id="rId14" Type="http://schemas.openxmlformats.org/officeDocument/2006/relationships/oleObject" Target="../embeddings/oleObject45.bin"/></Relationships>
</file>

<file path=ppt/slides/_rels/slide18.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image" Target="../media/image67.wmf"/><Relationship Id="rId3" Type="http://schemas.openxmlformats.org/officeDocument/2006/relationships/image" Target="../media/image58.wmf"/><Relationship Id="rId7" Type="http://schemas.openxmlformats.org/officeDocument/2006/relationships/oleObject" Target="../embeddings/oleObject49.bin"/><Relationship Id="rId12" Type="http://schemas.openxmlformats.org/officeDocument/2006/relationships/oleObject" Target="../embeddings/oleObject51.bin"/><Relationship Id="rId2" Type="http://schemas.openxmlformats.org/officeDocument/2006/relationships/oleObject" Target="../embeddings/oleObject44.bin"/><Relationship Id="rId1" Type="http://schemas.openxmlformats.org/officeDocument/2006/relationships/slideLayout" Target="../slideLayouts/slideLayout8.xml"/><Relationship Id="rId6" Type="http://schemas.openxmlformats.org/officeDocument/2006/relationships/image" Target="../media/image63.wmf"/><Relationship Id="rId11" Type="http://schemas.openxmlformats.org/officeDocument/2006/relationships/image" Target="../media/image66.jpg"/><Relationship Id="rId5" Type="http://schemas.openxmlformats.org/officeDocument/2006/relationships/oleObject" Target="../embeddings/oleObject48.bin"/><Relationship Id="rId10" Type="http://schemas.openxmlformats.org/officeDocument/2006/relationships/image" Target="../media/image65.wmf"/><Relationship Id="rId4" Type="http://schemas.openxmlformats.org/officeDocument/2006/relationships/image" Target="../media/image62.jpg"/><Relationship Id="rId9" Type="http://schemas.openxmlformats.org/officeDocument/2006/relationships/oleObject" Target="../embeddings/oleObject50.bin"/></Relationships>
</file>

<file path=ppt/slides/_rels/slide19.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image" Target="../media/image68.wmf"/><Relationship Id="rId7" Type="http://schemas.openxmlformats.org/officeDocument/2006/relationships/oleObject" Target="../embeddings/oleObject53.bin"/><Relationship Id="rId12" Type="http://schemas.openxmlformats.org/officeDocument/2006/relationships/image" Target="../media/image72.wmf"/><Relationship Id="rId2" Type="http://schemas.openxmlformats.org/officeDocument/2006/relationships/oleObject" Target="../embeddings/oleObject52.bin"/><Relationship Id="rId1" Type="http://schemas.openxmlformats.org/officeDocument/2006/relationships/slideLayout" Target="../slideLayouts/slideLayout8.xml"/><Relationship Id="rId6" Type="http://schemas.openxmlformats.org/officeDocument/2006/relationships/image" Target="../media/image69.jpg"/><Relationship Id="rId11" Type="http://schemas.openxmlformats.org/officeDocument/2006/relationships/oleObject" Target="../embeddings/oleObject55.bin"/><Relationship Id="rId5" Type="http://schemas.openxmlformats.org/officeDocument/2006/relationships/image" Target="../media/image58.wmf"/><Relationship Id="rId10" Type="http://schemas.openxmlformats.org/officeDocument/2006/relationships/image" Target="../media/image71.wmf"/><Relationship Id="rId4" Type="http://schemas.openxmlformats.org/officeDocument/2006/relationships/oleObject" Target="../embeddings/oleObject44.bin"/><Relationship Id="rId9" Type="http://schemas.openxmlformats.org/officeDocument/2006/relationships/oleObject" Target="../embeddings/oleObject54.bin"/></Relationships>
</file>

<file path=ppt/slides/_rels/slide20.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image" Target="../media/image17.png"/><Relationship Id="rId3" Type="http://schemas.openxmlformats.org/officeDocument/2006/relationships/tags" Target="../tags/tag18.xml"/><Relationship Id="rId7" Type="http://schemas.openxmlformats.org/officeDocument/2006/relationships/oleObject" Target="../embeddings/oleObject44.bin"/><Relationship Id="rId12" Type="http://schemas.openxmlformats.org/officeDocument/2006/relationships/image" Target="../media/image70.wmf"/><Relationship Id="rId17" Type="http://schemas.openxmlformats.org/officeDocument/2006/relationships/image" Target="../media/image72.wmf"/><Relationship Id="rId2" Type="http://schemas.openxmlformats.org/officeDocument/2006/relationships/tags" Target="../tags/tag17.xml"/><Relationship Id="rId16" Type="http://schemas.openxmlformats.org/officeDocument/2006/relationships/oleObject" Target="../embeddings/oleObject55.bin"/><Relationship Id="rId1" Type="http://schemas.openxmlformats.org/officeDocument/2006/relationships/tags" Target="../tags/tag16.xml"/><Relationship Id="rId6" Type="http://schemas.openxmlformats.org/officeDocument/2006/relationships/image" Target="../media/image68.wmf"/><Relationship Id="rId11" Type="http://schemas.openxmlformats.org/officeDocument/2006/relationships/oleObject" Target="../embeddings/oleObject53.bin"/><Relationship Id="rId5" Type="http://schemas.openxmlformats.org/officeDocument/2006/relationships/oleObject" Target="../embeddings/oleObject52.bin"/><Relationship Id="rId15" Type="http://schemas.openxmlformats.org/officeDocument/2006/relationships/image" Target="../media/image71.wmf"/><Relationship Id="rId10" Type="http://schemas.openxmlformats.org/officeDocument/2006/relationships/image" Target="../media/image16.png"/><Relationship Id="rId4" Type="http://schemas.openxmlformats.org/officeDocument/2006/relationships/slideLayout" Target="../slideLayouts/slideLayout8.xml"/><Relationship Id="rId9" Type="http://schemas.openxmlformats.org/officeDocument/2006/relationships/image" Target="../media/image69.jpg"/><Relationship Id="rId14" Type="http://schemas.openxmlformats.org/officeDocument/2006/relationships/oleObject" Target="../embeddings/oleObject54.bin"/></Relationships>
</file>

<file path=ppt/slides/_rels/slide21.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image" Target="../media/image79.jpg"/><Relationship Id="rId3" Type="http://schemas.openxmlformats.org/officeDocument/2006/relationships/image" Target="../media/image73.wmf"/><Relationship Id="rId7" Type="http://schemas.openxmlformats.org/officeDocument/2006/relationships/oleObject" Target="../embeddings/oleObject58.bin"/><Relationship Id="rId12" Type="http://schemas.openxmlformats.org/officeDocument/2006/relationships/image" Target="../media/image78.wmf"/><Relationship Id="rId2" Type="http://schemas.openxmlformats.org/officeDocument/2006/relationships/oleObject" Target="../embeddings/oleObject56.bin"/><Relationship Id="rId1" Type="http://schemas.openxmlformats.org/officeDocument/2006/relationships/slideLayout" Target="../slideLayouts/slideLayout8.xml"/><Relationship Id="rId6" Type="http://schemas.openxmlformats.org/officeDocument/2006/relationships/image" Target="../media/image75.w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image" Target="../media/image80.wmf"/><Relationship Id="rId10" Type="http://schemas.openxmlformats.org/officeDocument/2006/relationships/image" Target="../media/image77.wmf"/><Relationship Id="rId4" Type="http://schemas.openxmlformats.org/officeDocument/2006/relationships/image" Target="../media/image74.jpg"/><Relationship Id="rId9" Type="http://schemas.openxmlformats.org/officeDocument/2006/relationships/oleObject" Target="../embeddings/oleObject59.bin"/><Relationship Id="rId14" Type="http://schemas.openxmlformats.org/officeDocument/2006/relationships/oleObject" Target="../embeddings/oleObject61.bin"/></Relationships>
</file>

<file path=ppt/slides/_rels/slide22.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66.bin"/><Relationship Id="rId3" Type="http://schemas.openxmlformats.org/officeDocument/2006/relationships/image" Target="../media/image73.wmf"/><Relationship Id="rId7" Type="http://schemas.openxmlformats.org/officeDocument/2006/relationships/oleObject" Target="../embeddings/oleObject63.bin"/><Relationship Id="rId12" Type="http://schemas.openxmlformats.org/officeDocument/2006/relationships/image" Target="../media/image85.wmf"/><Relationship Id="rId2" Type="http://schemas.openxmlformats.org/officeDocument/2006/relationships/oleObject" Target="../embeddings/oleObject56.bin"/><Relationship Id="rId1" Type="http://schemas.openxmlformats.org/officeDocument/2006/relationships/slideLayout" Target="../slideLayouts/slideLayout8.xml"/><Relationship Id="rId6" Type="http://schemas.openxmlformats.org/officeDocument/2006/relationships/image" Target="../media/image82.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84.wmf"/><Relationship Id="rId4" Type="http://schemas.openxmlformats.org/officeDocument/2006/relationships/image" Target="../media/image81.jpg"/><Relationship Id="rId9" Type="http://schemas.openxmlformats.org/officeDocument/2006/relationships/oleObject" Target="../embeddings/oleObject64.bin"/><Relationship Id="rId14" Type="http://schemas.openxmlformats.org/officeDocument/2006/relationships/image" Target="../media/image86.wmf"/></Relationships>
</file>

<file path=ppt/slides/_rels/slide23.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image" Target="../media/image87.wmf"/><Relationship Id="rId7" Type="http://schemas.openxmlformats.org/officeDocument/2006/relationships/oleObject" Target="../embeddings/oleObject69.bin"/><Relationship Id="rId12" Type="http://schemas.openxmlformats.org/officeDocument/2006/relationships/image" Target="../media/image92.wmf"/><Relationship Id="rId2" Type="http://schemas.openxmlformats.org/officeDocument/2006/relationships/oleObject" Target="../embeddings/oleObject67.bin"/><Relationship Id="rId1" Type="http://schemas.openxmlformats.org/officeDocument/2006/relationships/slideLayout" Target="../slideLayouts/slideLayout8.xml"/><Relationship Id="rId6" Type="http://schemas.openxmlformats.org/officeDocument/2006/relationships/image" Target="../media/image89.wmf"/><Relationship Id="rId11" Type="http://schemas.openxmlformats.org/officeDocument/2006/relationships/oleObject" Target="../embeddings/oleObject71.bin"/><Relationship Id="rId5" Type="http://schemas.openxmlformats.org/officeDocument/2006/relationships/oleObject" Target="../embeddings/oleObject68.bin"/><Relationship Id="rId10" Type="http://schemas.openxmlformats.org/officeDocument/2006/relationships/image" Target="../media/image91.wmf"/><Relationship Id="rId4" Type="http://schemas.openxmlformats.org/officeDocument/2006/relationships/image" Target="../media/image88.jpg"/><Relationship Id="rId9" Type="http://schemas.openxmlformats.org/officeDocument/2006/relationships/oleObject" Target="../embeddings/oleObject7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oleObject" Target="../embeddings/oleObject70.bin"/><Relationship Id="rId3" Type="http://schemas.openxmlformats.org/officeDocument/2006/relationships/tags" Target="../tags/tag21.xml"/><Relationship Id="rId7" Type="http://schemas.openxmlformats.org/officeDocument/2006/relationships/image" Target="../media/image88.jpg"/><Relationship Id="rId12" Type="http://schemas.openxmlformats.org/officeDocument/2006/relationships/image" Target="../media/image90.wmf"/><Relationship Id="rId17" Type="http://schemas.openxmlformats.org/officeDocument/2006/relationships/image" Target="../media/image92.wmf"/><Relationship Id="rId2" Type="http://schemas.openxmlformats.org/officeDocument/2006/relationships/tags" Target="../tags/tag20.xml"/><Relationship Id="rId16" Type="http://schemas.openxmlformats.org/officeDocument/2006/relationships/oleObject" Target="../embeddings/oleObject71.bin"/><Relationship Id="rId1" Type="http://schemas.openxmlformats.org/officeDocument/2006/relationships/tags" Target="../tags/tag19.xml"/><Relationship Id="rId6" Type="http://schemas.openxmlformats.org/officeDocument/2006/relationships/image" Target="../media/image87.wmf"/><Relationship Id="rId11" Type="http://schemas.openxmlformats.org/officeDocument/2006/relationships/oleObject" Target="../embeddings/oleObject69.bin"/><Relationship Id="rId5" Type="http://schemas.openxmlformats.org/officeDocument/2006/relationships/oleObject" Target="../embeddings/oleObject67.bin"/><Relationship Id="rId15" Type="http://schemas.openxmlformats.org/officeDocument/2006/relationships/image" Target="../media/image16.png"/><Relationship Id="rId10" Type="http://schemas.openxmlformats.org/officeDocument/2006/relationships/image" Target="../media/image17.png"/><Relationship Id="rId4" Type="http://schemas.openxmlformats.org/officeDocument/2006/relationships/slideLayout" Target="../slideLayouts/slideLayout8.xml"/><Relationship Id="rId9" Type="http://schemas.openxmlformats.org/officeDocument/2006/relationships/image" Target="../media/image89.wmf"/><Relationship Id="rId14" Type="http://schemas.openxmlformats.org/officeDocument/2006/relationships/image" Target="../media/image91.wmf"/></Relationships>
</file>

<file path=ppt/slides/_rels/slide25.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image" Target="../media/image93.wmf"/><Relationship Id="rId7" Type="http://schemas.openxmlformats.org/officeDocument/2006/relationships/oleObject" Target="../embeddings/oleObject74.bin"/><Relationship Id="rId12" Type="http://schemas.openxmlformats.org/officeDocument/2006/relationships/image" Target="../media/image98.wmf"/><Relationship Id="rId2" Type="http://schemas.openxmlformats.org/officeDocument/2006/relationships/oleObject" Target="../embeddings/oleObject72.bin"/><Relationship Id="rId1" Type="http://schemas.openxmlformats.org/officeDocument/2006/relationships/slideLayout" Target="../slideLayouts/slideLayout8.xml"/><Relationship Id="rId6" Type="http://schemas.openxmlformats.org/officeDocument/2006/relationships/image" Target="../media/image95.wmf"/><Relationship Id="rId11" Type="http://schemas.openxmlformats.org/officeDocument/2006/relationships/oleObject" Target="../embeddings/oleObject76.bin"/><Relationship Id="rId5" Type="http://schemas.openxmlformats.org/officeDocument/2006/relationships/oleObject" Target="../embeddings/oleObject73.bin"/><Relationship Id="rId10" Type="http://schemas.openxmlformats.org/officeDocument/2006/relationships/image" Target="../media/image97.wmf"/><Relationship Id="rId4" Type="http://schemas.openxmlformats.org/officeDocument/2006/relationships/image" Target="../media/image94.jpg"/><Relationship Id="rId9" Type="http://schemas.openxmlformats.org/officeDocument/2006/relationships/oleObject" Target="../embeddings/oleObject75.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oleObject" Target="../embeddings/oleObject75.bin"/><Relationship Id="rId3" Type="http://schemas.openxmlformats.org/officeDocument/2006/relationships/tags" Target="../tags/tag24.xml"/><Relationship Id="rId7" Type="http://schemas.openxmlformats.org/officeDocument/2006/relationships/image" Target="../media/image94.jpg"/><Relationship Id="rId12" Type="http://schemas.openxmlformats.org/officeDocument/2006/relationships/image" Target="../media/image96.wmf"/><Relationship Id="rId17" Type="http://schemas.openxmlformats.org/officeDocument/2006/relationships/image" Target="../media/image98.wmf"/><Relationship Id="rId2" Type="http://schemas.openxmlformats.org/officeDocument/2006/relationships/tags" Target="../tags/tag23.xml"/><Relationship Id="rId16" Type="http://schemas.openxmlformats.org/officeDocument/2006/relationships/oleObject" Target="../embeddings/oleObject76.bin"/><Relationship Id="rId1" Type="http://schemas.openxmlformats.org/officeDocument/2006/relationships/tags" Target="../tags/tag22.xml"/><Relationship Id="rId6" Type="http://schemas.openxmlformats.org/officeDocument/2006/relationships/image" Target="../media/image93.wmf"/><Relationship Id="rId11" Type="http://schemas.openxmlformats.org/officeDocument/2006/relationships/oleObject" Target="../embeddings/oleObject74.bin"/><Relationship Id="rId5" Type="http://schemas.openxmlformats.org/officeDocument/2006/relationships/oleObject" Target="../embeddings/oleObject72.bin"/><Relationship Id="rId15" Type="http://schemas.openxmlformats.org/officeDocument/2006/relationships/image" Target="../media/image16.png"/><Relationship Id="rId10" Type="http://schemas.openxmlformats.org/officeDocument/2006/relationships/image" Target="../media/image17.png"/><Relationship Id="rId4" Type="http://schemas.openxmlformats.org/officeDocument/2006/relationships/slideLayout" Target="../slideLayouts/slideLayout8.xml"/><Relationship Id="rId9" Type="http://schemas.openxmlformats.org/officeDocument/2006/relationships/image" Target="../media/image95.wmf"/><Relationship Id="rId14" Type="http://schemas.openxmlformats.org/officeDocument/2006/relationships/image" Target="../media/image97.wmf"/></Relationships>
</file>

<file path=ppt/slides/_rels/slide27.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image" Target="../media/image87.wmf"/><Relationship Id="rId7" Type="http://schemas.openxmlformats.org/officeDocument/2006/relationships/oleObject" Target="../embeddings/oleObject78.bin"/><Relationship Id="rId2" Type="http://schemas.openxmlformats.org/officeDocument/2006/relationships/oleObject" Target="../embeddings/oleObject67.bin"/><Relationship Id="rId1" Type="http://schemas.openxmlformats.org/officeDocument/2006/relationships/slideLayout" Target="../slideLayouts/slideLayout8.xml"/><Relationship Id="rId6" Type="http://schemas.openxmlformats.org/officeDocument/2006/relationships/image" Target="../media/image100.wmf"/><Relationship Id="rId5" Type="http://schemas.openxmlformats.org/officeDocument/2006/relationships/oleObject" Target="../embeddings/oleObject77.bin"/><Relationship Id="rId4" Type="http://schemas.openxmlformats.org/officeDocument/2006/relationships/image" Target="../media/image99.jpg"/><Relationship Id="rId9" Type="http://schemas.openxmlformats.org/officeDocument/2006/relationships/image" Target="../media/image102.jpg"/></Relationships>
</file>

<file path=ppt/slides/_rels/slide28.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78.bin"/><Relationship Id="rId1" Type="http://schemas.openxmlformats.org/officeDocument/2006/relationships/slideLayout" Target="../slideLayouts/slideLayout8.xml"/><Relationship Id="rId4" Type="http://schemas.openxmlformats.org/officeDocument/2006/relationships/image" Target="../media/image103.jpg"/></Relationships>
</file>

<file path=ppt/slides/_rels/slide2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7.xml"/><Relationship Id="rId7" Type="http://schemas.openxmlformats.org/officeDocument/2006/relationships/image" Target="../media/image103.jp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01.wmf"/><Relationship Id="rId5" Type="http://schemas.openxmlformats.org/officeDocument/2006/relationships/oleObject" Target="../embeddings/oleObject78.bin"/><Relationship Id="rId4" Type="http://schemas.openxmlformats.org/officeDocument/2006/relationships/slideLayout" Target="../slideLayouts/slideLayout8.xml"/><Relationship Id="rId9" Type="http://schemas.openxmlformats.org/officeDocument/2006/relationships/image" Target="../media/image16.png"/></Relationships>
</file>

<file path=ppt/slides/_rels/slide30.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image" Target="../media/image110.wmf"/><Relationship Id="rId18" Type="http://schemas.openxmlformats.org/officeDocument/2006/relationships/image" Target="../media/image113.jpg"/><Relationship Id="rId3" Type="http://schemas.openxmlformats.org/officeDocument/2006/relationships/image" Target="../media/image104.wmf"/><Relationship Id="rId21" Type="http://schemas.openxmlformats.org/officeDocument/2006/relationships/oleObject" Target="../embeddings/oleObject87.bin"/><Relationship Id="rId7" Type="http://schemas.openxmlformats.org/officeDocument/2006/relationships/oleObject" Target="../embeddings/oleObject81.bin"/><Relationship Id="rId12" Type="http://schemas.openxmlformats.org/officeDocument/2006/relationships/oleObject" Target="../embeddings/oleObject83.bin"/><Relationship Id="rId17" Type="http://schemas.openxmlformats.org/officeDocument/2006/relationships/image" Target="../media/image112.wmf"/><Relationship Id="rId2" Type="http://schemas.openxmlformats.org/officeDocument/2006/relationships/oleObject" Target="../embeddings/oleObject79.bin"/><Relationship Id="rId16" Type="http://schemas.openxmlformats.org/officeDocument/2006/relationships/oleObject" Target="../embeddings/oleObject85.bin"/><Relationship Id="rId20" Type="http://schemas.openxmlformats.org/officeDocument/2006/relationships/image" Target="../media/image114.wmf"/><Relationship Id="rId1" Type="http://schemas.openxmlformats.org/officeDocument/2006/relationships/slideLayout" Target="../slideLayouts/slideLayout8.xml"/><Relationship Id="rId6" Type="http://schemas.openxmlformats.org/officeDocument/2006/relationships/image" Target="../media/image106.wmf"/><Relationship Id="rId11" Type="http://schemas.openxmlformats.org/officeDocument/2006/relationships/image" Target="../media/image109.wmf"/><Relationship Id="rId5" Type="http://schemas.openxmlformats.org/officeDocument/2006/relationships/oleObject" Target="../embeddings/oleObject80.bin"/><Relationship Id="rId15" Type="http://schemas.openxmlformats.org/officeDocument/2006/relationships/image" Target="../media/image111.wmf"/><Relationship Id="rId10" Type="http://schemas.openxmlformats.org/officeDocument/2006/relationships/oleObject" Target="../embeddings/oleObject82.bin"/><Relationship Id="rId19" Type="http://schemas.openxmlformats.org/officeDocument/2006/relationships/oleObject" Target="../embeddings/oleObject86.bin"/><Relationship Id="rId4" Type="http://schemas.openxmlformats.org/officeDocument/2006/relationships/image" Target="../media/image105.jpg"/><Relationship Id="rId9" Type="http://schemas.openxmlformats.org/officeDocument/2006/relationships/image" Target="../media/image108.jpg"/><Relationship Id="rId14" Type="http://schemas.openxmlformats.org/officeDocument/2006/relationships/oleObject" Target="../embeddings/oleObject84.bin"/><Relationship Id="rId22" Type="http://schemas.openxmlformats.org/officeDocument/2006/relationships/image" Target="../media/image115.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oleObject" Target="../embeddings/oleObject91.bin"/><Relationship Id="rId3" Type="http://schemas.openxmlformats.org/officeDocument/2006/relationships/oleObject" Target="../embeddings/oleObject79.bin"/><Relationship Id="rId7" Type="http://schemas.openxmlformats.org/officeDocument/2006/relationships/image" Target="../media/image117.wmf"/><Relationship Id="rId12" Type="http://schemas.openxmlformats.org/officeDocument/2006/relationships/image" Target="../media/image120.wmf"/><Relationship Id="rId2" Type="http://schemas.openxmlformats.org/officeDocument/2006/relationships/notesSlide" Target="../notesSlides/notesSlide4.xml"/><Relationship Id="rId16" Type="http://schemas.openxmlformats.org/officeDocument/2006/relationships/image" Target="../media/image122.wmf"/><Relationship Id="rId1" Type="http://schemas.openxmlformats.org/officeDocument/2006/relationships/slideLayout" Target="../slideLayouts/slideLayout8.xml"/><Relationship Id="rId6" Type="http://schemas.openxmlformats.org/officeDocument/2006/relationships/oleObject" Target="../embeddings/oleObject88.bin"/><Relationship Id="rId11" Type="http://schemas.openxmlformats.org/officeDocument/2006/relationships/oleObject" Target="../embeddings/oleObject90.bin"/><Relationship Id="rId5" Type="http://schemas.openxmlformats.org/officeDocument/2006/relationships/image" Target="../media/image116.jpg"/><Relationship Id="rId15" Type="http://schemas.openxmlformats.org/officeDocument/2006/relationships/oleObject" Target="../embeddings/oleObject92.bin"/><Relationship Id="rId10" Type="http://schemas.openxmlformats.org/officeDocument/2006/relationships/image" Target="../media/image119.jpg"/><Relationship Id="rId4" Type="http://schemas.openxmlformats.org/officeDocument/2006/relationships/image" Target="../media/image104.wmf"/><Relationship Id="rId9" Type="http://schemas.openxmlformats.org/officeDocument/2006/relationships/image" Target="../media/image118.wmf"/><Relationship Id="rId14" Type="http://schemas.openxmlformats.org/officeDocument/2006/relationships/image" Target="../media/image121.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28.wmf"/><Relationship Id="rId18" Type="http://schemas.openxmlformats.org/officeDocument/2006/relationships/oleObject" Target="../embeddings/oleObject101.bin"/><Relationship Id="rId3" Type="http://schemas.openxmlformats.org/officeDocument/2006/relationships/image" Target="../media/image123.wmf"/><Relationship Id="rId21" Type="http://schemas.openxmlformats.org/officeDocument/2006/relationships/image" Target="../media/image132.wmf"/><Relationship Id="rId7" Type="http://schemas.openxmlformats.org/officeDocument/2006/relationships/image" Target="../media/image125.wmf"/><Relationship Id="rId12" Type="http://schemas.openxmlformats.org/officeDocument/2006/relationships/oleObject" Target="../embeddings/oleObject98.bin"/><Relationship Id="rId17" Type="http://schemas.openxmlformats.org/officeDocument/2006/relationships/image" Target="../media/image130.wmf"/><Relationship Id="rId2" Type="http://schemas.openxmlformats.org/officeDocument/2006/relationships/oleObject" Target="../embeddings/oleObject93.bin"/><Relationship Id="rId16" Type="http://schemas.openxmlformats.org/officeDocument/2006/relationships/oleObject" Target="../embeddings/oleObject100.bin"/><Relationship Id="rId20" Type="http://schemas.openxmlformats.org/officeDocument/2006/relationships/oleObject" Target="../embeddings/oleObject102.bin"/><Relationship Id="rId1" Type="http://schemas.openxmlformats.org/officeDocument/2006/relationships/slideLayout" Target="../slideLayouts/slideLayout8.xml"/><Relationship Id="rId6" Type="http://schemas.openxmlformats.org/officeDocument/2006/relationships/oleObject" Target="../embeddings/oleObject95.bin"/><Relationship Id="rId11" Type="http://schemas.openxmlformats.org/officeDocument/2006/relationships/image" Target="../media/image127.wmf"/><Relationship Id="rId5" Type="http://schemas.openxmlformats.org/officeDocument/2006/relationships/image" Target="../media/image124.wmf"/><Relationship Id="rId15" Type="http://schemas.openxmlformats.org/officeDocument/2006/relationships/image" Target="../media/image129.wmf"/><Relationship Id="rId10" Type="http://schemas.openxmlformats.org/officeDocument/2006/relationships/oleObject" Target="../embeddings/oleObject97.bin"/><Relationship Id="rId19" Type="http://schemas.openxmlformats.org/officeDocument/2006/relationships/image" Target="../media/image131.wmf"/><Relationship Id="rId4" Type="http://schemas.openxmlformats.org/officeDocument/2006/relationships/oleObject" Target="../embeddings/oleObject94.bin"/><Relationship Id="rId9" Type="http://schemas.openxmlformats.org/officeDocument/2006/relationships/image" Target="../media/image126.wmf"/><Relationship Id="rId14" Type="http://schemas.openxmlformats.org/officeDocument/2006/relationships/oleObject" Target="../embeddings/oleObject99.bin"/></Relationships>
</file>

<file path=ppt/slides/_rels/slide33.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oleObject" Target="../embeddings/oleObject103.bin"/><Relationship Id="rId1" Type="http://schemas.openxmlformats.org/officeDocument/2006/relationships/slideLayout" Target="../slideLayouts/slideLayout8.xml"/><Relationship Id="rId5" Type="http://schemas.openxmlformats.org/officeDocument/2006/relationships/image" Target="../media/image134.wmf"/><Relationship Id="rId4" Type="http://schemas.openxmlformats.org/officeDocument/2006/relationships/oleObject" Target="../embeddings/oleObject104.bin"/></Relationships>
</file>

<file path=ppt/slides/_rels/slide3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57473"/>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7 – Part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632945"/>
            <a:ext cx="3987232" cy="775015"/>
          </a:xfrm>
        </p:spPr>
        <p:txBody>
          <a:bodyPr wrap="square" lIns="0" tIns="18000" rIns="0" bIns="18000" anchor="ctr">
            <a:spAutoFit/>
          </a:bodyPr>
          <a:lstStyle/>
          <a:p>
            <a:pPr marL="0"/>
            <a:r>
              <a:rPr lang="en-US" sz="2400" dirty="0"/>
              <a:t>Response of First-Order </a:t>
            </a:r>
            <a:r>
              <a:rPr lang="en-US" sz="2400" i="1" dirty="0"/>
              <a:t>RL</a:t>
            </a:r>
            <a:r>
              <a:rPr lang="en-US" sz="2400" dirty="0"/>
              <a:t> and </a:t>
            </a:r>
            <a:r>
              <a:rPr lang="en-US" sz="2400" i="1" dirty="0"/>
              <a:t>RC</a:t>
            </a:r>
            <a:r>
              <a:rPr lang="en-US" sz="2400" dirty="0"/>
              <a:t> Circuits</a:t>
            </a:r>
            <a:endParaRPr lang="en-US" noProof="0" dirty="0"/>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36215" y="6455210"/>
            <a:ext cx="6177700" cy="221018"/>
          </a:xfrm>
        </p:spPr>
        <p:txBody>
          <a:bodyPr wrap="square" lIns="0" tIns="18000" rIns="0" bIns="18000" anchor="ctr">
            <a:spAutoFit/>
          </a:bodyPr>
          <a:lstStyle/>
          <a:p>
            <a:r>
              <a:rPr lang="en-US"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(1 of 10)</a:t>
            </a:r>
            <a:endParaRPr lang="en-US" sz="2800" noProof="0" dirty="0"/>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0304" y="927014"/>
            <a:ext cx="8245384" cy="374906"/>
          </a:xfrm>
        </p:spPr>
        <p:txBody>
          <a:bodyPr wrap="square" lIns="0" tIns="18000" rIns="0" bIns="18000" anchor="ctr" anchorCtr="0">
            <a:spAutoFit/>
          </a:bodyPr>
          <a:lstStyle/>
          <a:p>
            <a:pPr marL="0" indent="0">
              <a:spcBef>
                <a:spcPts val="600"/>
              </a:spcBef>
              <a:buNone/>
            </a:pPr>
            <a:r>
              <a:rPr lang="en-US" altLang="en-US" sz="2200" dirty="0"/>
              <a:t>The problem: Given an initial current </a:t>
            </a:r>
            <a:r>
              <a:rPr lang="en-US" altLang="en-US" sz="2200" i="1" dirty="0" err="1"/>
              <a:t>i</a:t>
            </a:r>
            <a:r>
              <a:rPr lang="en-US" altLang="en-US" sz="2200" i="1" dirty="0"/>
              <a:t>(0)</a:t>
            </a:r>
            <a:r>
              <a:rPr lang="en-US" altLang="en-US" sz="2200" dirty="0"/>
              <a:t> through </a:t>
            </a:r>
            <a:r>
              <a:rPr lang="en-US" altLang="en-US" sz="2200" i="1" dirty="0"/>
              <a:t>L</a:t>
            </a:r>
            <a:r>
              <a:rPr lang="en-US" altLang="en-US" sz="2200" dirty="0"/>
              <a:t> at </a:t>
            </a:r>
            <a:r>
              <a:rPr lang="en-US" altLang="en-US" sz="2200" i="1" dirty="0"/>
              <a:t>t = 0</a:t>
            </a:r>
            <a:r>
              <a:rPr lang="en-US" altLang="en-US" sz="2200" dirty="0"/>
              <a:t>, find </a:t>
            </a:r>
            <a:r>
              <a:rPr lang="en-US" altLang="en-US" sz="2200" i="1" dirty="0" err="1"/>
              <a:t>i</a:t>
            </a:r>
            <a:r>
              <a:rPr lang="en-US" altLang="en-US" sz="2200" i="1" dirty="0"/>
              <a:t>(t)</a:t>
            </a:r>
            <a:endParaRPr lang="en-US" sz="2200" i="1" noProof="0" dirty="0"/>
          </a:p>
        </p:txBody>
      </p:sp>
      <p:sp>
        <p:nvSpPr>
          <p:cNvPr id="2" name="Content Placeholder 1">
            <a:extLst>
              <a:ext uri="{FF2B5EF4-FFF2-40B4-BE49-F238E27FC236}">
                <a16:creationId xmlns:a16="http://schemas.microsoft.com/office/drawing/2014/main" id="{615379C2-74BC-19D7-EE3C-530B11843560}"/>
              </a:ext>
            </a:extLst>
          </p:cNvPr>
          <p:cNvSpPr>
            <a:spLocks noGrp="1"/>
          </p:cNvSpPr>
          <p:nvPr>
            <p:ph sz="quarter" idx="13"/>
          </p:nvPr>
        </p:nvSpPr>
        <p:spPr>
          <a:xfrm>
            <a:off x="430304" y="1403888"/>
            <a:ext cx="350629" cy="374906"/>
          </a:xfrm>
        </p:spPr>
        <p:txBody>
          <a:bodyPr/>
          <a:lstStyle/>
          <a:p>
            <a:pPr marL="0" indent="0">
              <a:buNone/>
            </a:pPr>
            <a:r>
              <a:rPr lang="en-US" altLang="en-US" sz="2200" dirty="0"/>
              <a:t>for</a:t>
            </a:r>
            <a:endParaRPr lang="en-US" sz="2200" dirty="0"/>
          </a:p>
        </p:txBody>
      </p:sp>
      <p:graphicFrame>
        <p:nvGraphicFramePr>
          <p:cNvPr id="21" name="Object 20" descr="t is greater than or equal to 0.">
            <a:extLst>
              <a:ext uri="{FF2B5EF4-FFF2-40B4-BE49-F238E27FC236}">
                <a16:creationId xmlns:a16="http://schemas.microsoft.com/office/drawing/2014/main" id="{F42F6EC4-8D53-3224-7015-7847D850D9F2}"/>
              </a:ext>
            </a:extLst>
          </p:cNvPr>
          <p:cNvGraphicFramePr>
            <a:graphicFrameLocks noChangeAspect="1"/>
          </p:cNvGraphicFramePr>
          <p:nvPr>
            <p:extLst>
              <p:ext uri="{D42A27DB-BD31-4B8C-83A1-F6EECF244321}">
                <p14:modId xmlns:p14="http://schemas.microsoft.com/office/powerpoint/2010/main" val="264870480"/>
              </p:ext>
            </p:extLst>
          </p:nvPr>
        </p:nvGraphicFramePr>
        <p:xfrm>
          <a:off x="815975" y="1455738"/>
          <a:ext cx="708025" cy="339725"/>
        </p:xfrm>
        <a:graphic>
          <a:graphicData uri="http://schemas.openxmlformats.org/presentationml/2006/ole">
            <mc:AlternateContent xmlns:mc="http://schemas.openxmlformats.org/markup-compatibility/2006">
              <mc:Choice xmlns:v="urn:schemas-microsoft-com:vml" Requires="v">
                <p:oleObj name="Equation" r:id="rId3" imgW="368280" imgH="177480" progId="Equation.DSMT4">
                  <p:embed/>
                </p:oleObj>
              </mc:Choice>
              <mc:Fallback>
                <p:oleObj name="Equation" r:id="rId3" imgW="368280" imgH="177480" progId="Equation.DSMT4">
                  <p:embed/>
                  <p:pic>
                    <p:nvPicPr>
                      <p:cNvPr id="22" name="Object 21">
                        <a:extLst>
                          <a:ext uri="{FF2B5EF4-FFF2-40B4-BE49-F238E27FC236}">
                            <a16:creationId xmlns:a16="http://schemas.microsoft.com/office/drawing/2014/main" id="{9B80C1CC-FA43-1CA4-0DA6-7545C5F5F07A}"/>
                          </a:ext>
                        </a:extLst>
                      </p:cNvPr>
                      <p:cNvPicPr>
                        <a:picLocks noChangeAspect="1" noChangeArrowheads="1"/>
                      </p:cNvPicPr>
                      <p:nvPr/>
                    </p:nvPicPr>
                    <p:blipFill>
                      <a:blip r:embed="rId4"/>
                      <a:srcRect/>
                      <a:stretch>
                        <a:fillRect/>
                      </a:stretch>
                    </p:blipFill>
                    <p:spPr bwMode="auto">
                      <a:xfrm>
                        <a:off x="815975" y="1455738"/>
                        <a:ext cx="708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a:extLst>
              <a:ext uri="{FF2B5EF4-FFF2-40B4-BE49-F238E27FC236}">
                <a16:creationId xmlns:a16="http://schemas.microsoft.com/office/drawing/2014/main" id="{C379E32C-02D1-338F-1A2D-566FBC42FD3C}"/>
              </a:ext>
            </a:extLst>
          </p:cNvPr>
          <p:cNvSpPr>
            <a:spLocks noGrp="1"/>
          </p:cNvSpPr>
          <p:nvPr>
            <p:ph sz="quarter" idx="14"/>
          </p:nvPr>
        </p:nvSpPr>
        <p:spPr>
          <a:xfrm>
            <a:off x="1655285" y="1403888"/>
            <a:ext cx="4646903" cy="374906"/>
          </a:xfrm>
        </p:spPr>
        <p:txBody>
          <a:bodyPr>
            <a:spAutoFit/>
          </a:bodyPr>
          <a:lstStyle/>
          <a:p>
            <a:pPr marL="0" indent="0">
              <a:buNone/>
            </a:pPr>
            <a:r>
              <a:rPr lang="en-US" altLang="en-US" sz="2200" dirty="0"/>
              <a:t>Note that the initial current may be 0!</a:t>
            </a:r>
          </a:p>
        </p:txBody>
      </p:sp>
      <p:pic>
        <p:nvPicPr>
          <p:cNvPr id="22" name="Picture 2" descr="The picture shows a circuit diagram and a plot between voltage V subscript s and time t. 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in the top are a switch and a resistor R. The switch is closed when time t is at zero. Current i flows through the circuit. It is written &quot;Voltage Step&quot; at the lower left corner of the circuit. In the plot between voltage V subscript s and time t, the voltage V subscript s does not change with time t. ">
            <a:extLst>
              <a:ext uri="{FF2B5EF4-FFF2-40B4-BE49-F238E27FC236}">
                <a16:creationId xmlns:a16="http://schemas.microsoft.com/office/drawing/2014/main" id="{FBACC792-C39B-FC09-5F78-5DD562A41DCB}"/>
              </a:ext>
            </a:extLst>
          </p:cNvPr>
          <p:cNvPicPr>
            <a:picLocks noChangeAspect="1" noChangeArrowheads="1"/>
          </p:cNvPicPr>
          <p:nvPr/>
        </p:nvPicPr>
        <p:blipFill>
          <a:blip r:embed="rId5"/>
          <a:stretch>
            <a:fillRect/>
          </a:stretch>
        </p:blipFill>
        <p:spPr bwMode="auto">
          <a:xfrm>
            <a:off x="1761141" y="2040426"/>
            <a:ext cx="5639645" cy="220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AAB8B0E3-9E13-5CAF-21B9-4C6CE0F12B83}"/>
              </a:ext>
            </a:extLst>
          </p:cNvPr>
          <p:cNvSpPr>
            <a:spLocks noGrp="1"/>
          </p:cNvSpPr>
          <p:nvPr>
            <p:ph sz="quarter" idx="15"/>
          </p:nvPr>
        </p:nvSpPr>
        <p:spPr>
          <a:xfrm>
            <a:off x="430304" y="4449672"/>
            <a:ext cx="6330749" cy="374906"/>
          </a:xfrm>
        </p:spPr>
        <p:txBody>
          <a:bodyPr wrap="square">
            <a:spAutoFit/>
          </a:bodyPr>
          <a:lstStyle/>
          <a:p>
            <a:pPr marL="0" indent="0">
              <a:buNone/>
            </a:pPr>
            <a:r>
              <a:rPr lang="en-US" altLang="en-US" sz="2200" dirty="0"/>
              <a:t>This is the step response of this circuit because for</a:t>
            </a:r>
            <a:endParaRPr lang="en-US" sz="2200" dirty="0"/>
          </a:p>
        </p:txBody>
      </p:sp>
      <p:graphicFrame>
        <p:nvGraphicFramePr>
          <p:cNvPr id="23" name="Object 22" descr="t is greater than or equal to 0">
            <a:extLst>
              <a:ext uri="{FF2B5EF4-FFF2-40B4-BE49-F238E27FC236}">
                <a16:creationId xmlns:a16="http://schemas.microsoft.com/office/drawing/2014/main" id="{37BFE5A7-BDA4-C8E9-C56F-61617873F9A6}"/>
              </a:ext>
            </a:extLst>
          </p:cNvPr>
          <p:cNvGraphicFramePr>
            <a:graphicFrameLocks noChangeAspect="1"/>
          </p:cNvGraphicFramePr>
          <p:nvPr>
            <p:extLst>
              <p:ext uri="{D42A27DB-BD31-4B8C-83A1-F6EECF244321}">
                <p14:modId xmlns:p14="http://schemas.microsoft.com/office/powerpoint/2010/main" val="906725313"/>
              </p:ext>
            </p:extLst>
          </p:nvPr>
        </p:nvGraphicFramePr>
        <p:xfrm>
          <a:off x="6821488" y="4479925"/>
          <a:ext cx="658812" cy="339725"/>
        </p:xfrm>
        <a:graphic>
          <a:graphicData uri="http://schemas.openxmlformats.org/presentationml/2006/ole">
            <mc:AlternateContent xmlns:mc="http://schemas.openxmlformats.org/markup-compatibility/2006">
              <mc:Choice xmlns:v="urn:schemas-microsoft-com:vml" Requires="v">
                <p:oleObj name="Equation" r:id="rId6" imgW="342720" imgH="177480" progId="Equation.DSMT4">
                  <p:embed/>
                </p:oleObj>
              </mc:Choice>
              <mc:Fallback>
                <p:oleObj name="Equation" r:id="rId6" imgW="342720" imgH="177480" progId="Equation.DSMT4">
                  <p:embed/>
                  <p:pic>
                    <p:nvPicPr>
                      <p:cNvPr id="21" name="Object 20">
                        <a:extLst>
                          <a:ext uri="{FF2B5EF4-FFF2-40B4-BE49-F238E27FC236}">
                            <a16:creationId xmlns:a16="http://schemas.microsoft.com/office/drawing/2014/main" id="{F42F6EC4-8D53-3224-7015-7847D850D9F2}"/>
                          </a:ext>
                        </a:extLst>
                      </p:cNvPr>
                      <p:cNvPicPr>
                        <a:picLocks noChangeAspect="1" noChangeArrowheads="1"/>
                      </p:cNvPicPr>
                      <p:nvPr/>
                    </p:nvPicPr>
                    <p:blipFill>
                      <a:blip r:embed="rId7"/>
                      <a:srcRect/>
                      <a:stretch>
                        <a:fillRect/>
                      </a:stretch>
                    </p:blipFill>
                    <p:spPr bwMode="auto">
                      <a:xfrm>
                        <a:off x="6821488" y="4479925"/>
                        <a:ext cx="6588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E6D0B29F-EA10-EF73-54BD-28F3E0ED95CE}"/>
              </a:ext>
            </a:extLst>
          </p:cNvPr>
          <p:cNvSpPr>
            <a:spLocks noGrp="1"/>
          </p:cNvSpPr>
          <p:nvPr>
            <p:ph sz="quarter" idx="16"/>
          </p:nvPr>
        </p:nvSpPr>
        <p:spPr>
          <a:xfrm>
            <a:off x="7543700" y="4450593"/>
            <a:ext cx="942299" cy="374906"/>
          </a:xfrm>
        </p:spPr>
        <p:txBody>
          <a:bodyPr/>
          <a:lstStyle/>
          <a:p>
            <a:pPr marL="0" indent="0">
              <a:buNone/>
            </a:pPr>
            <a:r>
              <a:rPr lang="en-US" altLang="en-US" sz="2200" dirty="0"/>
              <a:t>there </a:t>
            </a:r>
            <a:r>
              <a:rPr lang="en-US" altLang="en-US" sz="2200" u="sng" dirty="0"/>
              <a:t>is</a:t>
            </a:r>
            <a:endParaRPr lang="en-US" sz="2200" u="sng" dirty="0"/>
          </a:p>
        </p:txBody>
      </p:sp>
      <p:sp>
        <p:nvSpPr>
          <p:cNvPr id="8" name="Content Placeholder 7">
            <a:extLst>
              <a:ext uri="{FF2B5EF4-FFF2-40B4-BE49-F238E27FC236}">
                <a16:creationId xmlns:a16="http://schemas.microsoft.com/office/drawing/2014/main" id="{596330D0-2A1C-0528-5073-001D62B7430A}"/>
              </a:ext>
            </a:extLst>
          </p:cNvPr>
          <p:cNvSpPr>
            <a:spLocks noGrp="1"/>
          </p:cNvSpPr>
          <p:nvPr>
            <p:ph sz="quarter" idx="17"/>
          </p:nvPr>
        </p:nvSpPr>
        <p:spPr>
          <a:xfrm>
            <a:off x="426882" y="4883297"/>
            <a:ext cx="8248805" cy="713460"/>
          </a:xfrm>
        </p:spPr>
        <p:txBody>
          <a:bodyPr wrap="square">
            <a:spAutoFit/>
          </a:bodyPr>
          <a:lstStyle/>
          <a:p>
            <a:pPr marL="0" indent="0">
              <a:spcBef>
                <a:spcPts val="600"/>
              </a:spcBef>
              <a:buNone/>
            </a:pPr>
            <a:r>
              <a:rPr lang="en-US" altLang="en-US" sz="2200" dirty="0"/>
              <a:t>an independent source in the circuit – the response is due to the initial energy stored in the inductor as well as the energy supplied</a:t>
            </a:r>
            <a:endParaRPr lang="en-US" sz="2200" dirty="0"/>
          </a:p>
        </p:txBody>
      </p:sp>
      <p:sp>
        <p:nvSpPr>
          <p:cNvPr id="9" name="Content Placeholder 8">
            <a:extLst>
              <a:ext uri="{FF2B5EF4-FFF2-40B4-BE49-F238E27FC236}">
                <a16:creationId xmlns:a16="http://schemas.microsoft.com/office/drawing/2014/main" id="{EB1F33ED-ABC5-68FC-C56A-12BA59B1A204}"/>
              </a:ext>
            </a:extLst>
          </p:cNvPr>
          <p:cNvSpPr>
            <a:spLocks noGrp="1"/>
          </p:cNvSpPr>
          <p:nvPr>
            <p:ph sz="quarter" idx="18"/>
          </p:nvPr>
        </p:nvSpPr>
        <p:spPr>
          <a:xfrm>
            <a:off x="429794" y="5676310"/>
            <a:ext cx="3121059" cy="374906"/>
          </a:xfrm>
        </p:spPr>
        <p:txBody>
          <a:bodyPr>
            <a:spAutoFit/>
          </a:bodyPr>
          <a:lstStyle/>
          <a:p>
            <a:pPr marL="0" indent="0">
              <a:buNone/>
            </a:pPr>
            <a:r>
              <a:rPr lang="en-US" altLang="en-US" sz="2200" dirty="0"/>
              <a:t>by the voltage source for</a:t>
            </a:r>
            <a:endParaRPr lang="en-US" sz="2200" dirty="0"/>
          </a:p>
        </p:txBody>
      </p:sp>
      <p:graphicFrame>
        <p:nvGraphicFramePr>
          <p:cNvPr id="24" name="Object 23" descr="t is greater than or equal to 0.">
            <a:extLst>
              <a:ext uri="{FF2B5EF4-FFF2-40B4-BE49-F238E27FC236}">
                <a16:creationId xmlns:a16="http://schemas.microsoft.com/office/drawing/2014/main" id="{1C27114C-7D6A-8345-3218-51A64AC96223}"/>
              </a:ext>
            </a:extLst>
          </p:cNvPr>
          <p:cNvGraphicFramePr>
            <a:graphicFrameLocks noChangeAspect="1"/>
          </p:cNvGraphicFramePr>
          <p:nvPr>
            <p:extLst>
              <p:ext uri="{D42A27DB-BD31-4B8C-83A1-F6EECF244321}">
                <p14:modId xmlns:p14="http://schemas.microsoft.com/office/powerpoint/2010/main" val="3306065723"/>
              </p:ext>
            </p:extLst>
          </p:nvPr>
        </p:nvGraphicFramePr>
        <p:xfrm>
          <a:off x="3577748" y="5706466"/>
          <a:ext cx="708025" cy="339725"/>
        </p:xfrm>
        <a:graphic>
          <a:graphicData uri="http://schemas.openxmlformats.org/presentationml/2006/ole">
            <mc:AlternateContent xmlns:mc="http://schemas.openxmlformats.org/markup-compatibility/2006">
              <mc:Choice xmlns:v="urn:schemas-microsoft-com:vml" Requires="v">
                <p:oleObj name="Equation" r:id="rId3" imgW="368280" imgH="177480" progId="Equation.DSMT4">
                  <p:embed/>
                </p:oleObj>
              </mc:Choice>
              <mc:Fallback>
                <p:oleObj name="Equation" r:id="rId3" imgW="368280" imgH="177480" progId="Equation.DSMT4">
                  <p:embed/>
                  <p:pic>
                    <p:nvPicPr>
                      <p:cNvPr id="21" name="Object 20">
                        <a:extLst>
                          <a:ext uri="{FF2B5EF4-FFF2-40B4-BE49-F238E27FC236}">
                            <a16:creationId xmlns:a16="http://schemas.microsoft.com/office/drawing/2014/main" id="{F42F6EC4-8D53-3224-7015-7847D850D9F2}"/>
                          </a:ext>
                        </a:extLst>
                      </p:cNvPr>
                      <p:cNvPicPr>
                        <a:picLocks noChangeAspect="1" noChangeArrowheads="1"/>
                      </p:cNvPicPr>
                      <p:nvPr/>
                    </p:nvPicPr>
                    <p:blipFill>
                      <a:blip r:embed="rId4"/>
                      <a:srcRect/>
                      <a:stretch>
                        <a:fillRect/>
                      </a:stretch>
                    </p:blipFill>
                    <p:spPr bwMode="auto">
                      <a:xfrm>
                        <a:off x="3577748" y="5706466"/>
                        <a:ext cx="708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5">
            <a:extLst>
              <a:ext uri="{FF2B5EF4-FFF2-40B4-BE49-F238E27FC236}">
                <a16:creationId xmlns:a16="http://schemas.microsoft.com/office/drawing/2014/main" id="{DF2E9FC9-8A6D-5063-F335-96C227C39361}"/>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(2 of 10)</a:t>
            </a:r>
            <a:endParaRPr lang="en-US" sz="2800" noProof="0" dirty="0"/>
          </a:p>
        </p:txBody>
      </p:sp>
      <p:pic>
        <p:nvPicPr>
          <p:cNvPr id="22" name="Picture 2"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
            <a:extLst>
              <a:ext uri="{FF2B5EF4-FFF2-40B4-BE49-F238E27FC236}">
                <a16:creationId xmlns:a16="http://schemas.microsoft.com/office/drawing/2014/main" id="{BA1633D1-C46A-EEDB-7E4C-EFAEF44B1550}"/>
              </a:ext>
            </a:extLst>
          </p:cNvPr>
          <p:cNvPicPr>
            <a:picLocks noChangeAspect="1" noChangeArrowheads="1"/>
          </p:cNvPicPr>
          <p:nvPr/>
        </p:nvPicPr>
        <p:blipFill>
          <a:blip r:embed="rId2"/>
          <a:stretch>
            <a:fillRect/>
          </a:stretch>
        </p:blipFill>
        <p:spPr bwMode="auto">
          <a:xfrm>
            <a:off x="734859" y="1206798"/>
            <a:ext cx="3812508" cy="17413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a:extLst>
              <a:ext uri="{FF2B5EF4-FFF2-40B4-BE49-F238E27FC236}">
                <a16:creationId xmlns:a16="http://schemas.microsoft.com/office/drawing/2014/main" id="{6AA42207-F968-561C-972D-368DFD43630D}"/>
              </a:ext>
            </a:extLst>
          </p:cNvPr>
          <p:cNvSpPr>
            <a:spLocks noGrp="1"/>
          </p:cNvSpPr>
          <p:nvPr>
            <p:ph sz="quarter" idx="12"/>
          </p:nvPr>
        </p:nvSpPr>
        <p:spPr>
          <a:xfrm>
            <a:off x="5449014" y="1020227"/>
            <a:ext cx="943273" cy="374906"/>
          </a:xfrm>
        </p:spPr>
        <p:txBody>
          <a:bodyPr wrap="square">
            <a:spAutoFit/>
          </a:bodyPr>
          <a:lstStyle/>
          <a:p>
            <a:pPr marL="0" indent="0">
              <a:buNone/>
            </a:pPr>
            <a:r>
              <a:rPr lang="en-US" altLang="en-US" sz="2200" spc="-300" dirty="0"/>
              <a:t>K V </a:t>
            </a:r>
            <a:r>
              <a:rPr lang="en-US" altLang="en-US" sz="2200" dirty="0"/>
              <a:t>L for</a:t>
            </a:r>
            <a:endParaRPr lang="en-US" sz="2200" dirty="0"/>
          </a:p>
        </p:txBody>
      </p:sp>
      <p:graphicFrame>
        <p:nvGraphicFramePr>
          <p:cNvPr id="23" name="Object 22" descr="t is greater than or equal to 0.">
            <a:extLst>
              <a:ext uri="{FF2B5EF4-FFF2-40B4-BE49-F238E27FC236}">
                <a16:creationId xmlns:a16="http://schemas.microsoft.com/office/drawing/2014/main" id="{A65C4BBF-C11F-DC94-450E-C149D482BA89}"/>
              </a:ext>
            </a:extLst>
          </p:cNvPr>
          <p:cNvGraphicFramePr>
            <a:graphicFrameLocks noChangeAspect="1"/>
          </p:cNvGraphicFramePr>
          <p:nvPr>
            <p:extLst>
              <p:ext uri="{D42A27DB-BD31-4B8C-83A1-F6EECF244321}">
                <p14:modId xmlns:p14="http://schemas.microsoft.com/office/powerpoint/2010/main" val="4162727037"/>
              </p:ext>
            </p:extLst>
          </p:nvPr>
        </p:nvGraphicFramePr>
        <p:xfrm>
          <a:off x="6514954" y="1036936"/>
          <a:ext cx="781050" cy="339725"/>
        </p:xfrm>
        <a:graphic>
          <a:graphicData uri="http://schemas.openxmlformats.org/presentationml/2006/ole">
            <mc:AlternateContent xmlns:mc="http://schemas.openxmlformats.org/markup-compatibility/2006">
              <mc:Choice xmlns:v="urn:schemas-microsoft-com:vml" Requires="v">
                <p:oleObj name="Equation" r:id="rId3" imgW="406080" imgH="177480" progId="Equation.DSMT4">
                  <p:embed/>
                </p:oleObj>
              </mc:Choice>
              <mc:Fallback>
                <p:oleObj name="Equation" r:id="rId3" imgW="406080" imgH="177480" progId="Equation.DSMT4">
                  <p:embed/>
                  <p:pic>
                    <p:nvPicPr>
                      <p:cNvPr id="21" name="Object 20">
                        <a:extLst>
                          <a:ext uri="{FF2B5EF4-FFF2-40B4-BE49-F238E27FC236}">
                            <a16:creationId xmlns:a16="http://schemas.microsoft.com/office/drawing/2014/main" id="{F42F6EC4-8D53-3224-7015-7847D850D9F2}"/>
                          </a:ext>
                        </a:extLst>
                      </p:cNvPr>
                      <p:cNvPicPr>
                        <a:picLocks noChangeAspect="1" noChangeArrowheads="1"/>
                      </p:cNvPicPr>
                      <p:nvPr/>
                    </p:nvPicPr>
                    <p:blipFill>
                      <a:blip r:embed="rId4"/>
                      <a:srcRect/>
                      <a:stretch>
                        <a:fillRect/>
                      </a:stretch>
                    </p:blipFill>
                    <p:spPr bwMode="auto">
                      <a:xfrm>
                        <a:off x="6514954" y="1036936"/>
                        <a:ext cx="781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23" descr="negative V subscript S baseline plus L Start Fraction d i (t) over d t End Fraction plus R i (t) equals 0.&#10;">
            <a:extLst>
              <a:ext uri="{FF2B5EF4-FFF2-40B4-BE49-F238E27FC236}">
                <a16:creationId xmlns:a16="http://schemas.microsoft.com/office/drawing/2014/main" id="{326F36F6-4BB9-02A3-8569-BCBA35CEFA51}"/>
              </a:ext>
            </a:extLst>
          </p:cNvPr>
          <p:cNvGraphicFramePr>
            <a:graphicFrameLocks noChangeAspect="1"/>
          </p:cNvGraphicFramePr>
          <p:nvPr>
            <p:extLst>
              <p:ext uri="{D42A27DB-BD31-4B8C-83A1-F6EECF244321}">
                <p14:modId xmlns:p14="http://schemas.microsoft.com/office/powerpoint/2010/main" val="2532291288"/>
              </p:ext>
            </p:extLst>
          </p:nvPr>
        </p:nvGraphicFramePr>
        <p:xfrm>
          <a:off x="5084788" y="1572368"/>
          <a:ext cx="2612975" cy="654626"/>
        </p:xfrm>
        <a:graphic>
          <a:graphicData uri="http://schemas.openxmlformats.org/presentationml/2006/ole">
            <mc:AlternateContent xmlns:mc="http://schemas.openxmlformats.org/markup-compatibility/2006">
              <mc:Choice xmlns:v="urn:schemas-microsoft-com:vml" Requires="v">
                <p:oleObj name="Equation" r:id="rId5" imgW="1562040" imgH="393480" progId="Equation.DSMT4">
                  <p:embed/>
                </p:oleObj>
              </mc:Choice>
              <mc:Fallback>
                <p:oleObj name="Equation" r:id="rId5" imgW="1562040" imgH="393480" progId="Equation.DSMT4">
                  <p:embed/>
                  <p:pic>
                    <p:nvPicPr>
                      <p:cNvPr id="23" name="Object 22">
                        <a:extLst>
                          <a:ext uri="{FF2B5EF4-FFF2-40B4-BE49-F238E27FC236}">
                            <a16:creationId xmlns:a16="http://schemas.microsoft.com/office/drawing/2014/main" id="{A65C4BBF-C11F-DC94-450E-C149D482BA89}"/>
                          </a:ext>
                        </a:extLst>
                      </p:cNvPr>
                      <p:cNvPicPr>
                        <a:picLocks noChangeAspect="1" noChangeArrowheads="1"/>
                      </p:cNvPicPr>
                      <p:nvPr/>
                    </p:nvPicPr>
                    <p:blipFill>
                      <a:blip r:embed="rId6"/>
                      <a:srcRect/>
                      <a:stretch>
                        <a:fillRect/>
                      </a:stretch>
                    </p:blipFill>
                    <p:spPr bwMode="auto">
                      <a:xfrm>
                        <a:off x="5084788" y="1572368"/>
                        <a:ext cx="2612975" cy="65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24" descr="right double arrow, L StartFraction d i (t) over d t EndFraction plus R i (t) equals V subscript S.&#10;">
            <a:extLst>
              <a:ext uri="{FF2B5EF4-FFF2-40B4-BE49-F238E27FC236}">
                <a16:creationId xmlns:a16="http://schemas.microsoft.com/office/drawing/2014/main" id="{2CD944AC-1882-F8EB-DED7-A441FF233609}"/>
              </a:ext>
            </a:extLst>
          </p:cNvPr>
          <p:cNvGraphicFramePr>
            <a:graphicFrameLocks noChangeAspect="1"/>
          </p:cNvGraphicFramePr>
          <p:nvPr>
            <p:extLst>
              <p:ext uri="{D42A27DB-BD31-4B8C-83A1-F6EECF244321}">
                <p14:modId xmlns:p14="http://schemas.microsoft.com/office/powerpoint/2010/main" val="1483644880"/>
              </p:ext>
            </p:extLst>
          </p:nvPr>
        </p:nvGraphicFramePr>
        <p:xfrm>
          <a:off x="5163079" y="2374544"/>
          <a:ext cx="2818196" cy="648145"/>
        </p:xfrm>
        <a:graphic>
          <a:graphicData uri="http://schemas.openxmlformats.org/presentationml/2006/ole">
            <mc:AlternateContent xmlns:mc="http://schemas.openxmlformats.org/markup-compatibility/2006">
              <mc:Choice xmlns:v="urn:schemas-microsoft-com:vml" Requires="v">
                <p:oleObj name="Equation" r:id="rId7" imgW="1701720" imgH="393480" progId="Equation.DSMT4">
                  <p:embed/>
                </p:oleObj>
              </mc:Choice>
              <mc:Fallback>
                <p:oleObj name="Equation" r:id="rId7" imgW="1701720" imgH="393480" progId="Equation.DSMT4">
                  <p:embed/>
                  <p:pic>
                    <p:nvPicPr>
                      <p:cNvPr id="24" name="Object 23">
                        <a:extLst>
                          <a:ext uri="{FF2B5EF4-FFF2-40B4-BE49-F238E27FC236}">
                            <a16:creationId xmlns:a16="http://schemas.microsoft.com/office/drawing/2014/main" id="{326F36F6-4BB9-02A3-8569-BCBA35CEFA51}"/>
                          </a:ext>
                        </a:extLst>
                      </p:cNvPr>
                      <p:cNvPicPr>
                        <a:picLocks noChangeAspect="1" noChangeArrowheads="1"/>
                      </p:cNvPicPr>
                      <p:nvPr/>
                    </p:nvPicPr>
                    <p:blipFill>
                      <a:blip r:embed="rId8"/>
                      <a:srcRect/>
                      <a:stretch>
                        <a:fillRect/>
                      </a:stretch>
                    </p:blipFill>
                    <p:spPr bwMode="auto">
                      <a:xfrm>
                        <a:off x="5163079" y="2374544"/>
                        <a:ext cx="2818196" cy="64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1235EE20-9A02-9A14-FCE5-1935060F60EB}"/>
              </a:ext>
            </a:extLst>
          </p:cNvPr>
          <p:cNvSpPr>
            <a:spLocks noGrp="1"/>
          </p:cNvSpPr>
          <p:nvPr>
            <p:ph sz="quarter" idx="13"/>
          </p:nvPr>
        </p:nvSpPr>
        <p:spPr>
          <a:xfrm>
            <a:off x="428336" y="3301872"/>
            <a:ext cx="8256587" cy="2036899"/>
          </a:xfrm>
        </p:spPr>
        <p:txBody>
          <a:bodyPr>
            <a:spAutoFit/>
          </a:bodyPr>
          <a:lstStyle/>
          <a:p>
            <a:pPr marL="0" indent="0">
              <a:spcBef>
                <a:spcPts val="600"/>
              </a:spcBef>
              <a:buNone/>
            </a:pPr>
            <a:r>
              <a:rPr lang="en-US" altLang="en-US" sz="2200" dirty="0"/>
              <a:t>This equation is a</a:t>
            </a:r>
          </a:p>
          <a:p>
            <a:pPr marL="342900" indent="-342900">
              <a:spcBef>
                <a:spcPts val="600"/>
              </a:spcBef>
            </a:pPr>
            <a:r>
              <a:rPr lang="en-US" altLang="en-US" sz="2200" dirty="0"/>
              <a:t>First-order (the highest derivative is a first derivative)</a:t>
            </a:r>
          </a:p>
          <a:p>
            <a:pPr marL="342900" indent="-342900">
              <a:spcBef>
                <a:spcPts val="600"/>
              </a:spcBef>
            </a:pPr>
            <a:r>
              <a:rPr lang="en-US" altLang="en-US" sz="2200" dirty="0"/>
              <a:t>Inhomogeneous (the right-hand side is non-zero)</a:t>
            </a:r>
          </a:p>
          <a:p>
            <a:pPr marL="342900" indent="-342900">
              <a:spcBef>
                <a:spcPts val="600"/>
              </a:spcBef>
            </a:pPr>
            <a:r>
              <a:rPr lang="en-US" altLang="en-US" sz="2200" dirty="0"/>
              <a:t>Ordinary differential equation</a:t>
            </a:r>
          </a:p>
          <a:p>
            <a:pPr marL="342900" indent="-342900">
              <a:spcBef>
                <a:spcPts val="600"/>
              </a:spcBef>
            </a:pPr>
            <a:r>
              <a:rPr lang="en-US" altLang="en-US" sz="2200" dirty="0"/>
              <a:t>With constant coefficients	</a:t>
            </a:r>
            <a:endParaRPr lang="en-US" sz="2200" dirty="0"/>
          </a:p>
        </p:txBody>
      </p:sp>
      <p:sp>
        <p:nvSpPr>
          <p:cNvPr id="5" name="Content Placeholder 4">
            <a:extLst>
              <a:ext uri="{FF2B5EF4-FFF2-40B4-BE49-F238E27FC236}">
                <a16:creationId xmlns:a16="http://schemas.microsoft.com/office/drawing/2014/main" id="{AD1E9EC7-E267-FB63-FDDC-702CBEC25481}"/>
              </a:ext>
            </a:extLst>
          </p:cNvPr>
          <p:cNvSpPr>
            <a:spLocks noGrp="1"/>
          </p:cNvSpPr>
          <p:nvPr>
            <p:ph sz="quarter" idx="14"/>
          </p:nvPr>
        </p:nvSpPr>
        <p:spPr>
          <a:xfrm>
            <a:off x="428337" y="5567044"/>
            <a:ext cx="8256586" cy="713460"/>
          </a:xfrm>
        </p:spPr>
        <p:txBody>
          <a:bodyPr wrap="square">
            <a:spAutoFit/>
          </a:bodyPr>
          <a:lstStyle/>
          <a:p>
            <a:pPr marL="0" indent="0">
              <a:buNone/>
            </a:pPr>
            <a:r>
              <a:rPr lang="en-US" altLang="en-US" sz="2200" dirty="0"/>
              <a:t>The left-hand side of the equation is identical to the describing differential equation for the </a:t>
            </a:r>
            <a:r>
              <a:rPr lang="en-US" altLang="en-US" sz="2200" i="1" spc="-300" dirty="0"/>
              <a:t>R </a:t>
            </a:r>
            <a:r>
              <a:rPr lang="en-US" altLang="en-US" sz="2200" i="1" dirty="0"/>
              <a:t>L</a:t>
            </a:r>
            <a:r>
              <a:rPr lang="en-US" altLang="en-US" sz="2200" dirty="0"/>
              <a:t> Natural Response!</a:t>
            </a:r>
          </a:p>
        </p:txBody>
      </p:sp>
    </p:spTree>
    <p:extLst>
      <p:ext uri="{BB962C8B-B14F-4D97-AF65-F5344CB8AC3E}">
        <p14:creationId xmlns:p14="http://schemas.microsoft.com/office/powerpoint/2010/main" val="297288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5">
            <a:extLst>
              <a:ext uri="{FF2B5EF4-FFF2-40B4-BE49-F238E27FC236}">
                <a16:creationId xmlns:a16="http://schemas.microsoft.com/office/drawing/2014/main" id="{21EC4958-9437-9F0C-5CA0-5378847C6FD8}"/>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(3 of 10)</a:t>
            </a:r>
            <a:endParaRPr lang="en-US" sz="2800" noProof="0" dirty="0"/>
          </a:p>
        </p:txBody>
      </p:sp>
      <p:sp>
        <p:nvSpPr>
          <p:cNvPr id="3" name="Content Placeholder 2">
            <a:extLst>
              <a:ext uri="{FF2B5EF4-FFF2-40B4-BE49-F238E27FC236}">
                <a16:creationId xmlns:a16="http://schemas.microsoft.com/office/drawing/2014/main" id="{1B9EC980-F860-0D98-9E34-FE67B52967A0}"/>
              </a:ext>
            </a:extLst>
          </p:cNvPr>
          <p:cNvSpPr>
            <a:spLocks noGrp="1"/>
          </p:cNvSpPr>
          <p:nvPr>
            <p:ph sz="quarter" idx="12"/>
          </p:nvPr>
        </p:nvSpPr>
        <p:spPr>
          <a:xfrm>
            <a:off x="421069" y="854874"/>
            <a:ext cx="8245382" cy="374906"/>
          </a:xfrm>
        </p:spPr>
        <p:txBody>
          <a:bodyPr wrap="square">
            <a:spAutoFit/>
          </a:bodyPr>
          <a:lstStyle/>
          <a:p>
            <a:pPr marL="0" indent="0">
              <a:buNone/>
            </a:pPr>
            <a:r>
              <a:rPr lang="en-US" altLang="en-US" sz="2200" dirty="0"/>
              <a:t>The circuit we analyzed for the </a:t>
            </a:r>
            <a:r>
              <a:rPr lang="en-US" altLang="en-US" sz="2200" i="1" spc="-300" dirty="0"/>
              <a:t>R </a:t>
            </a:r>
            <a:r>
              <a:rPr lang="en-US" altLang="en-US" sz="2200" i="1" dirty="0"/>
              <a:t>L</a:t>
            </a:r>
            <a:r>
              <a:rPr lang="en-US" altLang="en-US" sz="2200" dirty="0"/>
              <a:t> natural response problem is</a:t>
            </a:r>
            <a:endParaRPr lang="en-US" sz="2200" dirty="0"/>
          </a:p>
        </p:txBody>
      </p:sp>
      <p:sp>
        <p:nvSpPr>
          <p:cNvPr id="4" name="Content Placeholder 3">
            <a:extLst>
              <a:ext uri="{FF2B5EF4-FFF2-40B4-BE49-F238E27FC236}">
                <a16:creationId xmlns:a16="http://schemas.microsoft.com/office/drawing/2014/main" id="{A3D72A3E-4CAF-D1E9-3E2F-50CFC762D85F}"/>
              </a:ext>
            </a:extLst>
          </p:cNvPr>
          <p:cNvSpPr>
            <a:spLocks noGrp="1"/>
          </p:cNvSpPr>
          <p:nvPr>
            <p:ph sz="quarter" idx="13"/>
          </p:nvPr>
        </p:nvSpPr>
        <p:spPr>
          <a:xfrm>
            <a:off x="428336" y="1324133"/>
            <a:ext cx="6318406" cy="374906"/>
          </a:xfrm>
        </p:spPr>
        <p:txBody>
          <a:bodyPr wrap="square">
            <a:spAutoFit/>
          </a:bodyPr>
          <a:lstStyle/>
          <a:p>
            <a:pPr marL="0" indent="0">
              <a:buNone/>
            </a:pPr>
            <a:r>
              <a:rPr lang="en-US" altLang="en-US" sz="2200" dirty="0"/>
              <a:t>shown below, along with the expression for </a:t>
            </a:r>
            <a:r>
              <a:rPr lang="en-US" altLang="en-US" sz="2200" i="1" dirty="0" err="1"/>
              <a:t>i</a:t>
            </a:r>
            <a:r>
              <a:rPr lang="en-US" altLang="en-US" sz="2200" i="1" dirty="0"/>
              <a:t>(t)</a:t>
            </a:r>
            <a:r>
              <a:rPr lang="en-US" altLang="en-US" sz="2200" dirty="0"/>
              <a:t>, for</a:t>
            </a:r>
            <a:endParaRPr lang="en-US" sz="2200" dirty="0"/>
          </a:p>
        </p:txBody>
      </p:sp>
      <p:graphicFrame>
        <p:nvGraphicFramePr>
          <p:cNvPr id="22" name="Object 21" descr="t is greater than or equal to 0.&#10;">
            <a:extLst>
              <a:ext uri="{FF2B5EF4-FFF2-40B4-BE49-F238E27FC236}">
                <a16:creationId xmlns:a16="http://schemas.microsoft.com/office/drawing/2014/main" id="{A8469F0C-F2CD-1DB5-92FD-F66DC293053B}"/>
              </a:ext>
            </a:extLst>
          </p:cNvPr>
          <p:cNvGraphicFramePr>
            <a:graphicFrameLocks noChangeAspect="1"/>
          </p:cNvGraphicFramePr>
          <p:nvPr>
            <p:extLst>
              <p:ext uri="{D42A27DB-BD31-4B8C-83A1-F6EECF244321}">
                <p14:modId xmlns:p14="http://schemas.microsoft.com/office/powerpoint/2010/main" val="699118938"/>
              </p:ext>
            </p:extLst>
          </p:nvPr>
        </p:nvGraphicFramePr>
        <p:xfrm>
          <a:off x="6774450" y="1350078"/>
          <a:ext cx="708025" cy="339725"/>
        </p:xfrm>
        <a:graphic>
          <a:graphicData uri="http://schemas.openxmlformats.org/presentationml/2006/ole">
            <mc:AlternateContent xmlns:mc="http://schemas.openxmlformats.org/markup-compatibility/2006">
              <mc:Choice xmlns:v="urn:schemas-microsoft-com:vml" Requires="v">
                <p:oleObj name="Equation" r:id="rId2" imgW="368280" imgH="177480" progId="Equation.DSMT4">
                  <p:embed/>
                </p:oleObj>
              </mc:Choice>
              <mc:Fallback>
                <p:oleObj name="Equation" r:id="rId2" imgW="368280" imgH="177480" progId="Equation.DSMT4">
                  <p:embed/>
                  <p:pic>
                    <p:nvPicPr>
                      <p:cNvPr id="21" name="Object 20">
                        <a:extLst>
                          <a:ext uri="{FF2B5EF4-FFF2-40B4-BE49-F238E27FC236}">
                            <a16:creationId xmlns:a16="http://schemas.microsoft.com/office/drawing/2014/main" id="{F42F6EC4-8D53-3224-7015-7847D850D9F2}"/>
                          </a:ext>
                        </a:extLst>
                      </p:cNvPr>
                      <p:cNvPicPr>
                        <a:picLocks noChangeAspect="1" noChangeArrowheads="1"/>
                      </p:cNvPicPr>
                      <p:nvPr/>
                    </p:nvPicPr>
                    <p:blipFill>
                      <a:blip r:embed="rId3"/>
                      <a:srcRect/>
                      <a:stretch>
                        <a:fillRect/>
                      </a:stretch>
                    </p:blipFill>
                    <p:spPr bwMode="auto">
                      <a:xfrm>
                        <a:off x="6774450" y="1350078"/>
                        <a:ext cx="708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377F7546-315C-1609-33DB-C30CB1E92B7A}"/>
              </a:ext>
            </a:extLst>
          </p:cNvPr>
          <p:cNvSpPr>
            <a:spLocks noGrp="1"/>
          </p:cNvSpPr>
          <p:nvPr>
            <p:ph sz="quarter" idx="14"/>
          </p:nvPr>
        </p:nvSpPr>
        <p:spPr>
          <a:xfrm>
            <a:off x="7618447" y="1324133"/>
            <a:ext cx="1057240" cy="374906"/>
          </a:xfrm>
        </p:spPr>
        <p:txBody>
          <a:bodyPr wrap="square">
            <a:spAutoFit/>
          </a:bodyPr>
          <a:lstStyle/>
          <a:p>
            <a:pPr marL="0" indent="0">
              <a:buNone/>
            </a:pPr>
            <a:r>
              <a:rPr lang="en-US" sz="2200" dirty="0"/>
              <a:t>What is</a:t>
            </a:r>
          </a:p>
        </p:txBody>
      </p:sp>
      <p:sp>
        <p:nvSpPr>
          <p:cNvPr id="6" name="Content Placeholder 5">
            <a:extLst>
              <a:ext uri="{FF2B5EF4-FFF2-40B4-BE49-F238E27FC236}">
                <a16:creationId xmlns:a16="http://schemas.microsoft.com/office/drawing/2014/main" id="{76FF29D9-343D-0035-AB2A-DA91ADE06ACD}"/>
              </a:ext>
            </a:extLst>
          </p:cNvPr>
          <p:cNvSpPr>
            <a:spLocks noGrp="1"/>
          </p:cNvSpPr>
          <p:nvPr>
            <p:ph sz="quarter" idx="15"/>
          </p:nvPr>
        </p:nvSpPr>
        <p:spPr>
          <a:xfrm>
            <a:off x="421068" y="1825680"/>
            <a:ext cx="2342206" cy="374906"/>
          </a:xfrm>
        </p:spPr>
        <p:txBody>
          <a:bodyPr wrap="square">
            <a:spAutoFit/>
          </a:bodyPr>
          <a:lstStyle/>
          <a:p>
            <a:pPr marL="0" indent="0">
              <a:buNone/>
            </a:pPr>
            <a:r>
              <a:rPr lang="en-US" altLang="en-US" sz="2200" dirty="0"/>
              <a:t>the value of </a:t>
            </a:r>
            <a:r>
              <a:rPr lang="en-US" altLang="en-US" sz="2200" i="1" dirty="0" err="1"/>
              <a:t>i</a:t>
            </a:r>
            <a:r>
              <a:rPr lang="en-US" altLang="en-US" sz="2200" i="1" dirty="0"/>
              <a:t>(t)</a:t>
            </a:r>
            <a:r>
              <a:rPr lang="en-US" altLang="en-US" sz="2200" dirty="0"/>
              <a:t> as</a:t>
            </a:r>
            <a:endParaRPr lang="en-US" sz="2200" dirty="0"/>
          </a:p>
        </p:txBody>
      </p:sp>
      <p:graphicFrame>
        <p:nvGraphicFramePr>
          <p:cNvPr id="23" name="Object 22" descr="t right arrow, infinity question mark.&#10;">
            <a:extLst>
              <a:ext uri="{FF2B5EF4-FFF2-40B4-BE49-F238E27FC236}">
                <a16:creationId xmlns:a16="http://schemas.microsoft.com/office/drawing/2014/main" id="{6432341D-40F1-40E5-7BDD-35B11E7C76F8}"/>
              </a:ext>
            </a:extLst>
          </p:cNvPr>
          <p:cNvGraphicFramePr>
            <a:graphicFrameLocks noChangeAspect="1"/>
          </p:cNvGraphicFramePr>
          <p:nvPr>
            <p:extLst>
              <p:ext uri="{D42A27DB-BD31-4B8C-83A1-F6EECF244321}">
                <p14:modId xmlns:p14="http://schemas.microsoft.com/office/powerpoint/2010/main" val="2242431866"/>
              </p:ext>
            </p:extLst>
          </p:nvPr>
        </p:nvGraphicFramePr>
        <p:xfrm>
          <a:off x="2763274" y="1870978"/>
          <a:ext cx="1025525" cy="339725"/>
        </p:xfrm>
        <a:graphic>
          <a:graphicData uri="http://schemas.openxmlformats.org/presentationml/2006/ole">
            <mc:AlternateContent xmlns:mc="http://schemas.openxmlformats.org/markup-compatibility/2006">
              <mc:Choice xmlns:v="urn:schemas-microsoft-com:vml" Requires="v">
                <p:oleObj name="Equation" r:id="rId4" imgW="533160" imgH="177480" progId="Equation.DSMT4">
                  <p:embed/>
                </p:oleObj>
              </mc:Choice>
              <mc:Fallback>
                <p:oleObj name="Equation" r:id="rId4" imgW="533160" imgH="177480" progId="Equation.DSMT4">
                  <p:embed/>
                  <p:pic>
                    <p:nvPicPr>
                      <p:cNvPr id="22" name="Object 21">
                        <a:extLst>
                          <a:ext uri="{FF2B5EF4-FFF2-40B4-BE49-F238E27FC236}">
                            <a16:creationId xmlns:a16="http://schemas.microsoft.com/office/drawing/2014/main" id="{A8469F0C-F2CD-1DB5-92FD-F66DC293053B}"/>
                          </a:ext>
                        </a:extLst>
                      </p:cNvPr>
                      <p:cNvPicPr>
                        <a:picLocks noChangeAspect="1" noChangeArrowheads="1"/>
                      </p:cNvPicPr>
                      <p:nvPr/>
                    </p:nvPicPr>
                    <p:blipFill>
                      <a:blip r:embed="rId5"/>
                      <a:srcRect/>
                      <a:stretch>
                        <a:fillRect/>
                      </a:stretch>
                    </p:blipFill>
                    <p:spPr bwMode="auto">
                      <a:xfrm>
                        <a:off x="2763274" y="1870978"/>
                        <a:ext cx="1025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 name="Picture 2" descr="A circuit diagram shows a circuit with inductor L as the left wire and resistor R as the right wire of the circuit. Voltage v develops across resistor R with positive polarity at the top node and negative at the bottom. Current i flows through the circuit from left to right in the top wire of the circuit. Current i changes with time t. At the instant when time t is zero, current i with 0 in parenthesis flows upwards through the inductor L, and this current is denoted by I subscript s. ">
            <a:extLst>
              <a:ext uri="{FF2B5EF4-FFF2-40B4-BE49-F238E27FC236}">
                <a16:creationId xmlns:a16="http://schemas.microsoft.com/office/drawing/2014/main" id="{F25BF848-BA23-BEFD-EE6B-9782F324C063}"/>
              </a:ext>
            </a:extLst>
          </p:cNvPr>
          <p:cNvPicPr>
            <a:picLocks noChangeAspect="1" noChangeArrowheads="1"/>
          </p:cNvPicPr>
          <p:nvPr/>
        </p:nvPicPr>
        <p:blipFill>
          <a:blip r:embed="rId6"/>
          <a:srcRect/>
          <a:stretch/>
        </p:blipFill>
        <p:spPr bwMode="auto">
          <a:xfrm>
            <a:off x="589830" y="2514337"/>
            <a:ext cx="3714752" cy="1908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5" name="Object 24" descr="i (t) equals I subscript S baseline e to the negative Open Parenthesis R divided by L Close Parenthesis t power,&#10;">
            <a:extLst>
              <a:ext uri="{FF2B5EF4-FFF2-40B4-BE49-F238E27FC236}">
                <a16:creationId xmlns:a16="http://schemas.microsoft.com/office/drawing/2014/main" id="{DBC778AC-B662-CE3C-F914-0C4B5D8233D8}"/>
              </a:ext>
            </a:extLst>
          </p:cNvPr>
          <p:cNvGraphicFramePr>
            <a:graphicFrameLocks noChangeAspect="1"/>
          </p:cNvGraphicFramePr>
          <p:nvPr>
            <p:extLst>
              <p:ext uri="{D42A27DB-BD31-4B8C-83A1-F6EECF244321}">
                <p14:modId xmlns:p14="http://schemas.microsoft.com/office/powerpoint/2010/main" val="138910358"/>
              </p:ext>
            </p:extLst>
          </p:nvPr>
        </p:nvGraphicFramePr>
        <p:xfrm>
          <a:off x="5176659" y="3119011"/>
          <a:ext cx="1760895" cy="452140"/>
        </p:xfrm>
        <a:graphic>
          <a:graphicData uri="http://schemas.openxmlformats.org/presentationml/2006/ole">
            <mc:AlternateContent xmlns:mc="http://schemas.openxmlformats.org/markup-compatibility/2006">
              <mc:Choice xmlns:v="urn:schemas-microsoft-com:vml" Requires="v">
                <p:oleObj name="Equation" r:id="rId7" imgW="939600" imgH="241200" progId="Equation.DSMT4">
                  <p:embed/>
                </p:oleObj>
              </mc:Choice>
              <mc:Fallback>
                <p:oleObj name="Equation" r:id="rId7" imgW="939600" imgH="241200" progId="Equation.DSMT4">
                  <p:embed/>
                  <p:pic>
                    <p:nvPicPr>
                      <p:cNvPr id="10" name="Object 9"/>
                      <p:cNvPicPr>
                        <a:picLocks noChangeAspect="1" noChangeArrowheads="1"/>
                      </p:cNvPicPr>
                      <p:nvPr/>
                    </p:nvPicPr>
                    <p:blipFill>
                      <a:blip r:embed="rId8"/>
                      <a:srcRect/>
                      <a:stretch>
                        <a:fillRect/>
                      </a:stretch>
                    </p:blipFill>
                    <p:spPr bwMode="auto">
                      <a:xfrm>
                        <a:off x="5176659" y="3119011"/>
                        <a:ext cx="1760895" cy="45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t is greater than or equal to 0.&#10;">
            <a:extLst>
              <a:ext uri="{FF2B5EF4-FFF2-40B4-BE49-F238E27FC236}">
                <a16:creationId xmlns:a16="http://schemas.microsoft.com/office/drawing/2014/main" id="{2271EBFD-94D8-4C3D-9EC0-73A77F2A5ED1}"/>
              </a:ext>
            </a:extLst>
          </p:cNvPr>
          <p:cNvGraphicFramePr>
            <a:graphicFrameLocks noChangeAspect="1"/>
          </p:cNvGraphicFramePr>
          <p:nvPr>
            <p:extLst>
              <p:ext uri="{D42A27DB-BD31-4B8C-83A1-F6EECF244321}">
                <p14:modId xmlns:p14="http://schemas.microsoft.com/office/powerpoint/2010/main" val="3729602390"/>
              </p:ext>
            </p:extLst>
          </p:nvPr>
        </p:nvGraphicFramePr>
        <p:xfrm>
          <a:off x="7116690" y="3151816"/>
          <a:ext cx="703004" cy="364886"/>
        </p:xfrm>
        <a:graphic>
          <a:graphicData uri="http://schemas.openxmlformats.org/presentationml/2006/ole">
            <mc:AlternateContent xmlns:mc="http://schemas.openxmlformats.org/markup-compatibility/2006">
              <mc:Choice xmlns:v="urn:schemas-microsoft-com:vml" Requires="v">
                <p:oleObj name="Equation" r:id="rId9" imgW="342720" imgH="177480" progId="Equation.DSMT4">
                  <p:embed/>
                </p:oleObj>
              </mc:Choice>
              <mc:Fallback>
                <p:oleObj name="Equation" r:id="rId9" imgW="342720" imgH="177480" progId="Equation.DSMT4">
                  <p:embed/>
                  <p:pic>
                    <p:nvPicPr>
                      <p:cNvPr id="25" name="Object 24">
                        <a:extLst>
                          <a:ext uri="{FF2B5EF4-FFF2-40B4-BE49-F238E27FC236}">
                            <a16:creationId xmlns:a16="http://schemas.microsoft.com/office/drawing/2014/main" id="{DBC778AC-B662-CE3C-F914-0C4B5D8233D8}"/>
                          </a:ext>
                        </a:extLst>
                      </p:cNvPr>
                      <p:cNvPicPr>
                        <a:picLocks noChangeAspect="1" noChangeArrowheads="1"/>
                      </p:cNvPicPr>
                      <p:nvPr/>
                    </p:nvPicPr>
                    <p:blipFill>
                      <a:blip r:embed="rId10"/>
                      <a:srcRect/>
                      <a:stretch>
                        <a:fillRect/>
                      </a:stretch>
                    </p:blipFill>
                    <p:spPr bwMode="auto">
                      <a:xfrm>
                        <a:off x="7116690" y="3151816"/>
                        <a:ext cx="703004" cy="36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Content Placeholder 6">
            <a:extLst>
              <a:ext uri="{FF2B5EF4-FFF2-40B4-BE49-F238E27FC236}">
                <a16:creationId xmlns:a16="http://schemas.microsoft.com/office/drawing/2014/main" id="{DDC7F1D5-498F-44B2-0435-1C5D6143E09C}"/>
              </a:ext>
            </a:extLst>
          </p:cNvPr>
          <p:cNvSpPr>
            <a:spLocks noGrp="1"/>
          </p:cNvSpPr>
          <p:nvPr>
            <p:ph sz="quarter" idx="16"/>
          </p:nvPr>
        </p:nvSpPr>
        <p:spPr>
          <a:xfrm>
            <a:off x="1351132" y="4714415"/>
            <a:ext cx="602479" cy="374906"/>
          </a:xfrm>
        </p:spPr>
        <p:txBody>
          <a:bodyPr/>
          <a:lstStyle/>
          <a:p>
            <a:pPr marL="0" indent="0">
              <a:buNone/>
            </a:pPr>
            <a:r>
              <a:rPr lang="en-US" sz="2200" dirty="0">
                <a:solidFill>
                  <a:srgbClr val="007FA3"/>
                </a:solidFill>
              </a:rPr>
              <a:t>A.</a:t>
            </a:r>
            <a:r>
              <a:rPr lang="en-US" sz="2200" dirty="0"/>
              <a:t> </a:t>
            </a:r>
            <a:r>
              <a:rPr lang="en-US" sz="2200" i="1" dirty="0"/>
              <a:t>0</a:t>
            </a:r>
          </a:p>
        </p:txBody>
      </p:sp>
      <p:sp>
        <p:nvSpPr>
          <p:cNvPr id="8" name="Content Placeholder 7">
            <a:extLst>
              <a:ext uri="{FF2B5EF4-FFF2-40B4-BE49-F238E27FC236}">
                <a16:creationId xmlns:a16="http://schemas.microsoft.com/office/drawing/2014/main" id="{C5061307-FED1-3F4D-2273-0C0F2AAE5D61}"/>
              </a:ext>
            </a:extLst>
          </p:cNvPr>
          <p:cNvSpPr>
            <a:spLocks noGrp="1"/>
          </p:cNvSpPr>
          <p:nvPr>
            <p:ph sz="quarter" idx="17"/>
          </p:nvPr>
        </p:nvSpPr>
        <p:spPr>
          <a:xfrm>
            <a:off x="1309471" y="5237120"/>
            <a:ext cx="342900" cy="374906"/>
          </a:xfrm>
        </p:spPr>
        <p:txBody>
          <a:bodyPr/>
          <a:lstStyle/>
          <a:p>
            <a:pPr marL="0" indent="0">
              <a:buNone/>
            </a:pPr>
            <a:r>
              <a:rPr lang="en-US" sz="2200" dirty="0">
                <a:solidFill>
                  <a:srgbClr val="007FA3"/>
                </a:solidFill>
              </a:rPr>
              <a:t>B.</a:t>
            </a:r>
            <a:endParaRPr lang="en-US" sz="2200" i="1" dirty="0"/>
          </a:p>
        </p:txBody>
      </p:sp>
      <p:graphicFrame>
        <p:nvGraphicFramePr>
          <p:cNvPr id="28" name="Object 27" descr="I subscript S.&#10;">
            <a:extLst>
              <a:ext uri="{FF2B5EF4-FFF2-40B4-BE49-F238E27FC236}">
                <a16:creationId xmlns:a16="http://schemas.microsoft.com/office/drawing/2014/main" id="{E7722A14-6909-E4FE-B321-A76360142611}"/>
              </a:ext>
            </a:extLst>
          </p:cNvPr>
          <p:cNvGraphicFramePr>
            <a:graphicFrameLocks noChangeAspect="1"/>
          </p:cNvGraphicFramePr>
          <p:nvPr>
            <p:extLst>
              <p:ext uri="{D42A27DB-BD31-4B8C-83A1-F6EECF244321}">
                <p14:modId xmlns:p14="http://schemas.microsoft.com/office/powerpoint/2010/main" val="1250365858"/>
              </p:ext>
            </p:extLst>
          </p:nvPr>
        </p:nvGraphicFramePr>
        <p:xfrm>
          <a:off x="1675575" y="5212479"/>
          <a:ext cx="293687" cy="436563"/>
        </p:xfrm>
        <a:graphic>
          <a:graphicData uri="http://schemas.openxmlformats.org/presentationml/2006/ole">
            <mc:AlternateContent xmlns:mc="http://schemas.openxmlformats.org/markup-compatibility/2006">
              <mc:Choice xmlns:v="urn:schemas-microsoft-com:vml" Requires="v">
                <p:oleObj name="Equation" r:id="rId11" imgW="152280" imgH="228600" progId="Equation.DSMT4">
                  <p:embed/>
                </p:oleObj>
              </mc:Choice>
              <mc:Fallback>
                <p:oleObj name="Equation" r:id="rId11" imgW="152280" imgH="228600" progId="Equation.DSMT4">
                  <p:embed/>
                  <p:pic>
                    <p:nvPicPr>
                      <p:cNvPr id="23" name="Object 22">
                        <a:extLst>
                          <a:ext uri="{FF2B5EF4-FFF2-40B4-BE49-F238E27FC236}">
                            <a16:creationId xmlns:a16="http://schemas.microsoft.com/office/drawing/2014/main" id="{6432341D-40F1-40E5-7BDD-35B11E7C76F8}"/>
                          </a:ext>
                        </a:extLst>
                      </p:cNvPr>
                      <p:cNvPicPr>
                        <a:picLocks noChangeAspect="1" noChangeArrowheads="1"/>
                      </p:cNvPicPr>
                      <p:nvPr/>
                    </p:nvPicPr>
                    <p:blipFill>
                      <a:blip r:embed="rId12"/>
                      <a:srcRect/>
                      <a:stretch>
                        <a:fillRect/>
                      </a:stretch>
                    </p:blipFill>
                    <p:spPr bwMode="auto">
                      <a:xfrm>
                        <a:off x="1675575" y="5212479"/>
                        <a:ext cx="29368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a:extLst>
              <a:ext uri="{FF2B5EF4-FFF2-40B4-BE49-F238E27FC236}">
                <a16:creationId xmlns:a16="http://schemas.microsoft.com/office/drawing/2014/main" id="{BABCC027-6587-65AB-A132-4F8D32B19128}"/>
              </a:ext>
            </a:extLst>
          </p:cNvPr>
          <p:cNvSpPr>
            <a:spLocks noGrp="1"/>
          </p:cNvSpPr>
          <p:nvPr>
            <p:ph sz="quarter" idx="18"/>
          </p:nvPr>
        </p:nvSpPr>
        <p:spPr>
          <a:xfrm>
            <a:off x="1299507" y="5734615"/>
            <a:ext cx="293688" cy="374906"/>
          </a:xfrm>
        </p:spPr>
        <p:txBody>
          <a:bodyPr>
            <a:spAutoFit/>
          </a:bodyPr>
          <a:lstStyle/>
          <a:p>
            <a:pPr marL="0" indent="0">
              <a:buNone/>
            </a:pPr>
            <a:r>
              <a:rPr lang="en-US" sz="2200" dirty="0">
                <a:solidFill>
                  <a:srgbClr val="007FA3"/>
                </a:solidFill>
              </a:rPr>
              <a:t>C.</a:t>
            </a:r>
            <a:endParaRPr lang="en-US" sz="2200" i="1" dirty="0"/>
          </a:p>
        </p:txBody>
      </p:sp>
      <p:graphicFrame>
        <p:nvGraphicFramePr>
          <p:cNvPr id="30" name="Object 29" descr="infinity.&#10;">
            <a:extLst>
              <a:ext uri="{FF2B5EF4-FFF2-40B4-BE49-F238E27FC236}">
                <a16:creationId xmlns:a16="http://schemas.microsoft.com/office/drawing/2014/main" id="{BAF593EC-7401-CB5D-EDAF-18C6FC0BAECA}"/>
              </a:ext>
            </a:extLst>
          </p:cNvPr>
          <p:cNvGraphicFramePr>
            <a:graphicFrameLocks noChangeAspect="1"/>
          </p:cNvGraphicFramePr>
          <p:nvPr>
            <p:extLst>
              <p:ext uri="{D42A27DB-BD31-4B8C-83A1-F6EECF244321}">
                <p14:modId xmlns:p14="http://schemas.microsoft.com/office/powerpoint/2010/main" val="866253900"/>
              </p:ext>
            </p:extLst>
          </p:nvPr>
        </p:nvGraphicFramePr>
        <p:xfrm>
          <a:off x="1660959" y="5813279"/>
          <a:ext cx="293687" cy="242887"/>
        </p:xfrm>
        <a:graphic>
          <a:graphicData uri="http://schemas.openxmlformats.org/presentationml/2006/ole">
            <mc:AlternateContent xmlns:mc="http://schemas.openxmlformats.org/markup-compatibility/2006">
              <mc:Choice xmlns:v="urn:schemas-microsoft-com:vml" Requires="v">
                <p:oleObj name="Equation" r:id="rId13" imgW="152280" imgH="126720" progId="Equation.DSMT4">
                  <p:embed/>
                </p:oleObj>
              </mc:Choice>
              <mc:Fallback>
                <p:oleObj name="Equation" r:id="rId13" imgW="152280" imgH="126720" progId="Equation.DSMT4">
                  <p:embed/>
                  <p:pic>
                    <p:nvPicPr>
                      <p:cNvPr id="28" name="Object 27">
                        <a:extLst>
                          <a:ext uri="{FF2B5EF4-FFF2-40B4-BE49-F238E27FC236}">
                            <a16:creationId xmlns:a16="http://schemas.microsoft.com/office/drawing/2014/main" id="{E7722A14-6909-E4FE-B321-A76360142611}"/>
                          </a:ext>
                        </a:extLst>
                      </p:cNvPr>
                      <p:cNvPicPr>
                        <a:picLocks noChangeAspect="1" noChangeArrowheads="1"/>
                      </p:cNvPicPr>
                      <p:nvPr/>
                    </p:nvPicPr>
                    <p:blipFill>
                      <a:blip r:embed="rId14"/>
                      <a:srcRect/>
                      <a:stretch>
                        <a:fillRect/>
                      </a:stretch>
                    </p:blipFill>
                    <p:spPr bwMode="auto">
                      <a:xfrm>
                        <a:off x="1660959" y="5813279"/>
                        <a:ext cx="293687"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38981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10985-4471-A10C-DE1F-3C950D9AA47D}"/>
            </a:ext>
          </a:extLst>
        </p:cNvPr>
        <p:cNvGrpSpPr/>
        <p:nvPr/>
      </p:nvGrpSpPr>
      <p:grpSpPr>
        <a:xfrm>
          <a:off x="0" y="0"/>
          <a:ext cx="0" cy="0"/>
          <a:chOff x="0" y="0"/>
          <a:chExt cx="0" cy="0"/>
        </a:xfrm>
      </p:grpSpPr>
      <p:sp>
        <p:nvSpPr>
          <p:cNvPr id="21" name="Title 5">
            <a:extLst>
              <a:ext uri="{FF2B5EF4-FFF2-40B4-BE49-F238E27FC236}">
                <a16:creationId xmlns:a16="http://schemas.microsoft.com/office/drawing/2014/main" id="{9E960833-D827-96CB-9F8D-D06551E81259}"/>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(3 of 10)</a:t>
            </a:r>
            <a:endParaRPr lang="en-US" sz="2800" noProof="0" dirty="0"/>
          </a:p>
        </p:txBody>
      </p:sp>
      <p:sp>
        <p:nvSpPr>
          <p:cNvPr id="3" name="Content Placeholder 2">
            <a:extLst>
              <a:ext uri="{FF2B5EF4-FFF2-40B4-BE49-F238E27FC236}">
                <a16:creationId xmlns:a16="http://schemas.microsoft.com/office/drawing/2014/main" id="{58286B39-247A-A68E-8FAC-016E56D6BF90}"/>
              </a:ext>
            </a:extLst>
          </p:cNvPr>
          <p:cNvSpPr>
            <a:spLocks noGrp="1"/>
          </p:cNvSpPr>
          <p:nvPr>
            <p:ph sz="quarter" idx="12"/>
          </p:nvPr>
        </p:nvSpPr>
        <p:spPr>
          <a:xfrm>
            <a:off x="421069" y="854874"/>
            <a:ext cx="8245382" cy="374906"/>
          </a:xfrm>
        </p:spPr>
        <p:txBody>
          <a:bodyPr wrap="square">
            <a:spAutoFit/>
          </a:bodyPr>
          <a:lstStyle/>
          <a:p>
            <a:pPr marL="0" indent="0">
              <a:buNone/>
            </a:pPr>
            <a:r>
              <a:rPr lang="en-US" altLang="en-US" sz="2200" dirty="0"/>
              <a:t>The circuit we analyzed for the </a:t>
            </a:r>
            <a:r>
              <a:rPr lang="en-US" altLang="en-US" sz="2200" i="1" spc="-300" dirty="0"/>
              <a:t>R </a:t>
            </a:r>
            <a:r>
              <a:rPr lang="en-US" altLang="en-US" sz="2200" i="1" dirty="0"/>
              <a:t>L</a:t>
            </a:r>
            <a:r>
              <a:rPr lang="en-US" altLang="en-US" sz="2200" dirty="0"/>
              <a:t> natural response problem is</a:t>
            </a:r>
            <a:endParaRPr lang="en-US" sz="2200" dirty="0"/>
          </a:p>
        </p:txBody>
      </p:sp>
      <p:sp>
        <p:nvSpPr>
          <p:cNvPr id="4" name="Content Placeholder 3">
            <a:extLst>
              <a:ext uri="{FF2B5EF4-FFF2-40B4-BE49-F238E27FC236}">
                <a16:creationId xmlns:a16="http://schemas.microsoft.com/office/drawing/2014/main" id="{20CC04CB-8EE6-13FD-95B4-B316BE2C362C}"/>
              </a:ext>
            </a:extLst>
          </p:cNvPr>
          <p:cNvSpPr>
            <a:spLocks noGrp="1"/>
          </p:cNvSpPr>
          <p:nvPr>
            <p:ph sz="quarter" idx="13"/>
          </p:nvPr>
        </p:nvSpPr>
        <p:spPr>
          <a:xfrm>
            <a:off x="428336" y="1324133"/>
            <a:ext cx="6318406" cy="374906"/>
          </a:xfrm>
        </p:spPr>
        <p:txBody>
          <a:bodyPr wrap="square">
            <a:spAutoFit/>
          </a:bodyPr>
          <a:lstStyle/>
          <a:p>
            <a:pPr marL="0" indent="0">
              <a:buNone/>
            </a:pPr>
            <a:r>
              <a:rPr lang="en-US" altLang="en-US" sz="2200" dirty="0"/>
              <a:t>shown below, along with the expression for </a:t>
            </a:r>
            <a:r>
              <a:rPr lang="en-US" altLang="en-US" sz="2200" i="1" dirty="0" err="1"/>
              <a:t>i</a:t>
            </a:r>
            <a:r>
              <a:rPr lang="en-US" altLang="en-US" sz="2200" i="1" dirty="0"/>
              <a:t>(t)</a:t>
            </a:r>
            <a:r>
              <a:rPr lang="en-US" altLang="en-US" sz="2200" dirty="0"/>
              <a:t>, for</a:t>
            </a:r>
            <a:endParaRPr lang="en-US" sz="2200" dirty="0"/>
          </a:p>
        </p:txBody>
      </p:sp>
      <p:graphicFrame>
        <p:nvGraphicFramePr>
          <p:cNvPr id="22" name="Object 21" descr="t is greater than or equal to 0.&#10;">
            <a:extLst>
              <a:ext uri="{FF2B5EF4-FFF2-40B4-BE49-F238E27FC236}">
                <a16:creationId xmlns:a16="http://schemas.microsoft.com/office/drawing/2014/main" id="{49E6FA00-800D-00E1-13C2-F3C4F3DCE250}"/>
              </a:ext>
            </a:extLst>
          </p:cNvPr>
          <p:cNvGraphicFramePr>
            <a:graphicFrameLocks noChangeAspect="1"/>
          </p:cNvGraphicFramePr>
          <p:nvPr/>
        </p:nvGraphicFramePr>
        <p:xfrm>
          <a:off x="6774450" y="1350078"/>
          <a:ext cx="708025" cy="339725"/>
        </p:xfrm>
        <a:graphic>
          <a:graphicData uri="http://schemas.openxmlformats.org/presentationml/2006/ole">
            <mc:AlternateContent xmlns:mc="http://schemas.openxmlformats.org/markup-compatibility/2006">
              <mc:Choice xmlns:v="urn:schemas-microsoft-com:vml" Requires="v">
                <p:oleObj name="Equation" r:id="rId5" imgW="368280" imgH="177480" progId="Equation.DSMT4">
                  <p:embed/>
                </p:oleObj>
              </mc:Choice>
              <mc:Fallback>
                <p:oleObj name="Equation" r:id="rId5" imgW="368280" imgH="177480" progId="Equation.DSMT4">
                  <p:embed/>
                  <p:pic>
                    <p:nvPicPr>
                      <p:cNvPr id="22" name="Object 21" descr="t is greater than or equal to 0.&#10;">
                        <a:extLst>
                          <a:ext uri="{FF2B5EF4-FFF2-40B4-BE49-F238E27FC236}">
                            <a16:creationId xmlns:a16="http://schemas.microsoft.com/office/drawing/2014/main" id="{A8469F0C-F2CD-1DB5-92FD-F66DC293053B}"/>
                          </a:ext>
                        </a:extLst>
                      </p:cNvPr>
                      <p:cNvPicPr>
                        <a:picLocks noChangeAspect="1" noChangeArrowheads="1"/>
                      </p:cNvPicPr>
                      <p:nvPr/>
                    </p:nvPicPr>
                    <p:blipFill>
                      <a:blip r:embed="rId6"/>
                      <a:srcRect/>
                      <a:stretch>
                        <a:fillRect/>
                      </a:stretch>
                    </p:blipFill>
                    <p:spPr bwMode="auto">
                      <a:xfrm>
                        <a:off x="6774450" y="1350078"/>
                        <a:ext cx="708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5BA980BB-B4DD-4EFA-FF2F-D7B04F24ABAF}"/>
              </a:ext>
            </a:extLst>
          </p:cNvPr>
          <p:cNvSpPr>
            <a:spLocks noGrp="1"/>
          </p:cNvSpPr>
          <p:nvPr>
            <p:ph sz="quarter" idx="14"/>
          </p:nvPr>
        </p:nvSpPr>
        <p:spPr>
          <a:xfrm>
            <a:off x="7618447" y="1324133"/>
            <a:ext cx="1057240" cy="374906"/>
          </a:xfrm>
        </p:spPr>
        <p:txBody>
          <a:bodyPr wrap="square">
            <a:spAutoFit/>
          </a:bodyPr>
          <a:lstStyle/>
          <a:p>
            <a:pPr marL="0" indent="0">
              <a:buNone/>
            </a:pPr>
            <a:r>
              <a:rPr lang="en-US" sz="2200" dirty="0"/>
              <a:t>What is</a:t>
            </a:r>
          </a:p>
        </p:txBody>
      </p:sp>
      <p:sp>
        <p:nvSpPr>
          <p:cNvPr id="6" name="Content Placeholder 5">
            <a:extLst>
              <a:ext uri="{FF2B5EF4-FFF2-40B4-BE49-F238E27FC236}">
                <a16:creationId xmlns:a16="http://schemas.microsoft.com/office/drawing/2014/main" id="{9C7B975E-F651-C05B-99E6-C037952CE8A2}"/>
              </a:ext>
            </a:extLst>
          </p:cNvPr>
          <p:cNvSpPr>
            <a:spLocks noGrp="1"/>
          </p:cNvSpPr>
          <p:nvPr>
            <p:ph sz="quarter" idx="15"/>
          </p:nvPr>
        </p:nvSpPr>
        <p:spPr>
          <a:xfrm>
            <a:off x="421068" y="1825680"/>
            <a:ext cx="2342206" cy="374906"/>
          </a:xfrm>
        </p:spPr>
        <p:txBody>
          <a:bodyPr wrap="square">
            <a:spAutoFit/>
          </a:bodyPr>
          <a:lstStyle/>
          <a:p>
            <a:pPr marL="0" indent="0">
              <a:buNone/>
            </a:pPr>
            <a:r>
              <a:rPr lang="en-US" altLang="en-US" sz="2200" dirty="0"/>
              <a:t>the value of </a:t>
            </a:r>
            <a:r>
              <a:rPr lang="en-US" altLang="en-US" sz="2200" i="1" dirty="0" err="1"/>
              <a:t>i</a:t>
            </a:r>
            <a:r>
              <a:rPr lang="en-US" altLang="en-US" sz="2200" i="1" dirty="0"/>
              <a:t>(t)</a:t>
            </a:r>
            <a:r>
              <a:rPr lang="en-US" altLang="en-US" sz="2200" dirty="0"/>
              <a:t> as</a:t>
            </a:r>
            <a:endParaRPr lang="en-US" sz="2200" dirty="0"/>
          </a:p>
        </p:txBody>
      </p:sp>
      <p:graphicFrame>
        <p:nvGraphicFramePr>
          <p:cNvPr id="23" name="Object 22" descr="t right arrow, infinity question mark.&#10;">
            <a:extLst>
              <a:ext uri="{FF2B5EF4-FFF2-40B4-BE49-F238E27FC236}">
                <a16:creationId xmlns:a16="http://schemas.microsoft.com/office/drawing/2014/main" id="{0AD84D92-AC52-63C9-0796-115944FCF6FF}"/>
              </a:ext>
            </a:extLst>
          </p:cNvPr>
          <p:cNvGraphicFramePr>
            <a:graphicFrameLocks noChangeAspect="1"/>
          </p:cNvGraphicFramePr>
          <p:nvPr/>
        </p:nvGraphicFramePr>
        <p:xfrm>
          <a:off x="2763274" y="1870978"/>
          <a:ext cx="1025525" cy="339725"/>
        </p:xfrm>
        <a:graphic>
          <a:graphicData uri="http://schemas.openxmlformats.org/presentationml/2006/ole">
            <mc:AlternateContent xmlns:mc="http://schemas.openxmlformats.org/markup-compatibility/2006">
              <mc:Choice xmlns:v="urn:schemas-microsoft-com:vml" Requires="v">
                <p:oleObj name="Equation" r:id="rId7" imgW="533160" imgH="177480" progId="Equation.DSMT4">
                  <p:embed/>
                </p:oleObj>
              </mc:Choice>
              <mc:Fallback>
                <p:oleObj name="Equation" r:id="rId7" imgW="533160" imgH="177480" progId="Equation.DSMT4">
                  <p:embed/>
                  <p:pic>
                    <p:nvPicPr>
                      <p:cNvPr id="23" name="Object 22" descr="t right arrow, infinity question mark.&#10;">
                        <a:extLst>
                          <a:ext uri="{FF2B5EF4-FFF2-40B4-BE49-F238E27FC236}">
                            <a16:creationId xmlns:a16="http://schemas.microsoft.com/office/drawing/2014/main" id="{6432341D-40F1-40E5-7BDD-35B11E7C76F8}"/>
                          </a:ext>
                        </a:extLst>
                      </p:cNvPr>
                      <p:cNvPicPr>
                        <a:picLocks noChangeAspect="1" noChangeArrowheads="1"/>
                      </p:cNvPicPr>
                      <p:nvPr/>
                    </p:nvPicPr>
                    <p:blipFill>
                      <a:blip r:embed="rId8"/>
                      <a:srcRect/>
                      <a:stretch>
                        <a:fillRect/>
                      </a:stretch>
                    </p:blipFill>
                    <p:spPr bwMode="auto">
                      <a:xfrm>
                        <a:off x="2763274" y="1870978"/>
                        <a:ext cx="10255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 name="Picture 2" descr="A circuit diagram shows a circuit with inductor L as the left wire and resistor R as the right wire of the circuit. Voltage v develops across resistor R with positive polarity at the top node and negative at the bottom. Current i flows through the circuit from left to right in the top wire of the circuit. Current i changes with time t. At the instant when time t is zero, current i with 0 in parenthesis flows upwards through the inductor L, and this current is denoted by I subscript s. ">
            <a:extLst>
              <a:ext uri="{FF2B5EF4-FFF2-40B4-BE49-F238E27FC236}">
                <a16:creationId xmlns:a16="http://schemas.microsoft.com/office/drawing/2014/main" id="{19306856-136E-E8D1-D5B6-6E569ADD0103}"/>
              </a:ext>
            </a:extLst>
          </p:cNvPr>
          <p:cNvPicPr>
            <a:picLocks noChangeAspect="1" noChangeArrowheads="1"/>
          </p:cNvPicPr>
          <p:nvPr/>
        </p:nvPicPr>
        <p:blipFill>
          <a:blip r:embed="rId9"/>
          <a:srcRect/>
          <a:stretch/>
        </p:blipFill>
        <p:spPr bwMode="auto">
          <a:xfrm>
            <a:off x="589830" y="2514337"/>
            <a:ext cx="3714752" cy="1908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5" name="Object 24" descr="i (t) equals I subscript S baseline e to the negative Open Parenthesis R divided by L Close Parenthesis t power,&#10;">
            <a:extLst>
              <a:ext uri="{FF2B5EF4-FFF2-40B4-BE49-F238E27FC236}">
                <a16:creationId xmlns:a16="http://schemas.microsoft.com/office/drawing/2014/main" id="{0D3F4489-14DB-9634-4CC0-33829FAAFD0C}"/>
              </a:ext>
            </a:extLst>
          </p:cNvPr>
          <p:cNvGraphicFramePr>
            <a:graphicFrameLocks noChangeAspect="1"/>
          </p:cNvGraphicFramePr>
          <p:nvPr/>
        </p:nvGraphicFramePr>
        <p:xfrm>
          <a:off x="5176659" y="3119011"/>
          <a:ext cx="1760895" cy="452140"/>
        </p:xfrm>
        <a:graphic>
          <a:graphicData uri="http://schemas.openxmlformats.org/presentationml/2006/ole">
            <mc:AlternateContent xmlns:mc="http://schemas.openxmlformats.org/markup-compatibility/2006">
              <mc:Choice xmlns:v="urn:schemas-microsoft-com:vml" Requires="v">
                <p:oleObj name="Equation" r:id="rId10" imgW="939600" imgH="241200" progId="Equation.DSMT4">
                  <p:embed/>
                </p:oleObj>
              </mc:Choice>
              <mc:Fallback>
                <p:oleObj name="Equation" r:id="rId10" imgW="939600" imgH="241200" progId="Equation.DSMT4">
                  <p:embed/>
                  <p:pic>
                    <p:nvPicPr>
                      <p:cNvPr id="25" name="Object 24" descr="i (t) equals I subscript S baseline e to the negative Open Parenthesis R divided by L Close Parenthesis t power,&#10;">
                        <a:extLst>
                          <a:ext uri="{FF2B5EF4-FFF2-40B4-BE49-F238E27FC236}">
                            <a16:creationId xmlns:a16="http://schemas.microsoft.com/office/drawing/2014/main" id="{DBC778AC-B662-CE3C-F914-0C4B5D8233D8}"/>
                          </a:ext>
                        </a:extLst>
                      </p:cNvPr>
                      <p:cNvPicPr>
                        <a:picLocks noChangeAspect="1" noChangeArrowheads="1"/>
                      </p:cNvPicPr>
                      <p:nvPr/>
                    </p:nvPicPr>
                    <p:blipFill>
                      <a:blip r:embed="rId11"/>
                      <a:srcRect/>
                      <a:stretch>
                        <a:fillRect/>
                      </a:stretch>
                    </p:blipFill>
                    <p:spPr bwMode="auto">
                      <a:xfrm>
                        <a:off x="5176659" y="3119011"/>
                        <a:ext cx="1760895" cy="452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8" descr="t is greater than or equal to 0.&#10;">
            <a:extLst>
              <a:ext uri="{FF2B5EF4-FFF2-40B4-BE49-F238E27FC236}">
                <a16:creationId xmlns:a16="http://schemas.microsoft.com/office/drawing/2014/main" id="{D60ABEC9-2888-7C89-AEA4-B14628670F2E}"/>
              </a:ext>
            </a:extLst>
          </p:cNvPr>
          <p:cNvGraphicFramePr>
            <a:graphicFrameLocks noChangeAspect="1"/>
          </p:cNvGraphicFramePr>
          <p:nvPr/>
        </p:nvGraphicFramePr>
        <p:xfrm>
          <a:off x="7116690" y="3151816"/>
          <a:ext cx="703004" cy="364886"/>
        </p:xfrm>
        <a:graphic>
          <a:graphicData uri="http://schemas.openxmlformats.org/presentationml/2006/ole">
            <mc:AlternateContent xmlns:mc="http://schemas.openxmlformats.org/markup-compatibility/2006">
              <mc:Choice xmlns:v="urn:schemas-microsoft-com:vml" Requires="v">
                <p:oleObj name="Equation" r:id="rId12" imgW="342720" imgH="177480" progId="Equation.DSMT4">
                  <p:embed/>
                </p:oleObj>
              </mc:Choice>
              <mc:Fallback>
                <p:oleObj name="Equation" r:id="rId12" imgW="342720" imgH="177480" progId="Equation.DSMT4">
                  <p:embed/>
                  <p:pic>
                    <p:nvPicPr>
                      <p:cNvPr id="19" name="Object 18" descr="t is greater than or equal to 0.&#10;">
                        <a:extLst>
                          <a:ext uri="{FF2B5EF4-FFF2-40B4-BE49-F238E27FC236}">
                            <a16:creationId xmlns:a16="http://schemas.microsoft.com/office/drawing/2014/main" id="{2271EBFD-94D8-4C3D-9EC0-73A77F2A5ED1}"/>
                          </a:ext>
                        </a:extLst>
                      </p:cNvPr>
                      <p:cNvPicPr>
                        <a:picLocks noChangeAspect="1" noChangeArrowheads="1"/>
                      </p:cNvPicPr>
                      <p:nvPr/>
                    </p:nvPicPr>
                    <p:blipFill>
                      <a:blip r:embed="rId13"/>
                      <a:srcRect/>
                      <a:stretch>
                        <a:fillRect/>
                      </a:stretch>
                    </p:blipFill>
                    <p:spPr bwMode="auto">
                      <a:xfrm>
                        <a:off x="7116690" y="3151816"/>
                        <a:ext cx="703004" cy="364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6" name="Picture 1435" descr="Check mark">
            <a:extLst>
              <a:ext uri="{FF2B5EF4-FFF2-40B4-BE49-F238E27FC236}">
                <a16:creationId xmlns:a16="http://schemas.microsoft.com/office/drawing/2014/main" id="{1ED23C37-5F75-4EFC-F4E9-FF7B334FFFAE}"/>
              </a:ext>
            </a:extLst>
          </p:cNvPr>
          <p:cNvPicPr>
            <a:picLocks/>
          </p:cNvPicPr>
          <p:nvPr>
            <p:custDataLst>
              <p:tags r:id="rId1"/>
            </p:custDataLst>
          </p:nvPr>
        </p:nvPicPr>
        <p:blipFill>
          <a:blip r:embed="rId14">
            <a:extLst>
              <a:ext uri="{28A0092B-C50C-407E-A947-70E740481C1C}">
                <a14:useLocalDpi xmlns:a14="http://schemas.microsoft.com/office/drawing/2010/main" val="0"/>
              </a:ext>
            </a:extLst>
          </a:blip>
          <a:srcRect/>
          <a:stretch>
            <a:fillRect/>
          </a:stretch>
        </p:blipFill>
        <p:spPr bwMode="auto">
          <a:xfrm>
            <a:off x="838200" y="474642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7605A60A-0F99-0585-434A-26F4DC67CB55}"/>
              </a:ext>
            </a:extLst>
          </p:cNvPr>
          <p:cNvSpPr>
            <a:spLocks noGrp="1"/>
          </p:cNvSpPr>
          <p:nvPr>
            <p:ph sz="quarter" idx="16"/>
          </p:nvPr>
        </p:nvSpPr>
        <p:spPr>
          <a:xfrm>
            <a:off x="1351132" y="4714415"/>
            <a:ext cx="602479" cy="374906"/>
          </a:xfrm>
        </p:spPr>
        <p:txBody>
          <a:bodyPr/>
          <a:lstStyle/>
          <a:p>
            <a:pPr marL="0" indent="0">
              <a:buNone/>
            </a:pPr>
            <a:r>
              <a:rPr lang="en-US" sz="2200" dirty="0">
                <a:solidFill>
                  <a:srgbClr val="007FA3"/>
                </a:solidFill>
              </a:rPr>
              <a:t>A.</a:t>
            </a:r>
            <a:r>
              <a:rPr lang="en-US" sz="2200" dirty="0"/>
              <a:t> </a:t>
            </a:r>
            <a:r>
              <a:rPr lang="en-US" sz="2200" i="1" dirty="0"/>
              <a:t>0</a:t>
            </a:r>
          </a:p>
        </p:txBody>
      </p:sp>
      <p:pic>
        <p:nvPicPr>
          <p:cNvPr id="27" name="Picture 1434" descr="Cross mark">
            <a:extLst>
              <a:ext uri="{FF2B5EF4-FFF2-40B4-BE49-F238E27FC236}">
                <a16:creationId xmlns:a16="http://schemas.microsoft.com/office/drawing/2014/main" id="{AB976C6B-13A0-9C97-1839-5B946D54E297}"/>
              </a:ext>
            </a:extLst>
          </p:cNvPr>
          <p:cNvPicPr>
            <a:picLocks/>
          </p:cNvPicPr>
          <p:nvPr>
            <p:custDataLst>
              <p:tags r:id="rId2"/>
            </p:custDataLst>
          </p:nvPr>
        </p:nvPicPr>
        <p:blipFill>
          <a:blip r:embed="rId15">
            <a:extLst>
              <a:ext uri="{28A0092B-C50C-407E-A947-70E740481C1C}">
                <a14:useLocalDpi xmlns:a14="http://schemas.microsoft.com/office/drawing/2010/main" val="0"/>
              </a:ext>
            </a:extLst>
          </a:blip>
          <a:srcRect/>
          <a:stretch>
            <a:fillRect/>
          </a:stretch>
        </p:blipFill>
        <p:spPr bwMode="auto">
          <a:xfrm>
            <a:off x="838200" y="5298972"/>
            <a:ext cx="342900" cy="264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A9ABB4D7-5F2B-7A9B-4B41-F5D2BD46A875}"/>
              </a:ext>
            </a:extLst>
          </p:cNvPr>
          <p:cNvSpPr>
            <a:spLocks noGrp="1"/>
          </p:cNvSpPr>
          <p:nvPr>
            <p:ph sz="quarter" idx="17"/>
          </p:nvPr>
        </p:nvSpPr>
        <p:spPr>
          <a:xfrm>
            <a:off x="1309471" y="5237120"/>
            <a:ext cx="342900" cy="374906"/>
          </a:xfrm>
        </p:spPr>
        <p:txBody>
          <a:bodyPr/>
          <a:lstStyle/>
          <a:p>
            <a:pPr marL="0" indent="0">
              <a:buNone/>
            </a:pPr>
            <a:r>
              <a:rPr lang="en-US" sz="2200" dirty="0">
                <a:solidFill>
                  <a:srgbClr val="007FA3"/>
                </a:solidFill>
              </a:rPr>
              <a:t>B.</a:t>
            </a:r>
            <a:endParaRPr lang="en-US" sz="2200" i="1" dirty="0"/>
          </a:p>
        </p:txBody>
      </p:sp>
      <p:graphicFrame>
        <p:nvGraphicFramePr>
          <p:cNvPr id="28" name="Object 27" descr="I subscript S.&#10;">
            <a:extLst>
              <a:ext uri="{FF2B5EF4-FFF2-40B4-BE49-F238E27FC236}">
                <a16:creationId xmlns:a16="http://schemas.microsoft.com/office/drawing/2014/main" id="{5C06ED5B-C1D5-13EC-3106-A16D6DD64FAE}"/>
              </a:ext>
            </a:extLst>
          </p:cNvPr>
          <p:cNvGraphicFramePr>
            <a:graphicFrameLocks noChangeAspect="1"/>
          </p:cNvGraphicFramePr>
          <p:nvPr/>
        </p:nvGraphicFramePr>
        <p:xfrm>
          <a:off x="1675575" y="5212479"/>
          <a:ext cx="293687" cy="436563"/>
        </p:xfrm>
        <a:graphic>
          <a:graphicData uri="http://schemas.openxmlformats.org/presentationml/2006/ole">
            <mc:AlternateContent xmlns:mc="http://schemas.openxmlformats.org/markup-compatibility/2006">
              <mc:Choice xmlns:v="urn:schemas-microsoft-com:vml" Requires="v">
                <p:oleObj name="Equation" r:id="rId16" imgW="152280" imgH="228600" progId="Equation.DSMT4">
                  <p:embed/>
                </p:oleObj>
              </mc:Choice>
              <mc:Fallback>
                <p:oleObj name="Equation" r:id="rId16" imgW="152280" imgH="228600" progId="Equation.DSMT4">
                  <p:embed/>
                  <p:pic>
                    <p:nvPicPr>
                      <p:cNvPr id="28" name="Object 27" descr="I subscript S.&#10;">
                        <a:extLst>
                          <a:ext uri="{FF2B5EF4-FFF2-40B4-BE49-F238E27FC236}">
                            <a16:creationId xmlns:a16="http://schemas.microsoft.com/office/drawing/2014/main" id="{E7722A14-6909-E4FE-B321-A76360142611}"/>
                          </a:ext>
                        </a:extLst>
                      </p:cNvPr>
                      <p:cNvPicPr>
                        <a:picLocks noChangeAspect="1" noChangeArrowheads="1"/>
                      </p:cNvPicPr>
                      <p:nvPr/>
                    </p:nvPicPr>
                    <p:blipFill>
                      <a:blip r:embed="rId17"/>
                      <a:srcRect/>
                      <a:stretch>
                        <a:fillRect/>
                      </a:stretch>
                    </p:blipFill>
                    <p:spPr bwMode="auto">
                      <a:xfrm>
                        <a:off x="1675575" y="5212479"/>
                        <a:ext cx="29368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 name="Picture 1434" descr="Cross mark">
            <a:extLst>
              <a:ext uri="{FF2B5EF4-FFF2-40B4-BE49-F238E27FC236}">
                <a16:creationId xmlns:a16="http://schemas.microsoft.com/office/drawing/2014/main" id="{63666027-5661-1ED0-1532-A354476EC148}"/>
              </a:ext>
            </a:extLst>
          </p:cNvPr>
          <p:cNvPicPr>
            <a:picLocks/>
          </p:cNvPicPr>
          <p:nvPr>
            <p:custDataLst>
              <p:tags r:id="rId3"/>
            </p:custDataLst>
          </p:nvPr>
        </p:nvPicPr>
        <p:blipFill>
          <a:blip r:embed="rId15">
            <a:extLst>
              <a:ext uri="{28A0092B-C50C-407E-A947-70E740481C1C}">
                <a14:useLocalDpi xmlns:a14="http://schemas.microsoft.com/office/drawing/2010/main" val="0"/>
              </a:ext>
            </a:extLst>
          </a:blip>
          <a:srcRect/>
          <a:stretch>
            <a:fillRect/>
          </a:stretch>
        </p:blipFill>
        <p:spPr bwMode="auto">
          <a:xfrm>
            <a:off x="838200" y="5786919"/>
            <a:ext cx="342900" cy="28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CA8E3D69-9815-381B-9E40-DF40C2A5C0AF}"/>
              </a:ext>
            </a:extLst>
          </p:cNvPr>
          <p:cNvSpPr>
            <a:spLocks noGrp="1"/>
          </p:cNvSpPr>
          <p:nvPr>
            <p:ph sz="quarter" idx="18"/>
          </p:nvPr>
        </p:nvSpPr>
        <p:spPr>
          <a:xfrm>
            <a:off x="1299507" y="5734615"/>
            <a:ext cx="293688" cy="374906"/>
          </a:xfrm>
        </p:spPr>
        <p:txBody>
          <a:bodyPr>
            <a:spAutoFit/>
          </a:bodyPr>
          <a:lstStyle/>
          <a:p>
            <a:pPr marL="0" indent="0">
              <a:buNone/>
            </a:pPr>
            <a:r>
              <a:rPr lang="en-US" sz="2200" dirty="0">
                <a:solidFill>
                  <a:srgbClr val="007FA3"/>
                </a:solidFill>
              </a:rPr>
              <a:t>C.</a:t>
            </a:r>
            <a:endParaRPr lang="en-US" sz="2200" i="1" dirty="0"/>
          </a:p>
        </p:txBody>
      </p:sp>
      <p:graphicFrame>
        <p:nvGraphicFramePr>
          <p:cNvPr id="30" name="Object 29" descr="infinity.&#10;">
            <a:extLst>
              <a:ext uri="{FF2B5EF4-FFF2-40B4-BE49-F238E27FC236}">
                <a16:creationId xmlns:a16="http://schemas.microsoft.com/office/drawing/2014/main" id="{3CCDB664-CF1B-0C78-B7AA-1A5CCF72ADAF}"/>
              </a:ext>
            </a:extLst>
          </p:cNvPr>
          <p:cNvGraphicFramePr>
            <a:graphicFrameLocks noChangeAspect="1"/>
          </p:cNvGraphicFramePr>
          <p:nvPr/>
        </p:nvGraphicFramePr>
        <p:xfrm>
          <a:off x="1660959" y="5813279"/>
          <a:ext cx="293687" cy="242887"/>
        </p:xfrm>
        <a:graphic>
          <a:graphicData uri="http://schemas.openxmlformats.org/presentationml/2006/ole">
            <mc:AlternateContent xmlns:mc="http://schemas.openxmlformats.org/markup-compatibility/2006">
              <mc:Choice xmlns:v="urn:schemas-microsoft-com:vml" Requires="v">
                <p:oleObj name="Equation" r:id="rId18" imgW="152280" imgH="126720" progId="Equation.DSMT4">
                  <p:embed/>
                </p:oleObj>
              </mc:Choice>
              <mc:Fallback>
                <p:oleObj name="Equation" r:id="rId18" imgW="152280" imgH="126720" progId="Equation.DSMT4">
                  <p:embed/>
                  <p:pic>
                    <p:nvPicPr>
                      <p:cNvPr id="30" name="Object 29" descr="infinity.&#10;">
                        <a:extLst>
                          <a:ext uri="{FF2B5EF4-FFF2-40B4-BE49-F238E27FC236}">
                            <a16:creationId xmlns:a16="http://schemas.microsoft.com/office/drawing/2014/main" id="{BAF593EC-7401-CB5D-EDAF-18C6FC0BAECA}"/>
                          </a:ext>
                        </a:extLst>
                      </p:cNvPr>
                      <p:cNvPicPr>
                        <a:picLocks noChangeAspect="1" noChangeArrowheads="1"/>
                      </p:cNvPicPr>
                      <p:nvPr/>
                    </p:nvPicPr>
                    <p:blipFill>
                      <a:blip r:embed="rId19"/>
                      <a:srcRect/>
                      <a:stretch>
                        <a:fillRect/>
                      </a:stretch>
                    </p:blipFill>
                    <p:spPr bwMode="auto">
                      <a:xfrm>
                        <a:off x="1660959" y="5813279"/>
                        <a:ext cx="293687"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19082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5">
            <a:extLst>
              <a:ext uri="{FF2B5EF4-FFF2-40B4-BE49-F238E27FC236}">
                <a16:creationId xmlns:a16="http://schemas.microsoft.com/office/drawing/2014/main" id="{3C7725CE-6AFA-0182-2912-F36B4EB3031C}"/>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(4 of 10)</a:t>
            </a:r>
            <a:endParaRPr lang="en-US" sz="2800" noProof="0" dirty="0"/>
          </a:p>
        </p:txBody>
      </p:sp>
      <p:sp>
        <p:nvSpPr>
          <p:cNvPr id="3" name="Content Placeholder 2">
            <a:extLst>
              <a:ext uri="{FF2B5EF4-FFF2-40B4-BE49-F238E27FC236}">
                <a16:creationId xmlns:a16="http://schemas.microsoft.com/office/drawing/2014/main" id="{8C81823C-7F78-17E8-68AB-0A3BBC2A3D0B}"/>
              </a:ext>
            </a:extLst>
          </p:cNvPr>
          <p:cNvSpPr>
            <a:spLocks noGrp="1"/>
          </p:cNvSpPr>
          <p:nvPr>
            <p:ph sz="quarter" idx="12"/>
          </p:nvPr>
        </p:nvSpPr>
        <p:spPr>
          <a:xfrm>
            <a:off x="428336" y="863148"/>
            <a:ext cx="5620327" cy="374906"/>
          </a:xfrm>
        </p:spPr>
        <p:txBody>
          <a:bodyPr wrap="square">
            <a:spAutoFit/>
          </a:bodyPr>
          <a:lstStyle/>
          <a:p>
            <a:pPr marL="0" indent="0">
              <a:buNone/>
            </a:pPr>
            <a:r>
              <a:rPr lang="en-US" altLang="en-US" sz="2200" dirty="0"/>
              <a:t>Now consider what happens to the current as</a:t>
            </a:r>
            <a:endParaRPr lang="en-US" sz="2200" dirty="0"/>
          </a:p>
        </p:txBody>
      </p:sp>
      <p:graphicFrame>
        <p:nvGraphicFramePr>
          <p:cNvPr id="24" name="Object 23" descr="t right arrow, infinity">
            <a:extLst>
              <a:ext uri="{FF2B5EF4-FFF2-40B4-BE49-F238E27FC236}">
                <a16:creationId xmlns:a16="http://schemas.microsoft.com/office/drawing/2014/main" id="{76845EFC-EA00-A1D2-4398-AF816A33BBD2}"/>
              </a:ext>
            </a:extLst>
          </p:cNvPr>
          <p:cNvGraphicFramePr>
            <a:graphicFrameLocks noChangeAspect="1"/>
          </p:cNvGraphicFramePr>
          <p:nvPr>
            <p:extLst>
              <p:ext uri="{D42A27DB-BD31-4B8C-83A1-F6EECF244321}">
                <p14:modId xmlns:p14="http://schemas.microsoft.com/office/powerpoint/2010/main" val="1776010409"/>
              </p:ext>
            </p:extLst>
          </p:nvPr>
        </p:nvGraphicFramePr>
        <p:xfrm>
          <a:off x="6159357" y="901755"/>
          <a:ext cx="830262" cy="339725"/>
        </p:xfrm>
        <a:graphic>
          <a:graphicData uri="http://schemas.openxmlformats.org/presentationml/2006/ole">
            <mc:AlternateContent xmlns:mc="http://schemas.openxmlformats.org/markup-compatibility/2006">
              <mc:Choice xmlns:v="urn:schemas-microsoft-com:vml" Requires="v">
                <p:oleObj name="Equation" r:id="rId2" imgW="431640" imgH="177480" progId="Equation.DSMT4">
                  <p:embed/>
                </p:oleObj>
              </mc:Choice>
              <mc:Fallback>
                <p:oleObj name="Equation" r:id="rId2" imgW="431640" imgH="177480" progId="Equation.DSMT4">
                  <p:embed/>
                  <p:pic>
                    <p:nvPicPr>
                      <p:cNvPr id="22" name="Object 21">
                        <a:extLst>
                          <a:ext uri="{FF2B5EF4-FFF2-40B4-BE49-F238E27FC236}">
                            <a16:creationId xmlns:a16="http://schemas.microsoft.com/office/drawing/2014/main" id="{A8469F0C-F2CD-1DB5-92FD-F66DC293053B}"/>
                          </a:ext>
                        </a:extLst>
                      </p:cNvPr>
                      <p:cNvPicPr>
                        <a:picLocks noChangeAspect="1" noChangeArrowheads="1"/>
                      </p:cNvPicPr>
                      <p:nvPr/>
                    </p:nvPicPr>
                    <p:blipFill>
                      <a:blip r:embed="rId3"/>
                      <a:srcRect/>
                      <a:stretch>
                        <a:fillRect/>
                      </a:stretch>
                    </p:blipFill>
                    <p:spPr bwMode="auto">
                      <a:xfrm>
                        <a:off x="6159357" y="901755"/>
                        <a:ext cx="8302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BBF93C11-E1DD-09BF-F87A-ED15D25BAB45}"/>
              </a:ext>
            </a:extLst>
          </p:cNvPr>
          <p:cNvSpPr>
            <a:spLocks noGrp="1"/>
          </p:cNvSpPr>
          <p:nvPr>
            <p:ph sz="quarter" idx="13"/>
          </p:nvPr>
        </p:nvSpPr>
        <p:spPr>
          <a:xfrm>
            <a:off x="7100313" y="880380"/>
            <a:ext cx="1156996" cy="374906"/>
          </a:xfrm>
        </p:spPr>
        <p:txBody>
          <a:bodyPr wrap="square">
            <a:spAutoFit/>
          </a:bodyPr>
          <a:lstStyle/>
          <a:p>
            <a:pPr marL="0" indent="0">
              <a:buNone/>
            </a:pPr>
            <a:r>
              <a:rPr lang="en-US" altLang="en-US" sz="2200" dirty="0">
                <a:sym typeface="Symbol" pitchFamily="18" charset="2"/>
              </a:rPr>
              <a:t>in the </a:t>
            </a:r>
            <a:r>
              <a:rPr lang="en-US" altLang="en-US" sz="2200" spc="-300" dirty="0">
                <a:sym typeface="Symbol" pitchFamily="18" charset="2"/>
              </a:rPr>
              <a:t>R </a:t>
            </a:r>
            <a:r>
              <a:rPr lang="en-US" altLang="en-US" sz="2200" dirty="0">
                <a:sym typeface="Symbol" pitchFamily="18" charset="2"/>
              </a:rPr>
              <a:t>L</a:t>
            </a:r>
            <a:endParaRPr lang="en-US" sz="2200" dirty="0"/>
          </a:p>
        </p:txBody>
      </p:sp>
      <p:sp>
        <p:nvSpPr>
          <p:cNvPr id="5" name="Content Placeholder 4">
            <a:extLst>
              <a:ext uri="{FF2B5EF4-FFF2-40B4-BE49-F238E27FC236}">
                <a16:creationId xmlns:a16="http://schemas.microsoft.com/office/drawing/2014/main" id="{66638176-09F7-C6C8-325C-4807B851CF75}"/>
              </a:ext>
            </a:extLst>
          </p:cNvPr>
          <p:cNvSpPr>
            <a:spLocks noGrp="1"/>
          </p:cNvSpPr>
          <p:nvPr>
            <p:ph sz="quarter" idx="14"/>
          </p:nvPr>
        </p:nvSpPr>
        <p:spPr>
          <a:xfrm>
            <a:off x="421069" y="1316670"/>
            <a:ext cx="3716822" cy="374906"/>
          </a:xfrm>
        </p:spPr>
        <p:txBody>
          <a:bodyPr wrap="square">
            <a:spAutoFit/>
          </a:bodyPr>
          <a:lstStyle/>
          <a:p>
            <a:pPr marL="0" indent="0">
              <a:buNone/>
            </a:pPr>
            <a:r>
              <a:rPr lang="en-US" altLang="en-US" sz="2200" dirty="0">
                <a:sym typeface="Symbol" pitchFamily="18" charset="2"/>
              </a:rPr>
              <a:t>step response circuit. First, as</a:t>
            </a:r>
            <a:endParaRPr lang="en-US" sz="2200" dirty="0"/>
          </a:p>
        </p:txBody>
      </p:sp>
      <p:graphicFrame>
        <p:nvGraphicFramePr>
          <p:cNvPr id="25" name="Object 24" descr="t right arrow, infinity">
            <a:extLst>
              <a:ext uri="{FF2B5EF4-FFF2-40B4-BE49-F238E27FC236}">
                <a16:creationId xmlns:a16="http://schemas.microsoft.com/office/drawing/2014/main" id="{6DF5131F-5794-7A2B-0979-6FB390BC9738}"/>
              </a:ext>
            </a:extLst>
          </p:cNvPr>
          <p:cNvGraphicFramePr>
            <a:graphicFrameLocks noChangeAspect="1"/>
          </p:cNvGraphicFramePr>
          <p:nvPr>
            <p:extLst>
              <p:ext uri="{D42A27DB-BD31-4B8C-83A1-F6EECF244321}">
                <p14:modId xmlns:p14="http://schemas.microsoft.com/office/powerpoint/2010/main" val="6829410"/>
              </p:ext>
            </p:extLst>
          </p:nvPr>
        </p:nvGraphicFramePr>
        <p:xfrm>
          <a:off x="4246563" y="1338263"/>
          <a:ext cx="879475" cy="363537"/>
        </p:xfrm>
        <a:graphic>
          <a:graphicData uri="http://schemas.openxmlformats.org/presentationml/2006/ole">
            <mc:AlternateContent xmlns:mc="http://schemas.openxmlformats.org/markup-compatibility/2006">
              <mc:Choice xmlns:v="urn:schemas-microsoft-com:vml" Requires="v">
                <p:oleObj name="Equation" r:id="rId4" imgW="457200" imgH="190440" progId="Equation.DSMT4">
                  <p:embed/>
                </p:oleObj>
              </mc:Choice>
              <mc:Fallback>
                <p:oleObj name="Equation" r:id="rId4" imgW="457200" imgH="190440" progId="Equation.DSMT4">
                  <p:embed/>
                  <p:pic>
                    <p:nvPicPr>
                      <p:cNvPr id="24" name="Object 23">
                        <a:extLst>
                          <a:ext uri="{FF2B5EF4-FFF2-40B4-BE49-F238E27FC236}">
                            <a16:creationId xmlns:a16="http://schemas.microsoft.com/office/drawing/2014/main" id="{76845EFC-EA00-A1D2-4398-AF816A33BBD2}"/>
                          </a:ext>
                        </a:extLst>
                      </p:cNvPr>
                      <p:cNvPicPr>
                        <a:picLocks noChangeAspect="1" noChangeArrowheads="1"/>
                      </p:cNvPicPr>
                      <p:nvPr/>
                    </p:nvPicPr>
                    <p:blipFill>
                      <a:blip r:embed="rId5"/>
                      <a:srcRect/>
                      <a:stretch>
                        <a:fillRect/>
                      </a:stretch>
                    </p:blipFill>
                    <p:spPr bwMode="auto">
                      <a:xfrm>
                        <a:off x="4246563" y="1338263"/>
                        <a:ext cx="8794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a:extLst>
              <a:ext uri="{FF2B5EF4-FFF2-40B4-BE49-F238E27FC236}">
                <a16:creationId xmlns:a16="http://schemas.microsoft.com/office/drawing/2014/main" id="{0EE854A5-3ABE-3389-85D9-1FE4EE9FEBCC}"/>
              </a:ext>
            </a:extLst>
          </p:cNvPr>
          <p:cNvSpPr>
            <a:spLocks noGrp="1"/>
          </p:cNvSpPr>
          <p:nvPr>
            <p:ph sz="quarter" idx="15"/>
          </p:nvPr>
        </p:nvSpPr>
        <p:spPr>
          <a:xfrm>
            <a:off x="5234710" y="1318320"/>
            <a:ext cx="3440977" cy="374906"/>
          </a:xfrm>
        </p:spPr>
        <p:txBody>
          <a:bodyPr wrap="square">
            <a:spAutoFit/>
          </a:bodyPr>
          <a:lstStyle/>
          <a:p>
            <a:pPr marL="0" indent="0">
              <a:buNone/>
            </a:pPr>
            <a:r>
              <a:rPr lang="en-US" altLang="en-US" sz="2200" dirty="0">
                <a:sym typeface="Symbol" pitchFamily="18" charset="2"/>
              </a:rPr>
              <a:t>we can replace the </a:t>
            </a:r>
            <a:r>
              <a:rPr lang="en-US" altLang="en-US" sz="2000" dirty="0">
                <a:sym typeface="Symbol" pitchFamily="18" charset="2"/>
              </a:rPr>
              <a:t>inductor</a:t>
            </a:r>
            <a:endParaRPr lang="en-US" sz="2200" dirty="0"/>
          </a:p>
        </p:txBody>
      </p:sp>
      <p:sp>
        <p:nvSpPr>
          <p:cNvPr id="7" name="Content Placeholder 6">
            <a:extLst>
              <a:ext uri="{FF2B5EF4-FFF2-40B4-BE49-F238E27FC236}">
                <a16:creationId xmlns:a16="http://schemas.microsoft.com/office/drawing/2014/main" id="{DBF88921-63C5-1333-5377-7307A631AB5A}"/>
              </a:ext>
            </a:extLst>
          </p:cNvPr>
          <p:cNvSpPr>
            <a:spLocks noGrp="1"/>
          </p:cNvSpPr>
          <p:nvPr>
            <p:ph sz="quarter" idx="16"/>
          </p:nvPr>
        </p:nvSpPr>
        <p:spPr>
          <a:xfrm>
            <a:off x="421068" y="1813471"/>
            <a:ext cx="314770" cy="374906"/>
          </a:xfrm>
        </p:spPr>
        <p:txBody>
          <a:bodyPr wrap="square">
            <a:spAutoFit/>
          </a:bodyPr>
          <a:lstStyle/>
          <a:p>
            <a:pPr marL="0" indent="0">
              <a:buNone/>
            </a:pPr>
            <a:r>
              <a:rPr lang="en-US" sz="2200" dirty="0"/>
              <a:t>by</a:t>
            </a:r>
          </a:p>
        </p:txBody>
      </p:sp>
      <p:pic>
        <p:nvPicPr>
          <p:cNvPr id="26" name="Picture 3"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D2AA9701-5C8C-70B7-2D0B-6BE897E84E6C}"/>
              </a:ext>
            </a:extLst>
          </p:cNvPr>
          <p:cNvPicPr>
            <a:picLocks noChangeAspect="1" noChangeArrowheads="1"/>
          </p:cNvPicPr>
          <p:nvPr/>
        </p:nvPicPr>
        <p:blipFill>
          <a:blip r:embed="rId6"/>
          <a:stretch>
            <a:fillRect/>
          </a:stretch>
        </p:blipFill>
        <p:spPr bwMode="auto">
          <a:xfrm>
            <a:off x="2252297" y="2191710"/>
            <a:ext cx="4601306" cy="210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70FB3555-1929-D50F-0D8F-E3B45C8998DE}"/>
              </a:ext>
            </a:extLst>
          </p:cNvPr>
          <p:cNvSpPr>
            <a:spLocks noGrp="1"/>
          </p:cNvSpPr>
          <p:nvPr>
            <p:ph sz="quarter" idx="17"/>
          </p:nvPr>
        </p:nvSpPr>
        <p:spPr>
          <a:xfrm>
            <a:off x="1314824" y="4528509"/>
            <a:ext cx="2231939" cy="374906"/>
          </a:xfrm>
        </p:spPr>
        <p:txBody>
          <a:bodyPr wrap="square">
            <a:spAutoFit/>
          </a:bodyPr>
          <a:lstStyle/>
          <a:p>
            <a:pPr marL="0" indent="0">
              <a:buNone/>
            </a:pPr>
            <a:r>
              <a:rPr lang="en-US" sz="2200" dirty="0">
                <a:solidFill>
                  <a:srgbClr val="007FA3"/>
                </a:solidFill>
              </a:rPr>
              <a:t>A.</a:t>
            </a:r>
            <a:r>
              <a:rPr lang="en-US" sz="2200" dirty="0"/>
              <a:t> </a:t>
            </a:r>
            <a:r>
              <a:rPr lang="en-US" altLang="en-US" sz="2200" dirty="0"/>
              <a:t>An open circuit</a:t>
            </a:r>
            <a:endParaRPr lang="en-US" sz="2200" dirty="0"/>
          </a:p>
        </p:txBody>
      </p:sp>
      <p:sp>
        <p:nvSpPr>
          <p:cNvPr id="9" name="Content Placeholder 8">
            <a:extLst>
              <a:ext uri="{FF2B5EF4-FFF2-40B4-BE49-F238E27FC236}">
                <a16:creationId xmlns:a16="http://schemas.microsoft.com/office/drawing/2014/main" id="{E693C796-4784-3884-6595-916B349E553B}"/>
              </a:ext>
            </a:extLst>
          </p:cNvPr>
          <p:cNvSpPr>
            <a:spLocks noGrp="1"/>
          </p:cNvSpPr>
          <p:nvPr>
            <p:ph sz="quarter" idx="18"/>
          </p:nvPr>
        </p:nvSpPr>
        <p:spPr>
          <a:xfrm>
            <a:off x="1314824" y="5059547"/>
            <a:ext cx="2059842" cy="374906"/>
          </a:xfrm>
        </p:spPr>
        <p:txBody>
          <a:bodyPr wrap="square">
            <a:spAutoFit/>
          </a:bodyPr>
          <a:lstStyle/>
          <a:p>
            <a:pPr marL="0" indent="0">
              <a:buNone/>
            </a:pPr>
            <a:r>
              <a:rPr lang="en-US" sz="2200" dirty="0">
                <a:solidFill>
                  <a:srgbClr val="007FA3"/>
                </a:solidFill>
              </a:rPr>
              <a:t>B.</a:t>
            </a:r>
            <a:r>
              <a:rPr lang="en-US" sz="2200" dirty="0"/>
              <a:t> </a:t>
            </a:r>
            <a:r>
              <a:rPr lang="en-US" altLang="en-US" sz="2200" dirty="0"/>
              <a:t>A short circuit</a:t>
            </a:r>
            <a:endParaRPr lang="en-US" sz="2200" dirty="0"/>
          </a:p>
        </p:txBody>
      </p:sp>
      <p:sp>
        <p:nvSpPr>
          <p:cNvPr id="10" name="Content Placeholder 9">
            <a:extLst>
              <a:ext uri="{FF2B5EF4-FFF2-40B4-BE49-F238E27FC236}">
                <a16:creationId xmlns:a16="http://schemas.microsoft.com/office/drawing/2014/main" id="{00F7D5A7-0E61-A787-91BC-CBC781D1568E}"/>
              </a:ext>
            </a:extLst>
          </p:cNvPr>
          <p:cNvSpPr>
            <a:spLocks noGrp="1"/>
          </p:cNvSpPr>
          <p:nvPr>
            <p:ph sz="quarter" idx="19"/>
          </p:nvPr>
        </p:nvSpPr>
        <p:spPr>
          <a:xfrm>
            <a:off x="1314824" y="5641699"/>
            <a:ext cx="1543424" cy="374906"/>
          </a:xfrm>
        </p:spPr>
        <p:txBody>
          <a:bodyPr wrap="square">
            <a:spAutoFit/>
          </a:bodyPr>
          <a:lstStyle/>
          <a:p>
            <a:pPr marL="0" indent="0">
              <a:buNone/>
            </a:pPr>
            <a:r>
              <a:rPr lang="en-US" sz="2200" dirty="0">
                <a:solidFill>
                  <a:srgbClr val="007FA3"/>
                </a:solidFill>
              </a:rPr>
              <a:t>C.</a:t>
            </a:r>
            <a:r>
              <a:rPr lang="en-US" sz="2200" dirty="0"/>
              <a:t> </a:t>
            </a:r>
            <a:r>
              <a:rPr lang="en-US" altLang="en-US" sz="2200" dirty="0"/>
              <a:t>A resistor</a:t>
            </a:r>
            <a:endParaRPr lang="en-US" sz="2200" dirty="0"/>
          </a:p>
        </p:txBody>
      </p:sp>
    </p:spTree>
    <p:extLst>
      <p:ext uri="{BB962C8B-B14F-4D97-AF65-F5344CB8AC3E}">
        <p14:creationId xmlns:p14="http://schemas.microsoft.com/office/powerpoint/2010/main" val="405561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2C0BA-4061-391C-944A-37AEFE9B3E00}"/>
            </a:ext>
          </a:extLst>
        </p:cNvPr>
        <p:cNvGrpSpPr/>
        <p:nvPr/>
      </p:nvGrpSpPr>
      <p:grpSpPr>
        <a:xfrm>
          <a:off x="0" y="0"/>
          <a:ext cx="0" cy="0"/>
          <a:chOff x="0" y="0"/>
          <a:chExt cx="0" cy="0"/>
        </a:xfrm>
      </p:grpSpPr>
      <p:sp>
        <p:nvSpPr>
          <p:cNvPr id="23" name="Title 5">
            <a:extLst>
              <a:ext uri="{FF2B5EF4-FFF2-40B4-BE49-F238E27FC236}">
                <a16:creationId xmlns:a16="http://schemas.microsoft.com/office/drawing/2014/main" id="{156FDBB8-72C0-6216-53B2-8255B2660AC1}"/>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(4 of 10)</a:t>
            </a:r>
            <a:endParaRPr lang="en-US" sz="2800" noProof="0" dirty="0"/>
          </a:p>
        </p:txBody>
      </p:sp>
      <p:sp>
        <p:nvSpPr>
          <p:cNvPr id="3" name="Content Placeholder 2">
            <a:extLst>
              <a:ext uri="{FF2B5EF4-FFF2-40B4-BE49-F238E27FC236}">
                <a16:creationId xmlns:a16="http://schemas.microsoft.com/office/drawing/2014/main" id="{05838010-06BA-A839-1842-2FE3A9DDB0B9}"/>
              </a:ext>
            </a:extLst>
          </p:cNvPr>
          <p:cNvSpPr>
            <a:spLocks noGrp="1"/>
          </p:cNvSpPr>
          <p:nvPr>
            <p:ph sz="quarter" idx="12"/>
          </p:nvPr>
        </p:nvSpPr>
        <p:spPr>
          <a:xfrm>
            <a:off x="428336" y="863148"/>
            <a:ext cx="5620327" cy="374906"/>
          </a:xfrm>
        </p:spPr>
        <p:txBody>
          <a:bodyPr wrap="square">
            <a:spAutoFit/>
          </a:bodyPr>
          <a:lstStyle/>
          <a:p>
            <a:pPr marL="0" indent="0">
              <a:buNone/>
            </a:pPr>
            <a:r>
              <a:rPr lang="en-US" altLang="en-US" sz="2200" dirty="0"/>
              <a:t>Now consider what happens to the current as</a:t>
            </a:r>
            <a:endParaRPr lang="en-US" sz="2200" dirty="0"/>
          </a:p>
        </p:txBody>
      </p:sp>
      <p:graphicFrame>
        <p:nvGraphicFramePr>
          <p:cNvPr id="24" name="Object 23" descr="t right arrow, infinity">
            <a:extLst>
              <a:ext uri="{FF2B5EF4-FFF2-40B4-BE49-F238E27FC236}">
                <a16:creationId xmlns:a16="http://schemas.microsoft.com/office/drawing/2014/main" id="{D9697383-B3A7-4ABF-B15F-4D9437A45F27}"/>
              </a:ext>
            </a:extLst>
          </p:cNvPr>
          <p:cNvGraphicFramePr>
            <a:graphicFrameLocks noChangeAspect="1"/>
          </p:cNvGraphicFramePr>
          <p:nvPr/>
        </p:nvGraphicFramePr>
        <p:xfrm>
          <a:off x="6159357" y="901755"/>
          <a:ext cx="830262" cy="339725"/>
        </p:xfrm>
        <a:graphic>
          <a:graphicData uri="http://schemas.openxmlformats.org/presentationml/2006/ole">
            <mc:AlternateContent xmlns:mc="http://schemas.openxmlformats.org/markup-compatibility/2006">
              <mc:Choice xmlns:v="urn:schemas-microsoft-com:vml" Requires="v">
                <p:oleObj name="Equation" r:id="rId5" imgW="431640" imgH="177480" progId="Equation.DSMT4">
                  <p:embed/>
                </p:oleObj>
              </mc:Choice>
              <mc:Fallback>
                <p:oleObj name="Equation" r:id="rId5" imgW="431640" imgH="177480" progId="Equation.DSMT4">
                  <p:embed/>
                  <p:pic>
                    <p:nvPicPr>
                      <p:cNvPr id="24" name="Object 23" descr="t right arrow, infinity">
                        <a:extLst>
                          <a:ext uri="{FF2B5EF4-FFF2-40B4-BE49-F238E27FC236}">
                            <a16:creationId xmlns:a16="http://schemas.microsoft.com/office/drawing/2014/main" id="{76845EFC-EA00-A1D2-4398-AF816A33BBD2}"/>
                          </a:ext>
                        </a:extLst>
                      </p:cNvPr>
                      <p:cNvPicPr>
                        <a:picLocks noChangeAspect="1" noChangeArrowheads="1"/>
                      </p:cNvPicPr>
                      <p:nvPr/>
                    </p:nvPicPr>
                    <p:blipFill>
                      <a:blip r:embed="rId6"/>
                      <a:srcRect/>
                      <a:stretch>
                        <a:fillRect/>
                      </a:stretch>
                    </p:blipFill>
                    <p:spPr bwMode="auto">
                      <a:xfrm>
                        <a:off x="6159357" y="901755"/>
                        <a:ext cx="8302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1BAD5ACA-0977-0D3F-03AA-0D3A6623C939}"/>
              </a:ext>
            </a:extLst>
          </p:cNvPr>
          <p:cNvSpPr>
            <a:spLocks noGrp="1"/>
          </p:cNvSpPr>
          <p:nvPr>
            <p:ph sz="quarter" idx="13"/>
          </p:nvPr>
        </p:nvSpPr>
        <p:spPr>
          <a:xfrm>
            <a:off x="7100313" y="880380"/>
            <a:ext cx="1156996" cy="374906"/>
          </a:xfrm>
        </p:spPr>
        <p:txBody>
          <a:bodyPr wrap="square">
            <a:spAutoFit/>
          </a:bodyPr>
          <a:lstStyle/>
          <a:p>
            <a:pPr marL="0" indent="0">
              <a:buNone/>
            </a:pPr>
            <a:r>
              <a:rPr lang="en-US" altLang="en-US" sz="2200" dirty="0">
                <a:sym typeface="Symbol" pitchFamily="18" charset="2"/>
              </a:rPr>
              <a:t>in the </a:t>
            </a:r>
            <a:r>
              <a:rPr lang="en-US" altLang="en-US" sz="2200" spc="-300" dirty="0">
                <a:sym typeface="Symbol" pitchFamily="18" charset="2"/>
              </a:rPr>
              <a:t>R </a:t>
            </a:r>
            <a:r>
              <a:rPr lang="en-US" altLang="en-US" sz="2200" dirty="0">
                <a:sym typeface="Symbol" pitchFamily="18" charset="2"/>
              </a:rPr>
              <a:t>L</a:t>
            </a:r>
            <a:endParaRPr lang="en-US" sz="2200" dirty="0"/>
          </a:p>
        </p:txBody>
      </p:sp>
      <p:sp>
        <p:nvSpPr>
          <p:cNvPr id="5" name="Content Placeholder 4">
            <a:extLst>
              <a:ext uri="{FF2B5EF4-FFF2-40B4-BE49-F238E27FC236}">
                <a16:creationId xmlns:a16="http://schemas.microsoft.com/office/drawing/2014/main" id="{93C66B56-5800-9725-7F0B-69EDF4965038}"/>
              </a:ext>
            </a:extLst>
          </p:cNvPr>
          <p:cNvSpPr>
            <a:spLocks noGrp="1"/>
          </p:cNvSpPr>
          <p:nvPr>
            <p:ph sz="quarter" idx="14"/>
          </p:nvPr>
        </p:nvSpPr>
        <p:spPr>
          <a:xfrm>
            <a:off x="421069" y="1316670"/>
            <a:ext cx="3716822" cy="374906"/>
          </a:xfrm>
        </p:spPr>
        <p:txBody>
          <a:bodyPr wrap="square">
            <a:spAutoFit/>
          </a:bodyPr>
          <a:lstStyle/>
          <a:p>
            <a:pPr marL="0" indent="0">
              <a:buNone/>
            </a:pPr>
            <a:r>
              <a:rPr lang="en-US" altLang="en-US" sz="2200" dirty="0">
                <a:sym typeface="Symbol" pitchFamily="18" charset="2"/>
              </a:rPr>
              <a:t>step response circuit. First, as</a:t>
            </a:r>
            <a:endParaRPr lang="en-US" sz="2200" dirty="0"/>
          </a:p>
        </p:txBody>
      </p:sp>
      <p:graphicFrame>
        <p:nvGraphicFramePr>
          <p:cNvPr id="25" name="Object 24" descr="t right arrow, infinity">
            <a:extLst>
              <a:ext uri="{FF2B5EF4-FFF2-40B4-BE49-F238E27FC236}">
                <a16:creationId xmlns:a16="http://schemas.microsoft.com/office/drawing/2014/main" id="{BE9711EC-F8C5-D3D9-0B68-0A6481986D47}"/>
              </a:ext>
            </a:extLst>
          </p:cNvPr>
          <p:cNvGraphicFramePr>
            <a:graphicFrameLocks noChangeAspect="1"/>
          </p:cNvGraphicFramePr>
          <p:nvPr/>
        </p:nvGraphicFramePr>
        <p:xfrm>
          <a:off x="4246563" y="1338263"/>
          <a:ext cx="879475" cy="363537"/>
        </p:xfrm>
        <a:graphic>
          <a:graphicData uri="http://schemas.openxmlformats.org/presentationml/2006/ole">
            <mc:AlternateContent xmlns:mc="http://schemas.openxmlformats.org/markup-compatibility/2006">
              <mc:Choice xmlns:v="urn:schemas-microsoft-com:vml" Requires="v">
                <p:oleObj name="Equation" r:id="rId7" imgW="457200" imgH="190440" progId="Equation.DSMT4">
                  <p:embed/>
                </p:oleObj>
              </mc:Choice>
              <mc:Fallback>
                <p:oleObj name="Equation" r:id="rId7" imgW="457200" imgH="190440" progId="Equation.DSMT4">
                  <p:embed/>
                  <p:pic>
                    <p:nvPicPr>
                      <p:cNvPr id="25" name="Object 24" descr="t right arrow, infinity">
                        <a:extLst>
                          <a:ext uri="{FF2B5EF4-FFF2-40B4-BE49-F238E27FC236}">
                            <a16:creationId xmlns:a16="http://schemas.microsoft.com/office/drawing/2014/main" id="{6DF5131F-5794-7A2B-0979-6FB390BC9738}"/>
                          </a:ext>
                        </a:extLst>
                      </p:cNvPr>
                      <p:cNvPicPr>
                        <a:picLocks noChangeAspect="1" noChangeArrowheads="1"/>
                      </p:cNvPicPr>
                      <p:nvPr/>
                    </p:nvPicPr>
                    <p:blipFill>
                      <a:blip r:embed="rId8"/>
                      <a:srcRect/>
                      <a:stretch>
                        <a:fillRect/>
                      </a:stretch>
                    </p:blipFill>
                    <p:spPr bwMode="auto">
                      <a:xfrm>
                        <a:off x="4246563" y="1338263"/>
                        <a:ext cx="8794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a:extLst>
              <a:ext uri="{FF2B5EF4-FFF2-40B4-BE49-F238E27FC236}">
                <a16:creationId xmlns:a16="http://schemas.microsoft.com/office/drawing/2014/main" id="{0526262B-2FCA-B1F7-0F14-9CC95F6BD619}"/>
              </a:ext>
            </a:extLst>
          </p:cNvPr>
          <p:cNvSpPr>
            <a:spLocks noGrp="1"/>
          </p:cNvSpPr>
          <p:nvPr>
            <p:ph sz="quarter" idx="15"/>
          </p:nvPr>
        </p:nvSpPr>
        <p:spPr>
          <a:xfrm>
            <a:off x="5234710" y="1318320"/>
            <a:ext cx="3440977" cy="374906"/>
          </a:xfrm>
        </p:spPr>
        <p:txBody>
          <a:bodyPr wrap="square">
            <a:spAutoFit/>
          </a:bodyPr>
          <a:lstStyle/>
          <a:p>
            <a:pPr marL="0" indent="0">
              <a:buNone/>
            </a:pPr>
            <a:r>
              <a:rPr lang="en-US" altLang="en-US" sz="2200" dirty="0">
                <a:sym typeface="Symbol" pitchFamily="18" charset="2"/>
              </a:rPr>
              <a:t>we can replace the </a:t>
            </a:r>
            <a:r>
              <a:rPr lang="en-US" altLang="en-US" sz="2000" dirty="0">
                <a:sym typeface="Symbol" pitchFamily="18" charset="2"/>
              </a:rPr>
              <a:t>inductor</a:t>
            </a:r>
            <a:endParaRPr lang="en-US" sz="2200" dirty="0"/>
          </a:p>
        </p:txBody>
      </p:sp>
      <p:sp>
        <p:nvSpPr>
          <p:cNvPr id="7" name="Content Placeholder 6">
            <a:extLst>
              <a:ext uri="{FF2B5EF4-FFF2-40B4-BE49-F238E27FC236}">
                <a16:creationId xmlns:a16="http://schemas.microsoft.com/office/drawing/2014/main" id="{D2ECE222-811E-BBB1-9F1E-87DBEBF185C5}"/>
              </a:ext>
            </a:extLst>
          </p:cNvPr>
          <p:cNvSpPr>
            <a:spLocks noGrp="1"/>
          </p:cNvSpPr>
          <p:nvPr>
            <p:ph sz="quarter" idx="16"/>
          </p:nvPr>
        </p:nvSpPr>
        <p:spPr>
          <a:xfrm>
            <a:off x="421068" y="1813471"/>
            <a:ext cx="314770" cy="374906"/>
          </a:xfrm>
        </p:spPr>
        <p:txBody>
          <a:bodyPr wrap="square">
            <a:spAutoFit/>
          </a:bodyPr>
          <a:lstStyle/>
          <a:p>
            <a:pPr marL="0" indent="0">
              <a:buNone/>
            </a:pPr>
            <a:r>
              <a:rPr lang="en-US" sz="2200" dirty="0"/>
              <a:t>by</a:t>
            </a:r>
          </a:p>
        </p:txBody>
      </p:sp>
      <p:pic>
        <p:nvPicPr>
          <p:cNvPr id="26" name="Picture 3"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80582DEA-0AD2-49DC-4E76-317B0B0D029B}"/>
              </a:ext>
            </a:extLst>
          </p:cNvPr>
          <p:cNvPicPr>
            <a:picLocks noChangeAspect="1" noChangeArrowheads="1"/>
          </p:cNvPicPr>
          <p:nvPr/>
        </p:nvPicPr>
        <p:blipFill>
          <a:blip r:embed="rId9"/>
          <a:stretch>
            <a:fillRect/>
          </a:stretch>
        </p:blipFill>
        <p:spPr bwMode="auto">
          <a:xfrm>
            <a:off x="2252297" y="2191710"/>
            <a:ext cx="4601306" cy="210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1434" descr="Cross mark">
            <a:extLst>
              <a:ext uri="{FF2B5EF4-FFF2-40B4-BE49-F238E27FC236}">
                <a16:creationId xmlns:a16="http://schemas.microsoft.com/office/drawing/2014/main" id="{7080C166-9C1C-9308-3A11-1934F9BF93EE}"/>
              </a:ext>
            </a:extLst>
          </p:cNvPr>
          <p:cNvPicPr>
            <a:picLocks/>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815802" y="452850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19582415-0A23-8C77-D4DE-22AEB960D7A9}"/>
              </a:ext>
            </a:extLst>
          </p:cNvPr>
          <p:cNvSpPr>
            <a:spLocks noGrp="1"/>
          </p:cNvSpPr>
          <p:nvPr>
            <p:ph sz="quarter" idx="17"/>
          </p:nvPr>
        </p:nvSpPr>
        <p:spPr>
          <a:xfrm>
            <a:off x="1314824" y="4528509"/>
            <a:ext cx="2231939" cy="374906"/>
          </a:xfrm>
        </p:spPr>
        <p:txBody>
          <a:bodyPr wrap="square">
            <a:spAutoFit/>
          </a:bodyPr>
          <a:lstStyle/>
          <a:p>
            <a:pPr marL="0" indent="0">
              <a:buNone/>
            </a:pPr>
            <a:r>
              <a:rPr lang="en-US" sz="2200" dirty="0">
                <a:solidFill>
                  <a:srgbClr val="007FA3"/>
                </a:solidFill>
              </a:rPr>
              <a:t>A.</a:t>
            </a:r>
            <a:r>
              <a:rPr lang="en-US" sz="2200" dirty="0"/>
              <a:t> </a:t>
            </a:r>
            <a:r>
              <a:rPr lang="en-US" altLang="en-US" sz="2200" dirty="0"/>
              <a:t>An open circuit</a:t>
            </a:r>
            <a:endParaRPr lang="en-US" sz="2200" dirty="0"/>
          </a:p>
        </p:txBody>
      </p:sp>
      <p:pic>
        <p:nvPicPr>
          <p:cNvPr id="28" name="Picture 1435" descr="Check mark">
            <a:extLst>
              <a:ext uri="{FF2B5EF4-FFF2-40B4-BE49-F238E27FC236}">
                <a16:creationId xmlns:a16="http://schemas.microsoft.com/office/drawing/2014/main" id="{38B040A8-DA0B-F075-1FFF-DB3BC8708642}"/>
              </a:ext>
            </a:extLst>
          </p:cNvPr>
          <p:cNvPicPr>
            <a:picLocks/>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815802" y="511860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0C071394-FA97-0367-5184-5633EACCB9A1}"/>
              </a:ext>
            </a:extLst>
          </p:cNvPr>
          <p:cNvSpPr>
            <a:spLocks noGrp="1"/>
          </p:cNvSpPr>
          <p:nvPr>
            <p:ph sz="quarter" idx="18"/>
          </p:nvPr>
        </p:nvSpPr>
        <p:spPr>
          <a:xfrm>
            <a:off x="1314824" y="5059547"/>
            <a:ext cx="2059842" cy="374906"/>
          </a:xfrm>
        </p:spPr>
        <p:txBody>
          <a:bodyPr wrap="square">
            <a:spAutoFit/>
          </a:bodyPr>
          <a:lstStyle/>
          <a:p>
            <a:pPr marL="0" indent="0">
              <a:buNone/>
            </a:pPr>
            <a:r>
              <a:rPr lang="en-US" sz="2200" dirty="0">
                <a:solidFill>
                  <a:srgbClr val="007FA3"/>
                </a:solidFill>
              </a:rPr>
              <a:t>B.</a:t>
            </a:r>
            <a:r>
              <a:rPr lang="en-US" sz="2200" dirty="0"/>
              <a:t> </a:t>
            </a:r>
            <a:r>
              <a:rPr lang="en-US" altLang="en-US" sz="2200" dirty="0"/>
              <a:t>A short circuit</a:t>
            </a:r>
            <a:endParaRPr lang="en-US" sz="2200" dirty="0"/>
          </a:p>
        </p:txBody>
      </p:sp>
      <p:pic>
        <p:nvPicPr>
          <p:cNvPr id="29" name="Picture 1436" descr="Cross mark">
            <a:extLst>
              <a:ext uri="{FF2B5EF4-FFF2-40B4-BE49-F238E27FC236}">
                <a16:creationId xmlns:a16="http://schemas.microsoft.com/office/drawing/2014/main" id="{D586AA8C-F02F-58B0-1B89-A64399682408}"/>
              </a:ext>
            </a:extLst>
          </p:cNvPr>
          <p:cNvPicPr>
            <a:picLocks/>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815802" y="564846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6DC7F14A-85D2-F051-93AB-DA3AE826DB97}"/>
              </a:ext>
            </a:extLst>
          </p:cNvPr>
          <p:cNvSpPr>
            <a:spLocks noGrp="1"/>
          </p:cNvSpPr>
          <p:nvPr>
            <p:ph sz="quarter" idx="19"/>
          </p:nvPr>
        </p:nvSpPr>
        <p:spPr>
          <a:xfrm>
            <a:off x="1314824" y="5641699"/>
            <a:ext cx="1543424" cy="374906"/>
          </a:xfrm>
        </p:spPr>
        <p:txBody>
          <a:bodyPr wrap="square">
            <a:spAutoFit/>
          </a:bodyPr>
          <a:lstStyle/>
          <a:p>
            <a:pPr marL="0" indent="0">
              <a:buNone/>
            </a:pPr>
            <a:r>
              <a:rPr lang="en-US" sz="2200" dirty="0">
                <a:solidFill>
                  <a:srgbClr val="007FA3"/>
                </a:solidFill>
              </a:rPr>
              <a:t>C.</a:t>
            </a:r>
            <a:r>
              <a:rPr lang="en-US" sz="2200" dirty="0"/>
              <a:t> </a:t>
            </a:r>
            <a:r>
              <a:rPr lang="en-US" altLang="en-US" sz="2200" dirty="0"/>
              <a:t>A resistor</a:t>
            </a:r>
            <a:endParaRPr lang="en-US" sz="2200" dirty="0"/>
          </a:p>
        </p:txBody>
      </p:sp>
    </p:spTree>
    <p:extLst>
      <p:ext uri="{BB962C8B-B14F-4D97-AF65-F5344CB8AC3E}">
        <p14:creationId xmlns:p14="http://schemas.microsoft.com/office/powerpoint/2010/main" val="2576818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5">
            <a:extLst>
              <a:ext uri="{FF2B5EF4-FFF2-40B4-BE49-F238E27FC236}">
                <a16:creationId xmlns:a16="http://schemas.microsoft.com/office/drawing/2014/main" id="{3A560C5D-518C-822A-DB09-30632CC6E7E0}"/>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(5 of 10)</a:t>
            </a:r>
            <a:endParaRPr lang="en-US" sz="2800" noProof="0" dirty="0"/>
          </a:p>
        </p:txBody>
      </p:sp>
      <p:sp>
        <p:nvSpPr>
          <p:cNvPr id="3" name="Content Placeholder 2">
            <a:extLst>
              <a:ext uri="{FF2B5EF4-FFF2-40B4-BE49-F238E27FC236}">
                <a16:creationId xmlns:a16="http://schemas.microsoft.com/office/drawing/2014/main" id="{B90C7041-D4E3-3E2A-5506-96141ACDCC9B}"/>
              </a:ext>
            </a:extLst>
          </p:cNvPr>
          <p:cNvSpPr>
            <a:spLocks noGrp="1"/>
          </p:cNvSpPr>
          <p:nvPr>
            <p:ph sz="quarter" idx="12"/>
          </p:nvPr>
        </p:nvSpPr>
        <p:spPr>
          <a:xfrm>
            <a:off x="421068" y="857806"/>
            <a:ext cx="5103091" cy="374906"/>
          </a:xfrm>
        </p:spPr>
        <p:txBody>
          <a:bodyPr wrap="square">
            <a:spAutoFit/>
          </a:bodyPr>
          <a:lstStyle/>
          <a:p>
            <a:pPr marL="0" indent="0">
              <a:buNone/>
            </a:pPr>
            <a:r>
              <a:rPr lang="en-US" sz="2200" dirty="0"/>
              <a:t>To evaluate the current in the inductor as</a:t>
            </a:r>
          </a:p>
        </p:txBody>
      </p:sp>
      <p:graphicFrame>
        <p:nvGraphicFramePr>
          <p:cNvPr id="22" name="Object 21" descr="t right arrow, infinity">
            <a:extLst>
              <a:ext uri="{FF2B5EF4-FFF2-40B4-BE49-F238E27FC236}">
                <a16:creationId xmlns:a16="http://schemas.microsoft.com/office/drawing/2014/main" id="{E6F5FFCF-088F-0C66-EC0B-9B98A76AE804}"/>
              </a:ext>
            </a:extLst>
          </p:cNvPr>
          <p:cNvGraphicFramePr>
            <a:graphicFrameLocks noChangeAspect="1"/>
          </p:cNvGraphicFramePr>
          <p:nvPr>
            <p:extLst>
              <p:ext uri="{D42A27DB-BD31-4B8C-83A1-F6EECF244321}">
                <p14:modId xmlns:p14="http://schemas.microsoft.com/office/powerpoint/2010/main" val="3432929549"/>
              </p:ext>
            </p:extLst>
          </p:nvPr>
        </p:nvGraphicFramePr>
        <p:xfrm>
          <a:off x="5613545" y="871484"/>
          <a:ext cx="879475" cy="363537"/>
        </p:xfrm>
        <a:graphic>
          <a:graphicData uri="http://schemas.openxmlformats.org/presentationml/2006/ole">
            <mc:AlternateContent xmlns:mc="http://schemas.openxmlformats.org/markup-compatibility/2006">
              <mc:Choice xmlns:v="urn:schemas-microsoft-com:vml" Requires="v">
                <p:oleObj name="Equation" r:id="rId2" imgW="457200" imgH="190440" progId="Equation.DSMT4">
                  <p:embed/>
                </p:oleObj>
              </mc:Choice>
              <mc:Fallback>
                <p:oleObj name="Equation" r:id="rId2" imgW="457200" imgH="190440" progId="Equation.DSMT4">
                  <p:embed/>
                  <p:pic>
                    <p:nvPicPr>
                      <p:cNvPr id="25" name="Object 24">
                        <a:extLst>
                          <a:ext uri="{FF2B5EF4-FFF2-40B4-BE49-F238E27FC236}">
                            <a16:creationId xmlns:a16="http://schemas.microsoft.com/office/drawing/2014/main" id="{6DF5131F-5794-7A2B-0979-6FB390BC9738}"/>
                          </a:ext>
                        </a:extLst>
                      </p:cNvPr>
                      <p:cNvPicPr>
                        <a:picLocks noChangeAspect="1" noChangeArrowheads="1"/>
                      </p:cNvPicPr>
                      <p:nvPr/>
                    </p:nvPicPr>
                    <p:blipFill>
                      <a:blip r:embed="rId3"/>
                      <a:srcRect/>
                      <a:stretch>
                        <a:fillRect/>
                      </a:stretch>
                    </p:blipFill>
                    <p:spPr bwMode="auto">
                      <a:xfrm>
                        <a:off x="5613545" y="871484"/>
                        <a:ext cx="8794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4F5F14C8-5E34-9B73-2B5F-C0627118A635}"/>
              </a:ext>
            </a:extLst>
          </p:cNvPr>
          <p:cNvSpPr>
            <a:spLocks noGrp="1"/>
          </p:cNvSpPr>
          <p:nvPr>
            <p:ph sz="quarter" idx="13"/>
          </p:nvPr>
        </p:nvSpPr>
        <p:spPr>
          <a:xfrm>
            <a:off x="6582405" y="855589"/>
            <a:ext cx="2093281" cy="374906"/>
          </a:xfrm>
        </p:spPr>
        <p:txBody>
          <a:bodyPr wrap="square">
            <a:spAutoFit/>
          </a:bodyPr>
          <a:lstStyle/>
          <a:p>
            <a:pPr marL="0" indent="0">
              <a:buNone/>
            </a:pPr>
            <a:r>
              <a:rPr lang="en-US" sz="2200" dirty="0"/>
              <a:t>close the switch</a:t>
            </a:r>
          </a:p>
        </p:txBody>
      </p:sp>
      <p:sp>
        <p:nvSpPr>
          <p:cNvPr id="5" name="Content Placeholder 4">
            <a:extLst>
              <a:ext uri="{FF2B5EF4-FFF2-40B4-BE49-F238E27FC236}">
                <a16:creationId xmlns:a16="http://schemas.microsoft.com/office/drawing/2014/main" id="{D38AEB64-5D6D-EEAD-2660-3BA10497633D}"/>
              </a:ext>
            </a:extLst>
          </p:cNvPr>
          <p:cNvSpPr>
            <a:spLocks noGrp="1"/>
          </p:cNvSpPr>
          <p:nvPr>
            <p:ph sz="quarter" idx="14"/>
          </p:nvPr>
        </p:nvSpPr>
        <p:spPr>
          <a:xfrm>
            <a:off x="421068" y="1319457"/>
            <a:ext cx="8245381" cy="713460"/>
          </a:xfrm>
        </p:spPr>
        <p:txBody>
          <a:bodyPr wrap="square">
            <a:spAutoFit/>
          </a:bodyPr>
          <a:lstStyle/>
          <a:p>
            <a:pPr marL="0" indent="0">
              <a:spcBef>
                <a:spcPts val="600"/>
              </a:spcBef>
              <a:buClrTx/>
              <a:buNone/>
            </a:pPr>
            <a:r>
              <a:rPr lang="en-US" sz="2200" dirty="0"/>
              <a:t>and replace the inductor with a short circuit. The current in the short circuit is</a:t>
            </a:r>
            <a:endParaRPr lang="en-US" altLang="en-US" sz="2200" dirty="0"/>
          </a:p>
        </p:txBody>
      </p:sp>
      <p:pic>
        <p:nvPicPr>
          <p:cNvPr id="23" name="Picture 3"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0A742126-B2E6-7BC4-FA22-6A39C8E5AAA0}"/>
              </a:ext>
            </a:extLst>
          </p:cNvPr>
          <p:cNvPicPr>
            <a:picLocks noChangeAspect="1" noChangeArrowheads="1"/>
          </p:cNvPicPr>
          <p:nvPr/>
        </p:nvPicPr>
        <p:blipFill>
          <a:blip r:embed="rId4"/>
          <a:stretch>
            <a:fillRect/>
          </a:stretch>
        </p:blipFill>
        <p:spPr bwMode="auto">
          <a:xfrm>
            <a:off x="2243061" y="2191710"/>
            <a:ext cx="4601306" cy="210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559FE148-0298-94FE-8B2B-6E70A4B57B07}"/>
              </a:ext>
            </a:extLst>
          </p:cNvPr>
          <p:cNvSpPr>
            <a:spLocks noGrp="1"/>
          </p:cNvSpPr>
          <p:nvPr>
            <p:ph sz="quarter" idx="15"/>
          </p:nvPr>
        </p:nvSpPr>
        <p:spPr>
          <a:xfrm>
            <a:off x="1301593" y="4475952"/>
            <a:ext cx="568295" cy="374906"/>
          </a:xfrm>
        </p:spPr>
        <p:txBody>
          <a:bodyPr/>
          <a:lstStyle/>
          <a:p>
            <a:pPr marL="0" indent="0">
              <a:buNone/>
            </a:pPr>
            <a:r>
              <a:rPr lang="en-US" sz="2200" cap="small" dirty="0">
                <a:solidFill>
                  <a:srgbClr val="007FA3"/>
                </a:solidFill>
              </a:rPr>
              <a:t>A.</a:t>
            </a:r>
            <a:r>
              <a:rPr lang="en-US" sz="2200" dirty="0"/>
              <a:t> 0</a:t>
            </a:r>
          </a:p>
        </p:txBody>
      </p:sp>
      <p:sp>
        <p:nvSpPr>
          <p:cNvPr id="7" name="Content Placeholder 6">
            <a:extLst>
              <a:ext uri="{FF2B5EF4-FFF2-40B4-BE49-F238E27FC236}">
                <a16:creationId xmlns:a16="http://schemas.microsoft.com/office/drawing/2014/main" id="{97823E8E-18B4-0DA3-58AD-BCF99CA4C32D}"/>
              </a:ext>
            </a:extLst>
          </p:cNvPr>
          <p:cNvSpPr>
            <a:spLocks noGrp="1"/>
          </p:cNvSpPr>
          <p:nvPr>
            <p:ph sz="quarter" idx="16"/>
          </p:nvPr>
        </p:nvSpPr>
        <p:spPr>
          <a:xfrm>
            <a:off x="1301593" y="5035120"/>
            <a:ext cx="1185866" cy="374906"/>
          </a:xfrm>
        </p:spPr>
        <p:txBody>
          <a:bodyPr>
            <a:spAutoFit/>
          </a:bodyPr>
          <a:lstStyle/>
          <a:p>
            <a:pPr marL="0" indent="0">
              <a:buNone/>
            </a:pPr>
            <a:r>
              <a:rPr lang="en-US" sz="2200" dirty="0">
                <a:solidFill>
                  <a:srgbClr val="007FA3"/>
                </a:solidFill>
              </a:rPr>
              <a:t>B.</a:t>
            </a:r>
            <a:r>
              <a:rPr lang="en-US" sz="2200" dirty="0"/>
              <a:t> </a:t>
            </a:r>
            <a:r>
              <a:rPr lang="en-US" altLang="en-US" sz="2200" dirty="0"/>
              <a:t>infinite</a:t>
            </a:r>
            <a:endParaRPr lang="en-US" sz="2200" dirty="0"/>
          </a:p>
        </p:txBody>
      </p:sp>
      <p:sp>
        <p:nvSpPr>
          <p:cNvPr id="8" name="Content Placeholder 7">
            <a:extLst>
              <a:ext uri="{FF2B5EF4-FFF2-40B4-BE49-F238E27FC236}">
                <a16:creationId xmlns:a16="http://schemas.microsoft.com/office/drawing/2014/main" id="{DF1A372C-13D1-5166-E228-992C0A7958DB}"/>
              </a:ext>
            </a:extLst>
          </p:cNvPr>
          <p:cNvSpPr>
            <a:spLocks noGrp="1"/>
          </p:cNvSpPr>
          <p:nvPr>
            <p:ph sz="quarter" idx="17"/>
          </p:nvPr>
        </p:nvSpPr>
        <p:spPr>
          <a:xfrm>
            <a:off x="1301593" y="5632463"/>
            <a:ext cx="284148" cy="374906"/>
          </a:xfrm>
        </p:spPr>
        <p:txBody>
          <a:bodyPr/>
          <a:lstStyle/>
          <a:p>
            <a:pPr marL="0" indent="0">
              <a:buNone/>
            </a:pPr>
            <a:r>
              <a:rPr lang="en-US" sz="2200" dirty="0">
                <a:solidFill>
                  <a:srgbClr val="007FA3"/>
                </a:solidFill>
              </a:rPr>
              <a:t>C. </a:t>
            </a:r>
          </a:p>
        </p:txBody>
      </p:sp>
      <p:graphicFrame>
        <p:nvGraphicFramePr>
          <p:cNvPr id="27" name="Object 26" descr="V subscript S baseline divided by R.&#10;">
            <a:extLst>
              <a:ext uri="{FF2B5EF4-FFF2-40B4-BE49-F238E27FC236}">
                <a16:creationId xmlns:a16="http://schemas.microsoft.com/office/drawing/2014/main" id="{82A29CA5-8AFE-2136-9AC4-6C29432A2614}"/>
              </a:ext>
            </a:extLst>
          </p:cNvPr>
          <p:cNvGraphicFramePr>
            <a:graphicFrameLocks noChangeAspect="1"/>
          </p:cNvGraphicFramePr>
          <p:nvPr>
            <p:extLst>
              <p:ext uri="{D42A27DB-BD31-4B8C-83A1-F6EECF244321}">
                <p14:modId xmlns:p14="http://schemas.microsoft.com/office/powerpoint/2010/main" val="2702149817"/>
              </p:ext>
            </p:extLst>
          </p:nvPr>
        </p:nvGraphicFramePr>
        <p:xfrm>
          <a:off x="1681009" y="5647893"/>
          <a:ext cx="806450" cy="436563"/>
        </p:xfrm>
        <a:graphic>
          <a:graphicData uri="http://schemas.openxmlformats.org/presentationml/2006/ole">
            <mc:AlternateContent xmlns:mc="http://schemas.openxmlformats.org/markup-compatibility/2006">
              <mc:Choice xmlns:v="urn:schemas-microsoft-com:vml" Requires="v">
                <p:oleObj name="Equation" r:id="rId5" imgW="419040" imgH="228600" progId="Equation.DSMT4">
                  <p:embed/>
                </p:oleObj>
              </mc:Choice>
              <mc:Fallback>
                <p:oleObj name="Equation" r:id="rId5" imgW="419040" imgH="228600" progId="Equation.DSMT4">
                  <p:embed/>
                  <p:pic>
                    <p:nvPicPr>
                      <p:cNvPr id="22" name="Object 21">
                        <a:extLst>
                          <a:ext uri="{FF2B5EF4-FFF2-40B4-BE49-F238E27FC236}">
                            <a16:creationId xmlns:a16="http://schemas.microsoft.com/office/drawing/2014/main" id="{E6F5FFCF-088F-0C66-EC0B-9B98A76AE804}"/>
                          </a:ext>
                        </a:extLst>
                      </p:cNvPr>
                      <p:cNvPicPr>
                        <a:picLocks noChangeAspect="1" noChangeArrowheads="1"/>
                      </p:cNvPicPr>
                      <p:nvPr/>
                    </p:nvPicPr>
                    <p:blipFill>
                      <a:blip r:embed="rId6"/>
                      <a:srcRect/>
                      <a:stretch>
                        <a:fillRect/>
                      </a:stretch>
                    </p:blipFill>
                    <p:spPr bwMode="auto">
                      <a:xfrm>
                        <a:off x="1681009" y="5647893"/>
                        <a:ext cx="8064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470275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D09F6-858B-3F3D-5F96-F7DD6EC7074B}"/>
            </a:ext>
          </a:extLst>
        </p:cNvPr>
        <p:cNvGrpSpPr/>
        <p:nvPr/>
      </p:nvGrpSpPr>
      <p:grpSpPr>
        <a:xfrm>
          <a:off x="0" y="0"/>
          <a:ext cx="0" cy="0"/>
          <a:chOff x="0" y="0"/>
          <a:chExt cx="0" cy="0"/>
        </a:xfrm>
      </p:grpSpPr>
      <p:sp>
        <p:nvSpPr>
          <p:cNvPr id="21" name="Title 5">
            <a:extLst>
              <a:ext uri="{FF2B5EF4-FFF2-40B4-BE49-F238E27FC236}">
                <a16:creationId xmlns:a16="http://schemas.microsoft.com/office/drawing/2014/main" id="{9BAC405B-6703-9B54-2938-00AC3366DFE6}"/>
              </a:ext>
            </a:extLst>
          </p:cNvPr>
          <p:cNvSpPr>
            <a:spLocks noGrp="1"/>
          </p:cNvSpPr>
          <p:nvPr>
            <p:ph type="title"/>
          </p:nvPr>
        </p:nvSpPr>
        <p:spPr>
          <a:xfrm>
            <a:off x="430304" y="160936"/>
            <a:ext cx="8245383" cy="590349"/>
          </a:xfrm>
        </p:spPr>
        <p:txBody>
          <a:bodyPr anchor="ctr" anchorCtr="0"/>
          <a:lstStyle/>
          <a:p>
            <a:r>
              <a:rPr lang="en-US" noProof="0" dirty="0"/>
              <a:t>Chapter 7 – </a:t>
            </a:r>
            <a:r>
              <a:rPr lang="en-US" spc="-500" noProof="0" dirty="0"/>
              <a:t>R </a:t>
            </a:r>
            <a:r>
              <a:rPr lang="en-US" noProof="0" dirty="0"/>
              <a:t>L Step Response </a:t>
            </a:r>
            <a:r>
              <a:rPr lang="en-US" sz="2800" dirty="0">
                <a:latin typeface="Arial"/>
              </a:rPr>
              <a:t>(5 of 10)</a:t>
            </a:r>
            <a:endParaRPr lang="en-US" sz="2800" noProof="0" dirty="0"/>
          </a:p>
        </p:txBody>
      </p:sp>
      <p:sp>
        <p:nvSpPr>
          <p:cNvPr id="3" name="Content Placeholder 2">
            <a:extLst>
              <a:ext uri="{FF2B5EF4-FFF2-40B4-BE49-F238E27FC236}">
                <a16:creationId xmlns:a16="http://schemas.microsoft.com/office/drawing/2014/main" id="{CF19A509-C1D1-DA46-5692-94427B7C2330}"/>
              </a:ext>
            </a:extLst>
          </p:cNvPr>
          <p:cNvSpPr>
            <a:spLocks noGrp="1"/>
          </p:cNvSpPr>
          <p:nvPr>
            <p:ph sz="quarter" idx="12"/>
          </p:nvPr>
        </p:nvSpPr>
        <p:spPr>
          <a:xfrm>
            <a:off x="421068" y="857806"/>
            <a:ext cx="5103091" cy="374906"/>
          </a:xfrm>
        </p:spPr>
        <p:txBody>
          <a:bodyPr wrap="square">
            <a:spAutoFit/>
          </a:bodyPr>
          <a:lstStyle/>
          <a:p>
            <a:pPr marL="0" indent="0">
              <a:buNone/>
            </a:pPr>
            <a:r>
              <a:rPr lang="en-US" sz="2200" dirty="0"/>
              <a:t>To evaluate the current in the inductor as</a:t>
            </a:r>
          </a:p>
        </p:txBody>
      </p:sp>
      <p:graphicFrame>
        <p:nvGraphicFramePr>
          <p:cNvPr id="22" name="Object 21" descr="t right arrow, infinity">
            <a:extLst>
              <a:ext uri="{FF2B5EF4-FFF2-40B4-BE49-F238E27FC236}">
                <a16:creationId xmlns:a16="http://schemas.microsoft.com/office/drawing/2014/main" id="{12182C11-ABA0-8B4F-7F9E-981E1E8247ED}"/>
              </a:ext>
            </a:extLst>
          </p:cNvPr>
          <p:cNvGraphicFramePr>
            <a:graphicFrameLocks noChangeAspect="1"/>
          </p:cNvGraphicFramePr>
          <p:nvPr/>
        </p:nvGraphicFramePr>
        <p:xfrm>
          <a:off x="5613545" y="871484"/>
          <a:ext cx="879475" cy="363537"/>
        </p:xfrm>
        <a:graphic>
          <a:graphicData uri="http://schemas.openxmlformats.org/presentationml/2006/ole">
            <mc:AlternateContent xmlns:mc="http://schemas.openxmlformats.org/markup-compatibility/2006">
              <mc:Choice xmlns:v="urn:schemas-microsoft-com:vml" Requires="v">
                <p:oleObj name="Equation" r:id="rId5" imgW="457200" imgH="190440" progId="Equation.DSMT4">
                  <p:embed/>
                </p:oleObj>
              </mc:Choice>
              <mc:Fallback>
                <p:oleObj name="Equation" r:id="rId5" imgW="457200" imgH="190440" progId="Equation.DSMT4">
                  <p:embed/>
                  <p:pic>
                    <p:nvPicPr>
                      <p:cNvPr id="22" name="Object 21" descr="t right arrow, infinity">
                        <a:extLst>
                          <a:ext uri="{FF2B5EF4-FFF2-40B4-BE49-F238E27FC236}">
                            <a16:creationId xmlns:a16="http://schemas.microsoft.com/office/drawing/2014/main" id="{E6F5FFCF-088F-0C66-EC0B-9B98A76AE804}"/>
                          </a:ext>
                        </a:extLst>
                      </p:cNvPr>
                      <p:cNvPicPr>
                        <a:picLocks noChangeAspect="1" noChangeArrowheads="1"/>
                      </p:cNvPicPr>
                      <p:nvPr/>
                    </p:nvPicPr>
                    <p:blipFill>
                      <a:blip r:embed="rId6"/>
                      <a:srcRect/>
                      <a:stretch>
                        <a:fillRect/>
                      </a:stretch>
                    </p:blipFill>
                    <p:spPr bwMode="auto">
                      <a:xfrm>
                        <a:off x="5613545" y="871484"/>
                        <a:ext cx="8794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Content Placeholder 3">
            <a:extLst>
              <a:ext uri="{FF2B5EF4-FFF2-40B4-BE49-F238E27FC236}">
                <a16:creationId xmlns:a16="http://schemas.microsoft.com/office/drawing/2014/main" id="{BECF8D77-425B-2DB3-38FA-660106F21E4E}"/>
              </a:ext>
            </a:extLst>
          </p:cNvPr>
          <p:cNvSpPr>
            <a:spLocks noGrp="1"/>
          </p:cNvSpPr>
          <p:nvPr>
            <p:ph sz="quarter" idx="13"/>
          </p:nvPr>
        </p:nvSpPr>
        <p:spPr>
          <a:xfrm>
            <a:off x="6582405" y="855589"/>
            <a:ext cx="2093281" cy="374906"/>
          </a:xfrm>
        </p:spPr>
        <p:txBody>
          <a:bodyPr wrap="square">
            <a:spAutoFit/>
          </a:bodyPr>
          <a:lstStyle/>
          <a:p>
            <a:pPr marL="0" indent="0">
              <a:buNone/>
            </a:pPr>
            <a:r>
              <a:rPr lang="en-US" sz="2200" dirty="0"/>
              <a:t>close the switch</a:t>
            </a:r>
          </a:p>
        </p:txBody>
      </p:sp>
      <p:sp>
        <p:nvSpPr>
          <p:cNvPr id="5" name="Content Placeholder 4">
            <a:extLst>
              <a:ext uri="{FF2B5EF4-FFF2-40B4-BE49-F238E27FC236}">
                <a16:creationId xmlns:a16="http://schemas.microsoft.com/office/drawing/2014/main" id="{DB416B2F-F532-F16A-6301-7DC3D2E2DAD2}"/>
              </a:ext>
            </a:extLst>
          </p:cNvPr>
          <p:cNvSpPr>
            <a:spLocks noGrp="1"/>
          </p:cNvSpPr>
          <p:nvPr>
            <p:ph sz="quarter" idx="14"/>
          </p:nvPr>
        </p:nvSpPr>
        <p:spPr>
          <a:xfrm>
            <a:off x="421068" y="1319457"/>
            <a:ext cx="8245381" cy="713460"/>
          </a:xfrm>
        </p:spPr>
        <p:txBody>
          <a:bodyPr wrap="square">
            <a:spAutoFit/>
          </a:bodyPr>
          <a:lstStyle/>
          <a:p>
            <a:pPr marL="0" indent="0">
              <a:spcBef>
                <a:spcPts val="600"/>
              </a:spcBef>
              <a:buClrTx/>
              <a:buNone/>
            </a:pPr>
            <a:r>
              <a:rPr lang="en-US" sz="2200" dirty="0"/>
              <a:t>and replace the inductor with a short circuit. The current in the short circuit is</a:t>
            </a:r>
            <a:endParaRPr lang="en-US" altLang="en-US" sz="2200" dirty="0"/>
          </a:p>
        </p:txBody>
      </p:sp>
      <p:pic>
        <p:nvPicPr>
          <p:cNvPr id="23" name="Picture 3"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A229375B-EE2D-F4CF-FF0F-673F65B97262}"/>
              </a:ext>
            </a:extLst>
          </p:cNvPr>
          <p:cNvPicPr>
            <a:picLocks noChangeAspect="1" noChangeArrowheads="1"/>
          </p:cNvPicPr>
          <p:nvPr/>
        </p:nvPicPr>
        <p:blipFill>
          <a:blip r:embed="rId7"/>
          <a:stretch>
            <a:fillRect/>
          </a:stretch>
        </p:blipFill>
        <p:spPr bwMode="auto">
          <a:xfrm>
            <a:off x="2243061" y="2191710"/>
            <a:ext cx="4601306" cy="210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434" descr="Cross mark">
            <a:extLst>
              <a:ext uri="{FF2B5EF4-FFF2-40B4-BE49-F238E27FC236}">
                <a16:creationId xmlns:a16="http://schemas.microsoft.com/office/drawing/2014/main" id="{3FA1AD78-48FB-CFCD-CF9F-69F1B139C9A5}"/>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15802" y="4515727"/>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AFC2ABC0-6D6A-4A78-BBAF-0D4796A7FF32}"/>
              </a:ext>
            </a:extLst>
          </p:cNvPr>
          <p:cNvSpPr>
            <a:spLocks noGrp="1"/>
          </p:cNvSpPr>
          <p:nvPr>
            <p:ph sz="quarter" idx="15"/>
          </p:nvPr>
        </p:nvSpPr>
        <p:spPr>
          <a:xfrm>
            <a:off x="1301593" y="4475952"/>
            <a:ext cx="568295" cy="374906"/>
          </a:xfrm>
        </p:spPr>
        <p:txBody>
          <a:bodyPr/>
          <a:lstStyle/>
          <a:p>
            <a:pPr marL="0" indent="0">
              <a:buNone/>
            </a:pPr>
            <a:r>
              <a:rPr lang="en-US" sz="2200" cap="small" dirty="0">
                <a:solidFill>
                  <a:srgbClr val="007FA3"/>
                </a:solidFill>
              </a:rPr>
              <a:t>A.</a:t>
            </a:r>
            <a:r>
              <a:rPr lang="en-US" sz="2200" dirty="0"/>
              <a:t> 0</a:t>
            </a:r>
          </a:p>
        </p:txBody>
      </p:sp>
      <p:pic>
        <p:nvPicPr>
          <p:cNvPr id="25" name="Picture 1436" descr="Cross mark">
            <a:extLst>
              <a:ext uri="{FF2B5EF4-FFF2-40B4-BE49-F238E27FC236}">
                <a16:creationId xmlns:a16="http://schemas.microsoft.com/office/drawing/2014/main" id="{25C514C8-1D47-CB33-F078-F51D46F3E287}"/>
              </a:ext>
            </a:extLst>
          </p:cNvPr>
          <p:cNvPicPr>
            <a:picLocks/>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15802" y="5090898"/>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A575BB53-7D56-E32C-63C1-E866B6FB051E}"/>
              </a:ext>
            </a:extLst>
          </p:cNvPr>
          <p:cNvSpPr>
            <a:spLocks noGrp="1"/>
          </p:cNvSpPr>
          <p:nvPr>
            <p:ph sz="quarter" idx="16"/>
          </p:nvPr>
        </p:nvSpPr>
        <p:spPr>
          <a:xfrm>
            <a:off x="1301593" y="5035120"/>
            <a:ext cx="1185866" cy="374906"/>
          </a:xfrm>
        </p:spPr>
        <p:txBody>
          <a:bodyPr>
            <a:spAutoFit/>
          </a:bodyPr>
          <a:lstStyle/>
          <a:p>
            <a:pPr marL="0" indent="0">
              <a:buNone/>
            </a:pPr>
            <a:r>
              <a:rPr lang="en-US" sz="2200" dirty="0">
                <a:solidFill>
                  <a:srgbClr val="007FA3"/>
                </a:solidFill>
              </a:rPr>
              <a:t>B.</a:t>
            </a:r>
            <a:r>
              <a:rPr lang="en-US" sz="2200" dirty="0"/>
              <a:t> </a:t>
            </a:r>
            <a:r>
              <a:rPr lang="en-US" altLang="en-US" sz="2200" dirty="0"/>
              <a:t>infinite</a:t>
            </a:r>
            <a:endParaRPr lang="en-US" sz="2200" dirty="0"/>
          </a:p>
        </p:txBody>
      </p:sp>
      <p:pic>
        <p:nvPicPr>
          <p:cNvPr id="26" name="Picture 1435" descr="Check mark">
            <a:extLst>
              <a:ext uri="{FF2B5EF4-FFF2-40B4-BE49-F238E27FC236}">
                <a16:creationId xmlns:a16="http://schemas.microsoft.com/office/drawing/2014/main" id="{3639A097-B956-BAF0-D356-0245947ADCAC}"/>
              </a:ext>
            </a:extLst>
          </p:cNvPr>
          <p:cNvPicPr>
            <a:picLocks/>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15802" y="565729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F2461CCB-8EDC-A465-ADC5-C415031BB87A}"/>
              </a:ext>
            </a:extLst>
          </p:cNvPr>
          <p:cNvSpPr>
            <a:spLocks noGrp="1"/>
          </p:cNvSpPr>
          <p:nvPr>
            <p:ph sz="quarter" idx="17"/>
          </p:nvPr>
        </p:nvSpPr>
        <p:spPr>
          <a:xfrm>
            <a:off x="1301593" y="5632463"/>
            <a:ext cx="284148" cy="374906"/>
          </a:xfrm>
        </p:spPr>
        <p:txBody>
          <a:bodyPr/>
          <a:lstStyle/>
          <a:p>
            <a:pPr marL="0" indent="0">
              <a:buNone/>
            </a:pPr>
            <a:r>
              <a:rPr lang="en-US" sz="2200" dirty="0">
                <a:solidFill>
                  <a:srgbClr val="007FA3"/>
                </a:solidFill>
              </a:rPr>
              <a:t>C. </a:t>
            </a:r>
          </a:p>
        </p:txBody>
      </p:sp>
      <p:graphicFrame>
        <p:nvGraphicFramePr>
          <p:cNvPr id="27" name="Object 26" descr="V subscript S baseline divided by R.&#10;">
            <a:extLst>
              <a:ext uri="{FF2B5EF4-FFF2-40B4-BE49-F238E27FC236}">
                <a16:creationId xmlns:a16="http://schemas.microsoft.com/office/drawing/2014/main" id="{796BBED8-95D1-DFB0-26B6-DFD52A4D00FF}"/>
              </a:ext>
            </a:extLst>
          </p:cNvPr>
          <p:cNvGraphicFramePr>
            <a:graphicFrameLocks noChangeAspect="1"/>
          </p:cNvGraphicFramePr>
          <p:nvPr/>
        </p:nvGraphicFramePr>
        <p:xfrm>
          <a:off x="1681009" y="5647893"/>
          <a:ext cx="806450" cy="436563"/>
        </p:xfrm>
        <a:graphic>
          <a:graphicData uri="http://schemas.openxmlformats.org/presentationml/2006/ole">
            <mc:AlternateContent xmlns:mc="http://schemas.openxmlformats.org/markup-compatibility/2006">
              <mc:Choice xmlns:v="urn:schemas-microsoft-com:vml" Requires="v">
                <p:oleObj name="Equation" r:id="rId10" imgW="419040" imgH="228600" progId="Equation.DSMT4">
                  <p:embed/>
                </p:oleObj>
              </mc:Choice>
              <mc:Fallback>
                <p:oleObj name="Equation" r:id="rId10" imgW="419040" imgH="228600" progId="Equation.DSMT4">
                  <p:embed/>
                  <p:pic>
                    <p:nvPicPr>
                      <p:cNvPr id="27" name="Object 26" descr="V subscript S baseline divided by R.&#10;">
                        <a:extLst>
                          <a:ext uri="{FF2B5EF4-FFF2-40B4-BE49-F238E27FC236}">
                            <a16:creationId xmlns:a16="http://schemas.microsoft.com/office/drawing/2014/main" id="{82A29CA5-8AFE-2136-9AC4-6C29432A2614}"/>
                          </a:ext>
                        </a:extLst>
                      </p:cNvPr>
                      <p:cNvPicPr>
                        <a:picLocks noChangeAspect="1" noChangeArrowheads="1"/>
                      </p:cNvPicPr>
                      <p:nvPr/>
                    </p:nvPicPr>
                    <p:blipFill>
                      <a:blip r:embed="rId11"/>
                      <a:srcRect/>
                      <a:stretch>
                        <a:fillRect/>
                      </a:stretch>
                    </p:blipFill>
                    <p:spPr bwMode="auto">
                      <a:xfrm>
                        <a:off x="1681009" y="5647893"/>
                        <a:ext cx="8064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257789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FB0E-7931-3E44-C5BF-E717B3214B70}"/>
              </a:ext>
            </a:extLst>
          </p:cNvPr>
          <p:cNvSpPr>
            <a:spLocks noGrp="1"/>
          </p:cNvSpPr>
          <p:nvPr>
            <p:ph type="title"/>
          </p:nvPr>
        </p:nvSpPr>
        <p:spPr>
          <a:xfrm>
            <a:off x="429221" y="242610"/>
            <a:ext cx="8229600"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(6 of 10)</a:t>
            </a:r>
            <a:endParaRPr lang="en-US" sz="2600" dirty="0"/>
          </a:p>
        </p:txBody>
      </p:sp>
      <p:pic>
        <p:nvPicPr>
          <p:cNvPr id="21" name="Picture 2"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74D8C7D4-962E-7B74-F67A-2A8FCDCDBCEA}"/>
              </a:ext>
            </a:extLst>
          </p:cNvPr>
          <p:cNvPicPr>
            <a:picLocks noChangeAspect="1" noChangeArrowheads="1"/>
          </p:cNvPicPr>
          <p:nvPr/>
        </p:nvPicPr>
        <p:blipFill>
          <a:blip r:embed="rId2"/>
          <a:stretch>
            <a:fillRect/>
          </a:stretch>
        </p:blipFill>
        <p:spPr bwMode="auto">
          <a:xfrm>
            <a:off x="586511" y="899312"/>
            <a:ext cx="3773405" cy="17234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2" name="Object 21" descr="K V L colon L Start Fraction d i (t) over d t End Fraction plus R i (t) equals V subscript S.&#10;">
            <a:extLst>
              <a:ext uri="{FF2B5EF4-FFF2-40B4-BE49-F238E27FC236}">
                <a16:creationId xmlns:a16="http://schemas.microsoft.com/office/drawing/2014/main" id="{0152264F-B1D3-48FD-01C5-EA7A1BDF04E8}"/>
              </a:ext>
            </a:extLst>
          </p:cNvPr>
          <p:cNvGraphicFramePr>
            <a:graphicFrameLocks noChangeAspect="1"/>
          </p:cNvGraphicFramePr>
          <p:nvPr>
            <p:extLst>
              <p:ext uri="{D42A27DB-BD31-4B8C-83A1-F6EECF244321}">
                <p14:modId xmlns:p14="http://schemas.microsoft.com/office/powerpoint/2010/main" val="714378129"/>
              </p:ext>
            </p:extLst>
          </p:nvPr>
        </p:nvGraphicFramePr>
        <p:xfrm>
          <a:off x="5234938" y="1274792"/>
          <a:ext cx="3017520" cy="640873"/>
        </p:xfrm>
        <a:graphic>
          <a:graphicData uri="http://schemas.openxmlformats.org/presentationml/2006/ole">
            <mc:AlternateContent xmlns:mc="http://schemas.openxmlformats.org/markup-compatibility/2006">
              <mc:Choice xmlns:v="urn:schemas-microsoft-com:vml" Requires="v">
                <p:oleObj name="Equation" r:id="rId3" imgW="1854000" imgH="393480" progId="Equation.DSMT4">
                  <p:embed/>
                </p:oleObj>
              </mc:Choice>
              <mc:Fallback>
                <p:oleObj name="Equation" r:id="rId3" imgW="1854000" imgH="393480" progId="Equation.DSMT4">
                  <p:embed/>
                  <p:pic>
                    <p:nvPicPr>
                      <p:cNvPr id="13" name="Object 12"/>
                      <p:cNvPicPr>
                        <a:picLocks noChangeAspect="1" noChangeArrowheads="1"/>
                      </p:cNvPicPr>
                      <p:nvPr/>
                    </p:nvPicPr>
                    <p:blipFill>
                      <a:blip r:embed="rId4"/>
                      <a:srcRect/>
                      <a:stretch>
                        <a:fillRect/>
                      </a:stretch>
                    </p:blipFill>
                    <p:spPr bwMode="auto">
                      <a:xfrm>
                        <a:off x="5234938" y="1274792"/>
                        <a:ext cx="3017520" cy="640873"/>
                      </a:xfrm>
                      <a:prstGeom prst="rect">
                        <a:avLst/>
                      </a:prstGeom>
                      <a:noFill/>
                      <a:ln>
                        <a:noFill/>
                      </a:ln>
                    </p:spPr>
                  </p:pic>
                </p:oleObj>
              </mc:Fallback>
            </mc:AlternateContent>
          </a:graphicData>
        </a:graphic>
      </p:graphicFrame>
      <p:sp>
        <p:nvSpPr>
          <p:cNvPr id="3" name="Content Placeholder 2">
            <a:extLst>
              <a:ext uri="{FF2B5EF4-FFF2-40B4-BE49-F238E27FC236}">
                <a16:creationId xmlns:a16="http://schemas.microsoft.com/office/drawing/2014/main" id="{1AD661F3-06F9-2EDA-760D-087D06FC9F1B}"/>
              </a:ext>
            </a:extLst>
          </p:cNvPr>
          <p:cNvSpPr>
            <a:spLocks noGrp="1"/>
          </p:cNvSpPr>
          <p:nvPr>
            <p:ph sz="quarter" idx="12"/>
          </p:nvPr>
        </p:nvSpPr>
        <p:spPr>
          <a:xfrm>
            <a:off x="420256" y="2784683"/>
            <a:ext cx="8255431" cy="313350"/>
          </a:xfrm>
        </p:spPr>
        <p:txBody>
          <a:bodyPr/>
          <a:lstStyle/>
          <a:p>
            <a:pPr marL="0" indent="0">
              <a:buNone/>
            </a:pPr>
            <a:r>
              <a:rPr lang="en-US" sz="1800" dirty="0"/>
              <a:t>The functional form for </a:t>
            </a:r>
            <a:r>
              <a:rPr lang="en-US" sz="1800" i="1" dirty="0" err="1"/>
              <a:t>i</a:t>
            </a:r>
            <a:r>
              <a:rPr lang="en-US" sz="1800" dirty="0"/>
              <a:t>(</a:t>
            </a:r>
            <a:r>
              <a:rPr lang="en-US" sz="1800" i="1" dirty="0"/>
              <a:t>t</a:t>
            </a:r>
            <a:r>
              <a:rPr lang="en-US" sz="1800" dirty="0"/>
              <a:t>)</a:t>
            </a:r>
            <a:r>
              <a:rPr lang="en-US" sz="1800" i="1" dirty="0"/>
              <a:t> </a:t>
            </a:r>
            <a:r>
              <a:rPr lang="en-US" sz="1800" dirty="0"/>
              <a:t>should be the same as for the natural response!</a:t>
            </a:r>
            <a:endParaRPr lang="en-US" sz="1800" i="1" dirty="0"/>
          </a:p>
        </p:txBody>
      </p:sp>
      <p:sp>
        <p:nvSpPr>
          <p:cNvPr id="4" name="Content Placeholder 3">
            <a:extLst>
              <a:ext uri="{FF2B5EF4-FFF2-40B4-BE49-F238E27FC236}">
                <a16:creationId xmlns:a16="http://schemas.microsoft.com/office/drawing/2014/main" id="{77F4914F-3E4A-9B06-02F9-6C451FC6CB2C}"/>
              </a:ext>
            </a:extLst>
          </p:cNvPr>
          <p:cNvSpPr>
            <a:spLocks noGrp="1"/>
          </p:cNvSpPr>
          <p:nvPr>
            <p:ph sz="quarter" idx="13"/>
          </p:nvPr>
        </p:nvSpPr>
        <p:spPr>
          <a:xfrm>
            <a:off x="420257" y="3245421"/>
            <a:ext cx="364834" cy="313350"/>
          </a:xfrm>
        </p:spPr>
        <p:txBody>
          <a:bodyPr wrap="square">
            <a:spAutoFit/>
          </a:bodyPr>
          <a:lstStyle/>
          <a:p>
            <a:pPr marL="0" indent="0">
              <a:buNone/>
            </a:pPr>
            <a:r>
              <a:rPr lang="en-US" sz="1800" dirty="0"/>
              <a:t>Try</a:t>
            </a:r>
          </a:p>
        </p:txBody>
      </p:sp>
      <p:graphicFrame>
        <p:nvGraphicFramePr>
          <p:cNvPr id="23" name="Object 22" descr="i (t) equals I subscript 0 baseline e to the negative Open Parenthesis R divided by L Close Parenthesis t power,&#10;">
            <a:extLst>
              <a:ext uri="{FF2B5EF4-FFF2-40B4-BE49-F238E27FC236}">
                <a16:creationId xmlns:a16="http://schemas.microsoft.com/office/drawing/2014/main" id="{8013D1C8-8FE2-9572-140C-3E2A4F97153C}"/>
              </a:ext>
            </a:extLst>
          </p:cNvPr>
          <p:cNvGraphicFramePr>
            <a:graphicFrameLocks noChangeAspect="1"/>
          </p:cNvGraphicFramePr>
          <p:nvPr>
            <p:extLst>
              <p:ext uri="{D42A27DB-BD31-4B8C-83A1-F6EECF244321}">
                <p14:modId xmlns:p14="http://schemas.microsoft.com/office/powerpoint/2010/main" val="1904939226"/>
              </p:ext>
            </p:extLst>
          </p:nvPr>
        </p:nvGraphicFramePr>
        <p:xfrm>
          <a:off x="825909" y="3232728"/>
          <a:ext cx="1528763" cy="393700"/>
        </p:xfrm>
        <a:graphic>
          <a:graphicData uri="http://schemas.openxmlformats.org/presentationml/2006/ole">
            <mc:AlternateContent xmlns:mc="http://schemas.openxmlformats.org/markup-compatibility/2006">
              <mc:Choice xmlns:v="urn:schemas-microsoft-com:vml" Requires="v">
                <p:oleObj name="Equation" r:id="rId5" imgW="939600" imgH="241200" progId="Equation.DSMT4">
                  <p:embed/>
                </p:oleObj>
              </mc:Choice>
              <mc:Fallback>
                <p:oleObj name="Equation" r:id="rId5" imgW="939600" imgH="241200" progId="Equation.DSMT4">
                  <p:embed/>
                  <p:pic>
                    <p:nvPicPr>
                      <p:cNvPr id="22" name="Object 21">
                        <a:extLst>
                          <a:ext uri="{FF2B5EF4-FFF2-40B4-BE49-F238E27FC236}">
                            <a16:creationId xmlns:a16="http://schemas.microsoft.com/office/drawing/2014/main" id="{0152264F-B1D3-48FD-01C5-EA7A1BDF04E8}"/>
                          </a:ext>
                        </a:extLst>
                      </p:cNvPr>
                      <p:cNvPicPr>
                        <a:picLocks noChangeAspect="1" noChangeArrowheads="1"/>
                      </p:cNvPicPr>
                      <p:nvPr/>
                    </p:nvPicPr>
                    <p:blipFill>
                      <a:blip r:embed="rId6"/>
                      <a:srcRect/>
                      <a:stretch>
                        <a:fillRect/>
                      </a:stretch>
                    </p:blipFill>
                    <p:spPr bwMode="auto">
                      <a:xfrm>
                        <a:off x="825909" y="3232728"/>
                        <a:ext cx="1528763" cy="393700"/>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921440B9-D378-41AD-9C3C-C197761AD198}"/>
              </a:ext>
            </a:extLst>
          </p:cNvPr>
          <p:cNvSpPr>
            <a:spLocks noGrp="1"/>
          </p:cNvSpPr>
          <p:nvPr>
            <p:ph sz="quarter" idx="15"/>
          </p:nvPr>
        </p:nvSpPr>
        <p:spPr>
          <a:xfrm>
            <a:off x="2495794" y="3234602"/>
            <a:ext cx="767352" cy="313350"/>
          </a:xfrm>
        </p:spPr>
        <p:txBody>
          <a:bodyPr wrap="square">
            <a:spAutoFit/>
          </a:bodyPr>
          <a:lstStyle/>
          <a:p>
            <a:pPr marL="0" indent="0">
              <a:buNone/>
            </a:pPr>
            <a:r>
              <a:rPr lang="en-US" sz="1800" dirty="0"/>
              <a:t>where </a:t>
            </a:r>
          </a:p>
        </p:txBody>
      </p:sp>
      <p:graphicFrame>
        <p:nvGraphicFramePr>
          <p:cNvPr id="24" name="Object 23" descr="I subscript 0.&#10;">
            <a:extLst>
              <a:ext uri="{FF2B5EF4-FFF2-40B4-BE49-F238E27FC236}">
                <a16:creationId xmlns:a16="http://schemas.microsoft.com/office/drawing/2014/main" id="{E80777C4-2D41-749A-E3D8-B368991F3690}"/>
              </a:ext>
            </a:extLst>
          </p:cNvPr>
          <p:cNvGraphicFramePr>
            <a:graphicFrameLocks noChangeAspect="1"/>
          </p:cNvGraphicFramePr>
          <p:nvPr>
            <p:extLst>
              <p:ext uri="{D42A27DB-BD31-4B8C-83A1-F6EECF244321}">
                <p14:modId xmlns:p14="http://schemas.microsoft.com/office/powerpoint/2010/main" val="46786273"/>
              </p:ext>
            </p:extLst>
          </p:nvPr>
        </p:nvGraphicFramePr>
        <p:xfrm>
          <a:off x="3244674" y="3232871"/>
          <a:ext cx="228023" cy="373785"/>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23" name="Object 22">
                        <a:extLst>
                          <a:ext uri="{FF2B5EF4-FFF2-40B4-BE49-F238E27FC236}">
                            <a16:creationId xmlns:a16="http://schemas.microsoft.com/office/drawing/2014/main" id="{8013D1C8-8FE2-9572-140C-3E2A4F97153C}"/>
                          </a:ext>
                        </a:extLst>
                      </p:cNvPr>
                      <p:cNvPicPr>
                        <a:picLocks noChangeAspect="1" noChangeArrowheads="1"/>
                      </p:cNvPicPr>
                      <p:nvPr/>
                    </p:nvPicPr>
                    <p:blipFill>
                      <a:blip r:embed="rId8"/>
                      <a:srcRect/>
                      <a:stretch>
                        <a:fillRect/>
                      </a:stretch>
                    </p:blipFill>
                    <p:spPr bwMode="auto">
                      <a:xfrm>
                        <a:off x="3244674" y="3232871"/>
                        <a:ext cx="228023" cy="373785"/>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59B59858-6DC2-3D74-C07B-6E3452445847}"/>
              </a:ext>
            </a:extLst>
          </p:cNvPr>
          <p:cNvSpPr>
            <a:spLocks noGrp="1"/>
          </p:cNvSpPr>
          <p:nvPr>
            <p:ph sz="quarter" idx="16"/>
          </p:nvPr>
        </p:nvSpPr>
        <p:spPr>
          <a:xfrm>
            <a:off x="3572481" y="3232728"/>
            <a:ext cx="2938005" cy="313350"/>
          </a:xfrm>
        </p:spPr>
        <p:txBody>
          <a:bodyPr wrap="square">
            <a:spAutoFit/>
          </a:bodyPr>
          <a:lstStyle/>
          <a:p>
            <a:pPr marL="0" indent="0">
              <a:buNone/>
            </a:pPr>
            <a:r>
              <a:rPr lang="en-US" sz="1800" dirty="0"/>
              <a:t>is the initial inductor current.</a:t>
            </a:r>
          </a:p>
        </p:txBody>
      </p:sp>
      <p:sp>
        <p:nvSpPr>
          <p:cNvPr id="8" name="Content Placeholder 7">
            <a:extLst>
              <a:ext uri="{FF2B5EF4-FFF2-40B4-BE49-F238E27FC236}">
                <a16:creationId xmlns:a16="http://schemas.microsoft.com/office/drawing/2014/main" id="{182B7944-F476-FC51-3BDA-428B54384FFD}"/>
              </a:ext>
            </a:extLst>
          </p:cNvPr>
          <p:cNvSpPr>
            <a:spLocks noGrp="1"/>
          </p:cNvSpPr>
          <p:nvPr>
            <p:ph sz="quarter" idx="17"/>
          </p:nvPr>
        </p:nvSpPr>
        <p:spPr>
          <a:xfrm>
            <a:off x="420257" y="3716203"/>
            <a:ext cx="669634" cy="313350"/>
          </a:xfrm>
        </p:spPr>
        <p:txBody>
          <a:bodyPr wrap="square">
            <a:spAutoFit/>
          </a:bodyPr>
          <a:lstStyle/>
          <a:p>
            <a:pPr marL="0" indent="0">
              <a:buNone/>
            </a:pPr>
            <a:r>
              <a:rPr lang="en-US" sz="1800" dirty="0"/>
              <a:t>But as</a:t>
            </a:r>
          </a:p>
        </p:txBody>
      </p:sp>
      <p:graphicFrame>
        <p:nvGraphicFramePr>
          <p:cNvPr id="27" name="Object 26" descr="t right arrow, infinity &#10;">
            <a:extLst>
              <a:ext uri="{FF2B5EF4-FFF2-40B4-BE49-F238E27FC236}">
                <a16:creationId xmlns:a16="http://schemas.microsoft.com/office/drawing/2014/main" id="{8701E793-7752-3532-D706-E79EF86A2E91}"/>
              </a:ext>
            </a:extLst>
          </p:cNvPr>
          <p:cNvGraphicFramePr>
            <a:graphicFrameLocks noChangeAspect="1"/>
          </p:cNvGraphicFramePr>
          <p:nvPr>
            <p:extLst>
              <p:ext uri="{D42A27DB-BD31-4B8C-83A1-F6EECF244321}">
                <p14:modId xmlns:p14="http://schemas.microsoft.com/office/powerpoint/2010/main" val="835175295"/>
              </p:ext>
            </p:extLst>
          </p:nvPr>
        </p:nvGraphicFramePr>
        <p:xfrm>
          <a:off x="1197814" y="3757613"/>
          <a:ext cx="655637" cy="268287"/>
        </p:xfrm>
        <a:graphic>
          <a:graphicData uri="http://schemas.openxmlformats.org/presentationml/2006/ole">
            <mc:AlternateContent xmlns:mc="http://schemas.openxmlformats.org/markup-compatibility/2006">
              <mc:Choice xmlns:v="urn:schemas-microsoft-com:vml" Requires="v">
                <p:oleObj name="Equation" r:id="rId9" imgW="431640" imgH="177480" progId="Equation.DSMT4">
                  <p:embed/>
                </p:oleObj>
              </mc:Choice>
              <mc:Fallback>
                <p:oleObj name="Equation" r:id="rId9" imgW="431640" imgH="177480" progId="Equation.DSMT4">
                  <p:embed/>
                  <p:pic>
                    <p:nvPicPr>
                      <p:cNvPr id="24" name="Object 23">
                        <a:extLst>
                          <a:ext uri="{FF2B5EF4-FFF2-40B4-BE49-F238E27FC236}">
                            <a16:creationId xmlns:a16="http://schemas.microsoft.com/office/drawing/2014/main" id="{76845EFC-EA00-A1D2-4398-AF816A33BBD2}"/>
                          </a:ext>
                        </a:extLst>
                      </p:cNvPr>
                      <p:cNvPicPr>
                        <a:picLocks noChangeAspect="1" noChangeArrowheads="1"/>
                      </p:cNvPicPr>
                      <p:nvPr/>
                    </p:nvPicPr>
                    <p:blipFill>
                      <a:blip r:embed="rId10"/>
                      <a:srcRect/>
                      <a:stretch>
                        <a:fillRect/>
                      </a:stretch>
                    </p:blipFill>
                    <p:spPr bwMode="auto">
                      <a:xfrm>
                        <a:off x="1197814" y="3757613"/>
                        <a:ext cx="6556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25" descr="i (infinity) equals I subscript 0 baseline e to the negative Open Parenthesis R divided by L Close Parenthesis (infinity) power equals 0.">
            <a:extLst>
              <a:ext uri="{FF2B5EF4-FFF2-40B4-BE49-F238E27FC236}">
                <a16:creationId xmlns:a16="http://schemas.microsoft.com/office/drawing/2014/main" id="{9B177FEE-5A69-4DD7-AD9C-21CB39258A7C}"/>
              </a:ext>
            </a:extLst>
          </p:cNvPr>
          <p:cNvGraphicFramePr>
            <a:graphicFrameLocks noChangeAspect="1"/>
          </p:cNvGraphicFramePr>
          <p:nvPr>
            <p:extLst>
              <p:ext uri="{D42A27DB-BD31-4B8C-83A1-F6EECF244321}">
                <p14:modId xmlns:p14="http://schemas.microsoft.com/office/powerpoint/2010/main" val="1561814540"/>
              </p:ext>
            </p:extLst>
          </p:nvPr>
        </p:nvGraphicFramePr>
        <p:xfrm>
          <a:off x="2012390" y="3708868"/>
          <a:ext cx="2008188" cy="365125"/>
        </p:xfrm>
        <a:graphic>
          <a:graphicData uri="http://schemas.openxmlformats.org/presentationml/2006/ole">
            <mc:AlternateContent xmlns:mc="http://schemas.openxmlformats.org/markup-compatibility/2006">
              <mc:Choice xmlns:v="urn:schemas-microsoft-com:vml" Requires="v">
                <p:oleObj name="Equation" r:id="rId11" imgW="1320480" imgH="241200" progId="Equation.DSMT4">
                  <p:embed/>
                </p:oleObj>
              </mc:Choice>
              <mc:Fallback>
                <p:oleObj name="Equation" r:id="rId11" imgW="1320480" imgH="241200" progId="Equation.DSMT4">
                  <p:embed/>
                  <p:pic>
                    <p:nvPicPr>
                      <p:cNvPr id="27" name="Object 26" descr="t right arrow, infinity i (infinity) equals I subscript 0 baseline e to the negative OpenParenthesis R divided by L CloseParenthesis (infinity) power equals 0.&#10;">
                        <a:extLst>
                          <a:ext uri="{FF2B5EF4-FFF2-40B4-BE49-F238E27FC236}">
                            <a16:creationId xmlns:a16="http://schemas.microsoft.com/office/drawing/2014/main" id="{8701E793-7752-3532-D706-E79EF86A2E91}"/>
                          </a:ext>
                        </a:extLst>
                      </p:cNvPr>
                      <p:cNvPicPr>
                        <a:picLocks noChangeAspect="1" noChangeArrowheads="1"/>
                      </p:cNvPicPr>
                      <p:nvPr/>
                    </p:nvPicPr>
                    <p:blipFill>
                      <a:blip r:embed="rId12"/>
                      <a:srcRect/>
                      <a:stretch>
                        <a:fillRect/>
                      </a:stretch>
                    </p:blipFill>
                    <p:spPr bwMode="auto">
                      <a:xfrm>
                        <a:off x="2012390" y="3708868"/>
                        <a:ext cx="2008188" cy="365125"/>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88129538-CEBC-33E8-7069-F26E834E5BDB}"/>
              </a:ext>
            </a:extLst>
          </p:cNvPr>
          <p:cNvSpPr>
            <a:spLocks noGrp="1"/>
          </p:cNvSpPr>
          <p:nvPr>
            <p:ph sz="quarter" idx="18"/>
          </p:nvPr>
        </p:nvSpPr>
        <p:spPr>
          <a:xfrm>
            <a:off x="4279418" y="3700938"/>
            <a:ext cx="1877101" cy="313350"/>
          </a:xfrm>
        </p:spPr>
        <p:txBody>
          <a:bodyPr wrap="square">
            <a:spAutoFit/>
          </a:bodyPr>
          <a:lstStyle/>
          <a:p>
            <a:pPr marL="0" indent="0">
              <a:buNone/>
            </a:pPr>
            <a:r>
              <a:rPr lang="en-US" sz="1800" dirty="0"/>
              <a:t>which is incorrect!</a:t>
            </a:r>
          </a:p>
        </p:txBody>
      </p:sp>
      <p:sp>
        <p:nvSpPr>
          <p:cNvPr id="10" name="Content Placeholder 9">
            <a:extLst>
              <a:ext uri="{FF2B5EF4-FFF2-40B4-BE49-F238E27FC236}">
                <a16:creationId xmlns:a16="http://schemas.microsoft.com/office/drawing/2014/main" id="{0AB489F9-65B8-8395-ACD0-C725F69D325A}"/>
              </a:ext>
            </a:extLst>
          </p:cNvPr>
          <p:cNvSpPr>
            <a:spLocks noGrp="1"/>
          </p:cNvSpPr>
          <p:nvPr>
            <p:ph sz="quarter" idx="19"/>
          </p:nvPr>
        </p:nvSpPr>
        <p:spPr>
          <a:xfrm>
            <a:off x="420256" y="4171400"/>
            <a:ext cx="364835" cy="313350"/>
          </a:xfrm>
        </p:spPr>
        <p:txBody>
          <a:bodyPr wrap="square">
            <a:spAutoFit/>
          </a:bodyPr>
          <a:lstStyle/>
          <a:p>
            <a:pPr marL="0" indent="0">
              <a:buNone/>
            </a:pPr>
            <a:r>
              <a:rPr lang="en-US" sz="1800" dirty="0"/>
              <a:t>Try</a:t>
            </a:r>
          </a:p>
        </p:txBody>
      </p:sp>
      <p:graphicFrame>
        <p:nvGraphicFramePr>
          <p:cNvPr id="28" name="Object 27" descr="i (t) equals I subscript F baseline plus I subscript 0 baseline e to the negative Open Parenthesis R divided by L Close Parenthesis t,&#10;">
            <a:extLst>
              <a:ext uri="{FF2B5EF4-FFF2-40B4-BE49-F238E27FC236}">
                <a16:creationId xmlns:a16="http://schemas.microsoft.com/office/drawing/2014/main" id="{73476F02-FFFF-847F-5683-DCB822886E2B}"/>
              </a:ext>
            </a:extLst>
          </p:cNvPr>
          <p:cNvGraphicFramePr>
            <a:graphicFrameLocks noChangeAspect="1"/>
          </p:cNvGraphicFramePr>
          <p:nvPr>
            <p:extLst>
              <p:ext uri="{D42A27DB-BD31-4B8C-83A1-F6EECF244321}">
                <p14:modId xmlns:p14="http://schemas.microsoft.com/office/powerpoint/2010/main" val="2869905148"/>
              </p:ext>
            </p:extLst>
          </p:nvPr>
        </p:nvGraphicFramePr>
        <p:xfrm>
          <a:off x="846427" y="4161655"/>
          <a:ext cx="1916807" cy="381786"/>
        </p:xfrm>
        <a:graphic>
          <a:graphicData uri="http://schemas.openxmlformats.org/presentationml/2006/ole">
            <mc:AlternateContent xmlns:mc="http://schemas.openxmlformats.org/markup-compatibility/2006">
              <mc:Choice xmlns:v="urn:schemas-microsoft-com:vml" Requires="v">
                <p:oleObj name="Equation" r:id="rId13" imgW="1206360" imgH="241200" progId="Equation.DSMT4">
                  <p:embed/>
                </p:oleObj>
              </mc:Choice>
              <mc:Fallback>
                <p:oleObj name="Equation" r:id="rId13" imgW="1206360" imgH="241200" progId="Equation.DSMT4">
                  <p:embed/>
                  <p:pic>
                    <p:nvPicPr>
                      <p:cNvPr id="27" name="Object 26">
                        <a:extLst>
                          <a:ext uri="{FF2B5EF4-FFF2-40B4-BE49-F238E27FC236}">
                            <a16:creationId xmlns:a16="http://schemas.microsoft.com/office/drawing/2014/main" id="{8701E793-7752-3532-D706-E79EF86A2E91}"/>
                          </a:ext>
                        </a:extLst>
                      </p:cNvPr>
                      <p:cNvPicPr>
                        <a:picLocks noChangeAspect="1" noChangeArrowheads="1"/>
                      </p:cNvPicPr>
                      <p:nvPr/>
                    </p:nvPicPr>
                    <p:blipFill>
                      <a:blip r:embed="rId14"/>
                      <a:srcRect/>
                      <a:stretch>
                        <a:fillRect/>
                      </a:stretch>
                    </p:blipFill>
                    <p:spPr bwMode="auto">
                      <a:xfrm>
                        <a:off x="846427" y="4161655"/>
                        <a:ext cx="1916807" cy="38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C409E50A-AE40-E5CC-A942-037818695E49}"/>
              </a:ext>
            </a:extLst>
          </p:cNvPr>
          <p:cNvSpPr>
            <a:spLocks noGrp="1"/>
          </p:cNvSpPr>
          <p:nvPr>
            <p:ph sz="quarter" idx="20"/>
          </p:nvPr>
        </p:nvSpPr>
        <p:spPr>
          <a:xfrm>
            <a:off x="738285" y="4666308"/>
            <a:ext cx="669635" cy="313350"/>
          </a:xfrm>
        </p:spPr>
        <p:txBody>
          <a:bodyPr wrap="square">
            <a:spAutoFit/>
          </a:bodyPr>
          <a:lstStyle/>
          <a:p>
            <a:pPr marL="0" indent="0">
              <a:buNone/>
            </a:pPr>
            <a:r>
              <a:rPr lang="en-US" sz="1800" dirty="0"/>
              <a:t>where</a:t>
            </a:r>
          </a:p>
        </p:txBody>
      </p:sp>
      <p:graphicFrame>
        <p:nvGraphicFramePr>
          <p:cNvPr id="29" name="Object 28" descr="I subscript F.&#10;">
            <a:extLst>
              <a:ext uri="{FF2B5EF4-FFF2-40B4-BE49-F238E27FC236}">
                <a16:creationId xmlns:a16="http://schemas.microsoft.com/office/drawing/2014/main" id="{376403C3-3257-280C-5608-1CC196D0CE99}"/>
              </a:ext>
            </a:extLst>
          </p:cNvPr>
          <p:cNvGraphicFramePr>
            <a:graphicFrameLocks noChangeAspect="1"/>
          </p:cNvGraphicFramePr>
          <p:nvPr>
            <p:extLst>
              <p:ext uri="{D42A27DB-BD31-4B8C-83A1-F6EECF244321}">
                <p14:modId xmlns:p14="http://schemas.microsoft.com/office/powerpoint/2010/main" val="1492500780"/>
              </p:ext>
            </p:extLst>
          </p:nvPr>
        </p:nvGraphicFramePr>
        <p:xfrm>
          <a:off x="1487904" y="4643146"/>
          <a:ext cx="266989" cy="398318"/>
        </p:xfrm>
        <a:graphic>
          <a:graphicData uri="http://schemas.openxmlformats.org/presentationml/2006/ole">
            <mc:AlternateContent xmlns:mc="http://schemas.openxmlformats.org/markup-compatibility/2006">
              <mc:Choice xmlns:v="urn:schemas-microsoft-com:vml" Requires="v">
                <p:oleObj name="Equation" r:id="rId15" imgW="152280" imgH="228600" progId="Equation.DSMT4">
                  <p:embed/>
                </p:oleObj>
              </mc:Choice>
              <mc:Fallback>
                <p:oleObj name="Equation" r:id="rId15" imgW="152280" imgH="228600" progId="Equation.DSMT4">
                  <p:embed/>
                  <p:pic>
                    <p:nvPicPr>
                      <p:cNvPr id="28" name="Object 27">
                        <a:extLst>
                          <a:ext uri="{FF2B5EF4-FFF2-40B4-BE49-F238E27FC236}">
                            <a16:creationId xmlns:a16="http://schemas.microsoft.com/office/drawing/2014/main" id="{73476F02-FFFF-847F-5683-DCB822886E2B}"/>
                          </a:ext>
                        </a:extLst>
                      </p:cNvPr>
                      <p:cNvPicPr>
                        <a:picLocks noChangeAspect="1" noChangeArrowheads="1"/>
                      </p:cNvPicPr>
                      <p:nvPr/>
                    </p:nvPicPr>
                    <p:blipFill>
                      <a:blip r:embed="rId16"/>
                      <a:srcRect/>
                      <a:stretch>
                        <a:fillRect/>
                      </a:stretch>
                    </p:blipFill>
                    <p:spPr bwMode="auto">
                      <a:xfrm>
                        <a:off x="1487904" y="4643146"/>
                        <a:ext cx="266989" cy="398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EF4AB121-55CD-A8C2-A0DE-51DA3ACC156F}"/>
              </a:ext>
            </a:extLst>
          </p:cNvPr>
          <p:cNvSpPr>
            <a:spLocks noGrp="1"/>
          </p:cNvSpPr>
          <p:nvPr>
            <p:ph sz="quarter" idx="21"/>
          </p:nvPr>
        </p:nvSpPr>
        <p:spPr>
          <a:xfrm>
            <a:off x="1834877" y="4679146"/>
            <a:ext cx="2505346" cy="313350"/>
          </a:xfrm>
        </p:spPr>
        <p:txBody>
          <a:bodyPr wrap="square">
            <a:spAutoFit/>
          </a:bodyPr>
          <a:lstStyle/>
          <a:p>
            <a:pPr marL="0" indent="0">
              <a:buNone/>
            </a:pPr>
            <a:r>
              <a:rPr lang="en-US" sz="1800" dirty="0"/>
              <a:t>is the inductor current as</a:t>
            </a:r>
          </a:p>
        </p:txBody>
      </p:sp>
      <p:graphicFrame>
        <p:nvGraphicFramePr>
          <p:cNvPr id="32" name="Object 31" descr="t right arrow, infinity.">
            <a:extLst>
              <a:ext uri="{FF2B5EF4-FFF2-40B4-BE49-F238E27FC236}">
                <a16:creationId xmlns:a16="http://schemas.microsoft.com/office/drawing/2014/main" id="{601312FC-8D08-EB10-3940-FE44013CDA2B}"/>
              </a:ext>
            </a:extLst>
          </p:cNvPr>
          <p:cNvGraphicFramePr>
            <a:graphicFrameLocks noChangeAspect="1"/>
          </p:cNvGraphicFramePr>
          <p:nvPr>
            <p:extLst>
              <p:ext uri="{D42A27DB-BD31-4B8C-83A1-F6EECF244321}">
                <p14:modId xmlns:p14="http://schemas.microsoft.com/office/powerpoint/2010/main" val="2844075835"/>
              </p:ext>
            </p:extLst>
          </p:nvPr>
        </p:nvGraphicFramePr>
        <p:xfrm>
          <a:off x="4397240" y="4670817"/>
          <a:ext cx="799523" cy="308841"/>
        </p:xfrm>
        <a:graphic>
          <a:graphicData uri="http://schemas.openxmlformats.org/presentationml/2006/ole">
            <mc:AlternateContent xmlns:mc="http://schemas.openxmlformats.org/markup-compatibility/2006">
              <mc:Choice xmlns:v="urn:schemas-microsoft-com:vml" Requires="v">
                <p:oleObj name="Equation" r:id="rId17" imgW="457200" imgH="177480" progId="Equation.DSMT4">
                  <p:embed/>
                </p:oleObj>
              </mc:Choice>
              <mc:Fallback>
                <p:oleObj name="Equation" r:id="rId17" imgW="457200" imgH="177480" progId="Equation.DSMT4">
                  <p:embed/>
                  <p:pic>
                    <p:nvPicPr>
                      <p:cNvPr id="22" name="Object 21">
                        <a:extLst>
                          <a:ext uri="{FF2B5EF4-FFF2-40B4-BE49-F238E27FC236}">
                            <a16:creationId xmlns:a16="http://schemas.microsoft.com/office/drawing/2014/main" id="{E6F5FFCF-088F-0C66-EC0B-9B98A76AE804}"/>
                          </a:ext>
                        </a:extLst>
                      </p:cNvPr>
                      <p:cNvPicPr>
                        <a:picLocks noChangeAspect="1" noChangeArrowheads="1"/>
                      </p:cNvPicPr>
                      <p:nvPr/>
                    </p:nvPicPr>
                    <p:blipFill>
                      <a:blip r:embed="rId18"/>
                      <a:srcRect/>
                      <a:stretch>
                        <a:fillRect/>
                      </a:stretch>
                    </p:blipFill>
                    <p:spPr bwMode="auto">
                      <a:xfrm>
                        <a:off x="4397240" y="4670817"/>
                        <a:ext cx="799523" cy="308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Content Placeholder 12">
            <a:extLst>
              <a:ext uri="{FF2B5EF4-FFF2-40B4-BE49-F238E27FC236}">
                <a16:creationId xmlns:a16="http://schemas.microsoft.com/office/drawing/2014/main" id="{21685F40-49EA-5397-56E4-C979503BCCBE}"/>
              </a:ext>
            </a:extLst>
          </p:cNvPr>
          <p:cNvSpPr>
            <a:spLocks noGrp="1"/>
          </p:cNvSpPr>
          <p:nvPr>
            <p:ph sz="quarter" idx="22"/>
          </p:nvPr>
        </p:nvSpPr>
        <p:spPr>
          <a:xfrm>
            <a:off x="420257" y="5158010"/>
            <a:ext cx="525027" cy="313350"/>
          </a:xfrm>
        </p:spPr>
        <p:txBody>
          <a:bodyPr wrap="square">
            <a:spAutoFit/>
          </a:bodyPr>
          <a:lstStyle/>
          <a:p>
            <a:pPr marL="0" indent="0">
              <a:buNone/>
            </a:pPr>
            <a:r>
              <a:rPr lang="en-US" sz="1800" dirty="0"/>
              <a:t>Then</a:t>
            </a:r>
          </a:p>
        </p:txBody>
      </p:sp>
      <p:graphicFrame>
        <p:nvGraphicFramePr>
          <p:cNvPr id="33" name="Object 32" descr="i (infinity) equals I subscript F baseline plus I subscript 0 baseline e to the negative Open Parenthesis R divided by L Close Parenthesis (infinity) power equals I subscript F.&#10;">
            <a:extLst>
              <a:ext uri="{FF2B5EF4-FFF2-40B4-BE49-F238E27FC236}">
                <a16:creationId xmlns:a16="http://schemas.microsoft.com/office/drawing/2014/main" id="{6C6AB7BB-D0AC-3D48-624D-B10C8DD889FE}"/>
              </a:ext>
            </a:extLst>
          </p:cNvPr>
          <p:cNvGraphicFramePr>
            <a:graphicFrameLocks noChangeAspect="1"/>
          </p:cNvGraphicFramePr>
          <p:nvPr>
            <p:extLst>
              <p:ext uri="{D42A27DB-BD31-4B8C-83A1-F6EECF244321}">
                <p14:modId xmlns:p14="http://schemas.microsoft.com/office/powerpoint/2010/main" val="2126394913"/>
              </p:ext>
            </p:extLst>
          </p:nvPr>
        </p:nvGraphicFramePr>
        <p:xfrm>
          <a:off x="1011293" y="5137497"/>
          <a:ext cx="2545774" cy="382443"/>
        </p:xfrm>
        <a:graphic>
          <a:graphicData uri="http://schemas.openxmlformats.org/presentationml/2006/ole">
            <mc:AlternateContent xmlns:mc="http://schemas.openxmlformats.org/markup-compatibility/2006">
              <mc:Choice xmlns:v="urn:schemas-microsoft-com:vml" Requires="v">
                <p:oleObj name="Equation" r:id="rId19" imgW="1600200" imgH="241200" progId="Equation.DSMT4">
                  <p:embed/>
                </p:oleObj>
              </mc:Choice>
              <mc:Fallback>
                <p:oleObj name="Equation" r:id="rId19" imgW="1600200" imgH="241200" progId="Equation.DSMT4">
                  <p:embed/>
                  <p:pic>
                    <p:nvPicPr>
                      <p:cNvPr id="32" name="Object 31">
                        <a:extLst>
                          <a:ext uri="{FF2B5EF4-FFF2-40B4-BE49-F238E27FC236}">
                            <a16:creationId xmlns:a16="http://schemas.microsoft.com/office/drawing/2014/main" id="{601312FC-8D08-EB10-3940-FE44013CDA2B}"/>
                          </a:ext>
                        </a:extLst>
                      </p:cNvPr>
                      <p:cNvPicPr>
                        <a:picLocks noChangeAspect="1" noChangeArrowheads="1"/>
                      </p:cNvPicPr>
                      <p:nvPr/>
                    </p:nvPicPr>
                    <p:blipFill>
                      <a:blip r:embed="rId20"/>
                      <a:srcRect/>
                      <a:stretch>
                        <a:fillRect/>
                      </a:stretch>
                    </p:blipFill>
                    <p:spPr bwMode="auto">
                      <a:xfrm>
                        <a:off x="1011293" y="5137497"/>
                        <a:ext cx="2545774" cy="38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Content Placeholder 13">
            <a:extLst>
              <a:ext uri="{FF2B5EF4-FFF2-40B4-BE49-F238E27FC236}">
                <a16:creationId xmlns:a16="http://schemas.microsoft.com/office/drawing/2014/main" id="{60F8A569-F4DC-0253-918D-139142E8372A}"/>
              </a:ext>
            </a:extLst>
          </p:cNvPr>
          <p:cNvSpPr>
            <a:spLocks noGrp="1"/>
          </p:cNvSpPr>
          <p:nvPr>
            <p:ph sz="quarter" idx="23"/>
          </p:nvPr>
        </p:nvSpPr>
        <p:spPr>
          <a:xfrm>
            <a:off x="3650784" y="5158010"/>
            <a:ext cx="539171" cy="313350"/>
          </a:xfrm>
        </p:spPr>
        <p:txBody>
          <a:bodyPr>
            <a:spAutoFit/>
          </a:bodyPr>
          <a:lstStyle/>
          <a:p>
            <a:pPr marL="0" indent="0">
              <a:buNone/>
            </a:pPr>
            <a:r>
              <a:rPr lang="en-US" sz="1800" dirty="0"/>
              <a:t>(OK)</a:t>
            </a:r>
          </a:p>
        </p:txBody>
      </p:sp>
      <p:sp>
        <p:nvSpPr>
          <p:cNvPr id="15" name="Content Placeholder 14">
            <a:extLst>
              <a:ext uri="{FF2B5EF4-FFF2-40B4-BE49-F238E27FC236}">
                <a16:creationId xmlns:a16="http://schemas.microsoft.com/office/drawing/2014/main" id="{5875FC72-8441-7F2B-11A0-3CCF51C31825}"/>
              </a:ext>
            </a:extLst>
          </p:cNvPr>
          <p:cNvSpPr>
            <a:spLocks noGrp="1"/>
          </p:cNvSpPr>
          <p:nvPr>
            <p:ph sz="quarter" idx="24"/>
          </p:nvPr>
        </p:nvSpPr>
        <p:spPr>
          <a:xfrm>
            <a:off x="406581" y="5602790"/>
            <a:ext cx="359859" cy="313350"/>
          </a:xfrm>
        </p:spPr>
        <p:txBody>
          <a:bodyPr wrap="square">
            <a:spAutoFit/>
          </a:bodyPr>
          <a:lstStyle/>
          <a:p>
            <a:pPr marL="0" indent="0">
              <a:buNone/>
            </a:pPr>
            <a:r>
              <a:rPr lang="en-US" sz="1800" dirty="0"/>
              <a:t>But</a:t>
            </a:r>
          </a:p>
        </p:txBody>
      </p:sp>
      <p:graphicFrame>
        <p:nvGraphicFramePr>
          <p:cNvPr id="34" name="Object 33" descr="i (0) equals I subscript F baseline plus I subscript 0 baseline e to the negative Open Parenthesis R divided by L Close Parenthesis (0) power equals I subscript F baseline plus I subscript 0.&#10;">
            <a:extLst>
              <a:ext uri="{FF2B5EF4-FFF2-40B4-BE49-F238E27FC236}">
                <a16:creationId xmlns:a16="http://schemas.microsoft.com/office/drawing/2014/main" id="{AE278541-6726-B3B3-B0A1-2A1AE150E025}"/>
              </a:ext>
            </a:extLst>
          </p:cNvPr>
          <p:cNvGraphicFramePr>
            <a:graphicFrameLocks noChangeAspect="1"/>
          </p:cNvGraphicFramePr>
          <p:nvPr>
            <p:extLst>
              <p:ext uri="{D42A27DB-BD31-4B8C-83A1-F6EECF244321}">
                <p14:modId xmlns:p14="http://schemas.microsoft.com/office/powerpoint/2010/main" val="3250238686"/>
              </p:ext>
            </p:extLst>
          </p:nvPr>
        </p:nvGraphicFramePr>
        <p:xfrm>
          <a:off x="838331" y="5593825"/>
          <a:ext cx="2870200" cy="382588"/>
        </p:xfrm>
        <a:graphic>
          <a:graphicData uri="http://schemas.openxmlformats.org/presentationml/2006/ole">
            <mc:AlternateContent xmlns:mc="http://schemas.openxmlformats.org/markup-compatibility/2006">
              <mc:Choice xmlns:v="urn:schemas-microsoft-com:vml" Requires="v">
                <p:oleObj name="Equation" r:id="rId21" imgW="1803240" imgH="241200" progId="Equation.DSMT4">
                  <p:embed/>
                </p:oleObj>
              </mc:Choice>
              <mc:Fallback>
                <p:oleObj name="Equation" r:id="rId21" imgW="1803240" imgH="241200" progId="Equation.DSMT4">
                  <p:embed/>
                  <p:pic>
                    <p:nvPicPr>
                      <p:cNvPr id="33" name="Object 32">
                        <a:extLst>
                          <a:ext uri="{FF2B5EF4-FFF2-40B4-BE49-F238E27FC236}">
                            <a16:creationId xmlns:a16="http://schemas.microsoft.com/office/drawing/2014/main" id="{6C6AB7BB-D0AC-3D48-624D-B10C8DD889FE}"/>
                          </a:ext>
                        </a:extLst>
                      </p:cNvPr>
                      <p:cNvPicPr>
                        <a:picLocks noChangeAspect="1" noChangeArrowheads="1"/>
                      </p:cNvPicPr>
                      <p:nvPr/>
                    </p:nvPicPr>
                    <p:blipFill>
                      <a:blip r:embed="rId22"/>
                      <a:srcRect/>
                      <a:stretch>
                        <a:fillRect/>
                      </a:stretch>
                    </p:blipFill>
                    <p:spPr bwMode="auto">
                      <a:xfrm>
                        <a:off x="838331" y="5593825"/>
                        <a:ext cx="28702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Content Placeholder 15">
            <a:extLst>
              <a:ext uri="{FF2B5EF4-FFF2-40B4-BE49-F238E27FC236}">
                <a16:creationId xmlns:a16="http://schemas.microsoft.com/office/drawing/2014/main" id="{3220AE68-E614-C5EF-91F2-FA3EE2AA1B78}"/>
              </a:ext>
            </a:extLst>
          </p:cNvPr>
          <p:cNvSpPr>
            <a:spLocks noGrp="1"/>
          </p:cNvSpPr>
          <p:nvPr>
            <p:ph sz="quarter" idx="25"/>
          </p:nvPr>
        </p:nvSpPr>
        <p:spPr>
          <a:xfrm>
            <a:off x="3789387" y="5602790"/>
            <a:ext cx="653753" cy="313350"/>
          </a:xfrm>
        </p:spPr>
        <p:txBody>
          <a:bodyPr wrap="square">
            <a:spAutoFit/>
          </a:bodyPr>
          <a:lstStyle/>
          <a:p>
            <a:pPr marL="0" indent="0">
              <a:buNone/>
            </a:pPr>
            <a:r>
              <a:rPr lang="en-US" sz="1800" dirty="0"/>
              <a:t>(NO!)</a:t>
            </a:r>
          </a:p>
        </p:txBody>
      </p:sp>
    </p:spTree>
    <p:extLst>
      <p:ext uri="{BB962C8B-B14F-4D97-AF65-F5344CB8AC3E}">
        <p14:creationId xmlns:p14="http://schemas.microsoft.com/office/powerpoint/2010/main" val="228320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1F6B-070D-0E08-E883-8AC74AA9692D}"/>
              </a:ext>
            </a:extLst>
          </p:cNvPr>
          <p:cNvSpPr>
            <a:spLocks noGrp="1"/>
          </p:cNvSpPr>
          <p:nvPr>
            <p:ph type="title"/>
          </p:nvPr>
        </p:nvSpPr>
        <p:spPr>
          <a:xfrm>
            <a:off x="429221" y="242614"/>
            <a:ext cx="8246467"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(7 of 10)</a:t>
            </a:r>
            <a:endParaRPr lang="en-US" sz="2600" dirty="0"/>
          </a:p>
        </p:txBody>
      </p:sp>
      <p:pic>
        <p:nvPicPr>
          <p:cNvPr id="21" name="Picture 2" descr="A circuit diagram shows the left wire of the circuit with a voltage source V subscript s with positive polarity at the top node and negative polarity at the bottom. The right wire of the circuit in inductor L. Voltage v with t in parenthesis acts across the inductor L with positive polarity at the top node and negative at the bottom. Between the left and right wires in the circuit are, from left to right in the top wire of the circuit, are a switch and a resistor R. The switch is closed when time t is at zero. Current i flows through the circuit.">
            <a:extLst>
              <a:ext uri="{FF2B5EF4-FFF2-40B4-BE49-F238E27FC236}">
                <a16:creationId xmlns:a16="http://schemas.microsoft.com/office/drawing/2014/main" id="{B55668F4-6760-AC15-8C39-68174E4DDEED}"/>
              </a:ext>
            </a:extLst>
          </p:cNvPr>
          <p:cNvPicPr>
            <a:picLocks noChangeAspect="1" noChangeArrowheads="1"/>
          </p:cNvPicPr>
          <p:nvPr/>
        </p:nvPicPr>
        <p:blipFill>
          <a:blip r:embed="rId3"/>
          <a:stretch>
            <a:fillRect/>
          </a:stretch>
        </p:blipFill>
        <p:spPr bwMode="auto">
          <a:xfrm>
            <a:off x="747998" y="892830"/>
            <a:ext cx="3461474" cy="1581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a:extLst>
              <a:ext uri="{FF2B5EF4-FFF2-40B4-BE49-F238E27FC236}">
                <a16:creationId xmlns:a16="http://schemas.microsoft.com/office/drawing/2014/main" id="{CBA8E718-CE80-D9B3-34C4-27B686C8B47C}"/>
              </a:ext>
            </a:extLst>
          </p:cNvPr>
          <p:cNvSpPr>
            <a:spLocks noGrp="1"/>
          </p:cNvSpPr>
          <p:nvPr>
            <p:ph sz="quarter" idx="12"/>
          </p:nvPr>
        </p:nvSpPr>
        <p:spPr>
          <a:xfrm>
            <a:off x="4868618" y="1214944"/>
            <a:ext cx="626745" cy="344128"/>
          </a:xfrm>
        </p:spPr>
        <p:txBody>
          <a:bodyPr wrap="square">
            <a:spAutoFit/>
          </a:bodyPr>
          <a:lstStyle/>
          <a:p>
            <a:pPr marL="0" indent="0">
              <a:buNone/>
            </a:pPr>
            <a:r>
              <a:rPr lang="en-US" sz="2000" spc="-200" dirty="0"/>
              <a:t>K V </a:t>
            </a:r>
            <a:r>
              <a:rPr lang="en-US" sz="2000" dirty="0"/>
              <a:t>L:</a:t>
            </a:r>
          </a:p>
        </p:txBody>
      </p:sp>
      <p:graphicFrame>
        <p:nvGraphicFramePr>
          <p:cNvPr id="22" name="Object 21" descr="L Start Fraction d i (t) over d t End Fraction plus R i (t) equals V subscript S.&#10;">
            <a:extLst>
              <a:ext uri="{FF2B5EF4-FFF2-40B4-BE49-F238E27FC236}">
                <a16:creationId xmlns:a16="http://schemas.microsoft.com/office/drawing/2014/main" id="{E742E905-B7D2-60EE-7B82-00487AA170DD}"/>
              </a:ext>
            </a:extLst>
          </p:cNvPr>
          <p:cNvGraphicFramePr>
            <a:graphicFrameLocks noChangeAspect="1"/>
          </p:cNvGraphicFramePr>
          <p:nvPr>
            <p:extLst>
              <p:ext uri="{D42A27DB-BD31-4B8C-83A1-F6EECF244321}">
                <p14:modId xmlns:p14="http://schemas.microsoft.com/office/powerpoint/2010/main" val="3315781014"/>
              </p:ext>
            </p:extLst>
          </p:nvPr>
        </p:nvGraphicFramePr>
        <p:xfrm>
          <a:off x="5634038" y="1074738"/>
          <a:ext cx="2047875" cy="660400"/>
        </p:xfrm>
        <a:graphic>
          <a:graphicData uri="http://schemas.openxmlformats.org/presentationml/2006/ole">
            <mc:AlternateContent xmlns:mc="http://schemas.openxmlformats.org/markup-compatibility/2006">
              <mc:Choice xmlns:v="urn:schemas-microsoft-com:vml" Requires="v">
                <p:oleObj name="Equation" r:id="rId4" imgW="1218960" imgH="393480" progId="Equation.DSMT4">
                  <p:embed/>
                </p:oleObj>
              </mc:Choice>
              <mc:Fallback>
                <p:oleObj name="Equation" r:id="rId4" imgW="1218960" imgH="393480" progId="Equation.DSMT4">
                  <p:embed/>
                  <p:pic>
                    <p:nvPicPr>
                      <p:cNvPr id="5" name="Object 4"/>
                      <p:cNvPicPr>
                        <a:picLocks noChangeAspect="1" noChangeArrowheads="1"/>
                      </p:cNvPicPr>
                      <p:nvPr/>
                    </p:nvPicPr>
                    <p:blipFill>
                      <a:blip r:embed="rId5"/>
                      <a:srcRect/>
                      <a:stretch>
                        <a:fillRect/>
                      </a:stretch>
                    </p:blipFill>
                    <p:spPr bwMode="auto">
                      <a:xfrm>
                        <a:off x="5634038" y="1074738"/>
                        <a:ext cx="2047875" cy="660400"/>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386C6408-4CBE-95B3-32AB-7BB8B012902B}"/>
              </a:ext>
            </a:extLst>
          </p:cNvPr>
          <p:cNvSpPr>
            <a:spLocks noGrp="1"/>
          </p:cNvSpPr>
          <p:nvPr>
            <p:ph sz="quarter" idx="13"/>
          </p:nvPr>
        </p:nvSpPr>
        <p:spPr>
          <a:xfrm>
            <a:off x="429221" y="2694144"/>
            <a:ext cx="881767" cy="344128"/>
          </a:xfrm>
        </p:spPr>
        <p:txBody>
          <a:bodyPr wrap="square">
            <a:spAutoFit/>
          </a:bodyPr>
          <a:lstStyle/>
          <a:p>
            <a:pPr marL="0" indent="0">
              <a:buNone/>
            </a:pPr>
            <a:r>
              <a:rPr lang="en-US" sz="2000" dirty="0"/>
              <a:t>Now try</a:t>
            </a:r>
          </a:p>
        </p:txBody>
      </p:sp>
      <p:graphicFrame>
        <p:nvGraphicFramePr>
          <p:cNvPr id="23" name="Object 22" descr="i (t) equals I subscript F baseline plus Open Parenthesis I subscript 0 baseline minus I subscript F Close Parenthesis e superscript negative Open Parenthesis R divided by L Close Parenthesis t.&#10;">
            <a:extLst>
              <a:ext uri="{FF2B5EF4-FFF2-40B4-BE49-F238E27FC236}">
                <a16:creationId xmlns:a16="http://schemas.microsoft.com/office/drawing/2014/main" id="{74827804-0ADA-3475-0FA4-A00E7E5E243F}"/>
              </a:ext>
            </a:extLst>
          </p:cNvPr>
          <p:cNvGraphicFramePr>
            <a:graphicFrameLocks noChangeAspect="1"/>
          </p:cNvGraphicFramePr>
          <p:nvPr>
            <p:extLst>
              <p:ext uri="{D42A27DB-BD31-4B8C-83A1-F6EECF244321}">
                <p14:modId xmlns:p14="http://schemas.microsoft.com/office/powerpoint/2010/main" val="2872724826"/>
              </p:ext>
            </p:extLst>
          </p:nvPr>
        </p:nvGraphicFramePr>
        <p:xfrm>
          <a:off x="1370154" y="2658284"/>
          <a:ext cx="2839403" cy="445293"/>
        </p:xfrm>
        <a:graphic>
          <a:graphicData uri="http://schemas.openxmlformats.org/presentationml/2006/ole">
            <mc:AlternateContent xmlns:mc="http://schemas.openxmlformats.org/markup-compatibility/2006">
              <mc:Choice xmlns:v="urn:schemas-microsoft-com:vml" Requires="v">
                <p:oleObj name="Equation" r:id="rId6" imgW="1536480" imgH="241200" progId="Equation.DSMT4">
                  <p:embed/>
                </p:oleObj>
              </mc:Choice>
              <mc:Fallback>
                <p:oleObj name="Equation" r:id="rId6" imgW="1536480" imgH="241200" progId="Equation.DSMT4">
                  <p:embed/>
                  <p:pic>
                    <p:nvPicPr>
                      <p:cNvPr id="22" name="Object 21">
                        <a:extLst>
                          <a:ext uri="{FF2B5EF4-FFF2-40B4-BE49-F238E27FC236}">
                            <a16:creationId xmlns:a16="http://schemas.microsoft.com/office/drawing/2014/main" id="{E742E905-B7D2-60EE-7B82-00487AA170DD}"/>
                          </a:ext>
                        </a:extLst>
                      </p:cNvPr>
                      <p:cNvPicPr>
                        <a:picLocks noChangeAspect="1" noChangeArrowheads="1"/>
                      </p:cNvPicPr>
                      <p:nvPr/>
                    </p:nvPicPr>
                    <p:blipFill>
                      <a:blip r:embed="rId7"/>
                      <a:srcRect/>
                      <a:stretch>
                        <a:fillRect/>
                      </a:stretch>
                    </p:blipFill>
                    <p:spPr bwMode="auto">
                      <a:xfrm>
                        <a:off x="1370154" y="2658284"/>
                        <a:ext cx="2839403" cy="445293"/>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9015022A-940A-2E27-3604-1588F874BC19}"/>
              </a:ext>
            </a:extLst>
          </p:cNvPr>
          <p:cNvSpPr>
            <a:spLocks noGrp="1"/>
          </p:cNvSpPr>
          <p:nvPr>
            <p:ph sz="quarter" idx="14"/>
          </p:nvPr>
        </p:nvSpPr>
        <p:spPr>
          <a:xfrm>
            <a:off x="430415" y="3182233"/>
            <a:ext cx="602479" cy="344128"/>
          </a:xfrm>
        </p:spPr>
        <p:txBody>
          <a:bodyPr>
            <a:spAutoFit/>
          </a:bodyPr>
          <a:lstStyle/>
          <a:p>
            <a:pPr marL="0" indent="0">
              <a:buNone/>
            </a:pPr>
            <a:r>
              <a:rPr lang="en-US" sz="2000" dirty="0"/>
              <a:t>Then</a:t>
            </a:r>
          </a:p>
        </p:txBody>
      </p:sp>
      <p:graphicFrame>
        <p:nvGraphicFramePr>
          <p:cNvPr id="24" name="Object 23" descr="i (infinity) equals I subscript F baseline plus Open Parenthesis I subscript 0 baseline minus I subscript F Close Parenthesis e to the negative Open Parenthesis R divided by L Close Parenthesis (infinity) baseline equals I subscript F.&#10;">
            <a:extLst>
              <a:ext uri="{FF2B5EF4-FFF2-40B4-BE49-F238E27FC236}">
                <a16:creationId xmlns:a16="http://schemas.microsoft.com/office/drawing/2014/main" id="{072D7E9F-B545-EEEE-4FA2-8519D827E295}"/>
              </a:ext>
            </a:extLst>
          </p:cNvPr>
          <p:cNvGraphicFramePr>
            <a:graphicFrameLocks noChangeAspect="1"/>
          </p:cNvGraphicFramePr>
          <p:nvPr>
            <p:extLst>
              <p:ext uri="{D42A27DB-BD31-4B8C-83A1-F6EECF244321}">
                <p14:modId xmlns:p14="http://schemas.microsoft.com/office/powerpoint/2010/main" val="3335584815"/>
              </p:ext>
            </p:extLst>
          </p:nvPr>
        </p:nvGraphicFramePr>
        <p:xfrm>
          <a:off x="1153553" y="3158317"/>
          <a:ext cx="3638550" cy="446087"/>
        </p:xfrm>
        <a:graphic>
          <a:graphicData uri="http://schemas.openxmlformats.org/presentationml/2006/ole">
            <mc:AlternateContent xmlns:mc="http://schemas.openxmlformats.org/markup-compatibility/2006">
              <mc:Choice xmlns:v="urn:schemas-microsoft-com:vml" Requires="v">
                <p:oleObj name="Equation" r:id="rId8" imgW="1968480" imgH="241200" progId="Equation.DSMT4">
                  <p:embed/>
                </p:oleObj>
              </mc:Choice>
              <mc:Fallback>
                <p:oleObj name="Equation" r:id="rId8" imgW="1968480" imgH="241200" progId="Equation.DSMT4">
                  <p:embed/>
                  <p:pic>
                    <p:nvPicPr>
                      <p:cNvPr id="23" name="Object 22">
                        <a:extLst>
                          <a:ext uri="{FF2B5EF4-FFF2-40B4-BE49-F238E27FC236}">
                            <a16:creationId xmlns:a16="http://schemas.microsoft.com/office/drawing/2014/main" id="{74827804-0ADA-3475-0FA4-A00E7E5E243F}"/>
                          </a:ext>
                        </a:extLst>
                      </p:cNvPr>
                      <p:cNvPicPr>
                        <a:picLocks noChangeAspect="1" noChangeArrowheads="1"/>
                      </p:cNvPicPr>
                      <p:nvPr/>
                    </p:nvPicPr>
                    <p:blipFill>
                      <a:blip r:embed="rId9"/>
                      <a:srcRect/>
                      <a:stretch>
                        <a:fillRect/>
                      </a:stretch>
                    </p:blipFill>
                    <p:spPr bwMode="auto">
                      <a:xfrm>
                        <a:off x="1153553" y="3158317"/>
                        <a:ext cx="3638550" cy="446087"/>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690F2AE4-E833-C3A2-5A92-B4E21DBC5864}"/>
              </a:ext>
            </a:extLst>
          </p:cNvPr>
          <p:cNvSpPr>
            <a:spLocks noGrp="1"/>
          </p:cNvSpPr>
          <p:nvPr>
            <p:ph sz="quarter" idx="15"/>
          </p:nvPr>
        </p:nvSpPr>
        <p:spPr>
          <a:xfrm>
            <a:off x="4927068" y="3176486"/>
            <a:ext cx="568295" cy="344128"/>
          </a:xfrm>
        </p:spPr>
        <p:txBody>
          <a:bodyPr>
            <a:spAutoFit/>
          </a:bodyPr>
          <a:lstStyle/>
          <a:p>
            <a:pPr marL="0" indent="0">
              <a:buNone/>
            </a:pPr>
            <a:r>
              <a:rPr lang="en-US" sz="2000" dirty="0"/>
              <a:t>(OK)</a:t>
            </a:r>
          </a:p>
        </p:txBody>
      </p:sp>
      <p:sp>
        <p:nvSpPr>
          <p:cNvPr id="7" name="Content Placeholder 6">
            <a:extLst>
              <a:ext uri="{FF2B5EF4-FFF2-40B4-BE49-F238E27FC236}">
                <a16:creationId xmlns:a16="http://schemas.microsoft.com/office/drawing/2014/main" id="{1AC975E9-5256-9E86-5A67-018B0DED9677}"/>
              </a:ext>
            </a:extLst>
          </p:cNvPr>
          <p:cNvSpPr>
            <a:spLocks noGrp="1"/>
          </p:cNvSpPr>
          <p:nvPr>
            <p:ph sz="quarter" idx="16"/>
          </p:nvPr>
        </p:nvSpPr>
        <p:spPr>
          <a:xfrm>
            <a:off x="429221" y="3622334"/>
            <a:ext cx="465208" cy="344128"/>
          </a:xfrm>
        </p:spPr>
        <p:txBody>
          <a:bodyPr wrap="square">
            <a:spAutoFit/>
          </a:bodyPr>
          <a:lstStyle/>
          <a:p>
            <a:pPr marL="0" indent="0">
              <a:buNone/>
            </a:pPr>
            <a:r>
              <a:rPr lang="en-US" sz="2000" dirty="0"/>
              <a:t>And</a:t>
            </a:r>
          </a:p>
        </p:txBody>
      </p:sp>
      <p:graphicFrame>
        <p:nvGraphicFramePr>
          <p:cNvPr id="25" name="Object 24" descr="The figure illustrates the expression for i (0).&#10;Long description 1 is available in notes, press F6.">
            <a:extLst>
              <a:ext uri="{FF2B5EF4-FFF2-40B4-BE49-F238E27FC236}">
                <a16:creationId xmlns:a16="http://schemas.microsoft.com/office/drawing/2014/main" id="{B78E3F58-1353-81CF-7853-D64216DAA830}"/>
              </a:ext>
            </a:extLst>
          </p:cNvPr>
          <p:cNvGraphicFramePr>
            <a:graphicFrameLocks noChangeAspect="1"/>
          </p:cNvGraphicFramePr>
          <p:nvPr>
            <p:extLst>
              <p:ext uri="{D42A27DB-BD31-4B8C-83A1-F6EECF244321}">
                <p14:modId xmlns:p14="http://schemas.microsoft.com/office/powerpoint/2010/main" val="1335393074"/>
              </p:ext>
            </p:extLst>
          </p:nvPr>
        </p:nvGraphicFramePr>
        <p:xfrm>
          <a:off x="1032894" y="3604703"/>
          <a:ext cx="5000625" cy="446087"/>
        </p:xfrm>
        <a:graphic>
          <a:graphicData uri="http://schemas.openxmlformats.org/presentationml/2006/ole">
            <mc:AlternateContent xmlns:mc="http://schemas.openxmlformats.org/markup-compatibility/2006">
              <mc:Choice xmlns:v="urn:schemas-microsoft-com:vml" Requires="v">
                <p:oleObj name="Equation" r:id="rId10" imgW="2705040" imgH="241200" progId="Equation.DSMT4">
                  <p:embed/>
                </p:oleObj>
              </mc:Choice>
              <mc:Fallback>
                <p:oleObj name="Equation" r:id="rId10" imgW="2705040" imgH="241200" progId="Equation.DSMT4">
                  <p:embed/>
                  <p:pic>
                    <p:nvPicPr>
                      <p:cNvPr id="24" name="Object 23">
                        <a:extLst>
                          <a:ext uri="{FF2B5EF4-FFF2-40B4-BE49-F238E27FC236}">
                            <a16:creationId xmlns:a16="http://schemas.microsoft.com/office/drawing/2014/main" id="{072D7E9F-B545-EEEE-4FA2-8519D827E295}"/>
                          </a:ext>
                        </a:extLst>
                      </p:cNvPr>
                      <p:cNvPicPr>
                        <a:picLocks noChangeAspect="1" noChangeArrowheads="1"/>
                      </p:cNvPicPr>
                      <p:nvPr/>
                    </p:nvPicPr>
                    <p:blipFill>
                      <a:blip r:embed="rId11"/>
                      <a:srcRect/>
                      <a:stretch>
                        <a:fillRect/>
                      </a:stretch>
                    </p:blipFill>
                    <p:spPr bwMode="auto">
                      <a:xfrm>
                        <a:off x="1032894" y="3604703"/>
                        <a:ext cx="5000625" cy="446087"/>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E9EBE980-414E-7172-E238-D133C44B9953}"/>
              </a:ext>
            </a:extLst>
          </p:cNvPr>
          <p:cNvSpPr>
            <a:spLocks noGrp="1"/>
          </p:cNvSpPr>
          <p:nvPr>
            <p:ph sz="quarter" idx="17"/>
          </p:nvPr>
        </p:nvSpPr>
        <p:spPr>
          <a:xfrm>
            <a:off x="6171984" y="3599305"/>
            <a:ext cx="559750" cy="344128"/>
          </a:xfrm>
        </p:spPr>
        <p:txBody>
          <a:bodyPr>
            <a:spAutoFit/>
          </a:bodyPr>
          <a:lstStyle/>
          <a:p>
            <a:pPr marL="0" indent="0">
              <a:buNone/>
            </a:pPr>
            <a:r>
              <a:rPr lang="en-US" sz="2000" dirty="0"/>
              <a:t>(OK)</a:t>
            </a:r>
          </a:p>
        </p:txBody>
      </p:sp>
      <p:sp>
        <p:nvSpPr>
          <p:cNvPr id="9" name="Content Placeholder 8">
            <a:extLst>
              <a:ext uri="{FF2B5EF4-FFF2-40B4-BE49-F238E27FC236}">
                <a16:creationId xmlns:a16="http://schemas.microsoft.com/office/drawing/2014/main" id="{2A3290B8-6DBA-A3D4-888E-4B5C3A9AB02E}"/>
              </a:ext>
            </a:extLst>
          </p:cNvPr>
          <p:cNvSpPr>
            <a:spLocks noGrp="1"/>
          </p:cNvSpPr>
          <p:nvPr>
            <p:ph sz="quarter" idx="18"/>
          </p:nvPr>
        </p:nvSpPr>
        <p:spPr>
          <a:xfrm>
            <a:off x="429221" y="4206856"/>
            <a:ext cx="8255432" cy="344128"/>
          </a:xfrm>
        </p:spPr>
        <p:txBody>
          <a:bodyPr wrap="square">
            <a:spAutoFit/>
          </a:bodyPr>
          <a:lstStyle/>
          <a:p>
            <a:pPr marL="0" indent="0">
              <a:buNone/>
            </a:pPr>
            <a:r>
              <a:rPr lang="en-US" sz="2000" dirty="0">
                <a:cs typeface="Times New Roman" panose="02020603050405020304" pitchFamily="18" charset="0"/>
              </a:rPr>
              <a:t>Make sure that this </a:t>
            </a:r>
            <a:r>
              <a:rPr lang="en-US" sz="2000" i="1" dirty="0" err="1">
                <a:cs typeface="Times New Roman" panose="02020603050405020304" pitchFamily="18" charset="0"/>
              </a:rPr>
              <a:t>i</a:t>
            </a:r>
            <a:r>
              <a:rPr lang="en-US" sz="2000" dirty="0">
                <a:cs typeface="Times New Roman" panose="02020603050405020304" pitchFamily="18" charset="0"/>
              </a:rPr>
              <a:t>(</a:t>
            </a:r>
            <a:r>
              <a:rPr lang="en-US" sz="2000" i="1" dirty="0">
                <a:cs typeface="Times New Roman" panose="02020603050405020304" pitchFamily="18" charset="0"/>
              </a:rPr>
              <a:t>t</a:t>
            </a:r>
            <a:r>
              <a:rPr lang="en-US" sz="2000" dirty="0">
                <a:cs typeface="Times New Roman" panose="02020603050405020304" pitchFamily="18" charset="0"/>
              </a:rPr>
              <a:t>) satisfies the differential equation:</a:t>
            </a:r>
            <a:endParaRPr lang="en-US" sz="2000" dirty="0"/>
          </a:p>
        </p:txBody>
      </p:sp>
      <p:graphicFrame>
        <p:nvGraphicFramePr>
          <p:cNvPr id="28" name="Object 27" descr="i (t) equals I subscript F baseline plus Open Parenthesis I subscript 0 baseline minus I subscript F Close Parenthesis e to the negative Open Parenthesis R divided by L Close Parenthesis t power semicolon.&#10;">
            <a:extLst>
              <a:ext uri="{FF2B5EF4-FFF2-40B4-BE49-F238E27FC236}">
                <a16:creationId xmlns:a16="http://schemas.microsoft.com/office/drawing/2014/main" id="{41A5A69F-BF90-C643-B6C9-0E8B43D07F4E}"/>
              </a:ext>
            </a:extLst>
          </p:cNvPr>
          <p:cNvGraphicFramePr>
            <a:graphicFrameLocks noChangeAspect="1"/>
          </p:cNvGraphicFramePr>
          <p:nvPr>
            <p:extLst>
              <p:ext uri="{D42A27DB-BD31-4B8C-83A1-F6EECF244321}">
                <p14:modId xmlns:p14="http://schemas.microsoft.com/office/powerpoint/2010/main" val="1395934838"/>
              </p:ext>
            </p:extLst>
          </p:nvPr>
        </p:nvGraphicFramePr>
        <p:xfrm>
          <a:off x="873538" y="4789488"/>
          <a:ext cx="2932113" cy="412750"/>
        </p:xfrm>
        <a:graphic>
          <a:graphicData uri="http://schemas.openxmlformats.org/presentationml/2006/ole">
            <mc:AlternateContent xmlns:mc="http://schemas.openxmlformats.org/markup-compatibility/2006">
              <mc:Choice xmlns:v="urn:schemas-microsoft-com:vml" Requires="v">
                <p:oleObj name="Equation" r:id="rId12" imgW="1574640" imgH="241200" progId="Equation.DSMT4">
                  <p:embed/>
                </p:oleObj>
              </mc:Choice>
              <mc:Fallback>
                <p:oleObj name="Equation" r:id="rId12" imgW="1574640" imgH="241200" progId="Equation.DSMT4">
                  <p:embed/>
                  <p:pic>
                    <p:nvPicPr>
                      <p:cNvPr id="7" name="Object 6"/>
                      <p:cNvPicPr>
                        <a:picLocks noChangeAspect="1" noChangeArrowheads="1"/>
                      </p:cNvPicPr>
                      <p:nvPr/>
                    </p:nvPicPr>
                    <p:blipFill>
                      <a:blip r:embed="rId13"/>
                      <a:srcRect/>
                      <a:stretch>
                        <a:fillRect/>
                      </a:stretch>
                    </p:blipFill>
                    <p:spPr bwMode="auto">
                      <a:xfrm>
                        <a:off x="873538" y="4789488"/>
                        <a:ext cx="2932113" cy="412750"/>
                      </a:xfrm>
                      <a:prstGeom prst="rect">
                        <a:avLst/>
                      </a:prstGeom>
                      <a:noFill/>
                      <a:ln>
                        <a:noFill/>
                      </a:ln>
                    </p:spPr>
                  </p:pic>
                </p:oleObj>
              </mc:Fallback>
            </mc:AlternateContent>
          </a:graphicData>
        </a:graphic>
      </p:graphicFrame>
      <p:graphicFrame>
        <p:nvGraphicFramePr>
          <p:cNvPr id="19" name="Object 18" descr="Start Fraction d i (t) over d t End Fraction equals negative (R divided by L) Open Parenthesis I subscript 0 baseline minus I subscript F Close Parenthesis e to the negative Open Parenthesis R divided by L Close Parenthesis t power.&#10;">
            <a:extLst>
              <a:ext uri="{FF2B5EF4-FFF2-40B4-BE49-F238E27FC236}">
                <a16:creationId xmlns:a16="http://schemas.microsoft.com/office/drawing/2014/main" id="{C78C05F2-0586-4F5B-B6E9-1A13096AB515}"/>
              </a:ext>
            </a:extLst>
          </p:cNvPr>
          <p:cNvGraphicFramePr>
            <a:graphicFrameLocks noChangeAspect="1"/>
          </p:cNvGraphicFramePr>
          <p:nvPr>
            <p:extLst>
              <p:ext uri="{D42A27DB-BD31-4B8C-83A1-F6EECF244321}">
                <p14:modId xmlns:p14="http://schemas.microsoft.com/office/powerpoint/2010/main" val="1758737681"/>
              </p:ext>
            </p:extLst>
          </p:nvPr>
        </p:nvGraphicFramePr>
        <p:xfrm>
          <a:off x="4271394" y="4716887"/>
          <a:ext cx="3524250" cy="671513"/>
        </p:xfrm>
        <a:graphic>
          <a:graphicData uri="http://schemas.openxmlformats.org/presentationml/2006/ole">
            <mc:AlternateContent xmlns:mc="http://schemas.openxmlformats.org/markup-compatibility/2006">
              <mc:Choice xmlns:v="urn:schemas-microsoft-com:vml" Requires="v">
                <p:oleObj name="Equation" r:id="rId14" imgW="1892160" imgH="393480" progId="Equation.DSMT4">
                  <p:embed/>
                </p:oleObj>
              </mc:Choice>
              <mc:Fallback>
                <p:oleObj name="Equation" r:id="rId14" imgW="1892160" imgH="393480" progId="Equation.DSMT4">
                  <p:embed/>
                  <p:pic>
                    <p:nvPicPr>
                      <p:cNvPr id="28" name="Object 27">
                        <a:extLst>
                          <a:ext uri="{FF2B5EF4-FFF2-40B4-BE49-F238E27FC236}">
                            <a16:creationId xmlns:a16="http://schemas.microsoft.com/office/drawing/2014/main" id="{41A5A69F-BF90-C643-B6C9-0E8B43D07F4E}"/>
                          </a:ext>
                        </a:extLst>
                      </p:cNvPr>
                      <p:cNvPicPr>
                        <a:picLocks noChangeAspect="1" noChangeArrowheads="1"/>
                      </p:cNvPicPr>
                      <p:nvPr/>
                    </p:nvPicPr>
                    <p:blipFill>
                      <a:blip r:embed="rId15"/>
                      <a:srcRect/>
                      <a:stretch>
                        <a:fillRect/>
                      </a:stretch>
                    </p:blipFill>
                    <p:spPr bwMode="auto">
                      <a:xfrm>
                        <a:off x="4271394" y="4716887"/>
                        <a:ext cx="3524250" cy="671513"/>
                      </a:xfrm>
                      <a:prstGeom prst="rect">
                        <a:avLst/>
                      </a:prstGeom>
                      <a:noFill/>
                      <a:ln>
                        <a:noFill/>
                      </a:ln>
                    </p:spPr>
                  </p:pic>
                </p:oleObj>
              </mc:Fallback>
            </mc:AlternateContent>
          </a:graphicData>
        </a:graphic>
      </p:graphicFrame>
      <p:sp>
        <p:nvSpPr>
          <p:cNvPr id="10" name="Content Placeholder 9">
            <a:extLst>
              <a:ext uri="{FF2B5EF4-FFF2-40B4-BE49-F238E27FC236}">
                <a16:creationId xmlns:a16="http://schemas.microsoft.com/office/drawing/2014/main" id="{DB9C3195-074B-9E06-58EA-CEBB9865E14E}"/>
              </a:ext>
            </a:extLst>
          </p:cNvPr>
          <p:cNvSpPr>
            <a:spLocks noGrp="1"/>
          </p:cNvSpPr>
          <p:nvPr>
            <p:ph sz="quarter" idx="19"/>
          </p:nvPr>
        </p:nvSpPr>
        <p:spPr>
          <a:xfrm>
            <a:off x="429221" y="5452538"/>
            <a:ext cx="1445583" cy="344128"/>
          </a:xfrm>
        </p:spPr>
        <p:txBody>
          <a:bodyPr wrap="square">
            <a:spAutoFit/>
          </a:bodyPr>
          <a:lstStyle/>
          <a:p>
            <a:pPr marL="0" indent="0">
              <a:buNone/>
            </a:pPr>
            <a:r>
              <a:rPr lang="en-US" sz="2000" dirty="0">
                <a:cs typeface="Times New Roman" panose="02020603050405020304" pitchFamily="18" charset="0"/>
              </a:rPr>
              <a:t>Substituting,</a:t>
            </a:r>
          </a:p>
        </p:txBody>
      </p:sp>
      <p:graphicFrame>
        <p:nvGraphicFramePr>
          <p:cNvPr id="29" name="Object 28" descr="The figure illustrates the expression equal to V subscript S.&#10;Long description 2 is available in notes, press F6.">
            <a:extLst>
              <a:ext uri="{FF2B5EF4-FFF2-40B4-BE49-F238E27FC236}">
                <a16:creationId xmlns:a16="http://schemas.microsoft.com/office/drawing/2014/main" id="{62A3703A-B0CA-41AB-95A5-3C7AFEC8A63A}"/>
              </a:ext>
            </a:extLst>
          </p:cNvPr>
          <p:cNvGraphicFramePr>
            <a:graphicFrameLocks noChangeAspect="1"/>
          </p:cNvGraphicFramePr>
          <p:nvPr>
            <p:extLst>
              <p:ext uri="{D42A27DB-BD31-4B8C-83A1-F6EECF244321}">
                <p14:modId xmlns:p14="http://schemas.microsoft.com/office/powerpoint/2010/main" val="3878136858"/>
              </p:ext>
            </p:extLst>
          </p:nvPr>
        </p:nvGraphicFramePr>
        <p:xfrm>
          <a:off x="711945" y="5868335"/>
          <a:ext cx="7666038" cy="444500"/>
        </p:xfrm>
        <a:graphic>
          <a:graphicData uri="http://schemas.openxmlformats.org/presentationml/2006/ole">
            <mc:AlternateContent xmlns:mc="http://schemas.openxmlformats.org/markup-compatibility/2006">
              <mc:Choice xmlns:v="urn:schemas-microsoft-com:vml" Requires="v">
                <p:oleObj name="Equation" r:id="rId16" imgW="3822480" imgH="241200" progId="Equation.DSMT4">
                  <p:embed/>
                </p:oleObj>
              </mc:Choice>
              <mc:Fallback>
                <p:oleObj name="Equation" r:id="rId16" imgW="3822480" imgH="241200" progId="Equation.DSMT4">
                  <p:embed/>
                  <p:pic>
                    <p:nvPicPr>
                      <p:cNvPr id="8" name="Object 7"/>
                      <p:cNvPicPr>
                        <a:picLocks noChangeAspect="1" noChangeArrowheads="1"/>
                      </p:cNvPicPr>
                      <p:nvPr/>
                    </p:nvPicPr>
                    <p:blipFill>
                      <a:blip r:embed="rId17"/>
                      <a:srcRect/>
                      <a:stretch>
                        <a:fillRect/>
                      </a:stretch>
                    </p:blipFill>
                    <p:spPr bwMode="auto">
                      <a:xfrm>
                        <a:off x="711945" y="5868335"/>
                        <a:ext cx="76660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20721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86862-CDEF-8038-DDFF-F4946FD6EE06}"/>
              </a:ext>
            </a:extLst>
          </p:cNvPr>
          <p:cNvSpPr>
            <a:spLocks noGrp="1"/>
          </p:cNvSpPr>
          <p:nvPr>
            <p:ph type="title"/>
          </p:nvPr>
        </p:nvSpPr>
        <p:spPr>
          <a:xfrm>
            <a:off x="428065" y="239077"/>
            <a:ext cx="8247623"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(8 of 10)</a:t>
            </a:r>
            <a:endParaRPr lang="en-US" sz="2600" dirty="0"/>
          </a:p>
        </p:txBody>
      </p:sp>
      <p:pic>
        <p:nvPicPr>
          <p:cNvPr id="21" name="Picture 3" descr="A circuit diagram shows a current source with current I subscript s as the leftmost wire in the circuit. Resistor R and capacitor C respectively form the middle and rightmost wire in the circuit. In the top wire and between the leftmost wire and the middle wire is a switch which is closed when time t is zero. Voltage v subscript c exists across capacitor C, and has positive polarity at the top node and negative polarity at the bottom. ">
            <a:extLst>
              <a:ext uri="{FF2B5EF4-FFF2-40B4-BE49-F238E27FC236}">
                <a16:creationId xmlns:a16="http://schemas.microsoft.com/office/drawing/2014/main" id="{E85F30A6-AA68-442F-F4F0-2B3449CE3F3A}"/>
              </a:ext>
            </a:extLst>
          </p:cNvPr>
          <p:cNvPicPr>
            <a:picLocks noChangeAspect="1" noChangeArrowheads="1"/>
          </p:cNvPicPr>
          <p:nvPr/>
        </p:nvPicPr>
        <p:blipFill>
          <a:blip r:embed="rId2"/>
          <a:stretch>
            <a:fillRect/>
          </a:stretch>
        </p:blipFill>
        <p:spPr bwMode="auto">
          <a:xfrm>
            <a:off x="2758857" y="988345"/>
            <a:ext cx="3568116" cy="2279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a:extLst>
              <a:ext uri="{FF2B5EF4-FFF2-40B4-BE49-F238E27FC236}">
                <a16:creationId xmlns:a16="http://schemas.microsoft.com/office/drawing/2014/main" id="{1BA620CE-5EB4-2296-4356-0A658070CD78}"/>
              </a:ext>
            </a:extLst>
          </p:cNvPr>
          <p:cNvSpPr>
            <a:spLocks noGrp="1"/>
          </p:cNvSpPr>
          <p:nvPr>
            <p:ph sz="quarter" idx="12"/>
          </p:nvPr>
        </p:nvSpPr>
        <p:spPr>
          <a:xfrm>
            <a:off x="428065" y="3518600"/>
            <a:ext cx="7299511" cy="374906"/>
          </a:xfrm>
        </p:spPr>
        <p:txBody>
          <a:bodyPr wrap="square">
            <a:spAutoFit/>
          </a:bodyPr>
          <a:lstStyle/>
          <a:p>
            <a:pPr marL="0" indent="0">
              <a:buNone/>
            </a:pPr>
            <a:r>
              <a:rPr lang="en-US" altLang="en-US" sz="2200" dirty="0"/>
              <a:t>The problem: Given an initial voltage drop </a:t>
            </a:r>
            <a:r>
              <a:rPr lang="en-US" altLang="en-US" sz="2200" i="1" dirty="0"/>
              <a:t>v(0)</a:t>
            </a:r>
            <a:r>
              <a:rPr lang="en-US" altLang="en-US" sz="2200" dirty="0"/>
              <a:t> across </a:t>
            </a:r>
            <a:r>
              <a:rPr lang="en-US" altLang="en-US" sz="2200" i="1" dirty="0"/>
              <a:t>C</a:t>
            </a:r>
            <a:r>
              <a:rPr lang="en-US" altLang="en-US" sz="2200" dirty="0"/>
              <a:t> at</a:t>
            </a:r>
            <a:endParaRPr lang="en-US" sz="2200" dirty="0"/>
          </a:p>
        </p:txBody>
      </p:sp>
      <p:graphicFrame>
        <p:nvGraphicFramePr>
          <p:cNvPr id="22" name="Object 21" descr="t equal to 0,">
            <a:extLst>
              <a:ext uri="{FF2B5EF4-FFF2-40B4-BE49-F238E27FC236}">
                <a16:creationId xmlns:a16="http://schemas.microsoft.com/office/drawing/2014/main" id="{A5FE28EA-D70E-8B25-422B-E78E74CEE2F4}"/>
              </a:ext>
            </a:extLst>
          </p:cNvPr>
          <p:cNvGraphicFramePr>
            <a:graphicFrameLocks noChangeAspect="1"/>
          </p:cNvGraphicFramePr>
          <p:nvPr>
            <p:extLst>
              <p:ext uri="{D42A27DB-BD31-4B8C-83A1-F6EECF244321}">
                <p14:modId xmlns:p14="http://schemas.microsoft.com/office/powerpoint/2010/main" val="3192761968"/>
              </p:ext>
            </p:extLst>
          </p:nvPr>
        </p:nvGraphicFramePr>
        <p:xfrm>
          <a:off x="7802731" y="3553911"/>
          <a:ext cx="754380" cy="356235"/>
        </p:xfrm>
        <a:graphic>
          <a:graphicData uri="http://schemas.openxmlformats.org/presentationml/2006/ole">
            <mc:AlternateContent xmlns:mc="http://schemas.openxmlformats.org/markup-compatibility/2006">
              <mc:Choice xmlns:v="urn:schemas-microsoft-com:vml" Requires="v">
                <p:oleObj name="Equation" r:id="rId3" imgW="368280" imgH="190440" progId="Equation.DSMT4">
                  <p:embed/>
                </p:oleObj>
              </mc:Choice>
              <mc:Fallback>
                <p:oleObj name="Equation" r:id="rId3" imgW="368280" imgH="190440" progId="Equation.DSMT4">
                  <p:embed/>
                  <p:pic>
                    <p:nvPicPr>
                      <p:cNvPr id="28" name="Object 27">
                        <a:extLst>
                          <a:ext uri="{FF2B5EF4-FFF2-40B4-BE49-F238E27FC236}">
                            <a16:creationId xmlns:a16="http://schemas.microsoft.com/office/drawing/2014/main" id="{41A5A69F-BF90-C643-B6C9-0E8B43D07F4E}"/>
                          </a:ext>
                        </a:extLst>
                      </p:cNvPr>
                      <p:cNvPicPr>
                        <a:picLocks noChangeAspect="1" noChangeArrowheads="1"/>
                      </p:cNvPicPr>
                      <p:nvPr/>
                    </p:nvPicPr>
                    <p:blipFill>
                      <a:blip r:embed="rId4"/>
                      <a:srcRect/>
                      <a:stretch>
                        <a:fillRect/>
                      </a:stretch>
                    </p:blipFill>
                    <p:spPr bwMode="auto">
                      <a:xfrm>
                        <a:off x="7802731" y="3553911"/>
                        <a:ext cx="754380" cy="356235"/>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A0A12805-51DA-173F-D3C6-B3EA31A5D580}"/>
              </a:ext>
            </a:extLst>
          </p:cNvPr>
          <p:cNvSpPr>
            <a:spLocks noGrp="1"/>
          </p:cNvSpPr>
          <p:nvPr>
            <p:ph sz="quarter" idx="13"/>
          </p:nvPr>
        </p:nvSpPr>
        <p:spPr>
          <a:xfrm>
            <a:off x="428065" y="3975334"/>
            <a:ext cx="1355911" cy="374906"/>
          </a:xfrm>
        </p:spPr>
        <p:txBody>
          <a:bodyPr wrap="square">
            <a:spAutoFit/>
          </a:bodyPr>
          <a:lstStyle/>
          <a:p>
            <a:pPr marL="0" indent="0">
              <a:buNone/>
            </a:pPr>
            <a:r>
              <a:rPr lang="en-US" altLang="en-US" sz="2200" dirty="0"/>
              <a:t>find </a:t>
            </a:r>
            <a:r>
              <a:rPr lang="en-US" altLang="en-US" sz="2200" i="1" dirty="0"/>
              <a:t>v(t)</a:t>
            </a:r>
            <a:r>
              <a:rPr lang="en-US" altLang="en-US" sz="2200" dirty="0"/>
              <a:t> for</a:t>
            </a:r>
            <a:endParaRPr lang="en-US" sz="2200" dirty="0"/>
          </a:p>
        </p:txBody>
      </p:sp>
      <p:graphicFrame>
        <p:nvGraphicFramePr>
          <p:cNvPr id="23" name="Object 22" descr="t is greater than or equal to 0.&#10;">
            <a:extLst>
              <a:ext uri="{FF2B5EF4-FFF2-40B4-BE49-F238E27FC236}">
                <a16:creationId xmlns:a16="http://schemas.microsoft.com/office/drawing/2014/main" id="{C73DD0EA-F21E-A73B-9FC8-3BB358B25801}"/>
              </a:ext>
            </a:extLst>
          </p:cNvPr>
          <p:cNvGraphicFramePr>
            <a:graphicFrameLocks noChangeAspect="1"/>
          </p:cNvGraphicFramePr>
          <p:nvPr>
            <p:extLst>
              <p:ext uri="{D42A27DB-BD31-4B8C-83A1-F6EECF244321}">
                <p14:modId xmlns:p14="http://schemas.microsoft.com/office/powerpoint/2010/main" val="1924532214"/>
              </p:ext>
            </p:extLst>
          </p:nvPr>
        </p:nvGraphicFramePr>
        <p:xfrm>
          <a:off x="1822560" y="4020159"/>
          <a:ext cx="779462" cy="331788"/>
        </p:xfrm>
        <a:graphic>
          <a:graphicData uri="http://schemas.openxmlformats.org/presentationml/2006/ole">
            <mc:AlternateContent xmlns:mc="http://schemas.openxmlformats.org/markup-compatibility/2006">
              <mc:Choice xmlns:v="urn:schemas-microsoft-com:vml" Requires="v">
                <p:oleObj name="Equation" r:id="rId5" imgW="380880" imgH="177480" progId="Equation.DSMT4">
                  <p:embed/>
                </p:oleObj>
              </mc:Choice>
              <mc:Fallback>
                <p:oleObj name="Equation" r:id="rId5" imgW="380880" imgH="177480" progId="Equation.DSMT4">
                  <p:embed/>
                  <p:pic>
                    <p:nvPicPr>
                      <p:cNvPr id="22" name="Object 21">
                        <a:extLst>
                          <a:ext uri="{FF2B5EF4-FFF2-40B4-BE49-F238E27FC236}">
                            <a16:creationId xmlns:a16="http://schemas.microsoft.com/office/drawing/2014/main" id="{A5FE28EA-D70E-8B25-422B-E78E74CEE2F4}"/>
                          </a:ext>
                        </a:extLst>
                      </p:cNvPr>
                      <p:cNvPicPr>
                        <a:picLocks noChangeAspect="1" noChangeArrowheads="1"/>
                      </p:cNvPicPr>
                      <p:nvPr/>
                    </p:nvPicPr>
                    <p:blipFill>
                      <a:blip r:embed="rId6"/>
                      <a:srcRect/>
                      <a:stretch>
                        <a:fillRect/>
                      </a:stretch>
                    </p:blipFill>
                    <p:spPr bwMode="auto">
                      <a:xfrm>
                        <a:off x="1822560" y="4020159"/>
                        <a:ext cx="779462" cy="331788"/>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3F646271-4B2A-AA21-3A48-7F457FAB08F5}"/>
              </a:ext>
            </a:extLst>
          </p:cNvPr>
          <p:cNvSpPr>
            <a:spLocks noGrp="1"/>
          </p:cNvSpPr>
          <p:nvPr>
            <p:ph sz="quarter" idx="14"/>
          </p:nvPr>
        </p:nvSpPr>
        <p:spPr>
          <a:xfrm>
            <a:off x="2656357" y="3975334"/>
            <a:ext cx="4674048" cy="374906"/>
          </a:xfrm>
        </p:spPr>
        <p:txBody>
          <a:bodyPr wrap="square">
            <a:spAutoFit/>
          </a:bodyPr>
          <a:lstStyle/>
          <a:p>
            <a:pPr marL="0" indent="0">
              <a:buNone/>
            </a:pPr>
            <a:r>
              <a:rPr lang="en-US" altLang="en-US" sz="2200" dirty="0"/>
              <a:t>Note that the initial voltage may be 0!</a:t>
            </a:r>
            <a:endParaRPr lang="en-US" sz="2200" dirty="0"/>
          </a:p>
        </p:txBody>
      </p:sp>
      <p:sp>
        <p:nvSpPr>
          <p:cNvPr id="6" name="Content Placeholder 5">
            <a:extLst>
              <a:ext uri="{FF2B5EF4-FFF2-40B4-BE49-F238E27FC236}">
                <a16:creationId xmlns:a16="http://schemas.microsoft.com/office/drawing/2014/main" id="{64BDD23F-F6C6-F14F-AFBF-2B77268A4093}"/>
              </a:ext>
            </a:extLst>
          </p:cNvPr>
          <p:cNvSpPr>
            <a:spLocks noGrp="1"/>
          </p:cNvSpPr>
          <p:nvPr>
            <p:ph sz="quarter" idx="15"/>
          </p:nvPr>
        </p:nvSpPr>
        <p:spPr>
          <a:xfrm>
            <a:off x="428066" y="4480025"/>
            <a:ext cx="8247623" cy="713460"/>
          </a:xfrm>
        </p:spPr>
        <p:txBody>
          <a:bodyPr wrap="square">
            <a:spAutoFit/>
          </a:bodyPr>
          <a:lstStyle/>
          <a:p>
            <a:pPr marL="0" indent="0">
              <a:buNone/>
            </a:pPr>
            <a:r>
              <a:rPr lang="en-US" altLang="en-US" sz="2200" dirty="0"/>
              <a:t>This is the duel of the </a:t>
            </a:r>
            <a:r>
              <a:rPr lang="en-US" altLang="en-US" sz="2200" i="1" spc="-300" dirty="0"/>
              <a:t>R </a:t>
            </a:r>
            <a:r>
              <a:rPr lang="en-US" altLang="en-US" sz="2200" i="1" dirty="0"/>
              <a:t>L</a:t>
            </a:r>
            <a:r>
              <a:rPr lang="en-US" altLang="en-US" sz="2200" dirty="0"/>
              <a:t> step response problem, so its solution is the duel of the solution to the </a:t>
            </a:r>
            <a:r>
              <a:rPr lang="en-US" altLang="en-US" sz="2200" i="1" spc="-300" dirty="0"/>
              <a:t>R </a:t>
            </a:r>
            <a:r>
              <a:rPr lang="en-US" altLang="en-US" sz="2200" i="1" dirty="0"/>
              <a:t>L</a:t>
            </a:r>
            <a:r>
              <a:rPr lang="en-US" altLang="en-US" sz="2200" dirty="0"/>
              <a:t> step response!</a:t>
            </a:r>
          </a:p>
        </p:txBody>
      </p:sp>
      <p:graphicFrame>
        <p:nvGraphicFramePr>
          <p:cNvPr id="24" name="Object 23" descr="v subscript C baseline (t) equals V subscript F baseline plus OpenParenthesis V subscript 0 baseline minus V subscript F CloseParenthesis e to the negative t divided by R C,&#10;">
            <a:extLst>
              <a:ext uri="{FF2B5EF4-FFF2-40B4-BE49-F238E27FC236}">
                <a16:creationId xmlns:a16="http://schemas.microsoft.com/office/drawing/2014/main" id="{1E46207B-177D-42AC-B519-D4DD47356F54}"/>
              </a:ext>
            </a:extLst>
          </p:cNvPr>
          <p:cNvGraphicFramePr>
            <a:graphicFrameLocks noChangeAspect="1"/>
          </p:cNvGraphicFramePr>
          <p:nvPr>
            <p:extLst>
              <p:ext uri="{D42A27DB-BD31-4B8C-83A1-F6EECF244321}">
                <p14:modId xmlns:p14="http://schemas.microsoft.com/office/powerpoint/2010/main" val="934293525"/>
              </p:ext>
            </p:extLst>
          </p:nvPr>
        </p:nvGraphicFramePr>
        <p:xfrm>
          <a:off x="968236" y="5268913"/>
          <a:ext cx="3584575" cy="449262"/>
        </p:xfrm>
        <a:graphic>
          <a:graphicData uri="http://schemas.openxmlformats.org/presentationml/2006/ole">
            <mc:AlternateContent xmlns:mc="http://schemas.openxmlformats.org/markup-compatibility/2006">
              <mc:Choice xmlns:v="urn:schemas-microsoft-com:vml" Requires="v">
                <p:oleObj name="Equation" r:id="rId7" imgW="1752480" imgH="241200" progId="Equation.DSMT4">
                  <p:embed/>
                </p:oleObj>
              </mc:Choice>
              <mc:Fallback>
                <p:oleObj name="Equation" r:id="rId7" imgW="1752480" imgH="241200" progId="Equation.DSMT4">
                  <p:embed/>
                  <p:pic>
                    <p:nvPicPr>
                      <p:cNvPr id="23" name="Object 22">
                        <a:extLst>
                          <a:ext uri="{FF2B5EF4-FFF2-40B4-BE49-F238E27FC236}">
                            <a16:creationId xmlns:a16="http://schemas.microsoft.com/office/drawing/2014/main" id="{C73DD0EA-F21E-A73B-9FC8-3BB358B25801}"/>
                          </a:ext>
                        </a:extLst>
                      </p:cNvPr>
                      <p:cNvPicPr>
                        <a:picLocks noChangeAspect="1" noChangeArrowheads="1"/>
                      </p:cNvPicPr>
                      <p:nvPr/>
                    </p:nvPicPr>
                    <p:blipFill>
                      <a:blip r:embed="rId8"/>
                      <a:srcRect/>
                      <a:stretch>
                        <a:fillRect/>
                      </a:stretch>
                    </p:blipFill>
                    <p:spPr bwMode="auto">
                      <a:xfrm>
                        <a:off x="968236" y="5268913"/>
                        <a:ext cx="3584575" cy="449262"/>
                      </a:xfrm>
                      <a:prstGeom prst="rect">
                        <a:avLst/>
                      </a:prstGeom>
                      <a:noFill/>
                      <a:ln>
                        <a:noFill/>
                      </a:ln>
                    </p:spPr>
                  </p:pic>
                </p:oleObj>
              </mc:Fallback>
            </mc:AlternateContent>
          </a:graphicData>
        </a:graphic>
      </p:graphicFrame>
      <p:graphicFrame>
        <p:nvGraphicFramePr>
          <p:cNvPr id="15" name="Object 14" descr="v subscript C baseline (t) equals V subscript F baseline plus Open Parenthesis V subscript 0 baseline minus V subscript F Close Parenthesis e to the negative t divided by R C,&#10;">
            <a:extLst>
              <a:ext uri="{FF2B5EF4-FFF2-40B4-BE49-F238E27FC236}">
                <a16:creationId xmlns:a16="http://schemas.microsoft.com/office/drawing/2014/main" id="{F01EEA71-ED26-4364-A1C3-82F67421D73A}"/>
              </a:ext>
            </a:extLst>
          </p:cNvPr>
          <p:cNvGraphicFramePr>
            <a:graphicFrameLocks noChangeAspect="1"/>
          </p:cNvGraphicFramePr>
          <p:nvPr>
            <p:extLst>
              <p:ext uri="{D42A27DB-BD31-4B8C-83A1-F6EECF244321}">
                <p14:modId xmlns:p14="http://schemas.microsoft.com/office/powerpoint/2010/main" val="3056578005"/>
              </p:ext>
            </p:extLst>
          </p:nvPr>
        </p:nvGraphicFramePr>
        <p:xfrm>
          <a:off x="5215075" y="5379760"/>
          <a:ext cx="701675" cy="331787"/>
        </p:xfrm>
        <a:graphic>
          <a:graphicData uri="http://schemas.openxmlformats.org/presentationml/2006/ole">
            <mc:AlternateContent xmlns:mc="http://schemas.openxmlformats.org/markup-compatibility/2006">
              <mc:Choice xmlns:v="urn:schemas-microsoft-com:vml" Requires="v">
                <p:oleObj name="Equation" r:id="rId9" imgW="342720" imgH="177480" progId="Equation.DSMT4">
                  <p:embed/>
                </p:oleObj>
              </mc:Choice>
              <mc:Fallback>
                <p:oleObj name="Equation" r:id="rId9" imgW="342720" imgH="177480" progId="Equation.DSMT4">
                  <p:embed/>
                  <p:pic>
                    <p:nvPicPr>
                      <p:cNvPr id="24" name="Object 23" descr="v subscript C baseline (t) equals V subscript F baseline plus OpenParenthesis V subscript 0 baseline minus V subscript F CloseParenthesis e to the negative t divided by R C,&#10;">
                        <a:extLst>
                          <a:ext uri="{FF2B5EF4-FFF2-40B4-BE49-F238E27FC236}">
                            <a16:creationId xmlns:a16="http://schemas.microsoft.com/office/drawing/2014/main" id="{1E46207B-177D-42AC-B519-D4DD47356F54}"/>
                          </a:ext>
                        </a:extLst>
                      </p:cNvPr>
                      <p:cNvPicPr>
                        <a:picLocks noChangeAspect="1" noChangeArrowheads="1"/>
                      </p:cNvPicPr>
                      <p:nvPr/>
                    </p:nvPicPr>
                    <p:blipFill>
                      <a:blip r:embed="rId10"/>
                      <a:srcRect/>
                      <a:stretch>
                        <a:fillRect/>
                      </a:stretch>
                    </p:blipFill>
                    <p:spPr bwMode="auto">
                      <a:xfrm>
                        <a:off x="5215075" y="5379760"/>
                        <a:ext cx="701675" cy="331787"/>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063BEEF1-292D-72D6-F18A-F7E1525E9CA4}"/>
              </a:ext>
            </a:extLst>
          </p:cNvPr>
          <p:cNvSpPr>
            <a:spLocks noGrp="1"/>
          </p:cNvSpPr>
          <p:nvPr>
            <p:ph sz="quarter" idx="16"/>
          </p:nvPr>
        </p:nvSpPr>
        <p:spPr>
          <a:xfrm>
            <a:off x="1426758" y="5836794"/>
            <a:ext cx="785533" cy="374906"/>
          </a:xfrm>
        </p:spPr>
        <p:txBody>
          <a:bodyPr wrap="square">
            <a:spAutoFit/>
          </a:bodyPr>
          <a:lstStyle/>
          <a:p>
            <a:pPr marL="0" indent="0">
              <a:buNone/>
            </a:pPr>
            <a:r>
              <a:rPr lang="en-US" sz="2200" dirty="0"/>
              <a:t>where</a:t>
            </a:r>
          </a:p>
        </p:txBody>
      </p:sp>
      <p:graphicFrame>
        <p:nvGraphicFramePr>
          <p:cNvPr id="25" name="Object 24" descr="V subscript 0 baseline equals v subscript C baseline (0).&#10;">
            <a:extLst>
              <a:ext uri="{FF2B5EF4-FFF2-40B4-BE49-F238E27FC236}">
                <a16:creationId xmlns:a16="http://schemas.microsoft.com/office/drawing/2014/main" id="{08C51714-181B-F018-DE37-93AE2C85507B}"/>
              </a:ext>
            </a:extLst>
          </p:cNvPr>
          <p:cNvGraphicFramePr>
            <a:graphicFrameLocks noChangeAspect="1"/>
          </p:cNvGraphicFramePr>
          <p:nvPr>
            <p:extLst>
              <p:ext uri="{D42A27DB-BD31-4B8C-83A1-F6EECF244321}">
                <p14:modId xmlns:p14="http://schemas.microsoft.com/office/powerpoint/2010/main" val="2590097192"/>
              </p:ext>
            </p:extLst>
          </p:nvPr>
        </p:nvGraphicFramePr>
        <p:xfrm>
          <a:off x="2317656" y="5852832"/>
          <a:ext cx="1403350" cy="425450"/>
        </p:xfrm>
        <a:graphic>
          <a:graphicData uri="http://schemas.openxmlformats.org/presentationml/2006/ole">
            <mc:AlternateContent xmlns:mc="http://schemas.openxmlformats.org/markup-compatibility/2006">
              <mc:Choice xmlns:v="urn:schemas-microsoft-com:vml" Requires="v">
                <p:oleObj name="Equation" r:id="rId11" imgW="685800" imgH="228600" progId="Equation.DSMT4">
                  <p:embed/>
                </p:oleObj>
              </mc:Choice>
              <mc:Fallback>
                <p:oleObj name="Equation" r:id="rId11" imgW="685800" imgH="228600" progId="Equation.DSMT4">
                  <p:embed/>
                  <p:pic>
                    <p:nvPicPr>
                      <p:cNvPr id="24" name="Object 23">
                        <a:extLst>
                          <a:ext uri="{FF2B5EF4-FFF2-40B4-BE49-F238E27FC236}">
                            <a16:creationId xmlns:a16="http://schemas.microsoft.com/office/drawing/2014/main" id="{1E46207B-177D-42AC-B519-D4DD47356F54}"/>
                          </a:ext>
                        </a:extLst>
                      </p:cNvPr>
                      <p:cNvPicPr>
                        <a:picLocks noChangeAspect="1" noChangeArrowheads="1"/>
                      </p:cNvPicPr>
                      <p:nvPr/>
                    </p:nvPicPr>
                    <p:blipFill>
                      <a:blip r:embed="rId12"/>
                      <a:srcRect/>
                      <a:stretch>
                        <a:fillRect/>
                      </a:stretch>
                    </p:blipFill>
                    <p:spPr bwMode="auto">
                      <a:xfrm>
                        <a:off x="2317656" y="5852832"/>
                        <a:ext cx="1403350" cy="425450"/>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03B7DC75-37A2-7D1D-6ADD-6DDCD42DED9D}"/>
              </a:ext>
            </a:extLst>
          </p:cNvPr>
          <p:cNvSpPr>
            <a:spLocks noGrp="1"/>
          </p:cNvSpPr>
          <p:nvPr>
            <p:ph sz="quarter" idx="17"/>
          </p:nvPr>
        </p:nvSpPr>
        <p:spPr>
          <a:xfrm>
            <a:off x="3826371" y="5833689"/>
            <a:ext cx="485519" cy="374906"/>
          </a:xfrm>
        </p:spPr>
        <p:txBody>
          <a:bodyPr wrap="square">
            <a:spAutoFit/>
          </a:bodyPr>
          <a:lstStyle/>
          <a:p>
            <a:pPr marL="0" indent="0">
              <a:buNone/>
            </a:pPr>
            <a:r>
              <a:rPr lang="en-US" sz="2200" dirty="0"/>
              <a:t>and</a:t>
            </a:r>
          </a:p>
        </p:txBody>
      </p:sp>
      <p:graphicFrame>
        <p:nvGraphicFramePr>
          <p:cNvPr id="26" name="Object 25" descr="V subscript F baseline equals v subscript C baseline (infinity).&#10;">
            <a:extLst>
              <a:ext uri="{FF2B5EF4-FFF2-40B4-BE49-F238E27FC236}">
                <a16:creationId xmlns:a16="http://schemas.microsoft.com/office/drawing/2014/main" id="{7BA83D73-BE98-C81E-9A7B-FAB14059915E}"/>
              </a:ext>
            </a:extLst>
          </p:cNvPr>
          <p:cNvGraphicFramePr>
            <a:graphicFrameLocks noChangeAspect="1"/>
          </p:cNvGraphicFramePr>
          <p:nvPr>
            <p:extLst>
              <p:ext uri="{D42A27DB-BD31-4B8C-83A1-F6EECF244321}">
                <p14:modId xmlns:p14="http://schemas.microsoft.com/office/powerpoint/2010/main" val="3478258684"/>
              </p:ext>
            </p:extLst>
          </p:nvPr>
        </p:nvGraphicFramePr>
        <p:xfrm>
          <a:off x="4419432" y="5835673"/>
          <a:ext cx="1506538" cy="425450"/>
        </p:xfrm>
        <a:graphic>
          <a:graphicData uri="http://schemas.openxmlformats.org/presentationml/2006/ole">
            <mc:AlternateContent xmlns:mc="http://schemas.openxmlformats.org/markup-compatibility/2006">
              <mc:Choice xmlns:v="urn:schemas-microsoft-com:vml" Requires="v">
                <p:oleObj name="Equation" r:id="rId13" imgW="736560" imgH="228600" progId="Equation.DSMT4">
                  <p:embed/>
                </p:oleObj>
              </mc:Choice>
              <mc:Fallback>
                <p:oleObj name="Equation" r:id="rId13" imgW="736560" imgH="228600" progId="Equation.DSMT4">
                  <p:embed/>
                  <p:pic>
                    <p:nvPicPr>
                      <p:cNvPr id="24" name="Object 23">
                        <a:extLst>
                          <a:ext uri="{FF2B5EF4-FFF2-40B4-BE49-F238E27FC236}">
                            <a16:creationId xmlns:a16="http://schemas.microsoft.com/office/drawing/2014/main" id="{1E46207B-177D-42AC-B519-D4DD47356F54}"/>
                          </a:ext>
                        </a:extLst>
                      </p:cNvPr>
                      <p:cNvPicPr>
                        <a:picLocks noChangeAspect="1" noChangeArrowheads="1"/>
                      </p:cNvPicPr>
                      <p:nvPr/>
                    </p:nvPicPr>
                    <p:blipFill>
                      <a:blip r:embed="rId14"/>
                      <a:srcRect/>
                      <a:stretch>
                        <a:fillRect/>
                      </a:stretch>
                    </p:blipFill>
                    <p:spPr bwMode="auto">
                      <a:xfrm>
                        <a:off x="4419432" y="5835673"/>
                        <a:ext cx="1506538" cy="4254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19559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CB8FC-697B-0417-2333-342B28DAF371}"/>
              </a:ext>
            </a:extLst>
          </p:cNvPr>
          <p:cNvSpPr>
            <a:spLocks noGrp="1"/>
          </p:cNvSpPr>
          <p:nvPr>
            <p:ph type="title"/>
          </p:nvPr>
        </p:nvSpPr>
        <p:spPr>
          <a:xfrm>
            <a:off x="428065" y="239078"/>
            <a:ext cx="8247623"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(9 of 10)</a:t>
            </a:r>
            <a:endParaRPr lang="en-US" sz="2600" dirty="0"/>
          </a:p>
        </p:txBody>
      </p:sp>
      <p:sp>
        <p:nvSpPr>
          <p:cNvPr id="3" name="Content Placeholder 2">
            <a:extLst>
              <a:ext uri="{FF2B5EF4-FFF2-40B4-BE49-F238E27FC236}">
                <a16:creationId xmlns:a16="http://schemas.microsoft.com/office/drawing/2014/main" id="{B08F5BA9-2740-ED6F-A772-E0DE64CBE7CB}"/>
              </a:ext>
            </a:extLst>
          </p:cNvPr>
          <p:cNvSpPr>
            <a:spLocks noGrp="1"/>
          </p:cNvSpPr>
          <p:nvPr>
            <p:ph sz="quarter" idx="12"/>
          </p:nvPr>
        </p:nvSpPr>
        <p:spPr>
          <a:xfrm>
            <a:off x="428065" y="858809"/>
            <a:ext cx="8247623" cy="405683"/>
          </a:xfrm>
        </p:spPr>
        <p:txBody>
          <a:bodyPr wrap="square">
            <a:spAutoFit/>
          </a:bodyPr>
          <a:lstStyle/>
          <a:p>
            <a:pPr marL="0" indent="0">
              <a:spcBef>
                <a:spcPct val="0"/>
              </a:spcBef>
              <a:buClrTx/>
              <a:buNone/>
            </a:pPr>
            <a:r>
              <a:rPr lang="en-US" sz="2400" dirty="0"/>
              <a:t>Here is the circuit for the </a:t>
            </a:r>
            <a:r>
              <a:rPr lang="en-US" sz="2400" i="1" spc="-300" dirty="0"/>
              <a:t>R </a:t>
            </a:r>
            <a:r>
              <a:rPr lang="en-US" sz="2400" i="1" dirty="0"/>
              <a:t>C</a:t>
            </a:r>
            <a:r>
              <a:rPr lang="en-US" sz="2400" dirty="0"/>
              <a:t> step response problem. </a:t>
            </a:r>
          </a:p>
        </p:txBody>
      </p:sp>
      <p:sp>
        <p:nvSpPr>
          <p:cNvPr id="4" name="Content Placeholder 3">
            <a:extLst>
              <a:ext uri="{FF2B5EF4-FFF2-40B4-BE49-F238E27FC236}">
                <a16:creationId xmlns:a16="http://schemas.microsoft.com/office/drawing/2014/main" id="{DEABBDCD-44CD-B42F-A9CD-567408228B09}"/>
              </a:ext>
            </a:extLst>
          </p:cNvPr>
          <p:cNvSpPr>
            <a:spLocks noGrp="1"/>
          </p:cNvSpPr>
          <p:nvPr>
            <p:ph sz="quarter" idx="13"/>
          </p:nvPr>
        </p:nvSpPr>
        <p:spPr>
          <a:xfrm>
            <a:off x="428065" y="1373111"/>
            <a:ext cx="386487" cy="405683"/>
          </a:xfrm>
        </p:spPr>
        <p:txBody>
          <a:bodyPr wrap="square">
            <a:spAutoFit/>
          </a:bodyPr>
          <a:lstStyle/>
          <a:p>
            <a:pPr marL="0" indent="0">
              <a:buNone/>
            </a:pPr>
            <a:r>
              <a:rPr lang="en-US" sz="2400" dirty="0"/>
              <a:t>As</a:t>
            </a:r>
          </a:p>
        </p:txBody>
      </p:sp>
      <p:graphicFrame>
        <p:nvGraphicFramePr>
          <p:cNvPr id="21" name="Object 20" descr="t right arrow, infinity,">
            <a:extLst>
              <a:ext uri="{FF2B5EF4-FFF2-40B4-BE49-F238E27FC236}">
                <a16:creationId xmlns:a16="http://schemas.microsoft.com/office/drawing/2014/main" id="{0BDBE07F-F028-7A83-BA02-4B93DA12F8AC}"/>
              </a:ext>
            </a:extLst>
          </p:cNvPr>
          <p:cNvGraphicFramePr>
            <a:graphicFrameLocks noChangeAspect="1"/>
          </p:cNvGraphicFramePr>
          <p:nvPr>
            <p:extLst>
              <p:ext uri="{D42A27DB-BD31-4B8C-83A1-F6EECF244321}">
                <p14:modId xmlns:p14="http://schemas.microsoft.com/office/powerpoint/2010/main" val="2346508782"/>
              </p:ext>
            </p:extLst>
          </p:nvPr>
        </p:nvGraphicFramePr>
        <p:xfrm>
          <a:off x="907863" y="1415631"/>
          <a:ext cx="936625" cy="355600"/>
        </p:xfrm>
        <a:graphic>
          <a:graphicData uri="http://schemas.openxmlformats.org/presentationml/2006/ole">
            <mc:AlternateContent xmlns:mc="http://schemas.openxmlformats.org/markup-compatibility/2006">
              <mc:Choice xmlns:v="urn:schemas-microsoft-com:vml" Requires="v">
                <p:oleObj name="Equation" r:id="rId2" imgW="457200" imgH="190440" progId="Equation.DSMT4">
                  <p:embed/>
                </p:oleObj>
              </mc:Choice>
              <mc:Fallback>
                <p:oleObj name="Equation" r:id="rId2" imgW="457200" imgH="190440" progId="Equation.DSMT4">
                  <p:embed/>
                  <p:pic>
                    <p:nvPicPr>
                      <p:cNvPr id="22" name="Object 21">
                        <a:extLst>
                          <a:ext uri="{FF2B5EF4-FFF2-40B4-BE49-F238E27FC236}">
                            <a16:creationId xmlns:a16="http://schemas.microsoft.com/office/drawing/2014/main" id="{A5FE28EA-D70E-8B25-422B-E78E74CEE2F4}"/>
                          </a:ext>
                        </a:extLst>
                      </p:cNvPr>
                      <p:cNvPicPr>
                        <a:picLocks noChangeAspect="1" noChangeArrowheads="1"/>
                      </p:cNvPicPr>
                      <p:nvPr/>
                    </p:nvPicPr>
                    <p:blipFill>
                      <a:blip r:embed="rId3"/>
                      <a:srcRect/>
                      <a:stretch>
                        <a:fillRect/>
                      </a:stretch>
                    </p:blipFill>
                    <p:spPr bwMode="auto">
                      <a:xfrm>
                        <a:off x="907863" y="1415631"/>
                        <a:ext cx="936625" cy="35560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4494FB6A-7B68-627E-A3AF-455DBB3E2304}"/>
              </a:ext>
            </a:extLst>
          </p:cNvPr>
          <p:cNvSpPr>
            <a:spLocks noGrp="1"/>
          </p:cNvSpPr>
          <p:nvPr>
            <p:ph sz="quarter" idx="14"/>
          </p:nvPr>
        </p:nvSpPr>
        <p:spPr>
          <a:xfrm>
            <a:off x="1937799" y="1375585"/>
            <a:ext cx="4467608" cy="405683"/>
          </a:xfrm>
        </p:spPr>
        <p:txBody>
          <a:bodyPr wrap="square">
            <a:spAutoFit/>
          </a:bodyPr>
          <a:lstStyle/>
          <a:p>
            <a:pPr marL="0" indent="0">
              <a:buNone/>
            </a:pPr>
            <a:r>
              <a:rPr lang="en-US" sz="2400" dirty="0"/>
              <a:t>the capacitor can be replaced by</a:t>
            </a:r>
          </a:p>
        </p:txBody>
      </p:sp>
      <p:pic>
        <p:nvPicPr>
          <p:cNvPr id="22" name="Picture 2" descr="A circuit diagram shows a current source with current I subscript s as the leftmost wire in the circuit. Resistor R and capacitor C respectively form the middle and rightmost wire in the circuit. In the top wire and between the leftmost wire and the middle wire is a switch which is closed when time t is zero. Voltage v subscript c exists across capacitor C, and has positive polarity at the top node and negative polarity at the bottom.">
            <a:extLst>
              <a:ext uri="{FF2B5EF4-FFF2-40B4-BE49-F238E27FC236}">
                <a16:creationId xmlns:a16="http://schemas.microsoft.com/office/drawing/2014/main" id="{B46AC2A2-C274-6FEE-D56C-3669995B0D26}"/>
              </a:ext>
            </a:extLst>
          </p:cNvPr>
          <p:cNvPicPr>
            <a:picLocks noChangeAspect="1" noChangeArrowheads="1"/>
          </p:cNvPicPr>
          <p:nvPr/>
        </p:nvPicPr>
        <p:blipFill>
          <a:blip r:embed="rId4"/>
          <a:stretch>
            <a:fillRect/>
          </a:stretch>
        </p:blipFill>
        <p:spPr bwMode="auto">
          <a:xfrm>
            <a:off x="2380480" y="2058847"/>
            <a:ext cx="4329250" cy="2103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5C29EB3E-FF2F-329D-CC8E-0858250C4824}"/>
              </a:ext>
            </a:extLst>
          </p:cNvPr>
          <p:cNvSpPr>
            <a:spLocks noGrp="1"/>
          </p:cNvSpPr>
          <p:nvPr>
            <p:ph sz="quarter" idx="15"/>
          </p:nvPr>
        </p:nvSpPr>
        <p:spPr>
          <a:xfrm>
            <a:off x="1376175" y="4377015"/>
            <a:ext cx="2403547" cy="405683"/>
          </a:xfrm>
        </p:spPr>
        <p:txBody>
          <a:bodyPr wrap="square">
            <a:spAutoFit/>
          </a:bodyPr>
          <a:lstStyle/>
          <a:p>
            <a:pPr marL="0" indent="0">
              <a:buNone/>
              <a:defRPr/>
            </a:pPr>
            <a:r>
              <a:rPr lang="en-US" altLang="en-US" sz="2400" dirty="0">
                <a:solidFill>
                  <a:srgbClr val="007FA3"/>
                </a:solidFill>
              </a:rPr>
              <a:t>A.</a:t>
            </a:r>
            <a:r>
              <a:rPr lang="en-US" altLang="en-US" sz="2400" dirty="0"/>
              <a:t> An open circuit</a:t>
            </a:r>
            <a:endParaRPr lang="en-US" sz="2400" dirty="0"/>
          </a:p>
        </p:txBody>
      </p:sp>
      <p:sp>
        <p:nvSpPr>
          <p:cNvPr id="7" name="Content Placeholder 6">
            <a:extLst>
              <a:ext uri="{FF2B5EF4-FFF2-40B4-BE49-F238E27FC236}">
                <a16:creationId xmlns:a16="http://schemas.microsoft.com/office/drawing/2014/main" id="{1296B561-AE07-8234-70C1-D346326F542F}"/>
              </a:ext>
            </a:extLst>
          </p:cNvPr>
          <p:cNvSpPr>
            <a:spLocks noGrp="1"/>
          </p:cNvSpPr>
          <p:nvPr>
            <p:ph sz="quarter" idx="16"/>
          </p:nvPr>
        </p:nvSpPr>
        <p:spPr>
          <a:xfrm>
            <a:off x="1376175" y="4950740"/>
            <a:ext cx="2218170" cy="405683"/>
          </a:xfrm>
        </p:spPr>
        <p:txBody>
          <a:bodyPr wrap="square">
            <a:spAutoFit/>
          </a:bodyPr>
          <a:lstStyle/>
          <a:p>
            <a:pPr marL="0" indent="0">
              <a:buNone/>
            </a:pPr>
            <a:r>
              <a:rPr lang="en-US" altLang="en-US" sz="2400" dirty="0">
                <a:solidFill>
                  <a:srgbClr val="007FA3"/>
                </a:solidFill>
              </a:rPr>
              <a:t>B.</a:t>
            </a:r>
            <a:r>
              <a:rPr lang="en-US" altLang="en-US" sz="2400" dirty="0"/>
              <a:t> A short circuit</a:t>
            </a:r>
            <a:endParaRPr lang="en-US" sz="2400" dirty="0"/>
          </a:p>
        </p:txBody>
      </p:sp>
      <p:sp>
        <p:nvSpPr>
          <p:cNvPr id="8" name="Content Placeholder 7">
            <a:extLst>
              <a:ext uri="{FF2B5EF4-FFF2-40B4-BE49-F238E27FC236}">
                <a16:creationId xmlns:a16="http://schemas.microsoft.com/office/drawing/2014/main" id="{FF0430ED-817D-2561-2E88-E101847A3D99}"/>
              </a:ext>
            </a:extLst>
          </p:cNvPr>
          <p:cNvSpPr>
            <a:spLocks noGrp="1"/>
          </p:cNvSpPr>
          <p:nvPr>
            <p:ph sz="quarter" idx="17"/>
          </p:nvPr>
        </p:nvSpPr>
        <p:spPr>
          <a:xfrm>
            <a:off x="1354606" y="5519413"/>
            <a:ext cx="2879097" cy="405683"/>
          </a:xfrm>
        </p:spPr>
        <p:txBody>
          <a:bodyPr wrap="square">
            <a:spAutoFit/>
          </a:bodyPr>
          <a:lstStyle/>
          <a:p>
            <a:pPr marL="0" indent="0">
              <a:buNone/>
            </a:pPr>
            <a:r>
              <a:rPr lang="en-US" altLang="en-US" sz="2400" dirty="0">
                <a:solidFill>
                  <a:srgbClr val="007FA3"/>
                </a:solidFill>
              </a:rPr>
              <a:t>C.</a:t>
            </a:r>
            <a:r>
              <a:rPr lang="en-US" altLang="en-US" sz="2400" dirty="0"/>
              <a:t> A constant current</a:t>
            </a:r>
            <a:endParaRPr lang="en-US" sz="2400" dirty="0"/>
          </a:p>
        </p:txBody>
      </p:sp>
    </p:spTree>
    <p:extLst>
      <p:ext uri="{BB962C8B-B14F-4D97-AF65-F5344CB8AC3E}">
        <p14:creationId xmlns:p14="http://schemas.microsoft.com/office/powerpoint/2010/main" val="2687339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C8E3B-2325-AA28-B482-468FC90A5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3792E-E661-0597-178A-524C8DA42167}"/>
              </a:ext>
            </a:extLst>
          </p:cNvPr>
          <p:cNvSpPr>
            <a:spLocks noGrp="1"/>
          </p:cNvSpPr>
          <p:nvPr>
            <p:ph type="title"/>
          </p:nvPr>
        </p:nvSpPr>
        <p:spPr>
          <a:xfrm>
            <a:off x="428065" y="239078"/>
            <a:ext cx="8247623"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(9 of 10)</a:t>
            </a:r>
            <a:endParaRPr lang="en-US" sz="2600" dirty="0"/>
          </a:p>
        </p:txBody>
      </p:sp>
      <p:sp>
        <p:nvSpPr>
          <p:cNvPr id="3" name="Content Placeholder 2">
            <a:extLst>
              <a:ext uri="{FF2B5EF4-FFF2-40B4-BE49-F238E27FC236}">
                <a16:creationId xmlns:a16="http://schemas.microsoft.com/office/drawing/2014/main" id="{64177C4A-D82A-AC31-631E-30B401720BA6}"/>
              </a:ext>
            </a:extLst>
          </p:cNvPr>
          <p:cNvSpPr>
            <a:spLocks noGrp="1"/>
          </p:cNvSpPr>
          <p:nvPr>
            <p:ph sz="quarter" idx="12"/>
          </p:nvPr>
        </p:nvSpPr>
        <p:spPr>
          <a:xfrm>
            <a:off x="428065" y="858809"/>
            <a:ext cx="8247623" cy="405683"/>
          </a:xfrm>
        </p:spPr>
        <p:txBody>
          <a:bodyPr wrap="square">
            <a:spAutoFit/>
          </a:bodyPr>
          <a:lstStyle/>
          <a:p>
            <a:pPr marL="0" indent="0">
              <a:spcBef>
                <a:spcPct val="0"/>
              </a:spcBef>
              <a:buClrTx/>
              <a:buNone/>
            </a:pPr>
            <a:r>
              <a:rPr lang="en-US" sz="2400" dirty="0"/>
              <a:t>Here is the circuit for the </a:t>
            </a:r>
            <a:r>
              <a:rPr lang="en-US" sz="2400" i="1" spc="-300" dirty="0"/>
              <a:t>R </a:t>
            </a:r>
            <a:r>
              <a:rPr lang="en-US" sz="2400" i="1" dirty="0"/>
              <a:t>C</a:t>
            </a:r>
            <a:r>
              <a:rPr lang="en-US" sz="2400" dirty="0"/>
              <a:t> step response problem. </a:t>
            </a:r>
          </a:p>
        </p:txBody>
      </p:sp>
      <p:sp>
        <p:nvSpPr>
          <p:cNvPr id="4" name="Content Placeholder 3">
            <a:extLst>
              <a:ext uri="{FF2B5EF4-FFF2-40B4-BE49-F238E27FC236}">
                <a16:creationId xmlns:a16="http://schemas.microsoft.com/office/drawing/2014/main" id="{6B98A7E6-95F8-A322-1F16-A8979D1A37FF}"/>
              </a:ext>
            </a:extLst>
          </p:cNvPr>
          <p:cNvSpPr>
            <a:spLocks noGrp="1"/>
          </p:cNvSpPr>
          <p:nvPr>
            <p:ph sz="quarter" idx="13"/>
          </p:nvPr>
        </p:nvSpPr>
        <p:spPr>
          <a:xfrm>
            <a:off x="428065" y="1373111"/>
            <a:ext cx="386487" cy="405683"/>
          </a:xfrm>
        </p:spPr>
        <p:txBody>
          <a:bodyPr wrap="square">
            <a:spAutoFit/>
          </a:bodyPr>
          <a:lstStyle/>
          <a:p>
            <a:pPr marL="0" indent="0">
              <a:buNone/>
            </a:pPr>
            <a:r>
              <a:rPr lang="en-US" sz="2400" dirty="0"/>
              <a:t>As</a:t>
            </a:r>
          </a:p>
        </p:txBody>
      </p:sp>
      <p:graphicFrame>
        <p:nvGraphicFramePr>
          <p:cNvPr id="21" name="Object 20" descr="t right arrow, infinity,">
            <a:extLst>
              <a:ext uri="{FF2B5EF4-FFF2-40B4-BE49-F238E27FC236}">
                <a16:creationId xmlns:a16="http://schemas.microsoft.com/office/drawing/2014/main" id="{28460FFB-6F96-5D98-BB9F-6A505F937965}"/>
              </a:ext>
            </a:extLst>
          </p:cNvPr>
          <p:cNvGraphicFramePr>
            <a:graphicFrameLocks noChangeAspect="1"/>
          </p:cNvGraphicFramePr>
          <p:nvPr/>
        </p:nvGraphicFramePr>
        <p:xfrm>
          <a:off x="907863" y="1415631"/>
          <a:ext cx="936625" cy="355600"/>
        </p:xfrm>
        <a:graphic>
          <a:graphicData uri="http://schemas.openxmlformats.org/presentationml/2006/ole">
            <mc:AlternateContent xmlns:mc="http://schemas.openxmlformats.org/markup-compatibility/2006">
              <mc:Choice xmlns:v="urn:schemas-microsoft-com:vml" Requires="v">
                <p:oleObj name="Equation" r:id="rId5" imgW="457200" imgH="190440" progId="Equation.DSMT4">
                  <p:embed/>
                </p:oleObj>
              </mc:Choice>
              <mc:Fallback>
                <p:oleObj name="Equation" r:id="rId5" imgW="457200" imgH="190440" progId="Equation.DSMT4">
                  <p:embed/>
                  <p:pic>
                    <p:nvPicPr>
                      <p:cNvPr id="21" name="Object 20" descr="t right arrow, infinity,">
                        <a:extLst>
                          <a:ext uri="{FF2B5EF4-FFF2-40B4-BE49-F238E27FC236}">
                            <a16:creationId xmlns:a16="http://schemas.microsoft.com/office/drawing/2014/main" id="{0BDBE07F-F028-7A83-BA02-4B93DA12F8AC}"/>
                          </a:ext>
                        </a:extLst>
                      </p:cNvPr>
                      <p:cNvPicPr>
                        <a:picLocks noChangeAspect="1" noChangeArrowheads="1"/>
                      </p:cNvPicPr>
                      <p:nvPr/>
                    </p:nvPicPr>
                    <p:blipFill>
                      <a:blip r:embed="rId6"/>
                      <a:srcRect/>
                      <a:stretch>
                        <a:fillRect/>
                      </a:stretch>
                    </p:blipFill>
                    <p:spPr bwMode="auto">
                      <a:xfrm>
                        <a:off x="907863" y="1415631"/>
                        <a:ext cx="936625" cy="35560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B3D2EEEB-6209-BC8D-99FB-7B7B12270477}"/>
              </a:ext>
            </a:extLst>
          </p:cNvPr>
          <p:cNvSpPr>
            <a:spLocks noGrp="1"/>
          </p:cNvSpPr>
          <p:nvPr>
            <p:ph sz="quarter" idx="14"/>
          </p:nvPr>
        </p:nvSpPr>
        <p:spPr>
          <a:xfrm>
            <a:off x="1937799" y="1375585"/>
            <a:ext cx="4467608" cy="405683"/>
          </a:xfrm>
        </p:spPr>
        <p:txBody>
          <a:bodyPr wrap="square">
            <a:spAutoFit/>
          </a:bodyPr>
          <a:lstStyle/>
          <a:p>
            <a:pPr marL="0" indent="0">
              <a:buNone/>
            </a:pPr>
            <a:r>
              <a:rPr lang="en-US" sz="2400" dirty="0"/>
              <a:t>the capacitor can be replaced by</a:t>
            </a:r>
          </a:p>
        </p:txBody>
      </p:sp>
      <p:pic>
        <p:nvPicPr>
          <p:cNvPr id="22" name="Picture 2" descr="A circuit diagram shows a current source with current I subscript s as the leftmost wire in the circuit. Resistor R and capacitor C respectively form the middle and rightmost wire in the circuit. In the top wire and between the leftmost wire and the middle wire is a switch which is closed when time t is zero. Voltage v subscript c exists across capacitor C, and has positive polarity at the top node and negative polarity at the bottom.">
            <a:extLst>
              <a:ext uri="{FF2B5EF4-FFF2-40B4-BE49-F238E27FC236}">
                <a16:creationId xmlns:a16="http://schemas.microsoft.com/office/drawing/2014/main" id="{DF4791DD-1A11-89FC-9307-30E4AACC0350}"/>
              </a:ext>
            </a:extLst>
          </p:cNvPr>
          <p:cNvPicPr>
            <a:picLocks noChangeAspect="1" noChangeArrowheads="1"/>
          </p:cNvPicPr>
          <p:nvPr/>
        </p:nvPicPr>
        <p:blipFill>
          <a:blip r:embed="rId7"/>
          <a:stretch>
            <a:fillRect/>
          </a:stretch>
        </p:blipFill>
        <p:spPr bwMode="auto">
          <a:xfrm>
            <a:off x="2380480" y="2058847"/>
            <a:ext cx="4329250" cy="2103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435" descr="Check mark">
            <a:extLst>
              <a:ext uri="{FF2B5EF4-FFF2-40B4-BE49-F238E27FC236}">
                <a16:creationId xmlns:a16="http://schemas.microsoft.com/office/drawing/2014/main" id="{5C535A6B-ABFA-FD97-DF8D-184B719722D1}"/>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444201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C636BC59-C54F-CC66-9F9A-FF3DFCF340E1}"/>
              </a:ext>
            </a:extLst>
          </p:cNvPr>
          <p:cNvSpPr>
            <a:spLocks noGrp="1"/>
          </p:cNvSpPr>
          <p:nvPr>
            <p:ph sz="quarter" idx="15"/>
          </p:nvPr>
        </p:nvSpPr>
        <p:spPr>
          <a:xfrm>
            <a:off x="1376175" y="4377015"/>
            <a:ext cx="2403547" cy="405683"/>
          </a:xfrm>
        </p:spPr>
        <p:txBody>
          <a:bodyPr wrap="square">
            <a:spAutoFit/>
          </a:bodyPr>
          <a:lstStyle/>
          <a:p>
            <a:pPr marL="0" indent="0">
              <a:buNone/>
              <a:defRPr/>
            </a:pPr>
            <a:r>
              <a:rPr lang="en-US" altLang="en-US" sz="2400" dirty="0">
                <a:solidFill>
                  <a:srgbClr val="007FA3"/>
                </a:solidFill>
              </a:rPr>
              <a:t>A.</a:t>
            </a:r>
            <a:r>
              <a:rPr lang="en-US" altLang="en-US" sz="2400" dirty="0"/>
              <a:t> An open circuit</a:t>
            </a:r>
            <a:endParaRPr lang="en-US" sz="2400" dirty="0"/>
          </a:p>
        </p:txBody>
      </p:sp>
      <p:pic>
        <p:nvPicPr>
          <p:cNvPr id="24" name="Picture 1434" descr="Cross mark">
            <a:extLst>
              <a:ext uri="{FF2B5EF4-FFF2-40B4-BE49-F238E27FC236}">
                <a16:creationId xmlns:a16="http://schemas.microsoft.com/office/drawing/2014/main" id="{A419321E-EFD6-3C84-B329-6A69171BE324}"/>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15802" y="496869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F7D8079C-CB69-B363-1C6A-01266CCF61EC}"/>
              </a:ext>
            </a:extLst>
          </p:cNvPr>
          <p:cNvSpPr>
            <a:spLocks noGrp="1"/>
          </p:cNvSpPr>
          <p:nvPr>
            <p:ph sz="quarter" idx="16"/>
          </p:nvPr>
        </p:nvSpPr>
        <p:spPr>
          <a:xfrm>
            <a:off x="1376175" y="4950740"/>
            <a:ext cx="2218170" cy="405683"/>
          </a:xfrm>
        </p:spPr>
        <p:txBody>
          <a:bodyPr wrap="square">
            <a:spAutoFit/>
          </a:bodyPr>
          <a:lstStyle/>
          <a:p>
            <a:pPr marL="0" indent="0">
              <a:buNone/>
            </a:pPr>
            <a:r>
              <a:rPr lang="en-US" altLang="en-US" sz="2400" dirty="0">
                <a:solidFill>
                  <a:srgbClr val="007FA3"/>
                </a:solidFill>
              </a:rPr>
              <a:t>B.</a:t>
            </a:r>
            <a:r>
              <a:rPr lang="en-US" altLang="en-US" sz="2400" dirty="0"/>
              <a:t> A short circuit</a:t>
            </a:r>
            <a:endParaRPr lang="en-US" sz="2400" dirty="0"/>
          </a:p>
        </p:txBody>
      </p:sp>
      <p:pic>
        <p:nvPicPr>
          <p:cNvPr id="25" name="Picture 1436" descr="Cross mark">
            <a:extLst>
              <a:ext uri="{FF2B5EF4-FFF2-40B4-BE49-F238E27FC236}">
                <a16:creationId xmlns:a16="http://schemas.microsoft.com/office/drawing/2014/main" id="{BC3D6846-4195-F6E1-D84E-9F99F6B3D24E}"/>
              </a:ext>
            </a:extLst>
          </p:cNvPr>
          <p:cNvPicPr>
            <a:picLocks/>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15802" y="553109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E02C51EF-CA45-FD65-7CA4-7C86161CB1A5}"/>
              </a:ext>
            </a:extLst>
          </p:cNvPr>
          <p:cNvSpPr>
            <a:spLocks noGrp="1"/>
          </p:cNvSpPr>
          <p:nvPr>
            <p:ph sz="quarter" idx="17"/>
          </p:nvPr>
        </p:nvSpPr>
        <p:spPr>
          <a:xfrm>
            <a:off x="1354606" y="5519413"/>
            <a:ext cx="2879097" cy="405683"/>
          </a:xfrm>
        </p:spPr>
        <p:txBody>
          <a:bodyPr wrap="square">
            <a:spAutoFit/>
          </a:bodyPr>
          <a:lstStyle/>
          <a:p>
            <a:pPr marL="0" indent="0">
              <a:buNone/>
            </a:pPr>
            <a:r>
              <a:rPr lang="en-US" altLang="en-US" sz="2400" dirty="0">
                <a:solidFill>
                  <a:srgbClr val="007FA3"/>
                </a:solidFill>
              </a:rPr>
              <a:t>C.</a:t>
            </a:r>
            <a:r>
              <a:rPr lang="en-US" altLang="en-US" sz="2400" dirty="0"/>
              <a:t> A constant current</a:t>
            </a:r>
            <a:endParaRPr lang="en-US" sz="2400" dirty="0"/>
          </a:p>
        </p:txBody>
      </p:sp>
    </p:spTree>
    <p:extLst>
      <p:ext uri="{BB962C8B-B14F-4D97-AF65-F5344CB8AC3E}">
        <p14:creationId xmlns:p14="http://schemas.microsoft.com/office/powerpoint/2010/main" val="740790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8335-45EB-43E5-CFAA-35BAC7E2EA09}"/>
              </a:ext>
            </a:extLst>
          </p:cNvPr>
          <p:cNvSpPr>
            <a:spLocks noGrp="1"/>
          </p:cNvSpPr>
          <p:nvPr>
            <p:ph type="title"/>
          </p:nvPr>
        </p:nvSpPr>
        <p:spPr>
          <a:xfrm>
            <a:off x="430304" y="239075"/>
            <a:ext cx="8256496"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(10 of 10)</a:t>
            </a:r>
            <a:endParaRPr lang="en-US" sz="2600" dirty="0"/>
          </a:p>
        </p:txBody>
      </p:sp>
      <p:sp>
        <p:nvSpPr>
          <p:cNvPr id="3" name="Content Placeholder 2">
            <a:extLst>
              <a:ext uri="{FF2B5EF4-FFF2-40B4-BE49-F238E27FC236}">
                <a16:creationId xmlns:a16="http://schemas.microsoft.com/office/drawing/2014/main" id="{34E6198A-0EC3-7196-0FB9-E2211B71BA13}"/>
              </a:ext>
            </a:extLst>
          </p:cNvPr>
          <p:cNvSpPr>
            <a:spLocks noGrp="1"/>
          </p:cNvSpPr>
          <p:nvPr>
            <p:ph sz="quarter" idx="12"/>
          </p:nvPr>
        </p:nvSpPr>
        <p:spPr>
          <a:xfrm>
            <a:off x="430304" y="916782"/>
            <a:ext cx="7109014" cy="405683"/>
          </a:xfrm>
        </p:spPr>
        <p:txBody>
          <a:bodyPr wrap="square">
            <a:spAutoFit/>
          </a:bodyPr>
          <a:lstStyle/>
          <a:p>
            <a:pPr marL="0" indent="0">
              <a:buNone/>
            </a:pPr>
            <a:r>
              <a:rPr lang="en-US" sz="2400" dirty="0">
                <a:solidFill>
                  <a:schemeClr val="tx1"/>
                </a:solidFill>
              </a:rPr>
              <a:t>To evaluate the voltage drop across the capacitor as</a:t>
            </a:r>
          </a:p>
        </p:txBody>
      </p:sp>
      <p:graphicFrame>
        <p:nvGraphicFramePr>
          <p:cNvPr id="21" name="Object 20" descr="t right arrow, infinity,">
            <a:extLst>
              <a:ext uri="{FF2B5EF4-FFF2-40B4-BE49-F238E27FC236}">
                <a16:creationId xmlns:a16="http://schemas.microsoft.com/office/drawing/2014/main" id="{53745677-FA21-9BE4-0E5F-FA297A8B8402}"/>
              </a:ext>
            </a:extLst>
          </p:cNvPr>
          <p:cNvGraphicFramePr>
            <a:graphicFrameLocks noChangeAspect="1"/>
          </p:cNvGraphicFramePr>
          <p:nvPr>
            <p:extLst>
              <p:ext uri="{D42A27DB-BD31-4B8C-83A1-F6EECF244321}">
                <p14:modId xmlns:p14="http://schemas.microsoft.com/office/powerpoint/2010/main" val="3372143294"/>
              </p:ext>
            </p:extLst>
          </p:nvPr>
        </p:nvGraphicFramePr>
        <p:xfrm>
          <a:off x="7622427" y="966865"/>
          <a:ext cx="936625" cy="355600"/>
        </p:xfrm>
        <a:graphic>
          <a:graphicData uri="http://schemas.openxmlformats.org/presentationml/2006/ole">
            <mc:AlternateContent xmlns:mc="http://schemas.openxmlformats.org/markup-compatibility/2006">
              <mc:Choice xmlns:v="urn:schemas-microsoft-com:vml" Requires="v">
                <p:oleObj name="Equation" r:id="rId2" imgW="457200" imgH="190440" progId="Equation.DSMT4">
                  <p:embed/>
                </p:oleObj>
              </mc:Choice>
              <mc:Fallback>
                <p:oleObj name="Equation" r:id="rId2" imgW="457200" imgH="190440" progId="Equation.DSMT4">
                  <p:embed/>
                  <p:pic>
                    <p:nvPicPr>
                      <p:cNvPr id="21" name="Object 20">
                        <a:extLst>
                          <a:ext uri="{FF2B5EF4-FFF2-40B4-BE49-F238E27FC236}">
                            <a16:creationId xmlns:a16="http://schemas.microsoft.com/office/drawing/2014/main" id="{0BDBE07F-F028-7A83-BA02-4B93DA12F8AC}"/>
                          </a:ext>
                        </a:extLst>
                      </p:cNvPr>
                      <p:cNvPicPr>
                        <a:picLocks noChangeAspect="1" noChangeArrowheads="1"/>
                      </p:cNvPicPr>
                      <p:nvPr/>
                    </p:nvPicPr>
                    <p:blipFill>
                      <a:blip r:embed="rId3"/>
                      <a:srcRect/>
                      <a:stretch>
                        <a:fillRect/>
                      </a:stretch>
                    </p:blipFill>
                    <p:spPr bwMode="auto">
                      <a:xfrm>
                        <a:off x="7622427" y="966865"/>
                        <a:ext cx="936625" cy="355600"/>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63D76F83-D12B-31C3-B02C-F723D0DE8938}"/>
              </a:ext>
            </a:extLst>
          </p:cNvPr>
          <p:cNvSpPr>
            <a:spLocks noGrp="1"/>
          </p:cNvSpPr>
          <p:nvPr>
            <p:ph sz="quarter" idx="13"/>
          </p:nvPr>
        </p:nvSpPr>
        <p:spPr>
          <a:xfrm>
            <a:off x="428065" y="1429119"/>
            <a:ext cx="8245383" cy="1144347"/>
          </a:xfrm>
        </p:spPr>
        <p:txBody>
          <a:bodyPr wrap="square">
            <a:spAutoFit/>
          </a:bodyPr>
          <a:lstStyle/>
          <a:p>
            <a:pPr marL="0" indent="0">
              <a:spcBef>
                <a:spcPts val="600"/>
              </a:spcBef>
              <a:buClrTx/>
              <a:buNone/>
            </a:pPr>
            <a:r>
              <a:rPr lang="en-US" sz="2400" dirty="0">
                <a:solidFill>
                  <a:schemeClr val="tx1"/>
                </a:solidFill>
              </a:rPr>
              <a:t>close the switch and replace the capacitor with an open circuit. The voltage drop across the open circuit, positive at the top, is</a:t>
            </a:r>
            <a:endParaRPr lang="en-US" altLang="en-US" sz="2400" dirty="0">
              <a:solidFill>
                <a:schemeClr val="tx1"/>
              </a:solidFill>
            </a:endParaRPr>
          </a:p>
        </p:txBody>
      </p:sp>
      <p:pic>
        <p:nvPicPr>
          <p:cNvPr id="22" name="Picture 2" descr="A circuit diagram shows a current source with current I subscript s as the leftmost wire in the circuit. Resistor R and capacitor C respectively form the middle and rightmost wire in the circuit. In the top wire and between the leftmost wire and the middle wire is a switch which is closed when time t is zero. Voltage v subscript c exists across capacitor C, and has positive polarity at the top node and negative polarity at the bottom. ">
            <a:extLst>
              <a:ext uri="{FF2B5EF4-FFF2-40B4-BE49-F238E27FC236}">
                <a16:creationId xmlns:a16="http://schemas.microsoft.com/office/drawing/2014/main" id="{5C16BD63-1416-42FA-30B8-7469212FF5F0}"/>
              </a:ext>
            </a:extLst>
          </p:cNvPr>
          <p:cNvPicPr>
            <a:picLocks noChangeAspect="1" noChangeArrowheads="1"/>
          </p:cNvPicPr>
          <p:nvPr/>
        </p:nvPicPr>
        <p:blipFill>
          <a:blip r:embed="rId4"/>
          <a:stretch>
            <a:fillRect/>
          </a:stretch>
        </p:blipFill>
        <p:spPr bwMode="auto">
          <a:xfrm>
            <a:off x="2838443" y="2776927"/>
            <a:ext cx="3485045" cy="1693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109AE60A-8162-2C5D-1E70-402066EEEA4F}"/>
              </a:ext>
            </a:extLst>
          </p:cNvPr>
          <p:cNvSpPr>
            <a:spLocks noGrp="1"/>
          </p:cNvSpPr>
          <p:nvPr>
            <p:ph sz="quarter" idx="14"/>
          </p:nvPr>
        </p:nvSpPr>
        <p:spPr>
          <a:xfrm>
            <a:off x="1287732" y="4735238"/>
            <a:ext cx="602479" cy="405683"/>
          </a:xfrm>
        </p:spPr>
        <p:txBody>
          <a:bodyPr>
            <a:spAutoFit/>
          </a:bodyPr>
          <a:lstStyle/>
          <a:p>
            <a:pPr marL="0" indent="0">
              <a:buNone/>
            </a:pPr>
            <a:r>
              <a:rPr lang="en-US" sz="2400" dirty="0">
                <a:solidFill>
                  <a:srgbClr val="007FA3"/>
                </a:solidFill>
              </a:rPr>
              <a:t>A.</a:t>
            </a:r>
            <a:r>
              <a:rPr lang="en-US" sz="2400" dirty="0"/>
              <a:t> 0</a:t>
            </a:r>
          </a:p>
        </p:txBody>
      </p:sp>
      <p:sp>
        <p:nvSpPr>
          <p:cNvPr id="6" name="Content Placeholder 5">
            <a:extLst>
              <a:ext uri="{FF2B5EF4-FFF2-40B4-BE49-F238E27FC236}">
                <a16:creationId xmlns:a16="http://schemas.microsoft.com/office/drawing/2014/main" id="{DB773FAA-78B9-0830-2815-17855D524DA6}"/>
              </a:ext>
            </a:extLst>
          </p:cNvPr>
          <p:cNvSpPr>
            <a:spLocks noGrp="1"/>
          </p:cNvSpPr>
          <p:nvPr>
            <p:ph sz="quarter" idx="15"/>
          </p:nvPr>
        </p:nvSpPr>
        <p:spPr>
          <a:xfrm>
            <a:off x="1263547" y="5293455"/>
            <a:ext cx="342900" cy="405683"/>
          </a:xfrm>
        </p:spPr>
        <p:txBody>
          <a:bodyPr wrap="square">
            <a:spAutoFit/>
          </a:bodyPr>
          <a:lstStyle/>
          <a:p>
            <a:pPr marL="0" indent="0">
              <a:buNone/>
            </a:pPr>
            <a:r>
              <a:rPr lang="en-US" sz="2400" dirty="0">
                <a:solidFill>
                  <a:srgbClr val="007FA3"/>
                </a:solidFill>
              </a:rPr>
              <a:t>B.</a:t>
            </a:r>
          </a:p>
        </p:txBody>
      </p:sp>
      <p:graphicFrame>
        <p:nvGraphicFramePr>
          <p:cNvPr id="26" name="Object 25" descr="I subscript S baseline R.&#10;">
            <a:extLst>
              <a:ext uri="{FF2B5EF4-FFF2-40B4-BE49-F238E27FC236}">
                <a16:creationId xmlns:a16="http://schemas.microsoft.com/office/drawing/2014/main" id="{A02571F5-7CF5-FA3B-B278-CB117FEC7788}"/>
              </a:ext>
            </a:extLst>
          </p:cNvPr>
          <p:cNvGraphicFramePr>
            <a:graphicFrameLocks noChangeAspect="1"/>
          </p:cNvGraphicFramePr>
          <p:nvPr>
            <p:extLst>
              <p:ext uri="{D42A27DB-BD31-4B8C-83A1-F6EECF244321}">
                <p14:modId xmlns:p14="http://schemas.microsoft.com/office/powerpoint/2010/main" val="2988821987"/>
              </p:ext>
            </p:extLst>
          </p:nvPr>
        </p:nvGraphicFramePr>
        <p:xfrm>
          <a:off x="1616367" y="5295852"/>
          <a:ext cx="547688" cy="425450"/>
        </p:xfrm>
        <a:graphic>
          <a:graphicData uri="http://schemas.openxmlformats.org/presentationml/2006/ole">
            <mc:AlternateContent xmlns:mc="http://schemas.openxmlformats.org/markup-compatibility/2006">
              <mc:Choice xmlns:v="urn:schemas-microsoft-com:vml" Requires="v">
                <p:oleObj name="Equation" r:id="rId5" imgW="266400" imgH="228600" progId="Equation.DSMT4">
                  <p:embed/>
                </p:oleObj>
              </mc:Choice>
              <mc:Fallback>
                <p:oleObj name="Equation" r:id="rId5" imgW="266400" imgH="228600" progId="Equation.DSMT4">
                  <p:embed/>
                  <p:pic>
                    <p:nvPicPr>
                      <p:cNvPr id="21" name="Object 20">
                        <a:extLst>
                          <a:ext uri="{FF2B5EF4-FFF2-40B4-BE49-F238E27FC236}">
                            <a16:creationId xmlns:a16="http://schemas.microsoft.com/office/drawing/2014/main" id="{53745677-FA21-9BE4-0E5F-FA297A8B8402}"/>
                          </a:ext>
                        </a:extLst>
                      </p:cNvPr>
                      <p:cNvPicPr>
                        <a:picLocks noChangeAspect="1" noChangeArrowheads="1"/>
                      </p:cNvPicPr>
                      <p:nvPr/>
                    </p:nvPicPr>
                    <p:blipFill>
                      <a:blip r:embed="rId6"/>
                      <a:srcRect/>
                      <a:stretch>
                        <a:fillRect/>
                      </a:stretch>
                    </p:blipFill>
                    <p:spPr bwMode="auto">
                      <a:xfrm>
                        <a:off x="1616367" y="5295852"/>
                        <a:ext cx="547688" cy="425450"/>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63F925F9-4153-54A7-5FE2-7B491A6B6902}"/>
              </a:ext>
            </a:extLst>
          </p:cNvPr>
          <p:cNvSpPr>
            <a:spLocks noGrp="1"/>
          </p:cNvSpPr>
          <p:nvPr>
            <p:ph sz="quarter" idx="16"/>
          </p:nvPr>
        </p:nvSpPr>
        <p:spPr>
          <a:xfrm>
            <a:off x="1276447" y="5867572"/>
            <a:ext cx="1272789" cy="405683"/>
          </a:xfrm>
        </p:spPr>
        <p:txBody>
          <a:bodyPr/>
          <a:lstStyle/>
          <a:p>
            <a:pPr marL="0" indent="0">
              <a:buNone/>
            </a:pPr>
            <a:r>
              <a:rPr lang="en-US" sz="2400" dirty="0">
                <a:solidFill>
                  <a:srgbClr val="007FA3"/>
                </a:solidFill>
              </a:rPr>
              <a:t>C. </a:t>
            </a:r>
            <a:r>
              <a:rPr lang="en-US" altLang="en-US" sz="2400" dirty="0"/>
              <a:t>infinite</a:t>
            </a:r>
            <a:endParaRPr lang="en-US" sz="2400" dirty="0">
              <a:solidFill>
                <a:srgbClr val="007FA3"/>
              </a:solidFill>
            </a:endParaRPr>
          </a:p>
        </p:txBody>
      </p:sp>
    </p:spTree>
    <p:extLst>
      <p:ext uri="{BB962C8B-B14F-4D97-AF65-F5344CB8AC3E}">
        <p14:creationId xmlns:p14="http://schemas.microsoft.com/office/powerpoint/2010/main" val="2328486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C0FA-6D18-E398-5053-E307825E8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87682-C60B-034C-23B4-D8448599A1D7}"/>
              </a:ext>
            </a:extLst>
          </p:cNvPr>
          <p:cNvSpPr>
            <a:spLocks noGrp="1"/>
          </p:cNvSpPr>
          <p:nvPr>
            <p:ph type="title"/>
          </p:nvPr>
        </p:nvSpPr>
        <p:spPr>
          <a:xfrm>
            <a:off x="430304" y="239075"/>
            <a:ext cx="8256496" cy="559572"/>
          </a:xfrm>
        </p:spPr>
        <p:txBody>
          <a:bodyPr/>
          <a:lstStyle/>
          <a:p>
            <a:r>
              <a:rPr lang="en-US" sz="3400" noProof="0" dirty="0"/>
              <a:t>Chapter 7 – </a:t>
            </a:r>
            <a:r>
              <a:rPr lang="en-US" sz="3400" spc="-500" noProof="0" dirty="0"/>
              <a:t>R </a:t>
            </a:r>
            <a:r>
              <a:rPr lang="en-US" sz="3400" noProof="0" dirty="0"/>
              <a:t>L Step Response </a:t>
            </a:r>
            <a:r>
              <a:rPr lang="en-US" sz="2600" dirty="0">
                <a:latin typeface="Arial"/>
              </a:rPr>
              <a:t>(10 of 10)</a:t>
            </a:r>
            <a:endParaRPr lang="en-US" sz="2600" dirty="0"/>
          </a:p>
        </p:txBody>
      </p:sp>
      <p:sp>
        <p:nvSpPr>
          <p:cNvPr id="3" name="Content Placeholder 2">
            <a:extLst>
              <a:ext uri="{FF2B5EF4-FFF2-40B4-BE49-F238E27FC236}">
                <a16:creationId xmlns:a16="http://schemas.microsoft.com/office/drawing/2014/main" id="{2887A7A8-07DB-2B66-CAD2-D586BE1054AD}"/>
              </a:ext>
            </a:extLst>
          </p:cNvPr>
          <p:cNvSpPr>
            <a:spLocks noGrp="1"/>
          </p:cNvSpPr>
          <p:nvPr>
            <p:ph sz="quarter" idx="12"/>
          </p:nvPr>
        </p:nvSpPr>
        <p:spPr>
          <a:xfrm>
            <a:off x="430304" y="916782"/>
            <a:ext cx="7109014" cy="405683"/>
          </a:xfrm>
        </p:spPr>
        <p:txBody>
          <a:bodyPr wrap="square">
            <a:spAutoFit/>
          </a:bodyPr>
          <a:lstStyle/>
          <a:p>
            <a:pPr marL="0" indent="0">
              <a:buNone/>
            </a:pPr>
            <a:r>
              <a:rPr lang="en-US" sz="2400" dirty="0">
                <a:solidFill>
                  <a:schemeClr val="tx1"/>
                </a:solidFill>
              </a:rPr>
              <a:t>To evaluate the voltage drop across the capacitor as</a:t>
            </a:r>
          </a:p>
        </p:txBody>
      </p:sp>
      <p:graphicFrame>
        <p:nvGraphicFramePr>
          <p:cNvPr id="21" name="Object 20" descr="t right arrow, infinity,">
            <a:extLst>
              <a:ext uri="{FF2B5EF4-FFF2-40B4-BE49-F238E27FC236}">
                <a16:creationId xmlns:a16="http://schemas.microsoft.com/office/drawing/2014/main" id="{2045B293-1690-E48E-31C6-477AB2A65414}"/>
              </a:ext>
            </a:extLst>
          </p:cNvPr>
          <p:cNvGraphicFramePr>
            <a:graphicFrameLocks noChangeAspect="1"/>
          </p:cNvGraphicFramePr>
          <p:nvPr/>
        </p:nvGraphicFramePr>
        <p:xfrm>
          <a:off x="7622427" y="966865"/>
          <a:ext cx="936625" cy="355600"/>
        </p:xfrm>
        <a:graphic>
          <a:graphicData uri="http://schemas.openxmlformats.org/presentationml/2006/ole">
            <mc:AlternateContent xmlns:mc="http://schemas.openxmlformats.org/markup-compatibility/2006">
              <mc:Choice xmlns:v="urn:schemas-microsoft-com:vml" Requires="v">
                <p:oleObj name="Equation" r:id="rId5" imgW="457200" imgH="190440" progId="Equation.DSMT4">
                  <p:embed/>
                </p:oleObj>
              </mc:Choice>
              <mc:Fallback>
                <p:oleObj name="Equation" r:id="rId5" imgW="457200" imgH="190440" progId="Equation.DSMT4">
                  <p:embed/>
                  <p:pic>
                    <p:nvPicPr>
                      <p:cNvPr id="21" name="Object 20" descr="t right arrow, infinity,">
                        <a:extLst>
                          <a:ext uri="{FF2B5EF4-FFF2-40B4-BE49-F238E27FC236}">
                            <a16:creationId xmlns:a16="http://schemas.microsoft.com/office/drawing/2014/main" id="{53745677-FA21-9BE4-0E5F-FA297A8B8402}"/>
                          </a:ext>
                        </a:extLst>
                      </p:cNvPr>
                      <p:cNvPicPr>
                        <a:picLocks noChangeAspect="1" noChangeArrowheads="1"/>
                      </p:cNvPicPr>
                      <p:nvPr/>
                    </p:nvPicPr>
                    <p:blipFill>
                      <a:blip r:embed="rId6"/>
                      <a:srcRect/>
                      <a:stretch>
                        <a:fillRect/>
                      </a:stretch>
                    </p:blipFill>
                    <p:spPr bwMode="auto">
                      <a:xfrm>
                        <a:off x="7622427" y="966865"/>
                        <a:ext cx="936625" cy="355600"/>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2499669F-4B5C-1B1D-8E94-7B3721177260}"/>
              </a:ext>
            </a:extLst>
          </p:cNvPr>
          <p:cNvSpPr>
            <a:spLocks noGrp="1"/>
          </p:cNvSpPr>
          <p:nvPr>
            <p:ph sz="quarter" idx="13"/>
          </p:nvPr>
        </p:nvSpPr>
        <p:spPr>
          <a:xfrm>
            <a:off x="428065" y="1429119"/>
            <a:ext cx="8245383" cy="1144347"/>
          </a:xfrm>
        </p:spPr>
        <p:txBody>
          <a:bodyPr wrap="square">
            <a:spAutoFit/>
          </a:bodyPr>
          <a:lstStyle/>
          <a:p>
            <a:pPr marL="0" indent="0">
              <a:spcBef>
                <a:spcPts val="600"/>
              </a:spcBef>
              <a:buClrTx/>
              <a:buNone/>
            </a:pPr>
            <a:r>
              <a:rPr lang="en-US" sz="2400" dirty="0">
                <a:solidFill>
                  <a:schemeClr val="tx1"/>
                </a:solidFill>
              </a:rPr>
              <a:t>close the switch and replace the capacitor with an open circuit. The voltage drop across the open circuit, positive at the top, is</a:t>
            </a:r>
            <a:endParaRPr lang="en-US" altLang="en-US" sz="2400" dirty="0">
              <a:solidFill>
                <a:schemeClr val="tx1"/>
              </a:solidFill>
            </a:endParaRPr>
          </a:p>
        </p:txBody>
      </p:sp>
      <p:pic>
        <p:nvPicPr>
          <p:cNvPr id="22" name="Picture 2" descr="A circuit diagram shows a current source with current I subscript s as the leftmost wire in the circuit. Resistor R and capacitor C respectively form the middle and rightmost wire in the circuit. In the top wire and between the leftmost wire and the middle wire is a switch which is closed when time t is zero. Voltage v subscript c exists across capacitor C, and has positive polarity at the top node and negative polarity at the bottom. ">
            <a:extLst>
              <a:ext uri="{FF2B5EF4-FFF2-40B4-BE49-F238E27FC236}">
                <a16:creationId xmlns:a16="http://schemas.microsoft.com/office/drawing/2014/main" id="{3513D384-39B0-B806-827F-7063253B71AF}"/>
              </a:ext>
            </a:extLst>
          </p:cNvPr>
          <p:cNvPicPr>
            <a:picLocks noChangeAspect="1" noChangeArrowheads="1"/>
          </p:cNvPicPr>
          <p:nvPr/>
        </p:nvPicPr>
        <p:blipFill>
          <a:blip r:embed="rId7"/>
          <a:stretch>
            <a:fillRect/>
          </a:stretch>
        </p:blipFill>
        <p:spPr bwMode="auto">
          <a:xfrm>
            <a:off x="2838443" y="2776927"/>
            <a:ext cx="3485045" cy="1693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434" descr="Cross mark">
            <a:extLst>
              <a:ext uri="{FF2B5EF4-FFF2-40B4-BE49-F238E27FC236}">
                <a16:creationId xmlns:a16="http://schemas.microsoft.com/office/drawing/2014/main" id="{D8663D4B-3D1A-266A-2BCF-83D15D92BDDA}"/>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09625" y="475801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C67B2B67-6501-9847-006B-F0ADB1E64666}"/>
              </a:ext>
            </a:extLst>
          </p:cNvPr>
          <p:cNvSpPr>
            <a:spLocks noGrp="1"/>
          </p:cNvSpPr>
          <p:nvPr>
            <p:ph sz="quarter" idx="14"/>
          </p:nvPr>
        </p:nvSpPr>
        <p:spPr>
          <a:xfrm>
            <a:off x="1287732" y="4735238"/>
            <a:ext cx="602479" cy="405683"/>
          </a:xfrm>
        </p:spPr>
        <p:txBody>
          <a:bodyPr>
            <a:spAutoFit/>
          </a:bodyPr>
          <a:lstStyle/>
          <a:p>
            <a:pPr marL="0" indent="0">
              <a:buNone/>
            </a:pPr>
            <a:r>
              <a:rPr lang="en-US" sz="2400" dirty="0">
                <a:solidFill>
                  <a:srgbClr val="007FA3"/>
                </a:solidFill>
              </a:rPr>
              <a:t>A.</a:t>
            </a:r>
            <a:r>
              <a:rPr lang="en-US" sz="2400" dirty="0"/>
              <a:t> 0</a:t>
            </a:r>
          </a:p>
        </p:txBody>
      </p:sp>
      <p:pic>
        <p:nvPicPr>
          <p:cNvPr id="24" name="Picture 1435" descr="Check mark">
            <a:extLst>
              <a:ext uri="{FF2B5EF4-FFF2-40B4-BE49-F238E27FC236}">
                <a16:creationId xmlns:a16="http://schemas.microsoft.com/office/drawing/2014/main" id="{E58BE5B1-494A-470D-2C90-3238B80A0163}"/>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06837" y="532484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17EF4294-5319-B01B-7482-6C0901E10193}"/>
              </a:ext>
            </a:extLst>
          </p:cNvPr>
          <p:cNvSpPr>
            <a:spLocks noGrp="1"/>
          </p:cNvSpPr>
          <p:nvPr>
            <p:ph sz="quarter" idx="15"/>
          </p:nvPr>
        </p:nvSpPr>
        <p:spPr>
          <a:xfrm>
            <a:off x="1263547" y="5293455"/>
            <a:ext cx="342900" cy="405683"/>
          </a:xfrm>
        </p:spPr>
        <p:txBody>
          <a:bodyPr wrap="square">
            <a:spAutoFit/>
          </a:bodyPr>
          <a:lstStyle/>
          <a:p>
            <a:pPr marL="0" indent="0">
              <a:buNone/>
            </a:pPr>
            <a:r>
              <a:rPr lang="en-US" sz="2400" dirty="0">
                <a:solidFill>
                  <a:srgbClr val="007FA3"/>
                </a:solidFill>
              </a:rPr>
              <a:t>B.</a:t>
            </a:r>
          </a:p>
        </p:txBody>
      </p:sp>
      <p:graphicFrame>
        <p:nvGraphicFramePr>
          <p:cNvPr id="26" name="Object 25" descr="I subscript S baseline R.&#10;">
            <a:extLst>
              <a:ext uri="{FF2B5EF4-FFF2-40B4-BE49-F238E27FC236}">
                <a16:creationId xmlns:a16="http://schemas.microsoft.com/office/drawing/2014/main" id="{D44CE86B-EB4B-98CF-96F3-E072A3281AF2}"/>
              </a:ext>
            </a:extLst>
          </p:cNvPr>
          <p:cNvGraphicFramePr>
            <a:graphicFrameLocks noChangeAspect="1"/>
          </p:cNvGraphicFramePr>
          <p:nvPr/>
        </p:nvGraphicFramePr>
        <p:xfrm>
          <a:off x="1616367" y="5295852"/>
          <a:ext cx="547688" cy="425450"/>
        </p:xfrm>
        <a:graphic>
          <a:graphicData uri="http://schemas.openxmlformats.org/presentationml/2006/ole">
            <mc:AlternateContent xmlns:mc="http://schemas.openxmlformats.org/markup-compatibility/2006">
              <mc:Choice xmlns:v="urn:schemas-microsoft-com:vml" Requires="v">
                <p:oleObj name="Equation" r:id="rId10" imgW="266400" imgH="228600" progId="Equation.DSMT4">
                  <p:embed/>
                </p:oleObj>
              </mc:Choice>
              <mc:Fallback>
                <p:oleObj name="Equation" r:id="rId10" imgW="266400" imgH="228600" progId="Equation.DSMT4">
                  <p:embed/>
                  <p:pic>
                    <p:nvPicPr>
                      <p:cNvPr id="26" name="Object 25" descr="I subscript S baseline R.&#10;">
                        <a:extLst>
                          <a:ext uri="{FF2B5EF4-FFF2-40B4-BE49-F238E27FC236}">
                            <a16:creationId xmlns:a16="http://schemas.microsoft.com/office/drawing/2014/main" id="{A02571F5-7CF5-FA3B-B278-CB117FEC7788}"/>
                          </a:ext>
                        </a:extLst>
                      </p:cNvPr>
                      <p:cNvPicPr>
                        <a:picLocks noChangeAspect="1" noChangeArrowheads="1"/>
                      </p:cNvPicPr>
                      <p:nvPr/>
                    </p:nvPicPr>
                    <p:blipFill>
                      <a:blip r:embed="rId11"/>
                      <a:srcRect/>
                      <a:stretch>
                        <a:fillRect/>
                      </a:stretch>
                    </p:blipFill>
                    <p:spPr bwMode="auto">
                      <a:xfrm>
                        <a:off x="1616367" y="5295852"/>
                        <a:ext cx="547688" cy="425450"/>
                      </a:xfrm>
                      <a:prstGeom prst="rect">
                        <a:avLst/>
                      </a:prstGeom>
                      <a:noFill/>
                      <a:ln>
                        <a:noFill/>
                      </a:ln>
                    </p:spPr>
                  </p:pic>
                </p:oleObj>
              </mc:Fallback>
            </mc:AlternateContent>
          </a:graphicData>
        </a:graphic>
      </p:graphicFrame>
      <p:pic>
        <p:nvPicPr>
          <p:cNvPr id="25" name="Picture 1436" descr="Cross mark">
            <a:extLst>
              <a:ext uri="{FF2B5EF4-FFF2-40B4-BE49-F238E27FC236}">
                <a16:creationId xmlns:a16="http://schemas.microsoft.com/office/drawing/2014/main" id="{16F6AAD5-5FB7-1D7C-2018-4E489B985555}"/>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815802" y="588314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40BB0858-07C3-1D1B-DA0E-CC85802CB0E8}"/>
              </a:ext>
            </a:extLst>
          </p:cNvPr>
          <p:cNvSpPr>
            <a:spLocks noGrp="1"/>
          </p:cNvSpPr>
          <p:nvPr>
            <p:ph sz="quarter" idx="16"/>
          </p:nvPr>
        </p:nvSpPr>
        <p:spPr>
          <a:xfrm>
            <a:off x="1276447" y="5867572"/>
            <a:ext cx="1272789" cy="405683"/>
          </a:xfrm>
        </p:spPr>
        <p:txBody>
          <a:bodyPr/>
          <a:lstStyle/>
          <a:p>
            <a:pPr marL="0" indent="0">
              <a:buNone/>
            </a:pPr>
            <a:r>
              <a:rPr lang="en-US" sz="2400" dirty="0">
                <a:solidFill>
                  <a:srgbClr val="007FA3"/>
                </a:solidFill>
              </a:rPr>
              <a:t>C. </a:t>
            </a:r>
            <a:r>
              <a:rPr lang="en-US" altLang="en-US" sz="2400" dirty="0"/>
              <a:t>infinite</a:t>
            </a:r>
            <a:endParaRPr lang="en-US" sz="2400" dirty="0">
              <a:solidFill>
                <a:srgbClr val="007FA3"/>
              </a:solidFill>
            </a:endParaRPr>
          </a:p>
        </p:txBody>
      </p:sp>
    </p:spTree>
    <p:extLst>
      <p:ext uri="{BB962C8B-B14F-4D97-AF65-F5344CB8AC3E}">
        <p14:creationId xmlns:p14="http://schemas.microsoft.com/office/powerpoint/2010/main" val="120947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CDB0-5CD1-DEC7-4074-D82AE48FEC3B}"/>
              </a:ext>
            </a:extLst>
          </p:cNvPr>
          <p:cNvSpPr>
            <a:spLocks noGrp="1"/>
          </p:cNvSpPr>
          <p:nvPr>
            <p:ph type="title"/>
          </p:nvPr>
        </p:nvSpPr>
        <p:spPr>
          <a:xfrm>
            <a:off x="428336" y="164466"/>
            <a:ext cx="8247352" cy="590349"/>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a:t>
            </a:r>
          </a:p>
        </p:txBody>
      </p:sp>
      <p:sp>
        <p:nvSpPr>
          <p:cNvPr id="3" name="Content Placeholder 2">
            <a:extLst>
              <a:ext uri="{FF2B5EF4-FFF2-40B4-BE49-F238E27FC236}">
                <a16:creationId xmlns:a16="http://schemas.microsoft.com/office/drawing/2014/main" id="{83B84FD4-D629-2E33-2D97-CE6812E778F3}"/>
              </a:ext>
            </a:extLst>
          </p:cNvPr>
          <p:cNvSpPr>
            <a:spLocks noGrp="1"/>
          </p:cNvSpPr>
          <p:nvPr>
            <p:ph sz="quarter" idx="12"/>
          </p:nvPr>
        </p:nvSpPr>
        <p:spPr>
          <a:xfrm>
            <a:off x="428065" y="849349"/>
            <a:ext cx="8256588" cy="1036625"/>
          </a:xfrm>
        </p:spPr>
        <p:txBody>
          <a:bodyPr wrap="square">
            <a:spAutoFit/>
          </a:bodyPr>
          <a:lstStyle/>
          <a:p>
            <a:pPr marL="0" indent="0">
              <a:spcBef>
                <a:spcPts val="600"/>
              </a:spcBef>
              <a:buClrTx/>
              <a:buNone/>
            </a:pPr>
            <a:r>
              <a:rPr lang="en-US" sz="2000" dirty="0"/>
              <a:t>A general solution method:</a:t>
            </a:r>
          </a:p>
          <a:p>
            <a:pPr marL="0" indent="0" fontAlgn="auto">
              <a:spcBef>
                <a:spcPts val="600"/>
              </a:spcBef>
              <a:spcAft>
                <a:spcPts val="0"/>
              </a:spcAft>
              <a:buNone/>
              <a:defRPr/>
            </a:pPr>
            <a:r>
              <a:rPr lang="en-US" sz="2000" dirty="0"/>
              <a:t>Step 1 – Identify the variable </a:t>
            </a:r>
            <a:r>
              <a:rPr lang="en-US" sz="2000" i="1" dirty="0"/>
              <a:t>x</a:t>
            </a:r>
            <a:r>
              <a:rPr lang="en-US" sz="2000" dirty="0"/>
              <a:t>(</a:t>
            </a:r>
            <a:r>
              <a:rPr lang="en-US" sz="2000" i="1" dirty="0"/>
              <a:t>t</a:t>
            </a:r>
            <a:r>
              <a:rPr lang="en-US" sz="2000" dirty="0"/>
              <a:t>), which is the inductor current for </a:t>
            </a:r>
            <a:r>
              <a:rPr lang="en-US" sz="2000" i="1" dirty="0"/>
              <a:t>RL</a:t>
            </a:r>
            <a:r>
              <a:rPr lang="en-US" sz="2000" dirty="0"/>
              <a:t> circuits and capacitor voltage for </a:t>
            </a:r>
            <a:r>
              <a:rPr lang="en-US" sz="2000" i="1" spc="-200" dirty="0"/>
              <a:t>R </a:t>
            </a:r>
            <a:r>
              <a:rPr lang="en-US" sz="2000" i="1" dirty="0"/>
              <a:t>C</a:t>
            </a:r>
            <a:r>
              <a:rPr lang="en-US" sz="2000" dirty="0"/>
              <a:t> circuits.</a:t>
            </a:r>
          </a:p>
        </p:txBody>
      </p:sp>
      <p:sp>
        <p:nvSpPr>
          <p:cNvPr id="4" name="Content Placeholder 3">
            <a:extLst>
              <a:ext uri="{FF2B5EF4-FFF2-40B4-BE49-F238E27FC236}">
                <a16:creationId xmlns:a16="http://schemas.microsoft.com/office/drawing/2014/main" id="{C4050BB5-5256-F0F0-0312-B0E24F331799}"/>
              </a:ext>
            </a:extLst>
          </p:cNvPr>
          <p:cNvSpPr>
            <a:spLocks noGrp="1"/>
          </p:cNvSpPr>
          <p:nvPr>
            <p:ph sz="quarter" idx="13"/>
          </p:nvPr>
        </p:nvSpPr>
        <p:spPr>
          <a:xfrm>
            <a:off x="428336" y="1955465"/>
            <a:ext cx="3847829" cy="344128"/>
          </a:xfrm>
        </p:spPr>
        <p:txBody>
          <a:bodyPr wrap="square">
            <a:spAutoFit/>
          </a:bodyPr>
          <a:lstStyle/>
          <a:p>
            <a:pPr marL="0" indent="0">
              <a:buNone/>
            </a:pPr>
            <a:r>
              <a:rPr lang="en-US" sz="2000" dirty="0"/>
              <a:t>Step 2 – Calculate the initial value</a:t>
            </a:r>
          </a:p>
        </p:txBody>
      </p:sp>
      <p:graphicFrame>
        <p:nvGraphicFramePr>
          <p:cNvPr id="21" name="Object 20" descr="X subscript 0.&#10;">
            <a:extLst>
              <a:ext uri="{FF2B5EF4-FFF2-40B4-BE49-F238E27FC236}">
                <a16:creationId xmlns:a16="http://schemas.microsoft.com/office/drawing/2014/main" id="{A02EA423-DF11-FF9F-9310-6782AB080E5E}"/>
              </a:ext>
            </a:extLst>
          </p:cNvPr>
          <p:cNvGraphicFramePr>
            <a:graphicFrameLocks noChangeAspect="1"/>
          </p:cNvGraphicFramePr>
          <p:nvPr>
            <p:extLst>
              <p:ext uri="{D42A27DB-BD31-4B8C-83A1-F6EECF244321}">
                <p14:modId xmlns:p14="http://schemas.microsoft.com/office/powerpoint/2010/main" val="3282580961"/>
              </p:ext>
            </p:extLst>
          </p:nvPr>
        </p:nvGraphicFramePr>
        <p:xfrm>
          <a:off x="4351111" y="1986592"/>
          <a:ext cx="402647" cy="386773"/>
        </p:xfrm>
        <a:graphic>
          <a:graphicData uri="http://schemas.openxmlformats.org/presentationml/2006/ole">
            <mc:AlternateContent xmlns:mc="http://schemas.openxmlformats.org/markup-compatibility/2006">
              <mc:Choice xmlns:v="urn:schemas-microsoft-com:vml" Requires="v">
                <p:oleObj name="Equation" r:id="rId2" imgW="215640" imgH="228600" progId="Equation.DSMT4">
                  <p:embed/>
                </p:oleObj>
              </mc:Choice>
              <mc:Fallback>
                <p:oleObj name="Equation" r:id="rId2" imgW="215640" imgH="228600" progId="Equation.DSMT4">
                  <p:embed/>
                  <p:pic>
                    <p:nvPicPr>
                      <p:cNvPr id="26" name="Object 25">
                        <a:extLst>
                          <a:ext uri="{FF2B5EF4-FFF2-40B4-BE49-F238E27FC236}">
                            <a16:creationId xmlns:a16="http://schemas.microsoft.com/office/drawing/2014/main" id="{A02571F5-7CF5-FA3B-B278-CB117FEC7788}"/>
                          </a:ext>
                        </a:extLst>
                      </p:cNvPr>
                      <p:cNvPicPr>
                        <a:picLocks noChangeAspect="1" noChangeArrowheads="1"/>
                      </p:cNvPicPr>
                      <p:nvPr/>
                    </p:nvPicPr>
                    <p:blipFill>
                      <a:blip r:embed="rId3"/>
                      <a:srcRect/>
                      <a:stretch>
                        <a:fillRect/>
                      </a:stretch>
                    </p:blipFill>
                    <p:spPr bwMode="auto">
                      <a:xfrm>
                        <a:off x="4351111" y="1986592"/>
                        <a:ext cx="402647" cy="386773"/>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10A397AE-CA92-DDDF-784A-B2F1E0FDC666}"/>
              </a:ext>
            </a:extLst>
          </p:cNvPr>
          <p:cNvSpPr>
            <a:spLocks noGrp="1"/>
          </p:cNvSpPr>
          <p:nvPr>
            <p:ph sz="quarter" idx="14"/>
          </p:nvPr>
        </p:nvSpPr>
        <p:spPr>
          <a:xfrm>
            <a:off x="4828704" y="2001609"/>
            <a:ext cx="3846982" cy="344128"/>
          </a:xfrm>
        </p:spPr>
        <p:txBody>
          <a:bodyPr wrap="square">
            <a:spAutoFit/>
          </a:bodyPr>
          <a:lstStyle/>
          <a:p>
            <a:pPr marL="0" indent="0">
              <a:buNone/>
            </a:pPr>
            <a:r>
              <a:rPr lang="en-US" sz="2000" dirty="0"/>
              <a:t>by analyzing the circuit to find </a:t>
            </a:r>
            <a:r>
              <a:rPr lang="en-US" sz="2000" i="1" dirty="0"/>
              <a:t>x</a:t>
            </a:r>
            <a:r>
              <a:rPr lang="en-US" sz="2000" dirty="0"/>
              <a:t>(</a:t>
            </a:r>
            <a:r>
              <a:rPr lang="en-US" sz="2000" i="1" dirty="0"/>
              <a:t>t</a:t>
            </a:r>
            <a:r>
              <a:rPr lang="en-US" sz="2000" dirty="0"/>
              <a:t>)</a:t>
            </a:r>
          </a:p>
        </p:txBody>
      </p:sp>
      <p:sp>
        <p:nvSpPr>
          <p:cNvPr id="6" name="Content Placeholder 5">
            <a:extLst>
              <a:ext uri="{FF2B5EF4-FFF2-40B4-BE49-F238E27FC236}">
                <a16:creationId xmlns:a16="http://schemas.microsoft.com/office/drawing/2014/main" id="{5751C364-7054-5C37-88A6-283A5107535A}"/>
              </a:ext>
            </a:extLst>
          </p:cNvPr>
          <p:cNvSpPr>
            <a:spLocks noGrp="1"/>
          </p:cNvSpPr>
          <p:nvPr>
            <p:ph sz="quarter" idx="15"/>
          </p:nvPr>
        </p:nvSpPr>
        <p:spPr>
          <a:xfrm>
            <a:off x="428336" y="2365269"/>
            <a:ext cx="315735" cy="344128"/>
          </a:xfrm>
        </p:spPr>
        <p:txBody>
          <a:bodyPr wrap="square">
            <a:spAutoFit/>
          </a:bodyPr>
          <a:lstStyle/>
          <a:p>
            <a:pPr marL="0" indent="0">
              <a:buNone/>
            </a:pPr>
            <a:r>
              <a:rPr lang="en-US" sz="2000" dirty="0"/>
              <a:t>for</a:t>
            </a:r>
          </a:p>
        </p:txBody>
      </p:sp>
      <p:graphicFrame>
        <p:nvGraphicFramePr>
          <p:cNvPr id="22" name="Object 21" descr="t less than 0.">
            <a:extLst>
              <a:ext uri="{FF2B5EF4-FFF2-40B4-BE49-F238E27FC236}">
                <a16:creationId xmlns:a16="http://schemas.microsoft.com/office/drawing/2014/main" id="{0A56631F-C894-B099-124C-FD168725FCBE}"/>
              </a:ext>
            </a:extLst>
          </p:cNvPr>
          <p:cNvGraphicFramePr>
            <a:graphicFrameLocks noChangeAspect="1"/>
          </p:cNvGraphicFramePr>
          <p:nvPr>
            <p:extLst>
              <p:ext uri="{D42A27DB-BD31-4B8C-83A1-F6EECF244321}">
                <p14:modId xmlns:p14="http://schemas.microsoft.com/office/powerpoint/2010/main" val="3323198875"/>
              </p:ext>
            </p:extLst>
          </p:nvPr>
        </p:nvGraphicFramePr>
        <p:xfrm>
          <a:off x="801437" y="2395849"/>
          <a:ext cx="805295" cy="301625"/>
        </p:xfrm>
        <a:graphic>
          <a:graphicData uri="http://schemas.openxmlformats.org/presentationml/2006/ole">
            <mc:AlternateContent xmlns:mc="http://schemas.openxmlformats.org/markup-compatibility/2006">
              <mc:Choice xmlns:v="urn:schemas-microsoft-com:vml" Requires="v">
                <p:oleObj name="Equation" r:id="rId4" imgW="431640" imgH="177480" progId="Equation.DSMT4">
                  <p:embed/>
                </p:oleObj>
              </mc:Choice>
              <mc:Fallback>
                <p:oleObj name="Equation" r:id="rId4" imgW="431640" imgH="177480" progId="Equation.DSMT4">
                  <p:embed/>
                  <p:pic>
                    <p:nvPicPr>
                      <p:cNvPr id="21" name="Object 20">
                        <a:extLst>
                          <a:ext uri="{FF2B5EF4-FFF2-40B4-BE49-F238E27FC236}">
                            <a16:creationId xmlns:a16="http://schemas.microsoft.com/office/drawing/2014/main" id="{A02EA423-DF11-FF9F-9310-6782AB080E5E}"/>
                          </a:ext>
                        </a:extLst>
                      </p:cNvPr>
                      <p:cNvPicPr>
                        <a:picLocks noChangeAspect="1" noChangeArrowheads="1"/>
                      </p:cNvPicPr>
                      <p:nvPr/>
                    </p:nvPicPr>
                    <p:blipFill>
                      <a:blip r:embed="rId5"/>
                      <a:srcRect/>
                      <a:stretch>
                        <a:fillRect/>
                      </a:stretch>
                    </p:blipFill>
                    <p:spPr bwMode="auto">
                      <a:xfrm>
                        <a:off x="801437" y="2395849"/>
                        <a:ext cx="805295" cy="301625"/>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8059DBBC-A2D3-08B6-9DF7-CCE5AAB6AFCE}"/>
              </a:ext>
            </a:extLst>
          </p:cNvPr>
          <p:cNvSpPr>
            <a:spLocks noGrp="1"/>
          </p:cNvSpPr>
          <p:nvPr>
            <p:ph sz="quarter" idx="16"/>
          </p:nvPr>
        </p:nvSpPr>
        <p:spPr>
          <a:xfrm>
            <a:off x="428337" y="2753592"/>
            <a:ext cx="4143664" cy="344128"/>
          </a:xfrm>
        </p:spPr>
        <p:txBody>
          <a:bodyPr wrap="square">
            <a:spAutoFit/>
          </a:bodyPr>
          <a:lstStyle/>
          <a:p>
            <a:pPr marL="0" indent="0">
              <a:buNone/>
            </a:pPr>
            <a:r>
              <a:rPr lang="en-US" sz="2000" dirty="0"/>
              <a:t>Step 3 – Calculate the time constant</a:t>
            </a:r>
          </a:p>
        </p:txBody>
      </p:sp>
      <p:graphicFrame>
        <p:nvGraphicFramePr>
          <p:cNvPr id="23" name="Object 22" descr="Tau semicolon&#10;">
            <a:extLst>
              <a:ext uri="{FF2B5EF4-FFF2-40B4-BE49-F238E27FC236}">
                <a16:creationId xmlns:a16="http://schemas.microsoft.com/office/drawing/2014/main" id="{08302185-2E03-0F4A-6BE5-4CE4D872FD22}"/>
              </a:ext>
            </a:extLst>
          </p:cNvPr>
          <p:cNvGraphicFramePr>
            <a:graphicFrameLocks noChangeAspect="1"/>
          </p:cNvGraphicFramePr>
          <p:nvPr>
            <p:extLst>
              <p:ext uri="{D42A27DB-BD31-4B8C-83A1-F6EECF244321}">
                <p14:modId xmlns:p14="http://schemas.microsoft.com/office/powerpoint/2010/main" val="579424448"/>
              </p:ext>
            </p:extLst>
          </p:nvPr>
        </p:nvGraphicFramePr>
        <p:xfrm>
          <a:off x="4617290" y="2805861"/>
          <a:ext cx="312737" cy="306387"/>
        </p:xfrm>
        <a:graphic>
          <a:graphicData uri="http://schemas.openxmlformats.org/presentationml/2006/ole">
            <mc:AlternateContent xmlns:mc="http://schemas.openxmlformats.org/markup-compatibility/2006">
              <mc:Choice xmlns:v="urn:schemas-microsoft-com:vml" Requires="v">
                <p:oleObj name="Equation" r:id="rId6" imgW="152280" imgH="164880" progId="Equation.DSMT4">
                  <p:embed/>
                </p:oleObj>
              </mc:Choice>
              <mc:Fallback>
                <p:oleObj name="Equation" r:id="rId6" imgW="152280" imgH="164880" progId="Equation.DSMT4">
                  <p:embed/>
                  <p:pic>
                    <p:nvPicPr>
                      <p:cNvPr id="21" name="Object 20">
                        <a:extLst>
                          <a:ext uri="{FF2B5EF4-FFF2-40B4-BE49-F238E27FC236}">
                            <a16:creationId xmlns:a16="http://schemas.microsoft.com/office/drawing/2014/main" id="{A02EA423-DF11-FF9F-9310-6782AB080E5E}"/>
                          </a:ext>
                        </a:extLst>
                      </p:cNvPr>
                      <p:cNvPicPr>
                        <a:picLocks noChangeAspect="1" noChangeArrowheads="1"/>
                      </p:cNvPicPr>
                      <p:nvPr/>
                    </p:nvPicPr>
                    <p:blipFill>
                      <a:blip r:embed="rId7"/>
                      <a:srcRect/>
                      <a:stretch>
                        <a:fillRect/>
                      </a:stretch>
                    </p:blipFill>
                    <p:spPr bwMode="auto">
                      <a:xfrm>
                        <a:off x="4617290" y="2805861"/>
                        <a:ext cx="312737" cy="306387"/>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3CE33969-7CD3-DD30-0BEF-D891F94410AC}"/>
              </a:ext>
            </a:extLst>
          </p:cNvPr>
          <p:cNvSpPr>
            <a:spLocks noGrp="1"/>
          </p:cNvSpPr>
          <p:nvPr>
            <p:ph sz="quarter" idx="17"/>
          </p:nvPr>
        </p:nvSpPr>
        <p:spPr>
          <a:xfrm>
            <a:off x="4986002" y="2777487"/>
            <a:ext cx="1644647" cy="344128"/>
          </a:xfrm>
        </p:spPr>
        <p:txBody>
          <a:bodyPr wrap="square">
            <a:spAutoFit/>
          </a:bodyPr>
          <a:lstStyle/>
          <a:p>
            <a:pPr marL="0" indent="0">
              <a:buNone/>
            </a:pPr>
            <a:r>
              <a:rPr lang="en-US" sz="2000" dirty="0">
                <a:sym typeface="Symbol"/>
              </a:rPr>
              <a:t>for </a:t>
            </a:r>
            <a:r>
              <a:rPr lang="en-US" sz="2000" i="1" spc="-200" dirty="0">
                <a:sym typeface="Symbol"/>
              </a:rPr>
              <a:t>R </a:t>
            </a:r>
            <a:r>
              <a:rPr lang="en-US" sz="2000" i="1" dirty="0">
                <a:sym typeface="Symbol"/>
              </a:rPr>
              <a:t>L</a:t>
            </a:r>
            <a:r>
              <a:rPr lang="en-US" sz="2000" dirty="0">
                <a:sym typeface="Symbol"/>
              </a:rPr>
              <a:t> circuits,</a:t>
            </a:r>
            <a:endParaRPr lang="en-US" sz="2000" dirty="0"/>
          </a:p>
        </p:txBody>
      </p:sp>
      <p:graphicFrame>
        <p:nvGraphicFramePr>
          <p:cNvPr id="24" name="Object 23" descr="tau equals R over L">
            <a:extLst>
              <a:ext uri="{FF2B5EF4-FFF2-40B4-BE49-F238E27FC236}">
                <a16:creationId xmlns:a16="http://schemas.microsoft.com/office/drawing/2014/main" id="{DC7E1794-A046-7305-78DF-A859E27F0901}"/>
              </a:ext>
            </a:extLst>
          </p:cNvPr>
          <p:cNvGraphicFramePr>
            <a:graphicFrameLocks noChangeAspect="1"/>
          </p:cNvGraphicFramePr>
          <p:nvPr>
            <p:extLst>
              <p:ext uri="{D42A27DB-BD31-4B8C-83A1-F6EECF244321}">
                <p14:modId xmlns:p14="http://schemas.microsoft.com/office/powerpoint/2010/main" val="3520335337"/>
              </p:ext>
            </p:extLst>
          </p:nvPr>
        </p:nvGraphicFramePr>
        <p:xfrm>
          <a:off x="6686624" y="2792577"/>
          <a:ext cx="1194955" cy="329045"/>
        </p:xfrm>
        <a:graphic>
          <a:graphicData uri="http://schemas.openxmlformats.org/presentationml/2006/ole">
            <mc:AlternateContent xmlns:mc="http://schemas.openxmlformats.org/markup-compatibility/2006">
              <mc:Choice xmlns:v="urn:schemas-microsoft-com:vml" Requires="v">
                <p:oleObj name="Equation" r:id="rId8" imgW="583920" imgH="177480" progId="Equation.DSMT4">
                  <p:embed/>
                </p:oleObj>
              </mc:Choice>
              <mc:Fallback>
                <p:oleObj name="Equation" r:id="rId8" imgW="583920" imgH="177480" progId="Equation.DSMT4">
                  <p:embed/>
                  <p:pic>
                    <p:nvPicPr>
                      <p:cNvPr id="23" name="Object 22">
                        <a:extLst>
                          <a:ext uri="{FF2B5EF4-FFF2-40B4-BE49-F238E27FC236}">
                            <a16:creationId xmlns:a16="http://schemas.microsoft.com/office/drawing/2014/main" id="{08302185-2E03-0F4A-6BE5-4CE4D872FD22}"/>
                          </a:ext>
                        </a:extLst>
                      </p:cNvPr>
                      <p:cNvPicPr>
                        <a:picLocks noChangeAspect="1" noChangeArrowheads="1"/>
                      </p:cNvPicPr>
                      <p:nvPr/>
                    </p:nvPicPr>
                    <p:blipFill>
                      <a:blip r:embed="rId9"/>
                      <a:srcRect/>
                      <a:stretch>
                        <a:fillRect/>
                      </a:stretch>
                    </p:blipFill>
                    <p:spPr bwMode="auto">
                      <a:xfrm>
                        <a:off x="6686624" y="2792577"/>
                        <a:ext cx="1194955" cy="329045"/>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23AD12FC-EAAC-3923-EC02-5EE056A6E614}"/>
              </a:ext>
            </a:extLst>
          </p:cNvPr>
          <p:cNvSpPr>
            <a:spLocks noGrp="1"/>
          </p:cNvSpPr>
          <p:nvPr>
            <p:ph sz="quarter" idx="18"/>
          </p:nvPr>
        </p:nvSpPr>
        <p:spPr>
          <a:xfrm>
            <a:off x="428065" y="3180292"/>
            <a:ext cx="2207288" cy="344128"/>
          </a:xfrm>
        </p:spPr>
        <p:txBody>
          <a:bodyPr wrap="square">
            <a:spAutoFit/>
          </a:bodyPr>
          <a:lstStyle/>
          <a:p>
            <a:pPr marL="0" indent="0">
              <a:buNone/>
            </a:pPr>
            <a:r>
              <a:rPr lang="en-US" sz="2000" dirty="0">
                <a:sym typeface="Symbol"/>
              </a:rPr>
              <a:t>and for </a:t>
            </a:r>
            <a:r>
              <a:rPr lang="en-US" sz="2000" i="1" spc="-200" dirty="0">
                <a:sym typeface="Symbol"/>
              </a:rPr>
              <a:t>R </a:t>
            </a:r>
            <a:r>
              <a:rPr lang="en-US" sz="2000" i="1" dirty="0">
                <a:sym typeface="Symbol"/>
              </a:rPr>
              <a:t>C</a:t>
            </a:r>
            <a:r>
              <a:rPr lang="en-US" sz="2000" dirty="0">
                <a:sym typeface="Symbol"/>
              </a:rPr>
              <a:t> circuits,</a:t>
            </a:r>
            <a:endParaRPr lang="en-US" sz="2000" dirty="0"/>
          </a:p>
        </p:txBody>
      </p:sp>
      <p:graphicFrame>
        <p:nvGraphicFramePr>
          <p:cNvPr id="25" name="Object 24" descr="Tau equals R C,&#10;">
            <a:extLst>
              <a:ext uri="{FF2B5EF4-FFF2-40B4-BE49-F238E27FC236}">
                <a16:creationId xmlns:a16="http://schemas.microsoft.com/office/drawing/2014/main" id="{75E1DB00-A6E0-979B-1168-FF3B2E063FC2}"/>
              </a:ext>
            </a:extLst>
          </p:cNvPr>
          <p:cNvGraphicFramePr>
            <a:graphicFrameLocks noChangeAspect="1"/>
          </p:cNvGraphicFramePr>
          <p:nvPr>
            <p:extLst>
              <p:ext uri="{D42A27DB-BD31-4B8C-83A1-F6EECF244321}">
                <p14:modId xmlns:p14="http://schemas.microsoft.com/office/powerpoint/2010/main" val="1900684253"/>
              </p:ext>
            </p:extLst>
          </p:nvPr>
        </p:nvGraphicFramePr>
        <p:xfrm>
          <a:off x="2730804" y="3224658"/>
          <a:ext cx="991859" cy="321435"/>
        </p:xfrm>
        <a:graphic>
          <a:graphicData uri="http://schemas.openxmlformats.org/presentationml/2006/ole">
            <mc:AlternateContent xmlns:mc="http://schemas.openxmlformats.org/markup-compatibility/2006">
              <mc:Choice xmlns:v="urn:schemas-microsoft-com:vml" Requires="v">
                <p:oleObj name="Equation" r:id="rId10" imgW="533160" imgH="190440" progId="Equation.DSMT4">
                  <p:embed/>
                </p:oleObj>
              </mc:Choice>
              <mc:Fallback>
                <p:oleObj name="Equation" r:id="rId10" imgW="533160" imgH="190440" progId="Equation.DSMT4">
                  <p:embed/>
                  <p:pic>
                    <p:nvPicPr>
                      <p:cNvPr id="24" name="Object 23">
                        <a:extLst>
                          <a:ext uri="{FF2B5EF4-FFF2-40B4-BE49-F238E27FC236}">
                            <a16:creationId xmlns:a16="http://schemas.microsoft.com/office/drawing/2014/main" id="{DC7E1794-A046-7305-78DF-A859E27F0901}"/>
                          </a:ext>
                        </a:extLst>
                      </p:cNvPr>
                      <p:cNvPicPr>
                        <a:picLocks noChangeAspect="1" noChangeArrowheads="1"/>
                      </p:cNvPicPr>
                      <p:nvPr/>
                    </p:nvPicPr>
                    <p:blipFill>
                      <a:blip r:embed="rId11"/>
                      <a:srcRect/>
                      <a:stretch>
                        <a:fillRect/>
                      </a:stretch>
                    </p:blipFill>
                    <p:spPr bwMode="auto">
                      <a:xfrm>
                        <a:off x="2730804" y="3224658"/>
                        <a:ext cx="991859" cy="321435"/>
                      </a:xfrm>
                      <a:prstGeom prst="rect">
                        <a:avLst/>
                      </a:prstGeom>
                      <a:noFill/>
                      <a:ln>
                        <a:noFill/>
                      </a:ln>
                    </p:spPr>
                  </p:pic>
                </p:oleObj>
              </mc:Fallback>
            </mc:AlternateContent>
          </a:graphicData>
        </a:graphic>
      </p:graphicFrame>
      <p:sp>
        <p:nvSpPr>
          <p:cNvPr id="10" name="Content Placeholder 9">
            <a:extLst>
              <a:ext uri="{FF2B5EF4-FFF2-40B4-BE49-F238E27FC236}">
                <a16:creationId xmlns:a16="http://schemas.microsoft.com/office/drawing/2014/main" id="{79465BC1-3AF3-548F-10B0-9E2B9BAE08D6}"/>
              </a:ext>
            </a:extLst>
          </p:cNvPr>
          <p:cNvSpPr>
            <a:spLocks noGrp="1"/>
          </p:cNvSpPr>
          <p:nvPr>
            <p:ph sz="quarter" idx="19"/>
          </p:nvPr>
        </p:nvSpPr>
        <p:spPr>
          <a:xfrm>
            <a:off x="3895026" y="3207591"/>
            <a:ext cx="4143664" cy="344128"/>
          </a:xfrm>
        </p:spPr>
        <p:txBody>
          <a:bodyPr wrap="square">
            <a:spAutoFit/>
          </a:bodyPr>
          <a:lstStyle/>
          <a:p>
            <a:pPr marL="0" indent="0">
              <a:buNone/>
            </a:pPr>
            <a:r>
              <a:rPr lang="en-US" sz="2000" dirty="0">
                <a:sym typeface="Symbol"/>
              </a:rPr>
              <a:t>where </a:t>
            </a:r>
            <a:r>
              <a:rPr lang="en-US" sz="2000" i="1" dirty="0">
                <a:sym typeface="Symbol"/>
              </a:rPr>
              <a:t>R</a:t>
            </a:r>
            <a:r>
              <a:rPr lang="en-US" sz="2000" dirty="0">
                <a:sym typeface="Symbol"/>
              </a:rPr>
              <a:t> is the equivalent resistance</a:t>
            </a:r>
            <a:endParaRPr lang="en-US" sz="2000" dirty="0"/>
          </a:p>
        </p:txBody>
      </p:sp>
      <p:sp>
        <p:nvSpPr>
          <p:cNvPr id="11" name="Content Placeholder 10">
            <a:extLst>
              <a:ext uri="{FF2B5EF4-FFF2-40B4-BE49-F238E27FC236}">
                <a16:creationId xmlns:a16="http://schemas.microsoft.com/office/drawing/2014/main" id="{80DFCD10-C05F-7001-561C-150A04FDC9B6}"/>
              </a:ext>
            </a:extLst>
          </p:cNvPr>
          <p:cNvSpPr>
            <a:spLocks noGrp="1"/>
          </p:cNvSpPr>
          <p:nvPr>
            <p:ph sz="quarter" idx="20"/>
          </p:nvPr>
        </p:nvSpPr>
        <p:spPr>
          <a:xfrm>
            <a:off x="428337" y="3613830"/>
            <a:ext cx="4699476" cy="344128"/>
          </a:xfrm>
        </p:spPr>
        <p:txBody>
          <a:bodyPr wrap="square">
            <a:spAutoFit/>
          </a:bodyPr>
          <a:lstStyle/>
          <a:p>
            <a:pPr marL="0" indent="0">
              <a:buNone/>
            </a:pPr>
            <a:r>
              <a:rPr lang="en-US" sz="2000" dirty="0">
                <a:sym typeface="Symbol"/>
              </a:rPr>
              <a:t>connected to the inductor or capacitor for</a:t>
            </a:r>
            <a:endParaRPr lang="en-US" sz="2000" dirty="0"/>
          </a:p>
        </p:txBody>
      </p:sp>
      <p:graphicFrame>
        <p:nvGraphicFramePr>
          <p:cNvPr id="26" name="Object 25" descr="t is greater than or equal to 0.&#10;">
            <a:extLst>
              <a:ext uri="{FF2B5EF4-FFF2-40B4-BE49-F238E27FC236}">
                <a16:creationId xmlns:a16="http://schemas.microsoft.com/office/drawing/2014/main" id="{902491C7-4F61-D342-BEC7-D593697E0DD2}"/>
              </a:ext>
            </a:extLst>
          </p:cNvPr>
          <p:cNvGraphicFramePr>
            <a:graphicFrameLocks noChangeAspect="1"/>
          </p:cNvGraphicFramePr>
          <p:nvPr>
            <p:extLst>
              <p:ext uri="{D42A27DB-BD31-4B8C-83A1-F6EECF244321}">
                <p14:modId xmlns:p14="http://schemas.microsoft.com/office/powerpoint/2010/main" val="1033503358"/>
              </p:ext>
            </p:extLst>
          </p:nvPr>
        </p:nvGraphicFramePr>
        <p:xfrm>
          <a:off x="5134878" y="3664967"/>
          <a:ext cx="711488" cy="301625"/>
        </p:xfrm>
        <a:graphic>
          <a:graphicData uri="http://schemas.openxmlformats.org/presentationml/2006/ole">
            <mc:AlternateContent xmlns:mc="http://schemas.openxmlformats.org/markup-compatibility/2006">
              <mc:Choice xmlns:v="urn:schemas-microsoft-com:vml" Requires="v">
                <p:oleObj name="Equation" r:id="rId12" imgW="380880" imgH="177480" progId="Equation.DSMT4">
                  <p:embed/>
                </p:oleObj>
              </mc:Choice>
              <mc:Fallback>
                <p:oleObj name="Equation" r:id="rId12" imgW="380880" imgH="177480" progId="Equation.DSMT4">
                  <p:embed/>
                  <p:pic>
                    <p:nvPicPr>
                      <p:cNvPr id="22" name="Object 21">
                        <a:extLst>
                          <a:ext uri="{FF2B5EF4-FFF2-40B4-BE49-F238E27FC236}">
                            <a16:creationId xmlns:a16="http://schemas.microsoft.com/office/drawing/2014/main" id="{0A56631F-C894-B099-124C-FD168725FCBE}"/>
                          </a:ext>
                        </a:extLst>
                      </p:cNvPr>
                      <p:cNvPicPr>
                        <a:picLocks noChangeAspect="1" noChangeArrowheads="1"/>
                      </p:cNvPicPr>
                      <p:nvPr/>
                    </p:nvPicPr>
                    <p:blipFill>
                      <a:blip r:embed="rId13"/>
                      <a:srcRect/>
                      <a:stretch>
                        <a:fillRect/>
                      </a:stretch>
                    </p:blipFill>
                    <p:spPr bwMode="auto">
                      <a:xfrm>
                        <a:off x="5134878" y="3664967"/>
                        <a:ext cx="711488" cy="301625"/>
                      </a:xfrm>
                      <a:prstGeom prst="rect">
                        <a:avLst/>
                      </a:prstGeom>
                      <a:noFill/>
                      <a:ln>
                        <a:noFill/>
                      </a:ln>
                    </p:spPr>
                  </p:pic>
                </p:oleObj>
              </mc:Fallback>
            </mc:AlternateContent>
          </a:graphicData>
        </a:graphic>
      </p:graphicFrame>
      <p:sp>
        <p:nvSpPr>
          <p:cNvPr id="12" name="Content Placeholder 11">
            <a:extLst>
              <a:ext uri="{FF2B5EF4-FFF2-40B4-BE49-F238E27FC236}">
                <a16:creationId xmlns:a16="http://schemas.microsoft.com/office/drawing/2014/main" id="{8FAF5647-2E10-6807-7203-37475472E493}"/>
              </a:ext>
            </a:extLst>
          </p:cNvPr>
          <p:cNvSpPr>
            <a:spLocks noGrp="1"/>
          </p:cNvSpPr>
          <p:nvPr>
            <p:ph sz="quarter" idx="21"/>
          </p:nvPr>
        </p:nvSpPr>
        <p:spPr>
          <a:xfrm>
            <a:off x="428065" y="4014414"/>
            <a:ext cx="3729934" cy="344128"/>
          </a:xfrm>
        </p:spPr>
        <p:txBody>
          <a:bodyPr wrap="square">
            <a:spAutoFit/>
          </a:bodyPr>
          <a:lstStyle/>
          <a:p>
            <a:pPr marL="0" indent="0">
              <a:buNone/>
            </a:pPr>
            <a:r>
              <a:rPr lang="en-US" sz="2000" dirty="0">
                <a:sym typeface="Symbol"/>
              </a:rPr>
              <a:t>Step 4 – Calculate the final value</a:t>
            </a:r>
            <a:endParaRPr lang="en-US" sz="2000" dirty="0"/>
          </a:p>
        </p:txBody>
      </p:sp>
      <p:graphicFrame>
        <p:nvGraphicFramePr>
          <p:cNvPr id="27" name="Object 26" descr="X subscript f.&#10;">
            <a:extLst>
              <a:ext uri="{FF2B5EF4-FFF2-40B4-BE49-F238E27FC236}">
                <a16:creationId xmlns:a16="http://schemas.microsoft.com/office/drawing/2014/main" id="{5C022141-3F45-EE9E-2656-B789F4021C22}"/>
              </a:ext>
            </a:extLst>
          </p:cNvPr>
          <p:cNvGraphicFramePr>
            <a:graphicFrameLocks noChangeAspect="1"/>
          </p:cNvGraphicFramePr>
          <p:nvPr>
            <p:extLst>
              <p:ext uri="{D42A27DB-BD31-4B8C-83A1-F6EECF244321}">
                <p14:modId xmlns:p14="http://schemas.microsoft.com/office/powerpoint/2010/main" val="1747815130"/>
              </p:ext>
            </p:extLst>
          </p:nvPr>
        </p:nvGraphicFramePr>
        <p:xfrm>
          <a:off x="4232368" y="4059723"/>
          <a:ext cx="345051" cy="352924"/>
        </p:xfrm>
        <a:graphic>
          <a:graphicData uri="http://schemas.openxmlformats.org/presentationml/2006/ole">
            <mc:AlternateContent xmlns:mc="http://schemas.openxmlformats.org/markup-compatibility/2006">
              <mc:Choice xmlns:v="urn:schemas-microsoft-com:vml" Requires="v">
                <p:oleObj name="Equation" r:id="rId14" imgW="203040" imgH="228600" progId="Equation.DSMT4">
                  <p:embed/>
                </p:oleObj>
              </mc:Choice>
              <mc:Fallback>
                <p:oleObj name="Equation" r:id="rId14" imgW="203040" imgH="228600" progId="Equation.DSMT4">
                  <p:embed/>
                  <p:pic>
                    <p:nvPicPr>
                      <p:cNvPr id="26" name="Object 25">
                        <a:extLst>
                          <a:ext uri="{FF2B5EF4-FFF2-40B4-BE49-F238E27FC236}">
                            <a16:creationId xmlns:a16="http://schemas.microsoft.com/office/drawing/2014/main" id="{902491C7-4F61-D342-BEC7-D593697E0DD2}"/>
                          </a:ext>
                        </a:extLst>
                      </p:cNvPr>
                      <p:cNvPicPr>
                        <a:picLocks noChangeAspect="1" noChangeArrowheads="1"/>
                      </p:cNvPicPr>
                      <p:nvPr/>
                    </p:nvPicPr>
                    <p:blipFill>
                      <a:blip r:embed="rId15"/>
                      <a:srcRect/>
                      <a:stretch>
                        <a:fillRect/>
                      </a:stretch>
                    </p:blipFill>
                    <p:spPr bwMode="auto">
                      <a:xfrm>
                        <a:off x="4232368" y="4059723"/>
                        <a:ext cx="345051" cy="352924"/>
                      </a:xfrm>
                      <a:prstGeom prst="rect">
                        <a:avLst/>
                      </a:prstGeom>
                      <a:noFill/>
                      <a:ln>
                        <a:noFill/>
                      </a:ln>
                    </p:spPr>
                  </p:pic>
                </p:oleObj>
              </mc:Fallback>
            </mc:AlternateContent>
          </a:graphicData>
        </a:graphic>
      </p:graphicFrame>
      <p:sp>
        <p:nvSpPr>
          <p:cNvPr id="13" name="Content Placeholder 12">
            <a:extLst>
              <a:ext uri="{FF2B5EF4-FFF2-40B4-BE49-F238E27FC236}">
                <a16:creationId xmlns:a16="http://schemas.microsoft.com/office/drawing/2014/main" id="{0BBE60D4-5F69-66F1-123B-8E99E99FD382}"/>
              </a:ext>
            </a:extLst>
          </p:cNvPr>
          <p:cNvSpPr>
            <a:spLocks noGrp="1"/>
          </p:cNvSpPr>
          <p:nvPr>
            <p:ph sz="quarter" idx="22"/>
          </p:nvPr>
        </p:nvSpPr>
        <p:spPr>
          <a:xfrm>
            <a:off x="4656011" y="4012441"/>
            <a:ext cx="4019675" cy="344128"/>
          </a:xfrm>
        </p:spPr>
        <p:txBody>
          <a:bodyPr wrap="square">
            <a:spAutoFit/>
          </a:bodyPr>
          <a:lstStyle/>
          <a:p>
            <a:pPr marL="0" indent="0">
              <a:buNone/>
            </a:pPr>
            <a:r>
              <a:rPr lang="en-US" sz="2000" dirty="0">
                <a:sym typeface="Symbol"/>
              </a:rPr>
              <a:t>by analyzing the circuit to find </a:t>
            </a:r>
            <a:r>
              <a:rPr lang="en-US" sz="2000" i="1" dirty="0">
                <a:sym typeface="Symbol"/>
              </a:rPr>
              <a:t>x</a:t>
            </a:r>
            <a:r>
              <a:rPr lang="en-US" sz="2000" dirty="0">
                <a:sym typeface="Symbol"/>
              </a:rPr>
              <a:t>(</a:t>
            </a:r>
            <a:r>
              <a:rPr lang="en-US" sz="2000" i="1" dirty="0">
                <a:sym typeface="Symbol"/>
              </a:rPr>
              <a:t>t</a:t>
            </a:r>
            <a:r>
              <a:rPr lang="en-US" sz="2000" dirty="0">
                <a:sym typeface="Symbol"/>
              </a:rPr>
              <a:t>)</a:t>
            </a:r>
            <a:endParaRPr lang="en-US" sz="2000" dirty="0"/>
          </a:p>
        </p:txBody>
      </p:sp>
      <p:sp>
        <p:nvSpPr>
          <p:cNvPr id="14" name="Content Placeholder 13">
            <a:extLst>
              <a:ext uri="{FF2B5EF4-FFF2-40B4-BE49-F238E27FC236}">
                <a16:creationId xmlns:a16="http://schemas.microsoft.com/office/drawing/2014/main" id="{FC5B06CC-9E43-884D-D734-1E02AD5671DC}"/>
              </a:ext>
            </a:extLst>
          </p:cNvPr>
          <p:cNvSpPr>
            <a:spLocks noGrp="1"/>
          </p:cNvSpPr>
          <p:nvPr>
            <p:ph sz="quarter" idx="23"/>
          </p:nvPr>
        </p:nvSpPr>
        <p:spPr>
          <a:xfrm>
            <a:off x="428337" y="4421057"/>
            <a:ext cx="316006" cy="344128"/>
          </a:xfrm>
        </p:spPr>
        <p:txBody>
          <a:bodyPr wrap="square">
            <a:spAutoFit/>
          </a:bodyPr>
          <a:lstStyle/>
          <a:p>
            <a:pPr marL="0" indent="0">
              <a:buNone/>
            </a:pPr>
            <a:r>
              <a:rPr lang="en-US" sz="2000" dirty="0">
                <a:sym typeface="Symbol"/>
              </a:rPr>
              <a:t>as</a:t>
            </a:r>
            <a:endParaRPr lang="en-US" sz="2000" dirty="0"/>
          </a:p>
        </p:txBody>
      </p:sp>
      <p:graphicFrame>
        <p:nvGraphicFramePr>
          <p:cNvPr id="28" name="Object 27" descr="t right arrow, infinity.">
            <a:extLst>
              <a:ext uri="{FF2B5EF4-FFF2-40B4-BE49-F238E27FC236}">
                <a16:creationId xmlns:a16="http://schemas.microsoft.com/office/drawing/2014/main" id="{8A255EE0-EED7-BA2D-C170-3A393ADF9727}"/>
              </a:ext>
            </a:extLst>
          </p:cNvPr>
          <p:cNvGraphicFramePr>
            <a:graphicFrameLocks noChangeAspect="1"/>
          </p:cNvGraphicFramePr>
          <p:nvPr>
            <p:extLst>
              <p:ext uri="{D42A27DB-BD31-4B8C-83A1-F6EECF244321}">
                <p14:modId xmlns:p14="http://schemas.microsoft.com/office/powerpoint/2010/main" val="2415145621"/>
              </p:ext>
            </p:extLst>
          </p:nvPr>
        </p:nvGraphicFramePr>
        <p:xfrm>
          <a:off x="763620" y="4468767"/>
          <a:ext cx="851477" cy="301625"/>
        </p:xfrm>
        <a:graphic>
          <a:graphicData uri="http://schemas.openxmlformats.org/presentationml/2006/ole">
            <mc:AlternateContent xmlns:mc="http://schemas.openxmlformats.org/markup-compatibility/2006">
              <mc:Choice xmlns:v="urn:schemas-microsoft-com:vml" Requires="v">
                <p:oleObj name="Equation" r:id="rId16" imgW="457200" imgH="177480" progId="Equation.DSMT4">
                  <p:embed/>
                </p:oleObj>
              </mc:Choice>
              <mc:Fallback>
                <p:oleObj name="Equation" r:id="rId16" imgW="457200" imgH="177480" progId="Equation.DSMT4">
                  <p:embed/>
                  <p:pic>
                    <p:nvPicPr>
                      <p:cNvPr id="21" name="Object 20">
                        <a:extLst>
                          <a:ext uri="{FF2B5EF4-FFF2-40B4-BE49-F238E27FC236}">
                            <a16:creationId xmlns:a16="http://schemas.microsoft.com/office/drawing/2014/main" id="{53745677-FA21-9BE4-0E5F-FA297A8B8402}"/>
                          </a:ext>
                        </a:extLst>
                      </p:cNvPr>
                      <p:cNvPicPr>
                        <a:picLocks noChangeAspect="1" noChangeArrowheads="1"/>
                      </p:cNvPicPr>
                      <p:nvPr/>
                    </p:nvPicPr>
                    <p:blipFill>
                      <a:blip r:embed="rId17"/>
                      <a:srcRect/>
                      <a:stretch>
                        <a:fillRect/>
                      </a:stretch>
                    </p:blipFill>
                    <p:spPr bwMode="auto">
                      <a:xfrm>
                        <a:off x="763620" y="4468767"/>
                        <a:ext cx="851477" cy="301625"/>
                      </a:xfrm>
                      <a:prstGeom prst="rect">
                        <a:avLst/>
                      </a:prstGeom>
                      <a:noFill/>
                      <a:ln>
                        <a:noFill/>
                      </a:ln>
                    </p:spPr>
                  </p:pic>
                </p:oleObj>
              </mc:Fallback>
            </mc:AlternateContent>
          </a:graphicData>
        </a:graphic>
      </p:graphicFrame>
      <p:sp>
        <p:nvSpPr>
          <p:cNvPr id="15" name="Content Placeholder 14">
            <a:extLst>
              <a:ext uri="{FF2B5EF4-FFF2-40B4-BE49-F238E27FC236}">
                <a16:creationId xmlns:a16="http://schemas.microsoft.com/office/drawing/2014/main" id="{D22698FA-FDEA-5A1F-E9AC-845F031F2235}"/>
              </a:ext>
            </a:extLst>
          </p:cNvPr>
          <p:cNvSpPr>
            <a:spLocks noGrp="1"/>
          </p:cNvSpPr>
          <p:nvPr>
            <p:ph sz="quarter" idx="24"/>
          </p:nvPr>
        </p:nvSpPr>
        <p:spPr>
          <a:xfrm>
            <a:off x="428335" y="4812159"/>
            <a:ext cx="8247351" cy="344128"/>
          </a:xfrm>
        </p:spPr>
        <p:txBody>
          <a:bodyPr wrap="square">
            <a:spAutoFit/>
          </a:bodyPr>
          <a:lstStyle/>
          <a:p>
            <a:pPr marL="0" indent="0">
              <a:spcBef>
                <a:spcPts val="600"/>
              </a:spcBef>
              <a:buNone/>
              <a:defRPr/>
            </a:pPr>
            <a:r>
              <a:rPr lang="en-US" sz="2000" dirty="0">
                <a:sym typeface="Symbol"/>
              </a:rPr>
              <a:t>Step 5 – Write the equation for </a:t>
            </a:r>
            <a:r>
              <a:rPr lang="en-US" sz="2000" i="1" dirty="0">
                <a:sym typeface="Symbol"/>
              </a:rPr>
              <a:t>x</a:t>
            </a:r>
            <a:r>
              <a:rPr lang="en-US" sz="2000" dirty="0">
                <a:sym typeface="Symbol"/>
              </a:rPr>
              <a:t>(</a:t>
            </a:r>
            <a:r>
              <a:rPr lang="en-US" sz="2000" i="1" dirty="0">
                <a:sym typeface="Symbol"/>
              </a:rPr>
              <a:t>t</a:t>
            </a:r>
            <a:r>
              <a:rPr lang="en-US" sz="2000" dirty="0">
                <a:sym typeface="Symbol"/>
              </a:rPr>
              <a:t>),</a:t>
            </a:r>
          </a:p>
        </p:txBody>
      </p:sp>
      <p:graphicFrame>
        <p:nvGraphicFramePr>
          <p:cNvPr id="29" name="Object 28" descr="x (t) equals X subscript f baseline plus Open Parenthesis X subscript 0 baseline minus X subscript f Close Parenthesis e to the negative t divided by tau power,&#10;">
            <a:extLst>
              <a:ext uri="{FF2B5EF4-FFF2-40B4-BE49-F238E27FC236}">
                <a16:creationId xmlns:a16="http://schemas.microsoft.com/office/drawing/2014/main" id="{B98A2E26-57D5-9FB9-35DA-A5F135A6A8E6}"/>
              </a:ext>
            </a:extLst>
          </p:cNvPr>
          <p:cNvGraphicFramePr>
            <a:graphicFrameLocks noChangeAspect="1"/>
          </p:cNvGraphicFramePr>
          <p:nvPr>
            <p:extLst>
              <p:ext uri="{D42A27DB-BD31-4B8C-83A1-F6EECF244321}">
                <p14:modId xmlns:p14="http://schemas.microsoft.com/office/powerpoint/2010/main" val="3708808197"/>
              </p:ext>
            </p:extLst>
          </p:nvPr>
        </p:nvGraphicFramePr>
        <p:xfrm>
          <a:off x="1152525" y="5294313"/>
          <a:ext cx="3360738" cy="409575"/>
        </p:xfrm>
        <a:graphic>
          <a:graphicData uri="http://schemas.openxmlformats.org/presentationml/2006/ole">
            <mc:AlternateContent xmlns:mc="http://schemas.openxmlformats.org/markup-compatibility/2006">
              <mc:Choice xmlns:v="urn:schemas-microsoft-com:vml" Requires="v">
                <p:oleObj name="Equation" r:id="rId18" imgW="1803240" imgH="241200" progId="Equation.DSMT4">
                  <p:embed/>
                </p:oleObj>
              </mc:Choice>
              <mc:Fallback>
                <p:oleObj name="Equation" r:id="rId18" imgW="1803240" imgH="241200" progId="Equation.DSMT4">
                  <p:embed/>
                  <p:pic>
                    <p:nvPicPr>
                      <p:cNvPr id="28" name="Object 27">
                        <a:extLst>
                          <a:ext uri="{FF2B5EF4-FFF2-40B4-BE49-F238E27FC236}">
                            <a16:creationId xmlns:a16="http://schemas.microsoft.com/office/drawing/2014/main" id="{8A255EE0-EED7-BA2D-C170-3A393ADF9727}"/>
                          </a:ext>
                        </a:extLst>
                      </p:cNvPr>
                      <p:cNvPicPr>
                        <a:picLocks noChangeAspect="1" noChangeArrowheads="1"/>
                      </p:cNvPicPr>
                      <p:nvPr/>
                    </p:nvPicPr>
                    <p:blipFill>
                      <a:blip r:embed="rId19"/>
                      <a:srcRect/>
                      <a:stretch>
                        <a:fillRect/>
                      </a:stretch>
                    </p:blipFill>
                    <p:spPr bwMode="auto">
                      <a:xfrm>
                        <a:off x="1152525" y="5294313"/>
                        <a:ext cx="3360738" cy="409575"/>
                      </a:xfrm>
                      <a:prstGeom prst="rect">
                        <a:avLst/>
                      </a:prstGeom>
                      <a:noFill/>
                      <a:ln>
                        <a:noFill/>
                      </a:ln>
                    </p:spPr>
                  </p:pic>
                </p:oleObj>
              </mc:Fallback>
            </mc:AlternateContent>
          </a:graphicData>
        </a:graphic>
      </p:graphicFrame>
      <p:sp>
        <p:nvSpPr>
          <p:cNvPr id="16" name="Content Placeholder 15">
            <a:extLst>
              <a:ext uri="{FF2B5EF4-FFF2-40B4-BE49-F238E27FC236}">
                <a16:creationId xmlns:a16="http://schemas.microsoft.com/office/drawing/2014/main" id="{57B779F1-C3BF-C66A-AD8F-DE487B153D93}"/>
              </a:ext>
            </a:extLst>
          </p:cNvPr>
          <p:cNvSpPr>
            <a:spLocks noGrp="1"/>
          </p:cNvSpPr>
          <p:nvPr>
            <p:ph sz="quarter" idx="25"/>
          </p:nvPr>
        </p:nvSpPr>
        <p:spPr>
          <a:xfrm>
            <a:off x="4611186" y="5291798"/>
            <a:ext cx="363224" cy="344128"/>
          </a:xfrm>
        </p:spPr>
        <p:txBody>
          <a:bodyPr/>
          <a:lstStyle/>
          <a:p>
            <a:pPr marL="0" indent="0">
              <a:buNone/>
            </a:pPr>
            <a:r>
              <a:rPr lang="en-US" sz="2000" dirty="0"/>
              <a:t>for</a:t>
            </a:r>
          </a:p>
        </p:txBody>
      </p:sp>
      <p:graphicFrame>
        <p:nvGraphicFramePr>
          <p:cNvPr id="30" name="Object 29" descr="t is greater than or equal to 0.&#10;">
            <a:extLst>
              <a:ext uri="{FF2B5EF4-FFF2-40B4-BE49-F238E27FC236}">
                <a16:creationId xmlns:a16="http://schemas.microsoft.com/office/drawing/2014/main" id="{5F80145C-1F7B-6BD2-B162-8B86579CB8FF}"/>
              </a:ext>
            </a:extLst>
          </p:cNvPr>
          <p:cNvGraphicFramePr>
            <a:graphicFrameLocks noChangeAspect="1"/>
          </p:cNvGraphicFramePr>
          <p:nvPr>
            <p:extLst>
              <p:ext uri="{D42A27DB-BD31-4B8C-83A1-F6EECF244321}">
                <p14:modId xmlns:p14="http://schemas.microsoft.com/office/powerpoint/2010/main" val="1430372619"/>
              </p:ext>
            </p:extLst>
          </p:nvPr>
        </p:nvGraphicFramePr>
        <p:xfrm>
          <a:off x="5046130" y="5321208"/>
          <a:ext cx="711488" cy="301625"/>
        </p:xfrm>
        <a:graphic>
          <a:graphicData uri="http://schemas.openxmlformats.org/presentationml/2006/ole">
            <mc:AlternateContent xmlns:mc="http://schemas.openxmlformats.org/markup-compatibility/2006">
              <mc:Choice xmlns:v="urn:schemas-microsoft-com:vml" Requires="v">
                <p:oleObj name="Equation" r:id="rId12" imgW="380880" imgH="177480" progId="Equation.DSMT4">
                  <p:embed/>
                </p:oleObj>
              </mc:Choice>
              <mc:Fallback>
                <p:oleObj name="Equation" r:id="rId12" imgW="380880" imgH="177480" progId="Equation.DSMT4">
                  <p:embed/>
                  <p:pic>
                    <p:nvPicPr>
                      <p:cNvPr id="26" name="Object 25">
                        <a:extLst>
                          <a:ext uri="{FF2B5EF4-FFF2-40B4-BE49-F238E27FC236}">
                            <a16:creationId xmlns:a16="http://schemas.microsoft.com/office/drawing/2014/main" id="{902491C7-4F61-D342-BEC7-D593697E0DD2}"/>
                          </a:ext>
                        </a:extLst>
                      </p:cNvPr>
                      <p:cNvPicPr>
                        <a:picLocks noChangeAspect="1" noChangeArrowheads="1"/>
                      </p:cNvPicPr>
                      <p:nvPr/>
                    </p:nvPicPr>
                    <p:blipFill>
                      <a:blip r:embed="rId13"/>
                      <a:srcRect/>
                      <a:stretch>
                        <a:fillRect/>
                      </a:stretch>
                    </p:blipFill>
                    <p:spPr bwMode="auto">
                      <a:xfrm>
                        <a:off x="5046130" y="5321208"/>
                        <a:ext cx="711488" cy="301625"/>
                      </a:xfrm>
                      <a:prstGeom prst="rect">
                        <a:avLst/>
                      </a:prstGeom>
                      <a:noFill/>
                      <a:ln>
                        <a:noFill/>
                      </a:ln>
                    </p:spPr>
                  </p:pic>
                </p:oleObj>
              </mc:Fallback>
            </mc:AlternateContent>
          </a:graphicData>
        </a:graphic>
      </p:graphicFrame>
      <p:sp>
        <p:nvSpPr>
          <p:cNvPr id="17" name="Content Placeholder 16">
            <a:extLst>
              <a:ext uri="{FF2B5EF4-FFF2-40B4-BE49-F238E27FC236}">
                <a16:creationId xmlns:a16="http://schemas.microsoft.com/office/drawing/2014/main" id="{24CFF370-272A-91E8-A3A3-125B6C4981D3}"/>
              </a:ext>
            </a:extLst>
          </p:cNvPr>
          <p:cNvSpPr>
            <a:spLocks noGrp="1"/>
          </p:cNvSpPr>
          <p:nvPr>
            <p:ph sz="quarter" idx="26"/>
          </p:nvPr>
        </p:nvSpPr>
        <p:spPr>
          <a:xfrm>
            <a:off x="428065" y="5801738"/>
            <a:ext cx="8247351" cy="344128"/>
          </a:xfrm>
        </p:spPr>
        <p:txBody>
          <a:bodyPr wrap="square">
            <a:spAutoFit/>
          </a:bodyPr>
          <a:lstStyle/>
          <a:p>
            <a:pPr marL="0" indent="0">
              <a:spcBef>
                <a:spcPts val="600"/>
              </a:spcBef>
              <a:buNone/>
              <a:defRPr/>
            </a:pPr>
            <a:r>
              <a:rPr lang="en-US" sz="2000" dirty="0">
                <a:sym typeface="Symbol"/>
              </a:rPr>
              <a:t>Step 6 – Calculate other quantities of interest using </a:t>
            </a:r>
            <a:r>
              <a:rPr lang="en-US" sz="2000" i="1" dirty="0">
                <a:sym typeface="Symbol"/>
              </a:rPr>
              <a:t>x</a:t>
            </a:r>
            <a:r>
              <a:rPr lang="en-US" sz="2000" dirty="0">
                <a:sym typeface="Symbol"/>
              </a:rPr>
              <a:t>(</a:t>
            </a:r>
            <a:r>
              <a:rPr lang="en-US" sz="2000" i="1" dirty="0">
                <a:sym typeface="Symbol"/>
              </a:rPr>
              <a:t>t</a:t>
            </a:r>
            <a:r>
              <a:rPr lang="en-US" sz="2000" dirty="0">
                <a:sym typeface="Symbol"/>
              </a:rPr>
              <a:t>).</a:t>
            </a:r>
            <a:endParaRPr lang="en-US" altLang="en-US" sz="2000" dirty="0"/>
          </a:p>
        </p:txBody>
      </p:sp>
    </p:spTree>
    <p:extLst>
      <p:ext uri="{BB962C8B-B14F-4D97-AF65-F5344CB8AC3E}">
        <p14:creationId xmlns:p14="http://schemas.microsoft.com/office/powerpoint/2010/main" val="724700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865E1-4082-C3ED-C3CE-76982A3EFECC}"/>
              </a:ext>
            </a:extLst>
          </p:cNvPr>
          <p:cNvSpPr>
            <a:spLocks noGrp="1"/>
          </p:cNvSpPr>
          <p:nvPr>
            <p:ph type="title"/>
          </p:nvPr>
        </p:nvSpPr>
        <p:spPr>
          <a:xfrm>
            <a:off x="428065" y="161845"/>
            <a:ext cx="8267700" cy="1144347"/>
          </a:xfrm>
        </p:spPr>
        <p:txBody>
          <a:bodyPr>
            <a:spAutoFit/>
          </a:bodyPr>
          <a:lstStyle/>
          <a:p>
            <a:r>
              <a:rPr lang="en-US" sz="3600" dirty="0">
                <a:latin typeface="+mn-lt"/>
              </a:rPr>
              <a:t>Chapter 7 – </a:t>
            </a:r>
            <a:r>
              <a:rPr lang="en-US" sz="3600" i="1" spc="-500" dirty="0">
                <a:latin typeface="+mn-lt"/>
              </a:rPr>
              <a:t>R </a:t>
            </a:r>
            <a:r>
              <a:rPr lang="en-US" sz="3600" i="1" dirty="0">
                <a:latin typeface="+mn-lt"/>
              </a:rPr>
              <a:t>L</a:t>
            </a:r>
            <a:r>
              <a:rPr lang="en-US" sz="3600" dirty="0">
                <a:latin typeface="+mn-lt"/>
              </a:rPr>
              <a:t>/</a:t>
            </a:r>
            <a:r>
              <a:rPr lang="en-US" sz="3600" i="1" spc="-500" dirty="0">
                <a:latin typeface="+mn-lt"/>
              </a:rPr>
              <a:t>R </a:t>
            </a:r>
            <a:r>
              <a:rPr lang="en-US" sz="3600" i="1" dirty="0">
                <a:latin typeface="+mn-lt"/>
              </a:rPr>
              <a:t>C</a:t>
            </a:r>
            <a:r>
              <a:rPr lang="en-US" sz="3600" dirty="0">
                <a:latin typeface="+mn-lt"/>
              </a:rPr>
              <a:t> Step Response Examples </a:t>
            </a:r>
            <a:r>
              <a:rPr lang="en-US" sz="2800" dirty="0">
                <a:latin typeface="+mn-lt"/>
              </a:rPr>
              <a:t>(1 of 10)</a:t>
            </a:r>
            <a:r>
              <a:rPr lang="en-US" sz="3600" dirty="0">
                <a:latin typeface="+mn-lt"/>
              </a:rPr>
              <a:t> </a:t>
            </a:r>
            <a:endParaRPr lang="en-US" dirty="0"/>
          </a:p>
        </p:txBody>
      </p:sp>
      <p:sp>
        <p:nvSpPr>
          <p:cNvPr id="3" name="Content Placeholder 2">
            <a:extLst>
              <a:ext uri="{FF2B5EF4-FFF2-40B4-BE49-F238E27FC236}">
                <a16:creationId xmlns:a16="http://schemas.microsoft.com/office/drawing/2014/main" id="{D238DBA5-D0A2-574B-98C2-D3DD0AE99BC2}"/>
              </a:ext>
            </a:extLst>
          </p:cNvPr>
          <p:cNvSpPr>
            <a:spLocks noGrp="1"/>
          </p:cNvSpPr>
          <p:nvPr>
            <p:ph sz="quarter" idx="12"/>
          </p:nvPr>
        </p:nvSpPr>
        <p:spPr>
          <a:xfrm>
            <a:off x="428065" y="1453762"/>
            <a:ext cx="1398495" cy="374906"/>
          </a:xfrm>
        </p:spPr>
        <p:txBody>
          <a:bodyPr wrap="square">
            <a:spAutoFit/>
          </a:bodyPr>
          <a:lstStyle/>
          <a:p>
            <a:pPr marL="0" indent="0">
              <a:buNone/>
            </a:pPr>
            <a:r>
              <a:rPr lang="en-US" altLang="en-US" sz="2200" dirty="0"/>
              <a:t>Find </a:t>
            </a:r>
            <a:r>
              <a:rPr lang="en-US" altLang="en-US" sz="2200" dirty="0" err="1"/>
              <a:t>i</a:t>
            </a:r>
            <a:r>
              <a:rPr lang="en-US" altLang="en-US" sz="2200" dirty="0"/>
              <a:t>(t) for</a:t>
            </a:r>
            <a:endParaRPr lang="en-US" sz="2200" dirty="0"/>
          </a:p>
        </p:txBody>
      </p:sp>
      <p:graphicFrame>
        <p:nvGraphicFramePr>
          <p:cNvPr id="21" name="Object 20" descr="t is greater than or equal to 0.&#10;">
            <a:extLst>
              <a:ext uri="{FF2B5EF4-FFF2-40B4-BE49-F238E27FC236}">
                <a16:creationId xmlns:a16="http://schemas.microsoft.com/office/drawing/2014/main" id="{A22CBD7D-B05F-D6AA-DD42-51B9288790B7}"/>
              </a:ext>
            </a:extLst>
          </p:cNvPr>
          <p:cNvGraphicFramePr>
            <a:graphicFrameLocks noChangeAspect="1"/>
          </p:cNvGraphicFramePr>
          <p:nvPr>
            <p:extLst>
              <p:ext uri="{D42A27DB-BD31-4B8C-83A1-F6EECF244321}">
                <p14:modId xmlns:p14="http://schemas.microsoft.com/office/powerpoint/2010/main" val="1290544688"/>
              </p:ext>
            </p:extLst>
          </p:nvPr>
        </p:nvGraphicFramePr>
        <p:xfrm>
          <a:off x="1853741" y="1491456"/>
          <a:ext cx="782637" cy="331788"/>
        </p:xfrm>
        <a:graphic>
          <a:graphicData uri="http://schemas.openxmlformats.org/presentationml/2006/ole">
            <mc:AlternateContent xmlns:mc="http://schemas.openxmlformats.org/markup-compatibility/2006">
              <mc:Choice xmlns:v="urn:schemas-microsoft-com:vml" Requires="v">
                <p:oleObj name="Equation" r:id="rId2" imgW="380880" imgH="177480" progId="Equation.DSMT4">
                  <p:embed/>
                </p:oleObj>
              </mc:Choice>
              <mc:Fallback>
                <p:oleObj name="Equation" r:id="rId2" imgW="380880" imgH="177480" progId="Equation.DSMT4">
                  <p:embed/>
                  <p:pic>
                    <p:nvPicPr>
                      <p:cNvPr id="26" name="Object 25">
                        <a:extLst>
                          <a:ext uri="{FF2B5EF4-FFF2-40B4-BE49-F238E27FC236}">
                            <a16:creationId xmlns:a16="http://schemas.microsoft.com/office/drawing/2014/main" id="{902491C7-4F61-D342-BEC7-D593697E0DD2}"/>
                          </a:ext>
                        </a:extLst>
                      </p:cNvPr>
                      <p:cNvPicPr>
                        <a:picLocks noChangeAspect="1" noChangeArrowheads="1"/>
                      </p:cNvPicPr>
                      <p:nvPr/>
                    </p:nvPicPr>
                    <p:blipFill>
                      <a:blip r:embed="rId3"/>
                      <a:srcRect/>
                      <a:stretch>
                        <a:fillRect/>
                      </a:stretch>
                    </p:blipFill>
                    <p:spPr bwMode="auto">
                      <a:xfrm>
                        <a:off x="1853741" y="1491456"/>
                        <a:ext cx="782637" cy="331788"/>
                      </a:xfrm>
                      <a:prstGeom prst="rect">
                        <a:avLst/>
                      </a:prstGeom>
                      <a:noFill/>
                      <a:ln>
                        <a:noFill/>
                      </a:ln>
                    </p:spPr>
                  </p:pic>
                </p:oleObj>
              </mc:Fallback>
            </mc:AlternateContent>
          </a:graphicData>
        </a:graphic>
      </p:graphicFrame>
      <p:pic>
        <p:nvPicPr>
          <p:cNvPr id="22" name="Picture 2"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12FF79DE-554E-B6B2-CD3A-618AC61FCED0}"/>
              </a:ext>
            </a:extLst>
          </p:cNvPr>
          <p:cNvPicPr>
            <a:picLocks noChangeAspect="1" noChangeArrowheads="1"/>
          </p:cNvPicPr>
          <p:nvPr/>
        </p:nvPicPr>
        <p:blipFill>
          <a:blip r:embed="rId4"/>
          <a:stretch>
            <a:fillRect/>
          </a:stretch>
        </p:blipFill>
        <p:spPr bwMode="auto">
          <a:xfrm>
            <a:off x="4052890" y="1433963"/>
            <a:ext cx="4281935" cy="1914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08A7F516-46B1-8690-59F6-A1CFADEB29B9}"/>
              </a:ext>
            </a:extLst>
          </p:cNvPr>
          <p:cNvSpPr>
            <a:spLocks noGrp="1"/>
          </p:cNvSpPr>
          <p:nvPr>
            <p:ph sz="quarter" idx="13"/>
          </p:nvPr>
        </p:nvSpPr>
        <p:spPr>
          <a:xfrm>
            <a:off x="428065" y="3490847"/>
            <a:ext cx="8247623" cy="713460"/>
          </a:xfrm>
        </p:spPr>
        <p:txBody>
          <a:bodyPr wrap="square">
            <a:spAutoFit/>
          </a:bodyPr>
          <a:lstStyle/>
          <a:p>
            <a:pPr marL="0" indent="0">
              <a:spcBef>
                <a:spcPts val="0"/>
              </a:spcBef>
              <a:buNone/>
              <a:defRPr/>
            </a:pPr>
            <a:r>
              <a:rPr lang="en-US" sz="2200" dirty="0"/>
              <a:t>Step 1 – Identify the variable </a:t>
            </a:r>
            <a:r>
              <a:rPr lang="en-US" sz="2200" i="1" dirty="0"/>
              <a:t>x</a:t>
            </a:r>
            <a:r>
              <a:rPr lang="en-US" sz="2200" dirty="0"/>
              <a:t>(</a:t>
            </a:r>
            <a:r>
              <a:rPr lang="en-US" sz="2200" i="1" dirty="0"/>
              <a:t>t</a:t>
            </a:r>
            <a:r>
              <a:rPr lang="en-US" sz="2200" dirty="0"/>
              <a:t>), which is the inductor current labeled </a:t>
            </a:r>
            <a:r>
              <a:rPr lang="en-US" sz="2200" i="1" dirty="0" err="1"/>
              <a:t>i</a:t>
            </a:r>
            <a:r>
              <a:rPr lang="en-US" sz="2200" dirty="0"/>
              <a:t> in the circuit.</a:t>
            </a:r>
          </a:p>
        </p:txBody>
      </p:sp>
      <p:sp>
        <p:nvSpPr>
          <p:cNvPr id="5" name="Content Placeholder 4">
            <a:extLst>
              <a:ext uri="{FF2B5EF4-FFF2-40B4-BE49-F238E27FC236}">
                <a16:creationId xmlns:a16="http://schemas.microsoft.com/office/drawing/2014/main" id="{E9927E53-4C06-D9F3-C105-F767AC501CB8}"/>
              </a:ext>
            </a:extLst>
          </p:cNvPr>
          <p:cNvSpPr>
            <a:spLocks noGrp="1"/>
          </p:cNvSpPr>
          <p:nvPr>
            <p:ph sz="quarter" idx="14"/>
          </p:nvPr>
        </p:nvSpPr>
        <p:spPr>
          <a:xfrm>
            <a:off x="428066" y="4271410"/>
            <a:ext cx="4251510" cy="374906"/>
          </a:xfrm>
        </p:spPr>
        <p:txBody>
          <a:bodyPr wrap="square">
            <a:spAutoFit/>
          </a:bodyPr>
          <a:lstStyle/>
          <a:p>
            <a:pPr marL="0" indent="0">
              <a:buNone/>
            </a:pPr>
            <a:r>
              <a:rPr lang="en-US" sz="2200" dirty="0"/>
              <a:t>Step 2 – Calculate the initial value</a:t>
            </a:r>
          </a:p>
        </p:txBody>
      </p:sp>
      <p:graphicFrame>
        <p:nvGraphicFramePr>
          <p:cNvPr id="23" name="Object 22" descr="I subscript 0.&#10;">
            <a:extLst>
              <a:ext uri="{FF2B5EF4-FFF2-40B4-BE49-F238E27FC236}">
                <a16:creationId xmlns:a16="http://schemas.microsoft.com/office/drawing/2014/main" id="{97903347-B0F0-5978-E7DE-05B538B6EBB9}"/>
              </a:ext>
            </a:extLst>
          </p:cNvPr>
          <p:cNvGraphicFramePr>
            <a:graphicFrameLocks noChangeAspect="1"/>
          </p:cNvGraphicFramePr>
          <p:nvPr>
            <p:extLst>
              <p:ext uri="{D42A27DB-BD31-4B8C-83A1-F6EECF244321}">
                <p14:modId xmlns:p14="http://schemas.microsoft.com/office/powerpoint/2010/main" val="3102295825"/>
              </p:ext>
            </p:extLst>
          </p:nvPr>
        </p:nvGraphicFramePr>
        <p:xfrm>
          <a:off x="4737473" y="4296299"/>
          <a:ext cx="287338" cy="428625"/>
        </p:xfrm>
        <a:graphic>
          <a:graphicData uri="http://schemas.openxmlformats.org/presentationml/2006/ole">
            <mc:AlternateContent xmlns:mc="http://schemas.openxmlformats.org/markup-compatibility/2006">
              <mc:Choice xmlns:v="urn:schemas-microsoft-com:vml" Requires="v">
                <p:oleObj name="Equation" r:id="rId5" imgW="139680" imgH="228600" progId="Equation.DSMT4">
                  <p:embed/>
                </p:oleObj>
              </mc:Choice>
              <mc:Fallback>
                <p:oleObj name="Equation" r:id="rId5" imgW="139680" imgH="228600" progId="Equation.DSMT4">
                  <p:embed/>
                  <p:pic>
                    <p:nvPicPr>
                      <p:cNvPr id="21" name="Object 20">
                        <a:extLst>
                          <a:ext uri="{FF2B5EF4-FFF2-40B4-BE49-F238E27FC236}">
                            <a16:creationId xmlns:a16="http://schemas.microsoft.com/office/drawing/2014/main" id="{A22CBD7D-B05F-D6AA-DD42-51B9288790B7}"/>
                          </a:ext>
                        </a:extLst>
                      </p:cNvPr>
                      <p:cNvPicPr>
                        <a:picLocks noChangeAspect="1" noChangeArrowheads="1"/>
                      </p:cNvPicPr>
                      <p:nvPr/>
                    </p:nvPicPr>
                    <p:blipFill>
                      <a:blip r:embed="rId6"/>
                      <a:srcRect/>
                      <a:stretch>
                        <a:fillRect/>
                      </a:stretch>
                    </p:blipFill>
                    <p:spPr bwMode="auto">
                      <a:xfrm>
                        <a:off x="4737473" y="4296299"/>
                        <a:ext cx="287338" cy="428625"/>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4193F4AE-E77B-B316-95EC-A8093E24E663}"/>
              </a:ext>
            </a:extLst>
          </p:cNvPr>
          <p:cNvSpPr>
            <a:spLocks noGrp="1"/>
          </p:cNvSpPr>
          <p:nvPr>
            <p:ph sz="quarter" idx="15"/>
          </p:nvPr>
        </p:nvSpPr>
        <p:spPr>
          <a:xfrm>
            <a:off x="5082709" y="4311603"/>
            <a:ext cx="3155856" cy="374906"/>
          </a:xfrm>
        </p:spPr>
        <p:txBody>
          <a:bodyPr wrap="square">
            <a:spAutoFit/>
          </a:bodyPr>
          <a:lstStyle/>
          <a:p>
            <a:pPr marL="0" indent="0">
              <a:buNone/>
            </a:pPr>
            <a:r>
              <a:rPr lang="en-US" sz="2200" dirty="0"/>
              <a:t>by analyzing the circuit to</a:t>
            </a:r>
          </a:p>
        </p:txBody>
      </p:sp>
      <p:sp>
        <p:nvSpPr>
          <p:cNvPr id="7" name="Content Placeholder 6">
            <a:extLst>
              <a:ext uri="{FF2B5EF4-FFF2-40B4-BE49-F238E27FC236}">
                <a16:creationId xmlns:a16="http://schemas.microsoft.com/office/drawing/2014/main" id="{061E1D42-EE04-E114-323A-7BEEF172156F}"/>
              </a:ext>
            </a:extLst>
          </p:cNvPr>
          <p:cNvSpPr>
            <a:spLocks noGrp="1"/>
          </p:cNvSpPr>
          <p:nvPr>
            <p:ph sz="quarter" idx="16"/>
          </p:nvPr>
        </p:nvSpPr>
        <p:spPr>
          <a:xfrm>
            <a:off x="432043" y="4715959"/>
            <a:ext cx="1300888" cy="374906"/>
          </a:xfrm>
        </p:spPr>
        <p:txBody>
          <a:bodyPr wrap="square">
            <a:spAutoFit/>
          </a:bodyPr>
          <a:lstStyle/>
          <a:p>
            <a:pPr marL="0" indent="0">
              <a:buNone/>
            </a:pPr>
            <a:r>
              <a:rPr lang="en-US" sz="2200" dirty="0"/>
              <a:t>find </a:t>
            </a:r>
            <a:r>
              <a:rPr lang="en-US" sz="2200" i="1" dirty="0" err="1"/>
              <a:t>i</a:t>
            </a:r>
            <a:r>
              <a:rPr lang="en-US" sz="2200" dirty="0"/>
              <a:t>(</a:t>
            </a:r>
            <a:r>
              <a:rPr lang="en-US" sz="2200" i="1" dirty="0"/>
              <a:t>t</a:t>
            </a:r>
            <a:r>
              <a:rPr lang="en-US" sz="2200" dirty="0"/>
              <a:t>) for</a:t>
            </a:r>
          </a:p>
        </p:txBody>
      </p:sp>
      <p:graphicFrame>
        <p:nvGraphicFramePr>
          <p:cNvPr id="24" name="Object 23" descr="t less than 0.">
            <a:extLst>
              <a:ext uri="{FF2B5EF4-FFF2-40B4-BE49-F238E27FC236}">
                <a16:creationId xmlns:a16="http://schemas.microsoft.com/office/drawing/2014/main" id="{013C5F7F-061D-0E37-539A-9C3CD1DCC3AA}"/>
              </a:ext>
            </a:extLst>
          </p:cNvPr>
          <p:cNvGraphicFramePr>
            <a:graphicFrameLocks noChangeAspect="1"/>
          </p:cNvGraphicFramePr>
          <p:nvPr>
            <p:extLst>
              <p:ext uri="{D42A27DB-BD31-4B8C-83A1-F6EECF244321}">
                <p14:modId xmlns:p14="http://schemas.microsoft.com/office/powerpoint/2010/main" val="3651150532"/>
              </p:ext>
            </p:extLst>
          </p:nvPr>
        </p:nvGraphicFramePr>
        <p:xfrm>
          <a:off x="1755684" y="4753521"/>
          <a:ext cx="782637" cy="331788"/>
        </p:xfrm>
        <a:graphic>
          <a:graphicData uri="http://schemas.openxmlformats.org/presentationml/2006/ole">
            <mc:AlternateContent xmlns:mc="http://schemas.openxmlformats.org/markup-compatibility/2006">
              <mc:Choice xmlns:v="urn:schemas-microsoft-com:vml" Requires="v">
                <p:oleObj name="Equation" r:id="rId7" imgW="380880" imgH="177480" progId="Equation.DSMT4">
                  <p:embed/>
                </p:oleObj>
              </mc:Choice>
              <mc:Fallback>
                <p:oleObj name="Equation" r:id="rId7" imgW="380880" imgH="177480" progId="Equation.DSMT4">
                  <p:embed/>
                  <p:pic>
                    <p:nvPicPr>
                      <p:cNvPr id="21" name="Object 20">
                        <a:extLst>
                          <a:ext uri="{FF2B5EF4-FFF2-40B4-BE49-F238E27FC236}">
                            <a16:creationId xmlns:a16="http://schemas.microsoft.com/office/drawing/2014/main" id="{A22CBD7D-B05F-D6AA-DD42-51B9288790B7}"/>
                          </a:ext>
                        </a:extLst>
                      </p:cNvPr>
                      <p:cNvPicPr>
                        <a:picLocks noChangeAspect="1" noChangeArrowheads="1"/>
                      </p:cNvPicPr>
                      <p:nvPr/>
                    </p:nvPicPr>
                    <p:blipFill>
                      <a:blip r:embed="rId8"/>
                      <a:srcRect/>
                      <a:stretch>
                        <a:fillRect/>
                      </a:stretch>
                    </p:blipFill>
                    <p:spPr bwMode="auto">
                      <a:xfrm>
                        <a:off x="1755684" y="4753521"/>
                        <a:ext cx="782637" cy="331788"/>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6F409CFB-6CA9-7296-878D-2F49F6641971}"/>
              </a:ext>
            </a:extLst>
          </p:cNvPr>
          <p:cNvSpPr>
            <a:spLocks noGrp="1"/>
          </p:cNvSpPr>
          <p:nvPr>
            <p:ph sz="quarter" idx="17"/>
          </p:nvPr>
        </p:nvSpPr>
        <p:spPr>
          <a:xfrm>
            <a:off x="432043" y="5153875"/>
            <a:ext cx="454277" cy="374906"/>
          </a:xfrm>
        </p:spPr>
        <p:txBody>
          <a:bodyPr wrap="square">
            <a:spAutoFit/>
          </a:bodyPr>
          <a:lstStyle/>
          <a:p>
            <a:pPr marL="0" indent="0">
              <a:buNone/>
            </a:pPr>
            <a:r>
              <a:rPr lang="en-US" sz="2200" dirty="0"/>
              <a:t>For</a:t>
            </a:r>
          </a:p>
        </p:txBody>
      </p:sp>
      <p:graphicFrame>
        <p:nvGraphicFramePr>
          <p:cNvPr id="25" name="Object 24" descr="t less than 0">
            <a:extLst>
              <a:ext uri="{FF2B5EF4-FFF2-40B4-BE49-F238E27FC236}">
                <a16:creationId xmlns:a16="http://schemas.microsoft.com/office/drawing/2014/main" id="{5D530A4F-067D-BA3E-B026-4B969219CD41}"/>
              </a:ext>
            </a:extLst>
          </p:cNvPr>
          <p:cNvGraphicFramePr>
            <a:graphicFrameLocks noChangeAspect="1"/>
          </p:cNvGraphicFramePr>
          <p:nvPr>
            <p:extLst>
              <p:ext uri="{D42A27DB-BD31-4B8C-83A1-F6EECF244321}">
                <p14:modId xmlns:p14="http://schemas.microsoft.com/office/powerpoint/2010/main" val="1589828045"/>
              </p:ext>
            </p:extLst>
          </p:nvPr>
        </p:nvGraphicFramePr>
        <p:xfrm>
          <a:off x="960438" y="5183282"/>
          <a:ext cx="704850" cy="331788"/>
        </p:xfrm>
        <a:graphic>
          <a:graphicData uri="http://schemas.openxmlformats.org/presentationml/2006/ole">
            <mc:AlternateContent xmlns:mc="http://schemas.openxmlformats.org/markup-compatibility/2006">
              <mc:Choice xmlns:v="urn:schemas-microsoft-com:vml" Requires="v">
                <p:oleObj name="Equation" r:id="rId9" imgW="342720" imgH="177480" progId="Equation.DSMT4">
                  <p:embed/>
                </p:oleObj>
              </mc:Choice>
              <mc:Fallback>
                <p:oleObj name="Equation" r:id="rId9" imgW="342720" imgH="177480" progId="Equation.DSMT4">
                  <p:embed/>
                  <p:pic>
                    <p:nvPicPr>
                      <p:cNvPr id="24" name="Object 23">
                        <a:extLst>
                          <a:ext uri="{FF2B5EF4-FFF2-40B4-BE49-F238E27FC236}">
                            <a16:creationId xmlns:a16="http://schemas.microsoft.com/office/drawing/2014/main" id="{013C5F7F-061D-0E37-539A-9C3CD1DCC3AA}"/>
                          </a:ext>
                        </a:extLst>
                      </p:cNvPr>
                      <p:cNvPicPr>
                        <a:picLocks noChangeAspect="1" noChangeArrowheads="1"/>
                      </p:cNvPicPr>
                      <p:nvPr/>
                    </p:nvPicPr>
                    <p:blipFill>
                      <a:blip r:embed="rId10"/>
                      <a:srcRect/>
                      <a:stretch>
                        <a:fillRect/>
                      </a:stretch>
                    </p:blipFill>
                    <p:spPr bwMode="auto">
                      <a:xfrm>
                        <a:off x="960438" y="5183282"/>
                        <a:ext cx="704850" cy="331788"/>
                      </a:xfrm>
                      <a:prstGeom prst="rect">
                        <a:avLst/>
                      </a:prstGeom>
                      <a:noFill/>
                      <a:ln>
                        <a:noFill/>
                      </a:ln>
                    </p:spPr>
                  </p:pic>
                </p:oleObj>
              </mc:Fallback>
            </mc:AlternateContent>
          </a:graphicData>
        </a:graphic>
      </p:graphicFrame>
      <p:pic>
        <p:nvPicPr>
          <p:cNvPr id="26" name="Picture 2" descr="A circuit diagram shows current I subscript f flowing from top to bottom of the 200 milli Henry inductor in the leftmost wire of the circuit. The second wire from the left includes a 10 ohms resistor and the third wire from the left includes an 8 ampere ammeter. All three components are in parallel with each other and the symbol a represents the top wire between the 200 milli Henry inductor and the 10 ohms resistor.">
            <a:extLst>
              <a:ext uri="{FF2B5EF4-FFF2-40B4-BE49-F238E27FC236}">
                <a16:creationId xmlns:a16="http://schemas.microsoft.com/office/drawing/2014/main" id="{4A879310-7E16-0E77-D581-1A35EE39FA3C}"/>
              </a:ext>
            </a:extLst>
          </p:cNvPr>
          <p:cNvPicPr>
            <a:picLocks noChangeAspect="1" noChangeArrowheads="1"/>
          </p:cNvPicPr>
          <p:nvPr/>
        </p:nvPicPr>
        <p:blipFill>
          <a:blip r:embed="rId11"/>
          <a:stretch>
            <a:fillRect/>
          </a:stretch>
        </p:blipFill>
        <p:spPr bwMode="auto">
          <a:xfrm>
            <a:off x="3283552" y="4854176"/>
            <a:ext cx="2508364" cy="147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26" descr="I subscript 0 baseline equals Start Fraction 24 over 2 End Fraction equals 12 Amperes.&#10;">
            <a:extLst>
              <a:ext uri="{FF2B5EF4-FFF2-40B4-BE49-F238E27FC236}">
                <a16:creationId xmlns:a16="http://schemas.microsoft.com/office/drawing/2014/main" id="{E500C7E1-FEC2-012E-0B11-1E439182CFC1}"/>
              </a:ext>
            </a:extLst>
          </p:cNvPr>
          <p:cNvGraphicFramePr>
            <a:graphicFrameLocks noChangeAspect="1"/>
          </p:cNvGraphicFramePr>
          <p:nvPr>
            <p:extLst>
              <p:ext uri="{D42A27DB-BD31-4B8C-83A1-F6EECF244321}">
                <p14:modId xmlns:p14="http://schemas.microsoft.com/office/powerpoint/2010/main" val="380345085"/>
              </p:ext>
            </p:extLst>
          </p:nvPr>
        </p:nvGraphicFramePr>
        <p:xfrm>
          <a:off x="6400800" y="5206998"/>
          <a:ext cx="1447800" cy="622554"/>
        </p:xfrm>
        <a:graphic>
          <a:graphicData uri="http://schemas.openxmlformats.org/presentationml/2006/ole">
            <mc:AlternateContent xmlns:mc="http://schemas.openxmlformats.org/markup-compatibility/2006">
              <mc:Choice xmlns:v="urn:schemas-microsoft-com:vml" Requires="v">
                <p:oleObj name="Equation" r:id="rId12" imgW="1091880" imgH="469800" progId="Equation.DSMT4">
                  <p:embed/>
                </p:oleObj>
              </mc:Choice>
              <mc:Fallback>
                <p:oleObj name="Equation" r:id="rId12" imgW="1091880" imgH="469800" progId="Equation.DSMT4">
                  <p:embed/>
                  <p:pic>
                    <p:nvPicPr>
                      <p:cNvPr id="13" name="Object 12"/>
                      <p:cNvPicPr>
                        <a:picLocks noChangeAspect="1" noChangeArrowheads="1"/>
                      </p:cNvPicPr>
                      <p:nvPr/>
                    </p:nvPicPr>
                    <p:blipFill>
                      <a:blip r:embed="rId13"/>
                      <a:srcRect/>
                      <a:stretch>
                        <a:fillRect/>
                      </a:stretch>
                    </p:blipFill>
                    <p:spPr bwMode="auto">
                      <a:xfrm>
                        <a:off x="6400800" y="5206998"/>
                        <a:ext cx="1447800" cy="62255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82173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F7D8-67A7-4365-61DA-55A761AAE8C6}"/>
              </a:ext>
            </a:extLst>
          </p:cNvPr>
          <p:cNvSpPr>
            <a:spLocks noGrp="1"/>
          </p:cNvSpPr>
          <p:nvPr>
            <p:ph type="title"/>
          </p:nvPr>
        </p:nvSpPr>
        <p:spPr>
          <a:xfrm>
            <a:off x="428065" y="161845"/>
            <a:ext cx="8267700"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a:t>
            </a:r>
            <a:r>
              <a:rPr lang="en-US" sz="2800" dirty="0"/>
              <a:t> (2 of 10)</a:t>
            </a:r>
            <a:r>
              <a:rPr lang="en-US" dirty="0"/>
              <a:t> </a:t>
            </a:r>
          </a:p>
        </p:txBody>
      </p:sp>
      <p:sp>
        <p:nvSpPr>
          <p:cNvPr id="3" name="Content Placeholder 2">
            <a:extLst>
              <a:ext uri="{FF2B5EF4-FFF2-40B4-BE49-F238E27FC236}">
                <a16:creationId xmlns:a16="http://schemas.microsoft.com/office/drawing/2014/main" id="{94A55DD0-7F23-398C-0011-D5511409823C}"/>
              </a:ext>
            </a:extLst>
          </p:cNvPr>
          <p:cNvSpPr>
            <a:spLocks noGrp="1"/>
          </p:cNvSpPr>
          <p:nvPr>
            <p:ph sz="quarter" idx="12"/>
          </p:nvPr>
        </p:nvSpPr>
        <p:spPr>
          <a:xfrm>
            <a:off x="419100" y="1457789"/>
            <a:ext cx="4986618" cy="405683"/>
          </a:xfrm>
        </p:spPr>
        <p:txBody>
          <a:bodyPr wrap="square">
            <a:spAutoFit/>
          </a:bodyPr>
          <a:lstStyle/>
          <a:p>
            <a:pPr marL="0" indent="0">
              <a:buNone/>
            </a:pPr>
            <a:r>
              <a:rPr lang="en-US" sz="2400" dirty="0"/>
              <a:t>Step 3 – Calculate the time constant,</a:t>
            </a:r>
          </a:p>
        </p:txBody>
      </p:sp>
      <p:graphicFrame>
        <p:nvGraphicFramePr>
          <p:cNvPr id="21" name="Object 20" descr="tau equals L divided by R subscript e q.&#10;">
            <a:extLst>
              <a:ext uri="{FF2B5EF4-FFF2-40B4-BE49-F238E27FC236}">
                <a16:creationId xmlns:a16="http://schemas.microsoft.com/office/drawing/2014/main" id="{C92E7AD5-C75C-2091-7AF3-FF09E00DC39D}"/>
              </a:ext>
            </a:extLst>
          </p:cNvPr>
          <p:cNvGraphicFramePr>
            <a:graphicFrameLocks noChangeAspect="1"/>
          </p:cNvGraphicFramePr>
          <p:nvPr>
            <p:extLst>
              <p:ext uri="{D42A27DB-BD31-4B8C-83A1-F6EECF244321}">
                <p14:modId xmlns:p14="http://schemas.microsoft.com/office/powerpoint/2010/main" val="978704470"/>
              </p:ext>
            </p:extLst>
          </p:nvPr>
        </p:nvGraphicFramePr>
        <p:xfrm>
          <a:off x="5446000" y="1467642"/>
          <a:ext cx="1357312" cy="452438"/>
        </p:xfrm>
        <a:graphic>
          <a:graphicData uri="http://schemas.openxmlformats.org/presentationml/2006/ole">
            <mc:AlternateContent xmlns:mc="http://schemas.openxmlformats.org/markup-compatibility/2006">
              <mc:Choice xmlns:v="urn:schemas-microsoft-com:vml" Requires="v">
                <p:oleObj name="Equation" r:id="rId2" imgW="660240" imgH="241200" progId="Equation.DSMT4">
                  <p:embed/>
                </p:oleObj>
              </mc:Choice>
              <mc:Fallback>
                <p:oleObj name="Equation" r:id="rId2" imgW="660240" imgH="241200" progId="Equation.DSMT4">
                  <p:embed/>
                  <p:pic>
                    <p:nvPicPr>
                      <p:cNvPr id="21" name="Object 20">
                        <a:extLst>
                          <a:ext uri="{FF2B5EF4-FFF2-40B4-BE49-F238E27FC236}">
                            <a16:creationId xmlns:a16="http://schemas.microsoft.com/office/drawing/2014/main" id="{A22CBD7D-B05F-D6AA-DD42-51B9288790B7}"/>
                          </a:ext>
                        </a:extLst>
                      </p:cNvPr>
                      <p:cNvPicPr>
                        <a:picLocks noChangeAspect="1" noChangeArrowheads="1"/>
                      </p:cNvPicPr>
                      <p:nvPr/>
                    </p:nvPicPr>
                    <p:blipFill>
                      <a:blip r:embed="rId3"/>
                      <a:srcRect/>
                      <a:stretch>
                        <a:fillRect/>
                      </a:stretch>
                    </p:blipFill>
                    <p:spPr bwMode="auto">
                      <a:xfrm>
                        <a:off x="5446000" y="1467642"/>
                        <a:ext cx="1357312" cy="452438"/>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CE318ED2-F331-532F-000D-250F2CAEA269}"/>
              </a:ext>
            </a:extLst>
          </p:cNvPr>
          <p:cNvSpPr>
            <a:spLocks noGrp="1"/>
          </p:cNvSpPr>
          <p:nvPr>
            <p:ph sz="quarter" idx="13"/>
          </p:nvPr>
        </p:nvSpPr>
        <p:spPr>
          <a:xfrm>
            <a:off x="6843594" y="1457788"/>
            <a:ext cx="359594" cy="405683"/>
          </a:xfrm>
        </p:spPr>
        <p:txBody>
          <a:bodyPr wrap="square">
            <a:spAutoFit/>
          </a:bodyPr>
          <a:lstStyle/>
          <a:p>
            <a:pPr marL="0" indent="0">
              <a:buNone/>
            </a:pPr>
            <a:r>
              <a:rPr lang="en-US" sz="2400" dirty="0"/>
              <a:t>for</a:t>
            </a:r>
          </a:p>
        </p:txBody>
      </p:sp>
      <p:graphicFrame>
        <p:nvGraphicFramePr>
          <p:cNvPr id="22" name="Object 21" descr="t is greater than or equal to 0.&#10;">
            <a:extLst>
              <a:ext uri="{FF2B5EF4-FFF2-40B4-BE49-F238E27FC236}">
                <a16:creationId xmlns:a16="http://schemas.microsoft.com/office/drawing/2014/main" id="{7CEF585E-A2C7-2C3B-8122-3C9D3434A052}"/>
              </a:ext>
            </a:extLst>
          </p:cNvPr>
          <p:cNvGraphicFramePr>
            <a:graphicFrameLocks noChangeAspect="1"/>
          </p:cNvGraphicFramePr>
          <p:nvPr>
            <p:extLst>
              <p:ext uri="{D42A27DB-BD31-4B8C-83A1-F6EECF244321}">
                <p14:modId xmlns:p14="http://schemas.microsoft.com/office/powerpoint/2010/main" val="1749714529"/>
              </p:ext>
            </p:extLst>
          </p:nvPr>
        </p:nvGraphicFramePr>
        <p:xfrm>
          <a:off x="7301009" y="1492797"/>
          <a:ext cx="860901" cy="364967"/>
        </p:xfrm>
        <a:graphic>
          <a:graphicData uri="http://schemas.openxmlformats.org/presentationml/2006/ole">
            <mc:AlternateContent xmlns:mc="http://schemas.openxmlformats.org/markup-compatibility/2006">
              <mc:Choice xmlns:v="urn:schemas-microsoft-com:vml" Requires="v">
                <p:oleObj name="Equation" r:id="rId4" imgW="380880" imgH="177480" progId="Equation.DSMT4">
                  <p:embed/>
                </p:oleObj>
              </mc:Choice>
              <mc:Fallback>
                <p:oleObj name="Equation" r:id="rId4" imgW="380880" imgH="177480" progId="Equation.DSMT4">
                  <p:embed/>
                  <p:pic>
                    <p:nvPicPr>
                      <p:cNvPr id="21" name="Object 20">
                        <a:extLst>
                          <a:ext uri="{FF2B5EF4-FFF2-40B4-BE49-F238E27FC236}">
                            <a16:creationId xmlns:a16="http://schemas.microsoft.com/office/drawing/2014/main" id="{A22CBD7D-B05F-D6AA-DD42-51B9288790B7}"/>
                          </a:ext>
                        </a:extLst>
                      </p:cNvPr>
                      <p:cNvPicPr>
                        <a:picLocks noChangeAspect="1" noChangeArrowheads="1"/>
                      </p:cNvPicPr>
                      <p:nvPr/>
                    </p:nvPicPr>
                    <p:blipFill>
                      <a:blip r:embed="rId5"/>
                      <a:srcRect/>
                      <a:stretch>
                        <a:fillRect/>
                      </a:stretch>
                    </p:blipFill>
                    <p:spPr bwMode="auto">
                      <a:xfrm>
                        <a:off x="7301009" y="1492797"/>
                        <a:ext cx="860901" cy="364967"/>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3C5C56CA-4761-99A7-71EE-3A52F053B8E7}"/>
              </a:ext>
            </a:extLst>
          </p:cNvPr>
          <p:cNvSpPr>
            <a:spLocks noGrp="1"/>
          </p:cNvSpPr>
          <p:nvPr>
            <p:ph sz="quarter" idx="14"/>
          </p:nvPr>
        </p:nvSpPr>
        <p:spPr>
          <a:xfrm>
            <a:off x="433177" y="1994457"/>
            <a:ext cx="8242511" cy="775015"/>
          </a:xfrm>
        </p:spPr>
        <p:txBody>
          <a:bodyPr wrap="square">
            <a:spAutoFit/>
          </a:bodyPr>
          <a:lstStyle/>
          <a:p>
            <a:pPr marL="0" indent="0">
              <a:spcBef>
                <a:spcPct val="0"/>
              </a:spcBef>
              <a:buClrTx/>
              <a:buNone/>
            </a:pPr>
            <a:r>
              <a:rPr lang="en-US" sz="2400" dirty="0">
                <a:sym typeface="Symbol" pitchFamily="18" charset="2"/>
              </a:rPr>
              <a:t>What is the Thevenin equivalent resistance of the circuit attached to the inductor?</a:t>
            </a:r>
            <a:endParaRPr lang="en-US" altLang="en-US" sz="2400" dirty="0"/>
          </a:p>
        </p:txBody>
      </p:sp>
      <p:pic>
        <p:nvPicPr>
          <p:cNvPr id="23" name="Picture 2" descr="A circuit diagram shows current i flowing from top to bottom of the 200 milli Henry inductor in the leftmost wire of the circuit. The second wire from the left includes a 10 ohms resistor and the third wire from the left includes an 8 ampere ammeter. All three components are in parallel with each other and the symbol a represents the top wire between the 200 milli Henry inductor and the 10 ohms resistor. The Thenvin equivalent resistance R subscript Th is shown as a right angled arrow pointing rightwards in the bottom wire between the 200 milli Henry inductor and the 10 ohms resistor.">
            <a:extLst>
              <a:ext uri="{FF2B5EF4-FFF2-40B4-BE49-F238E27FC236}">
                <a16:creationId xmlns:a16="http://schemas.microsoft.com/office/drawing/2014/main" id="{C7818828-821B-8E95-80BE-04F4C12AE5D3}"/>
              </a:ext>
            </a:extLst>
          </p:cNvPr>
          <p:cNvPicPr>
            <a:picLocks noChangeAspect="1" noChangeArrowheads="1"/>
          </p:cNvPicPr>
          <p:nvPr/>
        </p:nvPicPr>
        <p:blipFill>
          <a:blip r:embed="rId6"/>
          <a:stretch>
            <a:fillRect/>
          </a:stretch>
        </p:blipFill>
        <p:spPr bwMode="auto">
          <a:xfrm>
            <a:off x="2960508" y="3053150"/>
            <a:ext cx="3169195" cy="1522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FC1B0426-FC2F-C7DE-A59D-6D29065F2B68}"/>
              </a:ext>
            </a:extLst>
          </p:cNvPr>
          <p:cNvSpPr>
            <a:spLocks noGrp="1"/>
          </p:cNvSpPr>
          <p:nvPr>
            <p:ph sz="quarter" idx="15"/>
          </p:nvPr>
        </p:nvSpPr>
        <p:spPr>
          <a:xfrm>
            <a:off x="1347863" y="4768384"/>
            <a:ext cx="342900" cy="405683"/>
          </a:xfrm>
        </p:spPr>
        <p:txBody>
          <a:bodyPr wrap="square">
            <a:spAutoFit/>
          </a:bodyPr>
          <a:lstStyle/>
          <a:p>
            <a:pPr marL="0" indent="0">
              <a:buNone/>
            </a:pPr>
            <a:r>
              <a:rPr lang="en-US" sz="2400" dirty="0">
                <a:solidFill>
                  <a:srgbClr val="007FA3"/>
                </a:solidFill>
              </a:rPr>
              <a:t>A.</a:t>
            </a:r>
          </a:p>
        </p:txBody>
      </p:sp>
      <p:graphicFrame>
        <p:nvGraphicFramePr>
          <p:cNvPr id="27" name="Object 26" descr="10 Ohms.&#10;">
            <a:extLst>
              <a:ext uri="{FF2B5EF4-FFF2-40B4-BE49-F238E27FC236}">
                <a16:creationId xmlns:a16="http://schemas.microsoft.com/office/drawing/2014/main" id="{A030FDCF-A69B-E1C5-0260-033DA1A59DFC}"/>
              </a:ext>
            </a:extLst>
          </p:cNvPr>
          <p:cNvGraphicFramePr>
            <a:graphicFrameLocks noChangeAspect="1"/>
          </p:cNvGraphicFramePr>
          <p:nvPr>
            <p:extLst>
              <p:ext uri="{D42A27DB-BD31-4B8C-83A1-F6EECF244321}">
                <p14:modId xmlns:p14="http://schemas.microsoft.com/office/powerpoint/2010/main" val="1886677228"/>
              </p:ext>
            </p:extLst>
          </p:nvPr>
        </p:nvGraphicFramePr>
        <p:xfrm>
          <a:off x="1738601" y="4804744"/>
          <a:ext cx="704850" cy="381000"/>
        </p:xfrm>
        <a:graphic>
          <a:graphicData uri="http://schemas.openxmlformats.org/presentationml/2006/ole">
            <mc:AlternateContent xmlns:mc="http://schemas.openxmlformats.org/markup-compatibility/2006">
              <mc:Choice xmlns:v="urn:schemas-microsoft-com:vml" Requires="v">
                <p:oleObj name="Equation" r:id="rId7" imgW="342720" imgH="203040" progId="Equation.DSMT4">
                  <p:embed/>
                </p:oleObj>
              </mc:Choice>
              <mc:Fallback>
                <p:oleObj name="Equation" r:id="rId7" imgW="342720" imgH="203040" progId="Equation.DSMT4">
                  <p:embed/>
                  <p:pic>
                    <p:nvPicPr>
                      <p:cNvPr id="21" name="Object 20">
                        <a:extLst>
                          <a:ext uri="{FF2B5EF4-FFF2-40B4-BE49-F238E27FC236}">
                            <a16:creationId xmlns:a16="http://schemas.microsoft.com/office/drawing/2014/main" id="{C92E7AD5-C75C-2091-7AF3-FF09E00DC39D}"/>
                          </a:ext>
                        </a:extLst>
                      </p:cNvPr>
                      <p:cNvPicPr>
                        <a:picLocks noChangeAspect="1" noChangeArrowheads="1"/>
                      </p:cNvPicPr>
                      <p:nvPr/>
                    </p:nvPicPr>
                    <p:blipFill>
                      <a:blip r:embed="rId8"/>
                      <a:srcRect/>
                      <a:stretch>
                        <a:fillRect/>
                      </a:stretch>
                    </p:blipFill>
                    <p:spPr bwMode="auto">
                      <a:xfrm>
                        <a:off x="1738601" y="4804744"/>
                        <a:ext cx="704850" cy="381000"/>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22282A7A-A4D9-D7AA-6BC8-E89676271A5F}"/>
              </a:ext>
            </a:extLst>
          </p:cNvPr>
          <p:cNvSpPr>
            <a:spLocks noGrp="1"/>
          </p:cNvSpPr>
          <p:nvPr>
            <p:ph sz="quarter" idx="16"/>
          </p:nvPr>
        </p:nvSpPr>
        <p:spPr>
          <a:xfrm>
            <a:off x="1347863" y="5351536"/>
            <a:ext cx="342900" cy="405683"/>
          </a:xfrm>
        </p:spPr>
        <p:txBody>
          <a:bodyPr wrap="square">
            <a:spAutoFit/>
          </a:bodyPr>
          <a:lstStyle/>
          <a:p>
            <a:pPr marL="0" indent="0">
              <a:buNone/>
            </a:pPr>
            <a:r>
              <a:rPr lang="en-US" sz="2400" dirty="0">
                <a:solidFill>
                  <a:srgbClr val="007FA3"/>
                </a:solidFill>
              </a:rPr>
              <a:t>B.</a:t>
            </a:r>
          </a:p>
        </p:txBody>
      </p:sp>
      <p:graphicFrame>
        <p:nvGraphicFramePr>
          <p:cNvPr id="28" name="Object 27" descr="80 Ohms.&#10;">
            <a:extLst>
              <a:ext uri="{FF2B5EF4-FFF2-40B4-BE49-F238E27FC236}">
                <a16:creationId xmlns:a16="http://schemas.microsoft.com/office/drawing/2014/main" id="{D6E25653-2032-CE45-2D22-BE7F00824D5D}"/>
              </a:ext>
            </a:extLst>
          </p:cNvPr>
          <p:cNvGraphicFramePr>
            <a:graphicFrameLocks noChangeAspect="1"/>
          </p:cNvGraphicFramePr>
          <p:nvPr>
            <p:extLst>
              <p:ext uri="{D42A27DB-BD31-4B8C-83A1-F6EECF244321}">
                <p14:modId xmlns:p14="http://schemas.microsoft.com/office/powerpoint/2010/main" val="1089571408"/>
              </p:ext>
            </p:extLst>
          </p:nvPr>
        </p:nvGraphicFramePr>
        <p:xfrm>
          <a:off x="1747566" y="5378431"/>
          <a:ext cx="731837" cy="381000"/>
        </p:xfrm>
        <a:graphic>
          <a:graphicData uri="http://schemas.openxmlformats.org/presentationml/2006/ole">
            <mc:AlternateContent xmlns:mc="http://schemas.openxmlformats.org/markup-compatibility/2006">
              <mc:Choice xmlns:v="urn:schemas-microsoft-com:vml" Requires="v">
                <p:oleObj name="Equation" r:id="rId9" imgW="355320" imgH="203040" progId="Equation.DSMT4">
                  <p:embed/>
                </p:oleObj>
              </mc:Choice>
              <mc:Fallback>
                <p:oleObj name="Equation" r:id="rId9" imgW="355320" imgH="203040" progId="Equation.DSMT4">
                  <p:embed/>
                  <p:pic>
                    <p:nvPicPr>
                      <p:cNvPr id="27" name="Object 26">
                        <a:extLst>
                          <a:ext uri="{FF2B5EF4-FFF2-40B4-BE49-F238E27FC236}">
                            <a16:creationId xmlns:a16="http://schemas.microsoft.com/office/drawing/2014/main" id="{A030FDCF-A69B-E1C5-0260-033DA1A59DFC}"/>
                          </a:ext>
                        </a:extLst>
                      </p:cNvPr>
                      <p:cNvPicPr>
                        <a:picLocks noChangeAspect="1" noChangeArrowheads="1"/>
                      </p:cNvPicPr>
                      <p:nvPr/>
                    </p:nvPicPr>
                    <p:blipFill>
                      <a:blip r:embed="rId10"/>
                      <a:srcRect/>
                      <a:stretch>
                        <a:fillRect/>
                      </a:stretch>
                    </p:blipFill>
                    <p:spPr bwMode="auto">
                      <a:xfrm>
                        <a:off x="1747566" y="5378431"/>
                        <a:ext cx="731837" cy="381000"/>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B96C5931-724D-50FA-DB33-6EAC4F3AC281}"/>
              </a:ext>
            </a:extLst>
          </p:cNvPr>
          <p:cNvSpPr>
            <a:spLocks noGrp="1"/>
          </p:cNvSpPr>
          <p:nvPr>
            <p:ph sz="quarter" idx="17"/>
          </p:nvPr>
        </p:nvSpPr>
        <p:spPr>
          <a:xfrm>
            <a:off x="1339715" y="5824269"/>
            <a:ext cx="351048" cy="405683"/>
          </a:xfrm>
        </p:spPr>
        <p:txBody>
          <a:bodyPr wrap="square">
            <a:spAutoFit/>
          </a:bodyPr>
          <a:lstStyle/>
          <a:p>
            <a:pPr marL="0" indent="0">
              <a:buNone/>
            </a:pPr>
            <a:r>
              <a:rPr lang="en-US" sz="2400" dirty="0">
                <a:solidFill>
                  <a:srgbClr val="007FA3"/>
                </a:solidFill>
              </a:rPr>
              <a:t>C.</a:t>
            </a:r>
          </a:p>
        </p:txBody>
      </p:sp>
      <p:graphicFrame>
        <p:nvGraphicFramePr>
          <p:cNvPr id="29" name="Object 28" descr="200 Ohms.&#10;">
            <a:extLst>
              <a:ext uri="{FF2B5EF4-FFF2-40B4-BE49-F238E27FC236}">
                <a16:creationId xmlns:a16="http://schemas.microsoft.com/office/drawing/2014/main" id="{6207A970-E3E8-FFE8-A60A-6E946D2DF49A}"/>
              </a:ext>
            </a:extLst>
          </p:cNvPr>
          <p:cNvGraphicFramePr>
            <a:graphicFrameLocks noChangeAspect="1"/>
          </p:cNvGraphicFramePr>
          <p:nvPr>
            <p:extLst>
              <p:ext uri="{D42A27DB-BD31-4B8C-83A1-F6EECF244321}">
                <p14:modId xmlns:p14="http://schemas.microsoft.com/office/powerpoint/2010/main" val="4020166537"/>
              </p:ext>
            </p:extLst>
          </p:nvPr>
        </p:nvGraphicFramePr>
        <p:xfrm>
          <a:off x="1726623" y="5887944"/>
          <a:ext cx="889000" cy="381000"/>
        </p:xfrm>
        <a:graphic>
          <a:graphicData uri="http://schemas.openxmlformats.org/presentationml/2006/ole">
            <mc:AlternateContent xmlns:mc="http://schemas.openxmlformats.org/markup-compatibility/2006">
              <mc:Choice xmlns:v="urn:schemas-microsoft-com:vml" Requires="v">
                <p:oleObj name="Equation" r:id="rId11" imgW="431640" imgH="203040" progId="Equation.DSMT4">
                  <p:embed/>
                </p:oleObj>
              </mc:Choice>
              <mc:Fallback>
                <p:oleObj name="Equation" r:id="rId11" imgW="431640" imgH="203040" progId="Equation.DSMT4">
                  <p:embed/>
                  <p:pic>
                    <p:nvPicPr>
                      <p:cNvPr id="28" name="Object 27">
                        <a:extLst>
                          <a:ext uri="{FF2B5EF4-FFF2-40B4-BE49-F238E27FC236}">
                            <a16:creationId xmlns:a16="http://schemas.microsoft.com/office/drawing/2014/main" id="{D6E25653-2032-CE45-2D22-BE7F00824D5D}"/>
                          </a:ext>
                        </a:extLst>
                      </p:cNvPr>
                      <p:cNvPicPr>
                        <a:picLocks noChangeAspect="1" noChangeArrowheads="1"/>
                      </p:cNvPicPr>
                      <p:nvPr/>
                    </p:nvPicPr>
                    <p:blipFill>
                      <a:blip r:embed="rId12"/>
                      <a:srcRect/>
                      <a:stretch>
                        <a:fillRect/>
                      </a:stretch>
                    </p:blipFill>
                    <p:spPr bwMode="auto">
                      <a:xfrm>
                        <a:off x="1726623" y="5887944"/>
                        <a:ext cx="889000" cy="3810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06247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71A8-98CA-306B-952C-533D5DDD1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2CEE83-DE31-F03D-3A18-9A813B975AFC}"/>
              </a:ext>
            </a:extLst>
          </p:cNvPr>
          <p:cNvSpPr>
            <a:spLocks noGrp="1"/>
          </p:cNvSpPr>
          <p:nvPr>
            <p:ph type="title"/>
          </p:nvPr>
        </p:nvSpPr>
        <p:spPr>
          <a:xfrm>
            <a:off x="428065" y="161845"/>
            <a:ext cx="8267700"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a:t>
            </a:r>
            <a:r>
              <a:rPr lang="en-US" sz="2800" dirty="0"/>
              <a:t> (2 of 10)</a:t>
            </a:r>
            <a:r>
              <a:rPr lang="en-US" dirty="0"/>
              <a:t> </a:t>
            </a:r>
          </a:p>
        </p:txBody>
      </p:sp>
      <p:sp>
        <p:nvSpPr>
          <p:cNvPr id="3" name="Content Placeholder 2">
            <a:extLst>
              <a:ext uri="{FF2B5EF4-FFF2-40B4-BE49-F238E27FC236}">
                <a16:creationId xmlns:a16="http://schemas.microsoft.com/office/drawing/2014/main" id="{FB6191F2-BC86-CC01-12B0-283A278DB718}"/>
              </a:ext>
            </a:extLst>
          </p:cNvPr>
          <p:cNvSpPr>
            <a:spLocks noGrp="1"/>
          </p:cNvSpPr>
          <p:nvPr>
            <p:ph sz="quarter" idx="12"/>
          </p:nvPr>
        </p:nvSpPr>
        <p:spPr>
          <a:xfrm>
            <a:off x="419100" y="1457789"/>
            <a:ext cx="4986618" cy="405683"/>
          </a:xfrm>
        </p:spPr>
        <p:txBody>
          <a:bodyPr wrap="square">
            <a:spAutoFit/>
          </a:bodyPr>
          <a:lstStyle/>
          <a:p>
            <a:pPr marL="0" indent="0">
              <a:buNone/>
            </a:pPr>
            <a:r>
              <a:rPr lang="en-US" sz="2400" dirty="0"/>
              <a:t>Step 3 – Calculate the time constant,</a:t>
            </a:r>
          </a:p>
        </p:txBody>
      </p:sp>
      <p:graphicFrame>
        <p:nvGraphicFramePr>
          <p:cNvPr id="21" name="Object 20" descr="tau equals L divided by R subscript e q.&#10;">
            <a:extLst>
              <a:ext uri="{FF2B5EF4-FFF2-40B4-BE49-F238E27FC236}">
                <a16:creationId xmlns:a16="http://schemas.microsoft.com/office/drawing/2014/main" id="{4659C373-C8B9-6B16-45EC-D1D1686EC31B}"/>
              </a:ext>
            </a:extLst>
          </p:cNvPr>
          <p:cNvGraphicFramePr>
            <a:graphicFrameLocks noChangeAspect="1"/>
          </p:cNvGraphicFramePr>
          <p:nvPr/>
        </p:nvGraphicFramePr>
        <p:xfrm>
          <a:off x="5446000" y="1467642"/>
          <a:ext cx="1357312" cy="452438"/>
        </p:xfrm>
        <a:graphic>
          <a:graphicData uri="http://schemas.openxmlformats.org/presentationml/2006/ole">
            <mc:AlternateContent xmlns:mc="http://schemas.openxmlformats.org/markup-compatibility/2006">
              <mc:Choice xmlns:v="urn:schemas-microsoft-com:vml" Requires="v">
                <p:oleObj name="Equation" r:id="rId5" imgW="660240" imgH="241200" progId="Equation.DSMT4">
                  <p:embed/>
                </p:oleObj>
              </mc:Choice>
              <mc:Fallback>
                <p:oleObj name="Equation" r:id="rId5" imgW="660240" imgH="241200" progId="Equation.DSMT4">
                  <p:embed/>
                  <p:pic>
                    <p:nvPicPr>
                      <p:cNvPr id="21" name="Object 20" descr="tau equals L divided by R subscript e q.&#10;">
                        <a:extLst>
                          <a:ext uri="{FF2B5EF4-FFF2-40B4-BE49-F238E27FC236}">
                            <a16:creationId xmlns:a16="http://schemas.microsoft.com/office/drawing/2014/main" id="{C92E7AD5-C75C-2091-7AF3-FF09E00DC39D}"/>
                          </a:ext>
                        </a:extLst>
                      </p:cNvPr>
                      <p:cNvPicPr>
                        <a:picLocks noChangeAspect="1" noChangeArrowheads="1"/>
                      </p:cNvPicPr>
                      <p:nvPr/>
                    </p:nvPicPr>
                    <p:blipFill>
                      <a:blip r:embed="rId6"/>
                      <a:srcRect/>
                      <a:stretch>
                        <a:fillRect/>
                      </a:stretch>
                    </p:blipFill>
                    <p:spPr bwMode="auto">
                      <a:xfrm>
                        <a:off x="5446000" y="1467642"/>
                        <a:ext cx="1357312" cy="452438"/>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B2600AEC-4E5A-DAE8-55FC-0ACE5D85FDE7}"/>
              </a:ext>
            </a:extLst>
          </p:cNvPr>
          <p:cNvSpPr>
            <a:spLocks noGrp="1"/>
          </p:cNvSpPr>
          <p:nvPr>
            <p:ph sz="quarter" idx="13"/>
          </p:nvPr>
        </p:nvSpPr>
        <p:spPr>
          <a:xfrm>
            <a:off x="6843594" y="1457788"/>
            <a:ext cx="359594" cy="405683"/>
          </a:xfrm>
        </p:spPr>
        <p:txBody>
          <a:bodyPr wrap="square">
            <a:spAutoFit/>
          </a:bodyPr>
          <a:lstStyle/>
          <a:p>
            <a:pPr marL="0" indent="0">
              <a:buNone/>
            </a:pPr>
            <a:r>
              <a:rPr lang="en-US" sz="2400" dirty="0"/>
              <a:t>for</a:t>
            </a:r>
          </a:p>
        </p:txBody>
      </p:sp>
      <p:graphicFrame>
        <p:nvGraphicFramePr>
          <p:cNvPr id="22" name="Object 21" descr="t is greater than or equal to 0.&#10;">
            <a:extLst>
              <a:ext uri="{FF2B5EF4-FFF2-40B4-BE49-F238E27FC236}">
                <a16:creationId xmlns:a16="http://schemas.microsoft.com/office/drawing/2014/main" id="{F0286610-93A2-5FF3-E8DE-ED9F28CD8DF8}"/>
              </a:ext>
            </a:extLst>
          </p:cNvPr>
          <p:cNvGraphicFramePr>
            <a:graphicFrameLocks noChangeAspect="1"/>
          </p:cNvGraphicFramePr>
          <p:nvPr/>
        </p:nvGraphicFramePr>
        <p:xfrm>
          <a:off x="7301009" y="1492797"/>
          <a:ext cx="860901" cy="364967"/>
        </p:xfrm>
        <a:graphic>
          <a:graphicData uri="http://schemas.openxmlformats.org/presentationml/2006/ole">
            <mc:AlternateContent xmlns:mc="http://schemas.openxmlformats.org/markup-compatibility/2006">
              <mc:Choice xmlns:v="urn:schemas-microsoft-com:vml" Requires="v">
                <p:oleObj name="Equation" r:id="rId7" imgW="380880" imgH="177480" progId="Equation.DSMT4">
                  <p:embed/>
                </p:oleObj>
              </mc:Choice>
              <mc:Fallback>
                <p:oleObj name="Equation" r:id="rId7" imgW="380880" imgH="177480" progId="Equation.DSMT4">
                  <p:embed/>
                  <p:pic>
                    <p:nvPicPr>
                      <p:cNvPr id="22" name="Object 21" descr="t is greater than or equal to 0.&#10;">
                        <a:extLst>
                          <a:ext uri="{FF2B5EF4-FFF2-40B4-BE49-F238E27FC236}">
                            <a16:creationId xmlns:a16="http://schemas.microsoft.com/office/drawing/2014/main" id="{7CEF585E-A2C7-2C3B-8122-3C9D3434A052}"/>
                          </a:ext>
                        </a:extLst>
                      </p:cNvPr>
                      <p:cNvPicPr>
                        <a:picLocks noChangeAspect="1" noChangeArrowheads="1"/>
                      </p:cNvPicPr>
                      <p:nvPr/>
                    </p:nvPicPr>
                    <p:blipFill>
                      <a:blip r:embed="rId8"/>
                      <a:srcRect/>
                      <a:stretch>
                        <a:fillRect/>
                      </a:stretch>
                    </p:blipFill>
                    <p:spPr bwMode="auto">
                      <a:xfrm>
                        <a:off x="7301009" y="1492797"/>
                        <a:ext cx="860901" cy="364967"/>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483594AF-42FE-93E2-ECBC-3BCDCE454824}"/>
              </a:ext>
            </a:extLst>
          </p:cNvPr>
          <p:cNvSpPr>
            <a:spLocks noGrp="1"/>
          </p:cNvSpPr>
          <p:nvPr>
            <p:ph sz="quarter" idx="14"/>
          </p:nvPr>
        </p:nvSpPr>
        <p:spPr>
          <a:xfrm>
            <a:off x="433177" y="1994457"/>
            <a:ext cx="8242511" cy="775015"/>
          </a:xfrm>
        </p:spPr>
        <p:txBody>
          <a:bodyPr wrap="square">
            <a:spAutoFit/>
          </a:bodyPr>
          <a:lstStyle/>
          <a:p>
            <a:pPr marL="0" indent="0">
              <a:spcBef>
                <a:spcPct val="0"/>
              </a:spcBef>
              <a:buClrTx/>
              <a:buNone/>
            </a:pPr>
            <a:r>
              <a:rPr lang="en-US" sz="2400" dirty="0">
                <a:sym typeface="Symbol" pitchFamily="18" charset="2"/>
              </a:rPr>
              <a:t>What is the Thevenin equivalent resistance of the circuit attached to the inductor?</a:t>
            </a:r>
            <a:endParaRPr lang="en-US" altLang="en-US" sz="2400" dirty="0"/>
          </a:p>
        </p:txBody>
      </p:sp>
      <p:pic>
        <p:nvPicPr>
          <p:cNvPr id="23" name="Picture 2" descr="A circuit diagram shows current i flowing from top to bottom of the 200 milli Henry inductor in the leftmost wire of the circuit. The second wire from the left includes a 10 ohms resistor and the third wire from the left includes an 8 ampere ammeter. All three components are in parallel with each other and the symbol a represents the top wire between the 200 milli Henry inductor and the 10 ohms resistor. The Thenvin equivalent resistance R subscript Th is shown as a right angled arrow pointing rightwards in the bottom wire between the 200 milli Henry inductor and the 10 ohms resistor.">
            <a:extLst>
              <a:ext uri="{FF2B5EF4-FFF2-40B4-BE49-F238E27FC236}">
                <a16:creationId xmlns:a16="http://schemas.microsoft.com/office/drawing/2014/main" id="{E1605207-123F-8657-85CC-AE74576B855D}"/>
              </a:ext>
            </a:extLst>
          </p:cNvPr>
          <p:cNvPicPr>
            <a:picLocks noChangeAspect="1" noChangeArrowheads="1"/>
          </p:cNvPicPr>
          <p:nvPr/>
        </p:nvPicPr>
        <p:blipFill>
          <a:blip r:embed="rId9"/>
          <a:stretch>
            <a:fillRect/>
          </a:stretch>
        </p:blipFill>
        <p:spPr bwMode="auto">
          <a:xfrm>
            <a:off x="2960508" y="3053150"/>
            <a:ext cx="3169195" cy="1522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435" descr="Check mark">
            <a:extLst>
              <a:ext uri="{FF2B5EF4-FFF2-40B4-BE49-F238E27FC236}">
                <a16:creationId xmlns:a16="http://schemas.microsoft.com/office/drawing/2014/main" id="{77BB9C89-1D36-FB3F-09F2-D03C4A621D6E}"/>
              </a:ext>
            </a:extLst>
          </p:cNvPr>
          <p:cNvPicPr>
            <a:picLocks/>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838200" y="481701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34A9DF28-4317-581B-B440-644A5874255E}"/>
              </a:ext>
            </a:extLst>
          </p:cNvPr>
          <p:cNvSpPr>
            <a:spLocks noGrp="1"/>
          </p:cNvSpPr>
          <p:nvPr>
            <p:ph sz="quarter" idx="15"/>
          </p:nvPr>
        </p:nvSpPr>
        <p:spPr>
          <a:xfrm>
            <a:off x="1347863" y="4768384"/>
            <a:ext cx="342900" cy="405683"/>
          </a:xfrm>
        </p:spPr>
        <p:txBody>
          <a:bodyPr wrap="square">
            <a:spAutoFit/>
          </a:bodyPr>
          <a:lstStyle/>
          <a:p>
            <a:pPr marL="0" indent="0">
              <a:buNone/>
            </a:pPr>
            <a:r>
              <a:rPr lang="en-US" sz="2400" dirty="0">
                <a:solidFill>
                  <a:srgbClr val="007FA3"/>
                </a:solidFill>
              </a:rPr>
              <a:t>A.</a:t>
            </a:r>
          </a:p>
        </p:txBody>
      </p:sp>
      <p:graphicFrame>
        <p:nvGraphicFramePr>
          <p:cNvPr id="27" name="Object 26" descr="10 Ohms.&#10;">
            <a:extLst>
              <a:ext uri="{FF2B5EF4-FFF2-40B4-BE49-F238E27FC236}">
                <a16:creationId xmlns:a16="http://schemas.microsoft.com/office/drawing/2014/main" id="{6F583C79-AB41-5BFA-4FDE-2BA100B3B29B}"/>
              </a:ext>
            </a:extLst>
          </p:cNvPr>
          <p:cNvGraphicFramePr>
            <a:graphicFrameLocks noChangeAspect="1"/>
          </p:cNvGraphicFramePr>
          <p:nvPr/>
        </p:nvGraphicFramePr>
        <p:xfrm>
          <a:off x="1738601" y="4804744"/>
          <a:ext cx="704850" cy="381000"/>
        </p:xfrm>
        <a:graphic>
          <a:graphicData uri="http://schemas.openxmlformats.org/presentationml/2006/ole">
            <mc:AlternateContent xmlns:mc="http://schemas.openxmlformats.org/markup-compatibility/2006">
              <mc:Choice xmlns:v="urn:schemas-microsoft-com:vml" Requires="v">
                <p:oleObj name="Equation" r:id="rId11" imgW="342720" imgH="203040" progId="Equation.DSMT4">
                  <p:embed/>
                </p:oleObj>
              </mc:Choice>
              <mc:Fallback>
                <p:oleObj name="Equation" r:id="rId11" imgW="342720" imgH="203040" progId="Equation.DSMT4">
                  <p:embed/>
                  <p:pic>
                    <p:nvPicPr>
                      <p:cNvPr id="27" name="Object 26" descr="10 Ohms.&#10;">
                        <a:extLst>
                          <a:ext uri="{FF2B5EF4-FFF2-40B4-BE49-F238E27FC236}">
                            <a16:creationId xmlns:a16="http://schemas.microsoft.com/office/drawing/2014/main" id="{A030FDCF-A69B-E1C5-0260-033DA1A59DFC}"/>
                          </a:ext>
                        </a:extLst>
                      </p:cNvPr>
                      <p:cNvPicPr>
                        <a:picLocks noChangeAspect="1" noChangeArrowheads="1"/>
                      </p:cNvPicPr>
                      <p:nvPr/>
                    </p:nvPicPr>
                    <p:blipFill>
                      <a:blip r:embed="rId12"/>
                      <a:srcRect/>
                      <a:stretch>
                        <a:fillRect/>
                      </a:stretch>
                    </p:blipFill>
                    <p:spPr bwMode="auto">
                      <a:xfrm>
                        <a:off x="1738601" y="4804744"/>
                        <a:ext cx="704850" cy="381000"/>
                      </a:xfrm>
                      <a:prstGeom prst="rect">
                        <a:avLst/>
                      </a:prstGeom>
                      <a:noFill/>
                      <a:ln>
                        <a:noFill/>
                      </a:ln>
                    </p:spPr>
                  </p:pic>
                </p:oleObj>
              </mc:Fallback>
            </mc:AlternateContent>
          </a:graphicData>
        </a:graphic>
      </p:graphicFrame>
      <p:pic>
        <p:nvPicPr>
          <p:cNvPr id="25" name="Picture 1434" descr="Cross mark">
            <a:extLst>
              <a:ext uri="{FF2B5EF4-FFF2-40B4-BE49-F238E27FC236}">
                <a16:creationId xmlns:a16="http://schemas.microsoft.com/office/drawing/2014/main" id="{E78170EE-986B-5B66-FF3E-C6AD5E7F406D}"/>
              </a:ext>
            </a:extLst>
          </p:cNvPr>
          <p:cNvPicPr>
            <a:picLocks/>
          </p:cNvPicPr>
          <p:nvPr>
            <p:custDataLst>
              <p:tags r:id="rId2"/>
            </p:custDataLst>
          </p:nvPr>
        </p:nvPicPr>
        <p:blipFill>
          <a:blip r:embed="rId13">
            <a:extLst>
              <a:ext uri="{28A0092B-C50C-407E-A947-70E740481C1C}">
                <a14:useLocalDpi xmlns:a14="http://schemas.microsoft.com/office/drawing/2010/main" val="0"/>
              </a:ext>
            </a:extLst>
          </a:blip>
          <a:srcRect/>
          <a:stretch>
            <a:fillRect/>
          </a:stretch>
        </p:blipFill>
        <p:spPr bwMode="auto">
          <a:xfrm>
            <a:off x="815802" y="5384846"/>
            <a:ext cx="342900" cy="28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F0CA0054-5BB3-1B59-3CE1-A006BE88D50A}"/>
              </a:ext>
            </a:extLst>
          </p:cNvPr>
          <p:cNvSpPr>
            <a:spLocks noGrp="1"/>
          </p:cNvSpPr>
          <p:nvPr>
            <p:ph sz="quarter" idx="16"/>
          </p:nvPr>
        </p:nvSpPr>
        <p:spPr>
          <a:xfrm>
            <a:off x="1347863" y="5351536"/>
            <a:ext cx="342900" cy="405683"/>
          </a:xfrm>
        </p:spPr>
        <p:txBody>
          <a:bodyPr wrap="square">
            <a:spAutoFit/>
          </a:bodyPr>
          <a:lstStyle/>
          <a:p>
            <a:pPr marL="0" indent="0">
              <a:buNone/>
            </a:pPr>
            <a:r>
              <a:rPr lang="en-US" sz="2400" dirty="0">
                <a:solidFill>
                  <a:srgbClr val="007FA3"/>
                </a:solidFill>
              </a:rPr>
              <a:t>B.</a:t>
            </a:r>
          </a:p>
        </p:txBody>
      </p:sp>
      <p:graphicFrame>
        <p:nvGraphicFramePr>
          <p:cNvPr id="28" name="Object 27" descr="80 Ohms.&#10;">
            <a:extLst>
              <a:ext uri="{FF2B5EF4-FFF2-40B4-BE49-F238E27FC236}">
                <a16:creationId xmlns:a16="http://schemas.microsoft.com/office/drawing/2014/main" id="{6DA87389-33B3-10B5-49BB-0148E5D4D458}"/>
              </a:ext>
            </a:extLst>
          </p:cNvPr>
          <p:cNvGraphicFramePr>
            <a:graphicFrameLocks noChangeAspect="1"/>
          </p:cNvGraphicFramePr>
          <p:nvPr/>
        </p:nvGraphicFramePr>
        <p:xfrm>
          <a:off x="1747566" y="5378431"/>
          <a:ext cx="731837" cy="381000"/>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28" name="Object 27" descr="80 Ohms.&#10;">
                        <a:extLst>
                          <a:ext uri="{FF2B5EF4-FFF2-40B4-BE49-F238E27FC236}">
                            <a16:creationId xmlns:a16="http://schemas.microsoft.com/office/drawing/2014/main" id="{D6E25653-2032-CE45-2D22-BE7F00824D5D}"/>
                          </a:ext>
                        </a:extLst>
                      </p:cNvPr>
                      <p:cNvPicPr>
                        <a:picLocks noChangeAspect="1" noChangeArrowheads="1"/>
                      </p:cNvPicPr>
                      <p:nvPr/>
                    </p:nvPicPr>
                    <p:blipFill>
                      <a:blip r:embed="rId15"/>
                      <a:srcRect/>
                      <a:stretch>
                        <a:fillRect/>
                      </a:stretch>
                    </p:blipFill>
                    <p:spPr bwMode="auto">
                      <a:xfrm>
                        <a:off x="1747566" y="5378431"/>
                        <a:ext cx="731837" cy="381000"/>
                      </a:xfrm>
                      <a:prstGeom prst="rect">
                        <a:avLst/>
                      </a:prstGeom>
                      <a:noFill/>
                      <a:ln>
                        <a:noFill/>
                      </a:ln>
                    </p:spPr>
                  </p:pic>
                </p:oleObj>
              </mc:Fallback>
            </mc:AlternateContent>
          </a:graphicData>
        </a:graphic>
      </p:graphicFrame>
      <p:pic>
        <p:nvPicPr>
          <p:cNvPr id="26" name="Picture 1436" descr="Cross mark">
            <a:extLst>
              <a:ext uri="{FF2B5EF4-FFF2-40B4-BE49-F238E27FC236}">
                <a16:creationId xmlns:a16="http://schemas.microsoft.com/office/drawing/2014/main" id="{758F9BFE-9794-0EA2-2DC6-CEEF4EEBAA85}"/>
              </a:ext>
            </a:extLst>
          </p:cNvPr>
          <p:cNvPicPr>
            <a:picLocks/>
          </p:cNvPicPr>
          <p:nvPr>
            <p:custDataLst>
              <p:tags r:id="rId3"/>
            </p:custDataLst>
          </p:nvPr>
        </p:nvPicPr>
        <p:blipFill>
          <a:blip r:embed="rId13">
            <a:extLst>
              <a:ext uri="{28A0092B-C50C-407E-A947-70E740481C1C}">
                <a14:useLocalDpi xmlns:a14="http://schemas.microsoft.com/office/drawing/2010/main" val="0"/>
              </a:ext>
            </a:extLst>
          </a:blip>
          <a:srcRect/>
          <a:stretch>
            <a:fillRect/>
          </a:stretch>
        </p:blipFill>
        <p:spPr bwMode="auto">
          <a:xfrm>
            <a:off x="815802" y="5901312"/>
            <a:ext cx="342900" cy="28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E376E9E8-607B-8447-4008-AEA450EEFA31}"/>
              </a:ext>
            </a:extLst>
          </p:cNvPr>
          <p:cNvSpPr>
            <a:spLocks noGrp="1"/>
          </p:cNvSpPr>
          <p:nvPr>
            <p:ph sz="quarter" idx="17"/>
          </p:nvPr>
        </p:nvSpPr>
        <p:spPr>
          <a:xfrm>
            <a:off x="1339715" y="5824269"/>
            <a:ext cx="351048" cy="405683"/>
          </a:xfrm>
        </p:spPr>
        <p:txBody>
          <a:bodyPr wrap="square">
            <a:spAutoFit/>
          </a:bodyPr>
          <a:lstStyle/>
          <a:p>
            <a:pPr marL="0" indent="0">
              <a:buNone/>
            </a:pPr>
            <a:r>
              <a:rPr lang="en-US" sz="2400" dirty="0">
                <a:solidFill>
                  <a:srgbClr val="007FA3"/>
                </a:solidFill>
              </a:rPr>
              <a:t>C.</a:t>
            </a:r>
          </a:p>
        </p:txBody>
      </p:sp>
      <p:graphicFrame>
        <p:nvGraphicFramePr>
          <p:cNvPr id="29" name="Object 28" descr="200 Ohms.&#10;">
            <a:extLst>
              <a:ext uri="{FF2B5EF4-FFF2-40B4-BE49-F238E27FC236}">
                <a16:creationId xmlns:a16="http://schemas.microsoft.com/office/drawing/2014/main" id="{9EC0958E-5EAB-5B77-5467-09EE002925B4}"/>
              </a:ext>
            </a:extLst>
          </p:cNvPr>
          <p:cNvGraphicFramePr>
            <a:graphicFrameLocks noChangeAspect="1"/>
          </p:cNvGraphicFramePr>
          <p:nvPr/>
        </p:nvGraphicFramePr>
        <p:xfrm>
          <a:off x="1726623" y="5887944"/>
          <a:ext cx="889000" cy="381000"/>
        </p:xfrm>
        <a:graphic>
          <a:graphicData uri="http://schemas.openxmlformats.org/presentationml/2006/ole">
            <mc:AlternateContent xmlns:mc="http://schemas.openxmlformats.org/markup-compatibility/2006">
              <mc:Choice xmlns:v="urn:schemas-microsoft-com:vml" Requires="v">
                <p:oleObj name="Equation" r:id="rId16" imgW="431640" imgH="203040" progId="Equation.DSMT4">
                  <p:embed/>
                </p:oleObj>
              </mc:Choice>
              <mc:Fallback>
                <p:oleObj name="Equation" r:id="rId16" imgW="431640" imgH="203040" progId="Equation.DSMT4">
                  <p:embed/>
                  <p:pic>
                    <p:nvPicPr>
                      <p:cNvPr id="29" name="Object 28" descr="200 Ohms.&#10;">
                        <a:extLst>
                          <a:ext uri="{FF2B5EF4-FFF2-40B4-BE49-F238E27FC236}">
                            <a16:creationId xmlns:a16="http://schemas.microsoft.com/office/drawing/2014/main" id="{6207A970-E3E8-FFE8-A60A-6E946D2DF49A}"/>
                          </a:ext>
                        </a:extLst>
                      </p:cNvPr>
                      <p:cNvPicPr>
                        <a:picLocks noChangeAspect="1" noChangeArrowheads="1"/>
                      </p:cNvPicPr>
                      <p:nvPr/>
                    </p:nvPicPr>
                    <p:blipFill>
                      <a:blip r:embed="rId17"/>
                      <a:srcRect/>
                      <a:stretch>
                        <a:fillRect/>
                      </a:stretch>
                    </p:blipFill>
                    <p:spPr bwMode="auto">
                      <a:xfrm>
                        <a:off x="1726623" y="5887944"/>
                        <a:ext cx="889000" cy="3810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75115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997B-D0AE-F547-0A44-79C2E0B9E0CC}"/>
              </a:ext>
            </a:extLst>
          </p:cNvPr>
          <p:cNvSpPr>
            <a:spLocks noGrp="1"/>
          </p:cNvSpPr>
          <p:nvPr>
            <p:ph type="title"/>
          </p:nvPr>
        </p:nvSpPr>
        <p:spPr>
          <a:xfrm>
            <a:off x="428336" y="164555"/>
            <a:ext cx="8247352" cy="1144347"/>
          </a:xfrm>
        </p:spPr>
        <p:txBody>
          <a:bodyPr/>
          <a:lstStyle/>
          <a:p>
            <a:r>
              <a:rPr lang="en-US" sz="3600" dirty="0">
                <a:latin typeface="+mj-lt"/>
              </a:rPr>
              <a:t>Chapter 7 – </a:t>
            </a:r>
            <a:r>
              <a:rPr lang="en-US" sz="3600" i="1" spc="-500" dirty="0">
                <a:latin typeface="+mj-lt"/>
              </a:rPr>
              <a:t>R </a:t>
            </a:r>
            <a:r>
              <a:rPr lang="en-US" sz="3600" i="1" dirty="0">
                <a:latin typeface="+mj-lt"/>
              </a:rPr>
              <a:t>L</a:t>
            </a:r>
            <a:r>
              <a:rPr lang="en-US" sz="3600" dirty="0">
                <a:latin typeface="+mj-lt"/>
              </a:rPr>
              <a:t>/</a:t>
            </a:r>
            <a:r>
              <a:rPr lang="en-US" sz="3600" i="1" spc="-500" dirty="0">
                <a:latin typeface="+mj-lt"/>
              </a:rPr>
              <a:t>R </a:t>
            </a:r>
            <a:r>
              <a:rPr lang="en-US" sz="3600" i="1" dirty="0">
                <a:latin typeface="+mj-lt"/>
              </a:rPr>
              <a:t>C</a:t>
            </a:r>
            <a:r>
              <a:rPr lang="en-US" sz="3600" dirty="0">
                <a:latin typeface="+mj-lt"/>
              </a:rPr>
              <a:t> Step Response Examples </a:t>
            </a:r>
            <a:r>
              <a:rPr lang="en-US" sz="2800" dirty="0">
                <a:latin typeface="+mj-lt"/>
              </a:rPr>
              <a:t>(3 of 10)</a:t>
            </a:r>
            <a:endParaRPr lang="en-US" dirty="0"/>
          </a:p>
        </p:txBody>
      </p:sp>
      <p:sp>
        <p:nvSpPr>
          <p:cNvPr id="3" name="Content Placeholder 2">
            <a:extLst>
              <a:ext uri="{FF2B5EF4-FFF2-40B4-BE49-F238E27FC236}">
                <a16:creationId xmlns:a16="http://schemas.microsoft.com/office/drawing/2014/main" id="{1CC63A4D-895F-B7A9-969D-410A58826C9E}"/>
              </a:ext>
            </a:extLst>
          </p:cNvPr>
          <p:cNvSpPr>
            <a:spLocks noGrp="1"/>
          </p:cNvSpPr>
          <p:nvPr>
            <p:ph sz="quarter" idx="12"/>
          </p:nvPr>
        </p:nvSpPr>
        <p:spPr>
          <a:xfrm>
            <a:off x="428336" y="1476635"/>
            <a:ext cx="1390073" cy="374906"/>
          </a:xfrm>
        </p:spPr>
        <p:txBody>
          <a:bodyPr>
            <a:spAutoFit/>
          </a:bodyPr>
          <a:lstStyle/>
          <a:p>
            <a:pPr marL="0" indent="0">
              <a:buNone/>
            </a:pPr>
            <a:r>
              <a:rPr lang="en-US" altLang="en-US" sz="2200" dirty="0"/>
              <a:t>Find </a:t>
            </a:r>
            <a:r>
              <a:rPr lang="en-US" altLang="en-US" sz="2200" dirty="0" err="1"/>
              <a:t>i</a:t>
            </a:r>
            <a:r>
              <a:rPr lang="en-US" altLang="en-US" sz="2200" dirty="0"/>
              <a:t>(t) for</a:t>
            </a:r>
            <a:endParaRPr lang="en-US" sz="2200" dirty="0"/>
          </a:p>
        </p:txBody>
      </p:sp>
      <p:graphicFrame>
        <p:nvGraphicFramePr>
          <p:cNvPr id="21" name="Object 20" descr="t is greater than or equal to 0.&#10;">
            <a:extLst>
              <a:ext uri="{FF2B5EF4-FFF2-40B4-BE49-F238E27FC236}">
                <a16:creationId xmlns:a16="http://schemas.microsoft.com/office/drawing/2014/main" id="{59510B2D-19FC-1D18-E5BD-1E8A4A7B7100}"/>
              </a:ext>
            </a:extLst>
          </p:cNvPr>
          <p:cNvGraphicFramePr>
            <a:graphicFrameLocks noChangeAspect="1"/>
          </p:cNvGraphicFramePr>
          <p:nvPr>
            <p:extLst>
              <p:ext uri="{D42A27DB-BD31-4B8C-83A1-F6EECF244321}">
                <p14:modId xmlns:p14="http://schemas.microsoft.com/office/powerpoint/2010/main" val="1920127455"/>
              </p:ext>
            </p:extLst>
          </p:nvPr>
        </p:nvGraphicFramePr>
        <p:xfrm>
          <a:off x="1846117" y="1527762"/>
          <a:ext cx="704273" cy="331932"/>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22" name="Object 21">
                        <a:extLst>
                          <a:ext uri="{FF2B5EF4-FFF2-40B4-BE49-F238E27FC236}">
                            <a16:creationId xmlns:a16="http://schemas.microsoft.com/office/drawing/2014/main" id="{7CEF585E-A2C7-2C3B-8122-3C9D3434A052}"/>
                          </a:ext>
                        </a:extLst>
                      </p:cNvPr>
                      <p:cNvPicPr>
                        <a:picLocks noChangeAspect="1" noChangeArrowheads="1"/>
                      </p:cNvPicPr>
                      <p:nvPr/>
                    </p:nvPicPr>
                    <p:blipFill>
                      <a:blip r:embed="rId3"/>
                      <a:srcRect/>
                      <a:stretch>
                        <a:fillRect/>
                      </a:stretch>
                    </p:blipFill>
                    <p:spPr bwMode="auto">
                      <a:xfrm>
                        <a:off x="1846117" y="1527762"/>
                        <a:ext cx="704273" cy="331932"/>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38505B82-B44E-BDED-7989-ACD8D3DCFD43}"/>
              </a:ext>
            </a:extLst>
          </p:cNvPr>
          <p:cNvSpPr>
            <a:spLocks noGrp="1"/>
          </p:cNvSpPr>
          <p:nvPr>
            <p:ph sz="quarter" idx="13"/>
          </p:nvPr>
        </p:nvSpPr>
        <p:spPr>
          <a:xfrm>
            <a:off x="2596570" y="1474409"/>
            <a:ext cx="1536939" cy="374906"/>
          </a:xfrm>
        </p:spPr>
        <p:txBody>
          <a:bodyPr wrap="square">
            <a:spAutoFit/>
          </a:bodyPr>
          <a:lstStyle/>
          <a:p>
            <a:pPr marL="0" indent="0">
              <a:spcBef>
                <a:spcPts val="300"/>
              </a:spcBef>
              <a:buNone/>
            </a:pPr>
            <a:r>
              <a:rPr lang="en-US" altLang="en-US" sz="2200" dirty="0"/>
              <a:t>(continued).</a:t>
            </a:r>
          </a:p>
        </p:txBody>
      </p:sp>
      <p:pic>
        <p:nvPicPr>
          <p:cNvPr id="22" name="Picture 2"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FC33910D-9888-BFB3-E686-733300736ED4}"/>
              </a:ext>
            </a:extLst>
          </p:cNvPr>
          <p:cNvPicPr>
            <a:picLocks noChangeAspect="1" noChangeArrowheads="1"/>
          </p:cNvPicPr>
          <p:nvPr/>
        </p:nvPicPr>
        <p:blipFill>
          <a:blip r:embed="rId4"/>
          <a:stretch>
            <a:fillRect/>
          </a:stretch>
        </p:blipFill>
        <p:spPr bwMode="auto">
          <a:xfrm>
            <a:off x="4355717" y="1350363"/>
            <a:ext cx="4281935" cy="1914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CB8B69E1-4390-B32D-49BD-55E4BE91CFCB}"/>
              </a:ext>
            </a:extLst>
          </p:cNvPr>
          <p:cNvSpPr>
            <a:spLocks noGrp="1"/>
          </p:cNvSpPr>
          <p:nvPr>
            <p:ph sz="quarter" idx="14"/>
          </p:nvPr>
        </p:nvSpPr>
        <p:spPr>
          <a:xfrm>
            <a:off x="421496" y="3343143"/>
            <a:ext cx="2548349" cy="374906"/>
          </a:xfrm>
        </p:spPr>
        <p:txBody>
          <a:bodyPr wrap="square">
            <a:spAutoFit/>
          </a:bodyPr>
          <a:lstStyle/>
          <a:p>
            <a:pPr marL="0" indent="0">
              <a:buNone/>
            </a:pPr>
            <a:r>
              <a:rPr lang="en-US" altLang="en-US" sz="2200" dirty="0"/>
              <a:t>The time constant is</a:t>
            </a:r>
            <a:endParaRPr lang="en-US" sz="2200" dirty="0"/>
          </a:p>
        </p:txBody>
      </p:sp>
      <p:graphicFrame>
        <p:nvGraphicFramePr>
          <p:cNvPr id="23" name="Object 22" descr="tau equals R divided by L equals (0.2) divided by (10) equals 0.02 seconds.&#10;">
            <a:extLst>
              <a:ext uri="{FF2B5EF4-FFF2-40B4-BE49-F238E27FC236}">
                <a16:creationId xmlns:a16="http://schemas.microsoft.com/office/drawing/2014/main" id="{2D789C75-1F92-0325-D77D-AE40C4E3BBC9}"/>
              </a:ext>
            </a:extLst>
          </p:cNvPr>
          <p:cNvGraphicFramePr>
            <a:graphicFrameLocks noChangeAspect="1"/>
          </p:cNvGraphicFramePr>
          <p:nvPr>
            <p:extLst>
              <p:ext uri="{D42A27DB-BD31-4B8C-83A1-F6EECF244321}">
                <p14:modId xmlns:p14="http://schemas.microsoft.com/office/powerpoint/2010/main" val="1484932954"/>
              </p:ext>
            </p:extLst>
          </p:nvPr>
        </p:nvGraphicFramePr>
        <p:xfrm>
          <a:off x="3076575" y="3386138"/>
          <a:ext cx="3798888" cy="344487"/>
        </p:xfrm>
        <a:graphic>
          <a:graphicData uri="http://schemas.openxmlformats.org/presentationml/2006/ole">
            <mc:AlternateContent xmlns:mc="http://schemas.openxmlformats.org/markup-compatibility/2006">
              <mc:Choice xmlns:v="urn:schemas-microsoft-com:vml" Requires="v">
                <p:oleObj name="Equation" r:id="rId5" imgW="2031840" imgH="203040" progId="Equation.DSMT4">
                  <p:embed/>
                </p:oleObj>
              </mc:Choice>
              <mc:Fallback>
                <p:oleObj name="Equation" r:id="rId5" imgW="2031840" imgH="203040" progId="Equation.DSMT4">
                  <p:embed/>
                  <p:pic>
                    <p:nvPicPr>
                      <p:cNvPr id="21" name="Object 20">
                        <a:extLst>
                          <a:ext uri="{FF2B5EF4-FFF2-40B4-BE49-F238E27FC236}">
                            <a16:creationId xmlns:a16="http://schemas.microsoft.com/office/drawing/2014/main" id="{59510B2D-19FC-1D18-E5BD-1E8A4A7B7100}"/>
                          </a:ext>
                        </a:extLst>
                      </p:cNvPr>
                      <p:cNvPicPr>
                        <a:picLocks noChangeAspect="1" noChangeArrowheads="1"/>
                      </p:cNvPicPr>
                      <p:nvPr/>
                    </p:nvPicPr>
                    <p:blipFill>
                      <a:blip r:embed="rId6"/>
                      <a:srcRect/>
                      <a:stretch>
                        <a:fillRect/>
                      </a:stretch>
                    </p:blipFill>
                    <p:spPr bwMode="auto">
                      <a:xfrm>
                        <a:off x="3076575" y="3386138"/>
                        <a:ext cx="3798888" cy="344487"/>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78E7D7B0-1CC5-92F7-F2E2-34DB2302EDEB}"/>
              </a:ext>
            </a:extLst>
          </p:cNvPr>
          <p:cNvSpPr>
            <a:spLocks noGrp="1"/>
          </p:cNvSpPr>
          <p:nvPr>
            <p:ph sz="quarter" idx="15"/>
          </p:nvPr>
        </p:nvSpPr>
        <p:spPr>
          <a:xfrm>
            <a:off x="423897" y="3832195"/>
            <a:ext cx="4100407" cy="374906"/>
          </a:xfrm>
        </p:spPr>
        <p:txBody>
          <a:bodyPr wrap="square">
            <a:spAutoFit/>
          </a:bodyPr>
          <a:lstStyle/>
          <a:p>
            <a:pPr marL="0" indent="0">
              <a:buNone/>
            </a:pPr>
            <a:r>
              <a:rPr lang="en-US" altLang="en-US" sz="2200" dirty="0">
                <a:sym typeface="Symbol" pitchFamily="18" charset="2"/>
              </a:rPr>
              <a:t>Step 4 – Calculate the final value</a:t>
            </a:r>
            <a:endParaRPr lang="en-US" sz="2200" dirty="0"/>
          </a:p>
        </p:txBody>
      </p:sp>
      <p:graphicFrame>
        <p:nvGraphicFramePr>
          <p:cNvPr id="24" name="Object 23" descr="I subscript f&#10;">
            <a:extLst>
              <a:ext uri="{FF2B5EF4-FFF2-40B4-BE49-F238E27FC236}">
                <a16:creationId xmlns:a16="http://schemas.microsoft.com/office/drawing/2014/main" id="{11F99D2E-37E9-0ABF-48FA-846547BC445F}"/>
              </a:ext>
            </a:extLst>
          </p:cNvPr>
          <p:cNvGraphicFramePr>
            <a:graphicFrameLocks noChangeAspect="1"/>
          </p:cNvGraphicFramePr>
          <p:nvPr>
            <p:extLst>
              <p:ext uri="{D42A27DB-BD31-4B8C-83A1-F6EECF244321}">
                <p14:modId xmlns:p14="http://schemas.microsoft.com/office/powerpoint/2010/main" val="4103699891"/>
              </p:ext>
            </p:extLst>
          </p:nvPr>
        </p:nvGraphicFramePr>
        <p:xfrm>
          <a:off x="4620640" y="3859643"/>
          <a:ext cx="238125" cy="387350"/>
        </p:xfrm>
        <a:graphic>
          <a:graphicData uri="http://schemas.openxmlformats.org/presentationml/2006/ole">
            <mc:AlternateContent xmlns:mc="http://schemas.openxmlformats.org/markup-compatibility/2006">
              <mc:Choice xmlns:v="urn:schemas-microsoft-com:vml" Requires="v">
                <p:oleObj name="Equation" r:id="rId7" imgW="126720" imgH="228600" progId="Equation.DSMT4">
                  <p:embed/>
                </p:oleObj>
              </mc:Choice>
              <mc:Fallback>
                <p:oleObj name="Equation" r:id="rId7" imgW="126720" imgH="228600" progId="Equation.DSMT4">
                  <p:embed/>
                  <p:pic>
                    <p:nvPicPr>
                      <p:cNvPr id="23" name="Object 22">
                        <a:extLst>
                          <a:ext uri="{FF2B5EF4-FFF2-40B4-BE49-F238E27FC236}">
                            <a16:creationId xmlns:a16="http://schemas.microsoft.com/office/drawing/2014/main" id="{2D789C75-1F92-0325-D77D-AE40C4E3BBC9}"/>
                          </a:ext>
                        </a:extLst>
                      </p:cNvPr>
                      <p:cNvPicPr>
                        <a:picLocks noChangeAspect="1" noChangeArrowheads="1"/>
                      </p:cNvPicPr>
                      <p:nvPr/>
                    </p:nvPicPr>
                    <p:blipFill>
                      <a:blip r:embed="rId8"/>
                      <a:srcRect/>
                      <a:stretch>
                        <a:fillRect/>
                      </a:stretch>
                    </p:blipFill>
                    <p:spPr bwMode="auto">
                      <a:xfrm>
                        <a:off x="4620640" y="3859643"/>
                        <a:ext cx="238125" cy="387350"/>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83098898-A2C7-9AB2-02A2-C17CA1FE65C7}"/>
              </a:ext>
            </a:extLst>
          </p:cNvPr>
          <p:cNvSpPr>
            <a:spLocks noGrp="1"/>
          </p:cNvSpPr>
          <p:nvPr>
            <p:ph sz="quarter" idx="16"/>
          </p:nvPr>
        </p:nvSpPr>
        <p:spPr>
          <a:xfrm>
            <a:off x="4942321" y="3862851"/>
            <a:ext cx="3733367" cy="374906"/>
          </a:xfrm>
        </p:spPr>
        <p:txBody>
          <a:bodyPr wrap="square">
            <a:spAutoFit/>
          </a:bodyPr>
          <a:lstStyle/>
          <a:p>
            <a:pPr marL="0" indent="0">
              <a:buNone/>
            </a:pPr>
            <a:r>
              <a:rPr lang="en-US" altLang="en-US" sz="2200" dirty="0">
                <a:sym typeface="Symbol" pitchFamily="18" charset="2"/>
              </a:rPr>
              <a:t>by analyzing the circuit to find</a:t>
            </a:r>
            <a:endParaRPr lang="en-US" sz="2200" dirty="0"/>
          </a:p>
        </p:txBody>
      </p:sp>
      <p:sp>
        <p:nvSpPr>
          <p:cNvPr id="8" name="Content Placeholder 7">
            <a:extLst>
              <a:ext uri="{FF2B5EF4-FFF2-40B4-BE49-F238E27FC236}">
                <a16:creationId xmlns:a16="http://schemas.microsoft.com/office/drawing/2014/main" id="{6FE771E1-6EBB-4373-9B39-A7AEEB310F13}"/>
              </a:ext>
            </a:extLst>
          </p:cNvPr>
          <p:cNvSpPr>
            <a:spLocks noGrp="1"/>
          </p:cNvSpPr>
          <p:nvPr>
            <p:ph sz="quarter" idx="17"/>
          </p:nvPr>
        </p:nvSpPr>
        <p:spPr>
          <a:xfrm>
            <a:off x="428336" y="4289786"/>
            <a:ext cx="726209" cy="374906"/>
          </a:xfrm>
        </p:spPr>
        <p:txBody>
          <a:bodyPr wrap="square">
            <a:spAutoFit/>
          </a:bodyPr>
          <a:lstStyle/>
          <a:p>
            <a:pPr marL="0" indent="0">
              <a:buNone/>
            </a:pPr>
            <a:r>
              <a:rPr lang="en-US" altLang="en-US" sz="2200" i="1" dirty="0" err="1">
                <a:sym typeface="Symbol" pitchFamily="18" charset="2"/>
              </a:rPr>
              <a:t>i</a:t>
            </a:r>
            <a:r>
              <a:rPr lang="en-US" altLang="en-US" sz="2200" dirty="0">
                <a:sym typeface="Symbol" pitchFamily="18" charset="2"/>
              </a:rPr>
              <a:t>(</a:t>
            </a:r>
            <a:r>
              <a:rPr lang="en-US" altLang="en-US" sz="2200" i="1" dirty="0">
                <a:sym typeface="Symbol" pitchFamily="18" charset="2"/>
              </a:rPr>
              <a:t>t</a:t>
            </a:r>
            <a:r>
              <a:rPr lang="en-US" altLang="en-US" sz="2200" dirty="0">
                <a:sym typeface="Symbol" pitchFamily="18" charset="2"/>
              </a:rPr>
              <a:t>) as</a:t>
            </a:r>
            <a:endParaRPr lang="en-US" sz="2200" dirty="0"/>
          </a:p>
        </p:txBody>
      </p:sp>
      <p:graphicFrame>
        <p:nvGraphicFramePr>
          <p:cNvPr id="25" name="Object 24" descr="t right arrow, infinity,">
            <a:extLst>
              <a:ext uri="{FF2B5EF4-FFF2-40B4-BE49-F238E27FC236}">
                <a16:creationId xmlns:a16="http://schemas.microsoft.com/office/drawing/2014/main" id="{F35C036B-A402-53F7-5A76-494F6622389C}"/>
              </a:ext>
            </a:extLst>
          </p:cNvPr>
          <p:cNvGraphicFramePr>
            <a:graphicFrameLocks noChangeAspect="1"/>
          </p:cNvGraphicFramePr>
          <p:nvPr>
            <p:extLst>
              <p:ext uri="{D42A27DB-BD31-4B8C-83A1-F6EECF244321}">
                <p14:modId xmlns:p14="http://schemas.microsoft.com/office/powerpoint/2010/main" val="3097786214"/>
              </p:ext>
            </p:extLst>
          </p:nvPr>
        </p:nvGraphicFramePr>
        <p:xfrm>
          <a:off x="1257809" y="4345492"/>
          <a:ext cx="857250" cy="301625"/>
        </p:xfrm>
        <a:graphic>
          <a:graphicData uri="http://schemas.openxmlformats.org/presentationml/2006/ole">
            <mc:AlternateContent xmlns:mc="http://schemas.openxmlformats.org/markup-compatibility/2006">
              <mc:Choice xmlns:v="urn:schemas-microsoft-com:vml" Requires="v">
                <p:oleObj name="Equation" r:id="rId9" imgW="457200" imgH="177480" progId="Equation.DSMT4">
                  <p:embed/>
                </p:oleObj>
              </mc:Choice>
              <mc:Fallback>
                <p:oleObj name="Equation" r:id="rId9" imgW="457200" imgH="177480" progId="Equation.DSMT4">
                  <p:embed/>
                  <p:pic>
                    <p:nvPicPr>
                      <p:cNvPr id="24" name="Object 23">
                        <a:extLst>
                          <a:ext uri="{FF2B5EF4-FFF2-40B4-BE49-F238E27FC236}">
                            <a16:creationId xmlns:a16="http://schemas.microsoft.com/office/drawing/2014/main" id="{11F99D2E-37E9-0ABF-48FA-846547BC445F}"/>
                          </a:ext>
                        </a:extLst>
                      </p:cNvPr>
                      <p:cNvPicPr>
                        <a:picLocks noChangeAspect="1" noChangeArrowheads="1"/>
                      </p:cNvPicPr>
                      <p:nvPr/>
                    </p:nvPicPr>
                    <p:blipFill>
                      <a:blip r:embed="rId10"/>
                      <a:srcRect/>
                      <a:stretch>
                        <a:fillRect/>
                      </a:stretch>
                    </p:blipFill>
                    <p:spPr bwMode="auto">
                      <a:xfrm>
                        <a:off x="1257809" y="4345492"/>
                        <a:ext cx="857250" cy="301625"/>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AA17EC4B-C334-CFA3-D242-E99FF1FF8424}"/>
              </a:ext>
            </a:extLst>
          </p:cNvPr>
          <p:cNvSpPr>
            <a:spLocks noGrp="1"/>
          </p:cNvSpPr>
          <p:nvPr>
            <p:ph sz="quarter" idx="18"/>
          </p:nvPr>
        </p:nvSpPr>
        <p:spPr>
          <a:xfrm>
            <a:off x="437572" y="4799890"/>
            <a:ext cx="326877" cy="374906"/>
          </a:xfrm>
        </p:spPr>
        <p:txBody>
          <a:bodyPr wrap="square">
            <a:spAutoFit/>
          </a:bodyPr>
          <a:lstStyle/>
          <a:p>
            <a:pPr marL="0" indent="0">
              <a:buNone/>
            </a:pPr>
            <a:r>
              <a:rPr lang="en-US" sz="2200" dirty="0"/>
              <a:t>As</a:t>
            </a:r>
          </a:p>
        </p:txBody>
      </p:sp>
      <p:graphicFrame>
        <p:nvGraphicFramePr>
          <p:cNvPr id="26" name="Object 25" descr="t right arrow, infinity">
            <a:extLst>
              <a:ext uri="{FF2B5EF4-FFF2-40B4-BE49-F238E27FC236}">
                <a16:creationId xmlns:a16="http://schemas.microsoft.com/office/drawing/2014/main" id="{FA816711-D6FC-CF27-63D0-7FE58C385F7C}"/>
              </a:ext>
            </a:extLst>
          </p:cNvPr>
          <p:cNvGraphicFramePr>
            <a:graphicFrameLocks noChangeAspect="1"/>
          </p:cNvGraphicFramePr>
          <p:nvPr>
            <p:extLst>
              <p:ext uri="{D42A27DB-BD31-4B8C-83A1-F6EECF244321}">
                <p14:modId xmlns:p14="http://schemas.microsoft.com/office/powerpoint/2010/main" val="2007247665"/>
              </p:ext>
            </p:extLst>
          </p:nvPr>
        </p:nvGraphicFramePr>
        <p:xfrm>
          <a:off x="862013" y="4837113"/>
          <a:ext cx="809625" cy="301625"/>
        </p:xfrm>
        <a:graphic>
          <a:graphicData uri="http://schemas.openxmlformats.org/presentationml/2006/ole">
            <mc:AlternateContent xmlns:mc="http://schemas.openxmlformats.org/markup-compatibility/2006">
              <mc:Choice xmlns:v="urn:schemas-microsoft-com:vml" Requires="v">
                <p:oleObj name="Equation" r:id="rId11" imgW="431640" imgH="177480" progId="Equation.DSMT4">
                  <p:embed/>
                </p:oleObj>
              </mc:Choice>
              <mc:Fallback>
                <p:oleObj name="Equation" r:id="rId11" imgW="431640" imgH="177480" progId="Equation.DSMT4">
                  <p:embed/>
                  <p:pic>
                    <p:nvPicPr>
                      <p:cNvPr id="25" name="Object 24">
                        <a:extLst>
                          <a:ext uri="{FF2B5EF4-FFF2-40B4-BE49-F238E27FC236}">
                            <a16:creationId xmlns:a16="http://schemas.microsoft.com/office/drawing/2014/main" id="{F35C036B-A402-53F7-5A76-494F6622389C}"/>
                          </a:ext>
                        </a:extLst>
                      </p:cNvPr>
                      <p:cNvPicPr>
                        <a:picLocks noChangeAspect="1" noChangeArrowheads="1"/>
                      </p:cNvPicPr>
                      <p:nvPr/>
                    </p:nvPicPr>
                    <p:blipFill>
                      <a:blip r:embed="rId12"/>
                      <a:srcRect/>
                      <a:stretch>
                        <a:fillRect/>
                      </a:stretch>
                    </p:blipFill>
                    <p:spPr bwMode="auto">
                      <a:xfrm>
                        <a:off x="862013" y="4837113"/>
                        <a:ext cx="809625" cy="301625"/>
                      </a:xfrm>
                      <a:prstGeom prst="rect">
                        <a:avLst/>
                      </a:prstGeom>
                      <a:noFill/>
                      <a:ln>
                        <a:noFill/>
                      </a:ln>
                    </p:spPr>
                  </p:pic>
                </p:oleObj>
              </mc:Fallback>
            </mc:AlternateContent>
          </a:graphicData>
        </a:graphic>
      </p:graphicFrame>
      <p:pic>
        <p:nvPicPr>
          <p:cNvPr id="27" name="Picture 3" descr="A circuit diagram shows current I subscript f flowing from top to bottom of the 200 milli Henry inductor in the leftmost wire of the circuit. The second wire from the left includes a 10 ohms resistor and the third wire from the left includes an 8 ampere ammeter. All three components are in parallel with each other and the symbol a represents the top wire between the 200 milli Henry inductor and the 10 ohms resistor. ">
            <a:extLst>
              <a:ext uri="{FF2B5EF4-FFF2-40B4-BE49-F238E27FC236}">
                <a16:creationId xmlns:a16="http://schemas.microsoft.com/office/drawing/2014/main" id="{6EDC3494-EE7C-E400-BF41-B3727DF1F72A}"/>
              </a:ext>
            </a:extLst>
          </p:cNvPr>
          <p:cNvPicPr>
            <a:picLocks noChangeAspect="1" noChangeArrowheads="1"/>
          </p:cNvPicPr>
          <p:nvPr/>
        </p:nvPicPr>
        <p:blipFill>
          <a:blip r:embed="rId13"/>
          <a:stretch>
            <a:fillRect/>
          </a:stretch>
        </p:blipFill>
        <p:spPr bwMode="auto">
          <a:xfrm>
            <a:off x="2687144" y="4869765"/>
            <a:ext cx="3107728" cy="1359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8" name="Object 27" descr="I subscript f baseline equals negative 8 Amperes.&#10;">
            <a:extLst>
              <a:ext uri="{FF2B5EF4-FFF2-40B4-BE49-F238E27FC236}">
                <a16:creationId xmlns:a16="http://schemas.microsoft.com/office/drawing/2014/main" id="{6AB0B893-A2FB-3DE3-3EAC-EBE0B930CBD9}"/>
              </a:ext>
            </a:extLst>
          </p:cNvPr>
          <p:cNvGraphicFramePr>
            <a:graphicFrameLocks noChangeAspect="1"/>
          </p:cNvGraphicFramePr>
          <p:nvPr>
            <p:extLst>
              <p:ext uri="{D42A27DB-BD31-4B8C-83A1-F6EECF244321}">
                <p14:modId xmlns:p14="http://schemas.microsoft.com/office/powerpoint/2010/main" val="2622866244"/>
              </p:ext>
            </p:extLst>
          </p:nvPr>
        </p:nvGraphicFramePr>
        <p:xfrm>
          <a:off x="6622256" y="5328586"/>
          <a:ext cx="1204913" cy="417513"/>
        </p:xfrm>
        <a:graphic>
          <a:graphicData uri="http://schemas.openxmlformats.org/presentationml/2006/ole">
            <mc:AlternateContent xmlns:mc="http://schemas.openxmlformats.org/markup-compatibility/2006">
              <mc:Choice xmlns:v="urn:schemas-microsoft-com:vml" Requires="v">
                <p:oleObj name="Equation" r:id="rId14" imgW="622080" imgH="215640" progId="Equation.3">
                  <p:embed/>
                </p:oleObj>
              </mc:Choice>
              <mc:Fallback>
                <p:oleObj name="Equation" r:id="rId14" imgW="622080" imgH="215640" progId="Equation.3">
                  <p:embed/>
                  <p:pic>
                    <p:nvPicPr>
                      <p:cNvPr id="13"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22256" y="5328586"/>
                        <a:ext cx="120491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82575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729C3-DA9F-D540-7620-9A0634138FA8}"/>
              </a:ext>
            </a:extLst>
          </p:cNvPr>
          <p:cNvSpPr>
            <a:spLocks noGrp="1"/>
          </p:cNvSpPr>
          <p:nvPr>
            <p:ph type="title"/>
          </p:nvPr>
        </p:nvSpPr>
        <p:spPr>
          <a:xfrm>
            <a:off x="420256" y="164555"/>
            <a:ext cx="8255432" cy="1144347"/>
          </a:xfrm>
        </p:spPr>
        <p:txBody>
          <a:bodyPr/>
          <a:lstStyle/>
          <a:p>
            <a:r>
              <a:rPr lang="en-US" sz="3600" dirty="0">
                <a:latin typeface="+mn-lt"/>
              </a:rPr>
              <a:t>Chapter 7 – </a:t>
            </a:r>
            <a:r>
              <a:rPr lang="en-US" sz="3600" i="1" spc="-500" dirty="0">
                <a:latin typeface="+mn-lt"/>
              </a:rPr>
              <a:t>R </a:t>
            </a:r>
            <a:r>
              <a:rPr lang="en-US" sz="3600" i="1" dirty="0">
                <a:latin typeface="+mn-lt"/>
              </a:rPr>
              <a:t>L</a:t>
            </a:r>
            <a:r>
              <a:rPr lang="en-US" sz="3600" dirty="0">
                <a:latin typeface="+mn-lt"/>
              </a:rPr>
              <a:t>/</a:t>
            </a:r>
            <a:r>
              <a:rPr lang="en-US" sz="3600" i="1" spc="-500" dirty="0">
                <a:latin typeface="+mn-lt"/>
              </a:rPr>
              <a:t>R </a:t>
            </a:r>
            <a:r>
              <a:rPr lang="en-US" sz="3600" i="1" dirty="0">
                <a:latin typeface="+mn-lt"/>
              </a:rPr>
              <a:t>C</a:t>
            </a:r>
            <a:r>
              <a:rPr lang="en-US" sz="3600" dirty="0">
                <a:latin typeface="+mn-lt"/>
              </a:rPr>
              <a:t> Step Response Examples </a:t>
            </a:r>
            <a:r>
              <a:rPr lang="en-US" sz="2800" dirty="0">
                <a:latin typeface="Arial"/>
              </a:rPr>
              <a:t>(4 of 10)</a:t>
            </a:r>
            <a:endParaRPr lang="en-US" dirty="0"/>
          </a:p>
        </p:txBody>
      </p:sp>
      <p:sp>
        <p:nvSpPr>
          <p:cNvPr id="3" name="Content Placeholder 2">
            <a:extLst>
              <a:ext uri="{FF2B5EF4-FFF2-40B4-BE49-F238E27FC236}">
                <a16:creationId xmlns:a16="http://schemas.microsoft.com/office/drawing/2014/main" id="{013D6891-C6A9-AAEC-B823-77A45819512B}"/>
              </a:ext>
            </a:extLst>
          </p:cNvPr>
          <p:cNvSpPr>
            <a:spLocks noGrp="1"/>
          </p:cNvSpPr>
          <p:nvPr>
            <p:ph sz="quarter" idx="12"/>
          </p:nvPr>
        </p:nvSpPr>
        <p:spPr>
          <a:xfrm>
            <a:off x="420256" y="1480522"/>
            <a:ext cx="1390073" cy="374906"/>
          </a:xfrm>
        </p:spPr>
        <p:txBody>
          <a:bodyPr>
            <a:spAutoFit/>
          </a:bodyPr>
          <a:lstStyle/>
          <a:p>
            <a:pPr marL="0" indent="0">
              <a:buNone/>
            </a:pPr>
            <a:r>
              <a:rPr lang="en-US" altLang="en-US" sz="2200" dirty="0"/>
              <a:t>Find </a:t>
            </a:r>
            <a:r>
              <a:rPr lang="en-US" altLang="en-US" sz="2200" dirty="0" err="1"/>
              <a:t>i</a:t>
            </a:r>
            <a:r>
              <a:rPr lang="en-US" altLang="en-US" sz="2200" dirty="0"/>
              <a:t>(t) for</a:t>
            </a:r>
            <a:endParaRPr lang="en-US" sz="2200" dirty="0"/>
          </a:p>
        </p:txBody>
      </p:sp>
      <p:graphicFrame>
        <p:nvGraphicFramePr>
          <p:cNvPr id="21" name="Object 20" descr="t is greater than or equal to 0.&#10;">
            <a:extLst>
              <a:ext uri="{FF2B5EF4-FFF2-40B4-BE49-F238E27FC236}">
                <a16:creationId xmlns:a16="http://schemas.microsoft.com/office/drawing/2014/main" id="{715135E9-5F7D-7BC0-816A-3021169B2ABA}"/>
              </a:ext>
            </a:extLst>
          </p:cNvPr>
          <p:cNvGraphicFramePr>
            <a:graphicFrameLocks noChangeAspect="1"/>
          </p:cNvGraphicFramePr>
          <p:nvPr>
            <p:extLst>
              <p:ext uri="{D42A27DB-BD31-4B8C-83A1-F6EECF244321}">
                <p14:modId xmlns:p14="http://schemas.microsoft.com/office/powerpoint/2010/main" val="948011764"/>
              </p:ext>
            </p:extLst>
          </p:nvPr>
        </p:nvGraphicFramePr>
        <p:xfrm>
          <a:off x="1846117" y="1527762"/>
          <a:ext cx="704273" cy="331932"/>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21" name="Object 20">
                        <a:extLst>
                          <a:ext uri="{FF2B5EF4-FFF2-40B4-BE49-F238E27FC236}">
                            <a16:creationId xmlns:a16="http://schemas.microsoft.com/office/drawing/2014/main" id="{59510B2D-19FC-1D18-E5BD-1E8A4A7B7100}"/>
                          </a:ext>
                        </a:extLst>
                      </p:cNvPr>
                      <p:cNvPicPr>
                        <a:picLocks noChangeAspect="1" noChangeArrowheads="1"/>
                      </p:cNvPicPr>
                      <p:nvPr/>
                    </p:nvPicPr>
                    <p:blipFill>
                      <a:blip r:embed="rId3"/>
                      <a:srcRect/>
                      <a:stretch>
                        <a:fillRect/>
                      </a:stretch>
                    </p:blipFill>
                    <p:spPr bwMode="auto">
                      <a:xfrm>
                        <a:off x="1846117" y="1527762"/>
                        <a:ext cx="704273" cy="331932"/>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32F9B0E6-65E3-9D3F-1452-A2FCB6805B4E}"/>
              </a:ext>
            </a:extLst>
          </p:cNvPr>
          <p:cNvSpPr>
            <a:spLocks noGrp="1"/>
          </p:cNvSpPr>
          <p:nvPr>
            <p:ph sz="quarter" idx="13"/>
          </p:nvPr>
        </p:nvSpPr>
        <p:spPr>
          <a:xfrm>
            <a:off x="2586178" y="1480345"/>
            <a:ext cx="1497024" cy="374906"/>
          </a:xfrm>
        </p:spPr>
        <p:txBody>
          <a:bodyPr wrap="square">
            <a:spAutoFit/>
          </a:bodyPr>
          <a:lstStyle/>
          <a:p>
            <a:pPr marL="0" indent="0">
              <a:spcBef>
                <a:spcPts val="300"/>
              </a:spcBef>
              <a:buNone/>
            </a:pPr>
            <a:r>
              <a:rPr lang="en-US" altLang="en-US" sz="2200" dirty="0"/>
              <a:t>(continued).</a:t>
            </a:r>
          </a:p>
        </p:txBody>
      </p:sp>
      <p:pic>
        <p:nvPicPr>
          <p:cNvPr id="22" name="Picture 2"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217D9FA1-6052-69D7-FC46-1BFBC467C3C9}"/>
              </a:ext>
            </a:extLst>
          </p:cNvPr>
          <p:cNvPicPr>
            <a:picLocks noChangeAspect="1" noChangeArrowheads="1"/>
          </p:cNvPicPr>
          <p:nvPr/>
        </p:nvPicPr>
        <p:blipFill>
          <a:blip r:embed="rId4"/>
          <a:stretch>
            <a:fillRect/>
          </a:stretch>
        </p:blipFill>
        <p:spPr bwMode="auto">
          <a:xfrm>
            <a:off x="4356809" y="1573489"/>
            <a:ext cx="4281935" cy="1914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C7DE0147-E0F9-5DF8-B45F-D48E0D94A628}"/>
              </a:ext>
            </a:extLst>
          </p:cNvPr>
          <p:cNvSpPr>
            <a:spLocks noGrp="1"/>
          </p:cNvSpPr>
          <p:nvPr>
            <p:ph sz="quarter" idx="14"/>
          </p:nvPr>
        </p:nvSpPr>
        <p:spPr>
          <a:xfrm>
            <a:off x="420256" y="3562186"/>
            <a:ext cx="8255432" cy="374906"/>
          </a:xfrm>
        </p:spPr>
        <p:txBody>
          <a:bodyPr wrap="square">
            <a:spAutoFit/>
          </a:bodyPr>
          <a:lstStyle/>
          <a:p>
            <a:pPr marL="0" indent="0">
              <a:buNone/>
            </a:pPr>
            <a:r>
              <a:rPr lang="en-US" altLang="en-US" sz="2200" dirty="0"/>
              <a:t>Step 5 – Write the expression for the inductor current:</a:t>
            </a:r>
          </a:p>
        </p:txBody>
      </p:sp>
      <p:graphicFrame>
        <p:nvGraphicFramePr>
          <p:cNvPr id="23" name="Object 22" descr="i (t) equals I subscript F baseline plus Open Parenthesis I subscript 0 baseline minus I subscript F Close Parenthesis e to the negative t divided by tau.&#10;">
            <a:extLst>
              <a:ext uri="{FF2B5EF4-FFF2-40B4-BE49-F238E27FC236}">
                <a16:creationId xmlns:a16="http://schemas.microsoft.com/office/drawing/2014/main" id="{8B8BFAB5-9F04-4511-A82E-B7D9EE37A8D6}"/>
              </a:ext>
            </a:extLst>
          </p:cNvPr>
          <p:cNvGraphicFramePr>
            <a:graphicFrameLocks noChangeAspect="1"/>
          </p:cNvGraphicFramePr>
          <p:nvPr>
            <p:extLst>
              <p:ext uri="{D42A27DB-BD31-4B8C-83A1-F6EECF244321}">
                <p14:modId xmlns:p14="http://schemas.microsoft.com/office/powerpoint/2010/main" val="1744847978"/>
              </p:ext>
            </p:extLst>
          </p:nvPr>
        </p:nvGraphicFramePr>
        <p:xfrm>
          <a:off x="1292875" y="4012054"/>
          <a:ext cx="2610716" cy="409864"/>
        </p:xfrm>
        <a:graphic>
          <a:graphicData uri="http://schemas.openxmlformats.org/presentationml/2006/ole">
            <mc:AlternateContent xmlns:mc="http://schemas.openxmlformats.org/markup-compatibility/2006">
              <mc:Choice xmlns:v="urn:schemas-microsoft-com:vml" Requires="v">
                <p:oleObj name="Equation" r:id="rId5" imgW="1396800" imgH="241200" progId="Equation.DSMT4">
                  <p:embed/>
                </p:oleObj>
              </mc:Choice>
              <mc:Fallback>
                <p:oleObj name="Equation" r:id="rId5" imgW="1396800" imgH="241200" progId="Equation.DSMT4">
                  <p:embed/>
                  <p:pic>
                    <p:nvPicPr>
                      <p:cNvPr id="21" name="Object 20">
                        <a:extLst>
                          <a:ext uri="{FF2B5EF4-FFF2-40B4-BE49-F238E27FC236}">
                            <a16:creationId xmlns:a16="http://schemas.microsoft.com/office/drawing/2014/main" id="{715135E9-5F7D-7BC0-816A-3021169B2ABA}"/>
                          </a:ext>
                        </a:extLst>
                      </p:cNvPr>
                      <p:cNvPicPr>
                        <a:picLocks noChangeAspect="1" noChangeArrowheads="1"/>
                      </p:cNvPicPr>
                      <p:nvPr/>
                    </p:nvPicPr>
                    <p:blipFill>
                      <a:blip r:embed="rId6"/>
                      <a:srcRect/>
                      <a:stretch>
                        <a:fillRect/>
                      </a:stretch>
                    </p:blipFill>
                    <p:spPr bwMode="auto">
                      <a:xfrm>
                        <a:off x="1292875" y="4012054"/>
                        <a:ext cx="2610716" cy="409864"/>
                      </a:xfrm>
                      <a:prstGeom prst="rect">
                        <a:avLst/>
                      </a:prstGeom>
                      <a:noFill/>
                      <a:ln>
                        <a:noFill/>
                      </a:ln>
                    </p:spPr>
                  </p:pic>
                </p:oleObj>
              </mc:Fallback>
            </mc:AlternateContent>
          </a:graphicData>
        </a:graphic>
      </p:graphicFrame>
      <p:graphicFrame>
        <p:nvGraphicFramePr>
          <p:cNvPr id="24" name="Object 23" descr="equals negative 8 plus open square bracket 12 minus (negative 8) close square bracket e to the negative t divided by 0.02 power.&#10;">
            <a:extLst>
              <a:ext uri="{FF2B5EF4-FFF2-40B4-BE49-F238E27FC236}">
                <a16:creationId xmlns:a16="http://schemas.microsoft.com/office/drawing/2014/main" id="{E50BDB9F-CB14-4CDA-F6BF-7F464CB67333}"/>
              </a:ext>
            </a:extLst>
          </p:cNvPr>
          <p:cNvGraphicFramePr>
            <a:graphicFrameLocks noChangeAspect="1"/>
          </p:cNvGraphicFramePr>
          <p:nvPr>
            <p:extLst>
              <p:ext uri="{D42A27DB-BD31-4B8C-83A1-F6EECF244321}">
                <p14:modId xmlns:p14="http://schemas.microsoft.com/office/powerpoint/2010/main" val="585224004"/>
              </p:ext>
            </p:extLst>
          </p:nvPr>
        </p:nvGraphicFramePr>
        <p:xfrm>
          <a:off x="1167896" y="4471701"/>
          <a:ext cx="3441989" cy="388215"/>
        </p:xfrm>
        <a:graphic>
          <a:graphicData uri="http://schemas.openxmlformats.org/presentationml/2006/ole">
            <mc:AlternateContent xmlns:mc="http://schemas.openxmlformats.org/markup-compatibility/2006">
              <mc:Choice xmlns:v="urn:schemas-microsoft-com:vml" Requires="v">
                <p:oleObj name="Equation" r:id="rId7" imgW="1841400" imgH="228600" progId="Equation.DSMT4">
                  <p:embed/>
                </p:oleObj>
              </mc:Choice>
              <mc:Fallback>
                <p:oleObj name="Equation" r:id="rId7" imgW="1841400" imgH="228600" progId="Equation.DSMT4">
                  <p:embed/>
                  <p:pic>
                    <p:nvPicPr>
                      <p:cNvPr id="23" name="Object 22">
                        <a:extLst>
                          <a:ext uri="{FF2B5EF4-FFF2-40B4-BE49-F238E27FC236}">
                            <a16:creationId xmlns:a16="http://schemas.microsoft.com/office/drawing/2014/main" id="{8B8BFAB5-9F04-4511-A82E-B7D9EE37A8D6}"/>
                          </a:ext>
                        </a:extLst>
                      </p:cNvPr>
                      <p:cNvPicPr>
                        <a:picLocks noChangeAspect="1" noChangeArrowheads="1"/>
                      </p:cNvPicPr>
                      <p:nvPr/>
                    </p:nvPicPr>
                    <p:blipFill>
                      <a:blip r:embed="rId8"/>
                      <a:srcRect/>
                      <a:stretch>
                        <a:fillRect/>
                      </a:stretch>
                    </p:blipFill>
                    <p:spPr bwMode="auto">
                      <a:xfrm>
                        <a:off x="1167896" y="4471701"/>
                        <a:ext cx="3441989" cy="388215"/>
                      </a:xfrm>
                      <a:prstGeom prst="rect">
                        <a:avLst/>
                      </a:prstGeom>
                      <a:noFill/>
                      <a:ln>
                        <a:noFill/>
                      </a:ln>
                    </p:spPr>
                  </p:pic>
                </p:oleObj>
              </mc:Fallback>
            </mc:AlternateContent>
          </a:graphicData>
        </a:graphic>
      </p:graphicFrame>
      <p:graphicFrame>
        <p:nvGraphicFramePr>
          <p:cNvPr id="25" name="Object 24" descr="equals negative 8 plus 20 e to the negative 50 t power Ampere comma t is greater than or equal to 0.&#10;">
            <a:extLst>
              <a:ext uri="{FF2B5EF4-FFF2-40B4-BE49-F238E27FC236}">
                <a16:creationId xmlns:a16="http://schemas.microsoft.com/office/drawing/2014/main" id="{5B6ECB0C-2207-5FE4-07A4-34DD50D817B5}"/>
              </a:ext>
            </a:extLst>
          </p:cNvPr>
          <p:cNvGraphicFramePr>
            <a:graphicFrameLocks noChangeAspect="1"/>
          </p:cNvGraphicFramePr>
          <p:nvPr>
            <p:extLst>
              <p:ext uri="{D42A27DB-BD31-4B8C-83A1-F6EECF244321}">
                <p14:modId xmlns:p14="http://schemas.microsoft.com/office/powerpoint/2010/main" val="1841877817"/>
              </p:ext>
            </p:extLst>
          </p:nvPr>
        </p:nvGraphicFramePr>
        <p:xfrm>
          <a:off x="1174463" y="4929118"/>
          <a:ext cx="3512705" cy="388216"/>
        </p:xfrm>
        <a:graphic>
          <a:graphicData uri="http://schemas.openxmlformats.org/presentationml/2006/ole">
            <mc:AlternateContent xmlns:mc="http://schemas.openxmlformats.org/markup-compatibility/2006">
              <mc:Choice xmlns:v="urn:schemas-microsoft-com:vml" Requires="v">
                <p:oleObj name="Equation" r:id="rId9" imgW="1879560" imgH="228600" progId="Equation.DSMT4">
                  <p:embed/>
                </p:oleObj>
              </mc:Choice>
              <mc:Fallback>
                <p:oleObj name="Equation" r:id="rId9" imgW="1879560" imgH="228600" progId="Equation.DSMT4">
                  <p:embed/>
                  <p:pic>
                    <p:nvPicPr>
                      <p:cNvPr id="24" name="Object 23">
                        <a:extLst>
                          <a:ext uri="{FF2B5EF4-FFF2-40B4-BE49-F238E27FC236}">
                            <a16:creationId xmlns:a16="http://schemas.microsoft.com/office/drawing/2014/main" id="{E50BDB9F-CB14-4CDA-F6BF-7F464CB67333}"/>
                          </a:ext>
                        </a:extLst>
                      </p:cNvPr>
                      <p:cNvPicPr>
                        <a:picLocks noChangeAspect="1" noChangeArrowheads="1"/>
                      </p:cNvPicPr>
                      <p:nvPr/>
                    </p:nvPicPr>
                    <p:blipFill>
                      <a:blip r:embed="rId10"/>
                      <a:srcRect/>
                      <a:stretch>
                        <a:fillRect/>
                      </a:stretch>
                    </p:blipFill>
                    <p:spPr bwMode="auto">
                      <a:xfrm>
                        <a:off x="1174463" y="4929118"/>
                        <a:ext cx="3512705" cy="388216"/>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75E5506F-07A0-6B3F-798C-0768B14959EF}"/>
              </a:ext>
            </a:extLst>
          </p:cNvPr>
          <p:cNvSpPr>
            <a:spLocks noGrp="1"/>
          </p:cNvSpPr>
          <p:nvPr>
            <p:ph sz="quarter" idx="15"/>
          </p:nvPr>
        </p:nvSpPr>
        <p:spPr>
          <a:xfrm>
            <a:off x="1162339" y="5398830"/>
            <a:ext cx="881020" cy="374906"/>
          </a:xfrm>
        </p:spPr>
        <p:txBody>
          <a:bodyPr wrap="square">
            <a:spAutoFit/>
          </a:bodyPr>
          <a:lstStyle/>
          <a:p>
            <a:pPr marL="0" indent="0">
              <a:buNone/>
            </a:pPr>
            <a:r>
              <a:rPr lang="en-US" sz="2200" dirty="0"/>
              <a:t>Check:</a:t>
            </a:r>
          </a:p>
        </p:txBody>
      </p:sp>
      <p:graphicFrame>
        <p:nvGraphicFramePr>
          <p:cNvPr id="26" name="Object 25" descr="i (0) equals negative 8 plus 20 e to the negative 50 (0) power equals negative 8 plus 20 equals 12 Amperes.&#10;">
            <a:extLst>
              <a:ext uri="{FF2B5EF4-FFF2-40B4-BE49-F238E27FC236}">
                <a16:creationId xmlns:a16="http://schemas.microsoft.com/office/drawing/2014/main" id="{6DA648CD-9351-31D5-21E1-22389D1FF6C3}"/>
              </a:ext>
            </a:extLst>
          </p:cNvPr>
          <p:cNvGraphicFramePr>
            <a:graphicFrameLocks noChangeAspect="1"/>
          </p:cNvGraphicFramePr>
          <p:nvPr>
            <p:extLst>
              <p:ext uri="{D42A27DB-BD31-4B8C-83A1-F6EECF244321}">
                <p14:modId xmlns:p14="http://schemas.microsoft.com/office/powerpoint/2010/main" val="959946579"/>
              </p:ext>
            </p:extLst>
          </p:nvPr>
        </p:nvGraphicFramePr>
        <p:xfrm>
          <a:off x="2133022" y="5405218"/>
          <a:ext cx="4508500" cy="388216"/>
        </p:xfrm>
        <a:graphic>
          <a:graphicData uri="http://schemas.openxmlformats.org/presentationml/2006/ole">
            <mc:AlternateContent xmlns:mc="http://schemas.openxmlformats.org/markup-compatibility/2006">
              <mc:Choice xmlns:v="urn:schemas-microsoft-com:vml" Requires="v">
                <p:oleObj name="Equation" r:id="rId11" imgW="2412720" imgH="228600" progId="Equation.DSMT4">
                  <p:embed/>
                </p:oleObj>
              </mc:Choice>
              <mc:Fallback>
                <p:oleObj name="Equation" r:id="rId11" imgW="2412720" imgH="228600" progId="Equation.DSMT4">
                  <p:embed/>
                  <p:pic>
                    <p:nvPicPr>
                      <p:cNvPr id="25" name="Object 24">
                        <a:extLst>
                          <a:ext uri="{FF2B5EF4-FFF2-40B4-BE49-F238E27FC236}">
                            <a16:creationId xmlns:a16="http://schemas.microsoft.com/office/drawing/2014/main" id="{5B6ECB0C-2207-5FE4-07A4-34DD50D817B5}"/>
                          </a:ext>
                        </a:extLst>
                      </p:cNvPr>
                      <p:cNvPicPr>
                        <a:picLocks noChangeAspect="1" noChangeArrowheads="1"/>
                      </p:cNvPicPr>
                      <p:nvPr/>
                    </p:nvPicPr>
                    <p:blipFill>
                      <a:blip r:embed="rId12"/>
                      <a:srcRect/>
                      <a:stretch>
                        <a:fillRect/>
                      </a:stretch>
                    </p:blipFill>
                    <p:spPr bwMode="auto">
                      <a:xfrm>
                        <a:off x="2133022" y="5405218"/>
                        <a:ext cx="4508500" cy="388216"/>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86B4F5ED-7545-00F7-D6F7-A9995756FB56}"/>
              </a:ext>
            </a:extLst>
          </p:cNvPr>
          <p:cNvSpPr>
            <a:spLocks noGrp="1"/>
          </p:cNvSpPr>
          <p:nvPr>
            <p:ph sz="quarter" idx="16"/>
          </p:nvPr>
        </p:nvSpPr>
        <p:spPr>
          <a:xfrm>
            <a:off x="6731185" y="5380107"/>
            <a:ext cx="602479" cy="374906"/>
          </a:xfrm>
        </p:spPr>
        <p:txBody>
          <a:bodyPr>
            <a:spAutoFit/>
          </a:bodyPr>
          <a:lstStyle/>
          <a:p>
            <a:pPr marL="0" indent="0">
              <a:buNone/>
            </a:pPr>
            <a:r>
              <a:rPr lang="en-US" sz="2200" dirty="0"/>
              <a:t>(OK)</a:t>
            </a:r>
          </a:p>
        </p:txBody>
      </p:sp>
      <p:graphicFrame>
        <p:nvGraphicFramePr>
          <p:cNvPr id="27" name="Object 26" descr="i (infinity) equals negative 8 plus 20 e to the negative 50 (infinity) power equals negative 8 Amperes.&#10;">
            <a:extLst>
              <a:ext uri="{FF2B5EF4-FFF2-40B4-BE49-F238E27FC236}">
                <a16:creationId xmlns:a16="http://schemas.microsoft.com/office/drawing/2014/main" id="{F08667FE-C7D6-2234-208F-30E147150DBC}"/>
              </a:ext>
            </a:extLst>
          </p:cNvPr>
          <p:cNvGraphicFramePr>
            <a:graphicFrameLocks noChangeAspect="1"/>
          </p:cNvGraphicFramePr>
          <p:nvPr>
            <p:extLst>
              <p:ext uri="{D42A27DB-BD31-4B8C-83A1-F6EECF244321}">
                <p14:modId xmlns:p14="http://schemas.microsoft.com/office/powerpoint/2010/main" val="3218965616"/>
              </p:ext>
            </p:extLst>
          </p:nvPr>
        </p:nvGraphicFramePr>
        <p:xfrm>
          <a:off x="2133022" y="5918980"/>
          <a:ext cx="3417887" cy="387350"/>
        </p:xfrm>
        <a:graphic>
          <a:graphicData uri="http://schemas.openxmlformats.org/presentationml/2006/ole">
            <mc:AlternateContent xmlns:mc="http://schemas.openxmlformats.org/markup-compatibility/2006">
              <mc:Choice xmlns:v="urn:schemas-microsoft-com:vml" Requires="v">
                <p:oleObj name="Equation" r:id="rId13" imgW="1828800" imgH="228600" progId="Equation.DSMT4">
                  <p:embed/>
                </p:oleObj>
              </mc:Choice>
              <mc:Fallback>
                <p:oleObj name="Equation" r:id="rId13" imgW="1828800" imgH="228600" progId="Equation.DSMT4">
                  <p:embed/>
                  <p:pic>
                    <p:nvPicPr>
                      <p:cNvPr id="26" name="Object 25">
                        <a:extLst>
                          <a:ext uri="{FF2B5EF4-FFF2-40B4-BE49-F238E27FC236}">
                            <a16:creationId xmlns:a16="http://schemas.microsoft.com/office/drawing/2014/main" id="{6DA648CD-9351-31D5-21E1-22389D1FF6C3}"/>
                          </a:ext>
                        </a:extLst>
                      </p:cNvPr>
                      <p:cNvPicPr>
                        <a:picLocks noChangeAspect="1" noChangeArrowheads="1"/>
                      </p:cNvPicPr>
                      <p:nvPr/>
                    </p:nvPicPr>
                    <p:blipFill>
                      <a:blip r:embed="rId14"/>
                      <a:srcRect/>
                      <a:stretch>
                        <a:fillRect/>
                      </a:stretch>
                    </p:blipFill>
                    <p:spPr bwMode="auto">
                      <a:xfrm>
                        <a:off x="2133022" y="5918980"/>
                        <a:ext cx="3417887" cy="387350"/>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0F470C2F-59C0-16D3-DAAA-2B1D83B44A6C}"/>
              </a:ext>
            </a:extLst>
          </p:cNvPr>
          <p:cNvSpPr>
            <a:spLocks noGrp="1"/>
          </p:cNvSpPr>
          <p:nvPr>
            <p:ph sz="quarter" idx="17"/>
          </p:nvPr>
        </p:nvSpPr>
        <p:spPr>
          <a:xfrm>
            <a:off x="5588431" y="5880138"/>
            <a:ext cx="667358" cy="374906"/>
          </a:xfrm>
        </p:spPr>
        <p:txBody>
          <a:bodyPr wrap="square">
            <a:spAutoFit/>
          </a:bodyPr>
          <a:lstStyle/>
          <a:p>
            <a:pPr marL="0" indent="0">
              <a:buNone/>
            </a:pPr>
            <a:r>
              <a:rPr lang="en-US" sz="2200" dirty="0"/>
              <a:t>(OK)</a:t>
            </a:r>
          </a:p>
        </p:txBody>
      </p:sp>
    </p:spTree>
    <p:extLst>
      <p:ext uri="{BB962C8B-B14F-4D97-AF65-F5344CB8AC3E}">
        <p14:creationId xmlns:p14="http://schemas.microsoft.com/office/powerpoint/2010/main" val="3992727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CDD2-E59A-F08F-3FE0-864180C2FC83}"/>
              </a:ext>
            </a:extLst>
          </p:cNvPr>
          <p:cNvSpPr>
            <a:spLocks noGrp="1"/>
          </p:cNvSpPr>
          <p:nvPr>
            <p:ph type="title"/>
          </p:nvPr>
        </p:nvSpPr>
        <p:spPr>
          <a:xfrm>
            <a:off x="428336" y="164556"/>
            <a:ext cx="8247352" cy="1144347"/>
          </a:xfrm>
        </p:spPr>
        <p:txBody>
          <a:bodyPr/>
          <a:lstStyle/>
          <a:p>
            <a:r>
              <a:rPr lang="en-US" sz="3600" dirty="0">
                <a:latin typeface="+mn-lt"/>
              </a:rPr>
              <a:t>Chapter 7 – </a:t>
            </a:r>
            <a:r>
              <a:rPr lang="en-US" sz="3600" i="1" spc="-500" dirty="0">
                <a:latin typeface="+mn-lt"/>
              </a:rPr>
              <a:t>R </a:t>
            </a:r>
            <a:r>
              <a:rPr lang="en-US" sz="3600" i="1" dirty="0">
                <a:latin typeface="+mn-lt"/>
              </a:rPr>
              <a:t>L</a:t>
            </a:r>
            <a:r>
              <a:rPr lang="en-US" sz="3600" dirty="0">
                <a:latin typeface="+mn-lt"/>
              </a:rPr>
              <a:t>/</a:t>
            </a:r>
            <a:r>
              <a:rPr lang="en-US" sz="3600" i="1" spc="-500" dirty="0">
                <a:latin typeface="+mn-lt"/>
              </a:rPr>
              <a:t>R </a:t>
            </a:r>
            <a:r>
              <a:rPr lang="en-US" sz="3600" i="1" dirty="0">
                <a:latin typeface="+mn-lt"/>
              </a:rPr>
              <a:t>C</a:t>
            </a:r>
            <a:r>
              <a:rPr lang="en-US" sz="3600" dirty="0">
                <a:latin typeface="+mn-lt"/>
              </a:rPr>
              <a:t> Step Response Examples </a:t>
            </a:r>
            <a:r>
              <a:rPr lang="en-US" sz="2800" dirty="0">
                <a:latin typeface="Arial"/>
              </a:rPr>
              <a:t>(5 of 10)</a:t>
            </a:r>
            <a:endParaRPr lang="en-US" dirty="0"/>
          </a:p>
        </p:txBody>
      </p:sp>
      <p:sp>
        <p:nvSpPr>
          <p:cNvPr id="3" name="Content Placeholder 2">
            <a:extLst>
              <a:ext uri="{FF2B5EF4-FFF2-40B4-BE49-F238E27FC236}">
                <a16:creationId xmlns:a16="http://schemas.microsoft.com/office/drawing/2014/main" id="{AF202089-7068-8721-B478-2A5579F7852F}"/>
              </a:ext>
            </a:extLst>
          </p:cNvPr>
          <p:cNvSpPr>
            <a:spLocks noGrp="1"/>
          </p:cNvSpPr>
          <p:nvPr>
            <p:ph sz="quarter" idx="12"/>
          </p:nvPr>
        </p:nvSpPr>
        <p:spPr>
          <a:xfrm>
            <a:off x="421048" y="1470079"/>
            <a:ext cx="8247352" cy="405683"/>
          </a:xfrm>
        </p:spPr>
        <p:txBody>
          <a:bodyPr wrap="square">
            <a:spAutoFit/>
          </a:bodyPr>
          <a:lstStyle/>
          <a:p>
            <a:pPr marL="0" indent="0">
              <a:buNone/>
            </a:pPr>
            <a:r>
              <a:rPr lang="en-US" sz="2400" dirty="0">
                <a:solidFill>
                  <a:schemeClr val="tx1"/>
                </a:solidFill>
              </a:rPr>
              <a:t>Find the current in the resistor (flowing from top to bottom),</a:t>
            </a:r>
          </a:p>
        </p:txBody>
      </p:sp>
      <p:sp>
        <p:nvSpPr>
          <p:cNvPr id="4" name="Content Placeholder 3">
            <a:extLst>
              <a:ext uri="{FF2B5EF4-FFF2-40B4-BE49-F238E27FC236}">
                <a16:creationId xmlns:a16="http://schemas.microsoft.com/office/drawing/2014/main" id="{9177C59A-9871-9859-C377-5D26D8BE6EC4}"/>
              </a:ext>
            </a:extLst>
          </p:cNvPr>
          <p:cNvSpPr>
            <a:spLocks noGrp="1"/>
          </p:cNvSpPr>
          <p:nvPr>
            <p:ph sz="quarter" idx="13"/>
          </p:nvPr>
        </p:nvSpPr>
        <p:spPr>
          <a:xfrm>
            <a:off x="428336" y="1960813"/>
            <a:ext cx="6012872" cy="405683"/>
          </a:xfrm>
        </p:spPr>
        <p:txBody>
          <a:bodyPr wrap="square">
            <a:spAutoFit/>
          </a:bodyPr>
          <a:lstStyle/>
          <a:p>
            <a:pPr marL="0" indent="0">
              <a:buNone/>
            </a:pPr>
            <a:r>
              <a:rPr lang="en-US" sz="2400" dirty="0">
                <a:solidFill>
                  <a:schemeClr val="tx1"/>
                </a:solidFill>
              </a:rPr>
              <a:t>given the inductor current just calculated, for</a:t>
            </a:r>
          </a:p>
        </p:txBody>
      </p:sp>
      <p:graphicFrame>
        <p:nvGraphicFramePr>
          <p:cNvPr id="21" name="Object 20" descr="t is greater than or equal to 0.&#10;">
            <a:extLst>
              <a:ext uri="{FF2B5EF4-FFF2-40B4-BE49-F238E27FC236}">
                <a16:creationId xmlns:a16="http://schemas.microsoft.com/office/drawing/2014/main" id="{9D93C30E-38FE-A045-523A-62CE2C992103}"/>
              </a:ext>
            </a:extLst>
          </p:cNvPr>
          <p:cNvGraphicFramePr>
            <a:graphicFrameLocks noChangeAspect="1"/>
          </p:cNvGraphicFramePr>
          <p:nvPr>
            <p:extLst>
              <p:ext uri="{D42A27DB-BD31-4B8C-83A1-F6EECF244321}">
                <p14:modId xmlns:p14="http://schemas.microsoft.com/office/powerpoint/2010/main" val="3835946821"/>
              </p:ext>
            </p:extLst>
          </p:nvPr>
        </p:nvGraphicFramePr>
        <p:xfrm>
          <a:off x="6521450" y="2000250"/>
          <a:ext cx="831850" cy="365125"/>
        </p:xfrm>
        <a:graphic>
          <a:graphicData uri="http://schemas.openxmlformats.org/presentationml/2006/ole">
            <mc:AlternateContent xmlns:mc="http://schemas.openxmlformats.org/markup-compatibility/2006">
              <mc:Choice xmlns:v="urn:schemas-microsoft-com:vml" Requires="v">
                <p:oleObj name="Equation" r:id="rId2" imgW="368280" imgH="177480" progId="Equation.DSMT4">
                  <p:embed/>
                </p:oleObj>
              </mc:Choice>
              <mc:Fallback>
                <p:oleObj name="Equation" r:id="rId2" imgW="368280" imgH="177480" progId="Equation.DSMT4">
                  <p:embed/>
                  <p:pic>
                    <p:nvPicPr>
                      <p:cNvPr id="21" name="Object 20">
                        <a:extLst>
                          <a:ext uri="{FF2B5EF4-FFF2-40B4-BE49-F238E27FC236}">
                            <a16:creationId xmlns:a16="http://schemas.microsoft.com/office/drawing/2014/main" id="{715135E9-5F7D-7BC0-816A-3021169B2ABA}"/>
                          </a:ext>
                        </a:extLst>
                      </p:cNvPr>
                      <p:cNvPicPr>
                        <a:picLocks noChangeAspect="1" noChangeArrowheads="1"/>
                      </p:cNvPicPr>
                      <p:nvPr/>
                    </p:nvPicPr>
                    <p:blipFill>
                      <a:blip r:embed="rId3"/>
                      <a:srcRect/>
                      <a:stretch>
                        <a:fillRect/>
                      </a:stretch>
                    </p:blipFill>
                    <p:spPr bwMode="auto">
                      <a:xfrm>
                        <a:off x="6521450" y="2000250"/>
                        <a:ext cx="831850" cy="365125"/>
                      </a:xfrm>
                      <a:prstGeom prst="rect">
                        <a:avLst/>
                      </a:prstGeom>
                      <a:noFill/>
                      <a:ln>
                        <a:noFill/>
                      </a:ln>
                    </p:spPr>
                  </p:pic>
                </p:oleObj>
              </mc:Fallback>
            </mc:AlternateContent>
          </a:graphicData>
        </a:graphic>
      </p:graphicFrame>
      <p:pic>
        <p:nvPicPr>
          <p:cNvPr id="22" name="Picture 21"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D659BA7B-28DB-70E6-357E-487EE1789996}"/>
              </a:ext>
            </a:extLst>
          </p:cNvPr>
          <p:cNvPicPr>
            <a:picLocks noChangeAspect="1"/>
          </p:cNvPicPr>
          <p:nvPr/>
        </p:nvPicPr>
        <p:blipFill>
          <a:blip r:embed="rId4"/>
          <a:stretch>
            <a:fillRect/>
          </a:stretch>
        </p:blipFill>
        <p:spPr>
          <a:xfrm>
            <a:off x="587364" y="2534240"/>
            <a:ext cx="4265744" cy="1906976"/>
          </a:xfrm>
          <a:prstGeom prst="rect">
            <a:avLst/>
          </a:prstGeom>
        </p:spPr>
      </p:pic>
      <p:graphicFrame>
        <p:nvGraphicFramePr>
          <p:cNvPr id="23" name="Object 4" descr="i (t) equals negative 8 plus 20 e to the negative 50 t power Ampere comma t is greater than or equal to 0.&#10;">
            <a:extLst>
              <a:ext uri="{FF2B5EF4-FFF2-40B4-BE49-F238E27FC236}">
                <a16:creationId xmlns:a16="http://schemas.microsoft.com/office/drawing/2014/main" id="{084AF8DE-E176-88A6-7D89-FAFCF63D3BB8}"/>
              </a:ext>
            </a:extLst>
          </p:cNvPr>
          <p:cNvGraphicFramePr>
            <a:graphicFrameLocks noChangeAspect="1"/>
          </p:cNvGraphicFramePr>
          <p:nvPr>
            <p:extLst>
              <p:ext uri="{D42A27DB-BD31-4B8C-83A1-F6EECF244321}">
                <p14:modId xmlns:p14="http://schemas.microsoft.com/office/powerpoint/2010/main" val="2870068328"/>
              </p:ext>
            </p:extLst>
          </p:nvPr>
        </p:nvGraphicFramePr>
        <p:xfrm>
          <a:off x="4992688" y="3384550"/>
          <a:ext cx="3594100" cy="455613"/>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11" name="Object 4">
                        <a:extLst>
                          <a:ext uri="{FF2B5EF4-FFF2-40B4-BE49-F238E27FC236}">
                            <a16:creationId xmlns:a16="http://schemas.microsoft.com/office/drawing/2014/main" id="{F361131C-95F4-4735-B230-B18EE4EA9D07}"/>
                          </a:ext>
                        </a:extLst>
                      </p:cNvPr>
                      <p:cNvPicPr>
                        <a:picLocks noChangeAspect="1" noChangeArrowheads="1"/>
                      </p:cNvPicPr>
                      <p:nvPr/>
                    </p:nvPicPr>
                    <p:blipFill>
                      <a:blip r:embed="rId6"/>
                      <a:srcRect/>
                      <a:stretch>
                        <a:fillRect/>
                      </a:stretch>
                    </p:blipFill>
                    <p:spPr bwMode="auto">
                      <a:xfrm>
                        <a:off x="4992688" y="3384550"/>
                        <a:ext cx="3594100"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D95DB156-F40A-BC75-2AF4-9971855564BA}"/>
              </a:ext>
            </a:extLst>
          </p:cNvPr>
          <p:cNvSpPr>
            <a:spLocks noGrp="1"/>
          </p:cNvSpPr>
          <p:nvPr>
            <p:ph sz="quarter" idx="14"/>
          </p:nvPr>
        </p:nvSpPr>
        <p:spPr>
          <a:xfrm>
            <a:off x="1287799" y="4653756"/>
            <a:ext cx="342901" cy="405683"/>
          </a:xfrm>
        </p:spPr>
        <p:txBody>
          <a:bodyPr/>
          <a:lstStyle/>
          <a:p>
            <a:pPr marL="0" indent="0">
              <a:buNone/>
            </a:pPr>
            <a:r>
              <a:rPr lang="en-US" sz="2400" dirty="0">
                <a:solidFill>
                  <a:srgbClr val="007FA3"/>
                </a:solidFill>
              </a:rPr>
              <a:t>A.</a:t>
            </a:r>
          </a:p>
        </p:txBody>
      </p:sp>
      <p:graphicFrame>
        <p:nvGraphicFramePr>
          <p:cNvPr id="27" name="Object 4" descr="negative 8 plus 20 e to the negative 50 t power Ampere comma t is greater than or equal to 0.&#10;">
            <a:extLst>
              <a:ext uri="{FF2B5EF4-FFF2-40B4-BE49-F238E27FC236}">
                <a16:creationId xmlns:a16="http://schemas.microsoft.com/office/drawing/2014/main" id="{4D961A1A-BE05-FDA2-0422-91BDA22F7D52}"/>
              </a:ext>
            </a:extLst>
          </p:cNvPr>
          <p:cNvGraphicFramePr>
            <a:graphicFrameLocks noChangeAspect="1"/>
          </p:cNvGraphicFramePr>
          <p:nvPr>
            <p:extLst>
              <p:ext uri="{D42A27DB-BD31-4B8C-83A1-F6EECF244321}">
                <p14:modId xmlns:p14="http://schemas.microsoft.com/office/powerpoint/2010/main" val="2373441129"/>
              </p:ext>
            </p:extLst>
          </p:nvPr>
        </p:nvGraphicFramePr>
        <p:xfrm>
          <a:off x="1735138" y="4624388"/>
          <a:ext cx="2532062" cy="455612"/>
        </p:xfrm>
        <a:graphic>
          <a:graphicData uri="http://schemas.openxmlformats.org/presentationml/2006/ole">
            <mc:AlternateContent xmlns:mc="http://schemas.openxmlformats.org/markup-compatibility/2006">
              <mc:Choice xmlns:v="urn:schemas-microsoft-com:vml" Requires="v">
                <p:oleObj name="Equation" r:id="rId7" imgW="1269720" imgH="228600" progId="Equation.DSMT4">
                  <p:embed/>
                </p:oleObj>
              </mc:Choice>
              <mc:Fallback>
                <p:oleObj name="Equation" r:id="rId7" imgW="1269720" imgH="228600" progId="Equation.DSMT4">
                  <p:embed/>
                  <p:pic>
                    <p:nvPicPr>
                      <p:cNvPr id="23" name="Object 4">
                        <a:extLst>
                          <a:ext uri="{FF2B5EF4-FFF2-40B4-BE49-F238E27FC236}">
                            <a16:creationId xmlns:a16="http://schemas.microsoft.com/office/drawing/2014/main" id="{084AF8DE-E176-88A6-7D89-FAFCF63D3BB8}"/>
                          </a:ext>
                        </a:extLst>
                      </p:cNvPr>
                      <p:cNvPicPr>
                        <a:picLocks noChangeAspect="1" noChangeArrowheads="1"/>
                      </p:cNvPicPr>
                      <p:nvPr/>
                    </p:nvPicPr>
                    <p:blipFill>
                      <a:blip r:embed="rId8"/>
                      <a:srcRect/>
                      <a:stretch>
                        <a:fillRect/>
                      </a:stretch>
                    </p:blipFill>
                    <p:spPr bwMode="auto">
                      <a:xfrm>
                        <a:off x="1735138" y="4624388"/>
                        <a:ext cx="2532062"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137EED05-C7FF-E3F6-DABF-2AFD604A0846}"/>
              </a:ext>
            </a:extLst>
          </p:cNvPr>
          <p:cNvSpPr>
            <a:spLocks noGrp="1"/>
          </p:cNvSpPr>
          <p:nvPr>
            <p:ph sz="quarter" idx="15"/>
          </p:nvPr>
        </p:nvSpPr>
        <p:spPr>
          <a:xfrm>
            <a:off x="1287800" y="5313088"/>
            <a:ext cx="342900" cy="405683"/>
          </a:xfrm>
        </p:spPr>
        <p:txBody>
          <a:bodyPr/>
          <a:lstStyle/>
          <a:p>
            <a:pPr marL="0" indent="0">
              <a:buNone/>
            </a:pPr>
            <a:r>
              <a:rPr lang="en-US" sz="2400" dirty="0">
                <a:solidFill>
                  <a:srgbClr val="007FA3"/>
                </a:solidFill>
              </a:rPr>
              <a:t>B.</a:t>
            </a:r>
          </a:p>
        </p:txBody>
      </p:sp>
      <p:graphicFrame>
        <p:nvGraphicFramePr>
          <p:cNvPr id="28" name="Object 4" descr="20 e to the negative 50 t power Ampere comma t is greater than or equal to 0.&#10;">
            <a:extLst>
              <a:ext uri="{FF2B5EF4-FFF2-40B4-BE49-F238E27FC236}">
                <a16:creationId xmlns:a16="http://schemas.microsoft.com/office/drawing/2014/main" id="{3AC659B3-AF92-ABAB-911F-807421C4A498}"/>
              </a:ext>
            </a:extLst>
          </p:cNvPr>
          <p:cNvGraphicFramePr>
            <a:graphicFrameLocks noChangeAspect="1"/>
          </p:cNvGraphicFramePr>
          <p:nvPr>
            <p:extLst>
              <p:ext uri="{D42A27DB-BD31-4B8C-83A1-F6EECF244321}">
                <p14:modId xmlns:p14="http://schemas.microsoft.com/office/powerpoint/2010/main" val="446487044"/>
              </p:ext>
            </p:extLst>
          </p:nvPr>
        </p:nvGraphicFramePr>
        <p:xfrm>
          <a:off x="1759798" y="5262505"/>
          <a:ext cx="1949450" cy="455612"/>
        </p:xfrm>
        <a:graphic>
          <a:graphicData uri="http://schemas.openxmlformats.org/presentationml/2006/ole">
            <mc:AlternateContent xmlns:mc="http://schemas.openxmlformats.org/markup-compatibility/2006">
              <mc:Choice xmlns:v="urn:schemas-microsoft-com:vml" Requires="v">
                <p:oleObj name="Equation" r:id="rId9" imgW="977760" imgH="228600" progId="Equation.DSMT4">
                  <p:embed/>
                </p:oleObj>
              </mc:Choice>
              <mc:Fallback>
                <p:oleObj name="Equation" r:id="rId9" imgW="977760" imgH="228600" progId="Equation.DSMT4">
                  <p:embed/>
                  <p:pic>
                    <p:nvPicPr>
                      <p:cNvPr id="27" name="Object 4">
                        <a:extLst>
                          <a:ext uri="{FF2B5EF4-FFF2-40B4-BE49-F238E27FC236}">
                            <a16:creationId xmlns:a16="http://schemas.microsoft.com/office/drawing/2014/main" id="{4D961A1A-BE05-FDA2-0422-91BDA22F7D52}"/>
                          </a:ext>
                        </a:extLst>
                      </p:cNvPr>
                      <p:cNvPicPr>
                        <a:picLocks noChangeAspect="1" noChangeArrowheads="1"/>
                      </p:cNvPicPr>
                      <p:nvPr/>
                    </p:nvPicPr>
                    <p:blipFill>
                      <a:blip r:embed="rId10"/>
                      <a:srcRect/>
                      <a:stretch>
                        <a:fillRect/>
                      </a:stretch>
                    </p:blipFill>
                    <p:spPr bwMode="auto">
                      <a:xfrm>
                        <a:off x="1759798" y="5262505"/>
                        <a:ext cx="1949450"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947AE4B0-7B04-53F3-6B6A-E6BE918E13AE}"/>
              </a:ext>
            </a:extLst>
          </p:cNvPr>
          <p:cNvSpPr>
            <a:spLocks noGrp="1"/>
          </p:cNvSpPr>
          <p:nvPr>
            <p:ph sz="quarter" idx="16"/>
          </p:nvPr>
        </p:nvSpPr>
        <p:spPr>
          <a:xfrm>
            <a:off x="1275363" y="5870127"/>
            <a:ext cx="342900" cy="405683"/>
          </a:xfrm>
        </p:spPr>
        <p:txBody>
          <a:bodyPr wrap="square">
            <a:spAutoFit/>
          </a:bodyPr>
          <a:lstStyle/>
          <a:p>
            <a:pPr marL="0" indent="0">
              <a:buNone/>
            </a:pPr>
            <a:r>
              <a:rPr lang="en-US" sz="2400" dirty="0">
                <a:solidFill>
                  <a:srgbClr val="007FA3"/>
                </a:solidFill>
              </a:rPr>
              <a:t>C.</a:t>
            </a:r>
          </a:p>
        </p:txBody>
      </p:sp>
      <p:graphicFrame>
        <p:nvGraphicFramePr>
          <p:cNvPr id="29" name="Object 4" descr="negative 20 e to the negative 50 t power Ampere comma t is greater than or equal to 0.&#10;">
            <a:extLst>
              <a:ext uri="{FF2B5EF4-FFF2-40B4-BE49-F238E27FC236}">
                <a16:creationId xmlns:a16="http://schemas.microsoft.com/office/drawing/2014/main" id="{100162BA-7937-0E8B-9469-52E1A3180999}"/>
              </a:ext>
            </a:extLst>
          </p:cNvPr>
          <p:cNvGraphicFramePr>
            <a:graphicFrameLocks noChangeAspect="1"/>
          </p:cNvGraphicFramePr>
          <p:nvPr>
            <p:extLst>
              <p:ext uri="{D42A27DB-BD31-4B8C-83A1-F6EECF244321}">
                <p14:modId xmlns:p14="http://schemas.microsoft.com/office/powerpoint/2010/main" val="3289775854"/>
              </p:ext>
            </p:extLst>
          </p:nvPr>
        </p:nvGraphicFramePr>
        <p:xfrm>
          <a:off x="1734924" y="5849518"/>
          <a:ext cx="2176463" cy="455612"/>
        </p:xfrm>
        <a:graphic>
          <a:graphicData uri="http://schemas.openxmlformats.org/presentationml/2006/ole">
            <mc:AlternateContent xmlns:mc="http://schemas.openxmlformats.org/markup-compatibility/2006">
              <mc:Choice xmlns:v="urn:schemas-microsoft-com:vml" Requires="v">
                <p:oleObj name="Equation" r:id="rId11" imgW="1091880" imgH="228600" progId="Equation.DSMT4">
                  <p:embed/>
                </p:oleObj>
              </mc:Choice>
              <mc:Fallback>
                <p:oleObj name="Equation" r:id="rId11" imgW="1091880" imgH="228600" progId="Equation.DSMT4">
                  <p:embed/>
                  <p:pic>
                    <p:nvPicPr>
                      <p:cNvPr id="28" name="Object 4">
                        <a:extLst>
                          <a:ext uri="{FF2B5EF4-FFF2-40B4-BE49-F238E27FC236}">
                            <a16:creationId xmlns:a16="http://schemas.microsoft.com/office/drawing/2014/main" id="{3AC659B3-AF92-ABAB-911F-807421C4A498}"/>
                          </a:ext>
                        </a:extLst>
                      </p:cNvPr>
                      <p:cNvPicPr>
                        <a:picLocks noChangeAspect="1" noChangeArrowheads="1"/>
                      </p:cNvPicPr>
                      <p:nvPr/>
                    </p:nvPicPr>
                    <p:blipFill>
                      <a:blip r:embed="rId12"/>
                      <a:srcRect/>
                      <a:stretch>
                        <a:fillRect/>
                      </a:stretch>
                    </p:blipFill>
                    <p:spPr bwMode="auto">
                      <a:xfrm>
                        <a:off x="1734924" y="5849518"/>
                        <a:ext cx="2176463"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09918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B3DB1-1BAF-E535-3698-FB5D52243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7E559A-E740-D704-52D0-15A90AA126AA}"/>
              </a:ext>
            </a:extLst>
          </p:cNvPr>
          <p:cNvSpPr>
            <a:spLocks noGrp="1"/>
          </p:cNvSpPr>
          <p:nvPr>
            <p:ph type="title"/>
          </p:nvPr>
        </p:nvSpPr>
        <p:spPr>
          <a:xfrm>
            <a:off x="428336" y="164556"/>
            <a:ext cx="8247352" cy="1144347"/>
          </a:xfrm>
        </p:spPr>
        <p:txBody>
          <a:bodyPr/>
          <a:lstStyle/>
          <a:p>
            <a:r>
              <a:rPr lang="en-US" sz="3600" dirty="0">
                <a:latin typeface="+mn-lt"/>
              </a:rPr>
              <a:t>Chapter 7 – </a:t>
            </a:r>
            <a:r>
              <a:rPr lang="en-US" sz="3600" i="1" spc="-500" dirty="0">
                <a:latin typeface="+mn-lt"/>
              </a:rPr>
              <a:t>R </a:t>
            </a:r>
            <a:r>
              <a:rPr lang="en-US" sz="3600" i="1" dirty="0">
                <a:latin typeface="+mn-lt"/>
              </a:rPr>
              <a:t>L</a:t>
            </a:r>
            <a:r>
              <a:rPr lang="en-US" sz="3600" dirty="0">
                <a:latin typeface="+mn-lt"/>
              </a:rPr>
              <a:t>/</a:t>
            </a:r>
            <a:r>
              <a:rPr lang="en-US" sz="3600" i="1" spc="-500" dirty="0">
                <a:latin typeface="+mn-lt"/>
              </a:rPr>
              <a:t>R </a:t>
            </a:r>
            <a:r>
              <a:rPr lang="en-US" sz="3600" i="1" dirty="0">
                <a:latin typeface="+mn-lt"/>
              </a:rPr>
              <a:t>C</a:t>
            </a:r>
            <a:r>
              <a:rPr lang="en-US" sz="3600" dirty="0">
                <a:latin typeface="+mn-lt"/>
              </a:rPr>
              <a:t> Step Response Examples </a:t>
            </a:r>
            <a:r>
              <a:rPr lang="en-US" sz="2800" dirty="0">
                <a:latin typeface="Arial"/>
              </a:rPr>
              <a:t>(5 of 10)</a:t>
            </a:r>
            <a:endParaRPr lang="en-US" dirty="0"/>
          </a:p>
        </p:txBody>
      </p:sp>
      <p:sp>
        <p:nvSpPr>
          <p:cNvPr id="3" name="Content Placeholder 2">
            <a:extLst>
              <a:ext uri="{FF2B5EF4-FFF2-40B4-BE49-F238E27FC236}">
                <a16:creationId xmlns:a16="http://schemas.microsoft.com/office/drawing/2014/main" id="{AF19D68B-F709-25F8-BE29-0F3D7FC37E98}"/>
              </a:ext>
            </a:extLst>
          </p:cNvPr>
          <p:cNvSpPr>
            <a:spLocks noGrp="1"/>
          </p:cNvSpPr>
          <p:nvPr>
            <p:ph sz="quarter" idx="12"/>
          </p:nvPr>
        </p:nvSpPr>
        <p:spPr>
          <a:xfrm>
            <a:off x="421048" y="1470079"/>
            <a:ext cx="8247352" cy="405683"/>
          </a:xfrm>
        </p:spPr>
        <p:txBody>
          <a:bodyPr wrap="square">
            <a:spAutoFit/>
          </a:bodyPr>
          <a:lstStyle/>
          <a:p>
            <a:pPr marL="0" indent="0">
              <a:buNone/>
            </a:pPr>
            <a:r>
              <a:rPr lang="en-US" sz="2400" dirty="0">
                <a:solidFill>
                  <a:schemeClr val="tx1"/>
                </a:solidFill>
              </a:rPr>
              <a:t>Find the current in the resistor (flowing from top to bottom),</a:t>
            </a:r>
          </a:p>
        </p:txBody>
      </p:sp>
      <p:sp>
        <p:nvSpPr>
          <p:cNvPr id="4" name="Content Placeholder 3">
            <a:extLst>
              <a:ext uri="{FF2B5EF4-FFF2-40B4-BE49-F238E27FC236}">
                <a16:creationId xmlns:a16="http://schemas.microsoft.com/office/drawing/2014/main" id="{82E8E7AC-60D6-94AF-7A76-A1850C97F9F0}"/>
              </a:ext>
            </a:extLst>
          </p:cNvPr>
          <p:cNvSpPr>
            <a:spLocks noGrp="1"/>
          </p:cNvSpPr>
          <p:nvPr>
            <p:ph sz="quarter" idx="13"/>
          </p:nvPr>
        </p:nvSpPr>
        <p:spPr>
          <a:xfrm>
            <a:off x="428336" y="1960813"/>
            <a:ext cx="6012872" cy="405683"/>
          </a:xfrm>
        </p:spPr>
        <p:txBody>
          <a:bodyPr wrap="square">
            <a:spAutoFit/>
          </a:bodyPr>
          <a:lstStyle/>
          <a:p>
            <a:pPr marL="0" indent="0">
              <a:buNone/>
            </a:pPr>
            <a:r>
              <a:rPr lang="en-US" sz="2400" dirty="0">
                <a:solidFill>
                  <a:schemeClr val="tx1"/>
                </a:solidFill>
              </a:rPr>
              <a:t>given the inductor current just calculated, for</a:t>
            </a:r>
          </a:p>
        </p:txBody>
      </p:sp>
      <p:graphicFrame>
        <p:nvGraphicFramePr>
          <p:cNvPr id="21" name="Object 20" descr="t is greater than or equal to 0.&#10;">
            <a:extLst>
              <a:ext uri="{FF2B5EF4-FFF2-40B4-BE49-F238E27FC236}">
                <a16:creationId xmlns:a16="http://schemas.microsoft.com/office/drawing/2014/main" id="{E1D22E27-32FE-3F2E-F991-CEAF089E611B}"/>
              </a:ext>
            </a:extLst>
          </p:cNvPr>
          <p:cNvGraphicFramePr>
            <a:graphicFrameLocks noChangeAspect="1"/>
          </p:cNvGraphicFramePr>
          <p:nvPr/>
        </p:nvGraphicFramePr>
        <p:xfrm>
          <a:off x="6521450" y="2000250"/>
          <a:ext cx="831850" cy="365125"/>
        </p:xfrm>
        <a:graphic>
          <a:graphicData uri="http://schemas.openxmlformats.org/presentationml/2006/ole">
            <mc:AlternateContent xmlns:mc="http://schemas.openxmlformats.org/markup-compatibility/2006">
              <mc:Choice xmlns:v="urn:schemas-microsoft-com:vml" Requires="v">
                <p:oleObj name="Equation" r:id="rId5" imgW="368280" imgH="177480" progId="Equation.DSMT4">
                  <p:embed/>
                </p:oleObj>
              </mc:Choice>
              <mc:Fallback>
                <p:oleObj name="Equation" r:id="rId5" imgW="368280" imgH="177480" progId="Equation.DSMT4">
                  <p:embed/>
                  <p:pic>
                    <p:nvPicPr>
                      <p:cNvPr id="21" name="Object 20" descr="t is greater than or equal to 0.&#10;">
                        <a:extLst>
                          <a:ext uri="{FF2B5EF4-FFF2-40B4-BE49-F238E27FC236}">
                            <a16:creationId xmlns:a16="http://schemas.microsoft.com/office/drawing/2014/main" id="{9D93C30E-38FE-A045-523A-62CE2C992103}"/>
                          </a:ext>
                        </a:extLst>
                      </p:cNvPr>
                      <p:cNvPicPr>
                        <a:picLocks noChangeAspect="1" noChangeArrowheads="1"/>
                      </p:cNvPicPr>
                      <p:nvPr/>
                    </p:nvPicPr>
                    <p:blipFill>
                      <a:blip r:embed="rId6"/>
                      <a:srcRect/>
                      <a:stretch>
                        <a:fillRect/>
                      </a:stretch>
                    </p:blipFill>
                    <p:spPr bwMode="auto">
                      <a:xfrm>
                        <a:off x="6521450" y="2000250"/>
                        <a:ext cx="831850" cy="365125"/>
                      </a:xfrm>
                      <a:prstGeom prst="rect">
                        <a:avLst/>
                      </a:prstGeom>
                      <a:noFill/>
                      <a:ln>
                        <a:noFill/>
                      </a:ln>
                    </p:spPr>
                  </p:pic>
                </p:oleObj>
              </mc:Fallback>
            </mc:AlternateContent>
          </a:graphicData>
        </a:graphic>
      </p:graphicFrame>
      <p:pic>
        <p:nvPicPr>
          <p:cNvPr id="22" name="Picture 21"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76497073-4669-358A-E961-7A4F09AA366E}"/>
              </a:ext>
            </a:extLst>
          </p:cNvPr>
          <p:cNvPicPr>
            <a:picLocks noChangeAspect="1"/>
          </p:cNvPicPr>
          <p:nvPr/>
        </p:nvPicPr>
        <p:blipFill>
          <a:blip r:embed="rId7"/>
          <a:stretch>
            <a:fillRect/>
          </a:stretch>
        </p:blipFill>
        <p:spPr>
          <a:xfrm>
            <a:off x="587364" y="2534240"/>
            <a:ext cx="4265744" cy="1906976"/>
          </a:xfrm>
          <a:prstGeom prst="rect">
            <a:avLst/>
          </a:prstGeom>
        </p:spPr>
      </p:pic>
      <p:graphicFrame>
        <p:nvGraphicFramePr>
          <p:cNvPr id="23" name="Object 4" descr="i (t) equals negative 8 plus 20 e to the negative 50 t power Ampere comma t is greater than or equal to 0.&#10;">
            <a:extLst>
              <a:ext uri="{FF2B5EF4-FFF2-40B4-BE49-F238E27FC236}">
                <a16:creationId xmlns:a16="http://schemas.microsoft.com/office/drawing/2014/main" id="{985625B9-78B2-57B9-88FD-C1E4559CD77B}"/>
              </a:ext>
            </a:extLst>
          </p:cNvPr>
          <p:cNvGraphicFramePr>
            <a:graphicFrameLocks noChangeAspect="1"/>
          </p:cNvGraphicFramePr>
          <p:nvPr/>
        </p:nvGraphicFramePr>
        <p:xfrm>
          <a:off x="4992688" y="3384550"/>
          <a:ext cx="3594100" cy="455613"/>
        </p:xfrm>
        <a:graphic>
          <a:graphicData uri="http://schemas.openxmlformats.org/presentationml/2006/ole">
            <mc:AlternateContent xmlns:mc="http://schemas.openxmlformats.org/markup-compatibility/2006">
              <mc:Choice xmlns:v="urn:schemas-microsoft-com:vml" Requires="v">
                <p:oleObj name="Equation" r:id="rId8" imgW="1803240" imgH="228600" progId="Equation.DSMT4">
                  <p:embed/>
                </p:oleObj>
              </mc:Choice>
              <mc:Fallback>
                <p:oleObj name="Equation" r:id="rId8" imgW="1803240" imgH="228600" progId="Equation.DSMT4">
                  <p:embed/>
                  <p:pic>
                    <p:nvPicPr>
                      <p:cNvPr id="23" name="Object 4" descr="i (t) equals negative 8 plus 20 e to the negative 50 t power Ampere comma t is greater than or equal to 0.&#10;">
                        <a:extLst>
                          <a:ext uri="{FF2B5EF4-FFF2-40B4-BE49-F238E27FC236}">
                            <a16:creationId xmlns:a16="http://schemas.microsoft.com/office/drawing/2014/main" id="{084AF8DE-E176-88A6-7D89-FAFCF63D3BB8}"/>
                          </a:ext>
                        </a:extLst>
                      </p:cNvPr>
                      <p:cNvPicPr>
                        <a:picLocks noChangeAspect="1" noChangeArrowheads="1"/>
                      </p:cNvPicPr>
                      <p:nvPr/>
                    </p:nvPicPr>
                    <p:blipFill>
                      <a:blip r:embed="rId9"/>
                      <a:srcRect/>
                      <a:stretch>
                        <a:fillRect/>
                      </a:stretch>
                    </p:blipFill>
                    <p:spPr bwMode="auto">
                      <a:xfrm>
                        <a:off x="4992688" y="3384550"/>
                        <a:ext cx="3594100"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1436" descr="Cross mark">
            <a:extLst>
              <a:ext uri="{FF2B5EF4-FFF2-40B4-BE49-F238E27FC236}">
                <a16:creationId xmlns:a16="http://schemas.microsoft.com/office/drawing/2014/main" id="{F406F010-C1B3-1B48-DE65-B383270483D0}"/>
              </a:ext>
            </a:extLst>
          </p:cNvPr>
          <p:cNvPicPr>
            <a:picLocks/>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816528" y="4722775"/>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E7073168-4DA7-201B-3925-54DB4133BA53}"/>
              </a:ext>
            </a:extLst>
          </p:cNvPr>
          <p:cNvSpPr>
            <a:spLocks noGrp="1"/>
          </p:cNvSpPr>
          <p:nvPr>
            <p:ph sz="quarter" idx="14"/>
          </p:nvPr>
        </p:nvSpPr>
        <p:spPr>
          <a:xfrm>
            <a:off x="1287799" y="4653756"/>
            <a:ext cx="342901" cy="405683"/>
          </a:xfrm>
        </p:spPr>
        <p:txBody>
          <a:bodyPr/>
          <a:lstStyle/>
          <a:p>
            <a:pPr marL="0" indent="0">
              <a:buNone/>
            </a:pPr>
            <a:r>
              <a:rPr lang="en-US" sz="2400" dirty="0">
                <a:solidFill>
                  <a:srgbClr val="007FA3"/>
                </a:solidFill>
              </a:rPr>
              <a:t>A.</a:t>
            </a:r>
          </a:p>
        </p:txBody>
      </p:sp>
      <p:graphicFrame>
        <p:nvGraphicFramePr>
          <p:cNvPr id="27" name="Object 4" descr="negative 8 plus 20 e to the negative 50 t power Ampere comma t is greater than or equal to 0.&#10;">
            <a:extLst>
              <a:ext uri="{FF2B5EF4-FFF2-40B4-BE49-F238E27FC236}">
                <a16:creationId xmlns:a16="http://schemas.microsoft.com/office/drawing/2014/main" id="{6E554A83-6DAE-53C1-2CA7-3275CBA918F1}"/>
              </a:ext>
            </a:extLst>
          </p:cNvPr>
          <p:cNvGraphicFramePr>
            <a:graphicFrameLocks noChangeAspect="1"/>
          </p:cNvGraphicFramePr>
          <p:nvPr/>
        </p:nvGraphicFramePr>
        <p:xfrm>
          <a:off x="1735138" y="4624388"/>
          <a:ext cx="2532062" cy="455612"/>
        </p:xfrm>
        <a:graphic>
          <a:graphicData uri="http://schemas.openxmlformats.org/presentationml/2006/ole">
            <mc:AlternateContent xmlns:mc="http://schemas.openxmlformats.org/markup-compatibility/2006">
              <mc:Choice xmlns:v="urn:schemas-microsoft-com:vml" Requires="v">
                <p:oleObj name="Equation" r:id="rId11" imgW="1269720" imgH="228600" progId="Equation.DSMT4">
                  <p:embed/>
                </p:oleObj>
              </mc:Choice>
              <mc:Fallback>
                <p:oleObj name="Equation" r:id="rId11" imgW="1269720" imgH="228600" progId="Equation.DSMT4">
                  <p:embed/>
                  <p:pic>
                    <p:nvPicPr>
                      <p:cNvPr id="27" name="Object 4" descr="negative 8 plus 20 e to the negative 50 t power Ampere comma t is greater than or equal to 0.&#10;">
                        <a:extLst>
                          <a:ext uri="{FF2B5EF4-FFF2-40B4-BE49-F238E27FC236}">
                            <a16:creationId xmlns:a16="http://schemas.microsoft.com/office/drawing/2014/main" id="{4D961A1A-BE05-FDA2-0422-91BDA22F7D52}"/>
                          </a:ext>
                        </a:extLst>
                      </p:cNvPr>
                      <p:cNvPicPr>
                        <a:picLocks noChangeAspect="1" noChangeArrowheads="1"/>
                      </p:cNvPicPr>
                      <p:nvPr/>
                    </p:nvPicPr>
                    <p:blipFill>
                      <a:blip r:embed="rId12"/>
                      <a:srcRect/>
                      <a:stretch>
                        <a:fillRect/>
                      </a:stretch>
                    </p:blipFill>
                    <p:spPr bwMode="auto">
                      <a:xfrm>
                        <a:off x="1735138" y="4624388"/>
                        <a:ext cx="2532062"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1434" descr="Cross mark">
            <a:extLst>
              <a:ext uri="{FF2B5EF4-FFF2-40B4-BE49-F238E27FC236}">
                <a16:creationId xmlns:a16="http://schemas.microsoft.com/office/drawing/2014/main" id="{8959DCF1-2A6B-002E-EB7E-D6756D0E552F}"/>
              </a:ext>
            </a:extLst>
          </p:cNvPr>
          <p:cNvPicPr>
            <a:picLocks/>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815802" y="5368830"/>
            <a:ext cx="342900" cy="29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480662CD-B31F-395B-5C3F-5D7E66605FC5}"/>
              </a:ext>
            </a:extLst>
          </p:cNvPr>
          <p:cNvSpPr>
            <a:spLocks noGrp="1"/>
          </p:cNvSpPr>
          <p:nvPr>
            <p:ph sz="quarter" idx="15"/>
          </p:nvPr>
        </p:nvSpPr>
        <p:spPr>
          <a:xfrm>
            <a:off x="1287800" y="5313088"/>
            <a:ext cx="342900" cy="405683"/>
          </a:xfrm>
        </p:spPr>
        <p:txBody>
          <a:bodyPr/>
          <a:lstStyle/>
          <a:p>
            <a:pPr marL="0" indent="0">
              <a:buNone/>
            </a:pPr>
            <a:r>
              <a:rPr lang="en-US" sz="2400" dirty="0">
                <a:solidFill>
                  <a:srgbClr val="007FA3"/>
                </a:solidFill>
              </a:rPr>
              <a:t>B.</a:t>
            </a:r>
          </a:p>
        </p:txBody>
      </p:sp>
      <p:graphicFrame>
        <p:nvGraphicFramePr>
          <p:cNvPr id="28" name="Object 4" descr="20 e to the negative 50 t power Ampere comma t is greater than or equal to 0.&#10;">
            <a:extLst>
              <a:ext uri="{FF2B5EF4-FFF2-40B4-BE49-F238E27FC236}">
                <a16:creationId xmlns:a16="http://schemas.microsoft.com/office/drawing/2014/main" id="{3C9EA6D3-2796-FDC4-1122-099F3250E2AF}"/>
              </a:ext>
            </a:extLst>
          </p:cNvPr>
          <p:cNvGraphicFramePr>
            <a:graphicFrameLocks noChangeAspect="1"/>
          </p:cNvGraphicFramePr>
          <p:nvPr/>
        </p:nvGraphicFramePr>
        <p:xfrm>
          <a:off x="1759798" y="5262505"/>
          <a:ext cx="1949450" cy="455612"/>
        </p:xfrm>
        <a:graphic>
          <a:graphicData uri="http://schemas.openxmlformats.org/presentationml/2006/ole">
            <mc:AlternateContent xmlns:mc="http://schemas.openxmlformats.org/markup-compatibility/2006">
              <mc:Choice xmlns:v="urn:schemas-microsoft-com:vml" Requires="v">
                <p:oleObj name="Equation" r:id="rId13" imgW="977760" imgH="228600" progId="Equation.DSMT4">
                  <p:embed/>
                </p:oleObj>
              </mc:Choice>
              <mc:Fallback>
                <p:oleObj name="Equation" r:id="rId13" imgW="977760" imgH="228600" progId="Equation.DSMT4">
                  <p:embed/>
                  <p:pic>
                    <p:nvPicPr>
                      <p:cNvPr id="28" name="Object 4" descr="20 e to the negative 50 t power Ampere comma t is greater than or equal to 0.&#10;">
                        <a:extLst>
                          <a:ext uri="{FF2B5EF4-FFF2-40B4-BE49-F238E27FC236}">
                            <a16:creationId xmlns:a16="http://schemas.microsoft.com/office/drawing/2014/main" id="{3AC659B3-AF92-ABAB-911F-807421C4A498}"/>
                          </a:ext>
                        </a:extLst>
                      </p:cNvPr>
                      <p:cNvPicPr>
                        <a:picLocks noChangeAspect="1" noChangeArrowheads="1"/>
                      </p:cNvPicPr>
                      <p:nvPr/>
                    </p:nvPicPr>
                    <p:blipFill>
                      <a:blip r:embed="rId14"/>
                      <a:srcRect/>
                      <a:stretch>
                        <a:fillRect/>
                      </a:stretch>
                    </p:blipFill>
                    <p:spPr bwMode="auto">
                      <a:xfrm>
                        <a:off x="1759798" y="5262505"/>
                        <a:ext cx="1949450"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1435" descr="Check mark">
            <a:extLst>
              <a:ext uri="{FF2B5EF4-FFF2-40B4-BE49-F238E27FC236}">
                <a16:creationId xmlns:a16="http://schemas.microsoft.com/office/drawing/2014/main" id="{ED72B4A4-70DF-CBDB-DA85-98350EC5F979}"/>
              </a:ext>
            </a:extLst>
          </p:cNvPr>
          <p:cNvPicPr>
            <a:picLocks/>
          </p:cNvPicPr>
          <p:nvPr>
            <p:custDataLst>
              <p:tags r:id="rId3"/>
            </p:custDataLst>
          </p:nvPr>
        </p:nvPicPr>
        <p:blipFill>
          <a:blip r:embed="rId15">
            <a:extLst>
              <a:ext uri="{28A0092B-C50C-407E-A947-70E740481C1C}">
                <a14:useLocalDpi xmlns:a14="http://schemas.microsoft.com/office/drawing/2010/main" val="0"/>
              </a:ext>
            </a:extLst>
          </a:blip>
          <a:srcRect/>
          <a:stretch>
            <a:fillRect/>
          </a:stretch>
        </p:blipFill>
        <p:spPr bwMode="auto">
          <a:xfrm>
            <a:off x="815802" y="588818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A45155B5-C8A3-7CB4-E689-E9B576B4985F}"/>
              </a:ext>
            </a:extLst>
          </p:cNvPr>
          <p:cNvSpPr>
            <a:spLocks noGrp="1"/>
          </p:cNvSpPr>
          <p:nvPr>
            <p:ph sz="quarter" idx="16"/>
          </p:nvPr>
        </p:nvSpPr>
        <p:spPr>
          <a:xfrm>
            <a:off x="1275363" y="5870127"/>
            <a:ext cx="342900" cy="405683"/>
          </a:xfrm>
        </p:spPr>
        <p:txBody>
          <a:bodyPr wrap="square">
            <a:spAutoFit/>
          </a:bodyPr>
          <a:lstStyle/>
          <a:p>
            <a:pPr marL="0" indent="0">
              <a:buNone/>
            </a:pPr>
            <a:r>
              <a:rPr lang="en-US" sz="2400" dirty="0">
                <a:solidFill>
                  <a:srgbClr val="007FA3"/>
                </a:solidFill>
              </a:rPr>
              <a:t>C.</a:t>
            </a:r>
          </a:p>
        </p:txBody>
      </p:sp>
      <p:graphicFrame>
        <p:nvGraphicFramePr>
          <p:cNvPr id="29" name="Object 4" descr="negative 20 e to the negative 50 t power Ampere comma t is greater than or equal to 0.&#10;">
            <a:extLst>
              <a:ext uri="{FF2B5EF4-FFF2-40B4-BE49-F238E27FC236}">
                <a16:creationId xmlns:a16="http://schemas.microsoft.com/office/drawing/2014/main" id="{85309F1B-8A77-CCC9-0235-A2FCCA8B9CD7}"/>
              </a:ext>
            </a:extLst>
          </p:cNvPr>
          <p:cNvGraphicFramePr>
            <a:graphicFrameLocks noChangeAspect="1"/>
          </p:cNvGraphicFramePr>
          <p:nvPr/>
        </p:nvGraphicFramePr>
        <p:xfrm>
          <a:off x="1734924" y="5849518"/>
          <a:ext cx="2176463" cy="455612"/>
        </p:xfrm>
        <a:graphic>
          <a:graphicData uri="http://schemas.openxmlformats.org/presentationml/2006/ole">
            <mc:AlternateContent xmlns:mc="http://schemas.openxmlformats.org/markup-compatibility/2006">
              <mc:Choice xmlns:v="urn:schemas-microsoft-com:vml" Requires="v">
                <p:oleObj name="Equation" r:id="rId16" imgW="1091880" imgH="228600" progId="Equation.DSMT4">
                  <p:embed/>
                </p:oleObj>
              </mc:Choice>
              <mc:Fallback>
                <p:oleObj name="Equation" r:id="rId16" imgW="1091880" imgH="228600" progId="Equation.DSMT4">
                  <p:embed/>
                  <p:pic>
                    <p:nvPicPr>
                      <p:cNvPr id="29" name="Object 4" descr="negative 20 e to the negative 50 t power Ampere comma t is greater than or equal to 0.&#10;">
                        <a:extLst>
                          <a:ext uri="{FF2B5EF4-FFF2-40B4-BE49-F238E27FC236}">
                            <a16:creationId xmlns:a16="http://schemas.microsoft.com/office/drawing/2014/main" id="{100162BA-7937-0E8B-9469-52E1A3180999}"/>
                          </a:ext>
                        </a:extLst>
                      </p:cNvPr>
                      <p:cNvPicPr>
                        <a:picLocks noChangeAspect="1" noChangeArrowheads="1"/>
                      </p:cNvPicPr>
                      <p:nvPr/>
                    </p:nvPicPr>
                    <p:blipFill>
                      <a:blip r:embed="rId17"/>
                      <a:srcRect/>
                      <a:stretch>
                        <a:fillRect/>
                      </a:stretch>
                    </p:blipFill>
                    <p:spPr bwMode="auto">
                      <a:xfrm>
                        <a:off x="1734924" y="5849518"/>
                        <a:ext cx="2176463"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28452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833B-A22B-FC48-18D2-2DF99E26F3FF}"/>
              </a:ext>
            </a:extLst>
          </p:cNvPr>
          <p:cNvSpPr>
            <a:spLocks noGrp="1"/>
          </p:cNvSpPr>
          <p:nvPr>
            <p:ph type="title"/>
          </p:nvPr>
        </p:nvSpPr>
        <p:spPr>
          <a:xfrm>
            <a:off x="428336" y="164555"/>
            <a:ext cx="8247352" cy="1144347"/>
          </a:xfrm>
        </p:spPr>
        <p:txBody>
          <a:bodyPr wrap="square">
            <a:spAutoFit/>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(6 of 10)</a:t>
            </a:r>
            <a:endParaRPr lang="en-US" dirty="0"/>
          </a:p>
        </p:txBody>
      </p:sp>
      <p:sp>
        <p:nvSpPr>
          <p:cNvPr id="3" name="Content Placeholder 2">
            <a:extLst>
              <a:ext uri="{FF2B5EF4-FFF2-40B4-BE49-F238E27FC236}">
                <a16:creationId xmlns:a16="http://schemas.microsoft.com/office/drawing/2014/main" id="{2FA7ABB2-0B23-43D3-B872-06C9D7859740}"/>
              </a:ext>
            </a:extLst>
          </p:cNvPr>
          <p:cNvSpPr>
            <a:spLocks noGrp="1"/>
          </p:cNvSpPr>
          <p:nvPr>
            <p:ph sz="quarter" idx="12"/>
          </p:nvPr>
        </p:nvSpPr>
        <p:spPr>
          <a:xfrm>
            <a:off x="428336" y="1460940"/>
            <a:ext cx="8247352" cy="374906"/>
          </a:xfrm>
        </p:spPr>
        <p:txBody>
          <a:bodyPr wrap="square">
            <a:spAutoFit/>
          </a:bodyPr>
          <a:lstStyle/>
          <a:p>
            <a:pPr marL="0" indent="0">
              <a:buNone/>
            </a:pPr>
            <a:r>
              <a:rPr lang="en-US" sz="2200" dirty="0">
                <a:solidFill>
                  <a:schemeClr val="tx1"/>
                </a:solidFill>
              </a:rPr>
              <a:t>Find the voltage drop across the resistor (positive at the top),</a:t>
            </a:r>
          </a:p>
        </p:txBody>
      </p:sp>
      <p:sp>
        <p:nvSpPr>
          <p:cNvPr id="4" name="Content Placeholder 3">
            <a:extLst>
              <a:ext uri="{FF2B5EF4-FFF2-40B4-BE49-F238E27FC236}">
                <a16:creationId xmlns:a16="http://schemas.microsoft.com/office/drawing/2014/main" id="{4473479B-D96E-627B-1038-366233E2A418}"/>
              </a:ext>
            </a:extLst>
          </p:cNvPr>
          <p:cNvSpPr>
            <a:spLocks noGrp="1"/>
          </p:cNvSpPr>
          <p:nvPr>
            <p:ph sz="quarter" idx="13"/>
          </p:nvPr>
        </p:nvSpPr>
        <p:spPr>
          <a:xfrm>
            <a:off x="428336" y="1922870"/>
            <a:ext cx="5451547" cy="374906"/>
          </a:xfrm>
        </p:spPr>
        <p:txBody>
          <a:bodyPr wrap="square">
            <a:spAutoFit/>
          </a:bodyPr>
          <a:lstStyle/>
          <a:p>
            <a:pPr marL="0" indent="0">
              <a:buNone/>
            </a:pPr>
            <a:r>
              <a:rPr lang="en-US" sz="2200" dirty="0">
                <a:solidFill>
                  <a:schemeClr val="tx1"/>
                </a:solidFill>
              </a:rPr>
              <a:t>given the resistor current just calculated, for</a:t>
            </a:r>
          </a:p>
        </p:txBody>
      </p:sp>
      <p:graphicFrame>
        <p:nvGraphicFramePr>
          <p:cNvPr id="23" name="Object 22" descr="t is greater than or equal to 0 superscript plus.&#10;">
            <a:extLst>
              <a:ext uri="{FF2B5EF4-FFF2-40B4-BE49-F238E27FC236}">
                <a16:creationId xmlns:a16="http://schemas.microsoft.com/office/drawing/2014/main" id="{601EE980-9591-C52F-3106-411594BDD88E}"/>
              </a:ext>
            </a:extLst>
          </p:cNvPr>
          <p:cNvGraphicFramePr>
            <a:graphicFrameLocks noChangeAspect="1"/>
          </p:cNvGraphicFramePr>
          <p:nvPr>
            <p:extLst>
              <p:ext uri="{D42A27DB-BD31-4B8C-83A1-F6EECF244321}">
                <p14:modId xmlns:p14="http://schemas.microsoft.com/office/powerpoint/2010/main" val="2850509274"/>
              </p:ext>
            </p:extLst>
          </p:nvPr>
        </p:nvGraphicFramePr>
        <p:xfrm>
          <a:off x="5906778" y="1922150"/>
          <a:ext cx="885825" cy="379412"/>
        </p:xfrm>
        <a:graphic>
          <a:graphicData uri="http://schemas.openxmlformats.org/presentationml/2006/ole">
            <mc:AlternateContent xmlns:mc="http://schemas.openxmlformats.org/markup-compatibility/2006">
              <mc:Choice xmlns:v="urn:schemas-microsoft-com:vml" Requires="v">
                <p:oleObj name="Equation" r:id="rId2" imgW="431640" imgH="203040" progId="Equation.DSMT4">
                  <p:embed/>
                </p:oleObj>
              </mc:Choice>
              <mc:Fallback>
                <p:oleObj name="Equation" r:id="rId2" imgW="431640" imgH="203040" progId="Equation.DSMT4">
                  <p:embed/>
                  <p:pic>
                    <p:nvPicPr>
                      <p:cNvPr id="21" name="Object 20">
                        <a:extLst>
                          <a:ext uri="{FF2B5EF4-FFF2-40B4-BE49-F238E27FC236}">
                            <a16:creationId xmlns:a16="http://schemas.microsoft.com/office/drawing/2014/main" id="{9D93C30E-38FE-A045-523A-62CE2C992103}"/>
                          </a:ext>
                        </a:extLst>
                      </p:cNvPr>
                      <p:cNvPicPr>
                        <a:picLocks noChangeAspect="1" noChangeArrowheads="1"/>
                      </p:cNvPicPr>
                      <p:nvPr/>
                    </p:nvPicPr>
                    <p:blipFill>
                      <a:blip r:embed="rId3"/>
                      <a:srcRect/>
                      <a:stretch>
                        <a:fillRect/>
                      </a:stretch>
                    </p:blipFill>
                    <p:spPr bwMode="auto">
                      <a:xfrm>
                        <a:off x="5906778" y="1922150"/>
                        <a:ext cx="885825" cy="379412"/>
                      </a:xfrm>
                      <a:prstGeom prst="rect">
                        <a:avLst/>
                      </a:prstGeom>
                      <a:noFill/>
                      <a:ln>
                        <a:noFill/>
                      </a:ln>
                    </p:spPr>
                  </p:pic>
                </p:oleObj>
              </mc:Fallback>
            </mc:AlternateContent>
          </a:graphicData>
        </a:graphic>
      </p:graphicFrame>
      <p:pic>
        <p:nvPicPr>
          <p:cNvPr id="24" name="Picture 23"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E6CD8915-3830-AF17-9583-D6DF1AFC07A7}"/>
              </a:ext>
            </a:extLst>
          </p:cNvPr>
          <p:cNvPicPr>
            <a:picLocks noChangeAspect="1"/>
          </p:cNvPicPr>
          <p:nvPr/>
        </p:nvPicPr>
        <p:blipFill>
          <a:blip r:embed="rId4"/>
          <a:stretch>
            <a:fillRect/>
          </a:stretch>
        </p:blipFill>
        <p:spPr>
          <a:xfrm>
            <a:off x="527051" y="2430459"/>
            <a:ext cx="4265744" cy="1906976"/>
          </a:xfrm>
          <a:prstGeom prst="rect">
            <a:avLst/>
          </a:prstGeom>
        </p:spPr>
      </p:pic>
      <p:graphicFrame>
        <p:nvGraphicFramePr>
          <p:cNvPr id="25" name="Object 1" descr="i subscript 10 Ohms baseline (t) equals negative 20 e to the negative 50 t power Ampere comma t is greater than or equal to 0.&#10;">
            <a:extLst>
              <a:ext uri="{FF2B5EF4-FFF2-40B4-BE49-F238E27FC236}">
                <a16:creationId xmlns:a16="http://schemas.microsoft.com/office/drawing/2014/main" id="{6263DEC3-F2A7-C0B9-B1A0-965B3097C08B}"/>
              </a:ext>
            </a:extLst>
          </p:cNvPr>
          <p:cNvGraphicFramePr>
            <a:graphicFrameLocks noChangeAspect="1"/>
          </p:cNvGraphicFramePr>
          <p:nvPr>
            <p:extLst>
              <p:ext uri="{D42A27DB-BD31-4B8C-83A1-F6EECF244321}">
                <p14:modId xmlns:p14="http://schemas.microsoft.com/office/powerpoint/2010/main" val="1551261212"/>
              </p:ext>
            </p:extLst>
          </p:nvPr>
        </p:nvGraphicFramePr>
        <p:xfrm>
          <a:off x="5183187" y="3429000"/>
          <a:ext cx="3173412" cy="436563"/>
        </p:xfrm>
        <a:graphic>
          <a:graphicData uri="http://schemas.openxmlformats.org/presentationml/2006/ole">
            <mc:AlternateContent xmlns:mc="http://schemas.openxmlformats.org/markup-compatibility/2006">
              <mc:Choice xmlns:v="urn:schemas-microsoft-com:vml" Requires="v">
                <p:oleObj name="Equation" r:id="rId5" imgW="1752480" imgH="241200" progId="Equation.DSMT4">
                  <p:embed/>
                </p:oleObj>
              </mc:Choice>
              <mc:Fallback>
                <p:oleObj name="Equation" r:id="rId5" imgW="1752480" imgH="241200" progId="Equation.DSMT4">
                  <p:embed/>
                  <p:pic>
                    <p:nvPicPr>
                      <p:cNvPr id="13" name="Object 1">
                        <a:extLst>
                          <a:ext uri="{FF2B5EF4-FFF2-40B4-BE49-F238E27FC236}">
                            <a16:creationId xmlns:a16="http://schemas.microsoft.com/office/drawing/2014/main" id="{E7F2B632-C326-4C3D-9D8E-ECA3F9871891}"/>
                          </a:ext>
                        </a:extLst>
                      </p:cNvPr>
                      <p:cNvPicPr>
                        <a:picLocks noChangeAspect="1" noChangeArrowheads="1"/>
                      </p:cNvPicPr>
                      <p:nvPr/>
                    </p:nvPicPr>
                    <p:blipFill>
                      <a:blip r:embed="rId6"/>
                      <a:srcRect/>
                      <a:stretch>
                        <a:fillRect/>
                      </a:stretch>
                    </p:blipFill>
                    <p:spPr bwMode="auto">
                      <a:xfrm>
                        <a:off x="5183187" y="3429000"/>
                        <a:ext cx="3173412"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a:extLst>
              <a:ext uri="{FF2B5EF4-FFF2-40B4-BE49-F238E27FC236}">
                <a16:creationId xmlns:a16="http://schemas.microsoft.com/office/drawing/2014/main" id="{902073C1-7DE7-0F03-0BF7-87FFC966029C}"/>
              </a:ext>
            </a:extLst>
          </p:cNvPr>
          <p:cNvSpPr>
            <a:spLocks noGrp="1"/>
          </p:cNvSpPr>
          <p:nvPr>
            <p:ph sz="quarter" idx="14"/>
          </p:nvPr>
        </p:nvSpPr>
        <p:spPr>
          <a:xfrm>
            <a:off x="1350126" y="4569443"/>
            <a:ext cx="301240" cy="374906"/>
          </a:xfrm>
        </p:spPr>
        <p:txBody>
          <a:bodyPr/>
          <a:lstStyle/>
          <a:p>
            <a:pPr marL="0" indent="0">
              <a:buNone/>
            </a:pPr>
            <a:r>
              <a:rPr lang="en-US" sz="2200" dirty="0">
                <a:solidFill>
                  <a:srgbClr val="007FA3"/>
                </a:solidFill>
              </a:rPr>
              <a:t>A.</a:t>
            </a:r>
          </a:p>
        </p:txBody>
      </p:sp>
      <p:graphicFrame>
        <p:nvGraphicFramePr>
          <p:cNvPr id="29" name="Object 1" descr="negative 2 e to the negative 50 t power Volt comma t is greater than or equal to 0 superscript plus.&#10;">
            <a:extLst>
              <a:ext uri="{FF2B5EF4-FFF2-40B4-BE49-F238E27FC236}">
                <a16:creationId xmlns:a16="http://schemas.microsoft.com/office/drawing/2014/main" id="{6A895EC6-8030-DEBB-B731-05860C19691F}"/>
              </a:ext>
            </a:extLst>
          </p:cNvPr>
          <p:cNvGraphicFramePr>
            <a:graphicFrameLocks noChangeAspect="1"/>
          </p:cNvGraphicFramePr>
          <p:nvPr>
            <p:extLst>
              <p:ext uri="{D42A27DB-BD31-4B8C-83A1-F6EECF244321}">
                <p14:modId xmlns:p14="http://schemas.microsoft.com/office/powerpoint/2010/main" val="1389430021"/>
              </p:ext>
            </p:extLst>
          </p:nvPr>
        </p:nvGraphicFramePr>
        <p:xfrm>
          <a:off x="1695450" y="4568825"/>
          <a:ext cx="1930400" cy="412750"/>
        </p:xfrm>
        <a:graphic>
          <a:graphicData uri="http://schemas.openxmlformats.org/presentationml/2006/ole">
            <mc:AlternateContent xmlns:mc="http://schemas.openxmlformats.org/markup-compatibility/2006">
              <mc:Choice xmlns:v="urn:schemas-microsoft-com:vml" Requires="v">
                <p:oleObj name="Equation" r:id="rId7" imgW="1066680" imgH="228600" progId="Equation.DSMT4">
                  <p:embed/>
                </p:oleObj>
              </mc:Choice>
              <mc:Fallback>
                <p:oleObj name="Equation" r:id="rId7" imgW="1066680" imgH="228600" progId="Equation.DSMT4">
                  <p:embed/>
                  <p:pic>
                    <p:nvPicPr>
                      <p:cNvPr id="25" name="Object 1">
                        <a:extLst>
                          <a:ext uri="{FF2B5EF4-FFF2-40B4-BE49-F238E27FC236}">
                            <a16:creationId xmlns:a16="http://schemas.microsoft.com/office/drawing/2014/main" id="{6263DEC3-F2A7-C0B9-B1A0-965B3097C08B}"/>
                          </a:ext>
                        </a:extLst>
                      </p:cNvPr>
                      <p:cNvPicPr>
                        <a:picLocks noChangeAspect="1" noChangeArrowheads="1"/>
                      </p:cNvPicPr>
                      <p:nvPr/>
                    </p:nvPicPr>
                    <p:blipFill>
                      <a:blip r:embed="rId8"/>
                      <a:srcRect/>
                      <a:stretch>
                        <a:fillRect/>
                      </a:stretch>
                    </p:blipFill>
                    <p:spPr bwMode="auto">
                      <a:xfrm>
                        <a:off x="1695450" y="4568825"/>
                        <a:ext cx="193040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Content Placeholder 5">
            <a:extLst>
              <a:ext uri="{FF2B5EF4-FFF2-40B4-BE49-F238E27FC236}">
                <a16:creationId xmlns:a16="http://schemas.microsoft.com/office/drawing/2014/main" id="{3E20FCCF-DA50-4170-3902-BD0D53ED4418}"/>
              </a:ext>
            </a:extLst>
          </p:cNvPr>
          <p:cNvSpPr>
            <a:spLocks noGrp="1"/>
          </p:cNvSpPr>
          <p:nvPr>
            <p:ph sz="quarter" idx="15"/>
          </p:nvPr>
        </p:nvSpPr>
        <p:spPr>
          <a:xfrm>
            <a:off x="1336501" y="5264939"/>
            <a:ext cx="278911" cy="374906"/>
          </a:xfrm>
        </p:spPr>
        <p:txBody>
          <a:bodyPr wrap="square">
            <a:spAutoFit/>
          </a:bodyPr>
          <a:lstStyle/>
          <a:p>
            <a:pPr marL="0" indent="0">
              <a:buNone/>
            </a:pPr>
            <a:r>
              <a:rPr lang="en-US" sz="2200" dirty="0">
                <a:solidFill>
                  <a:srgbClr val="007FA3"/>
                </a:solidFill>
              </a:rPr>
              <a:t>B.</a:t>
            </a:r>
          </a:p>
        </p:txBody>
      </p:sp>
      <p:graphicFrame>
        <p:nvGraphicFramePr>
          <p:cNvPr id="30" name="Object 1" descr="200 e to the negative 50 t power Volt comma t is greater than or equal to 0 superscript plus.&#10;">
            <a:extLst>
              <a:ext uri="{FF2B5EF4-FFF2-40B4-BE49-F238E27FC236}">
                <a16:creationId xmlns:a16="http://schemas.microsoft.com/office/drawing/2014/main" id="{E3CBCEC9-007C-7EE2-A916-A78238D86CDA}"/>
              </a:ext>
            </a:extLst>
          </p:cNvPr>
          <p:cNvGraphicFramePr>
            <a:graphicFrameLocks noChangeAspect="1"/>
          </p:cNvGraphicFramePr>
          <p:nvPr>
            <p:extLst>
              <p:ext uri="{D42A27DB-BD31-4B8C-83A1-F6EECF244321}">
                <p14:modId xmlns:p14="http://schemas.microsoft.com/office/powerpoint/2010/main" val="1025287196"/>
              </p:ext>
            </p:extLst>
          </p:nvPr>
        </p:nvGraphicFramePr>
        <p:xfrm>
          <a:off x="1695450" y="5287105"/>
          <a:ext cx="2068512" cy="412750"/>
        </p:xfrm>
        <a:graphic>
          <a:graphicData uri="http://schemas.openxmlformats.org/presentationml/2006/ole">
            <mc:AlternateContent xmlns:mc="http://schemas.openxmlformats.org/markup-compatibility/2006">
              <mc:Choice xmlns:v="urn:schemas-microsoft-com:vml" Requires="v">
                <p:oleObj name="Equation" r:id="rId9" imgW="1143000" imgH="228600" progId="Equation.DSMT4">
                  <p:embed/>
                </p:oleObj>
              </mc:Choice>
              <mc:Fallback>
                <p:oleObj name="Equation" r:id="rId9" imgW="1143000" imgH="228600" progId="Equation.DSMT4">
                  <p:embed/>
                  <p:pic>
                    <p:nvPicPr>
                      <p:cNvPr id="29" name="Object 1">
                        <a:extLst>
                          <a:ext uri="{FF2B5EF4-FFF2-40B4-BE49-F238E27FC236}">
                            <a16:creationId xmlns:a16="http://schemas.microsoft.com/office/drawing/2014/main" id="{6A895EC6-8030-DEBB-B731-05860C19691F}"/>
                          </a:ext>
                        </a:extLst>
                      </p:cNvPr>
                      <p:cNvPicPr>
                        <a:picLocks noChangeAspect="1" noChangeArrowheads="1"/>
                      </p:cNvPicPr>
                      <p:nvPr/>
                    </p:nvPicPr>
                    <p:blipFill>
                      <a:blip r:embed="rId10"/>
                      <a:srcRect/>
                      <a:stretch>
                        <a:fillRect/>
                      </a:stretch>
                    </p:blipFill>
                    <p:spPr bwMode="auto">
                      <a:xfrm>
                        <a:off x="1695450" y="5287105"/>
                        <a:ext cx="2068512"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Content Placeholder 6">
            <a:extLst>
              <a:ext uri="{FF2B5EF4-FFF2-40B4-BE49-F238E27FC236}">
                <a16:creationId xmlns:a16="http://schemas.microsoft.com/office/drawing/2014/main" id="{C38AED64-6065-4EA9-5716-89233C86AF82}"/>
              </a:ext>
            </a:extLst>
          </p:cNvPr>
          <p:cNvSpPr>
            <a:spLocks noGrp="1"/>
          </p:cNvSpPr>
          <p:nvPr>
            <p:ph sz="quarter" idx="16"/>
          </p:nvPr>
        </p:nvSpPr>
        <p:spPr>
          <a:xfrm>
            <a:off x="1298065" y="5882961"/>
            <a:ext cx="317347" cy="374906"/>
          </a:xfrm>
        </p:spPr>
        <p:txBody>
          <a:bodyPr>
            <a:spAutoFit/>
          </a:bodyPr>
          <a:lstStyle/>
          <a:p>
            <a:pPr marL="0" indent="0">
              <a:buNone/>
            </a:pPr>
            <a:r>
              <a:rPr lang="en-US" sz="2200" cap="small" dirty="0">
                <a:solidFill>
                  <a:srgbClr val="007FA3"/>
                </a:solidFill>
              </a:rPr>
              <a:t>C.</a:t>
            </a:r>
          </a:p>
        </p:txBody>
      </p:sp>
      <p:graphicFrame>
        <p:nvGraphicFramePr>
          <p:cNvPr id="31" name="Object 1" descr="negative 200 e to the negative 50 t power Volt comma t is greater than or equal to 0 superscript plus.&#10;">
            <a:extLst>
              <a:ext uri="{FF2B5EF4-FFF2-40B4-BE49-F238E27FC236}">
                <a16:creationId xmlns:a16="http://schemas.microsoft.com/office/drawing/2014/main" id="{02004CA4-7280-9536-F2E0-635284BD72F4}"/>
              </a:ext>
            </a:extLst>
          </p:cNvPr>
          <p:cNvGraphicFramePr>
            <a:graphicFrameLocks noChangeAspect="1"/>
          </p:cNvGraphicFramePr>
          <p:nvPr>
            <p:extLst>
              <p:ext uri="{D42A27DB-BD31-4B8C-83A1-F6EECF244321}">
                <p14:modId xmlns:p14="http://schemas.microsoft.com/office/powerpoint/2010/main" val="1760611743"/>
              </p:ext>
            </p:extLst>
          </p:nvPr>
        </p:nvGraphicFramePr>
        <p:xfrm>
          <a:off x="1694975" y="5890745"/>
          <a:ext cx="2228850" cy="412750"/>
        </p:xfrm>
        <a:graphic>
          <a:graphicData uri="http://schemas.openxmlformats.org/presentationml/2006/ole">
            <mc:AlternateContent xmlns:mc="http://schemas.openxmlformats.org/markup-compatibility/2006">
              <mc:Choice xmlns:v="urn:schemas-microsoft-com:vml" Requires="v">
                <p:oleObj name="Equation" r:id="rId11" imgW="1231560" imgH="228600" progId="Equation.DSMT4">
                  <p:embed/>
                </p:oleObj>
              </mc:Choice>
              <mc:Fallback>
                <p:oleObj name="Equation" r:id="rId11" imgW="1231560" imgH="228600" progId="Equation.DSMT4">
                  <p:embed/>
                  <p:pic>
                    <p:nvPicPr>
                      <p:cNvPr id="30" name="Object 1">
                        <a:extLst>
                          <a:ext uri="{FF2B5EF4-FFF2-40B4-BE49-F238E27FC236}">
                            <a16:creationId xmlns:a16="http://schemas.microsoft.com/office/drawing/2014/main" id="{E3CBCEC9-007C-7EE2-A916-A78238D86CDA}"/>
                          </a:ext>
                        </a:extLst>
                      </p:cNvPr>
                      <p:cNvPicPr>
                        <a:picLocks noChangeAspect="1" noChangeArrowheads="1"/>
                      </p:cNvPicPr>
                      <p:nvPr/>
                    </p:nvPicPr>
                    <p:blipFill>
                      <a:blip r:embed="rId12"/>
                      <a:srcRect/>
                      <a:stretch>
                        <a:fillRect/>
                      </a:stretch>
                    </p:blipFill>
                    <p:spPr bwMode="auto">
                      <a:xfrm>
                        <a:off x="1694975" y="5890745"/>
                        <a:ext cx="222885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91711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25B9-9935-2B17-BE4B-37B379402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2770C-C850-B103-8F71-5F940143233C}"/>
              </a:ext>
            </a:extLst>
          </p:cNvPr>
          <p:cNvSpPr>
            <a:spLocks noGrp="1"/>
          </p:cNvSpPr>
          <p:nvPr>
            <p:ph type="title"/>
          </p:nvPr>
        </p:nvSpPr>
        <p:spPr>
          <a:xfrm>
            <a:off x="428336" y="164555"/>
            <a:ext cx="8247352" cy="1144347"/>
          </a:xfrm>
        </p:spPr>
        <p:txBody>
          <a:bodyPr wrap="square">
            <a:spAutoFit/>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(6 of 10)</a:t>
            </a:r>
            <a:endParaRPr lang="en-US" dirty="0"/>
          </a:p>
        </p:txBody>
      </p:sp>
      <p:sp>
        <p:nvSpPr>
          <p:cNvPr id="3" name="Content Placeholder 2">
            <a:extLst>
              <a:ext uri="{FF2B5EF4-FFF2-40B4-BE49-F238E27FC236}">
                <a16:creationId xmlns:a16="http://schemas.microsoft.com/office/drawing/2014/main" id="{65E828ED-C594-1E4F-CC91-055AF9B2FD93}"/>
              </a:ext>
            </a:extLst>
          </p:cNvPr>
          <p:cNvSpPr>
            <a:spLocks noGrp="1"/>
          </p:cNvSpPr>
          <p:nvPr>
            <p:ph sz="quarter" idx="12"/>
          </p:nvPr>
        </p:nvSpPr>
        <p:spPr>
          <a:xfrm>
            <a:off x="428336" y="1460940"/>
            <a:ext cx="8247352" cy="374906"/>
          </a:xfrm>
        </p:spPr>
        <p:txBody>
          <a:bodyPr wrap="square">
            <a:spAutoFit/>
          </a:bodyPr>
          <a:lstStyle/>
          <a:p>
            <a:pPr marL="0" indent="0">
              <a:buNone/>
            </a:pPr>
            <a:r>
              <a:rPr lang="en-US" sz="2200" dirty="0">
                <a:solidFill>
                  <a:schemeClr val="tx1"/>
                </a:solidFill>
              </a:rPr>
              <a:t>Find the voltage drop across the resistor (positive at the top),</a:t>
            </a:r>
          </a:p>
        </p:txBody>
      </p:sp>
      <p:sp>
        <p:nvSpPr>
          <p:cNvPr id="4" name="Content Placeholder 3">
            <a:extLst>
              <a:ext uri="{FF2B5EF4-FFF2-40B4-BE49-F238E27FC236}">
                <a16:creationId xmlns:a16="http://schemas.microsoft.com/office/drawing/2014/main" id="{E3B3461C-6449-3018-7326-E9741DA64092}"/>
              </a:ext>
            </a:extLst>
          </p:cNvPr>
          <p:cNvSpPr>
            <a:spLocks noGrp="1"/>
          </p:cNvSpPr>
          <p:nvPr>
            <p:ph sz="quarter" idx="13"/>
          </p:nvPr>
        </p:nvSpPr>
        <p:spPr>
          <a:xfrm>
            <a:off x="428336" y="1922870"/>
            <a:ext cx="5451547" cy="374906"/>
          </a:xfrm>
        </p:spPr>
        <p:txBody>
          <a:bodyPr wrap="square">
            <a:spAutoFit/>
          </a:bodyPr>
          <a:lstStyle/>
          <a:p>
            <a:pPr marL="0" indent="0">
              <a:buNone/>
            </a:pPr>
            <a:r>
              <a:rPr lang="en-US" sz="2200" dirty="0">
                <a:solidFill>
                  <a:schemeClr val="tx1"/>
                </a:solidFill>
              </a:rPr>
              <a:t>given the resistor current just calculated, for</a:t>
            </a:r>
          </a:p>
        </p:txBody>
      </p:sp>
      <p:graphicFrame>
        <p:nvGraphicFramePr>
          <p:cNvPr id="23" name="Object 22" descr="t is greater than or equal to 0 superscript plus.&#10;">
            <a:extLst>
              <a:ext uri="{FF2B5EF4-FFF2-40B4-BE49-F238E27FC236}">
                <a16:creationId xmlns:a16="http://schemas.microsoft.com/office/drawing/2014/main" id="{84792693-9537-D4BB-C4DC-B5FE629BDDA2}"/>
              </a:ext>
            </a:extLst>
          </p:cNvPr>
          <p:cNvGraphicFramePr>
            <a:graphicFrameLocks noChangeAspect="1"/>
          </p:cNvGraphicFramePr>
          <p:nvPr/>
        </p:nvGraphicFramePr>
        <p:xfrm>
          <a:off x="5906778" y="1922150"/>
          <a:ext cx="885825" cy="379412"/>
        </p:xfrm>
        <a:graphic>
          <a:graphicData uri="http://schemas.openxmlformats.org/presentationml/2006/ole">
            <mc:AlternateContent xmlns:mc="http://schemas.openxmlformats.org/markup-compatibility/2006">
              <mc:Choice xmlns:v="urn:schemas-microsoft-com:vml" Requires="v">
                <p:oleObj name="Equation" r:id="rId5" imgW="431640" imgH="203040" progId="Equation.DSMT4">
                  <p:embed/>
                </p:oleObj>
              </mc:Choice>
              <mc:Fallback>
                <p:oleObj name="Equation" r:id="rId5" imgW="431640" imgH="203040" progId="Equation.DSMT4">
                  <p:embed/>
                  <p:pic>
                    <p:nvPicPr>
                      <p:cNvPr id="23" name="Object 22" descr="t is greater than or equal to 0 superscript plus.&#10;">
                        <a:extLst>
                          <a:ext uri="{FF2B5EF4-FFF2-40B4-BE49-F238E27FC236}">
                            <a16:creationId xmlns:a16="http://schemas.microsoft.com/office/drawing/2014/main" id="{601EE980-9591-C52F-3106-411594BDD88E}"/>
                          </a:ext>
                        </a:extLst>
                      </p:cNvPr>
                      <p:cNvPicPr>
                        <a:picLocks noChangeAspect="1" noChangeArrowheads="1"/>
                      </p:cNvPicPr>
                      <p:nvPr/>
                    </p:nvPicPr>
                    <p:blipFill>
                      <a:blip r:embed="rId6"/>
                      <a:srcRect/>
                      <a:stretch>
                        <a:fillRect/>
                      </a:stretch>
                    </p:blipFill>
                    <p:spPr bwMode="auto">
                      <a:xfrm>
                        <a:off x="5906778" y="1922150"/>
                        <a:ext cx="885825" cy="379412"/>
                      </a:xfrm>
                      <a:prstGeom prst="rect">
                        <a:avLst/>
                      </a:prstGeom>
                      <a:noFill/>
                      <a:ln>
                        <a:noFill/>
                      </a:ln>
                    </p:spPr>
                  </p:pic>
                </p:oleObj>
              </mc:Fallback>
            </mc:AlternateContent>
          </a:graphicData>
        </a:graphic>
      </p:graphicFrame>
      <p:pic>
        <p:nvPicPr>
          <p:cNvPr id="24" name="Picture 23" descr="A circuit diagram shows a voltage source of 24 volt capacity as the leftmost wire of the circuit. The 24 volt source has positive polarity at the upper node and negative polarity at the bottom. From left to right and connected across the 24 volt source are a 200 milli Henry inductor and a rotary switch in the same wire, a 10 ohms resistor, and an 8 ampere ammeter. Between the 24 volt source wire and the 200 milli Henry inductor is a 2 ohms resistor in the top wire of the circuit. Current i flows through the 200 milli Henry inductor from top to bottom. A rotary switch at the upper end of the 200 milli Henry inductor connects the inductor with the 24 volt source through node b before time t equals zero. The rotary switch disconnects the 200 milli Henry inductor from the 24 volt source and connects the same inductor with the 10 ohms resistor and the 8 ampere ammeter through node a at the instant when time t is zero. ">
            <a:extLst>
              <a:ext uri="{FF2B5EF4-FFF2-40B4-BE49-F238E27FC236}">
                <a16:creationId xmlns:a16="http://schemas.microsoft.com/office/drawing/2014/main" id="{3A3BBE1F-7708-0C14-9E5B-935C79418011}"/>
              </a:ext>
            </a:extLst>
          </p:cNvPr>
          <p:cNvPicPr>
            <a:picLocks noChangeAspect="1"/>
          </p:cNvPicPr>
          <p:nvPr/>
        </p:nvPicPr>
        <p:blipFill>
          <a:blip r:embed="rId7"/>
          <a:stretch>
            <a:fillRect/>
          </a:stretch>
        </p:blipFill>
        <p:spPr>
          <a:xfrm>
            <a:off x="527051" y="2430459"/>
            <a:ext cx="4265744" cy="1906976"/>
          </a:xfrm>
          <a:prstGeom prst="rect">
            <a:avLst/>
          </a:prstGeom>
        </p:spPr>
      </p:pic>
      <p:graphicFrame>
        <p:nvGraphicFramePr>
          <p:cNvPr id="25" name="Object 1" descr="i subscript 10 Ohms baseline (t) equals negative 20 e to the negative 50 t power Ampere comma t is greater than or equal to 0.&#10;">
            <a:extLst>
              <a:ext uri="{FF2B5EF4-FFF2-40B4-BE49-F238E27FC236}">
                <a16:creationId xmlns:a16="http://schemas.microsoft.com/office/drawing/2014/main" id="{6FC923A3-04F8-D80D-EDCE-2C42F61BE9FC}"/>
              </a:ext>
            </a:extLst>
          </p:cNvPr>
          <p:cNvGraphicFramePr>
            <a:graphicFrameLocks noChangeAspect="1"/>
          </p:cNvGraphicFramePr>
          <p:nvPr/>
        </p:nvGraphicFramePr>
        <p:xfrm>
          <a:off x="5183187" y="3429000"/>
          <a:ext cx="3173412" cy="436563"/>
        </p:xfrm>
        <a:graphic>
          <a:graphicData uri="http://schemas.openxmlformats.org/presentationml/2006/ole">
            <mc:AlternateContent xmlns:mc="http://schemas.openxmlformats.org/markup-compatibility/2006">
              <mc:Choice xmlns:v="urn:schemas-microsoft-com:vml" Requires="v">
                <p:oleObj name="Equation" r:id="rId8" imgW="1752480" imgH="241200" progId="Equation.DSMT4">
                  <p:embed/>
                </p:oleObj>
              </mc:Choice>
              <mc:Fallback>
                <p:oleObj name="Equation" r:id="rId8" imgW="1752480" imgH="241200" progId="Equation.DSMT4">
                  <p:embed/>
                  <p:pic>
                    <p:nvPicPr>
                      <p:cNvPr id="25" name="Object 1" descr="i subscript 10 Ohms baseline (t) equals negative 20 e to the negative 50 t power Ampere comma t is greater than or equal to 0.&#10;">
                        <a:extLst>
                          <a:ext uri="{FF2B5EF4-FFF2-40B4-BE49-F238E27FC236}">
                            <a16:creationId xmlns:a16="http://schemas.microsoft.com/office/drawing/2014/main" id="{6263DEC3-F2A7-C0B9-B1A0-965B3097C08B}"/>
                          </a:ext>
                        </a:extLst>
                      </p:cNvPr>
                      <p:cNvPicPr>
                        <a:picLocks noChangeAspect="1" noChangeArrowheads="1"/>
                      </p:cNvPicPr>
                      <p:nvPr/>
                    </p:nvPicPr>
                    <p:blipFill>
                      <a:blip r:embed="rId9"/>
                      <a:srcRect/>
                      <a:stretch>
                        <a:fillRect/>
                      </a:stretch>
                    </p:blipFill>
                    <p:spPr bwMode="auto">
                      <a:xfrm>
                        <a:off x="5183187" y="3429000"/>
                        <a:ext cx="3173412"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1436" descr="Cross mark">
            <a:extLst>
              <a:ext uri="{FF2B5EF4-FFF2-40B4-BE49-F238E27FC236}">
                <a16:creationId xmlns:a16="http://schemas.microsoft.com/office/drawing/2014/main" id="{EF61B450-5C09-8CB6-1602-68069148D36D}"/>
              </a:ext>
            </a:extLst>
          </p:cNvPr>
          <p:cNvPicPr>
            <a:picLocks/>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816528" y="4610680"/>
            <a:ext cx="342900" cy="292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2C2A91F7-AA9C-A554-9DD4-B009610D2197}"/>
              </a:ext>
            </a:extLst>
          </p:cNvPr>
          <p:cNvSpPr>
            <a:spLocks noGrp="1"/>
          </p:cNvSpPr>
          <p:nvPr>
            <p:ph sz="quarter" idx="14"/>
          </p:nvPr>
        </p:nvSpPr>
        <p:spPr>
          <a:xfrm>
            <a:off x="1350126" y="4569443"/>
            <a:ext cx="301240" cy="374906"/>
          </a:xfrm>
        </p:spPr>
        <p:txBody>
          <a:bodyPr/>
          <a:lstStyle/>
          <a:p>
            <a:pPr marL="0" indent="0">
              <a:buNone/>
            </a:pPr>
            <a:r>
              <a:rPr lang="en-US" sz="2200" dirty="0">
                <a:solidFill>
                  <a:srgbClr val="007FA3"/>
                </a:solidFill>
              </a:rPr>
              <a:t>A.</a:t>
            </a:r>
          </a:p>
        </p:txBody>
      </p:sp>
      <p:graphicFrame>
        <p:nvGraphicFramePr>
          <p:cNvPr id="29" name="Object 1" descr="negative 2 e to the negative 50 t power Volt comma t is greater than or equal to 0 superscript plus.&#10;">
            <a:extLst>
              <a:ext uri="{FF2B5EF4-FFF2-40B4-BE49-F238E27FC236}">
                <a16:creationId xmlns:a16="http://schemas.microsoft.com/office/drawing/2014/main" id="{5752129D-D845-6498-0C1D-66BE38B81D87}"/>
              </a:ext>
            </a:extLst>
          </p:cNvPr>
          <p:cNvGraphicFramePr>
            <a:graphicFrameLocks noChangeAspect="1"/>
          </p:cNvGraphicFramePr>
          <p:nvPr/>
        </p:nvGraphicFramePr>
        <p:xfrm>
          <a:off x="1695450" y="4568825"/>
          <a:ext cx="1930400" cy="412750"/>
        </p:xfrm>
        <a:graphic>
          <a:graphicData uri="http://schemas.openxmlformats.org/presentationml/2006/ole">
            <mc:AlternateContent xmlns:mc="http://schemas.openxmlformats.org/markup-compatibility/2006">
              <mc:Choice xmlns:v="urn:schemas-microsoft-com:vml" Requires="v">
                <p:oleObj name="Equation" r:id="rId11" imgW="1066680" imgH="228600" progId="Equation.DSMT4">
                  <p:embed/>
                </p:oleObj>
              </mc:Choice>
              <mc:Fallback>
                <p:oleObj name="Equation" r:id="rId11" imgW="1066680" imgH="228600" progId="Equation.DSMT4">
                  <p:embed/>
                  <p:pic>
                    <p:nvPicPr>
                      <p:cNvPr id="29" name="Object 1" descr="negative 2 e to the negative 50 t power Volt comma t is greater than or equal to 0 superscript plus.&#10;">
                        <a:extLst>
                          <a:ext uri="{FF2B5EF4-FFF2-40B4-BE49-F238E27FC236}">
                            <a16:creationId xmlns:a16="http://schemas.microsoft.com/office/drawing/2014/main" id="{6A895EC6-8030-DEBB-B731-05860C19691F}"/>
                          </a:ext>
                        </a:extLst>
                      </p:cNvPr>
                      <p:cNvPicPr>
                        <a:picLocks noChangeAspect="1" noChangeArrowheads="1"/>
                      </p:cNvPicPr>
                      <p:nvPr/>
                    </p:nvPicPr>
                    <p:blipFill>
                      <a:blip r:embed="rId12"/>
                      <a:srcRect/>
                      <a:stretch>
                        <a:fillRect/>
                      </a:stretch>
                    </p:blipFill>
                    <p:spPr bwMode="auto">
                      <a:xfrm>
                        <a:off x="1695450" y="4568825"/>
                        <a:ext cx="193040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7" name="Picture 1434" descr="Cross mark">
            <a:extLst>
              <a:ext uri="{FF2B5EF4-FFF2-40B4-BE49-F238E27FC236}">
                <a16:creationId xmlns:a16="http://schemas.microsoft.com/office/drawing/2014/main" id="{035AA5A6-3B10-1F82-C2DC-22907853DB61}"/>
              </a:ext>
            </a:extLst>
          </p:cNvPr>
          <p:cNvPicPr>
            <a:picLocks/>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815802" y="5306176"/>
            <a:ext cx="342900" cy="292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7C97F88A-9A6E-CE37-B536-F74A4836C103}"/>
              </a:ext>
            </a:extLst>
          </p:cNvPr>
          <p:cNvSpPr>
            <a:spLocks noGrp="1"/>
          </p:cNvSpPr>
          <p:nvPr>
            <p:ph sz="quarter" idx="15"/>
          </p:nvPr>
        </p:nvSpPr>
        <p:spPr>
          <a:xfrm>
            <a:off x="1336501" y="5264939"/>
            <a:ext cx="278911" cy="374906"/>
          </a:xfrm>
        </p:spPr>
        <p:txBody>
          <a:bodyPr wrap="square">
            <a:spAutoFit/>
          </a:bodyPr>
          <a:lstStyle/>
          <a:p>
            <a:pPr marL="0" indent="0">
              <a:buNone/>
            </a:pPr>
            <a:r>
              <a:rPr lang="en-US" sz="2200" dirty="0">
                <a:solidFill>
                  <a:srgbClr val="007FA3"/>
                </a:solidFill>
              </a:rPr>
              <a:t>B.</a:t>
            </a:r>
          </a:p>
        </p:txBody>
      </p:sp>
      <p:graphicFrame>
        <p:nvGraphicFramePr>
          <p:cNvPr id="30" name="Object 1" descr="200 e to the negative 50 t power Volt comma t is greater than or equal to 0 superscript plus.&#10;">
            <a:extLst>
              <a:ext uri="{FF2B5EF4-FFF2-40B4-BE49-F238E27FC236}">
                <a16:creationId xmlns:a16="http://schemas.microsoft.com/office/drawing/2014/main" id="{42497539-747B-2E6B-9B99-C64DFDBE0BCA}"/>
              </a:ext>
            </a:extLst>
          </p:cNvPr>
          <p:cNvGraphicFramePr>
            <a:graphicFrameLocks noChangeAspect="1"/>
          </p:cNvGraphicFramePr>
          <p:nvPr/>
        </p:nvGraphicFramePr>
        <p:xfrm>
          <a:off x="1695450" y="5287105"/>
          <a:ext cx="2068512" cy="412750"/>
        </p:xfrm>
        <a:graphic>
          <a:graphicData uri="http://schemas.openxmlformats.org/presentationml/2006/ole">
            <mc:AlternateContent xmlns:mc="http://schemas.openxmlformats.org/markup-compatibility/2006">
              <mc:Choice xmlns:v="urn:schemas-microsoft-com:vml" Requires="v">
                <p:oleObj name="Equation" r:id="rId13" imgW="1143000" imgH="228600" progId="Equation.DSMT4">
                  <p:embed/>
                </p:oleObj>
              </mc:Choice>
              <mc:Fallback>
                <p:oleObj name="Equation" r:id="rId13" imgW="1143000" imgH="228600" progId="Equation.DSMT4">
                  <p:embed/>
                  <p:pic>
                    <p:nvPicPr>
                      <p:cNvPr id="30" name="Object 1" descr="200 e to the negative 50 t power Volt comma t is greater than or equal to 0 superscript plus.&#10;">
                        <a:extLst>
                          <a:ext uri="{FF2B5EF4-FFF2-40B4-BE49-F238E27FC236}">
                            <a16:creationId xmlns:a16="http://schemas.microsoft.com/office/drawing/2014/main" id="{E3CBCEC9-007C-7EE2-A916-A78238D86CDA}"/>
                          </a:ext>
                        </a:extLst>
                      </p:cNvPr>
                      <p:cNvPicPr>
                        <a:picLocks noChangeAspect="1" noChangeArrowheads="1"/>
                      </p:cNvPicPr>
                      <p:nvPr/>
                    </p:nvPicPr>
                    <p:blipFill>
                      <a:blip r:embed="rId14"/>
                      <a:srcRect/>
                      <a:stretch>
                        <a:fillRect/>
                      </a:stretch>
                    </p:blipFill>
                    <p:spPr bwMode="auto">
                      <a:xfrm>
                        <a:off x="1695450" y="5287105"/>
                        <a:ext cx="2068512"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8" name="Picture 1435" descr="Check mark">
            <a:extLst>
              <a:ext uri="{FF2B5EF4-FFF2-40B4-BE49-F238E27FC236}">
                <a16:creationId xmlns:a16="http://schemas.microsoft.com/office/drawing/2014/main" id="{6FBEBF8C-8FAC-B8AA-BDEF-D368601C9FD0}"/>
              </a:ext>
            </a:extLst>
          </p:cNvPr>
          <p:cNvPicPr>
            <a:picLocks/>
          </p:cNvPicPr>
          <p:nvPr>
            <p:custDataLst>
              <p:tags r:id="rId3"/>
            </p:custDataLst>
          </p:nvPr>
        </p:nvPicPr>
        <p:blipFill>
          <a:blip r:embed="rId15">
            <a:extLst>
              <a:ext uri="{28A0092B-C50C-407E-A947-70E740481C1C}">
                <a14:useLocalDpi xmlns:a14="http://schemas.microsoft.com/office/drawing/2010/main" val="0"/>
              </a:ext>
            </a:extLst>
          </a:blip>
          <a:srcRect/>
          <a:stretch>
            <a:fillRect/>
          </a:stretch>
        </p:blipFill>
        <p:spPr bwMode="auto">
          <a:xfrm>
            <a:off x="815802" y="592567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780ACE38-BB4E-D7BD-9C1F-0D2EB80663AF}"/>
              </a:ext>
            </a:extLst>
          </p:cNvPr>
          <p:cNvSpPr>
            <a:spLocks noGrp="1"/>
          </p:cNvSpPr>
          <p:nvPr>
            <p:ph sz="quarter" idx="16"/>
          </p:nvPr>
        </p:nvSpPr>
        <p:spPr>
          <a:xfrm>
            <a:off x="1298065" y="5882961"/>
            <a:ext cx="317347" cy="374906"/>
          </a:xfrm>
        </p:spPr>
        <p:txBody>
          <a:bodyPr>
            <a:spAutoFit/>
          </a:bodyPr>
          <a:lstStyle/>
          <a:p>
            <a:pPr marL="0" indent="0">
              <a:buNone/>
            </a:pPr>
            <a:r>
              <a:rPr lang="en-US" sz="2200" cap="small" dirty="0">
                <a:solidFill>
                  <a:srgbClr val="007FA3"/>
                </a:solidFill>
              </a:rPr>
              <a:t>C.</a:t>
            </a:r>
          </a:p>
        </p:txBody>
      </p:sp>
      <p:graphicFrame>
        <p:nvGraphicFramePr>
          <p:cNvPr id="31" name="Object 1" descr="negative 200 e to the negative 50 t power Volt comma t is greater than or equal to 0 superscript plus.&#10;">
            <a:extLst>
              <a:ext uri="{FF2B5EF4-FFF2-40B4-BE49-F238E27FC236}">
                <a16:creationId xmlns:a16="http://schemas.microsoft.com/office/drawing/2014/main" id="{989FD2F3-7A18-2F34-A369-9C774B0BA48A}"/>
              </a:ext>
            </a:extLst>
          </p:cNvPr>
          <p:cNvGraphicFramePr>
            <a:graphicFrameLocks noChangeAspect="1"/>
          </p:cNvGraphicFramePr>
          <p:nvPr/>
        </p:nvGraphicFramePr>
        <p:xfrm>
          <a:off x="1694975" y="5890745"/>
          <a:ext cx="2228850" cy="412750"/>
        </p:xfrm>
        <a:graphic>
          <a:graphicData uri="http://schemas.openxmlformats.org/presentationml/2006/ole">
            <mc:AlternateContent xmlns:mc="http://schemas.openxmlformats.org/markup-compatibility/2006">
              <mc:Choice xmlns:v="urn:schemas-microsoft-com:vml" Requires="v">
                <p:oleObj name="Equation" r:id="rId16" imgW="1231560" imgH="228600" progId="Equation.DSMT4">
                  <p:embed/>
                </p:oleObj>
              </mc:Choice>
              <mc:Fallback>
                <p:oleObj name="Equation" r:id="rId16" imgW="1231560" imgH="228600" progId="Equation.DSMT4">
                  <p:embed/>
                  <p:pic>
                    <p:nvPicPr>
                      <p:cNvPr id="31" name="Object 1" descr="negative 200 e to the negative 50 t power Volt comma t is greater than or equal to 0 superscript plus.&#10;">
                        <a:extLst>
                          <a:ext uri="{FF2B5EF4-FFF2-40B4-BE49-F238E27FC236}">
                            <a16:creationId xmlns:a16="http://schemas.microsoft.com/office/drawing/2014/main" id="{02004CA4-7280-9536-F2E0-635284BD72F4}"/>
                          </a:ext>
                        </a:extLst>
                      </p:cNvPr>
                      <p:cNvPicPr>
                        <a:picLocks noChangeAspect="1" noChangeArrowheads="1"/>
                      </p:cNvPicPr>
                      <p:nvPr/>
                    </p:nvPicPr>
                    <p:blipFill>
                      <a:blip r:embed="rId17"/>
                      <a:srcRect/>
                      <a:stretch>
                        <a:fillRect/>
                      </a:stretch>
                    </p:blipFill>
                    <p:spPr bwMode="auto">
                      <a:xfrm>
                        <a:off x="1694975" y="5890745"/>
                        <a:ext cx="222885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25196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C247A-0957-E02E-8CBC-9B3B03F2AD19}"/>
              </a:ext>
            </a:extLst>
          </p:cNvPr>
          <p:cNvSpPr>
            <a:spLocks noGrp="1"/>
          </p:cNvSpPr>
          <p:nvPr>
            <p:ph type="title"/>
          </p:nvPr>
        </p:nvSpPr>
        <p:spPr>
          <a:xfrm>
            <a:off x="428065" y="161845"/>
            <a:ext cx="8247623"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(7 of 10)</a:t>
            </a:r>
            <a:endParaRPr lang="en-US" dirty="0"/>
          </a:p>
        </p:txBody>
      </p:sp>
      <p:sp>
        <p:nvSpPr>
          <p:cNvPr id="3" name="Content Placeholder 2">
            <a:extLst>
              <a:ext uri="{FF2B5EF4-FFF2-40B4-BE49-F238E27FC236}">
                <a16:creationId xmlns:a16="http://schemas.microsoft.com/office/drawing/2014/main" id="{6362E54C-146F-10AB-C48D-847530CAB13C}"/>
              </a:ext>
            </a:extLst>
          </p:cNvPr>
          <p:cNvSpPr>
            <a:spLocks noGrp="1"/>
          </p:cNvSpPr>
          <p:nvPr>
            <p:ph sz="quarter" idx="12"/>
          </p:nvPr>
        </p:nvSpPr>
        <p:spPr>
          <a:xfrm>
            <a:off x="428065" y="1470907"/>
            <a:ext cx="1452283" cy="374906"/>
          </a:xfrm>
        </p:spPr>
        <p:txBody>
          <a:bodyPr wrap="square">
            <a:spAutoFit/>
          </a:bodyPr>
          <a:lstStyle/>
          <a:p>
            <a:pPr marL="0" indent="0">
              <a:buNone/>
            </a:pPr>
            <a:r>
              <a:rPr lang="en-US" altLang="en-US" sz="2200" dirty="0"/>
              <a:t>Find </a:t>
            </a:r>
            <a:r>
              <a:rPr lang="en-US" altLang="en-US" sz="2200" i="1" dirty="0"/>
              <a:t>v(t) </a:t>
            </a:r>
            <a:r>
              <a:rPr lang="en-US" altLang="en-US" sz="2200" dirty="0"/>
              <a:t>for</a:t>
            </a:r>
            <a:endParaRPr lang="en-US" sz="2200" dirty="0"/>
          </a:p>
        </p:txBody>
      </p:sp>
      <p:graphicFrame>
        <p:nvGraphicFramePr>
          <p:cNvPr id="21" name="Object 20" descr="t is greater than or equal to 0.&#10;">
            <a:extLst>
              <a:ext uri="{FF2B5EF4-FFF2-40B4-BE49-F238E27FC236}">
                <a16:creationId xmlns:a16="http://schemas.microsoft.com/office/drawing/2014/main" id="{B95FD002-B8B5-9B7E-A5F6-DBFD445E6746}"/>
              </a:ext>
            </a:extLst>
          </p:cNvPr>
          <p:cNvGraphicFramePr>
            <a:graphicFrameLocks noChangeAspect="1"/>
          </p:cNvGraphicFramePr>
          <p:nvPr>
            <p:extLst>
              <p:ext uri="{D42A27DB-BD31-4B8C-83A1-F6EECF244321}">
                <p14:modId xmlns:p14="http://schemas.microsoft.com/office/powerpoint/2010/main" val="430449572"/>
              </p:ext>
            </p:extLst>
          </p:nvPr>
        </p:nvGraphicFramePr>
        <p:xfrm>
          <a:off x="1916208" y="1513881"/>
          <a:ext cx="756227" cy="331932"/>
        </p:xfrm>
        <a:graphic>
          <a:graphicData uri="http://schemas.openxmlformats.org/presentationml/2006/ole">
            <mc:AlternateContent xmlns:mc="http://schemas.openxmlformats.org/markup-compatibility/2006">
              <mc:Choice xmlns:v="urn:schemas-microsoft-com:vml" Requires="v">
                <p:oleObj name="Equation" r:id="rId2" imgW="368280" imgH="177480" progId="Equation.DSMT4">
                  <p:embed/>
                </p:oleObj>
              </mc:Choice>
              <mc:Fallback>
                <p:oleObj name="Equation" r:id="rId2" imgW="368280" imgH="177480" progId="Equation.DSMT4">
                  <p:embed/>
                  <p:pic>
                    <p:nvPicPr>
                      <p:cNvPr id="21" name="Object 20">
                        <a:extLst>
                          <a:ext uri="{FF2B5EF4-FFF2-40B4-BE49-F238E27FC236}">
                            <a16:creationId xmlns:a16="http://schemas.microsoft.com/office/drawing/2014/main" id="{9D93C30E-38FE-A045-523A-62CE2C992103}"/>
                          </a:ext>
                        </a:extLst>
                      </p:cNvPr>
                      <p:cNvPicPr>
                        <a:picLocks noChangeAspect="1" noChangeArrowheads="1"/>
                      </p:cNvPicPr>
                      <p:nvPr/>
                    </p:nvPicPr>
                    <p:blipFill>
                      <a:blip r:embed="rId3"/>
                      <a:srcRect/>
                      <a:stretch>
                        <a:fillRect/>
                      </a:stretch>
                    </p:blipFill>
                    <p:spPr bwMode="auto">
                      <a:xfrm>
                        <a:off x="1916208" y="1513881"/>
                        <a:ext cx="756227" cy="331932"/>
                      </a:xfrm>
                      <a:prstGeom prst="rect">
                        <a:avLst/>
                      </a:prstGeom>
                      <a:noFill/>
                      <a:ln>
                        <a:noFill/>
                      </a:ln>
                    </p:spPr>
                  </p:pic>
                </p:oleObj>
              </mc:Fallback>
            </mc:AlternateContent>
          </a:graphicData>
        </a:graphic>
      </p:graphicFrame>
      <p:pic>
        <p:nvPicPr>
          <p:cNvPr id="22" name="Picture 21" descr="A circuit diagram shows a voltage source with 90 volt capacity as the leftmost wire in the circuit. The 90 volt source has positive polarity at the top node and negative at the bottom. Connected in parallel to the 90 volt source from left to right are a 0.5 micro farad capacitor with a two way switch at the capacitors upper end both in the same wire, a 60 ohms resistor, and a voltage source of 40 volt capacity. The 40 volt source has negative polarity at the top node and negative at the bottom. A 400 kilo ohm resistor is located in the top wire of the circuit and between the wires for the 90 volt source and the 0.5 micro farad capacitor. A 20 ohm resistor is located in the top wire of the circuit and between the wires for the 40 volt source and the 60 ohm resistor. Voltage v exists across the 0.5 micro farad capacitor with positive polarity at its top end and negative polarity at the bottom. The switch position b connects the 0.5 micro farad capacitor with the 90 volt source when time t is zero. The switch position a connects the 0.5 micro farad capacitor with the 40 volt source before time t is zero.">
            <a:extLst>
              <a:ext uri="{FF2B5EF4-FFF2-40B4-BE49-F238E27FC236}">
                <a16:creationId xmlns:a16="http://schemas.microsoft.com/office/drawing/2014/main" id="{25662EC7-03A3-07A6-15FD-7CFC94F80EAA}"/>
              </a:ext>
            </a:extLst>
          </p:cNvPr>
          <p:cNvPicPr>
            <a:picLocks noChangeAspect="1"/>
          </p:cNvPicPr>
          <p:nvPr/>
        </p:nvPicPr>
        <p:blipFill>
          <a:blip r:embed="rId4"/>
          <a:stretch>
            <a:fillRect/>
          </a:stretch>
        </p:blipFill>
        <p:spPr>
          <a:xfrm>
            <a:off x="3551659" y="1609610"/>
            <a:ext cx="4866742" cy="1760732"/>
          </a:xfrm>
          <a:prstGeom prst="rect">
            <a:avLst/>
          </a:prstGeom>
        </p:spPr>
      </p:pic>
      <p:sp>
        <p:nvSpPr>
          <p:cNvPr id="4" name="Content Placeholder 3">
            <a:extLst>
              <a:ext uri="{FF2B5EF4-FFF2-40B4-BE49-F238E27FC236}">
                <a16:creationId xmlns:a16="http://schemas.microsoft.com/office/drawing/2014/main" id="{59991B1E-001E-878C-56A8-D62E9D02B0E2}"/>
              </a:ext>
            </a:extLst>
          </p:cNvPr>
          <p:cNvSpPr>
            <a:spLocks noGrp="1"/>
          </p:cNvSpPr>
          <p:nvPr>
            <p:ph sz="quarter" idx="13"/>
          </p:nvPr>
        </p:nvSpPr>
        <p:spPr>
          <a:xfrm>
            <a:off x="428065" y="3511280"/>
            <a:ext cx="8247623" cy="1128958"/>
          </a:xfrm>
        </p:spPr>
        <p:txBody>
          <a:bodyPr wrap="square">
            <a:spAutoFit/>
          </a:bodyPr>
          <a:lstStyle/>
          <a:p>
            <a:pPr marL="0" indent="0">
              <a:spcBef>
                <a:spcPts val="600"/>
              </a:spcBef>
              <a:buNone/>
            </a:pPr>
            <a:r>
              <a:rPr lang="en-US" altLang="en-US" sz="2200" dirty="0"/>
              <a:t>Step 1 – The variable </a:t>
            </a:r>
            <a:r>
              <a:rPr lang="en-US" altLang="en-US" sz="2200" i="1" dirty="0"/>
              <a:t>x</a:t>
            </a:r>
            <a:r>
              <a:rPr lang="en-US" altLang="en-US" sz="2200" dirty="0"/>
              <a:t>(</a:t>
            </a:r>
            <a:r>
              <a:rPr lang="en-US" altLang="en-US" sz="2200" i="1" dirty="0"/>
              <a:t>t</a:t>
            </a:r>
            <a:r>
              <a:rPr lang="en-US" altLang="en-US" sz="2200" dirty="0"/>
              <a:t>) is the capacitor voltage drop, which is already defined in the circuit.</a:t>
            </a:r>
          </a:p>
          <a:p>
            <a:pPr marL="0" indent="0">
              <a:spcBef>
                <a:spcPts val="600"/>
              </a:spcBef>
              <a:buNone/>
            </a:pPr>
            <a:r>
              <a:rPr lang="en-US" sz="2200" dirty="0"/>
              <a:t>Step 2 – Calculate the initial value </a:t>
            </a:r>
            <a:r>
              <a:rPr lang="en-US" altLang="en-US" sz="2200" dirty="0"/>
              <a:t>of the voltage drop across the</a:t>
            </a:r>
            <a:endParaRPr lang="en-US" sz="2200" dirty="0"/>
          </a:p>
        </p:txBody>
      </p:sp>
      <p:sp>
        <p:nvSpPr>
          <p:cNvPr id="5" name="Content Placeholder 4">
            <a:extLst>
              <a:ext uri="{FF2B5EF4-FFF2-40B4-BE49-F238E27FC236}">
                <a16:creationId xmlns:a16="http://schemas.microsoft.com/office/drawing/2014/main" id="{8A0C9895-2F4B-F7D7-3FBB-881A39592C5D}"/>
              </a:ext>
            </a:extLst>
          </p:cNvPr>
          <p:cNvSpPr>
            <a:spLocks noGrp="1"/>
          </p:cNvSpPr>
          <p:nvPr>
            <p:ph sz="quarter" idx="14"/>
          </p:nvPr>
        </p:nvSpPr>
        <p:spPr>
          <a:xfrm>
            <a:off x="426945" y="4741667"/>
            <a:ext cx="1239371" cy="374906"/>
          </a:xfrm>
        </p:spPr>
        <p:txBody>
          <a:bodyPr wrap="square">
            <a:spAutoFit/>
          </a:bodyPr>
          <a:lstStyle/>
          <a:p>
            <a:pPr marL="0" indent="0">
              <a:buNone/>
            </a:pPr>
            <a:r>
              <a:rPr lang="en-US" altLang="en-US" sz="2200" dirty="0"/>
              <a:t>capacitor,</a:t>
            </a:r>
            <a:endParaRPr lang="en-US" sz="2200" dirty="0"/>
          </a:p>
        </p:txBody>
      </p:sp>
      <p:graphicFrame>
        <p:nvGraphicFramePr>
          <p:cNvPr id="23" name="Object 22" descr="V subscript 0.">
            <a:extLst>
              <a:ext uri="{FF2B5EF4-FFF2-40B4-BE49-F238E27FC236}">
                <a16:creationId xmlns:a16="http://schemas.microsoft.com/office/drawing/2014/main" id="{E7DA109E-B956-186E-0B9A-B87FE5B2D569}"/>
              </a:ext>
            </a:extLst>
          </p:cNvPr>
          <p:cNvGraphicFramePr>
            <a:graphicFrameLocks noChangeAspect="1"/>
          </p:cNvGraphicFramePr>
          <p:nvPr>
            <p:extLst>
              <p:ext uri="{D42A27DB-BD31-4B8C-83A1-F6EECF244321}">
                <p14:modId xmlns:p14="http://schemas.microsoft.com/office/powerpoint/2010/main" val="3239060846"/>
              </p:ext>
            </p:extLst>
          </p:nvPr>
        </p:nvGraphicFramePr>
        <p:xfrm>
          <a:off x="1694752" y="4747520"/>
          <a:ext cx="442912" cy="425450"/>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21" name="Object 20">
                        <a:extLst>
                          <a:ext uri="{FF2B5EF4-FFF2-40B4-BE49-F238E27FC236}">
                            <a16:creationId xmlns:a16="http://schemas.microsoft.com/office/drawing/2014/main" id="{B95FD002-B8B5-9B7E-A5F6-DBFD445E6746}"/>
                          </a:ext>
                        </a:extLst>
                      </p:cNvPr>
                      <p:cNvPicPr>
                        <a:picLocks noChangeAspect="1" noChangeArrowheads="1"/>
                      </p:cNvPicPr>
                      <p:nvPr/>
                    </p:nvPicPr>
                    <p:blipFill>
                      <a:blip r:embed="rId6"/>
                      <a:srcRect/>
                      <a:stretch>
                        <a:fillRect/>
                      </a:stretch>
                    </p:blipFill>
                    <p:spPr bwMode="auto">
                      <a:xfrm>
                        <a:off x="1694752" y="4747520"/>
                        <a:ext cx="442912" cy="425450"/>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0EBAA66C-9E2F-3CA3-D938-33618FFA3374}"/>
              </a:ext>
            </a:extLst>
          </p:cNvPr>
          <p:cNvSpPr>
            <a:spLocks noGrp="1"/>
          </p:cNvSpPr>
          <p:nvPr>
            <p:ph sz="quarter" idx="15"/>
          </p:nvPr>
        </p:nvSpPr>
        <p:spPr>
          <a:xfrm>
            <a:off x="428065" y="5182427"/>
            <a:ext cx="442913" cy="374906"/>
          </a:xfrm>
        </p:spPr>
        <p:txBody>
          <a:bodyPr/>
          <a:lstStyle/>
          <a:p>
            <a:pPr marL="0" indent="0">
              <a:buNone/>
            </a:pPr>
            <a:r>
              <a:rPr lang="en-US" sz="2200" dirty="0"/>
              <a:t>For</a:t>
            </a:r>
          </a:p>
        </p:txBody>
      </p:sp>
      <p:graphicFrame>
        <p:nvGraphicFramePr>
          <p:cNvPr id="24" name="Object 23" descr="t less than 0">
            <a:extLst>
              <a:ext uri="{FF2B5EF4-FFF2-40B4-BE49-F238E27FC236}">
                <a16:creationId xmlns:a16="http://schemas.microsoft.com/office/drawing/2014/main" id="{0B7DFC4E-EDA9-33C7-6F6C-DDC63BD08DA3}"/>
              </a:ext>
            </a:extLst>
          </p:cNvPr>
          <p:cNvGraphicFramePr>
            <a:graphicFrameLocks noChangeAspect="1"/>
          </p:cNvGraphicFramePr>
          <p:nvPr>
            <p:extLst>
              <p:ext uri="{D42A27DB-BD31-4B8C-83A1-F6EECF244321}">
                <p14:modId xmlns:p14="http://schemas.microsoft.com/office/powerpoint/2010/main" val="2393996677"/>
              </p:ext>
            </p:extLst>
          </p:nvPr>
        </p:nvGraphicFramePr>
        <p:xfrm>
          <a:off x="935744" y="5209078"/>
          <a:ext cx="677863" cy="330200"/>
        </p:xfrm>
        <a:graphic>
          <a:graphicData uri="http://schemas.openxmlformats.org/presentationml/2006/ole">
            <mc:AlternateContent xmlns:mc="http://schemas.openxmlformats.org/markup-compatibility/2006">
              <mc:Choice xmlns:v="urn:schemas-microsoft-com:vml" Requires="v">
                <p:oleObj name="Equation" r:id="rId7" imgW="330120" imgH="177480" progId="Equation.DSMT4">
                  <p:embed/>
                </p:oleObj>
              </mc:Choice>
              <mc:Fallback>
                <p:oleObj name="Equation" r:id="rId7" imgW="330120" imgH="177480" progId="Equation.DSMT4">
                  <p:embed/>
                  <p:pic>
                    <p:nvPicPr>
                      <p:cNvPr id="23" name="Object 22">
                        <a:extLst>
                          <a:ext uri="{FF2B5EF4-FFF2-40B4-BE49-F238E27FC236}">
                            <a16:creationId xmlns:a16="http://schemas.microsoft.com/office/drawing/2014/main" id="{E7DA109E-B956-186E-0B9A-B87FE5B2D569}"/>
                          </a:ext>
                        </a:extLst>
                      </p:cNvPr>
                      <p:cNvPicPr>
                        <a:picLocks noChangeAspect="1" noChangeArrowheads="1"/>
                      </p:cNvPicPr>
                      <p:nvPr/>
                    </p:nvPicPr>
                    <p:blipFill>
                      <a:blip r:embed="rId8"/>
                      <a:srcRect/>
                      <a:stretch>
                        <a:fillRect/>
                      </a:stretch>
                    </p:blipFill>
                    <p:spPr bwMode="auto">
                      <a:xfrm>
                        <a:off x="935744" y="5209078"/>
                        <a:ext cx="677863" cy="330200"/>
                      </a:xfrm>
                      <a:prstGeom prst="rect">
                        <a:avLst/>
                      </a:prstGeom>
                      <a:noFill/>
                      <a:ln>
                        <a:noFill/>
                      </a:ln>
                    </p:spPr>
                  </p:pic>
                </p:oleObj>
              </mc:Fallback>
            </mc:AlternateContent>
          </a:graphicData>
        </a:graphic>
      </p:graphicFrame>
      <p:pic>
        <p:nvPicPr>
          <p:cNvPr id="25" name="Picture 24" descr="A circuit diagram shows voltage V subscript 0 across a 0.5 micro farad capacitor as the leftmost wire in the circuit. Voltage V subscript 0 has positive polarity at the top and negative at the bottom. Connected in parallel to the 0.5 micro farad capacitor from left to right are a 60 ohms resistor and a source of 40 volt capacity. The 40 volt source has positive polarity at the bottom and negative at the top. A 20 ohms resistor is located in the top wire and in between the wires for the 60 ohm resistor and the 40 volt source. Symbol a represents the top wire between the wired for the 0.5 micro farad capacitor and the 60 ohm resistor.">
            <a:extLst>
              <a:ext uri="{FF2B5EF4-FFF2-40B4-BE49-F238E27FC236}">
                <a16:creationId xmlns:a16="http://schemas.microsoft.com/office/drawing/2014/main" id="{73D5C220-4927-4F5C-AD30-120E54958E0B}"/>
              </a:ext>
            </a:extLst>
          </p:cNvPr>
          <p:cNvPicPr>
            <a:picLocks noChangeAspect="1"/>
          </p:cNvPicPr>
          <p:nvPr/>
        </p:nvPicPr>
        <p:blipFill>
          <a:blip r:embed="rId9"/>
          <a:stretch>
            <a:fillRect/>
          </a:stretch>
        </p:blipFill>
        <p:spPr>
          <a:xfrm>
            <a:off x="3137038" y="4874969"/>
            <a:ext cx="3204916" cy="1480471"/>
          </a:xfrm>
          <a:prstGeom prst="rect">
            <a:avLst/>
          </a:prstGeom>
        </p:spPr>
      </p:pic>
    </p:spTree>
    <p:extLst>
      <p:ext uri="{BB962C8B-B14F-4D97-AF65-F5344CB8AC3E}">
        <p14:creationId xmlns:p14="http://schemas.microsoft.com/office/powerpoint/2010/main" val="20271656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A3C1-10FB-D140-6EA2-9F6E9032529C}"/>
              </a:ext>
            </a:extLst>
          </p:cNvPr>
          <p:cNvSpPr>
            <a:spLocks noGrp="1"/>
          </p:cNvSpPr>
          <p:nvPr>
            <p:ph type="title"/>
          </p:nvPr>
        </p:nvSpPr>
        <p:spPr>
          <a:xfrm>
            <a:off x="428336" y="164556"/>
            <a:ext cx="8247352"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(8 of 10)</a:t>
            </a:r>
            <a:endParaRPr lang="en-US" dirty="0"/>
          </a:p>
        </p:txBody>
      </p:sp>
      <p:sp>
        <p:nvSpPr>
          <p:cNvPr id="3" name="Content Placeholder 2">
            <a:extLst>
              <a:ext uri="{FF2B5EF4-FFF2-40B4-BE49-F238E27FC236}">
                <a16:creationId xmlns:a16="http://schemas.microsoft.com/office/drawing/2014/main" id="{2EF532C4-586B-435A-7758-0CFDB461AE74}"/>
              </a:ext>
            </a:extLst>
          </p:cNvPr>
          <p:cNvSpPr>
            <a:spLocks noGrp="1"/>
          </p:cNvSpPr>
          <p:nvPr>
            <p:ph sz="quarter" idx="12"/>
          </p:nvPr>
        </p:nvSpPr>
        <p:spPr>
          <a:xfrm>
            <a:off x="428336" y="1471075"/>
            <a:ext cx="8247352" cy="713460"/>
          </a:xfrm>
        </p:spPr>
        <p:txBody>
          <a:bodyPr wrap="square">
            <a:spAutoFit/>
          </a:bodyPr>
          <a:lstStyle/>
          <a:p>
            <a:pPr marL="0" indent="0">
              <a:spcBef>
                <a:spcPct val="0"/>
              </a:spcBef>
              <a:buClrTx/>
              <a:buNone/>
            </a:pPr>
            <a:r>
              <a:rPr lang="en-US" sz="2200" dirty="0">
                <a:solidFill>
                  <a:schemeClr val="tx1"/>
                </a:solidFill>
              </a:rPr>
              <a:t>What is the best circuit analysis tool to use when finding the initial voltage drop across the capacitor?</a:t>
            </a:r>
            <a:endParaRPr lang="en-US" altLang="en-US" sz="2200" dirty="0">
              <a:solidFill>
                <a:schemeClr val="tx1"/>
              </a:solidFill>
            </a:endParaRPr>
          </a:p>
        </p:txBody>
      </p:sp>
      <p:sp>
        <p:nvSpPr>
          <p:cNvPr id="4" name="Content Placeholder 3">
            <a:extLst>
              <a:ext uri="{FF2B5EF4-FFF2-40B4-BE49-F238E27FC236}">
                <a16:creationId xmlns:a16="http://schemas.microsoft.com/office/drawing/2014/main" id="{C41B2786-C1C5-32B3-6AE1-1421246AB4FB}"/>
              </a:ext>
            </a:extLst>
          </p:cNvPr>
          <p:cNvSpPr>
            <a:spLocks noGrp="1"/>
          </p:cNvSpPr>
          <p:nvPr>
            <p:ph sz="quarter" idx="13"/>
          </p:nvPr>
        </p:nvSpPr>
        <p:spPr>
          <a:xfrm>
            <a:off x="428336" y="2294032"/>
            <a:ext cx="508475" cy="374906"/>
          </a:xfrm>
        </p:spPr>
        <p:txBody>
          <a:bodyPr wrap="square">
            <a:spAutoFit/>
          </a:bodyPr>
          <a:lstStyle/>
          <a:p>
            <a:pPr marL="0" indent="0">
              <a:buNone/>
            </a:pPr>
            <a:r>
              <a:rPr lang="en-US" altLang="en-US" sz="2200" dirty="0"/>
              <a:t>For</a:t>
            </a:r>
            <a:endParaRPr lang="en-US" sz="2200" dirty="0"/>
          </a:p>
        </p:txBody>
      </p:sp>
      <p:graphicFrame>
        <p:nvGraphicFramePr>
          <p:cNvPr id="21" name="Object 20" descr="t less than 0">
            <a:extLst>
              <a:ext uri="{FF2B5EF4-FFF2-40B4-BE49-F238E27FC236}">
                <a16:creationId xmlns:a16="http://schemas.microsoft.com/office/drawing/2014/main" id="{F5084745-69B0-F988-D9EB-1462FA707F36}"/>
              </a:ext>
            </a:extLst>
          </p:cNvPr>
          <p:cNvGraphicFramePr>
            <a:graphicFrameLocks noChangeAspect="1"/>
          </p:cNvGraphicFramePr>
          <p:nvPr>
            <p:extLst>
              <p:ext uri="{D42A27DB-BD31-4B8C-83A1-F6EECF244321}">
                <p14:modId xmlns:p14="http://schemas.microsoft.com/office/powerpoint/2010/main" val="2611161373"/>
              </p:ext>
            </p:extLst>
          </p:nvPr>
        </p:nvGraphicFramePr>
        <p:xfrm>
          <a:off x="932911" y="2336197"/>
          <a:ext cx="677863" cy="330200"/>
        </p:xfrm>
        <a:graphic>
          <a:graphicData uri="http://schemas.openxmlformats.org/presentationml/2006/ole">
            <mc:AlternateContent xmlns:mc="http://schemas.openxmlformats.org/markup-compatibility/2006">
              <mc:Choice xmlns:v="urn:schemas-microsoft-com:vml" Requires="v">
                <p:oleObj name="Equation" r:id="rId2" imgW="330120" imgH="177480" progId="Equation.DSMT4">
                  <p:embed/>
                </p:oleObj>
              </mc:Choice>
              <mc:Fallback>
                <p:oleObj name="Equation" r:id="rId2" imgW="330120" imgH="177480" progId="Equation.DSMT4">
                  <p:embed/>
                  <p:pic>
                    <p:nvPicPr>
                      <p:cNvPr id="24" name="Object 23">
                        <a:extLst>
                          <a:ext uri="{FF2B5EF4-FFF2-40B4-BE49-F238E27FC236}">
                            <a16:creationId xmlns:a16="http://schemas.microsoft.com/office/drawing/2014/main" id="{0B7DFC4E-EDA9-33C7-6F6C-DDC63BD08DA3}"/>
                          </a:ext>
                        </a:extLst>
                      </p:cNvPr>
                      <p:cNvPicPr>
                        <a:picLocks noChangeAspect="1" noChangeArrowheads="1"/>
                      </p:cNvPicPr>
                      <p:nvPr/>
                    </p:nvPicPr>
                    <p:blipFill>
                      <a:blip r:embed="rId3"/>
                      <a:srcRect/>
                      <a:stretch>
                        <a:fillRect/>
                      </a:stretch>
                    </p:blipFill>
                    <p:spPr bwMode="auto">
                      <a:xfrm>
                        <a:off x="932911" y="2336197"/>
                        <a:ext cx="677863" cy="330200"/>
                      </a:xfrm>
                      <a:prstGeom prst="rect">
                        <a:avLst/>
                      </a:prstGeom>
                      <a:noFill/>
                      <a:ln>
                        <a:noFill/>
                      </a:ln>
                    </p:spPr>
                  </p:pic>
                </p:oleObj>
              </mc:Fallback>
            </mc:AlternateContent>
          </a:graphicData>
        </a:graphic>
      </p:graphicFrame>
      <p:pic>
        <p:nvPicPr>
          <p:cNvPr id="22" name="Picture 21" descr="A circuit diagram shows voltage V subscript 0 across a 0.5 micro farad capacitor as the leftmost wire in the circuit. Voltage V subscript 0 has positive polarity at the top and negative at the bottom. Connected in parallel to the 0.5 micro farad capacitor from left to right are a 60 ohms resistor and a source of 40 volt capacity. The 40 volt source has positive polarity at the bottom and negative at the top. A 20 ohms resistor is located in the top wire and in between the wires for the 60 ohm resistor and the 40 volt source. Symbol a represents the top wire between the wired for the 0.5 micro farad capacitor and the 60 ohm resistor.">
            <a:extLst>
              <a:ext uri="{FF2B5EF4-FFF2-40B4-BE49-F238E27FC236}">
                <a16:creationId xmlns:a16="http://schemas.microsoft.com/office/drawing/2014/main" id="{C2E5EFBF-4F23-4A3B-8722-944112C0D637}"/>
              </a:ext>
            </a:extLst>
          </p:cNvPr>
          <p:cNvPicPr>
            <a:picLocks noChangeAspect="1"/>
          </p:cNvPicPr>
          <p:nvPr/>
        </p:nvPicPr>
        <p:blipFill>
          <a:blip r:embed="rId4"/>
          <a:stretch>
            <a:fillRect/>
          </a:stretch>
        </p:blipFill>
        <p:spPr>
          <a:xfrm>
            <a:off x="2365239" y="2560120"/>
            <a:ext cx="4265744" cy="1970508"/>
          </a:xfrm>
          <a:prstGeom prst="rect">
            <a:avLst/>
          </a:prstGeom>
        </p:spPr>
      </p:pic>
      <p:sp>
        <p:nvSpPr>
          <p:cNvPr id="5" name="Content Placeholder 4">
            <a:extLst>
              <a:ext uri="{FF2B5EF4-FFF2-40B4-BE49-F238E27FC236}">
                <a16:creationId xmlns:a16="http://schemas.microsoft.com/office/drawing/2014/main" id="{CAB28974-9770-99EA-BE0E-0923B6EFBDDC}"/>
              </a:ext>
            </a:extLst>
          </p:cNvPr>
          <p:cNvSpPr>
            <a:spLocks noGrp="1"/>
          </p:cNvSpPr>
          <p:nvPr>
            <p:ph sz="quarter" idx="14"/>
          </p:nvPr>
        </p:nvSpPr>
        <p:spPr>
          <a:xfrm>
            <a:off x="1271842" y="4775417"/>
            <a:ext cx="2329119" cy="374906"/>
          </a:xfrm>
        </p:spPr>
        <p:txBody>
          <a:bodyPr wrap="square">
            <a:spAutoFit/>
          </a:bodyPr>
          <a:lstStyle/>
          <a:p>
            <a:pPr marL="0" indent="0">
              <a:buNone/>
              <a:defRPr/>
            </a:pPr>
            <a:r>
              <a:rPr lang="en-US" altLang="en-US" sz="2200" dirty="0">
                <a:solidFill>
                  <a:srgbClr val="007FA3"/>
                </a:solidFill>
              </a:rPr>
              <a:t>A.</a:t>
            </a:r>
            <a:r>
              <a:rPr lang="en-US" altLang="en-US" sz="2200" dirty="0"/>
              <a:t> Current division</a:t>
            </a:r>
            <a:endParaRPr lang="en-US" sz="2200" dirty="0"/>
          </a:p>
        </p:txBody>
      </p:sp>
      <p:sp>
        <p:nvSpPr>
          <p:cNvPr id="6" name="Content Placeholder 5">
            <a:extLst>
              <a:ext uri="{FF2B5EF4-FFF2-40B4-BE49-F238E27FC236}">
                <a16:creationId xmlns:a16="http://schemas.microsoft.com/office/drawing/2014/main" id="{EB9FE01E-25B8-BEBF-8E7F-C706906BD444}"/>
              </a:ext>
            </a:extLst>
          </p:cNvPr>
          <p:cNvSpPr>
            <a:spLocks noGrp="1"/>
          </p:cNvSpPr>
          <p:nvPr>
            <p:ph sz="quarter" idx="15"/>
          </p:nvPr>
        </p:nvSpPr>
        <p:spPr>
          <a:xfrm>
            <a:off x="1271842" y="5349890"/>
            <a:ext cx="2329119" cy="374906"/>
          </a:xfrm>
        </p:spPr>
        <p:txBody>
          <a:bodyPr wrap="square">
            <a:spAutoFit/>
          </a:bodyPr>
          <a:lstStyle/>
          <a:p>
            <a:pPr marL="0" indent="0">
              <a:buNone/>
            </a:pPr>
            <a:r>
              <a:rPr lang="en-US" sz="2200" dirty="0">
                <a:solidFill>
                  <a:srgbClr val="007FA3"/>
                </a:solidFill>
              </a:rPr>
              <a:t>B.</a:t>
            </a:r>
            <a:r>
              <a:rPr lang="en-US" sz="2200" dirty="0"/>
              <a:t> </a:t>
            </a:r>
            <a:r>
              <a:rPr lang="en-US" altLang="en-US" sz="2200" dirty="0"/>
              <a:t>Voltage division</a:t>
            </a:r>
            <a:endParaRPr lang="en-US" sz="2200" dirty="0"/>
          </a:p>
        </p:txBody>
      </p:sp>
      <p:sp>
        <p:nvSpPr>
          <p:cNvPr id="7" name="Content Placeholder 6">
            <a:extLst>
              <a:ext uri="{FF2B5EF4-FFF2-40B4-BE49-F238E27FC236}">
                <a16:creationId xmlns:a16="http://schemas.microsoft.com/office/drawing/2014/main" id="{F50EC26B-1B5D-4612-17A6-C34F3EC7F4E9}"/>
              </a:ext>
            </a:extLst>
          </p:cNvPr>
          <p:cNvSpPr>
            <a:spLocks noGrp="1"/>
          </p:cNvSpPr>
          <p:nvPr>
            <p:ph sz="quarter" idx="16"/>
          </p:nvPr>
        </p:nvSpPr>
        <p:spPr>
          <a:xfrm>
            <a:off x="1271842" y="5978081"/>
            <a:ext cx="2514406" cy="374906"/>
          </a:xfrm>
        </p:spPr>
        <p:txBody>
          <a:bodyPr wrap="square">
            <a:spAutoFit/>
          </a:bodyPr>
          <a:lstStyle/>
          <a:p>
            <a:pPr marL="0" indent="0">
              <a:buNone/>
            </a:pPr>
            <a:r>
              <a:rPr lang="en-US" sz="2200" dirty="0">
                <a:solidFill>
                  <a:srgbClr val="007FA3"/>
                </a:solidFill>
              </a:rPr>
              <a:t>C.</a:t>
            </a:r>
            <a:r>
              <a:rPr lang="en-US" sz="2200" dirty="0"/>
              <a:t> </a:t>
            </a:r>
            <a:r>
              <a:rPr lang="en-US" altLang="en-US" sz="2200" dirty="0"/>
              <a:t>Source transform</a:t>
            </a:r>
            <a:endParaRPr lang="en-US" sz="2200" dirty="0"/>
          </a:p>
        </p:txBody>
      </p:sp>
    </p:spTree>
    <p:extLst>
      <p:ext uri="{BB962C8B-B14F-4D97-AF65-F5344CB8AC3E}">
        <p14:creationId xmlns:p14="http://schemas.microsoft.com/office/powerpoint/2010/main" val="3442229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10691-5C59-D993-F672-B63450884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546C6-5FAB-67B6-BA5F-FB987DA887C9}"/>
              </a:ext>
            </a:extLst>
          </p:cNvPr>
          <p:cNvSpPr>
            <a:spLocks noGrp="1"/>
          </p:cNvSpPr>
          <p:nvPr>
            <p:ph type="title"/>
          </p:nvPr>
        </p:nvSpPr>
        <p:spPr>
          <a:xfrm>
            <a:off x="428336" y="164556"/>
            <a:ext cx="8247352"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(8 of 10)</a:t>
            </a:r>
            <a:endParaRPr lang="en-US" dirty="0"/>
          </a:p>
        </p:txBody>
      </p:sp>
      <p:sp>
        <p:nvSpPr>
          <p:cNvPr id="3" name="Content Placeholder 2">
            <a:extLst>
              <a:ext uri="{FF2B5EF4-FFF2-40B4-BE49-F238E27FC236}">
                <a16:creationId xmlns:a16="http://schemas.microsoft.com/office/drawing/2014/main" id="{30337BAC-7129-37C9-9EE8-8EF2197061E4}"/>
              </a:ext>
            </a:extLst>
          </p:cNvPr>
          <p:cNvSpPr>
            <a:spLocks noGrp="1"/>
          </p:cNvSpPr>
          <p:nvPr>
            <p:ph sz="quarter" idx="12"/>
          </p:nvPr>
        </p:nvSpPr>
        <p:spPr>
          <a:xfrm>
            <a:off x="428336" y="1471075"/>
            <a:ext cx="8247352" cy="713460"/>
          </a:xfrm>
        </p:spPr>
        <p:txBody>
          <a:bodyPr wrap="square">
            <a:spAutoFit/>
          </a:bodyPr>
          <a:lstStyle/>
          <a:p>
            <a:pPr marL="0" indent="0">
              <a:spcBef>
                <a:spcPct val="0"/>
              </a:spcBef>
              <a:buClrTx/>
              <a:buNone/>
            </a:pPr>
            <a:r>
              <a:rPr lang="en-US" sz="2200" dirty="0">
                <a:solidFill>
                  <a:schemeClr val="tx1"/>
                </a:solidFill>
              </a:rPr>
              <a:t>What is the best circuit analysis tool to use when finding the initial voltage drop across the capacitor?</a:t>
            </a:r>
            <a:endParaRPr lang="en-US" altLang="en-US" sz="2200" dirty="0">
              <a:solidFill>
                <a:schemeClr val="tx1"/>
              </a:solidFill>
            </a:endParaRPr>
          </a:p>
        </p:txBody>
      </p:sp>
      <p:sp>
        <p:nvSpPr>
          <p:cNvPr id="4" name="Content Placeholder 3">
            <a:extLst>
              <a:ext uri="{FF2B5EF4-FFF2-40B4-BE49-F238E27FC236}">
                <a16:creationId xmlns:a16="http://schemas.microsoft.com/office/drawing/2014/main" id="{2CE276AA-8A32-822B-E777-8562BA94D8BA}"/>
              </a:ext>
            </a:extLst>
          </p:cNvPr>
          <p:cNvSpPr>
            <a:spLocks noGrp="1"/>
          </p:cNvSpPr>
          <p:nvPr>
            <p:ph sz="quarter" idx="13"/>
          </p:nvPr>
        </p:nvSpPr>
        <p:spPr>
          <a:xfrm>
            <a:off x="428336" y="2294032"/>
            <a:ext cx="508475" cy="374906"/>
          </a:xfrm>
        </p:spPr>
        <p:txBody>
          <a:bodyPr wrap="square">
            <a:spAutoFit/>
          </a:bodyPr>
          <a:lstStyle/>
          <a:p>
            <a:pPr marL="0" indent="0">
              <a:buNone/>
            </a:pPr>
            <a:r>
              <a:rPr lang="en-US" altLang="en-US" sz="2200" dirty="0"/>
              <a:t>For</a:t>
            </a:r>
            <a:endParaRPr lang="en-US" sz="2200" dirty="0"/>
          </a:p>
        </p:txBody>
      </p:sp>
      <p:graphicFrame>
        <p:nvGraphicFramePr>
          <p:cNvPr id="21" name="Object 20" descr="t less than 0">
            <a:extLst>
              <a:ext uri="{FF2B5EF4-FFF2-40B4-BE49-F238E27FC236}">
                <a16:creationId xmlns:a16="http://schemas.microsoft.com/office/drawing/2014/main" id="{ACDBCE57-DE82-F259-DB9D-D9F88D85702A}"/>
              </a:ext>
            </a:extLst>
          </p:cNvPr>
          <p:cNvGraphicFramePr>
            <a:graphicFrameLocks noChangeAspect="1"/>
          </p:cNvGraphicFramePr>
          <p:nvPr/>
        </p:nvGraphicFramePr>
        <p:xfrm>
          <a:off x="932911" y="2336197"/>
          <a:ext cx="677863" cy="330200"/>
        </p:xfrm>
        <a:graphic>
          <a:graphicData uri="http://schemas.openxmlformats.org/presentationml/2006/ole">
            <mc:AlternateContent xmlns:mc="http://schemas.openxmlformats.org/markup-compatibility/2006">
              <mc:Choice xmlns:v="urn:schemas-microsoft-com:vml" Requires="v">
                <p:oleObj name="Equation" r:id="rId5" imgW="330120" imgH="177480" progId="Equation.DSMT4">
                  <p:embed/>
                </p:oleObj>
              </mc:Choice>
              <mc:Fallback>
                <p:oleObj name="Equation" r:id="rId5" imgW="330120" imgH="177480" progId="Equation.DSMT4">
                  <p:embed/>
                  <p:pic>
                    <p:nvPicPr>
                      <p:cNvPr id="21" name="Object 20" descr="t less than 0">
                        <a:extLst>
                          <a:ext uri="{FF2B5EF4-FFF2-40B4-BE49-F238E27FC236}">
                            <a16:creationId xmlns:a16="http://schemas.microsoft.com/office/drawing/2014/main" id="{F5084745-69B0-F988-D9EB-1462FA707F36}"/>
                          </a:ext>
                        </a:extLst>
                      </p:cNvPr>
                      <p:cNvPicPr>
                        <a:picLocks noChangeAspect="1" noChangeArrowheads="1"/>
                      </p:cNvPicPr>
                      <p:nvPr/>
                    </p:nvPicPr>
                    <p:blipFill>
                      <a:blip r:embed="rId6"/>
                      <a:srcRect/>
                      <a:stretch>
                        <a:fillRect/>
                      </a:stretch>
                    </p:blipFill>
                    <p:spPr bwMode="auto">
                      <a:xfrm>
                        <a:off x="932911" y="2336197"/>
                        <a:ext cx="677863" cy="330200"/>
                      </a:xfrm>
                      <a:prstGeom prst="rect">
                        <a:avLst/>
                      </a:prstGeom>
                      <a:noFill/>
                      <a:ln>
                        <a:noFill/>
                      </a:ln>
                    </p:spPr>
                  </p:pic>
                </p:oleObj>
              </mc:Fallback>
            </mc:AlternateContent>
          </a:graphicData>
        </a:graphic>
      </p:graphicFrame>
      <p:pic>
        <p:nvPicPr>
          <p:cNvPr id="22" name="Picture 21" descr="A circuit diagram shows voltage V subscript 0 across a 0.5 micro farad capacitor as the leftmost wire in the circuit. Voltage V subscript 0 has positive polarity at the top and negative at the bottom. Connected in parallel to the 0.5 micro farad capacitor from left to right are a 60 ohms resistor and a source of 40 volt capacity. The 40 volt source has positive polarity at the bottom and negative at the top. A 20 ohms resistor is located in the top wire and in between the wires for the 60 ohm resistor and the 40 volt source. Symbol a represents the top wire between the wired for the 0.5 micro farad capacitor and the 60 ohm resistor.">
            <a:extLst>
              <a:ext uri="{FF2B5EF4-FFF2-40B4-BE49-F238E27FC236}">
                <a16:creationId xmlns:a16="http://schemas.microsoft.com/office/drawing/2014/main" id="{18195140-ED01-2753-1069-8BBF6D4D9428}"/>
              </a:ext>
            </a:extLst>
          </p:cNvPr>
          <p:cNvPicPr>
            <a:picLocks noChangeAspect="1"/>
          </p:cNvPicPr>
          <p:nvPr/>
        </p:nvPicPr>
        <p:blipFill>
          <a:blip r:embed="rId7"/>
          <a:stretch>
            <a:fillRect/>
          </a:stretch>
        </p:blipFill>
        <p:spPr>
          <a:xfrm>
            <a:off x="2365239" y="2560120"/>
            <a:ext cx="4265744" cy="1970508"/>
          </a:xfrm>
          <a:prstGeom prst="rect">
            <a:avLst/>
          </a:prstGeom>
        </p:spPr>
      </p:pic>
      <p:pic>
        <p:nvPicPr>
          <p:cNvPr id="23" name="Picture 1434" descr="Cross mark">
            <a:extLst>
              <a:ext uri="{FF2B5EF4-FFF2-40B4-BE49-F238E27FC236}">
                <a16:creationId xmlns:a16="http://schemas.microsoft.com/office/drawing/2014/main" id="{82AE68E6-297D-ADFA-653D-CE6569BEE9E4}"/>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765361" y="4826366"/>
            <a:ext cx="342900" cy="28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A8B70977-F155-0C2F-F3FE-7807DB73D635}"/>
              </a:ext>
            </a:extLst>
          </p:cNvPr>
          <p:cNvSpPr>
            <a:spLocks noGrp="1"/>
          </p:cNvSpPr>
          <p:nvPr>
            <p:ph sz="quarter" idx="14"/>
          </p:nvPr>
        </p:nvSpPr>
        <p:spPr>
          <a:xfrm>
            <a:off x="1271842" y="4775417"/>
            <a:ext cx="2329119" cy="374906"/>
          </a:xfrm>
        </p:spPr>
        <p:txBody>
          <a:bodyPr wrap="square">
            <a:spAutoFit/>
          </a:bodyPr>
          <a:lstStyle/>
          <a:p>
            <a:pPr marL="0" indent="0">
              <a:buNone/>
              <a:defRPr/>
            </a:pPr>
            <a:r>
              <a:rPr lang="en-US" altLang="en-US" sz="2200" dirty="0">
                <a:solidFill>
                  <a:srgbClr val="007FA3"/>
                </a:solidFill>
              </a:rPr>
              <a:t>A.</a:t>
            </a:r>
            <a:r>
              <a:rPr lang="en-US" altLang="en-US" sz="2200" dirty="0"/>
              <a:t> Current division</a:t>
            </a:r>
            <a:endParaRPr lang="en-US" sz="2200" dirty="0"/>
          </a:p>
        </p:txBody>
      </p:sp>
      <p:pic>
        <p:nvPicPr>
          <p:cNvPr id="24" name="Picture 1435" descr="Check mark">
            <a:extLst>
              <a:ext uri="{FF2B5EF4-FFF2-40B4-BE49-F238E27FC236}">
                <a16:creationId xmlns:a16="http://schemas.microsoft.com/office/drawing/2014/main" id="{5479ACAA-482B-8977-BFD0-0C0B130585F2}"/>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761461" y="541974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BD0F1FDA-E033-743E-0C4E-8E47E5C17811}"/>
              </a:ext>
            </a:extLst>
          </p:cNvPr>
          <p:cNvSpPr>
            <a:spLocks noGrp="1"/>
          </p:cNvSpPr>
          <p:nvPr>
            <p:ph sz="quarter" idx="15"/>
          </p:nvPr>
        </p:nvSpPr>
        <p:spPr>
          <a:xfrm>
            <a:off x="1271842" y="5349890"/>
            <a:ext cx="2329119" cy="374906"/>
          </a:xfrm>
        </p:spPr>
        <p:txBody>
          <a:bodyPr wrap="square">
            <a:spAutoFit/>
          </a:bodyPr>
          <a:lstStyle/>
          <a:p>
            <a:pPr marL="0" indent="0">
              <a:buNone/>
            </a:pPr>
            <a:r>
              <a:rPr lang="en-US" sz="2200" dirty="0">
                <a:solidFill>
                  <a:srgbClr val="007FA3"/>
                </a:solidFill>
              </a:rPr>
              <a:t>B.</a:t>
            </a:r>
            <a:r>
              <a:rPr lang="en-US" sz="2200" dirty="0"/>
              <a:t> </a:t>
            </a:r>
            <a:r>
              <a:rPr lang="en-US" altLang="en-US" sz="2200" dirty="0"/>
              <a:t>Voltage division</a:t>
            </a:r>
            <a:endParaRPr lang="en-US" sz="2200" dirty="0"/>
          </a:p>
        </p:txBody>
      </p:sp>
      <p:pic>
        <p:nvPicPr>
          <p:cNvPr id="25" name="Picture 1436" descr="Cross mark">
            <a:extLst>
              <a:ext uri="{FF2B5EF4-FFF2-40B4-BE49-F238E27FC236}">
                <a16:creationId xmlns:a16="http://schemas.microsoft.com/office/drawing/2014/main" id="{A3F2F1CC-5E35-403E-AB3F-E97DABFD41AE}"/>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765361" y="6039621"/>
            <a:ext cx="342900" cy="283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7BC4161F-BD54-84A5-6A48-574879FB53E3}"/>
              </a:ext>
            </a:extLst>
          </p:cNvPr>
          <p:cNvSpPr>
            <a:spLocks noGrp="1"/>
          </p:cNvSpPr>
          <p:nvPr>
            <p:ph sz="quarter" idx="16"/>
          </p:nvPr>
        </p:nvSpPr>
        <p:spPr>
          <a:xfrm>
            <a:off x="1271842" y="5978081"/>
            <a:ext cx="2514406" cy="374906"/>
          </a:xfrm>
        </p:spPr>
        <p:txBody>
          <a:bodyPr wrap="square">
            <a:spAutoFit/>
          </a:bodyPr>
          <a:lstStyle/>
          <a:p>
            <a:pPr marL="0" indent="0">
              <a:buNone/>
            </a:pPr>
            <a:r>
              <a:rPr lang="en-US" sz="2200" dirty="0">
                <a:solidFill>
                  <a:srgbClr val="007FA3"/>
                </a:solidFill>
              </a:rPr>
              <a:t>C.</a:t>
            </a:r>
            <a:r>
              <a:rPr lang="en-US" sz="2200" dirty="0"/>
              <a:t> </a:t>
            </a:r>
            <a:r>
              <a:rPr lang="en-US" altLang="en-US" sz="2200" dirty="0"/>
              <a:t>Source transform</a:t>
            </a:r>
            <a:endParaRPr lang="en-US" sz="2200" dirty="0"/>
          </a:p>
        </p:txBody>
      </p:sp>
    </p:spTree>
    <p:extLst>
      <p:ext uri="{BB962C8B-B14F-4D97-AF65-F5344CB8AC3E}">
        <p14:creationId xmlns:p14="http://schemas.microsoft.com/office/powerpoint/2010/main" val="8581573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3A9AA-4C5C-8000-1A21-3137A10FC222}"/>
              </a:ext>
            </a:extLst>
          </p:cNvPr>
          <p:cNvSpPr>
            <a:spLocks noGrp="1"/>
          </p:cNvSpPr>
          <p:nvPr>
            <p:ph type="title"/>
          </p:nvPr>
        </p:nvSpPr>
        <p:spPr>
          <a:xfrm>
            <a:off x="428336" y="164556"/>
            <a:ext cx="8267700"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(9 of 10)</a:t>
            </a:r>
            <a:endParaRPr lang="en-US" dirty="0"/>
          </a:p>
        </p:txBody>
      </p:sp>
      <p:sp>
        <p:nvSpPr>
          <p:cNvPr id="3" name="Content Placeholder 2">
            <a:extLst>
              <a:ext uri="{FF2B5EF4-FFF2-40B4-BE49-F238E27FC236}">
                <a16:creationId xmlns:a16="http://schemas.microsoft.com/office/drawing/2014/main" id="{977101C8-1F32-00C7-7FF8-C46797743CAB}"/>
              </a:ext>
            </a:extLst>
          </p:cNvPr>
          <p:cNvSpPr>
            <a:spLocks noGrp="1"/>
          </p:cNvSpPr>
          <p:nvPr>
            <p:ph sz="quarter" idx="12"/>
          </p:nvPr>
        </p:nvSpPr>
        <p:spPr>
          <a:xfrm>
            <a:off x="428336" y="1484305"/>
            <a:ext cx="1313783" cy="313350"/>
          </a:xfrm>
        </p:spPr>
        <p:txBody>
          <a:bodyPr wrap="square">
            <a:spAutoFit/>
          </a:bodyPr>
          <a:lstStyle/>
          <a:p>
            <a:pPr marL="0" indent="0">
              <a:buNone/>
            </a:pPr>
            <a:r>
              <a:rPr lang="en-US" altLang="en-US" sz="1800" dirty="0"/>
              <a:t>Find </a:t>
            </a:r>
            <a:r>
              <a:rPr lang="en-US" altLang="en-US" sz="1800" i="1" dirty="0"/>
              <a:t>v(t) </a:t>
            </a:r>
            <a:r>
              <a:rPr lang="en-US" altLang="en-US" sz="1800" dirty="0"/>
              <a:t>for</a:t>
            </a:r>
            <a:endParaRPr lang="en-US" sz="1800" dirty="0"/>
          </a:p>
        </p:txBody>
      </p:sp>
      <p:graphicFrame>
        <p:nvGraphicFramePr>
          <p:cNvPr id="21" name="Object 20" descr="t is greater than or equal to 0.&#10;">
            <a:extLst>
              <a:ext uri="{FF2B5EF4-FFF2-40B4-BE49-F238E27FC236}">
                <a16:creationId xmlns:a16="http://schemas.microsoft.com/office/drawing/2014/main" id="{92E09934-1730-A404-FEB0-082A431B8B29}"/>
              </a:ext>
            </a:extLst>
          </p:cNvPr>
          <p:cNvGraphicFramePr>
            <a:graphicFrameLocks noChangeAspect="1"/>
          </p:cNvGraphicFramePr>
          <p:nvPr>
            <p:extLst>
              <p:ext uri="{D42A27DB-BD31-4B8C-83A1-F6EECF244321}">
                <p14:modId xmlns:p14="http://schemas.microsoft.com/office/powerpoint/2010/main" val="513815960"/>
              </p:ext>
            </p:extLst>
          </p:nvPr>
        </p:nvGraphicFramePr>
        <p:xfrm>
          <a:off x="1715953" y="1511085"/>
          <a:ext cx="639329" cy="301625"/>
        </p:xfrm>
        <a:graphic>
          <a:graphicData uri="http://schemas.openxmlformats.org/presentationml/2006/ole">
            <mc:AlternateContent xmlns:mc="http://schemas.openxmlformats.org/markup-compatibility/2006">
              <mc:Choice xmlns:v="urn:schemas-microsoft-com:vml" Requires="v">
                <p:oleObj name="Equation" r:id="rId2" imgW="342720" imgH="177480" progId="Equation.DSMT4">
                  <p:embed/>
                </p:oleObj>
              </mc:Choice>
              <mc:Fallback>
                <p:oleObj name="Equation" r:id="rId2" imgW="342720" imgH="177480" progId="Equation.DSMT4">
                  <p:embed/>
                  <p:pic>
                    <p:nvPicPr>
                      <p:cNvPr id="21" name="Object 20">
                        <a:extLst>
                          <a:ext uri="{FF2B5EF4-FFF2-40B4-BE49-F238E27FC236}">
                            <a16:creationId xmlns:a16="http://schemas.microsoft.com/office/drawing/2014/main" id="{B95FD002-B8B5-9B7E-A5F6-DBFD445E6746}"/>
                          </a:ext>
                        </a:extLst>
                      </p:cNvPr>
                      <p:cNvPicPr>
                        <a:picLocks noChangeAspect="1" noChangeArrowheads="1"/>
                      </p:cNvPicPr>
                      <p:nvPr/>
                    </p:nvPicPr>
                    <p:blipFill>
                      <a:blip r:embed="rId3"/>
                      <a:srcRect/>
                      <a:stretch>
                        <a:fillRect/>
                      </a:stretch>
                    </p:blipFill>
                    <p:spPr bwMode="auto">
                      <a:xfrm>
                        <a:off x="1715953" y="1511085"/>
                        <a:ext cx="639329" cy="301625"/>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1A864649-6A78-2606-F49E-DA693B26D30D}"/>
              </a:ext>
            </a:extLst>
          </p:cNvPr>
          <p:cNvSpPr>
            <a:spLocks noGrp="1"/>
          </p:cNvSpPr>
          <p:nvPr>
            <p:ph sz="quarter" idx="13"/>
          </p:nvPr>
        </p:nvSpPr>
        <p:spPr>
          <a:xfrm>
            <a:off x="2465487" y="1477332"/>
            <a:ext cx="1313783" cy="313350"/>
          </a:xfrm>
        </p:spPr>
        <p:txBody>
          <a:bodyPr wrap="square">
            <a:spAutoFit/>
          </a:bodyPr>
          <a:lstStyle/>
          <a:p>
            <a:pPr marL="0" indent="0">
              <a:spcBef>
                <a:spcPts val="600"/>
              </a:spcBef>
              <a:buNone/>
            </a:pPr>
            <a:r>
              <a:rPr lang="en-US" altLang="en-US" sz="1800" dirty="0"/>
              <a:t>(continued).</a:t>
            </a:r>
          </a:p>
        </p:txBody>
      </p:sp>
      <p:pic>
        <p:nvPicPr>
          <p:cNvPr id="22" name="Picture 2" descr="A circuit diagram shows a voltage source with 90 volt capacity as the leftmost wire in the circuit. The 90 volt source has positive polarity at the top node and negative at the bottom. Connected in parallel to the 90 volt source from left to right are a 0.5 micro farad capacitor with a two way switch at the capacitors upper end both in the same wire, a 60 ohms resistor, and a voltage source of 40 volt capacity. The 40 volt source has negative polarity at the top node and negative at the bottom. A 400 kilo ohm resistor is located in the top wire of the circuit and between the wires for the 90 volt source and the 0.5 micro farad capacitor. A 20 ohm resistor is located in the top wire of the circuit and between the wires for the 40 volt source and the 60 ohm resistor. Voltage v exists across the 0.5 micro farad capacitor with positive polarity at its top end and negative polarity at the bottom. The switch position b connects the 0.5 micro farad capacitor with the 90 volt source when time t is zero. The switch position a connects the 0.5 micro farad capacitor with the 40 volt source before time t is zero.">
            <a:extLst>
              <a:ext uri="{FF2B5EF4-FFF2-40B4-BE49-F238E27FC236}">
                <a16:creationId xmlns:a16="http://schemas.microsoft.com/office/drawing/2014/main" id="{F27D1EA7-A7FC-411D-C3EA-9474D96B7388}"/>
              </a:ext>
            </a:extLst>
          </p:cNvPr>
          <p:cNvPicPr>
            <a:picLocks noChangeAspect="1" noChangeArrowheads="1"/>
          </p:cNvPicPr>
          <p:nvPr/>
        </p:nvPicPr>
        <p:blipFill>
          <a:blip r:embed="rId4"/>
          <a:stretch>
            <a:fillRect/>
          </a:stretch>
        </p:blipFill>
        <p:spPr bwMode="auto">
          <a:xfrm>
            <a:off x="4970952" y="1529463"/>
            <a:ext cx="3365266" cy="12175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2A86CE42-9D1D-BB03-5448-A474D8294C9E}"/>
              </a:ext>
            </a:extLst>
          </p:cNvPr>
          <p:cNvSpPr>
            <a:spLocks noGrp="1"/>
          </p:cNvSpPr>
          <p:nvPr>
            <p:ph sz="quarter" idx="14"/>
          </p:nvPr>
        </p:nvSpPr>
        <p:spPr>
          <a:xfrm>
            <a:off x="426462" y="2925374"/>
            <a:ext cx="7618412" cy="313350"/>
          </a:xfrm>
        </p:spPr>
        <p:txBody>
          <a:bodyPr wrap="square">
            <a:spAutoFit/>
          </a:bodyPr>
          <a:lstStyle/>
          <a:p>
            <a:pPr marL="0" indent="0">
              <a:buNone/>
            </a:pPr>
            <a:r>
              <a:rPr lang="en-US" sz="1800" dirty="0"/>
              <a:t>Step 2 – Calculate the initial value </a:t>
            </a:r>
            <a:r>
              <a:rPr lang="en-US" altLang="en-US" sz="1800" dirty="0"/>
              <a:t>of the voltage drop across the capacitor,</a:t>
            </a:r>
            <a:endParaRPr lang="en-US" sz="1800" dirty="0"/>
          </a:p>
        </p:txBody>
      </p:sp>
      <p:graphicFrame>
        <p:nvGraphicFramePr>
          <p:cNvPr id="23" name="Object 22" descr="V subscript 0.">
            <a:extLst>
              <a:ext uri="{FF2B5EF4-FFF2-40B4-BE49-F238E27FC236}">
                <a16:creationId xmlns:a16="http://schemas.microsoft.com/office/drawing/2014/main" id="{C8C4FCB2-AF01-62B5-04CC-D293EF7E7663}"/>
              </a:ext>
            </a:extLst>
          </p:cNvPr>
          <p:cNvGraphicFramePr>
            <a:graphicFrameLocks noChangeAspect="1"/>
          </p:cNvGraphicFramePr>
          <p:nvPr>
            <p:extLst>
              <p:ext uri="{D42A27DB-BD31-4B8C-83A1-F6EECF244321}">
                <p14:modId xmlns:p14="http://schemas.microsoft.com/office/powerpoint/2010/main" val="3875280419"/>
              </p:ext>
            </p:extLst>
          </p:nvPr>
        </p:nvGraphicFramePr>
        <p:xfrm>
          <a:off x="8116752" y="2925374"/>
          <a:ext cx="366044" cy="352923"/>
        </p:xfrm>
        <a:graphic>
          <a:graphicData uri="http://schemas.openxmlformats.org/presentationml/2006/ole">
            <mc:AlternateContent xmlns:mc="http://schemas.openxmlformats.org/markup-compatibility/2006">
              <mc:Choice xmlns:v="urn:schemas-microsoft-com:vml" Requires="v">
                <p:oleObj name="Equation" r:id="rId5" imgW="215640" imgH="228600" progId="Equation.DSMT4">
                  <p:embed/>
                </p:oleObj>
              </mc:Choice>
              <mc:Fallback>
                <p:oleObj name="Equation" r:id="rId5" imgW="215640" imgH="228600" progId="Equation.DSMT4">
                  <p:embed/>
                  <p:pic>
                    <p:nvPicPr>
                      <p:cNvPr id="21" name="Object 20">
                        <a:extLst>
                          <a:ext uri="{FF2B5EF4-FFF2-40B4-BE49-F238E27FC236}">
                            <a16:creationId xmlns:a16="http://schemas.microsoft.com/office/drawing/2014/main" id="{92E09934-1730-A404-FEB0-082A431B8B29}"/>
                          </a:ext>
                        </a:extLst>
                      </p:cNvPr>
                      <p:cNvPicPr>
                        <a:picLocks noChangeAspect="1" noChangeArrowheads="1"/>
                      </p:cNvPicPr>
                      <p:nvPr/>
                    </p:nvPicPr>
                    <p:blipFill>
                      <a:blip r:embed="rId6"/>
                      <a:srcRect/>
                      <a:stretch>
                        <a:fillRect/>
                      </a:stretch>
                    </p:blipFill>
                    <p:spPr bwMode="auto">
                      <a:xfrm>
                        <a:off x="8116752" y="2925374"/>
                        <a:ext cx="366044" cy="352923"/>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77E8837C-3120-4F40-3CE2-E818A01D5ECA}"/>
              </a:ext>
            </a:extLst>
          </p:cNvPr>
          <p:cNvSpPr>
            <a:spLocks noGrp="1"/>
          </p:cNvSpPr>
          <p:nvPr>
            <p:ph sz="quarter" idx="15"/>
          </p:nvPr>
        </p:nvSpPr>
        <p:spPr>
          <a:xfrm>
            <a:off x="428336" y="3304837"/>
            <a:ext cx="457201" cy="313350"/>
          </a:xfrm>
        </p:spPr>
        <p:txBody>
          <a:bodyPr wrap="square">
            <a:spAutoFit/>
          </a:bodyPr>
          <a:lstStyle/>
          <a:p>
            <a:pPr marL="0" indent="0">
              <a:buNone/>
            </a:pPr>
            <a:r>
              <a:rPr lang="en-US" sz="1800" dirty="0"/>
              <a:t>For</a:t>
            </a:r>
          </a:p>
        </p:txBody>
      </p:sp>
      <p:graphicFrame>
        <p:nvGraphicFramePr>
          <p:cNvPr id="24" name="Object 23" descr="t less than 0">
            <a:extLst>
              <a:ext uri="{FF2B5EF4-FFF2-40B4-BE49-F238E27FC236}">
                <a16:creationId xmlns:a16="http://schemas.microsoft.com/office/drawing/2014/main" id="{9691549B-F366-90AC-E6D1-3EE5C259828A}"/>
              </a:ext>
            </a:extLst>
          </p:cNvPr>
          <p:cNvGraphicFramePr>
            <a:graphicFrameLocks noChangeAspect="1"/>
          </p:cNvGraphicFramePr>
          <p:nvPr>
            <p:extLst>
              <p:ext uri="{D42A27DB-BD31-4B8C-83A1-F6EECF244321}">
                <p14:modId xmlns:p14="http://schemas.microsoft.com/office/powerpoint/2010/main" val="4040955453"/>
              </p:ext>
            </p:extLst>
          </p:nvPr>
        </p:nvGraphicFramePr>
        <p:xfrm>
          <a:off x="841129" y="3314346"/>
          <a:ext cx="639329" cy="301625"/>
        </p:xfrm>
        <a:graphic>
          <a:graphicData uri="http://schemas.openxmlformats.org/presentationml/2006/ole">
            <mc:AlternateContent xmlns:mc="http://schemas.openxmlformats.org/markup-compatibility/2006">
              <mc:Choice xmlns:v="urn:schemas-microsoft-com:vml" Requires="v">
                <p:oleObj name="Equation" r:id="rId7" imgW="342720" imgH="177480" progId="Equation.DSMT4">
                  <p:embed/>
                </p:oleObj>
              </mc:Choice>
              <mc:Fallback>
                <p:oleObj name="Equation" r:id="rId7" imgW="342720" imgH="177480" progId="Equation.DSMT4">
                  <p:embed/>
                  <p:pic>
                    <p:nvPicPr>
                      <p:cNvPr id="21" name="Object 20">
                        <a:extLst>
                          <a:ext uri="{FF2B5EF4-FFF2-40B4-BE49-F238E27FC236}">
                            <a16:creationId xmlns:a16="http://schemas.microsoft.com/office/drawing/2014/main" id="{92E09934-1730-A404-FEB0-082A431B8B29}"/>
                          </a:ext>
                        </a:extLst>
                      </p:cNvPr>
                      <p:cNvPicPr>
                        <a:picLocks noChangeAspect="1" noChangeArrowheads="1"/>
                      </p:cNvPicPr>
                      <p:nvPr/>
                    </p:nvPicPr>
                    <p:blipFill>
                      <a:blip r:embed="rId8"/>
                      <a:srcRect/>
                      <a:stretch>
                        <a:fillRect/>
                      </a:stretch>
                    </p:blipFill>
                    <p:spPr bwMode="auto">
                      <a:xfrm>
                        <a:off x="841129" y="3314346"/>
                        <a:ext cx="639329" cy="301625"/>
                      </a:xfrm>
                      <a:prstGeom prst="rect">
                        <a:avLst/>
                      </a:prstGeom>
                      <a:noFill/>
                      <a:ln>
                        <a:noFill/>
                      </a:ln>
                    </p:spPr>
                  </p:pic>
                </p:oleObj>
              </mc:Fallback>
            </mc:AlternateContent>
          </a:graphicData>
        </a:graphic>
      </p:graphicFrame>
      <p:pic>
        <p:nvPicPr>
          <p:cNvPr id="25" name="Picture 3" descr="A circuit diagram shows voltage V subscript 0 across a 0.5 micro farad capacitor as the leftmost wire in the circuit. Voltage V subscript 0 has positive polarity at the top and negative at the bottom. Connected in parallel to the 0.5 micro farad capacitor from left to right are a 60 ohms resistor and a source of 40 volt capacity. The 40 volt source has positive polarity at the bottom and negative at the top. A 20 ohms resistor is located in the top wire and in between the wires for the 60 ohm resistor and the 40 volt source. Symbol a represents the top wire between the wired for the 0.5 micro farad capacitor and the 60 ohm resistor.">
            <a:extLst>
              <a:ext uri="{FF2B5EF4-FFF2-40B4-BE49-F238E27FC236}">
                <a16:creationId xmlns:a16="http://schemas.microsoft.com/office/drawing/2014/main" id="{7A276569-EF82-D5E9-F890-73A7DAEFC35A}"/>
              </a:ext>
            </a:extLst>
          </p:cNvPr>
          <p:cNvPicPr>
            <a:picLocks noChangeAspect="1" noChangeArrowheads="1"/>
          </p:cNvPicPr>
          <p:nvPr/>
        </p:nvPicPr>
        <p:blipFill>
          <a:blip r:embed="rId9"/>
          <a:stretch>
            <a:fillRect/>
          </a:stretch>
        </p:blipFill>
        <p:spPr bwMode="auto">
          <a:xfrm>
            <a:off x="2400764" y="3447948"/>
            <a:ext cx="2247616" cy="1038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 name="Object 25" descr="V subscript 0 baseline equals Start Fraction 60 over 60 plus 20 End Fraction ( negative 40 ).&#10;">
            <a:extLst>
              <a:ext uri="{FF2B5EF4-FFF2-40B4-BE49-F238E27FC236}">
                <a16:creationId xmlns:a16="http://schemas.microsoft.com/office/drawing/2014/main" id="{4DAF9B62-840B-F185-03D9-883B5EB05F6E}"/>
              </a:ext>
            </a:extLst>
          </p:cNvPr>
          <p:cNvGraphicFramePr>
            <a:graphicFrameLocks noChangeAspect="1"/>
          </p:cNvGraphicFramePr>
          <p:nvPr>
            <p:extLst>
              <p:ext uri="{D42A27DB-BD31-4B8C-83A1-F6EECF244321}">
                <p14:modId xmlns:p14="http://schemas.microsoft.com/office/powerpoint/2010/main" val="2341014752"/>
              </p:ext>
            </p:extLst>
          </p:nvPr>
        </p:nvGraphicFramePr>
        <p:xfrm>
          <a:off x="5609903" y="3447777"/>
          <a:ext cx="2087365" cy="607448"/>
        </p:xfrm>
        <a:graphic>
          <a:graphicData uri="http://schemas.openxmlformats.org/presentationml/2006/ole">
            <mc:AlternateContent xmlns:mc="http://schemas.openxmlformats.org/markup-compatibility/2006">
              <mc:Choice xmlns:v="urn:schemas-microsoft-com:vml" Requires="v">
                <p:oleObj name="Equation" r:id="rId10" imgW="1231560" imgH="393480" progId="Equation.DSMT4">
                  <p:embed/>
                </p:oleObj>
              </mc:Choice>
              <mc:Fallback>
                <p:oleObj name="Equation" r:id="rId10" imgW="1231560" imgH="393480" progId="Equation.DSMT4">
                  <p:embed/>
                  <p:pic>
                    <p:nvPicPr>
                      <p:cNvPr id="24" name="Object 23">
                        <a:extLst>
                          <a:ext uri="{FF2B5EF4-FFF2-40B4-BE49-F238E27FC236}">
                            <a16:creationId xmlns:a16="http://schemas.microsoft.com/office/drawing/2014/main" id="{9691549B-F366-90AC-E6D1-3EE5C259828A}"/>
                          </a:ext>
                        </a:extLst>
                      </p:cNvPr>
                      <p:cNvPicPr>
                        <a:picLocks noChangeAspect="1" noChangeArrowheads="1"/>
                      </p:cNvPicPr>
                      <p:nvPr/>
                    </p:nvPicPr>
                    <p:blipFill>
                      <a:blip r:embed="rId11"/>
                      <a:srcRect/>
                      <a:stretch>
                        <a:fillRect/>
                      </a:stretch>
                    </p:blipFill>
                    <p:spPr bwMode="auto">
                      <a:xfrm>
                        <a:off x="5609903" y="3447777"/>
                        <a:ext cx="2087365" cy="607448"/>
                      </a:xfrm>
                      <a:prstGeom prst="rect">
                        <a:avLst/>
                      </a:prstGeom>
                      <a:noFill/>
                      <a:ln>
                        <a:noFill/>
                      </a:ln>
                    </p:spPr>
                  </p:pic>
                </p:oleObj>
              </mc:Fallback>
            </mc:AlternateContent>
          </a:graphicData>
        </a:graphic>
      </p:graphicFrame>
      <p:graphicFrame>
        <p:nvGraphicFramePr>
          <p:cNvPr id="27" name="Object 26" descr="equals negative 30 Volts.&#10;">
            <a:extLst>
              <a:ext uri="{FF2B5EF4-FFF2-40B4-BE49-F238E27FC236}">
                <a16:creationId xmlns:a16="http://schemas.microsoft.com/office/drawing/2014/main" id="{7415CF3A-269E-5061-A65E-76C66BB92117}"/>
              </a:ext>
            </a:extLst>
          </p:cNvPr>
          <p:cNvGraphicFramePr>
            <a:graphicFrameLocks noChangeAspect="1"/>
          </p:cNvGraphicFramePr>
          <p:nvPr>
            <p:extLst>
              <p:ext uri="{D42A27DB-BD31-4B8C-83A1-F6EECF244321}">
                <p14:modId xmlns:p14="http://schemas.microsoft.com/office/powerpoint/2010/main" val="3910864526"/>
              </p:ext>
            </p:extLst>
          </p:nvPr>
        </p:nvGraphicFramePr>
        <p:xfrm>
          <a:off x="5897897" y="4291428"/>
          <a:ext cx="989235" cy="274205"/>
        </p:xfrm>
        <a:graphic>
          <a:graphicData uri="http://schemas.openxmlformats.org/presentationml/2006/ole">
            <mc:AlternateContent xmlns:mc="http://schemas.openxmlformats.org/markup-compatibility/2006">
              <mc:Choice xmlns:v="urn:schemas-microsoft-com:vml" Requires="v">
                <p:oleObj name="Equation" r:id="rId12" imgW="583920" imgH="177480" progId="Equation.DSMT4">
                  <p:embed/>
                </p:oleObj>
              </mc:Choice>
              <mc:Fallback>
                <p:oleObj name="Equation" r:id="rId12" imgW="583920" imgH="177480" progId="Equation.DSMT4">
                  <p:embed/>
                  <p:pic>
                    <p:nvPicPr>
                      <p:cNvPr id="26" name="Object 25">
                        <a:extLst>
                          <a:ext uri="{FF2B5EF4-FFF2-40B4-BE49-F238E27FC236}">
                            <a16:creationId xmlns:a16="http://schemas.microsoft.com/office/drawing/2014/main" id="{4DAF9B62-840B-F185-03D9-883B5EB05F6E}"/>
                          </a:ext>
                        </a:extLst>
                      </p:cNvPr>
                      <p:cNvPicPr>
                        <a:picLocks noChangeAspect="1" noChangeArrowheads="1"/>
                      </p:cNvPicPr>
                      <p:nvPr/>
                    </p:nvPicPr>
                    <p:blipFill>
                      <a:blip r:embed="rId13"/>
                      <a:srcRect/>
                      <a:stretch>
                        <a:fillRect/>
                      </a:stretch>
                    </p:blipFill>
                    <p:spPr bwMode="auto">
                      <a:xfrm>
                        <a:off x="5897897" y="4291428"/>
                        <a:ext cx="989235" cy="274205"/>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3E4B43D1-46BF-9FCE-97D8-C5C391454C33}"/>
              </a:ext>
            </a:extLst>
          </p:cNvPr>
          <p:cNvSpPr>
            <a:spLocks noGrp="1"/>
          </p:cNvSpPr>
          <p:nvPr>
            <p:ph sz="quarter" idx="17"/>
          </p:nvPr>
        </p:nvSpPr>
        <p:spPr>
          <a:xfrm>
            <a:off x="428336" y="4614888"/>
            <a:ext cx="3783446" cy="313350"/>
          </a:xfrm>
        </p:spPr>
        <p:txBody>
          <a:bodyPr wrap="square">
            <a:spAutoFit/>
          </a:bodyPr>
          <a:lstStyle/>
          <a:p>
            <a:pPr marL="0" indent="0">
              <a:buNone/>
            </a:pPr>
            <a:r>
              <a:rPr lang="en-US" sz="1800" dirty="0"/>
              <a:t>Step 3 – Calculate the time constant</a:t>
            </a:r>
          </a:p>
        </p:txBody>
      </p:sp>
      <p:graphicFrame>
        <p:nvGraphicFramePr>
          <p:cNvPr id="28" name="Object 27" descr="tau equals to R C.">
            <a:extLst>
              <a:ext uri="{FF2B5EF4-FFF2-40B4-BE49-F238E27FC236}">
                <a16:creationId xmlns:a16="http://schemas.microsoft.com/office/drawing/2014/main" id="{DF4DB323-09A2-A6F3-11C1-3CA543633680}"/>
              </a:ext>
            </a:extLst>
          </p:cNvPr>
          <p:cNvGraphicFramePr>
            <a:graphicFrameLocks noChangeAspect="1"/>
          </p:cNvGraphicFramePr>
          <p:nvPr>
            <p:extLst>
              <p:ext uri="{D42A27DB-BD31-4B8C-83A1-F6EECF244321}">
                <p14:modId xmlns:p14="http://schemas.microsoft.com/office/powerpoint/2010/main" val="491729070"/>
              </p:ext>
            </p:extLst>
          </p:nvPr>
        </p:nvGraphicFramePr>
        <p:xfrm>
          <a:off x="4203316" y="4627748"/>
          <a:ext cx="902645" cy="274205"/>
        </p:xfrm>
        <a:graphic>
          <a:graphicData uri="http://schemas.openxmlformats.org/presentationml/2006/ole">
            <mc:AlternateContent xmlns:mc="http://schemas.openxmlformats.org/markup-compatibility/2006">
              <mc:Choice xmlns:v="urn:schemas-microsoft-com:vml" Requires="v">
                <p:oleObj name="Equation" r:id="rId14" imgW="533160" imgH="177480" progId="Equation.DSMT4">
                  <p:embed/>
                </p:oleObj>
              </mc:Choice>
              <mc:Fallback>
                <p:oleObj name="Equation" r:id="rId14" imgW="533160" imgH="177480" progId="Equation.DSMT4">
                  <p:embed/>
                  <p:pic>
                    <p:nvPicPr>
                      <p:cNvPr id="27" name="Object 26">
                        <a:extLst>
                          <a:ext uri="{FF2B5EF4-FFF2-40B4-BE49-F238E27FC236}">
                            <a16:creationId xmlns:a16="http://schemas.microsoft.com/office/drawing/2014/main" id="{7415CF3A-269E-5061-A65E-76C66BB92117}"/>
                          </a:ext>
                        </a:extLst>
                      </p:cNvPr>
                      <p:cNvPicPr>
                        <a:picLocks noChangeAspect="1" noChangeArrowheads="1"/>
                      </p:cNvPicPr>
                      <p:nvPr/>
                    </p:nvPicPr>
                    <p:blipFill>
                      <a:blip r:embed="rId15"/>
                      <a:srcRect/>
                      <a:stretch>
                        <a:fillRect/>
                      </a:stretch>
                    </p:blipFill>
                    <p:spPr bwMode="auto">
                      <a:xfrm>
                        <a:off x="4203316" y="4627748"/>
                        <a:ext cx="902645" cy="274205"/>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24301C37-936B-9B7F-29C0-171BC82E3C23}"/>
              </a:ext>
            </a:extLst>
          </p:cNvPr>
          <p:cNvSpPr>
            <a:spLocks noGrp="1"/>
          </p:cNvSpPr>
          <p:nvPr>
            <p:ph sz="quarter" idx="18"/>
          </p:nvPr>
        </p:nvSpPr>
        <p:spPr>
          <a:xfrm>
            <a:off x="426461" y="5003089"/>
            <a:ext cx="414668" cy="313350"/>
          </a:xfrm>
        </p:spPr>
        <p:txBody>
          <a:bodyPr/>
          <a:lstStyle/>
          <a:p>
            <a:pPr marL="0" indent="0">
              <a:buNone/>
            </a:pPr>
            <a:r>
              <a:rPr lang="en-US" sz="1800" dirty="0"/>
              <a:t>For</a:t>
            </a:r>
          </a:p>
        </p:txBody>
      </p:sp>
      <p:graphicFrame>
        <p:nvGraphicFramePr>
          <p:cNvPr id="29" name="Object 28" descr="t is greater than or equal to 0.&#10;">
            <a:extLst>
              <a:ext uri="{FF2B5EF4-FFF2-40B4-BE49-F238E27FC236}">
                <a16:creationId xmlns:a16="http://schemas.microsoft.com/office/drawing/2014/main" id="{69D40602-4F29-8713-56C0-710AD63DFB26}"/>
              </a:ext>
            </a:extLst>
          </p:cNvPr>
          <p:cNvGraphicFramePr>
            <a:graphicFrameLocks noChangeAspect="1"/>
          </p:cNvGraphicFramePr>
          <p:nvPr>
            <p:extLst>
              <p:ext uri="{D42A27DB-BD31-4B8C-83A1-F6EECF244321}">
                <p14:modId xmlns:p14="http://schemas.microsoft.com/office/powerpoint/2010/main" val="3394775425"/>
              </p:ext>
            </p:extLst>
          </p:nvPr>
        </p:nvGraphicFramePr>
        <p:xfrm>
          <a:off x="860100" y="5033785"/>
          <a:ext cx="639329" cy="301625"/>
        </p:xfrm>
        <a:graphic>
          <a:graphicData uri="http://schemas.openxmlformats.org/presentationml/2006/ole">
            <mc:AlternateContent xmlns:mc="http://schemas.openxmlformats.org/markup-compatibility/2006">
              <mc:Choice xmlns:v="urn:schemas-microsoft-com:vml" Requires="v">
                <p:oleObj name="Equation" r:id="rId16" imgW="342720" imgH="177480" progId="Equation.DSMT4">
                  <p:embed/>
                </p:oleObj>
              </mc:Choice>
              <mc:Fallback>
                <p:oleObj name="Equation" r:id="rId16" imgW="342720" imgH="177480" progId="Equation.DSMT4">
                  <p:embed/>
                  <p:pic>
                    <p:nvPicPr>
                      <p:cNvPr id="21" name="Object 20">
                        <a:extLst>
                          <a:ext uri="{FF2B5EF4-FFF2-40B4-BE49-F238E27FC236}">
                            <a16:creationId xmlns:a16="http://schemas.microsoft.com/office/drawing/2014/main" id="{92E09934-1730-A404-FEB0-082A431B8B29}"/>
                          </a:ext>
                        </a:extLst>
                      </p:cNvPr>
                      <p:cNvPicPr>
                        <a:picLocks noChangeAspect="1" noChangeArrowheads="1"/>
                      </p:cNvPicPr>
                      <p:nvPr/>
                    </p:nvPicPr>
                    <p:blipFill>
                      <a:blip r:embed="rId17"/>
                      <a:srcRect/>
                      <a:stretch>
                        <a:fillRect/>
                      </a:stretch>
                    </p:blipFill>
                    <p:spPr bwMode="auto">
                      <a:xfrm>
                        <a:off x="860100" y="5033785"/>
                        <a:ext cx="639329" cy="301625"/>
                      </a:xfrm>
                      <a:prstGeom prst="rect">
                        <a:avLst/>
                      </a:prstGeom>
                      <a:noFill/>
                      <a:ln>
                        <a:noFill/>
                      </a:ln>
                    </p:spPr>
                  </p:pic>
                </p:oleObj>
              </mc:Fallback>
            </mc:AlternateContent>
          </a:graphicData>
        </a:graphic>
      </p:graphicFrame>
      <p:pic>
        <p:nvPicPr>
          <p:cNvPr id="30" name="Picture 4" descr="A circuit diagram shows a source with 90 volt capacity as the left wire in the circuit. The 90 volt source has positive polarity at the top node and negative at the bottom. The right wire has a 0.5 micro farad capacitor with voltage v. The voltage v has positive polarity at the top node and negative at the bottom. Symbol b represents the top wire between the left and right wires in the circuit. A 400 kilo ohm resistor is located in the top wire b. The Thenvin equivalent resistance R subscript Th is represented in the bottom wire of the circuit as a right angled arrow pointing left. ">
            <a:extLst>
              <a:ext uri="{FF2B5EF4-FFF2-40B4-BE49-F238E27FC236}">
                <a16:creationId xmlns:a16="http://schemas.microsoft.com/office/drawing/2014/main" id="{2145EF48-A429-68CB-D8F8-30483E3F9702}"/>
              </a:ext>
            </a:extLst>
          </p:cNvPr>
          <p:cNvPicPr>
            <a:picLocks noChangeAspect="1" noChangeArrowheads="1"/>
          </p:cNvPicPr>
          <p:nvPr/>
        </p:nvPicPr>
        <p:blipFill>
          <a:blip r:embed="rId18"/>
          <a:stretch>
            <a:fillRect/>
          </a:stretch>
        </p:blipFill>
        <p:spPr bwMode="auto">
          <a:xfrm>
            <a:off x="2559222" y="5146988"/>
            <a:ext cx="1920439" cy="1162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5" name="Object 34" descr="R subscript T h baseline equals 400 kiloohms.&#10;">
            <a:extLst>
              <a:ext uri="{FF2B5EF4-FFF2-40B4-BE49-F238E27FC236}">
                <a16:creationId xmlns:a16="http://schemas.microsoft.com/office/drawing/2014/main" id="{C2540809-63D1-DF54-DCED-F8A11FA05A78}"/>
              </a:ext>
            </a:extLst>
          </p:cNvPr>
          <p:cNvGraphicFramePr>
            <a:graphicFrameLocks noChangeAspect="1"/>
          </p:cNvGraphicFramePr>
          <p:nvPr>
            <p:extLst>
              <p:ext uri="{D42A27DB-BD31-4B8C-83A1-F6EECF244321}">
                <p14:modId xmlns:p14="http://schemas.microsoft.com/office/powerpoint/2010/main" val="3840620695"/>
              </p:ext>
            </p:extLst>
          </p:nvPr>
        </p:nvGraphicFramePr>
        <p:xfrm>
          <a:off x="4927292" y="5164639"/>
          <a:ext cx="1570038" cy="352425"/>
        </p:xfrm>
        <a:graphic>
          <a:graphicData uri="http://schemas.openxmlformats.org/presentationml/2006/ole">
            <mc:AlternateContent xmlns:mc="http://schemas.openxmlformats.org/markup-compatibility/2006">
              <mc:Choice xmlns:v="urn:schemas-microsoft-com:vml" Requires="v">
                <p:oleObj name="Equation" r:id="rId19" imgW="927000" imgH="228600" progId="Equation.DSMT4">
                  <p:embed/>
                </p:oleObj>
              </mc:Choice>
              <mc:Fallback>
                <p:oleObj name="Equation" r:id="rId19" imgW="927000" imgH="228600" progId="Equation.DSMT4">
                  <p:embed/>
                  <p:pic>
                    <p:nvPicPr>
                      <p:cNvPr id="27" name="Object 26">
                        <a:extLst>
                          <a:ext uri="{FF2B5EF4-FFF2-40B4-BE49-F238E27FC236}">
                            <a16:creationId xmlns:a16="http://schemas.microsoft.com/office/drawing/2014/main" id="{7415CF3A-269E-5061-A65E-76C66BB92117}"/>
                          </a:ext>
                        </a:extLst>
                      </p:cNvPr>
                      <p:cNvPicPr>
                        <a:picLocks noChangeAspect="1" noChangeArrowheads="1"/>
                      </p:cNvPicPr>
                      <p:nvPr/>
                    </p:nvPicPr>
                    <p:blipFill>
                      <a:blip r:embed="rId20"/>
                      <a:srcRect/>
                      <a:stretch>
                        <a:fillRect/>
                      </a:stretch>
                    </p:blipFill>
                    <p:spPr bwMode="auto">
                      <a:xfrm>
                        <a:off x="4927292" y="5164639"/>
                        <a:ext cx="1570038" cy="352425"/>
                      </a:xfrm>
                      <a:prstGeom prst="rect">
                        <a:avLst/>
                      </a:prstGeom>
                      <a:noFill/>
                      <a:ln>
                        <a:noFill/>
                      </a:ln>
                    </p:spPr>
                  </p:pic>
                </p:oleObj>
              </mc:Fallback>
            </mc:AlternateContent>
          </a:graphicData>
        </a:graphic>
      </p:graphicFrame>
      <p:graphicFrame>
        <p:nvGraphicFramePr>
          <p:cNvPr id="36" name="Object 35" descr="tau equals (400,000) (0.5 times 10 to the negative 6 power) equals 0.2 seconds.&#10;">
            <a:extLst>
              <a:ext uri="{FF2B5EF4-FFF2-40B4-BE49-F238E27FC236}">
                <a16:creationId xmlns:a16="http://schemas.microsoft.com/office/drawing/2014/main" id="{BCED229C-9BDF-7CA8-2164-47153894A61B}"/>
              </a:ext>
            </a:extLst>
          </p:cNvPr>
          <p:cNvGraphicFramePr>
            <a:graphicFrameLocks noChangeAspect="1"/>
          </p:cNvGraphicFramePr>
          <p:nvPr>
            <p:extLst>
              <p:ext uri="{D42A27DB-BD31-4B8C-83A1-F6EECF244321}">
                <p14:modId xmlns:p14="http://schemas.microsoft.com/office/powerpoint/2010/main" val="2553563845"/>
              </p:ext>
            </p:extLst>
          </p:nvPr>
        </p:nvGraphicFramePr>
        <p:xfrm>
          <a:off x="4899818" y="5601055"/>
          <a:ext cx="3656012" cy="352425"/>
        </p:xfrm>
        <a:graphic>
          <a:graphicData uri="http://schemas.openxmlformats.org/presentationml/2006/ole">
            <mc:AlternateContent xmlns:mc="http://schemas.openxmlformats.org/markup-compatibility/2006">
              <mc:Choice xmlns:v="urn:schemas-microsoft-com:vml" Requires="v">
                <p:oleObj name="Equation" r:id="rId21" imgW="2158920" imgH="228600" progId="Equation.DSMT4">
                  <p:embed/>
                </p:oleObj>
              </mc:Choice>
              <mc:Fallback>
                <p:oleObj name="Equation" r:id="rId21" imgW="2158920" imgH="228600" progId="Equation.DSMT4">
                  <p:embed/>
                  <p:pic>
                    <p:nvPicPr>
                      <p:cNvPr id="35" name="Object 34">
                        <a:extLst>
                          <a:ext uri="{FF2B5EF4-FFF2-40B4-BE49-F238E27FC236}">
                            <a16:creationId xmlns:a16="http://schemas.microsoft.com/office/drawing/2014/main" id="{C2540809-63D1-DF54-DCED-F8A11FA05A78}"/>
                          </a:ext>
                        </a:extLst>
                      </p:cNvPr>
                      <p:cNvPicPr>
                        <a:picLocks noChangeAspect="1" noChangeArrowheads="1"/>
                      </p:cNvPicPr>
                      <p:nvPr/>
                    </p:nvPicPr>
                    <p:blipFill>
                      <a:blip r:embed="rId22"/>
                      <a:srcRect/>
                      <a:stretch>
                        <a:fillRect/>
                      </a:stretch>
                    </p:blipFill>
                    <p:spPr bwMode="auto">
                      <a:xfrm>
                        <a:off x="4899818" y="5601055"/>
                        <a:ext cx="3656012" cy="3524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70894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025AB-DE4D-7823-6F78-F6947799C66A}"/>
              </a:ext>
            </a:extLst>
          </p:cNvPr>
          <p:cNvSpPr>
            <a:spLocks noGrp="1"/>
          </p:cNvSpPr>
          <p:nvPr>
            <p:ph type="title"/>
          </p:nvPr>
        </p:nvSpPr>
        <p:spPr>
          <a:xfrm>
            <a:off x="428336" y="164556"/>
            <a:ext cx="8267700"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Step Response Examples </a:t>
            </a:r>
            <a:r>
              <a:rPr lang="en-US" sz="2800" dirty="0"/>
              <a:t>(10 of 10)</a:t>
            </a:r>
            <a:endParaRPr lang="en-US" dirty="0"/>
          </a:p>
        </p:txBody>
      </p:sp>
      <p:sp>
        <p:nvSpPr>
          <p:cNvPr id="3" name="Content Placeholder 2">
            <a:extLst>
              <a:ext uri="{FF2B5EF4-FFF2-40B4-BE49-F238E27FC236}">
                <a16:creationId xmlns:a16="http://schemas.microsoft.com/office/drawing/2014/main" id="{7A8A549E-65C9-2767-D3F7-0FD46E7CA786}"/>
              </a:ext>
            </a:extLst>
          </p:cNvPr>
          <p:cNvSpPr>
            <a:spLocks noGrp="1"/>
          </p:cNvSpPr>
          <p:nvPr>
            <p:ph sz="quarter" idx="12"/>
          </p:nvPr>
        </p:nvSpPr>
        <p:spPr>
          <a:xfrm>
            <a:off x="428336" y="1462374"/>
            <a:ext cx="1334654" cy="344128"/>
          </a:xfrm>
        </p:spPr>
        <p:txBody>
          <a:bodyPr>
            <a:spAutoFit/>
          </a:bodyPr>
          <a:lstStyle/>
          <a:p>
            <a:pPr marL="0" indent="0">
              <a:buNone/>
            </a:pPr>
            <a:r>
              <a:rPr lang="en-US" altLang="en-US" sz="2000" dirty="0"/>
              <a:t>Find </a:t>
            </a:r>
            <a:r>
              <a:rPr lang="en-US" altLang="en-US" sz="2000" i="1" dirty="0"/>
              <a:t>v(t) </a:t>
            </a:r>
            <a:r>
              <a:rPr lang="en-US" altLang="en-US" sz="2000" dirty="0"/>
              <a:t>for</a:t>
            </a:r>
            <a:endParaRPr lang="en-US" sz="2000" dirty="0"/>
          </a:p>
        </p:txBody>
      </p:sp>
      <p:graphicFrame>
        <p:nvGraphicFramePr>
          <p:cNvPr id="21" name="Object 20" descr="t is greater than or equal to 0.&#10;">
            <a:extLst>
              <a:ext uri="{FF2B5EF4-FFF2-40B4-BE49-F238E27FC236}">
                <a16:creationId xmlns:a16="http://schemas.microsoft.com/office/drawing/2014/main" id="{A3DA9857-3905-71DB-B87B-748BF8B7005B}"/>
              </a:ext>
            </a:extLst>
          </p:cNvPr>
          <p:cNvGraphicFramePr>
            <a:graphicFrameLocks noChangeAspect="1"/>
          </p:cNvGraphicFramePr>
          <p:nvPr>
            <p:extLst>
              <p:ext uri="{D42A27DB-BD31-4B8C-83A1-F6EECF244321}">
                <p14:modId xmlns:p14="http://schemas.microsoft.com/office/powerpoint/2010/main" val="209988394"/>
              </p:ext>
            </p:extLst>
          </p:nvPr>
        </p:nvGraphicFramePr>
        <p:xfrm>
          <a:off x="1807229" y="1511085"/>
          <a:ext cx="639329" cy="301625"/>
        </p:xfrm>
        <a:graphic>
          <a:graphicData uri="http://schemas.openxmlformats.org/presentationml/2006/ole">
            <mc:AlternateContent xmlns:mc="http://schemas.openxmlformats.org/markup-compatibility/2006">
              <mc:Choice xmlns:v="urn:schemas-microsoft-com:vml" Requires="v">
                <p:oleObj name="Equation" r:id="rId3" imgW="342720" imgH="177480" progId="Equation.DSMT4">
                  <p:embed/>
                </p:oleObj>
              </mc:Choice>
              <mc:Fallback>
                <p:oleObj name="Equation" r:id="rId3" imgW="342720" imgH="177480" progId="Equation.DSMT4">
                  <p:embed/>
                  <p:pic>
                    <p:nvPicPr>
                      <p:cNvPr id="21" name="Object 20">
                        <a:extLst>
                          <a:ext uri="{FF2B5EF4-FFF2-40B4-BE49-F238E27FC236}">
                            <a16:creationId xmlns:a16="http://schemas.microsoft.com/office/drawing/2014/main" id="{92E09934-1730-A404-FEB0-082A431B8B29}"/>
                          </a:ext>
                        </a:extLst>
                      </p:cNvPr>
                      <p:cNvPicPr>
                        <a:picLocks noChangeAspect="1" noChangeArrowheads="1"/>
                      </p:cNvPicPr>
                      <p:nvPr/>
                    </p:nvPicPr>
                    <p:blipFill>
                      <a:blip r:embed="rId4"/>
                      <a:srcRect/>
                      <a:stretch>
                        <a:fillRect/>
                      </a:stretch>
                    </p:blipFill>
                    <p:spPr bwMode="auto">
                      <a:xfrm>
                        <a:off x="1807229" y="1511085"/>
                        <a:ext cx="639329" cy="301625"/>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AFC5E0C1-A936-5E09-23DA-A0BF1DED4E5A}"/>
              </a:ext>
            </a:extLst>
          </p:cNvPr>
          <p:cNvSpPr>
            <a:spLocks noGrp="1"/>
          </p:cNvSpPr>
          <p:nvPr>
            <p:ph sz="quarter" idx="13"/>
          </p:nvPr>
        </p:nvSpPr>
        <p:spPr>
          <a:xfrm>
            <a:off x="2492738" y="1459346"/>
            <a:ext cx="1349243" cy="344128"/>
          </a:xfrm>
        </p:spPr>
        <p:txBody>
          <a:bodyPr>
            <a:spAutoFit/>
          </a:bodyPr>
          <a:lstStyle/>
          <a:p>
            <a:pPr marL="0" indent="0">
              <a:spcBef>
                <a:spcPts val="600"/>
              </a:spcBef>
              <a:buNone/>
            </a:pPr>
            <a:r>
              <a:rPr lang="en-US" altLang="en-US" sz="2000" dirty="0"/>
              <a:t>(continued).</a:t>
            </a:r>
          </a:p>
        </p:txBody>
      </p:sp>
      <p:pic>
        <p:nvPicPr>
          <p:cNvPr id="22" name="Picture 2" descr="A circuit diagram shows a voltage source with 90 volt capacity as the leftmost wire in the circuit. The 90 volt source has positive polarity at the top node and negative at the bottom. Connected in parallel to the 90 volt source from left to right are a 0.5 micro farad capacitor with a two way switch at the capacitors upper end both in the same wire, a 60 ohms resistor, and a voltage source of 40 volt capacity. The 40 volt source has negative polarity at the top node and negative at the bottom. A 400 kilo ohm resistor is located in the top wire of the circuit and between the wires for the 90 volt source and the 0.5 micro farad capacitor. A 20 ohm resistor is located in the top wire of the circuit and between the wires for the 40 volt source and the 60 ohm resistor. Voltage v exists across the 0.5 micro farad capacitor with positive polarity at its top end and negative polarity at the bottom. The switch position b connects the 0.5 micro farad capacitor with the 90 volt source when time t is zero. The switch position a connects the 0.5 micro farad capacitor with the 40 volt source before time t is zero.">
            <a:extLst>
              <a:ext uri="{FF2B5EF4-FFF2-40B4-BE49-F238E27FC236}">
                <a16:creationId xmlns:a16="http://schemas.microsoft.com/office/drawing/2014/main" id="{25A528B3-CFBF-B6DF-47A3-F39C3D920F6A}"/>
              </a:ext>
            </a:extLst>
          </p:cNvPr>
          <p:cNvPicPr>
            <a:picLocks noChangeAspect="1" noChangeArrowheads="1"/>
          </p:cNvPicPr>
          <p:nvPr/>
        </p:nvPicPr>
        <p:blipFill>
          <a:blip r:embed="rId5"/>
          <a:stretch>
            <a:fillRect/>
          </a:stretch>
        </p:blipFill>
        <p:spPr bwMode="auto">
          <a:xfrm>
            <a:off x="4797852" y="1438562"/>
            <a:ext cx="3584109" cy="129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3093E6F2-9038-F2C2-9E32-D0DDCB3F3B38}"/>
              </a:ext>
            </a:extLst>
          </p:cNvPr>
          <p:cNvSpPr>
            <a:spLocks noGrp="1"/>
          </p:cNvSpPr>
          <p:nvPr>
            <p:ph sz="quarter" idx="14"/>
          </p:nvPr>
        </p:nvSpPr>
        <p:spPr>
          <a:xfrm>
            <a:off x="428336" y="2838065"/>
            <a:ext cx="3755737" cy="344128"/>
          </a:xfrm>
        </p:spPr>
        <p:txBody>
          <a:bodyPr wrap="square">
            <a:spAutoFit/>
          </a:bodyPr>
          <a:lstStyle/>
          <a:p>
            <a:pPr marL="0" indent="0">
              <a:buNone/>
            </a:pPr>
            <a:r>
              <a:rPr lang="en-US" sz="2000" dirty="0">
                <a:sym typeface="Symbol"/>
              </a:rPr>
              <a:t>Step 4 – Calculate the final value</a:t>
            </a:r>
            <a:endParaRPr lang="en-US" sz="2000" dirty="0"/>
          </a:p>
        </p:txBody>
      </p:sp>
      <p:graphicFrame>
        <p:nvGraphicFramePr>
          <p:cNvPr id="23" name="Object 22" descr="V subscript f.&#10;">
            <a:extLst>
              <a:ext uri="{FF2B5EF4-FFF2-40B4-BE49-F238E27FC236}">
                <a16:creationId xmlns:a16="http://schemas.microsoft.com/office/drawing/2014/main" id="{93A56331-3BEF-84D9-5EB9-AE03A2277F52}"/>
              </a:ext>
            </a:extLst>
          </p:cNvPr>
          <p:cNvGraphicFramePr>
            <a:graphicFrameLocks noChangeAspect="1"/>
          </p:cNvGraphicFramePr>
          <p:nvPr>
            <p:extLst>
              <p:ext uri="{D42A27DB-BD31-4B8C-83A1-F6EECF244321}">
                <p14:modId xmlns:p14="http://schemas.microsoft.com/office/powerpoint/2010/main" val="560579946"/>
              </p:ext>
            </p:extLst>
          </p:nvPr>
        </p:nvGraphicFramePr>
        <p:xfrm>
          <a:off x="4213515" y="2858507"/>
          <a:ext cx="379413" cy="388937"/>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21" name="Object 20">
                        <a:extLst>
                          <a:ext uri="{FF2B5EF4-FFF2-40B4-BE49-F238E27FC236}">
                            <a16:creationId xmlns:a16="http://schemas.microsoft.com/office/drawing/2014/main" id="{A3DA9857-3905-71DB-B87B-748BF8B7005B}"/>
                          </a:ext>
                        </a:extLst>
                      </p:cNvPr>
                      <p:cNvPicPr>
                        <a:picLocks noChangeAspect="1" noChangeArrowheads="1"/>
                      </p:cNvPicPr>
                      <p:nvPr/>
                    </p:nvPicPr>
                    <p:blipFill>
                      <a:blip r:embed="rId7"/>
                      <a:srcRect/>
                      <a:stretch>
                        <a:fillRect/>
                      </a:stretch>
                    </p:blipFill>
                    <p:spPr bwMode="auto">
                      <a:xfrm>
                        <a:off x="4213515" y="2858507"/>
                        <a:ext cx="379413" cy="388937"/>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8A31FAE7-300A-F18C-EFBE-3D9FD80FB2E4}"/>
              </a:ext>
            </a:extLst>
          </p:cNvPr>
          <p:cNvSpPr>
            <a:spLocks noGrp="1"/>
          </p:cNvSpPr>
          <p:nvPr>
            <p:ph sz="quarter" idx="15"/>
          </p:nvPr>
        </p:nvSpPr>
        <p:spPr>
          <a:xfrm>
            <a:off x="428336" y="3331680"/>
            <a:ext cx="344093" cy="344128"/>
          </a:xfrm>
        </p:spPr>
        <p:txBody>
          <a:bodyPr/>
          <a:lstStyle/>
          <a:p>
            <a:pPr marL="0" indent="0">
              <a:buNone/>
            </a:pPr>
            <a:r>
              <a:rPr lang="en-US" altLang="en-US" sz="2000" dirty="0"/>
              <a:t>As</a:t>
            </a:r>
            <a:endParaRPr lang="en-US" sz="2000" dirty="0"/>
          </a:p>
        </p:txBody>
      </p:sp>
      <p:graphicFrame>
        <p:nvGraphicFramePr>
          <p:cNvPr id="24" name="Object 23" descr="t right arrow, infinity">
            <a:extLst>
              <a:ext uri="{FF2B5EF4-FFF2-40B4-BE49-F238E27FC236}">
                <a16:creationId xmlns:a16="http://schemas.microsoft.com/office/drawing/2014/main" id="{2B811A21-509A-49DF-3A58-736BC4BBF6E1}"/>
              </a:ext>
            </a:extLst>
          </p:cNvPr>
          <p:cNvGraphicFramePr>
            <a:graphicFrameLocks noChangeAspect="1"/>
          </p:cNvGraphicFramePr>
          <p:nvPr>
            <p:extLst>
              <p:ext uri="{D42A27DB-BD31-4B8C-83A1-F6EECF244321}">
                <p14:modId xmlns:p14="http://schemas.microsoft.com/office/powerpoint/2010/main" val="3070059354"/>
              </p:ext>
            </p:extLst>
          </p:nvPr>
        </p:nvGraphicFramePr>
        <p:xfrm>
          <a:off x="790901" y="3360721"/>
          <a:ext cx="806450" cy="303213"/>
        </p:xfrm>
        <a:graphic>
          <a:graphicData uri="http://schemas.openxmlformats.org/presentationml/2006/ole">
            <mc:AlternateContent xmlns:mc="http://schemas.openxmlformats.org/markup-compatibility/2006">
              <mc:Choice xmlns:v="urn:schemas-microsoft-com:vml" Requires="v">
                <p:oleObj name="Equation" r:id="rId8" imgW="431640" imgH="177480" progId="Equation.DSMT4">
                  <p:embed/>
                </p:oleObj>
              </mc:Choice>
              <mc:Fallback>
                <p:oleObj name="Equation" r:id="rId8" imgW="431640" imgH="177480" progId="Equation.DSMT4">
                  <p:embed/>
                  <p:pic>
                    <p:nvPicPr>
                      <p:cNvPr id="23" name="Object 22">
                        <a:extLst>
                          <a:ext uri="{FF2B5EF4-FFF2-40B4-BE49-F238E27FC236}">
                            <a16:creationId xmlns:a16="http://schemas.microsoft.com/office/drawing/2014/main" id="{93A56331-3BEF-84D9-5EB9-AE03A2277F52}"/>
                          </a:ext>
                        </a:extLst>
                      </p:cNvPr>
                      <p:cNvPicPr>
                        <a:picLocks noChangeAspect="1" noChangeArrowheads="1"/>
                      </p:cNvPicPr>
                      <p:nvPr/>
                    </p:nvPicPr>
                    <p:blipFill>
                      <a:blip r:embed="rId9"/>
                      <a:srcRect/>
                      <a:stretch>
                        <a:fillRect/>
                      </a:stretch>
                    </p:blipFill>
                    <p:spPr bwMode="auto">
                      <a:xfrm>
                        <a:off x="790901" y="3360721"/>
                        <a:ext cx="806450" cy="303213"/>
                      </a:xfrm>
                      <a:prstGeom prst="rect">
                        <a:avLst/>
                      </a:prstGeom>
                      <a:noFill/>
                      <a:ln>
                        <a:noFill/>
                      </a:ln>
                    </p:spPr>
                  </p:pic>
                </p:oleObj>
              </mc:Fallback>
            </mc:AlternateContent>
          </a:graphicData>
        </a:graphic>
      </p:graphicFrame>
      <p:pic>
        <p:nvPicPr>
          <p:cNvPr id="25" name="Picture 6" descr="A circuit diagram shows a source with 90 volt capacity as the left wire in the circuit. The 90 volt source has positive polarity at the top node and negative at the bottom. The right wire has a 0.5 micro farad capacitor with voltage V subscript f. The V subscript f has positive polarity at the top node and negative at the bottom. Symbol b represents the top wire between the left and right wires in the circuit. A 400 kilo ohm resistor is located in the top wire b. ">
            <a:extLst>
              <a:ext uri="{FF2B5EF4-FFF2-40B4-BE49-F238E27FC236}">
                <a16:creationId xmlns:a16="http://schemas.microsoft.com/office/drawing/2014/main" id="{97326FA6-D0F3-1784-E358-E766DB05D5B3}"/>
              </a:ext>
            </a:extLst>
          </p:cNvPr>
          <p:cNvPicPr>
            <a:picLocks noChangeAspect="1" noChangeArrowheads="1"/>
          </p:cNvPicPr>
          <p:nvPr/>
        </p:nvPicPr>
        <p:blipFill>
          <a:blip r:embed="rId10"/>
          <a:stretch>
            <a:fillRect/>
          </a:stretch>
        </p:blipFill>
        <p:spPr bwMode="auto">
          <a:xfrm>
            <a:off x="2359511" y="3321480"/>
            <a:ext cx="2481635" cy="13730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 name="Object 25" descr="V subscript f baseline equals 90 V.&#10;">
            <a:extLst>
              <a:ext uri="{FF2B5EF4-FFF2-40B4-BE49-F238E27FC236}">
                <a16:creationId xmlns:a16="http://schemas.microsoft.com/office/drawing/2014/main" id="{6C7E067C-60B0-E644-72A7-24C54D564C63}"/>
              </a:ext>
            </a:extLst>
          </p:cNvPr>
          <p:cNvGraphicFramePr>
            <a:graphicFrameLocks noChangeAspect="1"/>
          </p:cNvGraphicFramePr>
          <p:nvPr>
            <p:extLst>
              <p:ext uri="{D42A27DB-BD31-4B8C-83A1-F6EECF244321}">
                <p14:modId xmlns:p14="http://schemas.microsoft.com/office/powerpoint/2010/main" val="2328110490"/>
              </p:ext>
            </p:extLst>
          </p:nvPr>
        </p:nvGraphicFramePr>
        <p:xfrm>
          <a:off x="6035675" y="3794125"/>
          <a:ext cx="1079500" cy="384175"/>
        </p:xfrm>
        <a:graphic>
          <a:graphicData uri="http://schemas.openxmlformats.org/presentationml/2006/ole">
            <mc:AlternateContent xmlns:mc="http://schemas.openxmlformats.org/markup-compatibility/2006">
              <mc:Choice xmlns:v="urn:schemas-microsoft-com:vml" Requires="v">
                <p:oleObj name="Equation" r:id="rId11" imgW="749160" imgH="266400" progId="Equation.DSMT4">
                  <p:embed/>
                </p:oleObj>
              </mc:Choice>
              <mc:Fallback>
                <p:oleObj name="Equation" r:id="rId11" imgW="749160" imgH="266400" progId="Equation.DSMT4">
                  <p:embed/>
                  <p:pic>
                    <p:nvPicPr>
                      <p:cNvPr id="8" name="Object 7"/>
                      <p:cNvPicPr>
                        <a:picLocks noChangeAspect="1" noChangeArrowheads="1"/>
                      </p:cNvPicPr>
                      <p:nvPr/>
                    </p:nvPicPr>
                    <p:blipFill>
                      <a:blip r:embed="rId12"/>
                      <a:srcRect/>
                      <a:stretch>
                        <a:fillRect/>
                      </a:stretch>
                    </p:blipFill>
                    <p:spPr bwMode="auto">
                      <a:xfrm>
                        <a:off x="6035675" y="3794125"/>
                        <a:ext cx="1079500" cy="384175"/>
                      </a:xfrm>
                      <a:prstGeom prst="rect">
                        <a:avLst/>
                      </a:prstGeom>
                      <a:noFill/>
                      <a:ln>
                        <a:noFill/>
                      </a:ln>
                    </p:spPr>
                  </p:pic>
                </p:oleObj>
              </mc:Fallback>
            </mc:AlternateContent>
          </a:graphicData>
        </a:graphic>
      </p:graphicFrame>
      <p:sp>
        <p:nvSpPr>
          <p:cNvPr id="7" name="Content Placeholder 6">
            <a:extLst>
              <a:ext uri="{FF2B5EF4-FFF2-40B4-BE49-F238E27FC236}">
                <a16:creationId xmlns:a16="http://schemas.microsoft.com/office/drawing/2014/main" id="{66A479F2-DF55-1403-5D5E-98931AF97503}"/>
              </a:ext>
            </a:extLst>
          </p:cNvPr>
          <p:cNvSpPr>
            <a:spLocks noGrp="1"/>
          </p:cNvSpPr>
          <p:nvPr>
            <p:ph sz="quarter" idx="16"/>
          </p:nvPr>
        </p:nvSpPr>
        <p:spPr>
          <a:xfrm>
            <a:off x="425997" y="4815360"/>
            <a:ext cx="3993207" cy="344128"/>
          </a:xfrm>
        </p:spPr>
        <p:txBody>
          <a:bodyPr wrap="square">
            <a:spAutoFit/>
          </a:bodyPr>
          <a:lstStyle/>
          <a:p>
            <a:pPr marL="0" indent="0">
              <a:buNone/>
              <a:defRPr/>
            </a:pPr>
            <a:r>
              <a:rPr lang="en-US" sz="2000" dirty="0">
                <a:sym typeface="Symbol"/>
              </a:rPr>
              <a:t>Step 5 – Write the equation for </a:t>
            </a:r>
            <a:r>
              <a:rPr lang="en-US" sz="2000" i="1" dirty="0">
                <a:sym typeface="Symbol"/>
              </a:rPr>
              <a:t>v</a:t>
            </a:r>
            <a:r>
              <a:rPr lang="en-US" sz="2000" dirty="0">
                <a:sym typeface="Symbol"/>
              </a:rPr>
              <a:t>(</a:t>
            </a:r>
            <a:r>
              <a:rPr lang="en-US" sz="2000" i="1" dirty="0">
                <a:sym typeface="Symbol"/>
              </a:rPr>
              <a:t>t</a:t>
            </a:r>
            <a:r>
              <a:rPr lang="en-US" sz="2000" dirty="0">
                <a:sym typeface="Symbol"/>
              </a:rPr>
              <a:t>).</a:t>
            </a:r>
            <a:endParaRPr lang="en-US" altLang="en-US" sz="2000" i="1" dirty="0"/>
          </a:p>
        </p:txBody>
      </p:sp>
      <p:graphicFrame>
        <p:nvGraphicFramePr>
          <p:cNvPr id="27" name="Object 26" descr="The figure illustrates the expression for v (t).&#10;Long description is available in notes, press F6.">
            <a:extLst>
              <a:ext uri="{FF2B5EF4-FFF2-40B4-BE49-F238E27FC236}">
                <a16:creationId xmlns:a16="http://schemas.microsoft.com/office/drawing/2014/main" id="{8E443AE4-D54C-308F-5A43-52B07B151C08}"/>
              </a:ext>
            </a:extLst>
          </p:cNvPr>
          <p:cNvGraphicFramePr>
            <a:graphicFrameLocks noChangeAspect="1"/>
          </p:cNvGraphicFramePr>
          <p:nvPr>
            <p:extLst>
              <p:ext uri="{D42A27DB-BD31-4B8C-83A1-F6EECF244321}">
                <p14:modId xmlns:p14="http://schemas.microsoft.com/office/powerpoint/2010/main" val="3375011687"/>
              </p:ext>
            </p:extLst>
          </p:nvPr>
        </p:nvGraphicFramePr>
        <p:xfrm>
          <a:off x="1296843" y="5269062"/>
          <a:ext cx="4267200" cy="349250"/>
        </p:xfrm>
        <a:graphic>
          <a:graphicData uri="http://schemas.openxmlformats.org/presentationml/2006/ole">
            <mc:AlternateContent xmlns:mc="http://schemas.openxmlformats.org/markup-compatibility/2006">
              <mc:Choice xmlns:v="urn:schemas-microsoft-com:vml" Requires="v">
                <p:oleObj name="Equation" r:id="rId13" imgW="2958840" imgH="241200" progId="Equation.DSMT4">
                  <p:embed/>
                </p:oleObj>
              </mc:Choice>
              <mc:Fallback>
                <p:oleObj name="Equation" r:id="rId13" imgW="2958840" imgH="241200" progId="Equation.DSMT4">
                  <p:embed/>
                  <p:pic>
                    <p:nvPicPr>
                      <p:cNvPr id="26" name="Object 25">
                        <a:extLst>
                          <a:ext uri="{FF2B5EF4-FFF2-40B4-BE49-F238E27FC236}">
                            <a16:creationId xmlns:a16="http://schemas.microsoft.com/office/drawing/2014/main" id="{6C7E067C-60B0-E644-72A7-24C54D564C63}"/>
                          </a:ext>
                        </a:extLst>
                      </p:cNvPr>
                      <p:cNvPicPr>
                        <a:picLocks noChangeAspect="1" noChangeArrowheads="1"/>
                      </p:cNvPicPr>
                      <p:nvPr/>
                    </p:nvPicPr>
                    <p:blipFill>
                      <a:blip r:embed="rId14"/>
                      <a:srcRect/>
                      <a:stretch>
                        <a:fillRect/>
                      </a:stretch>
                    </p:blipFill>
                    <p:spPr bwMode="auto">
                      <a:xfrm>
                        <a:off x="1296843" y="5269062"/>
                        <a:ext cx="4267200" cy="349250"/>
                      </a:xfrm>
                      <a:prstGeom prst="rect">
                        <a:avLst/>
                      </a:prstGeom>
                      <a:noFill/>
                      <a:ln>
                        <a:noFill/>
                      </a:ln>
                    </p:spPr>
                  </p:pic>
                </p:oleObj>
              </mc:Fallback>
            </mc:AlternateContent>
          </a:graphicData>
        </a:graphic>
      </p:graphicFrame>
      <p:graphicFrame>
        <p:nvGraphicFramePr>
          <p:cNvPr id="28" name="Object 27" descr="equals 90 minus 120 e to the negative 5 t power Volt comma t is greater than or equal to 0. open parenthesis check at t equals 0 and t right arrow infinity close parenthesis">
            <a:extLst>
              <a:ext uri="{FF2B5EF4-FFF2-40B4-BE49-F238E27FC236}">
                <a16:creationId xmlns:a16="http://schemas.microsoft.com/office/drawing/2014/main" id="{62242232-33B2-8F98-3E78-768640B5102F}"/>
              </a:ext>
            </a:extLst>
          </p:cNvPr>
          <p:cNvGraphicFramePr>
            <a:graphicFrameLocks noChangeAspect="1"/>
          </p:cNvGraphicFramePr>
          <p:nvPr>
            <p:extLst>
              <p:ext uri="{D42A27DB-BD31-4B8C-83A1-F6EECF244321}">
                <p14:modId xmlns:p14="http://schemas.microsoft.com/office/powerpoint/2010/main" val="3380211027"/>
              </p:ext>
            </p:extLst>
          </p:nvPr>
        </p:nvGraphicFramePr>
        <p:xfrm>
          <a:off x="1706532" y="5753546"/>
          <a:ext cx="5273675" cy="328612"/>
        </p:xfrm>
        <a:graphic>
          <a:graphicData uri="http://schemas.openxmlformats.org/presentationml/2006/ole">
            <mc:AlternateContent xmlns:mc="http://schemas.openxmlformats.org/markup-compatibility/2006">
              <mc:Choice xmlns:v="urn:schemas-microsoft-com:vml" Requires="v">
                <p:oleObj name="Equation" r:id="rId15" imgW="3657600" imgH="228600" progId="Equation.DSMT4">
                  <p:embed/>
                </p:oleObj>
              </mc:Choice>
              <mc:Fallback>
                <p:oleObj name="Equation" r:id="rId15" imgW="3657600" imgH="228600" progId="Equation.DSMT4">
                  <p:embed/>
                  <p:pic>
                    <p:nvPicPr>
                      <p:cNvPr id="27" name="Object 26">
                        <a:extLst>
                          <a:ext uri="{FF2B5EF4-FFF2-40B4-BE49-F238E27FC236}">
                            <a16:creationId xmlns:a16="http://schemas.microsoft.com/office/drawing/2014/main" id="{8E443AE4-D54C-308F-5A43-52B07B151C08}"/>
                          </a:ext>
                        </a:extLst>
                      </p:cNvPr>
                      <p:cNvPicPr>
                        <a:picLocks noChangeAspect="1" noChangeArrowheads="1"/>
                      </p:cNvPicPr>
                      <p:nvPr/>
                    </p:nvPicPr>
                    <p:blipFill>
                      <a:blip r:embed="rId16"/>
                      <a:srcRect/>
                      <a:stretch>
                        <a:fillRect/>
                      </a:stretch>
                    </p:blipFill>
                    <p:spPr bwMode="auto">
                      <a:xfrm>
                        <a:off x="1706532" y="5753546"/>
                        <a:ext cx="5273675" cy="3286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01659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C7B33-DD37-6DCF-F161-AECB0E7DA8B2}"/>
              </a:ext>
            </a:extLst>
          </p:cNvPr>
          <p:cNvSpPr>
            <a:spLocks noGrp="1"/>
          </p:cNvSpPr>
          <p:nvPr>
            <p:ph type="title"/>
          </p:nvPr>
        </p:nvSpPr>
        <p:spPr>
          <a:xfrm>
            <a:off x="428065" y="161845"/>
            <a:ext cx="8247623" cy="1144347"/>
          </a:xfrm>
        </p:spPr>
        <p:txBody>
          <a:bodyPr>
            <a:spAutoFit/>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Natural and Step Response </a:t>
            </a:r>
            <a:r>
              <a:rPr lang="en-US" sz="2800" dirty="0"/>
              <a:t>(1 of 2)</a:t>
            </a:r>
          </a:p>
        </p:txBody>
      </p:sp>
      <p:sp>
        <p:nvSpPr>
          <p:cNvPr id="3" name="Content Placeholder 2">
            <a:extLst>
              <a:ext uri="{FF2B5EF4-FFF2-40B4-BE49-F238E27FC236}">
                <a16:creationId xmlns:a16="http://schemas.microsoft.com/office/drawing/2014/main" id="{8DD985BC-59AE-703C-2817-407D7B7C9F10}"/>
              </a:ext>
            </a:extLst>
          </p:cNvPr>
          <p:cNvSpPr>
            <a:spLocks noGrp="1"/>
          </p:cNvSpPr>
          <p:nvPr>
            <p:ph sz="quarter" idx="12"/>
          </p:nvPr>
        </p:nvSpPr>
        <p:spPr>
          <a:xfrm>
            <a:off x="428064" y="1528972"/>
            <a:ext cx="8247623" cy="590349"/>
          </a:xfrm>
        </p:spPr>
        <p:txBody>
          <a:bodyPr wrap="square">
            <a:spAutoFit/>
          </a:bodyPr>
          <a:lstStyle/>
          <a:p>
            <a:pPr marL="0" indent="0">
              <a:buNone/>
            </a:pPr>
            <a:r>
              <a:rPr lang="en-US" sz="1800" dirty="0"/>
              <a:t>This is a general solution method for both the natural and step responses of first-order circuits. A circuit exhibiting a natural response has no independent source</a:t>
            </a:r>
          </a:p>
        </p:txBody>
      </p:sp>
      <p:sp>
        <p:nvSpPr>
          <p:cNvPr id="4" name="Content Placeholder 3">
            <a:extLst>
              <a:ext uri="{FF2B5EF4-FFF2-40B4-BE49-F238E27FC236}">
                <a16:creationId xmlns:a16="http://schemas.microsoft.com/office/drawing/2014/main" id="{F2DB6AAA-0038-FFEA-66FE-ED4B3762CC50}"/>
              </a:ext>
            </a:extLst>
          </p:cNvPr>
          <p:cNvSpPr>
            <a:spLocks noGrp="1"/>
          </p:cNvSpPr>
          <p:nvPr>
            <p:ph sz="quarter" idx="13"/>
          </p:nvPr>
        </p:nvSpPr>
        <p:spPr>
          <a:xfrm>
            <a:off x="428065" y="2173162"/>
            <a:ext cx="278912" cy="313350"/>
          </a:xfrm>
        </p:spPr>
        <p:txBody>
          <a:bodyPr wrap="square">
            <a:spAutoFit/>
          </a:bodyPr>
          <a:lstStyle/>
          <a:p>
            <a:pPr marL="0" indent="0">
              <a:buNone/>
            </a:pPr>
            <a:r>
              <a:rPr lang="en-US" sz="1800" dirty="0"/>
              <a:t>as</a:t>
            </a:r>
          </a:p>
        </p:txBody>
      </p:sp>
      <p:graphicFrame>
        <p:nvGraphicFramePr>
          <p:cNvPr id="21" name="Object 20" descr="t right arrow, infinity,">
            <a:extLst>
              <a:ext uri="{FF2B5EF4-FFF2-40B4-BE49-F238E27FC236}">
                <a16:creationId xmlns:a16="http://schemas.microsoft.com/office/drawing/2014/main" id="{87328832-16B1-F6CE-1A90-350456D878F1}"/>
              </a:ext>
            </a:extLst>
          </p:cNvPr>
          <p:cNvGraphicFramePr>
            <a:graphicFrameLocks noChangeAspect="1"/>
          </p:cNvGraphicFramePr>
          <p:nvPr>
            <p:extLst>
              <p:ext uri="{D42A27DB-BD31-4B8C-83A1-F6EECF244321}">
                <p14:modId xmlns:p14="http://schemas.microsoft.com/office/powerpoint/2010/main" val="4149275160"/>
              </p:ext>
            </p:extLst>
          </p:nvPr>
        </p:nvGraphicFramePr>
        <p:xfrm>
          <a:off x="725488" y="2189163"/>
          <a:ext cx="854075" cy="323850"/>
        </p:xfrm>
        <a:graphic>
          <a:graphicData uri="http://schemas.openxmlformats.org/presentationml/2006/ole">
            <mc:AlternateContent xmlns:mc="http://schemas.openxmlformats.org/markup-compatibility/2006">
              <mc:Choice xmlns:v="urn:schemas-microsoft-com:vml" Requires="v">
                <p:oleObj name="Equation" r:id="rId2" imgW="457200" imgH="190440" progId="Equation.DSMT4">
                  <p:embed/>
                </p:oleObj>
              </mc:Choice>
              <mc:Fallback>
                <p:oleObj name="Equation" r:id="rId2" imgW="457200" imgH="190440" progId="Equation.DSMT4">
                  <p:embed/>
                  <p:pic>
                    <p:nvPicPr>
                      <p:cNvPr id="21" name="Object 20">
                        <a:extLst>
                          <a:ext uri="{FF2B5EF4-FFF2-40B4-BE49-F238E27FC236}">
                            <a16:creationId xmlns:a16="http://schemas.microsoft.com/office/drawing/2014/main" id="{92E09934-1730-A404-FEB0-082A431B8B29}"/>
                          </a:ext>
                        </a:extLst>
                      </p:cNvPr>
                      <p:cNvPicPr>
                        <a:picLocks noChangeAspect="1" noChangeArrowheads="1"/>
                      </p:cNvPicPr>
                      <p:nvPr/>
                    </p:nvPicPr>
                    <p:blipFill>
                      <a:blip r:embed="rId3"/>
                      <a:srcRect/>
                      <a:stretch>
                        <a:fillRect/>
                      </a:stretch>
                    </p:blipFill>
                    <p:spPr bwMode="auto">
                      <a:xfrm>
                        <a:off x="725488" y="2189163"/>
                        <a:ext cx="854075" cy="32385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2F8F3A56-5342-ECD5-1572-098D3F81A941}"/>
              </a:ext>
            </a:extLst>
          </p:cNvPr>
          <p:cNvSpPr>
            <a:spLocks noGrp="1"/>
          </p:cNvSpPr>
          <p:nvPr>
            <p:ph sz="quarter" idx="14"/>
          </p:nvPr>
        </p:nvSpPr>
        <p:spPr>
          <a:xfrm>
            <a:off x="1609422" y="2181733"/>
            <a:ext cx="1652691" cy="313350"/>
          </a:xfrm>
        </p:spPr>
        <p:txBody>
          <a:bodyPr wrap="square">
            <a:spAutoFit/>
          </a:bodyPr>
          <a:lstStyle/>
          <a:p>
            <a:pPr marL="0" indent="0">
              <a:buNone/>
            </a:pPr>
            <a:r>
              <a:rPr lang="en-US" sz="1800" dirty="0">
                <a:sym typeface="Symbol"/>
              </a:rPr>
              <a:t>so its final value</a:t>
            </a:r>
            <a:endParaRPr lang="en-US" sz="1800" dirty="0"/>
          </a:p>
        </p:txBody>
      </p:sp>
      <p:graphicFrame>
        <p:nvGraphicFramePr>
          <p:cNvPr id="22" name="Object 21" descr="X subscript f baseline equals 0.&#10;">
            <a:extLst>
              <a:ext uri="{FF2B5EF4-FFF2-40B4-BE49-F238E27FC236}">
                <a16:creationId xmlns:a16="http://schemas.microsoft.com/office/drawing/2014/main" id="{8B162DB8-E3E7-CDB9-439F-4D2BEBC9F24C}"/>
              </a:ext>
            </a:extLst>
          </p:cNvPr>
          <p:cNvGraphicFramePr>
            <a:graphicFrameLocks noChangeAspect="1"/>
          </p:cNvGraphicFramePr>
          <p:nvPr>
            <p:extLst>
              <p:ext uri="{D42A27DB-BD31-4B8C-83A1-F6EECF244321}">
                <p14:modId xmlns:p14="http://schemas.microsoft.com/office/powerpoint/2010/main" val="2040084148"/>
              </p:ext>
            </p:extLst>
          </p:nvPr>
        </p:nvGraphicFramePr>
        <p:xfrm>
          <a:off x="3271457" y="2189787"/>
          <a:ext cx="839932" cy="353579"/>
        </p:xfrm>
        <a:graphic>
          <a:graphicData uri="http://schemas.openxmlformats.org/presentationml/2006/ole">
            <mc:AlternateContent xmlns:mc="http://schemas.openxmlformats.org/markup-compatibility/2006">
              <mc:Choice xmlns:v="urn:schemas-microsoft-com:vml" Requires="v">
                <p:oleObj name="Equation" r:id="rId4" imgW="495000" imgH="228600" progId="Equation.DSMT4">
                  <p:embed/>
                </p:oleObj>
              </mc:Choice>
              <mc:Fallback>
                <p:oleObj name="Equation" r:id="rId4" imgW="495000" imgH="228600" progId="Equation.DSMT4">
                  <p:embed/>
                  <p:pic>
                    <p:nvPicPr>
                      <p:cNvPr id="21" name="Object 20">
                        <a:extLst>
                          <a:ext uri="{FF2B5EF4-FFF2-40B4-BE49-F238E27FC236}">
                            <a16:creationId xmlns:a16="http://schemas.microsoft.com/office/drawing/2014/main" id="{87328832-16B1-F6CE-1A90-350456D878F1}"/>
                          </a:ext>
                        </a:extLst>
                      </p:cNvPr>
                      <p:cNvPicPr>
                        <a:picLocks noChangeAspect="1" noChangeArrowheads="1"/>
                      </p:cNvPicPr>
                      <p:nvPr/>
                    </p:nvPicPr>
                    <p:blipFill>
                      <a:blip r:embed="rId5"/>
                      <a:srcRect/>
                      <a:stretch>
                        <a:fillRect/>
                      </a:stretch>
                    </p:blipFill>
                    <p:spPr bwMode="auto">
                      <a:xfrm>
                        <a:off x="3271457" y="2189787"/>
                        <a:ext cx="839932" cy="353579"/>
                      </a:xfrm>
                      <a:prstGeom prst="rect">
                        <a:avLst/>
                      </a:prstGeom>
                      <a:noFill/>
                      <a:ln>
                        <a:noFill/>
                      </a:ln>
                    </p:spPr>
                  </p:pic>
                </p:oleObj>
              </mc:Fallback>
            </mc:AlternateContent>
          </a:graphicData>
        </a:graphic>
      </p:graphicFrame>
      <p:sp>
        <p:nvSpPr>
          <p:cNvPr id="6" name="Content Placeholder 5">
            <a:extLst>
              <a:ext uri="{FF2B5EF4-FFF2-40B4-BE49-F238E27FC236}">
                <a16:creationId xmlns:a16="http://schemas.microsoft.com/office/drawing/2014/main" id="{5EBF58BE-06DD-E619-01F6-EE32A306CB38}"/>
              </a:ext>
            </a:extLst>
          </p:cNvPr>
          <p:cNvSpPr>
            <a:spLocks noGrp="1"/>
          </p:cNvSpPr>
          <p:nvPr>
            <p:ph sz="quarter" idx="15"/>
          </p:nvPr>
        </p:nvSpPr>
        <p:spPr>
          <a:xfrm>
            <a:off x="434661" y="2598086"/>
            <a:ext cx="8241026" cy="590349"/>
          </a:xfrm>
        </p:spPr>
        <p:txBody>
          <a:bodyPr>
            <a:spAutoFit/>
          </a:bodyPr>
          <a:lstStyle/>
          <a:p>
            <a:pPr marL="0" indent="0">
              <a:buNone/>
            </a:pPr>
            <a:r>
              <a:rPr lang="en-US" sz="1800" dirty="0"/>
              <a:t>Step 1 – Identify the variable </a:t>
            </a:r>
            <a:r>
              <a:rPr lang="en-US" sz="1800" i="1" dirty="0"/>
              <a:t>x</a:t>
            </a:r>
            <a:r>
              <a:rPr lang="en-US" sz="1800" dirty="0"/>
              <a:t>(</a:t>
            </a:r>
            <a:r>
              <a:rPr lang="en-US" sz="1800" i="1" dirty="0"/>
              <a:t>t</a:t>
            </a:r>
            <a:r>
              <a:rPr lang="en-US" sz="1800" dirty="0"/>
              <a:t>), which is the inductor current for </a:t>
            </a:r>
            <a:r>
              <a:rPr lang="en-US" sz="1800" i="1" spc="-200" dirty="0"/>
              <a:t>R </a:t>
            </a:r>
            <a:r>
              <a:rPr lang="en-US" sz="1800" i="1" dirty="0"/>
              <a:t>L</a:t>
            </a:r>
            <a:r>
              <a:rPr lang="en-US" sz="1800" dirty="0"/>
              <a:t> circuits and capacitor voltage for </a:t>
            </a:r>
            <a:r>
              <a:rPr lang="en-US" sz="1800" i="1" spc="-200" dirty="0"/>
              <a:t>R </a:t>
            </a:r>
            <a:r>
              <a:rPr lang="en-US" sz="1800" i="1" dirty="0"/>
              <a:t>C</a:t>
            </a:r>
            <a:r>
              <a:rPr lang="en-US" sz="1800" dirty="0"/>
              <a:t> circuits.</a:t>
            </a:r>
          </a:p>
        </p:txBody>
      </p:sp>
      <p:sp>
        <p:nvSpPr>
          <p:cNvPr id="7" name="Content Placeholder 6">
            <a:extLst>
              <a:ext uri="{FF2B5EF4-FFF2-40B4-BE49-F238E27FC236}">
                <a16:creationId xmlns:a16="http://schemas.microsoft.com/office/drawing/2014/main" id="{580B4E6F-4E1D-E25C-DDBB-565506287D65}"/>
              </a:ext>
            </a:extLst>
          </p:cNvPr>
          <p:cNvSpPr>
            <a:spLocks noGrp="1"/>
          </p:cNvSpPr>
          <p:nvPr>
            <p:ph sz="quarter" idx="16"/>
          </p:nvPr>
        </p:nvSpPr>
        <p:spPr>
          <a:xfrm>
            <a:off x="428346" y="3291438"/>
            <a:ext cx="3452417" cy="313350"/>
          </a:xfrm>
        </p:spPr>
        <p:txBody>
          <a:bodyPr>
            <a:spAutoFit/>
          </a:bodyPr>
          <a:lstStyle/>
          <a:p>
            <a:pPr marL="0" indent="0">
              <a:buNone/>
            </a:pPr>
            <a:r>
              <a:rPr lang="en-US" sz="1800" dirty="0"/>
              <a:t>Step 2 – Calculate the initial value</a:t>
            </a:r>
          </a:p>
        </p:txBody>
      </p:sp>
      <p:graphicFrame>
        <p:nvGraphicFramePr>
          <p:cNvPr id="23" name="Object 22" descr="x subscript 0">
            <a:extLst>
              <a:ext uri="{FF2B5EF4-FFF2-40B4-BE49-F238E27FC236}">
                <a16:creationId xmlns:a16="http://schemas.microsoft.com/office/drawing/2014/main" id="{D3759FB6-A162-5A92-5F72-2FE5E4EC6B1E}"/>
              </a:ext>
            </a:extLst>
          </p:cNvPr>
          <p:cNvGraphicFramePr>
            <a:graphicFrameLocks noChangeAspect="1"/>
          </p:cNvGraphicFramePr>
          <p:nvPr>
            <p:extLst>
              <p:ext uri="{D42A27DB-BD31-4B8C-83A1-F6EECF244321}">
                <p14:modId xmlns:p14="http://schemas.microsoft.com/office/powerpoint/2010/main" val="3077427531"/>
              </p:ext>
            </p:extLst>
          </p:nvPr>
        </p:nvGraphicFramePr>
        <p:xfrm>
          <a:off x="3924327" y="3327528"/>
          <a:ext cx="333375" cy="320386"/>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22" name="Object 21">
                        <a:extLst>
                          <a:ext uri="{FF2B5EF4-FFF2-40B4-BE49-F238E27FC236}">
                            <a16:creationId xmlns:a16="http://schemas.microsoft.com/office/drawing/2014/main" id="{8B162DB8-E3E7-CDB9-439F-4D2BEBC9F24C}"/>
                          </a:ext>
                        </a:extLst>
                      </p:cNvPr>
                      <p:cNvPicPr>
                        <a:picLocks noChangeAspect="1" noChangeArrowheads="1"/>
                      </p:cNvPicPr>
                      <p:nvPr/>
                    </p:nvPicPr>
                    <p:blipFill>
                      <a:blip r:embed="rId7"/>
                      <a:srcRect/>
                      <a:stretch>
                        <a:fillRect/>
                      </a:stretch>
                    </p:blipFill>
                    <p:spPr bwMode="auto">
                      <a:xfrm>
                        <a:off x="3924327" y="3327528"/>
                        <a:ext cx="333375" cy="320386"/>
                      </a:xfrm>
                      <a:prstGeom prst="rect">
                        <a:avLst/>
                      </a:prstGeom>
                      <a:noFill/>
                      <a:ln>
                        <a:noFill/>
                      </a:ln>
                    </p:spPr>
                  </p:pic>
                </p:oleObj>
              </mc:Fallback>
            </mc:AlternateContent>
          </a:graphicData>
        </a:graphic>
      </p:graphicFrame>
      <p:sp>
        <p:nvSpPr>
          <p:cNvPr id="8" name="Content Placeholder 7">
            <a:extLst>
              <a:ext uri="{FF2B5EF4-FFF2-40B4-BE49-F238E27FC236}">
                <a16:creationId xmlns:a16="http://schemas.microsoft.com/office/drawing/2014/main" id="{D39401E1-DE9F-2CA3-4D42-DBF86FF34D60}"/>
              </a:ext>
            </a:extLst>
          </p:cNvPr>
          <p:cNvSpPr>
            <a:spLocks noGrp="1"/>
          </p:cNvSpPr>
          <p:nvPr>
            <p:ph sz="quarter" idx="17"/>
          </p:nvPr>
        </p:nvSpPr>
        <p:spPr>
          <a:xfrm>
            <a:off x="4301266" y="3292569"/>
            <a:ext cx="3740265" cy="313350"/>
          </a:xfrm>
        </p:spPr>
        <p:txBody>
          <a:bodyPr wrap="square">
            <a:spAutoFit/>
          </a:bodyPr>
          <a:lstStyle/>
          <a:p>
            <a:pPr marL="0" indent="0">
              <a:buNone/>
            </a:pPr>
            <a:r>
              <a:rPr lang="en-US" sz="1800" dirty="0"/>
              <a:t>by analyzing the circuit to find </a:t>
            </a:r>
            <a:r>
              <a:rPr lang="en-US" sz="1800" i="1" dirty="0"/>
              <a:t>x</a:t>
            </a:r>
            <a:r>
              <a:rPr lang="en-US" sz="1800" dirty="0"/>
              <a:t>(</a:t>
            </a:r>
            <a:r>
              <a:rPr lang="en-US" sz="1800" i="1" dirty="0"/>
              <a:t>t</a:t>
            </a:r>
            <a:r>
              <a:rPr lang="en-US" sz="1800" dirty="0"/>
              <a:t>) for</a:t>
            </a:r>
          </a:p>
        </p:txBody>
      </p:sp>
      <p:graphicFrame>
        <p:nvGraphicFramePr>
          <p:cNvPr id="24" name="Object 23" descr="t less than 0.">
            <a:extLst>
              <a:ext uri="{FF2B5EF4-FFF2-40B4-BE49-F238E27FC236}">
                <a16:creationId xmlns:a16="http://schemas.microsoft.com/office/drawing/2014/main" id="{78241E89-66E4-2BAB-35C0-F82B7EBD5098}"/>
              </a:ext>
            </a:extLst>
          </p:cNvPr>
          <p:cNvGraphicFramePr>
            <a:graphicFrameLocks noChangeAspect="1"/>
          </p:cNvGraphicFramePr>
          <p:nvPr>
            <p:extLst>
              <p:ext uri="{D42A27DB-BD31-4B8C-83A1-F6EECF244321}">
                <p14:modId xmlns:p14="http://schemas.microsoft.com/office/powerpoint/2010/main" val="2973642074"/>
              </p:ext>
            </p:extLst>
          </p:nvPr>
        </p:nvGraphicFramePr>
        <p:xfrm>
          <a:off x="461539" y="3696180"/>
          <a:ext cx="624904" cy="265026"/>
        </p:xfrm>
        <a:graphic>
          <a:graphicData uri="http://schemas.openxmlformats.org/presentationml/2006/ole">
            <mc:AlternateContent xmlns:mc="http://schemas.openxmlformats.org/markup-compatibility/2006">
              <mc:Choice xmlns:v="urn:schemas-microsoft-com:vml" Requires="v">
                <p:oleObj name="Equation" r:id="rId8" imgW="380880" imgH="177480" progId="Equation.DSMT4">
                  <p:embed/>
                </p:oleObj>
              </mc:Choice>
              <mc:Fallback>
                <p:oleObj name="Equation" r:id="rId8" imgW="380880" imgH="177480" progId="Equation.DSMT4">
                  <p:embed/>
                  <p:pic>
                    <p:nvPicPr>
                      <p:cNvPr id="21" name="Object 20">
                        <a:extLst>
                          <a:ext uri="{FF2B5EF4-FFF2-40B4-BE49-F238E27FC236}">
                            <a16:creationId xmlns:a16="http://schemas.microsoft.com/office/drawing/2014/main" id="{87328832-16B1-F6CE-1A90-350456D878F1}"/>
                          </a:ext>
                        </a:extLst>
                      </p:cNvPr>
                      <p:cNvPicPr>
                        <a:picLocks noChangeAspect="1" noChangeArrowheads="1"/>
                      </p:cNvPicPr>
                      <p:nvPr/>
                    </p:nvPicPr>
                    <p:blipFill>
                      <a:blip r:embed="rId9"/>
                      <a:srcRect/>
                      <a:stretch>
                        <a:fillRect/>
                      </a:stretch>
                    </p:blipFill>
                    <p:spPr bwMode="auto">
                      <a:xfrm>
                        <a:off x="461539" y="3696180"/>
                        <a:ext cx="624904" cy="265026"/>
                      </a:xfrm>
                      <a:prstGeom prst="rect">
                        <a:avLst/>
                      </a:prstGeom>
                      <a:noFill/>
                      <a:ln>
                        <a:noFill/>
                      </a:ln>
                    </p:spPr>
                  </p:pic>
                </p:oleObj>
              </mc:Fallback>
            </mc:AlternateContent>
          </a:graphicData>
        </a:graphic>
      </p:graphicFrame>
      <p:sp>
        <p:nvSpPr>
          <p:cNvPr id="9" name="Content Placeholder 8">
            <a:extLst>
              <a:ext uri="{FF2B5EF4-FFF2-40B4-BE49-F238E27FC236}">
                <a16:creationId xmlns:a16="http://schemas.microsoft.com/office/drawing/2014/main" id="{8F227E74-ED47-9C0D-C7F0-B3266FF3D7FB}"/>
              </a:ext>
            </a:extLst>
          </p:cNvPr>
          <p:cNvSpPr>
            <a:spLocks noGrp="1"/>
          </p:cNvSpPr>
          <p:nvPr>
            <p:ph sz="quarter" idx="18"/>
          </p:nvPr>
        </p:nvSpPr>
        <p:spPr>
          <a:xfrm>
            <a:off x="428346" y="4084424"/>
            <a:ext cx="3740264" cy="313350"/>
          </a:xfrm>
        </p:spPr>
        <p:txBody>
          <a:bodyPr wrap="square">
            <a:spAutoFit/>
          </a:bodyPr>
          <a:lstStyle/>
          <a:p>
            <a:pPr marL="0" indent="0">
              <a:buNone/>
            </a:pPr>
            <a:r>
              <a:rPr lang="en-US" sz="1800" dirty="0"/>
              <a:t>Step 3 – Calculate the time constant</a:t>
            </a:r>
          </a:p>
        </p:txBody>
      </p:sp>
      <p:graphicFrame>
        <p:nvGraphicFramePr>
          <p:cNvPr id="25" name="Object 24" descr="tau;">
            <a:extLst>
              <a:ext uri="{FF2B5EF4-FFF2-40B4-BE49-F238E27FC236}">
                <a16:creationId xmlns:a16="http://schemas.microsoft.com/office/drawing/2014/main" id="{569F2732-4390-872A-C073-64C09396AFF9}"/>
              </a:ext>
            </a:extLst>
          </p:cNvPr>
          <p:cNvGraphicFramePr>
            <a:graphicFrameLocks noChangeAspect="1"/>
          </p:cNvGraphicFramePr>
          <p:nvPr>
            <p:extLst>
              <p:ext uri="{D42A27DB-BD31-4B8C-83A1-F6EECF244321}">
                <p14:modId xmlns:p14="http://schemas.microsoft.com/office/powerpoint/2010/main" val="3778980232"/>
              </p:ext>
            </p:extLst>
          </p:nvPr>
        </p:nvGraphicFramePr>
        <p:xfrm>
          <a:off x="4217706" y="4124980"/>
          <a:ext cx="284163" cy="279400"/>
        </p:xfrm>
        <a:graphic>
          <a:graphicData uri="http://schemas.openxmlformats.org/presentationml/2006/ole">
            <mc:AlternateContent xmlns:mc="http://schemas.openxmlformats.org/markup-compatibility/2006">
              <mc:Choice xmlns:v="urn:schemas-microsoft-com:vml" Requires="v">
                <p:oleObj name="Equation" r:id="rId10" imgW="152280" imgH="164880" progId="Equation.DSMT4">
                  <p:embed/>
                </p:oleObj>
              </mc:Choice>
              <mc:Fallback>
                <p:oleObj name="Equation" r:id="rId10" imgW="152280" imgH="164880" progId="Equation.DSMT4">
                  <p:embed/>
                  <p:pic>
                    <p:nvPicPr>
                      <p:cNvPr id="24" name="Object 23">
                        <a:extLst>
                          <a:ext uri="{FF2B5EF4-FFF2-40B4-BE49-F238E27FC236}">
                            <a16:creationId xmlns:a16="http://schemas.microsoft.com/office/drawing/2014/main" id="{78241E89-66E4-2BAB-35C0-F82B7EBD5098}"/>
                          </a:ext>
                        </a:extLst>
                      </p:cNvPr>
                      <p:cNvPicPr>
                        <a:picLocks noChangeAspect="1" noChangeArrowheads="1"/>
                      </p:cNvPicPr>
                      <p:nvPr/>
                    </p:nvPicPr>
                    <p:blipFill>
                      <a:blip r:embed="rId11"/>
                      <a:srcRect/>
                      <a:stretch>
                        <a:fillRect/>
                      </a:stretch>
                    </p:blipFill>
                    <p:spPr bwMode="auto">
                      <a:xfrm>
                        <a:off x="4217706" y="4124980"/>
                        <a:ext cx="284163" cy="279400"/>
                      </a:xfrm>
                      <a:prstGeom prst="rect">
                        <a:avLst/>
                      </a:prstGeom>
                      <a:noFill/>
                      <a:ln>
                        <a:noFill/>
                      </a:ln>
                    </p:spPr>
                  </p:pic>
                </p:oleObj>
              </mc:Fallback>
            </mc:AlternateContent>
          </a:graphicData>
        </a:graphic>
      </p:graphicFrame>
      <p:sp>
        <p:nvSpPr>
          <p:cNvPr id="10" name="Content Placeholder 9">
            <a:extLst>
              <a:ext uri="{FF2B5EF4-FFF2-40B4-BE49-F238E27FC236}">
                <a16:creationId xmlns:a16="http://schemas.microsoft.com/office/drawing/2014/main" id="{A720BB33-6D13-D87D-50D7-A6DE076C6EAD}"/>
              </a:ext>
            </a:extLst>
          </p:cNvPr>
          <p:cNvSpPr>
            <a:spLocks noGrp="1"/>
          </p:cNvSpPr>
          <p:nvPr>
            <p:ph sz="quarter" idx="19"/>
          </p:nvPr>
        </p:nvSpPr>
        <p:spPr>
          <a:xfrm>
            <a:off x="4572000" y="4089120"/>
            <a:ext cx="1518691" cy="313350"/>
          </a:xfrm>
        </p:spPr>
        <p:txBody>
          <a:bodyPr wrap="square">
            <a:spAutoFit/>
          </a:bodyPr>
          <a:lstStyle/>
          <a:p>
            <a:pPr marL="0" indent="0">
              <a:buNone/>
            </a:pPr>
            <a:r>
              <a:rPr lang="en-US" sz="1800" dirty="0">
                <a:sym typeface="Symbol"/>
              </a:rPr>
              <a:t>for </a:t>
            </a:r>
            <a:r>
              <a:rPr lang="en-US" sz="1800" i="1" spc="-200" dirty="0">
                <a:sym typeface="Symbol"/>
              </a:rPr>
              <a:t>R </a:t>
            </a:r>
            <a:r>
              <a:rPr lang="en-US" sz="1800" i="1" dirty="0">
                <a:sym typeface="Symbol"/>
              </a:rPr>
              <a:t>L</a:t>
            </a:r>
            <a:r>
              <a:rPr lang="en-US" sz="1800" dirty="0">
                <a:sym typeface="Symbol"/>
              </a:rPr>
              <a:t> circuits,</a:t>
            </a:r>
            <a:endParaRPr lang="en-US" sz="1800" dirty="0"/>
          </a:p>
        </p:txBody>
      </p:sp>
      <p:graphicFrame>
        <p:nvGraphicFramePr>
          <p:cNvPr id="26" name="Object 25" descr="Tau equals R divided by L.&#10;">
            <a:extLst>
              <a:ext uri="{FF2B5EF4-FFF2-40B4-BE49-F238E27FC236}">
                <a16:creationId xmlns:a16="http://schemas.microsoft.com/office/drawing/2014/main" id="{358A725A-57B0-FC5D-2EB9-B6942649A7B0}"/>
              </a:ext>
            </a:extLst>
          </p:cNvPr>
          <p:cNvGraphicFramePr>
            <a:graphicFrameLocks noChangeAspect="1"/>
          </p:cNvGraphicFramePr>
          <p:nvPr>
            <p:extLst>
              <p:ext uri="{D42A27DB-BD31-4B8C-83A1-F6EECF244321}">
                <p14:modId xmlns:p14="http://schemas.microsoft.com/office/powerpoint/2010/main" val="2394831201"/>
              </p:ext>
            </p:extLst>
          </p:nvPr>
        </p:nvGraphicFramePr>
        <p:xfrm>
          <a:off x="6139769" y="4114211"/>
          <a:ext cx="976119" cy="270353"/>
        </p:xfrm>
        <a:graphic>
          <a:graphicData uri="http://schemas.openxmlformats.org/presentationml/2006/ole">
            <mc:AlternateContent xmlns:mc="http://schemas.openxmlformats.org/markup-compatibility/2006">
              <mc:Choice xmlns:v="urn:schemas-microsoft-com:vml" Requires="v">
                <p:oleObj name="Equation" r:id="rId12" imgW="583920" imgH="177480" progId="Equation.DSMT4">
                  <p:embed/>
                </p:oleObj>
              </mc:Choice>
              <mc:Fallback>
                <p:oleObj name="Equation" r:id="rId12" imgW="583920" imgH="177480" progId="Equation.DSMT4">
                  <p:embed/>
                  <p:pic>
                    <p:nvPicPr>
                      <p:cNvPr id="25" name="Object 24">
                        <a:extLst>
                          <a:ext uri="{FF2B5EF4-FFF2-40B4-BE49-F238E27FC236}">
                            <a16:creationId xmlns:a16="http://schemas.microsoft.com/office/drawing/2014/main" id="{569F2732-4390-872A-C073-64C09396AFF9}"/>
                          </a:ext>
                        </a:extLst>
                      </p:cNvPr>
                      <p:cNvPicPr>
                        <a:picLocks noChangeAspect="1" noChangeArrowheads="1"/>
                      </p:cNvPicPr>
                      <p:nvPr/>
                    </p:nvPicPr>
                    <p:blipFill>
                      <a:blip r:embed="rId13"/>
                      <a:srcRect/>
                      <a:stretch>
                        <a:fillRect/>
                      </a:stretch>
                    </p:blipFill>
                    <p:spPr bwMode="auto">
                      <a:xfrm>
                        <a:off x="6139769" y="4114211"/>
                        <a:ext cx="976119" cy="270353"/>
                      </a:xfrm>
                      <a:prstGeom prst="rect">
                        <a:avLst/>
                      </a:prstGeom>
                      <a:noFill/>
                      <a:ln>
                        <a:noFill/>
                      </a:ln>
                    </p:spPr>
                  </p:pic>
                </p:oleObj>
              </mc:Fallback>
            </mc:AlternateContent>
          </a:graphicData>
        </a:graphic>
      </p:graphicFrame>
      <p:sp>
        <p:nvSpPr>
          <p:cNvPr id="11" name="Content Placeholder 10">
            <a:extLst>
              <a:ext uri="{FF2B5EF4-FFF2-40B4-BE49-F238E27FC236}">
                <a16:creationId xmlns:a16="http://schemas.microsoft.com/office/drawing/2014/main" id="{5D2FB9AC-7B31-676E-12AF-8C7F069EC880}"/>
              </a:ext>
            </a:extLst>
          </p:cNvPr>
          <p:cNvSpPr>
            <a:spLocks noGrp="1"/>
          </p:cNvSpPr>
          <p:nvPr>
            <p:ph sz="quarter" idx="20"/>
          </p:nvPr>
        </p:nvSpPr>
        <p:spPr>
          <a:xfrm>
            <a:off x="7218776" y="4055874"/>
            <a:ext cx="1346070" cy="313350"/>
          </a:xfrm>
        </p:spPr>
        <p:txBody>
          <a:bodyPr wrap="square">
            <a:spAutoFit/>
          </a:bodyPr>
          <a:lstStyle/>
          <a:p>
            <a:pPr marL="0" indent="0">
              <a:buNone/>
            </a:pPr>
            <a:r>
              <a:rPr lang="en-US" sz="1800" dirty="0">
                <a:sym typeface="Symbol"/>
              </a:rPr>
              <a:t>and for </a:t>
            </a:r>
            <a:r>
              <a:rPr lang="en-US" sz="1800" i="1" spc="-200" dirty="0">
                <a:sym typeface="Symbol"/>
              </a:rPr>
              <a:t>R </a:t>
            </a:r>
            <a:r>
              <a:rPr lang="en-US" sz="1800" i="1" dirty="0">
                <a:sym typeface="Symbol"/>
              </a:rPr>
              <a:t>C</a:t>
            </a:r>
            <a:endParaRPr lang="en-US" sz="1800" dirty="0"/>
          </a:p>
        </p:txBody>
      </p:sp>
      <p:sp>
        <p:nvSpPr>
          <p:cNvPr id="12" name="Content Placeholder 11">
            <a:extLst>
              <a:ext uri="{FF2B5EF4-FFF2-40B4-BE49-F238E27FC236}">
                <a16:creationId xmlns:a16="http://schemas.microsoft.com/office/drawing/2014/main" id="{BBA6F2D5-24FB-AF42-2DBC-1A408CDAFD09}"/>
              </a:ext>
            </a:extLst>
          </p:cNvPr>
          <p:cNvSpPr>
            <a:spLocks noGrp="1"/>
          </p:cNvSpPr>
          <p:nvPr>
            <p:ph sz="quarter" idx="21"/>
          </p:nvPr>
        </p:nvSpPr>
        <p:spPr>
          <a:xfrm>
            <a:off x="434661" y="4496662"/>
            <a:ext cx="801895" cy="313350"/>
          </a:xfrm>
        </p:spPr>
        <p:txBody>
          <a:bodyPr wrap="square">
            <a:spAutoFit/>
          </a:bodyPr>
          <a:lstStyle/>
          <a:p>
            <a:pPr marL="0" indent="0">
              <a:buNone/>
            </a:pPr>
            <a:r>
              <a:rPr lang="en-US" sz="1800" dirty="0">
                <a:sym typeface="Symbol"/>
              </a:rPr>
              <a:t>circuits,</a:t>
            </a:r>
            <a:endParaRPr lang="en-US" sz="1800" dirty="0"/>
          </a:p>
        </p:txBody>
      </p:sp>
      <p:graphicFrame>
        <p:nvGraphicFramePr>
          <p:cNvPr id="27" name="Object 26" descr="Tau equals R C,&#10;">
            <a:extLst>
              <a:ext uri="{FF2B5EF4-FFF2-40B4-BE49-F238E27FC236}">
                <a16:creationId xmlns:a16="http://schemas.microsoft.com/office/drawing/2014/main" id="{ACE8395E-85E5-0FBC-C825-A4E1A90AE46A}"/>
              </a:ext>
            </a:extLst>
          </p:cNvPr>
          <p:cNvGraphicFramePr>
            <a:graphicFrameLocks noChangeAspect="1"/>
          </p:cNvGraphicFramePr>
          <p:nvPr>
            <p:extLst>
              <p:ext uri="{D42A27DB-BD31-4B8C-83A1-F6EECF244321}">
                <p14:modId xmlns:p14="http://schemas.microsoft.com/office/powerpoint/2010/main" val="623542056"/>
              </p:ext>
            </p:extLst>
          </p:nvPr>
        </p:nvGraphicFramePr>
        <p:xfrm>
          <a:off x="1262662" y="4532852"/>
          <a:ext cx="840460" cy="272109"/>
        </p:xfrm>
        <a:graphic>
          <a:graphicData uri="http://schemas.openxmlformats.org/presentationml/2006/ole">
            <mc:AlternateContent xmlns:mc="http://schemas.openxmlformats.org/markup-compatibility/2006">
              <mc:Choice xmlns:v="urn:schemas-microsoft-com:vml" Requires="v">
                <p:oleObj name="Equation" r:id="rId14" imgW="533160" imgH="190440" progId="Equation.DSMT4">
                  <p:embed/>
                </p:oleObj>
              </mc:Choice>
              <mc:Fallback>
                <p:oleObj name="Equation" r:id="rId14" imgW="533160" imgH="190440" progId="Equation.DSMT4">
                  <p:embed/>
                  <p:pic>
                    <p:nvPicPr>
                      <p:cNvPr id="26" name="Object 25">
                        <a:extLst>
                          <a:ext uri="{FF2B5EF4-FFF2-40B4-BE49-F238E27FC236}">
                            <a16:creationId xmlns:a16="http://schemas.microsoft.com/office/drawing/2014/main" id="{358A725A-57B0-FC5D-2EB9-B6942649A7B0}"/>
                          </a:ext>
                        </a:extLst>
                      </p:cNvPr>
                      <p:cNvPicPr>
                        <a:picLocks noChangeAspect="1" noChangeArrowheads="1"/>
                      </p:cNvPicPr>
                      <p:nvPr/>
                    </p:nvPicPr>
                    <p:blipFill>
                      <a:blip r:embed="rId15"/>
                      <a:srcRect/>
                      <a:stretch>
                        <a:fillRect/>
                      </a:stretch>
                    </p:blipFill>
                    <p:spPr bwMode="auto">
                      <a:xfrm>
                        <a:off x="1262662" y="4532852"/>
                        <a:ext cx="840460" cy="272109"/>
                      </a:xfrm>
                      <a:prstGeom prst="rect">
                        <a:avLst/>
                      </a:prstGeom>
                      <a:noFill/>
                      <a:ln>
                        <a:noFill/>
                      </a:ln>
                    </p:spPr>
                  </p:pic>
                </p:oleObj>
              </mc:Fallback>
            </mc:AlternateContent>
          </a:graphicData>
        </a:graphic>
      </p:graphicFrame>
      <p:sp>
        <p:nvSpPr>
          <p:cNvPr id="13" name="Content Placeholder 12">
            <a:extLst>
              <a:ext uri="{FF2B5EF4-FFF2-40B4-BE49-F238E27FC236}">
                <a16:creationId xmlns:a16="http://schemas.microsoft.com/office/drawing/2014/main" id="{777B520F-7529-EB3E-6C6A-EDA1561984BC}"/>
              </a:ext>
            </a:extLst>
          </p:cNvPr>
          <p:cNvSpPr>
            <a:spLocks noGrp="1"/>
          </p:cNvSpPr>
          <p:nvPr>
            <p:ph sz="quarter" idx="22"/>
          </p:nvPr>
        </p:nvSpPr>
        <p:spPr>
          <a:xfrm>
            <a:off x="2173580" y="4492173"/>
            <a:ext cx="6363557" cy="313350"/>
          </a:xfrm>
        </p:spPr>
        <p:txBody>
          <a:bodyPr wrap="square">
            <a:spAutoFit/>
          </a:bodyPr>
          <a:lstStyle/>
          <a:p>
            <a:pPr marL="0" indent="0">
              <a:buNone/>
            </a:pPr>
            <a:r>
              <a:rPr lang="en-US" sz="1800" dirty="0">
                <a:sym typeface="Symbol"/>
              </a:rPr>
              <a:t>where </a:t>
            </a:r>
            <a:r>
              <a:rPr lang="en-US" sz="1800" i="1" dirty="0">
                <a:sym typeface="Symbol"/>
              </a:rPr>
              <a:t>R</a:t>
            </a:r>
            <a:r>
              <a:rPr lang="en-US" sz="1800" dirty="0">
                <a:sym typeface="Symbol"/>
              </a:rPr>
              <a:t> is the equivalent resistance connected to the inductor</a:t>
            </a:r>
            <a:endParaRPr lang="en-US" sz="1800" dirty="0"/>
          </a:p>
        </p:txBody>
      </p:sp>
      <p:sp>
        <p:nvSpPr>
          <p:cNvPr id="14" name="Content Placeholder 13">
            <a:extLst>
              <a:ext uri="{FF2B5EF4-FFF2-40B4-BE49-F238E27FC236}">
                <a16:creationId xmlns:a16="http://schemas.microsoft.com/office/drawing/2014/main" id="{3DC44FFC-51C6-541D-C192-572816DF60FB}"/>
              </a:ext>
            </a:extLst>
          </p:cNvPr>
          <p:cNvSpPr>
            <a:spLocks noGrp="1"/>
          </p:cNvSpPr>
          <p:nvPr>
            <p:ph sz="quarter" idx="23"/>
          </p:nvPr>
        </p:nvSpPr>
        <p:spPr>
          <a:xfrm>
            <a:off x="427909" y="4902083"/>
            <a:ext cx="1599364" cy="313350"/>
          </a:xfrm>
        </p:spPr>
        <p:txBody>
          <a:bodyPr wrap="square">
            <a:spAutoFit/>
          </a:bodyPr>
          <a:lstStyle/>
          <a:p>
            <a:pPr marL="0" indent="0">
              <a:buNone/>
            </a:pPr>
            <a:r>
              <a:rPr lang="en-US" sz="1800" dirty="0">
                <a:sym typeface="Symbol"/>
              </a:rPr>
              <a:t>or capacitor for</a:t>
            </a:r>
            <a:endParaRPr lang="en-US" sz="1800" dirty="0"/>
          </a:p>
        </p:txBody>
      </p:sp>
      <p:graphicFrame>
        <p:nvGraphicFramePr>
          <p:cNvPr id="28" name="Object 27" descr="t is greater than or equal to 0.&#10;">
            <a:extLst>
              <a:ext uri="{FF2B5EF4-FFF2-40B4-BE49-F238E27FC236}">
                <a16:creationId xmlns:a16="http://schemas.microsoft.com/office/drawing/2014/main" id="{4F430C3D-BA5F-73B4-8D30-61243E3095A3}"/>
              </a:ext>
            </a:extLst>
          </p:cNvPr>
          <p:cNvGraphicFramePr>
            <a:graphicFrameLocks noChangeAspect="1"/>
          </p:cNvGraphicFramePr>
          <p:nvPr>
            <p:extLst>
              <p:ext uri="{D42A27DB-BD31-4B8C-83A1-F6EECF244321}">
                <p14:modId xmlns:p14="http://schemas.microsoft.com/office/powerpoint/2010/main" val="3862794030"/>
              </p:ext>
            </p:extLst>
          </p:nvPr>
        </p:nvGraphicFramePr>
        <p:xfrm>
          <a:off x="2052719" y="4941785"/>
          <a:ext cx="650278" cy="275788"/>
        </p:xfrm>
        <a:graphic>
          <a:graphicData uri="http://schemas.openxmlformats.org/presentationml/2006/ole">
            <mc:AlternateContent xmlns:mc="http://schemas.openxmlformats.org/markup-compatibility/2006">
              <mc:Choice xmlns:v="urn:schemas-microsoft-com:vml" Requires="v">
                <p:oleObj name="Equation" r:id="rId16" imgW="380880" imgH="177480" progId="Equation.DSMT4">
                  <p:embed/>
                </p:oleObj>
              </mc:Choice>
              <mc:Fallback>
                <p:oleObj name="Equation" r:id="rId16" imgW="380880" imgH="177480" progId="Equation.DSMT4">
                  <p:embed/>
                  <p:pic>
                    <p:nvPicPr>
                      <p:cNvPr id="24" name="Object 23">
                        <a:extLst>
                          <a:ext uri="{FF2B5EF4-FFF2-40B4-BE49-F238E27FC236}">
                            <a16:creationId xmlns:a16="http://schemas.microsoft.com/office/drawing/2014/main" id="{78241E89-66E4-2BAB-35C0-F82B7EBD5098}"/>
                          </a:ext>
                        </a:extLst>
                      </p:cNvPr>
                      <p:cNvPicPr>
                        <a:picLocks noChangeAspect="1" noChangeArrowheads="1"/>
                      </p:cNvPicPr>
                      <p:nvPr/>
                    </p:nvPicPr>
                    <p:blipFill>
                      <a:blip r:embed="rId17"/>
                      <a:srcRect/>
                      <a:stretch>
                        <a:fillRect/>
                      </a:stretch>
                    </p:blipFill>
                    <p:spPr bwMode="auto">
                      <a:xfrm>
                        <a:off x="2052719" y="4941785"/>
                        <a:ext cx="650278" cy="275788"/>
                      </a:xfrm>
                      <a:prstGeom prst="rect">
                        <a:avLst/>
                      </a:prstGeom>
                      <a:noFill/>
                      <a:ln>
                        <a:noFill/>
                      </a:ln>
                    </p:spPr>
                  </p:pic>
                </p:oleObj>
              </mc:Fallback>
            </mc:AlternateContent>
          </a:graphicData>
        </a:graphic>
      </p:graphicFrame>
      <p:sp>
        <p:nvSpPr>
          <p:cNvPr id="15" name="Content Placeholder 14">
            <a:extLst>
              <a:ext uri="{FF2B5EF4-FFF2-40B4-BE49-F238E27FC236}">
                <a16:creationId xmlns:a16="http://schemas.microsoft.com/office/drawing/2014/main" id="{AB62AFE3-A3DC-498C-14AC-5ACE97C54F93}"/>
              </a:ext>
            </a:extLst>
          </p:cNvPr>
          <p:cNvSpPr>
            <a:spLocks noGrp="1"/>
          </p:cNvSpPr>
          <p:nvPr>
            <p:ph sz="quarter" idx="24"/>
          </p:nvPr>
        </p:nvSpPr>
        <p:spPr>
          <a:xfrm>
            <a:off x="427356" y="5339225"/>
            <a:ext cx="3353550" cy="313350"/>
          </a:xfrm>
        </p:spPr>
        <p:txBody>
          <a:bodyPr wrap="square">
            <a:spAutoFit/>
          </a:bodyPr>
          <a:lstStyle/>
          <a:p>
            <a:pPr marL="0" indent="0">
              <a:buNone/>
            </a:pPr>
            <a:r>
              <a:rPr lang="en-US" sz="1800" dirty="0">
                <a:sym typeface="Symbol"/>
              </a:rPr>
              <a:t>Step 4 – Calculate the final value</a:t>
            </a:r>
            <a:endParaRPr lang="en-US" sz="1800" dirty="0"/>
          </a:p>
        </p:txBody>
      </p:sp>
      <p:graphicFrame>
        <p:nvGraphicFramePr>
          <p:cNvPr id="29" name="Object 28" descr="X subscript f">
            <a:extLst>
              <a:ext uri="{FF2B5EF4-FFF2-40B4-BE49-F238E27FC236}">
                <a16:creationId xmlns:a16="http://schemas.microsoft.com/office/drawing/2014/main" id="{D84C1DCA-C5A2-CA37-333D-945488D9EBE3}"/>
              </a:ext>
            </a:extLst>
          </p:cNvPr>
          <p:cNvGraphicFramePr>
            <a:graphicFrameLocks noChangeAspect="1"/>
          </p:cNvGraphicFramePr>
          <p:nvPr>
            <p:extLst>
              <p:ext uri="{D42A27DB-BD31-4B8C-83A1-F6EECF244321}">
                <p14:modId xmlns:p14="http://schemas.microsoft.com/office/powerpoint/2010/main" val="1804386492"/>
              </p:ext>
            </p:extLst>
          </p:nvPr>
        </p:nvGraphicFramePr>
        <p:xfrm>
          <a:off x="3854285" y="5371102"/>
          <a:ext cx="314325" cy="320675"/>
        </p:xfrm>
        <a:graphic>
          <a:graphicData uri="http://schemas.openxmlformats.org/presentationml/2006/ole">
            <mc:AlternateContent xmlns:mc="http://schemas.openxmlformats.org/markup-compatibility/2006">
              <mc:Choice xmlns:v="urn:schemas-microsoft-com:vml" Requires="v">
                <p:oleObj name="Equation" r:id="rId18" imgW="203040" imgH="228600" progId="Equation.DSMT4">
                  <p:embed/>
                </p:oleObj>
              </mc:Choice>
              <mc:Fallback>
                <p:oleObj name="Equation" r:id="rId18" imgW="203040" imgH="228600" progId="Equation.DSMT4">
                  <p:embed/>
                  <p:pic>
                    <p:nvPicPr>
                      <p:cNvPr id="23" name="Object 22">
                        <a:extLst>
                          <a:ext uri="{FF2B5EF4-FFF2-40B4-BE49-F238E27FC236}">
                            <a16:creationId xmlns:a16="http://schemas.microsoft.com/office/drawing/2014/main" id="{D3759FB6-A162-5A92-5F72-2FE5E4EC6B1E}"/>
                          </a:ext>
                        </a:extLst>
                      </p:cNvPr>
                      <p:cNvPicPr>
                        <a:picLocks noChangeAspect="1" noChangeArrowheads="1"/>
                      </p:cNvPicPr>
                      <p:nvPr/>
                    </p:nvPicPr>
                    <p:blipFill>
                      <a:blip r:embed="rId19"/>
                      <a:srcRect/>
                      <a:stretch>
                        <a:fillRect/>
                      </a:stretch>
                    </p:blipFill>
                    <p:spPr bwMode="auto">
                      <a:xfrm>
                        <a:off x="3854285" y="5371102"/>
                        <a:ext cx="314325" cy="320675"/>
                      </a:xfrm>
                      <a:prstGeom prst="rect">
                        <a:avLst/>
                      </a:prstGeom>
                      <a:noFill/>
                      <a:ln>
                        <a:noFill/>
                      </a:ln>
                    </p:spPr>
                  </p:pic>
                </p:oleObj>
              </mc:Fallback>
            </mc:AlternateContent>
          </a:graphicData>
        </a:graphic>
      </p:graphicFrame>
      <p:sp>
        <p:nvSpPr>
          <p:cNvPr id="16" name="Content Placeholder 15">
            <a:extLst>
              <a:ext uri="{FF2B5EF4-FFF2-40B4-BE49-F238E27FC236}">
                <a16:creationId xmlns:a16="http://schemas.microsoft.com/office/drawing/2014/main" id="{9ABABB1C-9271-1D34-2F81-A09E2E619B22}"/>
              </a:ext>
            </a:extLst>
          </p:cNvPr>
          <p:cNvSpPr>
            <a:spLocks noGrp="1"/>
          </p:cNvSpPr>
          <p:nvPr>
            <p:ph sz="quarter" idx="25"/>
          </p:nvPr>
        </p:nvSpPr>
        <p:spPr>
          <a:xfrm>
            <a:off x="4244403" y="5320217"/>
            <a:ext cx="3788666" cy="313350"/>
          </a:xfrm>
        </p:spPr>
        <p:txBody>
          <a:bodyPr wrap="square">
            <a:spAutoFit/>
          </a:bodyPr>
          <a:lstStyle/>
          <a:p>
            <a:pPr marL="0" indent="0">
              <a:buNone/>
            </a:pPr>
            <a:r>
              <a:rPr lang="en-US" sz="1800" dirty="0">
                <a:sym typeface="Symbol"/>
              </a:rPr>
              <a:t>by analyzing the circuit to find </a:t>
            </a:r>
            <a:r>
              <a:rPr lang="en-US" sz="1800" i="1" dirty="0">
                <a:sym typeface="Symbol"/>
              </a:rPr>
              <a:t>x</a:t>
            </a:r>
            <a:r>
              <a:rPr lang="en-US" sz="1800" dirty="0">
                <a:sym typeface="Symbol"/>
              </a:rPr>
              <a:t>(</a:t>
            </a:r>
            <a:r>
              <a:rPr lang="en-US" sz="1800" i="1" dirty="0">
                <a:sym typeface="Symbol"/>
              </a:rPr>
              <a:t>t</a:t>
            </a:r>
            <a:r>
              <a:rPr lang="en-US" sz="1800" dirty="0">
                <a:sym typeface="Symbol"/>
              </a:rPr>
              <a:t>) as</a:t>
            </a:r>
            <a:endParaRPr lang="en-US" sz="1800" dirty="0"/>
          </a:p>
        </p:txBody>
      </p:sp>
      <p:graphicFrame>
        <p:nvGraphicFramePr>
          <p:cNvPr id="30" name="Object 29" descr="t right arrow, infinity.">
            <a:extLst>
              <a:ext uri="{FF2B5EF4-FFF2-40B4-BE49-F238E27FC236}">
                <a16:creationId xmlns:a16="http://schemas.microsoft.com/office/drawing/2014/main" id="{2172AAE5-3E1A-C5FA-A8F8-0C00C9FEF063}"/>
              </a:ext>
            </a:extLst>
          </p:cNvPr>
          <p:cNvGraphicFramePr>
            <a:graphicFrameLocks noChangeAspect="1"/>
          </p:cNvGraphicFramePr>
          <p:nvPr>
            <p:extLst>
              <p:ext uri="{D42A27DB-BD31-4B8C-83A1-F6EECF244321}">
                <p14:modId xmlns:p14="http://schemas.microsoft.com/office/powerpoint/2010/main" val="960897100"/>
              </p:ext>
            </p:extLst>
          </p:nvPr>
        </p:nvGraphicFramePr>
        <p:xfrm>
          <a:off x="434661" y="5762523"/>
          <a:ext cx="854075" cy="301625"/>
        </p:xfrm>
        <a:graphic>
          <a:graphicData uri="http://schemas.openxmlformats.org/presentationml/2006/ole">
            <mc:AlternateContent xmlns:mc="http://schemas.openxmlformats.org/markup-compatibility/2006">
              <mc:Choice xmlns:v="urn:schemas-microsoft-com:vml" Requires="v">
                <p:oleObj name="Equation" r:id="rId20" imgW="457200" imgH="177480" progId="Equation.DSMT4">
                  <p:embed/>
                </p:oleObj>
              </mc:Choice>
              <mc:Fallback>
                <p:oleObj name="Equation" r:id="rId20" imgW="457200" imgH="177480" progId="Equation.DSMT4">
                  <p:embed/>
                  <p:pic>
                    <p:nvPicPr>
                      <p:cNvPr id="28" name="Object 27">
                        <a:extLst>
                          <a:ext uri="{FF2B5EF4-FFF2-40B4-BE49-F238E27FC236}">
                            <a16:creationId xmlns:a16="http://schemas.microsoft.com/office/drawing/2014/main" id="{4F430C3D-BA5F-73B4-8D30-61243E3095A3}"/>
                          </a:ext>
                        </a:extLst>
                      </p:cNvPr>
                      <p:cNvPicPr>
                        <a:picLocks noChangeAspect="1" noChangeArrowheads="1"/>
                      </p:cNvPicPr>
                      <p:nvPr/>
                    </p:nvPicPr>
                    <p:blipFill>
                      <a:blip r:embed="rId21"/>
                      <a:srcRect/>
                      <a:stretch>
                        <a:fillRect/>
                      </a:stretch>
                    </p:blipFill>
                    <p:spPr bwMode="auto">
                      <a:xfrm>
                        <a:off x="434661" y="5762523"/>
                        <a:ext cx="854075" cy="3016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550632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E8FBB-E50E-100D-6B99-820177F66A61}"/>
              </a:ext>
            </a:extLst>
          </p:cNvPr>
          <p:cNvSpPr>
            <a:spLocks noGrp="1"/>
          </p:cNvSpPr>
          <p:nvPr>
            <p:ph type="title"/>
          </p:nvPr>
        </p:nvSpPr>
        <p:spPr>
          <a:xfrm>
            <a:off x="428065" y="161845"/>
            <a:ext cx="8247623" cy="1144347"/>
          </a:xfrm>
        </p:spPr>
        <p:txBody>
          <a:bodyPr/>
          <a:lstStyle/>
          <a:p>
            <a:r>
              <a:rPr lang="en-US" dirty="0"/>
              <a:t>Chapter 7 – </a:t>
            </a:r>
            <a:r>
              <a:rPr lang="en-US" i="1" spc="-500" dirty="0"/>
              <a:t>R </a:t>
            </a:r>
            <a:r>
              <a:rPr lang="en-US" i="1" dirty="0"/>
              <a:t>L</a:t>
            </a:r>
            <a:r>
              <a:rPr lang="en-US" dirty="0"/>
              <a:t>/</a:t>
            </a:r>
            <a:r>
              <a:rPr lang="en-US" i="1" spc="-500" dirty="0"/>
              <a:t>R </a:t>
            </a:r>
            <a:r>
              <a:rPr lang="en-US" i="1" dirty="0"/>
              <a:t>C</a:t>
            </a:r>
            <a:r>
              <a:rPr lang="en-US" dirty="0"/>
              <a:t> Natural and Step Response </a:t>
            </a:r>
            <a:r>
              <a:rPr lang="en-US" sz="2800" dirty="0"/>
              <a:t>(2 of 2)</a:t>
            </a:r>
            <a:endParaRPr lang="en-US" dirty="0"/>
          </a:p>
        </p:txBody>
      </p:sp>
      <p:sp>
        <p:nvSpPr>
          <p:cNvPr id="3" name="Content Placeholder 2">
            <a:extLst>
              <a:ext uri="{FF2B5EF4-FFF2-40B4-BE49-F238E27FC236}">
                <a16:creationId xmlns:a16="http://schemas.microsoft.com/office/drawing/2014/main" id="{6EAA4632-566B-9F37-0F2F-820D7E4D00E7}"/>
              </a:ext>
            </a:extLst>
          </p:cNvPr>
          <p:cNvSpPr>
            <a:spLocks noGrp="1"/>
          </p:cNvSpPr>
          <p:nvPr>
            <p:ph sz="quarter" idx="12"/>
          </p:nvPr>
        </p:nvSpPr>
        <p:spPr>
          <a:xfrm>
            <a:off x="428065" y="1534127"/>
            <a:ext cx="8256588" cy="313350"/>
          </a:xfrm>
        </p:spPr>
        <p:txBody>
          <a:bodyPr>
            <a:spAutoFit/>
          </a:bodyPr>
          <a:lstStyle/>
          <a:p>
            <a:pPr marL="101600" indent="0">
              <a:buNone/>
            </a:pPr>
            <a:r>
              <a:rPr lang="en-US" sz="1800" dirty="0">
                <a:sym typeface="Symbol"/>
              </a:rPr>
              <a:t>Step 5 – Write the equation for </a:t>
            </a:r>
            <a:r>
              <a:rPr lang="en-US" sz="1800" i="1" dirty="0">
                <a:sym typeface="Symbol"/>
              </a:rPr>
              <a:t>x</a:t>
            </a:r>
            <a:r>
              <a:rPr lang="en-US" sz="1800" dirty="0">
                <a:sym typeface="Symbol"/>
              </a:rPr>
              <a:t>(</a:t>
            </a:r>
            <a:r>
              <a:rPr lang="en-US" sz="1800" i="1" dirty="0">
                <a:sym typeface="Symbol"/>
              </a:rPr>
              <a:t>t</a:t>
            </a:r>
            <a:r>
              <a:rPr lang="en-US" sz="1800" dirty="0">
                <a:sym typeface="Symbol"/>
              </a:rPr>
              <a:t>),</a:t>
            </a:r>
            <a:endParaRPr lang="en-US" sz="1800" dirty="0"/>
          </a:p>
        </p:txBody>
      </p:sp>
      <p:graphicFrame>
        <p:nvGraphicFramePr>
          <p:cNvPr id="21" name="Object 20" descr="x (t) equals X subscript f baseline plus Open Parenthesis X subscript 0 baseline minus X subscript f Close Parenthesis e to the negative t divided by tau power,&#10;">
            <a:extLst>
              <a:ext uri="{FF2B5EF4-FFF2-40B4-BE49-F238E27FC236}">
                <a16:creationId xmlns:a16="http://schemas.microsoft.com/office/drawing/2014/main" id="{414CA258-6B19-D6E9-C538-DB99452CE94C}"/>
              </a:ext>
            </a:extLst>
          </p:cNvPr>
          <p:cNvGraphicFramePr>
            <a:graphicFrameLocks noChangeAspect="1"/>
          </p:cNvGraphicFramePr>
          <p:nvPr>
            <p:extLst>
              <p:ext uri="{D42A27DB-BD31-4B8C-83A1-F6EECF244321}">
                <p14:modId xmlns:p14="http://schemas.microsoft.com/office/powerpoint/2010/main" val="4232294099"/>
              </p:ext>
            </p:extLst>
          </p:nvPr>
        </p:nvGraphicFramePr>
        <p:xfrm>
          <a:off x="1882961" y="2067701"/>
          <a:ext cx="2786063" cy="339725"/>
        </p:xfrm>
        <a:graphic>
          <a:graphicData uri="http://schemas.openxmlformats.org/presentationml/2006/ole">
            <mc:AlternateContent xmlns:mc="http://schemas.openxmlformats.org/markup-compatibility/2006">
              <mc:Choice xmlns:v="urn:schemas-microsoft-com:vml" Requires="v">
                <p:oleObj name="Equation" r:id="rId2" imgW="1803240" imgH="241200" progId="Equation.DSMT4">
                  <p:embed/>
                </p:oleObj>
              </mc:Choice>
              <mc:Fallback>
                <p:oleObj name="Equation" r:id="rId2" imgW="1803240" imgH="241200" progId="Equation.DSMT4">
                  <p:embed/>
                  <p:pic>
                    <p:nvPicPr>
                      <p:cNvPr id="23" name="Object 22">
                        <a:extLst>
                          <a:ext uri="{FF2B5EF4-FFF2-40B4-BE49-F238E27FC236}">
                            <a16:creationId xmlns:a16="http://schemas.microsoft.com/office/drawing/2014/main" id="{D3759FB6-A162-5A92-5F72-2FE5E4EC6B1E}"/>
                          </a:ext>
                        </a:extLst>
                      </p:cNvPr>
                      <p:cNvPicPr>
                        <a:picLocks noChangeAspect="1" noChangeArrowheads="1"/>
                      </p:cNvPicPr>
                      <p:nvPr/>
                    </p:nvPicPr>
                    <p:blipFill>
                      <a:blip r:embed="rId3"/>
                      <a:srcRect/>
                      <a:stretch>
                        <a:fillRect/>
                      </a:stretch>
                    </p:blipFill>
                    <p:spPr bwMode="auto">
                      <a:xfrm>
                        <a:off x="1882961" y="2067701"/>
                        <a:ext cx="2786063" cy="339725"/>
                      </a:xfrm>
                      <a:prstGeom prst="rect">
                        <a:avLst/>
                      </a:prstGeom>
                      <a:noFill/>
                      <a:ln>
                        <a:noFill/>
                      </a:ln>
                    </p:spPr>
                  </p:pic>
                </p:oleObj>
              </mc:Fallback>
            </mc:AlternateContent>
          </a:graphicData>
        </a:graphic>
      </p:graphicFrame>
      <p:sp>
        <p:nvSpPr>
          <p:cNvPr id="4" name="Content Placeholder 3">
            <a:extLst>
              <a:ext uri="{FF2B5EF4-FFF2-40B4-BE49-F238E27FC236}">
                <a16:creationId xmlns:a16="http://schemas.microsoft.com/office/drawing/2014/main" id="{AA2459BC-F77E-C88D-8F1B-6A9E518BDC5B}"/>
              </a:ext>
            </a:extLst>
          </p:cNvPr>
          <p:cNvSpPr>
            <a:spLocks noGrp="1"/>
          </p:cNvSpPr>
          <p:nvPr>
            <p:ph sz="quarter" idx="13"/>
          </p:nvPr>
        </p:nvSpPr>
        <p:spPr>
          <a:xfrm>
            <a:off x="4904341" y="2066447"/>
            <a:ext cx="268293" cy="313350"/>
          </a:xfrm>
        </p:spPr>
        <p:txBody>
          <a:bodyPr/>
          <a:lstStyle/>
          <a:p>
            <a:pPr marL="0" indent="0">
              <a:buNone/>
            </a:pPr>
            <a:r>
              <a:rPr lang="en-US" sz="1800" dirty="0"/>
              <a:t>for</a:t>
            </a:r>
          </a:p>
        </p:txBody>
      </p:sp>
      <p:graphicFrame>
        <p:nvGraphicFramePr>
          <p:cNvPr id="22" name="Object 21" descr="t is greater than or equal to 0.&#10;">
            <a:extLst>
              <a:ext uri="{FF2B5EF4-FFF2-40B4-BE49-F238E27FC236}">
                <a16:creationId xmlns:a16="http://schemas.microsoft.com/office/drawing/2014/main" id="{455FFE06-EB4C-6E3C-3731-3B869DA3A141}"/>
              </a:ext>
            </a:extLst>
          </p:cNvPr>
          <p:cNvGraphicFramePr>
            <a:graphicFrameLocks noChangeAspect="1"/>
          </p:cNvGraphicFramePr>
          <p:nvPr>
            <p:extLst>
              <p:ext uri="{D42A27DB-BD31-4B8C-83A1-F6EECF244321}">
                <p14:modId xmlns:p14="http://schemas.microsoft.com/office/powerpoint/2010/main" val="1396641305"/>
              </p:ext>
            </p:extLst>
          </p:nvPr>
        </p:nvGraphicFramePr>
        <p:xfrm>
          <a:off x="5330078" y="2111021"/>
          <a:ext cx="588963" cy="250825"/>
        </p:xfrm>
        <a:graphic>
          <a:graphicData uri="http://schemas.openxmlformats.org/presentationml/2006/ole">
            <mc:AlternateContent xmlns:mc="http://schemas.openxmlformats.org/markup-compatibility/2006">
              <mc:Choice xmlns:v="urn:schemas-microsoft-com:vml" Requires="v">
                <p:oleObj name="Equation" r:id="rId4" imgW="380880" imgH="177480" progId="Equation.DSMT4">
                  <p:embed/>
                </p:oleObj>
              </mc:Choice>
              <mc:Fallback>
                <p:oleObj name="Equation" r:id="rId4" imgW="380880" imgH="177480" progId="Equation.DSMT4">
                  <p:embed/>
                  <p:pic>
                    <p:nvPicPr>
                      <p:cNvPr id="21" name="Object 20">
                        <a:extLst>
                          <a:ext uri="{FF2B5EF4-FFF2-40B4-BE49-F238E27FC236}">
                            <a16:creationId xmlns:a16="http://schemas.microsoft.com/office/drawing/2014/main" id="{414CA258-6B19-D6E9-C538-DB99452CE94C}"/>
                          </a:ext>
                        </a:extLst>
                      </p:cNvPr>
                      <p:cNvPicPr>
                        <a:picLocks noChangeAspect="1" noChangeArrowheads="1"/>
                      </p:cNvPicPr>
                      <p:nvPr/>
                    </p:nvPicPr>
                    <p:blipFill>
                      <a:blip r:embed="rId5"/>
                      <a:srcRect/>
                      <a:stretch>
                        <a:fillRect/>
                      </a:stretch>
                    </p:blipFill>
                    <p:spPr bwMode="auto">
                      <a:xfrm>
                        <a:off x="5330078" y="2111021"/>
                        <a:ext cx="588963" cy="250825"/>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0F7469CC-2A52-9692-519B-F1EB955D7220}"/>
              </a:ext>
            </a:extLst>
          </p:cNvPr>
          <p:cNvSpPr>
            <a:spLocks noGrp="1"/>
          </p:cNvSpPr>
          <p:nvPr>
            <p:ph sz="quarter" idx="14"/>
          </p:nvPr>
        </p:nvSpPr>
        <p:spPr>
          <a:xfrm>
            <a:off x="428065" y="2602516"/>
            <a:ext cx="8247623" cy="313350"/>
          </a:xfrm>
        </p:spPr>
        <p:txBody>
          <a:bodyPr wrap="square">
            <a:spAutoFit/>
          </a:bodyPr>
          <a:lstStyle/>
          <a:p>
            <a:pPr marL="0" indent="0" fontAlgn="auto">
              <a:spcBef>
                <a:spcPts val="0"/>
              </a:spcBef>
              <a:spcAft>
                <a:spcPts val="0"/>
              </a:spcAft>
              <a:buNone/>
              <a:defRPr/>
            </a:pPr>
            <a:r>
              <a:rPr lang="en-US" sz="1800" dirty="0">
                <a:sym typeface="Symbol"/>
              </a:rPr>
              <a:t>Step 6 – Calculate other quantities of interest using </a:t>
            </a:r>
            <a:r>
              <a:rPr lang="en-US" sz="1800" i="1" dirty="0">
                <a:sym typeface="Symbol"/>
              </a:rPr>
              <a:t>x</a:t>
            </a:r>
            <a:r>
              <a:rPr lang="en-US" sz="1800" dirty="0">
                <a:sym typeface="Symbol"/>
              </a:rPr>
              <a:t>(</a:t>
            </a:r>
            <a:r>
              <a:rPr lang="en-US" sz="1800" i="1" dirty="0">
                <a:sym typeface="Symbol"/>
              </a:rPr>
              <a:t>t</a:t>
            </a:r>
            <a:r>
              <a:rPr lang="en-US" sz="1800" dirty="0">
                <a:sym typeface="Symbol"/>
              </a:rPr>
              <a:t>).</a:t>
            </a:r>
            <a:endParaRPr lang="en-US" sz="1800" dirty="0"/>
          </a:p>
        </p:txBody>
      </p:sp>
    </p:spTree>
    <p:extLst>
      <p:ext uri="{BB962C8B-B14F-4D97-AF65-F5344CB8AC3E}">
        <p14:creationId xmlns:p14="http://schemas.microsoft.com/office/powerpoint/2010/main" val="199785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4.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9.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0.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5.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6.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8.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0.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2.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6.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7.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1685</TotalTime>
  <Words>2219</Words>
  <Application>Microsoft Office PowerPoint</Application>
  <PresentationFormat>On-screen Show (4:3)</PresentationFormat>
  <Paragraphs>270</Paragraphs>
  <Slides>34</Slides>
  <Notes>5</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34</vt:i4>
      </vt:variant>
    </vt:vector>
  </HeadingPairs>
  <TitlesOfParts>
    <vt:vector size="41" baseType="lpstr">
      <vt:lpstr>Symbol</vt:lpstr>
      <vt:lpstr>Times New Roman</vt:lpstr>
      <vt:lpstr>Arial</vt:lpstr>
      <vt:lpstr>Verdana</vt:lpstr>
      <vt:lpstr>USHE</vt:lpstr>
      <vt:lpstr>USHE_slide options</vt:lpstr>
      <vt:lpstr>Equation</vt:lpstr>
      <vt:lpstr>Electric Circuits</vt:lpstr>
      <vt:lpstr>Chapter 7 – R L Step Response (1 of 10)</vt:lpstr>
      <vt:lpstr>Chapter 7 – R L Step Response (2 of 10)</vt:lpstr>
      <vt:lpstr>Chapter 7 – R L Step Response (3 of 10)</vt:lpstr>
      <vt:lpstr>Chapter 7 – R L Step Response (3 of 10)</vt:lpstr>
      <vt:lpstr>Chapter 7 – R L Step Response (4 of 10)</vt:lpstr>
      <vt:lpstr>Chapter 7 – R L Step Response (4 of 10)</vt:lpstr>
      <vt:lpstr>Chapter 7 – R L Step Response (5 of 10)</vt:lpstr>
      <vt:lpstr>Chapter 7 – R L Step Response (5 of 10)</vt:lpstr>
      <vt:lpstr>Chapter 7 – R L Step Response (6 of 10)</vt:lpstr>
      <vt:lpstr>Chapter 7 – R L Step Response (7 of 10)</vt:lpstr>
      <vt:lpstr>Chapter 7 – R L Step Response (8 of 10)</vt:lpstr>
      <vt:lpstr>Chapter 7 – R L Step Response (9 of 10)</vt:lpstr>
      <vt:lpstr>Chapter 7 – R L Step Response (9 of 10)</vt:lpstr>
      <vt:lpstr>Chapter 7 – R L Step Response (10 of 10)</vt:lpstr>
      <vt:lpstr>Chapter 7 – R L Step Response (10 of 10)</vt:lpstr>
      <vt:lpstr>Chapter 7 – R L/R C Step Response</vt:lpstr>
      <vt:lpstr>Chapter 7 – R L/R C Step Response Examples (1 of 10) </vt:lpstr>
      <vt:lpstr>Chapter 7 – R L/R C Step Response Examples (2 of 10) </vt:lpstr>
      <vt:lpstr>Chapter 7 – R L/R C Step Response Examples (2 of 10) </vt:lpstr>
      <vt:lpstr>Chapter 7 – R L/R C Step Response Examples (3 of 10)</vt:lpstr>
      <vt:lpstr>Chapter 7 – R L/R C Step Response Examples (4 of 10)</vt:lpstr>
      <vt:lpstr>Chapter 7 – R L/R C Step Response Examples (5 of 10)</vt:lpstr>
      <vt:lpstr>Chapter 7 – R L/R C Step Response Examples (5 of 10)</vt:lpstr>
      <vt:lpstr>Chapter 7 – R L/R C Step Response Examples (6 of 10)</vt:lpstr>
      <vt:lpstr>Chapter 7 – R L/R C Step Response Examples (6 of 10)</vt:lpstr>
      <vt:lpstr>Chapter 7 – R L/R C Step Response Examples (7 of 10)</vt:lpstr>
      <vt:lpstr>Chapter 7 – R L/R C Step Response Examples (8 of 10)</vt:lpstr>
      <vt:lpstr>Chapter 7 – R L/R C Step Response Examples (8 of 10)</vt:lpstr>
      <vt:lpstr>Chapter 7 – R L/R C Step Response Examples (9 of 10)</vt:lpstr>
      <vt:lpstr>Chapter 7 – R L/R C Step Response Examples (10 of 10)</vt:lpstr>
      <vt:lpstr>Chapter 7 – R L/R C Natural and Step Response (1 of 2)</vt:lpstr>
      <vt:lpstr>Chapter 7 – R L/R C Natural and Step Response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7 – Part 3</dc:title>
  <dc:subject>Engineering</dc:subject>
  <dc:creator>Nilsson and Riedel</dc:creator>
  <cp:keywords/>
  <dc:description/>
  <cp:lastModifiedBy>kml erd</cp:lastModifiedBy>
  <cp:revision>314</cp:revision>
  <dcterms:modified xsi:type="dcterms:W3CDTF">2025-12-16T09:49:14Z</dcterms:modified>
</cp:coreProperties>
</file>