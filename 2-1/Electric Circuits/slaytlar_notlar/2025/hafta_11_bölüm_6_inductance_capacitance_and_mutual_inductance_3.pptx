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3" r:id="rId1"/>
    <p:sldMasterId id="2147483659" r:id="rId2"/>
  </p:sldMasterIdLst>
  <p:notesMasterIdLst>
    <p:notesMasterId r:id="rId32"/>
  </p:notesMasterIdLst>
  <p:handoutMasterIdLst>
    <p:handoutMasterId r:id="rId33"/>
  </p:handoutMasterIdLst>
  <p:sldIdLst>
    <p:sldId id="330" r:id="rId3"/>
    <p:sldId id="743" r:id="rId4"/>
    <p:sldId id="744" r:id="rId5"/>
    <p:sldId id="745" r:id="rId6"/>
    <p:sldId id="746" r:id="rId7"/>
    <p:sldId id="747" r:id="rId8"/>
    <p:sldId id="749" r:id="rId9"/>
    <p:sldId id="750" r:id="rId10"/>
    <p:sldId id="759" r:id="rId11"/>
    <p:sldId id="769" r:id="rId12"/>
    <p:sldId id="770" r:id="rId13"/>
    <p:sldId id="760" r:id="rId14"/>
    <p:sldId id="766" r:id="rId15"/>
    <p:sldId id="767" r:id="rId16"/>
    <p:sldId id="768" r:id="rId17"/>
    <p:sldId id="761" r:id="rId18"/>
    <p:sldId id="762" r:id="rId19"/>
    <p:sldId id="763" r:id="rId20"/>
    <p:sldId id="764" r:id="rId21"/>
    <p:sldId id="737" r:id="rId22"/>
    <p:sldId id="758" r:id="rId23"/>
    <p:sldId id="748" r:id="rId24"/>
    <p:sldId id="751" r:id="rId25"/>
    <p:sldId id="752" r:id="rId26"/>
    <p:sldId id="753" r:id="rId27"/>
    <p:sldId id="754" r:id="rId28"/>
    <p:sldId id="755" r:id="rId29"/>
    <p:sldId id="756" r:id="rId30"/>
    <p:sldId id="765" r:id="rId31"/>
  </p:sldIdLst>
  <p:sldSz cx="9144000" cy="6858000" type="screen4x3"/>
  <p:notesSz cx="6858000" cy="9144000"/>
  <p:embeddedFontLs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orient="horz" pos="2432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5443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orient="horz" pos="2047" userDrawn="1">
          <p15:clr>
            <a:srgbClr val="A4A3A4"/>
          </p15:clr>
        </p15:guide>
        <p15:guide id="8" orient="horz" pos="2296" userDrawn="1">
          <p15:clr>
            <a:srgbClr val="A4A3A4"/>
          </p15:clr>
        </p15:guide>
        <p15:guide id="9" orient="horz" pos="2568" userDrawn="1">
          <p15:clr>
            <a:srgbClr val="A4A3A4"/>
          </p15:clr>
        </p15:guide>
        <p15:guide id="10" orient="horz" pos="2818" userDrawn="1">
          <p15:clr>
            <a:srgbClr val="A4A3A4"/>
          </p15:clr>
        </p15:guide>
        <p15:guide id="11" orient="horz" pos="3339" userDrawn="1">
          <p15:clr>
            <a:srgbClr val="A4A3A4"/>
          </p15:clr>
        </p15:guide>
        <p15:guide id="12" orient="horz" pos="8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uthor" initials="A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96" autoAdjust="0"/>
    <p:restoredTop sz="65731" autoAdjust="0"/>
  </p:normalViewPr>
  <p:slideViewPr>
    <p:cSldViewPr snapToGrid="0" snapToObjects="1">
      <p:cViewPr varScale="1">
        <p:scale>
          <a:sx n="101" d="100"/>
          <a:sy n="101" d="100"/>
        </p:scale>
        <p:origin x="200" y="216"/>
      </p:cViewPr>
      <p:guideLst>
        <p:guide orient="horz" pos="436"/>
        <p:guide pos="264"/>
        <p:guide orient="horz" pos="2432"/>
        <p:guide pos="2880"/>
        <p:guide pos="5443"/>
        <p:guide orient="horz" pos="3997"/>
        <p:guide orient="horz" pos="2047"/>
        <p:guide orient="horz" pos="2296"/>
        <p:guide orient="horz" pos="2568"/>
        <p:guide orient="horz" pos="2818"/>
        <p:guide orient="horz" pos="3339"/>
        <p:guide orient="horz" pos="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6"/>
    </p:cViewPr>
  </p:sorterViewPr>
  <p:notesViewPr>
    <p:cSldViewPr snapToGrid="0" snapToObjects="1">
      <p:cViewPr varScale="1">
        <p:scale>
          <a:sx n="84" d="100"/>
          <a:sy n="84" d="100"/>
        </p:scale>
        <p:origin x="222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PowerPoint presentation contains mathematical equations, you may need to check that your computer has the following installed:</a:t>
            </a:r>
          </a:p>
          <a:p>
            <a:r>
              <a:rPr lang="en-US" dirty="0"/>
              <a:t>1) Math Type Plugin</a:t>
            </a:r>
          </a:p>
          <a:p>
            <a:r>
              <a:rPr lang="en-US" dirty="0"/>
              <a:t>2) Math Player (free versions available)</a:t>
            </a:r>
          </a:p>
          <a:p>
            <a:r>
              <a:rPr lang="en-US" dirty="0"/>
              <a:t>3) NVDA Reader (free versions available)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199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1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Long Description:</a:t>
            </a:r>
          </a:p>
          <a:p>
            <a:r>
              <a:rPr lang="en-US" noProof="0" dirty="0"/>
              <a:t>Negative v subscript g BaseLine Open Parenthesis t Close Parenthesis plus R subscript 1 BaseLine </a:t>
            </a:r>
            <a:r>
              <a:rPr lang="en-US" noProof="0" dirty="0" err="1"/>
              <a:t>i</a:t>
            </a:r>
            <a:r>
              <a:rPr lang="en-US" noProof="0" dirty="0"/>
              <a:t> subscript 1 BaseLine plus L subscript 1 BaseLine Start Fraction d </a:t>
            </a:r>
            <a:r>
              <a:rPr lang="en-US" noProof="0" dirty="0" err="1"/>
              <a:t>i</a:t>
            </a:r>
            <a:r>
              <a:rPr lang="en-US" noProof="0" dirty="0"/>
              <a:t> subscript 1 BaseLine over d t End Fraction minus M Start Fraction d </a:t>
            </a:r>
            <a:r>
              <a:rPr lang="en-US" noProof="0" dirty="0" err="1"/>
              <a:t>i</a:t>
            </a:r>
            <a:r>
              <a:rPr lang="en-US" noProof="0" dirty="0"/>
              <a:t> subscript 2 BaseLine over d t End Fraction equals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4663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Long Description:</a:t>
            </a:r>
          </a:p>
          <a:p>
            <a:r>
              <a:rPr lang="en-US" noProof="0" dirty="0"/>
              <a:t>Integral from 0 to uppercase W subscript 1 BaseLine of d lowercase w equals L subscript 1 BaseLine Integral from 0 to uppercase I subscript 1 BaseLine of lowercase </a:t>
            </a:r>
            <a:r>
              <a:rPr lang="en-US" noProof="0" dirty="0" err="1"/>
              <a:t>i</a:t>
            </a:r>
            <a:r>
              <a:rPr lang="en-US" noProof="0" dirty="0"/>
              <a:t> subscript 1 BaseLine d lowercase </a:t>
            </a:r>
            <a:r>
              <a:rPr lang="en-US" noProof="0" dirty="0" err="1"/>
              <a:t>i</a:t>
            </a:r>
            <a:r>
              <a:rPr lang="en-US" noProof="0" dirty="0"/>
              <a:t> subscript 1 BaseLine, Forward arrow, uppercase W subscript 1 BaseLine equals Start Fraction 1 over 2 End Fraction uppercase L subscript 1 BaseLine lowercase </a:t>
            </a:r>
            <a:r>
              <a:rPr lang="en-US" noProof="0" dirty="0" err="1"/>
              <a:t>i</a:t>
            </a:r>
            <a:r>
              <a:rPr lang="en-US" noProof="0" dirty="0"/>
              <a:t> subscript 1 BaseLine squared.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055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Long Description:</a:t>
            </a:r>
          </a:p>
          <a:p>
            <a:r>
              <a:rPr lang="en-US" noProof="0" dirty="0"/>
              <a:t>Integral from W subscript 1 to W of d w equals Integral from 0 to uppercase I subscript 2 BaseLine of uppercase I subscript 1 BaseLine uppercase M d lowercase </a:t>
            </a:r>
            <a:r>
              <a:rPr lang="en-US" noProof="0" dirty="0" err="1"/>
              <a:t>i</a:t>
            </a:r>
            <a:r>
              <a:rPr lang="en-US" noProof="0" dirty="0"/>
              <a:t> subscript 2 BaseLine plus Integral from 0 to uppercase I subscript 2 BaseLine of uppercase L subscript 2 BaseLine lowercase </a:t>
            </a:r>
            <a:r>
              <a:rPr lang="en-US" noProof="0" dirty="0" err="1"/>
              <a:t>i</a:t>
            </a:r>
            <a:r>
              <a:rPr lang="en-US" noProof="0" dirty="0"/>
              <a:t> subscript 2 BaseLine d lowercase </a:t>
            </a:r>
            <a:r>
              <a:rPr lang="en-US" noProof="0" dirty="0" err="1"/>
              <a:t>i</a:t>
            </a:r>
            <a:r>
              <a:rPr lang="en-US" noProof="0" dirty="0"/>
              <a:t> subscript 2 BaseLine, Forward arrow, uppercase W equals uppercase W subscript 1 BaseLine plus uppercase I subscript 1 BaseLine uppercase I subscript 2 BaseLine uppercase M plus Start Fraction 1 over 2 End Fraction uppercase L subscript 2 BaseLine lowercase </a:t>
            </a:r>
            <a:r>
              <a:rPr lang="en-US" noProof="0" dirty="0" err="1"/>
              <a:t>i</a:t>
            </a:r>
            <a:r>
              <a:rPr lang="en-US" noProof="0" dirty="0"/>
              <a:t> subscript 2 BaseLine squared.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6175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Long Description:</a:t>
            </a:r>
          </a:p>
          <a:p>
            <a:r>
              <a:rPr lang="en-US" noProof="0" dirty="0"/>
              <a:t>w Open Parenthesis t Close Parenthesis equals Start Fraction 1 over 2 End Fraction L subscript 1 BaseLine </a:t>
            </a:r>
            <a:r>
              <a:rPr lang="en-US" noProof="0" dirty="0" err="1"/>
              <a:t>i</a:t>
            </a:r>
            <a:r>
              <a:rPr lang="en-US" noProof="0" dirty="0"/>
              <a:t> subscript 1 BaseLine squared plus Start Fraction 1 over 2 End Fraction L subscript 2 BaseLine </a:t>
            </a:r>
            <a:r>
              <a:rPr lang="en-US" noProof="0" dirty="0" err="1"/>
              <a:t>i</a:t>
            </a:r>
            <a:r>
              <a:rPr lang="en-US" noProof="0" dirty="0"/>
              <a:t> subscript 2 BaseLine squared plus or minus M </a:t>
            </a:r>
            <a:r>
              <a:rPr lang="en-US" noProof="0" dirty="0" err="1"/>
              <a:t>i</a:t>
            </a:r>
            <a:r>
              <a:rPr lang="en-US" noProof="0" dirty="0"/>
              <a:t> subscript 1 BaseLine </a:t>
            </a:r>
            <a:r>
              <a:rPr lang="en-US" noProof="0" dirty="0" err="1"/>
              <a:t>i</a:t>
            </a:r>
            <a:r>
              <a:rPr lang="en-US" noProof="0" dirty="0"/>
              <a:t> subscript 2 BaseLine.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0631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Long Description 1:</a:t>
            </a:r>
          </a:p>
          <a:p>
            <a:r>
              <a:rPr lang="en-US" noProof="0" dirty="0"/>
              <a:t> Start Fraction 1 over 2 End Fraction L subscript 1 BaseLine </a:t>
            </a:r>
            <a:r>
              <a:rPr lang="en-US" noProof="0" dirty="0" err="1"/>
              <a:t>i</a:t>
            </a:r>
            <a:r>
              <a:rPr lang="en-US" noProof="0" dirty="0"/>
              <a:t> subscript 1 BaseLine squared plus Start Fraction 1 over 2 End Fraction L subscript 2 BaseLine </a:t>
            </a:r>
            <a:r>
              <a:rPr lang="en-US" noProof="0" dirty="0" err="1"/>
              <a:t>i</a:t>
            </a:r>
            <a:r>
              <a:rPr lang="en-US" noProof="0" dirty="0"/>
              <a:t> subscript 2 BaseLine squared minus M </a:t>
            </a:r>
            <a:r>
              <a:rPr lang="en-US" noProof="0" dirty="0" err="1"/>
              <a:t>i</a:t>
            </a:r>
            <a:r>
              <a:rPr lang="en-US" noProof="0" dirty="0"/>
              <a:t> subscript 1 BaseLine </a:t>
            </a:r>
            <a:r>
              <a:rPr lang="en-US" noProof="0" dirty="0" err="1"/>
              <a:t>i</a:t>
            </a:r>
            <a:r>
              <a:rPr lang="en-US" noProof="0" dirty="0"/>
              <a:t> subscript 2 BaseLine equals 0.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Long Description 2:</a:t>
            </a:r>
          </a:p>
          <a:p>
            <a:r>
              <a:rPr lang="en-US" noProof="0" dirty="0"/>
              <a:t>Open Parenthesis Start Root Start Fraction L subscript 1 BaseLine over 2 End Fraction End Root </a:t>
            </a:r>
            <a:r>
              <a:rPr lang="en-US" noProof="0" dirty="0" err="1"/>
              <a:t>i</a:t>
            </a:r>
            <a:r>
              <a:rPr lang="en-US" noProof="0" dirty="0"/>
              <a:t> subscript 1 BaseLine minus Start Root Start Fraction L subscript 2 BaseLine over 2 End Fraction End Root </a:t>
            </a:r>
            <a:r>
              <a:rPr lang="en-US" noProof="0" dirty="0" err="1"/>
              <a:t>i</a:t>
            </a:r>
            <a:r>
              <a:rPr lang="en-US" noProof="0" dirty="0"/>
              <a:t> subscript 2 BaseLine Close Parenthesis squared plus </a:t>
            </a:r>
            <a:r>
              <a:rPr lang="en-US" noProof="0" dirty="0" err="1"/>
              <a:t>i</a:t>
            </a:r>
            <a:r>
              <a:rPr lang="en-US" noProof="0" dirty="0"/>
              <a:t> subscript 1 BaseLine </a:t>
            </a:r>
            <a:r>
              <a:rPr lang="en-US" noProof="0" dirty="0" err="1"/>
              <a:t>i</a:t>
            </a:r>
            <a:r>
              <a:rPr lang="en-US" noProof="0" dirty="0"/>
              <a:t> subscript 2 BaseLine Open Parenthesis Start Root L subscript 1 BaseLine L subscript 2 BaseLine End Root minus M Close Parenthesis equals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8594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-add copyrigh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9" name="Content Placeholder"/>
          <p:cNvSpPr txBox="1">
            <a:spLocks noGrp="1"/>
          </p:cNvSpPr>
          <p:nvPr>
            <p:ph type="body" idx="1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0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677B9-EC76-47FA-B8D6-49D033518C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4397375" cy="45259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of front cover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D3915-2147-4382-A599-2376CC8854D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29200" y="1600200"/>
            <a:ext cx="3657600" cy="1492250"/>
          </a:xfrm>
        </p:spPr>
        <p:txBody>
          <a:bodyPr anchor="b"/>
          <a:lstStyle>
            <a:lvl1pPr marL="101600" indent="0">
              <a:buNone/>
              <a:defRPr sz="3000"/>
            </a:lvl1pPr>
            <a:lvl2pPr marL="558800" indent="0">
              <a:buNone/>
              <a:defRPr/>
            </a:lvl2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8FD8D-0DB0-4A1A-A3F1-E26B606AC8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29200" y="3252788"/>
            <a:ext cx="3657600" cy="2873375"/>
          </a:xfrm>
        </p:spPr>
        <p:txBody>
          <a:bodyPr/>
          <a:lstStyle>
            <a:lvl1pPr marL="101600" indent="0">
              <a:buNone/>
              <a:defRPr sz="2200"/>
            </a:lvl1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5328E6C-2B17-49B8-8712-6C0E107A1D9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E0B5B1C-8858-43DC-BD75-C546F47387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1B8939D-A957-42F9-A1B5-556D29D235A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6400801"/>
            <a:ext cx="1001713" cy="228600"/>
          </a:xfrm>
        </p:spPr>
        <p:txBody>
          <a:bodyPr anchor="ctr"/>
          <a:lstStyle>
            <a:lvl1pPr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CF87F15-2C58-4DFC-BACB-0E2C6507BC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97088" y="6400800"/>
            <a:ext cx="6589712" cy="228600"/>
          </a:xfrm>
        </p:spPr>
        <p:txBody>
          <a:bodyPr anchor="ctr"/>
          <a:lstStyle>
            <a:lvl1pPr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839355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add copyrigh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itle Placeholder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Content Placeholder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C6122C06-0248-45C8-9890-FDA2C7B0CD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6400801"/>
            <a:ext cx="1001713" cy="228600"/>
          </a:xfrm>
        </p:spPr>
        <p:txBody>
          <a:bodyPr anchor="ctr"/>
          <a:lstStyle>
            <a:lvl1pPr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E3F0-3064-41BA-BF34-B5D9350D8D4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836402" y="6400801"/>
            <a:ext cx="6908800" cy="228600"/>
          </a:xfrm>
        </p:spPr>
        <p:txBody>
          <a:bodyPr anchor="ctr"/>
          <a:lstStyle>
            <a:lvl1pPr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45AE3-EB76-41DE-97B2-CFE79B73D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441450"/>
            <a:ext cx="8232775" cy="470996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3D41-401A-43DB-9BC0-38F51965B8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556327"/>
            <a:ext cx="3635375" cy="452062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34542" y="1556327"/>
            <a:ext cx="4452257" cy="22675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4542" y="3971925"/>
            <a:ext cx="4452258" cy="21050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0625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552575"/>
            <a:ext cx="3991970" cy="4438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94830" y="1552575"/>
            <a:ext cx="3991970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110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1" y="1552575"/>
            <a:ext cx="2595603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4199" y="1552575"/>
            <a:ext cx="2595602" cy="4438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1197" y="1552575"/>
            <a:ext cx="2595603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4433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552575"/>
            <a:ext cx="1885950" cy="4438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2593" y="1552575"/>
            <a:ext cx="1885950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87986" y="1552575"/>
            <a:ext cx="1885950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803378" y="1552575"/>
            <a:ext cx="1885950" cy="4438650"/>
          </a:xfrm>
        </p:spPr>
        <p:txBody>
          <a:bodyPr/>
          <a:lstStyle/>
          <a:p>
            <a:pPr marL="256032" marR="0" lvl="0" indent="-154432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/>
              <a:buChar char="•"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12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7C1B-C047-7B02-4D88-804B9023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9194"/>
            <a:ext cx="8229600" cy="590349"/>
          </a:xfrm>
        </p:spPr>
        <p:txBody>
          <a:bodyPr lIns="0" tIns="18000" rIns="0" bIns="18000" anchor="ctr" anchorCtr="0">
            <a:spAutoFit/>
          </a:bodyPr>
          <a:lstStyle>
            <a:lvl1pPr>
              <a:defRPr sz="3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D910A-3690-45F8-A412-24DF80B21C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3019D-CCCC-2B72-EE55-406C5B5A635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443E3-365E-BA1E-8B2A-10A135AD20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128713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044276D-146B-04ED-2584-1F73C80387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19263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91326B-7E5C-52F7-0192-B341BB04E3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309813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84C2C-13D5-AC31-6F9E-7C535AD9B9A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900363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DDCA9F7-C6FB-1AC7-C5ED-58EF2A043F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482367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C135434-5DEA-7BC0-61C9-0B301DBFF8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4046908"/>
            <a:ext cx="4054475" cy="401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9A0236E-3561-F887-304D-CFB6EA8D1A6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4594596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44A09B1-2F29-7C12-1DAC-0B0FFC97910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7200" y="5141913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9013FA0-5A0E-D6E7-CEC3-F8E4CF88BD5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200" y="5695104"/>
            <a:ext cx="4054475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BA72FC3-F32D-8062-B6B4-D907293E4A1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827588" y="1128713"/>
            <a:ext cx="3859212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A809BE10-F6F6-3D2E-28DC-F34EAFA105F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827588" y="1719263"/>
            <a:ext cx="3859212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9EAD1F78-8B9D-A751-47AF-C3B21F4ADFE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827588" y="2309813"/>
            <a:ext cx="3859212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CB89E724-2231-FC7C-A540-D7989558712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827588" y="2900363"/>
            <a:ext cx="3859212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5F7F3EC-5606-549C-D111-E17C4CD22289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827588" y="3482975"/>
            <a:ext cx="3859212" cy="401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90B31E12-25AA-3878-E140-22F8FF89B67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827588" y="4065588"/>
            <a:ext cx="3859212" cy="382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A1A51E1E-F893-E38A-248C-ADEA6288B15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27588" y="4620604"/>
            <a:ext cx="3859212" cy="36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8C90E203-D626-4BA0-EFEB-1781C3EE190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27588" y="5159375"/>
            <a:ext cx="3859212" cy="401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DB79D3FE-B20D-0317-2605-222F81CE296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827588" y="5720742"/>
            <a:ext cx="3859212" cy="401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1476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le Placeholder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CB993-AC2C-41C5-BFB7-F2499EC1A1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512888"/>
            <a:ext cx="8232775" cy="34178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5" name="Content Placeholder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09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81138"/>
            <a:ext cx="4484688" cy="37544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Figure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F3FDC-1BE7-4A19-A3D7-02B55407B9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48250" y="1481138"/>
            <a:ext cx="3638550" cy="375443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40E849-7663-4A75-9BC8-012C23AC44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5343525"/>
            <a:ext cx="8229600" cy="533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220716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109" y="2647157"/>
            <a:ext cx="1206500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109" y="3613151"/>
            <a:ext cx="1206500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81874" y="1681163"/>
            <a:ext cx="1304925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1874" y="2651590"/>
            <a:ext cx="1304925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81874" y="3613151"/>
            <a:ext cx="1304925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Placeholder"/>
          <p:cNvSpPr txBox="1">
            <a:spLocks noGrp="1"/>
          </p:cNvSpPr>
          <p:nvPr>
            <p:ph type="title" hasCustomPrompt="1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	</a:t>
            </a:r>
            <a:endParaRPr dirty="0"/>
          </a:p>
        </p:txBody>
      </p:sp>
      <p:sp>
        <p:nvSpPr>
          <p:cNvPr id="70" name="Content Placeholder"/>
          <p:cNvSpPr txBox="1">
            <a:spLocks noGrp="1"/>
          </p:cNvSpPr>
          <p:nvPr>
            <p:ph type="body" idx="1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6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Content Placeholder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 descr="Pearson Logo">
            <a:extLst>
              <a:ext uri="{FF2B5EF4-FFF2-40B4-BE49-F238E27FC236}">
                <a16:creationId xmlns:a16="http://schemas.microsoft.com/office/drawing/2014/main" id="{C917F11E-AB97-4E6F-82B8-2F1D136B502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30085" y="6411214"/>
            <a:ext cx="986560" cy="310866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D6AF4CD-D40F-418A-86B2-E8C57AEDD865}"/>
              </a:ext>
            </a:extLst>
          </p:cNvPr>
          <p:cNvSpPr txBox="1">
            <a:spLocks/>
          </p:cNvSpPr>
          <p:nvPr userDrawn="1"/>
        </p:nvSpPr>
        <p:spPr>
          <a:xfrm>
            <a:off x="2564091" y="6490439"/>
            <a:ext cx="6105797" cy="221018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6032" indent="-154432" algn="r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defRPr sz="120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18415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>
                <a:solidFill>
                  <a:schemeClr val="dk1"/>
                </a:solidFill>
              </a:defRPr>
            </a:lvl2pPr>
            <a:lvl3pPr marL="1143000" indent="-12700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▪"/>
              <a:defRPr sz="1600">
                <a:solidFill>
                  <a:schemeClr val="dk1"/>
                </a:solidFill>
              </a:defRPr>
            </a:lvl3pPr>
            <a:lvl4pPr marL="1600200" indent="-12700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>
                <a:solidFill>
                  <a:schemeClr val="dk1"/>
                </a:solidFill>
              </a:defRPr>
            </a:lvl4pPr>
            <a:lvl5pPr marL="2057400" indent="-12700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>
                <a:solidFill>
                  <a:schemeClr val="dk1"/>
                </a:solidFill>
              </a:defRPr>
            </a:lvl5pPr>
            <a:lvl6pPr marL="2514600" indent="-12700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>
                <a:solidFill>
                  <a:schemeClr val="dk1"/>
                </a:solidFill>
              </a:defRPr>
            </a:lvl6pPr>
            <a:lvl7pPr marL="2971800" indent="-12700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>
                <a:solidFill>
                  <a:schemeClr val="dk1"/>
                </a:solidFill>
              </a:defRPr>
            </a:lvl7pPr>
            <a:lvl8pPr marL="3429000" indent="-12700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>
                <a:solidFill>
                  <a:schemeClr val="dk1"/>
                </a:solidFill>
              </a:defRPr>
            </a:lvl8pPr>
            <a:lvl9pPr marL="3886200" indent="-12700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en-US" dirty="0"/>
              <a:t>© 2024 Pearson Education Ltd. All Rights Reserved.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71" r:id="rId7"/>
    <p:sldLayoutId id="2147483673" r:id="rId8"/>
    <p:sldLayoutId id="2147483670" r:id="rId9"/>
    <p:sldLayoutId id="2147483669" r:id="rId10"/>
    <p:sldLayoutId id="214748365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3.wmf"/><Relationship Id="rId3" Type="http://schemas.openxmlformats.org/officeDocument/2006/relationships/image" Target="../media/image8.jpg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9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wmf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jpg"/><Relationship Id="rId7" Type="http://schemas.openxmlformats.org/officeDocument/2006/relationships/image" Target="../media/image2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57.jpg"/><Relationship Id="rId7" Type="http://schemas.openxmlformats.org/officeDocument/2006/relationships/image" Target="../media/image59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30.bin"/><Relationship Id="rId3" Type="http://schemas.openxmlformats.org/officeDocument/2006/relationships/image" Target="../media/image57.jpg"/><Relationship Id="rId21" Type="http://schemas.openxmlformats.org/officeDocument/2006/relationships/image" Target="../media/image68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66.wmf"/><Relationship Id="rId2" Type="http://schemas.openxmlformats.org/officeDocument/2006/relationships/notesSlide" Target="../notesSlides/notesSlide5.xml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63.wmf"/><Relationship Id="rId5" Type="http://schemas.openxmlformats.org/officeDocument/2006/relationships/image" Target="../media/image58.wmf"/><Relationship Id="rId15" Type="http://schemas.openxmlformats.org/officeDocument/2006/relationships/image" Target="../media/image65.wmf"/><Relationship Id="rId23" Type="http://schemas.openxmlformats.org/officeDocument/2006/relationships/image" Target="../media/image69.wmf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28.bin"/><Relationship Id="rId22" Type="http://schemas.openxmlformats.org/officeDocument/2006/relationships/oleObject" Target="../embeddings/oleObject3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3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7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7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4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oleObject" Target="../embeddings/oleObject39.bin"/><Relationship Id="rId7" Type="http://schemas.openxmlformats.org/officeDocument/2006/relationships/image" Target="../media/image7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6" Type="http://schemas.openxmlformats.org/officeDocument/2006/relationships/image" Target="../media/image77.wmf"/><Relationship Id="rId11" Type="http://schemas.openxmlformats.org/officeDocument/2006/relationships/image" Target="../media/image80.png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78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98728-A241-43F4-95FF-6C49FEEA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00" y="208800"/>
            <a:ext cx="8239583" cy="590349"/>
          </a:xfrm>
        </p:spPr>
        <p:txBody>
          <a:bodyPr wrap="square" lIns="0" tIns="18000" rIns="0" bIns="18000" anchor="ctr">
            <a:spAutoFit/>
          </a:bodyPr>
          <a:lstStyle/>
          <a:p>
            <a:r>
              <a:rPr lang="en-US" noProof="0" dirty="0"/>
              <a:t>Electric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18F80-D4FC-4D8F-B2BD-E7BEE7E0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305" y="1106770"/>
            <a:ext cx="8240620" cy="344128"/>
          </a:xfrm>
        </p:spPr>
        <p:txBody>
          <a:bodyPr wrap="square" lIns="0" tIns="18000" rIns="0" bIns="18000" anchor="ctr">
            <a:spAutoFit/>
          </a:bodyPr>
          <a:lstStyle/>
          <a:p>
            <a:r>
              <a:rPr lang="en-US" noProof="0" dirty="0"/>
              <a:t>Twelfth Edition, </a:t>
            </a:r>
            <a:r>
              <a:rPr lang="en-US" dirty="0"/>
              <a:t>Global Edition</a:t>
            </a:r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7457B4-A4CB-46E6-B2F7-582234AA0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62" y="1771328"/>
            <a:ext cx="3609247" cy="451115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222376-7AD7-4443-B67A-120BE12F4D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8799" y="2815153"/>
            <a:ext cx="4092126" cy="498016"/>
          </a:xfrm>
        </p:spPr>
        <p:txBody>
          <a:bodyPr wrap="square" lIns="0" tIns="18000" rIns="0" bIns="18000" anchor="ctr">
            <a:spAutoFit/>
          </a:bodyPr>
          <a:lstStyle/>
          <a:p>
            <a:pPr indent="-101600"/>
            <a:r>
              <a:rPr lang="en-US" noProof="0" dirty="0">
                <a:solidFill>
                  <a:schemeClr val="tx1"/>
                </a:solidFill>
              </a:rPr>
              <a:t>Chapter 6 – Part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D4EC9-4778-4E2F-B136-2A176CA2BA6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8797" y="3586638"/>
            <a:ext cx="4092127" cy="775015"/>
          </a:xfrm>
        </p:spPr>
        <p:txBody>
          <a:bodyPr wrap="square" lIns="0" tIns="18000" rIns="0" bIns="18000" anchor="ctr">
            <a:spAutoFit/>
          </a:bodyPr>
          <a:lstStyle/>
          <a:p>
            <a:pPr marL="0"/>
            <a:r>
              <a:rPr lang="en-US" sz="2400" dirty="0"/>
              <a:t>Inductance, Capacitance, and Mutual Inductance</a:t>
            </a:r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2D6CD67E-9719-942F-6EF3-6FAF10F92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85" y="6411214"/>
            <a:ext cx="986560" cy="31086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E88D28-1A9F-4FC4-946F-10B4629D14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64091" y="6490439"/>
            <a:ext cx="6105797" cy="221018"/>
          </a:xfrm>
        </p:spPr>
        <p:txBody>
          <a:bodyPr wrap="square" lIns="0" tIns="18000" rIns="0" bIns="18000" anchor="ctr">
            <a:spAutoFit/>
          </a:bodyPr>
          <a:lstStyle/>
          <a:p>
            <a:r>
              <a:rPr lang="en-US" noProof="0" dirty="0">
                <a:cs typeface="Verdana" panose="020B0604030504040204" pitchFamily="34" charset="0"/>
              </a:rPr>
              <a:t>© 2024 Pearson Education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133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EA76-008F-4768-9E22-4AA13EB0F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08800"/>
            <a:ext cx="8229600" cy="590349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dirty="0"/>
              <a:t>Chapter 6 – Mutual Inductance </a:t>
            </a:r>
            <a:r>
              <a:rPr lang="en-US" sz="2800" dirty="0"/>
              <a:t>(1 of 15)</a:t>
            </a:r>
            <a:endParaRPr lang="en-US" noProof="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CB3C02-3CAA-29EF-B01D-040CCFCCEE2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7056" y="992264"/>
            <a:ext cx="8243869" cy="775015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400" dirty="0"/>
              <a:t>Start with a simple </a:t>
            </a:r>
            <a:r>
              <a:rPr lang="en-US" altLang="en-US" sz="2400" spc="-300" dirty="0"/>
              <a:t>R </a:t>
            </a:r>
            <a:r>
              <a:rPr lang="en-US" altLang="en-US" sz="2400" dirty="0"/>
              <a:t>L circuit with a time-varying voltage source:</a:t>
            </a:r>
          </a:p>
        </p:txBody>
      </p:sp>
      <p:pic>
        <p:nvPicPr>
          <p:cNvPr id="39" name="Picture 38" descr="The circuit shows an inductor L sub 1 on the right wire, a resistor R sub 1 on the top wire, and an independent voltage source, v sub g, on the left wire.  Mesh current i sub 1 is indicated using clock-wise pointing curved arrow. Voltage across the inductor is given v sub 1.">
            <a:extLst>
              <a:ext uri="{FF2B5EF4-FFF2-40B4-BE49-F238E27FC236}">
                <a16:creationId xmlns:a16="http://schemas.microsoft.com/office/drawing/2014/main" id="{495B15C0-6065-6A39-3D8A-173D2C6D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83" y="1801041"/>
            <a:ext cx="2410744" cy="1826946"/>
          </a:xfrm>
          <a:prstGeom prst="rect">
            <a:avLst/>
          </a:prstGeom>
        </p:spPr>
      </p:pic>
      <p:graphicFrame>
        <p:nvGraphicFramePr>
          <p:cNvPr id="36" name="Object 3" descr="v subscript 1 BaseLine Open Parenthesis t Close Parenthesis equals L subscript 1 BaseLine Start Fraction d i subscript 1 BaseLine over d t End Fraction.">
            <a:extLst>
              <a:ext uri="{FF2B5EF4-FFF2-40B4-BE49-F238E27FC236}">
                <a16:creationId xmlns:a16="http://schemas.microsoft.com/office/drawing/2014/main" id="{111C8C12-A393-FDD3-AC33-7199B8179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130969"/>
              </p:ext>
            </p:extLst>
          </p:nvPr>
        </p:nvGraphicFramePr>
        <p:xfrm>
          <a:off x="6443000" y="2443768"/>
          <a:ext cx="15303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406080" progId="Equation.DSMT4">
                  <p:embed/>
                </p:oleObj>
              </mc:Choice>
              <mc:Fallback>
                <p:oleObj name="Equation" r:id="rId3" imgW="825480" imgH="406080" progId="Equation.DSMT4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000" y="2443768"/>
                        <a:ext cx="153035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497BAF9-9836-BC2A-82F4-34A5AC22B4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106" y="3849278"/>
            <a:ext cx="8242819" cy="775015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Bring in another coil, and continue moving it closer to the first coil – what happens? Eventually , the coils are close enough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FA6F8CB-445F-CDCB-2206-2BC1005D4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813" y="4726094"/>
            <a:ext cx="5298887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that the magnetic field surrounding the</a:t>
            </a:r>
          </a:p>
        </p:txBody>
      </p:sp>
      <p:graphicFrame>
        <p:nvGraphicFramePr>
          <p:cNvPr id="4" name="Object 3" descr="L subscript 1 BaseLine.">
            <a:extLst>
              <a:ext uri="{FF2B5EF4-FFF2-40B4-BE49-F238E27FC236}">
                <a16:creationId xmlns:a16="http://schemas.microsoft.com/office/drawing/2014/main" id="{4EED99FB-68B1-2EC4-69D9-A3F50EBFB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987959"/>
              </p:ext>
            </p:extLst>
          </p:nvPr>
        </p:nvGraphicFramePr>
        <p:xfrm>
          <a:off x="5776379" y="4725466"/>
          <a:ext cx="3063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36" name="Object 3">
                        <a:extLst>
                          <a:ext uri="{FF2B5EF4-FFF2-40B4-BE49-F238E27FC236}">
                            <a16:creationId xmlns:a16="http://schemas.microsoft.com/office/drawing/2014/main" id="{111C8C12-A393-FDD3-AC33-7199B8179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379" y="4725466"/>
                        <a:ext cx="306387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EC0FCDA-98C6-1D30-A1AC-D71002871BF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97599" y="4707044"/>
            <a:ext cx="2459057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coil also </a:t>
            </a:r>
            <a:r>
              <a:rPr lang="en-US" sz="2400" dirty="0">
                <a:sym typeface="Symbol"/>
              </a:rPr>
              <a:t>envelops</a:t>
            </a:r>
            <a:endParaRPr lang="en-US" sz="24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C58CF8C-DB7B-1A00-1097-204CB4FC0F4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1" y="5250948"/>
            <a:ext cx="462989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ym typeface="Symbol"/>
              </a:rPr>
              <a:t>the</a:t>
            </a:r>
            <a:endParaRPr lang="en-US" sz="2400" dirty="0"/>
          </a:p>
        </p:txBody>
      </p:sp>
      <p:graphicFrame>
        <p:nvGraphicFramePr>
          <p:cNvPr id="5" name="Object 4" descr="L subscript 2 BaseLine.">
            <a:extLst>
              <a:ext uri="{FF2B5EF4-FFF2-40B4-BE49-F238E27FC236}">
                <a16:creationId xmlns:a16="http://schemas.microsoft.com/office/drawing/2014/main" id="{28874CF0-22AC-F8C6-B101-14AFA90432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851638"/>
              </p:ext>
            </p:extLst>
          </p:nvPr>
        </p:nvGraphicFramePr>
        <p:xfrm>
          <a:off x="988883" y="5202728"/>
          <a:ext cx="394968" cy="52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EED99FB-68B1-2EC4-69D9-A3F50EBFB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83" y="5202728"/>
                        <a:ext cx="394968" cy="52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7E33111-47B9-28EE-F370-047429AF52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77944" y="5243990"/>
            <a:ext cx="5638800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coil, resulting in a voltage drop across the </a:t>
            </a:r>
          </a:p>
        </p:txBody>
      </p:sp>
      <p:graphicFrame>
        <p:nvGraphicFramePr>
          <p:cNvPr id="6" name="Object 5" descr="L subscript 2 BaseLine.">
            <a:extLst>
              <a:ext uri="{FF2B5EF4-FFF2-40B4-BE49-F238E27FC236}">
                <a16:creationId xmlns:a16="http://schemas.microsoft.com/office/drawing/2014/main" id="{07CEEAF7-0770-4B77-BBD3-20A58CFCE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540177"/>
              </p:ext>
            </p:extLst>
          </p:nvPr>
        </p:nvGraphicFramePr>
        <p:xfrm>
          <a:off x="7208175" y="5214738"/>
          <a:ext cx="379555" cy="509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8874CF0-22AC-F8C6-B101-14AFA90432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175" y="5214738"/>
                        <a:ext cx="379555" cy="509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EB6AE83-FC48-D600-1C0F-5C415CBBAF5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801" y="5766277"/>
            <a:ext cx="6794500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coil that is proportional to the first derivative of the</a:t>
            </a:r>
          </a:p>
        </p:txBody>
      </p:sp>
      <p:graphicFrame>
        <p:nvGraphicFramePr>
          <p:cNvPr id="7" name="Object 6" descr="i subscript 2 BaseLine,">
            <a:extLst>
              <a:ext uri="{FF2B5EF4-FFF2-40B4-BE49-F238E27FC236}">
                <a16:creationId xmlns:a16="http://schemas.microsoft.com/office/drawing/2014/main" id="{8D89D339-3C31-B006-5194-1E55AC20E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85161"/>
              </p:ext>
            </p:extLst>
          </p:nvPr>
        </p:nvGraphicFramePr>
        <p:xfrm>
          <a:off x="7273925" y="5764213"/>
          <a:ext cx="21748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520" imgH="228600" progId="Equation.DSMT4">
                  <p:embed/>
                </p:oleObj>
              </mc:Choice>
              <mc:Fallback>
                <p:oleObj name="Equation" r:id="rId9" imgW="10152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7CEEAF7-0770-4B77-BBD3-20A58CFCE1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3925" y="5764213"/>
                        <a:ext cx="217488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44BDB00-B71F-6FA8-ADE9-D32E65D9A31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581901" y="5792894"/>
            <a:ext cx="1054099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ym typeface="Symbol"/>
              </a:rPr>
              <a:t>current!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074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89">
            <a:extLst>
              <a:ext uri="{FF2B5EF4-FFF2-40B4-BE49-F238E27FC236}">
                <a16:creationId xmlns:a16="http://schemas.microsoft.com/office/drawing/2014/main" id="{1728BF51-5F35-7FD5-CAF2-8DF901F52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56" y="209042"/>
            <a:ext cx="8229600" cy="590349"/>
          </a:xfrm>
        </p:spPr>
        <p:txBody>
          <a:bodyPr/>
          <a:lstStyle/>
          <a:p>
            <a:r>
              <a:rPr lang="en-US" dirty="0"/>
              <a:t>Chapter 6 – Mutual Inductance </a:t>
            </a:r>
            <a:r>
              <a:rPr lang="en-US" sz="2800" dirty="0"/>
              <a:t>(2 of 15)</a:t>
            </a:r>
            <a:endParaRPr lang="en-US" dirty="0"/>
          </a:p>
        </p:txBody>
      </p:sp>
      <p:pic>
        <p:nvPicPr>
          <p:cNvPr id="109" name="Picture 108" descr="The left circuit shows an inductor L subscript 1 on the right wire, a resistor R subscript 1 on the top wire, and an independent voltage source, v subscript g, on the left wire. The voltage across the L sub 1 baseline is labeled v sub 1 with a positive terminal on the top and a negative terminal on the bottom. The current i flows rightward in the direction of voltage drop. The right circuit shows an inductor L subscript 2 on the left wire, and a resistor R subscript 2 on the right wire. The voltage across the L sub 2 baseline is labeled v sub 2 with a positive terminal on the top and a negative terminal on the bottom. A letter labeled M is shown in the center and it points to both inductors.">
            <a:extLst>
              <a:ext uri="{FF2B5EF4-FFF2-40B4-BE49-F238E27FC236}">
                <a16:creationId xmlns:a16="http://schemas.microsoft.com/office/drawing/2014/main" id="{29A545FE-D89D-41A1-1DAA-D359B1FF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80" y="1164927"/>
            <a:ext cx="4030595" cy="1531626"/>
          </a:xfrm>
          <a:prstGeom prst="rect">
            <a:avLst/>
          </a:prstGeom>
        </p:spPr>
      </p:pic>
      <p:graphicFrame>
        <p:nvGraphicFramePr>
          <p:cNvPr id="110" name="Object 3" descr="v subscript 1 BaseLine Open Parenthesis t Close Parenthesis equals L subscript 1 BaseLine Start Fraction d i subscript 1 BaseLine over d t End Fraction.&#10;v subscript 2 BaseLine Open Parenthesis t Close Parenthesis equals L subscript 1 BaseLine Start Fraction d i subscript 1 BaseLine over d t End Fraction.">
            <a:extLst>
              <a:ext uri="{FF2B5EF4-FFF2-40B4-BE49-F238E27FC236}">
                <a16:creationId xmlns:a16="http://schemas.microsoft.com/office/drawing/2014/main" id="{387CE231-2E76-5635-FAE5-AD55CE6F9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057179"/>
              </p:ext>
            </p:extLst>
          </p:nvPr>
        </p:nvGraphicFramePr>
        <p:xfrm>
          <a:off x="5508625" y="1267208"/>
          <a:ext cx="1577975" cy="157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812520" progId="Equation.DSMT4">
                  <p:embed/>
                </p:oleObj>
              </mc:Choice>
              <mc:Fallback>
                <p:oleObj name="Equation" r:id="rId4" imgW="850680" imgH="812520" progId="Equation.DSMT4">
                  <p:embed/>
                  <p:pic>
                    <p:nvPicPr>
                      <p:cNvPr id="52" name="Object 3">
                        <a:extLst>
                          <a:ext uri="{FF2B5EF4-FFF2-40B4-BE49-F238E27FC236}">
                            <a16:creationId xmlns:a16="http://schemas.microsoft.com/office/drawing/2014/main" id="{8AAA0D56-9BB0-AD02-F80B-406F5DEC3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267208"/>
                        <a:ext cx="1577975" cy="157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Content Placeholder 90">
            <a:extLst>
              <a:ext uri="{FF2B5EF4-FFF2-40B4-BE49-F238E27FC236}">
                <a16:creationId xmlns:a16="http://schemas.microsoft.com/office/drawing/2014/main" id="{B5239BF5-6BC1-491E-E471-3D0D695F33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899" y="2977785"/>
            <a:ext cx="3542851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ym typeface="Symbol"/>
              </a:rPr>
              <a:t>But the voltage drop across the</a:t>
            </a:r>
            <a:endParaRPr lang="en-US" sz="2000" dirty="0"/>
          </a:p>
        </p:txBody>
      </p:sp>
      <p:graphicFrame>
        <p:nvGraphicFramePr>
          <p:cNvPr id="2" name="Object 3" descr="L subscript 2 BaseLine.">
            <a:extLst>
              <a:ext uri="{FF2B5EF4-FFF2-40B4-BE49-F238E27FC236}">
                <a16:creationId xmlns:a16="http://schemas.microsoft.com/office/drawing/2014/main" id="{FA30031B-661F-482A-77F3-57A800319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246726"/>
              </p:ext>
            </p:extLst>
          </p:nvPr>
        </p:nvGraphicFramePr>
        <p:xfrm>
          <a:off x="4016421" y="2993418"/>
          <a:ext cx="281361" cy="376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28600" progId="Equation.DSMT4">
                  <p:embed/>
                </p:oleObj>
              </mc:Choice>
              <mc:Fallback>
                <p:oleObj name="Equation" r:id="rId6" imgW="177480" imgH="228600" progId="Equation.DSMT4">
                  <p:embed/>
                  <p:pic>
                    <p:nvPicPr>
                      <p:cNvPr id="114" name="Object 3" descr="i subscript 2 BaseLine,">
                        <a:extLst>
                          <a:ext uri="{FF2B5EF4-FFF2-40B4-BE49-F238E27FC236}">
                            <a16:creationId xmlns:a16="http://schemas.microsoft.com/office/drawing/2014/main" id="{851D870B-CF64-3BC3-F908-1514A99637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421" y="2993418"/>
                        <a:ext cx="281361" cy="376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Content Placeholder 91">
            <a:extLst>
              <a:ext uri="{FF2B5EF4-FFF2-40B4-BE49-F238E27FC236}">
                <a16:creationId xmlns:a16="http://schemas.microsoft.com/office/drawing/2014/main" id="{BA536B46-AAED-D29D-B194-7CEC60E82A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70189" y="2982708"/>
            <a:ext cx="3821800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and the voltage drop across the </a:t>
            </a:r>
          </a:p>
        </p:txBody>
      </p:sp>
      <p:graphicFrame>
        <p:nvGraphicFramePr>
          <p:cNvPr id="3" name="Object 3" descr="R subscript 2 BaseLine">
            <a:extLst>
              <a:ext uri="{FF2B5EF4-FFF2-40B4-BE49-F238E27FC236}">
                <a16:creationId xmlns:a16="http://schemas.microsoft.com/office/drawing/2014/main" id="{7E2F58F5-83D7-D288-237F-761E53FE0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656451"/>
              </p:ext>
            </p:extLst>
          </p:nvPr>
        </p:nvGraphicFramePr>
        <p:xfrm>
          <a:off x="7951108" y="2997546"/>
          <a:ext cx="327121" cy="383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28600" progId="Equation.DSMT4">
                  <p:embed/>
                </p:oleObj>
              </mc:Choice>
              <mc:Fallback>
                <p:oleObj name="Equation" r:id="rId8" imgW="203040" imgH="228600" progId="Equation.DSMT4">
                  <p:embed/>
                  <p:pic>
                    <p:nvPicPr>
                      <p:cNvPr id="2" name="Object 3" descr="L subscript 2 BaseLine.">
                        <a:extLst>
                          <a:ext uri="{FF2B5EF4-FFF2-40B4-BE49-F238E27FC236}">
                            <a16:creationId xmlns:a16="http://schemas.microsoft.com/office/drawing/2014/main" id="{FA30031B-661F-482A-77F3-57A800319B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108" y="2997546"/>
                        <a:ext cx="327121" cy="383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Content Placeholder 92">
            <a:extLst>
              <a:ext uri="{FF2B5EF4-FFF2-40B4-BE49-F238E27FC236}">
                <a16:creationId xmlns:a16="http://schemas.microsoft.com/office/drawing/2014/main" id="{571BC50D-340B-F080-C739-9128C1F8E1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5374" y="3383701"/>
            <a:ext cx="3390501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resistor) creates current in the </a:t>
            </a:r>
          </a:p>
        </p:txBody>
      </p:sp>
      <p:graphicFrame>
        <p:nvGraphicFramePr>
          <p:cNvPr id="113" name="Object 3" descr="R subscript 2 BaseLine minus L subscript 2 BaseLine.">
            <a:extLst>
              <a:ext uri="{FF2B5EF4-FFF2-40B4-BE49-F238E27FC236}">
                <a16:creationId xmlns:a16="http://schemas.microsoft.com/office/drawing/2014/main" id="{E5BBC850-AFDD-6775-28D6-A63D296D0B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863367"/>
              </p:ext>
            </p:extLst>
          </p:nvPr>
        </p:nvGraphicFramePr>
        <p:xfrm>
          <a:off x="3887788" y="3397250"/>
          <a:ext cx="6508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28600" progId="Equation.DSMT4">
                  <p:embed/>
                </p:oleObj>
              </mc:Choice>
              <mc:Fallback>
                <p:oleObj name="Equation" r:id="rId10" imgW="406080" imgH="228600" progId="Equation.DSMT4">
                  <p:embed/>
                  <p:pic>
                    <p:nvPicPr>
                      <p:cNvPr id="112" name="Object 3">
                        <a:extLst>
                          <a:ext uri="{FF2B5EF4-FFF2-40B4-BE49-F238E27FC236}">
                            <a16:creationId xmlns:a16="http://schemas.microsoft.com/office/drawing/2014/main" id="{690E6458-1637-EAE7-BF60-984FC0B23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3397250"/>
                        <a:ext cx="65087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Content Placeholder 93">
            <a:extLst>
              <a:ext uri="{FF2B5EF4-FFF2-40B4-BE49-F238E27FC236}">
                <a16:creationId xmlns:a16="http://schemas.microsoft.com/office/drawing/2014/main" id="{6F4A7881-DAB4-9C69-91C3-C99DCA0D12D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43135" y="3383778"/>
            <a:ext cx="3153078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circuit. This current, labeled</a:t>
            </a:r>
          </a:p>
        </p:txBody>
      </p:sp>
      <p:graphicFrame>
        <p:nvGraphicFramePr>
          <p:cNvPr id="114" name="Object 3" descr="i subscript 2 BaseLine,">
            <a:extLst>
              <a:ext uri="{FF2B5EF4-FFF2-40B4-BE49-F238E27FC236}">
                <a16:creationId xmlns:a16="http://schemas.microsoft.com/office/drawing/2014/main" id="{851D870B-CF64-3BC3-F908-1514A9963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551462"/>
              </p:ext>
            </p:extLst>
          </p:nvPr>
        </p:nvGraphicFramePr>
        <p:xfrm>
          <a:off x="7860520" y="3394008"/>
          <a:ext cx="263908" cy="381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28600" progId="Equation.DSMT4">
                  <p:embed/>
                </p:oleObj>
              </mc:Choice>
              <mc:Fallback>
                <p:oleObj name="Equation" r:id="rId12" imgW="164880" imgH="228600" progId="Equation.DSMT4">
                  <p:embed/>
                  <p:pic>
                    <p:nvPicPr>
                      <p:cNvPr id="112" name="Object 3">
                        <a:extLst>
                          <a:ext uri="{FF2B5EF4-FFF2-40B4-BE49-F238E27FC236}">
                            <a16:creationId xmlns:a16="http://schemas.microsoft.com/office/drawing/2014/main" id="{690E6458-1637-EAE7-BF60-984FC0B23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0520" y="3394008"/>
                        <a:ext cx="263908" cy="3815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Content Placeholder 94">
            <a:extLst>
              <a:ext uri="{FF2B5EF4-FFF2-40B4-BE49-F238E27FC236}">
                <a16:creationId xmlns:a16="http://schemas.microsoft.com/office/drawing/2014/main" id="{93511F91-AF9A-0F69-3B68-363F6C68F88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244" y="3815036"/>
            <a:ext cx="4881326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induces a time-varying magnetic field in the</a:t>
            </a:r>
          </a:p>
        </p:txBody>
      </p:sp>
      <p:graphicFrame>
        <p:nvGraphicFramePr>
          <p:cNvPr id="4" name="Object 3" descr="L subscript 2 BaseLine.">
            <a:extLst>
              <a:ext uri="{FF2B5EF4-FFF2-40B4-BE49-F238E27FC236}">
                <a16:creationId xmlns:a16="http://schemas.microsoft.com/office/drawing/2014/main" id="{2BA932A3-0B22-1D3C-6CA1-7FE6E4B5C6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64329"/>
              </p:ext>
            </p:extLst>
          </p:nvPr>
        </p:nvGraphicFramePr>
        <p:xfrm>
          <a:off x="5359443" y="3828444"/>
          <a:ext cx="281361" cy="376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2" name="Object 3" descr="L subscript 2 BaseLine.">
                        <a:extLst>
                          <a:ext uri="{FF2B5EF4-FFF2-40B4-BE49-F238E27FC236}">
                            <a16:creationId xmlns:a16="http://schemas.microsoft.com/office/drawing/2014/main" id="{FA30031B-661F-482A-77F3-57A800319B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43" y="3828444"/>
                        <a:ext cx="281361" cy="376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Content Placeholder 95">
            <a:extLst>
              <a:ext uri="{FF2B5EF4-FFF2-40B4-BE49-F238E27FC236}">
                <a16:creationId xmlns:a16="http://schemas.microsoft.com/office/drawing/2014/main" id="{64BB60BF-760A-D2C1-15FA-983FC66A6A5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05158" y="3814357"/>
            <a:ext cx="2928302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coil, causes additional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3273F7D5-68D2-7DCC-7266-940D087A872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146" y="4203994"/>
            <a:ext cx="2940230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voltage to drop across the</a:t>
            </a:r>
          </a:p>
        </p:txBody>
      </p:sp>
      <p:graphicFrame>
        <p:nvGraphicFramePr>
          <p:cNvPr id="5" name="Object 4" descr="L subscript 2 BaseLine.">
            <a:extLst>
              <a:ext uri="{FF2B5EF4-FFF2-40B4-BE49-F238E27FC236}">
                <a16:creationId xmlns:a16="http://schemas.microsoft.com/office/drawing/2014/main" id="{B3F25D31-E54E-8530-40E2-5E9999454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428522"/>
              </p:ext>
            </p:extLst>
          </p:nvPr>
        </p:nvGraphicFramePr>
        <p:xfrm>
          <a:off x="3435920" y="4215517"/>
          <a:ext cx="281361" cy="376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4" name="Object 3" descr="L subscript 2 BaseLine.">
                        <a:extLst>
                          <a:ext uri="{FF2B5EF4-FFF2-40B4-BE49-F238E27FC236}">
                            <a16:creationId xmlns:a16="http://schemas.microsoft.com/office/drawing/2014/main" id="{2BA932A3-0B22-1D3C-6CA1-7FE6E4B5C6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920" y="4215517"/>
                        <a:ext cx="281361" cy="376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Content Placeholder 97">
            <a:extLst>
              <a:ext uri="{FF2B5EF4-FFF2-40B4-BE49-F238E27FC236}">
                <a16:creationId xmlns:a16="http://schemas.microsoft.com/office/drawing/2014/main" id="{67C6F933-AC56-FB97-9FE7-701086D9D16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63646" y="4208209"/>
            <a:ext cx="2482373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coil, and, because the</a:t>
            </a:r>
          </a:p>
        </p:txBody>
      </p:sp>
      <p:graphicFrame>
        <p:nvGraphicFramePr>
          <p:cNvPr id="6" name="Object 5" descr="L subscript 2 BaseLine.">
            <a:extLst>
              <a:ext uri="{FF2B5EF4-FFF2-40B4-BE49-F238E27FC236}">
                <a16:creationId xmlns:a16="http://schemas.microsoft.com/office/drawing/2014/main" id="{D8027D22-359E-EDC0-DD52-CDEA77D834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44743"/>
              </p:ext>
            </p:extLst>
          </p:nvPr>
        </p:nvGraphicFramePr>
        <p:xfrm>
          <a:off x="6287077" y="4225821"/>
          <a:ext cx="273086" cy="365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5" name="Object 4" descr="L subscript 2 BaseLine.">
                        <a:extLst>
                          <a:ext uri="{FF2B5EF4-FFF2-40B4-BE49-F238E27FC236}">
                            <a16:creationId xmlns:a16="http://schemas.microsoft.com/office/drawing/2014/main" id="{B3F25D31-E54E-8530-40E2-5E99994543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7077" y="4225821"/>
                        <a:ext cx="273086" cy="365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Content Placeholder 98">
            <a:extLst>
              <a:ext uri="{FF2B5EF4-FFF2-40B4-BE49-F238E27FC236}">
                <a16:creationId xmlns:a16="http://schemas.microsoft.com/office/drawing/2014/main" id="{BB50971C-F1E5-179F-FE52-732A24D4B1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611928" y="4205991"/>
            <a:ext cx="2022485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coil is close to the</a:t>
            </a:r>
          </a:p>
        </p:txBody>
      </p:sp>
      <p:graphicFrame>
        <p:nvGraphicFramePr>
          <p:cNvPr id="7" name="Object 6" descr="L subscript 1 BaseLine.">
            <a:extLst>
              <a:ext uri="{FF2B5EF4-FFF2-40B4-BE49-F238E27FC236}">
                <a16:creationId xmlns:a16="http://schemas.microsoft.com/office/drawing/2014/main" id="{5CDF205D-5D93-5300-2FB0-28BCDE8E61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713223"/>
              </p:ext>
            </p:extLst>
          </p:nvPr>
        </p:nvGraphicFramePr>
        <p:xfrm>
          <a:off x="425899" y="4615182"/>
          <a:ext cx="2635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28600" progId="Equation.DSMT4">
                  <p:embed/>
                </p:oleObj>
              </mc:Choice>
              <mc:Fallback>
                <p:oleObj name="Equation" r:id="rId15" imgW="164880" imgH="228600" progId="Equation.DSMT4">
                  <p:embed/>
                  <p:pic>
                    <p:nvPicPr>
                      <p:cNvPr id="5" name="Object 4" descr="L subscript 2 BaseLine.">
                        <a:extLst>
                          <a:ext uri="{FF2B5EF4-FFF2-40B4-BE49-F238E27FC236}">
                            <a16:creationId xmlns:a16="http://schemas.microsoft.com/office/drawing/2014/main" id="{B3F25D31-E54E-8530-40E2-5E99994543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899" y="4615182"/>
                        <a:ext cx="263525" cy="377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Content Placeholder 99">
            <a:extLst>
              <a:ext uri="{FF2B5EF4-FFF2-40B4-BE49-F238E27FC236}">
                <a16:creationId xmlns:a16="http://schemas.microsoft.com/office/drawing/2014/main" id="{9EF8756F-530A-50DB-DDEE-60C7F7BD8A3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41585" y="4602594"/>
            <a:ext cx="5210641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coil, causes additional voltage drop across the</a:t>
            </a:r>
          </a:p>
        </p:txBody>
      </p:sp>
      <p:graphicFrame>
        <p:nvGraphicFramePr>
          <p:cNvPr id="8" name="Object 7" descr="L subscript 1 BaseLine.">
            <a:extLst>
              <a:ext uri="{FF2B5EF4-FFF2-40B4-BE49-F238E27FC236}">
                <a16:creationId xmlns:a16="http://schemas.microsoft.com/office/drawing/2014/main" id="{136C5124-B6AB-2048-1842-905B31D8D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188440"/>
              </p:ext>
            </p:extLst>
          </p:nvPr>
        </p:nvGraphicFramePr>
        <p:xfrm>
          <a:off x="6036759" y="4618513"/>
          <a:ext cx="2635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28600" progId="Equation.DSMT4">
                  <p:embed/>
                </p:oleObj>
              </mc:Choice>
              <mc:Fallback>
                <p:oleObj name="Equation" r:id="rId15" imgW="164880" imgH="228600" progId="Equation.DSMT4">
                  <p:embed/>
                  <p:pic>
                    <p:nvPicPr>
                      <p:cNvPr id="7" name="Object 6" descr="L subscript 1 BaseLine.">
                        <a:extLst>
                          <a:ext uri="{FF2B5EF4-FFF2-40B4-BE49-F238E27FC236}">
                            <a16:creationId xmlns:a16="http://schemas.microsoft.com/office/drawing/2014/main" id="{5CDF205D-5D93-5300-2FB0-28BCDE8E61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6759" y="4618513"/>
                        <a:ext cx="263525" cy="377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Content Placeholder 100">
            <a:extLst>
              <a:ext uri="{FF2B5EF4-FFF2-40B4-BE49-F238E27FC236}">
                <a16:creationId xmlns:a16="http://schemas.microsoft.com/office/drawing/2014/main" id="{F3D68E1E-9C75-BE84-0F87-4123A05D1AB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384817" y="4605224"/>
            <a:ext cx="2201755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coil, proportional to</a:t>
            </a:r>
          </a:p>
        </p:txBody>
      </p:sp>
      <p:sp>
        <p:nvSpPr>
          <p:cNvPr id="102" name="Content Placeholder 101">
            <a:extLst>
              <a:ext uri="{FF2B5EF4-FFF2-40B4-BE49-F238E27FC236}">
                <a16:creationId xmlns:a16="http://schemas.microsoft.com/office/drawing/2014/main" id="{667EE22A-3D83-ECE2-09F1-8A560D7AF7B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0771" y="5033340"/>
            <a:ext cx="2702480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the first derivative of the</a:t>
            </a:r>
          </a:p>
        </p:txBody>
      </p:sp>
      <p:graphicFrame>
        <p:nvGraphicFramePr>
          <p:cNvPr id="9" name="Object 3" descr="i subscript 2 BaseLine,">
            <a:extLst>
              <a:ext uri="{FF2B5EF4-FFF2-40B4-BE49-F238E27FC236}">
                <a16:creationId xmlns:a16="http://schemas.microsoft.com/office/drawing/2014/main" id="{F3EFAC29-E32A-28FE-7EB4-BD580783CA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659861"/>
              </p:ext>
            </p:extLst>
          </p:nvPr>
        </p:nvGraphicFramePr>
        <p:xfrm>
          <a:off x="3190478" y="5045656"/>
          <a:ext cx="263908" cy="381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28600" progId="Equation.DSMT4">
                  <p:embed/>
                </p:oleObj>
              </mc:Choice>
              <mc:Fallback>
                <p:oleObj name="Equation" r:id="rId12" imgW="164880" imgH="228600" progId="Equation.DSMT4">
                  <p:embed/>
                  <p:pic>
                    <p:nvPicPr>
                      <p:cNvPr id="114" name="Object 3" descr="i subscript 2 BaseLine,">
                        <a:extLst>
                          <a:ext uri="{FF2B5EF4-FFF2-40B4-BE49-F238E27FC236}">
                            <a16:creationId xmlns:a16="http://schemas.microsoft.com/office/drawing/2014/main" id="{851D870B-CF64-3BC3-F908-1514A99637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478" y="5045656"/>
                        <a:ext cx="263908" cy="3815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Content Placeholder 102">
            <a:extLst>
              <a:ext uri="{FF2B5EF4-FFF2-40B4-BE49-F238E27FC236}">
                <a16:creationId xmlns:a16="http://schemas.microsoft.com/office/drawing/2014/main" id="{6978B84C-9E1B-0338-08CE-AFDAA25AD62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501613" y="5033340"/>
            <a:ext cx="1019908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current!</a:t>
            </a:r>
          </a:p>
        </p:txBody>
      </p:sp>
    </p:spTree>
    <p:extLst>
      <p:ext uri="{BB962C8B-B14F-4D97-AF65-F5344CB8AC3E}">
        <p14:creationId xmlns:p14="http://schemas.microsoft.com/office/powerpoint/2010/main" val="232384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09494"/>
            <a:ext cx="8208963" cy="590349"/>
          </a:xfrm>
        </p:spPr>
        <p:txBody>
          <a:bodyPr/>
          <a:lstStyle/>
          <a:p>
            <a:r>
              <a:rPr lang="en-US" dirty="0"/>
              <a:t>Chapter 6 – Mutual Inductance </a:t>
            </a:r>
            <a:r>
              <a:rPr lang="en-US" sz="2800" dirty="0"/>
              <a:t>(3 of 15)</a:t>
            </a:r>
            <a:endParaRPr lang="en-US" dirty="0"/>
          </a:p>
        </p:txBody>
      </p:sp>
      <p:pic>
        <p:nvPicPr>
          <p:cNvPr id="15" name="Picture 14" descr="The circuit on the left shows an inductor L subscript 1 on the right wire, a resistor R1 on the top wire, and an independent voltage source, v sub g, on the left wire. Mesh current in this circuit is indicated by a clockwise pointing curved arrow, i1. Voltage drop across L subscript 1 is v subscript 1.&#10;The circuit on the right shows an inductor L2 on the left wire and a resistor R2 on the right wire. &#10;Mutual inductance of two coils is marked as M, with a double sided arrow pointing to both inductors.&#10;">
            <a:extLst>
              <a:ext uri="{FF2B5EF4-FFF2-40B4-BE49-F238E27FC236}">
                <a16:creationId xmlns:a16="http://schemas.microsoft.com/office/drawing/2014/main" id="{C0236012-FFDF-99AF-E98A-7CFA94138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73421"/>
            <a:ext cx="4105880" cy="1560234"/>
          </a:xfrm>
          <a:prstGeom prst="rect">
            <a:avLst/>
          </a:prstGeom>
        </p:spPr>
      </p:pic>
      <p:graphicFrame>
        <p:nvGraphicFramePr>
          <p:cNvPr id="16" name="Object 3" descr="v subscript 1 BaseLine Open Parenthesis t Close Parenthesis equals L subscript 1 BaseLine Start Fraction d i subscript 1 BaseLine over d t End Fraction plus or minus M Start Fraction d i subscript 2 BaseLine over d t End Fraction.&#10;v subscript 2 BaseLine Open Parenthesis t Close Parenthesis equals plus or minus M Start Fraction d i subscript 1 BaseLine over d t End Fraction plus L subscript 2 BaseLine Start Fraction d i subscript 2 BaseLine over d t End Fraction.">
            <a:extLst>
              <a:ext uri="{FF2B5EF4-FFF2-40B4-BE49-F238E27FC236}">
                <a16:creationId xmlns:a16="http://schemas.microsoft.com/office/drawing/2014/main" id="{0488EA2B-B857-CCAB-FFD6-058218157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223012"/>
              </p:ext>
            </p:extLst>
          </p:nvPr>
        </p:nvGraphicFramePr>
        <p:xfrm>
          <a:off x="5351441" y="1262175"/>
          <a:ext cx="2357481" cy="136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812520" progId="Equation.DSMT4">
                  <p:embed/>
                </p:oleObj>
              </mc:Choice>
              <mc:Fallback>
                <p:oleObj name="Equation" r:id="rId3" imgW="1460160" imgH="81252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41" y="1262175"/>
                        <a:ext cx="2357481" cy="136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618459C-6EC6-C1A5-8434-6CD484928EF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5180" y="3034378"/>
            <a:ext cx="1273920" cy="374906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342900" indent="-342900">
              <a:spcBef>
                <a:spcPts val="600"/>
              </a:spcBef>
            </a:pPr>
            <a:r>
              <a:rPr lang="en-US" sz="2200" dirty="0"/>
              <a:t>We call</a:t>
            </a:r>
          </a:p>
        </p:txBody>
      </p:sp>
      <p:graphicFrame>
        <p:nvGraphicFramePr>
          <p:cNvPr id="7" name="Object 6" descr="L subscript 1 BaseLine.">
            <a:extLst>
              <a:ext uri="{FF2B5EF4-FFF2-40B4-BE49-F238E27FC236}">
                <a16:creationId xmlns:a16="http://schemas.microsoft.com/office/drawing/2014/main" id="{54589366-9B29-3B02-B50F-D7207E0F3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49537"/>
              </p:ext>
            </p:extLst>
          </p:nvPr>
        </p:nvGraphicFramePr>
        <p:xfrm>
          <a:off x="1841562" y="3016150"/>
          <a:ext cx="328489" cy="4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560F16C-53DC-CE3A-8C91-FCF320F3C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62" y="3016150"/>
                        <a:ext cx="328489" cy="4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41F947CA-A774-AD29-EAD2-517908186E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0979" y="3028028"/>
            <a:ext cx="511921" cy="374906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and</a:t>
            </a:r>
          </a:p>
        </p:txBody>
      </p:sp>
      <p:graphicFrame>
        <p:nvGraphicFramePr>
          <p:cNvPr id="8" name="Object 7" descr="L subscript 2 BaseLine.">
            <a:extLst>
              <a:ext uri="{FF2B5EF4-FFF2-40B4-BE49-F238E27FC236}">
                <a16:creationId xmlns:a16="http://schemas.microsoft.com/office/drawing/2014/main" id="{E8BE91FF-84DF-A1C0-CEDA-89759D03FB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034751"/>
              </p:ext>
            </p:extLst>
          </p:nvPr>
        </p:nvGraphicFramePr>
        <p:xfrm>
          <a:off x="3071813" y="2976563"/>
          <a:ext cx="3524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4589366-9B29-3B02-B50F-D7207E0F30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976563"/>
                        <a:ext cx="3524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B9A6B42E-58F1-2B1B-BD73-8D5EFBB721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2080" y="3028028"/>
            <a:ext cx="5088683" cy="374906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the </a:t>
            </a:r>
            <a:r>
              <a:rPr lang="en-US" sz="2200" b="1" dirty="0"/>
              <a:t>self-inductances</a:t>
            </a:r>
            <a:r>
              <a:rPr lang="en-US" sz="2200" dirty="0"/>
              <a:t> of the coils. 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0040C663-6C9E-D665-6CE8-07442FF921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19100" y="3498421"/>
            <a:ext cx="8207375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342900" indent="-342900">
              <a:spcBef>
                <a:spcPts val="600"/>
              </a:spcBef>
            </a:pPr>
            <a:r>
              <a:rPr lang="en-US" sz="2000" dirty="0">
                <a:sym typeface="Symbol"/>
              </a:rPr>
              <a:t>We call M the </a:t>
            </a:r>
            <a:r>
              <a:rPr lang="en-US" sz="2000" b="1" dirty="0">
                <a:sym typeface="Symbol"/>
              </a:rPr>
              <a:t>mutual inductance</a:t>
            </a:r>
            <a:r>
              <a:rPr lang="en-US" sz="2000" dirty="0">
                <a:sym typeface="Symbol"/>
              </a:rPr>
              <a:t> of the coils.</a:t>
            </a:r>
            <a:endParaRPr lang="en-US" sz="2200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2482B3EA-E77D-ACD3-E37E-A6AA76083D8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5179" y="3996774"/>
            <a:ext cx="269033" cy="374906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</a:pPr>
            <a:r>
              <a:rPr lang="en-US" sz="2200" dirty="0"/>
              <a:t> </a:t>
            </a:r>
            <a:r>
              <a:rPr lang="en-US" sz="100" dirty="0"/>
              <a:t> </a:t>
            </a:r>
            <a:endParaRPr lang="en-US" sz="2200" dirty="0"/>
          </a:p>
        </p:txBody>
      </p:sp>
      <p:graphicFrame>
        <p:nvGraphicFramePr>
          <p:cNvPr id="9" name="Object 8" descr="L subscript 1 BaseLine.">
            <a:extLst>
              <a:ext uri="{FF2B5EF4-FFF2-40B4-BE49-F238E27FC236}">
                <a16:creationId xmlns:a16="http://schemas.microsoft.com/office/drawing/2014/main" id="{F92E7460-54F1-4ACF-BC4C-63003E91E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940874"/>
              </p:ext>
            </p:extLst>
          </p:nvPr>
        </p:nvGraphicFramePr>
        <p:xfrm>
          <a:off x="757251" y="3971374"/>
          <a:ext cx="328489" cy="4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4589366-9B29-3B02-B50F-D7207E0F30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51" y="3971374"/>
                        <a:ext cx="328489" cy="4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C38DB2C5-26B1-C1B6-15D1-7EEA95F7C8C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03326" y="3972961"/>
            <a:ext cx="495299" cy="374906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and</a:t>
            </a:r>
          </a:p>
        </p:txBody>
      </p:sp>
      <p:graphicFrame>
        <p:nvGraphicFramePr>
          <p:cNvPr id="10" name="Object 9" descr="L subscript 2 BaseLine.">
            <a:extLst>
              <a:ext uri="{FF2B5EF4-FFF2-40B4-BE49-F238E27FC236}">
                <a16:creationId xmlns:a16="http://schemas.microsoft.com/office/drawing/2014/main" id="{8B660D50-C70E-1268-9E6E-656E753BD8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9900"/>
              </p:ext>
            </p:extLst>
          </p:nvPr>
        </p:nvGraphicFramePr>
        <p:xfrm>
          <a:off x="1814623" y="3974538"/>
          <a:ext cx="3524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8BE91FF-84DF-A1C0-CEDA-89759D03FB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623" y="3974538"/>
                        <a:ext cx="3524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023941EB-3DBA-2BA6-17A0-05A938043B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320925" y="3986878"/>
            <a:ext cx="6138863" cy="374906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and M are related by the following equation:</a:t>
            </a:r>
          </a:p>
        </p:txBody>
      </p:sp>
      <p:graphicFrame>
        <p:nvGraphicFramePr>
          <p:cNvPr id="4" name="Object 3" descr="M equals k Start Root L subscript 1 BaseLine L subscript 2 BaseLine End Root,">
            <a:extLst>
              <a:ext uri="{FF2B5EF4-FFF2-40B4-BE49-F238E27FC236}">
                <a16:creationId xmlns:a16="http://schemas.microsoft.com/office/drawing/2014/main" id="{0560F16C-53DC-CE3A-8C91-FCF320F3C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465970"/>
              </p:ext>
            </p:extLst>
          </p:nvPr>
        </p:nvGraphicFramePr>
        <p:xfrm>
          <a:off x="2814637" y="4532400"/>
          <a:ext cx="15319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266400" progId="Equation.DSMT4">
                  <p:embed/>
                </p:oleObj>
              </mc:Choice>
              <mc:Fallback>
                <p:oleObj name="Equation" r:id="rId9" imgW="825480" imgH="266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7604EF4-94FB-9C97-BEA4-361401708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7" y="4532400"/>
                        <a:ext cx="15319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0 less than or equal to k less than or equal to 1.">
            <a:extLst>
              <a:ext uri="{FF2B5EF4-FFF2-40B4-BE49-F238E27FC236}">
                <a16:creationId xmlns:a16="http://schemas.microsoft.com/office/drawing/2014/main" id="{8DB7C3BC-0FE1-5419-9E8F-BE1F6997F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36079"/>
              </p:ext>
            </p:extLst>
          </p:nvPr>
        </p:nvGraphicFramePr>
        <p:xfrm>
          <a:off x="5262562" y="4582726"/>
          <a:ext cx="108426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177480" progId="Equation.DSMT4">
                  <p:embed/>
                </p:oleObj>
              </mc:Choice>
              <mc:Fallback>
                <p:oleObj name="Equation" r:id="rId11" imgW="583920" imgH="177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7604EF4-94FB-9C97-BEA4-361401708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2562" y="4582726"/>
                        <a:ext cx="108426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0E25-43B0-068F-96AF-9A4BC4BA2FF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3388" y="5157452"/>
            <a:ext cx="8207375" cy="713460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342900" indent="-342900">
              <a:spcBef>
                <a:spcPts val="600"/>
              </a:spcBef>
            </a:pPr>
            <a:r>
              <a:rPr lang="en-US" sz="2200" i="1" dirty="0"/>
              <a:t>k</a:t>
            </a:r>
            <a:r>
              <a:rPr lang="en-US" sz="2200" dirty="0"/>
              <a:t> is called the </a:t>
            </a:r>
            <a:r>
              <a:rPr lang="en-US" sz="2200" b="1" dirty="0"/>
              <a:t>coupling coefficient,</a:t>
            </a:r>
            <a:r>
              <a:rPr lang="en-US" sz="2200" dirty="0"/>
              <a:t> and is a measure of how much of the magnetic field of one coil envelops the other coil.</a:t>
            </a:r>
          </a:p>
        </p:txBody>
      </p:sp>
    </p:spTree>
    <p:extLst>
      <p:ext uri="{BB962C8B-B14F-4D97-AF65-F5344CB8AC3E}">
        <p14:creationId xmlns:p14="http://schemas.microsoft.com/office/powerpoint/2010/main" val="274295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09494"/>
            <a:ext cx="8207375" cy="590349"/>
          </a:xfrm>
        </p:spPr>
        <p:txBody>
          <a:bodyPr/>
          <a:lstStyle/>
          <a:p>
            <a:r>
              <a:rPr lang="en-US" dirty="0"/>
              <a:t>Chapter 6 – Mutual Inductance </a:t>
            </a:r>
            <a:r>
              <a:rPr lang="en-US" sz="2800" dirty="0"/>
              <a:t>(4 of 15)</a:t>
            </a:r>
            <a:endParaRPr lang="en-US" dirty="0"/>
          </a:p>
        </p:txBody>
      </p:sp>
      <p:pic>
        <p:nvPicPr>
          <p:cNvPr id="20" name="Picture 19" descr="The circuit on the left shows an inductor L subscript 1 on the right wire, a resistor R1 on the top wire, and an independent voltage source, v sub g, on the left wire. Mesh current in this circuit is indicated by a clockwise pointing curved arrow, i1. Voltage drop across L subscript 1 is v subscript 1.&#10;The circuit on the right shows an inductor L2 on the left wire and a resistor R2 on the right wire. &#10;Mutual inductance of two coils is marked as M, with a double sided arrow pointing to both inductors.&#10;">
            <a:extLst>
              <a:ext uri="{FF2B5EF4-FFF2-40B4-BE49-F238E27FC236}">
                <a16:creationId xmlns:a16="http://schemas.microsoft.com/office/drawing/2014/main" id="{6B2FE01D-3126-406C-EAA3-BFFF51796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97" y="1033145"/>
            <a:ext cx="3786604" cy="1438909"/>
          </a:xfrm>
          <a:prstGeom prst="rect">
            <a:avLst/>
          </a:prstGeom>
        </p:spPr>
      </p:pic>
      <p:graphicFrame>
        <p:nvGraphicFramePr>
          <p:cNvPr id="21" name="Object 3" descr="v subscript 1 BaseLine Open Parenthesis t Close Parenthesis equals L subscript 1 BaseLine Start Fraction d i subscript 1 BaseLine over d t End Fraction plus or minus M Start Fraction d i subscript 2 BaseLine over d t End Fraction.">
            <a:extLst>
              <a:ext uri="{FF2B5EF4-FFF2-40B4-BE49-F238E27FC236}">
                <a16:creationId xmlns:a16="http://schemas.microsoft.com/office/drawing/2014/main" id="{A1AFBEA4-7D13-544F-DB70-08F9C96CC4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706013"/>
              </p:ext>
            </p:extLst>
          </p:nvPr>
        </p:nvGraphicFramePr>
        <p:xfrm>
          <a:off x="4941888" y="1103313"/>
          <a:ext cx="2068512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406080" progId="Equation.DSMT4">
                  <p:embed/>
                </p:oleObj>
              </mc:Choice>
              <mc:Fallback>
                <p:oleObj name="Equation" r:id="rId3" imgW="1333440" imgH="406080" progId="Equation.DSMT4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1103313"/>
                        <a:ext cx="2068512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 descr="v subscript 2 BaseLine Open Parenthesis t Close Parenthesis equals plus or minus M Start Fraction d i subscript 1 BaseLine over d t End Fraction plus L subscript 2 BaseLine Start Fraction d i subscript 2 BaseLine over d t End Fraction.">
            <a:extLst>
              <a:ext uri="{FF2B5EF4-FFF2-40B4-BE49-F238E27FC236}">
                <a16:creationId xmlns:a16="http://schemas.microsoft.com/office/drawing/2014/main" id="{59CF377D-12BC-FCAE-D42C-358E32FBC3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070126"/>
              </p:ext>
            </p:extLst>
          </p:nvPr>
        </p:nvGraphicFramePr>
        <p:xfrm>
          <a:off x="4940300" y="1824038"/>
          <a:ext cx="226536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60160" imgH="406080" progId="Equation.DSMT4">
                  <p:embed/>
                </p:oleObj>
              </mc:Choice>
              <mc:Fallback>
                <p:oleObj name="Equation" r:id="rId5" imgW="1460160" imgH="406080" progId="Equation.DSMT4">
                  <p:embed/>
                  <p:pic>
                    <p:nvPicPr>
                      <p:cNvPr id="21" name="Object 3">
                        <a:extLst>
                          <a:ext uri="{FF2B5EF4-FFF2-40B4-BE49-F238E27FC236}">
                            <a16:creationId xmlns:a16="http://schemas.microsoft.com/office/drawing/2014/main" id="{A1AFBEA4-7D13-544F-DB70-08F9C96CC4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1824038"/>
                        <a:ext cx="2265363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0E25-43B0-068F-96AF-9A4BC4BA2FF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3388" y="2646419"/>
            <a:ext cx="8207375" cy="3652726"/>
          </a:xfrm>
        </p:spPr>
        <p:txBody>
          <a:bodyPr wrap="square" lIns="0" tIns="18000" rIns="0" bIns="18000" anchor="ctr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200" dirty="0"/>
              <a:t>The sign of the self-induced voltage for the two coils is determined by the passive sign convention.</a:t>
            </a:r>
          </a:p>
          <a:p>
            <a:pPr>
              <a:spcBef>
                <a:spcPts val="600"/>
              </a:spcBef>
            </a:pPr>
            <a:r>
              <a:rPr lang="en-US" altLang="en-US" sz="2200" dirty="0"/>
              <a:t>Based on the inductor voltage polarities and current directions shown in the circuit, the two self-induced voltage terms in the above equations are both positive.</a:t>
            </a:r>
          </a:p>
          <a:p>
            <a:pPr>
              <a:spcBef>
                <a:spcPts val="600"/>
              </a:spcBef>
            </a:pPr>
            <a:r>
              <a:rPr lang="en-US" altLang="en-US" sz="2200" dirty="0"/>
              <a:t>The sign of the mutually-induced voltage for the two coils is determined by physical examination of the coils, and is notated on the circuit schematic using dots.</a:t>
            </a:r>
          </a:p>
          <a:p>
            <a:pPr>
              <a:spcBef>
                <a:spcPts val="600"/>
              </a:spcBef>
            </a:pPr>
            <a:r>
              <a:rPr lang="en-US" altLang="en-US" sz="2200" dirty="0"/>
              <a:t>To determine the sign of the mutually-induced voltages for the two coils, use the </a:t>
            </a:r>
            <a:r>
              <a:rPr lang="en-US" altLang="en-US" sz="2200" b="1" dirty="0"/>
              <a:t>dot convention</a:t>
            </a:r>
            <a:r>
              <a:rPr lang="en-US" alt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491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09494"/>
            <a:ext cx="8207375" cy="590349"/>
          </a:xfrm>
        </p:spPr>
        <p:txBody>
          <a:bodyPr/>
          <a:lstStyle/>
          <a:p>
            <a:r>
              <a:rPr lang="en-US" dirty="0"/>
              <a:t>Chapter 6 – Mutual Inductance </a:t>
            </a:r>
            <a:r>
              <a:rPr lang="en-US" sz="2800" dirty="0"/>
              <a:t>(5 of 15)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0E25-43B0-068F-96AF-9A4BC4BA2FF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3388" y="1196977"/>
            <a:ext cx="8207375" cy="1497010"/>
          </a:xfrm>
          <a:ln w="28575">
            <a:solidFill>
              <a:srgbClr val="007FA3"/>
            </a:solidFill>
          </a:ln>
        </p:spPr>
        <p:txBody>
          <a:bodyPr wrap="square" lIns="54000" tIns="18000" rIns="5400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200" dirty="0"/>
              <a:t>The dot convention for mutually-coupled coils: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200" dirty="0"/>
              <a:t>When the current enters the dotted (un-dotted) terminal of one coil, the mutually-induced voltage drop is positive at the dotted (un-dotted) terminal of the other coil.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46EDC12-292D-3C3F-EBD2-978E27EA4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62" y="2768000"/>
            <a:ext cx="8783276" cy="1895740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F3C990B5-DE94-BE0F-56E4-4A2AE30C8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62" y="4800398"/>
            <a:ext cx="831648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64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11661"/>
            <a:ext cx="8208963" cy="590349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dirty="0"/>
              <a:t>Chapter 6 – Mutual Inductance </a:t>
            </a:r>
            <a:r>
              <a:rPr lang="en-US" sz="2800" dirty="0"/>
              <a:t>(6 of 15)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69540-BB42-E63F-0758-7FE2695A51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1" y="904459"/>
            <a:ext cx="4730749" cy="959681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The mesh current method (</a:t>
            </a:r>
            <a:r>
              <a:rPr lang="en-US" sz="2000" spc="-300" dirty="0"/>
              <a:t>K V </a:t>
            </a:r>
            <a:r>
              <a:rPr lang="en-US" sz="2000" dirty="0"/>
              <a:t>L) is always used to analyze circuits with mutually-coupled coils. Follow these steps:</a:t>
            </a:r>
          </a:p>
        </p:txBody>
      </p:sp>
      <p:pic>
        <p:nvPicPr>
          <p:cNvPr id="7" name="Picture 6" descr="The circuit on the left shows an inductor L subscript 1 on the right wire, a resistor R1 on the top wire, and an independent voltage source, v sub g, on the left wire. Mesh current in this circuit is indicated by a clockwise pointing curved arrow, i1. Voltage drop across L subscript 1 is v subscript 1.&#10;The circuit on the right shows an inductor L2 on the left wire and a resistor R2 on the right wire. &#10;Mutual inductance of two coils is marked as M, with a double sided arrow pointing to both inductors. &#10;A dot is marked near the top right corner of the left circuit, while another dot is marked near the bottom left corner of the right circuit.">
            <a:extLst>
              <a:ext uri="{FF2B5EF4-FFF2-40B4-BE49-F238E27FC236}">
                <a16:creationId xmlns:a16="http://schemas.microsoft.com/office/drawing/2014/main" id="{69BA9628-46FA-11C8-6B64-496AAA24D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53921" y="855089"/>
            <a:ext cx="2649133" cy="101687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8D57AC-541F-E713-A207-C3DA89D8E2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399" y="1929116"/>
            <a:ext cx="8208963" cy="442216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Draw the mesh currents and label them.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Pick a location on the left mesh and sum the voltage drops around the mesh in the direction of the mesh current, using the passive sign convention for the self-induced voltage terms.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Put the mutually-induced voltage term in the mesh equation, but don’t include its sign yet.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Now look at the current in the right mesh – if it enters the dot (un-dot), the mutually-induced voltage term is positive at the dot (un-dot) of the other coil. Put a small + at the dot (un-dot).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If the current in the left mesh points at the + you just drew, the mutually-induced voltage term in the equation has a + sign; otherwise, it has a </a:t>
            </a:r>
            <a:r>
              <a:rPr lang="en-US" sz="2000" dirty="0">
                <a:sym typeface="Symbol"/>
              </a:rPr>
              <a:t></a:t>
            </a:r>
            <a:r>
              <a:rPr lang="en-US" sz="2000" dirty="0"/>
              <a:t> sign.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Repeat steps 2 – 5 for the right mesh!</a:t>
            </a:r>
          </a:p>
        </p:txBody>
      </p:sp>
    </p:spTree>
    <p:extLst>
      <p:ext uri="{BB962C8B-B14F-4D97-AF65-F5344CB8AC3E}">
        <p14:creationId xmlns:p14="http://schemas.microsoft.com/office/powerpoint/2010/main" val="81854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09494"/>
            <a:ext cx="8208963" cy="590349"/>
          </a:xfrm>
        </p:spPr>
        <p:txBody>
          <a:bodyPr/>
          <a:lstStyle/>
          <a:p>
            <a:r>
              <a:rPr lang="en-US" dirty="0"/>
              <a:t>Chapter 6 – Mutual Inductance </a:t>
            </a:r>
            <a:r>
              <a:rPr lang="en-US" sz="2800" dirty="0"/>
              <a:t>(7 of 15)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0E25-43B0-068F-96AF-9A4BC4BA2FF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3388" y="1010902"/>
            <a:ext cx="8207375" cy="713460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200" dirty="0"/>
              <a:t>Write the mesh-current (</a:t>
            </a:r>
            <a:r>
              <a:rPr lang="en-US" altLang="en-US" sz="2200" spc="-300" dirty="0"/>
              <a:t>K V </a:t>
            </a:r>
            <a:r>
              <a:rPr lang="en-US" altLang="en-US" sz="2200" dirty="0"/>
              <a:t>L) equations for the two coils shown here:</a:t>
            </a:r>
          </a:p>
        </p:txBody>
      </p:sp>
      <p:pic>
        <p:nvPicPr>
          <p:cNvPr id="6" name="Picture 5" descr="The circuit on the left shows an inductor L subscript 1 on the right wire, a resistor R1 on the top wire, and an independent voltage source, v sub g, on the left wire. Mesh current in this circuit is indicated by a clockwise pointing curved arrow, i1. Voltage drop across L subscript 1 is v subscript 1.&#10;The circuit on the right shows an inductor L2 on the left wire and a resistor R2 on the right wire. &#10;Mutual inductance of two coils is marked as M, with a double sided arrow pointing to both inductors. &#10;A dot is marked near the top right corner of the left circuit, while another dot is marked near the bottom left corner of the right circuit.">
            <a:extLst>
              <a:ext uri="{FF2B5EF4-FFF2-40B4-BE49-F238E27FC236}">
                <a16:creationId xmlns:a16="http://schemas.microsoft.com/office/drawing/2014/main" id="{83F9B37E-81D7-33B5-2902-4931B320D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800" y="1785537"/>
            <a:ext cx="4029135" cy="1546594"/>
          </a:xfrm>
          <a:prstGeom prst="rect">
            <a:avLst/>
          </a:prstGeom>
        </p:spPr>
      </p:pic>
      <p:graphicFrame>
        <p:nvGraphicFramePr>
          <p:cNvPr id="7" name="Object 3" descr="The figure illustrates the equation with the terms i subscript 1 and i subscript 2. &#10;Long description is available in notes, press F6.">
            <a:extLst>
              <a:ext uri="{FF2B5EF4-FFF2-40B4-BE49-F238E27FC236}">
                <a16:creationId xmlns:a16="http://schemas.microsoft.com/office/drawing/2014/main" id="{F7A1BC2E-DDF2-596C-AECF-000E47C31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200326"/>
              </p:ext>
            </p:extLst>
          </p:nvPr>
        </p:nvGraphicFramePr>
        <p:xfrm>
          <a:off x="327304" y="3504746"/>
          <a:ext cx="37941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406080" progId="Equation.DSMT4">
                  <p:embed/>
                </p:oleObj>
              </mc:Choice>
              <mc:Fallback>
                <p:oleObj name="Equation" r:id="rId4" imgW="2044440" imgH="40608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04" y="3504746"/>
                        <a:ext cx="3794125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 descr="R subscript 2 BaseLine i subscript 2 BaseLine plus L subscript 2 BaseLine Start Fraction d i subscript 2 BaseLine over d t End Fraction minus M Start Fraction d i subscript 1 BaseLine over d t End Fraction equals 0.">
            <a:extLst>
              <a:ext uri="{FF2B5EF4-FFF2-40B4-BE49-F238E27FC236}">
                <a16:creationId xmlns:a16="http://schemas.microsoft.com/office/drawing/2014/main" id="{56B772FA-0BB4-2130-F279-F2D438A65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241265"/>
              </p:ext>
            </p:extLst>
          </p:nvPr>
        </p:nvGraphicFramePr>
        <p:xfrm>
          <a:off x="431800" y="4572559"/>
          <a:ext cx="28987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406080" progId="Equation.DSMT4">
                  <p:embed/>
                </p:oleObj>
              </mc:Choice>
              <mc:Fallback>
                <p:oleObj name="Equation" r:id="rId6" imgW="1562040" imgH="40608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F7A1BC2E-DDF2-596C-AECF-000E47C31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4572559"/>
                        <a:ext cx="2898775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2959D484-874A-2365-7035-3B4ED4351F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8522" y="4644394"/>
            <a:ext cx="5087060" cy="1676634"/>
          </a:xfrm>
          <a:prstGeom prst="rect">
            <a:avLst/>
          </a:prstGeom>
        </p:spPr>
      </p:pic>
      <p:pic>
        <p:nvPicPr>
          <p:cNvPr id="9" name="Picture 8" descr="Diagram of a circular object with arrows and arrows&#10;&#10;AI-generated content may be incorrect.">
            <a:extLst>
              <a:ext uri="{FF2B5EF4-FFF2-40B4-BE49-F238E27FC236}">
                <a16:creationId xmlns:a16="http://schemas.microsoft.com/office/drawing/2014/main" id="{E0839D03-6AB2-C32C-C5BF-37FEA18EE6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0076" y="1567616"/>
            <a:ext cx="3639058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99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Diagram of a circular object with arrows and a few points&#10;&#10;AI-generated content may be incorrect.">
            <a:extLst>
              <a:ext uri="{FF2B5EF4-FFF2-40B4-BE49-F238E27FC236}">
                <a16:creationId xmlns:a16="http://schemas.microsoft.com/office/drawing/2014/main" id="{358750F2-578A-F7FC-102F-BFDB9EFD1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05795" cy="2715004"/>
          </a:xfrm>
          <a:prstGeom prst="rect">
            <a:avLst/>
          </a:prstGeom>
        </p:spPr>
      </p:pic>
      <p:pic>
        <p:nvPicPr>
          <p:cNvPr id="24" name="Picture 23" descr="A text on a piece of paper&#10;&#10;AI-generated content may be incorrect.">
            <a:extLst>
              <a:ext uri="{FF2B5EF4-FFF2-40B4-BE49-F238E27FC236}">
                <a16:creationId xmlns:a16="http://schemas.microsoft.com/office/drawing/2014/main" id="{8D39BE7E-0AD9-BF0C-6E35-1E712F0D7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082" y="2507426"/>
            <a:ext cx="6624918" cy="43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00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486FBBD-93F9-6EED-BDEB-51D343BD7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6" y="81731"/>
            <a:ext cx="6982799" cy="10288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75EFB7E-AFC6-DBAB-5DD0-B7EE634AC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51" y="1538401"/>
            <a:ext cx="5840155" cy="345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5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1045-6298-CCBB-4867-DFFC8A09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24C93A4-243F-7B02-99E4-EB873B23C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6" y="81731"/>
            <a:ext cx="6982799" cy="10288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5D005C-16C7-ED6D-1603-88E0F60F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7" y="946729"/>
            <a:ext cx="4058216" cy="2400635"/>
          </a:xfrm>
          <a:prstGeom prst="rect">
            <a:avLst/>
          </a:prstGeom>
        </p:spPr>
      </p:pic>
      <p:pic>
        <p:nvPicPr>
          <p:cNvPr id="3" name="Picture 2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A6C36319-0FAF-F722-6D12-5FF7D79EE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29" y="3791932"/>
            <a:ext cx="548716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4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DB3B1567-EC05-6E86-6B53-F13F29F8B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67" y="2077426"/>
            <a:ext cx="6230219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4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53559B47-2A24-EBE0-98D4-8809932AE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" y="0"/>
            <a:ext cx="6935168" cy="3562847"/>
          </a:xfrm>
          <a:prstGeom prst="rect">
            <a:avLst/>
          </a:prstGeom>
        </p:spPr>
      </p:pic>
      <p:pic>
        <p:nvPicPr>
          <p:cNvPr id="24" name="Picture 23" descr="A diagram of a circuit&#10;&#10;AI-generated content may be incorrect.">
            <a:extLst>
              <a:ext uri="{FF2B5EF4-FFF2-40B4-BE49-F238E27FC236}">
                <a16:creationId xmlns:a16="http://schemas.microsoft.com/office/drawing/2014/main" id="{C4DC08F8-5BC3-A783-209D-6EA88F5C4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1" y="3562847"/>
            <a:ext cx="4077269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70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AB118-1CFB-8892-7727-88DBF8E2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EA3E6073-B1E1-7B38-8FA0-2565A124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" y="0"/>
            <a:ext cx="6935168" cy="3562847"/>
          </a:xfrm>
          <a:prstGeom prst="rect">
            <a:avLst/>
          </a:prstGeom>
        </p:spPr>
      </p:pic>
      <p:pic>
        <p:nvPicPr>
          <p:cNvPr id="24" name="Picture 23" descr="A diagram of a circuit&#10;&#10;AI-generated content may be incorrect.">
            <a:extLst>
              <a:ext uri="{FF2B5EF4-FFF2-40B4-BE49-F238E27FC236}">
                <a16:creationId xmlns:a16="http://schemas.microsoft.com/office/drawing/2014/main" id="{34C9BB2B-4128-35C5-9034-1522D84C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1" y="3562847"/>
            <a:ext cx="4077269" cy="1295581"/>
          </a:xfrm>
          <a:prstGeom prst="rect">
            <a:avLst/>
          </a:prstGeom>
        </p:spPr>
      </p:pic>
      <p:pic>
        <p:nvPicPr>
          <p:cNvPr id="3" name="Picture 2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512B8153-4B4C-1CF6-85B0-BC041B829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320" y="3157977"/>
            <a:ext cx="2556233" cy="1133634"/>
          </a:xfrm>
          <a:prstGeom prst="rect">
            <a:avLst/>
          </a:prstGeom>
        </p:spPr>
      </p:pic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9794CE0-08CB-DED6-349A-BBD4E3464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320" y="4558347"/>
            <a:ext cx="3791479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85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9ECB-39B9-448F-CD47-2FFED6DC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406646A0-9499-47B9-EFDC-814F0F3D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" y="0"/>
            <a:ext cx="6935168" cy="3562847"/>
          </a:xfrm>
          <a:prstGeom prst="rect">
            <a:avLst/>
          </a:prstGeom>
        </p:spPr>
      </p:pic>
      <p:pic>
        <p:nvPicPr>
          <p:cNvPr id="24" name="Picture 23" descr="A diagram of a circuit&#10;&#10;AI-generated content may be incorrect.">
            <a:extLst>
              <a:ext uri="{FF2B5EF4-FFF2-40B4-BE49-F238E27FC236}">
                <a16:creationId xmlns:a16="http://schemas.microsoft.com/office/drawing/2014/main" id="{4977785C-C8FF-737C-96E3-557F757B0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1" y="3562847"/>
            <a:ext cx="4077269" cy="1295581"/>
          </a:xfrm>
          <a:prstGeom prst="rect">
            <a:avLst/>
          </a:prstGeom>
        </p:spPr>
      </p:pic>
      <p:pic>
        <p:nvPicPr>
          <p:cNvPr id="6" name="Picture 5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115FB489-7401-CAFF-45CC-EC4BA4F9B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320" y="3258877"/>
            <a:ext cx="4341946" cy="1295581"/>
          </a:xfrm>
          <a:prstGeom prst="rect">
            <a:avLst/>
          </a:prstGeo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65CA23F-4C6E-7AD4-BFA2-DD1FB58F9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821" y="4862286"/>
            <a:ext cx="6042323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3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ACF8458-FDE1-6549-2051-153AB1C8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5" y="151515"/>
            <a:ext cx="7201905" cy="638264"/>
          </a:xfrm>
          <a:prstGeom prst="rect">
            <a:avLst/>
          </a:prstGeom>
        </p:spPr>
      </p:pic>
      <p:pic>
        <p:nvPicPr>
          <p:cNvPr id="26" name="Picture 25" descr="A diagram of a circuit&#10;&#10;AI-generated content may be incorrect.">
            <a:extLst>
              <a:ext uri="{FF2B5EF4-FFF2-40B4-BE49-F238E27FC236}">
                <a16:creationId xmlns:a16="http://schemas.microsoft.com/office/drawing/2014/main" id="{C98FF337-6AA2-AFDD-FE39-01C56B46B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3" y="927365"/>
            <a:ext cx="3982006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28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2D24-B813-698B-2E17-3AF4FD73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C6A32E9-F085-7440-440F-790924C39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5" y="151515"/>
            <a:ext cx="7201905" cy="638264"/>
          </a:xfrm>
          <a:prstGeom prst="rect">
            <a:avLst/>
          </a:prstGeom>
        </p:spPr>
      </p:pic>
      <p:pic>
        <p:nvPicPr>
          <p:cNvPr id="26" name="Picture 25" descr="A diagram of a circuit&#10;&#10;AI-generated content may be incorrect.">
            <a:extLst>
              <a:ext uri="{FF2B5EF4-FFF2-40B4-BE49-F238E27FC236}">
                <a16:creationId xmlns:a16="http://schemas.microsoft.com/office/drawing/2014/main" id="{FAFD66C9-A8C1-C111-2EE0-184E034A5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3" y="927365"/>
            <a:ext cx="3982006" cy="290553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D62DE69-4527-10D3-243D-19A722D6D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1" y="4152831"/>
            <a:ext cx="4629796" cy="990738"/>
          </a:xfrm>
          <a:prstGeom prst="rect">
            <a:avLst/>
          </a:prstGeom>
        </p:spPr>
      </p:pic>
      <p:pic>
        <p:nvPicPr>
          <p:cNvPr id="5" name="Picture 4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86088C75-654C-D094-FA09-7CD71B885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61" y="4968910"/>
            <a:ext cx="4563112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45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38DD-49FE-0433-7C01-0BA68C65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diagram of a circuit&#10;&#10;AI-generated content may be incorrect.">
            <a:extLst>
              <a:ext uri="{FF2B5EF4-FFF2-40B4-BE49-F238E27FC236}">
                <a16:creationId xmlns:a16="http://schemas.microsoft.com/office/drawing/2014/main" id="{DD8A80F5-F377-499B-0927-0A6D390AB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927365"/>
            <a:ext cx="3982006" cy="2905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DDCF66-47D9-58A9-8280-40951E2DE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3" y="81751"/>
            <a:ext cx="7068536" cy="724001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40A2E79-5121-2E04-F6CA-37B664116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034" y="403410"/>
            <a:ext cx="2467319" cy="571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6B5B4D-A4C1-12A7-D802-B5B11B9BC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034" y="1087070"/>
            <a:ext cx="2553056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0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84E2-ECC1-9526-81B2-C27E6B37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diagram of a circuit&#10;&#10;AI-generated content may be incorrect.">
            <a:extLst>
              <a:ext uri="{FF2B5EF4-FFF2-40B4-BE49-F238E27FC236}">
                <a16:creationId xmlns:a16="http://schemas.microsoft.com/office/drawing/2014/main" id="{4898B7BC-43C0-0A91-ECFF-706B2870D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927365"/>
            <a:ext cx="3982006" cy="2905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23275C-1478-BF28-A664-C6E2697B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3" y="81751"/>
            <a:ext cx="7068536" cy="724001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92C81A3-0A3F-518D-9958-67ADCB40F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034" y="403410"/>
            <a:ext cx="2467319" cy="571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6D9489-BA94-B381-D1D4-7A15C62A8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034" y="1087070"/>
            <a:ext cx="2553056" cy="419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086DD4-0360-BA4F-F7A8-96BF796BA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588" y="1787546"/>
            <a:ext cx="2181529" cy="400106"/>
          </a:xfrm>
          <a:prstGeom prst="rect">
            <a:avLst/>
          </a:prstGeom>
        </p:spPr>
      </p:pic>
      <p:pic>
        <p:nvPicPr>
          <p:cNvPr id="6" name="Picture 5" descr="A black numbers on a white background&#10;&#10;AI-generated content may be incorrect.">
            <a:extLst>
              <a:ext uri="{FF2B5EF4-FFF2-40B4-BE49-F238E27FC236}">
                <a16:creationId xmlns:a16="http://schemas.microsoft.com/office/drawing/2014/main" id="{5C3CF27D-E1CC-9F46-B4AE-1152624985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2219" y="2230811"/>
            <a:ext cx="2133898" cy="514422"/>
          </a:xfrm>
          <a:prstGeom prst="rect">
            <a:avLst/>
          </a:prstGeom>
        </p:spPr>
      </p:pic>
      <p:pic>
        <p:nvPicPr>
          <p:cNvPr id="10" name="Picture 9" descr="A diagram of a circuit&#10;&#10;AI-generated content may be incorrect.">
            <a:extLst>
              <a:ext uri="{FF2B5EF4-FFF2-40B4-BE49-F238E27FC236}">
                <a16:creationId xmlns:a16="http://schemas.microsoft.com/office/drawing/2014/main" id="{A0A1A592-FAA1-C69B-AF75-A5557D52A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529" y="3662543"/>
            <a:ext cx="4048690" cy="2667372"/>
          </a:xfrm>
          <a:prstGeom prst="rect">
            <a:avLst/>
          </a:prstGeom>
        </p:spPr>
      </p:pic>
      <p:pic>
        <p:nvPicPr>
          <p:cNvPr id="12" name="Picture 11" descr="A math equation with numbers&#10;&#10;AI-generated content may be incorrect.">
            <a:extLst>
              <a:ext uri="{FF2B5EF4-FFF2-40B4-BE49-F238E27FC236}">
                <a16:creationId xmlns:a16="http://schemas.microsoft.com/office/drawing/2014/main" id="{D4F442E5-BB4C-DAB9-21A4-386714ADF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101" y="3832895"/>
            <a:ext cx="2419688" cy="647790"/>
          </a:xfrm>
          <a:prstGeom prst="rect">
            <a:avLst/>
          </a:prstGeom>
        </p:spPr>
      </p:pic>
      <p:pic>
        <p:nvPicPr>
          <p:cNvPr id="14" name="Picture 13" descr="A number and numbers in a row&#10;&#10;AI-generated content may be incorrect.">
            <a:extLst>
              <a:ext uri="{FF2B5EF4-FFF2-40B4-BE49-F238E27FC236}">
                <a16:creationId xmlns:a16="http://schemas.microsoft.com/office/drawing/2014/main" id="{F1ECFDF7-A902-8AEC-75CA-3DBD6A9A0F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728548"/>
            <a:ext cx="190526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6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5909D6-A296-E241-EEA2-76B97946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19" y="207789"/>
            <a:ext cx="8211844" cy="590349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dirty="0"/>
              <a:t>Chapter 6 – Mutual Inductance </a:t>
            </a:r>
            <a:r>
              <a:rPr lang="en-US" sz="2800" dirty="0"/>
              <a:t>(8 of 15)</a:t>
            </a:r>
            <a:endParaRPr lang="en-US" sz="2800" noProof="0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F3F5CB0-FA82-432A-93FB-D942ED764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919" y="1213885"/>
            <a:ext cx="8211844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noProof="0" dirty="0"/>
              <a:t>The two equations we just wrote are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1C8CAA40-94A2-4F72-B3FD-9B9E53A7A2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08371" y="1837433"/>
            <a:ext cx="723239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en-US" sz="2400" noProof="0" dirty="0">
                <a:solidFill>
                  <a:srgbClr val="007FA3"/>
                </a:solidFill>
              </a:rPr>
              <a:t>A.</a:t>
            </a:r>
            <a:r>
              <a:rPr lang="en-US" sz="2400" noProof="0" dirty="0"/>
              <a:t> </a:t>
            </a:r>
            <a:r>
              <a:rPr lang="en-US" sz="2400" dirty="0"/>
              <a:t>A coupled system of linear algebraic equations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CE4863BA-7E97-492E-BC54-CCB67E7D520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408371" y="2372302"/>
            <a:ext cx="723239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noProof="0" dirty="0">
                <a:solidFill>
                  <a:srgbClr val="007FA3"/>
                </a:solidFill>
              </a:rPr>
              <a:t>B.</a:t>
            </a:r>
            <a:r>
              <a:rPr lang="en-US" sz="2400" dirty="0"/>
              <a:t> A coupled system of linear integral equations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66BDB886-9ABA-4095-88AF-6BB1667EC4D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08371" y="2908563"/>
            <a:ext cx="723239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noProof="0" dirty="0">
                <a:solidFill>
                  <a:srgbClr val="007FA3"/>
                </a:solidFill>
              </a:rPr>
              <a:t>C.</a:t>
            </a:r>
            <a:r>
              <a:rPr lang="en-US" sz="2400" noProof="0" dirty="0"/>
              <a:t> A coupled system of linear differential equations</a:t>
            </a:r>
          </a:p>
        </p:txBody>
      </p:sp>
    </p:spTree>
    <p:extLst>
      <p:ext uri="{BB962C8B-B14F-4D97-AF65-F5344CB8AC3E}">
        <p14:creationId xmlns:p14="http://schemas.microsoft.com/office/powerpoint/2010/main" val="2040914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BCDC-4520-9E12-7150-3FF7C995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A1C075-A70A-A897-92C2-ECF13B87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19" y="207789"/>
            <a:ext cx="8211844" cy="590349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dirty="0"/>
              <a:t>Chapter 6 – Mutual Inductance </a:t>
            </a:r>
            <a:r>
              <a:rPr lang="en-US" sz="2800" dirty="0"/>
              <a:t>(8 of 15)</a:t>
            </a:r>
            <a:endParaRPr lang="en-US" sz="2800" noProof="0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941A17C6-6E2E-7FE5-1919-73198706AE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919" y="1213885"/>
            <a:ext cx="8211844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noProof="0" dirty="0"/>
              <a:t>The two equations we just wrote are</a:t>
            </a:r>
          </a:p>
        </p:txBody>
      </p:sp>
      <p:pic>
        <p:nvPicPr>
          <p:cNvPr id="45" name="Picture 1436" descr=" cross mark.">
            <a:extLst>
              <a:ext uri="{FF2B5EF4-FFF2-40B4-BE49-F238E27FC236}">
                <a16:creationId xmlns:a16="http://schemas.microsoft.com/office/drawing/2014/main" id="{4CA73B49-31E6-ABE1-3EEA-671D26F964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34" y="1928711"/>
            <a:ext cx="275486" cy="27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CBCF3D7F-1451-3D17-DA3A-A466D3E1FD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08371" y="1837433"/>
            <a:ext cx="723239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en-US" sz="2400" noProof="0" dirty="0">
                <a:solidFill>
                  <a:srgbClr val="007FA3"/>
                </a:solidFill>
              </a:rPr>
              <a:t>A.</a:t>
            </a:r>
            <a:r>
              <a:rPr lang="en-US" sz="2400" noProof="0" dirty="0"/>
              <a:t> </a:t>
            </a:r>
            <a:r>
              <a:rPr lang="en-US" sz="2400" dirty="0"/>
              <a:t>A coupled system of linear algebraic equations</a:t>
            </a:r>
          </a:p>
        </p:txBody>
      </p:sp>
      <p:pic>
        <p:nvPicPr>
          <p:cNvPr id="47" name="Picture 1436" descr="cross mark.">
            <a:extLst>
              <a:ext uri="{FF2B5EF4-FFF2-40B4-BE49-F238E27FC236}">
                <a16:creationId xmlns:a16="http://schemas.microsoft.com/office/drawing/2014/main" id="{3C19D788-DDB6-55A8-B136-E0B643DC7F2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98" y="2489407"/>
            <a:ext cx="278241" cy="27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D967F90F-893D-2C9C-2DC8-6B760EBB62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408371" y="2372302"/>
            <a:ext cx="723239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noProof="0" dirty="0">
                <a:solidFill>
                  <a:srgbClr val="007FA3"/>
                </a:solidFill>
              </a:rPr>
              <a:t>B.</a:t>
            </a:r>
            <a:r>
              <a:rPr lang="en-US" sz="2400" dirty="0"/>
              <a:t> A coupled system of linear integral equations</a:t>
            </a:r>
          </a:p>
        </p:txBody>
      </p:sp>
      <p:pic>
        <p:nvPicPr>
          <p:cNvPr id="48" name="Picture 1435" descr="tick mark.">
            <a:extLst>
              <a:ext uri="{FF2B5EF4-FFF2-40B4-BE49-F238E27FC236}">
                <a16:creationId xmlns:a16="http://schemas.microsoft.com/office/drawing/2014/main" id="{395450BC-F772-7A32-4645-8DDC06E360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27" y="3008776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2C942678-9DC6-63ED-8E86-7B916244675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08371" y="2908563"/>
            <a:ext cx="723239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noProof="0" dirty="0">
                <a:solidFill>
                  <a:srgbClr val="007FA3"/>
                </a:solidFill>
              </a:rPr>
              <a:t>C.</a:t>
            </a:r>
            <a:r>
              <a:rPr lang="en-US" sz="2400" noProof="0" dirty="0"/>
              <a:t> A coupled system of linear differential equations</a:t>
            </a:r>
          </a:p>
        </p:txBody>
      </p:sp>
    </p:spTree>
    <p:extLst>
      <p:ext uri="{BB962C8B-B14F-4D97-AF65-F5344CB8AC3E}">
        <p14:creationId xmlns:p14="http://schemas.microsoft.com/office/powerpoint/2010/main" val="2340079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5909D6-A296-E241-EEA2-76B97946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19" y="207789"/>
            <a:ext cx="8242006" cy="590349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dirty="0"/>
              <a:t>Chapter 6 – Mutual Inductance </a:t>
            </a:r>
            <a:r>
              <a:rPr lang="en-US" sz="2800" dirty="0"/>
              <a:t>(9 of 15)</a:t>
            </a:r>
            <a:endParaRPr lang="en-US" sz="2800" noProof="0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F3F5CB0-FA82-432A-93FB-D942ED764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919" y="1242683"/>
            <a:ext cx="8242006" cy="2329287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342900" indent="-342900">
              <a:spcBef>
                <a:spcPts val="600"/>
              </a:spcBef>
            </a:pPr>
            <a:r>
              <a:rPr lang="en-US" sz="2400" noProof="0" dirty="0"/>
              <a:t>We can’t do much in the time-domain with circuits that have mutually-coupled coils, since we can’t easily solve coupled systems of linear differential equations.  </a:t>
            </a:r>
          </a:p>
          <a:p>
            <a:pPr marL="342900" indent="-342900">
              <a:spcBef>
                <a:spcPts val="600"/>
              </a:spcBef>
            </a:pPr>
            <a:r>
              <a:rPr lang="en-US" sz="2400" noProof="0" dirty="0"/>
              <a:t>We will revisit circuits with mutually-coupled coils once we examine the analysis of circuits with sinusoidal sources, starting in Chapter 9.</a:t>
            </a:r>
          </a:p>
        </p:txBody>
      </p:sp>
    </p:spTree>
    <p:extLst>
      <p:ext uri="{BB962C8B-B14F-4D97-AF65-F5344CB8AC3E}">
        <p14:creationId xmlns:p14="http://schemas.microsoft.com/office/powerpoint/2010/main" val="2725557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8152"/>
            <a:ext cx="8229600" cy="528794"/>
          </a:xfrm>
        </p:spPr>
        <p:txBody>
          <a:bodyPr/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(10 of 15)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618459C-6EC6-C1A5-8434-6CD484928EF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625" y="999175"/>
            <a:ext cx="8242300" cy="775015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Use the circuit here to calculate the total energy stored in magnetically coupled coils.</a:t>
            </a:r>
          </a:p>
        </p:txBody>
      </p:sp>
      <p:pic>
        <p:nvPicPr>
          <p:cNvPr id="41" name="Picture 40" descr="Circuit on the left shows an inductor L subscript 1 with input voltage V subscript 1 and input current i subscript 1. Circuit on the right shows an inductor L subscript 2 with input voltage V subscript 2 and input current i subscript 2. Mutual inductance between the two inductors is represented as M. A dot is marked near the top right corner of the left circuit, while another dot is marked near the bottom left corner of the right circuit.">
            <a:extLst>
              <a:ext uri="{FF2B5EF4-FFF2-40B4-BE49-F238E27FC236}">
                <a16:creationId xmlns:a16="http://schemas.microsoft.com/office/drawing/2014/main" id="{BDC2447D-85D3-F72A-C1D1-5F8CD9C13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4274" y="1890965"/>
            <a:ext cx="3176403" cy="143825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17AC01-21A9-7C29-97DD-FFA1517DB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4969" y="3551725"/>
            <a:ext cx="8245956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Initially, assume both currents and the stored energy are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FE4A89C-A0EB-F314-6E60-F920797A81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969" y="4056550"/>
            <a:ext cx="1888020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zero. Then let </a:t>
            </a:r>
          </a:p>
        </p:txBody>
      </p:sp>
      <p:graphicFrame>
        <p:nvGraphicFramePr>
          <p:cNvPr id="2" name="Object 1" descr="i subscript 1 BaseLine.">
            <a:extLst>
              <a:ext uri="{FF2B5EF4-FFF2-40B4-BE49-F238E27FC236}">
                <a16:creationId xmlns:a16="http://schemas.microsoft.com/office/drawing/2014/main" id="{70FC1B72-226B-B222-ED6A-EC8478096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88575"/>
              </p:ext>
            </p:extLst>
          </p:nvPr>
        </p:nvGraphicFramePr>
        <p:xfrm>
          <a:off x="2370138" y="4067175"/>
          <a:ext cx="228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28600" progId="Equation.DSMT4">
                  <p:embed/>
                </p:oleObj>
              </mc:Choice>
              <mc:Fallback>
                <p:oleObj name="Equation" r:id="rId4" imgW="11412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92E7460-54F1-4ACF-BC4C-63003E91E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4067175"/>
                        <a:ext cx="228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0310432-D1F3-CA95-BA24-FC80101C31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663343" y="4075600"/>
            <a:ext cx="245158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increase from 0 to</a:t>
            </a:r>
          </a:p>
        </p:txBody>
      </p:sp>
      <p:graphicFrame>
        <p:nvGraphicFramePr>
          <p:cNvPr id="3" name="Object 2" descr="I subscript 1 BaseLine.">
            <a:extLst>
              <a:ext uri="{FF2B5EF4-FFF2-40B4-BE49-F238E27FC236}">
                <a16:creationId xmlns:a16="http://schemas.microsoft.com/office/drawing/2014/main" id="{C13E464F-DE69-97FA-F92F-47CBB2912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343673"/>
              </p:ext>
            </p:extLst>
          </p:nvPr>
        </p:nvGraphicFramePr>
        <p:xfrm>
          <a:off x="5151438" y="4048125"/>
          <a:ext cx="228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228600" progId="Equation.DSMT4">
                  <p:embed/>
                </p:oleObj>
              </mc:Choice>
              <mc:Fallback>
                <p:oleObj name="Equation" r:id="rId6" imgW="11412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0FC1B72-226B-B222-ED6A-EC8478096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8" y="4048125"/>
                        <a:ext cx="228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0040C663-6C9E-D665-6CE8-07442FF921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00675" y="4061370"/>
            <a:ext cx="3257549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ym typeface="Symbol"/>
              </a:rPr>
              <a:t>and calculate the stored</a:t>
            </a:r>
            <a:endParaRPr lang="en-US" sz="24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F8E2D-AD6A-1BC7-C079-6B0088670BE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4969" y="4555395"/>
            <a:ext cx="104188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energy:</a:t>
            </a:r>
          </a:p>
        </p:txBody>
      </p:sp>
      <p:graphicFrame>
        <p:nvGraphicFramePr>
          <p:cNvPr id="39" name="Object 38" descr="The figure illustrates the solving of an integral expression.&#10;Long description is available in notes, press F6.">
            <a:extLst>
              <a:ext uri="{FF2B5EF4-FFF2-40B4-BE49-F238E27FC236}">
                <a16:creationId xmlns:a16="http://schemas.microsoft.com/office/drawing/2014/main" id="{00ED2103-7919-0C32-957A-591352A159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775164"/>
              </p:ext>
            </p:extLst>
          </p:nvPr>
        </p:nvGraphicFramePr>
        <p:xfrm>
          <a:off x="2312988" y="5210175"/>
          <a:ext cx="45196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3800" imgH="495000" progId="Equation.DSMT4">
                  <p:embed/>
                </p:oleObj>
              </mc:Choice>
              <mc:Fallback>
                <p:oleObj name="Equation" r:id="rId8" imgW="2323800" imgH="4950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5210175"/>
                        <a:ext cx="45196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798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5671"/>
            <a:ext cx="8229600" cy="528794"/>
          </a:xfrm>
        </p:spPr>
        <p:txBody>
          <a:bodyPr tIns="18000" bIns="18000" anchor="ctr" anchorCtr="0">
            <a:spAutoFit/>
          </a:bodyPr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(11 of 15)</a:t>
            </a:r>
            <a:endParaRPr lang="en-US" sz="32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3966E4A-C640-DEDB-41C0-45F2C849D6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035" y="1059240"/>
            <a:ext cx="4867865" cy="959681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Use the circuit here to calculate the total energy stored in magnetically coupled coils.</a:t>
            </a:r>
          </a:p>
        </p:txBody>
      </p:sp>
      <p:pic>
        <p:nvPicPr>
          <p:cNvPr id="46" name="Picture 45" descr="Circuit on the left shows an inductor L subscript 1 with input voltage V subscript 1 and input current i subscript 1. Circuit on the right shows an inductor L subscript 2 with input voltage V subscript 2 and input current i subscript 2. Mutual inductance between the two inductors is represented as M. A dot is marked near the top right corner of the left circuit, while another dot is marked near the bottom left corner of the right circuit.">
            <a:extLst>
              <a:ext uri="{FF2B5EF4-FFF2-40B4-BE49-F238E27FC236}">
                <a16:creationId xmlns:a16="http://schemas.microsoft.com/office/drawing/2014/main" id="{0677A8A1-75EF-637B-8F2A-678C92A76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19738" y="1018707"/>
            <a:ext cx="2734057" cy="1237964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96A47BA-BD25-A159-F2A5-14E517D3E4C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8822" y="2425272"/>
            <a:ext cx="1123558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Now hold</a:t>
            </a:r>
          </a:p>
        </p:txBody>
      </p:sp>
      <p:graphicFrame>
        <p:nvGraphicFramePr>
          <p:cNvPr id="2" name="Object 1" descr="i subscript 1 BaseLine.">
            <a:extLst>
              <a:ext uri="{FF2B5EF4-FFF2-40B4-BE49-F238E27FC236}">
                <a16:creationId xmlns:a16="http://schemas.microsoft.com/office/drawing/2014/main" id="{FC908A7D-F9CC-4203-0B69-2322F3F01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675774"/>
              </p:ext>
            </p:extLst>
          </p:nvPr>
        </p:nvGraphicFramePr>
        <p:xfrm>
          <a:off x="1600201" y="2359211"/>
          <a:ext cx="228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28600" progId="Equation.DSMT4">
                  <p:embed/>
                </p:oleObj>
              </mc:Choice>
              <mc:Fallback>
                <p:oleObj name="Equation" r:id="rId4" imgW="11412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0FC1B72-226B-B222-ED6A-EC8478096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2359211"/>
                        <a:ext cx="228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D9D4F00B-2C3E-F43A-4DA1-19DAD6C4A57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902022" y="2427839"/>
            <a:ext cx="304604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at</a:t>
            </a:r>
          </a:p>
        </p:txBody>
      </p:sp>
      <p:graphicFrame>
        <p:nvGraphicFramePr>
          <p:cNvPr id="3" name="Object 2" descr="I subscript 1 BaseLine.">
            <a:extLst>
              <a:ext uri="{FF2B5EF4-FFF2-40B4-BE49-F238E27FC236}">
                <a16:creationId xmlns:a16="http://schemas.microsoft.com/office/drawing/2014/main" id="{11FF3A86-42DB-9A38-BDFC-A8AE2736C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512430"/>
              </p:ext>
            </p:extLst>
          </p:nvPr>
        </p:nvGraphicFramePr>
        <p:xfrm>
          <a:off x="2263776" y="2371673"/>
          <a:ext cx="228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228600" progId="Equation.DSMT4">
                  <p:embed/>
                </p:oleObj>
              </mc:Choice>
              <mc:Fallback>
                <p:oleObj name="Equation" r:id="rId6" imgW="11412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C908A7D-F9CC-4203-0B69-2322F3F01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6" y="2371673"/>
                        <a:ext cx="228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CEBF324C-A297-6ED2-4773-AFFB10E10DB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578297" y="2423076"/>
            <a:ext cx="1533328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and increase</a:t>
            </a:r>
          </a:p>
        </p:txBody>
      </p:sp>
      <p:graphicFrame>
        <p:nvGraphicFramePr>
          <p:cNvPr id="4" name="Object 3" descr="i subscript 2 BaseLine.">
            <a:extLst>
              <a:ext uri="{FF2B5EF4-FFF2-40B4-BE49-F238E27FC236}">
                <a16:creationId xmlns:a16="http://schemas.microsoft.com/office/drawing/2014/main" id="{DF7BBFF2-93E1-D781-9CAC-690C02CD1A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583403"/>
              </p:ext>
            </p:extLst>
          </p:nvPr>
        </p:nvGraphicFramePr>
        <p:xfrm>
          <a:off x="4133850" y="2381250"/>
          <a:ext cx="279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228600" progId="Equation.DSMT4">
                  <p:embed/>
                </p:oleObj>
              </mc:Choice>
              <mc:Fallback>
                <p:oleObj name="Equation" r:id="rId8" imgW="13968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1FF3A86-42DB-9A38-BDFC-A8AE2736C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850" y="2381250"/>
                        <a:ext cx="279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DE86EED-3178-8F6D-0817-5755C7CB34D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455517" y="2427468"/>
            <a:ext cx="223640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to</a:t>
            </a:r>
          </a:p>
        </p:txBody>
      </p:sp>
      <p:graphicFrame>
        <p:nvGraphicFramePr>
          <p:cNvPr id="5" name="Object 4" descr="I subscript 2 BaseLine">
            <a:extLst>
              <a:ext uri="{FF2B5EF4-FFF2-40B4-BE49-F238E27FC236}">
                <a16:creationId xmlns:a16="http://schemas.microsoft.com/office/drawing/2014/main" id="{C44297FD-045C-AB88-EBD0-710967DE5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183229"/>
              </p:ext>
            </p:extLst>
          </p:nvPr>
        </p:nvGraphicFramePr>
        <p:xfrm>
          <a:off x="4711700" y="2381250"/>
          <a:ext cx="355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28600" progId="Equation.DSMT4">
                  <p:embed/>
                </p:oleObj>
              </mc:Choice>
              <mc:Fallback>
                <p:oleObj name="Equation" r:id="rId10" imgW="17748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F7BBFF2-93E1-D781-9CAC-690C02CD1A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2381250"/>
                        <a:ext cx="355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1C194F25-582D-104A-120F-B4BBF038EA5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83371" y="2437734"/>
            <a:ext cx="3609779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during this increase, the voltage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E5AF101-9AFB-BB42-6C9A-410746CB135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3878" y="2891018"/>
            <a:ext cx="2224269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induced in coil 2 by</a:t>
            </a:r>
          </a:p>
        </p:txBody>
      </p:sp>
      <p:graphicFrame>
        <p:nvGraphicFramePr>
          <p:cNvPr id="6" name="Object 5" descr="i subscript 1 BaseLine.">
            <a:extLst>
              <a:ext uri="{FF2B5EF4-FFF2-40B4-BE49-F238E27FC236}">
                <a16:creationId xmlns:a16="http://schemas.microsoft.com/office/drawing/2014/main" id="{D1C545FE-4FBB-708B-8763-06A17691B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415564"/>
              </p:ext>
            </p:extLst>
          </p:nvPr>
        </p:nvGraphicFramePr>
        <p:xfrm>
          <a:off x="2688538" y="2866973"/>
          <a:ext cx="228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228600" progId="Equation.DSMT4">
                  <p:embed/>
                </p:oleObj>
              </mc:Choice>
              <mc:Fallback>
                <p:oleObj name="Equation" r:id="rId12" imgW="11412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F7BBFF2-93E1-D781-9CAC-690C02CD1A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538" y="2866973"/>
                        <a:ext cx="228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6B029CF-DF9F-9894-4BB9-EC3F199B4A0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033728" y="2910068"/>
            <a:ext cx="1852793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is zero because</a:t>
            </a:r>
          </a:p>
        </p:txBody>
      </p:sp>
      <p:graphicFrame>
        <p:nvGraphicFramePr>
          <p:cNvPr id="7" name="Object 6" descr="i subscript 1 BaseLine.">
            <a:extLst>
              <a:ext uri="{FF2B5EF4-FFF2-40B4-BE49-F238E27FC236}">
                <a16:creationId xmlns:a16="http://schemas.microsoft.com/office/drawing/2014/main" id="{13515312-B7BD-D1CD-A398-659BD492B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386953"/>
              </p:ext>
            </p:extLst>
          </p:nvPr>
        </p:nvGraphicFramePr>
        <p:xfrm>
          <a:off x="4962721" y="2847923"/>
          <a:ext cx="228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228600" progId="Equation.DSMT4">
                  <p:embed/>
                </p:oleObj>
              </mc:Choice>
              <mc:Fallback>
                <p:oleObj name="Equation" r:id="rId12" imgW="11412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F7BBFF2-93E1-D781-9CAC-690C02CD1A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721" y="2847923"/>
                        <a:ext cx="228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1C19AC43-BFDB-8F53-00A8-DFBC9C41D9D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329253" y="2929118"/>
            <a:ext cx="2786047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is constant. The voltage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48BCCD02-1F4E-A9F5-7F29-1E0E6EE616A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3878" y="3348218"/>
            <a:ext cx="2224269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induced in coil 1 by</a:t>
            </a:r>
          </a:p>
        </p:txBody>
      </p:sp>
      <p:graphicFrame>
        <p:nvGraphicFramePr>
          <p:cNvPr id="8" name="Object 7" descr="i subscript 2 BaseLine.">
            <a:extLst>
              <a:ext uri="{FF2B5EF4-FFF2-40B4-BE49-F238E27FC236}">
                <a16:creationId xmlns:a16="http://schemas.microsoft.com/office/drawing/2014/main" id="{F305B9E9-E35D-B295-CBCA-0BE2525DD1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848225"/>
              </p:ext>
            </p:extLst>
          </p:nvPr>
        </p:nvGraphicFramePr>
        <p:xfrm>
          <a:off x="2706688" y="3333750"/>
          <a:ext cx="279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228600" progId="Equation.DSMT4">
                  <p:embed/>
                </p:oleObj>
              </mc:Choice>
              <mc:Fallback>
                <p:oleObj name="Equation" r:id="rId14" imgW="13968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1C545FE-4FBB-708B-8763-06A17691B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8" y="3333750"/>
                        <a:ext cx="279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20B248C3-D8AC-FDE0-FE11-71F46131BC0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62303" y="3368856"/>
            <a:ext cx="233347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is</a:t>
            </a:r>
          </a:p>
        </p:txBody>
      </p:sp>
      <p:graphicFrame>
        <p:nvGraphicFramePr>
          <p:cNvPr id="9" name="Object 8" descr="M di subscript 2 BaseLine divided by d t,">
            <a:extLst>
              <a:ext uri="{FF2B5EF4-FFF2-40B4-BE49-F238E27FC236}">
                <a16:creationId xmlns:a16="http://schemas.microsoft.com/office/drawing/2014/main" id="{4F398A86-2B59-5DB4-4568-D3F96FC44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166577"/>
              </p:ext>
            </p:extLst>
          </p:nvPr>
        </p:nvGraphicFramePr>
        <p:xfrm>
          <a:off x="3386138" y="3381375"/>
          <a:ext cx="11160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34680" imgH="228600" progId="Equation.DSMT4">
                  <p:embed/>
                </p:oleObj>
              </mc:Choice>
              <mc:Fallback>
                <p:oleObj name="Equation" r:id="rId16" imgW="63468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305B9E9-E35D-B295-CBCA-0BE2525DD1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3381375"/>
                        <a:ext cx="11160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DD1B961A-C18B-025C-0769-6F068C4F272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24241" y="3379968"/>
            <a:ext cx="3898900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so the power in the two coils is</a:t>
            </a:r>
          </a:p>
        </p:txBody>
      </p:sp>
      <p:graphicFrame>
        <p:nvGraphicFramePr>
          <p:cNvPr id="43" name="Object 42" descr="p equals uppercase I subscript 1 BaseLine uppercase M Start Fraction d lowercase i subscript 2 BaseLine over d t End Fraction plus lowercase i subscript 2 BaseLine v subscript 2 BaseLine.">
            <a:extLst>
              <a:ext uri="{FF2B5EF4-FFF2-40B4-BE49-F238E27FC236}">
                <a16:creationId xmlns:a16="http://schemas.microsoft.com/office/drawing/2014/main" id="{415F7F5C-0F46-B97E-3260-A8D35C357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784856"/>
              </p:ext>
            </p:extLst>
          </p:nvPr>
        </p:nvGraphicFramePr>
        <p:xfrm>
          <a:off x="3625850" y="3898900"/>
          <a:ext cx="18970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55600" imgH="406080" progId="Equation.DSMT4">
                  <p:embed/>
                </p:oleObj>
              </mc:Choice>
              <mc:Fallback>
                <p:oleObj name="Equation" r:id="rId18" imgW="1155600" imgH="40608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3898900"/>
                        <a:ext cx="189706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D96D3C6C-1263-F206-F65F-C7F4D29B34D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8626" y="4784297"/>
            <a:ext cx="2533650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The total energy when</a:t>
            </a:r>
          </a:p>
        </p:txBody>
      </p:sp>
      <p:graphicFrame>
        <p:nvGraphicFramePr>
          <p:cNvPr id="10" name="Object 9" descr="i subscript 2 BaseLine.">
            <a:extLst>
              <a:ext uri="{FF2B5EF4-FFF2-40B4-BE49-F238E27FC236}">
                <a16:creationId xmlns:a16="http://schemas.microsoft.com/office/drawing/2014/main" id="{4E481C2C-0EB0-DADA-5B81-0EF9815A6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200245"/>
              </p:ext>
            </p:extLst>
          </p:nvPr>
        </p:nvGraphicFramePr>
        <p:xfrm>
          <a:off x="3059407" y="4730750"/>
          <a:ext cx="279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228600" progId="Equation.DSMT4">
                  <p:embed/>
                </p:oleObj>
              </mc:Choice>
              <mc:Fallback>
                <p:oleObj name="Equation" r:id="rId8" imgW="13968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F7BBFF2-93E1-D781-9CAC-690C02CD1A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407" y="4730750"/>
                        <a:ext cx="279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28E8F625-8B2D-9D93-25DB-3F609A7ECC7A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409951" y="4797606"/>
            <a:ext cx="1000124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b="1" dirty="0"/>
              <a:t>reaches</a:t>
            </a:r>
            <a:endParaRPr lang="en-US" sz="2000" dirty="0"/>
          </a:p>
        </p:txBody>
      </p:sp>
      <p:graphicFrame>
        <p:nvGraphicFramePr>
          <p:cNvPr id="11" name="Object 10" descr="I subscript 2 BaseLine">
            <a:extLst>
              <a:ext uri="{FF2B5EF4-FFF2-40B4-BE49-F238E27FC236}">
                <a16:creationId xmlns:a16="http://schemas.microsoft.com/office/drawing/2014/main" id="{B6064FCD-ACE3-ECBB-DE23-92EFBC343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479597"/>
              </p:ext>
            </p:extLst>
          </p:nvPr>
        </p:nvGraphicFramePr>
        <p:xfrm>
          <a:off x="4460875" y="4743450"/>
          <a:ext cx="279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680" imgH="228600" progId="Equation.DSMT4">
                  <p:embed/>
                </p:oleObj>
              </mc:Choice>
              <mc:Fallback>
                <p:oleObj name="Equation" r:id="rId20" imgW="13968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44297FD-045C-AB88-EBD0-710967DE5E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4743450"/>
                        <a:ext cx="279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AE9687A8-D9C0-A11C-951F-11BC18A2E8A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800601" y="4777947"/>
            <a:ext cx="238124" cy="344128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is</a:t>
            </a:r>
          </a:p>
        </p:txBody>
      </p:sp>
      <p:graphicFrame>
        <p:nvGraphicFramePr>
          <p:cNvPr id="44" name="Object 43" descr="The figure illustrates the solving of integral dw within W subscript 1 and w.&#10;Long description is available in notes, press F6.">
            <a:extLst>
              <a:ext uri="{FF2B5EF4-FFF2-40B4-BE49-F238E27FC236}">
                <a16:creationId xmlns:a16="http://schemas.microsoft.com/office/drawing/2014/main" id="{780DCB7C-17D2-8DA8-01FD-D5084460C8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771038"/>
              </p:ext>
            </p:extLst>
          </p:nvPr>
        </p:nvGraphicFramePr>
        <p:xfrm>
          <a:off x="1603375" y="5427663"/>
          <a:ext cx="59499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771720" imgH="507960" progId="Equation.DSMT4">
                  <p:embed/>
                </p:oleObj>
              </mc:Choice>
              <mc:Fallback>
                <p:oleObj name="Equation" r:id="rId22" imgW="3771720" imgH="5079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5427663"/>
                        <a:ext cx="594995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2004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8152"/>
            <a:ext cx="8212138" cy="528794"/>
          </a:xfrm>
        </p:spPr>
        <p:txBody>
          <a:bodyPr/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(12 of 15)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618459C-6EC6-C1A5-8434-6CD484928EF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625" y="999175"/>
            <a:ext cx="8212138" cy="775015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Use the circuit here to calculate the total energy stored in magnetically coupled coils.</a:t>
            </a:r>
          </a:p>
        </p:txBody>
      </p:sp>
      <p:pic>
        <p:nvPicPr>
          <p:cNvPr id="3" name="Picture 2" descr="Circuit on the left shows an inductor L subscript 1 with input voltage V subscript 1 and input current i subscript 1. Circuit on the right shows an inductor L subscript 2 with input voltage V subscript 2 and input current i subscript 2. Mutual inductance between the two inductors is represented as M. A dot is marked near the top right corner of the left circuit, while another dot is marked near the bottom left corner of the right circuit.">
            <a:extLst>
              <a:ext uri="{FF2B5EF4-FFF2-40B4-BE49-F238E27FC236}">
                <a16:creationId xmlns:a16="http://schemas.microsoft.com/office/drawing/2014/main" id="{A2E17E90-24B3-F253-B91A-E907D06B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4294" y="1913859"/>
            <a:ext cx="2914461" cy="131964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1F5867-923C-05C3-4849-A1F8302C20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625" y="3506392"/>
            <a:ext cx="8212138" cy="1513679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Note that in this example, both currents enter the dotted terminals. If one current enters a dotted terminal and the other current leaves, the algebraic sign of the term involving M reverses. Therefore, in general,</a:t>
            </a:r>
          </a:p>
        </p:txBody>
      </p:sp>
      <p:graphicFrame>
        <p:nvGraphicFramePr>
          <p:cNvPr id="2" name="Object 1" descr="The figure illustrates an expression for w (t).&#10;Long description is available in notes, press F6.">
            <a:extLst>
              <a:ext uri="{FF2B5EF4-FFF2-40B4-BE49-F238E27FC236}">
                <a16:creationId xmlns:a16="http://schemas.microsoft.com/office/drawing/2014/main" id="{9E669AC5-25CC-C4D8-F5E9-85D7291FE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848416"/>
              </p:ext>
            </p:extLst>
          </p:nvPr>
        </p:nvGraphicFramePr>
        <p:xfrm>
          <a:off x="3080267" y="5375973"/>
          <a:ext cx="2983466" cy="64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393480" progId="Equation.DSMT4">
                  <p:embed/>
                </p:oleObj>
              </mc:Choice>
              <mc:Fallback>
                <p:oleObj name="Equation" r:id="rId4" imgW="1854000" imgH="39348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0267" y="5375973"/>
                        <a:ext cx="2983466" cy="643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444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8152"/>
            <a:ext cx="8229600" cy="528794"/>
          </a:xfrm>
        </p:spPr>
        <p:txBody>
          <a:bodyPr/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(13 of 15)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17AC01-21A9-7C29-97DD-FFA1517DB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4969" y="2523709"/>
            <a:ext cx="8215794" cy="1052014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The energy in the magnetically coupled coils can never be negative. From the energy equation, the limiting value of </a:t>
            </a:r>
            <a:r>
              <a:rPr lang="en-US" sz="2200" i="1" dirty="0"/>
              <a:t>M</a:t>
            </a:r>
            <a:r>
              <a:rPr lang="en-US" sz="2200" dirty="0"/>
              <a:t> occurs when</a:t>
            </a:r>
          </a:p>
        </p:txBody>
      </p:sp>
      <p:graphicFrame>
        <p:nvGraphicFramePr>
          <p:cNvPr id="2" name="Object 1" descr="The figure illustrates an equation equating to zero.&#10;Long description 1 is available in notes, press F6.">
            <a:extLst>
              <a:ext uri="{FF2B5EF4-FFF2-40B4-BE49-F238E27FC236}">
                <a16:creationId xmlns:a16="http://schemas.microsoft.com/office/drawing/2014/main" id="{11364E3D-2E91-4DE8-093C-B2824DF92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996714"/>
              </p:ext>
            </p:extLst>
          </p:nvPr>
        </p:nvGraphicFramePr>
        <p:xfrm>
          <a:off x="3256012" y="3584629"/>
          <a:ext cx="26368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000" imgH="393480" progId="Equation.DSMT4">
                  <p:embed/>
                </p:oleObj>
              </mc:Choice>
              <mc:Fallback>
                <p:oleObj name="Equation" r:id="rId3" imgW="1638000" imgH="393480" progId="Equation.DSMT4">
                  <p:embed/>
                  <p:pic>
                    <p:nvPicPr>
                      <p:cNvPr id="2" name="Object 1" descr="The figure illustrates an expression for w (t).&#10;Long description is available in notes, press F6.">
                        <a:extLst>
                          <a:ext uri="{FF2B5EF4-FFF2-40B4-BE49-F238E27FC236}">
                            <a16:creationId xmlns:a16="http://schemas.microsoft.com/office/drawing/2014/main" id="{9E669AC5-25CC-C4D8-F5E9-85D7291FE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012" y="3584629"/>
                        <a:ext cx="26368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FE4A89C-A0EB-F314-6E60-F920797A81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968" y="4512261"/>
            <a:ext cx="5223357" cy="713460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To find the limiting value of </a:t>
            </a:r>
            <a:r>
              <a:rPr lang="en-US" sz="2200" i="1" dirty="0"/>
              <a:t>M</a:t>
            </a:r>
            <a:r>
              <a:rPr lang="en-US" sz="2200" dirty="0"/>
              <a:t>, add and subtract to both sides and simplify to get </a:t>
            </a:r>
          </a:p>
        </p:txBody>
      </p:sp>
      <p:graphicFrame>
        <p:nvGraphicFramePr>
          <p:cNvPr id="6" name="Object 5" descr="i subscript 1 BaseLine i subscript 2 BaseLine StartRoot L subscript 1 BaseLine L subscript 2 BaseLine EndRoot.">
            <a:extLst>
              <a:ext uri="{FF2B5EF4-FFF2-40B4-BE49-F238E27FC236}">
                <a16:creationId xmlns:a16="http://schemas.microsoft.com/office/drawing/2014/main" id="{9D0C0F0C-2D29-9E4C-53E8-6764B3313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822196"/>
              </p:ext>
            </p:extLst>
          </p:nvPr>
        </p:nvGraphicFramePr>
        <p:xfrm>
          <a:off x="6002338" y="4614863"/>
          <a:ext cx="10445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266400" progId="Equation.DSMT4">
                  <p:embed/>
                </p:oleObj>
              </mc:Choice>
              <mc:Fallback>
                <p:oleObj name="Equation" r:id="rId5" imgW="596880" imgH="2664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4614863"/>
                        <a:ext cx="10445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The figure illustrates the equation with the terms L subscript 1 and L subscript 2.&#10;Long description 2 is available in notes, press F6.">
            <a:extLst>
              <a:ext uri="{FF2B5EF4-FFF2-40B4-BE49-F238E27FC236}">
                <a16:creationId xmlns:a16="http://schemas.microsoft.com/office/drawing/2014/main" id="{172164C0-5314-CC49-99B8-5D3DF8EE4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383652"/>
              </p:ext>
            </p:extLst>
          </p:nvPr>
        </p:nvGraphicFramePr>
        <p:xfrm>
          <a:off x="2616200" y="5397500"/>
          <a:ext cx="3948113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01640" imgH="545760" progId="Equation.DSMT4">
                  <p:embed/>
                </p:oleObj>
              </mc:Choice>
              <mc:Fallback>
                <p:oleObj name="Equation" r:id="rId7" imgW="2501640" imgH="5457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5397500"/>
                        <a:ext cx="3948113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324A-E72B-8528-6BA1-D8E14E0D8A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98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A48A39E-B697-0E2D-DCE3-C778E4A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8151"/>
            <a:ext cx="8212138" cy="528794"/>
          </a:xfrm>
        </p:spPr>
        <p:txBody>
          <a:bodyPr/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(14 of 15)</a:t>
            </a:r>
            <a:endParaRPr lang="en-US" sz="3200" dirty="0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618459C-6EC6-C1A5-8434-6CD484928EF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8625" y="999175"/>
            <a:ext cx="8212138" cy="775015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Use the circuit here to calculate the total energy stored in magnetically coupled coils.</a:t>
            </a:r>
          </a:p>
        </p:txBody>
      </p:sp>
      <p:pic>
        <p:nvPicPr>
          <p:cNvPr id="16" name="Picture 15" descr="Circuit on the left shows an inductor L subscript 1 with input voltage V subscript 1 and input current i subscript 1. Circuit on the right shows an inductor L subscript 2 with input voltage V subscript 2 and input current i subscript 2. Mutual inductance between the two inductors is represented as M. A dot is marked near the top right corner of the left circuit, while another dot is marked near the bottom left corner of the right circuit.">
            <a:extLst>
              <a:ext uri="{FF2B5EF4-FFF2-40B4-BE49-F238E27FC236}">
                <a16:creationId xmlns:a16="http://schemas.microsoft.com/office/drawing/2014/main" id="{7241B79A-2D16-2309-74BC-11A12B076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1628" y="1885216"/>
            <a:ext cx="2819794" cy="127678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17AC01-21A9-7C29-97DD-FFA1517DB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4969" y="3271809"/>
            <a:ext cx="8215794" cy="775015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Therefore, the energy in the magnetically coupled coils is positive only if</a:t>
            </a:r>
          </a:p>
        </p:txBody>
      </p:sp>
      <p:graphicFrame>
        <p:nvGraphicFramePr>
          <p:cNvPr id="13" name="Object 12" descr="Start Root L subscript 1 BaseLine L subscript 2 BaseLine End Root greater than or equal to M.">
            <a:extLst>
              <a:ext uri="{FF2B5EF4-FFF2-40B4-BE49-F238E27FC236}">
                <a16:creationId xmlns:a16="http://schemas.microsoft.com/office/drawing/2014/main" id="{AC195A6B-310E-44E0-804A-04A6DF214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711334"/>
              </p:ext>
            </p:extLst>
          </p:nvPr>
        </p:nvGraphicFramePr>
        <p:xfrm>
          <a:off x="3958238" y="4187488"/>
          <a:ext cx="1221175" cy="4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560" imgH="266400" progId="Equation.DSMT4">
                  <p:embed/>
                </p:oleObj>
              </mc:Choice>
              <mc:Fallback>
                <p:oleObj name="Equation" r:id="rId3" imgW="736560" imgH="2664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238" y="4187488"/>
                        <a:ext cx="1221175" cy="44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FE4A89C-A0EB-F314-6E60-F920797A81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968" y="4970950"/>
            <a:ext cx="784708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Thus,</a:t>
            </a:r>
          </a:p>
        </p:txBody>
      </p:sp>
      <p:graphicFrame>
        <p:nvGraphicFramePr>
          <p:cNvPr id="14" name="Object 13" descr="M equals k Start Root L subscript 1 BaseLine L subscript 2 BaseLine End Root, 0 less than or equal to k less than or equal to 1.">
            <a:extLst>
              <a:ext uri="{FF2B5EF4-FFF2-40B4-BE49-F238E27FC236}">
                <a16:creationId xmlns:a16="http://schemas.microsoft.com/office/drawing/2014/main" id="{E8B069DE-0B4C-871B-F6FC-DDC7D1022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22176"/>
              </p:ext>
            </p:extLst>
          </p:nvPr>
        </p:nvGraphicFramePr>
        <p:xfrm>
          <a:off x="3074520" y="5451569"/>
          <a:ext cx="2993372" cy="44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160" imgH="266400" progId="Equation.DSMT4">
                  <p:embed/>
                </p:oleObj>
              </mc:Choice>
              <mc:Fallback>
                <p:oleObj name="Equation" r:id="rId5" imgW="1892160" imgH="2664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520" y="5451569"/>
                        <a:ext cx="2993372" cy="440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841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5909D6-A296-E241-EEA2-76B97946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5671"/>
            <a:ext cx="8212138" cy="528794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(15 of 15)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97E10-5A41-E219-DE66-720006CCA6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1524" y="1040965"/>
            <a:ext cx="2883176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400" dirty="0"/>
              <a:t>Suppose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= 40 </a:t>
            </a:r>
            <a:r>
              <a:rPr lang="en-US" altLang="en-US" sz="2400" dirty="0" err="1"/>
              <a:t>mH</a:t>
            </a:r>
            <a:r>
              <a:rPr lang="en-US" altLang="en-US" sz="2400" dirty="0"/>
              <a:t>,</a:t>
            </a:r>
            <a:endParaRPr lang="en-US" sz="2400" dirty="0"/>
          </a:p>
        </p:txBody>
      </p:sp>
      <p:graphicFrame>
        <p:nvGraphicFramePr>
          <p:cNvPr id="3" name="Object 2" descr="L subscript 1 BaseLine equals 25">
            <a:extLst>
              <a:ext uri="{FF2B5EF4-FFF2-40B4-BE49-F238E27FC236}">
                <a16:creationId xmlns:a16="http://schemas.microsoft.com/office/drawing/2014/main" id="{46F0D258-90AF-508C-FFA0-2216E8914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250787"/>
              </p:ext>
            </p:extLst>
          </p:nvPr>
        </p:nvGraphicFramePr>
        <p:xfrm>
          <a:off x="3375025" y="1044575"/>
          <a:ext cx="8890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228600" progId="Equation.DSMT4">
                  <p:embed/>
                </p:oleObj>
              </mc:Choice>
              <mc:Fallback>
                <p:oleObj name="Equation" r:id="rId2" imgW="45720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5EC0838-95E6-C12D-7225-24C5AAF55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5" y="1044575"/>
                        <a:ext cx="8890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700203-FAA9-369D-36E0-AC437D2523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9629" y="1040965"/>
            <a:ext cx="1082951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err="1"/>
              <a:t>mH</a:t>
            </a:r>
            <a:r>
              <a:rPr lang="en-US" sz="2400" dirty="0"/>
              <a:t> and</a:t>
            </a:r>
          </a:p>
        </p:txBody>
      </p:sp>
      <p:graphicFrame>
        <p:nvGraphicFramePr>
          <p:cNvPr id="13" name="Object 12" descr="L subscript 2 BaseLine equals 100.">
            <a:extLst>
              <a:ext uri="{FF2B5EF4-FFF2-40B4-BE49-F238E27FC236}">
                <a16:creationId xmlns:a16="http://schemas.microsoft.com/office/drawing/2014/main" id="{02B04FC2-8D55-093A-C973-AF98776AB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629583"/>
              </p:ext>
            </p:extLst>
          </p:nvPr>
        </p:nvGraphicFramePr>
        <p:xfrm>
          <a:off x="5460048" y="1044575"/>
          <a:ext cx="10858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228600" progId="Equation.DSMT4">
                  <p:embed/>
                </p:oleObj>
              </mc:Choice>
              <mc:Fallback>
                <p:oleObj name="Equation" r:id="rId4" imgW="55872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46F0D258-90AF-508C-FFA0-2216E8914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048" y="1044575"/>
                        <a:ext cx="10858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0B5967-AC2D-A656-53C3-33F81009AAB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91300" y="1031440"/>
            <a:ext cx="2057399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err="1"/>
              <a:t>mH</a:t>
            </a:r>
            <a:r>
              <a:rPr lang="en-US" sz="2400" dirty="0"/>
              <a:t> in a pair of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7918F2-72ED-148E-FA31-04389289EE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523" y="1545790"/>
            <a:ext cx="8209240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400" dirty="0"/>
              <a:t>magnetically coupled coils. What is the coupling </a:t>
            </a:r>
            <a:r>
              <a:rPr lang="en-US" sz="2400" dirty="0"/>
              <a:t>coefficient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E3E88B3-F627-65ED-F6D0-254155DF5CE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1048" y="1998254"/>
            <a:ext cx="346420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of the coils, </a:t>
            </a:r>
            <a:r>
              <a:rPr lang="en-US" sz="2400" i="1" dirty="0"/>
              <a:t>k</a:t>
            </a:r>
            <a:r>
              <a:rPr lang="en-US" sz="2400" dirty="0"/>
              <a:t>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E7B7AF-F733-AD2B-C0C2-F7A8A63C734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80873" y="2993961"/>
            <a:ext cx="111470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A. </a:t>
            </a:r>
            <a:r>
              <a:rPr lang="en-US" sz="2400" dirty="0"/>
              <a:t>0.8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044FB6-5019-C8AA-6342-7E2C892B541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52298" y="3541648"/>
            <a:ext cx="330477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B.</a:t>
            </a:r>
          </a:p>
        </p:txBody>
      </p:sp>
      <p:graphicFrame>
        <p:nvGraphicFramePr>
          <p:cNvPr id="2" name="Object 1" descr="0.016.">
            <a:extLst>
              <a:ext uri="{FF2B5EF4-FFF2-40B4-BE49-F238E27FC236}">
                <a16:creationId xmlns:a16="http://schemas.microsoft.com/office/drawing/2014/main" id="{C5EC0838-95E6-C12D-7225-24C5AAF55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50310"/>
              </p:ext>
            </p:extLst>
          </p:nvPr>
        </p:nvGraphicFramePr>
        <p:xfrm>
          <a:off x="1911350" y="3570288"/>
          <a:ext cx="8397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177480" progId="Equation.DSMT4">
                  <p:embed/>
                </p:oleObj>
              </mc:Choice>
              <mc:Fallback>
                <p:oleObj name="Equation" r:id="rId6" imgW="431640" imgH="1774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C195A6B-310E-44E0-804A-04A6DF214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3570288"/>
                        <a:ext cx="83978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06C7390-7173-37CE-E5EF-1280C5FB39A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52298" y="4088965"/>
            <a:ext cx="111470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C.</a:t>
            </a:r>
            <a:r>
              <a:rPr lang="en-US" sz="2400" dirty="0">
                <a:solidFill>
                  <a:schemeClr val="tx1"/>
                </a:solidFill>
              </a:rPr>
              <a:t> 1.25</a:t>
            </a:r>
          </a:p>
        </p:txBody>
      </p:sp>
    </p:spTree>
    <p:extLst>
      <p:ext uri="{BB962C8B-B14F-4D97-AF65-F5344CB8AC3E}">
        <p14:creationId xmlns:p14="http://schemas.microsoft.com/office/powerpoint/2010/main" val="1335729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BC3D-7650-B3DB-89B5-9F8968ED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AB4994-F1BA-C856-F134-78A2FAD1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65671"/>
            <a:ext cx="8212138" cy="528794"/>
          </a:xfrm>
        </p:spPr>
        <p:txBody>
          <a:bodyPr wrap="square" lIns="0" tIns="18000" rIns="0" bIns="18000" anchor="ctr" anchorCtr="0">
            <a:spAutoFit/>
          </a:bodyPr>
          <a:lstStyle/>
          <a:p>
            <a:r>
              <a:rPr lang="en-US" sz="3200" dirty="0"/>
              <a:t>Chapter 6 – Mutual Inductance </a:t>
            </a:r>
            <a:r>
              <a:rPr lang="en-US" sz="2400" dirty="0"/>
              <a:t>(15 of 15)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C65CF-5320-7EA0-C795-2014ABDE368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1524" y="1040965"/>
            <a:ext cx="2883176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400" dirty="0"/>
              <a:t>Suppose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= 40 </a:t>
            </a:r>
            <a:r>
              <a:rPr lang="en-US" altLang="en-US" sz="2400" dirty="0" err="1"/>
              <a:t>mH</a:t>
            </a:r>
            <a:r>
              <a:rPr lang="en-US" altLang="en-US" sz="2400" dirty="0"/>
              <a:t>,</a:t>
            </a:r>
            <a:endParaRPr lang="en-US" sz="2400" dirty="0"/>
          </a:p>
        </p:txBody>
      </p:sp>
      <p:graphicFrame>
        <p:nvGraphicFramePr>
          <p:cNvPr id="3" name="Object 2" descr="L subscript 1 BaseLine equals 25">
            <a:extLst>
              <a:ext uri="{FF2B5EF4-FFF2-40B4-BE49-F238E27FC236}">
                <a16:creationId xmlns:a16="http://schemas.microsoft.com/office/drawing/2014/main" id="{9460A679-CDE3-F89A-487F-87244295A2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5025" y="1044575"/>
          <a:ext cx="8890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228600" progId="Equation.DSMT4">
                  <p:embed/>
                </p:oleObj>
              </mc:Choice>
              <mc:Fallback>
                <p:oleObj name="Equation" r:id="rId3" imgW="457200" imgH="228600" progId="Equation.DSMT4">
                  <p:embed/>
                  <p:pic>
                    <p:nvPicPr>
                      <p:cNvPr id="3" name="Object 2" descr="L subscript 1 BaseLine equals 25">
                        <a:extLst>
                          <a:ext uri="{FF2B5EF4-FFF2-40B4-BE49-F238E27FC236}">
                            <a16:creationId xmlns:a16="http://schemas.microsoft.com/office/drawing/2014/main" id="{46F0D258-90AF-508C-FFA0-2216E8914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5" y="1044575"/>
                        <a:ext cx="8890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2A5BE-2D27-858F-B53A-692980BB90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9629" y="1040965"/>
            <a:ext cx="1082951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err="1"/>
              <a:t>mH</a:t>
            </a:r>
            <a:r>
              <a:rPr lang="en-US" sz="2400" dirty="0"/>
              <a:t> and</a:t>
            </a:r>
          </a:p>
        </p:txBody>
      </p:sp>
      <p:graphicFrame>
        <p:nvGraphicFramePr>
          <p:cNvPr id="13" name="Object 12" descr="L subscript 2 BaseLine equals 100.">
            <a:extLst>
              <a:ext uri="{FF2B5EF4-FFF2-40B4-BE49-F238E27FC236}">
                <a16:creationId xmlns:a16="http://schemas.microsoft.com/office/drawing/2014/main" id="{D53DDBAB-896B-5680-9EEA-DCD8DB4A1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0048" y="1044575"/>
          <a:ext cx="10858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228600" progId="Equation.DSMT4">
                  <p:embed/>
                </p:oleObj>
              </mc:Choice>
              <mc:Fallback>
                <p:oleObj name="Equation" r:id="rId5" imgW="558720" imgH="228600" progId="Equation.DSMT4">
                  <p:embed/>
                  <p:pic>
                    <p:nvPicPr>
                      <p:cNvPr id="13" name="Object 12" descr="L subscript 2 BaseLine equals 100.">
                        <a:extLst>
                          <a:ext uri="{FF2B5EF4-FFF2-40B4-BE49-F238E27FC236}">
                            <a16:creationId xmlns:a16="http://schemas.microsoft.com/office/drawing/2014/main" id="{02B04FC2-8D55-093A-C973-AF98776ABA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048" y="1044575"/>
                        <a:ext cx="10858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1B0EF6-9E7C-4DDD-8D37-CD7CD5FB15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91300" y="1031440"/>
            <a:ext cx="2057399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err="1"/>
              <a:t>mH</a:t>
            </a:r>
            <a:r>
              <a:rPr lang="en-US" sz="2400" dirty="0"/>
              <a:t> in a pair of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61F6C0-C9D2-7E7C-624A-1578786E61D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523" y="1545790"/>
            <a:ext cx="8209240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400" dirty="0"/>
              <a:t>magnetically coupled coils. What is the coupling </a:t>
            </a:r>
            <a:r>
              <a:rPr lang="en-US" sz="2400" dirty="0"/>
              <a:t>coefficient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BAC44F-96F9-2F11-6457-1CE56622F09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1048" y="1998254"/>
            <a:ext cx="346420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of the coils, </a:t>
            </a:r>
            <a:r>
              <a:rPr lang="en-US" sz="2400" i="1" dirty="0"/>
              <a:t>k</a:t>
            </a:r>
            <a:r>
              <a:rPr lang="en-US" sz="2400" dirty="0"/>
              <a:t>?</a:t>
            </a:r>
          </a:p>
        </p:txBody>
      </p:sp>
      <p:pic>
        <p:nvPicPr>
          <p:cNvPr id="36" name="Picture 2" descr="tick mark.">
            <a:extLst>
              <a:ext uri="{FF2B5EF4-FFF2-40B4-BE49-F238E27FC236}">
                <a16:creationId xmlns:a16="http://schemas.microsoft.com/office/drawing/2014/main" id="{C8A4310F-D276-035B-2A29-FE1F41CCB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88" y="3033644"/>
            <a:ext cx="332197" cy="291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02BCD8-E5BE-A577-4E48-2F286DFBD73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80873" y="2993961"/>
            <a:ext cx="111470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A. </a:t>
            </a:r>
            <a:r>
              <a:rPr lang="en-US" sz="2400" dirty="0"/>
              <a:t>0.8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35" name="Picture 1436" descr="cross mark.">
            <a:extLst>
              <a:ext uri="{FF2B5EF4-FFF2-40B4-BE49-F238E27FC236}">
                <a16:creationId xmlns:a16="http://schemas.microsoft.com/office/drawing/2014/main" id="{B9FCE52A-B02C-00E4-518D-BB5490E31F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57" y="3619609"/>
            <a:ext cx="278241" cy="27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F683383-50A8-4B94-1C2A-258096AE01A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52298" y="3541648"/>
            <a:ext cx="330477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B.</a:t>
            </a:r>
          </a:p>
        </p:txBody>
      </p:sp>
      <p:graphicFrame>
        <p:nvGraphicFramePr>
          <p:cNvPr id="2" name="Object 1" descr="0.016.">
            <a:extLst>
              <a:ext uri="{FF2B5EF4-FFF2-40B4-BE49-F238E27FC236}">
                <a16:creationId xmlns:a16="http://schemas.microsoft.com/office/drawing/2014/main" id="{2DDF3E1D-AB34-AFB0-D3A3-D1E915BC23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350" y="3570288"/>
          <a:ext cx="8397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1640" imgH="177480" progId="Equation.DSMT4">
                  <p:embed/>
                </p:oleObj>
              </mc:Choice>
              <mc:Fallback>
                <p:oleObj name="Equation" r:id="rId9" imgW="431640" imgH="177480" progId="Equation.DSMT4">
                  <p:embed/>
                  <p:pic>
                    <p:nvPicPr>
                      <p:cNvPr id="2" name="Object 1" descr="0.016.">
                        <a:extLst>
                          <a:ext uri="{FF2B5EF4-FFF2-40B4-BE49-F238E27FC236}">
                            <a16:creationId xmlns:a16="http://schemas.microsoft.com/office/drawing/2014/main" id="{C5EC0838-95E6-C12D-7225-24C5AAF55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3570288"/>
                        <a:ext cx="83978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Picture 5" descr=" cross mark.">
            <a:extLst>
              <a:ext uri="{FF2B5EF4-FFF2-40B4-BE49-F238E27FC236}">
                <a16:creationId xmlns:a16="http://schemas.microsoft.com/office/drawing/2014/main" id="{675C9B1F-6193-F94F-D45B-13F3B7EE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29" y="4154321"/>
            <a:ext cx="308936" cy="28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9A90C56-A576-0DF0-EC27-9492CB555E5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52298" y="4088965"/>
            <a:ext cx="1114702" cy="405683"/>
          </a:xfrm>
        </p:spPr>
        <p:txBody>
          <a:bodyPr wrap="square" lIns="0" tIns="18000" rIns="0" bIns="1800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C.</a:t>
            </a:r>
            <a:r>
              <a:rPr lang="en-US" sz="2400" dirty="0">
                <a:solidFill>
                  <a:schemeClr val="tx1"/>
                </a:solidFill>
              </a:rPr>
              <a:t> 1.25</a:t>
            </a:r>
          </a:p>
        </p:txBody>
      </p:sp>
    </p:spTree>
    <p:extLst>
      <p:ext uri="{BB962C8B-B14F-4D97-AF65-F5344CB8AC3E}">
        <p14:creationId xmlns:p14="http://schemas.microsoft.com/office/powerpoint/2010/main" val="37214076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Incorrect"/>
  <p:tag name="ANSWERSTEMINDEX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Incorrect"/>
  <p:tag name="ANSWERSTEMINDEX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Correct"/>
  <p:tag name="ANSWERSTEMINDEX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Incorrect"/>
  <p:tag name="ANSWERSTEMINDEX" val="2"/>
</p:tagLst>
</file>

<file path=ppt/theme/theme1.xml><?xml version="1.0" encoding="utf-8"?>
<a:theme xmlns:a="http://schemas.openxmlformats.org/drawingml/2006/main" name="USH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HE_slide options">
  <a:themeElements>
    <a:clrScheme name="Custom 40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33399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1599</Words>
  <Application>Microsoft Macintosh PowerPoint</Application>
  <PresentationFormat>On-screen Show (4:3)</PresentationFormat>
  <Paragraphs>142</Paragraphs>
  <Slides>29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Verdana</vt:lpstr>
      <vt:lpstr>Arial</vt:lpstr>
      <vt:lpstr>Times New Roman</vt:lpstr>
      <vt:lpstr>USHE</vt:lpstr>
      <vt:lpstr>USHE_slide options</vt:lpstr>
      <vt:lpstr>Equation</vt:lpstr>
      <vt:lpstr>Electric Circuits</vt:lpstr>
      <vt:lpstr>Chapter 6 – Mutual Inductance (1 of 15)</vt:lpstr>
      <vt:lpstr>Chapter 6 – Mutual Inductance (2 of 15)</vt:lpstr>
      <vt:lpstr>Chapter 6 – Mutual Inductance (3 of 15)</vt:lpstr>
      <vt:lpstr>Chapter 6 – Mutual Inductance (4 of 15)</vt:lpstr>
      <vt:lpstr>Chapter 6 – Mutual Inductance (5 of 15)</vt:lpstr>
      <vt:lpstr>Chapter 6 – Mutual Inductance (6 of 15)</vt:lpstr>
      <vt:lpstr>Chapter 6 – Mutual Inductance (7 of 15)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6 – Mutual Inductance (8 of 15)</vt:lpstr>
      <vt:lpstr>Chapter 6 – Mutual Inductance (8 of 15)</vt:lpstr>
      <vt:lpstr>Chapter 6 – Mutual Inductance (9 of 15)</vt:lpstr>
      <vt:lpstr>Chapter 6 – Mutual Inductance (10 of 15)</vt:lpstr>
      <vt:lpstr>Chapter 6 – Mutual Inductance (11 of 15)</vt:lpstr>
      <vt:lpstr>Chapter 6 – Mutual Inductance (12 of 15)</vt:lpstr>
      <vt:lpstr>Chapter 6 – Mutual Inductance (13 of 15)</vt:lpstr>
      <vt:lpstr>Chapter 6 – Mutual Inductance (14 of 15)</vt:lpstr>
      <vt:lpstr>Chapter 6 – Mutual Inductance (15 of 15)</vt:lpstr>
      <vt:lpstr>Chapter 6 – Mutual Inductance (15 of 15)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Circuits, Twelfth Edition, Chapter 6 – Part 3</dc:title>
  <dc:subject>Engineering</dc:subject>
  <dc:creator>Nilsson and Riedel</dc:creator>
  <cp:keywords/>
  <dc:description/>
  <cp:lastModifiedBy>Kamil Erdayandi</cp:lastModifiedBy>
  <cp:revision>327</cp:revision>
  <dcterms:modified xsi:type="dcterms:W3CDTF">2025-12-09T13:06:40Z</dcterms:modified>
</cp:coreProperties>
</file>