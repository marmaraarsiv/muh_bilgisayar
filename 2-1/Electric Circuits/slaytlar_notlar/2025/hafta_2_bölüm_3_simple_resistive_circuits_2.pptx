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87" r:id="rId2"/>
  </p:sldMasterIdLst>
  <p:notesMasterIdLst>
    <p:notesMasterId r:id="rId36"/>
  </p:notesMasterIdLst>
  <p:handoutMasterIdLst>
    <p:handoutMasterId r:id="rId37"/>
  </p:handoutMasterIdLst>
  <p:sldIdLst>
    <p:sldId id="720" r:id="rId3"/>
    <p:sldId id="722" r:id="rId4"/>
    <p:sldId id="723" r:id="rId5"/>
    <p:sldId id="333" r:id="rId6"/>
    <p:sldId id="724" r:id="rId7"/>
    <p:sldId id="335" r:id="rId8"/>
    <p:sldId id="732" r:id="rId9"/>
    <p:sldId id="336" r:id="rId10"/>
    <p:sldId id="733" r:id="rId11"/>
    <p:sldId id="337" r:id="rId12"/>
    <p:sldId id="338" r:id="rId13"/>
    <p:sldId id="734" r:id="rId14"/>
    <p:sldId id="339" r:id="rId15"/>
    <p:sldId id="721" r:id="rId16"/>
    <p:sldId id="735" r:id="rId17"/>
    <p:sldId id="341" r:id="rId18"/>
    <p:sldId id="736" r:id="rId19"/>
    <p:sldId id="342" r:id="rId20"/>
    <p:sldId id="343" r:id="rId21"/>
    <p:sldId id="725" r:id="rId22"/>
    <p:sldId id="728" r:id="rId23"/>
    <p:sldId id="737" r:id="rId24"/>
    <p:sldId id="346" r:id="rId25"/>
    <p:sldId id="738" r:id="rId26"/>
    <p:sldId id="347" r:id="rId27"/>
    <p:sldId id="739" r:id="rId28"/>
    <p:sldId id="348" r:id="rId29"/>
    <p:sldId id="349" r:id="rId30"/>
    <p:sldId id="350" r:id="rId31"/>
    <p:sldId id="727" r:id="rId32"/>
    <p:sldId id="729" r:id="rId33"/>
    <p:sldId id="730" r:id="rId34"/>
    <p:sldId id="731" r:id="rId35"/>
  </p:sldIdLst>
  <p:sldSz cx="9144000" cy="6858000" type="screen4x3"/>
  <p:notesSz cx="6858000" cy="9144000"/>
  <p:embeddedFontLst>
    <p:embeddedFont>
      <p:font typeface="Verdana" panose="020B060403050404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49" userDrawn="1">
          <p15:clr>
            <a:srgbClr val="A4A3A4"/>
          </p15:clr>
        </p15:guide>
        <p15:guide id="3" orient="horz" pos="3430" userDrawn="1">
          <p15:clr>
            <a:srgbClr val="A4A3A4"/>
          </p15:clr>
        </p15:guide>
        <p15:guide id="5" pos="5462" userDrawn="1">
          <p15:clr>
            <a:srgbClr val="A4A3A4"/>
          </p15:clr>
        </p15:guide>
        <p15:guide id="6" orient="horz" pos="4065" userDrawn="1">
          <p15:clr>
            <a:srgbClr val="A4A3A4"/>
          </p15:clr>
        </p15:guide>
        <p15:guide id="7" orient="horz" pos="104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41" autoAdjust="0"/>
    <p:restoredTop sz="92890" autoAdjust="0"/>
  </p:normalViewPr>
  <p:slideViewPr>
    <p:cSldViewPr snapToGrid="0" snapToObjects="1">
      <p:cViewPr varScale="1">
        <p:scale>
          <a:sx n="102" d="100"/>
          <a:sy n="102" d="100"/>
        </p:scale>
        <p:origin x="1692" y="102"/>
      </p:cViewPr>
      <p:guideLst>
        <p:guide orient="horz" pos="427"/>
        <p:guide pos="249"/>
        <p:guide orient="horz" pos="3430"/>
        <p:guide pos="5462"/>
        <p:guide orient="horz" pos="4065"/>
        <p:guide orient="horz" pos="1049"/>
      </p:guideLst>
    </p:cSldViewPr>
  </p:slideViewPr>
  <p:outlineViewPr>
    <p:cViewPr>
      <p:scale>
        <a:sx n="33" d="100"/>
        <a:sy n="33" d="100"/>
      </p:scale>
      <p:origin x="0" y="-18204"/>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7" d="100"/>
          <a:sy n="87" d="100"/>
        </p:scale>
        <p:origin x="3090"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88476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Start Fraction R subscript x Baseline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x Baseline over R subscript 2 Baseline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2 Baseline </a:t>
            </a:r>
            <a:r>
              <a:rPr lang="en-US" sz="1200" b="0" i="0" u="none" strike="noStrike" dirty="0" err="1">
                <a:solidFill>
                  <a:srgbClr val="000000"/>
                </a:solidFill>
                <a:effectLst/>
                <a:latin typeface="Arial" panose="020B0604020202020204" pitchFamily="34" charset="0"/>
                <a:cs typeface="Arial" panose="020B0604020202020204" pitchFamily="34" charset="0"/>
              </a:rPr>
              <a:t>EndFraction</a:t>
            </a:r>
            <a:r>
              <a:rPr lang="en-US" sz="1200" b="0" i="0" u="none" strike="noStrike" dirty="0">
                <a:solidFill>
                  <a:srgbClr val="000000"/>
                </a:solidFill>
                <a:effectLst/>
                <a:latin typeface="Arial" panose="020B0604020202020204" pitchFamily="34" charset="0"/>
                <a:cs typeface="Arial" panose="020B0604020202020204" pitchFamily="34" charset="0"/>
              </a:rPr>
              <a:t> equals Start Fraction R subscript 3 Baseline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3 Baseline over R subscript 1 Baseline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1 Baseline </a:t>
            </a:r>
            <a:r>
              <a:rPr lang="en-US" sz="1200" b="0" i="0" u="none" strike="noStrike" dirty="0" err="1">
                <a:solidFill>
                  <a:srgbClr val="000000"/>
                </a:solidFill>
                <a:effectLst/>
                <a:latin typeface="Arial" panose="020B0604020202020204" pitchFamily="34" charset="0"/>
                <a:cs typeface="Arial" panose="020B0604020202020204" pitchFamily="34" charset="0"/>
              </a:rPr>
              <a:t>EndFraction</a:t>
            </a:r>
            <a:r>
              <a:rPr lang="en-US" sz="1200" b="0" i="0" u="none" strike="noStrike" dirty="0">
                <a:solidFill>
                  <a:srgbClr val="000000"/>
                </a:solidFill>
                <a:effectLst/>
                <a:latin typeface="Arial" panose="020B0604020202020204" pitchFamily="34" charset="0"/>
                <a:cs typeface="Arial" panose="020B0604020202020204" pitchFamily="34" charset="0"/>
              </a:rPr>
              <a:t>, Forward arrow, Start Fraction R subscript x Baseline over R subscript 2 Baseline </a:t>
            </a:r>
            <a:r>
              <a:rPr lang="en-US" sz="1200" b="0" i="0" u="none" strike="noStrike" dirty="0" err="1">
                <a:solidFill>
                  <a:srgbClr val="000000"/>
                </a:solidFill>
                <a:effectLst/>
                <a:latin typeface="Arial" panose="020B0604020202020204" pitchFamily="34" charset="0"/>
                <a:cs typeface="Arial" panose="020B0604020202020204" pitchFamily="34" charset="0"/>
              </a:rPr>
              <a:t>EndFraction</a:t>
            </a:r>
            <a:r>
              <a:rPr lang="en-US" sz="1200" b="0" i="0" u="none" strike="noStrike" dirty="0">
                <a:solidFill>
                  <a:srgbClr val="000000"/>
                </a:solidFill>
                <a:effectLst/>
                <a:latin typeface="Arial" panose="020B0604020202020204" pitchFamily="34" charset="0"/>
                <a:cs typeface="Arial" panose="020B0604020202020204" pitchFamily="34" charset="0"/>
              </a:rPr>
              <a:t> equals Start Fraction R subscript 3 Baseline over R subscript 1 Baseline </a:t>
            </a:r>
            <a:r>
              <a:rPr lang="en-US" sz="1200" b="0" i="0" u="none" strike="noStrike" dirty="0" err="1">
                <a:solidFill>
                  <a:srgbClr val="000000"/>
                </a:solidFill>
                <a:effectLst/>
                <a:latin typeface="Arial" panose="020B0604020202020204" pitchFamily="34" charset="0"/>
                <a:cs typeface="Arial" panose="020B0604020202020204" pitchFamily="34" charset="0"/>
              </a:rPr>
              <a:t>EndFraction</a:t>
            </a:r>
            <a:r>
              <a:rPr lang="en-US" sz="1200" b="0" i="0" u="none" strike="noStrike" dirty="0">
                <a:solidFill>
                  <a:srgbClr val="000000"/>
                </a:solidFill>
                <a:effectLst/>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14435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 1:</a:t>
            </a:r>
          </a:p>
          <a:p>
            <a:r>
              <a:rPr lang="en-US" sz="1200" b="0" i="0" u="none" strike="noStrike" dirty="0">
                <a:solidFill>
                  <a:srgbClr val="000000"/>
                </a:solidFill>
                <a:effectLst/>
                <a:latin typeface="Arial" panose="020B0604020202020204" pitchFamily="34" charset="0"/>
                <a:cs typeface="Arial" panose="020B0604020202020204" pitchFamily="34" charset="0"/>
              </a:rPr>
              <a:t>R subscript a Baseline equals Start Fraction R subscript 1 Baseline R subscript 2 Baseline plus R subscript 2 Baseline R subscript 3 Baseline plus R subscript 1 Baseline R subscript 3 Baseline over R subscript 1 Baseline End Fraction. </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Long Description 2:</a:t>
            </a:r>
          </a:p>
          <a:p>
            <a:r>
              <a:rPr lang="en-US" sz="1200" b="0" i="0" u="none" strike="noStrike" dirty="0">
                <a:solidFill>
                  <a:srgbClr val="000000"/>
                </a:solidFill>
                <a:effectLst/>
                <a:latin typeface="Arial" panose="020B0604020202020204" pitchFamily="34" charset="0"/>
                <a:cs typeface="Arial" panose="020B0604020202020204" pitchFamily="34" charset="0"/>
              </a:rPr>
              <a:t>R subscript b Baseline equals Start Fraction R subscript 1 Baseline R subscript 2 Baseline plus R subscript 2 Baseline R subscript 3 Baseline plus R subscript 1 Baseline R subscript 3 Baseline over R subscript 2 Baseline End Fraction. </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Long Description 3:</a:t>
            </a:r>
          </a:p>
          <a:p>
            <a:r>
              <a:rPr lang="en-US" sz="1200" b="0" i="0" u="none" strike="noStrike" dirty="0">
                <a:solidFill>
                  <a:srgbClr val="000000"/>
                </a:solidFill>
                <a:effectLst/>
                <a:latin typeface="Arial" panose="020B0604020202020204" pitchFamily="34" charset="0"/>
                <a:cs typeface="Arial" panose="020B0604020202020204" pitchFamily="34" charset="0"/>
              </a:rPr>
              <a:t> R subscript c Baseline equals Start Fraction R subscript 1 Baseline R subscript 2 Baseline plus R subscript 2 Baseline R subscript 3 Baseline plus R subscript 1 Baseline R subscript 3 Baseline over R subscript 3 Baseline End Fraction. </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Long Description 4:</a:t>
            </a:r>
          </a:p>
          <a:p>
            <a:r>
              <a:rPr lang="en-US" sz="1200" b="0" i="0" u="none" strike="noStrike" dirty="0">
                <a:solidFill>
                  <a:srgbClr val="000000"/>
                </a:solidFill>
                <a:effectLst/>
                <a:latin typeface="Arial" panose="020B0604020202020204" pitchFamily="34" charset="0"/>
                <a:cs typeface="Arial" panose="020B0604020202020204" pitchFamily="34" charset="0"/>
              </a:rPr>
              <a:t> R subscript 1 Baseline equals Start Fraction R subscript b Baseline R subscript c Baseline over R subscript a Baseline plus R subscript b Baseline plus R subscript c Baseline End Fraction. </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Long Description 5:</a:t>
            </a:r>
          </a:p>
          <a:p>
            <a:r>
              <a:rPr lang="en-US" sz="1200" b="0" i="0" u="none" strike="noStrike" dirty="0">
                <a:solidFill>
                  <a:srgbClr val="000000"/>
                </a:solidFill>
                <a:effectLst/>
                <a:latin typeface="Arial" panose="020B0604020202020204" pitchFamily="34" charset="0"/>
                <a:cs typeface="Arial" panose="020B0604020202020204" pitchFamily="34" charset="0"/>
              </a:rPr>
              <a:t> R subscript 2 Baseline equals Start Fraction R subscript a Baseline R subscript c Baseline over R subscript a Baseline plus R subscript b Baseline plus R subscript c Baseline End Fraction. </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Long Description 6:</a:t>
            </a:r>
          </a:p>
          <a:p>
            <a:r>
              <a:rPr lang="en-US" sz="1200" b="0" i="0" u="none" strike="noStrike" dirty="0">
                <a:solidFill>
                  <a:srgbClr val="000000"/>
                </a:solidFill>
                <a:effectLst/>
                <a:latin typeface="Arial" panose="020B0604020202020204" pitchFamily="34" charset="0"/>
                <a:cs typeface="Arial" panose="020B0604020202020204" pitchFamily="34" charset="0"/>
              </a:rPr>
              <a:t> R subscript 3 Baseline equals Start Fraction R subscript a Baseline R subscript b Baseline over R subscript a Baseline plus R subscript b Baseline plus R subscript c Baseline End Fraction. </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90457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R subscript eq Baseline equals 5 plus 50 plus Open Square Bracket Open Parenthesis 10 plus 40 Close Parenthesis parallel to Open Parenthesis 12.5 plus 37.5 Close Parenthesis Close Square Bracket equals 5 plus 50 plus Open Square Bracket 50 parallel to 50 Close Square Bracket.</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67975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B5E9C-6773-360E-46F1-7F54F8A09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6D176-8173-2629-9F3B-2116309C9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58F11-F036-0E9E-C585-9282F204C789}"/>
              </a:ext>
            </a:extLst>
          </p:cNvPr>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R subscript eq Baseline equals 5 plus 50 plus Open Square Bracket Open Parenthesis 10 plus 40 Close Parenthesis parallel to Open Parenthesis 12.5 plus 37.5 Close Parenthesis Close Square Bracket equals 5 plus 50 plus Open Square Bracket 50 parallel to 50 Close Square Bracket.</a:t>
            </a:r>
            <a:r>
              <a:rPr lang="en-US" sz="120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D1C5FD6F-C200-0353-9106-06A161CCD23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1235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D33B1-E849-FBC2-FFAD-63FAA73D7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3F87A-2311-B796-865A-0AC3AC774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D1ED9-D931-61FC-5ED3-E4049E623323}"/>
              </a:ext>
            </a:extLst>
          </p:cNvPr>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R subscript eq Baseline equals 5 plus 50 plus Open Square Bracket Open Parenthesis 10 plus 40 Close Parenthesis parallel to Open Parenthesis 12.5 plus 37.5 Close Parenthesis Close Square Bracket equals 5 plus 50 plus Open Square Bracket 50 parallel to 50 Close Square Bracket.</a:t>
            </a:r>
            <a:r>
              <a:rPr lang="en-US" sz="120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405F1EE9-DFE7-4571-F806-76B49F97431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3481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A17B6-7DD1-E9C8-6C40-0B681BA73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6B431-5D7D-C483-43EE-8EEF67A5E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81BBF1-637C-C809-B8E0-AA7AD6C0C9E2}"/>
              </a:ext>
            </a:extLst>
          </p:cNvPr>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R subscript eq Baseline equals 5 plus 50 plus Open Square Bracket Open Parenthesis 10 plus 40 Close Parenthesis parallel to Open Parenthesis 12.5 plus 37.5 Close Parenthesis Close Square Bracket equals 5 plus 50 plus Open Square Bracket 50 parallel to 50 Close Square Bracket.</a:t>
            </a:r>
            <a:r>
              <a:rPr lang="en-US" sz="120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26437A8E-BE9C-B5DD-59FB-AF3CD8ABB18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200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3" name="Picture Placeholder 8">
            <a:extLst>
              <a:ext uri="{FF2B5EF4-FFF2-40B4-BE49-F238E27FC236}">
                <a16:creationId xmlns:a16="http://schemas.microsoft.com/office/drawing/2014/main" id="{230F7A9A-95FF-3BEE-9302-8159E4063424}"/>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2" name="Content Placeholder 17">
            <a:extLst>
              <a:ext uri="{FF2B5EF4-FFF2-40B4-BE49-F238E27FC236}">
                <a16:creationId xmlns:a16="http://schemas.microsoft.com/office/drawing/2014/main" id="{6CF8895A-FB61-2AB1-A980-F1194B36E40F}"/>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5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 name="Content Placeholder 7">
            <a:extLst>
              <a:ext uri="{FF2B5EF4-FFF2-40B4-BE49-F238E27FC236}">
                <a16:creationId xmlns:a16="http://schemas.microsoft.com/office/drawing/2014/main" id="{6FA17119-9011-608A-37A9-11DA7810D440}"/>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052125404"/>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9" name="Content Placeholder 8">
            <a:extLst>
              <a:ext uri="{FF2B5EF4-FFF2-40B4-BE49-F238E27FC236}">
                <a16:creationId xmlns:a16="http://schemas.microsoft.com/office/drawing/2014/main" id="{E95B2F94-C0E1-5213-EC21-31FE62ADDFF7}"/>
              </a:ext>
            </a:extLst>
          </p:cNvPr>
          <p:cNvSpPr>
            <a:spLocks noGrp="1"/>
          </p:cNvSpPr>
          <p:nvPr>
            <p:ph sz="quarter" idx="10" hasCustomPrompt="1"/>
          </p:nvPr>
        </p:nvSpPr>
        <p:spPr>
          <a:xfrm>
            <a:off x="-1555750" y="68263"/>
            <a:ext cx="633412" cy="325437"/>
          </a:xfrm>
        </p:spPr>
        <p:txBody>
          <a:bodyPr/>
          <a:lstStyle>
            <a:lvl1pPr>
              <a:defRPr/>
            </a:lvl1pPr>
          </a:lstStyle>
          <a:p>
            <a:pPr lvl="0"/>
            <a:r>
              <a:rPr lang="en-US" dirty="0"/>
              <a:t>1</a:t>
            </a:r>
            <a:endParaRPr lang="en-IN" dirty="0"/>
          </a:p>
        </p:txBody>
      </p:sp>
      <p:sp>
        <p:nvSpPr>
          <p:cNvPr id="11" name="Content Placeholder 8">
            <a:extLst>
              <a:ext uri="{FF2B5EF4-FFF2-40B4-BE49-F238E27FC236}">
                <a16:creationId xmlns:a16="http://schemas.microsoft.com/office/drawing/2014/main" id="{9CC0D486-2CF2-01F0-0484-AAC0AC95E1E7}"/>
              </a:ext>
            </a:extLst>
          </p:cNvPr>
          <p:cNvSpPr>
            <a:spLocks noGrp="1"/>
          </p:cNvSpPr>
          <p:nvPr>
            <p:ph sz="quarter" idx="11" hasCustomPrompt="1"/>
          </p:nvPr>
        </p:nvSpPr>
        <p:spPr>
          <a:xfrm>
            <a:off x="-1555750" y="601291"/>
            <a:ext cx="633412" cy="325437"/>
          </a:xfrm>
        </p:spPr>
        <p:txBody>
          <a:bodyPr/>
          <a:lstStyle>
            <a:lvl1pPr>
              <a:defRPr/>
            </a:lvl1pPr>
          </a:lstStyle>
          <a:p>
            <a:pPr lvl="0"/>
            <a:r>
              <a:rPr lang="en-US" dirty="0"/>
              <a:t>2</a:t>
            </a:r>
            <a:endParaRPr lang="en-IN" dirty="0"/>
          </a:p>
        </p:txBody>
      </p:sp>
      <p:sp>
        <p:nvSpPr>
          <p:cNvPr id="12" name="Content Placeholder 8">
            <a:extLst>
              <a:ext uri="{FF2B5EF4-FFF2-40B4-BE49-F238E27FC236}">
                <a16:creationId xmlns:a16="http://schemas.microsoft.com/office/drawing/2014/main" id="{008E6B3F-D195-11D3-42D1-2D2274C247FD}"/>
              </a:ext>
            </a:extLst>
          </p:cNvPr>
          <p:cNvSpPr>
            <a:spLocks noGrp="1"/>
          </p:cNvSpPr>
          <p:nvPr>
            <p:ph sz="quarter" idx="12" hasCustomPrompt="1"/>
          </p:nvPr>
        </p:nvSpPr>
        <p:spPr>
          <a:xfrm>
            <a:off x="-1555750" y="1149931"/>
            <a:ext cx="633412" cy="325437"/>
          </a:xfrm>
        </p:spPr>
        <p:txBody>
          <a:bodyPr/>
          <a:lstStyle>
            <a:lvl1pPr>
              <a:defRPr/>
            </a:lvl1pPr>
          </a:lstStyle>
          <a:p>
            <a:pPr lvl="0"/>
            <a:r>
              <a:rPr lang="en-US" dirty="0"/>
              <a:t>3</a:t>
            </a:r>
            <a:endParaRPr lang="en-IN" dirty="0"/>
          </a:p>
        </p:txBody>
      </p:sp>
      <p:sp>
        <p:nvSpPr>
          <p:cNvPr id="13" name="Content Placeholder 8">
            <a:extLst>
              <a:ext uri="{FF2B5EF4-FFF2-40B4-BE49-F238E27FC236}">
                <a16:creationId xmlns:a16="http://schemas.microsoft.com/office/drawing/2014/main" id="{CA2625C9-6699-7DF5-0BE6-78E0174F4101}"/>
              </a:ext>
            </a:extLst>
          </p:cNvPr>
          <p:cNvSpPr>
            <a:spLocks noGrp="1"/>
          </p:cNvSpPr>
          <p:nvPr>
            <p:ph sz="quarter" idx="13" hasCustomPrompt="1"/>
          </p:nvPr>
        </p:nvSpPr>
        <p:spPr>
          <a:xfrm>
            <a:off x="-1555750" y="1697226"/>
            <a:ext cx="633412" cy="325437"/>
          </a:xfrm>
        </p:spPr>
        <p:txBody>
          <a:bodyPr/>
          <a:lstStyle>
            <a:lvl1pPr>
              <a:defRPr/>
            </a:lvl1pPr>
          </a:lstStyle>
          <a:p>
            <a:pPr lvl="0"/>
            <a:r>
              <a:rPr lang="en-US" dirty="0"/>
              <a:t>3</a:t>
            </a:r>
            <a:endParaRPr lang="en-IN" dirty="0"/>
          </a:p>
        </p:txBody>
      </p:sp>
      <p:sp>
        <p:nvSpPr>
          <p:cNvPr id="14" name="Content Placeholder 8">
            <a:extLst>
              <a:ext uri="{FF2B5EF4-FFF2-40B4-BE49-F238E27FC236}">
                <a16:creationId xmlns:a16="http://schemas.microsoft.com/office/drawing/2014/main" id="{B31E295B-CEA2-2693-C876-24F9C1A4689D}"/>
              </a:ext>
            </a:extLst>
          </p:cNvPr>
          <p:cNvSpPr>
            <a:spLocks noGrp="1"/>
          </p:cNvSpPr>
          <p:nvPr>
            <p:ph sz="quarter" idx="14" hasCustomPrompt="1"/>
          </p:nvPr>
        </p:nvSpPr>
        <p:spPr>
          <a:xfrm>
            <a:off x="-1555750" y="2244521"/>
            <a:ext cx="633412" cy="325437"/>
          </a:xfrm>
        </p:spPr>
        <p:txBody>
          <a:bodyPr/>
          <a:lstStyle>
            <a:lvl1pPr>
              <a:defRPr/>
            </a:lvl1pPr>
          </a:lstStyle>
          <a:p>
            <a:pPr lvl="0"/>
            <a:r>
              <a:rPr lang="en-US" dirty="0"/>
              <a:t>3</a:t>
            </a:r>
            <a:endParaRPr lang="en-IN" dirty="0"/>
          </a:p>
        </p:txBody>
      </p:sp>
      <p:sp>
        <p:nvSpPr>
          <p:cNvPr id="15" name="Content Placeholder 8">
            <a:extLst>
              <a:ext uri="{FF2B5EF4-FFF2-40B4-BE49-F238E27FC236}">
                <a16:creationId xmlns:a16="http://schemas.microsoft.com/office/drawing/2014/main" id="{06CE5D44-D824-3BE3-9370-2802C92B0C45}"/>
              </a:ext>
            </a:extLst>
          </p:cNvPr>
          <p:cNvSpPr>
            <a:spLocks noGrp="1"/>
          </p:cNvSpPr>
          <p:nvPr>
            <p:ph sz="quarter" idx="15" hasCustomPrompt="1"/>
          </p:nvPr>
        </p:nvSpPr>
        <p:spPr>
          <a:xfrm>
            <a:off x="-1555750" y="2791816"/>
            <a:ext cx="633412" cy="325437"/>
          </a:xfrm>
        </p:spPr>
        <p:txBody>
          <a:bodyPr/>
          <a:lstStyle>
            <a:lvl1pPr>
              <a:defRPr/>
            </a:lvl1pPr>
          </a:lstStyle>
          <a:p>
            <a:pPr lvl="0"/>
            <a:r>
              <a:rPr lang="en-US" dirty="0"/>
              <a:t>3</a:t>
            </a:r>
            <a:endParaRPr lang="en-IN" dirty="0"/>
          </a:p>
        </p:txBody>
      </p:sp>
      <p:sp>
        <p:nvSpPr>
          <p:cNvPr id="16" name="Content Placeholder 8">
            <a:extLst>
              <a:ext uri="{FF2B5EF4-FFF2-40B4-BE49-F238E27FC236}">
                <a16:creationId xmlns:a16="http://schemas.microsoft.com/office/drawing/2014/main" id="{4DD10B87-D8FA-0F33-EFBD-489A19C9F59B}"/>
              </a:ext>
            </a:extLst>
          </p:cNvPr>
          <p:cNvSpPr>
            <a:spLocks noGrp="1"/>
          </p:cNvSpPr>
          <p:nvPr>
            <p:ph sz="quarter" idx="16" hasCustomPrompt="1"/>
          </p:nvPr>
        </p:nvSpPr>
        <p:spPr>
          <a:xfrm>
            <a:off x="-1555750" y="3266281"/>
            <a:ext cx="633412" cy="325437"/>
          </a:xfrm>
        </p:spPr>
        <p:txBody>
          <a:bodyPr/>
          <a:lstStyle>
            <a:lvl1pPr>
              <a:defRPr/>
            </a:lvl1pPr>
          </a:lstStyle>
          <a:p>
            <a:pPr lvl="0"/>
            <a:r>
              <a:rPr lang="en-US" dirty="0"/>
              <a:t>3</a:t>
            </a:r>
            <a:endParaRPr lang="en-IN" dirty="0"/>
          </a:p>
        </p:txBody>
      </p:sp>
      <p:sp>
        <p:nvSpPr>
          <p:cNvPr id="17" name="Content Placeholder 8">
            <a:extLst>
              <a:ext uri="{FF2B5EF4-FFF2-40B4-BE49-F238E27FC236}">
                <a16:creationId xmlns:a16="http://schemas.microsoft.com/office/drawing/2014/main" id="{2D2EE4DD-A1D5-8EE5-B453-D9874D5BD55B}"/>
              </a:ext>
            </a:extLst>
          </p:cNvPr>
          <p:cNvSpPr>
            <a:spLocks noGrp="1"/>
          </p:cNvSpPr>
          <p:nvPr>
            <p:ph sz="quarter" idx="17" hasCustomPrompt="1"/>
          </p:nvPr>
        </p:nvSpPr>
        <p:spPr>
          <a:xfrm>
            <a:off x="-1555750" y="3749987"/>
            <a:ext cx="633412" cy="325437"/>
          </a:xfrm>
        </p:spPr>
        <p:txBody>
          <a:bodyPr/>
          <a:lstStyle>
            <a:lvl1pPr>
              <a:defRPr/>
            </a:lvl1pPr>
          </a:lstStyle>
          <a:p>
            <a:pPr lvl="0"/>
            <a:r>
              <a:rPr lang="en-US" dirty="0"/>
              <a:t>3</a:t>
            </a:r>
            <a:endParaRPr lang="en-IN" dirty="0"/>
          </a:p>
        </p:txBody>
      </p:sp>
      <p:sp>
        <p:nvSpPr>
          <p:cNvPr id="18" name="Content Placeholder 8">
            <a:extLst>
              <a:ext uri="{FF2B5EF4-FFF2-40B4-BE49-F238E27FC236}">
                <a16:creationId xmlns:a16="http://schemas.microsoft.com/office/drawing/2014/main" id="{0AF47FBD-E730-8C13-ABD5-D4C0C0C9A8BF}"/>
              </a:ext>
            </a:extLst>
          </p:cNvPr>
          <p:cNvSpPr>
            <a:spLocks noGrp="1"/>
          </p:cNvSpPr>
          <p:nvPr>
            <p:ph sz="quarter" idx="18" hasCustomPrompt="1"/>
          </p:nvPr>
        </p:nvSpPr>
        <p:spPr>
          <a:xfrm>
            <a:off x="-1555750" y="4372406"/>
            <a:ext cx="633412" cy="325437"/>
          </a:xfrm>
        </p:spPr>
        <p:txBody>
          <a:bodyPr/>
          <a:lstStyle>
            <a:lvl1pPr>
              <a:defRPr/>
            </a:lvl1pPr>
          </a:lstStyle>
          <a:p>
            <a:pPr lvl="0"/>
            <a:r>
              <a:rPr lang="en-US" dirty="0"/>
              <a:t>3</a:t>
            </a:r>
            <a:endParaRPr lang="en-IN" dirty="0"/>
          </a:p>
        </p:txBody>
      </p:sp>
      <p:sp>
        <p:nvSpPr>
          <p:cNvPr id="20" name="Content Placeholder 8">
            <a:extLst>
              <a:ext uri="{FF2B5EF4-FFF2-40B4-BE49-F238E27FC236}">
                <a16:creationId xmlns:a16="http://schemas.microsoft.com/office/drawing/2014/main" id="{1FB99FF2-1CD3-524A-986C-1E9DFF84B771}"/>
              </a:ext>
            </a:extLst>
          </p:cNvPr>
          <p:cNvSpPr>
            <a:spLocks noGrp="1"/>
          </p:cNvSpPr>
          <p:nvPr>
            <p:ph sz="quarter" idx="19" hasCustomPrompt="1"/>
          </p:nvPr>
        </p:nvSpPr>
        <p:spPr>
          <a:xfrm>
            <a:off x="-1529505" y="4989804"/>
            <a:ext cx="633412" cy="325437"/>
          </a:xfrm>
        </p:spPr>
        <p:txBody>
          <a:bodyPr/>
          <a:lstStyle>
            <a:lvl1pPr>
              <a:defRPr/>
            </a:lvl1pPr>
          </a:lstStyle>
          <a:p>
            <a:pPr lvl="0"/>
            <a:r>
              <a:rPr lang="en-US" dirty="0"/>
              <a:t>3</a:t>
            </a:r>
            <a:endParaRPr lang="en-IN" dirty="0"/>
          </a:p>
        </p:txBody>
      </p:sp>
      <p:sp>
        <p:nvSpPr>
          <p:cNvPr id="21" name="Content Placeholder 8">
            <a:extLst>
              <a:ext uri="{FF2B5EF4-FFF2-40B4-BE49-F238E27FC236}">
                <a16:creationId xmlns:a16="http://schemas.microsoft.com/office/drawing/2014/main" id="{5B7938D0-28F1-A5FA-AA94-246007C865C0}"/>
              </a:ext>
            </a:extLst>
          </p:cNvPr>
          <p:cNvSpPr>
            <a:spLocks noGrp="1"/>
          </p:cNvSpPr>
          <p:nvPr>
            <p:ph sz="quarter" idx="20" hasCustomPrompt="1"/>
          </p:nvPr>
        </p:nvSpPr>
        <p:spPr>
          <a:xfrm>
            <a:off x="-1511806" y="5607202"/>
            <a:ext cx="633412" cy="325437"/>
          </a:xfrm>
        </p:spPr>
        <p:txBody>
          <a:bodyPr/>
          <a:lstStyle>
            <a:lvl1pPr>
              <a:defRPr/>
            </a:lvl1pPr>
          </a:lstStyle>
          <a:p>
            <a:pPr lvl="0"/>
            <a:r>
              <a:rPr lang="en-US" dirty="0"/>
              <a:t>3</a:t>
            </a:r>
            <a:endParaRPr lang="en-IN" dirty="0"/>
          </a:p>
        </p:txBody>
      </p:sp>
      <p:sp>
        <p:nvSpPr>
          <p:cNvPr id="22" name="Content Placeholder 8">
            <a:extLst>
              <a:ext uri="{FF2B5EF4-FFF2-40B4-BE49-F238E27FC236}">
                <a16:creationId xmlns:a16="http://schemas.microsoft.com/office/drawing/2014/main" id="{5A5A5986-D079-F2EA-6421-5C237205481D}"/>
              </a:ext>
            </a:extLst>
          </p:cNvPr>
          <p:cNvSpPr>
            <a:spLocks noGrp="1"/>
          </p:cNvSpPr>
          <p:nvPr>
            <p:ph sz="quarter" idx="21" hasCustomPrompt="1"/>
          </p:nvPr>
        </p:nvSpPr>
        <p:spPr>
          <a:xfrm>
            <a:off x="-1511806" y="6095929"/>
            <a:ext cx="633412" cy="325437"/>
          </a:xfrm>
        </p:spPr>
        <p:txBody>
          <a:bodyPr/>
          <a:lstStyle>
            <a:lvl1pPr>
              <a:defRPr/>
            </a:lvl1pPr>
          </a:lstStyle>
          <a:p>
            <a:pPr lvl="0"/>
            <a:r>
              <a:rPr lang="en-US" dirty="0"/>
              <a:t>3</a:t>
            </a:r>
            <a:endParaRPr lang="en-IN" dirty="0"/>
          </a:p>
        </p:txBody>
      </p:sp>
      <p:sp>
        <p:nvSpPr>
          <p:cNvPr id="23" name="Content Placeholder 8">
            <a:extLst>
              <a:ext uri="{FF2B5EF4-FFF2-40B4-BE49-F238E27FC236}">
                <a16:creationId xmlns:a16="http://schemas.microsoft.com/office/drawing/2014/main" id="{B22D1256-BE6E-255D-2F4B-0BEA58A9DEF9}"/>
              </a:ext>
            </a:extLst>
          </p:cNvPr>
          <p:cNvSpPr>
            <a:spLocks noGrp="1"/>
          </p:cNvSpPr>
          <p:nvPr>
            <p:ph sz="quarter" idx="22" hasCustomPrompt="1"/>
          </p:nvPr>
        </p:nvSpPr>
        <p:spPr>
          <a:xfrm>
            <a:off x="-1502045" y="6532563"/>
            <a:ext cx="633412" cy="325437"/>
          </a:xfrm>
        </p:spPr>
        <p:txBody>
          <a:bodyPr/>
          <a:lstStyle>
            <a:lvl1pPr>
              <a:defRPr/>
            </a:lvl1pPr>
          </a:lstStyle>
          <a:p>
            <a:pPr lvl="0"/>
            <a:r>
              <a:rPr lang="en-US" dirty="0"/>
              <a:t>3</a:t>
            </a:r>
            <a:endParaRPr lang="en-IN" dirty="0"/>
          </a:p>
        </p:txBody>
      </p:sp>
      <p:sp>
        <p:nvSpPr>
          <p:cNvPr id="24" name="Content Placeholder 8">
            <a:extLst>
              <a:ext uri="{FF2B5EF4-FFF2-40B4-BE49-F238E27FC236}">
                <a16:creationId xmlns:a16="http://schemas.microsoft.com/office/drawing/2014/main" id="{E90562F8-306C-3518-3DDD-D2B0F8C08163}"/>
              </a:ext>
            </a:extLst>
          </p:cNvPr>
          <p:cNvSpPr>
            <a:spLocks noGrp="1"/>
          </p:cNvSpPr>
          <p:nvPr>
            <p:ph sz="quarter" idx="23" hasCustomPrompt="1"/>
          </p:nvPr>
        </p:nvSpPr>
        <p:spPr>
          <a:xfrm>
            <a:off x="-858872" y="2791815"/>
            <a:ext cx="633412" cy="325437"/>
          </a:xfrm>
        </p:spPr>
        <p:txBody>
          <a:bodyPr/>
          <a:lstStyle>
            <a:lvl1pPr>
              <a:defRPr/>
            </a:lvl1pPr>
          </a:lstStyle>
          <a:p>
            <a:pPr lvl="0"/>
            <a:r>
              <a:rPr lang="en-US" dirty="0"/>
              <a:t>3</a:t>
            </a:r>
            <a:endParaRPr lang="en-IN" dirty="0"/>
          </a:p>
        </p:txBody>
      </p:sp>
      <p:sp>
        <p:nvSpPr>
          <p:cNvPr id="36" name="Content Placeholder 8">
            <a:extLst>
              <a:ext uri="{FF2B5EF4-FFF2-40B4-BE49-F238E27FC236}">
                <a16:creationId xmlns:a16="http://schemas.microsoft.com/office/drawing/2014/main" id="{8027E02C-1C02-44A7-6158-9FB51AC01E9F}"/>
              </a:ext>
            </a:extLst>
          </p:cNvPr>
          <p:cNvSpPr>
            <a:spLocks noGrp="1"/>
          </p:cNvSpPr>
          <p:nvPr>
            <p:ph sz="quarter" idx="24" hasCustomPrompt="1"/>
          </p:nvPr>
        </p:nvSpPr>
        <p:spPr>
          <a:xfrm>
            <a:off x="-849111" y="3270169"/>
            <a:ext cx="633412" cy="325437"/>
          </a:xfrm>
        </p:spPr>
        <p:txBody>
          <a:bodyPr/>
          <a:lstStyle>
            <a:lvl1pPr>
              <a:defRPr/>
            </a:lvl1pPr>
          </a:lstStyle>
          <a:p>
            <a:pPr lvl="0"/>
            <a:r>
              <a:rPr lang="en-US" dirty="0"/>
              <a:t>3</a:t>
            </a:r>
            <a:endParaRPr lang="en-IN" dirty="0"/>
          </a:p>
        </p:txBody>
      </p:sp>
      <p:sp>
        <p:nvSpPr>
          <p:cNvPr id="51" name="Content Placeholder 8">
            <a:extLst>
              <a:ext uri="{FF2B5EF4-FFF2-40B4-BE49-F238E27FC236}">
                <a16:creationId xmlns:a16="http://schemas.microsoft.com/office/drawing/2014/main" id="{728CE518-FAA7-B667-3EF0-13805FB56FF1}"/>
              </a:ext>
            </a:extLst>
          </p:cNvPr>
          <p:cNvSpPr>
            <a:spLocks noGrp="1"/>
          </p:cNvSpPr>
          <p:nvPr>
            <p:ph sz="quarter" idx="25" hasCustomPrompt="1"/>
          </p:nvPr>
        </p:nvSpPr>
        <p:spPr>
          <a:xfrm>
            <a:off x="-839957" y="3734956"/>
            <a:ext cx="633412" cy="325437"/>
          </a:xfrm>
        </p:spPr>
        <p:txBody>
          <a:bodyPr/>
          <a:lstStyle>
            <a:lvl1pPr>
              <a:defRPr/>
            </a:lvl1pPr>
          </a:lstStyle>
          <a:p>
            <a:pPr lvl="0"/>
            <a:r>
              <a:rPr lang="en-US" dirty="0"/>
              <a:t>3</a:t>
            </a:r>
            <a:endParaRPr lang="en-IN" dirty="0"/>
          </a:p>
        </p:txBody>
      </p:sp>
      <p:sp>
        <p:nvSpPr>
          <p:cNvPr id="52" name="Content Placeholder 8">
            <a:extLst>
              <a:ext uri="{FF2B5EF4-FFF2-40B4-BE49-F238E27FC236}">
                <a16:creationId xmlns:a16="http://schemas.microsoft.com/office/drawing/2014/main" id="{0FA02D53-77A7-758A-0814-3142386804ED}"/>
              </a:ext>
            </a:extLst>
          </p:cNvPr>
          <p:cNvSpPr>
            <a:spLocks noGrp="1"/>
          </p:cNvSpPr>
          <p:nvPr>
            <p:ph sz="quarter" idx="26" hasCustomPrompt="1"/>
          </p:nvPr>
        </p:nvSpPr>
        <p:spPr>
          <a:xfrm>
            <a:off x="-814320" y="4194722"/>
            <a:ext cx="633412" cy="325437"/>
          </a:xfrm>
        </p:spPr>
        <p:txBody>
          <a:bodyPr/>
          <a:lstStyle>
            <a:lvl1pPr>
              <a:defRPr/>
            </a:lvl1pPr>
          </a:lstStyle>
          <a:p>
            <a:pPr lvl="0"/>
            <a:r>
              <a:rPr lang="en-US" dirty="0"/>
              <a:t>3</a:t>
            </a:r>
            <a:endParaRPr lang="en-IN" dirty="0"/>
          </a:p>
        </p:txBody>
      </p:sp>
      <p:sp>
        <p:nvSpPr>
          <p:cNvPr id="53" name="Content Placeholder 8">
            <a:extLst>
              <a:ext uri="{FF2B5EF4-FFF2-40B4-BE49-F238E27FC236}">
                <a16:creationId xmlns:a16="http://schemas.microsoft.com/office/drawing/2014/main" id="{8A2F70FC-778E-79E1-A7C3-96BC3B4A7159}"/>
              </a:ext>
            </a:extLst>
          </p:cNvPr>
          <p:cNvSpPr>
            <a:spLocks noGrp="1"/>
          </p:cNvSpPr>
          <p:nvPr>
            <p:ph sz="quarter" idx="27" hasCustomPrompt="1"/>
          </p:nvPr>
        </p:nvSpPr>
        <p:spPr>
          <a:xfrm>
            <a:off x="-814320" y="4649467"/>
            <a:ext cx="633412" cy="325437"/>
          </a:xfrm>
        </p:spPr>
        <p:txBody>
          <a:bodyPr/>
          <a:lstStyle>
            <a:lvl1pPr>
              <a:defRPr/>
            </a:lvl1pPr>
          </a:lstStyle>
          <a:p>
            <a:pPr lvl="0"/>
            <a:r>
              <a:rPr lang="en-US" dirty="0"/>
              <a:t>3</a:t>
            </a:r>
            <a:endParaRPr lang="en-IN" dirty="0"/>
          </a:p>
        </p:txBody>
      </p:sp>
      <p:sp>
        <p:nvSpPr>
          <p:cNvPr id="54" name="Content Placeholder 8">
            <a:extLst>
              <a:ext uri="{FF2B5EF4-FFF2-40B4-BE49-F238E27FC236}">
                <a16:creationId xmlns:a16="http://schemas.microsoft.com/office/drawing/2014/main" id="{FD6FFAA2-CCF8-CE0C-48C5-93E3B196FA16}"/>
              </a:ext>
            </a:extLst>
          </p:cNvPr>
          <p:cNvSpPr>
            <a:spLocks noGrp="1"/>
          </p:cNvSpPr>
          <p:nvPr>
            <p:ph sz="quarter" idx="28" hasCustomPrompt="1"/>
          </p:nvPr>
        </p:nvSpPr>
        <p:spPr>
          <a:xfrm>
            <a:off x="-788074" y="5104212"/>
            <a:ext cx="633412" cy="325437"/>
          </a:xfrm>
        </p:spPr>
        <p:txBody>
          <a:bodyPr/>
          <a:lstStyle>
            <a:lvl1pPr>
              <a:defRPr/>
            </a:lvl1pPr>
          </a:lstStyle>
          <a:p>
            <a:pPr lvl="0"/>
            <a:r>
              <a:rPr lang="en-US" dirty="0"/>
              <a:t>3</a:t>
            </a:r>
            <a:endParaRPr lang="en-IN" dirty="0"/>
          </a:p>
        </p:txBody>
      </p:sp>
      <p:sp>
        <p:nvSpPr>
          <p:cNvPr id="55" name="Content Placeholder 8">
            <a:extLst>
              <a:ext uri="{FF2B5EF4-FFF2-40B4-BE49-F238E27FC236}">
                <a16:creationId xmlns:a16="http://schemas.microsoft.com/office/drawing/2014/main" id="{DA1BBFBF-DFD9-90BB-C917-C2735C371E3F}"/>
              </a:ext>
            </a:extLst>
          </p:cNvPr>
          <p:cNvSpPr>
            <a:spLocks noGrp="1"/>
          </p:cNvSpPr>
          <p:nvPr>
            <p:ph sz="quarter" idx="29" hasCustomPrompt="1"/>
          </p:nvPr>
        </p:nvSpPr>
        <p:spPr>
          <a:xfrm>
            <a:off x="-814320" y="5558957"/>
            <a:ext cx="633412" cy="325437"/>
          </a:xfrm>
        </p:spPr>
        <p:txBody>
          <a:bodyPr/>
          <a:lstStyle>
            <a:lvl1pPr>
              <a:defRPr/>
            </a:lvl1pPr>
          </a:lstStyle>
          <a:p>
            <a:pPr lvl="0"/>
            <a:r>
              <a:rPr lang="en-US" dirty="0"/>
              <a:t>3</a:t>
            </a:r>
            <a:endParaRPr lang="en-IN" dirty="0"/>
          </a:p>
        </p:txBody>
      </p:sp>
      <p:sp>
        <p:nvSpPr>
          <p:cNvPr id="56" name="Content Placeholder 8">
            <a:extLst>
              <a:ext uri="{FF2B5EF4-FFF2-40B4-BE49-F238E27FC236}">
                <a16:creationId xmlns:a16="http://schemas.microsoft.com/office/drawing/2014/main" id="{05429DF8-5088-FE37-8F33-29823E2A58BE}"/>
              </a:ext>
            </a:extLst>
          </p:cNvPr>
          <p:cNvSpPr>
            <a:spLocks noGrp="1"/>
          </p:cNvSpPr>
          <p:nvPr>
            <p:ph sz="quarter" idx="30" hasCustomPrompt="1"/>
          </p:nvPr>
        </p:nvSpPr>
        <p:spPr>
          <a:xfrm>
            <a:off x="-821650" y="6013702"/>
            <a:ext cx="633412" cy="325437"/>
          </a:xfrm>
        </p:spPr>
        <p:txBody>
          <a:bodyPr/>
          <a:lstStyle>
            <a:lvl1pPr>
              <a:defRPr/>
            </a:lvl1pPr>
          </a:lstStyle>
          <a:p>
            <a:pPr lvl="0"/>
            <a:r>
              <a:rPr lang="en-US" dirty="0"/>
              <a:t>3</a:t>
            </a:r>
            <a:endParaRPr lang="en-IN" dirty="0"/>
          </a:p>
        </p:txBody>
      </p:sp>
      <p:sp>
        <p:nvSpPr>
          <p:cNvPr id="57" name="Content Placeholder 8">
            <a:extLst>
              <a:ext uri="{FF2B5EF4-FFF2-40B4-BE49-F238E27FC236}">
                <a16:creationId xmlns:a16="http://schemas.microsoft.com/office/drawing/2014/main" id="{58EFECBF-22BA-CB37-DDF0-DFC704DE2D2B}"/>
              </a:ext>
            </a:extLst>
          </p:cNvPr>
          <p:cNvSpPr>
            <a:spLocks noGrp="1"/>
          </p:cNvSpPr>
          <p:nvPr>
            <p:ph sz="quarter" idx="31" hasCustomPrompt="1"/>
          </p:nvPr>
        </p:nvSpPr>
        <p:spPr>
          <a:xfrm>
            <a:off x="-814320" y="6468447"/>
            <a:ext cx="633412" cy="325437"/>
          </a:xfrm>
        </p:spPr>
        <p:txBody>
          <a:bodyPr/>
          <a:lstStyle>
            <a:lvl1pPr>
              <a:defRPr/>
            </a:lvl1pPr>
          </a:lstStyle>
          <a:p>
            <a:pPr lvl="0"/>
            <a:r>
              <a:rPr lang="en-US" dirty="0"/>
              <a:t>3</a:t>
            </a:r>
            <a:endParaRPr lang="en-IN" dirty="0"/>
          </a:p>
        </p:txBody>
      </p:sp>
    </p:spTree>
    <p:extLst>
      <p:ext uri="{BB962C8B-B14F-4D97-AF65-F5344CB8AC3E}">
        <p14:creationId xmlns:p14="http://schemas.microsoft.com/office/powerpoint/2010/main" val="2671281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9/30/2025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
        <p:nvSpPr>
          <p:cNvPr id="4" name="Content Placeholder 3">
            <a:extLst>
              <a:ext uri="{FF2B5EF4-FFF2-40B4-BE49-F238E27FC236}">
                <a16:creationId xmlns:a16="http://schemas.microsoft.com/office/drawing/2014/main" id="{DC3A4DE2-926B-3FF3-93D8-6F13D863C0B9}"/>
              </a:ext>
            </a:extLst>
          </p:cNvPr>
          <p:cNvSpPr>
            <a:spLocks noGrp="1"/>
          </p:cNvSpPr>
          <p:nvPr>
            <p:ph sz="quarter" idx="17" hasCustomPrompt="1"/>
          </p:nvPr>
        </p:nvSpPr>
        <p:spPr>
          <a:xfrm>
            <a:off x="-1709738" y="112713"/>
            <a:ext cx="411163" cy="182562"/>
          </a:xfrm>
        </p:spPr>
        <p:txBody>
          <a:bodyPr/>
          <a:lstStyle>
            <a:lvl1pPr>
              <a:defRPr/>
            </a:lvl1pPr>
          </a:lstStyle>
          <a:p>
            <a:pPr lvl="0"/>
            <a:r>
              <a:rPr lang="en-US" dirty="0"/>
              <a:t>1</a:t>
            </a:r>
            <a:endParaRPr lang="en-IN" dirty="0"/>
          </a:p>
        </p:txBody>
      </p:sp>
      <p:sp>
        <p:nvSpPr>
          <p:cNvPr id="10" name="Content Placeholder 3">
            <a:extLst>
              <a:ext uri="{FF2B5EF4-FFF2-40B4-BE49-F238E27FC236}">
                <a16:creationId xmlns:a16="http://schemas.microsoft.com/office/drawing/2014/main" id="{118A41A4-7BFA-0B72-44AA-ACDA16EC287E}"/>
              </a:ext>
            </a:extLst>
          </p:cNvPr>
          <p:cNvSpPr>
            <a:spLocks noGrp="1"/>
          </p:cNvSpPr>
          <p:nvPr>
            <p:ph sz="quarter" idx="18" hasCustomPrompt="1"/>
          </p:nvPr>
        </p:nvSpPr>
        <p:spPr>
          <a:xfrm>
            <a:off x="-1752081" y="508794"/>
            <a:ext cx="411163" cy="182562"/>
          </a:xfrm>
        </p:spPr>
        <p:txBody>
          <a:bodyPr/>
          <a:lstStyle>
            <a:lvl1pPr>
              <a:defRPr/>
            </a:lvl1pPr>
          </a:lstStyle>
          <a:p>
            <a:pPr lvl="0"/>
            <a:r>
              <a:rPr lang="en-US" dirty="0"/>
              <a:t>1</a:t>
            </a:r>
            <a:endParaRPr lang="en-IN" dirty="0"/>
          </a:p>
        </p:txBody>
      </p:sp>
      <p:sp>
        <p:nvSpPr>
          <p:cNvPr id="11" name="Content Placeholder 3">
            <a:extLst>
              <a:ext uri="{FF2B5EF4-FFF2-40B4-BE49-F238E27FC236}">
                <a16:creationId xmlns:a16="http://schemas.microsoft.com/office/drawing/2014/main" id="{57DC12A5-168A-DFA8-8E54-5FAC36363B57}"/>
              </a:ext>
            </a:extLst>
          </p:cNvPr>
          <p:cNvSpPr>
            <a:spLocks noGrp="1"/>
          </p:cNvSpPr>
          <p:nvPr>
            <p:ph sz="quarter" idx="19" hasCustomPrompt="1"/>
          </p:nvPr>
        </p:nvSpPr>
        <p:spPr>
          <a:xfrm>
            <a:off x="-1752081" y="850024"/>
            <a:ext cx="411163" cy="182562"/>
          </a:xfrm>
        </p:spPr>
        <p:txBody>
          <a:bodyPr/>
          <a:lstStyle>
            <a:lvl1pPr>
              <a:defRPr/>
            </a:lvl1pPr>
          </a:lstStyle>
          <a:p>
            <a:pPr lvl="0"/>
            <a:r>
              <a:rPr lang="en-US" dirty="0"/>
              <a:t>1</a:t>
            </a:r>
            <a:endParaRPr lang="en-IN" dirty="0"/>
          </a:p>
        </p:txBody>
      </p:sp>
      <p:sp>
        <p:nvSpPr>
          <p:cNvPr id="12" name="Content Placeholder 3">
            <a:extLst>
              <a:ext uri="{FF2B5EF4-FFF2-40B4-BE49-F238E27FC236}">
                <a16:creationId xmlns:a16="http://schemas.microsoft.com/office/drawing/2014/main" id="{4D93E7CF-C2AB-B1C5-1961-AD767003C370}"/>
              </a:ext>
            </a:extLst>
          </p:cNvPr>
          <p:cNvSpPr>
            <a:spLocks noGrp="1"/>
          </p:cNvSpPr>
          <p:nvPr>
            <p:ph sz="quarter" idx="20" hasCustomPrompt="1"/>
          </p:nvPr>
        </p:nvSpPr>
        <p:spPr>
          <a:xfrm>
            <a:off x="-1752082" y="1221369"/>
            <a:ext cx="411163" cy="182562"/>
          </a:xfrm>
        </p:spPr>
        <p:txBody>
          <a:bodyPr/>
          <a:lstStyle>
            <a:lvl1pPr>
              <a:defRPr/>
            </a:lvl1pPr>
          </a:lstStyle>
          <a:p>
            <a:pPr lvl="0"/>
            <a:r>
              <a:rPr lang="en-US" dirty="0"/>
              <a:t>1</a:t>
            </a:r>
            <a:endParaRPr lang="en-IN" dirty="0"/>
          </a:p>
        </p:txBody>
      </p:sp>
      <p:sp>
        <p:nvSpPr>
          <p:cNvPr id="13" name="Content Placeholder 3">
            <a:extLst>
              <a:ext uri="{FF2B5EF4-FFF2-40B4-BE49-F238E27FC236}">
                <a16:creationId xmlns:a16="http://schemas.microsoft.com/office/drawing/2014/main" id="{988D73F1-F64C-F2ED-DA09-B50B6299A1CE}"/>
              </a:ext>
            </a:extLst>
          </p:cNvPr>
          <p:cNvSpPr>
            <a:spLocks noGrp="1"/>
          </p:cNvSpPr>
          <p:nvPr>
            <p:ph sz="quarter" idx="21" hasCustomPrompt="1"/>
          </p:nvPr>
        </p:nvSpPr>
        <p:spPr>
          <a:xfrm>
            <a:off x="-1805264" y="1593710"/>
            <a:ext cx="411163" cy="182562"/>
          </a:xfrm>
        </p:spPr>
        <p:txBody>
          <a:bodyPr/>
          <a:lstStyle>
            <a:lvl1pPr>
              <a:defRPr/>
            </a:lvl1pPr>
          </a:lstStyle>
          <a:p>
            <a:pPr lvl="0"/>
            <a:r>
              <a:rPr lang="en-US" dirty="0"/>
              <a:t>1</a:t>
            </a:r>
            <a:endParaRPr lang="en-IN" dirty="0"/>
          </a:p>
        </p:txBody>
      </p:sp>
      <p:sp>
        <p:nvSpPr>
          <p:cNvPr id="14" name="Content Placeholder 3">
            <a:extLst>
              <a:ext uri="{FF2B5EF4-FFF2-40B4-BE49-F238E27FC236}">
                <a16:creationId xmlns:a16="http://schemas.microsoft.com/office/drawing/2014/main" id="{90E00130-2112-6231-5AD6-86D88B8FCE4E}"/>
              </a:ext>
            </a:extLst>
          </p:cNvPr>
          <p:cNvSpPr>
            <a:spLocks noGrp="1"/>
          </p:cNvSpPr>
          <p:nvPr>
            <p:ph sz="quarter" idx="22" hasCustomPrompt="1"/>
          </p:nvPr>
        </p:nvSpPr>
        <p:spPr>
          <a:xfrm>
            <a:off x="-1795947" y="1950558"/>
            <a:ext cx="411163" cy="182562"/>
          </a:xfrm>
        </p:spPr>
        <p:txBody>
          <a:bodyPr/>
          <a:lstStyle>
            <a:lvl1pPr>
              <a:defRPr/>
            </a:lvl1pPr>
          </a:lstStyle>
          <a:p>
            <a:pPr lvl="0"/>
            <a:r>
              <a:rPr lang="en-US" dirty="0"/>
              <a:t>1</a:t>
            </a:r>
            <a:endParaRPr lang="en-IN" dirty="0"/>
          </a:p>
        </p:txBody>
      </p:sp>
      <p:sp>
        <p:nvSpPr>
          <p:cNvPr id="15" name="Content Placeholder 3">
            <a:extLst>
              <a:ext uri="{FF2B5EF4-FFF2-40B4-BE49-F238E27FC236}">
                <a16:creationId xmlns:a16="http://schemas.microsoft.com/office/drawing/2014/main" id="{76552175-4F6D-E5B4-82BE-C987AEF0EE4C}"/>
              </a:ext>
            </a:extLst>
          </p:cNvPr>
          <p:cNvSpPr>
            <a:spLocks noGrp="1"/>
          </p:cNvSpPr>
          <p:nvPr>
            <p:ph sz="quarter" idx="23" hasCustomPrompt="1"/>
          </p:nvPr>
        </p:nvSpPr>
        <p:spPr>
          <a:xfrm>
            <a:off x="-1812267" y="2337396"/>
            <a:ext cx="411163" cy="182562"/>
          </a:xfrm>
        </p:spPr>
        <p:txBody>
          <a:bodyPr/>
          <a:lstStyle>
            <a:lvl1pPr>
              <a:defRPr/>
            </a:lvl1pPr>
          </a:lstStyle>
          <a:p>
            <a:pPr lvl="0"/>
            <a:r>
              <a:rPr lang="en-US" dirty="0"/>
              <a:t>1</a:t>
            </a:r>
            <a:endParaRPr lang="en-IN" dirty="0"/>
          </a:p>
        </p:txBody>
      </p:sp>
      <p:sp>
        <p:nvSpPr>
          <p:cNvPr id="16" name="Content Placeholder 3">
            <a:extLst>
              <a:ext uri="{FF2B5EF4-FFF2-40B4-BE49-F238E27FC236}">
                <a16:creationId xmlns:a16="http://schemas.microsoft.com/office/drawing/2014/main" id="{6416C17E-A258-0901-3AF8-20FBCA73BB9D}"/>
              </a:ext>
            </a:extLst>
          </p:cNvPr>
          <p:cNvSpPr>
            <a:spLocks noGrp="1"/>
          </p:cNvSpPr>
          <p:nvPr>
            <p:ph sz="quarter" idx="24" hasCustomPrompt="1"/>
          </p:nvPr>
        </p:nvSpPr>
        <p:spPr>
          <a:xfrm>
            <a:off x="-1812268" y="2726553"/>
            <a:ext cx="411163" cy="182562"/>
          </a:xfrm>
        </p:spPr>
        <p:txBody>
          <a:bodyPr/>
          <a:lstStyle>
            <a:lvl1pPr>
              <a:defRPr/>
            </a:lvl1pPr>
          </a:lstStyle>
          <a:p>
            <a:pPr lvl="0"/>
            <a:r>
              <a:rPr lang="en-US" dirty="0"/>
              <a:t>1</a:t>
            </a:r>
            <a:endParaRPr lang="en-IN" dirty="0"/>
          </a:p>
        </p:txBody>
      </p:sp>
      <p:sp>
        <p:nvSpPr>
          <p:cNvPr id="17" name="Content Placeholder 3">
            <a:extLst>
              <a:ext uri="{FF2B5EF4-FFF2-40B4-BE49-F238E27FC236}">
                <a16:creationId xmlns:a16="http://schemas.microsoft.com/office/drawing/2014/main" id="{16123369-55F4-8322-73F0-4CA1403D29D6}"/>
              </a:ext>
            </a:extLst>
          </p:cNvPr>
          <p:cNvSpPr>
            <a:spLocks noGrp="1"/>
          </p:cNvSpPr>
          <p:nvPr>
            <p:ph sz="quarter" idx="25" hasCustomPrompt="1"/>
          </p:nvPr>
        </p:nvSpPr>
        <p:spPr>
          <a:xfrm>
            <a:off x="-1795947" y="3120306"/>
            <a:ext cx="411163" cy="182562"/>
          </a:xfrm>
        </p:spPr>
        <p:txBody>
          <a:bodyPr/>
          <a:lstStyle>
            <a:lvl1pPr>
              <a:defRPr/>
            </a:lvl1pPr>
          </a:lstStyle>
          <a:p>
            <a:pPr lvl="0"/>
            <a:r>
              <a:rPr lang="en-US" dirty="0"/>
              <a:t>1</a:t>
            </a:r>
            <a:endParaRPr lang="en-IN" dirty="0"/>
          </a:p>
        </p:txBody>
      </p:sp>
      <p:sp>
        <p:nvSpPr>
          <p:cNvPr id="18" name="Content Placeholder 3">
            <a:extLst>
              <a:ext uri="{FF2B5EF4-FFF2-40B4-BE49-F238E27FC236}">
                <a16:creationId xmlns:a16="http://schemas.microsoft.com/office/drawing/2014/main" id="{BB04676D-7A00-60E2-E5EC-CA5E83B63BEC}"/>
              </a:ext>
            </a:extLst>
          </p:cNvPr>
          <p:cNvSpPr>
            <a:spLocks noGrp="1"/>
          </p:cNvSpPr>
          <p:nvPr>
            <p:ph sz="quarter" idx="26" hasCustomPrompt="1"/>
          </p:nvPr>
        </p:nvSpPr>
        <p:spPr>
          <a:xfrm>
            <a:off x="-1820042" y="3555133"/>
            <a:ext cx="411163" cy="182562"/>
          </a:xfrm>
        </p:spPr>
        <p:txBody>
          <a:bodyPr/>
          <a:lstStyle>
            <a:lvl1pPr>
              <a:defRPr/>
            </a:lvl1pPr>
          </a:lstStyle>
          <a:p>
            <a:pPr lvl="0"/>
            <a:r>
              <a:rPr lang="en-US" dirty="0"/>
              <a:t>1</a:t>
            </a:r>
            <a:endParaRPr lang="en-IN" dirty="0"/>
          </a:p>
        </p:txBody>
      </p:sp>
      <p:sp>
        <p:nvSpPr>
          <p:cNvPr id="19" name="Content Placeholder 3">
            <a:extLst>
              <a:ext uri="{FF2B5EF4-FFF2-40B4-BE49-F238E27FC236}">
                <a16:creationId xmlns:a16="http://schemas.microsoft.com/office/drawing/2014/main" id="{EAD453EE-EA63-BE73-F8F3-6079B4041545}"/>
              </a:ext>
            </a:extLst>
          </p:cNvPr>
          <p:cNvSpPr>
            <a:spLocks noGrp="1"/>
          </p:cNvSpPr>
          <p:nvPr>
            <p:ph sz="quarter" idx="27" hasCustomPrompt="1"/>
          </p:nvPr>
        </p:nvSpPr>
        <p:spPr>
          <a:xfrm>
            <a:off x="-1820043" y="3979202"/>
            <a:ext cx="411163" cy="182562"/>
          </a:xfrm>
        </p:spPr>
        <p:txBody>
          <a:bodyPr/>
          <a:lstStyle>
            <a:lvl1pPr>
              <a:defRPr/>
            </a:lvl1pPr>
          </a:lstStyle>
          <a:p>
            <a:pPr lvl="0"/>
            <a:r>
              <a:rPr lang="en-US" dirty="0"/>
              <a:t>1</a:t>
            </a:r>
            <a:endParaRPr lang="en-IN" dirty="0"/>
          </a:p>
        </p:txBody>
      </p:sp>
      <p:sp>
        <p:nvSpPr>
          <p:cNvPr id="20" name="Content Placeholder 3">
            <a:extLst>
              <a:ext uri="{FF2B5EF4-FFF2-40B4-BE49-F238E27FC236}">
                <a16:creationId xmlns:a16="http://schemas.microsoft.com/office/drawing/2014/main" id="{826068EF-43A1-5754-1EA1-9882CB7949B2}"/>
              </a:ext>
            </a:extLst>
          </p:cNvPr>
          <p:cNvSpPr>
            <a:spLocks noGrp="1"/>
          </p:cNvSpPr>
          <p:nvPr>
            <p:ph sz="quarter" idx="28" hasCustomPrompt="1"/>
          </p:nvPr>
        </p:nvSpPr>
        <p:spPr>
          <a:xfrm>
            <a:off x="-1803721" y="4403271"/>
            <a:ext cx="411163" cy="182562"/>
          </a:xfrm>
        </p:spPr>
        <p:txBody>
          <a:bodyPr/>
          <a:lstStyle>
            <a:lvl1pPr>
              <a:defRPr/>
            </a:lvl1pPr>
          </a:lstStyle>
          <a:p>
            <a:pPr lvl="0"/>
            <a:r>
              <a:rPr lang="en-US" dirty="0"/>
              <a:t>1</a:t>
            </a:r>
            <a:endParaRPr lang="en-IN" dirty="0"/>
          </a:p>
        </p:txBody>
      </p:sp>
      <p:sp>
        <p:nvSpPr>
          <p:cNvPr id="21" name="Content Placeholder 3">
            <a:extLst>
              <a:ext uri="{FF2B5EF4-FFF2-40B4-BE49-F238E27FC236}">
                <a16:creationId xmlns:a16="http://schemas.microsoft.com/office/drawing/2014/main" id="{03C00232-8775-EB1F-4153-F78C242C2F7E}"/>
              </a:ext>
            </a:extLst>
          </p:cNvPr>
          <p:cNvSpPr>
            <a:spLocks noGrp="1"/>
          </p:cNvSpPr>
          <p:nvPr>
            <p:ph sz="quarter" idx="29" hasCustomPrompt="1"/>
          </p:nvPr>
        </p:nvSpPr>
        <p:spPr>
          <a:xfrm>
            <a:off x="-1795947" y="4827340"/>
            <a:ext cx="411163" cy="182562"/>
          </a:xfrm>
        </p:spPr>
        <p:txBody>
          <a:bodyPr/>
          <a:lstStyle>
            <a:lvl1pPr>
              <a:defRPr/>
            </a:lvl1pPr>
          </a:lstStyle>
          <a:p>
            <a:pPr lvl="0"/>
            <a:r>
              <a:rPr lang="en-US" dirty="0"/>
              <a:t>1</a:t>
            </a:r>
            <a:endParaRPr lang="en-IN" dirty="0"/>
          </a:p>
        </p:txBody>
      </p:sp>
      <p:sp>
        <p:nvSpPr>
          <p:cNvPr id="22" name="Content Placeholder 3">
            <a:extLst>
              <a:ext uri="{FF2B5EF4-FFF2-40B4-BE49-F238E27FC236}">
                <a16:creationId xmlns:a16="http://schemas.microsoft.com/office/drawing/2014/main" id="{DD1C2CD3-CA7E-AFCB-F78C-59A8915D1D4D}"/>
              </a:ext>
            </a:extLst>
          </p:cNvPr>
          <p:cNvSpPr>
            <a:spLocks noGrp="1"/>
          </p:cNvSpPr>
          <p:nvPr>
            <p:ph sz="quarter" idx="30" hasCustomPrompt="1"/>
          </p:nvPr>
        </p:nvSpPr>
        <p:spPr>
          <a:xfrm>
            <a:off x="-1849129" y="5170886"/>
            <a:ext cx="411163" cy="182562"/>
          </a:xfrm>
        </p:spPr>
        <p:txBody>
          <a:bodyPr/>
          <a:lstStyle>
            <a:lvl1pPr>
              <a:defRPr/>
            </a:lvl1pPr>
          </a:lstStyle>
          <a:p>
            <a:pPr lvl="0"/>
            <a:r>
              <a:rPr lang="en-US" dirty="0"/>
              <a:t>1</a:t>
            </a:r>
            <a:endParaRPr lang="en-IN" dirty="0"/>
          </a:p>
        </p:txBody>
      </p:sp>
      <p:sp>
        <p:nvSpPr>
          <p:cNvPr id="23" name="Content Placeholder 3">
            <a:extLst>
              <a:ext uri="{FF2B5EF4-FFF2-40B4-BE49-F238E27FC236}">
                <a16:creationId xmlns:a16="http://schemas.microsoft.com/office/drawing/2014/main" id="{54ADEFF0-DD74-F220-3E39-046259E671A1}"/>
              </a:ext>
            </a:extLst>
          </p:cNvPr>
          <p:cNvSpPr>
            <a:spLocks noGrp="1"/>
          </p:cNvSpPr>
          <p:nvPr>
            <p:ph sz="quarter" idx="31" hasCustomPrompt="1"/>
          </p:nvPr>
        </p:nvSpPr>
        <p:spPr>
          <a:xfrm>
            <a:off x="-1795541" y="5636631"/>
            <a:ext cx="411163" cy="182562"/>
          </a:xfrm>
        </p:spPr>
        <p:txBody>
          <a:bodyPr/>
          <a:lstStyle>
            <a:lvl1pPr>
              <a:defRPr/>
            </a:lvl1pPr>
          </a:lstStyle>
          <a:p>
            <a:pPr lvl="0"/>
            <a:r>
              <a:rPr lang="en-US" dirty="0"/>
              <a:t>1</a:t>
            </a:r>
            <a:endParaRPr lang="en-IN" dirty="0"/>
          </a:p>
        </p:txBody>
      </p:sp>
      <p:sp>
        <p:nvSpPr>
          <p:cNvPr id="24" name="Content Placeholder 3">
            <a:extLst>
              <a:ext uri="{FF2B5EF4-FFF2-40B4-BE49-F238E27FC236}">
                <a16:creationId xmlns:a16="http://schemas.microsoft.com/office/drawing/2014/main" id="{BA9C6338-3156-BCCE-B99D-80B2B9FE1C14}"/>
              </a:ext>
            </a:extLst>
          </p:cNvPr>
          <p:cNvSpPr>
            <a:spLocks noGrp="1"/>
          </p:cNvSpPr>
          <p:nvPr>
            <p:ph sz="quarter" idx="32" hasCustomPrompt="1"/>
          </p:nvPr>
        </p:nvSpPr>
        <p:spPr>
          <a:xfrm>
            <a:off x="-1813038" y="6011095"/>
            <a:ext cx="411163" cy="182562"/>
          </a:xfrm>
        </p:spPr>
        <p:txBody>
          <a:bodyPr/>
          <a:lstStyle>
            <a:lvl1pPr>
              <a:defRPr/>
            </a:lvl1pPr>
          </a:lstStyle>
          <a:p>
            <a:pPr lvl="0"/>
            <a:r>
              <a:rPr lang="en-US" dirty="0"/>
              <a:t>1</a:t>
            </a:r>
            <a:endParaRPr lang="en-IN" dirty="0"/>
          </a:p>
        </p:txBody>
      </p:sp>
      <p:sp>
        <p:nvSpPr>
          <p:cNvPr id="25" name="Content Placeholder 3">
            <a:extLst>
              <a:ext uri="{FF2B5EF4-FFF2-40B4-BE49-F238E27FC236}">
                <a16:creationId xmlns:a16="http://schemas.microsoft.com/office/drawing/2014/main" id="{191FD6BE-E251-D12C-FF42-A4841A3ED73A}"/>
              </a:ext>
            </a:extLst>
          </p:cNvPr>
          <p:cNvSpPr>
            <a:spLocks noGrp="1"/>
          </p:cNvSpPr>
          <p:nvPr>
            <p:ph sz="quarter" idx="33" hasCustomPrompt="1"/>
          </p:nvPr>
        </p:nvSpPr>
        <p:spPr>
          <a:xfrm>
            <a:off x="-1839812" y="6385559"/>
            <a:ext cx="411163" cy="182562"/>
          </a:xfrm>
        </p:spPr>
        <p:txBody>
          <a:bodyPr/>
          <a:lstStyle>
            <a:lvl1pPr>
              <a:defRPr/>
            </a:lvl1pPr>
          </a:lstStyle>
          <a:p>
            <a:pPr lvl="0"/>
            <a:r>
              <a:rPr lang="en-US" dirty="0"/>
              <a:t>1</a:t>
            </a:r>
            <a:endParaRPr lang="en-IN" dirty="0"/>
          </a:p>
        </p:txBody>
      </p:sp>
      <p:sp>
        <p:nvSpPr>
          <p:cNvPr id="26" name="Content Placeholder 3">
            <a:extLst>
              <a:ext uri="{FF2B5EF4-FFF2-40B4-BE49-F238E27FC236}">
                <a16:creationId xmlns:a16="http://schemas.microsoft.com/office/drawing/2014/main" id="{A82FE869-73B9-7BD8-E051-B464CFE339F0}"/>
              </a:ext>
            </a:extLst>
          </p:cNvPr>
          <p:cNvSpPr>
            <a:spLocks noGrp="1"/>
          </p:cNvSpPr>
          <p:nvPr>
            <p:ph sz="quarter" idx="34" hasCustomPrompt="1"/>
          </p:nvPr>
        </p:nvSpPr>
        <p:spPr>
          <a:xfrm>
            <a:off x="-995202" y="3646414"/>
            <a:ext cx="411163" cy="182562"/>
          </a:xfrm>
        </p:spPr>
        <p:txBody>
          <a:bodyPr/>
          <a:lstStyle>
            <a:lvl1pPr>
              <a:defRPr/>
            </a:lvl1pPr>
          </a:lstStyle>
          <a:p>
            <a:pPr lvl="0"/>
            <a:r>
              <a:rPr lang="en-US" dirty="0"/>
              <a:t>1</a:t>
            </a:r>
            <a:endParaRPr lang="en-IN" dirty="0"/>
          </a:p>
        </p:txBody>
      </p:sp>
      <p:sp>
        <p:nvSpPr>
          <p:cNvPr id="27" name="Content Placeholder 3">
            <a:extLst>
              <a:ext uri="{FF2B5EF4-FFF2-40B4-BE49-F238E27FC236}">
                <a16:creationId xmlns:a16="http://schemas.microsoft.com/office/drawing/2014/main" id="{94CD1E31-CF3D-FA65-54B9-7630C9F00E75}"/>
              </a:ext>
            </a:extLst>
          </p:cNvPr>
          <p:cNvSpPr>
            <a:spLocks noGrp="1"/>
          </p:cNvSpPr>
          <p:nvPr>
            <p:ph sz="quarter" idx="35" hasCustomPrompt="1"/>
          </p:nvPr>
        </p:nvSpPr>
        <p:spPr>
          <a:xfrm>
            <a:off x="-1048384" y="3961146"/>
            <a:ext cx="411163" cy="182562"/>
          </a:xfrm>
        </p:spPr>
        <p:txBody>
          <a:bodyPr/>
          <a:lstStyle>
            <a:lvl1pPr>
              <a:defRPr/>
            </a:lvl1pPr>
          </a:lstStyle>
          <a:p>
            <a:pPr lvl="0"/>
            <a:r>
              <a:rPr lang="en-US" dirty="0"/>
              <a:t>1</a:t>
            </a:r>
            <a:endParaRPr lang="en-IN" dirty="0"/>
          </a:p>
        </p:txBody>
      </p:sp>
      <p:sp>
        <p:nvSpPr>
          <p:cNvPr id="28" name="Content Placeholder 3">
            <a:extLst>
              <a:ext uri="{FF2B5EF4-FFF2-40B4-BE49-F238E27FC236}">
                <a16:creationId xmlns:a16="http://schemas.microsoft.com/office/drawing/2014/main" id="{12B7C753-3617-CDEB-94BA-0ED67588346E}"/>
              </a:ext>
            </a:extLst>
          </p:cNvPr>
          <p:cNvSpPr>
            <a:spLocks noGrp="1"/>
          </p:cNvSpPr>
          <p:nvPr>
            <p:ph sz="quarter" idx="36" hasCustomPrompt="1"/>
          </p:nvPr>
        </p:nvSpPr>
        <p:spPr>
          <a:xfrm>
            <a:off x="-1023764" y="4311990"/>
            <a:ext cx="411163" cy="182562"/>
          </a:xfrm>
        </p:spPr>
        <p:txBody>
          <a:bodyPr/>
          <a:lstStyle>
            <a:lvl1pPr>
              <a:defRPr/>
            </a:lvl1pPr>
          </a:lstStyle>
          <a:p>
            <a:pPr lvl="0"/>
            <a:r>
              <a:rPr lang="en-US" dirty="0"/>
              <a:t>1</a:t>
            </a:r>
            <a:endParaRPr lang="en-IN" dirty="0"/>
          </a:p>
        </p:txBody>
      </p:sp>
      <p:sp>
        <p:nvSpPr>
          <p:cNvPr id="29" name="Content Placeholder 3">
            <a:extLst>
              <a:ext uri="{FF2B5EF4-FFF2-40B4-BE49-F238E27FC236}">
                <a16:creationId xmlns:a16="http://schemas.microsoft.com/office/drawing/2014/main" id="{6967D09D-F0A4-C9B6-CCDA-46274EAFB630}"/>
              </a:ext>
            </a:extLst>
          </p:cNvPr>
          <p:cNvSpPr>
            <a:spLocks noGrp="1"/>
          </p:cNvSpPr>
          <p:nvPr>
            <p:ph sz="quarter" idx="37" hasCustomPrompt="1"/>
          </p:nvPr>
        </p:nvSpPr>
        <p:spPr>
          <a:xfrm>
            <a:off x="-1048384" y="4825380"/>
            <a:ext cx="411163" cy="182562"/>
          </a:xfrm>
        </p:spPr>
        <p:txBody>
          <a:bodyPr/>
          <a:lstStyle>
            <a:lvl1pPr>
              <a:defRPr/>
            </a:lvl1pPr>
          </a:lstStyle>
          <a:p>
            <a:pPr lvl="0"/>
            <a:r>
              <a:rPr lang="en-US" dirty="0"/>
              <a:t>1</a:t>
            </a:r>
            <a:endParaRPr lang="en-IN" dirty="0"/>
          </a:p>
        </p:txBody>
      </p:sp>
      <p:sp>
        <p:nvSpPr>
          <p:cNvPr id="30" name="Content Placeholder 3">
            <a:extLst>
              <a:ext uri="{FF2B5EF4-FFF2-40B4-BE49-F238E27FC236}">
                <a16:creationId xmlns:a16="http://schemas.microsoft.com/office/drawing/2014/main" id="{DADFC47E-D937-ED3C-D218-F818231D7021}"/>
              </a:ext>
            </a:extLst>
          </p:cNvPr>
          <p:cNvSpPr>
            <a:spLocks noGrp="1"/>
          </p:cNvSpPr>
          <p:nvPr>
            <p:ph sz="quarter" idx="38" hasCustomPrompt="1"/>
          </p:nvPr>
        </p:nvSpPr>
        <p:spPr>
          <a:xfrm>
            <a:off x="-1051309" y="5262847"/>
            <a:ext cx="411163" cy="182562"/>
          </a:xfrm>
        </p:spPr>
        <p:txBody>
          <a:bodyPr/>
          <a:lstStyle>
            <a:lvl1pPr>
              <a:defRPr/>
            </a:lvl1pPr>
          </a:lstStyle>
          <a:p>
            <a:pPr lvl="0"/>
            <a:r>
              <a:rPr lang="en-US" dirty="0"/>
              <a:t>1</a:t>
            </a:r>
            <a:endParaRPr lang="en-IN" dirty="0"/>
          </a:p>
        </p:txBody>
      </p:sp>
      <p:sp>
        <p:nvSpPr>
          <p:cNvPr id="31" name="Content Placeholder 3">
            <a:extLst>
              <a:ext uri="{FF2B5EF4-FFF2-40B4-BE49-F238E27FC236}">
                <a16:creationId xmlns:a16="http://schemas.microsoft.com/office/drawing/2014/main" id="{7B930495-F421-A10D-E5F0-65DDC02D2721}"/>
              </a:ext>
            </a:extLst>
          </p:cNvPr>
          <p:cNvSpPr>
            <a:spLocks noGrp="1"/>
          </p:cNvSpPr>
          <p:nvPr>
            <p:ph sz="quarter" idx="39" hasCustomPrompt="1"/>
          </p:nvPr>
        </p:nvSpPr>
        <p:spPr>
          <a:xfrm>
            <a:off x="-995202" y="5613691"/>
            <a:ext cx="411163" cy="182562"/>
          </a:xfrm>
        </p:spPr>
        <p:txBody>
          <a:bodyPr/>
          <a:lstStyle>
            <a:lvl1pPr>
              <a:defRPr/>
            </a:lvl1pPr>
          </a:lstStyle>
          <a:p>
            <a:pPr lvl="0"/>
            <a:r>
              <a:rPr lang="en-US" dirty="0"/>
              <a:t>1</a:t>
            </a:r>
            <a:endParaRPr lang="en-IN" dirty="0"/>
          </a:p>
        </p:txBody>
      </p:sp>
      <p:sp>
        <p:nvSpPr>
          <p:cNvPr id="32" name="Content Placeholder 3">
            <a:extLst>
              <a:ext uri="{FF2B5EF4-FFF2-40B4-BE49-F238E27FC236}">
                <a16:creationId xmlns:a16="http://schemas.microsoft.com/office/drawing/2014/main" id="{8FE30A14-415A-E6AB-5B20-7163B00E627C}"/>
              </a:ext>
            </a:extLst>
          </p:cNvPr>
          <p:cNvSpPr>
            <a:spLocks noGrp="1"/>
          </p:cNvSpPr>
          <p:nvPr>
            <p:ph sz="quarter" idx="40" hasCustomPrompt="1"/>
          </p:nvPr>
        </p:nvSpPr>
        <p:spPr>
          <a:xfrm>
            <a:off x="-1096963" y="6010666"/>
            <a:ext cx="411163" cy="182562"/>
          </a:xfrm>
        </p:spPr>
        <p:txBody>
          <a:bodyPr/>
          <a:lstStyle>
            <a:lvl1pPr>
              <a:defRPr/>
            </a:lvl1pPr>
          </a:lstStyle>
          <a:p>
            <a:pPr lvl="0"/>
            <a:r>
              <a:rPr lang="en-US" dirty="0"/>
              <a:t>1</a:t>
            </a:r>
            <a:endParaRPr lang="en-IN" dirty="0"/>
          </a:p>
        </p:txBody>
      </p:sp>
      <p:sp>
        <p:nvSpPr>
          <p:cNvPr id="33" name="Content Placeholder 3">
            <a:extLst>
              <a:ext uri="{FF2B5EF4-FFF2-40B4-BE49-F238E27FC236}">
                <a16:creationId xmlns:a16="http://schemas.microsoft.com/office/drawing/2014/main" id="{D4C01645-175A-6C19-155F-0C9A499ABC7B}"/>
              </a:ext>
            </a:extLst>
          </p:cNvPr>
          <p:cNvSpPr>
            <a:spLocks noGrp="1"/>
          </p:cNvSpPr>
          <p:nvPr>
            <p:ph sz="quarter" idx="41" hasCustomPrompt="1"/>
          </p:nvPr>
        </p:nvSpPr>
        <p:spPr>
          <a:xfrm>
            <a:off x="-1150145" y="6480279"/>
            <a:ext cx="411163" cy="182562"/>
          </a:xfrm>
        </p:spPr>
        <p:txBody>
          <a:bodyPr/>
          <a:lstStyle>
            <a:lvl1pPr>
              <a:defRPr/>
            </a:lvl1pPr>
          </a:lstStyle>
          <a:p>
            <a:pPr lvl="0"/>
            <a:r>
              <a:rPr lang="en-US" dirty="0"/>
              <a:t>1</a:t>
            </a:r>
            <a:endParaRPr lang="en-IN" dirty="0"/>
          </a:p>
        </p:txBody>
      </p:sp>
    </p:spTree>
    <p:extLst>
      <p:ext uri="{BB962C8B-B14F-4D97-AF65-F5344CB8AC3E}">
        <p14:creationId xmlns:p14="http://schemas.microsoft.com/office/powerpoint/2010/main" val="326258939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986016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8482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5241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1280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45088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445958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67552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968078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520458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11822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0561434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image" Target="../media/image1.jpg"/><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6"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a:extLst>
              <a:ext uri="{FF2B5EF4-FFF2-40B4-BE49-F238E27FC236}">
                <a16:creationId xmlns:a16="http://schemas.microsoft.com/office/drawing/2014/main" id="{E428D0F8-B51D-D367-0904-F5885F988342}"/>
              </a:ext>
            </a:extLst>
          </p:cNvPr>
          <p:cNvPicPr>
            <a:picLocks noChangeAspect="1"/>
          </p:cNvPicPr>
          <p:nvPr userDrawn="1"/>
        </p:nvPicPr>
        <p:blipFill>
          <a:blip r:embed="rId15"/>
          <a:stretch>
            <a:fillRect/>
          </a:stretch>
        </p:blipFill>
        <p:spPr>
          <a:xfrm>
            <a:off x="458999" y="6417717"/>
            <a:ext cx="1006892" cy="317271"/>
          </a:xfrm>
          <a:prstGeom prst="rect">
            <a:avLst/>
          </a:prstGeom>
        </p:spPr>
      </p:pic>
      <p:sp>
        <p:nvSpPr>
          <p:cNvPr id="5" name="Content Placeholder 7">
            <a:extLst>
              <a:ext uri="{FF2B5EF4-FFF2-40B4-BE49-F238E27FC236}">
                <a16:creationId xmlns:a16="http://schemas.microsoft.com/office/drawing/2014/main" id="{75903A4D-8410-C024-0D80-CCD34C5C81D7}"/>
              </a:ext>
            </a:extLst>
          </p:cNvPr>
          <p:cNvSpPr txBox="1">
            <a:spLocks/>
          </p:cNvSpPr>
          <p:nvPr userDrawn="1"/>
        </p:nvSpPr>
        <p:spPr>
          <a:xfrm>
            <a:off x="2090995" y="6456905"/>
            <a:ext cx="6589712" cy="221018"/>
          </a:xfrm>
          <a:prstGeom prst="rect">
            <a:avLst/>
          </a:prstGeom>
          <a:noFill/>
          <a:ln>
            <a:noFill/>
          </a:ln>
        </p:spPr>
        <p:txBody>
          <a:bodyPr lIns="0" tIns="18000" rIns="0" bIns="18000" anchor="ctr" anchorCtr="0">
            <a:spAutoFit/>
          </a:bodyPr>
          <a:lstStyle>
            <a:defPPr marR="0" lvl="0" algn="l" rtl="0">
              <a:lnSpc>
                <a:spcPct val="100000"/>
              </a:lnSpc>
              <a:spcBef>
                <a:spcPts val="0"/>
              </a:spcBef>
              <a:spcAft>
                <a:spcPts val="0"/>
              </a:spcAft>
            </a:defPPr>
            <a:lvl1pPr marL="256032" marR="0" lvl="0" indent="-154432" algn="r" rtl="0">
              <a:lnSpc>
                <a:spcPct val="100000"/>
              </a:lnSpc>
              <a:spcBef>
                <a:spcPts val="1500"/>
              </a:spcBef>
              <a:spcAft>
                <a:spcPts val="0"/>
              </a:spcAft>
              <a:buClr>
                <a:srgbClr val="007FA3"/>
              </a:buClr>
              <a:buSzPct val="100000"/>
              <a:buFont typeface="Arial"/>
              <a:buNone/>
              <a:defRPr sz="1200" b="0" i="0" u="none" strike="noStrike" cap="none">
                <a:solidFill>
                  <a:schemeClr val="dk1"/>
                </a:solidFill>
                <a:latin typeface="Verdana" panose="020B0604030504040204" pitchFamily="34" charset="0"/>
                <a:ea typeface="Verdana" panose="020B0604030504040204" pitchFamily="34" charset="0"/>
                <a:cs typeface="Arial"/>
                <a:sym typeface="Arial"/>
              </a:defRPr>
            </a:lvl1pPr>
            <a:lvl2pPr marL="742950" marR="0" lvl="1" indent="-18415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r>
              <a:rPr lang="en-US" altLang="en-US" dirty="0">
                <a:latin typeface="Verdana"/>
                <a:cs typeface="Verdana" panose="020B0604030504040204" pitchFamily="34" charset="0"/>
              </a:rPr>
              <a:t>© 2024 Pearson Education Ltd. All Rights Reserved.</a:t>
            </a:r>
          </a:p>
        </p:txBody>
      </p:sp>
    </p:spTree>
    <p:extLst>
      <p:ext uri="{BB962C8B-B14F-4D97-AF65-F5344CB8AC3E}">
        <p14:creationId xmlns:p14="http://schemas.microsoft.com/office/powerpoint/2010/main" val="1434546633"/>
      </p:ext>
    </p:extLst>
  </p:cSld>
  <p:clrMap bg1="lt1" tx1="dk1" bg2="dk2" tx2="lt2" accent1="accent1" accent2="accent2" accent3="accent3" accent4="accent4" accent5="accent5" accent6="accent6" hlink="hlink" folHlink="folHlink"/>
  <p:sldLayoutIdLst>
    <p:sldLayoutId id="2147483680" r:id="rId1"/>
    <p:sldLayoutId id="2147483685"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3.jpg"/><Relationship Id="rId7"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4.x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4.xml"/><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wmf"/><Relationship Id="rId7" Type="http://schemas.openxmlformats.org/officeDocument/2006/relationships/image" Target="../media/image12.wmf"/><Relationship Id="rId2" Type="http://schemas.openxmlformats.org/officeDocument/2006/relationships/oleObject" Target="../embeddings/oleObject4.bin"/><Relationship Id="rId1" Type="http://schemas.openxmlformats.org/officeDocument/2006/relationships/slideLayout" Target="../slideLayouts/slideLayout4.xml"/><Relationship Id="rId6" Type="http://schemas.openxmlformats.org/officeDocument/2006/relationships/oleObject" Target="../embeddings/oleObject5.bin"/><Relationship Id="rId5" Type="http://schemas.openxmlformats.org/officeDocument/2006/relationships/image" Target="../media/image13.pn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0.wmf"/><Relationship Id="rId7" Type="http://schemas.openxmlformats.org/officeDocument/2006/relationships/oleObject" Target="../embeddings/oleObject7.bin"/><Relationship Id="rId2" Type="http://schemas.openxmlformats.org/officeDocument/2006/relationships/oleObject" Target="../embeddings/oleObject3.bin"/><Relationship Id="rId1" Type="http://schemas.openxmlformats.org/officeDocument/2006/relationships/slideLayout" Target="../slideLayouts/slideLayout4.xml"/><Relationship Id="rId6" Type="http://schemas.openxmlformats.org/officeDocument/2006/relationships/image" Target="../media/image15.wmf"/><Relationship Id="rId5" Type="http://schemas.openxmlformats.org/officeDocument/2006/relationships/oleObject" Target="../embeddings/oleObject6.bin"/><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8.wmf"/><Relationship Id="rId5" Type="http://schemas.openxmlformats.org/officeDocument/2006/relationships/oleObject" Target="../embeddings/oleObject9.bin"/><Relationship Id="rId4" Type="http://schemas.openxmlformats.org/officeDocument/2006/relationships/image" Target="../media/image17.wmf"/></Relationships>
</file>

<file path=ppt/slides/_rels/slide10.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4.png"/><Relationship Id="rId7" Type="http://schemas.openxmlformats.org/officeDocument/2006/relationships/oleObject" Target="../embeddings/oleObject9.bin"/><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7.wmf"/><Relationship Id="rId10" Type="http://schemas.openxmlformats.org/officeDocument/2006/relationships/image" Target="../media/image19.wmf"/><Relationship Id="rId4" Type="http://schemas.openxmlformats.org/officeDocument/2006/relationships/oleObject" Target="../embeddings/oleObject8.bin"/><Relationship Id="rId9"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20.wmf"/><Relationship Id="rId7" Type="http://schemas.openxmlformats.org/officeDocument/2006/relationships/oleObject" Target="../embeddings/oleObject13.bin"/><Relationship Id="rId2" Type="http://schemas.openxmlformats.org/officeDocument/2006/relationships/oleObject" Target="../embeddings/oleObject11.bin"/><Relationship Id="rId1" Type="http://schemas.openxmlformats.org/officeDocument/2006/relationships/slideLayout" Target="../slideLayouts/slideLayout4.xml"/><Relationship Id="rId6" Type="http://schemas.openxmlformats.org/officeDocument/2006/relationships/image" Target="../media/image21.wmf"/><Relationship Id="rId5" Type="http://schemas.openxmlformats.org/officeDocument/2006/relationships/oleObject" Target="../embeddings/oleObject12.bin"/><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4.bin"/><Relationship Id="rId1" Type="http://schemas.openxmlformats.org/officeDocument/2006/relationships/slideLayout" Target="../slideLayouts/slideLayout5.xml"/><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4.bin"/><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5.bin"/><Relationship Id="rId1" Type="http://schemas.openxmlformats.org/officeDocument/2006/relationships/slideLayout" Target="../slideLayouts/slideLayout4.xml"/><Relationship Id="rId4" Type="http://schemas.openxmlformats.org/officeDocument/2006/relationships/image" Target="../media/image24.jpg"/></Relationships>
</file>

<file path=ppt/slides/_rels/slide17.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5.bin"/><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4.jpg"/></Relationships>
</file>

<file path=ppt/slides/_rels/slide18.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image" Target="../media/image24.jpg"/><Relationship Id="rId1" Type="http://schemas.openxmlformats.org/officeDocument/2006/relationships/slideLayout" Target="../slideLayouts/slideLayout4.xml"/><Relationship Id="rId6" Type="http://schemas.openxmlformats.org/officeDocument/2006/relationships/image" Target="../media/image27.wmf"/><Relationship Id="rId5" Type="http://schemas.openxmlformats.org/officeDocument/2006/relationships/oleObject" Target="../embeddings/oleObject17.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8" Type="http://schemas.openxmlformats.org/officeDocument/2006/relationships/image" Target="../media/image33.jpg"/><Relationship Id="rId13" Type="http://schemas.openxmlformats.org/officeDocument/2006/relationships/oleObject" Target="../embeddings/oleObject25.bin"/><Relationship Id="rId3" Type="http://schemas.openxmlformats.org/officeDocument/2006/relationships/image" Target="../media/image30.wmf"/><Relationship Id="rId7" Type="http://schemas.openxmlformats.org/officeDocument/2006/relationships/image" Target="../media/image32.wmf"/><Relationship Id="rId12" Type="http://schemas.openxmlformats.org/officeDocument/2006/relationships/image" Target="../media/image35.wmf"/><Relationship Id="rId2" Type="http://schemas.openxmlformats.org/officeDocument/2006/relationships/oleObject" Target="../embeddings/oleObject20.bin"/><Relationship Id="rId16" Type="http://schemas.openxmlformats.org/officeDocument/2006/relationships/image" Target="../media/image37.wmf"/><Relationship Id="rId1" Type="http://schemas.openxmlformats.org/officeDocument/2006/relationships/slideLayout" Target="../slideLayouts/slideLayout4.xml"/><Relationship Id="rId6" Type="http://schemas.openxmlformats.org/officeDocument/2006/relationships/oleObject" Target="../embeddings/oleObject22.bin"/><Relationship Id="rId11" Type="http://schemas.openxmlformats.org/officeDocument/2006/relationships/oleObject" Target="../embeddings/oleObject24.bin"/><Relationship Id="rId5" Type="http://schemas.openxmlformats.org/officeDocument/2006/relationships/image" Target="../media/image31.wmf"/><Relationship Id="rId15" Type="http://schemas.openxmlformats.org/officeDocument/2006/relationships/oleObject" Target="../embeddings/oleObject26.bin"/><Relationship Id="rId10" Type="http://schemas.openxmlformats.org/officeDocument/2006/relationships/image" Target="../media/image34.wmf"/><Relationship Id="rId4" Type="http://schemas.openxmlformats.org/officeDocument/2006/relationships/oleObject" Target="../embeddings/oleObject21.bin"/><Relationship Id="rId9" Type="http://schemas.openxmlformats.org/officeDocument/2006/relationships/oleObject" Target="../embeddings/oleObject23.bin"/><Relationship Id="rId14" Type="http://schemas.openxmlformats.org/officeDocument/2006/relationships/image" Target="../media/image36.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43.wmf"/><Relationship Id="rId18" Type="http://schemas.openxmlformats.org/officeDocument/2006/relationships/oleObject" Target="../embeddings/oleObject34.bin"/><Relationship Id="rId3" Type="http://schemas.openxmlformats.org/officeDocument/2006/relationships/oleObject" Target="../embeddings/oleObject27.bin"/><Relationship Id="rId7" Type="http://schemas.openxmlformats.org/officeDocument/2006/relationships/image" Target="../media/image40.jpg"/><Relationship Id="rId12" Type="http://schemas.openxmlformats.org/officeDocument/2006/relationships/oleObject" Target="../embeddings/oleObject31.bin"/><Relationship Id="rId17" Type="http://schemas.openxmlformats.org/officeDocument/2006/relationships/image" Target="../media/image45.wmf"/><Relationship Id="rId2" Type="http://schemas.openxmlformats.org/officeDocument/2006/relationships/notesSlide" Target="../notesSlides/notesSlide3.xml"/><Relationship Id="rId16" Type="http://schemas.openxmlformats.org/officeDocument/2006/relationships/oleObject" Target="../embeddings/oleObject33.bin"/><Relationship Id="rId1" Type="http://schemas.openxmlformats.org/officeDocument/2006/relationships/slideLayout" Target="../slideLayouts/slideLayout5.xml"/><Relationship Id="rId6" Type="http://schemas.openxmlformats.org/officeDocument/2006/relationships/image" Target="../media/image39.wmf"/><Relationship Id="rId11" Type="http://schemas.openxmlformats.org/officeDocument/2006/relationships/image" Target="../media/image42.wmf"/><Relationship Id="rId5" Type="http://schemas.openxmlformats.org/officeDocument/2006/relationships/oleObject" Target="../embeddings/oleObject28.bin"/><Relationship Id="rId15" Type="http://schemas.openxmlformats.org/officeDocument/2006/relationships/image" Target="../media/image44.wmf"/><Relationship Id="rId10" Type="http://schemas.openxmlformats.org/officeDocument/2006/relationships/oleObject" Target="../embeddings/oleObject30.bin"/><Relationship Id="rId19" Type="http://schemas.openxmlformats.org/officeDocument/2006/relationships/image" Target="../media/image46.wmf"/><Relationship Id="rId4" Type="http://schemas.openxmlformats.org/officeDocument/2006/relationships/image" Target="../media/image38.wmf"/><Relationship Id="rId9" Type="http://schemas.openxmlformats.org/officeDocument/2006/relationships/image" Target="../media/image41.wmf"/><Relationship Id="rId14" Type="http://schemas.openxmlformats.org/officeDocument/2006/relationships/oleObject" Target="../embeddings/oleObject32.bin"/></Relationships>
</file>

<file path=ppt/slides/_rels/slide21.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image" Target="../media/image47.wmf"/><Relationship Id="rId7" Type="http://schemas.openxmlformats.org/officeDocument/2006/relationships/oleObject" Target="../embeddings/oleObject37.bin"/><Relationship Id="rId12" Type="http://schemas.openxmlformats.org/officeDocument/2006/relationships/image" Target="../media/image52.wmf"/><Relationship Id="rId2" Type="http://schemas.openxmlformats.org/officeDocument/2006/relationships/oleObject" Target="../embeddings/oleObject35.bin"/><Relationship Id="rId1" Type="http://schemas.openxmlformats.org/officeDocument/2006/relationships/slideLayout" Target="../slideLayouts/slideLayout4.xml"/><Relationship Id="rId6" Type="http://schemas.openxmlformats.org/officeDocument/2006/relationships/image" Target="../media/image49.jpg"/><Relationship Id="rId11" Type="http://schemas.openxmlformats.org/officeDocument/2006/relationships/oleObject" Target="../embeddings/oleObject39.bin"/><Relationship Id="rId5" Type="http://schemas.openxmlformats.org/officeDocument/2006/relationships/image" Target="../media/image48.wmf"/><Relationship Id="rId10" Type="http://schemas.openxmlformats.org/officeDocument/2006/relationships/image" Target="../media/image51.wmf"/><Relationship Id="rId4" Type="http://schemas.openxmlformats.org/officeDocument/2006/relationships/oleObject" Target="../embeddings/oleObject36.bin"/><Relationship Id="rId9" Type="http://schemas.openxmlformats.org/officeDocument/2006/relationships/oleObject" Target="../embeddings/oleObject38.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oleObject" Target="../embeddings/oleObject39.bin"/><Relationship Id="rId3" Type="http://schemas.openxmlformats.org/officeDocument/2006/relationships/image" Target="../media/image47.wmf"/><Relationship Id="rId7" Type="http://schemas.openxmlformats.org/officeDocument/2006/relationships/image" Target="../media/image13.png"/><Relationship Id="rId12" Type="http://schemas.openxmlformats.org/officeDocument/2006/relationships/image" Target="../media/image51.wmf"/><Relationship Id="rId2" Type="http://schemas.openxmlformats.org/officeDocument/2006/relationships/oleObject" Target="../embeddings/oleObject35.bin"/><Relationship Id="rId1" Type="http://schemas.openxmlformats.org/officeDocument/2006/relationships/slideLayout" Target="../slideLayouts/slideLayout4.xml"/><Relationship Id="rId6" Type="http://schemas.openxmlformats.org/officeDocument/2006/relationships/image" Target="../media/image49.jpg"/><Relationship Id="rId11" Type="http://schemas.openxmlformats.org/officeDocument/2006/relationships/oleObject" Target="../embeddings/oleObject38.bin"/><Relationship Id="rId5" Type="http://schemas.openxmlformats.org/officeDocument/2006/relationships/image" Target="../media/image48.wmf"/><Relationship Id="rId10" Type="http://schemas.openxmlformats.org/officeDocument/2006/relationships/image" Target="../media/image14.png"/><Relationship Id="rId4" Type="http://schemas.openxmlformats.org/officeDocument/2006/relationships/oleObject" Target="../embeddings/oleObject36.bin"/><Relationship Id="rId9" Type="http://schemas.openxmlformats.org/officeDocument/2006/relationships/image" Target="../media/image50.wmf"/><Relationship Id="rId14" Type="http://schemas.openxmlformats.org/officeDocument/2006/relationships/image" Target="../media/image52.wmf"/></Relationships>
</file>

<file path=ppt/slides/_rels/slide23.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image" Target="../media/image53.jpg"/><Relationship Id="rId1" Type="http://schemas.openxmlformats.org/officeDocument/2006/relationships/slideLayout" Target="../slideLayouts/slideLayout4.xml"/><Relationship Id="rId6" Type="http://schemas.openxmlformats.org/officeDocument/2006/relationships/image" Target="../media/image55.wmf"/><Relationship Id="rId5" Type="http://schemas.openxmlformats.org/officeDocument/2006/relationships/oleObject" Target="../embeddings/oleObject41.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43.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13.png"/><Relationship Id="rId7" Type="http://schemas.openxmlformats.org/officeDocument/2006/relationships/image" Target="../media/image55.wmf"/><Relationship Id="rId12" Type="http://schemas.openxmlformats.org/officeDocument/2006/relationships/image" Target="../media/image14.png"/><Relationship Id="rId2" Type="http://schemas.openxmlformats.org/officeDocument/2006/relationships/image" Target="../media/image53.jpg"/><Relationship Id="rId1" Type="http://schemas.openxmlformats.org/officeDocument/2006/relationships/slideLayout" Target="../slideLayouts/slideLayout4.xml"/><Relationship Id="rId6" Type="http://schemas.openxmlformats.org/officeDocument/2006/relationships/oleObject" Target="../embeddings/oleObject41.bin"/><Relationship Id="rId11" Type="http://schemas.openxmlformats.org/officeDocument/2006/relationships/image" Target="../media/image57.wmf"/><Relationship Id="rId5" Type="http://schemas.openxmlformats.org/officeDocument/2006/relationships/image" Target="../media/image54.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56.wmf"/></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1.wmf"/><Relationship Id="rId2" Type="http://schemas.openxmlformats.org/officeDocument/2006/relationships/image" Target="../media/image58.png"/><Relationship Id="rId1" Type="http://schemas.openxmlformats.org/officeDocument/2006/relationships/slideLayout" Target="../slideLayouts/slideLayout4.xml"/><Relationship Id="rId6" Type="http://schemas.openxmlformats.org/officeDocument/2006/relationships/oleObject" Target="../embeddings/oleObject45.bin"/><Relationship Id="rId5" Type="http://schemas.openxmlformats.org/officeDocument/2006/relationships/image" Target="../media/image60.wmf"/><Relationship Id="rId4" Type="http://schemas.openxmlformats.org/officeDocument/2006/relationships/oleObject" Target="../embeddings/oleObject44.bin"/></Relationships>
</file>

<file path=ppt/slides/_rels/slide26.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66.wmf"/><Relationship Id="rId2" Type="http://schemas.openxmlformats.org/officeDocument/2006/relationships/image" Target="../media/image53.jpg"/><Relationship Id="rId16" Type="http://schemas.openxmlformats.org/officeDocument/2006/relationships/image" Target="../media/image68.wmf"/><Relationship Id="rId1" Type="http://schemas.openxmlformats.org/officeDocument/2006/relationships/slideLayout" Target="../slideLayouts/slideLayout4.xml"/><Relationship Id="rId6" Type="http://schemas.openxmlformats.org/officeDocument/2006/relationships/image" Target="../media/image63.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49.bin"/><Relationship Id="rId14" Type="http://schemas.openxmlformats.org/officeDocument/2006/relationships/image" Target="../media/image67.wmf"/></Relationships>
</file>

<file path=ppt/slides/_rels/slide27.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50.bin"/><Relationship Id="rId18" Type="http://schemas.openxmlformats.org/officeDocument/2006/relationships/image" Target="../media/image68.wmf"/><Relationship Id="rId3" Type="http://schemas.openxmlformats.org/officeDocument/2006/relationships/image" Target="../media/image13.png"/><Relationship Id="rId7" Type="http://schemas.openxmlformats.org/officeDocument/2006/relationships/oleObject" Target="../embeddings/oleObject47.bin"/><Relationship Id="rId12" Type="http://schemas.openxmlformats.org/officeDocument/2006/relationships/image" Target="../media/image65.wmf"/><Relationship Id="rId17" Type="http://schemas.openxmlformats.org/officeDocument/2006/relationships/oleObject" Target="../embeddings/oleObject52.bin"/><Relationship Id="rId2" Type="http://schemas.openxmlformats.org/officeDocument/2006/relationships/image" Target="../media/image53.jpg"/><Relationship Id="rId16" Type="http://schemas.openxmlformats.org/officeDocument/2006/relationships/image" Target="../media/image67.wmf"/><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oleObject" Target="../embeddings/oleObject49.bin"/><Relationship Id="rId5" Type="http://schemas.openxmlformats.org/officeDocument/2006/relationships/image" Target="../media/image62.wmf"/><Relationship Id="rId15" Type="http://schemas.openxmlformats.org/officeDocument/2006/relationships/oleObject" Target="../embeddings/oleObject51.bin"/><Relationship Id="rId10" Type="http://schemas.openxmlformats.org/officeDocument/2006/relationships/image" Target="../media/image64.wmf"/><Relationship Id="rId4" Type="http://schemas.openxmlformats.org/officeDocument/2006/relationships/oleObject" Target="../embeddings/oleObject46.bin"/><Relationship Id="rId9" Type="http://schemas.openxmlformats.org/officeDocument/2006/relationships/oleObject" Target="../embeddings/oleObject48.bin"/><Relationship Id="rId14" Type="http://schemas.openxmlformats.org/officeDocument/2006/relationships/image" Target="../media/image66.wmf"/></Relationships>
</file>

<file path=ppt/slides/_rels/slide28.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oleObject" Target="../embeddings/oleObject57.bin"/><Relationship Id="rId18" Type="http://schemas.openxmlformats.org/officeDocument/2006/relationships/image" Target="../media/image77.wmf"/><Relationship Id="rId3" Type="http://schemas.openxmlformats.org/officeDocument/2006/relationships/image" Target="../media/image69.png"/><Relationship Id="rId7" Type="http://schemas.openxmlformats.org/officeDocument/2006/relationships/oleObject" Target="../embeddings/oleObject54.bin"/><Relationship Id="rId12" Type="http://schemas.openxmlformats.org/officeDocument/2006/relationships/image" Target="../media/image74.wmf"/><Relationship Id="rId17" Type="http://schemas.openxmlformats.org/officeDocument/2006/relationships/oleObject" Target="../embeddings/oleObject59.bin"/><Relationship Id="rId2" Type="http://schemas.openxmlformats.org/officeDocument/2006/relationships/notesSlide" Target="../notesSlides/notesSlide4.xml"/><Relationship Id="rId16" Type="http://schemas.openxmlformats.org/officeDocument/2006/relationships/image" Target="../media/image76.wmf"/><Relationship Id="rId1" Type="http://schemas.openxmlformats.org/officeDocument/2006/relationships/slideLayout" Target="../slideLayouts/slideLayout4.xml"/><Relationship Id="rId6" Type="http://schemas.openxmlformats.org/officeDocument/2006/relationships/image" Target="../media/image71.png"/><Relationship Id="rId11" Type="http://schemas.openxmlformats.org/officeDocument/2006/relationships/oleObject" Target="../embeddings/oleObject56.bin"/><Relationship Id="rId5" Type="http://schemas.openxmlformats.org/officeDocument/2006/relationships/image" Target="../media/image70.wmf"/><Relationship Id="rId15" Type="http://schemas.openxmlformats.org/officeDocument/2006/relationships/oleObject" Target="../embeddings/oleObject58.bin"/><Relationship Id="rId10" Type="http://schemas.openxmlformats.org/officeDocument/2006/relationships/image" Target="../media/image73.wmf"/><Relationship Id="rId4" Type="http://schemas.openxmlformats.org/officeDocument/2006/relationships/oleObject" Target="../embeddings/oleObject53.bin"/><Relationship Id="rId9" Type="http://schemas.openxmlformats.org/officeDocument/2006/relationships/oleObject" Target="../embeddings/oleObject55.bin"/><Relationship Id="rId14" Type="http://schemas.openxmlformats.org/officeDocument/2006/relationships/image" Target="../media/image75.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79.png"/><Relationship Id="rId7" Type="http://schemas.openxmlformats.org/officeDocument/2006/relationships/image" Target="../media/image81.wmf"/><Relationship Id="rId2" Type="http://schemas.openxmlformats.org/officeDocument/2006/relationships/image" Target="../media/image78.png"/><Relationship Id="rId1" Type="http://schemas.openxmlformats.org/officeDocument/2006/relationships/slideLayout" Target="../slideLayouts/slideLayout4.xml"/><Relationship Id="rId6" Type="http://schemas.openxmlformats.org/officeDocument/2006/relationships/oleObject" Target="../embeddings/oleObject61.bin"/><Relationship Id="rId5" Type="http://schemas.openxmlformats.org/officeDocument/2006/relationships/image" Target="../media/image80.wmf"/><Relationship Id="rId4" Type="http://schemas.openxmlformats.org/officeDocument/2006/relationships/oleObject" Target="../embeddings/oleObject60.bin"/><Relationship Id="rId9" Type="http://schemas.openxmlformats.org/officeDocument/2006/relationships/image" Target="../media/image82.wmf"/></Relationships>
</file>

<file path=ppt/slides/_rels/slide30.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image" Target="../media/image83.png"/><Relationship Id="rId7" Type="http://schemas.openxmlformats.org/officeDocument/2006/relationships/oleObject" Target="../embeddings/oleObject64.bin"/><Relationship Id="rId12" Type="http://schemas.openxmlformats.org/officeDocument/2006/relationships/image" Target="../media/image88.w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5.jpg"/><Relationship Id="rId11" Type="http://schemas.openxmlformats.org/officeDocument/2006/relationships/oleObject" Target="../embeddings/oleObject66.bin"/><Relationship Id="rId5" Type="http://schemas.openxmlformats.org/officeDocument/2006/relationships/image" Target="../media/image84.wmf"/><Relationship Id="rId10" Type="http://schemas.openxmlformats.org/officeDocument/2006/relationships/image" Target="../media/image87.wmf"/><Relationship Id="rId4" Type="http://schemas.openxmlformats.org/officeDocument/2006/relationships/oleObject" Target="../embeddings/oleObject63.bin"/><Relationship Id="rId9" Type="http://schemas.openxmlformats.org/officeDocument/2006/relationships/oleObject" Target="../embeddings/oleObject65.bin"/></Relationships>
</file>

<file path=ppt/slides/_rels/slide3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32.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92.png"/><Relationship Id="rId5" Type="http://schemas.openxmlformats.org/officeDocument/2006/relationships/image" Target="../media/image94.png"/><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EE79CEAF-1013-411A-BA88-904A0EE3795D}"/>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3 – Part 2</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657600" cy="374906"/>
          </a:xfrm>
        </p:spPr>
        <p:txBody>
          <a:bodyPr lIns="0" tIns="18000" rIns="0" bIns="18000" anchor="ctr">
            <a:spAutoFit/>
          </a:bodyPr>
          <a:lstStyle/>
          <a:p>
            <a:pPr marL="0"/>
            <a:r>
              <a:rPr lang="en-US" noProof="0" dirty="0"/>
              <a:t>Simple Resistive Circuits</a:t>
            </a:r>
            <a:endParaRPr lang="en-US" noProof="0" dirty="0">
              <a:solidFill>
                <a:schemeClr val="tx1"/>
              </a:solidFill>
            </a:endParaRP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11214"/>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20653" y="6443304"/>
            <a:ext cx="604923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2472536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99450" y="166867"/>
            <a:ext cx="8242600" cy="1021237"/>
          </a:xfrm>
        </p:spPr>
        <p:txBody>
          <a:bodyPr wrap="square" lIns="0" tIns="18000" rIns="0" bIns="18000" anchor="ctr">
            <a:spAutoFit/>
          </a:bodyPr>
          <a:lstStyle/>
          <a:p>
            <a:r>
              <a:rPr lang="en-US" noProof="0" dirty="0"/>
              <a:t>Chapter 3 – Simple resistive circuits </a:t>
            </a:r>
            <a:r>
              <a:rPr lang="en-US" sz="2800" noProof="0" dirty="0"/>
              <a:t>(1 of 22)</a:t>
            </a:r>
          </a:p>
        </p:txBody>
      </p:sp>
      <p:sp>
        <p:nvSpPr>
          <p:cNvPr id="3" name="Content Placeholder 2">
            <a:extLst>
              <a:ext uri="{FF2B5EF4-FFF2-40B4-BE49-F238E27FC236}">
                <a16:creationId xmlns:a16="http://schemas.microsoft.com/office/drawing/2014/main" id="{DE7FD4F9-B8D3-4799-A7A6-705E9C5F9DC8}"/>
              </a:ext>
            </a:extLst>
          </p:cNvPr>
          <p:cNvSpPr>
            <a:spLocks noGrp="1"/>
          </p:cNvSpPr>
          <p:nvPr>
            <p:ph sz="quarter" idx="4294967295"/>
          </p:nvPr>
        </p:nvSpPr>
        <p:spPr>
          <a:xfrm>
            <a:off x="412772" y="1384698"/>
            <a:ext cx="8229577" cy="2360065"/>
          </a:xfrm>
        </p:spPr>
        <p:txBody>
          <a:bodyPr wrap="square" lIns="0" tIns="18000" rIns="0" bIns="18000" anchor="ctr" anchorCtr="0">
            <a:spAutoFit/>
          </a:bodyPr>
          <a:lstStyle/>
          <a:p>
            <a:pPr marL="255588" indent="-255588">
              <a:buNone/>
            </a:pPr>
            <a:r>
              <a:rPr lang="en-US" sz="1800" noProof="0" dirty="0">
                <a:latin typeface="Arial" panose="020B0604020202020204" pitchFamily="34" charset="0"/>
                <a:cs typeface="Arial" panose="020B0604020202020204" pitchFamily="34" charset="0"/>
              </a:rPr>
              <a:t>Measuring current and voltage</a:t>
            </a:r>
          </a:p>
          <a:p>
            <a:pPr marL="255588" indent="-255588"/>
            <a:r>
              <a:rPr lang="en-US" sz="1800" noProof="0" dirty="0">
                <a:latin typeface="Arial" panose="020B0604020202020204" pitchFamily="34" charset="0"/>
                <a:cs typeface="Arial" panose="020B0604020202020204" pitchFamily="34" charset="0"/>
              </a:rPr>
              <a:t>An </a:t>
            </a:r>
            <a:r>
              <a:rPr lang="en-US" sz="1800" noProof="0" dirty="0">
                <a:solidFill>
                  <a:srgbClr val="FF0000"/>
                </a:solidFill>
                <a:latin typeface="Arial" panose="020B0604020202020204" pitchFamily="34" charset="0"/>
                <a:cs typeface="Arial" panose="020B0604020202020204" pitchFamily="34" charset="0"/>
              </a:rPr>
              <a:t>ammeter</a:t>
            </a:r>
            <a:r>
              <a:rPr lang="en-US" sz="1800" noProof="0" dirty="0">
                <a:latin typeface="Arial" panose="020B0604020202020204" pitchFamily="34" charset="0"/>
                <a:cs typeface="Arial" panose="020B0604020202020204" pitchFamily="34" charset="0"/>
              </a:rPr>
              <a:t> is an instrument that measures current. It is placed </a:t>
            </a:r>
            <a:r>
              <a:rPr lang="en-US" sz="1800" noProof="0" dirty="0">
                <a:solidFill>
                  <a:srgbClr val="FF0000"/>
                </a:solidFill>
                <a:latin typeface="Arial" panose="020B0604020202020204" pitchFamily="34" charset="0"/>
                <a:cs typeface="Arial" panose="020B0604020202020204" pitchFamily="34" charset="0"/>
              </a:rPr>
              <a:t>in series </a:t>
            </a:r>
            <a:r>
              <a:rPr lang="en-US" sz="1800" noProof="0" dirty="0">
                <a:latin typeface="Arial" panose="020B0604020202020204" pitchFamily="34" charset="0"/>
                <a:cs typeface="Arial" panose="020B0604020202020204" pitchFamily="34" charset="0"/>
              </a:rPr>
              <a:t>with the circuit element whose current is being measured. </a:t>
            </a:r>
            <a:r>
              <a:rPr lang="en-US" sz="1800" noProof="0" dirty="0">
                <a:solidFill>
                  <a:srgbClr val="FF0000"/>
                </a:solidFill>
                <a:latin typeface="Arial" panose="020B0604020202020204" pitchFamily="34" charset="0"/>
                <a:cs typeface="Arial" panose="020B0604020202020204" pitchFamily="34" charset="0"/>
              </a:rPr>
              <a:t>Ideally</a:t>
            </a:r>
            <a:r>
              <a:rPr lang="en-US" sz="1800" noProof="0" dirty="0">
                <a:latin typeface="Arial" panose="020B0604020202020204" pitchFamily="34" charset="0"/>
                <a:cs typeface="Arial" panose="020B0604020202020204" pitchFamily="34" charset="0"/>
              </a:rPr>
              <a:t>, the ammeter introduces </a:t>
            </a:r>
            <a:r>
              <a:rPr lang="en-US" sz="1800" noProof="0" dirty="0">
                <a:solidFill>
                  <a:srgbClr val="FF0000"/>
                </a:solidFill>
                <a:latin typeface="Arial" panose="020B0604020202020204" pitchFamily="34" charset="0"/>
                <a:cs typeface="Arial" panose="020B0604020202020204" pitchFamily="34" charset="0"/>
              </a:rPr>
              <a:t>no resistance </a:t>
            </a:r>
            <a:r>
              <a:rPr lang="en-US" sz="1800" noProof="0" dirty="0">
                <a:latin typeface="Arial" panose="020B0604020202020204" pitchFamily="34" charset="0"/>
                <a:cs typeface="Arial" panose="020B0604020202020204" pitchFamily="34" charset="0"/>
              </a:rPr>
              <a:t>in the circuit, so behaves like a short circuit.</a:t>
            </a:r>
          </a:p>
          <a:p>
            <a:pPr marL="255588" indent="-255588"/>
            <a:r>
              <a:rPr lang="en-US" sz="1800" noProof="0" dirty="0">
                <a:latin typeface="Arial" panose="020B0604020202020204" pitchFamily="34" charset="0"/>
                <a:cs typeface="Arial" panose="020B0604020202020204" pitchFamily="34" charset="0"/>
              </a:rPr>
              <a:t>A </a:t>
            </a:r>
            <a:r>
              <a:rPr lang="en-US" sz="1800" noProof="0" dirty="0">
                <a:solidFill>
                  <a:srgbClr val="FF0000"/>
                </a:solidFill>
                <a:latin typeface="Arial" panose="020B0604020202020204" pitchFamily="34" charset="0"/>
                <a:cs typeface="Arial" panose="020B0604020202020204" pitchFamily="34" charset="0"/>
              </a:rPr>
              <a:t>voltmeter</a:t>
            </a:r>
            <a:r>
              <a:rPr lang="en-US" sz="1800" noProof="0" dirty="0">
                <a:latin typeface="Arial" panose="020B0604020202020204" pitchFamily="34" charset="0"/>
                <a:cs typeface="Arial" panose="020B0604020202020204" pitchFamily="34" charset="0"/>
              </a:rPr>
              <a:t> is an instrument that measures voltage. It is placed </a:t>
            </a:r>
            <a:r>
              <a:rPr lang="en-US" sz="1800" noProof="0" dirty="0">
                <a:solidFill>
                  <a:srgbClr val="FF0000"/>
                </a:solidFill>
                <a:latin typeface="Arial" panose="020B0604020202020204" pitchFamily="34" charset="0"/>
                <a:cs typeface="Arial" panose="020B0604020202020204" pitchFamily="34" charset="0"/>
              </a:rPr>
              <a:t>in parallel </a:t>
            </a:r>
            <a:r>
              <a:rPr lang="en-US" sz="1800" noProof="0" dirty="0">
                <a:latin typeface="Arial" panose="020B0604020202020204" pitchFamily="34" charset="0"/>
                <a:cs typeface="Arial" panose="020B0604020202020204" pitchFamily="34" charset="0"/>
              </a:rPr>
              <a:t>with the circuit element whose voltage is being measured. Ideally, the voltmeter behaves like an open circuit.</a:t>
            </a:r>
          </a:p>
        </p:txBody>
      </p:sp>
      <p:pic>
        <p:nvPicPr>
          <p:cNvPr id="10" name="Picture 9" descr="A circuit diagram with an ammeter connected to a voltage source in series through a resistor R sub 1. The ammeter is in turn connected in parallel to R sub 2, which is in turn connected in parallel to a voltmeter.">
            <a:extLst>
              <a:ext uri="{FF2B5EF4-FFF2-40B4-BE49-F238E27FC236}">
                <a16:creationId xmlns:a16="http://schemas.microsoft.com/office/drawing/2014/main" id="{730E49CE-1182-7813-A1A8-188DB80E786C}"/>
              </a:ext>
            </a:extLst>
          </p:cNvPr>
          <p:cNvPicPr>
            <a:picLocks noChangeAspect="1"/>
          </p:cNvPicPr>
          <p:nvPr/>
        </p:nvPicPr>
        <p:blipFill>
          <a:blip r:embed="rId3"/>
          <a:srcRect/>
          <a:stretch/>
        </p:blipFill>
        <p:spPr>
          <a:xfrm>
            <a:off x="854871" y="3919088"/>
            <a:ext cx="3224566" cy="1247949"/>
          </a:xfrm>
          <a:prstGeom prst="rect">
            <a:avLst/>
          </a:prstGeom>
        </p:spPr>
      </p:pic>
      <p:sp>
        <p:nvSpPr>
          <p:cNvPr id="4" name="Content Placeholder 3">
            <a:extLst>
              <a:ext uri="{FF2B5EF4-FFF2-40B4-BE49-F238E27FC236}">
                <a16:creationId xmlns:a16="http://schemas.microsoft.com/office/drawing/2014/main" id="{54F2C4D7-394C-4F57-BC41-E7F51950958E}"/>
              </a:ext>
            </a:extLst>
          </p:cNvPr>
          <p:cNvSpPr>
            <a:spLocks noGrp="1"/>
          </p:cNvSpPr>
          <p:nvPr>
            <p:ph sz="quarter" idx="4294967295"/>
          </p:nvPr>
        </p:nvSpPr>
        <p:spPr>
          <a:xfrm>
            <a:off x="422297" y="5269000"/>
            <a:ext cx="2389559" cy="313350"/>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An ammeter measuring</a:t>
            </a:r>
          </a:p>
        </p:txBody>
      </p:sp>
      <p:graphicFrame>
        <p:nvGraphicFramePr>
          <p:cNvPr id="21" name="Object 20" descr="R subscript 1.&#10;">
            <a:extLst>
              <a:ext uri="{FF2B5EF4-FFF2-40B4-BE49-F238E27FC236}">
                <a16:creationId xmlns:a16="http://schemas.microsoft.com/office/drawing/2014/main" id="{60900263-BFEE-4601-8F25-EAB9F6D6805D}"/>
              </a:ext>
            </a:extLst>
          </p:cNvPr>
          <p:cNvGraphicFramePr>
            <a:graphicFrameLocks noChangeAspect="1"/>
          </p:cNvGraphicFramePr>
          <p:nvPr/>
        </p:nvGraphicFramePr>
        <p:xfrm>
          <a:off x="2848946" y="5279185"/>
          <a:ext cx="296508" cy="369980"/>
        </p:xfrm>
        <a:graphic>
          <a:graphicData uri="http://schemas.openxmlformats.org/presentationml/2006/ole">
            <mc:AlternateContent xmlns:mc="http://schemas.openxmlformats.org/markup-compatibility/2006">
              <mc:Choice xmlns:v="urn:schemas-microsoft-com:vml" Requires="v">
                <p:oleObj name="Equation" r:id="rId4" imgW="190440" imgH="228600" progId="Equation.DSMT4">
                  <p:embed/>
                </p:oleObj>
              </mc:Choice>
              <mc:Fallback>
                <p:oleObj name="Equation" r:id="rId4" imgW="190440" imgH="228600" progId="Equation.DSMT4">
                  <p:embed/>
                  <p:pic>
                    <p:nvPicPr>
                      <p:cNvPr id="21" name="Object 20" descr="R subscript 1.&#10;">
                        <a:extLst>
                          <a:ext uri="{FF2B5EF4-FFF2-40B4-BE49-F238E27FC236}">
                            <a16:creationId xmlns:a16="http://schemas.microsoft.com/office/drawing/2014/main" id="{60900263-BFEE-4601-8F25-EAB9F6D6805D}"/>
                          </a:ext>
                        </a:extLst>
                      </p:cNvPr>
                      <p:cNvPicPr>
                        <a:picLocks noChangeAspect="1" noChangeArrowheads="1"/>
                      </p:cNvPicPr>
                      <p:nvPr/>
                    </p:nvPicPr>
                    <p:blipFill>
                      <a:blip r:embed="rId5"/>
                      <a:srcRect/>
                      <a:stretch>
                        <a:fillRect/>
                      </a:stretch>
                    </p:blipFill>
                    <p:spPr bwMode="auto">
                      <a:xfrm>
                        <a:off x="2848946" y="5279185"/>
                        <a:ext cx="296508" cy="3699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173E3E40-65AA-4CB8-A20F-9B8AF0548564}"/>
              </a:ext>
            </a:extLst>
          </p:cNvPr>
          <p:cNvSpPr>
            <a:spLocks noGrp="1"/>
          </p:cNvSpPr>
          <p:nvPr>
            <p:ph sz="quarter" idx="4294967295"/>
          </p:nvPr>
        </p:nvSpPr>
        <p:spPr>
          <a:xfrm>
            <a:off x="3211119" y="5269000"/>
            <a:ext cx="1418031" cy="313350"/>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current and a</a:t>
            </a:r>
          </a:p>
        </p:txBody>
      </p:sp>
      <p:sp>
        <p:nvSpPr>
          <p:cNvPr id="6" name="Content Placeholder 5">
            <a:extLst>
              <a:ext uri="{FF2B5EF4-FFF2-40B4-BE49-F238E27FC236}">
                <a16:creationId xmlns:a16="http://schemas.microsoft.com/office/drawing/2014/main" id="{5D0B0911-11A7-4A24-AEF6-DFC48D11AF6F}"/>
              </a:ext>
            </a:extLst>
          </p:cNvPr>
          <p:cNvSpPr>
            <a:spLocks noGrp="1"/>
          </p:cNvSpPr>
          <p:nvPr>
            <p:ph sz="quarter" idx="4294967295"/>
          </p:nvPr>
        </p:nvSpPr>
        <p:spPr>
          <a:xfrm>
            <a:off x="428625" y="5723613"/>
            <a:ext cx="2143125" cy="313350"/>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voltmeter measuring</a:t>
            </a:r>
          </a:p>
        </p:txBody>
      </p:sp>
      <p:graphicFrame>
        <p:nvGraphicFramePr>
          <p:cNvPr id="22" name="Object 21" descr="R subscript 2.&#10;">
            <a:extLst>
              <a:ext uri="{FF2B5EF4-FFF2-40B4-BE49-F238E27FC236}">
                <a16:creationId xmlns:a16="http://schemas.microsoft.com/office/drawing/2014/main" id="{7EFE7F70-B964-4638-A77B-68E0FB0407DD}"/>
              </a:ext>
            </a:extLst>
          </p:cNvPr>
          <p:cNvGraphicFramePr>
            <a:graphicFrameLocks noChangeAspect="1"/>
          </p:cNvGraphicFramePr>
          <p:nvPr/>
        </p:nvGraphicFramePr>
        <p:xfrm>
          <a:off x="2571750" y="5718175"/>
          <a:ext cx="315913" cy="369888"/>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22" name="Object 21" descr="R subscript 2.&#10;">
                        <a:extLst>
                          <a:ext uri="{FF2B5EF4-FFF2-40B4-BE49-F238E27FC236}">
                            <a16:creationId xmlns:a16="http://schemas.microsoft.com/office/drawing/2014/main" id="{7EFE7F70-B964-4638-A77B-68E0FB0407DD}"/>
                          </a:ext>
                        </a:extLst>
                      </p:cNvPr>
                      <p:cNvPicPr>
                        <a:picLocks noChangeAspect="1" noChangeArrowheads="1"/>
                      </p:cNvPicPr>
                      <p:nvPr/>
                    </p:nvPicPr>
                    <p:blipFill>
                      <a:blip r:embed="rId7"/>
                      <a:srcRect/>
                      <a:stretch>
                        <a:fillRect/>
                      </a:stretch>
                    </p:blipFill>
                    <p:spPr bwMode="auto">
                      <a:xfrm>
                        <a:off x="2571750" y="5718175"/>
                        <a:ext cx="315913" cy="369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54182DD3-4469-4FD6-A536-EC69BA9D2260}"/>
              </a:ext>
            </a:extLst>
          </p:cNvPr>
          <p:cNvSpPr>
            <a:spLocks noGrp="1"/>
          </p:cNvSpPr>
          <p:nvPr>
            <p:ph sz="quarter" idx="4294967295"/>
          </p:nvPr>
        </p:nvSpPr>
        <p:spPr>
          <a:xfrm>
            <a:off x="2968625" y="5714498"/>
            <a:ext cx="911729" cy="313350"/>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voltage.</a:t>
            </a:r>
          </a:p>
        </p:txBody>
      </p:sp>
      <p:pic>
        <p:nvPicPr>
          <p:cNvPr id="12" name="Picture 11" descr="A circuit diagram with an ideal ammeter connected to a voltage source in series through a resistor R sub 1. The ammeter is in turn connected in parallel to R sub 2, which is in turn connected in parallel to an ideal voltmeter.">
            <a:extLst>
              <a:ext uri="{FF2B5EF4-FFF2-40B4-BE49-F238E27FC236}">
                <a16:creationId xmlns:a16="http://schemas.microsoft.com/office/drawing/2014/main" id="{C7000D4E-080A-DE40-38AD-B637B3327B3B}"/>
              </a:ext>
            </a:extLst>
          </p:cNvPr>
          <p:cNvPicPr>
            <a:picLocks noChangeAspect="1"/>
          </p:cNvPicPr>
          <p:nvPr/>
        </p:nvPicPr>
        <p:blipFill>
          <a:blip r:embed="rId8"/>
          <a:srcRect/>
          <a:stretch/>
        </p:blipFill>
        <p:spPr>
          <a:xfrm>
            <a:off x="4959248" y="3896312"/>
            <a:ext cx="3124636" cy="1221970"/>
          </a:xfrm>
          <a:prstGeom prst="rect">
            <a:avLst/>
          </a:prstGeom>
        </p:spPr>
      </p:pic>
      <p:sp>
        <p:nvSpPr>
          <p:cNvPr id="8" name="Content Placeholder 7">
            <a:extLst>
              <a:ext uri="{FF2B5EF4-FFF2-40B4-BE49-F238E27FC236}">
                <a16:creationId xmlns:a16="http://schemas.microsoft.com/office/drawing/2014/main" id="{00F0E22F-7E46-4CD2-9A62-A34A49A506FF}"/>
              </a:ext>
            </a:extLst>
          </p:cNvPr>
          <p:cNvSpPr>
            <a:spLocks noGrp="1"/>
          </p:cNvSpPr>
          <p:nvPr>
            <p:ph sz="quarter" idx="4294967295"/>
          </p:nvPr>
        </p:nvSpPr>
        <p:spPr>
          <a:xfrm>
            <a:off x="4827279" y="5299463"/>
            <a:ext cx="3729346" cy="590349"/>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Models for an ideal ammeter and ideal voltmeter.</a:t>
            </a:r>
          </a:p>
        </p:txBody>
      </p:sp>
    </p:spTree>
    <p:extLst>
      <p:ext uri="{BB962C8B-B14F-4D97-AF65-F5344CB8AC3E}">
        <p14:creationId xmlns:p14="http://schemas.microsoft.com/office/powerpoint/2010/main" val="1376312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FC282299-FAA7-4A44-8113-279EE970A7E4}"/>
              </a:ext>
            </a:extLst>
          </p:cNvPr>
          <p:cNvSpPr>
            <a:spLocks noGrp="1"/>
          </p:cNvSpPr>
          <p:nvPr>
            <p:ph type="title"/>
          </p:nvPr>
        </p:nvSpPr>
        <p:spPr>
          <a:xfrm>
            <a:off x="399450" y="166867"/>
            <a:ext cx="8242600" cy="1021237"/>
          </a:xfrm>
        </p:spPr>
        <p:txBody>
          <a:bodyPr wrap="square" lIns="0" tIns="18000" rIns="0" bIns="18000" anchor="ctr">
            <a:spAutoFit/>
          </a:bodyPr>
          <a:lstStyle/>
          <a:p>
            <a:r>
              <a:rPr lang="en-US" noProof="0" dirty="0"/>
              <a:t>Chapter 3 – Simple resistive circuits </a:t>
            </a:r>
            <a:r>
              <a:rPr lang="en-US" sz="2800" noProof="0" dirty="0"/>
              <a:t>(2 of 22)</a:t>
            </a:r>
          </a:p>
        </p:txBody>
      </p:sp>
      <p:sp>
        <p:nvSpPr>
          <p:cNvPr id="3" name="Content Placeholder 2">
            <a:extLst>
              <a:ext uri="{FF2B5EF4-FFF2-40B4-BE49-F238E27FC236}">
                <a16:creationId xmlns:a16="http://schemas.microsoft.com/office/drawing/2014/main" id="{BCC1160C-4326-4990-B014-443E1992EBBD}"/>
              </a:ext>
            </a:extLst>
          </p:cNvPr>
          <p:cNvSpPr>
            <a:spLocks noGrp="1"/>
          </p:cNvSpPr>
          <p:nvPr>
            <p:ph sz="quarter" idx="4294967295"/>
          </p:nvPr>
        </p:nvSpPr>
        <p:spPr>
          <a:xfrm>
            <a:off x="408676" y="1381438"/>
            <a:ext cx="8251825" cy="2637064"/>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Measuring current and voltage</a:t>
            </a:r>
          </a:p>
          <a:p>
            <a:pPr marL="285750" indent="-285750"/>
            <a:r>
              <a:rPr lang="en-US" sz="1800" noProof="0" dirty="0">
                <a:latin typeface="Arial" panose="020B0604020202020204" pitchFamily="34" charset="0"/>
                <a:cs typeface="Arial" panose="020B0604020202020204" pitchFamily="34" charset="0"/>
              </a:rPr>
              <a:t>Meters used in modern laboratories are usually digital. It is instructive, however, to examine analog meters, as they provide a practical application of the circuit analysis techniques we have introduced thus far.</a:t>
            </a:r>
          </a:p>
          <a:p>
            <a:pPr marL="285750" indent="-285750"/>
            <a:r>
              <a:rPr lang="en-US" sz="1800" noProof="0" dirty="0">
                <a:latin typeface="Arial" panose="020B0604020202020204" pitchFamily="34" charset="0"/>
                <a:cs typeface="Arial" panose="020B0604020202020204" pitchFamily="34" charset="0"/>
              </a:rPr>
              <a:t>Analog meters are based on the </a:t>
            </a:r>
            <a:r>
              <a:rPr lang="en-US" sz="1800" noProof="0" dirty="0" err="1">
                <a:solidFill>
                  <a:srgbClr val="FF0000"/>
                </a:solidFill>
                <a:latin typeface="Arial" panose="020B0604020202020204" pitchFamily="34" charset="0"/>
                <a:cs typeface="Arial" panose="020B0604020202020204" pitchFamily="34" charset="0"/>
              </a:rPr>
              <a:t>d’Arsonval</a:t>
            </a:r>
            <a:r>
              <a:rPr lang="en-US" sz="1800" noProof="0" dirty="0">
                <a:solidFill>
                  <a:srgbClr val="FF0000"/>
                </a:solidFill>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meter movement. The moveable coil in the meter movement has both a voltage rating and a current rating. If a meter movement is rated at 50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V and 1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 then when the coil carries 1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 its voltage drop is 50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V and the pointer deflects to its full-scale reading.</a:t>
            </a:r>
          </a:p>
        </p:txBody>
      </p:sp>
      <p:pic>
        <p:nvPicPr>
          <p:cNvPr id="4" name="Picture 3" descr="An illustration of an analogue meter with a magnetic steel core connected to a restoring spring, and a movable coil that is housed inside a permanent magnet. The pointer moves across a graduated scale.">
            <a:extLst>
              <a:ext uri="{FF2B5EF4-FFF2-40B4-BE49-F238E27FC236}">
                <a16:creationId xmlns:a16="http://schemas.microsoft.com/office/drawing/2014/main" id="{18826F83-9EC4-9D3C-5EFA-59FB431EE653}"/>
              </a:ext>
            </a:extLst>
          </p:cNvPr>
          <p:cNvPicPr>
            <a:picLocks noChangeAspect="1"/>
          </p:cNvPicPr>
          <p:nvPr/>
        </p:nvPicPr>
        <p:blipFill>
          <a:blip r:embed="rId2"/>
          <a:stretch>
            <a:fillRect/>
          </a:stretch>
        </p:blipFill>
        <p:spPr>
          <a:xfrm>
            <a:off x="671123" y="4380657"/>
            <a:ext cx="2354027" cy="1779297"/>
          </a:xfrm>
          <a:prstGeom prst="rect">
            <a:avLst/>
          </a:prstGeom>
        </p:spPr>
      </p:pic>
      <p:pic>
        <p:nvPicPr>
          <p:cNvPr id="6" name="Picture 5"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9D59C435-3522-1A4E-3460-06B211CCDDA0}"/>
              </a:ext>
            </a:extLst>
          </p:cNvPr>
          <p:cNvPicPr>
            <a:picLocks noChangeAspect="1"/>
          </p:cNvPicPr>
          <p:nvPr/>
        </p:nvPicPr>
        <p:blipFill>
          <a:blip r:embed="rId3"/>
          <a:srcRect/>
          <a:stretch/>
        </p:blipFill>
        <p:spPr>
          <a:xfrm>
            <a:off x="3394974" y="4695399"/>
            <a:ext cx="2648320" cy="1228309"/>
          </a:xfrm>
          <a:prstGeom prst="rect">
            <a:avLst/>
          </a:prstGeom>
        </p:spPr>
      </p:pic>
      <p:pic>
        <p:nvPicPr>
          <p:cNvPr id="8" name="Picture 7" descr="A circuit diagram for an analogue voltmeter with two voltmeter terminals connected in series to a resistor R sub v, which in turn is connected in series to a d’Arsonval movement.">
            <a:extLst>
              <a:ext uri="{FF2B5EF4-FFF2-40B4-BE49-F238E27FC236}">
                <a16:creationId xmlns:a16="http://schemas.microsoft.com/office/drawing/2014/main" id="{905F72F9-AC31-ACBD-D492-F4C1674A6D6E}"/>
              </a:ext>
            </a:extLst>
          </p:cNvPr>
          <p:cNvPicPr>
            <a:picLocks noChangeAspect="1"/>
          </p:cNvPicPr>
          <p:nvPr/>
        </p:nvPicPr>
        <p:blipFill>
          <a:blip r:embed="rId4"/>
          <a:srcRect/>
          <a:stretch/>
        </p:blipFill>
        <p:spPr>
          <a:xfrm>
            <a:off x="6377642" y="4854620"/>
            <a:ext cx="2130434" cy="1029163"/>
          </a:xfrm>
          <a:prstGeom prst="rect">
            <a:avLst/>
          </a:prstGeom>
        </p:spPr>
      </p:pic>
    </p:spTree>
    <p:extLst>
      <p:ext uri="{BB962C8B-B14F-4D97-AF65-F5344CB8AC3E}">
        <p14:creationId xmlns:p14="http://schemas.microsoft.com/office/powerpoint/2010/main" val="236259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FC282299-FAA7-4A44-8113-279EE970A7E4}"/>
              </a:ext>
            </a:extLst>
          </p:cNvPr>
          <p:cNvSpPr>
            <a:spLocks noGrp="1"/>
          </p:cNvSpPr>
          <p:nvPr>
            <p:ph type="title"/>
          </p:nvPr>
        </p:nvSpPr>
        <p:spPr>
          <a:xfrm>
            <a:off x="399450" y="166867"/>
            <a:ext cx="8242600" cy="1021237"/>
          </a:xfrm>
        </p:spPr>
        <p:txBody>
          <a:bodyPr wrap="square" lIns="0" tIns="18000" rIns="0" bIns="18000" anchor="ctr">
            <a:spAutoFit/>
          </a:bodyPr>
          <a:lstStyle/>
          <a:p>
            <a:r>
              <a:rPr lang="en-US" noProof="0" dirty="0"/>
              <a:t>Chapter 3 – Simple resistive circuits </a:t>
            </a:r>
            <a:r>
              <a:rPr lang="en-US" sz="2800" noProof="0" dirty="0"/>
              <a:t>(3 of 22)</a:t>
            </a:r>
          </a:p>
        </p:txBody>
      </p:sp>
      <p:sp>
        <p:nvSpPr>
          <p:cNvPr id="3" name="Content Placeholder 2">
            <a:extLst>
              <a:ext uri="{FF2B5EF4-FFF2-40B4-BE49-F238E27FC236}">
                <a16:creationId xmlns:a16="http://schemas.microsoft.com/office/drawing/2014/main" id="{BCC1160C-4326-4990-B014-443E1992EBBD}"/>
              </a:ext>
            </a:extLst>
          </p:cNvPr>
          <p:cNvSpPr>
            <a:spLocks noGrp="1"/>
          </p:cNvSpPr>
          <p:nvPr>
            <p:ph sz="quarter" idx="4294967295"/>
          </p:nvPr>
        </p:nvSpPr>
        <p:spPr>
          <a:xfrm>
            <a:off x="409675" y="1380452"/>
            <a:ext cx="8251825" cy="4853055"/>
          </a:xfrm>
        </p:spPr>
        <p:txBody>
          <a:bodyPr wrap="square" lIns="0" tIns="18000" rIns="0" bIns="18000" anchor="ctr" anchorCtr="0">
            <a:spAutoFit/>
          </a:bodyPr>
          <a:lstStyle/>
          <a:p>
            <a:pPr marL="0" indent="0">
              <a:buNone/>
            </a:pPr>
            <a:r>
              <a:rPr lang="en-US" sz="2400" noProof="0" dirty="0">
                <a:latin typeface="Arial" panose="020B0604020202020204" pitchFamily="34" charset="0"/>
                <a:cs typeface="Arial" panose="020B0604020202020204" pitchFamily="34" charset="0"/>
              </a:rPr>
              <a:t>Measuring current and voltage</a:t>
            </a:r>
          </a:p>
          <a:p>
            <a:pPr marL="342900" indent="-342900"/>
            <a:r>
              <a:rPr lang="en-US" sz="2400" noProof="0" dirty="0">
                <a:latin typeface="Arial" panose="020B0604020202020204" pitchFamily="34" charset="0"/>
                <a:cs typeface="Arial" panose="020B0604020202020204" pitchFamily="34" charset="0"/>
              </a:rPr>
              <a:t>The parallel resistor in the analog ammeter limits the current in the moveable coil (because of current division), while the series resistor in the analog voltmeter limits the voltage across the moveable coil (because of voltage division). </a:t>
            </a:r>
          </a:p>
          <a:p>
            <a:pPr marL="342900" indent="-342900"/>
            <a:r>
              <a:rPr lang="en-US" sz="2400" noProof="0" dirty="0">
                <a:latin typeface="Arial" panose="020B0604020202020204" pitchFamily="34" charset="0"/>
                <a:cs typeface="Arial" panose="020B0604020202020204" pitchFamily="34" charset="0"/>
              </a:rPr>
              <a:t>Analog meters are non-ideal. Both the added resistor and the meter movement introduce resistance in the circuit where the meter is attached. How much the meters alter the circuit being measured depends on the effective resistance of the meter compared with the resistance in the circuit.</a:t>
            </a:r>
          </a:p>
        </p:txBody>
      </p:sp>
    </p:spTree>
    <p:extLst>
      <p:ext uri="{BB962C8B-B14F-4D97-AF65-F5344CB8AC3E}">
        <p14:creationId xmlns:p14="http://schemas.microsoft.com/office/powerpoint/2010/main" val="3756503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E90818-2099-4AAF-BC22-0C6C741D8D8A}"/>
              </a:ext>
            </a:extLst>
          </p:cNvPr>
          <p:cNvSpPr>
            <a:spLocks noGrp="1"/>
          </p:cNvSpPr>
          <p:nvPr>
            <p:ph type="title"/>
          </p:nvPr>
        </p:nvSpPr>
        <p:spPr>
          <a:xfrm>
            <a:off x="399450" y="166908"/>
            <a:ext cx="8242600" cy="1021237"/>
          </a:xfrm>
        </p:spPr>
        <p:txBody>
          <a:bodyPr wrap="square" lIns="0" tIns="18000" rIns="0" bIns="18000" anchor="ctr">
            <a:spAutoFit/>
          </a:bodyPr>
          <a:lstStyle/>
          <a:p>
            <a:r>
              <a:rPr lang="en-US" noProof="0" dirty="0"/>
              <a:t>Chapter 3 – Simple resistive circuits </a:t>
            </a:r>
            <a:r>
              <a:rPr lang="en-US" sz="2800" noProof="0" dirty="0"/>
              <a:t>(4 of 22)</a:t>
            </a:r>
          </a:p>
        </p:txBody>
      </p:sp>
      <p:sp>
        <p:nvSpPr>
          <p:cNvPr id="3" name="Content Placeholder 2">
            <a:extLst>
              <a:ext uri="{FF2B5EF4-FFF2-40B4-BE49-F238E27FC236}">
                <a16:creationId xmlns:a16="http://schemas.microsoft.com/office/drawing/2014/main" id="{C1B60CAD-8662-4B3E-BFEC-8A343BC1A944}"/>
              </a:ext>
            </a:extLst>
          </p:cNvPr>
          <p:cNvSpPr>
            <a:spLocks noGrp="1"/>
          </p:cNvSpPr>
          <p:nvPr>
            <p:ph sz="quarter" idx="4294967295"/>
          </p:nvPr>
        </p:nvSpPr>
        <p:spPr>
          <a:xfrm>
            <a:off x="413573" y="1383024"/>
            <a:ext cx="8238302" cy="867348"/>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Measuring current and voltage – Example:</a:t>
            </a:r>
            <a:br>
              <a:rPr lang="en-US" sz="1800" noProof="0" dirty="0">
                <a:latin typeface="Arial" panose="020B0604020202020204" pitchFamily="34" charset="0"/>
                <a:cs typeface="Arial" panose="020B0604020202020204" pitchFamily="34" charset="0"/>
              </a:rPr>
            </a:br>
            <a:r>
              <a:rPr lang="en-US" sz="1800" noProof="0" dirty="0">
                <a:latin typeface="Arial" panose="020B0604020202020204" pitchFamily="34" charset="0"/>
                <a:cs typeface="Arial" panose="020B0604020202020204" pitchFamily="34" charset="0"/>
              </a:rPr>
              <a:t>A 50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V, 1m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 </a:t>
            </a:r>
            <a:r>
              <a:rPr lang="en-US" sz="1800" noProof="0" dirty="0" err="1">
                <a:latin typeface="Arial" panose="020B0604020202020204" pitchFamily="34" charset="0"/>
                <a:cs typeface="Arial" panose="020B0604020202020204" pitchFamily="34" charset="0"/>
              </a:rPr>
              <a:t>D’Arsonval</a:t>
            </a:r>
            <a:r>
              <a:rPr lang="en-US" sz="1800" noProof="0" dirty="0">
                <a:latin typeface="Arial" panose="020B0604020202020204" pitchFamily="34" charset="0"/>
                <a:cs typeface="Arial" panose="020B0604020202020204" pitchFamily="34" charset="0"/>
              </a:rPr>
              <a:t> movement is used in a ammeter with a full-scale reading of 10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a:t>
            </a:r>
          </a:p>
        </p:txBody>
      </p:sp>
      <p:sp>
        <p:nvSpPr>
          <p:cNvPr id="4" name="Content Placeholder 3">
            <a:extLst>
              <a:ext uri="{FF2B5EF4-FFF2-40B4-BE49-F238E27FC236}">
                <a16:creationId xmlns:a16="http://schemas.microsoft.com/office/drawing/2014/main" id="{2E9E1136-2819-4450-8980-01835E832DDF}"/>
              </a:ext>
            </a:extLst>
          </p:cNvPr>
          <p:cNvSpPr>
            <a:spLocks noGrp="1"/>
          </p:cNvSpPr>
          <p:nvPr>
            <p:ph sz="quarter" idx="4294967295"/>
          </p:nvPr>
        </p:nvSpPr>
        <p:spPr>
          <a:xfrm>
            <a:off x="408919" y="2377280"/>
            <a:ext cx="759865" cy="313350"/>
          </a:xfrm>
        </p:spPr>
        <p:txBody>
          <a:bodyPr wrap="square" lIns="0" tIns="18000" rIns="0" bIns="18000" anchor="ctr" anchorCtr="0">
            <a:spAutoFit/>
          </a:bodyPr>
          <a:lstStyle/>
          <a:p>
            <a:pPr marL="285750" indent="-285750"/>
            <a:r>
              <a:rPr lang="en-US" sz="1800" noProof="0" dirty="0">
                <a:latin typeface="Arial" panose="020B0604020202020204" pitchFamily="34" charset="0"/>
                <a:cs typeface="Arial" panose="020B0604020202020204" pitchFamily="34" charset="0"/>
              </a:rPr>
              <a:t>Find</a:t>
            </a:r>
          </a:p>
        </p:txBody>
      </p:sp>
      <p:graphicFrame>
        <p:nvGraphicFramePr>
          <p:cNvPr id="20" name="Object 19" descr="R subscript A.&#10;">
            <a:extLst>
              <a:ext uri="{FF2B5EF4-FFF2-40B4-BE49-F238E27FC236}">
                <a16:creationId xmlns:a16="http://schemas.microsoft.com/office/drawing/2014/main" id="{439A1CBE-3AF0-41D6-9497-0641D185C896}"/>
              </a:ext>
            </a:extLst>
          </p:cNvPr>
          <p:cNvGraphicFramePr>
            <a:graphicFrameLocks noChangeAspect="1"/>
          </p:cNvGraphicFramePr>
          <p:nvPr/>
        </p:nvGraphicFramePr>
        <p:xfrm>
          <a:off x="1270959" y="2382287"/>
          <a:ext cx="358775" cy="336550"/>
        </p:xfrm>
        <a:graphic>
          <a:graphicData uri="http://schemas.openxmlformats.org/presentationml/2006/ole">
            <mc:AlternateContent xmlns:mc="http://schemas.openxmlformats.org/markup-compatibility/2006">
              <mc:Choice xmlns:v="urn:schemas-microsoft-com:vml" Requires="v">
                <p:oleObj name="Equation" r:id="rId2" imgW="253800" imgH="228600" progId="Equation.DSMT4">
                  <p:embed/>
                </p:oleObj>
              </mc:Choice>
              <mc:Fallback>
                <p:oleObj name="Equation" r:id="rId2" imgW="253800" imgH="228600" progId="Equation.DSMT4">
                  <p:embed/>
                  <p:pic>
                    <p:nvPicPr>
                      <p:cNvPr id="20" name="Object 19" descr="R subscript A.&#10;">
                        <a:extLst>
                          <a:ext uri="{FF2B5EF4-FFF2-40B4-BE49-F238E27FC236}">
                            <a16:creationId xmlns:a16="http://schemas.microsoft.com/office/drawing/2014/main" id="{439A1CBE-3AF0-41D6-9497-0641D185C896}"/>
                          </a:ext>
                        </a:extLst>
                      </p:cNvPr>
                      <p:cNvPicPr>
                        <a:picLocks noChangeAspect="1" noChangeArrowheads="1"/>
                      </p:cNvPicPr>
                      <p:nvPr/>
                    </p:nvPicPr>
                    <p:blipFill>
                      <a:blip r:embed="rId3"/>
                      <a:srcRect/>
                      <a:stretch>
                        <a:fillRect/>
                      </a:stretch>
                    </p:blipFill>
                    <p:spPr bwMode="auto">
                      <a:xfrm>
                        <a:off x="1270959" y="2382287"/>
                        <a:ext cx="358775"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D41A6CA9-4CFD-42EA-80BE-40BCE595E5D1}"/>
              </a:ext>
            </a:extLst>
          </p:cNvPr>
          <p:cNvSpPr>
            <a:spLocks noGrp="1"/>
          </p:cNvSpPr>
          <p:nvPr>
            <p:ph sz="quarter" idx="4294967295"/>
          </p:nvPr>
        </p:nvSpPr>
        <p:spPr>
          <a:xfrm>
            <a:off x="413573" y="2826841"/>
            <a:ext cx="8238302" cy="590349"/>
          </a:xfrm>
        </p:spPr>
        <p:txBody>
          <a:bodyPr wrap="square" lIns="0" tIns="18000" rIns="0" bIns="18000" anchor="ctr" anchorCtr="0">
            <a:spAutoFit/>
          </a:bodyPr>
          <a:lstStyle/>
          <a:p>
            <a:pPr marL="285750" indent="-285750"/>
            <a:r>
              <a:rPr lang="en-US" sz="1800" noProof="0" dirty="0">
                <a:latin typeface="Arial" panose="020B0604020202020204" pitchFamily="34" charset="0"/>
                <a:cs typeface="Arial" panose="020B0604020202020204" pitchFamily="34" charset="0"/>
              </a:rPr>
              <a:t>Find the resistance that is added to a circuit when this ammeter is used to measure current.</a:t>
            </a:r>
          </a:p>
        </p:txBody>
      </p:sp>
      <p:pic>
        <p:nvPicPr>
          <p:cNvPr id="9" name="Picture 8"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DB4828D1-3E04-18DA-95B5-08D99FBEE340}"/>
              </a:ext>
            </a:extLst>
          </p:cNvPr>
          <p:cNvPicPr>
            <a:picLocks noChangeAspect="1"/>
          </p:cNvPicPr>
          <p:nvPr/>
        </p:nvPicPr>
        <p:blipFill>
          <a:blip r:embed="rId4"/>
          <a:srcRect/>
          <a:stretch/>
        </p:blipFill>
        <p:spPr>
          <a:xfrm>
            <a:off x="3109044" y="3514537"/>
            <a:ext cx="3013785" cy="1397814"/>
          </a:xfrm>
          <a:prstGeom prst="rect">
            <a:avLst/>
          </a:prstGeom>
        </p:spPr>
      </p:pic>
      <p:sp>
        <p:nvSpPr>
          <p:cNvPr id="6" name="Content Placeholder 5">
            <a:extLst>
              <a:ext uri="{FF2B5EF4-FFF2-40B4-BE49-F238E27FC236}">
                <a16:creationId xmlns:a16="http://schemas.microsoft.com/office/drawing/2014/main" id="{C97D963B-8852-431A-A48D-2C07048B873E}"/>
              </a:ext>
            </a:extLst>
          </p:cNvPr>
          <p:cNvSpPr>
            <a:spLocks noGrp="1"/>
          </p:cNvSpPr>
          <p:nvPr>
            <p:ph sz="quarter" idx="4294967295"/>
          </p:nvPr>
        </p:nvSpPr>
        <p:spPr>
          <a:xfrm>
            <a:off x="413573" y="5018802"/>
            <a:ext cx="4876796" cy="313350"/>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The current in the ammeter divides between the</a:t>
            </a:r>
          </a:p>
        </p:txBody>
      </p:sp>
      <p:graphicFrame>
        <p:nvGraphicFramePr>
          <p:cNvPr id="23" name="Object 22" descr="R subscript A.&#10;">
            <a:extLst>
              <a:ext uri="{FF2B5EF4-FFF2-40B4-BE49-F238E27FC236}">
                <a16:creationId xmlns:a16="http://schemas.microsoft.com/office/drawing/2014/main" id="{144BF877-40AB-4EA5-8509-176FD99F74F9}"/>
              </a:ext>
            </a:extLst>
          </p:cNvPr>
          <p:cNvGraphicFramePr>
            <a:graphicFrameLocks noChangeAspect="1"/>
          </p:cNvGraphicFramePr>
          <p:nvPr/>
        </p:nvGraphicFramePr>
        <p:xfrm>
          <a:off x="5351119" y="5038414"/>
          <a:ext cx="304800" cy="336550"/>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23" name="Object 22" descr="R subscript A.&#10;">
                        <a:extLst>
                          <a:ext uri="{FF2B5EF4-FFF2-40B4-BE49-F238E27FC236}">
                            <a16:creationId xmlns:a16="http://schemas.microsoft.com/office/drawing/2014/main" id="{144BF877-40AB-4EA5-8509-176FD99F74F9}"/>
                          </a:ext>
                        </a:extLst>
                      </p:cNvPr>
                      <p:cNvPicPr>
                        <a:picLocks noChangeAspect="1" noChangeArrowheads="1"/>
                      </p:cNvPicPr>
                      <p:nvPr/>
                    </p:nvPicPr>
                    <p:blipFill>
                      <a:blip r:embed="rId6"/>
                      <a:srcRect/>
                      <a:stretch>
                        <a:fillRect/>
                      </a:stretch>
                    </p:blipFill>
                    <p:spPr bwMode="auto">
                      <a:xfrm>
                        <a:off x="5351119" y="5038414"/>
                        <a:ext cx="304800"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5018445A-DCC6-4E36-AF1A-8AE89B7212E3}"/>
              </a:ext>
            </a:extLst>
          </p:cNvPr>
          <p:cNvSpPr>
            <a:spLocks noGrp="1"/>
          </p:cNvSpPr>
          <p:nvPr>
            <p:ph sz="quarter" idx="4294967295"/>
          </p:nvPr>
        </p:nvSpPr>
        <p:spPr>
          <a:xfrm>
            <a:off x="5709863" y="5018272"/>
            <a:ext cx="2909306" cy="313350"/>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resistor and the meter</a:t>
            </a:r>
          </a:p>
        </p:txBody>
      </p:sp>
      <p:sp>
        <p:nvSpPr>
          <p:cNvPr id="8" name="Content Placeholder 7">
            <a:extLst>
              <a:ext uri="{FF2B5EF4-FFF2-40B4-BE49-F238E27FC236}">
                <a16:creationId xmlns:a16="http://schemas.microsoft.com/office/drawing/2014/main" id="{D26E294A-4022-4DF3-A70E-67542154A4A4}"/>
              </a:ext>
            </a:extLst>
          </p:cNvPr>
          <p:cNvSpPr>
            <a:spLocks noGrp="1"/>
          </p:cNvSpPr>
          <p:nvPr>
            <p:ph sz="quarter" idx="4294967295"/>
          </p:nvPr>
        </p:nvSpPr>
        <p:spPr>
          <a:xfrm>
            <a:off x="410111" y="5414413"/>
            <a:ext cx="8241764" cy="867348"/>
          </a:xfrm>
        </p:spPr>
        <p:txBody>
          <a:bodyPr wrap="square" lIns="0" tIns="18000" rIns="0" bIns="18000" anchor="ctr" anchorCtr="0">
            <a:spAutoFit/>
          </a:bodyPr>
          <a:lstStyle/>
          <a:p>
            <a:pPr marL="0" indent="0">
              <a:buNone/>
            </a:pPr>
            <a:r>
              <a:rPr lang="en-US" sz="1800" noProof="0" dirty="0">
                <a:latin typeface="Arial" panose="020B0604020202020204" pitchFamily="34" charset="0"/>
                <a:cs typeface="Arial" panose="020B0604020202020204" pitchFamily="34" charset="0"/>
              </a:rPr>
              <a:t>movement. When the current in the ammeter is 10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 the coil current is 1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 and the resistor current is 9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 When the coil current is 1 m</a:t>
            </a:r>
            <a:r>
              <a:rPr lang="en-US" sz="100" noProof="0" dirty="0">
                <a:latin typeface="Arial" panose="020B0604020202020204" pitchFamily="34" charset="0"/>
                <a:cs typeface="Arial" panose="020B0604020202020204" pitchFamily="34" charset="0"/>
              </a:rPr>
              <a:t> </a:t>
            </a:r>
            <a:r>
              <a:rPr lang="en-US" sz="1800" noProof="0" dirty="0">
                <a:latin typeface="Arial" panose="020B0604020202020204" pitchFamily="34" charset="0"/>
                <a:cs typeface="Arial" panose="020B0604020202020204" pitchFamily="34" charset="0"/>
              </a:rPr>
              <a:t>A, its voltage is 50 </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m</a:t>
            </a:r>
            <a:r>
              <a:rPr kumimoji="0" lang="en-US" sz="1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 </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V</a:t>
            </a:r>
            <a:r>
              <a:rPr lang="en-US" sz="1800" noProof="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384561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5C6A15E-6621-45AF-8404-6514A0DD24F8}"/>
              </a:ext>
            </a:extLst>
          </p:cNvPr>
          <p:cNvSpPr>
            <a:spLocks noGrp="1"/>
          </p:cNvSpPr>
          <p:nvPr>
            <p:ph type="title"/>
          </p:nvPr>
        </p:nvSpPr>
        <p:spPr>
          <a:xfrm>
            <a:off x="399450" y="166742"/>
            <a:ext cx="8242600" cy="1021237"/>
          </a:xfrm>
        </p:spPr>
        <p:txBody>
          <a:bodyPr wrap="square" lIns="0" tIns="18000" rIns="0" bIns="18000" anchor="ctr">
            <a:spAutoFit/>
          </a:bodyPr>
          <a:lstStyle/>
          <a:p>
            <a:r>
              <a:rPr lang="en-US" noProof="0" dirty="0"/>
              <a:t>Chapter 3 – Simple resistive circuits </a:t>
            </a:r>
            <a:r>
              <a:rPr lang="en-US" sz="2800" noProof="0" dirty="0"/>
              <a:t>(5 of 22)</a:t>
            </a:r>
          </a:p>
        </p:txBody>
      </p:sp>
      <p:sp>
        <p:nvSpPr>
          <p:cNvPr id="3" name="Content Placeholder 2">
            <a:extLst>
              <a:ext uri="{FF2B5EF4-FFF2-40B4-BE49-F238E27FC236}">
                <a16:creationId xmlns:a16="http://schemas.microsoft.com/office/drawing/2014/main" id="{9F5282B3-9572-467D-8AD3-FBDACFAFF896}"/>
              </a:ext>
            </a:extLst>
          </p:cNvPr>
          <p:cNvSpPr>
            <a:spLocks noGrp="1"/>
          </p:cNvSpPr>
          <p:nvPr>
            <p:ph sz="quarter" idx="4294967295"/>
          </p:nvPr>
        </p:nvSpPr>
        <p:spPr>
          <a:xfrm>
            <a:off x="412411" y="1380222"/>
            <a:ext cx="8221880" cy="374906"/>
          </a:xfrm>
        </p:spPr>
        <p:txBody>
          <a:bodyPr wrap="square" lIns="0" tIns="18000" rIns="0" bIns="18000" anchor="ctr" anchorCtr="0">
            <a:spAutoFit/>
          </a:bodyPr>
          <a:lstStyle/>
          <a:p>
            <a:pPr marL="0" indent="0">
              <a:buNone/>
            </a:pPr>
            <a:r>
              <a:rPr lang="en-US" sz="2200" noProof="0" dirty="0">
                <a:latin typeface="Arial" panose="020B0604020202020204" pitchFamily="34" charset="0"/>
                <a:cs typeface="Arial" panose="020B0604020202020204" pitchFamily="34" charset="0"/>
              </a:rPr>
              <a:t>When the coil current is 1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A, its voltage is 50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V. What is the</a:t>
            </a:r>
          </a:p>
        </p:txBody>
      </p:sp>
      <p:sp>
        <p:nvSpPr>
          <p:cNvPr id="4" name="Content Placeholder 3">
            <a:extLst>
              <a:ext uri="{FF2B5EF4-FFF2-40B4-BE49-F238E27FC236}">
                <a16:creationId xmlns:a16="http://schemas.microsoft.com/office/drawing/2014/main" id="{595F17AD-0212-4F8D-9EA6-C83ADA5CEDDF}"/>
              </a:ext>
            </a:extLst>
          </p:cNvPr>
          <p:cNvSpPr>
            <a:spLocks noGrp="1"/>
          </p:cNvSpPr>
          <p:nvPr>
            <p:ph sz="quarter" idx="4294967295"/>
          </p:nvPr>
        </p:nvSpPr>
        <p:spPr>
          <a:xfrm>
            <a:off x="408842" y="1852082"/>
            <a:ext cx="2286733" cy="374906"/>
          </a:xfrm>
        </p:spPr>
        <p:txBody>
          <a:bodyPr wrap="square" lIns="0" tIns="18000" rIns="0" bIns="18000" anchor="ctr" anchorCtr="0">
            <a:spAutoFit/>
          </a:bodyPr>
          <a:lstStyle/>
          <a:p>
            <a:pPr marL="0" indent="0">
              <a:buNone/>
            </a:pPr>
            <a:r>
              <a:rPr lang="en-US" sz="2200" noProof="0" dirty="0">
                <a:latin typeface="Arial" panose="020B0604020202020204" pitchFamily="34" charset="0"/>
                <a:cs typeface="Arial" panose="020B0604020202020204" pitchFamily="34" charset="0"/>
              </a:rPr>
              <a:t>voltage across the</a:t>
            </a:r>
          </a:p>
        </p:txBody>
      </p:sp>
      <p:graphicFrame>
        <p:nvGraphicFramePr>
          <p:cNvPr id="20" name="Object 19" descr="R subscript A.&#10;">
            <a:extLst>
              <a:ext uri="{FF2B5EF4-FFF2-40B4-BE49-F238E27FC236}">
                <a16:creationId xmlns:a16="http://schemas.microsoft.com/office/drawing/2014/main" id="{4B2D94DD-751E-4A06-806C-AD10AB604C25}"/>
              </a:ext>
            </a:extLst>
          </p:cNvPr>
          <p:cNvGraphicFramePr>
            <a:graphicFrameLocks noChangeAspect="1"/>
          </p:cNvGraphicFramePr>
          <p:nvPr>
            <p:extLst>
              <p:ext uri="{D42A27DB-BD31-4B8C-83A1-F6EECF244321}">
                <p14:modId xmlns:p14="http://schemas.microsoft.com/office/powerpoint/2010/main" val="3959719922"/>
              </p:ext>
            </p:extLst>
          </p:nvPr>
        </p:nvGraphicFramePr>
        <p:xfrm>
          <a:off x="2813392" y="1885469"/>
          <a:ext cx="335280" cy="370205"/>
        </p:xfrm>
        <a:graphic>
          <a:graphicData uri="http://schemas.openxmlformats.org/presentationml/2006/ole">
            <mc:AlternateContent xmlns:mc="http://schemas.openxmlformats.org/markup-compatibility/2006">
              <mc:Choice xmlns:v="urn:schemas-microsoft-com:vml" Requires="v">
                <p:oleObj name="Equation" r:id="rId2" imgW="215640" imgH="228600" progId="Equation.DSMT4">
                  <p:embed/>
                </p:oleObj>
              </mc:Choice>
              <mc:Fallback>
                <p:oleObj name="Equation" r:id="rId2" imgW="215640" imgH="228600" progId="Equation.DSMT4">
                  <p:embed/>
                  <p:pic>
                    <p:nvPicPr>
                      <p:cNvPr id="23" name="Object 22" descr="S subscript 0 colon">
                        <a:extLst>
                          <a:ext uri="{FF2B5EF4-FFF2-40B4-BE49-F238E27FC236}">
                            <a16:creationId xmlns:a16="http://schemas.microsoft.com/office/drawing/2014/main" id="{144BF877-40AB-4EA5-8509-176FD99F74F9}"/>
                          </a:ext>
                        </a:extLst>
                      </p:cNvPr>
                      <p:cNvPicPr>
                        <a:picLocks noChangeAspect="1" noChangeArrowheads="1"/>
                      </p:cNvPicPr>
                      <p:nvPr/>
                    </p:nvPicPr>
                    <p:blipFill>
                      <a:blip r:embed="rId3"/>
                      <a:srcRect/>
                      <a:stretch>
                        <a:fillRect/>
                      </a:stretch>
                    </p:blipFill>
                    <p:spPr bwMode="auto">
                      <a:xfrm>
                        <a:off x="2813392" y="1885469"/>
                        <a:ext cx="335280" cy="370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9AB45709-F82D-4590-9FA6-443650B942EA}"/>
              </a:ext>
            </a:extLst>
          </p:cNvPr>
          <p:cNvSpPr>
            <a:spLocks noGrp="1"/>
          </p:cNvSpPr>
          <p:nvPr>
            <p:ph sz="quarter" idx="4294967295"/>
          </p:nvPr>
        </p:nvSpPr>
        <p:spPr>
          <a:xfrm>
            <a:off x="3224872" y="1847098"/>
            <a:ext cx="1133465"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resistor?</a:t>
            </a:r>
            <a:endParaRPr lang="en-US" sz="2200" noProof="0" dirty="0">
              <a:latin typeface="Arial" panose="020B0604020202020204" pitchFamily="34" charset="0"/>
              <a:cs typeface="Arial" panose="020B0604020202020204" pitchFamily="34" charset="0"/>
            </a:endParaRPr>
          </a:p>
        </p:txBody>
      </p:sp>
      <p:pic>
        <p:nvPicPr>
          <p:cNvPr id="9" name="Picture 8"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A2891F77-E037-8D3E-B4AA-D64C214B4E57}"/>
              </a:ext>
            </a:extLst>
          </p:cNvPr>
          <p:cNvPicPr>
            <a:picLocks noChangeAspect="1"/>
          </p:cNvPicPr>
          <p:nvPr/>
        </p:nvPicPr>
        <p:blipFill>
          <a:blip r:embed="rId4"/>
          <a:srcRect/>
          <a:stretch/>
        </p:blipFill>
        <p:spPr>
          <a:xfrm>
            <a:off x="2957548" y="2660202"/>
            <a:ext cx="3315163" cy="1537595"/>
          </a:xfrm>
          <a:prstGeom prst="rect">
            <a:avLst/>
          </a:prstGeom>
        </p:spPr>
      </p:pic>
      <p:sp>
        <p:nvSpPr>
          <p:cNvPr id="6" name="Content Placeholder 5">
            <a:extLst>
              <a:ext uri="{FF2B5EF4-FFF2-40B4-BE49-F238E27FC236}">
                <a16:creationId xmlns:a16="http://schemas.microsoft.com/office/drawing/2014/main" id="{63EBC120-20E5-4067-BFF7-E17C71E43FE5}"/>
              </a:ext>
            </a:extLst>
          </p:cNvPr>
          <p:cNvSpPr>
            <a:spLocks noGrp="1"/>
          </p:cNvSpPr>
          <p:nvPr>
            <p:ph sz="quarter" idx="4294967295"/>
          </p:nvPr>
        </p:nvSpPr>
        <p:spPr>
          <a:xfrm>
            <a:off x="1171204" y="4419919"/>
            <a:ext cx="282472" cy="374906"/>
          </a:xfrm>
        </p:spPr>
        <p:txBody>
          <a:bodyPr wrap="square" lIns="0" tIns="18000" rIns="0" bIns="18000" anchor="ctr" anchorCtr="0">
            <a:spAutoFit/>
          </a:bodyPr>
          <a:lstStyle/>
          <a:p>
            <a:pPr marL="0" indent="0">
              <a:buNone/>
            </a:pPr>
            <a:r>
              <a:rPr lang="en-US" sz="2200" noProof="0" dirty="0">
                <a:solidFill>
                  <a:srgbClr val="007FA3"/>
                </a:solidFill>
                <a:latin typeface="+mn-lt"/>
              </a:rPr>
              <a:t>A.</a:t>
            </a:r>
          </a:p>
        </p:txBody>
      </p:sp>
      <p:graphicFrame>
        <p:nvGraphicFramePr>
          <p:cNvPr id="23" name="Object 22" descr="1 divided by 50 Volts.&#10;">
            <a:extLst>
              <a:ext uri="{FF2B5EF4-FFF2-40B4-BE49-F238E27FC236}">
                <a16:creationId xmlns:a16="http://schemas.microsoft.com/office/drawing/2014/main" id="{A4669B5C-D85C-4FFB-BA58-803BF195E26C}"/>
              </a:ext>
            </a:extLst>
          </p:cNvPr>
          <p:cNvGraphicFramePr>
            <a:graphicFrameLocks noChangeAspect="1"/>
          </p:cNvGraphicFramePr>
          <p:nvPr>
            <p:extLst>
              <p:ext uri="{D42A27DB-BD31-4B8C-83A1-F6EECF244321}">
                <p14:modId xmlns:p14="http://schemas.microsoft.com/office/powerpoint/2010/main" val="708442617"/>
              </p:ext>
            </p:extLst>
          </p:nvPr>
        </p:nvGraphicFramePr>
        <p:xfrm>
          <a:off x="1460449" y="4451761"/>
          <a:ext cx="866315" cy="363046"/>
        </p:xfrm>
        <a:graphic>
          <a:graphicData uri="http://schemas.openxmlformats.org/presentationml/2006/ole">
            <mc:AlternateContent xmlns:mc="http://schemas.openxmlformats.org/markup-compatibility/2006">
              <mc:Choice xmlns:v="urn:schemas-microsoft-com:vml" Requires="v">
                <p:oleObj name="Equation" r:id="rId5" imgW="507960" imgH="203040" progId="Equation.DSMT4">
                  <p:embed/>
                </p:oleObj>
              </mc:Choice>
              <mc:Fallback>
                <p:oleObj name="Equation" r:id="rId5" imgW="507960" imgH="203040" progId="Equation.DSMT4">
                  <p:embed/>
                  <p:pic>
                    <p:nvPicPr>
                      <p:cNvPr id="20" name="Object 19" descr="S subscript 0 colon">
                        <a:extLst>
                          <a:ext uri="{FF2B5EF4-FFF2-40B4-BE49-F238E27FC236}">
                            <a16:creationId xmlns:a16="http://schemas.microsoft.com/office/drawing/2014/main" id="{4B2D94DD-751E-4A06-806C-AD10AB604C25}"/>
                          </a:ext>
                        </a:extLst>
                      </p:cNvPr>
                      <p:cNvPicPr>
                        <a:picLocks noChangeAspect="1" noChangeArrowheads="1"/>
                      </p:cNvPicPr>
                      <p:nvPr/>
                    </p:nvPicPr>
                    <p:blipFill>
                      <a:blip r:embed="rId6"/>
                      <a:srcRect/>
                      <a:stretch>
                        <a:fillRect/>
                      </a:stretch>
                    </p:blipFill>
                    <p:spPr bwMode="auto">
                      <a:xfrm>
                        <a:off x="1460449" y="4451761"/>
                        <a:ext cx="866315" cy="3630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DFB88391-C45C-4D94-9309-F24F8B92687E}"/>
              </a:ext>
            </a:extLst>
          </p:cNvPr>
          <p:cNvSpPr>
            <a:spLocks noGrp="1"/>
          </p:cNvSpPr>
          <p:nvPr>
            <p:ph sz="quarter" idx="4294967295"/>
          </p:nvPr>
        </p:nvSpPr>
        <p:spPr>
          <a:xfrm>
            <a:off x="1171204" y="4942367"/>
            <a:ext cx="1391017"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B.</a:t>
            </a:r>
            <a:r>
              <a:rPr lang="en-US" sz="2200" noProof="0" dirty="0">
                <a:latin typeface="Arial" panose="020B0604020202020204" pitchFamily="34" charset="0"/>
                <a:cs typeface="Arial" panose="020B0604020202020204" pitchFamily="34" charset="0"/>
              </a:rPr>
              <a:t> 50 V</a:t>
            </a:r>
          </a:p>
        </p:txBody>
      </p:sp>
      <p:sp>
        <p:nvSpPr>
          <p:cNvPr id="8" name="Content Placeholder 7">
            <a:extLst>
              <a:ext uri="{FF2B5EF4-FFF2-40B4-BE49-F238E27FC236}">
                <a16:creationId xmlns:a16="http://schemas.microsoft.com/office/drawing/2014/main" id="{E6DD4AE8-BE32-4B5E-9A68-BFAE81176BC0}"/>
              </a:ext>
            </a:extLst>
          </p:cNvPr>
          <p:cNvSpPr>
            <a:spLocks noGrp="1"/>
          </p:cNvSpPr>
          <p:nvPr>
            <p:ph sz="quarter" idx="4294967295"/>
          </p:nvPr>
        </p:nvSpPr>
        <p:spPr>
          <a:xfrm>
            <a:off x="1168691" y="5484585"/>
            <a:ext cx="1315948"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C.</a:t>
            </a:r>
            <a:r>
              <a:rPr lang="en-US" sz="2200" noProof="0" dirty="0">
                <a:latin typeface="Arial" panose="020B0604020202020204" pitchFamily="34" charset="0"/>
                <a:cs typeface="Arial" panose="020B0604020202020204" pitchFamily="34" charset="0"/>
              </a:rPr>
              <a:t> 50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V</a:t>
            </a:r>
          </a:p>
        </p:txBody>
      </p:sp>
    </p:spTree>
    <p:extLst>
      <p:ext uri="{BB962C8B-B14F-4D97-AF65-F5344CB8AC3E}">
        <p14:creationId xmlns:p14="http://schemas.microsoft.com/office/powerpoint/2010/main" val="1819991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F0640-E41C-A4B3-4EEB-175466BD5F83}"/>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3791995C-2293-ACD2-2A64-9F1B970151A2}"/>
              </a:ext>
            </a:extLst>
          </p:cNvPr>
          <p:cNvSpPr>
            <a:spLocks noGrp="1"/>
          </p:cNvSpPr>
          <p:nvPr>
            <p:ph type="title"/>
          </p:nvPr>
        </p:nvSpPr>
        <p:spPr>
          <a:xfrm>
            <a:off x="399450" y="166742"/>
            <a:ext cx="8242600" cy="1021237"/>
          </a:xfrm>
        </p:spPr>
        <p:txBody>
          <a:bodyPr wrap="square" lIns="0" tIns="18000" rIns="0" bIns="18000" anchor="ctr">
            <a:spAutoFit/>
          </a:bodyPr>
          <a:lstStyle/>
          <a:p>
            <a:r>
              <a:rPr lang="en-US" noProof="0" dirty="0"/>
              <a:t>Chapter 3 – Simple resistive circuits </a:t>
            </a:r>
            <a:r>
              <a:rPr lang="en-US" sz="2800" noProof="0" dirty="0"/>
              <a:t>(5 of 22)</a:t>
            </a:r>
          </a:p>
        </p:txBody>
      </p:sp>
      <p:sp>
        <p:nvSpPr>
          <p:cNvPr id="3" name="Content Placeholder 2">
            <a:extLst>
              <a:ext uri="{FF2B5EF4-FFF2-40B4-BE49-F238E27FC236}">
                <a16:creationId xmlns:a16="http://schemas.microsoft.com/office/drawing/2014/main" id="{DB69EA40-2D18-A8C7-E3F8-245C90C90C15}"/>
              </a:ext>
            </a:extLst>
          </p:cNvPr>
          <p:cNvSpPr>
            <a:spLocks noGrp="1"/>
          </p:cNvSpPr>
          <p:nvPr>
            <p:ph sz="quarter" idx="4294967295"/>
          </p:nvPr>
        </p:nvSpPr>
        <p:spPr>
          <a:xfrm>
            <a:off x="412411" y="1380222"/>
            <a:ext cx="8221880" cy="374906"/>
          </a:xfrm>
        </p:spPr>
        <p:txBody>
          <a:bodyPr wrap="square" lIns="0" tIns="18000" rIns="0" bIns="18000" anchor="ctr" anchorCtr="0">
            <a:spAutoFit/>
          </a:bodyPr>
          <a:lstStyle/>
          <a:p>
            <a:pPr marL="0" indent="0">
              <a:buNone/>
            </a:pPr>
            <a:r>
              <a:rPr lang="en-US" sz="2200" noProof="0" dirty="0">
                <a:latin typeface="Arial" panose="020B0604020202020204" pitchFamily="34" charset="0"/>
                <a:cs typeface="Arial" panose="020B0604020202020204" pitchFamily="34" charset="0"/>
              </a:rPr>
              <a:t>When the coil current is 1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A, its voltage is 50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V. What is the</a:t>
            </a:r>
          </a:p>
        </p:txBody>
      </p:sp>
      <p:sp>
        <p:nvSpPr>
          <p:cNvPr id="4" name="Content Placeholder 3">
            <a:extLst>
              <a:ext uri="{FF2B5EF4-FFF2-40B4-BE49-F238E27FC236}">
                <a16:creationId xmlns:a16="http://schemas.microsoft.com/office/drawing/2014/main" id="{7F2660C6-F192-AB8E-7931-8F9DDFAD73F4}"/>
              </a:ext>
            </a:extLst>
          </p:cNvPr>
          <p:cNvSpPr>
            <a:spLocks noGrp="1"/>
          </p:cNvSpPr>
          <p:nvPr>
            <p:ph sz="quarter" idx="4294967295"/>
          </p:nvPr>
        </p:nvSpPr>
        <p:spPr>
          <a:xfrm>
            <a:off x="408842" y="1852082"/>
            <a:ext cx="2286733" cy="374906"/>
          </a:xfrm>
        </p:spPr>
        <p:txBody>
          <a:bodyPr wrap="square" lIns="0" tIns="18000" rIns="0" bIns="18000" anchor="ctr" anchorCtr="0">
            <a:spAutoFit/>
          </a:bodyPr>
          <a:lstStyle/>
          <a:p>
            <a:pPr marL="0" indent="0">
              <a:buNone/>
            </a:pPr>
            <a:r>
              <a:rPr lang="en-US" sz="2200" noProof="0" dirty="0">
                <a:latin typeface="Arial" panose="020B0604020202020204" pitchFamily="34" charset="0"/>
                <a:cs typeface="Arial" panose="020B0604020202020204" pitchFamily="34" charset="0"/>
              </a:rPr>
              <a:t>voltage across the</a:t>
            </a:r>
          </a:p>
        </p:txBody>
      </p:sp>
      <p:graphicFrame>
        <p:nvGraphicFramePr>
          <p:cNvPr id="20" name="Object 19" descr="R subscript A.&#10;">
            <a:extLst>
              <a:ext uri="{FF2B5EF4-FFF2-40B4-BE49-F238E27FC236}">
                <a16:creationId xmlns:a16="http://schemas.microsoft.com/office/drawing/2014/main" id="{3DC21CA6-623C-4438-3DAE-9421D04157B1}"/>
              </a:ext>
            </a:extLst>
          </p:cNvPr>
          <p:cNvGraphicFramePr>
            <a:graphicFrameLocks noChangeAspect="1"/>
          </p:cNvGraphicFramePr>
          <p:nvPr/>
        </p:nvGraphicFramePr>
        <p:xfrm>
          <a:off x="2813392" y="1885469"/>
          <a:ext cx="335280" cy="370205"/>
        </p:xfrm>
        <a:graphic>
          <a:graphicData uri="http://schemas.openxmlformats.org/presentationml/2006/ole">
            <mc:AlternateContent xmlns:mc="http://schemas.openxmlformats.org/markup-compatibility/2006">
              <mc:Choice xmlns:v="urn:schemas-microsoft-com:vml" Requires="v">
                <p:oleObj name="Equation" r:id="rId2" imgW="215640" imgH="228600" progId="Equation.DSMT4">
                  <p:embed/>
                </p:oleObj>
              </mc:Choice>
              <mc:Fallback>
                <p:oleObj name="Equation" r:id="rId2" imgW="215640" imgH="228600" progId="Equation.DSMT4">
                  <p:embed/>
                  <p:pic>
                    <p:nvPicPr>
                      <p:cNvPr id="20" name="Object 19" descr="R subscript A.&#10;">
                        <a:extLst>
                          <a:ext uri="{FF2B5EF4-FFF2-40B4-BE49-F238E27FC236}">
                            <a16:creationId xmlns:a16="http://schemas.microsoft.com/office/drawing/2014/main" id="{4B2D94DD-751E-4A06-806C-AD10AB604C25}"/>
                          </a:ext>
                        </a:extLst>
                      </p:cNvPr>
                      <p:cNvPicPr>
                        <a:picLocks noChangeAspect="1" noChangeArrowheads="1"/>
                      </p:cNvPicPr>
                      <p:nvPr/>
                    </p:nvPicPr>
                    <p:blipFill>
                      <a:blip r:embed="rId3"/>
                      <a:srcRect/>
                      <a:stretch>
                        <a:fillRect/>
                      </a:stretch>
                    </p:blipFill>
                    <p:spPr bwMode="auto">
                      <a:xfrm>
                        <a:off x="2813392" y="1885469"/>
                        <a:ext cx="335280" cy="370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AA1FCF2D-EFCA-75C5-2730-B2A1D9944308}"/>
              </a:ext>
            </a:extLst>
          </p:cNvPr>
          <p:cNvSpPr>
            <a:spLocks noGrp="1"/>
          </p:cNvSpPr>
          <p:nvPr>
            <p:ph sz="quarter" idx="4294967295"/>
          </p:nvPr>
        </p:nvSpPr>
        <p:spPr>
          <a:xfrm>
            <a:off x="3224872" y="1847098"/>
            <a:ext cx="1133465"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resistor?</a:t>
            </a:r>
            <a:endParaRPr lang="en-US" sz="2200" noProof="0" dirty="0">
              <a:latin typeface="Arial" panose="020B0604020202020204" pitchFamily="34" charset="0"/>
              <a:cs typeface="Arial" panose="020B0604020202020204" pitchFamily="34" charset="0"/>
            </a:endParaRPr>
          </a:p>
        </p:txBody>
      </p:sp>
      <p:pic>
        <p:nvPicPr>
          <p:cNvPr id="9" name="Picture 8"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6ED4B516-4F26-A316-1085-603917A6B7C0}"/>
              </a:ext>
            </a:extLst>
          </p:cNvPr>
          <p:cNvPicPr>
            <a:picLocks noChangeAspect="1"/>
          </p:cNvPicPr>
          <p:nvPr/>
        </p:nvPicPr>
        <p:blipFill>
          <a:blip r:embed="rId4"/>
          <a:srcRect/>
          <a:stretch/>
        </p:blipFill>
        <p:spPr>
          <a:xfrm>
            <a:off x="2957548" y="2660202"/>
            <a:ext cx="3315163" cy="1537595"/>
          </a:xfrm>
          <a:prstGeom prst="rect">
            <a:avLst/>
          </a:prstGeom>
        </p:spPr>
      </p:pic>
      <p:pic>
        <p:nvPicPr>
          <p:cNvPr id="18" name="Picture 3" descr="Cross mark">
            <a:extLst>
              <a:ext uri="{FF2B5EF4-FFF2-40B4-BE49-F238E27FC236}">
                <a16:creationId xmlns:a16="http://schemas.microsoft.com/office/drawing/2014/main" id="{331EB209-7067-FA63-D490-EB3B4B8969E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0825" y="447357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5172FA56-C0B1-999F-A252-5392F997625C}"/>
              </a:ext>
            </a:extLst>
          </p:cNvPr>
          <p:cNvSpPr>
            <a:spLocks noGrp="1"/>
          </p:cNvSpPr>
          <p:nvPr>
            <p:ph sz="quarter" idx="4294967295"/>
          </p:nvPr>
        </p:nvSpPr>
        <p:spPr>
          <a:xfrm>
            <a:off x="1171204" y="4419919"/>
            <a:ext cx="282472" cy="374906"/>
          </a:xfrm>
        </p:spPr>
        <p:txBody>
          <a:bodyPr wrap="square" lIns="0" tIns="18000" rIns="0" bIns="18000" anchor="ctr" anchorCtr="0">
            <a:spAutoFit/>
          </a:bodyPr>
          <a:lstStyle/>
          <a:p>
            <a:pPr marL="0" indent="0">
              <a:buNone/>
            </a:pPr>
            <a:r>
              <a:rPr lang="en-US" sz="2200" noProof="0" dirty="0">
                <a:solidFill>
                  <a:srgbClr val="007FA3"/>
                </a:solidFill>
                <a:latin typeface="+mn-lt"/>
              </a:rPr>
              <a:t>A.</a:t>
            </a:r>
          </a:p>
        </p:txBody>
      </p:sp>
      <p:graphicFrame>
        <p:nvGraphicFramePr>
          <p:cNvPr id="23" name="Object 22" descr="1 divided by 50 Volts.&#10;">
            <a:extLst>
              <a:ext uri="{FF2B5EF4-FFF2-40B4-BE49-F238E27FC236}">
                <a16:creationId xmlns:a16="http://schemas.microsoft.com/office/drawing/2014/main" id="{33CD2FB8-CABD-8905-5F65-CB545CEE4AF5}"/>
              </a:ext>
            </a:extLst>
          </p:cNvPr>
          <p:cNvGraphicFramePr>
            <a:graphicFrameLocks noChangeAspect="1"/>
          </p:cNvGraphicFramePr>
          <p:nvPr/>
        </p:nvGraphicFramePr>
        <p:xfrm>
          <a:off x="1460449" y="4451761"/>
          <a:ext cx="866315" cy="363046"/>
        </p:xfrm>
        <a:graphic>
          <a:graphicData uri="http://schemas.openxmlformats.org/presentationml/2006/ole">
            <mc:AlternateContent xmlns:mc="http://schemas.openxmlformats.org/markup-compatibility/2006">
              <mc:Choice xmlns:v="urn:schemas-microsoft-com:vml" Requires="v">
                <p:oleObj name="Equation" r:id="rId6" imgW="507960" imgH="203040" progId="Equation.DSMT4">
                  <p:embed/>
                </p:oleObj>
              </mc:Choice>
              <mc:Fallback>
                <p:oleObj name="Equation" r:id="rId6" imgW="507960" imgH="203040" progId="Equation.DSMT4">
                  <p:embed/>
                  <p:pic>
                    <p:nvPicPr>
                      <p:cNvPr id="23" name="Object 22" descr="1 divided by 50 Volts.&#10;">
                        <a:extLst>
                          <a:ext uri="{FF2B5EF4-FFF2-40B4-BE49-F238E27FC236}">
                            <a16:creationId xmlns:a16="http://schemas.microsoft.com/office/drawing/2014/main" id="{A4669B5C-D85C-4FFB-BA58-803BF195E26C}"/>
                          </a:ext>
                        </a:extLst>
                      </p:cNvPr>
                      <p:cNvPicPr>
                        <a:picLocks noChangeAspect="1" noChangeArrowheads="1"/>
                      </p:cNvPicPr>
                      <p:nvPr/>
                    </p:nvPicPr>
                    <p:blipFill>
                      <a:blip r:embed="rId7"/>
                      <a:srcRect/>
                      <a:stretch>
                        <a:fillRect/>
                      </a:stretch>
                    </p:blipFill>
                    <p:spPr bwMode="auto">
                      <a:xfrm>
                        <a:off x="1460449" y="4451761"/>
                        <a:ext cx="866315" cy="3630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 name="Picture 4" descr="Cross mark">
            <a:extLst>
              <a:ext uri="{FF2B5EF4-FFF2-40B4-BE49-F238E27FC236}">
                <a16:creationId xmlns:a16="http://schemas.microsoft.com/office/drawing/2014/main" id="{3B2F135F-4733-D411-1DDB-24A857C9144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5425" y="501419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1E142033-F306-D195-C7CA-7B958735C24B}"/>
              </a:ext>
            </a:extLst>
          </p:cNvPr>
          <p:cNvSpPr>
            <a:spLocks noGrp="1"/>
          </p:cNvSpPr>
          <p:nvPr>
            <p:ph sz="quarter" idx="4294967295"/>
          </p:nvPr>
        </p:nvSpPr>
        <p:spPr>
          <a:xfrm>
            <a:off x="1171204" y="4942367"/>
            <a:ext cx="1391017"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B.</a:t>
            </a:r>
            <a:r>
              <a:rPr lang="en-US" sz="2200" noProof="0" dirty="0">
                <a:latin typeface="Arial" panose="020B0604020202020204" pitchFamily="34" charset="0"/>
                <a:cs typeface="Arial" panose="020B0604020202020204" pitchFamily="34" charset="0"/>
              </a:rPr>
              <a:t> 50 V</a:t>
            </a:r>
          </a:p>
        </p:txBody>
      </p:sp>
      <p:pic>
        <p:nvPicPr>
          <p:cNvPr id="24" name="Picture 2" descr="Check mark">
            <a:extLst>
              <a:ext uri="{FF2B5EF4-FFF2-40B4-BE49-F238E27FC236}">
                <a16:creationId xmlns:a16="http://schemas.microsoft.com/office/drawing/2014/main" id="{FAADA12D-3FBC-D1A3-5BF7-9F586E51021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6071" y="5562988"/>
            <a:ext cx="308551" cy="270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C2D646F-9531-6D59-9BC5-92293E405912}"/>
              </a:ext>
            </a:extLst>
          </p:cNvPr>
          <p:cNvSpPr>
            <a:spLocks noGrp="1"/>
          </p:cNvSpPr>
          <p:nvPr>
            <p:ph sz="quarter" idx="4294967295"/>
          </p:nvPr>
        </p:nvSpPr>
        <p:spPr>
          <a:xfrm>
            <a:off x="1168691" y="5484585"/>
            <a:ext cx="1315948"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C.</a:t>
            </a:r>
            <a:r>
              <a:rPr lang="en-US" sz="2200" noProof="0" dirty="0">
                <a:latin typeface="Arial" panose="020B0604020202020204" pitchFamily="34" charset="0"/>
                <a:cs typeface="Arial" panose="020B0604020202020204" pitchFamily="34" charset="0"/>
              </a:rPr>
              <a:t> 50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V</a:t>
            </a:r>
          </a:p>
        </p:txBody>
      </p:sp>
    </p:spTree>
    <p:extLst>
      <p:ext uri="{BB962C8B-B14F-4D97-AF65-F5344CB8AC3E}">
        <p14:creationId xmlns:p14="http://schemas.microsoft.com/office/powerpoint/2010/main" val="147633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1CC5F3AC-E227-48D1-83A5-98C09FDB51CC}"/>
              </a:ext>
            </a:extLst>
          </p:cNvPr>
          <p:cNvSpPr>
            <a:spLocks noGrp="1"/>
          </p:cNvSpPr>
          <p:nvPr>
            <p:ph type="title"/>
          </p:nvPr>
        </p:nvSpPr>
        <p:spPr>
          <a:xfrm>
            <a:off x="399449" y="166742"/>
            <a:ext cx="8282433" cy="1021237"/>
          </a:xfrm>
        </p:spPr>
        <p:txBody>
          <a:bodyPr wrap="square" lIns="0" tIns="18000" rIns="0" bIns="18000" anchor="ctr">
            <a:spAutoFit/>
          </a:bodyPr>
          <a:lstStyle/>
          <a:p>
            <a:r>
              <a:rPr lang="en-US" noProof="0" dirty="0"/>
              <a:t>Chapter 3 – Simple resistive circuits </a:t>
            </a:r>
            <a:r>
              <a:rPr lang="en-US" sz="2800" noProof="0" dirty="0"/>
              <a:t>(6 of 22)</a:t>
            </a:r>
          </a:p>
        </p:txBody>
      </p:sp>
      <p:sp>
        <p:nvSpPr>
          <p:cNvPr id="3" name="Content Placeholder 2">
            <a:extLst>
              <a:ext uri="{FF2B5EF4-FFF2-40B4-BE49-F238E27FC236}">
                <a16:creationId xmlns:a16="http://schemas.microsoft.com/office/drawing/2014/main" id="{B5B42980-E017-4EB1-A197-5D7C3A620FA1}"/>
              </a:ext>
            </a:extLst>
          </p:cNvPr>
          <p:cNvSpPr>
            <a:spLocks noGrp="1"/>
          </p:cNvSpPr>
          <p:nvPr>
            <p:ph sz="quarter" idx="4294967295"/>
          </p:nvPr>
        </p:nvSpPr>
        <p:spPr>
          <a:xfrm>
            <a:off x="428324" y="1378935"/>
            <a:ext cx="8253559" cy="1052014"/>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Measuring current and voltage – Example (continued): </a:t>
            </a:r>
            <a:br>
              <a:rPr lang="en-US" altLang="en-US" sz="2200" noProof="0" dirty="0">
                <a:latin typeface="Arial" panose="020B0604020202020204" pitchFamily="34" charset="0"/>
                <a:cs typeface="Arial" panose="020B0604020202020204" pitchFamily="34" charset="0"/>
              </a:rPr>
            </a:br>
            <a:r>
              <a:rPr lang="en-US" altLang="en-US" sz="2200" noProof="0" dirty="0">
                <a:latin typeface="Arial" panose="020B0604020202020204" pitchFamily="34" charset="0"/>
                <a:cs typeface="Arial" panose="020B0604020202020204" pitchFamily="34" charset="0"/>
              </a:rPr>
              <a:t>A 50 m</a:t>
            </a:r>
            <a:r>
              <a:rPr lang="en-US" altLang="en-US" sz="100" noProof="0" dirty="0">
                <a:latin typeface="Arial" panose="020B0604020202020204" pitchFamily="34" charset="0"/>
                <a:cs typeface="Arial" panose="020B0604020202020204" pitchFamily="34" charset="0"/>
              </a:rPr>
              <a:t> </a:t>
            </a:r>
            <a:r>
              <a:rPr lang="en-US" altLang="en-US" sz="2200" noProof="0" dirty="0">
                <a:latin typeface="Arial" panose="020B0604020202020204" pitchFamily="34" charset="0"/>
                <a:cs typeface="Arial" panose="020B0604020202020204" pitchFamily="34" charset="0"/>
              </a:rPr>
              <a:t>V, 1m</a:t>
            </a:r>
            <a:r>
              <a:rPr lang="en-US" altLang="en-US" sz="100" noProof="0" dirty="0">
                <a:latin typeface="Arial" panose="020B0604020202020204" pitchFamily="34" charset="0"/>
                <a:cs typeface="Arial" panose="020B0604020202020204" pitchFamily="34" charset="0"/>
              </a:rPr>
              <a:t> </a:t>
            </a:r>
            <a:r>
              <a:rPr lang="en-US" altLang="en-US" sz="2200" noProof="0" dirty="0">
                <a:latin typeface="Arial" panose="020B0604020202020204" pitchFamily="34" charset="0"/>
                <a:cs typeface="Arial" panose="020B0604020202020204" pitchFamily="34" charset="0"/>
              </a:rPr>
              <a:t>A </a:t>
            </a:r>
            <a:r>
              <a:rPr lang="en-US" altLang="en-US" sz="2200" noProof="0" dirty="0" err="1">
                <a:latin typeface="Arial" panose="020B0604020202020204" pitchFamily="34" charset="0"/>
                <a:cs typeface="Arial" panose="020B0604020202020204" pitchFamily="34" charset="0"/>
              </a:rPr>
              <a:t>D’Arsonval</a:t>
            </a:r>
            <a:r>
              <a:rPr lang="en-US" altLang="en-US" sz="2200" noProof="0" dirty="0">
                <a:latin typeface="Arial" panose="020B0604020202020204" pitchFamily="34" charset="0"/>
                <a:cs typeface="Arial" panose="020B0604020202020204" pitchFamily="34" charset="0"/>
              </a:rPr>
              <a:t> movement is used in a ammeter with a full-scale reading of 10 </a:t>
            </a:r>
            <a:r>
              <a:rPr lang="en-US" altLang="en-US" sz="2200" spc="-200" noProof="0" dirty="0">
                <a:latin typeface="Arial" panose="020B0604020202020204" pitchFamily="34" charset="0"/>
                <a:cs typeface="Arial" panose="020B0604020202020204" pitchFamily="34" charset="0"/>
              </a:rPr>
              <a:t>m </a:t>
            </a:r>
            <a:r>
              <a:rPr lang="en-US" altLang="en-US" sz="2200" noProof="0" dirty="0">
                <a:latin typeface="Arial" panose="020B0604020202020204" pitchFamily="34" charset="0"/>
                <a:cs typeface="Arial" panose="020B0604020202020204" pitchFamily="34" charset="0"/>
              </a:rPr>
              <a:t>A.</a:t>
            </a:r>
          </a:p>
        </p:txBody>
      </p:sp>
      <p:sp>
        <p:nvSpPr>
          <p:cNvPr id="4" name="Content Placeholder 3">
            <a:extLst>
              <a:ext uri="{FF2B5EF4-FFF2-40B4-BE49-F238E27FC236}">
                <a16:creationId xmlns:a16="http://schemas.microsoft.com/office/drawing/2014/main" id="{0987EBE6-7866-4F11-A5F3-F80769CFF776}"/>
              </a:ext>
            </a:extLst>
          </p:cNvPr>
          <p:cNvSpPr>
            <a:spLocks noGrp="1"/>
          </p:cNvSpPr>
          <p:nvPr>
            <p:ph sz="quarter" idx="4294967295"/>
          </p:nvPr>
        </p:nvSpPr>
        <p:spPr>
          <a:xfrm>
            <a:off x="428325" y="2523736"/>
            <a:ext cx="919048" cy="374906"/>
          </a:xfrm>
        </p:spPr>
        <p:txBody>
          <a:bodyPr wrap="square" lIns="0" tIns="18000" rIns="0" bIns="18000" anchor="ctr" anchorCtr="0">
            <a:spAutoFit/>
          </a:bodyPr>
          <a:lstStyle/>
          <a:p>
            <a:pPr marL="342900" indent="-342900"/>
            <a:r>
              <a:rPr lang="en-US" altLang="en-US" sz="2200" noProof="0" dirty="0">
                <a:latin typeface="Arial" panose="020B0604020202020204" pitchFamily="34" charset="0"/>
                <a:cs typeface="Arial" panose="020B0604020202020204" pitchFamily="34" charset="0"/>
              </a:rPr>
              <a:t>Find</a:t>
            </a:r>
            <a:endParaRPr lang="en-US" sz="2200" noProof="0" dirty="0">
              <a:latin typeface="Arial" panose="020B0604020202020204" pitchFamily="34" charset="0"/>
              <a:cs typeface="Arial" panose="020B0604020202020204" pitchFamily="34" charset="0"/>
            </a:endParaRPr>
          </a:p>
        </p:txBody>
      </p:sp>
      <p:graphicFrame>
        <p:nvGraphicFramePr>
          <p:cNvPr id="20" name="Object 19" descr="R subscript A.&#10;">
            <a:extLst>
              <a:ext uri="{FF2B5EF4-FFF2-40B4-BE49-F238E27FC236}">
                <a16:creationId xmlns:a16="http://schemas.microsoft.com/office/drawing/2014/main" id="{50DD4347-58D3-41BA-A816-C3ECDE341492}"/>
              </a:ext>
            </a:extLst>
          </p:cNvPr>
          <p:cNvGraphicFramePr>
            <a:graphicFrameLocks noChangeAspect="1"/>
          </p:cNvGraphicFramePr>
          <p:nvPr>
            <p:extLst>
              <p:ext uri="{D42A27DB-BD31-4B8C-83A1-F6EECF244321}">
                <p14:modId xmlns:p14="http://schemas.microsoft.com/office/powerpoint/2010/main" val="3078940588"/>
              </p:ext>
            </p:extLst>
          </p:nvPr>
        </p:nvGraphicFramePr>
        <p:xfrm>
          <a:off x="1439834" y="2559645"/>
          <a:ext cx="394653" cy="370205"/>
        </p:xfrm>
        <a:graphic>
          <a:graphicData uri="http://schemas.openxmlformats.org/presentationml/2006/ole">
            <mc:AlternateContent xmlns:mc="http://schemas.openxmlformats.org/markup-compatibility/2006">
              <mc:Choice xmlns:v="urn:schemas-microsoft-com:vml" Requires="v">
                <p:oleObj name="Equation" r:id="rId2" imgW="253800" imgH="228600" progId="Equation.DSMT4">
                  <p:embed/>
                </p:oleObj>
              </mc:Choice>
              <mc:Fallback>
                <p:oleObj name="Equation" r:id="rId2" imgW="253800" imgH="228600" progId="Equation.DSMT4">
                  <p:embed/>
                  <p:pic>
                    <p:nvPicPr>
                      <p:cNvPr id="20" name="Object 19" descr="S subscript 0 colon">
                        <a:extLst>
                          <a:ext uri="{FF2B5EF4-FFF2-40B4-BE49-F238E27FC236}">
                            <a16:creationId xmlns:a16="http://schemas.microsoft.com/office/drawing/2014/main" id="{439A1CBE-3AF0-41D6-9497-0641D185C896}"/>
                          </a:ext>
                        </a:extLst>
                      </p:cNvPr>
                      <p:cNvPicPr>
                        <a:picLocks noChangeAspect="1" noChangeArrowheads="1"/>
                      </p:cNvPicPr>
                      <p:nvPr/>
                    </p:nvPicPr>
                    <p:blipFill>
                      <a:blip r:embed="rId3"/>
                      <a:srcRect/>
                      <a:stretch>
                        <a:fillRect/>
                      </a:stretch>
                    </p:blipFill>
                    <p:spPr bwMode="auto">
                      <a:xfrm>
                        <a:off x="1439834" y="2559645"/>
                        <a:ext cx="394653" cy="370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54A7AF4A-9574-4318-95C4-20D5E077221A}"/>
              </a:ext>
            </a:extLst>
          </p:cNvPr>
          <p:cNvSpPr>
            <a:spLocks noGrp="1"/>
          </p:cNvSpPr>
          <p:nvPr>
            <p:ph sz="quarter" idx="4294967295"/>
          </p:nvPr>
        </p:nvSpPr>
        <p:spPr>
          <a:xfrm>
            <a:off x="428325" y="2988288"/>
            <a:ext cx="8242600" cy="713460"/>
          </a:xfrm>
        </p:spPr>
        <p:txBody>
          <a:bodyPr wrap="square" lIns="0" tIns="18000" rIns="0" bIns="18000" anchor="ctr" anchorCtr="0">
            <a:spAutoFit/>
          </a:bodyPr>
          <a:lstStyle/>
          <a:p>
            <a:pPr marL="342900" indent="-342900">
              <a:spcBef>
                <a:spcPts val="600"/>
              </a:spcBef>
            </a:pPr>
            <a:r>
              <a:rPr lang="en-US" altLang="en-US" sz="2200" noProof="0" dirty="0">
                <a:latin typeface="Arial" panose="020B0604020202020204" pitchFamily="34" charset="0"/>
                <a:cs typeface="Arial" panose="020B0604020202020204" pitchFamily="34" charset="0"/>
              </a:rPr>
              <a:t>Find the resistance that is added to a circuit when this ammeter is used to measure current.</a:t>
            </a:r>
            <a:endParaRPr lang="en-US" sz="2200" noProof="0" dirty="0">
              <a:latin typeface="Arial" panose="020B0604020202020204" pitchFamily="34" charset="0"/>
              <a:cs typeface="Arial" panose="020B0604020202020204" pitchFamily="34" charset="0"/>
            </a:endParaRPr>
          </a:p>
        </p:txBody>
      </p:sp>
      <p:pic>
        <p:nvPicPr>
          <p:cNvPr id="7" name="Picture 6"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A84A1D42-EF5D-62DF-10C4-8AE7FFC7E684}"/>
              </a:ext>
            </a:extLst>
          </p:cNvPr>
          <p:cNvPicPr>
            <a:picLocks noChangeAspect="1"/>
          </p:cNvPicPr>
          <p:nvPr/>
        </p:nvPicPr>
        <p:blipFill>
          <a:blip r:embed="rId4"/>
          <a:srcRect/>
          <a:stretch/>
        </p:blipFill>
        <p:spPr>
          <a:xfrm>
            <a:off x="3344822" y="3762948"/>
            <a:ext cx="2535105" cy="1175799"/>
          </a:xfrm>
          <a:prstGeom prst="rect">
            <a:avLst/>
          </a:prstGeom>
        </p:spPr>
      </p:pic>
      <p:sp>
        <p:nvSpPr>
          <p:cNvPr id="6" name="Content Placeholder 5">
            <a:extLst>
              <a:ext uri="{FF2B5EF4-FFF2-40B4-BE49-F238E27FC236}">
                <a16:creationId xmlns:a16="http://schemas.microsoft.com/office/drawing/2014/main" id="{4060357C-B22E-48C4-B066-8C5B5DEDD1FE}"/>
              </a:ext>
            </a:extLst>
          </p:cNvPr>
          <p:cNvSpPr>
            <a:spLocks noGrp="1"/>
          </p:cNvSpPr>
          <p:nvPr>
            <p:ph sz="quarter" idx="4294967295"/>
          </p:nvPr>
        </p:nvSpPr>
        <p:spPr>
          <a:xfrm>
            <a:off x="428378" y="4993854"/>
            <a:ext cx="2157505" cy="374906"/>
          </a:xfrm>
        </p:spPr>
        <p:txBody>
          <a:bodyPr wrap="square" lIns="0" tIns="18000" rIns="0" bIns="18000" anchor="ctr" anchorCtr="0">
            <a:spAutoFit/>
          </a:bodyPr>
          <a:lstStyle/>
          <a:p>
            <a:pPr marL="0" indent="0">
              <a:buNone/>
            </a:pPr>
            <a:r>
              <a:rPr lang="en-US" sz="2200" noProof="0" dirty="0">
                <a:latin typeface="Arial" panose="020B0604020202020204" pitchFamily="34" charset="0"/>
                <a:cs typeface="Arial" panose="020B0604020202020204" pitchFamily="34" charset="0"/>
              </a:rPr>
              <a:t>From Ohm’s law,</a:t>
            </a:r>
          </a:p>
        </p:txBody>
      </p:sp>
      <p:graphicFrame>
        <p:nvGraphicFramePr>
          <p:cNvPr id="23" name="Object 22" descr="50 times 10 to the negative 3 power equals R subscript A Baseline open parenthesis 9 times 10 to the negative 3 power close parenthesis.&#10;">
            <a:extLst>
              <a:ext uri="{FF2B5EF4-FFF2-40B4-BE49-F238E27FC236}">
                <a16:creationId xmlns:a16="http://schemas.microsoft.com/office/drawing/2014/main" id="{AB160BF8-E2AE-463B-AA78-4130427E7A13}"/>
              </a:ext>
            </a:extLst>
          </p:cNvPr>
          <p:cNvGraphicFramePr>
            <a:graphicFrameLocks noChangeAspect="1"/>
          </p:cNvGraphicFramePr>
          <p:nvPr>
            <p:extLst>
              <p:ext uri="{D42A27DB-BD31-4B8C-83A1-F6EECF244321}">
                <p14:modId xmlns:p14="http://schemas.microsoft.com/office/powerpoint/2010/main" val="1682600646"/>
              </p:ext>
            </p:extLst>
          </p:nvPr>
        </p:nvGraphicFramePr>
        <p:xfrm>
          <a:off x="2763394" y="4975114"/>
          <a:ext cx="2469198" cy="495935"/>
        </p:xfrm>
        <a:graphic>
          <a:graphicData uri="http://schemas.openxmlformats.org/presentationml/2006/ole">
            <mc:AlternateContent xmlns:mc="http://schemas.openxmlformats.org/markup-compatibility/2006">
              <mc:Choice xmlns:v="urn:schemas-microsoft-com:vml" Requires="v">
                <p:oleObj name="Equation" r:id="rId5" imgW="1447560" imgH="279360" progId="Equation.DSMT4">
                  <p:embed/>
                </p:oleObj>
              </mc:Choice>
              <mc:Fallback>
                <p:oleObj name="Equation" r:id="rId5" imgW="1447560" imgH="279360" progId="Equation.DSMT4">
                  <p:embed/>
                  <p:pic>
                    <p:nvPicPr>
                      <p:cNvPr id="20" name="Object 19" descr="S subscript 0 colon">
                        <a:extLst>
                          <a:ext uri="{FF2B5EF4-FFF2-40B4-BE49-F238E27FC236}">
                            <a16:creationId xmlns:a16="http://schemas.microsoft.com/office/drawing/2014/main" id="{50DD4347-58D3-41BA-A816-C3ECDE341492}"/>
                          </a:ext>
                        </a:extLst>
                      </p:cNvPr>
                      <p:cNvPicPr>
                        <a:picLocks noChangeAspect="1" noChangeArrowheads="1"/>
                      </p:cNvPicPr>
                      <p:nvPr/>
                    </p:nvPicPr>
                    <p:blipFill>
                      <a:blip r:embed="rId6"/>
                      <a:srcRect/>
                      <a:stretch>
                        <a:fillRect/>
                      </a:stretch>
                    </p:blipFill>
                    <p:spPr bwMode="auto">
                      <a:xfrm>
                        <a:off x="2763394" y="4975114"/>
                        <a:ext cx="2469198" cy="4959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3" descr="Forward arrow, R subscript A Baseline equals StartFraction 50 times 10 to the negative 3 power over 9 times 10 to the negative 3 EndFraction equals 5.555 Ohms.&#10;">
            <a:extLst>
              <a:ext uri="{FF2B5EF4-FFF2-40B4-BE49-F238E27FC236}">
                <a16:creationId xmlns:a16="http://schemas.microsoft.com/office/drawing/2014/main" id="{31DB1404-A193-4474-B8A4-C350B7359746}"/>
              </a:ext>
            </a:extLst>
          </p:cNvPr>
          <p:cNvGraphicFramePr>
            <a:graphicFrameLocks noChangeAspect="1"/>
          </p:cNvGraphicFramePr>
          <p:nvPr>
            <p:extLst>
              <p:ext uri="{D42A27DB-BD31-4B8C-83A1-F6EECF244321}">
                <p14:modId xmlns:p14="http://schemas.microsoft.com/office/powerpoint/2010/main" val="3011868598"/>
              </p:ext>
            </p:extLst>
          </p:nvPr>
        </p:nvGraphicFramePr>
        <p:xfrm>
          <a:off x="2791492" y="5534025"/>
          <a:ext cx="3465512" cy="744538"/>
        </p:xfrm>
        <a:graphic>
          <a:graphicData uri="http://schemas.openxmlformats.org/presentationml/2006/ole">
            <mc:AlternateContent xmlns:mc="http://schemas.openxmlformats.org/markup-compatibility/2006">
              <mc:Choice xmlns:v="urn:schemas-microsoft-com:vml" Requires="v">
                <p:oleObj name="Equation" r:id="rId7" imgW="2031840" imgH="419040" progId="Equation.DSMT4">
                  <p:embed/>
                </p:oleObj>
              </mc:Choice>
              <mc:Fallback>
                <p:oleObj name="Equation" r:id="rId7" imgW="2031840" imgH="419040" progId="Equation.DSMT4">
                  <p:embed/>
                  <p:pic>
                    <p:nvPicPr>
                      <p:cNvPr id="23" name="Object 22" descr="S subscript 0 colon">
                        <a:extLst>
                          <a:ext uri="{FF2B5EF4-FFF2-40B4-BE49-F238E27FC236}">
                            <a16:creationId xmlns:a16="http://schemas.microsoft.com/office/drawing/2014/main" id="{AB160BF8-E2AE-463B-AA78-4130427E7A13}"/>
                          </a:ext>
                        </a:extLst>
                      </p:cNvPr>
                      <p:cNvPicPr>
                        <a:picLocks noChangeAspect="1" noChangeArrowheads="1"/>
                      </p:cNvPicPr>
                      <p:nvPr/>
                    </p:nvPicPr>
                    <p:blipFill>
                      <a:blip r:embed="rId8"/>
                      <a:srcRect/>
                      <a:stretch>
                        <a:fillRect/>
                      </a:stretch>
                    </p:blipFill>
                    <p:spPr bwMode="auto">
                      <a:xfrm>
                        <a:off x="2791492" y="5534025"/>
                        <a:ext cx="3465512" cy="744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0653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23D84-6D0F-8742-D90C-076EEC14D5F7}"/>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3735C1F-CA31-86CC-00C3-279F7BA97D6E}"/>
              </a:ext>
            </a:extLst>
          </p:cNvPr>
          <p:cNvSpPr>
            <a:spLocks noGrp="1"/>
          </p:cNvSpPr>
          <p:nvPr>
            <p:ph type="title"/>
          </p:nvPr>
        </p:nvSpPr>
        <p:spPr>
          <a:xfrm>
            <a:off x="399450" y="166742"/>
            <a:ext cx="8271475" cy="1021237"/>
          </a:xfrm>
        </p:spPr>
        <p:txBody>
          <a:bodyPr wrap="square" lIns="0" tIns="18000" rIns="0" bIns="18000" anchor="ctr">
            <a:spAutoFit/>
          </a:bodyPr>
          <a:lstStyle/>
          <a:p>
            <a:r>
              <a:rPr lang="en-US" noProof="0" dirty="0"/>
              <a:t>Chapter 3 – Simple resistive circuits </a:t>
            </a:r>
            <a:r>
              <a:rPr lang="en-US" sz="2800" noProof="0" dirty="0"/>
              <a:t>(7 of 22)</a:t>
            </a:r>
          </a:p>
        </p:txBody>
      </p:sp>
      <p:sp>
        <p:nvSpPr>
          <p:cNvPr id="3" name="Content Placeholder 2">
            <a:extLst>
              <a:ext uri="{FF2B5EF4-FFF2-40B4-BE49-F238E27FC236}">
                <a16:creationId xmlns:a16="http://schemas.microsoft.com/office/drawing/2014/main" id="{7ECFEDE0-8DD4-46C7-1F34-1D572A4FACC7}"/>
              </a:ext>
            </a:extLst>
          </p:cNvPr>
          <p:cNvSpPr>
            <a:spLocks noGrp="1"/>
          </p:cNvSpPr>
          <p:nvPr>
            <p:ph sz="quarter" idx="4294967295"/>
          </p:nvPr>
        </p:nvSpPr>
        <p:spPr>
          <a:xfrm>
            <a:off x="428647" y="1390492"/>
            <a:ext cx="8258153" cy="775015"/>
          </a:xfrm>
        </p:spPr>
        <p:txBody>
          <a:bodyPr wrap="square" lIns="0" tIns="18000" rIns="0" bIns="18000" anchor="ctr" anchorCtr="0">
            <a:spAutoFit/>
          </a:bodyPr>
          <a:lstStyle/>
          <a:p>
            <a:pPr marL="0" indent="0">
              <a:buNone/>
            </a:pPr>
            <a:r>
              <a:rPr lang="en-US" altLang="en-US" sz="2400" noProof="0" dirty="0">
                <a:latin typeface="Arial" panose="020B0604020202020204" pitchFamily="34" charset="0"/>
                <a:cs typeface="Arial" panose="020B0604020202020204" pitchFamily="34" charset="0"/>
              </a:rPr>
              <a:t>If a </a:t>
            </a:r>
            <a:r>
              <a:rPr lang="en-US" altLang="en-US" sz="2400" noProof="0" dirty="0" err="1">
                <a:latin typeface="Arial" panose="020B0604020202020204" pitchFamily="34" charset="0"/>
                <a:cs typeface="Arial" panose="020B0604020202020204" pitchFamily="34" charset="0"/>
              </a:rPr>
              <a:t>d’Arsonval</a:t>
            </a:r>
            <a:r>
              <a:rPr lang="en-US" altLang="en-US" sz="2400" noProof="0" dirty="0">
                <a:latin typeface="Arial" panose="020B0604020202020204" pitchFamily="34" charset="0"/>
                <a:cs typeface="Arial" panose="020B0604020202020204" pitchFamily="34" charset="0"/>
              </a:rPr>
              <a:t> meter movement is rated 50 m</a:t>
            </a:r>
            <a:r>
              <a:rPr lang="en-US" altLang="en-US" sz="100" noProof="0" dirty="0">
                <a:latin typeface="Arial" panose="020B0604020202020204" pitchFamily="34" charset="0"/>
                <a:cs typeface="Arial" panose="020B0604020202020204" pitchFamily="34" charset="0"/>
              </a:rPr>
              <a:t> </a:t>
            </a:r>
            <a:r>
              <a:rPr lang="en-US" altLang="en-US" sz="2400" noProof="0" dirty="0">
                <a:latin typeface="Arial" panose="020B0604020202020204" pitchFamily="34" charset="0"/>
                <a:cs typeface="Arial" panose="020B0604020202020204" pitchFamily="34" charset="0"/>
              </a:rPr>
              <a:t>V and 1 m</a:t>
            </a:r>
            <a:r>
              <a:rPr lang="en-US" altLang="en-US" sz="100" noProof="0" dirty="0">
                <a:latin typeface="Arial" panose="020B0604020202020204" pitchFamily="34" charset="0"/>
                <a:cs typeface="Arial" panose="020B0604020202020204" pitchFamily="34" charset="0"/>
              </a:rPr>
              <a:t> </a:t>
            </a:r>
            <a:r>
              <a:rPr lang="en-US" altLang="en-US" sz="2400" noProof="0" dirty="0">
                <a:latin typeface="Arial" panose="020B0604020202020204" pitchFamily="34" charset="0"/>
                <a:cs typeface="Arial" panose="020B0604020202020204" pitchFamily="34" charset="0"/>
              </a:rPr>
              <a:t>A, what is its resistance?</a:t>
            </a:r>
          </a:p>
        </p:txBody>
      </p:sp>
      <p:pic>
        <p:nvPicPr>
          <p:cNvPr id="16" name="Picture 3"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889E850C-6618-A86A-74CC-C4E2D18A4039}"/>
              </a:ext>
            </a:extLst>
          </p:cNvPr>
          <p:cNvPicPr>
            <a:picLocks noChangeAspect="1" noChangeArrowheads="1"/>
          </p:cNvPicPr>
          <p:nvPr/>
        </p:nvPicPr>
        <p:blipFill>
          <a:blip r:embed="rId2"/>
          <a:srcRect/>
          <a:stretch/>
        </p:blipFill>
        <p:spPr bwMode="auto">
          <a:xfrm>
            <a:off x="3008567" y="2441423"/>
            <a:ext cx="3204020" cy="1486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29DA21C0-62D2-023A-C4F5-DC554DFE5C5D}"/>
              </a:ext>
            </a:extLst>
          </p:cNvPr>
          <p:cNvSpPr>
            <a:spLocks noGrp="1"/>
          </p:cNvSpPr>
          <p:nvPr>
            <p:ph sz="quarter" idx="4294967295"/>
          </p:nvPr>
        </p:nvSpPr>
        <p:spPr>
          <a:xfrm>
            <a:off x="1264388" y="4247435"/>
            <a:ext cx="300794"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A.</a:t>
            </a:r>
          </a:p>
        </p:txBody>
      </p:sp>
      <p:graphicFrame>
        <p:nvGraphicFramePr>
          <p:cNvPr id="24" name="Object 23" descr="50 Ohms.&#10;">
            <a:extLst>
              <a:ext uri="{FF2B5EF4-FFF2-40B4-BE49-F238E27FC236}">
                <a16:creationId xmlns:a16="http://schemas.microsoft.com/office/drawing/2014/main" id="{2F291B67-492D-1118-EC5D-30ECA1BC51B2}"/>
              </a:ext>
            </a:extLst>
          </p:cNvPr>
          <p:cNvGraphicFramePr>
            <a:graphicFrameLocks noChangeAspect="1"/>
          </p:cNvGraphicFramePr>
          <p:nvPr/>
        </p:nvGraphicFramePr>
        <p:xfrm>
          <a:off x="1691598" y="4256846"/>
          <a:ext cx="735312" cy="439496"/>
        </p:xfrm>
        <a:graphic>
          <a:graphicData uri="http://schemas.openxmlformats.org/presentationml/2006/ole">
            <mc:AlternateContent xmlns:mc="http://schemas.openxmlformats.org/markup-compatibility/2006">
              <mc:Choice xmlns:v="urn:schemas-microsoft-com:vml" Requires="v">
                <p:oleObj name="Equation" r:id="rId3" imgW="355320" imgH="203040" progId="Equation.DSMT4">
                  <p:embed/>
                </p:oleObj>
              </mc:Choice>
              <mc:Fallback>
                <p:oleObj name="Equation" r:id="rId3" imgW="355320" imgH="203040" progId="Equation.DSMT4">
                  <p:embed/>
                  <p:pic>
                    <p:nvPicPr>
                      <p:cNvPr id="24" name="Object 23" descr="50 Ohms.&#10;">
                        <a:extLst>
                          <a:ext uri="{FF2B5EF4-FFF2-40B4-BE49-F238E27FC236}">
                            <a16:creationId xmlns:a16="http://schemas.microsoft.com/office/drawing/2014/main" id="{94834F3B-181C-4709-9D80-26B33DF54F0A}"/>
                          </a:ext>
                        </a:extLst>
                      </p:cNvPr>
                      <p:cNvPicPr>
                        <a:picLocks noChangeAspect="1" noChangeArrowheads="1"/>
                      </p:cNvPicPr>
                      <p:nvPr/>
                    </p:nvPicPr>
                    <p:blipFill>
                      <a:blip r:embed="rId4"/>
                      <a:srcRect/>
                      <a:stretch>
                        <a:fillRect/>
                      </a:stretch>
                    </p:blipFill>
                    <p:spPr bwMode="auto">
                      <a:xfrm>
                        <a:off x="1691598" y="4256846"/>
                        <a:ext cx="735312" cy="4394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9C265E92-F3B3-490C-DE7E-41A7A5A3336C}"/>
              </a:ext>
            </a:extLst>
          </p:cNvPr>
          <p:cNvSpPr>
            <a:spLocks noGrp="1"/>
          </p:cNvSpPr>
          <p:nvPr>
            <p:ph sz="quarter" idx="4294967295"/>
          </p:nvPr>
        </p:nvSpPr>
        <p:spPr>
          <a:xfrm>
            <a:off x="1268679" y="4948492"/>
            <a:ext cx="296503"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B.</a:t>
            </a:r>
          </a:p>
        </p:txBody>
      </p:sp>
      <p:graphicFrame>
        <p:nvGraphicFramePr>
          <p:cNvPr id="29" name="Object 28" descr="1 divided by 50 Ohms.&#10;">
            <a:extLst>
              <a:ext uri="{FF2B5EF4-FFF2-40B4-BE49-F238E27FC236}">
                <a16:creationId xmlns:a16="http://schemas.microsoft.com/office/drawing/2014/main" id="{A7B01E91-F01F-C056-FD64-C754E627B7FA}"/>
              </a:ext>
            </a:extLst>
          </p:cNvPr>
          <p:cNvGraphicFramePr>
            <a:graphicFrameLocks noChangeAspect="1"/>
          </p:cNvGraphicFramePr>
          <p:nvPr/>
        </p:nvGraphicFramePr>
        <p:xfrm>
          <a:off x="1687418" y="4941888"/>
          <a:ext cx="1050925" cy="439737"/>
        </p:xfrm>
        <a:graphic>
          <a:graphicData uri="http://schemas.openxmlformats.org/presentationml/2006/ole">
            <mc:AlternateContent xmlns:mc="http://schemas.openxmlformats.org/markup-compatibility/2006">
              <mc:Choice xmlns:v="urn:schemas-microsoft-com:vml" Requires="v">
                <p:oleObj name="Equation" r:id="rId5" imgW="507960" imgH="203040" progId="Equation.DSMT4">
                  <p:embed/>
                </p:oleObj>
              </mc:Choice>
              <mc:Fallback>
                <p:oleObj name="Equation" r:id="rId5" imgW="507960" imgH="203040" progId="Equation.DSMT4">
                  <p:embed/>
                  <p:pic>
                    <p:nvPicPr>
                      <p:cNvPr id="29" name="Object 28" descr="1 divided by 50 Ohms.&#10;">
                        <a:extLst>
                          <a:ext uri="{FF2B5EF4-FFF2-40B4-BE49-F238E27FC236}">
                            <a16:creationId xmlns:a16="http://schemas.microsoft.com/office/drawing/2014/main" id="{85EBF5CE-7E2F-4984-B99A-0602F4F6E217}"/>
                          </a:ext>
                        </a:extLst>
                      </p:cNvPr>
                      <p:cNvPicPr>
                        <a:picLocks noChangeAspect="1" noChangeArrowheads="1"/>
                      </p:cNvPicPr>
                      <p:nvPr/>
                    </p:nvPicPr>
                    <p:blipFill>
                      <a:blip r:embed="rId6"/>
                      <a:srcRect/>
                      <a:stretch>
                        <a:fillRect/>
                      </a:stretch>
                    </p:blipFill>
                    <p:spPr bwMode="auto">
                      <a:xfrm>
                        <a:off x="1687418" y="4941888"/>
                        <a:ext cx="1050925"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D3233F1B-921A-6F46-0B9F-4F4D1D63ED68}"/>
              </a:ext>
            </a:extLst>
          </p:cNvPr>
          <p:cNvSpPr>
            <a:spLocks noGrp="1"/>
          </p:cNvSpPr>
          <p:nvPr>
            <p:ph sz="quarter" idx="4294967295"/>
          </p:nvPr>
        </p:nvSpPr>
        <p:spPr>
          <a:xfrm>
            <a:off x="1246093" y="5585801"/>
            <a:ext cx="319089"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C.</a:t>
            </a:r>
          </a:p>
        </p:txBody>
      </p:sp>
      <p:graphicFrame>
        <p:nvGraphicFramePr>
          <p:cNvPr id="32" name="Object 31" descr="50 milliohms.&#10;">
            <a:extLst>
              <a:ext uri="{FF2B5EF4-FFF2-40B4-BE49-F238E27FC236}">
                <a16:creationId xmlns:a16="http://schemas.microsoft.com/office/drawing/2014/main" id="{6731BBE0-B886-CE38-1946-68E8633D8F86}"/>
              </a:ext>
            </a:extLst>
          </p:cNvPr>
          <p:cNvGraphicFramePr>
            <a:graphicFrameLocks noChangeAspect="1"/>
          </p:cNvGraphicFramePr>
          <p:nvPr/>
        </p:nvGraphicFramePr>
        <p:xfrm>
          <a:off x="1691598" y="5608366"/>
          <a:ext cx="1077913" cy="439737"/>
        </p:xfrm>
        <a:graphic>
          <a:graphicData uri="http://schemas.openxmlformats.org/presentationml/2006/ole">
            <mc:AlternateContent xmlns:mc="http://schemas.openxmlformats.org/markup-compatibility/2006">
              <mc:Choice xmlns:v="urn:schemas-microsoft-com:vml" Requires="v">
                <p:oleObj name="Equation" r:id="rId7" imgW="520560" imgH="203040" progId="Equation.DSMT4">
                  <p:embed/>
                </p:oleObj>
              </mc:Choice>
              <mc:Fallback>
                <p:oleObj name="Equation" r:id="rId7" imgW="520560" imgH="203040" progId="Equation.DSMT4">
                  <p:embed/>
                  <p:pic>
                    <p:nvPicPr>
                      <p:cNvPr id="32" name="Object 31" descr="50 milliohms.&#10;">
                        <a:extLst>
                          <a:ext uri="{FF2B5EF4-FFF2-40B4-BE49-F238E27FC236}">
                            <a16:creationId xmlns:a16="http://schemas.microsoft.com/office/drawing/2014/main" id="{373A55C9-DD37-4F22-8C91-A161746AF06B}"/>
                          </a:ext>
                        </a:extLst>
                      </p:cNvPr>
                      <p:cNvPicPr>
                        <a:picLocks noChangeAspect="1" noChangeArrowheads="1"/>
                      </p:cNvPicPr>
                      <p:nvPr/>
                    </p:nvPicPr>
                    <p:blipFill>
                      <a:blip r:embed="rId8"/>
                      <a:srcRect/>
                      <a:stretch>
                        <a:fillRect/>
                      </a:stretch>
                    </p:blipFill>
                    <p:spPr bwMode="auto">
                      <a:xfrm>
                        <a:off x="1691598" y="5608366"/>
                        <a:ext cx="1077913"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5787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69F04992-211E-4A3A-8962-B0A07D5EE9D8}"/>
              </a:ext>
            </a:extLst>
          </p:cNvPr>
          <p:cNvSpPr>
            <a:spLocks noGrp="1"/>
          </p:cNvSpPr>
          <p:nvPr>
            <p:ph type="title"/>
          </p:nvPr>
        </p:nvSpPr>
        <p:spPr>
          <a:xfrm>
            <a:off x="399450" y="166742"/>
            <a:ext cx="8271475" cy="1021237"/>
          </a:xfrm>
        </p:spPr>
        <p:txBody>
          <a:bodyPr wrap="square" lIns="0" tIns="18000" rIns="0" bIns="18000" anchor="ctr">
            <a:spAutoFit/>
          </a:bodyPr>
          <a:lstStyle/>
          <a:p>
            <a:r>
              <a:rPr lang="en-US" noProof="0" dirty="0"/>
              <a:t>Chapter 3 – Simple resistive circuits </a:t>
            </a:r>
            <a:r>
              <a:rPr lang="en-US" sz="2800" noProof="0" dirty="0"/>
              <a:t>(7 of 22)</a:t>
            </a:r>
          </a:p>
        </p:txBody>
      </p:sp>
      <p:sp>
        <p:nvSpPr>
          <p:cNvPr id="3" name="Content Placeholder 2">
            <a:extLst>
              <a:ext uri="{FF2B5EF4-FFF2-40B4-BE49-F238E27FC236}">
                <a16:creationId xmlns:a16="http://schemas.microsoft.com/office/drawing/2014/main" id="{B8539098-B6F4-4AFF-9F87-0B5F1C9B5EF9}"/>
              </a:ext>
            </a:extLst>
          </p:cNvPr>
          <p:cNvSpPr>
            <a:spLocks noGrp="1"/>
          </p:cNvSpPr>
          <p:nvPr>
            <p:ph sz="quarter" idx="4294967295"/>
          </p:nvPr>
        </p:nvSpPr>
        <p:spPr>
          <a:xfrm>
            <a:off x="428647" y="1390492"/>
            <a:ext cx="8258153" cy="775015"/>
          </a:xfrm>
        </p:spPr>
        <p:txBody>
          <a:bodyPr wrap="square" lIns="0" tIns="18000" rIns="0" bIns="18000" anchor="ctr" anchorCtr="0">
            <a:spAutoFit/>
          </a:bodyPr>
          <a:lstStyle/>
          <a:p>
            <a:pPr marL="0" indent="0">
              <a:buNone/>
            </a:pPr>
            <a:r>
              <a:rPr lang="en-US" altLang="en-US" sz="2400" noProof="0" dirty="0">
                <a:latin typeface="Arial" panose="020B0604020202020204" pitchFamily="34" charset="0"/>
                <a:cs typeface="Arial" panose="020B0604020202020204" pitchFamily="34" charset="0"/>
              </a:rPr>
              <a:t>If a </a:t>
            </a:r>
            <a:r>
              <a:rPr lang="en-US" altLang="en-US" sz="2400" noProof="0" dirty="0" err="1">
                <a:latin typeface="Arial" panose="020B0604020202020204" pitchFamily="34" charset="0"/>
                <a:cs typeface="Arial" panose="020B0604020202020204" pitchFamily="34" charset="0"/>
              </a:rPr>
              <a:t>d’Arsonval</a:t>
            </a:r>
            <a:r>
              <a:rPr lang="en-US" altLang="en-US" sz="2400" noProof="0" dirty="0">
                <a:latin typeface="Arial" panose="020B0604020202020204" pitchFamily="34" charset="0"/>
                <a:cs typeface="Arial" panose="020B0604020202020204" pitchFamily="34" charset="0"/>
              </a:rPr>
              <a:t> meter movement is rated 50 m</a:t>
            </a:r>
            <a:r>
              <a:rPr lang="en-US" altLang="en-US" sz="100" noProof="0" dirty="0">
                <a:latin typeface="Arial" panose="020B0604020202020204" pitchFamily="34" charset="0"/>
                <a:cs typeface="Arial" panose="020B0604020202020204" pitchFamily="34" charset="0"/>
              </a:rPr>
              <a:t> </a:t>
            </a:r>
            <a:r>
              <a:rPr lang="en-US" altLang="en-US" sz="2400" noProof="0" dirty="0">
                <a:latin typeface="Arial" panose="020B0604020202020204" pitchFamily="34" charset="0"/>
                <a:cs typeface="Arial" panose="020B0604020202020204" pitchFamily="34" charset="0"/>
              </a:rPr>
              <a:t>V and 1 m</a:t>
            </a:r>
            <a:r>
              <a:rPr lang="en-US" altLang="en-US" sz="100" noProof="0" dirty="0">
                <a:latin typeface="Arial" panose="020B0604020202020204" pitchFamily="34" charset="0"/>
                <a:cs typeface="Arial" panose="020B0604020202020204" pitchFamily="34" charset="0"/>
              </a:rPr>
              <a:t> </a:t>
            </a:r>
            <a:r>
              <a:rPr lang="en-US" altLang="en-US" sz="2400" noProof="0" dirty="0">
                <a:latin typeface="Arial" panose="020B0604020202020204" pitchFamily="34" charset="0"/>
                <a:cs typeface="Arial" panose="020B0604020202020204" pitchFamily="34" charset="0"/>
              </a:rPr>
              <a:t>A, what is its resistance?</a:t>
            </a:r>
          </a:p>
        </p:txBody>
      </p:sp>
      <p:pic>
        <p:nvPicPr>
          <p:cNvPr id="16" name="Picture 3"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C5C0E79B-D734-407D-A5C4-A09484E6A30F}"/>
              </a:ext>
            </a:extLst>
          </p:cNvPr>
          <p:cNvPicPr>
            <a:picLocks noChangeAspect="1" noChangeArrowheads="1"/>
          </p:cNvPicPr>
          <p:nvPr/>
        </p:nvPicPr>
        <p:blipFill>
          <a:blip r:embed="rId2"/>
          <a:srcRect/>
          <a:stretch/>
        </p:blipFill>
        <p:spPr bwMode="auto">
          <a:xfrm>
            <a:off x="3008567" y="2441423"/>
            <a:ext cx="3204020" cy="1486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2" descr="Check mark">
            <a:extLst>
              <a:ext uri="{FF2B5EF4-FFF2-40B4-BE49-F238E27FC236}">
                <a16:creationId xmlns:a16="http://schemas.microsoft.com/office/drawing/2014/main" id="{9F37FC3B-AFEB-46CA-8264-1F4C6354CD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949" y="4308997"/>
            <a:ext cx="373347" cy="327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8A54591E-7A71-411C-A003-592D9592536E}"/>
              </a:ext>
            </a:extLst>
          </p:cNvPr>
          <p:cNvSpPr>
            <a:spLocks noGrp="1"/>
          </p:cNvSpPr>
          <p:nvPr>
            <p:ph sz="quarter" idx="4294967295"/>
          </p:nvPr>
        </p:nvSpPr>
        <p:spPr>
          <a:xfrm>
            <a:off x="1264388" y="4247435"/>
            <a:ext cx="300794"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A.</a:t>
            </a:r>
          </a:p>
        </p:txBody>
      </p:sp>
      <p:graphicFrame>
        <p:nvGraphicFramePr>
          <p:cNvPr id="24" name="Object 23" descr="50 Ohms.&#10;">
            <a:extLst>
              <a:ext uri="{FF2B5EF4-FFF2-40B4-BE49-F238E27FC236}">
                <a16:creationId xmlns:a16="http://schemas.microsoft.com/office/drawing/2014/main" id="{94834F3B-181C-4709-9D80-26B33DF54F0A}"/>
              </a:ext>
            </a:extLst>
          </p:cNvPr>
          <p:cNvGraphicFramePr>
            <a:graphicFrameLocks noChangeAspect="1"/>
          </p:cNvGraphicFramePr>
          <p:nvPr>
            <p:extLst>
              <p:ext uri="{D42A27DB-BD31-4B8C-83A1-F6EECF244321}">
                <p14:modId xmlns:p14="http://schemas.microsoft.com/office/powerpoint/2010/main" val="530303808"/>
              </p:ext>
            </p:extLst>
          </p:nvPr>
        </p:nvGraphicFramePr>
        <p:xfrm>
          <a:off x="1691598" y="4256846"/>
          <a:ext cx="735312" cy="439496"/>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20" name="Object 19" descr="S subscript 0 colon">
                        <a:extLst>
                          <a:ext uri="{FF2B5EF4-FFF2-40B4-BE49-F238E27FC236}">
                            <a16:creationId xmlns:a16="http://schemas.microsoft.com/office/drawing/2014/main" id="{50DD4347-58D3-41BA-A816-C3ECDE341492}"/>
                          </a:ext>
                        </a:extLst>
                      </p:cNvPr>
                      <p:cNvPicPr>
                        <a:picLocks noChangeAspect="1" noChangeArrowheads="1"/>
                      </p:cNvPicPr>
                      <p:nvPr/>
                    </p:nvPicPr>
                    <p:blipFill>
                      <a:blip r:embed="rId5"/>
                      <a:srcRect/>
                      <a:stretch>
                        <a:fillRect/>
                      </a:stretch>
                    </p:blipFill>
                    <p:spPr bwMode="auto">
                      <a:xfrm>
                        <a:off x="1691598" y="4256846"/>
                        <a:ext cx="735312" cy="4394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2" name="Picture 3" descr="Cross mark">
            <a:extLst>
              <a:ext uri="{FF2B5EF4-FFF2-40B4-BE49-F238E27FC236}">
                <a16:creationId xmlns:a16="http://schemas.microsoft.com/office/drawing/2014/main" id="{B2866BAC-172F-4C28-9E55-20A1CCFBF0A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0413" y="4991532"/>
            <a:ext cx="341791" cy="313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F97D3674-3968-466F-B3F4-26A7BC3C0AAF}"/>
              </a:ext>
            </a:extLst>
          </p:cNvPr>
          <p:cNvSpPr>
            <a:spLocks noGrp="1"/>
          </p:cNvSpPr>
          <p:nvPr>
            <p:ph sz="quarter" idx="4294967295"/>
          </p:nvPr>
        </p:nvSpPr>
        <p:spPr>
          <a:xfrm>
            <a:off x="1268679" y="4948492"/>
            <a:ext cx="296503"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B.</a:t>
            </a:r>
          </a:p>
        </p:txBody>
      </p:sp>
      <p:graphicFrame>
        <p:nvGraphicFramePr>
          <p:cNvPr id="29" name="Object 28" descr="1 divided by 50 Ohms.&#10;">
            <a:extLst>
              <a:ext uri="{FF2B5EF4-FFF2-40B4-BE49-F238E27FC236}">
                <a16:creationId xmlns:a16="http://schemas.microsoft.com/office/drawing/2014/main" id="{85EBF5CE-7E2F-4984-B99A-0602F4F6E217}"/>
              </a:ext>
            </a:extLst>
          </p:cNvPr>
          <p:cNvGraphicFramePr>
            <a:graphicFrameLocks noChangeAspect="1"/>
          </p:cNvGraphicFramePr>
          <p:nvPr>
            <p:extLst>
              <p:ext uri="{D42A27DB-BD31-4B8C-83A1-F6EECF244321}">
                <p14:modId xmlns:p14="http://schemas.microsoft.com/office/powerpoint/2010/main" val="1032687967"/>
              </p:ext>
            </p:extLst>
          </p:nvPr>
        </p:nvGraphicFramePr>
        <p:xfrm>
          <a:off x="1687418" y="4941888"/>
          <a:ext cx="1050925" cy="439737"/>
        </p:xfrm>
        <a:graphic>
          <a:graphicData uri="http://schemas.openxmlformats.org/presentationml/2006/ole">
            <mc:AlternateContent xmlns:mc="http://schemas.openxmlformats.org/markup-compatibility/2006">
              <mc:Choice xmlns:v="urn:schemas-microsoft-com:vml" Requires="v">
                <p:oleObj name="Equation" r:id="rId7" imgW="507960" imgH="203040" progId="Equation.DSMT4">
                  <p:embed/>
                </p:oleObj>
              </mc:Choice>
              <mc:Fallback>
                <p:oleObj name="Equation" r:id="rId7" imgW="507960" imgH="203040" progId="Equation.DSMT4">
                  <p:embed/>
                  <p:pic>
                    <p:nvPicPr>
                      <p:cNvPr id="24" name="Object 23" descr="S subscript 0 colon">
                        <a:extLst>
                          <a:ext uri="{FF2B5EF4-FFF2-40B4-BE49-F238E27FC236}">
                            <a16:creationId xmlns:a16="http://schemas.microsoft.com/office/drawing/2014/main" id="{94834F3B-181C-4709-9D80-26B33DF54F0A}"/>
                          </a:ext>
                        </a:extLst>
                      </p:cNvPr>
                      <p:cNvPicPr>
                        <a:picLocks noChangeAspect="1" noChangeArrowheads="1"/>
                      </p:cNvPicPr>
                      <p:nvPr/>
                    </p:nvPicPr>
                    <p:blipFill>
                      <a:blip r:embed="rId8"/>
                      <a:srcRect/>
                      <a:stretch>
                        <a:fillRect/>
                      </a:stretch>
                    </p:blipFill>
                    <p:spPr bwMode="auto">
                      <a:xfrm>
                        <a:off x="1687418" y="4941888"/>
                        <a:ext cx="1050925"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3" descr="Cross mark">
            <a:extLst>
              <a:ext uri="{FF2B5EF4-FFF2-40B4-BE49-F238E27FC236}">
                <a16:creationId xmlns:a16="http://schemas.microsoft.com/office/drawing/2014/main" id="{2DDFD66D-4B04-4B5F-A5B3-376F4B95380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5813" y="5601132"/>
            <a:ext cx="341791" cy="313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6C4DBC90-75E4-4A04-8988-BCB7A90ACADA}"/>
              </a:ext>
            </a:extLst>
          </p:cNvPr>
          <p:cNvSpPr>
            <a:spLocks noGrp="1"/>
          </p:cNvSpPr>
          <p:nvPr>
            <p:ph sz="quarter" idx="4294967295"/>
          </p:nvPr>
        </p:nvSpPr>
        <p:spPr>
          <a:xfrm>
            <a:off x="1246093" y="5585801"/>
            <a:ext cx="319089"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C.</a:t>
            </a:r>
          </a:p>
        </p:txBody>
      </p:sp>
      <p:graphicFrame>
        <p:nvGraphicFramePr>
          <p:cNvPr id="32" name="Object 31" descr="50 milliohms.&#10;">
            <a:extLst>
              <a:ext uri="{FF2B5EF4-FFF2-40B4-BE49-F238E27FC236}">
                <a16:creationId xmlns:a16="http://schemas.microsoft.com/office/drawing/2014/main" id="{373A55C9-DD37-4F22-8C91-A161746AF06B}"/>
              </a:ext>
            </a:extLst>
          </p:cNvPr>
          <p:cNvGraphicFramePr>
            <a:graphicFrameLocks noChangeAspect="1"/>
          </p:cNvGraphicFramePr>
          <p:nvPr>
            <p:extLst>
              <p:ext uri="{D42A27DB-BD31-4B8C-83A1-F6EECF244321}">
                <p14:modId xmlns:p14="http://schemas.microsoft.com/office/powerpoint/2010/main" val="94229320"/>
              </p:ext>
            </p:extLst>
          </p:nvPr>
        </p:nvGraphicFramePr>
        <p:xfrm>
          <a:off x="1691598" y="5608366"/>
          <a:ext cx="1077913" cy="439737"/>
        </p:xfrm>
        <a:graphic>
          <a:graphicData uri="http://schemas.openxmlformats.org/presentationml/2006/ole">
            <mc:AlternateContent xmlns:mc="http://schemas.openxmlformats.org/markup-compatibility/2006">
              <mc:Choice xmlns:v="urn:schemas-microsoft-com:vml" Requires="v">
                <p:oleObj name="Equation" r:id="rId9" imgW="520560" imgH="203040" progId="Equation.DSMT4">
                  <p:embed/>
                </p:oleObj>
              </mc:Choice>
              <mc:Fallback>
                <p:oleObj name="Equation" r:id="rId9" imgW="520560" imgH="203040" progId="Equation.DSMT4">
                  <p:embed/>
                  <p:pic>
                    <p:nvPicPr>
                      <p:cNvPr id="29" name="Object 28" descr="S subscript 0 colon">
                        <a:extLst>
                          <a:ext uri="{FF2B5EF4-FFF2-40B4-BE49-F238E27FC236}">
                            <a16:creationId xmlns:a16="http://schemas.microsoft.com/office/drawing/2014/main" id="{85EBF5CE-7E2F-4984-B99A-0602F4F6E217}"/>
                          </a:ext>
                        </a:extLst>
                      </p:cNvPr>
                      <p:cNvPicPr>
                        <a:picLocks noChangeAspect="1" noChangeArrowheads="1"/>
                      </p:cNvPicPr>
                      <p:nvPr/>
                    </p:nvPicPr>
                    <p:blipFill>
                      <a:blip r:embed="rId10"/>
                      <a:srcRect/>
                      <a:stretch>
                        <a:fillRect/>
                      </a:stretch>
                    </p:blipFill>
                    <p:spPr bwMode="auto">
                      <a:xfrm>
                        <a:off x="1691598" y="5608366"/>
                        <a:ext cx="1077913"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18714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B262E16E-9569-4D9F-AFD9-0195E7482464}"/>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(8 of 22)</a:t>
            </a:r>
          </a:p>
        </p:txBody>
      </p:sp>
      <p:sp>
        <p:nvSpPr>
          <p:cNvPr id="3" name="Content Placeholder 2">
            <a:extLst>
              <a:ext uri="{FF2B5EF4-FFF2-40B4-BE49-F238E27FC236}">
                <a16:creationId xmlns:a16="http://schemas.microsoft.com/office/drawing/2014/main" id="{435D42ED-5AC8-4899-851F-6794117881B0}"/>
              </a:ext>
            </a:extLst>
          </p:cNvPr>
          <p:cNvSpPr>
            <a:spLocks noGrp="1"/>
          </p:cNvSpPr>
          <p:nvPr>
            <p:ph sz="quarter" idx="4294967295"/>
          </p:nvPr>
        </p:nvSpPr>
        <p:spPr>
          <a:xfrm>
            <a:off x="441347" y="1387766"/>
            <a:ext cx="8229578" cy="775015"/>
          </a:xfrm>
        </p:spPr>
        <p:txBody>
          <a:bodyPr wrap="square" lIns="0" tIns="18000" rIns="0" bIns="18000" anchor="ctr" anchorCtr="0">
            <a:spAutoFit/>
          </a:bodyPr>
          <a:lstStyle/>
          <a:p>
            <a:pPr marL="0" indent="0">
              <a:buNone/>
            </a:pPr>
            <a:r>
              <a:rPr lang="en-US" altLang="en-US" sz="2400" noProof="0" dirty="0">
                <a:latin typeface="Arial" panose="020B0604020202020204" pitchFamily="34" charset="0"/>
                <a:cs typeface="Arial" panose="020B0604020202020204" pitchFamily="34" charset="0"/>
              </a:rPr>
              <a:t>To find the effective resistance of the ammeter, combine the  </a:t>
            </a:r>
            <a:r>
              <a:rPr lang="en-US" altLang="en-US" sz="2400" spc="-300" noProof="0" dirty="0">
                <a:latin typeface="Arial" panose="020B0604020202020204" pitchFamily="34" charset="0"/>
                <a:cs typeface="Arial" panose="020B0604020202020204" pitchFamily="34" charset="0"/>
              </a:rPr>
              <a:t>R </a:t>
            </a:r>
            <a:r>
              <a:rPr lang="en-US" altLang="en-US" sz="2400" noProof="0" dirty="0">
                <a:latin typeface="Arial" panose="020B0604020202020204" pitchFamily="34" charset="0"/>
                <a:cs typeface="Arial" panose="020B0604020202020204" pitchFamily="34" charset="0"/>
              </a:rPr>
              <a:t>A resistance and the </a:t>
            </a:r>
            <a:r>
              <a:rPr lang="en-US" altLang="en-US" sz="2400" noProof="0" dirty="0" err="1">
                <a:latin typeface="Arial" panose="020B0604020202020204" pitchFamily="34" charset="0"/>
                <a:cs typeface="Arial" panose="020B0604020202020204" pitchFamily="34" charset="0"/>
              </a:rPr>
              <a:t>d’Arsonval</a:t>
            </a:r>
            <a:r>
              <a:rPr lang="en-US" altLang="en-US" sz="2400" noProof="0" dirty="0">
                <a:latin typeface="Arial" panose="020B0604020202020204" pitchFamily="34" charset="0"/>
                <a:cs typeface="Arial" panose="020B0604020202020204" pitchFamily="34" charset="0"/>
              </a:rPr>
              <a:t> movement resistance in</a:t>
            </a:r>
          </a:p>
        </p:txBody>
      </p:sp>
      <p:pic>
        <p:nvPicPr>
          <p:cNvPr id="26" name="Picture 25"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F118467F-E55F-1611-9A3F-7E176D78B049}"/>
              </a:ext>
            </a:extLst>
          </p:cNvPr>
          <p:cNvPicPr>
            <a:picLocks noChangeAspect="1"/>
          </p:cNvPicPr>
          <p:nvPr/>
        </p:nvPicPr>
        <p:blipFill>
          <a:blip r:embed="rId2"/>
          <a:srcRect/>
          <a:stretch/>
        </p:blipFill>
        <p:spPr>
          <a:xfrm>
            <a:off x="2787399" y="2428862"/>
            <a:ext cx="3646679" cy="1691355"/>
          </a:xfrm>
          <a:prstGeom prst="rect">
            <a:avLst/>
          </a:prstGeom>
        </p:spPr>
      </p:pic>
      <p:sp>
        <p:nvSpPr>
          <p:cNvPr id="4" name="Content Placeholder 3">
            <a:extLst>
              <a:ext uri="{FF2B5EF4-FFF2-40B4-BE49-F238E27FC236}">
                <a16:creationId xmlns:a16="http://schemas.microsoft.com/office/drawing/2014/main" id="{4B78ECBC-FEAA-4BCE-9AEB-A8FF3D4247ED}"/>
              </a:ext>
            </a:extLst>
          </p:cNvPr>
          <p:cNvSpPr>
            <a:spLocks noGrp="1"/>
          </p:cNvSpPr>
          <p:nvPr>
            <p:ph sz="quarter" idx="4294967295"/>
          </p:nvPr>
        </p:nvSpPr>
        <p:spPr>
          <a:xfrm>
            <a:off x="1240967" y="4321188"/>
            <a:ext cx="1352922" cy="405683"/>
          </a:xfrm>
        </p:spPr>
        <p:txBody>
          <a:bodyPr wrap="square" lIns="0" tIns="18000" rIns="0" bIns="18000" anchor="ctr" anchorCtr="0">
            <a:spAutoFit/>
          </a:bodyPr>
          <a:lstStyle/>
          <a:p>
            <a:pPr marL="0" indent="0">
              <a:buNone/>
            </a:pPr>
            <a:r>
              <a:rPr lang="en-US" sz="2400" cap="small" noProof="0" dirty="0">
                <a:solidFill>
                  <a:srgbClr val="007FA3"/>
                </a:solidFill>
                <a:latin typeface="Arial" panose="020B0604020202020204" pitchFamily="34" charset="0"/>
                <a:cs typeface="Arial" panose="020B0604020202020204" pitchFamily="34" charset="0"/>
              </a:rPr>
              <a:t>A.</a:t>
            </a:r>
            <a:r>
              <a:rPr lang="en-US" sz="2400" noProof="0" dirty="0">
                <a:latin typeface="Arial" panose="020B0604020202020204" pitchFamily="34" charset="0"/>
                <a:cs typeface="Arial" panose="020B0604020202020204" pitchFamily="34" charset="0"/>
              </a:rPr>
              <a:t> series </a:t>
            </a:r>
          </a:p>
        </p:txBody>
      </p:sp>
      <p:sp>
        <p:nvSpPr>
          <p:cNvPr id="5" name="Content Placeholder 4">
            <a:extLst>
              <a:ext uri="{FF2B5EF4-FFF2-40B4-BE49-F238E27FC236}">
                <a16:creationId xmlns:a16="http://schemas.microsoft.com/office/drawing/2014/main" id="{599DB3EB-EF0A-45B6-ADE5-7059AD004A42}"/>
              </a:ext>
            </a:extLst>
          </p:cNvPr>
          <p:cNvSpPr>
            <a:spLocks noGrp="1"/>
          </p:cNvSpPr>
          <p:nvPr>
            <p:ph sz="quarter" idx="4294967295"/>
          </p:nvPr>
        </p:nvSpPr>
        <p:spPr>
          <a:xfrm>
            <a:off x="1221332" y="4870321"/>
            <a:ext cx="1614695" cy="405683"/>
          </a:xfrm>
        </p:spPr>
        <p:txBody>
          <a:bodyPr wrap="square" lIns="0" tIns="18000" rIns="0" bIns="18000" anchor="ctr" anchorCtr="0">
            <a:spAutoFit/>
          </a:bodyPr>
          <a:lstStyle/>
          <a:p>
            <a:pPr marL="0" indent="0">
              <a:buNone/>
              <a:defRPr/>
            </a:pPr>
            <a:r>
              <a:rPr lang="en-US" sz="2400" noProof="0" dirty="0">
                <a:solidFill>
                  <a:srgbClr val="007FA3"/>
                </a:solidFill>
                <a:latin typeface="Arial" panose="020B0604020202020204" pitchFamily="34" charset="0"/>
                <a:cs typeface="Arial" panose="020B0604020202020204" pitchFamily="34" charset="0"/>
              </a:rPr>
              <a:t>B.</a:t>
            </a:r>
            <a:r>
              <a:rPr lang="en-US" sz="2400" noProof="0" dirty="0">
                <a:latin typeface="Arial" panose="020B0604020202020204" pitchFamily="34" charset="0"/>
                <a:cs typeface="Arial" panose="020B0604020202020204" pitchFamily="34" charset="0"/>
              </a:rPr>
              <a:t> parallel</a:t>
            </a:r>
          </a:p>
        </p:txBody>
      </p:sp>
      <p:sp>
        <p:nvSpPr>
          <p:cNvPr id="6" name="Content Placeholder 5">
            <a:extLst>
              <a:ext uri="{FF2B5EF4-FFF2-40B4-BE49-F238E27FC236}">
                <a16:creationId xmlns:a16="http://schemas.microsoft.com/office/drawing/2014/main" id="{77DC01F4-CC1F-4767-99F6-9710CCB8ECA9}"/>
              </a:ext>
            </a:extLst>
          </p:cNvPr>
          <p:cNvSpPr>
            <a:spLocks noGrp="1"/>
          </p:cNvSpPr>
          <p:nvPr>
            <p:ph sz="quarter" idx="4294967295"/>
          </p:nvPr>
        </p:nvSpPr>
        <p:spPr>
          <a:xfrm>
            <a:off x="1223463" y="5520208"/>
            <a:ext cx="6871698"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C.</a:t>
            </a:r>
            <a:r>
              <a:rPr lang="en-US" sz="2400" noProof="0" dirty="0">
                <a:latin typeface="Arial" panose="020B0604020202020204" pitchFamily="34" charset="0"/>
                <a:cs typeface="Arial" panose="020B0604020202020204" pitchFamily="34" charset="0"/>
              </a:rPr>
              <a:t> These resistances cannot be combined</a:t>
            </a:r>
          </a:p>
        </p:txBody>
      </p:sp>
    </p:spTree>
    <p:extLst>
      <p:ext uri="{BB962C8B-B14F-4D97-AF65-F5344CB8AC3E}">
        <p14:creationId xmlns:p14="http://schemas.microsoft.com/office/powerpoint/2010/main" val="586295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32A11-DAC9-E326-774A-43222AEDB66B}"/>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B36EF67B-986E-E1EA-E9C9-E6A1FCD9316A}"/>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(8 of 22)</a:t>
            </a:r>
          </a:p>
        </p:txBody>
      </p:sp>
      <p:sp>
        <p:nvSpPr>
          <p:cNvPr id="3" name="Content Placeholder 2">
            <a:extLst>
              <a:ext uri="{FF2B5EF4-FFF2-40B4-BE49-F238E27FC236}">
                <a16:creationId xmlns:a16="http://schemas.microsoft.com/office/drawing/2014/main" id="{9F353958-9354-5744-BACE-5605DBE7336A}"/>
              </a:ext>
            </a:extLst>
          </p:cNvPr>
          <p:cNvSpPr>
            <a:spLocks noGrp="1"/>
          </p:cNvSpPr>
          <p:nvPr>
            <p:ph sz="quarter" idx="4294967295"/>
          </p:nvPr>
        </p:nvSpPr>
        <p:spPr>
          <a:xfrm>
            <a:off x="441347" y="1387766"/>
            <a:ext cx="8229578" cy="775015"/>
          </a:xfrm>
        </p:spPr>
        <p:txBody>
          <a:bodyPr wrap="square" lIns="0" tIns="18000" rIns="0" bIns="18000" anchor="ctr" anchorCtr="0">
            <a:spAutoFit/>
          </a:bodyPr>
          <a:lstStyle/>
          <a:p>
            <a:pPr marL="0" indent="0">
              <a:buNone/>
            </a:pPr>
            <a:r>
              <a:rPr lang="en-US" altLang="en-US" sz="2400" noProof="0" dirty="0">
                <a:latin typeface="Arial" panose="020B0604020202020204" pitchFamily="34" charset="0"/>
                <a:cs typeface="Arial" panose="020B0604020202020204" pitchFamily="34" charset="0"/>
              </a:rPr>
              <a:t>To find the effective resistance of the ammeter, combine the  </a:t>
            </a:r>
            <a:r>
              <a:rPr lang="en-US" altLang="en-US" sz="2400" spc="-300" noProof="0" dirty="0">
                <a:latin typeface="Arial" panose="020B0604020202020204" pitchFamily="34" charset="0"/>
                <a:cs typeface="Arial" panose="020B0604020202020204" pitchFamily="34" charset="0"/>
              </a:rPr>
              <a:t>R </a:t>
            </a:r>
            <a:r>
              <a:rPr lang="en-US" altLang="en-US" sz="2400" noProof="0" dirty="0">
                <a:latin typeface="Arial" panose="020B0604020202020204" pitchFamily="34" charset="0"/>
                <a:cs typeface="Arial" panose="020B0604020202020204" pitchFamily="34" charset="0"/>
              </a:rPr>
              <a:t>A resistance and the </a:t>
            </a:r>
            <a:r>
              <a:rPr lang="en-US" altLang="en-US" sz="2400" noProof="0" dirty="0" err="1">
                <a:latin typeface="Arial" panose="020B0604020202020204" pitchFamily="34" charset="0"/>
                <a:cs typeface="Arial" panose="020B0604020202020204" pitchFamily="34" charset="0"/>
              </a:rPr>
              <a:t>d’Arsonval</a:t>
            </a:r>
            <a:r>
              <a:rPr lang="en-US" altLang="en-US" sz="2400" noProof="0" dirty="0">
                <a:latin typeface="Arial" panose="020B0604020202020204" pitchFamily="34" charset="0"/>
                <a:cs typeface="Arial" panose="020B0604020202020204" pitchFamily="34" charset="0"/>
              </a:rPr>
              <a:t> movement resistance in</a:t>
            </a:r>
          </a:p>
        </p:txBody>
      </p:sp>
      <p:pic>
        <p:nvPicPr>
          <p:cNvPr id="26" name="Picture 25"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7E9060E1-EF24-7D12-C9AC-15313A4E2183}"/>
              </a:ext>
            </a:extLst>
          </p:cNvPr>
          <p:cNvPicPr>
            <a:picLocks noChangeAspect="1"/>
          </p:cNvPicPr>
          <p:nvPr/>
        </p:nvPicPr>
        <p:blipFill>
          <a:blip r:embed="rId2"/>
          <a:srcRect/>
          <a:stretch/>
        </p:blipFill>
        <p:spPr>
          <a:xfrm>
            <a:off x="2787399" y="2428862"/>
            <a:ext cx="3646679" cy="1691355"/>
          </a:xfrm>
          <a:prstGeom prst="rect">
            <a:avLst/>
          </a:prstGeom>
        </p:spPr>
      </p:pic>
      <p:pic>
        <p:nvPicPr>
          <p:cNvPr id="13" name="Picture 3" descr="Cross mark">
            <a:extLst>
              <a:ext uri="{FF2B5EF4-FFF2-40B4-BE49-F238E27FC236}">
                <a16:creationId xmlns:a16="http://schemas.microsoft.com/office/drawing/2014/main" id="{96B66ECD-C8EA-4DC1-1D92-51FE44379B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077" y="4379059"/>
            <a:ext cx="341791" cy="313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2DD74057-9872-DB56-28EA-42B35FAB86FC}"/>
              </a:ext>
            </a:extLst>
          </p:cNvPr>
          <p:cNvSpPr>
            <a:spLocks noGrp="1"/>
          </p:cNvSpPr>
          <p:nvPr>
            <p:ph sz="quarter" idx="4294967295"/>
          </p:nvPr>
        </p:nvSpPr>
        <p:spPr>
          <a:xfrm>
            <a:off x="1240967" y="4321188"/>
            <a:ext cx="1352922" cy="405683"/>
          </a:xfrm>
        </p:spPr>
        <p:txBody>
          <a:bodyPr wrap="square" lIns="0" tIns="18000" rIns="0" bIns="18000" anchor="ctr" anchorCtr="0">
            <a:spAutoFit/>
          </a:bodyPr>
          <a:lstStyle/>
          <a:p>
            <a:pPr marL="0" indent="0">
              <a:buNone/>
            </a:pPr>
            <a:r>
              <a:rPr lang="en-US" sz="2400" cap="small" noProof="0" dirty="0">
                <a:solidFill>
                  <a:srgbClr val="007FA3"/>
                </a:solidFill>
                <a:latin typeface="Arial" panose="020B0604020202020204" pitchFamily="34" charset="0"/>
                <a:cs typeface="Arial" panose="020B0604020202020204" pitchFamily="34" charset="0"/>
              </a:rPr>
              <a:t>A.</a:t>
            </a:r>
            <a:r>
              <a:rPr lang="en-US" sz="2400" noProof="0" dirty="0">
                <a:latin typeface="Arial" panose="020B0604020202020204" pitchFamily="34" charset="0"/>
                <a:cs typeface="Arial" panose="020B0604020202020204" pitchFamily="34" charset="0"/>
              </a:rPr>
              <a:t> series </a:t>
            </a:r>
          </a:p>
        </p:txBody>
      </p:sp>
      <p:pic>
        <p:nvPicPr>
          <p:cNvPr id="12" name="Picture 2" descr="Check mark">
            <a:extLst>
              <a:ext uri="{FF2B5EF4-FFF2-40B4-BE49-F238E27FC236}">
                <a16:creationId xmlns:a16="http://schemas.microsoft.com/office/drawing/2014/main" id="{4C388087-E2E8-349C-E8B1-5EB6BC753E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239" y="4904211"/>
            <a:ext cx="373347" cy="327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4E6CB6D0-96AA-36C2-8F2B-4F7C4A0BCB72}"/>
              </a:ext>
            </a:extLst>
          </p:cNvPr>
          <p:cNvSpPr>
            <a:spLocks noGrp="1"/>
          </p:cNvSpPr>
          <p:nvPr>
            <p:ph sz="quarter" idx="4294967295"/>
          </p:nvPr>
        </p:nvSpPr>
        <p:spPr>
          <a:xfrm>
            <a:off x="1221332" y="4870321"/>
            <a:ext cx="1614695" cy="405683"/>
          </a:xfrm>
        </p:spPr>
        <p:txBody>
          <a:bodyPr wrap="square" lIns="0" tIns="18000" rIns="0" bIns="18000" anchor="ctr" anchorCtr="0">
            <a:spAutoFit/>
          </a:bodyPr>
          <a:lstStyle/>
          <a:p>
            <a:pPr marL="0" indent="0">
              <a:buNone/>
              <a:defRPr/>
            </a:pPr>
            <a:r>
              <a:rPr lang="en-US" sz="2400" noProof="0" dirty="0">
                <a:solidFill>
                  <a:srgbClr val="007FA3"/>
                </a:solidFill>
                <a:latin typeface="Arial" panose="020B0604020202020204" pitchFamily="34" charset="0"/>
                <a:cs typeface="Arial" panose="020B0604020202020204" pitchFamily="34" charset="0"/>
              </a:rPr>
              <a:t>B.</a:t>
            </a:r>
            <a:r>
              <a:rPr lang="en-US" sz="2400" noProof="0" dirty="0">
                <a:latin typeface="Arial" panose="020B0604020202020204" pitchFamily="34" charset="0"/>
                <a:cs typeface="Arial" panose="020B0604020202020204" pitchFamily="34" charset="0"/>
              </a:rPr>
              <a:t> parallel</a:t>
            </a:r>
          </a:p>
        </p:txBody>
      </p:sp>
      <p:pic>
        <p:nvPicPr>
          <p:cNvPr id="14" name="Picture 3" descr="Cross mark">
            <a:extLst>
              <a:ext uri="{FF2B5EF4-FFF2-40B4-BE49-F238E27FC236}">
                <a16:creationId xmlns:a16="http://schemas.microsoft.com/office/drawing/2014/main" id="{255BCFF0-6B57-0ADF-BAB5-8541FDCFE4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079" y="5569498"/>
            <a:ext cx="341791" cy="313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CF576034-903E-4974-7BDB-D19633247902}"/>
              </a:ext>
            </a:extLst>
          </p:cNvPr>
          <p:cNvSpPr>
            <a:spLocks noGrp="1"/>
          </p:cNvSpPr>
          <p:nvPr>
            <p:ph sz="quarter" idx="4294967295"/>
          </p:nvPr>
        </p:nvSpPr>
        <p:spPr>
          <a:xfrm>
            <a:off x="1223463" y="5520208"/>
            <a:ext cx="6871698" cy="405683"/>
          </a:xfrm>
        </p:spPr>
        <p:txBody>
          <a:bodyPr wrap="square" lIns="0" tIns="18000" rIns="0" bIns="18000" anchor="ctr" anchorCtr="0">
            <a:spAutoFit/>
          </a:bodyPr>
          <a:lstStyle/>
          <a:p>
            <a:pPr marL="0" indent="0">
              <a:buNone/>
            </a:pPr>
            <a:r>
              <a:rPr lang="en-US" sz="2400" noProof="0" dirty="0">
                <a:solidFill>
                  <a:srgbClr val="007FA3"/>
                </a:solidFill>
                <a:latin typeface="Arial" panose="020B0604020202020204" pitchFamily="34" charset="0"/>
                <a:cs typeface="Arial" panose="020B0604020202020204" pitchFamily="34" charset="0"/>
              </a:rPr>
              <a:t>C.</a:t>
            </a:r>
            <a:r>
              <a:rPr lang="en-US" sz="2400" noProof="0" dirty="0">
                <a:latin typeface="Arial" panose="020B0604020202020204" pitchFamily="34" charset="0"/>
                <a:cs typeface="Arial" panose="020B0604020202020204" pitchFamily="34" charset="0"/>
              </a:rPr>
              <a:t> These resistances cannot be combined</a:t>
            </a:r>
          </a:p>
        </p:txBody>
      </p:sp>
    </p:spTree>
    <p:extLst>
      <p:ext uri="{BB962C8B-B14F-4D97-AF65-F5344CB8AC3E}">
        <p14:creationId xmlns:p14="http://schemas.microsoft.com/office/powerpoint/2010/main" val="4269033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515A975-FF6A-40E3-8EFC-65BED18511AD}"/>
              </a:ext>
            </a:extLst>
          </p:cNvPr>
          <p:cNvSpPr>
            <a:spLocks noGrp="1"/>
          </p:cNvSpPr>
          <p:nvPr>
            <p:ph type="title"/>
          </p:nvPr>
        </p:nvSpPr>
        <p:spPr>
          <a:xfrm>
            <a:off x="399450" y="166742"/>
            <a:ext cx="8271476" cy="1021237"/>
          </a:xfrm>
        </p:spPr>
        <p:txBody>
          <a:bodyPr wrap="square" lIns="0" tIns="18000" rIns="0" bIns="18000" anchor="ctr">
            <a:spAutoFit/>
          </a:bodyPr>
          <a:lstStyle/>
          <a:p>
            <a:r>
              <a:rPr lang="en-US" noProof="0" dirty="0"/>
              <a:t>Chapter 3 – Simple resistive circuits </a:t>
            </a:r>
            <a:r>
              <a:rPr lang="en-US" sz="2800" noProof="0" dirty="0"/>
              <a:t>(9 of 22)</a:t>
            </a:r>
          </a:p>
        </p:txBody>
      </p:sp>
      <p:sp>
        <p:nvSpPr>
          <p:cNvPr id="3" name="Content Placeholder 2">
            <a:extLst>
              <a:ext uri="{FF2B5EF4-FFF2-40B4-BE49-F238E27FC236}">
                <a16:creationId xmlns:a16="http://schemas.microsoft.com/office/drawing/2014/main" id="{475D21F5-F915-4193-89BA-C92F2FFE6753}"/>
              </a:ext>
            </a:extLst>
          </p:cNvPr>
          <p:cNvSpPr>
            <a:spLocks noGrp="1"/>
          </p:cNvSpPr>
          <p:nvPr>
            <p:ph sz="quarter" idx="4294967295"/>
          </p:nvPr>
        </p:nvSpPr>
        <p:spPr>
          <a:xfrm>
            <a:off x="428932" y="1385214"/>
            <a:ext cx="8241993" cy="959681"/>
          </a:xfrm>
        </p:spPr>
        <p:txBody>
          <a:bodyPr wrap="square" lIns="0" tIns="18000" rIns="0" bIns="18000" anchor="ctr" anchorCtr="0">
            <a:spAutoFit/>
          </a:bodyPr>
          <a:lstStyle/>
          <a:p>
            <a:pPr marL="0" indent="0">
              <a:buNone/>
            </a:pPr>
            <a:r>
              <a:rPr lang="en-US" altLang="en-US" sz="2000" noProof="0" dirty="0">
                <a:latin typeface="Arial" panose="020B0604020202020204" pitchFamily="34" charset="0"/>
                <a:cs typeface="Arial" panose="020B0604020202020204" pitchFamily="34" charset="0"/>
              </a:rPr>
              <a:t>Measuring current and voltage – Example (continued): </a:t>
            </a:r>
            <a:br>
              <a:rPr lang="en-US" altLang="en-US" sz="2000" noProof="0" dirty="0">
                <a:latin typeface="Arial" panose="020B0604020202020204" pitchFamily="34" charset="0"/>
                <a:cs typeface="Arial" panose="020B0604020202020204" pitchFamily="34" charset="0"/>
              </a:rPr>
            </a:br>
            <a:r>
              <a:rPr lang="en-US" altLang="en-US" sz="2000" noProof="0" dirty="0">
                <a:latin typeface="Arial" panose="020B0604020202020204" pitchFamily="34" charset="0"/>
                <a:cs typeface="Arial" panose="020B0604020202020204" pitchFamily="34" charset="0"/>
              </a:rPr>
              <a:t>A 50 m</a:t>
            </a:r>
            <a:r>
              <a:rPr lang="en-US" altLang="en-US" sz="100" noProof="0" dirty="0">
                <a:latin typeface="Arial" panose="020B0604020202020204" pitchFamily="34" charset="0"/>
                <a:cs typeface="Arial" panose="020B0604020202020204" pitchFamily="34" charset="0"/>
              </a:rPr>
              <a:t> </a:t>
            </a:r>
            <a:r>
              <a:rPr lang="en-US" altLang="en-US" sz="2000" noProof="0" dirty="0">
                <a:latin typeface="Arial" panose="020B0604020202020204" pitchFamily="34" charset="0"/>
                <a:cs typeface="Arial" panose="020B0604020202020204" pitchFamily="34" charset="0"/>
              </a:rPr>
              <a:t>V, 1m</a:t>
            </a:r>
            <a:r>
              <a:rPr lang="en-US" altLang="en-US" sz="100" noProof="0" dirty="0">
                <a:latin typeface="Arial" panose="020B0604020202020204" pitchFamily="34" charset="0"/>
                <a:cs typeface="Arial" panose="020B0604020202020204" pitchFamily="34" charset="0"/>
              </a:rPr>
              <a:t> </a:t>
            </a:r>
            <a:r>
              <a:rPr lang="en-US" altLang="en-US" sz="2000" noProof="0" dirty="0">
                <a:latin typeface="Arial" panose="020B0604020202020204" pitchFamily="34" charset="0"/>
                <a:cs typeface="Arial" panose="020B0604020202020204" pitchFamily="34" charset="0"/>
              </a:rPr>
              <a:t>A </a:t>
            </a:r>
            <a:r>
              <a:rPr lang="en-US" altLang="en-US" sz="2000" noProof="0" dirty="0" err="1">
                <a:latin typeface="Arial" panose="020B0604020202020204" pitchFamily="34" charset="0"/>
                <a:cs typeface="Arial" panose="020B0604020202020204" pitchFamily="34" charset="0"/>
              </a:rPr>
              <a:t>D’Arsonval</a:t>
            </a:r>
            <a:r>
              <a:rPr lang="en-US" altLang="en-US" sz="2000" noProof="0" dirty="0">
                <a:latin typeface="Arial" panose="020B0604020202020204" pitchFamily="34" charset="0"/>
                <a:cs typeface="Arial" panose="020B0604020202020204" pitchFamily="34" charset="0"/>
              </a:rPr>
              <a:t> movement is used in a ammeter with a full-scale reading of 10 m</a:t>
            </a:r>
            <a:r>
              <a:rPr lang="en-US" altLang="en-US" sz="100" noProof="0" dirty="0">
                <a:latin typeface="Arial" panose="020B0604020202020204" pitchFamily="34" charset="0"/>
                <a:cs typeface="Arial" panose="020B0604020202020204" pitchFamily="34" charset="0"/>
              </a:rPr>
              <a:t> </a:t>
            </a:r>
            <a:r>
              <a:rPr lang="en-US" altLang="en-US" sz="2000" noProof="0" dirty="0">
                <a:latin typeface="Arial" panose="020B0604020202020204" pitchFamily="34" charset="0"/>
                <a:cs typeface="Arial" panose="020B0604020202020204" pitchFamily="34" charset="0"/>
              </a:rPr>
              <a:t>A.</a:t>
            </a:r>
            <a:endParaRPr lang="en-US" sz="2000" noProof="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94E14BB3-09B6-4B58-8AE7-F145D57EE3CC}"/>
              </a:ext>
            </a:extLst>
          </p:cNvPr>
          <p:cNvSpPr>
            <a:spLocks noGrp="1"/>
          </p:cNvSpPr>
          <p:nvPr>
            <p:ph sz="quarter" idx="4294967295"/>
          </p:nvPr>
        </p:nvSpPr>
        <p:spPr>
          <a:xfrm>
            <a:off x="427974" y="2446185"/>
            <a:ext cx="909216" cy="344128"/>
          </a:xfrm>
        </p:spPr>
        <p:txBody>
          <a:bodyPr wrap="square" lIns="0" tIns="18000" rIns="0" bIns="18000" anchor="ctr" anchorCtr="0">
            <a:spAutoFit/>
          </a:bodyPr>
          <a:lstStyle/>
          <a:p>
            <a:pPr marL="342900" indent="-342900"/>
            <a:r>
              <a:rPr lang="en-US" sz="2000" noProof="0" dirty="0">
                <a:latin typeface="Arial" panose="020B0604020202020204" pitchFamily="34" charset="0"/>
                <a:cs typeface="Arial" panose="020B0604020202020204" pitchFamily="34" charset="0"/>
              </a:rPr>
              <a:t>Find</a:t>
            </a:r>
          </a:p>
        </p:txBody>
      </p:sp>
      <p:graphicFrame>
        <p:nvGraphicFramePr>
          <p:cNvPr id="20" name="Object 19" descr="R subscript A.&#10;">
            <a:extLst>
              <a:ext uri="{FF2B5EF4-FFF2-40B4-BE49-F238E27FC236}">
                <a16:creationId xmlns:a16="http://schemas.microsoft.com/office/drawing/2014/main" id="{8A46778B-9332-4419-A75D-0C46D69560A6}"/>
              </a:ext>
            </a:extLst>
          </p:cNvPr>
          <p:cNvGraphicFramePr>
            <a:graphicFrameLocks noChangeAspect="1"/>
          </p:cNvGraphicFramePr>
          <p:nvPr>
            <p:extLst>
              <p:ext uri="{D42A27DB-BD31-4B8C-83A1-F6EECF244321}">
                <p14:modId xmlns:p14="http://schemas.microsoft.com/office/powerpoint/2010/main" val="2996751067"/>
              </p:ext>
            </p:extLst>
          </p:nvPr>
        </p:nvGraphicFramePr>
        <p:xfrm>
          <a:off x="1361177" y="2471153"/>
          <a:ext cx="394653" cy="370205"/>
        </p:xfrm>
        <a:graphic>
          <a:graphicData uri="http://schemas.openxmlformats.org/presentationml/2006/ole">
            <mc:AlternateContent xmlns:mc="http://schemas.openxmlformats.org/markup-compatibility/2006">
              <mc:Choice xmlns:v="urn:schemas-microsoft-com:vml" Requires="v">
                <p:oleObj name="Equation" r:id="rId2" imgW="253800" imgH="228600" progId="Equation.DSMT4">
                  <p:embed/>
                </p:oleObj>
              </mc:Choice>
              <mc:Fallback>
                <p:oleObj name="Equation" r:id="rId2" imgW="253800" imgH="228600" progId="Equation.DSMT4">
                  <p:embed/>
                  <p:pic>
                    <p:nvPicPr>
                      <p:cNvPr id="20" name="Object 19" descr="S subscript 0 colon">
                        <a:extLst>
                          <a:ext uri="{FF2B5EF4-FFF2-40B4-BE49-F238E27FC236}">
                            <a16:creationId xmlns:a16="http://schemas.microsoft.com/office/drawing/2014/main" id="{50DD4347-58D3-41BA-A816-C3ECDE341492}"/>
                          </a:ext>
                        </a:extLst>
                      </p:cNvPr>
                      <p:cNvPicPr>
                        <a:picLocks noChangeAspect="1" noChangeArrowheads="1"/>
                      </p:cNvPicPr>
                      <p:nvPr/>
                    </p:nvPicPr>
                    <p:blipFill>
                      <a:blip r:embed="rId3"/>
                      <a:srcRect/>
                      <a:stretch>
                        <a:fillRect/>
                      </a:stretch>
                    </p:blipFill>
                    <p:spPr bwMode="auto">
                      <a:xfrm>
                        <a:off x="1361177" y="2471153"/>
                        <a:ext cx="394653" cy="370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0EE3DD17-E32C-4F97-BC9F-114BD0F833C5}"/>
              </a:ext>
            </a:extLst>
          </p:cNvPr>
          <p:cNvSpPr>
            <a:spLocks noGrp="1"/>
          </p:cNvSpPr>
          <p:nvPr>
            <p:ph sz="quarter" idx="4294967295"/>
          </p:nvPr>
        </p:nvSpPr>
        <p:spPr>
          <a:xfrm>
            <a:off x="428933" y="2908397"/>
            <a:ext cx="8251824" cy="651905"/>
          </a:xfrm>
        </p:spPr>
        <p:txBody>
          <a:bodyPr wrap="square" lIns="0" tIns="18000" rIns="0" bIns="18000" anchor="ctr" anchorCtr="0">
            <a:spAutoFit/>
          </a:bodyPr>
          <a:lstStyle/>
          <a:p>
            <a:pPr marL="342900" indent="-342900"/>
            <a:r>
              <a:rPr lang="en-US" altLang="en-US" sz="2000" noProof="0" dirty="0">
                <a:latin typeface="Arial" panose="020B0604020202020204" pitchFamily="34" charset="0"/>
                <a:cs typeface="Arial" panose="020B0604020202020204" pitchFamily="34" charset="0"/>
              </a:rPr>
              <a:t>Find the resistance that is added to a circuit when this ammeter is used to measure current.</a:t>
            </a:r>
            <a:endParaRPr lang="en-US" sz="2000" noProof="0" dirty="0">
              <a:latin typeface="Arial" panose="020B0604020202020204" pitchFamily="34" charset="0"/>
              <a:cs typeface="Arial" panose="020B0604020202020204" pitchFamily="34" charset="0"/>
            </a:endParaRPr>
          </a:p>
        </p:txBody>
      </p:sp>
      <p:pic>
        <p:nvPicPr>
          <p:cNvPr id="27" name="Picture 3" descr="A circuit diagram for an analogue ammeter with two ammeter terminals connected in parallel to a resistor R sub A, which in turn is connected in parallel to a d’Arsonval movement.">
            <a:extLst>
              <a:ext uri="{FF2B5EF4-FFF2-40B4-BE49-F238E27FC236}">
                <a16:creationId xmlns:a16="http://schemas.microsoft.com/office/drawing/2014/main" id="{D21EBC83-D58A-49E8-8C39-E8757C72A4CA}"/>
              </a:ext>
            </a:extLst>
          </p:cNvPr>
          <p:cNvPicPr>
            <a:picLocks noChangeAspect="1" noChangeArrowheads="1"/>
          </p:cNvPicPr>
          <p:nvPr/>
        </p:nvPicPr>
        <p:blipFill>
          <a:blip r:embed="rId4"/>
          <a:srcRect/>
          <a:stretch/>
        </p:blipFill>
        <p:spPr bwMode="auto">
          <a:xfrm>
            <a:off x="3155302" y="3742379"/>
            <a:ext cx="2912745" cy="13509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10FBA0A6-8DCF-4475-B83F-449DFE8FA38C}"/>
              </a:ext>
            </a:extLst>
          </p:cNvPr>
          <p:cNvSpPr>
            <a:spLocks noGrp="1"/>
          </p:cNvSpPr>
          <p:nvPr>
            <p:ph sz="quarter" idx="4294967295"/>
          </p:nvPr>
        </p:nvSpPr>
        <p:spPr>
          <a:xfrm>
            <a:off x="428933" y="5272568"/>
            <a:ext cx="3710448" cy="344128"/>
          </a:xfrm>
        </p:spPr>
        <p:txBody>
          <a:bodyPr wrap="square" lIns="0" tIns="18000" rIns="0" bIns="18000" anchor="ctr" anchorCtr="0">
            <a:spAutoFit/>
          </a:bodyPr>
          <a:lstStyle/>
          <a:p>
            <a:pPr marL="0" indent="0">
              <a:buNone/>
            </a:pPr>
            <a:r>
              <a:rPr lang="en-US" sz="2000" noProof="0" dirty="0">
                <a:latin typeface="Arial" panose="020B0604020202020204" pitchFamily="34" charset="0"/>
                <a:cs typeface="Arial" panose="020B0604020202020204" pitchFamily="34" charset="0"/>
              </a:rPr>
              <a:t>The resistance of the ammeter is</a:t>
            </a:r>
          </a:p>
        </p:txBody>
      </p:sp>
      <p:graphicFrame>
        <p:nvGraphicFramePr>
          <p:cNvPr id="23" name="Object 22" descr="R subscript m Baseline equals R subscript A Baseline parallel to R subscript d' Arsonval Baseline equals 5.555 parallel to open parenthesis 50 times 10 to the negative 3 power close parenthesis.&#10;">
            <a:extLst>
              <a:ext uri="{FF2B5EF4-FFF2-40B4-BE49-F238E27FC236}">
                <a16:creationId xmlns:a16="http://schemas.microsoft.com/office/drawing/2014/main" id="{2B1823B2-3C04-481C-BF15-06D8A058AEC9}"/>
              </a:ext>
            </a:extLst>
          </p:cNvPr>
          <p:cNvGraphicFramePr>
            <a:graphicFrameLocks noChangeAspect="1"/>
          </p:cNvGraphicFramePr>
          <p:nvPr>
            <p:extLst>
              <p:ext uri="{D42A27DB-BD31-4B8C-83A1-F6EECF244321}">
                <p14:modId xmlns:p14="http://schemas.microsoft.com/office/powerpoint/2010/main" val="1632262356"/>
              </p:ext>
            </p:extLst>
          </p:nvPr>
        </p:nvGraphicFramePr>
        <p:xfrm>
          <a:off x="4171797" y="5211763"/>
          <a:ext cx="4498975" cy="498475"/>
        </p:xfrm>
        <a:graphic>
          <a:graphicData uri="http://schemas.openxmlformats.org/presentationml/2006/ole">
            <mc:AlternateContent xmlns:mc="http://schemas.openxmlformats.org/markup-compatibility/2006">
              <mc:Choice xmlns:v="urn:schemas-microsoft-com:vml" Requires="v">
                <p:oleObj name="Equation" r:id="rId5" imgW="2628720" imgH="279360" progId="Equation.DSMT4">
                  <p:embed/>
                </p:oleObj>
              </mc:Choice>
              <mc:Fallback>
                <p:oleObj name="Equation" r:id="rId5" imgW="2628720" imgH="279360" progId="Equation.DSMT4">
                  <p:embed/>
                  <p:pic>
                    <p:nvPicPr>
                      <p:cNvPr id="20" name="Object 19" descr="S subscript 0 colon">
                        <a:extLst>
                          <a:ext uri="{FF2B5EF4-FFF2-40B4-BE49-F238E27FC236}">
                            <a16:creationId xmlns:a16="http://schemas.microsoft.com/office/drawing/2014/main" id="{8A46778B-9332-4419-A75D-0C46D69560A6}"/>
                          </a:ext>
                        </a:extLst>
                      </p:cNvPr>
                      <p:cNvPicPr>
                        <a:picLocks noChangeAspect="1" noChangeArrowheads="1"/>
                      </p:cNvPicPr>
                      <p:nvPr/>
                    </p:nvPicPr>
                    <p:blipFill>
                      <a:blip r:embed="rId6"/>
                      <a:srcRect/>
                      <a:stretch>
                        <a:fillRect/>
                      </a:stretch>
                    </p:blipFill>
                    <p:spPr bwMode="auto">
                      <a:xfrm>
                        <a:off x="4171797" y="5211763"/>
                        <a:ext cx="4498975"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3" descr="equals 5 Ohms.&#10;">
            <a:extLst>
              <a:ext uri="{FF2B5EF4-FFF2-40B4-BE49-F238E27FC236}">
                <a16:creationId xmlns:a16="http://schemas.microsoft.com/office/drawing/2014/main" id="{38CC6AA0-1C77-46FB-9A0F-CF94A9140524}"/>
              </a:ext>
            </a:extLst>
          </p:cNvPr>
          <p:cNvGraphicFramePr>
            <a:graphicFrameLocks noChangeAspect="1"/>
          </p:cNvGraphicFramePr>
          <p:nvPr>
            <p:extLst>
              <p:ext uri="{D42A27DB-BD31-4B8C-83A1-F6EECF244321}">
                <p14:modId xmlns:p14="http://schemas.microsoft.com/office/powerpoint/2010/main" val="3911270223"/>
              </p:ext>
            </p:extLst>
          </p:nvPr>
        </p:nvGraphicFramePr>
        <p:xfrm>
          <a:off x="4021500" y="5775325"/>
          <a:ext cx="1260475" cy="385763"/>
        </p:xfrm>
        <a:graphic>
          <a:graphicData uri="http://schemas.openxmlformats.org/presentationml/2006/ole">
            <mc:AlternateContent xmlns:mc="http://schemas.openxmlformats.org/markup-compatibility/2006">
              <mc:Choice xmlns:v="urn:schemas-microsoft-com:vml" Requires="v">
                <p:oleObj name="Equation" r:id="rId7" imgW="736560" imgH="215640" progId="Equation.DSMT4">
                  <p:embed/>
                </p:oleObj>
              </mc:Choice>
              <mc:Fallback>
                <p:oleObj name="Equation" r:id="rId7" imgW="736560" imgH="215640" progId="Equation.DSMT4">
                  <p:embed/>
                  <p:pic>
                    <p:nvPicPr>
                      <p:cNvPr id="23" name="Object 22" descr="S subscript 0 colon">
                        <a:extLst>
                          <a:ext uri="{FF2B5EF4-FFF2-40B4-BE49-F238E27FC236}">
                            <a16:creationId xmlns:a16="http://schemas.microsoft.com/office/drawing/2014/main" id="{2B1823B2-3C04-481C-BF15-06D8A058AEC9}"/>
                          </a:ext>
                        </a:extLst>
                      </p:cNvPr>
                      <p:cNvPicPr>
                        <a:picLocks noChangeAspect="1" noChangeArrowheads="1"/>
                      </p:cNvPicPr>
                      <p:nvPr/>
                    </p:nvPicPr>
                    <p:blipFill>
                      <a:blip r:embed="rId8"/>
                      <a:srcRect/>
                      <a:stretch>
                        <a:fillRect/>
                      </a:stretch>
                    </p:blipFill>
                    <p:spPr bwMode="auto">
                      <a:xfrm>
                        <a:off x="4021500" y="5775325"/>
                        <a:ext cx="1260475"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43730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54A94-A40C-9CF8-66CA-F847F4474D90}"/>
              </a:ext>
            </a:extLst>
          </p:cNvPr>
          <p:cNvSpPr>
            <a:spLocks noGrp="1"/>
          </p:cNvSpPr>
          <p:nvPr>
            <p:ph type="title"/>
          </p:nvPr>
        </p:nvSpPr>
        <p:spPr>
          <a:xfrm>
            <a:off x="404253" y="161581"/>
            <a:ext cx="8291512" cy="1097279"/>
          </a:xfrm>
        </p:spPr>
        <p:txBody>
          <a:bodyPr/>
          <a:lstStyle/>
          <a:p>
            <a:r>
              <a:rPr kumimoji="0" lang="en-US" sz="3600" b="1" i="0" u="none" strike="noStrike" kern="0" cap="none" spc="0" normalizeH="0" baseline="0" noProof="0" dirty="0">
                <a:ln>
                  <a:noFill/>
                </a:ln>
                <a:solidFill>
                  <a:srgbClr val="007FA3"/>
                </a:solidFill>
                <a:effectLst/>
                <a:uLnTx/>
                <a:uFillTx/>
                <a:latin typeface="Arial"/>
                <a:cs typeface="Times New Roman"/>
                <a:sym typeface="Times New Roman"/>
              </a:rPr>
              <a:t>Chapter 3 – Simple resistive circuits </a:t>
            </a:r>
            <a:r>
              <a:rPr kumimoji="0" lang="en-US" sz="2800" b="1" i="0" u="none" strike="noStrike" kern="0" cap="none" spc="0" normalizeH="0" baseline="0" noProof="0" dirty="0">
                <a:ln>
                  <a:noFill/>
                </a:ln>
                <a:solidFill>
                  <a:srgbClr val="007FA3"/>
                </a:solidFill>
                <a:effectLst/>
                <a:uLnTx/>
                <a:uFillTx/>
                <a:latin typeface="Arial"/>
                <a:cs typeface="Times New Roman"/>
                <a:sym typeface="Times New Roman"/>
              </a:rPr>
              <a:t>(10 of 22)</a:t>
            </a:r>
            <a:endParaRPr lang="en-US" dirty="0"/>
          </a:p>
        </p:txBody>
      </p:sp>
      <p:sp>
        <p:nvSpPr>
          <p:cNvPr id="3" name="Content Placeholder 2">
            <a:extLst>
              <a:ext uri="{FF2B5EF4-FFF2-40B4-BE49-F238E27FC236}">
                <a16:creationId xmlns:a16="http://schemas.microsoft.com/office/drawing/2014/main" id="{B5EC9E80-A2FC-E178-65D0-B6D803F6BDBA}"/>
              </a:ext>
            </a:extLst>
          </p:cNvPr>
          <p:cNvSpPr>
            <a:spLocks noGrp="1"/>
          </p:cNvSpPr>
          <p:nvPr>
            <p:ph sz="quarter" idx="17"/>
          </p:nvPr>
        </p:nvSpPr>
        <p:spPr>
          <a:xfrm>
            <a:off x="404253" y="1376137"/>
            <a:ext cx="8266672" cy="344128"/>
          </a:xfrm>
        </p:spPr>
        <p:txBody>
          <a:bodyPr wrap="square" lIns="0" tIns="18000" rIns="0" bIns="18000" anchor="ctr" anchorCtr="0">
            <a:spAutoFit/>
          </a:bodyPr>
          <a:lstStyle/>
          <a:p>
            <a:pPr marL="0" marR="0" lvl="0" indent="0" algn="l" defTabSz="914400" rtl="0" eaLnBrk="1" fontAlgn="auto" latinLnBrk="0" hangingPunct="1">
              <a:lnSpc>
                <a:spcPct val="100000"/>
              </a:lnSpc>
              <a:spcBef>
                <a:spcPts val="600"/>
              </a:spcBef>
              <a:spcAft>
                <a:spcPts val="0"/>
              </a:spcAft>
              <a:buClr>
                <a:srgbClr val="007FA3"/>
              </a:buClr>
              <a:buSzPct val="100000"/>
              <a:buFont typeface="Arial"/>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If we want to measure the current </a:t>
            </a:r>
            <a:r>
              <a:rPr kumimoji="0" lang="en-US" altLang="en-US" sz="2000" b="0" i="1" u="none" strike="noStrike" kern="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sym typeface="Arial"/>
              </a:rPr>
              <a:t>i</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 in the circuit shown here, we should</a:t>
            </a: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4" name="Content Placeholder 3">
            <a:extLst>
              <a:ext uri="{FF2B5EF4-FFF2-40B4-BE49-F238E27FC236}">
                <a16:creationId xmlns:a16="http://schemas.microsoft.com/office/drawing/2014/main" id="{99FD7DE9-6AFF-515E-BC00-19E9DEFE48F7}"/>
              </a:ext>
            </a:extLst>
          </p:cNvPr>
          <p:cNvSpPr>
            <a:spLocks noGrp="1"/>
          </p:cNvSpPr>
          <p:nvPr>
            <p:ph sz="quarter" idx="18"/>
          </p:nvPr>
        </p:nvSpPr>
        <p:spPr>
          <a:xfrm>
            <a:off x="395288" y="1815986"/>
            <a:ext cx="4286250" cy="344128"/>
          </a:xfrm>
        </p:spPr>
        <p:txBody>
          <a:bodyPr wrap="square" lIns="0" tIns="18000" rIns="0" bIns="18000" anchor="ctr" anchorCtr="0">
            <a:spAutoFit/>
          </a:bodyPr>
          <a:lstStyle/>
          <a:p>
            <a:pPr marL="0" indent="0">
              <a:buNone/>
            </a:pPr>
            <a:r>
              <a:rPr lang="en-US" altLang="en-US" sz="2000" noProof="0" dirty="0">
                <a:latin typeface="Arial" panose="020B0604020202020204" pitchFamily="34" charset="0"/>
                <a:cs typeface="Arial" panose="020B0604020202020204" pitchFamily="34" charset="0"/>
              </a:rPr>
              <a:t>insert an ammeter in       </a:t>
            </a:r>
            <a:r>
              <a:rPr lang="en-US" altLang="en-US" sz="100" noProof="0" dirty="0">
                <a:latin typeface="Arial" panose="020B0604020202020204" pitchFamily="34" charset="0"/>
                <a:cs typeface="Arial" panose="020B0604020202020204" pitchFamily="34" charset="0"/>
              </a:rPr>
              <a:t>Fill in the blanks</a:t>
            </a:r>
            <a:r>
              <a:rPr lang="en-US" altLang="en-US" sz="2000" noProof="0" dirty="0">
                <a:latin typeface="Arial" panose="020B0604020202020204" pitchFamily="34" charset="0"/>
                <a:cs typeface="Arial" panose="020B0604020202020204" pitchFamily="34" charset="0"/>
              </a:rPr>
              <a:t>       with the</a:t>
            </a:r>
            <a:endParaRPr lang="en-US" sz="2000" dirty="0"/>
          </a:p>
        </p:txBody>
      </p:sp>
      <p:cxnSp>
        <p:nvCxnSpPr>
          <p:cNvPr id="10" name="Straight Connector 9">
            <a:extLst>
              <a:ext uri="{FF2B5EF4-FFF2-40B4-BE49-F238E27FC236}">
                <a16:creationId xmlns:a16="http://schemas.microsoft.com/office/drawing/2014/main" id="{9299B5A4-B9E6-EB89-0C9C-37B67FB6433C}"/>
              </a:ext>
              <a:ext uri="{C183D7F6-B498-43B3-948B-1728B52AA6E4}">
                <adec:decorative xmlns:adec="http://schemas.microsoft.com/office/drawing/2017/decorative" val="1"/>
              </a:ext>
            </a:extLst>
          </p:cNvPr>
          <p:cNvCxnSpPr/>
          <p:nvPr/>
        </p:nvCxnSpPr>
        <p:spPr>
          <a:xfrm>
            <a:off x="2806047" y="2075974"/>
            <a:ext cx="8838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9" name="Object 28" descr="100 Ohms.&#10;">
            <a:extLst>
              <a:ext uri="{FF2B5EF4-FFF2-40B4-BE49-F238E27FC236}">
                <a16:creationId xmlns:a16="http://schemas.microsoft.com/office/drawing/2014/main" id="{D9E1E47B-118F-F803-271F-E258F6FADD54}"/>
              </a:ext>
            </a:extLst>
          </p:cNvPr>
          <p:cNvGraphicFramePr>
            <a:graphicFrameLocks noChangeAspect="1"/>
          </p:cNvGraphicFramePr>
          <p:nvPr>
            <p:extLst>
              <p:ext uri="{D42A27DB-BD31-4B8C-83A1-F6EECF244321}">
                <p14:modId xmlns:p14="http://schemas.microsoft.com/office/powerpoint/2010/main" val="1756451712"/>
              </p:ext>
            </p:extLst>
          </p:nvPr>
        </p:nvGraphicFramePr>
        <p:xfrm>
          <a:off x="4727633" y="1846591"/>
          <a:ext cx="709612" cy="328613"/>
        </p:xfrm>
        <a:graphic>
          <a:graphicData uri="http://schemas.openxmlformats.org/presentationml/2006/ole">
            <mc:AlternateContent xmlns:mc="http://schemas.openxmlformats.org/markup-compatibility/2006">
              <mc:Choice xmlns:v="urn:schemas-microsoft-com:vml" Requires="v">
                <p:oleObj name="Equation" r:id="rId2" imgW="457200" imgH="203040" progId="Equation.DSMT4">
                  <p:embed/>
                </p:oleObj>
              </mc:Choice>
              <mc:Fallback>
                <p:oleObj name="Equation" r:id="rId2" imgW="457200" imgH="203040" progId="Equation.DSMT4">
                  <p:embed/>
                  <p:pic>
                    <p:nvPicPr>
                      <p:cNvPr id="20" name="Object 19" descr="S subscript 0 colon">
                        <a:extLst>
                          <a:ext uri="{FF2B5EF4-FFF2-40B4-BE49-F238E27FC236}">
                            <a16:creationId xmlns:a16="http://schemas.microsoft.com/office/drawing/2014/main" id="{FED5BB7D-2513-4B37-9EFA-5E7A236389A9}"/>
                          </a:ext>
                        </a:extLst>
                      </p:cNvPr>
                      <p:cNvPicPr>
                        <a:picLocks noChangeAspect="1" noChangeArrowheads="1"/>
                      </p:cNvPicPr>
                      <p:nvPr/>
                    </p:nvPicPr>
                    <p:blipFill>
                      <a:blip r:embed="rId3"/>
                      <a:srcRect/>
                      <a:stretch>
                        <a:fillRect/>
                      </a:stretch>
                    </p:blipFill>
                    <p:spPr bwMode="auto">
                      <a:xfrm>
                        <a:off x="4727633" y="1846591"/>
                        <a:ext cx="709612"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703C70B5-F94A-EFBD-2042-F9C05255A85D}"/>
              </a:ext>
            </a:extLst>
          </p:cNvPr>
          <p:cNvSpPr>
            <a:spLocks noGrp="1"/>
          </p:cNvSpPr>
          <p:nvPr>
            <p:ph sz="quarter" idx="20"/>
          </p:nvPr>
        </p:nvSpPr>
        <p:spPr>
          <a:xfrm>
            <a:off x="5489542" y="1815387"/>
            <a:ext cx="907909" cy="344128"/>
          </a:xfrm>
        </p:spPr>
        <p:txBody>
          <a:bodyPr wrap="square" lIns="0" tIns="18000" rIns="0" bIns="18000" anchor="ctr" anchorCtr="0">
            <a:spAutoFit/>
          </a:bodyPr>
          <a:lstStyle/>
          <a:p>
            <a:pPr marL="0" indent="0">
              <a:buNone/>
            </a:pPr>
            <a:r>
              <a:rPr lang="en-US" altLang="en-US" sz="2000" noProof="0" dirty="0">
                <a:latin typeface="Arial" panose="020B0604020202020204" pitchFamily="34" charset="0"/>
                <a:cs typeface="Arial" panose="020B0604020202020204" pitchFamily="34" charset="0"/>
              </a:rPr>
              <a:t>resistor.</a:t>
            </a:r>
            <a:endParaRPr lang="en-US" sz="2000" noProof="0" dirty="0">
              <a:latin typeface="Arial" panose="020B0604020202020204" pitchFamily="34" charset="0"/>
              <a:cs typeface="Arial" panose="020B0604020202020204" pitchFamily="34" charset="0"/>
            </a:endParaRPr>
          </a:p>
        </p:txBody>
      </p:sp>
      <p:pic>
        <p:nvPicPr>
          <p:cNvPr id="30" name="Picture 2" descr="A circuit diagram with a 100-ohm resistor connected in series to a 1 V source.">
            <a:extLst>
              <a:ext uri="{FF2B5EF4-FFF2-40B4-BE49-F238E27FC236}">
                <a16:creationId xmlns:a16="http://schemas.microsoft.com/office/drawing/2014/main" id="{335E3786-FE8E-82CF-1AFF-7C02D3EEA8D0}"/>
              </a:ext>
            </a:extLst>
          </p:cNvPr>
          <p:cNvPicPr>
            <a:picLocks noChangeAspect="1" noChangeArrowheads="1"/>
          </p:cNvPicPr>
          <p:nvPr/>
        </p:nvPicPr>
        <p:blipFill>
          <a:blip r:embed="rId4"/>
          <a:stretch>
            <a:fillRect/>
          </a:stretch>
        </p:blipFill>
        <p:spPr bwMode="auto">
          <a:xfrm>
            <a:off x="3209889" y="2563670"/>
            <a:ext cx="2733608" cy="1420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DD6EBAD7-AA07-538A-CADB-DED14E93682D}"/>
              </a:ext>
            </a:extLst>
          </p:cNvPr>
          <p:cNvSpPr>
            <a:spLocks noGrp="1"/>
          </p:cNvSpPr>
          <p:nvPr>
            <p:ph sz="quarter" idx="21"/>
          </p:nvPr>
        </p:nvSpPr>
        <p:spPr>
          <a:xfrm>
            <a:off x="1161557" y="4205127"/>
            <a:ext cx="1016371" cy="344128"/>
          </a:xfrm>
        </p:spPr>
        <p:txBody>
          <a:bodyPr wrap="square" lIns="0" tIns="18000" rIns="0" bIns="18000" anchor="ctr" anchorCtr="0">
            <a:spAutoFit/>
          </a:bodyPr>
          <a:lstStyle/>
          <a:p>
            <a:pPr marL="0" indent="0">
              <a:buNone/>
            </a:pPr>
            <a:r>
              <a:rPr lang="en-US" sz="2000" noProof="0" dirty="0">
                <a:solidFill>
                  <a:srgbClr val="007FA3"/>
                </a:solidFill>
                <a:latin typeface="Arial" panose="020B0604020202020204" pitchFamily="34" charset="0"/>
                <a:cs typeface="Arial" panose="020B0604020202020204" pitchFamily="34" charset="0"/>
              </a:rPr>
              <a:t>A.</a:t>
            </a:r>
            <a:r>
              <a:rPr lang="en-US" sz="2000" noProof="0" dirty="0">
                <a:latin typeface="Arial" panose="020B0604020202020204" pitchFamily="34" charset="0"/>
                <a:cs typeface="Arial" panose="020B0604020202020204" pitchFamily="34" charset="0"/>
              </a:rPr>
              <a:t> series</a:t>
            </a:r>
          </a:p>
        </p:txBody>
      </p:sp>
      <p:sp>
        <p:nvSpPr>
          <p:cNvPr id="8" name="Content Placeholder 7">
            <a:extLst>
              <a:ext uri="{FF2B5EF4-FFF2-40B4-BE49-F238E27FC236}">
                <a16:creationId xmlns:a16="http://schemas.microsoft.com/office/drawing/2014/main" id="{64FFC523-F0E8-78F0-9215-8FC1DE33E349}"/>
              </a:ext>
            </a:extLst>
          </p:cNvPr>
          <p:cNvSpPr>
            <a:spLocks noGrp="1"/>
          </p:cNvSpPr>
          <p:nvPr>
            <p:ph sz="quarter" idx="22"/>
          </p:nvPr>
        </p:nvSpPr>
        <p:spPr>
          <a:xfrm>
            <a:off x="1161557" y="4772007"/>
            <a:ext cx="1135604" cy="344128"/>
          </a:xfrm>
        </p:spPr>
        <p:txBody>
          <a:bodyPr wrap="square" lIns="0" tIns="18000" rIns="0" bIns="18000" anchor="ctr" anchorCtr="0">
            <a:spAutoFit/>
          </a:bodyPr>
          <a:lstStyle/>
          <a:p>
            <a:pPr marL="0" indent="0">
              <a:buNone/>
              <a:defRPr/>
            </a:pPr>
            <a:r>
              <a:rPr lang="en-US" sz="2000" noProof="0" dirty="0">
                <a:solidFill>
                  <a:srgbClr val="007FA3"/>
                </a:solidFill>
                <a:latin typeface="Arial" panose="020B0604020202020204" pitchFamily="34" charset="0"/>
                <a:cs typeface="Arial" panose="020B0604020202020204" pitchFamily="34" charset="0"/>
              </a:rPr>
              <a:t>B.</a:t>
            </a:r>
            <a:r>
              <a:rPr lang="en-US" sz="2000" noProof="0" dirty="0">
                <a:latin typeface="Arial" panose="020B0604020202020204" pitchFamily="34" charset="0"/>
                <a:cs typeface="Arial" panose="020B0604020202020204" pitchFamily="34" charset="0"/>
              </a:rPr>
              <a:t> parallel</a:t>
            </a:r>
          </a:p>
        </p:txBody>
      </p:sp>
      <p:sp>
        <p:nvSpPr>
          <p:cNvPr id="9" name="Content Placeholder 8">
            <a:extLst>
              <a:ext uri="{FF2B5EF4-FFF2-40B4-BE49-F238E27FC236}">
                <a16:creationId xmlns:a16="http://schemas.microsoft.com/office/drawing/2014/main" id="{40024A20-2F02-C3BC-0B32-BE69025FF48A}"/>
              </a:ext>
            </a:extLst>
          </p:cNvPr>
          <p:cNvSpPr>
            <a:spLocks noGrp="1"/>
          </p:cNvSpPr>
          <p:nvPr>
            <p:ph sz="quarter" idx="23"/>
          </p:nvPr>
        </p:nvSpPr>
        <p:spPr>
          <a:xfrm>
            <a:off x="1161557" y="5438344"/>
            <a:ext cx="2930170" cy="344128"/>
          </a:xfrm>
        </p:spPr>
        <p:txBody>
          <a:bodyPr wrap="square" lIns="0" tIns="18000" rIns="0" bIns="18000" anchor="ctr" anchorCtr="0">
            <a:spAutoFit/>
          </a:bodyPr>
          <a:lstStyle/>
          <a:p>
            <a:pPr marL="0" indent="0">
              <a:buNone/>
            </a:pPr>
            <a:r>
              <a:rPr lang="en-US" sz="2000" noProof="0" dirty="0">
                <a:solidFill>
                  <a:srgbClr val="007FA3"/>
                </a:solidFill>
                <a:latin typeface="Arial" panose="020B0604020202020204" pitchFamily="34" charset="0"/>
                <a:cs typeface="Arial" panose="020B0604020202020204" pitchFamily="34" charset="0"/>
              </a:rPr>
              <a:t>C.</a:t>
            </a:r>
            <a:r>
              <a:rPr lang="en-US" sz="2000" noProof="0" dirty="0">
                <a:latin typeface="Arial" panose="020B0604020202020204" pitchFamily="34" charset="0"/>
                <a:cs typeface="Arial" panose="020B0604020202020204" pitchFamily="34" charset="0"/>
              </a:rPr>
              <a:t> either series or parallel</a:t>
            </a:r>
          </a:p>
        </p:txBody>
      </p:sp>
    </p:spTree>
    <p:extLst>
      <p:ext uri="{BB962C8B-B14F-4D97-AF65-F5344CB8AC3E}">
        <p14:creationId xmlns:p14="http://schemas.microsoft.com/office/powerpoint/2010/main" val="130051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985C-A1E2-0912-D80D-296CF56A3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EF536-854A-8479-FAF7-1EFEEEE55DEE}"/>
              </a:ext>
            </a:extLst>
          </p:cNvPr>
          <p:cNvSpPr>
            <a:spLocks noGrp="1"/>
          </p:cNvSpPr>
          <p:nvPr>
            <p:ph type="title"/>
          </p:nvPr>
        </p:nvSpPr>
        <p:spPr>
          <a:xfrm>
            <a:off x="404253" y="161581"/>
            <a:ext cx="8291512" cy="1097279"/>
          </a:xfrm>
        </p:spPr>
        <p:txBody>
          <a:bodyPr/>
          <a:lstStyle/>
          <a:p>
            <a:r>
              <a:rPr kumimoji="0" lang="en-US" sz="3600" b="1" i="0" u="none" strike="noStrike" kern="0" cap="none" spc="0" normalizeH="0" baseline="0" noProof="0" dirty="0">
                <a:ln>
                  <a:noFill/>
                </a:ln>
                <a:solidFill>
                  <a:srgbClr val="007FA3"/>
                </a:solidFill>
                <a:effectLst/>
                <a:uLnTx/>
                <a:uFillTx/>
                <a:latin typeface="Arial"/>
                <a:cs typeface="Times New Roman"/>
                <a:sym typeface="Times New Roman"/>
              </a:rPr>
              <a:t>Chapter 3 – Simple resistive circuits </a:t>
            </a:r>
            <a:r>
              <a:rPr kumimoji="0" lang="en-US" sz="2800" b="1" i="0" u="none" strike="noStrike" kern="0" cap="none" spc="0" normalizeH="0" baseline="0" noProof="0" dirty="0">
                <a:ln>
                  <a:noFill/>
                </a:ln>
                <a:solidFill>
                  <a:srgbClr val="007FA3"/>
                </a:solidFill>
                <a:effectLst/>
                <a:uLnTx/>
                <a:uFillTx/>
                <a:latin typeface="Arial"/>
                <a:cs typeface="Times New Roman"/>
                <a:sym typeface="Times New Roman"/>
              </a:rPr>
              <a:t>(10 of 22)</a:t>
            </a:r>
            <a:endParaRPr lang="en-US" dirty="0"/>
          </a:p>
        </p:txBody>
      </p:sp>
      <p:sp>
        <p:nvSpPr>
          <p:cNvPr id="3" name="Content Placeholder 2">
            <a:extLst>
              <a:ext uri="{FF2B5EF4-FFF2-40B4-BE49-F238E27FC236}">
                <a16:creationId xmlns:a16="http://schemas.microsoft.com/office/drawing/2014/main" id="{9E76DE04-4D10-951F-9600-2EA2849F3898}"/>
              </a:ext>
            </a:extLst>
          </p:cNvPr>
          <p:cNvSpPr>
            <a:spLocks noGrp="1"/>
          </p:cNvSpPr>
          <p:nvPr>
            <p:ph sz="quarter" idx="17"/>
          </p:nvPr>
        </p:nvSpPr>
        <p:spPr>
          <a:xfrm>
            <a:off x="404253" y="1376137"/>
            <a:ext cx="8266672" cy="344128"/>
          </a:xfrm>
        </p:spPr>
        <p:txBody>
          <a:bodyPr wrap="square" lIns="0" tIns="18000" rIns="0" bIns="18000" anchor="ctr" anchorCtr="0">
            <a:spAutoFit/>
          </a:bodyPr>
          <a:lstStyle/>
          <a:p>
            <a:pPr marL="0" marR="0" lvl="0" indent="0" algn="l" defTabSz="914400" rtl="0" eaLnBrk="1" fontAlgn="auto" latinLnBrk="0" hangingPunct="1">
              <a:lnSpc>
                <a:spcPct val="100000"/>
              </a:lnSpc>
              <a:spcBef>
                <a:spcPts val="600"/>
              </a:spcBef>
              <a:spcAft>
                <a:spcPts val="0"/>
              </a:spcAft>
              <a:buClr>
                <a:srgbClr val="007FA3"/>
              </a:buClr>
              <a:buSzPct val="100000"/>
              <a:buFont typeface="Arial"/>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If we want to measure the current </a:t>
            </a:r>
            <a:r>
              <a:rPr kumimoji="0" lang="en-US" altLang="en-US" sz="2000" b="0" i="1" u="none" strike="noStrike" kern="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sym typeface="Arial"/>
              </a:rPr>
              <a:t>i</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 in the circuit shown here, we should</a:t>
            </a: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4" name="Content Placeholder 3">
            <a:extLst>
              <a:ext uri="{FF2B5EF4-FFF2-40B4-BE49-F238E27FC236}">
                <a16:creationId xmlns:a16="http://schemas.microsoft.com/office/drawing/2014/main" id="{60B20160-575D-89FA-B8A1-3E2C8F70D02F}"/>
              </a:ext>
            </a:extLst>
          </p:cNvPr>
          <p:cNvSpPr>
            <a:spLocks noGrp="1"/>
          </p:cNvSpPr>
          <p:nvPr>
            <p:ph sz="quarter" idx="18"/>
          </p:nvPr>
        </p:nvSpPr>
        <p:spPr>
          <a:xfrm>
            <a:off x="395288" y="1815986"/>
            <a:ext cx="4286250" cy="344128"/>
          </a:xfrm>
        </p:spPr>
        <p:txBody>
          <a:bodyPr wrap="square" lIns="0" tIns="18000" rIns="0" bIns="18000" anchor="ctr" anchorCtr="0">
            <a:spAutoFit/>
          </a:bodyPr>
          <a:lstStyle/>
          <a:p>
            <a:pPr marL="0" indent="0">
              <a:buNone/>
            </a:pPr>
            <a:r>
              <a:rPr lang="en-US" altLang="en-US" sz="2000" noProof="0" dirty="0">
                <a:latin typeface="Arial" panose="020B0604020202020204" pitchFamily="34" charset="0"/>
                <a:cs typeface="Arial" panose="020B0604020202020204" pitchFamily="34" charset="0"/>
              </a:rPr>
              <a:t>insert an ammeter in       </a:t>
            </a:r>
            <a:r>
              <a:rPr lang="en-US" altLang="en-US" sz="100" noProof="0" dirty="0">
                <a:latin typeface="Arial" panose="020B0604020202020204" pitchFamily="34" charset="0"/>
                <a:cs typeface="Arial" panose="020B0604020202020204" pitchFamily="34" charset="0"/>
              </a:rPr>
              <a:t>Fill in the blanks</a:t>
            </a:r>
            <a:r>
              <a:rPr lang="en-US" altLang="en-US" sz="2000" noProof="0" dirty="0">
                <a:latin typeface="Arial" panose="020B0604020202020204" pitchFamily="34" charset="0"/>
                <a:cs typeface="Arial" panose="020B0604020202020204" pitchFamily="34" charset="0"/>
              </a:rPr>
              <a:t>       with the</a:t>
            </a:r>
            <a:endParaRPr lang="en-US" sz="2000" dirty="0"/>
          </a:p>
        </p:txBody>
      </p:sp>
      <p:cxnSp>
        <p:nvCxnSpPr>
          <p:cNvPr id="10" name="Straight Connector 9">
            <a:extLst>
              <a:ext uri="{FF2B5EF4-FFF2-40B4-BE49-F238E27FC236}">
                <a16:creationId xmlns:a16="http://schemas.microsoft.com/office/drawing/2014/main" id="{63E76111-6CBE-814C-28A0-25EF9741E5E7}"/>
              </a:ext>
              <a:ext uri="{C183D7F6-B498-43B3-948B-1728B52AA6E4}">
                <adec:decorative xmlns:adec="http://schemas.microsoft.com/office/drawing/2017/decorative" val="1"/>
              </a:ext>
            </a:extLst>
          </p:cNvPr>
          <p:cNvCxnSpPr/>
          <p:nvPr/>
        </p:nvCxnSpPr>
        <p:spPr>
          <a:xfrm>
            <a:off x="2806047" y="2075974"/>
            <a:ext cx="8838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9" name="Object 28" descr="100 Ohms.&#10;">
            <a:extLst>
              <a:ext uri="{FF2B5EF4-FFF2-40B4-BE49-F238E27FC236}">
                <a16:creationId xmlns:a16="http://schemas.microsoft.com/office/drawing/2014/main" id="{1838DAE3-8D6B-F692-6C68-1108E7DD8134}"/>
              </a:ext>
            </a:extLst>
          </p:cNvPr>
          <p:cNvGraphicFramePr>
            <a:graphicFrameLocks noChangeAspect="1"/>
          </p:cNvGraphicFramePr>
          <p:nvPr/>
        </p:nvGraphicFramePr>
        <p:xfrm>
          <a:off x="4727633" y="1846591"/>
          <a:ext cx="709612" cy="328613"/>
        </p:xfrm>
        <a:graphic>
          <a:graphicData uri="http://schemas.openxmlformats.org/presentationml/2006/ole">
            <mc:AlternateContent xmlns:mc="http://schemas.openxmlformats.org/markup-compatibility/2006">
              <mc:Choice xmlns:v="urn:schemas-microsoft-com:vml" Requires="v">
                <p:oleObj name="Equation" r:id="rId2" imgW="457200" imgH="203040" progId="Equation.DSMT4">
                  <p:embed/>
                </p:oleObj>
              </mc:Choice>
              <mc:Fallback>
                <p:oleObj name="Equation" r:id="rId2" imgW="457200" imgH="203040" progId="Equation.DSMT4">
                  <p:embed/>
                  <p:pic>
                    <p:nvPicPr>
                      <p:cNvPr id="29" name="Object 28" descr="100 Ohms.&#10;">
                        <a:extLst>
                          <a:ext uri="{FF2B5EF4-FFF2-40B4-BE49-F238E27FC236}">
                            <a16:creationId xmlns:a16="http://schemas.microsoft.com/office/drawing/2014/main" id="{D9E1E47B-118F-F803-271F-E258F6FADD54}"/>
                          </a:ext>
                        </a:extLst>
                      </p:cNvPr>
                      <p:cNvPicPr>
                        <a:picLocks noChangeAspect="1" noChangeArrowheads="1"/>
                      </p:cNvPicPr>
                      <p:nvPr/>
                    </p:nvPicPr>
                    <p:blipFill>
                      <a:blip r:embed="rId3"/>
                      <a:srcRect/>
                      <a:stretch>
                        <a:fillRect/>
                      </a:stretch>
                    </p:blipFill>
                    <p:spPr bwMode="auto">
                      <a:xfrm>
                        <a:off x="4727633" y="1846591"/>
                        <a:ext cx="709612"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05EDE642-030C-0B61-E4A1-09412036F973}"/>
              </a:ext>
            </a:extLst>
          </p:cNvPr>
          <p:cNvSpPr>
            <a:spLocks noGrp="1"/>
          </p:cNvSpPr>
          <p:nvPr>
            <p:ph sz="quarter" idx="20"/>
          </p:nvPr>
        </p:nvSpPr>
        <p:spPr>
          <a:xfrm>
            <a:off x="5489542" y="1815387"/>
            <a:ext cx="907909" cy="344128"/>
          </a:xfrm>
        </p:spPr>
        <p:txBody>
          <a:bodyPr wrap="square" lIns="0" tIns="18000" rIns="0" bIns="18000" anchor="ctr" anchorCtr="0">
            <a:spAutoFit/>
          </a:bodyPr>
          <a:lstStyle/>
          <a:p>
            <a:pPr marL="0" indent="0">
              <a:buNone/>
            </a:pPr>
            <a:r>
              <a:rPr lang="en-US" altLang="en-US" sz="2000" noProof="0" dirty="0">
                <a:latin typeface="Arial" panose="020B0604020202020204" pitchFamily="34" charset="0"/>
                <a:cs typeface="Arial" panose="020B0604020202020204" pitchFamily="34" charset="0"/>
              </a:rPr>
              <a:t>resistor.</a:t>
            </a:r>
            <a:endParaRPr lang="en-US" sz="2000" noProof="0" dirty="0">
              <a:latin typeface="Arial" panose="020B0604020202020204" pitchFamily="34" charset="0"/>
              <a:cs typeface="Arial" panose="020B0604020202020204" pitchFamily="34" charset="0"/>
            </a:endParaRPr>
          </a:p>
        </p:txBody>
      </p:sp>
      <p:pic>
        <p:nvPicPr>
          <p:cNvPr id="30" name="Picture 2" descr="A circuit diagram with a 100-ohm resistor connected in series to a 1 V source.">
            <a:extLst>
              <a:ext uri="{FF2B5EF4-FFF2-40B4-BE49-F238E27FC236}">
                <a16:creationId xmlns:a16="http://schemas.microsoft.com/office/drawing/2014/main" id="{28426641-24F4-B214-61D9-C410BF89DF4B}"/>
              </a:ext>
            </a:extLst>
          </p:cNvPr>
          <p:cNvPicPr>
            <a:picLocks noChangeAspect="1" noChangeArrowheads="1"/>
          </p:cNvPicPr>
          <p:nvPr/>
        </p:nvPicPr>
        <p:blipFill>
          <a:blip r:embed="rId4"/>
          <a:stretch>
            <a:fillRect/>
          </a:stretch>
        </p:blipFill>
        <p:spPr bwMode="auto">
          <a:xfrm>
            <a:off x="3209889" y="2563670"/>
            <a:ext cx="2733608" cy="1420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4" descr="Cross mark">
            <a:extLst>
              <a:ext uri="{FF2B5EF4-FFF2-40B4-BE49-F238E27FC236}">
                <a16:creationId xmlns:a16="http://schemas.microsoft.com/office/drawing/2014/main" id="{7ADDF61F-C423-3988-ED45-5E2E4B23C5C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2805" y="481433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F7B23A4C-96F7-4210-4FA7-A0DEDE7F9892}"/>
              </a:ext>
            </a:extLst>
          </p:cNvPr>
          <p:cNvSpPr>
            <a:spLocks noGrp="1"/>
          </p:cNvSpPr>
          <p:nvPr>
            <p:ph sz="quarter" idx="21"/>
          </p:nvPr>
        </p:nvSpPr>
        <p:spPr>
          <a:xfrm>
            <a:off x="1161557" y="4205127"/>
            <a:ext cx="1016371" cy="344128"/>
          </a:xfrm>
        </p:spPr>
        <p:txBody>
          <a:bodyPr wrap="square" lIns="0" tIns="18000" rIns="0" bIns="18000" anchor="ctr" anchorCtr="0">
            <a:spAutoFit/>
          </a:bodyPr>
          <a:lstStyle/>
          <a:p>
            <a:pPr marL="0" indent="0">
              <a:buNone/>
            </a:pPr>
            <a:r>
              <a:rPr lang="en-US" sz="2000" noProof="0" dirty="0">
                <a:solidFill>
                  <a:srgbClr val="007FA3"/>
                </a:solidFill>
                <a:latin typeface="Arial" panose="020B0604020202020204" pitchFamily="34" charset="0"/>
                <a:cs typeface="Arial" panose="020B0604020202020204" pitchFamily="34" charset="0"/>
              </a:rPr>
              <a:t>A.</a:t>
            </a:r>
            <a:r>
              <a:rPr lang="en-US" sz="2000" noProof="0" dirty="0">
                <a:latin typeface="Arial" panose="020B0604020202020204" pitchFamily="34" charset="0"/>
                <a:cs typeface="Arial" panose="020B0604020202020204" pitchFamily="34" charset="0"/>
              </a:rPr>
              <a:t> series</a:t>
            </a:r>
          </a:p>
        </p:txBody>
      </p:sp>
      <p:pic>
        <p:nvPicPr>
          <p:cNvPr id="32" name="Picture 2" descr="Check mark">
            <a:extLst>
              <a:ext uri="{FF2B5EF4-FFF2-40B4-BE49-F238E27FC236}">
                <a16:creationId xmlns:a16="http://schemas.microsoft.com/office/drawing/2014/main" id="{549ED3B9-C4F0-13C3-B972-0F1C3FE9FB8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2805" y="4205127"/>
            <a:ext cx="308551" cy="270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0C93D001-31D7-D4CF-987D-0DD548468551}"/>
              </a:ext>
            </a:extLst>
          </p:cNvPr>
          <p:cNvSpPr>
            <a:spLocks noGrp="1"/>
          </p:cNvSpPr>
          <p:nvPr>
            <p:ph sz="quarter" idx="22"/>
          </p:nvPr>
        </p:nvSpPr>
        <p:spPr>
          <a:xfrm>
            <a:off x="1161557" y="4772007"/>
            <a:ext cx="1135604" cy="344128"/>
          </a:xfrm>
        </p:spPr>
        <p:txBody>
          <a:bodyPr wrap="square" lIns="0" tIns="18000" rIns="0" bIns="18000" anchor="ctr" anchorCtr="0">
            <a:spAutoFit/>
          </a:bodyPr>
          <a:lstStyle/>
          <a:p>
            <a:pPr marL="0" indent="0">
              <a:buNone/>
              <a:defRPr/>
            </a:pPr>
            <a:r>
              <a:rPr lang="en-US" sz="2000" noProof="0" dirty="0">
                <a:solidFill>
                  <a:srgbClr val="007FA3"/>
                </a:solidFill>
                <a:latin typeface="Arial" panose="020B0604020202020204" pitchFamily="34" charset="0"/>
                <a:cs typeface="Arial" panose="020B0604020202020204" pitchFamily="34" charset="0"/>
              </a:rPr>
              <a:t>B.</a:t>
            </a:r>
            <a:r>
              <a:rPr lang="en-US" sz="2000" noProof="0" dirty="0">
                <a:latin typeface="Arial" panose="020B0604020202020204" pitchFamily="34" charset="0"/>
                <a:cs typeface="Arial" panose="020B0604020202020204" pitchFamily="34" charset="0"/>
              </a:rPr>
              <a:t> parallel</a:t>
            </a:r>
          </a:p>
        </p:txBody>
      </p:sp>
      <p:pic>
        <p:nvPicPr>
          <p:cNvPr id="33" name="Picture 4" descr="Cross mark">
            <a:extLst>
              <a:ext uri="{FF2B5EF4-FFF2-40B4-BE49-F238E27FC236}">
                <a16:creationId xmlns:a16="http://schemas.microsoft.com/office/drawing/2014/main" id="{BF01A31A-CF7A-B894-7643-C98FD66193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2805" y="548186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F71E7CD0-1567-59C1-9E25-B08AD585936D}"/>
              </a:ext>
            </a:extLst>
          </p:cNvPr>
          <p:cNvSpPr>
            <a:spLocks noGrp="1"/>
          </p:cNvSpPr>
          <p:nvPr>
            <p:ph sz="quarter" idx="23"/>
          </p:nvPr>
        </p:nvSpPr>
        <p:spPr>
          <a:xfrm>
            <a:off x="1161557" y="5438344"/>
            <a:ext cx="2930170" cy="344128"/>
          </a:xfrm>
        </p:spPr>
        <p:txBody>
          <a:bodyPr wrap="square" lIns="0" tIns="18000" rIns="0" bIns="18000" anchor="ctr" anchorCtr="0">
            <a:spAutoFit/>
          </a:bodyPr>
          <a:lstStyle/>
          <a:p>
            <a:pPr marL="0" indent="0">
              <a:buNone/>
            </a:pPr>
            <a:r>
              <a:rPr lang="en-US" sz="2000" noProof="0" dirty="0">
                <a:solidFill>
                  <a:srgbClr val="007FA3"/>
                </a:solidFill>
                <a:latin typeface="Arial" panose="020B0604020202020204" pitchFamily="34" charset="0"/>
                <a:cs typeface="Arial" panose="020B0604020202020204" pitchFamily="34" charset="0"/>
              </a:rPr>
              <a:t>C.</a:t>
            </a:r>
            <a:r>
              <a:rPr lang="en-US" sz="2000" noProof="0" dirty="0">
                <a:latin typeface="Arial" panose="020B0604020202020204" pitchFamily="34" charset="0"/>
                <a:cs typeface="Arial" panose="020B0604020202020204" pitchFamily="34" charset="0"/>
              </a:rPr>
              <a:t> either series or parallel</a:t>
            </a:r>
          </a:p>
        </p:txBody>
      </p:sp>
    </p:spTree>
    <p:extLst>
      <p:ext uri="{BB962C8B-B14F-4D97-AF65-F5344CB8AC3E}">
        <p14:creationId xmlns:p14="http://schemas.microsoft.com/office/powerpoint/2010/main" val="3296775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D340DAF5-D9B2-498C-91F0-9F96F22F1900}"/>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(11 of 22)</a:t>
            </a:r>
          </a:p>
        </p:txBody>
      </p:sp>
      <p:sp>
        <p:nvSpPr>
          <p:cNvPr id="3" name="Content Placeholder 2">
            <a:extLst>
              <a:ext uri="{FF2B5EF4-FFF2-40B4-BE49-F238E27FC236}">
                <a16:creationId xmlns:a16="http://schemas.microsoft.com/office/drawing/2014/main" id="{A67E46AB-E134-4352-953D-CA0FEE5C6DB4}"/>
              </a:ext>
            </a:extLst>
          </p:cNvPr>
          <p:cNvSpPr>
            <a:spLocks noGrp="1"/>
          </p:cNvSpPr>
          <p:nvPr>
            <p:ph sz="quarter" idx="4294967295"/>
          </p:nvPr>
        </p:nvSpPr>
        <p:spPr>
          <a:xfrm>
            <a:off x="405120" y="1386367"/>
            <a:ext cx="5805682"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If we insert an ideal ammeter in series with the</a:t>
            </a:r>
            <a:endParaRPr lang="en-US" sz="2200" noProof="0" dirty="0">
              <a:latin typeface="Arial" panose="020B0604020202020204" pitchFamily="34" charset="0"/>
              <a:cs typeface="Arial" panose="020B0604020202020204" pitchFamily="34" charset="0"/>
            </a:endParaRPr>
          </a:p>
        </p:txBody>
      </p:sp>
      <p:graphicFrame>
        <p:nvGraphicFramePr>
          <p:cNvPr id="20" name="Object 19" descr="100 Ohms.&#10;">
            <a:extLst>
              <a:ext uri="{FF2B5EF4-FFF2-40B4-BE49-F238E27FC236}">
                <a16:creationId xmlns:a16="http://schemas.microsoft.com/office/drawing/2014/main" id="{0B30B711-B825-4EC8-92BF-0BD00C11DF51}"/>
              </a:ext>
            </a:extLst>
          </p:cNvPr>
          <p:cNvGraphicFramePr>
            <a:graphicFrameLocks noChangeAspect="1"/>
          </p:cNvGraphicFramePr>
          <p:nvPr>
            <p:extLst>
              <p:ext uri="{D42A27DB-BD31-4B8C-83A1-F6EECF244321}">
                <p14:modId xmlns:p14="http://schemas.microsoft.com/office/powerpoint/2010/main" val="3278689476"/>
              </p:ext>
            </p:extLst>
          </p:nvPr>
        </p:nvGraphicFramePr>
        <p:xfrm>
          <a:off x="6247290" y="1450153"/>
          <a:ext cx="671513" cy="328613"/>
        </p:xfrm>
        <a:graphic>
          <a:graphicData uri="http://schemas.openxmlformats.org/presentationml/2006/ole">
            <mc:AlternateContent xmlns:mc="http://schemas.openxmlformats.org/markup-compatibility/2006">
              <mc:Choice xmlns:v="urn:schemas-microsoft-com:vml" Requires="v">
                <p:oleObj name="Equation" r:id="rId2" imgW="431640" imgH="203040" progId="Equation.DSMT4">
                  <p:embed/>
                </p:oleObj>
              </mc:Choice>
              <mc:Fallback>
                <p:oleObj name="Equation" r:id="rId2" imgW="431640" imgH="203040" progId="Equation.DSMT4">
                  <p:embed/>
                  <p:pic>
                    <p:nvPicPr>
                      <p:cNvPr id="20" name="Object 19" descr="S subscript 0 colon">
                        <a:extLst>
                          <a:ext uri="{FF2B5EF4-FFF2-40B4-BE49-F238E27FC236}">
                            <a16:creationId xmlns:a16="http://schemas.microsoft.com/office/drawing/2014/main" id="{FED5BB7D-2513-4B37-9EFA-5E7A236389A9}"/>
                          </a:ext>
                        </a:extLst>
                      </p:cNvPr>
                      <p:cNvPicPr>
                        <a:picLocks noChangeAspect="1" noChangeArrowheads="1"/>
                      </p:cNvPicPr>
                      <p:nvPr/>
                    </p:nvPicPr>
                    <p:blipFill>
                      <a:blip r:embed="rId3"/>
                      <a:srcRect/>
                      <a:stretch>
                        <a:fillRect/>
                      </a:stretch>
                    </p:blipFill>
                    <p:spPr bwMode="auto">
                      <a:xfrm>
                        <a:off x="6247290" y="1450153"/>
                        <a:ext cx="671513"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F2DCC8EE-0158-4224-9771-D8C696156294}"/>
              </a:ext>
            </a:extLst>
          </p:cNvPr>
          <p:cNvSpPr>
            <a:spLocks noGrp="1"/>
          </p:cNvSpPr>
          <p:nvPr>
            <p:ph sz="quarter" idx="4294967295"/>
          </p:nvPr>
        </p:nvSpPr>
        <p:spPr>
          <a:xfrm>
            <a:off x="6997661" y="1389407"/>
            <a:ext cx="1005798"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resistor,</a:t>
            </a:r>
            <a:endParaRPr lang="en-US" sz="2200" noProof="0"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FEFBCDE-42FD-4899-8E81-E5606F18C61C}"/>
              </a:ext>
            </a:extLst>
          </p:cNvPr>
          <p:cNvSpPr>
            <a:spLocks noGrp="1"/>
          </p:cNvSpPr>
          <p:nvPr>
            <p:ph sz="quarter" idx="4294967295"/>
          </p:nvPr>
        </p:nvSpPr>
        <p:spPr>
          <a:xfrm>
            <a:off x="404080" y="1868841"/>
            <a:ext cx="3151837"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what will the meter read?</a:t>
            </a:r>
            <a:endParaRPr lang="en-US" sz="2200" noProof="0" dirty="0">
              <a:latin typeface="Arial" panose="020B0604020202020204" pitchFamily="34" charset="0"/>
              <a:cs typeface="Arial" panose="020B0604020202020204" pitchFamily="34" charset="0"/>
            </a:endParaRPr>
          </a:p>
        </p:txBody>
      </p:sp>
      <p:pic>
        <p:nvPicPr>
          <p:cNvPr id="21" name="Picture 2" descr="A circuit diagram with a 100-ohm resistor connected in series to a 1 V source.">
            <a:extLst>
              <a:ext uri="{FF2B5EF4-FFF2-40B4-BE49-F238E27FC236}">
                <a16:creationId xmlns:a16="http://schemas.microsoft.com/office/drawing/2014/main" id="{DF065376-CDA1-495A-A4FA-13416BC848A2}"/>
              </a:ext>
            </a:extLst>
          </p:cNvPr>
          <p:cNvPicPr>
            <a:picLocks noChangeAspect="1" noChangeArrowheads="1"/>
          </p:cNvPicPr>
          <p:nvPr/>
        </p:nvPicPr>
        <p:blipFill>
          <a:blip r:embed="rId4"/>
          <a:stretch>
            <a:fillRect/>
          </a:stretch>
        </p:blipFill>
        <p:spPr bwMode="auto">
          <a:xfrm>
            <a:off x="3371174" y="2515095"/>
            <a:ext cx="2485098" cy="1291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878D1834-DA74-4018-809B-4736D1B6962C}"/>
              </a:ext>
            </a:extLst>
          </p:cNvPr>
          <p:cNvSpPr>
            <a:spLocks noGrp="1"/>
          </p:cNvSpPr>
          <p:nvPr>
            <p:ph sz="quarter" idx="4294967295"/>
          </p:nvPr>
        </p:nvSpPr>
        <p:spPr>
          <a:xfrm>
            <a:off x="1146798" y="4069309"/>
            <a:ext cx="1224058"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A.</a:t>
            </a:r>
            <a:r>
              <a:rPr lang="en-US" sz="2200" noProof="0" dirty="0">
                <a:latin typeface="Arial" panose="020B0604020202020204" pitchFamily="34" charset="0"/>
                <a:cs typeface="Arial" panose="020B0604020202020204" pitchFamily="34" charset="0"/>
              </a:rPr>
              <a:t> 100 A</a:t>
            </a:r>
          </a:p>
        </p:txBody>
      </p:sp>
      <p:sp>
        <p:nvSpPr>
          <p:cNvPr id="7" name="Content Placeholder 6">
            <a:extLst>
              <a:ext uri="{FF2B5EF4-FFF2-40B4-BE49-F238E27FC236}">
                <a16:creationId xmlns:a16="http://schemas.microsoft.com/office/drawing/2014/main" id="{FAA6D405-4C68-47E3-92C4-79A2A7227607}"/>
              </a:ext>
            </a:extLst>
          </p:cNvPr>
          <p:cNvSpPr>
            <a:spLocks noGrp="1"/>
          </p:cNvSpPr>
          <p:nvPr>
            <p:ph sz="quarter" idx="4294967295"/>
          </p:nvPr>
        </p:nvSpPr>
        <p:spPr>
          <a:xfrm>
            <a:off x="1146798" y="4573093"/>
            <a:ext cx="1120115"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B.</a:t>
            </a:r>
            <a:r>
              <a:rPr lang="en-US" sz="2200" noProof="0" dirty="0">
                <a:latin typeface="Arial" panose="020B0604020202020204" pitchFamily="34" charset="0"/>
                <a:cs typeface="Arial" panose="020B0604020202020204" pitchFamily="34" charset="0"/>
              </a:rPr>
              <a:t> 1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A</a:t>
            </a:r>
          </a:p>
        </p:txBody>
      </p:sp>
      <p:sp>
        <p:nvSpPr>
          <p:cNvPr id="8" name="Content Placeholder 7">
            <a:extLst>
              <a:ext uri="{FF2B5EF4-FFF2-40B4-BE49-F238E27FC236}">
                <a16:creationId xmlns:a16="http://schemas.microsoft.com/office/drawing/2014/main" id="{20B9D6BE-D141-4A4A-B1CF-8F5F3577777C}"/>
              </a:ext>
            </a:extLst>
          </p:cNvPr>
          <p:cNvSpPr>
            <a:spLocks noGrp="1"/>
          </p:cNvSpPr>
          <p:nvPr>
            <p:ph sz="quarter" idx="4294967295"/>
          </p:nvPr>
        </p:nvSpPr>
        <p:spPr>
          <a:xfrm>
            <a:off x="1146798" y="5052929"/>
            <a:ext cx="1331940"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C. </a:t>
            </a:r>
            <a:r>
              <a:rPr lang="en-US" sz="2200" noProof="0" dirty="0">
                <a:latin typeface="Arial" panose="020B0604020202020204" pitchFamily="34" charset="0"/>
                <a:cs typeface="Arial" panose="020B0604020202020204" pitchFamily="34" charset="0"/>
              </a:rPr>
              <a:t>10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3160649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8A483-8180-CA97-656B-6D24D133CA88}"/>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A4A6A98-FE86-4623-DB07-687548FDCF22}"/>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(11 of 22)</a:t>
            </a:r>
          </a:p>
        </p:txBody>
      </p:sp>
      <p:sp>
        <p:nvSpPr>
          <p:cNvPr id="3" name="Content Placeholder 2">
            <a:extLst>
              <a:ext uri="{FF2B5EF4-FFF2-40B4-BE49-F238E27FC236}">
                <a16:creationId xmlns:a16="http://schemas.microsoft.com/office/drawing/2014/main" id="{FA717AA7-5A1D-6B48-450B-D15295D58301}"/>
              </a:ext>
            </a:extLst>
          </p:cNvPr>
          <p:cNvSpPr>
            <a:spLocks noGrp="1"/>
          </p:cNvSpPr>
          <p:nvPr>
            <p:ph sz="quarter" idx="4294967295"/>
          </p:nvPr>
        </p:nvSpPr>
        <p:spPr>
          <a:xfrm>
            <a:off x="405120" y="1386367"/>
            <a:ext cx="5805682"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If we insert an ideal ammeter in series with the</a:t>
            </a:r>
            <a:endParaRPr lang="en-US" sz="2200" noProof="0" dirty="0">
              <a:latin typeface="Arial" panose="020B0604020202020204" pitchFamily="34" charset="0"/>
              <a:cs typeface="Arial" panose="020B0604020202020204" pitchFamily="34" charset="0"/>
            </a:endParaRPr>
          </a:p>
        </p:txBody>
      </p:sp>
      <p:graphicFrame>
        <p:nvGraphicFramePr>
          <p:cNvPr id="20" name="Object 19" descr="100 Ohms.&#10;">
            <a:extLst>
              <a:ext uri="{FF2B5EF4-FFF2-40B4-BE49-F238E27FC236}">
                <a16:creationId xmlns:a16="http://schemas.microsoft.com/office/drawing/2014/main" id="{D2C9ED46-BD16-7346-CE5E-B7A7B45643BB}"/>
              </a:ext>
            </a:extLst>
          </p:cNvPr>
          <p:cNvGraphicFramePr>
            <a:graphicFrameLocks noChangeAspect="1"/>
          </p:cNvGraphicFramePr>
          <p:nvPr/>
        </p:nvGraphicFramePr>
        <p:xfrm>
          <a:off x="6247290" y="1450153"/>
          <a:ext cx="671513" cy="328613"/>
        </p:xfrm>
        <a:graphic>
          <a:graphicData uri="http://schemas.openxmlformats.org/presentationml/2006/ole">
            <mc:AlternateContent xmlns:mc="http://schemas.openxmlformats.org/markup-compatibility/2006">
              <mc:Choice xmlns:v="urn:schemas-microsoft-com:vml" Requires="v">
                <p:oleObj name="Equation" r:id="rId2" imgW="431640" imgH="203040" progId="Equation.DSMT4">
                  <p:embed/>
                </p:oleObj>
              </mc:Choice>
              <mc:Fallback>
                <p:oleObj name="Equation" r:id="rId2" imgW="431640" imgH="203040" progId="Equation.DSMT4">
                  <p:embed/>
                  <p:pic>
                    <p:nvPicPr>
                      <p:cNvPr id="20" name="Object 19" descr="100 Ohms.&#10;">
                        <a:extLst>
                          <a:ext uri="{FF2B5EF4-FFF2-40B4-BE49-F238E27FC236}">
                            <a16:creationId xmlns:a16="http://schemas.microsoft.com/office/drawing/2014/main" id="{0B30B711-B825-4EC8-92BF-0BD00C11DF51}"/>
                          </a:ext>
                        </a:extLst>
                      </p:cNvPr>
                      <p:cNvPicPr>
                        <a:picLocks noChangeAspect="1" noChangeArrowheads="1"/>
                      </p:cNvPicPr>
                      <p:nvPr/>
                    </p:nvPicPr>
                    <p:blipFill>
                      <a:blip r:embed="rId3"/>
                      <a:srcRect/>
                      <a:stretch>
                        <a:fillRect/>
                      </a:stretch>
                    </p:blipFill>
                    <p:spPr bwMode="auto">
                      <a:xfrm>
                        <a:off x="6247290" y="1450153"/>
                        <a:ext cx="671513"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E821AC3D-FCA8-4A82-5C7F-21480B67E2CD}"/>
              </a:ext>
            </a:extLst>
          </p:cNvPr>
          <p:cNvSpPr>
            <a:spLocks noGrp="1"/>
          </p:cNvSpPr>
          <p:nvPr>
            <p:ph sz="quarter" idx="4294967295"/>
          </p:nvPr>
        </p:nvSpPr>
        <p:spPr>
          <a:xfrm>
            <a:off x="6997661" y="1389407"/>
            <a:ext cx="1005798"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resistor,</a:t>
            </a:r>
            <a:endParaRPr lang="en-US" sz="2200" noProof="0"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0A21876E-8F30-F3B7-6488-D225F9E02EC3}"/>
              </a:ext>
            </a:extLst>
          </p:cNvPr>
          <p:cNvSpPr>
            <a:spLocks noGrp="1"/>
          </p:cNvSpPr>
          <p:nvPr>
            <p:ph sz="quarter" idx="4294967295"/>
          </p:nvPr>
        </p:nvSpPr>
        <p:spPr>
          <a:xfrm>
            <a:off x="404080" y="1868841"/>
            <a:ext cx="3151837" cy="374906"/>
          </a:xfrm>
        </p:spPr>
        <p:txBody>
          <a:bodyPr wrap="square" lIns="0" tIns="18000" rIns="0" bIns="18000" anchor="ctr" anchorCtr="0">
            <a:spAutoFit/>
          </a:bodyPr>
          <a:lstStyle/>
          <a:p>
            <a:pPr marL="0" indent="0">
              <a:buNone/>
            </a:pPr>
            <a:r>
              <a:rPr lang="en-US" altLang="en-US" sz="2200" noProof="0" dirty="0">
                <a:latin typeface="Arial" panose="020B0604020202020204" pitchFamily="34" charset="0"/>
                <a:cs typeface="Arial" panose="020B0604020202020204" pitchFamily="34" charset="0"/>
              </a:rPr>
              <a:t>what will the meter read?</a:t>
            </a:r>
            <a:endParaRPr lang="en-US" sz="2200" noProof="0" dirty="0">
              <a:latin typeface="Arial" panose="020B0604020202020204" pitchFamily="34" charset="0"/>
              <a:cs typeface="Arial" panose="020B0604020202020204" pitchFamily="34" charset="0"/>
            </a:endParaRPr>
          </a:p>
        </p:txBody>
      </p:sp>
      <p:pic>
        <p:nvPicPr>
          <p:cNvPr id="21" name="Picture 2" descr="A circuit diagram with a 100-ohm resistor connected in series to a 1 V source.">
            <a:extLst>
              <a:ext uri="{FF2B5EF4-FFF2-40B4-BE49-F238E27FC236}">
                <a16:creationId xmlns:a16="http://schemas.microsoft.com/office/drawing/2014/main" id="{4DB2D894-C5FC-4323-5F8E-9CC41030346D}"/>
              </a:ext>
            </a:extLst>
          </p:cNvPr>
          <p:cNvPicPr>
            <a:picLocks noChangeAspect="1" noChangeArrowheads="1"/>
          </p:cNvPicPr>
          <p:nvPr/>
        </p:nvPicPr>
        <p:blipFill>
          <a:blip r:embed="rId4"/>
          <a:stretch>
            <a:fillRect/>
          </a:stretch>
        </p:blipFill>
        <p:spPr bwMode="auto">
          <a:xfrm>
            <a:off x="3371174" y="2515095"/>
            <a:ext cx="2485098" cy="1291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4" descr="Cross mark">
            <a:extLst>
              <a:ext uri="{FF2B5EF4-FFF2-40B4-BE49-F238E27FC236}">
                <a16:creationId xmlns:a16="http://schemas.microsoft.com/office/drawing/2014/main" id="{459B3D89-D736-8E52-59EF-25DBB6EF5FA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4740" y="413140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CDD47131-CB4D-B5D4-6765-BAC2DFB95792}"/>
              </a:ext>
            </a:extLst>
          </p:cNvPr>
          <p:cNvSpPr>
            <a:spLocks noGrp="1"/>
          </p:cNvSpPr>
          <p:nvPr>
            <p:ph sz="quarter" idx="4294967295"/>
          </p:nvPr>
        </p:nvSpPr>
        <p:spPr>
          <a:xfrm>
            <a:off x="1146798" y="4069309"/>
            <a:ext cx="1224058"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A.</a:t>
            </a:r>
            <a:r>
              <a:rPr lang="en-US" sz="2200" noProof="0" dirty="0">
                <a:latin typeface="Arial" panose="020B0604020202020204" pitchFamily="34" charset="0"/>
                <a:cs typeface="Arial" panose="020B0604020202020204" pitchFamily="34" charset="0"/>
              </a:rPr>
              <a:t> 100 A</a:t>
            </a:r>
          </a:p>
        </p:txBody>
      </p:sp>
      <p:pic>
        <p:nvPicPr>
          <p:cNvPr id="23" name="Picture 3" descr="Cross mark">
            <a:extLst>
              <a:ext uri="{FF2B5EF4-FFF2-40B4-BE49-F238E27FC236}">
                <a16:creationId xmlns:a16="http://schemas.microsoft.com/office/drawing/2014/main" id="{2C9CD910-4F32-957E-621C-3733F219FA4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5948" y="463080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F0A56AE2-3780-3453-A3D2-1500E7254C82}"/>
              </a:ext>
            </a:extLst>
          </p:cNvPr>
          <p:cNvSpPr>
            <a:spLocks noGrp="1"/>
          </p:cNvSpPr>
          <p:nvPr>
            <p:ph sz="quarter" idx="4294967295"/>
          </p:nvPr>
        </p:nvSpPr>
        <p:spPr>
          <a:xfrm>
            <a:off x="1146798" y="4573093"/>
            <a:ext cx="1120115"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B.</a:t>
            </a:r>
            <a:r>
              <a:rPr lang="en-US" sz="2200" noProof="0" dirty="0">
                <a:latin typeface="Arial" panose="020B0604020202020204" pitchFamily="34" charset="0"/>
                <a:cs typeface="Arial" panose="020B0604020202020204" pitchFamily="34" charset="0"/>
              </a:rPr>
              <a:t> 1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A</a:t>
            </a:r>
          </a:p>
        </p:txBody>
      </p:sp>
      <p:pic>
        <p:nvPicPr>
          <p:cNvPr id="24" name="Picture 2" descr="Check mark">
            <a:extLst>
              <a:ext uri="{FF2B5EF4-FFF2-40B4-BE49-F238E27FC236}">
                <a16:creationId xmlns:a16="http://schemas.microsoft.com/office/drawing/2014/main" id="{295A56E5-7107-B458-F024-B59BC6DF2FA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5813" y="5126787"/>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44E7BAC0-8355-4B48-06D0-97B67086271F}"/>
              </a:ext>
            </a:extLst>
          </p:cNvPr>
          <p:cNvSpPr>
            <a:spLocks noGrp="1"/>
          </p:cNvSpPr>
          <p:nvPr>
            <p:ph sz="quarter" idx="4294967295"/>
          </p:nvPr>
        </p:nvSpPr>
        <p:spPr>
          <a:xfrm>
            <a:off x="1146798" y="5052929"/>
            <a:ext cx="1331940" cy="374906"/>
          </a:xfrm>
        </p:spPr>
        <p:txBody>
          <a:bodyPr wrap="square" lIns="0" tIns="18000" rIns="0" bIns="18000" anchor="ctr" anchorCtr="0">
            <a:spAutoFit/>
          </a:bodyPr>
          <a:lstStyle/>
          <a:p>
            <a:pPr marL="0" indent="0">
              <a:buNone/>
            </a:pPr>
            <a:r>
              <a:rPr lang="en-US" sz="2200" noProof="0" dirty="0">
                <a:solidFill>
                  <a:srgbClr val="007FA3"/>
                </a:solidFill>
                <a:latin typeface="Arial" panose="020B0604020202020204" pitchFamily="34" charset="0"/>
                <a:cs typeface="Arial" panose="020B0604020202020204" pitchFamily="34" charset="0"/>
              </a:rPr>
              <a:t>C. </a:t>
            </a:r>
            <a:r>
              <a:rPr lang="en-US" sz="2200" noProof="0" dirty="0">
                <a:latin typeface="Arial" panose="020B0604020202020204" pitchFamily="34" charset="0"/>
                <a:cs typeface="Arial" panose="020B0604020202020204" pitchFamily="34" charset="0"/>
              </a:rPr>
              <a:t>10 m</a:t>
            </a:r>
            <a:r>
              <a:rPr lang="en-US" sz="100" noProof="0" dirty="0">
                <a:latin typeface="Arial" panose="020B0604020202020204" pitchFamily="34" charset="0"/>
                <a:cs typeface="Arial" panose="020B0604020202020204" pitchFamily="34" charset="0"/>
              </a:rPr>
              <a:t> </a:t>
            </a:r>
            <a:r>
              <a:rPr lang="en-US" sz="2200" noProof="0"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2111087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D12CE159-8B2F-429A-EC03-7743B582F075}"/>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(12 of 22)</a:t>
            </a:r>
          </a:p>
        </p:txBody>
      </p:sp>
      <p:sp>
        <p:nvSpPr>
          <p:cNvPr id="3" name="Content Placeholder 2">
            <a:extLst>
              <a:ext uri="{FF2B5EF4-FFF2-40B4-BE49-F238E27FC236}">
                <a16:creationId xmlns:a16="http://schemas.microsoft.com/office/drawing/2014/main" id="{7239DB60-6BA5-3287-F103-923A95F52856}"/>
              </a:ext>
            </a:extLst>
          </p:cNvPr>
          <p:cNvSpPr>
            <a:spLocks noGrp="1"/>
          </p:cNvSpPr>
          <p:nvPr>
            <p:ph sz="quarter" idx="4294967295"/>
          </p:nvPr>
        </p:nvSpPr>
        <p:spPr>
          <a:xfrm>
            <a:off x="404524" y="1385788"/>
            <a:ext cx="8271475" cy="1152042"/>
          </a:xfrm>
        </p:spPr>
        <p:txBody>
          <a:bodyPr wrap="square" lIns="0" tIns="18000" rIns="0" bIns="18000" anchor="ctr" anchorCtr="0">
            <a:spAutoFit/>
          </a:bodyPr>
          <a:lstStyle/>
          <a:p>
            <a:pPr marL="0" indent="0">
              <a:buNone/>
            </a:pPr>
            <a:r>
              <a:rPr lang="en-US" altLang="en-US" sz="2000" noProof="0" dirty="0">
                <a:latin typeface="Arial" panose="020B0604020202020204" pitchFamily="34" charset="0"/>
                <a:cs typeface="Arial" panose="020B0604020202020204" pitchFamily="34" charset="0"/>
              </a:rPr>
              <a:t>Measuring current and voltage</a:t>
            </a:r>
          </a:p>
          <a:p>
            <a:pPr marL="0" indent="0">
              <a:buNone/>
            </a:pPr>
            <a:r>
              <a:rPr lang="en-US" altLang="en-US" sz="2000" noProof="0" dirty="0">
                <a:latin typeface="Arial" panose="020B0604020202020204" pitchFamily="34" charset="0"/>
                <a:cs typeface="Arial" panose="020B0604020202020204" pitchFamily="34" charset="0"/>
              </a:rPr>
              <a:t>Suppose we use the ammeter from the example to measure the current </a:t>
            </a:r>
            <a:r>
              <a:rPr lang="en-US" altLang="en-US" sz="2000" i="1" noProof="0" dirty="0" err="1">
                <a:latin typeface="Arial" panose="020B0604020202020204" pitchFamily="34" charset="0"/>
                <a:cs typeface="Arial" panose="020B0604020202020204" pitchFamily="34" charset="0"/>
              </a:rPr>
              <a:t>i</a:t>
            </a:r>
            <a:r>
              <a:rPr lang="en-US" altLang="en-US" sz="2000" noProof="0" dirty="0">
                <a:latin typeface="Arial" panose="020B0604020202020204" pitchFamily="34" charset="0"/>
                <a:cs typeface="Arial" panose="020B0604020202020204" pitchFamily="34" charset="0"/>
              </a:rPr>
              <a:t> in the circuit here. What will the ammeter read?</a:t>
            </a:r>
          </a:p>
        </p:txBody>
      </p:sp>
      <p:pic>
        <p:nvPicPr>
          <p:cNvPr id="33" name="Picture 32" descr="A circuit diagram with a 100-ohm resistor connected in series to a 1 V source.">
            <a:extLst>
              <a:ext uri="{FF2B5EF4-FFF2-40B4-BE49-F238E27FC236}">
                <a16:creationId xmlns:a16="http://schemas.microsoft.com/office/drawing/2014/main" id="{D68A26D7-B039-33FB-FDCC-B764A62BA8CE}"/>
              </a:ext>
            </a:extLst>
          </p:cNvPr>
          <p:cNvPicPr>
            <a:picLocks noChangeAspect="1"/>
          </p:cNvPicPr>
          <p:nvPr/>
        </p:nvPicPr>
        <p:blipFill>
          <a:blip r:embed="rId2"/>
          <a:stretch>
            <a:fillRect/>
          </a:stretch>
        </p:blipFill>
        <p:spPr>
          <a:xfrm>
            <a:off x="3476465" y="2863469"/>
            <a:ext cx="2286319" cy="1188210"/>
          </a:xfrm>
          <a:prstGeom prst="rect">
            <a:avLst/>
          </a:prstGeom>
        </p:spPr>
      </p:pic>
      <p:sp>
        <p:nvSpPr>
          <p:cNvPr id="4" name="Content Placeholder 3">
            <a:extLst>
              <a:ext uri="{FF2B5EF4-FFF2-40B4-BE49-F238E27FC236}">
                <a16:creationId xmlns:a16="http://schemas.microsoft.com/office/drawing/2014/main" id="{29C51AEF-6F89-B604-ED98-D44513F7E9B8}"/>
              </a:ext>
            </a:extLst>
          </p:cNvPr>
          <p:cNvSpPr>
            <a:spLocks noGrp="1"/>
          </p:cNvSpPr>
          <p:nvPr>
            <p:ph sz="quarter" idx="4294967295"/>
          </p:nvPr>
        </p:nvSpPr>
        <p:spPr>
          <a:xfrm>
            <a:off x="404523" y="4280266"/>
            <a:ext cx="3696421" cy="344128"/>
          </a:xfrm>
        </p:spPr>
        <p:txBody>
          <a:bodyPr wrap="square" lIns="0" tIns="18000" rIns="0" bIns="18000" anchor="ctr" anchorCtr="0">
            <a:spAutoFit/>
          </a:bodyPr>
          <a:lstStyle/>
          <a:p>
            <a:pPr marL="0" indent="0">
              <a:buNone/>
            </a:pPr>
            <a:r>
              <a:rPr lang="en-US" sz="2000" noProof="0" dirty="0">
                <a:latin typeface="Arial" panose="020B0604020202020204" pitchFamily="34" charset="0"/>
                <a:cs typeface="Arial" panose="020B0604020202020204" pitchFamily="34" charset="0"/>
              </a:rPr>
              <a:t>The resistance of the ammeter is</a:t>
            </a:r>
          </a:p>
        </p:txBody>
      </p:sp>
      <p:graphicFrame>
        <p:nvGraphicFramePr>
          <p:cNvPr id="26" name="Object 25" descr="5 Ohms.&#10;">
            <a:extLst>
              <a:ext uri="{FF2B5EF4-FFF2-40B4-BE49-F238E27FC236}">
                <a16:creationId xmlns:a16="http://schemas.microsoft.com/office/drawing/2014/main" id="{DE739FFC-123C-10DD-5881-9D7ECF6D8D6F}"/>
              </a:ext>
            </a:extLst>
          </p:cNvPr>
          <p:cNvGraphicFramePr>
            <a:graphicFrameLocks noChangeAspect="1"/>
          </p:cNvGraphicFramePr>
          <p:nvPr>
            <p:extLst>
              <p:ext uri="{D42A27DB-BD31-4B8C-83A1-F6EECF244321}">
                <p14:modId xmlns:p14="http://schemas.microsoft.com/office/powerpoint/2010/main" val="3020077003"/>
              </p:ext>
            </p:extLst>
          </p:nvPr>
        </p:nvGraphicFramePr>
        <p:xfrm>
          <a:off x="4173538" y="4327525"/>
          <a:ext cx="454025" cy="328613"/>
        </p:xfrm>
        <a:graphic>
          <a:graphicData uri="http://schemas.openxmlformats.org/presentationml/2006/ole">
            <mc:AlternateContent xmlns:mc="http://schemas.openxmlformats.org/markup-compatibility/2006">
              <mc:Choice xmlns:v="urn:schemas-microsoft-com:vml" Requires="v">
                <p:oleObj name="Equation" r:id="rId3" imgW="291960" imgH="203040" progId="Equation.DSMT4">
                  <p:embed/>
                </p:oleObj>
              </mc:Choice>
              <mc:Fallback>
                <p:oleObj name="Equation" r:id="rId3" imgW="291960" imgH="203040" progId="Equation.DSMT4">
                  <p:embed/>
                  <p:pic>
                    <p:nvPicPr>
                      <p:cNvPr id="20" name="Object 19" descr="S subscript 0 colon">
                        <a:extLst>
                          <a:ext uri="{FF2B5EF4-FFF2-40B4-BE49-F238E27FC236}">
                            <a16:creationId xmlns:a16="http://schemas.microsoft.com/office/drawing/2014/main" id="{0B30B711-B825-4EC8-92BF-0BD00C11DF51}"/>
                          </a:ext>
                        </a:extLst>
                      </p:cNvPr>
                      <p:cNvPicPr>
                        <a:picLocks noChangeAspect="1" noChangeArrowheads="1"/>
                      </p:cNvPicPr>
                      <p:nvPr/>
                    </p:nvPicPr>
                    <p:blipFill>
                      <a:blip r:embed="rId4"/>
                      <a:srcRect/>
                      <a:stretch>
                        <a:fillRect/>
                      </a:stretch>
                    </p:blipFill>
                    <p:spPr bwMode="auto">
                      <a:xfrm>
                        <a:off x="4173538" y="4327525"/>
                        <a:ext cx="454025"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40C686C0-E14C-6FFB-DB73-6BF3B288F67C}"/>
              </a:ext>
            </a:extLst>
          </p:cNvPr>
          <p:cNvSpPr>
            <a:spLocks noGrp="1"/>
          </p:cNvSpPr>
          <p:nvPr>
            <p:ph sz="quarter" idx="4294967295"/>
          </p:nvPr>
        </p:nvSpPr>
        <p:spPr>
          <a:xfrm>
            <a:off x="4730535" y="4280266"/>
            <a:ext cx="3696421" cy="344128"/>
          </a:xfrm>
        </p:spPr>
        <p:txBody>
          <a:bodyPr wrap="square" lIns="0" tIns="18000" rIns="0" bIns="18000" anchor="ctr" anchorCtr="0">
            <a:spAutoFit/>
          </a:bodyPr>
          <a:lstStyle/>
          <a:p>
            <a:pPr marL="0" indent="0">
              <a:buNone/>
            </a:pPr>
            <a:r>
              <a:rPr lang="en-US" sz="2000" noProof="0" dirty="0">
                <a:latin typeface="Arial" panose="020B0604020202020204" pitchFamily="34" charset="0"/>
                <a:cs typeface="Arial" panose="020B0604020202020204" pitchFamily="34" charset="0"/>
                <a:sym typeface="Symbol"/>
              </a:rPr>
              <a:t>Since the ammeter is inserted in</a:t>
            </a:r>
            <a:endParaRPr lang="en-US" sz="2000" noProof="0"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72E62534-9559-ED33-0AD2-F33698AA8221}"/>
              </a:ext>
            </a:extLst>
          </p:cNvPr>
          <p:cNvSpPr>
            <a:spLocks noGrp="1"/>
          </p:cNvSpPr>
          <p:nvPr>
            <p:ph sz="quarter" idx="4294967295"/>
          </p:nvPr>
        </p:nvSpPr>
        <p:spPr>
          <a:xfrm>
            <a:off x="404524" y="4741014"/>
            <a:ext cx="1670069" cy="344128"/>
          </a:xfrm>
        </p:spPr>
        <p:txBody>
          <a:bodyPr wrap="square" lIns="0" tIns="18000" rIns="0" bIns="18000" anchor="ctr" anchorCtr="0">
            <a:spAutoFit/>
          </a:bodyPr>
          <a:lstStyle/>
          <a:p>
            <a:pPr marL="0" indent="0">
              <a:buNone/>
            </a:pPr>
            <a:r>
              <a:rPr lang="en-US" sz="2000" noProof="0" dirty="0">
                <a:latin typeface="Arial" panose="020B0604020202020204" pitchFamily="34" charset="0"/>
                <a:cs typeface="Arial" panose="020B0604020202020204" pitchFamily="34" charset="0"/>
                <a:sym typeface="Symbol"/>
              </a:rPr>
              <a:t>series with the</a:t>
            </a:r>
            <a:endParaRPr lang="en-US" sz="2000" noProof="0" dirty="0">
              <a:latin typeface="Arial" panose="020B0604020202020204" pitchFamily="34" charset="0"/>
              <a:cs typeface="Arial" panose="020B0604020202020204" pitchFamily="34" charset="0"/>
            </a:endParaRPr>
          </a:p>
        </p:txBody>
      </p:sp>
      <p:graphicFrame>
        <p:nvGraphicFramePr>
          <p:cNvPr id="27" name="Object 26" descr="100 Ohms.&#10;">
            <a:extLst>
              <a:ext uri="{FF2B5EF4-FFF2-40B4-BE49-F238E27FC236}">
                <a16:creationId xmlns:a16="http://schemas.microsoft.com/office/drawing/2014/main" id="{7E0C554F-9109-6DA0-559A-D6A394126BB8}"/>
              </a:ext>
            </a:extLst>
          </p:cNvPr>
          <p:cNvGraphicFramePr>
            <a:graphicFrameLocks noChangeAspect="1"/>
          </p:cNvGraphicFramePr>
          <p:nvPr>
            <p:extLst>
              <p:ext uri="{D42A27DB-BD31-4B8C-83A1-F6EECF244321}">
                <p14:modId xmlns:p14="http://schemas.microsoft.com/office/powerpoint/2010/main" val="784762701"/>
              </p:ext>
            </p:extLst>
          </p:nvPr>
        </p:nvGraphicFramePr>
        <p:xfrm>
          <a:off x="2112106" y="4775490"/>
          <a:ext cx="671512" cy="328613"/>
        </p:xfrm>
        <a:graphic>
          <a:graphicData uri="http://schemas.openxmlformats.org/presentationml/2006/ole">
            <mc:AlternateContent xmlns:mc="http://schemas.openxmlformats.org/markup-compatibility/2006">
              <mc:Choice xmlns:v="urn:schemas-microsoft-com:vml" Requires="v">
                <p:oleObj name="Equation" r:id="rId5" imgW="431640" imgH="203040" progId="Equation.DSMT4">
                  <p:embed/>
                </p:oleObj>
              </mc:Choice>
              <mc:Fallback>
                <p:oleObj name="Equation" r:id="rId5" imgW="431640" imgH="203040" progId="Equation.DSMT4">
                  <p:embed/>
                  <p:pic>
                    <p:nvPicPr>
                      <p:cNvPr id="26" name="Object 25" descr="S subscript 0 colon">
                        <a:extLst>
                          <a:ext uri="{FF2B5EF4-FFF2-40B4-BE49-F238E27FC236}">
                            <a16:creationId xmlns:a16="http://schemas.microsoft.com/office/drawing/2014/main" id="{DE739FFC-123C-10DD-5881-9D7ECF6D8D6F}"/>
                          </a:ext>
                        </a:extLst>
                      </p:cNvPr>
                      <p:cNvPicPr>
                        <a:picLocks noChangeAspect="1" noChangeArrowheads="1"/>
                      </p:cNvPicPr>
                      <p:nvPr/>
                    </p:nvPicPr>
                    <p:blipFill>
                      <a:blip r:embed="rId6"/>
                      <a:srcRect/>
                      <a:stretch>
                        <a:fillRect/>
                      </a:stretch>
                    </p:blipFill>
                    <p:spPr bwMode="auto">
                      <a:xfrm>
                        <a:off x="2112106" y="4775490"/>
                        <a:ext cx="671512"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7EFCDE10-CADA-2B6C-1B94-7D0DEB73BF71}"/>
              </a:ext>
            </a:extLst>
          </p:cNvPr>
          <p:cNvSpPr>
            <a:spLocks noGrp="1"/>
          </p:cNvSpPr>
          <p:nvPr>
            <p:ph sz="quarter" idx="4294967295"/>
          </p:nvPr>
        </p:nvSpPr>
        <p:spPr>
          <a:xfrm>
            <a:off x="2870167" y="4725514"/>
            <a:ext cx="5783976" cy="344128"/>
          </a:xfrm>
        </p:spPr>
        <p:txBody>
          <a:bodyPr wrap="square" lIns="0" tIns="18000" rIns="0" bIns="18000" anchor="ctr" anchorCtr="0">
            <a:spAutoFit/>
          </a:bodyPr>
          <a:lstStyle/>
          <a:p>
            <a:pPr marL="0" indent="0">
              <a:buNone/>
            </a:pPr>
            <a:r>
              <a:rPr lang="en-US" sz="2000" noProof="0" dirty="0">
                <a:latin typeface="Arial" panose="020B0604020202020204" pitchFamily="34" charset="0"/>
                <a:cs typeface="Arial" panose="020B0604020202020204" pitchFamily="34" charset="0"/>
                <a:sym typeface="Symbol"/>
              </a:rPr>
              <a:t>resistor, the equivalent resistance seen by the 10 V</a:t>
            </a:r>
            <a:endParaRPr lang="en-US" sz="2000" noProof="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3E4361E5-FDB5-5128-3ABF-730A3FEB8FFE}"/>
              </a:ext>
            </a:extLst>
          </p:cNvPr>
          <p:cNvSpPr>
            <a:spLocks noGrp="1"/>
          </p:cNvSpPr>
          <p:nvPr>
            <p:ph sz="quarter" idx="4294967295"/>
          </p:nvPr>
        </p:nvSpPr>
        <p:spPr>
          <a:xfrm>
            <a:off x="402243" y="5189312"/>
            <a:ext cx="1094052" cy="344128"/>
          </a:xfrm>
        </p:spPr>
        <p:txBody>
          <a:bodyPr wrap="square" lIns="0" tIns="18000" rIns="0" bIns="18000" anchor="ctr" anchorCtr="0">
            <a:spAutoFit/>
          </a:bodyPr>
          <a:lstStyle/>
          <a:p>
            <a:pPr marL="0" indent="0">
              <a:buNone/>
            </a:pPr>
            <a:r>
              <a:rPr lang="en-US" sz="2000" noProof="0" dirty="0">
                <a:latin typeface="Arial" panose="020B0604020202020204" pitchFamily="34" charset="0"/>
                <a:cs typeface="Arial" panose="020B0604020202020204" pitchFamily="34" charset="0"/>
                <a:sym typeface="Symbol"/>
              </a:rPr>
              <a:t>source is</a:t>
            </a:r>
            <a:endParaRPr lang="en-US" sz="2000" noProof="0" dirty="0">
              <a:latin typeface="Arial" panose="020B0604020202020204" pitchFamily="34" charset="0"/>
              <a:cs typeface="Arial" panose="020B0604020202020204" pitchFamily="34" charset="0"/>
            </a:endParaRPr>
          </a:p>
        </p:txBody>
      </p:sp>
      <p:graphicFrame>
        <p:nvGraphicFramePr>
          <p:cNvPr id="28" name="Object 27" descr="100 plus 5 equals 105 Ohms.&#10;">
            <a:extLst>
              <a:ext uri="{FF2B5EF4-FFF2-40B4-BE49-F238E27FC236}">
                <a16:creationId xmlns:a16="http://schemas.microsoft.com/office/drawing/2014/main" id="{84FA0E7D-F18E-54F7-186A-D8D51AA464E5}"/>
              </a:ext>
            </a:extLst>
          </p:cNvPr>
          <p:cNvGraphicFramePr>
            <a:graphicFrameLocks noChangeAspect="1"/>
          </p:cNvGraphicFramePr>
          <p:nvPr>
            <p:extLst>
              <p:ext uri="{D42A27DB-BD31-4B8C-83A1-F6EECF244321}">
                <p14:modId xmlns:p14="http://schemas.microsoft.com/office/powerpoint/2010/main" val="3682271013"/>
              </p:ext>
            </p:extLst>
          </p:nvPr>
        </p:nvGraphicFramePr>
        <p:xfrm>
          <a:off x="1531938" y="5225692"/>
          <a:ext cx="1676400" cy="328613"/>
        </p:xfrm>
        <a:graphic>
          <a:graphicData uri="http://schemas.openxmlformats.org/presentationml/2006/ole">
            <mc:AlternateContent xmlns:mc="http://schemas.openxmlformats.org/markup-compatibility/2006">
              <mc:Choice xmlns:v="urn:schemas-microsoft-com:vml" Requires="v">
                <p:oleObj name="Equation" r:id="rId7" imgW="1079280" imgH="203040" progId="Equation.DSMT4">
                  <p:embed/>
                </p:oleObj>
              </mc:Choice>
              <mc:Fallback>
                <p:oleObj name="Equation" r:id="rId7" imgW="1079280" imgH="203040" progId="Equation.DSMT4">
                  <p:embed/>
                  <p:pic>
                    <p:nvPicPr>
                      <p:cNvPr id="27" name="Object 26" descr="S subscript 0 colon">
                        <a:extLst>
                          <a:ext uri="{FF2B5EF4-FFF2-40B4-BE49-F238E27FC236}">
                            <a16:creationId xmlns:a16="http://schemas.microsoft.com/office/drawing/2014/main" id="{7E0C554F-9109-6DA0-559A-D6A394126BB8}"/>
                          </a:ext>
                        </a:extLst>
                      </p:cNvPr>
                      <p:cNvPicPr>
                        <a:picLocks noChangeAspect="1" noChangeArrowheads="1"/>
                      </p:cNvPicPr>
                      <p:nvPr/>
                    </p:nvPicPr>
                    <p:blipFill>
                      <a:blip r:embed="rId8"/>
                      <a:srcRect/>
                      <a:stretch>
                        <a:fillRect/>
                      </a:stretch>
                    </p:blipFill>
                    <p:spPr bwMode="auto">
                      <a:xfrm>
                        <a:off x="1531938" y="5225692"/>
                        <a:ext cx="1676400"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E6D73643-F546-52BD-4B50-816609B250EF}"/>
              </a:ext>
            </a:extLst>
          </p:cNvPr>
          <p:cNvSpPr>
            <a:spLocks noGrp="1"/>
          </p:cNvSpPr>
          <p:nvPr>
            <p:ph sz="quarter" idx="4294967295"/>
          </p:nvPr>
        </p:nvSpPr>
        <p:spPr>
          <a:xfrm>
            <a:off x="3294446" y="5191222"/>
            <a:ext cx="1240740" cy="344128"/>
          </a:xfrm>
        </p:spPr>
        <p:txBody>
          <a:bodyPr wrap="square" lIns="0" tIns="18000" rIns="0" bIns="18000" anchor="ctr" anchorCtr="0">
            <a:spAutoFit/>
          </a:bodyPr>
          <a:lstStyle/>
          <a:p>
            <a:pPr marL="0" indent="0">
              <a:buNone/>
            </a:pPr>
            <a:r>
              <a:rPr lang="en-US" sz="2000" noProof="0" dirty="0">
                <a:latin typeface="Arial" panose="020B0604020202020204" pitchFamily="34" charset="0"/>
                <a:cs typeface="Arial" panose="020B0604020202020204" pitchFamily="34" charset="0"/>
                <a:sym typeface="Symbol"/>
              </a:rPr>
              <a:t>Therefore,</a:t>
            </a:r>
            <a:endParaRPr lang="en-US" sz="2000" noProof="0" dirty="0">
              <a:latin typeface="Arial" panose="020B0604020202020204" pitchFamily="34" charset="0"/>
              <a:cs typeface="Arial" panose="020B0604020202020204" pitchFamily="34" charset="0"/>
            </a:endParaRPr>
          </a:p>
        </p:txBody>
      </p:sp>
      <p:graphicFrame>
        <p:nvGraphicFramePr>
          <p:cNvPr id="29" name="Object 28" descr="i equals StartFraction 1 over 105 EndFraction equals 0.009524 equals 9.524 milliAmperes.&#10;">
            <a:extLst>
              <a:ext uri="{FF2B5EF4-FFF2-40B4-BE49-F238E27FC236}">
                <a16:creationId xmlns:a16="http://schemas.microsoft.com/office/drawing/2014/main" id="{0068BCBB-C4F1-06F9-301B-4C3809763D5C}"/>
              </a:ext>
            </a:extLst>
          </p:cNvPr>
          <p:cNvGraphicFramePr>
            <a:graphicFrameLocks noChangeAspect="1"/>
          </p:cNvGraphicFramePr>
          <p:nvPr>
            <p:extLst>
              <p:ext uri="{D42A27DB-BD31-4B8C-83A1-F6EECF244321}">
                <p14:modId xmlns:p14="http://schemas.microsoft.com/office/powerpoint/2010/main" val="1819782815"/>
              </p:ext>
            </p:extLst>
          </p:nvPr>
        </p:nvGraphicFramePr>
        <p:xfrm>
          <a:off x="2917676" y="5640351"/>
          <a:ext cx="3390900" cy="636588"/>
        </p:xfrm>
        <a:graphic>
          <a:graphicData uri="http://schemas.openxmlformats.org/presentationml/2006/ole">
            <mc:AlternateContent xmlns:mc="http://schemas.openxmlformats.org/markup-compatibility/2006">
              <mc:Choice xmlns:v="urn:schemas-microsoft-com:vml" Requires="v">
                <p:oleObj name="Equation" r:id="rId9" imgW="2184120" imgH="393480" progId="Equation.DSMT4">
                  <p:embed/>
                </p:oleObj>
              </mc:Choice>
              <mc:Fallback>
                <p:oleObj name="Equation" r:id="rId9" imgW="2184120" imgH="393480" progId="Equation.DSMT4">
                  <p:embed/>
                  <p:pic>
                    <p:nvPicPr>
                      <p:cNvPr id="28" name="Object 27" descr="S subscript 0 colon">
                        <a:extLst>
                          <a:ext uri="{FF2B5EF4-FFF2-40B4-BE49-F238E27FC236}">
                            <a16:creationId xmlns:a16="http://schemas.microsoft.com/office/drawing/2014/main" id="{84FA0E7D-F18E-54F7-186A-D8D51AA464E5}"/>
                          </a:ext>
                        </a:extLst>
                      </p:cNvPr>
                      <p:cNvPicPr>
                        <a:picLocks noChangeAspect="1" noChangeArrowheads="1"/>
                      </p:cNvPicPr>
                      <p:nvPr/>
                    </p:nvPicPr>
                    <p:blipFill>
                      <a:blip r:embed="rId10"/>
                      <a:srcRect/>
                      <a:stretch>
                        <a:fillRect/>
                      </a:stretch>
                    </p:blipFill>
                    <p:spPr bwMode="auto">
                      <a:xfrm>
                        <a:off x="2917676" y="5640351"/>
                        <a:ext cx="3390900"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88908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22515B40-3FB4-D65D-546F-FE4E87534BF1}"/>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(13 of 22)</a:t>
            </a:r>
          </a:p>
        </p:txBody>
      </p:sp>
      <p:sp>
        <p:nvSpPr>
          <p:cNvPr id="3" name="Content Placeholder 2">
            <a:extLst>
              <a:ext uri="{FF2B5EF4-FFF2-40B4-BE49-F238E27FC236}">
                <a16:creationId xmlns:a16="http://schemas.microsoft.com/office/drawing/2014/main" id="{A8DDAA8F-F204-10E6-88B8-8A23BB2B6A26}"/>
              </a:ext>
            </a:extLst>
          </p:cNvPr>
          <p:cNvSpPr>
            <a:spLocks noGrp="1"/>
          </p:cNvSpPr>
          <p:nvPr>
            <p:ph sz="quarter" idx="10"/>
          </p:nvPr>
        </p:nvSpPr>
        <p:spPr>
          <a:xfrm>
            <a:off x="404252" y="1388967"/>
            <a:ext cx="8271475" cy="1213597"/>
          </a:xfrm>
        </p:spPr>
        <p:txBody>
          <a:bodyPr wrap="square" lIns="0" tIns="18000" rIns="0" bIns="18000" anchor="ctr" anchorCtr="0">
            <a:spAutoFit/>
          </a:bodyPr>
          <a:lstStyle/>
          <a:p>
            <a:pPr marL="0" indent="0">
              <a:spcBef>
                <a:spcPts val="600"/>
              </a:spcBef>
              <a:buNone/>
            </a:pPr>
            <a:r>
              <a:rPr lang="en-US" altLang="en-US" noProof="0" dirty="0"/>
              <a:t>Measuring resistance</a:t>
            </a:r>
          </a:p>
          <a:p>
            <a:pPr marL="285750" indent="-285750"/>
            <a:r>
              <a:rPr lang="en-US" altLang="en-US" noProof="0" dirty="0"/>
              <a:t>An instrument that measures resistance is an ohmmeter. Many difference circuits can be used to measure resistance. Here we focus on the Wheatstone bridge. A Wheatstone bridge can accurately measure resistance in the range</a:t>
            </a:r>
            <a:endParaRPr lang="en-US" noProof="0" dirty="0"/>
          </a:p>
        </p:txBody>
      </p:sp>
      <p:sp>
        <p:nvSpPr>
          <p:cNvPr id="4" name="Content Placeholder 3">
            <a:extLst>
              <a:ext uri="{FF2B5EF4-FFF2-40B4-BE49-F238E27FC236}">
                <a16:creationId xmlns:a16="http://schemas.microsoft.com/office/drawing/2014/main" id="{7548F1A6-0E88-140C-8D38-BA5ACA3DE6E8}"/>
              </a:ext>
            </a:extLst>
          </p:cNvPr>
          <p:cNvSpPr>
            <a:spLocks noGrp="1"/>
          </p:cNvSpPr>
          <p:nvPr>
            <p:ph sz="quarter" idx="11"/>
          </p:nvPr>
        </p:nvSpPr>
        <p:spPr>
          <a:xfrm>
            <a:off x="707466" y="2725022"/>
            <a:ext cx="255867" cy="282573"/>
          </a:xfrm>
        </p:spPr>
        <p:txBody>
          <a:bodyPr wrap="square" lIns="0" tIns="18000" rIns="0" bIns="18000" anchor="ctr" anchorCtr="0">
            <a:spAutoFit/>
          </a:bodyPr>
          <a:lstStyle/>
          <a:p>
            <a:pPr marL="0" indent="0">
              <a:buNone/>
            </a:pPr>
            <a:r>
              <a:rPr lang="en-US" noProof="0" dirty="0"/>
              <a:t>of</a:t>
            </a:r>
          </a:p>
        </p:txBody>
      </p:sp>
      <p:graphicFrame>
        <p:nvGraphicFramePr>
          <p:cNvPr id="26" name="Object 25" descr="1 Ohm.&#10;">
            <a:extLst>
              <a:ext uri="{FF2B5EF4-FFF2-40B4-BE49-F238E27FC236}">
                <a16:creationId xmlns:a16="http://schemas.microsoft.com/office/drawing/2014/main" id="{33824B87-B2CA-AB3E-7B17-E5E7F4D4E814}"/>
              </a:ext>
            </a:extLst>
          </p:cNvPr>
          <p:cNvGraphicFramePr>
            <a:graphicFrameLocks noChangeAspect="1"/>
          </p:cNvGraphicFramePr>
          <p:nvPr>
            <p:extLst>
              <p:ext uri="{D42A27DB-BD31-4B8C-83A1-F6EECF244321}">
                <p14:modId xmlns:p14="http://schemas.microsoft.com/office/powerpoint/2010/main" val="4250371185"/>
              </p:ext>
            </p:extLst>
          </p:nvPr>
        </p:nvGraphicFramePr>
        <p:xfrm>
          <a:off x="962025" y="2723309"/>
          <a:ext cx="414338" cy="328612"/>
        </p:xfrm>
        <a:graphic>
          <a:graphicData uri="http://schemas.openxmlformats.org/presentationml/2006/ole">
            <mc:AlternateContent xmlns:mc="http://schemas.openxmlformats.org/markup-compatibility/2006">
              <mc:Choice xmlns:v="urn:schemas-microsoft-com:vml" Requires="v">
                <p:oleObj name="Equation" r:id="rId2" imgW="266400" imgH="203040" progId="Equation.DSMT4">
                  <p:embed/>
                </p:oleObj>
              </mc:Choice>
              <mc:Fallback>
                <p:oleObj name="Equation" r:id="rId2" imgW="266400" imgH="203040" progId="Equation.DSMT4">
                  <p:embed/>
                  <p:pic>
                    <p:nvPicPr>
                      <p:cNvPr id="34" name="Object 33" descr="S subscript 0 colon">
                        <a:extLst>
                          <a:ext uri="{FF2B5EF4-FFF2-40B4-BE49-F238E27FC236}">
                            <a16:creationId xmlns:a16="http://schemas.microsoft.com/office/drawing/2014/main" id="{97804087-AB09-CDA3-F04B-0C25661CC79C}"/>
                          </a:ext>
                        </a:extLst>
                      </p:cNvPr>
                      <p:cNvPicPr>
                        <a:picLocks noChangeAspect="1" noChangeArrowheads="1"/>
                      </p:cNvPicPr>
                      <p:nvPr/>
                    </p:nvPicPr>
                    <p:blipFill>
                      <a:blip r:embed="rId3"/>
                      <a:srcRect/>
                      <a:stretch>
                        <a:fillRect/>
                      </a:stretch>
                    </p:blipFill>
                    <p:spPr bwMode="auto">
                      <a:xfrm>
                        <a:off x="962025" y="2723309"/>
                        <a:ext cx="414338" cy="328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D94486D0-8C71-4F78-F5F6-7DAC2A0CB7DE}"/>
              </a:ext>
            </a:extLst>
          </p:cNvPr>
          <p:cNvSpPr>
            <a:spLocks noGrp="1"/>
          </p:cNvSpPr>
          <p:nvPr>
            <p:ph sz="quarter" idx="12"/>
          </p:nvPr>
        </p:nvSpPr>
        <p:spPr>
          <a:xfrm>
            <a:off x="1404344" y="2729266"/>
            <a:ext cx="228974" cy="282573"/>
          </a:xfrm>
        </p:spPr>
        <p:txBody>
          <a:bodyPr wrap="square" lIns="0" tIns="18000" rIns="0" bIns="18000" anchor="ctr" anchorCtr="0">
            <a:spAutoFit/>
          </a:bodyPr>
          <a:lstStyle/>
          <a:p>
            <a:pPr marL="0" indent="0">
              <a:buNone/>
            </a:pPr>
            <a:r>
              <a:rPr lang="en-US" noProof="0" dirty="0"/>
              <a:t>to</a:t>
            </a:r>
          </a:p>
        </p:txBody>
      </p:sp>
      <p:graphicFrame>
        <p:nvGraphicFramePr>
          <p:cNvPr id="27" name="Object 26" descr="1 MegaOhm.&#10;">
            <a:extLst>
              <a:ext uri="{FF2B5EF4-FFF2-40B4-BE49-F238E27FC236}">
                <a16:creationId xmlns:a16="http://schemas.microsoft.com/office/drawing/2014/main" id="{04BDADBE-169E-F21B-C808-BE1AD62AA785}"/>
              </a:ext>
            </a:extLst>
          </p:cNvPr>
          <p:cNvGraphicFramePr>
            <a:graphicFrameLocks noChangeAspect="1"/>
          </p:cNvGraphicFramePr>
          <p:nvPr>
            <p:extLst>
              <p:ext uri="{D42A27DB-BD31-4B8C-83A1-F6EECF244321}">
                <p14:modId xmlns:p14="http://schemas.microsoft.com/office/powerpoint/2010/main" val="2598634055"/>
              </p:ext>
            </p:extLst>
          </p:nvPr>
        </p:nvGraphicFramePr>
        <p:xfrm>
          <a:off x="1639888" y="2723309"/>
          <a:ext cx="652462" cy="328612"/>
        </p:xfrm>
        <a:graphic>
          <a:graphicData uri="http://schemas.openxmlformats.org/presentationml/2006/ole">
            <mc:AlternateContent xmlns:mc="http://schemas.openxmlformats.org/markup-compatibility/2006">
              <mc:Choice xmlns:v="urn:schemas-microsoft-com:vml" Requires="v">
                <p:oleObj name="Equation" r:id="rId4" imgW="419040" imgH="203040" progId="Equation.DSMT4">
                  <p:embed/>
                </p:oleObj>
              </mc:Choice>
              <mc:Fallback>
                <p:oleObj name="Equation" r:id="rId4" imgW="419040" imgH="203040" progId="Equation.DSMT4">
                  <p:embed/>
                  <p:pic>
                    <p:nvPicPr>
                      <p:cNvPr id="35" name="Object 34" descr="S subscript 0 colon">
                        <a:extLst>
                          <a:ext uri="{FF2B5EF4-FFF2-40B4-BE49-F238E27FC236}">
                            <a16:creationId xmlns:a16="http://schemas.microsoft.com/office/drawing/2014/main" id="{4C3FAE51-8B94-26C5-B138-C799F8524483}"/>
                          </a:ext>
                        </a:extLst>
                      </p:cNvPr>
                      <p:cNvPicPr>
                        <a:picLocks noChangeAspect="1" noChangeArrowheads="1"/>
                      </p:cNvPicPr>
                      <p:nvPr/>
                    </p:nvPicPr>
                    <p:blipFill>
                      <a:blip r:embed="rId5"/>
                      <a:srcRect/>
                      <a:stretch>
                        <a:fillRect/>
                      </a:stretch>
                    </p:blipFill>
                    <p:spPr bwMode="auto">
                      <a:xfrm>
                        <a:off x="1639888" y="2723309"/>
                        <a:ext cx="652462" cy="328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FDD30DE4-97FC-9062-C396-719E62156274}"/>
              </a:ext>
            </a:extLst>
          </p:cNvPr>
          <p:cNvSpPr>
            <a:spLocks noGrp="1"/>
          </p:cNvSpPr>
          <p:nvPr>
            <p:ph sz="quarter" idx="13"/>
          </p:nvPr>
        </p:nvSpPr>
        <p:spPr>
          <a:xfrm>
            <a:off x="404253" y="3138188"/>
            <a:ext cx="8271474" cy="282573"/>
          </a:xfrm>
        </p:spPr>
        <p:txBody>
          <a:bodyPr wrap="square" lIns="0" tIns="18000" rIns="0" bIns="18000" anchor="ctr" anchorCtr="0">
            <a:spAutoFit/>
          </a:bodyPr>
          <a:lstStyle/>
          <a:p>
            <a:pPr marL="285750" indent="-285750"/>
            <a:r>
              <a:rPr lang="en-US" altLang="en-US" sz="1600" noProof="0" dirty="0"/>
              <a:t>A Wheatstone bridge consists of four resistors, a voltage source and a</a:t>
            </a:r>
            <a:endParaRPr lang="en-US" sz="1600" noProof="0" dirty="0"/>
          </a:p>
        </p:txBody>
      </p:sp>
      <p:sp>
        <p:nvSpPr>
          <p:cNvPr id="7" name="Content Placeholder 6">
            <a:extLst>
              <a:ext uri="{FF2B5EF4-FFF2-40B4-BE49-F238E27FC236}">
                <a16:creationId xmlns:a16="http://schemas.microsoft.com/office/drawing/2014/main" id="{C28C1C5F-65B2-9FF6-B591-6FC67AF5BE43}"/>
              </a:ext>
            </a:extLst>
          </p:cNvPr>
          <p:cNvSpPr>
            <a:spLocks noGrp="1"/>
          </p:cNvSpPr>
          <p:nvPr>
            <p:ph sz="quarter" idx="14"/>
          </p:nvPr>
        </p:nvSpPr>
        <p:spPr>
          <a:xfrm>
            <a:off x="698501" y="3512659"/>
            <a:ext cx="5047876" cy="282573"/>
          </a:xfrm>
        </p:spPr>
        <p:txBody>
          <a:bodyPr wrap="square" lIns="0" tIns="18000" rIns="0" bIns="18000" anchor="ctr" anchorCtr="0">
            <a:spAutoFit/>
          </a:bodyPr>
          <a:lstStyle/>
          <a:p>
            <a:pPr marL="0" indent="0">
              <a:buNone/>
            </a:pPr>
            <a:r>
              <a:rPr lang="en-US" altLang="en-US" noProof="0" dirty="0"/>
              <a:t>detector, which is usually a </a:t>
            </a:r>
            <a:r>
              <a:rPr lang="en-US" altLang="en-US" noProof="0" dirty="0" err="1"/>
              <a:t>d’Arsonval</a:t>
            </a:r>
            <a:r>
              <a:rPr lang="en-US" altLang="en-US" noProof="0" dirty="0"/>
              <a:t> movement in the</a:t>
            </a:r>
            <a:endParaRPr lang="en-US" noProof="0" dirty="0"/>
          </a:p>
        </p:txBody>
      </p:sp>
      <p:graphicFrame>
        <p:nvGraphicFramePr>
          <p:cNvPr id="28" name="Object 27" descr="MicroAmpere.&#10;">
            <a:extLst>
              <a:ext uri="{FF2B5EF4-FFF2-40B4-BE49-F238E27FC236}">
                <a16:creationId xmlns:a16="http://schemas.microsoft.com/office/drawing/2014/main" id="{290FDA26-B47B-55D1-69B5-9FECA332728F}"/>
              </a:ext>
            </a:extLst>
          </p:cNvPr>
          <p:cNvGraphicFramePr>
            <a:graphicFrameLocks noChangeAspect="1"/>
          </p:cNvGraphicFramePr>
          <p:nvPr>
            <p:extLst>
              <p:ext uri="{D42A27DB-BD31-4B8C-83A1-F6EECF244321}">
                <p14:modId xmlns:p14="http://schemas.microsoft.com/office/powerpoint/2010/main" val="1801525879"/>
              </p:ext>
            </p:extLst>
          </p:nvPr>
        </p:nvGraphicFramePr>
        <p:xfrm>
          <a:off x="5775128" y="3494452"/>
          <a:ext cx="372512" cy="325359"/>
        </p:xfrm>
        <a:graphic>
          <a:graphicData uri="http://schemas.openxmlformats.org/presentationml/2006/ole">
            <mc:AlternateContent xmlns:mc="http://schemas.openxmlformats.org/markup-compatibility/2006">
              <mc:Choice xmlns:v="urn:schemas-microsoft-com:vml" Requires="v">
                <p:oleObj name="Equation" r:id="rId6" imgW="241200" imgH="203040" progId="Equation.DSMT4">
                  <p:embed/>
                </p:oleObj>
              </mc:Choice>
              <mc:Fallback>
                <p:oleObj name="Equation" r:id="rId6" imgW="241200" imgH="203040" progId="Equation.DSMT4">
                  <p:embed/>
                  <p:pic>
                    <p:nvPicPr>
                      <p:cNvPr id="36" name="Object 35" descr="S subscript 0 colon">
                        <a:extLst>
                          <a:ext uri="{FF2B5EF4-FFF2-40B4-BE49-F238E27FC236}">
                            <a16:creationId xmlns:a16="http://schemas.microsoft.com/office/drawing/2014/main" id="{49C9EDDB-6AAA-BD2D-0672-30B18DA84F0D}"/>
                          </a:ext>
                        </a:extLst>
                      </p:cNvPr>
                      <p:cNvPicPr>
                        <a:picLocks noChangeAspect="1" noChangeArrowheads="1"/>
                      </p:cNvPicPr>
                      <p:nvPr/>
                    </p:nvPicPr>
                    <p:blipFill>
                      <a:blip r:embed="rId7"/>
                      <a:srcRect/>
                      <a:stretch>
                        <a:fillRect/>
                      </a:stretch>
                    </p:blipFill>
                    <p:spPr bwMode="auto">
                      <a:xfrm>
                        <a:off x="5775128" y="3494452"/>
                        <a:ext cx="372512" cy="3253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5EBE1F64-D93C-2201-F7D7-7F6B17EC225E}"/>
              </a:ext>
            </a:extLst>
          </p:cNvPr>
          <p:cNvSpPr>
            <a:spLocks noGrp="1"/>
          </p:cNvSpPr>
          <p:nvPr>
            <p:ph sz="quarter" idx="15"/>
          </p:nvPr>
        </p:nvSpPr>
        <p:spPr>
          <a:xfrm>
            <a:off x="6212252" y="3485336"/>
            <a:ext cx="1359609" cy="282573"/>
          </a:xfrm>
        </p:spPr>
        <p:txBody>
          <a:bodyPr wrap="square" lIns="0" tIns="18000" rIns="0" bIns="18000" anchor="ctr" anchorCtr="0">
            <a:spAutoFit/>
          </a:bodyPr>
          <a:lstStyle/>
          <a:p>
            <a:pPr marL="0" indent="0">
              <a:buNone/>
            </a:pPr>
            <a:r>
              <a:rPr lang="en-US" altLang="en-US" sz="1600" noProof="0" dirty="0"/>
              <a:t>range, called a</a:t>
            </a:r>
            <a:endParaRPr lang="en-US" sz="1600" noProof="0" dirty="0"/>
          </a:p>
        </p:txBody>
      </p:sp>
      <p:sp>
        <p:nvSpPr>
          <p:cNvPr id="9" name="Content Placeholder 8">
            <a:extLst>
              <a:ext uri="{FF2B5EF4-FFF2-40B4-BE49-F238E27FC236}">
                <a16:creationId xmlns:a16="http://schemas.microsoft.com/office/drawing/2014/main" id="{93F6E87E-4E49-D7C0-CA94-B5D1D72DF9CB}"/>
              </a:ext>
            </a:extLst>
          </p:cNvPr>
          <p:cNvSpPr>
            <a:spLocks noGrp="1"/>
          </p:cNvSpPr>
          <p:nvPr>
            <p:ph sz="quarter" idx="16"/>
          </p:nvPr>
        </p:nvSpPr>
        <p:spPr>
          <a:xfrm>
            <a:off x="707466" y="3893017"/>
            <a:ext cx="1322668" cy="282573"/>
          </a:xfrm>
        </p:spPr>
        <p:txBody>
          <a:bodyPr wrap="square" lIns="0" tIns="18000" rIns="0" bIns="18000" anchor="ctr" anchorCtr="0">
            <a:spAutoFit/>
          </a:bodyPr>
          <a:lstStyle/>
          <a:p>
            <a:pPr marL="0" indent="0">
              <a:buNone/>
            </a:pPr>
            <a:r>
              <a:rPr lang="en-US" altLang="en-US" sz="1600" noProof="0" dirty="0"/>
              <a:t>galvanometer.</a:t>
            </a:r>
            <a:endParaRPr lang="en-US" sz="1600" noProof="0" dirty="0"/>
          </a:p>
        </p:txBody>
      </p:sp>
      <p:pic>
        <p:nvPicPr>
          <p:cNvPr id="29" name="Picture 28" descr="A circuit diagram with a Wheatstone bridge that has four resistors R sub 1, R sub 2, R sub 3, and R sub x connected across a source in the clockwise direction. R sub 3 is a variable resistor.">
            <a:extLst>
              <a:ext uri="{FF2B5EF4-FFF2-40B4-BE49-F238E27FC236}">
                <a16:creationId xmlns:a16="http://schemas.microsoft.com/office/drawing/2014/main" id="{C8394AA3-D520-F96A-F514-B95F77005946}"/>
              </a:ext>
            </a:extLst>
          </p:cNvPr>
          <p:cNvPicPr>
            <a:picLocks noChangeAspect="1"/>
          </p:cNvPicPr>
          <p:nvPr/>
        </p:nvPicPr>
        <p:blipFill>
          <a:blip r:embed="rId8"/>
          <a:srcRect/>
          <a:stretch/>
        </p:blipFill>
        <p:spPr>
          <a:xfrm>
            <a:off x="986112" y="4430155"/>
            <a:ext cx="3031105" cy="1700744"/>
          </a:xfrm>
          <a:prstGeom prst="rect">
            <a:avLst/>
          </a:prstGeom>
        </p:spPr>
      </p:pic>
      <p:sp>
        <p:nvSpPr>
          <p:cNvPr id="10" name="Content Placeholder 9">
            <a:extLst>
              <a:ext uri="{FF2B5EF4-FFF2-40B4-BE49-F238E27FC236}">
                <a16:creationId xmlns:a16="http://schemas.microsoft.com/office/drawing/2014/main" id="{5A702C8C-FBFB-AD14-9EE5-0F28EC1F136B}"/>
              </a:ext>
            </a:extLst>
          </p:cNvPr>
          <p:cNvSpPr>
            <a:spLocks noGrp="1"/>
          </p:cNvSpPr>
          <p:nvPr>
            <p:ph sz="quarter" idx="17"/>
          </p:nvPr>
        </p:nvSpPr>
        <p:spPr>
          <a:xfrm>
            <a:off x="4580965" y="4012956"/>
            <a:ext cx="1626429" cy="282573"/>
          </a:xfrm>
        </p:spPr>
        <p:txBody>
          <a:bodyPr wrap="square" lIns="0" tIns="18000" rIns="0" bIns="18000" anchor="ctr" anchorCtr="0">
            <a:spAutoFit/>
          </a:bodyPr>
          <a:lstStyle/>
          <a:p>
            <a:pPr marL="285750" indent="-285750"/>
            <a:r>
              <a:rPr lang="en-US" sz="1600" noProof="0" dirty="0"/>
              <a:t>The values of</a:t>
            </a:r>
          </a:p>
        </p:txBody>
      </p:sp>
      <p:graphicFrame>
        <p:nvGraphicFramePr>
          <p:cNvPr id="30" name="Object 29" descr="R subscript 1.&#10;">
            <a:extLst>
              <a:ext uri="{FF2B5EF4-FFF2-40B4-BE49-F238E27FC236}">
                <a16:creationId xmlns:a16="http://schemas.microsoft.com/office/drawing/2014/main" id="{0A010650-6F27-BFBD-7F51-B86200954D90}"/>
              </a:ext>
            </a:extLst>
          </p:cNvPr>
          <p:cNvGraphicFramePr>
            <a:graphicFrameLocks noChangeAspect="1"/>
          </p:cNvGraphicFramePr>
          <p:nvPr>
            <p:extLst>
              <p:ext uri="{D42A27DB-BD31-4B8C-83A1-F6EECF244321}">
                <p14:modId xmlns:p14="http://schemas.microsoft.com/office/powerpoint/2010/main" val="1843412249"/>
              </p:ext>
            </p:extLst>
          </p:nvPr>
        </p:nvGraphicFramePr>
        <p:xfrm>
          <a:off x="6181211" y="3992230"/>
          <a:ext cx="296862" cy="369888"/>
        </p:xfrm>
        <a:graphic>
          <a:graphicData uri="http://schemas.openxmlformats.org/presentationml/2006/ole">
            <mc:AlternateContent xmlns:mc="http://schemas.openxmlformats.org/markup-compatibility/2006">
              <mc:Choice xmlns:v="urn:schemas-microsoft-com:vml" Requires="v">
                <p:oleObj name="Equation" r:id="rId9" imgW="190440" imgH="228600" progId="Equation.DSMT4">
                  <p:embed/>
                </p:oleObj>
              </mc:Choice>
              <mc:Fallback>
                <p:oleObj name="Equation" r:id="rId9" imgW="190440" imgH="228600" progId="Equation.DSMT4">
                  <p:embed/>
                  <p:pic>
                    <p:nvPicPr>
                      <p:cNvPr id="39" name="Object 38" descr="S subscript 0 colon">
                        <a:extLst>
                          <a:ext uri="{FF2B5EF4-FFF2-40B4-BE49-F238E27FC236}">
                            <a16:creationId xmlns:a16="http://schemas.microsoft.com/office/drawing/2014/main" id="{B9252D9B-16EB-1234-76DF-CB38C530BD82}"/>
                          </a:ext>
                        </a:extLst>
                      </p:cNvPr>
                      <p:cNvPicPr>
                        <a:picLocks noChangeAspect="1" noChangeArrowheads="1"/>
                      </p:cNvPicPr>
                      <p:nvPr/>
                    </p:nvPicPr>
                    <p:blipFill>
                      <a:blip r:embed="rId10"/>
                      <a:srcRect/>
                      <a:stretch>
                        <a:fillRect/>
                      </a:stretch>
                    </p:blipFill>
                    <p:spPr bwMode="auto">
                      <a:xfrm>
                        <a:off x="6181211" y="3992230"/>
                        <a:ext cx="296862" cy="369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a:extLst>
              <a:ext uri="{FF2B5EF4-FFF2-40B4-BE49-F238E27FC236}">
                <a16:creationId xmlns:a16="http://schemas.microsoft.com/office/drawing/2014/main" id="{67FE322C-3CF5-3D2F-6DF1-522E5450753D}"/>
              </a:ext>
            </a:extLst>
          </p:cNvPr>
          <p:cNvSpPr>
            <a:spLocks noGrp="1"/>
          </p:cNvSpPr>
          <p:nvPr>
            <p:ph sz="quarter" idx="18"/>
          </p:nvPr>
        </p:nvSpPr>
        <p:spPr>
          <a:xfrm>
            <a:off x="6551398" y="3999288"/>
            <a:ext cx="340658" cy="282573"/>
          </a:xfrm>
        </p:spPr>
        <p:txBody>
          <a:bodyPr wrap="square" lIns="0" tIns="18000" rIns="0" bIns="18000" anchor="ctr" anchorCtr="0">
            <a:spAutoFit/>
          </a:bodyPr>
          <a:lstStyle/>
          <a:p>
            <a:pPr marL="0" indent="0">
              <a:buNone/>
            </a:pPr>
            <a:r>
              <a:rPr lang="en-US" noProof="0" dirty="0"/>
              <a:t>and</a:t>
            </a:r>
          </a:p>
        </p:txBody>
      </p:sp>
      <p:graphicFrame>
        <p:nvGraphicFramePr>
          <p:cNvPr id="31" name="Object 30" descr="R subscript 2.&#10;">
            <a:extLst>
              <a:ext uri="{FF2B5EF4-FFF2-40B4-BE49-F238E27FC236}">
                <a16:creationId xmlns:a16="http://schemas.microsoft.com/office/drawing/2014/main" id="{E4F6D111-51C9-6534-14AB-2A9329171099}"/>
              </a:ext>
            </a:extLst>
          </p:cNvPr>
          <p:cNvGraphicFramePr>
            <a:graphicFrameLocks noChangeAspect="1"/>
          </p:cNvGraphicFramePr>
          <p:nvPr>
            <p:extLst>
              <p:ext uri="{D42A27DB-BD31-4B8C-83A1-F6EECF244321}">
                <p14:modId xmlns:p14="http://schemas.microsoft.com/office/powerpoint/2010/main" val="917157129"/>
              </p:ext>
            </p:extLst>
          </p:nvPr>
        </p:nvGraphicFramePr>
        <p:xfrm>
          <a:off x="6951663" y="3973513"/>
          <a:ext cx="317500" cy="369887"/>
        </p:xfrm>
        <a:graphic>
          <a:graphicData uri="http://schemas.openxmlformats.org/presentationml/2006/ole">
            <mc:AlternateContent xmlns:mc="http://schemas.openxmlformats.org/markup-compatibility/2006">
              <mc:Choice xmlns:v="urn:schemas-microsoft-com:vml" Requires="v">
                <p:oleObj name="Equation" r:id="rId11" imgW="203040" imgH="228600" progId="Equation.DSMT4">
                  <p:embed/>
                </p:oleObj>
              </mc:Choice>
              <mc:Fallback>
                <p:oleObj name="Equation" r:id="rId11" imgW="203040" imgH="228600" progId="Equation.DSMT4">
                  <p:embed/>
                  <p:pic>
                    <p:nvPicPr>
                      <p:cNvPr id="39" name="Object 38" descr="S subscript 0 colon">
                        <a:extLst>
                          <a:ext uri="{FF2B5EF4-FFF2-40B4-BE49-F238E27FC236}">
                            <a16:creationId xmlns:a16="http://schemas.microsoft.com/office/drawing/2014/main" id="{B9252D9B-16EB-1234-76DF-CB38C530BD82}"/>
                          </a:ext>
                        </a:extLst>
                      </p:cNvPr>
                      <p:cNvPicPr>
                        <a:picLocks noChangeAspect="1" noChangeArrowheads="1"/>
                      </p:cNvPicPr>
                      <p:nvPr/>
                    </p:nvPicPr>
                    <p:blipFill>
                      <a:blip r:embed="rId12"/>
                      <a:srcRect/>
                      <a:stretch>
                        <a:fillRect/>
                      </a:stretch>
                    </p:blipFill>
                    <p:spPr bwMode="auto">
                      <a:xfrm>
                        <a:off x="6951663" y="3973513"/>
                        <a:ext cx="317500"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Content Placeholder 11">
            <a:extLst>
              <a:ext uri="{FF2B5EF4-FFF2-40B4-BE49-F238E27FC236}">
                <a16:creationId xmlns:a16="http://schemas.microsoft.com/office/drawing/2014/main" id="{E73D0C7D-AACE-93C4-4D84-851986FF3A26}"/>
              </a:ext>
            </a:extLst>
          </p:cNvPr>
          <p:cNvSpPr>
            <a:spLocks noGrp="1"/>
          </p:cNvSpPr>
          <p:nvPr>
            <p:ph sz="quarter" idx="19"/>
          </p:nvPr>
        </p:nvSpPr>
        <p:spPr>
          <a:xfrm>
            <a:off x="7338751" y="3991593"/>
            <a:ext cx="1070888" cy="282573"/>
          </a:xfrm>
        </p:spPr>
        <p:txBody>
          <a:bodyPr wrap="square" lIns="0" tIns="18000" rIns="0" bIns="18000" anchor="ctr" anchorCtr="0">
            <a:spAutoFit/>
          </a:bodyPr>
          <a:lstStyle/>
          <a:p>
            <a:pPr marL="0" indent="0">
              <a:buNone/>
            </a:pPr>
            <a:r>
              <a:rPr lang="en-US" noProof="0" dirty="0"/>
              <a:t>are known.</a:t>
            </a:r>
          </a:p>
        </p:txBody>
      </p:sp>
      <p:sp>
        <p:nvSpPr>
          <p:cNvPr id="13" name="Content Placeholder 12">
            <a:extLst>
              <a:ext uri="{FF2B5EF4-FFF2-40B4-BE49-F238E27FC236}">
                <a16:creationId xmlns:a16="http://schemas.microsoft.com/office/drawing/2014/main" id="{D2F16160-0F42-D897-4CE5-47AD008CF09C}"/>
              </a:ext>
            </a:extLst>
          </p:cNvPr>
          <p:cNvSpPr>
            <a:spLocks noGrp="1"/>
          </p:cNvSpPr>
          <p:nvPr>
            <p:ph sz="quarter" idx="20"/>
          </p:nvPr>
        </p:nvSpPr>
        <p:spPr>
          <a:xfrm>
            <a:off x="4580965" y="4442222"/>
            <a:ext cx="134475" cy="282573"/>
          </a:xfrm>
        </p:spPr>
        <p:txBody>
          <a:bodyPr wrap="square" lIns="0" tIns="18000" rIns="0" bIns="18000" anchor="ctr" anchorCtr="0">
            <a:spAutoFit/>
          </a:bodyPr>
          <a:lstStyle/>
          <a:p>
            <a:pPr marL="285750" indent="-285750"/>
            <a:r>
              <a:rPr lang="en-US" noProof="0" dirty="0"/>
              <a:t> </a:t>
            </a:r>
          </a:p>
        </p:txBody>
      </p:sp>
      <p:graphicFrame>
        <p:nvGraphicFramePr>
          <p:cNvPr id="32" name="Object 31" descr="R subscript 3.&#10;">
            <a:extLst>
              <a:ext uri="{FF2B5EF4-FFF2-40B4-BE49-F238E27FC236}">
                <a16:creationId xmlns:a16="http://schemas.microsoft.com/office/drawing/2014/main" id="{309C2FA4-EEC4-994A-0D79-B02913E45BDE}"/>
              </a:ext>
            </a:extLst>
          </p:cNvPr>
          <p:cNvGraphicFramePr>
            <a:graphicFrameLocks noChangeAspect="1"/>
          </p:cNvGraphicFramePr>
          <p:nvPr>
            <p:extLst>
              <p:ext uri="{D42A27DB-BD31-4B8C-83A1-F6EECF244321}">
                <p14:modId xmlns:p14="http://schemas.microsoft.com/office/powerpoint/2010/main" val="4068160981"/>
              </p:ext>
            </p:extLst>
          </p:nvPr>
        </p:nvGraphicFramePr>
        <p:xfrm>
          <a:off x="4863284" y="4405998"/>
          <a:ext cx="317500" cy="369887"/>
        </p:xfrm>
        <a:graphic>
          <a:graphicData uri="http://schemas.openxmlformats.org/presentationml/2006/ole">
            <mc:AlternateContent xmlns:mc="http://schemas.openxmlformats.org/markup-compatibility/2006">
              <mc:Choice xmlns:v="urn:schemas-microsoft-com:vml" Requires="v">
                <p:oleObj name="Equation" r:id="rId13" imgW="203040" imgH="228600" progId="Equation.DSMT4">
                  <p:embed/>
                </p:oleObj>
              </mc:Choice>
              <mc:Fallback>
                <p:oleObj name="Equation" r:id="rId13" imgW="203040" imgH="228600" progId="Equation.DSMT4">
                  <p:embed/>
                  <p:pic>
                    <p:nvPicPr>
                      <p:cNvPr id="41" name="Object 40" descr="S subscript 0 colon">
                        <a:extLst>
                          <a:ext uri="{FF2B5EF4-FFF2-40B4-BE49-F238E27FC236}">
                            <a16:creationId xmlns:a16="http://schemas.microsoft.com/office/drawing/2014/main" id="{E66F124D-C59D-D267-F643-2CAFEFE162CB}"/>
                          </a:ext>
                        </a:extLst>
                      </p:cNvPr>
                      <p:cNvPicPr>
                        <a:picLocks noChangeAspect="1" noChangeArrowheads="1"/>
                      </p:cNvPicPr>
                      <p:nvPr/>
                    </p:nvPicPr>
                    <p:blipFill>
                      <a:blip r:embed="rId14"/>
                      <a:srcRect/>
                      <a:stretch>
                        <a:fillRect/>
                      </a:stretch>
                    </p:blipFill>
                    <p:spPr bwMode="auto">
                      <a:xfrm>
                        <a:off x="4863284" y="4405998"/>
                        <a:ext cx="317500"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Content Placeholder 13">
            <a:extLst>
              <a:ext uri="{FF2B5EF4-FFF2-40B4-BE49-F238E27FC236}">
                <a16:creationId xmlns:a16="http://schemas.microsoft.com/office/drawing/2014/main" id="{02E4C73B-200B-EB9C-D47A-670B4931BF6E}"/>
              </a:ext>
            </a:extLst>
          </p:cNvPr>
          <p:cNvSpPr>
            <a:spLocks noGrp="1"/>
          </p:cNvSpPr>
          <p:nvPr>
            <p:ph sz="quarter" idx="21"/>
          </p:nvPr>
        </p:nvSpPr>
        <p:spPr>
          <a:xfrm>
            <a:off x="5236387" y="4442222"/>
            <a:ext cx="2670484" cy="282573"/>
          </a:xfrm>
        </p:spPr>
        <p:txBody>
          <a:bodyPr wrap="square" lIns="0" tIns="18000" rIns="0" bIns="18000" anchor="ctr" anchorCtr="0">
            <a:spAutoFit/>
          </a:bodyPr>
          <a:lstStyle/>
          <a:p>
            <a:pPr marL="0" indent="0">
              <a:buNone/>
            </a:pPr>
            <a:r>
              <a:rPr lang="en-US" sz="1600" noProof="0" dirty="0"/>
              <a:t>is a variable resistor, called a</a:t>
            </a:r>
          </a:p>
        </p:txBody>
      </p:sp>
      <p:sp>
        <p:nvSpPr>
          <p:cNvPr id="15" name="Content Placeholder 14">
            <a:extLst>
              <a:ext uri="{FF2B5EF4-FFF2-40B4-BE49-F238E27FC236}">
                <a16:creationId xmlns:a16="http://schemas.microsoft.com/office/drawing/2014/main" id="{B0256C9A-5B1D-DBCE-58B3-52E38CF06776}"/>
              </a:ext>
            </a:extLst>
          </p:cNvPr>
          <p:cNvSpPr>
            <a:spLocks noGrp="1"/>
          </p:cNvSpPr>
          <p:nvPr>
            <p:ph sz="quarter" idx="22"/>
          </p:nvPr>
        </p:nvSpPr>
        <p:spPr>
          <a:xfrm>
            <a:off x="4863284" y="4798504"/>
            <a:ext cx="3807640" cy="528794"/>
          </a:xfrm>
        </p:spPr>
        <p:txBody>
          <a:bodyPr wrap="square" lIns="0" tIns="18000" rIns="0" bIns="18000" anchor="ctr" anchorCtr="0">
            <a:spAutoFit/>
          </a:bodyPr>
          <a:lstStyle/>
          <a:p>
            <a:pPr marL="0" indent="0">
              <a:buNone/>
            </a:pPr>
            <a:r>
              <a:rPr lang="en-US" sz="1600" noProof="0" dirty="0"/>
              <a:t>potentiometer, which can be set to a known value.</a:t>
            </a:r>
          </a:p>
        </p:txBody>
      </p:sp>
      <p:sp>
        <p:nvSpPr>
          <p:cNvPr id="16" name="Content Placeholder 15">
            <a:extLst>
              <a:ext uri="{FF2B5EF4-FFF2-40B4-BE49-F238E27FC236}">
                <a16:creationId xmlns:a16="http://schemas.microsoft.com/office/drawing/2014/main" id="{A167A8C0-2DFF-4148-9416-1785274E21CE}"/>
              </a:ext>
            </a:extLst>
          </p:cNvPr>
          <p:cNvSpPr>
            <a:spLocks noGrp="1"/>
          </p:cNvSpPr>
          <p:nvPr>
            <p:ph sz="quarter" idx="23"/>
          </p:nvPr>
        </p:nvSpPr>
        <p:spPr>
          <a:xfrm>
            <a:off x="4580965" y="5478195"/>
            <a:ext cx="1461247" cy="282573"/>
          </a:xfrm>
        </p:spPr>
        <p:txBody>
          <a:bodyPr wrap="square" lIns="0" tIns="18000" rIns="0" bIns="18000" anchor="ctr" anchorCtr="0">
            <a:spAutoFit/>
          </a:bodyPr>
          <a:lstStyle/>
          <a:p>
            <a:pPr marL="285750" indent="-285750"/>
            <a:r>
              <a:rPr lang="en-US" sz="1600" noProof="0" dirty="0"/>
              <a:t>The value of</a:t>
            </a:r>
          </a:p>
        </p:txBody>
      </p:sp>
      <p:graphicFrame>
        <p:nvGraphicFramePr>
          <p:cNvPr id="33" name="Object 32" descr="R subscript x.&#10;">
            <a:extLst>
              <a:ext uri="{FF2B5EF4-FFF2-40B4-BE49-F238E27FC236}">
                <a16:creationId xmlns:a16="http://schemas.microsoft.com/office/drawing/2014/main" id="{E8000103-F9CB-A9FD-FC5D-2A924319302A}"/>
              </a:ext>
            </a:extLst>
          </p:cNvPr>
          <p:cNvGraphicFramePr>
            <a:graphicFrameLocks noChangeAspect="1"/>
          </p:cNvGraphicFramePr>
          <p:nvPr>
            <p:extLst>
              <p:ext uri="{D42A27DB-BD31-4B8C-83A1-F6EECF244321}">
                <p14:modId xmlns:p14="http://schemas.microsoft.com/office/powerpoint/2010/main" val="3888358517"/>
              </p:ext>
            </p:extLst>
          </p:nvPr>
        </p:nvGraphicFramePr>
        <p:xfrm>
          <a:off x="6051176" y="5459039"/>
          <a:ext cx="315913" cy="369887"/>
        </p:xfrm>
        <a:graphic>
          <a:graphicData uri="http://schemas.openxmlformats.org/presentationml/2006/ole">
            <mc:AlternateContent xmlns:mc="http://schemas.openxmlformats.org/markup-compatibility/2006">
              <mc:Choice xmlns:v="urn:schemas-microsoft-com:vml" Requires="v">
                <p:oleObj name="Equation" r:id="rId15" imgW="203040" imgH="228600" progId="Equation.DSMT4">
                  <p:embed/>
                </p:oleObj>
              </mc:Choice>
              <mc:Fallback>
                <p:oleObj name="Equation" r:id="rId15" imgW="203040" imgH="228600" progId="Equation.DSMT4">
                  <p:embed/>
                  <p:pic>
                    <p:nvPicPr>
                      <p:cNvPr id="49" name="Object 48" descr="S subscript 0 colon">
                        <a:extLst>
                          <a:ext uri="{FF2B5EF4-FFF2-40B4-BE49-F238E27FC236}">
                            <a16:creationId xmlns:a16="http://schemas.microsoft.com/office/drawing/2014/main" id="{E4979ED8-9A42-16D9-00A7-CBB7886448B7}"/>
                          </a:ext>
                        </a:extLst>
                      </p:cNvPr>
                      <p:cNvPicPr>
                        <a:picLocks noChangeAspect="1" noChangeArrowheads="1"/>
                      </p:cNvPicPr>
                      <p:nvPr/>
                    </p:nvPicPr>
                    <p:blipFill>
                      <a:blip r:embed="rId16"/>
                      <a:srcRect/>
                      <a:stretch>
                        <a:fillRect/>
                      </a:stretch>
                    </p:blipFill>
                    <p:spPr bwMode="auto">
                      <a:xfrm>
                        <a:off x="6051176" y="5459039"/>
                        <a:ext cx="315913"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Content Placeholder 16">
            <a:extLst>
              <a:ext uri="{FF2B5EF4-FFF2-40B4-BE49-F238E27FC236}">
                <a16:creationId xmlns:a16="http://schemas.microsoft.com/office/drawing/2014/main" id="{EF9765B2-D264-B7CB-8355-9F5BD5B8AF40}"/>
              </a:ext>
            </a:extLst>
          </p:cNvPr>
          <p:cNvSpPr>
            <a:spLocks noGrp="1"/>
          </p:cNvSpPr>
          <p:nvPr>
            <p:ph sz="quarter" idx="24"/>
          </p:nvPr>
        </p:nvSpPr>
        <p:spPr>
          <a:xfrm>
            <a:off x="6447772" y="5460805"/>
            <a:ext cx="1709083" cy="282573"/>
          </a:xfrm>
        </p:spPr>
        <p:txBody>
          <a:bodyPr wrap="square" lIns="0" tIns="18000" rIns="0" bIns="18000" anchor="ctr" anchorCtr="0">
            <a:spAutoFit/>
          </a:bodyPr>
          <a:lstStyle/>
          <a:p>
            <a:pPr marL="0" indent="0">
              <a:buNone/>
            </a:pPr>
            <a:r>
              <a:rPr lang="en-US" sz="1600" noProof="0" dirty="0"/>
              <a:t>is unknown, and is</a:t>
            </a:r>
          </a:p>
        </p:txBody>
      </p:sp>
      <p:sp>
        <p:nvSpPr>
          <p:cNvPr id="18" name="Content Placeholder 17">
            <a:extLst>
              <a:ext uri="{FF2B5EF4-FFF2-40B4-BE49-F238E27FC236}">
                <a16:creationId xmlns:a16="http://schemas.microsoft.com/office/drawing/2014/main" id="{E725E20D-BD9A-231D-24AD-97781BB23A7D}"/>
              </a:ext>
            </a:extLst>
          </p:cNvPr>
          <p:cNvSpPr>
            <a:spLocks noGrp="1"/>
          </p:cNvSpPr>
          <p:nvPr>
            <p:ph sz="quarter" idx="25"/>
          </p:nvPr>
        </p:nvSpPr>
        <p:spPr>
          <a:xfrm>
            <a:off x="4907765" y="5845520"/>
            <a:ext cx="2789964" cy="282573"/>
          </a:xfrm>
        </p:spPr>
        <p:txBody>
          <a:bodyPr wrap="square" lIns="0" tIns="18000" rIns="0" bIns="18000" anchor="ctr" anchorCtr="0">
            <a:spAutoFit/>
          </a:bodyPr>
          <a:lstStyle/>
          <a:p>
            <a:pPr marL="0" indent="0">
              <a:buNone/>
              <a:tabLst>
                <a:tab pos="180975" algn="l"/>
              </a:tabLst>
            </a:pPr>
            <a:r>
              <a:rPr lang="en-US" sz="1600" noProof="0" dirty="0"/>
              <a:t>measured by the bridge circuit.</a:t>
            </a:r>
          </a:p>
        </p:txBody>
      </p:sp>
    </p:spTree>
    <p:extLst>
      <p:ext uri="{BB962C8B-B14F-4D97-AF65-F5344CB8AC3E}">
        <p14:creationId xmlns:p14="http://schemas.microsoft.com/office/powerpoint/2010/main" val="2393504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C568A3-5730-7A10-AC7D-ACF737927094}"/>
              </a:ext>
            </a:extLst>
          </p:cNvPr>
          <p:cNvSpPr>
            <a:spLocks noGrp="1"/>
          </p:cNvSpPr>
          <p:nvPr>
            <p:ph type="title"/>
          </p:nvPr>
        </p:nvSpPr>
        <p:spPr>
          <a:xfrm>
            <a:off x="407286" y="179428"/>
            <a:ext cx="8275637" cy="1021237"/>
          </a:xfrm>
        </p:spPr>
        <p:txBody>
          <a:bodyPr wrap="square" lIns="0" tIns="18000" rIns="0" bIns="18000" anchor="ctr" anchorCtr="0">
            <a:spAutoFit/>
          </a:bodyPr>
          <a:lstStyle/>
          <a:p>
            <a:r>
              <a:rPr lang="en-US" sz="3600" noProof="0" dirty="0">
                <a:latin typeface="+mj-lt"/>
              </a:rPr>
              <a:t>Chapter 3 – Simple resistive circuits </a:t>
            </a:r>
            <a:r>
              <a:rPr lang="en-US" sz="2800" noProof="0" dirty="0">
                <a:latin typeface="+mj-lt"/>
              </a:rPr>
              <a:t>(14 of 22)</a:t>
            </a:r>
          </a:p>
        </p:txBody>
      </p:sp>
      <p:sp>
        <p:nvSpPr>
          <p:cNvPr id="7" name="Content Placeholder 6">
            <a:extLst>
              <a:ext uri="{FF2B5EF4-FFF2-40B4-BE49-F238E27FC236}">
                <a16:creationId xmlns:a16="http://schemas.microsoft.com/office/drawing/2014/main" id="{EF8529DA-C44D-6CE7-E577-E5EB73631063}"/>
              </a:ext>
            </a:extLst>
          </p:cNvPr>
          <p:cNvSpPr>
            <a:spLocks noGrp="1"/>
          </p:cNvSpPr>
          <p:nvPr>
            <p:ph sz="quarter" idx="17"/>
          </p:nvPr>
        </p:nvSpPr>
        <p:spPr>
          <a:xfrm>
            <a:off x="407286" y="1376879"/>
            <a:ext cx="8263639" cy="313350"/>
          </a:xfrm>
        </p:spPr>
        <p:txBody>
          <a:bodyPr wrap="square" lIns="0" tIns="18000" rIns="0" bIns="18000" anchor="ctr" anchorCtr="0">
            <a:spAutoFit/>
          </a:bodyPr>
          <a:lstStyle/>
          <a:p>
            <a:pPr marL="0" indent="0">
              <a:buNone/>
            </a:pPr>
            <a:r>
              <a:rPr lang="en-US" altLang="en-US" sz="1800" noProof="0" dirty="0"/>
              <a:t>Measuring resistance</a:t>
            </a:r>
            <a:endParaRPr lang="en-US" sz="1800" noProof="0" dirty="0"/>
          </a:p>
        </p:txBody>
      </p:sp>
      <p:sp>
        <p:nvSpPr>
          <p:cNvPr id="8" name="Content Placeholder 7">
            <a:extLst>
              <a:ext uri="{FF2B5EF4-FFF2-40B4-BE49-F238E27FC236}">
                <a16:creationId xmlns:a16="http://schemas.microsoft.com/office/drawing/2014/main" id="{F9F8DD46-8D58-7012-0EA7-4805C80484FF}"/>
              </a:ext>
            </a:extLst>
          </p:cNvPr>
          <p:cNvSpPr>
            <a:spLocks noGrp="1"/>
          </p:cNvSpPr>
          <p:nvPr>
            <p:ph sz="quarter" idx="18"/>
          </p:nvPr>
        </p:nvSpPr>
        <p:spPr>
          <a:xfrm>
            <a:off x="407286" y="1768622"/>
            <a:ext cx="3195398" cy="313350"/>
          </a:xfrm>
        </p:spPr>
        <p:txBody>
          <a:bodyPr wrap="square" lIns="0" tIns="18000" rIns="0" bIns="18000" anchor="ctr" anchorCtr="0">
            <a:spAutoFit/>
          </a:bodyPr>
          <a:lstStyle/>
          <a:p>
            <a:pPr marL="0" indent="0">
              <a:buNone/>
            </a:pPr>
            <a:r>
              <a:rPr lang="en-US" altLang="en-US" sz="1800" noProof="0" dirty="0"/>
              <a:t>To find the unknown resistance</a:t>
            </a:r>
            <a:endParaRPr lang="en-US" sz="1800" noProof="0" dirty="0"/>
          </a:p>
        </p:txBody>
      </p:sp>
      <p:graphicFrame>
        <p:nvGraphicFramePr>
          <p:cNvPr id="32" name="Object 31" descr="R subscript x comma.&#10;">
            <a:extLst>
              <a:ext uri="{FF2B5EF4-FFF2-40B4-BE49-F238E27FC236}">
                <a16:creationId xmlns:a16="http://schemas.microsoft.com/office/drawing/2014/main" id="{86886F70-FEB8-EE93-ED66-E7FC197C8E66}"/>
              </a:ext>
            </a:extLst>
          </p:cNvPr>
          <p:cNvGraphicFramePr>
            <a:graphicFrameLocks noChangeAspect="1"/>
          </p:cNvGraphicFramePr>
          <p:nvPr/>
        </p:nvGraphicFramePr>
        <p:xfrm>
          <a:off x="3633827" y="1785289"/>
          <a:ext cx="359352" cy="336261"/>
        </p:xfrm>
        <a:graphic>
          <a:graphicData uri="http://schemas.openxmlformats.org/presentationml/2006/ole">
            <mc:AlternateContent xmlns:mc="http://schemas.openxmlformats.org/markup-compatibility/2006">
              <mc:Choice xmlns:v="urn:schemas-microsoft-com:vml" Requires="v">
                <p:oleObj name="Equation" r:id="rId3" imgW="253800" imgH="228600" progId="Equation.DSMT4">
                  <p:embed/>
                </p:oleObj>
              </mc:Choice>
              <mc:Fallback>
                <p:oleObj name="Equation" r:id="rId3" imgW="253800" imgH="228600" progId="Equation.DSMT4">
                  <p:embed/>
                  <p:pic>
                    <p:nvPicPr>
                      <p:cNvPr id="32" name="Object 31" descr="R subscript x comma.&#10;">
                        <a:extLst>
                          <a:ext uri="{FF2B5EF4-FFF2-40B4-BE49-F238E27FC236}">
                            <a16:creationId xmlns:a16="http://schemas.microsoft.com/office/drawing/2014/main" id="{86886F70-FEB8-EE93-ED66-E7FC197C8E66}"/>
                          </a:ext>
                        </a:extLst>
                      </p:cNvPr>
                      <p:cNvPicPr>
                        <a:picLocks noChangeAspect="1" noChangeArrowheads="1"/>
                      </p:cNvPicPr>
                      <p:nvPr/>
                    </p:nvPicPr>
                    <p:blipFill>
                      <a:blip r:embed="rId4"/>
                      <a:srcRect/>
                      <a:stretch>
                        <a:fillRect/>
                      </a:stretch>
                    </p:blipFill>
                    <p:spPr bwMode="auto">
                      <a:xfrm>
                        <a:off x="3633827" y="1785289"/>
                        <a:ext cx="359352" cy="336261"/>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F051B48F-1DBB-AA8B-7E70-49C566BDEAFD}"/>
              </a:ext>
            </a:extLst>
          </p:cNvPr>
          <p:cNvSpPr>
            <a:spLocks noGrp="1"/>
          </p:cNvSpPr>
          <p:nvPr>
            <p:ph sz="quarter" idx="19"/>
          </p:nvPr>
        </p:nvSpPr>
        <p:spPr>
          <a:xfrm>
            <a:off x="4060182" y="1785289"/>
            <a:ext cx="999046" cy="313350"/>
          </a:xfrm>
        </p:spPr>
        <p:txBody>
          <a:bodyPr wrap="square" lIns="0" tIns="18000" rIns="0" bIns="18000" anchor="ctr" anchorCtr="0">
            <a:spAutoFit/>
          </a:bodyPr>
          <a:lstStyle/>
          <a:p>
            <a:pPr marL="0" indent="0">
              <a:buNone/>
            </a:pPr>
            <a:r>
              <a:rPr lang="en-US" altLang="en-US" sz="1800" noProof="0" dirty="0"/>
              <a:t>adjust the</a:t>
            </a:r>
            <a:endParaRPr lang="en-US" sz="1800" noProof="0" dirty="0"/>
          </a:p>
        </p:txBody>
      </p:sp>
      <p:graphicFrame>
        <p:nvGraphicFramePr>
          <p:cNvPr id="33" name="Object 32" descr="R subscript 3.&#10;">
            <a:extLst>
              <a:ext uri="{FF2B5EF4-FFF2-40B4-BE49-F238E27FC236}">
                <a16:creationId xmlns:a16="http://schemas.microsoft.com/office/drawing/2014/main" id="{8A0FA46A-9C90-FA3D-E798-E50E23DECF15}"/>
              </a:ext>
            </a:extLst>
          </p:cNvPr>
          <p:cNvGraphicFramePr>
            <a:graphicFrameLocks noChangeAspect="1"/>
          </p:cNvGraphicFramePr>
          <p:nvPr/>
        </p:nvGraphicFramePr>
        <p:xfrm>
          <a:off x="5128330" y="1814618"/>
          <a:ext cx="261085" cy="305693"/>
        </p:xfrm>
        <a:graphic>
          <a:graphicData uri="http://schemas.openxmlformats.org/presentationml/2006/ole">
            <mc:AlternateContent xmlns:mc="http://schemas.openxmlformats.org/markup-compatibility/2006">
              <mc:Choice xmlns:v="urn:schemas-microsoft-com:vml" Requires="v">
                <p:oleObj name="Equation" r:id="rId5" imgW="203040" imgH="228600" progId="Equation.DSMT4">
                  <p:embed/>
                </p:oleObj>
              </mc:Choice>
              <mc:Fallback>
                <p:oleObj name="Equation" r:id="rId5" imgW="203040" imgH="228600" progId="Equation.DSMT4">
                  <p:embed/>
                  <p:pic>
                    <p:nvPicPr>
                      <p:cNvPr id="33" name="Object 32" descr="R subscript 3.&#10;">
                        <a:extLst>
                          <a:ext uri="{FF2B5EF4-FFF2-40B4-BE49-F238E27FC236}">
                            <a16:creationId xmlns:a16="http://schemas.microsoft.com/office/drawing/2014/main" id="{8A0FA46A-9C90-FA3D-E798-E50E23DECF15}"/>
                          </a:ext>
                        </a:extLst>
                      </p:cNvPr>
                      <p:cNvPicPr>
                        <a:picLocks noChangeAspect="1" noChangeArrowheads="1"/>
                      </p:cNvPicPr>
                      <p:nvPr/>
                    </p:nvPicPr>
                    <p:blipFill>
                      <a:blip r:embed="rId6"/>
                      <a:srcRect/>
                      <a:stretch>
                        <a:fillRect/>
                      </a:stretch>
                    </p:blipFill>
                    <p:spPr bwMode="auto">
                      <a:xfrm>
                        <a:off x="5128330" y="1814618"/>
                        <a:ext cx="261085" cy="305693"/>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28D26D5B-5337-0606-37E0-D8444617EB54}"/>
              </a:ext>
            </a:extLst>
          </p:cNvPr>
          <p:cNvSpPr>
            <a:spLocks noGrp="1"/>
          </p:cNvSpPr>
          <p:nvPr>
            <p:ph sz="quarter" idx="20"/>
          </p:nvPr>
        </p:nvSpPr>
        <p:spPr>
          <a:xfrm>
            <a:off x="5469595" y="1784918"/>
            <a:ext cx="3195398" cy="313350"/>
          </a:xfrm>
        </p:spPr>
        <p:txBody>
          <a:bodyPr wrap="square" lIns="0" tIns="18000" rIns="0" bIns="18000" anchor="ctr" anchorCtr="0">
            <a:spAutoFit/>
          </a:bodyPr>
          <a:lstStyle/>
          <a:p>
            <a:pPr marL="0" indent="0">
              <a:buNone/>
            </a:pPr>
            <a:r>
              <a:rPr lang="en-US" altLang="en-US" sz="1800" noProof="0" dirty="0"/>
              <a:t>resistor </a:t>
            </a:r>
            <a:r>
              <a:rPr lang="en-US" altLang="en-US" sz="1800" noProof="0" dirty="0">
                <a:solidFill>
                  <a:srgbClr val="FF0000"/>
                </a:solidFill>
              </a:rPr>
              <a:t>until there is no current</a:t>
            </a:r>
            <a:endParaRPr lang="en-US" sz="1800" noProof="0" dirty="0">
              <a:solidFill>
                <a:srgbClr val="FF0000"/>
              </a:solidFill>
            </a:endParaRPr>
          </a:p>
        </p:txBody>
      </p:sp>
      <p:sp>
        <p:nvSpPr>
          <p:cNvPr id="11" name="Content Placeholder 10">
            <a:extLst>
              <a:ext uri="{FF2B5EF4-FFF2-40B4-BE49-F238E27FC236}">
                <a16:creationId xmlns:a16="http://schemas.microsoft.com/office/drawing/2014/main" id="{707F8341-C855-E2B2-730D-C98729B75B08}"/>
              </a:ext>
            </a:extLst>
          </p:cNvPr>
          <p:cNvSpPr>
            <a:spLocks noGrp="1"/>
          </p:cNvSpPr>
          <p:nvPr>
            <p:ph sz="quarter" idx="21"/>
          </p:nvPr>
        </p:nvSpPr>
        <p:spPr>
          <a:xfrm>
            <a:off x="407286" y="2139680"/>
            <a:ext cx="8257707" cy="590349"/>
          </a:xfrm>
        </p:spPr>
        <p:txBody>
          <a:bodyPr wrap="square" lIns="0" tIns="18000" rIns="0" bIns="18000" anchor="ctr" anchorCtr="0">
            <a:spAutoFit/>
          </a:bodyPr>
          <a:lstStyle/>
          <a:p>
            <a:pPr marL="0" indent="0">
              <a:buNone/>
            </a:pPr>
            <a:r>
              <a:rPr lang="en-US" altLang="en-US" sz="1800" noProof="0" dirty="0"/>
              <a:t>in the galvanometer. Then the bridge is balanced and the unknown resistance is given by</a:t>
            </a:r>
            <a:endParaRPr lang="en-US" sz="1800" noProof="0" dirty="0"/>
          </a:p>
        </p:txBody>
      </p:sp>
      <p:pic>
        <p:nvPicPr>
          <p:cNvPr id="34" name="Picture 33" descr="A circuit diagram with a Wheatstone bridge that has four resistors R sub 1, R sub 2, R sub 3, and R sub x connected across a source. A current I sub 1 flows across R sub1, I sub 2 flows across R sub2, I sub 3 flows across R sub3, and I sub x flows across R sub x.">
            <a:extLst>
              <a:ext uri="{FF2B5EF4-FFF2-40B4-BE49-F238E27FC236}">
                <a16:creationId xmlns:a16="http://schemas.microsoft.com/office/drawing/2014/main" id="{239EA857-B285-5976-680E-27A2E3C382BF}"/>
              </a:ext>
            </a:extLst>
          </p:cNvPr>
          <p:cNvPicPr>
            <a:picLocks noChangeAspect="1"/>
          </p:cNvPicPr>
          <p:nvPr/>
        </p:nvPicPr>
        <p:blipFill>
          <a:blip r:embed="rId7"/>
          <a:srcRect/>
          <a:stretch/>
        </p:blipFill>
        <p:spPr>
          <a:xfrm>
            <a:off x="1509434" y="2819677"/>
            <a:ext cx="2019582" cy="1121990"/>
          </a:xfrm>
          <a:prstGeom prst="rect">
            <a:avLst/>
          </a:prstGeom>
        </p:spPr>
      </p:pic>
      <p:graphicFrame>
        <p:nvGraphicFramePr>
          <p:cNvPr id="35" name="Object 34" descr="R subscript x Baseline equals StartFraction R subscript 2 Baseline over R subscript 1 Baseline EndFraction R subscript 3.&#10;">
            <a:extLst>
              <a:ext uri="{FF2B5EF4-FFF2-40B4-BE49-F238E27FC236}">
                <a16:creationId xmlns:a16="http://schemas.microsoft.com/office/drawing/2014/main" id="{E4506672-B130-6E0D-4667-3F3BC58A709E}"/>
              </a:ext>
            </a:extLst>
          </p:cNvPr>
          <p:cNvGraphicFramePr>
            <a:graphicFrameLocks noChangeAspect="1"/>
          </p:cNvGraphicFramePr>
          <p:nvPr/>
        </p:nvGraphicFramePr>
        <p:xfrm>
          <a:off x="5960788" y="3007698"/>
          <a:ext cx="1165225" cy="719138"/>
        </p:xfrm>
        <a:graphic>
          <a:graphicData uri="http://schemas.openxmlformats.org/presentationml/2006/ole">
            <mc:AlternateContent xmlns:mc="http://schemas.openxmlformats.org/markup-compatibility/2006">
              <mc:Choice xmlns:v="urn:schemas-microsoft-com:vml" Requires="v">
                <p:oleObj name="Equation" r:id="rId8" imgW="749160" imgH="444240" progId="Equation.DSMT4">
                  <p:embed/>
                </p:oleObj>
              </mc:Choice>
              <mc:Fallback>
                <p:oleObj name="Equation" r:id="rId8" imgW="749160" imgH="444240" progId="Equation.DSMT4">
                  <p:embed/>
                  <p:pic>
                    <p:nvPicPr>
                      <p:cNvPr id="35" name="Object 34" descr="R subscript x Baseline equals StartFraction R subscript 2 Baseline over R subscript 1 Baseline EndFraction R subscript 3.&#10;">
                        <a:extLst>
                          <a:ext uri="{FF2B5EF4-FFF2-40B4-BE49-F238E27FC236}">
                            <a16:creationId xmlns:a16="http://schemas.microsoft.com/office/drawing/2014/main" id="{E4506672-B130-6E0D-4667-3F3BC58A709E}"/>
                          </a:ext>
                        </a:extLst>
                      </p:cNvPr>
                      <p:cNvPicPr>
                        <a:picLocks noChangeAspect="1" noChangeArrowheads="1"/>
                      </p:cNvPicPr>
                      <p:nvPr/>
                    </p:nvPicPr>
                    <p:blipFill>
                      <a:blip r:embed="rId9"/>
                      <a:srcRect/>
                      <a:stretch>
                        <a:fillRect/>
                      </a:stretch>
                    </p:blipFill>
                    <p:spPr bwMode="auto">
                      <a:xfrm>
                        <a:off x="5960788" y="3007698"/>
                        <a:ext cx="1165225" cy="719138"/>
                      </a:xfrm>
                      <a:prstGeom prst="rect">
                        <a:avLst/>
                      </a:prstGeom>
                      <a:noFill/>
                    </p:spPr>
                  </p:pic>
                </p:oleObj>
              </mc:Fallback>
            </mc:AlternateContent>
          </a:graphicData>
        </a:graphic>
      </p:graphicFrame>
      <p:sp>
        <p:nvSpPr>
          <p:cNvPr id="12" name="Content Placeholder 11">
            <a:extLst>
              <a:ext uri="{FF2B5EF4-FFF2-40B4-BE49-F238E27FC236}">
                <a16:creationId xmlns:a16="http://schemas.microsoft.com/office/drawing/2014/main" id="{A2DF7A17-4544-467B-B8E0-94032C0266B1}"/>
              </a:ext>
            </a:extLst>
          </p:cNvPr>
          <p:cNvSpPr>
            <a:spLocks noGrp="1"/>
          </p:cNvSpPr>
          <p:nvPr>
            <p:ph sz="quarter" idx="22"/>
          </p:nvPr>
        </p:nvSpPr>
        <p:spPr>
          <a:xfrm>
            <a:off x="406553" y="4053370"/>
            <a:ext cx="3689489" cy="313350"/>
          </a:xfrm>
        </p:spPr>
        <p:txBody>
          <a:bodyPr wrap="square" lIns="0" tIns="18000" rIns="0" bIns="18000" anchor="ctr" anchorCtr="0">
            <a:spAutoFit/>
          </a:bodyPr>
          <a:lstStyle/>
          <a:p>
            <a:pPr marL="0" indent="0">
              <a:buNone/>
            </a:pPr>
            <a:r>
              <a:rPr lang="en-US" sz="1800" noProof="0" dirty="0"/>
              <a:t>When the galvanometer current is 0</a:t>
            </a:r>
          </a:p>
        </p:txBody>
      </p:sp>
      <p:sp>
        <p:nvSpPr>
          <p:cNvPr id="13" name="Content Placeholder 12">
            <a:extLst>
              <a:ext uri="{FF2B5EF4-FFF2-40B4-BE49-F238E27FC236}">
                <a16:creationId xmlns:a16="http://schemas.microsoft.com/office/drawing/2014/main" id="{3799ED13-EC5D-F1AE-F24D-540C44A3145E}"/>
              </a:ext>
            </a:extLst>
          </p:cNvPr>
          <p:cNvSpPr>
            <a:spLocks noGrp="1"/>
          </p:cNvSpPr>
          <p:nvPr>
            <p:ph sz="quarter" idx="23"/>
          </p:nvPr>
        </p:nvSpPr>
        <p:spPr>
          <a:xfrm>
            <a:off x="407285" y="4480455"/>
            <a:ext cx="1552291" cy="313350"/>
          </a:xfrm>
        </p:spPr>
        <p:txBody>
          <a:bodyPr wrap="square" lIns="0" tIns="18000" rIns="0" bIns="18000" anchor="ctr" anchorCtr="0">
            <a:spAutoFit/>
          </a:bodyPr>
          <a:lstStyle/>
          <a:p>
            <a:pPr marL="0" indent="0">
              <a:buNone/>
            </a:pPr>
            <a:r>
              <a:rPr lang="en-US" sz="1800" spc="-200" noProof="0" dirty="0"/>
              <a:t>K C </a:t>
            </a:r>
            <a:r>
              <a:rPr lang="en-US" sz="1800" noProof="0" dirty="0"/>
              <a:t>L at node a:</a:t>
            </a:r>
          </a:p>
        </p:txBody>
      </p:sp>
      <p:graphicFrame>
        <p:nvGraphicFramePr>
          <p:cNvPr id="36" name="Object 35" descr="i subscript 1 Baseline equals i subscript 3;&#10;">
            <a:extLst>
              <a:ext uri="{FF2B5EF4-FFF2-40B4-BE49-F238E27FC236}">
                <a16:creationId xmlns:a16="http://schemas.microsoft.com/office/drawing/2014/main" id="{AC4FE34F-3960-911A-42F7-292EB53769D7}"/>
              </a:ext>
            </a:extLst>
          </p:cNvPr>
          <p:cNvGraphicFramePr>
            <a:graphicFrameLocks noChangeAspect="1"/>
          </p:cNvGraphicFramePr>
          <p:nvPr/>
        </p:nvGraphicFramePr>
        <p:xfrm>
          <a:off x="2731645" y="4501663"/>
          <a:ext cx="654843" cy="370205"/>
        </p:xfrm>
        <a:graphic>
          <a:graphicData uri="http://schemas.openxmlformats.org/presentationml/2006/ole">
            <mc:AlternateContent xmlns:mc="http://schemas.openxmlformats.org/markup-compatibility/2006">
              <mc:Choice xmlns:v="urn:schemas-microsoft-com:vml" Requires="v">
                <p:oleObj name="Equation" r:id="rId10" imgW="419040" imgH="228600" progId="Equation.DSMT4">
                  <p:embed/>
                </p:oleObj>
              </mc:Choice>
              <mc:Fallback>
                <p:oleObj name="Equation" r:id="rId10" imgW="419040" imgH="228600" progId="Equation.DSMT4">
                  <p:embed/>
                  <p:pic>
                    <p:nvPicPr>
                      <p:cNvPr id="36" name="Object 35" descr="i subscript 1 Baseline equals i subscript 3;&#10;">
                        <a:extLst>
                          <a:ext uri="{FF2B5EF4-FFF2-40B4-BE49-F238E27FC236}">
                            <a16:creationId xmlns:a16="http://schemas.microsoft.com/office/drawing/2014/main" id="{AC4FE34F-3960-911A-42F7-292EB53769D7}"/>
                          </a:ext>
                        </a:extLst>
                      </p:cNvPr>
                      <p:cNvPicPr>
                        <a:picLocks noChangeAspect="1" noChangeArrowheads="1"/>
                      </p:cNvPicPr>
                      <p:nvPr/>
                    </p:nvPicPr>
                    <p:blipFill>
                      <a:blip r:embed="rId11"/>
                      <a:srcRect/>
                      <a:stretch>
                        <a:fillRect/>
                      </a:stretch>
                    </p:blipFill>
                    <p:spPr bwMode="auto">
                      <a:xfrm>
                        <a:off x="2731645" y="4501663"/>
                        <a:ext cx="654843" cy="370205"/>
                      </a:xfrm>
                      <a:prstGeom prst="rect">
                        <a:avLst/>
                      </a:prstGeom>
                      <a:noFill/>
                    </p:spPr>
                  </p:pic>
                </p:oleObj>
              </mc:Fallback>
            </mc:AlternateContent>
          </a:graphicData>
        </a:graphic>
      </p:graphicFrame>
      <p:sp>
        <p:nvSpPr>
          <p:cNvPr id="14" name="Content Placeholder 13">
            <a:extLst>
              <a:ext uri="{FF2B5EF4-FFF2-40B4-BE49-F238E27FC236}">
                <a16:creationId xmlns:a16="http://schemas.microsoft.com/office/drawing/2014/main" id="{662427EB-D713-48F0-8833-2EC71DABB8D3}"/>
              </a:ext>
            </a:extLst>
          </p:cNvPr>
          <p:cNvSpPr>
            <a:spLocks noGrp="1"/>
          </p:cNvSpPr>
          <p:nvPr>
            <p:ph sz="quarter" idx="24"/>
          </p:nvPr>
        </p:nvSpPr>
        <p:spPr>
          <a:xfrm>
            <a:off x="3760512" y="4526523"/>
            <a:ext cx="1552291" cy="313350"/>
          </a:xfrm>
        </p:spPr>
        <p:txBody>
          <a:bodyPr wrap="square" lIns="0" tIns="18000" rIns="0" bIns="18000" anchor="ctr" anchorCtr="0">
            <a:spAutoFit/>
          </a:bodyPr>
          <a:lstStyle/>
          <a:p>
            <a:pPr marL="0" indent="0">
              <a:buNone/>
            </a:pPr>
            <a:r>
              <a:rPr lang="en-US" sz="1800" spc="-300" noProof="0" dirty="0"/>
              <a:t>K C </a:t>
            </a:r>
            <a:r>
              <a:rPr lang="en-US" sz="1800" noProof="0" dirty="0"/>
              <a:t>L at node b:</a:t>
            </a:r>
          </a:p>
        </p:txBody>
      </p:sp>
      <p:graphicFrame>
        <p:nvGraphicFramePr>
          <p:cNvPr id="37" name="Object 36" descr="i subscript 2 Baseline equals i subscript x.&#10;">
            <a:extLst>
              <a:ext uri="{FF2B5EF4-FFF2-40B4-BE49-F238E27FC236}">
                <a16:creationId xmlns:a16="http://schemas.microsoft.com/office/drawing/2014/main" id="{488508BD-FD16-4B33-ABF4-C9A89636529D}"/>
              </a:ext>
            </a:extLst>
          </p:cNvPr>
          <p:cNvGraphicFramePr>
            <a:graphicFrameLocks noChangeAspect="1"/>
          </p:cNvGraphicFramePr>
          <p:nvPr/>
        </p:nvGraphicFramePr>
        <p:xfrm>
          <a:off x="6046289" y="4519593"/>
          <a:ext cx="635635" cy="370205"/>
        </p:xfrm>
        <a:graphic>
          <a:graphicData uri="http://schemas.openxmlformats.org/presentationml/2006/ole">
            <mc:AlternateContent xmlns:mc="http://schemas.openxmlformats.org/markup-compatibility/2006">
              <mc:Choice xmlns:v="urn:schemas-microsoft-com:vml" Requires="v">
                <p:oleObj name="Equation" r:id="rId12" imgW="406080" imgH="228600" progId="Equation.DSMT4">
                  <p:embed/>
                </p:oleObj>
              </mc:Choice>
              <mc:Fallback>
                <p:oleObj name="Equation" r:id="rId12" imgW="406080" imgH="228600" progId="Equation.DSMT4">
                  <p:embed/>
                  <p:pic>
                    <p:nvPicPr>
                      <p:cNvPr id="37" name="Object 36" descr="i subscript 2 Baseline equals i subscript x.&#10;">
                        <a:extLst>
                          <a:ext uri="{FF2B5EF4-FFF2-40B4-BE49-F238E27FC236}">
                            <a16:creationId xmlns:a16="http://schemas.microsoft.com/office/drawing/2014/main" id="{488508BD-FD16-4B33-ABF4-C9A89636529D}"/>
                          </a:ext>
                        </a:extLst>
                      </p:cNvPr>
                      <p:cNvPicPr>
                        <a:picLocks noChangeAspect="1" noChangeArrowheads="1"/>
                      </p:cNvPicPr>
                      <p:nvPr/>
                    </p:nvPicPr>
                    <p:blipFill>
                      <a:blip r:embed="rId13"/>
                      <a:srcRect/>
                      <a:stretch>
                        <a:fillRect/>
                      </a:stretch>
                    </p:blipFill>
                    <p:spPr bwMode="auto">
                      <a:xfrm>
                        <a:off x="6046289" y="4519593"/>
                        <a:ext cx="635635" cy="370205"/>
                      </a:xfrm>
                      <a:prstGeom prst="rect">
                        <a:avLst/>
                      </a:prstGeom>
                      <a:noFill/>
                    </p:spPr>
                  </p:pic>
                </p:oleObj>
              </mc:Fallback>
            </mc:AlternateContent>
          </a:graphicData>
        </a:graphic>
      </p:graphicFrame>
      <p:sp>
        <p:nvSpPr>
          <p:cNvPr id="15" name="Content Placeholder 14">
            <a:extLst>
              <a:ext uri="{FF2B5EF4-FFF2-40B4-BE49-F238E27FC236}">
                <a16:creationId xmlns:a16="http://schemas.microsoft.com/office/drawing/2014/main" id="{119739E3-6EE3-4974-3C3A-26E2FE00DA8E}"/>
              </a:ext>
            </a:extLst>
          </p:cNvPr>
          <p:cNvSpPr>
            <a:spLocks noGrp="1"/>
          </p:cNvSpPr>
          <p:nvPr>
            <p:ph sz="quarter" idx="25"/>
          </p:nvPr>
        </p:nvSpPr>
        <p:spPr>
          <a:xfrm>
            <a:off x="404355" y="4930466"/>
            <a:ext cx="3211542" cy="313350"/>
          </a:xfrm>
        </p:spPr>
        <p:txBody>
          <a:bodyPr wrap="square" lIns="0" tIns="18000" rIns="0" bIns="18000" anchor="ctr" anchorCtr="0">
            <a:spAutoFit/>
          </a:bodyPr>
          <a:lstStyle/>
          <a:p>
            <a:pPr marL="0" indent="0">
              <a:buNone/>
            </a:pPr>
            <a:r>
              <a:rPr lang="en-US" sz="1800" spc="-200" noProof="0" dirty="0"/>
              <a:t>K V </a:t>
            </a:r>
            <a:r>
              <a:rPr lang="en-US" sz="1800" noProof="0" dirty="0"/>
              <a:t>L in lower mesh (clockwise):</a:t>
            </a:r>
          </a:p>
        </p:txBody>
      </p:sp>
      <p:graphicFrame>
        <p:nvGraphicFramePr>
          <p:cNvPr id="38" name="Object 37" descr="0 plus R subscript x Baseline i subscript x Baseline minus R subscript 3 Baseline i subscript 3 Baseline equals 0, forward arrow, R subscript x Baseline i subscript x Baseline equals R subscript 3 Baseline i subscript 3.&#10;">
            <a:extLst>
              <a:ext uri="{FF2B5EF4-FFF2-40B4-BE49-F238E27FC236}">
                <a16:creationId xmlns:a16="http://schemas.microsoft.com/office/drawing/2014/main" id="{F2BB1D2E-0561-92B5-00F9-C6EF305A6FB5}"/>
              </a:ext>
            </a:extLst>
          </p:cNvPr>
          <p:cNvGraphicFramePr>
            <a:graphicFrameLocks noChangeAspect="1"/>
          </p:cNvGraphicFramePr>
          <p:nvPr/>
        </p:nvGraphicFramePr>
        <p:xfrm>
          <a:off x="3726908" y="4937528"/>
          <a:ext cx="3535795" cy="336261"/>
        </p:xfrm>
        <a:graphic>
          <a:graphicData uri="http://schemas.openxmlformats.org/presentationml/2006/ole">
            <mc:AlternateContent xmlns:mc="http://schemas.openxmlformats.org/markup-compatibility/2006">
              <mc:Choice xmlns:v="urn:schemas-microsoft-com:vml" Requires="v">
                <p:oleObj name="Equation" r:id="rId14" imgW="2489040" imgH="228600" progId="Equation.DSMT4">
                  <p:embed/>
                </p:oleObj>
              </mc:Choice>
              <mc:Fallback>
                <p:oleObj name="Equation" r:id="rId14" imgW="2489040" imgH="228600" progId="Equation.DSMT4">
                  <p:embed/>
                  <p:pic>
                    <p:nvPicPr>
                      <p:cNvPr id="38" name="Object 37" descr="0 plus R subscript x Baseline i subscript x Baseline minus R subscript 3 Baseline i subscript 3 Baseline equals 0, forward arrow, R subscript x Baseline i subscript x Baseline equals R subscript 3 Baseline i subscript 3.&#10;">
                        <a:extLst>
                          <a:ext uri="{FF2B5EF4-FFF2-40B4-BE49-F238E27FC236}">
                            <a16:creationId xmlns:a16="http://schemas.microsoft.com/office/drawing/2014/main" id="{F2BB1D2E-0561-92B5-00F9-C6EF305A6FB5}"/>
                          </a:ext>
                        </a:extLst>
                      </p:cNvPr>
                      <p:cNvPicPr>
                        <a:picLocks noChangeAspect="1" noChangeArrowheads="1"/>
                      </p:cNvPicPr>
                      <p:nvPr/>
                    </p:nvPicPr>
                    <p:blipFill>
                      <a:blip r:embed="rId15"/>
                      <a:srcRect/>
                      <a:stretch>
                        <a:fillRect/>
                      </a:stretch>
                    </p:blipFill>
                    <p:spPr bwMode="auto">
                      <a:xfrm>
                        <a:off x="3726908" y="4937528"/>
                        <a:ext cx="3535795" cy="336261"/>
                      </a:xfrm>
                      <a:prstGeom prst="rect">
                        <a:avLst/>
                      </a:prstGeom>
                      <a:noFill/>
                    </p:spPr>
                  </p:pic>
                </p:oleObj>
              </mc:Fallback>
            </mc:AlternateContent>
          </a:graphicData>
        </a:graphic>
      </p:graphicFrame>
      <p:sp>
        <p:nvSpPr>
          <p:cNvPr id="16" name="Content Placeholder 15">
            <a:extLst>
              <a:ext uri="{FF2B5EF4-FFF2-40B4-BE49-F238E27FC236}">
                <a16:creationId xmlns:a16="http://schemas.microsoft.com/office/drawing/2014/main" id="{9D97205B-5756-E565-A7F0-E85B22D78F4F}"/>
              </a:ext>
            </a:extLst>
          </p:cNvPr>
          <p:cNvSpPr>
            <a:spLocks noGrp="1"/>
          </p:cNvSpPr>
          <p:nvPr>
            <p:ph sz="quarter" idx="26"/>
          </p:nvPr>
        </p:nvSpPr>
        <p:spPr>
          <a:xfrm>
            <a:off x="403593" y="5367746"/>
            <a:ext cx="3280994" cy="313350"/>
          </a:xfrm>
        </p:spPr>
        <p:txBody>
          <a:bodyPr wrap="square" lIns="0" tIns="18000" rIns="0" bIns="18000" anchor="ctr" anchorCtr="0">
            <a:spAutoFit/>
          </a:bodyPr>
          <a:lstStyle/>
          <a:p>
            <a:pPr marL="0" indent="0">
              <a:buNone/>
            </a:pPr>
            <a:r>
              <a:rPr lang="en-US" sz="1800" spc="-200" noProof="0" dirty="0"/>
              <a:t>K V </a:t>
            </a:r>
            <a:r>
              <a:rPr lang="en-US" sz="1800" noProof="0" dirty="0"/>
              <a:t>L in upper mesh (clockwise):</a:t>
            </a:r>
          </a:p>
        </p:txBody>
      </p:sp>
      <p:graphicFrame>
        <p:nvGraphicFramePr>
          <p:cNvPr id="39" name="Object 38" descr="R subscript 2 Baseline i subscript 2 Baseline minus R subscript 1 Baseline i subscript 1 Baseline plus 0 equals 0, Forward arrow, R subscript 2 Baseline i subscript 2 Baseline equals R subscript 1 Baseline i subscript 1.&#10;">
            <a:extLst>
              <a:ext uri="{FF2B5EF4-FFF2-40B4-BE49-F238E27FC236}">
                <a16:creationId xmlns:a16="http://schemas.microsoft.com/office/drawing/2014/main" id="{4BCC5B43-EE95-FEEC-31BB-1032E4BBE284}"/>
              </a:ext>
            </a:extLst>
          </p:cNvPr>
          <p:cNvGraphicFramePr>
            <a:graphicFrameLocks noChangeAspect="1"/>
          </p:cNvGraphicFramePr>
          <p:nvPr/>
        </p:nvGraphicFramePr>
        <p:xfrm>
          <a:off x="3720630" y="5365873"/>
          <a:ext cx="3410238" cy="336261"/>
        </p:xfrm>
        <a:graphic>
          <a:graphicData uri="http://schemas.openxmlformats.org/presentationml/2006/ole">
            <mc:AlternateContent xmlns:mc="http://schemas.openxmlformats.org/markup-compatibility/2006">
              <mc:Choice xmlns:v="urn:schemas-microsoft-com:vml" Requires="v">
                <p:oleObj name="Equation" r:id="rId16" imgW="2400120" imgH="228600" progId="Equation.DSMT4">
                  <p:embed/>
                </p:oleObj>
              </mc:Choice>
              <mc:Fallback>
                <p:oleObj name="Equation" r:id="rId16" imgW="2400120" imgH="228600" progId="Equation.DSMT4">
                  <p:embed/>
                  <p:pic>
                    <p:nvPicPr>
                      <p:cNvPr id="39" name="Object 38" descr="R subscript 2 Baseline i subscript 2 Baseline minus R subscript 1 Baseline i subscript 1 Baseline plus 0 equals 0, Forward arrow, R subscript 2 Baseline i subscript 2 Baseline equals R subscript 1 Baseline i subscript 1.&#10;">
                        <a:extLst>
                          <a:ext uri="{FF2B5EF4-FFF2-40B4-BE49-F238E27FC236}">
                            <a16:creationId xmlns:a16="http://schemas.microsoft.com/office/drawing/2014/main" id="{4BCC5B43-EE95-FEEC-31BB-1032E4BBE284}"/>
                          </a:ext>
                        </a:extLst>
                      </p:cNvPr>
                      <p:cNvPicPr>
                        <a:picLocks noChangeAspect="1" noChangeArrowheads="1"/>
                      </p:cNvPicPr>
                      <p:nvPr/>
                    </p:nvPicPr>
                    <p:blipFill>
                      <a:blip r:embed="rId17"/>
                      <a:srcRect/>
                      <a:stretch>
                        <a:fillRect/>
                      </a:stretch>
                    </p:blipFill>
                    <p:spPr bwMode="auto">
                      <a:xfrm>
                        <a:off x="3720630" y="5365873"/>
                        <a:ext cx="3410238" cy="336261"/>
                      </a:xfrm>
                      <a:prstGeom prst="rect">
                        <a:avLst/>
                      </a:prstGeom>
                      <a:noFill/>
                    </p:spPr>
                  </p:pic>
                </p:oleObj>
              </mc:Fallback>
            </mc:AlternateContent>
          </a:graphicData>
        </a:graphic>
      </p:graphicFrame>
      <p:sp>
        <p:nvSpPr>
          <p:cNvPr id="17" name="Content Placeholder 16">
            <a:extLst>
              <a:ext uri="{FF2B5EF4-FFF2-40B4-BE49-F238E27FC236}">
                <a16:creationId xmlns:a16="http://schemas.microsoft.com/office/drawing/2014/main" id="{24786912-1E7F-ECA3-6B53-1DAEA46F6856}"/>
              </a:ext>
            </a:extLst>
          </p:cNvPr>
          <p:cNvSpPr>
            <a:spLocks noGrp="1"/>
          </p:cNvSpPr>
          <p:nvPr>
            <p:ph sz="quarter" idx="27"/>
          </p:nvPr>
        </p:nvSpPr>
        <p:spPr>
          <a:xfrm>
            <a:off x="403593" y="5819193"/>
            <a:ext cx="3125423" cy="313350"/>
          </a:xfrm>
        </p:spPr>
        <p:txBody>
          <a:bodyPr wrap="square" lIns="0" tIns="18000" rIns="0" bIns="18000" anchor="ctr" anchorCtr="0">
            <a:spAutoFit/>
          </a:bodyPr>
          <a:lstStyle/>
          <a:p>
            <a:pPr marL="0" indent="0">
              <a:buNone/>
            </a:pPr>
            <a:r>
              <a:rPr lang="en-US" sz="1800" noProof="0" dirty="0"/>
              <a:t>divide the two </a:t>
            </a:r>
            <a:r>
              <a:rPr lang="en-US" sz="1800" spc="-200" noProof="0" dirty="0"/>
              <a:t>K V </a:t>
            </a:r>
            <a:r>
              <a:rPr lang="en-US" sz="1800" noProof="0" dirty="0"/>
              <a:t>L equations:</a:t>
            </a:r>
          </a:p>
        </p:txBody>
      </p:sp>
      <p:graphicFrame>
        <p:nvGraphicFramePr>
          <p:cNvPr id="40" name="Object 39" descr="The image illustrates the division of two equations.&#10;Long description is available in notes, Press F6.">
            <a:extLst>
              <a:ext uri="{FF2B5EF4-FFF2-40B4-BE49-F238E27FC236}">
                <a16:creationId xmlns:a16="http://schemas.microsoft.com/office/drawing/2014/main" id="{D15FD216-A46B-364A-2F90-0D0F81184548}"/>
              </a:ext>
            </a:extLst>
          </p:cNvPr>
          <p:cNvGraphicFramePr>
            <a:graphicFrameLocks noChangeAspect="1"/>
          </p:cNvGraphicFramePr>
          <p:nvPr/>
        </p:nvGraphicFramePr>
        <p:xfrm>
          <a:off x="3662201" y="5733705"/>
          <a:ext cx="2779568" cy="653761"/>
        </p:xfrm>
        <a:graphic>
          <a:graphicData uri="http://schemas.openxmlformats.org/presentationml/2006/ole">
            <mc:AlternateContent xmlns:mc="http://schemas.openxmlformats.org/markup-compatibility/2006">
              <mc:Choice xmlns:v="urn:schemas-microsoft-com:vml" Requires="v">
                <p:oleObj name="Equation" r:id="rId18" imgW="1955520" imgH="444240" progId="Equation.DSMT4">
                  <p:embed/>
                </p:oleObj>
              </mc:Choice>
              <mc:Fallback>
                <p:oleObj name="Equation" r:id="rId18" imgW="1955520" imgH="444240" progId="Equation.DSMT4">
                  <p:embed/>
                  <p:pic>
                    <p:nvPicPr>
                      <p:cNvPr id="40" name="Object 39" descr="The image illustrates the division of two equations.&#10;Long description is available in notes, Press F6.">
                        <a:extLst>
                          <a:ext uri="{FF2B5EF4-FFF2-40B4-BE49-F238E27FC236}">
                            <a16:creationId xmlns:a16="http://schemas.microsoft.com/office/drawing/2014/main" id="{D15FD216-A46B-364A-2F90-0D0F81184548}"/>
                          </a:ext>
                        </a:extLst>
                      </p:cNvPr>
                      <p:cNvPicPr>
                        <a:picLocks noChangeAspect="1" noChangeArrowheads="1"/>
                      </p:cNvPicPr>
                      <p:nvPr/>
                    </p:nvPicPr>
                    <p:blipFill>
                      <a:blip r:embed="rId19"/>
                      <a:srcRect/>
                      <a:stretch>
                        <a:fillRect/>
                      </a:stretch>
                    </p:blipFill>
                    <p:spPr bwMode="auto">
                      <a:xfrm>
                        <a:off x="3662201" y="5733705"/>
                        <a:ext cx="2779568" cy="653761"/>
                      </a:xfrm>
                      <a:prstGeom prst="rect">
                        <a:avLst/>
                      </a:prstGeom>
                      <a:noFill/>
                    </p:spPr>
                  </p:pic>
                </p:oleObj>
              </mc:Fallback>
            </mc:AlternateContent>
          </a:graphicData>
        </a:graphic>
      </p:graphicFrame>
    </p:spTree>
    <p:extLst>
      <p:ext uri="{BB962C8B-B14F-4D97-AF65-F5344CB8AC3E}">
        <p14:creationId xmlns:p14="http://schemas.microsoft.com/office/powerpoint/2010/main" val="1991723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E90BB5BC-CCE4-A84B-7EEA-093FD87ADD2C}"/>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(16 of 22)</a:t>
            </a:r>
          </a:p>
        </p:txBody>
      </p:sp>
      <p:sp>
        <p:nvSpPr>
          <p:cNvPr id="3" name="Content Placeholder 2">
            <a:extLst>
              <a:ext uri="{FF2B5EF4-FFF2-40B4-BE49-F238E27FC236}">
                <a16:creationId xmlns:a16="http://schemas.microsoft.com/office/drawing/2014/main" id="{8655DF25-EA2D-CA8C-488C-DD80386E0F88}"/>
              </a:ext>
            </a:extLst>
          </p:cNvPr>
          <p:cNvSpPr>
            <a:spLocks noGrp="1"/>
          </p:cNvSpPr>
          <p:nvPr>
            <p:ph sz="quarter" idx="10"/>
          </p:nvPr>
        </p:nvSpPr>
        <p:spPr>
          <a:xfrm>
            <a:off x="404812" y="1383873"/>
            <a:ext cx="4614863" cy="344128"/>
          </a:xfrm>
        </p:spPr>
        <p:txBody>
          <a:bodyPr wrap="square" lIns="0" tIns="18000" rIns="0" bIns="18000" anchor="ctr" anchorCtr="0">
            <a:spAutoFit/>
          </a:bodyPr>
          <a:lstStyle/>
          <a:p>
            <a:pPr marL="0" indent="0">
              <a:buNone/>
            </a:pPr>
            <a:r>
              <a:rPr lang="en-US" altLang="en-US" sz="2000" noProof="0" dirty="0"/>
              <a:t>The bridge circuit here is balanced when</a:t>
            </a:r>
            <a:endParaRPr lang="en-US" sz="2000" noProof="0" dirty="0"/>
          </a:p>
        </p:txBody>
      </p:sp>
      <p:graphicFrame>
        <p:nvGraphicFramePr>
          <p:cNvPr id="29" name="Object 28" descr="R subscript 3 Baseline equals 150 Ohms.&#10;">
            <a:extLst>
              <a:ext uri="{FF2B5EF4-FFF2-40B4-BE49-F238E27FC236}">
                <a16:creationId xmlns:a16="http://schemas.microsoft.com/office/drawing/2014/main" id="{A74F6BB5-9182-8A39-F1E2-6A7BFD0BA8A1}"/>
              </a:ext>
            </a:extLst>
          </p:cNvPr>
          <p:cNvGraphicFramePr>
            <a:graphicFrameLocks noChangeAspect="1"/>
          </p:cNvGraphicFramePr>
          <p:nvPr/>
        </p:nvGraphicFramePr>
        <p:xfrm>
          <a:off x="5086350" y="1405354"/>
          <a:ext cx="1225550" cy="369888"/>
        </p:xfrm>
        <a:graphic>
          <a:graphicData uri="http://schemas.openxmlformats.org/presentationml/2006/ole">
            <mc:AlternateContent xmlns:mc="http://schemas.openxmlformats.org/markup-compatibility/2006">
              <mc:Choice xmlns:v="urn:schemas-microsoft-com:vml" Requires="v">
                <p:oleObj name="Equation" r:id="rId2" imgW="787320" imgH="228600" progId="Equation.DSMT4">
                  <p:embed/>
                </p:oleObj>
              </mc:Choice>
              <mc:Fallback>
                <p:oleObj name="Equation" r:id="rId2" imgW="787320" imgH="228600" progId="Equation.DSMT4">
                  <p:embed/>
                  <p:pic>
                    <p:nvPicPr>
                      <p:cNvPr id="29" name="Object 28" descr="R subscript 3 Baseline equals 150 Ohms.&#10;">
                        <a:extLst>
                          <a:ext uri="{FF2B5EF4-FFF2-40B4-BE49-F238E27FC236}">
                            <a16:creationId xmlns:a16="http://schemas.microsoft.com/office/drawing/2014/main" id="{A74F6BB5-9182-8A39-F1E2-6A7BFD0BA8A1}"/>
                          </a:ext>
                        </a:extLst>
                      </p:cNvPr>
                      <p:cNvPicPr>
                        <a:picLocks noChangeAspect="1" noChangeArrowheads="1"/>
                      </p:cNvPicPr>
                      <p:nvPr/>
                    </p:nvPicPr>
                    <p:blipFill>
                      <a:blip r:embed="rId3"/>
                      <a:srcRect/>
                      <a:stretch>
                        <a:fillRect/>
                      </a:stretch>
                    </p:blipFill>
                    <p:spPr bwMode="auto">
                      <a:xfrm>
                        <a:off x="5086350" y="1405354"/>
                        <a:ext cx="1225550" cy="369888"/>
                      </a:xfrm>
                      <a:prstGeom prst="rect">
                        <a:avLst/>
                      </a:prstGeom>
                      <a:noFill/>
                    </p:spPr>
                  </p:pic>
                </p:oleObj>
              </mc:Fallback>
            </mc:AlternateContent>
          </a:graphicData>
        </a:graphic>
      </p:graphicFrame>
      <p:sp>
        <p:nvSpPr>
          <p:cNvPr id="4" name="Content Placeholder 3">
            <a:extLst>
              <a:ext uri="{FF2B5EF4-FFF2-40B4-BE49-F238E27FC236}">
                <a16:creationId xmlns:a16="http://schemas.microsoft.com/office/drawing/2014/main" id="{47F3EA45-0263-41D0-2A52-2DB8F0A43727}"/>
              </a:ext>
            </a:extLst>
          </p:cNvPr>
          <p:cNvSpPr>
            <a:spLocks noGrp="1"/>
          </p:cNvSpPr>
          <p:nvPr>
            <p:ph sz="quarter" idx="11"/>
          </p:nvPr>
        </p:nvSpPr>
        <p:spPr>
          <a:xfrm>
            <a:off x="6378575" y="1383079"/>
            <a:ext cx="2300288" cy="344128"/>
          </a:xfrm>
        </p:spPr>
        <p:txBody>
          <a:bodyPr wrap="square" lIns="0" tIns="18000" rIns="0" bIns="18000" anchor="ctr" anchorCtr="0">
            <a:spAutoFit/>
          </a:bodyPr>
          <a:lstStyle/>
          <a:p>
            <a:pPr marL="0" indent="0">
              <a:buNone/>
            </a:pPr>
            <a:r>
              <a:rPr lang="en-US" altLang="en-US" sz="2000" noProof="0" dirty="0"/>
              <a:t>What is the value of</a:t>
            </a:r>
            <a:endParaRPr lang="en-US" sz="2000" noProof="0" dirty="0"/>
          </a:p>
        </p:txBody>
      </p:sp>
      <p:graphicFrame>
        <p:nvGraphicFramePr>
          <p:cNvPr id="31" name="Object 30" descr="R subscript x Baseline?&#10;">
            <a:extLst>
              <a:ext uri="{FF2B5EF4-FFF2-40B4-BE49-F238E27FC236}">
                <a16:creationId xmlns:a16="http://schemas.microsoft.com/office/drawing/2014/main" id="{1CEA2793-C4A1-9E5D-B0DC-52B846A0BFE2}"/>
              </a:ext>
            </a:extLst>
          </p:cNvPr>
          <p:cNvGraphicFramePr>
            <a:graphicFrameLocks noChangeAspect="1"/>
          </p:cNvGraphicFramePr>
          <p:nvPr/>
        </p:nvGraphicFramePr>
        <p:xfrm>
          <a:off x="399449" y="1810375"/>
          <a:ext cx="493713" cy="369887"/>
        </p:xfrm>
        <a:graphic>
          <a:graphicData uri="http://schemas.openxmlformats.org/presentationml/2006/ole">
            <mc:AlternateContent xmlns:mc="http://schemas.openxmlformats.org/markup-compatibility/2006">
              <mc:Choice xmlns:v="urn:schemas-microsoft-com:vml" Requires="v">
                <p:oleObj name="Equation" r:id="rId4" imgW="317160" imgH="228600" progId="Equation.DSMT4">
                  <p:embed/>
                </p:oleObj>
              </mc:Choice>
              <mc:Fallback>
                <p:oleObj name="Equation" r:id="rId4" imgW="317160" imgH="228600" progId="Equation.DSMT4">
                  <p:embed/>
                  <p:pic>
                    <p:nvPicPr>
                      <p:cNvPr id="31" name="Object 30" descr="R subscript x Baseline?&#10;">
                        <a:extLst>
                          <a:ext uri="{FF2B5EF4-FFF2-40B4-BE49-F238E27FC236}">
                            <a16:creationId xmlns:a16="http://schemas.microsoft.com/office/drawing/2014/main" id="{1CEA2793-C4A1-9E5D-B0DC-52B846A0BFE2}"/>
                          </a:ext>
                        </a:extLst>
                      </p:cNvPr>
                      <p:cNvPicPr>
                        <a:picLocks noChangeAspect="1" noChangeArrowheads="1"/>
                      </p:cNvPicPr>
                      <p:nvPr/>
                    </p:nvPicPr>
                    <p:blipFill>
                      <a:blip r:embed="rId5"/>
                      <a:srcRect/>
                      <a:stretch>
                        <a:fillRect/>
                      </a:stretch>
                    </p:blipFill>
                    <p:spPr bwMode="auto">
                      <a:xfrm>
                        <a:off x="399449" y="1810375"/>
                        <a:ext cx="493713" cy="369887"/>
                      </a:xfrm>
                      <a:prstGeom prst="rect">
                        <a:avLst/>
                      </a:prstGeom>
                      <a:noFill/>
                    </p:spPr>
                  </p:pic>
                </p:oleObj>
              </mc:Fallback>
            </mc:AlternateContent>
          </a:graphicData>
        </a:graphic>
      </p:graphicFrame>
      <p:pic>
        <p:nvPicPr>
          <p:cNvPr id="32" name="Picture 31" descr="A circuit diagram with a Wheatstone bridge that has four resistors 100 ohms, 1000 ohms, R sub x, and R sub 3 connected across a source in the clockwise direction. R sub 3 is a variable resistor.">
            <a:extLst>
              <a:ext uri="{FF2B5EF4-FFF2-40B4-BE49-F238E27FC236}">
                <a16:creationId xmlns:a16="http://schemas.microsoft.com/office/drawing/2014/main" id="{15FA198C-07C9-641D-49AA-4556D2F956DB}"/>
              </a:ext>
            </a:extLst>
          </p:cNvPr>
          <p:cNvPicPr>
            <a:picLocks noChangeAspect="1"/>
          </p:cNvPicPr>
          <p:nvPr/>
        </p:nvPicPr>
        <p:blipFill>
          <a:blip r:embed="rId6"/>
          <a:srcRect/>
          <a:stretch/>
        </p:blipFill>
        <p:spPr>
          <a:xfrm>
            <a:off x="2881664" y="2223959"/>
            <a:ext cx="3399720" cy="1838581"/>
          </a:xfrm>
          <a:prstGeom prst="rect">
            <a:avLst/>
          </a:prstGeom>
        </p:spPr>
      </p:pic>
      <p:sp>
        <p:nvSpPr>
          <p:cNvPr id="5" name="Content Placeholder 4">
            <a:extLst>
              <a:ext uri="{FF2B5EF4-FFF2-40B4-BE49-F238E27FC236}">
                <a16:creationId xmlns:a16="http://schemas.microsoft.com/office/drawing/2014/main" id="{A887EED8-1354-F4CC-F629-43C7B7B76D7C}"/>
              </a:ext>
            </a:extLst>
          </p:cNvPr>
          <p:cNvSpPr>
            <a:spLocks noGrp="1"/>
          </p:cNvSpPr>
          <p:nvPr>
            <p:ph sz="quarter" idx="12"/>
          </p:nvPr>
        </p:nvSpPr>
        <p:spPr>
          <a:xfrm>
            <a:off x="1103367" y="4210327"/>
            <a:ext cx="282472" cy="344128"/>
          </a:xfrm>
        </p:spPr>
        <p:txBody>
          <a:bodyPr wrap="square" lIns="0" tIns="18000" rIns="0" bIns="18000" anchor="ctr" anchorCtr="0">
            <a:spAutoFit/>
          </a:bodyPr>
          <a:lstStyle/>
          <a:p>
            <a:pPr marL="0" indent="0">
              <a:buNone/>
            </a:pPr>
            <a:r>
              <a:rPr lang="en-US" sz="2000" noProof="0" dirty="0">
                <a:solidFill>
                  <a:srgbClr val="007FA3"/>
                </a:solidFill>
              </a:rPr>
              <a:t>A.</a:t>
            </a:r>
          </a:p>
        </p:txBody>
      </p:sp>
      <p:graphicFrame>
        <p:nvGraphicFramePr>
          <p:cNvPr id="35" name="Object 34" descr="10 Ohms.&#10;">
            <a:extLst>
              <a:ext uri="{FF2B5EF4-FFF2-40B4-BE49-F238E27FC236}">
                <a16:creationId xmlns:a16="http://schemas.microsoft.com/office/drawing/2014/main" id="{71F617E2-AA8F-E571-A2DD-BB45D11F1755}"/>
              </a:ext>
            </a:extLst>
          </p:cNvPr>
          <p:cNvGraphicFramePr>
            <a:graphicFrameLocks noChangeAspect="1"/>
          </p:cNvGraphicFramePr>
          <p:nvPr/>
        </p:nvGraphicFramePr>
        <p:xfrm>
          <a:off x="1438679" y="4236884"/>
          <a:ext cx="533400" cy="328612"/>
        </p:xfrm>
        <a:graphic>
          <a:graphicData uri="http://schemas.openxmlformats.org/presentationml/2006/ole">
            <mc:AlternateContent xmlns:mc="http://schemas.openxmlformats.org/markup-compatibility/2006">
              <mc:Choice xmlns:v="urn:schemas-microsoft-com:vml" Requires="v">
                <p:oleObj name="Equation" r:id="rId7" imgW="342720" imgH="203040" progId="Equation.DSMT4">
                  <p:embed/>
                </p:oleObj>
              </mc:Choice>
              <mc:Fallback>
                <p:oleObj name="Equation" r:id="rId7" imgW="342720" imgH="203040" progId="Equation.DSMT4">
                  <p:embed/>
                  <p:pic>
                    <p:nvPicPr>
                      <p:cNvPr id="35" name="Object 34" descr="10 Ohms.&#10;">
                        <a:extLst>
                          <a:ext uri="{FF2B5EF4-FFF2-40B4-BE49-F238E27FC236}">
                            <a16:creationId xmlns:a16="http://schemas.microsoft.com/office/drawing/2014/main" id="{71F617E2-AA8F-E571-A2DD-BB45D11F1755}"/>
                          </a:ext>
                        </a:extLst>
                      </p:cNvPr>
                      <p:cNvPicPr>
                        <a:picLocks noChangeAspect="1" noChangeArrowheads="1"/>
                      </p:cNvPicPr>
                      <p:nvPr/>
                    </p:nvPicPr>
                    <p:blipFill>
                      <a:blip r:embed="rId8"/>
                      <a:srcRect/>
                      <a:stretch>
                        <a:fillRect/>
                      </a:stretch>
                    </p:blipFill>
                    <p:spPr bwMode="auto">
                      <a:xfrm>
                        <a:off x="1438679" y="4236884"/>
                        <a:ext cx="533400" cy="328612"/>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CF17AC21-C9DE-7ADF-CEB7-467BA6644CF8}"/>
              </a:ext>
            </a:extLst>
          </p:cNvPr>
          <p:cNvSpPr>
            <a:spLocks noGrp="1"/>
          </p:cNvSpPr>
          <p:nvPr>
            <p:ph sz="quarter" idx="13"/>
          </p:nvPr>
        </p:nvSpPr>
        <p:spPr>
          <a:xfrm>
            <a:off x="1092655" y="4715893"/>
            <a:ext cx="280501" cy="344128"/>
          </a:xfrm>
        </p:spPr>
        <p:txBody>
          <a:bodyPr wrap="square" lIns="0" tIns="18000" rIns="0" bIns="18000" anchor="ctr" anchorCtr="0">
            <a:spAutoFit/>
          </a:bodyPr>
          <a:lstStyle/>
          <a:p>
            <a:pPr marL="0" indent="0">
              <a:buNone/>
            </a:pPr>
            <a:r>
              <a:rPr lang="en-US" sz="2000" noProof="0" dirty="0">
                <a:solidFill>
                  <a:srgbClr val="007FA3"/>
                </a:solidFill>
              </a:rPr>
              <a:t>B.</a:t>
            </a:r>
          </a:p>
        </p:txBody>
      </p:sp>
      <p:graphicFrame>
        <p:nvGraphicFramePr>
          <p:cNvPr id="39" name="Object 38" descr="1500 Ohms.&#10;">
            <a:extLst>
              <a:ext uri="{FF2B5EF4-FFF2-40B4-BE49-F238E27FC236}">
                <a16:creationId xmlns:a16="http://schemas.microsoft.com/office/drawing/2014/main" id="{D7801D80-34E0-B1AD-DF86-0D06B0677770}"/>
              </a:ext>
            </a:extLst>
          </p:cNvPr>
          <p:cNvGraphicFramePr>
            <a:graphicFrameLocks noChangeAspect="1"/>
          </p:cNvGraphicFramePr>
          <p:nvPr/>
        </p:nvGraphicFramePr>
        <p:xfrm>
          <a:off x="1440438" y="4726348"/>
          <a:ext cx="790575" cy="328612"/>
        </p:xfrm>
        <a:graphic>
          <a:graphicData uri="http://schemas.openxmlformats.org/presentationml/2006/ole">
            <mc:AlternateContent xmlns:mc="http://schemas.openxmlformats.org/markup-compatibility/2006">
              <mc:Choice xmlns:v="urn:schemas-microsoft-com:vml" Requires="v">
                <p:oleObj name="Equation" r:id="rId9" imgW="507960" imgH="203040" progId="Equation.DSMT4">
                  <p:embed/>
                </p:oleObj>
              </mc:Choice>
              <mc:Fallback>
                <p:oleObj name="Equation" r:id="rId9" imgW="507960" imgH="203040" progId="Equation.DSMT4">
                  <p:embed/>
                  <p:pic>
                    <p:nvPicPr>
                      <p:cNvPr id="39" name="Object 38" descr="1500 Ohms.&#10;">
                        <a:extLst>
                          <a:ext uri="{FF2B5EF4-FFF2-40B4-BE49-F238E27FC236}">
                            <a16:creationId xmlns:a16="http://schemas.microsoft.com/office/drawing/2014/main" id="{D7801D80-34E0-B1AD-DF86-0D06B0677770}"/>
                          </a:ext>
                        </a:extLst>
                      </p:cNvPr>
                      <p:cNvPicPr>
                        <a:picLocks noChangeAspect="1" noChangeArrowheads="1"/>
                      </p:cNvPicPr>
                      <p:nvPr/>
                    </p:nvPicPr>
                    <p:blipFill>
                      <a:blip r:embed="rId10"/>
                      <a:srcRect/>
                      <a:stretch>
                        <a:fillRect/>
                      </a:stretch>
                    </p:blipFill>
                    <p:spPr bwMode="auto">
                      <a:xfrm>
                        <a:off x="1440438" y="4726348"/>
                        <a:ext cx="790575" cy="328612"/>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090E74D4-F4BB-5799-D18B-8AF044F7B4E4}"/>
              </a:ext>
            </a:extLst>
          </p:cNvPr>
          <p:cNvSpPr>
            <a:spLocks noGrp="1"/>
          </p:cNvSpPr>
          <p:nvPr>
            <p:ph sz="quarter" idx="14"/>
          </p:nvPr>
        </p:nvSpPr>
        <p:spPr>
          <a:xfrm>
            <a:off x="1092654" y="5266930"/>
            <a:ext cx="280501" cy="344128"/>
          </a:xfrm>
        </p:spPr>
        <p:txBody>
          <a:bodyPr wrap="square" lIns="0" tIns="18000" rIns="0" bIns="18000" anchor="ctr" anchorCtr="0">
            <a:spAutoFit/>
          </a:bodyPr>
          <a:lstStyle/>
          <a:p>
            <a:pPr marL="0" indent="0">
              <a:buNone/>
            </a:pPr>
            <a:r>
              <a:rPr lang="en-US" sz="2000" noProof="0" dirty="0">
                <a:solidFill>
                  <a:srgbClr val="007FA3"/>
                </a:solidFill>
              </a:rPr>
              <a:t>C.</a:t>
            </a:r>
          </a:p>
        </p:txBody>
      </p:sp>
      <p:graphicFrame>
        <p:nvGraphicFramePr>
          <p:cNvPr id="41" name="Object 40" descr="100 divided by 15 Ohms.&#10;">
            <a:extLst>
              <a:ext uri="{FF2B5EF4-FFF2-40B4-BE49-F238E27FC236}">
                <a16:creationId xmlns:a16="http://schemas.microsoft.com/office/drawing/2014/main" id="{1CAEF8F8-97AA-5AB0-EE51-EAD32EA27FC3}"/>
              </a:ext>
            </a:extLst>
          </p:cNvPr>
          <p:cNvGraphicFramePr>
            <a:graphicFrameLocks noChangeAspect="1"/>
          </p:cNvGraphicFramePr>
          <p:nvPr/>
        </p:nvGraphicFramePr>
        <p:xfrm>
          <a:off x="1460981" y="5284033"/>
          <a:ext cx="1089025" cy="327025"/>
        </p:xfrm>
        <a:graphic>
          <a:graphicData uri="http://schemas.openxmlformats.org/presentationml/2006/ole">
            <mc:AlternateContent xmlns:mc="http://schemas.openxmlformats.org/markup-compatibility/2006">
              <mc:Choice xmlns:v="urn:schemas-microsoft-com:vml" Requires="v">
                <p:oleObj name="Equation" r:id="rId11" imgW="698400" imgH="203040" progId="Equation.DSMT4">
                  <p:embed/>
                </p:oleObj>
              </mc:Choice>
              <mc:Fallback>
                <p:oleObj name="Equation" r:id="rId11" imgW="698400" imgH="203040" progId="Equation.DSMT4">
                  <p:embed/>
                  <p:pic>
                    <p:nvPicPr>
                      <p:cNvPr id="41" name="Object 40" descr="100 divided by 15 Ohms.&#10;">
                        <a:extLst>
                          <a:ext uri="{FF2B5EF4-FFF2-40B4-BE49-F238E27FC236}">
                            <a16:creationId xmlns:a16="http://schemas.microsoft.com/office/drawing/2014/main" id="{1CAEF8F8-97AA-5AB0-EE51-EAD32EA27FC3}"/>
                          </a:ext>
                        </a:extLst>
                      </p:cNvPr>
                      <p:cNvPicPr>
                        <a:picLocks noChangeAspect="1" noChangeArrowheads="1"/>
                      </p:cNvPicPr>
                      <p:nvPr/>
                    </p:nvPicPr>
                    <p:blipFill>
                      <a:blip r:embed="rId12"/>
                      <a:srcRect/>
                      <a:stretch>
                        <a:fillRect/>
                      </a:stretch>
                    </p:blipFill>
                    <p:spPr bwMode="auto">
                      <a:xfrm>
                        <a:off x="1460981" y="5284033"/>
                        <a:ext cx="1089025" cy="327025"/>
                      </a:xfrm>
                      <a:prstGeom prst="rect">
                        <a:avLst/>
                      </a:prstGeom>
                      <a:noFill/>
                    </p:spPr>
                  </p:pic>
                </p:oleObj>
              </mc:Fallback>
            </mc:AlternateContent>
          </a:graphicData>
        </a:graphic>
      </p:graphicFrame>
    </p:spTree>
    <p:extLst>
      <p:ext uri="{BB962C8B-B14F-4D97-AF65-F5344CB8AC3E}">
        <p14:creationId xmlns:p14="http://schemas.microsoft.com/office/powerpoint/2010/main" val="984140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6856E-B88E-B5A9-B7F0-632D6504D635}"/>
            </a:ext>
          </a:extLst>
        </p:cNvPr>
        <p:cNvGrpSpPr/>
        <p:nvPr/>
      </p:nvGrpSpPr>
      <p:grpSpPr>
        <a:xfrm>
          <a:off x="0" y="0"/>
          <a:ext cx="0" cy="0"/>
          <a:chOff x="0" y="0"/>
          <a:chExt cx="0" cy="0"/>
        </a:xfrm>
      </p:grpSpPr>
      <p:sp>
        <p:nvSpPr>
          <p:cNvPr id="28" name="Title 1">
            <a:extLst>
              <a:ext uri="{FF2B5EF4-FFF2-40B4-BE49-F238E27FC236}">
                <a16:creationId xmlns:a16="http://schemas.microsoft.com/office/drawing/2014/main" id="{D5FAAE40-1379-C245-C8D1-69105B0DFD4C}"/>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(16 of 22)</a:t>
            </a:r>
          </a:p>
        </p:txBody>
      </p:sp>
      <p:sp>
        <p:nvSpPr>
          <p:cNvPr id="3" name="Content Placeholder 2">
            <a:extLst>
              <a:ext uri="{FF2B5EF4-FFF2-40B4-BE49-F238E27FC236}">
                <a16:creationId xmlns:a16="http://schemas.microsoft.com/office/drawing/2014/main" id="{EDA8D652-183A-913E-AEF1-3DF88E0449CB}"/>
              </a:ext>
            </a:extLst>
          </p:cNvPr>
          <p:cNvSpPr>
            <a:spLocks noGrp="1"/>
          </p:cNvSpPr>
          <p:nvPr>
            <p:ph sz="quarter" idx="10"/>
          </p:nvPr>
        </p:nvSpPr>
        <p:spPr>
          <a:xfrm>
            <a:off x="404812" y="1383873"/>
            <a:ext cx="4614863" cy="344128"/>
          </a:xfrm>
        </p:spPr>
        <p:txBody>
          <a:bodyPr wrap="square" lIns="0" tIns="18000" rIns="0" bIns="18000" anchor="ctr" anchorCtr="0">
            <a:spAutoFit/>
          </a:bodyPr>
          <a:lstStyle/>
          <a:p>
            <a:pPr marL="0" indent="0">
              <a:buNone/>
            </a:pPr>
            <a:r>
              <a:rPr lang="en-US" altLang="en-US" sz="2000" noProof="0" dirty="0"/>
              <a:t>The bridge circuit here is balanced when</a:t>
            </a:r>
            <a:endParaRPr lang="en-US" sz="2000" noProof="0" dirty="0"/>
          </a:p>
        </p:txBody>
      </p:sp>
      <p:graphicFrame>
        <p:nvGraphicFramePr>
          <p:cNvPr id="29" name="Object 28" descr="R subscript 3 Baseline equals 150 Ohms.&#10;">
            <a:extLst>
              <a:ext uri="{FF2B5EF4-FFF2-40B4-BE49-F238E27FC236}">
                <a16:creationId xmlns:a16="http://schemas.microsoft.com/office/drawing/2014/main" id="{27D68B08-9EAB-674E-F75B-0A617C4C9CC0}"/>
              </a:ext>
            </a:extLst>
          </p:cNvPr>
          <p:cNvGraphicFramePr>
            <a:graphicFrameLocks noChangeAspect="1"/>
          </p:cNvGraphicFramePr>
          <p:nvPr/>
        </p:nvGraphicFramePr>
        <p:xfrm>
          <a:off x="5086350" y="1405354"/>
          <a:ext cx="1225550" cy="369888"/>
        </p:xfrm>
        <a:graphic>
          <a:graphicData uri="http://schemas.openxmlformats.org/presentationml/2006/ole">
            <mc:AlternateContent xmlns:mc="http://schemas.openxmlformats.org/markup-compatibility/2006">
              <mc:Choice xmlns:v="urn:schemas-microsoft-com:vml" Requires="v">
                <p:oleObj name="Equation" r:id="rId2" imgW="787320" imgH="228600" progId="Equation.DSMT4">
                  <p:embed/>
                </p:oleObj>
              </mc:Choice>
              <mc:Fallback>
                <p:oleObj name="Equation" r:id="rId2" imgW="787320" imgH="228600" progId="Equation.DSMT4">
                  <p:embed/>
                  <p:pic>
                    <p:nvPicPr>
                      <p:cNvPr id="29" name="Object 28" descr="R subscript 3 Baseline equals 150 Ohms.&#10;">
                        <a:extLst>
                          <a:ext uri="{FF2B5EF4-FFF2-40B4-BE49-F238E27FC236}">
                            <a16:creationId xmlns:a16="http://schemas.microsoft.com/office/drawing/2014/main" id="{A74F6BB5-9182-8A39-F1E2-6A7BFD0BA8A1}"/>
                          </a:ext>
                        </a:extLst>
                      </p:cNvPr>
                      <p:cNvPicPr>
                        <a:picLocks noChangeAspect="1" noChangeArrowheads="1"/>
                      </p:cNvPicPr>
                      <p:nvPr/>
                    </p:nvPicPr>
                    <p:blipFill>
                      <a:blip r:embed="rId3"/>
                      <a:srcRect/>
                      <a:stretch>
                        <a:fillRect/>
                      </a:stretch>
                    </p:blipFill>
                    <p:spPr bwMode="auto">
                      <a:xfrm>
                        <a:off x="5086350" y="1405354"/>
                        <a:ext cx="1225550" cy="369888"/>
                      </a:xfrm>
                      <a:prstGeom prst="rect">
                        <a:avLst/>
                      </a:prstGeom>
                      <a:noFill/>
                    </p:spPr>
                  </p:pic>
                </p:oleObj>
              </mc:Fallback>
            </mc:AlternateContent>
          </a:graphicData>
        </a:graphic>
      </p:graphicFrame>
      <p:sp>
        <p:nvSpPr>
          <p:cNvPr id="4" name="Content Placeholder 3">
            <a:extLst>
              <a:ext uri="{FF2B5EF4-FFF2-40B4-BE49-F238E27FC236}">
                <a16:creationId xmlns:a16="http://schemas.microsoft.com/office/drawing/2014/main" id="{5FD81FD6-4CC7-E0D8-5BAF-300AE2252C8A}"/>
              </a:ext>
            </a:extLst>
          </p:cNvPr>
          <p:cNvSpPr>
            <a:spLocks noGrp="1"/>
          </p:cNvSpPr>
          <p:nvPr>
            <p:ph sz="quarter" idx="11"/>
          </p:nvPr>
        </p:nvSpPr>
        <p:spPr>
          <a:xfrm>
            <a:off x="6378575" y="1383079"/>
            <a:ext cx="2300288" cy="344128"/>
          </a:xfrm>
        </p:spPr>
        <p:txBody>
          <a:bodyPr wrap="square" lIns="0" tIns="18000" rIns="0" bIns="18000" anchor="ctr" anchorCtr="0">
            <a:spAutoFit/>
          </a:bodyPr>
          <a:lstStyle/>
          <a:p>
            <a:pPr marL="0" indent="0">
              <a:buNone/>
            </a:pPr>
            <a:r>
              <a:rPr lang="en-US" altLang="en-US" sz="2000" noProof="0" dirty="0"/>
              <a:t>What is the value of</a:t>
            </a:r>
            <a:endParaRPr lang="en-US" sz="2000" noProof="0" dirty="0"/>
          </a:p>
        </p:txBody>
      </p:sp>
      <p:graphicFrame>
        <p:nvGraphicFramePr>
          <p:cNvPr id="31" name="Object 30" descr="R subscript x Baseline?&#10;">
            <a:extLst>
              <a:ext uri="{FF2B5EF4-FFF2-40B4-BE49-F238E27FC236}">
                <a16:creationId xmlns:a16="http://schemas.microsoft.com/office/drawing/2014/main" id="{D118F7B7-6BB0-28A6-CD49-47224C3F216C}"/>
              </a:ext>
            </a:extLst>
          </p:cNvPr>
          <p:cNvGraphicFramePr>
            <a:graphicFrameLocks noChangeAspect="1"/>
          </p:cNvGraphicFramePr>
          <p:nvPr/>
        </p:nvGraphicFramePr>
        <p:xfrm>
          <a:off x="399449" y="1810375"/>
          <a:ext cx="493713" cy="369887"/>
        </p:xfrm>
        <a:graphic>
          <a:graphicData uri="http://schemas.openxmlformats.org/presentationml/2006/ole">
            <mc:AlternateContent xmlns:mc="http://schemas.openxmlformats.org/markup-compatibility/2006">
              <mc:Choice xmlns:v="urn:schemas-microsoft-com:vml" Requires="v">
                <p:oleObj name="Equation" r:id="rId4" imgW="317160" imgH="228600" progId="Equation.DSMT4">
                  <p:embed/>
                </p:oleObj>
              </mc:Choice>
              <mc:Fallback>
                <p:oleObj name="Equation" r:id="rId4" imgW="317160" imgH="228600" progId="Equation.DSMT4">
                  <p:embed/>
                  <p:pic>
                    <p:nvPicPr>
                      <p:cNvPr id="31" name="Object 30" descr="R subscript x Baseline?&#10;">
                        <a:extLst>
                          <a:ext uri="{FF2B5EF4-FFF2-40B4-BE49-F238E27FC236}">
                            <a16:creationId xmlns:a16="http://schemas.microsoft.com/office/drawing/2014/main" id="{1CEA2793-C4A1-9E5D-B0DC-52B846A0BFE2}"/>
                          </a:ext>
                        </a:extLst>
                      </p:cNvPr>
                      <p:cNvPicPr>
                        <a:picLocks noChangeAspect="1" noChangeArrowheads="1"/>
                      </p:cNvPicPr>
                      <p:nvPr/>
                    </p:nvPicPr>
                    <p:blipFill>
                      <a:blip r:embed="rId5"/>
                      <a:srcRect/>
                      <a:stretch>
                        <a:fillRect/>
                      </a:stretch>
                    </p:blipFill>
                    <p:spPr bwMode="auto">
                      <a:xfrm>
                        <a:off x="399449" y="1810375"/>
                        <a:ext cx="493713" cy="369887"/>
                      </a:xfrm>
                      <a:prstGeom prst="rect">
                        <a:avLst/>
                      </a:prstGeom>
                      <a:noFill/>
                    </p:spPr>
                  </p:pic>
                </p:oleObj>
              </mc:Fallback>
            </mc:AlternateContent>
          </a:graphicData>
        </a:graphic>
      </p:graphicFrame>
      <p:pic>
        <p:nvPicPr>
          <p:cNvPr id="32" name="Picture 31" descr="A circuit diagram with a Wheatstone bridge that has four resistors 100 ohms, 1000 ohms, R sub x, and R sub 3 connected across a source in the clockwise direction. R sub 3 is a variable resistor.">
            <a:extLst>
              <a:ext uri="{FF2B5EF4-FFF2-40B4-BE49-F238E27FC236}">
                <a16:creationId xmlns:a16="http://schemas.microsoft.com/office/drawing/2014/main" id="{4C605E8E-FF7F-F0F1-3F2D-FF4AD86D368F}"/>
              </a:ext>
            </a:extLst>
          </p:cNvPr>
          <p:cNvPicPr>
            <a:picLocks noChangeAspect="1"/>
          </p:cNvPicPr>
          <p:nvPr/>
        </p:nvPicPr>
        <p:blipFill>
          <a:blip r:embed="rId6"/>
          <a:srcRect/>
          <a:stretch/>
        </p:blipFill>
        <p:spPr>
          <a:xfrm>
            <a:off x="2881664" y="2223959"/>
            <a:ext cx="3399720" cy="1838581"/>
          </a:xfrm>
          <a:prstGeom prst="rect">
            <a:avLst/>
          </a:prstGeom>
        </p:spPr>
      </p:pic>
      <p:pic>
        <p:nvPicPr>
          <p:cNvPr id="33" name="Picture 4" descr="Cross mark">
            <a:extLst>
              <a:ext uri="{FF2B5EF4-FFF2-40B4-BE49-F238E27FC236}">
                <a16:creationId xmlns:a16="http://schemas.microsoft.com/office/drawing/2014/main" id="{D3157500-E5AA-743B-A0DF-EDBC5CB3E85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2805" y="424745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7289752D-0E20-111C-FBCA-EFAC227E0AFC}"/>
              </a:ext>
            </a:extLst>
          </p:cNvPr>
          <p:cNvSpPr>
            <a:spLocks noGrp="1"/>
          </p:cNvSpPr>
          <p:nvPr>
            <p:ph sz="quarter" idx="12"/>
          </p:nvPr>
        </p:nvSpPr>
        <p:spPr>
          <a:xfrm>
            <a:off x="1103367" y="4210327"/>
            <a:ext cx="282472" cy="344128"/>
          </a:xfrm>
        </p:spPr>
        <p:txBody>
          <a:bodyPr wrap="square" lIns="0" tIns="18000" rIns="0" bIns="18000" anchor="ctr" anchorCtr="0">
            <a:spAutoFit/>
          </a:bodyPr>
          <a:lstStyle/>
          <a:p>
            <a:pPr marL="0" indent="0">
              <a:buNone/>
            </a:pPr>
            <a:r>
              <a:rPr lang="en-US" sz="2000" noProof="0" dirty="0">
                <a:solidFill>
                  <a:srgbClr val="007FA3"/>
                </a:solidFill>
              </a:rPr>
              <a:t>A.</a:t>
            </a:r>
          </a:p>
        </p:txBody>
      </p:sp>
      <p:graphicFrame>
        <p:nvGraphicFramePr>
          <p:cNvPr id="35" name="Object 34" descr="10 Ohms.&#10;">
            <a:extLst>
              <a:ext uri="{FF2B5EF4-FFF2-40B4-BE49-F238E27FC236}">
                <a16:creationId xmlns:a16="http://schemas.microsoft.com/office/drawing/2014/main" id="{BC03FBE4-7829-FA81-51BE-DB01F158F438}"/>
              </a:ext>
            </a:extLst>
          </p:cNvPr>
          <p:cNvGraphicFramePr>
            <a:graphicFrameLocks noChangeAspect="1"/>
          </p:cNvGraphicFramePr>
          <p:nvPr/>
        </p:nvGraphicFramePr>
        <p:xfrm>
          <a:off x="1438679" y="4236884"/>
          <a:ext cx="533400" cy="328612"/>
        </p:xfrm>
        <a:graphic>
          <a:graphicData uri="http://schemas.openxmlformats.org/presentationml/2006/ole">
            <mc:AlternateContent xmlns:mc="http://schemas.openxmlformats.org/markup-compatibility/2006">
              <mc:Choice xmlns:v="urn:schemas-microsoft-com:vml" Requires="v">
                <p:oleObj name="Equation" r:id="rId8" imgW="342720" imgH="203040" progId="Equation.DSMT4">
                  <p:embed/>
                </p:oleObj>
              </mc:Choice>
              <mc:Fallback>
                <p:oleObj name="Equation" r:id="rId8" imgW="342720" imgH="203040" progId="Equation.DSMT4">
                  <p:embed/>
                  <p:pic>
                    <p:nvPicPr>
                      <p:cNvPr id="35" name="Object 34" descr="10 Ohms.&#10;">
                        <a:extLst>
                          <a:ext uri="{FF2B5EF4-FFF2-40B4-BE49-F238E27FC236}">
                            <a16:creationId xmlns:a16="http://schemas.microsoft.com/office/drawing/2014/main" id="{71F617E2-AA8F-E571-A2DD-BB45D11F1755}"/>
                          </a:ext>
                        </a:extLst>
                      </p:cNvPr>
                      <p:cNvPicPr>
                        <a:picLocks noChangeAspect="1" noChangeArrowheads="1"/>
                      </p:cNvPicPr>
                      <p:nvPr/>
                    </p:nvPicPr>
                    <p:blipFill>
                      <a:blip r:embed="rId9"/>
                      <a:srcRect/>
                      <a:stretch>
                        <a:fillRect/>
                      </a:stretch>
                    </p:blipFill>
                    <p:spPr bwMode="auto">
                      <a:xfrm>
                        <a:off x="1438679" y="4236884"/>
                        <a:ext cx="533400" cy="328612"/>
                      </a:xfrm>
                      <a:prstGeom prst="rect">
                        <a:avLst/>
                      </a:prstGeom>
                      <a:noFill/>
                    </p:spPr>
                  </p:pic>
                </p:oleObj>
              </mc:Fallback>
            </mc:AlternateContent>
          </a:graphicData>
        </a:graphic>
      </p:graphicFrame>
      <p:pic>
        <p:nvPicPr>
          <p:cNvPr id="36" name="Picture 2" descr="Check mark">
            <a:extLst>
              <a:ext uri="{FF2B5EF4-FFF2-40B4-BE49-F238E27FC236}">
                <a16:creationId xmlns:a16="http://schemas.microsoft.com/office/drawing/2014/main" id="{94D0098C-0184-6B82-44F2-18DFE6CC095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7971" y="4764837"/>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FD20A989-6D18-3982-7335-12FAD1581ACC}"/>
              </a:ext>
            </a:extLst>
          </p:cNvPr>
          <p:cNvSpPr>
            <a:spLocks noGrp="1"/>
          </p:cNvSpPr>
          <p:nvPr>
            <p:ph sz="quarter" idx="13"/>
          </p:nvPr>
        </p:nvSpPr>
        <p:spPr>
          <a:xfrm>
            <a:off x="1092655" y="4715893"/>
            <a:ext cx="280501" cy="344128"/>
          </a:xfrm>
        </p:spPr>
        <p:txBody>
          <a:bodyPr wrap="square" lIns="0" tIns="18000" rIns="0" bIns="18000" anchor="ctr" anchorCtr="0">
            <a:spAutoFit/>
          </a:bodyPr>
          <a:lstStyle/>
          <a:p>
            <a:pPr marL="0" indent="0">
              <a:buNone/>
            </a:pPr>
            <a:r>
              <a:rPr lang="en-US" sz="2000" noProof="0" dirty="0">
                <a:solidFill>
                  <a:srgbClr val="007FA3"/>
                </a:solidFill>
              </a:rPr>
              <a:t>B.</a:t>
            </a:r>
          </a:p>
        </p:txBody>
      </p:sp>
      <p:graphicFrame>
        <p:nvGraphicFramePr>
          <p:cNvPr id="39" name="Object 38" descr="1500 Ohms.&#10;">
            <a:extLst>
              <a:ext uri="{FF2B5EF4-FFF2-40B4-BE49-F238E27FC236}">
                <a16:creationId xmlns:a16="http://schemas.microsoft.com/office/drawing/2014/main" id="{E1BB5B54-7430-142C-03D9-9F03C5C628A0}"/>
              </a:ext>
            </a:extLst>
          </p:cNvPr>
          <p:cNvGraphicFramePr>
            <a:graphicFrameLocks noChangeAspect="1"/>
          </p:cNvGraphicFramePr>
          <p:nvPr/>
        </p:nvGraphicFramePr>
        <p:xfrm>
          <a:off x="1440438" y="4726348"/>
          <a:ext cx="790575" cy="328612"/>
        </p:xfrm>
        <a:graphic>
          <a:graphicData uri="http://schemas.openxmlformats.org/presentationml/2006/ole">
            <mc:AlternateContent xmlns:mc="http://schemas.openxmlformats.org/markup-compatibility/2006">
              <mc:Choice xmlns:v="urn:schemas-microsoft-com:vml" Requires="v">
                <p:oleObj name="Equation" r:id="rId11" imgW="507960" imgH="203040" progId="Equation.DSMT4">
                  <p:embed/>
                </p:oleObj>
              </mc:Choice>
              <mc:Fallback>
                <p:oleObj name="Equation" r:id="rId11" imgW="507960" imgH="203040" progId="Equation.DSMT4">
                  <p:embed/>
                  <p:pic>
                    <p:nvPicPr>
                      <p:cNvPr id="39" name="Object 38" descr="1500 Ohms.&#10;">
                        <a:extLst>
                          <a:ext uri="{FF2B5EF4-FFF2-40B4-BE49-F238E27FC236}">
                            <a16:creationId xmlns:a16="http://schemas.microsoft.com/office/drawing/2014/main" id="{D7801D80-34E0-B1AD-DF86-0D06B0677770}"/>
                          </a:ext>
                        </a:extLst>
                      </p:cNvPr>
                      <p:cNvPicPr>
                        <a:picLocks noChangeAspect="1" noChangeArrowheads="1"/>
                      </p:cNvPicPr>
                      <p:nvPr/>
                    </p:nvPicPr>
                    <p:blipFill>
                      <a:blip r:embed="rId12"/>
                      <a:srcRect/>
                      <a:stretch>
                        <a:fillRect/>
                      </a:stretch>
                    </p:blipFill>
                    <p:spPr bwMode="auto">
                      <a:xfrm>
                        <a:off x="1440438" y="4726348"/>
                        <a:ext cx="790575" cy="328612"/>
                      </a:xfrm>
                      <a:prstGeom prst="rect">
                        <a:avLst/>
                      </a:prstGeom>
                      <a:noFill/>
                    </p:spPr>
                  </p:pic>
                </p:oleObj>
              </mc:Fallback>
            </mc:AlternateContent>
          </a:graphicData>
        </a:graphic>
      </p:graphicFrame>
      <p:pic>
        <p:nvPicPr>
          <p:cNvPr id="40" name="Picture 4" descr="Cross mark">
            <a:extLst>
              <a:ext uri="{FF2B5EF4-FFF2-40B4-BE49-F238E27FC236}">
                <a16:creationId xmlns:a16="http://schemas.microsoft.com/office/drawing/2014/main" id="{CB771AED-D096-8468-97F3-B78E177CBC1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2805" y="528349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EB35DF41-AA17-6ACC-7E35-634F10EF25F0}"/>
              </a:ext>
            </a:extLst>
          </p:cNvPr>
          <p:cNvSpPr>
            <a:spLocks noGrp="1"/>
          </p:cNvSpPr>
          <p:nvPr>
            <p:ph sz="quarter" idx="14"/>
          </p:nvPr>
        </p:nvSpPr>
        <p:spPr>
          <a:xfrm>
            <a:off x="1092654" y="5266930"/>
            <a:ext cx="280501" cy="344128"/>
          </a:xfrm>
        </p:spPr>
        <p:txBody>
          <a:bodyPr wrap="square" lIns="0" tIns="18000" rIns="0" bIns="18000" anchor="ctr" anchorCtr="0">
            <a:spAutoFit/>
          </a:bodyPr>
          <a:lstStyle/>
          <a:p>
            <a:pPr marL="0" indent="0">
              <a:buNone/>
            </a:pPr>
            <a:r>
              <a:rPr lang="en-US" sz="2000" noProof="0" dirty="0">
                <a:solidFill>
                  <a:srgbClr val="007FA3"/>
                </a:solidFill>
              </a:rPr>
              <a:t>C.</a:t>
            </a:r>
          </a:p>
        </p:txBody>
      </p:sp>
      <p:graphicFrame>
        <p:nvGraphicFramePr>
          <p:cNvPr id="41" name="Object 40" descr="100 divided by 15 Ohms.&#10;">
            <a:extLst>
              <a:ext uri="{FF2B5EF4-FFF2-40B4-BE49-F238E27FC236}">
                <a16:creationId xmlns:a16="http://schemas.microsoft.com/office/drawing/2014/main" id="{F7367D3D-9DA4-87F4-E017-3D35105169C4}"/>
              </a:ext>
            </a:extLst>
          </p:cNvPr>
          <p:cNvGraphicFramePr>
            <a:graphicFrameLocks noChangeAspect="1"/>
          </p:cNvGraphicFramePr>
          <p:nvPr/>
        </p:nvGraphicFramePr>
        <p:xfrm>
          <a:off x="1460981" y="5284033"/>
          <a:ext cx="1089025" cy="327025"/>
        </p:xfrm>
        <a:graphic>
          <a:graphicData uri="http://schemas.openxmlformats.org/presentationml/2006/ole">
            <mc:AlternateContent xmlns:mc="http://schemas.openxmlformats.org/markup-compatibility/2006">
              <mc:Choice xmlns:v="urn:schemas-microsoft-com:vml" Requires="v">
                <p:oleObj name="Equation" r:id="rId13" imgW="698400" imgH="203040" progId="Equation.DSMT4">
                  <p:embed/>
                </p:oleObj>
              </mc:Choice>
              <mc:Fallback>
                <p:oleObj name="Equation" r:id="rId13" imgW="698400" imgH="203040" progId="Equation.DSMT4">
                  <p:embed/>
                  <p:pic>
                    <p:nvPicPr>
                      <p:cNvPr id="41" name="Object 40" descr="100 divided by 15 Ohms.&#10;">
                        <a:extLst>
                          <a:ext uri="{FF2B5EF4-FFF2-40B4-BE49-F238E27FC236}">
                            <a16:creationId xmlns:a16="http://schemas.microsoft.com/office/drawing/2014/main" id="{1CAEF8F8-97AA-5AB0-EE51-EAD32EA27FC3}"/>
                          </a:ext>
                        </a:extLst>
                      </p:cNvPr>
                      <p:cNvPicPr>
                        <a:picLocks noChangeAspect="1" noChangeArrowheads="1"/>
                      </p:cNvPicPr>
                      <p:nvPr/>
                    </p:nvPicPr>
                    <p:blipFill>
                      <a:blip r:embed="rId14"/>
                      <a:srcRect/>
                      <a:stretch>
                        <a:fillRect/>
                      </a:stretch>
                    </p:blipFill>
                    <p:spPr bwMode="auto">
                      <a:xfrm>
                        <a:off x="1460981" y="5284033"/>
                        <a:ext cx="1089025" cy="327025"/>
                      </a:xfrm>
                      <a:prstGeom prst="rect">
                        <a:avLst/>
                      </a:prstGeom>
                      <a:noFill/>
                    </p:spPr>
                  </p:pic>
                </p:oleObj>
              </mc:Fallback>
            </mc:AlternateContent>
          </a:graphicData>
        </a:graphic>
      </p:graphicFrame>
    </p:spTree>
    <p:extLst>
      <p:ext uri="{BB962C8B-B14F-4D97-AF65-F5344CB8AC3E}">
        <p14:creationId xmlns:p14="http://schemas.microsoft.com/office/powerpoint/2010/main" val="196426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4EB0827B-7E19-DF85-7978-4E9B588D1256}"/>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(17 of 22)</a:t>
            </a:r>
          </a:p>
        </p:txBody>
      </p:sp>
      <p:sp>
        <p:nvSpPr>
          <p:cNvPr id="3" name="Content Placeholder 2">
            <a:extLst>
              <a:ext uri="{FF2B5EF4-FFF2-40B4-BE49-F238E27FC236}">
                <a16:creationId xmlns:a16="http://schemas.microsoft.com/office/drawing/2014/main" id="{7E075DE2-2215-8AAC-BF21-1584DE5FC71E}"/>
              </a:ext>
            </a:extLst>
          </p:cNvPr>
          <p:cNvSpPr>
            <a:spLocks noGrp="1"/>
          </p:cNvSpPr>
          <p:nvPr>
            <p:ph sz="quarter" idx="10"/>
          </p:nvPr>
        </p:nvSpPr>
        <p:spPr>
          <a:xfrm>
            <a:off x="408974" y="1384667"/>
            <a:ext cx="8271475" cy="344128"/>
          </a:xfrm>
        </p:spPr>
        <p:txBody>
          <a:bodyPr wrap="square" lIns="0" tIns="18000" rIns="0" bIns="18000" anchor="ctr" anchorCtr="0">
            <a:spAutoFit/>
          </a:bodyPr>
          <a:lstStyle/>
          <a:p>
            <a:pPr marL="0" indent="0">
              <a:buNone/>
            </a:pPr>
            <a:r>
              <a:rPr lang="en-US" altLang="en-US" sz="2000" noProof="0" dirty="0"/>
              <a:t>Which statement is true about the resistors in this bridge circuit?</a:t>
            </a:r>
            <a:endParaRPr lang="en-US" sz="2000" noProof="0" dirty="0"/>
          </a:p>
        </p:txBody>
      </p:sp>
      <p:pic>
        <p:nvPicPr>
          <p:cNvPr id="26" name="Picture 25" descr="A circuit diagram with a Wheatstone bridge that has four resistors R sub 1, R sub 2, R sub 3, and R sub x connected across a source in the clockwise direction. R sub m is connected in series to all the resistors.">
            <a:extLst>
              <a:ext uri="{FF2B5EF4-FFF2-40B4-BE49-F238E27FC236}">
                <a16:creationId xmlns:a16="http://schemas.microsoft.com/office/drawing/2014/main" id="{C0E3B64E-21FA-72F1-A2C4-8B53C355D7D0}"/>
              </a:ext>
            </a:extLst>
          </p:cNvPr>
          <p:cNvPicPr>
            <a:picLocks noChangeAspect="1"/>
          </p:cNvPicPr>
          <p:nvPr/>
        </p:nvPicPr>
        <p:blipFill>
          <a:blip r:embed="rId2"/>
          <a:srcRect/>
          <a:stretch/>
        </p:blipFill>
        <p:spPr>
          <a:xfrm>
            <a:off x="2925130" y="1838196"/>
            <a:ext cx="3293739" cy="1848108"/>
          </a:xfrm>
          <a:prstGeom prst="rect">
            <a:avLst/>
          </a:prstGeom>
        </p:spPr>
      </p:pic>
      <p:sp>
        <p:nvSpPr>
          <p:cNvPr id="4" name="Content Placeholder 3">
            <a:extLst>
              <a:ext uri="{FF2B5EF4-FFF2-40B4-BE49-F238E27FC236}">
                <a16:creationId xmlns:a16="http://schemas.microsoft.com/office/drawing/2014/main" id="{ED511351-14E9-26EB-CD75-106F17003E16}"/>
              </a:ext>
            </a:extLst>
          </p:cNvPr>
          <p:cNvSpPr>
            <a:spLocks noGrp="1"/>
          </p:cNvSpPr>
          <p:nvPr>
            <p:ph sz="quarter" idx="11"/>
          </p:nvPr>
        </p:nvSpPr>
        <p:spPr>
          <a:xfrm>
            <a:off x="1035474" y="3776502"/>
            <a:ext cx="282472" cy="344128"/>
          </a:xfrm>
        </p:spPr>
        <p:txBody>
          <a:bodyPr wrap="square" lIns="0" tIns="18000" rIns="0" bIns="18000" anchor="ctr" anchorCtr="0">
            <a:spAutoFit/>
          </a:bodyPr>
          <a:lstStyle/>
          <a:p>
            <a:pPr marL="0" indent="0">
              <a:buNone/>
            </a:pPr>
            <a:r>
              <a:rPr lang="en-US" sz="2000" noProof="0" dirty="0">
                <a:solidFill>
                  <a:srgbClr val="007FA3"/>
                </a:solidFill>
              </a:rPr>
              <a:t>A.</a:t>
            </a:r>
          </a:p>
        </p:txBody>
      </p:sp>
      <p:graphicFrame>
        <p:nvGraphicFramePr>
          <p:cNvPr id="28" name="Object 27" descr="R subscript 1.">
            <a:extLst>
              <a:ext uri="{FF2B5EF4-FFF2-40B4-BE49-F238E27FC236}">
                <a16:creationId xmlns:a16="http://schemas.microsoft.com/office/drawing/2014/main" id="{D15B4E6C-395D-471A-ADD2-0FCDC1D303D5}"/>
              </a:ext>
            </a:extLst>
          </p:cNvPr>
          <p:cNvGraphicFramePr>
            <a:graphicFrameLocks noChangeAspect="1"/>
          </p:cNvGraphicFramePr>
          <p:nvPr>
            <p:extLst>
              <p:ext uri="{D42A27DB-BD31-4B8C-83A1-F6EECF244321}">
                <p14:modId xmlns:p14="http://schemas.microsoft.com/office/powerpoint/2010/main" val="183912356"/>
              </p:ext>
            </p:extLst>
          </p:nvPr>
        </p:nvGraphicFramePr>
        <p:xfrm>
          <a:off x="1407366" y="3787775"/>
          <a:ext cx="295275" cy="369888"/>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37" name="Object 36" descr="S subscript 0 colon">
                        <a:extLst>
                          <a:ext uri="{FF2B5EF4-FFF2-40B4-BE49-F238E27FC236}">
                            <a16:creationId xmlns:a16="http://schemas.microsoft.com/office/drawing/2014/main" id="{79665FB9-0F90-D85E-4C49-BB9536DB6623}"/>
                          </a:ext>
                        </a:extLst>
                      </p:cNvPr>
                      <p:cNvPicPr>
                        <a:picLocks noChangeAspect="1" noChangeArrowheads="1"/>
                      </p:cNvPicPr>
                      <p:nvPr/>
                    </p:nvPicPr>
                    <p:blipFill>
                      <a:blip r:embed="rId4"/>
                      <a:srcRect/>
                      <a:stretch>
                        <a:fillRect/>
                      </a:stretch>
                    </p:blipFill>
                    <p:spPr bwMode="auto">
                      <a:xfrm>
                        <a:off x="1407366" y="3787775"/>
                        <a:ext cx="295275" cy="369888"/>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878C63-BEA3-EE0F-5514-5107D8B48057}"/>
              </a:ext>
            </a:extLst>
          </p:cNvPr>
          <p:cNvSpPr>
            <a:spLocks noGrp="1"/>
          </p:cNvSpPr>
          <p:nvPr>
            <p:ph sz="quarter" idx="12"/>
          </p:nvPr>
        </p:nvSpPr>
        <p:spPr>
          <a:xfrm>
            <a:off x="1820636" y="3804010"/>
            <a:ext cx="488950" cy="344128"/>
          </a:xfrm>
        </p:spPr>
        <p:txBody>
          <a:bodyPr wrap="square" lIns="0" tIns="18000" rIns="0" bIns="18000" anchor="ctr" anchorCtr="0">
            <a:spAutoFit/>
          </a:bodyPr>
          <a:lstStyle/>
          <a:p>
            <a:pPr marL="0" indent="0">
              <a:buNone/>
            </a:pPr>
            <a:r>
              <a:rPr lang="en-US" sz="2000" noProof="0" dirty="0"/>
              <a:t>and</a:t>
            </a:r>
          </a:p>
        </p:txBody>
      </p:sp>
      <p:graphicFrame>
        <p:nvGraphicFramePr>
          <p:cNvPr id="29" name="Object 28" descr="R subscript 3.">
            <a:extLst>
              <a:ext uri="{FF2B5EF4-FFF2-40B4-BE49-F238E27FC236}">
                <a16:creationId xmlns:a16="http://schemas.microsoft.com/office/drawing/2014/main" id="{54D111EB-A60D-4E96-E524-E40F073252B5}"/>
              </a:ext>
            </a:extLst>
          </p:cNvPr>
          <p:cNvGraphicFramePr>
            <a:graphicFrameLocks noChangeAspect="1"/>
          </p:cNvGraphicFramePr>
          <p:nvPr>
            <p:extLst>
              <p:ext uri="{D42A27DB-BD31-4B8C-83A1-F6EECF244321}">
                <p14:modId xmlns:p14="http://schemas.microsoft.com/office/powerpoint/2010/main" val="2525439865"/>
              </p:ext>
            </p:extLst>
          </p:nvPr>
        </p:nvGraphicFramePr>
        <p:xfrm>
          <a:off x="2374907" y="3793911"/>
          <a:ext cx="312738" cy="371475"/>
        </p:xfrm>
        <a:graphic>
          <a:graphicData uri="http://schemas.openxmlformats.org/presentationml/2006/ole">
            <mc:AlternateContent xmlns:mc="http://schemas.openxmlformats.org/markup-compatibility/2006">
              <mc:Choice xmlns:v="urn:schemas-microsoft-com:vml" Requires="v">
                <p:oleObj name="Equation" r:id="rId5" imgW="203040" imgH="228600" progId="Equation.DSMT4">
                  <p:embed/>
                </p:oleObj>
              </mc:Choice>
              <mc:Fallback>
                <p:oleObj name="Equation" r:id="rId5" imgW="203040" imgH="228600" progId="Equation.DSMT4">
                  <p:embed/>
                  <p:pic>
                    <p:nvPicPr>
                      <p:cNvPr id="38" name="Object 37" descr="S subscript 0 colon">
                        <a:extLst>
                          <a:ext uri="{FF2B5EF4-FFF2-40B4-BE49-F238E27FC236}">
                            <a16:creationId xmlns:a16="http://schemas.microsoft.com/office/drawing/2014/main" id="{2A00DAC6-C0ED-B12D-49B4-B44F86596FB6}"/>
                          </a:ext>
                        </a:extLst>
                      </p:cNvPr>
                      <p:cNvPicPr>
                        <a:picLocks noChangeAspect="1" noChangeArrowheads="1"/>
                      </p:cNvPicPr>
                      <p:nvPr/>
                    </p:nvPicPr>
                    <p:blipFill>
                      <a:blip r:embed="rId6"/>
                      <a:srcRect/>
                      <a:stretch>
                        <a:fillRect/>
                      </a:stretch>
                    </p:blipFill>
                    <p:spPr bwMode="auto">
                      <a:xfrm>
                        <a:off x="2374907" y="3793911"/>
                        <a:ext cx="312738" cy="371475"/>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BB56ACF1-0514-4001-28AF-D784A57B120B}"/>
              </a:ext>
            </a:extLst>
          </p:cNvPr>
          <p:cNvSpPr>
            <a:spLocks noGrp="1"/>
          </p:cNvSpPr>
          <p:nvPr>
            <p:ph sz="quarter" idx="13"/>
          </p:nvPr>
        </p:nvSpPr>
        <p:spPr>
          <a:xfrm>
            <a:off x="2802012" y="3792683"/>
            <a:ext cx="1436727" cy="344128"/>
          </a:xfrm>
        </p:spPr>
        <p:txBody>
          <a:bodyPr wrap="square" lIns="0" tIns="18000" rIns="0" bIns="18000" anchor="ctr" anchorCtr="0">
            <a:spAutoFit/>
          </a:bodyPr>
          <a:lstStyle/>
          <a:p>
            <a:pPr marL="0" indent="0">
              <a:buNone/>
            </a:pPr>
            <a:r>
              <a:rPr lang="en-US" sz="2000" noProof="0" dirty="0"/>
              <a:t>are in series</a:t>
            </a:r>
          </a:p>
        </p:txBody>
      </p:sp>
      <p:sp>
        <p:nvSpPr>
          <p:cNvPr id="7" name="Content Placeholder 6">
            <a:extLst>
              <a:ext uri="{FF2B5EF4-FFF2-40B4-BE49-F238E27FC236}">
                <a16:creationId xmlns:a16="http://schemas.microsoft.com/office/drawing/2014/main" id="{B3BD9A6F-9865-C86A-A039-8C01972D33C3}"/>
              </a:ext>
            </a:extLst>
          </p:cNvPr>
          <p:cNvSpPr>
            <a:spLocks noGrp="1"/>
          </p:cNvSpPr>
          <p:nvPr>
            <p:ph sz="quarter" idx="14"/>
          </p:nvPr>
        </p:nvSpPr>
        <p:spPr>
          <a:xfrm>
            <a:off x="1010543" y="4305592"/>
            <a:ext cx="282472" cy="344128"/>
          </a:xfrm>
        </p:spPr>
        <p:txBody>
          <a:bodyPr wrap="square" lIns="0" tIns="18000" rIns="0" bIns="18000" anchor="ctr" anchorCtr="0">
            <a:spAutoFit/>
          </a:bodyPr>
          <a:lstStyle/>
          <a:p>
            <a:pPr marL="0" indent="0">
              <a:buNone/>
            </a:pPr>
            <a:r>
              <a:rPr lang="en-US" sz="2000" noProof="0" dirty="0">
                <a:solidFill>
                  <a:srgbClr val="007FA3"/>
                </a:solidFill>
              </a:rPr>
              <a:t>B.</a:t>
            </a:r>
          </a:p>
        </p:txBody>
      </p:sp>
      <p:graphicFrame>
        <p:nvGraphicFramePr>
          <p:cNvPr id="31" name="Object 30" descr="R subscript m.">
            <a:extLst>
              <a:ext uri="{FF2B5EF4-FFF2-40B4-BE49-F238E27FC236}">
                <a16:creationId xmlns:a16="http://schemas.microsoft.com/office/drawing/2014/main" id="{AAD05BBE-418B-18C8-E026-0BE67692FAB2}"/>
              </a:ext>
            </a:extLst>
          </p:cNvPr>
          <p:cNvGraphicFramePr>
            <a:graphicFrameLocks noChangeAspect="1"/>
          </p:cNvGraphicFramePr>
          <p:nvPr>
            <p:extLst>
              <p:ext uri="{D42A27DB-BD31-4B8C-83A1-F6EECF244321}">
                <p14:modId xmlns:p14="http://schemas.microsoft.com/office/powerpoint/2010/main" val="30700778"/>
              </p:ext>
            </p:extLst>
          </p:nvPr>
        </p:nvGraphicFramePr>
        <p:xfrm>
          <a:off x="1397398" y="4310063"/>
          <a:ext cx="354012" cy="369888"/>
        </p:xfrm>
        <a:graphic>
          <a:graphicData uri="http://schemas.openxmlformats.org/presentationml/2006/ole">
            <mc:AlternateContent xmlns:mc="http://schemas.openxmlformats.org/markup-compatibility/2006">
              <mc:Choice xmlns:v="urn:schemas-microsoft-com:vml" Requires="v">
                <p:oleObj name="Equation" r:id="rId7" imgW="228600" imgH="228600" progId="Equation.DSMT4">
                  <p:embed/>
                </p:oleObj>
              </mc:Choice>
              <mc:Fallback>
                <p:oleObj name="Equation" r:id="rId7" imgW="228600" imgH="228600" progId="Equation.DSMT4">
                  <p:embed/>
                  <p:pic>
                    <p:nvPicPr>
                      <p:cNvPr id="40" name="Object 39" descr="S subscript 0 colon">
                        <a:extLst>
                          <a:ext uri="{FF2B5EF4-FFF2-40B4-BE49-F238E27FC236}">
                            <a16:creationId xmlns:a16="http://schemas.microsoft.com/office/drawing/2014/main" id="{462C3EEF-5E18-76FD-6745-D42455316F08}"/>
                          </a:ext>
                        </a:extLst>
                      </p:cNvPr>
                      <p:cNvPicPr>
                        <a:picLocks noChangeAspect="1" noChangeArrowheads="1"/>
                      </p:cNvPicPr>
                      <p:nvPr/>
                    </p:nvPicPr>
                    <p:blipFill>
                      <a:blip r:embed="rId8"/>
                      <a:srcRect/>
                      <a:stretch>
                        <a:fillRect/>
                      </a:stretch>
                    </p:blipFill>
                    <p:spPr bwMode="auto">
                      <a:xfrm>
                        <a:off x="1397398" y="4310063"/>
                        <a:ext cx="354012" cy="369888"/>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6AE2BAC5-005C-9852-3F9C-4C4B1D3CF904}"/>
              </a:ext>
            </a:extLst>
          </p:cNvPr>
          <p:cNvSpPr>
            <a:spLocks noGrp="1"/>
          </p:cNvSpPr>
          <p:nvPr>
            <p:ph sz="quarter" idx="15"/>
          </p:nvPr>
        </p:nvSpPr>
        <p:spPr>
          <a:xfrm>
            <a:off x="1878879" y="4296033"/>
            <a:ext cx="1919240" cy="344128"/>
          </a:xfrm>
        </p:spPr>
        <p:txBody>
          <a:bodyPr wrap="square" lIns="0" tIns="18000" rIns="0" bIns="18000" anchor="ctr" anchorCtr="0">
            <a:spAutoFit/>
          </a:bodyPr>
          <a:lstStyle/>
          <a:p>
            <a:pPr marL="0" indent="0">
              <a:buNone/>
            </a:pPr>
            <a:r>
              <a:rPr lang="en-US" sz="2000" noProof="0" dirty="0"/>
              <a:t>is in parallel with</a:t>
            </a:r>
          </a:p>
        </p:txBody>
      </p:sp>
      <p:graphicFrame>
        <p:nvGraphicFramePr>
          <p:cNvPr id="32" name="Object 31" descr="R subscript 1.">
            <a:extLst>
              <a:ext uri="{FF2B5EF4-FFF2-40B4-BE49-F238E27FC236}">
                <a16:creationId xmlns:a16="http://schemas.microsoft.com/office/drawing/2014/main" id="{1B868AB5-485B-9ACA-1E90-29A9BAD35DF0}"/>
              </a:ext>
            </a:extLst>
          </p:cNvPr>
          <p:cNvGraphicFramePr>
            <a:graphicFrameLocks noChangeAspect="1"/>
          </p:cNvGraphicFramePr>
          <p:nvPr>
            <p:extLst>
              <p:ext uri="{D42A27DB-BD31-4B8C-83A1-F6EECF244321}">
                <p14:modId xmlns:p14="http://schemas.microsoft.com/office/powerpoint/2010/main" val="3457487201"/>
              </p:ext>
            </p:extLst>
          </p:nvPr>
        </p:nvGraphicFramePr>
        <p:xfrm>
          <a:off x="3834173" y="4323171"/>
          <a:ext cx="295275" cy="369888"/>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41" name="Object 40" descr="S subscript 0 colon">
                        <a:extLst>
                          <a:ext uri="{FF2B5EF4-FFF2-40B4-BE49-F238E27FC236}">
                            <a16:creationId xmlns:a16="http://schemas.microsoft.com/office/drawing/2014/main" id="{64796773-4EEA-D552-263D-FEF35244C158}"/>
                          </a:ext>
                        </a:extLst>
                      </p:cNvPr>
                      <p:cNvPicPr>
                        <a:picLocks noChangeAspect="1" noChangeArrowheads="1"/>
                      </p:cNvPicPr>
                      <p:nvPr/>
                    </p:nvPicPr>
                    <p:blipFill>
                      <a:blip r:embed="rId4"/>
                      <a:srcRect/>
                      <a:stretch>
                        <a:fillRect/>
                      </a:stretch>
                    </p:blipFill>
                    <p:spPr bwMode="auto">
                      <a:xfrm>
                        <a:off x="3834173" y="4323171"/>
                        <a:ext cx="295275" cy="369888"/>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768647B7-670F-3EED-044A-70E4E5543C26}"/>
              </a:ext>
            </a:extLst>
          </p:cNvPr>
          <p:cNvSpPr>
            <a:spLocks noGrp="1"/>
          </p:cNvSpPr>
          <p:nvPr>
            <p:ph sz="quarter" idx="16"/>
          </p:nvPr>
        </p:nvSpPr>
        <p:spPr>
          <a:xfrm>
            <a:off x="4238739" y="4296033"/>
            <a:ext cx="460375" cy="344128"/>
          </a:xfrm>
        </p:spPr>
        <p:txBody>
          <a:bodyPr wrap="square" lIns="0" tIns="18000" rIns="0" bIns="18000" anchor="ctr" anchorCtr="0">
            <a:spAutoFit/>
          </a:bodyPr>
          <a:lstStyle/>
          <a:p>
            <a:pPr marL="0" indent="0">
              <a:buNone/>
              <a:tabLst>
                <a:tab pos="0" algn="l"/>
              </a:tabLst>
            </a:pPr>
            <a:r>
              <a:rPr lang="en-US" sz="2000" noProof="0" dirty="0"/>
              <a:t>and</a:t>
            </a:r>
          </a:p>
        </p:txBody>
      </p:sp>
      <p:graphicFrame>
        <p:nvGraphicFramePr>
          <p:cNvPr id="33" name="Object 32" descr="R subscript 2.">
            <a:extLst>
              <a:ext uri="{FF2B5EF4-FFF2-40B4-BE49-F238E27FC236}">
                <a16:creationId xmlns:a16="http://schemas.microsoft.com/office/drawing/2014/main" id="{67B02603-5743-4284-8DA2-D8021EFF8EE7}"/>
              </a:ext>
            </a:extLst>
          </p:cNvPr>
          <p:cNvGraphicFramePr>
            <a:graphicFrameLocks noChangeAspect="1"/>
          </p:cNvGraphicFramePr>
          <p:nvPr>
            <p:extLst>
              <p:ext uri="{D42A27DB-BD31-4B8C-83A1-F6EECF244321}">
                <p14:modId xmlns:p14="http://schemas.microsoft.com/office/powerpoint/2010/main" val="3771733821"/>
              </p:ext>
            </p:extLst>
          </p:nvPr>
        </p:nvGraphicFramePr>
        <p:xfrm>
          <a:off x="4751550" y="4323171"/>
          <a:ext cx="315913" cy="369887"/>
        </p:xfrm>
        <a:graphic>
          <a:graphicData uri="http://schemas.openxmlformats.org/presentationml/2006/ole">
            <mc:AlternateContent xmlns:mc="http://schemas.openxmlformats.org/markup-compatibility/2006">
              <mc:Choice xmlns:v="urn:schemas-microsoft-com:vml" Requires="v">
                <p:oleObj name="Equation" r:id="rId9" imgW="203040" imgH="228600" progId="Equation.DSMT4">
                  <p:embed/>
                </p:oleObj>
              </mc:Choice>
              <mc:Fallback>
                <p:oleObj name="Equation" r:id="rId9" imgW="203040" imgH="228600" progId="Equation.DSMT4">
                  <p:embed/>
                  <p:pic>
                    <p:nvPicPr>
                      <p:cNvPr id="42" name="Object 41" descr="S subscript 0 colon">
                        <a:extLst>
                          <a:ext uri="{FF2B5EF4-FFF2-40B4-BE49-F238E27FC236}">
                            <a16:creationId xmlns:a16="http://schemas.microsoft.com/office/drawing/2014/main" id="{73C69FB7-591C-07BC-560A-30C884ED0A30}"/>
                          </a:ext>
                        </a:extLst>
                      </p:cNvPr>
                      <p:cNvPicPr>
                        <a:picLocks noChangeAspect="1" noChangeArrowheads="1"/>
                      </p:cNvPicPr>
                      <p:nvPr/>
                    </p:nvPicPr>
                    <p:blipFill>
                      <a:blip r:embed="rId10"/>
                      <a:srcRect/>
                      <a:stretch>
                        <a:fillRect/>
                      </a:stretch>
                    </p:blipFill>
                    <p:spPr bwMode="auto">
                      <a:xfrm>
                        <a:off x="4751550" y="4323171"/>
                        <a:ext cx="315913" cy="369887"/>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BBDBAE74-55AE-57F2-7F96-3CAF73C4DE68}"/>
              </a:ext>
            </a:extLst>
          </p:cNvPr>
          <p:cNvSpPr>
            <a:spLocks noGrp="1"/>
          </p:cNvSpPr>
          <p:nvPr>
            <p:ph sz="quarter" idx="17"/>
          </p:nvPr>
        </p:nvSpPr>
        <p:spPr>
          <a:xfrm>
            <a:off x="1010543" y="4771724"/>
            <a:ext cx="7427859" cy="344128"/>
          </a:xfrm>
        </p:spPr>
        <p:txBody>
          <a:bodyPr wrap="square" lIns="0" tIns="18000" rIns="0" bIns="18000" anchor="ctr" anchorCtr="0">
            <a:spAutoFit/>
          </a:bodyPr>
          <a:lstStyle/>
          <a:p>
            <a:pPr marL="0" indent="0">
              <a:buNone/>
            </a:pPr>
            <a:r>
              <a:rPr lang="en-US" sz="2000" noProof="0" dirty="0">
                <a:solidFill>
                  <a:srgbClr val="007FA3"/>
                </a:solidFill>
              </a:rPr>
              <a:t>C. </a:t>
            </a:r>
            <a:r>
              <a:rPr lang="en-US" sz="2000" noProof="0" dirty="0"/>
              <a:t>There are no parallel-connected or series-connected resistors</a:t>
            </a:r>
            <a:endParaRPr lang="en-US" sz="2000" noProof="0" dirty="0">
              <a:solidFill>
                <a:srgbClr val="007FA3"/>
              </a:solidFill>
            </a:endParaRPr>
          </a:p>
        </p:txBody>
      </p:sp>
    </p:spTree>
    <p:extLst>
      <p:ext uri="{BB962C8B-B14F-4D97-AF65-F5344CB8AC3E}">
        <p14:creationId xmlns:p14="http://schemas.microsoft.com/office/powerpoint/2010/main" val="1464978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EEF8-8182-94A0-23CF-4B01F093C0A5}"/>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58EB53E3-D262-272F-C51A-7CCE2218591B}"/>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(17 of 22)</a:t>
            </a:r>
          </a:p>
        </p:txBody>
      </p:sp>
      <p:sp>
        <p:nvSpPr>
          <p:cNvPr id="3" name="Content Placeholder 2">
            <a:extLst>
              <a:ext uri="{FF2B5EF4-FFF2-40B4-BE49-F238E27FC236}">
                <a16:creationId xmlns:a16="http://schemas.microsoft.com/office/drawing/2014/main" id="{21B32019-34D1-6569-F86A-FBA5AF58A199}"/>
              </a:ext>
            </a:extLst>
          </p:cNvPr>
          <p:cNvSpPr>
            <a:spLocks noGrp="1"/>
          </p:cNvSpPr>
          <p:nvPr>
            <p:ph sz="quarter" idx="10"/>
          </p:nvPr>
        </p:nvSpPr>
        <p:spPr>
          <a:xfrm>
            <a:off x="408974" y="1384667"/>
            <a:ext cx="8271475" cy="344128"/>
          </a:xfrm>
        </p:spPr>
        <p:txBody>
          <a:bodyPr wrap="square" lIns="0" tIns="18000" rIns="0" bIns="18000" anchor="ctr" anchorCtr="0">
            <a:spAutoFit/>
          </a:bodyPr>
          <a:lstStyle/>
          <a:p>
            <a:pPr marL="0" indent="0">
              <a:buNone/>
            </a:pPr>
            <a:r>
              <a:rPr lang="en-US" altLang="en-US" sz="2000" noProof="0" dirty="0"/>
              <a:t>Which statement is true about the resistors in this bridge circuit?</a:t>
            </a:r>
            <a:endParaRPr lang="en-US" sz="2000" noProof="0" dirty="0"/>
          </a:p>
        </p:txBody>
      </p:sp>
      <p:pic>
        <p:nvPicPr>
          <p:cNvPr id="26" name="Picture 25" descr="A circuit diagram with a Wheatstone bridge that has four resistors R sub 1, R sub 2, R sub 3, and R sub x connected across a source in the clockwise direction. R sub m is connected in series to all the resistors.">
            <a:extLst>
              <a:ext uri="{FF2B5EF4-FFF2-40B4-BE49-F238E27FC236}">
                <a16:creationId xmlns:a16="http://schemas.microsoft.com/office/drawing/2014/main" id="{1BE248FA-BD58-9278-A1C3-4C5BFEA93006}"/>
              </a:ext>
            </a:extLst>
          </p:cNvPr>
          <p:cNvPicPr>
            <a:picLocks noChangeAspect="1"/>
          </p:cNvPicPr>
          <p:nvPr/>
        </p:nvPicPr>
        <p:blipFill>
          <a:blip r:embed="rId2"/>
          <a:srcRect/>
          <a:stretch/>
        </p:blipFill>
        <p:spPr>
          <a:xfrm>
            <a:off x="2925130" y="1838196"/>
            <a:ext cx="3293739" cy="1848108"/>
          </a:xfrm>
          <a:prstGeom prst="rect">
            <a:avLst/>
          </a:prstGeom>
        </p:spPr>
      </p:pic>
      <p:pic>
        <p:nvPicPr>
          <p:cNvPr id="27" name="Picture 4" descr="Cross mark">
            <a:extLst>
              <a:ext uri="{FF2B5EF4-FFF2-40B4-BE49-F238E27FC236}">
                <a16:creationId xmlns:a16="http://schemas.microsoft.com/office/drawing/2014/main" id="{600FC6DD-2288-E35C-BF63-AF11F14295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337" y="381882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23536E6F-4B54-BE66-34CE-E2502E66CB49}"/>
              </a:ext>
            </a:extLst>
          </p:cNvPr>
          <p:cNvSpPr>
            <a:spLocks noGrp="1"/>
          </p:cNvSpPr>
          <p:nvPr>
            <p:ph sz="quarter" idx="11"/>
          </p:nvPr>
        </p:nvSpPr>
        <p:spPr>
          <a:xfrm>
            <a:off x="1035474" y="3776502"/>
            <a:ext cx="282472" cy="344128"/>
          </a:xfrm>
        </p:spPr>
        <p:txBody>
          <a:bodyPr wrap="square" lIns="0" tIns="18000" rIns="0" bIns="18000" anchor="ctr" anchorCtr="0">
            <a:spAutoFit/>
          </a:bodyPr>
          <a:lstStyle/>
          <a:p>
            <a:pPr marL="0" indent="0">
              <a:buNone/>
            </a:pPr>
            <a:r>
              <a:rPr lang="en-US" sz="2000" noProof="0" dirty="0">
                <a:solidFill>
                  <a:srgbClr val="007FA3"/>
                </a:solidFill>
              </a:rPr>
              <a:t>A.</a:t>
            </a:r>
          </a:p>
        </p:txBody>
      </p:sp>
      <p:graphicFrame>
        <p:nvGraphicFramePr>
          <p:cNvPr id="28" name="Object 27" descr="R subscript 1.">
            <a:extLst>
              <a:ext uri="{FF2B5EF4-FFF2-40B4-BE49-F238E27FC236}">
                <a16:creationId xmlns:a16="http://schemas.microsoft.com/office/drawing/2014/main" id="{86A2616F-EAC1-2FCC-2C5F-EB0336CD92AA}"/>
              </a:ext>
            </a:extLst>
          </p:cNvPr>
          <p:cNvGraphicFramePr>
            <a:graphicFrameLocks noChangeAspect="1"/>
          </p:cNvGraphicFramePr>
          <p:nvPr/>
        </p:nvGraphicFramePr>
        <p:xfrm>
          <a:off x="1407366" y="3787775"/>
          <a:ext cx="295275" cy="369888"/>
        </p:xfrm>
        <a:graphic>
          <a:graphicData uri="http://schemas.openxmlformats.org/presentationml/2006/ole">
            <mc:AlternateContent xmlns:mc="http://schemas.openxmlformats.org/markup-compatibility/2006">
              <mc:Choice xmlns:v="urn:schemas-microsoft-com:vml" Requires="v">
                <p:oleObj name="Equation" r:id="rId4" imgW="190440" imgH="228600" progId="Equation.DSMT4">
                  <p:embed/>
                </p:oleObj>
              </mc:Choice>
              <mc:Fallback>
                <p:oleObj name="Equation" r:id="rId4" imgW="190440" imgH="228600" progId="Equation.DSMT4">
                  <p:embed/>
                  <p:pic>
                    <p:nvPicPr>
                      <p:cNvPr id="28" name="Object 27" descr="R subscript 1.">
                        <a:extLst>
                          <a:ext uri="{FF2B5EF4-FFF2-40B4-BE49-F238E27FC236}">
                            <a16:creationId xmlns:a16="http://schemas.microsoft.com/office/drawing/2014/main" id="{D15B4E6C-395D-471A-ADD2-0FCDC1D303D5}"/>
                          </a:ext>
                        </a:extLst>
                      </p:cNvPr>
                      <p:cNvPicPr>
                        <a:picLocks noChangeAspect="1" noChangeArrowheads="1"/>
                      </p:cNvPicPr>
                      <p:nvPr/>
                    </p:nvPicPr>
                    <p:blipFill>
                      <a:blip r:embed="rId5"/>
                      <a:srcRect/>
                      <a:stretch>
                        <a:fillRect/>
                      </a:stretch>
                    </p:blipFill>
                    <p:spPr bwMode="auto">
                      <a:xfrm>
                        <a:off x="1407366" y="3787775"/>
                        <a:ext cx="295275" cy="369888"/>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EFE2FA00-8E19-9900-BBE9-1D1E55242CE0}"/>
              </a:ext>
            </a:extLst>
          </p:cNvPr>
          <p:cNvSpPr>
            <a:spLocks noGrp="1"/>
          </p:cNvSpPr>
          <p:nvPr>
            <p:ph sz="quarter" idx="12"/>
          </p:nvPr>
        </p:nvSpPr>
        <p:spPr>
          <a:xfrm>
            <a:off x="1820636" y="3804010"/>
            <a:ext cx="488950" cy="344128"/>
          </a:xfrm>
        </p:spPr>
        <p:txBody>
          <a:bodyPr wrap="square" lIns="0" tIns="18000" rIns="0" bIns="18000" anchor="ctr" anchorCtr="0">
            <a:spAutoFit/>
          </a:bodyPr>
          <a:lstStyle/>
          <a:p>
            <a:pPr marL="0" indent="0">
              <a:buNone/>
            </a:pPr>
            <a:r>
              <a:rPr lang="en-US" sz="2000" noProof="0" dirty="0"/>
              <a:t>and</a:t>
            </a:r>
          </a:p>
        </p:txBody>
      </p:sp>
      <p:graphicFrame>
        <p:nvGraphicFramePr>
          <p:cNvPr id="29" name="Object 28" descr="R subscript 3.">
            <a:extLst>
              <a:ext uri="{FF2B5EF4-FFF2-40B4-BE49-F238E27FC236}">
                <a16:creationId xmlns:a16="http://schemas.microsoft.com/office/drawing/2014/main" id="{8FC6E545-23A0-1CED-CFAF-C72A844ECD62}"/>
              </a:ext>
            </a:extLst>
          </p:cNvPr>
          <p:cNvGraphicFramePr>
            <a:graphicFrameLocks noChangeAspect="1"/>
          </p:cNvGraphicFramePr>
          <p:nvPr/>
        </p:nvGraphicFramePr>
        <p:xfrm>
          <a:off x="2374907" y="3793911"/>
          <a:ext cx="312738" cy="371475"/>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29" name="Object 28" descr="R subscript 3.">
                        <a:extLst>
                          <a:ext uri="{FF2B5EF4-FFF2-40B4-BE49-F238E27FC236}">
                            <a16:creationId xmlns:a16="http://schemas.microsoft.com/office/drawing/2014/main" id="{54D111EB-A60D-4E96-E524-E40F073252B5}"/>
                          </a:ext>
                        </a:extLst>
                      </p:cNvPr>
                      <p:cNvPicPr>
                        <a:picLocks noChangeAspect="1" noChangeArrowheads="1"/>
                      </p:cNvPicPr>
                      <p:nvPr/>
                    </p:nvPicPr>
                    <p:blipFill>
                      <a:blip r:embed="rId7"/>
                      <a:srcRect/>
                      <a:stretch>
                        <a:fillRect/>
                      </a:stretch>
                    </p:blipFill>
                    <p:spPr bwMode="auto">
                      <a:xfrm>
                        <a:off x="2374907" y="3793911"/>
                        <a:ext cx="312738" cy="371475"/>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A759BEE0-E72C-20F2-A948-25CC4DEFD8A7}"/>
              </a:ext>
            </a:extLst>
          </p:cNvPr>
          <p:cNvSpPr>
            <a:spLocks noGrp="1"/>
          </p:cNvSpPr>
          <p:nvPr>
            <p:ph sz="quarter" idx="13"/>
          </p:nvPr>
        </p:nvSpPr>
        <p:spPr>
          <a:xfrm>
            <a:off x="2802012" y="3792683"/>
            <a:ext cx="1436727" cy="344128"/>
          </a:xfrm>
        </p:spPr>
        <p:txBody>
          <a:bodyPr wrap="square" lIns="0" tIns="18000" rIns="0" bIns="18000" anchor="ctr" anchorCtr="0">
            <a:spAutoFit/>
          </a:bodyPr>
          <a:lstStyle/>
          <a:p>
            <a:pPr marL="0" indent="0">
              <a:buNone/>
            </a:pPr>
            <a:r>
              <a:rPr lang="en-US" sz="2000" noProof="0" dirty="0"/>
              <a:t>are in series</a:t>
            </a:r>
          </a:p>
        </p:txBody>
      </p:sp>
      <p:pic>
        <p:nvPicPr>
          <p:cNvPr id="30" name="Picture 4" descr="Cross mark">
            <a:extLst>
              <a:ext uri="{FF2B5EF4-FFF2-40B4-BE49-F238E27FC236}">
                <a16:creationId xmlns:a16="http://schemas.microsoft.com/office/drawing/2014/main" id="{F72ED467-3F55-B502-9BDA-AD1B0B0054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337" y="434232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327EE88A-4BCF-AD28-DD91-33262B460695}"/>
              </a:ext>
            </a:extLst>
          </p:cNvPr>
          <p:cNvSpPr>
            <a:spLocks noGrp="1"/>
          </p:cNvSpPr>
          <p:nvPr>
            <p:ph sz="quarter" idx="14"/>
          </p:nvPr>
        </p:nvSpPr>
        <p:spPr>
          <a:xfrm>
            <a:off x="1010543" y="4305592"/>
            <a:ext cx="282472" cy="344128"/>
          </a:xfrm>
        </p:spPr>
        <p:txBody>
          <a:bodyPr wrap="square" lIns="0" tIns="18000" rIns="0" bIns="18000" anchor="ctr" anchorCtr="0">
            <a:spAutoFit/>
          </a:bodyPr>
          <a:lstStyle/>
          <a:p>
            <a:pPr marL="0" indent="0">
              <a:buNone/>
            </a:pPr>
            <a:r>
              <a:rPr lang="en-US" sz="2000" noProof="0" dirty="0">
                <a:solidFill>
                  <a:srgbClr val="007FA3"/>
                </a:solidFill>
              </a:rPr>
              <a:t>B.</a:t>
            </a:r>
          </a:p>
        </p:txBody>
      </p:sp>
      <p:graphicFrame>
        <p:nvGraphicFramePr>
          <p:cNvPr id="31" name="Object 30" descr="R subscript m.">
            <a:extLst>
              <a:ext uri="{FF2B5EF4-FFF2-40B4-BE49-F238E27FC236}">
                <a16:creationId xmlns:a16="http://schemas.microsoft.com/office/drawing/2014/main" id="{99F2BA52-88F3-9697-7835-D515C0A596D3}"/>
              </a:ext>
            </a:extLst>
          </p:cNvPr>
          <p:cNvGraphicFramePr>
            <a:graphicFrameLocks noChangeAspect="1"/>
          </p:cNvGraphicFramePr>
          <p:nvPr/>
        </p:nvGraphicFramePr>
        <p:xfrm>
          <a:off x="1397398" y="4310063"/>
          <a:ext cx="354012" cy="369888"/>
        </p:xfrm>
        <a:graphic>
          <a:graphicData uri="http://schemas.openxmlformats.org/presentationml/2006/ole">
            <mc:AlternateContent xmlns:mc="http://schemas.openxmlformats.org/markup-compatibility/2006">
              <mc:Choice xmlns:v="urn:schemas-microsoft-com:vml" Requires="v">
                <p:oleObj name="Equation" r:id="rId8" imgW="228600" imgH="228600" progId="Equation.DSMT4">
                  <p:embed/>
                </p:oleObj>
              </mc:Choice>
              <mc:Fallback>
                <p:oleObj name="Equation" r:id="rId8" imgW="228600" imgH="228600" progId="Equation.DSMT4">
                  <p:embed/>
                  <p:pic>
                    <p:nvPicPr>
                      <p:cNvPr id="31" name="Object 30" descr="R subscript m.">
                        <a:extLst>
                          <a:ext uri="{FF2B5EF4-FFF2-40B4-BE49-F238E27FC236}">
                            <a16:creationId xmlns:a16="http://schemas.microsoft.com/office/drawing/2014/main" id="{AAD05BBE-418B-18C8-E026-0BE67692FAB2}"/>
                          </a:ext>
                        </a:extLst>
                      </p:cNvPr>
                      <p:cNvPicPr>
                        <a:picLocks noChangeAspect="1" noChangeArrowheads="1"/>
                      </p:cNvPicPr>
                      <p:nvPr/>
                    </p:nvPicPr>
                    <p:blipFill>
                      <a:blip r:embed="rId9"/>
                      <a:srcRect/>
                      <a:stretch>
                        <a:fillRect/>
                      </a:stretch>
                    </p:blipFill>
                    <p:spPr bwMode="auto">
                      <a:xfrm>
                        <a:off x="1397398" y="4310063"/>
                        <a:ext cx="354012" cy="369888"/>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D5A4E77D-9022-7F88-DBE7-9C4E78A74B8C}"/>
              </a:ext>
            </a:extLst>
          </p:cNvPr>
          <p:cNvSpPr>
            <a:spLocks noGrp="1"/>
          </p:cNvSpPr>
          <p:nvPr>
            <p:ph sz="quarter" idx="15"/>
          </p:nvPr>
        </p:nvSpPr>
        <p:spPr>
          <a:xfrm>
            <a:off x="1878879" y="4296033"/>
            <a:ext cx="1919240" cy="344128"/>
          </a:xfrm>
        </p:spPr>
        <p:txBody>
          <a:bodyPr wrap="square" lIns="0" tIns="18000" rIns="0" bIns="18000" anchor="ctr" anchorCtr="0">
            <a:spAutoFit/>
          </a:bodyPr>
          <a:lstStyle/>
          <a:p>
            <a:pPr marL="0" indent="0">
              <a:buNone/>
            </a:pPr>
            <a:r>
              <a:rPr lang="en-US" sz="2000" noProof="0" dirty="0"/>
              <a:t>is in parallel with</a:t>
            </a:r>
          </a:p>
        </p:txBody>
      </p:sp>
      <p:graphicFrame>
        <p:nvGraphicFramePr>
          <p:cNvPr id="32" name="Object 31" descr="R subscript 1.">
            <a:extLst>
              <a:ext uri="{FF2B5EF4-FFF2-40B4-BE49-F238E27FC236}">
                <a16:creationId xmlns:a16="http://schemas.microsoft.com/office/drawing/2014/main" id="{DB26E388-4C76-19E9-774C-5CC1252F4A62}"/>
              </a:ext>
            </a:extLst>
          </p:cNvPr>
          <p:cNvGraphicFramePr>
            <a:graphicFrameLocks noChangeAspect="1"/>
          </p:cNvGraphicFramePr>
          <p:nvPr/>
        </p:nvGraphicFramePr>
        <p:xfrm>
          <a:off x="3834173" y="4323171"/>
          <a:ext cx="295275" cy="369888"/>
        </p:xfrm>
        <a:graphic>
          <a:graphicData uri="http://schemas.openxmlformats.org/presentationml/2006/ole">
            <mc:AlternateContent xmlns:mc="http://schemas.openxmlformats.org/markup-compatibility/2006">
              <mc:Choice xmlns:v="urn:schemas-microsoft-com:vml" Requires="v">
                <p:oleObj name="Equation" r:id="rId4" imgW="190440" imgH="228600" progId="Equation.DSMT4">
                  <p:embed/>
                </p:oleObj>
              </mc:Choice>
              <mc:Fallback>
                <p:oleObj name="Equation" r:id="rId4" imgW="190440" imgH="228600" progId="Equation.DSMT4">
                  <p:embed/>
                  <p:pic>
                    <p:nvPicPr>
                      <p:cNvPr id="32" name="Object 31" descr="R subscript 1.">
                        <a:extLst>
                          <a:ext uri="{FF2B5EF4-FFF2-40B4-BE49-F238E27FC236}">
                            <a16:creationId xmlns:a16="http://schemas.microsoft.com/office/drawing/2014/main" id="{1B868AB5-485B-9ACA-1E90-29A9BAD35DF0}"/>
                          </a:ext>
                        </a:extLst>
                      </p:cNvPr>
                      <p:cNvPicPr>
                        <a:picLocks noChangeAspect="1" noChangeArrowheads="1"/>
                      </p:cNvPicPr>
                      <p:nvPr/>
                    </p:nvPicPr>
                    <p:blipFill>
                      <a:blip r:embed="rId5"/>
                      <a:srcRect/>
                      <a:stretch>
                        <a:fillRect/>
                      </a:stretch>
                    </p:blipFill>
                    <p:spPr bwMode="auto">
                      <a:xfrm>
                        <a:off x="3834173" y="4323171"/>
                        <a:ext cx="295275" cy="369888"/>
                      </a:xfrm>
                      <a:prstGeom prst="rect">
                        <a:avLst/>
                      </a:prstGeom>
                      <a:noFill/>
                    </p:spPr>
                  </p:pic>
                </p:oleObj>
              </mc:Fallback>
            </mc:AlternateContent>
          </a:graphicData>
        </a:graphic>
      </p:graphicFrame>
      <p:sp>
        <p:nvSpPr>
          <p:cNvPr id="9" name="Content Placeholder 8">
            <a:extLst>
              <a:ext uri="{FF2B5EF4-FFF2-40B4-BE49-F238E27FC236}">
                <a16:creationId xmlns:a16="http://schemas.microsoft.com/office/drawing/2014/main" id="{C4ACA48C-14A2-6E16-4A36-2C09B7B95F83}"/>
              </a:ext>
            </a:extLst>
          </p:cNvPr>
          <p:cNvSpPr>
            <a:spLocks noGrp="1"/>
          </p:cNvSpPr>
          <p:nvPr>
            <p:ph sz="quarter" idx="16"/>
          </p:nvPr>
        </p:nvSpPr>
        <p:spPr>
          <a:xfrm>
            <a:off x="4238739" y="4296033"/>
            <a:ext cx="460375" cy="344128"/>
          </a:xfrm>
        </p:spPr>
        <p:txBody>
          <a:bodyPr wrap="square" lIns="0" tIns="18000" rIns="0" bIns="18000" anchor="ctr" anchorCtr="0">
            <a:spAutoFit/>
          </a:bodyPr>
          <a:lstStyle/>
          <a:p>
            <a:pPr marL="0" indent="0">
              <a:buNone/>
              <a:tabLst>
                <a:tab pos="0" algn="l"/>
              </a:tabLst>
            </a:pPr>
            <a:r>
              <a:rPr lang="en-US" sz="2000" noProof="0" dirty="0"/>
              <a:t>and</a:t>
            </a:r>
          </a:p>
        </p:txBody>
      </p:sp>
      <p:graphicFrame>
        <p:nvGraphicFramePr>
          <p:cNvPr id="33" name="Object 32" descr="R subscript 2.">
            <a:extLst>
              <a:ext uri="{FF2B5EF4-FFF2-40B4-BE49-F238E27FC236}">
                <a16:creationId xmlns:a16="http://schemas.microsoft.com/office/drawing/2014/main" id="{EC710609-6C6F-D397-4788-DBED1C3B0FCE}"/>
              </a:ext>
            </a:extLst>
          </p:cNvPr>
          <p:cNvGraphicFramePr>
            <a:graphicFrameLocks noChangeAspect="1"/>
          </p:cNvGraphicFramePr>
          <p:nvPr/>
        </p:nvGraphicFramePr>
        <p:xfrm>
          <a:off x="4751550" y="4323171"/>
          <a:ext cx="315913" cy="369887"/>
        </p:xfrm>
        <a:graphic>
          <a:graphicData uri="http://schemas.openxmlformats.org/presentationml/2006/ole">
            <mc:AlternateContent xmlns:mc="http://schemas.openxmlformats.org/markup-compatibility/2006">
              <mc:Choice xmlns:v="urn:schemas-microsoft-com:vml" Requires="v">
                <p:oleObj name="Equation" r:id="rId10" imgW="203040" imgH="228600" progId="Equation.DSMT4">
                  <p:embed/>
                </p:oleObj>
              </mc:Choice>
              <mc:Fallback>
                <p:oleObj name="Equation" r:id="rId10" imgW="203040" imgH="228600" progId="Equation.DSMT4">
                  <p:embed/>
                  <p:pic>
                    <p:nvPicPr>
                      <p:cNvPr id="33" name="Object 32" descr="R subscript 2.">
                        <a:extLst>
                          <a:ext uri="{FF2B5EF4-FFF2-40B4-BE49-F238E27FC236}">
                            <a16:creationId xmlns:a16="http://schemas.microsoft.com/office/drawing/2014/main" id="{67B02603-5743-4284-8DA2-D8021EFF8EE7}"/>
                          </a:ext>
                        </a:extLst>
                      </p:cNvPr>
                      <p:cNvPicPr>
                        <a:picLocks noChangeAspect="1" noChangeArrowheads="1"/>
                      </p:cNvPicPr>
                      <p:nvPr/>
                    </p:nvPicPr>
                    <p:blipFill>
                      <a:blip r:embed="rId11"/>
                      <a:srcRect/>
                      <a:stretch>
                        <a:fillRect/>
                      </a:stretch>
                    </p:blipFill>
                    <p:spPr bwMode="auto">
                      <a:xfrm>
                        <a:off x="4751550" y="4323171"/>
                        <a:ext cx="315913" cy="369887"/>
                      </a:xfrm>
                      <a:prstGeom prst="rect">
                        <a:avLst/>
                      </a:prstGeom>
                      <a:noFill/>
                    </p:spPr>
                  </p:pic>
                </p:oleObj>
              </mc:Fallback>
            </mc:AlternateContent>
          </a:graphicData>
        </a:graphic>
      </p:graphicFrame>
      <p:pic>
        <p:nvPicPr>
          <p:cNvPr id="35" name="Picture 2" descr="Check mark">
            <a:extLst>
              <a:ext uri="{FF2B5EF4-FFF2-40B4-BE49-F238E27FC236}">
                <a16:creationId xmlns:a16="http://schemas.microsoft.com/office/drawing/2014/main" id="{E45CB8A2-37D1-E1CE-3E64-139E79E3896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12028" y="4860087"/>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CC5CB43B-EBF2-20AD-60E2-8293933D7E0A}"/>
              </a:ext>
            </a:extLst>
          </p:cNvPr>
          <p:cNvSpPr>
            <a:spLocks noGrp="1"/>
          </p:cNvSpPr>
          <p:nvPr>
            <p:ph sz="quarter" idx="17"/>
          </p:nvPr>
        </p:nvSpPr>
        <p:spPr>
          <a:xfrm>
            <a:off x="1010543" y="4771724"/>
            <a:ext cx="7427859" cy="344128"/>
          </a:xfrm>
        </p:spPr>
        <p:txBody>
          <a:bodyPr wrap="square" lIns="0" tIns="18000" rIns="0" bIns="18000" anchor="ctr" anchorCtr="0">
            <a:spAutoFit/>
          </a:bodyPr>
          <a:lstStyle/>
          <a:p>
            <a:pPr marL="0" indent="0">
              <a:buNone/>
            </a:pPr>
            <a:r>
              <a:rPr lang="en-US" sz="2000" noProof="0" dirty="0">
                <a:solidFill>
                  <a:srgbClr val="007FA3"/>
                </a:solidFill>
              </a:rPr>
              <a:t>C. </a:t>
            </a:r>
            <a:r>
              <a:rPr lang="en-US" sz="2000" noProof="0" dirty="0"/>
              <a:t>There are no parallel-connected or series-connected resistors</a:t>
            </a:r>
            <a:endParaRPr lang="en-US" sz="2000" noProof="0" dirty="0">
              <a:solidFill>
                <a:srgbClr val="007FA3"/>
              </a:solidFill>
            </a:endParaRPr>
          </a:p>
        </p:txBody>
      </p:sp>
    </p:spTree>
    <p:extLst>
      <p:ext uri="{BB962C8B-B14F-4D97-AF65-F5344CB8AC3E}">
        <p14:creationId xmlns:p14="http://schemas.microsoft.com/office/powerpoint/2010/main" val="3727647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61C4AEA3-FB09-C04E-B07E-58F9EDAB2923}"/>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(18 of 22)</a:t>
            </a:r>
          </a:p>
        </p:txBody>
      </p:sp>
      <p:sp>
        <p:nvSpPr>
          <p:cNvPr id="3" name="Content Placeholder 2">
            <a:extLst>
              <a:ext uri="{FF2B5EF4-FFF2-40B4-BE49-F238E27FC236}">
                <a16:creationId xmlns:a16="http://schemas.microsoft.com/office/drawing/2014/main" id="{BCFD9125-29B2-AF34-0650-994AEC05209D}"/>
              </a:ext>
            </a:extLst>
          </p:cNvPr>
          <p:cNvSpPr>
            <a:spLocks noGrp="1"/>
          </p:cNvSpPr>
          <p:nvPr>
            <p:ph sz="quarter" idx="10"/>
          </p:nvPr>
        </p:nvSpPr>
        <p:spPr>
          <a:xfrm>
            <a:off x="404813" y="1385123"/>
            <a:ext cx="8271475" cy="1729123"/>
          </a:xfrm>
        </p:spPr>
        <p:txBody>
          <a:bodyPr wrap="square" lIns="0" tIns="18000" rIns="0" bIns="18000" anchor="ctr" anchorCtr="0">
            <a:spAutoFit/>
          </a:bodyPr>
          <a:lstStyle/>
          <a:p>
            <a:pPr marL="0" indent="0">
              <a:buNone/>
            </a:pPr>
            <a:r>
              <a:rPr lang="en-US" altLang="en-US" sz="2200" noProof="0" dirty="0"/>
              <a:t>Delta-to-</a:t>
            </a:r>
            <a:r>
              <a:rPr lang="en-US" altLang="en-US" sz="2200" noProof="0" dirty="0" err="1"/>
              <a:t>Wye</a:t>
            </a:r>
            <a:r>
              <a:rPr lang="en-US" altLang="en-US" sz="2200" noProof="0" dirty="0"/>
              <a:t> (Pi-to-Tee) Equivalent Circuits</a:t>
            </a:r>
            <a:br>
              <a:rPr lang="en-US" altLang="en-US" sz="2200" noProof="0" dirty="0"/>
            </a:br>
            <a:r>
              <a:rPr lang="en-US" altLang="en-US" sz="2200" noProof="0" dirty="0"/>
              <a:t>While the bridge circuit has no series-connected or parallel-connected resistors, it does have resistors connected in a delta (or pi) configuration and resistors connected in a wye (or tee) configuration.</a:t>
            </a:r>
            <a:endParaRPr lang="en-US" sz="2200" noProof="0" dirty="0"/>
          </a:p>
        </p:txBody>
      </p:sp>
      <p:pic>
        <p:nvPicPr>
          <p:cNvPr id="26" name="Picture 25" descr="A circuit diagram with a delta connection with R sub a, R sub b, and R sub c connected in series. The delta connection is rearranged to a pi connection with R sub b and R sub a in parallel to each other and in series to R sub c.">
            <a:extLst>
              <a:ext uri="{FF2B5EF4-FFF2-40B4-BE49-F238E27FC236}">
                <a16:creationId xmlns:a16="http://schemas.microsoft.com/office/drawing/2014/main" id="{4A02AFBB-D11E-8FEB-941E-EF448512CF11}"/>
              </a:ext>
            </a:extLst>
          </p:cNvPr>
          <p:cNvPicPr>
            <a:picLocks noChangeAspect="1"/>
          </p:cNvPicPr>
          <p:nvPr/>
        </p:nvPicPr>
        <p:blipFill>
          <a:blip r:embed="rId2"/>
          <a:stretch>
            <a:fillRect/>
          </a:stretch>
        </p:blipFill>
        <p:spPr>
          <a:xfrm>
            <a:off x="613841" y="3638156"/>
            <a:ext cx="3734321" cy="1295581"/>
          </a:xfrm>
          <a:prstGeom prst="rect">
            <a:avLst/>
          </a:prstGeom>
        </p:spPr>
      </p:pic>
      <p:pic>
        <p:nvPicPr>
          <p:cNvPr id="27" name="Picture 26" descr="A circuit diagram with a Y connection with R sub 1, R sub 2, and R sub 3 connected in a Y-shape. The Y connection is rearranged to a T connection with R sub 1 and R sub 2 in series to each other and in parallel to R sub 3.">
            <a:extLst>
              <a:ext uri="{FF2B5EF4-FFF2-40B4-BE49-F238E27FC236}">
                <a16:creationId xmlns:a16="http://schemas.microsoft.com/office/drawing/2014/main" id="{94DD074A-5455-692F-387F-8F09E75F8A8C}"/>
              </a:ext>
            </a:extLst>
          </p:cNvPr>
          <p:cNvPicPr>
            <a:picLocks noChangeAspect="1"/>
          </p:cNvPicPr>
          <p:nvPr/>
        </p:nvPicPr>
        <p:blipFill>
          <a:blip r:embed="rId3"/>
          <a:stretch>
            <a:fillRect/>
          </a:stretch>
        </p:blipFill>
        <p:spPr>
          <a:xfrm>
            <a:off x="5030486" y="3591906"/>
            <a:ext cx="3362794" cy="1286054"/>
          </a:xfrm>
          <a:prstGeom prst="rect">
            <a:avLst/>
          </a:prstGeom>
        </p:spPr>
      </p:pic>
      <p:sp>
        <p:nvSpPr>
          <p:cNvPr id="4" name="Content Placeholder 3">
            <a:extLst>
              <a:ext uri="{FF2B5EF4-FFF2-40B4-BE49-F238E27FC236}">
                <a16:creationId xmlns:a16="http://schemas.microsoft.com/office/drawing/2014/main" id="{9771C328-50AF-BC57-117A-50AC98716DF3}"/>
              </a:ext>
            </a:extLst>
          </p:cNvPr>
          <p:cNvSpPr>
            <a:spLocks noGrp="1"/>
          </p:cNvSpPr>
          <p:nvPr>
            <p:ph sz="quarter" idx="11"/>
          </p:nvPr>
        </p:nvSpPr>
        <p:spPr>
          <a:xfrm>
            <a:off x="404813" y="5232491"/>
            <a:ext cx="212725" cy="374906"/>
          </a:xfrm>
        </p:spPr>
        <p:txBody>
          <a:bodyPr wrap="square" lIns="0" tIns="18000" rIns="0" bIns="18000" anchor="ctr" anchorCtr="0">
            <a:spAutoFit/>
          </a:bodyPr>
          <a:lstStyle/>
          <a:p>
            <a:pPr marL="0" indent="0">
              <a:buNone/>
            </a:pPr>
            <a:r>
              <a:rPr lang="en-US" sz="2200" noProof="0" dirty="0"/>
              <a:t>A</a:t>
            </a:r>
          </a:p>
        </p:txBody>
      </p:sp>
      <p:graphicFrame>
        <p:nvGraphicFramePr>
          <p:cNvPr id="30" name="Object 29" descr="Delta.&#10;">
            <a:extLst>
              <a:ext uri="{FF2B5EF4-FFF2-40B4-BE49-F238E27FC236}">
                <a16:creationId xmlns:a16="http://schemas.microsoft.com/office/drawing/2014/main" id="{83135B01-AC24-8B74-A2CC-389EAD75C118}"/>
              </a:ext>
            </a:extLst>
          </p:cNvPr>
          <p:cNvGraphicFramePr>
            <a:graphicFrameLocks noChangeAspect="1"/>
          </p:cNvGraphicFramePr>
          <p:nvPr>
            <p:extLst>
              <p:ext uri="{D42A27DB-BD31-4B8C-83A1-F6EECF244321}">
                <p14:modId xmlns:p14="http://schemas.microsoft.com/office/powerpoint/2010/main" val="3377265344"/>
              </p:ext>
            </p:extLst>
          </p:nvPr>
        </p:nvGraphicFramePr>
        <p:xfrm>
          <a:off x="636299" y="5238318"/>
          <a:ext cx="261239" cy="324629"/>
        </p:xfrm>
        <a:graphic>
          <a:graphicData uri="http://schemas.openxmlformats.org/presentationml/2006/ole">
            <mc:AlternateContent xmlns:mc="http://schemas.openxmlformats.org/markup-compatibility/2006">
              <mc:Choice xmlns:v="urn:schemas-microsoft-com:vml" Requires="v">
                <p:oleObj name="Equation" r:id="rId4" imgW="139680" imgH="164880" progId="Equation.DSMT4">
                  <p:embed/>
                </p:oleObj>
              </mc:Choice>
              <mc:Fallback>
                <p:oleObj name="Equation" r:id="rId4" imgW="139680" imgH="164880" progId="Equation.DSMT4">
                  <p:embed/>
                  <p:pic>
                    <p:nvPicPr>
                      <p:cNvPr id="38" name="Object 37" descr="S subscript 0 colon">
                        <a:extLst>
                          <a:ext uri="{FF2B5EF4-FFF2-40B4-BE49-F238E27FC236}">
                            <a16:creationId xmlns:a16="http://schemas.microsoft.com/office/drawing/2014/main" id="{7081EB3C-F57B-1439-CA47-D80835FB3DC9}"/>
                          </a:ext>
                        </a:extLst>
                      </p:cNvPr>
                      <p:cNvPicPr>
                        <a:picLocks noChangeAspect="1" noChangeArrowheads="1"/>
                      </p:cNvPicPr>
                      <p:nvPr/>
                    </p:nvPicPr>
                    <p:blipFill>
                      <a:blip r:embed="rId5"/>
                      <a:srcRect/>
                      <a:stretch>
                        <a:fillRect/>
                      </a:stretch>
                    </p:blipFill>
                    <p:spPr bwMode="auto">
                      <a:xfrm>
                        <a:off x="636299" y="5238318"/>
                        <a:ext cx="261239" cy="324629"/>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373339-DF5E-B66E-BDD6-A8552FF624AC}"/>
              </a:ext>
            </a:extLst>
          </p:cNvPr>
          <p:cNvSpPr>
            <a:spLocks noGrp="1"/>
          </p:cNvSpPr>
          <p:nvPr>
            <p:ph sz="quarter" idx="12"/>
          </p:nvPr>
        </p:nvSpPr>
        <p:spPr>
          <a:xfrm>
            <a:off x="977900" y="5219896"/>
            <a:ext cx="3622675" cy="374906"/>
          </a:xfrm>
        </p:spPr>
        <p:txBody>
          <a:bodyPr wrap="square" lIns="0" tIns="18000" rIns="0" bIns="18000" anchor="ctr" anchorCtr="0">
            <a:spAutoFit/>
          </a:bodyPr>
          <a:lstStyle/>
          <a:p>
            <a:pPr marL="0" indent="0">
              <a:buNone/>
            </a:pPr>
            <a:r>
              <a:rPr lang="en-US" sz="2200" noProof="0" dirty="0"/>
              <a:t>configuration rearranged to a</a:t>
            </a:r>
          </a:p>
        </p:txBody>
      </p:sp>
      <p:graphicFrame>
        <p:nvGraphicFramePr>
          <p:cNvPr id="31" name="Object 30" descr="pi.&#10;">
            <a:extLst>
              <a:ext uri="{FF2B5EF4-FFF2-40B4-BE49-F238E27FC236}">
                <a16:creationId xmlns:a16="http://schemas.microsoft.com/office/drawing/2014/main" id="{14A2548D-C08E-7235-C11F-6438BBA63906}"/>
              </a:ext>
            </a:extLst>
          </p:cNvPr>
          <p:cNvGraphicFramePr>
            <a:graphicFrameLocks noChangeAspect="1"/>
          </p:cNvGraphicFramePr>
          <p:nvPr>
            <p:extLst>
              <p:ext uri="{D42A27DB-BD31-4B8C-83A1-F6EECF244321}">
                <p14:modId xmlns:p14="http://schemas.microsoft.com/office/powerpoint/2010/main" val="528640724"/>
              </p:ext>
            </p:extLst>
          </p:nvPr>
        </p:nvGraphicFramePr>
        <p:xfrm>
          <a:off x="390525" y="5654675"/>
          <a:ext cx="258763" cy="274638"/>
        </p:xfrm>
        <a:graphic>
          <a:graphicData uri="http://schemas.openxmlformats.org/presentationml/2006/ole">
            <mc:AlternateContent xmlns:mc="http://schemas.openxmlformats.org/markup-compatibility/2006">
              <mc:Choice xmlns:v="urn:schemas-microsoft-com:vml" Requires="v">
                <p:oleObj name="Equation" r:id="rId6" imgW="139680" imgH="139680" progId="Equation.DSMT4">
                  <p:embed/>
                </p:oleObj>
              </mc:Choice>
              <mc:Fallback>
                <p:oleObj name="Equation" r:id="rId6" imgW="139680" imgH="139680" progId="Equation.DSMT4">
                  <p:embed/>
                  <p:pic>
                    <p:nvPicPr>
                      <p:cNvPr id="39" name="Object 38" descr="S subscript 0 colon">
                        <a:extLst>
                          <a:ext uri="{FF2B5EF4-FFF2-40B4-BE49-F238E27FC236}">
                            <a16:creationId xmlns:a16="http://schemas.microsoft.com/office/drawing/2014/main" id="{A3354501-3AF8-3177-A6B6-9A19FD3DC23B}"/>
                          </a:ext>
                        </a:extLst>
                      </p:cNvPr>
                      <p:cNvPicPr>
                        <a:picLocks noChangeAspect="1" noChangeArrowheads="1"/>
                      </p:cNvPicPr>
                      <p:nvPr/>
                    </p:nvPicPr>
                    <p:blipFill>
                      <a:blip r:embed="rId7"/>
                      <a:srcRect/>
                      <a:stretch>
                        <a:fillRect/>
                      </a:stretch>
                    </p:blipFill>
                    <p:spPr bwMode="auto">
                      <a:xfrm>
                        <a:off x="390525" y="5654675"/>
                        <a:ext cx="258763" cy="274638"/>
                      </a:xfrm>
                      <a:prstGeom prst="rect">
                        <a:avLst/>
                      </a:prstGeom>
                      <a:noFill/>
                    </p:spPr>
                  </p:pic>
                </p:oleObj>
              </mc:Fallback>
            </mc:AlternateContent>
          </a:graphicData>
        </a:graphic>
      </p:graphicFrame>
      <p:sp>
        <p:nvSpPr>
          <p:cNvPr id="6" name="Content Placeholder 5">
            <a:extLst>
              <a:ext uri="{FF2B5EF4-FFF2-40B4-BE49-F238E27FC236}">
                <a16:creationId xmlns:a16="http://schemas.microsoft.com/office/drawing/2014/main" id="{E22385CF-E907-54ED-B784-1C4DE39AE8DF}"/>
              </a:ext>
            </a:extLst>
          </p:cNvPr>
          <p:cNvSpPr>
            <a:spLocks noGrp="1"/>
          </p:cNvSpPr>
          <p:nvPr>
            <p:ph sz="quarter" idx="13"/>
          </p:nvPr>
        </p:nvSpPr>
        <p:spPr>
          <a:xfrm>
            <a:off x="4762500" y="5258634"/>
            <a:ext cx="3908423" cy="713460"/>
          </a:xfrm>
        </p:spPr>
        <p:txBody>
          <a:bodyPr wrap="square" lIns="0" tIns="18000" rIns="0" bIns="18000" anchor="ctr" anchorCtr="0">
            <a:spAutoFit/>
          </a:bodyPr>
          <a:lstStyle/>
          <a:p>
            <a:pPr marL="0" indent="0">
              <a:buNone/>
            </a:pPr>
            <a:r>
              <a:rPr lang="en-US" sz="2200" noProof="0" dirty="0"/>
              <a:t>A Y configuration rearranged to a T</a:t>
            </a:r>
          </a:p>
        </p:txBody>
      </p:sp>
    </p:spTree>
    <p:extLst>
      <p:ext uri="{BB962C8B-B14F-4D97-AF65-F5344CB8AC3E}">
        <p14:creationId xmlns:p14="http://schemas.microsoft.com/office/powerpoint/2010/main" val="888797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A5F63-E3EA-85A2-7506-90AC51B0F256}"/>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FA25EE1E-F665-86E9-7F64-3B01A12C239D}"/>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(19 of 22)</a:t>
            </a:r>
          </a:p>
        </p:txBody>
      </p:sp>
      <p:sp>
        <p:nvSpPr>
          <p:cNvPr id="3" name="Content Placeholder 2">
            <a:extLst>
              <a:ext uri="{FF2B5EF4-FFF2-40B4-BE49-F238E27FC236}">
                <a16:creationId xmlns:a16="http://schemas.microsoft.com/office/drawing/2014/main" id="{B0F53AAC-EDA9-8E25-BDA9-F0431FE4E4DA}"/>
              </a:ext>
            </a:extLst>
          </p:cNvPr>
          <p:cNvSpPr>
            <a:spLocks noGrp="1"/>
          </p:cNvSpPr>
          <p:nvPr>
            <p:ph sz="quarter" idx="10"/>
          </p:nvPr>
        </p:nvSpPr>
        <p:spPr>
          <a:xfrm>
            <a:off x="408974" y="1381585"/>
            <a:ext cx="8271476" cy="374906"/>
          </a:xfrm>
        </p:spPr>
        <p:txBody>
          <a:bodyPr wrap="square" lIns="0" tIns="18000" rIns="0" bIns="18000" anchor="ctr" anchorCtr="0">
            <a:spAutoFit/>
          </a:bodyPr>
          <a:lstStyle/>
          <a:p>
            <a:pPr marL="0" indent="0">
              <a:buNone/>
            </a:pPr>
            <a:r>
              <a:rPr lang="en-US" altLang="en-US" sz="2200" noProof="0" dirty="0"/>
              <a:t>Which statement is false about the resistors in this bridge circuit?</a:t>
            </a:r>
          </a:p>
        </p:txBody>
      </p:sp>
      <p:pic>
        <p:nvPicPr>
          <p:cNvPr id="28" name="Picture 27" descr="A circuit diagram with a Wheatstone bridge that has four resistors R sub 1, R sub 2, R sub 3, and R sub x connected across a source in the clockwise direction. R sub m is connected in series to all the resistors.">
            <a:extLst>
              <a:ext uri="{FF2B5EF4-FFF2-40B4-BE49-F238E27FC236}">
                <a16:creationId xmlns:a16="http://schemas.microsoft.com/office/drawing/2014/main" id="{43940B13-B244-8506-13E3-BF308346784B}"/>
              </a:ext>
            </a:extLst>
          </p:cNvPr>
          <p:cNvPicPr>
            <a:picLocks noChangeAspect="1"/>
          </p:cNvPicPr>
          <p:nvPr/>
        </p:nvPicPr>
        <p:blipFill>
          <a:blip r:embed="rId2"/>
          <a:srcRect/>
          <a:stretch/>
        </p:blipFill>
        <p:spPr>
          <a:xfrm>
            <a:off x="2925130" y="1962021"/>
            <a:ext cx="3293739" cy="1848108"/>
          </a:xfrm>
          <a:prstGeom prst="rect">
            <a:avLst/>
          </a:prstGeom>
        </p:spPr>
      </p:pic>
      <p:sp>
        <p:nvSpPr>
          <p:cNvPr id="4" name="Content Placeholder 3">
            <a:extLst>
              <a:ext uri="{FF2B5EF4-FFF2-40B4-BE49-F238E27FC236}">
                <a16:creationId xmlns:a16="http://schemas.microsoft.com/office/drawing/2014/main" id="{5D160555-9DAC-29B6-58AA-328234EE585F}"/>
              </a:ext>
            </a:extLst>
          </p:cNvPr>
          <p:cNvSpPr>
            <a:spLocks noGrp="1"/>
          </p:cNvSpPr>
          <p:nvPr>
            <p:ph sz="quarter" idx="11"/>
          </p:nvPr>
        </p:nvSpPr>
        <p:spPr>
          <a:xfrm>
            <a:off x="1113218" y="3878624"/>
            <a:ext cx="316706" cy="374906"/>
          </a:xfrm>
        </p:spPr>
        <p:txBody>
          <a:bodyPr wrap="square" lIns="0" tIns="18000" rIns="0" bIns="18000" anchor="ctr" anchorCtr="0">
            <a:spAutoFit/>
          </a:bodyPr>
          <a:lstStyle/>
          <a:p>
            <a:pPr marL="0" indent="0">
              <a:buNone/>
            </a:pPr>
            <a:r>
              <a:rPr lang="en-US" sz="2200" noProof="0" dirty="0">
                <a:solidFill>
                  <a:srgbClr val="007FA3"/>
                </a:solidFill>
              </a:rPr>
              <a:t>A.</a:t>
            </a:r>
          </a:p>
        </p:txBody>
      </p:sp>
      <p:graphicFrame>
        <p:nvGraphicFramePr>
          <p:cNvPr id="30" name="Object 29" descr="R subscript 1 Baseline, R subscript 2 Baseline, R subscript m.&#10;">
            <a:extLst>
              <a:ext uri="{FF2B5EF4-FFF2-40B4-BE49-F238E27FC236}">
                <a16:creationId xmlns:a16="http://schemas.microsoft.com/office/drawing/2014/main" id="{E6AFF0E7-CCBA-34C2-8289-9CC4A2886260}"/>
              </a:ext>
            </a:extLst>
          </p:cNvPr>
          <p:cNvGraphicFramePr>
            <a:graphicFrameLocks noChangeAspect="1"/>
          </p:cNvGraphicFramePr>
          <p:nvPr/>
        </p:nvGraphicFramePr>
        <p:xfrm>
          <a:off x="1455085" y="3892550"/>
          <a:ext cx="1190625" cy="407988"/>
        </p:xfrm>
        <a:graphic>
          <a:graphicData uri="http://schemas.openxmlformats.org/presentationml/2006/ole">
            <mc:AlternateContent xmlns:mc="http://schemas.openxmlformats.org/markup-compatibility/2006">
              <mc:Choice xmlns:v="urn:schemas-microsoft-com:vml" Requires="v">
                <p:oleObj name="Equation" r:id="rId3" imgW="698400" imgH="228600" progId="Equation.DSMT4">
                  <p:embed/>
                </p:oleObj>
              </mc:Choice>
              <mc:Fallback>
                <p:oleObj name="Equation" r:id="rId3" imgW="698400" imgH="228600" progId="Equation.DSMT4">
                  <p:embed/>
                  <p:pic>
                    <p:nvPicPr>
                      <p:cNvPr id="30" name="Object 29" descr="R subscript 1 Baseline, R subscript 2 Baseline, R subscript m.&#10;">
                        <a:extLst>
                          <a:ext uri="{FF2B5EF4-FFF2-40B4-BE49-F238E27FC236}">
                            <a16:creationId xmlns:a16="http://schemas.microsoft.com/office/drawing/2014/main" id="{75602BFE-6066-8ACA-6541-C7B8752A1291}"/>
                          </a:ext>
                        </a:extLst>
                      </p:cNvPr>
                      <p:cNvPicPr>
                        <a:picLocks noChangeAspect="1" noChangeArrowheads="1"/>
                      </p:cNvPicPr>
                      <p:nvPr/>
                    </p:nvPicPr>
                    <p:blipFill>
                      <a:blip r:embed="rId4"/>
                      <a:srcRect/>
                      <a:stretch>
                        <a:fillRect/>
                      </a:stretch>
                    </p:blipFill>
                    <p:spPr bwMode="auto">
                      <a:xfrm>
                        <a:off x="1455085" y="3892550"/>
                        <a:ext cx="1190625" cy="407988"/>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15521C73-DB6B-21EC-F66E-88A62763BB5F}"/>
              </a:ext>
            </a:extLst>
          </p:cNvPr>
          <p:cNvSpPr>
            <a:spLocks noGrp="1"/>
          </p:cNvSpPr>
          <p:nvPr>
            <p:ph sz="quarter" idx="12"/>
          </p:nvPr>
        </p:nvSpPr>
        <p:spPr>
          <a:xfrm>
            <a:off x="2717054" y="3878624"/>
            <a:ext cx="3060701" cy="374906"/>
          </a:xfrm>
        </p:spPr>
        <p:txBody>
          <a:bodyPr wrap="square" lIns="0" tIns="18000" rIns="0" bIns="18000" anchor="ctr" anchorCtr="0">
            <a:spAutoFit/>
          </a:bodyPr>
          <a:lstStyle/>
          <a:p>
            <a:pPr marL="0" indent="0">
              <a:buNone/>
            </a:pPr>
            <a:r>
              <a:rPr lang="en-US" sz="2200" noProof="0" dirty="0"/>
              <a:t>are connected in a delta</a:t>
            </a:r>
          </a:p>
        </p:txBody>
      </p:sp>
      <p:sp>
        <p:nvSpPr>
          <p:cNvPr id="6" name="Content Placeholder 5">
            <a:extLst>
              <a:ext uri="{FF2B5EF4-FFF2-40B4-BE49-F238E27FC236}">
                <a16:creationId xmlns:a16="http://schemas.microsoft.com/office/drawing/2014/main" id="{15A0DE3E-69F7-6731-E683-D81771D1DA10}"/>
              </a:ext>
            </a:extLst>
          </p:cNvPr>
          <p:cNvSpPr>
            <a:spLocks noGrp="1"/>
          </p:cNvSpPr>
          <p:nvPr>
            <p:ph sz="quarter" idx="13"/>
          </p:nvPr>
        </p:nvSpPr>
        <p:spPr>
          <a:xfrm>
            <a:off x="1113218" y="4343404"/>
            <a:ext cx="316706" cy="374906"/>
          </a:xfrm>
        </p:spPr>
        <p:txBody>
          <a:bodyPr wrap="square" lIns="0" tIns="18000" rIns="0" bIns="18000" anchor="ctr" anchorCtr="0">
            <a:spAutoFit/>
          </a:bodyPr>
          <a:lstStyle/>
          <a:p>
            <a:pPr marL="0" indent="0">
              <a:buNone/>
            </a:pPr>
            <a:r>
              <a:rPr lang="en-US" sz="2200" noProof="0" dirty="0">
                <a:solidFill>
                  <a:srgbClr val="007FA3"/>
                </a:solidFill>
              </a:rPr>
              <a:t>B.</a:t>
            </a:r>
          </a:p>
        </p:txBody>
      </p:sp>
      <p:graphicFrame>
        <p:nvGraphicFramePr>
          <p:cNvPr id="32" name="Object 31" descr="R subscript m Baseline, R subscript 3.&#10;">
            <a:extLst>
              <a:ext uri="{FF2B5EF4-FFF2-40B4-BE49-F238E27FC236}">
                <a16:creationId xmlns:a16="http://schemas.microsoft.com/office/drawing/2014/main" id="{DF5EDA82-BCE7-7DB5-22C3-EB7417FD23EF}"/>
              </a:ext>
            </a:extLst>
          </p:cNvPr>
          <p:cNvGraphicFramePr>
            <a:graphicFrameLocks noChangeAspect="1"/>
          </p:cNvGraphicFramePr>
          <p:nvPr/>
        </p:nvGraphicFramePr>
        <p:xfrm>
          <a:off x="1468345" y="4348163"/>
          <a:ext cx="800100" cy="406400"/>
        </p:xfrm>
        <a:graphic>
          <a:graphicData uri="http://schemas.openxmlformats.org/presentationml/2006/ole">
            <mc:AlternateContent xmlns:mc="http://schemas.openxmlformats.org/markup-compatibility/2006">
              <mc:Choice xmlns:v="urn:schemas-microsoft-com:vml" Requires="v">
                <p:oleObj name="Equation" r:id="rId5" imgW="469800" imgH="228600" progId="Equation.DSMT4">
                  <p:embed/>
                </p:oleObj>
              </mc:Choice>
              <mc:Fallback>
                <p:oleObj name="Equation" r:id="rId5" imgW="469800" imgH="228600" progId="Equation.DSMT4">
                  <p:embed/>
                  <p:pic>
                    <p:nvPicPr>
                      <p:cNvPr id="32" name="Object 31" descr="R subscript m Baseline, R subscript 3.&#10;">
                        <a:extLst>
                          <a:ext uri="{FF2B5EF4-FFF2-40B4-BE49-F238E27FC236}">
                            <a16:creationId xmlns:a16="http://schemas.microsoft.com/office/drawing/2014/main" id="{9E21586C-1EB1-2520-9394-0FF7B0F4162F}"/>
                          </a:ext>
                        </a:extLst>
                      </p:cNvPr>
                      <p:cNvPicPr>
                        <a:picLocks noChangeAspect="1" noChangeArrowheads="1"/>
                      </p:cNvPicPr>
                      <p:nvPr/>
                    </p:nvPicPr>
                    <p:blipFill>
                      <a:blip r:embed="rId6"/>
                      <a:srcRect/>
                      <a:stretch>
                        <a:fillRect/>
                      </a:stretch>
                    </p:blipFill>
                    <p:spPr bwMode="auto">
                      <a:xfrm>
                        <a:off x="1468345" y="4348163"/>
                        <a:ext cx="800100" cy="40640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6A9E8F18-6F40-87A6-4F96-379EFDE94DCE}"/>
              </a:ext>
            </a:extLst>
          </p:cNvPr>
          <p:cNvSpPr>
            <a:spLocks noGrp="1"/>
          </p:cNvSpPr>
          <p:nvPr>
            <p:ph sz="quarter" idx="14"/>
          </p:nvPr>
        </p:nvSpPr>
        <p:spPr>
          <a:xfrm>
            <a:off x="2342401" y="4357440"/>
            <a:ext cx="501405" cy="374906"/>
          </a:xfrm>
        </p:spPr>
        <p:txBody>
          <a:bodyPr wrap="square" lIns="0" tIns="18000" rIns="0" bIns="18000" anchor="ctr" anchorCtr="0">
            <a:spAutoFit/>
          </a:bodyPr>
          <a:lstStyle/>
          <a:p>
            <a:pPr marL="0" indent="0">
              <a:buNone/>
            </a:pPr>
            <a:r>
              <a:rPr lang="en-US" sz="2200" noProof="0" dirty="0"/>
              <a:t>and</a:t>
            </a:r>
          </a:p>
        </p:txBody>
      </p:sp>
      <p:graphicFrame>
        <p:nvGraphicFramePr>
          <p:cNvPr id="33" name="Object 32" descr="R subscript x.&#10;">
            <a:extLst>
              <a:ext uri="{FF2B5EF4-FFF2-40B4-BE49-F238E27FC236}">
                <a16:creationId xmlns:a16="http://schemas.microsoft.com/office/drawing/2014/main" id="{C079458F-F01F-BB6C-B7B1-F28F805E9F53}"/>
              </a:ext>
            </a:extLst>
          </p:cNvPr>
          <p:cNvGraphicFramePr>
            <a:graphicFrameLocks noChangeAspect="1"/>
          </p:cNvGraphicFramePr>
          <p:nvPr/>
        </p:nvGraphicFramePr>
        <p:xfrm>
          <a:off x="2867337" y="4388166"/>
          <a:ext cx="346075" cy="406400"/>
        </p:xfrm>
        <a:graphic>
          <a:graphicData uri="http://schemas.openxmlformats.org/presentationml/2006/ole">
            <mc:AlternateContent xmlns:mc="http://schemas.openxmlformats.org/markup-compatibility/2006">
              <mc:Choice xmlns:v="urn:schemas-microsoft-com:vml" Requires="v">
                <p:oleObj name="Equation" r:id="rId7" imgW="203040" imgH="228600" progId="Equation.DSMT4">
                  <p:embed/>
                </p:oleObj>
              </mc:Choice>
              <mc:Fallback>
                <p:oleObj name="Equation" r:id="rId7" imgW="203040" imgH="228600" progId="Equation.DSMT4">
                  <p:embed/>
                  <p:pic>
                    <p:nvPicPr>
                      <p:cNvPr id="33" name="Object 32" descr="R subscript x.&#10;">
                        <a:extLst>
                          <a:ext uri="{FF2B5EF4-FFF2-40B4-BE49-F238E27FC236}">
                            <a16:creationId xmlns:a16="http://schemas.microsoft.com/office/drawing/2014/main" id="{0E353C20-AAA0-CC28-A749-77518CC12D71}"/>
                          </a:ext>
                        </a:extLst>
                      </p:cNvPr>
                      <p:cNvPicPr>
                        <a:picLocks noChangeAspect="1" noChangeArrowheads="1"/>
                      </p:cNvPicPr>
                      <p:nvPr/>
                    </p:nvPicPr>
                    <p:blipFill>
                      <a:blip r:embed="rId8"/>
                      <a:srcRect/>
                      <a:stretch>
                        <a:fillRect/>
                      </a:stretch>
                    </p:blipFill>
                    <p:spPr bwMode="auto">
                      <a:xfrm>
                        <a:off x="2867337" y="4388166"/>
                        <a:ext cx="346075" cy="4064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03C75A6A-2D7D-54A9-5FD1-CD91609CE8DA}"/>
              </a:ext>
            </a:extLst>
          </p:cNvPr>
          <p:cNvSpPr>
            <a:spLocks noGrp="1"/>
          </p:cNvSpPr>
          <p:nvPr>
            <p:ph sz="quarter" idx="15"/>
          </p:nvPr>
        </p:nvSpPr>
        <p:spPr>
          <a:xfrm>
            <a:off x="3261671" y="4357440"/>
            <a:ext cx="4759624" cy="374906"/>
          </a:xfrm>
        </p:spPr>
        <p:txBody>
          <a:bodyPr wrap="square" lIns="0" tIns="18000" rIns="0" bIns="18000" anchor="ctr" anchorCtr="0">
            <a:spAutoFit/>
          </a:bodyPr>
          <a:lstStyle/>
          <a:p>
            <a:pPr marL="0" indent="0">
              <a:buNone/>
            </a:pPr>
            <a:r>
              <a:rPr lang="en-US" sz="2200" noProof="0" dirty="0"/>
              <a:t>are connected in a wye</a:t>
            </a:r>
          </a:p>
        </p:txBody>
      </p:sp>
      <p:sp>
        <p:nvSpPr>
          <p:cNvPr id="9" name="Content Placeholder 8">
            <a:extLst>
              <a:ext uri="{FF2B5EF4-FFF2-40B4-BE49-F238E27FC236}">
                <a16:creationId xmlns:a16="http://schemas.microsoft.com/office/drawing/2014/main" id="{3A90789F-53E7-864A-9B0F-B6A2B63FEB6D}"/>
              </a:ext>
            </a:extLst>
          </p:cNvPr>
          <p:cNvSpPr>
            <a:spLocks noGrp="1"/>
          </p:cNvSpPr>
          <p:nvPr>
            <p:ph sz="quarter" idx="16"/>
          </p:nvPr>
        </p:nvSpPr>
        <p:spPr>
          <a:xfrm>
            <a:off x="1113218" y="4892024"/>
            <a:ext cx="340396" cy="374906"/>
          </a:xfrm>
        </p:spPr>
        <p:txBody>
          <a:bodyPr wrap="square" lIns="0" tIns="18000" rIns="0" bIns="18000" anchor="ctr" anchorCtr="0">
            <a:spAutoFit/>
          </a:bodyPr>
          <a:lstStyle/>
          <a:p>
            <a:pPr marL="457200" indent="-457200">
              <a:buFont typeface="+mj-lt"/>
              <a:buAutoNum type="alphaUcPeriod" startAt="3"/>
            </a:pPr>
            <a:r>
              <a:rPr lang="en-US" sz="2200" noProof="0" dirty="0"/>
              <a:t> </a:t>
            </a:r>
          </a:p>
        </p:txBody>
      </p:sp>
      <p:graphicFrame>
        <p:nvGraphicFramePr>
          <p:cNvPr id="37" name="Object 36" descr="R subscript m Baseline, R subscript 3.&#10;">
            <a:extLst>
              <a:ext uri="{FF2B5EF4-FFF2-40B4-BE49-F238E27FC236}">
                <a16:creationId xmlns:a16="http://schemas.microsoft.com/office/drawing/2014/main" id="{6E1E466A-3931-2E9E-82FF-647091384C34}"/>
              </a:ext>
            </a:extLst>
          </p:cNvPr>
          <p:cNvGraphicFramePr>
            <a:graphicFrameLocks noChangeAspect="1"/>
          </p:cNvGraphicFramePr>
          <p:nvPr/>
        </p:nvGraphicFramePr>
        <p:xfrm>
          <a:off x="1486275" y="4892675"/>
          <a:ext cx="800100" cy="406400"/>
        </p:xfrm>
        <a:graphic>
          <a:graphicData uri="http://schemas.openxmlformats.org/presentationml/2006/ole">
            <mc:AlternateContent xmlns:mc="http://schemas.openxmlformats.org/markup-compatibility/2006">
              <mc:Choice xmlns:v="urn:schemas-microsoft-com:vml" Requires="v">
                <p:oleObj name="Equation" r:id="rId9" imgW="469800" imgH="228600" progId="Equation.DSMT4">
                  <p:embed/>
                </p:oleObj>
              </mc:Choice>
              <mc:Fallback>
                <p:oleObj name="Equation" r:id="rId9" imgW="469800" imgH="228600" progId="Equation.DSMT4">
                  <p:embed/>
                  <p:pic>
                    <p:nvPicPr>
                      <p:cNvPr id="37" name="Object 36" descr="R subscript m Baseline, R subscript 3.&#10;">
                        <a:extLst>
                          <a:ext uri="{FF2B5EF4-FFF2-40B4-BE49-F238E27FC236}">
                            <a16:creationId xmlns:a16="http://schemas.microsoft.com/office/drawing/2014/main" id="{2BFC8C73-0A29-69A1-7CCB-1A7467C595BC}"/>
                          </a:ext>
                        </a:extLst>
                      </p:cNvPr>
                      <p:cNvPicPr>
                        <a:picLocks noChangeAspect="1" noChangeArrowheads="1"/>
                      </p:cNvPicPr>
                      <p:nvPr/>
                    </p:nvPicPr>
                    <p:blipFill>
                      <a:blip r:embed="rId10"/>
                      <a:srcRect/>
                      <a:stretch>
                        <a:fillRect/>
                      </a:stretch>
                    </p:blipFill>
                    <p:spPr bwMode="auto">
                      <a:xfrm>
                        <a:off x="1486275" y="4892675"/>
                        <a:ext cx="800100" cy="406400"/>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DD9E0B41-D93D-639D-213B-F9E4AC16179E}"/>
              </a:ext>
            </a:extLst>
          </p:cNvPr>
          <p:cNvSpPr>
            <a:spLocks noGrp="1"/>
          </p:cNvSpPr>
          <p:nvPr>
            <p:ph sz="quarter" idx="17"/>
          </p:nvPr>
        </p:nvSpPr>
        <p:spPr>
          <a:xfrm>
            <a:off x="2348556" y="4892802"/>
            <a:ext cx="489095" cy="374906"/>
          </a:xfrm>
        </p:spPr>
        <p:txBody>
          <a:bodyPr wrap="square" lIns="0" tIns="18000" rIns="0" bIns="18000" anchor="ctr" anchorCtr="0">
            <a:spAutoFit/>
          </a:bodyPr>
          <a:lstStyle/>
          <a:p>
            <a:pPr marL="0" indent="0">
              <a:buNone/>
            </a:pPr>
            <a:r>
              <a:rPr lang="en-US" sz="2200" noProof="0" dirty="0"/>
              <a:t>and</a:t>
            </a:r>
          </a:p>
        </p:txBody>
      </p:sp>
      <p:graphicFrame>
        <p:nvGraphicFramePr>
          <p:cNvPr id="38" name="Object 37" descr="R subscript x.&#10;">
            <a:extLst>
              <a:ext uri="{FF2B5EF4-FFF2-40B4-BE49-F238E27FC236}">
                <a16:creationId xmlns:a16="http://schemas.microsoft.com/office/drawing/2014/main" id="{EC247F3B-4AB9-4927-0B53-FF3602169833}"/>
              </a:ext>
            </a:extLst>
          </p:cNvPr>
          <p:cNvGraphicFramePr>
            <a:graphicFrameLocks noChangeAspect="1"/>
          </p:cNvGraphicFramePr>
          <p:nvPr/>
        </p:nvGraphicFramePr>
        <p:xfrm>
          <a:off x="2873731" y="4905841"/>
          <a:ext cx="346075" cy="406400"/>
        </p:xfrm>
        <a:graphic>
          <a:graphicData uri="http://schemas.openxmlformats.org/presentationml/2006/ole">
            <mc:AlternateContent xmlns:mc="http://schemas.openxmlformats.org/markup-compatibility/2006">
              <mc:Choice xmlns:v="urn:schemas-microsoft-com:vml" Requires="v">
                <p:oleObj name="Equation" r:id="rId7" imgW="203040" imgH="228600" progId="Equation.DSMT4">
                  <p:embed/>
                </p:oleObj>
              </mc:Choice>
              <mc:Fallback>
                <p:oleObj name="Equation" r:id="rId7" imgW="203040" imgH="228600" progId="Equation.DSMT4">
                  <p:embed/>
                  <p:pic>
                    <p:nvPicPr>
                      <p:cNvPr id="38" name="Object 37" descr="R subscript x.&#10;">
                        <a:extLst>
                          <a:ext uri="{FF2B5EF4-FFF2-40B4-BE49-F238E27FC236}">
                            <a16:creationId xmlns:a16="http://schemas.microsoft.com/office/drawing/2014/main" id="{DD81D542-B0D4-A95E-B3DA-DC500077FF7F}"/>
                          </a:ext>
                        </a:extLst>
                      </p:cNvPr>
                      <p:cNvPicPr>
                        <a:picLocks noChangeAspect="1" noChangeArrowheads="1"/>
                      </p:cNvPicPr>
                      <p:nvPr/>
                    </p:nvPicPr>
                    <p:blipFill>
                      <a:blip r:embed="rId8"/>
                      <a:srcRect/>
                      <a:stretch>
                        <a:fillRect/>
                      </a:stretch>
                    </p:blipFill>
                    <p:spPr bwMode="auto">
                      <a:xfrm>
                        <a:off x="2873731" y="4905841"/>
                        <a:ext cx="346075" cy="406400"/>
                      </a:xfrm>
                      <a:prstGeom prst="rect">
                        <a:avLst/>
                      </a:prstGeom>
                      <a:noFill/>
                    </p:spPr>
                  </p:pic>
                </p:oleObj>
              </mc:Fallback>
            </mc:AlternateContent>
          </a:graphicData>
        </a:graphic>
      </p:graphicFrame>
      <p:sp>
        <p:nvSpPr>
          <p:cNvPr id="11" name="Content Placeholder 10">
            <a:extLst>
              <a:ext uri="{FF2B5EF4-FFF2-40B4-BE49-F238E27FC236}">
                <a16:creationId xmlns:a16="http://schemas.microsoft.com/office/drawing/2014/main" id="{19F923AA-C2E1-904C-0120-88C01F7FE335}"/>
              </a:ext>
            </a:extLst>
          </p:cNvPr>
          <p:cNvSpPr>
            <a:spLocks noGrp="1"/>
          </p:cNvSpPr>
          <p:nvPr>
            <p:ph sz="quarter" idx="18"/>
          </p:nvPr>
        </p:nvSpPr>
        <p:spPr>
          <a:xfrm>
            <a:off x="3291993" y="4880776"/>
            <a:ext cx="3011877" cy="374906"/>
          </a:xfrm>
        </p:spPr>
        <p:txBody>
          <a:bodyPr wrap="square" lIns="0" tIns="18000" rIns="0" bIns="18000" anchor="ctr" anchorCtr="0">
            <a:spAutoFit/>
          </a:bodyPr>
          <a:lstStyle/>
          <a:p>
            <a:pPr marL="0" indent="0">
              <a:buNone/>
            </a:pPr>
            <a:r>
              <a:rPr lang="en-US" sz="2200" noProof="0" dirty="0"/>
              <a:t>are connected in a delta</a:t>
            </a:r>
          </a:p>
        </p:txBody>
      </p:sp>
      <p:sp>
        <p:nvSpPr>
          <p:cNvPr id="12" name="Content Placeholder 11">
            <a:extLst>
              <a:ext uri="{FF2B5EF4-FFF2-40B4-BE49-F238E27FC236}">
                <a16:creationId xmlns:a16="http://schemas.microsoft.com/office/drawing/2014/main" id="{9025C1C1-AF54-81B2-9DCC-A424C751F69F}"/>
              </a:ext>
            </a:extLst>
          </p:cNvPr>
          <p:cNvSpPr>
            <a:spLocks noGrp="1"/>
          </p:cNvSpPr>
          <p:nvPr>
            <p:ph sz="quarter" idx="19"/>
          </p:nvPr>
        </p:nvSpPr>
        <p:spPr>
          <a:xfrm>
            <a:off x="1113218" y="5429649"/>
            <a:ext cx="340396" cy="374906"/>
          </a:xfrm>
        </p:spPr>
        <p:txBody>
          <a:bodyPr wrap="square" lIns="0" tIns="18000" rIns="0" bIns="18000" anchor="ctr" anchorCtr="0">
            <a:spAutoFit/>
          </a:bodyPr>
          <a:lstStyle/>
          <a:p>
            <a:pPr marL="0" indent="0">
              <a:buNone/>
            </a:pPr>
            <a:r>
              <a:rPr lang="en-US" sz="2200" noProof="0" dirty="0">
                <a:solidFill>
                  <a:srgbClr val="007FA3"/>
                </a:solidFill>
              </a:rPr>
              <a:t>D.</a:t>
            </a:r>
          </a:p>
        </p:txBody>
      </p:sp>
      <p:graphicFrame>
        <p:nvGraphicFramePr>
          <p:cNvPr id="40" name="Object 39" descr="R subscript m Baseline, R subscript 1.&#10;">
            <a:extLst>
              <a:ext uri="{FF2B5EF4-FFF2-40B4-BE49-F238E27FC236}">
                <a16:creationId xmlns:a16="http://schemas.microsoft.com/office/drawing/2014/main" id="{A60EB3A9-882B-7DAA-27D0-4EEA417F430D}"/>
              </a:ext>
            </a:extLst>
          </p:cNvPr>
          <p:cNvGraphicFramePr>
            <a:graphicFrameLocks noChangeAspect="1"/>
          </p:cNvGraphicFramePr>
          <p:nvPr/>
        </p:nvGraphicFramePr>
        <p:xfrm>
          <a:off x="1503085" y="5462588"/>
          <a:ext cx="779463" cy="406400"/>
        </p:xfrm>
        <a:graphic>
          <a:graphicData uri="http://schemas.openxmlformats.org/presentationml/2006/ole">
            <mc:AlternateContent xmlns:mc="http://schemas.openxmlformats.org/markup-compatibility/2006">
              <mc:Choice xmlns:v="urn:schemas-microsoft-com:vml" Requires="v">
                <p:oleObj name="Equation" r:id="rId11" imgW="457200" imgH="228600" progId="Equation.DSMT4">
                  <p:embed/>
                </p:oleObj>
              </mc:Choice>
              <mc:Fallback>
                <p:oleObj name="Equation" r:id="rId11" imgW="457200" imgH="228600" progId="Equation.DSMT4">
                  <p:embed/>
                  <p:pic>
                    <p:nvPicPr>
                      <p:cNvPr id="40" name="Object 39" descr="R subscript m Baseline, R subscript 1.&#10;">
                        <a:extLst>
                          <a:ext uri="{FF2B5EF4-FFF2-40B4-BE49-F238E27FC236}">
                            <a16:creationId xmlns:a16="http://schemas.microsoft.com/office/drawing/2014/main" id="{54CF5B37-1238-E801-8C7E-A84C37D77D74}"/>
                          </a:ext>
                        </a:extLst>
                      </p:cNvPr>
                      <p:cNvPicPr>
                        <a:picLocks noChangeAspect="1" noChangeArrowheads="1"/>
                      </p:cNvPicPr>
                      <p:nvPr/>
                    </p:nvPicPr>
                    <p:blipFill>
                      <a:blip r:embed="rId12"/>
                      <a:srcRect/>
                      <a:stretch>
                        <a:fillRect/>
                      </a:stretch>
                    </p:blipFill>
                    <p:spPr bwMode="auto">
                      <a:xfrm>
                        <a:off x="1503085" y="5462588"/>
                        <a:ext cx="779463" cy="406400"/>
                      </a:xfrm>
                      <a:prstGeom prst="rect">
                        <a:avLst/>
                      </a:prstGeom>
                      <a:noFill/>
                    </p:spPr>
                  </p:pic>
                </p:oleObj>
              </mc:Fallback>
            </mc:AlternateContent>
          </a:graphicData>
        </a:graphic>
      </p:graphicFrame>
      <p:sp>
        <p:nvSpPr>
          <p:cNvPr id="13" name="Content Placeholder 12">
            <a:extLst>
              <a:ext uri="{FF2B5EF4-FFF2-40B4-BE49-F238E27FC236}">
                <a16:creationId xmlns:a16="http://schemas.microsoft.com/office/drawing/2014/main" id="{71DEF0FF-7785-BBC9-28EF-10DA7AE67642}"/>
              </a:ext>
            </a:extLst>
          </p:cNvPr>
          <p:cNvSpPr>
            <a:spLocks noGrp="1"/>
          </p:cNvSpPr>
          <p:nvPr>
            <p:ph sz="quarter" idx="20"/>
          </p:nvPr>
        </p:nvSpPr>
        <p:spPr>
          <a:xfrm>
            <a:off x="2362205" y="5436934"/>
            <a:ext cx="489095" cy="374906"/>
          </a:xfrm>
        </p:spPr>
        <p:txBody>
          <a:bodyPr wrap="square" lIns="0" tIns="18000" rIns="0" bIns="18000" anchor="ctr" anchorCtr="0">
            <a:spAutoFit/>
          </a:bodyPr>
          <a:lstStyle/>
          <a:p>
            <a:pPr marL="0" indent="0">
              <a:buNone/>
            </a:pPr>
            <a:r>
              <a:rPr lang="en-US" sz="2200" noProof="0" dirty="0"/>
              <a:t>and</a:t>
            </a:r>
          </a:p>
        </p:txBody>
      </p:sp>
      <p:graphicFrame>
        <p:nvGraphicFramePr>
          <p:cNvPr id="41" name="Object 40" descr="R subscript 3.">
            <a:extLst>
              <a:ext uri="{FF2B5EF4-FFF2-40B4-BE49-F238E27FC236}">
                <a16:creationId xmlns:a16="http://schemas.microsoft.com/office/drawing/2014/main" id="{3F3E8FB4-4BD4-05F1-2AC3-FD522EA55469}"/>
              </a:ext>
            </a:extLst>
          </p:cNvPr>
          <p:cNvGraphicFramePr>
            <a:graphicFrameLocks noChangeAspect="1"/>
          </p:cNvGraphicFramePr>
          <p:nvPr/>
        </p:nvGraphicFramePr>
        <p:xfrm>
          <a:off x="2871994" y="5444757"/>
          <a:ext cx="346075" cy="406400"/>
        </p:xfrm>
        <a:graphic>
          <a:graphicData uri="http://schemas.openxmlformats.org/presentationml/2006/ole">
            <mc:AlternateContent xmlns:mc="http://schemas.openxmlformats.org/markup-compatibility/2006">
              <mc:Choice xmlns:v="urn:schemas-microsoft-com:vml" Requires="v">
                <p:oleObj name="Equation" r:id="rId13" imgW="203040" imgH="228600" progId="Equation.DSMT4">
                  <p:embed/>
                </p:oleObj>
              </mc:Choice>
              <mc:Fallback>
                <p:oleObj name="Equation" r:id="rId13" imgW="203040" imgH="228600" progId="Equation.DSMT4">
                  <p:embed/>
                  <p:pic>
                    <p:nvPicPr>
                      <p:cNvPr id="41" name="Object 40" descr="R subscript 3.">
                        <a:extLst>
                          <a:ext uri="{FF2B5EF4-FFF2-40B4-BE49-F238E27FC236}">
                            <a16:creationId xmlns:a16="http://schemas.microsoft.com/office/drawing/2014/main" id="{A661012E-E7AD-A675-525A-9F0AC0C18843}"/>
                          </a:ext>
                        </a:extLst>
                      </p:cNvPr>
                      <p:cNvPicPr>
                        <a:picLocks noChangeAspect="1" noChangeArrowheads="1"/>
                      </p:cNvPicPr>
                      <p:nvPr/>
                    </p:nvPicPr>
                    <p:blipFill>
                      <a:blip r:embed="rId14"/>
                      <a:srcRect/>
                      <a:stretch>
                        <a:fillRect/>
                      </a:stretch>
                    </p:blipFill>
                    <p:spPr bwMode="auto">
                      <a:xfrm>
                        <a:off x="2871994" y="5444757"/>
                        <a:ext cx="346075" cy="406400"/>
                      </a:xfrm>
                      <a:prstGeom prst="rect">
                        <a:avLst/>
                      </a:prstGeom>
                      <a:noFill/>
                    </p:spPr>
                  </p:pic>
                </p:oleObj>
              </mc:Fallback>
            </mc:AlternateContent>
          </a:graphicData>
        </a:graphic>
      </p:graphicFrame>
      <p:sp>
        <p:nvSpPr>
          <p:cNvPr id="14" name="Content Placeholder 13">
            <a:extLst>
              <a:ext uri="{FF2B5EF4-FFF2-40B4-BE49-F238E27FC236}">
                <a16:creationId xmlns:a16="http://schemas.microsoft.com/office/drawing/2014/main" id="{278ACE5D-493D-68D9-B524-D5DC25727D07}"/>
              </a:ext>
            </a:extLst>
          </p:cNvPr>
          <p:cNvSpPr>
            <a:spLocks noGrp="1"/>
          </p:cNvSpPr>
          <p:nvPr>
            <p:ph sz="quarter" idx="21"/>
          </p:nvPr>
        </p:nvSpPr>
        <p:spPr>
          <a:xfrm>
            <a:off x="3318888" y="5439824"/>
            <a:ext cx="2883406" cy="374906"/>
          </a:xfrm>
        </p:spPr>
        <p:txBody>
          <a:bodyPr wrap="square" lIns="0" tIns="18000" rIns="0" bIns="18000" anchor="ctr" anchorCtr="0">
            <a:spAutoFit/>
          </a:bodyPr>
          <a:lstStyle/>
          <a:p>
            <a:pPr marL="0" indent="0">
              <a:buNone/>
            </a:pPr>
            <a:r>
              <a:rPr lang="en-US" sz="2200" noProof="0" dirty="0"/>
              <a:t>are </a:t>
            </a:r>
            <a:r>
              <a:rPr lang="en-US" altLang="en-US" sz="2200" noProof="0" dirty="0"/>
              <a:t>connected in a wye</a:t>
            </a:r>
            <a:endParaRPr lang="en-US" sz="2200" noProof="0" dirty="0"/>
          </a:p>
        </p:txBody>
      </p:sp>
      <p:sp>
        <p:nvSpPr>
          <p:cNvPr id="15" name="Content Placeholder 14">
            <a:extLst>
              <a:ext uri="{FF2B5EF4-FFF2-40B4-BE49-F238E27FC236}">
                <a16:creationId xmlns:a16="http://schemas.microsoft.com/office/drawing/2014/main" id="{65344C08-12D6-2795-9BC6-94513804C489}"/>
              </a:ext>
            </a:extLst>
          </p:cNvPr>
          <p:cNvSpPr>
            <a:spLocks noGrp="1"/>
          </p:cNvSpPr>
          <p:nvPr>
            <p:ph sz="quarter" idx="22"/>
          </p:nvPr>
        </p:nvSpPr>
        <p:spPr>
          <a:xfrm>
            <a:off x="1113218" y="5929450"/>
            <a:ext cx="282472" cy="374906"/>
          </a:xfrm>
        </p:spPr>
        <p:txBody>
          <a:bodyPr lIns="0" tIns="18000" rIns="0" bIns="18000" anchor="ctr" anchorCtr="0">
            <a:spAutoFit/>
          </a:bodyPr>
          <a:lstStyle/>
          <a:p>
            <a:pPr marL="0" indent="0">
              <a:buNone/>
            </a:pPr>
            <a:r>
              <a:rPr lang="en-US" sz="2200" noProof="0" dirty="0">
                <a:solidFill>
                  <a:srgbClr val="007FA3"/>
                </a:solidFill>
              </a:rPr>
              <a:t>E.</a:t>
            </a:r>
          </a:p>
        </p:txBody>
      </p:sp>
      <p:graphicFrame>
        <p:nvGraphicFramePr>
          <p:cNvPr id="43" name="Object 42" descr="R subscript m Baseline, R subscript 2.&#10;">
            <a:extLst>
              <a:ext uri="{FF2B5EF4-FFF2-40B4-BE49-F238E27FC236}">
                <a16:creationId xmlns:a16="http://schemas.microsoft.com/office/drawing/2014/main" id="{81D34AD9-9A1E-3B3B-E646-9B16A5927FAA}"/>
              </a:ext>
            </a:extLst>
          </p:cNvPr>
          <p:cNvGraphicFramePr>
            <a:graphicFrameLocks noChangeAspect="1"/>
          </p:cNvGraphicFramePr>
          <p:nvPr/>
        </p:nvGraphicFramePr>
        <p:xfrm>
          <a:off x="1457233" y="5932488"/>
          <a:ext cx="801687" cy="406400"/>
        </p:xfrm>
        <a:graphic>
          <a:graphicData uri="http://schemas.openxmlformats.org/presentationml/2006/ole">
            <mc:AlternateContent xmlns:mc="http://schemas.openxmlformats.org/markup-compatibility/2006">
              <mc:Choice xmlns:v="urn:schemas-microsoft-com:vml" Requires="v">
                <p:oleObj name="Equation" r:id="rId15" imgW="469800" imgH="228600" progId="Equation.DSMT4">
                  <p:embed/>
                </p:oleObj>
              </mc:Choice>
              <mc:Fallback>
                <p:oleObj name="Equation" r:id="rId15" imgW="469800" imgH="228600" progId="Equation.DSMT4">
                  <p:embed/>
                  <p:pic>
                    <p:nvPicPr>
                      <p:cNvPr id="43" name="Object 42" descr="R subscript m Baseline, R subscript 2.&#10;">
                        <a:extLst>
                          <a:ext uri="{FF2B5EF4-FFF2-40B4-BE49-F238E27FC236}">
                            <a16:creationId xmlns:a16="http://schemas.microsoft.com/office/drawing/2014/main" id="{C620569B-8846-6EDC-EB45-82BE45BBA0BC}"/>
                          </a:ext>
                        </a:extLst>
                      </p:cNvPr>
                      <p:cNvPicPr>
                        <a:picLocks noChangeAspect="1" noChangeArrowheads="1"/>
                      </p:cNvPicPr>
                      <p:nvPr/>
                    </p:nvPicPr>
                    <p:blipFill>
                      <a:blip r:embed="rId16"/>
                      <a:srcRect/>
                      <a:stretch>
                        <a:fillRect/>
                      </a:stretch>
                    </p:blipFill>
                    <p:spPr bwMode="auto">
                      <a:xfrm>
                        <a:off x="1457233" y="5932488"/>
                        <a:ext cx="801687" cy="406400"/>
                      </a:xfrm>
                      <a:prstGeom prst="rect">
                        <a:avLst/>
                      </a:prstGeom>
                      <a:noFill/>
                    </p:spPr>
                  </p:pic>
                </p:oleObj>
              </mc:Fallback>
            </mc:AlternateContent>
          </a:graphicData>
        </a:graphic>
      </p:graphicFrame>
      <p:sp>
        <p:nvSpPr>
          <p:cNvPr id="16" name="Content Placeholder 15">
            <a:extLst>
              <a:ext uri="{FF2B5EF4-FFF2-40B4-BE49-F238E27FC236}">
                <a16:creationId xmlns:a16="http://schemas.microsoft.com/office/drawing/2014/main" id="{7D68A600-2E4F-3458-DBC8-AEF01BCA0185}"/>
              </a:ext>
            </a:extLst>
          </p:cNvPr>
          <p:cNvSpPr>
            <a:spLocks noGrp="1"/>
          </p:cNvSpPr>
          <p:nvPr>
            <p:ph sz="quarter" idx="23"/>
          </p:nvPr>
        </p:nvSpPr>
        <p:spPr>
          <a:xfrm>
            <a:off x="2308415" y="5934393"/>
            <a:ext cx="529236" cy="374906"/>
          </a:xfrm>
        </p:spPr>
        <p:txBody>
          <a:bodyPr wrap="square" lIns="0" tIns="18000" rIns="0" bIns="18000" anchor="ctr" anchorCtr="0">
            <a:spAutoFit/>
          </a:bodyPr>
          <a:lstStyle/>
          <a:p>
            <a:pPr marL="0" indent="0">
              <a:buNone/>
            </a:pPr>
            <a:r>
              <a:rPr lang="en-US" sz="2200" noProof="0" dirty="0"/>
              <a:t>and</a:t>
            </a:r>
          </a:p>
        </p:txBody>
      </p:sp>
      <p:graphicFrame>
        <p:nvGraphicFramePr>
          <p:cNvPr id="44" name="Object 43" descr="R subscript x.&#10;">
            <a:extLst>
              <a:ext uri="{FF2B5EF4-FFF2-40B4-BE49-F238E27FC236}">
                <a16:creationId xmlns:a16="http://schemas.microsoft.com/office/drawing/2014/main" id="{4F462305-E519-3C68-AA7A-495A0A6638BD}"/>
              </a:ext>
            </a:extLst>
          </p:cNvPr>
          <p:cNvGraphicFramePr>
            <a:graphicFrameLocks noChangeAspect="1"/>
          </p:cNvGraphicFramePr>
          <p:nvPr/>
        </p:nvGraphicFramePr>
        <p:xfrm>
          <a:off x="2882464" y="5931020"/>
          <a:ext cx="346075" cy="406400"/>
        </p:xfrm>
        <a:graphic>
          <a:graphicData uri="http://schemas.openxmlformats.org/presentationml/2006/ole">
            <mc:AlternateContent xmlns:mc="http://schemas.openxmlformats.org/markup-compatibility/2006">
              <mc:Choice xmlns:v="urn:schemas-microsoft-com:vml" Requires="v">
                <p:oleObj name="Equation" r:id="rId7" imgW="203040" imgH="228600" progId="Equation.DSMT4">
                  <p:embed/>
                </p:oleObj>
              </mc:Choice>
              <mc:Fallback>
                <p:oleObj name="Equation" r:id="rId7" imgW="203040" imgH="228600" progId="Equation.DSMT4">
                  <p:embed/>
                  <p:pic>
                    <p:nvPicPr>
                      <p:cNvPr id="44" name="Object 43" descr="R subscript x.&#10;">
                        <a:extLst>
                          <a:ext uri="{FF2B5EF4-FFF2-40B4-BE49-F238E27FC236}">
                            <a16:creationId xmlns:a16="http://schemas.microsoft.com/office/drawing/2014/main" id="{81AE420B-9B82-D656-D03D-A39F92458DCB}"/>
                          </a:ext>
                        </a:extLst>
                      </p:cNvPr>
                      <p:cNvPicPr>
                        <a:picLocks noChangeAspect="1" noChangeArrowheads="1"/>
                      </p:cNvPicPr>
                      <p:nvPr/>
                    </p:nvPicPr>
                    <p:blipFill>
                      <a:blip r:embed="rId8"/>
                      <a:srcRect/>
                      <a:stretch>
                        <a:fillRect/>
                      </a:stretch>
                    </p:blipFill>
                    <p:spPr bwMode="auto">
                      <a:xfrm>
                        <a:off x="2882464" y="5931020"/>
                        <a:ext cx="346075" cy="406400"/>
                      </a:xfrm>
                      <a:prstGeom prst="rect">
                        <a:avLst/>
                      </a:prstGeom>
                      <a:noFill/>
                    </p:spPr>
                  </p:pic>
                </p:oleObj>
              </mc:Fallback>
            </mc:AlternateContent>
          </a:graphicData>
        </a:graphic>
      </p:graphicFrame>
      <p:sp>
        <p:nvSpPr>
          <p:cNvPr id="17" name="Content Placeholder 16">
            <a:extLst>
              <a:ext uri="{FF2B5EF4-FFF2-40B4-BE49-F238E27FC236}">
                <a16:creationId xmlns:a16="http://schemas.microsoft.com/office/drawing/2014/main" id="{B61A9C75-0C0B-1EE9-FB74-9FEF9EA3D625}"/>
              </a:ext>
            </a:extLst>
          </p:cNvPr>
          <p:cNvSpPr>
            <a:spLocks noGrp="1"/>
          </p:cNvSpPr>
          <p:nvPr>
            <p:ph sz="quarter" idx="24"/>
          </p:nvPr>
        </p:nvSpPr>
        <p:spPr>
          <a:xfrm>
            <a:off x="3354746" y="5913516"/>
            <a:ext cx="2883406" cy="374906"/>
          </a:xfrm>
        </p:spPr>
        <p:txBody>
          <a:bodyPr wrap="square" lIns="0" tIns="18000" rIns="0" bIns="18000" anchor="ctr" anchorCtr="0">
            <a:spAutoFit/>
          </a:bodyPr>
          <a:lstStyle/>
          <a:p>
            <a:pPr marL="0" indent="0">
              <a:buNone/>
            </a:pPr>
            <a:r>
              <a:rPr lang="en-US" sz="2200" noProof="0" dirty="0"/>
              <a:t>are </a:t>
            </a:r>
            <a:r>
              <a:rPr lang="en-US" altLang="en-US" sz="2200" noProof="0" dirty="0"/>
              <a:t>connected in a wye</a:t>
            </a:r>
            <a:endParaRPr lang="en-US" sz="2200" noProof="0" dirty="0"/>
          </a:p>
        </p:txBody>
      </p:sp>
    </p:spTree>
    <p:extLst>
      <p:ext uri="{BB962C8B-B14F-4D97-AF65-F5344CB8AC3E}">
        <p14:creationId xmlns:p14="http://schemas.microsoft.com/office/powerpoint/2010/main" val="4069364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0C285D1C-4EB9-089C-06CF-0EE1358A0BA5}"/>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(19 of 22)</a:t>
            </a:r>
          </a:p>
        </p:txBody>
      </p:sp>
      <p:sp>
        <p:nvSpPr>
          <p:cNvPr id="3" name="Content Placeholder 2">
            <a:extLst>
              <a:ext uri="{FF2B5EF4-FFF2-40B4-BE49-F238E27FC236}">
                <a16:creationId xmlns:a16="http://schemas.microsoft.com/office/drawing/2014/main" id="{6FB1AF07-78FE-52F3-02A2-A21059100516}"/>
              </a:ext>
            </a:extLst>
          </p:cNvPr>
          <p:cNvSpPr>
            <a:spLocks noGrp="1"/>
          </p:cNvSpPr>
          <p:nvPr>
            <p:ph sz="quarter" idx="10"/>
          </p:nvPr>
        </p:nvSpPr>
        <p:spPr>
          <a:xfrm>
            <a:off x="408974" y="1381585"/>
            <a:ext cx="8271476" cy="374906"/>
          </a:xfrm>
        </p:spPr>
        <p:txBody>
          <a:bodyPr wrap="square" lIns="0" tIns="18000" rIns="0" bIns="18000" anchor="ctr" anchorCtr="0">
            <a:spAutoFit/>
          </a:bodyPr>
          <a:lstStyle/>
          <a:p>
            <a:pPr marL="0" indent="0">
              <a:buNone/>
            </a:pPr>
            <a:r>
              <a:rPr lang="en-US" altLang="en-US" sz="2200" noProof="0" dirty="0"/>
              <a:t>Which statement is false about the resistors in this bridge circuit?</a:t>
            </a:r>
          </a:p>
        </p:txBody>
      </p:sp>
      <p:pic>
        <p:nvPicPr>
          <p:cNvPr id="28" name="Picture 27" descr="A circuit diagram with a Wheatstone bridge that has four resistors R sub 1, R sub 2, R sub 3, and R sub x connected across a source in the clockwise direction. R sub m is connected in series to all the resistors.">
            <a:extLst>
              <a:ext uri="{FF2B5EF4-FFF2-40B4-BE49-F238E27FC236}">
                <a16:creationId xmlns:a16="http://schemas.microsoft.com/office/drawing/2014/main" id="{8D9C7D4D-957E-61E2-0F4F-87C211EC6D1B}"/>
              </a:ext>
            </a:extLst>
          </p:cNvPr>
          <p:cNvPicPr>
            <a:picLocks noChangeAspect="1"/>
          </p:cNvPicPr>
          <p:nvPr/>
        </p:nvPicPr>
        <p:blipFill>
          <a:blip r:embed="rId2"/>
          <a:srcRect/>
          <a:stretch/>
        </p:blipFill>
        <p:spPr>
          <a:xfrm>
            <a:off x="2925130" y="1962021"/>
            <a:ext cx="3293739" cy="1848108"/>
          </a:xfrm>
          <a:prstGeom prst="rect">
            <a:avLst/>
          </a:prstGeom>
        </p:spPr>
      </p:pic>
      <p:pic>
        <p:nvPicPr>
          <p:cNvPr id="29" name="Picture 4" descr="Cross mark">
            <a:extLst>
              <a:ext uri="{FF2B5EF4-FFF2-40B4-BE49-F238E27FC236}">
                <a16:creationId xmlns:a16="http://schemas.microsoft.com/office/drawing/2014/main" id="{B5A8560E-1A45-E5BC-BDD0-85B74F6F95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8019" y="394265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26FF5D9A-1E7C-A080-6BD8-6D0B3126BC56}"/>
              </a:ext>
            </a:extLst>
          </p:cNvPr>
          <p:cNvSpPr>
            <a:spLocks noGrp="1"/>
          </p:cNvSpPr>
          <p:nvPr>
            <p:ph sz="quarter" idx="11"/>
          </p:nvPr>
        </p:nvSpPr>
        <p:spPr>
          <a:xfrm>
            <a:off x="1113218" y="3878624"/>
            <a:ext cx="316706" cy="374906"/>
          </a:xfrm>
        </p:spPr>
        <p:txBody>
          <a:bodyPr wrap="square" lIns="0" tIns="18000" rIns="0" bIns="18000" anchor="ctr" anchorCtr="0">
            <a:spAutoFit/>
          </a:bodyPr>
          <a:lstStyle/>
          <a:p>
            <a:pPr marL="0" indent="0">
              <a:buNone/>
            </a:pPr>
            <a:r>
              <a:rPr lang="en-US" sz="2200" noProof="0" dirty="0">
                <a:solidFill>
                  <a:srgbClr val="007FA3"/>
                </a:solidFill>
              </a:rPr>
              <a:t>A.</a:t>
            </a:r>
          </a:p>
        </p:txBody>
      </p:sp>
      <p:graphicFrame>
        <p:nvGraphicFramePr>
          <p:cNvPr id="30" name="Object 29" descr="R subscript 1 Baseline, R subscript 2 Baseline, R subscript m.&#10;">
            <a:extLst>
              <a:ext uri="{FF2B5EF4-FFF2-40B4-BE49-F238E27FC236}">
                <a16:creationId xmlns:a16="http://schemas.microsoft.com/office/drawing/2014/main" id="{75602BFE-6066-8ACA-6541-C7B8752A1291}"/>
              </a:ext>
            </a:extLst>
          </p:cNvPr>
          <p:cNvGraphicFramePr>
            <a:graphicFrameLocks noChangeAspect="1"/>
          </p:cNvGraphicFramePr>
          <p:nvPr>
            <p:extLst>
              <p:ext uri="{D42A27DB-BD31-4B8C-83A1-F6EECF244321}">
                <p14:modId xmlns:p14="http://schemas.microsoft.com/office/powerpoint/2010/main" val="3525335278"/>
              </p:ext>
            </p:extLst>
          </p:nvPr>
        </p:nvGraphicFramePr>
        <p:xfrm>
          <a:off x="1455085" y="3892550"/>
          <a:ext cx="1190625" cy="407988"/>
        </p:xfrm>
        <a:graphic>
          <a:graphicData uri="http://schemas.openxmlformats.org/presentationml/2006/ole">
            <mc:AlternateContent xmlns:mc="http://schemas.openxmlformats.org/markup-compatibility/2006">
              <mc:Choice xmlns:v="urn:schemas-microsoft-com:vml" Requires="v">
                <p:oleObj name="Equation" r:id="rId4" imgW="698400" imgH="228600" progId="Equation.DSMT4">
                  <p:embed/>
                </p:oleObj>
              </mc:Choice>
              <mc:Fallback>
                <p:oleObj name="Equation" r:id="rId4" imgW="698400" imgH="228600" progId="Equation.DSMT4">
                  <p:embed/>
                  <p:pic>
                    <p:nvPicPr>
                      <p:cNvPr id="40" name="Object 39" descr="S subscript 0 colon">
                        <a:extLst>
                          <a:ext uri="{FF2B5EF4-FFF2-40B4-BE49-F238E27FC236}">
                            <a16:creationId xmlns:a16="http://schemas.microsoft.com/office/drawing/2014/main" id="{3A5D94A1-6B3E-C957-A84F-63F894DF61CB}"/>
                          </a:ext>
                        </a:extLst>
                      </p:cNvPr>
                      <p:cNvPicPr>
                        <a:picLocks noChangeAspect="1" noChangeArrowheads="1"/>
                      </p:cNvPicPr>
                      <p:nvPr/>
                    </p:nvPicPr>
                    <p:blipFill>
                      <a:blip r:embed="rId5"/>
                      <a:srcRect/>
                      <a:stretch>
                        <a:fillRect/>
                      </a:stretch>
                    </p:blipFill>
                    <p:spPr bwMode="auto">
                      <a:xfrm>
                        <a:off x="1455085" y="3892550"/>
                        <a:ext cx="1190625" cy="407988"/>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FC32D331-7102-8632-CF6B-0149949D6E22}"/>
              </a:ext>
            </a:extLst>
          </p:cNvPr>
          <p:cNvSpPr>
            <a:spLocks noGrp="1"/>
          </p:cNvSpPr>
          <p:nvPr>
            <p:ph sz="quarter" idx="12"/>
          </p:nvPr>
        </p:nvSpPr>
        <p:spPr>
          <a:xfrm>
            <a:off x="2717054" y="3878624"/>
            <a:ext cx="3060701" cy="374906"/>
          </a:xfrm>
        </p:spPr>
        <p:txBody>
          <a:bodyPr wrap="square" lIns="0" tIns="18000" rIns="0" bIns="18000" anchor="ctr" anchorCtr="0">
            <a:spAutoFit/>
          </a:bodyPr>
          <a:lstStyle/>
          <a:p>
            <a:pPr marL="0" indent="0">
              <a:buNone/>
            </a:pPr>
            <a:r>
              <a:rPr lang="en-US" sz="2200" noProof="0" dirty="0"/>
              <a:t>are connected in a delta</a:t>
            </a:r>
          </a:p>
        </p:txBody>
      </p:sp>
      <p:pic>
        <p:nvPicPr>
          <p:cNvPr id="31" name="Picture 2" descr="Check mark">
            <a:extLst>
              <a:ext uri="{FF2B5EF4-FFF2-40B4-BE49-F238E27FC236}">
                <a16:creationId xmlns:a16="http://schemas.microsoft.com/office/drawing/2014/main" id="{C0130745-FBF3-AA87-5C2B-D9753ABEC26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4787" y="4451036"/>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F49F10A9-3E7B-71E3-25D4-5CBF9CF6D3F8}"/>
              </a:ext>
            </a:extLst>
          </p:cNvPr>
          <p:cNvSpPr>
            <a:spLocks noGrp="1"/>
          </p:cNvSpPr>
          <p:nvPr>
            <p:ph sz="quarter" idx="13"/>
          </p:nvPr>
        </p:nvSpPr>
        <p:spPr>
          <a:xfrm>
            <a:off x="1113218" y="4343404"/>
            <a:ext cx="316706" cy="374906"/>
          </a:xfrm>
        </p:spPr>
        <p:txBody>
          <a:bodyPr wrap="square" lIns="0" tIns="18000" rIns="0" bIns="18000" anchor="ctr" anchorCtr="0">
            <a:spAutoFit/>
          </a:bodyPr>
          <a:lstStyle/>
          <a:p>
            <a:pPr marL="0" indent="0">
              <a:buNone/>
            </a:pPr>
            <a:r>
              <a:rPr lang="en-US" sz="2200" noProof="0" dirty="0">
                <a:solidFill>
                  <a:srgbClr val="007FA3"/>
                </a:solidFill>
              </a:rPr>
              <a:t>B.</a:t>
            </a:r>
          </a:p>
        </p:txBody>
      </p:sp>
      <p:graphicFrame>
        <p:nvGraphicFramePr>
          <p:cNvPr id="32" name="Object 31" descr="R subscript m Baseline, R subscript 3.&#10;">
            <a:extLst>
              <a:ext uri="{FF2B5EF4-FFF2-40B4-BE49-F238E27FC236}">
                <a16:creationId xmlns:a16="http://schemas.microsoft.com/office/drawing/2014/main" id="{9E21586C-1EB1-2520-9394-0FF7B0F4162F}"/>
              </a:ext>
            </a:extLst>
          </p:cNvPr>
          <p:cNvGraphicFramePr>
            <a:graphicFrameLocks noChangeAspect="1"/>
          </p:cNvGraphicFramePr>
          <p:nvPr>
            <p:extLst>
              <p:ext uri="{D42A27DB-BD31-4B8C-83A1-F6EECF244321}">
                <p14:modId xmlns:p14="http://schemas.microsoft.com/office/powerpoint/2010/main" val="4232925398"/>
              </p:ext>
            </p:extLst>
          </p:nvPr>
        </p:nvGraphicFramePr>
        <p:xfrm>
          <a:off x="1468345" y="4348163"/>
          <a:ext cx="800100" cy="406400"/>
        </p:xfrm>
        <a:graphic>
          <a:graphicData uri="http://schemas.openxmlformats.org/presentationml/2006/ole">
            <mc:AlternateContent xmlns:mc="http://schemas.openxmlformats.org/markup-compatibility/2006">
              <mc:Choice xmlns:v="urn:schemas-microsoft-com:vml" Requires="v">
                <p:oleObj name="Equation" r:id="rId7" imgW="469800" imgH="228600" progId="Equation.DSMT4">
                  <p:embed/>
                </p:oleObj>
              </mc:Choice>
              <mc:Fallback>
                <p:oleObj name="Equation" r:id="rId7" imgW="469800" imgH="228600" progId="Equation.DSMT4">
                  <p:embed/>
                  <p:pic>
                    <p:nvPicPr>
                      <p:cNvPr id="42" name="Object 41" descr="S subscript 0 colon">
                        <a:extLst>
                          <a:ext uri="{FF2B5EF4-FFF2-40B4-BE49-F238E27FC236}">
                            <a16:creationId xmlns:a16="http://schemas.microsoft.com/office/drawing/2014/main" id="{89B3CEBD-68CE-4EDB-8601-BBC7A76A7B2B}"/>
                          </a:ext>
                        </a:extLst>
                      </p:cNvPr>
                      <p:cNvPicPr>
                        <a:picLocks noChangeAspect="1" noChangeArrowheads="1"/>
                      </p:cNvPicPr>
                      <p:nvPr/>
                    </p:nvPicPr>
                    <p:blipFill>
                      <a:blip r:embed="rId8"/>
                      <a:srcRect/>
                      <a:stretch>
                        <a:fillRect/>
                      </a:stretch>
                    </p:blipFill>
                    <p:spPr bwMode="auto">
                      <a:xfrm>
                        <a:off x="1468345" y="4348163"/>
                        <a:ext cx="800100" cy="40640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545BFE36-ACF7-1D8D-41B6-39CDE4A3E0ED}"/>
              </a:ext>
            </a:extLst>
          </p:cNvPr>
          <p:cNvSpPr>
            <a:spLocks noGrp="1"/>
          </p:cNvSpPr>
          <p:nvPr>
            <p:ph sz="quarter" idx="14"/>
          </p:nvPr>
        </p:nvSpPr>
        <p:spPr>
          <a:xfrm>
            <a:off x="2342401" y="4357440"/>
            <a:ext cx="501405" cy="374906"/>
          </a:xfrm>
        </p:spPr>
        <p:txBody>
          <a:bodyPr wrap="square" lIns="0" tIns="18000" rIns="0" bIns="18000" anchor="ctr" anchorCtr="0">
            <a:spAutoFit/>
          </a:bodyPr>
          <a:lstStyle/>
          <a:p>
            <a:pPr marL="0" indent="0">
              <a:buNone/>
            </a:pPr>
            <a:r>
              <a:rPr lang="en-US" sz="2200" noProof="0" dirty="0"/>
              <a:t>and</a:t>
            </a:r>
          </a:p>
        </p:txBody>
      </p:sp>
      <p:graphicFrame>
        <p:nvGraphicFramePr>
          <p:cNvPr id="33" name="Object 32" descr="R subscript x.&#10;">
            <a:extLst>
              <a:ext uri="{FF2B5EF4-FFF2-40B4-BE49-F238E27FC236}">
                <a16:creationId xmlns:a16="http://schemas.microsoft.com/office/drawing/2014/main" id="{0E353C20-AAA0-CC28-A749-77518CC12D71}"/>
              </a:ext>
            </a:extLst>
          </p:cNvPr>
          <p:cNvGraphicFramePr>
            <a:graphicFrameLocks noChangeAspect="1"/>
          </p:cNvGraphicFramePr>
          <p:nvPr>
            <p:extLst>
              <p:ext uri="{D42A27DB-BD31-4B8C-83A1-F6EECF244321}">
                <p14:modId xmlns:p14="http://schemas.microsoft.com/office/powerpoint/2010/main" val="998408822"/>
              </p:ext>
            </p:extLst>
          </p:nvPr>
        </p:nvGraphicFramePr>
        <p:xfrm>
          <a:off x="2867337" y="4388166"/>
          <a:ext cx="346075" cy="406400"/>
        </p:xfrm>
        <a:graphic>
          <a:graphicData uri="http://schemas.openxmlformats.org/presentationml/2006/ole">
            <mc:AlternateContent xmlns:mc="http://schemas.openxmlformats.org/markup-compatibility/2006">
              <mc:Choice xmlns:v="urn:schemas-microsoft-com:vml" Requires="v">
                <p:oleObj name="Equation" r:id="rId9" imgW="203040" imgH="228600" progId="Equation.DSMT4">
                  <p:embed/>
                </p:oleObj>
              </mc:Choice>
              <mc:Fallback>
                <p:oleObj name="Equation" r:id="rId9" imgW="203040" imgH="228600" progId="Equation.DSMT4">
                  <p:embed/>
                  <p:pic>
                    <p:nvPicPr>
                      <p:cNvPr id="43" name="Object 42" descr="S subscript 0 colon">
                        <a:extLst>
                          <a:ext uri="{FF2B5EF4-FFF2-40B4-BE49-F238E27FC236}">
                            <a16:creationId xmlns:a16="http://schemas.microsoft.com/office/drawing/2014/main" id="{9FEFAE62-5E0F-9D4F-B60D-FE8DEEC2AD67}"/>
                          </a:ext>
                        </a:extLst>
                      </p:cNvPr>
                      <p:cNvPicPr>
                        <a:picLocks noChangeAspect="1" noChangeArrowheads="1"/>
                      </p:cNvPicPr>
                      <p:nvPr/>
                    </p:nvPicPr>
                    <p:blipFill>
                      <a:blip r:embed="rId10"/>
                      <a:srcRect/>
                      <a:stretch>
                        <a:fillRect/>
                      </a:stretch>
                    </p:blipFill>
                    <p:spPr bwMode="auto">
                      <a:xfrm>
                        <a:off x="2867337" y="4388166"/>
                        <a:ext cx="346075" cy="406400"/>
                      </a:xfrm>
                      <a:prstGeom prst="rect">
                        <a:avLst/>
                      </a:prstGeom>
                      <a:noFill/>
                    </p:spPr>
                  </p:pic>
                </p:oleObj>
              </mc:Fallback>
            </mc:AlternateContent>
          </a:graphicData>
        </a:graphic>
      </p:graphicFrame>
      <p:sp>
        <p:nvSpPr>
          <p:cNvPr id="8" name="Content Placeholder 7">
            <a:extLst>
              <a:ext uri="{FF2B5EF4-FFF2-40B4-BE49-F238E27FC236}">
                <a16:creationId xmlns:a16="http://schemas.microsoft.com/office/drawing/2014/main" id="{2EB4D297-78E9-92EE-C866-1883634B4FE0}"/>
              </a:ext>
            </a:extLst>
          </p:cNvPr>
          <p:cNvSpPr>
            <a:spLocks noGrp="1"/>
          </p:cNvSpPr>
          <p:nvPr>
            <p:ph sz="quarter" idx="15"/>
          </p:nvPr>
        </p:nvSpPr>
        <p:spPr>
          <a:xfrm>
            <a:off x="3261671" y="4357440"/>
            <a:ext cx="4759624" cy="374906"/>
          </a:xfrm>
        </p:spPr>
        <p:txBody>
          <a:bodyPr wrap="square" lIns="0" tIns="18000" rIns="0" bIns="18000" anchor="ctr" anchorCtr="0">
            <a:spAutoFit/>
          </a:bodyPr>
          <a:lstStyle/>
          <a:p>
            <a:pPr marL="0" indent="0">
              <a:buNone/>
            </a:pPr>
            <a:r>
              <a:rPr lang="en-US" sz="2200" noProof="0" dirty="0"/>
              <a:t>are connected in a wye</a:t>
            </a:r>
          </a:p>
        </p:txBody>
      </p:sp>
      <p:pic>
        <p:nvPicPr>
          <p:cNvPr id="34" name="Picture 4" descr="Cross mark">
            <a:extLst>
              <a:ext uri="{FF2B5EF4-FFF2-40B4-BE49-F238E27FC236}">
                <a16:creationId xmlns:a16="http://schemas.microsoft.com/office/drawing/2014/main" id="{43B696E9-9C2F-BEFD-A4A0-ECE76711C4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816" y="495514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C356804B-657E-2659-CC91-0C550426D652}"/>
              </a:ext>
            </a:extLst>
          </p:cNvPr>
          <p:cNvSpPr>
            <a:spLocks noGrp="1"/>
          </p:cNvSpPr>
          <p:nvPr>
            <p:ph sz="quarter" idx="16"/>
          </p:nvPr>
        </p:nvSpPr>
        <p:spPr>
          <a:xfrm>
            <a:off x="1113218" y="4892024"/>
            <a:ext cx="340396" cy="374906"/>
          </a:xfrm>
        </p:spPr>
        <p:txBody>
          <a:bodyPr wrap="square" lIns="0" tIns="18000" rIns="0" bIns="18000" anchor="ctr" anchorCtr="0">
            <a:spAutoFit/>
          </a:bodyPr>
          <a:lstStyle/>
          <a:p>
            <a:pPr marL="457200" indent="-457200">
              <a:buFont typeface="+mj-lt"/>
              <a:buAutoNum type="alphaUcPeriod" startAt="3"/>
            </a:pPr>
            <a:r>
              <a:rPr lang="en-US" sz="2200" noProof="0" dirty="0"/>
              <a:t> </a:t>
            </a:r>
          </a:p>
        </p:txBody>
      </p:sp>
      <p:graphicFrame>
        <p:nvGraphicFramePr>
          <p:cNvPr id="37" name="Object 36" descr="R subscript m Baseline, R subscript 3.&#10;">
            <a:extLst>
              <a:ext uri="{FF2B5EF4-FFF2-40B4-BE49-F238E27FC236}">
                <a16:creationId xmlns:a16="http://schemas.microsoft.com/office/drawing/2014/main" id="{2BFC8C73-0A29-69A1-7CCB-1A7467C595BC}"/>
              </a:ext>
            </a:extLst>
          </p:cNvPr>
          <p:cNvGraphicFramePr>
            <a:graphicFrameLocks noChangeAspect="1"/>
          </p:cNvGraphicFramePr>
          <p:nvPr>
            <p:extLst>
              <p:ext uri="{D42A27DB-BD31-4B8C-83A1-F6EECF244321}">
                <p14:modId xmlns:p14="http://schemas.microsoft.com/office/powerpoint/2010/main" val="3109032834"/>
              </p:ext>
            </p:extLst>
          </p:nvPr>
        </p:nvGraphicFramePr>
        <p:xfrm>
          <a:off x="1486275" y="4892675"/>
          <a:ext cx="800100" cy="406400"/>
        </p:xfrm>
        <a:graphic>
          <a:graphicData uri="http://schemas.openxmlformats.org/presentationml/2006/ole">
            <mc:AlternateContent xmlns:mc="http://schemas.openxmlformats.org/markup-compatibility/2006">
              <mc:Choice xmlns:v="urn:schemas-microsoft-com:vml" Requires="v">
                <p:oleObj name="Equation" r:id="rId11" imgW="469800" imgH="228600" progId="Equation.DSMT4">
                  <p:embed/>
                </p:oleObj>
              </mc:Choice>
              <mc:Fallback>
                <p:oleObj name="Equation" r:id="rId11" imgW="469800" imgH="228600" progId="Equation.DSMT4">
                  <p:embed/>
                  <p:pic>
                    <p:nvPicPr>
                      <p:cNvPr id="45" name="Object 44" descr="S subscript 0 colon">
                        <a:extLst>
                          <a:ext uri="{FF2B5EF4-FFF2-40B4-BE49-F238E27FC236}">
                            <a16:creationId xmlns:a16="http://schemas.microsoft.com/office/drawing/2014/main" id="{CC3E114B-3870-E627-3C1C-AE97178C6B39}"/>
                          </a:ext>
                        </a:extLst>
                      </p:cNvPr>
                      <p:cNvPicPr>
                        <a:picLocks noChangeAspect="1" noChangeArrowheads="1"/>
                      </p:cNvPicPr>
                      <p:nvPr/>
                    </p:nvPicPr>
                    <p:blipFill>
                      <a:blip r:embed="rId12"/>
                      <a:srcRect/>
                      <a:stretch>
                        <a:fillRect/>
                      </a:stretch>
                    </p:blipFill>
                    <p:spPr bwMode="auto">
                      <a:xfrm>
                        <a:off x="1486275" y="4892675"/>
                        <a:ext cx="800100" cy="406400"/>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9C8DEB14-18CA-82A2-61CA-5EB960575ABD}"/>
              </a:ext>
            </a:extLst>
          </p:cNvPr>
          <p:cNvSpPr>
            <a:spLocks noGrp="1"/>
          </p:cNvSpPr>
          <p:nvPr>
            <p:ph sz="quarter" idx="17"/>
          </p:nvPr>
        </p:nvSpPr>
        <p:spPr>
          <a:xfrm>
            <a:off x="2348556" y="4892802"/>
            <a:ext cx="489095" cy="374906"/>
          </a:xfrm>
        </p:spPr>
        <p:txBody>
          <a:bodyPr wrap="square" lIns="0" tIns="18000" rIns="0" bIns="18000" anchor="ctr" anchorCtr="0">
            <a:spAutoFit/>
          </a:bodyPr>
          <a:lstStyle/>
          <a:p>
            <a:pPr marL="0" indent="0">
              <a:buNone/>
            </a:pPr>
            <a:r>
              <a:rPr lang="en-US" sz="2200" noProof="0" dirty="0"/>
              <a:t>and</a:t>
            </a:r>
          </a:p>
        </p:txBody>
      </p:sp>
      <p:graphicFrame>
        <p:nvGraphicFramePr>
          <p:cNvPr id="38" name="Object 37" descr="R subscript x.&#10;">
            <a:extLst>
              <a:ext uri="{FF2B5EF4-FFF2-40B4-BE49-F238E27FC236}">
                <a16:creationId xmlns:a16="http://schemas.microsoft.com/office/drawing/2014/main" id="{DD81D542-B0D4-A95E-B3DA-DC500077FF7F}"/>
              </a:ext>
            </a:extLst>
          </p:cNvPr>
          <p:cNvGraphicFramePr>
            <a:graphicFrameLocks noChangeAspect="1"/>
          </p:cNvGraphicFramePr>
          <p:nvPr>
            <p:extLst>
              <p:ext uri="{D42A27DB-BD31-4B8C-83A1-F6EECF244321}">
                <p14:modId xmlns:p14="http://schemas.microsoft.com/office/powerpoint/2010/main" val="2768557546"/>
              </p:ext>
            </p:extLst>
          </p:nvPr>
        </p:nvGraphicFramePr>
        <p:xfrm>
          <a:off x="2873731" y="4905841"/>
          <a:ext cx="346075" cy="406400"/>
        </p:xfrm>
        <a:graphic>
          <a:graphicData uri="http://schemas.openxmlformats.org/presentationml/2006/ole">
            <mc:AlternateContent xmlns:mc="http://schemas.openxmlformats.org/markup-compatibility/2006">
              <mc:Choice xmlns:v="urn:schemas-microsoft-com:vml" Requires="v">
                <p:oleObj name="Equation" r:id="rId9" imgW="203040" imgH="228600" progId="Equation.DSMT4">
                  <p:embed/>
                </p:oleObj>
              </mc:Choice>
              <mc:Fallback>
                <p:oleObj name="Equation" r:id="rId9" imgW="203040" imgH="228600" progId="Equation.DSMT4">
                  <p:embed/>
                  <p:pic>
                    <p:nvPicPr>
                      <p:cNvPr id="46" name="Object 45" descr="S subscript 0 colon">
                        <a:extLst>
                          <a:ext uri="{FF2B5EF4-FFF2-40B4-BE49-F238E27FC236}">
                            <a16:creationId xmlns:a16="http://schemas.microsoft.com/office/drawing/2014/main" id="{8D588DBC-630C-07A5-FB8C-566389407B72}"/>
                          </a:ext>
                        </a:extLst>
                      </p:cNvPr>
                      <p:cNvPicPr>
                        <a:picLocks noChangeAspect="1" noChangeArrowheads="1"/>
                      </p:cNvPicPr>
                      <p:nvPr/>
                    </p:nvPicPr>
                    <p:blipFill>
                      <a:blip r:embed="rId10"/>
                      <a:srcRect/>
                      <a:stretch>
                        <a:fillRect/>
                      </a:stretch>
                    </p:blipFill>
                    <p:spPr bwMode="auto">
                      <a:xfrm>
                        <a:off x="2873731" y="4905841"/>
                        <a:ext cx="346075" cy="406400"/>
                      </a:xfrm>
                      <a:prstGeom prst="rect">
                        <a:avLst/>
                      </a:prstGeom>
                      <a:noFill/>
                    </p:spPr>
                  </p:pic>
                </p:oleObj>
              </mc:Fallback>
            </mc:AlternateContent>
          </a:graphicData>
        </a:graphic>
      </p:graphicFrame>
      <p:sp>
        <p:nvSpPr>
          <p:cNvPr id="11" name="Content Placeholder 10">
            <a:extLst>
              <a:ext uri="{FF2B5EF4-FFF2-40B4-BE49-F238E27FC236}">
                <a16:creationId xmlns:a16="http://schemas.microsoft.com/office/drawing/2014/main" id="{20A6D447-2890-6A15-3107-D84E6C223CD0}"/>
              </a:ext>
            </a:extLst>
          </p:cNvPr>
          <p:cNvSpPr>
            <a:spLocks noGrp="1"/>
          </p:cNvSpPr>
          <p:nvPr>
            <p:ph sz="quarter" idx="18"/>
          </p:nvPr>
        </p:nvSpPr>
        <p:spPr>
          <a:xfrm>
            <a:off x="3291993" y="4880776"/>
            <a:ext cx="3011877" cy="374906"/>
          </a:xfrm>
        </p:spPr>
        <p:txBody>
          <a:bodyPr wrap="square" lIns="0" tIns="18000" rIns="0" bIns="18000" anchor="ctr" anchorCtr="0">
            <a:spAutoFit/>
          </a:bodyPr>
          <a:lstStyle/>
          <a:p>
            <a:pPr marL="0" indent="0">
              <a:buNone/>
            </a:pPr>
            <a:r>
              <a:rPr lang="en-US" sz="2200" noProof="0" dirty="0"/>
              <a:t>are connected in a delta</a:t>
            </a:r>
          </a:p>
        </p:txBody>
      </p:sp>
      <p:pic>
        <p:nvPicPr>
          <p:cNvPr id="39" name="Picture 4" descr="Cross mark">
            <a:extLst>
              <a:ext uri="{FF2B5EF4-FFF2-40B4-BE49-F238E27FC236}">
                <a16:creationId xmlns:a16="http://schemas.microsoft.com/office/drawing/2014/main" id="{EB4E8AE9-CECE-F3A0-E721-E7BBD08A7D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341" y="548930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4A372B93-C115-DA7E-1B84-D9E08E5D4A6A}"/>
              </a:ext>
            </a:extLst>
          </p:cNvPr>
          <p:cNvSpPr>
            <a:spLocks noGrp="1"/>
          </p:cNvSpPr>
          <p:nvPr>
            <p:ph sz="quarter" idx="19"/>
          </p:nvPr>
        </p:nvSpPr>
        <p:spPr>
          <a:xfrm>
            <a:off x="1113218" y="5429649"/>
            <a:ext cx="340396" cy="374906"/>
          </a:xfrm>
        </p:spPr>
        <p:txBody>
          <a:bodyPr wrap="square" lIns="0" tIns="18000" rIns="0" bIns="18000" anchor="ctr" anchorCtr="0">
            <a:spAutoFit/>
          </a:bodyPr>
          <a:lstStyle/>
          <a:p>
            <a:pPr marL="0" indent="0">
              <a:buNone/>
            </a:pPr>
            <a:r>
              <a:rPr lang="en-US" sz="2200" noProof="0" dirty="0">
                <a:solidFill>
                  <a:srgbClr val="007FA3"/>
                </a:solidFill>
              </a:rPr>
              <a:t>D.</a:t>
            </a:r>
          </a:p>
        </p:txBody>
      </p:sp>
      <p:graphicFrame>
        <p:nvGraphicFramePr>
          <p:cNvPr id="40" name="Object 39" descr="R subscript m Baseline, R subscript 1.&#10;">
            <a:extLst>
              <a:ext uri="{FF2B5EF4-FFF2-40B4-BE49-F238E27FC236}">
                <a16:creationId xmlns:a16="http://schemas.microsoft.com/office/drawing/2014/main" id="{54CF5B37-1238-E801-8C7E-A84C37D77D74}"/>
              </a:ext>
            </a:extLst>
          </p:cNvPr>
          <p:cNvGraphicFramePr>
            <a:graphicFrameLocks noChangeAspect="1"/>
          </p:cNvGraphicFramePr>
          <p:nvPr>
            <p:extLst>
              <p:ext uri="{D42A27DB-BD31-4B8C-83A1-F6EECF244321}">
                <p14:modId xmlns:p14="http://schemas.microsoft.com/office/powerpoint/2010/main" val="2322483091"/>
              </p:ext>
            </p:extLst>
          </p:nvPr>
        </p:nvGraphicFramePr>
        <p:xfrm>
          <a:off x="1503085" y="5462588"/>
          <a:ext cx="779463" cy="406400"/>
        </p:xfrm>
        <a:graphic>
          <a:graphicData uri="http://schemas.openxmlformats.org/presentationml/2006/ole">
            <mc:AlternateContent xmlns:mc="http://schemas.openxmlformats.org/markup-compatibility/2006">
              <mc:Choice xmlns:v="urn:schemas-microsoft-com:vml" Requires="v">
                <p:oleObj name="Equation" r:id="rId13" imgW="457200" imgH="228600" progId="Equation.DSMT4">
                  <p:embed/>
                </p:oleObj>
              </mc:Choice>
              <mc:Fallback>
                <p:oleObj name="Equation" r:id="rId13" imgW="457200" imgH="228600" progId="Equation.DSMT4">
                  <p:embed/>
                  <p:pic>
                    <p:nvPicPr>
                      <p:cNvPr id="48" name="Object 47" descr="S subscript 0 colon">
                        <a:extLst>
                          <a:ext uri="{FF2B5EF4-FFF2-40B4-BE49-F238E27FC236}">
                            <a16:creationId xmlns:a16="http://schemas.microsoft.com/office/drawing/2014/main" id="{82C185F5-5679-267C-A367-9FE22D1113EE}"/>
                          </a:ext>
                        </a:extLst>
                      </p:cNvPr>
                      <p:cNvPicPr>
                        <a:picLocks noChangeAspect="1" noChangeArrowheads="1"/>
                      </p:cNvPicPr>
                      <p:nvPr/>
                    </p:nvPicPr>
                    <p:blipFill>
                      <a:blip r:embed="rId14"/>
                      <a:srcRect/>
                      <a:stretch>
                        <a:fillRect/>
                      </a:stretch>
                    </p:blipFill>
                    <p:spPr bwMode="auto">
                      <a:xfrm>
                        <a:off x="1503085" y="5462588"/>
                        <a:ext cx="779463" cy="406400"/>
                      </a:xfrm>
                      <a:prstGeom prst="rect">
                        <a:avLst/>
                      </a:prstGeom>
                      <a:noFill/>
                    </p:spPr>
                  </p:pic>
                </p:oleObj>
              </mc:Fallback>
            </mc:AlternateContent>
          </a:graphicData>
        </a:graphic>
      </p:graphicFrame>
      <p:sp>
        <p:nvSpPr>
          <p:cNvPr id="13" name="Content Placeholder 12">
            <a:extLst>
              <a:ext uri="{FF2B5EF4-FFF2-40B4-BE49-F238E27FC236}">
                <a16:creationId xmlns:a16="http://schemas.microsoft.com/office/drawing/2014/main" id="{F22F2D00-11E4-258C-70A0-36B3DF74807F}"/>
              </a:ext>
            </a:extLst>
          </p:cNvPr>
          <p:cNvSpPr>
            <a:spLocks noGrp="1"/>
          </p:cNvSpPr>
          <p:nvPr>
            <p:ph sz="quarter" idx="20"/>
          </p:nvPr>
        </p:nvSpPr>
        <p:spPr>
          <a:xfrm>
            <a:off x="2362205" y="5436934"/>
            <a:ext cx="489095" cy="374906"/>
          </a:xfrm>
        </p:spPr>
        <p:txBody>
          <a:bodyPr wrap="square" lIns="0" tIns="18000" rIns="0" bIns="18000" anchor="ctr" anchorCtr="0">
            <a:spAutoFit/>
          </a:bodyPr>
          <a:lstStyle/>
          <a:p>
            <a:pPr marL="0" indent="0">
              <a:buNone/>
            </a:pPr>
            <a:r>
              <a:rPr lang="en-US" sz="2200" noProof="0" dirty="0"/>
              <a:t>and</a:t>
            </a:r>
          </a:p>
        </p:txBody>
      </p:sp>
      <p:graphicFrame>
        <p:nvGraphicFramePr>
          <p:cNvPr id="41" name="Object 40" descr="R subscript 3.">
            <a:extLst>
              <a:ext uri="{FF2B5EF4-FFF2-40B4-BE49-F238E27FC236}">
                <a16:creationId xmlns:a16="http://schemas.microsoft.com/office/drawing/2014/main" id="{A661012E-E7AD-A675-525A-9F0AC0C18843}"/>
              </a:ext>
            </a:extLst>
          </p:cNvPr>
          <p:cNvGraphicFramePr>
            <a:graphicFrameLocks noChangeAspect="1"/>
          </p:cNvGraphicFramePr>
          <p:nvPr>
            <p:extLst>
              <p:ext uri="{D42A27DB-BD31-4B8C-83A1-F6EECF244321}">
                <p14:modId xmlns:p14="http://schemas.microsoft.com/office/powerpoint/2010/main" val="1369916367"/>
              </p:ext>
            </p:extLst>
          </p:nvPr>
        </p:nvGraphicFramePr>
        <p:xfrm>
          <a:off x="2871994" y="5444757"/>
          <a:ext cx="346075" cy="406400"/>
        </p:xfrm>
        <a:graphic>
          <a:graphicData uri="http://schemas.openxmlformats.org/presentationml/2006/ole">
            <mc:AlternateContent xmlns:mc="http://schemas.openxmlformats.org/markup-compatibility/2006">
              <mc:Choice xmlns:v="urn:schemas-microsoft-com:vml" Requires="v">
                <p:oleObj name="Equation" r:id="rId15" imgW="203040" imgH="228600" progId="Equation.DSMT4">
                  <p:embed/>
                </p:oleObj>
              </mc:Choice>
              <mc:Fallback>
                <p:oleObj name="Equation" r:id="rId15" imgW="203040" imgH="228600" progId="Equation.DSMT4">
                  <p:embed/>
                  <p:pic>
                    <p:nvPicPr>
                      <p:cNvPr id="49" name="Object 48" descr="S subscript 0 colon">
                        <a:extLst>
                          <a:ext uri="{FF2B5EF4-FFF2-40B4-BE49-F238E27FC236}">
                            <a16:creationId xmlns:a16="http://schemas.microsoft.com/office/drawing/2014/main" id="{B6D0BE5E-7BEB-3F94-9270-002950952B62}"/>
                          </a:ext>
                        </a:extLst>
                      </p:cNvPr>
                      <p:cNvPicPr>
                        <a:picLocks noChangeAspect="1" noChangeArrowheads="1"/>
                      </p:cNvPicPr>
                      <p:nvPr/>
                    </p:nvPicPr>
                    <p:blipFill>
                      <a:blip r:embed="rId16"/>
                      <a:srcRect/>
                      <a:stretch>
                        <a:fillRect/>
                      </a:stretch>
                    </p:blipFill>
                    <p:spPr bwMode="auto">
                      <a:xfrm>
                        <a:off x="2871994" y="5444757"/>
                        <a:ext cx="346075" cy="406400"/>
                      </a:xfrm>
                      <a:prstGeom prst="rect">
                        <a:avLst/>
                      </a:prstGeom>
                      <a:noFill/>
                    </p:spPr>
                  </p:pic>
                </p:oleObj>
              </mc:Fallback>
            </mc:AlternateContent>
          </a:graphicData>
        </a:graphic>
      </p:graphicFrame>
      <p:sp>
        <p:nvSpPr>
          <p:cNvPr id="14" name="Content Placeholder 13">
            <a:extLst>
              <a:ext uri="{FF2B5EF4-FFF2-40B4-BE49-F238E27FC236}">
                <a16:creationId xmlns:a16="http://schemas.microsoft.com/office/drawing/2014/main" id="{E4DEFEDD-6342-5FB6-8ECA-31A0A0ED09EF}"/>
              </a:ext>
            </a:extLst>
          </p:cNvPr>
          <p:cNvSpPr>
            <a:spLocks noGrp="1"/>
          </p:cNvSpPr>
          <p:nvPr>
            <p:ph sz="quarter" idx="21"/>
          </p:nvPr>
        </p:nvSpPr>
        <p:spPr>
          <a:xfrm>
            <a:off x="3318888" y="5439824"/>
            <a:ext cx="2883406" cy="374906"/>
          </a:xfrm>
        </p:spPr>
        <p:txBody>
          <a:bodyPr wrap="square" lIns="0" tIns="18000" rIns="0" bIns="18000" anchor="ctr" anchorCtr="0">
            <a:spAutoFit/>
          </a:bodyPr>
          <a:lstStyle/>
          <a:p>
            <a:pPr marL="0" indent="0">
              <a:buNone/>
            </a:pPr>
            <a:r>
              <a:rPr lang="en-US" sz="2200" noProof="0" dirty="0"/>
              <a:t>are </a:t>
            </a:r>
            <a:r>
              <a:rPr lang="en-US" altLang="en-US" sz="2200" noProof="0" dirty="0"/>
              <a:t>connected in a wye</a:t>
            </a:r>
            <a:endParaRPr lang="en-US" sz="2200" noProof="0" dirty="0"/>
          </a:p>
        </p:txBody>
      </p:sp>
      <p:pic>
        <p:nvPicPr>
          <p:cNvPr id="42" name="Picture 4" descr="Cross mark">
            <a:extLst>
              <a:ext uri="{FF2B5EF4-FFF2-40B4-BE49-F238E27FC236}">
                <a16:creationId xmlns:a16="http://schemas.microsoft.com/office/drawing/2014/main" id="{8D0EAF45-1987-E739-08F9-7DCA802A98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980" y="596026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Content Placeholder 14">
            <a:extLst>
              <a:ext uri="{FF2B5EF4-FFF2-40B4-BE49-F238E27FC236}">
                <a16:creationId xmlns:a16="http://schemas.microsoft.com/office/drawing/2014/main" id="{62813DD2-17F1-BD4F-D29B-35F4C12366F9}"/>
              </a:ext>
            </a:extLst>
          </p:cNvPr>
          <p:cNvSpPr>
            <a:spLocks noGrp="1"/>
          </p:cNvSpPr>
          <p:nvPr>
            <p:ph sz="quarter" idx="22"/>
          </p:nvPr>
        </p:nvSpPr>
        <p:spPr>
          <a:xfrm>
            <a:off x="1113218" y="5929450"/>
            <a:ext cx="282472" cy="374906"/>
          </a:xfrm>
        </p:spPr>
        <p:txBody>
          <a:bodyPr lIns="0" tIns="18000" rIns="0" bIns="18000" anchor="ctr" anchorCtr="0">
            <a:spAutoFit/>
          </a:bodyPr>
          <a:lstStyle/>
          <a:p>
            <a:pPr marL="0" indent="0">
              <a:buNone/>
            </a:pPr>
            <a:r>
              <a:rPr lang="en-US" sz="2200" noProof="0" dirty="0">
                <a:solidFill>
                  <a:srgbClr val="007FA3"/>
                </a:solidFill>
              </a:rPr>
              <a:t>E.</a:t>
            </a:r>
          </a:p>
        </p:txBody>
      </p:sp>
      <p:graphicFrame>
        <p:nvGraphicFramePr>
          <p:cNvPr id="43" name="Object 42" descr="R subscript m Baseline, R subscript 2.&#10;">
            <a:extLst>
              <a:ext uri="{FF2B5EF4-FFF2-40B4-BE49-F238E27FC236}">
                <a16:creationId xmlns:a16="http://schemas.microsoft.com/office/drawing/2014/main" id="{C620569B-8846-6EDC-EB45-82BE45BBA0BC}"/>
              </a:ext>
            </a:extLst>
          </p:cNvPr>
          <p:cNvGraphicFramePr>
            <a:graphicFrameLocks noChangeAspect="1"/>
          </p:cNvGraphicFramePr>
          <p:nvPr>
            <p:extLst>
              <p:ext uri="{D42A27DB-BD31-4B8C-83A1-F6EECF244321}">
                <p14:modId xmlns:p14="http://schemas.microsoft.com/office/powerpoint/2010/main" val="4148250110"/>
              </p:ext>
            </p:extLst>
          </p:nvPr>
        </p:nvGraphicFramePr>
        <p:xfrm>
          <a:off x="1457233" y="5932488"/>
          <a:ext cx="801687" cy="406400"/>
        </p:xfrm>
        <a:graphic>
          <a:graphicData uri="http://schemas.openxmlformats.org/presentationml/2006/ole">
            <mc:AlternateContent xmlns:mc="http://schemas.openxmlformats.org/markup-compatibility/2006">
              <mc:Choice xmlns:v="urn:schemas-microsoft-com:vml" Requires="v">
                <p:oleObj name="Equation" r:id="rId17" imgW="469800" imgH="228600" progId="Equation.DSMT4">
                  <p:embed/>
                </p:oleObj>
              </mc:Choice>
              <mc:Fallback>
                <p:oleObj name="Equation" r:id="rId17" imgW="469800" imgH="228600" progId="Equation.DSMT4">
                  <p:embed/>
                  <p:pic>
                    <p:nvPicPr>
                      <p:cNvPr id="56" name="Object 55" descr="S subscript 0 colon">
                        <a:extLst>
                          <a:ext uri="{FF2B5EF4-FFF2-40B4-BE49-F238E27FC236}">
                            <a16:creationId xmlns:a16="http://schemas.microsoft.com/office/drawing/2014/main" id="{57A36F93-F890-5D7B-9D18-52E6460692D1}"/>
                          </a:ext>
                        </a:extLst>
                      </p:cNvPr>
                      <p:cNvPicPr>
                        <a:picLocks noChangeAspect="1" noChangeArrowheads="1"/>
                      </p:cNvPicPr>
                      <p:nvPr/>
                    </p:nvPicPr>
                    <p:blipFill>
                      <a:blip r:embed="rId18"/>
                      <a:srcRect/>
                      <a:stretch>
                        <a:fillRect/>
                      </a:stretch>
                    </p:blipFill>
                    <p:spPr bwMode="auto">
                      <a:xfrm>
                        <a:off x="1457233" y="5932488"/>
                        <a:ext cx="801687" cy="406400"/>
                      </a:xfrm>
                      <a:prstGeom prst="rect">
                        <a:avLst/>
                      </a:prstGeom>
                      <a:noFill/>
                    </p:spPr>
                  </p:pic>
                </p:oleObj>
              </mc:Fallback>
            </mc:AlternateContent>
          </a:graphicData>
        </a:graphic>
      </p:graphicFrame>
      <p:sp>
        <p:nvSpPr>
          <p:cNvPr id="16" name="Content Placeholder 15">
            <a:extLst>
              <a:ext uri="{FF2B5EF4-FFF2-40B4-BE49-F238E27FC236}">
                <a16:creationId xmlns:a16="http://schemas.microsoft.com/office/drawing/2014/main" id="{AD8137BD-36B5-606A-39BC-3ADC2D39FFF8}"/>
              </a:ext>
            </a:extLst>
          </p:cNvPr>
          <p:cNvSpPr>
            <a:spLocks noGrp="1"/>
          </p:cNvSpPr>
          <p:nvPr>
            <p:ph sz="quarter" idx="23"/>
          </p:nvPr>
        </p:nvSpPr>
        <p:spPr>
          <a:xfrm>
            <a:off x="2308415" y="5934393"/>
            <a:ext cx="529236" cy="374906"/>
          </a:xfrm>
        </p:spPr>
        <p:txBody>
          <a:bodyPr wrap="square" lIns="0" tIns="18000" rIns="0" bIns="18000" anchor="ctr" anchorCtr="0">
            <a:spAutoFit/>
          </a:bodyPr>
          <a:lstStyle/>
          <a:p>
            <a:pPr marL="0" indent="0">
              <a:buNone/>
            </a:pPr>
            <a:r>
              <a:rPr lang="en-US" sz="2200" noProof="0" dirty="0"/>
              <a:t>and</a:t>
            </a:r>
          </a:p>
        </p:txBody>
      </p:sp>
      <p:graphicFrame>
        <p:nvGraphicFramePr>
          <p:cNvPr id="44" name="Object 43" descr="R subscript x.&#10;">
            <a:extLst>
              <a:ext uri="{FF2B5EF4-FFF2-40B4-BE49-F238E27FC236}">
                <a16:creationId xmlns:a16="http://schemas.microsoft.com/office/drawing/2014/main" id="{81AE420B-9B82-D656-D03D-A39F92458DCB}"/>
              </a:ext>
            </a:extLst>
          </p:cNvPr>
          <p:cNvGraphicFramePr>
            <a:graphicFrameLocks noChangeAspect="1"/>
          </p:cNvGraphicFramePr>
          <p:nvPr>
            <p:extLst>
              <p:ext uri="{D42A27DB-BD31-4B8C-83A1-F6EECF244321}">
                <p14:modId xmlns:p14="http://schemas.microsoft.com/office/powerpoint/2010/main" val="3203673054"/>
              </p:ext>
            </p:extLst>
          </p:nvPr>
        </p:nvGraphicFramePr>
        <p:xfrm>
          <a:off x="2882464" y="5931020"/>
          <a:ext cx="346075" cy="406400"/>
        </p:xfrm>
        <a:graphic>
          <a:graphicData uri="http://schemas.openxmlformats.org/presentationml/2006/ole">
            <mc:AlternateContent xmlns:mc="http://schemas.openxmlformats.org/markup-compatibility/2006">
              <mc:Choice xmlns:v="urn:schemas-microsoft-com:vml" Requires="v">
                <p:oleObj name="Equation" r:id="rId9" imgW="203040" imgH="228600" progId="Equation.DSMT4">
                  <p:embed/>
                </p:oleObj>
              </mc:Choice>
              <mc:Fallback>
                <p:oleObj name="Equation" r:id="rId9" imgW="203040" imgH="228600" progId="Equation.DSMT4">
                  <p:embed/>
                  <p:pic>
                    <p:nvPicPr>
                      <p:cNvPr id="57" name="Object 56" descr="S subscript 0 colon">
                        <a:extLst>
                          <a:ext uri="{FF2B5EF4-FFF2-40B4-BE49-F238E27FC236}">
                            <a16:creationId xmlns:a16="http://schemas.microsoft.com/office/drawing/2014/main" id="{5B45BA87-2239-33B9-09C7-888475C79A90}"/>
                          </a:ext>
                        </a:extLst>
                      </p:cNvPr>
                      <p:cNvPicPr>
                        <a:picLocks noChangeAspect="1" noChangeArrowheads="1"/>
                      </p:cNvPicPr>
                      <p:nvPr/>
                    </p:nvPicPr>
                    <p:blipFill>
                      <a:blip r:embed="rId10"/>
                      <a:srcRect/>
                      <a:stretch>
                        <a:fillRect/>
                      </a:stretch>
                    </p:blipFill>
                    <p:spPr bwMode="auto">
                      <a:xfrm>
                        <a:off x="2882464" y="5931020"/>
                        <a:ext cx="346075" cy="406400"/>
                      </a:xfrm>
                      <a:prstGeom prst="rect">
                        <a:avLst/>
                      </a:prstGeom>
                      <a:noFill/>
                    </p:spPr>
                  </p:pic>
                </p:oleObj>
              </mc:Fallback>
            </mc:AlternateContent>
          </a:graphicData>
        </a:graphic>
      </p:graphicFrame>
      <p:sp>
        <p:nvSpPr>
          <p:cNvPr id="17" name="Content Placeholder 16">
            <a:extLst>
              <a:ext uri="{FF2B5EF4-FFF2-40B4-BE49-F238E27FC236}">
                <a16:creationId xmlns:a16="http://schemas.microsoft.com/office/drawing/2014/main" id="{3621E7C1-A775-F3AC-291D-3DADB09AEA56}"/>
              </a:ext>
            </a:extLst>
          </p:cNvPr>
          <p:cNvSpPr>
            <a:spLocks noGrp="1"/>
          </p:cNvSpPr>
          <p:nvPr>
            <p:ph sz="quarter" idx="24"/>
          </p:nvPr>
        </p:nvSpPr>
        <p:spPr>
          <a:xfrm>
            <a:off x="3354746" y="5913516"/>
            <a:ext cx="2883406" cy="374906"/>
          </a:xfrm>
        </p:spPr>
        <p:txBody>
          <a:bodyPr wrap="square" lIns="0" tIns="18000" rIns="0" bIns="18000" anchor="ctr" anchorCtr="0">
            <a:spAutoFit/>
          </a:bodyPr>
          <a:lstStyle/>
          <a:p>
            <a:pPr marL="0" indent="0">
              <a:buNone/>
            </a:pPr>
            <a:r>
              <a:rPr lang="en-US" sz="2200" noProof="0" dirty="0"/>
              <a:t>are </a:t>
            </a:r>
            <a:r>
              <a:rPr lang="en-US" altLang="en-US" sz="2200" noProof="0" dirty="0"/>
              <a:t>connected in a wye</a:t>
            </a:r>
            <a:endParaRPr lang="en-US" sz="2200" noProof="0" dirty="0"/>
          </a:p>
        </p:txBody>
      </p:sp>
    </p:spTree>
    <p:extLst>
      <p:ext uri="{BB962C8B-B14F-4D97-AF65-F5344CB8AC3E}">
        <p14:creationId xmlns:p14="http://schemas.microsoft.com/office/powerpoint/2010/main" val="1303436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C10E6C55-44DF-1D26-8D0C-464CC059B971}"/>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(20 of 22)</a:t>
            </a:r>
          </a:p>
        </p:txBody>
      </p:sp>
      <p:sp>
        <p:nvSpPr>
          <p:cNvPr id="3" name="Content Placeholder 2">
            <a:extLst>
              <a:ext uri="{FF2B5EF4-FFF2-40B4-BE49-F238E27FC236}">
                <a16:creationId xmlns:a16="http://schemas.microsoft.com/office/drawing/2014/main" id="{A80D4E3B-1F12-7343-49D4-4115A503E402}"/>
              </a:ext>
            </a:extLst>
          </p:cNvPr>
          <p:cNvSpPr>
            <a:spLocks noGrp="1"/>
          </p:cNvSpPr>
          <p:nvPr>
            <p:ph sz="quarter" idx="10"/>
          </p:nvPr>
        </p:nvSpPr>
        <p:spPr>
          <a:xfrm>
            <a:off x="408974" y="1380376"/>
            <a:ext cx="8271476" cy="1052014"/>
          </a:xfrm>
        </p:spPr>
        <p:txBody>
          <a:bodyPr wrap="square" lIns="0" tIns="18000" rIns="0" bIns="18000" anchor="ctr" anchorCtr="0">
            <a:spAutoFit/>
          </a:bodyPr>
          <a:lstStyle/>
          <a:p>
            <a:pPr marL="0" indent="0">
              <a:buNone/>
            </a:pPr>
            <a:r>
              <a:rPr lang="en-US" altLang="en-US" sz="2200" noProof="0" dirty="0"/>
              <a:t>Delta-to-</a:t>
            </a:r>
            <a:r>
              <a:rPr lang="en-US" altLang="en-US" sz="2200" noProof="0" dirty="0" err="1"/>
              <a:t>Wye</a:t>
            </a:r>
            <a:r>
              <a:rPr lang="en-US" altLang="en-US" sz="2200" noProof="0" dirty="0"/>
              <a:t> (Pi-to-Tee) Equivalent Circuits</a:t>
            </a:r>
            <a:br>
              <a:rPr lang="en-US" altLang="en-US" sz="2200" noProof="0" dirty="0"/>
            </a:br>
            <a:r>
              <a:rPr lang="en-US" altLang="en-US" sz="2200" noProof="0" dirty="0"/>
              <a:t>A delta-connected configuration can be replaced by an equivalent wye-connected configuration, and vice versa.</a:t>
            </a:r>
          </a:p>
        </p:txBody>
      </p:sp>
      <p:pic>
        <p:nvPicPr>
          <p:cNvPr id="26" name="Picture 25" descr="A circuit diagram with a delta connection with R sub a, R sub b, and R sub c connected in series.">
            <a:extLst>
              <a:ext uri="{FF2B5EF4-FFF2-40B4-BE49-F238E27FC236}">
                <a16:creationId xmlns:a16="http://schemas.microsoft.com/office/drawing/2014/main" id="{F48040F5-9CC2-DD87-E230-3472C0B7FD9D}"/>
              </a:ext>
            </a:extLst>
          </p:cNvPr>
          <p:cNvPicPr>
            <a:picLocks noChangeAspect="1"/>
          </p:cNvPicPr>
          <p:nvPr/>
        </p:nvPicPr>
        <p:blipFill>
          <a:blip r:embed="rId3"/>
          <a:stretch>
            <a:fillRect/>
          </a:stretch>
        </p:blipFill>
        <p:spPr>
          <a:xfrm>
            <a:off x="1504841" y="2627794"/>
            <a:ext cx="1562318" cy="1286054"/>
          </a:xfrm>
          <a:prstGeom prst="rect">
            <a:avLst/>
          </a:prstGeom>
        </p:spPr>
      </p:pic>
      <p:graphicFrame>
        <p:nvGraphicFramePr>
          <p:cNvPr id="27" name="Object 26" descr="Double-headed double arrow.&#10;">
            <a:extLst>
              <a:ext uri="{FF2B5EF4-FFF2-40B4-BE49-F238E27FC236}">
                <a16:creationId xmlns:a16="http://schemas.microsoft.com/office/drawing/2014/main" id="{829D3D36-42B3-4702-643D-2FF722D3A2F9}"/>
              </a:ext>
            </a:extLst>
          </p:cNvPr>
          <p:cNvGraphicFramePr>
            <a:graphicFrameLocks noChangeAspect="1"/>
          </p:cNvGraphicFramePr>
          <p:nvPr>
            <p:extLst>
              <p:ext uri="{D42A27DB-BD31-4B8C-83A1-F6EECF244321}">
                <p14:modId xmlns:p14="http://schemas.microsoft.com/office/powerpoint/2010/main" val="4112225232"/>
              </p:ext>
            </p:extLst>
          </p:nvPr>
        </p:nvGraphicFramePr>
        <p:xfrm>
          <a:off x="4060176" y="2934077"/>
          <a:ext cx="552372" cy="389911"/>
        </p:xfrm>
        <a:graphic>
          <a:graphicData uri="http://schemas.openxmlformats.org/presentationml/2006/ole">
            <mc:AlternateContent xmlns:mc="http://schemas.openxmlformats.org/markup-compatibility/2006">
              <mc:Choice xmlns:v="urn:schemas-microsoft-com:vml" Requires="v">
                <p:oleObj name="Equation" r:id="rId4" imgW="215640" imgH="152280" progId="Equation.DSMT4">
                  <p:embed/>
                </p:oleObj>
              </mc:Choice>
              <mc:Fallback>
                <p:oleObj name="Equation" r:id="rId4" imgW="215640" imgH="152280" progId="Equation.DSMT4">
                  <p:embed/>
                  <p:pic>
                    <p:nvPicPr>
                      <p:cNvPr id="36" name="Object 35">
                        <a:extLst>
                          <a:ext uri="{FF2B5EF4-FFF2-40B4-BE49-F238E27FC236}">
                            <a16:creationId xmlns:a16="http://schemas.microsoft.com/office/drawing/2014/main" id="{1C425181-B835-EC93-1B42-97F205D2EA32}"/>
                          </a:ext>
                        </a:extLst>
                      </p:cNvPr>
                      <p:cNvPicPr/>
                      <p:nvPr/>
                    </p:nvPicPr>
                    <p:blipFill>
                      <a:blip r:embed="rId5"/>
                      <a:stretch>
                        <a:fillRect/>
                      </a:stretch>
                    </p:blipFill>
                    <p:spPr>
                      <a:xfrm>
                        <a:off x="4060176" y="2934077"/>
                        <a:ext cx="552372" cy="389911"/>
                      </a:xfrm>
                      <a:prstGeom prst="rect">
                        <a:avLst/>
                      </a:prstGeom>
                    </p:spPr>
                  </p:pic>
                </p:oleObj>
              </mc:Fallback>
            </mc:AlternateContent>
          </a:graphicData>
        </a:graphic>
      </p:graphicFrame>
      <p:pic>
        <p:nvPicPr>
          <p:cNvPr id="28" name="Picture 27" descr="A circuit diagram with a Y connection with R sub 1, R sub 2, and R sub 3 connected in a Y-shape.">
            <a:extLst>
              <a:ext uri="{FF2B5EF4-FFF2-40B4-BE49-F238E27FC236}">
                <a16:creationId xmlns:a16="http://schemas.microsoft.com/office/drawing/2014/main" id="{92204E6E-38E6-83D6-BDB7-5672E6F39AE1}"/>
              </a:ext>
            </a:extLst>
          </p:cNvPr>
          <p:cNvPicPr>
            <a:picLocks noChangeAspect="1"/>
          </p:cNvPicPr>
          <p:nvPr/>
        </p:nvPicPr>
        <p:blipFill>
          <a:blip r:embed="rId6"/>
          <a:stretch>
            <a:fillRect/>
          </a:stretch>
        </p:blipFill>
        <p:spPr>
          <a:xfrm>
            <a:off x="5262342" y="2570644"/>
            <a:ext cx="1629002" cy="1295581"/>
          </a:xfrm>
          <a:prstGeom prst="rect">
            <a:avLst/>
          </a:prstGeom>
        </p:spPr>
      </p:pic>
      <p:graphicFrame>
        <p:nvGraphicFramePr>
          <p:cNvPr id="29" name="Object 28" descr="The figure illustrates an expression for R subscript a.&#10;Long description 1 is available in notes, Press F6.&#10;">
            <a:extLst>
              <a:ext uri="{FF2B5EF4-FFF2-40B4-BE49-F238E27FC236}">
                <a16:creationId xmlns:a16="http://schemas.microsoft.com/office/drawing/2014/main" id="{5FE8DE01-930A-444B-203B-E1E2E9FEB198}"/>
              </a:ext>
            </a:extLst>
          </p:cNvPr>
          <p:cNvGraphicFramePr>
            <a:graphicFrameLocks noChangeAspect="1"/>
          </p:cNvGraphicFramePr>
          <p:nvPr>
            <p:extLst>
              <p:ext uri="{D42A27DB-BD31-4B8C-83A1-F6EECF244321}">
                <p14:modId xmlns:p14="http://schemas.microsoft.com/office/powerpoint/2010/main" val="2934914310"/>
              </p:ext>
            </p:extLst>
          </p:nvPr>
        </p:nvGraphicFramePr>
        <p:xfrm>
          <a:off x="1089604" y="4058357"/>
          <a:ext cx="2622981" cy="706756"/>
        </p:xfrm>
        <a:graphic>
          <a:graphicData uri="http://schemas.openxmlformats.org/presentationml/2006/ole">
            <mc:AlternateContent xmlns:mc="http://schemas.openxmlformats.org/markup-compatibility/2006">
              <mc:Choice xmlns:v="urn:schemas-microsoft-com:vml" Requires="v">
                <p:oleObj name="Equation" r:id="rId7" imgW="1650960" imgH="444240" progId="Equation.DSMT4">
                  <p:embed/>
                </p:oleObj>
              </mc:Choice>
              <mc:Fallback>
                <p:oleObj name="Equation" r:id="rId7" imgW="1650960" imgH="444240" progId="Equation.DSMT4">
                  <p:embed/>
                  <p:pic>
                    <p:nvPicPr>
                      <p:cNvPr id="39" name="Object 38">
                        <a:extLst>
                          <a:ext uri="{FF2B5EF4-FFF2-40B4-BE49-F238E27FC236}">
                            <a16:creationId xmlns:a16="http://schemas.microsoft.com/office/drawing/2014/main" id="{4D6899C2-E1E2-4587-0EF3-A64C18F99431}"/>
                          </a:ext>
                        </a:extLst>
                      </p:cNvPr>
                      <p:cNvPicPr/>
                      <p:nvPr/>
                    </p:nvPicPr>
                    <p:blipFill>
                      <a:blip r:embed="rId8"/>
                      <a:stretch>
                        <a:fillRect/>
                      </a:stretch>
                    </p:blipFill>
                    <p:spPr>
                      <a:xfrm>
                        <a:off x="1089604" y="4058357"/>
                        <a:ext cx="2622981" cy="706756"/>
                      </a:xfrm>
                      <a:prstGeom prst="rect">
                        <a:avLst/>
                      </a:prstGeom>
                    </p:spPr>
                  </p:pic>
                </p:oleObj>
              </mc:Fallback>
            </mc:AlternateContent>
          </a:graphicData>
        </a:graphic>
      </p:graphicFrame>
      <p:graphicFrame>
        <p:nvGraphicFramePr>
          <p:cNvPr id="30" name="Object 29" descr="The figure illustrates an expression for R subscript b.&#10;Long description 2 is available in notes, Press F6.">
            <a:extLst>
              <a:ext uri="{FF2B5EF4-FFF2-40B4-BE49-F238E27FC236}">
                <a16:creationId xmlns:a16="http://schemas.microsoft.com/office/drawing/2014/main" id="{66E24110-B268-8686-0051-57048DD14C67}"/>
              </a:ext>
            </a:extLst>
          </p:cNvPr>
          <p:cNvGraphicFramePr>
            <a:graphicFrameLocks noChangeAspect="1"/>
          </p:cNvGraphicFramePr>
          <p:nvPr>
            <p:extLst>
              <p:ext uri="{D42A27DB-BD31-4B8C-83A1-F6EECF244321}">
                <p14:modId xmlns:p14="http://schemas.microsoft.com/office/powerpoint/2010/main" val="4008679661"/>
              </p:ext>
            </p:extLst>
          </p:nvPr>
        </p:nvGraphicFramePr>
        <p:xfrm>
          <a:off x="1089604" y="4825890"/>
          <a:ext cx="2622981" cy="706756"/>
        </p:xfrm>
        <a:graphic>
          <a:graphicData uri="http://schemas.openxmlformats.org/presentationml/2006/ole">
            <mc:AlternateContent xmlns:mc="http://schemas.openxmlformats.org/markup-compatibility/2006">
              <mc:Choice xmlns:v="urn:schemas-microsoft-com:vml" Requires="v">
                <p:oleObj name="Equation" r:id="rId9" imgW="1650960" imgH="444240" progId="Equation.DSMT4">
                  <p:embed/>
                </p:oleObj>
              </mc:Choice>
              <mc:Fallback>
                <p:oleObj name="Equation" r:id="rId9" imgW="1650960" imgH="444240" progId="Equation.DSMT4">
                  <p:embed/>
                  <p:pic>
                    <p:nvPicPr>
                      <p:cNvPr id="40" name="Object 39">
                        <a:extLst>
                          <a:ext uri="{FF2B5EF4-FFF2-40B4-BE49-F238E27FC236}">
                            <a16:creationId xmlns:a16="http://schemas.microsoft.com/office/drawing/2014/main" id="{A7714C71-7A9D-EBB7-5121-F08F7D8B982A}"/>
                          </a:ext>
                        </a:extLst>
                      </p:cNvPr>
                      <p:cNvPicPr/>
                      <p:nvPr/>
                    </p:nvPicPr>
                    <p:blipFill>
                      <a:blip r:embed="rId10"/>
                      <a:stretch>
                        <a:fillRect/>
                      </a:stretch>
                    </p:blipFill>
                    <p:spPr>
                      <a:xfrm>
                        <a:off x="1089604" y="4825890"/>
                        <a:ext cx="2622981" cy="706756"/>
                      </a:xfrm>
                      <a:prstGeom prst="rect">
                        <a:avLst/>
                      </a:prstGeom>
                    </p:spPr>
                  </p:pic>
                </p:oleObj>
              </mc:Fallback>
            </mc:AlternateContent>
          </a:graphicData>
        </a:graphic>
      </p:graphicFrame>
      <p:graphicFrame>
        <p:nvGraphicFramePr>
          <p:cNvPr id="31" name="Object 30" descr="The figure illustrates an expression for R subscript c.&#10;Long description 3 is available in notes, Press F6.">
            <a:extLst>
              <a:ext uri="{FF2B5EF4-FFF2-40B4-BE49-F238E27FC236}">
                <a16:creationId xmlns:a16="http://schemas.microsoft.com/office/drawing/2014/main" id="{42B46688-C559-7E08-6683-440854EF9719}"/>
              </a:ext>
            </a:extLst>
          </p:cNvPr>
          <p:cNvGraphicFramePr>
            <a:graphicFrameLocks noChangeAspect="1"/>
          </p:cNvGraphicFramePr>
          <p:nvPr>
            <p:extLst>
              <p:ext uri="{D42A27DB-BD31-4B8C-83A1-F6EECF244321}">
                <p14:modId xmlns:p14="http://schemas.microsoft.com/office/powerpoint/2010/main" val="74987948"/>
              </p:ext>
            </p:extLst>
          </p:nvPr>
        </p:nvGraphicFramePr>
        <p:xfrm>
          <a:off x="1089603" y="5634192"/>
          <a:ext cx="2622981" cy="706756"/>
        </p:xfrm>
        <a:graphic>
          <a:graphicData uri="http://schemas.openxmlformats.org/presentationml/2006/ole">
            <mc:AlternateContent xmlns:mc="http://schemas.openxmlformats.org/markup-compatibility/2006">
              <mc:Choice xmlns:v="urn:schemas-microsoft-com:vml" Requires="v">
                <p:oleObj name="Equation" r:id="rId11" imgW="1650960" imgH="444240" progId="Equation.DSMT4">
                  <p:embed/>
                </p:oleObj>
              </mc:Choice>
              <mc:Fallback>
                <p:oleObj name="Equation" r:id="rId11" imgW="1650960" imgH="444240" progId="Equation.DSMT4">
                  <p:embed/>
                  <p:pic>
                    <p:nvPicPr>
                      <p:cNvPr id="41" name="Object 40">
                        <a:extLst>
                          <a:ext uri="{FF2B5EF4-FFF2-40B4-BE49-F238E27FC236}">
                            <a16:creationId xmlns:a16="http://schemas.microsoft.com/office/drawing/2014/main" id="{561E3A4C-0E21-AACE-50A6-EB63EED07F70}"/>
                          </a:ext>
                        </a:extLst>
                      </p:cNvPr>
                      <p:cNvPicPr/>
                      <p:nvPr/>
                    </p:nvPicPr>
                    <p:blipFill>
                      <a:blip r:embed="rId12"/>
                      <a:stretch>
                        <a:fillRect/>
                      </a:stretch>
                    </p:blipFill>
                    <p:spPr>
                      <a:xfrm>
                        <a:off x="1089603" y="5634192"/>
                        <a:ext cx="2622981" cy="706756"/>
                      </a:xfrm>
                      <a:prstGeom prst="rect">
                        <a:avLst/>
                      </a:prstGeom>
                    </p:spPr>
                  </p:pic>
                </p:oleObj>
              </mc:Fallback>
            </mc:AlternateContent>
          </a:graphicData>
        </a:graphic>
      </p:graphicFrame>
      <p:graphicFrame>
        <p:nvGraphicFramePr>
          <p:cNvPr id="32" name="Object 31" descr="The figure illustrates an expression for R subscript 1.&#10;Long description 4 is available in notes, Press F6.">
            <a:extLst>
              <a:ext uri="{FF2B5EF4-FFF2-40B4-BE49-F238E27FC236}">
                <a16:creationId xmlns:a16="http://schemas.microsoft.com/office/drawing/2014/main" id="{2EB6706E-C4D0-19DE-EEB4-AB593113C12A}"/>
              </a:ext>
            </a:extLst>
          </p:cNvPr>
          <p:cNvGraphicFramePr>
            <a:graphicFrameLocks noChangeAspect="1"/>
          </p:cNvGraphicFramePr>
          <p:nvPr>
            <p:extLst>
              <p:ext uri="{D42A27DB-BD31-4B8C-83A1-F6EECF244321}">
                <p14:modId xmlns:p14="http://schemas.microsoft.com/office/powerpoint/2010/main" val="3720748897"/>
              </p:ext>
            </p:extLst>
          </p:nvPr>
        </p:nvGraphicFramePr>
        <p:xfrm>
          <a:off x="5262342" y="4001477"/>
          <a:ext cx="1897062" cy="708025"/>
        </p:xfrm>
        <a:graphic>
          <a:graphicData uri="http://schemas.openxmlformats.org/presentationml/2006/ole">
            <mc:AlternateContent xmlns:mc="http://schemas.openxmlformats.org/markup-compatibility/2006">
              <mc:Choice xmlns:v="urn:schemas-microsoft-com:vml" Requires="v">
                <p:oleObj name="Equation" r:id="rId13" imgW="1193760" imgH="444240" progId="Equation.DSMT4">
                  <p:embed/>
                </p:oleObj>
              </mc:Choice>
              <mc:Fallback>
                <p:oleObj name="Equation" r:id="rId13" imgW="1193760" imgH="444240" progId="Equation.DSMT4">
                  <p:embed/>
                  <p:pic>
                    <p:nvPicPr>
                      <p:cNvPr id="44" name="Object 43">
                        <a:extLst>
                          <a:ext uri="{FF2B5EF4-FFF2-40B4-BE49-F238E27FC236}">
                            <a16:creationId xmlns:a16="http://schemas.microsoft.com/office/drawing/2014/main" id="{2E8C61A9-82EF-D1A1-4FF7-9E59F2B07E76}"/>
                          </a:ext>
                        </a:extLst>
                      </p:cNvPr>
                      <p:cNvPicPr/>
                      <p:nvPr/>
                    </p:nvPicPr>
                    <p:blipFill>
                      <a:blip r:embed="rId14"/>
                      <a:stretch>
                        <a:fillRect/>
                      </a:stretch>
                    </p:blipFill>
                    <p:spPr>
                      <a:xfrm>
                        <a:off x="5262342" y="4001477"/>
                        <a:ext cx="1897062" cy="708025"/>
                      </a:xfrm>
                      <a:prstGeom prst="rect">
                        <a:avLst/>
                      </a:prstGeom>
                    </p:spPr>
                  </p:pic>
                </p:oleObj>
              </mc:Fallback>
            </mc:AlternateContent>
          </a:graphicData>
        </a:graphic>
      </p:graphicFrame>
      <p:graphicFrame>
        <p:nvGraphicFramePr>
          <p:cNvPr id="33" name="Object 32" descr="The figure illustrates an expression for R subscript 2.&#10;Long description 5 is available in notes, Press F6.">
            <a:extLst>
              <a:ext uri="{FF2B5EF4-FFF2-40B4-BE49-F238E27FC236}">
                <a16:creationId xmlns:a16="http://schemas.microsoft.com/office/drawing/2014/main" id="{8BF6084D-57FB-4D1C-FBB7-8D89352136D6}"/>
              </a:ext>
            </a:extLst>
          </p:cNvPr>
          <p:cNvGraphicFramePr>
            <a:graphicFrameLocks noChangeAspect="1"/>
          </p:cNvGraphicFramePr>
          <p:nvPr>
            <p:extLst>
              <p:ext uri="{D42A27DB-BD31-4B8C-83A1-F6EECF244321}">
                <p14:modId xmlns:p14="http://schemas.microsoft.com/office/powerpoint/2010/main" val="3117437433"/>
              </p:ext>
            </p:extLst>
          </p:nvPr>
        </p:nvGraphicFramePr>
        <p:xfrm>
          <a:off x="5262342" y="4783543"/>
          <a:ext cx="1917700" cy="708025"/>
        </p:xfrm>
        <a:graphic>
          <a:graphicData uri="http://schemas.openxmlformats.org/presentationml/2006/ole">
            <mc:AlternateContent xmlns:mc="http://schemas.openxmlformats.org/markup-compatibility/2006">
              <mc:Choice xmlns:v="urn:schemas-microsoft-com:vml" Requires="v">
                <p:oleObj name="Equation" r:id="rId15" imgW="1206360" imgH="444240" progId="Equation.DSMT4">
                  <p:embed/>
                </p:oleObj>
              </mc:Choice>
              <mc:Fallback>
                <p:oleObj name="Equation" r:id="rId15" imgW="1206360" imgH="444240" progId="Equation.DSMT4">
                  <p:embed/>
                  <p:pic>
                    <p:nvPicPr>
                      <p:cNvPr id="45" name="Object 44">
                        <a:extLst>
                          <a:ext uri="{FF2B5EF4-FFF2-40B4-BE49-F238E27FC236}">
                            <a16:creationId xmlns:a16="http://schemas.microsoft.com/office/drawing/2014/main" id="{2AF06B27-0AD3-C52D-64D3-989A409650D1}"/>
                          </a:ext>
                        </a:extLst>
                      </p:cNvPr>
                      <p:cNvPicPr/>
                      <p:nvPr/>
                    </p:nvPicPr>
                    <p:blipFill>
                      <a:blip r:embed="rId16"/>
                      <a:stretch>
                        <a:fillRect/>
                      </a:stretch>
                    </p:blipFill>
                    <p:spPr>
                      <a:xfrm>
                        <a:off x="5262342" y="4783543"/>
                        <a:ext cx="1917700" cy="708025"/>
                      </a:xfrm>
                      <a:prstGeom prst="rect">
                        <a:avLst/>
                      </a:prstGeom>
                    </p:spPr>
                  </p:pic>
                </p:oleObj>
              </mc:Fallback>
            </mc:AlternateContent>
          </a:graphicData>
        </a:graphic>
      </p:graphicFrame>
      <p:graphicFrame>
        <p:nvGraphicFramePr>
          <p:cNvPr id="34" name="Object 33" descr="The figure illustrates an expression for R subscript 3.&#10;Long description 6 is available in notes, Press F6.">
            <a:extLst>
              <a:ext uri="{FF2B5EF4-FFF2-40B4-BE49-F238E27FC236}">
                <a16:creationId xmlns:a16="http://schemas.microsoft.com/office/drawing/2014/main" id="{F7E67942-AA6D-6770-213C-DA42D6990058}"/>
              </a:ext>
            </a:extLst>
          </p:cNvPr>
          <p:cNvGraphicFramePr>
            <a:graphicFrameLocks noChangeAspect="1"/>
          </p:cNvGraphicFramePr>
          <p:nvPr>
            <p:extLst>
              <p:ext uri="{D42A27DB-BD31-4B8C-83A1-F6EECF244321}">
                <p14:modId xmlns:p14="http://schemas.microsoft.com/office/powerpoint/2010/main" val="721359965"/>
              </p:ext>
            </p:extLst>
          </p:nvPr>
        </p:nvGraphicFramePr>
        <p:xfrm>
          <a:off x="5252023" y="5575773"/>
          <a:ext cx="1917700" cy="708025"/>
        </p:xfrm>
        <a:graphic>
          <a:graphicData uri="http://schemas.openxmlformats.org/presentationml/2006/ole">
            <mc:AlternateContent xmlns:mc="http://schemas.openxmlformats.org/markup-compatibility/2006">
              <mc:Choice xmlns:v="urn:schemas-microsoft-com:vml" Requires="v">
                <p:oleObj name="Equation" r:id="rId17" imgW="1206360" imgH="444240" progId="Equation.DSMT4">
                  <p:embed/>
                </p:oleObj>
              </mc:Choice>
              <mc:Fallback>
                <p:oleObj name="Equation" r:id="rId17" imgW="1206360" imgH="444240" progId="Equation.DSMT4">
                  <p:embed/>
                  <p:pic>
                    <p:nvPicPr>
                      <p:cNvPr id="46" name="Object 45">
                        <a:extLst>
                          <a:ext uri="{FF2B5EF4-FFF2-40B4-BE49-F238E27FC236}">
                            <a16:creationId xmlns:a16="http://schemas.microsoft.com/office/drawing/2014/main" id="{CD09D4FF-08FA-B97B-606C-B6E3A85C2BB0}"/>
                          </a:ext>
                        </a:extLst>
                      </p:cNvPr>
                      <p:cNvPicPr/>
                      <p:nvPr/>
                    </p:nvPicPr>
                    <p:blipFill>
                      <a:blip r:embed="rId18"/>
                      <a:stretch>
                        <a:fillRect/>
                      </a:stretch>
                    </p:blipFill>
                    <p:spPr>
                      <a:xfrm>
                        <a:off x="5252023" y="5575773"/>
                        <a:ext cx="1917700" cy="708025"/>
                      </a:xfrm>
                      <a:prstGeom prst="rect">
                        <a:avLst/>
                      </a:prstGeom>
                    </p:spPr>
                  </p:pic>
                </p:oleObj>
              </mc:Fallback>
            </mc:AlternateContent>
          </a:graphicData>
        </a:graphic>
      </p:graphicFrame>
    </p:spTree>
    <p:extLst>
      <p:ext uri="{BB962C8B-B14F-4D97-AF65-F5344CB8AC3E}">
        <p14:creationId xmlns:p14="http://schemas.microsoft.com/office/powerpoint/2010/main" val="2884012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3283D753-BE3D-1EE9-AD93-6DA8FD04FDE8}"/>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(21 of 22)</a:t>
            </a:r>
          </a:p>
        </p:txBody>
      </p:sp>
      <p:sp>
        <p:nvSpPr>
          <p:cNvPr id="3" name="Content Placeholder 2">
            <a:extLst>
              <a:ext uri="{FF2B5EF4-FFF2-40B4-BE49-F238E27FC236}">
                <a16:creationId xmlns:a16="http://schemas.microsoft.com/office/drawing/2014/main" id="{1325EAE6-CB26-A59D-A963-3A9C29CC2A63}"/>
              </a:ext>
            </a:extLst>
          </p:cNvPr>
          <p:cNvSpPr>
            <a:spLocks noGrp="1"/>
          </p:cNvSpPr>
          <p:nvPr>
            <p:ph sz="quarter" idx="10"/>
          </p:nvPr>
        </p:nvSpPr>
        <p:spPr>
          <a:xfrm>
            <a:off x="408974" y="1381021"/>
            <a:ext cx="8271475" cy="590349"/>
          </a:xfrm>
        </p:spPr>
        <p:txBody>
          <a:bodyPr wrap="square" lIns="0" tIns="18000" rIns="0" bIns="18000" anchor="ctr" anchorCtr="0">
            <a:spAutoFit/>
          </a:bodyPr>
          <a:lstStyle/>
          <a:p>
            <a:pPr marL="0" indent="0">
              <a:buNone/>
            </a:pPr>
            <a:r>
              <a:rPr lang="en-US" altLang="en-US" sz="1800" noProof="0" dirty="0"/>
              <a:t>Delta-to-</a:t>
            </a:r>
            <a:r>
              <a:rPr lang="en-US" altLang="en-US" sz="1800" noProof="0" dirty="0" err="1"/>
              <a:t>Wye</a:t>
            </a:r>
            <a:r>
              <a:rPr lang="en-US" altLang="en-US" sz="1800" noProof="0" dirty="0"/>
              <a:t> (Pi-to-Tee) Equivalent Circuits – Example:</a:t>
            </a:r>
            <a:br>
              <a:rPr lang="en-US" altLang="en-US" sz="1800" noProof="0" dirty="0"/>
            </a:br>
            <a:r>
              <a:rPr lang="en-US" altLang="en-US" sz="1800" noProof="0" dirty="0"/>
              <a:t>For the circuit shown here, find the current in the voltage source.</a:t>
            </a:r>
            <a:endParaRPr lang="en-US" sz="1800" noProof="0" dirty="0"/>
          </a:p>
        </p:txBody>
      </p:sp>
      <p:pic>
        <p:nvPicPr>
          <p:cNvPr id="26" name="Picture 25" descr="A circuit diagram with a Wheatstone bridge that has four resistors 100 ohms, 125 ohms, 375 ohms, and 40 ohms connected across a 40 V source in the clockwise direction. A 25 ohms resistor is connected to all the resistors in the middle. A 5 ohms resistor is connected in series to the Wheatstone bridge.">
            <a:extLst>
              <a:ext uri="{FF2B5EF4-FFF2-40B4-BE49-F238E27FC236}">
                <a16:creationId xmlns:a16="http://schemas.microsoft.com/office/drawing/2014/main" id="{A3AF1B91-2E6A-651C-2BC7-304C9172D422}"/>
              </a:ext>
            </a:extLst>
          </p:cNvPr>
          <p:cNvPicPr>
            <a:picLocks noChangeAspect="1"/>
          </p:cNvPicPr>
          <p:nvPr/>
        </p:nvPicPr>
        <p:blipFill>
          <a:blip r:embed="rId2"/>
          <a:stretch>
            <a:fillRect/>
          </a:stretch>
        </p:blipFill>
        <p:spPr>
          <a:xfrm>
            <a:off x="3285946" y="2115325"/>
            <a:ext cx="2572109" cy="1428949"/>
          </a:xfrm>
          <a:prstGeom prst="rect">
            <a:avLst/>
          </a:prstGeom>
        </p:spPr>
      </p:pic>
      <p:sp>
        <p:nvSpPr>
          <p:cNvPr id="4" name="Content Placeholder 3">
            <a:extLst>
              <a:ext uri="{FF2B5EF4-FFF2-40B4-BE49-F238E27FC236}">
                <a16:creationId xmlns:a16="http://schemas.microsoft.com/office/drawing/2014/main" id="{F4F56F8D-4384-B5A9-B36C-85EEAB5DF322}"/>
              </a:ext>
            </a:extLst>
          </p:cNvPr>
          <p:cNvSpPr>
            <a:spLocks noGrp="1"/>
          </p:cNvSpPr>
          <p:nvPr>
            <p:ph sz="quarter" idx="11"/>
          </p:nvPr>
        </p:nvSpPr>
        <p:spPr>
          <a:xfrm>
            <a:off x="408974" y="3740425"/>
            <a:ext cx="8271475" cy="590349"/>
          </a:xfrm>
        </p:spPr>
        <p:txBody>
          <a:bodyPr wrap="square" lIns="0" tIns="18000" rIns="0" bIns="18000" anchor="ctr" anchorCtr="0">
            <a:spAutoFit/>
          </a:bodyPr>
          <a:lstStyle/>
          <a:p>
            <a:pPr marL="0" indent="0">
              <a:buNone/>
              <a:defRPr/>
            </a:pPr>
            <a:r>
              <a:rPr lang="en-US" sz="1800" noProof="0" dirty="0"/>
              <a:t>To do this, find the equivalent resistance seen by the voltage source. Start by replacing the upper delta with its equivalent wye.</a:t>
            </a:r>
          </a:p>
        </p:txBody>
      </p:sp>
      <p:pic>
        <p:nvPicPr>
          <p:cNvPr id="27" name="Picture 26" descr="A circuit diagram with a Delta and Y connection. The delta connection has 100 ohms, 125 ohms, and 25 ohms connected in the clockwise direction. The Y connection has R sub 1, R sub 2, and R sub 3 connected in a Y-shape.">
            <a:extLst>
              <a:ext uri="{FF2B5EF4-FFF2-40B4-BE49-F238E27FC236}">
                <a16:creationId xmlns:a16="http://schemas.microsoft.com/office/drawing/2014/main" id="{B0322E76-0E12-B10E-A3A5-3B4C27D3BDF2}"/>
              </a:ext>
            </a:extLst>
          </p:cNvPr>
          <p:cNvPicPr>
            <a:picLocks noChangeAspect="1"/>
          </p:cNvPicPr>
          <p:nvPr/>
        </p:nvPicPr>
        <p:blipFill>
          <a:blip r:embed="rId3"/>
          <a:stretch>
            <a:fillRect/>
          </a:stretch>
        </p:blipFill>
        <p:spPr>
          <a:xfrm>
            <a:off x="1396988" y="4429026"/>
            <a:ext cx="2244279" cy="1584943"/>
          </a:xfrm>
          <a:prstGeom prst="rect">
            <a:avLst/>
          </a:prstGeom>
        </p:spPr>
      </p:pic>
      <p:graphicFrame>
        <p:nvGraphicFramePr>
          <p:cNvPr id="28" name="Object 27" descr="R subscript 1 Baseline equals StartFraction (100) multiplied by (125) over 25 plus 100 plus 125 EndFraction equals 50 Ohms.&#10;">
            <a:extLst>
              <a:ext uri="{FF2B5EF4-FFF2-40B4-BE49-F238E27FC236}">
                <a16:creationId xmlns:a16="http://schemas.microsoft.com/office/drawing/2014/main" id="{F436524A-F559-DB39-025B-128CCF581563}"/>
              </a:ext>
            </a:extLst>
          </p:cNvPr>
          <p:cNvGraphicFramePr>
            <a:graphicFrameLocks noChangeAspect="1"/>
          </p:cNvGraphicFramePr>
          <p:nvPr>
            <p:extLst>
              <p:ext uri="{D42A27DB-BD31-4B8C-83A1-F6EECF244321}">
                <p14:modId xmlns:p14="http://schemas.microsoft.com/office/powerpoint/2010/main" val="4291661136"/>
              </p:ext>
            </p:extLst>
          </p:nvPr>
        </p:nvGraphicFramePr>
        <p:xfrm>
          <a:off x="5162374" y="4342870"/>
          <a:ext cx="2402241" cy="568088"/>
        </p:xfrm>
        <a:graphic>
          <a:graphicData uri="http://schemas.openxmlformats.org/presentationml/2006/ole">
            <mc:AlternateContent xmlns:mc="http://schemas.openxmlformats.org/markup-compatibility/2006">
              <mc:Choice xmlns:v="urn:schemas-microsoft-com:vml" Requires="v">
                <p:oleObj name="Equation" r:id="rId4" imgW="1828800" imgH="431640" progId="Equation.DSMT4">
                  <p:embed/>
                </p:oleObj>
              </mc:Choice>
              <mc:Fallback>
                <p:oleObj name="Equation" r:id="rId4" imgW="1828800" imgH="431640" progId="Equation.DSMT4">
                  <p:embed/>
                  <p:pic>
                    <p:nvPicPr>
                      <p:cNvPr id="38" name="Object 37">
                        <a:extLst>
                          <a:ext uri="{FF2B5EF4-FFF2-40B4-BE49-F238E27FC236}">
                            <a16:creationId xmlns:a16="http://schemas.microsoft.com/office/drawing/2014/main" id="{479F9CB8-7A18-34B4-543D-8CE4BC4EA563}"/>
                          </a:ext>
                        </a:extLst>
                      </p:cNvPr>
                      <p:cNvPicPr/>
                      <p:nvPr/>
                    </p:nvPicPr>
                    <p:blipFill>
                      <a:blip r:embed="rId5"/>
                      <a:stretch>
                        <a:fillRect/>
                      </a:stretch>
                    </p:blipFill>
                    <p:spPr>
                      <a:xfrm>
                        <a:off x="5162374" y="4342870"/>
                        <a:ext cx="2402241" cy="568088"/>
                      </a:xfrm>
                      <a:prstGeom prst="rect">
                        <a:avLst/>
                      </a:prstGeom>
                    </p:spPr>
                  </p:pic>
                </p:oleObj>
              </mc:Fallback>
            </mc:AlternateContent>
          </a:graphicData>
        </a:graphic>
      </p:graphicFrame>
      <p:graphicFrame>
        <p:nvGraphicFramePr>
          <p:cNvPr id="29" name="Object 28" descr="R subscript 2 Baseline equals StartFraction (100) multiplied by (25) over 25 plus 100 plus 125 EndFraction equals 12.5 Ohms.&#10;">
            <a:extLst>
              <a:ext uri="{FF2B5EF4-FFF2-40B4-BE49-F238E27FC236}">
                <a16:creationId xmlns:a16="http://schemas.microsoft.com/office/drawing/2014/main" id="{5C145371-D992-EE80-968E-5D6CAE9FFBFD}"/>
              </a:ext>
            </a:extLst>
          </p:cNvPr>
          <p:cNvGraphicFramePr>
            <a:graphicFrameLocks noChangeAspect="1"/>
          </p:cNvGraphicFramePr>
          <p:nvPr>
            <p:extLst>
              <p:ext uri="{D42A27DB-BD31-4B8C-83A1-F6EECF244321}">
                <p14:modId xmlns:p14="http://schemas.microsoft.com/office/powerpoint/2010/main" val="502536117"/>
              </p:ext>
            </p:extLst>
          </p:nvPr>
        </p:nvGraphicFramePr>
        <p:xfrm>
          <a:off x="5142996" y="5026246"/>
          <a:ext cx="2586182" cy="567171"/>
        </p:xfrm>
        <a:graphic>
          <a:graphicData uri="http://schemas.openxmlformats.org/presentationml/2006/ole">
            <mc:AlternateContent xmlns:mc="http://schemas.openxmlformats.org/markup-compatibility/2006">
              <mc:Choice xmlns:v="urn:schemas-microsoft-com:vml" Requires="v">
                <p:oleObj name="Equation" r:id="rId6" imgW="1968480" imgH="431640" progId="Equation.DSMT4">
                  <p:embed/>
                </p:oleObj>
              </mc:Choice>
              <mc:Fallback>
                <p:oleObj name="Equation" r:id="rId6" imgW="1968480" imgH="431640" progId="Equation.DSMT4">
                  <p:embed/>
                  <p:pic>
                    <p:nvPicPr>
                      <p:cNvPr id="39" name="Object 38">
                        <a:extLst>
                          <a:ext uri="{FF2B5EF4-FFF2-40B4-BE49-F238E27FC236}">
                            <a16:creationId xmlns:a16="http://schemas.microsoft.com/office/drawing/2014/main" id="{D65E065F-F66A-71CD-738D-FF0D6554B939}"/>
                          </a:ext>
                        </a:extLst>
                      </p:cNvPr>
                      <p:cNvPicPr/>
                      <p:nvPr/>
                    </p:nvPicPr>
                    <p:blipFill>
                      <a:blip r:embed="rId7"/>
                      <a:stretch>
                        <a:fillRect/>
                      </a:stretch>
                    </p:blipFill>
                    <p:spPr>
                      <a:xfrm>
                        <a:off x="5142996" y="5026246"/>
                        <a:ext cx="2586182" cy="567171"/>
                      </a:xfrm>
                      <a:prstGeom prst="rect">
                        <a:avLst/>
                      </a:prstGeom>
                    </p:spPr>
                  </p:pic>
                </p:oleObj>
              </mc:Fallback>
            </mc:AlternateContent>
          </a:graphicData>
        </a:graphic>
      </p:graphicFrame>
      <p:graphicFrame>
        <p:nvGraphicFramePr>
          <p:cNvPr id="31" name="Object 30" descr="R subscript 3 Baseline equals StartFraction (25) multiplied by (100) over 25 plus 100 plus 125 EndFraction equals 10 Ohms.&#10;">
            <a:extLst>
              <a:ext uri="{FF2B5EF4-FFF2-40B4-BE49-F238E27FC236}">
                <a16:creationId xmlns:a16="http://schemas.microsoft.com/office/drawing/2014/main" id="{44C21CDE-E10A-3AF6-C46D-CBF66B4829A8}"/>
              </a:ext>
            </a:extLst>
          </p:cNvPr>
          <p:cNvGraphicFramePr>
            <a:graphicFrameLocks noChangeAspect="1"/>
          </p:cNvGraphicFramePr>
          <p:nvPr>
            <p:extLst>
              <p:ext uri="{D42A27DB-BD31-4B8C-83A1-F6EECF244321}">
                <p14:modId xmlns:p14="http://schemas.microsoft.com/office/powerpoint/2010/main" val="536627629"/>
              </p:ext>
            </p:extLst>
          </p:nvPr>
        </p:nvGraphicFramePr>
        <p:xfrm>
          <a:off x="5167313" y="5711825"/>
          <a:ext cx="2403475" cy="566738"/>
        </p:xfrm>
        <a:graphic>
          <a:graphicData uri="http://schemas.openxmlformats.org/presentationml/2006/ole">
            <mc:AlternateContent xmlns:mc="http://schemas.openxmlformats.org/markup-compatibility/2006">
              <mc:Choice xmlns:v="urn:schemas-microsoft-com:vml" Requires="v">
                <p:oleObj name="Equation" r:id="rId8" imgW="1828800" imgH="431640" progId="Equation.DSMT4">
                  <p:embed/>
                </p:oleObj>
              </mc:Choice>
              <mc:Fallback>
                <p:oleObj name="Equation" r:id="rId8" imgW="1828800" imgH="431640" progId="Equation.DSMT4">
                  <p:embed/>
                  <p:pic>
                    <p:nvPicPr>
                      <p:cNvPr id="40" name="Object 39">
                        <a:extLst>
                          <a:ext uri="{FF2B5EF4-FFF2-40B4-BE49-F238E27FC236}">
                            <a16:creationId xmlns:a16="http://schemas.microsoft.com/office/drawing/2014/main" id="{32E8E3AA-EB97-B905-9508-960F429A6914}"/>
                          </a:ext>
                        </a:extLst>
                      </p:cNvPr>
                      <p:cNvPicPr/>
                      <p:nvPr/>
                    </p:nvPicPr>
                    <p:blipFill>
                      <a:blip r:embed="rId9"/>
                      <a:stretch>
                        <a:fillRect/>
                      </a:stretch>
                    </p:blipFill>
                    <p:spPr>
                      <a:xfrm>
                        <a:off x="5167313" y="5711825"/>
                        <a:ext cx="2403475" cy="566738"/>
                      </a:xfrm>
                      <a:prstGeom prst="rect">
                        <a:avLst/>
                      </a:prstGeom>
                    </p:spPr>
                  </p:pic>
                </p:oleObj>
              </mc:Fallback>
            </mc:AlternateContent>
          </a:graphicData>
        </a:graphic>
      </p:graphicFrame>
    </p:spTree>
    <p:extLst>
      <p:ext uri="{BB962C8B-B14F-4D97-AF65-F5344CB8AC3E}">
        <p14:creationId xmlns:p14="http://schemas.microsoft.com/office/powerpoint/2010/main" val="212771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35886576-9D01-7265-5D19-82D2F8D05283}"/>
              </a:ext>
            </a:extLst>
          </p:cNvPr>
          <p:cNvSpPr>
            <a:spLocks noGrp="1"/>
          </p:cNvSpPr>
          <p:nvPr>
            <p:ph type="title"/>
          </p:nvPr>
        </p:nvSpPr>
        <p:spPr>
          <a:xfrm>
            <a:off x="399449" y="166742"/>
            <a:ext cx="8271475" cy="1021237"/>
          </a:xfrm>
        </p:spPr>
        <p:txBody>
          <a:bodyPr wrap="square" lIns="0" tIns="18000" rIns="0" bIns="18000" anchor="ctr">
            <a:spAutoFit/>
          </a:bodyPr>
          <a:lstStyle/>
          <a:p>
            <a:r>
              <a:rPr lang="en-US" noProof="0" dirty="0"/>
              <a:t>Chapter 3 – Simple resistive circuits </a:t>
            </a:r>
            <a:r>
              <a:rPr lang="en-US" sz="2800" noProof="0" dirty="0"/>
              <a:t>(22 of 22)</a:t>
            </a:r>
          </a:p>
        </p:txBody>
      </p:sp>
      <p:sp>
        <p:nvSpPr>
          <p:cNvPr id="3" name="Content Placeholder 2">
            <a:extLst>
              <a:ext uri="{FF2B5EF4-FFF2-40B4-BE49-F238E27FC236}">
                <a16:creationId xmlns:a16="http://schemas.microsoft.com/office/drawing/2014/main" id="{D0A78DA8-5C9B-E53F-93F4-F2A917B0E0B9}"/>
              </a:ext>
            </a:extLst>
          </p:cNvPr>
          <p:cNvSpPr>
            <a:spLocks noGrp="1"/>
          </p:cNvSpPr>
          <p:nvPr>
            <p:ph sz="quarter" idx="10"/>
          </p:nvPr>
        </p:nvSpPr>
        <p:spPr>
          <a:xfrm>
            <a:off x="408975" y="1381403"/>
            <a:ext cx="8271474" cy="651905"/>
          </a:xfrm>
        </p:spPr>
        <p:txBody>
          <a:bodyPr wrap="square" lIns="0" tIns="18000" rIns="0" bIns="18000" anchor="ctr" anchorCtr="0">
            <a:spAutoFit/>
          </a:bodyPr>
          <a:lstStyle/>
          <a:p>
            <a:pPr marL="0" indent="0">
              <a:buNone/>
            </a:pPr>
            <a:r>
              <a:rPr lang="en-US" altLang="en-US" sz="2000" noProof="0" dirty="0"/>
              <a:t>Delta-to-</a:t>
            </a:r>
            <a:r>
              <a:rPr lang="en-US" altLang="en-US" sz="2000" noProof="0" dirty="0" err="1"/>
              <a:t>Wye</a:t>
            </a:r>
            <a:r>
              <a:rPr lang="en-US" altLang="en-US" sz="2000" noProof="0" dirty="0"/>
              <a:t> (Pi-to-Tee) Equivalent Circuits – Example (continued):</a:t>
            </a:r>
            <a:br>
              <a:rPr lang="en-US" altLang="en-US" sz="2000" noProof="0" dirty="0"/>
            </a:br>
            <a:r>
              <a:rPr lang="en-US" altLang="en-US" sz="2000" noProof="0" dirty="0"/>
              <a:t>For the circuit shown here, find the current in the voltage source.</a:t>
            </a:r>
            <a:endParaRPr lang="en-US" sz="2000" noProof="0" dirty="0"/>
          </a:p>
        </p:txBody>
      </p:sp>
      <p:pic>
        <p:nvPicPr>
          <p:cNvPr id="26" name="Picture 25" descr="A circuit diagram with a Wheatstone bridge that has four resistors 100 ohms, 125 ohms, 375 ohms, and 40 ohms connected across a 40 V source in the clockwise direction. A 25 ohms resistor is connected to all the resistors in the middle. A 5 ohms resistor is connected in series to the Wheatstone bridge.">
            <a:extLst>
              <a:ext uri="{FF2B5EF4-FFF2-40B4-BE49-F238E27FC236}">
                <a16:creationId xmlns:a16="http://schemas.microsoft.com/office/drawing/2014/main" id="{72C31391-14DF-42D3-754A-2FB2DB9CEC63}"/>
              </a:ext>
            </a:extLst>
          </p:cNvPr>
          <p:cNvPicPr>
            <a:picLocks noChangeAspect="1"/>
          </p:cNvPicPr>
          <p:nvPr/>
        </p:nvPicPr>
        <p:blipFill>
          <a:blip r:embed="rId3"/>
          <a:stretch>
            <a:fillRect/>
          </a:stretch>
        </p:blipFill>
        <p:spPr>
          <a:xfrm>
            <a:off x="833248" y="2223016"/>
            <a:ext cx="2715004" cy="1505160"/>
          </a:xfrm>
          <a:prstGeom prst="rect">
            <a:avLst/>
          </a:prstGeom>
        </p:spPr>
      </p:pic>
      <p:graphicFrame>
        <p:nvGraphicFramePr>
          <p:cNvPr id="27" name="Object 26" descr="Forward double arrow.&#10;">
            <a:extLst>
              <a:ext uri="{FF2B5EF4-FFF2-40B4-BE49-F238E27FC236}">
                <a16:creationId xmlns:a16="http://schemas.microsoft.com/office/drawing/2014/main" id="{AFCEA8BE-F1C9-5B66-FE31-13A9AAB2DC44}"/>
              </a:ext>
            </a:extLst>
          </p:cNvPr>
          <p:cNvGraphicFramePr>
            <a:graphicFrameLocks noChangeAspect="1"/>
          </p:cNvGraphicFramePr>
          <p:nvPr/>
        </p:nvGraphicFramePr>
        <p:xfrm>
          <a:off x="4289714" y="2667000"/>
          <a:ext cx="571500" cy="457200"/>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27" name="Object 26" descr="Forward double arrow.&#10;">
                        <a:extLst>
                          <a:ext uri="{FF2B5EF4-FFF2-40B4-BE49-F238E27FC236}">
                            <a16:creationId xmlns:a16="http://schemas.microsoft.com/office/drawing/2014/main" id="{AFCEA8BE-F1C9-5B66-FE31-13A9AAB2DC44}"/>
                          </a:ext>
                        </a:extLst>
                      </p:cNvPr>
                      <p:cNvPicPr>
                        <a:picLocks noChangeAspect="1" noChangeArrowheads="1"/>
                      </p:cNvPicPr>
                      <p:nvPr/>
                    </p:nvPicPr>
                    <p:blipFill>
                      <a:blip r:embed="rId5"/>
                      <a:srcRect/>
                      <a:stretch>
                        <a:fillRect/>
                      </a:stretch>
                    </p:blipFill>
                    <p:spPr bwMode="auto">
                      <a:xfrm>
                        <a:off x="4289714" y="2667000"/>
                        <a:ext cx="57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8" name="Picture 27" descr="A circuit diagram with four resistors 10 ohms, 12.5 ohms, 37.5 ohms, and 40 ohms connected across a 40 V source in the clockwise direction. A 5 ohms resistor is connected in series to the four resistors.">
            <a:extLst>
              <a:ext uri="{FF2B5EF4-FFF2-40B4-BE49-F238E27FC236}">
                <a16:creationId xmlns:a16="http://schemas.microsoft.com/office/drawing/2014/main" id="{B6D08BCB-1538-50C8-647F-B36A3BEC816D}"/>
              </a:ext>
            </a:extLst>
          </p:cNvPr>
          <p:cNvPicPr>
            <a:picLocks noChangeAspect="1"/>
          </p:cNvPicPr>
          <p:nvPr/>
        </p:nvPicPr>
        <p:blipFill>
          <a:blip r:embed="rId6"/>
          <a:stretch>
            <a:fillRect/>
          </a:stretch>
        </p:blipFill>
        <p:spPr>
          <a:xfrm>
            <a:off x="5240620" y="2228884"/>
            <a:ext cx="2678887" cy="1478585"/>
          </a:xfrm>
          <a:prstGeom prst="rect">
            <a:avLst/>
          </a:prstGeom>
        </p:spPr>
      </p:pic>
      <p:sp>
        <p:nvSpPr>
          <p:cNvPr id="4" name="Content Placeholder 3">
            <a:extLst>
              <a:ext uri="{FF2B5EF4-FFF2-40B4-BE49-F238E27FC236}">
                <a16:creationId xmlns:a16="http://schemas.microsoft.com/office/drawing/2014/main" id="{389BD4EF-8980-D0B8-123E-D5C21CF2CB7B}"/>
              </a:ext>
            </a:extLst>
          </p:cNvPr>
          <p:cNvSpPr>
            <a:spLocks noGrp="1"/>
          </p:cNvSpPr>
          <p:nvPr>
            <p:ph sz="quarter" idx="11"/>
          </p:nvPr>
        </p:nvSpPr>
        <p:spPr>
          <a:xfrm>
            <a:off x="404812" y="3968310"/>
            <a:ext cx="8271473" cy="344128"/>
          </a:xfrm>
        </p:spPr>
        <p:txBody>
          <a:bodyPr wrap="square" lIns="0" tIns="18000" rIns="0" bIns="18000" anchor="ctr" anchorCtr="0">
            <a:spAutoFit/>
          </a:bodyPr>
          <a:lstStyle/>
          <a:p>
            <a:pPr marL="0" indent="0">
              <a:buNone/>
              <a:defRPr/>
            </a:pPr>
            <a:r>
              <a:rPr lang="en-US" sz="2000" noProof="0" dirty="0"/>
              <a:t>The equivalent resistance seen by the source is</a:t>
            </a:r>
          </a:p>
        </p:txBody>
      </p:sp>
      <p:graphicFrame>
        <p:nvGraphicFramePr>
          <p:cNvPr id="29" name="Object 28" descr="The figure illustrates an algebraic expression for R subscript eq.&#10;Long description is available in notes, Press F6.&#10;">
            <a:extLst>
              <a:ext uri="{FF2B5EF4-FFF2-40B4-BE49-F238E27FC236}">
                <a16:creationId xmlns:a16="http://schemas.microsoft.com/office/drawing/2014/main" id="{BC4CBCE3-942E-484C-8B09-3275B6AE5C5D}"/>
              </a:ext>
            </a:extLst>
          </p:cNvPr>
          <p:cNvGraphicFramePr>
            <a:graphicFrameLocks noChangeAspect="1"/>
          </p:cNvGraphicFramePr>
          <p:nvPr/>
        </p:nvGraphicFramePr>
        <p:xfrm>
          <a:off x="1993106" y="4418825"/>
          <a:ext cx="5170488" cy="368300"/>
        </p:xfrm>
        <a:graphic>
          <a:graphicData uri="http://schemas.openxmlformats.org/presentationml/2006/ole">
            <mc:AlternateContent xmlns:mc="http://schemas.openxmlformats.org/markup-compatibility/2006">
              <mc:Choice xmlns:v="urn:schemas-microsoft-com:vml" Requires="v">
                <p:oleObj name="Equation" r:id="rId7" imgW="3936960" imgH="279360" progId="Equation.DSMT4">
                  <p:embed/>
                </p:oleObj>
              </mc:Choice>
              <mc:Fallback>
                <p:oleObj name="Equation" r:id="rId7" imgW="3936960" imgH="279360" progId="Equation.DSMT4">
                  <p:embed/>
                  <p:pic>
                    <p:nvPicPr>
                      <p:cNvPr id="29" name="Object 28" descr="The figure illustrates an algebraic expression for R subscript eq.&#10;Long description is available in notes, Press F6.&#10;">
                        <a:extLst>
                          <a:ext uri="{FF2B5EF4-FFF2-40B4-BE49-F238E27FC236}">
                            <a16:creationId xmlns:a16="http://schemas.microsoft.com/office/drawing/2014/main" id="{BC4CBCE3-942E-484C-8B09-3275B6AE5C5D}"/>
                          </a:ext>
                        </a:extLst>
                      </p:cNvPr>
                      <p:cNvPicPr/>
                      <p:nvPr/>
                    </p:nvPicPr>
                    <p:blipFill>
                      <a:blip r:embed="rId8"/>
                      <a:stretch>
                        <a:fillRect/>
                      </a:stretch>
                    </p:blipFill>
                    <p:spPr>
                      <a:xfrm>
                        <a:off x="1993106" y="4418825"/>
                        <a:ext cx="5170488" cy="368300"/>
                      </a:xfrm>
                      <a:prstGeom prst="rect">
                        <a:avLst/>
                      </a:prstGeom>
                    </p:spPr>
                  </p:pic>
                </p:oleObj>
              </mc:Fallback>
            </mc:AlternateContent>
          </a:graphicData>
        </a:graphic>
      </p:graphicFrame>
      <p:graphicFrame>
        <p:nvGraphicFramePr>
          <p:cNvPr id="30" name="Object 29" descr="equals 5 plus 50 plus 25 equals 80 Ohms.&#10;">
            <a:extLst>
              <a:ext uri="{FF2B5EF4-FFF2-40B4-BE49-F238E27FC236}">
                <a16:creationId xmlns:a16="http://schemas.microsoft.com/office/drawing/2014/main" id="{A7CC02EE-1BE1-6FB2-146C-B30B7A91A6B3}"/>
              </a:ext>
            </a:extLst>
          </p:cNvPr>
          <p:cNvGraphicFramePr>
            <a:graphicFrameLocks noChangeAspect="1"/>
          </p:cNvGraphicFramePr>
          <p:nvPr/>
        </p:nvGraphicFramePr>
        <p:xfrm>
          <a:off x="1925638" y="4851657"/>
          <a:ext cx="2217737" cy="285750"/>
        </p:xfrm>
        <a:graphic>
          <a:graphicData uri="http://schemas.openxmlformats.org/presentationml/2006/ole">
            <mc:AlternateContent xmlns:mc="http://schemas.openxmlformats.org/markup-compatibility/2006">
              <mc:Choice xmlns:v="urn:schemas-microsoft-com:vml" Requires="v">
                <p:oleObj name="Equation" r:id="rId9" imgW="1688760" imgH="215640" progId="Equation.DSMT4">
                  <p:embed/>
                </p:oleObj>
              </mc:Choice>
              <mc:Fallback>
                <p:oleObj name="Equation" r:id="rId9" imgW="1688760" imgH="215640" progId="Equation.DSMT4">
                  <p:embed/>
                  <p:pic>
                    <p:nvPicPr>
                      <p:cNvPr id="30" name="Object 29" descr="equals 5 plus 50 plus 25 equals 80 Ohms.&#10;">
                        <a:extLst>
                          <a:ext uri="{FF2B5EF4-FFF2-40B4-BE49-F238E27FC236}">
                            <a16:creationId xmlns:a16="http://schemas.microsoft.com/office/drawing/2014/main" id="{A7CC02EE-1BE1-6FB2-146C-B30B7A91A6B3}"/>
                          </a:ext>
                        </a:extLst>
                      </p:cNvPr>
                      <p:cNvPicPr/>
                      <p:nvPr/>
                    </p:nvPicPr>
                    <p:blipFill>
                      <a:blip r:embed="rId10"/>
                      <a:stretch>
                        <a:fillRect/>
                      </a:stretch>
                    </p:blipFill>
                    <p:spPr>
                      <a:xfrm>
                        <a:off x="1925638" y="4851657"/>
                        <a:ext cx="2217737" cy="28575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6FCA6EF2-78BD-C08D-3658-CC9D40E3065B}"/>
              </a:ext>
            </a:extLst>
          </p:cNvPr>
          <p:cNvSpPr>
            <a:spLocks noGrp="1"/>
          </p:cNvSpPr>
          <p:nvPr>
            <p:ph sz="quarter" idx="12"/>
          </p:nvPr>
        </p:nvSpPr>
        <p:spPr>
          <a:xfrm>
            <a:off x="408975" y="5208695"/>
            <a:ext cx="8267309" cy="344128"/>
          </a:xfrm>
        </p:spPr>
        <p:txBody>
          <a:bodyPr wrap="square" lIns="0" tIns="18000" rIns="0" bIns="18000" anchor="ctr" anchorCtr="0">
            <a:spAutoFit/>
          </a:bodyPr>
          <a:lstStyle/>
          <a:p>
            <a:pPr marL="0" indent="0">
              <a:buNone/>
              <a:defRPr/>
            </a:pPr>
            <a:r>
              <a:rPr lang="en-US" sz="2000" noProof="0" dirty="0"/>
              <a:t>Therefore, the current in the voltage source is </a:t>
            </a:r>
          </a:p>
        </p:txBody>
      </p:sp>
      <p:graphicFrame>
        <p:nvGraphicFramePr>
          <p:cNvPr id="31" name="Object 30" descr="i equals StartFraction 40 over 80 EndFraction equals 0.5 Amperes.&#10;">
            <a:extLst>
              <a:ext uri="{FF2B5EF4-FFF2-40B4-BE49-F238E27FC236}">
                <a16:creationId xmlns:a16="http://schemas.microsoft.com/office/drawing/2014/main" id="{AB1EDA6A-59D9-2CCF-E517-478935B1E163}"/>
              </a:ext>
            </a:extLst>
          </p:cNvPr>
          <p:cNvGraphicFramePr>
            <a:graphicFrameLocks noChangeAspect="1"/>
          </p:cNvGraphicFramePr>
          <p:nvPr/>
        </p:nvGraphicFramePr>
        <p:xfrm>
          <a:off x="3949700" y="5664228"/>
          <a:ext cx="1316037" cy="520700"/>
        </p:xfrm>
        <a:graphic>
          <a:graphicData uri="http://schemas.openxmlformats.org/presentationml/2006/ole">
            <mc:AlternateContent xmlns:mc="http://schemas.openxmlformats.org/markup-compatibility/2006">
              <mc:Choice xmlns:v="urn:schemas-microsoft-com:vml" Requires="v">
                <p:oleObj name="Equation" r:id="rId11" imgW="1002960" imgH="393480" progId="Equation.DSMT4">
                  <p:embed/>
                </p:oleObj>
              </mc:Choice>
              <mc:Fallback>
                <p:oleObj name="Equation" r:id="rId11" imgW="1002960" imgH="393480" progId="Equation.DSMT4">
                  <p:embed/>
                  <p:pic>
                    <p:nvPicPr>
                      <p:cNvPr id="31" name="Object 30" descr="i equals StartFraction 40 over 80 EndFraction equals 0.5 Amperes.&#10;">
                        <a:extLst>
                          <a:ext uri="{FF2B5EF4-FFF2-40B4-BE49-F238E27FC236}">
                            <a16:creationId xmlns:a16="http://schemas.microsoft.com/office/drawing/2014/main" id="{AB1EDA6A-59D9-2CCF-E517-478935B1E163}"/>
                          </a:ext>
                        </a:extLst>
                      </p:cNvPr>
                      <p:cNvPicPr/>
                      <p:nvPr/>
                    </p:nvPicPr>
                    <p:blipFill>
                      <a:blip r:embed="rId12"/>
                      <a:stretch>
                        <a:fillRect/>
                      </a:stretch>
                    </p:blipFill>
                    <p:spPr>
                      <a:xfrm>
                        <a:off x="3949700" y="5664228"/>
                        <a:ext cx="1316037" cy="520700"/>
                      </a:xfrm>
                      <a:prstGeom prst="rect">
                        <a:avLst/>
                      </a:prstGeom>
                    </p:spPr>
                  </p:pic>
                </p:oleObj>
              </mc:Fallback>
            </mc:AlternateContent>
          </a:graphicData>
        </a:graphic>
      </p:graphicFrame>
    </p:spTree>
    <p:extLst>
      <p:ext uri="{BB962C8B-B14F-4D97-AF65-F5344CB8AC3E}">
        <p14:creationId xmlns:p14="http://schemas.microsoft.com/office/powerpoint/2010/main" val="4258726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39BF5-6269-D760-9234-064D7D90CF77}"/>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7110AF54-F2A5-CBA7-F506-F386D38580B2}"/>
              </a:ext>
            </a:extLst>
          </p:cNvPr>
          <p:cNvSpPr>
            <a:spLocks noGrp="1"/>
          </p:cNvSpPr>
          <p:nvPr>
            <p:ph type="title"/>
          </p:nvPr>
        </p:nvSpPr>
        <p:spPr>
          <a:xfrm>
            <a:off x="399449" y="382186"/>
            <a:ext cx="8271475" cy="590349"/>
          </a:xfrm>
        </p:spPr>
        <p:txBody>
          <a:bodyPr wrap="square" lIns="0" tIns="18000" rIns="0" bIns="18000" anchor="ctr">
            <a:spAutoFit/>
          </a:bodyPr>
          <a:lstStyle/>
          <a:p>
            <a:r>
              <a:rPr lang="en-US" noProof="0" dirty="0"/>
              <a:t>Chapter 3 – Simple resistive circuits</a:t>
            </a:r>
            <a:endParaRPr lang="en-US" sz="2800" noProof="0" dirty="0"/>
          </a:p>
        </p:txBody>
      </p:sp>
      <p:pic>
        <p:nvPicPr>
          <p:cNvPr id="12" name="Content Placeholder 11" descr="A white cell phone with a red line&#10;&#10;AI-generated content may be incorrect.">
            <a:extLst>
              <a:ext uri="{FF2B5EF4-FFF2-40B4-BE49-F238E27FC236}">
                <a16:creationId xmlns:a16="http://schemas.microsoft.com/office/drawing/2014/main" id="{E548FFED-28C9-166E-CBFD-7A45107A376B}"/>
              </a:ext>
            </a:extLst>
          </p:cNvPr>
          <p:cNvPicPr>
            <a:picLocks noGrp="1" noChangeAspect="1"/>
          </p:cNvPicPr>
          <p:nvPr>
            <p:ph sz="quarter" idx="10"/>
          </p:nvPr>
        </p:nvPicPr>
        <p:blipFill>
          <a:blip r:embed="rId3"/>
          <a:stretch>
            <a:fillRect/>
          </a:stretch>
        </p:blipFill>
        <p:spPr>
          <a:xfrm>
            <a:off x="179097" y="972535"/>
            <a:ext cx="2394419" cy="3912832"/>
          </a:xfrm>
        </p:spPr>
      </p:pic>
      <p:pic>
        <p:nvPicPr>
          <p:cNvPr id="20" name="Content Placeholder 19" descr="A diagram of a hand pressing a button&#10;&#10;AI-generated content may be incorrect.">
            <a:extLst>
              <a:ext uri="{FF2B5EF4-FFF2-40B4-BE49-F238E27FC236}">
                <a16:creationId xmlns:a16="http://schemas.microsoft.com/office/drawing/2014/main" id="{895A8CBE-C264-43E5-E56D-64F4CDAFA9CB}"/>
              </a:ext>
            </a:extLst>
          </p:cNvPr>
          <p:cNvPicPr>
            <a:picLocks noGrp="1" noChangeAspect="1"/>
          </p:cNvPicPr>
          <p:nvPr>
            <p:ph sz="quarter" idx="11"/>
          </p:nvPr>
        </p:nvPicPr>
        <p:blipFill>
          <a:blip r:embed="rId4"/>
          <a:stretch>
            <a:fillRect/>
          </a:stretch>
        </p:blipFill>
        <p:spPr>
          <a:xfrm>
            <a:off x="5320414" y="1230094"/>
            <a:ext cx="3823586" cy="1619476"/>
          </a:xfrm>
        </p:spPr>
      </p:pic>
      <p:sp>
        <p:nvSpPr>
          <p:cNvPr id="10" name="Content Placeholder 9">
            <a:extLst>
              <a:ext uri="{FF2B5EF4-FFF2-40B4-BE49-F238E27FC236}">
                <a16:creationId xmlns:a16="http://schemas.microsoft.com/office/drawing/2014/main" id="{782A9E99-7985-E53F-092D-FF1164D918D3}"/>
              </a:ext>
            </a:extLst>
          </p:cNvPr>
          <p:cNvSpPr>
            <a:spLocks noGrp="1"/>
          </p:cNvSpPr>
          <p:nvPr>
            <p:ph sz="quarter" idx="12"/>
          </p:nvPr>
        </p:nvSpPr>
        <p:spPr/>
        <p:txBody>
          <a:bodyPr/>
          <a:lstStyle/>
          <a:p>
            <a:endParaRPr lang="tr-TR"/>
          </a:p>
        </p:txBody>
      </p:sp>
      <p:pic>
        <p:nvPicPr>
          <p:cNvPr id="16" name="Picture 15">
            <a:extLst>
              <a:ext uri="{FF2B5EF4-FFF2-40B4-BE49-F238E27FC236}">
                <a16:creationId xmlns:a16="http://schemas.microsoft.com/office/drawing/2014/main" id="{5A0D9806-F190-8FA4-1A20-B5BEE247FED6}"/>
              </a:ext>
            </a:extLst>
          </p:cNvPr>
          <p:cNvPicPr>
            <a:picLocks noChangeAspect="1"/>
          </p:cNvPicPr>
          <p:nvPr/>
        </p:nvPicPr>
        <p:blipFill>
          <a:blip r:embed="rId5"/>
          <a:stretch>
            <a:fillRect/>
          </a:stretch>
        </p:blipFill>
        <p:spPr>
          <a:xfrm>
            <a:off x="2573516" y="1336724"/>
            <a:ext cx="3000549" cy="2000366"/>
          </a:xfrm>
          <a:prstGeom prst="rect">
            <a:avLst/>
          </a:prstGeom>
        </p:spPr>
      </p:pic>
      <p:pic>
        <p:nvPicPr>
          <p:cNvPr id="18" name="Picture 17">
            <a:extLst>
              <a:ext uri="{FF2B5EF4-FFF2-40B4-BE49-F238E27FC236}">
                <a16:creationId xmlns:a16="http://schemas.microsoft.com/office/drawing/2014/main" id="{6C650E08-BFB5-7275-2F9C-B80ED99D9984}"/>
              </a:ext>
            </a:extLst>
          </p:cNvPr>
          <p:cNvPicPr>
            <a:picLocks noChangeAspect="1"/>
          </p:cNvPicPr>
          <p:nvPr/>
        </p:nvPicPr>
        <p:blipFill>
          <a:blip r:embed="rId6"/>
          <a:stretch>
            <a:fillRect/>
          </a:stretch>
        </p:blipFill>
        <p:spPr>
          <a:xfrm>
            <a:off x="2090278" y="3520911"/>
            <a:ext cx="5887272" cy="1619476"/>
          </a:xfrm>
          <a:prstGeom prst="rect">
            <a:avLst/>
          </a:prstGeom>
        </p:spPr>
      </p:pic>
    </p:spTree>
    <p:extLst>
      <p:ext uri="{BB962C8B-B14F-4D97-AF65-F5344CB8AC3E}">
        <p14:creationId xmlns:p14="http://schemas.microsoft.com/office/powerpoint/2010/main" val="2787847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CC40-911F-2ADE-E6F7-AB40C4F9E7E5}"/>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9468A197-4D80-7714-CB71-B29D202A4078}"/>
              </a:ext>
            </a:extLst>
          </p:cNvPr>
          <p:cNvSpPr>
            <a:spLocks noGrp="1"/>
          </p:cNvSpPr>
          <p:nvPr>
            <p:ph type="title"/>
          </p:nvPr>
        </p:nvSpPr>
        <p:spPr>
          <a:xfrm>
            <a:off x="399449" y="382186"/>
            <a:ext cx="8271475" cy="590349"/>
          </a:xfrm>
        </p:spPr>
        <p:txBody>
          <a:bodyPr wrap="square" lIns="0" tIns="18000" rIns="0" bIns="18000" anchor="ctr">
            <a:spAutoFit/>
          </a:bodyPr>
          <a:lstStyle/>
          <a:p>
            <a:r>
              <a:rPr lang="en-US" noProof="0" dirty="0"/>
              <a:t>Chapter 3 – Simple resistive circuits</a:t>
            </a:r>
            <a:endParaRPr lang="en-US" sz="2800" noProof="0" dirty="0"/>
          </a:p>
        </p:txBody>
      </p:sp>
      <p:pic>
        <p:nvPicPr>
          <p:cNvPr id="12" name="Content Placeholder 11" descr="A white cell phone with a red line&#10;&#10;AI-generated content may be incorrect.">
            <a:extLst>
              <a:ext uri="{FF2B5EF4-FFF2-40B4-BE49-F238E27FC236}">
                <a16:creationId xmlns:a16="http://schemas.microsoft.com/office/drawing/2014/main" id="{D76E1602-0DE1-12A1-82A8-EEB02F1E40D3}"/>
              </a:ext>
            </a:extLst>
          </p:cNvPr>
          <p:cNvPicPr>
            <a:picLocks noGrp="1" noChangeAspect="1"/>
          </p:cNvPicPr>
          <p:nvPr>
            <p:ph sz="quarter" idx="10"/>
          </p:nvPr>
        </p:nvPicPr>
        <p:blipFill>
          <a:blip r:embed="rId3"/>
          <a:stretch>
            <a:fillRect/>
          </a:stretch>
        </p:blipFill>
        <p:spPr>
          <a:xfrm>
            <a:off x="179097" y="972535"/>
            <a:ext cx="2394419" cy="3912832"/>
          </a:xfrm>
        </p:spPr>
      </p:pic>
      <p:pic>
        <p:nvPicPr>
          <p:cNvPr id="3" name="Content Placeholder 2" descr="A black and white math equation&#10;&#10;AI-generated content may be incorrect.">
            <a:extLst>
              <a:ext uri="{FF2B5EF4-FFF2-40B4-BE49-F238E27FC236}">
                <a16:creationId xmlns:a16="http://schemas.microsoft.com/office/drawing/2014/main" id="{5068D974-7929-338C-D325-625D57DDE0BC}"/>
              </a:ext>
            </a:extLst>
          </p:cNvPr>
          <p:cNvPicPr>
            <a:picLocks noGrp="1" noChangeAspect="1"/>
          </p:cNvPicPr>
          <p:nvPr>
            <p:ph sz="quarter" idx="11"/>
          </p:nvPr>
        </p:nvPicPr>
        <p:blipFill>
          <a:blip r:embed="rId4"/>
          <a:stretch>
            <a:fillRect/>
          </a:stretch>
        </p:blipFill>
        <p:spPr>
          <a:xfrm>
            <a:off x="3001405" y="2688873"/>
            <a:ext cx="1347092" cy="1010321"/>
          </a:xfrm>
        </p:spPr>
      </p:pic>
      <p:pic>
        <p:nvPicPr>
          <p:cNvPr id="5" name="Content Placeholder 4" descr="A rectangular object with black lines&#10;&#10;AI-generated content may be incorrect.">
            <a:extLst>
              <a:ext uri="{FF2B5EF4-FFF2-40B4-BE49-F238E27FC236}">
                <a16:creationId xmlns:a16="http://schemas.microsoft.com/office/drawing/2014/main" id="{5BF157BF-F3ED-EB1A-3EFD-0A844F5E28CB}"/>
              </a:ext>
            </a:extLst>
          </p:cNvPr>
          <p:cNvPicPr>
            <a:picLocks noGrp="1" noChangeAspect="1"/>
          </p:cNvPicPr>
          <p:nvPr>
            <p:ph sz="quarter" idx="12"/>
          </p:nvPr>
        </p:nvPicPr>
        <p:blipFill>
          <a:blip r:embed="rId5"/>
          <a:stretch>
            <a:fillRect/>
          </a:stretch>
        </p:blipFill>
        <p:spPr>
          <a:xfrm>
            <a:off x="2439069" y="3699194"/>
            <a:ext cx="3361967" cy="2677932"/>
          </a:xfrm>
        </p:spPr>
      </p:pic>
      <p:pic>
        <p:nvPicPr>
          <p:cNvPr id="18" name="Picture 17">
            <a:extLst>
              <a:ext uri="{FF2B5EF4-FFF2-40B4-BE49-F238E27FC236}">
                <a16:creationId xmlns:a16="http://schemas.microsoft.com/office/drawing/2014/main" id="{CFBF9942-AD6D-DF69-501B-11B2ED07FD2B}"/>
              </a:ext>
            </a:extLst>
          </p:cNvPr>
          <p:cNvPicPr>
            <a:picLocks noChangeAspect="1"/>
          </p:cNvPicPr>
          <p:nvPr/>
        </p:nvPicPr>
        <p:blipFill>
          <a:blip r:embed="rId6"/>
          <a:stretch>
            <a:fillRect/>
          </a:stretch>
        </p:blipFill>
        <p:spPr>
          <a:xfrm>
            <a:off x="2439069" y="1149931"/>
            <a:ext cx="5887272" cy="1619476"/>
          </a:xfrm>
          <a:prstGeom prst="rect">
            <a:avLst/>
          </a:prstGeom>
        </p:spPr>
      </p:pic>
      <p:pic>
        <p:nvPicPr>
          <p:cNvPr id="7" name="Picture 6">
            <a:extLst>
              <a:ext uri="{FF2B5EF4-FFF2-40B4-BE49-F238E27FC236}">
                <a16:creationId xmlns:a16="http://schemas.microsoft.com/office/drawing/2014/main" id="{AD1EC577-9A8E-C602-3829-7F2256A6EAE2}"/>
              </a:ext>
            </a:extLst>
          </p:cNvPr>
          <p:cNvPicPr>
            <a:picLocks noChangeAspect="1"/>
          </p:cNvPicPr>
          <p:nvPr/>
        </p:nvPicPr>
        <p:blipFill>
          <a:blip r:embed="rId7"/>
          <a:stretch>
            <a:fillRect/>
          </a:stretch>
        </p:blipFill>
        <p:spPr>
          <a:xfrm>
            <a:off x="5801036" y="3924938"/>
            <a:ext cx="1752845" cy="704948"/>
          </a:xfrm>
          <a:prstGeom prst="rect">
            <a:avLst/>
          </a:prstGeom>
        </p:spPr>
      </p:pic>
    </p:spTree>
    <p:extLst>
      <p:ext uri="{BB962C8B-B14F-4D97-AF65-F5344CB8AC3E}">
        <p14:creationId xmlns:p14="http://schemas.microsoft.com/office/powerpoint/2010/main" val="2949520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279B5-7D0F-0759-A1B2-F26F7B45D1F5}"/>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46F74FD9-439D-039B-99D6-AC33EC93AF53}"/>
              </a:ext>
            </a:extLst>
          </p:cNvPr>
          <p:cNvSpPr>
            <a:spLocks noGrp="1"/>
          </p:cNvSpPr>
          <p:nvPr>
            <p:ph type="title"/>
          </p:nvPr>
        </p:nvSpPr>
        <p:spPr>
          <a:xfrm>
            <a:off x="399449" y="382186"/>
            <a:ext cx="8271475" cy="590349"/>
          </a:xfrm>
        </p:spPr>
        <p:txBody>
          <a:bodyPr wrap="square" lIns="0" tIns="18000" rIns="0" bIns="18000" anchor="ctr">
            <a:spAutoFit/>
          </a:bodyPr>
          <a:lstStyle/>
          <a:p>
            <a:r>
              <a:rPr lang="en-US" noProof="0" dirty="0"/>
              <a:t>Chapter 3 – Simple resistive circuits</a:t>
            </a:r>
            <a:endParaRPr lang="en-US" sz="2800" noProof="0" dirty="0"/>
          </a:p>
        </p:txBody>
      </p:sp>
      <p:pic>
        <p:nvPicPr>
          <p:cNvPr id="12" name="Content Placeholder 11" descr="A white cell phone with a red line&#10;&#10;AI-generated content may be incorrect.">
            <a:extLst>
              <a:ext uri="{FF2B5EF4-FFF2-40B4-BE49-F238E27FC236}">
                <a16:creationId xmlns:a16="http://schemas.microsoft.com/office/drawing/2014/main" id="{E8B8C1BB-81E2-2806-FB94-E257A567B67D}"/>
              </a:ext>
            </a:extLst>
          </p:cNvPr>
          <p:cNvPicPr>
            <a:picLocks noGrp="1" noChangeAspect="1"/>
          </p:cNvPicPr>
          <p:nvPr>
            <p:ph sz="quarter" idx="10"/>
          </p:nvPr>
        </p:nvPicPr>
        <p:blipFill>
          <a:blip r:embed="rId3"/>
          <a:stretch>
            <a:fillRect/>
          </a:stretch>
        </p:blipFill>
        <p:spPr>
          <a:xfrm>
            <a:off x="179097" y="972535"/>
            <a:ext cx="2394419" cy="3912832"/>
          </a:xfrm>
        </p:spPr>
      </p:pic>
      <p:pic>
        <p:nvPicPr>
          <p:cNvPr id="10" name="Content Placeholder 9" descr="A diagram of a mathematical equation&#10;&#10;AI-generated content may be incorrect.">
            <a:extLst>
              <a:ext uri="{FF2B5EF4-FFF2-40B4-BE49-F238E27FC236}">
                <a16:creationId xmlns:a16="http://schemas.microsoft.com/office/drawing/2014/main" id="{1FA3C0A9-B5CF-F070-B83C-79EE9AB80179}"/>
              </a:ext>
            </a:extLst>
          </p:cNvPr>
          <p:cNvPicPr>
            <a:picLocks noGrp="1" noChangeAspect="1"/>
          </p:cNvPicPr>
          <p:nvPr>
            <p:ph sz="quarter" idx="11"/>
          </p:nvPr>
        </p:nvPicPr>
        <p:blipFill>
          <a:blip r:embed="rId4"/>
          <a:stretch>
            <a:fillRect/>
          </a:stretch>
        </p:blipFill>
        <p:spPr>
          <a:xfrm>
            <a:off x="2670292" y="1312649"/>
            <a:ext cx="2559154" cy="1981281"/>
          </a:xfrm>
        </p:spPr>
      </p:pic>
      <p:pic>
        <p:nvPicPr>
          <p:cNvPr id="13" name="Content Placeholder 12" descr="A black text with a white background&#10;&#10;AI-generated content may be incorrect.">
            <a:extLst>
              <a:ext uri="{FF2B5EF4-FFF2-40B4-BE49-F238E27FC236}">
                <a16:creationId xmlns:a16="http://schemas.microsoft.com/office/drawing/2014/main" id="{9E6D479D-8BF9-8A48-F367-796F1A99BCDF}"/>
              </a:ext>
            </a:extLst>
          </p:cNvPr>
          <p:cNvPicPr>
            <a:picLocks noGrp="1" noChangeAspect="1"/>
          </p:cNvPicPr>
          <p:nvPr>
            <p:ph sz="quarter" idx="12"/>
          </p:nvPr>
        </p:nvPicPr>
        <p:blipFill>
          <a:blip r:embed="rId5"/>
          <a:stretch>
            <a:fillRect/>
          </a:stretch>
        </p:blipFill>
        <p:spPr>
          <a:xfrm>
            <a:off x="5674608" y="1312650"/>
            <a:ext cx="1903985" cy="780102"/>
          </a:xfrm>
        </p:spPr>
      </p:pic>
      <p:pic>
        <p:nvPicPr>
          <p:cNvPr id="15" name="Picture 14" descr="A black text with a white background&#10;&#10;AI-generated content may be incorrect.">
            <a:extLst>
              <a:ext uri="{FF2B5EF4-FFF2-40B4-BE49-F238E27FC236}">
                <a16:creationId xmlns:a16="http://schemas.microsoft.com/office/drawing/2014/main" id="{BDCE0994-E179-3322-F7AF-51DC7A01DE87}"/>
              </a:ext>
            </a:extLst>
          </p:cNvPr>
          <p:cNvPicPr>
            <a:picLocks noChangeAspect="1"/>
          </p:cNvPicPr>
          <p:nvPr/>
        </p:nvPicPr>
        <p:blipFill>
          <a:blip r:embed="rId6"/>
          <a:stretch>
            <a:fillRect/>
          </a:stretch>
        </p:blipFill>
        <p:spPr>
          <a:xfrm>
            <a:off x="5674608" y="2042816"/>
            <a:ext cx="2326123" cy="780102"/>
          </a:xfrm>
          <a:prstGeom prst="rect">
            <a:avLst/>
          </a:prstGeom>
        </p:spPr>
      </p:pic>
    </p:spTree>
    <p:extLst>
      <p:ext uri="{BB962C8B-B14F-4D97-AF65-F5344CB8AC3E}">
        <p14:creationId xmlns:p14="http://schemas.microsoft.com/office/powerpoint/2010/main" val="400960185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1071</TotalTime>
  <Words>2409</Words>
  <Application>Microsoft Office PowerPoint</Application>
  <PresentationFormat>On-screen Show (4:3)</PresentationFormat>
  <Paragraphs>258</Paragraphs>
  <Slides>33</Slides>
  <Notes>8</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39" baseType="lpstr">
      <vt:lpstr>Arial</vt:lpstr>
      <vt:lpstr>Verdana</vt:lpstr>
      <vt:lpstr>Times New Roman</vt:lpstr>
      <vt:lpstr>USHE</vt:lpstr>
      <vt:lpstr>USHE_slide options</vt:lpstr>
      <vt:lpstr>Equation</vt:lpstr>
      <vt:lpstr>Electric Circuits</vt:lpstr>
      <vt:lpstr>Chapter 3 – Simple resistive circuits (1 of 22)</vt:lpstr>
      <vt:lpstr>Chapter 3 – Simple resistive circuits (2 of 22)</vt:lpstr>
      <vt:lpstr>Chapter 3 – Simple resistive circuits (3 of 22)</vt:lpstr>
      <vt:lpstr>Chapter 3 – Simple resistive circuits (4 of 22)</vt:lpstr>
      <vt:lpstr>Chapter 3 – Simple resistive circuits (5 of 22)</vt:lpstr>
      <vt:lpstr>Chapter 3 – Simple resistive circuits (5 of 22)</vt:lpstr>
      <vt:lpstr>Chapter 3 – Simple resistive circuits (6 of 22)</vt:lpstr>
      <vt:lpstr>Chapter 3 – Simple resistive circuits (7 of 22)</vt:lpstr>
      <vt:lpstr>Chapter 3 – Simple resistive circuits (7 of 22)</vt:lpstr>
      <vt:lpstr>Chapter 3 – Simple resistive circuits (8 of 22)</vt:lpstr>
      <vt:lpstr>Chapter 3 – Simple resistive circuits (8 of 22)</vt:lpstr>
      <vt:lpstr>Chapter 3 – Simple resistive circuits (9 of 22)</vt:lpstr>
      <vt:lpstr>Chapter 3 – Simple resistive circuits (10 of 22)</vt:lpstr>
      <vt:lpstr>Chapter 3 – Simple resistive circuits (10 of 22)</vt:lpstr>
      <vt:lpstr>Chapter 3 – Simple resistive circuits (11 of 22)</vt:lpstr>
      <vt:lpstr>Chapter 3 – Simple resistive circuits (11 of 22)</vt:lpstr>
      <vt:lpstr>Chapter 3 – Simple resistive circuits (12 of 22)</vt:lpstr>
      <vt:lpstr>Chapter 3 – Simple resistive circuits (13 of 22)</vt:lpstr>
      <vt:lpstr>Chapter 3 – Simple resistive circuits (14 of 22)</vt:lpstr>
      <vt:lpstr>Chapter 3 – Simple resistive circuits (16 of 22)</vt:lpstr>
      <vt:lpstr>Chapter 3 – Simple resistive circuits (16 of 22)</vt:lpstr>
      <vt:lpstr>Chapter 3 – Simple resistive circuits (17 of 22)</vt:lpstr>
      <vt:lpstr>Chapter 3 – Simple resistive circuits (17 of 22)</vt:lpstr>
      <vt:lpstr>Chapter 3 – Simple resistive circuits (18 of 22)</vt:lpstr>
      <vt:lpstr>Chapter 3 – Simple resistive circuits (19 of 22)</vt:lpstr>
      <vt:lpstr>Chapter 3 – Simple resistive circuits (19 of 22)</vt:lpstr>
      <vt:lpstr>Chapter 3 – Simple resistive circuits (20 of 22)</vt:lpstr>
      <vt:lpstr>Chapter 3 – Simple resistive circuits (21 of 22)</vt:lpstr>
      <vt:lpstr>Chapter 3 – Simple resistive circuits (22 of 22)</vt:lpstr>
      <vt:lpstr>Chapter 3 – Simple resistive circuits</vt:lpstr>
      <vt:lpstr>Chapter 3 – Simple resistive circuits</vt:lpstr>
      <vt:lpstr>Chapter 3 – Simple resistive circuits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3 – Part 2</dc:title>
  <dc:subject>Engineering</dc:subject>
  <dc:creator>Nilsson and Riedel</dc:creator>
  <cp:keywords/>
  <dc:description/>
  <cp:lastModifiedBy>kml erd</cp:lastModifiedBy>
  <cp:revision>313</cp:revision>
  <dcterms:modified xsi:type="dcterms:W3CDTF">2025-09-30T11:56:13Z</dcterms:modified>
</cp:coreProperties>
</file>