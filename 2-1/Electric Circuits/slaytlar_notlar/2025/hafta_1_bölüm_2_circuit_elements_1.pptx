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18"/>
  </p:notesMasterIdLst>
  <p:handoutMasterIdLst>
    <p:handoutMasterId r:id="rId19"/>
  </p:handoutMasterIdLst>
  <p:sldIdLst>
    <p:sldId id="330" r:id="rId3"/>
    <p:sldId id="718" r:id="rId4"/>
    <p:sldId id="719" r:id="rId5"/>
    <p:sldId id="720" r:id="rId6"/>
    <p:sldId id="721" r:id="rId7"/>
    <p:sldId id="722" r:id="rId8"/>
    <p:sldId id="723" r:id="rId9"/>
    <p:sldId id="724" r:id="rId10"/>
    <p:sldId id="725" r:id="rId11"/>
    <p:sldId id="726" r:id="rId12"/>
    <p:sldId id="728" r:id="rId13"/>
    <p:sldId id="729" r:id="rId14"/>
    <p:sldId id="733" r:id="rId15"/>
    <p:sldId id="732" r:id="rId16"/>
    <p:sldId id="717" r:id="rId17"/>
  </p:sldIdLst>
  <p:sldSz cx="9144000" cy="6858000" type="screen4x3"/>
  <p:notesSz cx="6858000" cy="9144000"/>
  <p:embeddedFontLst>
    <p:embeddedFont>
      <p:font typeface="Verdana" panose="020B060403050404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4" userDrawn="1">
          <p15:clr>
            <a:srgbClr val="A4A3A4"/>
          </p15:clr>
        </p15:guide>
        <p15:guide id="2" pos="264" userDrawn="1">
          <p15:clr>
            <a:srgbClr val="A4A3A4"/>
          </p15:clr>
        </p15:guide>
        <p15:guide id="3" orient="horz" pos="867" userDrawn="1">
          <p15:clr>
            <a:srgbClr val="A4A3A4"/>
          </p15:clr>
        </p15:guide>
        <p15:guide id="4" pos="2880" userDrawn="1">
          <p15:clr>
            <a:srgbClr val="A4A3A4"/>
          </p15:clr>
        </p15:guide>
        <p15:guide id="5" pos="5462" userDrawn="1">
          <p15:clr>
            <a:srgbClr val="A4A3A4"/>
          </p15:clr>
        </p15:guide>
        <p15:guide id="6" orient="horz" pos="4042" userDrawn="1">
          <p15:clr>
            <a:srgbClr val="A4A3A4"/>
          </p15:clr>
        </p15:guide>
        <p15:guide id="7" orient="horz" pos="218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096" autoAdjust="0"/>
    <p:restoredTop sz="94291" autoAdjust="0"/>
  </p:normalViewPr>
  <p:slideViewPr>
    <p:cSldViewPr snapToGrid="0" snapToObjects="1">
      <p:cViewPr varScale="1">
        <p:scale>
          <a:sx n="110" d="100"/>
          <a:sy n="110" d="100"/>
        </p:scale>
        <p:origin x="1800" y="96"/>
      </p:cViewPr>
      <p:guideLst>
        <p:guide orient="horz" pos="414"/>
        <p:guide pos="264"/>
        <p:guide orient="horz" pos="867"/>
        <p:guide pos="2880"/>
        <p:guide pos="5462"/>
        <p:guide orient="horz" pos="4042"/>
        <p:guide orient="horz" pos="2183"/>
      </p:guideLst>
    </p:cSldViewPr>
  </p:slideViewPr>
  <p:outlineViewPr>
    <p:cViewPr>
      <p:scale>
        <a:sx n="33" d="100"/>
        <a:sy n="33" d="100"/>
      </p:scale>
      <p:origin x="0" y="-4218"/>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 Math Type 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a:t>
            </a:r>
          </a:p>
          <a:p>
            <a:r>
              <a:rPr lang="en-US" sz="1200" b="0" i="0" u="none" strike="noStrike" kern="1200" cap="none" noProof="0" dirty="0">
                <a:solidFill>
                  <a:schemeClr val="dk1"/>
                </a:solidFill>
                <a:effectLst/>
                <a:latin typeface="Arial"/>
                <a:ea typeface="Arial"/>
                <a:cs typeface="Arial"/>
                <a:sym typeface="Arial"/>
              </a:rPr>
              <a:t>p subscript 8 Amperes Baseline equals v Open Parenthesis 8 Close Parenthesis equals v subscript g Baseline Open Parenthesis 8 Close Parenthesis equals Open Parenthesis negative 2 Close Parenthesis multiplied by Open Parenthesis 8 Close Parenthesis equals negative 16 Watts.</a:t>
            </a:r>
            <a:r>
              <a:rPr lang="en-US" noProof="0" dirty="0"/>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81802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9/22/2025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10.wmf"/><Relationship Id="rId13" Type="http://schemas.openxmlformats.org/officeDocument/2006/relationships/image" Target="../media/image13.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5.bin"/><Relationship Id="rId2" Type="http://schemas.openxmlformats.org/officeDocument/2006/relationships/image" Target="../media/image7.png"/><Relationship Id="rId1" Type="http://schemas.openxmlformats.org/officeDocument/2006/relationships/slideLayout" Target="../slideLayouts/slideLayout8.xml"/><Relationship Id="rId6" Type="http://schemas.openxmlformats.org/officeDocument/2006/relationships/image" Target="../media/image9.wmf"/><Relationship Id="rId11" Type="http://schemas.openxmlformats.org/officeDocument/2006/relationships/image" Target="../media/image12.wmf"/><Relationship Id="rId5" Type="http://schemas.openxmlformats.org/officeDocument/2006/relationships/oleObject" Target="../embeddings/oleObject2.bin"/><Relationship Id="rId15" Type="http://schemas.openxmlformats.org/officeDocument/2006/relationships/image" Target="../media/image14.wmf"/><Relationship Id="rId10" Type="http://schemas.openxmlformats.org/officeDocument/2006/relationships/oleObject" Target="../embeddings/oleObject4.bin"/><Relationship Id="rId4" Type="http://schemas.openxmlformats.org/officeDocument/2006/relationships/image" Target="../media/image8.wmf"/><Relationship Id="rId9" Type="http://schemas.openxmlformats.org/officeDocument/2006/relationships/image" Target="../media/image11.png"/><Relationship Id="rId1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image" Target="../media/image21.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oleObject" Target="../embeddings/oleObject11.bin"/><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image" Target="../media/image17.wmf"/><Relationship Id="rId11" Type="http://schemas.openxmlformats.org/officeDocument/2006/relationships/image" Target="../media/image20.wmf"/><Relationship Id="rId5" Type="http://schemas.openxmlformats.org/officeDocument/2006/relationships/oleObject" Target="../embeddings/oleObject8.bin"/><Relationship Id="rId15" Type="http://schemas.openxmlformats.org/officeDocument/2006/relationships/image" Target="../media/image22.wmf"/><Relationship Id="rId10" Type="http://schemas.openxmlformats.org/officeDocument/2006/relationships/oleObject" Target="../embeddings/oleObject10.bin"/><Relationship Id="rId4" Type="http://schemas.openxmlformats.org/officeDocument/2006/relationships/image" Target="../media/image16.wmf"/><Relationship Id="rId9" Type="http://schemas.openxmlformats.org/officeDocument/2006/relationships/image" Target="../media/image19.png"/><Relationship Id="rId1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3.xml"/><Relationship Id="rId7" Type="http://schemas.openxmlformats.org/officeDocument/2006/relationships/image" Target="../media/image23.w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13.bin"/><Relationship Id="rId5" Type="http://schemas.openxmlformats.org/officeDocument/2006/relationships/slideLayout" Target="../slideLayouts/slideLayout8.xml"/><Relationship Id="rId10" Type="http://schemas.openxmlformats.org/officeDocument/2006/relationships/image" Target="../media/image26.png"/><Relationship Id="rId4" Type="http://schemas.openxmlformats.org/officeDocument/2006/relationships/tags" Target="../tags/tag4.xml"/><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7.xml"/><Relationship Id="rId7" Type="http://schemas.openxmlformats.org/officeDocument/2006/relationships/image" Target="../media/image25.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4.png"/><Relationship Id="rId5" Type="http://schemas.openxmlformats.org/officeDocument/2006/relationships/slideLayout" Target="../slideLayouts/slideLayout8.xml"/><Relationship Id="rId4" Type="http://schemas.openxmlformats.org/officeDocument/2006/relationships/tags" Target="../tags/tag8.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1.png"/><Relationship Id="rId5" Type="http://schemas.openxmlformats.org/officeDocument/2006/relationships/image" Target="../media/image24.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37.wmf"/><Relationship Id="rId3" Type="http://schemas.openxmlformats.org/officeDocument/2006/relationships/oleObject" Target="../embeddings/oleObject14.bin"/><Relationship Id="rId7" Type="http://schemas.openxmlformats.org/officeDocument/2006/relationships/image" Target="../media/image34.wmf"/><Relationship Id="rId12" Type="http://schemas.openxmlformats.org/officeDocument/2006/relationships/oleObject" Target="../embeddings/oleObject18.bin"/><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15.bin"/><Relationship Id="rId11" Type="http://schemas.openxmlformats.org/officeDocument/2006/relationships/image" Target="../media/image36.wmf"/><Relationship Id="rId5" Type="http://schemas.openxmlformats.org/officeDocument/2006/relationships/image" Target="../media/image33.jpg"/><Relationship Id="rId10" Type="http://schemas.openxmlformats.org/officeDocument/2006/relationships/oleObject" Target="../embeddings/oleObject17.bin"/><Relationship Id="rId4" Type="http://schemas.openxmlformats.org/officeDocument/2006/relationships/image" Target="../media/image32.wmf"/><Relationship Id="rId9" Type="http://schemas.openxmlformats.org/officeDocument/2006/relationships/image" Target="../media/image35.wm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4.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05846"/>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Global Edition</a:t>
            </a:r>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t>Chapter 2 – Part 1</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45534"/>
            <a:ext cx="3657600" cy="374906"/>
          </a:xfrm>
        </p:spPr>
        <p:txBody>
          <a:bodyPr lIns="0" tIns="18000" rIns="0" bIns="18000" anchor="ctr">
            <a:spAutoFit/>
          </a:bodyPr>
          <a:lstStyle/>
          <a:p>
            <a:pPr indent="-101600"/>
            <a:r>
              <a:rPr lang="en-US" noProof="0" dirty="0"/>
              <a:t>Circuit Elements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420"/>
            <a:ext cx="8229600" cy="590349"/>
          </a:xfrm>
        </p:spPr>
        <p:txBody>
          <a:bodyPr/>
          <a:lstStyle/>
          <a:p>
            <a:r>
              <a:rPr lang="en-US" noProof="0" dirty="0"/>
              <a:t>Chapter 2 – Circuit Elements </a:t>
            </a:r>
            <a:r>
              <a:rPr lang="en-US" sz="2800" noProof="0" dirty="0"/>
              <a:t>(1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734" y="1052648"/>
            <a:ext cx="8232775" cy="3214145"/>
          </a:xfrm>
        </p:spPr>
        <p:txBody>
          <a:bodyPr wrap="square" lIns="0" tIns="18000" rIns="0" bIns="18000" anchor="ctr">
            <a:spAutoFit/>
          </a:bodyPr>
          <a:lstStyle/>
          <a:p>
            <a:pPr marL="0" indent="0">
              <a:spcBef>
                <a:spcPts val="600"/>
              </a:spcBef>
              <a:buNone/>
            </a:pPr>
            <a:r>
              <a:rPr lang="en-US" sz="2400" noProof="0" dirty="0"/>
              <a:t>Objectives:</a:t>
            </a:r>
          </a:p>
          <a:p>
            <a:pPr marL="0" indent="0">
              <a:buNone/>
            </a:pPr>
            <a:r>
              <a:rPr lang="en-US" altLang="en-US" sz="2400" b="1" noProof="0" dirty="0">
                <a:solidFill>
                  <a:srgbClr val="007FA3"/>
                </a:solidFill>
              </a:rPr>
              <a:t>2.1</a:t>
            </a:r>
            <a:r>
              <a:rPr lang="en-US" altLang="en-US" sz="2400" noProof="0" dirty="0"/>
              <a:t> Understand independent and dependent sources</a:t>
            </a:r>
          </a:p>
          <a:p>
            <a:pPr marL="0" indent="0">
              <a:buNone/>
            </a:pPr>
            <a:r>
              <a:rPr lang="en-US" altLang="en-US" sz="2400" b="1" noProof="0" dirty="0">
                <a:solidFill>
                  <a:srgbClr val="007FA3"/>
                </a:solidFill>
              </a:rPr>
              <a:t>2.2</a:t>
            </a:r>
            <a:r>
              <a:rPr lang="en-US" altLang="en-US" sz="2400" noProof="0" dirty="0"/>
              <a:t> Understand resistors</a:t>
            </a:r>
          </a:p>
          <a:p>
            <a:pPr marL="0" indent="0">
              <a:buNone/>
            </a:pPr>
            <a:r>
              <a:rPr lang="en-US" altLang="en-US" sz="2400" b="1" noProof="0" dirty="0">
                <a:solidFill>
                  <a:srgbClr val="007FA3"/>
                </a:solidFill>
              </a:rPr>
              <a:t>2.3</a:t>
            </a:r>
            <a:r>
              <a:rPr lang="en-US" altLang="en-US" sz="2400" noProof="0" dirty="0"/>
              <a:t> Know and be able to use Ohm’s Law</a:t>
            </a:r>
          </a:p>
          <a:p>
            <a:pPr marL="0" indent="0">
              <a:buNone/>
            </a:pPr>
            <a:r>
              <a:rPr lang="en-US" altLang="en-US" sz="2400" b="1" noProof="0" dirty="0">
                <a:solidFill>
                  <a:srgbClr val="007FA3"/>
                </a:solidFill>
              </a:rPr>
              <a:t>2.4</a:t>
            </a:r>
            <a:r>
              <a:rPr lang="en-US" altLang="en-US" sz="2400" noProof="0" dirty="0"/>
              <a:t> Know and be able to use the Kirchhoff Laws</a:t>
            </a:r>
          </a:p>
          <a:p>
            <a:pPr marL="0" indent="0">
              <a:buNone/>
            </a:pPr>
            <a:r>
              <a:rPr lang="en-US" altLang="en-US" sz="2400" b="1" noProof="0" dirty="0">
                <a:solidFill>
                  <a:srgbClr val="007FA3"/>
                </a:solidFill>
              </a:rPr>
              <a:t>2.5</a:t>
            </a:r>
            <a:r>
              <a:rPr lang="en-US" altLang="en-US" sz="2400" noProof="0" dirty="0"/>
              <a:t> Be able to calculate the power for a circuit</a:t>
            </a:r>
            <a:endParaRPr lang="en-US" sz="2400" noProof="0" dirty="0"/>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420"/>
            <a:ext cx="8229600" cy="590349"/>
          </a:xfrm>
        </p:spPr>
        <p:txBody>
          <a:bodyPr/>
          <a:lstStyle/>
          <a:p>
            <a:r>
              <a:rPr lang="en-US" noProof="0" dirty="0"/>
              <a:t>Chapter 2 – Circuit Elements </a:t>
            </a:r>
            <a:r>
              <a:rPr lang="en-US" sz="2800" noProof="0" dirty="0"/>
              <a:t>(2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035453"/>
            <a:ext cx="8232775" cy="4560667"/>
          </a:xfrm>
        </p:spPr>
        <p:txBody>
          <a:bodyPr wrap="square" lIns="0" tIns="18000" rIns="0" bIns="18000" anchor="ctr">
            <a:spAutoFit/>
          </a:bodyPr>
          <a:lstStyle/>
          <a:p>
            <a:pPr marL="0" indent="0">
              <a:spcBef>
                <a:spcPts val="600"/>
              </a:spcBef>
              <a:buNone/>
            </a:pPr>
            <a:r>
              <a:rPr lang="en-US" sz="2400" noProof="0" dirty="0"/>
              <a:t>Electrical sources convert non-electric energy to electric energy.</a:t>
            </a:r>
          </a:p>
          <a:p>
            <a:pPr marL="342900" indent="-342900">
              <a:spcBef>
                <a:spcPts val="600"/>
              </a:spcBef>
            </a:pPr>
            <a:r>
              <a:rPr lang="en-US" sz="2400" noProof="0" dirty="0"/>
              <a:t>Examples include</a:t>
            </a:r>
          </a:p>
          <a:p>
            <a:pPr marL="829818" lvl="1" indent="-342900"/>
            <a:r>
              <a:rPr lang="en-US" sz="2400" noProof="0" dirty="0"/>
              <a:t>Batteries: convert chemical energy to electric energy</a:t>
            </a:r>
          </a:p>
          <a:p>
            <a:pPr marL="829818" lvl="1" indent="-342900"/>
            <a:r>
              <a:rPr lang="en-US" sz="2400" noProof="0" dirty="0"/>
              <a:t>Generators: convert mechanical energy to electric energy</a:t>
            </a:r>
          </a:p>
          <a:p>
            <a:pPr marL="342900" indent="-342900">
              <a:spcBef>
                <a:spcPts val="600"/>
              </a:spcBef>
            </a:pPr>
            <a:r>
              <a:rPr lang="en-US" sz="2400" noProof="0" dirty="0"/>
              <a:t>We use 2 ideal models of electric sources:</a:t>
            </a:r>
          </a:p>
          <a:p>
            <a:pPr marL="829818" lvl="1" indent="-342900"/>
            <a:r>
              <a:rPr lang="en-US" sz="2400" noProof="0" dirty="0"/>
              <a:t>Voltage sources, which supply the same voltage regardless of the current flow</a:t>
            </a:r>
          </a:p>
          <a:p>
            <a:pPr marL="829818" lvl="1" indent="-342900"/>
            <a:r>
              <a:rPr lang="en-US" sz="2400" noProof="0" dirty="0"/>
              <a:t>Current sources, which supply the same current regardless of voltage drop</a:t>
            </a:r>
          </a:p>
        </p:txBody>
      </p:sp>
    </p:spTree>
    <p:extLst>
      <p:ext uri="{BB962C8B-B14F-4D97-AF65-F5344CB8AC3E}">
        <p14:creationId xmlns:p14="http://schemas.microsoft.com/office/powerpoint/2010/main" val="1074977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420"/>
            <a:ext cx="8229600" cy="590349"/>
          </a:xfrm>
        </p:spPr>
        <p:txBody>
          <a:bodyPr/>
          <a:lstStyle/>
          <a:p>
            <a:r>
              <a:rPr lang="en-US" noProof="0" dirty="0"/>
              <a:t>Chapter 2 – Circuit Elements </a:t>
            </a:r>
            <a:r>
              <a:rPr lang="en-US" sz="2800" noProof="0" dirty="0"/>
              <a:t>(3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63828"/>
            <a:ext cx="8220974" cy="405683"/>
          </a:xfrm>
        </p:spPr>
        <p:txBody>
          <a:bodyPr wrap="square" lIns="0" tIns="18000" rIns="0" bIns="18000" anchor="ctr">
            <a:spAutoFit/>
          </a:bodyPr>
          <a:lstStyle/>
          <a:p>
            <a:pPr marL="0" indent="0">
              <a:spcBef>
                <a:spcPts val="600"/>
              </a:spcBef>
              <a:buNone/>
            </a:pPr>
            <a:r>
              <a:rPr lang="en-US" sz="2400" noProof="0" dirty="0"/>
              <a:t>Ideal independent voltage source</a:t>
            </a:r>
          </a:p>
        </p:txBody>
      </p:sp>
      <p:pic>
        <p:nvPicPr>
          <p:cNvPr id="25" name="Picture 3" descr="The Symbol of voltage source V Subscript S with positive polarity at the top and negative polarity at the bottom is shown. The current i subscript S flows through it.">
            <a:extLst>
              <a:ext uri="{FF2B5EF4-FFF2-40B4-BE49-F238E27FC236}">
                <a16:creationId xmlns:a16="http://schemas.microsoft.com/office/drawing/2014/main" id="{9702CDF5-BAA2-4053-9968-198E48E11A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8975" y="1676400"/>
            <a:ext cx="1349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4" descr="In the graph, the horizontal axis represents current i in amperes. The vertical axis represents current voltage in volts. A straight line, starts on the vertical axis at V subscript S runs parallel with the horizontal axis. ">
            <a:extLst>
              <a:ext uri="{FF2B5EF4-FFF2-40B4-BE49-F238E27FC236}">
                <a16:creationId xmlns:a16="http://schemas.microsoft.com/office/drawing/2014/main" id="{1A1DFA3C-BB05-4DBC-BF61-5237595F6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676400"/>
            <a:ext cx="3584575"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4" y="4704521"/>
            <a:ext cx="8239125" cy="1144347"/>
          </a:xfrm>
        </p:spPr>
        <p:txBody>
          <a:bodyPr wrap="square" lIns="0" tIns="18000" rIns="0" bIns="18000" anchor="ctr">
            <a:spAutoFit/>
          </a:bodyPr>
          <a:lstStyle/>
          <a:p>
            <a:pPr marL="0" indent="0">
              <a:spcBef>
                <a:spcPts val="600"/>
              </a:spcBef>
              <a:buNone/>
            </a:pPr>
            <a:r>
              <a:rPr lang="en-US" sz="2400" noProof="0" dirty="0"/>
              <a:t>Observation – if all we have is the voltage drop across an ideal voltage source, there is no formula we can use to calculate the current through that source!</a:t>
            </a:r>
          </a:p>
        </p:txBody>
      </p:sp>
    </p:spTree>
    <p:extLst>
      <p:ext uri="{BB962C8B-B14F-4D97-AF65-F5344CB8AC3E}">
        <p14:creationId xmlns:p14="http://schemas.microsoft.com/office/powerpoint/2010/main" val="2503329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(4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63299"/>
            <a:ext cx="8232775" cy="405683"/>
          </a:xfrm>
        </p:spPr>
        <p:txBody>
          <a:bodyPr wrap="square" lIns="0" tIns="18000" rIns="0" bIns="18000" anchor="ctr">
            <a:spAutoFit/>
          </a:bodyPr>
          <a:lstStyle/>
          <a:p>
            <a:pPr marL="0" indent="0">
              <a:spcBef>
                <a:spcPts val="600"/>
              </a:spcBef>
              <a:buNone/>
            </a:pPr>
            <a:r>
              <a:rPr lang="en-US" sz="2400" noProof="0" dirty="0"/>
              <a:t>Ideal independent current source</a:t>
            </a:r>
          </a:p>
        </p:txBody>
      </p:sp>
      <p:pic>
        <p:nvPicPr>
          <p:cNvPr id="25" name="Picture 2" descr="The symbol of ideal independent current source i subscript s with voltage V subscript S across its terminals. The positive polarity is at the top and negative polarity is at the bottom.">
            <a:extLst>
              <a:ext uri="{FF2B5EF4-FFF2-40B4-BE49-F238E27FC236}">
                <a16:creationId xmlns:a16="http://schemas.microsoft.com/office/drawing/2014/main" id="{D76B0D0A-9701-4689-B30E-0A9B68642E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752600"/>
            <a:ext cx="143827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3" descr="In the graph, the horizontal axis represents current i in amperes. The vertical axis represents current voltage in volts. A straight line, starts on the horizontal axis at i subscript S runs parallel with the vertical axis.">
            <a:extLst>
              <a:ext uri="{FF2B5EF4-FFF2-40B4-BE49-F238E27FC236}">
                <a16:creationId xmlns:a16="http://schemas.microsoft.com/office/drawing/2014/main" id="{E681B05F-C25E-4632-9F46-B5BCEE97B2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676400"/>
            <a:ext cx="3378200"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5" y="4742092"/>
            <a:ext cx="8242300" cy="1144347"/>
          </a:xfrm>
        </p:spPr>
        <p:txBody>
          <a:bodyPr wrap="square" lIns="0" tIns="18000" rIns="0" bIns="18000" anchor="ctr">
            <a:spAutoFit/>
          </a:bodyPr>
          <a:lstStyle/>
          <a:p>
            <a:pPr marL="0" indent="0">
              <a:spcBef>
                <a:spcPts val="600"/>
              </a:spcBef>
              <a:buNone/>
            </a:pPr>
            <a:r>
              <a:rPr lang="en-US" sz="2400" noProof="0" dirty="0"/>
              <a:t>Observation – if all we have is the current flowing through an ideal current source, there is no formula we can use to calculate the voltage drop across that source!</a:t>
            </a:r>
          </a:p>
        </p:txBody>
      </p:sp>
    </p:spTree>
    <p:extLst>
      <p:ext uri="{BB962C8B-B14F-4D97-AF65-F5344CB8AC3E}">
        <p14:creationId xmlns:p14="http://schemas.microsoft.com/office/powerpoint/2010/main" val="23078101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(5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50530"/>
            <a:ext cx="8242300" cy="3067951"/>
          </a:xfrm>
        </p:spPr>
        <p:txBody>
          <a:bodyPr wrap="square" lIns="0" tIns="18000" rIns="0" bIns="18000" anchor="ctr">
            <a:spAutoFit/>
          </a:bodyPr>
          <a:lstStyle/>
          <a:p>
            <a:pPr marL="342900" indent="-342900">
              <a:spcBef>
                <a:spcPts val="600"/>
              </a:spcBef>
            </a:pPr>
            <a:r>
              <a:rPr lang="en-US" sz="2400" noProof="0" dirty="0"/>
              <a:t>The sources just presented are “independent” because the voltage or current supplied by the source does not depend on any other quantity in the circuit to which it is attached.</a:t>
            </a:r>
          </a:p>
          <a:p>
            <a:pPr marL="342900" indent="-342900">
              <a:spcBef>
                <a:spcPts val="600"/>
              </a:spcBef>
            </a:pPr>
            <a:r>
              <a:rPr lang="en-US" sz="2400" noProof="0" dirty="0"/>
              <a:t>As you might already have guessed, there are other sources that supply a voltage (or current) whose value depends on the voltage (or current) found elsewhere in the circuit.</a:t>
            </a:r>
          </a:p>
        </p:txBody>
      </p:sp>
    </p:spTree>
    <p:extLst>
      <p:ext uri="{BB962C8B-B14F-4D97-AF65-F5344CB8AC3E}">
        <p14:creationId xmlns:p14="http://schemas.microsoft.com/office/powerpoint/2010/main" val="1701299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(6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113126"/>
            <a:ext cx="4054475" cy="344128"/>
          </a:xfrm>
        </p:spPr>
        <p:txBody>
          <a:bodyPr lIns="0" tIns="18000" rIns="0" bIns="18000" anchor="ctr">
            <a:spAutoFit/>
          </a:bodyPr>
          <a:lstStyle/>
          <a:p>
            <a:pPr marL="0" indent="0">
              <a:spcBef>
                <a:spcPts val="600"/>
              </a:spcBef>
              <a:buNone/>
            </a:pPr>
            <a:r>
              <a:rPr lang="en-US" sz="2000" noProof="0" dirty="0"/>
              <a:t>Dependent voltage sources</a:t>
            </a:r>
          </a:p>
        </p:txBody>
      </p:sp>
      <p:pic>
        <p:nvPicPr>
          <p:cNvPr id="25" name="Picture 2" descr="The symbol of voltage controlled voltage source of voltage V subscript s equal to mew times v subscript x.">
            <a:extLst>
              <a:ext uri="{FF2B5EF4-FFF2-40B4-BE49-F238E27FC236}">
                <a16:creationId xmlns:a16="http://schemas.microsoft.com/office/drawing/2014/main" id="{68694917-038D-4F7B-8074-18D98615A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950" y="1807845"/>
            <a:ext cx="1955800" cy="2137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4094451"/>
            <a:ext cx="3933825" cy="344128"/>
          </a:xfrm>
        </p:spPr>
        <p:txBody>
          <a:bodyPr wrap="square" lIns="0" tIns="18000" rIns="0" bIns="18000" anchor="ctr">
            <a:spAutoFit/>
          </a:bodyPr>
          <a:lstStyle/>
          <a:p>
            <a:pPr marL="0" indent="0">
              <a:spcBef>
                <a:spcPts val="600"/>
              </a:spcBef>
              <a:buNone/>
            </a:pPr>
            <a:r>
              <a:rPr lang="en-US" sz="2000" noProof="0" dirty="0"/>
              <a:t>Voltage-controlled voltage source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6" y="4494501"/>
            <a:ext cx="1790699" cy="344128"/>
          </a:xfrm>
        </p:spPr>
        <p:txBody>
          <a:bodyPr wrap="square" lIns="0" tIns="18000" rIns="0" bIns="18000" anchor="ctr">
            <a:spAutoFit/>
          </a:bodyPr>
          <a:lstStyle/>
          <a:p>
            <a:pPr marL="0" indent="0">
              <a:spcBef>
                <a:spcPts val="600"/>
              </a:spcBef>
              <a:buNone/>
            </a:pPr>
            <a:r>
              <a:rPr lang="en-US" sz="2000" noProof="0" dirty="0"/>
              <a:t> (</a:t>
            </a:r>
            <a:r>
              <a:rPr lang="en-US" sz="2000" spc="-250" noProof="0" dirty="0"/>
              <a:t>V C V </a:t>
            </a:r>
            <a:r>
              <a:rPr lang="en-US" sz="2000" noProof="0" dirty="0"/>
              <a:t>S), where </a:t>
            </a:r>
          </a:p>
        </p:txBody>
      </p:sp>
      <p:graphicFrame>
        <p:nvGraphicFramePr>
          <p:cNvPr id="27" name="Object 26" descr=" V subscript s Baseline.&#10;">
            <a:extLst>
              <a:ext uri="{FF2B5EF4-FFF2-40B4-BE49-F238E27FC236}">
                <a16:creationId xmlns:a16="http://schemas.microsoft.com/office/drawing/2014/main" id="{FB247CD8-50A1-4F79-8B88-39BCB8A4BA25}"/>
              </a:ext>
            </a:extLst>
          </p:cNvPr>
          <p:cNvGraphicFramePr>
            <a:graphicFrameLocks noChangeAspect="1"/>
          </p:cNvGraphicFramePr>
          <p:nvPr>
            <p:extLst>
              <p:ext uri="{D42A27DB-BD31-4B8C-83A1-F6EECF244321}">
                <p14:modId xmlns:p14="http://schemas.microsoft.com/office/powerpoint/2010/main" val="4085420540"/>
              </p:ext>
            </p:extLst>
          </p:nvPr>
        </p:nvGraphicFramePr>
        <p:xfrm>
          <a:off x="2317491" y="4513525"/>
          <a:ext cx="295793" cy="380475"/>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8" name="Object 7"/>
                      <p:cNvPicPr>
                        <a:picLocks noChangeAspect="1" noChangeArrowheads="1"/>
                      </p:cNvPicPr>
                      <p:nvPr/>
                    </p:nvPicPr>
                    <p:blipFill>
                      <a:blip r:embed="rId4"/>
                      <a:srcRect/>
                      <a:stretch>
                        <a:fillRect/>
                      </a:stretch>
                    </p:blipFill>
                    <p:spPr bwMode="auto">
                      <a:xfrm>
                        <a:off x="2317491" y="4513525"/>
                        <a:ext cx="295793" cy="380475"/>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701924" y="4502727"/>
            <a:ext cx="1533525" cy="344128"/>
          </a:xfrm>
        </p:spPr>
        <p:txBody>
          <a:bodyPr wrap="square" lIns="0" tIns="18000" rIns="0" bIns="18000" anchor="ctr">
            <a:spAutoFit/>
          </a:bodyPr>
          <a:lstStyle/>
          <a:p>
            <a:pPr marL="0" indent="0">
              <a:spcBef>
                <a:spcPts val="600"/>
              </a:spcBef>
              <a:buNone/>
            </a:pPr>
            <a:r>
              <a:rPr lang="en-US" sz="2000" noProof="0" dirty="0"/>
              <a:t>is the voltage</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8626" y="4883403"/>
            <a:ext cx="1019175" cy="344128"/>
          </a:xfrm>
        </p:spPr>
        <p:txBody>
          <a:bodyPr wrap="square" lIns="0" tIns="18000" rIns="0" bIns="18000" anchor="ctr">
            <a:spAutoFit/>
          </a:bodyPr>
          <a:lstStyle/>
          <a:p>
            <a:pPr marL="0" indent="0">
              <a:spcBef>
                <a:spcPts val="600"/>
              </a:spcBef>
              <a:buNone/>
            </a:pPr>
            <a:r>
              <a:rPr lang="en-US" sz="2000" noProof="0" dirty="0"/>
              <a:t>supplied,</a:t>
            </a:r>
          </a:p>
        </p:txBody>
      </p:sp>
      <p:graphicFrame>
        <p:nvGraphicFramePr>
          <p:cNvPr id="28" name="Object 27" descr=" V subscript x Baseline.&#10;">
            <a:extLst>
              <a:ext uri="{FF2B5EF4-FFF2-40B4-BE49-F238E27FC236}">
                <a16:creationId xmlns:a16="http://schemas.microsoft.com/office/drawing/2014/main" id="{C2579E26-22BC-4AAB-847A-D13F90B16A57}"/>
              </a:ext>
            </a:extLst>
          </p:cNvPr>
          <p:cNvGraphicFramePr>
            <a:graphicFrameLocks noChangeAspect="1"/>
          </p:cNvGraphicFramePr>
          <p:nvPr>
            <p:extLst>
              <p:ext uri="{D42A27DB-BD31-4B8C-83A1-F6EECF244321}">
                <p14:modId xmlns:p14="http://schemas.microsoft.com/office/powerpoint/2010/main" val="3687825918"/>
              </p:ext>
            </p:extLst>
          </p:nvPr>
        </p:nvGraphicFramePr>
        <p:xfrm>
          <a:off x="1515457" y="4862736"/>
          <a:ext cx="295793" cy="380475"/>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27" name="Object 26">
                        <a:extLst>
                          <a:ext uri="{FF2B5EF4-FFF2-40B4-BE49-F238E27FC236}">
                            <a16:creationId xmlns:a16="http://schemas.microsoft.com/office/drawing/2014/main" id="{FB247CD8-50A1-4F79-8B88-39BCB8A4BA25}"/>
                          </a:ext>
                        </a:extLst>
                      </p:cNvPr>
                      <p:cNvPicPr>
                        <a:picLocks noChangeAspect="1" noChangeArrowheads="1"/>
                      </p:cNvPicPr>
                      <p:nvPr/>
                    </p:nvPicPr>
                    <p:blipFill>
                      <a:blip r:embed="rId6"/>
                      <a:srcRect/>
                      <a:stretch>
                        <a:fillRect/>
                      </a:stretch>
                    </p:blipFill>
                    <p:spPr bwMode="auto">
                      <a:xfrm>
                        <a:off x="1515457" y="4862736"/>
                        <a:ext cx="295793" cy="380475"/>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878905" y="4896797"/>
            <a:ext cx="1873945" cy="344128"/>
          </a:xfrm>
        </p:spPr>
        <p:txBody>
          <a:bodyPr wrap="square" lIns="0" tIns="18000" rIns="0" bIns="18000" anchor="ctr">
            <a:spAutoFit/>
          </a:bodyPr>
          <a:lstStyle/>
          <a:p>
            <a:pPr marL="0" indent="0">
              <a:spcBef>
                <a:spcPts val="600"/>
              </a:spcBef>
              <a:buNone/>
            </a:pPr>
            <a:r>
              <a:rPr lang="en-US" sz="2000" noProof="0" dirty="0"/>
              <a:t>is the controlling</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28626" y="5293384"/>
            <a:ext cx="1397414" cy="344128"/>
          </a:xfrm>
        </p:spPr>
        <p:txBody>
          <a:bodyPr wrap="square" lIns="0" tIns="18000" rIns="0" bIns="18000" anchor="ctr">
            <a:spAutoFit/>
          </a:bodyPr>
          <a:lstStyle/>
          <a:p>
            <a:pPr marL="0" indent="0">
              <a:spcBef>
                <a:spcPts val="600"/>
              </a:spcBef>
              <a:buNone/>
            </a:pPr>
            <a:r>
              <a:rPr lang="en-US" sz="2000" noProof="0" dirty="0"/>
              <a:t>voltage, and </a:t>
            </a:r>
          </a:p>
        </p:txBody>
      </p:sp>
      <p:graphicFrame>
        <p:nvGraphicFramePr>
          <p:cNvPr id="29" name="Object 28" descr="Mu.&#10;">
            <a:extLst>
              <a:ext uri="{FF2B5EF4-FFF2-40B4-BE49-F238E27FC236}">
                <a16:creationId xmlns:a16="http://schemas.microsoft.com/office/drawing/2014/main" id="{9EE02A83-B794-4D6A-A1F1-787174BF465C}"/>
              </a:ext>
            </a:extLst>
          </p:cNvPr>
          <p:cNvGraphicFramePr>
            <a:graphicFrameLocks noChangeAspect="1"/>
          </p:cNvGraphicFramePr>
          <p:nvPr>
            <p:extLst>
              <p:ext uri="{D42A27DB-BD31-4B8C-83A1-F6EECF244321}">
                <p14:modId xmlns:p14="http://schemas.microsoft.com/office/powerpoint/2010/main" val="1048563835"/>
              </p:ext>
            </p:extLst>
          </p:nvPr>
        </p:nvGraphicFramePr>
        <p:xfrm>
          <a:off x="1897063" y="5366760"/>
          <a:ext cx="254000" cy="274205"/>
        </p:xfrm>
        <a:graphic>
          <a:graphicData uri="http://schemas.openxmlformats.org/presentationml/2006/ole">
            <mc:AlternateContent xmlns:mc="http://schemas.openxmlformats.org/markup-compatibility/2006">
              <mc:Choice xmlns:v="urn:schemas-microsoft-com:vml" Requires="v">
                <p:oleObj name="Equation" r:id="rId7" imgW="152280" imgH="164880" progId="Equation.DSMT4">
                  <p:embed/>
                </p:oleObj>
              </mc:Choice>
              <mc:Fallback>
                <p:oleObj name="Equation" r:id="rId7" imgW="152280" imgH="164880" progId="Equation.DSMT4">
                  <p:embed/>
                  <p:pic>
                    <p:nvPicPr>
                      <p:cNvPr id="28" name="Object 27">
                        <a:extLst>
                          <a:ext uri="{FF2B5EF4-FFF2-40B4-BE49-F238E27FC236}">
                            <a16:creationId xmlns:a16="http://schemas.microsoft.com/office/drawing/2014/main" id="{C2579E26-22BC-4AAB-847A-D13F90B16A57}"/>
                          </a:ext>
                        </a:extLst>
                      </p:cNvPr>
                      <p:cNvPicPr>
                        <a:picLocks noChangeAspect="1" noChangeArrowheads="1"/>
                      </p:cNvPicPr>
                      <p:nvPr/>
                    </p:nvPicPr>
                    <p:blipFill>
                      <a:blip r:embed="rId8"/>
                      <a:srcRect/>
                      <a:stretch>
                        <a:fillRect/>
                      </a:stretch>
                    </p:blipFill>
                    <p:spPr bwMode="auto">
                      <a:xfrm>
                        <a:off x="1897063" y="5366760"/>
                        <a:ext cx="254000" cy="274205"/>
                      </a:xfrm>
                      <a:prstGeom prst="rect">
                        <a:avLst/>
                      </a:prstGeom>
                      <a:noFill/>
                      <a:ln>
                        <a:noFill/>
                      </a:ln>
                      <a:effec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2219325" y="5307548"/>
            <a:ext cx="2057400" cy="344128"/>
          </a:xfrm>
        </p:spPr>
        <p:txBody>
          <a:bodyPr wrap="square" lIns="0" tIns="18000" rIns="0" bIns="18000" anchor="ctr">
            <a:spAutoFit/>
          </a:bodyPr>
          <a:lstStyle/>
          <a:p>
            <a:pPr marL="0" indent="0">
              <a:spcBef>
                <a:spcPts val="600"/>
              </a:spcBef>
              <a:buNone/>
            </a:pPr>
            <a:r>
              <a:rPr lang="en-US" sz="2000" noProof="0" dirty="0"/>
              <a:t>is the gain, whose</a:t>
            </a:r>
          </a:p>
        </p:txBody>
      </p:sp>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454852" y="5695308"/>
            <a:ext cx="1497774" cy="344128"/>
          </a:xfrm>
        </p:spPr>
        <p:txBody>
          <a:bodyPr wrap="square" lIns="0" tIns="18000" rIns="0" bIns="18000" anchor="ctr">
            <a:spAutoFit/>
          </a:bodyPr>
          <a:lstStyle/>
          <a:p>
            <a:pPr marL="0" indent="0">
              <a:spcBef>
                <a:spcPts val="600"/>
              </a:spcBef>
              <a:buNone/>
            </a:pPr>
            <a:r>
              <a:rPr lang="en-US" sz="2000" noProof="0" dirty="0"/>
              <a:t>units are V/V</a:t>
            </a:r>
          </a:p>
        </p:txBody>
      </p:sp>
      <p:pic>
        <p:nvPicPr>
          <p:cNvPr id="26" name="Picture 3" descr="The symbol of current controlled voltage source of voltage V subscript s equal to rho times i subscript x.">
            <a:extLst>
              <a:ext uri="{FF2B5EF4-FFF2-40B4-BE49-F238E27FC236}">
                <a16:creationId xmlns:a16="http://schemas.microsoft.com/office/drawing/2014/main" id="{316C0FC3-63E0-4365-AF04-88AB7F31D24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24690" y="1829753"/>
            <a:ext cx="1816100" cy="207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4579937" y="4094451"/>
            <a:ext cx="4090987" cy="344128"/>
          </a:xfrm>
        </p:spPr>
        <p:txBody>
          <a:bodyPr wrap="square" lIns="0" tIns="18000" rIns="0" bIns="18000" anchor="ctr">
            <a:spAutoFit/>
          </a:bodyPr>
          <a:lstStyle/>
          <a:p>
            <a:pPr marL="0" indent="0">
              <a:spcBef>
                <a:spcPts val="600"/>
              </a:spcBef>
              <a:buNone/>
            </a:pPr>
            <a:r>
              <a:rPr lang="en-US" sz="2000" noProof="0" dirty="0"/>
              <a:t>Current-controlled voltage source</a:t>
            </a:r>
          </a:p>
        </p:txBody>
      </p:sp>
      <p:sp>
        <p:nvSpPr>
          <p:cNvPr id="17" name="Content Placeholder 16">
            <a:extLst>
              <a:ext uri="{FF2B5EF4-FFF2-40B4-BE49-F238E27FC236}">
                <a16:creationId xmlns:a16="http://schemas.microsoft.com/office/drawing/2014/main" id="{12401441-FD92-F4F7-BE98-19DC7CBBBB17}"/>
              </a:ext>
            </a:extLst>
          </p:cNvPr>
          <p:cNvSpPr>
            <a:spLocks noGrp="1"/>
          </p:cNvSpPr>
          <p:nvPr>
            <p:ph sz="quarter" idx="22"/>
          </p:nvPr>
        </p:nvSpPr>
        <p:spPr>
          <a:xfrm>
            <a:off x="4579937" y="4483677"/>
            <a:ext cx="1706563" cy="344128"/>
          </a:xfrm>
        </p:spPr>
        <p:txBody>
          <a:bodyPr wrap="square" lIns="0" tIns="18000" rIns="0" bIns="18000" anchor="ctr">
            <a:spAutoFit/>
          </a:bodyPr>
          <a:lstStyle/>
          <a:p>
            <a:pPr marL="0" indent="0">
              <a:spcBef>
                <a:spcPts val="600"/>
              </a:spcBef>
              <a:buNone/>
            </a:pPr>
            <a:r>
              <a:rPr lang="en-US" sz="2000" spc="-250" noProof="0" dirty="0"/>
              <a:t>(C </a:t>
            </a:r>
            <a:r>
              <a:rPr lang="en-US" sz="2000" spc="-250" noProof="0" dirty="0" err="1"/>
              <a:t>C</a:t>
            </a:r>
            <a:r>
              <a:rPr lang="en-US" sz="2000" spc="-250" noProof="0" dirty="0"/>
              <a:t> V </a:t>
            </a:r>
            <a:r>
              <a:rPr lang="en-US" sz="2000" noProof="0" dirty="0"/>
              <a:t>S), where</a:t>
            </a:r>
          </a:p>
        </p:txBody>
      </p:sp>
      <p:graphicFrame>
        <p:nvGraphicFramePr>
          <p:cNvPr id="30" name="Object 29" descr=" V subscript s Baseline.&#10;">
            <a:extLst>
              <a:ext uri="{FF2B5EF4-FFF2-40B4-BE49-F238E27FC236}">
                <a16:creationId xmlns:a16="http://schemas.microsoft.com/office/drawing/2014/main" id="{92B4B37B-9F9D-402B-9236-B65E2A0766C6}"/>
              </a:ext>
            </a:extLst>
          </p:cNvPr>
          <p:cNvGraphicFramePr>
            <a:graphicFrameLocks noChangeAspect="1"/>
          </p:cNvGraphicFramePr>
          <p:nvPr>
            <p:extLst>
              <p:ext uri="{D42A27DB-BD31-4B8C-83A1-F6EECF244321}">
                <p14:modId xmlns:p14="http://schemas.microsoft.com/office/powerpoint/2010/main" val="511579848"/>
              </p:ext>
            </p:extLst>
          </p:nvPr>
        </p:nvGraphicFramePr>
        <p:xfrm>
          <a:off x="6368033" y="4465503"/>
          <a:ext cx="295793" cy="380475"/>
        </p:xfrm>
        <a:graphic>
          <a:graphicData uri="http://schemas.openxmlformats.org/presentationml/2006/ole">
            <mc:AlternateContent xmlns:mc="http://schemas.openxmlformats.org/markup-compatibility/2006">
              <mc:Choice xmlns:v="urn:schemas-microsoft-com:vml" Requires="v">
                <p:oleObj name="Equation" r:id="rId10" imgW="177480" imgH="228600" progId="Equation.DSMT4">
                  <p:embed/>
                </p:oleObj>
              </mc:Choice>
              <mc:Fallback>
                <p:oleObj name="Equation" r:id="rId10" imgW="177480" imgH="228600" progId="Equation.DSMT4">
                  <p:embed/>
                  <p:pic>
                    <p:nvPicPr>
                      <p:cNvPr id="27" name="Object 26">
                        <a:extLst>
                          <a:ext uri="{FF2B5EF4-FFF2-40B4-BE49-F238E27FC236}">
                            <a16:creationId xmlns:a16="http://schemas.microsoft.com/office/drawing/2014/main" id="{FB247CD8-50A1-4F79-8B88-39BCB8A4BA25}"/>
                          </a:ext>
                        </a:extLst>
                      </p:cNvPr>
                      <p:cNvPicPr>
                        <a:picLocks noChangeAspect="1" noChangeArrowheads="1"/>
                      </p:cNvPicPr>
                      <p:nvPr/>
                    </p:nvPicPr>
                    <p:blipFill>
                      <a:blip r:embed="rId11"/>
                      <a:srcRect/>
                      <a:stretch>
                        <a:fillRect/>
                      </a:stretch>
                    </p:blipFill>
                    <p:spPr bwMode="auto">
                      <a:xfrm>
                        <a:off x="6368033" y="4465503"/>
                        <a:ext cx="295793" cy="380475"/>
                      </a:xfrm>
                      <a:prstGeom prst="rect">
                        <a:avLst/>
                      </a:prstGeom>
                      <a:noFill/>
                      <a:ln>
                        <a:noFill/>
                      </a:ln>
                      <a:effectLst/>
                    </p:spPr>
                  </p:pic>
                </p:oleObj>
              </mc:Fallback>
            </mc:AlternateContent>
          </a:graphicData>
        </a:graphic>
      </p:graphicFrame>
      <p:sp>
        <p:nvSpPr>
          <p:cNvPr id="18" name="Content Placeholder 17">
            <a:extLst>
              <a:ext uri="{FF2B5EF4-FFF2-40B4-BE49-F238E27FC236}">
                <a16:creationId xmlns:a16="http://schemas.microsoft.com/office/drawing/2014/main" id="{9CF46FE1-A0D0-DDEC-AE98-1CBAEC0C4CD9}"/>
              </a:ext>
            </a:extLst>
          </p:cNvPr>
          <p:cNvSpPr>
            <a:spLocks noGrp="1"/>
          </p:cNvSpPr>
          <p:nvPr>
            <p:ph sz="quarter" idx="23"/>
          </p:nvPr>
        </p:nvSpPr>
        <p:spPr>
          <a:xfrm>
            <a:off x="6745358" y="4502727"/>
            <a:ext cx="1544705" cy="344128"/>
          </a:xfrm>
        </p:spPr>
        <p:txBody>
          <a:bodyPr wrap="square" lIns="0" tIns="18000" rIns="0" bIns="18000" anchor="ctr">
            <a:spAutoFit/>
          </a:bodyPr>
          <a:lstStyle/>
          <a:p>
            <a:pPr marL="0" indent="0">
              <a:spcBef>
                <a:spcPts val="600"/>
              </a:spcBef>
              <a:buNone/>
            </a:pPr>
            <a:r>
              <a:rPr lang="en-US" sz="2000" noProof="0" dirty="0"/>
              <a:t>is the voltage </a:t>
            </a:r>
          </a:p>
        </p:txBody>
      </p:sp>
      <p:sp>
        <p:nvSpPr>
          <p:cNvPr id="19" name="Content Placeholder 18">
            <a:extLst>
              <a:ext uri="{FF2B5EF4-FFF2-40B4-BE49-F238E27FC236}">
                <a16:creationId xmlns:a16="http://schemas.microsoft.com/office/drawing/2014/main" id="{02C5F337-56B2-6E39-6CFC-F394D7F1734E}"/>
              </a:ext>
            </a:extLst>
          </p:cNvPr>
          <p:cNvSpPr>
            <a:spLocks noGrp="1"/>
          </p:cNvSpPr>
          <p:nvPr>
            <p:ph sz="quarter" idx="24"/>
          </p:nvPr>
        </p:nvSpPr>
        <p:spPr>
          <a:xfrm>
            <a:off x="4579937" y="4889532"/>
            <a:ext cx="1020762" cy="344128"/>
          </a:xfrm>
        </p:spPr>
        <p:txBody>
          <a:bodyPr wrap="square" lIns="0" tIns="18000" rIns="0" bIns="18000" anchor="ctr">
            <a:spAutoFit/>
          </a:bodyPr>
          <a:lstStyle/>
          <a:p>
            <a:pPr marL="0" indent="0">
              <a:spcBef>
                <a:spcPts val="600"/>
              </a:spcBef>
              <a:buNone/>
            </a:pPr>
            <a:r>
              <a:rPr lang="en-US" sz="2000" noProof="0" dirty="0"/>
              <a:t>supplied,</a:t>
            </a:r>
          </a:p>
        </p:txBody>
      </p:sp>
      <p:graphicFrame>
        <p:nvGraphicFramePr>
          <p:cNvPr id="31" name="Object 30" descr="i subscript x Baseline.&#10;">
            <a:extLst>
              <a:ext uri="{FF2B5EF4-FFF2-40B4-BE49-F238E27FC236}">
                <a16:creationId xmlns:a16="http://schemas.microsoft.com/office/drawing/2014/main" id="{C9E1BD76-61C6-4C44-85DC-BA1360431860}"/>
              </a:ext>
            </a:extLst>
          </p:cNvPr>
          <p:cNvGraphicFramePr>
            <a:graphicFrameLocks noChangeAspect="1"/>
          </p:cNvGraphicFramePr>
          <p:nvPr>
            <p:extLst>
              <p:ext uri="{D42A27DB-BD31-4B8C-83A1-F6EECF244321}">
                <p14:modId xmlns:p14="http://schemas.microsoft.com/office/powerpoint/2010/main" val="1527171220"/>
              </p:ext>
            </p:extLst>
          </p:nvPr>
        </p:nvGraphicFramePr>
        <p:xfrm>
          <a:off x="5719717" y="4920969"/>
          <a:ext cx="211229" cy="345051"/>
        </p:xfrm>
        <a:graphic>
          <a:graphicData uri="http://schemas.openxmlformats.org/presentationml/2006/ole">
            <mc:AlternateContent xmlns:mc="http://schemas.openxmlformats.org/markup-compatibility/2006">
              <mc:Choice xmlns:v="urn:schemas-microsoft-com:vml" Requires="v">
                <p:oleObj name="Equation" r:id="rId12" imgW="139680" imgH="228600" progId="Equation.DSMT4">
                  <p:embed/>
                </p:oleObj>
              </mc:Choice>
              <mc:Fallback>
                <p:oleObj name="Equation" r:id="rId12" imgW="139680" imgH="228600" progId="Equation.DSMT4">
                  <p:embed/>
                  <p:pic>
                    <p:nvPicPr>
                      <p:cNvPr id="30" name="Object 29">
                        <a:extLst>
                          <a:ext uri="{FF2B5EF4-FFF2-40B4-BE49-F238E27FC236}">
                            <a16:creationId xmlns:a16="http://schemas.microsoft.com/office/drawing/2014/main" id="{92B4B37B-9F9D-402B-9236-B65E2A0766C6}"/>
                          </a:ext>
                        </a:extLst>
                      </p:cNvPr>
                      <p:cNvPicPr>
                        <a:picLocks noChangeAspect="1" noChangeArrowheads="1"/>
                      </p:cNvPicPr>
                      <p:nvPr/>
                    </p:nvPicPr>
                    <p:blipFill>
                      <a:blip r:embed="rId13"/>
                      <a:srcRect/>
                      <a:stretch>
                        <a:fillRect/>
                      </a:stretch>
                    </p:blipFill>
                    <p:spPr bwMode="auto">
                      <a:xfrm>
                        <a:off x="5719717" y="4920969"/>
                        <a:ext cx="211229" cy="345051"/>
                      </a:xfrm>
                      <a:prstGeom prst="rect">
                        <a:avLst/>
                      </a:prstGeom>
                      <a:noFill/>
                      <a:ln>
                        <a:noFill/>
                      </a:ln>
                      <a:effectLst/>
                    </p:spPr>
                  </p:pic>
                </p:oleObj>
              </mc:Fallback>
            </mc:AlternateContent>
          </a:graphicData>
        </a:graphic>
      </p:graphicFrame>
      <p:sp>
        <p:nvSpPr>
          <p:cNvPr id="20" name="Content Placeholder 19">
            <a:extLst>
              <a:ext uri="{FF2B5EF4-FFF2-40B4-BE49-F238E27FC236}">
                <a16:creationId xmlns:a16="http://schemas.microsoft.com/office/drawing/2014/main" id="{3387E383-338D-B601-C7D5-2936C5B7C4C7}"/>
              </a:ext>
            </a:extLst>
          </p:cNvPr>
          <p:cNvSpPr>
            <a:spLocks noGrp="1"/>
          </p:cNvSpPr>
          <p:nvPr>
            <p:ph sz="quarter" idx="25"/>
          </p:nvPr>
        </p:nvSpPr>
        <p:spPr>
          <a:xfrm>
            <a:off x="6049964" y="4911905"/>
            <a:ext cx="1847849" cy="344128"/>
          </a:xfrm>
        </p:spPr>
        <p:txBody>
          <a:bodyPr wrap="square" lIns="0" tIns="18000" rIns="0" bIns="18000" anchor="ctr">
            <a:spAutoFit/>
          </a:bodyPr>
          <a:lstStyle/>
          <a:p>
            <a:pPr marL="0" indent="0">
              <a:spcBef>
                <a:spcPts val="600"/>
              </a:spcBef>
              <a:buNone/>
            </a:pPr>
            <a:r>
              <a:rPr lang="en-US" sz="2000" noProof="0" dirty="0"/>
              <a:t>is the controlling</a:t>
            </a:r>
          </a:p>
        </p:txBody>
      </p:sp>
      <p:sp>
        <p:nvSpPr>
          <p:cNvPr id="21" name="Content Placeholder 20">
            <a:extLst>
              <a:ext uri="{FF2B5EF4-FFF2-40B4-BE49-F238E27FC236}">
                <a16:creationId xmlns:a16="http://schemas.microsoft.com/office/drawing/2014/main" id="{CCA91FB8-2D68-EBB3-FC87-57448C895BED}"/>
              </a:ext>
            </a:extLst>
          </p:cNvPr>
          <p:cNvSpPr>
            <a:spLocks noGrp="1"/>
          </p:cNvSpPr>
          <p:nvPr>
            <p:ph sz="quarter" idx="26"/>
          </p:nvPr>
        </p:nvSpPr>
        <p:spPr>
          <a:xfrm>
            <a:off x="4579940" y="5283859"/>
            <a:ext cx="1401762" cy="344128"/>
          </a:xfrm>
        </p:spPr>
        <p:txBody>
          <a:bodyPr wrap="square" lIns="0" tIns="18000" rIns="0" bIns="18000" anchor="ctr">
            <a:spAutoFit/>
          </a:bodyPr>
          <a:lstStyle/>
          <a:p>
            <a:pPr marL="0" indent="0">
              <a:spcBef>
                <a:spcPts val="600"/>
              </a:spcBef>
              <a:buNone/>
            </a:pPr>
            <a:r>
              <a:rPr lang="en-US" sz="2000" noProof="0" dirty="0"/>
              <a:t>voltage, and </a:t>
            </a:r>
          </a:p>
        </p:txBody>
      </p:sp>
      <p:graphicFrame>
        <p:nvGraphicFramePr>
          <p:cNvPr id="32" name="Object 31" descr="Rho.&#10;">
            <a:extLst>
              <a:ext uri="{FF2B5EF4-FFF2-40B4-BE49-F238E27FC236}">
                <a16:creationId xmlns:a16="http://schemas.microsoft.com/office/drawing/2014/main" id="{212B7E8F-F920-4F73-BD12-524C93ABE9C1}"/>
              </a:ext>
            </a:extLst>
          </p:cNvPr>
          <p:cNvGraphicFramePr>
            <a:graphicFrameLocks noChangeAspect="1"/>
          </p:cNvGraphicFramePr>
          <p:nvPr>
            <p:extLst>
              <p:ext uri="{D42A27DB-BD31-4B8C-83A1-F6EECF244321}">
                <p14:modId xmlns:p14="http://schemas.microsoft.com/office/powerpoint/2010/main" val="365903786"/>
              </p:ext>
            </p:extLst>
          </p:nvPr>
        </p:nvGraphicFramePr>
        <p:xfrm>
          <a:off x="6049550" y="5326144"/>
          <a:ext cx="254000" cy="274205"/>
        </p:xfrm>
        <a:graphic>
          <a:graphicData uri="http://schemas.openxmlformats.org/presentationml/2006/ole">
            <mc:AlternateContent xmlns:mc="http://schemas.openxmlformats.org/markup-compatibility/2006">
              <mc:Choice xmlns:v="urn:schemas-microsoft-com:vml" Requires="v">
                <p:oleObj name="Equation" r:id="rId14" imgW="152280" imgH="164880" progId="Equation.DSMT4">
                  <p:embed/>
                </p:oleObj>
              </mc:Choice>
              <mc:Fallback>
                <p:oleObj name="Equation" r:id="rId14" imgW="152280" imgH="164880" progId="Equation.DSMT4">
                  <p:embed/>
                  <p:pic>
                    <p:nvPicPr>
                      <p:cNvPr id="29" name="Object 28">
                        <a:extLst>
                          <a:ext uri="{FF2B5EF4-FFF2-40B4-BE49-F238E27FC236}">
                            <a16:creationId xmlns:a16="http://schemas.microsoft.com/office/drawing/2014/main" id="{9EE02A83-B794-4D6A-A1F1-787174BF465C}"/>
                          </a:ext>
                        </a:extLst>
                      </p:cNvPr>
                      <p:cNvPicPr>
                        <a:picLocks noChangeAspect="1" noChangeArrowheads="1"/>
                      </p:cNvPicPr>
                      <p:nvPr/>
                    </p:nvPicPr>
                    <p:blipFill>
                      <a:blip r:embed="rId15"/>
                      <a:srcRect/>
                      <a:stretch>
                        <a:fillRect/>
                      </a:stretch>
                    </p:blipFill>
                    <p:spPr bwMode="auto">
                      <a:xfrm>
                        <a:off x="6049550" y="5326144"/>
                        <a:ext cx="254000" cy="274205"/>
                      </a:xfrm>
                      <a:prstGeom prst="rect">
                        <a:avLst/>
                      </a:prstGeom>
                      <a:noFill/>
                      <a:ln>
                        <a:noFill/>
                      </a:ln>
                      <a:effectLst/>
                    </p:spPr>
                  </p:pic>
                </p:oleObj>
              </mc:Fallback>
            </mc:AlternateContent>
          </a:graphicData>
        </a:graphic>
      </p:graphicFrame>
      <p:sp>
        <p:nvSpPr>
          <p:cNvPr id="22" name="Content Placeholder 21">
            <a:extLst>
              <a:ext uri="{FF2B5EF4-FFF2-40B4-BE49-F238E27FC236}">
                <a16:creationId xmlns:a16="http://schemas.microsoft.com/office/drawing/2014/main" id="{E493406F-07D5-5221-0AD0-F52A49B89C25}"/>
              </a:ext>
            </a:extLst>
          </p:cNvPr>
          <p:cNvSpPr>
            <a:spLocks noGrp="1"/>
          </p:cNvSpPr>
          <p:nvPr>
            <p:ph sz="quarter" idx="27"/>
          </p:nvPr>
        </p:nvSpPr>
        <p:spPr>
          <a:xfrm>
            <a:off x="6368033" y="5307548"/>
            <a:ext cx="2058987" cy="344128"/>
          </a:xfrm>
        </p:spPr>
        <p:txBody>
          <a:bodyPr wrap="square" lIns="0" tIns="18000" rIns="0" bIns="18000" anchor="ctr">
            <a:spAutoFit/>
          </a:bodyPr>
          <a:lstStyle/>
          <a:p>
            <a:pPr marL="0" indent="0">
              <a:spcBef>
                <a:spcPts val="600"/>
              </a:spcBef>
              <a:buNone/>
            </a:pPr>
            <a:r>
              <a:rPr lang="en-US" sz="2000" noProof="0" dirty="0"/>
              <a:t>is the gain, whose</a:t>
            </a:r>
          </a:p>
        </p:txBody>
      </p:sp>
      <p:sp>
        <p:nvSpPr>
          <p:cNvPr id="23" name="Content Placeholder 22">
            <a:extLst>
              <a:ext uri="{FF2B5EF4-FFF2-40B4-BE49-F238E27FC236}">
                <a16:creationId xmlns:a16="http://schemas.microsoft.com/office/drawing/2014/main" id="{C5110ACC-EB6F-5F2B-6DA2-1AD45CE6E77A}"/>
              </a:ext>
            </a:extLst>
          </p:cNvPr>
          <p:cNvSpPr>
            <a:spLocks noGrp="1"/>
          </p:cNvSpPr>
          <p:nvPr>
            <p:ph sz="quarter" idx="28"/>
          </p:nvPr>
        </p:nvSpPr>
        <p:spPr>
          <a:xfrm>
            <a:off x="4579940" y="5706986"/>
            <a:ext cx="1497012" cy="344128"/>
          </a:xfrm>
        </p:spPr>
        <p:txBody>
          <a:bodyPr wrap="square" lIns="0" tIns="18000" rIns="0" bIns="18000" anchor="ctr">
            <a:spAutoFit/>
          </a:bodyPr>
          <a:lstStyle/>
          <a:p>
            <a:pPr marL="0" indent="0">
              <a:spcBef>
                <a:spcPts val="600"/>
              </a:spcBef>
              <a:buNone/>
            </a:pPr>
            <a:r>
              <a:rPr lang="en-US" sz="2000" noProof="0" dirty="0"/>
              <a:t>units are V/A</a:t>
            </a:r>
          </a:p>
        </p:txBody>
      </p:sp>
    </p:spTree>
    <p:extLst>
      <p:ext uri="{BB962C8B-B14F-4D97-AF65-F5344CB8AC3E}">
        <p14:creationId xmlns:p14="http://schemas.microsoft.com/office/powerpoint/2010/main" val="560777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(7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113126"/>
            <a:ext cx="3171825" cy="344128"/>
          </a:xfrm>
        </p:spPr>
        <p:txBody>
          <a:bodyPr wrap="square" lIns="0" tIns="18000" rIns="0" bIns="18000" anchor="ctr">
            <a:spAutoFit/>
          </a:bodyPr>
          <a:lstStyle/>
          <a:p>
            <a:pPr marL="0" indent="0">
              <a:spcBef>
                <a:spcPts val="600"/>
              </a:spcBef>
              <a:buNone/>
            </a:pPr>
            <a:r>
              <a:rPr lang="en-US" sz="2000" noProof="0" dirty="0"/>
              <a:t>Dependent current sources</a:t>
            </a:r>
          </a:p>
        </p:txBody>
      </p:sp>
      <p:pic>
        <p:nvPicPr>
          <p:cNvPr id="25" name="Picture 2" descr="The symbol of voltage-controlled current source with current i subscript S equal to alpha times V subscript x.">
            <a:extLst>
              <a:ext uri="{FF2B5EF4-FFF2-40B4-BE49-F238E27FC236}">
                <a16:creationId xmlns:a16="http://schemas.microsoft.com/office/drawing/2014/main" id="{1914D487-CC62-423E-ACB8-A15B396DAD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2898" y="1818640"/>
            <a:ext cx="1837055" cy="2109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6" y="4065876"/>
            <a:ext cx="3962400" cy="344128"/>
          </a:xfrm>
        </p:spPr>
        <p:txBody>
          <a:bodyPr wrap="square" lIns="0" tIns="18000" rIns="0" bIns="18000" anchor="ctr">
            <a:spAutoFit/>
          </a:bodyPr>
          <a:lstStyle/>
          <a:p>
            <a:pPr marL="0" indent="0">
              <a:spcBef>
                <a:spcPts val="600"/>
              </a:spcBef>
              <a:buNone/>
            </a:pPr>
            <a:r>
              <a:rPr lang="en-US" sz="2000" noProof="0" dirty="0"/>
              <a:t>Voltage-controlled current source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6" y="4465926"/>
            <a:ext cx="1743074" cy="344128"/>
          </a:xfrm>
        </p:spPr>
        <p:txBody>
          <a:bodyPr wrap="square" lIns="0" tIns="18000" rIns="0" bIns="18000" anchor="ctr">
            <a:spAutoFit/>
          </a:bodyPr>
          <a:lstStyle/>
          <a:p>
            <a:pPr marL="0" indent="0">
              <a:spcBef>
                <a:spcPts val="600"/>
              </a:spcBef>
              <a:buNone/>
            </a:pPr>
            <a:r>
              <a:rPr lang="en-US" sz="2000" noProof="0" dirty="0"/>
              <a:t>(</a:t>
            </a:r>
            <a:r>
              <a:rPr lang="en-US" sz="2000" spc="-250" noProof="0" dirty="0"/>
              <a:t>V C </a:t>
            </a:r>
            <a:r>
              <a:rPr lang="en-US" sz="2000" spc="-250" noProof="0" dirty="0" err="1"/>
              <a:t>C</a:t>
            </a:r>
            <a:r>
              <a:rPr lang="en-US" sz="2000" spc="-250" noProof="0" dirty="0"/>
              <a:t> </a:t>
            </a:r>
            <a:r>
              <a:rPr lang="en-US" sz="2000" noProof="0" dirty="0"/>
              <a:t>S), where </a:t>
            </a:r>
          </a:p>
        </p:txBody>
      </p:sp>
      <p:graphicFrame>
        <p:nvGraphicFramePr>
          <p:cNvPr id="27" name="Object 26" descr="i subscript s.&#10;">
            <a:extLst>
              <a:ext uri="{FF2B5EF4-FFF2-40B4-BE49-F238E27FC236}">
                <a16:creationId xmlns:a16="http://schemas.microsoft.com/office/drawing/2014/main" id="{2E167703-11EB-45F0-B716-11FCA6608B51}"/>
              </a:ext>
            </a:extLst>
          </p:cNvPr>
          <p:cNvGraphicFramePr>
            <a:graphicFrameLocks noChangeAspect="1"/>
          </p:cNvGraphicFramePr>
          <p:nvPr>
            <p:extLst>
              <p:ext uri="{D42A27DB-BD31-4B8C-83A1-F6EECF244321}">
                <p14:modId xmlns:p14="http://schemas.microsoft.com/office/powerpoint/2010/main" val="3157605007"/>
              </p:ext>
            </p:extLst>
          </p:nvPr>
        </p:nvGraphicFramePr>
        <p:xfrm>
          <a:off x="2247900" y="4457700"/>
          <a:ext cx="231775" cy="379413"/>
        </p:xfrm>
        <a:graphic>
          <a:graphicData uri="http://schemas.openxmlformats.org/presentationml/2006/ole">
            <mc:AlternateContent xmlns:mc="http://schemas.openxmlformats.org/markup-compatibility/2006">
              <mc:Choice xmlns:v="urn:schemas-microsoft-com:vml" Requires="v">
                <p:oleObj name="Equation" r:id="rId3" imgW="139680" imgH="228600" progId="Equation.DSMT4">
                  <p:embed/>
                </p:oleObj>
              </mc:Choice>
              <mc:Fallback>
                <p:oleObj name="Equation" r:id="rId3" imgW="139680" imgH="228600" progId="Equation.DSMT4">
                  <p:embed/>
                  <p:pic>
                    <p:nvPicPr>
                      <p:cNvPr id="27" name="Object 26">
                        <a:extLst>
                          <a:ext uri="{FF2B5EF4-FFF2-40B4-BE49-F238E27FC236}">
                            <a16:creationId xmlns:a16="http://schemas.microsoft.com/office/drawing/2014/main" id="{FB247CD8-50A1-4F79-8B88-39BCB8A4BA25}"/>
                          </a:ext>
                        </a:extLst>
                      </p:cNvPr>
                      <p:cNvPicPr>
                        <a:picLocks noChangeAspect="1" noChangeArrowheads="1"/>
                      </p:cNvPicPr>
                      <p:nvPr/>
                    </p:nvPicPr>
                    <p:blipFill>
                      <a:blip r:embed="rId4"/>
                      <a:srcRect/>
                      <a:stretch>
                        <a:fillRect/>
                      </a:stretch>
                    </p:blipFill>
                    <p:spPr bwMode="auto">
                      <a:xfrm>
                        <a:off x="2247900" y="4457700"/>
                        <a:ext cx="231775" cy="379413"/>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2561273" y="4457700"/>
            <a:ext cx="1495425" cy="344128"/>
          </a:xfrm>
        </p:spPr>
        <p:txBody>
          <a:bodyPr wrap="square" lIns="0" tIns="18000" rIns="0" bIns="18000" anchor="ctr">
            <a:spAutoFit/>
          </a:bodyPr>
          <a:lstStyle/>
          <a:p>
            <a:pPr marL="0" indent="0">
              <a:spcBef>
                <a:spcPts val="600"/>
              </a:spcBef>
              <a:buNone/>
            </a:pPr>
            <a:r>
              <a:rPr lang="en-US" sz="2000" noProof="0" dirty="0"/>
              <a:t>is the current</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28625" y="4866955"/>
            <a:ext cx="1019175" cy="344128"/>
          </a:xfrm>
        </p:spPr>
        <p:txBody>
          <a:bodyPr wrap="square" lIns="0" tIns="18000" rIns="0" bIns="18000" anchor="ctr">
            <a:spAutoFit/>
          </a:bodyPr>
          <a:lstStyle/>
          <a:p>
            <a:pPr marL="0" indent="0">
              <a:spcBef>
                <a:spcPts val="600"/>
              </a:spcBef>
              <a:buNone/>
            </a:pPr>
            <a:r>
              <a:rPr lang="en-US" sz="2000" noProof="0" dirty="0"/>
              <a:t>supplied,</a:t>
            </a:r>
          </a:p>
        </p:txBody>
      </p:sp>
      <p:graphicFrame>
        <p:nvGraphicFramePr>
          <p:cNvPr id="28" name="Object 27" descr=" V subscript x Baseline.&#10;">
            <a:extLst>
              <a:ext uri="{FF2B5EF4-FFF2-40B4-BE49-F238E27FC236}">
                <a16:creationId xmlns:a16="http://schemas.microsoft.com/office/drawing/2014/main" id="{FA6AFAE7-10FF-487B-87BB-3A2B4AFD257E}"/>
              </a:ext>
            </a:extLst>
          </p:cNvPr>
          <p:cNvGraphicFramePr>
            <a:graphicFrameLocks noChangeAspect="1"/>
          </p:cNvGraphicFramePr>
          <p:nvPr>
            <p:extLst>
              <p:ext uri="{D42A27DB-BD31-4B8C-83A1-F6EECF244321}">
                <p14:modId xmlns:p14="http://schemas.microsoft.com/office/powerpoint/2010/main" val="3663227262"/>
              </p:ext>
            </p:extLst>
          </p:nvPr>
        </p:nvGraphicFramePr>
        <p:xfrm>
          <a:off x="1489075" y="4867275"/>
          <a:ext cx="293688" cy="379413"/>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27" name="Object 26">
                        <a:extLst>
                          <a:ext uri="{FF2B5EF4-FFF2-40B4-BE49-F238E27FC236}">
                            <a16:creationId xmlns:a16="http://schemas.microsoft.com/office/drawing/2014/main" id="{2E167703-11EB-45F0-B716-11FCA6608B51}"/>
                          </a:ext>
                        </a:extLst>
                      </p:cNvPr>
                      <p:cNvPicPr>
                        <a:picLocks noChangeAspect="1" noChangeArrowheads="1"/>
                      </p:cNvPicPr>
                      <p:nvPr/>
                    </p:nvPicPr>
                    <p:blipFill>
                      <a:blip r:embed="rId6"/>
                      <a:srcRect/>
                      <a:stretch>
                        <a:fillRect/>
                      </a:stretch>
                    </p:blipFill>
                    <p:spPr bwMode="auto">
                      <a:xfrm>
                        <a:off x="1489075" y="4867275"/>
                        <a:ext cx="293688" cy="379413"/>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824039" y="4876231"/>
            <a:ext cx="1871662" cy="344128"/>
          </a:xfrm>
        </p:spPr>
        <p:txBody>
          <a:bodyPr wrap="square" lIns="0" tIns="18000" rIns="0" bIns="18000" anchor="ctr">
            <a:spAutoFit/>
          </a:bodyPr>
          <a:lstStyle/>
          <a:p>
            <a:pPr marL="0" indent="0">
              <a:spcBef>
                <a:spcPts val="600"/>
              </a:spcBef>
              <a:buNone/>
            </a:pPr>
            <a:r>
              <a:rPr lang="en-US" sz="2000" noProof="0" dirty="0"/>
              <a:t>is the controlling</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28626" y="5264809"/>
            <a:ext cx="1395414" cy="344128"/>
          </a:xfrm>
        </p:spPr>
        <p:txBody>
          <a:bodyPr wrap="square" lIns="0" tIns="18000" rIns="0" bIns="18000" anchor="ctr">
            <a:spAutoFit/>
          </a:bodyPr>
          <a:lstStyle/>
          <a:p>
            <a:pPr marL="0" indent="0">
              <a:spcBef>
                <a:spcPts val="600"/>
              </a:spcBef>
              <a:buNone/>
            </a:pPr>
            <a:r>
              <a:rPr lang="en-US" sz="2000" noProof="0" dirty="0"/>
              <a:t>voltage, and </a:t>
            </a:r>
          </a:p>
        </p:txBody>
      </p:sp>
      <p:graphicFrame>
        <p:nvGraphicFramePr>
          <p:cNvPr id="29" name="Object 28" descr="Alpha.&#10;">
            <a:extLst>
              <a:ext uri="{FF2B5EF4-FFF2-40B4-BE49-F238E27FC236}">
                <a16:creationId xmlns:a16="http://schemas.microsoft.com/office/drawing/2014/main" id="{F116F42B-7D1D-4FAE-8767-69AB4D225B17}"/>
              </a:ext>
            </a:extLst>
          </p:cNvPr>
          <p:cNvGraphicFramePr>
            <a:graphicFrameLocks noChangeAspect="1"/>
          </p:cNvGraphicFramePr>
          <p:nvPr>
            <p:extLst>
              <p:ext uri="{D42A27DB-BD31-4B8C-83A1-F6EECF244321}">
                <p14:modId xmlns:p14="http://schemas.microsoft.com/office/powerpoint/2010/main" val="586069127"/>
              </p:ext>
            </p:extLst>
          </p:nvPr>
        </p:nvGraphicFramePr>
        <p:xfrm>
          <a:off x="1858963" y="5340350"/>
          <a:ext cx="254000" cy="231775"/>
        </p:xfrm>
        <a:graphic>
          <a:graphicData uri="http://schemas.openxmlformats.org/presentationml/2006/ole">
            <mc:AlternateContent xmlns:mc="http://schemas.openxmlformats.org/markup-compatibility/2006">
              <mc:Choice xmlns:v="urn:schemas-microsoft-com:vml" Requires="v">
                <p:oleObj name="Equation" r:id="rId7" imgW="152280" imgH="139680" progId="Equation.DSMT4">
                  <p:embed/>
                </p:oleObj>
              </mc:Choice>
              <mc:Fallback>
                <p:oleObj name="Equation" r:id="rId7" imgW="152280" imgH="139680" progId="Equation.DSMT4">
                  <p:embed/>
                  <p:pic>
                    <p:nvPicPr>
                      <p:cNvPr id="29" name="Object 28">
                        <a:extLst>
                          <a:ext uri="{FF2B5EF4-FFF2-40B4-BE49-F238E27FC236}">
                            <a16:creationId xmlns:a16="http://schemas.microsoft.com/office/drawing/2014/main" id="{9EE02A83-B794-4D6A-A1F1-787174BF465C}"/>
                          </a:ext>
                        </a:extLst>
                      </p:cNvPr>
                      <p:cNvPicPr>
                        <a:picLocks noChangeAspect="1" noChangeArrowheads="1"/>
                      </p:cNvPicPr>
                      <p:nvPr/>
                    </p:nvPicPr>
                    <p:blipFill>
                      <a:blip r:embed="rId8"/>
                      <a:srcRect/>
                      <a:stretch>
                        <a:fillRect/>
                      </a:stretch>
                    </p:blipFill>
                    <p:spPr bwMode="auto">
                      <a:xfrm>
                        <a:off x="1858963" y="5340350"/>
                        <a:ext cx="254000" cy="231775"/>
                      </a:xfrm>
                      <a:prstGeom prst="rect">
                        <a:avLst/>
                      </a:prstGeom>
                      <a:noFill/>
                      <a:ln>
                        <a:noFill/>
                      </a:ln>
                      <a:effec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2147886" y="5278157"/>
            <a:ext cx="2043114" cy="344128"/>
          </a:xfrm>
        </p:spPr>
        <p:txBody>
          <a:bodyPr wrap="square" lIns="0" tIns="18000" rIns="0" bIns="18000" anchor="ctr">
            <a:spAutoFit/>
          </a:bodyPr>
          <a:lstStyle/>
          <a:p>
            <a:pPr marL="0" indent="0">
              <a:spcBef>
                <a:spcPts val="600"/>
              </a:spcBef>
              <a:buNone/>
            </a:pPr>
            <a:r>
              <a:rPr lang="en-US" sz="2000" noProof="0" dirty="0"/>
              <a:t>is the gain, whose</a:t>
            </a:r>
          </a:p>
        </p:txBody>
      </p:sp>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438150" y="5660467"/>
            <a:ext cx="1514475" cy="344128"/>
          </a:xfrm>
        </p:spPr>
        <p:txBody>
          <a:bodyPr wrap="square" lIns="0" tIns="18000" rIns="0" bIns="18000" anchor="ctr">
            <a:spAutoFit/>
          </a:bodyPr>
          <a:lstStyle/>
          <a:p>
            <a:pPr marL="0" indent="0">
              <a:spcBef>
                <a:spcPts val="600"/>
              </a:spcBef>
              <a:buNone/>
            </a:pPr>
            <a:r>
              <a:rPr lang="en-US" sz="2000" noProof="0" dirty="0"/>
              <a:t>units are A/V</a:t>
            </a:r>
          </a:p>
        </p:txBody>
      </p:sp>
      <p:pic>
        <p:nvPicPr>
          <p:cNvPr id="26" name="Picture 3" descr="The symbol of current-controlled current source with current i subscript S equal to beta times i subscript X.">
            <a:extLst>
              <a:ext uri="{FF2B5EF4-FFF2-40B4-BE49-F238E27FC236}">
                <a16:creationId xmlns:a16="http://schemas.microsoft.com/office/drawing/2014/main" id="{6019F991-2995-4632-9B7B-B5EE5617E3F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64543" y="1920240"/>
            <a:ext cx="1739265" cy="1969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4581525" y="4072925"/>
            <a:ext cx="3859212" cy="344128"/>
          </a:xfrm>
        </p:spPr>
        <p:txBody>
          <a:bodyPr lIns="0" tIns="18000" rIns="0" bIns="18000" anchor="ctr">
            <a:spAutoFit/>
          </a:bodyPr>
          <a:lstStyle/>
          <a:p>
            <a:pPr marL="0" indent="0">
              <a:spcBef>
                <a:spcPts val="600"/>
              </a:spcBef>
              <a:buNone/>
            </a:pPr>
            <a:r>
              <a:rPr lang="en-US" sz="2000" noProof="0" dirty="0"/>
              <a:t>Current-controlled current source</a:t>
            </a:r>
          </a:p>
        </p:txBody>
      </p:sp>
      <p:sp>
        <p:nvSpPr>
          <p:cNvPr id="17" name="Content Placeholder 16">
            <a:extLst>
              <a:ext uri="{FF2B5EF4-FFF2-40B4-BE49-F238E27FC236}">
                <a16:creationId xmlns:a16="http://schemas.microsoft.com/office/drawing/2014/main" id="{12401441-FD92-F4F7-BE98-19DC7CBBBB17}"/>
              </a:ext>
            </a:extLst>
          </p:cNvPr>
          <p:cNvSpPr>
            <a:spLocks noGrp="1"/>
          </p:cNvSpPr>
          <p:nvPr>
            <p:ph sz="quarter" idx="22"/>
          </p:nvPr>
        </p:nvSpPr>
        <p:spPr>
          <a:xfrm>
            <a:off x="4579938" y="4465926"/>
            <a:ext cx="1744662" cy="344128"/>
          </a:xfrm>
        </p:spPr>
        <p:txBody>
          <a:bodyPr wrap="square" lIns="0" tIns="18000" rIns="0" bIns="18000" anchor="ctr">
            <a:spAutoFit/>
          </a:bodyPr>
          <a:lstStyle/>
          <a:p>
            <a:pPr marL="0" indent="0">
              <a:spcBef>
                <a:spcPts val="600"/>
              </a:spcBef>
              <a:buNone/>
            </a:pPr>
            <a:r>
              <a:rPr lang="en-US" sz="2000" noProof="0" dirty="0"/>
              <a:t>(</a:t>
            </a:r>
            <a:r>
              <a:rPr lang="en-US" sz="2000" spc="-250" noProof="0" dirty="0"/>
              <a:t>C </a:t>
            </a:r>
            <a:r>
              <a:rPr lang="en-US" sz="2000" spc="-250" noProof="0" dirty="0" err="1"/>
              <a:t>C</a:t>
            </a:r>
            <a:r>
              <a:rPr lang="en-US" sz="2000" spc="-250" noProof="0" dirty="0"/>
              <a:t> </a:t>
            </a:r>
            <a:r>
              <a:rPr lang="en-US" sz="2000" spc="-250" noProof="0" dirty="0" err="1"/>
              <a:t>C</a:t>
            </a:r>
            <a:r>
              <a:rPr lang="en-US" sz="2000" spc="-250" noProof="0" dirty="0"/>
              <a:t> </a:t>
            </a:r>
            <a:r>
              <a:rPr lang="en-US" sz="2000" noProof="0" dirty="0"/>
              <a:t>S), where </a:t>
            </a:r>
          </a:p>
        </p:txBody>
      </p:sp>
      <p:graphicFrame>
        <p:nvGraphicFramePr>
          <p:cNvPr id="30" name="Object 29" descr="i subscript s.&#10;">
            <a:extLst>
              <a:ext uri="{FF2B5EF4-FFF2-40B4-BE49-F238E27FC236}">
                <a16:creationId xmlns:a16="http://schemas.microsoft.com/office/drawing/2014/main" id="{B65AF223-F6AE-4159-9379-CF914AA13E8D}"/>
              </a:ext>
            </a:extLst>
          </p:cNvPr>
          <p:cNvGraphicFramePr>
            <a:graphicFrameLocks noChangeAspect="1"/>
          </p:cNvGraphicFramePr>
          <p:nvPr>
            <p:extLst>
              <p:ext uri="{D42A27DB-BD31-4B8C-83A1-F6EECF244321}">
                <p14:modId xmlns:p14="http://schemas.microsoft.com/office/powerpoint/2010/main" val="672471800"/>
              </p:ext>
            </p:extLst>
          </p:nvPr>
        </p:nvGraphicFramePr>
        <p:xfrm>
          <a:off x="6395243" y="4457746"/>
          <a:ext cx="231775" cy="379413"/>
        </p:xfrm>
        <a:graphic>
          <a:graphicData uri="http://schemas.openxmlformats.org/presentationml/2006/ole">
            <mc:AlternateContent xmlns:mc="http://schemas.openxmlformats.org/markup-compatibility/2006">
              <mc:Choice xmlns:v="urn:schemas-microsoft-com:vml" Requires="v">
                <p:oleObj name="Equation" r:id="rId10" imgW="139680" imgH="228600" progId="Equation.DSMT4">
                  <p:embed/>
                </p:oleObj>
              </mc:Choice>
              <mc:Fallback>
                <p:oleObj name="Equation" r:id="rId10" imgW="139680" imgH="228600" progId="Equation.DSMT4">
                  <p:embed/>
                  <p:pic>
                    <p:nvPicPr>
                      <p:cNvPr id="27" name="Object 26">
                        <a:extLst>
                          <a:ext uri="{FF2B5EF4-FFF2-40B4-BE49-F238E27FC236}">
                            <a16:creationId xmlns:a16="http://schemas.microsoft.com/office/drawing/2014/main" id="{2E167703-11EB-45F0-B716-11FCA6608B51}"/>
                          </a:ext>
                        </a:extLst>
                      </p:cNvPr>
                      <p:cNvPicPr>
                        <a:picLocks noChangeAspect="1" noChangeArrowheads="1"/>
                      </p:cNvPicPr>
                      <p:nvPr/>
                    </p:nvPicPr>
                    <p:blipFill>
                      <a:blip r:embed="rId11"/>
                      <a:srcRect/>
                      <a:stretch>
                        <a:fillRect/>
                      </a:stretch>
                    </p:blipFill>
                    <p:spPr bwMode="auto">
                      <a:xfrm>
                        <a:off x="6395243" y="4457746"/>
                        <a:ext cx="231775" cy="379413"/>
                      </a:xfrm>
                      <a:prstGeom prst="rect">
                        <a:avLst/>
                      </a:prstGeom>
                      <a:noFill/>
                      <a:ln>
                        <a:noFill/>
                      </a:ln>
                      <a:effectLst/>
                    </p:spPr>
                  </p:pic>
                </p:oleObj>
              </mc:Fallback>
            </mc:AlternateContent>
          </a:graphicData>
        </a:graphic>
      </p:graphicFrame>
      <p:sp>
        <p:nvSpPr>
          <p:cNvPr id="18" name="Content Placeholder 17">
            <a:extLst>
              <a:ext uri="{FF2B5EF4-FFF2-40B4-BE49-F238E27FC236}">
                <a16:creationId xmlns:a16="http://schemas.microsoft.com/office/drawing/2014/main" id="{9CF46FE1-A0D0-DDEC-AE98-1CBAEC0C4CD9}"/>
              </a:ext>
            </a:extLst>
          </p:cNvPr>
          <p:cNvSpPr>
            <a:spLocks noGrp="1"/>
          </p:cNvSpPr>
          <p:nvPr>
            <p:ph sz="quarter" idx="23"/>
          </p:nvPr>
        </p:nvSpPr>
        <p:spPr>
          <a:xfrm>
            <a:off x="6697661" y="4475342"/>
            <a:ext cx="1516062" cy="344128"/>
          </a:xfrm>
        </p:spPr>
        <p:txBody>
          <a:bodyPr wrap="square" lIns="0" tIns="18000" rIns="0" bIns="18000" anchor="ctr">
            <a:spAutoFit/>
          </a:bodyPr>
          <a:lstStyle/>
          <a:p>
            <a:pPr marL="0" indent="0">
              <a:spcBef>
                <a:spcPts val="600"/>
              </a:spcBef>
              <a:buNone/>
            </a:pPr>
            <a:r>
              <a:rPr lang="en-US" sz="2000" noProof="0" dirty="0"/>
              <a:t>is the current</a:t>
            </a:r>
          </a:p>
        </p:txBody>
      </p:sp>
      <p:sp>
        <p:nvSpPr>
          <p:cNvPr id="19" name="Content Placeholder 18">
            <a:extLst>
              <a:ext uri="{FF2B5EF4-FFF2-40B4-BE49-F238E27FC236}">
                <a16:creationId xmlns:a16="http://schemas.microsoft.com/office/drawing/2014/main" id="{02C5F337-56B2-6E39-6CFC-F394D7F1734E}"/>
              </a:ext>
            </a:extLst>
          </p:cNvPr>
          <p:cNvSpPr>
            <a:spLocks noGrp="1"/>
          </p:cNvSpPr>
          <p:nvPr>
            <p:ph sz="quarter" idx="24"/>
          </p:nvPr>
        </p:nvSpPr>
        <p:spPr>
          <a:xfrm>
            <a:off x="4579938" y="4857181"/>
            <a:ext cx="1056005" cy="344128"/>
          </a:xfrm>
        </p:spPr>
        <p:txBody>
          <a:bodyPr wrap="square" lIns="0" tIns="18000" rIns="0" bIns="18000" anchor="ctr">
            <a:spAutoFit/>
          </a:bodyPr>
          <a:lstStyle/>
          <a:p>
            <a:pPr marL="0" indent="0">
              <a:spcBef>
                <a:spcPts val="600"/>
              </a:spcBef>
              <a:buNone/>
            </a:pPr>
            <a:r>
              <a:rPr lang="en-US" sz="2000" noProof="0" dirty="0"/>
              <a:t>supplied,</a:t>
            </a:r>
          </a:p>
        </p:txBody>
      </p:sp>
      <p:graphicFrame>
        <p:nvGraphicFramePr>
          <p:cNvPr id="31" name="Object 30" descr="i subscript x Baseline.&#10;">
            <a:extLst>
              <a:ext uri="{FF2B5EF4-FFF2-40B4-BE49-F238E27FC236}">
                <a16:creationId xmlns:a16="http://schemas.microsoft.com/office/drawing/2014/main" id="{00DD48DD-C529-4944-B1F9-B43E6C747F5C}"/>
              </a:ext>
            </a:extLst>
          </p:cNvPr>
          <p:cNvGraphicFramePr>
            <a:graphicFrameLocks noChangeAspect="1"/>
          </p:cNvGraphicFramePr>
          <p:nvPr>
            <p:extLst>
              <p:ext uri="{D42A27DB-BD31-4B8C-83A1-F6EECF244321}">
                <p14:modId xmlns:p14="http://schemas.microsoft.com/office/powerpoint/2010/main" val="1920369686"/>
              </p:ext>
            </p:extLst>
          </p:nvPr>
        </p:nvGraphicFramePr>
        <p:xfrm>
          <a:off x="5670868" y="4866706"/>
          <a:ext cx="231775" cy="379413"/>
        </p:xfrm>
        <a:graphic>
          <a:graphicData uri="http://schemas.openxmlformats.org/presentationml/2006/ole">
            <mc:AlternateContent xmlns:mc="http://schemas.openxmlformats.org/markup-compatibility/2006">
              <mc:Choice xmlns:v="urn:schemas-microsoft-com:vml" Requires="v">
                <p:oleObj name="Equation" r:id="rId12" imgW="139680" imgH="228600" progId="Equation.DSMT4">
                  <p:embed/>
                </p:oleObj>
              </mc:Choice>
              <mc:Fallback>
                <p:oleObj name="Equation" r:id="rId12" imgW="139680" imgH="228600" progId="Equation.DSMT4">
                  <p:embed/>
                  <p:pic>
                    <p:nvPicPr>
                      <p:cNvPr id="30" name="Object 29">
                        <a:extLst>
                          <a:ext uri="{FF2B5EF4-FFF2-40B4-BE49-F238E27FC236}">
                            <a16:creationId xmlns:a16="http://schemas.microsoft.com/office/drawing/2014/main" id="{B65AF223-F6AE-4159-9379-CF914AA13E8D}"/>
                          </a:ext>
                        </a:extLst>
                      </p:cNvPr>
                      <p:cNvPicPr>
                        <a:picLocks noChangeAspect="1" noChangeArrowheads="1"/>
                      </p:cNvPicPr>
                      <p:nvPr/>
                    </p:nvPicPr>
                    <p:blipFill>
                      <a:blip r:embed="rId13"/>
                      <a:srcRect/>
                      <a:stretch>
                        <a:fillRect/>
                      </a:stretch>
                    </p:blipFill>
                    <p:spPr bwMode="auto">
                      <a:xfrm>
                        <a:off x="5670868" y="4866706"/>
                        <a:ext cx="231775" cy="379413"/>
                      </a:xfrm>
                      <a:prstGeom prst="rect">
                        <a:avLst/>
                      </a:prstGeom>
                      <a:noFill/>
                      <a:ln>
                        <a:noFill/>
                      </a:ln>
                      <a:effectLst/>
                    </p:spPr>
                  </p:pic>
                </p:oleObj>
              </mc:Fallback>
            </mc:AlternateContent>
          </a:graphicData>
        </a:graphic>
      </p:graphicFrame>
      <p:sp>
        <p:nvSpPr>
          <p:cNvPr id="20" name="Content Placeholder 19">
            <a:extLst>
              <a:ext uri="{FF2B5EF4-FFF2-40B4-BE49-F238E27FC236}">
                <a16:creationId xmlns:a16="http://schemas.microsoft.com/office/drawing/2014/main" id="{3387E383-338D-B601-C7D5-2936C5B7C4C7}"/>
              </a:ext>
            </a:extLst>
          </p:cNvPr>
          <p:cNvSpPr>
            <a:spLocks noGrp="1"/>
          </p:cNvSpPr>
          <p:nvPr>
            <p:ph sz="quarter" idx="25"/>
          </p:nvPr>
        </p:nvSpPr>
        <p:spPr>
          <a:xfrm>
            <a:off x="5937568" y="4858038"/>
            <a:ext cx="1889123" cy="344128"/>
          </a:xfrm>
        </p:spPr>
        <p:txBody>
          <a:bodyPr wrap="square" lIns="0" tIns="18000" rIns="0" bIns="18000" anchor="ctr">
            <a:spAutoFit/>
          </a:bodyPr>
          <a:lstStyle/>
          <a:p>
            <a:pPr marL="0" indent="0">
              <a:spcBef>
                <a:spcPts val="600"/>
              </a:spcBef>
              <a:buNone/>
            </a:pPr>
            <a:r>
              <a:rPr lang="en-US" sz="2000" noProof="0" dirty="0"/>
              <a:t>is the controlling</a:t>
            </a:r>
          </a:p>
        </p:txBody>
      </p:sp>
      <p:sp>
        <p:nvSpPr>
          <p:cNvPr id="21" name="Content Placeholder 20">
            <a:extLst>
              <a:ext uri="{FF2B5EF4-FFF2-40B4-BE49-F238E27FC236}">
                <a16:creationId xmlns:a16="http://schemas.microsoft.com/office/drawing/2014/main" id="{CCA91FB8-2D68-EBB3-FC87-57448C895BED}"/>
              </a:ext>
            </a:extLst>
          </p:cNvPr>
          <p:cNvSpPr>
            <a:spLocks noGrp="1"/>
          </p:cNvSpPr>
          <p:nvPr>
            <p:ph sz="quarter" idx="26"/>
          </p:nvPr>
        </p:nvSpPr>
        <p:spPr>
          <a:xfrm>
            <a:off x="4581524" y="5284788"/>
            <a:ext cx="1356043" cy="344128"/>
          </a:xfrm>
        </p:spPr>
        <p:txBody>
          <a:bodyPr wrap="square" lIns="0" tIns="18000" rIns="0" bIns="18000" anchor="ctr">
            <a:spAutoFit/>
          </a:bodyPr>
          <a:lstStyle/>
          <a:p>
            <a:pPr marL="0" indent="0">
              <a:spcBef>
                <a:spcPts val="600"/>
              </a:spcBef>
              <a:buNone/>
            </a:pPr>
            <a:r>
              <a:rPr lang="en-US" sz="2000" noProof="0" dirty="0"/>
              <a:t>current, and</a:t>
            </a:r>
          </a:p>
        </p:txBody>
      </p:sp>
      <p:graphicFrame>
        <p:nvGraphicFramePr>
          <p:cNvPr id="32" name="Object 31" descr="Beta.&#10;">
            <a:extLst>
              <a:ext uri="{FF2B5EF4-FFF2-40B4-BE49-F238E27FC236}">
                <a16:creationId xmlns:a16="http://schemas.microsoft.com/office/drawing/2014/main" id="{413AE469-D6D3-4C36-8AE7-AED02F4E2004}"/>
              </a:ext>
            </a:extLst>
          </p:cNvPr>
          <p:cNvGraphicFramePr>
            <a:graphicFrameLocks noChangeAspect="1"/>
          </p:cNvGraphicFramePr>
          <p:nvPr>
            <p:extLst>
              <p:ext uri="{D42A27DB-BD31-4B8C-83A1-F6EECF244321}">
                <p14:modId xmlns:p14="http://schemas.microsoft.com/office/powerpoint/2010/main" val="936035763"/>
              </p:ext>
            </p:extLst>
          </p:nvPr>
        </p:nvGraphicFramePr>
        <p:xfrm>
          <a:off x="6009319" y="5305425"/>
          <a:ext cx="254000" cy="336550"/>
        </p:xfrm>
        <a:graphic>
          <a:graphicData uri="http://schemas.openxmlformats.org/presentationml/2006/ole">
            <mc:AlternateContent xmlns:mc="http://schemas.openxmlformats.org/markup-compatibility/2006">
              <mc:Choice xmlns:v="urn:schemas-microsoft-com:vml" Requires="v">
                <p:oleObj name="Equation" r:id="rId14" imgW="152280" imgH="203040" progId="Equation.DSMT4">
                  <p:embed/>
                </p:oleObj>
              </mc:Choice>
              <mc:Fallback>
                <p:oleObj name="Equation" r:id="rId14" imgW="152280" imgH="203040" progId="Equation.DSMT4">
                  <p:embed/>
                  <p:pic>
                    <p:nvPicPr>
                      <p:cNvPr id="29" name="Object 28">
                        <a:extLst>
                          <a:ext uri="{FF2B5EF4-FFF2-40B4-BE49-F238E27FC236}">
                            <a16:creationId xmlns:a16="http://schemas.microsoft.com/office/drawing/2014/main" id="{F116F42B-7D1D-4FAE-8767-69AB4D225B17}"/>
                          </a:ext>
                        </a:extLst>
                      </p:cNvPr>
                      <p:cNvPicPr>
                        <a:picLocks noChangeAspect="1" noChangeArrowheads="1"/>
                      </p:cNvPicPr>
                      <p:nvPr/>
                    </p:nvPicPr>
                    <p:blipFill>
                      <a:blip r:embed="rId15"/>
                      <a:srcRect/>
                      <a:stretch>
                        <a:fillRect/>
                      </a:stretch>
                    </p:blipFill>
                    <p:spPr bwMode="auto">
                      <a:xfrm>
                        <a:off x="6009319" y="5305425"/>
                        <a:ext cx="254000" cy="336550"/>
                      </a:xfrm>
                      <a:prstGeom prst="rect">
                        <a:avLst/>
                      </a:prstGeom>
                      <a:noFill/>
                      <a:ln>
                        <a:noFill/>
                      </a:ln>
                      <a:effectLst/>
                    </p:spPr>
                  </p:pic>
                </p:oleObj>
              </mc:Fallback>
            </mc:AlternateContent>
          </a:graphicData>
        </a:graphic>
      </p:graphicFrame>
      <p:sp>
        <p:nvSpPr>
          <p:cNvPr id="22" name="Content Placeholder 21">
            <a:extLst>
              <a:ext uri="{FF2B5EF4-FFF2-40B4-BE49-F238E27FC236}">
                <a16:creationId xmlns:a16="http://schemas.microsoft.com/office/drawing/2014/main" id="{E493406F-07D5-5221-0AD0-F52A49B89C25}"/>
              </a:ext>
            </a:extLst>
          </p:cNvPr>
          <p:cNvSpPr>
            <a:spLocks noGrp="1"/>
          </p:cNvSpPr>
          <p:nvPr>
            <p:ph sz="quarter" idx="27"/>
          </p:nvPr>
        </p:nvSpPr>
        <p:spPr>
          <a:xfrm>
            <a:off x="6343548" y="5284788"/>
            <a:ext cx="2049462" cy="344128"/>
          </a:xfrm>
        </p:spPr>
        <p:txBody>
          <a:bodyPr wrap="square" lIns="0" tIns="18000" rIns="0" bIns="18000" anchor="ctr">
            <a:spAutoFit/>
          </a:bodyPr>
          <a:lstStyle/>
          <a:p>
            <a:pPr marL="0" indent="0">
              <a:spcBef>
                <a:spcPts val="600"/>
              </a:spcBef>
              <a:buNone/>
            </a:pPr>
            <a:r>
              <a:rPr lang="en-US" sz="2000" noProof="0" dirty="0"/>
              <a:t>is the gain, whose</a:t>
            </a:r>
          </a:p>
        </p:txBody>
      </p:sp>
      <p:sp>
        <p:nvSpPr>
          <p:cNvPr id="23" name="Content Placeholder 22">
            <a:extLst>
              <a:ext uri="{FF2B5EF4-FFF2-40B4-BE49-F238E27FC236}">
                <a16:creationId xmlns:a16="http://schemas.microsoft.com/office/drawing/2014/main" id="{C5110ACC-EB6F-5F2B-6DA2-1AD45CE6E77A}"/>
              </a:ext>
            </a:extLst>
          </p:cNvPr>
          <p:cNvSpPr>
            <a:spLocks noGrp="1"/>
          </p:cNvSpPr>
          <p:nvPr>
            <p:ph sz="quarter" idx="28"/>
          </p:nvPr>
        </p:nvSpPr>
        <p:spPr>
          <a:xfrm>
            <a:off x="4580626" y="5696951"/>
            <a:ext cx="1454781" cy="344128"/>
          </a:xfrm>
        </p:spPr>
        <p:txBody>
          <a:bodyPr wrap="square" lIns="0" tIns="18000" rIns="0" bIns="18000" anchor="ctr">
            <a:spAutoFit/>
          </a:bodyPr>
          <a:lstStyle/>
          <a:p>
            <a:pPr marL="0" indent="0">
              <a:spcBef>
                <a:spcPts val="600"/>
              </a:spcBef>
              <a:buNone/>
            </a:pPr>
            <a:r>
              <a:rPr lang="en-US" sz="2000" noProof="0" dirty="0"/>
              <a:t>units are A/A</a:t>
            </a:r>
          </a:p>
        </p:txBody>
      </p:sp>
    </p:spTree>
    <p:extLst>
      <p:ext uri="{BB962C8B-B14F-4D97-AF65-F5344CB8AC3E}">
        <p14:creationId xmlns:p14="http://schemas.microsoft.com/office/powerpoint/2010/main" val="4205603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05420"/>
            <a:ext cx="8229600" cy="590349"/>
          </a:xfrm>
        </p:spPr>
        <p:txBody>
          <a:bodyPr/>
          <a:lstStyle/>
          <a:p>
            <a:r>
              <a:rPr lang="en-US" noProof="0" dirty="0"/>
              <a:t>Chapter 2 – Circuit Elements </a:t>
            </a:r>
            <a:r>
              <a:rPr lang="en-US" sz="2800" noProof="0" dirty="0"/>
              <a:t>(8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064206"/>
            <a:ext cx="208831" cy="405683"/>
          </a:xfrm>
        </p:spPr>
        <p:txBody>
          <a:bodyPr wrap="square" lIns="0" tIns="18000" rIns="0" bIns="18000" anchor="ctr">
            <a:spAutoFit/>
          </a:bodyPr>
          <a:lstStyle/>
          <a:p>
            <a:pPr marL="0" indent="0">
              <a:spcBef>
                <a:spcPts val="600"/>
              </a:spcBef>
              <a:buNone/>
            </a:pPr>
            <a:r>
              <a:rPr lang="en-US" sz="2400" noProof="0" dirty="0"/>
              <a:t>If</a:t>
            </a:r>
          </a:p>
        </p:txBody>
      </p:sp>
      <p:graphicFrame>
        <p:nvGraphicFramePr>
          <p:cNvPr id="2" name="Object 1" descr="i subscript uppercase Delta Baseline.&#10;">
            <a:extLst>
              <a:ext uri="{FF2B5EF4-FFF2-40B4-BE49-F238E27FC236}">
                <a16:creationId xmlns:a16="http://schemas.microsoft.com/office/drawing/2014/main" id="{50A14816-7039-5DB0-638B-036F4A893D69}"/>
              </a:ext>
            </a:extLst>
          </p:cNvPr>
          <p:cNvGraphicFramePr>
            <a:graphicFrameLocks noChangeAspect="1"/>
          </p:cNvGraphicFramePr>
          <p:nvPr>
            <p:extLst>
              <p:ext uri="{D42A27DB-BD31-4B8C-83A1-F6EECF244321}">
                <p14:modId xmlns:p14="http://schemas.microsoft.com/office/powerpoint/2010/main" val="1280336930"/>
              </p:ext>
            </p:extLst>
          </p:nvPr>
        </p:nvGraphicFramePr>
        <p:xfrm>
          <a:off x="710483" y="1109019"/>
          <a:ext cx="231775" cy="379413"/>
        </p:xfrm>
        <a:graphic>
          <a:graphicData uri="http://schemas.openxmlformats.org/presentationml/2006/ole">
            <mc:AlternateContent xmlns:mc="http://schemas.openxmlformats.org/markup-compatibility/2006">
              <mc:Choice xmlns:v="urn:schemas-microsoft-com:vml" Requires="v">
                <p:oleObj name="Equation" r:id="rId6" imgW="139680" imgH="228600" progId="Equation.DSMT4">
                  <p:embed/>
                </p:oleObj>
              </mc:Choice>
              <mc:Fallback>
                <p:oleObj name="Equation" r:id="rId6" imgW="139680" imgH="228600" progId="Equation.DSMT4">
                  <p:embed/>
                  <p:pic>
                    <p:nvPicPr>
                      <p:cNvPr id="31" name="Object 30">
                        <a:extLst>
                          <a:ext uri="{FF2B5EF4-FFF2-40B4-BE49-F238E27FC236}">
                            <a16:creationId xmlns:a16="http://schemas.microsoft.com/office/drawing/2014/main" id="{00DD48DD-C529-4944-B1F9-B43E6C747F5C}"/>
                          </a:ext>
                        </a:extLst>
                      </p:cNvPr>
                      <p:cNvPicPr>
                        <a:picLocks noChangeAspect="1" noChangeArrowheads="1"/>
                      </p:cNvPicPr>
                      <p:nvPr/>
                    </p:nvPicPr>
                    <p:blipFill>
                      <a:blip r:embed="rId7"/>
                      <a:srcRect/>
                      <a:stretch>
                        <a:fillRect/>
                      </a:stretch>
                    </p:blipFill>
                    <p:spPr bwMode="auto">
                      <a:xfrm>
                        <a:off x="710483" y="1109019"/>
                        <a:ext cx="231775" cy="379413"/>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014386" y="1066663"/>
            <a:ext cx="6654497" cy="405683"/>
          </a:xfrm>
        </p:spPr>
        <p:txBody>
          <a:bodyPr wrap="square" lIns="0" tIns="18000" rIns="0" bIns="18000" anchor="ctr">
            <a:spAutoFit/>
          </a:bodyPr>
          <a:lstStyle/>
          <a:p>
            <a:pPr marL="0" indent="0">
              <a:spcBef>
                <a:spcPts val="600"/>
              </a:spcBef>
              <a:buNone/>
            </a:pPr>
            <a:r>
              <a:rPr lang="en-US" sz="2400" noProof="0" dirty="0"/>
              <a:t>is 15 m</a:t>
            </a:r>
            <a:r>
              <a:rPr lang="en-US" sz="100" noProof="0" dirty="0"/>
              <a:t> </a:t>
            </a:r>
            <a:r>
              <a:rPr lang="en-US" sz="2400" noProof="0" dirty="0"/>
              <a:t>A, how much voltage does this dependent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9525" y="1560465"/>
            <a:ext cx="2063510" cy="405683"/>
          </a:xfrm>
        </p:spPr>
        <p:txBody>
          <a:bodyPr wrap="square" lIns="0" tIns="18000" rIns="0" bIns="18000" anchor="ctr">
            <a:spAutoFit/>
          </a:bodyPr>
          <a:lstStyle/>
          <a:p>
            <a:pPr marL="0" indent="0">
              <a:spcBef>
                <a:spcPts val="600"/>
              </a:spcBef>
              <a:buNone/>
            </a:pPr>
            <a:r>
              <a:rPr lang="en-US" sz="2400" noProof="0" dirty="0"/>
              <a:t>source supply?</a:t>
            </a:r>
          </a:p>
        </p:txBody>
      </p:sp>
      <p:pic>
        <p:nvPicPr>
          <p:cNvPr id="25" name="Picture 1434" descr="Cross mark">
            <a:extLst>
              <a:ext uri="{FF2B5EF4-FFF2-40B4-BE49-F238E27FC236}">
                <a16:creationId xmlns:a16="http://schemas.microsoft.com/office/drawing/2014/main" id="{7CAD587D-DC1D-E03A-072F-1CE7C14CFC4E}"/>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42936" y="235603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61280" y="2324648"/>
            <a:ext cx="1313012"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15 mV</a:t>
            </a:r>
          </a:p>
        </p:txBody>
      </p:sp>
      <p:pic>
        <p:nvPicPr>
          <p:cNvPr id="26" name="Picture 1434" descr="Cross mark">
            <a:extLst>
              <a:ext uri="{FF2B5EF4-FFF2-40B4-BE49-F238E27FC236}">
                <a16:creationId xmlns:a16="http://schemas.microsoft.com/office/drawing/2014/main" id="{B8FB60F8-E10A-6875-BAA8-02D9FD24E4E0}"/>
              </a:ext>
            </a:extLst>
          </p:cNvPr>
          <p:cNvPicPr>
            <a:picLocks noChangeAspect="1"/>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25327" y="299542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61280" y="2920246"/>
            <a:ext cx="1382024"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1500 V</a:t>
            </a:r>
          </a:p>
        </p:txBody>
      </p:sp>
      <p:pic>
        <p:nvPicPr>
          <p:cNvPr id="27" name="Picture 1435" descr="Check mark">
            <a:extLst>
              <a:ext uri="{FF2B5EF4-FFF2-40B4-BE49-F238E27FC236}">
                <a16:creationId xmlns:a16="http://schemas.microsoft.com/office/drawing/2014/main" id="{10041433-3092-FFEF-923D-291155BBFF5D}"/>
              </a:ext>
            </a:extLst>
          </p:cNvPr>
          <p:cNvPicPr>
            <a:picLocks noChangeAspect="1"/>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30066" y="354723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461280" y="3515844"/>
            <a:ext cx="110157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1.5 V</a:t>
            </a:r>
          </a:p>
        </p:txBody>
      </p:sp>
      <p:pic>
        <p:nvPicPr>
          <p:cNvPr id="28" name="Picture 1436" descr="Cross mark">
            <a:extLst>
              <a:ext uri="{FF2B5EF4-FFF2-40B4-BE49-F238E27FC236}">
                <a16:creationId xmlns:a16="http://schemas.microsoft.com/office/drawing/2014/main" id="{33A02B4C-875E-D447-4A86-CEBE81E410F7}"/>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Lst>
          </a:blip>
          <a:srcRect/>
          <a:stretch>
            <a:fillRect/>
          </a:stretch>
        </p:blipFill>
        <p:spPr bwMode="auto">
          <a:xfrm>
            <a:off x="842936" y="414283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461280" y="4111442"/>
            <a:ext cx="1226748" cy="405683"/>
          </a:xfrm>
        </p:spPr>
        <p:txBody>
          <a:bodyPr wrap="square" lIns="0" tIns="18000" rIns="0" bIns="18000" anchor="ctr">
            <a:spAutoFit/>
          </a:bodyPr>
          <a:lstStyle/>
          <a:p>
            <a:pPr marL="0" indent="0">
              <a:spcBef>
                <a:spcPts val="600"/>
              </a:spcBef>
              <a:buNone/>
            </a:pPr>
            <a:r>
              <a:rPr lang="en-US" sz="2400" noProof="0" dirty="0">
                <a:solidFill>
                  <a:srgbClr val="007FA3"/>
                </a:solidFill>
              </a:rPr>
              <a:t>D.</a:t>
            </a:r>
            <a:r>
              <a:rPr lang="en-US" sz="2400" noProof="0" dirty="0"/>
              <a:t> 100 V</a:t>
            </a:r>
          </a:p>
        </p:txBody>
      </p:sp>
      <p:pic>
        <p:nvPicPr>
          <p:cNvPr id="3" name="Picture 2" descr="A current controlled voltage source with supply voltage of 100 times i subscript delta.">
            <a:extLst>
              <a:ext uri="{FF2B5EF4-FFF2-40B4-BE49-F238E27FC236}">
                <a16:creationId xmlns:a16="http://schemas.microsoft.com/office/drawing/2014/main" id="{E6304902-E28D-C718-5861-CDA65D6ED0F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8992" y="1823070"/>
            <a:ext cx="2102157" cy="313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041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(9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59608"/>
            <a:ext cx="8220075" cy="775015"/>
          </a:xfrm>
        </p:spPr>
        <p:txBody>
          <a:bodyPr wrap="square" lIns="0" tIns="18000" rIns="0" bIns="18000" anchor="ctr">
            <a:spAutoFit/>
          </a:bodyPr>
          <a:lstStyle/>
          <a:p>
            <a:pPr marL="0" indent="0">
              <a:spcBef>
                <a:spcPts val="600"/>
              </a:spcBef>
              <a:buNone/>
            </a:pPr>
            <a:r>
              <a:rPr lang="en-US" sz="2400" noProof="0" dirty="0"/>
              <a:t>What units are associated with the gain 0.25 for this dependent source?</a:t>
            </a:r>
          </a:p>
        </p:txBody>
      </p:sp>
      <p:pic>
        <p:nvPicPr>
          <p:cNvPr id="4" name="Picture 1434" descr="Cross mark">
            <a:extLst>
              <a:ext uri="{FF2B5EF4-FFF2-40B4-BE49-F238E27FC236}">
                <a16:creationId xmlns:a16="http://schemas.microsoft.com/office/drawing/2014/main" id="{D47A6E79-A71F-EDB3-9067-A792D61B32B0}"/>
              </a:ext>
            </a:extLst>
          </p:cNvPr>
          <p:cNvPicPr>
            <a:picLocks noChangeAspect="1"/>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63427" y="233470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514475" y="2301549"/>
            <a:ext cx="96202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V/V</a:t>
            </a:r>
          </a:p>
        </p:txBody>
      </p:sp>
      <p:pic>
        <p:nvPicPr>
          <p:cNvPr id="5" name="Picture 1434" descr="Cross mark">
            <a:extLst>
              <a:ext uri="{FF2B5EF4-FFF2-40B4-BE49-F238E27FC236}">
                <a16:creationId xmlns:a16="http://schemas.microsoft.com/office/drawing/2014/main" id="{BFDBB824-1187-0CCC-33E9-CB842466C26A}"/>
              </a:ext>
            </a:extLst>
          </p:cNvPr>
          <p:cNvPicPr>
            <a:picLocks noChangeAspect="1"/>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863427" y="2880257"/>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514474" y="2848866"/>
            <a:ext cx="885825"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A/V</a:t>
            </a:r>
          </a:p>
        </p:txBody>
      </p:sp>
      <p:pic>
        <p:nvPicPr>
          <p:cNvPr id="25" name="Picture 1434" descr="Cross mark">
            <a:extLst>
              <a:ext uri="{FF2B5EF4-FFF2-40B4-BE49-F238E27FC236}">
                <a16:creationId xmlns:a16="http://schemas.microsoft.com/office/drawing/2014/main" id="{53DE8AB6-0363-B625-BA45-1E8812ED9752}"/>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863427" y="3425808"/>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514473" y="3396183"/>
            <a:ext cx="885825"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V/A</a:t>
            </a:r>
          </a:p>
        </p:txBody>
      </p:sp>
      <p:pic>
        <p:nvPicPr>
          <p:cNvPr id="26" name="Picture 1435" descr="Check mark">
            <a:extLst>
              <a:ext uri="{FF2B5EF4-FFF2-40B4-BE49-F238E27FC236}">
                <a16:creationId xmlns:a16="http://schemas.microsoft.com/office/drawing/2014/main" id="{27076941-7DFF-49C2-CF77-CF751FDF3988}"/>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863427" y="397489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514472" y="3943500"/>
            <a:ext cx="885825" cy="405683"/>
          </a:xfrm>
        </p:spPr>
        <p:txBody>
          <a:bodyPr wrap="square" lIns="0" tIns="18000" rIns="0" bIns="18000" anchor="ctr">
            <a:spAutoFit/>
          </a:bodyPr>
          <a:lstStyle/>
          <a:p>
            <a:pPr marL="0" indent="0">
              <a:spcBef>
                <a:spcPts val="600"/>
              </a:spcBef>
              <a:buNone/>
            </a:pPr>
            <a:r>
              <a:rPr lang="en-US" sz="2400" noProof="0" dirty="0">
                <a:solidFill>
                  <a:srgbClr val="007FA3"/>
                </a:solidFill>
              </a:rPr>
              <a:t>D. </a:t>
            </a:r>
            <a:r>
              <a:rPr lang="en-US" sz="2400" noProof="0" dirty="0"/>
              <a:t>A/A</a:t>
            </a:r>
          </a:p>
        </p:txBody>
      </p:sp>
      <p:pic>
        <p:nvPicPr>
          <p:cNvPr id="2" name="Picture 2" descr="A current controlled current source with supply current equal 0.25 times i subscript x.">
            <a:extLst>
              <a:ext uri="{FF2B5EF4-FFF2-40B4-BE49-F238E27FC236}">
                <a16:creationId xmlns:a16="http://schemas.microsoft.com/office/drawing/2014/main" id="{21B1B340-5777-89D2-AB30-DE68F0BC1A4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1920873"/>
            <a:ext cx="2114507" cy="3009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749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(11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61379"/>
            <a:ext cx="8232775" cy="1590623"/>
          </a:xfrm>
        </p:spPr>
        <p:txBody>
          <a:bodyPr wrap="square" lIns="0" tIns="18000" rIns="0" bIns="18000" anchor="ctr">
            <a:spAutoFit/>
          </a:bodyPr>
          <a:lstStyle/>
          <a:p>
            <a:pPr marL="0" indent="0">
              <a:spcBef>
                <a:spcPts val="600"/>
              </a:spcBef>
              <a:buNone/>
            </a:pPr>
            <a:r>
              <a:rPr lang="en-US" sz="2400" noProof="0" dirty="0"/>
              <a:t>Interconnected sources</a:t>
            </a:r>
          </a:p>
          <a:p>
            <a:pPr marL="342900" indent="-342900">
              <a:spcBef>
                <a:spcPts val="600"/>
              </a:spcBef>
            </a:pPr>
            <a:r>
              <a:rPr lang="en-US" sz="2400" noProof="0" dirty="0"/>
              <a:t>When ideal sources are connected together to form a circuit, the connection is valid only if the constraints imposed by the ideal sources are not violated.</a:t>
            </a:r>
          </a:p>
        </p:txBody>
      </p:sp>
      <p:pic>
        <p:nvPicPr>
          <p:cNvPr id="2" name="Picture 2" descr="A circuit diagram showing a parallel connection of two 10-volt power supply with the nodes named a and b.">
            <a:extLst>
              <a:ext uri="{FF2B5EF4-FFF2-40B4-BE49-F238E27FC236}">
                <a16:creationId xmlns:a16="http://schemas.microsoft.com/office/drawing/2014/main" id="{FD7DA05D-EC9A-C818-1115-EDD893B77B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915305"/>
            <a:ext cx="2663928" cy="184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809625" y="4869496"/>
            <a:ext cx="2162175" cy="405683"/>
          </a:xfrm>
        </p:spPr>
        <p:txBody>
          <a:bodyPr wrap="square" lIns="0" tIns="18000" rIns="0" bIns="18000" anchor="ctr">
            <a:spAutoFit/>
          </a:bodyPr>
          <a:lstStyle/>
          <a:p>
            <a:pPr marL="0" indent="0">
              <a:spcBef>
                <a:spcPts val="600"/>
              </a:spcBef>
              <a:buNone/>
            </a:pPr>
            <a:r>
              <a:rPr lang="en-US" sz="2400" noProof="0" dirty="0">
                <a:solidFill>
                  <a:srgbClr val="007FA3"/>
                </a:solidFill>
              </a:rPr>
              <a:t>Valid</a:t>
            </a:r>
            <a:r>
              <a:rPr lang="en-US" sz="2400" noProof="0" dirty="0"/>
              <a:t> or invalid?</a:t>
            </a:r>
          </a:p>
        </p:txBody>
      </p:sp>
      <p:pic>
        <p:nvPicPr>
          <p:cNvPr id="3" name="Picture 4" descr="A circuit diagram shows a parallel connection of a 5 ampere and a 2 ampere current source with nodes named a and b.">
            <a:extLst>
              <a:ext uri="{FF2B5EF4-FFF2-40B4-BE49-F238E27FC236}">
                <a16:creationId xmlns:a16="http://schemas.microsoft.com/office/drawing/2014/main" id="{E94321F9-95AE-28C4-87D0-DE53F32C3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76222" y="2952015"/>
            <a:ext cx="1847901" cy="178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3676222" y="4875359"/>
            <a:ext cx="2162176" cy="405683"/>
          </a:xfrm>
        </p:spPr>
        <p:txBody>
          <a:bodyPr wrap="square" lIns="0" tIns="18000" rIns="0" bIns="18000" anchor="ctr">
            <a:spAutoFit/>
          </a:bodyPr>
          <a:lstStyle/>
          <a:p>
            <a:pPr marL="0" indent="0">
              <a:spcBef>
                <a:spcPts val="600"/>
              </a:spcBef>
              <a:buNone/>
            </a:pPr>
            <a:r>
              <a:rPr lang="en-US" sz="2400" noProof="0" dirty="0"/>
              <a:t>Valid or </a:t>
            </a:r>
            <a:r>
              <a:rPr lang="en-US" sz="2400" noProof="0" dirty="0">
                <a:solidFill>
                  <a:srgbClr val="007FA3"/>
                </a:solidFill>
              </a:rPr>
              <a:t>invalid?</a:t>
            </a:r>
          </a:p>
        </p:txBody>
      </p:sp>
      <p:pic>
        <p:nvPicPr>
          <p:cNvPr id="4" name="Picture 5" descr="The positive terminal of a 10-volt power supply is connected to its negative terminal through a 5-ampere current source. The node where positive terminal of the voltage source meets the positive terminal of the 5 ampere current source is named as a. The node where the negative terminal of the voltage source is connected to the negative terminal of the current source is named as b.">
            <a:extLst>
              <a:ext uri="{FF2B5EF4-FFF2-40B4-BE49-F238E27FC236}">
                <a16:creationId xmlns:a16="http://schemas.microsoft.com/office/drawing/2014/main" id="{898AE324-1310-E129-A028-A8708A4135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7184" y="2826694"/>
            <a:ext cx="1710120" cy="189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6286500" y="4873059"/>
            <a:ext cx="2162175" cy="405683"/>
          </a:xfrm>
        </p:spPr>
        <p:txBody>
          <a:bodyPr wrap="square" lIns="0" tIns="18000" rIns="0" bIns="18000" anchor="ctr">
            <a:spAutoFit/>
          </a:bodyPr>
          <a:lstStyle/>
          <a:p>
            <a:pPr marL="0" indent="0">
              <a:spcBef>
                <a:spcPts val="600"/>
              </a:spcBef>
              <a:buNone/>
            </a:pPr>
            <a:r>
              <a:rPr lang="en-US" sz="2400" noProof="0" dirty="0">
                <a:solidFill>
                  <a:srgbClr val="007FA3"/>
                </a:solidFill>
              </a:rPr>
              <a:t>Valid</a:t>
            </a:r>
            <a:r>
              <a:rPr lang="en-US" sz="2400" noProof="0" dirty="0"/>
              <a:t> or invalid?</a:t>
            </a:r>
          </a:p>
        </p:txBody>
      </p:sp>
    </p:spTree>
    <p:extLst>
      <p:ext uri="{BB962C8B-B14F-4D97-AF65-F5344CB8AC3E}">
        <p14:creationId xmlns:p14="http://schemas.microsoft.com/office/powerpoint/2010/main" val="756310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5420"/>
            <a:ext cx="8229600" cy="590349"/>
          </a:xfrm>
        </p:spPr>
        <p:txBody>
          <a:bodyPr/>
          <a:lstStyle/>
          <a:p>
            <a:r>
              <a:rPr lang="en-US" noProof="0" dirty="0"/>
              <a:t>Chapter 2 – Circuit Elements </a:t>
            </a:r>
            <a:r>
              <a:rPr lang="en-US" sz="2800" noProof="0" dirty="0"/>
              <a:t>(12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63299"/>
            <a:ext cx="5495925" cy="405683"/>
          </a:xfrm>
        </p:spPr>
        <p:txBody>
          <a:bodyPr wrap="square" lIns="0" tIns="18000" rIns="0" bIns="18000" anchor="ctr">
            <a:spAutoFit/>
          </a:bodyPr>
          <a:lstStyle/>
          <a:p>
            <a:pPr marL="0" indent="0">
              <a:spcBef>
                <a:spcPts val="600"/>
              </a:spcBef>
              <a:buNone/>
            </a:pPr>
            <a:r>
              <a:rPr lang="en-US" sz="2400" noProof="0" dirty="0"/>
              <a:t>Is the interconnection shown here valid?</a:t>
            </a:r>
          </a:p>
        </p:txBody>
      </p:sp>
      <p:pic>
        <p:nvPicPr>
          <p:cNvPr id="3" name="Picture 1435" descr="Check mark">
            <a:extLst>
              <a:ext uri="{FF2B5EF4-FFF2-40B4-BE49-F238E27FC236}">
                <a16:creationId xmlns:a16="http://schemas.microsoft.com/office/drawing/2014/main" id="{A1C4E4D1-C857-906D-972B-84373CC71339}"/>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25327" y="191573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00176" y="1884343"/>
            <a:ext cx="9334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Yes</a:t>
            </a:r>
          </a:p>
        </p:txBody>
      </p:sp>
      <p:pic>
        <p:nvPicPr>
          <p:cNvPr id="4" name="Picture 1434" descr="Cross mark">
            <a:extLst>
              <a:ext uri="{FF2B5EF4-FFF2-40B4-BE49-F238E27FC236}">
                <a16:creationId xmlns:a16="http://schemas.microsoft.com/office/drawing/2014/main" id="{28EB00E3-982D-93E4-556D-47B138E3021A}"/>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825327" y="246305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00176" y="2431660"/>
            <a:ext cx="803321"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No</a:t>
            </a:r>
          </a:p>
        </p:txBody>
      </p:sp>
      <p:pic>
        <p:nvPicPr>
          <p:cNvPr id="2" name="Picture 2" descr="A circuit diagram shows a parallel connection of a volt voltage source, with voltage v subscript x equal to 5 volts, and a voltage controlled current source, with supply current equal to 3 times v subscript x. The nodes are named as a and b.">
            <a:extLst>
              <a:ext uri="{FF2B5EF4-FFF2-40B4-BE49-F238E27FC236}">
                <a16:creationId xmlns:a16="http://schemas.microsoft.com/office/drawing/2014/main" id="{264753F3-AA09-AE5E-760B-B81C6326AB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5596" y="1659596"/>
            <a:ext cx="2876458" cy="226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706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(14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072824"/>
            <a:ext cx="1962150" cy="405683"/>
          </a:xfrm>
        </p:spPr>
        <p:txBody>
          <a:bodyPr wrap="square" lIns="0" tIns="18000" rIns="0" bIns="18000" anchor="ctr">
            <a:spAutoFit/>
          </a:bodyPr>
          <a:lstStyle/>
          <a:p>
            <a:pPr marL="0" indent="0">
              <a:spcBef>
                <a:spcPts val="600"/>
              </a:spcBef>
              <a:buNone/>
            </a:pPr>
            <a:r>
              <a:rPr lang="en-US" sz="2400" noProof="0" dirty="0"/>
              <a:t>Example: Find </a:t>
            </a:r>
          </a:p>
        </p:txBody>
      </p:sp>
      <p:graphicFrame>
        <p:nvGraphicFramePr>
          <p:cNvPr id="2" name="Object 1" descr=" V subscript g Baseline.&#10;">
            <a:extLst>
              <a:ext uri="{FF2B5EF4-FFF2-40B4-BE49-F238E27FC236}">
                <a16:creationId xmlns:a16="http://schemas.microsoft.com/office/drawing/2014/main" id="{896FC974-EEC5-F055-2615-8594A9C186B5}"/>
              </a:ext>
            </a:extLst>
          </p:cNvPr>
          <p:cNvGraphicFramePr>
            <a:graphicFrameLocks noChangeAspect="1"/>
          </p:cNvGraphicFramePr>
          <p:nvPr/>
        </p:nvGraphicFramePr>
        <p:xfrm>
          <a:off x="2438083" y="1069896"/>
          <a:ext cx="356235" cy="490697"/>
        </p:xfrm>
        <a:graphic>
          <a:graphicData uri="http://schemas.openxmlformats.org/presentationml/2006/ole">
            <mc:AlternateContent xmlns:mc="http://schemas.openxmlformats.org/markup-compatibility/2006">
              <mc:Choice xmlns:v="urn:schemas-microsoft-com:vml" Requires="v">
                <p:oleObj name="Equation" r:id="rId3" imgW="177480" imgH="241200" progId="Equation.DSMT4">
                  <p:embed/>
                </p:oleObj>
              </mc:Choice>
              <mc:Fallback>
                <p:oleObj name="Equation" r:id="rId3" imgW="177480" imgH="241200" progId="Equation.DSMT4">
                  <p:embed/>
                  <p:pic>
                    <p:nvPicPr>
                      <p:cNvPr id="2" name="Object 1" descr=" V subscript g Baseline.&#10;">
                        <a:extLst>
                          <a:ext uri="{FF2B5EF4-FFF2-40B4-BE49-F238E27FC236}">
                            <a16:creationId xmlns:a16="http://schemas.microsoft.com/office/drawing/2014/main" id="{896FC974-EEC5-F055-2615-8594A9C186B5}"/>
                          </a:ext>
                        </a:extLst>
                      </p:cNvPr>
                      <p:cNvPicPr>
                        <a:picLocks noChangeAspect="1" noChangeArrowheads="1"/>
                      </p:cNvPicPr>
                      <p:nvPr/>
                    </p:nvPicPr>
                    <p:blipFill>
                      <a:blip r:embed="rId4"/>
                      <a:srcRect/>
                      <a:stretch>
                        <a:fillRect/>
                      </a:stretch>
                    </p:blipFill>
                    <p:spPr bwMode="auto">
                      <a:xfrm>
                        <a:off x="2438083" y="1069896"/>
                        <a:ext cx="356235" cy="490697"/>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2832100" y="1072824"/>
            <a:ext cx="5514975" cy="405683"/>
          </a:xfrm>
        </p:spPr>
        <p:txBody>
          <a:bodyPr wrap="square" lIns="0" tIns="18000" rIns="0" bIns="18000" anchor="ctr">
            <a:spAutoFit/>
          </a:bodyPr>
          <a:lstStyle/>
          <a:p>
            <a:pPr marL="0" indent="0">
              <a:spcBef>
                <a:spcPts val="600"/>
              </a:spcBef>
              <a:buNone/>
            </a:pPr>
            <a:r>
              <a:rPr lang="en-US" sz="2400" noProof="0" dirty="0"/>
              <a:t>so that the interconnection is valid. Then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28625" y="1558599"/>
            <a:ext cx="6324600" cy="405683"/>
          </a:xfrm>
        </p:spPr>
        <p:txBody>
          <a:bodyPr wrap="square" lIns="0" tIns="18000" rIns="0" bIns="18000" anchor="ctr">
            <a:spAutoFit/>
          </a:bodyPr>
          <a:lstStyle/>
          <a:p>
            <a:pPr marL="0" indent="0">
              <a:spcBef>
                <a:spcPts val="600"/>
              </a:spcBef>
              <a:buNone/>
            </a:pPr>
            <a:r>
              <a:rPr lang="en-US" sz="2400" noProof="0" dirty="0"/>
              <a:t>find the power associated with the 8 A source.</a:t>
            </a:r>
          </a:p>
        </p:txBody>
      </p:sp>
      <p:pic>
        <p:nvPicPr>
          <p:cNvPr id="3" name="Picture 5" descr="A circuit diagram shows a parallel connection of a current controlled voltage source, with supply voltage i subscript b divided by 4, a voltage source v subscript g and an 8-ampere current source. Current i subscript b flows in the reverse direction of the 8-ampere current source.">
            <a:extLst>
              <a:ext uri="{FF2B5EF4-FFF2-40B4-BE49-F238E27FC236}">
                <a16:creationId xmlns:a16="http://schemas.microsoft.com/office/drawing/2014/main" id="{47D083BA-9A59-7D36-D1B5-9687D37B2FC7}"/>
              </a:ext>
            </a:extLst>
          </p:cNvPr>
          <p:cNvPicPr>
            <a:picLocks noChangeAspect="1" noChangeArrowheads="1"/>
          </p:cNvPicPr>
          <p:nvPr/>
        </p:nvPicPr>
        <p:blipFill>
          <a:blip r:embed="rId5"/>
          <a:stretch>
            <a:fillRect/>
          </a:stretch>
        </p:blipFill>
        <p:spPr bwMode="auto">
          <a:xfrm>
            <a:off x="2404223" y="2371436"/>
            <a:ext cx="4347855" cy="226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Object 3" descr="v subscript g Baseline equals StartFraction i subscript b Baseline over 4 EndFraction;&#10;">
            <a:extLst>
              <a:ext uri="{FF2B5EF4-FFF2-40B4-BE49-F238E27FC236}">
                <a16:creationId xmlns:a16="http://schemas.microsoft.com/office/drawing/2014/main" id="{B9AB9061-B5DD-44CF-1E5A-B7488FDF7F7B}"/>
              </a:ext>
            </a:extLst>
          </p:cNvPr>
          <p:cNvGraphicFramePr>
            <a:graphicFrameLocks noChangeAspect="1"/>
          </p:cNvGraphicFramePr>
          <p:nvPr>
            <p:extLst>
              <p:ext uri="{D42A27DB-BD31-4B8C-83A1-F6EECF244321}">
                <p14:modId xmlns:p14="http://schemas.microsoft.com/office/powerpoint/2010/main" val="2166110857"/>
              </p:ext>
            </p:extLst>
          </p:nvPr>
        </p:nvGraphicFramePr>
        <p:xfrm>
          <a:off x="1295400" y="4990594"/>
          <a:ext cx="1320800" cy="492125"/>
        </p:xfrm>
        <a:graphic>
          <a:graphicData uri="http://schemas.openxmlformats.org/presentationml/2006/ole">
            <mc:AlternateContent xmlns:mc="http://schemas.openxmlformats.org/markup-compatibility/2006">
              <mc:Choice xmlns:v="urn:schemas-microsoft-com:vml" Requires="v">
                <p:oleObj name="Equation" r:id="rId6" imgW="660240" imgH="241200" progId="Equation.DSMT4">
                  <p:embed/>
                </p:oleObj>
              </mc:Choice>
              <mc:Fallback>
                <p:oleObj name="Equation" r:id="rId6" imgW="660240" imgH="241200" progId="Equation.DSMT4">
                  <p:embed/>
                  <p:pic>
                    <p:nvPicPr>
                      <p:cNvPr id="4" name="Object 3" descr="v subscript g Baseline equals StartFraction i subscript b Baseline over 4 EndFraction;&#10;">
                        <a:extLst>
                          <a:ext uri="{FF2B5EF4-FFF2-40B4-BE49-F238E27FC236}">
                            <a16:creationId xmlns:a16="http://schemas.microsoft.com/office/drawing/2014/main" id="{B9AB9061-B5DD-44CF-1E5A-B7488FDF7F7B}"/>
                          </a:ext>
                        </a:extLst>
                      </p:cNvPr>
                      <p:cNvPicPr>
                        <a:picLocks noChangeAspect="1" noChangeArrowheads="1"/>
                      </p:cNvPicPr>
                      <p:nvPr/>
                    </p:nvPicPr>
                    <p:blipFill>
                      <a:blip r:embed="rId7"/>
                      <a:srcRect/>
                      <a:stretch>
                        <a:fillRect/>
                      </a:stretch>
                    </p:blipFill>
                    <p:spPr bwMode="auto">
                      <a:xfrm>
                        <a:off x="1295400" y="4990594"/>
                        <a:ext cx="1320800" cy="492125"/>
                      </a:xfrm>
                      <a:prstGeom prst="rect">
                        <a:avLst/>
                      </a:prstGeom>
                      <a:noFill/>
                      <a:ln>
                        <a:noFill/>
                      </a:ln>
                      <a:effectLst/>
                    </p:spPr>
                  </p:pic>
                </p:oleObj>
              </mc:Fallback>
            </mc:AlternateContent>
          </a:graphicData>
        </a:graphic>
      </p:graphicFrame>
      <p:graphicFrame>
        <p:nvGraphicFramePr>
          <p:cNvPr id="25" name="Object 24" descr="i subscript b Baseline equals negative 8 Amperes;&#10;">
            <a:extLst>
              <a:ext uri="{FF2B5EF4-FFF2-40B4-BE49-F238E27FC236}">
                <a16:creationId xmlns:a16="http://schemas.microsoft.com/office/drawing/2014/main" id="{D48F4613-1BFE-E8E2-0EF9-558BE99FD259}"/>
              </a:ext>
            </a:extLst>
          </p:cNvPr>
          <p:cNvGraphicFramePr>
            <a:graphicFrameLocks noChangeAspect="1"/>
          </p:cNvGraphicFramePr>
          <p:nvPr>
            <p:extLst>
              <p:ext uri="{D42A27DB-BD31-4B8C-83A1-F6EECF244321}">
                <p14:modId xmlns:p14="http://schemas.microsoft.com/office/powerpoint/2010/main" val="129876790"/>
              </p:ext>
            </p:extLst>
          </p:nvPr>
        </p:nvGraphicFramePr>
        <p:xfrm>
          <a:off x="3173413" y="4999945"/>
          <a:ext cx="1295400" cy="466725"/>
        </p:xfrm>
        <a:graphic>
          <a:graphicData uri="http://schemas.openxmlformats.org/presentationml/2006/ole">
            <mc:AlternateContent xmlns:mc="http://schemas.openxmlformats.org/markup-compatibility/2006">
              <mc:Choice xmlns:v="urn:schemas-microsoft-com:vml" Requires="v">
                <p:oleObj name="Equation" r:id="rId8" imgW="647640" imgH="228600" progId="Equation.DSMT4">
                  <p:embed/>
                </p:oleObj>
              </mc:Choice>
              <mc:Fallback>
                <p:oleObj name="Equation" r:id="rId8" imgW="647640" imgH="228600" progId="Equation.DSMT4">
                  <p:embed/>
                  <p:pic>
                    <p:nvPicPr>
                      <p:cNvPr id="25" name="Object 24" descr="i subscript b Baseline equals negative 8 Amperes;&#10;">
                        <a:extLst>
                          <a:ext uri="{FF2B5EF4-FFF2-40B4-BE49-F238E27FC236}">
                            <a16:creationId xmlns:a16="http://schemas.microsoft.com/office/drawing/2014/main" id="{D48F4613-1BFE-E8E2-0EF9-558BE99FD259}"/>
                          </a:ext>
                        </a:extLst>
                      </p:cNvPr>
                      <p:cNvPicPr>
                        <a:picLocks noChangeAspect="1" noChangeArrowheads="1"/>
                      </p:cNvPicPr>
                      <p:nvPr/>
                    </p:nvPicPr>
                    <p:blipFill>
                      <a:blip r:embed="rId9"/>
                      <a:srcRect/>
                      <a:stretch>
                        <a:fillRect/>
                      </a:stretch>
                    </p:blipFill>
                    <p:spPr bwMode="auto">
                      <a:xfrm>
                        <a:off x="3173413" y="4999945"/>
                        <a:ext cx="1295400" cy="466725"/>
                      </a:xfrm>
                      <a:prstGeom prst="rect">
                        <a:avLst/>
                      </a:prstGeom>
                      <a:noFill/>
                      <a:ln>
                        <a:noFill/>
                      </a:ln>
                      <a:effectLst/>
                    </p:spPr>
                  </p:pic>
                </p:oleObj>
              </mc:Fallback>
            </mc:AlternateContent>
          </a:graphicData>
        </a:graphic>
      </p:graphicFrame>
      <p:graphicFrame>
        <p:nvGraphicFramePr>
          <p:cNvPr id="26" name="Object 25" descr="Forward arrow, v subscript g Baseline equals StartFraction negative 8 over 4 EndFraction equals negative 2 Volts.&#10;">
            <a:extLst>
              <a:ext uri="{FF2B5EF4-FFF2-40B4-BE49-F238E27FC236}">
                <a16:creationId xmlns:a16="http://schemas.microsoft.com/office/drawing/2014/main" id="{62627E2C-B04C-7B30-89D1-54D43B93784E}"/>
              </a:ext>
            </a:extLst>
          </p:cNvPr>
          <p:cNvGraphicFramePr>
            <a:graphicFrameLocks noChangeAspect="1"/>
          </p:cNvGraphicFramePr>
          <p:nvPr>
            <p:extLst>
              <p:ext uri="{D42A27DB-BD31-4B8C-83A1-F6EECF244321}">
                <p14:modId xmlns:p14="http://schemas.microsoft.com/office/powerpoint/2010/main" val="38355657"/>
              </p:ext>
            </p:extLst>
          </p:nvPr>
        </p:nvGraphicFramePr>
        <p:xfrm>
          <a:off x="5225392" y="4989006"/>
          <a:ext cx="2692400" cy="493713"/>
        </p:xfrm>
        <a:graphic>
          <a:graphicData uri="http://schemas.openxmlformats.org/presentationml/2006/ole">
            <mc:AlternateContent xmlns:mc="http://schemas.openxmlformats.org/markup-compatibility/2006">
              <mc:Choice xmlns:v="urn:schemas-microsoft-com:vml" Requires="v">
                <p:oleObj name="Equation" r:id="rId10" imgW="1346040" imgH="241200" progId="Equation.DSMT4">
                  <p:embed/>
                </p:oleObj>
              </mc:Choice>
              <mc:Fallback>
                <p:oleObj name="Equation" r:id="rId10" imgW="1346040" imgH="241200" progId="Equation.DSMT4">
                  <p:embed/>
                  <p:pic>
                    <p:nvPicPr>
                      <p:cNvPr id="26" name="Object 25" descr="Forward arrow, v subscript g Baseline equals StartFraction negative 8 over 4 EndFraction equals negative 2 Volts.&#10;">
                        <a:extLst>
                          <a:ext uri="{FF2B5EF4-FFF2-40B4-BE49-F238E27FC236}">
                            <a16:creationId xmlns:a16="http://schemas.microsoft.com/office/drawing/2014/main" id="{62627E2C-B04C-7B30-89D1-54D43B93784E}"/>
                          </a:ext>
                        </a:extLst>
                      </p:cNvPr>
                      <p:cNvPicPr>
                        <a:picLocks noChangeAspect="1" noChangeArrowheads="1"/>
                      </p:cNvPicPr>
                      <p:nvPr/>
                    </p:nvPicPr>
                    <p:blipFill>
                      <a:blip r:embed="rId11"/>
                      <a:srcRect/>
                      <a:stretch>
                        <a:fillRect/>
                      </a:stretch>
                    </p:blipFill>
                    <p:spPr bwMode="auto">
                      <a:xfrm>
                        <a:off x="5225392" y="4989006"/>
                        <a:ext cx="2692400" cy="493713"/>
                      </a:xfrm>
                      <a:prstGeom prst="rect">
                        <a:avLst/>
                      </a:prstGeom>
                      <a:noFill/>
                      <a:ln>
                        <a:noFill/>
                      </a:ln>
                      <a:effectLst/>
                    </p:spPr>
                  </p:pic>
                </p:oleObj>
              </mc:Fallback>
            </mc:AlternateContent>
          </a:graphicData>
        </a:graphic>
      </p:graphicFrame>
      <p:graphicFrame>
        <p:nvGraphicFramePr>
          <p:cNvPr id="27" name="Object 26" descr="The figure illustrates an expression to solve the value of p subscript 8 Amperes.&#10;Long description is available in notes, press F6.">
            <a:extLst>
              <a:ext uri="{FF2B5EF4-FFF2-40B4-BE49-F238E27FC236}">
                <a16:creationId xmlns:a16="http://schemas.microsoft.com/office/drawing/2014/main" id="{9234E961-EA6C-A58B-2F64-A0562B94BA84}"/>
              </a:ext>
            </a:extLst>
          </p:cNvPr>
          <p:cNvGraphicFramePr>
            <a:graphicFrameLocks noChangeAspect="1"/>
          </p:cNvGraphicFramePr>
          <p:nvPr>
            <p:extLst>
              <p:ext uri="{D42A27DB-BD31-4B8C-83A1-F6EECF244321}">
                <p14:modId xmlns:p14="http://schemas.microsoft.com/office/powerpoint/2010/main" val="3696196915"/>
              </p:ext>
            </p:extLst>
          </p:nvPr>
        </p:nvGraphicFramePr>
        <p:xfrm>
          <a:off x="1270000" y="5741308"/>
          <a:ext cx="4851400" cy="493712"/>
        </p:xfrm>
        <a:graphic>
          <a:graphicData uri="http://schemas.openxmlformats.org/presentationml/2006/ole">
            <mc:AlternateContent xmlns:mc="http://schemas.openxmlformats.org/markup-compatibility/2006">
              <mc:Choice xmlns:v="urn:schemas-microsoft-com:vml" Requires="v">
                <p:oleObj name="Equation" r:id="rId12" imgW="2425680" imgH="241200" progId="Equation.DSMT4">
                  <p:embed/>
                </p:oleObj>
              </mc:Choice>
              <mc:Fallback>
                <p:oleObj name="Equation" r:id="rId12" imgW="2425680" imgH="241200" progId="Equation.DSMT4">
                  <p:embed/>
                  <p:pic>
                    <p:nvPicPr>
                      <p:cNvPr id="27" name="Object 26" descr="The figure illustrates an expression to solve the value of p subscript 8 Amperes.&#10;Long description is available in notes, press F6.">
                        <a:extLst>
                          <a:ext uri="{FF2B5EF4-FFF2-40B4-BE49-F238E27FC236}">
                            <a16:creationId xmlns:a16="http://schemas.microsoft.com/office/drawing/2014/main" id="{9234E961-EA6C-A58B-2F64-A0562B94BA84}"/>
                          </a:ext>
                        </a:extLst>
                      </p:cNvPr>
                      <p:cNvPicPr>
                        <a:picLocks noChangeAspect="1" noChangeArrowheads="1"/>
                      </p:cNvPicPr>
                      <p:nvPr/>
                    </p:nvPicPr>
                    <p:blipFill>
                      <a:blip r:embed="rId13"/>
                      <a:srcRect/>
                      <a:stretch>
                        <a:fillRect/>
                      </a:stretch>
                    </p:blipFill>
                    <p:spPr bwMode="auto">
                      <a:xfrm>
                        <a:off x="1270000" y="5741308"/>
                        <a:ext cx="4851400" cy="4937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765061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06319"/>
            <a:ext cx="8229600" cy="590349"/>
          </a:xfrm>
        </p:spPr>
        <p:txBody>
          <a:bodyPr/>
          <a:lstStyle/>
          <a:p>
            <a:r>
              <a:rPr lang="en-US" noProof="0" dirty="0"/>
              <a:t>Chapter 2 – Circuit Elements </a:t>
            </a:r>
            <a:r>
              <a:rPr lang="en-US" sz="2800" noProof="0" dirty="0"/>
              <a:t>(15 of 15)</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065442"/>
            <a:ext cx="8242300" cy="1144347"/>
          </a:xfrm>
        </p:spPr>
        <p:txBody>
          <a:bodyPr wrap="square" lIns="0" tIns="18000" rIns="0" bIns="18000" anchor="ctr">
            <a:spAutoFit/>
          </a:bodyPr>
          <a:lstStyle/>
          <a:p>
            <a:pPr marL="0" indent="0">
              <a:spcBef>
                <a:spcPts val="600"/>
              </a:spcBef>
              <a:buNone/>
            </a:pPr>
            <a:r>
              <a:rPr lang="en-US" sz="2400" noProof="0" dirty="0"/>
              <a:t>We just discovered that the power associated with the 8 A source is </a:t>
            </a:r>
            <a:r>
              <a:rPr lang="en-US" sz="1800" noProof="0" dirty="0">
                <a:effectLst/>
                <a:latin typeface="Calibri" panose="020F0502020204030204" pitchFamily="34" charset="0"/>
                <a:ea typeface="Calibri" panose="020F0502020204030204" pitchFamily="34" charset="0"/>
                <a:cs typeface="Times New Roman" panose="02020603050405020304" pitchFamily="18" charset="0"/>
              </a:rPr>
              <a:t>—</a:t>
            </a:r>
            <a:r>
              <a:rPr lang="en-US" sz="2400" noProof="0" dirty="0"/>
              <a:t>16 W. Is this source supplying or absorbing power?</a:t>
            </a:r>
          </a:p>
        </p:txBody>
      </p:sp>
      <p:pic>
        <p:nvPicPr>
          <p:cNvPr id="2" name="Picture 1435" descr="Check mark">
            <a:extLst>
              <a:ext uri="{FF2B5EF4-FFF2-40B4-BE49-F238E27FC236}">
                <a16:creationId xmlns:a16="http://schemas.microsoft.com/office/drawing/2014/main" id="{8B09922D-A529-DD9D-C305-E5A5D862BB19}"/>
              </a:ext>
            </a:extLst>
          </p:cNvPr>
          <p:cNvPicPr>
            <a:picLocks noChangeAspect="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825327" y="250995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00175" y="2478563"/>
            <a:ext cx="172402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Supplying</a:t>
            </a:r>
          </a:p>
        </p:txBody>
      </p:sp>
      <p:pic>
        <p:nvPicPr>
          <p:cNvPr id="3" name="Picture 1434" descr="Cross mark">
            <a:extLst>
              <a:ext uri="{FF2B5EF4-FFF2-40B4-BE49-F238E27FC236}">
                <a16:creationId xmlns:a16="http://schemas.microsoft.com/office/drawing/2014/main" id="{7B5DB455-4546-F90A-4DDB-EA5B7B0F4A9D}"/>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825327" y="307657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00175" y="3043104"/>
            <a:ext cx="1819275"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Absorbing</a:t>
            </a:r>
          </a:p>
        </p:txBody>
      </p:sp>
    </p:spTree>
    <p:extLst>
      <p:ext uri="{BB962C8B-B14F-4D97-AF65-F5344CB8AC3E}">
        <p14:creationId xmlns:p14="http://schemas.microsoft.com/office/powerpoint/2010/main" val="5895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3.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4.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8.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9.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0.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675</TotalTime>
  <Words>899</Words>
  <Application>Microsoft Office PowerPoint</Application>
  <PresentationFormat>On-screen Show (4:3)</PresentationFormat>
  <Paragraphs>108</Paragraphs>
  <Slides>15</Slides>
  <Notes>3</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2" baseType="lpstr">
      <vt:lpstr>Verdana</vt:lpstr>
      <vt:lpstr>Times New Roman</vt:lpstr>
      <vt:lpstr>Calibri</vt:lpstr>
      <vt:lpstr>Arial</vt:lpstr>
      <vt:lpstr>USHE</vt:lpstr>
      <vt:lpstr>USHE_slide options</vt:lpstr>
      <vt:lpstr>Equation</vt:lpstr>
      <vt:lpstr>Electric Circuits</vt:lpstr>
      <vt:lpstr>Chapter 2 – Circuit Elements (1 of 15)</vt:lpstr>
      <vt:lpstr>Chapter 2 – Circuit Elements (2 of 15)</vt:lpstr>
      <vt:lpstr>Chapter 2 – Circuit Elements (3 of 15)</vt:lpstr>
      <vt:lpstr>Chapter 2 – Circuit Elements (4 of 15)</vt:lpstr>
      <vt:lpstr>Chapter 2 – Circuit Elements (5 of 15)</vt:lpstr>
      <vt:lpstr>Chapter 2 – Circuit Elements (6 of 15)</vt:lpstr>
      <vt:lpstr>Chapter 2 – Circuit Elements (7 of 15)</vt:lpstr>
      <vt:lpstr>Chapter 2 – Circuit Elements (8 of 15)</vt:lpstr>
      <vt:lpstr>Chapter 2 – Circuit Elements (9 of 15)</vt:lpstr>
      <vt:lpstr>Chapter 2 – Circuit Elements (11 of 15)</vt:lpstr>
      <vt:lpstr>Chapter 2 – Circuit Elements (12 of 15)</vt:lpstr>
      <vt:lpstr>Chapter 2 – Circuit Elements (14 of 15)</vt:lpstr>
      <vt:lpstr>Chapter 2 – Circuit Elements (15 of 15)</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2 – Part 1</dc:title>
  <dc:subject>Engineering</dc:subject>
  <dc:creator>Nilsson and Riedel</dc:creator>
  <cp:keywords/>
  <dc:description/>
  <cp:lastModifiedBy>kml erd</cp:lastModifiedBy>
  <cp:revision>100</cp:revision>
  <dcterms:modified xsi:type="dcterms:W3CDTF">2025-09-22T11:46:21Z</dcterms:modified>
</cp:coreProperties>
</file>