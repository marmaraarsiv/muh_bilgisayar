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0"/>
  </p:notesMasterIdLst>
  <p:handoutMasterIdLst>
    <p:handoutMasterId r:id="rId21"/>
  </p:handoutMasterIdLst>
  <p:sldIdLst>
    <p:sldId id="330" r:id="rId3"/>
    <p:sldId id="344" r:id="rId4"/>
    <p:sldId id="734" r:id="rId5"/>
    <p:sldId id="718" r:id="rId6"/>
    <p:sldId id="719" r:id="rId7"/>
    <p:sldId id="735" r:id="rId8"/>
    <p:sldId id="720" r:id="rId9"/>
    <p:sldId id="721" r:id="rId10"/>
    <p:sldId id="722" r:id="rId11"/>
    <p:sldId id="723" r:id="rId12"/>
    <p:sldId id="736" r:id="rId13"/>
    <p:sldId id="730" r:id="rId14"/>
    <p:sldId id="737" r:id="rId15"/>
    <p:sldId id="725" r:id="rId16"/>
    <p:sldId id="731" r:id="rId17"/>
    <p:sldId id="732" r:id="rId18"/>
    <p:sldId id="717" r:id="rId19"/>
  </p:sldIdLst>
  <p:sldSz cx="9144000" cy="6858000" type="screen4x3"/>
  <p:notesSz cx="6858000" cy="9144000"/>
  <p:embeddedFontLst>
    <p:embeddedFont>
      <p:font typeface="Verdana" panose="020B060403050404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3997"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9" autoAdjust="0"/>
    <p:restoredTop sz="96374" autoAdjust="0"/>
  </p:normalViewPr>
  <p:slideViewPr>
    <p:cSldViewPr snapToGrid="0" snapToObjects="1">
      <p:cViewPr varScale="1">
        <p:scale>
          <a:sx n="110" d="100"/>
          <a:sy n="110" d="100"/>
        </p:scale>
        <p:origin x="1800" y="96"/>
      </p:cViewPr>
      <p:guideLst>
        <p:guide orient="horz" pos="427"/>
        <p:guide pos="264"/>
        <p:guide orient="horz" pos="867"/>
        <p:guide pos="2880"/>
        <p:guide pos="5462"/>
        <p:guide orient="horz" pos="3997"/>
        <p:guide orient="horz" pos="2160"/>
      </p:guideLst>
    </p:cSldViewPr>
  </p:slideViewPr>
  <p:outlineViewPr>
    <p:cViewPr>
      <p:scale>
        <a:sx n="33" d="100"/>
        <a:sy n="33" d="100"/>
      </p:scale>
      <p:origin x="0" y="-7422"/>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mesh: negative 75 plus 2 Open Parenthesis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minus Open Parenthesis negative 10 Close Parenthesis Close Parenthesis plus 5 Open Parenthesis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minus Start Fraction 2 v subscript Phi Base Line over 5 End Fraction Close Parenthesis equals 0.</a:t>
            </a:r>
            <a:r>
              <a:rPr lang="en-US" noProof="0" dirty="0"/>
              <a:t> </a:t>
            </a:r>
          </a:p>
          <a:p>
            <a:endParaRPr lang="en-US" noProof="0" dirty="0"/>
          </a:p>
          <a:p>
            <a:r>
              <a:rPr lang="en-US" noProof="0" dirty="0"/>
              <a:t>Long Description 2:</a:t>
            </a:r>
          </a:p>
          <a:p>
            <a:r>
              <a:rPr lang="en-US" sz="1200" b="0" i="0" u="none" strike="noStrike" kern="1200" cap="none" noProof="0" dirty="0">
                <a:solidFill>
                  <a:schemeClr val="dk1"/>
                </a:solidFill>
                <a:effectLst/>
                <a:latin typeface="Arial"/>
                <a:ea typeface="Arial"/>
                <a:cs typeface="Arial"/>
                <a:sym typeface="Arial"/>
              </a:rPr>
              <a:t>Std. form: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Open Parenthesis 2 plus 5 Close Parenthesis plus v subscript Phi Base Line Open Parenthesis negative 2 Open Parenthesis 5 Close Parenthesis divided by 5 Close Parenthesis equals 75 minus 20.</a:t>
            </a:r>
            <a:br>
              <a:rPr lang="en-US" sz="1200" b="0" i="0" u="none" strike="noStrike" kern="1200" cap="none" noProof="0" dirty="0">
                <a:solidFill>
                  <a:schemeClr val="dk1"/>
                </a:solidFill>
                <a:effectLst/>
                <a:latin typeface="Arial"/>
                <a:ea typeface="Arial"/>
                <a:cs typeface="Arial"/>
                <a:sym typeface="Arial"/>
              </a:rPr>
            </a:b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Open Parenthesis 5 Close Parenthesis plus v subscript Phi Base Line Open Parenthesis negative 2 divided by 5 minus 1 Close Parenthesis equals 0.</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9861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sz="1200" b="0" i="0" u="none" strike="noStrike" kern="1200" cap="none" noProof="0" dirty="0" err="1">
                <a:solidFill>
                  <a:schemeClr val="dk1"/>
                </a:solidFill>
                <a:effectLst/>
                <a:latin typeface="Arial"/>
                <a:ea typeface="Arial"/>
                <a:cs typeface="Arial"/>
                <a:sym typeface="Arial"/>
              </a:rPr>
              <a:t>Supermesh</a:t>
            </a:r>
            <a:r>
              <a:rPr lang="en-US" sz="1200" b="0" i="0" u="none" strike="noStrike" kern="1200" cap="none" noProof="0" dirty="0">
                <a:solidFill>
                  <a:schemeClr val="dk1"/>
                </a:solidFill>
                <a:effectLst/>
                <a:latin typeface="Arial"/>
                <a:ea typeface="Arial"/>
                <a:cs typeface="Arial"/>
                <a:sym typeface="Arial"/>
              </a:rPr>
              <a:t>: negative 10 plus 2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 plus 2 Open Parenthesis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 minus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Close Parenthesis plus 2 Open Parenthesis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minus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Close Parenthesis equals 0.</a:t>
            </a:r>
            <a:br>
              <a:rPr lang="en-US" sz="1200" b="0" i="0" u="none" strike="noStrike" kern="1200" cap="none" noProof="0" dirty="0">
                <a:solidFill>
                  <a:schemeClr val="dk1"/>
                </a:solidFill>
                <a:effectLst/>
                <a:latin typeface="Arial"/>
                <a:ea typeface="Arial"/>
                <a:cs typeface="Arial"/>
                <a:sym typeface="Arial"/>
              </a:rPr>
            </a:b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mesh: negative 6 plus 1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plus 2 Open Parenthesis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minus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Close Parenthesis plus 2 Open Parenthesis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minus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 Close Parenthesis equals 0.</a:t>
            </a:r>
            <a:r>
              <a:rPr lang="en-US" noProof="0" dirty="0"/>
              <a:t> </a:t>
            </a:r>
          </a:p>
          <a:p>
            <a:endParaRPr lang="en-US" noProof="0" dirty="0"/>
          </a:p>
          <a:p>
            <a:r>
              <a:rPr lang="en-US" noProof="0" dirty="0"/>
              <a:t>Long Description 2:</a:t>
            </a:r>
          </a:p>
          <a:p>
            <a:r>
              <a:rPr lang="en-US" sz="1200" b="0" i="0" u="none" strike="noStrike" kern="1200" cap="none" noProof="0" dirty="0">
                <a:solidFill>
                  <a:schemeClr val="dk1"/>
                </a:solidFill>
                <a:effectLst/>
                <a:latin typeface="Arial"/>
                <a:ea typeface="Arial"/>
                <a:cs typeface="Arial"/>
                <a:sym typeface="Arial"/>
              </a:rPr>
              <a:t>S M constraint: It shows 2 lines. Line 1: 2 equals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minus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a:t>
            </a:r>
            <a:br>
              <a:rPr lang="en-US" sz="1200" b="0" i="0" u="none" strike="noStrike" kern="1200" cap="none" noProof="0" dirty="0">
                <a:solidFill>
                  <a:schemeClr val="dk1"/>
                </a:solidFill>
                <a:effectLst/>
                <a:latin typeface="Arial"/>
                <a:ea typeface="Arial"/>
                <a:cs typeface="Arial"/>
                <a:sym typeface="Arial"/>
              </a:rPr>
            </a:br>
            <a:r>
              <a:rPr lang="en-US" sz="1200" b="0" i="0" u="none" strike="noStrike" kern="1200" cap="none" noProof="0" dirty="0">
                <a:solidFill>
                  <a:schemeClr val="dk1"/>
                </a:solidFill>
                <a:effectLst/>
                <a:latin typeface="Arial"/>
                <a:ea typeface="Arial"/>
                <a:cs typeface="Arial"/>
                <a:sym typeface="Arial"/>
              </a:rPr>
              <a:t>Line 2: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Open Parenthesis 2 Close Parenthesis plus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 Open Parenthesis 2 plus 2 Close Parenthesis plus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Open Parenthesis negative 2 minus 2 Close Parenthesis equals 10.</a:t>
            </a:r>
            <a:br>
              <a:rPr lang="en-US" sz="1200" b="0" i="0" u="none" strike="noStrike" kern="1200" cap="none" noProof="0" dirty="0">
                <a:solidFill>
                  <a:schemeClr val="dk1"/>
                </a:solidFill>
                <a:effectLst/>
                <a:latin typeface="Arial"/>
                <a:ea typeface="Arial"/>
                <a:cs typeface="Arial"/>
                <a:sym typeface="Arial"/>
              </a:rPr>
            </a:br>
            <a:r>
              <a:rPr lang="en-US" sz="1200" b="0" i="0" u="none" strike="noStrike" kern="1200" cap="none" noProof="0" dirty="0">
                <a:solidFill>
                  <a:schemeClr val="dk1"/>
                </a:solidFill>
                <a:effectLst/>
                <a:latin typeface="Arial"/>
                <a:ea typeface="Arial"/>
                <a:cs typeface="Arial"/>
                <a:sym typeface="Arial"/>
              </a:rPr>
              <a:t>Std form: It shows 2 lines. Line 1: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Open Parenthesis negative 2 Close Parenthesis plus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 Open Parenthesis negative 2 Close Parenthesis plus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Open Parenthesis 1 plus 2 plus 2 Close Parenthesis equals 6.</a:t>
            </a:r>
            <a:br>
              <a:rPr lang="en-US" sz="1200" b="0" i="0" u="none" strike="noStrike" kern="1200" cap="none" noProof="0" dirty="0">
                <a:solidFill>
                  <a:schemeClr val="dk1"/>
                </a:solidFill>
                <a:effectLst/>
                <a:latin typeface="Arial"/>
                <a:ea typeface="Arial"/>
                <a:cs typeface="Arial"/>
                <a:sym typeface="Arial"/>
              </a:rPr>
            </a:br>
            <a:r>
              <a:rPr lang="en-US" sz="1200" b="0" i="0" u="none" strike="noStrike" kern="1200" cap="none" noProof="0" dirty="0">
                <a:solidFill>
                  <a:schemeClr val="dk1"/>
                </a:solidFill>
                <a:effectLst/>
                <a:latin typeface="Arial"/>
                <a:ea typeface="Arial"/>
                <a:cs typeface="Arial"/>
                <a:sym typeface="Arial"/>
              </a:rPr>
              <a:t>Line 2: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a Base Line Open Parenthesis 1 Close Parenthesis plus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b Base Line Open Parenthesis negative 1 Close Parenthesis plus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c Base Line Open Parenthesis 0 Close Parenthesis equals 2.</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75319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17</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Content Placeholder 7">
            <a:extLst>
              <a:ext uri="{FF2B5EF4-FFF2-40B4-BE49-F238E27FC236}">
                <a16:creationId xmlns:a16="http://schemas.microsoft.com/office/drawing/2014/main" id="{090C598A-4510-D823-D5F1-7498CF5736B3}"/>
              </a:ext>
            </a:extLst>
          </p:cNvPr>
          <p:cNvSpPr>
            <a:spLocks noGrp="1"/>
          </p:cNvSpPr>
          <p:nvPr>
            <p:ph sz="quarter" idx="16" hasCustomPrompt="1"/>
          </p:nvPr>
        </p:nvSpPr>
        <p:spPr>
          <a:xfrm>
            <a:off x="9144000" y="1552575"/>
            <a:ext cx="2595603" cy="4438650"/>
          </a:xfrm>
        </p:spPr>
        <p:txBody>
          <a:bodyPr/>
          <a:lstStyle/>
          <a:p>
            <a:pPr lvl="0"/>
            <a:r>
              <a:rPr lang="en-US" dirty="0"/>
              <a:t>Click to add text</a:t>
            </a: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10/13/2025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Content Placeholder 7">
            <a:extLst>
              <a:ext uri="{FF2B5EF4-FFF2-40B4-BE49-F238E27FC236}">
                <a16:creationId xmlns:a16="http://schemas.microsoft.com/office/drawing/2014/main" id="{4A818BFD-BEBE-FD7A-B1C8-A73F96C4570F}"/>
              </a:ext>
            </a:extLst>
          </p:cNvPr>
          <p:cNvSpPr txBox="1">
            <a:spLocks/>
          </p:cNvSpPr>
          <p:nvPr userDrawn="1"/>
        </p:nvSpPr>
        <p:spPr>
          <a:xfrm>
            <a:off x="2743201" y="6443304"/>
            <a:ext cx="5926688"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a:extLst>
              <a:ext uri="{FF2B5EF4-FFF2-40B4-BE49-F238E27FC236}">
                <a16:creationId xmlns:a16="http://schemas.microsoft.com/office/drawing/2014/main" id="{996E2673-CC91-B36C-8507-FB686EE9F80D}"/>
              </a:ext>
            </a:extLst>
          </p:cNvPr>
          <p:cNvPicPr>
            <a:picLocks noChangeAspect="1"/>
          </p:cNvPicPr>
          <p:nvPr userDrawn="1"/>
        </p:nvPicPr>
        <p:blipFill>
          <a:blip r:embed="rId14"/>
          <a:stretch>
            <a:fillRect/>
          </a:stretch>
        </p:blipFill>
        <p:spPr>
          <a:xfrm>
            <a:off x="430085" y="6411214"/>
            <a:ext cx="986560" cy="310866"/>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jpg"/><Relationship Id="rId1" Type="http://schemas.openxmlformats.org/officeDocument/2006/relationships/slideLayout" Target="../slideLayouts/slideLayout8.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8.xml"/><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4.wmf"/><Relationship Id="rId3" Type="http://schemas.openxmlformats.org/officeDocument/2006/relationships/oleObject" Target="../embeddings/oleObject1.bin"/><Relationship Id="rId7" Type="http://schemas.openxmlformats.org/officeDocument/2006/relationships/image" Target="../media/image11.wmf"/><Relationship Id="rId12"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2.bin"/><Relationship Id="rId11" Type="http://schemas.openxmlformats.org/officeDocument/2006/relationships/image" Target="../media/image13.wmf"/><Relationship Id="rId5" Type="http://schemas.openxmlformats.org/officeDocument/2006/relationships/image" Target="../media/image10.jpg"/><Relationship Id="rId10" Type="http://schemas.openxmlformats.org/officeDocument/2006/relationships/oleObject" Target="../embeddings/oleObject4.bin"/><Relationship Id="rId4" Type="http://schemas.openxmlformats.org/officeDocument/2006/relationships/image" Target="../media/image7.wmf"/><Relationship Id="rId9" Type="http://schemas.openxmlformats.org/officeDocument/2006/relationships/image" Target="../media/image12.wmf"/></Relationships>
</file>

<file path=ppt/slides/_rels/slide9.xml.rels><?xml version="1.0" encoding="UTF-8" standalone="yes"?>
<Relationships xmlns="http://schemas.openxmlformats.org/package/2006/relationships"><Relationship Id="rId8" Type="http://schemas.openxmlformats.org/officeDocument/2006/relationships/image" Target="../media/image18.jpg"/><Relationship Id="rId13" Type="http://schemas.openxmlformats.org/officeDocument/2006/relationships/oleObject" Target="../embeddings/oleObject11.bin"/><Relationship Id="rId18" Type="http://schemas.openxmlformats.org/officeDocument/2006/relationships/image" Target="../media/image23.wmf"/><Relationship Id="rId3" Type="http://schemas.openxmlformats.org/officeDocument/2006/relationships/image" Target="../media/image15.wmf"/><Relationship Id="rId7" Type="http://schemas.openxmlformats.org/officeDocument/2006/relationships/image" Target="../media/image17.wmf"/><Relationship Id="rId12" Type="http://schemas.openxmlformats.org/officeDocument/2006/relationships/image" Target="../media/image20.wmf"/><Relationship Id="rId17" Type="http://schemas.openxmlformats.org/officeDocument/2006/relationships/oleObject" Target="../embeddings/oleObject13.bin"/><Relationship Id="rId2" Type="http://schemas.openxmlformats.org/officeDocument/2006/relationships/oleObject" Target="../embeddings/oleObject6.bin"/><Relationship Id="rId16" Type="http://schemas.openxmlformats.org/officeDocument/2006/relationships/image" Target="../media/image22.wmf"/><Relationship Id="rId20" Type="http://schemas.openxmlformats.org/officeDocument/2006/relationships/image" Target="../media/image24.wmf"/><Relationship Id="rId1" Type="http://schemas.openxmlformats.org/officeDocument/2006/relationships/slideLayout" Target="../slideLayouts/slideLayout8.xml"/><Relationship Id="rId6" Type="http://schemas.openxmlformats.org/officeDocument/2006/relationships/oleObject" Target="../embeddings/oleObject8.bin"/><Relationship Id="rId11" Type="http://schemas.openxmlformats.org/officeDocument/2006/relationships/oleObject" Target="../embeddings/oleObject10.bin"/><Relationship Id="rId5" Type="http://schemas.openxmlformats.org/officeDocument/2006/relationships/image" Target="../media/image16.wmf"/><Relationship Id="rId15" Type="http://schemas.openxmlformats.org/officeDocument/2006/relationships/oleObject" Target="../embeddings/oleObject12.bin"/><Relationship Id="rId10" Type="http://schemas.openxmlformats.org/officeDocument/2006/relationships/image" Target="../media/image19.wmf"/><Relationship Id="rId19" Type="http://schemas.openxmlformats.org/officeDocument/2006/relationships/oleObject" Target="../embeddings/oleObject14.bin"/><Relationship Id="rId4" Type="http://schemas.openxmlformats.org/officeDocument/2006/relationships/oleObject" Target="../embeddings/oleObject7.bin"/><Relationship Id="rId9" Type="http://schemas.openxmlformats.org/officeDocument/2006/relationships/oleObject" Target="../embeddings/oleObject9.bin"/><Relationship Id="rId14" Type="http://schemas.openxmlformats.org/officeDocument/2006/relationships/image" Target="../media/image21.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20.bin"/><Relationship Id="rId18" Type="http://schemas.openxmlformats.org/officeDocument/2006/relationships/image" Target="../media/image33.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30.wmf"/><Relationship Id="rId17" Type="http://schemas.openxmlformats.org/officeDocument/2006/relationships/oleObject" Target="../embeddings/oleObject22.bin"/><Relationship Id="rId2" Type="http://schemas.openxmlformats.org/officeDocument/2006/relationships/image" Target="../media/image25.jpg"/><Relationship Id="rId16" Type="http://schemas.openxmlformats.org/officeDocument/2006/relationships/image" Target="../media/image32.wmf"/><Relationship Id="rId20" Type="http://schemas.openxmlformats.org/officeDocument/2006/relationships/image" Target="../media/image34.wmf"/><Relationship Id="rId1" Type="http://schemas.openxmlformats.org/officeDocument/2006/relationships/slideLayout" Target="../slideLayouts/slideLayout8.xml"/><Relationship Id="rId6" Type="http://schemas.openxmlformats.org/officeDocument/2006/relationships/image" Target="../media/image27.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9.wmf"/><Relationship Id="rId19" Type="http://schemas.openxmlformats.org/officeDocument/2006/relationships/oleObject" Target="../embeddings/oleObject23.bin"/><Relationship Id="rId4" Type="http://schemas.openxmlformats.org/officeDocument/2006/relationships/image" Target="../media/image26.wmf"/><Relationship Id="rId9" Type="http://schemas.openxmlformats.org/officeDocument/2006/relationships/oleObject" Target="../embeddings/oleObject18.bin"/><Relationship Id="rId14" Type="http://schemas.openxmlformats.org/officeDocument/2006/relationships/image" Target="../media/image31.wmf"/></Relationships>
</file>

<file path=ppt/slides/_rels/slide13.xml.rels><?xml version="1.0" encoding="UTF-8" standalone="yes"?>
<Relationships xmlns="http://schemas.openxmlformats.org/package/2006/relationships"><Relationship Id="rId8" Type="http://schemas.openxmlformats.org/officeDocument/2006/relationships/image" Target="../media/image4.jpg"/><Relationship Id="rId13" Type="http://schemas.openxmlformats.org/officeDocument/2006/relationships/oleObject" Target="../embeddings/oleObject19.bin"/><Relationship Id="rId18" Type="http://schemas.openxmlformats.org/officeDocument/2006/relationships/image" Target="../media/image32.wmf"/><Relationship Id="rId3" Type="http://schemas.openxmlformats.org/officeDocument/2006/relationships/image" Target="../media/image5.jpg"/><Relationship Id="rId21" Type="http://schemas.openxmlformats.org/officeDocument/2006/relationships/oleObject" Target="../embeddings/oleObject23.bin"/><Relationship Id="rId7" Type="http://schemas.openxmlformats.org/officeDocument/2006/relationships/image" Target="../media/image27.wmf"/><Relationship Id="rId12" Type="http://schemas.openxmlformats.org/officeDocument/2006/relationships/image" Target="../media/image29.wmf"/><Relationship Id="rId17" Type="http://schemas.openxmlformats.org/officeDocument/2006/relationships/oleObject" Target="../embeddings/oleObject21.bin"/><Relationship Id="rId2" Type="http://schemas.openxmlformats.org/officeDocument/2006/relationships/image" Target="../media/image25.jpg"/><Relationship Id="rId16" Type="http://schemas.openxmlformats.org/officeDocument/2006/relationships/image" Target="../media/image31.wmf"/><Relationship Id="rId20" Type="http://schemas.openxmlformats.org/officeDocument/2006/relationships/image" Target="../media/image33.wmf"/><Relationship Id="rId1" Type="http://schemas.openxmlformats.org/officeDocument/2006/relationships/slideLayout" Target="../slideLayouts/slideLayout8.xml"/><Relationship Id="rId6" Type="http://schemas.openxmlformats.org/officeDocument/2006/relationships/oleObject" Target="../embeddings/oleObject16.bin"/><Relationship Id="rId11" Type="http://schemas.openxmlformats.org/officeDocument/2006/relationships/oleObject" Target="../embeddings/oleObject18.bin"/><Relationship Id="rId5" Type="http://schemas.openxmlformats.org/officeDocument/2006/relationships/image" Target="../media/image26.wmf"/><Relationship Id="rId15" Type="http://schemas.openxmlformats.org/officeDocument/2006/relationships/oleObject" Target="../embeddings/oleObject20.bin"/><Relationship Id="rId10" Type="http://schemas.openxmlformats.org/officeDocument/2006/relationships/image" Target="../media/image28.wmf"/><Relationship Id="rId19" Type="http://schemas.openxmlformats.org/officeDocument/2006/relationships/oleObject" Target="../embeddings/oleObject22.bin"/><Relationship Id="rId4" Type="http://schemas.openxmlformats.org/officeDocument/2006/relationships/oleObject" Target="../embeddings/oleObject15.bin"/><Relationship Id="rId9" Type="http://schemas.openxmlformats.org/officeDocument/2006/relationships/oleObject" Target="../embeddings/oleObject17.bin"/><Relationship Id="rId14" Type="http://schemas.openxmlformats.org/officeDocument/2006/relationships/image" Target="../media/image30.wmf"/><Relationship Id="rId22" Type="http://schemas.openxmlformats.org/officeDocument/2006/relationships/image" Target="../media/image34.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4.bin"/><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39.wmf"/><Relationship Id="rId5" Type="http://schemas.openxmlformats.org/officeDocument/2006/relationships/oleObject" Target="../embeddings/oleObject26.bin"/><Relationship Id="rId4" Type="http://schemas.openxmlformats.org/officeDocument/2006/relationships/image" Target="../media/image38.wmf"/><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4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05846"/>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1" name="Picture 10">
            <a:extLst>
              <a:ext uri="{FF2B5EF4-FFF2-40B4-BE49-F238E27FC236}">
                <a16:creationId xmlns:a16="http://schemas.microsoft.com/office/drawing/2014/main" id="{57AC0BA5-0243-47AA-B0D4-A300457AF92D}"/>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dirty="0">
                <a:solidFill>
                  <a:schemeClr val="tx1"/>
                </a:solidFill>
              </a:rPr>
              <a:t>Chapter 4 – Part 4</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545534"/>
            <a:ext cx="4092127" cy="374906"/>
          </a:xfrm>
        </p:spPr>
        <p:txBody>
          <a:bodyPr wrap="square" lIns="0" tIns="18000" rIns="0" bIns="18000" anchor="ctr">
            <a:spAutoFit/>
          </a:bodyPr>
          <a:lstStyle/>
          <a:p>
            <a:pPr indent="-101600"/>
            <a:r>
              <a:rPr lang="en-US"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92371" y="6443304"/>
            <a:ext cx="6077518"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(1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902923"/>
            <a:ext cx="8240620" cy="405683"/>
          </a:xfrm>
        </p:spPr>
        <p:txBody>
          <a:bodyPr wrap="square" lIns="0" tIns="18000" rIns="0" bIns="18000" anchor="ctr" anchorCtr="0">
            <a:spAutoFit/>
          </a:bodyPr>
          <a:lstStyle/>
          <a:p>
            <a:pPr marL="0" indent="0">
              <a:buNone/>
            </a:pPr>
            <a:r>
              <a:rPr lang="en-US" sz="2400" dirty="0"/>
              <a:t>What is the value of the mesh current in the upper mesh?</a:t>
            </a:r>
          </a:p>
        </p:txBody>
      </p:sp>
      <p:pic>
        <p:nvPicPr>
          <p:cNvPr id="15" name="Picture 14"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10;">
            <a:extLst>
              <a:ext uri="{FF2B5EF4-FFF2-40B4-BE49-F238E27FC236}">
                <a16:creationId xmlns:a16="http://schemas.microsoft.com/office/drawing/2014/main" id="{B8236EE7-4082-4ECA-9160-5C32CE4E0B30}"/>
              </a:ext>
            </a:extLst>
          </p:cNvPr>
          <p:cNvPicPr>
            <a:picLocks noChangeAspect="1"/>
          </p:cNvPicPr>
          <p:nvPr/>
        </p:nvPicPr>
        <p:blipFill>
          <a:blip r:embed="rId2"/>
          <a:stretch>
            <a:fillRect/>
          </a:stretch>
        </p:blipFill>
        <p:spPr>
          <a:xfrm>
            <a:off x="3144909" y="2784773"/>
            <a:ext cx="2873034" cy="1495848"/>
          </a:xfrm>
          <a:prstGeom prst="rect">
            <a:avLst/>
          </a:prstGeom>
        </p:spPr>
      </p:pic>
      <p:sp>
        <p:nvSpPr>
          <p:cNvPr id="5" name="Content Placeholder 4">
            <a:extLst>
              <a:ext uri="{FF2B5EF4-FFF2-40B4-BE49-F238E27FC236}">
                <a16:creationId xmlns:a16="http://schemas.microsoft.com/office/drawing/2014/main" id="{7667DE76-760F-CCC6-C0F6-0B9933D368EC}"/>
              </a:ext>
            </a:extLst>
          </p:cNvPr>
          <p:cNvSpPr>
            <a:spLocks noGrp="1"/>
          </p:cNvSpPr>
          <p:nvPr>
            <p:ph sz="quarter" idx="14"/>
          </p:nvPr>
        </p:nvSpPr>
        <p:spPr>
          <a:xfrm>
            <a:off x="1484419" y="4384054"/>
            <a:ext cx="1128610"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a:t>
            </a:r>
            <a:r>
              <a:rPr lang="en-US" sz="2400" dirty="0"/>
              <a:t>10 A</a:t>
            </a:r>
          </a:p>
        </p:txBody>
      </p:sp>
      <p:sp>
        <p:nvSpPr>
          <p:cNvPr id="6" name="Content Placeholder 5">
            <a:extLst>
              <a:ext uri="{FF2B5EF4-FFF2-40B4-BE49-F238E27FC236}">
                <a16:creationId xmlns:a16="http://schemas.microsoft.com/office/drawing/2014/main" id="{323CFB70-B25F-8B29-A4EE-2B49421EE6B8}"/>
              </a:ext>
            </a:extLst>
          </p:cNvPr>
          <p:cNvSpPr>
            <a:spLocks noGrp="1"/>
          </p:cNvSpPr>
          <p:nvPr>
            <p:ph sz="quarter" idx="15"/>
          </p:nvPr>
        </p:nvSpPr>
        <p:spPr>
          <a:xfrm>
            <a:off x="1484419" y="4868864"/>
            <a:ext cx="1258781" cy="405683"/>
          </a:xfrm>
        </p:spPr>
        <p:txBody>
          <a:bodyPr wrap="square" lIns="0" tIns="18000" rIns="0" bIns="18000" anchor="ctr" anchorCtr="0">
            <a:spAutoFit/>
          </a:bodyPr>
          <a:lstStyle/>
          <a:p>
            <a:pPr marL="0" indent="0">
              <a:buNone/>
            </a:pPr>
            <a:r>
              <a:rPr lang="en-US" sz="2400" noProof="0" dirty="0">
                <a:solidFill>
                  <a:schemeClr val="tx2"/>
                </a:solidFill>
              </a:rPr>
              <a:t>B. </a:t>
            </a:r>
            <a:r>
              <a:rPr lang="en-US" sz="2400" dirty="0"/>
              <a:t>−10 A</a:t>
            </a:r>
          </a:p>
        </p:txBody>
      </p:sp>
      <p:sp>
        <p:nvSpPr>
          <p:cNvPr id="7" name="Content Placeholder 6">
            <a:extLst>
              <a:ext uri="{FF2B5EF4-FFF2-40B4-BE49-F238E27FC236}">
                <a16:creationId xmlns:a16="http://schemas.microsoft.com/office/drawing/2014/main" id="{626A51F5-8F91-9663-F57F-DCC26C9A7AEF}"/>
              </a:ext>
            </a:extLst>
          </p:cNvPr>
          <p:cNvSpPr>
            <a:spLocks noGrp="1"/>
          </p:cNvSpPr>
          <p:nvPr>
            <p:ph sz="quarter" idx="16"/>
          </p:nvPr>
        </p:nvSpPr>
        <p:spPr>
          <a:xfrm>
            <a:off x="1484419" y="5359849"/>
            <a:ext cx="2060059" cy="405683"/>
          </a:xfrm>
        </p:spPr>
        <p:txBody>
          <a:bodyPr wrap="square" lIns="0" tIns="18000" rIns="0" bIns="18000" anchor="ctr" anchorCtr="0">
            <a:spAutoFit/>
          </a:bodyPr>
          <a:lstStyle/>
          <a:p>
            <a:pPr marL="0" indent="0">
              <a:buNone/>
            </a:pPr>
            <a:r>
              <a:rPr lang="en-US" altLang="en-US" sz="2400" noProof="0" dirty="0">
                <a:solidFill>
                  <a:schemeClr val="tx2"/>
                </a:solidFill>
              </a:rPr>
              <a:t>C.</a:t>
            </a:r>
            <a:r>
              <a:rPr lang="en-US" altLang="en-US" sz="2400" noProof="0" dirty="0"/>
              <a:t> </a:t>
            </a:r>
            <a:r>
              <a:rPr lang="en-US" sz="2400" dirty="0"/>
              <a:t>75 V / 2 + 3</a:t>
            </a:r>
          </a:p>
        </p:txBody>
      </p:sp>
      <p:sp>
        <p:nvSpPr>
          <p:cNvPr id="8" name="Content Placeholder 7">
            <a:extLst>
              <a:ext uri="{FF2B5EF4-FFF2-40B4-BE49-F238E27FC236}">
                <a16:creationId xmlns:a16="http://schemas.microsoft.com/office/drawing/2014/main" id="{C2273C42-00D3-8B92-79A5-D6AFA7962AC0}"/>
              </a:ext>
            </a:extLst>
          </p:cNvPr>
          <p:cNvSpPr>
            <a:spLocks noGrp="1"/>
          </p:cNvSpPr>
          <p:nvPr>
            <p:ph sz="quarter" idx="17"/>
          </p:nvPr>
        </p:nvSpPr>
        <p:spPr>
          <a:xfrm>
            <a:off x="1484418" y="5799978"/>
            <a:ext cx="7186507" cy="405683"/>
          </a:xfrm>
        </p:spPr>
        <p:txBody>
          <a:bodyPr wrap="square" lIns="0" tIns="18000" rIns="0" bIns="18000" anchor="ctr" anchorCtr="0">
            <a:spAutoFit/>
          </a:bodyPr>
          <a:lstStyle/>
          <a:p>
            <a:pPr marL="0" indent="0">
              <a:buNone/>
            </a:pPr>
            <a:r>
              <a:rPr lang="en-US" sz="2400" noProof="0" dirty="0">
                <a:solidFill>
                  <a:schemeClr val="tx2"/>
                </a:solidFill>
              </a:rPr>
              <a:t>D.</a:t>
            </a:r>
            <a:r>
              <a:rPr lang="en-US" sz="2400" noProof="0" dirty="0"/>
              <a:t> </a:t>
            </a:r>
            <a:r>
              <a:rPr lang="en-US" sz="2400" dirty="0"/>
              <a:t>We cannot tell until we analyze the circuit!</a:t>
            </a:r>
            <a:endParaRPr lang="en-US" sz="2400" noProof="0" dirty="0"/>
          </a:p>
        </p:txBody>
      </p:sp>
    </p:spTree>
    <p:extLst>
      <p:ext uri="{BB962C8B-B14F-4D97-AF65-F5344CB8AC3E}">
        <p14:creationId xmlns:p14="http://schemas.microsoft.com/office/powerpoint/2010/main" val="2656774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87BDA-F8A0-1E80-0568-B0903844B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7F4E-223B-C441-71D6-EFC3B0D4F277}"/>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(1 of 12)</a:t>
            </a:r>
            <a:endParaRPr lang="en-US" noProof="0" dirty="0"/>
          </a:p>
        </p:txBody>
      </p:sp>
      <p:sp>
        <p:nvSpPr>
          <p:cNvPr id="3" name="Content Placeholder 2">
            <a:extLst>
              <a:ext uri="{FF2B5EF4-FFF2-40B4-BE49-F238E27FC236}">
                <a16:creationId xmlns:a16="http://schemas.microsoft.com/office/drawing/2014/main" id="{AA274365-6709-84D5-2583-22B8B0EEEC5E}"/>
              </a:ext>
            </a:extLst>
          </p:cNvPr>
          <p:cNvSpPr>
            <a:spLocks noGrp="1"/>
          </p:cNvSpPr>
          <p:nvPr>
            <p:ph sz="quarter" idx="12"/>
          </p:nvPr>
        </p:nvSpPr>
        <p:spPr>
          <a:xfrm>
            <a:off x="425927" y="1902923"/>
            <a:ext cx="8240620" cy="405683"/>
          </a:xfrm>
        </p:spPr>
        <p:txBody>
          <a:bodyPr wrap="square" lIns="0" tIns="18000" rIns="0" bIns="18000" anchor="ctr" anchorCtr="0">
            <a:spAutoFit/>
          </a:bodyPr>
          <a:lstStyle/>
          <a:p>
            <a:pPr marL="0" indent="0">
              <a:buNone/>
            </a:pPr>
            <a:r>
              <a:rPr lang="en-US" sz="2400" dirty="0"/>
              <a:t>What is the value of the mesh current in the upper mesh?</a:t>
            </a:r>
          </a:p>
        </p:txBody>
      </p:sp>
      <p:pic>
        <p:nvPicPr>
          <p:cNvPr id="15" name="Picture 14"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10;">
            <a:extLst>
              <a:ext uri="{FF2B5EF4-FFF2-40B4-BE49-F238E27FC236}">
                <a16:creationId xmlns:a16="http://schemas.microsoft.com/office/drawing/2014/main" id="{54FAB36A-4D39-548C-D980-A1AC5C230775}"/>
              </a:ext>
            </a:extLst>
          </p:cNvPr>
          <p:cNvPicPr>
            <a:picLocks noChangeAspect="1"/>
          </p:cNvPicPr>
          <p:nvPr/>
        </p:nvPicPr>
        <p:blipFill>
          <a:blip r:embed="rId2"/>
          <a:stretch>
            <a:fillRect/>
          </a:stretch>
        </p:blipFill>
        <p:spPr>
          <a:xfrm>
            <a:off x="3144909" y="2784773"/>
            <a:ext cx="2873034" cy="1495848"/>
          </a:xfrm>
          <a:prstGeom prst="rect">
            <a:avLst/>
          </a:prstGeom>
        </p:spPr>
      </p:pic>
      <p:pic>
        <p:nvPicPr>
          <p:cNvPr id="26" name="Picture 25" descr="Cross mark">
            <a:extLst>
              <a:ext uri="{FF2B5EF4-FFF2-40B4-BE49-F238E27FC236}">
                <a16:creationId xmlns:a16="http://schemas.microsoft.com/office/drawing/2014/main" id="{E794AE25-EA91-80E1-9593-D4B2173DB998}"/>
              </a:ext>
            </a:extLst>
          </p:cNvPr>
          <p:cNvPicPr>
            <a:picLocks noChangeAspect="1"/>
          </p:cNvPicPr>
          <p:nvPr/>
        </p:nvPicPr>
        <p:blipFill>
          <a:blip r:embed="rId3"/>
          <a:stretch>
            <a:fillRect/>
          </a:stretch>
        </p:blipFill>
        <p:spPr>
          <a:xfrm>
            <a:off x="1045114" y="4477232"/>
            <a:ext cx="258531" cy="258531"/>
          </a:xfrm>
          <a:prstGeom prst="rect">
            <a:avLst/>
          </a:prstGeom>
        </p:spPr>
      </p:pic>
      <p:sp>
        <p:nvSpPr>
          <p:cNvPr id="5" name="Content Placeholder 4">
            <a:extLst>
              <a:ext uri="{FF2B5EF4-FFF2-40B4-BE49-F238E27FC236}">
                <a16:creationId xmlns:a16="http://schemas.microsoft.com/office/drawing/2014/main" id="{A7DB233B-D139-C5B6-D678-05DFDDF684B1}"/>
              </a:ext>
            </a:extLst>
          </p:cNvPr>
          <p:cNvSpPr>
            <a:spLocks noGrp="1"/>
          </p:cNvSpPr>
          <p:nvPr>
            <p:ph sz="quarter" idx="14"/>
          </p:nvPr>
        </p:nvSpPr>
        <p:spPr>
          <a:xfrm>
            <a:off x="1484419" y="4384054"/>
            <a:ext cx="1128610"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a:t>
            </a:r>
            <a:r>
              <a:rPr lang="en-US" sz="2400" dirty="0"/>
              <a:t>10 A</a:t>
            </a:r>
          </a:p>
        </p:txBody>
      </p:sp>
      <p:pic>
        <p:nvPicPr>
          <p:cNvPr id="28" name="Picture 27" descr="Check mark">
            <a:extLst>
              <a:ext uri="{FF2B5EF4-FFF2-40B4-BE49-F238E27FC236}">
                <a16:creationId xmlns:a16="http://schemas.microsoft.com/office/drawing/2014/main" id="{789E8DC8-CCC6-0081-B378-7FF16B1F96B2}"/>
              </a:ext>
            </a:extLst>
          </p:cNvPr>
          <p:cNvPicPr>
            <a:picLocks noChangeAspect="1"/>
          </p:cNvPicPr>
          <p:nvPr/>
        </p:nvPicPr>
        <p:blipFill>
          <a:blip r:embed="rId4"/>
          <a:stretch>
            <a:fillRect/>
          </a:stretch>
        </p:blipFill>
        <p:spPr>
          <a:xfrm>
            <a:off x="1017968" y="4924260"/>
            <a:ext cx="312822" cy="312822"/>
          </a:xfrm>
          <a:prstGeom prst="rect">
            <a:avLst/>
          </a:prstGeom>
        </p:spPr>
      </p:pic>
      <p:sp>
        <p:nvSpPr>
          <p:cNvPr id="6" name="Content Placeholder 5">
            <a:extLst>
              <a:ext uri="{FF2B5EF4-FFF2-40B4-BE49-F238E27FC236}">
                <a16:creationId xmlns:a16="http://schemas.microsoft.com/office/drawing/2014/main" id="{C49B4802-5442-32E8-E236-9F27E798C0E5}"/>
              </a:ext>
            </a:extLst>
          </p:cNvPr>
          <p:cNvSpPr>
            <a:spLocks noGrp="1"/>
          </p:cNvSpPr>
          <p:nvPr>
            <p:ph sz="quarter" idx="15"/>
          </p:nvPr>
        </p:nvSpPr>
        <p:spPr>
          <a:xfrm>
            <a:off x="1484419" y="4868864"/>
            <a:ext cx="1258781" cy="405683"/>
          </a:xfrm>
        </p:spPr>
        <p:txBody>
          <a:bodyPr wrap="square" lIns="0" tIns="18000" rIns="0" bIns="18000" anchor="ctr" anchorCtr="0">
            <a:spAutoFit/>
          </a:bodyPr>
          <a:lstStyle/>
          <a:p>
            <a:pPr marL="0" indent="0">
              <a:buNone/>
            </a:pPr>
            <a:r>
              <a:rPr lang="en-US" sz="2400" noProof="0" dirty="0">
                <a:solidFill>
                  <a:schemeClr val="tx2"/>
                </a:solidFill>
              </a:rPr>
              <a:t>B. </a:t>
            </a:r>
            <a:r>
              <a:rPr lang="en-US" sz="2400" dirty="0"/>
              <a:t>−10 A</a:t>
            </a:r>
          </a:p>
        </p:txBody>
      </p:sp>
      <p:pic>
        <p:nvPicPr>
          <p:cNvPr id="29" name="Picture 28" descr="Cross mark">
            <a:extLst>
              <a:ext uri="{FF2B5EF4-FFF2-40B4-BE49-F238E27FC236}">
                <a16:creationId xmlns:a16="http://schemas.microsoft.com/office/drawing/2014/main" id="{EB490452-5F53-CAF5-3822-9DF51E042DE1}"/>
              </a:ext>
            </a:extLst>
          </p:cNvPr>
          <p:cNvPicPr>
            <a:picLocks noChangeAspect="1"/>
          </p:cNvPicPr>
          <p:nvPr/>
        </p:nvPicPr>
        <p:blipFill>
          <a:blip r:embed="rId3"/>
          <a:stretch>
            <a:fillRect/>
          </a:stretch>
        </p:blipFill>
        <p:spPr>
          <a:xfrm>
            <a:off x="1040163" y="5443509"/>
            <a:ext cx="258531" cy="258531"/>
          </a:xfrm>
          <a:prstGeom prst="rect">
            <a:avLst/>
          </a:prstGeom>
        </p:spPr>
      </p:pic>
      <p:sp>
        <p:nvSpPr>
          <p:cNvPr id="7" name="Content Placeholder 6">
            <a:extLst>
              <a:ext uri="{FF2B5EF4-FFF2-40B4-BE49-F238E27FC236}">
                <a16:creationId xmlns:a16="http://schemas.microsoft.com/office/drawing/2014/main" id="{DEB29DE7-0E18-803F-F4E0-83969728AACC}"/>
              </a:ext>
            </a:extLst>
          </p:cNvPr>
          <p:cNvSpPr>
            <a:spLocks noGrp="1"/>
          </p:cNvSpPr>
          <p:nvPr>
            <p:ph sz="quarter" idx="16"/>
          </p:nvPr>
        </p:nvSpPr>
        <p:spPr>
          <a:xfrm>
            <a:off x="1484419" y="5359849"/>
            <a:ext cx="2060059" cy="405683"/>
          </a:xfrm>
        </p:spPr>
        <p:txBody>
          <a:bodyPr wrap="square" lIns="0" tIns="18000" rIns="0" bIns="18000" anchor="ctr" anchorCtr="0">
            <a:spAutoFit/>
          </a:bodyPr>
          <a:lstStyle/>
          <a:p>
            <a:pPr marL="0" indent="0">
              <a:buNone/>
            </a:pPr>
            <a:r>
              <a:rPr lang="en-US" altLang="en-US" sz="2400" noProof="0" dirty="0">
                <a:solidFill>
                  <a:schemeClr val="tx2"/>
                </a:solidFill>
              </a:rPr>
              <a:t>C.</a:t>
            </a:r>
            <a:r>
              <a:rPr lang="en-US" altLang="en-US" sz="2400" noProof="0" dirty="0"/>
              <a:t> </a:t>
            </a:r>
            <a:r>
              <a:rPr lang="en-US" sz="2400" dirty="0"/>
              <a:t>75 V / 2 + 3</a:t>
            </a:r>
          </a:p>
        </p:txBody>
      </p:sp>
      <p:pic>
        <p:nvPicPr>
          <p:cNvPr id="31" name="Picture 30" descr="Cross mark">
            <a:extLst>
              <a:ext uri="{FF2B5EF4-FFF2-40B4-BE49-F238E27FC236}">
                <a16:creationId xmlns:a16="http://schemas.microsoft.com/office/drawing/2014/main" id="{C3DD0AE3-8725-C535-2C37-42886219B021}"/>
              </a:ext>
            </a:extLst>
          </p:cNvPr>
          <p:cNvPicPr>
            <a:picLocks noChangeAspect="1"/>
          </p:cNvPicPr>
          <p:nvPr/>
        </p:nvPicPr>
        <p:blipFill>
          <a:blip r:embed="rId3"/>
          <a:stretch>
            <a:fillRect/>
          </a:stretch>
        </p:blipFill>
        <p:spPr>
          <a:xfrm>
            <a:off x="1034914" y="5911513"/>
            <a:ext cx="269028" cy="269028"/>
          </a:xfrm>
          <a:prstGeom prst="rect">
            <a:avLst/>
          </a:prstGeom>
        </p:spPr>
      </p:pic>
      <p:sp>
        <p:nvSpPr>
          <p:cNvPr id="8" name="Content Placeholder 7">
            <a:extLst>
              <a:ext uri="{FF2B5EF4-FFF2-40B4-BE49-F238E27FC236}">
                <a16:creationId xmlns:a16="http://schemas.microsoft.com/office/drawing/2014/main" id="{91D97D1F-E88D-4EF4-3083-C97F0FF62841}"/>
              </a:ext>
            </a:extLst>
          </p:cNvPr>
          <p:cNvSpPr>
            <a:spLocks noGrp="1"/>
          </p:cNvSpPr>
          <p:nvPr>
            <p:ph sz="quarter" idx="17"/>
          </p:nvPr>
        </p:nvSpPr>
        <p:spPr>
          <a:xfrm>
            <a:off x="1484418" y="5799978"/>
            <a:ext cx="7186507" cy="405683"/>
          </a:xfrm>
        </p:spPr>
        <p:txBody>
          <a:bodyPr wrap="square" lIns="0" tIns="18000" rIns="0" bIns="18000" anchor="ctr" anchorCtr="0">
            <a:spAutoFit/>
          </a:bodyPr>
          <a:lstStyle/>
          <a:p>
            <a:pPr marL="0" indent="0">
              <a:buNone/>
            </a:pPr>
            <a:r>
              <a:rPr lang="en-US" sz="2400" noProof="0" dirty="0">
                <a:solidFill>
                  <a:schemeClr val="tx2"/>
                </a:solidFill>
              </a:rPr>
              <a:t>D.</a:t>
            </a:r>
            <a:r>
              <a:rPr lang="en-US" sz="2400" noProof="0" dirty="0"/>
              <a:t> </a:t>
            </a:r>
            <a:r>
              <a:rPr lang="en-US" sz="2400" dirty="0"/>
              <a:t>We cannot tell until we analyze the circuit!</a:t>
            </a:r>
            <a:endParaRPr lang="en-US" sz="2400" noProof="0" dirty="0"/>
          </a:p>
        </p:txBody>
      </p:sp>
    </p:spTree>
    <p:extLst>
      <p:ext uri="{BB962C8B-B14F-4D97-AF65-F5344CB8AC3E}">
        <p14:creationId xmlns:p14="http://schemas.microsoft.com/office/powerpoint/2010/main" val="157736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(2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435713"/>
            <a:ext cx="8240620" cy="4922304"/>
          </a:xfrm>
        </p:spPr>
        <p:txBody>
          <a:bodyPr wrap="square" lIns="0" tIns="18000" rIns="0" bIns="18000" anchor="ctr" anchorCtr="0">
            <a:spAutoFit/>
          </a:bodyPr>
          <a:lstStyle/>
          <a:p>
            <a:pPr marL="0" indent="0">
              <a:spcBef>
                <a:spcPts val="600"/>
              </a:spcBef>
              <a:buNone/>
            </a:pPr>
            <a:r>
              <a:rPr lang="en-US" sz="1800" dirty="0"/>
              <a:t>Modify the mesh current analysis method to handle circuits with a current source in a single mesh:</a:t>
            </a:r>
          </a:p>
          <a:p>
            <a:pPr marL="342900" indent="-342900">
              <a:spcBef>
                <a:spcPts val="600"/>
              </a:spcBef>
            </a:pPr>
            <a:r>
              <a:rPr lang="en-US" sz="1800" dirty="0"/>
              <a:t>Step 1 – Identify the meshes with curved directed arrows that follow the perimeter of each mesh.</a:t>
            </a:r>
          </a:p>
          <a:p>
            <a:pPr marL="342900" indent="-342900">
              <a:spcBef>
                <a:spcPts val="600"/>
              </a:spcBef>
            </a:pPr>
            <a:r>
              <a:rPr lang="en-US" sz="1800" dirty="0"/>
              <a:t>Step 2 – Label the mesh currents for each mesh.</a:t>
            </a:r>
          </a:p>
          <a:p>
            <a:pPr marL="829818" lvl="1" indent="-342900"/>
            <a:r>
              <a:rPr lang="en-US" sz="1800" dirty="0">
                <a:solidFill>
                  <a:srgbClr val="007FA3"/>
                </a:solidFill>
              </a:rPr>
              <a:t>If a current source is in a single mesh, label the mesh current with the value of the current source.</a:t>
            </a:r>
          </a:p>
          <a:p>
            <a:pPr marL="342900" indent="-342900">
              <a:spcBef>
                <a:spcPts val="600"/>
              </a:spcBef>
            </a:pPr>
            <a:r>
              <a:rPr lang="en-US" sz="1800" dirty="0"/>
              <a:t>Step 3 – Write a </a:t>
            </a:r>
            <a:r>
              <a:rPr lang="en-US" sz="1800" spc="-200" dirty="0"/>
              <a:t>K V </a:t>
            </a:r>
            <a:r>
              <a:rPr lang="en-US" sz="1800" dirty="0"/>
              <a:t>L equation for each mesh </a:t>
            </a:r>
            <a:r>
              <a:rPr lang="en-US" sz="1800" dirty="0">
                <a:solidFill>
                  <a:srgbClr val="007FA3"/>
                </a:solidFill>
              </a:rPr>
              <a:t>where the current is unknown.</a:t>
            </a:r>
          </a:p>
          <a:p>
            <a:pPr marL="829818" lvl="1" indent="-342900"/>
            <a:r>
              <a:rPr lang="en-US" sz="1800" dirty="0"/>
              <a:t>If there are dependent sources, write a dependent source constraint equation for each.</a:t>
            </a:r>
          </a:p>
          <a:p>
            <a:pPr marL="342900" indent="-342900">
              <a:spcBef>
                <a:spcPts val="600"/>
              </a:spcBef>
            </a:pPr>
            <a:r>
              <a:rPr lang="en-US" sz="1800" dirty="0"/>
              <a:t>Step 4 – Solve the </a:t>
            </a:r>
            <a:r>
              <a:rPr lang="en-US" sz="1800" spc="-200" dirty="0"/>
              <a:t>K V </a:t>
            </a:r>
            <a:r>
              <a:rPr lang="en-US" sz="1800" dirty="0"/>
              <a:t>L equations to find the mesh current values.</a:t>
            </a:r>
          </a:p>
          <a:p>
            <a:pPr marL="342900" indent="-342900">
              <a:spcBef>
                <a:spcPts val="600"/>
              </a:spcBef>
            </a:pPr>
            <a:r>
              <a:rPr lang="en-US" sz="1800" dirty="0"/>
              <a:t>Step 5 – Solve the circuit using mesh currents from Step 4 to find component currents, voltages, and power values.</a:t>
            </a:r>
          </a:p>
          <a:p>
            <a:pPr marL="0" indent="0">
              <a:spcBef>
                <a:spcPts val="600"/>
              </a:spcBef>
              <a:buNone/>
            </a:pPr>
            <a:r>
              <a:rPr lang="en-US" sz="1800" dirty="0"/>
              <a:t>A current source in a single mesh is the dual of a voltage source between two nonreference essential nodes.</a:t>
            </a:r>
          </a:p>
        </p:txBody>
      </p:sp>
    </p:spTree>
    <p:extLst>
      <p:ext uri="{BB962C8B-B14F-4D97-AF65-F5344CB8AC3E}">
        <p14:creationId xmlns:p14="http://schemas.microsoft.com/office/powerpoint/2010/main" val="591622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(3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491915"/>
            <a:ext cx="8240620" cy="775015"/>
          </a:xfrm>
        </p:spPr>
        <p:txBody>
          <a:bodyPr wrap="square" lIns="0" tIns="18000" rIns="0" bIns="18000" anchor="ctr" anchorCtr="0">
            <a:spAutoFit/>
          </a:bodyPr>
          <a:lstStyle/>
          <a:p>
            <a:pPr marL="0" indent="0">
              <a:buNone/>
            </a:pPr>
            <a:r>
              <a:rPr lang="en-US" sz="2400" dirty="0"/>
              <a:t>If we use the revised analysis method to label the mesh currents, how many </a:t>
            </a:r>
            <a:r>
              <a:rPr lang="en-US" sz="2400" spc="-300" dirty="0"/>
              <a:t>K V </a:t>
            </a:r>
            <a:r>
              <a:rPr lang="en-US" sz="2400" dirty="0"/>
              <a:t>L equations will we have to write?</a:t>
            </a:r>
          </a:p>
        </p:txBody>
      </p:sp>
      <p:pic>
        <p:nvPicPr>
          <p:cNvPr id="9" name="Picture 8"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10;">
            <a:extLst>
              <a:ext uri="{FF2B5EF4-FFF2-40B4-BE49-F238E27FC236}">
                <a16:creationId xmlns:a16="http://schemas.microsoft.com/office/drawing/2014/main" id="{C4E292DA-C113-44C4-AF71-FE0DFBD13B9C}"/>
              </a:ext>
            </a:extLst>
          </p:cNvPr>
          <p:cNvPicPr>
            <a:picLocks noChangeAspect="1"/>
          </p:cNvPicPr>
          <p:nvPr/>
        </p:nvPicPr>
        <p:blipFill>
          <a:blip r:embed="rId2"/>
          <a:stretch>
            <a:fillRect/>
          </a:stretch>
        </p:blipFill>
        <p:spPr>
          <a:xfrm>
            <a:off x="2789316" y="2435991"/>
            <a:ext cx="3565599" cy="1856433"/>
          </a:xfrm>
          <a:prstGeom prst="rect">
            <a:avLst/>
          </a:prstGeom>
        </p:spPr>
      </p:pic>
      <p:sp>
        <p:nvSpPr>
          <p:cNvPr id="5" name="Content Placeholder 4">
            <a:extLst>
              <a:ext uri="{FF2B5EF4-FFF2-40B4-BE49-F238E27FC236}">
                <a16:creationId xmlns:a16="http://schemas.microsoft.com/office/drawing/2014/main" id="{7667DE76-760F-CCC6-C0F6-0B9933D368EC}"/>
              </a:ext>
            </a:extLst>
          </p:cNvPr>
          <p:cNvSpPr>
            <a:spLocks noGrp="1"/>
          </p:cNvSpPr>
          <p:nvPr>
            <p:ph sz="quarter" idx="14"/>
          </p:nvPr>
        </p:nvSpPr>
        <p:spPr>
          <a:xfrm>
            <a:off x="1465565" y="4402810"/>
            <a:ext cx="617758"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a:t>
            </a:r>
            <a:r>
              <a:rPr lang="en-US" sz="2400" dirty="0"/>
              <a:t>3</a:t>
            </a:r>
          </a:p>
        </p:txBody>
      </p:sp>
      <p:sp>
        <p:nvSpPr>
          <p:cNvPr id="6" name="Content Placeholder 5">
            <a:extLst>
              <a:ext uri="{FF2B5EF4-FFF2-40B4-BE49-F238E27FC236}">
                <a16:creationId xmlns:a16="http://schemas.microsoft.com/office/drawing/2014/main" id="{323CFB70-B25F-8B29-A4EE-2B49421EE6B8}"/>
              </a:ext>
            </a:extLst>
          </p:cNvPr>
          <p:cNvSpPr>
            <a:spLocks noGrp="1"/>
          </p:cNvSpPr>
          <p:nvPr>
            <p:ph sz="quarter" idx="15"/>
          </p:nvPr>
        </p:nvSpPr>
        <p:spPr>
          <a:xfrm>
            <a:off x="1465565" y="4887620"/>
            <a:ext cx="617759" cy="405683"/>
          </a:xfrm>
        </p:spPr>
        <p:txBody>
          <a:bodyPr wrap="square" lIns="0" tIns="18000" rIns="0" bIns="18000" anchor="ctr" anchorCtr="0">
            <a:spAutoFit/>
          </a:bodyPr>
          <a:lstStyle/>
          <a:p>
            <a:pPr marL="0" indent="0">
              <a:buNone/>
            </a:pPr>
            <a:r>
              <a:rPr lang="en-US" sz="2400" noProof="0" dirty="0">
                <a:solidFill>
                  <a:schemeClr val="tx2"/>
                </a:solidFill>
              </a:rPr>
              <a:t>B. </a:t>
            </a:r>
            <a:r>
              <a:rPr lang="en-US" sz="2400" dirty="0"/>
              <a:t>2</a:t>
            </a:r>
          </a:p>
        </p:txBody>
      </p:sp>
      <p:sp>
        <p:nvSpPr>
          <p:cNvPr id="7" name="Content Placeholder 6">
            <a:extLst>
              <a:ext uri="{FF2B5EF4-FFF2-40B4-BE49-F238E27FC236}">
                <a16:creationId xmlns:a16="http://schemas.microsoft.com/office/drawing/2014/main" id="{626A51F5-8F91-9663-F57F-DCC26C9A7AEF}"/>
              </a:ext>
            </a:extLst>
          </p:cNvPr>
          <p:cNvSpPr>
            <a:spLocks noGrp="1"/>
          </p:cNvSpPr>
          <p:nvPr>
            <p:ph sz="quarter" idx="16"/>
          </p:nvPr>
        </p:nvSpPr>
        <p:spPr>
          <a:xfrm>
            <a:off x="1465566" y="5378605"/>
            <a:ext cx="617758" cy="405683"/>
          </a:xfrm>
        </p:spPr>
        <p:txBody>
          <a:bodyPr wrap="square" lIns="0" tIns="18000" rIns="0" bIns="18000" anchor="ctr" anchorCtr="0">
            <a:spAutoFit/>
          </a:bodyPr>
          <a:lstStyle/>
          <a:p>
            <a:pPr marL="0" indent="0">
              <a:buNone/>
            </a:pPr>
            <a:r>
              <a:rPr lang="en-US" altLang="en-US" sz="2400" noProof="0" dirty="0">
                <a:solidFill>
                  <a:schemeClr val="tx2"/>
                </a:solidFill>
              </a:rPr>
              <a:t>C.</a:t>
            </a:r>
            <a:r>
              <a:rPr lang="en-US" altLang="en-US" sz="2400" noProof="0" dirty="0"/>
              <a:t> </a:t>
            </a:r>
            <a:r>
              <a:rPr lang="en-US" sz="2400" dirty="0"/>
              <a:t>1</a:t>
            </a:r>
          </a:p>
        </p:txBody>
      </p:sp>
      <p:sp>
        <p:nvSpPr>
          <p:cNvPr id="8" name="Content Placeholder 7">
            <a:extLst>
              <a:ext uri="{FF2B5EF4-FFF2-40B4-BE49-F238E27FC236}">
                <a16:creationId xmlns:a16="http://schemas.microsoft.com/office/drawing/2014/main" id="{C2273C42-00D3-8B92-79A5-D6AFA7962AC0}"/>
              </a:ext>
            </a:extLst>
          </p:cNvPr>
          <p:cNvSpPr>
            <a:spLocks noGrp="1"/>
          </p:cNvSpPr>
          <p:nvPr>
            <p:ph sz="quarter" idx="17"/>
          </p:nvPr>
        </p:nvSpPr>
        <p:spPr>
          <a:xfrm>
            <a:off x="1465564" y="5865038"/>
            <a:ext cx="617759" cy="405683"/>
          </a:xfrm>
        </p:spPr>
        <p:txBody>
          <a:bodyPr wrap="square" lIns="0" tIns="18000" rIns="0" bIns="18000" anchor="ctr" anchorCtr="0">
            <a:spAutoFit/>
          </a:bodyPr>
          <a:lstStyle/>
          <a:p>
            <a:pPr marL="0" indent="0">
              <a:buNone/>
            </a:pPr>
            <a:r>
              <a:rPr lang="en-US" sz="2400" noProof="0" dirty="0">
                <a:solidFill>
                  <a:schemeClr val="tx2"/>
                </a:solidFill>
              </a:rPr>
              <a:t>D.</a:t>
            </a:r>
            <a:r>
              <a:rPr lang="en-US" sz="2400" noProof="0" dirty="0"/>
              <a:t> </a:t>
            </a:r>
            <a:r>
              <a:rPr lang="en-US" sz="2400" dirty="0"/>
              <a:t>0</a:t>
            </a:r>
            <a:endParaRPr lang="en-US" sz="2400" noProof="0" dirty="0"/>
          </a:p>
        </p:txBody>
      </p:sp>
    </p:spTree>
    <p:extLst>
      <p:ext uri="{BB962C8B-B14F-4D97-AF65-F5344CB8AC3E}">
        <p14:creationId xmlns:p14="http://schemas.microsoft.com/office/powerpoint/2010/main" val="1756151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74D97-5BFD-9A89-6413-4AB815D30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91658-55FB-AC7E-6B0F-6B708B0AC75C}"/>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(3 of 12)</a:t>
            </a:r>
            <a:endParaRPr lang="en-US" noProof="0" dirty="0"/>
          </a:p>
        </p:txBody>
      </p:sp>
      <p:sp>
        <p:nvSpPr>
          <p:cNvPr id="3" name="Content Placeholder 2">
            <a:extLst>
              <a:ext uri="{FF2B5EF4-FFF2-40B4-BE49-F238E27FC236}">
                <a16:creationId xmlns:a16="http://schemas.microsoft.com/office/drawing/2014/main" id="{FAFBA468-68D5-E1EA-11E4-648C92CF9DFD}"/>
              </a:ext>
            </a:extLst>
          </p:cNvPr>
          <p:cNvSpPr>
            <a:spLocks noGrp="1"/>
          </p:cNvSpPr>
          <p:nvPr>
            <p:ph sz="quarter" idx="12"/>
          </p:nvPr>
        </p:nvSpPr>
        <p:spPr>
          <a:xfrm>
            <a:off x="425927" y="1491915"/>
            <a:ext cx="8240620" cy="775015"/>
          </a:xfrm>
        </p:spPr>
        <p:txBody>
          <a:bodyPr wrap="square" lIns="0" tIns="18000" rIns="0" bIns="18000" anchor="ctr" anchorCtr="0">
            <a:spAutoFit/>
          </a:bodyPr>
          <a:lstStyle/>
          <a:p>
            <a:pPr marL="0" indent="0">
              <a:buNone/>
            </a:pPr>
            <a:r>
              <a:rPr lang="en-US" sz="2400" dirty="0"/>
              <a:t>If we use the revised analysis method to label the mesh currents, how many </a:t>
            </a:r>
            <a:r>
              <a:rPr lang="en-US" sz="2400" spc="-300" dirty="0"/>
              <a:t>K V </a:t>
            </a:r>
            <a:r>
              <a:rPr lang="en-US" sz="2400" dirty="0"/>
              <a:t>L equations will we have to write?</a:t>
            </a:r>
          </a:p>
        </p:txBody>
      </p:sp>
      <p:pic>
        <p:nvPicPr>
          <p:cNvPr id="9" name="Picture 8"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10;">
            <a:extLst>
              <a:ext uri="{FF2B5EF4-FFF2-40B4-BE49-F238E27FC236}">
                <a16:creationId xmlns:a16="http://schemas.microsoft.com/office/drawing/2014/main" id="{46F9E349-4BCE-4CEE-132B-03A9EE1802E1}"/>
              </a:ext>
            </a:extLst>
          </p:cNvPr>
          <p:cNvPicPr>
            <a:picLocks noChangeAspect="1"/>
          </p:cNvPicPr>
          <p:nvPr/>
        </p:nvPicPr>
        <p:blipFill>
          <a:blip r:embed="rId2"/>
          <a:stretch>
            <a:fillRect/>
          </a:stretch>
        </p:blipFill>
        <p:spPr>
          <a:xfrm>
            <a:off x="2789316" y="2435991"/>
            <a:ext cx="3565599" cy="1856433"/>
          </a:xfrm>
          <a:prstGeom prst="rect">
            <a:avLst/>
          </a:prstGeom>
        </p:spPr>
      </p:pic>
      <p:pic>
        <p:nvPicPr>
          <p:cNvPr id="26" name="Picture 25" descr="Cross mark">
            <a:extLst>
              <a:ext uri="{FF2B5EF4-FFF2-40B4-BE49-F238E27FC236}">
                <a16:creationId xmlns:a16="http://schemas.microsoft.com/office/drawing/2014/main" id="{93210B2E-2E51-2C53-3833-925769780CB9}"/>
              </a:ext>
            </a:extLst>
          </p:cNvPr>
          <p:cNvPicPr>
            <a:picLocks noChangeAspect="1"/>
          </p:cNvPicPr>
          <p:nvPr/>
        </p:nvPicPr>
        <p:blipFill>
          <a:blip r:embed="rId3"/>
          <a:stretch>
            <a:fillRect/>
          </a:stretch>
        </p:blipFill>
        <p:spPr>
          <a:xfrm>
            <a:off x="1026260" y="4495988"/>
            <a:ext cx="258531" cy="258531"/>
          </a:xfrm>
          <a:prstGeom prst="rect">
            <a:avLst/>
          </a:prstGeom>
        </p:spPr>
      </p:pic>
      <p:sp>
        <p:nvSpPr>
          <p:cNvPr id="5" name="Content Placeholder 4">
            <a:extLst>
              <a:ext uri="{FF2B5EF4-FFF2-40B4-BE49-F238E27FC236}">
                <a16:creationId xmlns:a16="http://schemas.microsoft.com/office/drawing/2014/main" id="{32080F6A-12A8-1EAB-F00D-2E814C79289D}"/>
              </a:ext>
            </a:extLst>
          </p:cNvPr>
          <p:cNvSpPr>
            <a:spLocks noGrp="1"/>
          </p:cNvSpPr>
          <p:nvPr>
            <p:ph sz="quarter" idx="14"/>
          </p:nvPr>
        </p:nvSpPr>
        <p:spPr>
          <a:xfrm>
            <a:off x="1465565" y="4402810"/>
            <a:ext cx="617758"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a:t>
            </a:r>
            <a:r>
              <a:rPr lang="en-US" sz="2400" dirty="0"/>
              <a:t>3</a:t>
            </a:r>
          </a:p>
        </p:txBody>
      </p:sp>
      <p:pic>
        <p:nvPicPr>
          <p:cNvPr id="29" name="Picture 28" descr="Cross mark">
            <a:extLst>
              <a:ext uri="{FF2B5EF4-FFF2-40B4-BE49-F238E27FC236}">
                <a16:creationId xmlns:a16="http://schemas.microsoft.com/office/drawing/2014/main" id="{014F01E7-5D60-E98B-80B3-0BFF8E965539}"/>
              </a:ext>
            </a:extLst>
          </p:cNvPr>
          <p:cNvPicPr>
            <a:picLocks noChangeAspect="1"/>
          </p:cNvPicPr>
          <p:nvPr/>
        </p:nvPicPr>
        <p:blipFill>
          <a:blip r:embed="rId3"/>
          <a:stretch>
            <a:fillRect/>
          </a:stretch>
        </p:blipFill>
        <p:spPr>
          <a:xfrm>
            <a:off x="1016060" y="4978741"/>
            <a:ext cx="258531" cy="258531"/>
          </a:xfrm>
          <a:prstGeom prst="rect">
            <a:avLst/>
          </a:prstGeom>
        </p:spPr>
      </p:pic>
      <p:sp>
        <p:nvSpPr>
          <p:cNvPr id="6" name="Content Placeholder 5">
            <a:extLst>
              <a:ext uri="{FF2B5EF4-FFF2-40B4-BE49-F238E27FC236}">
                <a16:creationId xmlns:a16="http://schemas.microsoft.com/office/drawing/2014/main" id="{6D8B5F15-6A09-ABF6-C6E6-EA7666081459}"/>
              </a:ext>
            </a:extLst>
          </p:cNvPr>
          <p:cNvSpPr>
            <a:spLocks noGrp="1"/>
          </p:cNvSpPr>
          <p:nvPr>
            <p:ph sz="quarter" idx="15"/>
          </p:nvPr>
        </p:nvSpPr>
        <p:spPr>
          <a:xfrm>
            <a:off x="1465565" y="4887620"/>
            <a:ext cx="617759" cy="405683"/>
          </a:xfrm>
        </p:spPr>
        <p:txBody>
          <a:bodyPr wrap="square" lIns="0" tIns="18000" rIns="0" bIns="18000" anchor="ctr" anchorCtr="0">
            <a:spAutoFit/>
          </a:bodyPr>
          <a:lstStyle/>
          <a:p>
            <a:pPr marL="0" indent="0">
              <a:buNone/>
            </a:pPr>
            <a:r>
              <a:rPr lang="en-US" sz="2400" noProof="0" dirty="0">
                <a:solidFill>
                  <a:schemeClr val="tx2"/>
                </a:solidFill>
              </a:rPr>
              <a:t>B. </a:t>
            </a:r>
            <a:r>
              <a:rPr lang="en-US" sz="2400" dirty="0"/>
              <a:t>2</a:t>
            </a:r>
          </a:p>
        </p:txBody>
      </p:sp>
      <p:pic>
        <p:nvPicPr>
          <p:cNvPr id="28" name="Picture 27" descr="Check mark">
            <a:extLst>
              <a:ext uri="{FF2B5EF4-FFF2-40B4-BE49-F238E27FC236}">
                <a16:creationId xmlns:a16="http://schemas.microsoft.com/office/drawing/2014/main" id="{CA092C62-FC0B-66D5-A218-D74E583A7235}"/>
              </a:ext>
            </a:extLst>
          </p:cNvPr>
          <p:cNvPicPr>
            <a:picLocks noChangeAspect="1"/>
          </p:cNvPicPr>
          <p:nvPr/>
        </p:nvPicPr>
        <p:blipFill>
          <a:blip r:embed="rId4"/>
          <a:stretch>
            <a:fillRect/>
          </a:stretch>
        </p:blipFill>
        <p:spPr>
          <a:xfrm>
            <a:off x="989057" y="5425035"/>
            <a:ext cx="312822" cy="312822"/>
          </a:xfrm>
          <a:prstGeom prst="rect">
            <a:avLst/>
          </a:prstGeom>
        </p:spPr>
      </p:pic>
      <p:sp>
        <p:nvSpPr>
          <p:cNvPr id="7" name="Content Placeholder 6">
            <a:extLst>
              <a:ext uri="{FF2B5EF4-FFF2-40B4-BE49-F238E27FC236}">
                <a16:creationId xmlns:a16="http://schemas.microsoft.com/office/drawing/2014/main" id="{7B70D796-4151-4B68-C0FF-8A1C29861B61}"/>
              </a:ext>
            </a:extLst>
          </p:cNvPr>
          <p:cNvSpPr>
            <a:spLocks noGrp="1"/>
          </p:cNvSpPr>
          <p:nvPr>
            <p:ph sz="quarter" idx="16"/>
          </p:nvPr>
        </p:nvSpPr>
        <p:spPr>
          <a:xfrm>
            <a:off x="1465566" y="5378605"/>
            <a:ext cx="617758" cy="405683"/>
          </a:xfrm>
        </p:spPr>
        <p:txBody>
          <a:bodyPr wrap="square" lIns="0" tIns="18000" rIns="0" bIns="18000" anchor="ctr" anchorCtr="0">
            <a:spAutoFit/>
          </a:bodyPr>
          <a:lstStyle/>
          <a:p>
            <a:pPr marL="0" indent="0">
              <a:buNone/>
            </a:pPr>
            <a:r>
              <a:rPr lang="en-US" altLang="en-US" sz="2400" noProof="0" dirty="0">
                <a:solidFill>
                  <a:schemeClr val="tx2"/>
                </a:solidFill>
              </a:rPr>
              <a:t>C.</a:t>
            </a:r>
            <a:r>
              <a:rPr lang="en-US" altLang="en-US" sz="2400" noProof="0" dirty="0"/>
              <a:t> </a:t>
            </a:r>
            <a:r>
              <a:rPr lang="en-US" sz="2400" dirty="0"/>
              <a:t>1</a:t>
            </a:r>
          </a:p>
        </p:txBody>
      </p:sp>
      <p:pic>
        <p:nvPicPr>
          <p:cNvPr id="31" name="Picture 30" descr="Cross mark">
            <a:extLst>
              <a:ext uri="{FF2B5EF4-FFF2-40B4-BE49-F238E27FC236}">
                <a16:creationId xmlns:a16="http://schemas.microsoft.com/office/drawing/2014/main" id="{87F4CBA1-AC7A-D7EA-F137-D7545C199F0A}"/>
              </a:ext>
            </a:extLst>
          </p:cNvPr>
          <p:cNvPicPr>
            <a:picLocks noChangeAspect="1"/>
          </p:cNvPicPr>
          <p:nvPr/>
        </p:nvPicPr>
        <p:blipFill>
          <a:blip r:embed="rId3"/>
          <a:stretch>
            <a:fillRect/>
          </a:stretch>
        </p:blipFill>
        <p:spPr>
          <a:xfrm>
            <a:off x="1016060" y="5930269"/>
            <a:ext cx="269028" cy="269028"/>
          </a:xfrm>
          <a:prstGeom prst="rect">
            <a:avLst/>
          </a:prstGeom>
        </p:spPr>
      </p:pic>
      <p:sp>
        <p:nvSpPr>
          <p:cNvPr id="8" name="Content Placeholder 7">
            <a:extLst>
              <a:ext uri="{FF2B5EF4-FFF2-40B4-BE49-F238E27FC236}">
                <a16:creationId xmlns:a16="http://schemas.microsoft.com/office/drawing/2014/main" id="{F1279375-ECBD-DC66-0A74-B9F6EB870800}"/>
              </a:ext>
            </a:extLst>
          </p:cNvPr>
          <p:cNvSpPr>
            <a:spLocks noGrp="1"/>
          </p:cNvSpPr>
          <p:nvPr>
            <p:ph sz="quarter" idx="17"/>
          </p:nvPr>
        </p:nvSpPr>
        <p:spPr>
          <a:xfrm>
            <a:off x="1465564" y="5865038"/>
            <a:ext cx="617759" cy="405683"/>
          </a:xfrm>
        </p:spPr>
        <p:txBody>
          <a:bodyPr wrap="square" lIns="0" tIns="18000" rIns="0" bIns="18000" anchor="ctr" anchorCtr="0">
            <a:spAutoFit/>
          </a:bodyPr>
          <a:lstStyle/>
          <a:p>
            <a:pPr marL="0" indent="0">
              <a:buNone/>
            </a:pPr>
            <a:r>
              <a:rPr lang="en-US" sz="2400" noProof="0" dirty="0">
                <a:solidFill>
                  <a:schemeClr val="tx2"/>
                </a:solidFill>
              </a:rPr>
              <a:t>D.</a:t>
            </a:r>
            <a:r>
              <a:rPr lang="en-US" sz="2400" noProof="0" dirty="0"/>
              <a:t> </a:t>
            </a:r>
            <a:r>
              <a:rPr lang="en-US" sz="2400" dirty="0"/>
              <a:t>0</a:t>
            </a:r>
            <a:endParaRPr lang="en-US" sz="2400" noProof="0" dirty="0"/>
          </a:p>
        </p:txBody>
      </p:sp>
    </p:spTree>
    <p:extLst>
      <p:ext uri="{BB962C8B-B14F-4D97-AF65-F5344CB8AC3E}">
        <p14:creationId xmlns:p14="http://schemas.microsoft.com/office/powerpoint/2010/main" val="698722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197243"/>
            <a:ext cx="8240620" cy="1144347"/>
          </a:xfrm>
        </p:spPr>
        <p:txBody>
          <a:bodyPr wrap="square" tIns="18000" bIns="18000" anchor="ctr" anchorCtr="0">
            <a:spAutoFit/>
          </a:bodyPr>
          <a:lstStyle/>
          <a:p>
            <a:r>
              <a:rPr lang="en-US" dirty="0"/>
              <a:t>Chapter 4 – techniques of circuit analysis </a:t>
            </a:r>
            <a:r>
              <a:rPr lang="en-US" sz="2800" dirty="0"/>
              <a:t>(4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572985"/>
            <a:ext cx="608987" cy="405683"/>
          </a:xfrm>
        </p:spPr>
        <p:txBody>
          <a:bodyPr wrap="square" lIns="0" tIns="18000" rIns="0" bIns="18000" anchor="ctr" anchorCtr="0">
            <a:spAutoFit/>
          </a:bodyPr>
          <a:lstStyle/>
          <a:p>
            <a:pPr marL="0" indent="0">
              <a:buNone/>
            </a:pPr>
            <a:r>
              <a:rPr lang="en-US" altLang="en-US" sz="2400" dirty="0"/>
              <a:t>Find</a:t>
            </a:r>
            <a:endParaRPr lang="en-US" sz="2400" dirty="0"/>
          </a:p>
        </p:txBody>
      </p:sp>
      <p:graphicFrame>
        <p:nvGraphicFramePr>
          <p:cNvPr id="19" name="Object 18" descr="i subscript a.&#10;">
            <a:extLst>
              <a:ext uri="{FF2B5EF4-FFF2-40B4-BE49-F238E27FC236}">
                <a16:creationId xmlns:a16="http://schemas.microsoft.com/office/drawing/2014/main" id="{1B1232BB-2817-4ECD-92BD-AB7EBF2C703A}"/>
              </a:ext>
            </a:extLst>
          </p:cNvPr>
          <p:cNvGraphicFramePr>
            <a:graphicFrameLocks noChangeAspect="1"/>
          </p:cNvGraphicFramePr>
          <p:nvPr>
            <p:extLst>
              <p:ext uri="{D42A27DB-BD31-4B8C-83A1-F6EECF244321}">
                <p14:modId xmlns:p14="http://schemas.microsoft.com/office/powerpoint/2010/main" val="984383880"/>
              </p:ext>
            </p:extLst>
          </p:nvPr>
        </p:nvGraphicFramePr>
        <p:xfrm>
          <a:off x="1125654" y="1591065"/>
          <a:ext cx="258763" cy="422275"/>
        </p:xfrm>
        <a:graphic>
          <a:graphicData uri="http://schemas.openxmlformats.org/presentationml/2006/ole">
            <mc:AlternateContent xmlns:mc="http://schemas.openxmlformats.org/markup-compatibility/2006">
              <mc:Choice xmlns:v="urn:schemas-microsoft-com:vml" Requires="v">
                <p:oleObj name="Equation" r:id="rId2" imgW="139680" imgH="228600" progId="Equation.DSMT4">
                  <p:embed/>
                </p:oleObj>
              </mc:Choice>
              <mc:Fallback>
                <p:oleObj name="Equation" r:id="rId2" imgW="139680" imgH="228600" progId="Equation.DSMT4">
                  <p:embed/>
                  <p:pic>
                    <p:nvPicPr>
                      <p:cNvPr id="9" name="Object 8"/>
                      <p:cNvPicPr>
                        <a:picLocks noChangeAspect="1" noChangeArrowheads="1"/>
                      </p:cNvPicPr>
                      <p:nvPr/>
                    </p:nvPicPr>
                    <p:blipFill>
                      <a:blip r:embed="rId3"/>
                      <a:srcRect/>
                      <a:stretch>
                        <a:fillRect/>
                      </a:stretch>
                    </p:blipFill>
                    <p:spPr bwMode="auto">
                      <a:xfrm>
                        <a:off x="1125654" y="1591065"/>
                        <a:ext cx="258763"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EFD5BDFA-FF4A-4346-98BB-72126F337E79}"/>
              </a:ext>
            </a:extLst>
          </p:cNvPr>
          <p:cNvSpPr>
            <a:spLocks noGrp="1"/>
          </p:cNvSpPr>
          <p:nvPr>
            <p:ph sz="quarter" idx="14"/>
          </p:nvPr>
        </p:nvSpPr>
        <p:spPr>
          <a:xfrm>
            <a:off x="1475293" y="1581927"/>
            <a:ext cx="7195632" cy="405683"/>
          </a:xfrm>
        </p:spPr>
        <p:txBody>
          <a:bodyPr wrap="square" lIns="0" tIns="18000" rIns="0" bIns="18000" anchor="ctr" anchorCtr="0">
            <a:spAutoFit/>
          </a:bodyPr>
          <a:lstStyle/>
          <a:p>
            <a:pPr marL="0" indent="0">
              <a:spcBef>
                <a:spcPts val="600"/>
              </a:spcBef>
              <a:buNone/>
            </a:pPr>
            <a:r>
              <a:rPr lang="en-US" altLang="en-US" sz="2400" dirty="0"/>
              <a:t>using the mesh current method.</a:t>
            </a:r>
            <a:endParaRPr lang="en-US" sz="2400" dirty="0"/>
          </a:p>
        </p:txBody>
      </p:sp>
      <p:pic>
        <p:nvPicPr>
          <p:cNvPr id="18" name="Picture 17"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10;">
            <a:extLst>
              <a:ext uri="{FF2B5EF4-FFF2-40B4-BE49-F238E27FC236}">
                <a16:creationId xmlns:a16="http://schemas.microsoft.com/office/drawing/2014/main" id="{03578C3F-2A0C-4C0B-A544-6298D4007AC3}"/>
              </a:ext>
            </a:extLst>
          </p:cNvPr>
          <p:cNvPicPr>
            <a:picLocks noChangeAspect="1"/>
          </p:cNvPicPr>
          <p:nvPr/>
        </p:nvPicPr>
        <p:blipFill>
          <a:blip r:embed="rId4"/>
          <a:stretch>
            <a:fillRect/>
          </a:stretch>
        </p:blipFill>
        <p:spPr>
          <a:xfrm>
            <a:off x="2998460" y="2166673"/>
            <a:ext cx="3147078" cy="1638529"/>
          </a:xfrm>
          <a:prstGeom prst="rect">
            <a:avLst/>
          </a:prstGeom>
        </p:spPr>
      </p:pic>
      <p:sp>
        <p:nvSpPr>
          <p:cNvPr id="16" name="Content Placeholder 15">
            <a:extLst>
              <a:ext uri="{FF2B5EF4-FFF2-40B4-BE49-F238E27FC236}">
                <a16:creationId xmlns:a16="http://schemas.microsoft.com/office/drawing/2014/main" id="{F963EE68-FE61-4F46-B990-3FFAC50886B4}"/>
              </a:ext>
            </a:extLst>
          </p:cNvPr>
          <p:cNvSpPr>
            <a:spLocks noGrp="1"/>
          </p:cNvSpPr>
          <p:nvPr>
            <p:ph sz="quarter" idx="17"/>
          </p:nvPr>
        </p:nvSpPr>
        <p:spPr>
          <a:xfrm>
            <a:off x="428625" y="4044884"/>
            <a:ext cx="8240620" cy="405683"/>
          </a:xfrm>
        </p:spPr>
        <p:txBody>
          <a:bodyPr wrap="square" lIns="0" tIns="18000" rIns="0" bIns="18000" anchor="ctr" anchorCtr="0">
            <a:spAutoFit/>
          </a:bodyPr>
          <a:lstStyle/>
          <a:p>
            <a:pPr marL="0" indent="0">
              <a:spcBef>
                <a:spcPts val="600"/>
              </a:spcBef>
              <a:buNone/>
            </a:pPr>
            <a:r>
              <a:rPr lang="en-US" sz="2400" dirty="0"/>
              <a:t>After Steps 1 and 2:</a:t>
            </a:r>
          </a:p>
        </p:txBody>
      </p:sp>
      <p:pic>
        <p:nvPicPr>
          <p:cNvPr id="5" name="Picture 4"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A current of minus 10 amperes flows clockwise through the upper part of the circuit through the independent current source of 10 ampere capacity. A current of 2v subscript theta divided by 5 amperes flows clockwise through the lower right part of the circuit through the 1 ohm resistor and the voltage controlled current source 2v subscript theta divided by 5. &#10;">
            <a:extLst>
              <a:ext uri="{FF2B5EF4-FFF2-40B4-BE49-F238E27FC236}">
                <a16:creationId xmlns:a16="http://schemas.microsoft.com/office/drawing/2014/main" id="{8DB864F2-BD32-49A0-9718-EA52A5980A17}"/>
              </a:ext>
            </a:extLst>
          </p:cNvPr>
          <p:cNvPicPr>
            <a:picLocks noChangeAspect="1"/>
          </p:cNvPicPr>
          <p:nvPr/>
        </p:nvPicPr>
        <p:blipFill>
          <a:blip r:embed="rId5"/>
          <a:stretch>
            <a:fillRect/>
          </a:stretch>
        </p:blipFill>
        <p:spPr>
          <a:xfrm>
            <a:off x="3318715" y="4612592"/>
            <a:ext cx="2544276" cy="1496633"/>
          </a:xfrm>
          <a:prstGeom prst="rect">
            <a:avLst/>
          </a:prstGeom>
        </p:spPr>
      </p:pic>
    </p:spTree>
    <p:extLst>
      <p:ext uri="{BB962C8B-B14F-4D97-AF65-F5344CB8AC3E}">
        <p14:creationId xmlns:p14="http://schemas.microsoft.com/office/powerpoint/2010/main" val="3372308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(5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8" y="1469288"/>
            <a:ext cx="637134" cy="405683"/>
          </a:xfrm>
        </p:spPr>
        <p:txBody>
          <a:bodyPr wrap="square" lIns="0" tIns="18000" rIns="0" bIns="18000" anchor="ctr" anchorCtr="0">
            <a:spAutoFit/>
          </a:bodyPr>
          <a:lstStyle/>
          <a:p>
            <a:pPr marL="0" indent="0">
              <a:buNone/>
            </a:pPr>
            <a:r>
              <a:rPr lang="en-US" altLang="en-US" sz="2400" dirty="0"/>
              <a:t>Find</a:t>
            </a:r>
            <a:endParaRPr lang="en-US" sz="2400" dirty="0"/>
          </a:p>
        </p:txBody>
      </p:sp>
      <p:graphicFrame>
        <p:nvGraphicFramePr>
          <p:cNvPr id="19" name="Object 18" descr="i subscript a.&#10;">
            <a:extLst>
              <a:ext uri="{FF2B5EF4-FFF2-40B4-BE49-F238E27FC236}">
                <a16:creationId xmlns:a16="http://schemas.microsoft.com/office/drawing/2014/main" id="{1B1232BB-2817-4ECD-92BD-AB7EBF2C703A}"/>
              </a:ext>
            </a:extLst>
          </p:cNvPr>
          <p:cNvGraphicFramePr>
            <a:graphicFrameLocks noChangeAspect="1"/>
          </p:cNvGraphicFramePr>
          <p:nvPr>
            <p:extLst>
              <p:ext uri="{D42A27DB-BD31-4B8C-83A1-F6EECF244321}">
                <p14:modId xmlns:p14="http://schemas.microsoft.com/office/powerpoint/2010/main" val="2257317831"/>
              </p:ext>
            </p:extLst>
          </p:nvPr>
        </p:nvGraphicFramePr>
        <p:xfrm>
          <a:off x="1154921" y="1458211"/>
          <a:ext cx="294498" cy="480589"/>
        </p:xfrm>
        <a:graphic>
          <a:graphicData uri="http://schemas.openxmlformats.org/presentationml/2006/ole">
            <mc:AlternateContent xmlns:mc="http://schemas.openxmlformats.org/markup-compatibility/2006">
              <mc:Choice xmlns:v="urn:schemas-microsoft-com:vml" Requires="v">
                <p:oleObj name="Equation" r:id="rId3" imgW="139680" imgH="228600" progId="Equation.DSMT4">
                  <p:embed/>
                </p:oleObj>
              </mc:Choice>
              <mc:Fallback>
                <p:oleObj name="Equation" r:id="rId3" imgW="139680" imgH="228600" progId="Equation.DSMT4">
                  <p:embed/>
                  <p:pic>
                    <p:nvPicPr>
                      <p:cNvPr id="19" name="Object 18">
                        <a:extLst>
                          <a:ext uri="{FF2B5EF4-FFF2-40B4-BE49-F238E27FC236}">
                            <a16:creationId xmlns:a16="http://schemas.microsoft.com/office/drawing/2014/main" id="{1B1232BB-2817-4ECD-92BD-AB7EBF2C703A}"/>
                          </a:ext>
                        </a:extLst>
                      </p:cNvPr>
                      <p:cNvPicPr>
                        <a:picLocks noChangeAspect="1" noChangeArrowheads="1"/>
                      </p:cNvPicPr>
                      <p:nvPr/>
                    </p:nvPicPr>
                    <p:blipFill>
                      <a:blip r:embed="rId4"/>
                      <a:srcRect/>
                      <a:stretch>
                        <a:fillRect/>
                      </a:stretch>
                    </p:blipFill>
                    <p:spPr bwMode="auto">
                      <a:xfrm>
                        <a:off x="1154921" y="1458211"/>
                        <a:ext cx="294498" cy="480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EFD5BDFA-FF4A-4346-98BB-72126F337E79}"/>
              </a:ext>
            </a:extLst>
          </p:cNvPr>
          <p:cNvSpPr>
            <a:spLocks noGrp="1"/>
          </p:cNvSpPr>
          <p:nvPr>
            <p:ph sz="quarter" idx="14"/>
          </p:nvPr>
        </p:nvSpPr>
        <p:spPr>
          <a:xfrm>
            <a:off x="1541280" y="1478230"/>
            <a:ext cx="7129743" cy="405683"/>
          </a:xfrm>
        </p:spPr>
        <p:txBody>
          <a:bodyPr wrap="square" lIns="0" tIns="18000" rIns="0" bIns="18000" anchor="ctr" anchorCtr="0">
            <a:spAutoFit/>
          </a:bodyPr>
          <a:lstStyle/>
          <a:p>
            <a:pPr marL="0" indent="0">
              <a:spcBef>
                <a:spcPts val="600"/>
              </a:spcBef>
              <a:buNone/>
            </a:pPr>
            <a:r>
              <a:rPr lang="en-US" altLang="en-US" sz="2400" dirty="0"/>
              <a:t>using the mesh current method.</a:t>
            </a:r>
            <a:endParaRPr lang="en-US" sz="2400" dirty="0"/>
          </a:p>
        </p:txBody>
      </p:sp>
      <p:sp>
        <p:nvSpPr>
          <p:cNvPr id="16" name="Content Placeholder 15">
            <a:extLst>
              <a:ext uri="{FF2B5EF4-FFF2-40B4-BE49-F238E27FC236}">
                <a16:creationId xmlns:a16="http://schemas.microsoft.com/office/drawing/2014/main" id="{F963EE68-FE61-4F46-B990-3FFAC50886B4}"/>
              </a:ext>
            </a:extLst>
          </p:cNvPr>
          <p:cNvSpPr>
            <a:spLocks noGrp="1"/>
          </p:cNvSpPr>
          <p:nvPr>
            <p:ph sz="quarter" idx="17"/>
          </p:nvPr>
        </p:nvSpPr>
        <p:spPr>
          <a:xfrm>
            <a:off x="428919" y="2095712"/>
            <a:ext cx="4143081" cy="1513679"/>
          </a:xfrm>
        </p:spPr>
        <p:txBody>
          <a:bodyPr wrap="square" lIns="0" tIns="18000" rIns="0" bIns="18000" anchor="ctr" anchorCtr="0">
            <a:spAutoFit/>
          </a:bodyPr>
          <a:lstStyle/>
          <a:p>
            <a:pPr marL="0" indent="0">
              <a:spcBef>
                <a:spcPts val="600"/>
              </a:spcBef>
              <a:buNone/>
            </a:pPr>
            <a:r>
              <a:rPr lang="en-US" sz="2400" dirty="0"/>
              <a:t>Write the </a:t>
            </a:r>
            <a:r>
              <a:rPr lang="en-US" sz="2400" spc="-300" dirty="0"/>
              <a:t>K V </a:t>
            </a:r>
            <a:r>
              <a:rPr lang="en-US" sz="2400" dirty="0"/>
              <a:t>L equations and dependent source constraint equations (Step 3) and solve them (Step 4):</a:t>
            </a:r>
          </a:p>
        </p:txBody>
      </p:sp>
      <p:pic>
        <p:nvPicPr>
          <p:cNvPr id="6" name="Picture 5"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Current i subscript a flows clockwise through the lower left part of the circuit through the 2-ohm resistor in the second wire from top and the 5-ohm resistor parallel to the 75 volt independent voltage source. Voltage v subscript theta develops across the 5-ohm resistor with positive polarity at the top node and negative at the bottom. A current of minus 10 amperes flows clockwise through the upper part of the circuit through the independent current source of 10 ampere capacity. A current of 2v subscript theta divided by 5 amperes flows clockwise through the lower right part of the circuit through the 1 ohm resistor and the voltage controlled current source 2v subscript theta divided by 5. &#10;">
            <a:extLst>
              <a:ext uri="{FF2B5EF4-FFF2-40B4-BE49-F238E27FC236}">
                <a16:creationId xmlns:a16="http://schemas.microsoft.com/office/drawing/2014/main" id="{9C59EAD9-6851-429C-8CC8-28801CD9EAF7}"/>
              </a:ext>
            </a:extLst>
          </p:cNvPr>
          <p:cNvPicPr>
            <a:picLocks noChangeAspect="1"/>
          </p:cNvPicPr>
          <p:nvPr/>
        </p:nvPicPr>
        <p:blipFill>
          <a:blip r:embed="rId5"/>
          <a:stretch>
            <a:fillRect/>
          </a:stretch>
        </p:blipFill>
        <p:spPr>
          <a:xfrm>
            <a:off x="5401805" y="1996704"/>
            <a:ext cx="2715214" cy="1597185"/>
          </a:xfrm>
          <a:prstGeom prst="rect">
            <a:avLst/>
          </a:prstGeom>
        </p:spPr>
      </p:pic>
      <p:graphicFrame>
        <p:nvGraphicFramePr>
          <p:cNvPr id="11" name="Object 10" descr="The figure illustrates an equation for i subscript a mesh.&#10;Long description 1 is available in notes, press F6.">
            <a:extLst>
              <a:ext uri="{FF2B5EF4-FFF2-40B4-BE49-F238E27FC236}">
                <a16:creationId xmlns:a16="http://schemas.microsoft.com/office/drawing/2014/main" id="{07C5171F-ECB7-4732-B8AB-25D19CD5AE61}"/>
              </a:ext>
            </a:extLst>
          </p:cNvPr>
          <p:cNvGraphicFramePr>
            <a:graphicFrameLocks noChangeAspect="1"/>
          </p:cNvGraphicFramePr>
          <p:nvPr>
            <p:extLst>
              <p:ext uri="{D42A27DB-BD31-4B8C-83A1-F6EECF244321}">
                <p14:modId xmlns:p14="http://schemas.microsoft.com/office/powerpoint/2010/main" val="635015151"/>
              </p:ext>
            </p:extLst>
          </p:nvPr>
        </p:nvGraphicFramePr>
        <p:xfrm>
          <a:off x="2525713" y="3711818"/>
          <a:ext cx="4117975" cy="677862"/>
        </p:xfrm>
        <a:graphic>
          <a:graphicData uri="http://schemas.openxmlformats.org/presentationml/2006/ole">
            <mc:AlternateContent xmlns:mc="http://schemas.openxmlformats.org/markup-compatibility/2006">
              <mc:Choice xmlns:v="urn:schemas-microsoft-com:vml" Requires="v">
                <p:oleObj name="Equation" r:id="rId6" imgW="3085920" imgH="507960" progId="Equation.DSMT4">
                  <p:embed/>
                </p:oleObj>
              </mc:Choice>
              <mc:Fallback>
                <p:oleObj name="Equation" r:id="rId6" imgW="3085920" imgH="507960" progId="Equation.DSMT4">
                  <p:embed/>
                  <p:pic>
                    <p:nvPicPr>
                      <p:cNvPr id="4" name="Object 3"/>
                      <p:cNvPicPr>
                        <a:picLocks noChangeAspect="1" noChangeArrowheads="1"/>
                      </p:cNvPicPr>
                      <p:nvPr/>
                    </p:nvPicPr>
                    <p:blipFill>
                      <a:blip r:embed="rId7"/>
                      <a:srcRect/>
                      <a:stretch>
                        <a:fillRect/>
                      </a:stretch>
                    </p:blipFill>
                    <p:spPr bwMode="auto">
                      <a:xfrm>
                        <a:off x="2525713" y="3711818"/>
                        <a:ext cx="4117975" cy="67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3" descr="Constraint: v subscript Phi BaseLine equals 5 OpenParenthesis i subscript a BaseLine minus StartFraction 2 v subscript Phi BaseLine over 5 EndFraction CloseParenthesis.&#10;">
            <a:extLst>
              <a:ext uri="{FF2B5EF4-FFF2-40B4-BE49-F238E27FC236}">
                <a16:creationId xmlns:a16="http://schemas.microsoft.com/office/drawing/2014/main" id="{36A2F63F-5759-458B-B936-B21F862B9F4B}"/>
              </a:ext>
            </a:extLst>
          </p:cNvPr>
          <p:cNvGraphicFramePr>
            <a:graphicFrameLocks noChangeAspect="1"/>
          </p:cNvGraphicFramePr>
          <p:nvPr>
            <p:extLst>
              <p:ext uri="{D42A27DB-BD31-4B8C-83A1-F6EECF244321}">
                <p14:modId xmlns:p14="http://schemas.microsoft.com/office/powerpoint/2010/main" val="4146654959"/>
              </p:ext>
            </p:extLst>
          </p:nvPr>
        </p:nvGraphicFramePr>
        <p:xfrm>
          <a:off x="2522373" y="4433139"/>
          <a:ext cx="2541587" cy="677862"/>
        </p:xfrm>
        <a:graphic>
          <a:graphicData uri="http://schemas.openxmlformats.org/presentationml/2006/ole">
            <mc:AlternateContent xmlns:mc="http://schemas.openxmlformats.org/markup-compatibility/2006">
              <mc:Choice xmlns:v="urn:schemas-microsoft-com:vml" Requires="v">
                <p:oleObj name="Equation" r:id="rId8" imgW="1904760" imgH="507960" progId="Equation.DSMT4">
                  <p:embed/>
                </p:oleObj>
              </mc:Choice>
              <mc:Fallback>
                <p:oleObj name="Equation" r:id="rId8" imgW="1904760" imgH="507960" progId="Equation.DSMT4">
                  <p:embed/>
                  <p:pic>
                    <p:nvPicPr>
                      <p:cNvPr id="11" name="Object 10">
                        <a:extLst>
                          <a:ext uri="{FF2B5EF4-FFF2-40B4-BE49-F238E27FC236}">
                            <a16:creationId xmlns:a16="http://schemas.microsoft.com/office/drawing/2014/main" id="{07C5171F-ECB7-4732-B8AB-25D19CD5AE61}"/>
                          </a:ext>
                        </a:extLst>
                      </p:cNvPr>
                      <p:cNvPicPr>
                        <a:picLocks noChangeAspect="1" noChangeArrowheads="1"/>
                      </p:cNvPicPr>
                      <p:nvPr/>
                    </p:nvPicPr>
                    <p:blipFill>
                      <a:blip r:embed="rId9"/>
                      <a:srcRect/>
                      <a:stretch>
                        <a:fillRect/>
                      </a:stretch>
                    </p:blipFill>
                    <p:spPr bwMode="auto">
                      <a:xfrm>
                        <a:off x="2522373" y="4433139"/>
                        <a:ext cx="2541587" cy="67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4" descr="The figure illustrates the standard form of an equation.&#10;Long description 2 is available in notes, press F6.">
            <a:extLst>
              <a:ext uri="{FF2B5EF4-FFF2-40B4-BE49-F238E27FC236}">
                <a16:creationId xmlns:a16="http://schemas.microsoft.com/office/drawing/2014/main" id="{731D7069-69D6-4DCF-A977-BDA76A7124DE}"/>
              </a:ext>
            </a:extLst>
          </p:cNvPr>
          <p:cNvGraphicFramePr>
            <a:graphicFrameLocks noChangeAspect="1"/>
          </p:cNvGraphicFramePr>
          <p:nvPr>
            <p:extLst>
              <p:ext uri="{D42A27DB-BD31-4B8C-83A1-F6EECF244321}">
                <p14:modId xmlns:p14="http://schemas.microsoft.com/office/powerpoint/2010/main" val="2419970085"/>
              </p:ext>
            </p:extLst>
          </p:nvPr>
        </p:nvGraphicFramePr>
        <p:xfrm>
          <a:off x="2525062" y="5194011"/>
          <a:ext cx="4049713" cy="677863"/>
        </p:xfrm>
        <a:graphic>
          <a:graphicData uri="http://schemas.openxmlformats.org/presentationml/2006/ole">
            <mc:AlternateContent xmlns:mc="http://schemas.openxmlformats.org/markup-compatibility/2006">
              <mc:Choice xmlns:v="urn:schemas-microsoft-com:vml" Requires="v">
                <p:oleObj name="Equation" r:id="rId10" imgW="3035160" imgH="507960" progId="Equation.DSMT4">
                  <p:embed/>
                </p:oleObj>
              </mc:Choice>
              <mc:Fallback>
                <p:oleObj name="Equation" r:id="rId10" imgW="3035160" imgH="507960" progId="Equation.DSMT4">
                  <p:embed/>
                  <p:pic>
                    <p:nvPicPr>
                      <p:cNvPr id="13" name="Object 12">
                        <a:extLst>
                          <a:ext uri="{FF2B5EF4-FFF2-40B4-BE49-F238E27FC236}">
                            <a16:creationId xmlns:a16="http://schemas.microsoft.com/office/drawing/2014/main" id="{50B87EB2-5325-4B7F-8FA7-F5DBF497CF6A}"/>
                          </a:ext>
                        </a:extLst>
                      </p:cNvPr>
                      <p:cNvPicPr>
                        <a:picLocks noChangeAspect="1" noChangeArrowheads="1"/>
                      </p:cNvPicPr>
                      <p:nvPr/>
                    </p:nvPicPr>
                    <p:blipFill>
                      <a:blip r:embed="rId11"/>
                      <a:srcRect/>
                      <a:stretch>
                        <a:fillRect/>
                      </a:stretch>
                    </p:blipFill>
                    <p:spPr bwMode="auto">
                      <a:xfrm>
                        <a:off x="2525062" y="5194011"/>
                        <a:ext cx="4049713"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2" descr="Solving: i subscript a BaseLine equals 15 Amperes; v subscript Phi BaseLine equals 25 Volts.&#10;">
            <a:extLst>
              <a:ext uri="{FF2B5EF4-FFF2-40B4-BE49-F238E27FC236}">
                <a16:creationId xmlns:a16="http://schemas.microsoft.com/office/drawing/2014/main" id="{50B87EB2-5325-4B7F-8FA7-F5DBF497CF6A}"/>
              </a:ext>
            </a:extLst>
          </p:cNvPr>
          <p:cNvGraphicFramePr>
            <a:graphicFrameLocks noChangeAspect="1"/>
          </p:cNvGraphicFramePr>
          <p:nvPr>
            <p:extLst>
              <p:ext uri="{D42A27DB-BD31-4B8C-83A1-F6EECF244321}">
                <p14:modId xmlns:p14="http://schemas.microsoft.com/office/powerpoint/2010/main" val="3595273107"/>
              </p:ext>
            </p:extLst>
          </p:nvPr>
        </p:nvGraphicFramePr>
        <p:xfrm>
          <a:off x="2525062" y="5954163"/>
          <a:ext cx="2797175" cy="322262"/>
        </p:xfrm>
        <a:graphic>
          <a:graphicData uri="http://schemas.openxmlformats.org/presentationml/2006/ole">
            <mc:AlternateContent xmlns:mc="http://schemas.openxmlformats.org/markup-compatibility/2006">
              <mc:Choice xmlns:v="urn:schemas-microsoft-com:vml" Requires="v">
                <p:oleObj name="Equation" r:id="rId12" imgW="2095200" imgH="241200" progId="Equation.DSMT4">
                  <p:embed/>
                </p:oleObj>
              </mc:Choice>
              <mc:Fallback>
                <p:oleObj name="Equation" r:id="rId12" imgW="2095200" imgH="241200" progId="Equation.DSMT4">
                  <p:embed/>
                  <p:pic>
                    <p:nvPicPr>
                      <p:cNvPr id="11" name="Object 10">
                        <a:extLst>
                          <a:ext uri="{FF2B5EF4-FFF2-40B4-BE49-F238E27FC236}">
                            <a16:creationId xmlns:a16="http://schemas.microsoft.com/office/drawing/2014/main" id="{07C5171F-ECB7-4732-B8AB-25D19CD5AE61}"/>
                          </a:ext>
                        </a:extLst>
                      </p:cNvPr>
                      <p:cNvPicPr>
                        <a:picLocks noChangeAspect="1" noChangeArrowheads="1"/>
                      </p:cNvPicPr>
                      <p:nvPr/>
                    </p:nvPicPr>
                    <p:blipFill>
                      <a:blip r:embed="rId13"/>
                      <a:srcRect/>
                      <a:stretch>
                        <a:fillRect/>
                      </a:stretch>
                    </p:blipFill>
                    <p:spPr bwMode="auto">
                      <a:xfrm>
                        <a:off x="2525062" y="5954163"/>
                        <a:ext cx="2797175" cy="322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88158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(6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610593"/>
            <a:ext cx="8244997" cy="405683"/>
          </a:xfrm>
        </p:spPr>
        <p:txBody>
          <a:bodyPr wrap="square" lIns="0" tIns="18000" rIns="0" bIns="18000" anchor="ctr" anchorCtr="0">
            <a:spAutoFit/>
          </a:bodyPr>
          <a:lstStyle/>
          <a:p>
            <a:pPr marL="0" indent="0">
              <a:buNone/>
            </a:pPr>
            <a:r>
              <a:rPr lang="en-US" altLang="en-US" sz="2400" dirty="0"/>
              <a:t>Power balance:</a:t>
            </a:r>
          </a:p>
        </p:txBody>
      </p:sp>
      <p:graphicFrame>
        <p:nvGraphicFramePr>
          <p:cNvPr id="17" name="Object 16" descr="v subscript 1 BaseLine equals OpenParenthesis negative 10 minus 10 CloseParenthesis divided by 1 equals negative 20 Volts.&#10;">
            <a:extLst>
              <a:ext uri="{FF2B5EF4-FFF2-40B4-BE49-F238E27FC236}">
                <a16:creationId xmlns:a16="http://schemas.microsoft.com/office/drawing/2014/main" id="{942F5460-D818-4856-A79C-3292C4C98328}"/>
              </a:ext>
            </a:extLst>
          </p:cNvPr>
          <p:cNvGraphicFramePr>
            <a:graphicFrameLocks noChangeAspect="1"/>
          </p:cNvGraphicFramePr>
          <p:nvPr>
            <p:extLst>
              <p:ext uri="{D42A27DB-BD31-4B8C-83A1-F6EECF244321}">
                <p14:modId xmlns:p14="http://schemas.microsoft.com/office/powerpoint/2010/main" val="4260572690"/>
              </p:ext>
            </p:extLst>
          </p:nvPr>
        </p:nvGraphicFramePr>
        <p:xfrm>
          <a:off x="425202" y="2154172"/>
          <a:ext cx="3016250" cy="398462"/>
        </p:xfrm>
        <a:graphic>
          <a:graphicData uri="http://schemas.openxmlformats.org/presentationml/2006/ole">
            <mc:AlternateContent xmlns:mc="http://schemas.openxmlformats.org/markup-compatibility/2006">
              <mc:Choice xmlns:v="urn:schemas-microsoft-com:vml" Requires="v">
                <p:oleObj name="Equation" r:id="rId2" imgW="1726920" imgH="228600" progId="Equation.DSMT4">
                  <p:embed/>
                </p:oleObj>
              </mc:Choice>
              <mc:Fallback>
                <p:oleObj name="Equation" r:id="rId2" imgW="1726920" imgH="228600" progId="Equation.DSMT4">
                  <p:embed/>
                  <p:pic>
                    <p:nvPicPr>
                      <p:cNvPr id="4" name="Object 3"/>
                      <p:cNvPicPr>
                        <a:picLocks noChangeAspect="1" noChangeArrowheads="1"/>
                      </p:cNvPicPr>
                      <p:nvPr/>
                    </p:nvPicPr>
                    <p:blipFill>
                      <a:blip r:embed="rId3"/>
                      <a:srcRect/>
                      <a:stretch>
                        <a:fillRect/>
                      </a:stretch>
                    </p:blipFill>
                    <p:spPr bwMode="auto">
                      <a:xfrm>
                        <a:off x="425202" y="2154172"/>
                        <a:ext cx="3016250" cy="39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9" descr="v subscript d s BaseLine equals v subscript 1 BaseLine plus v subscript Phi BaseLine equals negative 20 plus 25 equals 5 Volts.&#10;">
            <a:extLst>
              <a:ext uri="{FF2B5EF4-FFF2-40B4-BE49-F238E27FC236}">
                <a16:creationId xmlns:a16="http://schemas.microsoft.com/office/drawing/2014/main" id="{1FEB72A5-6B82-47E3-89D5-C8DF8DF2AF68}"/>
              </a:ext>
            </a:extLst>
          </p:cNvPr>
          <p:cNvGraphicFramePr>
            <a:graphicFrameLocks noChangeAspect="1"/>
          </p:cNvGraphicFramePr>
          <p:nvPr>
            <p:extLst>
              <p:ext uri="{D42A27DB-BD31-4B8C-83A1-F6EECF244321}">
                <p14:modId xmlns:p14="http://schemas.microsoft.com/office/powerpoint/2010/main" val="3596944492"/>
              </p:ext>
            </p:extLst>
          </p:nvPr>
        </p:nvGraphicFramePr>
        <p:xfrm>
          <a:off x="428360" y="2616462"/>
          <a:ext cx="3392488" cy="422275"/>
        </p:xfrm>
        <a:graphic>
          <a:graphicData uri="http://schemas.openxmlformats.org/presentationml/2006/ole">
            <mc:AlternateContent xmlns:mc="http://schemas.openxmlformats.org/markup-compatibility/2006">
              <mc:Choice xmlns:v="urn:schemas-microsoft-com:vml" Requires="v">
                <p:oleObj name="Equation" r:id="rId4" imgW="1942920" imgH="241200" progId="Equation.DSMT4">
                  <p:embed/>
                </p:oleObj>
              </mc:Choice>
              <mc:Fallback>
                <p:oleObj name="Equation" r:id="rId4" imgW="1942920" imgH="241200" progId="Equation.DSMT4">
                  <p:embed/>
                  <p:pic>
                    <p:nvPicPr>
                      <p:cNvPr id="17" name="Object 16">
                        <a:extLst>
                          <a:ext uri="{FF2B5EF4-FFF2-40B4-BE49-F238E27FC236}">
                            <a16:creationId xmlns:a16="http://schemas.microsoft.com/office/drawing/2014/main" id="{942F5460-D818-4856-A79C-3292C4C98328}"/>
                          </a:ext>
                        </a:extLst>
                      </p:cNvPr>
                      <p:cNvPicPr>
                        <a:picLocks noChangeAspect="1" noChangeArrowheads="1"/>
                      </p:cNvPicPr>
                      <p:nvPr/>
                    </p:nvPicPr>
                    <p:blipFill>
                      <a:blip r:embed="rId5"/>
                      <a:srcRect/>
                      <a:stretch>
                        <a:fillRect/>
                      </a:stretch>
                    </p:blipFill>
                    <p:spPr bwMode="auto">
                      <a:xfrm>
                        <a:off x="428360" y="2616462"/>
                        <a:ext cx="339248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20" descr="v subscript 10 A BaseLine equals 75 minus v subscript d s BaseLine equals 75 minus 5 equals 70 Volts.&#10;">
            <a:extLst>
              <a:ext uri="{FF2B5EF4-FFF2-40B4-BE49-F238E27FC236}">
                <a16:creationId xmlns:a16="http://schemas.microsoft.com/office/drawing/2014/main" id="{29AD89CE-C3A9-4325-934A-05D2E51CB734}"/>
              </a:ext>
            </a:extLst>
          </p:cNvPr>
          <p:cNvGraphicFramePr>
            <a:graphicFrameLocks noChangeAspect="1"/>
          </p:cNvGraphicFramePr>
          <p:nvPr>
            <p:extLst>
              <p:ext uri="{D42A27DB-BD31-4B8C-83A1-F6EECF244321}">
                <p14:modId xmlns:p14="http://schemas.microsoft.com/office/powerpoint/2010/main" val="3552794123"/>
              </p:ext>
            </p:extLst>
          </p:nvPr>
        </p:nvGraphicFramePr>
        <p:xfrm>
          <a:off x="425169" y="3107968"/>
          <a:ext cx="3434578" cy="390611"/>
        </p:xfrm>
        <a:graphic>
          <a:graphicData uri="http://schemas.openxmlformats.org/presentationml/2006/ole">
            <mc:AlternateContent xmlns:mc="http://schemas.openxmlformats.org/markup-compatibility/2006">
              <mc:Choice xmlns:v="urn:schemas-microsoft-com:vml" Requires="v">
                <p:oleObj name="Equation" r:id="rId6" imgW="2006280" imgH="228600" progId="Equation.DSMT4">
                  <p:embed/>
                </p:oleObj>
              </mc:Choice>
              <mc:Fallback>
                <p:oleObj name="Equation" r:id="rId6" imgW="2006280" imgH="228600" progId="Equation.DSMT4">
                  <p:embed/>
                  <p:pic>
                    <p:nvPicPr>
                      <p:cNvPr id="17" name="Object 16">
                        <a:extLst>
                          <a:ext uri="{FF2B5EF4-FFF2-40B4-BE49-F238E27FC236}">
                            <a16:creationId xmlns:a16="http://schemas.microsoft.com/office/drawing/2014/main" id="{942F5460-D818-4856-A79C-3292C4C98328}"/>
                          </a:ext>
                        </a:extLst>
                      </p:cNvPr>
                      <p:cNvPicPr>
                        <a:picLocks noChangeAspect="1" noChangeArrowheads="1"/>
                      </p:cNvPicPr>
                      <p:nvPr/>
                    </p:nvPicPr>
                    <p:blipFill>
                      <a:blip r:embed="rId7"/>
                      <a:srcRect/>
                      <a:stretch>
                        <a:fillRect/>
                      </a:stretch>
                    </p:blipFill>
                    <p:spPr bwMode="auto">
                      <a:xfrm>
                        <a:off x="425169" y="3107968"/>
                        <a:ext cx="3434578" cy="390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 name="Picture 11" descr="A circuit diagram shows a two layered circuit. In the lower part of the circuit, a 75 volt independent voltage source with positive polarity at the top end and negative at the bottom forms the left most wire. Connected in parallel to the 75 volt independent voltage source from left to right in that order are a 5-ohm resistor and a voltage controlled current source 2v subscript theta divided by 5 with the internal arrow pointing downwards. Three nodes are marked where the wires housing the 75 volt independent voltage source, the 5-ohm resistor, and the voltage controlled current source 2v subscript theta divided by 5 connect to the second wire from the top in the circuit. A node is separately marked where the wire housing the 5-ohm resistor connects with the bottom wire in the circuit. A 2-ohm resistor is located between the nodes where the wires housing the 75 volt independent voltage source and the 5-ohm resistor connect to the second wire from top. A 1 ohm resistor is located between the nodes where the wires housing the 5-ohm resistor and the voltage controlled current source 2v subscript theta divided by 5 connect to the second wire from top. &#10;A 10 ampere independent current source with internal arrow pointing leftwards forms the topmost wire in the circuit and is connected to the nodes where the wires housing the 75 volt independent voltage source and the voltage controlled current source 2v subscript theta divided by 5 connect to the second wire from the top. &#10;A 15 ampere current flows clockwise through the lower left part of the circuit through the 2-ohm resistor in the second wire from top and the 5-ohm resistor parallel to the 75 volt independent voltage source. A 25 volts voltage develops across the 5-ohm resistor with positive polarity at the top node and negative at the bottom. A 10 ampere current flows clockwise through the lower right part of the circuit through the 1 ohm resistor and the voltage controlled current source 2v subscript theta divided by 5. Voltage V subscript 1 develops across the 1-ohm resistor with positive polarity at its left end and negative polarity at its right. Voltage V subscript d.s develops across the voltage controlled current source 2v subscript theta divided by 5 with positive polarity at its top end and negative polarity at its bottom. Voltage V subscript 10A develops across the independent current source of 10 ampere capacity with positive polarity at its left end and negative polarity at its right.&#10;">
            <a:extLst>
              <a:ext uri="{FF2B5EF4-FFF2-40B4-BE49-F238E27FC236}">
                <a16:creationId xmlns:a16="http://schemas.microsoft.com/office/drawing/2014/main" id="{D2D9B5BC-424A-4EDB-8431-26B873287B1B}"/>
              </a:ext>
            </a:extLst>
          </p:cNvPr>
          <p:cNvPicPr>
            <a:picLocks noChangeAspect="1"/>
          </p:cNvPicPr>
          <p:nvPr/>
        </p:nvPicPr>
        <p:blipFill>
          <a:blip r:embed="rId8"/>
          <a:stretch>
            <a:fillRect/>
          </a:stretch>
        </p:blipFill>
        <p:spPr>
          <a:xfrm>
            <a:off x="5088914" y="1735612"/>
            <a:ext cx="3193645" cy="1623949"/>
          </a:xfrm>
          <a:prstGeom prst="rect">
            <a:avLst/>
          </a:prstGeom>
        </p:spPr>
      </p:pic>
      <p:graphicFrame>
        <p:nvGraphicFramePr>
          <p:cNvPr id="23" name="Table 22">
            <a:extLst>
              <a:ext uri="{FF2B5EF4-FFF2-40B4-BE49-F238E27FC236}">
                <a16:creationId xmlns:a16="http://schemas.microsoft.com/office/drawing/2014/main" id="{B849B2C0-5FF1-4729-8B89-9902A017BAB2}"/>
              </a:ext>
            </a:extLst>
          </p:cNvPr>
          <p:cNvGraphicFramePr>
            <a:graphicFrameLocks noGrp="1"/>
          </p:cNvGraphicFramePr>
          <p:nvPr>
            <p:extLst>
              <p:ext uri="{D42A27DB-BD31-4B8C-83A1-F6EECF244321}">
                <p14:modId xmlns:p14="http://schemas.microsoft.com/office/powerpoint/2010/main" val="4274841497"/>
              </p:ext>
            </p:extLst>
          </p:nvPr>
        </p:nvGraphicFramePr>
        <p:xfrm>
          <a:off x="1531950" y="3623715"/>
          <a:ext cx="6096000" cy="2700903"/>
        </p:xfrm>
        <a:graphic>
          <a:graphicData uri="http://schemas.openxmlformats.org/drawingml/2006/table">
            <a:tbl>
              <a:tblPr firstRow="1" bandRow="1">
                <a:tableStyleId>{3B4B98B0-60AC-42C2-AFA5-B58CD77FA1E5}</a:tableStyleId>
              </a:tblPr>
              <a:tblGrid>
                <a:gridCol w="2032000">
                  <a:extLst>
                    <a:ext uri="{9D8B030D-6E8A-4147-A177-3AD203B41FA5}">
                      <a16:colId xmlns:a16="http://schemas.microsoft.com/office/drawing/2014/main" val="3097587695"/>
                    </a:ext>
                  </a:extLst>
                </a:gridCol>
                <a:gridCol w="2032000">
                  <a:extLst>
                    <a:ext uri="{9D8B030D-6E8A-4147-A177-3AD203B41FA5}">
                      <a16:colId xmlns:a16="http://schemas.microsoft.com/office/drawing/2014/main" val="2129221224"/>
                    </a:ext>
                  </a:extLst>
                </a:gridCol>
                <a:gridCol w="2032000">
                  <a:extLst>
                    <a:ext uri="{9D8B030D-6E8A-4147-A177-3AD203B41FA5}">
                      <a16:colId xmlns:a16="http://schemas.microsoft.com/office/drawing/2014/main" val="1758662230"/>
                    </a:ext>
                  </a:extLst>
                </a:gridCol>
              </a:tblGrid>
              <a:tr h="367168">
                <a:tc>
                  <a:txBody>
                    <a:bodyPr/>
                    <a:lstStyle/>
                    <a:p>
                      <a:pPr algn="ctr"/>
                      <a:r>
                        <a:rPr lang="en-US" sz="1600" dirty="0">
                          <a:solidFill>
                            <a:schemeClr val="bg1"/>
                          </a:solidFill>
                          <a:latin typeface="Arial" panose="020B0604020202020204" pitchFamily="34" charset="0"/>
                          <a:cs typeface="Arial" panose="020B0604020202020204" pitchFamily="34" charset="0"/>
                        </a:rPr>
                        <a:t>Component</a:t>
                      </a:r>
                    </a:p>
                  </a:txBody>
                  <a:tcPr marT="45267" marB="452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dirty="0">
                          <a:solidFill>
                            <a:schemeClr val="bg1"/>
                          </a:solidFill>
                          <a:latin typeface="Arial" panose="020B0604020202020204" pitchFamily="34" charset="0"/>
                          <a:cs typeface="Arial" panose="020B0604020202020204" pitchFamily="34" charset="0"/>
                        </a:rPr>
                        <a:t>Equation</a:t>
                      </a:r>
                    </a:p>
                  </a:txBody>
                  <a:tcPr marT="45267" marB="452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dirty="0">
                          <a:solidFill>
                            <a:schemeClr val="bg1"/>
                          </a:solidFill>
                          <a:latin typeface="Arial" panose="020B0604020202020204" pitchFamily="34" charset="0"/>
                          <a:cs typeface="Arial" panose="020B0604020202020204" pitchFamily="34" charset="0"/>
                        </a:rPr>
                        <a:t>p [W]</a:t>
                      </a:r>
                    </a:p>
                  </a:txBody>
                  <a:tcPr marT="45267" marB="452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835414851"/>
                  </a:ext>
                </a:extLst>
              </a:tr>
              <a:tr h="367168">
                <a:tc>
                  <a:txBody>
                    <a:bodyPr/>
                    <a:lstStyle/>
                    <a:p>
                      <a:pPr algn="ctr"/>
                      <a:r>
                        <a:rPr lang="en-US" sz="1600" dirty="0">
                          <a:latin typeface="Arial" panose="020B0604020202020204" pitchFamily="34" charset="0"/>
                          <a:cs typeface="Arial" panose="020B0604020202020204" pitchFamily="34" charset="0"/>
                        </a:rPr>
                        <a:t>75 V</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sym typeface="Symbol"/>
                        </a:rPr>
                        <a:t>−(15)(75)</a:t>
                      </a:r>
                      <a:endParaRPr lang="en-US" sz="1600" dirty="0">
                        <a:latin typeface="Arial" panose="020B0604020202020204" pitchFamily="34" charset="0"/>
                        <a:cs typeface="Arial" panose="020B0604020202020204" pitchFamily="34" charset="0"/>
                      </a:endParaRP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sym typeface="Symbol"/>
                        </a:rPr>
                        <a:t>−1125</a:t>
                      </a:r>
                      <a:endParaRPr lang="en-US" sz="1600" dirty="0">
                        <a:latin typeface="Arial" panose="020B0604020202020204" pitchFamily="34" charset="0"/>
                        <a:cs typeface="Arial" panose="020B0604020202020204" pitchFamily="34" charset="0"/>
                      </a:endParaRP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593874984"/>
                  </a:ext>
                </a:extLst>
              </a:tr>
              <a:tr h="367168">
                <a:tc>
                  <a:txBody>
                    <a:bodyPr/>
                    <a:lstStyle/>
                    <a:p>
                      <a:pPr algn="ctr"/>
                      <a:r>
                        <a:rPr lang="en-US" sz="1600" dirty="0">
                          <a:latin typeface="Arial" panose="020B0604020202020204" pitchFamily="34" charset="0"/>
                          <a:cs typeface="Arial" panose="020B0604020202020204" pitchFamily="34" charset="0"/>
                        </a:rPr>
                        <a:t>Dep. source</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rPr>
                        <a:t>(5)(10)</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rPr>
                        <a:t>50</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899630958"/>
                  </a:ext>
                </a:extLst>
              </a:tr>
              <a:tr h="36716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10 A</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sym typeface="Symbol"/>
                        </a:rPr>
                        <a:t>−(70)(10)</a:t>
                      </a:r>
                      <a:endParaRPr lang="en-US" sz="1600" dirty="0">
                        <a:latin typeface="Arial" panose="020B0604020202020204" pitchFamily="34" charset="0"/>
                        <a:cs typeface="Arial" panose="020B0604020202020204" pitchFamily="34" charset="0"/>
                      </a:endParaRP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sym typeface="Symbol"/>
                        </a:rPr>
                        <a:t>−700</a:t>
                      </a:r>
                      <a:endParaRPr lang="en-US" sz="1600" dirty="0">
                        <a:latin typeface="Arial" panose="020B0604020202020204" pitchFamily="34" charset="0"/>
                        <a:cs typeface="Arial" panose="020B0604020202020204" pitchFamily="34" charset="0"/>
                      </a:endParaRP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856575899"/>
                  </a:ext>
                </a:extLst>
              </a:tr>
              <a:tr h="42171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2 Ohms.</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Parenthesis 15 plus 10 Close Parenthesis squared multiplied by Open Parenthesis 2 </a:t>
                      </a:r>
                      <a:r>
                        <a:rPr lang="en-US" sz="100" dirty="0" err="1">
                          <a:latin typeface="Arial" panose="020B0604020202020204" pitchFamily="34" charset="0"/>
                          <a:cs typeface="Arial" panose="020B0604020202020204" pitchFamily="34" charset="0"/>
                        </a:rPr>
                        <a:t>CloseParenthesis</a:t>
                      </a:r>
                      <a:r>
                        <a:rPr lang="en-US" sz="100" dirty="0">
                          <a:latin typeface="Arial" panose="020B0604020202020204" pitchFamily="34" charset="0"/>
                          <a:cs typeface="Arial" panose="020B0604020202020204" pitchFamily="34" charset="0"/>
                        </a:rPr>
                        <a:t>.</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rPr>
                        <a:t>1250</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862646880"/>
                  </a:ext>
                </a:extLst>
              </a:tr>
              <a:tr h="44334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1 Ohm.</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Open Parenthesis 10 plus 10 Close Parenthesis squared multiplied by Open Parenthesis 1 </a:t>
                      </a:r>
                      <a:r>
                        <a:rPr lang="en-US" sz="100" dirty="0" err="1">
                          <a:latin typeface="Arial" panose="020B0604020202020204" pitchFamily="34" charset="0"/>
                          <a:cs typeface="Arial" panose="020B0604020202020204" pitchFamily="34" charset="0"/>
                        </a:rPr>
                        <a:t>CloseParenthesis</a:t>
                      </a:r>
                      <a:r>
                        <a:rPr lang="en-US" sz="100" dirty="0">
                          <a:latin typeface="Arial" panose="020B0604020202020204" pitchFamily="34" charset="0"/>
                          <a:cs typeface="Arial" panose="020B0604020202020204" pitchFamily="34" charset="0"/>
                        </a:rPr>
                        <a:t>.</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rPr>
                        <a:t>400</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547915302"/>
                  </a:ext>
                </a:extLst>
              </a:tr>
              <a:tr h="36716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dirty="0">
                          <a:latin typeface="Arial" panose="020B0604020202020204" pitchFamily="34" charset="0"/>
                          <a:cs typeface="Arial" panose="020B0604020202020204" pitchFamily="34" charset="0"/>
                        </a:rPr>
                        <a:t>5 Ohms.</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25 squared divided by 5.</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600" dirty="0">
                          <a:latin typeface="Arial" panose="020B0604020202020204" pitchFamily="34" charset="0"/>
                          <a:cs typeface="Arial" panose="020B0604020202020204" pitchFamily="34" charset="0"/>
                        </a:rPr>
                        <a:t>125</a:t>
                      </a:r>
                    </a:p>
                  </a:txBody>
                  <a:tcPr marT="45275" marB="45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523105554"/>
                  </a:ext>
                </a:extLst>
              </a:tr>
            </a:tbl>
          </a:graphicData>
        </a:graphic>
      </p:graphicFrame>
      <p:graphicFrame>
        <p:nvGraphicFramePr>
          <p:cNvPr id="27" name="Object 26">
            <a:extLst>
              <a:ext uri="{FF2B5EF4-FFF2-40B4-BE49-F238E27FC236}">
                <a16:creationId xmlns:a16="http://schemas.microsoft.com/office/drawing/2014/main" id="{C3E0D615-3B1E-4BF1-AEBB-6EB00D8DBAB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90209245"/>
              </p:ext>
            </p:extLst>
          </p:nvPr>
        </p:nvGraphicFramePr>
        <p:xfrm>
          <a:off x="2400621" y="5134616"/>
          <a:ext cx="414196" cy="315578"/>
        </p:xfrm>
        <a:graphic>
          <a:graphicData uri="http://schemas.openxmlformats.org/presentationml/2006/ole">
            <mc:AlternateContent xmlns:mc="http://schemas.openxmlformats.org/markup-compatibility/2006">
              <mc:Choice xmlns:v="urn:schemas-microsoft-com:vml" Requires="v">
                <p:oleObj name="Equation" r:id="rId9" imgW="266400" imgH="203040" progId="Equation.DSMT4">
                  <p:embed/>
                </p:oleObj>
              </mc:Choice>
              <mc:Fallback>
                <p:oleObj name="Equation" r:id="rId9" imgW="266400" imgH="203040" progId="Equation.DSMT4">
                  <p:embed/>
                  <p:pic>
                    <p:nvPicPr>
                      <p:cNvPr id="24" name="Object 23">
                        <a:extLst>
                          <a:ext uri="{FF2B5EF4-FFF2-40B4-BE49-F238E27FC236}">
                            <a16:creationId xmlns:a16="http://schemas.microsoft.com/office/drawing/2014/main" id="{8DC17533-CE87-452B-B39B-C8D17A512697}"/>
                          </a:ext>
                        </a:extLst>
                      </p:cNvPr>
                      <p:cNvPicPr>
                        <a:picLocks noChangeAspect="1" noChangeArrowheads="1"/>
                      </p:cNvPicPr>
                      <p:nvPr/>
                    </p:nvPicPr>
                    <p:blipFill>
                      <a:blip r:embed="rId10"/>
                      <a:srcRect/>
                      <a:stretch>
                        <a:fillRect/>
                      </a:stretch>
                    </p:blipFill>
                    <p:spPr bwMode="auto">
                      <a:xfrm>
                        <a:off x="2400621" y="5134616"/>
                        <a:ext cx="414196" cy="315578"/>
                      </a:xfrm>
                      <a:prstGeom prst="rect">
                        <a:avLst/>
                      </a:prstGeom>
                      <a:solidFill>
                        <a:srgbClr val="D4EAE4"/>
                      </a:solidFill>
                      <a:ln>
                        <a:noFill/>
                      </a:ln>
                      <a:effectLst/>
                    </p:spPr>
                  </p:pic>
                </p:oleObj>
              </mc:Fallback>
            </mc:AlternateContent>
          </a:graphicData>
        </a:graphic>
      </p:graphicFrame>
      <p:graphicFrame>
        <p:nvGraphicFramePr>
          <p:cNvPr id="24" name="Object 23">
            <a:extLst>
              <a:ext uri="{FF2B5EF4-FFF2-40B4-BE49-F238E27FC236}">
                <a16:creationId xmlns:a16="http://schemas.microsoft.com/office/drawing/2014/main" id="{8DC17533-CE87-452B-B39B-C8D17A51269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23616300"/>
              </p:ext>
            </p:extLst>
          </p:nvPr>
        </p:nvGraphicFramePr>
        <p:xfrm>
          <a:off x="4048045" y="5103548"/>
          <a:ext cx="1122789" cy="347478"/>
        </p:xfrm>
        <a:graphic>
          <a:graphicData uri="http://schemas.openxmlformats.org/presentationml/2006/ole">
            <mc:AlternateContent xmlns:mc="http://schemas.openxmlformats.org/markup-compatibility/2006">
              <mc:Choice xmlns:v="urn:schemas-microsoft-com:vml" Requires="v">
                <p:oleObj name="Equation" r:id="rId11" imgW="901440" imgH="279360" progId="Equation.DSMT4">
                  <p:embed/>
                </p:oleObj>
              </mc:Choice>
              <mc:Fallback>
                <p:oleObj name="Equation" r:id="rId11" imgW="901440" imgH="279360" progId="Equation.DSMT4">
                  <p:embed/>
                  <p:pic>
                    <p:nvPicPr>
                      <p:cNvPr id="17" name="Object 16">
                        <a:extLst>
                          <a:ext uri="{FF2B5EF4-FFF2-40B4-BE49-F238E27FC236}">
                            <a16:creationId xmlns:a16="http://schemas.microsoft.com/office/drawing/2014/main" id="{942F5460-D818-4856-A79C-3292C4C98328}"/>
                          </a:ext>
                        </a:extLst>
                      </p:cNvPr>
                      <p:cNvPicPr>
                        <a:picLocks noChangeAspect="1" noChangeArrowheads="1"/>
                      </p:cNvPicPr>
                      <p:nvPr/>
                    </p:nvPicPr>
                    <p:blipFill>
                      <a:blip r:embed="rId12"/>
                      <a:srcRect/>
                      <a:stretch>
                        <a:fillRect/>
                      </a:stretch>
                    </p:blipFill>
                    <p:spPr bwMode="auto">
                      <a:xfrm>
                        <a:off x="4048045" y="5103548"/>
                        <a:ext cx="1122789" cy="347478"/>
                      </a:xfrm>
                      <a:prstGeom prst="rect">
                        <a:avLst/>
                      </a:prstGeom>
                      <a:solidFill>
                        <a:srgbClr val="D4EAE4"/>
                      </a:solidFill>
                      <a:ln>
                        <a:noFill/>
                      </a:ln>
                      <a:effectLst/>
                    </p:spPr>
                  </p:pic>
                </p:oleObj>
              </mc:Fallback>
            </mc:AlternateContent>
          </a:graphicData>
        </a:graphic>
      </p:graphicFrame>
      <p:graphicFrame>
        <p:nvGraphicFramePr>
          <p:cNvPr id="28" name="Object 27">
            <a:extLst>
              <a:ext uri="{FF2B5EF4-FFF2-40B4-BE49-F238E27FC236}">
                <a16:creationId xmlns:a16="http://schemas.microsoft.com/office/drawing/2014/main" id="{BC213873-885F-45A8-B35A-1F16E780967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7958309"/>
              </p:ext>
            </p:extLst>
          </p:nvPr>
        </p:nvGraphicFramePr>
        <p:xfrm>
          <a:off x="2392352" y="5603881"/>
          <a:ext cx="397289" cy="302898"/>
        </p:xfrm>
        <a:graphic>
          <a:graphicData uri="http://schemas.openxmlformats.org/presentationml/2006/ole">
            <mc:AlternateContent xmlns:mc="http://schemas.openxmlformats.org/markup-compatibility/2006">
              <mc:Choice xmlns:v="urn:schemas-microsoft-com:vml" Requires="v">
                <p:oleObj name="Equation" r:id="rId13" imgW="266400" imgH="203040" progId="Equation.DSMT4">
                  <p:embed/>
                </p:oleObj>
              </mc:Choice>
              <mc:Fallback>
                <p:oleObj name="Equation" r:id="rId13" imgW="266400" imgH="203040" progId="Equation.DSMT4">
                  <p:embed/>
                  <p:pic>
                    <p:nvPicPr>
                      <p:cNvPr id="27" name="Object 26">
                        <a:extLst>
                          <a:ext uri="{FF2B5EF4-FFF2-40B4-BE49-F238E27FC236}">
                            <a16:creationId xmlns:a16="http://schemas.microsoft.com/office/drawing/2014/main" id="{C3E0D615-3B1E-4BF1-AEBB-6EB00D8DBAB4}"/>
                          </a:ext>
                        </a:extLst>
                      </p:cNvPr>
                      <p:cNvPicPr>
                        <a:picLocks noChangeAspect="1" noChangeArrowheads="1"/>
                      </p:cNvPicPr>
                      <p:nvPr/>
                    </p:nvPicPr>
                    <p:blipFill>
                      <a:blip r:embed="rId14"/>
                      <a:srcRect/>
                      <a:stretch>
                        <a:fillRect/>
                      </a:stretch>
                    </p:blipFill>
                    <p:spPr bwMode="auto">
                      <a:xfrm>
                        <a:off x="2392352" y="5603881"/>
                        <a:ext cx="397289" cy="302898"/>
                      </a:xfrm>
                      <a:prstGeom prst="rect">
                        <a:avLst/>
                      </a:prstGeom>
                      <a:solidFill>
                        <a:srgbClr val="D4EAE4"/>
                      </a:solidFill>
                      <a:ln>
                        <a:noFill/>
                      </a:ln>
                      <a:effectLst/>
                    </p:spPr>
                  </p:pic>
                </p:oleObj>
              </mc:Fallback>
            </mc:AlternateContent>
          </a:graphicData>
        </a:graphic>
      </p:graphicFrame>
      <p:graphicFrame>
        <p:nvGraphicFramePr>
          <p:cNvPr id="25" name="Object 24">
            <a:extLst>
              <a:ext uri="{FF2B5EF4-FFF2-40B4-BE49-F238E27FC236}">
                <a16:creationId xmlns:a16="http://schemas.microsoft.com/office/drawing/2014/main" id="{ADF6FF3B-A45B-4F76-8852-565FE254DB9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53266622"/>
              </p:ext>
            </p:extLst>
          </p:nvPr>
        </p:nvGraphicFramePr>
        <p:xfrm>
          <a:off x="4019975" y="5554142"/>
          <a:ext cx="1169804" cy="372544"/>
        </p:xfrm>
        <a:graphic>
          <a:graphicData uri="http://schemas.openxmlformats.org/presentationml/2006/ole">
            <mc:AlternateContent xmlns:mc="http://schemas.openxmlformats.org/markup-compatibility/2006">
              <mc:Choice xmlns:v="urn:schemas-microsoft-com:vml" Requires="v">
                <p:oleObj name="Equation" r:id="rId15" imgW="876240" imgH="279360" progId="Equation.DSMT4">
                  <p:embed/>
                </p:oleObj>
              </mc:Choice>
              <mc:Fallback>
                <p:oleObj name="Equation" r:id="rId15" imgW="876240" imgH="279360" progId="Equation.DSMT4">
                  <p:embed/>
                  <p:pic>
                    <p:nvPicPr>
                      <p:cNvPr id="24" name="Object 23">
                        <a:extLst>
                          <a:ext uri="{FF2B5EF4-FFF2-40B4-BE49-F238E27FC236}">
                            <a16:creationId xmlns:a16="http://schemas.microsoft.com/office/drawing/2014/main" id="{8DC17533-CE87-452B-B39B-C8D17A512697}"/>
                          </a:ext>
                        </a:extLst>
                      </p:cNvPr>
                      <p:cNvPicPr>
                        <a:picLocks noChangeAspect="1" noChangeArrowheads="1"/>
                      </p:cNvPicPr>
                      <p:nvPr/>
                    </p:nvPicPr>
                    <p:blipFill>
                      <a:blip r:embed="rId16"/>
                      <a:srcRect/>
                      <a:stretch>
                        <a:fillRect/>
                      </a:stretch>
                    </p:blipFill>
                    <p:spPr bwMode="auto">
                      <a:xfrm>
                        <a:off x="4019975" y="5554142"/>
                        <a:ext cx="1169804" cy="372544"/>
                      </a:xfrm>
                      <a:prstGeom prst="rect">
                        <a:avLst/>
                      </a:prstGeom>
                      <a:solidFill>
                        <a:srgbClr val="D4EAE4"/>
                      </a:solidFill>
                      <a:ln>
                        <a:noFill/>
                      </a:ln>
                      <a:effectLst/>
                    </p:spPr>
                  </p:pic>
                </p:oleObj>
              </mc:Fallback>
            </mc:AlternateContent>
          </a:graphicData>
        </a:graphic>
      </p:graphicFrame>
      <p:graphicFrame>
        <p:nvGraphicFramePr>
          <p:cNvPr id="29" name="Object 28">
            <a:extLst>
              <a:ext uri="{FF2B5EF4-FFF2-40B4-BE49-F238E27FC236}">
                <a16:creationId xmlns:a16="http://schemas.microsoft.com/office/drawing/2014/main" id="{70D36CEF-85B9-40BC-9BE9-99035119857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86087416"/>
              </p:ext>
            </p:extLst>
          </p:nvPr>
        </p:nvGraphicFramePr>
        <p:xfrm>
          <a:off x="2390210" y="5997942"/>
          <a:ext cx="422521" cy="321921"/>
        </p:xfrm>
        <a:graphic>
          <a:graphicData uri="http://schemas.openxmlformats.org/presentationml/2006/ole">
            <mc:AlternateContent xmlns:mc="http://schemas.openxmlformats.org/markup-compatibility/2006">
              <mc:Choice xmlns:v="urn:schemas-microsoft-com:vml" Requires="v">
                <p:oleObj name="Equation" r:id="rId17" imgW="266400" imgH="203040" progId="Equation.DSMT4">
                  <p:embed/>
                </p:oleObj>
              </mc:Choice>
              <mc:Fallback>
                <p:oleObj name="Equation" r:id="rId17" imgW="266400" imgH="203040" progId="Equation.DSMT4">
                  <p:embed/>
                  <p:pic>
                    <p:nvPicPr>
                      <p:cNvPr id="28" name="Object 27">
                        <a:extLst>
                          <a:ext uri="{FF2B5EF4-FFF2-40B4-BE49-F238E27FC236}">
                            <a16:creationId xmlns:a16="http://schemas.microsoft.com/office/drawing/2014/main" id="{BC213873-885F-45A8-B35A-1F16E7809678}"/>
                          </a:ext>
                        </a:extLst>
                      </p:cNvPr>
                      <p:cNvPicPr>
                        <a:picLocks noChangeAspect="1" noChangeArrowheads="1"/>
                      </p:cNvPicPr>
                      <p:nvPr/>
                    </p:nvPicPr>
                    <p:blipFill>
                      <a:blip r:embed="rId18"/>
                      <a:srcRect/>
                      <a:stretch>
                        <a:fillRect/>
                      </a:stretch>
                    </p:blipFill>
                    <p:spPr bwMode="auto">
                      <a:xfrm>
                        <a:off x="2390210" y="5997942"/>
                        <a:ext cx="422521" cy="321921"/>
                      </a:xfrm>
                      <a:prstGeom prst="rect">
                        <a:avLst/>
                      </a:prstGeom>
                      <a:solidFill>
                        <a:srgbClr val="D4EAE4"/>
                      </a:solidFill>
                      <a:ln>
                        <a:noFill/>
                      </a:ln>
                      <a:effectLst/>
                    </p:spPr>
                  </p:pic>
                </p:oleObj>
              </mc:Fallback>
            </mc:AlternateContent>
          </a:graphicData>
        </a:graphic>
      </p:graphicFrame>
      <p:graphicFrame>
        <p:nvGraphicFramePr>
          <p:cNvPr id="26" name="Object 25">
            <a:extLst>
              <a:ext uri="{FF2B5EF4-FFF2-40B4-BE49-F238E27FC236}">
                <a16:creationId xmlns:a16="http://schemas.microsoft.com/office/drawing/2014/main" id="{AEDBC68A-9F75-4541-A577-1E6B7B20EBC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61610099"/>
              </p:ext>
            </p:extLst>
          </p:nvPr>
        </p:nvGraphicFramePr>
        <p:xfrm>
          <a:off x="4269442" y="5975707"/>
          <a:ext cx="624166" cy="329825"/>
        </p:xfrm>
        <a:graphic>
          <a:graphicData uri="http://schemas.openxmlformats.org/presentationml/2006/ole">
            <mc:AlternateContent xmlns:mc="http://schemas.openxmlformats.org/markup-compatibility/2006">
              <mc:Choice xmlns:v="urn:schemas-microsoft-com:vml" Requires="v">
                <p:oleObj name="Equation" r:id="rId19" imgW="431640" imgH="228600" progId="Equation.DSMT4">
                  <p:embed/>
                </p:oleObj>
              </mc:Choice>
              <mc:Fallback>
                <p:oleObj name="Equation" r:id="rId19" imgW="431640" imgH="228600" progId="Equation.DSMT4">
                  <p:embed/>
                  <p:pic>
                    <p:nvPicPr>
                      <p:cNvPr id="25" name="Object 24">
                        <a:extLst>
                          <a:ext uri="{FF2B5EF4-FFF2-40B4-BE49-F238E27FC236}">
                            <a16:creationId xmlns:a16="http://schemas.microsoft.com/office/drawing/2014/main" id="{ADF6FF3B-A45B-4F76-8852-565FE254DB92}"/>
                          </a:ext>
                        </a:extLst>
                      </p:cNvPr>
                      <p:cNvPicPr>
                        <a:picLocks noChangeAspect="1" noChangeArrowheads="1"/>
                      </p:cNvPicPr>
                      <p:nvPr/>
                    </p:nvPicPr>
                    <p:blipFill>
                      <a:blip r:embed="rId20"/>
                      <a:srcRect/>
                      <a:stretch>
                        <a:fillRect/>
                      </a:stretch>
                    </p:blipFill>
                    <p:spPr bwMode="auto">
                      <a:xfrm>
                        <a:off x="4269442" y="5975707"/>
                        <a:ext cx="624166" cy="329825"/>
                      </a:xfrm>
                      <a:prstGeom prst="rect">
                        <a:avLst/>
                      </a:prstGeom>
                      <a:solidFill>
                        <a:srgbClr val="D4EAE4"/>
                      </a:solidFill>
                      <a:ln>
                        <a:noFill/>
                      </a:ln>
                      <a:effectLst/>
                    </p:spPr>
                  </p:pic>
                </p:oleObj>
              </mc:Fallback>
            </mc:AlternateContent>
          </a:graphicData>
        </a:graphic>
      </p:graphicFrame>
    </p:spTree>
    <p:extLst>
      <p:ext uri="{BB962C8B-B14F-4D97-AF65-F5344CB8AC3E}">
        <p14:creationId xmlns:p14="http://schemas.microsoft.com/office/powerpoint/2010/main" val="2950579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(7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588368"/>
            <a:ext cx="8240620" cy="1883011"/>
          </a:xfrm>
        </p:spPr>
        <p:txBody>
          <a:bodyPr wrap="square" lIns="0" tIns="18000" rIns="0" bIns="18000" anchor="ctr" anchorCtr="0">
            <a:spAutoFit/>
          </a:bodyPr>
          <a:lstStyle/>
          <a:p>
            <a:pPr marL="0" indent="0">
              <a:buNone/>
            </a:pPr>
            <a:r>
              <a:rPr lang="en-US" sz="2400" dirty="0"/>
              <a:t>The node voltage method has a “special case” when a circuit has a </a:t>
            </a:r>
            <a:r>
              <a:rPr lang="en-US" sz="2400" dirty="0" err="1"/>
              <a:t>supernode</a:t>
            </a:r>
            <a:r>
              <a:rPr lang="en-US" sz="2400" dirty="0"/>
              <a:t> – a voltage source that is the only component in a branch connecting two nonreference essential nodes. The mesh current method has a special case for “super meshes”, which exist when</a:t>
            </a:r>
          </a:p>
        </p:txBody>
      </p:sp>
      <p:sp>
        <p:nvSpPr>
          <p:cNvPr id="5" name="Content Placeholder 4">
            <a:extLst>
              <a:ext uri="{FF2B5EF4-FFF2-40B4-BE49-F238E27FC236}">
                <a16:creationId xmlns:a16="http://schemas.microsoft.com/office/drawing/2014/main" id="{7667DE76-760F-CCC6-C0F6-0B9933D368EC}"/>
              </a:ext>
            </a:extLst>
          </p:cNvPr>
          <p:cNvSpPr>
            <a:spLocks noGrp="1"/>
          </p:cNvSpPr>
          <p:nvPr>
            <p:ph sz="quarter" idx="14"/>
          </p:nvPr>
        </p:nvSpPr>
        <p:spPr>
          <a:xfrm>
            <a:off x="1465564" y="3969177"/>
            <a:ext cx="7205459" cy="405683"/>
          </a:xfrm>
        </p:spPr>
        <p:txBody>
          <a:bodyPr wrap="square" lIns="0" tIns="18000" rIns="0" bIns="18000" anchor="ctr" anchorCtr="0">
            <a:spAutoFit/>
          </a:bodyPr>
          <a:lstStyle/>
          <a:p>
            <a:pPr marL="457200" indent="-457200">
              <a:spcBef>
                <a:spcPts val="600"/>
              </a:spcBef>
              <a:buFont typeface="+mj-lt"/>
              <a:buAutoNum type="alphaUcPeriod"/>
            </a:pPr>
            <a:r>
              <a:rPr lang="en-US" sz="2400" dirty="0"/>
              <a:t>A voltage source is in a single mesh.</a:t>
            </a:r>
          </a:p>
        </p:txBody>
      </p:sp>
      <p:sp>
        <p:nvSpPr>
          <p:cNvPr id="6" name="Content Placeholder 5">
            <a:extLst>
              <a:ext uri="{FF2B5EF4-FFF2-40B4-BE49-F238E27FC236}">
                <a16:creationId xmlns:a16="http://schemas.microsoft.com/office/drawing/2014/main" id="{323CFB70-B25F-8B29-A4EE-2B49421EE6B8}"/>
              </a:ext>
            </a:extLst>
          </p:cNvPr>
          <p:cNvSpPr>
            <a:spLocks noGrp="1"/>
          </p:cNvSpPr>
          <p:nvPr>
            <p:ph sz="quarter" idx="15"/>
          </p:nvPr>
        </p:nvSpPr>
        <p:spPr>
          <a:xfrm>
            <a:off x="1465565" y="4453987"/>
            <a:ext cx="7200982" cy="405683"/>
          </a:xfrm>
        </p:spPr>
        <p:txBody>
          <a:bodyPr wrap="square" lIns="0" tIns="18000" rIns="0" bIns="18000" anchor="ctr" anchorCtr="0">
            <a:spAutoFit/>
          </a:bodyPr>
          <a:lstStyle/>
          <a:p>
            <a:pPr marL="457200" indent="-457200">
              <a:buFont typeface="+mj-lt"/>
              <a:buAutoNum type="alphaUcPeriod" startAt="2"/>
            </a:pPr>
            <a:r>
              <a:rPr lang="en-US" sz="2400" dirty="0"/>
              <a:t>A current source is in a single mesh.</a:t>
            </a:r>
          </a:p>
        </p:txBody>
      </p:sp>
      <p:sp>
        <p:nvSpPr>
          <p:cNvPr id="7" name="Content Placeholder 6">
            <a:extLst>
              <a:ext uri="{FF2B5EF4-FFF2-40B4-BE49-F238E27FC236}">
                <a16:creationId xmlns:a16="http://schemas.microsoft.com/office/drawing/2014/main" id="{626A51F5-8F91-9663-F57F-DCC26C9A7AEF}"/>
              </a:ext>
            </a:extLst>
          </p:cNvPr>
          <p:cNvSpPr>
            <a:spLocks noGrp="1"/>
          </p:cNvSpPr>
          <p:nvPr>
            <p:ph sz="quarter" idx="16"/>
          </p:nvPr>
        </p:nvSpPr>
        <p:spPr>
          <a:xfrm>
            <a:off x="1465565" y="4944972"/>
            <a:ext cx="7205457" cy="405683"/>
          </a:xfrm>
        </p:spPr>
        <p:txBody>
          <a:bodyPr wrap="square" lIns="0" tIns="18000" rIns="0" bIns="18000" anchor="ctr" anchorCtr="0">
            <a:spAutoFit/>
          </a:bodyPr>
          <a:lstStyle/>
          <a:p>
            <a:pPr marL="457200" indent="-457200">
              <a:buFont typeface="+mj-lt"/>
              <a:buAutoNum type="alphaUcPeriod" startAt="3"/>
            </a:pPr>
            <a:r>
              <a:rPr lang="en-US" altLang="en-US" sz="2400" dirty="0"/>
              <a:t>A voltage source is shared between two meshes.</a:t>
            </a:r>
          </a:p>
        </p:txBody>
      </p:sp>
      <p:sp>
        <p:nvSpPr>
          <p:cNvPr id="8" name="Content Placeholder 7">
            <a:extLst>
              <a:ext uri="{FF2B5EF4-FFF2-40B4-BE49-F238E27FC236}">
                <a16:creationId xmlns:a16="http://schemas.microsoft.com/office/drawing/2014/main" id="{C2273C42-00D3-8B92-79A5-D6AFA7962AC0}"/>
              </a:ext>
            </a:extLst>
          </p:cNvPr>
          <p:cNvSpPr>
            <a:spLocks noGrp="1"/>
          </p:cNvSpPr>
          <p:nvPr>
            <p:ph sz="quarter" idx="17"/>
          </p:nvPr>
        </p:nvSpPr>
        <p:spPr>
          <a:xfrm>
            <a:off x="1465564" y="5431405"/>
            <a:ext cx="7205361" cy="405683"/>
          </a:xfrm>
        </p:spPr>
        <p:txBody>
          <a:bodyPr wrap="square" lIns="0" tIns="18000" rIns="0" bIns="18000" anchor="ctr" anchorCtr="0">
            <a:spAutoFit/>
          </a:bodyPr>
          <a:lstStyle/>
          <a:p>
            <a:pPr marL="457200" indent="-457200">
              <a:buFont typeface="+mj-lt"/>
              <a:buAutoNum type="alphaUcPeriod" startAt="4"/>
            </a:pPr>
            <a:r>
              <a:rPr lang="en-US" sz="2400" dirty="0"/>
              <a:t>A current source is shared between two meshes.</a:t>
            </a:r>
          </a:p>
        </p:txBody>
      </p:sp>
    </p:spTree>
    <p:extLst>
      <p:ext uri="{BB962C8B-B14F-4D97-AF65-F5344CB8AC3E}">
        <p14:creationId xmlns:p14="http://schemas.microsoft.com/office/powerpoint/2010/main" val="2253154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C554-DD5A-E32F-5641-4E6F22F30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6F428-75DE-1FC7-A78C-ED410E3D5B1B}"/>
              </a:ext>
            </a:extLst>
          </p:cNvPr>
          <p:cNvSpPr>
            <a:spLocks noGrp="1"/>
          </p:cNvSpPr>
          <p:nvPr>
            <p:ph type="title"/>
          </p:nvPr>
        </p:nvSpPr>
        <p:spPr>
          <a:xfrm>
            <a:off x="430403" y="201573"/>
            <a:ext cx="8240620" cy="1144347"/>
          </a:xfrm>
        </p:spPr>
        <p:txBody>
          <a:bodyPr wrap="square" tIns="18000" bIns="18000" anchor="ctr" anchorCtr="0">
            <a:spAutoFit/>
          </a:bodyPr>
          <a:lstStyle/>
          <a:p>
            <a:r>
              <a:rPr lang="en-US" dirty="0"/>
              <a:t>Chapter 4 – techniques of circuit analysis </a:t>
            </a:r>
            <a:r>
              <a:rPr lang="en-US" sz="2800" dirty="0"/>
              <a:t>(7 of 12)</a:t>
            </a:r>
            <a:endParaRPr lang="en-US" noProof="0" dirty="0"/>
          </a:p>
        </p:txBody>
      </p:sp>
      <p:sp>
        <p:nvSpPr>
          <p:cNvPr id="3" name="Content Placeholder 2">
            <a:extLst>
              <a:ext uri="{FF2B5EF4-FFF2-40B4-BE49-F238E27FC236}">
                <a16:creationId xmlns:a16="http://schemas.microsoft.com/office/drawing/2014/main" id="{5FE10246-6CA9-25A0-0FA9-A872D832E32F}"/>
              </a:ext>
            </a:extLst>
          </p:cNvPr>
          <p:cNvSpPr>
            <a:spLocks noGrp="1"/>
          </p:cNvSpPr>
          <p:nvPr>
            <p:ph sz="quarter" idx="12"/>
          </p:nvPr>
        </p:nvSpPr>
        <p:spPr>
          <a:xfrm>
            <a:off x="425927" y="1588368"/>
            <a:ext cx="8240620" cy="1883011"/>
          </a:xfrm>
        </p:spPr>
        <p:txBody>
          <a:bodyPr wrap="square" lIns="0" tIns="18000" rIns="0" bIns="18000" anchor="ctr" anchorCtr="0">
            <a:spAutoFit/>
          </a:bodyPr>
          <a:lstStyle/>
          <a:p>
            <a:pPr marL="0" indent="0">
              <a:buNone/>
            </a:pPr>
            <a:r>
              <a:rPr lang="en-US" sz="2400" dirty="0"/>
              <a:t>The node voltage method has a “special case” when a circuit has a </a:t>
            </a:r>
            <a:r>
              <a:rPr lang="en-US" sz="2400" dirty="0" err="1"/>
              <a:t>supernode</a:t>
            </a:r>
            <a:r>
              <a:rPr lang="en-US" sz="2400" dirty="0"/>
              <a:t> – a voltage source that is the only component in a branch connecting two nonreference essential nodes. The mesh current method has a special case for “super meshes”, which exist when</a:t>
            </a:r>
          </a:p>
        </p:txBody>
      </p:sp>
      <p:pic>
        <p:nvPicPr>
          <p:cNvPr id="26" name="Picture 25" descr="Cross mark">
            <a:extLst>
              <a:ext uri="{FF2B5EF4-FFF2-40B4-BE49-F238E27FC236}">
                <a16:creationId xmlns:a16="http://schemas.microsoft.com/office/drawing/2014/main" id="{1E1B0469-56EA-22C2-FE4A-DBC237899F51}"/>
              </a:ext>
            </a:extLst>
          </p:cNvPr>
          <p:cNvPicPr>
            <a:picLocks noChangeAspect="1"/>
          </p:cNvPicPr>
          <p:nvPr/>
        </p:nvPicPr>
        <p:blipFill>
          <a:blip r:embed="rId2"/>
          <a:stretch>
            <a:fillRect/>
          </a:stretch>
        </p:blipFill>
        <p:spPr>
          <a:xfrm>
            <a:off x="1026260" y="4062355"/>
            <a:ext cx="258531" cy="258531"/>
          </a:xfrm>
          <a:prstGeom prst="rect">
            <a:avLst/>
          </a:prstGeom>
        </p:spPr>
      </p:pic>
      <p:sp>
        <p:nvSpPr>
          <p:cNvPr id="5" name="Content Placeholder 4">
            <a:extLst>
              <a:ext uri="{FF2B5EF4-FFF2-40B4-BE49-F238E27FC236}">
                <a16:creationId xmlns:a16="http://schemas.microsoft.com/office/drawing/2014/main" id="{30D33822-4CAA-D99F-6A95-AA132C50B5F1}"/>
              </a:ext>
            </a:extLst>
          </p:cNvPr>
          <p:cNvSpPr>
            <a:spLocks noGrp="1"/>
          </p:cNvSpPr>
          <p:nvPr>
            <p:ph sz="quarter" idx="14"/>
          </p:nvPr>
        </p:nvSpPr>
        <p:spPr>
          <a:xfrm>
            <a:off x="1465564" y="3969177"/>
            <a:ext cx="7205459" cy="405683"/>
          </a:xfrm>
        </p:spPr>
        <p:txBody>
          <a:bodyPr wrap="square" lIns="0" tIns="18000" rIns="0" bIns="18000" anchor="ctr" anchorCtr="0">
            <a:spAutoFit/>
          </a:bodyPr>
          <a:lstStyle/>
          <a:p>
            <a:pPr marL="457200" indent="-457200">
              <a:spcBef>
                <a:spcPts val="600"/>
              </a:spcBef>
              <a:buFont typeface="+mj-lt"/>
              <a:buAutoNum type="alphaUcPeriod"/>
            </a:pPr>
            <a:r>
              <a:rPr lang="en-US" sz="2400" dirty="0"/>
              <a:t>A voltage source is in a single mesh.</a:t>
            </a:r>
          </a:p>
        </p:txBody>
      </p:sp>
      <p:pic>
        <p:nvPicPr>
          <p:cNvPr id="29" name="Picture 28" descr="Cross mark">
            <a:extLst>
              <a:ext uri="{FF2B5EF4-FFF2-40B4-BE49-F238E27FC236}">
                <a16:creationId xmlns:a16="http://schemas.microsoft.com/office/drawing/2014/main" id="{31CECBB2-10DF-056C-FC44-371C271D1035}"/>
              </a:ext>
            </a:extLst>
          </p:cNvPr>
          <p:cNvPicPr>
            <a:picLocks noChangeAspect="1"/>
          </p:cNvPicPr>
          <p:nvPr/>
        </p:nvPicPr>
        <p:blipFill>
          <a:blip r:embed="rId2"/>
          <a:stretch>
            <a:fillRect/>
          </a:stretch>
        </p:blipFill>
        <p:spPr>
          <a:xfrm>
            <a:off x="1021309" y="4527562"/>
            <a:ext cx="258531" cy="258531"/>
          </a:xfrm>
          <a:prstGeom prst="rect">
            <a:avLst/>
          </a:prstGeom>
        </p:spPr>
      </p:pic>
      <p:sp>
        <p:nvSpPr>
          <p:cNvPr id="6" name="Content Placeholder 5">
            <a:extLst>
              <a:ext uri="{FF2B5EF4-FFF2-40B4-BE49-F238E27FC236}">
                <a16:creationId xmlns:a16="http://schemas.microsoft.com/office/drawing/2014/main" id="{B2D68D56-6A9A-3809-A7DE-E93A0338DDA3}"/>
              </a:ext>
            </a:extLst>
          </p:cNvPr>
          <p:cNvSpPr>
            <a:spLocks noGrp="1"/>
          </p:cNvSpPr>
          <p:nvPr>
            <p:ph sz="quarter" idx="15"/>
          </p:nvPr>
        </p:nvSpPr>
        <p:spPr>
          <a:xfrm>
            <a:off x="1465565" y="4453987"/>
            <a:ext cx="7200982" cy="405683"/>
          </a:xfrm>
        </p:spPr>
        <p:txBody>
          <a:bodyPr wrap="square" lIns="0" tIns="18000" rIns="0" bIns="18000" anchor="ctr" anchorCtr="0">
            <a:spAutoFit/>
          </a:bodyPr>
          <a:lstStyle/>
          <a:p>
            <a:pPr marL="457200" indent="-457200">
              <a:buFont typeface="+mj-lt"/>
              <a:buAutoNum type="alphaUcPeriod" startAt="2"/>
            </a:pPr>
            <a:r>
              <a:rPr lang="en-US" sz="2400" dirty="0"/>
              <a:t>A current source is in a single mesh.</a:t>
            </a:r>
          </a:p>
        </p:txBody>
      </p:sp>
      <p:pic>
        <p:nvPicPr>
          <p:cNvPr id="31" name="Picture 30" descr="Cross mark">
            <a:extLst>
              <a:ext uri="{FF2B5EF4-FFF2-40B4-BE49-F238E27FC236}">
                <a16:creationId xmlns:a16="http://schemas.microsoft.com/office/drawing/2014/main" id="{5D22B194-3B70-EB57-BF2D-3D71DC8CF59C}"/>
              </a:ext>
            </a:extLst>
          </p:cNvPr>
          <p:cNvPicPr>
            <a:picLocks noChangeAspect="1"/>
          </p:cNvPicPr>
          <p:nvPr/>
        </p:nvPicPr>
        <p:blipFill>
          <a:blip r:embed="rId2"/>
          <a:stretch>
            <a:fillRect/>
          </a:stretch>
        </p:blipFill>
        <p:spPr>
          <a:xfrm>
            <a:off x="1010812" y="5000604"/>
            <a:ext cx="269028" cy="269028"/>
          </a:xfrm>
          <a:prstGeom prst="rect">
            <a:avLst/>
          </a:prstGeom>
        </p:spPr>
      </p:pic>
      <p:sp>
        <p:nvSpPr>
          <p:cNvPr id="7" name="Content Placeholder 6">
            <a:extLst>
              <a:ext uri="{FF2B5EF4-FFF2-40B4-BE49-F238E27FC236}">
                <a16:creationId xmlns:a16="http://schemas.microsoft.com/office/drawing/2014/main" id="{1BCF3E20-C5FC-4E93-65BC-759673352645}"/>
              </a:ext>
            </a:extLst>
          </p:cNvPr>
          <p:cNvSpPr>
            <a:spLocks noGrp="1"/>
          </p:cNvSpPr>
          <p:nvPr>
            <p:ph sz="quarter" idx="16"/>
          </p:nvPr>
        </p:nvSpPr>
        <p:spPr>
          <a:xfrm>
            <a:off x="1465565" y="4944972"/>
            <a:ext cx="7205457" cy="405683"/>
          </a:xfrm>
        </p:spPr>
        <p:txBody>
          <a:bodyPr wrap="square" lIns="0" tIns="18000" rIns="0" bIns="18000" anchor="ctr" anchorCtr="0">
            <a:spAutoFit/>
          </a:bodyPr>
          <a:lstStyle/>
          <a:p>
            <a:pPr marL="457200" indent="-457200">
              <a:buFont typeface="+mj-lt"/>
              <a:buAutoNum type="alphaUcPeriod" startAt="3"/>
            </a:pPr>
            <a:r>
              <a:rPr lang="en-US" altLang="en-US" sz="2400" dirty="0"/>
              <a:t>A voltage source is shared between two meshes.</a:t>
            </a:r>
          </a:p>
        </p:txBody>
      </p:sp>
      <p:pic>
        <p:nvPicPr>
          <p:cNvPr id="28" name="Picture 27" descr="Check mark">
            <a:extLst>
              <a:ext uri="{FF2B5EF4-FFF2-40B4-BE49-F238E27FC236}">
                <a16:creationId xmlns:a16="http://schemas.microsoft.com/office/drawing/2014/main" id="{03842D1C-CAB4-A33D-0E34-DF86D8462E16}"/>
              </a:ext>
            </a:extLst>
          </p:cNvPr>
          <p:cNvPicPr>
            <a:picLocks noChangeAspect="1"/>
          </p:cNvPicPr>
          <p:nvPr/>
        </p:nvPicPr>
        <p:blipFill>
          <a:blip r:embed="rId3"/>
          <a:stretch>
            <a:fillRect/>
          </a:stretch>
        </p:blipFill>
        <p:spPr>
          <a:xfrm>
            <a:off x="981396" y="5477835"/>
            <a:ext cx="312822" cy="312822"/>
          </a:xfrm>
          <a:prstGeom prst="rect">
            <a:avLst/>
          </a:prstGeom>
        </p:spPr>
      </p:pic>
      <p:sp>
        <p:nvSpPr>
          <p:cNvPr id="8" name="Content Placeholder 7">
            <a:extLst>
              <a:ext uri="{FF2B5EF4-FFF2-40B4-BE49-F238E27FC236}">
                <a16:creationId xmlns:a16="http://schemas.microsoft.com/office/drawing/2014/main" id="{B2BB5E3C-DB4E-4C9B-9758-CA37F2C3A994}"/>
              </a:ext>
            </a:extLst>
          </p:cNvPr>
          <p:cNvSpPr>
            <a:spLocks noGrp="1"/>
          </p:cNvSpPr>
          <p:nvPr>
            <p:ph sz="quarter" idx="17"/>
          </p:nvPr>
        </p:nvSpPr>
        <p:spPr>
          <a:xfrm>
            <a:off x="1465564" y="5431405"/>
            <a:ext cx="7205361" cy="405683"/>
          </a:xfrm>
        </p:spPr>
        <p:txBody>
          <a:bodyPr wrap="square" lIns="0" tIns="18000" rIns="0" bIns="18000" anchor="ctr" anchorCtr="0">
            <a:spAutoFit/>
          </a:bodyPr>
          <a:lstStyle/>
          <a:p>
            <a:pPr marL="457200" indent="-457200">
              <a:buFont typeface="+mj-lt"/>
              <a:buAutoNum type="alphaUcPeriod" startAt="4"/>
            </a:pPr>
            <a:r>
              <a:rPr lang="en-US" sz="2400" dirty="0"/>
              <a:t>A current source is shared between two meshes.</a:t>
            </a:r>
          </a:p>
        </p:txBody>
      </p:sp>
    </p:spTree>
    <p:extLst>
      <p:ext uri="{BB962C8B-B14F-4D97-AF65-F5344CB8AC3E}">
        <p14:creationId xmlns:p14="http://schemas.microsoft.com/office/powerpoint/2010/main" val="2633670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28625" y="196020"/>
            <a:ext cx="8229600" cy="1144347"/>
          </a:xfrm>
        </p:spPr>
        <p:txBody>
          <a:bodyPr wrap="square" tIns="18000" bIns="0" anchor="ctr" anchorCtr="0">
            <a:spAutoFit/>
          </a:bodyPr>
          <a:lstStyle/>
          <a:p>
            <a:r>
              <a:rPr lang="en-US" dirty="0"/>
              <a:t>Chapter 4 – techniques of circuit analysis </a:t>
            </a:r>
            <a:r>
              <a:rPr lang="en-US" sz="2800" dirty="0"/>
              <a:t>(8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8919" y="1490055"/>
            <a:ext cx="8242006" cy="775015"/>
          </a:xfrm>
        </p:spPr>
        <p:txBody>
          <a:bodyPr wrap="square" lIns="0" tIns="18000" rIns="0" bIns="0" anchor="ctr" anchorCtr="0">
            <a:spAutoFit/>
          </a:bodyPr>
          <a:lstStyle/>
          <a:p>
            <a:pPr marL="0" indent="0">
              <a:buNone/>
            </a:pPr>
            <a:r>
              <a:rPr lang="en-US" sz="2400" dirty="0"/>
              <a:t>This circuit has a </a:t>
            </a:r>
            <a:r>
              <a:rPr lang="en-US" sz="2400" dirty="0" err="1"/>
              <a:t>supermesh</a:t>
            </a:r>
            <a:r>
              <a:rPr lang="en-US" sz="2400" dirty="0"/>
              <a:t> created from the two meshes with the following mesh currents:</a:t>
            </a:r>
          </a:p>
        </p:txBody>
      </p:sp>
      <p:pic>
        <p:nvPicPr>
          <p:cNvPr id="44" name="Picture 2" descr="A circuit diagram shows a two layered circuit. In the lower part of the circuit, a 10 volt independent voltage source with positive polarity at the top end and negative at the bottom forms the left most wire. Connected in parallel to the 10 volt independent voltage source from left to right in that order are a 2-ohm resistor and a 6 volt independent voltage source. The 6 volt independent voltage source has negative polarity at its top end and positive at the bottom. Three nodes are marked where the wires housing the 10 volt independent voltage source, the 2-ohm resistor, and the 6 volt independent voltage source connect to the second wire from the top in the circuit. A node is separately marked where the wire housing the 2-ohm resistor connects with the bottom wire in the circuit. &#10;A 2 ampere independent current source with internal arrow pointing rightward is located between the nodes where the wires housing the 10 volt independent voltage source and the 2-ohm resistor connect to the second wire from top. A 2 ohm resistor is located between the nodes where the wires housing the 2-ohm vertical resistor and the 6 volt independent voltage source connect to the second wire from top. A 1 ohm resistor is located between the nodes where the wires housing the 2-ohm vertical resistor and the 6 volt independent voltage source connect to the bottom wire of the circuit. &#10;A 2-ohm resistor forms the topmost wire in the circuit and is connected to the nodes where the wires housing the 10 volt independent voltage source and the 6 volt independent voltage source connect to the second wire from the top. &#10;Current i subscript a flows clockwise through the upper part of the circuit through the uppermost 2-ohm resistor and the rightmost 2-ohm resistor. Current i subscript b flows clockwise through the lower left part of the circuit through the 2 ampere independent current source and the vertical 2-ohm resistor. Current i subscript c flows clockwise through the 6 volt independent voltage source and the 1 ohm resistance.">
            <a:extLst>
              <a:ext uri="{FF2B5EF4-FFF2-40B4-BE49-F238E27FC236}">
                <a16:creationId xmlns:a16="http://schemas.microsoft.com/office/drawing/2014/main" id="{15E74DE0-797E-42EE-9A25-E1F21D7E7417}"/>
              </a:ext>
            </a:extLst>
          </p:cNvPr>
          <p:cNvPicPr>
            <a:picLocks noChangeAspect="1" noChangeArrowheads="1"/>
          </p:cNvPicPr>
          <p:nvPr/>
        </p:nvPicPr>
        <p:blipFill>
          <a:blip r:embed="rId2"/>
          <a:srcRect/>
          <a:stretch/>
        </p:blipFill>
        <p:spPr bwMode="auto">
          <a:xfrm>
            <a:off x="3204666" y="2383973"/>
            <a:ext cx="2748977" cy="1782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7667DE76-760F-CCC6-C0F6-0B9933D368EC}"/>
              </a:ext>
            </a:extLst>
          </p:cNvPr>
          <p:cNvSpPr>
            <a:spLocks noGrp="1"/>
          </p:cNvSpPr>
          <p:nvPr>
            <p:ph sz="quarter" idx="14"/>
          </p:nvPr>
        </p:nvSpPr>
        <p:spPr>
          <a:xfrm>
            <a:off x="1522132" y="4417121"/>
            <a:ext cx="325225" cy="387508"/>
          </a:xfrm>
        </p:spPr>
        <p:txBody>
          <a:bodyPr wrap="square" lIns="0" tIns="18000" rIns="0" bIns="0" anchor="ctr" anchorCtr="0">
            <a:spAutoFit/>
          </a:bodyPr>
          <a:lstStyle/>
          <a:p>
            <a:pPr marL="0" indent="0">
              <a:buNone/>
            </a:pPr>
            <a:r>
              <a:rPr lang="en-US" altLang="en-US" sz="2400" noProof="0" dirty="0">
                <a:solidFill>
                  <a:schemeClr val="tx2"/>
                </a:solidFill>
              </a:rPr>
              <a:t>A.</a:t>
            </a:r>
            <a:r>
              <a:rPr lang="en-US" altLang="en-US" sz="2400" noProof="0" dirty="0"/>
              <a:t> </a:t>
            </a:r>
            <a:endParaRPr lang="en-US" sz="2400" dirty="0"/>
          </a:p>
        </p:txBody>
      </p:sp>
      <p:graphicFrame>
        <p:nvGraphicFramePr>
          <p:cNvPr id="12" name="Object 11" descr="i subscript a&#10;">
            <a:extLst>
              <a:ext uri="{FF2B5EF4-FFF2-40B4-BE49-F238E27FC236}">
                <a16:creationId xmlns:a16="http://schemas.microsoft.com/office/drawing/2014/main" id="{F7C07C02-CA4E-441D-BA6A-3AB7888A1714}"/>
              </a:ext>
            </a:extLst>
          </p:cNvPr>
          <p:cNvGraphicFramePr>
            <a:graphicFrameLocks noChangeAspect="1"/>
          </p:cNvGraphicFramePr>
          <p:nvPr/>
        </p:nvGraphicFramePr>
        <p:xfrm>
          <a:off x="1981255" y="4437009"/>
          <a:ext cx="290528" cy="476620"/>
        </p:xfrm>
        <a:graphic>
          <a:graphicData uri="http://schemas.openxmlformats.org/presentationml/2006/ole">
            <mc:AlternateContent xmlns:mc="http://schemas.openxmlformats.org/markup-compatibility/2006">
              <mc:Choice xmlns:v="urn:schemas-microsoft-com:vml" Requires="v">
                <p:oleObj name="Equation" r:id="rId3" imgW="139680" imgH="228600" progId="Equation.DSMT4">
                  <p:embed/>
                </p:oleObj>
              </mc:Choice>
              <mc:Fallback>
                <p:oleObj name="Equation" r:id="rId3" imgW="139680" imgH="228600" progId="Equation.DSMT4">
                  <p:embed/>
                  <p:pic>
                    <p:nvPicPr>
                      <p:cNvPr id="12" name="Object 11" descr="i subscript a&#10;">
                        <a:extLst>
                          <a:ext uri="{FF2B5EF4-FFF2-40B4-BE49-F238E27FC236}">
                            <a16:creationId xmlns:a16="http://schemas.microsoft.com/office/drawing/2014/main" id="{F7C07C02-CA4E-441D-BA6A-3AB7888A1714}"/>
                          </a:ext>
                        </a:extLst>
                      </p:cNvPr>
                      <p:cNvPicPr>
                        <a:picLocks noChangeAspect="1" noChangeArrowheads="1"/>
                      </p:cNvPicPr>
                      <p:nvPr/>
                    </p:nvPicPr>
                    <p:blipFill>
                      <a:blip r:embed="rId4"/>
                      <a:srcRect/>
                      <a:stretch>
                        <a:fillRect/>
                      </a:stretch>
                    </p:blipFill>
                    <p:spPr bwMode="auto">
                      <a:xfrm>
                        <a:off x="1981255" y="44370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Content Placeholder 26">
            <a:extLst>
              <a:ext uri="{FF2B5EF4-FFF2-40B4-BE49-F238E27FC236}">
                <a16:creationId xmlns:a16="http://schemas.microsoft.com/office/drawing/2014/main" id="{F4D6DE73-B598-4C80-BF39-A8594DFF9E62}"/>
              </a:ext>
            </a:extLst>
          </p:cNvPr>
          <p:cNvSpPr>
            <a:spLocks noGrp="1"/>
          </p:cNvSpPr>
          <p:nvPr>
            <p:ph sz="quarter" idx="21"/>
          </p:nvPr>
        </p:nvSpPr>
        <p:spPr>
          <a:xfrm>
            <a:off x="2398114" y="4494387"/>
            <a:ext cx="535586"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45" name="Object 44" descr="i subscript b.&#10;">
            <a:extLst>
              <a:ext uri="{FF2B5EF4-FFF2-40B4-BE49-F238E27FC236}">
                <a16:creationId xmlns:a16="http://schemas.microsoft.com/office/drawing/2014/main" id="{D62EF638-FF24-48E9-B06E-86B6F74FB943}"/>
              </a:ext>
            </a:extLst>
          </p:cNvPr>
          <p:cNvGraphicFramePr>
            <a:graphicFrameLocks noChangeAspect="1"/>
          </p:cNvGraphicFramePr>
          <p:nvPr/>
        </p:nvGraphicFramePr>
        <p:xfrm>
          <a:off x="3009955" y="4449709"/>
          <a:ext cx="290528" cy="476620"/>
        </p:xfrm>
        <a:graphic>
          <a:graphicData uri="http://schemas.openxmlformats.org/presentationml/2006/ole">
            <mc:AlternateContent xmlns:mc="http://schemas.openxmlformats.org/markup-compatibility/2006">
              <mc:Choice xmlns:v="urn:schemas-microsoft-com:vml" Requires="v">
                <p:oleObj name="Equation" r:id="rId5" imgW="139680" imgH="228600" progId="Equation.DSMT4">
                  <p:embed/>
                </p:oleObj>
              </mc:Choice>
              <mc:Fallback>
                <p:oleObj name="Equation" r:id="rId5" imgW="139680" imgH="228600" progId="Equation.DSMT4">
                  <p:embed/>
                  <p:pic>
                    <p:nvPicPr>
                      <p:cNvPr id="45" name="Object 44" descr="i subscript b.&#10;">
                        <a:extLst>
                          <a:ext uri="{FF2B5EF4-FFF2-40B4-BE49-F238E27FC236}">
                            <a16:creationId xmlns:a16="http://schemas.microsoft.com/office/drawing/2014/main" id="{D62EF638-FF24-48E9-B06E-86B6F74FB943}"/>
                          </a:ext>
                        </a:extLst>
                      </p:cNvPr>
                      <p:cNvPicPr>
                        <a:picLocks noChangeAspect="1" noChangeArrowheads="1"/>
                      </p:cNvPicPr>
                      <p:nvPr/>
                    </p:nvPicPr>
                    <p:blipFill>
                      <a:blip r:embed="rId6"/>
                      <a:srcRect/>
                      <a:stretch>
                        <a:fillRect/>
                      </a:stretch>
                    </p:blipFill>
                    <p:spPr bwMode="auto">
                      <a:xfrm>
                        <a:off x="3009955" y="44497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323CFB70-B25F-8B29-A4EE-2B49421EE6B8}"/>
              </a:ext>
            </a:extLst>
          </p:cNvPr>
          <p:cNvSpPr>
            <a:spLocks noGrp="1"/>
          </p:cNvSpPr>
          <p:nvPr>
            <p:ph sz="quarter" idx="15"/>
          </p:nvPr>
        </p:nvSpPr>
        <p:spPr>
          <a:xfrm>
            <a:off x="1522132" y="4867971"/>
            <a:ext cx="325225" cy="387508"/>
          </a:xfrm>
        </p:spPr>
        <p:txBody>
          <a:bodyPr wrap="square" lIns="0" tIns="18000" rIns="0" bIns="0" anchor="ctr" anchorCtr="0">
            <a:spAutoFit/>
          </a:bodyPr>
          <a:lstStyle/>
          <a:p>
            <a:pPr marL="0" indent="0">
              <a:buNone/>
            </a:pPr>
            <a:r>
              <a:rPr lang="en-US" sz="2400" noProof="0" dirty="0">
                <a:solidFill>
                  <a:schemeClr val="tx2"/>
                </a:solidFill>
              </a:rPr>
              <a:t>B. </a:t>
            </a:r>
            <a:endParaRPr lang="en-US" sz="2400" dirty="0"/>
          </a:p>
        </p:txBody>
      </p:sp>
      <p:graphicFrame>
        <p:nvGraphicFramePr>
          <p:cNvPr id="46" name="Object 45" descr="i subscript a&#10;">
            <a:extLst>
              <a:ext uri="{FF2B5EF4-FFF2-40B4-BE49-F238E27FC236}">
                <a16:creationId xmlns:a16="http://schemas.microsoft.com/office/drawing/2014/main" id="{F0D4B714-4574-4E43-887B-34FBFD8D10DB}"/>
              </a:ext>
            </a:extLst>
          </p:cNvPr>
          <p:cNvGraphicFramePr>
            <a:graphicFrameLocks noChangeAspect="1"/>
          </p:cNvGraphicFramePr>
          <p:nvPr/>
        </p:nvGraphicFramePr>
        <p:xfrm>
          <a:off x="1955855" y="4906909"/>
          <a:ext cx="290528" cy="476620"/>
        </p:xfrm>
        <a:graphic>
          <a:graphicData uri="http://schemas.openxmlformats.org/presentationml/2006/ole">
            <mc:AlternateContent xmlns:mc="http://schemas.openxmlformats.org/markup-compatibility/2006">
              <mc:Choice xmlns:v="urn:schemas-microsoft-com:vml" Requires="v">
                <p:oleObj name="Equation" r:id="rId7" imgW="139680" imgH="228600" progId="Equation.DSMT4">
                  <p:embed/>
                </p:oleObj>
              </mc:Choice>
              <mc:Fallback>
                <p:oleObj name="Equation" r:id="rId7" imgW="139680" imgH="228600" progId="Equation.DSMT4">
                  <p:embed/>
                  <p:pic>
                    <p:nvPicPr>
                      <p:cNvPr id="46" name="Object 45" descr="i subscript a&#10;">
                        <a:extLst>
                          <a:ext uri="{FF2B5EF4-FFF2-40B4-BE49-F238E27FC236}">
                            <a16:creationId xmlns:a16="http://schemas.microsoft.com/office/drawing/2014/main" id="{F0D4B714-4574-4E43-887B-34FBFD8D10DB}"/>
                          </a:ext>
                        </a:extLst>
                      </p:cNvPr>
                      <p:cNvPicPr>
                        <a:picLocks noChangeAspect="1" noChangeArrowheads="1"/>
                      </p:cNvPicPr>
                      <p:nvPr/>
                    </p:nvPicPr>
                    <p:blipFill>
                      <a:blip r:embed="rId8"/>
                      <a:srcRect/>
                      <a:stretch>
                        <a:fillRect/>
                      </a:stretch>
                    </p:blipFill>
                    <p:spPr bwMode="auto">
                      <a:xfrm>
                        <a:off x="1955855" y="49069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Content Placeholder 29">
            <a:extLst>
              <a:ext uri="{FF2B5EF4-FFF2-40B4-BE49-F238E27FC236}">
                <a16:creationId xmlns:a16="http://schemas.microsoft.com/office/drawing/2014/main" id="{9074116B-4786-4B19-9C87-BA66E0F7D18E}"/>
              </a:ext>
            </a:extLst>
          </p:cNvPr>
          <p:cNvSpPr>
            <a:spLocks noGrp="1"/>
          </p:cNvSpPr>
          <p:nvPr>
            <p:ph sz="quarter" idx="22"/>
          </p:nvPr>
        </p:nvSpPr>
        <p:spPr>
          <a:xfrm>
            <a:off x="2386116" y="4910312"/>
            <a:ext cx="529586"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47" name="Object 46" descr="i subscript c&#10;">
            <a:extLst>
              <a:ext uri="{FF2B5EF4-FFF2-40B4-BE49-F238E27FC236}">
                <a16:creationId xmlns:a16="http://schemas.microsoft.com/office/drawing/2014/main" id="{5AD7EC53-D93F-4922-B3AD-5F5B2B170C8E}"/>
              </a:ext>
            </a:extLst>
          </p:cNvPr>
          <p:cNvGraphicFramePr>
            <a:graphicFrameLocks noChangeAspect="1"/>
          </p:cNvGraphicFramePr>
          <p:nvPr/>
        </p:nvGraphicFramePr>
        <p:xfrm>
          <a:off x="2984555" y="4894209"/>
          <a:ext cx="290528" cy="476620"/>
        </p:xfrm>
        <a:graphic>
          <a:graphicData uri="http://schemas.openxmlformats.org/presentationml/2006/ole">
            <mc:AlternateContent xmlns:mc="http://schemas.openxmlformats.org/markup-compatibility/2006">
              <mc:Choice xmlns:v="urn:schemas-microsoft-com:vml" Requires="v">
                <p:oleObj name="Equation" r:id="rId9" imgW="139680" imgH="228600" progId="Equation.DSMT4">
                  <p:embed/>
                </p:oleObj>
              </mc:Choice>
              <mc:Fallback>
                <p:oleObj name="Equation" r:id="rId9" imgW="139680" imgH="228600" progId="Equation.DSMT4">
                  <p:embed/>
                  <p:pic>
                    <p:nvPicPr>
                      <p:cNvPr id="47" name="Object 46" descr="i subscript c&#10;">
                        <a:extLst>
                          <a:ext uri="{FF2B5EF4-FFF2-40B4-BE49-F238E27FC236}">
                            <a16:creationId xmlns:a16="http://schemas.microsoft.com/office/drawing/2014/main" id="{5AD7EC53-D93F-4922-B3AD-5F5B2B170C8E}"/>
                          </a:ext>
                        </a:extLst>
                      </p:cNvPr>
                      <p:cNvPicPr>
                        <a:picLocks noChangeAspect="1" noChangeArrowheads="1"/>
                      </p:cNvPicPr>
                      <p:nvPr/>
                    </p:nvPicPr>
                    <p:blipFill>
                      <a:blip r:embed="rId10"/>
                      <a:srcRect/>
                      <a:stretch>
                        <a:fillRect/>
                      </a:stretch>
                    </p:blipFill>
                    <p:spPr bwMode="auto">
                      <a:xfrm>
                        <a:off x="2984555" y="48942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Content Placeholder 6">
            <a:extLst>
              <a:ext uri="{FF2B5EF4-FFF2-40B4-BE49-F238E27FC236}">
                <a16:creationId xmlns:a16="http://schemas.microsoft.com/office/drawing/2014/main" id="{626A51F5-8F91-9663-F57F-DCC26C9A7AEF}"/>
              </a:ext>
            </a:extLst>
          </p:cNvPr>
          <p:cNvSpPr>
            <a:spLocks noGrp="1"/>
          </p:cNvSpPr>
          <p:nvPr>
            <p:ph sz="quarter" idx="16"/>
          </p:nvPr>
        </p:nvSpPr>
        <p:spPr>
          <a:xfrm>
            <a:off x="1522132" y="5373775"/>
            <a:ext cx="325225" cy="387508"/>
          </a:xfrm>
        </p:spPr>
        <p:txBody>
          <a:bodyPr wrap="square" lIns="0" tIns="18000" rIns="0" bIns="0" anchor="ctr" anchorCtr="0">
            <a:spAutoFit/>
          </a:bodyPr>
          <a:lstStyle/>
          <a:p>
            <a:pPr marL="0" indent="0">
              <a:buNone/>
            </a:pPr>
            <a:r>
              <a:rPr lang="en-US" altLang="en-US" sz="2400" noProof="0" dirty="0">
                <a:solidFill>
                  <a:schemeClr val="tx2"/>
                </a:solidFill>
              </a:rPr>
              <a:t>C.</a:t>
            </a:r>
            <a:r>
              <a:rPr lang="en-US" altLang="en-US" sz="2400" dirty="0"/>
              <a:t> </a:t>
            </a:r>
          </a:p>
        </p:txBody>
      </p:sp>
      <p:graphicFrame>
        <p:nvGraphicFramePr>
          <p:cNvPr id="48" name="Object 47" descr="i subscript b&#10;">
            <a:extLst>
              <a:ext uri="{FF2B5EF4-FFF2-40B4-BE49-F238E27FC236}">
                <a16:creationId xmlns:a16="http://schemas.microsoft.com/office/drawing/2014/main" id="{C9089267-A09F-41FB-9859-4F0CC1089BA4}"/>
              </a:ext>
            </a:extLst>
          </p:cNvPr>
          <p:cNvGraphicFramePr>
            <a:graphicFrameLocks noChangeAspect="1"/>
          </p:cNvGraphicFramePr>
          <p:nvPr/>
        </p:nvGraphicFramePr>
        <p:xfrm>
          <a:off x="1930455" y="5389509"/>
          <a:ext cx="290528" cy="476620"/>
        </p:xfrm>
        <a:graphic>
          <a:graphicData uri="http://schemas.openxmlformats.org/presentationml/2006/ole">
            <mc:AlternateContent xmlns:mc="http://schemas.openxmlformats.org/markup-compatibility/2006">
              <mc:Choice xmlns:v="urn:schemas-microsoft-com:vml" Requires="v">
                <p:oleObj name="Equation" r:id="rId11" imgW="139680" imgH="228600" progId="Equation.DSMT4">
                  <p:embed/>
                </p:oleObj>
              </mc:Choice>
              <mc:Fallback>
                <p:oleObj name="Equation" r:id="rId11" imgW="139680" imgH="228600" progId="Equation.DSMT4">
                  <p:embed/>
                  <p:pic>
                    <p:nvPicPr>
                      <p:cNvPr id="48" name="Object 47" descr="i subscript b&#10;">
                        <a:extLst>
                          <a:ext uri="{FF2B5EF4-FFF2-40B4-BE49-F238E27FC236}">
                            <a16:creationId xmlns:a16="http://schemas.microsoft.com/office/drawing/2014/main" id="{C9089267-A09F-41FB-9859-4F0CC1089BA4}"/>
                          </a:ext>
                        </a:extLst>
                      </p:cNvPr>
                      <p:cNvPicPr>
                        <a:picLocks noChangeAspect="1" noChangeArrowheads="1"/>
                      </p:cNvPicPr>
                      <p:nvPr/>
                    </p:nvPicPr>
                    <p:blipFill>
                      <a:blip r:embed="rId12"/>
                      <a:srcRect/>
                      <a:stretch>
                        <a:fillRect/>
                      </a:stretch>
                    </p:blipFill>
                    <p:spPr bwMode="auto">
                      <a:xfrm>
                        <a:off x="1930455" y="53895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Content Placeholder 22">
            <a:extLst>
              <a:ext uri="{FF2B5EF4-FFF2-40B4-BE49-F238E27FC236}">
                <a16:creationId xmlns:a16="http://schemas.microsoft.com/office/drawing/2014/main" id="{95A282AB-298F-468A-8880-FF56FDD5BECE}"/>
              </a:ext>
            </a:extLst>
          </p:cNvPr>
          <p:cNvSpPr>
            <a:spLocks noGrp="1"/>
          </p:cNvSpPr>
          <p:nvPr>
            <p:ph sz="quarter" idx="18"/>
          </p:nvPr>
        </p:nvSpPr>
        <p:spPr>
          <a:xfrm>
            <a:off x="2386655" y="5395985"/>
            <a:ext cx="483545"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49" name="Object 48" descr="i subscript c&#10;">
            <a:extLst>
              <a:ext uri="{FF2B5EF4-FFF2-40B4-BE49-F238E27FC236}">
                <a16:creationId xmlns:a16="http://schemas.microsoft.com/office/drawing/2014/main" id="{C6534BB3-E913-4F07-8A8C-57E970C03296}"/>
              </a:ext>
            </a:extLst>
          </p:cNvPr>
          <p:cNvGraphicFramePr>
            <a:graphicFrameLocks noChangeAspect="1"/>
          </p:cNvGraphicFramePr>
          <p:nvPr/>
        </p:nvGraphicFramePr>
        <p:xfrm>
          <a:off x="2946455" y="5376809"/>
          <a:ext cx="290528" cy="476620"/>
        </p:xfrm>
        <a:graphic>
          <a:graphicData uri="http://schemas.openxmlformats.org/presentationml/2006/ole">
            <mc:AlternateContent xmlns:mc="http://schemas.openxmlformats.org/markup-compatibility/2006">
              <mc:Choice xmlns:v="urn:schemas-microsoft-com:vml" Requires="v">
                <p:oleObj name="Equation" r:id="rId13" imgW="139680" imgH="228600" progId="Equation.DSMT4">
                  <p:embed/>
                </p:oleObj>
              </mc:Choice>
              <mc:Fallback>
                <p:oleObj name="Equation" r:id="rId13" imgW="139680" imgH="228600" progId="Equation.DSMT4">
                  <p:embed/>
                  <p:pic>
                    <p:nvPicPr>
                      <p:cNvPr id="49" name="Object 48" descr="i subscript c&#10;">
                        <a:extLst>
                          <a:ext uri="{FF2B5EF4-FFF2-40B4-BE49-F238E27FC236}">
                            <a16:creationId xmlns:a16="http://schemas.microsoft.com/office/drawing/2014/main" id="{C6534BB3-E913-4F07-8A8C-57E970C03296}"/>
                          </a:ext>
                        </a:extLst>
                      </p:cNvPr>
                      <p:cNvPicPr>
                        <a:picLocks noChangeAspect="1" noChangeArrowheads="1"/>
                      </p:cNvPicPr>
                      <p:nvPr/>
                    </p:nvPicPr>
                    <p:blipFill>
                      <a:blip r:embed="rId14"/>
                      <a:srcRect/>
                      <a:stretch>
                        <a:fillRect/>
                      </a:stretch>
                    </p:blipFill>
                    <p:spPr bwMode="auto">
                      <a:xfrm>
                        <a:off x="2946455" y="53768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C2273C42-00D3-8B92-79A5-D6AFA7962AC0}"/>
              </a:ext>
            </a:extLst>
          </p:cNvPr>
          <p:cNvSpPr>
            <a:spLocks noGrp="1"/>
          </p:cNvSpPr>
          <p:nvPr>
            <p:ph sz="quarter" idx="17"/>
          </p:nvPr>
        </p:nvSpPr>
        <p:spPr>
          <a:xfrm>
            <a:off x="1522132" y="5887517"/>
            <a:ext cx="325225" cy="387508"/>
          </a:xfrm>
        </p:spPr>
        <p:txBody>
          <a:bodyPr wrap="square" lIns="0" tIns="18000" rIns="0" bIns="0" anchor="ctr" anchorCtr="0">
            <a:spAutoFit/>
          </a:bodyPr>
          <a:lstStyle/>
          <a:p>
            <a:pPr marL="0" indent="0">
              <a:buNone/>
            </a:pPr>
            <a:r>
              <a:rPr lang="en-US" sz="2400" noProof="0" dirty="0">
                <a:solidFill>
                  <a:schemeClr val="tx2"/>
                </a:solidFill>
              </a:rPr>
              <a:t>D.</a:t>
            </a:r>
            <a:r>
              <a:rPr lang="en-US" sz="2400" dirty="0"/>
              <a:t> </a:t>
            </a:r>
          </a:p>
        </p:txBody>
      </p:sp>
      <p:graphicFrame>
        <p:nvGraphicFramePr>
          <p:cNvPr id="51" name="Object 50" descr="i subscript a&#10;">
            <a:extLst>
              <a:ext uri="{FF2B5EF4-FFF2-40B4-BE49-F238E27FC236}">
                <a16:creationId xmlns:a16="http://schemas.microsoft.com/office/drawing/2014/main" id="{791D3C5D-7023-46EA-AB71-A035A206ADC9}"/>
              </a:ext>
            </a:extLst>
          </p:cNvPr>
          <p:cNvGraphicFramePr>
            <a:graphicFrameLocks noChangeAspect="1"/>
          </p:cNvGraphicFramePr>
          <p:nvPr/>
        </p:nvGraphicFramePr>
        <p:xfrm>
          <a:off x="1930510" y="5877544"/>
          <a:ext cx="290528" cy="476620"/>
        </p:xfrm>
        <a:graphic>
          <a:graphicData uri="http://schemas.openxmlformats.org/presentationml/2006/ole">
            <mc:AlternateContent xmlns:mc="http://schemas.openxmlformats.org/markup-compatibility/2006">
              <mc:Choice xmlns:v="urn:schemas-microsoft-com:vml" Requires="v">
                <p:oleObj name="Equation" r:id="rId15" imgW="139680" imgH="228600" progId="Equation.DSMT4">
                  <p:embed/>
                </p:oleObj>
              </mc:Choice>
              <mc:Fallback>
                <p:oleObj name="Equation" r:id="rId15" imgW="139680" imgH="228600" progId="Equation.DSMT4">
                  <p:embed/>
                  <p:pic>
                    <p:nvPicPr>
                      <p:cNvPr id="51" name="Object 50" descr="i subscript a&#10;">
                        <a:extLst>
                          <a:ext uri="{FF2B5EF4-FFF2-40B4-BE49-F238E27FC236}">
                            <a16:creationId xmlns:a16="http://schemas.microsoft.com/office/drawing/2014/main" id="{791D3C5D-7023-46EA-AB71-A035A206ADC9}"/>
                          </a:ext>
                        </a:extLst>
                      </p:cNvPr>
                      <p:cNvPicPr>
                        <a:picLocks noChangeAspect="1" noChangeArrowheads="1"/>
                      </p:cNvPicPr>
                      <p:nvPr/>
                    </p:nvPicPr>
                    <p:blipFill>
                      <a:blip r:embed="rId16"/>
                      <a:srcRect/>
                      <a:stretch>
                        <a:fillRect/>
                      </a:stretch>
                    </p:blipFill>
                    <p:spPr bwMode="auto">
                      <a:xfrm>
                        <a:off x="1930510" y="5877544"/>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Content Placeholder 31">
            <a:extLst>
              <a:ext uri="{FF2B5EF4-FFF2-40B4-BE49-F238E27FC236}">
                <a16:creationId xmlns:a16="http://schemas.microsoft.com/office/drawing/2014/main" id="{BEFC1F9E-7144-4881-AAAA-BC3CA4F7AD66}"/>
              </a:ext>
            </a:extLst>
          </p:cNvPr>
          <p:cNvSpPr>
            <a:spLocks noGrp="1"/>
          </p:cNvSpPr>
          <p:nvPr>
            <p:ph sz="quarter" idx="23"/>
          </p:nvPr>
        </p:nvSpPr>
        <p:spPr>
          <a:xfrm>
            <a:off x="2383157" y="5872337"/>
            <a:ext cx="512443"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50" name="Object 49" descr="i subscript b&#10;">
            <a:extLst>
              <a:ext uri="{FF2B5EF4-FFF2-40B4-BE49-F238E27FC236}">
                <a16:creationId xmlns:a16="http://schemas.microsoft.com/office/drawing/2014/main" id="{5DC858AE-2B83-471B-9AEB-FB1A0839A66E}"/>
              </a:ext>
            </a:extLst>
          </p:cNvPr>
          <p:cNvGraphicFramePr>
            <a:graphicFrameLocks noChangeAspect="1"/>
          </p:cNvGraphicFramePr>
          <p:nvPr/>
        </p:nvGraphicFramePr>
        <p:xfrm>
          <a:off x="2933755" y="5872109"/>
          <a:ext cx="290528" cy="476620"/>
        </p:xfrm>
        <a:graphic>
          <a:graphicData uri="http://schemas.openxmlformats.org/presentationml/2006/ole">
            <mc:AlternateContent xmlns:mc="http://schemas.openxmlformats.org/markup-compatibility/2006">
              <mc:Choice xmlns:v="urn:schemas-microsoft-com:vml" Requires="v">
                <p:oleObj name="Equation" r:id="rId17" imgW="139680" imgH="228600" progId="Equation.DSMT4">
                  <p:embed/>
                </p:oleObj>
              </mc:Choice>
              <mc:Fallback>
                <p:oleObj name="Equation" r:id="rId17" imgW="139680" imgH="228600" progId="Equation.DSMT4">
                  <p:embed/>
                  <p:pic>
                    <p:nvPicPr>
                      <p:cNvPr id="50" name="Object 49" descr="i subscript b&#10;">
                        <a:extLst>
                          <a:ext uri="{FF2B5EF4-FFF2-40B4-BE49-F238E27FC236}">
                            <a16:creationId xmlns:a16="http://schemas.microsoft.com/office/drawing/2014/main" id="{5DC858AE-2B83-471B-9AEB-FB1A0839A66E}"/>
                          </a:ext>
                        </a:extLst>
                      </p:cNvPr>
                      <p:cNvPicPr>
                        <a:picLocks noChangeAspect="1" noChangeArrowheads="1"/>
                      </p:cNvPicPr>
                      <p:nvPr/>
                    </p:nvPicPr>
                    <p:blipFill>
                      <a:blip r:embed="rId18"/>
                      <a:srcRect/>
                      <a:stretch>
                        <a:fillRect/>
                      </a:stretch>
                    </p:blipFill>
                    <p:spPr bwMode="auto">
                      <a:xfrm>
                        <a:off x="2933755" y="58721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Content Placeholder 23">
            <a:extLst>
              <a:ext uri="{FF2B5EF4-FFF2-40B4-BE49-F238E27FC236}">
                <a16:creationId xmlns:a16="http://schemas.microsoft.com/office/drawing/2014/main" id="{3F9B42BC-8083-47EB-82DA-E31C29BE0E68}"/>
              </a:ext>
            </a:extLst>
          </p:cNvPr>
          <p:cNvSpPr>
            <a:spLocks noGrp="1"/>
          </p:cNvSpPr>
          <p:nvPr>
            <p:ph sz="quarter" idx="19"/>
          </p:nvPr>
        </p:nvSpPr>
        <p:spPr>
          <a:xfrm>
            <a:off x="3285397" y="5892502"/>
            <a:ext cx="512443"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52" name="Object 51" descr="i subscript c&#10;">
            <a:extLst>
              <a:ext uri="{FF2B5EF4-FFF2-40B4-BE49-F238E27FC236}">
                <a16:creationId xmlns:a16="http://schemas.microsoft.com/office/drawing/2014/main" id="{BC27F4ED-0E3B-43A8-AE18-2BBDE5F932CB}"/>
              </a:ext>
            </a:extLst>
          </p:cNvPr>
          <p:cNvGraphicFramePr>
            <a:graphicFrameLocks noChangeAspect="1"/>
          </p:cNvGraphicFramePr>
          <p:nvPr/>
        </p:nvGraphicFramePr>
        <p:xfrm>
          <a:off x="3860855" y="5884809"/>
          <a:ext cx="290528" cy="476620"/>
        </p:xfrm>
        <a:graphic>
          <a:graphicData uri="http://schemas.openxmlformats.org/presentationml/2006/ole">
            <mc:AlternateContent xmlns:mc="http://schemas.openxmlformats.org/markup-compatibility/2006">
              <mc:Choice xmlns:v="urn:schemas-microsoft-com:vml" Requires="v">
                <p:oleObj name="Equation" r:id="rId19" imgW="139680" imgH="228600" progId="Equation.DSMT4">
                  <p:embed/>
                </p:oleObj>
              </mc:Choice>
              <mc:Fallback>
                <p:oleObj name="Equation" r:id="rId19" imgW="139680" imgH="228600" progId="Equation.DSMT4">
                  <p:embed/>
                  <p:pic>
                    <p:nvPicPr>
                      <p:cNvPr id="52" name="Object 51" descr="i subscript c&#10;">
                        <a:extLst>
                          <a:ext uri="{FF2B5EF4-FFF2-40B4-BE49-F238E27FC236}">
                            <a16:creationId xmlns:a16="http://schemas.microsoft.com/office/drawing/2014/main" id="{BC27F4ED-0E3B-43A8-AE18-2BBDE5F932CB}"/>
                          </a:ext>
                        </a:extLst>
                      </p:cNvPr>
                      <p:cNvPicPr>
                        <a:picLocks noChangeAspect="1" noChangeArrowheads="1"/>
                      </p:cNvPicPr>
                      <p:nvPr/>
                    </p:nvPicPr>
                    <p:blipFill>
                      <a:blip r:embed="rId20"/>
                      <a:srcRect/>
                      <a:stretch>
                        <a:fillRect/>
                      </a:stretch>
                    </p:blipFill>
                    <p:spPr bwMode="auto">
                      <a:xfrm>
                        <a:off x="3860855" y="58848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83126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06CB0-3079-3D76-A0B6-D230B118A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AEBF8-118E-E0F4-9D73-A84909481215}"/>
              </a:ext>
            </a:extLst>
          </p:cNvPr>
          <p:cNvSpPr>
            <a:spLocks noGrp="1"/>
          </p:cNvSpPr>
          <p:nvPr>
            <p:ph type="title"/>
          </p:nvPr>
        </p:nvSpPr>
        <p:spPr>
          <a:xfrm>
            <a:off x="428625" y="196020"/>
            <a:ext cx="8229600" cy="1144347"/>
          </a:xfrm>
        </p:spPr>
        <p:txBody>
          <a:bodyPr wrap="square" tIns="18000" bIns="0" anchor="ctr" anchorCtr="0">
            <a:spAutoFit/>
          </a:bodyPr>
          <a:lstStyle/>
          <a:p>
            <a:r>
              <a:rPr lang="en-US" dirty="0"/>
              <a:t>Chapter 4 – techniques of circuit analysis </a:t>
            </a:r>
            <a:r>
              <a:rPr lang="en-US" sz="2800" dirty="0"/>
              <a:t>(8 of 12)</a:t>
            </a:r>
            <a:endParaRPr lang="en-US" noProof="0" dirty="0"/>
          </a:p>
        </p:txBody>
      </p:sp>
      <p:sp>
        <p:nvSpPr>
          <p:cNvPr id="3" name="Content Placeholder 2">
            <a:extLst>
              <a:ext uri="{FF2B5EF4-FFF2-40B4-BE49-F238E27FC236}">
                <a16:creationId xmlns:a16="http://schemas.microsoft.com/office/drawing/2014/main" id="{960A00FC-D281-4D8F-A3F4-C5C330817EC3}"/>
              </a:ext>
            </a:extLst>
          </p:cNvPr>
          <p:cNvSpPr>
            <a:spLocks noGrp="1"/>
          </p:cNvSpPr>
          <p:nvPr>
            <p:ph sz="quarter" idx="12"/>
          </p:nvPr>
        </p:nvSpPr>
        <p:spPr>
          <a:xfrm>
            <a:off x="428919" y="1490055"/>
            <a:ext cx="8242006" cy="775015"/>
          </a:xfrm>
        </p:spPr>
        <p:txBody>
          <a:bodyPr wrap="square" lIns="0" tIns="18000" rIns="0" bIns="0" anchor="ctr" anchorCtr="0">
            <a:spAutoFit/>
          </a:bodyPr>
          <a:lstStyle/>
          <a:p>
            <a:pPr marL="0" indent="0">
              <a:buNone/>
            </a:pPr>
            <a:r>
              <a:rPr lang="en-US" sz="2400" dirty="0"/>
              <a:t>This circuit has a </a:t>
            </a:r>
            <a:r>
              <a:rPr lang="en-US" sz="2400" dirty="0" err="1"/>
              <a:t>supermesh</a:t>
            </a:r>
            <a:r>
              <a:rPr lang="en-US" sz="2400" dirty="0"/>
              <a:t> created from the two meshes with the following mesh currents:</a:t>
            </a:r>
          </a:p>
        </p:txBody>
      </p:sp>
      <p:pic>
        <p:nvPicPr>
          <p:cNvPr id="44" name="Picture 2" descr="A circuit diagram shows a two layered circuit. In the lower part of the circuit, a 10 volt independent voltage source with positive polarity at the top end and negative at the bottom forms the left most wire. Connected in parallel to the 10 volt independent voltage source from left to right in that order are a 2-ohm resistor and a 6 volt independent voltage source. The 6 volt independent voltage source has negative polarity at its top end and positive at the bottom. Three nodes are marked where the wires housing the 10 volt independent voltage source, the 2-ohm resistor, and the 6 volt independent voltage source connect to the second wire from the top in the circuit. A node is separately marked where the wire housing the 2-ohm resistor connects with the bottom wire in the circuit. &#10;A 2 ampere independent current source with internal arrow pointing rightward is located between the nodes where the wires housing the 10 volt independent voltage source and the 2-ohm resistor connect to the second wire from top. A 2 ohm resistor is located between the nodes where the wires housing the 2-ohm vertical resistor and the 6 volt independent voltage source connect to the second wire from top. A 1 ohm resistor is located between the nodes where the wires housing the 2-ohm vertical resistor and the 6 volt independent voltage source connect to the bottom wire of the circuit. &#10;A 2-ohm resistor forms the topmost wire in the circuit and is connected to the nodes where the wires housing the 10 volt independent voltage source and the 6 volt independent voltage source connect to the second wire from the top. &#10;Current i subscript a flows clockwise through the upper part of the circuit through the uppermost 2-ohm resistor and the rightmost 2-ohm resistor. Current i subscript b flows clockwise through the lower left part of the circuit through the 2 ampere independent current source and the vertical 2-ohm resistor. Current i subscript c flows clockwise through the 6 volt independent voltage source and the 1 ohm resistance.">
            <a:extLst>
              <a:ext uri="{FF2B5EF4-FFF2-40B4-BE49-F238E27FC236}">
                <a16:creationId xmlns:a16="http://schemas.microsoft.com/office/drawing/2014/main" id="{C14725BF-09E0-43DB-609B-EBB8E43547A9}"/>
              </a:ext>
            </a:extLst>
          </p:cNvPr>
          <p:cNvPicPr>
            <a:picLocks noChangeAspect="1" noChangeArrowheads="1"/>
          </p:cNvPicPr>
          <p:nvPr/>
        </p:nvPicPr>
        <p:blipFill>
          <a:blip r:embed="rId2"/>
          <a:srcRect/>
          <a:stretch/>
        </p:blipFill>
        <p:spPr bwMode="auto">
          <a:xfrm>
            <a:off x="3204666" y="2383973"/>
            <a:ext cx="2748977" cy="1782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7" descr="Check mark">
            <a:extLst>
              <a:ext uri="{FF2B5EF4-FFF2-40B4-BE49-F238E27FC236}">
                <a16:creationId xmlns:a16="http://schemas.microsoft.com/office/drawing/2014/main" id="{3C562ACC-787D-247A-FB27-E4A90A48EAAF}"/>
              </a:ext>
            </a:extLst>
          </p:cNvPr>
          <p:cNvPicPr>
            <a:picLocks noChangeAspect="1"/>
          </p:cNvPicPr>
          <p:nvPr/>
        </p:nvPicPr>
        <p:blipFill>
          <a:blip r:embed="rId3"/>
          <a:stretch>
            <a:fillRect/>
          </a:stretch>
        </p:blipFill>
        <p:spPr>
          <a:xfrm>
            <a:off x="999114" y="4518908"/>
            <a:ext cx="312822" cy="312822"/>
          </a:xfrm>
          <a:prstGeom prst="rect">
            <a:avLst/>
          </a:prstGeom>
        </p:spPr>
      </p:pic>
      <p:sp>
        <p:nvSpPr>
          <p:cNvPr id="5" name="Content Placeholder 4">
            <a:extLst>
              <a:ext uri="{FF2B5EF4-FFF2-40B4-BE49-F238E27FC236}">
                <a16:creationId xmlns:a16="http://schemas.microsoft.com/office/drawing/2014/main" id="{FD2B0121-B82F-52A6-4D04-821C4FBF7125}"/>
              </a:ext>
            </a:extLst>
          </p:cNvPr>
          <p:cNvSpPr>
            <a:spLocks noGrp="1"/>
          </p:cNvSpPr>
          <p:nvPr>
            <p:ph sz="quarter" idx="14"/>
          </p:nvPr>
        </p:nvSpPr>
        <p:spPr>
          <a:xfrm>
            <a:off x="1522132" y="4417121"/>
            <a:ext cx="325225" cy="387508"/>
          </a:xfrm>
        </p:spPr>
        <p:txBody>
          <a:bodyPr wrap="square" lIns="0" tIns="18000" rIns="0" bIns="0" anchor="ctr" anchorCtr="0">
            <a:spAutoFit/>
          </a:bodyPr>
          <a:lstStyle/>
          <a:p>
            <a:pPr marL="0" indent="0">
              <a:buNone/>
            </a:pPr>
            <a:r>
              <a:rPr lang="en-US" altLang="en-US" sz="2400" noProof="0" dirty="0">
                <a:solidFill>
                  <a:schemeClr val="tx2"/>
                </a:solidFill>
              </a:rPr>
              <a:t>A.</a:t>
            </a:r>
            <a:r>
              <a:rPr lang="en-US" altLang="en-US" sz="2400" noProof="0" dirty="0"/>
              <a:t> </a:t>
            </a:r>
            <a:endParaRPr lang="en-US" sz="2400" dirty="0"/>
          </a:p>
        </p:txBody>
      </p:sp>
      <p:graphicFrame>
        <p:nvGraphicFramePr>
          <p:cNvPr id="12" name="Object 11" descr="i subscript a&#10;">
            <a:extLst>
              <a:ext uri="{FF2B5EF4-FFF2-40B4-BE49-F238E27FC236}">
                <a16:creationId xmlns:a16="http://schemas.microsoft.com/office/drawing/2014/main" id="{A1A4923D-CD55-46DE-9AF5-92D9AA22ED88}"/>
              </a:ext>
            </a:extLst>
          </p:cNvPr>
          <p:cNvGraphicFramePr>
            <a:graphicFrameLocks noChangeAspect="1"/>
          </p:cNvGraphicFramePr>
          <p:nvPr/>
        </p:nvGraphicFramePr>
        <p:xfrm>
          <a:off x="1981255" y="4437009"/>
          <a:ext cx="290528" cy="476620"/>
        </p:xfrm>
        <a:graphic>
          <a:graphicData uri="http://schemas.openxmlformats.org/presentationml/2006/ole">
            <mc:AlternateContent xmlns:mc="http://schemas.openxmlformats.org/markup-compatibility/2006">
              <mc:Choice xmlns:v="urn:schemas-microsoft-com:vml" Requires="v">
                <p:oleObj name="Equation" r:id="rId4" imgW="139680" imgH="228600" progId="Equation.DSMT4">
                  <p:embed/>
                </p:oleObj>
              </mc:Choice>
              <mc:Fallback>
                <p:oleObj name="Equation" r:id="rId4" imgW="139680" imgH="228600" progId="Equation.DSMT4">
                  <p:embed/>
                  <p:pic>
                    <p:nvPicPr>
                      <p:cNvPr id="12" name="Object 11" descr="i subscript a&#10;">
                        <a:extLst>
                          <a:ext uri="{FF2B5EF4-FFF2-40B4-BE49-F238E27FC236}">
                            <a16:creationId xmlns:a16="http://schemas.microsoft.com/office/drawing/2014/main" id="{F7C07C02-CA4E-441D-BA6A-3AB7888A1714}"/>
                          </a:ext>
                        </a:extLst>
                      </p:cNvPr>
                      <p:cNvPicPr>
                        <a:picLocks noChangeAspect="1" noChangeArrowheads="1"/>
                      </p:cNvPicPr>
                      <p:nvPr/>
                    </p:nvPicPr>
                    <p:blipFill>
                      <a:blip r:embed="rId5"/>
                      <a:srcRect/>
                      <a:stretch>
                        <a:fillRect/>
                      </a:stretch>
                    </p:blipFill>
                    <p:spPr bwMode="auto">
                      <a:xfrm>
                        <a:off x="1981255" y="44370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Content Placeholder 26">
            <a:extLst>
              <a:ext uri="{FF2B5EF4-FFF2-40B4-BE49-F238E27FC236}">
                <a16:creationId xmlns:a16="http://schemas.microsoft.com/office/drawing/2014/main" id="{F71676FE-E4A5-CB02-23F8-382D2F4C7061}"/>
              </a:ext>
            </a:extLst>
          </p:cNvPr>
          <p:cNvSpPr>
            <a:spLocks noGrp="1"/>
          </p:cNvSpPr>
          <p:nvPr>
            <p:ph sz="quarter" idx="21"/>
          </p:nvPr>
        </p:nvSpPr>
        <p:spPr>
          <a:xfrm>
            <a:off x="2398114" y="4494387"/>
            <a:ext cx="535586"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45" name="Object 44" descr="i subscript b.&#10;">
            <a:extLst>
              <a:ext uri="{FF2B5EF4-FFF2-40B4-BE49-F238E27FC236}">
                <a16:creationId xmlns:a16="http://schemas.microsoft.com/office/drawing/2014/main" id="{9A68FB78-ECAF-556C-191A-41AAD4C5B290}"/>
              </a:ext>
            </a:extLst>
          </p:cNvPr>
          <p:cNvGraphicFramePr>
            <a:graphicFrameLocks noChangeAspect="1"/>
          </p:cNvGraphicFramePr>
          <p:nvPr/>
        </p:nvGraphicFramePr>
        <p:xfrm>
          <a:off x="3009955" y="4449709"/>
          <a:ext cx="290528" cy="476620"/>
        </p:xfrm>
        <a:graphic>
          <a:graphicData uri="http://schemas.openxmlformats.org/presentationml/2006/ole">
            <mc:AlternateContent xmlns:mc="http://schemas.openxmlformats.org/markup-compatibility/2006">
              <mc:Choice xmlns:v="urn:schemas-microsoft-com:vml" Requires="v">
                <p:oleObj name="Equation" r:id="rId6" imgW="139680" imgH="228600" progId="Equation.DSMT4">
                  <p:embed/>
                </p:oleObj>
              </mc:Choice>
              <mc:Fallback>
                <p:oleObj name="Equation" r:id="rId6" imgW="139680" imgH="228600" progId="Equation.DSMT4">
                  <p:embed/>
                  <p:pic>
                    <p:nvPicPr>
                      <p:cNvPr id="45" name="Object 44" descr="i subscript b.&#10;">
                        <a:extLst>
                          <a:ext uri="{FF2B5EF4-FFF2-40B4-BE49-F238E27FC236}">
                            <a16:creationId xmlns:a16="http://schemas.microsoft.com/office/drawing/2014/main" id="{D62EF638-FF24-48E9-B06E-86B6F74FB943}"/>
                          </a:ext>
                        </a:extLst>
                      </p:cNvPr>
                      <p:cNvPicPr>
                        <a:picLocks noChangeAspect="1" noChangeArrowheads="1"/>
                      </p:cNvPicPr>
                      <p:nvPr/>
                    </p:nvPicPr>
                    <p:blipFill>
                      <a:blip r:embed="rId7"/>
                      <a:srcRect/>
                      <a:stretch>
                        <a:fillRect/>
                      </a:stretch>
                    </p:blipFill>
                    <p:spPr bwMode="auto">
                      <a:xfrm>
                        <a:off x="3009955" y="44497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9" name="Picture 28" descr="Cross mark">
            <a:extLst>
              <a:ext uri="{FF2B5EF4-FFF2-40B4-BE49-F238E27FC236}">
                <a16:creationId xmlns:a16="http://schemas.microsoft.com/office/drawing/2014/main" id="{E7013B16-678F-D665-BBA2-27BDC02EA0D1}"/>
              </a:ext>
            </a:extLst>
          </p:cNvPr>
          <p:cNvPicPr>
            <a:picLocks noChangeAspect="1"/>
          </p:cNvPicPr>
          <p:nvPr/>
        </p:nvPicPr>
        <p:blipFill>
          <a:blip r:embed="rId8"/>
          <a:stretch>
            <a:fillRect/>
          </a:stretch>
        </p:blipFill>
        <p:spPr>
          <a:xfrm>
            <a:off x="1021309" y="4981007"/>
            <a:ext cx="258531" cy="258531"/>
          </a:xfrm>
          <a:prstGeom prst="rect">
            <a:avLst/>
          </a:prstGeom>
        </p:spPr>
      </p:pic>
      <p:sp>
        <p:nvSpPr>
          <p:cNvPr id="6" name="Content Placeholder 5">
            <a:extLst>
              <a:ext uri="{FF2B5EF4-FFF2-40B4-BE49-F238E27FC236}">
                <a16:creationId xmlns:a16="http://schemas.microsoft.com/office/drawing/2014/main" id="{4454C104-6933-3ED4-B592-A6B5658D65B9}"/>
              </a:ext>
            </a:extLst>
          </p:cNvPr>
          <p:cNvSpPr>
            <a:spLocks noGrp="1"/>
          </p:cNvSpPr>
          <p:nvPr>
            <p:ph sz="quarter" idx="15"/>
          </p:nvPr>
        </p:nvSpPr>
        <p:spPr>
          <a:xfrm>
            <a:off x="1522132" y="4867971"/>
            <a:ext cx="325225" cy="387508"/>
          </a:xfrm>
        </p:spPr>
        <p:txBody>
          <a:bodyPr wrap="square" lIns="0" tIns="18000" rIns="0" bIns="0" anchor="ctr" anchorCtr="0">
            <a:spAutoFit/>
          </a:bodyPr>
          <a:lstStyle/>
          <a:p>
            <a:pPr marL="0" indent="0">
              <a:buNone/>
            </a:pPr>
            <a:r>
              <a:rPr lang="en-US" sz="2400" noProof="0" dirty="0">
                <a:solidFill>
                  <a:schemeClr val="tx2"/>
                </a:solidFill>
              </a:rPr>
              <a:t>B. </a:t>
            </a:r>
            <a:endParaRPr lang="en-US" sz="2400" dirty="0"/>
          </a:p>
        </p:txBody>
      </p:sp>
      <p:graphicFrame>
        <p:nvGraphicFramePr>
          <p:cNvPr id="46" name="Object 45" descr="i subscript a&#10;">
            <a:extLst>
              <a:ext uri="{FF2B5EF4-FFF2-40B4-BE49-F238E27FC236}">
                <a16:creationId xmlns:a16="http://schemas.microsoft.com/office/drawing/2014/main" id="{EDC1C445-5DDD-1F94-B3B0-29FB2812E341}"/>
              </a:ext>
            </a:extLst>
          </p:cNvPr>
          <p:cNvGraphicFramePr>
            <a:graphicFrameLocks noChangeAspect="1"/>
          </p:cNvGraphicFramePr>
          <p:nvPr/>
        </p:nvGraphicFramePr>
        <p:xfrm>
          <a:off x="1955855" y="4906909"/>
          <a:ext cx="290528" cy="476620"/>
        </p:xfrm>
        <a:graphic>
          <a:graphicData uri="http://schemas.openxmlformats.org/presentationml/2006/ole">
            <mc:AlternateContent xmlns:mc="http://schemas.openxmlformats.org/markup-compatibility/2006">
              <mc:Choice xmlns:v="urn:schemas-microsoft-com:vml" Requires="v">
                <p:oleObj name="Equation" r:id="rId9" imgW="139680" imgH="228600" progId="Equation.DSMT4">
                  <p:embed/>
                </p:oleObj>
              </mc:Choice>
              <mc:Fallback>
                <p:oleObj name="Equation" r:id="rId9" imgW="139680" imgH="228600" progId="Equation.DSMT4">
                  <p:embed/>
                  <p:pic>
                    <p:nvPicPr>
                      <p:cNvPr id="46" name="Object 45" descr="i subscript a&#10;">
                        <a:extLst>
                          <a:ext uri="{FF2B5EF4-FFF2-40B4-BE49-F238E27FC236}">
                            <a16:creationId xmlns:a16="http://schemas.microsoft.com/office/drawing/2014/main" id="{F0D4B714-4574-4E43-887B-34FBFD8D10DB}"/>
                          </a:ext>
                        </a:extLst>
                      </p:cNvPr>
                      <p:cNvPicPr>
                        <a:picLocks noChangeAspect="1" noChangeArrowheads="1"/>
                      </p:cNvPicPr>
                      <p:nvPr/>
                    </p:nvPicPr>
                    <p:blipFill>
                      <a:blip r:embed="rId10"/>
                      <a:srcRect/>
                      <a:stretch>
                        <a:fillRect/>
                      </a:stretch>
                    </p:blipFill>
                    <p:spPr bwMode="auto">
                      <a:xfrm>
                        <a:off x="1955855" y="49069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Content Placeholder 29">
            <a:extLst>
              <a:ext uri="{FF2B5EF4-FFF2-40B4-BE49-F238E27FC236}">
                <a16:creationId xmlns:a16="http://schemas.microsoft.com/office/drawing/2014/main" id="{2705279D-0655-85C1-5942-35E3335443AE}"/>
              </a:ext>
            </a:extLst>
          </p:cNvPr>
          <p:cNvSpPr>
            <a:spLocks noGrp="1"/>
          </p:cNvSpPr>
          <p:nvPr>
            <p:ph sz="quarter" idx="22"/>
          </p:nvPr>
        </p:nvSpPr>
        <p:spPr>
          <a:xfrm>
            <a:off x="2386116" y="4910312"/>
            <a:ext cx="529586"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47" name="Object 46" descr="i subscript c&#10;">
            <a:extLst>
              <a:ext uri="{FF2B5EF4-FFF2-40B4-BE49-F238E27FC236}">
                <a16:creationId xmlns:a16="http://schemas.microsoft.com/office/drawing/2014/main" id="{0EDE4A49-2A0C-5F6D-C818-928494F4192E}"/>
              </a:ext>
            </a:extLst>
          </p:cNvPr>
          <p:cNvGraphicFramePr>
            <a:graphicFrameLocks noChangeAspect="1"/>
          </p:cNvGraphicFramePr>
          <p:nvPr/>
        </p:nvGraphicFramePr>
        <p:xfrm>
          <a:off x="2984555" y="4894209"/>
          <a:ext cx="290528" cy="476620"/>
        </p:xfrm>
        <a:graphic>
          <a:graphicData uri="http://schemas.openxmlformats.org/presentationml/2006/ole">
            <mc:AlternateContent xmlns:mc="http://schemas.openxmlformats.org/markup-compatibility/2006">
              <mc:Choice xmlns:v="urn:schemas-microsoft-com:vml" Requires="v">
                <p:oleObj name="Equation" r:id="rId11" imgW="139680" imgH="228600" progId="Equation.DSMT4">
                  <p:embed/>
                </p:oleObj>
              </mc:Choice>
              <mc:Fallback>
                <p:oleObj name="Equation" r:id="rId11" imgW="139680" imgH="228600" progId="Equation.DSMT4">
                  <p:embed/>
                  <p:pic>
                    <p:nvPicPr>
                      <p:cNvPr id="47" name="Object 46" descr="i subscript c&#10;">
                        <a:extLst>
                          <a:ext uri="{FF2B5EF4-FFF2-40B4-BE49-F238E27FC236}">
                            <a16:creationId xmlns:a16="http://schemas.microsoft.com/office/drawing/2014/main" id="{5AD7EC53-D93F-4922-B3AD-5F5B2B170C8E}"/>
                          </a:ext>
                        </a:extLst>
                      </p:cNvPr>
                      <p:cNvPicPr>
                        <a:picLocks noChangeAspect="1" noChangeArrowheads="1"/>
                      </p:cNvPicPr>
                      <p:nvPr/>
                    </p:nvPicPr>
                    <p:blipFill>
                      <a:blip r:embed="rId12"/>
                      <a:srcRect/>
                      <a:stretch>
                        <a:fillRect/>
                      </a:stretch>
                    </p:blipFill>
                    <p:spPr bwMode="auto">
                      <a:xfrm>
                        <a:off x="2984555" y="48942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 name="Picture 25" descr="Cross mark">
            <a:extLst>
              <a:ext uri="{FF2B5EF4-FFF2-40B4-BE49-F238E27FC236}">
                <a16:creationId xmlns:a16="http://schemas.microsoft.com/office/drawing/2014/main" id="{F319D87D-EAC7-8672-804E-7D705A85E2A2}"/>
              </a:ext>
            </a:extLst>
          </p:cNvPr>
          <p:cNvPicPr>
            <a:picLocks noChangeAspect="1"/>
          </p:cNvPicPr>
          <p:nvPr/>
        </p:nvPicPr>
        <p:blipFill>
          <a:blip r:embed="rId8"/>
          <a:stretch>
            <a:fillRect/>
          </a:stretch>
        </p:blipFill>
        <p:spPr>
          <a:xfrm>
            <a:off x="1026260" y="5462530"/>
            <a:ext cx="258531" cy="258531"/>
          </a:xfrm>
          <a:prstGeom prst="rect">
            <a:avLst/>
          </a:prstGeom>
        </p:spPr>
      </p:pic>
      <p:sp>
        <p:nvSpPr>
          <p:cNvPr id="7" name="Content Placeholder 6">
            <a:extLst>
              <a:ext uri="{FF2B5EF4-FFF2-40B4-BE49-F238E27FC236}">
                <a16:creationId xmlns:a16="http://schemas.microsoft.com/office/drawing/2014/main" id="{EBC030D0-97B1-D5E7-79B5-B7EB9DA697BE}"/>
              </a:ext>
            </a:extLst>
          </p:cNvPr>
          <p:cNvSpPr>
            <a:spLocks noGrp="1"/>
          </p:cNvSpPr>
          <p:nvPr>
            <p:ph sz="quarter" idx="16"/>
          </p:nvPr>
        </p:nvSpPr>
        <p:spPr>
          <a:xfrm>
            <a:off x="1522132" y="5373775"/>
            <a:ext cx="325225" cy="387508"/>
          </a:xfrm>
        </p:spPr>
        <p:txBody>
          <a:bodyPr wrap="square" lIns="0" tIns="18000" rIns="0" bIns="0" anchor="ctr" anchorCtr="0">
            <a:spAutoFit/>
          </a:bodyPr>
          <a:lstStyle/>
          <a:p>
            <a:pPr marL="0" indent="0">
              <a:buNone/>
            </a:pPr>
            <a:r>
              <a:rPr lang="en-US" altLang="en-US" sz="2400" noProof="0" dirty="0">
                <a:solidFill>
                  <a:schemeClr val="tx2"/>
                </a:solidFill>
              </a:rPr>
              <a:t>C.</a:t>
            </a:r>
            <a:r>
              <a:rPr lang="en-US" altLang="en-US" sz="2400" dirty="0"/>
              <a:t> </a:t>
            </a:r>
          </a:p>
        </p:txBody>
      </p:sp>
      <p:graphicFrame>
        <p:nvGraphicFramePr>
          <p:cNvPr id="48" name="Object 47" descr="i subscript b&#10;">
            <a:extLst>
              <a:ext uri="{FF2B5EF4-FFF2-40B4-BE49-F238E27FC236}">
                <a16:creationId xmlns:a16="http://schemas.microsoft.com/office/drawing/2014/main" id="{7A7EC39F-099A-7E07-AC65-A1C5475A702B}"/>
              </a:ext>
            </a:extLst>
          </p:cNvPr>
          <p:cNvGraphicFramePr>
            <a:graphicFrameLocks noChangeAspect="1"/>
          </p:cNvGraphicFramePr>
          <p:nvPr/>
        </p:nvGraphicFramePr>
        <p:xfrm>
          <a:off x="1930455" y="5389509"/>
          <a:ext cx="290528" cy="476620"/>
        </p:xfrm>
        <a:graphic>
          <a:graphicData uri="http://schemas.openxmlformats.org/presentationml/2006/ole">
            <mc:AlternateContent xmlns:mc="http://schemas.openxmlformats.org/markup-compatibility/2006">
              <mc:Choice xmlns:v="urn:schemas-microsoft-com:vml" Requires="v">
                <p:oleObj name="Equation" r:id="rId13" imgW="139680" imgH="228600" progId="Equation.DSMT4">
                  <p:embed/>
                </p:oleObj>
              </mc:Choice>
              <mc:Fallback>
                <p:oleObj name="Equation" r:id="rId13" imgW="139680" imgH="228600" progId="Equation.DSMT4">
                  <p:embed/>
                  <p:pic>
                    <p:nvPicPr>
                      <p:cNvPr id="48" name="Object 47" descr="i subscript b&#10;">
                        <a:extLst>
                          <a:ext uri="{FF2B5EF4-FFF2-40B4-BE49-F238E27FC236}">
                            <a16:creationId xmlns:a16="http://schemas.microsoft.com/office/drawing/2014/main" id="{C9089267-A09F-41FB-9859-4F0CC1089BA4}"/>
                          </a:ext>
                        </a:extLst>
                      </p:cNvPr>
                      <p:cNvPicPr>
                        <a:picLocks noChangeAspect="1" noChangeArrowheads="1"/>
                      </p:cNvPicPr>
                      <p:nvPr/>
                    </p:nvPicPr>
                    <p:blipFill>
                      <a:blip r:embed="rId14"/>
                      <a:srcRect/>
                      <a:stretch>
                        <a:fillRect/>
                      </a:stretch>
                    </p:blipFill>
                    <p:spPr bwMode="auto">
                      <a:xfrm>
                        <a:off x="1930455" y="53895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Content Placeholder 22">
            <a:extLst>
              <a:ext uri="{FF2B5EF4-FFF2-40B4-BE49-F238E27FC236}">
                <a16:creationId xmlns:a16="http://schemas.microsoft.com/office/drawing/2014/main" id="{8D6BC4A7-37EC-32FF-2CEC-361E148C510D}"/>
              </a:ext>
            </a:extLst>
          </p:cNvPr>
          <p:cNvSpPr>
            <a:spLocks noGrp="1"/>
          </p:cNvSpPr>
          <p:nvPr>
            <p:ph sz="quarter" idx="18"/>
          </p:nvPr>
        </p:nvSpPr>
        <p:spPr>
          <a:xfrm>
            <a:off x="2386655" y="5395985"/>
            <a:ext cx="483545"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49" name="Object 48" descr="i subscript c&#10;">
            <a:extLst>
              <a:ext uri="{FF2B5EF4-FFF2-40B4-BE49-F238E27FC236}">
                <a16:creationId xmlns:a16="http://schemas.microsoft.com/office/drawing/2014/main" id="{CFF4E933-87E1-229C-6D43-3FCD69ACD41C}"/>
              </a:ext>
            </a:extLst>
          </p:cNvPr>
          <p:cNvGraphicFramePr>
            <a:graphicFrameLocks noChangeAspect="1"/>
          </p:cNvGraphicFramePr>
          <p:nvPr/>
        </p:nvGraphicFramePr>
        <p:xfrm>
          <a:off x="2946455" y="5376809"/>
          <a:ext cx="290528" cy="476620"/>
        </p:xfrm>
        <a:graphic>
          <a:graphicData uri="http://schemas.openxmlformats.org/presentationml/2006/ole">
            <mc:AlternateContent xmlns:mc="http://schemas.openxmlformats.org/markup-compatibility/2006">
              <mc:Choice xmlns:v="urn:schemas-microsoft-com:vml" Requires="v">
                <p:oleObj name="Equation" r:id="rId15" imgW="139680" imgH="228600" progId="Equation.DSMT4">
                  <p:embed/>
                </p:oleObj>
              </mc:Choice>
              <mc:Fallback>
                <p:oleObj name="Equation" r:id="rId15" imgW="139680" imgH="228600" progId="Equation.DSMT4">
                  <p:embed/>
                  <p:pic>
                    <p:nvPicPr>
                      <p:cNvPr id="49" name="Object 48" descr="i subscript c&#10;">
                        <a:extLst>
                          <a:ext uri="{FF2B5EF4-FFF2-40B4-BE49-F238E27FC236}">
                            <a16:creationId xmlns:a16="http://schemas.microsoft.com/office/drawing/2014/main" id="{C6534BB3-E913-4F07-8A8C-57E970C03296}"/>
                          </a:ext>
                        </a:extLst>
                      </p:cNvPr>
                      <p:cNvPicPr>
                        <a:picLocks noChangeAspect="1" noChangeArrowheads="1"/>
                      </p:cNvPicPr>
                      <p:nvPr/>
                    </p:nvPicPr>
                    <p:blipFill>
                      <a:blip r:embed="rId16"/>
                      <a:srcRect/>
                      <a:stretch>
                        <a:fillRect/>
                      </a:stretch>
                    </p:blipFill>
                    <p:spPr bwMode="auto">
                      <a:xfrm>
                        <a:off x="2946455" y="53768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1" name="Picture 30" descr="Cross mark">
            <a:extLst>
              <a:ext uri="{FF2B5EF4-FFF2-40B4-BE49-F238E27FC236}">
                <a16:creationId xmlns:a16="http://schemas.microsoft.com/office/drawing/2014/main" id="{27CD70D9-1496-375C-E8D2-66518704943E}"/>
              </a:ext>
            </a:extLst>
          </p:cNvPr>
          <p:cNvPicPr>
            <a:picLocks noChangeAspect="1"/>
          </p:cNvPicPr>
          <p:nvPr/>
        </p:nvPicPr>
        <p:blipFill>
          <a:blip r:embed="rId8"/>
          <a:stretch>
            <a:fillRect/>
          </a:stretch>
        </p:blipFill>
        <p:spPr>
          <a:xfrm>
            <a:off x="1016060" y="5953836"/>
            <a:ext cx="269028" cy="269028"/>
          </a:xfrm>
          <a:prstGeom prst="rect">
            <a:avLst/>
          </a:prstGeom>
        </p:spPr>
      </p:pic>
      <p:sp>
        <p:nvSpPr>
          <p:cNvPr id="8" name="Content Placeholder 7">
            <a:extLst>
              <a:ext uri="{FF2B5EF4-FFF2-40B4-BE49-F238E27FC236}">
                <a16:creationId xmlns:a16="http://schemas.microsoft.com/office/drawing/2014/main" id="{E2F2F19A-BB92-70AF-BC0E-5803F301C620}"/>
              </a:ext>
            </a:extLst>
          </p:cNvPr>
          <p:cNvSpPr>
            <a:spLocks noGrp="1"/>
          </p:cNvSpPr>
          <p:nvPr>
            <p:ph sz="quarter" idx="17"/>
          </p:nvPr>
        </p:nvSpPr>
        <p:spPr>
          <a:xfrm>
            <a:off x="1522132" y="5887517"/>
            <a:ext cx="325225" cy="387508"/>
          </a:xfrm>
        </p:spPr>
        <p:txBody>
          <a:bodyPr wrap="square" lIns="0" tIns="18000" rIns="0" bIns="0" anchor="ctr" anchorCtr="0">
            <a:spAutoFit/>
          </a:bodyPr>
          <a:lstStyle/>
          <a:p>
            <a:pPr marL="0" indent="0">
              <a:buNone/>
            </a:pPr>
            <a:r>
              <a:rPr lang="en-US" sz="2400" noProof="0" dirty="0">
                <a:solidFill>
                  <a:schemeClr val="tx2"/>
                </a:solidFill>
              </a:rPr>
              <a:t>D.</a:t>
            </a:r>
            <a:r>
              <a:rPr lang="en-US" sz="2400" dirty="0"/>
              <a:t> </a:t>
            </a:r>
          </a:p>
        </p:txBody>
      </p:sp>
      <p:graphicFrame>
        <p:nvGraphicFramePr>
          <p:cNvPr id="51" name="Object 50" descr="i subscript a&#10;">
            <a:extLst>
              <a:ext uri="{FF2B5EF4-FFF2-40B4-BE49-F238E27FC236}">
                <a16:creationId xmlns:a16="http://schemas.microsoft.com/office/drawing/2014/main" id="{67A64536-E44E-CE5E-B0F0-2F0C05BC5BAD}"/>
              </a:ext>
            </a:extLst>
          </p:cNvPr>
          <p:cNvGraphicFramePr>
            <a:graphicFrameLocks noChangeAspect="1"/>
          </p:cNvGraphicFramePr>
          <p:nvPr/>
        </p:nvGraphicFramePr>
        <p:xfrm>
          <a:off x="1930510" y="5877544"/>
          <a:ext cx="290528" cy="476620"/>
        </p:xfrm>
        <a:graphic>
          <a:graphicData uri="http://schemas.openxmlformats.org/presentationml/2006/ole">
            <mc:AlternateContent xmlns:mc="http://schemas.openxmlformats.org/markup-compatibility/2006">
              <mc:Choice xmlns:v="urn:schemas-microsoft-com:vml" Requires="v">
                <p:oleObj name="Equation" r:id="rId17" imgW="139680" imgH="228600" progId="Equation.DSMT4">
                  <p:embed/>
                </p:oleObj>
              </mc:Choice>
              <mc:Fallback>
                <p:oleObj name="Equation" r:id="rId17" imgW="139680" imgH="228600" progId="Equation.DSMT4">
                  <p:embed/>
                  <p:pic>
                    <p:nvPicPr>
                      <p:cNvPr id="51" name="Object 50" descr="i subscript a&#10;">
                        <a:extLst>
                          <a:ext uri="{FF2B5EF4-FFF2-40B4-BE49-F238E27FC236}">
                            <a16:creationId xmlns:a16="http://schemas.microsoft.com/office/drawing/2014/main" id="{791D3C5D-7023-46EA-AB71-A035A206ADC9}"/>
                          </a:ext>
                        </a:extLst>
                      </p:cNvPr>
                      <p:cNvPicPr>
                        <a:picLocks noChangeAspect="1" noChangeArrowheads="1"/>
                      </p:cNvPicPr>
                      <p:nvPr/>
                    </p:nvPicPr>
                    <p:blipFill>
                      <a:blip r:embed="rId18"/>
                      <a:srcRect/>
                      <a:stretch>
                        <a:fillRect/>
                      </a:stretch>
                    </p:blipFill>
                    <p:spPr bwMode="auto">
                      <a:xfrm>
                        <a:off x="1930510" y="5877544"/>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Content Placeholder 31">
            <a:extLst>
              <a:ext uri="{FF2B5EF4-FFF2-40B4-BE49-F238E27FC236}">
                <a16:creationId xmlns:a16="http://schemas.microsoft.com/office/drawing/2014/main" id="{ED717E33-2E9C-13F0-4E71-35B574071DCF}"/>
              </a:ext>
            </a:extLst>
          </p:cNvPr>
          <p:cNvSpPr>
            <a:spLocks noGrp="1"/>
          </p:cNvSpPr>
          <p:nvPr>
            <p:ph sz="quarter" idx="23"/>
          </p:nvPr>
        </p:nvSpPr>
        <p:spPr>
          <a:xfrm>
            <a:off x="2383157" y="5872337"/>
            <a:ext cx="512443"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50" name="Object 49" descr="i subscript b&#10;">
            <a:extLst>
              <a:ext uri="{FF2B5EF4-FFF2-40B4-BE49-F238E27FC236}">
                <a16:creationId xmlns:a16="http://schemas.microsoft.com/office/drawing/2014/main" id="{47EA86EF-40B4-4D19-4B2B-0D2092E24F80}"/>
              </a:ext>
            </a:extLst>
          </p:cNvPr>
          <p:cNvGraphicFramePr>
            <a:graphicFrameLocks noChangeAspect="1"/>
          </p:cNvGraphicFramePr>
          <p:nvPr/>
        </p:nvGraphicFramePr>
        <p:xfrm>
          <a:off x="2933755" y="5872109"/>
          <a:ext cx="290528" cy="476620"/>
        </p:xfrm>
        <a:graphic>
          <a:graphicData uri="http://schemas.openxmlformats.org/presentationml/2006/ole">
            <mc:AlternateContent xmlns:mc="http://schemas.openxmlformats.org/markup-compatibility/2006">
              <mc:Choice xmlns:v="urn:schemas-microsoft-com:vml" Requires="v">
                <p:oleObj name="Equation" r:id="rId19" imgW="139680" imgH="228600" progId="Equation.DSMT4">
                  <p:embed/>
                </p:oleObj>
              </mc:Choice>
              <mc:Fallback>
                <p:oleObj name="Equation" r:id="rId19" imgW="139680" imgH="228600" progId="Equation.DSMT4">
                  <p:embed/>
                  <p:pic>
                    <p:nvPicPr>
                      <p:cNvPr id="50" name="Object 49" descr="i subscript b&#10;">
                        <a:extLst>
                          <a:ext uri="{FF2B5EF4-FFF2-40B4-BE49-F238E27FC236}">
                            <a16:creationId xmlns:a16="http://schemas.microsoft.com/office/drawing/2014/main" id="{5DC858AE-2B83-471B-9AEB-FB1A0839A66E}"/>
                          </a:ext>
                        </a:extLst>
                      </p:cNvPr>
                      <p:cNvPicPr>
                        <a:picLocks noChangeAspect="1" noChangeArrowheads="1"/>
                      </p:cNvPicPr>
                      <p:nvPr/>
                    </p:nvPicPr>
                    <p:blipFill>
                      <a:blip r:embed="rId20"/>
                      <a:srcRect/>
                      <a:stretch>
                        <a:fillRect/>
                      </a:stretch>
                    </p:blipFill>
                    <p:spPr bwMode="auto">
                      <a:xfrm>
                        <a:off x="2933755" y="58721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Content Placeholder 23">
            <a:extLst>
              <a:ext uri="{FF2B5EF4-FFF2-40B4-BE49-F238E27FC236}">
                <a16:creationId xmlns:a16="http://schemas.microsoft.com/office/drawing/2014/main" id="{79491DBC-1E6B-0E92-FBE0-D84BF7C2EF89}"/>
              </a:ext>
            </a:extLst>
          </p:cNvPr>
          <p:cNvSpPr>
            <a:spLocks noGrp="1"/>
          </p:cNvSpPr>
          <p:nvPr>
            <p:ph sz="quarter" idx="19"/>
          </p:nvPr>
        </p:nvSpPr>
        <p:spPr>
          <a:xfrm>
            <a:off x="3285397" y="5892502"/>
            <a:ext cx="512443" cy="374906"/>
          </a:xfrm>
        </p:spPr>
        <p:txBody>
          <a:bodyPr wrap="square" lIns="0" tIns="18000" rIns="0" bIns="18000" anchor="ctr" anchorCtr="0">
            <a:spAutoFit/>
          </a:bodyPr>
          <a:lstStyle/>
          <a:p>
            <a:pPr marL="0" indent="0">
              <a:spcBef>
                <a:spcPts val="600"/>
              </a:spcBef>
              <a:buNone/>
            </a:pPr>
            <a:r>
              <a:rPr lang="en-US" sz="2200" dirty="0"/>
              <a:t>and</a:t>
            </a:r>
          </a:p>
        </p:txBody>
      </p:sp>
      <p:graphicFrame>
        <p:nvGraphicFramePr>
          <p:cNvPr id="52" name="Object 51" descr="i subscript c&#10;">
            <a:extLst>
              <a:ext uri="{FF2B5EF4-FFF2-40B4-BE49-F238E27FC236}">
                <a16:creationId xmlns:a16="http://schemas.microsoft.com/office/drawing/2014/main" id="{D5477420-1F41-9AAE-35E5-76CAF8A2689D}"/>
              </a:ext>
            </a:extLst>
          </p:cNvPr>
          <p:cNvGraphicFramePr>
            <a:graphicFrameLocks noChangeAspect="1"/>
          </p:cNvGraphicFramePr>
          <p:nvPr/>
        </p:nvGraphicFramePr>
        <p:xfrm>
          <a:off x="3860855" y="5884809"/>
          <a:ext cx="290528" cy="476620"/>
        </p:xfrm>
        <a:graphic>
          <a:graphicData uri="http://schemas.openxmlformats.org/presentationml/2006/ole">
            <mc:AlternateContent xmlns:mc="http://schemas.openxmlformats.org/markup-compatibility/2006">
              <mc:Choice xmlns:v="urn:schemas-microsoft-com:vml" Requires="v">
                <p:oleObj name="Equation" r:id="rId21" imgW="139680" imgH="228600" progId="Equation.DSMT4">
                  <p:embed/>
                </p:oleObj>
              </mc:Choice>
              <mc:Fallback>
                <p:oleObj name="Equation" r:id="rId21" imgW="139680" imgH="228600" progId="Equation.DSMT4">
                  <p:embed/>
                  <p:pic>
                    <p:nvPicPr>
                      <p:cNvPr id="52" name="Object 51" descr="i subscript c&#10;">
                        <a:extLst>
                          <a:ext uri="{FF2B5EF4-FFF2-40B4-BE49-F238E27FC236}">
                            <a16:creationId xmlns:a16="http://schemas.microsoft.com/office/drawing/2014/main" id="{BC27F4ED-0E3B-43A8-AE18-2BBDE5F932CB}"/>
                          </a:ext>
                        </a:extLst>
                      </p:cNvPr>
                      <p:cNvPicPr>
                        <a:picLocks noChangeAspect="1" noChangeArrowheads="1"/>
                      </p:cNvPicPr>
                      <p:nvPr/>
                    </p:nvPicPr>
                    <p:blipFill>
                      <a:blip r:embed="rId22"/>
                      <a:srcRect/>
                      <a:stretch>
                        <a:fillRect/>
                      </a:stretch>
                    </p:blipFill>
                    <p:spPr bwMode="auto">
                      <a:xfrm>
                        <a:off x="3860855" y="5884809"/>
                        <a:ext cx="290528" cy="476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42851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0403" y="197243"/>
            <a:ext cx="8240620" cy="1144347"/>
          </a:xfrm>
        </p:spPr>
        <p:txBody>
          <a:bodyPr wrap="square" tIns="18000" bIns="18000" anchor="ctr" anchorCtr="0">
            <a:spAutoFit/>
          </a:bodyPr>
          <a:lstStyle/>
          <a:p>
            <a:r>
              <a:rPr lang="en-US" dirty="0"/>
              <a:t>Chapter 4 – techniques of circuit analysis </a:t>
            </a:r>
            <a:r>
              <a:rPr lang="en-US" sz="2800" dirty="0"/>
              <a:t>(9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7" y="1439560"/>
            <a:ext cx="8240620" cy="4914610"/>
          </a:xfrm>
        </p:spPr>
        <p:txBody>
          <a:bodyPr wrap="square" lIns="0" tIns="18000" rIns="0" bIns="18000" anchor="ctr" anchorCtr="0">
            <a:spAutoFit/>
          </a:bodyPr>
          <a:lstStyle/>
          <a:p>
            <a:pPr marL="0" indent="0">
              <a:spcBef>
                <a:spcPts val="600"/>
              </a:spcBef>
              <a:buNone/>
            </a:pPr>
            <a:r>
              <a:rPr lang="en-US" dirty="0"/>
              <a:t>The final version of the mesh current analysis method, which handles all three special cases:</a:t>
            </a:r>
          </a:p>
          <a:p>
            <a:pPr marL="285750" indent="-285750">
              <a:spcBef>
                <a:spcPts val="600"/>
              </a:spcBef>
            </a:pPr>
            <a:r>
              <a:rPr lang="en-US" dirty="0"/>
              <a:t>Step 1 – Identify the meshes with curved directed arrows that follow the perimeter of each mesh.</a:t>
            </a:r>
          </a:p>
          <a:p>
            <a:pPr marL="285750" indent="-285750">
              <a:spcBef>
                <a:spcPts val="600"/>
              </a:spcBef>
            </a:pPr>
            <a:r>
              <a:rPr lang="en-US" dirty="0"/>
              <a:t>Step 2 – Label the mesh currents for each mesh.</a:t>
            </a:r>
          </a:p>
          <a:p>
            <a:pPr marL="285750" indent="-285750">
              <a:spcBef>
                <a:spcPts val="600"/>
              </a:spcBef>
            </a:pPr>
            <a:r>
              <a:rPr lang="en-US" dirty="0"/>
              <a:t>If a current source is in a single mesh, label the mesh current with the value of the current source.</a:t>
            </a:r>
          </a:p>
          <a:p>
            <a:pPr marL="772668" lvl="1" indent="-285750"/>
            <a:r>
              <a:rPr lang="en-US" dirty="0">
                <a:solidFill>
                  <a:srgbClr val="007FA3"/>
                </a:solidFill>
              </a:rPr>
              <a:t>If a current source is shared between two meshes, combine the meshes to create a </a:t>
            </a:r>
            <a:r>
              <a:rPr lang="en-US" dirty="0" err="1">
                <a:solidFill>
                  <a:srgbClr val="007FA3"/>
                </a:solidFill>
              </a:rPr>
              <a:t>supermesh</a:t>
            </a:r>
            <a:r>
              <a:rPr lang="en-US" dirty="0">
                <a:solidFill>
                  <a:srgbClr val="007FA3"/>
                </a:solidFill>
              </a:rPr>
              <a:t> and mentally erase the current source.</a:t>
            </a:r>
          </a:p>
          <a:p>
            <a:pPr marL="285750" indent="-285750">
              <a:spcBef>
                <a:spcPts val="600"/>
              </a:spcBef>
            </a:pPr>
            <a:r>
              <a:rPr lang="en-US" dirty="0"/>
              <a:t>Step 3 – Write a </a:t>
            </a:r>
            <a:r>
              <a:rPr lang="en-US" spc="-200" dirty="0"/>
              <a:t>K V </a:t>
            </a:r>
            <a:r>
              <a:rPr lang="en-US" dirty="0"/>
              <a:t>L equation </a:t>
            </a:r>
            <a:r>
              <a:rPr lang="en-US" dirty="0">
                <a:solidFill>
                  <a:srgbClr val="007FA3"/>
                </a:solidFill>
              </a:rPr>
              <a:t>for each </a:t>
            </a:r>
            <a:r>
              <a:rPr lang="en-US" dirty="0" err="1">
                <a:solidFill>
                  <a:srgbClr val="007FA3"/>
                </a:solidFill>
              </a:rPr>
              <a:t>supermesh</a:t>
            </a:r>
            <a:r>
              <a:rPr lang="en-US" dirty="0">
                <a:solidFill>
                  <a:srgbClr val="007FA3"/>
                </a:solidFill>
              </a:rPr>
              <a:t> </a:t>
            </a:r>
            <a:r>
              <a:rPr lang="en-US" dirty="0"/>
              <a:t>and for each single mesh where the current is unknown.</a:t>
            </a:r>
          </a:p>
          <a:p>
            <a:pPr marL="772668" lvl="1" indent="-285750"/>
            <a:r>
              <a:rPr lang="en-US" dirty="0"/>
              <a:t>If there are dependent sources, write a dependent source constraint equation for each.</a:t>
            </a:r>
          </a:p>
          <a:p>
            <a:pPr marL="772668" lvl="1" indent="-285750"/>
            <a:r>
              <a:rPr lang="en-US" dirty="0">
                <a:solidFill>
                  <a:srgbClr val="007FA3"/>
                </a:solidFill>
              </a:rPr>
              <a:t>If there are </a:t>
            </a:r>
            <a:r>
              <a:rPr lang="en-US" dirty="0" err="1">
                <a:solidFill>
                  <a:srgbClr val="007FA3"/>
                </a:solidFill>
              </a:rPr>
              <a:t>supermeshes</a:t>
            </a:r>
            <a:r>
              <a:rPr lang="en-US" dirty="0">
                <a:solidFill>
                  <a:srgbClr val="007FA3"/>
                </a:solidFill>
              </a:rPr>
              <a:t>, write a </a:t>
            </a:r>
            <a:r>
              <a:rPr lang="en-US" dirty="0" err="1">
                <a:solidFill>
                  <a:srgbClr val="007FA3"/>
                </a:solidFill>
              </a:rPr>
              <a:t>supermesh</a:t>
            </a:r>
            <a:r>
              <a:rPr lang="en-US" dirty="0">
                <a:solidFill>
                  <a:srgbClr val="007FA3"/>
                </a:solidFill>
              </a:rPr>
              <a:t> constraint equation for each.</a:t>
            </a:r>
          </a:p>
          <a:p>
            <a:pPr marL="285750" indent="-285750">
              <a:spcBef>
                <a:spcPts val="600"/>
              </a:spcBef>
            </a:pPr>
            <a:r>
              <a:rPr lang="en-US" dirty="0"/>
              <a:t>Step 4 – Solve the </a:t>
            </a:r>
            <a:r>
              <a:rPr lang="en-US" spc="-200" dirty="0"/>
              <a:t>K V </a:t>
            </a:r>
            <a:r>
              <a:rPr lang="en-US" dirty="0"/>
              <a:t>L equations to find the mesh current values.</a:t>
            </a:r>
          </a:p>
          <a:p>
            <a:pPr marL="285750" indent="-285750">
              <a:spcBef>
                <a:spcPts val="600"/>
              </a:spcBef>
            </a:pPr>
            <a:r>
              <a:rPr lang="en-US" dirty="0"/>
              <a:t>Step 5 – Solve the circuit using mesh currents from Step 4 to find component currents, voltages, and power values.</a:t>
            </a:r>
          </a:p>
        </p:txBody>
      </p:sp>
    </p:spTree>
    <p:extLst>
      <p:ext uri="{BB962C8B-B14F-4D97-AF65-F5344CB8AC3E}">
        <p14:creationId xmlns:p14="http://schemas.microsoft.com/office/powerpoint/2010/main" val="4231174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B7C528-D6A2-A7AF-19D0-595D1824B87A}"/>
              </a:ext>
            </a:extLst>
          </p:cNvPr>
          <p:cNvSpPr>
            <a:spLocks noGrp="1"/>
          </p:cNvSpPr>
          <p:nvPr>
            <p:ph type="title"/>
          </p:nvPr>
        </p:nvSpPr>
        <p:spPr>
          <a:xfrm>
            <a:off x="428918" y="202286"/>
            <a:ext cx="8257881" cy="1144347"/>
          </a:xfrm>
        </p:spPr>
        <p:txBody>
          <a:bodyPr wrap="square" lIns="0" tIns="18000" rIns="0" bIns="18000" anchor="ctr" anchorCtr="0">
            <a:spAutoFit/>
          </a:bodyPr>
          <a:lstStyle/>
          <a:p>
            <a:r>
              <a:rPr kumimoji="0" lang="en-US" sz="3600" b="1" i="0" u="none" strike="noStrike" kern="0" cap="none" spc="0" normalizeH="0" baseline="0" noProof="0" dirty="0">
                <a:ln>
                  <a:noFill/>
                </a:ln>
                <a:solidFill>
                  <a:srgbClr val="007FA3"/>
                </a:solidFill>
                <a:effectLst/>
                <a:uLnTx/>
                <a:uFillTx/>
                <a:latin typeface="Arial"/>
                <a:cs typeface="Times New Roman"/>
                <a:sym typeface="Times New Roman"/>
              </a:rPr>
              <a:t>Chapter 4 – techniques of circuit analysis </a:t>
            </a:r>
            <a:r>
              <a:rPr kumimoji="0" lang="en-US" sz="2800" b="1" i="0" u="none" strike="noStrike" kern="0" cap="none" spc="0" normalizeH="0" baseline="0" noProof="0" dirty="0">
                <a:ln>
                  <a:noFill/>
                </a:ln>
                <a:solidFill>
                  <a:srgbClr val="007FA3"/>
                </a:solidFill>
                <a:effectLst/>
                <a:uLnTx/>
                <a:uFillTx/>
                <a:latin typeface="Arial"/>
                <a:cs typeface="Times New Roman"/>
                <a:sym typeface="Times New Roman"/>
              </a:rPr>
              <a:t>(10 of 12)</a:t>
            </a:r>
            <a:endParaRPr lang="en-US" dirty="0"/>
          </a:p>
        </p:txBody>
      </p:sp>
      <p:sp>
        <p:nvSpPr>
          <p:cNvPr id="7" name="Content Placeholder 6">
            <a:extLst>
              <a:ext uri="{FF2B5EF4-FFF2-40B4-BE49-F238E27FC236}">
                <a16:creationId xmlns:a16="http://schemas.microsoft.com/office/drawing/2014/main" id="{A6C570DD-392E-BDC8-F6DE-F28EEA38F903}"/>
              </a:ext>
            </a:extLst>
          </p:cNvPr>
          <p:cNvSpPr>
            <a:spLocks noGrp="1"/>
          </p:cNvSpPr>
          <p:nvPr>
            <p:ph sz="quarter" idx="13"/>
          </p:nvPr>
        </p:nvSpPr>
        <p:spPr>
          <a:xfrm>
            <a:off x="428919" y="1616593"/>
            <a:ext cx="4304446" cy="405683"/>
          </a:xfrm>
        </p:spPr>
        <p:txBody>
          <a:bodyPr wrap="square" lIns="0" tIns="18000" rIns="0" bIns="18000" anchor="ctr" anchorCtr="0">
            <a:spAutoFit/>
          </a:bodyPr>
          <a:lstStyle/>
          <a:p>
            <a:pPr marL="0" indent="0">
              <a:buNone/>
            </a:pPr>
            <a:r>
              <a:rPr lang="en-US" altLang="en-US" sz="2400" dirty="0"/>
              <a:t>Find the power absorbed by the</a:t>
            </a:r>
            <a:endParaRPr lang="en-US" sz="2400" dirty="0"/>
          </a:p>
        </p:txBody>
      </p:sp>
      <p:graphicFrame>
        <p:nvGraphicFramePr>
          <p:cNvPr id="11" name="Object 10" descr="1 Ohm.&#10;">
            <a:extLst>
              <a:ext uri="{FF2B5EF4-FFF2-40B4-BE49-F238E27FC236}">
                <a16:creationId xmlns:a16="http://schemas.microsoft.com/office/drawing/2014/main" id="{29499C2D-354B-DACB-A2EF-63614173B593}"/>
              </a:ext>
            </a:extLst>
          </p:cNvPr>
          <p:cNvGraphicFramePr>
            <a:graphicFrameLocks noChangeAspect="1"/>
          </p:cNvGraphicFramePr>
          <p:nvPr/>
        </p:nvGraphicFramePr>
        <p:xfrm>
          <a:off x="4808266" y="1670665"/>
          <a:ext cx="552450" cy="417513"/>
        </p:xfrm>
        <a:graphic>
          <a:graphicData uri="http://schemas.openxmlformats.org/presentationml/2006/ole">
            <mc:AlternateContent xmlns:mc="http://schemas.openxmlformats.org/markup-compatibility/2006">
              <mc:Choice xmlns:v="urn:schemas-microsoft-com:vml" Requires="v">
                <p:oleObj name="Equation" r:id="rId2" imgW="266400" imgH="203040" progId="Equation.DSMT4">
                  <p:embed/>
                </p:oleObj>
              </mc:Choice>
              <mc:Fallback>
                <p:oleObj name="Equation" r:id="rId2" imgW="266400" imgH="203040" progId="Equation.DSMT4">
                  <p:embed/>
                  <p:pic>
                    <p:nvPicPr>
                      <p:cNvPr id="11" name="Object 10" descr="1 Ohm.&#10;">
                        <a:extLst>
                          <a:ext uri="{FF2B5EF4-FFF2-40B4-BE49-F238E27FC236}">
                            <a16:creationId xmlns:a16="http://schemas.microsoft.com/office/drawing/2014/main" id="{29499C2D-354B-DACB-A2EF-63614173B593}"/>
                          </a:ext>
                        </a:extLst>
                      </p:cNvPr>
                      <p:cNvPicPr>
                        <a:picLocks noChangeAspect="1" noChangeArrowheads="1"/>
                      </p:cNvPicPr>
                      <p:nvPr/>
                    </p:nvPicPr>
                    <p:blipFill>
                      <a:blip r:embed="rId3"/>
                      <a:srcRect/>
                      <a:stretch>
                        <a:fillRect/>
                      </a:stretch>
                    </p:blipFill>
                    <p:spPr bwMode="auto">
                      <a:xfrm>
                        <a:off x="4808266" y="1670665"/>
                        <a:ext cx="55245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A568E41C-35BF-3159-9002-EA3A3D65057F}"/>
              </a:ext>
            </a:extLst>
          </p:cNvPr>
          <p:cNvSpPr>
            <a:spLocks noGrp="1"/>
          </p:cNvSpPr>
          <p:nvPr>
            <p:ph sz="quarter" idx="14"/>
          </p:nvPr>
        </p:nvSpPr>
        <p:spPr>
          <a:xfrm>
            <a:off x="5463177" y="1622058"/>
            <a:ext cx="3198312" cy="405683"/>
          </a:xfrm>
        </p:spPr>
        <p:txBody>
          <a:bodyPr wrap="square" lIns="0" tIns="18000" rIns="0" bIns="18000" anchor="ctr" anchorCtr="0">
            <a:spAutoFit/>
          </a:bodyPr>
          <a:lstStyle/>
          <a:p>
            <a:pPr marL="0" indent="0">
              <a:buNone/>
            </a:pPr>
            <a:r>
              <a:rPr lang="en-US" altLang="en-US" sz="2400" dirty="0"/>
              <a:t>resistor using the mesh</a:t>
            </a:r>
            <a:endParaRPr lang="en-US" sz="2400" dirty="0"/>
          </a:p>
        </p:txBody>
      </p:sp>
      <p:sp>
        <p:nvSpPr>
          <p:cNvPr id="9" name="Content Placeholder 8">
            <a:extLst>
              <a:ext uri="{FF2B5EF4-FFF2-40B4-BE49-F238E27FC236}">
                <a16:creationId xmlns:a16="http://schemas.microsoft.com/office/drawing/2014/main" id="{136A507F-D593-D3EC-2C72-0C4E398A0313}"/>
              </a:ext>
            </a:extLst>
          </p:cNvPr>
          <p:cNvSpPr>
            <a:spLocks noGrp="1"/>
          </p:cNvSpPr>
          <p:nvPr>
            <p:ph sz="quarter" idx="15"/>
          </p:nvPr>
        </p:nvSpPr>
        <p:spPr>
          <a:xfrm>
            <a:off x="423330" y="2096054"/>
            <a:ext cx="2138403" cy="405683"/>
          </a:xfrm>
        </p:spPr>
        <p:txBody>
          <a:bodyPr wrap="square" lIns="0" tIns="18000" rIns="0" bIns="18000" anchor="ctr" anchorCtr="0">
            <a:spAutoFit/>
          </a:bodyPr>
          <a:lstStyle/>
          <a:p>
            <a:pPr marL="0" indent="0">
              <a:buNone/>
            </a:pPr>
            <a:r>
              <a:rPr lang="en-US" altLang="en-US" sz="2400" dirty="0"/>
              <a:t>current method.</a:t>
            </a:r>
            <a:endParaRPr lang="en-US" sz="2400" dirty="0"/>
          </a:p>
        </p:txBody>
      </p:sp>
      <p:pic>
        <p:nvPicPr>
          <p:cNvPr id="12" name="Picture 11" descr="A circuit diagram shows a two layered circuit. In the lower part of the circuit, a 10 volt independent voltage source with positive polarity at the top end and negative at the bottom forms the left most wire. Connected in parallel to the 10 volt independent voltage source from left to right in that order are a 2-ohm resistor and a 6 volt independent voltage source. The 6 volt independent voltage source has negative polarity at its top end and positive at the bottom. Three nodes are marked where the wires housing the 10 volt independent voltage source, the 2-ohm resistor, and the 6 volt independent voltage source connect to the second wire from the top in the circuit. A node is separately marked where the wire housing the 2-ohm resistor connects with the bottom wire in the circuit. &#10;A 2 ampere independent current source with internal arrow pointing rightward is located between the nodes where the wires housing the 10 volt independent voltage source and the 2-ohm resistor connect to the second wire from top. A 2 ohm resistor is located between the nodes where the wires housing the 2-ohm vertical resistor and the 6 volt independent voltage source connect to the second wire from top. A 1 ohm resistor is located between the nodes where the wires housing the 2-ohm vertical resistor and the 6 volt independent voltage source connect to the bottom wire of the circuit. &#10;A 2-ohm resistor forms the topmost wire in the circuit and is connected to the nodes where the wires housing the 10 volt independent voltage source and the 6 volt independent voltage source connect to the second wire from the top. &#10;">
            <a:extLst>
              <a:ext uri="{FF2B5EF4-FFF2-40B4-BE49-F238E27FC236}">
                <a16:creationId xmlns:a16="http://schemas.microsoft.com/office/drawing/2014/main" id="{9D27605F-0ADA-6F86-29A8-B0BB5575152B}"/>
              </a:ext>
            </a:extLst>
          </p:cNvPr>
          <p:cNvPicPr>
            <a:picLocks noChangeAspect="1"/>
          </p:cNvPicPr>
          <p:nvPr/>
        </p:nvPicPr>
        <p:blipFill>
          <a:blip r:embed="rId4"/>
          <a:stretch>
            <a:fillRect/>
          </a:stretch>
        </p:blipFill>
        <p:spPr>
          <a:xfrm>
            <a:off x="3446936" y="2647109"/>
            <a:ext cx="2259551" cy="1401395"/>
          </a:xfrm>
          <a:prstGeom prst="rect">
            <a:avLst/>
          </a:prstGeom>
        </p:spPr>
      </p:pic>
      <p:sp>
        <p:nvSpPr>
          <p:cNvPr id="10" name="Content Placeholder 9">
            <a:extLst>
              <a:ext uri="{FF2B5EF4-FFF2-40B4-BE49-F238E27FC236}">
                <a16:creationId xmlns:a16="http://schemas.microsoft.com/office/drawing/2014/main" id="{01E8ADF0-22A7-36A4-0FB5-66B40B44DE7E}"/>
              </a:ext>
            </a:extLst>
          </p:cNvPr>
          <p:cNvSpPr>
            <a:spLocks noGrp="1"/>
          </p:cNvSpPr>
          <p:nvPr>
            <p:ph sz="quarter" idx="16"/>
          </p:nvPr>
        </p:nvSpPr>
        <p:spPr>
          <a:xfrm>
            <a:off x="428919" y="4198456"/>
            <a:ext cx="2710208" cy="405683"/>
          </a:xfrm>
        </p:spPr>
        <p:txBody>
          <a:bodyPr wrap="square" lIns="0" tIns="18000" rIns="0" bIns="18000" anchor="ctr" anchorCtr="0">
            <a:spAutoFit/>
          </a:bodyPr>
          <a:lstStyle/>
          <a:p>
            <a:pPr marL="0" indent="0">
              <a:buNone/>
              <a:defRPr/>
            </a:pPr>
            <a:r>
              <a:rPr lang="en-US" sz="2400" dirty="0"/>
              <a:t>After Steps 1 and 2:</a:t>
            </a:r>
          </a:p>
        </p:txBody>
      </p:sp>
      <p:pic>
        <p:nvPicPr>
          <p:cNvPr id="2" name="Picture 1">
            <a:extLst>
              <a:ext uri="{FF2B5EF4-FFF2-40B4-BE49-F238E27FC236}">
                <a16:creationId xmlns:a16="http://schemas.microsoft.com/office/drawing/2014/main" id="{1D7D077D-34B9-F044-B327-2973E0E74AAB}"/>
              </a:ext>
            </a:extLst>
          </p:cNvPr>
          <p:cNvPicPr>
            <a:picLocks noChangeAspect="1"/>
          </p:cNvPicPr>
          <p:nvPr/>
        </p:nvPicPr>
        <p:blipFill>
          <a:blip r:embed="rId5"/>
          <a:stretch>
            <a:fillRect/>
          </a:stretch>
        </p:blipFill>
        <p:spPr>
          <a:xfrm>
            <a:off x="3314792" y="4604139"/>
            <a:ext cx="2581635" cy="1952898"/>
          </a:xfrm>
          <a:prstGeom prst="rect">
            <a:avLst/>
          </a:prstGeom>
        </p:spPr>
      </p:pic>
    </p:spTree>
    <p:extLst>
      <p:ext uri="{BB962C8B-B14F-4D97-AF65-F5344CB8AC3E}">
        <p14:creationId xmlns:p14="http://schemas.microsoft.com/office/powerpoint/2010/main" val="1905193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EA76-008F-4768-9E22-4AA13EB0FFE9}"/>
              </a:ext>
            </a:extLst>
          </p:cNvPr>
          <p:cNvSpPr>
            <a:spLocks noGrp="1"/>
          </p:cNvSpPr>
          <p:nvPr>
            <p:ph type="title"/>
          </p:nvPr>
        </p:nvSpPr>
        <p:spPr>
          <a:xfrm>
            <a:off x="434733" y="197243"/>
            <a:ext cx="8240620" cy="1144347"/>
          </a:xfrm>
        </p:spPr>
        <p:txBody>
          <a:bodyPr wrap="square" tIns="18000" bIns="18000" anchor="ctr" anchorCtr="0">
            <a:spAutoFit/>
          </a:bodyPr>
          <a:lstStyle/>
          <a:p>
            <a:r>
              <a:rPr lang="en-US" dirty="0"/>
              <a:t>Chapter 4 – techniques of circuit analysis </a:t>
            </a:r>
            <a:r>
              <a:rPr lang="en-US" sz="2800" dirty="0"/>
              <a:t>(11 of 12)</a:t>
            </a:r>
            <a:endParaRPr lang="en-US" noProof="0" dirty="0"/>
          </a:p>
        </p:txBody>
      </p:sp>
      <p:sp>
        <p:nvSpPr>
          <p:cNvPr id="3" name="Content Placeholder 2">
            <a:extLst>
              <a:ext uri="{FF2B5EF4-FFF2-40B4-BE49-F238E27FC236}">
                <a16:creationId xmlns:a16="http://schemas.microsoft.com/office/drawing/2014/main" id="{DAA76C2D-3174-1C75-A0A1-D37D08A7AC02}"/>
              </a:ext>
            </a:extLst>
          </p:cNvPr>
          <p:cNvSpPr>
            <a:spLocks noGrp="1"/>
          </p:cNvSpPr>
          <p:nvPr>
            <p:ph sz="quarter" idx="12"/>
          </p:nvPr>
        </p:nvSpPr>
        <p:spPr>
          <a:xfrm>
            <a:off x="425928" y="1526438"/>
            <a:ext cx="8235570" cy="405683"/>
          </a:xfrm>
        </p:spPr>
        <p:txBody>
          <a:bodyPr wrap="square" lIns="0" tIns="18000" rIns="0" bIns="18000" anchor="ctr" anchorCtr="0">
            <a:spAutoFit/>
          </a:bodyPr>
          <a:lstStyle/>
          <a:p>
            <a:pPr marL="0" indent="0">
              <a:buNone/>
            </a:pPr>
            <a:r>
              <a:rPr lang="en-US" sz="2400" dirty="0"/>
              <a:t>Writing the equations (Step 3) and solving them (Step 4).</a:t>
            </a:r>
          </a:p>
        </p:txBody>
      </p:sp>
      <p:graphicFrame>
        <p:nvGraphicFramePr>
          <p:cNvPr id="17" name="Object 16" descr="The figure illustrates the equations for Super Mesh and i subscript c mesh.&#10;Long description 1 is available in notes, press F6.">
            <a:extLst>
              <a:ext uri="{FF2B5EF4-FFF2-40B4-BE49-F238E27FC236}">
                <a16:creationId xmlns:a16="http://schemas.microsoft.com/office/drawing/2014/main" id="{61BE53FF-936C-4A15-BD28-56D98E1CFFA3}"/>
              </a:ext>
            </a:extLst>
          </p:cNvPr>
          <p:cNvGraphicFramePr>
            <a:graphicFrameLocks noChangeAspect="1"/>
          </p:cNvGraphicFramePr>
          <p:nvPr/>
        </p:nvGraphicFramePr>
        <p:xfrm>
          <a:off x="2360613" y="3887788"/>
          <a:ext cx="4435475" cy="638175"/>
        </p:xfrm>
        <a:graphic>
          <a:graphicData uri="http://schemas.openxmlformats.org/presentationml/2006/ole">
            <mc:AlternateContent xmlns:mc="http://schemas.openxmlformats.org/markup-compatibility/2006">
              <mc:Choice xmlns:v="urn:schemas-microsoft-com:vml" Requires="v">
                <p:oleObj name="Equation" r:id="rId3" imgW="3174840" imgH="457200" progId="Equation.DSMT4">
                  <p:embed/>
                </p:oleObj>
              </mc:Choice>
              <mc:Fallback>
                <p:oleObj name="Equation" r:id="rId3" imgW="3174840" imgH="457200" progId="Equation.DSMT4">
                  <p:embed/>
                  <p:pic>
                    <p:nvPicPr>
                      <p:cNvPr id="17" name="Object 16" descr="The figure illustrates the equations for Super Mesh and i subscript c mesh.&#10;Long description 1 is available in notes, press F6.">
                        <a:extLst>
                          <a:ext uri="{FF2B5EF4-FFF2-40B4-BE49-F238E27FC236}">
                            <a16:creationId xmlns:a16="http://schemas.microsoft.com/office/drawing/2014/main" id="{61BE53FF-936C-4A15-BD28-56D98E1CFFA3}"/>
                          </a:ext>
                        </a:extLst>
                      </p:cNvPr>
                      <p:cNvPicPr>
                        <a:picLocks noChangeAspect="1" noChangeArrowheads="1"/>
                      </p:cNvPicPr>
                      <p:nvPr/>
                    </p:nvPicPr>
                    <p:blipFill>
                      <a:blip r:embed="rId4"/>
                      <a:srcRect/>
                      <a:stretch>
                        <a:fillRect/>
                      </a:stretch>
                    </p:blipFill>
                    <p:spPr bwMode="auto">
                      <a:xfrm>
                        <a:off x="2360613" y="3887788"/>
                        <a:ext cx="44354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7" descr="The figure illustrates equations for S M Constraint and the standard Form.&#10;Long description 2 is available in notes, press F6.">
            <a:extLst>
              <a:ext uri="{FF2B5EF4-FFF2-40B4-BE49-F238E27FC236}">
                <a16:creationId xmlns:a16="http://schemas.microsoft.com/office/drawing/2014/main" id="{F698905C-9968-4B5E-8BA5-9A77808850C2}"/>
              </a:ext>
            </a:extLst>
          </p:cNvPr>
          <p:cNvGraphicFramePr>
            <a:graphicFrameLocks noChangeAspect="1"/>
          </p:cNvGraphicFramePr>
          <p:nvPr/>
        </p:nvGraphicFramePr>
        <p:xfrm>
          <a:off x="2358833" y="4615522"/>
          <a:ext cx="3657984" cy="1125806"/>
        </p:xfrm>
        <a:graphic>
          <a:graphicData uri="http://schemas.openxmlformats.org/presentationml/2006/ole">
            <mc:AlternateContent xmlns:mc="http://schemas.openxmlformats.org/markup-compatibility/2006">
              <mc:Choice xmlns:v="urn:schemas-microsoft-com:vml" Requires="v">
                <p:oleObj name="Equation" r:id="rId5" imgW="2971800" imgH="914400" progId="Equation.DSMT4">
                  <p:embed/>
                </p:oleObj>
              </mc:Choice>
              <mc:Fallback>
                <p:oleObj name="Equation" r:id="rId5" imgW="2971800" imgH="914400" progId="Equation.DSMT4">
                  <p:embed/>
                  <p:pic>
                    <p:nvPicPr>
                      <p:cNvPr id="18" name="Object 17" descr="The figure illustrates equations for S M Constraint and the standard Form.&#10;Long description 2 is available in notes, press F6.">
                        <a:extLst>
                          <a:ext uri="{FF2B5EF4-FFF2-40B4-BE49-F238E27FC236}">
                            <a16:creationId xmlns:a16="http://schemas.microsoft.com/office/drawing/2014/main" id="{F698905C-9968-4B5E-8BA5-9A77808850C2}"/>
                          </a:ext>
                        </a:extLst>
                      </p:cNvPr>
                      <p:cNvPicPr>
                        <a:picLocks noChangeAspect="1" noChangeArrowheads="1"/>
                      </p:cNvPicPr>
                      <p:nvPr/>
                    </p:nvPicPr>
                    <p:blipFill>
                      <a:blip r:embed="rId6"/>
                      <a:srcRect/>
                      <a:stretch>
                        <a:fillRect/>
                      </a:stretch>
                    </p:blipFill>
                    <p:spPr bwMode="auto">
                      <a:xfrm>
                        <a:off x="2358833" y="4615522"/>
                        <a:ext cx="3657984" cy="1125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9" descr="Solving: i subscript a BaseLine equals 7 Amperes; i subscript b BaseLine equals 5 Amperes; i subscript c BaseLine equals 6 Amperes;&#10;">
            <a:extLst>
              <a:ext uri="{FF2B5EF4-FFF2-40B4-BE49-F238E27FC236}">
                <a16:creationId xmlns:a16="http://schemas.microsoft.com/office/drawing/2014/main" id="{9A25F7E5-D8E4-4B15-96CB-D4B7069CA21A}"/>
              </a:ext>
            </a:extLst>
          </p:cNvPr>
          <p:cNvGraphicFramePr>
            <a:graphicFrameLocks noChangeAspect="1"/>
          </p:cNvGraphicFramePr>
          <p:nvPr/>
        </p:nvGraphicFramePr>
        <p:xfrm>
          <a:off x="2367496" y="5829470"/>
          <a:ext cx="3262834" cy="279060"/>
        </p:xfrm>
        <a:graphic>
          <a:graphicData uri="http://schemas.openxmlformats.org/presentationml/2006/ole">
            <mc:AlternateContent xmlns:mc="http://schemas.openxmlformats.org/markup-compatibility/2006">
              <mc:Choice xmlns:v="urn:schemas-microsoft-com:vml" Requires="v">
                <p:oleObj name="Equation" r:id="rId7" imgW="2679480" imgH="228600" progId="Equation.DSMT4">
                  <p:embed/>
                </p:oleObj>
              </mc:Choice>
              <mc:Fallback>
                <p:oleObj name="Equation" r:id="rId7" imgW="2679480" imgH="228600" progId="Equation.DSMT4">
                  <p:embed/>
                  <p:pic>
                    <p:nvPicPr>
                      <p:cNvPr id="20" name="Object 19" descr="Solving: i subscript a BaseLine equals 7 Amperes; i subscript b BaseLine equals 5 Amperes; i subscript c BaseLine equals 6 Amperes;&#10;">
                        <a:extLst>
                          <a:ext uri="{FF2B5EF4-FFF2-40B4-BE49-F238E27FC236}">
                            <a16:creationId xmlns:a16="http://schemas.microsoft.com/office/drawing/2014/main" id="{9A25F7E5-D8E4-4B15-96CB-D4B7069CA21A}"/>
                          </a:ext>
                        </a:extLst>
                      </p:cNvPr>
                      <p:cNvPicPr>
                        <a:picLocks noChangeAspect="1" noChangeArrowheads="1"/>
                      </p:cNvPicPr>
                      <p:nvPr/>
                    </p:nvPicPr>
                    <p:blipFill>
                      <a:blip r:embed="rId8"/>
                      <a:srcRect/>
                      <a:stretch>
                        <a:fillRect/>
                      </a:stretch>
                    </p:blipFill>
                    <p:spPr bwMode="auto">
                      <a:xfrm>
                        <a:off x="2367496" y="5829470"/>
                        <a:ext cx="3262834" cy="279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 name="Picture 6">
            <a:extLst>
              <a:ext uri="{FF2B5EF4-FFF2-40B4-BE49-F238E27FC236}">
                <a16:creationId xmlns:a16="http://schemas.microsoft.com/office/drawing/2014/main" id="{761AB593-9A60-EC96-E28A-4E790D4268CF}"/>
              </a:ext>
            </a:extLst>
          </p:cNvPr>
          <p:cNvPicPr>
            <a:picLocks noChangeAspect="1"/>
          </p:cNvPicPr>
          <p:nvPr/>
        </p:nvPicPr>
        <p:blipFill>
          <a:blip r:embed="rId9"/>
          <a:stretch>
            <a:fillRect/>
          </a:stretch>
        </p:blipFill>
        <p:spPr>
          <a:xfrm>
            <a:off x="3287532" y="2069916"/>
            <a:ext cx="2581635" cy="1952898"/>
          </a:xfrm>
          <a:prstGeom prst="rect">
            <a:avLst/>
          </a:prstGeom>
        </p:spPr>
      </p:pic>
    </p:spTree>
    <p:extLst>
      <p:ext uri="{BB962C8B-B14F-4D97-AF65-F5344CB8AC3E}">
        <p14:creationId xmlns:p14="http://schemas.microsoft.com/office/powerpoint/2010/main" val="4293224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19029"/>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774</TotalTime>
  <Words>1661</Words>
  <Application>Microsoft Office PowerPoint</Application>
  <PresentationFormat>On-screen Show (4:3)</PresentationFormat>
  <Paragraphs>142</Paragraphs>
  <Slides>17</Slides>
  <Notes>4</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3" baseType="lpstr">
      <vt:lpstr>Arial</vt:lpstr>
      <vt:lpstr>Times New Roman</vt:lpstr>
      <vt:lpstr>Verdana</vt:lpstr>
      <vt:lpstr>USHE</vt:lpstr>
      <vt:lpstr>USHE_slide options</vt:lpstr>
      <vt:lpstr>Equation</vt:lpstr>
      <vt:lpstr>Electric Circuits</vt:lpstr>
      <vt:lpstr>Chapter 4 – techniques of circuit analysis (1 of 12)</vt:lpstr>
      <vt:lpstr>Chapter 4 – techniques of circuit analysis (1 of 12)</vt:lpstr>
      <vt:lpstr>Chapter 4 – techniques of circuit analysis (2 of 12)</vt:lpstr>
      <vt:lpstr>Chapter 4 – techniques of circuit analysis (3 of 12)</vt:lpstr>
      <vt:lpstr>Chapter 4 – techniques of circuit analysis (3 of 12)</vt:lpstr>
      <vt:lpstr>Chapter 4 – techniques of circuit analysis (4 of 12)</vt:lpstr>
      <vt:lpstr>Chapter 4 – techniques of circuit analysis (5 of 12)</vt:lpstr>
      <vt:lpstr>Chapter 4 – techniques of circuit analysis (6 of 12)</vt:lpstr>
      <vt:lpstr>Chapter 4 – techniques of circuit analysis (7 of 12)</vt:lpstr>
      <vt:lpstr>Chapter 4 – techniques of circuit analysis (7 of 12)</vt:lpstr>
      <vt:lpstr>Chapter 4 – techniques of circuit analysis (8 of 12)</vt:lpstr>
      <vt:lpstr>Chapter 4 – techniques of circuit analysis (8 of 12)</vt:lpstr>
      <vt:lpstr>Chapter 4 – techniques of circuit analysis (9 of 12)</vt:lpstr>
      <vt:lpstr>Chapter 4 – techniques of circuit analysis (10 of 12)</vt:lpstr>
      <vt:lpstr>Chapter 4 – techniques of circuit analysis (11 of 12)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4</dc:title>
  <dc:subject>Engineering</dc:subject>
  <dc:creator>Nilsson and Riedel</dc:creator>
  <cp:keywords/>
  <dc:description/>
  <cp:lastModifiedBy>kml erd</cp:lastModifiedBy>
  <cp:revision>135</cp:revision>
  <dcterms:modified xsi:type="dcterms:W3CDTF">2025-10-13T16:09:54Z</dcterms:modified>
</cp:coreProperties>
</file>