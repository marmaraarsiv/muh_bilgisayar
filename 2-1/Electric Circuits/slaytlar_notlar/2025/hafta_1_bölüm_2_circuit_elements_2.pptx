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27"/>
  </p:notesMasterIdLst>
  <p:handoutMasterIdLst>
    <p:handoutMasterId r:id="rId28"/>
  </p:handoutMasterIdLst>
  <p:sldIdLst>
    <p:sldId id="330" r:id="rId3"/>
    <p:sldId id="743" r:id="rId4"/>
    <p:sldId id="721" r:id="rId5"/>
    <p:sldId id="722" r:id="rId6"/>
    <p:sldId id="723" r:id="rId7"/>
    <p:sldId id="724" r:id="rId8"/>
    <p:sldId id="725" r:id="rId9"/>
    <p:sldId id="745" r:id="rId10"/>
    <p:sldId id="726" r:id="rId11"/>
    <p:sldId id="729" r:id="rId12"/>
    <p:sldId id="728" r:id="rId13"/>
    <p:sldId id="731" r:id="rId14"/>
    <p:sldId id="732" r:id="rId15"/>
    <p:sldId id="733" r:id="rId16"/>
    <p:sldId id="734" r:id="rId17"/>
    <p:sldId id="735" r:id="rId18"/>
    <p:sldId id="730" r:id="rId19"/>
    <p:sldId id="737" r:id="rId20"/>
    <p:sldId id="738" r:id="rId21"/>
    <p:sldId id="739" r:id="rId22"/>
    <p:sldId id="740" r:id="rId23"/>
    <p:sldId id="741" r:id="rId24"/>
    <p:sldId id="742" r:id="rId25"/>
    <p:sldId id="717" r:id="rId26"/>
  </p:sldIdLst>
  <p:sldSz cx="9144000" cy="6858000" type="screen4x3"/>
  <p:notesSz cx="6858000" cy="9144000"/>
  <p:embeddedFontLst>
    <p:embeddedFont>
      <p:font typeface="Verdana" panose="020B060403050404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867" userDrawn="1">
          <p15:clr>
            <a:srgbClr val="A4A3A4"/>
          </p15:clr>
        </p15:guide>
        <p15:guide id="4" pos="2880" userDrawn="1">
          <p15:clr>
            <a:srgbClr val="A4A3A4"/>
          </p15:clr>
        </p15:guide>
        <p15:guide id="5" pos="5462" userDrawn="1">
          <p15:clr>
            <a:srgbClr val="A4A3A4"/>
          </p15:clr>
        </p15:guide>
        <p15:guide id="6" orient="horz" pos="404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05" autoAdjust="0"/>
    <p:restoredTop sz="72398" autoAdjust="0"/>
  </p:normalViewPr>
  <p:slideViewPr>
    <p:cSldViewPr snapToGrid="0" snapToObjects="1">
      <p:cViewPr varScale="1">
        <p:scale>
          <a:sx n="109" d="100"/>
          <a:sy n="109" d="100"/>
        </p:scale>
        <p:origin x="1944" y="184"/>
      </p:cViewPr>
      <p:guideLst>
        <p:guide orient="horz" pos="427"/>
        <p:guide pos="264"/>
        <p:guide orient="horz" pos="867"/>
        <p:guide pos="2880"/>
        <p:guide pos="5462"/>
        <p:guide orient="horz" pos="4042"/>
      </p:guideLst>
    </p:cSldViewPr>
  </p:slideViewPr>
  <p:outlineViewPr>
    <p:cViewPr>
      <p:scale>
        <a:sx n="33" d="100"/>
        <a:sy n="33" d="100"/>
      </p:scale>
      <p:origin x="0" y="-13374"/>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9/22/25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R equals positive </a:t>
            </a:r>
            <a:r>
              <a:rPr lang="en-US" dirty="0" err="1"/>
              <a:t>StartFraction</a:t>
            </a:r>
            <a:r>
              <a:rPr lang="en-US" dirty="0"/>
              <a:t> v subscript g over </a:t>
            </a:r>
            <a:r>
              <a:rPr lang="en-US" dirty="0" err="1"/>
              <a:t>i</a:t>
            </a:r>
            <a:r>
              <a:rPr lang="en-US" dirty="0"/>
              <a:t> subscript g </a:t>
            </a:r>
            <a:r>
              <a:rPr lang="en-US" dirty="0" err="1"/>
              <a:t>EndFraction</a:t>
            </a:r>
            <a:r>
              <a:rPr lang="en-US" dirty="0"/>
              <a:t> equals </a:t>
            </a:r>
            <a:r>
              <a:rPr lang="en-US" dirty="0" err="1"/>
              <a:t>StartFraction</a:t>
            </a:r>
            <a:r>
              <a:rPr lang="en-US" dirty="0"/>
              <a:t> 1000 Volts over 5 </a:t>
            </a:r>
            <a:r>
              <a:rPr lang="en-US" dirty="0" err="1"/>
              <a:t>milliAmperes</a:t>
            </a:r>
            <a:r>
              <a:rPr lang="en-US" dirty="0"/>
              <a:t> </a:t>
            </a:r>
            <a:r>
              <a:rPr lang="en-US" dirty="0" err="1"/>
              <a:t>EndFraction</a:t>
            </a:r>
            <a:r>
              <a:rPr lang="en-US" dirty="0"/>
              <a:t> equals </a:t>
            </a:r>
            <a:r>
              <a:rPr lang="en-US" dirty="0" err="1"/>
              <a:t>StartFraction</a:t>
            </a:r>
            <a:r>
              <a:rPr lang="en-US" dirty="0"/>
              <a:t> 1000 over 0.005 </a:t>
            </a:r>
            <a:r>
              <a:rPr lang="en-US" dirty="0" err="1"/>
              <a:t>EndFraction</a:t>
            </a:r>
            <a:r>
              <a:rPr lang="en-US" dirty="0"/>
              <a:t> equals 200,000 Ohms equals 200 kilo Ohms</a:t>
            </a:r>
          </a:p>
          <a:p>
            <a:r>
              <a:rPr lang="en-US" dirty="0"/>
              <a:t>p subscript R Baseline equals R </a:t>
            </a:r>
            <a:r>
              <a:rPr lang="en-US" dirty="0" err="1"/>
              <a:t>i</a:t>
            </a:r>
            <a:r>
              <a:rPr lang="en-US" dirty="0"/>
              <a:t> subscript g Baseline squared equals (200,000) multiplied by (0.005) squared equals 5 Watts.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61959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a:t>
            </a:r>
          </a:p>
          <a:p>
            <a:r>
              <a:rPr lang="en-US" sz="1200" b="0" i="0" u="none" strike="noStrike" kern="1200" cap="none" noProof="0" dirty="0">
                <a:solidFill>
                  <a:schemeClr val="dk1"/>
                </a:solidFill>
                <a:effectLst/>
                <a:latin typeface="Arial"/>
                <a:ea typeface="Arial"/>
                <a:cs typeface="Arial"/>
                <a:sym typeface="Arial"/>
              </a:rPr>
              <a:t>p subscript g Baseline equals negative v subscript g Baseline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g Baseline, Forward arrow, v subscript g Baseline equals negative Start Fraction p subscript g over </a:t>
            </a:r>
            <a:r>
              <a:rPr lang="en-US" sz="1200" b="0" i="0" u="none" strike="noStrike" kern="1200" cap="none" noProof="0" dirty="0" err="1">
                <a:solidFill>
                  <a:schemeClr val="dk1"/>
                </a:solidFill>
                <a:effectLst/>
                <a:latin typeface="Arial"/>
                <a:ea typeface="Arial"/>
                <a:cs typeface="Arial"/>
                <a:sym typeface="Arial"/>
              </a:rPr>
              <a:t>i</a:t>
            </a:r>
            <a:r>
              <a:rPr lang="en-US" sz="1200" b="0" i="0" u="none" strike="noStrike" kern="1200" cap="none" noProof="0" dirty="0">
                <a:solidFill>
                  <a:schemeClr val="dk1"/>
                </a:solidFill>
                <a:effectLst/>
                <a:latin typeface="Arial"/>
                <a:ea typeface="Arial"/>
                <a:cs typeface="Arial"/>
                <a:sym typeface="Arial"/>
              </a:rPr>
              <a:t> subscript g End Fraction equals negative Start Fraction Open Parenthesis negative 3 Close Parenthesis over 0.075 End Fraction equals 40 Volts.</a:t>
            </a:r>
            <a:r>
              <a:rPr lang="en-US" noProof="0"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24216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24</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9/22/25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descr="Pearson Logo">
            <a:extLst>
              <a:ext uri="{FF2B5EF4-FFF2-40B4-BE49-F238E27FC236}">
                <a16:creationId xmlns:a16="http://schemas.microsoft.com/office/drawing/2014/main" id="{712F66FE-1337-EDE8-F038-827B504362BF}"/>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6" name="Content Placeholder 7">
            <a:extLst>
              <a:ext uri="{FF2B5EF4-FFF2-40B4-BE49-F238E27FC236}">
                <a16:creationId xmlns:a16="http://schemas.microsoft.com/office/drawing/2014/main" id="{67B5DD31-F4D7-7F29-F15C-8478039E4FC8}"/>
              </a:ext>
            </a:extLst>
          </p:cNvPr>
          <p:cNvSpPr txBox="1">
            <a:spLocks/>
          </p:cNvSpPr>
          <p:nvPr userDrawn="1"/>
        </p:nvSpPr>
        <p:spPr>
          <a:xfrm>
            <a:off x="2709017" y="6455210"/>
            <a:ext cx="5960871"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jpg"/><Relationship Id="rId1" Type="http://schemas.openxmlformats.org/officeDocument/2006/relationships/slideLayout" Target="../slideLayouts/slideLayout8.xml"/><Relationship Id="rId4" Type="http://schemas.openxmlformats.org/officeDocument/2006/relationships/image" Target="../media/image4.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5.jpg"/><Relationship Id="rId1" Type="http://schemas.openxmlformats.org/officeDocument/2006/relationships/slideLayout" Target="../slideLayouts/slideLayout8.xml"/><Relationship Id="rId6" Type="http://schemas.openxmlformats.org/officeDocument/2006/relationships/image" Target="../media/image7.wmf"/><Relationship Id="rId5" Type="http://schemas.openxmlformats.org/officeDocument/2006/relationships/oleObject" Target="../embeddings/oleObject3.bin"/><Relationship Id="rId4" Type="http://schemas.openxmlformats.org/officeDocument/2006/relationships/image" Target="../media/image6.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8.jpg"/><Relationship Id="rId1" Type="http://schemas.openxmlformats.org/officeDocument/2006/relationships/slideLayout" Target="../slideLayouts/slideLayout8.xml"/><Relationship Id="rId4" Type="http://schemas.openxmlformats.org/officeDocument/2006/relationships/image" Target="../media/image9.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10.jpg"/><Relationship Id="rId1" Type="http://schemas.openxmlformats.org/officeDocument/2006/relationships/slideLayout" Target="../slideLayouts/slideLayout8.xml"/><Relationship Id="rId6" Type="http://schemas.openxmlformats.org/officeDocument/2006/relationships/image" Target="../media/image12.wmf"/><Relationship Id="rId5" Type="http://schemas.openxmlformats.org/officeDocument/2006/relationships/oleObject" Target="../embeddings/oleObject6.bin"/><Relationship Id="rId4" Type="http://schemas.openxmlformats.org/officeDocument/2006/relationships/image" Target="../media/image11.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oleObject" Target="../embeddings/oleObject7.bin"/><Relationship Id="rId7" Type="http://schemas.openxmlformats.org/officeDocument/2006/relationships/image" Target="../media/image16.jpg"/><Relationship Id="rId2" Type="http://schemas.openxmlformats.org/officeDocument/2006/relationships/image" Target="../media/image13.jpg"/><Relationship Id="rId1" Type="http://schemas.openxmlformats.org/officeDocument/2006/relationships/slideLayout" Target="../slideLayouts/slideLayout8.xml"/><Relationship Id="rId6" Type="http://schemas.openxmlformats.org/officeDocument/2006/relationships/image" Target="../media/image15.wmf"/><Relationship Id="rId5" Type="http://schemas.openxmlformats.org/officeDocument/2006/relationships/oleObject" Target="../embeddings/oleObject8.bin"/><Relationship Id="rId4" Type="http://schemas.openxmlformats.org/officeDocument/2006/relationships/image" Target="../media/image14.wmf"/><Relationship Id="rId9" Type="http://schemas.openxmlformats.org/officeDocument/2006/relationships/image" Target="../media/image17.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image" Target="../media/image18.jpg"/><Relationship Id="rId1" Type="http://schemas.openxmlformats.org/officeDocument/2006/relationships/slideLayout" Target="../slideLayouts/slideLayout8.xml"/><Relationship Id="rId6" Type="http://schemas.openxmlformats.org/officeDocument/2006/relationships/image" Target="../media/image20.wmf"/><Relationship Id="rId5" Type="http://schemas.openxmlformats.org/officeDocument/2006/relationships/oleObject" Target="../embeddings/oleObject11.bin"/><Relationship Id="rId4" Type="http://schemas.openxmlformats.org/officeDocument/2006/relationships/image" Target="../media/image19.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oleObject" Target="../embeddings/oleObject12.bin"/><Relationship Id="rId7" Type="http://schemas.openxmlformats.org/officeDocument/2006/relationships/image" Target="../media/image23.jp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22.wmf"/><Relationship Id="rId5" Type="http://schemas.openxmlformats.org/officeDocument/2006/relationships/oleObject" Target="../embeddings/oleObject13.bin"/><Relationship Id="rId4" Type="http://schemas.openxmlformats.org/officeDocument/2006/relationships/image" Target="../media/image21.wmf"/><Relationship Id="rId9" Type="http://schemas.openxmlformats.org/officeDocument/2006/relationships/image" Target="../media/image24.wmf"/></Relationships>
</file>

<file path=ppt/slides/_rels/slide9.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image" Target="../media/image29.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oleObject" Target="../embeddings/oleObject19.bin"/><Relationship Id="rId17" Type="http://schemas.openxmlformats.org/officeDocument/2006/relationships/image" Target="../media/image31.wmf"/><Relationship Id="rId2" Type="http://schemas.openxmlformats.org/officeDocument/2006/relationships/notesSlide" Target="../notesSlides/notesSlide3.xml"/><Relationship Id="rId16" Type="http://schemas.openxmlformats.org/officeDocument/2006/relationships/oleObject" Target="../embeddings/oleObject21.bin"/><Relationship Id="rId1" Type="http://schemas.openxmlformats.org/officeDocument/2006/relationships/slideLayout" Target="../slideLayouts/slideLayout8.xml"/><Relationship Id="rId6" Type="http://schemas.openxmlformats.org/officeDocument/2006/relationships/image" Target="../media/image26.wmf"/><Relationship Id="rId11" Type="http://schemas.openxmlformats.org/officeDocument/2006/relationships/image" Target="../media/image28.wmf"/><Relationship Id="rId5" Type="http://schemas.openxmlformats.org/officeDocument/2006/relationships/oleObject" Target="../embeddings/oleObject16.bin"/><Relationship Id="rId15" Type="http://schemas.openxmlformats.org/officeDocument/2006/relationships/image" Target="../media/image30.wmf"/><Relationship Id="rId10" Type="http://schemas.openxmlformats.org/officeDocument/2006/relationships/oleObject" Target="../embeddings/oleObject18.bin"/><Relationship Id="rId4" Type="http://schemas.openxmlformats.org/officeDocument/2006/relationships/image" Target="../media/image25.wmf"/><Relationship Id="rId9" Type="http://schemas.openxmlformats.org/officeDocument/2006/relationships/image" Target="../media/image23.jpg"/><Relationship Id="rId14" Type="http://schemas.openxmlformats.org/officeDocument/2006/relationships/oleObject" Target="../embeddings/oleObject20.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5.xml"/><Relationship Id="rId7" Type="http://schemas.openxmlformats.org/officeDocument/2006/relationships/image" Target="../media/image34.w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2.bin"/><Relationship Id="rId5" Type="http://schemas.openxmlformats.org/officeDocument/2006/relationships/slideLayout" Target="../slideLayouts/slideLayout8.xml"/><Relationship Id="rId4" Type="http://schemas.openxmlformats.org/officeDocument/2006/relationships/tags" Target="../tags/tag6.xml"/><Relationship Id="rId9" Type="http://schemas.openxmlformats.org/officeDocument/2006/relationships/image" Target="../media/image33.png"/></Relationships>
</file>

<file path=ppt/slides/_rels/slide1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33.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32.png"/><Relationship Id="rId5" Type="http://schemas.openxmlformats.org/officeDocument/2006/relationships/slideLayout" Target="../slideLayouts/slideLayout8.xml"/><Relationship Id="rId4" Type="http://schemas.openxmlformats.org/officeDocument/2006/relationships/tags" Target="../tags/tag10.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image" Target="../media/image35.png"/><Relationship Id="rId1" Type="http://schemas.openxmlformats.org/officeDocument/2006/relationships/slideLayout" Target="../slideLayouts/slideLayout8.xml"/><Relationship Id="rId4" Type="http://schemas.openxmlformats.org/officeDocument/2006/relationships/image" Target="../media/image36.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13.xml"/><Relationship Id="rId7" Type="http://schemas.openxmlformats.org/officeDocument/2006/relationships/image" Target="../media/image33.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37.png"/><Relationship Id="rId5" Type="http://schemas.openxmlformats.org/officeDocument/2006/relationships/slideLayout" Target="../slideLayouts/slideLayout8.xml"/><Relationship Id="rId4" Type="http://schemas.openxmlformats.org/officeDocument/2006/relationships/tags" Target="../tags/tag14.xml"/></Relationships>
</file>

<file path=ppt/slides/_rels/slide17.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24.bin"/><Relationship Id="rId7" Type="http://schemas.openxmlformats.org/officeDocument/2006/relationships/oleObject" Target="../embeddings/oleObject26.bin"/><Relationship Id="rId12" Type="http://schemas.openxmlformats.org/officeDocument/2006/relationships/image" Target="../media/image42.wmf"/><Relationship Id="rId2" Type="http://schemas.openxmlformats.org/officeDocument/2006/relationships/image" Target="../media/image37.png"/><Relationship Id="rId1" Type="http://schemas.openxmlformats.org/officeDocument/2006/relationships/slideLayout" Target="../slideLayouts/slideLayout8.xml"/><Relationship Id="rId6" Type="http://schemas.openxmlformats.org/officeDocument/2006/relationships/image" Target="../media/image39.wmf"/><Relationship Id="rId11" Type="http://schemas.openxmlformats.org/officeDocument/2006/relationships/oleObject" Target="../embeddings/oleObject28.bin"/><Relationship Id="rId5" Type="http://schemas.openxmlformats.org/officeDocument/2006/relationships/oleObject" Target="../embeddings/oleObject25.bin"/><Relationship Id="rId10" Type="http://schemas.openxmlformats.org/officeDocument/2006/relationships/image" Target="../media/image41.wmf"/><Relationship Id="rId4" Type="http://schemas.openxmlformats.org/officeDocument/2006/relationships/image" Target="../media/image38.wmf"/><Relationship Id="rId9" Type="http://schemas.openxmlformats.org/officeDocument/2006/relationships/oleObject" Target="../embeddings/oleObject27.bin"/></Relationships>
</file>

<file path=ppt/slides/_rels/slide18.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33.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32.png"/><Relationship Id="rId5" Type="http://schemas.openxmlformats.org/officeDocument/2006/relationships/slideLayout" Target="../slideLayouts/slideLayout8.xml"/><Relationship Id="rId4" Type="http://schemas.openxmlformats.org/officeDocument/2006/relationships/tags" Target="../tags/tag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image" Target="../media/image37.png"/><Relationship Id="rId1" Type="http://schemas.openxmlformats.org/officeDocument/2006/relationships/slideLayout" Target="../slideLayouts/slideLayout8.xml"/><Relationship Id="rId6" Type="http://schemas.openxmlformats.org/officeDocument/2006/relationships/image" Target="../media/image44.wmf"/><Relationship Id="rId5" Type="http://schemas.openxmlformats.org/officeDocument/2006/relationships/oleObject" Target="../embeddings/oleObject30.bin"/><Relationship Id="rId4" Type="http://schemas.openxmlformats.org/officeDocument/2006/relationships/image" Target="../media/image43.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tags" Target="../tags/tag21.xml"/><Relationship Id="rId7" Type="http://schemas.openxmlformats.org/officeDocument/2006/relationships/image" Target="../media/image32.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45.jpg"/><Relationship Id="rId5" Type="http://schemas.openxmlformats.org/officeDocument/2006/relationships/slideLayout" Target="../slideLayouts/slideLayout8.xml"/><Relationship Id="rId4" Type="http://schemas.openxmlformats.org/officeDocument/2006/relationships/tags" Target="../tags/tag22.xml"/></Relationships>
</file>

<file path=ppt/slides/_rels/slide23.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image" Target="../media/image32.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33.png"/><Relationship Id="rId5" Type="http://schemas.openxmlformats.org/officeDocument/2006/relationships/image" Target="../media/image45.jpg"/><Relationship Id="rId4"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9" name="Picture 8">
            <a:extLst>
              <a:ext uri="{FF2B5EF4-FFF2-40B4-BE49-F238E27FC236}">
                <a16:creationId xmlns:a16="http://schemas.microsoft.com/office/drawing/2014/main" id="{F22F27A8-4BB5-4090-8CFB-00778475C91C}"/>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2 – Part 2</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45534"/>
            <a:ext cx="3657600" cy="374906"/>
          </a:xfrm>
        </p:spPr>
        <p:txBody>
          <a:bodyPr lIns="0" tIns="18000" rIns="0" bIns="18000" anchor="ctr">
            <a:spAutoFit/>
          </a:bodyPr>
          <a:lstStyle/>
          <a:p>
            <a:pPr indent="-101600"/>
            <a:r>
              <a:rPr lang="en-US" noProof="0" dirty="0"/>
              <a:t>Circuit Elements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570673" y="6455210"/>
            <a:ext cx="6099216"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(1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89173"/>
            <a:ext cx="8229600" cy="2298509"/>
          </a:xfrm>
        </p:spPr>
        <p:txBody>
          <a:bodyPr wrap="square" lIns="0" tIns="18000" rIns="0" bIns="18000" anchor="ctr">
            <a:spAutoFit/>
          </a:bodyPr>
          <a:lstStyle/>
          <a:p>
            <a:pPr marL="0" indent="0">
              <a:spcBef>
                <a:spcPts val="600"/>
              </a:spcBef>
              <a:buNone/>
            </a:pPr>
            <a:r>
              <a:rPr lang="en-US" sz="2200" noProof="0" dirty="0"/>
              <a:t>Resistance</a:t>
            </a:r>
          </a:p>
          <a:p>
            <a:pPr marL="342900" indent="-342900">
              <a:spcBef>
                <a:spcPts val="600"/>
              </a:spcBef>
            </a:pPr>
            <a:r>
              <a:rPr lang="en-US" sz="2200" noProof="0" dirty="0"/>
              <a:t>A measure of the capacity of a material to impede the flow of current.</a:t>
            </a:r>
          </a:p>
          <a:p>
            <a:pPr marL="342900" indent="-342900">
              <a:spcBef>
                <a:spcPts val="600"/>
              </a:spcBef>
            </a:pPr>
            <a:r>
              <a:rPr lang="en-US" sz="2200" noProof="0" dirty="0"/>
              <a:t>The property of resistance is modeled by a resistor.</a:t>
            </a:r>
          </a:p>
          <a:p>
            <a:pPr marL="342900" indent="-342900">
              <a:spcBef>
                <a:spcPts val="600"/>
              </a:spcBef>
            </a:pPr>
            <a:r>
              <a:rPr lang="en-US" sz="2200" noProof="0" dirty="0"/>
              <a:t>A resistor is also a circuit element that has a specified resistance associated with it.</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3491722"/>
            <a:ext cx="1166363" cy="374906"/>
          </a:xfrm>
        </p:spPr>
        <p:txBody>
          <a:bodyPr wrap="square" lIns="0" tIns="18000" rIns="0" bIns="18000" anchor="ctr">
            <a:spAutoFit/>
          </a:bodyPr>
          <a:lstStyle/>
          <a:p>
            <a:pPr marL="0" indent="0">
              <a:spcBef>
                <a:spcPts val="600"/>
              </a:spcBef>
              <a:buNone/>
            </a:pPr>
            <a:r>
              <a:rPr lang="en-US" sz="2200" noProof="0" dirty="0"/>
              <a:t>Resistor</a:t>
            </a:r>
          </a:p>
        </p:txBody>
      </p:sp>
      <p:pic>
        <p:nvPicPr>
          <p:cNvPr id="39" name="Picture 38" descr="The symbol of resistor R with current i, flowing from positive to negative terminal, and voltage V.">
            <a:extLst>
              <a:ext uri="{FF2B5EF4-FFF2-40B4-BE49-F238E27FC236}">
                <a16:creationId xmlns:a16="http://schemas.microsoft.com/office/drawing/2014/main" id="{4099315C-B15A-88ED-1207-19FBBF5871D2}"/>
              </a:ext>
            </a:extLst>
          </p:cNvPr>
          <p:cNvPicPr>
            <a:picLocks noChangeAspect="1" noChangeArrowheads="1"/>
          </p:cNvPicPr>
          <p:nvPr/>
        </p:nvPicPr>
        <p:blipFill>
          <a:blip r:embed="rId2"/>
          <a:stretch>
            <a:fillRect/>
          </a:stretch>
        </p:blipFill>
        <p:spPr bwMode="auto">
          <a:xfrm>
            <a:off x="3509004" y="4003687"/>
            <a:ext cx="1933964" cy="777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5085890"/>
            <a:ext cx="8229600" cy="790404"/>
          </a:xfrm>
        </p:spPr>
        <p:txBody>
          <a:bodyPr wrap="square" lIns="0" tIns="18000" rIns="0" bIns="18000" anchor="ctr">
            <a:spAutoFit/>
          </a:bodyPr>
          <a:lstStyle/>
          <a:p>
            <a:pPr marL="0" indent="0">
              <a:spcBef>
                <a:spcPts val="600"/>
              </a:spcBef>
              <a:buNone/>
            </a:pPr>
            <a:r>
              <a:rPr lang="en-US" sz="2200" i="1" noProof="0" dirty="0"/>
              <a:t>v</a:t>
            </a:r>
            <a:r>
              <a:rPr lang="en-US" sz="2200" noProof="0" dirty="0"/>
              <a:t> is the voltage in volts [V]</a:t>
            </a:r>
          </a:p>
          <a:p>
            <a:pPr marL="0" indent="0">
              <a:spcBef>
                <a:spcPts val="600"/>
              </a:spcBef>
              <a:buNone/>
            </a:pPr>
            <a:r>
              <a:rPr lang="en-US" sz="2200" i="1" noProof="0" dirty="0" err="1"/>
              <a:t>i</a:t>
            </a:r>
            <a:r>
              <a:rPr lang="en-US" sz="2200" noProof="0" dirty="0"/>
              <a:t> is the current in amps [A]</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1" y="5959459"/>
            <a:ext cx="3378994" cy="374906"/>
          </a:xfrm>
        </p:spPr>
        <p:txBody>
          <a:bodyPr wrap="square" lIns="0" tIns="18000" rIns="0" bIns="18000" anchor="ctr">
            <a:spAutoFit/>
          </a:bodyPr>
          <a:lstStyle/>
          <a:p>
            <a:pPr marL="0" indent="0">
              <a:spcBef>
                <a:spcPts val="600"/>
              </a:spcBef>
              <a:buNone/>
            </a:pPr>
            <a:r>
              <a:rPr lang="en-US" sz="2200" i="1" noProof="0" dirty="0"/>
              <a:t>R</a:t>
            </a:r>
            <a:r>
              <a:rPr lang="en-US" sz="2200" noProof="0" dirty="0"/>
              <a:t> is the resistance in ohms</a:t>
            </a:r>
          </a:p>
        </p:txBody>
      </p:sp>
      <p:graphicFrame>
        <p:nvGraphicFramePr>
          <p:cNvPr id="42" name="Object 41" descr="OpenSquareBracket Omega CloseSquareBracket&#10;">
            <a:extLst>
              <a:ext uri="{FF2B5EF4-FFF2-40B4-BE49-F238E27FC236}">
                <a16:creationId xmlns:a16="http://schemas.microsoft.com/office/drawing/2014/main" id="{C08A59A7-9195-F973-1936-80CB6A5F1547}"/>
              </a:ext>
            </a:extLst>
          </p:cNvPr>
          <p:cNvGraphicFramePr>
            <a:graphicFrameLocks noChangeAspect="1"/>
          </p:cNvGraphicFramePr>
          <p:nvPr/>
        </p:nvGraphicFramePr>
        <p:xfrm>
          <a:off x="3876764" y="6008083"/>
          <a:ext cx="400140" cy="338188"/>
        </p:xfrm>
        <a:graphic>
          <a:graphicData uri="http://schemas.openxmlformats.org/presentationml/2006/ole">
            <mc:AlternateContent xmlns:mc="http://schemas.openxmlformats.org/markup-compatibility/2006">
              <mc:Choice xmlns:v="urn:schemas-microsoft-com:vml" Requires="v">
                <p:oleObj name="Equation" r:id="rId3" imgW="241200" imgH="203040" progId="Equation.DSMT4">
                  <p:embed/>
                </p:oleObj>
              </mc:Choice>
              <mc:Fallback>
                <p:oleObj name="Equation" r:id="rId3" imgW="241200" imgH="203040" progId="Equation.DSMT4">
                  <p:embed/>
                  <p:pic>
                    <p:nvPicPr>
                      <p:cNvPr id="42" name="Object 41" descr="OpenSquareBracket Omega CloseSquareBracket&#10;">
                        <a:extLst>
                          <a:ext uri="{FF2B5EF4-FFF2-40B4-BE49-F238E27FC236}">
                            <a16:creationId xmlns:a16="http://schemas.microsoft.com/office/drawing/2014/main" id="{C08A59A7-9195-F973-1936-80CB6A5F1547}"/>
                          </a:ext>
                        </a:extLst>
                      </p:cNvPr>
                      <p:cNvPicPr/>
                      <p:nvPr/>
                    </p:nvPicPr>
                    <p:blipFill>
                      <a:blip r:embed="rId4"/>
                      <a:stretch>
                        <a:fillRect/>
                      </a:stretch>
                    </p:blipFill>
                    <p:spPr>
                      <a:xfrm>
                        <a:off x="3876764" y="6008083"/>
                        <a:ext cx="400140" cy="338188"/>
                      </a:xfrm>
                      <a:prstGeom prst="rect">
                        <a:avLst/>
                      </a:prstGeom>
                    </p:spPr>
                  </p:pic>
                </p:oleObj>
              </mc:Fallback>
            </mc:AlternateContent>
          </a:graphicData>
        </a:graphic>
      </p:graphicFrame>
    </p:spTree>
    <p:extLst>
      <p:ext uri="{BB962C8B-B14F-4D97-AF65-F5344CB8AC3E}">
        <p14:creationId xmlns:p14="http://schemas.microsoft.com/office/powerpoint/2010/main" val="3395778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(2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0123"/>
            <a:ext cx="8229600" cy="405683"/>
          </a:xfrm>
        </p:spPr>
        <p:txBody>
          <a:bodyPr wrap="square" lIns="0" tIns="18000" rIns="0" bIns="18000" anchor="ctr">
            <a:spAutoFit/>
          </a:bodyPr>
          <a:lstStyle/>
          <a:p>
            <a:pPr marL="0" indent="0">
              <a:spcBef>
                <a:spcPts val="600"/>
              </a:spcBef>
              <a:buNone/>
            </a:pPr>
            <a:r>
              <a:rPr lang="en-US" sz="2400" noProof="0" dirty="0"/>
              <a:t>Resistors</a:t>
            </a:r>
          </a:p>
        </p:txBody>
      </p:sp>
      <p:pic>
        <p:nvPicPr>
          <p:cNvPr id="3" name="Picture 2" descr="The symbol of resistor R with current i, flowing from negative to positive terminal, and voltage V.">
            <a:extLst>
              <a:ext uri="{FF2B5EF4-FFF2-40B4-BE49-F238E27FC236}">
                <a16:creationId xmlns:a16="http://schemas.microsoft.com/office/drawing/2014/main" id="{095FE15B-6950-DC4E-EB20-F1FD193AA71A}"/>
              </a:ext>
            </a:extLst>
          </p:cNvPr>
          <p:cNvPicPr>
            <a:picLocks noChangeAspect="1" noChangeArrowheads="1"/>
          </p:cNvPicPr>
          <p:nvPr/>
        </p:nvPicPr>
        <p:blipFill>
          <a:blip r:embed="rId2"/>
          <a:stretch>
            <a:fillRect/>
          </a:stretch>
        </p:blipFill>
        <p:spPr bwMode="auto">
          <a:xfrm>
            <a:off x="3290281" y="1768604"/>
            <a:ext cx="2574106" cy="1034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2978132"/>
            <a:ext cx="8229600" cy="775015"/>
          </a:xfrm>
        </p:spPr>
        <p:txBody>
          <a:bodyPr wrap="square" lIns="0" tIns="18000" rIns="0" bIns="18000" anchor="ctr">
            <a:spAutoFit/>
          </a:bodyPr>
          <a:lstStyle/>
          <a:p>
            <a:pPr marL="0" indent="0">
              <a:spcBef>
                <a:spcPts val="600"/>
              </a:spcBef>
              <a:buNone/>
            </a:pPr>
            <a:r>
              <a:rPr lang="en-US" sz="2400" noProof="0" dirty="0"/>
              <a:t>Ohm’s Law describes the relationship between voltage and current in a resistor:</a:t>
            </a:r>
          </a:p>
        </p:txBody>
      </p:sp>
      <p:graphicFrame>
        <p:nvGraphicFramePr>
          <p:cNvPr id="2" name="Object 1" descr="v equals R i&#10;">
            <a:extLst>
              <a:ext uri="{FF2B5EF4-FFF2-40B4-BE49-F238E27FC236}">
                <a16:creationId xmlns:a16="http://schemas.microsoft.com/office/drawing/2014/main" id="{8724DE81-5429-A5E8-E450-55DADF04782E}"/>
              </a:ext>
            </a:extLst>
          </p:cNvPr>
          <p:cNvGraphicFramePr>
            <a:graphicFrameLocks noChangeAspect="1"/>
          </p:cNvGraphicFramePr>
          <p:nvPr>
            <p:extLst>
              <p:ext uri="{D42A27DB-BD31-4B8C-83A1-F6EECF244321}">
                <p14:modId xmlns:p14="http://schemas.microsoft.com/office/powerpoint/2010/main" val="403517828"/>
              </p:ext>
            </p:extLst>
          </p:nvPr>
        </p:nvGraphicFramePr>
        <p:xfrm>
          <a:off x="4105275" y="3905250"/>
          <a:ext cx="954088" cy="354013"/>
        </p:xfrm>
        <a:graphic>
          <a:graphicData uri="http://schemas.openxmlformats.org/presentationml/2006/ole">
            <mc:AlternateContent xmlns:mc="http://schemas.openxmlformats.org/markup-compatibility/2006">
              <mc:Choice xmlns:v="urn:schemas-microsoft-com:vml" Requires="v">
                <p:oleObj name="Equation" r:id="rId3" imgW="444240" imgH="164880" progId="Equation.DSMT4">
                  <p:embed/>
                </p:oleObj>
              </mc:Choice>
              <mc:Fallback>
                <p:oleObj name="Equation" r:id="rId3" imgW="444240" imgH="164880" progId="Equation.DSMT4">
                  <p:embed/>
                  <p:pic>
                    <p:nvPicPr>
                      <p:cNvPr id="6" name="Object 5"/>
                      <p:cNvPicPr/>
                      <p:nvPr/>
                    </p:nvPicPr>
                    <p:blipFill>
                      <a:blip r:embed="rId4"/>
                      <a:stretch>
                        <a:fillRect/>
                      </a:stretch>
                    </p:blipFill>
                    <p:spPr>
                      <a:xfrm>
                        <a:off x="4105275" y="3905250"/>
                        <a:ext cx="954088" cy="354013"/>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4411920"/>
            <a:ext cx="8229600" cy="851959"/>
          </a:xfrm>
        </p:spPr>
        <p:txBody>
          <a:bodyPr wrap="square" lIns="0" tIns="18000" rIns="0" bIns="18000" anchor="ctr">
            <a:spAutoFit/>
          </a:bodyPr>
          <a:lstStyle/>
          <a:p>
            <a:pPr marL="0" indent="0">
              <a:spcBef>
                <a:spcPts val="600"/>
              </a:spcBef>
              <a:buNone/>
            </a:pPr>
            <a:r>
              <a:rPr lang="en-US" sz="2400" i="1" noProof="0" dirty="0"/>
              <a:t>v</a:t>
            </a:r>
            <a:r>
              <a:rPr lang="en-US" sz="2400" noProof="0" dirty="0"/>
              <a:t> is the voltage in volts [V]</a:t>
            </a:r>
          </a:p>
          <a:p>
            <a:pPr marL="0" indent="0">
              <a:spcBef>
                <a:spcPts val="600"/>
              </a:spcBef>
              <a:buNone/>
            </a:pPr>
            <a:r>
              <a:rPr lang="en-US" sz="2400" i="1" noProof="0" dirty="0" err="1"/>
              <a:t>i</a:t>
            </a:r>
            <a:r>
              <a:rPr lang="en-US" sz="2400" noProof="0" dirty="0"/>
              <a:t> is the current in amps [A]</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1" y="5334018"/>
            <a:ext cx="3688555" cy="405683"/>
          </a:xfrm>
        </p:spPr>
        <p:txBody>
          <a:bodyPr wrap="square" lIns="0" tIns="18000" rIns="0" bIns="18000" anchor="ctr">
            <a:spAutoFit/>
          </a:bodyPr>
          <a:lstStyle/>
          <a:p>
            <a:pPr marL="0" indent="0">
              <a:spcBef>
                <a:spcPts val="600"/>
              </a:spcBef>
              <a:buNone/>
            </a:pPr>
            <a:r>
              <a:rPr lang="en-US" sz="2400" i="1" noProof="0" dirty="0"/>
              <a:t>R</a:t>
            </a:r>
            <a:r>
              <a:rPr lang="en-US" sz="2400" noProof="0" dirty="0"/>
              <a:t> is the resistance in ohms</a:t>
            </a:r>
          </a:p>
        </p:txBody>
      </p:sp>
      <p:graphicFrame>
        <p:nvGraphicFramePr>
          <p:cNvPr id="42" name="Object 41" descr="OpenSquareBracket Omega CloseSquareBracket&#10;">
            <a:extLst>
              <a:ext uri="{FF2B5EF4-FFF2-40B4-BE49-F238E27FC236}">
                <a16:creationId xmlns:a16="http://schemas.microsoft.com/office/drawing/2014/main" id="{C08A59A7-9195-F973-1936-80CB6A5F1547}"/>
              </a:ext>
            </a:extLst>
          </p:cNvPr>
          <p:cNvGraphicFramePr>
            <a:graphicFrameLocks noChangeAspect="1"/>
          </p:cNvGraphicFramePr>
          <p:nvPr>
            <p:extLst>
              <p:ext uri="{D42A27DB-BD31-4B8C-83A1-F6EECF244321}">
                <p14:modId xmlns:p14="http://schemas.microsoft.com/office/powerpoint/2010/main" val="427533715"/>
              </p:ext>
            </p:extLst>
          </p:nvPr>
        </p:nvGraphicFramePr>
        <p:xfrm>
          <a:off x="4169335" y="5389316"/>
          <a:ext cx="429005" cy="362583"/>
        </p:xfrm>
        <a:graphic>
          <a:graphicData uri="http://schemas.openxmlformats.org/presentationml/2006/ole">
            <mc:AlternateContent xmlns:mc="http://schemas.openxmlformats.org/markup-compatibility/2006">
              <mc:Choice xmlns:v="urn:schemas-microsoft-com:vml" Requires="v">
                <p:oleObj name="Equation" r:id="rId5" imgW="241200" imgH="203040" progId="Equation.DSMT4">
                  <p:embed/>
                </p:oleObj>
              </mc:Choice>
              <mc:Fallback>
                <p:oleObj name="Equation" r:id="rId5" imgW="241200" imgH="203040" progId="Equation.DSMT4">
                  <p:embed/>
                  <p:pic>
                    <p:nvPicPr>
                      <p:cNvPr id="42" name="Object 41">
                        <a:extLst>
                          <a:ext uri="{FF2B5EF4-FFF2-40B4-BE49-F238E27FC236}">
                            <a16:creationId xmlns:a16="http://schemas.microsoft.com/office/drawing/2014/main" id="{C08A59A7-9195-F973-1936-80CB6A5F1547}"/>
                          </a:ext>
                        </a:extLst>
                      </p:cNvPr>
                      <p:cNvPicPr/>
                      <p:nvPr/>
                    </p:nvPicPr>
                    <p:blipFill>
                      <a:blip r:embed="rId6"/>
                      <a:stretch>
                        <a:fillRect/>
                      </a:stretch>
                    </p:blipFill>
                    <p:spPr>
                      <a:xfrm>
                        <a:off x="4169335" y="5389316"/>
                        <a:ext cx="429005" cy="362583"/>
                      </a:xfrm>
                      <a:prstGeom prst="rect">
                        <a:avLst/>
                      </a:prstGeom>
                    </p:spPr>
                  </p:pic>
                </p:oleObj>
              </mc:Fallback>
            </mc:AlternateContent>
          </a:graphicData>
        </a:graphic>
      </p:graphicFrame>
    </p:spTree>
    <p:extLst>
      <p:ext uri="{BB962C8B-B14F-4D97-AF65-F5344CB8AC3E}">
        <p14:creationId xmlns:p14="http://schemas.microsoft.com/office/powerpoint/2010/main" val="76945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(3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0123"/>
            <a:ext cx="8229600" cy="405683"/>
          </a:xfrm>
        </p:spPr>
        <p:txBody>
          <a:bodyPr wrap="square" lIns="0" tIns="18000" rIns="0" bIns="18000" anchor="ctr">
            <a:spAutoFit/>
          </a:bodyPr>
          <a:lstStyle/>
          <a:p>
            <a:pPr marL="0" indent="0">
              <a:spcBef>
                <a:spcPts val="600"/>
              </a:spcBef>
              <a:buNone/>
            </a:pPr>
            <a:r>
              <a:rPr lang="en-US" sz="2400" noProof="0" dirty="0"/>
              <a:t>Not quite – the voltage in Ohm’s law is a signed quantity.</a:t>
            </a:r>
          </a:p>
        </p:txBody>
      </p:sp>
      <p:pic>
        <p:nvPicPr>
          <p:cNvPr id="4" name="Picture 2" descr="The symbol of resistor R with current i, flowing from positive to negative terminal, and voltage V.">
            <a:extLst>
              <a:ext uri="{FF2B5EF4-FFF2-40B4-BE49-F238E27FC236}">
                <a16:creationId xmlns:a16="http://schemas.microsoft.com/office/drawing/2014/main" id="{D946BDB5-8F1F-D5FB-0F4C-998434394F12}"/>
              </a:ext>
            </a:extLst>
          </p:cNvPr>
          <p:cNvPicPr>
            <a:picLocks noChangeAspect="1" noChangeArrowheads="1"/>
          </p:cNvPicPr>
          <p:nvPr/>
        </p:nvPicPr>
        <p:blipFill>
          <a:blip r:embed="rId2"/>
          <a:stretch>
            <a:fillRect/>
          </a:stretch>
        </p:blipFill>
        <p:spPr bwMode="auto">
          <a:xfrm>
            <a:off x="1655448" y="1882760"/>
            <a:ext cx="2340096" cy="940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5" name="Object 4" descr="v equals plus or minus R i&#10;">
            <a:extLst>
              <a:ext uri="{FF2B5EF4-FFF2-40B4-BE49-F238E27FC236}">
                <a16:creationId xmlns:a16="http://schemas.microsoft.com/office/drawing/2014/main" id="{B1CFF686-48EE-C00E-29DA-52F1D1FE5A76}"/>
              </a:ext>
            </a:extLst>
          </p:cNvPr>
          <p:cNvGraphicFramePr>
            <a:graphicFrameLocks noChangeAspect="1"/>
          </p:cNvGraphicFramePr>
          <p:nvPr>
            <p:extLst>
              <p:ext uri="{D42A27DB-BD31-4B8C-83A1-F6EECF244321}">
                <p14:modId xmlns:p14="http://schemas.microsoft.com/office/powerpoint/2010/main" val="4165509938"/>
              </p:ext>
            </p:extLst>
          </p:nvPr>
        </p:nvGraphicFramePr>
        <p:xfrm>
          <a:off x="4839549" y="2187979"/>
          <a:ext cx="1115902" cy="345266"/>
        </p:xfrm>
        <a:graphic>
          <a:graphicData uri="http://schemas.openxmlformats.org/presentationml/2006/ole">
            <mc:AlternateContent xmlns:mc="http://schemas.openxmlformats.org/markup-compatibility/2006">
              <mc:Choice xmlns:v="urn:schemas-microsoft-com:vml" Requires="v">
                <p:oleObj name="Equation" r:id="rId3" imgW="533160" imgH="164880" progId="Equation.DSMT4">
                  <p:embed/>
                </p:oleObj>
              </mc:Choice>
              <mc:Fallback>
                <p:oleObj name="Equation" r:id="rId3" imgW="533160" imgH="164880" progId="Equation.DSMT4">
                  <p:embed/>
                  <p:pic>
                    <p:nvPicPr>
                      <p:cNvPr id="7" name="Object 6"/>
                      <p:cNvPicPr>
                        <a:picLocks noChangeAspect="1" noChangeArrowheads="1"/>
                      </p:cNvPicPr>
                      <p:nvPr/>
                    </p:nvPicPr>
                    <p:blipFill>
                      <a:blip r:embed="rId4"/>
                      <a:srcRect/>
                      <a:stretch>
                        <a:fillRect/>
                      </a:stretch>
                    </p:blipFill>
                    <p:spPr bwMode="auto">
                      <a:xfrm>
                        <a:off x="4839549" y="2187979"/>
                        <a:ext cx="1115902" cy="345266"/>
                      </a:xfrm>
                      <a:prstGeom prst="rect">
                        <a:avLst/>
                      </a:prstGeom>
                      <a:noFill/>
                      <a:ln w="28575">
                        <a:solidFill>
                          <a:srgbClr val="007FA3"/>
                        </a:solid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6135084" y="2168443"/>
            <a:ext cx="1569944" cy="405683"/>
          </a:xfrm>
        </p:spPr>
        <p:txBody>
          <a:bodyPr wrap="square" lIns="0" tIns="18000" rIns="0" bIns="18000" anchor="ctr">
            <a:spAutoFit/>
          </a:bodyPr>
          <a:lstStyle/>
          <a:p>
            <a:pPr marL="0" indent="0">
              <a:spcBef>
                <a:spcPts val="600"/>
              </a:spcBef>
              <a:buNone/>
            </a:pPr>
            <a:r>
              <a:rPr lang="en-US" sz="2400" noProof="0" dirty="0"/>
              <a:t>Ohm’s Law</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3084193"/>
            <a:ext cx="8229600" cy="775015"/>
          </a:xfrm>
        </p:spPr>
        <p:txBody>
          <a:bodyPr wrap="square" lIns="0" tIns="18000" rIns="0" bIns="18000" anchor="ctr">
            <a:spAutoFit/>
          </a:bodyPr>
          <a:lstStyle/>
          <a:p>
            <a:pPr marL="0" indent="0">
              <a:spcBef>
                <a:spcPts val="600"/>
              </a:spcBef>
              <a:buNone/>
            </a:pPr>
            <a:r>
              <a:rPr lang="en-US" sz="2400" noProof="0" dirty="0"/>
              <a:t>How do you determine which sign to use? Use the passive sign convention!</a:t>
            </a:r>
          </a:p>
        </p:txBody>
      </p:sp>
    </p:spTree>
    <p:extLst>
      <p:ext uri="{BB962C8B-B14F-4D97-AF65-F5344CB8AC3E}">
        <p14:creationId xmlns:p14="http://schemas.microsoft.com/office/powerpoint/2010/main" val="3235698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(4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0123"/>
            <a:ext cx="8229600" cy="851959"/>
          </a:xfrm>
        </p:spPr>
        <p:txBody>
          <a:bodyPr wrap="square" lIns="0" tIns="18000" rIns="0" bIns="18000" anchor="ctr">
            <a:spAutoFit/>
          </a:bodyPr>
          <a:lstStyle/>
          <a:p>
            <a:pPr marL="0" indent="0">
              <a:spcBef>
                <a:spcPts val="600"/>
              </a:spcBef>
              <a:buNone/>
            </a:pPr>
            <a:r>
              <a:rPr lang="en-US" sz="2400" noProof="0" dirty="0"/>
              <a:t>More on resistors:</a:t>
            </a:r>
          </a:p>
          <a:p>
            <a:pPr marL="0" indent="0">
              <a:spcBef>
                <a:spcPts val="600"/>
              </a:spcBef>
              <a:buNone/>
            </a:pPr>
            <a:r>
              <a:rPr lang="en-US" sz="2400" noProof="0" dirty="0"/>
              <a:t>The inverse of resistance is </a:t>
            </a:r>
            <a:r>
              <a:rPr lang="en-US" sz="2400" b="1" noProof="0" dirty="0"/>
              <a:t>conductance.</a:t>
            </a:r>
          </a:p>
        </p:txBody>
      </p:sp>
      <p:pic>
        <p:nvPicPr>
          <p:cNvPr id="4" name="Picture 4" descr="The symbol of resistor with current i, flowing from positive to negative terminal, and conductance G. The voltage across the resistor is v.">
            <a:extLst>
              <a:ext uri="{FF2B5EF4-FFF2-40B4-BE49-F238E27FC236}">
                <a16:creationId xmlns:a16="http://schemas.microsoft.com/office/drawing/2014/main" id="{90A2C69F-4115-76C6-4F55-5C235CF51F55}"/>
              </a:ext>
            </a:extLst>
          </p:cNvPr>
          <p:cNvPicPr>
            <a:picLocks noChangeAspect="1" noChangeArrowheads="1"/>
          </p:cNvPicPr>
          <p:nvPr/>
        </p:nvPicPr>
        <p:blipFill>
          <a:blip r:embed="rId2"/>
          <a:stretch>
            <a:fillRect/>
          </a:stretch>
        </p:blipFill>
        <p:spPr bwMode="auto">
          <a:xfrm>
            <a:off x="1269076" y="2222774"/>
            <a:ext cx="2574106" cy="1034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5" name="Object 4" descr="G equals StartFraction 1 over R EndFraction;&#10;">
            <a:extLst>
              <a:ext uri="{FF2B5EF4-FFF2-40B4-BE49-F238E27FC236}">
                <a16:creationId xmlns:a16="http://schemas.microsoft.com/office/drawing/2014/main" id="{ADA564B7-FFE6-ECA8-8424-E45608AE7294}"/>
              </a:ext>
            </a:extLst>
          </p:cNvPr>
          <p:cNvGraphicFramePr>
            <a:graphicFrameLocks noChangeAspect="1"/>
          </p:cNvGraphicFramePr>
          <p:nvPr>
            <p:extLst>
              <p:ext uri="{D42A27DB-BD31-4B8C-83A1-F6EECF244321}">
                <p14:modId xmlns:p14="http://schemas.microsoft.com/office/powerpoint/2010/main" val="744458132"/>
              </p:ext>
            </p:extLst>
          </p:nvPr>
        </p:nvGraphicFramePr>
        <p:xfrm>
          <a:off x="4304234" y="2363870"/>
          <a:ext cx="1034762" cy="800965"/>
        </p:xfrm>
        <a:graphic>
          <a:graphicData uri="http://schemas.openxmlformats.org/presentationml/2006/ole">
            <mc:AlternateContent xmlns:mc="http://schemas.openxmlformats.org/markup-compatibility/2006">
              <mc:Choice xmlns:v="urn:schemas-microsoft-com:vml" Requires="v">
                <p:oleObj name="Equation" r:id="rId3" imgW="507960" imgH="393480" progId="Equation.DSMT4">
                  <p:embed/>
                </p:oleObj>
              </mc:Choice>
              <mc:Fallback>
                <p:oleObj name="Equation" r:id="rId3" imgW="507960" imgH="393480" progId="Equation.DSMT4">
                  <p:embed/>
                  <p:pic>
                    <p:nvPicPr>
                      <p:cNvPr id="6" name="Object 5"/>
                      <p:cNvPicPr>
                        <a:picLocks noChangeAspect="1" noChangeArrowheads="1"/>
                      </p:cNvPicPr>
                      <p:nvPr/>
                    </p:nvPicPr>
                    <p:blipFill>
                      <a:blip r:embed="rId4"/>
                      <a:srcRect/>
                      <a:stretch>
                        <a:fillRect/>
                      </a:stretch>
                    </p:blipFill>
                    <p:spPr bwMode="auto">
                      <a:xfrm>
                        <a:off x="4304234" y="2363870"/>
                        <a:ext cx="1034762" cy="800965"/>
                      </a:xfrm>
                      <a:prstGeom prst="rect">
                        <a:avLst/>
                      </a:prstGeom>
                      <a:noFill/>
                      <a:ln w="38100">
                        <a:noFill/>
                        <a:miter lim="800000"/>
                        <a:headEnd/>
                        <a:tailEnd/>
                      </a:ln>
                    </p:spPr>
                  </p:pic>
                </p:oleObj>
              </mc:Fallback>
            </mc:AlternateContent>
          </a:graphicData>
        </a:graphic>
      </p:graphicFrame>
      <p:graphicFrame>
        <p:nvGraphicFramePr>
          <p:cNvPr id="12" name="Object 11" descr="i equals plus or minus G v&#10;">
            <a:extLst>
              <a:ext uri="{FF2B5EF4-FFF2-40B4-BE49-F238E27FC236}">
                <a16:creationId xmlns:a16="http://schemas.microsoft.com/office/drawing/2014/main" id="{82246404-0AB6-B451-15C4-27C8E10D05E5}"/>
              </a:ext>
            </a:extLst>
          </p:cNvPr>
          <p:cNvGraphicFramePr>
            <a:graphicFrameLocks noChangeAspect="1"/>
          </p:cNvGraphicFramePr>
          <p:nvPr>
            <p:extLst>
              <p:ext uri="{D42A27DB-BD31-4B8C-83A1-F6EECF244321}">
                <p14:modId xmlns:p14="http://schemas.microsoft.com/office/powerpoint/2010/main" val="2657152775"/>
              </p:ext>
            </p:extLst>
          </p:nvPr>
        </p:nvGraphicFramePr>
        <p:xfrm>
          <a:off x="5797765" y="2583232"/>
          <a:ext cx="1112694" cy="362239"/>
        </p:xfrm>
        <a:graphic>
          <a:graphicData uri="http://schemas.openxmlformats.org/presentationml/2006/ole">
            <mc:AlternateContent xmlns:mc="http://schemas.openxmlformats.org/markup-compatibility/2006">
              <mc:Choice xmlns:v="urn:schemas-microsoft-com:vml" Requires="v">
                <p:oleObj name="Equation" r:id="rId5" imgW="545760" imgH="177480" progId="Equation.DSMT4">
                  <p:embed/>
                </p:oleObj>
              </mc:Choice>
              <mc:Fallback>
                <p:oleObj name="Equation" r:id="rId5" imgW="545760" imgH="177480" progId="Equation.DSMT4">
                  <p:embed/>
                  <p:pic>
                    <p:nvPicPr>
                      <p:cNvPr id="5" name="Object 4">
                        <a:extLst>
                          <a:ext uri="{FF2B5EF4-FFF2-40B4-BE49-F238E27FC236}">
                            <a16:creationId xmlns:a16="http://schemas.microsoft.com/office/drawing/2014/main" id="{ADA564B7-FFE6-ECA8-8424-E45608AE7294}"/>
                          </a:ext>
                        </a:extLst>
                      </p:cNvPr>
                      <p:cNvPicPr>
                        <a:picLocks noChangeAspect="1" noChangeArrowheads="1"/>
                      </p:cNvPicPr>
                      <p:nvPr/>
                    </p:nvPicPr>
                    <p:blipFill>
                      <a:blip r:embed="rId6"/>
                      <a:srcRect/>
                      <a:stretch>
                        <a:fillRect/>
                      </a:stretch>
                    </p:blipFill>
                    <p:spPr bwMode="auto">
                      <a:xfrm>
                        <a:off x="5797765" y="2583232"/>
                        <a:ext cx="1112694" cy="362239"/>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3545268"/>
            <a:ext cx="8229600" cy="405683"/>
          </a:xfrm>
        </p:spPr>
        <p:txBody>
          <a:bodyPr wrap="square" lIns="0" tIns="18000" rIns="0" bIns="18000" anchor="ctr">
            <a:spAutoFit/>
          </a:bodyPr>
          <a:lstStyle/>
          <a:p>
            <a:pPr marL="0" indent="0">
              <a:spcBef>
                <a:spcPts val="600"/>
              </a:spcBef>
              <a:buNone/>
            </a:pPr>
            <a:r>
              <a:rPr lang="en-US" sz="2400" noProof="0" dirty="0"/>
              <a:t>Conductance has the units Siemens, abbreviated “S”.</a:t>
            </a:r>
          </a:p>
        </p:txBody>
      </p:sp>
    </p:spTree>
    <p:extLst>
      <p:ext uri="{BB962C8B-B14F-4D97-AF65-F5344CB8AC3E}">
        <p14:creationId xmlns:p14="http://schemas.microsoft.com/office/powerpoint/2010/main" val="3254223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(5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0123"/>
            <a:ext cx="8229600" cy="851959"/>
          </a:xfrm>
        </p:spPr>
        <p:txBody>
          <a:bodyPr wrap="square" lIns="0" tIns="18000" rIns="0" bIns="18000" anchor="ctr">
            <a:spAutoFit/>
          </a:bodyPr>
          <a:lstStyle/>
          <a:p>
            <a:pPr marL="0" indent="0">
              <a:spcBef>
                <a:spcPts val="600"/>
              </a:spcBef>
              <a:buNone/>
            </a:pPr>
            <a:r>
              <a:rPr lang="en-US" sz="2400" noProof="0" dirty="0"/>
              <a:t>More on resistors</a:t>
            </a:r>
          </a:p>
          <a:p>
            <a:pPr marL="342900" indent="-342900">
              <a:spcBef>
                <a:spcPts val="600"/>
              </a:spcBef>
            </a:pPr>
            <a:r>
              <a:rPr lang="en-US" sz="2400" noProof="0" dirty="0"/>
              <a:t>Calculate the power in a resistor:</a:t>
            </a:r>
          </a:p>
        </p:txBody>
      </p:sp>
      <p:pic>
        <p:nvPicPr>
          <p:cNvPr id="4" name="Picture 3" descr="The symbol of resistor R with current i, flowing from positive to negative terminal, and voltage V.">
            <a:extLst>
              <a:ext uri="{FF2B5EF4-FFF2-40B4-BE49-F238E27FC236}">
                <a16:creationId xmlns:a16="http://schemas.microsoft.com/office/drawing/2014/main" id="{80CDCB40-FB63-4065-416F-EE4A319521EA}"/>
              </a:ext>
            </a:extLst>
          </p:cNvPr>
          <p:cNvPicPr>
            <a:picLocks noChangeAspect="1" noChangeArrowheads="1"/>
          </p:cNvPicPr>
          <p:nvPr/>
        </p:nvPicPr>
        <p:blipFill>
          <a:blip r:embed="rId2"/>
          <a:stretch>
            <a:fillRect/>
          </a:stretch>
        </p:blipFill>
        <p:spPr bwMode="auto">
          <a:xfrm>
            <a:off x="1281358" y="2070915"/>
            <a:ext cx="2574106" cy="1034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5" name="Object 4" descr="p equals positive v i equals OpenParenthesis R i CloseParenthesis i&#10;">
            <a:extLst>
              <a:ext uri="{FF2B5EF4-FFF2-40B4-BE49-F238E27FC236}">
                <a16:creationId xmlns:a16="http://schemas.microsoft.com/office/drawing/2014/main" id="{51FB4B97-AD00-0CCD-7816-27FB4D8A5BD7}"/>
              </a:ext>
            </a:extLst>
          </p:cNvPr>
          <p:cNvGraphicFramePr>
            <a:graphicFrameLocks noChangeAspect="1"/>
          </p:cNvGraphicFramePr>
          <p:nvPr>
            <p:extLst>
              <p:ext uri="{D42A27DB-BD31-4B8C-83A1-F6EECF244321}">
                <p14:modId xmlns:p14="http://schemas.microsoft.com/office/powerpoint/2010/main" val="1804962388"/>
              </p:ext>
            </p:extLst>
          </p:nvPr>
        </p:nvGraphicFramePr>
        <p:xfrm>
          <a:off x="4841298" y="2211250"/>
          <a:ext cx="2020455" cy="419835"/>
        </p:xfrm>
        <a:graphic>
          <a:graphicData uri="http://schemas.openxmlformats.org/presentationml/2006/ole">
            <mc:AlternateContent xmlns:mc="http://schemas.openxmlformats.org/markup-compatibility/2006">
              <mc:Choice xmlns:v="urn:schemas-microsoft-com:vml" Requires="v">
                <p:oleObj name="Equation" r:id="rId3" imgW="977760" imgH="203040" progId="Equation.DSMT4">
                  <p:embed/>
                </p:oleObj>
              </mc:Choice>
              <mc:Fallback>
                <p:oleObj name="Equation" r:id="rId3" imgW="977760" imgH="203040" progId="Equation.DSMT4">
                  <p:embed/>
                  <p:pic>
                    <p:nvPicPr>
                      <p:cNvPr id="9" name="Object 8"/>
                      <p:cNvPicPr>
                        <a:picLocks noChangeAspect="1" noChangeArrowheads="1"/>
                      </p:cNvPicPr>
                      <p:nvPr/>
                    </p:nvPicPr>
                    <p:blipFill>
                      <a:blip r:embed="rId4"/>
                      <a:srcRect/>
                      <a:stretch>
                        <a:fillRect/>
                      </a:stretch>
                    </p:blipFill>
                    <p:spPr bwMode="auto">
                      <a:xfrm>
                        <a:off x="4841298" y="2211250"/>
                        <a:ext cx="2020455" cy="419835"/>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descr="Equals R i squared is greater than 0 factorial&#10;">
            <a:extLst>
              <a:ext uri="{FF2B5EF4-FFF2-40B4-BE49-F238E27FC236}">
                <a16:creationId xmlns:a16="http://schemas.microsoft.com/office/drawing/2014/main" id="{6B515B42-12AF-984C-A7C0-177648F49303}"/>
              </a:ext>
            </a:extLst>
          </p:cNvPr>
          <p:cNvGraphicFramePr>
            <a:graphicFrameLocks noChangeAspect="1"/>
          </p:cNvGraphicFramePr>
          <p:nvPr>
            <p:extLst>
              <p:ext uri="{D42A27DB-BD31-4B8C-83A1-F6EECF244321}">
                <p14:modId xmlns:p14="http://schemas.microsoft.com/office/powerpoint/2010/main" val="3694565435"/>
              </p:ext>
            </p:extLst>
          </p:nvPr>
        </p:nvGraphicFramePr>
        <p:xfrm>
          <a:off x="5444811" y="2733125"/>
          <a:ext cx="1416942" cy="419835"/>
        </p:xfrm>
        <a:graphic>
          <a:graphicData uri="http://schemas.openxmlformats.org/presentationml/2006/ole">
            <mc:AlternateContent xmlns:mc="http://schemas.openxmlformats.org/markup-compatibility/2006">
              <mc:Choice xmlns:v="urn:schemas-microsoft-com:vml" Requires="v">
                <p:oleObj name="Equation" r:id="rId5" imgW="685800" imgH="203040" progId="Equation.DSMT4">
                  <p:embed/>
                </p:oleObj>
              </mc:Choice>
              <mc:Fallback>
                <p:oleObj name="Equation" r:id="rId5" imgW="685800" imgH="203040" progId="Equation.DSMT4">
                  <p:embed/>
                  <p:pic>
                    <p:nvPicPr>
                      <p:cNvPr id="5" name="Object 4">
                        <a:extLst>
                          <a:ext uri="{FF2B5EF4-FFF2-40B4-BE49-F238E27FC236}">
                            <a16:creationId xmlns:a16="http://schemas.microsoft.com/office/drawing/2014/main" id="{51FB4B97-AD00-0CCD-7816-27FB4D8A5BD7}"/>
                          </a:ext>
                        </a:extLst>
                      </p:cNvPr>
                      <p:cNvPicPr>
                        <a:picLocks noChangeAspect="1" noChangeArrowheads="1"/>
                      </p:cNvPicPr>
                      <p:nvPr/>
                    </p:nvPicPr>
                    <p:blipFill>
                      <a:blip r:embed="rId6"/>
                      <a:srcRect/>
                      <a:stretch>
                        <a:fillRect/>
                      </a:stretch>
                    </p:blipFill>
                    <p:spPr bwMode="auto">
                      <a:xfrm>
                        <a:off x="5444811" y="2733125"/>
                        <a:ext cx="1416942" cy="419835"/>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3309488"/>
            <a:ext cx="8229600" cy="775015"/>
          </a:xfrm>
        </p:spPr>
        <p:txBody>
          <a:bodyPr wrap="square" lIns="0" tIns="18000" rIns="0" bIns="18000" anchor="ctr">
            <a:spAutoFit/>
          </a:bodyPr>
          <a:lstStyle/>
          <a:p>
            <a:pPr marL="0" indent="0">
              <a:spcBef>
                <a:spcPts val="600"/>
              </a:spcBef>
              <a:buNone/>
            </a:pPr>
            <a:r>
              <a:rPr lang="en-US" sz="2400" noProof="0" dirty="0"/>
              <a:t>The power associated with a resistor is always positive. Therefore, resistors always absorb power!</a:t>
            </a:r>
          </a:p>
        </p:txBody>
      </p:sp>
      <p:pic>
        <p:nvPicPr>
          <p:cNvPr id="12" name="Picture 3" descr="The symbol of resistor R with current i, flowing from positive to negative terminal, and voltage V.">
            <a:extLst>
              <a:ext uri="{FF2B5EF4-FFF2-40B4-BE49-F238E27FC236}">
                <a16:creationId xmlns:a16="http://schemas.microsoft.com/office/drawing/2014/main" id="{1C5DFEA7-5143-6E46-5B41-9A1188A2A279}"/>
              </a:ext>
            </a:extLst>
          </p:cNvPr>
          <p:cNvPicPr>
            <a:picLocks noChangeAspect="1" noChangeArrowheads="1"/>
          </p:cNvPicPr>
          <p:nvPr/>
        </p:nvPicPr>
        <p:blipFill>
          <a:blip r:embed="rId7"/>
          <a:stretch>
            <a:fillRect/>
          </a:stretch>
        </p:blipFill>
        <p:spPr bwMode="auto">
          <a:xfrm>
            <a:off x="3570718" y="4226468"/>
            <a:ext cx="1953045" cy="785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5117280"/>
            <a:ext cx="8229600" cy="405683"/>
          </a:xfrm>
        </p:spPr>
        <p:txBody>
          <a:bodyPr wrap="square" lIns="0" tIns="18000" rIns="0" bIns="18000" anchor="ctr">
            <a:spAutoFit/>
          </a:bodyPr>
          <a:lstStyle/>
          <a:p>
            <a:pPr marL="0" indent="0">
              <a:spcBef>
                <a:spcPts val="600"/>
              </a:spcBef>
              <a:buNone/>
            </a:pPr>
            <a:r>
              <a:rPr lang="en-US" sz="2400" noProof="0" dirty="0"/>
              <a:t>Find the power for this resistor.</a:t>
            </a:r>
          </a:p>
        </p:txBody>
      </p:sp>
      <p:graphicFrame>
        <p:nvGraphicFramePr>
          <p:cNvPr id="13" name="Object 12" descr="p equals negative v i equals negative OpenParenthesis negative R i CloseParenthesis i equals R i squared is greater than 0 factorial&#10;">
            <a:extLst>
              <a:ext uri="{FF2B5EF4-FFF2-40B4-BE49-F238E27FC236}">
                <a16:creationId xmlns:a16="http://schemas.microsoft.com/office/drawing/2014/main" id="{560601AB-AE8A-ACBE-C03C-BA38345046AE}"/>
              </a:ext>
            </a:extLst>
          </p:cNvPr>
          <p:cNvGraphicFramePr>
            <a:graphicFrameLocks noChangeAspect="1"/>
          </p:cNvGraphicFramePr>
          <p:nvPr>
            <p:extLst>
              <p:ext uri="{D42A27DB-BD31-4B8C-83A1-F6EECF244321}">
                <p14:modId xmlns:p14="http://schemas.microsoft.com/office/powerpoint/2010/main" val="1885447065"/>
              </p:ext>
            </p:extLst>
          </p:nvPr>
        </p:nvGraphicFramePr>
        <p:xfrm>
          <a:off x="2568411" y="5635610"/>
          <a:ext cx="4029404" cy="508031"/>
        </p:xfrm>
        <a:graphic>
          <a:graphicData uri="http://schemas.openxmlformats.org/presentationml/2006/ole">
            <mc:AlternateContent xmlns:mc="http://schemas.openxmlformats.org/markup-compatibility/2006">
              <mc:Choice xmlns:v="urn:schemas-microsoft-com:vml" Requires="v">
                <p:oleObj name="Equation" r:id="rId8" imgW="1815840" imgH="228600" progId="Equation.DSMT4">
                  <p:embed/>
                </p:oleObj>
              </mc:Choice>
              <mc:Fallback>
                <p:oleObj name="Equation" r:id="rId8" imgW="1815840" imgH="228600" progId="Equation.DSMT4">
                  <p:embed/>
                  <p:pic>
                    <p:nvPicPr>
                      <p:cNvPr id="8" name="Object 7"/>
                      <p:cNvPicPr>
                        <a:picLocks noChangeAspect="1" noChangeArrowheads="1"/>
                      </p:cNvPicPr>
                      <p:nvPr/>
                    </p:nvPicPr>
                    <p:blipFill>
                      <a:blip r:embed="rId9"/>
                      <a:srcRect/>
                      <a:stretch>
                        <a:fillRect/>
                      </a:stretch>
                    </p:blipFill>
                    <p:spPr bwMode="auto">
                      <a:xfrm>
                        <a:off x="2568411" y="5635610"/>
                        <a:ext cx="4029404" cy="508031"/>
                      </a:xfrm>
                      <a:prstGeom prst="rect">
                        <a:avLst/>
                      </a:prstGeom>
                      <a:noFill/>
                      <a:ln w="28575">
                        <a:solidFill>
                          <a:srgbClr val="007FA3"/>
                        </a:solidFill>
                        <a:miter lim="800000"/>
                        <a:headEnd/>
                        <a:tailEnd/>
                      </a:ln>
                    </p:spPr>
                  </p:pic>
                </p:oleObj>
              </mc:Fallback>
            </mc:AlternateContent>
          </a:graphicData>
        </a:graphic>
      </p:graphicFrame>
    </p:spTree>
    <p:extLst>
      <p:ext uri="{BB962C8B-B14F-4D97-AF65-F5344CB8AC3E}">
        <p14:creationId xmlns:p14="http://schemas.microsoft.com/office/powerpoint/2010/main" val="1234091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(6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0123"/>
            <a:ext cx="8229600" cy="851959"/>
          </a:xfrm>
        </p:spPr>
        <p:txBody>
          <a:bodyPr wrap="square" lIns="0" tIns="18000" rIns="0" bIns="18000" anchor="ctr">
            <a:spAutoFit/>
          </a:bodyPr>
          <a:lstStyle/>
          <a:p>
            <a:pPr marL="0" indent="0">
              <a:spcBef>
                <a:spcPts val="600"/>
              </a:spcBef>
              <a:buNone/>
            </a:pPr>
            <a:r>
              <a:rPr lang="en-US" sz="2400" noProof="0" dirty="0"/>
              <a:t>More on resistors</a:t>
            </a:r>
          </a:p>
          <a:p>
            <a:pPr marL="342900" indent="-342900">
              <a:spcBef>
                <a:spcPts val="600"/>
              </a:spcBef>
            </a:pPr>
            <a:r>
              <a:rPr lang="en-US" sz="2400" noProof="0" dirty="0"/>
              <a:t>Calculate the power in a resistor using voltage:</a:t>
            </a:r>
          </a:p>
        </p:txBody>
      </p:sp>
      <p:pic>
        <p:nvPicPr>
          <p:cNvPr id="2" name="Picture 3" descr="The symbol of resistor R with current i, flowing from positive to negative terminal, and voltage V.">
            <a:extLst>
              <a:ext uri="{FF2B5EF4-FFF2-40B4-BE49-F238E27FC236}">
                <a16:creationId xmlns:a16="http://schemas.microsoft.com/office/drawing/2014/main" id="{1C6481AB-9379-5F3F-20BF-17258285B2B3}"/>
              </a:ext>
            </a:extLst>
          </p:cNvPr>
          <p:cNvPicPr>
            <a:picLocks noChangeAspect="1" noChangeArrowheads="1"/>
          </p:cNvPicPr>
          <p:nvPr/>
        </p:nvPicPr>
        <p:blipFill>
          <a:blip r:embed="rId2"/>
          <a:stretch>
            <a:fillRect/>
          </a:stretch>
        </p:blipFill>
        <p:spPr bwMode="auto">
          <a:xfrm>
            <a:off x="1756032" y="2307161"/>
            <a:ext cx="2340096" cy="9407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 name="Object 2" descr="p equals plus v i equals v StartFraction v over R EndFraction&#10;">
            <a:extLst>
              <a:ext uri="{FF2B5EF4-FFF2-40B4-BE49-F238E27FC236}">
                <a16:creationId xmlns:a16="http://schemas.microsoft.com/office/drawing/2014/main" id="{02CA03CB-132A-A2CB-8A1C-D4443F62F363}"/>
              </a:ext>
            </a:extLst>
          </p:cNvPr>
          <p:cNvGraphicFramePr>
            <a:graphicFrameLocks noChangeAspect="1"/>
          </p:cNvGraphicFramePr>
          <p:nvPr>
            <p:extLst>
              <p:ext uri="{D42A27DB-BD31-4B8C-83A1-F6EECF244321}">
                <p14:modId xmlns:p14="http://schemas.microsoft.com/office/powerpoint/2010/main" val="576733027"/>
              </p:ext>
            </p:extLst>
          </p:nvPr>
        </p:nvGraphicFramePr>
        <p:xfrm>
          <a:off x="4652169" y="2099505"/>
          <a:ext cx="1889125" cy="813955"/>
        </p:xfrm>
        <a:graphic>
          <a:graphicData uri="http://schemas.openxmlformats.org/presentationml/2006/ole">
            <mc:AlternateContent xmlns:mc="http://schemas.openxmlformats.org/markup-compatibility/2006">
              <mc:Choice xmlns:v="urn:schemas-microsoft-com:vml" Requires="v">
                <p:oleObj name="Equation" r:id="rId3" imgW="914400" imgH="393480" progId="Equation.DSMT4">
                  <p:embed/>
                </p:oleObj>
              </mc:Choice>
              <mc:Fallback>
                <p:oleObj name="Equation" r:id="rId3" imgW="914400" imgH="393480" progId="Equation.DSMT4">
                  <p:embed/>
                  <p:pic>
                    <p:nvPicPr>
                      <p:cNvPr id="5" name="Object 4"/>
                      <p:cNvPicPr>
                        <a:picLocks noChangeAspect="1" noChangeArrowheads="1"/>
                      </p:cNvPicPr>
                      <p:nvPr/>
                    </p:nvPicPr>
                    <p:blipFill>
                      <a:blip r:embed="rId4"/>
                      <a:srcRect/>
                      <a:stretch>
                        <a:fillRect/>
                      </a:stretch>
                    </p:blipFill>
                    <p:spPr bwMode="auto">
                      <a:xfrm>
                        <a:off x="4652169" y="2099505"/>
                        <a:ext cx="1889125" cy="813955"/>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descr="Equals StartFraction v squared over R EndFraction is greater than 0 factorial&#10;">
            <a:extLst>
              <a:ext uri="{FF2B5EF4-FFF2-40B4-BE49-F238E27FC236}">
                <a16:creationId xmlns:a16="http://schemas.microsoft.com/office/drawing/2014/main" id="{FF3FC53F-4C26-0AB5-9A46-87D219DEB858}"/>
              </a:ext>
            </a:extLst>
          </p:cNvPr>
          <p:cNvGraphicFramePr>
            <a:graphicFrameLocks noChangeAspect="1"/>
          </p:cNvGraphicFramePr>
          <p:nvPr>
            <p:extLst>
              <p:ext uri="{D42A27DB-BD31-4B8C-83A1-F6EECF244321}">
                <p14:modId xmlns:p14="http://schemas.microsoft.com/office/powerpoint/2010/main" val="1573555159"/>
              </p:ext>
            </p:extLst>
          </p:nvPr>
        </p:nvGraphicFramePr>
        <p:xfrm>
          <a:off x="4952344" y="3033019"/>
          <a:ext cx="1311852" cy="865909"/>
        </p:xfrm>
        <a:graphic>
          <a:graphicData uri="http://schemas.openxmlformats.org/presentationml/2006/ole">
            <mc:AlternateContent xmlns:mc="http://schemas.openxmlformats.org/markup-compatibility/2006">
              <mc:Choice xmlns:v="urn:schemas-microsoft-com:vml" Requires="v">
                <p:oleObj name="Equation" r:id="rId5" imgW="634680" imgH="419040" progId="Equation.DSMT4">
                  <p:embed/>
                </p:oleObj>
              </mc:Choice>
              <mc:Fallback>
                <p:oleObj name="Equation" r:id="rId5" imgW="634680" imgH="419040" progId="Equation.DSMT4">
                  <p:embed/>
                  <p:pic>
                    <p:nvPicPr>
                      <p:cNvPr id="3" name="Object 2">
                        <a:extLst>
                          <a:ext uri="{FF2B5EF4-FFF2-40B4-BE49-F238E27FC236}">
                            <a16:creationId xmlns:a16="http://schemas.microsoft.com/office/drawing/2014/main" id="{02CA03CB-132A-A2CB-8A1C-D4443F62F363}"/>
                          </a:ext>
                        </a:extLst>
                      </p:cNvPr>
                      <p:cNvPicPr>
                        <a:picLocks noChangeAspect="1" noChangeArrowheads="1"/>
                      </p:cNvPicPr>
                      <p:nvPr/>
                    </p:nvPicPr>
                    <p:blipFill>
                      <a:blip r:embed="rId6"/>
                      <a:srcRect/>
                      <a:stretch>
                        <a:fillRect/>
                      </a:stretch>
                    </p:blipFill>
                    <p:spPr bwMode="auto">
                      <a:xfrm>
                        <a:off x="4952344" y="3033019"/>
                        <a:ext cx="1311852" cy="865909"/>
                      </a:xfrm>
                      <a:prstGeom prst="rect">
                        <a:avLst/>
                      </a:prstGeom>
                      <a:noFill/>
                      <a:ln w="38100">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4080448"/>
            <a:ext cx="8229600" cy="405683"/>
          </a:xfrm>
        </p:spPr>
        <p:txBody>
          <a:bodyPr wrap="square" lIns="0" tIns="18000" rIns="0" bIns="18000" anchor="ctr">
            <a:spAutoFit/>
          </a:bodyPr>
          <a:lstStyle/>
          <a:p>
            <a:pPr marL="0" indent="0">
              <a:spcBef>
                <a:spcPts val="600"/>
              </a:spcBef>
              <a:buNone/>
            </a:pPr>
            <a:r>
              <a:rPr lang="en-US" sz="2400" noProof="0" dirty="0"/>
              <a:t>The power associated with a resistor is still positive.</a:t>
            </a:r>
          </a:p>
        </p:txBody>
      </p:sp>
    </p:spTree>
    <p:extLst>
      <p:ext uri="{BB962C8B-B14F-4D97-AF65-F5344CB8AC3E}">
        <p14:creationId xmlns:p14="http://schemas.microsoft.com/office/powerpoint/2010/main" val="2359899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5284"/>
            <a:ext cx="8229600" cy="590349"/>
          </a:xfrm>
        </p:spPr>
        <p:txBody>
          <a:bodyPr anchor="ctr"/>
          <a:lstStyle/>
          <a:p>
            <a:r>
              <a:rPr lang="en-US" noProof="0" dirty="0"/>
              <a:t>Chapter 2 – Circuit Elements </a:t>
            </a:r>
            <a:r>
              <a:rPr lang="en-US" sz="2800" noProof="0" dirty="0"/>
              <a:t>(7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68762"/>
            <a:ext cx="1372721" cy="405683"/>
          </a:xfrm>
        </p:spPr>
        <p:txBody>
          <a:bodyPr wrap="square" lIns="0" tIns="18000" rIns="0" bIns="18000" anchor="ctr">
            <a:spAutoFit/>
          </a:bodyPr>
          <a:lstStyle/>
          <a:p>
            <a:pPr marL="0" indent="0">
              <a:spcBef>
                <a:spcPts val="600"/>
              </a:spcBef>
              <a:buNone/>
            </a:pPr>
            <a:r>
              <a:rPr lang="en-US" sz="2400" noProof="0" dirty="0"/>
              <a:t>Example: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560699"/>
            <a:ext cx="4722019" cy="405683"/>
          </a:xfrm>
        </p:spPr>
        <p:txBody>
          <a:bodyPr wrap="square" lIns="0" tIns="18000" rIns="0" bIns="18000" anchor="ctr">
            <a:spAutoFit/>
          </a:bodyPr>
          <a:lstStyle/>
          <a:p>
            <a:pPr marL="342900" indent="-342900">
              <a:spcBef>
                <a:spcPts val="600"/>
              </a:spcBef>
            </a:pPr>
            <a:r>
              <a:rPr lang="en-US" sz="2400" noProof="0" dirty="0"/>
              <a:t>Consider the circuit shown here.</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1" y="2070566"/>
            <a:ext cx="67437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If</a:t>
            </a:r>
          </a:p>
        </p:txBody>
      </p:sp>
      <p:graphicFrame>
        <p:nvGraphicFramePr>
          <p:cNvPr id="39" name="Object 38" descr="v subscript g Baseline equals 1 kilovolt&#10;">
            <a:extLst>
              <a:ext uri="{FF2B5EF4-FFF2-40B4-BE49-F238E27FC236}">
                <a16:creationId xmlns:a16="http://schemas.microsoft.com/office/drawing/2014/main" id="{F71DFEE3-103F-EBAA-6F82-4295551B8858}"/>
              </a:ext>
            </a:extLst>
          </p:cNvPr>
          <p:cNvGraphicFramePr>
            <a:graphicFrameLocks noChangeAspect="1"/>
          </p:cNvGraphicFramePr>
          <p:nvPr/>
        </p:nvGraphicFramePr>
        <p:xfrm>
          <a:off x="1179946" y="2095351"/>
          <a:ext cx="1215159" cy="451715"/>
        </p:xfrm>
        <a:graphic>
          <a:graphicData uri="http://schemas.openxmlformats.org/presentationml/2006/ole">
            <mc:AlternateContent xmlns:mc="http://schemas.openxmlformats.org/markup-compatibility/2006">
              <mc:Choice xmlns:v="urn:schemas-microsoft-com:vml" Requires="v">
                <p:oleObj name="Equation" r:id="rId3" imgW="647640" imgH="241200" progId="Equation.DSMT4">
                  <p:embed/>
                </p:oleObj>
              </mc:Choice>
              <mc:Fallback>
                <p:oleObj name="Equation" r:id="rId3" imgW="647640" imgH="241200" progId="Equation.DSMT4">
                  <p:embed/>
                  <p:pic>
                    <p:nvPicPr>
                      <p:cNvPr id="39" name="Object 38" descr="v subscript g Baseline equals 1 kilovolt&#10;">
                        <a:extLst>
                          <a:ext uri="{FF2B5EF4-FFF2-40B4-BE49-F238E27FC236}">
                            <a16:creationId xmlns:a16="http://schemas.microsoft.com/office/drawing/2014/main" id="{F71DFEE3-103F-EBAA-6F82-4295551B8858}"/>
                          </a:ext>
                        </a:extLst>
                      </p:cNvPr>
                      <p:cNvPicPr>
                        <a:picLocks noChangeAspect="1" noChangeArrowheads="1"/>
                      </p:cNvPicPr>
                      <p:nvPr/>
                    </p:nvPicPr>
                    <p:blipFill>
                      <a:blip r:embed="rId4"/>
                      <a:srcRect/>
                      <a:stretch>
                        <a:fillRect/>
                      </a:stretch>
                    </p:blipFill>
                    <p:spPr bwMode="auto">
                      <a:xfrm>
                        <a:off x="1179946" y="2095351"/>
                        <a:ext cx="1215159" cy="451715"/>
                      </a:xfrm>
                      <a:prstGeom prst="rect">
                        <a:avLst/>
                      </a:prstGeom>
                      <a:noFill/>
                      <a:ln w="38100">
                        <a:noFill/>
                        <a:miter lim="800000"/>
                        <a:headEnd/>
                        <a:tailEnd/>
                      </a:ln>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462530" y="2066040"/>
            <a:ext cx="544830" cy="405683"/>
          </a:xfrm>
        </p:spPr>
        <p:txBody>
          <a:bodyPr wrap="square" lIns="0" tIns="18000" rIns="0" bIns="18000" anchor="ctr">
            <a:spAutoFit/>
          </a:bodyPr>
          <a:lstStyle/>
          <a:p>
            <a:pPr marL="0" indent="0">
              <a:spcBef>
                <a:spcPts val="600"/>
              </a:spcBef>
              <a:buNone/>
            </a:pPr>
            <a:r>
              <a:rPr lang="en-US" sz="2400" noProof="0" dirty="0"/>
              <a:t>and</a:t>
            </a:r>
          </a:p>
        </p:txBody>
      </p:sp>
      <p:graphicFrame>
        <p:nvGraphicFramePr>
          <p:cNvPr id="40" name="Object 39" descr="i subscript g Baseline equals 5 Milli Amperes,&#10;">
            <a:extLst>
              <a:ext uri="{FF2B5EF4-FFF2-40B4-BE49-F238E27FC236}">
                <a16:creationId xmlns:a16="http://schemas.microsoft.com/office/drawing/2014/main" id="{A798CABB-1C51-446D-45F5-455BB53799E3}"/>
              </a:ext>
            </a:extLst>
          </p:cNvPr>
          <p:cNvGraphicFramePr>
            <a:graphicFrameLocks noChangeAspect="1"/>
          </p:cNvGraphicFramePr>
          <p:nvPr/>
        </p:nvGraphicFramePr>
        <p:xfrm>
          <a:off x="3070022" y="2095966"/>
          <a:ext cx="1358900" cy="450850"/>
        </p:xfrm>
        <a:graphic>
          <a:graphicData uri="http://schemas.openxmlformats.org/presentationml/2006/ole">
            <mc:AlternateContent xmlns:mc="http://schemas.openxmlformats.org/markup-compatibility/2006">
              <mc:Choice xmlns:v="urn:schemas-microsoft-com:vml" Requires="v">
                <p:oleObj name="Equation" r:id="rId5" imgW="723600" imgH="241200" progId="Equation.DSMT4">
                  <p:embed/>
                </p:oleObj>
              </mc:Choice>
              <mc:Fallback>
                <p:oleObj name="Equation" r:id="rId5" imgW="723600" imgH="241200" progId="Equation.DSMT4">
                  <p:embed/>
                  <p:pic>
                    <p:nvPicPr>
                      <p:cNvPr id="40" name="Object 39" descr="i subscript g Baseline equals 5 Milli Amperes,&#10;">
                        <a:extLst>
                          <a:ext uri="{FF2B5EF4-FFF2-40B4-BE49-F238E27FC236}">
                            <a16:creationId xmlns:a16="http://schemas.microsoft.com/office/drawing/2014/main" id="{A798CABB-1C51-446D-45F5-455BB53799E3}"/>
                          </a:ext>
                        </a:extLst>
                      </p:cNvPr>
                      <p:cNvPicPr>
                        <a:picLocks noChangeAspect="1" noChangeArrowheads="1"/>
                      </p:cNvPicPr>
                      <p:nvPr/>
                    </p:nvPicPr>
                    <p:blipFill>
                      <a:blip r:embed="rId6"/>
                      <a:srcRect/>
                      <a:stretch>
                        <a:fillRect/>
                      </a:stretch>
                    </p:blipFill>
                    <p:spPr bwMode="auto">
                      <a:xfrm>
                        <a:off x="3070022" y="2095966"/>
                        <a:ext cx="1358900" cy="450850"/>
                      </a:xfrm>
                      <a:prstGeom prst="rect">
                        <a:avLst/>
                      </a:prstGeom>
                      <a:noFill/>
                      <a:ln w="38100">
                        <a:noFill/>
                        <a:miter lim="800000"/>
                        <a:headEnd/>
                        <a:tailEnd/>
                      </a:ln>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491584" y="2065791"/>
            <a:ext cx="543485" cy="405683"/>
          </a:xfrm>
        </p:spPr>
        <p:txBody>
          <a:bodyPr wrap="square" lIns="0" tIns="18000" rIns="0" bIns="18000" anchor="ctr">
            <a:spAutoFit/>
          </a:bodyPr>
          <a:lstStyle/>
          <a:p>
            <a:pPr marL="0" indent="0">
              <a:spcBef>
                <a:spcPts val="600"/>
              </a:spcBef>
              <a:buNone/>
            </a:pPr>
            <a:r>
              <a:rPr lang="en-US" sz="2400" noProof="0" dirty="0"/>
              <a:t>find</a:t>
            </a:r>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908050" y="2581664"/>
            <a:ext cx="4054475" cy="775015"/>
          </a:xfrm>
        </p:spPr>
        <p:txBody>
          <a:bodyPr lIns="0" tIns="18000" rIns="0" bIns="18000" anchor="ctr">
            <a:spAutoFit/>
          </a:bodyPr>
          <a:lstStyle/>
          <a:p>
            <a:pPr marL="0" indent="0">
              <a:spcBef>
                <a:spcPts val="600"/>
              </a:spcBef>
              <a:buNone/>
            </a:pPr>
            <a:r>
              <a:rPr lang="en-US" sz="2400" noProof="0" dirty="0"/>
              <a:t>R and the power absorbed by the resistor.</a:t>
            </a:r>
          </a:p>
        </p:txBody>
      </p:sp>
      <p:pic>
        <p:nvPicPr>
          <p:cNvPr id="44" name="Picture 3" descr="The positive terminal of a voltage source v subscript s is connected to its negative terminal through a resistor R. Current i subscript s is flowing from the positive terminal of the voltage source.">
            <a:extLst>
              <a:ext uri="{FF2B5EF4-FFF2-40B4-BE49-F238E27FC236}">
                <a16:creationId xmlns:a16="http://schemas.microsoft.com/office/drawing/2014/main" id="{66C00CFD-87CD-070C-0437-F229094B9C74}"/>
              </a:ext>
            </a:extLst>
          </p:cNvPr>
          <p:cNvPicPr>
            <a:picLocks noChangeAspect="1" noChangeArrowheads="1"/>
          </p:cNvPicPr>
          <p:nvPr/>
        </p:nvPicPr>
        <p:blipFill>
          <a:blip r:embed="rId7"/>
          <a:srcRect l="1321" r="1321"/>
          <a:stretch/>
        </p:blipFill>
        <p:spPr bwMode="auto">
          <a:xfrm>
            <a:off x="5677354" y="1187075"/>
            <a:ext cx="2990396" cy="219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42" name="Object 41" descr="The expression R and P sub R follows.&#10;Long description is available in notes, press F6&#10;">
            <a:extLst>
              <a:ext uri="{FF2B5EF4-FFF2-40B4-BE49-F238E27FC236}">
                <a16:creationId xmlns:a16="http://schemas.microsoft.com/office/drawing/2014/main" id="{5FB93A11-F045-FBD2-7D7C-64E0E825D3E1}"/>
              </a:ext>
            </a:extLst>
          </p:cNvPr>
          <p:cNvGraphicFramePr>
            <a:graphicFrameLocks noChangeAspect="1"/>
          </p:cNvGraphicFramePr>
          <p:nvPr/>
        </p:nvGraphicFramePr>
        <p:xfrm>
          <a:off x="1338263" y="3759807"/>
          <a:ext cx="6469062" cy="1403350"/>
        </p:xfrm>
        <a:graphic>
          <a:graphicData uri="http://schemas.openxmlformats.org/presentationml/2006/ole">
            <mc:AlternateContent xmlns:mc="http://schemas.openxmlformats.org/markup-compatibility/2006">
              <mc:Choice xmlns:v="urn:schemas-microsoft-com:vml" Requires="v">
                <p:oleObj name="Equation" r:id="rId8" imgW="3390840" imgH="736560" progId="Equation.DSMT4">
                  <p:embed/>
                </p:oleObj>
              </mc:Choice>
              <mc:Fallback>
                <p:oleObj name="Equation" r:id="rId8" imgW="3390840" imgH="736560" progId="Equation.DSMT4">
                  <p:embed/>
                  <p:pic>
                    <p:nvPicPr>
                      <p:cNvPr id="42" name="Object 41" descr="The expression R and P sub R follows.&#10;Long description is available in notes, press F6&#10;">
                        <a:extLst>
                          <a:ext uri="{FF2B5EF4-FFF2-40B4-BE49-F238E27FC236}">
                            <a16:creationId xmlns:a16="http://schemas.microsoft.com/office/drawing/2014/main" id="{5FB93A11-F045-FBD2-7D7C-64E0E825D3E1}"/>
                          </a:ext>
                        </a:extLst>
                      </p:cNvPr>
                      <p:cNvPicPr>
                        <a:picLocks noChangeAspect="1" noChangeArrowheads="1"/>
                      </p:cNvPicPr>
                      <p:nvPr/>
                    </p:nvPicPr>
                    <p:blipFill>
                      <a:blip r:embed="rId9"/>
                      <a:srcRect/>
                      <a:stretch>
                        <a:fillRect/>
                      </a:stretch>
                    </p:blipFill>
                    <p:spPr bwMode="auto">
                      <a:xfrm>
                        <a:off x="1338263" y="3759807"/>
                        <a:ext cx="6469062" cy="1403350"/>
                      </a:xfrm>
                      <a:prstGeom prst="rect">
                        <a:avLst/>
                      </a:prstGeom>
                      <a:noFill/>
                      <a:ln w="28575">
                        <a:solidFill>
                          <a:srgbClr val="007FA3"/>
                        </a:solidFill>
                        <a:miter lim="800000"/>
                        <a:headEnd/>
                        <a:tailEnd/>
                      </a:ln>
                      <a:effectLst/>
                    </p:spPr>
                  </p:pic>
                </p:oleObj>
              </mc:Fallback>
            </mc:AlternateContent>
          </a:graphicData>
        </a:graphic>
      </p:graphicFrame>
    </p:spTree>
    <p:extLst>
      <p:ext uri="{BB962C8B-B14F-4D97-AF65-F5344CB8AC3E}">
        <p14:creationId xmlns:p14="http://schemas.microsoft.com/office/powerpoint/2010/main" val="1532697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5284"/>
            <a:ext cx="8229600" cy="590349"/>
          </a:xfrm>
        </p:spPr>
        <p:txBody>
          <a:bodyPr anchor="ctr"/>
          <a:lstStyle/>
          <a:p>
            <a:r>
              <a:rPr lang="en-US" noProof="0" dirty="0"/>
              <a:t>Chapter 2 – Circuit Elements </a:t>
            </a:r>
            <a:r>
              <a:rPr lang="en-US" sz="2800" noProof="0" dirty="0"/>
              <a:t>(8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1563"/>
            <a:ext cx="4054475" cy="405683"/>
          </a:xfrm>
        </p:spPr>
        <p:txBody>
          <a:bodyPr lIns="0" tIns="18000" rIns="0" bIns="18000" anchor="ctr">
            <a:spAutoFit/>
          </a:bodyPr>
          <a:lstStyle/>
          <a:p>
            <a:pPr marL="0" indent="0">
              <a:spcBef>
                <a:spcPts val="600"/>
              </a:spcBef>
              <a:buNone/>
            </a:pPr>
            <a:r>
              <a:rPr lang="en-US" sz="2400" noProof="0" dirty="0"/>
              <a:t>Example, continued</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547813"/>
            <a:ext cx="4707591" cy="405683"/>
          </a:xfrm>
        </p:spPr>
        <p:txBody>
          <a:bodyPr wrap="square" lIns="0" tIns="18000" rIns="0" bIns="18000" anchor="ctr">
            <a:spAutoFit/>
          </a:bodyPr>
          <a:lstStyle/>
          <a:p>
            <a:pPr marL="342900" indent="-342900">
              <a:spcBef>
                <a:spcPts val="600"/>
              </a:spcBef>
            </a:pPr>
            <a:r>
              <a:rPr lang="en-US" sz="2400" noProof="0" dirty="0"/>
              <a:t>Consider the circuit shown here.</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1995488"/>
            <a:ext cx="671513"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If</a:t>
            </a:r>
          </a:p>
        </p:txBody>
      </p:sp>
      <p:graphicFrame>
        <p:nvGraphicFramePr>
          <p:cNvPr id="39" name="Object 38" descr="i subscript g Baseline equals 75 Milli Amperes&#10;">
            <a:extLst>
              <a:ext uri="{FF2B5EF4-FFF2-40B4-BE49-F238E27FC236}">
                <a16:creationId xmlns:a16="http://schemas.microsoft.com/office/drawing/2014/main" id="{F091A8B1-9C1C-8676-2704-7C9D92CAF111}"/>
              </a:ext>
            </a:extLst>
          </p:cNvPr>
          <p:cNvGraphicFramePr>
            <a:graphicFrameLocks noChangeAspect="1"/>
          </p:cNvGraphicFramePr>
          <p:nvPr>
            <p:extLst>
              <p:ext uri="{D42A27DB-BD31-4B8C-83A1-F6EECF244321}">
                <p14:modId xmlns:p14="http://schemas.microsoft.com/office/powerpoint/2010/main" val="1066189977"/>
              </p:ext>
            </p:extLst>
          </p:nvPr>
        </p:nvGraphicFramePr>
        <p:xfrm>
          <a:off x="1187449" y="2022477"/>
          <a:ext cx="1454150" cy="450850"/>
        </p:xfrm>
        <a:graphic>
          <a:graphicData uri="http://schemas.openxmlformats.org/presentationml/2006/ole">
            <mc:AlternateContent xmlns:mc="http://schemas.openxmlformats.org/markup-compatibility/2006">
              <mc:Choice xmlns:v="urn:schemas-microsoft-com:vml" Requires="v">
                <p:oleObj name="Equation" r:id="rId3" imgW="774360" imgH="241200" progId="Equation.DSMT4">
                  <p:embed/>
                </p:oleObj>
              </mc:Choice>
              <mc:Fallback>
                <p:oleObj name="Equation" r:id="rId3" imgW="774360" imgH="241200" progId="Equation.DSMT4">
                  <p:embed/>
                  <p:pic>
                    <p:nvPicPr>
                      <p:cNvPr id="40" name="Object 39">
                        <a:extLst>
                          <a:ext uri="{FF2B5EF4-FFF2-40B4-BE49-F238E27FC236}">
                            <a16:creationId xmlns:a16="http://schemas.microsoft.com/office/drawing/2014/main" id="{A798CABB-1C51-446D-45F5-455BB53799E3}"/>
                          </a:ext>
                        </a:extLst>
                      </p:cNvPr>
                      <p:cNvPicPr>
                        <a:picLocks noChangeAspect="1" noChangeArrowheads="1"/>
                      </p:cNvPicPr>
                      <p:nvPr/>
                    </p:nvPicPr>
                    <p:blipFill>
                      <a:blip r:embed="rId4"/>
                      <a:srcRect/>
                      <a:stretch>
                        <a:fillRect/>
                      </a:stretch>
                    </p:blipFill>
                    <p:spPr bwMode="auto">
                      <a:xfrm>
                        <a:off x="1187449" y="2022477"/>
                        <a:ext cx="1454150" cy="450850"/>
                      </a:xfrm>
                      <a:prstGeom prst="rect">
                        <a:avLst/>
                      </a:prstGeom>
                      <a:noFill/>
                      <a:ln w="38100">
                        <a:noFill/>
                        <a:miter lim="800000"/>
                        <a:headEnd/>
                        <a:tailEnd/>
                      </a:ln>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719384" y="1995749"/>
            <a:ext cx="533399" cy="405683"/>
          </a:xfrm>
        </p:spPr>
        <p:txBody>
          <a:bodyPr wrap="square" lIns="0" tIns="18000" rIns="0" bIns="18000" anchor="ctr">
            <a:spAutoFit/>
          </a:bodyPr>
          <a:lstStyle/>
          <a:p>
            <a:pPr marL="0" indent="0">
              <a:spcBef>
                <a:spcPts val="600"/>
              </a:spcBef>
              <a:buNone/>
            </a:pPr>
            <a:r>
              <a:rPr lang="en-US" sz="2400" noProof="0" dirty="0"/>
              <a:t>and</a:t>
            </a:r>
          </a:p>
        </p:txBody>
      </p:sp>
      <p:graphicFrame>
        <p:nvGraphicFramePr>
          <p:cNvPr id="40" name="Object 39" descr="p subscript g Baseline equals negative 3 Watts&#10;">
            <a:extLst>
              <a:ext uri="{FF2B5EF4-FFF2-40B4-BE49-F238E27FC236}">
                <a16:creationId xmlns:a16="http://schemas.microsoft.com/office/drawing/2014/main" id="{A8EA66D5-3B51-CEF6-56F1-7A73245DE7CF}"/>
              </a:ext>
            </a:extLst>
          </p:cNvPr>
          <p:cNvGraphicFramePr>
            <a:graphicFrameLocks noChangeAspect="1"/>
          </p:cNvGraphicFramePr>
          <p:nvPr>
            <p:extLst>
              <p:ext uri="{D42A27DB-BD31-4B8C-83A1-F6EECF244321}">
                <p14:modId xmlns:p14="http://schemas.microsoft.com/office/powerpoint/2010/main" val="171262131"/>
              </p:ext>
            </p:extLst>
          </p:nvPr>
        </p:nvGraphicFramePr>
        <p:xfrm>
          <a:off x="3330568" y="2026099"/>
          <a:ext cx="1454150" cy="450850"/>
        </p:xfrm>
        <a:graphic>
          <a:graphicData uri="http://schemas.openxmlformats.org/presentationml/2006/ole">
            <mc:AlternateContent xmlns:mc="http://schemas.openxmlformats.org/markup-compatibility/2006">
              <mc:Choice xmlns:v="urn:schemas-microsoft-com:vml" Requires="v">
                <p:oleObj name="Equation" r:id="rId5" imgW="774360" imgH="241200" progId="Equation.DSMT4">
                  <p:embed/>
                </p:oleObj>
              </mc:Choice>
              <mc:Fallback>
                <p:oleObj name="Equation" r:id="rId5" imgW="774360" imgH="241200" progId="Equation.DSMT4">
                  <p:embed/>
                  <p:pic>
                    <p:nvPicPr>
                      <p:cNvPr id="39" name="Object 38">
                        <a:extLst>
                          <a:ext uri="{FF2B5EF4-FFF2-40B4-BE49-F238E27FC236}">
                            <a16:creationId xmlns:a16="http://schemas.microsoft.com/office/drawing/2014/main" id="{F091A8B1-9C1C-8676-2704-7C9D92CAF111}"/>
                          </a:ext>
                        </a:extLst>
                      </p:cNvPr>
                      <p:cNvPicPr>
                        <a:picLocks noChangeAspect="1" noChangeArrowheads="1"/>
                      </p:cNvPicPr>
                      <p:nvPr/>
                    </p:nvPicPr>
                    <p:blipFill>
                      <a:blip r:embed="rId6"/>
                      <a:srcRect/>
                      <a:stretch>
                        <a:fillRect/>
                      </a:stretch>
                    </p:blipFill>
                    <p:spPr bwMode="auto">
                      <a:xfrm>
                        <a:off x="3330568" y="2026099"/>
                        <a:ext cx="1454150" cy="450850"/>
                      </a:xfrm>
                      <a:prstGeom prst="rect">
                        <a:avLst/>
                      </a:prstGeom>
                      <a:noFill/>
                      <a:ln w="38100">
                        <a:noFill/>
                        <a:miter lim="800000"/>
                        <a:headEnd/>
                        <a:tailEnd/>
                      </a:ln>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917947" y="2519641"/>
            <a:ext cx="510803" cy="405683"/>
          </a:xfrm>
        </p:spPr>
        <p:txBody>
          <a:bodyPr wrap="square" lIns="0" tIns="18000" rIns="0" bIns="18000" anchor="ctr">
            <a:spAutoFit/>
          </a:bodyPr>
          <a:lstStyle/>
          <a:p>
            <a:pPr marL="0" indent="0">
              <a:spcBef>
                <a:spcPts val="600"/>
              </a:spcBef>
              <a:buNone/>
            </a:pPr>
            <a:r>
              <a:rPr lang="en-US" sz="2400" noProof="0" dirty="0"/>
              <a:t>find</a:t>
            </a:r>
          </a:p>
        </p:txBody>
      </p:sp>
      <p:graphicFrame>
        <p:nvGraphicFramePr>
          <p:cNvPr id="41" name="Object 40" descr="V subscript g Baseline,&#10;">
            <a:extLst>
              <a:ext uri="{FF2B5EF4-FFF2-40B4-BE49-F238E27FC236}">
                <a16:creationId xmlns:a16="http://schemas.microsoft.com/office/drawing/2014/main" id="{C348A74A-8C8B-449F-7390-EC3411602955}"/>
              </a:ext>
            </a:extLst>
          </p:cNvPr>
          <p:cNvGraphicFramePr>
            <a:graphicFrameLocks noChangeAspect="1"/>
          </p:cNvGraphicFramePr>
          <p:nvPr>
            <p:extLst>
              <p:ext uri="{D42A27DB-BD31-4B8C-83A1-F6EECF244321}">
                <p14:modId xmlns:p14="http://schemas.microsoft.com/office/powerpoint/2010/main" val="2317674503"/>
              </p:ext>
            </p:extLst>
          </p:nvPr>
        </p:nvGraphicFramePr>
        <p:xfrm>
          <a:off x="1475503" y="2516149"/>
          <a:ext cx="473233" cy="495935"/>
        </p:xfrm>
        <a:graphic>
          <a:graphicData uri="http://schemas.openxmlformats.org/presentationml/2006/ole">
            <mc:AlternateContent xmlns:mc="http://schemas.openxmlformats.org/markup-compatibility/2006">
              <mc:Choice xmlns:v="urn:schemas-microsoft-com:vml" Requires="v">
                <p:oleObj name="Equation" r:id="rId7" imgW="228600" imgH="241200" progId="Equation.DSMT4">
                  <p:embed/>
                </p:oleObj>
              </mc:Choice>
              <mc:Fallback>
                <p:oleObj name="Equation" r:id="rId7" imgW="228600" imgH="241200" progId="Equation.DSMT4">
                  <p:embed/>
                  <p:pic>
                    <p:nvPicPr>
                      <p:cNvPr id="40" name="Object 39">
                        <a:extLst>
                          <a:ext uri="{FF2B5EF4-FFF2-40B4-BE49-F238E27FC236}">
                            <a16:creationId xmlns:a16="http://schemas.microsoft.com/office/drawing/2014/main" id="{A8EA66D5-3B51-CEF6-56F1-7A73245DE7CF}"/>
                          </a:ext>
                        </a:extLst>
                      </p:cNvPr>
                      <p:cNvPicPr>
                        <a:picLocks noChangeAspect="1" noChangeArrowheads="1"/>
                      </p:cNvPicPr>
                      <p:nvPr/>
                    </p:nvPicPr>
                    <p:blipFill>
                      <a:blip r:embed="rId8"/>
                      <a:srcRect/>
                      <a:stretch>
                        <a:fillRect/>
                      </a:stretch>
                    </p:blipFill>
                    <p:spPr bwMode="auto">
                      <a:xfrm>
                        <a:off x="1475503" y="2516149"/>
                        <a:ext cx="473233" cy="495935"/>
                      </a:xfrm>
                      <a:prstGeom prst="rect">
                        <a:avLst/>
                      </a:prstGeom>
                      <a:noFill/>
                      <a:ln w="38100">
                        <a:noFill/>
                        <a:miter lim="800000"/>
                        <a:headEnd/>
                        <a:tailEnd/>
                      </a:ln>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989139" y="2519641"/>
            <a:ext cx="2292350" cy="405683"/>
          </a:xfrm>
        </p:spPr>
        <p:txBody>
          <a:bodyPr wrap="square" lIns="0" tIns="18000" rIns="0" bIns="18000" anchor="ctr">
            <a:spAutoFit/>
          </a:bodyPr>
          <a:lstStyle/>
          <a:p>
            <a:pPr marL="0" indent="0">
              <a:spcBef>
                <a:spcPts val="600"/>
              </a:spcBef>
              <a:buNone/>
            </a:pPr>
            <a:r>
              <a:rPr lang="en-US" sz="2400" noProof="0" dirty="0"/>
              <a:t>R and the power</a:t>
            </a:r>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917947" y="3053344"/>
            <a:ext cx="4054475" cy="405683"/>
          </a:xfrm>
        </p:spPr>
        <p:txBody>
          <a:bodyPr lIns="0" tIns="18000" rIns="0" bIns="18000" anchor="ctr">
            <a:spAutoFit/>
          </a:bodyPr>
          <a:lstStyle/>
          <a:p>
            <a:pPr marL="0" indent="0">
              <a:spcBef>
                <a:spcPts val="600"/>
              </a:spcBef>
              <a:buNone/>
            </a:pPr>
            <a:r>
              <a:rPr lang="en-US" sz="2400" noProof="0" dirty="0"/>
              <a:t>absorbed by the resistor.</a:t>
            </a:r>
          </a:p>
        </p:txBody>
      </p:sp>
      <p:pic>
        <p:nvPicPr>
          <p:cNvPr id="46" name="Picture 3" descr="The positive terminal of a voltage source v subscript s is connected to its negative terminal through a resistor R. Current i subscript s is flowing from the positive terminal of the voltage source.">
            <a:extLst>
              <a:ext uri="{FF2B5EF4-FFF2-40B4-BE49-F238E27FC236}">
                <a16:creationId xmlns:a16="http://schemas.microsoft.com/office/drawing/2014/main" id="{0477295C-BD59-B5D4-E693-28F84BA6DB62}"/>
              </a:ext>
            </a:extLst>
          </p:cNvPr>
          <p:cNvPicPr>
            <a:picLocks noChangeAspect="1" noChangeArrowheads="1"/>
          </p:cNvPicPr>
          <p:nvPr/>
        </p:nvPicPr>
        <p:blipFill>
          <a:blip r:embed="rId9"/>
          <a:srcRect l="1476" r="1476"/>
          <a:stretch/>
        </p:blipFill>
        <p:spPr bwMode="auto">
          <a:xfrm>
            <a:off x="5559107" y="1132523"/>
            <a:ext cx="3111818" cy="2293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42" name="Object 41" descr="The figure illustrates the solving of V subscript g.&#10;Long description is available in notes, press F6.">
            <a:extLst>
              <a:ext uri="{FF2B5EF4-FFF2-40B4-BE49-F238E27FC236}">
                <a16:creationId xmlns:a16="http://schemas.microsoft.com/office/drawing/2014/main" id="{7DECA586-DAEC-C7E4-0FE8-AB56D017CEB4}"/>
              </a:ext>
            </a:extLst>
          </p:cNvPr>
          <p:cNvGraphicFramePr>
            <a:graphicFrameLocks noChangeAspect="1"/>
          </p:cNvGraphicFramePr>
          <p:nvPr>
            <p:extLst>
              <p:ext uri="{D42A27DB-BD31-4B8C-83A1-F6EECF244321}">
                <p14:modId xmlns:p14="http://schemas.microsoft.com/office/powerpoint/2010/main" val="431734364"/>
              </p:ext>
            </p:extLst>
          </p:nvPr>
        </p:nvGraphicFramePr>
        <p:xfrm>
          <a:off x="1756569" y="3592540"/>
          <a:ext cx="5630862" cy="801688"/>
        </p:xfrm>
        <a:graphic>
          <a:graphicData uri="http://schemas.openxmlformats.org/presentationml/2006/ole">
            <mc:AlternateContent xmlns:mc="http://schemas.openxmlformats.org/markup-compatibility/2006">
              <mc:Choice xmlns:v="urn:schemas-microsoft-com:vml" Requires="v">
                <p:oleObj name="Equation" r:id="rId10" imgW="3301920" imgH="469800" progId="Equation.DSMT4">
                  <p:embed/>
                </p:oleObj>
              </mc:Choice>
              <mc:Fallback>
                <p:oleObj name="Equation" r:id="rId10" imgW="3301920" imgH="469800" progId="Equation.DSMT4">
                  <p:embed/>
                  <p:pic>
                    <p:nvPicPr>
                      <p:cNvPr id="4" name="Object 3"/>
                      <p:cNvPicPr>
                        <a:picLocks noChangeAspect="1" noChangeArrowheads="1"/>
                      </p:cNvPicPr>
                      <p:nvPr/>
                    </p:nvPicPr>
                    <p:blipFill>
                      <a:blip r:embed="rId11"/>
                      <a:srcRect/>
                      <a:stretch>
                        <a:fillRect/>
                      </a:stretch>
                    </p:blipFill>
                    <p:spPr bwMode="auto">
                      <a:xfrm>
                        <a:off x="1756569" y="3592540"/>
                        <a:ext cx="5630862" cy="801688"/>
                      </a:xfrm>
                      <a:prstGeom prst="rect">
                        <a:avLst/>
                      </a:prstGeom>
                      <a:noFill/>
                      <a:ln w="38100">
                        <a:noFill/>
                        <a:miter lim="800000"/>
                        <a:headEnd/>
                        <a:tailEnd/>
                      </a:ln>
                      <a:effectLst/>
                    </p:spPr>
                  </p:pic>
                </p:oleObj>
              </mc:Fallback>
            </mc:AlternateContent>
          </a:graphicData>
        </a:graphic>
      </p:graphicFrame>
      <p:graphicFrame>
        <p:nvGraphicFramePr>
          <p:cNvPr id="43" name="Object 42" descr="R equals StartFraction v subscript g over i subscript g EndFraction equals StartFraction 40 over 0.075 EndFraction equals 533.33 Ohms&#10;">
            <a:extLst>
              <a:ext uri="{FF2B5EF4-FFF2-40B4-BE49-F238E27FC236}">
                <a16:creationId xmlns:a16="http://schemas.microsoft.com/office/drawing/2014/main" id="{282982F9-0291-27B5-3A62-39166B22C517}"/>
              </a:ext>
            </a:extLst>
          </p:cNvPr>
          <p:cNvGraphicFramePr>
            <a:graphicFrameLocks noChangeAspect="1"/>
          </p:cNvGraphicFramePr>
          <p:nvPr>
            <p:extLst>
              <p:ext uri="{D42A27DB-BD31-4B8C-83A1-F6EECF244321}">
                <p14:modId xmlns:p14="http://schemas.microsoft.com/office/powerpoint/2010/main" val="4268024516"/>
              </p:ext>
            </p:extLst>
          </p:nvPr>
        </p:nvGraphicFramePr>
        <p:xfrm>
          <a:off x="1756569" y="4453944"/>
          <a:ext cx="3076575" cy="822325"/>
        </p:xfrm>
        <a:graphic>
          <a:graphicData uri="http://schemas.openxmlformats.org/presentationml/2006/ole">
            <mc:AlternateContent xmlns:mc="http://schemas.openxmlformats.org/markup-compatibility/2006">
              <mc:Choice xmlns:v="urn:schemas-microsoft-com:vml" Requires="v">
                <p:oleObj name="Equation" r:id="rId12" imgW="1803240" imgH="482400" progId="Equation.DSMT4">
                  <p:embed/>
                </p:oleObj>
              </mc:Choice>
              <mc:Fallback>
                <p:oleObj name="Equation" r:id="rId12" imgW="1803240" imgH="482400" progId="Equation.DSMT4">
                  <p:embed/>
                  <p:pic>
                    <p:nvPicPr>
                      <p:cNvPr id="42" name="Object 41">
                        <a:extLst>
                          <a:ext uri="{FF2B5EF4-FFF2-40B4-BE49-F238E27FC236}">
                            <a16:creationId xmlns:a16="http://schemas.microsoft.com/office/drawing/2014/main" id="{7DECA586-DAEC-C7E4-0FE8-AB56D017CEB4}"/>
                          </a:ext>
                        </a:extLst>
                      </p:cNvPr>
                      <p:cNvPicPr>
                        <a:picLocks noChangeAspect="1" noChangeArrowheads="1"/>
                      </p:cNvPicPr>
                      <p:nvPr/>
                    </p:nvPicPr>
                    <p:blipFill>
                      <a:blip r:embed="rId13"/>
                      <a:srcRect/>
                      <a:stretch>
                        <a:fillRect/>
                      </a:stretch>
                    </p:blipFill>
                    <p:spPr bwMode="auto">
                      <a:xfrm>
                        <a:off x="1756569" y="4453944"/>
                        <a:ext cx="3076575" cy="822325"/>
                      </a:xfrm>
                      <a:prstGeom prst="rect">
                        <a:avLst/>
                      </a:prstGeom>
                      <a:noFill/>
                      <a:ln w="38100">
                        <a:noFill/>
                        <a:miter lim="800000"/>
                        <a:headEnd/>
                        <a:tailEnd/>
                      </a:ln>
                      <a:effectLst/>
                    </p:spPr>
                  </p:pic>
                </p:oleObj>
              </mc:Fallback>
            </mc:AlternateContent>
          </a:graphicData>
        </a:graphic>
      </p:graphicFrame>
      <p:graphicFrame>
        <p:nvGraphicFramePr>
          <p:cNvPr id="44" name="Object 43" descr="p subscript R Baseline equals R i subscript g Baseline squared equals Open Parenthesis 533.33 Close Parenthesis multiplied by Open Parenthesis 0.075 Close Parenthesis squared equals 3 Watts&#10;">
            <a:extLst>
              <a:ext uri="{FF2B5EF4-FFF2-40B4-BE49-F238E27FC236}">
                <a16:creationId xmlns:a16="http://schemas.microsoft.com/office/drawing/2014/main" id="{A0AC5B47-5F28-15AB-6DD3-DB04746B9BD0}"/>
              </a:ext>
            </a:extLst>
          </p:cNvPr>
          <p:cNvGraphicFramePr>
            <a:graphicFrameLocks noChangeAspect="1"/>
          </p:cNvGraphicFramePr>
          <p:nvPr>
            <p:extLst>
              <p:ext uri="{D42A27DB-BD31-4B8C-83A1-F6EECF244321}">
                <p14:modId xmlns:p14="http://schemas.microsoft.com/office/powerpoint/2010/main" val="973983492"/>
              </p:ext>
            </p:extLst>
          </p:nvPr>
        </p:nvGraphicFramePr>
        <p:xfrm>
          <a:off x="1756569" y="5351463"/>
          <a:ext cx="3984625" cy="433387"/>
        </p:xfrm>
        <a:graphic>
          <a:graphicData uri="http://schemas.openxmlformats.org/presentationml/2006/ole">
            <mc:AlternateContent xmlns:mc="http://schemas.openxmlformats.org/markup-compatibility/2006">
              <mc:Choice xmlns:v="urn:schemas-microsoft-com:vml" Requires="v">
                <p:oleObj name="Equation" r:id="rId14" imgW="2336760" imgH="253800" progId="Equation.DSMT4">
                  <p:embed/>
                </p:oleObj>
              </mc:Choice>
              <mc:Fallback>
                <p:oleObj name="Equation" r:id="rId14" imgW="2336760" imgH="253800" progId="Equation.DSMT4">
                  <p:embed/>
                  <p:pic>
                    <p:nvPicPr>
                      <p:cNvPr id="43" name="Object 42">
                        <a:extLst>
                          <a:ext uri="{FF2B5EF4-FFF2-40B4-BE49-F238E27FC236}">
                            <a16:creationId xmlns:a16="http://schemas.microsoft.com/office/drawing/2014/main" id="{282982F9-0291-27B5-3A62-39166B22C517}"/>
                          </a:ext>
                        </a:extLst>
                      </p:cNvPr>
                      <p:cNvPicPr>
                        <a:picLocks noChangeAspect="1" noChangeArrowheads="1"/>
                      </p:cNvPicPr>
                      <p:nvPr/>
                    </p:nvPicPr>
                    <p:blipFill>
                      <a:blip r:embed="rId15"/>
                      <a:srcRect/>
                      <a:stretch>
                        <a:fillRect/>
                      </a:stretch>
                    </p:blipFill>
                    <p:spPr bwMode="auto">
                      <a:xfrm>
                        <a:off x="1756569" y="5351463"/>
                        <a:ext cx="3984625" cy="433387"/>
                      </a:xfrm>
                      <a:prstGeom prst="rect">
                        <a:avLst/>
                      </a:prstGeom>
                      <a:noFill/>
                      <a:ln w="38100">
                        <a:noFill/>
                        <a:miter lim="800000"/>
                        <a:headEnd/>
                        <a:tailEnd/>
                      </a:ln>
                      <a:effectLst/>
                    </p:spPr>
                  </p:pic>
                </p:oleObj>
              </mc:Fallback>
            </mc:AlternateContent>
          </a:graphicData>
        </a:graphic>
      </p:graphicFrame>
      <p:graphicFrame>
        <p:nvGraphicFramePr>
          <p:cNvPr id="45" name="Object 44" descr="OR ellipsis p subscript R Baseline equals negative p subscript g Baseline equals negative Open Parenthesis negative 3 Close Parenthesis equals 3 Watts exclamation mark&#10;">
            <a:extLst>
              <a:ext uri="{FF2B5EF4-FFF2-40B4-BE49-F238E27FC236}">
                <a16:creationId xmlns:a16="http://schemas.microsoft.com/office/drawing/2014/main" id="{7EC25408-8812-DF8A-AF22-91096AE3CE2F}"/>
              </a:ext>
            </a:extLst>
          </p:cNvPr>
          <p:cNvGraphicFramePr>
            <a:graphicFrameLocks noChangeAspect="1"/>
          </p:cNvGraphicFramePr>
          <p:nvPr>
            <p:extLst>
              <p:ext uri="{D42A27DB-BD31-4B8C-83A1-F6EECF244321}">
                <p14:modId xmlns:p14="http://schemas.microsoft.com/office/powerpoint/2010/main" val="2647602677"/>
              </p:ext>
            </p:extLst>
          </p:nvPr>
        </p:nvGraphicFramePr>
        <p:xfrm>
          <a:off x="1756569" y="5875208"/>
          <a:ext cx="3897312" cy="411163"/>
        </p:xfrm>
        <a:graphic>
          <a:graphicData uri="http://schemas.openxmlformats.org/presentationml/2006/ole">
            <mc:AlternateContent xmlns:mc="http://schemas.openxmlformats.org/markup-compatibility/2006">
              <mc:Choice xmlns:v="urn:schemas-microsoft-com:vml" Requires="v">
                <p:oleObj name="Equation" r:id="rId16" imgW="2286000" imgH="241200" progId="Equation.DSMT4">
                  <p:embed/>
                </p:oleObj>
              </mc:Choice>
              <mc:Fallback>
                <p:oleObj name="Equation" r:id="rId16" imgW="2286000" imgH="241200" progId="Equation.DSMT4">
                  <p:embed/>
                  <p:pic>
                    <p:nvPicPr>
                      <p:cNvPr id="44" name="Object 43">
                        <a:extLst>
                          <a:ext uri="{FF2B5EF4-FFF2-40B4-BE49-F238E27FC236}">
                            <a16:creationId xmlns:a16="http://schemas.microsoft.com/office/drawing/2014/main" id="{A0AC5B47-5F28-15AB-6DD3-DB04746B9BD0}"/>
                          </a:ext>
                        </a:extLst>
                      </p:cNvPr>
                      <p:cNvPicPr>
                        <a:picLocks noChangeAspect="1" noChangeArrowheads="1"/>
                      </p:cNvPicPr>
                      <p:nvPr/>
                    </p:nvPicPr>
                    <p:blipFill>
                      <a:blip r:embed="rId17"/>
                      <a:srcRect/>
                      <a:stretch>
                        <a:fillRect/>
                      </a:stretch>
                    </p:blipFill>
                    <p:spPr bwMode="auto">
                      <a:xfrm>
                        <a:off x="1756569" y="5875208"/>
                        <a:ext cx="3897312" cy="411163"/>
                      </a:xfrm>
                      <a:prstGeom prst="rect">
                        <a:avLst/>
                      </a:prstGeom>
                      <a:noFill/>
                      <a:ln w="38100">
                        <a:noFill/>
                        <a:miter lim="800000"/>
                        <a:headEnd/>
                        <a:tailEnd/>
                      </a:ln>
                      <a:effectLst/>
                    </p:spPr>
                  </p:pic>
                </p:oleObj>
              </mc:Fallback>
            </mc:AlternateContent>
          </a:graphicData>
        </a:graphic>
      </p:graphicFrame>
      <p:sp>
        <p:nvSpPr>
          <p:cNvPr id="2" name="Rectangle 1">
            <a:extLst>
              <a:ext uri="{FF2B5EF4-FFF2-40B4-BE49-F238E27FC236}">
                <a16:creationId xmlns:a16="http://schemas.microsoft.com/office/drawing/2014/main" id="{C045B460-5689-4C0E-304D-06C0E8AE6C15}"/>
              </a:ext>
              <a:ext uri="{C183D7F6-B498-43B3-948B-1728B52AA6E4}">
                <adec:decorative xmlns:adec="http://schemas.microsoft.com/office/drawing/2017/decorative" val="1"/>
              </a:ext>
            </a:extLst>
          </p:cNvPr>
          <p:cNvSpPr/>
          <p:nvPr/>
        </p:nvSpPr>
        <p:spPr>
          <a:xfrm>
            <a:off x="1593273" y="3592540"/>
            <a:ext cx="5794158" cy="2693831"/>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3619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(9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0123"/>
            <a:ext cx="8229600" cy="775015"/>
          </a:xfrm>
        </p:spPr>
        <p:txBody>
          <a:bodyPr wrap="square" lIns="0" tIns="18000" rIns="0" bIns="18000" anchor="ctr">
            <a:spAutoFit/>
          </a:bodyPr>
          <a:lstStyle/>
          <a:p>
            <a:pPr marL="0" indent="0">
              <a:spcBef>
                <a:spcPts val="600"/>
              </a:spcBef>
              <a:buNone/>
            </a:pPr>
            <a:r>
              <a:rPr lang="en-US" sz="2400" noProof="0" dirty="0"/>
              <a:t>We just calculated the power of the resistor to be 3 W. Is the resistor supplying or absorbing power?</a:t>
            </a:r>
          </a:p>
        </p:txBody>
      </p:sp>
      <p:pic>
        <p:nvPicPr>
          <p:cNvPr id="4" name="Picture 1434" descr="Cross mark">
            <a:extLst>
              <a:ext uri="{FF2B5EF4-FFF2-40B4-BE49-F238E27FC236}">
                <a16:creationId xmlns:a16="http://schemas.microsoft.com/office/drawing/2014/main" id="{3B1B26B3-FFF3-8C77-2474-0A1D956C83ED}"/>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832022" y="2082782"/>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434465" y="2051390"/>
            <a:ext cx="180975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Supplying</a:t>
            </a:r>
          </a:p>
        </p:txBody>
      </p:sp>
      <p:pic>
        <p:nvPicPr>
          <p:cNvPr id="5" name="Picture 1435" descr="Check mark">
            <a:extLst>
              <a:ext uri="{FF2B5EF4-FFF2-40B4-BE49-F238E27FC236}">
                <a16:creationId xmlns:a16="http://schemas.microsoft.com/office/drawing/2014/main" id="{8FB41438-2956-FE24-6089-2093C02521B6}"/>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832022" y="2569350"/>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34465" y="2539189"/>
            <a:ext cx="180975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Absorbing</a:t>
            </a:r>
          </a:p>
        </p:txBody>
      </p:sp>
    </p:spTree>
    <p:extLst>
      <p:ext uri="{BB962C8B-B14F-4D97-AF65-F5344CB8AC3E}">
        <p14:creationId xmlns:p14="http://schemas.microsoft.com/office/powerpoint/2010/main" val="2817277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(10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62318"/>
            <a:ext cx="6896100" cy="405683"/>
          </a:xfrm>
        </p:spPr>
        <p:txBody>
          <a:bodyPr wrap="square" lIns="0" tIns="18000" rIns="0" bIns="18000" anchor="ctr">
            <a:spAutoFit/>
          </a:bodyPr>
          <a:lstStyle/>
          <a:p>
            <a:pPr marL="0" indent="0">
              <a:spcBef>
                <a:spcPts val="600"/>
              </a:spcBef>
              <a:buNone/>
            </a:pPr>
            <a:r>
              <a:rPr lang="en-US" sz="2400" noProof="0" dirty="0"/>
              <a:t>Suppose we are told that the voltage drop across a</a:t>
            </a:r>
          </a:p>
        </p:txBody>
      </p:sp>
      <p:graphicFrame>
        <p:nvGraphicFramePr>
          <p:cNvPr id="2" name="Object 1" descr="50 Ohms&#10;">
            <a:extLst>
              <a:ext uri="{FF2B5EF4-FFF2-40B4-BE49-F238E27FC236}">
                <a16:creationId xmlns:a16="http://schemas.microsoft.com/office/drawing/2014/main" id="{93BCC899-A81F-D4C8-3F00-F9E788765518}"/>
              </a:ext>
            </a:extLst>
          </p:cNvPr>
          <p:cNvGraphicFramePr>
            <a:graphicFrameLocks noChangeAspect="1"/>
          </p:cNvGraphicFramePr>
          <p:nvPr>
            <p:extLst>
              <p:ext uri="{D42A27DB-BD31-4B8C-83A1-F6EECF244321}">
                <p14:modId xmlns:p14="http://schemas.microsoft.com/office/powerpoint/2010/main" val="2501449251"/>
              </p:ext>
            </p:extLst>
          </p:nvPr>
        </p:nvGraphicFramePr>
        <p:xfrm>
          <a:off x="7410450" y="1115884"/>
          <a:ext cx="715963" cy="331788"/>
        </p:xfrm>
        <a:graphic>
          <a:graphicData uri="http://schemas.openxmlformats.org/presentationml/2006/ole">
            <mc:AlternateContent xmlns:mc="http://schemas.openxmlformats.org/markup-compatibility/2006">
              <mc:Choice xmlns:v="urn:schemas-microsoft-com:vml" Requires="v">
                <p:oleObj name="Equation" r:id="rId6" imgW="380880" imgH="177480" progId="Equation.DSMT4">
                  <p:embed/>
                </p:oleObj>
              </mc:Choice>
              <mc:Fallback>
                <p:oleObj name="Equation" r:id="rId6" imgW="380880" imgH="177480" progId="Equation.DSMT4">
                  <p:embed/>
                  <p:pic>
                    <p:nvPicPr>
                      <p:cNvPr id="40" name="Object 39">
                        <a:extLst>
                          <a:ext uri="{FF2B5EF4-FFF2-40B4-BE49-F238E27FC236}">
                            <a16:creationId xmlns:a16="http://schemas.microsoft.com/office/drawing/2014/main" id="{A8EA66D5-3B51-CEF6-56F1-7A73245DE7CF}"/>
                          </a:ext>
                        </a:extLst>
                      </p:cNvPr>
                      <p:cNvPicPr>
                        <a:picLocks noChangeAspect="1" noChangeArrowheads="1"/>
                      </p:cNvPicPr>
                      <p:nvPr/>
                    </p:nvPicPr>
                    <p:blipFill>
                      <a:blip r:embed="rId7"/>
                      <a:srcRect/>
                      <a:stretch>
                        <a:fillRect/>
                      </a:stretch>
                    </p:blipFill>
                    <p:spPr bwMode="auto">
                      <a:xfrm>
                        <a:off x="7410450" y="1115884"/>
                        <a:ext cx="715963" cy="331788"/>
                      </a:xfrm>
                      <a:prstGeom prst="rect">
                        <a:avLst/>
                      </a:prstGeom>
                      <a:noFill/>
                      <a:ln w="38100">
                        <a:noFill/>
                        <a:miter lim="800000"/>
                        <a:headEnd/>
                        <a:tailEnd/>
                      </a:ln>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523994"/>
            <a:ext cx="8229600" cy="775015"/>
          </a:xfrm>
        </p:spPr>
        <p:txBody>
          <a:bodyPr wrap="square" lIns="0" tIns="18000" rIns="0" bIns="18000" anchor="ctr">
            <a:spAutoFit/>
          </a:bodyPr>
          <a:lstStyle/>
          <a:p>
            <a:pPr marL="0" indent="0">
              <a:spcBef>
                <a:spcPts val="600"/>
              </a:spcBef>
              <a:buNone/>
            </a:pPr>
            <a:r>
              <a:rPr lang="en-US" sz="2400" noProof="0" dirty="0"/>
              <a:t>resistor is 10 V. What is the power associated with the resistor?</a:t>
            </a:r>
          </a:p>
        </p:txBody>
      </p:sp>
      <p:pic>
        <p:nvPicPr>
          <p:cNvPr id="3" name="Picture 1434" descr="Cross mark">
            <a:extLst>
              <a:ext uri="{FF2B5EF4-FFF2-40B4-BE49-F238E27FC236}">
                <a16:creationId xmlns:a16="http://schemas.microsoft.com/office/drawing/2014/main" id="{3B1922C9-FAD9-AF39-B8A0-E2D93CF08FAD}"/>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838200" y="251876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2484568"/>
            <a:ext cx="154305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5000 W</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838200" y="302147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0" y="2990085"/>
            <a:ext cx="133350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500 W</a:t>
            </a:r>
          </a:p>
        </p:txBody>
      </p:sp>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825327" y="352419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0" y="3491255"/>
            <a:ext cx="1019175"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2 W</a:t>
            </a:r>
          </a:p>
        </p:txBody>
      </p:sp>
      <p:pic>
        <p:nvPicPr>
          <p:cNvPr id="25" name="Picture 1436" descr="Cross mark">
            <a:extLst>
              <a:ext uri="{FF2B5EF4-FFF2-40B4-BE49-F238E27FC236}">
                <a16:creationId xmlns:a16="http://schemas.microsoft.com/office/drawing/2014/main" id="{25B0560F-2F81-8F74-E789-197C88E31C54}"/>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rcRect/>
          <a:stretch>
            <a:fillRect/>
          </a:stretch>
        </p:blipFill>
        <p:spPr bwMode="auto">
          <a:xfrm>
            <a:off x="838200" y="402113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371600" y="3996096"/>
            <a:ext cx="5724525" cy="405683"/>
          </a:xfrm>
        </p:spPr>
        <p:txBody>
          <a:bodyPr wrap="square" lIns="0" tIns="18000" rIns="0" bIns="18000" anchor="ctr">
            <a:spAutoFit/>
          </a:bodyPr>
          <a:lstStyle/>
          <a:p>
            <a:pPr marL="0" indent="0">
              <a:spcBef>
                <a:spcPts val="600"/>
              </a:spcBef>
              <a:buNone/>
            </a:pPr>
            <a:r>
              <a:rPr lang="en-US" sz="2400" noProof="0" dirty="0">
                <a:solidFill>
                  <a:srgbClr val="007FA3"/>
                </a:solidFill>
              </a:rPr>
              <a:t>D.</a:t>
            </a:r>
            <a:r>
              <a:rPr lang="en-US" sz="2400" noProof="0" dirty="0"/>
              <a:t> I need to know the voltage polarity first</a:t>
            </a:r>
          </a:p>
        </p:txBody>
      </p:sp>
    </p:spTree>
    <p:extLst>
      <p:ext uri="{BB962C8B-B14F-4D97-AF65-F5344CB8AC3E}">
        <p14:creationId xmlns:p14="http://schemas.microsoft.com/office/powerpoint/2010/main" val="4184372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(11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62318"/>
            <a:ext cx="8229600" cy="1590623"/>
          </a:xfrm>
        </p:spPr>
        <p:txBody>
          <a:bodyPr wrap="square" lIns="0" tIns="18000" rIns="0" bIns="18000" anchor="ctr">
            <a:spAutoFit/>
          </a:bodyPr>
          <a:lstStyle/>
          <a:p>
            <a:pPr marL="0" indent="0">
              <a:spcBef>
                <a:spcPts val="600"/>
              </a:spcBef>
              <a:buNone/>
            </a:pPr>
            <a:r>
              <a:rPr lang="en-US" sz="2400" noProof="0" dirty="0"/>
              <a:t>Kirchhoff’s Laws</a:t>
            </a:r>
          </a:p>
          <a:p>
            <a:pPr marL="342900" indent="-342900">
              <a:spcBef>
                <a:spcPts val="600"/>
              </a:spcBef>
            </a:pPr>
            <a:r>
              <a:rPr lang="en-US" sz="2400" noProof="0" dirty="0"/>
              <a:t>Consider the circuit shown below. We wish to “solve” this circuit. To solve a circuit, we must find all of the unknown voltages and currents.</a:t>
            </a:r>
          </a:p>
        </p:txBody>
      </p:sp>
      <p:pic>
        <p:nvPicPr>
          <p:cNvPr id="17" name="Picture 2" descr="The positive terminal of 25-volt voltage source is connected to its negative terminal through a series connection of 3 resistors of resistance 2 kilo ohms, 1 kilo ohm and 3 kilo ohms with voltages V subscript 1, V subscript 2 and V subscript 3 respectively. The junction where the positive terminal of the voltage source and the positive terminal of the 2 kilo ohm resistor meets is named as a. The junction where negative terminal of the 2 kilo ohm resistor and the negative terminal of 1 kilo ohm resistor meets is named as b. The junction where positive terminal of the 1 kilo ohm resistor and the negative terminal of 3 kilo ohm resistor meets is named as c. The junction where the negative terminal of the voltage source and the positive terminal of the 3 kilo ohm resistor meets is named as d. Current I subscript g is flowing from the positive terminal to the negative terminal of the voltage source. Current I subscript 1 is flowing from the positive terminal to the negative terminal of the 2 kilo ohm resistor. Current I subscript 2 is flowing from the positive terminal to the negative terminal of the 1 kilo ohm resistor. Current I subscript 3 is flowing from the positive terminal to the negative terminal of the 1 kilo ohm resistor. ">
            <a:extLst>
              <a:ext uri="{FF2B5EF4-FFF2-40B4-BE49-F238E27FC236}">
                <a16:creationId xmlns:a16="http://schemas.microsoft.com/office/drawing/2014/main" id="{41E59166-04BD-5C00-4D36-320822B1E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1263" y="2779529"/>
            <a:ext cx="4181475"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5544542"/>
            <a:ext cx="8229600" cy="775015"/>
          </a:xfrm>
        </p:spPr>
        <p:txBody>
          <a:bodyPr wrap="square" lIns="0" tIns="18000" rIns="0" bIns="18000" anchor="ctr">
            <a:spAutoFit/>
          </a:bodyPr>
          <a:lstStyle/>
          <a:p>
            <a:pPr marL="0" indent="0">
              <a:spcBef>
                <a:spcPts val="600"/>
              </a:spcBef>
              <a:buNone/>
            </a:pPr>
            <a:r>
              <a:rPr lang="en-US" sz="2400" noProof="0" dirty="0"/>
              <a:t>How many unknowns are in this circuit? Seven – three unknown voltages and four unknown currents.</a:t>
            </a:r>
          </a:p>
        </p:txBody>
      </p:sp>
    </p:spTree>
    <p:extLst>
      <p:ext uri="{BB962C8B-B14F-4D97-AF65-F5344CB8AC3E}">
        <p14:creationId xmlns:p14="http://schemas.microsoft.com/office/powerpoint/2010/main" val="2620427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(12 of 22)</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059487"/>
            <a:ext cx="8229600" cy="775015"/>
          </a:xfrm>
        </p:spPr>
        <p:txBody>
          <a:bodyPr wrap="square" lIns="0" tIns="18000" rIns="0" bIns="18000" anchor="ctr">
            <a:spAutoFit/>
          </a:bodyPr>
          <a:lstStyle/>
          <a:p>
            <a:pPr marL="0" indent="0">
              <a:spcBef>
                <a:spcPts val="600"/>
              </a:spcBef>
              <a:buNone/>
            </a:pPr>
            <a:r>
              <a:rPr lang="en-US" sz="2400" noProof="0" dirty="0"/>
              <a:t>To solve for 3 unknown voltages and 4 unknown currents, how many independent equations do we need?</a:t>
            </a:r>
          </a:p>
        </p:txBody>
      </p:sp>
      <p:pic>
        <p:nvPicPr>
          <p:cNvPr id="3" name="Picture 1434" descr="Cross mark">
            <a:extLst>
              <a:ext uri="{FF2B5EF4-FFF2-40B4-BE49-F238E27FC236}">
                <a16:creationId xmlns:a16="http://schemas.microsoft.com/office/drawing/2014/main" id="{3B1922C9-FAD9-AF39-B8A0-E2D93CF08FAD}"/>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838200" y="211369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2079500"/>
            <a:ext cx="64770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4</a:t>
            </a:r>
          </a:p>
        </p:txBody>
      </p:sp>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825327" y="261622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0" y="2585017"/>
            <a:ext cx="64770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7</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rcRect/>
          <a:stretch>
            <a:fillRect/>
          </a:stretch>
        </p:blipFill>
        <p:spPr bwMode="auto">
          <a:xfrm>
            <a:off x="838200" y="311157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0" y="3086187"/>
            <a:ext cx="647700"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8</a:t>
            </a:r>
          </a:p>
        </p:txBody>
      </p:sp>
      <p:pic>
        <p:nvPicPr>
          <p:cNvPr id="25" name="Picture 1436" descr="Cross mark">
            <a:extLst>
              <a:ext uri="{FF2B5EF4-FFF2-40B4-BE49-F238E27FC236}">
                <a16:creationId xmlns:a16="http://schemas.microsoft.com/office/drawing/2014/main" id="{25B0560F-2F81-8F74-E789-197C88E31C54}"/>
              </a:ext>
            </a:extLst>
          </p:cNvPr>
          <p:cNvPicPr>
            <a:picLocks noChangeAspect="1"/>
          </p:cNvPicPr>
          <p:nvPr>
            <p:custDataLst>
              <p:tags r:id="rId4"/>
            </p:custDataLst>
          </p:nvPr>
        </p:nvPicPr>
        <p:blipFill>
          <a:blip r:embed="rId6">
            <a:extLst>
              <a:ext uri="{28A0092B-C50C-407E-A947-70E740481C1C}">
                <a14:useLocalDpi xmlns:a14="http://schemas.microsoft.com/office/drawing/2010/main" val="0"/>
              </a:ext>
            </a:extLst>
          </a:blip>
          <a:srcRect/>
          <a:stretch>
            <a:fillRect/>
          </a:stretch>
        </p:blipFill>
        <p:spPr bwMode="auto">
          <a:xfrm>
            <a:off x="838200" y="361607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371600" y="3591028"/>
            <a:ext cx="4086225" cy="405683"/>
          </a:xfrm>
        </p:spPr>
        <p:txBody>
          <a:bodyPr wrap="square" lIns="0" tIns="18000" rIns="0" bIns="18000" anchor="ctr">
            <a:spAutoFit/>
          </a:bodyPr>
          <a:lstStyle/>
          <a:p>
            <a:pPr marL="0" indent="0">
              <a:spcBef>
                <a:spcPts val="600"/>
              </a:spcBef>
              <a:buNone/>
            </a:pPr>
            <a:r>
              <a:rPr lang="en-US" sz="2400" noProof="0" dirty="0">
                <a:solidFill>
                  <a:srgbClr val="007FA3"/>
                </a:solidFill>
              </a:rPr>
              <a:t>D.</a:t>
            </a:r>
            <a:r>
              <a:rPr lang="en-US" sz="2400" noProof="0" dirty="0"/>
              <a:t> We need more information</a:t>
            </a:r>
          </a:p>
        </p:txBody>
      </p:sp>
    </p:spTree>
    <p:extLst>
      <p:ext uri="{BB962C8B-B14F-4D97-AF65-F5344CB8AC3E}">
        <p14:creationId xmlns:p14="http://schemas.microsoft.com/office/powerpoint/2010/main" val="196009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(13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0123"/>
            <a:ext cx="8229600" cy="1221291"/>
          </a:xfrm>
        </p:spPr>
        <p:txBody>
          <a:bodyPr wrap="square" lIns="0" tIns="18000" rIns="0" bIns="18000" anchor="ctr">
            <a:spAutoFit/>
          </a:bodyPr>
          <a:lstStyle/>
          <a:p>
            <a:pPr marL="0" indent="0">
              <a:spcBef>
                <a:spcPts val="600"/>
              </a:spcBef>
              <a:buNone/>
            </a:pPr>
            <a:r>
              <a:rPr lang="en-US" sz="2400" noProof="0" dirty="0"/>
              <a:t>Kirchhoff’s Laws (continued)</a:t>
            </a:r>
          </a:p>
          <a:p>
            <a:pPr marL="342900" indent="-342900">
              <a:spcBef>
                <a:spcPts val="600"/>
              </a:spcBef>
            </a:pPr>
            <a:r>
              <a:rPr lang="en-US" sz="2400" noProof="0" dirty="0"/>
              <a:t>The only equations we know how to write at this point come from Ohm’s law. Let’s write them.</a:t>
            </a:r>
          </a:p>
        </p:txBody>
      </p:sp>
      <p:pic>
        <p:nvPicPr>
          <p:cNvPr id="2" name="Picture 2" descr="The positive terminal of 25-volt voltage source is connected to its negative terminal through a series connection of 3 resistors of resistance 2 kilo ohms, 1 kilo ohm and 3 kilo ohms with voltages V subscript 1, V subscript 2 and V subscript 3 respectively. The junction where the positive terminal of the voltage source and the positive terminal of the 2 kilo ohm resistor meets is named as a. The junction where negative terminal of the 2 kilo ohm resistor and the negative terminal of 1 kilo ohm resistor meets is named as b. The junction where positive terminal of the 1 kilo ohm resistor and the negative terminal of 3 kilo ohm resistor meets is named as c. The junction where the negative terminal of the voltage source and the positive terminal of the 3 kilo ohm resistor meets is named as d. Current I subscript g is flowing from the positive terminal to the negative terminal of the voltage source. Current I subscript 1 is flowing from the positive terminal to the negative terminal of the 2 kilo ohm resistor. Current I subscript 2 is flowing from the positive terminal to the negative terminal of the 1 kilo ohm resistor. Current I subscript 3 is flowing from the positive terminal to the negative terminal of the 1 kilo ohm resistor. ">
            <a:extLst>
              <a:ext uri="{FF2B5EF4-FFF2-40B4-BE49-F238E27FC236}">
                <a16:creationId xmlns:a16="http://schemas.microsoft.com/office/drawing/2014/main" id="{D51B77CA-523B-984A-90FF-29617907E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2514600"/>
            <a:ext cx="4181475"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 name="Object 2" descr="v subscript 1 Baseline equals 2000 i subscript 1, v subscript 2 Baseline equals 1000 i subscript 2, v subscript 3 Baseline equals 3000 i subscript 3 Baseline">
            <a:extLst>
              <a:ext uri="{FF2B5EF4-FFF2-40B4-BE49-F238E27FC236}">
                <a16:creationId xmlns:a16="http://schemas.microsoft.com/office/drawing/2014/main" id="{B1E2F195-9391-6B54-A36F-8562741E3D4F}"/>
              </a:ext>
            </a:extLst>
          </p:cNvPr>
          <p:cNvGraphicFramePr>
            <a:graphicFrameLocks noChangeAspect="1"/>
          </p:cNvGraphicFramePr>
          <p:nvPr>
            <p:extLst>
              <p:ext uri="{D42A27DB-BD31-4B8C-83A1-F6EECF244321}">
                <p14:modId xmlns:p14="http://schemas.microsoft.com/office/powerpoint/2010/main" val="495239827"/>
              </p:ext>
            </p:extLst>
          </p:nvPr>
        </p:nvGraphicFramePr>
        <p:xfrm>
          <a:off x="5621545" y="2872567"/>
          <a:ext cx="1590261" cy="1385926"/>
        </p:xfrm>
        <a:graphic>
          <a:graphicData uri="http://schemas.openxmlformats.org/presentationml/2006/ole">
            <mc:AlternateContent xmlns:mc="http://schemas.openxmlformats.org/markup-compatibility/2006">
              <mc:Choice xmlns:v="urn:schemas-microsoft-com:vml" Requires="v">
                <p:oleObj name="Equation" r:id="rId3" imgW="787320" imgH="685800" progId="Equation.DSMT4">
                  <p:embed/>
                </p:oleObj>
              </mc:Choice>
              <mc:Fallback>
                <p:oleObj name="Equation" r:id="rId3" imgW="787320" imgH="685800" progId="Equation.DSMT4">
                  <p:embed/>
                  <p:pic>
                    <p:nvPicPr>
                      <p:cNvPr id="6" name="Object 5"/>
                      <p:cNvPicPr>
                        <a:picLocks noChangeAspect="1" noChangeArrowheads="1"/>
                      </p:cNvPicPr>
                      <p:nvPr/>
                    </p:nvPicPr>
                    <p:blipFill>
                      <a:blip r:embed="rId4"/>
                      <a:srcRect/>
                      <a:stretch>
                        <a:fillRect/>
                      </a:stretch>
                    </p:blipFill>
                    <p:spPr bwMode="auto">
                      <a:xfrm>
                        <a:off x="5621545" y="2872567"/>
                        <a:ext cx="1590261" cy="1385926"/>
                      </a:xfrm>
                      <a:prstGeom prst="rect">
                        <a:avLst/>
                      </a:prstGeom>
                      <a:noFill/>
                      <a:ln w="28575">
                        <a:solidFill>
                          <a:srgbClr val="007FA3"/>
                        </a:solidFill>
                        <a:miter lim="800000"/>
                        <a:headEnd/>
                        <a:tailEnd/>
                      </a:ln>
                      <a:effectLst/>
                    </p:spPr>
                  </p:pic>
                </p:oleObj>
              </mc:Fallback>
            </mc:AlternateContent>
          </a:graphicData>
        </a:graphic>
      </p:graphicFrame>
    </p:spTree>
    <p:extLst>
      <p:ext uri="{BB962C8B-B14F-4D97-AF65-F5344CB8AC3E}">
        <p14:creationId xmlns:p14="http://schemas.microsoft.com/office/powerpoint/2010/main" val="2639922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(14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0123"/>
            <a:ext cx="8229600" cy="1221291"/>
          </a:xfrm>
        </p:spPr>
        <p:txBody>
          <a:bodyPr wrap="square" lIns="0" tIns="18000" rIns="0" bIns="18000" anchor="ctr">
            <a:spAutoFit/>
          </a:bodyPr>
          <a:lstStyle/>
          <a:p>
            <a:pPr marL="0" indent="0">
              <a:spcBef>
                <a:spcPts val="600"/>
              </a:spcBef>
              <a:buNone/>
            </a:pPr>
            <a:r>
              <a:rPr lang="en-US" sz="2400" noProof="0" dirty="0"/>
              <a:t>Kirchhoff’s Laws (continued)</a:t>
            </a:r>
          </a:p>
          <a:p>
            <a:pPr marL="342900" indent="-342900">
              <a:spcBef>
                <a:spcPts val="600"/>
              </a:spcBef>
            </a:pPr>
            <a:r>
              <a:rPr lang="en-US" sz="2400" noProof="0" dirty="0"/>
              <a:t>We need more equations – they will come from Kirchhoff’s laws.</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49" y="2557332"/>
            <a:ext cx="8232775" cy="1221291"/>
          </a:xfrm>
          <a:ln w="28575">
            <a:solidFill>
              <a:srgbClr val="007FA3"/>
            </a:solidFill>
          </a:ln>
        </p:spPr>
        <p:txBody>
          <a:bodyPr wrap="square" lIns="54000" tIns="18000" rIns="54000" bIns="18000" anchor="ctr">
            <a:spAutoFit/>
          </a:bodyPr>
          <a:lstStyle/>
          <a:p>
            <a:pPr marL="0" indent="0">
              <a:spcBef>
                <a:spcPts val="600"/>
              </a:spcBef>
              <a:buNone/>
            </a:pPr>
            <a:r>
              <a:rPr lang="en-US" sz="2400" noProof="0" dirty="0"/>
              <a:t>Kirchhoff’s Current Law (</a:t>
            </a:r>
            <a:r>
              <a:rPr lang="en-US" sz="2400" spc="-300" noProof="0" dirty="0"/>
              <a:t>K C </a:t>
            </a:r>
            <a:r>
              <a:rPr lang="en-US" sz="2400" noProof="0" dirty="0"/>
              <a:t>L)</a:t>
            </a:r>
          </a:p>
          <a:p>
            <a:pPr marL="342900" indent="-342900">
              <a:spcBef>
                <a:spcPts val="600"/>
              </a:spcBef>
            </a:pPr>
            <a:r>
              <a:rPr lang="en-US" sz="2400" noProof="0" dirty="0"/>
              <a:t>The algebraic sum of all the currents at any node in a circuit equals zero.</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4044541"/>
            <a:ext cx="8229600" cy="775015"/>
          </a:xfrm>
        </p:spPr>
        <p:txBody>
          <a:bodyPr wrap="square" lIns="0" tIns="18000" rIns="0" bIns="18000" anchor="ctr">
            <a:spAutoFit/>
          </a:bodyPr>
          <a:lstStyle/>
          <a:p>
            <a:pPr marL="0" indent="0">
              <a:spcBef>
                <a:spcPts val="600"/>
              </a:spcBef>
              <a:buNone/>
            </a:pPr>
            <a:r>
              <a:rPr lang="en-US" sz="2400" noProof="0" dirty="0"/>
              <a:t>Note – a </a:t>
            </a:r>
            <a:r>
              <a:rPr lang="en-US" sz="2400" b="1" u="sng" noProof="0" dirty="0"/>
              <a:t>node</a:t>
            </a:r>
            <a:r>
              <a:rPr lang="en-US" sz="2400" noProof="0" dirty="0"/>
              <a:t> is a point where two or more circuit elements are connected.</a:t>
            </a:r>
          </a:p>
        </p:txBody>
      </p:sp>
    </p:spTree>
    <p:extLst>
      <p:ext uri="{BB962C8B-B14F-4D97-AF65-F5344CB8AC3E}">
        <p14:creationId xmlns:p14="http://schemas.microsoft.com/office/powerpoint/2010/main" val="2328966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(15 of 22)</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069012"/>
            <a:ext cx="8229600" cy="405683"/>
          </a:xfrm>
        </p:spPr>
        <p:txBody>
          <a:bodyPr wrap="square" lIns="0" tIns="18000" rIns="0" bIns="18000" anchor="ctr">
            <a:spAutoFit/>
          </a:bodyPr>
          <a:lstStyle/>
          <a:p>
            <a:pPr marL="0" indent="0">
              <a:spcBef>
                <a:spcPts val="600"/>
              </a:spcBef>
              <a:buNone/>
            </a:pPr>
            <a:r>
              <a:rPr lang="en-US" sz="2400" noProof="0" dirty="0"/>
              <a:t>How many nodes are in this circuit?</a:t>
            </a:r>
          </a:p>
        </p:txBody>
      </p:sp>
      <p:pic>
        <p:nvPicPr>
          <p:cNvPr id="2" name="Picture 3" descr="The positive terminal of 25-volt voltage source is connected to its negative terminal through a series connection of 3 resistors of resistance 2 kilo ohms, 1 kilo ohm and 3 kilo ohms with voltages V subscript 1, V subscript 2 and V subscript 3 respectively. The junction where the positive terminal of the voltage source and the positive terminal of the 2 kilo ohm resistor meets is named as a. The junction where negative terminal of the 2 kilo ohm resistor and the negative terminal of 1 kilo ohm resistor meets is named as b. The junction where positive terminal of the 1 kilo ohm resistor and the negative terminal of 3 kilo ohm resistor meets is named as c. The junction where the negative terminal of the voltage source and the positive terminal of the 3 kilo ohm resistor meets is named as d. Current I subscript g is flowing from the positive terminal to the negative terminal of the voltage source. Current I subscript 1 is flowing from the positive terminal to the negative terminal of the 2 kilo ohm resistor. Current I subscript 2 is flowing from the positive terminal to the negative terminal of the 1 kilo ohm resistor. Current I subscript 3 is flowing from the positive terminal to the negative terminal of the 1 kilo ohm resistor. ">
            <a:extLst>
              <a:ext uri="{FF2B5EF4-FFF2-40B4-BE49-F238E27FC236}">
                <a16:creationId xmlns:a16="http://schemas.microsoft.com/office/drawing/2014/main" id="{EBEEA69E-B149-8A01-F1A5-47BCFAF1EC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1637" y="1698212"/>
            <a:ext cx="3740727" cy="242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825327" y="4325085"/>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4306035"/>
            <a:ext cx="64770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4</a:t>
            </a:r>
          </a:p>
        </p:txBody>
      </p:sp>
      <p:pic>
        <p:nvPicPr>
          <p:cNvPr id="3" name="Picture 1434" descr="Cross mark">
            <a:extLst>
              <a:ext uri="{FF2B5EF4-FFF2-40B4-BE49-F238E27FC236}">
                <a16:creationId xmlns:a16="http://schemas.microsoft.com/office/drawing/2014/main" id="{3B1922C9-FAD9-AF39-B8A0-E2D93CF08FAD}"/>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838200" y="483755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0" y="4811552"/>
            <a:ext cx="64770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3</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838200" y="533811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0" y="5312722"/>
            <a:ext cx="647700"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2</a:t>
            </a:r>
          </a:p>
        </p:txBody>
      </p:sp>
      <p:pic>
        <p:nvPicPr>
          <p:cNvPr id="25" name="Picture 1436" descr="Cross mark">
            <a:extLst>
              <a:ext uri="{FF2B5EF4-FFF2-40B4-BE49-F238E27FC236}">
                <a16:creationId xmlns:a16="http://schemas.microsoft.com/office/drawing/2014/main" id="{25B0560F-2F81-8F74-E789-197C88E31C54}"/>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rcRect/>
          <a:stretch>
            <a:fillRect/>
          </a:stretch>
        </p:blipFill>
        <p:spPr bwMode="auto">
          <a:xfrm>
            <a:off x="838200" y="584260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371601" y="5817563"/>
            <a:ext cx="2971800" cy="405683"/>
          </a:xfrm>
        </p:spPr>
        <p:txBody>
          <a:bodyPr wrap="square" lIns="0" tIns="18000" rIns="0" bIns="18000" anchor="ctr">
            <a:spAutoFit/>
          </a:bodyPr>
          <a:lstStyle/>
          <a:p>
            <a:pPr marL="0" indent="0">
              <a:spcBef>
                <a:spcPts val="600"/>
              </a:spcBef>
              <a:buNone/>
            </a:pPr>
            <a:r>
              <a:rPr lang="en-US" sz="2400" noProof="0" dirty="0">
                <a:solidFill>
                  <a:srgbClr val="007FA3"/>
                </a:solidFill>
              </a:rPr>
              <a:t>D.</a:t>
            </a:r>
            <a:r>
              <a:rPr lang="en-US" sz="2400" noProof="0" dirty="0"/>
              <a:t> None of the above</a:t>
            </a:r>
          </a:p>
        </p:txBody>
      </p:sp>
    </p:spTree>
    <p:extLst>
      <p:ext uri="{BB962C8B-B14F-4D97-AF65-F5344CB8AC3E}">
        <p14:creationId xmlns:p14="http://schemas.microsoft.com/office/powerpoint/2010/main" val="1041509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(16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1563"/>
            <a:ext cx="4133850" cy="1590623"/>
          </a:xfrm>
        </p:spPr>
        <p:txBody>
          <a:bodyPr wrap="square" lIns="0" tIns="18000" rIns="0" bIns="18000" anchor="ctr">
            <a:spAutoFit/>
          </a:bodyPr>
          <a:lstStyle/>
          <a:p>
            <a:pPr marL="0" indent="0">
              <a:spcBef>
                <a:spcPts val="600"/>
              </a:spcBef>
              <a:buNone/>
            </a:pPr>
            <a:r>
              <a:rPr lang="en-US" sz="2400" noProof="0" dirty="0"/>
              <a:t>Kirchhoff’s Current Law (</a:t>
            </a:r>
            <a:r>
              <a:rPr lang="en-US" sz="2400" spc="-300" noProof="0" dirty="0"/>
              <a:t>K C </a:t>
            </a:r>
            <a:r>
              <a:rPr lang="en-US" sz="2400" noProof="0" dirty="0"/>
              <a:t>L)</a:t>
            </a:r>
          </a:p>
          <a:p>
            <a:pPr marL="342900" indent="-342900">
              <a:spcBef>
                <a:spcPts val="600"/>
              </a:spcBef>
            </a:pPr>
            <a:r>
              <a:rPr lang="en-US" sz="2400" noProof="0" dirty="0"/>
              <a:t>Let’s write the </a:t>
            </a:r>
            <a:r>
              <a:rPr lang="en-US" sz="2400" spc="-300" noProof="0" dirty="0"/>
              <a:t>K C </a:t>
            </a:r>
            <a:r>
              <a:rPr lang="en-US" sz="2400" noProof="0" dirty="0"/>
              <a:t>L equations at each node. Are they all independent?</a:t>
            </a:r>
          </a:p>
        </p:txBody>
      </p:sp>
      <p:pic>
        <p:nvPicPr>
          <p:cNvPr id="3" name="Picture 3" descr="The positive terminal of 25-volt voltage source is connected to its negative terminal through a series connection of 3 resistors of resistance 2 kilo ohms, 1 kilo ohm and 3 kilo ohms with voltages V subscript 1, V subscript 2 and V subscript 3 respectively. The junction where the positive terminal of the voltage source and the positive terminal of the 2 kilo ohm resistor meets is named as a. The junction where negative terminal of the 2 kilo ohm resistor and the negative terminal of 1 kilo ohm resistor meets is named as b. The junction where positive terminal of the 1 kilo ohm resistor and the negative terminal of 3 kilo ohm resistor meets is named as c. The junction where the negative terminal of the voltage source and the positive terminal of the 3 kilo ohm resistor meets is named as d. Current I subscript g is flowing from the positive terminal to the negative terminal of the voltage source. Current I subscript 1 is flowing from the positive terminal to the negative terminal of the 2 kilo ohm resistor. Current I subscript 2 is flowing from the positive terminal to the negative terminal of the 1 kilo ohm resistor. Current I subscript 3 is flowing from the positive terminal to the negative terminal of the 1 kilo ohm resistor. ">
            <a:extLst>
              <a:ext uri="{FF2B5EF4-FFF2-40B4-BE49-F238E27FC236}">
                <a16:creationId xmlns:a16="http://schemas.microsoft.com/office/drawing/2014/main" id="{E7CF513B-AF23-5541-A103-087BBE354E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6054" y="1053261"/>
            <a:ext cx="3109401" cy="2015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1" y="3256973"/>
            <a:ext cx="6311900" cy="405683"/>
          </a:xfrm>
        </p:spPr>
        <p:txBody>
          <a:bodyPr wrap="square" lIns="0" tIns="18000" rIns="0" bIns="18000" anchor="ctr">
            <a:spAutoFit/>
          </a:bodyPr>
          <a:lstStyle/>
          <a:p>
            <a:pPr marL="0" indent="0">
              <a:spcBef>
                <a:spcPts val="600"/>
              </a:spcBef>
              <a:buNone/>
            </a:pPr>
            <a:r>
              <a:rPr lang="en-US" sz="2400" noProof="0" dirty="0">
                <a:solidFill>
                  <a:srgbClr val="007FA3"/>
                </a:solidFill>
              </a:rPr>
              <a:t>Note that only 3 of the 4 are independent – the</a:t>
            </a:r>
          </a:p>
        </p:txBody>
      </p:sp>
      <p:graphicFrame>
        <p:nvGraphicFramePr>
          <p:cNvPr id="4" name="Object 3" descr="fourth&#10;">
            <a:extLst>
              <a:ext uri="{FF2B5EF4-FFF2-40B4-BE49-F238E27FC236}">
                <a16:creationId xmlns:a16="http://schemas.microsoft.com/office/drawing/2014/main" id="{EC57C216-049B-F014-E046-4A5827235C07}"/>
              </a:ext>
            </a:extLst>
          </p:cNvPr>
          <p:cNvGraphicFramePr>
            <a:graphicFrameLocks noChangeAspect="1"/>
          </p:cNvGraphicFramePr>
          <p:nvPr>
            <p:extLst>
              <p:ext uri="{D42A27DB-BD31-4B8C-83A1-F6EECF244321}">
                <p14:modId xmlns:p14="http://schemas.microsoft.com/office/powerpoint/2010/main" val="875496423"/>
              </p:ext>
            </p:extLst>
          </p:nvPr>
        </p:nvGraphicFramePr>
        <p:xfrm>
          <a:off x="6796601" y="3246452"/>
          <a:ext cx="452999" cy="400611"/>
        </p:xfrm>
        <a:graphic>
          <a:graphicData uri="http://schemas.openxmlformats.org/presentationml/2006/ole">
            <mc:AlternateContent xmlns:mc="http://schemas.openxmlformats.org/markup-compatibility/2006">
              <mc:Choice xmlns:v="urn:schemas-microsoft-com:vml" Requires="v">
                <p:oleObj name="Equation" r:id="rId3" imgW="215640" imgH="190440" progId="Equation.DSMT4">
                  <p:embed/>
                </p:oleObj>
              </mc:Choice>
              <mc:Fallback>
                <p:oleObj name="Equation" r:id="rId3" imgW="215640" imgH="190440" progId="Equation.DSMT4">
                  <p:embed/>
                  <p:pic>
                    <p:nvPicPr>
                      <p:cNvPr id="3" name="Object 2">
                        <a:extLst>
                          <a:ext uri="{FF2B5EF4-FFF2-40B4-BE49-F238E27FC236}">
                            <a16:creationId xmlns:a16="http://schemas.microsoft.com/office/drawing/2014/main" id="{B1E2F195-9391-6B54-A36F-8562741E3D4F}"/>
                          </a:ext>
                        </a:extLst>
                      </p:cNvPr>
                      <p:cNvPicPr>
                        <a:picLocks noChangeAspect="1" noChangeArrowheads="1"/>
                      </p:cNvPicPr>
                      <p:nvPr/>
                    </p:nvPicPr>
                    <p:blipFill>
                      <a:blip r:embed="rId4"/>
                      <a:srcRect/>
                      <a:stretch>
                        <a:fillRect/>
                      </a:stretch>
                    </p:blipFill>
                    <p:spPr bwMode="auto">
                      <a:xfrm>
                        <a:off x="6796601" y="3246452"/>
                        <a:ext cx="452999" cy="400611"/>
                      </a:xfrm>
                      <a:prstGeom prst="rect">
                        <a:avLst/>
                      </a:prstGeom>
                      <a:noFill/>
                      <a:ln w="38100">
                        <a:noFill/>
                        <a:miter lim="800000"/>
                        <a:headEnd/>
                        <a:tailEnd/>
                      </a:ln>
                      <a:effec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7296150" y="3256973"/>
            <a:ext cx="1181100" cy="405683"/>
          </a:xfrm>
        </p:spPr>
        <p:txBody>
          <a:bodyPr wrap="square" lIns="0" tIns="18000" rIns="0" bIns="18000" anchor="ctr">
            <a:spAutoFit/>
          </a:bodyPr>
          <a:lstStyle/>
          <a:p>
            <a:pPr marL="0" indent="0">
              <a:spcBef>
                <a:spcPts val="600"/>
              </a:spcBef>
              <a:buNone/>
            </a:pPr>
            <a:r>
              <a:rPr lang="en-US" sz="2400" noProof="0" dirty="0">
                <a:solidFill>
                  <a:srgbClr val="007FA3"/>
                </a:solidFill>
              </a:rPr>
              <a:t>equation</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3730417"/>
            <a:ext cx="4366763" cy="405683"/>
          </a:xfrm>
        </p:spPr>
        <p:txBody>
          <a:bodyPr wrap="square" lIns="0" tIns="18000" rIns="0" bIns="18000" anchor="ctr">
            <a:spAutoFit/>
          </a:bodyPr>
          <a:lstStyle/>
          <a:p>
            <a:pPr marL="0" indent="0">
              <a:spcBef>
                <a:spcPts val="600"/>
              </a:spcBef>
              <a:buNone/>
            </a:pPr>
            <a:r>
              <a:rPr lang="en-US" sz="2400" noProof="0" dirty="0">
                <a:solidFill>
                  <a:srgbClr val="007FA3"/>
                </a:solidFill>
              </a:rPr>
              <a:t>can be derived from the other 3.</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894852" y="4275541"/>
            <a:ext cx="1537299" cy="405683"/>
          </a:xfrm>
        </p:spPr>
        <p:txBody>
          <a:bodyPr wrap="square" lIns="0" tIns="18000" rIns="0" bIns="18000" anchor="ctr">
            <a:spAutoFit/>
          </a:bodyPr>
          <a:lstStyle/>
          <a:p>
            <a:pPr marL="0" indent="0">
              <a:spcBef>
                <a:spcPts val="600"/>
              </a:spcBef>
              <a:buNone/>
            </a:pPr>
            <a:r>
              <a:rPr lang="en-US" sz="2400" noProof="0" dirty="0"/>
              <a:t>a (leaving):</a:t>
            </a:r>
          </a:p>
        </p:txBody>
      </p:sp>
      <p:graphicFrame>
        <p:nvGraphicFramePr>
          <p:cNvPr id="5" name="Object 4" descr="i subscript g Baseline plus i subscript 1 Baseline equals 0&#10;">
            <a:extLst>
              <a:ext uri="{FF2B5EF4-FFF2-40B4-BE49-F238E27FC236}">
                <a16:creationId xmlns:a16="http://schemas.microsoft.com/office/drawing/2014/main" id="{A03229FB-2291-BB61-D7DD-09809A2671EE}"/>
              </a:ext>
            </a:extLst>
          </p:cNvPr>
          <p:cNvGraphicFramePr>
            <a:graphicFrameLocks noChangeAspect="1"/>
          </p:cNvGraphicFramePr>
          <p:nvPr>
            <p:extLst>
              <p:ext uri="{D42A27DB-BD31-4B8C-83A1-F6EECF244321}">
                <p14:modId xmlns:p14="http://schemas.microsoft.com/office/powerpoint/2010/main" val="3780007323"/>
              </p:ext>
            </p:extLst>
          </p:nvPr>
        </p:nvGraphicFramePr>
        <p:xfrm>
          <a:off x="3397480" y="4310998"/>
          <a:ext cx="1103377" cy="419835"/>
        </p:xfrm>
        <a:graphic>
          <a:graphicData uri="http://schemas.openxmlformats.org/presentationml/2006/ole">
            <mc:AlternateContent xmlns:mc="http://schemas.openxmlformats.org/markup-compatibility/2006">
              <mc:Choice xmlns:v="urn:schemas-microsoft-com:vml" Requires="v">
                <p:oleObj name="Equation" r:id="rId5" imgW="634680" imgH="241200" progId="Equation.DSMT4">
                  <p:embed/>
                </p:oleObj>
              </mc:Choice>
              <mc:Fallback>
                <p:oleObj name="Equation" r:id="rId5" imgW="634680" imgH="241200" progId="Equation.DSMT4">
                  <p:embed/>
                  <p:pic>
                    <p:nvPicPr>
                      <p:cNvPr id="4" name="Object 3">
                        <a:extLst>
                          <a:ext uri="{FF2B5EF4-FFF2-40B4-BE49-F238E27FC236}">
                            <a16:creationId xmlns:a16="http://schemas.microsoft.com/office/drawing/2014/main" id="{EC57C216-049B-F014-E046-4A5827235C07}"/>
                          </a:ext>
                        </a:extLst>
                      </p:cNvPr>
                      <p:cNvPicPr>
                        <a:picLocks noChangeAspect="1" noChangeArrowheads="1"/>
                      </p:cNvPicPr>
                      <p:nvPr/>
                    </p:nvPicPr>
                    <p:blipFill>
                      <a:blip r:embed="rId6"/>
                      <a:srcRect/>
                      <a:stretch>
                        <a:fillRect/>
                      </a:stretch>
                    </p:blipFill>
                    <p:spPr bwMode="auto">
                      <a:xfrm>
                        <a:off x="3397480" y="4310998"/>
                        <a:ext cx="1103377" cy="419835"/>
                      </a:xfrm>
                      <a:prstGeom prst="rect">
                        <a:avLst/>
                      </a:prstGeom>
                      <a:noFill/>
                      <a:ln w="38100">
                        <a:noFill/>
                        <a:miter lim="800000"/>
                        <a:headEnd/>
                        <a:tailEnd/>
                      </a:ln>
                      <a:effec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894852" y="4831250"/>
            <a:ext cx="1692575" cy="405683"/>
          </a:xfrm>
        </p:spPr>
        <p:txBody>
          <a:bodyPr wrap="square" lIns="0" tIns="18000" rIns="0" bIns="18000" anchor="ctr">
            <a:spAutoFit/>
          </a:bodyPr>
          <a:lstStyle/>
          <a:p>
            <a:pPr marL="0" indent="0">
              <a:spcBef>
                <a:spcPts val="600"/>
              </a:spcBef>
              <a:buNone/>
            </a:pPr>
            <a:r>
              <a:rPr lang="en-US" sz="2400" noProof="0" dirty="0"/>
              <a:t>b (entering):</a:t>
            </a:r>
          </a:p>
        </p:txBody>
      </p:sp>
      <p:graphicFrame>
        <p:nvGraphicFramePr>
          <p:cNvPr id="25" name="Object 24" descr="i subscript 1 Baseline plus i subscript 2 Baseline equals 0&#10;">
            <a:extLst>
              <a:ext uri="{FF2B5EF4-FFF2-40B4-BE49-F238E27FC236}">
                <a16:creationId xmlns:a16="http://schemas.microsoft.com/office/drawing/2014/main" id="{C3809B68-A115-36B8-98E5-FFB46AB20B9A}"/>
              </a:ext>
            </a:extLst>
          </p:cNvPr>
          <p:cNvGraphicFramePr>
            <a:graphicFrameLocks noChangeAspect="1"/>
          </p:cNvGraphicFramePr>
          <p:nvPr>
            <p:extLst>
              <p:ext uri="{D42A27DB-BD31-4B8C-83A1-F6EECF244321}">
                <p14:modId xmlns:p14="http://schemas.microsoft.com/office/powerpoint/2010/main" val="2329420800"/>
              </p:ext>
            </p:extLst>
          </p:nvPr>
        </p:nvGraphicFramePr>
        <p:xfrm>
          <a:off x="3421357" y="4851152"/>
          <a:ext cx="1079500" cy="398318"/>
        </p:xfrm>
        <a:graphic>
          <a:graphicData uri="http://schemas.openxmlformats.org/presentationml/2006/ole">
            <mc:AlternateContent xmlns:mc="http://schemas.openxmlformats.org/markup-compatibility/2006">
              <mc:Choice xmlns:v="urn:schemas-microsoft-com:vml" Requires="v">
                <p:oleObj name="Equation" r:id="rId7" imgW="622080" imgH="228600" progId="Equation.DSMT4">
                  <p:embed/>
                </p:oleObj>
              </mc:Choice>
              <mc:Fallback>
                <p:oleObj name="Equation" r:id="rId7" imgW="622080" imgH="228600" progId="Equation.DSMT4">
                  <p:embed/>
                  <p:pic>
                    <p:nvPicPr>
                      <p:cNvPr id="5" name="Object 4">
                        <a:extLst>
                          <a:ext uri="{FF2B5EF4-FFF2-40B4-BE49-F238E27FC236}">
                            <a16:creationId xmlns:a16="http://schemas.microsoft.com/office/drawing/2014/main" id="{A03229FB-2291-BB61-D7DD-09809A2671EE}"/>
                          </a:ext>
                        </a:extLst>
                      </p:cNvPr>
                      <p:cNvPicPr>
                        <a:picLocks noChangeAspect="1" noChangeArrowheads="1"/>
                      </p:cNvPicPr>
                      <p:nvPr/>
                    </p:nvPicPr>
                    <p:blipFill>
                      <a:blip r:embed="rId8"/>
                      <a:srcRect/>
                      <a:stretch>
                        <a:fillRect/>
                      </a:stretch>
                    </p:blipFill>
                    <p:spPr bwMode="auto">
                      <a:xfrm>
                        <a:off x="3421357" y="4851152"/>
                        <a:ext cx="1079500" cy="398318"/>
                      </a:xfrm>
                      <a:prstGeom prst="rect">
                        <a:avLst/>
                      </a:prstGeom>
                      <a:noFill/>
                      <a:ln w="38100">
                        <a:noFill/>
                        <a:miter lim="800000"/>
                        <a:headEnd/>
                        <a:tailEnd/>
                      </a:ln>
                      <a:effec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894852" y="5353132"/>
            <a:ext cx="2313676" cy="405683"/>
          </a:xfrm>
        </p:spPr>
        <p:txBody>
          <a:bodyPr wrap="square" lIns="0" tIns="18000" rIns="0" bIns="18000" anchor="ctr">
            <a:spAutoFit/>
          </a:bodyPr>
          <a:lstStyle/>
          <a:p>
            <a:pPr marL="0" indent="0">
              <a:spcBef>
                <a:spcPts val="600"/>
              </a:spcBef>
              <a:buNone/>
            </a:pPr>
            <a:r>
              <a:rPr lang="en-US" sz="2400" noProof="0" dirty="0"/>
              <a:t>c (enter = leave):</a:t>
            </a:r>
          </a:p>
        </p:txBody>
      </p:sp>
      <p:graphicFrame>
        <p:nvGraphicFramePr>
          <p:cNvPr id="26" name="Object 25" descr="i subscript 2 Baseline equals i subscript 3 Baseline&#10;">
            <a:extLst>
              <a:ext uri="{FF2B5EF4-FFF2-40B4-BE49-F238E27FC236}">
                <a16:creationId xmlns:a16="http://schemas.microsoft.com/office/drawing/2014/main" id="{95F90071-FB62-1674-51DC-9F223ECAC48D}"/>
              </a:ext>
            </a:extLst>
          </p:cNvPr>
          <p:cNvGraphicFramePr>
            <a:graphicFrameLocks noChangeAspect="1"/>
          </p:cNvGraphicFramePr>
          <p:nvPr>
            <p:extLst>
              <p:ext uri="{D42A27DB-BD31-4B8C-83A1-F6EECF244321}">
                <p14:modId xmlns:p14="http://schemas.microsoft.com/office/powerpoint/2010/main" val="3013078720"/>
              </p:ext>
            </p:extLst>
          </p:nvPr>
        </p:nvGraphicFramePr>
        <p:xfrm>
          <a:off x="3795142" y="5381710"/>
          <a:ext cx="705715" cy="398318"/>
        </p:xfrm>
        <a:graphic>
          <a:graphicData uri="http://schemas.openxmlformats.org/presentationml/2006/ole">
            <mc:AlternateContent xmlns:mc="http://schemas.openxmlformats.org/markup-compatibility/2006">
              <mc:Choice xmlns:v="urn:schemas-microsoft-com:vml" Requires="v">
                <p:oleObj name="Equation" r:id="rId9" imgW="406080" imgH="228600" progId="Equation.DSMT4">
                  <p:embed/>
                </p:oleObj>
              </mc:Choice>
              <mc:Fallback>
                <p:oleObj name="Equation" r:id="rId9" imgW="406080" imgH="228600" progId="Equation.DSMT4">
                  <p:embed/>
                  <p:pic>
                    <p:nvPicPr>
                      <p:cNvPr id="25" name="Object 24">
                        <a:extLst>
                          <a:ext uri="{FF2B5EF4-FFF2-40B4-BE49-F238E27FC236}">
                            <a16:creationId xmlns:a16="http://schemas.microsoft.com/office/drawing/2014/main" id="{C3809B68-A115-36B8-98E5-FFB46AB20B9A}"/>
                          </a:ext>
                        </a:extLst>
                      </p:cNvPr>
                      <p:cNvPicPr>
                        <a:picLocks noChangeAspect="1" noChangeArrowheads="1"/>
                      </p:cNvPicPr>
                      <p:nvPr/>
                    </p:nvPicPr>
                    <p:blipFill>
                      <a:blip r:embed="rId10"/>
                      <a:srcRect/>
                      <a:stretch>
                        <a:fillRect/>
                      </a:stretch>
                    </p:blipFill>
                    <p:spPr bwMode="auto">
                      <a:xfrm>
                        <a:off x="3795142" y="5381710"/>
                        <a:ext cx="705715" cy="398318"/>
                      </a:xfrm>
                      <a:prstGeom prst="rect">
                        <a:avLst/>
                      </a:prstGeom>
                      <a:noFill/>
                      <a:ln w="38100">
                        <a:noFill/>
                        <a:miter lim="800000"/>
                        <a:headEnd/>
                        <a:tailEnd/>
                      </a:ln>
                      <a:effec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894853" y="5870989"/>
            <a:ext cx="1530350" cy="405683"/>
          </a:xfrm>
        </p:spPr>
        <p:txBody>
          <a:bodyPr wrap="square" lIns="0" tIns="18000" rIns="0" bIns="18000" anchor="ctr">
            <a:spAutoFit/>
          </a:bodyPr>
          <a:lstStyle/>
          <a:p>
            <a:pPr marL="0" indent="0">
              <a:spcBef>
                <a:spcPts val="600"/>
              </a:spcBef>
              <a:buNone/>
            </a:pPr>
            <a:r>
              <a:rPr lang="en-US" sz="2400" noProof="0" dirty="0"/>
              <a:t>d (leaving):</a:t>
            </a:r>
          </a:p>
        </p:txBody>
      </p:sp>
      <p:graphicFrame>
        <p:nvGraphicFramePr>
          <p:cNvPr id="27" name="Object 26" descr="Negative i subscript g Baseline plus i subscript 3 Baseline equals 0&#10;">
            <a:extLst>
              <a:ext uri="{FF2B5EF4-FFF2-40B4-BE49-F238E27FC236}">
                <a16:creationId xmlns:a16="http://schemas.microsoft.com/office/drawing/2014/main" id="{7CA8FBC4-0FC3-0BCE-E0B8-181137777BAB}"/>
              </a:ext>
            </a:extLst>
          </p:cNvPr>
          <p:cNvGraphicFramePr>
            <a:graphicFrameLocks noChangeAspect="1"/>
          </p:cNvGraphicFramePr>
          <p:nvPr>
            <p:extLst>
              <p:ext uri="{D42A27DB-BD31-4B8C-83A1-F6EECF244321}">
                <p14:modId xmlns:p14="http://schemas.microsoft.com/office/powerpoint/2010/main" val="3259953586"/>
              </p:ext>
            </p:extLst>
          </p:nvPr>
        </p:nvGraphicFramePr>
        <p:xfrm>
          <a:off x="3338440" y="5918701"/>
          <a:ext cx="1162417" cy="381786"/>
        </p:xfrm>
        <a:graphic>
          <a:graphicData uri="http://schemas.openxmlformats.org/presentationml/2006/ole">
            <mc:AlternateContent xmlns:mc="http://schemas.openxmlformats.org/markup-compatibility/2006">
              <mc:Choice xmlns:v="urn:schemas-microsoft-com:vml" Requires="v">
                <p:oleObj name="Equation" r:id="rId11" imgW="736560" imgH="241200" progId="Equation.DSMT4">
                  <p:embed/>
                </p:oleObj>
              </mc:Choice>
              <mc:Fallback>
                <p:oleObj name="Equation" r:id="rId11" imgW="736560" imgH="241200" progId="Equation.DSMT4">
                  <p:embed/>
                  <p:pic>
                    <p:nvPicPr>
                      <p:cNvPr id="26" name="Object 25">
                        <a:extLst>
                          <a:ext uri="{FF2B5EF4-FFF2-40B4-BE49-F238E27FC236}">
                            <a16:creationId xmlns:a16="http://schemas.microsoft.com/office/drawing/2014/main" id="{95F90071-FB62-1674-51DC-9F223ECAC48D}"/>
                          </a:ext>
                        </a:extLst>
                      </p:cNvPr>
                      <p:cNvPicPr>
                        <a:picLocks noChangeAspect="1" noChangeArrowheads="1"/>
                      </p:cNvPicPr>
                      <p:nvPr/>
                    </p:nvPicPr>
                    <p:blipFill>
                      <a:blip r:embed="rId12"/>
                      <a:srcRect/>
                      <a:stretch>
                        <a:fillRect/>
                      </a:stretch>
                    </p:blipFill>
                    <p:spPr bwMode="auto">
                      <a:xfrm>
                        <a:off x="3338440" y="5918701"/>
                        <a:ext cx="1162417" cy="381786"/>
                      </a:xfrm>
                      <a:prstGeom prst="rect">
                        <a:avLst/>
                      </a:prstGeom>
                      <a:noFill/>
                      <a:ln w="38100">
                        <a:noFill/>
                        <a:miter lim="800000"/>
                        <a:headEnd/>
                        <a:tailEnd/>
                      </a:ln>
                      <a:effectLst/>
                    </p:spPr>
                  </p:pic>
                </p:oleObj>
              </mc:Fallback>
            </mc:AlternateContent>
          </a:graphicData>
        </a:graphic>
      </p:graphicFrame>
      <p:sp>
        <p:nvSpPr>
          <p:cNvPr id="2" name="Rectangle 1">
            <a:extLst>
              <a:ext uri="{FF2B5EF4-FFF2-40B4-BE49-F238E27FC236}">
                <a16:creationId xmlns:a16="http://schemas.microsoft.com/office/drawing/2014/main" id="{8FD76564-3E7D-91AC-9116-F39E3E784881}"/>
              </a:ext>
              <a:ext uri="{C183D7F6-B498-43B3-948B-1728B52AA6E4}">
                <adec:decorative xmlns:adec="http://schemas.microsoft.com/office/drawing/2017/decorative" val="1"/>
              </a:ext>
            </a:extLst>
          </p:cNvPr>
          <p:cNvSpPr/>
          <p:nvPr/>
        </p:nvSpPr>
        <p:spPr>
          <a:xfrm>
            <a:off x="789709" y="4275541"/>
            <a:ext cx="3782291" cy="2001131"/>
          </a:xfrm>
          <a:prstGeom prst="rect">
            <a:avLst/>
          </a:prstGeom>
          <a:noFill/>
          <a:ln w="28575">
            <a:solidFill>
              <a:srgbClr val="007F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1563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(17 of 22)</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069012"/>
            <a:ext cx="8229600" cy="775015"/>
          </a:xfrm>
        </p:spPr>
        <p:txBody>
          <a:bodyPr wrap="square" lIns="0" tIns="18000" rIns="0" bIns="18000" anchor="ctr">
            <a:spAutoFit/>
          </a:bodyPr>
          <a:lstStyle/>
          <a:p>
            <a:pPr marL="0" indent="0">
              <a:spcBef>
                <a:spcPts val="600"/>
              </a:spcBef>
              <a:buNone/>
            </a:pPr>
            <a:r>
              <a:rPr lang="en-US" sz="2400" noProof="0" dirty="0"/>
              <a:t>If a circuit has 6 nodes, how many independent </a:t>
            </a:r>
            <a:r>
              <a:rPr lang="en-US" sz="2400" spc="-300" noProof="0" dirty="0"/>
              <a:t>K C </a:t>
            </a:r>
            <a:r>
              <a:rPr lang="en-US" sz="2400" noProof="0" dirty="0"/>
              <a:t>L equations can you write?</a:t>
            </a:r>
          </a:p>
        </p:txBody>
      </p:sp>
      <p:pic>
        <p:nvPicPr>
          <p:cNvPr id="3" name="Picture 1434" descr="Cross mark">
            <a:extLst>
              <a:ext uri="{FF2B5EF4-FFF2-40B4-BE49-F238E27FC236}">
                <a16:creationId xmlns:a16="http://schemas.microsoft.com/office/drawing/2014/main" id="{3B1922C9-FAD9-AF39-B8A0-E2D93CF08FAD}"/>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838200" y="215075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2119792"/>
            <a:ext cx="64770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7</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838200" y="265607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0" y="2625309"/>
            <a:ext cx="64770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6</a:t>
            </a:r>
          </a:p>
        </p:txBody>
      </p:sp>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825327" y="317735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0" y="3126479"/>
            <a:ext cx="647700"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5</a:t>
            </a:r>
          </a:p>
        </p:txBody>
      </p:sp>
      <p:pic>
        <p:nvPicPr>
          <p:cNvPr id="25" name="Picture 1436" descr="Cross mark">
            <a:extLst>
              <a:ext uri="{FF2B5EF4-FFF2-40B4-BE49-F238E27FC236}">
                <a16:creationId xmlns:a16="http://schemas.microsoft.com/office/drawing/2014/main" id="{25B0560F-2F81-8F74-E789-197C88E31C54}"/>
              </a:ext>
            </a:extLst>
          </p:cNvPr>
          <p:cNvPicPr>
            <a:picLocks noChangeAspect="1"/>
          </p:cNvPicPr>
          <p:nvPr>
            <p:custDataLst>
              <p:tags r:id="rId4"/>
            </p:custDataLst>
          </p:nvPr>
        </p:nvPicPr>
        <p:blipFill>
          <a:blip r:embed="rId6">
            <a:extLst>
              <a:ext uri="{28A0092B-C50C-407E-A947-70E740481C1C}">
                <a14:useLocalDpi xmlns:a14="http://schemas.microsoft.com/office/drawing/2010/main" val="0"/>
              </a:ext>
            </a:extLst>
          </a:blip>
          <a:srcRect/>
          <a:stretch>
            <a:fillRect/>
          </a:stretch>
        </p:blipFill>
        <p:spPr bwMode="auto">
          <a:xfrm>
            <a:off x="833437" y="365636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371601" y="3631320"/>
            <a:ext cx="2971800" cy="405683"/>
          </a:xfrm>
        </p:spPr>
        <p:txBody>
          <a:bodyPr wrap="square" lIns="0" tIns="18000" rIns="0" bIns="18000" anchor="ctr">
            <a:spAutoFit/>
          </a:bodyPr>
          <a:lstStyle/>
          <a:p>
            <a:pPr marL="0" indent="0">
              <a:spcBef>
                <a:spcPts val="600"/>
              </a:spcBef>
              <a:buNone/>
            </a:pPr>
            <a:r>
              <a:rPr lang="en-US" sz="2400" noProof="0" dirty="0">
                <a:solidFill>
                  <a:srgbClr val="007FA3"/>
                </a:solidFill>
              </a:rPr>
              <a:t>D.</a:t>
            </a:r>
            <a:r>
              <a:rPr lang="en-US" sz="2400" noProof="0" dirty="0"/>
              <a:t> None of the above</a:t>
            </a:r>
          </a:p>
        </p:txBody>
      </p:sp>
    </p:spTree>
    <p:extLst>
      <p:ext uri="{BB962C8B-B14F-4D97-AF65-F5344CB8AC3E}">
        <p14:creationId xmlns:p14="http://schemas.microsoft.com/office/powerpoint/2010/main" val="249764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(18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0123"/>
            <a:ext cx="8229600" cy="1959955"/>
          </a:xfrm>
        </p:spPr>
        <p:txBody>
          <a:bodyPr wrap="square" lIns="0" tIns="18000" rIns="0" bIns="18000" anchor="ctr">
            <a:spAutoFit/>
          </a:bodyPr>
          <a:lstStyle/>
          <a:p>
            <a:pPr marL="0" indent="0">
              <a:spcBef>
                <a:spcPts val="600"/>
              </a:spcBef>
              <a:buNone/>
            </a:pPr>
            <a:r>
              <a:rPr lang="en-US" sz="2400" noProof="0" dirty="0"/>
              <a:t>Kirchhoff’s Laws (continued)</a:t>
            </a:r>
          </a:p>
          <a:p>
            <a:pPr marL="342900" indent="-342900">
              <a:spcBef>
                <a:spcPts val="600"/>
              </a:spcBef>
            </a:pPr>
            <a:r>
              <a:rPr lang="en-US" sz="2400" noProof="0" dirty="0"/>
              <a:t>We have 3 equations from Ohm’s law and 3 (independent) </a:t>
            </a:r>
            <a:r>
              <a:rPr lang="en-US" sz="2400" spc="-300" noProof="0" dirty="0"/>
              <a:t>K C </a:t>
            </a:r>
            <a:r>
              <a:rPr lang="en-US" sz="2400" noProof="0" dirty="0"/>
              <a:t>L equations – we need one more equation, because we have 7 unknowns. That equation will come from Kirchhoff’s Voltage Law</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49" y="3238366"/>
            <a:ext cx="8232775" cy="1221291"/>
          </a:xfrm>
          <a:ln w="28575">
            <a:solidFill>
              <a:srgbClr val="007FA3"/>
            </a:solidFill>
          </a:ln>
        </p:spPr>
        <p:txBody>
          <a:bodyPr wrap="square" lIns="54000" tIns="18000" rIns="54000" bIns="18000" anchor="ctr">
            <a:spAutoFit/>
          </a:bodyPr>
          <a:lstStyle/>
          <a:p>
            <a:pPr marL="0" indent="0">
              <a:spcBef>
                <a:spcPts val="600"/>
              </a:spcBef>
              <a:buNone/>
            </a:pPr>
            <a:r>
              <a:rPr lang="en-US" sz="2400" noProof="0" dirty="0"/>
              <a:t>Kirchhoff’s Voltage Law (</a:t>
            </a:r>
            <a:r>
              <a:rPr lang="en-US" sz="2400" spc="-300" noProof="0" dirty="0"/>
              <a:t>K V </a:t>
            </a:r>
            <a:r>
              <a:rPr lang="en-US" sz="2400" noProof="0" dirty="0"/>
              <a:t>L)</a:t>
            </a:r>
          </a:p>
          <a:p>
            <a:pPr marL="342900" indent="-342900">
              <a:spcBef>
                <a:spcPts val="600"/>
              </a:spcBef>
            </a:pPr>
            <a:r>
              <a:rPr lang="en-US" sz="2400" noProof="0" dirty="0"/>
              <a:t>The algebraic sum of all the voltages around any closed path in a circuit equals zero.</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4664574"/>
            <a:ext cx="8229600" cy="1513679"/>
          </a:xfrm>
        </p:spPr>
        <p:txBody>
          <a:bodyPr wrap="square" lIns="0" tIns="18000" rIns="0" bIns="18000" anchor="ctr">
            <a:spAutoFit/>
          </a:bodyPr>
          <a:lstStyle/>
          <a:p>
            <a:pPr marL="0" indent="0">
              <a:spcBef>
                <a:spcPts val="600"/>
              </a:spcBef>
              <a:buNone/>
            </a:pPr>
            <a:r>
              <a:rPr lang="en-US" sz="2400" noProof="0" dirty="0"/>
              <a:t>Note – a closed path starts at any node, travels through selected circuit elements, and returns back to the starting node without including any intermediate nodes more than once.</a:t>
            </a:r>
          </a:p>
        </p:txBody>
      </p:sp>
    </p:spTree>
    <p:extLst>
      <p:ext uri="{BB962C8B-B14F-4D97-AF65-F5344CB8AC3E}">
        <p14:creationId xmlns:p14="http://schemas.microsoft.com/office/powerpoint/2010/main" val="2759131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(19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70123"/>
            <a:ext cx="8229600" cy="1221291"/>
          </a:xfrm>
        </p:spPr>
        <p:txBody>
          <a:bodyPr wrap="square" lIns="0" tIns="18000" rIns="0" bIns="18000" anchor="ctr">
            <a:spAutoFit/>
          </a:bodyPr>
          <a:lstStyle/>
          <a:p>
            <a:pPr marL="0" indent="0">
              <a:spcBef>
                <a:spcPts val="600"/>
              </a:spcBef>
              <a:buNone/>
            </a:pPr>
            <a:r>
              <a:rPr lang="en-US" sz="2400" noProof="0" dirty="0"/>
              <a:t>Kirchhoff’s Voltage Law (</a:t>
            </a:r>
            <a:r>
              <a:rPr lang="en-US" sz="2400" spc="-300" noProof="0" dirty="0"/>
              <a:t>K V </a:t>
            </a:r>
            <a:r>
              <a:rPr lang="en-US" sz="2400" noProof="0" dirty="0"/>
              <a:t>L)</a:t>
            </a:r>
          </a:p>
          <a:p>
            <a:pPr marL="342900" indent="-342900">
              <a:spcBef>
                <a:spcPts val="600"/>
              </a:spcBef>
            </a:pPr>
            <a:r>
              <a:rPr lang="en-US" sz="2400" noProof="0" dirty="0"/>
              <a:t>Let’s write the </a:t>
            </a:r>
            <a:r>
              <a:rPr lang="en-US" sz="2400" spc="-300" noProof="0" dirty="0"/>
              <a:t>K V </a:t>
            </a:r>
            <a:r>
              <a:rPr lang="en-US" sz="2400" noProof="0" dirty="0"/>
              <a:t>L equation around the closed path formed by this circuit.</a:t>
            </a:r>
          </a:p>
        </p:txBody>
      </p:sp>
      <p:pic>
        <p:nvPicPr>
          <p:cNvPr id="5" name="Picture 3" descr="The positive terminal of 25-volt voltage source is connected to its negative terminal through a series connection of 3 resistors of resistance 2 kilo ohms, 1 kilo ohm and 3 kilo ohms with voltages V subscript 1, V subscript 2 and V subscript 3 respectively. The junction where the positive terminal of the voltage source and the positive terminal of the 2 kilo ohm resistor meets is named as a. The junction where negative terminal of the 2 kilo ohm resistor and the negative terminal of 1 kilo ohm resistor meets is named as b. The junction where positive terminal of the 1 kilo ohm resistor and the negative terminal of 3 kilo ohm resistor meets is named as c. The junction where the negative terminal of the voltage source and the positive terminal of the 3 kilo ohm resistor meets is named as d. Current I subscript g is flowing from the positive terminal to the negative terminal of the voltage source. Current I subscript 1 is flowing from the positive terminal to the negative terminal of the 2 kilo ohm resistor. Current I subscript 2 is flowing from the positive terminal to the negative terminal of the 1 kilo ohm resistor. Current I subscript 3 is flowing from the positive terminal to the negative terminal of the 1 kilo ohm resistor. ">
            <a:extLst>
              <a:ext uri="{FF2B5EF4-FFF2-40B4-BE49-F238E27FC236}">
                <a16:creationId xmlns:a16="http://schemas.microsoft.com/office/drawing/2014/main" id="{F0EFCBC2-0B1B-637D-FB9F-7DBFFDB698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823" y="2768331"/>
            <a:ext cx="3740727" cy="242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426730" y="2816354"/>
            <a:ext cx="4244195" cy="775015"/>
          </a:xfrm>
        </p:spPr>
        <p:txBody>
          <a:bodyPr wrap="square" lIns="0" tIns="18000" rIns="0" bIns="18000" anchor="ctr">
            <a:spAutoFit/>
          </a:bodyPr>
          <a:lstStyle/>
          <a:p>
            <a:pPr marL="0" indent="0">
              <a:spcBef>
                <a:spcPts val="600"/>
              </a:spcBef>
              <a:buNone/>
            </a:pPr>
            <a:r>
              <a:rPr lang="en-US" sz="2400" noProof="0" dirty="0">
                <a:solidFill>
                  <a:srgbClr val="007FA3"/>
                </a:solidFill>
              </a:rPr>
              <a:t>Start at node a and go clockwise:</a:t>
            </a:r>
          </a:p>
        </p:txBody>
      </p:sp>
      <p:graphicFrame>
        <p:nvGraphicFramePr>
          <p:cNvPr id="3" name="Object 2" descr="Positive v subscript 1 Baseline minus v subscript 2 Baseline minus v subscript 3 Baseline minus 25 equals 0&#10;">
            <a:extLst>
              <a:ext uri="{FF2B5EF4-FFF2-40B4-BE49-F238E27FC236}">
                <a16:creationId xmlns:a16="http://schemas.microsoft.com/office/drawing/2014/main" id="{A570FCA0-9D6A-4D87-FB94-EC14800374A7}"/>
              </a:ext>
            </a:extLst>
          </p:cNvPr>
          <p:cNvGraphicFramePr>
            <a:graphicFrameLocks noChangeAspect="1"/>
          </p:cNvGraphicFramePr>
          <p:nvPr>
            <p:extLst>
              <p:ext uri="{D42A27DB-BD31-4B8C-83A1-F6EECF244321}">
                <p14:modId xmlns:p14="http://schemas.microsoft.com/office/powerpoint/2010/main" val="1539271463"/>
              </p:ext>
            </p:extLst>
          </p:nvPr>
        </p:nvGraphicFramePr>
        <p:xfrm>
          <a:off x="5193386" y="3834618"/>
          <a:ext cx="2556117" cy="423841"/>
        </p:xfrm>
        <a:graphic>
          <a:graphicData uri="http://schemas.openxmlformats.org/presentationml/2006/ole">
            <mc:AlternateContent xmlns:mc="http://schemas.openxmlformats.org/markup-compatibility/2006">
              <mc:Choice xmlns:v="urn:schemas-microsoft-com:vml" Requires="v">
                <p:oleObj name="Equation" r:id="rId3" imgW="1384200" imgH="228600" progId="Equation.DSMT4">
                  <p:embed/>
                </p:oleObj>
              </mc:Choice>
              <mc:Fallback>
                <p:oleObj name="Equation" r:id="rId3" imgW="1384200" imgH="228600" progId="Equation.DSMT4">
                  <p:embed/>
                  <p:pic>
                    <p:nvPicPr>
                      <p:cNvPr id="5" name="Object 4">
                        <a:extLst>
                          <a:ext uri="{FF2B5EF4-FFF2-40B4-BE49-F238E27FC236}">
                            <a16:creationId xmlns:a16="http://schemas.microsoft.com/office/drawing/2014/main" id="{A03229FB-2291-BB61-D7DD-09809A2671EE}"/>
                          </a:ext>
                        </a:extLst>
                      </p:cNvPr>
                      <p:cNvPicPr>
                        <a:picLocks noChangeAspect="1" noChangeArrowheads="1"/>
                      </p:cNvPicPr>
                      <p:nvPr/>
                    </p:nvPicPr>
                    <p:blipFill>
                      <a:blip r:embed="rId4"/>
                      <a:srcRect/>
                      <a:stretch>
                        <a:fillRect/>
                      </a:stretch>
                    </p:blipFill>
                    <p:spPr bwMode="auto">
                      <a:xfrm>
                        <a:off x="5193386" y="3834618"/>
                        <a:ext cx="2556117" cy="423841"/>
                      </a:xfrm>
                      <a:prstGeom prst="rect">
                        <a:avLst/>
                      </a:prstGeom>
                      <a:noFill/>
                      <a:ln w="28575">
                        <a:solidFill>
                          <a:srgbClr val="007FA3"/>
                        </a:solidFill>
                        <a:miter lim="800000"/>
                        <a:headEnd/>
                        <a:tailEnd/>
                      </a:ln>
                      <a:effec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426730" y="4486085"/>
            <a:ext cx="4244195" cy="775015"/>
          </a:xfrm>
        </p:spPr>
        <p:txBody>
          <a:bodyPr wrap="square" lIns="0" tIns="18000" rIns="0" bIns="18000" anchor="ctr">
            <a:spAutoFit/>
          </a:bodyPr>
          <a:lstStyle/>
          <a:p>
            <a:pPr marL="0" indent="0">
              <a:spcBef>
                <a:spcPts val="600"/>
              </a:spcBef>
              <a:buNone/>
            </a:pPr>
            <a:r>
              <a:rPr lang="en-US" sz="2400" noProof="0" dirty="0">
                <a:solidFill>
                  <a:srgbClr val="007FA3"/>
                </a:solidFill>
              </a:rPr>
              <a:t>Start at node d and go counter-clockwise:</a:t>
            </a:r>
          </a:p>
        </p:txBody>
      </p:sp>
      <p:graphicFrame>
        <p:nvGraphicFramePr>
          <p:cNvPr id="4" name="Object 3" descr="Positive v subscript 3 Baseline plus v subscript 2 Baseline minus v subscript 1 Baseline plus 25 equals 0&#10;">
            <a:extLst>
              <a:ext uri="{FF2B5EF4-FFF2-40B4-BE49-F238E27FC236}">
                <a16:creationId xmlns:a16="http://schemas.microsoft.com/office/drawing/2014/main" id="{DCCF5335-7337-2A49-8589-49331621714B}"/>
              </a:ext>
            </a:extLst>
          </p:cNvPr>
          <p:cNvGraphicFramePr>
            <a:graphicFrameLocks noChangeAspect="1"/>
          </p:cNvGraphicFramePr>
          <p:nvPr>
            <p:extLst>
              <p:ext uri="{D42A27DB-BD31-4B8C-83A1-F6EECF244321}">
                <p14:modId xmlns:p14="http://schemas.microsoft.com/office/powerpoint/2010/main" val="2284175122"/>
              </p:ext>
            </p:extLst>
          </p:nvPr>
        </p:nvGraphicFramePr>
        <p:xfrm>
          <a:off x="5285870" y="5532087"/>
          <a:ext cx="2481988" cy="406089"/>
        </p:xfrm>
        <a:graphic>
          <a:graphicData uri="http://schemas.openxmlformats.org/presentationml/2006/ole">
            <mc:AlternateContent xmlns:mc="http://schemas.openxmlformats.org/markup-compatibility/2006">
              <mc:Choice xmlns:v="urn:schemas-microsoft-com:vml" Requires="v">
                <p:oleObj name="Equation" r:id="rId5" imgW="1396800" imgH="228600" progId="Equation.DSMT4">
                  <p:embed/>
                </p:oleObj>
              </mc:Choice>
              <mc:Fallback>
                <p:oleObj name="Equation" r:id="rId5" imgW="1396800" imgH="228600" progId="Equation.DSMT4">
                  <p:embed/>
                  <p:pic>
                    <p:nvPicPr>
                      <p:cNvPr id="3" name="Object 2">
                        <a:extLst>
                          <a:ext uri="{FF2B5EF4-FFF2-40B4-BE49-F238E27FC236}">
                            <a16:creationId xmlns:a16="http://schemas.microsoft.com/office/drawing/2014/main" id="{A570FCA0-9D6A-4D87-FB94-EC14800374A7}"/>
                          </a:ext>
                        </a:extLst>
                      </p:cNvPr>
                      <p:cNvPicPr>
                        <a:picLocks noChangeAspect="1" noChangeArrowheads="1"/>
                      </p:cNvPicPr>
                      <p:nvPr/>
                    </p:nvPicPr>
                    <p:blipFill>
                      <a:blip r:embed="rId6"/>
                      <a:srcRect/>
                      <a:stretch>
                        <a:fillRect/>
                      </a:stretch>
                    </p:blipFill>
                    <p:spPr bwMode="auto">
                      <a:xfrm>
                        <a:off x="5285870" y="5532087"/>
                        <a:ext cx="2481988" cy="406089"/>
                      </a:xfrm>
                      <a:prstGeom prst="rect">
                        <a:avLst/>
                      </a:prstGeom>
                      <a:noFill/>
                      <a:ln w="28575">
                        <a:solidFill>
                          <a:srgbClr val="007FA3"/>
                        </a:solidFill>
                        <a:miter lim="800000"/>
                        <a:headEnd/>
                        <a:tailEnd/>
                      </a:ln>
                      <a:effectLst/>
                    </p:spPr>
                  </p:pic>
                </p:oleObj>
              </mc:Fallback>
            </mc:AlternateContent>
          </a:graphicData>
        </a:graphic>
      </p:graphicFrame>
    </p:spTree>
    <p:extLst>
      <p:ext uri="{BB962C8B-B14F-4D97-AF65-F5344CB8AC3E}">
        <p14:creationId xmlns:p14="http://schemas.microsoft.com/office/powerpoint/2010/main" val="3687061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(20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060598"/>
            <a:ext cx="8229600" cy="3883559"/>
          </a:xfrm>
        </p:spPr>
        <p:txBody>
          <a:bodyPr wrap="square" lIns="0" tIns="18000" rIns="0" bIns="18000" anchor="ctr">
            <a:spAutoFit/>
          </a:bodyPr>
          <a:lstStyle/>
          <a:p>
            <a:pPr marL="0" indent="0">
              <a:spcBef>
                <a:spcPts val="600"/>
              </a:spcBef>
              <a:buNone/>
            </a:pPr>
            <a:r>
              <a:rPr lang="en-US" sz="2400" noProof="0" dirty="0"/>
              <a:t>Kirchhoff’s Laws (continued)</a:t>
            </a:r>
          </a:p>
          <a:p>
            <a:pPr marL="342900" indent="-342900">
              <a:spcBef>
                <a:spcPts val="600"/>
              </a:spcBef>
            </a:pPr>
            <a:r>
              <a:rPr lang="en-US" sz="2400" noProof="0" dirty="0"/>
              <a:t>Now we have 7 equations and 7 unknowns, so we can plug the 7 equations into a calculator and solve them to solve the circuit.</a:t>
            </a:r>
          </a:p>
          <a:p>
            <a:pPr marL="342900" indent="-342900">
              <a:spcBef>
                <a:spcPts val="600"/>
              </a:spcBef>
            </a:pPr>
            <a:r>
              <a:rPr lang="en-US" sz="2400" noProof="0" dirty="0"/>
              <a:t>Analysis of circuits with resistors and constant sources is based on the use of Ohm’s Law, </a:t>
            </a:r>
            <a:r>
              <a:rPr lang="en-US" sz="2400" spc="-300" noProof="0" dirty="0"/>
              <a:t>K C </a:t>
            </a:r>
            <a:r>
              <a:rPr lang="en-US" sz="2400" noProof="0" dirty="0"/>
              <a:t>L and </a:t>
            </a:r>
            <a:r>
              <a:rPr lang="en-US" sz="2400" spc="-300" noProof="0" dirty="0"/>
              <a:t>K V </a:t>
            </a:r>
            <a:r>
              <a:rPr lang="en-US" sz="2400" noProof="0" dirty="0"/>
              <a:t>L. </a:t>
            </a:r>
            <a:br>
              <a:rPr lang="en-US" sz="2400" noProof="0" dirty="0"/>
            </a:br>
            <a:r>
              <a:rPr lang="en-US" sz="2400" noProof="0" dirty="0"/>
              <a:t>However, we will develop some useful analysis techniques that will NOT require us to solve 7 equations for the simple example circuit we’ve been studying. Actually, we can solve this circuit with just 1 equation!</a:t>
            </a:r>
          </a:p>
        </p:txBody>
      </p:sp>
    </p:spTree>
    <p:extLst>
      <p:ext uri="{BB962C8B-B14F-4D97-AF65-F5344CB8AC3E}">
        <p14:creationId xmlns:p14="http://schemas.microsoft.com/office/powerpoint/2010/main" val="4284644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(21 of 22)</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063900"/>
            <a:ext cx="8229600" cy="405683"/>
          </a:xfrm>
        </p:spPr>
        <p:txBody>
          <a:bodyPr wrap="square" lIns="0" tIns="18000" rIns="0" bIns="18000" anchor="ctr">
            <a:spAutoFit/>
          </a:bodyPr>
          <a:lstStyle/>
          <a:p>
            <a:pPr marL="0" indent="0">
              <a:spcBef>
                <a:spcPts val="600"/>
              </a:spcBef>
              <a:buNone/>
            </a:pPr>
            <a:r>
              <a:rPr lang="en-US" sz="2400" noProof="0" dirty="0"/>
              <a:t>How </a:t>
            </a:r>
            <a:r>
              <a:rPr lang="en-US" sz="2400" noProof="0"/>
              <a:t>many voltages </a:t>
            </a:r>
            <a:r>
              <a:rPr lang="en-US" sz="2400" noProof="0" dirty="0"/>
              <a:t>and currents are in this circuit?</a:t>
            </a:r>
          </a:p>
        </p:txBody>
      </p:sp>
      <p:pic>
        <p:nvPicPr>
          <p:cNvPr id="2" name="Picture 2" descr="The circuit on the left shows the positive terminal of a 120-volt power supply connected to positive terminal of a 10-ohm resistor. The negative terminal of the 10-ohm resistor is connected to a node. Current i subscript 0 is flowing through the 10-ohm resistor. The node in the downward direction is connected to a 50-ohm resistor and the other terminal of the 50-ohm resistor is connected to another node. A 6-ampere current source is in parallel connection with 50-ohm resistor.">
            <a:extLst>
              <a:ext uri="{FF2B5EF4-FFF2-40B4-BE49-F238E27FC236}">
                <a16:creationId xmlns:a16="http://schemas.microsoft.com/office/drawing/2014/main" id="{3E47C14B-2066-DFFF-41D8-BB5067A21F22}"/>
              </a:ext>
            </a:extLst>
          </p:cNvPr>
          <p:cNvPicPr>
            <a:picLocks noChangeAspect="1" noChangeArrowheads="1"/>
          </p:cNvPicPr>
          <p:nvPr/>
        </p:nvPicPr>
        <p:blipFill>
          <a:blip r:embed="rId6"/>
          <a:srcRect/>
          <a:stretch/>
        </p:blipFill>
        <p:spPr bwMode="auto">
          <a:xfrm>
            <a:off x="2059648" y="1728189"/>
            <a:ext cx="5018354"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434" descr="Cross mark">
            <a:extLst>
              <a:ext uri="{FF2B5EF4-FFF2-40B4-BE49-F238E27FC236}">
                <a16:creationId xmlns:a16="http://schemas.microsoft.com/office/drawing/2014/main" id="{3B1922C9-FAD9-AF39-B8A0-E2D93CF08FAD}"/>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825327" y="374088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3709921"/>
            <a:ext cx="3407433"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4 voltages; 4 currents</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825327" y="4246202"/>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0" y="4215438"/>
            <a:ext cx="3407434"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4 voltages; 3 currents</a:t>
            </a:r>
          </a:p>
        </p:txBody>
      </p:sp>
      <p:pic>
        <p:nvPicPr>
          <p:cNvPr id="25" name="Picture 1436" descr="Cross mark">
            <a:extLst>
              <a:ext uri="{FF2B5EF4-FFF2-40B4-BE49-F238E27FC236}">
                <a16:creationId xmlns:a16="http://schemas.microsoft.com/office/drawing/2014/main" id="{25B0560F-2F81-8F74-E789-197C88E31C54}"/>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825327" y="474799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0" y="4716608"/>
            <a:ext cx="3407433"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3 voltages; 4 currents</a:t>
            </a:r>
          </a:p>
        </p:txBody>
      </p:sp>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rcRect/>
          <a:stretch>
            <a:fillRect/>
          </a:stretch>
        </p:blipFill>
        <p:spPr bwMode="auto">
          <a:xfrm>
            <a:off x="825327" y="5252840"/>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371600" y="5221449"/>
            <a:ext cx="3407433" cy="405683"/>
          </a:xfrm>
        </p:spPr>
        <p:txBody>
          <a:bodyPr wrap="square" lIns="0" tIns="18000" rIns="0" bIns="18000" anchor="ctr">
            <a:spAutoFit/>
          </a:bodyPr>
          <a:lstStyle/>
          <a:p>
            <a:pPr marL="0" indent="0">
              <a:spcBef>
                <a:spcPts val="600"/>
              </a:spcBef>
              <a:buNone/>
            </a:pPr>
            <a:r>
              <a:rPr lang="en-US" sz="2400" noProof="0" dirty="0">
                <a:solidFill>
                  <a:srgbClr val="007FA3"/>
                </a:solidFill>
              </a:rPr>
              <a:t>D.</a:t>
            </a:r>
            <a:r>
              <a:rPr lang="en-US" sz="2400" noProof="0" dirty="0"/>
              <a:t> 3 voltages; 3 currents</a:t>
            </a:r>
          </a:p>
        </p:txBody>
      </p:sp>
    </p:spTree>
    <p:extLst>
      <p:ext uri="{BB962C8B-B14F-4D97-AF65-F5344CB8AC3E}">
        <p14:creationId xmlns:p14="http://schemas.microsoft.com/office/powerpoint/2010/main" val="4056586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4945"/>
            <a:ext cx="8229600" cy="590349"/>
          </a:xfrm>
        </p:spPr>
        <p:txBody>
          <a:bodyPr anchor="ctr"/>
          <a:lstStyle/>
          <a:p>
            <a:r>
              <a:rPr lang="en-US" noProof="0" dirty="0"/>
              <a:t>Chapter 2 – Circuit Elements </a:t>
            </a:r>
            <a:r>
              <a:rPr lang="en-US" sz="2800" noProof="0" dirty="0"/>
              <a:t>(22 of 22)</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1069012"/>
            <a:ext cx="8229600" cy="775015"/>
          </a:xfrm>
        </p:spPr>
        <p:txBody>
          <a:bodyPr wrap="square" lIns="0" tIns="18000" rIns="0" bIns="18000" anchor="ctr">
            <a:spAutoFit/>
          </a:bodyPr>
          <a:lstStyle/>
          <a:p>
            <a:pPr marL="0" indent="0">
              <a:spcBef>
                <a:spcPts val="600"/>
              </a:spcBef>
              <a:buNone/>
            </a:pPr>
            <a:r>
              <a:rPr lang="en-US" sz="2400" noProof="0" dirty="0"/>
              <a:t>How many Ohm’s Law, </a:t>
            </a:r>
            <a:r>
              <a:rPr lang="en-US" sz="2400" spc="-300" noProof="0" dirty="0"/>
              <a:t>K C </a:t>
            </a:r>
            <a:r>
              <a:rPr lang="en-US" sz="2400" noProof="0" dirty="0"/>
              <a:t>L, and </a:t>
            </a:r>
            <a:r>
              <a:rPr lang="en-US" sz="2400" spc="-300" noProof="0" dirty="0"/>
              <a:t>K V </a:t>
            </a:r>
            <a:r>
              <a:rPr lang="en-US" sz="2400" noProof="0" dirty="0"/>
              <a:t>L equations will we need to solve this circuit?</a:t>
            </a:r>
          </a:p>
        </p:txBody>
      </p:sp>
      <p:pic>
        <p:nvPicPr>
          <p:cNvPr id="7" name="Picture 2" descr="The circuit on the left shows the positive terminal of a 120-volt power supply connected to positive terminal of a 10-ohm resistor. The negative terminal of the 10-ohm resistor is connected to a node. Current i subscript 0 is flowing through the 10-ohm resistor. The node in the downward direction is connected to a 50-ohm resistor and the other terminal of the 50-ohm resistor is connected to another node. A 6-ampere current source is in parallel connection with 50-ohm resistor.">
            <a:extLst>
              <a:ext uri="{FF2B5EF4-FFF2-40B4-BE49-F238E27FC236}">
                <a16:creationId xmlns:a16="http://schemas.microsoft.com/office/drawing/2014/main" id="{D7143BD3-A897-4DE5-4232-89B7CD487788}"/>
              </a:ext>
            </a:extLst>
          </p:cNvPr>
          <p:cNvPicPr>
            <a:picLocks noChangeAspect="1" noChangeArrowheads="1"/>
          </p:cNvPicPr>
          <p:nvPr/>
        </p:nvPicPr>
        <p:blipFill>
          <a:blip r:embed="rId5"/>
          <a:srcRect/>
          <a:stretch/>
        </p:blipFill>
        <p:spPr bwMode="auto">
          <a:xfrm>
            <a:off x="2056473" y="2107745"/>
            <a:ext cx="5018354"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435" descr="Check mark">
            <a:extLst>
              <a:ext uri="{FF2B5EF4-FFF2-40B4-BE49-F238E27FC236}">
                <a16:creationId xmlns:a16="http://schemas.microsoft.com/office/drawing/2014/main" id="{A6F0595D-C089-2A44-434D-C1395A4F1D72}"/>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812973" y="4124497"/>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1600" y="4085963"/>
            <a:ext cx="3407433"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2 </a:t>
            </a:r>
            <a:r>
              <a:rPr lang="en-US" sz="2400" spc="-300" noProof="0" dirty="0"/>
              <a:t>O </a:t>
            </a:r>
            <a:r>
              <a:rPr lang="en-US" sz="2400" noProof="0" dirty="0"/>
              <a:t>L, 2 </a:t>
            </a:r>
            <a:r>
              <a:rPr lang="en-US" sz="2400" spc="-300" noProof="0" dirty="0"/>
              <a:t>K C </a:t>
            </a:r>
            <a:r>
              <a:rPr lang="en-US" sz="2400" noProof="0" dirty="0"/>
              <a:t>L, 2 </a:t>
            </a:r>
            <a:r>
              <a:rPr lang="en-US" sz="2400" spc="-300" noProof="0" dirty="0"/>
              <a:t>K V </a:t>
            </a:r>
            <a:r>
              <a:rPr lang="en-US" sz="2400" noProof="0" dirty="0"/>
              <a:t>L</a:t>
            </a:r>
          </a:p>
        </p:txBody>
      </p:sp>
      <p:pic>
        <p:nvPicPr>
          <p:cNvPr id="4" name="Picture 1436" descr="Cross mark">
            <a:extLst>
              <a:ext uri="{FF2B5EF4-FFF2-40B4-BE49-F238E27FC236}">
                <a16:creationId xmlns:a16="http://schemas.microsoft.com/office/drawing/2014/main" id="{CA83259D-B683-1E33-62A7-2C07B38189D6}"/>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838200" y="462224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71600" y="4591480"/>
            <a:ext cx="3407434"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2 </a:t>
            </a:r>
            <a:r>
              <a:rPr lang="en-US" sz="2400" spc="-300" noProof="0" dirty="0"/>
              <a:t>O </a:t>
            </a:r>
            <a:r>
              <a:rPr lang="en-US" sz="2400" noProof="0" dirty="0"/>
              <a:t>L, 1 </a:t>
            </a:r>
            <a:r>
              <a:rPr lang="en-US" sz="2400" spc="-300" noProof="0" dirty="0"/>
              <a:t>K C </a:t>
            </a:r>
            <a:r>
              <a:rPr lang="en-US" sz="2400" noProof="0" dirty="0"/>
              <a:t>L, 3 </a:t>
            </a:r>
            <a:r>
              <a:rPr lang="en-US" sz="2400" spc="-300" noProof="0" dirty="0"/>
              <a:t>K V </a:t>
            </a:r>
            <a:r>
              <a:rPr lang="en-US" sz="2400" noProof="0" dirty="0"/>
              <a:t>L</a:t>
            </a:r>
          </a:p>
        </p:txBody>
      </p:sp>
      <p:pic>
        <p:nvPicPr>
          <p:cNvPr id="25" name="Picture 1436" descr="Cross mark">
            <a:extLst>
              <a:ext uri="{FF2B5EF4-FFF2-40B4-BE49-F238E27FC236}">
                <a16:creationId xmlns:a16="http://schemas.microsoft.com/office/drawing/2014/main" id="{25B0560F-2F81-8F74-E789-197C88E31C54}"/>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838200" y="512404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71600" y="5092650"/>
            <a:ext cx="3407433"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2 </a:t>
            </a:r>
            <a:r>
              <a:rPr lang="en-US" sz="2400" spc="-300" noProof="0" dirty="0"/>
              <a:t>O </a:t>
            </a:r>
            <a:r>
              <a:rPr lang="en-US" sz="2400" noProof="0" dirty="0"/>
              <a:t>L, 3 </a:t>
            </a:r>
            <a:r>
              <a:rPr lang="en-US" sz="2400" spc="-300" noProof="0" dirty="0"/>
              <a:t>K C </a:t>
            </a:r>
            <a:r>
              <a:rPr lang="en-US" sz="2400" noProof="0" dirty="0"/>
              <a:t>L, 1 </a:t>
            </a:r>
            <a:r>
              <a:rPr lang="en-US" sz="2400" spc="-300" noProof="0" dirty="0"/>
              <a:t>K V </a:t>
            </a:r>
            <a:r>
              <a:rPr lang="en-US" sz="2400" noProof="0" dirty="0"/>
              <a:t>L</a:t>
            </a:r>
          </a:p>
        </p:txBody>
      </p:sp>
    </p:spTree>
    <p:extLst>
      <p:ext uri="{BB962C8B-B14F-4D97-AF65-F5344CB8AC3E}">
        <p14:creationId xmlns:p14="http://schemas.microsoft.com/office/powerpoint/2010/main" val="2060241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4" name="Picture Placeholder 9" descr="Warning">
            <a:extLst>
              <a:ext uri="{FF2B5EF4-FFF2-40B4-BE49-F238E27FC236}">
                <a16:creationId xmlns:a16="http://schemas.microsoft.com/office/drawing/2014/main" id="{FF0CD622-B272-98ED-18F1-14F812FF8A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1631" y="2706056"/>
            <a:ext cx="1269677" cy="1269677"/>
          </a:xfrm>
          <a:prstGeom prst="rect">
            <a:avLst/>
          </a:prstGeom>
          <a:noFill/>
          <a:ln>
            <a:noFill/>
          </a:ln>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3.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4.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5.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6.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7.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8.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9.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0.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1.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2.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3.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4.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5.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6.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7.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8.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9.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0.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1.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2.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23.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24.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5.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798</TotalTime>
  <Words>1479</Words>
  <Application>Microsoft Macintosh PowerPoint</Application>
  <PresentationFormat>On-screen Show (4:3)</PresentationFormat>
  <Paragraphs>145</Paragraphs>
  <Slides>24</Slides>
  <Notes>4</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24</vt:i4>
      </vt:variant>
    </vt:vector>
  </HeadingPairs>
  <TitlesOfParts>
    <vt:vector size="30" baseType="lpstr">
      <vt:lpstr>Verdana</vt:lpstr>
      <vt:lpstr>Arial</vt:lpstr>
      <vt:lpstr>Times New Roman</vt:lpstr>
      <vt:lpstr>USHE</vt:lpstr>
      <vt:lpstr>USHE_slide options</vt:lpstr>
      <vt:lpstr>Equation</vt:lpstr>
      <vt:lpstr>Electric Circuits</vt:lpstr>
      <vt:lpstr>Chapter 2 – Circuit Elements (1 of 22)</vt:lpstr>
      <vt:lpstr>Chapter 2 – Circuit Elements (2 of 22)</vt:lpstr>
      <vt:lpstr>Chapter 2 – Circuit Elements (3 of 22)</vt:lpstr>
      <vt:lpstr>Chapter 2 – Circuit Elements (4 of 22)</vt:lpstr>
      <vt:lpstr>Chapter 2 – Circuit Elements (5 of 22)</vt:lpstr>
      <vt:lpstr>Chapter 2 – Circuit Elements (6 of 22)</vt:lpstr>
      <vt:lpstr>Chapter 2 – Circuit Elements (7 of 22)</vt:lpstr>
      <vt:lpstr>Chapter 2 – Circuit Elements (8 of 22)</vt:lpstr>
      <vt:lpstr>Chapter 2 – Circuit Elements (9 of 22)</vt:lpstr>
      <vt:lpstr>Chapter 2 – Circuit Elements (10 of 22)</vt:lpstr>
      <vt:lpstr>Chapter 2 – Circuit Elements (11 of 22)</vt:lpstr>
      <vt:lpstr>Chapter 2 – Circuit Elements (12 of 22)</vt:lpstr>
      <vt:lpstr>Chapter 2 – Circuit Elements (13 of 22)</vt:lpstr>
      <vt:lpstr>Chapter 2 – Circuit Elements (14 of 22)</vt:lpstr>
      <vt:lpstr>Chapter 2 – Circuit Elements (15 of 22)</vt:lpstr>
      <vt:lpstr>Chapter 2 – Circuit Elements (16 of 22)</vt:lpstr>
      <vt:lpstr>Chapter 2 – Circuit Elements (17 of 22)</vt:lpstr>
      <vt:lpstr>Chapter 2 – Circuit Elements (18 of 22)</vt:lpstr>
      <vt:lpstr>Chapter 2 – Circuit Elements (19 of 22)</vt:lpstr>
      <vt:lpstr>Chapter 2 – Circuit Elements (20 of 22)</vt:lpstr>
      <vt:lpstr>Chapter 2 – Circuit Elements (21 of 22)</vt:lpstr>
      <vt:lpstr>Chapter 2 – Circuit Elements (22 of 22)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2 – Part 2</dc:title>
  <dc:subject>Engineering</dc:subject>
  <dc:creator>Nilsson and Riedel</dc:creator>
  <cp:keywords/>
  <dc:description/>
  <cp:lastModifiedBy>Kamil Erdayandi</cp:lastModifiedBy>
  <cp:revision>115</cp:revision>
  <dcterms:modified xsi:type="dcterms:W3CDTF">2025-09-22T12:44:53Z</dcterms:modified>
</cp:coreProperties>
</file>