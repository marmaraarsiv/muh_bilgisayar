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6"/>
  </p:notesMasterIdLst>
  <p:handoutMasterIdLst>
    <p:handoutMasterId r:id="rId27"/>
  </p:handoutMasterIdLst>
  <p:sldIdLst>
    <p:sldId id="330" r:id="rId3"/>
    <p:sldId id="718" r:id="rId4"/>
    <p:sldId id="719" r:id="rId5"/>
    <p:sldId id="738" r:id="rId6"/>
    <p:sldId id="729" r:id="rId7"/>
    <p:sldId id="739" r:id="rId8"/>
    <p:sldId id="730" r:id="rId9"/>
    <p:sldId id="740" r:id="rId10"/>
    <p:sldId id="731" r:id="rId11"/>
    <p:sldId id="741" r:id="rId12"/>
    <p:sldId id="734" r:id="rId13"/>
    <p:sldId id="736" r:id="rId14"/>
    <p:sldId id="737" r:id="rId15"/>
    <p:sldId id="727" r:id="rId16"/>
    <p:sldId id="728" r:id="rId17"/>
    <p:sldId id="720" r:id="rId18"/>
    <p:sldId id="742" r:id="rId19"/>
    <p:sldId id="721" r:id="rId20"/>
    <p:sldId id="722" r:id="rId21"/>
    <p:sldId id="723" r:id="rId22"/>
    <p:sldId id="732" r:id="rId23"/>
    <p:sldId id="733" r:id="rId24"/>
    <p:sldId id="717" r:id="rId25"/>
  </p:sldIdLst>
  <p:sldSz cx="9144000" cy="6858000" type="screen4x3"/>
  <p:notesSz cx="6858000" cy="9144000"/>
  <p:embeddedFontLst>
    <p:embeddedFont>
      <p:font typeface="Verdana" panose="020B0604030504040204"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1480" userDrawn="1">
          <p15:clr>
            <a:srgbClr val="A4A3A4"/>
          </p15:clr>
        </p15:guide>
        <p15:guide id="4" pos="2880" userDrawn="1">
          <p15:clr>
            <a:srgbClr val="A4A3A4"/>
          </p15:clr>
        </p15:guide>
        <p15:guide id="5" pos="5462" userDrawn="1">
          <p15:clr>
            <a:srgbClr val="A4A3A4"/>
          </p15:clr>
        </p15:guide>
        <p15:guide id="6" orient="horz" pos="4042" userDrawn="1">
          <p15:clr>
            <a:srgbClr val="A4A3A4"/>
          </p15:clr>
        </p15:guide>
        <p15:guide id="7" orient="horz" pos="3181" userDrawn="1">
          <p15:clr>
            <a:srgbClr val="A4A3A4"/>
          </p15:clr>
        </p15:guide>
        <p15:guide id="8" orient="horz" pos="1139" userDrawn="1">
          <p15:clr>
            <a:srgbClr val="A4A3A4"/>
          </p15:clr>
        </p15:guide>
        <p15:guide id="9" orient="horz" pos="3838" userDrawn="1">
          <p15:clr>
            <a:srgbClr val="A4A3A4"/>
          </p15:clr>
        </p15:guide>
        <p15:guide id="10" orient="horz" pos="3566" userDrawn="1">
          <p15:clr>
            <a:srgbClr val="A4A3A4"/>
          </p15:clr>
        </p15:guide>
        <p15:guide id="11" orient="horz" pos="2886" userDrawn="1">
          <p15:clr>
            <a:srgbClr val="A4A3A4"/>
          </p15:clr>
        </p15:guide>
        <p15:guide id="12" pos="975" userDrawn="1">
          <p15:clr>
            <a:srgbClr val="A4A3A4"/>
          </p15:clr>
        </p15:guide>
        <p15:guide id="13" pos="58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70" autoAdjust="0"/>
    <p:restoredTop sz="94291" autoAdjust="0"/>
  </p:normalViewPr>
  <p:slideViewPr>
    <p:cSldViewPr snapToGrid="0" snapToObjects="1">
      <p:cViewPr varScale="1">
        <p:scale>
          <a:sx n="110" d="100"/>
          <a:sy n="110" d="100"/>
        </p:scale>
        <p:origin x="1818" y="96"/>
      </p:cViewPr>
      <p:guideLst>
        <p:guide orient="horz" pos="427"/>
        <p:guide pos="264"/>
        <p:guide orient="horz" pos="1480"/>
        <p:guide pos="2880"/>
        <p:guide pos="5462"/>
        <p:guide orient="horz" pos="4042"/>
        <p:guide orient="horz" pos="3181"/>
        <p:guide orient="horz" pos="1139"/>
        <p:guide orient="horz" pos="3838"/>
        <p:guide orient="horz" pos="3566"/>
        <p:guide orient="horz" pos="2886"/>
        <p:guide pos="975"/>
        <p:guide pos="589"/>
      </p:guideLst>
    </p:cSldViewPr>
  </p:slideViewPr>
  <p:outlineViewPr>
    <p:cViewPr>
      <p:scale>
        <a:sx n="33" d="100"/>
        <a:sy n="33" d="100"/>
      </p:scale>
      <p:origin x="0" y="-13099"/>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 1:</a:t>
            </a:r>
          </a:p>
          <a:p>
            <a:r>
              <a:rPr lang="en-US" noProof="0" dirty="0"/>
              <a:t>Start Fraction d p subscript L BaseLine over d R subscript L BaseLine End Fraction equals Start Fraction V subscript T h BaseLine squared over Open Parenthesis R subscript T h BaseLine plus R subscript L BaseLine Close Parenthesis squared End Fraction minus Start Fraction 2 R subscript L BaseLine V subscript T h BaseLine squared over Open Parenthesis R subscript T h BaseLine plus R subscript L BaseLine Close Parenthesis squared End Fraction.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2:</a:t>
            </a:r>
          </a:p>
          <a:p>
            <a:r>
              <a:rPr lang="en-US" noProof="0" dirty="0"/>
              <a:t>Equals Start Fraction V subscript T h BaseLine squared Open Parenthesis R subscript T h BaseLine plus R subscript L BaseLine Close Parenthesis minus 2 R subscript L BaseLine V subscript T h BaseLine squared over Open Parenthesis R subscript T h BaseLine plus R subscript L BaseLine Close Parenthesis cubed End Fraction equals 0.</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39408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a:t>
            </a:r>
          </a:p>
          <a:p>
            <a:r>
              <a:rPr lang="en-US" noProof="0" dirty="0"/>
              <a:t> </a:t>
            </a:r>
            <a:r>
              <a:rPr lang="en-US" noProof="0" dirty="0" err="1"/>
              <a:t>i</a:t>
            </a:r>
            <a:r>
              <a:rPr lang="en-US" noProof="0" dirty="0"/>
              <a:t> equals Start Fraction 5 parallel to 10 parallel to 40 over 10 End Fraction Open Parenthesis 3 Close Parenthesis equals 3.077 divided by 10 Open Parenthesis 3 Close Parenthesis equals 0.923 Amperes;</a:t>
            </a:r>
          </a:p>
          <a:p>
            <a:r>
              <a:rPr lang="en-US" noProof="0" dirty="0"/>
              <a:t>v subscript 1 BaseLine double prime equals 10 </a:t>
            </a:r>
            <a:r>
              <a:rPr lang="en-US" noProof="0" dirty="0" err="1"/>
              <a:t>i</a:t>
            </a:r>
            <a:r>
              <a:rPr lang="en-US" noProof="0" dirty="0"/>
              <a:t> equals 9.23 Volts.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62211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23</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11/4/2025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6" name="Content Placeholder 7">
            <a:extLst>
              <a:ext uri="{FF2B5EF4-FFF2-40B4-BE49-F238E27FC236}">
                <a16:creationId xmlns:a16="http://schemas.microsoft.com/office/drawing/2014/main" id="{67B5DD31-F4D7-7F29-F15C-8478039E4FC8}"/>
              </a:ext>
            </a:extLst>
          </p:cNvPr>
          <p:cNvSpPr txBox="1">
            <a:spLocks/>
          </p:cNvSpPr>
          <p:nvPr userDrawn="1"/>
        </p:nvSpPr>
        <p:spPr>
          <a:xfrm>
            <a:off x="2555193" y="6455210"/>
            <a:ext cx="6114695"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7.wmf"/><Relationship Id="rId17" Type="http://schemas.openxmlformats.org/officeDocument/2006/relationships/image" Target="../media/image10.jpg"/><Relationship Id="rId2" Type="http://schemas.openxmlformats.org/officeDocument/2006/relationships/notesSlide" Target="../notesSlides/notesSlide2.xml"/><Relationship Id="rId16" Type="http://schemas.openxmlformats.org/officeDocument/2006/relationships/image" Target="../media/image9.wmf"/><Relationship Id="rId1" Type="http://schemas.openxmlformats.org/officeDocument/2006/relationships/slideLayout" Target="../slideLayouts/slideLayout8.xml"/><Relationship Id="rId6" Type="http://schemas.openxmlformats.org/officeDocument/2006/relationships/image" Target="../media/image4.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4.bin"/><Relationship Id="rId14" Type="http://schemas.openxmlformats.org/officeDocument/2006/relationships/image" Target="../media/image8.wmf"/></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image" Target="../media/image15.png"/><Relationship Id="rId1" Type="http://schemas.openxmlformats.org/officeDocument/2006/relationships/slideLayout" Target="../slideLayouts/slideLayout8.xml"/><Relationship Id="rId6" Type="http://schemas.openxmlformats.org/officeDocument/2006/relationships/image" Target="../media/image17.wmf"/><Relationship Id="rId5" Type="http://schemas.openxmlformats.org/officeDocument/2006/relationships/oleObject" Target="../embeddings/oleObject9.bin"/><Relationship Id="rId4" Type="http://schemas.openxmlformats.org/officeDocument/2006/relationships/image" Target="../media/image16.wmf"/></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2.png"/><Relationship Id="rId7" Type="http://schemas.openxmlformats.org/officeDocument/2006/relationships/image" Target="../media/image17.wmf"/><Relationship Id="rId2" Type="http://schemas.openxmlformats.org/officeDocument/2006/relationships/image" Target="../media/image15.png"/><Relationship Id="rId1" Type="http://schemas.openxmlformats.org/officeDocument/2006/relationships/slideLayout" Target="../slideLayouts/slideLayout8.xml"/><Relationship Id="rId6" Type="http://schemas.openxmlformats.org/officeDocument/2006/relationships/oleObject" Target="../embeddings/oleObject9.bin"/><Relationship Id="rId5" Type="http://schemas.openxmlformats.org/officeDocument/2006/relationships/image" Target="../media/image16.wmf"/><Relationship Id="rId10" Type="http://schemas.openxmlformats.org/officeDocument/2006/relationships/image" Target="../media/image18.wmf"/><Relationship Id="rId4" Type="http://schemas.openxmlformats.org/officeDocument/2006/relationships/oleObject" Target="../embeddings/oleObject8.bin"/><Relationship Id="rId9"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16.bin"/><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25.wmf"/><Relationship Id="rId2" Type="http://schemas.openxmlformats.org/officeDocument/2006/relationships/image" Target="../media/image20.jpg"/><Relationship Id="rId16" Type="http://schemas.openxmlformats.org/officeDocument/2006/relationships/image" Target="../media/image27.wmf"/><Relationship Id="rId1" Type="http://schemas.openxmlformats.org/officeDocument/2006/relationships/slideLayout" Target="../slideLayouts/slideLayout8.xml"/><Relationship Id="rId6" Type="http://schemas.openxmlformats.org/officeDocument/2006/relationships/image" Target="../media/image22.wmf"/><Relationship Id="rId11" Type="http://schemas.openxmlformats.org/officeDocument/2006/relationships/oleObject" Target="../embeddings/oleObject15.bin"/><Relationship Id="rId5" Type="http://schemas.openxmlformats.org/officeDocument/2006/relationships/oleObject" Target="../embeddings/oleObject12.bin"/><Relationship Id="rId15" Type="http://schemas.openxmlformats.org/officeDocument/2006/relationships/oleObject" Target="../embeddings/oleObject17.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14.bin"/><Relationship Id="rId14" Type="http://schemas.openxmlformats.org/officeDocument/2006/relationships/image" Target="../media/image26.wmf"/></Relationships>
</file>

<file path=ppt/slides/_rels/slide13.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23.bin"/><Relationship Id="rId18" Type="http://schemas.openxmlformats.org/officeDocument/2006/relationships/image" Target="../media/image36.wmf"/><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33.wmf"/><Relationship Id="rId17" Type="http://schemas.openxmlformats.org/officeDocument/2006/relationships/oleObject" Target="../embeddings/oleObject25.bin"/><Relationship Id="rId2" Type="http://schemas.openxmlformats.org/officeDocument/2006/relationships/image" Target="../media/image28.jpg"/><Relationship Id="rId16" Type="http://schemas.openxmlformats.org/officeDocument/2006/relationships/image" Target="../media/image35.wmf"/><Relationship Id="rId20" Type="http://schemas.openxmlformats.org/officeDocument/2006/relationships/image" Target="../media/image37.wmf"/><Relationship Id="rId1" Type="http://schemas.openxmlformats.org/officeDocument/2006/relationships/slideLayout" Target="../slideLayouts/slideLayout8.xml"/><Relationship Id="rId6" Type="http://schemas.openxmlformats.org/officeDocument/2006/relationships/image" Target="../media/image30.wmf"/><Relationship Id="rId11" Type="http://schemas.openxmlformats.org/officeDocument/2006/relationships/oleObject" Target="../embeddings/oleObject22.bin"/><Relationship Id="rId5" Type="http://schemas.openxmlformats.org/officeDocument/2006/relationships/oleObject" Target="../embeddings/oleObject19.bin"/><Relationship Id="rId15" Type="http://schemas.openxmlformats.org/officeDocument/2006/relationships/oleObject" Target="../embeddings/oleObject24.bin"/><Relationship Id="rId10" Type="http://schemas.openxmlformats.org/officeDocument/2006/relationships/image" Target="../media/image32.wmf"/><Relationship Id="rId19" Type="http://schemas.openxmlformats.org/officeDocument/2006/relationships/oleObject" Target="../embeddings/oleObject26.bin"/><Relationship Id="rId4" Type="http://schemas.openxmlformats.org/officeDocument/2006/relationships/image" Target="../media/image29.wmf"/><Relationship Id="rId9" Type="http://schemas.openxmlformats.org/officeDocument/2006/relationships/oleObject" Target="../embeddings/oleObject21.bin"/><Relationship Id="rId14" Type="http://schemas.openxmlformats.org/officeDocument/2006/relationships/image" Target="../media/image34.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image" Target="../media/image38.jpg"/><Relationship Id="rId1" Type="http://schemas.openxmlformats.org/officeDocument/2006/relationships/slideLayout" Target="../slideLayouts/slideLayout8.xml"/><Relationship Id="rId4" Type="http://schemas.openxmlformats.org/officeDocument/2006/relationships/image" Target="../media/image39.wmf"/></Relationships>
</file>

<file path=ppt/slides/_rels/slide15.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28.bin"/><Relationship Id="rId1" Type="http://schemas.openxmlformats.org/officeDocument/2006/relationships/slideLayout" Target="../slideLayouts/slideLayout8.xml"/><Relationship Id="rId4" Type="http://schemas.openxmlformats.org/officeDocument/2006/relationships/image" Target="../media/image41.jpg"/></Relationships>
</file>

<file path=ppt/slides/_rels/slide16.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29.bin"/><Relationship Id="rId1" Type="http://schemas.openxmlformats.org/officeDocument/2006/relationships/slideLayout" Target="../slideLayouts/slideLayout8.xml"/><Relationship Id="rId4" Type="http://schemas.openxmlformats.org/officeDocument/2006/relationships/image" Target="../media/image43.jpg"/></Relationships>
</file>

<file path=ppt/slides/_rels/slide17.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29.bin"/><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43.jpg"/></Relationships>
</file>

<file path=ppt/slides/_rels/slide18.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33.bin"/><Relationship Id="rId3" Type="http://schemas.openxmlformats.org/officeDocument/2006/relationships/image" Target="../media/image40.wmf"/><Relationship Id="rId7" Type="http://schemas.openxmlformats.org/officeDocument/2006/relationships/oleObject" Target="../embeddings/oleObject29.bin"/><Relationship Id="rId12" Type="http://schemas.openxmlformats.org/officeDocument/2006/relationships/image" Target="../media/image47.wmf"/><Relationship Id="rId2" Type="http://schemas.openxmlformats.org/officeDocument/2006/relationships/oleObject" Target="../embeddings/oleObject28.bin"/><Relationship Id="rId1" Type="http://schemas.openxmlformats.org/officeDocument/2006/relationships/slideLayout" Target="../slideLayouts/slideLayout8.xml"/><Relationship Id="rId6" Type="http://schemas.openxmlformats.org/officeDocument/2006/relationships/image" Target="../media/image45.jpg"/><Relationship Id="rId11" Type="http://schemas.openxmlformats.org/officeDocument/2006/relationships/oleObject" Target="../embeddings/oleObject32.bin"/><Relationship Id="rId5" Type="http://schemas.openxmlformats.org/officeDocument/2006/relationships/image" Target="../media/image44.wmf"/><Relationship Id="rId10" Type="http://schemas.openxmlformats.org/officeDocument/2006/relationships/image" Target="../media/image46.wmf"/><Relationship Id="rId4" Type="http://schemas.openxmlformats.org/officeDocument/2006/relationships/oleObject" Target="../embeddings/oleObject30.bin"/><Relationship Id="rId9" Type="http://schemas.openxmlformats.org/officeDocument/2006/relationships/oleObject" Target="../embeddings/oleObject31.bin"/><Relationship Id="rId14" Type="http://schemas.openxmlformats.org/officeDocument/2006/relationships/image" Target="../media/image48.wmf"/></Relationships>
</file>

<file path=ppt/slides/_rels/slide19.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29.bin"/><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9.jp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54.wmf"/><Relationship Id="rId3" Type="http://schemas.openxmlformats.org/officeDocument/2006/relationships/oleObject" Target="../embeddings/oleObject34.bin"/><Relationship Id="rId7" Type="http://schemas.openxmlformats.org/officeDocument/2006/relationships/image" Target="../media/image52.jpg"/><Relationship Id="rId12" Type="http://schemas.openxmlformats.org/officeDocument/2006/relationships/oleObject" Target="../embeddings/oleObject37.bin"/><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51.wmf"/><Relationship Id="rId11" Type="http://schemas.openxmlformats.org/officeDocument/2006/relationships/image" Target="../media/image53.wmf"/><Relationship Id="rId5" Type="http://schemas.openxmlformats.org/officeDocument/2006/relationships/oleObject" Target="../embeddings/oleObject35.bin"/><Relationship Id="rId10" Type="http://schemas.openxmlformats.org/officeDocument/2006/relationships/oleObject" Target="../embeddings/oleObject36.bin"/><Relationship Id="rId4" Type="http://schemas.openxmlformats.org/officeDocument/2006/relationships/image" Target="../media/image50.wmf"/><Relationship Id="rId9" Type="http://schemas.openxmlformats.org/officeDocument/2006/relationships/image" Target="../media/image42.wmf"/></Relationships>
</file>

<file path=ppt/slides/_rels/slide21.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34.bin"/><Relationship Id="rId1" Type="http://schemas.openxmlformats.org/officeDocument/2006/relationships/slideLayout" Target="../slideLayouts/slideLayout8.xml"/><Relationship Id="rId6" Type="http://schemas.openxmlformats.org/officeDocument/2006/relationships/image" Target="../media/image56.wmf"/><Relationship Id="rId5" Type="http://schemas.openxmlformats.org/officeDocument/2006/relationships/oleObject" Target="../embeddings/oleObject38.bin"/><Relationship Id="rId4" Type="http://schemas.openxmlformats.org/officeDocument/2006/relationships/image" Target="../media/image5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5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12" name="Picture 11">
            <a:extLst>
              <a:ext uri="{FF2B5EF4-FFF2-40B4-BE49-F238E27FC236}">
                <a16:creationId xmlns:a16="http://schemas.microsoft.com/office/drawing/2014/main" id="{42D257CC-0C28-71A3-2065-767CAFB1F7FF}"/>
              </a:ext>
            </a:extLst>
          </p:cNvPr>
          <p:cNvPicPr>
            <a:picLocks noChangeAspect="1"/>
          </p:cNvPicPr>
          <p:nvPr/>
        </p:nvPicPr>
        <p:blipFill>
          <a:blip r:embed="rId3"/>
          <a:stretch>
            <a:fillRect/>
          </a:stretch>
        </p:blipFill>
        <p:spPr>
          <a:xfrm>
            <a:off x="429105" y="1769717"/>
            <a:ext cx="3427532" cy="4284034"/>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4 – Part 8</a:t>
            </a:r>
            <a:endParaRPr lang="en-US" noProof="0" dirty="0"/>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545534"/>
            <a:ext cx="3883715" cy="374906"/>
          </a:xfrm>
        </p:spPr>
        <p:txBody>
          <a:bodyPr wrap="square" lIns="0" tIns="18000" rIns="0" bIns="18000" anchor="ctr">
            <a:spAutoFit/>
          </a:bodyPr>
          <a:lstStyle/>
          <a:p>
            <a:pPr indent="-101600"/>
            <a:r>
              <a:rPr lang="en-US" noProof="0" dirty="0"/>
              <a:t>Techniques of Circuit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613804" y="6455210"/>
            <a:ext cx="6056085"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7254"/>
            <a:ext cx="8229600" cy="1144347"/>
          </a:xfrm>
        </p:spPr>
        <p:txBody>
          <a:bodyPr/>
          <a:lstStyle/>
          <a:p>
            <a:r>
              <a:rPr lang="en-US" noProof="0" dirty="0"/>
              <a:t>Chapter 4 – techniques of circuit analysis </a:t>
            </a:r>
            <a:r>
              <a:rPr lang="en-US" sz="2800" noProof="0" dirty="0"/>
              <a:t>(1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99222"/>
            <a:ext cx="8232775" cy="1036625"/>
          </a:xfrm>
        </p:spPr>
        <p:txBody>
          <a:bodyPr wrap="square" lIns="0" tIns="18000" rIns="0" bIns="18000" anchor="ctr">
            <a:spAutoFit/>
          </a:bodyPr>
          <a:lstStyle/>
          <a:p>
            <a:pPr marL="0" indent="0">
              <a:spcBef>
                <a:spcPts val="600"/>
              </a:spcBef>
              <a:buNone/>
            </a:pPr>
            <a:r>
              <a:rPr lang="en-US" sz="2000" noProof="0" dirty="0"/>
              <a:t>Condition for maximum power transfer</a:t>
            </a:r>
          </a:p>
          <a:p>
            <a:pPr marL="486918" lvl="1" indent="0">
              <a:buNone/>
            </a:pPr>
            <a:r>
              <a:rPr lang="en-US" sz="2000" noProof="0" dirty="0"/>
              <a:t>Suppose we can vary the load resistance. For what value of load resistance will maximum power be absorbed by the load?</a:t>
            </a:r>
          </a:p>
        </p:txBody>
      </p:sp>
      <p:graphicFrame>
        <p:nvGraphicFramePr>
          <p:cNvPr id="49" name="Object 48" descr="p subscript L BaseLine equals i squared R subscript L BaseLine; i equals Start Fraction V subscript T h BaseLine over R subscript T h BaseLine plus R subscript L BaseLine End Fraction.">
            <a:extLst>
              <a:ext uri="{FF2B5EF4-FFF2-40B4-BE49-F238E27FC236}">
                <a16:creationId xmlns:a16="http://schemas.microsoft.com/office/drawing/2014/main" id="{9FEBC1C3-7CE1-D566-957A-AD8E46A8AA01}"/>
              </a:ext>
            </a:extLst>
          </p:cNvPr>
          <p:cNvGraphicFramePr>
            <a:graphicFrameLocks noChangeAspect="1"/>
          </p:cNvGraphicFramePr>
          <p:nvPr>
            <p:extLst>
              <p:ext uri="{D42A27DB-BD31-4B8C-83A1-F6EECF244321}">
                <p14:modId xmlns:p14="http://schemas.microsoft.com/office/powerpoint/2010/main" val="315275886"/>
              </p:ext>
            </p:extLst>
          </p:nvPr>
        </p:nvGraphicFramePr>
        <p:xfrm>
          <a:off x="464089" y="2631947"/>
          <a:ext cx="2076972" cy="527262"/>
        </p:xfrm>
        <a:graphic>
          <a:graphicData uri="http://schemas.openxmlformats.org/presentationml/2006/ole">
            <mc:AlternateContent xmlns:mc="http://schemas.openxmlformats.org/markup-compatibility/2006">
              <mc:Choice xmlns:v="urn:schemas-microsoft-com:vml" Requires="v">
                <p:oleObj name="Equation" r:id="rId3" imgW="1752480" imgH="444240" progId="Equation.DSMT4">
                  <p:embed/>
                </p:oleObj>
              </mc:Choice>
              <mc:Fallback>
                <p:oleObj name="Equation" r:id="rId3" imgW="1752480" imgH="444240" progId="Equation.DSMT4">
                  <p:embed/>
                  <p:pic>
                    <p:nvPicPr>
                      <p:cNvPr id="25" name="Object 24">
                        <a:extLst>
                          <a:ext uri="{FF2B5EF4-FFF2-40B4-BE49-F238E27FC236}">
                            <a16:creationId xmlns:a16="http://schemas.microsoft.com/office/drawing/2014/main" id="{03F5BD88-07A2-DDD3-AA07-A4B5FB897039}"/>
                          </a:ext>
                        </a:extLst>
                      </p:cNvPr>
                      <p:cNvPicPr>
                        <a:picLocks noChangeAspect="1" noChangeArrowheads="1"/>
                      </p:cNvPicPr>
                      <p:nvPr/>
                    </p:nvPicPr>
                    <p:blipFill>
                      <a:blip r:embed="rId4"/>
                      <a:srcRect/>
                      <a:stretch>
                        <a:fillRect/>
                      </a:stretch>
                    </p:blipFill>
                    <p:spPr bwMode="auto">
                      <a:xfrm>
                        <a:off x="464089" y="2631947"/>
                        <a:ext cx="2076972" cy="527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49" descr="Therefore p subscript L BaseLine equals Start Fraction R subscript L BaseLine V subscript T h BaseLine squared over Open Parenthesis R subscript T h BaseLine plus R subscript L BaseLine Close Parenthesis squared End Fraction.">
            <a:extLst>
              <a:ext uri="{FF2B5EF4-FFF2-40B4-BE49-F238E27FC236}">
                <a16:creationId xmlns:a16="http://schemas.microsoft.com/office/drawing/2014/main" id="{222B77D1-D861-C8F0-0A83-18F8519EE40D}"/>
              </a:ext>
            </a:extLst>
          </p:cNvPr>
          <p:cNvGraphicFramePr>
            <a:graphicFrameLocks noChangeAspect="1"/>
          </p:cNvGraphicFramePr>
          <p:nvPr>
            <p:extLst>
              <p:ext uri="{D42A27DB-BD31-4B8C-83A1-F6EECF244321}">
                <p14:modId xmlns:p14="http://schemas.microsoft.com/office/powerpoint/2010/main" val="1256860886"/>
              </p:ext>
            </p:extLst>
          </p:nvPr>
        </p:nvGraphicFramePr>
        <p:xfrm>
          <a:off x="458364" y="3218545"/>
          <a:ext cx="1845292" cy="559049"/>
        </p:xfrm>
        <a:graphic>
          <a:graphicData uri="http://schemas.openxmlformats.org/presentationml/2006/ole">
            <mc:AlternateContent xmlns:mc="http://schemas.openxmlformats.org/markup-compatibility/2006">
              <mc:Choice xmlns:v="urn:schemas-microsoft-com:vml" Requires="v">
                <p:oleObj name="Equation" r:id="rId5" imgW="1511280" imgH="457200" progId="Equation.DSMT4">
                  <p:embed/>
                </p:oleObj>
              </mc:Choice>
              <mc:Fallback>
                <p:oleObj name="Equation" r:id="rId5" imgW="1511280" imgH="457200" progId="Equation.DSMT4">
                  <p:embed/>
                  <p:pic>
                    <p:nvPicPr>
                      <p:cNvPr id="26" name="Object 25">
                        <a:extLst>
                          <a:ext uri="{FF2B5EF4-FFF2-40B4-BE49-F238E27FC236}">
                            <a16:creationId xmlns:a16="http://schemas.microsoft.com/office/drawing/2014/main" id="{97632482-51EA-73B0-AEC9-F30092459BC7}"/>
                          </a:ext>
                        </a:extLst>
                      </p:cNvPr>
                      <p:cNvPicPr>
                        <a:picLocks noChangeAspect="1" noChangeArrowheads="1"/>
                      </p:cNvPicPr>
                      <p:nvPr/>
                    </p:nvPicPr>
                    <p:blipFill>
                      <a:blip r:embed="rId6"/>
                      <a:srcRect/>
                      <a:stretch>
                        <a:fillRect/>
                      </a:stretch>
                    </p:blipFill>
                    <p:spPr bwMode="auto">
                      <a:xfrm>
                        <a:off x="458364" y="3218545"/>
                        <a:ext cx="1845292" cy="5590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5" y="3842130"/>
            <a:ext cx="1865505" cy="344128"/>
          </a:xfrm>
        </p:spPr>
        <p:txBody>
          <a:bodyPr wrap="square" lIns="0" tIns="18000" rIns="0" bIns="18000" anchor="ctr">
            <a:spAutoFit/>
          </a:bodyPr>
          <a:lstStyle/>
          <a:p>
            <a:pPr marL="0" indent="0">
              <a:spcBef>
                <a:spcPts val="600"/>
              </a:spcBef>
              <a:buNone/>
            </a:pPr>
            <a:r>
              <a:rPr lang="en-US" sz="2000" noProof="0" dirty="0"/>
              <a:t>For max. power,</a:t>
            </a:r>
          </a:p>
        </p:txBody>
      </p:sp>
      <p:graphicFrame>
        <p:nvGraphicFramePr>
          <p:cNvPr id="51" name="Object 50" descr="Start Fraction d p subscript L BaseLine over d R subscript L BaseLine End Fraction equals 0.">
            <a:extLst>
              <a:ext uri="{FF2B5EF4-FFF2-40B4-BE49-F238E27FC236}">
                <a16:creationId xmlns:a16="http://schemas.microsoft.com/office/drawing/2014/main" id="{2A3EAAD7-185B-401C-C9FF-2B169D70EAE3}"/>
              </a:ext>
            </a:extLst>
          </p:cNvPr>
          <p:cNvGraphicFramePr>
            <a:graphicFrameLocks noChangeAspect="1"/>
          </p:cNvGraphicFramePr>
          <p:nvPr>
            <p:extLst>
              <p:ext uri="{D42A27DB-BD31-4B8C-83A1-F6EECF244321}">
                <p14:modId xmlns:p14="http://schemas.microsoft.com/office/powerpoint/2010/main" val="1884974844"/>
              </p:ext>
            </p:extLst>
          </p:nvPr>
        </p:nvGraphicFramePr>
        <p:xfrm>
          <a:off x="2362785" y="3822135"/>
          <a:ext cx="579028" cy="481819"/>
        </p:xfrm>
        <a:graphic>
          <a:graphicData uri="http://schemas.openxmlformats.org/presentationml/2006/ole">
            <mc:AlternateContent xmlns:mc="http://schemas.openxmlformats.org/markup-compatibility/2006">
              <mc:Choice xmlns:v="urn:schemas-microsoft-com:vml" Requires="v">
                <p:oleObj name="Equation" r:id="rId7" imgW="533160" imgH="444240" progId="Equation.DSMT4">
                  <p:embed/>
                </p:oleObj>
              </mc:Choice>
              <mc:Fallback>
                <p:oleObj name="Equation" r:id="rId7" imgW="533160" imgH="444240" progId="Equation.DSMT4">
                  <p:embed/>
                  <p:pic>
                    <p:nvPicPr>
                      <p:cNvPr id="16" name="Object 15">
                        <a:extLst>
                          <a:ext uri="{FF2B5EF4-FFF2-40B4-BE49-F238E27FC236}">
                            <a16:creationId xmlns:a16="http://schemas.microsoft.com/office/drawing/2014/main" id="{77EF9C44-F7D4-4960-8A1B-840A1CEFF010}"/>
                          </a:ext>
                        </a:extLst>
                      </p:cNvPr>
                      <p:cNvPicPr>
                        <a:picLocks noChangeAspect="1" noChangeArrowheads="1"/>
                      </p:cNvPicPr>
                      <p:nvPr/>
                    </p:nvPicPr>
                    <p:blipFill>
                      <a:blip r:embed="rId8"/>
                      <a:srcRect/>
                      <a:stretch>
                        <a:fillRect/>
                      </a:stretch>
                    </p:blipFill>
                    <p:spPr bwMode="auto">
                      <a:xfrm>
                        <a:off x="2362785" y="3822135"/>
                        <a:ext cx="579028" cy="481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51" descr="The figure illustrates an equation for Start Fraction d p subscript L BaseLine over d R subscript L BaseLine End Fraction.&#10;Long description 1 is available in notes, press F6.">
            <a:extLst>
              <a:ext uri="{FF2B5EF4-FFF2-40B4-BE49-F238E27FC236}">
                <a16:creationId xmlns:a16="http://schemas.microsoft.com/office/drawing/2014/main" id="{38DA678B-DCE7-7EAF-86C9-86B2029522B2}"/>
              </a:ext>
            </a:extLst>
          </p:cNvPr>
          <p:cNvGraphicFramePr>
            <a:graphicFrameLocks noChangeAspect="1"/>
          </p:cNvGraphicFramePr>
          <p:nvPr>
            <p:extLst>
              <p:ext uri="{D42A27DB-BD31-4B8C-83A1-F6EECF244321}">
                <p14:modId xmlns:p14="http://schemas.microsoft.com/office/powerpoint/2010/main" val="4210984238"/>
              </p:ext>
            </p:extLst>
          </p:nvPr>
        </p:nvGraphicFramePr>
        <p:xfrm>
          <a:off x="462403" y="4387321"/>
          <a:ext cx="2542306" cy="559049"/>
        </p:xfrm>
        <a:graphic>
          <a:graphicData uri="http://schemas.openxmlformats.org/presentationml/2006/ole">
            <mc:AlternateContent xmlns:mc="http://schemas.openxmlformats.org/markup-compatibility/2006">
              <mc:Choice xmlns:v="urn:schemas-microsoft-com:vml" Requires="v">
                <p:oleObj name="Equation" r:id="rId9" imgW="2082600" imgH="457200" progId="Equation.DSMT4">
                  <p:embed/>
                </p:oleObj>
              </mc:Choice>
              <mc:Fallback>
                <p:oleObj name="Equation" r:id="rId9" imgW="2082600" imgH="457200" progId="Equation.DSMT4">
                  <p:embed/>
                  <p:pic>
                    <p:nvPicPr>
                      <p:cNvPr id="27" name="Object 26">
                        <a:extLst>
                          <a:ext uri="{FF2B5EF4-FFF2-40B4-BE49-F238E27FC236}">
                            <a16:creationId xmlns:a16="http://schemas.microsoft.com/office/drawing/2014/main" id="{2916AF43-E3C7-2E38-6E6C-80D02FDE651B}"/>
                          </a:ext>
                        </a:extLst>
                      </p:cNvPr>
                      <p:cNvPicPr>
                        <a:picLocks noChangeAspect="1" noChangeArrowheads="1"/>
                      </p:cNvPicPr>
                      <p:nvPr/>
                    </p:nvPicPr>
                    <p:blipFill>
                      <a:blip r:embed="rId10"/>
                      <a:srcRect/>
                      <a:stretch>
                        <a:fillRect/>
                      </a:stretch>
                    </p:blipFill>
                    <p:spPr bwMode="auto">
                      <a:xfrm>
                        <a:off x="462403" y="4387321"/>
                        <a:ext cx="2542306" cy="5590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 name="Object 52" descr="The figure illustrates the equation with the terms V subscript T h BaseLine, R subscript T h BaseLine, and R V subscript L. &#10;Long description 2 is available in notes, press F6.">
            <a:extLst>
              <a:ext uri="{FF2B5EF4-FFF2-40B4-BE49-F238E27FC236}">
                <a16:creationId xmlns:a16="http://schemas.microsoft.com/office/drawing/2014/main" id="{8223DCA1-40CB-3AD6-F35A-D53DEF9476A9}"/>
              </a:ext>
            </a:extLst>
          </p:cNvPr>
          <p:cNvGraphicFramePr>
            <a:graphicFrameLocks noChangeAspect="1"/>
          </p:cNvGraphicFramePr>
          <p:nvPr>
            <p:extLst>
              <p:ext uri="{D42A27DB-BD31-4B8C-83A1-F6EECF244321}">
                <p14:modId xmlns:p14="http://schemas.microsoft.com/office/powerpoint/2010/main" val="455278044"/>
              </p:ext>
            </p:extLst>
          </p:nvPr>
        </p:nvGraphicFramePr>
        <p:xfrm>
          <a:off x="463700" y="5005630"/>
          <a:ext cx="2662078" cy="564639"/>
        </p:xfrm>
        <a:graphic>
          <a:graphicData uri="http://schemas.openxmlformats.org/presentationml/2006/ole">
            <mc:AlternateContent xmlns:mc="http://schemas.openxmlformats.org/markup-compatibility/2006">
              <mc:Choice xmlns:v="urn:schemas-microsoft-com:vml" Requires="v">
                <p:oleObj name="Equation" r:id="rId11" imgW="2158920" imgH="457200" progId="Equation.DSMT4">
                  <p:embed/>
                </p:oleObj>
              </mc:Choice>
              <mc:Fallback>
                <p:oleObj name="Equation" r:id="rId11" imgW="2158920" imgH="457200" progId="Equation.DSMT4">
                  <p:embed/>
                  <p:pic>
                    <p:nvPicPr>
                      <p:cNvPr id="28" name="Object 27">
                        <a:extLst>
                          <a:ext uri="{FF2B5EF4-FFF2-40B4-BE49-F238E27FC236}">
                            <a16:creationId xmlns:a16="http://schemas.microsoft.com/office/drawing/2014/main" id="{F5FC5AEE-6524-2550-720F-8DD4AD8CFCDB}"/>
                          </a:ext>
                        </a:extLst>
                      </p:cNvPr>
                      <p:cNvPicPr>
                        <a:picLocks noChangeAspect="1" noChangeArrowheads="1"/>
                      </p:cNvPicPr>
                      <p:nvPr/>
                    </p:nvPicPr>
                    <p:blipFill>
                      <a:blip r:embed="rId12"/>
                      <a:srcRect/>
                      <a:stretch>
                        <a:fillRect/>
                      </a:stretch>
                    </p:blipFill>
                    <p:spPr bwMode="auto">
                      <a:xfrm>
                        <a:off x="463700" y="5005630"/>
                        <a:ext cx="2662078" cy="5646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53" descr="Forward arrow, V subscript T h BaseLine squared Open Parenthesis R subscript T h BaseLine plus R subscript L BaseLine Close Parenthesis minus 2 R subscript L BaseLine V subscript T h BaseLine squared equals 0.">
            <a:extLst>
              <a:ext uri="{FF2B5EF4-FFF2-40B4-BE49-F238E27FC236}">
                <a16:creationId xmlns:a16="http://schemas.microsoft.com/office/drawing/2014/main" id="{3D25BD79-4030-B75C-3BDC-E868880A54FC}"/>
              </a:ext>
            </a:extLst>
          </p:cNvPr>
          <p:cNvGraphicFramePr>
            <a:graphicFrameLocks noChangeAspect="1"/>
          </p:cNvGraphicFramePr>
          <p:nvPr>
            <p:extLst>
              <p:ext uri="{D42A27DB-BD31-4B8C-83A1-F6EECF244321}">
                <p14:modId xmlns:p14="http://schemas.microsoft.com/office/powerpoint/2010/main" val="4088475062"/>
              </p:ext>
            </p:extLst>
          </p:nvPr>
        </p:nvGraphicFramePr>
        <p:xfrm>
          <a:off x="482238" y="5639493"/>
          <a:ext cx="2694012" cy="297561"/>
        </p:xfrm>
        <a:graphic>
          <a:graphicData uri="http://schemas.openxmlformats.org/presentationml/2006/ole">
            <mc:AlternateContent xmlns:mc="http://schemas.openxmlformats.org/markup-compatibility/2006">
              <mc:Choice xmlns:v="urn:schemas-microsoft-com:vml" Requires="v">
                <p:oleObj name="Equation" r:id="rId13" imgW="2184120" imgH="241200" progId="Equation.DSMT4">
                  <p:embed/>
                </p:oleObj>
              </mc:Choice>
              <mc:Fallback>
                <p:oleObj name="Equation" r:id="rId13" imgW="2184120" imgH="241200" progId="Equation.DSMT4">
                  <p:embed/>
                  <p:pic>
                    <p:nvPicPr>
                      <p:cNvPr id="29" name="Object 28">
                        <a:extLst>
                          <a:ext uri="{FF2B5EF4-FFF2-40B4-BE49-F238E27FC236}">
                            <a16:creationId xmlns:a16="http://schemas.microsoft.com/office/drawing/2014/main" id="{FB9C8958-A96C-833F-9136-72426130943F}"/>
                          </a:ext>
                        </a:extLst>
                      </p:cNvPr>
                      <p:cNvPicPr>
                        <a:picLocks noChangeAspect="1" noChangeArrowheads="1"/>
                      </p:cNvPicPr>
                      <p:nvPr/>
                    </p:nvPicPr>
                    <p:blipFill>
                      <a:blip r:embed="rId14"/>
                      <a:srcRect/>
                      <a:stretch>
                        <a:fillRect/>
                      </a:stretch>
                    </p:blipFill>
                    <p:spPr bwMode="auto">
                      <a:xfrm>
                        <a:off x="482238" y="5639493"/>
                        <a:ext cx="2694012" cy="2975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54" descr="Forward arrow, Open Parenthesis R subscript T h BaseLine plus R subscript L BaseLine Close Parenthesis equals 2 R subscript L BaseLine. Therefore, R subscript L BaseLine equals R subscript T h Baseline.">
            <a:extLst>
              <a:ext uri="{FF2B5EF4-FFF2-40B4-BE49-F238E27FC236}">
                <a16:creationId xmlns:a16="http://schemas.microsoft.com/office/drawing/2014/main" id="{FE60D94F-CB5E-1217-A561-326C7BC47F22}"/>
              </a:ext>
            </a:extLst>
          </p:cNvPr>
          <p:cNvGraphicFramePr>
            <a:graphicFrameLocks noChangeAspect="1"/>
          </p:cNvGraphicFramePr>
          <p:nvPr>
            <p:extLst>
              <p:ext uri="{D42A27DB-BD31-4B8C-83A1-F6EECF244321}">
                <p14:modId xmlns:p14="http://schemas.microsoft.com/office/powerpoint/2010/main" val="2833337622"/>
              </p:ext>
            </p:extLst>
          </p:nvPr>
        </p:nvGraphicFramePr>
        <p:xfrm>
          <a:off x="475357" y="5983120"/>
          <a:ext cx="3554759" cy="281594"/>
        </p:xfrm>
        <a:graphic>
          <a:graphicData uri="http://schemas.openxmlformats.org/presentationml/2006/ole">
            <mc:AlternateContent xmlns:mc="http://schemas.openxmlformats.org/markup-compatibility/2006">
              <mc:Choice xmlns:v="urn:schemas-microsoft-com:vml" Requires="v">
                <p:oleObj name="Equation" r:id="rId15" imgW="2882880" imgH="228600" progId="Equation.DSMT4">
                  <p:embed/>
                </p:oleObj>
              </mc:Choice>
              <mc:Fallback>
                <p:oleObj name="Equation" r:id="rId15" imgW="2882880" imgH="228600" progId="Equation.DSMT4">
                  <p:embed/>
                  <p:pic>
                    <p:nvPicPr>
                      <p:cNvPr id="30" name="Object 29">
                        <a:extLst>
                          <a:ext uri="{FF2B5EF4-FFF2-40B4-BE49-F238E27FC236}">
                            <a16:creationId xmlns:a16="http://schemas.microsoft.com/office/drawing/2014/main" id="{BE4CC501-D6AA-FAE3-2EED-5A3CF72E17B7}"/>
                          </a:ext>
                        </a:extLst>
                      </p:cNvPr>
                      <p:cNvPicPr>
                        <a:picLocks noChangeAspect="1" noChangeArrowheads="1"/>
                      </p:cNvPicPr>
                      <p:nvPr/>
                    </p:nvPicPr>
                    <p:blipFill>
                      <a:blip r:embed="rId16"/>
                      <a:srcRect/>
                      <a:stretch>
                        <a:fillRect/>
                      </a:stretch>
                    </p:blipFill>
                    <p:spPr bwMode="auto">
                      <a:xfrm>
                        <a:off x="475357" y="5983120"/>
                        <a:ext cx="3554759" cy="281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6" name="Picture 55" descr="A square block shows a circuit diagram with an independent voltage source V subscript Th with positive polarity at the top and negative at the bottom as the left wire in the circuit. The top wire of the circuit houses resistor R subscript Th. The top and bottom wires have points a and b respectively located on them inside the block. The right wire of the circuit contains a variable resistor R subscript L outside the block with current I flowing downwards through it.">
            <a:extLst>
              <a:ext uri="{FF2B5EF4-FFF2-40B4-BE49-F238E27FC236}">
                <a16:creationId xmlns:a16="http://schemas.microsoft.com/office/drawing/2014/main" id="{2A2D9492-36AF-E39D-6743-CCA2D5358586}"/>
              </a:ext>
            </a:extLst>
          </p:cNvPr>
          <p:cNvPicPr>
            <a:picLocks noChangeAspect="1" noChangeArrowheads="1"/>
          </p:cNvPicPr>
          <p:nvPr/>
        </p:nvPicPr>
        <p:blipFill>
          <a:blip r:embed="rId17"/>
          <a:stretch>
            <a:fillRect/>
          </a:stretch>
        </p:blipFill>
        <p:spPr bwMode="auto">
          <a:xfrm>
            <a:off x="4928741" y="2695559"/>
            <a:ext cx="3247203" cy="1931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423549" y="4757395"/>
            <a:ext cx="2503663" cy="1575234"/>
          </a:xfrm>
        </p:spPr>
        <p:txBody>
          <a:bodyPr wrap="square" lIns="0" tIns="18000" rIns="0" bIns="18000" anchor="ctr">
            <a:spAutoFit/>
          </a:bodyPr>
          <a:lstStyle/>
          <a:p>
            <a:pPr marL="0" indent="0">
              <a:spcBef>
                <a:spcPts val="600"/>
              </a:spcBef>
              <a:buNone/>
            </a:pPr>
            <a:r>
              <a:rPr lang="en-US" sz="2000" noProof="0" dirty="0"/>
              <a:t>Represents the Thevenin equivalent of an arbitrary subcircuit that will not change</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7071849" y="4757190"/>
            <a:ext cx="1580442" cy="651905"/>
          </a:xfrm>
        </p:spPr>
        <p:txBody>
          <a:bodyPr wrap="square" lIns="0" tIns="18000" rIns="0" bIns="18000" anchor="ctr">
            <a:spAutoFit/>
          </a:bodyPr>
          <a:lstStyle/>
          <a:p>
            <a:pPr marL="0" indent="0">
              <a:spcBef>
                <a:spcPts val="600"/>
              </a:spcBef>
              <a:buNone/>
            </a:pPr>
            <a:r>
              <a:rPr lang="en-US" sz="2000" noProof="0" dirty="0"/>
              <a:t>Represents a variable load</a:t>
            </a:r>
          </a:p>
        </p:txBody>
      </p:sp>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40"/>
            <a:ext cx="8229600" cy="1144347"/>
          </a:xfrm>
        </p:spPr>
        <p:txBody>
          <a:bodyPr/>
          <a:lstStyle/>
          <a:p>
            <a:r>
              <a:rPr lang="en-US" noProof="0" dirty="0"/>
              <a:t>Chapter 4 – techniques of circuit analysis </a:t>
            </a:r>
            <a:r>
              <a:rPr lang="en-US" sz="2800" noProof="0" dirty="0"/>
              <a:t>(2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3980"/>
            <a:ext cx="8229600" cy="1144347"/>
          </a:xfrm>
        </p:spPr>
        <p:txBody>
          <a:bodyPr wrap="square" lIns="0" tIns="18000" rIns="0" bIns="18000" anchor="ctr">
            <a:spAutoFit/>
          </a:bodyPr>
          <a:lstStyle/>
          <a:p>
            <a:pPr marL="0" indent="0">
              <a:spcBef>
                <a:spcPts val="600"/>
              </a:spcBef>
              <a:buNone/>
            </a:pPr>
            <a:r>
              <a:rPr lang="en-US" sz="2400" noProof="0" dirty="0"/>
              <a:t>In the circuit below, the load resistor is matched to the Thevenin resistance – how much voltage drops across the load resistor?</a:t>
            </a:r>
          </a:p>
        </p:txBody>
      </p:sp>
      <p:pic>
        <p:nvPicPr>
          <p:cNvPr id="47" name="Picture 46" descr="A square block shows a circuit diagram with a 20 volt independent voltage source with positive polarity at the top and negative at the bottom as the left wire in the circuit. The top wire of the circuit houses a 10 ohms resistor. The top and bottom wires have points a and b respectively located on them inside the block. The right wire of the circuit contains a 10 ohms resistor outside the block. Voltage V subscript L with positive polarity at top and negative at bottom develops across the 10 ohms resistor in the right wire.">
            <a:extLst>
              <a:ext uri="{FF2B5EF4-FFF2-40B4-BE49-F238E27FC236}">
                <a16:creationId xmlns:a16="http://schemas.microsoft.com/office/drawing/2014/main" id="{87D75E57-3DFB-AF64-A3F2-04B772D7BC8D}"/>
              </a:ext>
            </a:extLst>
          </p:cNvPr>
          <p:cNvPicPr>
            <a:picLocks noChangeAspect="1"/>
          </p:cNvPicPr>
          <p:nvPr/>
        </p:nvPicPr>
        <p:blipFill>
          <a:blip r:embed="rId2"/>
          <a:stretch>
            <a:fillRect/>
          </a:stretch>
        </p:blipFill>
        <p:spPr>
          <a:xfrm>
            <a:off x="2967025" y="2681960"/>
            <a:ext cx="3209951" cy="1642593"/>
          </a:xfrm>
          <a:prstGeom prst="rect">
            <a:avLst/>
          </a:prstGeom>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714857" y="4406564"/>
            <a:ext cx="1071476"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20 V</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706232" y="4867724"/>
            <a:ext cx="1080101"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10 V</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697607" y="5337504"/>
            <a:ext cx="916198"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5 V</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697606" y="5790110"/>
            <a:ext cx="1080101"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r>
              <a:rPr lang="en-US" sz="2400" noProof="0" dirty="0"/>
              <a:t> 40 V</a:t>
            </a:r>
          </a:p>
        </p:txBody>
      </p:sp>
    </p:spTree>
    <p:extLst>
      <p:ext uri="{BB962C8B-B14F-4D97-AF65-F5344CB8AC3E}">
        <p14:creationId xmlns:p14="http://schemas.microsoft.com/office/powerpoint/2010/main" val="2129179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3CAB6-71CB-31C5-4599-181B2A9361A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D836AD4-FD95-B0D5-ECE2-F60F70459BCC}"/>
              </a:ext>
            </a:extLst>
          </p:cNvPr>
          <p:cNvSpPr>
            <a:spLocks noGrp="1"/>
          </p:cNvSpPr>
          <p:nvPr>
            <p:ph type="title"/>
          </p:nvPr>
        </p:nvSpPr>
        <p:spPr>
          <a:xfrm>
            <a:off x="438150" y="196740"/>
            <a:ext cx="8229600" cy="1144347"/>
          </a:xfrm>
        </p:spPr>
        <p:txBody>
          <a:bodyPr/>
          <a:lstStyle/>
          <a:p>
            <a:r>
              <a:rPr lang="en-US" noProof="0" dirty="0"/>
              <a:t>Chapter 4 – techniques of circuit analysis </a:t>
            </a:r>
            <a:r>
              <a:rPr lang="en-US" sz="2800" noProof="0" dirty="0"/>
              <a:t>(2 of 16)</a:t>
            </a:r>
            <a:endParaRPr lang="en-US" noProof="0" dirty="0"/>
          </a:p>
        </p:txBody>
      </p:sp>
      <p:sp>
        <p:nvSpPr>
          <p:cNvPr id="7" name="Content Placeholder 6">
            <a:extLst>
              <a:ext uri="{FF2B5EF4-FFF2-40B4-BE49-F238E27FC236}">
                <a16:creationId xmlns:a16="http://schemas.microsoft.com/office/drawing/2014/main" id="{F14D7F53-3D6F-7193-4172-650B556E7CFC}"/>
              </a:ext>
            </a:extLst>
          </p:cNvPr>
          <p:cNvSpPr>
            <a:spLocks noGrp="1"/>
          </p:cNvSpPr>
          <p:nvPr>
            <p:ph sz="quarter" idx="12"/>
          </p:nvPr>
        </p:nvSpPr>
        <p:spPr>
          <a:xfrm>
            <a:off x="438150" y="1453980"/>
            <a:ext cx="8229600" cy="1144347"/>
          </a:xfrm>
        </p:spPr>
        <p:txBody>
          <a:bodyPr wrap="square" lIns="0" tIns="18000" rIns="0" bIns="18000" anchor="ctr">
            <a:spAutoFit/>
          </a:bodyPr>
          <a:lstStyle/>
          <a:p>
            <a:pPr marL="0" indent="0">
              <a:spcBef>
                <a:spcPts val="600"/>
              </a:spcBef>
              <a:buNone/>
            </a:pPr>
            <a:r>
              <a:rPr lang="en-US" sz="2400" noProof="0" dirty="0"/>
              <a:t>In the circuit below, the load resistor is matched to the Thevenin resistance – how much voltage drops across the load resistor?</a:t>
            </a:r>
          </a:p>
        </p:txBody>
      </p:sp>
      <p:pic>
        <p:nvPicPr>
          <p:cNvPr id="47" name="Picture 46" descr="A square block shows a circuit diagram with a 20 volt independent voltage source with positive polarity at the top and negative at the bottom as the left wire in the circuit. The top wire of the circuit houses a 10 ohms resistor. The top and bottom wires have points a and b respectively located on them inside the block. The right wire of the circuit contains a 10 ohms resistor outside the block. Voltage V subscript L with positive polarity at top and negative at bottom develops across the 10 ohms resistor in the right wire.">
            <a:extLst>
              <a:ext uri="{FF2B5EF4-FFF2-40B4-BE49-F238E27FC236}">
                <a16:creationId xmlns:a16="http://schemas.microsoft.com/office/drawing/2014/main" id="{421E75A2-1BA4-25EA-6323-6490B6AEC506}"/>
              </a:ext>
            </a:extLst>
          </p:cNvPr>
          <p:cNvPicPr>
            <a:picLocks noChangeAspect="1"/>
          </p:cNvPicPr>
          <p:nvPr/>
        </p:nvPicPr>
        <p:blipFill>
          <a:blip r:embed="rId2"/>
          <a:stretch>
            <a:fillRect/>
          </a:stretch>
        </p:blipFill>
        <p:spPr>
          <a:xfrm>
            <a:off x="2967025" y="2681960"/>
            <a:ext cx="3209951" cy="1642593"/>
          </a:xfrm>
          <a:prstGeom prst="rect">
            <a:avLst/>
          </a:prstGeom>
        </p:spPr>
      </p:pic>
      <p:pic>
        <p:nvPicPr>
          <p:cNvPr id="48" name="Picture 47" descr="cross mark.">
            <a:extLst>
              <a:ext uri="{FF2B5EF4-FFF2-40B4-BE49-F238E27FC236}">
                <a16:creationId xmlns:a16="http://schemas.microsoft.com/office/drawing/2014/main" id="{931DFFD4-092D-D403-EB91-CAD9CACE4D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1963" y="448791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442022F-5DF4-838E-DE74-AD453F95FA8C}"/>
              </a:ext>
            </a:extLst>
          </p:cNvPr>
          <p:cNvSpPr>
            <a:spLocks noGrp="1"/>
          </p:cNvSpPr>
          <p:nvPr>
            <p:ph sz="quarter" idx="13"/>
          </p:nvPr>
        </p:nvSpPr>
        <p:spPr>
          <a:xfrm>
            <a:off x="1714857" y="4406564"/>
            <a:ext cx="1071476"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20 V</a:t>
            </a:r>
          </a:p>
        </p:txBody>
      </p:sp>
      <p:pic>
        <p:nvPicPr>
          <p:cNvPr id="49" name="Picture 2" descr=" tick mark.">
            <a:extLst>
              <a:ext uri="{FF2B5EF4-FFF2-40B4-BE49-F238E27FC236}">
                <a16:creationId xmlns:a16="http://schemas.microsoft.com/office/drawing/2014/main" id="{DE1EDF85-D84E-46F5-C953-9EF22275DAD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6143" y="4977438"/>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E99AE6A3-6632-52F0-3256-0C4D0CCFBC10}"/>
              </a:ext>
            </a:extLst>
          </p:cNvPr>
          <p:cNvSpPr>
            <a:spLocks noGrp="1"/>
          </p:cNvSpPr>
          <p:nvPr>
            <p:ph sz="quarter" idx="14"/>
          </p:nvPr>
        </p:nvSpPr>
        <p:spPr>
          <a:xfrm>
            <a:off x="1706232" y="4867724"/>
            <a:ext cx="1080101"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10 V</a:t>
            </a:r>
          </a:p>
        </p:txBody>
      </p:sp>
      <p:pic>
        <p:nvPicPr>
          <p:cNvPr id="50" name="Picture 49" descr="cross mark.">
            <a:extLst>
              <a:ext uri="{FF2B5EF4-FFF2-40B4-BE49-F238E27FC236}">
                <a16:creationId xmlns:a16="http://schemas.microsoft.com/office/drawing/2014/main" id="{CBA002CB-8E4C-D061-2D0D-A7DF023A1B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6404" y="541392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60914AD-BD0E-0441-7F0F-2915CC8B17F7}"/>
              </a:ext>
            </a:extLst>
          </p:cNvPr>
          <p:cNvSpPr>
            <a:spLocks noGrp="1"/>
          </p:cNvSpPr>
          <p:nvPr>
            <p:ph sz="quarter" idx="15"/>
          </p:nvPr>
        </p:nvSpPr>
        <p:spPr>
          <a:xfrm>
            <a:off x="1697607" y="5337504"/>
            <a:ext cx="916198"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5 V</a:t>
            </a:r>
          </a:p>
        </p:txBody>
      </p:sp>
      <p:pic>
        <p:nvPicPr>
          <p:cNvPr id="51" name="Picture 5" descr="cross mark.">
            <a:extLst>
              <a:ext uri="{FF2B5EF4-FFF2-40B4-BE49-F238E27FC236}">
                <a16:creationId xmlns:a16="http://schemas.microsoft.com/office/drawing/2014/main" id="{09915459-9661-FCA2-1CD6-B58CC42966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6404" y="5861745"/>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41FF8B5A-F692-54C8-C09C-EA479A628466}"/>
              </a:ext>
            </a:extLst>
          </p:cNvPr>
          <p:cNvSpPr>
            <a:spLocks noGrp="1"/>
          </p:cNvSpPr>
          <p:nvPr>
            <p:ph sz="quarter" idx="16"/>
          </p:nvPr>
        </p:nvSpPr>
        <p:spPr>
          <a:xfrm>
            <a:off x="1697606" y="5790110"/>
            <a:ext cx="1080101"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r>
              <a:rPr lang="en-US" sz="2400" noProof="0" dirty="0"/>
              <a:t> 40 V</a:t>
            </a:r>
          </a:p>
        </p:txBody>
      </p:sp>
    </p:spTree>
    <p:extLst>
      <p:ext uri="{BB962C8B-B14F-4D97-AF65-F5344CB8AC3E}">
        <p14:creationId xmlns:p14="http://schemas.microsoft.com/office/powerpoint/2010/main" val="3263231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40"/>
            <a:ext cx="8229600" cy="1144347"/>
          </a:xfrm>
        </p:spPr>
        <p:txBody>
          <a:bodyPr/>
          <a:lstStyle/>
          <a:p>
            <a:r>
              <a:rPr lang="en-US" noProof="0" dirty="0"/>
              <a:t>Chapter 4 – techniques of circuit analysis </a:t>
            </a:r>
            <a:r>
              <a:rPr lang="en-US" sz="2800" noProof="0" dirty="0"/>
              <a:t>(3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3980"/>
            <a:ext cx="8229600" cy="1144347"/>
          </a:xfrm>
        </p:spPr>
        <p:txBody>
          <a:bodyPr wrap="square" lIns="0" tIns="18000" rIns="0" bIns="18000" anchor="ctr">
            <a:spAutoFit/>
          </a:bodyPr>
          <a:lstStyle/>
          <a:p>
            <a:pPr marL="0" indent="0">
              <a:spcBef>
                <a:spcPts val="600"/>
              </a:spcBef>
              <a:buNone/>
            </a:pPr>
            <a:r>
              <a:rPr lang="en-US" sz="2400" noProof="0" dirty="0"/>
              <a:t>In the circuit below, the load resistor is matched to the Thevenin resistance – how much power is absorbed by the load resistor?</a:t>
            </a:r>
          </a:p>
        </p:txBody>
      </p:sp>
      <p:pic>
        <p:nvPicPr>
          <p:cNvPr id="2" name="Picture 2" descr="A square block shows a circuit diagram with a 20 volt independent voltage source with positive polarity at the top and negative at the bottom as the left wire in the circuit. The top wire of the circuit houses a 10 ohms resistor. The top and bottom wires have points a and b respectively located on them inside the block. The right wire of the circuit contains a 10 ohms resistor outside the block. Voltage V subscript L with positive polarity at top and negative at bottom develops across the 10 ohms resistor in the right wire.">
            <a:extLst>
              <a:ext uri="{FF2B5EF4-FFF2-40B4-BE49-F238E27FC236}">
                <a16:creationId xmlns:a16="http://schemas.microsoft.com/office/drawing/2014/main" id="{97257636-FF81-1BD9-C7C9-3A3C461B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4747" y="2778157"/>
            <a:ext cx="2921129" cy="148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714856" y="4406564"/>
            <a:ext cx="143378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100 W</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706232" y="4867724"/>
            <a:ext cx="1260793"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50 W</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697607" y="5337504"/>
            <a:ext cx="1192242"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20 W</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697606" y="5790110"/>
            <a:ext cx="1269419" cy="405683"/>
          </a:xfrm>
        </p:spPr>
        <p:txBody>
          <a:bodyPr wrap="square" lIns="0" tIns="18000" rIns="0" bIns="18000" anchor="ctr">
            <a:spAutoFit/>
          </a:bodyPr>
          <a:lstStyle/>
          <a:p>
            <a:pPr marL="0" indent="0">
              <a:spcBef>
                <a:spcPts val="600"/>
              </a:spcBef>
              <a:buNone/>
            </a:pPr>
            <a:r>
              <a:rPr lang="en-US" sz="2400" noProof="0" dirty="0">
                <a:solidFill>
                  <a:srgbClr val="007FA3"/>
                </a:solidFill>
              </a:rPr>
              <a:t>D. </a:t>
            </a:r>
            <a:r>
              <a:rPr lang="en-US" sz="2400" noProof="0" dirty="0"/>
              <a:t>10 W</a:t>
            </a:r>
          </a:p>
        </p:txBody>
      </p:sp>
    </p:spTree>
    <p:extLst>
      <p:ext uri="{BB962C8B-B14F-4D97-AF65-F5344CB8AC3E}">
        <p14:creationId xmlns:p14="http://schemas.microsoft.com/office/powerpoint/2010/main" val="472830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49F86-B44F-48DF-2F54-F219CD7C470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5425CC4-D9CE-13F2-00B1-A9A75556D43F}"/>
              </a:ext>
            </a:extLst>
          </p:cNvPr>
          <p:cNvSpPr>
            <a:spLocks noGrp="1"/>
          </p:cNvSpPr>
          <p:nvPr>
            <p:ph type="title"/>
          </p:nvPr>
        </p:nvSpPr>
        <p:spPr>
          <a:xfrm>
            <a:off x="438150" y="196740"/>
            <a:ext cx="8229600" cy="1144347"/>
          </a:xfrm>
        </p:spPr>
        <p:txBody>
          <a:bodyPr/>
          <a:lstStyle/>
          <a:p>
            <a:r>
              <a:rPr lang="en-US" noProof="0" dirty="0"/>
              <a:t>Chapter 4 – techniques of circuit analysis </a:t>
            </a:r>
            <a:r>
              <a:rPr lang="en-US" sz="2800" noProof="0" dirty="0"/>
              <a:t>(3 of 16)</a:t>
            </a:r>
            <a:endParaRPr lang="en-US" noProof="0" dirty="0"/>
          </a:p>
        </p:txBody>
      </p:sp>
      <p:sp>
        <p:nvSpPr>
          <p:cNvPr id="7" name="Content Placeholder 6">
            <a:extLst>
              <a:ext uri="{FF2B5EF4-FFF2-40B4-BE49-F238E27FC236}">
                <a16:creationId xmlns:a16="http://schemas.microsoft.com/office/drawing/2014/main" id="{C917B635-409C-9D06-EFA4-6B9ED6E267A9}"/>
              </a:ext>
            </a:extLst>
          </p:cNvPr>
          <p:cNvSpPr>
            <a:spLocks noGrp="1"/>
          </p:cNvSpPr>
          <p:nvPr>
            <p:ph sz="quarter" idx="12"/>
          </p:nvPr>
        </p:nvSpPr>
        <p:spPr>
          <a:xfrm>
            <a:off x="438150" y="1453980"/>
            <a:ext cx="8229600" cy="1144347"/>
          </a:xfrm>
        </p:spPr>
        <p:txBody>
          <a:bodyPr wrap="square" lIns="0" tIns="18000" rIns="0" bIns="18000" anchor="ctr">
            <a:spAutoFit/>
          </a:bodyPr>
          <a:lstStyle/>
          <a:p>
            <a:pPr marL="0" indent="0">
              <a:spcBef>
                <a:spcPts val="600"/>
              </a:spcBef>
              <a:buNone/>
            </a:pPr>
            <a:r>
              <a:rPr lang="en-US" sz="2400" noProof="0" dirty="0"/>
              <a:t>In the circuit below, the load resistor is matched to the Thevenin resistance – how much power is absorbed by the load resistor?</a:t>
            </a:r>
          </a:p>
        </p:txBody>
      </p:sp>
      <p:pic>
        <p:nvPicPr>
          <p:cNvPr id="2" name="Picture 2" descr="A square block shows a circuit diagram with a 20 volt independent voltage source with positive polarity at the top and negative at the bottom as the left wire in the circuit. The top wire of the circuit houses a 10 ohms resistor. The top and bottom wires have points a and b respectively located on them inside the block. The right wire of the circuit contains a 10 ohms resistor outside the block. Voltage V subscript L with positive polarity at top and negative at bottom develops across the 10 ohms resistor in the right wire.">
            <a:extLst>
              <a:ext uri="{FF2B5EF4-FFF2-40B4-BE49-F238E27FC236}">
                <a16:creationId xmlns:a16="http://schemas.microsoft.com/office/drawing/2014/main" id="{7D76DD2F-1B2E-1082-AABF-3DAAFC6121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4747" y="2778157"/>
            <a:ext cx="2921129" cy="148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47" descr="cross mark.">
            <a:extLst>
              <a:ext uri="{FF2B5EF4-FFF2-40B4-BE49-F238E27FC236}">
                <a16:creationId xmlns:a16="http://schemas.microsoft.com/office/drawing/2014/main" id="{1815176C-E091-0ADB-F0D4-510F1A71E7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1963" y="448791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B3A76D17-1429-A769-19A5-18DC1A863DAD}"/>
              </a:ext>
            </a:extLst>
          </p:cNvPr>
          <p:cNvSpPr>
            <a:spLocks noGrp="1"/>
          </p:cNvSpPr>
          <p:nvPr>
            <p:ph sz="quarter" idx="13"/>
          </p:nvPr>
        </p:nvSpPr>
        <p:spPr>
          <a:xfrm>
            <a:off x="1714856" y="4406564"/>
            <a:ext cx="143378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100 W</a:t>
            </a:r>
          </a:p>
        </p:txBody>
      </p:sp>
      <p:pic>
        <p:nvPicPr>
          <p:cNvPr id="51" name="Picture 5" descr="cross mark.">
            <a:extLst>
              <a:ext uri="{FF2B5EF4-FFF2-40B4-BE49-F238E27FC236}">
                <a16:creationId xmlns:a16="http://schemas.microsoft.com/office/drawing/2014/main" id="{DBBD556F-5258-3D20-EF63-9FAA485514C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6404" y="493009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5389C561-3F05-F08E-6E3A-CBBA546B2A4E}"/>
              </a:ext>
            </a:extLst>
          </p:cNvPr>
          <p:cNvSpPr>
            <a:spLocks noGrp="1"/>
          </p:cNvSpPr>
          <p:nvPr>
            <p:ph sz="quarter" idx="14"/>
          </p:nvPr>
        </p:nvSpPr>
        <p:spPr>
          <a:xfrm>
            <a:off x="1706232" y="4867724"/>
            <a:ext cx="1260793"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50 W</a:t>
            </a:r>
          </a:p>
        </p:txBody>
      </p:sp>
      <p:pic>
        <p:nvPicPr>
          <p:cNvPr id="50" name="Picture 49" descr="cross mark.">
            <a:extLst>
              <a:ext uri="{FF2B5EF4-FFF2-40B4-BE49-F238E27FC236}">
                <a16:creationId xmlns:a16="http://schemas.microsoft.com/office/drawing/2014/main" id="{19796188-0206-FB81-A573-207019A413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6404" y="541392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13CF1BFF-1667-8C39-65E7-A4F0D3F0419A}"/>
              </a:ext>
            </a:extLst>
          </p:cNvPr>
          <p:cNvSpPr>
            <a:spLocks noGrp="1"/>
          </p:cNvSpPr>
          <p:nvPr>
            <p:ph sz="quarter" idx="15"/>
          </p:nvPr>
        </p:nvSpPr>
        <p:spPr>
          <a:xfrm>
            <a:off x="1697607" y="5337504"/>
            <a:ext cx="1192242"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20 W</a:t>
            </a:r>
          </a:p>
        </p:txBody>
      </p:sp>
      <p:pic>
        <p:nvPicPr>
          <p:cNvPr id="49" name="Picture 2" descr="tick mark.">
            <a:extLst>
              <a:ext uri="{FF2B5EF4-FFF2-40B4-BE49-F238E27FC236}">
                <a16:creationId xmlns:a16="http://schemas.microsoft.com/office/drawing/2014/main" id="{41DC0649-3DAC-491E-DAFD-2F36D224532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6143" y="5848708"/>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2199AD4A-7FF5-4069-C1DB-4EC7EFC57BF0}"/>
              </a:ext>
            </a:extLst>
          </p:cNvPr>
          <p:cNvSpPr>
            <a:spLocks noGrp="1"/>
          </p:cNvSpPr>
          <p:nvPr>
            <p:ph sz="quarter" idx="16"/>
          </p:nvPr>
        </p:nvSpPr>
        <p:spPr>
          <a:xfrm>
            <a:off x="1697606" y="5790110"/>
            <a:ext cx="1269419" cy="405683"/>
          </a:xfrm>
        </p:spPr>
        <p:txBody>
          <a:bodyPr wrap="square" lIns="0" tIns="18000" rIns="0" bIns="18000" anchor="ctr">
            <a:spAutoFit/>
          </a:bodyPr>
          <a:lstStyle/>
          <a:p>
            <a:pPr marL="0" indent="0">
              <a:spcBef>
                <a:spcPts val="600"/>
              </a:spcBef>
              <a:buNone/>
            </a:pPr>
            <a:r>
              <a:rPr lang="en-US" sz="2400" noProof="0" dirty="0">
                <a:solidFill>
                  <a:srgbClr val="007FA3"/>
                </a:solidFill>
              </a:rPr>
              <a:t>D. </a:t>
            </a:r>
            <a:r>
              <a:rPr lang="en-US" sz="2400" noProof="0" dirty="0"/>
              <a:t>10 W</a:t>
            </a:r>
          </a:p>
        </p:txBody>
      </p:sp>
    </p:spTree>
    <p:extLst>
      <p:ext uri="{BB962C8B-B14F-4D97-AF65-F5344CB8AC3E}">
        <p14:creationId xmlns:p14="http://schemas.microsoft.com/office/powerpoint/2010/main" val="2142520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40"/>
            <a:ext cx="8229600" cy="1144347"/>
          </a:xfrm>
        </p:spPr>
        <p:txBody>
          <a:bodyPr/>
          <a:lstStyle/>
          <a:p>
            <a:r>
              <a:rPr lang="en-US" noProof="0" dirty="0"/>
              <a:t>Chapter 4 – techniques of circuit analysis </a:t>
            </a:r>
            <a:r>
              <a:rPr lang="en-US" sz="2800" noProof="0" dirty="0"/>
              <a:t>(4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3980"/>
            <a:ext cx="8229600" cy="1144347"/>
          </a:xfrm>
        </p:spPr>
        <p:txBody>
          <a:bodyPr wrap="square" lIns="0" tIns="18000" rIns="0" bIns="18000" anchor="ctr">
            <a:spAutoFit/>
          </a:bodyPr>
          <a:lstStyle/>
          <a:p>
            <a:pPr marL="0" indent="0">
              <a:spcBef>
                <a:spcPts val="600"/>
              </a:spcBef>
              <a:buNone/>
            </a:pPr>
            <a:r>
              <a:rPr lang="en-US" sz="2400" noProof="0" dirty="0"/>
              <a:t>In the circuit below, the load resistor is matched to the Thevenin resistance – how much power is delivered by the voltage source?</a:t>
            </a:r>
          </a:p>
        </p:txBody>
      </p:sp>
      <p:pic>
        <p:nvPicPr>
          <p:cNvPr id="3" name="Picture 2" descr="A square block shows a circuit diagram with a 20 volt independent voltage source with positive polarity at the top and negative at the bottom as the left wire in the circuit. The top wire of the circuit houses a 10 ohms resistor. The top and bottom wires have points a and b respectively located on them inside the block. The right wire of the circuit contains a 10 ohms resistor outside the block. Voltage V subscript L with positive polarity at top and negative at bottom develops across the 10 ohms resistor in the right wire.">
            <a:extLst>
              <a:ext uri="{FF2B5EF4-FFF2-40B4-BE49-F238E27FC236}">
                <a16:creationId xmlns:a16="http://schemas.microsoft.com/office/drawing/2014/main" id="{2A4B1904-9C6C-BE20-60AE-C1DCB2FDB5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1041" y="2751717"/>
            <a:ext cx="2892207" cy="147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714856" y="4406564"/>
            <a:ext cx="143378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100 W</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706232" y="4867724"/>
            <a:ext cx="1260793"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50 W</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697607" y="5337504"/>
            <a:ext cx="1192242"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20 W</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697606" y="5790110"/>
            <a:ext cx="1269419" cy="405683"/>
          </a:xfrm>
        </p:spPr>
        <p:txBody>
          <a:bodyPr wrap="square" lIns="0" tIns="18000" rIns="0" bIns="18000" anchor="ctr">
            <a:spAutoFit/>
          </a:bodyPr>
          <a:lstStyle/>
          <a:p>
            <a:pPr marL="0" indent="0">
              <a:spcBef>
                <a:spcPts val="600"/>
              </a:spcBef>
              <a:buNone/>
            </a:pPr>
            <a:r>
              <a:rPr lang="en-US" sz="2400" noProof="0" dirty="0">
                <a:solidFill>
                  <a:srgbClr val="007FA3"/>
                </a:solidFill>
              </a:rPr>
              <a:t>D. </a:t>
            </a:r>
            <a:r>
              <a:rPr lang="en-US" sz="2400" noProof="0" dirty="0"/>
              <a:t>10 W</a:t>
            </a:r>
          </a:p>
        </p:txBody>
      </p:sp>
    </p:spTree>
    <p:extLst>
      <p:ext uri="{BB962C8B-B14F-4D97-AF65-F5344CB8AC3E}">
        <p14:creationId xmlns:p14="http://schemas.microsoft.com/office/powerpoint/2010/main" val="2914946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7E0BB-EF84-8232-6D4E-AE34EF0DAA0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36CEBEE-39C2-CAB0-7541-A6C434475564}"/>
              </a:ext>
            </a:extLst>
          </p:cNvPr>
          <p:cNvSpPr>
            <a:spLocks noGrp="1"/>
          </p:cNvSpPr>
          <p:nvPr>
            <p:ph type="title"/>
          </p:nvPr>
        </p:nvSpPr>
        <p:spPr>
          <a:xfrm>
            <a:off x="438150" y="196740"/>
            <a:ext cx="8229600" cy="1144347"/>
          </a:xfrm>
        </p:spPr>
        <p:txBody>
          <a:bodyPr/>
          <a:lstStyle/>
          <a:p>
            <a:r>
              <a:rPr lang="en-US" noProof="0" dirty="0"/>
              <a:t>Chapter 4 – techniques of circuit analysis </a:t>
            </a:r>
            <a:r>
              <a:rPr lang="en-US" sz="2800" noProof="0" dirty="0"/>
              <a:t>(4 of 16)</a:t>
            </a:r>
            <a:endParaRPr lang="en-US" noProof="0" dirty="0"/>
          </a:p>
        </p:txBody>
      </p:sp>
      <p:sp>
        <p:nvSpPr>
          <p:cNvPr id="7" name="Content Placeholder 6">
            <a:extLst>
              <a:ext uri="{FF2B5EF4-FFF2-40B4-BE49-F238E27FC236}">
                <a16:creationId xmlns:a16="http://schemas.microsoft.com/office/drawing/2014/main" id="{239FEA53-D529-7AAB-7C7A-6601C3E18D6F}"/>
              </a:ext>
            </a:extLst>
          </p:cNvPr>
          <p:cNvSpPr>
            <a:spLocks noGrp="1"/>
          </p:cNvSpPr>
          <p:nvPr>
            <p:ph sz="quarter" idx="12"/>
          </p:nvPr>
        </p:nvSpPr>
        <p:spPr>
          <a:xfrm>
            <a:off x="438150" y="1453980"/>
            <a:ext cx="8229600" cy="1144347"/>
          </a:xfrm>
        </p:spPr>
        <p:txBody>
          <a:bodyPr wrap="square" lIns="0" tIns="18000" rIns="0" bIns="18000" anchor="ctr">
            <a:spAutoFit/>
          </a:bodyPr>
          <a:lstStyle/>
          <a:p>
            <a:pPr marL="0" indent="0">
              <a:spcBef>
                <a:spcPts val="600"/>
              </a:spcBef>
              <a:buNone/>
            </a:pPr>
            <a:r>
              <a:rPr lang="en-US" sz="2400" noProof="0" dirty="0"/>
              <a:t>In the circuit below, the load resistor is matched to the Thevenin resistance – how much power is delivered by the voltage source?</a:t>
            </a:r>
          </a:p>
        </p:txBody>
      </p:sp>
      <p:pic>
        <p:nvPicPr>
          <p:cNvPr id="3" name="Picture 2" descr="A square block shows a circuit diagram with a 20 volt independent voltage source with positive polarity at the top and negative at the bottom as the left wire in the circuit. The top wire of the circuit houses a 10 ohms resistor. The top and bottom wires have points a and b respectively located on them inside the block. The right wire of the circuit contains a 10 ohms resistor outside the block. Voltage V subscript L with positive polarity at top and negative at bottom develops across the 10 ohms resistor in the right wire.">
            <a:extLst>
              <a:ext uri="{FF2B5EF4-FFF2-40B4-BE49-F238E27FC236}">
                <a16:creationId xmlns:a16="http://schemas.microsoft.com/office/drawing/2014/main" id="{E0132FF1-37EB-47BD-FDC0-1C9FB9F875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1041" y="2751717"/>
            <a:ext cx="2892207" cy="147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47" descr="cross mark.">
            <a:extLst>
              <a:ext uri="{FF2B5EF4-FFF2-40B4-BE49-F238E27FC236}">
                <a16:creationId xmlns:a16="http://schemas.microsoft.com/office/drawing/2014/main" id="{9D77D971-7633-5E3A-D502-B05184139B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1963" y="448791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8137EEA-7347-D896-68FA-33938750606E}"/>
              </a:ext>
            </a:extLst>
          </p:cNvPr>
          <p:cNvSpPr>
            <a:spLocks noGrp="1"/>
          </p:cNvSpPr>
          <p:nvPr>
            <p:ph sz="quarter" idx="13"/>
          </p:nvPr>
        </p:nvSpPr>
        <p:spPr>
          <a:xfrm>
            <a:off x="1714856" y="4406564"/>
            <a:ext cx="143378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100 W</a:t>
            </a:r>
          </a:p>
        </p:txBody>
      </p:sp>
      <p:pic>
        <p:nvPicPr>
          <p:cNvPr id="50" name="Picture 49" descr="cross mark.">
            <a:extLst>
              <a:ext uri="{FF2B5EF4-FFF2-40B4-BE49-F238E27FC236}">
                <a16:creationId xmlns:a16="http://schemas.microsoft.com/office/drawing/2014/main" id="{FED7030A-9BDE-95F2-596B-ED479F9895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9150" y="494809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BC7E2D84-0EF7-69C4-6332-8C5998DC57FC}"/>
              </a:ext>
            </a:extLst>
          </p:cNvPr>
          <p:cNvSpPr>
            <a:spLocks noGrp="1"/>
          </p:cNvSpPr>
          <p:nvPr>
            <p:ph sz="quarter" idx="14"/>
          </p:nvPr>
        </p:nvSpPr>
        <p:spPr>
          <a:xfrm>
            <a:off x="1706232" y="4867724"/>
            <a:ext cx="1260793"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50 W</a:t>
            </a:r>
          </a:p>
        </p:txBody>
      </p:sp>
      <p:pic>
        <p:nvPicPr>
          <p:cNvPr id="49" name="Picture 2" descr="tick mark.">
            <a:extLst>
              <a:ext uri="{FF2B5EF4-FFF2-40B4-BE49-F238E27FC236}">
                <a16:creationId xmlns:a16="http://schemas.microsoft.com/office/drawing/2014/main" id="{67DCE683-CE1F-BD03-8AE2-8185CA776EF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6143" y="5408754"/>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6B379C5C-3B17-1E25-9A14-D74CE1056AAC}"/>
              </a:ext>
            </a:extLst>
          </p:cNvPr>
          <p:cNvSpPr>
            <a:spLocks noGrp="1"/>
          </p:cNvSpPr>
          <p:nvPr>
            <p:ph sz="quarter" idx="15"/>
          </p:nvPr>
        </p:nvSpPr>
        <p:spPr>
          <a:xfrm>
            <a:off x="1697607" y="5337504"/>
            <a:ext cx="1192242"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20 W</a:t>
            </a:r>
          </a:p>
        </p:txBody>
      </p:sp>
      <p:pic>
        <p:nvPicPr>
          <p:cNvPr id="51" name="Picture 5" descr=" cross mark.">
            <a:extLst>
              <a:ext uri="{FF2B5EF4-FFF2-40B4-BE49-F238E27FC236}">
                <a16:creationId xmlns:a16="http://schemas.microsoft.com/office/drawing/2014/main" id="{41ADC28A-C9A6-C091-C20F-80EDC0BF80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6404" y="584436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3B3BA203-85D4-BAB9-07C8-74C71C232A40}"/>
              </a:ext>
            </a:extLst>
          </p:cNvPr>
          <p:cNvSpPr>
            <a:spLocks noGrp="1"/>
          </p:cNvSpPr>
          <p:nvPr>
            <p:ph sz="quarter" idx="16"/>
          </p:nvPr>
        </p:nvSpPr>
        <p:spPr>
          <a:xfrm>
            <a:off x="1697606" y="5790110"/>
            <a:ext cx="1269419" cy="405683"/>
          </a:xfrm>
        </p:spPr>
        <p:txBody>
          <a:bodyPr wrap="square" lIns="0" tIns="18000" rIns="0" bIns="18000" anchor="ctr">
            <a:spAutoFit/>
          </a:bodyPr>
          <a:lstStyle/>
          <a:p>
            <a:pPr marL="0" indent="0">
              <a:spcBef>
                <a:spcPts val="600"/>
              </a:spcBef>
              <a:buNone/>
            </a:pPr>
            <a:r>
              <a:rPr lang="en-US" sz="2400" noProof="0" dirty="0">
                <a:solidFill>
                  <a:srgbClr val="007FA3"/>
                </a:solidFill>
              </a:rPr>
              <a:t>D. </a:t>
            </a:r>
            <a:r>
              <a:rPr lang="en-US" sz="2400" noProof="0" dirty="0"/>
              <a:t>10 W</a:t>
            </a:r>
          </a:p>
        </p:txBody>
      </p:sp>
    </p:spTree>
    <p:extLst>
      <p:ext uri="{BB962C8B-B14F-4D97-AF65-F5344CB8AC3E}">
        <p14:creationId xmlns:p14="http://schemas.microsoft.com/office/powerpoint/2010/main" val="1594580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40"/>
            <a:ext cx="8229600" cy="1144347"/>
          </a:xfrm>
        </p:spPr>
        <p:txBody>
          <a:bodyPr/>
          <a:lstStyle/>
          <a:p>
            <a:r>
              <a:rPr lang="en-US" noProof="0" dirty="0"/>
              <a:t>Chapter 4 – techniques of circuit analysis </a:t>
            </a:r>
            <a:r>
              <a:rPr lang="en-US" sz="2800" noProof="0" dirty="0"/>
              <a:t>(5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3980"/>
            <a:ext cx="8229600" cy="1144347"/>
          </a:xfrm>
        </p:spPr>
        <p:txBody>
          <a:bodyPr wrap="square" lIns="0" tIns="18000" rIns="0" bIns="18000" anchor="ctr">
            <a:spAutoFit/>
          </a:bodyPr>
          <a:lstStyle/>
          <a:p>
            <a:pPr marL="0" indent="0">
              <a:spcBef>
                <a:spcPts val="600"/>
              </a:spcBef>
              <a:buNone/>
            </a:pPr>
            <a:r>
              <a:rPr lang="en-US" sz="2400" noProof="0" dirty="0"/>
              <a:t>Suppose that we vary the Thevenin resistor instead of the load resistor. For what value of Thevenin resistance is maximum power delivered to the load resistance?</a:t>
            </a:r>
          </a:p>
        </p:txBody>
      </p:sp>
      <p:pic>
        <p:nvPicPr>
          <p:cNvPr id="2" name="Picture 2" descr="A square block shows a circuit diagram with a 20 volt independent voltage source with positive polarity at the top and negative at the bottom as the left wire in the circuit. The top wire of the circuit houses a resistor R subscript Th. The top and bottom wires have points a and b respectively located on them inside the block. The right wire of the circuit contains a 10 ohms resistor outside the block. Voltage V subscript L with positive polarity at top and negative at bottom develops across the 10 ohms resistor in the right wire. ">
            <a:extLst>
              <a:ext uri="{FF2B5EF4-FFF2-40B4-BE49-F238E27FC236}">
                <a16:creationId xmlns:a16="http://schemas.microsoft.com/office/drawing/2014/main" id="{B0F9B7C5-3879-EA1B-097E-06A191C9EB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023" y="2794279"/>
            <a:ext cx="2866832" cy="1498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714856" y="4406564"/>
            <a:ext cx="346857"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t>
            </a:r>
          </a:p>
        </p:txBody>
      </p:sp>
      <p:graphicFrame>
        <p:nvGraphicFramePr>
          <p:cNvPr id="4" name="Object 3" descr="20 Ohms.">
            <a:extLst>
              <a:ext uri="{FF2B5EF4-FFF2-40B4-BE49-F238E27FC236}">
                <a16:creationId xmlns:a16="http://schemas.microsoft.com/office/drawing/2014/main" id="{72AA2730-74BE-38C1-0FC8-C5A03C149E89}"/>
              </a:ext>
            </a:extLst>
          </p:cNvPr>
          <p:cNvGraphicFramePr>
            <a:graphicFrameLocks noChangeAspect="1"/>
          </p:cNvGraphicFramePr>
          <p:nvPr>
            <p:extLst>
              <p:ext uri="{D42A27DB-BD31-4B8C-83A1-F6EECF244321}">
                <p14:modId xmlns:p14="http://schemas.microsoft.com/office/powerpoint/2010/main" val="2459248269"/>
              </p:ext>
            </p:extLst>
          </p:nvPr>
        </p:nvGraphicFramePr>
        <p:xfrm>
          <a:off x="2099026" y="4462076"/>
          <a:ext cx="647142" cy="323570"/>
        </p:xfrm>
        <a:graphic>
          <a:graphicData uri="http://schemas.openxmlformats.org/presentationml/2006/ole">
            <mc:AlternateContent xmlns:mc="http://schemas.openxmlformats.org/markup-compatibility/2006">
              <mc:Choice xmlns:v="urn:schemas-microsoft-com:vml" Requires="v">
                <p:oleObj name="Equation" r:id="rId3" imgW="355320" imgH="177480" progId="Equation.DSMT4">
                  <p:embed/>
                </p:oleObj>
              </mc:Choice>
              <mc:Fallback>
                <p:oleObj name="Equation" r:id="rId3" imgW="355320" imgH="177480" progId="Equation.DSMT4">
                  <p:embed/>
                  <p:pic>
                    <p:nvPicPr>
                      <p:cNvPr id="3" name="Object 2">
                        <a:extLst>
                          <a:ext uri="{FF2B5EF4-FFF2-40B4-BE49-F238E27FC236}">
                            <a16:creationId xmlns:a16="http://schemas.microsoft.com/office/drawing/2014/main" id="{0B96B2C0-7B23-FE2C-4565-E3AD23628C5B}"/>
                          </a:ext>
                        </a:extLst>
                      </p:cNvPr>
                      <p:cNvPicPr>
                        <a:picLocks noChangeAspect="1" noChangeArrowheads="1"/>
                      </p:cNvPicPr>
                      <p:nvPr/>
                    </p:nvPicPr>
                    <p:blipFill>
                      <a:blip r:embed="rId4"/>
                      <a:srcRect/>
                      <a:stretch>
                        <a:fillRect/>
                      </a:stretch>
                    </p:blipFill>
                    <p:spPr bwMode="auto">
                      <a:xfrm>
                        <a:off x="2099026" y="4462076"/>
                        <a:ext cx="647142" cy="3235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706232" y="4867724"/>
            <a:ext cx="355481"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5" name="Object 4" descr="10 Ohms.">
            <a:extLst>
              <a:ext uri="{FF2B5EF4-FFF2-40B4-BE49-F238E27FC236}">
                <a16:creationId xmlns:a16="http://schemas.microsoft.com/office/drawing/2014/main" id="{2E4B11A5-98FA-B895-911C-4B760D824375}"/>
              </a:ext>
            </a:extLst>
          </p:cNvPr>
          <p:cNvGraphicFramePr>
            <a:graphicFrameLocks noChangeAspect="1"/>
          </p:cNvGraphicFramePr>
          <p:nvPr>
            <p:extLst>
              <p:ext uri="{D42A27DB-BD31-4B8C-83A1-F6EECF244321}">
                <p14:modId xmlns:p14="http://schemas.microsoft.com/office/powerpoint/2010/main" val="1101711122"/>
              </p:ext>
            </p:extLst>
          </p:nvPr>
        </p:nvGraphicFramePr>
        <p:xfrm>
          <a:off x="2095060" y="4924695"/>
          <a:ext cx="636355" cy="329734"/>
        </p:xfrm>
        <a:graphic>
          <a:graphicData uri="http://schemas.openxmlformats.org/presentationml/2006/ole">
            <mc:AlternateContent xmlns:mc="http://schemas.openxmlformats.org/markup-compatibility/2006">
              <mc:Choice xmlns:v="urn:schemas-microsoft-com:vml" Requires="v">
                <p:oleObj name="Equation" r:id="rId5" imgW="342720" imgH="177480" progId="Equation.DSMT4">
                  <p:embed/>
                </p:oleObj>
              </mc:Choice>
              <mc:Fallback>
                <p:oleObj name="Equation" r:id="rId5" imgW="342720" imgH="177480" progId="Equation.DSMT4">
                  <p:embed/>
                  <p:pic>
                    <p:nvPicPr>
                      <p:cNvPr id="8" name="Object 7">
                        <a:extLst>
                          <a:ext uri="{FF2B5EF4-FFF2-40B4-BE49-F238E27FC236}">
                            <a16:creationId xmlns:a16="http://schemas.microsoft.com/office/drawing/2014/main" id="{C115B6E4-125E-EB0B-1BAA-C42B81EC783C}"/>
                          </a:ext>
                        </a:extLst>
                      </p:cNvPr>
                      <p:cNvPicPr>
                        <a:picLocks noChangeAspect="1" noChangeArrowheads="1"/>
                      </p:cNvPicPr>
                      <p:nvPr/>
                    </p:nvPicPr>
                    <p:blipFill>
                      <a:blip r:embed="rId6"/>
                      <a:srcRect/>
                      <a:stretch>
                        <a:fillRect/>
                      </a:stretch>
                    </p:blipFill>
                    <p:spPr bwMode="auto">
                      <a:xfrm>
                        <a:off x="2095060" y="4924695"/>
                        <a:ext cx="636355" cy="3297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697607" y="5337504"/>
            <a:ext cx="355481"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endParaRPr lang="en-US" sz="2400" noProof="0" dirty="0"/>
          </a:p>
        </p:txBody>
      </p:sp>
      <p:graphicFrame>
        <p:nvGraphicFramePr>
          <p:cNvPr id="12" name="Object 11" descr="0 Ohms.">
            <a:extLst>
              <a:ext uri="{FF2B5EF4-FFF2-40B4-BE49-F238E27FC236}">
                <a16:creationId xmlns:a16="http://schemas.microsoft.com/office/drawing/2014/main" id="{53AD9025-443B-25B2-1365-08C745DEABE0}"/>
              </a:ext>
            </a:extLst>
          </p:cNvPr>
          <p:cNvGraphicFramePr>
            <a:graphicFrameLocks noChangeAspect="1"/>
          </p:cNvGraphicFramePr>
          <p:nvPr>
            <p:extLst>
              <p:ext uri="{D42A27DB-BD31-4B8C-83A1-F6EECF244321}">
                <p14:modId xmlns:p14="http://schemas.microsoft.com/office/powerpoint/2010/main" val="831538310"/>
              </p:ext>
            </p:extLst>
          </p:nvPr>
        </p:nvGraphicFramePr>
        <p:xfrm>
          <a:off x="2151520" y="5387296"/>
          <a:ext cx="503846" cy="335897"/>
        </p:xfrm>
        <a:graphic>
          <a:graphicData uri="http://schemas.openxmlformats.org/presentationml/2006/ole">
            <mc:AlternateContent xmlns:mc="http://schemas.openxmlformats.org/markup-compatibility/2006">
              <mc:Choice xmlns:v="urn:schemas-microsoft-com:vml" Requires="v">
                <p:oleObj name="Equation" r:id="rId7" imgW="266400" imgH="177480" progId="Equation.DSMT4">
                  <p:embed/>
                </p:oleObj>
              </mc:Choice>
              <mc:Fallback>
                <p:oleObj name="Equation" r:id="rId7" imgW="266400" imgH="177480" progId="Equation.DSMT4">
                  <p:embed/>
                  <p:pic>
                    <p:nvPicPr>
                      <p:cNvPr id="9" name="Object 8">
                        <a:extLst>
                          <a:ext uri="{FF2B5EF4-FFF2-40B4-BE49-F238E27FC236}">
                            <a16:creationId xmlns:a16="http://schemas.microsoft.com/office/drawing/2014/main" id="{97F0F077-9B93-6380-9297-9AB4BA5AA44F}"/>
                          </a:ext>
                        </a:extLst>
                      </p:cNvPr>
                      <p:cNvPicPr>
                        <a:picLocks noChangeAspect="1" noChangeArrowheads="1"/>
                      </p:cNvPicPr>
                      <p:nvPr/>
                    </p:nvPicPr>
                    <p:blipFill>
                      <a:blip r:embed="rId8"/>
                      <a:srcRect/>
                      <a:stretch>
                        <a:fillRect/>
                      </a:stretch>
                    </p:blipFill>
                    <p:spPr bwMode="auto">
                      <a:xfrm>
                        <a:off x="2151520" y="5387296"/>
                        <a:ext cx="503846" cy="335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697606" y="5798736"/>
            <a:ext cx="3219451" cy="405683"/>
          </a:xfrm>
        </p:spPr>
        <p:txBody>
          <a:bodyPr wrap="square" lIns="0" tIns="18000" rIns="0" bIns="18000" anchor="ctr">
            <a:spAutoFit/>
          </a:bodyPr>
          <a:lstStyle/>
          <a:p>
            <a:pPr marL="0" indent="0">
              <a:spcBef>
                <a:spcPts val="600"/>
              </a:spcBef>
              <a:buNone/>
            </a:pPr>
            <a:r>
              <a:rPr lang="en-US" sz="2400" noProof="0" dirty="0">
                <a:solidFill>
                  <a:srgbClr val="007FA3"/>
                </a:solidFill>
              </a:rPr>
              <a:t>D. </a:t>
            </a:r>
            <a:r>
              <a:rPr lang="en-US" sz="2400" noProof="0" dirty="0"/>
              <a:t>None of the above</a:t>
            </a:r>
          </a:p>
        </p:txBody>
      </p:sp>
    </p:spTree>
    <p:extLst>
      <p:ext uri="{BB962C8B-B14F-4D97-AF65-F5344CB8AC3E}">
        <p14:creationId xmlns:p14="http://schemas.microsoft.com/office/powerpoint/2010/main" val="1699561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1AA10-C9E0-22FD-E70D-CD37051E418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81DB0FF-53FC-799E-E2A6-3F3B6ED810D7}"/>
              </a:ext>
            </a:extLst>
          </p:cNvPr>
          <p:cNvSpPr>
            <a:spLocks noGrp="1"/>
          </p:cNvSpPr>
          <p:nvPr>
            <p:ph type="title"/>
          </p:nvPr>
        </p:nvSpPr>
        <p:spPr>
          <a:xfrm>
            <a:off x="438150" y="196740"/>
            <a:ext cx="8229600" cy="1144347"/>
          </a:xfrm>
        </p:spPr>
        <p:txBody>
          <a:bodyPr/>
          <a:lstStyle/>
          <a:p>
            <a:r>
              <a:rPr lang="en-US" noProof="0" dirty="0"/>
              <a:t>Chapter 4 – techniques of circuit analysis </a:t>
            </a:r>
            <a:r>
              <a:rPr lang="en-US" sz="2800" noProof="0" dirty="0"/>
              <a:t>(5 of 16)</a:t>
            </a:r>
            <a:endParaRPr lang="en-US" noProof="0" dirty="0"/>
          </a:p>
        </p:txBody>
      </p:sp>
      <p:sp>
        <p:nvSpPr>
          <p:cNvPr id="7" name="Content Placeholder 6">
            <a:extLst>
              <a:ext uri="{FF2B5EF4-FFF2-40B4-BE49-F238E27FC236}">
                <a16:creationId xmlns:a16="http://schemas.microsoft.com/office/drawing/2014/main" id="{B8040007-9DB0-6AD5-D6EA-C87F64BB518E}"/>
              </a:ext>
            </a:extLst>
          </p:cNvPr>
          <p:cNvSpPr>
            <a:spLocks noGrp="1"/>
          </p:cNvSpPr>
          <p:nvPr>
            <p:ph sz="quarter" idx="12"/>
          </p:nvPr>
        </p:nvSpPr>
        <p:spPr>
          <a:xfrm>
            <a:off x="438150" y="1453980"/>
            <a:ext cx="8229600" cy="1144347"/>
          </a:xfrm>
        </p:spPr>
        <p:txBody>
          <a:bodyPr wrap="square" lIns="0" tIns="18000" rIns="0" bIns="18000" anchor="ctr">
            <a:spAutoFit/>
          </a:bodyPr>
          <a:lstStyle/>
          <a:p>
            <a:pPr marL="0" indent="0">
              <a:spcBef>
                <a:spcPts val="600"/>
              </a:spcBef>
              <a:buNone/>
            </a:pPr>
            <a:r>
              <a:rPr lang="en-US" sz="2400" noProof="0" dirty="0"/>
              <a:t>Suppose that we vary the Thevenin resistor instead of the load resistor. For what value of Thevenin resistance is maximum power delivered to the load resistance?</a:t>
            </a:r>
          </a:p>
        </p:txBody>
      </p:sp>
      <p:pic>
        <p:nvPicPr>
          <p:cNvPr id="2" name="Picture 2" descr="A square block shows a circuit diagram with a 20 volt independent voltage source with positive polarity at the top and negative at the bottom as the left wire in the circuit. The top wire of the circuit houses a resistor R subscript Th. The top and bottom wires have points a and b respectively located on them inside the block. The right wire of the circuit contains a 10 ohms resistor outside the block. Voltage V subscript L with positive polarity at top and negative at bottom develops across the 10 ohms resistor in the right wire. ">
            <a:extLst>
              <a:ext uri="{FF2B5EF4-FFF2-40B4-BE49-F238E27FC236}">
                <a16:creationId xmlns:a16="http://schemas.microsoft.com/office/drawing/2014/main" id="{3EF4FFBB-8220-43B6-4728-7AB6A151D2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023" y="2794279"/>
            <a:ext cx="2866832" cy="1498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47" descr=" cross mark.">
            <a:extLst>
              <a:ext uri="{FF2B5EF4-FFF2-40B4-BE49-F238E27FC236}">
                <a16:creationId xmlns:a16="http://schemas.microsoft.com/office/drawing/2014/main" id="{E9F325DB-3936-4ED4-736D-F13C74A9BE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1963" y="448791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01A6B365-18D5-3EFF-DDA5-4C22C257380D}"/>
              </a:ext>
            </a:extLst>
          </p:cNvPr>
          <p:cNvSpPr>
            <a:spLocks noGrp="1"/>
          </p:cNvSpPr>
          <p:nvPr>
            <p:ph sz="quarter" idx="13"/>
          </p:nvPr>
        </p:nvSpPr>
        <p:spPr>
          <a:xfrm>
            <a:off x="1714856" y="4406564"/>
            <a:ext cx="346857"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t>
            </a:r>
          </a:p>
        </p:txBody>
      </p:sp>
      <p:graphicFrame>
        <p:nvGraphicFramePr>
          <p:cNvPr id="4" name="Object 3" descr="20 Ohms.">
            <a:extLst>
              <a:ext uri="{FF2B5EF4-FFF2-40B4-BE49-F238E27FC236}">
                <a16:creationId xmlns:a16="http://schemas.microsoft.com/office/drawing/2014/main" id="{34B07CB7-1524-8E59-D977-C12506EA0BC7}"/>
              </a:ext>
            </a:extLst>
          </p:cNvPr>
          <p:cNvGraphicFramePr>
            <a:graphicFrameLocks noChangeAspect="1"/>
          </p:cNvGraphicFramePr>
          <p:nvPr/>
        </p:nvGraphicFramePr>
        <p:xfrm>
          <a:off x="2099026" y="4462076"/>
          <a:ext cx="647142" cy="323570"/>
        </p:xfrm>
        <a:graphic>
          <a:graphicData uri="http://schemas.openxmlformats.org/presentationml/2006/ole">
            <mc:AlternateContent xmlns:mc="http://schemas.openxmlformats.org/markup-compatibility/2006">
              <mc:Choice xmlns:v="urn:schemas-microsoft-com:vml" Requires="v">
                <p:oleObj name="Equation" r:id="rId4" imgW="355320" imgH="177480" progId="Equation.DSMT4">
                  <p:embed/>
                </p:oleObj>
              </mc:Choice>
              <mc:Fallback>
                <p:oleObj name="Equation" r:id="rId4" imgW="355320" imgH="177480" progId="Equation.DSMT4">
                  <p:embed/>
                  <p:pic>
                    <p:nvPicPr>
                      <p:cNvPr id="4" name="Object 3" descr="20 Ohms.">
                        <a:extLst>
                          <a:ext uri="{FF2B5EF4-FFF2-40B4-BE49-F238E27FC236}">
                            <a16:creationId xmlns:a16="http://schemas.microsoft.com/office/drawing/2014/main" id="{72AA2730-74BE-38C1-0FC8-C5A03C149E89}"/>
                          </a:ext>
                        </a:extLst>
                      </p:cNvPr>
                      <p:cNvPicPr>
                        <a:picLocks noChangeAspect="1" noChangeArrowheads="1"/>
                      </p:cNvPicPr>
                      <p:nvPr/>
                    </p:nvPicPr>
                    <p:blipFill>
                      <a:blip r:embed="rId5"/>
                      <a:srcRect/>
                      <a:stretch>
                        <a:fillRect/>
                      </a:stretch>
                    </p:blipFill>
                    <p:spPr bwMode="auto">
                      <a:xfrm>
                        <a:off x="2099026" y="4462076"/>
                        <a:ext cx="647142" cy="3235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0" name="Picture 49" descr="cross mark.">
            <a:extLst>
              <a:ext uri="{FF2B5EF4-FFF2-40B4-BE49-F238E27FC236}">
                <a16:creationId xmlns:a16="http://schemas.microsoft.com/office/drawing/2014/main" id="{D905DA43-653F-5B92-F1F7-2D3101EE2D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9150" y="494809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E78BFE80-3E6C-1923-B8A9-EE1B2BEEECA7}"/>
              </a:ext>
            </a:extLst>
          </p:cNvPr>
          <p:cNvSpPr>
            <a:spLocks noGrp="1"/>
          </p:cNvSpPr>
          <p:nvPr>
            <p:ph sz="quarter" idx="14"/>
          </p:nvPr>
        </p:nvSpPr>
        <p:spPr>
          <a:xfrm>
            <a:off x="1706232" y="4867724"/>
            <a:ext cx="355481"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5" name="Object 4" descr="10 Ohms.">
            <a:extLst>
              <a:ext uri="{FF2B5EF4-FFF2-40B4-BE49-F238E27FC236}">
                <a16:creationId xmlns:a16="http://schemas.microsoft.com/office/drawing/2014/main" id="{1B68E629-C509-803F-B296-D33EB6F7F524}"/>
              </a:ext>
            </a:extLst>
          </p:cNvPr>
          <p:cNvGraphicFramePr>
            <a:graphicFrameLocks noChangeAspect="1"/>
          </p:cNvGraphicFramePr>
          <p:nvPr/>
        </p:nvGraphicFramePr>
        <p:xfrm>
          <a:off x="2095060" y="4924695"/>
          <a:ext cx="636355" cy="329734"/>
        </p:xfrm>
        <a:graphic>
          <a:graphicData uri="http://schemas.openxmlformats.org/presentationml/2006/ole">
            <mc:AlternateContent xmlns:mc="http://schemas.openxmlformats.org/markup-compatibility/2006">
              <mc:Choice xmlns:v="urn:schemas-microsoft-com:vml" Requires="v">
                <p:oleObj name="Equation" r:id="rId6" imgW="342720" imgH="177480" progId="Equation.DSMT4">
                  <p:embed/>
                </p:oleObj>
              </mc:Choice>
              <mc:Fallback>
                <p:oleObj name="Equation" r:id="rId6" imgW="342720" imgH="177480" progId="Equation.DSMT4">
                  <p:embed/>
                  <p:pic>
                    <p:nvPicPr>
                      <p:cNvPr id="5" name="Object 4" descr="10 Ohms.">
                        <a:extLst>
                          <a:ext uri="{FF2B5EF4-FFF2-40B4-BE49-F238E27FC236}">
                            <a16:creationId xmlns:a16="http://schemas.microsoft.com/office/drawing/2014/main" id="{2E4B11A5-98FA-B895-911C-4B760D824375}"/>
                          </a:ext>
                        </a:extLst>
                      </p:cNvPr>
                      <p:cNvPicPr>
                        <a:picLocks noChangeAspect="1" noChangeArrowheads="1"/>
                      </p:cNvPicPr>
                      <p:nvPr/>
                    </p:nvPicPr>
                    <p:blipFill>
                      <a:blip r:embed="rId7"/>
                      <a:srcRect/>
                      <a:stretch>
                        <a:fillRect/>
                      </a:stretch>
                    </p:blipFill>
                    <p:spPr bwMode="auto">
                      <a:xfrm>
                        <a:off x="2095060" y="4924695"/>
                        <a:ext cx="636355" cy="3297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9" name="Picture 2" descr=" tick mark.">
            <a:extLst>
              <a:ext uri="{FF2B5EF4-FFF2-40B4-BE49-F238E27FC236}">
                <a16:creationId xmlns:a16="http://schemas.microsoft.com/office/drawing/2014/main" id="{384BE97C-F045-A609-6039-AAF0A0CD60F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36143" y="5408754"/>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65335D77-1A42-34AB-2E50-59FCF9220C82}"/>
              </a:ext>
            </a:extLst>
          </p:cNvPr>
          <p:cNvSpPr>
            <a:spLocks noGrp="1"/>
          </p:cNvSpPr>
          <p:nvPr>
            <p:ph sz="quarter" idx="15"/>
          </p:nvPr>
        </p:nvSpPr>
        <p:spPr>
          <a:xfrm>
            <a:off x="1697607" y="5337504"/>
            <a:ext cx="355481"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endParaRPr lang="en-US" sz="2400" noProof="0" dirty="0"/>
          </a:p>
        </p:txBody>
      </p:sp>
      <p:graphicFrame>
        <p:nvGraphicFramePr>
          <p:cNvPr id="12" name="Object 11" descr="0 Ohms.">
            <a:extLst>
              <a:ext uri="{FF2B5EF4-FFF2-40B4-BE49-F238E27FC236}">
                <a16:creationId xmlns:a16="http://schemas.microsoft.com/office/drawing/2014/main" id="{674E40C2-1A7D-657B-D387-25D17C0AEE8D}"/>
              </a:ext>
            </a:extLst>
          </p:cNvPr>
          <p:cNvGraphicFramePr>
            <a:graphicFrameLocks noChangeAspect="1"/>
          </p:cNvGraphicFramePr>
          <p:nvPr/>
        </p:nvGraphicFramePr>
        <p:xfrm>
          <a:off x="2151520" y="5387296"/>
          <a:ext cx="503846" cy="335897"/>
        </p:xfrm>
        <a:graphic>
          <a:graphicData uri="http://schemas.openxmlformats.org/presentationml/2006/ole">
            <mc:AlternateContent xmlns:mc="http://schemas.openxmlformats.org/markup-compatibility/2006">
              <mc:Choice xmlns:v="urn:schemas-microsoft-com:vml" Requires="v">
                <p:oleObj name="Equation" r:id="rId9" imgW="266400" imgH="177480" progId="Equation.DSMT4">
                  <p:embed/>
                </p:oleObj>
              </mc:Choice>
              <mc:Fallback>
                <p:oleObj name="Equation" r:id="rId9" imgW="266400" imgH="177480" progId="Equation.DSMT4">
                  <p:embed/>
                  <p:pic>
                    <p:nvPicPr>
                      <p:cNvPr id="12" name="Object 11" descr="0 Ohms.">
                        <a:extLst>
                          <a:ext uri="{FF2B5EF4-FFF2-40B4-BE49-F238E27FC236}">
                            <a16:creationId xmlns:a16="http://schemas.microsoft.com/office/drawing/2014/main" id="{53AD9025-443B-25B2-1365-08C745DEABE0}"/>
                          </a:ext>
                        </a:extLst>
                      </p:cNvPr>
                      <p:cNvPicPr>
                        <a:picLocks noChangeAspect="1" noChangeArrowheads="1"/>
                      </p:cNvPicPr>
                      <p:nvPr/>
                    </p:nvPicPr>
                    <p:blipFill>
                      <a:blip r:embed="rId10"/>
                      <a:srcRect/>
                      <a:stretch>
                        <a:fillRect/>
                      </a:stretch>
                    </p:blipFill>
                    <p:spPr bwMode="auto">
                      <a:xfrm>
                        <a:off x="2151520" y="5387296"/>
                        <a:ext cx="503846" cy="335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1" name="Picture 5" descr=" cross mark.">
            <a:extLst>
              <a:ext uri="{FF2B5EF4-FFF2-40B4-BE49-F238E27FC236}">
                <a16:creationId xmlns:a16="http://schemas.microsoft.com/office/drawing/2014/main" id="{26F86BC8-2D46-AF5D-DD07-B6050776ED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6404" y="5861745"/>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3321C174-6729-875C-4FF0-173B929986E3}"/>
              </a:ext>
            </a:extLst>
          </p:cNvPr>
          <p:cNvSpPr>
            <a:spLocks noGrp="1"/>
          </p:cNvSpPr>
          <p:nvPr>
            <p:ph sz="quarter" idx="16"/>
          </p:nvPr>
        </p:nvSpPr>
        <p:spPr>
          <a:xfrm>
            <a:off x="1697606" y="5798736"/>
            <a:ext cx="3219451" cy="405683"/>
          </a:xfrm>
        </p:spPr>
        <p:txBody>
          <a:bodyPr wrap="square" lIns="0" tIns="18000" rIns="0" bIns="18000" anchor="ctr">
            <a:spAutoFit/>
          </a:bodyPr>
          <a:lstStyle/>
          <a:p>
            <a:pPr marL="0" indent="0">
              <a:spcBef>
                <a:spcPts val="600"/>
              </a:spcBef>
              <a:buNone/>
            </a:pPr>
            <a:r>
              <a:rPr lang="en-US" sz="2400" noProof="0" dirty="0">
                <a:solidFill>
                  <a:srgbClr val="007FA3"/>
                </a:solidFill>
              </a:rPr>
              <a:t>D. </a:t>
            </a:r>
            <a:r>
              <a:rPr lang="en-US" sz="2400" noProof="0" dirty="0"/>
              <a:t>None of the above</a:t>
            </a:r>
          </a:p>
        </p:txBody>
      </p:sp>
    </p:spTree>
    <p:extLst>
      <p:ext uri="{BB962C8B-B14F-4D97-AF65-F5344CB8AC3E}">
        <p14:creationId xmlns:p14="http://schemas.microsoft.com/office/powerpoint/2010/main" val="3836650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8"/>
            <a:ext cx="8229600" cy="1144347"/>
          </a:xfrm>
        </p:spPr>
        <p:txBody>
          <a:bodyPr/>
          <a:lstStyle/>
          <a:p>
            <a:r>
              <a:rPr lang="en-US" noProof="0" dirty="0"/>
              <a:t>Chapter 4 – techniques of circuit analysis </a:t>
            </a:r>
            <a:r>
              <a:rPr lang="en-US" sz="2800" noProof="0" dirty="0"/>
              <a:t>(6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2548"/>
            <a:ext cx="8229600" cy="1221291"/>
          </a:xfrm>
        </p:spPr>
        <p:txBody>
          <a:bodyPr wrap="square" lIns="0" tIns="18000" rIns="0" bIns="18000" anchor="ctr">
            <a:spAutoFit/>
          </a:bodyPr>
          <a:lstStyle/>
          <a:p>
            <a:pPr marL="0" indent="0">
              <a:spcBef>
                <a:spcPts val="600"/>
              </a:spcBef>
              <a:buNone/>
            </a:pPr>
            <a:r>
              <a:rPr lang="en-US" sz="2400" noProof="0" dirty="0"/>
              <a:t>Example of maximum power transfer</a:t>
            </a:r>
          </a:p>
          <a:p>
            <a:pPr marL="486918" lvl="1" indent="0">
              <a:buNone/>
            </a:pPr>
            <a:r>
              <a:rPr lang="en-US" sz="2400" noProof="0" dirty="0"/>
              <a:t>Find the value of </a:t>
            </a:r>
            <a:r>
              <a:rPr lang="en-US" sz="2400" i="1" noProof="0" dirty="0"/>
              <a:t>R</a:t>
            </a:r>
            <a:r>
              <a:rPr lang="en-US" sz="2400" noProof="0" dirty="0"/>
              <a:t> such that maximum power is transferred to </a:t>
            </a:r>
            <a:r>
              <a:rPr lang="en-US" sz="2400" i="1" noProof="0" dirty="0"/>
              <a:t>R</a:t>
            </a:r>
            <a:r>
              <a:rPr lang="en-US" sz="2400" noProof="0" dirty="0"/>
              <a:t>, and find that maximum power.</a:t>
            </a:r>
          </a:p>
        </p:txBody>
      </p:sp>
      <p:pic>
        <p:nvPicPr>
          <p:cNvPr id="2" name="Picture 2" descr="A circuit diagram shows a two layered circuit. The leftmost wire in the lower circuit part is a 100 volt independent voltage source with positive polarity at its top end and negative at its bottom. Connected in parallel to the 100 volt independent voltage source are the second and third wires from left. The second wire from left contains a 4 ohms resistor above and in series with a 20 volt independent voltage source, which has positive polarity at its top end and negative at its bottom. Voltage v subscript ǿ develops across the 4 ohms resistor in the second wire from left. The third wire from left contains resistor R. A node is formed where the leftmost wire joins the second wire from top. Two nodes are shown where the top and bottom ends of the second wire from left separately connect to the second wire from top and the bottom wire. A 4 ohms resistor is located in the second wire from top and between the lower circuit’s leftmost wire and second wire from left. Points a and b are respectively located in the second wire from top and the bottom wire in the lower circuit part to the left of the third wire from left that houses the Resistor R. &#10;Located in the second wire from top and to the immediate right of the top node of the second wire from left is another 4 ohms resistor. To the immediate right of this 4 ohms resistor is another node. Wires rise above from this node as well as from the node formed where the leftmost wire joins the second wire from top. These two wires create the upper part of the circuit that contains, from left to right in that order and in series, a voltage dependent voltage source v subscript ǿ and a 4 ohms resistor.">
            <a:extLst>
              <a:ext uri="{FF2B5EF4-FFF2-40B4-BE49-F238E27FC236}">
                <a16:creationId xmlns:a16="http://schemas.microsoft.com/office/drawing/2014/main" id="{F7152A2A-91F8-24F3-F939-11C0607BFCED}"/>
              </a:ext>
            </a:extLst>
          </p:cNvPr>
          <p:cNvPicPr>
            <a:picLocks noChangeAspect="1" noChangeArrowheads="1"/>
          </p:cNvPicPr>
          <p:nvPr/>
        </p:nvPicPr>
        <p:blipFill>
          <a:blip r:embed="rId2"/>
          <a:srcRect/>
          <a:stretch/>
        </p:blipFill>
        <p:spPr bwMode="auto">
          <a:xfrm>
            <a:off x="2502566" y="2820275"/>
            <a:ext cx="4152877" cy="234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5345853"/>
            <a:ext cx="8229600" cy="775015"/>
          </a:xfrm>
        </p:spPr>
        <p:txBody>
          <a:bodyPr wrap="square" lIns="0" tIns="18000" rIns="0" bIns="18000" anchor="ctr">
            <a:spAutoFit/>
          </a:bodyPr>
          <a:lstStyle/>
          <a:p>
            <a:pPr marL="0" indent="0">
              <a:spcBef>
                <a:spcPts val="600"/>
              </a:spcBef>
              <a:buNone/>
            </a:pPr>
            <a:r>
              <a:rPr lang="en-US" sz="2400" noProof="0" dirty="0">
                <a:solidFill>
                  <a:srgbClr val="007FA3"/>
                </a:solidFill>
              </a:rPr>
              <a:t>Approach – find the open circuit and the short circuit current by analyzing two circuits – see the next slides.</a:t>
            </a:r>
          </a:p>
        </p:txBody>
      </p:sp>
    </p:spTree>
    <p:extLst>
      <p:ext uri="{BB962C8B-B14F-4D97-AF65-F5344CB8AC3E}">
        <p14:creationId xmlns:p14="http://schemas.microsoft.com/office/powerpoint/2010/main" val="2978101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42"/>
            <a:ext cx="8229600" cy="1144347"/>
          </a:xfrm>
        </p:spPr>
        <p:txBody>
          <a:bodyPr/>
          <a:lstStyle/>
          <a:p>
            <a:r>
              <a:rPr lang="en-US" noProof="0" dirty="0"/>
              <a:t>Chapter 4 – techniques of circuit analysis </a:t>
            </a:r>
            <a:r>
              <a:rPr lang="en-US" sz="2800" noProof="0" dirty="0"/>
              <a:t>(7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46508"/>
            <a:ext cx="4608303" cy="1590623"/>
          </a:xfrm>
        </p:spPr>
        <p:txBody>
          <a:bodyPr wrap="square" lIns="0" tIns="18000" rIns="0" bIns="18000" anchor="ctr">
            <a:spAutoFit/>
          </a:bodyPr>
          <a:lstStyle/>
          <a:p>
            <a:pPr marL="0" indent="0">
              <a:spcBef>
                <a:spcPts val="600"/>
              </a:spcBef>
              <a:buNone/>
            </a:pPr>
            <a:r>
              <a:rPr lang="en-US" sz="2400" noProof="0" dirty="0"/>
              <a:t>Find the value of </a:t>
            </a:r>
            <a:r>
              <a:rPr lang="en-US" sz="2400" i="1" noProof="0" dirty="0"/>
              <a:t>R</a:t>
            </a:r>
            <a:r>
              <a:rPr lang="en-US" sz="2400" noProof="0" dirty="0"/>
              <a:t> such that maximum power is transferred to </a:t>
            </a:r>
            <a:r>
              <a:rPr lang="en-US" sz="2400" i="1" noProof="0" dirty="0"/>
              <a:t>R</a:t>
            </a:r>
            <a:r>
              <a:rPr lang="en-US" sz="2400" noProof="0" dirty="0"/>
              <a:t>, and find that maximum power.</a:t>
            </a:r>
          </a:p>
          <a:p>
            <a:pPr marL="486918" lvl="1" indent="0">
              <a:buNone/>
            </a:pPr>
            <a:r>
              <a:rPr lang="en-US" sz="2400" noProof="0" dirty="0"/>
              <a:t>Find the open circuit voltage:</a:t>
            </a:r>
          </a:p>
        </p:txBody>
      </p:sp>
      <p:pic>
        <p:nvPicPr>
          <p:cNvPr id="17" name="Picture 2" descr="A circuit diagram shows a two layered circuit. The leftmost wire in the lower circuit part is a 100 volt independent voltage source with positive polarity at its top end and negative at its bottom. Connected in parallel to the 100 volt independent voltage source is the second wire from left which contains a 4 ohms resistor above and in series with a 20 volt independent voltage source, which has positive polarity at its top end and negative at its bottom. Voltage v subscript ǿ develops across the 4 ohms resistor in the second wire from left. A node is formed where the leftmost wire joins the second wire from top. Two nodes are shown where the top and bottom ends of the second wire from left separately connect to the second wire from top and the bottom wire. A 4 ohms resistor is located in the second wire from top and between the lower circuit’s leftmost wire and second wire from left. Points a and b are respectively located in the second wire from top and the bottom wire in the lower circuit part. &#10;Located in the second wire from top and to the immediate right of the top node of the second wire from left is another 4 ohms resistor. To the immediate right of this 4 ohms resistor is another node. Wires rise above from this node as well as from the node formed where the leftmost wire joins the second wire from top. These two wires create the upper part of the circuit that contains, from left to right in that order and in series, a voltage dependent voltage source v subscript ǿ and a 4 ohms resistor. &#10;Current i subscript 1 flows clockwise in the lower leftmost part of the circuit formed between the lower circuit’s leftmost and second from left wires by the bottom wire and the second wire from top. Current i subscript 2 flows clockwise in the upper part of the circuit. Voltage v subscript oc develops between points a and b with a having positive polarity and b having negative polarity.">
            <a:extLst>
              <a:ext uri="{FF2B5EF4-FFF2-40B4-BE49-F238E27FC236}">
                <a16:creationId xmlns:a16="http://schemas.microsoft.com/office/drawing/2014/main" id="{B794FB21-BDB2-4E71-08EF-261483A0DB0E}"/>
              </a:ext>
            </a:extLst>
          </p:cNvPr>
          <p:cNvPicPr>
            <a:picLocks noChangeAspect="1" noChangeArrowheads="1"/>
          </p:cNvPicPr>
          <p:nvPr/>
        </p:nvPicPr>
        <p:blipFill>
          <a:blip r:embed="rId2"/>
          <a:srcRect/>
          <a:stretch/>
        </p:blipFill>
        <p:spPr bwMode="auto">
          <a:xfrm>
            <a:off x="5454177" y="1547877"/>
            <a:ext cx="2782035" cy="1858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8" name="Object 3" descr="i subscript 1 BaseLine">
            <a:extLst>
              <a:ext uri="{FF2B5EF4-FFF2-40B4-BE49-F238E27FC236}">
                <a16:creationId xmlns:a16="http://schemas.microsoft.com/office/drawing/2014/main" id="{2E60D93B-BA45-F233-1C71-200B762D3009}"/>
              </a:ext>
            </a:extLst>
          </p:cNvPr>
          <p:cNvGraphicFramePr>
            <a:graphicFrameLocks noChangeAspect="1"/>
          </p:cNvGraphicFramePr>
          <p:nvPr/>
        </p:nvGraphicFramePr>
        <p:xfrm>
          <a:off x="1920819" y="3587721"/>
          <a:ext cx="198438" cy="393700"/>
        </p:xfrm>
        <a:graphic>
          <a:graphicData uri="http://schemas.openxmlformats.org/presentationml/2006/ole">
            <mc:AlternateContent xmlns:mc="http://schemas.openxmlformats.org/markup-compatibility/2006">
              <mc:Choice xmlns:v="urn:schemas-microsoft-com:vml" Requires="v">
                <p:oleObj name="Equation" r:id="rId3" imgW="114120" imgH="228600" progId="Equation.DSMT4">
                  <p:embed/>
                </p:oleObj>
              </mc:Choice>
              <mc:Fallback>
                <p:oleObj name="Equation" r:id="rId3" imgW="114120" imgH="228600" progId="Equation.DSMT4">
                  <p:embed/>
                  <p:pic>
                    <p:nvPicPr>
                      <p:cNvPr id="18" name="Object 3" descr="i subscript 1 BaseLine">
                        <a:extLst>
                          <a:ext uri="{FF2B5EF4-FFF2-40B4-BE49-F238E27FC236}">
                            <a16:creationId xmlns:a16="http://schemas.microsoft.com/office/drawing/2014/main" id="{2E60D93B-BA45-F233-1C71-200B762D3009}"/>
                          </a:ext>
                        </a:extLst>
                      </p:cNvPr>
                      <p:cNvPicPr>
                        <a:picLocks noChangeAspect="1" noChangeArrowheads="1"/>
                      </p:cNvPicPr>
                      <p:nvPr/>
                    </p:nvPicPr>
                    <p:blipFill>
                      <a:blip r:embed="rId4"/>
                      <a:srcRect/>
                      <a:stretch>
                        <a:fillRect/>
                      </a:stretch>
                    </p:blipFill>
                    <p:spPr bwMode="auto">
                      <a:xfrm>
                        <a:off x="1920819" y="3587721"/>
                        <a:ext cx="198438"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2215189" y="3569806"/>
            <a:ext cx="890324" cy="405683"/>
          </a:xfrm>
        </p:spPr>
        <p:txBody>
          <a:bodyPr wrap="square" lIns="0" tIns="18000" rIns="0" bIns="18000" anchor="ctr">
            <a:spAutoFit/>
          </a:bodyPr>
          <a:lstStyle/>
          <a:p>
            <a:pPr marL="0" indent="0">
              <a:spcBef>
                <a:spcPts val="600"/>
              </a:spcBef>
              <a:buNone/>
            </a:pPr>
            <a:r>
              <a:rPr lang="en-US" sz="2400" noProof="0" dirty="0"/>
              <a:t>mesh:</a:t>
            </a:r>
          </a:p>
        </p:txBody>
      </p:sp>
      <p:graphicFrame>
        <p:nvGraphicFramePr>
          <p:cNvPr id="19" name="Object 3" descr="negative 100 plus 4 Open Parenthesis i subscript 1 BaseLine minus i subscript 2 BaseLine Close Parenthesis plus 4 i subscript 1 BaseLine plus 20 equals 0.">
            <a:extLst>
              <a:ext uri="{FF2B5EF4-FFF2-40B4-BE49-F238E27FC236}">
                <a16:creationId xmlns:a16="http://schemas.microsoft.com/office/drawing/2014/main" id="{087BE664-BF4F-4D38-279B-2A1C07826E79}"/>
              </a:ext>
            </a:extLst>
          </p:cNvPr>
          <p:cNvGraphicFramePr>
            <a:graphicFrameLocks noChangeAspect="1"/>
          </p:cNvGraphicFramePr>
          <p:nvPr/>
        </p:nvGraphicFramePr>
        <p:xfrm>
          <a:off x="3144426" y="3604092"/>
          <a:ext cx="3346450" cy="393700"/>
        </p:xfrm>
        <a:graphic>
          <a:graphicData uri="http://schemas.openxmlformats.org/presentationml/2006/ole">
            <mc:AlternateContent xmlns:mc="http://schemas.openxmlformats.org/markup-compatibility/2006">
              <mc:Choice xmlns:v="urn:schemas-microsoft-com:vml" Requires="v">
                <p:oleObj name="Equation" r:id="rId5" imgW="1930320" imgH="228600" progId="Equation.DSMT4">
                  <p:embed/>
                </p:oleObj>
              </mc:Choice>
              <mc:Fallback>
                <p:oleObj name="Equation" r:id="rId5" imgW="1930320" imgH="228600" progId="Equation.DSMT4">
                  <p:embed/>
                  <p:pic>
                    <p:nvPicPr>
                      <p:cNvPr id="19" name="Object 3" descr="negative 100 plus 4 Open Parenthesis i subscript 1 BaseLine minus i subscript 2 BaseLine Close Parenthesis plus 4 i subscript 1 BaseLine plus 20 equals 0.">
                        <a:extLst>
                          <a:ext uri="{FF2B5EF4-FFF2-40B4-BE49-F238E27FC236}">
                            <a16:creationId xmlns:a16="http://schemas.microsoft.com/office/drawing/2014/main" id="{087BE664-BF4F-4D38-279B-2A1C07826E79}"/>
                          </a:ext>
                        </a:extLst>
                      </p:cNvPr>
                      <p:cNvPicPr>
                        <a:picLocks noChangeAspect="1" noChangeArrowheads="1"/>
                      </p:cNvPicPr>
                      <p:nvPr/>
                    </p:nvPicPr>
                    <p:blipFill>
                      <a:blip r:embed="rId6"/>
                      <a:srcRect/>
                      <a:stretch>
                        <a:fillRect/>
                      </a:stretch>
                    </p:blipFill>
                    <p:spPr bwMode="auto">
                      <a:xfrm>
                        <a:off x="3144426" y="3604092"/>
                        <a:ext cx="334645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3" descr="i subscript 2 BaseLine">
            <a:extLst>
              <a:ext uri="{FF2B5EF4-FFF2-40B4-BE49-F238E27FC236}">
                <a16:creationId xmlns:a16="http://schemas.microsoft.com/office/drawing/2014/main" id="{D560EF20-D1DF-8EC3-C583-B64F488AD55C}"/>
              </a:ext>
            </a:extLst>
          </p:cNvPr>
          <p:cNvGraphicFramePr>
            <a:graphicFrameLocks noChangeAspect="1"/>
          </p:cNvGraphicFramePr>
          <p:nvPr/>
        </p:nvGraphicFramePr>
        <p:xfrm>
          <a:off x="1903616" y="4097991"/>
          <a:ext cx="241300" cy="396875"/>
        </p:xfrm>
        <a:graphic>
          <a:graphicData uri="http://schemas.openxmlformats.org/presentationml/2006/ole">
            <mc:AlternateContent xmlns:mc="http://schemas.openxmlformats.org/markup-compatibility/2006">
              <mc:Choice xmlns:v="urn:schemas-microsoft-com:vml" Requires="v">
                <p:oleObj name="Equation" r:id="rId7" imgW="139680" imgH="228600" progId="Equation.DSMT4">
                  <p:embed/>
                </p:oleObj>
              </mc:Choice>
              <mc:Fallback>
                <p:oleObj name="Equation" r:id="rId7" imgW="139680" imgH="228600" progId="Equation.DSMT4">
                  <p:embed/>
                  <p:pic>
                    <p:nvPicPr>
                      <p:cNvPr id="20" name="Object 3" descr="i subscript 2 BaseLine">
                        <a:extLst>
                          <a:ext uri="{FF2B5EF4-FFF2-40B4-BE49-F238E27FC236}">
                            <a16:creationId xmlns:a16="http://schemas.microsoft.com/office/drawing/2014/main" id="{D560EF20-D1DF-8EC3-C583-B64F488AD55C}"/>
                          </a:ext>
                        </a:extLst>
                      </p:cNvPr>
                      <p:cNvPicPr>
                        <a:picLocks noChangeAspect="1" noChangeArrowheads="1"/>
                      </p:cNvPicPr>
                      <p:nvPr/>
                    </p:nvPicPr>
                    <p:blipFill>
                      <a:blip r:embed="rId8"/>
                      <a:srcRect/>
                      <a:stretch>
                        <a:fillRect/>
                      </a:stretch>
                    </p:blipFill>
                    <p:spPr bwMode="auto">
                      <a:xfrm>
                        <a:off x="1903616" y="4097991"/>
                        <a:ext cx="241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2223818" y="4048214"/>
            <a:ext cx="890324" cy="405683"/>
          </a:xfrm>
        </p:spPr>
        <p:txBody>
          <a:bodyPr wrap="square" lIns="0" tIns="18000" rIns="0" bIns="18000" anchor="ctr">
            <a:spAutoFit/>
          </a:bodyPr>
          <a:lstStyle/>
          <a:p>
            <a:pPr marL="0" indent="0">
              <a:spcBef>
                <a:spcPts val="600"/>
              </a:spcBef>
              <a:buNone/>
            </a:pPr>
            <a:r>
              <a:rPr lang="en-US" sz="2400" noProof="0" dirty="0"/>
              <a:t>mesh:</a:t>
            </a:r>
          </a:p>
        </p:txBody>
      </p:sp>
      <p:graphicFrame>
        <p:nvGraphicFramePr>
          <p:cNvPr id="21" name="Object 20" descr="negative v subscript Phi BaseLine plus 4 i subscript 2 BaseLine plus 4 Open Parenthesis i subscript 2 BaseLine minus i subscript 1 BaseLine Close Parenthesis equals 0.">
            <a:extLst>
              <a:ext uri="{FF2B5EF4-FFF2-40B4-BE49-F238E27FC236}">
                <a16:creationId xmlns:a16="http://schemas.microsoft.com/office/drawing/2014/main" id="{CAB511FE-5E4D-4630-8481-CCC95DC4671E}"/>
              </a:ext>
            </a:extLst>
          </p:cNvPr>
          <p:cNvGraphicFramePr>
            <a:graphicFrameLocks noChangeAspect="1"/>
          </p:cNvGraphicFramePr>
          <p:nvPr/>
        </p:nvGraphicFramePr>
        <p:xfrm>
          <a:off x="3182094" y="4068691"/>
          <a:ext cx="2643187" cy="417513"/>
        </p:xfrm>
        <a:graphic>
          <a:graphicData uri="http://schemas.openxmlformats.org/presentationml/2006/ole">
            <mc:AlternateContent xmlns:mc="http://schemas.openxmlformats.org/markup-compatibility/2006">
              <mc:Choice xmlns:v="urn:schemas-microsoft-com:vml" Requires="v">
                <p:oleObj name="Equation" r:id="rId9" imgW="1523880" imgH="241200" progId="Equation.DSMT4">
                  <p:embed/>
                </p:oleObj>
              </mc:Choice>
              <mc:Fallback>
                <p:oleObj name="Equation" r:id="rId9" imgW="1523880" imgH="241200" progId="Equation.DSMT4">
                  <p:embed/>
                  <p:pic>
                    <p:nvPicPr>
                      <p:cNvPr id="21" name="Object 20" descr="negative v subscript Phi BaseLine plus 4 i subscript 2 BaseLine plus 4 Open Parenthesis i subscript 2 BaseLine minus i subscript 1 BaseLine Close Parenthesis equals 0.">
                        <a:extLst>
                          <a:ext uri="{FF2B5EF4-FFF2-40B4-BE49-F238E27FC236}">
                            <a16:creationId xmlns:a16="http://schemas.microsoft.com/office/drawing/2014/main" id="{CAB511FE-5E4D-4630-8481-CCC95DC4671E}"/>
                          </a:ext>
                        </a:extLst>
                      </p:cNvPr>
                      <p:cNvPicPr>
                        <a:picLocks noChangeAspect="1" noChangeArrowheads="1"/>
                      </p:cNvPicPr>
                      <p:nvPr/>
                    </p:nvPicPr>
                    <p:blipFill>
                      <a:blip r:embed="rId10"/>
                      <a:srcRect/>
                      <a:stretch>
                        <a:fillRect/>
                      </a:stretch>
                    </p:blipFill>
                    <p:spPr bwMode="auto">
                      <a:xfrm>
                        <a:off x="3182094" y="4068691"/>
                        <a:ext cx="2643187"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645850" y="4500736"/>
            <a:ext cx="1433788" cy="405683"/>
          </a:xfrm>
        </p:spPr>
        <p:txBody>
          <a:bodyPr wrap="square" lIns="0" tIns="18000" rIns="0" bIns="18000" anchor="ctr">
            <a:spAutoFit/>
          </a:bodyPr>
          <a:lstStyle/>
          <a:p>
            <a:pPr marL="0" indent="0">
              <a:spcBef>
                <a:spcPts val="600"/>
              </a:spcBef>
              <a:buNone/>
            </a:pPr>
            <a:r>
              <a:rPr lang="en-US" sz="2400" noProof="0" dirty="0"/>
              <a:t>constraint:</a:t>
            </a:r>
          </a:p>
        </p:txBody>
      </p:sp>
      <p:graphicFrame>
        <p:nvGraphicFramePr>
          <p:cNvPr id="22" name="Object 3" descr="v subscript Phi BaseLine equals 4 i subscript 1.">
            <a:extLst>
              <a:ext uri="{FF2B5EF4-FFF2-40B4-BE49-F238E27FC236}">
                <a16:creationId xmlns:a16="http://schemas.microsoft.com/office/drawing/2014/main" id="{F3D3354C-FF5B-2F68-B7DA-C856AD90928F}"/>
              </a:ext>
            </a:extLst>
          </p:cNvPr>
          <p:cNvGraphicFramePr>
            <a:graphicFrameLocks noChangeAspect="1"/>
          </p:cNvGraphicFramePr>
          <p:nvPr/>
        </p:nvGraphicFramePr>
        <p:xfrm>
          <a:off x="3303615" y="4532761"/>
          <a:ext cx="901700" cy="419100"/>
        </p:xfrm>
        <a:graphic>
          <a:graphicData uri="http://schemas.openxmlformats.org/presentationml/2006/ole">
            <mc:AlternateContent xmlns:mc="http://schemas.openxmlformats.org/markup-compatibility/2006">
              <mc:Choice xmlns:v="urn:schemas-microsoft-com:vml" Requires="v">
                <p:oleObj name="Equation" r:id="rId11" imgW="520560" imgH="241200" progId="Equation.DSMT4">
                  <p:embed/>
                </p:oleObj>
              </mc:Choice>
              <mc:Fallback>
                <p:oleObj name="Equation" r:id="rId11" imgW="520560" imgH="241200" progId="Equation.DSMT4">
                  <p:embed/>
                  <p:pic>
                    <p:nvPicPr>
                      <p:cNvPr id="22" name="Object 3" descr="v subscript Phi BaseLine equals 4 i subscript 1.">
                        <a:extLst>
                          <a:ext uri="{FF2B5EF4-FFF2-40B4-BE49-F238E27FC236}">
                            <a16:creationId xmlns:a16="http://schemas.microsoft.com/office/drawing/2014/main" id="{F3D3354C-FF5B-2F68-B7DA-C856AD90928F}"/>
                          </a:ext>
                        </a:extLst>
                      </p:cNvPr>
                      <p:cNvPicPr>
                        <a:picLocks noChangeAspect="1" noChangeArrowheads="1"/>
                      </p:cNvPicPr>
                      <p:nvPr/>
                    </p:nvPicPr>
                    <p:blipFill>
                      <a:blip r:embed="rId12"/>
                      <a:srcRect/>
                      <a:stretch>
                        <a:fillRect/>
                      </a:stretch>
                    </p:blipFill>
                    <p:spPr bwMode="auto">
                      <a:xfrm>
                        <a:off x="3303615" y="4532761"/>
                        <a:ext cx="901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965025" y="4953346"/>
            <a:ext cx="1097358" cy="405683"/>
          </a:xfrm>
        </p:spPr>
        <p:txBody>
          <a:bodyPr wrap="square" lIns="0" tIns="18000" rIns="0" bIns="18000" anchor="ctr">
            <a:spAutoFit/>
          </a:bodyPr>
          <a:lstStyle/>
          <a:p>
            <a:pPr marL="0" indent="0">
              <a:spcBef>
                <a:spcPts val="600"/>
              </a:spcBef>
              <a:buNone/>
            </a:pPr>
            <a:r>
              <a:rPr lang="en-US" sz="2400" noProof="0" dirty="0"/>
              <a:t>Solving:</a:t>
            </a:r>
          </a:p>
        </p:txBody>
      </p:sp>
      <p:graphicFrame>
        <p:nvGraphicFramePr>
          <p:cNvPr id="23" name="Object 3" descr="i subscript 1 BaseLine equals 15 Amperes; i subscript 2 BaseLine 10 Amperes; v subscript Phi BaseLine equals 60 Volts.">
            <a:extLst>
              <a:ext uri="{FF2B5EF4-FFF2-40B4-BE49-F238E27FC236}">
                <a16:creationId xmlns:a16="http://schemas.microsoft.com/office/drawing/2014/main" id="{20BE72C8-4EF9-817F-1752-E8981B95C4D4}"/>
              </a:ext>
            </a:extLst>
          </p:cNvPr>
          <p:cNvGraphicFramePr>
            <a:graphicFrameLocks noChangeAspect="1"/>
          </p:cNvGraphicFramePr>
          <p:nvPr/>
        </p:nvGraphicFramePr>
        <p:xfrm>
          <a:off x="3307358" y="5032612"/>
          <a:ext cx="4381500" cy="419100"/>
        </p:xfrm>
        <a:graphic>
          <a:graphicData uri="http://schemas.openxmlformats.org/presentationml/2006/ole">
            <mc:AlternateContent xmlns:mc="http://schemas.openxmlformats.org/markup-compatibility/2006">
              <mc:Choice xmlns:v="urn:schemas-microsoft-com:vml" Requires="v">
                <p:oleObj name="Equation" r:id="rId13" imgW="2527200" imgH="241200" progId="Equation.DSMT4">
                  <p:embed/>
                </p:oleObj>
              </mc:Choice>
              <mc:Fallback>
                <p:oleObj name="Equation" r:id="rId13" imgW="2527200" imgH="241200" progId="Equation.DSMT4">
                  <p:embed/>
                  <p:pic>
                    <p:nvPicPr>
                      <p:cNvPr id="23" name="Object 3" descr="i subscript 1 BaseLine equals 15 Amperes; i subscript 2 BaseLine 10 Amperes; v subscript Phi BaseLine equals 60 Volts.">
                        <a:extLst>
                          <a:ext uri="{FF2B5EF4-FFF2-40B4-BE49-F238E27FC236}">
                            <a16:creationId xmlns:a16="http://schemas.microsoft.com/office/drawing/2014/main" id="{20BE72C8-4EF9-817F-1752-E8981B95C4D4}"/>
                          </a:ext>
                        </a:extLst>
                      </p:cNvPr>
                      <p:cNvPicPr>
                        <a:picLocks noChangeAspect="1" noChangeArrowheads="1"/>
                      </p:cNvPicPr>
                      <p:nvPr/>
                    </p:nvPicPr>
                    <p:blipFill>
                      <a:blip r:embed="rId14"/>
                      <a:srcRect/>
                      <a:stretch>
                        <a:fillRect/>
                      </a:stretch>
                    </p:blipFill>
                    <p:spPr bwMode="auto">
                      <a:xfrm>
                        <a:off x="3307358" y="5032612"/>
                        <a:ext cx="4381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3" descr="Therefore, v subscript o c BaseLine equals 4 i subscript 2 BaseLine plus 4 i subscript 1 BaseLine plus 20 equals 120 Volts.">
            <a:extLst>
              <a:ext uri="{FF2B5EF4-FFF2-40B4-BE49-F238E27FC236}">
                <a16:creationId xmlns:a16="http://schemas.microsoft.com/office/drawing/2014/main" id="{9E2ABC56-86B9-7265-1C35-5726DFB11B27}"/>
              </a:ext>
            </a:extLst>
          </p:cNvPr>
          <p:cNvGraphicFramePr>
            <a:graphicFrameLocks noChangeAspect="1"/>
          </p:cNvGraphicFramePr>
          <p:nvPr/>
        </p:nvGraphicFramePr>
        <p:xfrm>
          <a:off x="2005154" y="5547131"/>
          <a:ext cx="3793489" cy="391301"/>
        </p:xfrm>
        <a:graphic>
          <a:graphicData uri="http://schemas.openxmlformats.org/presentationml/2006/ole">
            <mc:AlternateContent xmlns:mc="http://schemas.openxmlformats.org/markup-compatibility/2006">
              <mc:Choice xmlns:v="urn:schemas-microsoft-com:vml" Requires="v">
                <p:oleObj name="Equation" r:id="rId15" imgW="2209680" imgH="228600" progId="Equation.DSMT4">
                  <p:embed/>
                </p:oleObj>
              </mc:Choice>
              <mc:Fallback>
                <p:oleObj name="Equation" r:id="rId15" imgW="2209680" imgH="228600" progId="Equation.DSMT4">
                  <p:embed/>
                  <p:pic>
                    <p:nvPicPr>
                      <p:cNvPr id="24" name="Object 3" descr="Therefore, v subscript o c BaseLine equals 4 i subscript 2 BaseLine plus 4 i subscript 1 BaseLine plus 20 equals 120 Volts.">
                        <a:extLst>
                          <a:ext uri="{FF2B5EF4-FFF2-40B4-BE49-F238E27FC236}">
                            <a16:creationId xmlns:a16="http://schemas.microsoft.com/office/drawing/2014/main" id="{9E2ABC56-86B9-7265-1C35-5726DFB11B27}"/>
                          </a:ext>
                        </a:extLst>
                      </p:cNvPr>
                      <p:cNvPicPr>
                        <a:picLocks noChangeAspect="1" noChangeArrowheads="1"/>
                      </p:cNvPicPr>
                      <p:nvPr/>
                    </p:nvPicPr>
                    <p:blipFill>
                      <a:blip r:embed="rId16"/>
                      <a:srcRect/>
                      <a:stretch>
                        <a:fillRect/>
                      </a:stretch>
                    </p:blipFill>
                    <p:spPr bwMode="auto">
                      <a:xfrm>
                        <a:off x="2005154" y="5547131"/>
                        <a:ext cx="3793489" cy="391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a:extLst>
              <a:ext uri="{FF2B5EF4-FFF2-40B4-BE49-F238E27FC236}">
                <a16:creationId xmlns:a16="http://schemas.microsoft.com/office/drawing/2014/main" id="{899B5315-3A73-C42D-5283-F12B89C869EA}"/>
              </a:ext>
            </a:extLst>
          </p:cNvPr>
          <p:cNvSpPr txBox="1"/>
          <p:nvPr/>
        </p:nvSpPr>
        <p:spPr>
          <a:xfrm>
            <a:off x="5870098" y="3973123"/>
            <a:ext cx="3082313" cy="523220"/>
          </a:xfrm>
          <a:prstGeom prst="rect">
            <a:avLst/>
          </a:prstGeom>
          <a:noFill/>
        </p:spPr>
        <p:txBody>
          <a:bodyPr wrap="square" rtlCol="0">
            <a:spAutoFit/>
          </a:bodyPr>
          <a:lstStyle/>
          <a:p>
            <a:r>
              <a:rPr lang="tr-TR" dirty="0" err="1">
                <a:solidFill>
                  <a:srgbClr val="FF0000"/>
                </a:solidFill>
              </a:rPr>
              <a:t>One</a:t>
            </a:r>
            <a:r>
              <a:rPr lang="tr-TR" dirty="0">
                <a:solidFill>
                  <a:srgbClr val="FF0000"/>
                </a:solidFill>
              </a:rPr>
              <a:t> 4</a:t>
            </a:r>
            <a:r>
              <a:rPr lang="tr-TR" i="1" dirty="0">
                <a:solidFill>
                  <a:srgbClr val="FF0000"/>
                </a:solidFill>
              </a:rPr>
              <a:t>i</a:t>
            </a:r>
            <a:r>
              <a:rPr lang="tr-TR" i="1" baseline="-25000" dirty="0">
                <a:solidFill>
                  <a:srgbClr val="FF0000"/>
                </a:solidFill>
              </a:rPr>
              <a:t>2 </a:t>
            </a:r>
            <a:r>
              <a:rPr lang="tr-TR" dirty="0">
                <a:solidFill>
                  <a:srgbClr val="FF0000"/>
                </a:solidFill>
              </a:rPr>
              <a:t>is </a:t>
            </a:r>
            <a:r>
              <a:rPr lang="tr-TR" dirty="0" err="1">
                <a:solidFill>
                  <a:srgbClr val="FF0000"/>
                </a:solidFill>
              </a:rPr>
              <a:t>missing</a:t>
            </a:r>
            <a:r>
              <a:rPr lang="tr-TR" dirty="0">
                <a:solidFill>
                  <a:srgbClr val="FF0000"/>
                </a:solidFill>
              </a:rPr>
              <a:t> in </a:t>
            </a:r>
            <a:r>
              <a:rPr lang="tr-TR" dirty="0" err="1">
                <a:solidFill>
                  <a:srgbClr val="FF0000"/>
                </a:solidFill>
              </a:rPr>
              <a:t>the</a:t>
            </a:r>
            <a:r>
              <a:rPr lang="tr-TR" dirty="0">
                <a:solidFill>
                  <a:srgbClr val="FF0000"/>
                </a:solidFill>
              </a:rPr>
              <a:t> </a:t>
            </a:r>
            <a:r>
              <a:rPr lang="tr-TR" dirty="0" err="1">
                <a:solidFill>
                  <a:srgbClr val="FF0000"/>
                </a:solidFill>
              </a:rPr>
              <a:t>equation</a:t>
            </a:r>
            <a:r>
              <a:rPr lang="tr-TR">
                <a:solidFill>
                  <a:srgbClr val="FF0000"/>
                </a:solidFill>
              </a:rPr>
              <a:t>. </a:t>
            </a:r>
            <a:r>
              <a:rPr lang="tr-TR" dirty="0">
                <a:solidFill>
                  <a:srgbClr val="FF0000"/>
                </a:solidFill>
              </a:rPr>
              <a:t>(</a:t>
            </a:r>
            <a:r>
              <a:rPr lang="tr-TR" dirty="0" err="1">
                <a:solidFill>
                  <a:srgbClr val="FF0000"/>
                </a:solidFill>
              </a:rPr>
              <a:t>Thanks</a:t>
            </a:r>
            <a:r>
              <a:rPr lang="tr-TR" dirty="0">
                <a:solidFill>
                  <a:srgbClr val="FF0000"/>
                </a:solidFill>
              </a:rPr>
              <a:t> </a:t>
            </a:r>
            <a:r>
              <a:rPr lang="tr-TR" dirty="0" err="1">
                <a:solidFill>
                  <a:srgbClr val="FF0000"/>
                </a:solidFill>
              </a:rPr>
              <a:t>to</a:t>
            </a:r>
            <a:r>
              <a:rPr lang="tr-TR" dirty="0">
                <a:solidFill>
                  <a:srgbClr val="FF0000"/>
                </a:solidFill>
              </a:rPr>
              <a:t> Alper for </a:t>
            </a:r>
            <a:r>
              <a:rPr lang="tr-TR" dirty="0" err="1">
                <a:solidFill>
                  <a:srgbClr val="FF0000"/>
                </a:solidFill>
              </a:rPr>
              <a:t>pointing</a:t>
            </a:r>
            <a:r>
              <a:rPr lang="tr-TR" dirty="0">
                <a:solidFill>
                  <a:srgbClr val="FF0000"/>
                </a:solidFill>
              </a:rPr>
              <a:t> it </a:t>
            </a:r>
            <a:r>
              <a:rPr lang="tr-TR" dirty="0" err="1">
                <a:solidFill>
                  <a:srgbClr val="FF0000"/>
                </a:solidFill>
              </a:rPr>
              <a:t>out</a:t>
            </a:r>
            <a:r>
              <a:rPr lang="tr-TR" dirty="0">
                <a:solidFill>
                  <a:srgbClr val="FF0000"/>
                </a:solidFill>
              </a:rPr>
              <a:t>.)</a:t>
            </a:r>
            <a:endParaRPr lang="tr-TR" i="1" baseline="-25000" dirty="0">
              <a:solidFill>
                <a:srgbClr val="FF0000"/>
              </a:solidFill>
            </a:endParaRPr>
          </a:p>
        </p:txBody>
      </p:sp>
    </p:spTree>
    <p:extLst>
      <p:ext uri="{BB962C8B-B14F-4D97-AF65-F5344CB8AC3E}">
        <p14:creationId xmlns:p14="http://schemas.microsoft.com/office/powerpoint/2010/main" val="1748225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6"/>
            <a:ext cx="8229600" cy="1144347"/>
          </a:xfrm>
        </p:spPr>
        <p:txBody>
          <a:bodyPr/>
          <a:lstStyle/>
          <a:p>
            <a:r>
              <a:rPr lang="en-US" noProof="0" dirty="0"/>
              <a:t>Chapter 4 – techniques of circuit analysis </a:t>
            </a:r>
            <a:r>
              <a:rPr lang="en-US" sz="2800" noProof="0" dirty="0"/>
              <a:t>(8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49" y="1444214"/>
            <a:ext cx="4444401" cy="1959955"/>
          </a:xfrm>
        </p:spPr>
        <p:txBody>
          <a:bodyPr wrap="square" lIns="0" tIns="18000" rIns="0" bIns="18000" anchor="ctr">
            <a:spAutoFit/>
          </a:bodyPr>
          <a:lstStyle/>
          <a:p>
            <a:pPr marL="0" indent="0">
              <a:spcBef>
                <a:spcPts val="600"/>
              </a:spcBef>
              <a:buNone/>
            </a:pPr>
            <a:r>
              <a:rPr lang="en-US" altLang="en-US" sz="2400" noProof="0" dirty="0"/>
              <a:t>Find the value of </a:t>
            </a:r>
            <a:r>
              <a:rPr lang="en-US" altLang="en-US" sz="2400" i="1" noProof="0" dirty="0"/>
              <a:t>R</a:t>
            </a:r>
            <a:r>
              <a:rPr lang="en-US" altLang="en-US" sz="2400" noProof="0" dirty="0"/>
              <a:t> such that maximum power is transferred to </a:t>
            </a:r>
            <a:r>
              <a:rPr lang="en-US" altLang="en-US" sz="2400" i="1" noProof="0" dirty="0"/>
              <a:t>R</a:t>
            </a:r>
            <a:r>
              <a:rPr lang="en-US" altLang="en-US" sz="2400" noProof="0" dirty="0"/>
              <a:t>, and find that maximum power.</a:t>
            </a:r>
          </a:p>
          <a:p>
            <a:pPr marL="486918" lvl="1" indent="0">
              <a:buNone/>
            </a:pPr>
            <a:r>
              <a:rPr lang="en-US" altLang="en-US" sz="2400" noProof="0" dirty="0"/>
              <a:t>Find the short circuit current:</a:t>
            </a:r>
            <a:endParaRPr lang="en-US" sz="2200" noProof="0" dirty="0">
              <a:solidFill>
                <a:schemeClr val="tx1"/>
              </a:solidFill>
            </a:endParaRPr>
          </a:p>
        </p:txBody>
      </p:sp>
      <p:pic>
        <p:nvPicPr>
          <p:cNvPr id="2" name="Picture 3" descr="A circuit diagram shows a two layered circuit. The leftmost wire in the lower circuit part is a 100 volt independent voltage source with positive polarity at its top end and negative at its bottom. Connected in parallel to the 100 volt independent voltage source is the second wire from left which contains a 4 ohms resistor above and in series with a 20 volt independent voltage source, which has positive polarity at its top end and negative at its bottom. Voltage v subscript ǿ develops across the 4 ohms resistor in the second wire from left. A node is formed where the leftmost wire joins the second wire from top. Two nodes are shown where the top and bottom ends of the second wire from left separately connect to the second wire from top and the bottom wire. A 4 ohms resistor is located in the second wire from top and between the lower circuit’s leftmost wire and second wire from left. Points a and b are respectively located in the second wire from top and the bottom wire in the lower part of the circuit. Points a and b are shown connected as the rightmost wire of the lower circuit. &#10;Located in the second wire from top and to the immediate right of the top node of the second wire from left is another 4 ohms resistor. To the immediate right of this 4 ohms resistor is another node. Wires rise above from this node as well as from the node formed where the leftmost wire joins the second wire from top. These two wires create the upper part of the circuit that contains, from left to right in that order and in series, a voltage dependent voltage source v subscript ǿ and a 4 ohms resistor. &#10;Current i subscript 1 flows clockwise in the lower leftmost part of the circuit formed between the lower circuit’s leftmost and second from left wires by the bottom wire and the second wire from top. Current i subscript 2 flows clockwise in the upper part of the circuit. Current i subscript se flows clockwise in the lower right part of the circuit formed between the lower circuit’s second wire from left wire and the rightmost wire by the bottom wire and the second wire from top.">
            <a:extLst>
              <a:ext uri="{FF2B5EF4-FFF2-40B4-BE49-F238E27FC236}">
                <a16:creationId xmlns:a16="http://schemas.microsoft.com/office/drawing/2014/main" id="{C7ADD1DF-23B3-5431-B745-C4BA1025BE35}"/>
              </a:ext>
            </a:extLst>
          </p:cNvPr>
          <p:cNvPicPr>
            <a:picLocks noChangeAspect="1" noChangeArrowheads="1"/>
          </p:cNvPicPr>
          <p:nvPr/>
        </p:nvPicPr>
        <p:blipFill>
          <a:blip r:embed="rId2"/>
          <a:srcRect/>
          <a:stretch/>
        </p:blipFill>
        <p:spPr bwMode="auto">
          <a:xfrm>
            <a:off x="5407353" y="1403443"/>
            <a:ext cx="2864782" cy="197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1" name="Object 2" descr="i subscript 1 BaseLine">
            <a:extLst>
              <a:ext uri="{FF2B5EF4-FFF2-40B4-BE49-F238E27FC236}">
                <a16:creationId xmlns:a16="http://schemas.microsoft.com/office/drawing/2014/main" id="{5C33F66F-19A3-5D4B-27C5-BCCF2C40EEF9}"/>
              </a:ext>
            </a:extLst>
          </p:cNvPr>
          <p:cNvGraphicFramePr>
            <a:graphicFrameLocks noChangeAspect="1"/>
          </p:cNvGraphicFramePr>
          <p:nvPr/>
        </p:nvGraphicFramePr>
        <p:xfrm>
          <a:off x="1433006" y="3552053"/>
          <a:ext cx="158653" cy="318943"/>
        </p:xfrm>
        <a:graphic>
          <a:graphicData uri="http://schemas.openxmlformats.org/presentationml/2006/ole">
            <mc:AlternateContent xmlns:mc="http://schemas.openxmlformats.org/markup-compatibility/2006">
              <mc:Choice xmlns:v="urn:schemas-microsoft-com:vml" Requires="v">
                <p:oleObj name="Equation" r:id="rId3" imgW="114120" imgH="228600" progId="Equation.DSMT4">
                  <p:embed/>
                </p:oleObj>
              </mc:Choice>
              <mc:Fallback>
                <p:oleObj name="Equation" r:id="rId3" imgW="114120" imgH="228600" progId="Equation.DSMT4">
                  <p:embed/>
                  <p:pic>
                    <p:nvPicPr>
                      <p:cNvPr id="21" name="Object 2" descr="i subscript 1 BaseLine">
                        <a:extLst>
                          <a:ext uri="{FF2B5EF4-FFF2-40B4-BE49-F238E27FC236}">
                            <a16:creationId xmlns:a16="http://schemas.microsoft.com/office/drawing/2014/main" id="{5C33F66F-19A3-5D4B-27C5-BCCF2C40EEF9}"/>
                          </a:ext>
                        </a:extLst>
                      </p:cNvPr>
                      <p:cNvPicPr>
                        <a:picLocks noChangeAspect="1" noChangeArrowheads="1"/>
                      </p:cNvPicPr>
                      <p:nvPr/>
                    </p:nvPicPr>
                    <p:blipFill>
                      <a:blip r:embed="rId4"/>
                      <a:srcRect/>
                      <a:stretch>
                        <a:fillRect/>
                      </a:stretch>
                    </p:blipFill>
                    <p:spPr bwMode="auto">
                      <a:xfrm>
                        <a:off x="1433006" y="3552053"/>
                        <a:ext cx="158653" cy="3189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697602" y="3506914"/>
            <a:ext cx="758009" cy="344128"/>
          </a:xfrm>
        </p:spPr>
        <p:txBody>
          <a:bodyPr wrap="square" lIns="0" tIns="18000" rIns="0" bIns="18000" anchor="ctr">
            <a:spAutoFit/>
          </a:bodyPr>
          <a:lstStyle/>
          <a:p>
            <a:pPr marL="0" indent="0">
              <a:spcBef>
                <a:spcPts val="600"/>
              </a:spcBef>
              <a:buNone/>
            </a:pPr>
            <a:r>
              <a:rPr lang="en-US" sz="2000" noProof="0" dirty="0"/>
              <a:t>mesh:</a:t>
            </a:r>
          </a:p>
        </p:txBody>
      </p:sp>
      <p:graphicFrame>
        <p:nvGraphicFramePr>
          <p:cNvPr id="22" name="Object 2" descr="negative 100 plus 4 Open Parenthesis i subscript 1 BaseLine minus i subscript 2 BaseLine Close Parenthesis plus 4 Open Parenthesis i subscript 1 BaseLine minus i subscript s c BaseLine Close Parenthesis plus 20 equals 0.">
            <a:extLst>
              <a:ext uri="{FF2B5EF4-FFF2-40B4-BE49-F238E27FC236}">
                <a16:creationId xmlns:a16="http://schemas.microsoft.com/office/drawing/2014/main" id="{1AF00DF8-8DA5-DB46-5076-E1BA1418D0F2}"/>
              </a:ext>
            </a:extLst>
          </p:cNvPr>
          <p:cNvGraphicFramePr>
            <a:graphicFrameLocks noChangeAspect="1"/>
          </p:cNvGraphicFramePr>
          <p:nvPr/>
        </p:nvGraphicFramePr>
        <p:xfrm>
          <a:off x="2490115" y="3566138"/>
          <a:ext cx="3135313" cy="309562"/>
        </p:xfrm>
        <a:graphic>
          <a:graphicData uri="http://schemas.openxmlformats.org/presentationml/2006/ole">
            <mc:AlternateContent xmlns:mc="http://schemas.openxmlformats.org/markup-compatibility/2006">
              <mc:Choice xmlns:v="urn:schemas-microsoft-com:vml" Requires="v">
                <p:oleObj name="Equation" r:id="rId5" imgW="2323800" imgH="228600" progId="Equation.DSMT4">
                  <p:embed/>
                </p:oleObj>
              </mc:Choice>
              <mc:Fallback>
                <p:oleObj name="Equation" r:id="rId5" imgW="2323800" imgH="228600" progId="Equation.DSMT4">
                  <p:embed/>
                  <p:pic>
                    <p:nvPicPr>
                      <p:cNvPr id="22" name="Object 2" descr="negative 100 plus 4 Open Parenthesis i subscript 1 BaseLine minus i subscript 2 BaseLine Close Parenthesis plus 4 Open Parenthesis i subscript 1 BaseLine minus i subscript s c BaseLine Close Parenthesis plus 20 equals 0.">
                        <a:extLst>
                          <a:ext uri="{FF2B5EF4-FFF2-40B4-BE49-F238E27FC236}">
                            <a16:creationId xmlns:a16="http://schemas.microsoft.com/office/drawing/2014/main" id="{1AF00DF8-8DA5-DB46-5076-E1BA1418D0F2}"/>
                          </a:ext>
                        </a:extLst>
                      </p:cNvPr>
                      <p:cNvPicPr>
                        <a:picLocks noChangeAspect="1" noChangeArrowheads="1"/>
                      </p:cNvPicPr>
                      <p:nvPr/>
                    </p:nvPicPr>
                    <p:blipFill>
                      <a:blip r:embed="rId6"/>
                      <a:srcRect/>
                      <a:stretch>
                        <a:fillRect/>
                      </a:stretch>
                    </p:blipFill>
                    <p:spPr bwMode="auto">
                      <a:xfrm>
                        <a:off x="2490115" y="3566138"/>
                        <a:ext cx="3135313" cy="309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2" descr="i subscript 2 BaseLine">
            <a:extLst>
              <a:ext uri="{FF2B5EF4-FFF2-40B4-BE49-F238E27FC236}">
                <a16:creationId xmlns:a16="http://schemas.microsoft.com/office/drawing/2014/main" id="{658B05BC-EF97-4EE1-CA1A-1C1899DE61E5}"/>
              </a:ext>
            </a:extLst>
          </p:cNvPr>
          <p:cNvGraphicFramePr>
            <a:graphicFrameLocks noChangeAspect="1"/>
          </p:cNvGraphicFramePr>
          <p:nvPr/>
        </p:nvGraphicFramePr>
        <p:xfrm>
          <a:off x="1427215" y="4001183"/>
          <a:ext cx="188912" cy="307975"/>
        </p:xfrm>
        <a:graphic>
          <a:graphicData uri="http://schemas.openxmlformats.org/presentationml/2006/ole">
            <mc:AlternateContent xmlns:mc="http://schemas.openxmlformats.org/markup-compatibility/2006">
              <mc:Choice xmlns:v="urn:schemas-microsoft-com:vml" Requires="v">
                <p:oleObj name="Equation" r:id="rId7" imgW="139680" imgH="228600" progId="Equation.DSMT4">
                  <p:embed/>
                </p:oleObj>
              </mc:Choice>
              <mc:Fallback>
                <p:oleObj name="Equation" r:id="rId7" imgW="139680" imgH="228600" progId="Equation.DSMT4">
                  <p:embed/>
                  <p:pic>
                    <p:nvPicPr>
                      <p:cNvPr id="23" name="Object 2" descr="i subscript 2 BaseLine">
                        <a:extLst>
                          <a:ext uri="{FF2B5EF4-FFF2-40B4-BE49-F238E27FC236}">
                            <a16:creationId xmlns:a16="http://schemas.microsoft.com/office/drawing/2014/main" id="{658B05BC-EF97-4EE1-CA1A-1C1899DE61E5}"/>
                          </a:ext>
                        </a:extLst>
                      </p:cNvPr>
                      <p:cNvPicPr>
                        <a:picLocks noChangeAspect="1" noChangeArrowheads="1"/>
                      </p:cNvPicPr>
                      <p:nvPr/>
                    </p:nvPicPr>
                    <p:blipFill>
                      <a:blip r:embed="rId8"/>
                      <a:srcRect/>
                      <a:stretch>
                        <a:fillRect/>
                      </a:stretch>
                    </p:blipFill>
                    <p:spPr bwMode="auto">
                      <a:xfrm>
                        <a:off x="1427215" y="4001183"/>
                        <a:ext cx="188912"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697602" y="3942187"/>
            <a:ext cx="758009" cy="344128"/>
          </a:xfrm>
        </p:spPr>
        <p:txBody>
          <a:bodyPr wrap="square" lIns="0" tIns="18000" rIns="0" bIns="18000" anchor="ctr">
            <a:spAutoFit/>
          </a:bodyPr>
          <a:lstStyle/>
          <a:p>
            <a:pPr marL="0" indent="0">
              <a:spcBef>
                <a:spcPts val="600"/>
              </a:spcBef>
              <a:buNone/>
            </a:pPr>
            <a:r>
              <a:rPr lang="en-US" sz="2000" noProof="0" dirty="0"/>
              <a:t>mesh:</a:t>
            </a:r>
          </a:p>
        </p:txBody>
      </p:sp>
      <p:graphicFrame>
        <p:nvGraphicFramePr>
          <p:cNvPr id="24" name="Object 2" descr="negative v subscript phi BaseLine plus 4 i subscript 2 BaseLine plus 4 Open Parenthesis i subscript 2 BaseLine minus i subscript s c BaseLine Close Parenthesis plus 4 Open Parenthesis i subscript 2 BaseLine minus i subscript 1 BaseLine Close Parenthesis equals 0.">
            <a:extLst>
              <a:ext uri="{FF2B5EF4-FFF2-40B4-BE49-F238E27FC236}">
                <a16:creationId xmlns:a16="http://schemas.microsoft.com/office/drawing/2014/main" id="{44CBFC58-63A3-4646-3A8F-ED1045BD8F6D}"/>
              </a:ext>
            </a:extLst>
          </p:cNvPr>
          <p:cNvGraphicFramePr>
            <a:graphicFrameLocks noChangeAspect="1"/>
          </p:cNvGraphicFramePr>
          <p:nvPr/>
        </p:nvGraphicFramePr>
        <p:xfrm>
          <a:off x="2500481" y="3961838"/>
          <a:ext cx="3080084" cy="328692"/>
        </p:xfrm>
        <a:graphic>
          <a:graphicData uri="http://schemas.openxmlformats.org/presentationml/2006/ole">
            <mc:AlternateContent xmlns:mc="http://schemas.openxmlformats.org/markup-compatibility/2006">
              <mc:Choice xmlns:v="urn:schemas-microsoft-com:vml" Requires="v">
                <p:oleObj name="Equation" r:id="rId9" imgW="2260440" imgH="241200" progId="Equation.DSMT4">
                  <p:embed/>
                </p:oleObj>
              </mc:Choice>
              <mc:Fallback>
                <p:oleObj name="Equation" r:id="rId9" imgW="2260440" imgH="241200" progId="Equation.DSMT4">
                  <p:embed/>
                  <p:pic>
                    <p:nvPicPr>
                      <p:cNvPr id="24" name="Object 2" descr="negative v subscript phi BaseLine plus 4 i subscript 2 BaseLine plus 4 Open Parenthesis i subscript 2 BaseLine minus i subscript s c BaseLine Close Parenthesis plus 4 Open Parenthesis i subscript 2 BaseLine minus i subscript 1 BaseLine Close Parenthesis equals 0.">
                        <a:extLst>
                          <a:ext uri="{FF2B5EF4-FFF2-40B4-BE49-F238E27FC236}">
                            <a16:creationId xmlns:a16="http://schemas.microsoft.com/office/drawing/2014/main" id="{44CBFC58-63A3-4646-3A8F-ED1045BD8F6D}"/>
                          </a:ext>
                        </a:extLst>
                      </p:cNvPr>
                      <p:cNvPicPr>
                        <a:picLocks noChangeAspect="1" noChangeArrowheads="1"/>
                      </p:cNvPicPr>
                      <p:nvPr/>
                    </p:nvPicPr>
                    <p:blipFill>
                      <a:blip r:embed="rId10"/>
                      <a:srcRect/>
                      <a:stretch>
                        <a:fillRect/>
                      </a:stretch>
                    </p:blipFill>
                    <p:spPr bwMode="auto">
                      <a:xfrm>
                        <a:off x="2500481" y="3961838"/>
                        <a:ext cx="3080084" cy="3286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 descr="i subscript s c BaseLine">
            <a:extLst>
              <a:ext uri="{FF2B5EF4-FFF2-40B4-BE49-F238E27FC236}">
                <a16:creationId xmlns:a16="http://schemas.microsoft.com/office/drawing/2014/main" id="{83713BA6-4D09-90DF-5E7D-B80A6B1A9F88}"/>
              </a:ext>
            </a:extLst>
          </p:cNvPr>
          <p:cNvGraphicFramePr>
            <a:graphicFrameLocks noChangeAspect="1"/>
          </p:cNvGraphicFramePr>
          <p:nvPr/>
        </p:nvGraphicFramePr>
        <p:xfrm>
          <a:off x="1388645" y="4398414"/>
          <a:ext cx="239712" cy="309562"/>
        </p:xfrm>
        <a:graphic>
          <a:graphicData uri="http://schemas.openxmlformats.org/presentationml/2006/ole">
            <mc:AlternateContent xmlns:mc="http://schemas.openxmlformats.org/markup-compatibility/2006">
              <mc:Choice xmlns:v="urn:schemas-microsoft-com:vml" Requires="v">
                <p:oleObj name="Equation" r:id="rId11" imgW="177480" imgH="228600" progId="Equation.DSMT4">
                  <p:embed/>
                </p:oleObj>
              </mc:Choice>
              <mc:Fallback>
                <p:oleObj name="Equation" r:id="rId11" imgW="177480" imgH="228600" progId="Equation.DSMT4">
                  <p:embed/>
                  <p:pic>
                    <p:nvPicPr>
                      <p:cNvPr id="25" name="Object 2" descr="i subscript s c BaseLine">
                        <a:extLst>
                          <a:ext uri="{FF2B5EF4-FFF2-40B4-BE49-F238E27FC236}">
                            <a16:creationId xmlns:a16="http://schemas.microsoft.com/office/drawing/2014/main" id="{83713BA6-4D09-90DF-5E7D-B80A6B1A9F88}"/>
                          </a:ext>
                        </a:extLst>
                      </p:cNvPr>
                      <p:cNvPicPr>
                        <a:picLocks noChangeAspect="1" noChangeArrowheads="1"/>
                      </p:cNvPicPr>
                      <p:nvPr/>
                    </p:nvPicPr>
                    <p:blipFill>
                      <a:blip r:embed="rId12"/>
                      <a:srcRect/>
                      <a:stretch>
                        <a:fillRect/>
                      </a:stretch>
                    </p:blipFill>
                    <p:spPr bwMode="auto">
                      <a:xfrm>
                        <a:off x="1388645" y="4398414"/>
                        <a:ext cx="239712" cy="309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697602" y="4351587"/>
            <a:ext cx="758009" cy="344128"/>
          </a:xfrm>
        </p:spPr>
        <p:txBody>
          <a:bodyPr wrap="square" lIns="0" tIns="18000" rIns="0" bIns="18000" anchor="ctr">
            <a:spAutoFit/>
          </a:bodyPr>
          <a:lstStyle/>
          <a:p>
            <a:pPr marL="0" indent="0">
              <a:spcBef>
                <a:spcPts val="600"/>
              </a:spcBef>
              <a:buNone/>
            </a:pPr>
            <a:r>
              <a:rPr lang="en-US" sz="2000" noProof="0" dirty="0"/>
              <a:t>mesh:</a:t>
            </a:r>
          </a:p>
        </p:txBody>
      </p:sp>
      <p:graphicFrame>
        <p:nvGraphicFramePr>
          <p:cNvPr id="26" name="Object 2" descr="negative 20 plus 4 Open Parenthesis i subscript s c BaseLine plus i subscript 1 BaseLine Close Parenthesis plus 4 Open Parenthesis i subscript s c BaseLine minus i subscript 2 BaseLine Close Parenthesis equals 0.">
            <a:extLst>
              <a:ext uri="{FF2B5EF4-FFF2-40B4-BE49-F238E27FC236}">
                <a16:creationId xmlns:a16="http://schemas.microsoft.com/office/drawing/2014/main" id="{E7A577A6-625E-0509-89AC-0D714502D578}"/>
              </a:ext>
            </a:extLst>
          </p:cNvPr>
          <p:cNvGraphicFramePr>
            <a:graphicFrameLocks noChangeAspect="1"/>
          </p:cNvGraphicFramePr>
          <p:nvPr/>
        </p:nvGraphicFramePr>
        <p:xfrm>
          <a:off x="2505187" y="4385420"/>
          <a:ext cx="2700084" cy="312658"/>
        </p:xfrm>
        <a:graphic>
          <a:graphicData uri="http://schemas.openxmlformats.org/presentationml/2006/ole">
            <mc:AlternateContent xmlns:mc="http://schemas.openxmlformats.org/markup-compatibility/2006">
              <mc:Choice xmlns:v="urn:schemas-microsoft-com:vml" Requires="v">
                <p:oleObj name="Equation" r:id="rId13" imgW="1981080" imgH="228600" progId="Equation.DSMT4">
                  <p:embed/>
                </p:oleObj>
              </mc:Choice>
              <mc:Fallback>
                <p:oleObj name="Equation" r:id="rId13" imgW="1981080" imgH="228600" progId="Equation.DSMT4">
                  <p:embed/>
                  <p:pic>
                    <p:nvPicPr>
                      <p:cNvPr id="26" name="Object 2" descr="negative 20 plus 4 Open Parenthesis i subscript s c BaseLine plus i subscript 1 BaseLine Close Parenthesis plus 4 Open Parenthesis i subscript s c BaseLine minus i subscript 2 BaseLine Close Parenthesis equals 0.">
                        <a:extLst>
                          <a:ext uri="{FF2B5EF4-FFF2-40B4-BE49-F238E27FC236}">
                            <a16:creationId xmlns:a16="http://schemas.microsoft.com/office/drawing/2014/main" id="{E7A577A6-625E-0509-89AC-0D714502D578}"/>
                          </a:ext>
                        </a:extLst>
                      </p:cNvPr>
                      <p:cNvPicPr>
                        <a:picLocks noChangeAspect="1" noChangeArrowheads="1"/>
                      </p:cNvPicPr>
                      <p:nvPr/>
                    </p:nvPicPr>
                    <p:blipFill>
                      <a:blip r:embed="rId14"/>
                      <a:srcRect/>
                      <a:stretch>
                        <a:fillRect/>
                      </a:stretch>
                    </p:blipFill>
                    <p:spPr bwMode="auto">
                      <a:xfrm>
                        <a:off x="2505187" y="4385420"/>
                        <a:ext cx="2700084" cy="312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205902" y="4768839"/>
            <a:ext cx="1249363" cy="344128"/>
          </a:xfrm>
        </p:spPr>
        <p:txBody>
          <a:bodyPr wrap="square" lIns="0" tIns="18000" rIns="0" bIns="18000" anchor="ctr">
            <a:spAutoFit/>
          </a:bodyPr>
          <a:lstStyle/>
          <a:p>
            <a:pPr marL="0" indent="0">
              <a:spcBef>
                <a:spcPts val="600"/>
              </a:spcBef>
              <a:buNone/>
            </a:pPr>
            <a:r>
              <a:rPr lang="en-US" sz="2000" noProof="0" dirty="0"/>
              <a:t>constraint:</a:t>
            </a:r>
          </a:p>
        </p:txBody>
      </p:sp>
      <p:graphicFrame>
        <p:nvGraphicFramePr>
          <p:cNvPr id="27" name="Object 2" descr="v subscript Phi BaseLine equals 4 Open Parenthesis i subscript 1 BaseLine minus i subscript s c BaseLine Close Parenthesis.">
            <a:extLst>
              <a:ext uri="{FF2B5EF4-FFF2-40B4-BE49-F238E27FC236}">
                <a16:creationId xmlns:a16="http://schemas.microsoft.com/office/drawing/2014/main" id="{22B86AF9-377C-1796-6D4B-703BB3DD1C79}"/>
              </a:ext>
            </a:extLst>
          </p:cNvPr>
          <p:cNvGraphicFramePr>
            <a:graphicFrameLocks noChangeAspect="1"/>
          </p:cNvGraphicFramePr>
          <p:nvPr/>
        </p:nvGraphicFramePr>
        <p:xfrm>
          <a:off x="2534489" y="4814467"/>
          <a:ext cx="1249363" cy="325437"/>
        </p:xfrm>
        <a:graphic>
          <a:graphicData uri="http://schemas.openxmlformats.org/presentationml/2006/ole">
            <mc:AlternateContent xmlns:mc="http://schemas.openxmlformats.org/markup-compatibility/2006">
              <mc:Choice xmlns:v="urn:schemas-microsoft-com:vml" Requires="v">
                <p:oleObj name="Equation" r:id="rId15" imgW="927000" imgH="241200" progId="Equation.DSMT4">
                  <p:embed/>
                </p:oleObj>
              </mc:Choice>
              <mc:Fallback>
                <p:oleObj name="Equation" r:id="rId15" imgW="927000" imgH="241200" progId="Equation.DSMT4">
                  <p:embed/>
                  <p:pic>
                    <p:nvPicPr>
                      <p:cNvPr id="27" name="Object 2" descr="v subscript Phi BaseLine equals 4 Open Parenthesis i subscript 1 BaseLine minus i subscript s c BaseLine Close Parenthesis.">
                        <a:extLst>
                          <a:ext uri="{FF2B5EF4-FFF2-40B4-BE49-F238E27FC236}">
                            <a16:creationId xmlns:a16="http://schemas.microsoft.com/office/drawing/2014/main" id="{22B86AF9-377C-1796-6D4B-703BB3DD1C79}"/>
                          </a:ext>
                        </a:extLst>
                      </p:cNvPr>
                      <p:cNvPicPr>
                        <a:picLocks noChangeAspect="1" noChangeArrowheads="1"/>
                      </p:cNvPicPr>
                      <p:nvPr/>
                    </p:nvPicPr>
                    <p:blipFill>
                      <a:blip r:embed="rId16"/>
                      <a:srcRect/>
                      <a:stretch>
                        <a:fillRect/>
                      </a:stretch>
                    </p:blipFill>
                    <p:spPr bwMode="auto">
                      <a:xfrm>
                        <a:off x="2534489" y="4814467"/>
                        <a:ext cx="1249363" cy="325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481944" y="5212610"/>
            <a:ext cx="967958" cy="344128"/>
          </a:xfrm>
        </p:spPr>
        <p:txBody>
          <a:bodyPr wrap="square" lIns="0" tIns="18000" rIns="0" bIns="18000" anchor="ctr">
            <a:spAutoFit/>
          </a:bodyPr>
          <a:lstStyle/>
          <a:p>
            <a:pPr marL="0" indent="0">
              <a:spcBef>
                <a:spcPts val="600"/>
              </a:spcBef>
              <a:buNone/>
            </a:pPr>
            <a:r>
              <a:rPr lang="en-US" sz="2000" noProof="0" dirty="0"/>
              <a:t>Solving:</a:t>
            </a:r>
          </a:p>
        </p:txBody>
      </p:sp>
      <p:graphicFrame>
        <p:nvGraphicFramePr>
          <p:cNvPr id="28" name="Object 2" descr="i subscript 1 BaseLine equals 45 Amperes; i subscript 2 BaseLine equals 30 Amperes; i subscript s c BaseLine equals 40 Amperes; v subscript Phi BaseLine equals 20 Volts.">
            <a:extLst>
              <a:ext uri="{FF2B5EF4-FFF2-40B4-BE49-F238E27FC236}">
                <a16:creationId xmlns:a16="http://schemas.microsoft.com/office/drawing/2014/main" id="{076C7DB8-9EC0-EF30-3EFF-B3698851EA70}"/>
              </a:ext>
            </a:extLst>
          </p:cNvPr>
          <p:cNvGraphicFramePr>
            <a:graphicFrameLocks noChangeAspect="1"/>
          </p:cNvGraphicFramePr>
          <p:nvPr/>
        </p:nvGraphicFramePr>
        <p:xfrm>
          <a:off x="2523288" y="5285267"/>
          <a:ext cx="4764088" cy="323850"/>
        </p:xfrm>
        <a:graphic>
          <a:graphicData uri="http://schemas.openxmlformats.org/presentationml/2006/ole">
            <mc:AlternateContent xmlns:mc="http://schemas.openxmlformats.org/markup-compatibility/2006">
              <mc:Choice xmlns:v="urn:schemas-microsoft-com:vml" Requires="v">
                <p:oleObj name="Equation" r:id="rId17" imgW="3530520" imgH="241200" progId="Equation.DSMT4">
                  <p:embed/>
                </p:oleObj>
              </mc:Choice>
              <mc:Fallback>
                <p:oleObj name="Equation" r:id="rId17" imgW="3530520" imgH="241200" progId="Equation.DSMT4">
                  <p:embed/>
                  <p:pic>
                    <p:nvPicPr>
                      <p:cNvPr id="28" name="Object 2" descr="i subscript 1 BaseLine equals 45 Amperes; i subscript 2 BaseLine equals 30 Amperes; i subscript s c BaseLine equals 40 Amperes; v subscript Phi BaseLine equals 20 Volts.">
                        <a:extLst>
                          <a:ext uri="{FF2B5EF4-FFF2-40B4-BE49-F238E27FC236}">
                            <a16:creationId xmlns:a16="http://schemas.microsoft.com/office/drawing/2014/main" id="{076C7DB8-9EC0-EF30-3EFF-B3698851EA70}"/>
                          </a:ext>
                        </a:extLst>
                      </p:cNvPr>
                      <p:cNvPicPr>
                        <a:picLocks noChangeAspect="1" noChangeArrowheads="1"/>
                      </p:cNvPicPr>
                      <p:nvPr/>
                    </p:nvPicPr>
                    <p:blipFill>
                      <a:blip r:embed="rId18"/>
                      <a:srcRect/>
                      <a:stretch>
                        <a:fillRect/>
                      </a:stretch>
                    </p:blipFill>
                    <p:spPr bwMode="auto">
                      <a:xfrm>
                        <a:off x="2523288" y="5285267"/>
                        <a:ext cx="476408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 descr="Therefore, R subscript T h BaseLine equals v subscript o c BaseLine divided by i subscript s c BaseLine equals 120 divided by 40 equals 3 Ohms.">
            <a:extLst>
              <a:ext uri="{FF2B5EF4-FFF2-40B4-BE49-F238E27FC236}">
                <a16:creationId xmlns:a16="http://schemas.microsoft.com/office/drawing/2014/main" id="{43B5CA41-C108-CAFB-5E1C-88299CE01453}"/>
              </a:ext>
            </a:extLst>
          </p:cNvPr>
          <p:cNvGraphicFramePr>
            <a:graphicFrameLocks noChangeAspect="1"/>
          </p:cNvGraphicFramePr>
          <p:nvPr/>
        </p:nvGraphicFramePr>
        <p:xfrm>
          <a:off x="1542735" y="5671463"/>
          <a:ext cx="2500569" cy="599757"/>
        </p:xfrm>
        <a:graphic>
          <a:graphicData uri="http://schemas.openxmlformats.org/presentationml/2006/ole">
            <mc:AlternateContent xmlns:mc="http://schemas.openxmlformats.org/markup-compatibility/2006">
              <mc:Choice xmlns:v="urn:schemas-microsoft-com:vml" Requires="v">
                <p:oleObj name="Equation" r:id="rId19" imgW="1854000" imgH="444240" progId="Equation.DSMT4">
                  <p:embed/>
                </p:oleObj>
              </mc:Choice>
              <mc:Fallback>
                <p:oleObj name="Equation" r:id="rId19" imgW="1854000" imgH="444240" progId="Equation.DSMT4">
                  <p:embed/>
                  <p:pic>
                    <p:nvPicPr>
                      <p:cNvPr id="29" name="Object 2" descr="Therefore, R subscript T h BaseLine equals v subscript o c BaseLine divided by i subscript s c BaseLine equals 120 divided by 40 equals 3 Ohms.">
                        <a:extLst>
                          <a:ext uri="{FF2B5EF4-FFF2-40B4-BE49-F238E27FC236}">
                            <a16:creationId xmlns:a16="http://schemas.microsoft.com/office/drawing/2014/main" id="{43B5CA41-C108-CAFB-5E1C-88299CE01453}"/>
                          </a:ext>
                        </a:extLst>
                      </p:cNvPr>
                      <p:cNvPicPr>
                        <a:picLocks noChangeAspect="1" noChangeArrowheads="1"/>
                      </p:cNvPicPr>
                      <p:nvPr/>
                    </p:nvPicPr>
                    <p:blipFill>
                      <a:blip r:embed="rId20"/>
                      <a:srcRect/>
                      <a:stretch>
                        <a:fillRect/>
                      </a:stretch>
                    </p:blipFill>
                    <p:spPr bwMode="auto">
                      <a:xfrm>
                        <a:off x="1542735" y="5671463"/>
                        <a:ext cx="2500569" cy="5997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05297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2"/>
            <a:ext cx="8229600" cy="1144347"/>
          </a:xfrm>
        </p:spPr>
        <p:txBody>
          <a:bodyPr/>
          <a:lstStyle/>
          <a:p>
            <a:r>
              <a:rPr lang="en-US" noProof="0" dirty="0"/>
              <a:t>Chapter 4 – techniques of circuit analysis </a:t>
            </a:r>
            <a:r>
              <a:rPr lang="en-US" sz="2800" noProof="0" dirty="0"/>
              <a:t>(9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0025"/>
            <a:ext cx="8084748" cy="1221291"/>
          </a:xfrm>
        </p:spPr>
        <p:txBody>
          <a:bodyPr wrap="square" lIns="0" tIns="18000" rIns="0" bIns="18000" anchor="ctr">
            <a:spAutoFit/>
          </a:bodyPr>
          <a:lstStyle/>
          <a:p>
            <a:pPr marL="0" indent="0">
              <a:spcBef>
                <a:spcPts val="600"/>
              </a:spcBef>
              <a:buNone/>
            </a:pPr>
            <a:r>
              <a:rPr lang="en-US" altLang="en-US" sz="2400" noProof="0" dirty="0"/>
              <a:t>Find the value of </a:t>
            </a:r>
            <a:r>
              <a:rPr lang="en-US" altLang="en-US" sz="2400" i="1" noProof="0" dirty="0"/>
              <a:t>R</a:t>
            </a:r>
            <a:r>
              <a:rPr lang="en-US" altLang="en-US" sz="2400" noProof="0" dirty="0"/>
              <a:t> such that maximum power is transferred to </a:t>
            </a:r>
            <a:r>
              <a:rPr lang="en-US" altLang="en-US" sz="2400" i="1" noProof="0" dirty="0"/>
              <a:t>R</a:t>
            </a:r>
            <a:r>
              <a:rPr lang="en-US" altLang="en-US" sz="2400" noProof="0" dirty="0"/>
              <a:t>, and find that maximum power.</a:t>
            </a:r>
          </a:p>
          <a:p>
            <a:pPr marL="486918" lvl="1" indent="0">
              <a:buNone/>
            </a:pPr>
            <a:r>
              <a:rPr lang="en-US" altLang="en-US" sz="2400" noProof="0" dirty="0"/>
              <a:t>The Thevenin equivalent:</a:t>
            </a:r>
            <a:endParaRPr lang="en-US" sz="2200" noProof="0" dirty="0">
              <a:solidFill>
                <a:schemeClr val="tx1"/>
              </a:solidFill>
            </a:endParaRPr>
          </a:p>
        </p:txBody>
      </p:sp>
      <p:pic>
        <p:nvPicPr>
          <p:cNvPr id="25" name="Picture 3" descr="A circuit diagram shows a 120 volt independent voltage source as the left wire in the circuit with positive polarity at the top end and negative at the bottom. The right wire of the circuit contains a 3 ohms resistor and is connected in parallel to the 120 volt independent voltage source. The top wire of the circuit contains a 3 ohms resistor. Points a and b are located in the top and bottom wires of the circuit to the left of the right wire. Point a is to the right of the 3 ohms resistor in the top wire and point b is vertically below point a.">
            <a:extLst>
              <a:ext uri="{FF2B5EF4-FFF2-40B4-BE49-F238E27FC236}">
                <a16:creationId xmlns:a16="http://schemas.microsoft.com/office/drawing/2014/main" id="{B18F8C81-3E57-E854-E793-667A6FDD90C6}"/>
              </a:ext>
            </a:extLst>
          </p:cNvPr>
          <p:cNvPicPr>
            <a:picLocks noChangeAspect="1" noChangeArrowheads="1"/>
          </p:cNvPicPr>
          <p:nvPr/>
        </p:nvPicPr>
        <p:blipFill>
          <a:blip r:embed="rId2"/>
          <a:stretch>
            <a:fillRect/>
          </a:stretch>
        </p:blipFill>
        <p:spPr bwMode="auto">
          <a:xfrm>
            <a:off x="3166583" y="3021488"/>
            <a:ext cx="2721113" cy="165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6" name="Object 25" descr="p subscript L BaseLine equals 60 squared divided by 3 equals 1200 Watts.">
            <a:extLst>
              <a:ext uri="{FF2B5EF4-FFF2-40B4-BE49-F238E27FC236}">
                <a16:creationId xmlns:a16="http://schemas.microsoft.com/office/drawing/2014/main" id="{099DF276-96F8-81B9-EBEC-10ED00B23ED3}"/>
              </a:ext>
            </a:extLst>
          </p:cNvPr>
          <p:cNvGraphicFramePr>
            <a:graphicFrameLocks noChangeAspect="1"/>
          </p:cNvGraphicFramePr>
          <p:nvPr>
            <p:extLst>
              <p:ext uri="{D42A27DB-BD31-4B8C-83A1-F6EECF244321}">
                <p14:modId xmlns:p14="http://schemas.microsoft.com/office/powerpoint/2010/main" val="3961517049"/>
              </p:ext>
            </p:extLst>
          </p:nvPr>
        </p:nvGraphicFramePr>
        <p:xfrm>
          <a:off x="3434648" y="5019441"/>
          <a:ext cx="2262657" cy="718974"/>
        </p:xfrm>
        <a:graphic>
          <a:graphicData uri="http://schemas.openxmlformats.org/presentationml/2006/ole">
            <mc:AlternateContent xmlns:mc="http://schemas.openxmlformats.org/markup-compatibility/2006">
              <mc:Choice xmlns:v="urn:schemas-microsoft-com:vml" Requires="v">
                <p:oleObj name="Equation" r:id="rId3" imgW="1320480" imgH="419040" progId="Equation.DSMT4">
                  <p:embed/>
                </p:oleObj>
              </mc:Choice>
              <mc:Fallback>
                <p:oleObj name="Equation" r:id="rId3" imgW="1320480" imgH="419040" progId="Equation.DSMT4">
                  <p:embed/>
                  <p:pic>
                    <p:nvPicPr>
                      <p:cNvPr id="3" name="Object 2">
                        <a:extLst>
                          <a:ext uri="{FF2B5EF4-FFF2-40B4-BE49-F238E27FC236}">
                            <a16:creationId xmlns:a16="http://schemas.microsoft.com/office/drawing/2014/main" id="{99C1567D-2F17-8231-770A-25DD00F05DAB}"/>
                          </a:ext>
                        </a:extLst>
                      </p:cNvPr>
                      <p:cNvPicPr>
                        <a:picLocks noChangeAspect="1" noChangeArrowheads="1"/>
                      </p:cNvPicPr>
                      <p:nvPr/>
                    </p:nvPicPr>
                    <p:blipFill>
                      <a:blip r:embed="rId4"/>
                      <a:srcRect/>
                      <a:stretch>
                        <a:fillRect/>
                      </a:stretch>
                    </p:blipFill>
                    <p:spPr bwMode="auto">
                      <a:xfrm>
                        <a:off x="3434648" y="5019441"/>
                        <a:ext cx="2262657" cy="7189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30582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8"/>
            <a:ext cx="8229600" cy="1144347"/>
          </a:xfrm>
        </p:spPr>
        <p:txBody>
          <a:bodyPr/>
          <a:lstStyle/>
          <a:p>
            <a:r>
              <a:rPr lang="en-US" noProof="0" dirty="0"/>
              <a:t>Chapter 4 – techniques of circuit analysis </a:t>
            </a:r>
            <a:r>
              <a:rPr lang="en-US" sz="2800" noProof="0" dirty="0"/>
              <a:t>(10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46968"/>
            <a:ext cx="8229600" cy="1883011"/>
          </a:xfrm>
        </p:spPr>
        <p:txBody>
          <a:bodyPr wrap="square" lIns="0" tIns="18000" rIns="0" bIns="18000" anchor="ctr">
            <a:spAutoFit/>
          </a:bodyPr>
          <a:lstStyle/>
          <a:p>
            <a:pPr marL="0" indent="0">
              <a:spcBef>
                <a:spcPts val="600"/>
              </a:spcBef>
              <a:buNone/>
            </a:pPr>
            <a:r>
              <a:rPr lang="en-US" sz="2400" noProof="0" dirty="0">
                <a:solidFill>
                  <a:schemeClr val="tx1"/>
                </a:solidFill>
              </a:rPr>
              <a:t>Linear circuits, which are examples of linear systems, obey the property of superposition. Thus, when a linear circuit has more than one independent source, we can find that circuit’s response by summing the responses to each source independently.</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3612940"/>
            <a:ext cx="4970612" cy="405683"/>
          </a:xfrm>
        </p:spPr>
        <p:txBody>
          <a:bodyPr wrap="square" lIns="0" tIns="18000" rIns="0" bIns="18000" anchor="ctr">
            <a:spAutoFit/>
          </a:bodyPr>
          <a:lstStyle/>
          <a:p>
            <a:pPr marL="0" indent="0">
              <a:spcBef>
                <a:spcPts val="600"/>
              </a:spcBef>
              <a:buNone/>
            </a:pPr>
            <a:r>
              <a:rPr lang="en-US" sz="2400" noProof="0" dirty="0"/>
              <a:t>Use superposition to find the voltage</a:t>
            </a:r>
            <a:endParaRPr lang="en-US" sz="2400" baseline="-25000" noProof="0" dirty="0"/>
          </a:p>
        </p:txBody>
      </p:sp>
      <p:graphicFrame>
        <p:nvGraphicFramePr>
          <p:cNvPr id="21" name="Object 20" descr="V subscript 1.">
            <a:extLst>
              <a:ext uri="{FF2B5EF4-FFF2-40B4-BE49-F238E27FC236}">
                <a16:creationId xmlns:a16="http://schemas.microsoft.com/office/drawing/2014/main" id="{00822670-CAED-644F-DD23-D0315809604C}"/>
              </a:ext>
            </a:extLst>
          </p:cNvPr>
          <p:cNvGraphicFramePr>
            <a:graphicFrameLocks noChangeAspect="1"/>
          </p:cNvGraphicFramePr>
          <p:nvPr>
            <p:extLst>
              <p:ext uri="{D42A27DB-BD31-4B8C-83A1-F6EECF244321}">
                <p14:modId xmlns:p14="http://schemas.microsoft.com/office/powerpoint/2010/main" val="3616172366"/>
              </p:ext>
            </p:extLst>
          </p:nvPr>
        </p:nvGraphicFramePr>
        <p:xfrm>
          <a:off x="5476256" y="3639961"/>
          <a:ext cx="286478" cy="428847"/>
        </p:xfrm>
        <a:graphic>
          <a:graphicData uri="http://schemas.openxmlformats.org/presentationml/2006/ole">
            <mc:AlternateContent xmlns:mc="http://schemas.openxmlformats.org/markup-compatibility/2006">
              <mc:Choice xmlns:v="urn:schemas-microsoft-com:vml" Requires="v">
                <p:oleObj name="Equation" r:id="rId2" imgW="152280" imgH="228600" progId="Equation.DSMT4">
                  <p:embed/>
                </p:oleObj>
              </mc:Choice>
              <mc:Fallback>
                <p:oleObj name="Equation" r:id="rId2" imgW="152280" imgH="228600" progId="Equation.DSMT4">
                  <p:embed/>
                  <p:pic>
                    <p:nvPicPr>
                      <p:cNvPr id="2" name="Object 1">
                        <a:extLst>
                          <a:ext uri="{FF2B5EF4-FFF2-40B4-BE49-F238E27FC236}">
                            <a16:creationId xmlns:a16="http://schemas.microsoft.com/office/drawing/2014/main" id="{38AF8581-0767-1A98-3560-551C800A2CA1}"/>
                          </a:ext>
                        </a:extLst>
                      </p:cNvPr>
                      <p:cNvPicPr>
                        <a:picLocks noChangeAspect="1" noChangeArrowheads="1"/>
                      </p:cNvPicPr>
                      <p:nvPr/>
                    </p:nvPicPr>
                    <p:blipFill>
                      <a:blip r:embed="rId3"/>
                      <a:srcRect/>
                      <a:stretch>
                        <a:fillRect/>
                      </a:stretch>
                    </p:blipFill>
                    <p:spPr bwMode="auto">
                      <a:xfrm>
                        <a:off x="5476256" y="3639961"/>
                        <a:ext cx="286478" cy="4288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5890035" y="3608267"/>
            <a:ext cx="2434456" cy="405683"/>
          </a:xfrm>
        </p:spPr>
        <p:txBody>
          <a:bodyPr wrap="square" lIns="0" tIns="18000" rIns="0" bIns="18000" anchor="ctr">
            <a:spAutoFit/>
          </a:bodyPr>
          <a:lstStyle/>
          <a:p>
            <a:pPr marL="0" indent="0">
              <a:spcBef>
                <a:spcPts val="600"/>
              </a:spcBef>
              <a:buNone/>
            </a:pPr>
            <a:r>
              <a:rPr lang="en-US" sz="2400" noProof="0" dirty="0"/>
              <a:t>in the circuit here.</a:t>
            </a:r>
          </a:p>
        </p:txBody>
      </p:sp>
      <p:pic>
        <p:nvPicPr>
          <p:cNvPr id="22" name="Picture 21" descr="A circuit diagram shows a 50 volts independent voltage source with positive polarity at its top and negative at the bottom as the left most wire in the circuit. Connected in parallel to the 50 volts independent voltage source are the second, third, and fourth wires from left. The second wire from left contains a 10 ohms resistor with voltage v subscript 1 across it. Voltage v subscript 1 has positive polarity at top and negative at bottom. The third wire from left contains a 40 ohms resistor. The fourth wire from left contains a 3 ampere independent current source with internal arrow pointing upwards. A 5 ohms resistor is located in the top wire of the circuit between the leftmost wire and second wire from left. ">
            <a:extLst>
              <a:ext uri="{FF2B5EF4-FFF2-40B4-BE49-F238E27FC236}">
                <a16:creationId xmlns:a16="http://schemas.microsoft.com/office/drawing/2014/main" id="{86A289D0-2410-640E-672B-8F6D75FDCCAF}"/>
              </a:ext>
            </a:extLst>
          </p:cNvPr>
          <p:cNvPicPr>
            <a:picLocks noChangeAspect="1" noChangeArrowheads="1"/>
          </p:cNvPicPr>
          <p:nvPr/>
        </p:nvPicPr>
        <p:blipFill>
          <a:blip r:embed="rId4"/>
          <a:stretch>
            <a:fillRect/>
          </a:stretch>
        </p:blipFill>
        <p:spPr bwMode="auto">
          <a:xfrm>
            <a:off x="2356529" y="4456075"/>
            <a:ext cx="4415507" cy="14417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38739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40"/>
            <a:ext cx="8229600" cy="1144347"/>
          </a:xfrm>
        </p:spPr>
        <p:txBody>
          <a:bodyPr/>
          <a:lstStyle/>
          <a:p>
            <a:r>
              <a:rPr lang="en-US" noProof="0" dirty="0"/>
              <a:t>Chapter 4 – techniques of circuit analysis </a:t>
            </a:r>
            <a:r>
              <a:rPr lang="en-US" sz="2800" noProof="0" dirty="0"/>
              <a:t>(11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2390"/>
            <a:ext cx="6324959" cy="405683"/>
          </a:xfrm>
        </p:spPr>
        <p:txBody>
          <a:bodyPr wrap="square" lIns="0" tIns="18000" rIns="0" bIns="18000" anchor="ctr">
            <a:spAutoFit/>
          </a:bodyPr>
          <a:lstStyle/>
          <a:p>
            <a:pPr marL="0" indent="0">
              <a:spcBef>
                <a:spcPts val="600"/>
              </a:spcBef>
              <a:buNone/>
            </a:pPr>
            <a:r>
              <a:rPr lang="en-US" sz="2400" noProof="0" dirty="0"/>
              <a:t>We begin by calculating the voltage across the</a:t>
            </a:r>
          </a:p>
        </p:txBody>
      </p:sp>
      <p:graphicFrame>
        <p:nvGraphicFramePr>
          <p:cNvPr id="2" name="Object 1" descr="10 Ohms.">
            <a:extLst>
              <a:ext uri="{FF2B5EF4-FFF2-40B4-BE49-F238E27FC236}">
                <a16:creationId xmlns:a16="http://schemas.microsoft.com/office/drawing/2014/main" id="{86326055-C60E-4B2C-5F67-47A640526054}"/>
              </a:ext>
            </a:extLst>
          </p:cNvPr>
          <p:cNvGraphicFramePr>
            <a:graphicFrameLocks noChangeAspect="1"/>
          </p:cNvGraphicFramePr>
          <p:nvPr>
            <p:extLst>
              <p:ext uri="{D42A27DB-BD31-4B8C-83A1-F6EECF244321}">
                <p14:modId xmlns:p14="http://schemas.microsoft.com/office/powerpoint/2010/main" val="1403085158"/>
              </p:ext>
            </p:extLst>
          </p:nvPr>
        </p:nvGraphicFramePr>
        <p:xfrm>
          <a:off x="6822945" y="1515866"/>
          <a:ext cx="623888" cy="323850"/>
        </p:xfrm>
        <a:graphic>
          <a:graphicData uri="http://schemas.openxmlformats.org/presentationml/2006/ole">
            <mc:AlternateContent xmlns:mc="http://schemas.openxmlformats.org/markup-compatibility/2006">
              <mc:Choice xmlns:v="urn:schemas-microsoft-com:vml" Requires="v">
                <p:oleObj name="Equation" r:id="rId2" imgW="342720" imgH="177480" progId="Equation.DSMT4">
                  <p:embed/>
                </p:oleObj>
              </mc:Choice>
              <mc:Fallback>
                <p:oleObj name="Equation" r:id="rId2" imgW="342720" imgH="177480" progId="Equation.DSMT4">
                  <p:embed/>
                  <p:pic>
                    <p:nvPicPr>
                      <p:cNvPr id="2" name="Object 1">
                        <a:extLst>
                          <a:ext uri="{FF2B5EF4-FFF2-40B4-BE49-F238E27FC236}">
                            <a16:creationId xmlns:a16="http://schemas.microsoft.com/office/drawing/2014/main" id="{130D5D68-28E4-929B-66D6-2EBEA53ECC8E}"/>
                          </a:ext>
                        </a:extLst>
                      </p:cNvPr>
                      <p:cNvPicPr>
                        <a:picLocks noChangeAspect="1" noChangeArrowheads="1"/>
                      </p:cNvPicPr>
                      <p:nvPr/>
                    </p:nvPicPr>
                    <p:blipFill>
                      <a:blip r:embed="rId3"/>
                      <a:srcRect/>
                      <a:stretch>
                        <a:fillRect/>
                      </a:stretch>
                    </p:blipFill>
                    <p:spPr bwMode="auto">
                      <a:xfrm>
                        <a:off x="6822945" y="1515866"/>
                        <a:ext cx="62388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7572190" y="1447718"/>
            <a:ext cx="1002461" cy="405683"/>
          </a:xfrm>
        </p:spPr>
        <p:txBody>
          <a:bodyPr wrap="square" lIns="0" tIns="18000" rIns="0" bIns="18000" anchor="ctr">
            <a:spAutoFit/>
          </a:bodyPr>
          <a:lstStyle/>
          <a:p>
            <a:pPr marL="0" indent="0">
              <a:spcBef>
                <a:spcPts val="600"/>
              </a:spcBef>
              <a:buNone/>
            </a:pPr>
            <a:r>
              <a:rPr lang="en-US" sz="2400" noProof="0" dirty="0"/>
              <a:t>resistor</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1901852"/>
            <a:ext cx="8136501" cy="1144347"/>
          </a:xfrm>
        </p:spPr>
        <p:txBody>
          <a:bodyPr wrap="square" lIns="0" tIns="18000" rIns="0" bIns="18000" anchor="ctr">
            <a:spAutoFit/>
          </a:bodyPr>
          <a:lstStyle/>
          <a:p>
            <a:pPr marL="0" indent="0">
              <a:spcBef>
                <a:spcPts val="600"/>
              </a:spcBef>
              <a:buNone/>
            </a:pPr>
            <a:r>
              <a:rPr lang="en-US" sz="2400" noProof="0" dirty="0"/>
              <a:t>due to the voltage source. We need to set the value of the current source to 0 A. Therefore, we replace the current source with a(n)</a:t>
            </a:r>
          </a:p>
        </p:txBody>
      </p:sp>
      <p:pic>
        <p:nvPicPr>
          <p:cNvPr id="3" name="Picture 4" descr="A circuit diagram shows a 50 volts independent voltage source with positive polarity at its top and negative at the bottom as the left most wire in the circuit. Connected in parallel to the 50 volts independent voltage source are the second, third, and fourth wires from left. The second wire from left contains a 10 ohms resistor with voltage v subscript 1 across it. Voltage v subscript 1 has positive polarity at top and negative at bottom. The third wire from left contains a 40 ohms resistor. The fourth wire from left contains a 3 ampere independent current source with internal arrow pointing upwards. A 5 ohms resistor is located in the top wire of the circuit between the leftmost wire and second wire from left. ">
            <a:extLst>
              <a:ext uri="{FF2B5EF4-FFF2-40B4-BE49-F238E27FC236}">
                <a16:creationId xmlns:a16="http://schemas.microsoft.com/office/drawing/2014/main" id="{4AABF398-1D3D-62E5-4BCA-881F3D84A073}"/>
              </a:ext>
            </a:extLst>
          </p:cNvPr>
          <p:cNvPicPr>
            <a:picLocks noChangeAspect="1" noChangeArrowheads="1"/>
          </p:cNvPicPr>
          <p:nvPr/>
        </p:nvPicPr>
        <p:blipFill>
          <a:blip r:embed="rId4"/>
          <a:stretch>
            <a:fillRect/>
          </a:stretch>
        </p:blipFill>
        <p:spPr bwMode="auto">
          <a:xfrm>
            <a:off x="2825041" y="3196134"/>
            <a:ext cx="3582878" cy="11699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550958" y="4466240"/>
            <a:ext cx="2011754"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open circuit</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550957" y="4901597"/>
            <a:ext cx="2011755"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short circuit</a:t>
            </a:r>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550958" y="5345367"/>
            <a:ext cx="2425822"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voltage source</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550958" y="5798167"/>
            <a:ext cx="2917528" cy="405683"/>
          </a:xfrm>
        </p:spPr>
        <p:txBody>
          <a:bodyPr wrap="square" lIns="0" tIns="18000" rIns="0" bIns="18000" anchor="ctr">
            <a:spAutoFit/>
          </a:bodyPr>
          <a:lstStyle/>
          <a:p>
            <a:pPr marL="0" indent="0">
              <a:spcBef>
                <a:spcPts val="600"/>
              </a:spcBef>
              <a:buNone/>
            </a:pPr>
            <a:r>
              <a:rPr lang="en-US" sz="2400" noProof="0" dirty="0">
                <a:solidFill>
                  <a:srgbClr val="007FA3"/>
                </a:solidFill>
              </a:rPr>
              <a:t>D. </a:t>
            </a:r>
            <a:r>
              <a:rPr lang="en-US" sz="2400" noProof="0" dirty="0"/>
              <a:t>dependent source</a:t>
            </a:r>
          </a:p>
        </p:txBody>
      </p:sp>
    </p:spTree>
    <p:extLst>
      <p:ext uri="{BB962C8B-B14F-4D97-AF65-F5344CB8AC3E}">
        <p14:creationId xmlns:p14="http://schemas.microsoft.com/office/powerpoint/2010/main" val="2498829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62F50-2D32-8169-8386-08306DE5D96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3C8B2FA-0E01-2A37-21A1-8186834AAEEB}"/>
              </a:ext>
            </a:extLst>
          </p:cNvPr>
          <p:cNvSpPr>
            <a:spLocks noGrp="1"/>
          </p:cNvSpPr>
          <p:nvPr>
            <p:ph type="title"/>
          </p:nvPr>
        </p:nvSpPr>
        <p:spPr>
          <a:xfrm>
            <a:off x="438150" y="196740"/>
            <a:ext cx="8229600" cy="1144347"/>
          </a:xfrm>
        </p:spPr>
        <p:txBody>
          <a:bodyPr/>
          <a:lstStyle/>
          <a:p>
            <a:r>
              <a:rPr lang="en-US" noProof="0" dirty="0"/>
              <a:t>Chapter 4 – techniques of circuit analysis </a:t>
            </a:r>
            <a:r>
              <a:rPr lang="en-US" sz="2800" noProof="0" dirty="0"/>
              <a:t>(11 of 16)</a:t>
            </a:r>
            <a:endParaRPr lang="en-US" noProof="0" dirty="0"/>
          </a:p>
        </p:txBody>
      </p:sp>
      <p:sp>
        <p:nvSpPr>
          <p:cNvPr id="7" name="Content Placeholder 6">
            <a:extLst>
              <a:ext uri="{FF2B5EF4-FFF2-40B4-BE49-F238E27FC236}">
                <a16:creationId xmlns:a16="http://schemas.microsoft.com/office/drawing/2014/main" id="{F1F34C5D-356F-4603-2D59-3DC9C3351139}"/>
              </a:ext>
            </a:extLst>
          </p:cNvPr>
          <p:cNvSpPr>
            <a:spLocks noGrp="1"/>
          </p:cNvSpPr>
          <p:nvPr>
            <p:ph sz="quarter" idx="12"/>
          </p:nvPr>
        </p:nvSpPr>
        <p:spPr>
          <a:xfrm>
            <a:off x="438150" y="1452390"/>
            <a:ext cx="6324959" cy="405683"/>
          </a:xfrm>
        </p:spPr>
        <p:txBody>
          <a:bodyPr wrap="square" lIns="0" tIns="18000" rIns="0" bIns="18000" anchor="ctr">
            <a:spAutoFit/>
          </a:bodyPr>
          <a:lstStyle/>
          <a:p>
            <a:pPr marL="0" indent="0">
              <a:spcBef>
                <a:spcPts val="600"/>
              </a:spcBef>
              <a:buNone/>
            </a:pPr>
            <a:r>
              <a:rPr lang="en-US" sz="2400" noProof="0" dirty="0"/>
              <a:t>We begin by calculating the voltage across the</a:t>
            </a:r>
          </a:p>
        </p:txBody>
      </p:sp>
      <p:graphicFrame>
        <p:nvGraphicFramePr>
          <p:cNvPr id="2" name="Object 1" descr="10 Ohms.">
            <a:extLst>
              <a:ext uri="{FF2B5EF4-FFF2-40B4-BE49-F238E27FC236}">
                <a16:creationId xmlns:a16="http://schemas.microsoft.com/office/drawing/2014/main" id="{FEC0853C-2A07-B90D-8F48-387B820B22A4}"/>
              </a:ext>
            </a:extLst>
          </p:cNvPr>
          <p:cNvGraphicFramePr>
            <a:graphicFrameLocks noChangeAspect="1"/>
          </p:cNvGraphicFramePr>
          <p:nvPr/>
        </p:nvGraphicFramePr>
        <p:xfrm>
          <a:off x="6822945" y="1515866"/>
          <a:ext cx="623888" cy="323850"/>
        </p:xfrm>
        <a:graphic>
          <a:graphicData uri="http://schemas.openxmlformats.org/presentationml/2006/ole">
            <mc:AlternateContent xmlns:mc="http://schemas.openxmlformats.org/markup-compatibility/2006">
              <mc:Choice xmlns:v="urn:schemas-microsoft-com:vml" Requires="v">
                <p:oleObj name="Equation" r:id="rId2" imgW="342720" imgH="177480" progId="Equation.DSMT4">
                  <p:embed/>
                </p:oleObj>
              </mc:Choice>
              <mc:Fallback>
                <p:oleObj name="Equation" r:id="rId2" imgW="342720" imgH="177480" progId="Equation.DSMT4">
                  <p:embed/>
                  <p:pic>
                    <p:nvPicPr>
                      <p:cNvPr id="2" name="Object 1" descr="10 Ohms.">
                        <a:extLst>
                          <a:ext uri="{FF2B5EF4-FFF2-40B4-BE49-F238E27FC236}">
                            <a16:creationId xmlns:a16="http://schemas.microsoft.com/office/drawing/2014/main" id="{86326055-C60E-4B2C-5F67-47A640526054}"/>
                          </a:ext>
                        </a:extLst>
                      </p:cNvPr>
                      <p:cNvPicPr>
                        <a:picLocks noChangeAspect="1" noChangeArrowheads="1"/>
                      </p:cNvPicPr>
                      <p:nvPr/>
                    </p:nvPicPr>
                    <p:blipFill>
                      <a:blip r:embed="rId3"/>
                      <a:srcRect/>
                      <a:stretch>
                        <a:fillRect/>
                      </a:stretch>
                    </p:blipFill>
                    <p:spPr bwMode="auto">
                      <a:xfrm>
                        <a:off x="6822945" y="1515866"/>
                        <a:ext cx="62388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BCFDFAC9-98A1-095B-2C25-BFD4AEB1DD80}"/>
              </a:ext>
            </a:extLst>
          </p:cNvPr>
          <p:cNvSpPr>
            <a:spLocks noGrp="1"/>
          </p:cNvSpPr>
          <p:nvPr>
            <p:ph sz="quarter" idx="13"/>
          </p:nvPr>
        </p:nvSpPr>
        <p:spPr>
          <a:xfrm>
            <a:off x="7572190" y="1447718"/>
            <a:ext cx="1002461" cy="405683"/>
          </a:xfrm>
        </p:spPr>
        <p:txBody>
          <a:bodyPr wrap="square" lIns="0" tIns="18000" rIns="0" bIns="18000" anchor="ctr">
            <a:spAutoFit/>
          </a:bodyPr>
          <a:lstStyle/>
          <a:p>
            <a:pPr marL="0" indent="0">
              <a:spcBef>
                <a:spcPts val="600"/>
              </a:spcBef>
              <a:buNone/>
            </a:pPr>
            <a:r>
              <a:rPr lang="en-US" sz="2400" noProof="0" dirty="0"/>
              <a:t>resistor</a:t>
            </a:r>
          </a:p>
        </p:txBody>
      </p:sp>
      <p:sp>
        <p:nvSpPr>
          <p:cNvPr id="9" name="Content Placeholder 8">
            <a:extLst>
              <a:ext uri="{FF2B5EF4-FFF2-40B4-BE49-F238E27FC236}">
                <a16:creationId xmlns:a16="http://schemas.microsoft.com/office/drawing/2014/main" id="{7033B07B-0989-43D5-A7F2-C0D067F2B100}"/>
              </a:ext>
            </a:extLst>
          </p:cNvPr>
          <p:cNvSpPr>
            <a:spLocks noGrp="1"/>
          </p:cNvSpPr>
          <p:nvPr>
            <p:ph sz="quarter" idx="14"/>
          </p:nvPr>
        </p:nvSpPr>
        <p:spPr>
          <a:xfrm>
            <a:off x="438150" y="1901852"/>
            <a:ext cx="8136501" cy="1144347"/>
          </a:xfrm>
        </p:spPr>
        <p:txBody>
          <a:bodyPr wrap="square" lIns="0" tIns="18000" rIns="0" bIns="18000" anchor="ctr">
            <a:spAutoFit/>
          </a:bodyPr>
          <a:lstStyle/>
          <a:p>
            <a:pPr marL="0" indent="0">
              <a:spcBef>
                <a:spcPts val="600"/>
              </a:spcBef>
              <a:buNone/>
            </a:pPr>
            <a:r>
              <a:rPr lang="en-US" sz="2400" noProof="0" dirty="0"/>
              <a:t>due to the voltage source. We need to set the value of the current source to 0 A. Therefore, we replace the current source with a(n)</a:t>
            </a:r>
          </a:p>
        </p:txBody>
      </p:sp>
      <p:pic>
        <p:nvPicPr>
          <p:cNvPr id="3" name="Picture 4" descr="A circuit diagram shows a 50 volts independent voltage source with positive polarity at its top and negative at the bottom as the left most wire in the circuit. Connected in parallel to the 50 volts independent voltage source are the second, third, and fourth wires from left. The second wire from left contains a 10 ohms resistor with voltage v subscript 1 across it. Voltage v subscript 1 has positive polarity at top and negative at bottom. The third wire from left contains a 40 ohms resistor. The fourth wire from left contains a 3 ampere independent current source with internal arrow pointing upwards. A 5 ohms resistor is located in the top wire of the circuit between the leftmost wire and second wire from left. ">
            <a:extLst>
              <a:ext uri="{FF2B5EF4-FFF2-40B4-BE49-F238E27FC236}">
                <a16:creationId xmlns:a16="http://schemas.microsoft.com/office/drawing/2014/main" id="{04CF5B7E-F935-533F-00A0-56D06FB2A8E5}"/>
              </a:ext>
            </a:extLst>
          </p:cNvPr>
          <p:cNvPicPr>
            <a:picLocks noChangeAspect="1" noChangeArrowheads="1"/>
          </p:cNvPicPr>
          <p:nvPr/>
        </p:nvPicPr>
        <p:blipFill>
          <a:blip r:embed="rId4"/>
          <a:stretch>
            <a:fillRect/>
          </a:stretch>
        </p:blipFill>
        <p:spPr bwMode="auto">
          <a:xfrm>
            <a:off x="2825041" y="3196134"/>
            <a:ext cx="3582878" cy="11699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descr=" tick mark.">
            <a:extLst>
              <a:ext uri="{FF2B5EF4-FFF2-40B4-BE49-F238E27FC236}">
                <a16:creationId xmlns:a16="http://schemas.microsoft.com/office/drawing/2014/main" id="{B787F7BF-6AAF-42FE-B0B2-0D986B604DF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5817" y="4563380"/>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BFF0895A-4ABE-9339-CD28-D31D851F5AFD}"/>
              </a:ext>
            </a:extLst>
          </p:cNvPr>
          <p:cNvSpPr>
            <a:spLocks noGrp="1"/>
          </p:cNvSpPr>
          <p:nvPr>
            <p:ph sz="quarter" idx="15"/>
          </p:nvPr>
        </p:nvSpPr>
        <p:spPr>
          <a:xfrm>
            <a:off x="1550958" y="4466240"/>
            <a:ext cx="2011754"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open circuit</a:t>
            </a:r>
          </a:p>
        </p:txBody>
      </p:sp>
      <p:pic>
        <p:nvPicPr>
          <p:cNvPr id="5" name="Picture 5" descr="cross mark.">
            <a:extLst>
              <a:ext uri="{FF2B5EF4-FFF2-40B4-BE49-F238E27FC236}">
                <a16:creationId xmlns:a16="http://schemas.microsoft.com/office/drawing/2014/main" id="{905C4456-D198-4B24-1AE7-E693B307BEB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46404" y="499910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30E0452F-525A-2EB9-06EA-7FC8369B407A}"/>
              </a:ext>
            </a:extLst>
          </p:cNvPr>
          <p:cNvSpPr>
            <a:spLocks noGrp="1"/>
          </p:cNvSpPr>
          <p:nvPr>
            <p:ph sz="quarter" idx="16"/>
          </p:nvPr>
        </p:nvSpPr>
        <p:spPr>
          <a:xfrm>
            <a:off x="1550957" y="4901597"/>
            <a:ext cx="2011755"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short circuit</a:t>
            </a:r>
          </a:p>
        </p:txBody>
      </p:sp>
      <p:pic>
        <p:nvPicPr>
          <p:cNvPr id="15" name="Picture 14" descr=" cross mark.">
            <a:extLst>
              <a:ext uri="{FF2B5EF4-FFF2-40B4-BE49-F238E27FC236}">
                <a16:creationId xmlns:a16="http://schemas.microsoft.com/office/drawing/2014/main" id="{FC2FBD58-D435-6462-4D2D-6E90085CFBC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50250" y="5410942"/>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1CE16F27-6B06-F992-2D10-A4E66EC272E5}"/>
              </a:ext>
            </a:extLst>
          </p:cNvPr>
          <p:cNvSpPr>
            <a:spLocks noGrp="1"/>
          </p:cNvSpPr>
          <p:nvPr>
            <p:ph sz="quarter" idx="17"/>
          </p:nvPr>
        </p:nvSpPr>
        <p:spPr>
          <a:xfrm>
            <a:off x="1550958" y="5345367"/>
            <a:ext cx="2425822"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voltage source</a:t>
            </a:r>
          </a:p>
        </p:txBody>
      </p:sp>
      <p:pic>
        <p:nvPicPr>
          <p:cNvPr id="16" name="Picture 15" descr=" cross mark.">
            <a:extLst>
              <a:ext uri="{FF2B5EF4-FFF2-40B4-BE49-F238E27FC236}">
                <a16:creationId xmlns:a16="http://schemas.microsoft.com/office/drawing/2014/main" id="{3E496E77-5DF3-FB7C-5F59-E234002F6E9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7439" y="587111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Content Placeholder 12">
            <a:extLst>
              <a:ext uri="{FF2B5EF4-FFF2-40B4-BE49-F238E27FC236}">
                <a16:creationId xmlns:a16="http://schemas.microsoft.com/office/drawing/2014/main" id="{7DA71411-7FFE-93D6-C693-DF8A4BF1EA8F}"/>
              </a:ext>
            </a:extLst>
          </p:cNvPr>
          <p:cNvSpPr>
            <a:spLocks noGrp="1"/>
          </p:cNvSpPr>
          <p:nvPr>
            <p:ph sz="quarter" idx="18"/>
          </p:nvPr>
        </p:nvSpPr>
        <p:spPr>
          <a:xfrm>
            <a:off x="1550958" y="5798167"/>
            <a:ext cx="2917528" cy="405683"/>
          </a:xfrm>
        </p:spPr>
        <p:txBody>
          <a:bodyPr wrap="square" lIns="0" tIns="18000" rIns="0" bIns="18000" anchor="ctr">
            <a:spAutoFit/>
          </a:bodyPr>
          <a:lstStyle/>
          <a:p>
            <a:pPr marL="0" indent="0">
              <a:spcBef>
                <a:spcPts val="600"/>
              </a:spcBef>
              <a:buNone/>
            </a:pPr>
            <a:r>
              <a:rPr lang="en-US" sz="2400" noProof="0" dirty="0">
                <a:solidFill>
                  <a:srgbClr val="007FA3"/>
                </a:solidFill>
              </a:rPr>
              <a:t>D. </a:t>
            </a:r>
            <a:r>
              <a:rPr lang="en-US" sz="2400" noProof="0" dirty="0"/>
              <a:t>dependent source</a:t>
            </a:r>
          </a:p>
        </p:txBody>
      </p:sp>
    </p:spTree>
    <p:extLst>
      <p:ext uri="{BB962C8B-B14F-4D97-AF65-F5344CB8AC3E}">
        <p14:creationId xmlns:p14="http://schemas.microsoft.com/office/powerpoint/2010/main" val="4183677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6"/>
            <a:ext cx="8229600" cy="1144347"/>
          </a:xfrm>
        </p:spPr>
        <p:txBody>
          <a:bodyPr/>
          <a:lstStyle/>
          <a:p>
            <a:r>
              <a:rPr lang="en-US" noProof="0" dirty="0"/>
              <a:t>Chapter 4 – techniques of circuit analysis </a:t>
            </a:r>
            <a:r>
              <a:rPr lang="en-US" sz="2800" noProof="0" dirty="0"/>
              <a:t>(12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3234"/>
            <a:ext cx="4936107" cy="405683"/>
          </a:xfrm>
        </p:spPr>
        <p:txBody>
          <a:bodyPr wrap="square" lIns="0" tIns="18000" rIns="0" bIns="18000" anchor="ctr">
            <a:spAutoFit/>
          </a:bodyPr>
          <a:lstStyle/>
          <a:p>
            <a:pPr marL="0" indent="0">
              <a:spcBef>
                <a:spcPts val="600"/>
              </a:spcBef>
              <a:buNone/>
            </a:pPr>
            <a:r>
              <a:rPr lang="en-US" sz="2400" noProof="0" dirty="0"/>
              <a:t>Use superposition to find the voltage</a:t>
            </a:r>
          </a:p>
        </p:txBody>
      </p:sp>
      <p:graphicFrame>
        <p:nvGraphicFramePr>
          <p:cNvPr id="2" name="Object 1" descr="V subscript 1.">
            <a:extLst>
              <a:ext uri="{FF2B5EF4-FFF2-40B4-BE49-F238E27FC236}">
                <a16:creationId xmlns:a16="http://schemas.microsoft.com/office/drawing/2014/main" id="{F9831778-4AAE-8F97-1E8A-68A5083EF0F8}"/>
              </a:ext>
            </a:extLst>
          </p:cNvPr>
          <p:cNvGraphicFramePr>
            <a:graphicFrameLocks noChangeAspect="1"/>
          </p:cNvGraphicFramePr>
          <p:nvPr>
            <p:extLst>
              <p:ext uri="{D42A27DB-BD31-4B8C-83A1-F6EECF244321}">
                <p14:modId xmlns:p14="http://schemas.microsoft.com/office/powerpoint/2010/main" val="2451632809"/>
              </p:ext>
            </p:extLst>
          </p:nvPr>
        </p:nvGraphicFramePr>
        <p:xfrm>
          <a:off x="5454205" y="1464843"/>
          <a:ext cx="298110" cy="446259"/>
        </p:xfrm>
        <a:graphic>
          <a:graphicData uri="http://schemas.openxmlformats.org/presentationml/2006/ole">
            <mc:AlternateContent xmlns:mc="http://schemas.openxmlformats.org/markup-compatibility/2006">
              <mc:Choice xmlns:v="urn:schemas-microsoft-com:vml" Requires="v">
                <p:oleObj name="Equation" r:id="rId2" imgW="152280" imgH="228600" progId="Equation.DSMT4">
                  <p:embed/>
                </p:oleObj>
              </mc:Choice>
              <mc:Fallback>
                <p:oleObj name="Equation" r:id="rId2" imgW="152280" imgH="228600" progId="Equation.DSMT4">
                  <p:embed/>
                  <p:pic>
                    <p:nvPicPr>
                      <p:cNvPr id="12" name="Object 11">
                        <a:extLst>
                          <a:ext uri="{FF2B5EF4-FFF2-40B4-BE49-F238E27FC236}">
                            <a16:creationId xmlns:a16="http://schemas.microsoft.com/office/drawing/2014/main" id="{7DEFDC0F-624F-0C93-4915-A24C7DB10074}"/>
                          </a:ext>
                        </a:extLst>
                      </p:cNvPr>
                      <p:cNvPicPr>
                        <a:picLocks noChangeAspect="1" noChangeArrowheads="1"/>
                      </p:cNvPicPr>
                      <p:nvPr/>
                    </p:nvPicPr>
                    <p:blipFill>
                      <a:blip r:embed="rId3"/>
                      <a:srcRect/>
                      <a:stretch>
                        <a:fillRect/>
                      </a:stretch>
                    </p:blipFill>
                    <p:spPr bwMode="auto">
                      <a:xfrm>
                        <a:off x="5454205" y="1464843"/>
                        <a:ext cx="298110" cy="446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5855535" y="1448555"/>
            <a:ext cx="2443073" cy="405683"/>
          </a:xfrm>
        </p:spPr>
        <p:txBody>
          <a:bodyPr wrap="square" lIns="0" tIns="18000" rIns="0" bIns="18000" anchor="ctr">
            <a:spAutoFit/>
          </a:bodyPr>
          <a:lstStyle/>
          <a:p>
            <a:pPr marL="0" indent="0">
              <a:spcBef>
                <a:spcPts val="600"/>
              </a:spcBef>
              <a:buNone/>
            </a:pPr>
            <a:r>
              <a:rPr lang="en-US" sz="2400" noProof="0" dirty="0"/>
              <a:t>in the circuit here.</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1978724"/>
            <a:ext cx="3621786" cy="405683"/>
          </a:xfrm>
        </p:spPr>
        <p:txBody>
          <a:bodyPr wrap="square" lIns="0" tIns="18000" rIns="0" bIns="18000" anchor="ctr">
            <a:spAutoFit/>
          </a:bodyPr>
          <a:lstStyle/>
          <a:p>
            <a:pPr marL="486918" lvl="1" indent="0">
              <a:buNone/>
            </a:pPr>
            <a:r>
              <a:rPr lang="en-US" sz="2400" noProof="0" dirty="0"/>
              <a:t>Calculate the response</a:t>
            </a:r>
          </a:p>
        </p:txBody>
      </p:sp>
      <p:graphicFrame>
        <p:nvGraphicFramePr>
          <p:cNvPr id="3" name="Object 2" descr="V subscript 1 BaseLine prime.">
            <a:extLst>
              <a:ext uri="{FF2B5EF4-FFF2-40B4-BE49-F238E27FC236}">
                <a16:creationId xmlns:a16="http://schemas.microsoft.com/office/drawing/2014/main" id="{0E970E69-2197-730F-8B9C-56302038AE95}"/>
              </a:ext>
            </a:extLst>
          </p:cNvPr>
          <p:cNvGraphicFramePr>
            <a:graphicFrameLocks noChangeAspect="1"/>
          </p:cNvGraphicFramePr>
          <p:nvPr>
            <p:extLst>
              <p:ext uri="{D42A27DB-BD31-4B8C-83A1-F6EECF244321}">
                <p14:modId xmlns:p14="http://schemas.microsoft.com/office/powerpoint/2010/main" val="872491899"/>
              </p:ext>
            </p:extLst>
          </p:nvPr>
        </p:nvGraphicFramePr>
        <p:xfrm>
          <a:off x="4171303" y="2004705"/>
          <a:ext cx="409575" cy="433388"/>
        </p:xfrm>
        <a:graphic>
          <a:graphicData uri="http://schemas.openxmlformats.org/presentationml/2006/ole">
            <mc:AlternateContent xmlns:mc="http://schemas.openxmlformats.org/markup-compatibility/2006">
              <mc:Choice xmlns:v="urn:schemas-microsoft-com:vml" Requires="v">
                <p:oleObj name="Equation" r:id="rId4" imgW="215640" imgH="228600" progId="Equation.DSMT4">
                  <p:embed/>
                </p:oleObj>
              </mc:Choice>
              <mc:Fallback>
                <p:oleObj name="Equation" r:id="rId4" imgW="215640" imgH="228600" progId="Equation.DSMT4">
                  <p:embed/>
                  <p:pic>
                    <p:nvPicPr>
                      <p:cNvPr id="17" name="Object 16">
                        <a:extLst>
                          <a:ext uri="{FF2B5EF4-FFF2-40B4-BE49-F238E27FC236}">
                            <a16:creationId xmlns:a16="http://schemas.microsoft.com/office/drawing/2014/main" id="{9600589C-0C72-ADCB-896E-597E17713DCF}"/>
                          </a:ext>
                        </a:extLst>
                      </p:cNvPr>
                      <p:cNvPicPr>
                        <a:picLocks noChangeAspect="1" noChangeArrowheads="1"/>
                      </p:cNvPicPr>
                      <p:nvPr/>
                    </p:nvPicPr>
                    <p:blipFill>
                      <a:blip r:embed="rId5"/>
                      <a:srcRect/>
                      <a:stretch>
                        <a:fillRect/>
                      </a:stretch>
                    </p:blipFill>
                    <p:spPr bwMode="auto">
                      <a:xfrm>
                        <a:off x="4171303" y="2004705"/>
                        <a:ext cx="409575"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715981" y="1991308"/>
            <a:ext cx="2977910" cy="405683"/>
          </a:xfrm>
        </p:spPr>
        <p:txBody>
          <a:bodyPr wrap="square" lIns="0" tIns="18000" rIns="0" bIns="18000" anchor="ctr">
            <a:spAutoFit/>
          </a:bodyPr>
          <a:lstStyle/>
          <a:p>
            <a:pPr marL="0" indent="0">
              <a:spcBef>
                <a:spcPts val="600"/>
              </a:spcBef>
              <a:buNone/>
            </a:pPr>
            <a:r>
              <a:rPr lang="en-US" sz="2400" noProof="0" dirty="0"/>
              <a:t>to the voltage source:</a:t>
            </a:r>
          </a:p>
        </p:txBody>
      </p:sp>
      <p:pic>
        <p:nvPicPr>
          <p:cNvPr id="4" name="Picture 3" descr="A circuit diagram shows a 50 volts independent voltage source with positive polarity at its top and negative at the bottom as the left most wire in the circuit. Connected in parallel to the 50 volts independent voltage source are the second and third wires from left. The second wire from left contains a 10 ohms resistor with voltage v subscript 1 across it. Voltage v subscript 1 has positive polarity at top and negative at bottom. The third wire from left contains a 40 ohms resistor. A 5 ohms resistor is located in the top wire of the circuit between the leftmost wire and second wire from left. ">
            <a:extLst>
              <a:ext uri="{FF2B5EF4-FFF2-40B4-BE49-F238E27FC236}">
                <a16:creationId xmlns:a16="http://schemas.microsoft.com/office/drawing/2014/main" id="{B4CA84C6-017B-33D3-E4F6-AFE7346234FE}"/>
              </a:ext>
            </a:extLst>
          </p:cNvPr>
          <p:cNvPicPr>
            <a:picLocks noChangeAspect="1" noChangeArrowheads="1"/>
          </p:cNvPicPr>
          <p:nvPr/>
        </p:nvPicPr>
        <p:blipFill>
          <a:blip r:embed="rId6"/>
          <a:stretch>
            <a:fillRect/>
          </a:stretch>
        </p:blipFill>
        <p:spPr bwMode="auto">
          <a:xfrm>
            <a:off x="3183613" y="2618692"/>
            <a:ext cx="2753784" cy="12778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38151" y="4004445"/>
            <a:ext cx="1770212" cy="405683"/>
          </a:xfrm>
        </p:spPr>
        <p:txBody>
          <a:bodyPr wrap="square" lIns="0" tIns="18000" rIns="0" bIns="18000" anchor="ctr">
            <a:spAutoFit/>
          </a:bodyPr>
          <a:lstStyle/>
          <a:p>
            <a:pPr marL="0" indent="0">
              <a:spcBef>
                <a:spcPts val="600"/>
              </a:spcBef>
              <a:buNone/>
            </a:pPr>
            <a:r>
              <a:rPr lang="en-US" sz="2400" noProof="0" dirty="0"/>
              <a:t>Combine the</a:t>
            </a:r>
          </a:p>
        </p:txBody>
      </p:sp>
      <p:graphicFrame>
        <p:nvGraphicFramePr>
          <p:cNvPr id="5" name="Object 4" descr="10 Ohms.">
            <a:extLst>
              <a:ext uri="{FF2B5EF4-FFF2-40B4-BE49-F238E27FC236}">
                <a16:creationId xmlns:a16="http://schemas.microsoft.com/office/drawing/2014/main" id="{BB1CC0FA-0474-20C0-A52A-2EC79D3B654D}"/>
              </a:ext>
            </a:extLst>
          </p:cNvPr>
          <p:cNvGraphicFramePr>
            <a:graphicFrameLocks noChangeAspect="1"/>
          </p:cNvGraphicFramePr>
          <p:nvPr>
            <p:extLst>
              <p:ext uri="{D42A27DB-BD31-4B8C-83A1-F6EECF244321}">
                <p14:modId xmlns:p14="http://schemas.microsoft.com/office/powerpoint/2010/main" val="4111850680"/>
              </p:ext>
            </p:extLst>
          </p:nvPr>
        </p:nvGraphicFramePr>
        <p:xfrm>
          <a:off x="2253316" y="4064552"/>
          <a:ext cx="623888" cy="323850"/>
        </p:xfrm>
        <a:graphic>
          <a:graphicData uri="http://schemas.openxmlformats.org/presentationml/2006/ole">
            <mc:AlternateContent xmlns:mc="http://schemas.openxmlformats.org/markup-compatibility/2006">
              <mc:Choice xmlns:v="urn:schemas-microsoft-com:vml" Requires="v">
                <p:oleObj name="Equation" r:id="rId7" imgW="342720" imgH="177480" progId="Equation.DSMT4">
                  <p:embed/>
                </p:oleObj>
              </mc:Choice>
              <mc:Fallback>
                <p:oleObj name="Equation" r:id="rId7" imgW="342720" imgH="177480" progId="Equation.DSMT4">
                  <p:embed/>
                  <p:pic>
                    <p:nvPicPr>
                      <p:cNvPr id="13" name="Object 12">
                        <a:extLst>
                          <a:ext uri="{FF2B5EF4-FFF2-40B4-BE49-F238E27FC236}">
                            <a16:creationId xmlns:a16="http://schemas.microsoft.com/office/drawing/2014/main" id="{395A887A-3D0F-1003-8AE9-A786CB28B5AF}"/>
                          </a:ext>
                        </a:extLst>
                      </p:cNvPr>
                      <p:cNvPicPr>
                        <a:picLocks noChangeAspect="1" noChangeArrowheads="1"/>
                      </p:cNvPicPr>
                      <p:nvPr/>
                    </p:nvPicPr>
                    <p:blipFill>
                      <a:blip r:embed="rId8"/>
                      <a:srcRect/>
                      <a:stretch>
                        <a:fillRect/>
                      </a:stretch>
                    </p:blipFill>
                    <p:spPr bwMode="auto">
                      <a:xfrm>
                        <a:off x="2253316" y="4064552"/>
                        <a:ext cx="62388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2939806" y="3999646"/>
            <a:ext cx="562521" cy="405683"/>
          </a:xfrm>
        </p:spPr>
        <p:txBody>
          <a:bodyPr wrap="square" lIns="0" tIns="18000" rIns="0" bIns="18000" anchor="ctr">
            <a:spAutoFit/>
          </a:bodyPr>
          <a:lstStyle/>
          <a:p>
            <a:pPr marL="0" indent="0">
              <a:spcBef>
                <a:spcPts val="600"/>
              </a:spcBef>
              <a:buNone/>
            </a:pPr>
            <a:r>
              <a:rPr lang="en-US" sz="2400" noProof="0" dirty="0"/>
              <a:t>and</a:t>
            </a:r>
          </a:p>
        </p:txBody>
      </p:sp>
      <p:graphicFrame>
        <p:nvGraphicFramePr>
          <p:cNvPr id="15" name="Object 14" descr="40 Ohms.">
            <a:extLst>
              <a:ext uri="{FF2B5EF4-FFF2-40B4-BE49-F238E27FC236}">
                <a16:creationId xmlns:a16="http://schemas.microsoft.com/office/drawing/2014/main" id="{DC2577F3-6420-66E6-168B-99C892C56EED}"/>
              </a:ext>
            </a:extLst>
          </p:cNvPr>
          <p:cNvGraphicFramePr>
            <a:graphicFrameLocks noChangeAspect="1"/>
          </p:cNvGraphicFramePr>
          <p:nvPr>
            <p:extLst>
              <p:ext uri="{D42A27DB-BD31-4B8C-83A1-F6EECF244321}">
                <p14:modId xmlns:p14="http://schemas.microsoft.com/office/powerpoint/2010/main" val="3937317326"/>
              </p:ext>
            </p:extLst>
          </p:nvPr>
        </p:nvGraphicFramePr>
        <p:xfrm>
          <a:off x="3532356" y="4065330"/>
          <a:ext cx="647700" cy="323850"/>
        </p:xfrm>
        <a:graphic>
          <a:graphicData uri="http://schemas.openxmlformats.org/presentationml/2006/ole">
            <mc:AlternateContent xmlns:mc="http://schemas.openxmlformats.org/markup-compatibility/2006">
              <mc:Choice xmlns:v="urn:schemas-microsoft-com:vml" Requires="v">
                <p:oleObj name="Equation" r:id="rId9" imgW="355320" imgH="177480" progId="Equation.DSMT4">
                  <p:embed/>
                </p:oleObj>
              </mc:Choice>
              <mc:Fallback>
                <p:oleObj name="Equation" r:id="rId9" imgW="355320" imgH="177480" progId="Equation.DSMT4">
                  <p:embed/>
                  <p:pic>
                    <p:nvPicPr>
                      <p:cNvPr id="9" name="Object 8">
                        <a:extLst>
                          <a:ext uri="{FF2B5EF4-FFF2-40B4-BE49-F238E27FC236}">
                            <a16:creationId xmlns:a16="http://schemas.microsoft.com/office/drawing/2014/main" id="{A6271F8D-8ECB-A619-C079-88848EC8AD45}"/>
                          </a:ext>
                        </a:extLst>
                      </p:cNvPr>
                      <p:cNvPicPr>
                        <a:picLocks noChangeAspect="1" noChangeArrowheads="1"/>
                      </p:cNvPicPr>
                      <p:nvPr/>
                    </p:nvPicPr>
                    <p:blipFill>
                      <a:blip r:embed="rId10"/>
                      <a:srcRect/>
                      <a:stretch>
                        <a:fillRect/>
                      </a:stretch>
                    </p:blipFill>
                    <p:spPr bwMode="auto">
                      <a:xfrm>
                        <a:off x="3532356" y="4065330"/>
                        <a:ext cx="647700"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266478" y="3997343"/>
            <a:ext cx="4377187" cy="405683"/>
          </a:xfrm>
        </p:spPr>
        <p:txBody>
          <a:bodyPr wrap="square" lIns="0" tIns="18000" rIns="0" bIns="18000" anchor="ctr">
            <a:spAutoFit/>
          </a:bodyPr>
          <a:lstStyle/>
          <a:p>
            <a:pPr marL="0" indent="0">
              <a:spcBef>
                <a:spcPts val="600"/>
              </a:spcBef>
              <a:buNone/>
            </a:pPr>
            <a:r>
              <a:rPr lang="en-US" sz="2400" noProof="0" dirty="0"/>
              <a:t>resistors into a single equivalent</a:t>
            </a:r>
          </a:p>
        </p:txBody>
      </p:sp>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419100" y="4510157"/>
            <a:ext cx="5593511" cy="405683"/>
          </a:xfrm>
        </p:spPr>
        <p:txBody>
          <a:bodyPr wrap="square" lIns="0" tIns="18000" rIns="0" bIns="18000" anchor="ctr">
            <a:spAutoFit/>
          </a:bodyPr>
          <a:lstStyle/>
          <a:p>
            <a:pPr marL="0" indent="0">
              <a:spcBef>
                <a:spcPts val="600"/>
              </a:spcBef>
              <a:buNone/>
            </a:pPr>
            <a:r>
              <a:rPr lang="en-US" sz="2400" noProof="0" dirty="0"/>
              <a:t>resistor. Then use voltage division to find</a:t>
            </a:r>
          </a:p>
        </p:txBody>
      </p:sp>
      <p:graphicFrame>
        <p:nvGraphicFramePr>
          <p:cNvPr id="16" name="Object 15" descr="V subscript 1 BaseLine prime.">
            <a:extLst>
              <a:ext uri="{FF2B5EF4-FFF2-40B4-BE49-F238E27FC236}">
                <a16:creationId xmlns:a16="http://schemas.microsoft.com/office/drawing/2014/main" id="{8B73A8C0-9AA5-1FFE-E6F1-F54E35D044C6}"/>
              </a:ext>
            </a:extLst>
          </p:cNvPr>
          <p:cNvGraphicFramePr>
            <a:graphicFrameLocks noChangeAspect="1"/>
          </p:cNvGraphicFramePr>
          <p:nvPr>
            <p:extLst>
              <p:ext uri="{D42A27DB-BD31-4B8C-83A1-F6EECF244321}">
                <p14:modId xmlns:p14="http://schemas.microsoft.com/office/powerpoint/2010/main" val="3541015231"/>
              </p:ext>
            </p:extLst>
          </p:nvPr>
        </p:nvGraphicFramePr>
        <p:xfrm>
          <a:off x="6062383" y="4529611"/>
          <a:ext cx="481013" cy="433387"/>
        </p:xfrm>
        <a:graphic>
          <a:graphicData uri="http://schemas.openxmlformats.org/presentationml/2006/ole">
            <mc:AlternateContent xmlns:mc="http://schemas.openxmlformats.org/markup-compatibility/2006">
              <mc:Choice xmlns:v="urn:schemas-microsoft-com:vml" Requires="v">
                <p:oleObj name="Equation" r:id="rId11" imgW="253800" imgH="228600" progId="Equation.DSMT4">
                  <p:embed/>
                </p:oleObj>
              </mc:Choice>
              <mc:Fallback>
                <p:oleObj name="Equation" r:id="rId11" imgW="253800" imgH="228600" progId="Equation.DSMT4">
                  <p:embed/>
                  <p:pic>
                    <p:nvPicPr>
                      <p:cNvPr id="19" name="Object 18">
                        <a:extLst>
                          <a:ext uri="{FF2B5EF4-FFF2-40B4-BE49-F238E27FC236}">
                            <a16:creationId xmlns:a16="http://schemas.microsoft.com/office/drawing/2014/main" id="{03CC5C51-3C7B-4A53-767E-CBADDD90D920}"/>
                          </a:ext>
                        </a:extLst>
                      </p:cNvPr>
                      <p:cNvPicPr>
                        <a:picLocks noChangeAspect="1" noChangeArrowheads="1"/>
                      </p:cNvPicPr>
                      <p:nvPr/>
                    </p:nvPicPr>
                    <p:blipFill>
                      <a:blip r:embed="rId12"/>
                      <a:srcRect/>
                      <a:stretch>
                        <a:fillRect/>
                      </a:stretch>
                    </p:blipFill>
                    <p:spPr bwMode="auto">
                      <a:xfrm>
                        <a:off x="6062383" y="4529611"/>
                        <a:ext cx="481013"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2" descr="10 parallel to 40 equals 8 Ohms; v subscript 1 BaseLine prime equals Start Fraction 8 over 8 plus 5 End Fraction Open Parenthesis 50 Close Parenthesis equals 30.77 Volts.">
            <a:extLst>
              <a:ext uri="{FF2B5EF4-FFF2-40B4-BE49-F238E27FC236}">
                <a16:creationId xmlns:a16="http://schemas.microsoft.com/office/drawing/2014/main" id="{B9DE576E-D3F9-0273-B4C9-077DE83FD934}"/>
              </a:ext>
            </a:extLst>
          </p:cNvPr>
          <p:cNvGraphicFramePr>
            <a:graphicFrameLocks noChangeAspect="1"/>
          </p:cNvGraphicFramePr>
          <p:nvPr>
            <p:extLst>
              <p:ext uri="{D42A27DB-BD31-4B8C-83A1-F6EECF244321}">
                <p14:modId xmlns:p14="http://schemas.microsoft.com/office/powerpoint/2010/main" val="1735136821"/>
              </p:ext>
            </p:extLst>
          </p:nvPr>
        </p:nvGraphicFramePr>
        <p:xfrm>
          <a:off x="3172834" y="5072853"/>
          <a:ext cx="2630058" cy="964151"/>
        </p:xfrm>
        <a:graphic>
          <a:graphicData uri="http://schemas.openxmlformats.org/presentationml/2006/ole">
            <mc:AlternateContent xmlns:mc="http://schemas.openxmlformats.org/markup-compatibility/2006">
              <mc:Choice xmlns:v="urn:schemas-microsoft-com:vml" Requires="v">
                <p:oleObj name="Equation" r:id="rId13" imgW="1663560" imgH="609480" progId="Equation.DSMT4">
                  <p:embed/>
                </p:oleObj>
              </mc:Choice>
              <mc:Fallback>
                <p:oleObj name="Equation" r:id="rId13" imgW="1663560" imgH="609480" progId="Equation.DSMT4">
                  <p:embed/>
                  <p:pic>
                    <p:nvPicPr>
                      <p:cNvPr id="20" name="Object 2">
                        <a:extLst>
                          <a:ext uri="{FF2B5EF4-FFF2-40B4-BE49-F238E27FC236}">
                            <a16:creationId xmlns:a16="http://schemas.microsoft.com/office/drawing/2014/main" id="{635E7272-826B-8DAE-4F7A-5948893B76B8}"/>
                          </a:ext>
                        </a:extLst>
                      </p:cNvPr>
                      <p:cNvPicPr>
                        <a:picLocks noChangeAspect="1" noChangeArrowheads="1"/>
                      </p:cNvPicPr>
                      <p:nvPr/>
                    </p:nvPicPr>
                    <p:blipFill>
                      <a:blip r:embed="rId14"/>
                      <a:srcRect/>
                      <a:stretch>
                        <a:fillRect/>
                      </a:stretch>
                    </p:blipFill>
                    <p:spPr bwMode="auto">
                      <a:xfrm>
                        <a:off x="3172834" y="5072853"/>
                        <a:ext cx="2630058" cy="964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62888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6"/>
            <a:ext cx="8229600" cy="1144347"/>
          </a:xfrm>
        </p:spPr>
        <p:txBody>
          <a:bodyPr/>
          <a:lstStyle/>
          <a:p>
            <a:r>
              <a:rPr lang="en-US" noProof="0" dirty="0"/>
              <a:t>Chapter 4 – techniques of circuit analysis </a:t>
            </a:r>
            <a:r>
              <a:rPr lang="en-US" sz="2800" noProof="0" dirty="0"/>
              <a:t>(13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0897" y="1454914"/>
            <a:ext cx="5462318" cy="405683"/>
          </a:xfrm>
        </p:spPr>
        <p:txBody>
          <a:bodyPr wrap="square" lIns="0" tIns="18000" rIns="0" bIns="18000" anchor="ctr">
            <a:spAutoFit/>
          </a:bodyPr>
          <a:lstStyle/>
          <a:p>
            <a:pPr marL="0" indent="0">
              <a:spcBef>
                <a:spcPts val="600"/>
              </a:spcBef>
              <a:buNone/>
            </a:pPr>
            <a:r>
              <a:rPr lang="en-US" sz="2400" noProof="0" dirty="0"/>
              <a:t>Now we calculate the voltage across the</a:t>
            </a:r>
          </a:p>
        </p:txBody>
      </p:sp>
      <p:graphicFrame>
        <p:nvGraphicFramePr>
          <p:cNvPr id="2" name="Object 1" descr="10 Ohms.">
            <a:extLst>
              <a:ext uri="{FF2B5EF4-FFF2-40B4-BE49-F238E27FC236}">
                <a16:creationId xmlns:a16="http://schemas.microsoft.com/office/drawing/2014/main" id="{F5C539EA-DF10-EEA2-E945-88E26A433B3F}"/>
              </a:ext>
            </a:extLst>
          </p:cNvPr>
          <p:cNvGraphicFramePr>
            <a:graphicFrameLocks noChangeAspect="1"/>
          </p:cNvGraphicFramePr>
          <p:nvPr>
            <p:extLst>
              <p:ext uri="{D42A27DB-BD31-4B8C-83A1-F6EECF244321}">
                <p14:modId xmlns:p14="http://schemas.microsoft.com/office/powerpoint/2010/main" val="3537914773"/>
              </p:ext>
            </p:extLst>
          </p:nvPr>
        </p:nvGraphicFramePr>
        <p:xfrm>
          <a:off x="5947791" y="1524493"/>
          <a:ext cx="623888" cy="323850"/>
        </p:xfrm>
        <a:graphic>
          <a:graphicData uri="http://schemas.openxmlformats.org/presentationml/2006/ole">
            <mc:AlternateContent xmlns:mc="http://schemas.openxmlformats.org/markup-compatibility/2006">
              <mc:Choice xmlns:v="urn:schemas-microsoft-com:vml" Requires="v">
                <p:oleObj name="Equation" r:id="rId2" imgW="342720" imgH="177480" progId="Equation.DSMT4">
                  <p:embed/>
                </p:oleObj>
              </mc:Choice>
              <mc:Fallback>
                <p:oleObj name="Equation" r:id="rId2" imgW="342720" imgH="177480" progId="Equation.DSMT4">
                  <p:embed/>
                  <p:pic>
                    <p:nvPicPr>
                      <p:cNvPr id="11" name="Object 10">
                        <a:extLst>
                          <a:ext uri="{FF2B5EF4-FFF2-40B4-BE49-F238E27FC236}">
                            <a16:creationId xmlns:a16="http://schemas.microsoft.com/office/drawing/2014/main" id="{A5989025-F7C7-9DD5-BBAD-560C72A88217}"/>
                          </a:ext>
                        </a:extLst>
                      </p:cNvPr>
                      <p:cNvPicPr>
                        <a:picLocks noChangeAspect="1" noChangeArrowheads="1"/>
                      </p:cNvPicPr>
                      <p:nvPr/>
                    </p:nvPicPr>
                    <p:blipFill>
                      <a:blip r:embed="rId3"/>
                      <a:srcRect/>
                      <a:stretch>
                        <a:fillRect/>
                      </a:stretch>
                    </p:blipFill>
                    <p:spPr bwMode="auto">
                      <a:xfrm>
                        <a:off x="5947791" y="1524493"/>
                        <a:ext cx="62388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6657782" y="1458874"/>
            <a:ext cx="1951367" cy="405683"/>
          </a:xfrm>
        </p:spPr>
        <p:txBody>
          <a:bodyPr wrap="square" lIns="0" tIns="18000" rIns="0" bIns="18000" anchor="ctr">
            <a:spAutoFit/>
          </a:bodyPr>
          <a:lstStyle/>
          <a:p>
            <a:pPr marL="0" indent="0">
              <a:spcBef>
                <a:spcPts val="600"/>
              </a:spcBef>
              <a:buNone/>
            </a:pPr>
            <a:r>
              <a:rPr lang="en-US" sz="2400" noProof="0" dirty="0"/>
              <a:t>resistor due to</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1921616"/>
            <a:ext cx="8170999" cy="1144347"/>
          </a:xfrm>
        </p:spPr>
        <p:txBody>
          <a:bodyPr wrap="square" lIns="0" tIns="18000" rIns="0" bIns="18000" anchor="ctr">
            <a:spAutoFit/>
          </a:bodyPr>
          <a:lstStyle/>
          <a:p>
            <a:pPr marL="0" indent="0">
              <a:spcBef>
                <a:spcPts val="600"/>
              </a:spcBef>
              <a:buNone/>
            </a:pPr>
            <a:r>
              <a:rPr lang="en-US" sz="2400" noProof="0" dirty="0"/>
              <a:t>the current source. We need to set the value of the voltage source to 0 V. Therefore, we replace the voltage source with a(n)</a:t>
            </a:r>
          </a:p>
        </p:txBody>
      </p:sp>
      <p:pic>
        <p:nvPicPr>
          <p:cNvPr id="3" name="Picture 4" descr="A circuit diagram shows a 50 volts independent voltage source with positive polarity at its top and negative at the bottom as the left most wire in the circuit. Connected in parallel to the 50 volts independent voltage source are the second, third, and fourth wires from left. The second wire from left contains a 10 ohms resistor with voltage v subscript 1 across it. Voltage v subscript 1 has positive polarity at top and negative at bottom. The third wire from left contains a 40 ohms resistor. The fourth wire from left contains a 3 ampere independent current source with internal arrow pointing upwards. A 5 ohms resistor is located in the top wire of the circuit between the leftmost wire and second wire from left. ">
            <a:extLst>
              <a:ext uri="{FF2B5EF4-FFF2-40B4-BE49-F238E27FC236}">
                <a16:creationId xmlns:a16="http://schemas.microsoft.com/office/drawing/2014/main" id="{745D6A3E-EF27-8B24-E787-4DC477BEF356}"/>
              </a:ext>
            </a:extLst>
          </p:cNvPr>
          <p:cNvPicPr>
            <a:picLocks noChangeAspect="1" noChangeArrowheads="1"/>
          </p:cNvPicPr>
          <p:nvPr/>
        </p:nvPicPr>
        <p:blipFill>
          <a:blip r:embed="rId4"/>
          <a:stretch>
            <a:fillRect/>
          </a:stretch>
        </p:blipFill>
        <p:spPr bwMode="auto">
          <a:xfrm>
            <a:off x="2811257" y="3168613"/>
            <a:ext cx="3512281" cy="11468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5" descr="cross mark.">
            <a:extLst>
              <a:ext uri="{FF2B5EF4-FFF2-40B4-BE49-F238E27FC236}">
                <a16:creationId xmlns:a16="http://schemas.microsoft.com/office/drawing/2014/main" id="{BDF24458-709E-58DB-5AC2-7DF429192F0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8813" y="451366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559582" y="4451500"/>
            <a:ext cx="2072139"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sz="2400" noProof="0" dirty="0"/>
              <a:t>open circuit</a:t>
            </a:r>
          </a:p>
        </p:txBody>
      </p:sp>
      <p:pic>
        <p:nvPicPr>
          <p:cNvPr id="5" name="Picture 2" descr="tick mark.">
            <a:extLst>
              <a:ext uri="{FF2B5EF4-FFF2-40B4-BE49-F238E27FC236}">
                <a16:creationId xmlns:a16="http://schemas.microsoft.com/office/drawing/2014/main" id="{ADE95D11-4638-C849-034C-0212D88E030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8565" y="4967143"/>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550956" y="4895482"/>
            <a:ext cx="2072139"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short circuit</a:t>
            </a:r>
          </a:p>
        </p:txBody>
      </p:sp>
      <p:pic>
        <p:nvPicPr>
          <p:cNvPr id="15" name="Picture 14" descr="cross mark.">
            <a:extLst>
              <a:ext uri="{FF2B5EF4-FFF2-40B4-BE49-F238E27FC236}">
                <a16:creationId xmlns:a16="http://schemas.microsoft.com/office/drawing/2014/main" id="{925A0235-7C19-9618-62E1-8EF1F6D6F59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8565" y="544443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550956" y="5353989"/>
            <a:ext cx="2451701"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voltage source</a:t>
            </a:r>
          </a:p>
        </p:txBody>
      </p:sp>
      <p:pic>
        <p:nvPicPr>
          <p:cNvPr id="16" name="Picture 15" descr="cross mark.">
            <a:extLst>
              <a:ext uri="{FF2B5EF4-FFF2-40B4-BE49-F238E27FC236}">
                <a16:creationId xmlns:a16="http://schemas.microsoft.com/office/drawing/2014/main" id="{56D6EA5E-8164-6F9F-D5C5-A95482FABC9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7439" y="587737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550957" y="5824041"/>
            <a:ext cx="2883022"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r>
              <a:rPr lang="en-US" sz="2400" noProof="0" dirty="0"/>
              <a:t> dependent source</a:t>
            </a:r>
          </a:p>
        </p:txBody>
      </p:sp>
    </p:spTree>
    <p:extLst>
      <p:ext uri="{BB962C8B-B14F-4D97-AF65-F5344CB8AC3E}">
        <p14:creationId xmlns:p14="http://schemas.microsoft.com/office/powerpoint/2010/main" val="3981969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6"/>
            <a:ext cx="8229600" cy="1144347"/>
          </a:xfrm>
        </p:spPr>
        <p:txBody>
          <a:bodyPr/>
          <a:lstStyle/>
          <a:p>
            <a:r>
              <a:rPr lang="en-US" noProof="0" dirty="0"/>
              <a:t>Chapter 4 – techniques of circuit analysis </a:t>
            </a:r>
            <a:r>
              <a:rPr lang="en-US" sz="2800" noProof="0" dirty="0"/>
              <a:t>(14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2388"/>
            <a:ext cx="4961986" cy="405683"/>
          </a:xfrm>
        </p:spPr>
        <p:txBody>
          <a:bodyPr wrap="square" lIns="0" tIns="18000" rIns="0" bIns="18000" anchor="ctr">
            <a:spAutoFit/>
          </a:bodyPr>
          <a:lstStyle/>
          <a:p>
            <a:pPr marL="0" indent="0">
              <a:spcBef>
                <a:spcPts val="600"/>
              </a:spcBef>
              <a:buNone/>
            </a:pPr>
            <a:r>
              <a:rPr lang="en-US" sz="2400" noProof="0" dirty="0"/>
              <a:t>Use superposition to find the voltage</a:t>
            </a:r>
          </a:p>
        </p:txBody>
      </p:sp>
      <p:graphicFrame>
        <p:nvGraphicFramePr>
          <p:cNvPr id="2" name="Object 1" descr="V subscript 1.">
            <a:extLst>
              <a:ext uri="{FF2B5EF4-FFF2-40B4-BE49-F238E27FC236}">
                <a16:creationId xmlns:a16="http://schemas.microsoft.com/office/drawing/2014/main" id="{222B633B-6C10-2D74-D1BA-523236AD7E9A}"/>
              </a:ext>
            </a:extLst>
          </p:cNvPr>
          <p:cNvGraphicFramePr>
            <a:graphicFrameLocks noChangeAspect="1"/>
          </p:cNvGraphicFramePr>
          <p:nvPr>
            <p:extLst>
              <p:ext uri="{D42A27DB-BD31-4B8C-83A1-F6EECF244321}">
                <p14:modId xmlns:p14="http://schemas.microsoft.com/office/powerpoint/2010/main" val="1327147360"/>
              </p:ext>
            </p:extLst>
          </p:nvPr>
        </p:nvGraphicFramePr>
        <p:xfrm>
          <a:off x="5479903" y="1490864"/>
          <a:ext cx="286230" cy="428528"/>
        </p:xfrm>
        <a:graphic>
          <a:graphicData uri="http://schemas.openxmlformats.org/presentationml/2006/ole">
            <mc:AlternateContent xmlns:mc="http://schemas.openxmlformats.org/markup-compatibility/2006">
              <mc:Choice xmlns:v="urn:schemas-microsoft-com:vml" Requires="v">
                <p:oleObj name="Equation" r:id="rId3" imgW="152280" imgH="228600" progId="Equation.DSMT4">
                  <p:embed/>
                </p:oleObj>
              </mc:Choice>
              <mc:Fallback>
                <p:oleObj name="Equation" r:id="rId3" imgW="152280" imgH="228600" progId="Equation.DSMT4">
                  <p:embed/>
                  <p:pic>
                    <p:nvPicPr>
                      <p:cNvPr id="3" name="Object 2">
                        <a:extLst>
                          <a:ext uri="{FF2B5EF4-FFF2-40B4-BE49-F238E27FC236}">
                            <a16:creationId xmlns:a16="http://schemas.microsoft.com/office/drawing/2014/main" id="{67E5F619-947F-1F47-B442-D4393C5BE3B2}"/>
                          </a:ext>
                        </a:extLst>
                      </p:cNvPr>
                      <p:cNvPicPr>
                        <a:picLocks noChangeAspect="1" noChangeArrowheads="1"/>
                      </p:cNvPicPr>
                      <p:nvPr/>
                    </p:nvPicPr>
                    <p:blipFill>
                      <a:blip r:embed="rId4"/>
                      <a:srcRect/>
                      <a:stretch>
                        <a:fillRect/>
                      </a:stretch>
                    </p:blipFill>
                    <p:spPr bwMode="auto">
                      <a:xfrm>
                        <a:off x="5479903" y="1490864"/>
                        <a:ext cx="286230" cy="428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5846905" y="1456338"/>
            <a:ext cx="2425820" cy="405683"/>
          </a:xfrm>
        </p:spPr>
        <p:txBody>
          <a:bodyPr wrap="square" lIns="0" tIns="18000" rIns="0" bIns="18000" anchor="ctr">
            <a:spAutoFit/>
          </a:bodyPr>
          <a:lstStyle/>
          <a:p>
            <a:pPr marL="0" indent="0">
              <a:spcBef>
                <a:spcPts val="600"/>
              </a:spcBef>
              <a:buNone/>
            </a:pPr>
            <a:r>
              <a:rPr lang="en-US" sz="2400" noProof="0" dirty="0"/>
              <a:t>in the circuit here.</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2012386"/>
            <a:ext cx="3658362" cy="405683"/>
          </a:xfrm>
        </p:spPr>
        <p:txBody>
          <a:bodyPr wrap="square" lIns="0" tIns="18000" rIns="0" bIns="18000" anchor="ctr">
            <a:spAutoFit/>
          </a:bodyPr>
          <a:lstStyle/>
          <a:p>
            <a:pPr marL="486918" lvl="1" indent="0">
              <a:buNone/>
            </a:pPr>
            <a:r>
              <a:rPr lang="en-US" sz="2400" noProof="0" dirty="0"/>
              <a:t>Calculate the response</a:t>
            </a:r>
          </a:p>
        </p:txBody>
      </p:sp>
      <p:graphicFrame>
        <p:nvGraphicFramePr>
          <p:cNvPr id="3" name="Object 2" descr="V subscript 1 BaseLine double prime.">
            <a:extLst>
              <a:ext uri="{FF2B5EF4-FFF2-40B4-BE49-F238E27FC236}">
                <a16:creationId xmlns:a16="http://schemas.microsoft.com/office/drawing/2014/main" id="{45B9E26C-7026-174A-8AE1-BFDC2AB9A9A7}"/>
              </a:ext>
            </a:extLst>
          </p:cNvPr>
          <p:cNvGraphicFramePr>
            <a:graphicFrameLocks noChangeAspect="1"/>
          </p:cNvGraphicFramePr>
          <p:nvPr>
            <p:extLst>
              <p:ext uri="{D42A27DB-BD31-4B8C-83A1-F6EECF244321}">
                <p14:modId xmlns:p14="http://schemas.microsoft.com/office/powerpoint/2010/main" val="4139732570"/>
              </p:ext>
            </p:extLst>
          </p:nvPr>
        </p:nvGraphicFramePr>
        <p:xfrm>
          <a:off x="4222672" y="2046941"/>
          <a:ext cx="458787" cy="433388"/>
        </p:xfrm>
        <a:graphic>
          <a:graphicData uri="http://schemas.openxmlformats.org/presentationml/2006/ole">
            <mc:AlternateContent xmlns:mc="http://schemas.openxmlformats.org/markup-compatibility/2006">
              <mc:Choice xmlns:v="urn:schemas-microsoft-com:vml" Requires="v">
                <p:oleObj name="Equation" r:id="rId5" imgW="241200" imgH="228600" progId="Equation.DSMT4">
                  <p:embed/>
                </p:oleObj>
              </mc:Choice>
              <mc:Fallback>
                <p:oleObj name="Equation" r:id="rId5" imgW="241200" imgH="228600" progId="Equation.DSMT4">
                  <p:embed/>
                  <p:pic>
                    <p:nvPicPr>
                      <p:cNvPr id="9" name="Object 8">
                        <a:extLst>
                          <a:ext uri="{FF2B5EF4-FFF2-40B4-BE49-F238E27FC236}">
                            <a16:creationId xmlns:a16="http://schemas.microsoft.com/office/drawing/2014/main" id="{E728DD69-7D8E-CFF1-92D0-E7864D1DB972}"/>
                          </a:ext>
                        </a:extLst>
                      </p:cNvPr>
                      <p:cNvPicPr>
                        <a:picLocks noChangeAspect="1" noChangeArrowheads="1"/>
                      </p:cNvPicPr>
                      <p:nvPr/>
                    </p:nvPicPr>
                    <p:blipFill>
                      <a:blip r:embed="rId6"/>
                      <a:srcRect/>
                      <a:stretch>
                        <a:fillRect/>
                      </a:stretch>
                    </p:blipFill>
                    <p:spPr bwMode="auto">
                      <a:xfrm>
                        <a:off x="4222672" y="2046941"/>
                        <a:ext cx="458787"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806389" y="2016344"/>
            <a:ext cx="2883020" cy="405683"/>
          </a:xfrm>
        </p:spPr>
        <p:txBody>
          <a:bodyPr wrap="square" lIns="0" tIns="18000" rIns="0" bIns="18000" anchor="ctr">
            <a:spAutoFit/>
          </a:bodyPr>
          <a:lstStyle/>
          <a:p>
            <a:pPr marL="0" indent="0">
              <a:spcBef>
                <a:spcPts val="600"/>
              </a:spcBef>
              <a:buNone/>
            </a:pPr>
            <a:r>
              <a:rPr lang="en-US" sz="2400" noProof="0" dirty="0"/>
              <a:t>to the current source:</a:t>
            </a:r>
          </a:p>
        </p:txBody>
      </p:sp>
      <p:pic>
        <p:nvPicPr>
          <p:cNvPr id="4" name="Picture 2" descr="A circuit diagram shows a component less wire as the left most wire in the circuit. Connected in parallel to the 50 volts independent voltage source are the second, third, and fourth wires from left. The second wire from left contains a 10 ohms resistor with voltage v subscript 1 across it. Voltage v subscript 1 has positive polarity at top and negative at bottom. Current I flows downwards through the second wire from left. The third wire from left contains a 40 ohms resistor. The fourth wire from left contains a 3 ampere independent current source with internal arrow pointing upwards. A 5 ohms resistor is located in the top wire of the circuit between the leftmost wire and second wire from left. ">
            <a:extLst>
              <a:ext uri="{FF2B5EF4-FFF2-40B4-BE49-F238E27FC236}">
                <a16:creationId xmlns:a16="http://schemas.microsoft.com/office/drawing/2014/main" id="{6C16A438-D0F7-C972-239A-0101AA188AC7}"/>
              </a:ext>
            </a:extLst>
          </p:cNvPr>
          <p:cNvPicPr>
            <a:picLocks noChangeAspect="1" noChangeArrowheads="1"/>
          </p:cNvPicPr>
          <p:nvPr/>
        </p:nvPicPr>
        <p:blipFill>
          <a:blip r:embed="rId7"/>
          <a:stretch>
            <a:fillRect/>
          </a:stretch>
        </p:blipFill>
        <p:spPr bwMode="auto">
          <a:xfrm>
            <a:off x="2755958" y="2684891"/>
            <a:ext cx="3403485" cy="13112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38151" y="4245984"/>
            <a:ext cx="6135178" cy="405683"/>
          </a:xfrm>
        </p:spPr>
        <p:txBody>
          <a:bodyPr wrap="square" lIns="0" tIns="18000" rIns="0" bIns="18000" anchor="ctr">
            <a:spAutoFit/>
          </a:bodyPr>
          <a:lstStyle/>
          <a:p>
            <a:pPr marL="0" indent="0">
              <a:spcBef>
                <a:spcPts val="600"/>
              </a:spcBef>
              <a:buNone/>
            </a:pPr>
            <a:r>
              <a:rPr lang="en-US" sz="2400" noProof="0" dirty="0"/>
              <a:t>Use current division to find the current </a:t>
            </a:r>
            <a:r>
              <a:rPr lang="en-US" sz="2400" i="1" noProof="0" dirty="0" err="1"/>
              <a:t>i</a:t>
            </a:r>
            <a:r>
              <a:rPr lang="en-US" sz="2400" dirty="0"/>
              <a:t> </a:t>
            </a:r>
            <a:r>
              <a:rPr lang="en-US" sz="2400" noProof="0" dirty="0"/>
              <a:t>in the</a:t>
            </a:r>
          </a:p>
        </p:txBody>
      </p:sp>
      <p:graphicFrame>
        <p:nvGraphicFramePr>
          <p:cNvPr id="5" name="Object 4" descr="10 Ohms.">
            <a:extLst>
              <a:ext uri="{FF2B5EF4-FFF2-40B4-BE49-F238E27FC236}">
                <a16:creationId xmlns:a16="http://schemas.microsoft.com/office/drawing/2014/main" id="{4B357584-A97F-6029-B907-8855E57BEF71}"/>
              </a:ext>
            </a:extLst>
          </p:cNvPr>
          <p:cNvGraphicFramePr>
            <a:graphicFrameLocks noChangeAspect="1"/>
          </p:cNvGraphicFramePr>
          <p:nvPr>
            <p:extLst>
              <p:ext uri="{D42A27DB-BD31-4B8C-83A1-F6EECF244321}">
                <p14:modId xmlns:p14="http://schemas.microsoft.com/office/powerpoint/2010/main" val="3771529471"/>
              </p:ext>
            </p:extLst>
          </p:nvPr>
        </p:nvGraphicFramePr>
        <p:xfrm>
          <a:off x="6646703" y="4318263"/>
          <a:ext cx="623888" cy="323850"/>
        </p:xfrm>
        <a:graphic>
          <a:graphicData uri="http://schemas.openxmlformats.org/presentationml/2006/ole">
            <mc:AlternateContent xmlns:mc="http://schemas.openxmlformats.org/markup-compatibility/2006">
              <mc:Choice xmlns:v="urn:schemas-microsoft-com:vml" Requires="v">
                <p:oleObj name="Equation" r:id="rId8" imgW="342720" imgH="177480" progId="Equation.DSMT4">
                  <p:embed/>
                </p:oleObj>
              </mc:Choice>
              <mc:Fallback>
                <p:oleObj name="Equation" r:id="rId8" imgW="342720" imgH="177480" progId="Equation.DSMT4">
                  <p:embed/>
                  <p:pic>
                    <p:nvPicPr>
                      <p:cNvPr id="14" name="Object 13">
                        <a:extLst>
                          <a:ext uri="{FF2B5EF4-FFF2-40B4-BE49-F238E27FC236}">
                            <a16:creationId xmlns:a16="http://schemas.microsoft.com/office/drawing/2014/main" id="{3AA90B28-D4D0-BAF0-B90C-FC8EDA4B3BBB}"/>
                          </a:ext>
                        </a:extLst>
                      </p:cNvPr>
                      <p:cNvPicPr>
                        <a:picLocks noChangeAspect="1" noChangeArrowheads="1"/>
                      </p:cNvPicPr>
                      <p:nvPr/>
                    </p:nvPicPr>
                    <p:blipFill>
                      <a:blip r:embed="rId9"/>
                      <a:srcRect/>
                      <a:stretch>
                        <a:fillRect/>
                      </a:stretch>
                    </p:blipFill>
                    <p:spPr bwMode="auto">
                      <a:xfrm>
                        <a:off x="6646703" y="4318263"/>
                        <a:ext cx="62388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7391028" y="4258442"/>
            <a:ext cx="1109663" cy="405683"/>
          </a:xfrm>
        </p:spPr>
        <p:txBody>
          <a:bodyPr wrap="square" lIns="0" tIns="18000" rIns="0" bIns="18000" anchor="ctr">
            <a:spAutoFit/>
          </a:bodyPr>
          <a:lstStyle/>
          <a:p>
            <a:pPr marL="0" indent="0">
              <a:spcBef>
                <a:spcPts val="600"/>
              </a:spcBef>
              <a:buNone/>
            </a:pPr>
            <a:r>
              <a:rPr lang="en-US" sz="2400" noProof="0" dirty="0"/>
              <a:t>resistor.</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46776" y="4737116"/>
            <a:ext cx="3745661" cy="405683"/>
          </a:xfrm>
        </p:spPr>
        <p:txBody>
          <a:bodyPr wrap="square" lIns="0" tIns="18000" rIns="0" bIns="18000" anchor="ctr">
            <a:spAutoFit/>
          </a:bodyPr>
          <a:lstStyle/>
          <a:p>
            <a:pPr marL="0" indent="0">
              <a:spcBef>
                <a:spcPts val="600"/>
              </a:spcBef>
              <a:buNone/>
            </a:pPr>
            <a:r>
              <a:rPr lang="en-US" sz="2400" noProof="0" dirty="0"/>
              <a:t>Then use Ohm’s law to find</a:t>
            </a:r>
          </a:p>
        </p:txBody>
      </p:sp>
      <p:graphicFrame>
        <p:nvGraphicFramePr>
          <p:cNvPr id="15" name="Object 14" descr="V subscript 1 BaseLine double prime.">
            <a:extLst>
              <a:ext uri="{FF2B5EF4-FFF2-40B4-BE49-F238E27FC236}">
                <a16:creationId xmlns:a16="http://schemas.microsoft.com/office/drawing/2014/main" id="{2FC19C1E-D6A2-3FEA-822A-61EE1BE250DE}"/>
              </a:ext>
            </a:extLst>
          </p:cNvPr>
          <p:cNvGraphicFramePr>
            <a:graphicFrameLocks noChangeAspect="1"/>
          </p:cNvGraphicFramePr>
          <p:nvPr>
            <p:extLst>
              <p:ext uri="{D42A27DB-BD31-4B8C-83A1-F6EECF244321}">
                <p14:modId xmlns:p14="http://schemas.microsoft.com/office/powerpoint/2010/main" val="2183166484"/>
              </p:ext>
            </p:extLst>
          </p:nvPr>
        </p:nvGraphicFramePr>
        <p:xfrm>
          <a:off x="4289424" y="4756702"/>
          <a:ext cx="531813" cy="433387"/>
        </p:xfrm>
        <a:graphic>
          <a:graphicData uri="http://schemas.openxmlformats.org/presentationml/2006/ole">
            <mc:AlternateContent xmlns:mc="http://schemas.openxmlformats.org/markup-compatibility/2006">
              <mc:Choice xmlns:v="urn:schemas-microsoft-com:vml" Requires="v">
                <p:oleObj name="Equation" r:id="rId10" imgW="279360" imgH="228600" progId="Equation.DSMT4">
                  <p:embed/>
                </p:oleObj>
              </mc:Choice>
              <mc:Fallback>
                <p:oleObj name="Equation" r:id="rId10" imgW="279360" imgH="228600" progId="Equation.DSMT4">
                  <p:embed/>
                  <p:pic>
                    <p:nvPicPr>
                      <p:cNvPr id="15" name="Object 14">
                        <a:extLst>
                          <a:ext uri="{FF2B5EF4-FFF2-40B4-BE49-F238E27FC236}">
                            <a16:creationId xmlns:a16="http://schemas.microsoft.com/office/drawing/2014/main" id="{DEDBDEA0-5FC5-EB2C-3777-B048B2BD477C}"/>
                          </a:ext>
                        </a:extLst>
                      </p:cNvPr>
                      <p:cNvPicPr>
                        <a:picLocks noChangeAspect="1" noChangeArrowheads="1"/>
                      </p:cNvPicPr>
                      <p:nvPr/>
                    </p:nvPicPr>
                    <p:blipFill>
                      <a:blip r:embed="rId11"/>
                      <a:srcRect/>
                      <a:stretch>
                        <a:fillRect/>
                      </a:stretch>
                    </p:blipFill>
                    <p:spPr bwMode="auto">
                      <a:xfrm>
                        <a:off x="4289424" y="4756702"/>
                        <a:ext cx="531813"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2" descr="The figure illustrates the values of i and V subscript 1 BaseLine double prime.&#10;Long description is available in notes, press F6.">
            <a:extLst>
              <a:ext uri="{FF2B5EF4-FFF2-40B4-BE49-F238E27FC236}">
                <a16:creationId xmlns:a16="http://schemas.microsoft.com/office/drawing/2014/main" id="{7272C5EF-BC6C-8126-6B4F-2491AC7DDB8F}"/>
              </a:ext>
            </a:extLst>
          </p:cNvPr>
          <p:cNvGraphicFramePr>
            <a:graphicFrameLocks noChangeAspect="1"/>
          </p:cNvGraphicFramePr>
          <p:nvPr>
            <p:extLst>
              <p:ext uri="{D42A27DB-BD31-4B8C-83A1-F6EECF244321}">
                <p14:modId xmlns:p14="http://schemas.microsoft.com/office/powerpoint/2010/main" val="3688671288"/>
              </p:ext>
            </p:extLst>
          </p:nvPr>
        </p:nvGraphicFramePr>
        <p:xfrm>
          <a:off x="2605073" y="5272047"/>
          <a:ext cx="3892579" cy="917755"/>
        </p:xfrm>
        <a:graphic>
          <a:graphicData uri="http://schemas.openxmlformats.org/presentationml/2006/ole">
            <mc:AlternateContent xmlns:mc="http://schemas.openxmlformats.org/markup-compatibility/2006">
              <mc:Choice xmlns:v="urn:schemas-microsoft-com:vml" Requires="v">
                <p:oleObj name="Equation" r:id="rId12" imgW="2692080" imgH="634680" progId="Equation.DSMT4">
                  <p:embed/>
                </p:oleObj>
              </mc:Choice>
              <mc:Fallback>
                <p:oleObj name="Equation" r:id="rId12" imgW="2692080" imgH="634680" progId="Equation.DSMT4">
                  <p:embed/>
                  <p:pic>
                    <p:nvPicPr>
                      <p:cNvPr id="16" name="Object 2">
                        <a:extLst>
                          <a:ext uri="{FF2B5EF4-FFF2-40B4-BE49-F238E27FC236}">
                            <a16:creationId xmlns:a16="http://schemas.microsoft.com/office/drawing/2014/main" id="{D4F0BE67-0738-EA6F-6E1D-D405D9C86B33}"/>
                          </a:ext>
                        </a:extLst>
                      </p:cNvPr>
                      <p:cNvPicPr>
                        <a:picLocks noChangeAspect="1" noChangeArrowheads="1"/>
                      </p:cNvPicPr>
                      <p:nvPr/>
                    </p:nvPicPr>
                    <p:blipFill>
                      <a:blip r:embed="rId13"/>
                      <a:srcRect/>
                      <a:stretch>
                        <a:fillRect/>
                      </a:stretch>
                    </p:blipFill>
                    <p:spPr bwMode="auto">
                      <a:xfrm>
                        <a:off x="2605073" y="5272047"/>
                        <a:ext cx="3892579" cy="9177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13157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4"/>
            <a:ext cx="8229600" cy="1144347"/>
          </a:xfrm>
        </p:spPr>
        <p:txBody>
          <a:bodyPr/>
          <a:lstStyle/>
          <a:p>
            <a:r>
              <a:rPr lang="en-US" noProof="0" dirty="0"/>
              <a:t>Chapter 4 – techniques of circuit analysis </a:t>
            </a:r>
            <a:r>
              <a:rPr lang="en-US" sz="2800" noProof="0" dirty="0"/>
              <a:t>(15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78268"/>
            <a:ext cx="4936107" cy="405683"/>
          </a:xfrm>
        </p:spPr>
        <p:txBody>
          <a:bodyPr wrap="square" lIns="0" tIns="18000" rIns="0" bIns="18000" anchor="ctr">
            <a:spAutoFit/>
          </a:bodyPr>
          <a:lstStyle/>
          <a:p>
            <a:pPr marL="0" indent="0">
              <a:spcBef>
                <a:spcPts val="600"/>
              </a:spcBef>
              <a:buNone/>
            </a:pPr>
            <a:r>
              <a:rPr lang="en-US" sz="2400" noProof="0" dirty="0"/>
              <a:t>Use superposition to find the voltage</a:t>
            </a:r>
          </a:p>
        </p:txBody>
      </p:sp>
      <p:graphicFrame>
        <p:nvGraphicFramePr>
          <p:cNvPr id="2" name="Object 1" descr="V subscript 1.">
            <a:extLst>
              <a:ext uri="{FF2B5EF4-FFF2-40B4-BE49-F238E27FC236}">
                <a16:creationId xmlns:a16="http://schemas.microsoft.com/office/drawing/2014/main" id="{6B1714A4-0609-35BF-1E66-06DADD69D716}"/>
              </a:ext>
            </a:extLst>
          </p:cNvPr>
          <p:cNvGraphicFramePr>
            <a:graphicFrameLocks noChangeAspect="1"/>
          </p:cNvGraphicFramePr>
          <p:nvPr>
            <p:extLst>
              <p:ext uri="{D42A27DB-BD31-4B8C-83A1-F6EECF244321}">
                <p14:modId xmlns:p14="http://schemas.microsoft.com/office/powerpoint/2010/main" val="770694460"/>
              </p:ext>
            </p:extLst>
          </p:nvPr>
        </p:nvGraphicFramePr>
        <p:xfrm>
          <a:off x="5475671" y="1511758"/>
          <a:ext cx="291983" cy="437141"/>
        </p:xfrm>
        <a:graphic>
          <a:graphicData uri="http://schemas.openxmlformats.org/presentationml/2006/ole">
            <mc:AlternateContent xmlns:mc="http://schemas.openxmlformats.org/markup-compatibility/2006">
              <mc:Choice xmlns:v="urn:schemas-microsoft-com:vml" Requires="v">
                <p:oleObj name="Equation" r:id="rId2" imgW="152280" imgH="228600" progId="Equation.DSMT4">
                  <p:embed/>
                </p:oleObj>
              </mc:Choice>
              <mc:Fallback>
                <p:oleObj name="Equation" r:id="rId2" imgW="152280" imgH="228600" progId="Equation.DSMT4">
                  <p:embed/>
                  <p:pic>
                    <p:nvPicPr>
                      <p:cNvPr id="2" name="Object 1">
                        <a:extLst>
                          <a:ext uri="{FF2B5EF4-FFF2-40B4-BE49-F238E27FC236}">
                            <a16:creationId xmlns:a16="http://schemas.microsoft.com/office/drawing/2014/main" id="{EDC42998-5656-5A13-E6C1-E045C293D92D}"/>
                          </a:ext>
                        </a:extLst>
                      </p:cNvPr>
                      <p:cNvPicPr>
                        <a:picLocks noChangeAspect="1" noChangeArrowheads="1"/>
                      </p:cNvPicPr>
                      <p:nvPr/>
                    </p:nvPicPr>
                    <p:blipFill>
                      <a:blip r:embed="rId3"/>
                      <a:srcRect/>
                      <a:stretch>
                        <a:fillRect/>
                      </a:stretch>
                    </p:blipFill>
                    <p:spPr bwMode="auto">
                      <a:xfrm>
                        <a:off x="5475671" y="1511758"/>
                        <a:ext cx="291983" cy="437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5881412" y="1490854"/>
            <a:ext cx="2443073" cy="405683"/>
          </a:xfrm>
        </p:spPr>
        <p:txBody>
          <a:bodyPr wrap="square" lIns="0" tIns="18000" rIns="0" bIns="18000" anchor="ctr">
            <a:spAutoFit/>
          </a:bodyPr>
          <a:lstStyle/>
          <a:p>
            <a:pPr marL="0" indent="0">
              <a:spcBef>
                <a:spcPts val="600"/>
              </a:spcBef>
              <a:buNone/>
            </a:pPr>
            <a:r>
              <a:rPr lang="en-US" sz="2400" noProof="0" dirty="0"/>
              <a:t>in the circuit here.</a:t>
            </a:r>
          </a:p>
        </p:txBody>
      </p:sp>
      <p:pic>
        <p:nvPicPr>
          <p:cNvPr id="5" name="Picture 4" descr="A circuit diagram shows a 50 volts independent voltage source with positive polarity at its top and negative at the bottom as the left most wire in the circuit. Connected in parallel to the 50 volts independent voltage source are the second, third, and fourth wires from left. The second wire from left contains a 10 ohms resistor with voltage v subscript 1 across it. Voltage v subscript 1 has positive polarity at top and negative at bottom. The third wire from left contains a 40 ohms resistor. The fourth wire from left contains a 3 ampere independent current source with internal arrow pointing upwards. A 5 ohms resistor is located in the top wire of the circuit between the leftmost wire and second wire from left. ">
            <a:extLst>
              <a:ext uri="{FF2B5EF4-FFF2-40B4-BE49-F238E27FC236}">
                <a16:creationId xmlns:a16="http://schemas.microsoft.com/office/drawing/2014/main" id="{F2E1B0F0-A54B-3F74-05A7-775C6171F111}"/>
              </a:ext>
            </a:extLst>
          </p:cNvPr>
          <p:cNvPicPr>
            <a:picLocks noChangeAspect="1" noChangeArrowheads="1"/>
          </p:cNvPicPr>
          <p:nvPr/>
        </p:nvPicPr>
        <p:blipFill>
          <a:blip r:embed="rId4"/>
          <a:stretch>
            <a:fillRect/>
          </a:stretch>
        </p:blipFill>
        <p:spPr bwMode="auto">
          <a:xfrm>
            <a:off x="2545309" y="2227737"/>
            <a:ext cx="4037275" cy="13182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3923933"/>
            <a:ext cx="8232775" cy="775015"/>
          </a:xfrm>
        </p:spPr>
        <p:txBody>
          <a:bodyPr wrap="square" lIns="0" tIns="18000" rIns="0" bIns="18000" anchor="ctr">
            <a:spAutoFit/>
          </a:bodyPr>
          <a:lstStyle/>
          <a:p>
            <a:pPr marL="0" indent="0">
              <a:spcBef>
                <a:spcPts val="600"/>
              </a:spcBef>
              <a:buNone/>
            </a:pPr>
            <a:r>
              <a:rPr lang="en-US" sz="2400" noProof="0" dirty="0"/>
              <a:t>Finally, sum the responses to each source independently to get the total response.</a:t>
            </a:r>
          </a:p>
        </p:txBody>
      </p:sp>
      <p:graphicFrame>
        <p:nvGraphicFramePr>
          <p:cNvPr id="25" name="Object 24" descr="V subscript 1 BaseLine equals V subscript 1 BaseLine prime plus V subscript 1 BaseLine double prime equals 30.77 plus 9.23 equals 40 Volts.">
            <a:extLst>
              <a:ext uri="{FF2B5EF4-FFF2-40B4-BE49-F238E27FC236}">
                <a16:creationId xmlns:a16="http://schemas.microsoft.com/office/drawing/2014/main" id="{07399961-AEAA-26DD-68A1-B7F49B18E36B}"/>
              </a:ext>
            </a:extLst>
          </p:cNvPr>
          <p:cNvGraphicFramePr>
            <a:graphicFrameLocks noChangeAspect="1"/>
          </p:cNvGraphicFramePr>
          <p:nvPr>
            <p:extLst>
              <p:ext uri="{D42A27DB-BD31-4B8C-83A1-F6EECF244321}">
                <p14:modId xmlns:p14="http://schemas.microsoft.com/office/powerpoint/2010/main" val="692542273"/>
              </p:ext>
            </p:extLst>
          </p:nvPr>
        </p:nvGraphicFramePr>
        <p:xfrm>
          <a:off x="2298700" y="4865811"/>
          <a:ext cx="4324350" cy="449262"/>
        </p:xfrm>
        <a:graphic>
          <a:graphicData uri="http://schemas.openxmlformats.org/presentationml/2006/ole">
            <mc:AlternateContent xmlns:mc="http://schemas.openxmlformats.org/markup-compatibility/2006">
              <mc:Choice xmlns:v="urn:schemas-microsoft-com:vml" Requires="v">
                <p:oleObj name="Equation" r:id="rId5" imgW="2197080" imgH="228600" progId="Equation.DSMT4">
                  <p:embed/>
                </p:oleObj>
              </mc:Choice>
              <mc:Fallback>
                <p:oleObj name="Equation" r:id="rId5" imgW="2197080" imgH="228600" progId="Equation.DSMT4">
                  <p:embed/>
                  <p:pic>
                    <p:nvPicPr>
                      <p:cNvPr id="13" name="Object 12">
                        <a:extLst>
                          <a:ext uri="{FF2B5EF4-FFF2-40B4-BE49-F238E27FC236}">
                            <a16:creationId xmlns:a16="http://schemas.microsoft.com/office/drawing/2014/main" id="{7F342431-DDEC-00DD-163B-CF01F5A77A96}"/>
                          </a:ext>
                        </a:extLst>
                      </p:cNvPr>
                      <p:cNvPicPr>
                        <a:picLocks noChangeAspect="1" noChangeArrowheads="1"/>
                      </p:cNvPicPr>
                      <p:nvPr/>
                    </p:nvPicPr>
                    <p:blipFill>
                      <a:blip r:embed="rId6"/>
                      <a:srcRect/>
                      <a:stretch>
                        <a:fillRect/>
                      </a:stretch>
                    </p:blipFill>
                    <p:spPr bwMode="auto">
                      <a:xfrm>
                        <a:off x="2298700" y="4865811"/>
                        <a:ext cx="4324350"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27502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196736"/>
            <a:ext cx="8229600" cy="1144347"/>
          </a:xfrm>
        </p:spPr>
        <p:txBody>
          <a:bodyPr/>
          <a:lstStyle/>
          <a:p>
            <a:r>
              <a:rPr lang="en-US" noProof="0" dirty="0"/>
              <a:t>Chapter 4 – techniques of circuit analysis </a:t>
            </a:r>
            <a:r>
              <a:rPr lang="en-US" sz="2800" noProof="0" dirty="0"/>
              <a:t>(16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72186"/>
            <a:ext cx="7506778" cy="4422168"/>
          </a:xfrm>
        </p:spPr>
        <p:txBody>
          <a:bodyPr wrap="square" lIns="0" tIns="18000" rIns="0" bIns="18000" anchor="ctr">
            <a:spAutoFit/>
          </a:bodyPr>
          <a:lstStyle/>
          <a:p>
            <a:pPr marL="0" indent="0">
              <a:spcBef>
                <a:spcPts val="600"/>
              </a:spcBef>
              <a:buNone/>
            </a:pPr>
            <a:r>
              <a:rPr lang="en-US" sz="2400" noProof="0" dirty="0"/>
              <a:t>Summary of circuit analysis techniques:</a:t>
            </a:r>
          </a:p>
          <a:p>
            <a:pPr marL="342900" indent="-342900">
              <a:spcBef>
                <a:spcPts val="600"/>
              </a:spcBef>
            </a:pPr>
            <a:r>
              <a:rPr lang="en-US" sz="2400" noProof="0" dirty="0"/>
              <a:t>Ohm’s Law</a:t>
            </a:r>
          </a:p>
          <a:p>
            <a:pPr marL="342900" indent="-342900">
              <a:spcBef>
                <a:spcPts val="600"/>
              </a:spcBef>
            </a:pPr>
            <a:r>
              <a:rPr lang="en-US" sz="2400" kern="100" spc="-300" noProof="0" dirty="0"/>
              <a:t>K V </a:t>
            </a:r>
            <a:r>
              <a:rPr lang="en-US" sz="2400" noProof="0" dirty="0"/>
              <a:t>L and </a:t>
            </a:r>
            <a:r>
              <a:rPr lang="en-US" sz="2400" spc="-300" noProof="0" dirty="0"/>
              <a:t>K C </a:t>
            </a:r>
            <a:r>
              <a:rPr lang="en-US" sz="2400" noProof="0" dirty="0"/>
              <a:t>L</a:t>
            </a:r>
          </a:p>
          <a:p>
            <a:pPr marL="342900" indent="-342900">
              <a:spcBef>
                <a:spcPts val="600"/>
              </a:spcBef>
            </a:pPr>
            <a:r>
              <a:rPr lang="en-US" sz="2400" noProof="0" dirty="0"/>
              <a:t>Combining resistors in series and parallel</a:t>
            </a:r>
          </a:p>
          <a:p>
            <a:pPr marL="342900" indent="-342900">
              <a:spcBef>
                <a:spcPts val="600"/>
              </a:spcBef>
            </a:pPr>
            <a:r>
              <a:rPr lang="en-US" sz="2400" noProof="0" dirty="0"/>
              <a:t>Voltage division and current division</a:t>
            </a:r>
          </a:p>
          <a:p>
            <a:pPr marL="342900" indent="-342900">
              <a:spcBef>
                <a:spcPts val="600"/>
              </a:spcBef>
            </a:pPr>
            <a:r>
              <a:rPr lang="en-US" sz="2400" noProof="0" dirty="0"/>
              <a:t>Node voltage method</a:t>
            </a:r>
          </a:p>
          <a:p>
            <a:pPr marL="342900" indent="-342900">
              <a:spcBef>
                <a:spcPts val="600"/>
              </a:spcBef>
            </a:pPr>
            <a:r>
              <a:rPr lang="en-US" sz="2400" noProof="0" dirty="0"/>
              <a:t>Mesh current method</a:t>
            </a:r>
          </a:p>
          <a:p>
            <a:pPr marL="342900" indent="-342900">
              <a:spcBef>
                <a:spcPts val="600"/>
              </a:spcBef>
            </a:pPr>
            <a:r>
              <a:rPr lang="en-US" sz="2400" noProof="0" dirty="0"/>
              <a:t>Source transformation</a:t>
            </a:r>
          </a:p>
          <a:p>
            <a:pPr marL="342900" indent="-342900">
              <a:spcBef>
                <a:spcPts val="600"/>
              </a:spcBef>
            </a:pPr>
            <a:r>
              <a:rPr lang="en-US" sz="2400" noProof="0" dirty="0"/>
              <a:t>Thevenin and Norton equivalents</a:t>
            </a:r>
          </a:p>
          <a:p>
            <a:pPr marL="342900" indent="-342900">
              <a:spcBef>
                <a:spcPts val="600"/>
              </a:spcBef>
            </a:pPr>
            <a:r>
              <a:rPr lang="en-US" sz="2400" noProof="0" dirty="0"/>
              <a:t>Superposition</a:t>
            </a:r>
          </a:p>
        </p:txBody>
      </p:sp>
    </p:spTree>
    <p:extLst>
      <p:ext uri="{BB962C8B-B14F-4D97-AF65-F5344CB8AC3E}">
        <p14:creationId xmlns:p14="http://schemas.microsoft.com/office/powerpoint/2010/main" val="2318193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855</TotalTime>
  <Words>1520</Words>
  <Application>Microsoft Office PowerPoint</Application>
  <PresentationFormat>On-screen Show (4:3)</PresentationFormat>
  <Paragraphs>159</Paragraphs>
  <Slides>23</Slides>
  <Notes>4</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29" baseType="lpstr">
      <vt:lpstr>Times New Roman</vt:lpstr>
      <vt:lpstr>Verdana</vt:lpstr>
      <vt:lpstr>Arial</vt:lpstr>
      <vt:lpstr>USHE</vt:lpstr>
      <vt:lpstr>USHE_slide options</vt:lpstr>
      <vt:lpstr>Equation</vt:lpstr>
      <vt:lpstr>Electric Circuits</vt:lpstr>
      <vt:lpstr>Chapter 4 – techniques of circuit analysis (1 of 16)</vt:lpstr>
      <vt:lpstr>Chapter 4 – techniques of circuit analysis (2 of 16)</vt:lpstr>
      <vt:lpstr>Chapter 4 – techniques of circuit analysis (2 of 16)</vt:lpstr>
      <vt:lpstr>Chapter 4 – techniques of circuit analysis (3 of 16)</vt:lpstr>
      <vt:lpstr>Chapter 4 – techniques of circuit analysis (3 of 16)</vt:lpstr>
      <vt:lpstr>Chapter 4 – techniques of circuit analysis (4 of 16)</vt:lpstr>
      <vt:lpstr>Chapter 4 – techniques of circuit analysis (4 of 16)</vt:lpstr>
      <vt:lpstr>Chapter 4 – techniques of circuit analysis (5 of 16)</vt:lpstr>
      <vt:lpstr>Chapter 4 – techniques of circuit analysis (5 of 16)</vt:lpstr>
      <vt:lpstr>Chapter 4 – techniques of circuit analysis (6 of 16)</vt:lpstr>
      <vt:lpstr>Chapter 4 – techniques of circuit analysis (7 of 16)</vt:lpstr>
      <vt:lpstr>Chapter 4 – techniques of circuit analysis (8 of 16)</vt:lpstr>
      <vt:lpstr>Chapter 4 – techniques of circuit analysis (9 of 16)</vt:lpstr>
      <vt:lpstr>Chapter 4 – techniques of circuit analysis (10 of 16)</vt:lpstr>
      <vt:lpstr>Chapter 4 – techniques of circuit analysis (11 of 16)</vt:lpstr>
      <vt:lpstr>Chapter 4 – techniques of circuit analysis (11 of 16)</vt:lpstr>
      <vt:lpstr>Chapter 4 – techniques of circuit analysis (12 of 16)</vt:lpstr>
      <vt:lpstr>Chapter 4 – techniques of circuit analysis (13 of 16)</vt:lpstr>
      <vt:lpstr>Chapter 4 – techniques of circuit analysis (14 of 16)</vt:lpstr>
      <vt:lpstr>Chapter 4 – techniques of circuit analysis (15 of 16)</vt:lpstr>
      <vt:lpstr>Chapter 4 – techniques of circuit analysis (16 of 16)</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4 – Part 8</dc:title>
  <dc:subject>Engineering</dc:subject>
  <dc:creator>Nilsson and Riedel</dc:creator>
  <cp:keywords/>
  <dc:description/>
  <cp:lastModifiedBy>kml erd</cp:lastModifiedBy>
  <cp:revision>76</cp:revision>
  <dcterms:modified xsi:type="dcterms:W3CDTF">2025-11-04T15:44:53Z</dcterms:modified>
</cp:coreProperties>
</file>