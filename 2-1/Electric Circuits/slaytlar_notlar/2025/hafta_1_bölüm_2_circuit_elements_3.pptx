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14"/>
  </p:notesMasterIdLst>
  <p:handoutMasterIdLst>
    <p:handoutMasterId r:id="rId15"/>
  </p:handoutMasterIdLst>
  <p:sldIdLst>
    <p:sldId id="330" r:id="rId3"/>
    <p:sldId id="718" r:id="rId4"/>
    <p:sldId id="729" r:id="rId5"/>
    <p:sldId id="730" r:id="rId6"/>
    <p:sldId id="731" r:id="rId7"/>
    <p:sldId id="723" r:id="rId8"/>
    <p:sldId id="736" r:id="rId9"/>
    <p:sldId id="737" r:id="rId10"/>
    <p:sldId id="734" r:id="rId11"/>
    <p:sldId id="735" r:id="rId12"/>
    <p:sldId id="717" r:id="rId13"/>
  </p:sldIdLst>
  <p:sldSz cx="9144000" cy="6858000" type="screen4x3"/>
  <p:notesSz cx="6858000" cy="9144000"/>
  <p:embeddedFontLst>
    <p:embeddedFont>
      <p:font typeface="Calibri" panose="020F0502020204030204" pitchFamily="34" charset="0"/>
      <p:regular r:id="rId16"/>
      <p:bold r:id="rId17"/>
      <p:italic r:id="rId18"/>
      <p:boldItalic r:id="rId19"/>
    </p:embeddedFont>
    <p:embeddedFont>
      <p:font typeface="Verdana" panose="020B060403050404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890" userDrawn="1">
          <p15:clr>
            <a:srgbClr val="A4A3A4"/>
          </p15:clr>
        </p15:guide>
        <p15:guide id="5" pos="5462" userDrawn="1">
          <p15:clr>
            <a:srgbClr val="A4A3A4"/>
          </p15:clr>
        </p15:guide>
        <p15:guide id="6" orient="horz" pos="4156" userDrawn="1">
          <p15:clr>
            <a:srgbClr val="A4A3A4"/>
          </p15:clr>
        </p15:guide>
        <p15:guide id="7"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222" autoAdjust="0"/>
  </p:normalViewPr>
  <p:slideViewPr>
    <p:cSldViewPr snapToGrid="0" snapToObjects="1">
      <p:cViewPr varScale="1">
        <p:scale>
          <a:sx n="68" d="100"/>
          <a:sy n="68" d="100"/>
        </p:scale>
        <p:origin x="1590" y="72"/>
      </p:cViewPr>
      <p:guideLst>
        <p:guide orient="horz" pos="427"/>
        <p:guide pos="264"/>
        <p:guide orient="horz" pos="890"/>
        <p:guide pos="5462"/>
        <p:guide orient="horz" pos="4156"/>
        <p:guide orient="horz" pos="2160"/>
      </p:guideLst>
    </p:cSldViewPr>
  </p:slideViewPr>
  <p:outlineViewPr>
    <p:cViewPr>
      <p:scale>
        <a:sx n="33" d="100"/>
        <a:sy n="33" d="100"/>
      </p:scale>
      <p:origin x="0" y="-4926"/>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image" Target="../media/image7.wmf"/><Relationship Id="rId7" Type="http://schemas.openxmlformats.org/officeDocument/2006/relationships/image" Target="../media/image11.wmf"/><Relationship Id="rId12" Type="http://schemas.openxmlformats.org/officeDocument/2006/relationships/image" Target="../media/image16.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11" Type="http://schemas.openxmlformats.org/officeDocument/2006/relationships/image" Target="../media/image15.wmf"/><Relationship Id="rId5" Type="http://schemas.openxmlformats.org/officeDocument/2006/relationships/image" Target="../media/image9.wmf"/><Relationship Id="rId10" Type="http://schemas.openxmlformats.org/officeDocument/2006/relationships/image" Target="../media/image14.wmf"/><Relationship Id="rId4" Type="http://schemas.openxmlformats.org/officeDocument/2006/relationships/image" Target="../media/image8.wmf"/><Relationship Id="rId9"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5" Type="http://schemas.openxmlformats.org/officeDocument/2006/relationships/image" Target="../media/image30.wmf"/><Relationship Id="rId4" Type="http://schemas.openxmlformats.org/officeDocument/2006/relationships/image" Target="../media/image2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5.wmf"/><Relationship Id="rId7" Type="http://schemas.openxmlformats.org/officeDocument/2006/relationships/image" Target="../media/image39.wmf"/><Relationship Id="rId2" Type="http://schemas.openxmlformats.org/officeDocument/2006/relationships/image" Target="../media/image34.wmf"/><Relationship Id="rId1" Type="http://schemas.openxmlformats.org/officeDocument/2006/relationships/image" Target="../media/image33.wmf"/><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47.wmf"/><Relationship Id="rId2" Type="http://schemas.openxmlformats.org/officeDocument/2006/relationships/image" Target="../media/image42.wmf"/><Relationship Id="rId1" Type="http://schemas.openxmlformats.org/officeDocument/2006/relationships/image" Target="../media/image41.wmf"/><Relationship Id="rId6"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4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2/23/2024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Forward arrow, v equals </a:t>
            </a:r>
            <a:r>
              <a:rPr lang="en-US" sz="1200" b="0" i="0" u="none" strike="noStrike" dirty="0" err="1">
                <a:solidFill>
                  <a:srgbClr val="000000"/>
                </a:solidFill>
                <a:effectLst/>
                <a:latin typeface="Arial" panose="020B0604020202020204" pitchFamily="34" charset="0"/>
                <a:cs typeface="Arial" panose="020B0604020202020204" pitchFamily="34" charset="0"/>
              </a:rPr>
              <a:t>OpenParenthesis</a:t>
            </a:r>
            <a:r>
              <a:rPr lang="en-US" sz="1200" b="0" i="0" u="none" strike="noStrike" dirty="0">
                <a:solidFill>
                  <a:srgbClr val="000000"/>
                </a:solidFill>
                <a:effectLst/>
                <a:latin typeface="Arial" panose="020B0604020202020204" pitchFamily="34" charset="0"/>
                <a:cs typeface="Arial" panose="020B0604020202020204" pitchFamily="34" charset="0"/>
              </a:rPr>
              <a:t> 6000 </a:t>
            </a:r>
            <a:r>
              <a:rPr lang="en-US" sz="1200" b="0" i="0" u="none" strike="noStrike" dirty="0" err="1">
                <a:solidFill>
                  <a:srgbClr val="000000"/>
                </a:solidFill>
                <a:effectLst/>
                <a:latin typeface="Arial" panose="020B0604020202020204" pitchFamily="34" charset="0"/>
                <a:cs typeface="Arial" panose="020B0604020202020204" pitchFamily="34" charset="0"/>
              </a:rPr>
              <a:t>CloseParenthesis</a:t>
            </a:r>
            <a:r>
              <a:rPr lang="en-US" sz="1200" b="0" i="0" u="none" strike="noStrike" dirty="0">
                <a:solidFill>
                  <a:srgbClr val="000000"/>
                </a:solidFill>
                <a:effectLst/>
                <a:latin typeface="Arial" panose="020B0604020202020204" pitchFamily="34" charset="0"/>
                <a:cs typeface="Arial" panose="020B0604020202020204" pitchFamily="34" charset="0"/>
              </a:rPr>
              <a:t> multiplied by </a:t>
            </a:r>
            <a:r>
              <a:rPr lang="en-US" sz="1200" b="0" i="0" u="none" strike="noStrike" dirty="0" err="1">
                <a:solidFill>
                  <a:srgbClr val="000000"/>
                </a:solidFill>
                <a:effectLst/>
                <a:latin typeface="Arial" panose="020B0604020202020204" pitchFamily="34" charset="0"/>
                <a:cs typeface="Arial" panose="020B0604020202020204" pitchFamily="34" charset="0"/>
              </a:rPr>
              <a:t>OpenParenthesis</a:t>
            </a:r>
            <a:r>
              <a:rPr lang="en-US" sz="1200" b="0" i="0" u="none" strike="noStrike" dirty="0">
                <a:solidFill>
                  <a:srgbClr val="000000"/>
                </a:solidFill>
                <a:effectLst/>
                <a:latin typeface="Arial" panose="020B0604020202020204" pitchFamily="34" charset="0"/>
                <a:cs typeface="Arial" panose="020B0604020202020204" pitchFamily="34" charset="0"/>
              </a:rPr>
              <a:t> 31 </a:t>
            </a:r>
            <a:r>
              <a:rPr lang="en-US" sz="1200" b="0" i="0" u="none" strike="noStrike" dirty="0" err="1">
                <a:solidFill>
                  <a:srgbClr val="000000"/>
                </a:solidFill>
                <a:effectLst/>
                <a:latin typeface="Arial" panose="020B0604020202020204" pitchFamily="34" charset="0"/>
                <a:cs typeface="Arial" panose="020B0604020202020204" pitchFamily="34" charset="0"/>
              </a:rPr>
              <a:t>CloseParenthesis</a:t>
            </a:r>
            <a:r>
              <a:rPr lang="en-US" sz="1200" b="0" i="0" u="none" strike="noStrike" dirty="0">
                <a:solidFill>
                  <a:srgbClr val="000000"/>
                </a:solidFill>
                <a:effectLst/>
                <a:latin typeface="Arial" panose="020B0604020202020204" pitchFamily="34" charset="0"/>
                <a:cs typeface="Arial" panose="020B0604020202020204" pitchFamily="34" charset="0"/>
              </a:rPr>
              <a:t> multiplied by </a:t>
            </a:r>
            <a:r>
              <a:rPr lang="en-US" sz="1200" b="0" i="0" u="none" strike="noStrike" dirty="0" err="1">
                <a:solidFill>
                  <a:srgbClr val="000000"/>
                </a:solidFill>
                <a:effectLst/>
                <a:latin typeface="Arial" panose="020B0604020202020204" pitchFamily="34" charset="0"/>
                <a:cs typeface="Arial" panose="020B0604020202020204" pitchFamily="34" charset="0"/>
              </a:rPr>
              <a:t>OpenParenthesis</a:t>
            </a:r>
            <a:r>
              <a:rPr lang="en-US" sz="1200" b="0" i="0" u="none" strike="noStrike" dirty="0">
                <a:solidFill>
                  <a:srgbClr val="000000"/>
                </a:solidFill>
                <a:effectLst/>
                <a:latin typeface="Arial" panose="020B0604020202020204" pitchFamily="34" charset="0"/>
                <a:cs typeface="Arial" panose="020B0604020202020204" pitchFamily="34" charset="0"/>
              </a:rPr>
              <a:t> 25 mu </a:t>
            </a:r>
            <a:r>
              <a:rPr lang="en-US" sz="1200" b="0" i="0" u="none" strike="noStrike" dirty="0" err="1">
                <a:solidFill>
                  <a:srgbClr val="000000"/>
                </a:solidFill>
                <a:effectLst/>
                <a:latin typeface="Arial" panose="020B0604020202020204" pitchFamily="34" charset="0"/>
                <a:cs typeface="Arial" panose="020B0604020202020204" pitchFamily="34" charset="0"/>
              </a:rPr>
              <a:t>CloseParenthesis</a:t>
            </a:r>
            <a:r>
              <a:rPr lang="en-US" sz="1200" b="0" i="0" u="none" strike="noStrike" dirty="0">
                <a:solidFill>
                  <a:srgbClr val="000000"/>
                </a:solidFill>
                <a:effectLst/>
                <a:latin typeface="Arial" panose="020B0604020202020204" pitchFamily="34" charset="0"/>
                <a:cs typeface="Arial" panose="020B0604020202020204" pitchFamily="34" charset="0"/>
              </a:rPr>
              <a:t> minus 8 plus </a:t>
            </a:r>
            <a:r>
              <a:rPr lang="en-US" sz="1200" b="0" i="0" u="none" strike="noStrike" dirty="0" err="1">
                <a:solidFill>
                  <a:srgbClr val="000000"/>
                </a:solidFill>
                <a:effectLst/>
                <a:latin typeface="Arial" panose="020B0604020202020204" pitchFamily="34" charset="0"/>
                <a:cs typeface="Arial" panose="020B0604020202020204" pitchFamily="34" charset="0"/>
              </a:rPr>
              <a:t>OpenParenthesis</a:t>
            </a:r>
            <a:r>
              <a:rPr lang="en-US" sz="1200" b="0" i="0" u="none" strike="noStrike" dirty="0">
                <a:solidFill>
                  <a:srgbClr val="000000"/>
                </a:solidFill>
                <a:effectLst/>
                <a:latin typeface="Arial" panose="020B0604020202020204" pitchFamily="34" charset="0"/>
                <a:cs typeface="Arial" panose="020B0604020202020204" pitchFamily="34" charset="0"/>
              </a:rPr>
              <a:t> 1800 </a:t>
            </a:r>
            <a:r>
              <a:rPr lang="en-US" sz="1200" b="0" i="0" u="none" strike="noStrike" dirty="0" err="1">
                <a:solidFill>
                  <a:srgbClr val="000000"/>
                </a:solidFill>
                <a:effectLst/>
                <a:latin typeface="Arial" panose="020B0604020202020204" pitchFamily="34" charset="0"/>
                <a:cs typeface="Arial" panose="020B0604020202020204" pitchFamily="34" charset="0"/>
              </a:rPr>
              <a:t>CloseParenthesis</a:t>
            </a:r>
            <a:r>
              <a:rPr lang="en-US" sz="1200" b="0" i="0" u="none" strike="noStrike" dirty="0">
                <a:solidFill>
                  <a:srgbClr val="000000"/>
                </a:solidFill>
                <a:effectLst/>
                <a:latin typeface="Arial" panose="020B0604020202020204" pitchFamily="34" charset="0"/>
                <a:cs typeface="Arial" panose="020B0604020202020204" pitchFamily="34" charset="0"/>
              </a:rPr>
              <a:t> multiplied by </a:t>
            </a:r>
            <a:r>
              <a:rPr lang="en-US" sz="1200" b="0" i="0" u="none" strike="noStrike" dirty="0" err="1">
                <a:solidFill>
                  <a:srgbClr val="000000"/>
                </a:solidFill>
                <a:effectLst/>
                <a:latin typeface="Arial" panose="020B0604020202020204" pitchFamily="34" charset="0"/>
                <a:cs typeface="Arial" panose="020B0604020202020204" pitchFamily="34" charset="0"/>
              </a:rPr>
              <a:t>OpenParenthesis</a:t>
            </a:r>
            <a:r>
              <a:rPr lang="en-US" sz="1200" b="0" i="0" u="none" strike="noStrike" dirty="0">
                <a:solidFill>
                  <a:srgbClr val="000000"/>
                </a:solidFill>
                <a:effectLst/>
                <a:latin typeface="Arial" panose="020B0604020202020204" pitchFamily="34" charset="0"/>
                <a:cs typeface="Arial" panose="020B0604020202020204" pitchFamily="34" charset="0"/>
              </a:rPr>
              <a:t> 30 </a:t>
            </a:r>
            <a:r>
              <a:rPr lang="en-US" sz="1200" b="0" i="0" u="none" strike="noStrike" dirty="0" err="1">
                <a:solidFill>
                  <a:srgbClr val="000000"/>
                </a:solidFill>
                <a:effectLst/>
                <a:latin typeface="Arial" panose="020B0604020202020204" pitchFamily="34" charset="0"/>
                <a:cs typeface="Arial" panose="020B0604020202020204" pitchFamily="34" charset="0"/>
              </a:rPr>
              <a:t>CloseParenthesis</a:t>
            </a:r>
            <a:r>
              <a:rPr lang="en-US" sz="1200" b="0" i="0" u="none" strike="noStrike" dirty="0">
                <a:solidFill>
                  <a:srgbClr val="000000"/>
                </a:solidFill>
                <a:effectLst/>
                <a:latin typeface="Arial" panose="020B0604020202020204" pitchFamily="34" charset="0"/>
                <a:cs typeface="Arial" panose="020B0604020202020204" pitchFamily="34" charset="0"/>
              </a:rPr>
              <a:t> multiplied by </a:t>
            </a:r>
            <a:r>
              <a:rPr lang="en-US" sz="1200" b="0" i="0" u="none" strike="noStrike" dirty="0" err="1">
                <a:solidFill>
                  <a:srgbClr val="000000"/>
                </a:solidFill>
                <a:effectLst/>
                <a:latin typeface="Arial" panose="020B0604020202020204" pitchFamily="34" charset="0"/>
                <a:cs typeface="Arial" panose="020B0604020202020204" pitchFamily="34" charset="0"/>
              </a:rPr>
              <a:t>OpenParenthesis</a:t>
            </a:r>
            <a:r>
              <a:rPr lang="en-US" sz="1200" b="0" i="0" u="none" strike="noStrike" dirty="0">
                <a:solidFill>
                  <a:srgbClr val="000000"/>
                </a:solidFill>
                <a:effectLst/>
                <a:latin typeface="Arial" panose="020B0604020202020204" pitchFamily="34" charset="0"/>
                <a:cs typeface="Arial" panose="020B0604020202020204" pitchFamily="34" charset="0"/>
              </a:rPr>
              <a:t> 25 mu </a:t>
            </a:r>
            <a:r>
              <a:rPr lang="en-US" sz="1200" b="0" i="0" u="none" strike="noStrike" dirty="0" err="1">
                <a:solidFill>
                  <a:srgbClr val="000000"/>
                </a:solidFill>
                <a:effectLst/>
                <a:latin typeface="Arial" panose="020B0604020202020204" pitchFamily="34" charset="0"/>
                <a:cs typeface="Arial" panose="020B0604020202020204" pitchFamily="34" charset="0"/>
              </a:rPr>
              <a:t>CloseParenthesis</a:t>
            </a:r>
            <a:r>
              <a:rPr lang="en-US" sz="1200" b="0" i="0" u="none" strike="noStrike" dirty="0">
                <a:solidFill>
                  <a:srgbClr val="000000"/>
                </a:solidFill>
                <a:effectLst/>
                <a:latin typeface="Arial" panose="020B0604020202020204" pitchFamily="34" charset="0"/>
                <a:cs typeface="Arial" panose="020B0604020202020204" pitchFamily="34" charset="0"/>
              </a:rPr>
              <a:t> equals negative 2 Volts.</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32476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11</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2/23/2024</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6" name="Content Placeholder 7">
            <a:extLst>
              <a:ext uri="{FF2B5EF4-FFF2-40B4-BE49-F238E27FC236}">
                <a16:creationId xmlns:a16="http://schemas.microsoft.com/office/drawing/2014/main" id="{67B5DD31-F4D7-7F29-F15C-8478039E4FC8}"/>
              </a:ext>
            </a:extLst>
          </p:cNvPr>
          <p:cNvSpPr txBox="1">
            <a:spLocks/>
          </p:cNvSpPr>
          <p:nvPr userDrawn="1"/>
        </p:nvSpPr>
        <p:spPr>
          <a:xfrm>
            <a:off x="2615013" y="6455210"/>
            <a:ext cx="6054875"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8.xml"/><Relationship Id="rId1" Type="http://schemas.openxmlformats.org/officeDocument/2006/relationships/vmlDrawing" Target="../drawings/vmlDrawing1.vml"/><Relationship Id="rId5" Type="http://schemas.openxmlformats.org/officeDocument/2006/relationships/image" Target="../media/image4.jpg"/><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9.wmf"/><Relationship Id="rId18" Type="http://schemas.openxmlformats.org/officeDocument/2006/relationships/oleObject" Target="../embeddings/oleObject9.bin"/><Relationship Id="rId26" Type="http://schemas.openxmlformats.org/officeDocument/2006/relationships/oleObject" Target="../embeddings/oleObject13.bin"/><Relationship Id="rId3" Type="http://schemas.openxmlformats.org/officeDocument/2006/relationships/oleObject" Target="../embeddings/oleObject2.bin"/><Relationship Id="rId21" Type="http://schemas.openxmlformats.org/officeDocument/2006/relationships/image" Target="../media/image13.wmf"/><Relationship Id="rId7" Type="http://schemas.openxmlformats.org/officeDocument/2006/relationships/image" Target="../media/image17.jpg"/><Relationship Id="rId12" Type="http://schemas.openxmlformats.org/officeDocument/2006/relationships/oleObject" Target="../embeddings/oleObject6.bin"/><Relationship Id="rId17" Type="http://schemas.openxmlformats.org/officeDocument/2006/relationships/image" Target="../media/image11.wmf"/><Relationship Id="rId25" Type="http://schemas.openxmlformats.org/officeDocument/2006/relationships/image" Target="../media/image15.wmf"/><Relationship Id="rId2" Type="http://schemas.openxmlformats.org/officeDocument/2006/relationships/slideLayout" Target="../slideLayouts/slideLayout8.xml"/><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vmlDrawing" Target="../drawings/vmlDrawing2.vml"/><Relationship Id="rId6" Type="http://schemas.openxmlformats.org/officeDocument/2006/relationships/image" Target="../media/image6.wmf"/><Relationship Id="rId11" Type="http://schemas.openxmlformats.org/officeDocument/2006/relationships/image" Target="../media/image8.wmf"/><Relationship Id="rId24" Type="http://schemas.openxmlformats.org/officeDocument/2006/relationships/oleObject" Target="../embeddings/oleObject12.bin"/><Relationship Id="rId5" Type="http://schemas.openxmlformats.org/officeDocument/2006/relationships/oleObject" Target="../embeddings/oleObject3.bin"/><Relationship Id="rId15" Type="http://schemas.openxmlformats.org/officeDocument/2006/relationships/image" Target="../media/image10.wmf"/><Relationship Id="rId23" Type="http://schemas.openxmlformats.org/officeDocument/2006/relationships/image" Target="../media/image14.wmf"/><Relationship Id="rId10" Type="http://schemas.openxmlformats.org/officeDocument/2006/relationships/oleObject" Target="../embeddings/oleObject5.bin"/><Relationship Id="rId19" Type="http://schemas.openxmlformats.org/officeDocument/2006/relationships/image" Target="../media/image12.wmf"/><Relationship Id="rId4" Type="http://schemas.openxmlformats.org/officeDocument/2006/relationships/image" Target="../media/image5.wmf"/><Relationship Id="rId9" Type="http://schemas.openxmlformats.org/officeDocument/2006/relationships/image" Target="../media/image7.wmf"/><Relationship Id="rId14" Type="http://schemas.openxmlformats.org/officeDocument/2006/relationships/oleObject" Target="../embeddings/oleObject7.bin"/><Relationship Id="rId22" Type="http://schemas.openxmlformats.org/officeDocument/2006/relationships/oleObject" Target="../embeddings/oleObject11.bin"/><Relationship Id="rId27" Type="http://schemas.openxmlformats.org/officeDocument/2006/relationships/image" Target="../media/image16.wmf"/></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3.xml"/><Relationship Id="rId7" Type="http://schemas.openxmlformats.org/officeDocument/2006/relationships/image" Target="../media/image19.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8.jpg"/><Relationship Id="rId5" Type="http://schemas.openxmlformats.org/officeDocument/2006/relationships/slideLayout" Target="../slideLayouts/slideLayout8.xml"/><Relationship Id="rId4" Type="http://schemas.openxmlformats.org/officeDocument/2006/relationships/tags" Target="../tags/tag4.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25.jpg"/><Relationship Id="rId7" Type="http://schemas.openxmlformats.org/officeDocument/2006/relationships/image" Target="../media/image22.wmf"/><Relationship Id="rId2" Type="http://schemas.openxmlformats.org/officeDocument/2006/relationships/slideLayout" Target="../slideLayouts/slideLayout8.xml"/><Relationship Id="rId1" Type="http://schemas.openxmlformats.org/officeDocument/2006/relationships/vmlDrawing" Target="../drawings/vmlDrawing3.vml"/><Relationship Id="rId6" Type="http://schemas.openxmlformats.org/officeDocument/2006/relationships/oleObject" Target="../embeddings/oleObject15.bin"/><Relationship Id="rId11" Type="http://schemas.openxmlformats.org/officeDocument/2006/relationships/image" Target="../media/image24.wmf"/><Relationship Id="rId5" Type="http://schemas.openxmlformats.org/officeDocument/2006/relationships/image" Target="../media/image21.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23.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30.wmf"/><Relationship Id="rId3" Type="http://schemas.openxmlformats.org/officeDocument/2006/relationships/image" Target="../media/image31.jpg"/><Relationship Id="rId7" Type="http://schemas.openxmlformats.org/officeDocument/2006/relationships/image" Target="../media/image27.wmf"/><Relationship Id="rId12" Type="http://schemas.openxmlformats.org/officeDocument/2006/relationships/oleObject" Target="../embeddings/oleObject22.bin"/><Relationship Id="rId2" Type="http://schemas.openxmlformats.org/officeDocument/2006/relationships/slideLayout" Target="../slideLayouts/slideLayout8.xml"/><Relationship Id="rId1" Type="http://schemas.openxmlformats.org/officeDocument/2006/relationships/vmlDrawing" Target="../drawings/vmlDrawing4.vml"/><Relationship Id="rId6" Type="http://schemas.openxmlformats.org/officeDocument/2006/relationships/oleObject" Target="../embeddings/oleObject19.bin"/><Relationship Id="rId11" Type="http://schemas.openxmlformats.org/officeDocument/2006/relationships/image" Target="../media/image29.wmf"/><Relationship Id="rId5" Type="http://schemas.openxmlformats.org/officeDocument/2006/relationships/image" Target="../media/image26.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8.wmf"/></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7.xml"/><Relationship Id="rId7" Type="http://schemas.openxmlformats.org/officeDocument/2006/relationships/image" Target="../media/image19.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32.jpg"/><Relationship Id="rId5" Type="http://schemas.openxmlformats.org/officeDocument/2006/relationships/slideLayout" Target="../slideLayouts/slideLayout8.xml"/><Relationship Id="rId4" Type="http://schemas.openxmlformats.org/officeDocument/2006/relationships/tags" Target="../tags/tag8.xml"/></Relationships>
</file>

<file path=ppt/slides/_rels/slide9.xml.rels><?xml version="1.0" encoding="UTF-8" standalone="yes"?>
<Relationships xmlns="http://schemas.openxmlformats.org/package/2006/relationships"><Relationship Id="rId8" Type="http://schemas.openxmlformats.org/officeDocument/2006/relationships/image" Target="../media/image34.wmf"/><Relationship Id="rId13" Type="http://schemas.openxmlformats.org/officeDocument/2006/relationships/oleObject" Target="../embeddings/oleObject27.bin"/><Relationship Id="rId18" Type="http://schemas.openxmlformats.org/officeDocument/2006/relationships/image" Target="../media/image39.wmf"/><Relationship Id="rId3" Type="http://schemas.openxmlformats.org/officeDocument/2006/relationships/notesSlide" Target="../notesSlides/notesSlide2.xml"/><Relationship Id="rId7" Type="http://schemas.openxmlformats.org/officeDocument/2006/relationships/oleObject" Target="../embeddings/oleObject24.bin"/><Relationship Id="rId12" Type="http://schemas.openxmlformats.org/officeDocument/2006/relationships/image" Target="../media/image36.wmf"/><Relationship Id="rId17" Type="http://schemas.openxmlformats.org/officeDocument/2006/relationships/oleObject" Target="../embeddings/oleObject29.bin"/><Relationship Id="rId2" Type="http://schemas.openxmlformats.org/officeDocument/2006/relationships/slideLayout" Target="../slideLayouts/slideLayout8.xml"/><Relationship Id="rId16" Type="http://schemas.openxmlformats.org/officeDocument/2006/relationships/image" Target="../media/image38.wmf"/><Relationship Id="rId1" Type="http://schemas.openxmlformats.org/officeDocument/2006/relationships/vmlDrawing" Target="../drawings/vmlDrawing5.vml"/><Relationship Id="rId6" Type="http://schemas.openxmlformats.org/officeDocument/2006/relationships/image" Target="../media/image40.jpg"/><Relationship Id="rId11" Type="http://schemas.openxmlformats.org/officeDocument/2006/relationships/oleObject" Target="../embeddings/oleObject26.bin"/><Relationship Id="rId5" Type="http://schemas.openxmlformats.org/officeDocument/2006/relationships/image" Target="../media/image33.wmf"/><Relationship Id="rId15" Type="http://schemas.openxmlformats.org/officeDocument/2006/relationships/oleObject" Target="../embeddings/oleObject28.bin"/><Relationship Id="rId10" Type="http://schemas.openxmlformats.org/officeDocument/2006/relationships/image" Target="../media/image35.wmf"/><Relationship Id="rId4" Type="http://schemas.openxmlformats.org/officeDocument/2006/relationships/oleObject" Target="../embeddings/oleObject23.bin"/><Relationship Id="rId9" Type="http://schemas.openxmlformats.org/officeDocument/2006/relationships/oleObject" Target="../embeddings/oleObject25.bin"/><Relationship Id="rId14" Type="http://schemas.openxmlformats.org/officeDocument/2006/relationships/image" Target="../media/image37.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45.wmf"/><Relationship Id="rId3" Type="http://schemas.openxmlformats.org/officeDocument/2006/relationships/image" Target="../media/image48.jpg"/><Relationship Id="rId7" Type="http://schemas.openxmlformats.org/officeDocument/2006/relationships/image" Target="../media/image42.wmf"/><Relationship Id="rId12" Type="http://schemas.openxmlformats.org/officeDocument/2006/relationships/oleObject" Target="../embeddings/oleObject34.bin"/><Relationship Id="rId17" Type="http://schemas.openxmlformats.org/officeDocument/2006/relationships/image" Target="../media/image47.wmf"/><Relationship Id="rId2" Type="http://schemas.openxmlformats.org/officeDocument/2006/relationships/slideLayout" Target="../slideLayouts/slideLayout8.xml"/><Relationship Id="rId16" Type="http://schemas.openxmlformats.org/officeDocument/2006/relationships/oleObject" Target="../embeddings/oleObject36.bin"/><Relationship Id="rId1" Type="http://schemas.openxmlformats.org/officeDocument/2006/relationships/vmlDrawing" Target="../drawings/vmlDrawing6.vml"/><Relationship Id="rId6" Type="http://schemas.openxmlformats.org/officeDocument/2006/relationships/oleObject" Target="../embeddings/oleObject31.bin"/><Relationship Id="rId11" Type="http://schemas.openxmlformats.org/officeDocument/2006/relationships/image" Target="../media/image44.wmf"/><Relationship Id="rId5" Type="http://schemas.openxmlformats.org/officeDocument/2006/relationships/image" Target="../media/image41.wmf"/><Relationship Id="rId15" Type="http://schemas.openxmlformats.org/officeDocument/2006/relationships/image" Target="../media/image46.w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43.wmf"/><Relationship Id="rId14" Type="http://schemas.openxmlformats.org/officeDocument/2006/relationships/oleObject" Target="../embeddings/oleObject35.bin"/></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5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9" name="Picture 8">
            <a:extLst>
              <a:ext uri="{FF2B5EF4-FFF2-40B4-BE49-F238E27FC236}">
                <a16:creationId xmlns:a16="http://schemas.microsoft.com/office/drawing/2014/main" id="{394F6391-046A-4538-BD92-48856E392FD3}"/>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2 – Part 3</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45534"/>
            <a:ext cx="3657600" cy="374906"/>
          </a:xfrm>
        </p:spPr>
        <p:txBody>
          <a:bodyPr lIns="0" tIns="18000" rIns="0" bIns="18000" anchor="ctr">
            <a:spAutoFit/>
          </a:bodyPr>
          <a:lstStyle/>
          <a:p>
            <a:pPr indent="-101600"/>
            <a:r>
              <a:rPr lang="en-US" noProof="0" dirty="0"/>
              <a:t>Circuit Elements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632669" y="6455210"/>
            <a:ext cx="6037220"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6319"/>
            <a:ext cx="8229600" cy="590349"/>
          </a:xfrm>
        </p:spPr>
        <p:txBody>
          <a:bodyPr anchor="ctr"/>
          <a:lstStyle/>
          <a:p>
            <a:r>
              <a:rPr lang="en-US" noProof="0" dirty="0"/>
              <a:t>Chapter 2 – Circuit Elements </a:t>
            </a:r>
            <a:r>
              <a:rPr lang="en-US" sz="2800" noProof="0" dirty="0"/>
              <a:t>(1 of 9)</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61412"/>
            <a:ext cx="8232775" cy="2190788"/>
          </a:xfrm>
        </p:spPr>
        <p:txBody>
          <a:bodyPr wrap="square" lIns="0" tIns="18000" rIns="0" bIns="18000" anchor="ctr">
            <a:spAutoFit/>
          </a:bodyPr>
          <a:lstStyle/>
          <a:p>
            <a:pPr marL="0" indent="0">
              <a:spcBef>
                <a:spcPts val="600"/>
              </a:spcBef>
              <a:buNone/>
            </a:pPr>
            <a:r>
              <a:rPr lang="en-US" sz="2400" noProof="0" dirty="0"/>
              <a:t>Review resistors:</a:t>
            </a:r>
          </a:p>
          <a:p>
            <a:pPr marL="342900" indent="-342900">
              <a:spcBef>
                <a:spcPts val="600"/>
              </a:spcBef>
              <a:buFont typeface="Arial" panose="020B0604020202020204" pitchFamily="34" charset="0"/>
              <a:buChar char="•"/>
            </a:pPr>
            <a:r>
              <a:rPr lang="en-US" sz="2400" noProof="0" dirty="0"/>
              <a:t>Ohm’s Law</a:t>
            </a:r>
          </a:p>
          <a:p>
            <a:pPr marL="342900" indent="-342900">
              <a:spcBef>
                <a:spcPts val="600"/>
              </a:spcBef>
              <a:buFont typeface="Arial" panose="020B0604020202020204" pitchFamily="34" charset="0"/>
              <a:buChar char="•"/>
            </a:pPr>
            <a:r>
              <a:rPr lang="en-US" sz="2400" spc="-300" noProof="0" dirty="0"/>
              <a:t>K C </a:t>
            </a:r>
            <a:r>
              <a:rPr lang="en-US" sz="2400" noProof="0" dirty="0"/>
              <a:t>L</a:t>
            </a:r>
          </a:p>
          <a:p>
            <a:pPr marL="342900" indent="-342900">
              <a:spcBef>
                <a:spcPts val="600"/>
              </a:spcBef>
              <a:buFont typeface="Arial" panose="020B0604020202020204" pitchFamily="34" charset="0"/>
              <a:buChar char="•"/>
            </a:pPr>
            <a:r>
              <a:rPr lang="en-US" sz="2400" spc="-300" noProof="0" dirty="0"/>
              <a:t>K V </a:t>
            </a:r>
            <a:r>
              <a:rPr lang="en-US" sz="2400" noProof="0" dirty="0"/>
              <a:t>L</a:t>
            </a:r>
          </a:p>
          <a:p>
            <a:pPr marL="342900" indent="-342900">
              <a:spcBef>
                <a:spcPts val="600"/>
              </a:spcBef>
              <a:buFont typeface="Arial" panose="020B0604020202020204" pitchFamily="34" charset="0"/>
              <a:buChar char="•"/>
            </a:pPr>
            <a:r>
              <a:rPr lang="en-US" sz="2400" noProof="0" dirty="0"/>
              <a:t>Solving circuits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19100" y="3366246"/>
            <a:ext cx="8229600" cy="775015"/>
          </a:xfrm>
        </p:spPr>
        <p:txBody>
          <a:bodyPr wrap="square" lIns="0" tIns="18000" rIns="0" bIns="18000" anchor="ctr">
            <a:spAutoFit/>
          </a:bodyPr>
          <a:lstStyle/>
          <a:p>
            <a:pPr marL="0" indent="0">
              <a:spcBef>
                <a:spcPts val="600"/>
              </a:spcBef>
              <a:buNone/>
            </a:pPr>
            <a:r>
              <a:rPr lang="en-US" sz="2400" noProof="0" dirty="0"/>
              <a:t>Let’s do some examples of how to solve circuits containing independent sources, dependent sources and resistors.</a:t>
            </a:r>
          </a:p>
        </p:txBody>
      </p:sp>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14" y="196793"/>
            <a:ext cx="8229600" cy="590349"/>
          </a:xfrm>
        </p:spPr>
        <p:txBody>
          <a:bodyPr anchor="ctr"/>
          <a:lstStyle/>
          <a:p>
            <a:r>
              <a:rPr lang="en-US" noProof="0" dirty="0"/>
              <a:t>Chapter 2 – Circuit Elements </a:t>
            </a:r>
            <a:r>
              <a:rPr lang="en-US" sz="2800" noProof="0" dirty="0"/>
              <a:t>(2 of 9)</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0167" y="1060329"/>
            <a:ext cx="4054475" cy="374906"/>
          </a:xfrm>
        </p:spPr>
        <p:txBody>
          <a:bodyPr lIns="0" tIns="18000" rIns="0" bIns="18000" anchor="ctr">
            <a:spAutoFit/>
          </a:bodyPr>
          <a:lstStyle/>
          <a:p>
            <a:pPr marL="0" indent="0">
              <a:spcBef>
                <a:spcPts val="600"/>
              </a:spcBef>
              <a:buNone/>
            </a:pPr>
            <a:r>
              <a:rPr lang="en-US" sz="2200" noProof="0" dirty="0"/>
              <a:t>Example: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9132" y="1572265"/>
            <a:ext cx="2331281" cy="374906"/>
          </a:xfrm>
        </p:spPr>
        <p:txBody>
          <a:bodyPr wrap="square" lIns="0" tIns="18000" rIns="0" bIns="18000" anchor="ctr">
            <a:spAutoFit/>
          </a:bodyPr>
          <a:lstStyle/>
          <a:p>
            <a:pPr marL="342900" indent="-342900">
              <a:spcBef>
                <a:spcPts val="600"/>
              </a:spcBef>
            </a:pPr>
            <a:r>
              <a:rPr lang="en-US" altLang="en-US" sz="2200" noProof="0" dirty="0"/>
              <a:t>Find the current</a:t>
            </a:r>
            <a:endParaRPr lang="en-US" sz="2200" noProof="0" dirty="0"/>
          </a:p>
        </p:txBody>
      </p:sp>
      <p:graphicFrame>
        <p:nvGraphicFramePr>
          <p:cNvPr id="25" name="Object 24" descr="I subscript o Baseline.">
            <a:extLst>
              <a:ext uri="{FF2B5EF4-FFF2-40B4-BE49-F238E27FC236}">
                <a16:creationId xmlns:a16="http://schemas.microsoft.com/office/drawing/2014/main" id="{350F3636-3B9E-503A-578A-EF9234031457}"/>
              </a:ext>
            </a:extLst>
          </p:cNvPr>
          <p:cNvGraphicFramePr>
            <a:graphicFrameLocks noChangeAspect="1"/>
          </p:cNvGraphicFramePr>
          <p:nvPr/>
        </p:nvGraphicFramePr>
        <p:xfrm>
          <a:off x="2852344" y="1611626"/>
          <a:ext cx="281482" cy="428593"/>
        </p:xfrm>
        <a:graphic>
          <a:graphicData uri="http://schemas.openxmlformats.org/presentationml/2006/ole">
            <mc:AlternateContent xmlns:mc="http://schemas.openxmlformats.org/markup-compatibility/2006">
              <mc:Choice xmlns:v="urn:schemas-microsoft-com:vml" Requires="v">
                <p:oleObj spid="_x0000_s1026" name="Equation" r:id="rId3" imgW="139680" imgH="228600" progId="Equation.DSMT4">
                  <p:embed/>
                </p:oleObj>
              </mc:Choice>
              <mc:Fallback>
                <p:oleObj name="Equation" r:id="rId3" imgW="139680" imgH="228600" progId="Equation.DSMT4">
                  <p:embed/>
                  <p:pic>
                    <p:nvPicPr>
                      <p:cNvPr id="25" name="Object 24" descr="I subscript o Baseline.">
                        <a:extLst>
                          <a:ext uri="{FF2B5EF4-FFF2-40B4-BE49-F238E27FC236}">
                            <a16:creationId xmlns:a16="http://schemas.microsoft.com/office/drawing/2014/main" id="{350F3636-3B9E-503A-578A-EF9234031457}"/>
                          </a:ext>
                        </a:extLst>
                      </p:cNvPr>
                      <p:cNvPicPr>
                        <a:picLocks noChangeAspect="1" noChangeArrowheads="1"/>
                      </p:cNvPicPr>
                      <p:nvPr/>
                    </p:nvPicPr>
                    <p:blipFill>
                      <a:blip r:embed="rId4"/>
                      <a:srcRect/>
                      <a:stretch>
                        <a:fillRect/>
                      </a:stretch>
                    </p:blipFill>
                    <p:spPr bwMode="auto">
                      <a:xfrm>
                        <a:off x="2852344" y="1611626"/>
                        <a:ext cx="281482" cy="428593"/>
                      </a:xfrm>
                      <a:prstGeom prst="rect">
                        <a:avLst/>
                      </a:prstGeom>
                      <a:noFill/>
                      <a:ln>
                        <a:noFill/>
                      </a:ln>
                      <a:effec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3206793" y="1572265"/>
            <a:ext cx="4945534" cy="374906"/>
          </a:xfrm>
        </p:spPr>
        <p:txBody>
          <a:bodyPr wrap="square" lIns="0" tIns="18000" rIns="0" bIns="18000" anchor="ctr">
            <a:spAutoFit/>
          </a:bodyPr>
          <a:lstStyle/>
          <a:p>
            <a:pPr marL="0" indent="0">
              <a:spcBef>
                <a:spcPts val="600"/>
              </a:spcBef>
              <a:buNone/>
            </a:pPr>
            <a:r>
              <a:rPr lang="en-US" altLang="en-US" sz="2200" noProof="0" dirty="0"/>
              <a:t>and show that the power in this circuit</a:t>
            </a:r>
            <a:endParaRPr lang="en-US" sz="2200" noProof="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815159" y="2020593"/>
            <a:ext cx="1257300" cy="374906"/>
          </a:xfrm>
        </p:spPr>
        <p:txBody>
          <a:bodyPr wrap="square" lIns="0" tIns="18000" rIns="0" bIns="18000" anchor="ctr">
            <a:spAutoFit/>
          </a:bodyPr>
          <a:lstStyle/>
          <a:p>
            <a:pPr marL="0" indent="0">
              <a:spcBef>
                <a:spcPts val="600"/>
              </a:spcBef>
              <a:buNone/>
            </a:pPr>
            <a:r>
              <a:rPr lang="en-US" altLang="en-US" sz="2200" noProof="0" dirty="0"/>
              <a:t>balances.</a:t>
            </a:r>
            <a:endParaRPr lang="en-US" sz="2200" noProof="0" dirty="0"/>
          </a:p>
        </p:txBody>
      </p:sp>
      <p:pic>
        <p:nvPicPr>
          <p:cNvPr id="50" name="Picture 2" descr="The circuit on the left shows the positive terminal of a 120-volt power supply connected to positive terminal of a 10-ohm resistor. The negative terminal of the 10-ohm resistor is connected to a node. Current i subscript 0 is flowing through the 10-ohm resistor. The node in the downward direction is connected to a 50-ohm resistor and the other terminal of the 50-ohm resistor is connected to another node. A 6-ampere current source is in parallel connection with 50-ohm resistor.">
            <a:extLst>
              <a:ext uri="{FF2B5EF4-FFF2-40B4-BE49-F238E27FC236}">
                <a16:creationId xmlns:a16="http://schemas.microsoft.com/office/drawing/2014/main" id="{C839E28D-E49A-6B5D-D124-3F03A27C2BAC}"/>
              </a:ext>
            </a:extLst>
          </p:cNvPr>
          <p:cNvPicPr>
            <a:picLocks noChangeAspect="1" noChangeArrowheads="1"/>
          </p:cNvPicPr>
          <p:nvPr/>
        </p:nvPicPr>
        <p:blipFill>
          <a:blip r:embed="rId5"/>
          <a:srcRect/>
          <a:stretch/>
        </p:blipFill>
        <p:spPr bwMode="auto">
          <a:xfrm>
            <a:off x="2138876" y="2684081"/>
            <a:ext cx="5274341" cy="1801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4844" y="4815850"/>
            <a:ext cx="8137526" cy="1390568"/>
          </a:xfrm>
        </p:spPr>
        <p:txBody>
          <a:bodyPr wrap="square" lIns="0" tIns="18000" rIns="0" bIns="18000" anchor="ctr">
            <a:spAutoFit/>
          </a:bodyPr>
          <a:lstStyle/>
          <a:p>
            <a:pPr marL="0" indent="0">
              <a:spcBef>
                <a:spcPts val="600"/>
              </a:spcBef>
              <a:buNone/>
            </a:pPr>
            <a:r>
              <a:rPr lang="en-US" sz="2200" noProof="0" dirty="0"/>
              <a:t>Begin by labeling all of the unknown voltages and currents and all of the nodes on the copy of this circuit on the next slide. Figure out how many unknowns you have. Then use Ohm’s Law, </a:t>
            </a:r>
            <a:r>
              <a:rPr lang="en-US" sz="2200" spc="-300" noProof="0" dirty="0"/>
              <a:t>K C </a:t>
            </a:r>
            <a:r>
              <a:rPr lang="en-US" sz="2200" noProof="0" dirty="0"/>
              <a:t>L, and </a:t>
            </a:r>
            <a:r>
              <a:rPr lang="en-US" sz="2200" spc="-300" noProof="0" dirty="0"/>
              <a:t>K V </a:t>
            </a:r>
            <a:r>
              <a:rPr lang="en-US" sz="2200" noProof="0" dirty="0"/>
              <a:t>L to write the independent equations you need.</a:t>
            </a:r>
          </a:p>
        </p:txBody>
      </p:sp>
    </p:spTree>
    <p:extLst>
      <p:ext uri="{BB962C8B-B14F-4D97-AF65-F5344CB8AC3E}">
        <p14:creationId xmlns:p14="http://schemas.microsoft.com/office/powerpoint/2010/main" val="4139548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6319"/>
            <a:ext cx="8229600" cy="590349"/>
          </a:xfrm>
        </p:spPr>
        <p:txBody>
          <a:bodyPr anchor="ctr"/>
          <a:lstStyle/>
          <a:p>
            <a:r>
              <a:rPr lang="en-US" noProof="0" dirty="0"/>
              <a:t>Chapter 2 – Circuit Elements </a:t>
            </a:r>
            <a:r>
              <a:rPr lang="en-US" sz="2800" noProof="0" dirty="0"/>
              <a:t>(3 of 9)</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2636" y="1100460"/>
            <a:ext cx="3156697" cy="1375180"/>
          </a:xfrm>
        </p:spPr>
        <p:txBody>
          <a:bodyPr wrap="square" lIns="0" tIns="18000" rIns="0" bIns="18000" anchor="ctr">
            <a:spAutoFit/>
          </a:bodyPr>
          <a:lstStyle/>
          <a:p>
            <a:pPr marL="0" indent="0">
              <a:spcBef>
                <a:spcPts val="600"/>
              </a:spcBef>
              <a:buNone/>
            </a:pPr>
            <a:r>
              <a:rPr lang="en-US" sz="1800" noProof="0" dirty="0"/>
              <a:t>Example (continued)</a:t>
            </a:r>
          </a:p>
          <a:p>
            <a:pPr marL="342900" indent="-342900">
              <a:spcBef>
                <a:spcPts val="600"/>
              </a:spcBef>
            </a:pPr>
            <a:r>
              <a:rPr lang="en-US" sz="1800" noProof="0" dirty="0"/>
              <a:t>3 unknown voltages and </a:t>
            </a:r>
          </a:p>
          <a:p>
            <a:pPr marL="342900" indent="-342900">
              <a:spcBef>
                <a:spcPts val="600"/>
              </a:spcBef>
            </a:pPr>
            <a:r>
              <a:rPr lang="en-US" sz="1800" noProof="0" dirty="0"/>
              <a:t>3 unknown currents </a:t>
            </a:r>
          </a:p>
          <a:p>
            <a:pPr marL="342900" indent="-342900">
              <a:spcBef>
                <a:spcPts val="600"/>
              </a:spcBef>
            </a:pPr>
            <a:r>
              <a:rPr lang="en-US" sz="1800" noProof="0" dirty="0"/>
              <a:t>So we need 6 equations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188" y="2529978"/>
            <a:ext cx="1260518" cy="313350"/>
          </a:xfrm>
        </p:spPr>
        <p:txBody>
          <a:bodyPr wrap="square" lIns="0" tIns="18000" rIns="0" bIns="18000" anchor="ctr">
            <a:spAutoFit/>
          </a:bodyPr>
          <a:lstStyle/>
          <a:p>
            <a:pPr marL="0" indent="0">
              <a:spcBef>
                <a:spcPts val="600"/>
              </a:spcBef>
              <a:buNone/>
            </a:pPr>
            <a:r>
              <a:rPr lang="en-US" sz="1800" noProof="0" dirty="0"/>
              <a:t>Ohm’s Law:</a:t>
            </a:r>
          </a:p>
        </p:txBody>
      </p:sp>
      <p:graphicFrame>
        <p:nvGraphicFramePr>
          <p:cNvPr id="59" name="Object 58" descr="v subscript 50 Baseline equals 50 i subscript 50 Baseline;&#10;">
            <a:extLst>
              <a:ext uri="{FF2B5EF4-FFF2-40B4-BE49-F238E27FC236}">
                <a16:creationId xmlns:a16="http://schemas.microsoft.com/office/drawing/2014/main" id="{D0113469-0ED8-F098-6E4F-CF9DA99D27BE}"/>
              </a:ext>
            </a:extLst>
          </p:cNvPr>
          <p:cNvGraphicFramePr>
            <a:graphicFrameLocks noChangeAspect="1"/>
          </p:cNvGraphicFramePr>
          <p:nvPr/>
        </p:nvGraphicFramePr>
        <p:xfrm>
          <a:off x="1807315" y="2504194"/>
          <a:ext cx="1173163" cy="363537"/>
        </p:xfrm>
        <a:graphic>
          <a:graphicData uri="http://schemas.openxmlformats.org/presentationml/2006/ole">
            <mc:AlternateContent xmlns:mc="http://schemas.openxmlformats.org/markup-compatibility/2006">
              <mc:Choice xmlns:v="urn:schemas-microsoft-com:vml" Requires="v">
                <p:oleObj spid="_x0000_s2050" name="Equation" r:id="rId3" imgW="736560" imgH="228600" progId="Equation.DSMT4">
                  <p:embed/>
                </p:oleObj>
              </mc:Choice>
              <mc:Fallback>
                <p:oleObj name="Equation" r:id="rId3" imgW="736560" imgH="228600" progId="Equation.DSMT4">
                  <p:embed/>
                  <p:pic>
                    <p:nvPicPr>
                      <p:cNvPr id="59" name="Object 58" descr="v subscript 50 Baseline equals 50 i subscript 50 Baseline;&#10;">
                        <a:extLst>
                          <a:ext uri="{FF2B5EF4-FFF2-40B4-BE49-F238E27FC236}">
                            <a16:creationId xmlns:a16="http://schemas.microsoft.com/office/drawing/2014/main" id="{D0113469-0ED8-F098-6E4F-CF9DA99D27BE}"/>
                          </a:ext>
                        </a:extLst>
                      </p:cNvPr>
                      <p:cNvPicPr>
                        <a:picLocks noChangeAspect="1" noChangeArrowheads="1"/>
                      </p:cNvPicPr>
                      <p:nvPr/>
                    </p:nvPicPr>
                    <p:blipFill>
                      <a:blip r:embed="rId4"/>
                      <a:srcRect/>
                      <a:stretch>
                        <a:fillRect/>
                      </a:stretch>
                    </p:blipFill>
                    <p:spPr bwMode="auto">
                      <a:xfrm>
                        <a:off x="1807315" y="2504194"/>
                        <a:ext cx="1173163"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 name="Object 59" descr="v subscript 10 Baseline equals 10 i subscript o Baseline.&#10;">
            <a:extLst>
              <a:ext uri="{FF2B5EF4-FFF2-40B4-BE49-F238E27FC236}">
                <a16:creationId xmlns:a16="http://schemas.microsoft.com/office/drawing/2014/main" id="{E56C38D3-FA0C-9D37-7D49-A7F1B3165F00}"/>
              </a:ext>
            </a:extLst>
          </p:cNvPr>
          <p:cNvGraphicFramePr>
            <a:graphicFrameLocks noChangeAspect="1"/>
          </p:cNvGraphicFramePr>
          <p:nvPr/>
        </p:nvGraphicFramePr>
        <p:xfrm>
          <a:off x="3256431" y="2500012"/>
          <a:ext cx="1011238" cy="363538"/>
        </p:xfrm>
        <a:graphic>
          <a:graphicData uri="http://schemas.openxmlformats.org/presentationml/2006/ole">
            <mc:AlternateContent xmlns:mc="http://schemas.openxmlformats.org/markup-compatibility/2006">
              <mc:Choice xmlns:v="urn:schemas-microsoft-com:vml" Requires="v">
                <p:oleObj spid="_x0000_s2051" name="Equation" r:id="rId5" imgW="634680" imgH="228600" progId="Equation.DSMT4">
                  <p:embed/>
                </p:oleObj>
              </mc:Choice>
              <mc:Fallback>
                <p:oleObj name="Equation" r:id="rId5" imgW="634680" imgH="228600" progId="Equation.DSMT4">
                  <p:embed/>
                  <p:pic>
                    <p:nvPicPr>
                      <p:cNvPr id="60" name="Object 59" descr="v subscript 10 Baseline equals 10 i subscript o Baseline.&#10;">
                        <a:extLst>
                          <a:ext uri="{FF2B5EF4-FFF2-40B4-BE49-F238E27FC236}">
                            <a16:creationId xmlns:a16="http://schemas.microsoft.com/office/drawing/2014/main" id="{E56C38D3-FA0C-9D37-7D49-A7F1B3165F00}"/>
                          </a:ext>
                        </a:extLst>
                      </p:cNvPr>
                      <p:cNvPicPr>
                        <a:picLocks noChangeAspect="1" noChangeArrowheads="1"/>
                      </p:cNvPicPr>
                      <p:nvPr/>
                    </p:nvPicPr>
                    <p:blipFill>
                      <a:blip r:embed="rId6"/>
                      <a:srcRect/>
                      <a:stretch>
                        <a:fillRect/>
                      </a:stretch>
                    </p:blipFill>
                    <p:spPr bwMode="auto">
                      <a:xfrm>
                        <a:off x="3256431" y="2500012"/>
                        <a:ext cx="1011238" cy="36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Picture 1" descr="The circuit on the left shows the positive terminal of a 120-volt power supply connected to positive terminal of a 10-ohm resistor. The node where positive terminal of voltage source and positive terminal of 10-ohm resistor meets is named a. The negative terminal of the 10-ohm resistor is connected to a node b. Current i subscript 0 is flowing through the 10-ohm resistor. The node b in the downward direction is connected to a 50-ohm resistor and the other terminal of the 50-ohm resistor is connected to another node C. A 6-ampere current source is in parallel connection with 50-ohm resistor. Voltage across 10 ohm-resistor, 50 ohm-resistor and 6-ampere current source is V subscript 10, V subscript 50, and V subscript 6 respectively.">
            <a:extLst>
              <a:ext uri="{FF2B5EF4-FFF2-40B4-BE49-F238E27FC236}">
                <a16:creationId xmlns:a16="http://schemas.microsoft.com/office/drawing/2014/main" id="{FD064C8A-064B-7C39-4D30-D1F9F8EF1BAA}"/>
              </a:ext>
            </a:extLst>
          </p:cNvPr>
          <p:cNvPicPr>
            <a:picLocks noChangeAspect="1" noChangeArrowheads="1"/>
          </p:cNvPicPr>
          <p:nvPr/>
        </p:nvPicPr>
        <p:blipFill>
          <a:blip r:embed="rId7"/>
          <a:stretch>
            <a:fillRect/>
          </a:stretch>
        </p:blipFill>
        <p:spPr bwMode="auto">
          <a:xfrm>
            <a:off x="4434675" y="1126100"/>
            <a:ext cx="3970194" cy="1658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9186" y="2943287"/>
            <a:ext cx="610720" cy="313350"/>
          </a:xfrm>
        </p:spPr>
        <p:txBody>
          <a:bodyPr wrap="square" lIns="0" tIns="18000" rIns="0" bIns="18000" anchor="ctr">
            <a:spAutoFit/>
          </a:bodyPr>
          <a:lstStyle/>
          <a:p>
            <a:pPr marL="0" indent="0">
              <a:spcBef>
                <a:spcPts val="600"/>
              </a:spcBef>
              <a:buNone/>
            </a:pPr>
            <a:r>
              <a:rPr lang="en-US" sz="1800" spc="-250" noProof="0" dirty="0"/>
              <a:t>K C</a:t>
            </a:r>
            <a:r>
              <a:rPr lang="en-US" sz="1800" spc="-200" noProof="0" dirty="0"/>
              <a:t> </a:t>
            </a:r>
            <a:r>
              <a:rPr lang="en-US" sz="1800" noProof="0" dirty="0"/>
              <a:t>L:</a:t>
            </a:r>
          </a:p>
        </p:txBody>
      </p:sp>
      <p:graphicFrame>
        <p:nvGraphicFramePr>
          <p:cNvPr id="25" name="Object 24" descr="At a: i subscript g Baseline plus i subscript o Baseline equals 0;&#10;">
            <a:extLst>
              <a:ext uri="{FF2B5EF4-FFF2-40B4-BE49-F238E27FC236}">
                <a16:creationId xmlns:a16="http://schemas.microsoft.com/office/drawing/2014/main" id="{1E2E9F1B-B66D-7FE9-695C-5584DFA9D568}"/>
              </a:ext>
            </a:extLst>
          </p:cNvPr>
          <p:cNvGraphicFramePr>
            <a:graphicFrameLocks noChangeAspect="1"/>
          </p:cNvGraphicFramePr>
          <p:nvPr/>
        </p:nvGraphicFramePr>
        <p:xfrm>
          <a:off x="1200708" y="2947797"/>
          <a:ext cx="1524000" cy="365125"/>
        </p:xfrm>
        <a:graphic>
          <a:graphicData uri="http://schemas.openxmlformats.org/presentationml/2006/ole">
            <mc:AlternateContent xmlns:mc="http://schemas.openxmlformats.org/markup-compatibility/2006">
              <mc:Choice xmlns:v="urn:schemas-microsoft-com:vml" Requires="v">
                <p:oleObj spid="_x0000_s2052" name="Equation" r:id="rId8" imgW="1002960" imgH="241200" progId="Equation.DSMT4">
                  <p:embed/>
                </p:oleObj>
              </mc:Choice>
              <mc:Fallback>
                <p:oleObj name="Equation" r:id="rId8" imgW="1002960" imgH="241200" progId="Equation.DSMT4">
                  <p:embed/>
                  <p:pic>
                    <p:nvPicPr>
                      <p:cNvPr id="25" name="Object 24" descr="At a: i subscript g Baseline plus i subscript o Baseline equals 0;&#10;">
                        <a:extLst>
                          <a:ext uri="{FF2B5EF4-FFF2-40B4-BE49-F238E27FC236}">
                            <a16:creationId xmlns:a16="http://schemas.microsoft.com/office/drawing/2014/main" id="{1E2E9F1B-B66D-7FE9-695C-5584DFA9D568}"/>
                          </a:ext>
                        </a:extLst>
                      </p:cNvPr>
                      <p:cNvPicPr>
                        <a:picLocks noChangeAspect="1" noChangeArrowheads="1"/>
                      </p:cNvPicPr>
                      <p:nvPr/>
                    </p:nvPicPr>
                    <p:blipFill>
                      <a:blip r:embed="rId9"/>
                      <a:srcRect/>
                      <a:stretch>
                        <a:fillRect/>
                      </a:stretch>
                    </p:blipFill>
                    <p:spPr bwMode="auto">
                      <a:xfrm>
                        <a:off x="1200708" y="2947797"/>
                        <a:ext cx="1524000" cy="365125"/>
                      </a:xfrm>
                      <a:prstGeom prst="rect">
                        <a:avLst/>
                      </a:prstGeom>
                      <a:noFill/>
                      <a:ln>
                        <a:noFill/>
                      </a:ln>
                      <a:effectLst/>
                    </p:spPr>
                  </p:pic>
                </p:oleObj>
              </mc:Fallback>
            </mc:AlternateContent>
          </a:graphicData>
        </a:graphic>
      </p:graphicFrame>
      <p:graphicFrame>
        <p:nvGraphicFramePr>
          <p:cNvPr id="26" name="Object 25" descr="At b: i subscript o Baseline plus 6 equals i subscript 50 Baseline.&#10;">
            <a:extLst>
              <a:ext uri="{FF2B5EF4-FFF2-40B4-BE49-F238E27FC236}">
                <a16:creationId xmlns:a16="http://schemas.microsoft.com/office/drawing/2014/main" id="{0AA471B0-3E58-35A8-7758-9D84D20EF557}"/>
              </a:ext>
            </a:extLst>
          </p:cNvPr>
          <p:cNvGraphicFramePr>
            <a:graphicFrameLocks noChangeAspect="1"/>
          </p:cNvGraphicFramePr>
          <p:nvPr/>
        </p:nvGraphicFramePr>
        <p:xfrm>
          <a:off x="3185923" y="2949300"/>
          <a:ext cx="1524000" cy="346364"/>
        </p:xfrm>
        <a:graphic>
          <a:graphicData uri="http://schemas.openxmlformats.org/presentationml/2006/ole">
            <mc:AlternateContent xmlns:mc="http://schemas.openxmlformats.org/markup-compatibility/2006">
              <mc:Choice xmlns:v="urn:schemas-microsoft-com:vml" Requires="v">
                <p:oleObj spid="_x0000_s2053" name="Equation" r:id="rId10" imgW="1002960" imgH="228600" progId="Equation.DSMT4">
                  <p:embed/>
                </p:oleObj>
              </mc:Choice>
              <mc:Fallback>
                <p:oleObj name="Equation" r:id="rId10" imgW="1002960" imgH="228600" progId="Equation.DSMT4">
                  <p:embed/>
                  <p:pic>
                    <p:nvPicPr>
                      <p:cNvPr id="26" name="Object 25" descr="At b: i subscript o Baseline plus 6 equals i subscript 50 Baseline.&#10;">
                        <a:extLst>
                          <a:ext uri="{FF2B5EF4-FFF2-40B4-BE49-F238E27FC236}">
                            <a16:creationId xmlns:a16="http://schemas.microsoft.com/office/drawing/2014/main" id="{0AA471B0-3E58-35A8-7758-9D84D20EF557}"/>
                          </a:ext>
                        </a:extLst>
                      </p:cNvPr>
                      <p:cNvPicPr>
                        <a:picLocks noChangeAspect="1" noChangeArrowheads="1"/>
                      </p:cNvPicPr>
                      <p:nvPr/>
                    </p:nvPicPr>
                    <p:blipFill>
                      <a:blip r:embed="rId11"/>
                      <a:srcRect/>
                      <a:stretch>
                        <a:fillRect/>
                      </a:stretch>
                    </p:blipFill>
                    <p:spPr bwMode="auto">
                      <a:xfrm>
                        <a:off x="3185923" y="2949300"/>
                        <a:ext cx="1524000" cy="346364"/>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1" y="3399941"/>
            <a:ext cx="601756" cy="313350"/>
          </a:xfrm>
        </p:spPr>
        <p:txBody>
          <a:bodyPr wrap="square" lIns="0" tIns="18000" rIns="0" bIns="18000" anchor="ctr">
            <a:spAutoFit/>
          </a:bodyPr>
          <a:lstStyle/>
          <a:p>
            <a:pPr marL="0" indent="0">
              <a:spcBef>
                <a:spcPts val="600"/>
              </a:spcBef>
              <a:buNone/>
            </a:pPr>
            <a:r>
              <a:rPr lang="en-US" sz="1800" spc="-250" noProof="0" dirty="0"/>
              <a:t>K V </a:t>
            </a:r>
            <a:r>
              <a:rPr lang="en-US" sz="1800" noProof="0" dirty="0"/>
              <a:t>L:</a:t>
            </a:r>
          </a:p>
        </p:txBody>
      </p:sp>
      <p:graphicFrame>
        <p:nvGraphicFramePr>
          <p:cNvPr id="27" name="Object 26" descr="Left: negative 120 plus v subscript 10 Baseline plus v subscript 50 Baseline equals 0;&#10;">
            <a:extLst>
              <a:ext uri="{FF2B5EF4-FFF2-40B4-BE49-F238E27FC236}">
                <a16:creationId xmlns:a16="http://schemas.microsoft.com/office/drawing/2014/main" id="{721F9F05-0A10-80A9-8036-2C6D60BD14FE}"/>
              </a:ext>
            </a:extLst>
          </p:cNvPr>
          <p:cNvGraphicFramePr>
            <a:graphicFrameLocks noChangeAspect="1"/>
          </p:cNvGraphicFramePr>
          <p:nvPr/>
        </p:nvGraphicFramePr>
        <p:xfrm>
          <a:off x="1200335" y="3425825"/>
          <a:ext cx="2363788" cy="328613"/>
        </p:xfrm>
        <a:graphic>
          <a:graphicData uri="http://schemas.openxmlformats.org/presentationml/2006/ole">
            <mc:AlternateContent xmlns:mc="http://schemas.openxmlformats.org/markup-compatibility/2006">
              <mc:Choice xmlns:v="urn:schemas-microsoft-com:vml" Requires="v">
                <p:oleObj spid="_x0000_s2054" name="Equation" r:id="rId12" imgW="1650960" imgH="228600" progId="Equation.DSMT4">
                  <p:embed/>
                </p:oleObj>
              </mc:Choice>
              <mc:Fallback>
                <p:oleObj name="Equation" r:id="rId12" imgW="1650960" imgH="228600" progId="Equation.DSMT4">
                  <p:embed/>
                  <p:pic>
                    <p:nvPicPr>
                      <p:cNvPr id="27" name="Object 26" descr="Left: negative 120 plus v subscript 10 Baseline plus v subscript 50 Baseline equals 0;&#10;">
                        <a:extLst>
                          <a:ext uri="{FF2B5EF4-FFF2-40B4-BE49-F238E27FC236}">
                            <a16:creationId xmlns:a16="http://schemas.microsoft.com/office/drawing/2014/main" id="{721F9F05-0A10-80A9-8036-2C6D60BD14FE}"/>
                          </a:ext>
                        </a:extLst>
                      </p:cNvPr>
                      <p:cNvPicPr>
                        <a:picLocks noChangeAspect="1" noChangeArrowheads="1"/>
                      </p:cNvPicPr>
                      <p:nvPr/>
                    </p:nvPicPr>
                    <p:blipFill>
                      <a:blip r:embed="rId13"/>
                      <a:srcRect/>
                      <a:stretch>
                        <a:fillRect/>
                      </a:stretch>
                    </p:blipFill>
                    <p:spPr bwMode="auto">
                      <a:xfrm>
                        <a:off x="1200335" y="3425825"/>
                        <a:ext cx="2363788" cy="328613"/>
                      </a:xfrm>
                      <a:prstGeom prst="rect">
                        <a:avLst/>
                      </a:prstGeom>
                      <a:noFill/>
                      <a:ln>
                        <a:noFill/>
                      </a:ln>
                      <a:effectLst/>
                    </p:spPr>
                  </p:pic>
                </p:oleObj>
              </mc:Fallback>
            </mc:AlternateContent>
          </a:graphicData>
        </a:graphic>
      </p:graphicFrame>
      <p:graphicFrame>
        <p:nvGraphicFramePr>
          <p:cNvPr id="28" name="Object 27" descr="Right: negative v subscript 50 Baseline plus v subscript 6 Baseline equals 0.&#10;">
            <a:extLst>
              <a:ext uri="{FF2B5EF4-FFF2-40B4-BE49-F238E27FC236}">
                <a16:creationId xmlns:a16="http://schemas.microsoft.com/office/drawing/2014/main" id="{BBD3643E-821D-40E0-156E-D8E93D56A87E}"/>
              </a:ext>
            </a:extLst>
          </p:cNvPr>
          <p:cNvGraphicFramePr>
            <a:graphicFrameLocks noChangeAspect="1"/>
          </p:cNvGraphicFramePr>
          <p:nvPr/>
        </p:nvGraphicFramePr>
        <p:xfrm>
          <a:off x="4175778" y="3429000"/>
          <a:ext cx="1838325" cy="325438"/>
        </p:xfrm>
        <a:graphic>
          <a:graphicData uri="http://schemas.openxmlformats.org/presentationml/2006/ole">
            <mc:AlternateContent xmlns:mc="http://schemas.openxmlformats.org/markup-compatibility/2006">
              <mc:Choice xmlns:v="urn:schemas-microsoft-com:vml" Requires="v">
                <p:oleObj spid="_x0000_s2055" name="Equation" r:id="rId14" imgW="1282680" imgH="228600" progId="Equation.DSMT4">
                  <p:embed/>
                </p:oleObj>
              </mc:Choice>
              <mc:Fallback>
                <p:oleObj name="Equation" r:id="rId14" imgW="1282680" imgH="228600" progId="Equation.DSMT4">
                  <p:embed/>
                  <p:pic>
                    <p:nvPicPr>
                      <p:cNvPr id="28" name="Object 27" descr="Right: negative v subscript 50 Baseline plus v subscript 6 Baseline equals 0.&#10;">
                        <a:extLst>
                          <a:ext uri="{FF2B5EF4-FFF2-40B4-BE49-F238E27FC236}">
                            <a16:creationId xmlns:a16="http://schemas.microsoft.com/office/drawing/2014/main" id="{BBD3643E-821D-40E0-156E-D8E93D56A87E}"/>
                          </a:ext>
                        </a:extLst>
                      </p:cNvPr>
                      <p:cNvPicPr>
                        <a:picLocks noChangeAspect="1" noChangeArrowheads="1"/>
                      </p:cNvPicPr>
                      <p:nvPr/>
                    </p:nvPicPr>
                    <p:blipFill>
                      <a:blip r:embed="rId15"/>
                      <a:srcRect/>
                      <a:stretch>
                        <a:fillRect/>
                      </a:stretch>
                    </p:blipFill>
                    <p:spPr bwMode="auto">
                      <a:xfrm>
                        <a:off x="4175778" y="3429000"/>
                        <a:ext cx="1838325" cy="325438"/>
                      </a:xfrm>
                      <a:prstGeom prst="rect">
                        <a:avLst/>
                      </a:prstGeom>
                      <a:noFill/>
                      <a:ln>
                        <a:noFill/>
                      </a:ln>
                      <a:effec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19101" y="3879803"/>
            <a:ext cx="1824962" cy="313350"/>
          </a:xfrm>
        </p:spPr>
        <p:txBody>
          <a:bodyPr wrap="square" lIns="0" tIns="18000" rIns="0" bIns="18000" anchor="ctr">
            <a:spAutoFit/>
          </a:bodyPr>
          <a:lstStyle/>
          <a:p>
            <a:pPr marL="0" indent="0">
              <a:spcBef>
                <a:spcPts val="600"/>
              </a:spcBef>
              <a:buNone/>
            </a:pPr>
            <a:r>
              <a:rPr lang="en-US" sz="1800" noProof="0" dirty="0"/>
              <a:t>Solve </a:t>
            </a:r>
            <a:r>
              <a:rPr lang="en-US" sz="1800" spc="-250" noProof="0" dirty="0"/>
              <a:t>K C L</a:t>
            </a:r>
            <a:r>
              <a:rPr lang="en-US" sz="1800" noProof="0" dirty="0"/>
              <a:t> at b for </a:t>
            </a:r>
          </a:p>
        </p:txBody>
      </p:sp>
      <p:graphicFrame>
        <p:nvGraphicFramePr>
          <p:cNvPr id="29" name="Object 28" descr="i subscript 50 Baseline:&#10;">
            <a:extLst>
              <a:ext uri="{FF2B5EF4-FFF2-40B4-BE49-F238E27FC236}">
                <a16:creationId xmlns:a16="http://schemas.microsoft.com/office/drawing/2014/main" id="{8BF72654-980F-D82C-FA42-66C2FD37C4CB}"/>
              </a:ext>
            </a:extLst>
          </p:cNvPr>
          <p:cNvGraphicFramePr>
            <a:graphicFrameLocks noChangeAspect="1"/>
          </p:cNvGraphicFramePr>
          <p:nvPr/>
        </p:nvGraphicFramePr>
        <p:xfrm>
          <a:off x="2336313" y="3843014"/>
          <a:ext cx="391160" cy="391160"/>
        </p:xfrm>
        <a:graphic>
          <a:graphicData uri="http://schemas.openxmlformats.org/presentationml/2006/ole">
            <mc:AlternateContent xmlns:mc="http://schemas.openxmlformats.org/markup-compatibility/2006">
              <mc:Choice xmlns:v="urn:schemas-microsoft-com:vml" Requires="v">
                <p:oleObj spid="_x0000_s2056" name="Equation" r:id="rId16" imgW="228600" imgH="228600" progId="Equation.DSMT4">
                  <p:embed/>
                </p:oleObj>
              </mc:Choice>
              <mc:Fallback>
                <p:oleObj name="Equation" r:id="rId16" imgW="228600" imgH="228600" progId="Equation.DSMT4">
                  <p:embed/>
                  <p:pic>
                    <p:nvPicPr>
                      <p:cNvPr id="29" name="Object 28" descr="i subscript 50 Baseline:&#10;">
                        <a:extLst>
                          <a:ext uri="{FF2B5EF4-FFF2-40B4-BE49-F238E27FC236}">
                            <a16:creationId xmlns:a16="http://schemas.microsoft.com/office/drawing/2014/main" id="{8BF72654-980F-D82C-FA42-66C2FD37C4CB}"/>
                          </a:ext>
                        </a:extLst>
                      </p:cNvPr>
                      <p:cNvPicPr>
                        <a:picLocks noChangeAspect="1" noChangeArrowheads="1"/>
                      </p:cNvPicPr>
                      <p:nvPr/>
                    </p:nvPicPr>
                    <p:blipFill>
                      <a:blip r:embed="rId17"/>
                      <a:srcRect/>
                      <a:stretch>
                        <a:fillRect/>
                      </a:stretch>
                    </p:blipFill>
                    <p:spPr bwMode="auto">
                      <a:xfrm>
                        <a:off x="2336313" y="3843014"/>
                        <a:ext cx="391160" cy="391160"/>
                      </a:xfrm>
                      <a:prstGeom prst="rect">
                        <a:avLst/>
                      </a:prstGeom>
                      <a:noFill/>
                      <a:ln>
                        <a:noFill/>
                      </a:ln>
                      <a:effectLst/>
                    </p:spPr>
                  </p:pic>
                </p:oleObj>
              </mc:Fallback>
            </mc:AlternateContent>
          </a:graphicData>
        </a:graphic>
      </p:graphicFrame>
      <p:graphicFrame>
        <p:nvGraphicFramePr>
          <p:cNvPr id="30" name="Object 29" descr="i subscript 50 Baseline equals i subscript o Baseline plus 6.&#10;">
            <a:extLst>
              <a:ext uri="{FF2B5EF4-FFF2-40B4-BE49-F238E27FC236}">
                <a16:creationId xmlns:a16="http://schemas.microsoft.com/office/drawing/2014/main" id="{8EEC8DE3-44D4-4D23-78DE-80E163835880}"/>
              </a:ext>
            </a:extLst>
          </p:cNvPr>
          <p:cNvGraphicFramePr>
            <a:graphicFrameLocks noChangeAspect="1"/>
          </p:cNvGraphicFramePr>
          <p:nvPr/>
        </p:nvGraphicFramePr>
        <p:xfrm>
          <a:off x="2820268" y="3877037"/>
          <a:ext cx="1085273" cy="356465"/>
        </p:xfrm>
        <a:graphic>
          <a:graphicData uri="http://schemas.openxmlformats.org/presentationml/2006/ole">
            <mc:AlternateContent xmlns:mc="http://schemas.openxmlformats.org/markup-compatibility/2006">
              <mc:Choice xmlns:v="urn:schemas-microsoft-com:vml" Requires="v">
                <p:oleObj spid="_x0000_s2057" name="Equation" r:id="rId18" imgW="698400" imgH="228600" progId="Equation.DSMT4">
                  <p:embed/>
                </p:oleObj>
              </mc:Choice>
              <mc:Fallback>
                <p:oleObj name="Equation" r:id="rId18" imgW="698400" imgH="228600" progId="Equation.DSMT4">
                  <p:embed/>
                  <p:pic>
                    <p:nvPicPr>
                      <p:cNvPr id="30" name="Object 29" descr="i subscript 50 Baseline equals i subscript o Baseline plus 6.&#10;">
                        <a:extLst>
                          <a:ext uri="{FF2B5EF4-FFF2-40B4-BE49-F238E27FC236}">
                            <a16:creationId xmlns:a16="http://schemas.microsoft.com/office/drawing/2014/main" id="{8EEC8DE3-44D4-4D23-78DE-80E163835880}"/>
                          </a:ext>
                        </a:extLst>
                      </p:cNvPr>
                      <p:cNvPicPr>
                        <a:picLocks noChangeAspect="1" noChangeArrowheads="1"/>
                      </p:cNvPicPr>
                      <p:nvPr/>
                    </p:nvPicPr>
                    <p:blipFill>
                      <a:blip r:embed="rId19"/>
                      <a:srcRect/>
                      <a:stretch>
                        <a:fillRect/>
                      </a:stretch>
                    </p:blipFill>
                    <p:spPr bwMode="auto">
                      <a:xfrm>
                        <a:off x="2820268" y="3877037"/>
                        <a:ext cx="1085273" cy="356465"/>
                      </a:xfrm>
                      <a:prstGeom prst="rect">
                        <a:avLst/>
                      </a:prstGeom>
                      <a:noFill/>
                      <a:ln>
                        <a:noFill/>
                      </a:ln>
                      <a:effec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09641" y="4346066"/>
            <a:ext cx="8229600" cy="313350"/>
          </a:xfrm>
        </p:spPr>
        <p:txBody>
          <a:bodyPr wrap="square" lIns="0" tIns="18000" rIns="0" bIns="18000" anchor="ctr">
            <a:spAutoFit/>
          </a:bodyPr>
          <a:lstStyle/>
          <a:p>
            <a:pPr marL="0" indent="0">
              <a:spcBef>
                <a:spcPts val="600"/>
              </a:spcBef>
              <a:buNone/>
            </a:pPr>
            <a:r>
              <a:rPr lang="en-US" sz="1800" noProof="0" dirty="0"/>
              <a:t>Substitute Ohm’s Law equations in </a:t>
            </a:r>
            <a:r>
              <a:rPr lang="en-US" sz="1800" spc="-200" noProof="0" dirty="0"/>
              <a:t>K V </a:t>
            </a:r>
            <a:r>
              <a:rPr lang="en-US" sz="1800" noProof="0" dirty="0"/>
              <a:t>L left:</a:t>
            </a:r>
          </a:p>
        </p:txBody>
      </p:sp>
      <p:graphicFrame>
        <p:nvGraphicFramePr>
          <p:cNvPr id="31" name="Object 30" descr="10 i subscript o Baseline plus 50 i subscript 50 Baseline equals 120.&#10;">
            <a:extLst>
              <a:ext uri="{FF2B5EF4-FFF2-40B4-BE49-F238E27FC236}">
                <a16:creationId xmlns:a16="http://schemas.microsoft.com/office/drawing/2014/main" id="{2D215C72-D442-93BC-E99F-C6EF5985859E}"/>
              </a:ext>
            </a:extLst>
          </p:cNvPr>
          <p:cNvGraphicFramePr>
            <a:graphicFrameLocks noChangeAspect="1"/>
          </p:cNvGraphicFramePr>
          <p:nvPr/>
        </p:nvGraphicFramePr>
        <p:xfrm>
          <a:off x="2124075" y="4765675"/>
          <a:ext cx="1747838" cy="338138"/>
        </p:xfrm>
        <a:graphic>
          <a:graphicData uri="http://schemas.openxmlformats.org/presentationml/2006/ole">
            <mc:AlternateContent xmlns:mc="http://schemas.openxmlformats.org/markup-compatibility/2006">
              <mc:Choice xmlns:v="urn:schemas-microsoft-com:vml" Requires="v">
                <p:oleObj spid="_x0000_s2058" name="Equation" r:id="rId20" imgW="1180800" imgH="228600" progId="Equation.DSMT4">
                  <p:embed/>
                </p:oleObj>
              </mc:Choice>
              <mc:Fallback>
                <p:oleObj name="Equation" r:id="rId20" imgW="1180800" imgH="228600" progId="Equation.DSMT4">
                  <p:embed/>
                  <p:pic>
                    <p:nvPicPr>
                      <p:cNvPr id="31" name="Object 30" descr="10 i subscript o Baseline plus 50 i subscript 50 Baseline equals 120.&#10;">
                        <a:extLst>
                          <a:ext uri="{FF2B5EF4-FFF2-40B4-BE49-F238E27FC236}">
                            <a16:creationId xmlns:a16="http://schemas.microsoft.com/office/drawing/2014/main" id="{2D215C72-D442-93BC-E99F-C6EF5985859E}"/>
                          </a:ext>
                        </a:extLst>
                      </p:cNvPr>
                      <p:cNvPicPr>
                        <a:picLocks noChangeAspect="1" noChangeArrowheads="1"/>
                      </p:cNvPicPr>
                      <p:nvPr/>
                    </p:nvPicPr>
                    <p:blipFill>
                      <a:blip r:embed="rId21"/>
                      <a:srcRect/>
                      <a:stretch>
                        <a:fillRect/>
                      </a:stretch>
                    </p:blipFill>
                    <p:spPr bwMode="auto">
                      <a:xfrm>
                        <a:off x="2124075" y="4765675"/>
                        <a:ext cx="1747838" cy="338138"/>
                      </a:xfrm>
                      <a:prstGeom prst="rect">
                        <a:avLst/>
                      </a:prstGeom>
                      <a:noFill/>
                      <a:ln>
                        <a:noFill/>
                      </a:ln>
                      <a:effec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38152" y="5188114"/>
            <a:ext cx="1369163" cy="313350"/>
          </a:xfrm>
        </p:spPr>
        <p:txBody>
          <a:bodyPr wrap="square" lIns="0" tIns="18000" rIns="0" bIns="18000" anchor="ctr">
            <a:spAutoFit/>
          </a:bodyPr>
          <a:lstStyle/>
          <a:p>
            <a:pPr marL="0" indent="0">
              <a:spcBef>
                <a:spcPts val="600"/>
              </a:spcBef>
              <a:buNone/>
            </a:pPr>
            <a:r>
              <a:rPr lang="en-US" sz="1800" noProof="0" dirty="0"/>
              <a:t>Substitute for </a:t>
            </a:r>
          </a:p>
        </p:txBody>
      </p:sp>
      <p:graphicFrame>
        <p:nvGraphicFramePr>
          <p:cNvPr id="32" name="Object 31" descr="i subscript 50 Baseline.&#10;">
            <a:extLst>
              <a:ext uri="{FF2B5EF4-FFF2-40B4-BE49-F238E27FC236}">
                <a16:creationId xmlns:a16="http://schemas.microsoft.com/office/drawing/2014/main" id="{065C4156-45B5-D2DC-859A-94173D0D7517}"/>
              </a:ext>
            </a:extLst>
          </p:cNvPr>
          <p:cNvGraphicFramePr>
            <a:graphicFrameLocks noChangeAspect="1"/>
          </p:cNvGraphicFramePr>
          <p:nvPr/>
        </p:nvGraphicFramePr>
        <p:xfrm>
          <a:off x="1854755" y="5174124"/>
          <a:ext cx="325438" cy="390525"/>
        </p:xfrm>
        <a:graphic>
          <a:graphicData uri="http://schemas.openxmlformats.org/presentationml/2006/ole">
            <mc:AlternateContent xmlns:mc="http://schemas.openxmlformats.org/markup-compatibility/2006">
              <mc:Choice xmlns:v="urn:schemas-microsoft-com:vml" Requires="v">
                <p:oleObj spid="_x0000_s2059" name="Equation" r:id="rId22" imgW="190440" imgH="228600" progId="Equation.DSMT4">
                  <p:embed/>
                </p:oleObj>
              </mc:Choice>
              <mc:Fallback>
                <p:oleObj name="Equation" r:id="rId22" imgW="190440" imgH="228600" progId="Equation.DSMT4">
                  <p:embed/>
                  <p:pic>
                    <p:nvPicPr>
                      <p:cNvPr id="32" name="Object 31" descr="i subscript 50 Baseline.&#10;">
                        <a:extLst>
                          <a:ext uri="{FF2B5EF4-FFF2-40B4-BE49-F238E27FC236}">
                            <a16:creationId xmlns:a16="http://schemas.microsoft.com/office/drawing/2014/main" id="{065C4156-45B5-D2DC-859A-94173D0D7517}"/>
                          </a:ext>
                        </a:extLst>
                      </p:cNvPr>
                      <p:cNvPicPr>
                        <a:picLocks noChangeAspect="1" noChangeArrowheads="1"/>
                      </p:cNvPicPr>
                      <p:nvPr/>
                    </p:nvPicPr>
                    <p:blipFill>
                      <a:blip r:embed="rId23"/>
                      <a:srcRect/>
                      <a:stretch>
                        <a:fillRect/>
                      </a:stretch>
                    </p:blipFill>
                    <p:spPr bwMode="auto">
                      <a:xfrm>
                        <a:off x="1854755" y="5174124"/>
                        <a:ext cx="325438" cy="390525"/>
                      </a:xfrm>
                      <a:prstGeom prst="rect">
                        <a:avLst/>
                      </a:prstGeom>
                      <a:noFill/>
                      <a:ln>
                        <a:noFill/>
                      </a:ln>
                      <a:effec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2244062" y="5191532"/>
            <a:ext cx="1172383" cy="313350"/>
          </a:xfrm>
        </p:spPr>
        <p:txBody>
          <a:bodyPr wrap="square" lIns="0" tIns="18000" rIns="0" bIns="18000" anchor="ctr">
            <a:spAutoFit/>
          </a:bodyPr>
          <a:lstStyle/>
          <a:p>
            <a:pPr marL="0" indent="0">
              <a:spcBef>
                <a:spcPts val="600"/>
              </a:spcBef>
              <a:buNone/>
            </a:pPr>
            <a:r>
              <a:rPr lang="en-US" altLang="en-US" sz="1800" noProof="0" dirty="0"/>
              <a:t>and solve:</a:t>
            </a:r>
            <a:endParaRPr lang="en-US" sz="1800" noProof="0" dirty="0"/>
          </a:p>
        </p:txBody>
      </p:sp>
      <p:graphicFrame>
        <p:nvGraphicFramePr>
          <p:cNvPr id="33" name="Object 32" descr="10 i subscript o Baseline plus 50 OpenParenthesis i subscript o Baseline plus 6 CloseParenthesis equals 120, Forward arrow, 60 i subscript o Baseline equals negative 180.&#10;">
            <a:extLst>
              <a:ext uri="{FF2B5EF4-FFF2-40B4-BE49-F238E27FC236}">
                <a16:creationId xmlns:a16="http://schemas.microsoft.com/office/drawing/2014/main" id="{33EAEEC0-C0CB-D8B0-8346-E1D6C41DEE29}"/>
              </a:ext>
            </a:extLst>
          </p:cNvPr>
          <p:cNvGraphicFramePr>
            <a:graphicFrameLocks noChangeAspect="1"/>
          </p:cNvGraphicFramePr>
          <p:nvPr/>
        </p:nvGraphicFramePr>
        <p:xfrm>
          <a:off x="1330325" y="5662780"/>
          <a:ext cx="4000500" cy="320675"/>
        </p:xfrm>
        <a:graphic>
          <a:graphicData uri="http://schemas.openxmlformats.org/presentationml/2006/ole">
            <mc:AlternateContent xmlns:mc="http://schemas.openxmlformats.org/markup-compatibility/2006">
              <mc:Choice xmlns:v="urn:schemas-microsoft-com:vml" Requires="v">
                <p:oleObj spid="_x0000_s2060" name="Equation" r:id="rId24" imgW="2857320" imgH="228600" progId="Equation.DSMT4">
                  <p:embed/>
                </p:oleObj>
              </mc:Choice>
              <mc:Fallback>
                <p:oleObj name="Equation" r:id="rId24" imgW="2857320" imgH="228600" progId="Equation.DSMT4">
                  <p:embed/>
                  <p:pic>
                    <p:nvPicPr>
                      <p:cNvPr id="33" name="Object 32" descr="10 i subscript o Baseline plus 50 OpenParenthesis i subscript o Baseline plus 6 CloseParenthesis equals 120, Forward arrow, 60 i subscript o Baseline equals negative 180.&#10;">
                        <a:extLst>
                          <a:ext uri="{FF2B5EF4-FFF2-40B4-BE49-F238E27FC236}">
                            <a16:creationId xmlns:a16="http://schemas.microsoft.com/office/drawing/2014/main" id="{33EAEEC0-C0CB-D8B0-8346-E1D6C41DEE29}"/>
                          </a:ext>
                        </a:extLst>
                      </p:cNvPr>
                      <p:cNvPicPr>
                        <a:picLocks noChangeAspect="1" noChangeArrowheads="1"/>
                      </p:cNvPicPr>
                      <p:nvPr/>
                    </p:nvPicPr>
                    <p:blipFill>
                      <a:blip r:embed="rId25"/>
                      <a:srcRect/>
                      <a:stretch>
                        <a:fillRect/>
                      </a:stretch>
                    </p:blipFill>
                    <p:spPr bwMode="auto">
                      <a:xfrm>
                        <a:off x="1330325" y="5662780"/>
                        <a:ext cx="4000500" cy="320675"/>
                      </a:xfrm>
                      <a:prstGeom prst="rect">
                        <a:avLst/>
                      </a:prstGeom>
                      <a:noFill/>
                      <a:ln>
                        <a:noFill/>
                      </a:ln>
                      <a:effectLst/>
                    </p:spPr>
                  </p:pic>
                </p:oleObj>
              </mc:Fallback>
            </mc:AlternateContent>
          </a:graphicData>
        </a:graphic>
      </p:graphicFrame>
      <p:graphicFrame>
        <p:nvGraphicFramePr>
          <p:cNvPr id="34" name="Object 33" descr="Forward arrow, i subscript o Baseline equals negative 3 Amperes.&#10;">
            <a:extLst>
              <a:ext uri="{FF2B5EF4-FFF2-40B4-BE49-F238E27FC236}">
                <a16:creationId xmlns:a16="http://schemas.microsoft.com/office/drawing/2014/main" id="{DC2F8BD7-6A63-8C78-83B5-386439960E2B}"/>
              </a:ext>
            </a:extLst>
          </p:cNvPr>
          <p:cNvGraphicFramePr>
            <a:graphicFrameLocks noChangeAspect="1"/>
          </p:cNvGraphicFramePr>
          <p:nvPr/>
        </p:nvGraphicFramePr>
        <p:xfrm>
          <a:off x="1470175" y="6052064"/>
          <a:ext cx="1725612" cy="320675"/>
        </p:xfrm>
        <a:graphic>
          <a:graphicData uri="http://schemas.openxmlformats.org/presentationml/2006/ole">
            <mc:AlternateContent xmlns:mc="http://schemas.openxmlformats.org/markup-compatibility/2006">
              <mc:Choice xmlns:v="urn:schemas-microsoft-com:vml" Requires="v">
                <p:oleObj spid="_x0000_s2061" name="Equation" r:id="rId26" imgW="1231560" imgH="228600" progId="Equation.DSMT4">
                  <p:embed/>
                </p:oleObj>
              </mc:Choice>
              <mc:Fallback>
                <p:oleObj name="Equation" r:id="rId26" imgW="1231560" imgH="228600" progId="Equation.DSMT4">
                  <p:embed/>
                  <p:pic>
                    <p:nvPicPr>
                      <p:cNvPr id="34" name="Object 33" descr="Forward arrow, i subscript o Baseline equals negative 3 Amperes.&#10;">
                        <a:extLst>
                          <a:ext uri="{FF2B5EF4-FFF2-40B4-BE49-F238E27FC236}">
                            <a16:creationId xmlns:a16="http://schemas.microsoft.com/office/drawing/2014/main" id="{DC2F8BD7-6A63-8C78-83B5-386439960E2B}"/>
                          </a:ext>
                        </a:extLst>
                      </p:cNvPr>
                      <p:cNvPicPr>
                        <a:picLocks noChangeAspect="1" noChangeArrowheads="1"/>
                      </p:cNvPicPr>
                      <p:nvPr/>
                    </p:nvPicPr>
                    <p:blipFill>
                      <a:blip r:embed="rId27"/>
                      <a:srcRect/>
                      <a:stretch>
                        <a:fillRect/>
                      </a:stretch>
                    </p:blipFill>
                    <p:spPr bwMode="auto">
                      <a:xfrm>
                        <a:off x="1470175" y="6052064"/>
                        <a:ext cx="1725612"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30186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6319"/>
            <a:ext cx="8229600" cy="590349"/>
          </a:xfrm>
        </p:spPr>
        <p:txBody>
          <a:bodyPr anchor="ctr"/>
          <a:lstStyle/>
          <a:p>
            <a:r>
              <a:rPr lang="en-US" noProof="0" dirty="0"/>
              <a:t>Chapter 2 – Circuit Elements </a:t>
            </a:r>
            <a:r>
              <a:rPr lang="en-US" sz="2800" noProof="0" dirty="0"/>
              <a:t>(4 of 9)</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41325" y="1032898"/>
            <a:ext cx="8229600" cy="775015"/>
          </a:xfrm>
        </p:spPr>
        <p:txBody>
          <a:bodyPr wrap="square" lIns="0" tIns="18000" rIns="0" bIns="18000" anchor="ctr">
            <a:spAutoFit/>
          </a:bodyPr>
          <a:lstStyle/>
          <a:p>
            <a:pPr marL="0" indent="0">
              <a:spcBef>
                <a:spcPts val="600"/>
              </a:spcBef>
              <a:buNone/>
            </a:pPr>
            <a:r>
              <a:rPr lang="en-US" sz="2400" noProof="0" dirty="0"/>
              <a:t>Before we start calculating the power, let’s try to predict which elements will be supplying power.</a:t>
            </a:r>
          </a:p>
        </p:txBody>
      </p:sp>
      <p:pic>
        <p:nvPicPr>
          <p:cNvPr id="39" name="Picture 2" descr="The circuit on the left shows the positive terminal of a 120-volt power supply connected to positive terminal of a 10-ohm resistor. The negative terminal of the 10-ohm resistor is connected to a node. Current i subscript 0 is flowing through the 10-ohm resistor. The node in the downward direction is connected to a 50-ohm resistor and the other terminal of the 50-ohm resistor is connected to another node. A 6-ampere current source is in parallel connection with 50-ohm resistor.">
            <a:extLst>
              <a:ext uri="{FF2B5EF4-FFF2-40B4-BE49-F238E27FC236}">
                <a16:creationId xmlns:a16="http://schemas.microsoft.com/office/drawing/2014/main" id="{BD8239F8-3CDA-BFB7-96F1-F84F84919C17}"/>
              </a:ext>
            </a:extLst>
          </p:cNvPr>
          <p:cNvPicPr>
            <a:picLocks noChangeAspect="1" noChangeArrowheads="1"/>
          </p:cNvPicPr>
          <p:nvPr/>
        </p:nvPicPr>
        <p:blipFill>
          <a:blip r:embed="rId6"/>
          <a:stretch>
            <a:fillRect/>
          </a:stretch>
        </p:blipFill>
        <p:spPr bwMode="auto">
          <a:xfrm>
            <a:off x="2201840" y="1988926"/>
            <a:ext cx="5200792" cy="1757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1434" descr="Cross mark">
            <a:extLst>
              <a:ext uri="{FF2B5EF4-FFF2-40B4-BE49-F238E27FC236}">
                <a16:creationId xmlns:a16="http://schemas.microsoft.com/office/drawing/2014/main" id="{262F96D4-65C1-3755-C957-34440673018C}"/>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850527" y="3932392"/>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444716" y="3891777"/>
            <a:ext cx="2734144"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sz="2400" noProof="0" dirty="0"/>
              <a:t>Just the resistors</a:t>
            </a:r>
          </a:p>
        </p:txBody>
      </p:sp>
      <p:pic>
        <p:nvPicPr>
          <p:cNvPr id="41" name="Picture 1434" descr="Cross mark">
            <a:extLst>
              <a:ext uri="{FF2B5EF4-FFF2-40B4-BE49-F238E27FC236}">
                <a16:creationId xmlns:a16="http://schemas.microsoft.com/office/drawing/2014/main" id="{B0669B6C-2CB2-5223-467F-14712D09211D}"/>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850527" y="447826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44716" y="4446872"/>
            <a:ext cx="2734143"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Just the sources</a:t>
            </a:r>
          </a:p>
        </p:txBody>
      </p:sp>
      <p:pic>
        <p:nvPicPr>
          <p:cNvPr id="42" name="Picture 1434" descr="Cross mark">
            <a:extLst>
              <a:ext uri="{FF2B5EF4-FFF2-40B4-BE49-F238E27FC236}">
                <a16:creationId xmlns:a16="http://schemas.microsoft.com/office/drawing/2014/main" id="{4C2AF439-5DA8-3229-0032-5E0E5A34F770}"/>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850527" y="5041392"/>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444716" y="5010001"/>
            <a:ext cx="4310625"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One resistor and one source</a:t>
            </a:r>
          </a:p>
        </p:txBody>
      </p:sp>
      <p:pic>
        <p:nvPicPr>
          <p:cNvPr id="43" name="Picture 1435" descr="Check mark">
            <a:extLst>
              <a:ext uri="{FF2B5EF4-FFF2-40B4-BE49-F238E27FC236}">
                <a16:creationId xmlns:a16="http://schemas.microsoft.com/office/drawing/2014/main" id="{72313E7F-C511-9BC3-4C2E-DF4224F9671C}"/>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rcRect/>
          <a:stretch>
            <a:fillRect/>
          </a:stretch>
        </p:blipFill>
        <p:spPr bwMode="auto">
          <a:xfrm>
            <a:off x="836621" y="562787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480576" y="5565096"/>
            <a:ext cx="4054475" cy="405683"/>
          </a:xfrm>
        </p:spPr>
        <p:txBody>
          <a:bodyPr lIns="0" tIns="18000" rIns="0" bIns="18000" anchor="ctr">
            <a:spAutoFit/>
          </a:bodyPr>
          <a:lstStyle/>
          <a:p>
            <a:pPr marL="0" indent="0">
              <a:spcBef>
                <a:spcPts val="600"/>
              </a:spcBef>
              <a:buNone/>
            </a:pPr>
            <a:r>
              <a:rPr lang="en-US" sz="2400" noProof="0" dirty="0">
                <a:solidFill>
                  <a:srgbClr val="007FA3"/>
                </a:solidFill>
              </a:rPr>
              <a:t>D. </a:t>
            </a:r>
            <a:r>
              <a:rPr lang="en-US" sz="2400" noProof="0" dirty="0"/>
              <a:t>We need more information</a:t>
            </a:r>
          </a:p>
        </p:txBody>
      </p:sp>
    </p:spTree>
    <p:extLst>
      <p:ext uri="{BB962C8B-B14F-4D97-AF65-F5344CB8AC3E}">
        <p14:creationId xmlns:p14="http://schemas.microsoft.com/office/powerpoint/2010/main" val="3840117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6319"/>
            <a:ext cx="8229600" cy="590349"/>
          </a:xfrm>
        </p:spPr>
        <p:txBody>
          <a:bodyPr anchor="ctr"/>
          <a:lstStyle/>
          <a:p>
            <a:r>
              <a:rPr lang="en-US" noProof="0" dirty="0"/>
              <a:t>Chapter 2 – Circuit Elements </a:t>
            </a:r>
            <a:r>
              <a:rPr lang="en-US" sz="2800" noProof="0" dirty="0"/>
              <a:t>(5 of 9)</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9014" y="1041863"/>
            <a:ext cx="2881032" cy="851959"/>
          </a:xfrm>
        </p:spPr>
        <p:txBody>
          <a:bodyPr wrap="square" lIns="0" tIns="18000" rIns="0" bIns="18000" anchor="ctr">
            <a:spAutoFit/>
          </a:bodyPr>
          <a:lstStyle/>
          <a:p>
            <a:pPr marL="0" indent="0">
              <a:spcBef>
                <a:spcPts val="600"/>
              </a:spcBef>
              <a:buNone/>
            </a:pPr>
            <a:r>
              <a:rPr lang="en-US" sz="2400" noProof="0" dirty="0"/>
              <a:t>Example (continued)</a:t>
            </a:r>
          </a:p>
          <a:p>
            <a:pPr marL="285750" indent="-285750">
              <a:spcBef>
                <a:spcPts val="600"/>
              </a:spcBef>
            </a:pPr>
            <a:r>
              <a:rPr lang="en-US" sz="2400" noProof="0" dirty="0"/>
              <a:t>Power balance:</a:t>
            </a:r>
          </a:p>
        </p:txBody>
      </p:sp>
      <p:pic>
        <p:nvPicPr>
          <p:cNvPr id="2" name="Picture 5" descr="The circuit on the left shows the positive terminal of a 120-volt power supply connected to positive terminal of a 10-ohm resistor. The node where positive terminal of voltage source and positive terminal of 10-ohm resistor meets is named a. The negative terminal of the 10-ohm resistor is connected to a node b. Current i subscript 0 is flowing through the 10-ohm resistor. The node b in the downward direction is connected to a 50-ohm resistor and the other terminal of the 50-ohm resistor is connected to another node C. A 6-ampere current source is in parallel connection with 50-ohm resistor. Voltage across 10 ohm-resistor, 50 ohm-resistor and 6-ampere current source is V subscript 10, 150 volts, and 150 volts respectively. The current through the voltage source, 10-ohm resistor, 50-ohm resistor is positive 3 amperes, negative 3 amperes and positive 3 amperes respectively.">
            <a:extLst>
              <a:ext uri="{FF2B5EF4-FFF2-40B4-BE49-F238E27FC236}">
                <a16:creationId xmlns:a16="http://schemas.microsoft.com/office/drawing/2014/main" id="{25D49AAD-A8F6-C20C-184B-A18CEEDEE2EF}"/>
              </a:ext>
            </a:extLst>
          </p:cNvPr>
          <p:cNvPicPr>
            <a:picLocks noChangeAspect="1" noChangeArrowheads="1"/>
          </p:cNvPicPr>
          <p:nvPr/>
        </p:nvPicPr>
        <p:blipFill>
          <a:blip r:embed="rId3"/>
          <a:stretch>
            <a:fillRect/>
          </a:stretch>
        </p:blipFill>
        <p:spPr bwMode="auto">
          <a:xfrm>
            <a:off x="4024107" y="1017494"/>
            <a:ext cx="4548299" cy="185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2" descr="p subscript 120 Volts Baseline equals OpenParenthesis 120 CloseParenthesis multiplied by OpenParenthesis 3 CloseParenthesis equals 360 Watts.&#10;">
            <a:extLst>
              <a:ext uri="{FF2B5EF4-FFF2-40B4-BE49-F238E27FC236}">
                <a16:creationId xmlns:a16="http://schemas.microsoft.com/office/drawing/2014/main" id="{66496333-30A8-0FF3-306F-786E02E5B372}"/>
              </a:ext>
            </a:extLst>
          </p:cNvPr>
          <p:cNvGraphicFramePr>
            <a:graphicFrameLocks noChangeAspect="1"/>
          </p:cNvGraphicFramePr>
          <p:nvPr>
            <p:extLst>
              <p:ext uri="{D42A27DB-BD31-4B8C-83A1-F6EECF244321}">
                <p14:modId xmlns:p14="http://schemas.microsoft.com/office/powerpoint/2010/main" val="2494124701"/>
              </p:ext>
            </p:extLst>
          </p:nvPr>
        </p:nvGraphicFramePr>
        <p:xfrm>
          <a:off x="2909060" y="3212567"/>
          <a:ext cx="3167128" cy="431643"/>
        </p:xfrm>
        <a:graphic>
          <a:graphicData uri="http://schemas.openxmlformats.org/presentationml/2006/ole">
            <mc:AlternateContent xmlns:mc="http://schemas.openxmlformats.org/markup-compatibility/2006">
              <mc:Choice xmlns:v="urn:schemas-microsoft-com:vml" Requires="v">
                <p:oleObj spid="_x0000_s3074" name="Equation" r:id="rId4" imgW="1676160" imgH="228600" progId="Equation.DSMT4">
                  <p:embed/>
                </p:oleObj>
              </mc:Choice>
              <mc:Fallback>
                <p:oleObj name="Equation" r:id="rId4" imgW="1676160" imgH="228600" progId="Equation.DSMT4">
                  <p:embed/>
                  <p:pic>
                    <p:nvPicPr>
                      <p:cNvPr id="8" name="Object 7"/>
                      <p:cNvPicPr>
                        <a:picLocks noChangeAspect="1" noChangeArrowheads="1"/>
                      </p:cNvPicPr>
                      <p:nvPr/>
                    </p:nvPicPr>
                    <p:blipFill>
                      <a:blip r:embed="rId5"/>
                      <a:srcRect/>
                      <a:stretch>
                        <a:fillRect/>
                      </a:stretch>
                    </p:blipFill>
                    <p:spPr bwMode="auto">
                      <a:xfrm>
                        <a:off x="2909060" y="3212567"/>
                        <a:ext cx="3167128" cy="4316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 descr="p subscript 10 Ohms Baseline equals OpenParenthesis 10 CloseParenthesis multiplied by OpenParenthesis negative 3 CloseParenthesis squared equals 90 Watts.&#10;">
            <a:extLst>
              <a:ext uri="{FF2B5EF4-FFF2-40B4-BE49-F238E27FC236}">
                <a16:creationId xmlns:a16="http://schemas.microsoft.com/office/drawing/2014/main" id="{FE742BF9-51DB-932C-208D-AF45AF3E6799}"/>
              </a:ext>
            </a:extLst>
          </p:cNvPr>
          <p:cNvGraphicFramePr>
            <a:graphicFrameLocks noChangeAspect="1"/>
          </p:cNvGraphicFramePr>
          <p:nvPr>
            <p:extLst>
              <p:ext uri="{D42A27DB-BD31-4B8C-83A1-F6EECF244321}">
                <p14:modId xmlns:p14="http://schemas.microsoft.com/office/powerpoint/2010/main" val="3117415240"/>
              </p:ext>
            </p:extLst>
          </p:nvPr>
        </p:nvGraphicFramePr>
        <p:xfrm>
          <a:off x="2894794" y="3763456"/>
          <a:ext cx="3047738" cy="455258"/>
        </p:xfrm>
        <a:graphic>
          <a:graphicData uri="http://schemas.openxmlformats.org/presentationml/2006/ole">
            <mc:AlternateContent xmlns:mc="http://schemas.openxmlformats.org/markup-compatibility/2006">
              <mc:Choice xmlns:v="urn:schemas-microsoft-com:vml" Requires="v">
                <p:oleObj spid="_x0000_s3075" name="Equation" r:id="rId6" imgW="1612800" imgH="241200" progId="Equation.DSMT4">
                  <p:embed/>
                </p:oleObj>
              </mc:Choice>
              <mc:Fallback>
                <p:oleObj name="Equation" r:id="rId6" imgW="1612800" imgH="241200" progId="Equation.DSMT4">
                  <p:embed/>
                  <p:pic>
                    <p:nvPicPr>
                      <p:cNvPr id="4" name="Object 3">
                        <a:extLst>
                          <a:ext uri="{FF2B5EF4-FFF2-40B4-BE49-F238E27FC236}">
                            <a16:creationId xmlns:a16="http://schemas.microsoft.com/office/drawing/2014/main" id="{782B5ADD-5026-E09E-C892-2602E3BC2390}"/>
                          </a:ext>
                        </a:extLst>
                      </p:cNvPr>
                      <p:cNvPicPr>
                        <a:picLocks noChangeAspect="1" noChangeArrowheads="1"/>
                      </p:cNvPicPr>
                      <p:nvPr/>
                    </p:nvPicPr>
                    <p:blipFill>
                      <a:blip r:embed="rId7"/>
                      <a:srcRect/>
                      <a:stretch>
                        <a:fillRect/>
                      </a:stretch>
                    </p:blipFill>
                    <p:spPr bwMode="auto">
                      <a:xfrm>
                        <a:off x="2894794" y="3763456"/>
                        <a:ext cx="3047738" cy="455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4" descr="p subscript 50 Ohms Baseline equals OpenParenthesis 50 CloseParenthesis multiplied by OpenParenthesis 3 CloseParenthesis squared equals 450 Watts.&#10;">
            <a:extLst>
              <a:ext uri="{FF2B5EF4-FFF2-40B4-BE49-F238E27FC236}">
                <a16:creationId xmlns:a16="http://schemas.microsoft.com/office/drawing/2014/main" id="{90C4834F-CB0A-926F-126F-6DC4D9E77947}"/>
              </a:ext>
            </a:extLst>
          </p:cNvPr>
          <p:cNvGraphicFramePr>
            <a:graphicFrameLocks noChangeAspect="1"/>
          </p:cNvGraphicFramePr>
          <p:nvPr>
            <p:extLst>
              <p:ext uri="{D42A27DB-BD31-4B8C-83A1-F6EECF244321}">
                <p14:modId xmlns:p14="http://schemas.microsoft.com/office/powerpoint/2010/main" val="3933958839"/>
              </p:ext>
            </p:extLst>
          </p:nvPr>
        </p:nvGraphicFramePr>
        <p:xfrm>
          <a:off x="2865669" y="4324819"/>
          <a:ext cx="3096281" cy="456570"/>
        </p:xfrm>
        <a:graphic>
          <a:graphicData uri="http://schemas.openxmlformats.org/presentationml/2006/ole">
            <mc:AlternateContent xmlns:mc="http://schemas.openxmlformats.org/markup-compatibility/2006">
              <mc:Choice xmlns:v="urn:schemas-microsoft-com:vml" Requires="v">
                <p:oleObj spid="_x0000_s3076" name="Equation" r:id="rId8" imgW="1638000" imgH="241200" progId="Equation.DSMT4">
                  <p:embed/>
                </p:oleObj>
              </mc:Choice>
              <mc:Fallback>
                <p:oleObj name="Equation" r:id="rId8" imgW="1638000" imgH="241200" progId="Equation.DSMT4">
                  <p:embed/>
                  <p:pic>
                    <p:nvPicPr>
                      <p:cNvPr id="4" name="Object 3">
                        <a:extLst>
                          <a:ext uri="{FF2B5EF4-FFF2-40B4-BE49-F238E27FC236}">
                            <a16:creationId xmlns:a16="http://schemas.microsoft.com/office/drawing/2014/main" id="{782B5ADD-5026-E09E-C892-2602E3BC2390}"/>
                          </a:ext>
                        </a:extLst>
                      </p:cNvPr>
                      <p:cNvPicPr>
                        <a:picLocks noChangeAspect="1" noChangeArrowheads="1"/>
                      </p:cNvPicPr>
                      <p:nvPr/>
                    </p:nvPicPr>
                    <p:blipFill>
                      <a:blip r:embed="rId9"/>
                      <a:srcRect/>
                      <a:stretch>
                        <a:fillRect/>
                      </a:stretch>
                    </p:blipFill>
                    <p:spPr bwMode="auto">
                      <a:xfrm>
                        <a:off x="2865669" y="4324819"/>
                        <a:ext cx="3096281" cy="4565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3" descr="p subscript 6 Amperes Baseline equals negative OpenParenthesis 150 CloseParenthesis multiplied by OpenParenthesis 6 CloseParenthesis equals negative 900 Watts.&#10;">
            <a:extLst>
              <a:ext uri="{FF2B5EF4-FFF2-40B4-BE49-F238E27FC236}">
                <a16:creationId xmlns:a16="http://schemas.microsoft.com/office/drawing/2014/main" id="{782B5ADD-5026-E09E-C892-2602E3BC2390}"/>
              </a:ext>
            </a:extLst>
          </p:cNvPr>
          <p:cNvGraphicFramePr>
            <a:graphicFrameLocks noChangeAspect="1"/>
          </p:cNvGraphicFramePr>
          <p:nvPr>
            <p:extLst>
              <p:ext uri="{D42A27DB-BD31-4B8C-83A1-F6EECF244321}">
                <p14:modId xmlns:p14="http://schemas.microsoft.com/office/powerpoint/2010/main" val="2215356164"/>
              </p:ext>
            </p:extLst>
          </p:nvPr>
        </p:nvGraphicFramePr>
        <p:xfrm>
          <a:off x="2869543" y="4883999"/>
          <a:ext cx="3335063" cy="431643"/>
        </p:xfrm>
        <a:graphic>
          <a:graphicData uri="http://schemas.openxmlformats.org/presentationml/2006/ole">
            <mc:AlternateContent xmlns:mc="http://schemas.openxmlformats.org/markup-compatibility/2006">
              <mc:Choice xmlns:v="urn:schemas-microsoft-com:vml" Requires="v">
                <p:oleObj spid="_x0000_s3077" name="Equation" r:id="rId10" imgW="1765080" imgH="228600" progId="Equation.DSMT4">
                  <p:embed/>
                </p:oleObj>
              </mc:Choice>
              <mc:Fallback>
                <p:oleObj name="Equation" r:id="rId10" imgW="1765080" imgH="228600" progId="Equation.DSMT4">
                  <p:embed/>
                  <p:pic>
                    <p:nvPicPr>
                      <p:cNvPr id="3" name="Object 2">
                        <a:extLst>
                          <a:ext uri="{FF2B5EF4-FFF2-40B4-BE49-F238E27FC236}">
                            <a16:creationId xmlns:a16="http://schemas.microsoft.com/office/drawing/2014/main" id="{66496333-30A8-0FF3-306F-786E02E5B372}"/>
                          </a:ext>
                        </a:extLst>
                      </p:cNvPr>
                      <p:cNvPicPr>
                        <a:picLocks noChangeAspect="1" noChangeArrowheads="1"/>
                      </p:cNvPicPr>
                      <p:nvPr/>
                    </p:nvPicPr>
                    <p:blipFill>
                      <a:blip r:embed="rId11"/>
                      <a:srcRect/>
                      <a:stretch>
                        <a:fillRect/>
                      </a:stretch>
                    </p:blipFill>
                    <p:spPr bwMode="auto">
                      <a:xfrm>
                        <a:off x="2869543" y="4883999"/>
                        <a:ext cx="3335063" cy="4316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09014" y="5596026"/>
            <a:ext cx="8180799" cy="405683"/>
          </a:xfrm>
        </p:spPr>
        <p:txBody>
          <a:bodyPr wrap="square" lIns="0" tIns="18000" rIns="0" bIns="18000" anchor="ctr">
            <a:spAutoFit/>
          </a:bodyPr>
          <a:lstStyle/>
          <a:p>
            <a:pPr marL="0" indent="0">
              <a:spcBef>
                <a:spcPts val="600"/>
              </a:spcBef>
              <a:buNone/>
            </a:pPr>
            <a:r>
              <a:rPr lang="en-US" sz="2400" noProof="0" dirty="0">
                <a:latin typeface="Arial" panose="020B0604020202020204" pitchFamily="34" charset="0"/>
                <a:cs typeface="Arial" panose="020B0604020202020204" pitchFamily="34" charset="0"/>
              </a:rPr>
              <a:t>Total power is 360 + 90 + 450 </a:t>
            </a:r>
            <a:r>
              <a:rPr lang="en-US" sz="2400" noProof="0" dirty="0">
                <a:effectLst/>
                <a:latin typeface="Arial" panose="020B0604020202020204" pitchFamily="34" charset="0"/>
                <a:ea typeface="Calibri" panose="020F0502020204030204" pitchFamily="34" charset="0"/>
                <a:cs typeface="Arial" panose="020B0604020202020204" pitchFamily="34" charset="0"/>
              </a:rPr>
              <a:t>−</a:t>
            </a:r>
            <a:r>
              <a:rPr lang="en-US" sz="2400" noProof="0" dirty="0">
                <a:latin typeface="Arial" panose="020B0604020202020204" pitchFamily="34" charset="0"/>
                <a:cs typeface="Arial" panose="020B0604020202020204" pitchFamily="34" charset="0"/>
              </a:rPr>
              <a:t> 900 = 0 (check!)</a:t>
            </a:r>
          </a:p>
        </p:txBody>
      </p:sp>
    </p:spTree>
    <p:extLst>
      <p:ext uri="{BB962C8B-B14F-4D97-AF65-F5344CB8AC3E}">
        <p14:creationId xmlns:p14="http://schemas.microsoft.com/office/powerpoint/2010/main" val="1268748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6319"/>
            <a:ext cx="8229600" cy="590349"/>
          </a:xfrm>
        </p:spPr>
        <p:txBody>
          <a:bodyPr/>
          <a:lstStyle/>
          <a:p>
            <a:r>
              <a:rPr lang="en-US" noProof="0" dirty="0"/>
              <a:t>Chapter 2 – Circuit Elements </a:t>
            </a:r>
            <a:r>
              <a:rPr lang="en-US" sz="2800" noProof="0" dirty="0"/>
              <a:t>(6 of 9)</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46088" y="1118265"/>
            <a:ext cx="1727769" cy="728849"/>
          </a:xfrm>
        </p:spPr>
        <p:txBody>
          <a:bodyPr wrap="square" lIns="0" tIns="18000" rIns="0" bIns="18000" anchor="ctr">
            <a:spAutoFit/>
          </a:bodyPr>
          <a:lstStyle/>
          <a:p>
            <a:pPr marL="0" indent="0">
              <a:spcBef>
                <a:spcPts val="600"/>
              </a:spcBef>
              <a:buNone/>
            </a:pPr>
            <a:r>
              <a:rPr lang="en-US" sz="2000" noProof="0" dirty="0"/>
              <a:t>Example:</a:t>
            </a:r>
          </a:p>
          <a:p>
            <a:pPr marL="342900" indent="-342900">
              <a:spcBef>
                <a:spcPts val="600"/>
              </a:spcBef>
            </a:pPr>
            <a:r>
              <a:rPr lang="en-US" sz="2000" noProof="0" dirty="0"/>
              <a:t>Find </a:t>
            </a:r>
            <a:r>
              <a:rPr lang="en-US" sz="2000" i="1" noProof="0" dirty="0"/>
              <a:t>R</a:t>
            </a:r>
            <a:r>
              <a:rPr lang="en-US" sz="2000" noProof="0" dirty="0"/>
              <a:t>.</a:t>
            </a:r>
          </a:p>
        </p:txBody>
      </p:sp>
      <p:pic>
        <p:nvPicPr>
          <p:cNvPr id="2" name="Picture 5" descr="The circuit on the left shows the positive terminal of a 200-volt power supply connected to the positive terminal of a resistor R. The negative terminal of the resistor R is connected to a node. The node in downward direction is connected to a 24-ohm resistor and the other terminal of the 24-ohm resistor is connected to another node. An eight-ohm resistor is in parallel connection with the 24-ohm resistor. The voltage across resistor R, 24-ohm resistor is V subscript R and 120 volts respectively. Current through Resistor R, 24-ohm resistor and 8-ohm resistor are i subscript R, i subscript 1 and i subscript 2 respectively.">
            <a:extLst>
              <a:ext uri="{FF2B5EF4-FFF2-40B4-BE49-F238E27FC236}">
                <a16:creationId xmlns:a16="http://schemas.microsoft.com/office/drawing/2014/main" id="{9458E97E-DAE1-1BA7-4CC4-6B107265A2F3}"/>
              </a:ext>
            </a:extLst>
          </p:cNvPr>
          <p:cNvPicPr>
            <a:picLocks noChangeAspect="1" noChangeArrowheads="1"/>
          </p:cNvPicPr>
          <p:nvPr/>
        </p:nvPicPr>
        <p:blipFill>
          <a:blip r:embed="rId3"/>
          <a:srcRect/>
          <a:stretch/>
        </p:blipFill>
        <p:spPr bwMode="auto">
          <a:xfrm>
            <a:off x="3929798" y="982757"/>
            <a:ext cx="3853435" cy="1443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670321"/>
            <a:ext cx="8232775" cy="651905"/>
          </a:xfrm>
        </p:spPr>
        <p:txBody>
          <a:bodyPr wrap="square" lIns="0" tIns="18000" rIns="0" bIns="18000" anchor="ctr">
            <a:spAutoFit/>
          </a:bodyPr>
          <a:lstStyle/>
          <a:p>
            <a:pPr marL="0" indent="0">
              <a:spcBef>
                <a:spcPts val="600"/>
              </a:spcBef>
              <a:buNone/>
            </a:pPr>
            <a:r>
              <a:rPr lang="en-US" sz="2000" noProof="0" dirty="0"/>
              <a:t>To find R we need to find the voltage drop across R and the current through R:</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43876" y="3486912"/>
            <a:ext cx="1021511" cy="344128"/>
          </a:xfrm>
        </p:spPr>
        <p:txBody>
          <a:bodyPr wrap="square" lIns="0" tIns="18000" rIns="0" bIns="18000" anchor="ctr">
            <a:spAutoFit/>
          </a:bodyPr>
          <a:lstStyle/>
          <a:p>
            <a:pPr marL="0" indent="0">
              <a:spcBef>
                <a:spcPts val="600"/>
              </a:spcBef>
              <a:buNone/>
            </a:pPr>
            <a:r>
              <a:rPr lang="en-US" sz="2000" spc="-250" noProof="0" dirty="0"/>
              <a:t>K V </a:t>
            </a:r>
            <a:r>
              <a:rPr lang="en-US" sz="2000" noProof="0" dirty="0"/>
              <a:t>L left:</a:t>
            </a:r>
          </a:p>
        </p:txBody>
      </p:sp>
      <p:graphicFrame>
        <p:nvGraphicFramePr>
          <p:cNvPr id="3" name="Object 2" descr="Negative 200 plus v subscript R Baseline plus 120 equals 0, Forward arrow, v subscript R Baseline equals 200 minus 120 equals 80 Volts.&#10;">
            <a:extLst>
              <a:ext uri="{FF2B5EF4-FFF2-40B4-BE49-F238E27FC236}">
                <a16:creationId xmlns:a16="http://schemas.microsoft.com/office/drawing/2014/main" id="{06DB5493-269A-C4F3-0FAA-A36D712F88F1}"/>
              </a:ext>
            </a:extLst>
          </p:cNvPr>
          <p:cNvGraphicFramePr>
            <a:graphicFrameLocks noChangeAspect="1"/>
          </p:cNvGraphicFramePr>
          <p:nvPr/>
        </p:nvGraphicFramePr>
        <p:xfrm>
          <a:off x="2684749" y="3521774"/>
          <a:ext cx="4814455" cy="326159"/>
        </p:xfrm>
        <a:graphic>
          <a:graphicData uri="http://schemas.openxmlformats.org/presentationml/2006/ole">
            <mc:AlternateContent xmlns:mc="http://schemas.openxmlformats.org/markup-compatibility/2006">
              <mc:Choice xmlns:v="urn:schemas-microsoft-com:vml" Requires="v">
                <p:oleObj spid="_x0000_s4098" name="Equation" r:id="rId4" imgW="3390840" imgH="228600" progId="Equation.DSMT4">
                  <p:embed/>
                </p:oleObj>
              </mc:Choice>
              <mc:Fallback>
                <p:oleObj name="Equation" r:id="rId4" imgW="3390840" imgH="228600" progId="Equation.DSMT4">
                  <p:embed/>
                  <p:pic>
                    <p:nvPicPr>
                      <p:cNvPr id="3" name="Object 2" descr="Negative 200 plus v subscript R Baseline plus 120 equals 0, Forward arrow, v subscript R Baseline equals 200 minus 120 equals 80 Volts.&#10;">
                        <a:extLst>
                          <a:ext uri="{FF2B5EF4-FFF2-40B4-BE49-F238E27FC236}">
                            <a16:creationId xmlns:a16="http://schemas.microsoft.com/office/drawing/2014/main" id="{06DB5493-269A-C4F3-0FAA-A36D712F88F1}"/>
                          </a:ext>
                        </a:extLst>
                      </p:cNvPr>
                      <p:cNvPicPr>
                        <a:picLocks noChangeAspect="1" noChangeArrowheads="1"/>
                      </p:cNvPicPr>
                      <p:nvPr/>
                    </p:nvPicPr>
                    <p:blipFill>
                      <a:blip r:embed="rId5"/>
                      <a:srcRect/>
                      <a:stretch>
                        <a:fillRect/>
                      </a:stretch>
                    </p:blipFill>
                    <p:spPr bwMode="auto">
                      <a:xfrm>
                        <a:off x="2684749" y="3521774"/>
                        <a:ext cx="4814455" cy="326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443876" y="3903492"/>
            <a:ext cx="1005726" cy="344128"/>
          </a:xfrm>
        </p:spPr>
        <p:txBody>
          <a:bodyPr wrap="square" lIns="0" tIns="18000" rIns="0" bIns="18000" anchor="ctr">
            <a:spAutoFit/>
          </a:bodyPr>
          <a:lstStyle/>
          <a:p>
            <a:pPr marL="0" indent="0">
              <a:spcBef>
                <a:spcPts val="600"/>
              </a:spcBef>
              <a:buNone/>
            </a:pPr>
            <a:r>
              <a:rPr lang="en-US" sz="2000" spc="-250" noProof="0" dirty="0"/>
              <a:t>K C </a:t>
            </a:r>
            <a:r>
              <a:rPr lang="en-US" sz="2000" noProof="0" dirty="0"/>
              <a:t>L top:</a:t>
            </a:r>
          </a:p>
        </p:txBody>
      </p:sp>
      <p:graphicFrame>
        <p:nvGraphicFramePr>
          <p:cNvPr id="4" name="Object 3" descr="i subscript R Baseline equals i subscript 1 Baseline plus i subscript 2 Baseline.&#10;">
            <a:extLst>
              <a:ext uri="{FF2B5EF4-FFF2-40B4-BE49-F238E27FC236}">
                <a16:creationId xmlns:a16="http://schemas.microsoft.com/office/drawing/2014/main" id="{DFAED32C-DED7-4C89-2C07-42AF40B4BBE7}"/>
              </a:ext>
            </a:extLst>
          </p:cNvPr>
          <p:cNvGraphicFramePr>
            <a:graphicFrameLocks noChangeAspect="1"/>
          </p:cNvGraphicFramePr>
          <p:nvPr/>
        </p:nvGraphicFramePr>
        <p:xfrm>
          <a:off x="2584360" y="3930067"/>
          <a:ext cx="1011237" cy="357188"/>
        </p:xfrm>
        <a:graphic>
          <a:graphicData uri="http://schemas.openxmlformats.org/presentationml/2006/ole">
            <mc:AlternateContent xmlns:mc="http://schemas.openxmlformats.org/markup-compatibility/2006">
              <mc:Choice xmlns:v="urn:schemas-microsoft-com:vml" Requires="v">
                <p:oleObj spid="_x0000_s4099" name="Equation" r:id="rId6" imgW="647640" imgH="228600" progId="Equation.DSMT4">
                  <p:embed/>
                </p:oleObj>
              </mc:Choice>
              <mc:Fallback>
                <p:oleObj name="Equation" r:id="rId6" imgW="647640" imgH="228600" progId="Equation.DSMT4">
                  <p:embed/>
                  <p:pic>
                    <p:nvPicPr>
                      <p:cNvPr id="4" name="Object 3" descr="i subscript R Baseline equals i subscript 1 Baseline plus i subscript 2 Baseline.&#10;">
                        <a:extLst>
                          <a:ext uri="{FF2B5EF4-FFF2-40B4-BE49-F238E27FC236}">
                            <a16:creationId xmlns:a16="http://schemas.microsoft.com/office/drawing/2014/main" id="{DFAED32C-DED7-4C89-2C07-42AF40B4BBE7}"/>
                          </a:ext>
                        </a:extLst>
                      </p:cNvPr>
                      <p:cNvPicPr>
                        <a:picLocks noChangeAspect="1" noChangeArrowheads="1"/>
                      </p:cNvPicPr>
                      <p:nvPr/>
                    </p:nvPicPr>
                    <p:blipFill>
                      <a:blip r:embed="rId7"/>
                      <a:srcRect/>
                      <a:stretch>
                        <a:fillRect/>
                      </a:stretch>
                    </p:blipFill>
                    <p:spPr bwMode="auto">
                      <a:xfrm>
                        <a:off x="2584360" y="3930067"/>
                        <a:ext cx="1011237"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443876" y="4349625"/>
            <a:ext cx="1140484" cy="344128"/>
          </a:xfrm>
        </p:spPr>
        <p:txBody>
          <a:bodyPr wrap="square" lIns="0" tIns="18000" rIns="0" bIns="18000" anchor="ctr">
            <a:spAutoFit/>
          </a:bodyPr>
          <a:lstStyle/>
          <a:p>
            <a:pPr marL="0" indent="0">
              <a:spcBef>
                <a:spcPts val="600"/>
              </a:spcBef>
              <a:buNone/>
            </a:pPr>
            <a:r>
              <a:rPr lang="en-US" sz="2000" spc="-250" noProof="0" dirty="0"/>
              <a:t>K V </a:t>
            </a:r>
            <a:r>
              <a:rPr lang="en-US" sz="2000" noProof="0" dirty="0"/>
              <a:t>L right:</a:t>
            </a:r>
          </a:p>
        </p:txBody>
      </p:sp>
      <p:graphicFrame>
        <p:nvGraphicFramePr>
          <p:cNvPr id="5" name="Object 4" descr="Negative 120 plus v subscript 2 Baseline equals 0, Forward arrow, v subscript 2 Baseline equals 120 Volts.&#10;">
            <a:extLst>
              <a:ext uri="{FF2B5EF4-FFF2-40B4-BE49-F238E27FC236}">
                <a16:creationId xmlns:a16="http://schemas.microsoft.com/office/drawing/2014/main" id="{563AC57B-A69A-5523-1F2C-66E4C6444CEE}"/>
              </a:ext>
            </a:extLst>
          </p:cNvPr>
          <p:cNvGraphicFramePr>
            <a:graphicFrameLocks noChangeAspect="1"/>
          </p:cNvGraphicFramePr>
          <p:nvPr/>
        </p:nvGraphicFramePr>
        <p:xfrm>
          <a:off x="2684749" y="4358609"/>
          <a:ext cx="3175000" cy="326159"/>
        </p:xfrm>
        <a:graphic>
          <a:graphicData uri="http://schemas.openxmlformats.org/presentationml/2006/ole">
            <mc:AlternateContent xmlns:mc="http://schemas.openxmlformats.org/markup-compatibility/2006">
              <mc:Choice xmlns:v="urn:schemas-microsoft-com:vml" Requires="v">
                <p:oleObj spid="_x0000_s4100" name="Equation" r:id="rId8" imgW="2234880" imgH="228600" progId="Equation.DSMT4">
                  <p:embed/>
                </p:oleObj>
              </mc:Choice>
              <mc:Fallback>
                <p:oleObj name="Equation" r:id="rId8" imgW="2234880" imgH="228600" progId="Equation.DSMT4">
                  <p:embed/>
                  <p:pic>
                    <p:nvPicPr>
                      <p:cNvPr id="5" name="Object 4" descr="Negative 120 plus v subscript 2 Baseline equals 0, Forward arrow, v subscript 2 Baseline equals 120 Volts.&#10;">
                        <a:extLst>
                          <a:ext uri="{FF2B5EF4-FFF2-40B4-BE49-F238E27FC236}">
                            <a16:creationId xmlns:a16="http://schemas.microsoft.com/office/drawing/2014/main" id="{563AC57B-A69A-5523-1F2C-66E4C6444CEE}"/>
                          </a:ext>
                        </a:extLst>
                      </p:cNvPr>
                      <p:cNvPicPr>
                        <a:picLocks noChangeAspect="1" noChangeArrowheads="1"/>
                      </p:cNvPicPr>
                      <p:nvPr/>
                    </p:nvPicPr>
                    <p:blipFill>
                      <a:blip r:embed="rId9"/>
                      <a:srcRect/>
                      <a:stretch>
                        <a:fillRect/>
                      </a:stretch>
                    </p:blipFill>
                    <p:spPr bwMode="auto">
                      <a:xfrm>
                        <a:off x="2684749" y="4358609"/>
                        <a:ext cx="3175000" cy="326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4" descr="Therefore, i subscript R Baseline equals StartFraction 120 Volts over 24 Ohms EndFraction plus StartFraction 120 Volts over 8 Ohms EndFraction equals 5 plus 15 equals 20 Amperes.&#10;">
            <a:extLst>
              <a:ext uri="{FF2B5EF4-FFF2-40B4-BE49-F238E27FC236}">
                <a16:creationId xmlns:a16="http://schemas.microsoft.com/office/drawing/2014/main" id="{73D45373-9E3B-9030-C1DD-B3B5064016F0}"/>
              </a:ext>
            </a:extLst>
          </p:cNvPr>
          <p:cNvGraphicFramePr>
            <a:graphicFrameLocks noChangeAspect="1"/>
          </p:cNvGraphicFramePr>
          <p:nvPr/>
        </p:nvGraphicFramePr>
        <p:xfrm>
          <a:off x="1459356" y="4825304"/>
          <a:ext cx="4400393" cy="558905"/>
        </p:xfrm>
        <a:graphic>
          <a:graphicData uri="http://schemas.openxmlformats.org/presentationml/2006/ole">
            <mc:AlternateContent xmlns:mc="http://schemas.openxmlformats.org/markup-compatibility/2006">
              <mc:Choice xmlns:v="urn:schemas-microsoft-com:vml" Requires="v">
                <p:oleObj spid="_x0000_s4101" name="Equation" r:id="rId10" imgW="3098520" imgH="393480" progId="Equation.DSMT4">
                  <p:embed/>
                </p:oleObj>
              </mc:Choice>
              <mc:Fallback>
                <p:oleObj name="Equation" r:id="rId10" imgW="3098520" imgH="393480" progId="Equation.DSMT4">
                  <p:embed/>
                  <p:pic>
                    <p:nvPicPr>
                      <p:cNvPr id="25" name="Object 24" descr="Therefore, i subscript R Baseline equals StartFraction 120 Volts over 24 Ohms EndFraction plus StartFraction 120 Volts over 8 Ohms EndFraction equals 5 plus 15 equals 20 Amperes.&#10;">
                        <a:extLst>
                          <a:ext uri="{FF2B5EF4-FFF2-40B4-BE49-F238E27FC236}">
                            <a16:creationId xmlns:a16="http://schemas.microsoft.com/office/drawing/2014/main" id="{73D45373-9E3B-9030-C1DD-B3B5064016F0}"/>
                          </a:ext>
                        </a:extLst>
                      </p:cNvPr>
                      <p:cNvPicPr>
                        <a:picLocks noChangeAspect="1" noChangeArrowheads="1"/>
                      </p:cNvPicPr>
                      <p:nvPr/>
                    </p:nvPicPr>
                    <p:blipFill>
                      <a:blip r:embed="rId11"/>
                      <a:srcRect/>
                      <a:stretch>
                        <a:fillRect/>
                      </a:stretch>
                    </p:blipFill>
                    <p:spPr bwMode="auto">
                      <a:xfrm>
                        <a:off x="1459356" y="4825304"/>
                        <a:ext cx="4400393" cy="5589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5" descr="Forward arrow, R equals StartFraction v subscript R Baseline over i subscript R Baseline EndFraction equals StartFraction 80 over 20 EndFraction equals 4 Ohms.&#10;">
            <a:extLst>
              <a:ext uri="{FF2B5EF4-FFF2-40B4-BE49-F238E27FC236}">
                <a16:creationId xmlns:a16="http://schemas.microsoft.com/office/drawing/2014/main" id="{DF290F6C-0207-AFEC-207E-2006378FD6A1}"/>
              </a:ext>
            </a:extLst>
          </p:cNvPr>
          <p:cNvGraphicFramePr>
            <a:graphicFrameLocks noChangeAspect="1"/>
          </p:cNvGraphicFramePr>
          <p:nvPr/>
        </p:nvGraphicFramePr>
        <p:xfrm>
          <a:off x="1443876" y="5551161"/>
          <a:ext cx="2433729" cy="631064"/>
        </p:xfrm>
        <a:graphic>
          <a:graphicData uri="http://schemas.openxmlformats.org/presentationml/2006/ole">
            <mc:AlternateContent xmlns:mc="http://schemas.openxmlformats.org/markup-compatibility/2006">
              <mc:Choice xmlns:v="urn:schemas-microsoft-com:vml" Requires="v">
                <p:oleObj spid="_x0000_s4102" name="Equation" r:id="rId12" imgW="1714320" imgH="444240" progId="Equation.DSMT4">
                  <p:embed/>
                </p:oleObj>
              </mc:Choice>
              <mc:Fallback>
                <p:oleObj name="Equation" r:id="rId12" imgW="1714320" imgH="444240" progId="Equation.DSMT4">
                  <p:embed/>
                  <p:pic>
                    <p:nvPicPr>
                      <p:cNvPr id="26" name="Object 25" descr="Forward arrow, R equals StartFraction v subscript R Baseline over i subscript R Baseline EndFraction equals StartFraction 80 over 20 EndFraction equals 4 Ohms.&#10;">
                        <a:extLst>
                          <a:ext uri="{FF2B5EF4-FFF2-40B4-BE49-F238E27FC236}">
                            <a16:creationId xmlns:a16="http://schemas.microsoft.com/office/drawing/2014/main" id="{DF290F6C-0207-AFEC-207E-2006378FD6A1}"/>
                          </a:ext>
                        </a:extLst>
                      </p:cNvPr>
                      <p:cNvPicPr>
                        <a:picLocks noChangeAspect="1" noChangeArrowheads="1"/>
                      </p:cNvPicPr>
                      <p:nvPr/>
                    </p:nvPicPr>
                    <p:blipFill>
                      <a:blip r:embed="rId13"/>
                      <a:srcRect/>
                      <a:stretch>
                        <a:fillRect/>
                      </a:stretch>
                    </p:blipFill>
                    <p:spPr bwMode="auto">
                      <a:xfrm>
                        <a:off x="1443876" y="5551161"/>
                        <a:ext cx="2433729" cy="6310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15948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6319"/>
            <a:ext cx="8229600" cy="590349"/>
          </a:xfrm>
        </p:spPr>
        <p:txBody>
          <a:bodyPr anchor="ctr"/>
          <a:lstStyle/>
          <a:p>
            <a:r>
              <a:rPr lang="en-US" noProof="0" dirty="0"/>
              <a:t>Chapter 2 – Circuit Elements </a:t>
            </a:r>
            <a:r>
              <a:rPr lang="en-US" sz="2800" noProof="0" dirty="0"/>
              <a:t>(7 of 9)</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184" y="1041866"/>
            <a:ext cx="8229600" cy="775015"/>
          </a:xfrm>
        </p:spPr>
        <p:txBody>
          <a:bodyPr wrap="square" lIns="0" tIns="18000" rIns="0" bIns="18000" anchor="ctr">
            <a:spAutoFit/>
          </a:bodyPr>
          <a:lstStyle/>
          <a:p>
            <a:pPr marL="0" indent="0">
              <a:spcBef>
                <a:spcPts val="600"/>
              </a:spcBef>
              <a:buNone/>
            </a:pPr>
            <a:r>
              <a:rPr lang="en-US" sz="2400" noProof="0" dirty="0"/>
              <a:t>Let’s see if we can predict which elements will be supplying power in the circuit below.</a:t>
            </a:r>
          </a:p>
        </p:txBody>
      </p:sp>
      <p:pic>
        <p:nvPicPr>
          <p:cNvPr id="2" name="Picture 3" descr="A circuit diagram shows a 200 V ideal independent voltage source connected in series to a resistance R, which is connected to in parallel to 24-ohm resistor and 120 V across it. An 8-ohm resistor is connected in parallel to the 24-ohm resistor.">
            <a:extLst>
              <a:ext uri="{FF2B5EF4-FFF2-40B4-BE49-F238E27FC236}">
                <a16:creationId xmlns:a16="http://schemas.microsoft.com/office/drawing/2014/main" id="{D5A5FA0F-8F8E-613F-645A-6C969444EDA6}"/>
              </a:ext>
            </a:extLst>
          </p:cNvPr>
          <p:cNvPicPr>
            <a:picLocks noChangeAspect="1" noChangeArrowheads="1"/>
          </p:cNvPicPr>
          <p:nvPr/>
        </p:nvPicPr>
        <p:blipFill>
          <a:blip r:embed="rId6"/>
          <a:srcRect/>
          <a:stretch/>
        </p:blipFill>
        <p:spPr bwMode="auto">
          <a:xfrm>
            <a:off x="2138207" y="2014818"/>
            <a:ext cx="5128916" cy="178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434" descr="Cross mark">
            <a:extLst>
              <a:ext uri="{FF2B5EF4-FFF2-40B4-BE49-F238E27FC236}">
                <a16:creationId xmlns:a16="http://schemas.microsoft.com/office/drawing/2014/main" id="{E266BCC1-CD07-7594-DC2D-470D6215A7D5}"/>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900953" y="414702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540809" y="4097702"/>
            <a:ext cx="2681567"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Just the resistors</a:t>
            </a:r>
          </a:p>
        </p:txBody>
      </p:sp>
      <p:pic>
        <p:nvPicPr>
          <p:cNvPr id="25" name="Picture 1435" descr="Check mark">
            <a:extLst>
              <a:ext uri="{FF2B5EF4-FFF2-40B4-BE49-F238E27FC236}">
                <a16:creationId xmlns:a16="http://schemas.microsoft.com/office/drawing/2014/main" id="{D376995E-C8ED-3703-AFD5-D27C51C1821E}"/>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900953" y="465893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558739" y="4598606"/>
            <a:ext cx="2663637"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Just the source</a:t>
            </a:r>
          </a:p>
        </p:txBody>
      </p:sp>
      <p:pic>
        <p:nvPicPr>
          <p:cNvPr id="5" name="Picture 1434" descr="Cross mark">
            <a:extLst>
              <a:ext uri="{FF2B5EF4-FFF2-40B4-BE49-F238E27FC236}">
                <a16:creationId xmlns:a16="http://schemas.microsoft.com/office/drawing/2014/main" id="{A8A2655B-120A-F378-D946-AAEEE5BCFD0D}"/>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900953" y="514436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558736" y="5099513"/>
            <a:ext cx="4420723"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The source and one resistor</a:t>
            </a:r>
          </a:p>
        </p:txBody>
      </p:sp>
      <p:pic>
        <p:nvPicPr>
          <p:cNvPr id="4" name="Picture 1434" descr="Cross mark">
            <a:extLst>
              <a:ext uri="{FF2B5EF4-FFF2-40B4-BE49-F238E27FC236}">
                <a16:creationId xmlns:a16="http://schemas.microsoft.com/office/drawing/2014/main" id="{E82DF2AF-8E36-784F-9B22-9C62C1826191}"/>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rcRect/>
          <a:stretch>
            <a:fillRect/>
          </a:stretch>
        </p:blipFill>
        <p:spPr bwMode="auto">
          <a:xfrm>
            <a:off x="900953" y="566065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567704" y="5637053"/>
            <a:ext cx="4054475" cy="405683"/>
          </a:xfrm>
        </p:spPr>
        <p:txBody>
          <a:bodyPr lIns="0" tIns="18000" rIns="0" bIns="18000" anchor="ctr">
            <a:spAutoFit/>
          </a:bodyPr>
          <a:lstStyle/>
          <a:p>
            <a:pPr marL="0" indent="0">
              <a:spcBef>
                <a:spcPts val="600"/>
              </a:spcBef>
              <a:buNone/>
            </a:pPr>
            <a:r>
              <a:rPr lang="en-US" sz="2400" noProof="0" dirty="0">
                <a:solidFill>
                  <a:srgbClr val="007FA3"/>
                </a:solidFill>
              </a:rPr>
              <a:t>D. </a:t>
            </a:r>
            <a:r>
              <a:rPr lang="en-US" sz="2400" noProof="0" dirty="0"/>
              <a:t>We need more information</a:t>
            </a:r>
          </a:p>
        </p:txBody>
      </p:sp>
    </p:spTree>
    <p:extLst>
      <p:ext uri="{BB962C8B-B14F-4D97-AF65-F5344CB8AC3E}">
        <p14:creationId xmlns:p14="http://schemas.microsoft.com/office/powerpoint/2010/main" val="596461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6319"/>
            <a:ext cx="8229600" cy="590349"/>
          </a:xfrm>
        </p:spPr>
        <p:txBody>
          <a:bodyPr/>
          <a:lstStyle/>
          <a:p>
            <a:r>
              <a:rPr lang="en-US" noProof="0" dirty="0"/>
              <a:t>Chapter 2 – Circuit Elements </a:t>
            </a:r>
            <a:r>
              <a:rPr lang="en-US" sz="2800" noProof="0" dirty="0"/>
              <a:t>(8 of 9)</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1" y="1121532"/>
            <a:ext cx="1058956" cy="344128"/>
          </a:xfrm>
        </p:spPr>
        <p:txBody>
          <a:bodyPr wrap="square" lIns="0" tIns="18000" rIns="0" bIns="18000" anchor="ctr">
            <a:spAutoFit/>
          </a:bodyPr>
          <a:lstStyle/>
          <a:p>
            <a:pPr marL="0" indent="0">
              <a:spcBef>
                <a:spcPts val="600"/>
              </a:spcBef>
              <a:buNone/>
            </a:pPr>
            <a:r>
              <a:rPr lang="en-US" sz="2000" noProof="0" dirty="0"/>
              <a:t>Example: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586574"/>
            <a:ext cx="843803" cy="344128"/>
          </a:xfrm>
        </p:spPr>
        <p:txBody>
          <a:bodyPr wrap="square" lIns="0" tIns="18000" rIns="0" bIns="18000" anchor="ctr">
            <a:spAutoFit/>
          </a:bodyPr>
          <a:lstStyle/>
          <a:p>
            <a:pPr marL="342900" indent="-342900">
              <a:spcBef>
                <a:spcPts val="600"/>
              </a:spcBef>
            </a:pPr>
            <a:r>
              <a:rPr lang="en-US" sz="2000" noProof="0" dirty="0"/>
              <a:t>Find</a:t>
            </a:r>
          </a:p>
        </p:txBody>
      </p:sp>
      <p:graphicFrame>
        <p:nvGraphicFramePr>
          <p:cNvPr id="2" name="Object 1" descr="i subscript 1,&#10;">
            <a:extLst>
              <a:ext uri="{FF2B5EF4-FFF2-40B4-BE49-F238E27FC236}">
                <a16:creationId xmlns:a16="http://schemas.microsoft.com/office/drawing/2014/main" id="{35397F4B-3550-D9BC-640A-5D3F33A55AFB}"/>
              </a:ext>
            </a:extLst>
          </p:cNvPr>
          <p:cNvGraphicFramePr>
            <a:graphicFrameLocks noChangeAspect="1"/>
          </p:cNvGraphicFramePr>
          <p:nvPr/>
        </p:nvGraphicFramePr>
        <p:xfrm>
          <a:off x="1322323" y="1619001"/>
          <a:ext cx="274205" cy="354235"/>
        </p:xfrm>
        <a:graphic>
          <a:graphicData uri="http://schemas.openxmlformats.org/presentationml/2006/ole">
            <mc:AlternateContent xmlns:mc="http://schemas.openxmlformats.org/markup-compatibility/2006">
              <mc:Choice xmlns:v="urn:schemas-microsoft-com:vml" Requires="v">
                <p:oleObj spid="_x0000_s5122" name="Equation" r:id="rId4" imgW="164880" imgH="228600" progId="Equation.DSMT4">
                  <p:embed/>
                </p:oleObj>
              </mc:Choice>
              <mc:Fallback>
                <p:oleObj name="Equation" r:id="rId4" imgW="164880" imgH="228600" progId="Equation.DSMT4">
                  <p:embed/>
                  <p:pic>
                    <p:nvPicPr>
                      <p:cNvPr id="2" name="Object 1" descr="i subscript 1,&#10;">
                        <a:extLst>
                          <a:ext uri="{FF2B5EF4-FFF2-40B4-BE49-F238E27FC236}">
                            <a16:creationId xmlns:a16="http://schemas.microsoft.com/office/drawing/2014/main" id="{35397F4B-3550-D9BC-640A-5D3F33A55AFB}"/>
                          </a:ext>
                        </a:extLst>
                      </p:cNvPr>
                      <p:cNvPicPr>
                        <a:picLocks noChangeAspect="1" noChangeArrowheads="1"/>
                      </p:cNvPicPr>
                      <p:nvPr/>
                    </p:nvPicPr>
                    <p:blipFill>
                      <a:blip r:embed="rId5"/>
                      <a:srcRect/>
                      <a:stretch>
                        <a:fillRect/>
                      </a:stretch>
                    </p:blipFill>
                    <p:spPr bwMode="auto">
                      <a:xfrm>
                        <a:off x="1322323" y="1619001"/>
                        <a:ext cx="274205" cy="354235"/>
                      </a:xfrm>
                      <a:prstGeom prst="rect">
                        <a:avLst/>
                      </a:prstGeom>
                      <a:noFill/>
                      <a:ln>
                        <a:noFill/>
                      </a:ln>
                      <a:effec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636898" y="1586574"/>
            <a:ext cx="1372721" cy="344128"/>
          </a:xfrm>
        </p:spPr>
        <p:txBody>
          <a:bodyPr wrap="square" lIns="0" tIns="18000" rIns="0" bIns="18000" anchor="ctr">
            <a:spAutoFit/>
          </a:bodyPr>
          <a:lstStyle/>
          <a:p>
            <a:pPr marL="0" indent="0">
              <a:spcBef>
                <a:spcPts val="600"/>
              </a:spcBef>
              <a:buNone/>
            </a:pPr>
            <a:r>
              <a:rPr lang="en-US" sz="2000" i="1" noProof="0" dirty="0"/>
              <a:t>v</a:t>
            </a:r>
            <a:r>
              <a:rPr lang="en-US" sz="2000" noProof="0" dirty="0"/>
              <a:t>, and show</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780179" y="2018546"/>
            <a:ext cx="1632697" cy="728849"/>
          </a:xfrm>
        </p:spPr>
        <p:txBody>
          <a:bodyPr wrap="square" lIns="0" tIns="18000" rIns="0" bIns="18000" anchor="ctr">
            <a:spAutoFit/>
          </a:bodyPr>
          <a:lstStyle/>
          <a:p>
            <a:pPr marL="0" indent="0">
              <a:spcBef>
                <a:spcPts val="600"/>
              </a:spcBef>
              <a:buNone/>
            </a:pPr>
            <a:r>
              <a:rPr lang="en-US" sz="2000" noProof="0" dirty="0"/>
              <a:t>that the power</a:t>
            </a:r>
          </a:p>
          <a:p>
            <a:pPr marL="0" indent="0">
              <a:spcBef>
                <a:spcPts val="600"/>
              </a:spcBef>
              <a:buNone/>
            </a:pPr>
            <a:r>
              <a:rPr lang="en-US" sz="2000" noProof="0" dirty="0"/>
              <a:t>balances.</a:t>
            </a:r>
          </a:p>
        </p:txBody>
      </p:sp>
      <p:pic>
        <p:nvPicPr>
          <p:cNvPr id="3" name="Picture 5" descr="A circuit diagram shows an ideal independent voltage source 5 V connected to a 54 kilo ohm resistor in series with a current of I sub 1 supplied across it, which in turn is connected to a 6 kilo ohm resistor with a current I sub 6 across it through an ideal independent voltage source of 1 V. The ideal independent voltage source is connected to an ideal, dependent, current source of 30 I sub 1 across it, which in turn is connected to a 1.8 kilo ohm. The resistor is connected to an ideal independent voltage source 8 V.">
            <a:extLst>
              <a:ext uri="{FF2B5EF4-FFF2-40B4-BE49-F238E27FC236}">
                <a16:creationId xmlns:a16="http://schemas.microsoft.com/office/drawing/2014/main" id="{5B02EF43-A29D-3A2B-D975-8904B92B9AE7}"/>
              </a:ext>
            </a:extLst>
          </p:cNvPr>
          <p:cNvPicPr>
            <a:picLocks noChangeAspect="1" noChangeArrowheads="1"/>
          </p:cNvPicPr>
          <p:nvPr/>
        </p:nvPicPr>
        <p:blipFill>
          <a:blip r:embed="rId6"/>
          <a:stretch>
            <a:fillRect/>
          </a:stretch>
        </p:blipFill>
        <p:spPr bwMode="auto">
          <a:xfrm>
            <a:off x="3626097" y="1178517"/>
            <a:ext cx="4470965" cy="157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017339" y="3099698"/>
            <a:ext cx="972235" cy="344128"/>
          </a:xfrm>
        </p:spPr>
        <p:txBody>
          <a:bodyPr wrap="square" lIns="0" tIns="18000" rIns="0" bIns="18000" anchor="ctr">
            <a:spAutoFit/>
          </a:bodyPr>
          <a:lstStyle/>
          <a:p>
            <a:pPr marL="0" indent="0">
              <a:spcBef>
                <a:spcPts val="600"/>
              </a:spcBef>
              <a:buNone/>
            </a:pPr>
            <a:r>
              <a:rPr lang="en-US" sz="2000" spc="-250" noProof="0" dirty="0"/>
              <a:t>K V </a:t>
            </a:r>
            <a:r>
              <a:rPr lang="en-US" sz="2000" noProof="0" dirty="0"/>
              <a:t>L left:</a:t>
            </a:r>
          </a:p>
        </p:txBody>
      </p:sp>
      <p:graphicFrame>
        <p:nvGraphicFramePr>
          <p:cNvPr id="4" name="Object 3" descr="Negative 5 plus 54,000 i subscript 1 Baseline minus 1 plus 6000 i subscript 6 Baseline equals 0.&#10;">
            <a:extLst>
              <a:ext uri="{FF2B5EF4-FFF2-40B4-BE49-F238E27FC236}">
                <a16:creationId xmlns:a16="http://schemas.microsoft.com/office/drawing/2014/main" id="{5C938F0D-FCAE-A1C9-8983-345A2BF319DD}"/>
              </a:ext>
            </a:extLst>
          </p:cNvPr>
          <p:cNvGraphicFramePr>
            <a:graphicFrameLocks noChangeAspect="1"/>
          </p:cNvGraphicFramePr>
          <p:nvPr/>
        </p:nvGraphicFramePr>
        <p:xfrm>
          <a:off x="2073183" y="3118410"/>
          <a:ext cx="3300412" cy="387350"/>
        </p:xfrm>
        <a:graphic>
          <a:graphicData uri="http://schemas.openxmlformats.org/presentationml/2006/ole">
            <mc:AlternateContent xmlns:mc="http://schemas.openxmlformats.org/markup-compatibility/2006">
              <mc:Choice xmlns:v="urn:schemas-microsoft-com:vml" Requires="v">
                <p:oleObj spid="_x0000_s5123" name="Equation" r:id="rId7" imgW="1942920" imgH="228600" progId="Equation.DSMT4">
                  <p:embed/>
                </p:oleObj>
              </mc:Choice>
              <mc:Fallback>
                <p:oleObj name="Equation" r:id="rId7" imgW="1942920" imgH="228600" progId="Equation.DSMT4">
                  <p:embed/>
                  <p:pic>
                    <p:nvPicPr>
                      <p:cNvPr id="4" name="Object 3" descr="Negative 5 plus 54,000 i subscript 1 Baseline minus 1 plus 6000 i subscript 6 Baseline equals 0.&#10;">
                        <a:extLst>
                          <a:ext uri="{FF2B5EF4-FFF2-40B4-BE49-F238E27FC236}">
                            <a16:creationId xmlns:a16="http://schemas.microsoft.com/office/drawing/2014/main" id="{5C938F0D-FCAE-A1C9-8983-345A2BF319DD}"/>
                          </a:ext>
                        </a:extLst>
                      </p:cNvPr>
                      <p:cNvPicPr>
                        <a:picLocks noChangeAspect="1" noChangeArrowheads="1"/>
                      </p:cNvPicPr>
                      <p:nvPr/>
                    </p:nvPicPr>
                    <p:blipFill>
                      <a:blip r:embed="rId8"/>
                      <a:srcRect/>
                      <a:stretch>
                        <a:fillRect/>
                      </a:stretch>
                    </p:blipFill>
                    <p:spPr bwMode="auto">
                      <a:xfrm>
                        <a:off x="2073183" y="3118410"/>
                        <a:ext cx="3300412"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017339" y="3597785"/>
            <a:ext cx="1050800" cy="344128"/>
          </a:xfrm>
        </p:spPr>
        <p:txBody>
          <a:bodyPr wrap="square" lIns="0" tIns="18000" rIns="0" bIns="18000" anchor="ctr">
            <a:spAutoFit/>
          </a:bodyPr>
          <a:lstStyle/>
          <a:p>
            <a:pPr marL="0" indent="0">
              <a:spcBef>
                <a:spcPts val="600"/>
              </a:spcBef>
              <a:buNone/>
            </a:pPr>
            <a:r>
              <a:rPr lang="en-US" sz="2000" spc="-250" noProof="0" dirty="0"/>
              <a:t>K C </a:t>
            </a:r>
            <a:r>
              <a:rPr lang="en-US" sz="2000" noProof="0" dirty="0"/>
              <a:t>L top:</a:t>
            </a:r>
          </a:p>
        </p:txBody>
      </p:sp>
      <p:graphicFrame>
        <p:nvGraphicFramePr>
          <p:cNvPr id="27" name="Object 26" descr="i subscript 1 Baseline plus 30 i subscript 1 Baseline equals i subscript 6 Baseline equals 31 i subscript 1 Baseline.&#10;">
            <a:extLst>
              <a:ext uri="{FF2B5EF4-FFF2-40B4-BE49-F238E27FC236}">
                <a16:creationId xmlns:a16="http://schemas.microsoft.com/office/drawing/2014/main" id="{B5AD4496-0E84-F970-9990-81B1E6904137}"/>
              </a:ext>
            </a:extLst>
          </p:cNvPr>
          <p:cNvGraphicFramePr>
            <a:graphicFrameLocks noChangeAspect="1"/>
          </p:cNvGraphicFramePr>
          <p:nvPr/>
        </p:nvGraphicFramePr>
        <p:xfrm>
          <a:off x="2106165" y="3625160"/>
          <a:ext cx="2006600" cy="388938"/>
        </p:xfrm>
        <a:graphic>
          <a:graphicData uri="http://schemas.openxmlformats.org/presentationml/2006/ole">
            <mc:AlternateContent xmlns:mc="http://schemas.openxmlformats.org/markup-compatibility/2006">
              <mc:Choice xmlns:v="urn:schemas-microsoft-com:vml" Requires="v">
                <p:oleObj spid="_x0000_s5124" name="Equation" r:id="rId9" imgW="1180800" imgH="228600" progId="Equation.DSMT4">
                  <p:embed/>
                </p:oleObj>
              </mc:Choice>
              <mc:Fallback>
                <p:oleObj name="Equation" r:id="rId9" imgW="1180800" imgH="228600" progId="Equation.DSMT4">
                  <p:embed/>
                  <p:pic>
                    <p:nvPicPr>
                      <p:cNvPr id="27" name="Object 26" descr="i subscript 1 Baseline plus 30 i subscript 1 Baseline equals i subscript 6 Baseline equals 31 i subscript 1 Baseline.&#10;">
                        <a:extLst>
                          <a:ext uri="{FF2B5EF4-FFF2-40B4-BE49-F238E27FC236}">
                            <a16:creationId xmlns:a16="http://schemas.microsoft.com/office/drawing/2014/main" id="{B5AD4496-0E84-F970-9990-81B1E6904137}"/>
                          </a:ext>
                        </a:extLst>
                      </p:cNvPr>
                      <p:cNvPicPr>
                        <a:picLocks noChangeAspect="1" noChangeArrowheads="1"/>
                      </p:cNvPicPr>
                      <p:nvPr/>
                    </p:nvPicPr>
                    <p:blipFill>
                      <a:blip r:embed="rId10"/>
                      <a:srcRect/>
                      <a:stretch>
                        <a:fillRect/>
                      </a:stretch>
                    </p:blipFill>
                    <p:spPr bwMode="auto">
                      <a:xfrm>
                        <a:off x="2106165" y="3625160"/>
                        <a:ext cx="2006600"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7" descr="Forward arrow, negative 5 plus 54,000 i subscript 1 Baseline minus 1 plus 6000 OpenParenthesis 31 i subscript 1 Baseline CloseParenthesis equals 0.&#10;">
            <a:extLst>
              <a:ext uri="{FF2B5EF4-FFF2-40B4-BE49-F238E27FC236}">
                <a16:creationId xmlns:a16="http://schemas.microsoft.com/office/drawing/2014/main" id="{DD0D0DD1-B63F-3C27-B4F1-0B3CD7D23F2E}"/>
              </a:ext>
            </a:extLst>
          </p:cNvPr>
          <p:cNvGraphicFramePr>
            <a:graphicFrameLocks noChangeAspect="1"/>
          </p:cNvGraphicFramePr>
          <p:nvPr/>
        </p:nvGraphicFramePr>
        <p:xfrm>
          <a:off x="1017339" y="4107383"/>
          <a:ext cx="4574886" cy="388216"/>
        </p:xfrm>
        <a:graphic>
          <a:graphicData uri="http://schemas.openxmlformats.org/presentationml/2006/ole">
            <mc:AlternateContent xmlns:mc="http://schemas.openxmlformats.org/markup-compatibility/2006">
              <mc:Choice xmlns:v="urn:schemas-microsoft-com:vml" Requires="v">
                <p:oleObj spid="_x0000_s5125" name="Equation" r:id="rId11" imgW="2692080" imgH="228600" progId="Equation.DSMT4">
                  <p:embed/>
                </p:oleObj>
              </mc:Choice>
              <mc:Fallback>
                <p:oleObj name="Equation" r:id="rId11" imgW="2692080" imgH="228600" progId="Equation.DSMT4">
                  <p:embed/>
                  <p:pic>
                    <p:nvPicPr>
                      <p:cNvPr id="28" name="Object 27" descr="Forward arrow, negative 5 plus 54,000 i subscript 1 Baseline minus 1 plus 6000 OpenParenthesis 31 i subscript 1 Baseline CloseParenthesis equals 0.&#10;">
                        <a:extLst>
                          <a:ext uri="{FF2B5EF4-FFF2-40B4-BE49-F238E27FC236}">
                            <a16:creationId xmlns:a16="http://schemas.microsoft.com/office/drawing/2014/main" id="{DD0D0DD1-B63F-3C27-B4F1-0B3CD7D23F2E}"/>
                          </a:ext>
                        </a:extLst>
                      </p:cNvPr>
                      <p:cNvPicPr>
                        <a:picLocks noChangeAspect="1" noChangeArrowheads="1"/>
                      </p:cNvPicPr>
                      <p:nvPr/>
                    </p:nvPicPr>
                    <p:blipFill>
                      <a:blip r:embed="rId12"/>
                      <a:srcRect/>
                      <a:stretch>
                        <a:fillRect/>
                      </a:stretch>
                    </p:blipFill>
                    <p:spPr bwMode="auto">
                      <a:xfrm>
                        <a:off x="1017339" y="4107383"/>
                        <a:ext cx="4574886" cy="388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8" descr="Forward arrow, OpenSquareBracket 54,000 plus OpenParenthesis 6000 CloseParenthesis multiplied by OpenParenthesis 31 CloseParenthesis CloseSquareBracket i subscript 1 Baseline equals 6, therefore, i subscript 1 Baseline equals 25 micro Amperes.&#10;">
            <a:extLst>
              <a:ext uri="{FF2B5EF4-FFF2-40B4-BE49-F238E27FC236}">
                <a16:creationId xmlns:a16="http://schemas.microsoft.com/office/drawing/2014/main" id="{539232E3-8D56-12E5-BDBF-270CE5D154E2}"/>
              </a:ext>
            </a:extLst>
          </p:cNvPr>
          <p:cNvGraphicFramePr>
            <a:graphicFrameLocks noChangeAspect="1"/>
          </p:cNvGraphicFramePr>
          <p:nvPr/>
        </p:nvGraphicFramePr>
        <p:xfrm>
          <a:off x="1017339" y="4579647"/>
          <a:ext cx="5866534" cy="389659"/>
        </p:xfrm>
        <a:graphic>
          <a:graphicData uri="http://schemas.openxmlformats.org/presentationml/2006/ole">
            <mc:AlternateContent xmlns:mc="http://schemas.openxmlformats.org/markup-compatibility/2006">
              <mc:Choice xmlns:v="urn:schemas-microsoft-com:vml" Requires="v">
                <p:oleObj spid="_x0000_s5126" name="Equation" r:id="rId13" imgW="3454200" imgH="228600" progId="Equation.DSMT4">
                  <p:embed/>
                </p:oleObj>
              </mc:Choice>
              <mc:Fallback>
                <p:oleObj name="Equation" r:id="rId13" imgW="3454200" imgH="228600" progId="Equation.DSMT4">
                  <p:embed/>
                  <p:pic>
                    <p:nvPicPr>
                      <p:cNvPr id="29" name="Object 28" descr="Forward arrow, OpenSquareBracket 54,000 plus OpenParenthesis 6000 CloseParenthesis multiplied by OpenParenthesis 31 CloseParenthesis CloseSquareBracket i subscript 1 Baseline equals 6, therefore, i subscript 1 Baseline equals 25 micro Amperes.&#10;">
                        <a:extLst>
                          <a:ext uri="{FF2B5EF4-FFF2-40B4-BE49-F238E27FC236}">
                            <a16:creationId xmlns:a16="http://schemas.microsoft.com/office/drawing/2014/main" id="{539232E3-8D56-12E5-BDBF-270CE5D154E2}"/>
                          </a:ext>
                        </a:extLst>
                      </p:cNvPr>
                      <p:cNvPicPr>
                        <a:picLocks noChangeAspect="1" noChangeArrowheads="1"/>
                      </p:cNvPicPr>
                      <p:nvPr/>
                    </p:nvPicPr>
                    <p:blipFill>
                      <a:blip r:embed="rId14"/>
                      <a:srcRect/>
                      <a:stretch>
                        <a:fillRect/>
                      </a:stretch>
                    </p:blipFill>
                    <p:spPr bwMode="auto">
                      <a:xfrm>
                        <a:off x="1017339" y="4579647"/>
                        <a:ext cx="5866534" cy="3896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1017339" y="5080880"/>
            <a:ext cx="1183250" cy="344128"/>
          </a:xfrm>
        </p:spPr>
        <p:txBody>
          <a:bodyPr wrap="square" lIns="0" tIns="18000" rIns="0" bIns="18000" anchor="ctr">
            <a:spAutoFit/>
          </a:bodyPr>
          <a:lstStyle/>
          <a:p>
            <a:pPr marL="0" indent="0">
              <a:spcBef>
                <a:spcPts val="600"/>
              </a:spcBef>
              <a:buNone/>
            </a:pPr>
            <a:r>
              <a:rPr lang="en-US" sz="2000" spc="-250" noProof="0" dirty="0"/>
              <a:t>K V </a:t>
            </a:r>
            <a:r>
              <a:rPr lang="en-US" sz="2000" noProof="0" dirty="0"/>
              <a:t>L right:</a:t>
            </a:r>
          </a:p>
        </p:txBody>
      </p:sp>
      <p:graphicFrame>
        <p:nvGraphicFramePr>
          <p:cNvPr id="30" name="Object 29" descr="Negative v plus OpenParenthesis 6000 CloseParenthesis multiplied by OpenParenthesis 31 i subscript 1 CloseParenthesis minus 8 plus 1800 OpenParenthesis 30 i subscript 1 CloseParenthesis equals 0.&#10;">
            <a:extLst>
              <a:ext uri="{FF2B5EF4-FFF2-40B4-BE49-F238E27FC236}">
                <a16:creationId xmlns:a16="http://schemas.microsoft.com/office/drawing/2014/main" id="{BA6FCD7D-F316-925F-938A-D9E91DDF195F}"/>
              </a:ext>
            </a:extLst>
          </p:cNvPr>
          <p:cNvGraphicFramePr>
            <a:graphicFrameLocks noChangeAspect="1"/>
          </p:cNvGraphicFramePr>
          <p:nvPr/>
        </p:nvGraphicFramePr>
        <p:xfrm>
          <a:off x="2293114" y="5095675"/>
          <a:ext cx="4141788" cy="388938"/>
        </p:xfrm>
        <a:graphic>
          <a:graphicData uri="http://schemas.openxmlformats.org/presentationml/2006/ole">
            <mc:AlternateContent xmlns:mc="http://schemas.openxmlformats.org/markup-compatibility/2006">
              <mc:Choice xmlns:v="urn:schemas-microsoft-com:vml" Requires="v">
                <p:oleObj spid="_x0000_s5127" name="Equation" r:id="rId15" imgW="2438280" imgH="228600" progId="Equation.DSMT4">
                  <p:embed/>
                </p:oleObj>
              </mc:Choice>
              <mc:Fallback>
                <p:oleObj name="Equation" r:id="rId15" imgW="2438280" imgH="228600" progId="Equation.DSMT4">
                  <p:embed/>
                  <p:pic>
                    <p:nvPicPr>
                      <p:cNvPr id="30" name="Object 29" descr="Negative v plus OpenParenthesis 6000 CloseParenthesis multiplied by OpenParenthesis 31 i subscript 1 CloseParenthesis minus 8 plus 1800 OpenParenthesis 30 i subscript 1 CloseParenthesis equals 0.&#10;">
                        <a:extLst>
                          <a:ext uri="{FF2B5EF4-FFF2-40B4-BE49-F238E27FC236}">
                            <a16:creationId xmlns:a16="http://schemas.microsoft.com/office/drawing/2014/main" id="{BA6FCD7D-F316-925F-938A-D9E91DDF195F}"/>
                          </a:ext>
                        </a:extLst>
                      </p:cNvPr>
                      <p:cNvPicPr>
                        <a:picLocks noChangeAspect="1" noChangeArrowheads="1"/>
                      </p:cNvPicPr>
                      <p:nvPr/>
                    </p:nvPicPr>
                    <p:blipFill>
                      <a:blip r:embed="rId16"/>
                      <a:srcRect/>
                      <a:stretch>
                        <a:fillRect/>
                      </a:stretch>
                    </p:blipFill>
                    <p:spPr bwMode="auto">
                      <a:xfrm>
                        <a:off x="2293114" y="5095675"/>
                        <a:ext cx="4141788"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30" descr="The figure illustrates the calculation of voltage to obtain an output of negative 2 volts.&#10;Long description is available in notes, Press F6.">
            <a:extLst>
              <a:ext uri="{FF2B5EF4-FFF2-40B4-BE49-F238E27FC236}">
                <a16:creationId xmlns:a16="http://schemas.microsoft.com/office/drawing/2014/main" id="{14D2554E-B718-CEBC-D203-654484AFF38A}"/>
              </a:ext>
            </a:extLst>
          </p:cNvPr>
          <p:cNvGraphicFramePr>
            <a:graphicFrameLocks noChangeAspect="1"/>
          </p:cNvGraphicFramePr>
          <p:nvPr/>
        </p:nvGraphicFramePr>
        <p:xfrm>
          <a:off x="1017339" y="5589101"/>
          <a:ext cx="6449579" cy="366568"/>
        </p:xfrm>
        <a:graphic>
          <a:graphicData uri="http://schemas.openxmlformats.org/presentationml/2006/ole">
            <mc:AlternateContent xmlns:mc="http://schemas.openxmlformats.org/markup-compatibility/2006">
              <mc:Choice xmlns:v="urn:schemas-microsoft-com:vml" Requires="v">
                <p:oleObj spid="_x0000_s5128" name="Equation" r:id="rId17" imgW="3797280" imgH="215640" progId="Equation.DSMT4">
                  <p:embed/>
                </p:oleObj>
              </mc:Choice>
              <mc:Fallback>
                <p:oleObj name="Equation" r:id="rId17" imgW="3797280" imgH="215640" progId="Equation.DSMT4">
                  <p:embed/>
                  <p:pic>
                    <p:nvPicPr>
                      <p:cNvPr id="31" name="Object 30" descr="The figure illustrates the calculation of voltage to obtain an output of negative 2 volts.&#10;Long description is available in notes, Press F6.">
                        <a:extLst>
                          <a:ext uri="{FF2B5EF4-FFF2-40B4-BE49-F238E27FC236}">
                            <a16:creationId xmlns:a16="http://schemas.microsoft.com/office/drawing/2014/main" id="{14D2554E-B718-CEBC-D203-654484AFF38A}"/>
                          </a:ext>
                        </a:extLst>
                      </p:cNvPr>
                      <p:cNvPicPr>
                        <a:picLocks noChangeAspect="1" noChangeArrowheads="1"/>
                      </p:cNvPicPr>
                      <p:nvPr/>
                    </p:nvPicPr>
                    <p:blipFill>
                      <a:blip r:embed="rId18"/>
                      <a:srcRect/>
                      <a:stretch>
                        <a:fillRect/>
                      </a:stretch>
                    </p:blipFill>
                    <p:spPr bwMode="auto">
                      <a:xfrm>
                        <a:off x="1017339" y="5589101"/>
                        <a:ext cx="6449579" cy="3665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43257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6319"/>
            <a:ext cx="8229600" cy="590349"/>
          </a:xfrm>
        </p:spPr>
        <p:txBody>
          <a:bodyPr anchor="ctr"/>
          <a:lstStyle/>
          <a:p>
            <a:r>
              <a:rPr lang="en-US" noProof="0" dirty="0"/>
              <a:t>Chapter 2 – Circuit Elements </a:t>
            </a:r>
            <a:r>
              <a:rPr lang="en-US" sz="2800" noProof="0" dirty="0"/>
              <a:t>(9 of 9)</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79035"/>
            <a:ext cx="2486025" cy="728849"/>
          </a:xfrm>
        </p:spPr>
        <p:txBody>
          <a:bodyPr wrap="square" lIns="0" tIns="18000" rIns="0" bIns="18000" anchor="ctr">
            <a:spAutoFit/>
          </a:bodyPr>
          <a:lstStyle/>
          <a:p>
            <a:pPr marL="0" indent="0">
              <a:spcBef>
                <a:spcPts val="600"/>
              </a:spcBef>
              <a:buNone/>
            </a:pPr>
            <a:r>
              <a:rPr lang="en-US" sz="2000" noProof="0" dirty="0"/>
              <a:t>Example:(continued)</a:t>
            </a:r>
          </a:p>
          <a:p>
            <a:pPr marL="342900" indent="-342900">
              <a:spcBef>
                <a:spcPts val="600"/>
              </a:spcBef>
            </a:pPr>
            <a:r>
              <a:rPr lang="en-US" sz="2000" noProof="0" dirty="0"/>
              <a:t>Power balance:</a:t>
            </a:r>
          </a:p>
        </p:txBody>
      </p:sp>
      <p:pic>
        <p:nvPicPr>
          <p:cNvPr id="2" name="Picture 5" descr="A circuit diagram shows an ideal independent voltage source 5 V connected to a 54 kilo ohm resistor in series with a current of 25 mu A supplied across it, which in turn is connected to a 6 kilo ohm resistor with a current 775 mu A across it through an ideal independent voltage source of 1 V. The ideal independent voltage source is connected to an ideal, dependent, current source of 2 V and 30 I sub 1 across it, which in turn is connected to a 1.8 kilo ohm. The resistor is connected to an ideal independent voltage source 8 V with 750 mu A across it.">
            <a:extLst>
              <a:ext uri="{FF2B5EF4-FFF2-40B4-BE49-F238E27FC236}">
                <a16:creationId xmlns:a16="http://schemas.microsoft.com/office/drawing/2014/main" id="{69E3377D-F2CE-CDFB-8408-8A744A50AACB}"/>
              </a:ext>
            </a:extLst>
          </p:cNvPr>
          <p:cNvPicPr>
            <a:picLocks noChangeAspect="1" noChangeArrowheads="1"/>
          </p:cNvPicPr>
          <p:nvPr/>
        </p:nvPicPr>
        <p:blipFill>
          <a:blip r:embed="rId3"/>
          <a:stretch>
            <a:fillRect/>
          </a:stretch>
        </p:blipFill>
        <p:spPr bwMode="auto">
          <a:xfrm>
            <a:off x="3153256" y="1062344"/>
            <a:ext cx="5298205" cy="1936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2" descr="p subscript 5 Volts Baseline equals negative OpenParenthesis 5 CloseParenthesis multiplied by OpenParenthesis 25 mu CloseParenthesis equals negative 120 micro Watts.&#10;">
            <a:extLst>
              <a:ext uri="{FF2B5EF4-FFF2-40B4-BE49-F238E27FC236}">
                <a16:creationId xmlns:a16="http://schemas.microsoft.com/office/drawing/2014/main" id="{10F12441-8BCA-9103-6CD9-5408358308B8}"/>
              </a:ext>
            </a:extLst>
          </p:cNvPr>
          <p:cNvGraphicFramePr>
            <a:graphicFrameLocks noChangeAspect="1"/>
          </p:cNvGraphicFramePr>
          <p:nvPr/>
        </p:nvGraphicFramePr>
        <p:xfrm>
          <a:off x="404195" y="3280094"/>
          <a:ext cx="2984500" cy="370897"/>
        </p:xfrm>
        <a:graphic>
          <a:graphicData uri="http://schemas.openxmlformats.org/presentationml/2006/ole">
            <mc:AlternateContent xmlns:mc="http://schemas.openxmlformats.org/markup-compatibility/2006">
              <mc:Choice xmlns:v="urn:schemas-microsoft-com:vml" Requires="v">
                <p:oleObj spid="_x0000_s6146" name="Equation" r:id="rId4" imgW="1841400" imgH="228600" progId="Equation.DSMT4">
                  <p:embed/>
                </p:oleObj>
              </mc:Choice>
              <mc:Fallback>
                <p:oleObj name="Equation" r:id="rId4" imgW="1841400" imgH="228600" progId="Equation.DSMT4">
                  <p:embed/>
                  <p:pic>
                    <p:nvPicPr>
                      <p:cNvPr id="3" name="Object 2" descr="p subscript 5 Volts Baseline equals negative OpenParenthesis 5 CloseParenthesis multiplied by OpenParenthesis 25 mu CloseParenthesis equals negative 120 micro Watts.&#10;">
                        <a:extLst>
                          <a:ext uri="{FF2B5EF4-FFF2-40B4-BE49-F238E27FC236}">
                            <a16:creationId xmlns:a16="http://schemas.microsoft.com/office/drawing/2014/main" id="{10F12441-8BCA-9103-6CD9-5408358308B8}"/>
                          </a:ext>
                        </a:extLst>
                      </p:cNvPr>
                      <p:cNvPicPr>
                        <a:picLocks noChangeAspect="1" noChangeArrowheads="1"/>
                      </p:cNvPicPr>
                      <p:nvPr/>
                    </p:nvPicPr>
                    <p:blipFill>
                      <a:blip r:embed="rId5"/>
                      <a:srcRect/>
                      <a:stretch>
                        <a:fillRect/>
                      </a:stretch>
                    </p:blipFill>
                    <p:spPr bwMode="auto">
                      <a:xfrm>
                        <a:off x="404195" y="3280094"/>
                        <a:ext cx="2984500" cy="370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3" descr="p subscript d.s. Baseline equals OpenParenthesis 2 CloseParenthesis multiplied by OpenParenthesis 750 mu CloseParenthesis equals 1500 micro Watts.&#10;">
            <a:extLst>
              <a:ext uri="{FF2B5EF4-FFF2-40B4-BE49-F238E27FC236}">
                <a16:creationId xmlns:a16="http://schemas.microsoft.com/office/drawing/2014/main" id="{D5C257DD-EDFE-25DF-7BFE-E51072C773F5}"/>
              </a:ext>
            </a:extLst>
          </p:cNvPr>
          <p:cNvGraphicFramePr>
            <a:graphicFrameLocks noChangeAspect="1"/>
          </p:cNvGraphicFramePr>
          <p:nvPr/>
        </p:nvGraphicFramePr>
        <p:xfrm>
          <a:off x="4025631" y="3279227"/>
          <a:ext cx="3023466" cy="369455"/>
        </p:xfrm>
        <a:graphic>
          <a:graphicData uri="http://schemas.openxmlformats.org/presentationml/2006/ole">
            <mc:AlternateContent xmlns:mc="http://schemas.openxmlformats.org/markup-compatibility/2006">
              <mc:Choice xmlns:v="urn:schemas-microsoft-com:vml" Requires="v">
                <p:oleObj spid="_x0000_s6147" name="Equation" r:id="rId6" imgW="1866600" imgH="228600" progId="Equation.DSMT4">
                  <p:embed/>
                </p:oleObj>
              </mc:Choice>
              <mc:Fallback>
                <p:oleObj name="Equation" r:id="rId6" imgW="1866600" imgH="228600" progId="Equation.DSMT4">
                  <p:embed/>
                  <p:pic>
                    <p:nvPicPr>
                      <p:cNvPr id="4" name="Object 3" descr="p subscript d.s. Baseline equals OpenParenthesis 2 CloseParenthesis multiplied by OpenParenthesis 750 mu CloseParenthesis equals 1500 micro Watts.&#10;">
                        <a:extLst>
                          <a:ext uri="{FF2B5EF4-FFF2-40B4-BE49-F238E27FC236}">
                            <a16:creationId xmlns:a16="http://schemas.microsoft.com/office/drawing/2014/main" id="{D5C257DD-EDFE-25DF-7BFE-E51072C773F5}"/>
                          </a:ext>
                        </a:extLst>
                      </p:cNvPr>
                      <p:cNvPicPr>
                        <a:picLocks noChangeAspect="1" noChangeArrowheads="1"/>
                      </p:cNvPicPr>
                      <p:nvPr/>
                    </p:nvPicPr>
                    <p:blipFill>
                      <a:blip r:embed="rId7"/>
                      <a:srcRect/>
                      <a:stretch>
                        <a:fillRect/>
                      </a:stretch>
                    </p:blipFill>
                    <p:spPr bwMode="auto">
                      <a:xfrm>
                        <a:off x="4025631" y="3279227"/>
                        <a:ext cx="3023466" cy="369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 descr="p subscript 54 k Baseline equals OpenParenthesis 55,000 CloseParenthesis multiplied by OpenParenthesis 25 mu CloseParenthesis squared equals 33.75 micro Watts.&#10;">
            <a:extLst>
              <a:ext uri="{FF2B5EF4-FFF2-40B4-BE49-F238E27FC236}">
                <a16:creationId xmlns:a16="http://schemas.microsoft.com/office/drawing/2014/main" id="{67587446-D85C-B23F-822D-469788C91349}"/>
              </a:ext>
            </a:extLst>
          </p:cNvPr>
          <p:cNvGraphicFramePr>
            <a:graphicFrameLocks noChangeAspect="1"/>
          </p:cNvGraphicFramePr>
          <p:nvPr/>
        </p:nvGraphicFramePr>
        <p:xfrm>
          <a:off x="404195" y="3742020"/>
          <a:ext cx="3366550" cy="355548"/>
        </p:xfrm>
        <a:graphic>
          <a:graphicData uri="http://schemas.openxmlformats.org/presentationml/2006/ole">
            <mc:AlternateContent xmlns:mc="http://schemas.openxmlformats.org/markup-compatibility/2006">
              <mc:Choice xmlns:v="urn:schemas-microsoft-com:vml" Requires="v">
                <p:oleObj spid="_x0000_s6148" name="Equation" r:id="rId8" imgW="2286000" imgH="241200" progId="Equation.DSMT4">
                  <p:embed/>
                </p:oleObj>
              </mc:Choice>
              <mc:Fallback>
                <p:oleObj name="Equation" r:id="rId8" imgW="2286000" imgH="241200" progId="Equation.DSMT4">
                  <p:embed/>
                  <p:pic>
                    <p:nvPicPr>
                      <p:cNvPr id="5" name="Object 4" descr="p subscript 54 k Baseline equals OpenParenthesis 55,000 CloseParenthesis multiplied by OpenParenthesis 25 mu CloseParenthesis squared equals 33.75 micro Watts.&#10;">
                        <a:extLst>
                          <a:ext uri="{FF2B5EF4-FFF2-40B4-BE49-F238E27FC236}">
                            <a16:creationId xmlns:a16="http://schemas.microsoft.com/office/drawing/2014/main" id="{67587446-D85C-B23F-822D-469788C91349}"/>
                          </a:ext>
                        </a:extLst>
                      </p:cNvPr>
                      <p:cNvPicPr>
                        <a:picLocks noChangeAspect="1" noChangeArrowheads="1"/>
                      </p:cNvPicPr>
                      <p:nvPr/>
                    </p:nvPicPr>
                    <p:blipFill>
                      <a:blip r:embed="rId9"/>
                      <a:srcRect/>
                      <a:stretch>
                        <a:fillRect/>
                      </a:stretch>
                    </p:blipFill>
                    <p:spPr bwMode="auto">
                      <a:xfrm>
                        <a:off x="404195" y="3742020"/>
                        <a:ext cx="3366550" cy="3555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4" descr="p subscript 1.8 k Baseline equals OpenParenthesis 1800 CloseParenthesis multiplied by OpenParenthesis 750 mu CloseParenthesis squared equals 1012.5 microWatts.&#10;">
            <a:extLst>
              <a:ext uri="{FF2B5EF4-FFF2-40B4-BE49-F238E27FC236}">
                <a16:creationId xmlns:a16="http://schemas.microsoft.com/office/drawing/2014/main" id="{7850A86B-1237-02B9-3D8B-EB1083298001}"/>
              </a:ext>
            </a:extLst>
          </p:cNvPr>
          <p:cNvGraphicFramePr>
            <a:graphicFrameLocks noChangeAspect="1"/>
          </p:cNvGraphicFramePr>
          <p:nvPr/>
        </p:nvGraphicFramePr>
        <p:xfrm>
          <a:off x="4375255" y="3706465"/>
          <a:ext cx="3785466" cy="391103"/>
        </p:xfrm>
        <a:graphic>
          <a:graphicData uri="http://schemas.openxmlformats.org/presentationml/2006/ole">
            <mc:AlternateContent xmlns:mc="http://schemas.openxmlformats.org/markup-compatibility/2006">
              <mc:Choice xmlns:v="urn:schemas-microsoft-com:vml" Requires="v">
                <p:oleObj spid="_x0000_s6149" name="Equation" r:id="rId10" imgW="2336760" imgH="241200" progId="Equation.DSMT4">
                  <p:embed/>
                </p:oleObj>
              </mc:Choice>
              <mc:Fallback>
                <p:oleObj name="Equation" r:id="rId10" imgW="2336760" imgH="241200" progId="Equation.DSMT4">
                  <p:embed/>
                  <p:pic>
                    <p:nvPicPr>
                      <p:cNvPr id="25" name="Object 24" descr="p subscript 1.8 k Baseline equals OpenParenthesis 1800 CloseParenthesis multiplied by OpenParenthesis 750 mu CloseParenthesis squared equals 1012.5 microWatts.&#10;">
                        <a:extLst>
                          <a:ext uri="{FF2B5EF4-FFF2-40B4-BE49-F238E27FC236}">
                            <a16:creationId xmlns:a16="http://schemas.microsoft.com/office/drawing/2014/main" id="{7850A86B-1237-02B9-3D8B-EB1083298001}"/>
                          </a:ext>
                        </a:extLst>
                      </p:cNvPr>
                      <p:cNvPicPr>
                        <a:picLocks noChangeAspect="1" noChangeArrowheads="1"/>
                      </p:cNvPicPr>
                      <p:nvPr/>
                    </p:nvPicPr>
                    <p:blipFill>
                      <a:blip r:embed="rId11"/>
                      <a:srcRect/>
                      <a:stretch>
                        <a:fillRect/>
                      </a:stretch>
                    </p:blipFill>
                    <p:spPr bwMode="auto">
                      <a:xfrm>
                        <a:off x="4375255" y="3706465"/>
                        <a:ext cx="3785466" cy="3911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5" descr="p subscript 1 Volt Baseline equals negative OpenParenthesis 1 CloseParenthesis multiplied by OpenParenthesis 25 Mu CloseParenthesis equals negative 25 microWatts.&#10;">
            <a:extLst>
              <a:ext uri="{FF2B5EF4-FFF2-40B4-BE49-F238E27FC236}">
                <a16:creationId xmlns:a16="http://schemas.microsoft.com/office/drawing/2014/main" id="{D9EF8856-7B15-BFAE-6D30-CE9A92ADB9C6}"/>
              </a:ext>
            </a:extLst>
          </p:cNvPr>
          <p:cNvGraphicFramePr>
            <a:graphicFrameLocks noChangeAspect="1"/>
          </p:cNvGraphicFramePr>
          <p:nvPr/>
        </p:nvGraphicFramePr>
        <p:xfrm>
          <a:off x="429185" y="4189866"/>
          <a:ext cx="2776682" cy="370897"/>
        </p:xfrm>
        <a:graphic>
          <a:graphicData uri="http://schemas.openxmlformats.org/presentationml/2006/ole">
            <mc:AlternateContent xmlns:mc="http://schemas.openxmlformats.org/markup-compatibility/2006">
              <mc:Choice xmlns:v="urn:schemas-microsoft-com:vml" Requires="v">
                <p:oleObj spid="_x0000_s6150" name="Equation" r:id="rId12" imgW="1714320" imgH="228600" progId="Equation.DSMT4">
                  <p:embed/>
                </p:oleObj>
              </mc:Choice>
              <mc:Fallback>
                <p:oleObj name="Equation" r:id="rId12" imgW="1714320" imgH="228600" progId="Equation.DSMT4">
                  <p:embed/>
                  <p:pic>
                    <p:nvPicPr>
                      <p:cNvPr id="26" name="Object 25" descr="p subscript 1 Volt Baseline equals negative OpenParenthesis 1 CloseParenthesis multiplied by OpenParenthesis 25 Mu CloseParenthesis equals negative 25 microWatts.&#10;">
                        <a:extLst>
                          <a:ext uri="{FF2B5EF4-FFF2-40B4-BE49-F238E27FC236}">
                            <a16:creationId xmlns:a16="http://schemas.microsoft.com/office/drawing/2014/main" id="{D9EF8856-7B15-BFAE-6D30-CE9A92ADB9C6}"/>
                          </a:ext>
                        </a:extLst>
                      </p:cNvPr>
                      <p:cNvPicPr>
                        <a:picLocks noChangeAspect="1" noChangeArrowheads="1"/>
                      </p:cNvPicPr>
                      <p:nvPr/>
                    </p:nvPicPr>
                    <p:blipFill>
                      <a:blip r:embed="rId13"/>
                      <a:srcRect/>
                      <a:stretch>
                        <a:fillRect/>
                      </a:stretch>
                    </p:blipFill>
                    <p:spPr bwMode="auto">
                      <a:xfrm>
                        <a:off x="429185" y="4189866"/>
                        <a:ext cx="2776682" cy="370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6" descr="p subscript 8 Volts Baseline equals negative OpenParenthesis 8 CloseParenthesis multiplied by OpenParenthesis 750 Mu CloseParenthesis equals negative 6000 microWatts.&#10;">
            <a:extLst>
              <a:ext uri="{FF2B5EF4-FFF2-40B4-BE49-F238E27FC236}">
                <a16:creationId xmlns:a16="http://schemas.microsoft.com/office/drawing/2014/main" id="{08A40B54-F89C-9BC6-233E-42E633F24D9F}"/>
              </a:ext>
            </a:extLst>
          </p:cNvPr>
          <p:cNvGraphicFramePr>
            <a:graphicFrameLocks noChangeAspect="1"/>
          </p:cNvGraphicFramePr>
          <p:nvPr/>
        </p:nvGraphicFramePr>
        <p:xfrm>
          <a:off x="3927016" y="4190913"/>
          <a:ext cx="3271694" cy="370897"/>
        </p:xfrm>
        <a:graphic>
          <a:graphicData uri="http://schemas.openxmlformats.org/presentationml/2006/ole">
            <mc:AlternateContent xmlns:mc="http://schemas.openxmlformats.org/markup-compatibility/2006">
              <mc:Choice xmlns:v="urn:schemas-microsoft-com:vml" Requires="v">
                <p:oleObj spid="_x0000_s6151" name="Equation" r:id="rId14" imgW="2019240" imgH="228600" progId="Equation.DSMT4">
                  <p:embed/>
                </p:oleObj>
              </mc:Choice>
              <mc:Fallback>
                <p:oleObj name="Equation" r:id="rId14" imgW="2019240" imgH="228600" progId="Equation.DSMT4">
                  <p:embed/>
                  <p:pic>
                    <p:nvPicPr>
                      <p:cNvPr id="27" name="Object 26" descr="p subscript 8 Volts Baseline equals negative OpenParenthesis 8 CloseParenthesis multiplied by OpenParenthesis 750 Mu CloseParenthesis equals negative 6000 microWatts.&#10;">
                        <a:extLst>
                          <a:ext uri="{FF2B5EF4-FFF2-40B4-BE49-F238E27FC236}">
                            <a16:creationId xmlns:a16="http://schemas.microsoft.com/office/drawing/2014/main" id="{08A40B54-F89C-9BC6-233E-42E633F24D9F}"/>
                          </a:ext>
                        </a:extLst>
                      </p:cNvPr>
                      <p:cNvPicPr>
                        <a:picLocks noChangeAspect="1" noChangeArrowheads="1"/>
                      </p:cNvPicPr>
                      <p:nvPr/>
                    </p:nvPicPr>
                    <p:blipFill>
                      <a:blip r:embed="rId15"/>
                      <a:srcRect/>
                      <a:stretch>
                        <a:fillRect/>
                      </a:stretch>
                    </p:blipFill>
                    <p:spPr bwMode="auto">
                      <a:xfrm>
                        <a:off x="3927016" y="4190913"/>
                        <a:ext cx="3271694" cy="370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7" descr="p subscript 6 k Baseline equals OpenParenthesis 6000 CloseParenthesis multiplied by OpenParenthesis 775 Mu CloseParenthesis squared equals 3603.75 microWatts.&#10;">
            <a:extLst>
              <a:ext uri="{FF2B5EF4-FFF2-40B4-BE49-F238E27FC236}">
                <a16:creationId xmlns:a16="http://schemas.microsoft.com/office/drawing/2014/main" id="{61338E87-6FE3-8B59-60C4-C43C81866162}"/>
              </a:ext>
            </a:extLst>
          </p:cNvPr>
          <p:cNvGraphicFramePr>
            <a:graphicFrameLocks noChangeAspect="1"/>
          </p:cNvGraphicFramePr>
          <p:nvPr/>
        </p:nvGraphicFramePr>
        <p:xfrm>
          <a:off x="423846" y="4650619"/>
          <a:ext cx="3848965" cy="391102"/>
        </p:xfrm>
        <a:graphic>
          <a:graphicData uri="http://schemas.openxmlformats.org/presentationml/2006/ole">
            <mc:AlternateContent xmlns:mc="http://schemas.openxmlformats.org/markup-compatibility/2006">
              <mc:Choice xmlns:v="urn:schemas-microsoft-com:vml" Requires="v">
                <p:oleObj spid="_x0000_s6152" name="Equation" r:id="rId16" imgW="2374560" imgH="241200" progId="Equation.DSMT4">
                  <p:embed/>
                </p:oleObj>
              </mc:Choice>
              <mc:Fallback>
                <p:oleObj name="Equation" r:id="rId16" imgW="2374560" imgH="241200" progId="Equation.DSMT4">
                  <p:embed/>
                  <p:pic>
                    <p:nvPicPr>
                      <p:cNvPr id="28" name="Object 27" descr="p subscript 6 k Baseline equals OpenParenthesis 6000 CloseParenthesis multiplied by OpenParenthesis 775 Mu CloseParenthesis squared equals 3603.75 microWatts.&#10;">
                        <a:extLst>
                          <a:ext uri="{FF2B5EF4-FFF2-40B4-BE49-F238E27FC236}">
                            <a16:creationId xmlns:a16="http://schemas.microsoft.com/office/drawing/2014/main" id="{61338E87-6FE3-8B59-60C4-C43C81866162}"/>
                          </a:ext>
                        </a:extLst>
                      </p:cNvPr>
                      <p:cNvPicPr>
                        <a:picLocks noChangeAspect="1" noChangeArrowheads="1"/>
                      </p:cNvPicPr>
                      <p:nvPr/>
                    </p:nvPicPr>
                    <p:blipFill>
                      <a:blip r:embed="rId17"/>
                      <a:srcRect/>
                      <a:stretch>
                        <a:fillRect/>
                      </a:stretch>
                    </p:blipFill>
                    <p:spPr bwMode="auto">
                      <a:xfrm>
                        <a:off x="423846" y="4650619"/>
                        <a:ext cx="3848965" cy="391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49" y="5300102"/>
            <a:ext cx="7172885" cy="728849"/>
          </a:xfrm>
        </p:spPr>
        <p:txBody>
          <a:bodyPr wrap="square" lIns="0" tIns="18000" rIns="0" bIns="18000" anchor="ctr">
            <a:spAutoFit/>
          </a:bodyPr>
          <a:lstStyle/>
          <a:p>
            <a:pPr marL="0" indent="0">
              <a:spcBef>
                <a:spcPts val="600"/>
              </a:spcBef>
              <a:buNone/>
            </a:pPr>
            <a:r>
              <a:rPr lang="en-US" sz="2000" noProof="0" dirty="0">
                <a:latin typeface="Arial" panose="020B0604020202020204" pitchFamily="34" charset="0"/>
                <a:cs typeface="Arial" panose="020B0604020202020204" pitchFamily="34" charset="0"/>
              </a:rPr>
              <a:t>The sum of the power is</a:t>
            </a:r>
          </a:p>
          <a:p>
            <a:pPr marL="0" indent="0">
              <a:spcBef>
                <a:spcPts val="600"/>
              </a:spcBef>
              <a:buNone/>
            </a:pPr>
            <a:r>
              <a:rPr lang="en-US" sz="2000" noProof="0" dirty="0">
                <a:effectLst/>
                <a:latin typeface="Arial" panose="020B0604020202020204" pitchFamily="34" charset="0"/>
                <a:ea typeface="Calibri" panose="020F0502020204030204" pitchFamily="34" charset="0"/>
                <a:cs typeface="Arial" panose="020B0604020202020204" pitchFamily="34" charset="0"/>
              </a:rPr>
              <a:t>−</a:t>
            </a:r>
            <a:r>
              <a:rPr lang="en-US" sz="2000" noProof="0" dirty="0">
                <a:latin typeface="Arial" panose="020B0604020202020204" pitchFamily="34" charset="0"/>
                <a:cs typeface="Arial" panose="020B0604020202020204" pitchFamily="34" charset="0"/>
              </a:rPr>
              <a:t> 120 + 1500 + 33.75 + 1012.5 </a:t>
            </a:r>
            <a:r>
              <a:rPr lang="en-US" sz="2000" noProof="0" dirty="0">
                <a:effectLst/>
                <a:latin typeface="Arial" panose="020B0604020202020204" pitchFamily="34" charset="0"/>
                <a:ea typeface="Calibri" panose="020F0502020204030204" pitchFamily="34" charset="0"/>
                <a:cs typeface="Arial" panose="020B0604020202020204" pitchFamily="34" charset="0"/>
              </a:rPr>
              <a:t>−</a:t>
            </a:r>
            <a:r>
              <a:rPr lang="en-US" sz="2000" noProof="0" dirty="0">
                <a:latin typeface="Arial" panose="020B0604020202020204" pitchFamily="34" charset="0"/>
                <a:cs typeface="Arial" panose="020B0604020202020204" pitchFamily="34" charset="0"/>
              </a:rPr>
              <a:t> 25 </a:t>
            </a:r>
            <a:r>
              <a:rPr lang="en-US" sz="2000" noProof="0" dirty="0">
                <a:effectLst/>
                <a:latin typeface="Arial" panose="020B0604020202020204" pitchFamily="34" charset="0"/>
                <a:ea typeface="Calibri" panose="020F0502020204030204" pitchFamily="34" charset="0"/>
                <a:cs typeface="Arial" panose="020B0604020202020204" pitchFamily="34" charset="0"/>
              </a:rPr>
              <a:t>−</a:t>
            </a:r>
            <a:r>
              <a:rPr lang="en-US" sz="2000" noProof="0" dirty="0">
                <a:latin typeface="Arial" panose="020B0604020202020204" pitchFamily="34" charset="0"/>
                <a:cs typeface="Arial" panose="020B0604020202020204" pitchFamily="34" charset="0"/>
              </a:rPr>
              <a:t> 6000 + 3603.75 = 0!</a:t>
            </a:r>
          </a:p>
        </p:txBody>
      </p:sp>
    </p:spTree>
    <p:extLst>
      <p:ext uri="{BB962C8B-B14F-4D97-AF65-F5344CB8AC3E}">
        <p14:creationId xmlns:p14="http://schemas.microsoft.com/office/powerpoint/2010/main" val="3024911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3.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4.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5.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6.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7.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8.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791</TotalTime>
  <Words>665</Words>
  <Application>Microsoft Office PowerPoint</Application>
  <PresentationFormat>On-screen Show (4:3)</PresentationFormat>
  <Paragraphs>78</Paragraphs>
  <Slides>11</Slides>
  <Notes>3</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11</vt:i4>
      </vt:variant>
    </vt:vector>
  </HeadingPairs>
  <TitlesOfParts>
    <vt:vector size="18" baseType="lpstr">
      <vt:lpstr>Verdana</vt:lpstr>
      <vt:lpstr>Arial</vt:lpstr>
      <vt:lpstr>Calibri</vt:lpstr>
      <vt:lpstr>Times New Roman</vt:lpstr>
      <vt:lpstr>USHE</vt:lpstr>
      <vt:lpstr>USHE_slide options</vt:lpstr>
      <vt:lpstr>Equation</vt:lpstr>
      <vt:lpstr>Electric Circuits</vt:lpstr>
      <vt:lpstr>Chapter 2 – Circuit Elements (1 of 9)</vt:lpstr>
      <vt:lpstr>Chapter 2 – Circuit Elements (2 of 9)</vt:lpstr>
      <vt:lpstr>Chapter 2 – Circuit Elements (3 of 9)</vt:lpstr>
      <vt:lpstr>Chapter 2 – Circuit Elements (4 of 9)</vt:lpstr>
      <vt:lpstr>Chapter 2 – Circuit Elements (5 of 9)</vt:lpstr>
      <vt:lpstr>Chapter 2 – Circuit Elements (6 of 9)</vt:lpstr>
      <vt:lpstr>Chapter 2 – Circuit Elements (7 of 9)</vt:lpstr>
      <vt:lpstr>Chapter 2 – Circuit Elements (8 of 9)</vt:lpstr>
      <vt:lpstr>Chapter 2 – Circuit Elements (9 of 9)</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2 – Part 3</dc:title>
  <dc:subject>Engineering</dc:subject>
  <dc:creator>Nilsson and Riedel</dc:creator>
  <cp:keywords/>
  <dc:description/>
  <cp:lastModifiedBy>ss</cp:lastModifiedBy>
  <cp:revision>185</cp:revision>
  <dcterms:modified xsi:type="dcterms:W3CDTF">2024-02-23T07:46:29Z</dcterms:modified>
</cp:coreProperties>
</file>